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90"/>
  </p:notesMasterIdLst>
  <p:handoutMasterIdLst>
    <p:handoutMasterId r:id="rId91"/>
  </p:handoutMasterIdLst>
  <p:sldIdLst>
    <p:sldId id="304" r:id="rId2"/>
    <p:sldId id="661" r:id="rId3"/>
    <p:sldId id="662" r:id="rId4"/>
    <p:sldId id="306" r:id="rId5"/>
    <p:sldId id="663" r:id="rId6"/>
    <p:sldId id="664" r:id="rId7"/>
    <p:sldId id="665" r:id="rId8"/>
    <p:sldId id="307" r:id="rId9"/>
    <p:sldId id="666" r:id="rId10"/>
    <p:sldId id="667" r:id="rId11"/>
    <p:sldId id="669" r:id="rId12"/>
    <p:sldId id="670" r:id="rId13"/>
    <p:sldId id="671" r:id="rId14"/>
    <p:sldId id="672" r:id="rId15"/>
    <p:sldId id="673" r:id="rId16"/>
    <p:sldId id="674" r:id="rId17"/>
    <p:sldId id="675" r:id="rId18"/>
    <p:sldId id="308" r:id="rId19"/>
    <p:sldId id="676" r:id="rId20"/>
    <p:sldId id="311" r:id="rId21"/>
    <p:sldId id="677" r:id="rId22"/>
    <p:sldId id="314" r:id="rId23"/>
    <p:sldId id="678" r:id="rId24"/>
    <p:sldId id="312" r:id="rId25"/>
    <p:sldId id="714" r:id="rId26"/>
    <p:sldId id="658" r:id="rId27"/>
    <p:sldId id="659" r:id="rId28"/>
    <p:sldId id="660" r:id="rId29"/>
    <p:sldId id="717" r:id="rId30"/>
    <p:sldId id="679" r:id="rId31"/>
    <p:sldId id="680" r:id="rId32"/>
    <p:sldId id="681" r:id="rId33"/>
    <p:sldId id="682" r:id="rId34"/>
    <p:sldId id="683" r:id="rId35"/>
    <p:sldId id="684" r:id="rId36"/>
    <p:sldId id="685" r:id="rId37"/>
    <p:sldId id="686" r:id="rId38"/>
    <p:sldId id="687" r:id="rId39"/>
    <p:sldId id="655" r:id="rId40"/>
    <p:sldId id="688" r:id="rId41"/>
    <p:sldId id="315" r:id="rId42"/>
    <p:sldId id="689" r:id="rId43"/>
    <p:sldId id="690" r:id="rId44"/>
    <p:sldId id="316" r:id="rId45"/>
    <p:sldId id="317" r:id="rId46"/>
    <p:sldId id="318" r:id="rId47"/>
    <p:sldId id="656" r:id="rId48"/>
    <p:sldId id="325" r:id="rId49"/>
    <p:sldId id="326" r:id="rId50"/>
    <p:sldId id="327" r:id="rId51"/>
    <p:sldId id="691" r:id="rId52"/>
    <p:sldId id="692" r:id="rId53"/>
    <p:sldId id="715" r:id="rId54"/>
    <p:sldId id="329" r:id="rId55"/>
    <p:sldId id="693" r:id="rId56"/>
    <p:sldId id="694" r:id="rId57"/>
    <p:sldId id="695" r:id="rId58"/>
    <p:sldId id="696" r:id="rId59"/>
    <p:sldId id="333" r:id="rId60"/>
    <p:sldId id="334" r:id="rId61"/>
    <p:sldId id="335" r:id="rId62"/>
    <p:sldId id="697" r:id="rId63"/>
    <p:sldId id="698" r:id="rId64"/>
    <p:sldId id="699" r:id="rId65"/>
    <p:sldId id="718" r:id="rId66"/>
    <p:sldId id="657" r:id="rId67"/>
    <p:sldId id="700" r:id="rId68"/>
    <p:sldId id="701" r:id="rId69"/>
    <p:sldId id="702" r:id="rId70"/>
    <p:sldId id="703" r:id="rId71"/>
    <p:sldId id="346" r:id="rId72"/>
    <p:sldId id="347" r:id="rId73"/>
    <p:sldId id="349" r:id="rId74"/>
    <p:sldId id="719" r:id="rId75"/>
    <p:sldId id="704" r:id="rId76"/>
    <p:sldId id="350" r:id="rId77"/>
    <p:sldId id="652" r:id="rId78"/>
    <p:sldId id="653" r:id="rId79"/>
    <p:sldId id="716" r:id="rId80"/>
    <p:sldId id="705" r:id="rId81"/>
    <p:sldId id="706" r:id="rId82"/>
    <p:sldId id="707" r:id="rId83"/>
    <p:sldId id="708" r:id="rId84"/>
    <p:sldId id="709" r:id="rId85"/>
    <p:sldId id="710" r:id="rId86"/>
    <p:sldId id="711" r:id="rId87"/>
    <p:sldId id="712" r:id="rId88"/>
    <p:sldId id="713" r:id="rId89"/>
  </p:sldIdLst>
  <p:sldSz cx="12192000" cy="6858000"/>
  <p:notesSz cx="7099300" cy="10234613"/>
  <p:defaultTextStyle>
    <a:defPPr>
      <a:defRPr lang="en-US"/>
    </a:defPPr>
    <a:lvl1pPr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1pPr>
    <a:lvl2pPr marL="4572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2pPr>
    <a:lvl3pPr marL="9144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3pPr>
    <a:lvl4pPr marL="13716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4pPr>
    <a:lvl5pPr marL="1828800" algn="l" rtl="0" fontAlgn="base">
      <a:spcBef>
        <a:spcPct val="0"/>
      </a:spcBef>
      <a:spcAft>
        <a:spcPct val="25000"/>
      </a:spcAft>
      <a:buSzPct val="80000"/>
      <a:buFont typeface="Wingdings" pitchFamily="2" charset="2"/>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5pPr>
    <a:lvl6pPr marL="22860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6pPr>
    <a:lvl7pPr marL="27432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7pPr>
    <a:lvl8pPr marL="32004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8pPr>
    <a:lvl9pPr marL="3657600" algn="l" defTabSz="914400" rtl="0" eaLnBrk="1" latinLnBrk="0" hangingPunct="1">
      <a:defRPr kumimoji="1" sz="3200" kern="1200">
        <a:solidFill>
          <a:schemeClr val="tx1"/>
        </a:solidFill>
        <a:effectLst>
          <a:outerShdw blurRad="38100" dist="38100" dir="2700000" algn="tl">
            <a:srgbClr val="000000">
              <a:alpha val="43137"/>
            </a:srgbClr>
          </a:outerShdw>
        </a:effectLst>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6"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B37"/>
    <a:srgbClr val="000030"/>
    <a:srgbClr val="00194D"/>
    <a:srgbClr val="FF0000"/>
    <a:srgbClr val="0000CC"/>
    <a:srgbClr val="CCFF99"/>
    <a:srgbClr val="CCFFCC"/>
    <a:srgbClr val="660066"/>
    <a:srgbClr val="99FF33"/>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269D01E-BC32-4049-B463-5C60D7B0CCD2}" styleName="主题样式 2 - 强调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71" autoAdjust="0"/>
    <p:restoredTop sz="86464" autoAdjust="0"/>
  </p:normalViewPr>
  <p:slideViewPr>
    <p:cSldViewPr>
      <p:cViewPr varScale="1">
        <p:scale>
          <a:sx n="69" d="100"/>
          <a:sy n="69" d="100"/>
        </p:scale>
        <p:origin x="496" y="40"/>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Lst>
  </p:outlineViewPr>
  <p:notesTextViewPr>
    <p:cViewPr>
      <p:scale>
        <a:sx n="100" d="100"/>
        <a:sy n="100" d="100"/>
      </p:scale>
      <p:origin x="0" y="0"/>
    </p:cViewPr>
  </p:notesTextViewPr>
  <p:sorterViewPr>
    <p:cViewPr>
      <p:scale>
        <a:sx n="100" d="100"/>
        <a:sy n="100" d="100"/>
      </p:scale>
      <p:origin x="0" y="3942"/>
    </p:cViewPr>
  </p:sorterViewPr>
  <p:notesViewPr>
    <p:cSldViewPr>
      <p:cViewPr>
        <p:scale>
          <a:sx n="150" d="100"/>
          <a:sy n="150" d="100"/>
        </p:scale>
        <p:origin x="726" y="-2742"/>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_rels/viewProps.xml.rels><?xml version="1.0" encoding="UTF-8" standalone="yes"?>
<Relationships xmlns="http://schemas.openxmlformats.org/package/2006/relationships"><Relationship Id="rId8" Type="http://schemas.openxmlformats.org/officeDocument/2006/relationships/slide" Target="slides/slide27.xml"/><Relationship Id="rId13" Type="http://schemas.openxmlformats.org/officeDocument/2006/relationships/slide" Target="slides/slide50.xml"/><Relationship Id="rId18" Type="http://schemas.openxmlformats.org/officeDocument/2006/relationships/slide" Target="slides/slide72.xml"/><Relationship Id="rId3" Type="http://schemas.openxmlformats.org/officeDocument/2006/relationships/slide" Target="slides/slide18.xml"/><Relationship Id="rId21" Type="http://schemas.openxmlformats.org/officeDocument/2006/relationships/slide" Target="slides/slide76.xml"/><Relationship Id="rId7" Type="http://schemas.openxmlformats.org/officeDocument/2006/relationships/slide" Target="slides/slide26.xml"/><Relationship Id="rId12" Type="http://schemas.openxmlformats.org/officeDocument/2006/relationships/slide" Target="slides/slide49.xml"/><Relationship Id="rId17" Type="http://schemas.openxmlformats.org/officeDocument/2006/relationships/slide" Target="slides/slide71.xml"/><Relationship Id="rId2" Type="http://schemas.openxmlformats.org/officeDocument/2006/relationships/slide" Target="slides/slide8.xml"/><Relationship Id="rId16" Type="http://schemas.openxmlformats.org/officeDocument/2006/relationships/slide" Target="slides/slide60.xml"/><Relationship Id="rId20" Type="http://schemas.openxmlformats.org/officeDocument/2006/relationships/slide" Target="slides/slide75.xml"/><Relationship Id="rId1" Type="http://schemas.openxmlformats.org/officeDocument/2006/relationships/slide" Target="slides/slide4.xml"/><Relationship Id="rId6" Type="http://schemas.openxmlformats.org/officeDocument/2006/relationships/slide" Target="slides/slide24.xml"/><Relationship Id="rId11" Type="http://schemas.openxmlformats.org/officeDocument/2006/relationships/slide" Target="slides/slide48.xml"/><Relationship Id="rId5" Type="http://schemas.openxmlformats.org/officeDocument/2006/relationships/slide" Target="slides/slide22.xml"/><Relationship Id="rId15" Type="http://schemas.openxmlformats.org/officeDocument/2006/relationships/slide" Target="slides/slide59.xml"/><Relationship Id="rId23" Type="http://schemas.openxmlformats.org/officeDocument/2006/relationships/slide" Target="slides/slide78.xml"/><Relationship Id="rId10" Type="http://schemas.openxmlformats.org/officeDocument/2006/relationships/slide" Target="slides/slide41.xml"/><Relationship Id="rId19" Type="http://schemas.openxmlformats.org/officeDocument/2006/relationships/slide" Target="slides/slide73.xml"/><Relationship Id="rId4" Type="http://schemas.openxmlformats.org/officeDocument/2006/relationships/slide" Target="slides/slide20.xml"/><Relationship Id="rId9" Type="http://schemas.openxmlformats.org/officeDocument/2006/relationships/slide" Target="slides/slide28.xml"/><Relationship Id="rId14" Type="http://schemas.openxmlformats.org/officeDocument/2006/relationships/slide" Target="slides/slide54.xml"/><Relationship Id="rId22" Type="http://schemas.openxmlformats.org/officeDocument/2006/relationships/slide" Target="slides/slide7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spcAft>
                <a:spcPct val="0"/>
              </a:spcAft>
              <a:buSzTx/>
              <a:buFontTx/>
              <a:buNone/>
              <a:defRPr sz="1300">
                <a:effectLst/>
                <a:latin typeface="Times New Roman" pitchFamily="18" charset="0"/>
                <a:ea typeface="宋体" pitchFamily="2" charset="-122"/>
              </a:defRPr>
            </a:lvl1pPr>
          </a:lstStyle>
          <a:p>
            <a:pPr>
              <a:defRPr/>
            </a:pPr>
            <a:endParaRPr lang="zh-CN" altLang="en-US"/>
          </a:p>
        </p:txBody>
      </p:sp>
      <p:sp>
        <p:nvSpPr>
          <p:cNvPr id="9219" name="Rectangle 3"/>
          <p:cNvSpPr>
            <a:spLocks noGrp="1" noChangeArrowheads="1"/>
          </p:cNvSpPr>
          <p:nvPr>
            <p:ph type="dt" sz="quarter" idx="1"/>
          </p:nvPr>
        </p:nvSpPr>
        <p:spPr bwMode="auto">
          <a:xfrm>
            <a:off x="4022937"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a:spcAft>
                <a:spcPct val="0"/>
              </a:spcAft>
              <a:buSzTx/>
              <a:buFontTx/>
              <a:buNone/>
              <a:defRPr sz="1300">
                <a:effectLst/>
                <a:latin typeface="Times New Roman" pitchFamily="18" charset="0"/>
                <a:ea typeface="宋体" pitchFamily="2" charset="-122"/>
              </a:defRPr>
            </a:lvl1pPr>
          </a:lstStyle>
          <a:p>
            <a:pPr>
              <a:defRPr/>
            </a:pPr>
            <a:endParaRPr lang="en-US" altLang="zh-CN"/>
          </a:p>
        </p:txBody>
      </p:sp>
      <p:sp>
        <p:nvSpPr>
          <p:cNvPr id="9220" name="Rectangle 4"/>
          <p:cNvSpPr>
            <a:spLocks noGrp="1" noChangeArrowheads="1"/>
          </p:cNvSpPr>
          <p:nvPr>
            <p:ph type="ftr" sz="quarter" idx="2"/>
          </p:nvPr>
        </p:nvSpPr>
        <p:spPr bwMode="auto">
          <a:xfrm>
            <a:off x="0" y="9722882"/>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spcAft>
                <a:spcPct val="0"/>
              </a:spcAft>
              <a:buSzTx/>
              <a:buFontTx/>
              <a:buNone/>
              <a:defRPr sz="1300">
                <a:effectLst/>
                <a:latin typeface="Times New Roman" pitchFamily="18" charset="0"/>
                <a:ea typeface="宋体" pitchFamily="2" charset="-122"/>
              </a:defRPr>
            </a:lvl1pPr>
          </a:lstStyle>
          <a:p>
            <a:pPr>
              <a:defRPr/>
            </a:pPr>
            <a:endParaRPr lang="en-US" altLang="zh-CN"/>
          </a:p>
        </p:txBody>
      </p:sp>
      <p:sp>
        <p:nvSpPr>
          <p:cNvPr id="9221" name="Rectangle 5"/>
          <p:cNvSpPr>
            <a:spLocks noGrp="1" noChangeArrowheads="1"/>
          </p:cNvSpPr>
          <p:nvPr>
            <p:ph type="sldNum" sz="quarter" idx="3"/>
          </p:nvPr>
        </p:nvSpPr>
        <p:spPr bwMode="auto">
          <a:xfrm>
            <a:off x="4022937" y="9722882"/>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a:spcAft>
                <a:spcPct val="0"/>
              </a:spcAft>
              <a:buSzTx/>
              <a:buFontTx/>
              <a:buNone/>
              <a:defRPr sz="1300">
                <a:effectLst/>
                <a:latin typeface="Times New Roman" pitchFamily="18" charset="0"/>
                <a:ea typeface="宋体" pitchFamily="2" charset="-122"/>
              </a:defRPr>
            </a:lvl1pPr>
          </a:lstStyle>
          <a:p>
            <a:pPr>
              <a:defRPr/>
            </a:pPr>
            <a:fld id="{3735A1A8-6F60-4E3E-B45D-43472B01E540}" type="slidenum">
              <a:rPr lang="zh-CN" altLang="en-US"/>
              <a:pPr>
                <a:defRPr/>
              </a:pPr>
              <a:t>‹#›</a:t>
            </a:fld>
            <a:endParaRPr lang="en-US" altLang="zh-CN"/>
          </a:p>
        </p:txBody>
      </p:sp>
    </p:spTree>
    <p:extLst>
      <p:ext uri="{BB962C8B-B14F-4D97-AF65-F5344CB8AC3E}">
        <p14:creationId xmlns:p14="http://schemas.microsoft.com/office/powerpoint/2010/main" val="2917432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spcAft>
                <a:spcPct val="0"/>
              </a:spcAft>
              <a:buSzTx/>
              <a:buFontTx/>
              <a:buNone/>
              <a:defRPr sz="1300">
                <a:effectLst/>
                <a:latin typeface="Times New Roman" pitchFamily="18" charset="0"/>
                <a:ea typeface="宋体" pitchFamily="2" charset="-122"/>
              </a:defRPr>
            </a:lvl1pPr>
          </a:lstStyle>
          <a:p>
            <a:pPr>
              <a:defRPr/>
            </a:pPr>
            <a:endParaRPr lang="zh-CN" altLang="en-US"/>
          </a:p>
        </p:txBody>
      </p:sp>
      <p:sp>
        <p:nvSpPr>
          <p:cNvPr id="17411" name="Rectangle 3"/>
          <p:cNvSpPr>
            <a:spLocks noGrp="1" noChangeArrowheads="1"/>
          </p:cNvSpPr>
          <p:nvPr>
            <p:ph type="dt" idx="1"/>
          </p:nvPr>
        </p:nvSpPr>
        <p:spPr bwMode="auto">
          <a:xfrm>
            <a:off x="4022937"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a:spcAft>
                <a:spcPct val="0"/>
              </a:spcAft>
              <a:buSzTx/>
              <a:buFontTx/>
              <a:buNone/>
              <a:defRPr sz="1300">
                <a:effectLst/>
                <a:latin typeface="Times New Roman" pitchFamily="18" charset="0"/>
                <a:ea typeface="宋体" pitchFamily="2" charset="-122"/>
              </a:defRPr>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46574" y="4861441"/>
            <a:ext cx="5206153" cy="4605576"/>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414" name="Rectangle 6"/>
          <p:cNvSpPr>
            <a:spLocks noGrp="1" noChangeArrowheads="1"/>
          </p:cNvSpPr>
          <p:nvPr>
            <p:ph type="ftr" sz="quarter" idx="4"/>
          </p:nvPr>
        </p:nvSpPr>
        <p:spPr bwMode="auto">
          <a:xfrm>
            <a:off x="0" y="9722882"/>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spcAft>
                <a:spcPct val="0"/>
              </a:spcAft>
              <a:buSzTx/>
              <a:buFontTx/>
              <a:buNone/>
              <a:defRPr sz="1300">
                <a:effectLst/>
                <a:latin typeface="Times New Roman" pitchFamily="18" charset="0"/>
                <a:ea typeface="宋体" pitchFamily="2" charset="-122"/>
              </a:defRPr>
            </a:lvl1pPr>
          </a:lstStyle>
          <a:p>
            <a:pPr>
              <a:defRPr/>
            </a:pPr>
            <a:endParaRPr lang="en-US" altLang="zh-CN"/>
          </a:p>
        </p:txBody>
      </p:sp>
      <p:sp>
        <p:nvSpPr>
          <p:cNvPr id="17415" name="Rectangle 7"/>
          <p:cNvSpPr>
            <a:spLocks noGrp="1" noChangeArrowheads="1"/>
          </p:cNvSpPr>
          <p:nvPr>
            <p:ph type="sldNum" sz="quarter" idx="5"/>
          </p:nvPr>
        </p:nvSpPr>
        <p:spPr bwMode="auto">
          <a:xfrm>
            <a:off x="4022937" y="9722882"/>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a:spcAft>
                <a:spcPct val="0"/>
              </a:spcAft>
              <a:buSzTx/>
              <a:buFontTx/>
              <a:buNone/>
              <a:defRPr sz="1300">
                <a:effectLst/>
                <a:latin typeface="Times New Roman" pitchFamily="18" charset="0"/>
                <a:ea typeface="宋体" pitchFamily="2" charset="-122"/>
              </a:defRPr>
            </a:lvl1pPr>
          </a:lstStyle>
          <a:p>
            <a:pPr>
              <a:defRPr/>
            </a:pPr>
            <a:fld id="{A0CEB0E9-99CA-4F61-83A9-1701E9939F4F}" type="slidenum">
              <a:rPr lang="zh-CN" altLang="en-US"/>
              <a:pPr>
                <a:defRPr/>
              </a:pPr>
              <a:t>‹#›</a:t>
            </a:fld>
            <a:endParaRPr lang="en-US" altLang="zh-CN"/>
          </a:p>
        </p:txBody>
      </p:sp>
    </p:spTree>
    <p:extLst>
      <p:ext uri="{BB962C8B-B14F-4D97-AF65-F5344CB8AC3E}">
        <p14:creationId xmlns:p14="http://schemas.microsoft.com/office/powerpoint/2010/main" val="421894346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en-US" altLang="zh-CN" dirty="0"/>
              <a:t>Create user ‘user’@’%’ identified by ‘123’;</a:t>
            </a:r>
          </a:p>
          <a:p>
            <a:r>
              <a:rPr lang="en-US" altLang="zh-CN" dirty="0"/>
              <a:t>% = every where host</a:t>
            </a:r>
          </a:p>
          <a:p>
            <a:r>
              <a:rPr lang="en-US" altLang="zh-CN" dirty="0"/>
              <a:t>Drop user  ‘user’@’%’ </a:t>
            </a:r>
          </a:p>
        </p:txBody>
      </p:sp>
      <p:sp>
        <p:nvSpPr>
          <p:cNvPr id="4" name="灯片编号占位符 3"/>
          <p:cNvSpPr>
            <a:spLocks noGrp="1"/>
          </p:cNvSpPr>
          <p:nvPr>
            <p:ph type="sldNum" sz="quarter" idx="10"/>
          </p:nvPr>
        </p:nvSpPr>
        <p:spPr/>
        <p:txBody>
          <a:bodyPr/>
          <a:lstStyle/>
          <a:p>
            <a:pPr>
              <a:defRPr/>
            </a:pPr>
            <a:fld id="{A0CEB0E9-99CA-4F61-83A9-1701E9939F4F}" type="slidenum">
              <a:rPr lang="zh-CN" altLang="en-US" smtClean="0"/>
              <a:pPr>
                <a:defRPr/>
              </a:pPr>
              <a:t>8</a:t>
            </a:fld>
            <a:endParaRPr lang="en-US" altLang="zh-CN"/>
          </a:p>
        </p:txBody>
      </p:sp>
    </p:spTree>
    <p:extLst>
      <p:ext uri="{BB962C8B-B14F-4D97-AF65-F5344CB8AC3E}">
        <p14:creationId xmlns:p14="http://schemas.microsoft.com/office/powerpoint/2010/main" val="13299869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lstStyle/>
          <a:p>
            <a:r>
              <a:rPr lang="en-US" altLang="zh-CN" dirty="0"/>
              <a:t>Grant Select on xjgl.* to user;</a:t>
            </a:r>
          </a:p>
          <a:p>
            <a:r>
              <a:rPr lang="en-US" altLang="zh-CN" dirty="0"/>
              <a:t>Revoke Select on xjgl.* from user;</a:t>
            </a:r>
          </a:p>
          <a:p>
            <a:r>
              <a:rPr lang="en-US" altLang="zh-CN" dirty="0"/>
              <a:t>Show grants for ‘user’@’%’</a:t>
            </a:r>
            <a:endParaRPr lang="zh-CN" altLang="en-US" dirty="0"/>
          </a:p>
        </p:txBody>
      </p:sp>
      <p:sp>
        <p:nvSpPr>
          <p:cNvPr id="4" name="灯片编号占位符 3"/>
          <p:cNvSpPr>
            <a:spLocks noGrp="1"/>
          </p:cNvSpPr>
          <p:nvPr>
            <p:ph type="sldNum" sz="quarter" idx="10"/>
          </p:nvPr>
        </p:nvSpPr>
        <p:spPr/>
        <p:txBody>
          <a:bodyPr/>
          <a:lstStyle/>
          <a:p>
            <a:pPr>
              <a:defRPr/>
            </a:pPr>
            <a:fld id="{A0CEB0E9-99CA-4F61-83A9-1701E9939F4F}" type="slidenum">
              <a:rPr lang="zh-CN" altLang="en-US" smtClean="0"/>
              <a:pPr>
                <a:defRPr/>
              </a:pPr>
              <a:t>18</a:t>
            </a:fld>
            <a:endParaRPr lang="en-US" altLang="zh-CN"/>
          </a:p>
        </p:txBody>
      </p:sp>
    </p:spTree>
    <p:extLst>
      <p:ext uri="{BB962C8B-B14F-4D97-AF65-F5344CB8AC3E}">
        <p14:creationId xmlns:p14="http://schemas.microsoft.com/office/powerpoint/2010/main" val="1560852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542273"/>
            <a:ext cx="5724644" cy="646331"/>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247471389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9416" y="0"/>
            <a:ext cx="5724644" cy="646331"/>
          </a:xfrm>
        </p:spPr>
        <p:txBody>
          <a:bodyPr/>
          <a:lstStyle>
            <a:lvl1pPr>
              <a:defRPr>
                <a:latin typeface="微软雅黑" pitchFamily="34" charset="-122"/>
                <a:ea typeface="微软雅黑" pitchFamily="34" charset="-122"/>
              </a:defRPr>
            </a:lvl1pPr>
          </a:lstStyle>
          <a:p>
            <a:r>
              <a:rPr lang="zh-CN" altLang="en-US"/>
              <a:t>单击此处编辑母版标题样式</a:t>
            </a:r>
          </a:p>
        </p:txBody>
      </p:sp>
      <p:sp>
        <p:nvSpPr>
          <p:cNvPr id="3" name="内容占位符 2"/>
          <p:cNvSpPr>
            <a:spLocks noGrp="1"/>
          </p:cNvSpPr>
          <p:nvPr>
            <p:ph idx="1"/>
          </p:nvPr>
        </p:nvSpPr>
        <p:spPr/>
        <p:txBody>
          <a:bodyPr/>
          <a:lstStyle>
            <a:lvl1pPr>
              <a:defRPr>
                <a:latin typeface="微软雅黑" pitchFamily="34" charset="-122"/>
                <a:ea typeface="微软雅黑" pitchFamily="34" charset="-122"/>
              </a:defRPr>
            </a:lvl1pPr>
            <a:lvl2pPr>
              <a:defRPr>
                <a:latin typeface="微软雅黑" pitchFamily="34" charset="-122"/>
                <a:ea typeface="微软雅黑" pitchFamily="34" charset="-122"/>
              </a:defRPr>
            </a:lvl2pPr>
            <a:lvl3pPr>
              <a:defRPr>
                <a:latin typeface="微软雅黑" pitchFamily="34" charset="-122"/>
                <a:ea typeface="微软雅黑" pitchFamily="34" charset="-122"/>
              </a:defRPr>
            </a:lvl3pPr>
            <a:lvl4pPr>
              <a:defRPr>
                <a:latin typeface="微软雅黑" pitchFamily="34" charset="-122"/>
                <a:ea typeface="微软雅黑" pitchFamily="34" charset="-122"/>
              </a:defRPr>
            </a:lvl4pPr>
            <a:lvl5pPr>
              <a:defRPr>
                <a:latin typeface="微软雅黑" pitchFamily="34" charset="-122"/>
                <a:ea typeface="微软雅黑"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6019318"/>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6340197" cy="70788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772695336"/>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4417" y="2276476"/>
            <a:ext cx="53848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12417" y="2276476"/>
            <a:ext cx="5384800" cy="4054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62551416"/>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522972"/>
            <a:ext cx="5724644" cy="646331"/>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8720360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630226939"/>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669228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1034990"/>
            <a:ext cx="3262432" cy="40011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5841047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967228"/>
            <a:ext cx="3262432" cy="400110"/>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018496788"/>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5773506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56285" y="989014"/>
            <a:ext cx="738664" cy="5632311"/>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4417" y="989014"/>
            <a:ext cx="8026400" cy="534193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548289128"/>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cxnSp>
        <p:nvCxnSpPr>
          <p:cNvPr id="2" name="直接连接符 6"/>
          <p:cNvCxnSpPr/>
          <p:nvPr userDrawn="1"/>
        </p:nvCxnSpPr>
        <p:spPr>
          <a:xfrm>
            <a:off x="1007533" y="833967"/>
            <a:ext cx="10464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3" name="Group 7"/>
          <p:cNvGrpSpPr>
            <a:grpSpLocks/>
          </p:cNvGrpSpPr>
          <p:nvPr userDrawn="1"/>
        </p:nvGrpSpPr>
        <p:grpSpPr bwMode="auto">
          <a:xfrm>
            <a:off x="431802" y="391586"/>
            <a:ext cx="520700" cy="273049"/>
            <a:chOff x="0" y="0"/>
            <a:chExt cx="1041399" cy="549275"/>
          </a:xfrm>
        </p:grpSpPr>
        <p:sp>
          <p:nvSpPr>
            <p:cNvPr id="4" name="Freeform 16"/>
            <p:cNvSpPr>
              <a:spLocks/>
            </p:cNvSpPr>
            <p:nvPr/>
          </p:nvSpPr>
          <p:spPr bwMode="auto">
            <a:xfrm>
              <a:off x="0" y="0"/>
              <a:ext cx="364066"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p:spPr>
          <p:txBody>
            <a:bodyPr/>
            <a:lstStyle/>
            <a:p>
              <a:pPr fontAlgn="auto">
                <a:spcBef>
                  <a:spcPts val="0"/>
                </a:spcBef>
                <a:spcAft>
                  <a:spcPts val="0"/>
                </a:spcAft>
                <a:defRPr/>
              </a:pPr>
              <a:endParaRPr lang="zh-CN" altLang="en-US" sz="1600">
                <a:latin typeface="+mn-lt"/>
                <a:ea typeface="+mn-ea"/>
              </a:endParaRPr>
            </a:p>
          </p:txBody>
        </p:sp>
        <p:sp>
          <p:nvSpPr>
            <p:cNvPr id="5" name="Freeform 17"/>
            <p:cNvSpPr>
              <a:spLocks/>
            </p:cNvSpPr>
            <p:nvPr/>
          </p:nvSpPr>
          <p:spPr bwMode="auto">
            <a:xfrm>
              <a:off x="338666" y="0"/>
              <a:ext cx="359834"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p:spPr>
          <p:txBody>
            <a:bodyPr/>
            <a:lstStyle/>
            <a:p>
              <a:pPr fontAlgn="auto">
                <a:spcBef>
                  <a:spcPts val="0"/>
                </a:spcBef>
                <a:spcAft>
                  <a:spcPts val="0"/>
                </a:spcAft>
                <a:defRPr/>
              </a:pPr>
              <a:endParaRPr lang="zh-CN" altLang="en-US" sz="1600">
                <a:latin typeface="+mn-lt"/>
                <a:ea typeface="+mn-ea"/>
              </a:endParaRPr>
            </a:p>
          </p:txBody>
        </p:sp>
        <p:sp>
          <p:nvSpPr>
            <p:cNvPr id="6" name="Freeform 18"/>
            <p:cNvSpPr>
              <a:spLocks/>
            </p:cNvSpPr>
            <p:nvPr/>
          </p:nvSpPr>
          <p:spPr bwMode="auto">
            <a:xfrm>
              <a:off x="681567" y="0"/>
              <a:ext cx="35983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p:spPr>
          <p:txBody>
            <a:bodyPr/>
            <a:lstStyle/>
            <a:p>
              <a:pPr fontAlgn="auto">
                <a:spcBef>
                  <a:spcPts val="0"/>
                </a:spcBef>
                <a:spcAft>
                  <a:spcPts val="0"/>
                </a:spcAft>
                <a:defRPr/>
              </a:pPr>
              <a:endParaRPr lang="zh-CN" altLang="en-US" sz="1600">
                <a:latin typeface="+mn-lt"/>
                <a:ea typeface="+mn-ea"/>
              </a:endParaRPr>
            </a:p>
          </p:txBody>
        </p:sp>
      </p:grpSp>
      <p:sp>
        <p:nvSpPr>
          <p:cNvPr id="7" name="TextBox 15"/>
          <p:cNvSpPr txBox="1"/>
          <p:nvPr userDrawn="1"/>
        </p:nvSpPr>
        <p:spPr>
          <a:xfrm>
            <a:off x="10801352" y="321735"/>
            <a:ext cx="895349" cy="256480"/>
          </a:xfrm>
          <a:prstGeom prst="rect">
            <a:avLst/>
          </a:prstGeom>
          <a:noFill/>
        </p:spPr>
        <p:txBody>
          <a:bodyPr>
            <a:spAutoFit/>
          </a:bodyPr>
          <a:lstStyle/>
          <a:p>
            <a:pPr algn="ctr" fontAlgn="auto">
              <a:spcBef>
                <a:spcPts val="0"/>
              </a:spcBef>
              <a:spcAft>
                <a:spcPts val="0"/>
              </a:spcAft>
              <a:defRPr/>
            </a:pPr>
            <a:r>
              <a:rPr lang="zh-CN" altLang="en-US" sz="1600" dirty="0">
                <a:solidFill>
                  <a:schemeClr val="accent1"/>
                </a:solidFill>
                <a:latin typeface="微软雅黑 Light" panose="020B0502040204020203" pitchFamily="34" charset="-122"/>
                <a:ea typeface="微软雅黑 Light" panose="020B0502040204020203" pitchFamily="34" charset="-122"/>
              </a:rPr>
              <a:t> </a:t>
            </a:r>
          </a:p>
        </p:txBody>
      </p:sp>
    </p:spTree>
    <p:extLst>
      <p:ext uri="{BB962C8B-B14F-4D97-AF65-F5344CB8AC3E}">
        <p14:creationId xmlns:p14="http://schemas.microsoft.com/office/powerpoint/2010/main" val="313230890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5177063"/>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1B37"/>
        </a:solidFill>
        <a:effectLst/>
      </p:bgPr>
    </p:bg>
    <p:spTree>
      <p:nvGrpSpPr>
        <p:cNvPr id="1" name=""/>
        <p:cNvGrpSpPr/>
        <p:nvPr/>
      </p:nvGrpSpPr>
      <p:grpSpPr>
        <a:xfrm>
          <a:off x="0" y="0"/>
          <a:ext cx="0" cy="0"/>
          <a:chOff x="0" y="0"/>
          <a:chExt cx="0" cy="0"/>
        </a:xfrm>
      </p:grpSpPr>
      <p:sp>
        <p:nvSpPr>
          <p:cNvPr id="541702" name="Rectangle 6"/>
          <p:cNvSpPr>
            <a:spLocks noGrp="1" noChangeArrowheads="1"/>
          </p:cNvSpPr>
          <p:nvPr>
            <p:ph type="body" idx="1"/>
          </p:nvPr>
        </p:nvSpPr>
        <p:spPr bwMode="auto">
          <a:xfrm>
            <a:off x="624417" y="2276476"/>
            <a:ext cx="10972800" cy="4054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8" name="Rectangle 8"/>
          <p:cNvSpPr>
            <a:spLocks noGrp="1" noChangeArrowheads="1"/>
          </p:cNvSpPr>
          <p:nvPr>
            <p:ph type="title"/>
          </p:nvPr>
        </p:nvSpPr>
        <p:spPr bwMode="auto">
          <a:xfrm>
            <a:off x="932213" y="-19018"/>
            <a:ext cx="6340197" cy="70788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lvl="0" defTabSz="914400" latinLnBrk="0">
              <a:buNone/>
            </a:pPr>
            <a:r>
              <a:rPr lang="zh-CN" altLang="en-US" dirty="0"/>
              <a:t>单击此处编辑母版标题样式</a:t>
            </a:r>
          </a:p>
        </p:txBody>
      </p:sp>
      <p:sp>
        <p:nvSpPr>
          <p:cNvPr id="13" name="椭圆 12">
            <a:extLst>
              <a:ext uri="{FF2B5EF4-FFF2-40B4-BE49-F238E27FC236}">
                <a16:creationId xmlns:a16="http://schemas.microsoft.com/office/drawing/2014/main" id="{68654E0C-CF69-4821-BDEC-10A15526ACD4}"/>
              </a:ext>
            </a:extLst>
          </p:cNvPr>
          <p:cNvSpPr/>
          <p:nvPr userDrawn="1"/>
        </p:nvSpPr>
        <p:spPr>
          <a:xfrm rot="16200000">
            <a:off x="410427" y="294349"/>
            <a:ext cx="398347" cy="398346"/>
          </a:xfrm>
          <a:prstGeom prst="ellipse">
            <a:avLst/>
          </a:prstGeom>
          <a:noFill/>
          <a:ln w="25400" cap="flat" cmpd="sng" algn="ctr">
            <a:solidFill>
              <a:srgbClr val="FCF873">
                <a:alpha val="7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1DF97"/>
              </a:solidFill>
              <a:effectLst/>
              <a:uLnTx/>
              <a:uFillTx/>
              <a:latin typeface="Times New Roman"/>
              <a:ea typeface="微软雅黑"/>
              <a:cs typeface="+mn-cs"/>
            </a:endParaRPr>
          </a:p>
        </p:txBody>
      </p:sp>
      <p:cxnSp>
        <p:nvCxnSpPr>
          <p:cNvPr id="14" name="直接连接符 13">
            <a:extLst>
              <a:ext uri="{FF2B5EF4-FFF2-40B4-BE49-F238E27FC236}">
                <a16:creationId xmlns:a16="http://schemas.microsoft.com/office/drawing/2014/main" id="{1B6E77B3-A3DE-4BCD-8FE3-1BFAB10B12B4}"/>
              </a:ext>
            </a:extLst>
          </p:cNvPr>
          <p:cNvCxnSpPr/>
          <p:nvPr userDrawn="1"/>
        </p:nvCxnSpPr>
        <p:spPr>
          <a:xfrm>
            <a:off x="4703" y="496100"/>
            <a:ext cx="495705" cy="0"/>
          </a:xfrm>
          <a:prstGeom prst="line">
            <a:avLst/>
          </a:prstGeom>
          <a:noFill/>
          <a:ln w="9525" cap="flat" cmpd="sng" algn="ctr">
            <a:solidFill>
              <a:srgbClr val="FCF873">
                <a:alpha val="70000"/>
              </a:srgbClr>
            </a:solidFill>
            <a:prstDash val="solid"/>
          </a:ln>
          <a:effectLst/>
        </p:spPr>
      </p:cxnSp>
      <p:sp>
        <p:nvSpPr>
          <p:cNvPr id="15" name="椭圆 14">
            <a:extLst>
              <a:ext uri="{FF2B5EF4-FFF2-40B4-BE49-F238E27FC236}">
                <a16:creationId xmlns:a16="http://schemas.microsoft.com/office/drawing/2014/main" id="{554828A6-7528-434C-A3B9-63B27EB6A112}"/>
              </a:ext>
            </a:extLst>
          </p:cNvPr>
          <p:cNvSpPr>
            <a:spLocks noChangeAspect="1"/>
          </p:cNvSpPr>
          <p:nvPr userDrawn="1"/>
        </p:nvSpPr>
        <p:spPr>
          <a:xfrm rot="16200000">
            <a:off x="500408" y="385064"/>
            <a:ext cx="221871" cy="221871"/>
          </a:xfrm>
          <a:prstGeom prst="ellipse">
            <a:avLst/>
          </a:prstGeom>
          <a:gradFill>
            <a:gsLst>
              <a:gs pos="68000">
                <a:srgbClr val="C69135"/>
              </a:gs>
              <a:gs pos="31000">
                <a:srgbClr val="E6D38F"/>
              </a:gs>
              <a:gs pos="0">
                <a:srgbClr val="FCD860"/>
              </a:gs>
              <a:gs pos="100000">
                <a:srgbClr val="F1DF97"/>
              </a:gs>
            </a:gsLst>
            <a:lin ang="8100000" scaled="0"/>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1DF97"/>
              </a:solidFill>
              <a:effectLst/>
              <a:uLnTx/>
              <a:uFillTx/>
              <a:latin typeface="Times New Roman"/>
              <a:ea typeface="微软雅黑"/>
              <a:cs typeface="+mn-cs"/>
            </a:endParaRPr>
          </a:p>
        </p:txBody>
      </p:sp>
    </p:spTree>
    <p:extLst>
      <p:ext uri="{BB962C8B-B14F-4D97-AF65-F5344CB8AC3E}">
        <p14:creationId xmlns:p14="http://schemas.microsoft.com/office/powerpoint/2010/main" val="3560952674"/>
      </p:ext>
    </p:extLst>
  </p:cSld>
  <p:clrMap bg1="dk2" tx1="lt1" bg2="dk1"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66" r:id="rId12"/>
    <p:sldLayoutId id="2147483668" r:id="rId13"/>
  </p:sldLayoutIdLst>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hf sldNum="0" hdr="0" ftr="0" dt="0"/>
  <p:txStyles>
    <p:titleStyle>
      <a:lvl1pPr algn="l" rtl="0" eaLnBrk="0" fontAlgn="base" hangingPunct="0">
        <a:spcBef>
          <a:spcPct val="0"/>
        </a:spcBef>
        <a:spcAft>
          <a:spcPct val="0"/>
        </a:spcAft>
        <a:defRPr lang="zh-CN" altLang="en-US" sz="4000" b="1" kern="1200" baseline="0" dirty="0">
          <a:solidFill>
            <a:srgbClr val="FF9900"/>
          </a:solidFill>
          <a:effectLst/>
          <a:latin typeface="微软雅黑" pitchFamily="34" charset="-122"/>
          <a:ea typeface="微软雅黑"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p:titleStyle>
    <p:bodyStyle>
      <a:lvl1pPr marL="342900" indent="-342900" algn="l" rtl="0" eaLnBrk="0" fontAlgn="base" hangingPunct="0">
        <a:spcBef>
          <a:spcPct val="0"/>
        </a:spcBef>
        <a:spcAft>
          <a:spcPct val="40000"/>
        </a:spcAft>
        <a:buClr>
          <a:srgbClr val="66FF33"/>
        </a:buClr>
        <a:buSzPct val="85000"/>
        <a:buFont typeface="Wingdings" pitchFamily="2" charset="2"/>
        <a:buBlip>
          <a:blip r:embed="rId15"/>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tags" Target="../tags/tag25.xml"/><Relationship Id="rId3" Type="http://schemas.openxmlformats.org/officeDocument/2006/relationships/tags" Target="../tags/tag20.xml"/><Relationship Id="rId7" Type="http://schemas.openxmlformats.org/officeDocument/2006/relationships/tags" Target="../tags/tag24.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image" Target="../media/image5.tmp"/><Relationship Id="rId5" Type="http://schemas.openxmlformats.org/officeDocument/2006/relationships/tags" Target="../tags/tag22.xml"/><Relationship Id="rId10" Type="http://schemas.openxmlformats.org/officeDocument/2006/relationships/slideLayout" Target="../slideLayouts/slideLayout7.xml"/><Relationship Id="rId4" Type="http://schemas.openxmlformats.org/officeDocument/2006/relationships/tags" Target="../tags/tag21.xml"/><Relationship Id="rId9" Type="http://schemas.openxmlformats.org/officeDocument/2006/relationships/tags" Target="../tags/tag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tags" Target="../tags/tag34.xml"/><Relationship Id="rId3" Type="http://schemas.openxmlformats.org/officeDocument/2006/relationships/tags" Target="../tags/tag29.xml"/><Relationship Id="rId7" Type="http://schemas.openxmlformats.org/officeDocument/2006/relationships/tags" Target="../tags/tag33.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image" Target="../media/image5.tmp"/><Relationship Id="rId5" Type="http://schemas.openxmlformats.org/officeDocument/2006/relationships/tags" Target="../tags/tag31.xml"/><Relationship Id="rId10" Type="http://schemas.openxmlformats.org/officeDocument/2006/relationships/slideLayout" Target="../slideLayouts/slideLayout7.xml"/><Relationship Id="rId4" Type="http://schemas.openxmlformats.org/officeDocument/2006/relationships/tags" Target="../tags/tag30.xml"/><Relationship Id="rId9" Type="http://schemas.openxmlformats.org/officeDocument/2006/relationships/tags" Target="../tags/tag3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8.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53.xml.rels><?xml version="1.0" encoding="UTF-8" standalone="yes"?>
<Relationships xmlns="http://schemas.openxmlformats.org/package/2006/relationships"><Relationship Id="rId8" Type="http://schemas.openxmlformats.org/officeDocument/2006/relationships/tags" Target="../tags/tag57.xml"/><Relationship Id="rId3" Type="http://schemas.openxmlformats.org/officeDocument/2006/relationships/tags" Target="../tags/tag52.xml"/><Relationship Id="rId7" Type="http://schemas.openxmlformats.org/officeDocument/2006/relationships/tags" Target="../tags/tag56.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11" Type="http://schemas.openxmlformats.org/officeDocument/2006/relationships/image" Target="../media/image5.tmp"/><Relationship Id="rId5" Type="http://schemas.openxmlformats.org/officeDocument/2006/relationships/tags" Target="../tags/tag54.xml"/><Relationship Id="rId10" Type="http://schemas.openxmlformats.org/officeDocument/2006/relationships/slideLayout" Target="../slideLayouts/slideLayout7.xml"/><Relationship Id="rId4" Type="http://schemas.openxmlformats.org/officeDocument/2006/relationships/tags" Target="../tags/tag53.xml"/><Relationship Id="rId9" Type="http://schemas.openxmlformats.org/officeDocument/2006/relationships/tags" Target="../tags/tag5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65.xml.rels><?xml version="1.0" encoding="UTF-8" standalone="yes"?>
<Relationships xmlns="http://schemas.openxmlformats.org/package/2006/relationships"><Relationship Id="rId8" Type="http://schemas.openxmlformats.org/officeDocument/2006/relationships/tags" Target="../tags/tag73.xml"/><Relationship Id="rId3" Type="http://schemas.openxmlformats.org/officeDocument/2006/relationships/tags" Target="../tags/tag68.xml"/><Relationship Id="rId7" Type="http://schemas.openxmlformats.org/officeDocument/2006/relationships/tags" Target="../tags/tag72.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image" Target="../media/image5.tmp"/><Relationship Id="rId5" Type="http://schemas.openxmlformats.org/officeDocument/2006/relationships/tags" Target="../tags/tag70.xml"/><Relationship Id="rId10" Type="http://schemas.openxmlformats.org/officeDocument/2006/relationships/slideLayout" Target="../slideLayouts/slideLayout7.xml"/><Relationship Id="rId4" Type="http://schemas.openxmlformats.org/officeDocument/2006/relationships/tags" Target="../tags/tag69.xml"/><Relationship Id="rId9" Type="http://schemas.openxmlformats.org/officeDocument/2006/relationships/tags" Target="../tags/tag7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7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image.baidu.com/i?ct=503316480&amp;z=1&amp;tn=baiduimagedetail&amp;word=%BB%F0&amp;in=33&amp;cl=2&amp;cm=1&amp;sc=0&amp;lm=-1&amp;pn=32&amp;rn=1" TargetMode="Externa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hyperlink" Target="http://blog.bioon.cn/user1/9673/archives/2006/51065.shtml"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74.xml.rels><?xml version="1.0" encoding="UTF-8" standalone="yes"?>
<Relationships xmlns="http://schemas.openxmlformats.org/package/2006/relationships"><Relationship Id="rId8" Type="http://schemas.openxmlformats.org/officeDocument/2006/relationships/tags" Target="../tags/tag87.xml"/><Relationship Id="rId3" Type="http://schemas.openxmlformats.org/officeDocument/2006/relationships/tags" Target="../tags/tag82.xml"/><Relationship Id="rId7" Type="http://schemas.openxmlformats.org/officeDocument/2006/relationships/tags" Target="../tags/tag86.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tags" Target="../tags/tag85.xml"/><Relationship Id="rId11" Type="http://schemas.openxmlformats.org/officeDocument/2006/relationships/image" Target="../media/image5.tmp"/><Relationship Id="rId5" Type="http://schemas.openxmlformats.org/officeDocument/2006/relationships/tags" Target="../tags/tag84.xml"/><Relationship Id="rId10" Type="http://schemas.openxmlformats.org/officeDocument/2006/relationships/slideLayout" Target="../slideLayouts/slideLayout7.xml"/><Relationship Id="rId4" Type="http://schemas.openxmlformats.org/officeDocument/2006/relationships/tags" Target="../tags/tag83.xml"/><Relationship Id="rId9" Type="http://schemas.openxmlformats.org/officeDocument/2006/relationships/tags" Target="../tags/tag8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79.xml.rels><?xml version="1.0" encoding="UTF-8" standalone="yes"?>
<Relationships xmlns="http://schemas.openxmlformats.org/package/2006/relationships"><Relationship Id="rId8" Type="http://schemas.openxmlformats.org/officeDocument/2006/relationships/tags" Target="../tags/tag98.xml"/><Relationship Id="rId3" Type="http://schemas.openxmlformats.org/officeDocument/2006/relationships/tags" Target="../tags/tag93.xml"/><Relationship Id="rId7" Type="http://schemas.openxmlformats.org/officeDocument/2006/relationships/tags" Target="../tags/tag97.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11" Type="http://schemas.openxmlformats.org/officeDocument/2006/relationships/image" Target="../media/image5.tmp"/><Relationship Id="rId5" Type="http://schemas.openxmlformats.org/officeDocument/2006/relationships/tags" Target="../tags/tag95.xml"/><Relationship Id="rId10" Type="http://schemas.openxmlformats.org/officeDocument/2006/relationships/slideLayout" Target="../slideLayouts/slideLayout7.xml"/><Relationship Id="rId4" Type="http://schemas.openxmlformats.org/officeDocument/2006/relationships/tags" Target="../tags/tag94.xml"/><Relationship Id="rId9" Type="http://schemas.openxmlformats.org/officeDocument/2006/relationships/tags" Target="../tags/tag99.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0" name="WordArt 20"/>
          <p:cNvSpPr>
            <a:spLocks noChangeArrowheads="1" noChangeShapeType="1" noTextEdit="1"/>
          </p:cNvSpPr>
          <p:nvPr/>
        </p:nvSpPr>
        <p:spPr bwMode="auto">
          <a:xfrm>
            <a:off x="983434" y="3356992"/>
            <a:ext cx="10225134" cy="1727298"/>
          </a:xfrm>
          <a:prstGeom prst="rect">
            <a:avLst/>
          </a:prstGeom>
        </p:spPr>
        <p:txBody>
          <a:bodyPr wrap="none" fromWordArt="1">
            <a:prstTxWarp prst="textPlain">
              <a:avLst>
                <a:gd name="adj" fmla="val 50000"/>
              </a:avLst>
            </a:prstTxWarp>
          </a:bodyPr>
          <a:lstStyle/>
          <a:p>
            <a:pPr algn="dist"/>
            <a:r>
              <a:rPr lang="zh-CN" altLang="en-US" sz="2800" kern="10" dirty="0">
                <a:ln w="19050" cap="sq">
                  <a:solidFill>
                    <a:schemeClr val="hlink"/>
                  </a:solidFill>
                  <a:round/>
                  <a:headEnd/>
                  <a:tailEnd/>
                </a:ln>
                <a:gradFill rotWithShape="1">
                  <a:gsLst>
                    <a:gs pos="0">
                      <a:srgbClr val="50080D"/>
                    </a:gs>
                    <a:gs pos="100000">
                      <a:srgbClr val="FF0000"/>
                    </a:gs>
                  </a:gsLst>
                  <a:lin ang="2700000" scaled="1"/>
                </a:gradFill>
                <a:effectLst>
                  <a:outerShdw dist="35921" dir="2700000" algn="ctr" rotWithShape="0">
                    <a:schemeClr val="bg2">
                      <a:alpha val="79999"/>
                    </a:schemeClr>
                  </a:outerShdw>
                </a:effectLst>
                <a:latin typeface="隶书"/>
                <a:ea typeface="隶书"/>
              </a:rPr>
              <a:t>数据库安全保护</a:t>
            </a:r>
          </a:p>
        </p:txBody>
      </p:sp>
      <p:sp>
        <p:nvSpPr>
          <p:cNvPr id="153621" name="WordArt 21"/>
          <p:cNvSpPr>
            <a:spLocks noChangeArrowheads="1" noChangeShapeType="1" noTextEdit="1"/>
          </p:cNvSpPr>
          <p:nvPr/>
        </p:nvSpPr>
        <p:spPr bwMode="auto">
          <a:xfrm>
            <a:off x="4368800" y="1482726"/>
            <a:ext cx="3022600" cy="866775"/>
          </a:xfrm>
          <a:prstGeom prst="rect">
            <a:avLst/>
          </a:prstGeom>
        </p:spPr>
        <p:txBody>
          <a:bodyPr wrap="none" fromWordArt="1">
            <a:prstTxWarp prst="textPlain">
              <a:avLst>
                <a:gd name="adj" fmla="val 50000"/>
              </a:avLst>
            </a:prstTxWarp>
          </a:bodyPr>
          <a:lstStyle/>
          <a:p>
            <a:pPr algn="dist">
              <a:defRPr/>
            </a:pPr>
            <a:r>
              <a:rPr lang="zh-CN" altLang="en-US" sz="2800" kern="10" spc="-28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第 </a:t>
            </a:r>
            <a:r>
              <a:rPr lang="en-US" altLang="zh-CN" sz="2800" kern="10" spc="-28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7 </a:t>
            </a:r>
            <a:r>
              <a:rPr lang="zh-CN" altLang="en-US" sz="2800" kern="10" spc="-280" dirty="0">
                <a:ln w="19050" cap="sq">
                  <a:solidFill>
                    <a:schemeClr val="hlink"/>
                  </a:solidFill>
                  <a:round/>
                  <a:headEnd/>
                  <a:tailEnd/>
                </a:ln>
                <a:gradFill rotWithShape="0">
                  <a:gsLst>
                    <a:gs pos="0">
                      <a:srgbClr val="50080D"/>
                    </a:gs>
                    <a:gs pos="100000">
                      <a:srgbClr val="FF0000"/>
                    </a:gs>
                  </a:gsLst>
                  <a:lin ang="2700000" scaled="1"/>
                </a:gradFill>
                <a:effectLst>
                  <a:outerShdw dist="35921" dir="2700000" algn="ctr" rotWithShape="0">
                    <a:schemeClr val="bg2">
                      <a:alpha val="80000"/>
                    </a:schemeClr>
                  </a:outerShdw>
                </a:effectLst>
                <a:latin typeface="隶书"/>
                <a:ea typeface="隶书"/>
              </a:rPr>
              <a:t>章</a:t>
            </a:r>
          </a:p>
        </p:txBody>
      </p:sp>
    </p:spTree>
    <p:custDataLst>
      <p:tags r:id="rId1"/>
    </p:custData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1988840"/>
            <a:ext cx="2448272"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第一节</a:t>
            </a:r>
          </a:p>
        </p:txBody>
      </p:sp>
      <p:sp>
        <p:nvSpPr>
          <p:cNvPr id="2" name="标题 1"/>
          <p:cNvSpPr>
            <a:spLocks noGrp="1"/>
          </p:cNvSpPr>
          <p:nvPr>
            <p:ph type="title"/>
          </p:nvPr>
        </p:nvSpPr>
        <p:spPr>
          <a:xfrm>
            <a:off x="1271464" y="3356992"/>
            <a:ext cx="9649072" cy="1256758"/>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algn="ctr"/>
            <a:r>
              <a:rPr lang="zh-CN" altLang="en-US" sz="6000" b="1" kern="10" spc="60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数据库的安全性</a:t>
            </a:r>
          </a:p>
        </p:txBody>
      </p:sp>
      <p:sp>
        <p:nvSpPr>
          <p:cNvPr id="5" name="标题 1">
            <a:extLst>
              <a:ext uri="{FF2B5EF4-FFF2-40B4-BE49-F238E27FC236}">
                <a16:creationId xmlns:a16="http://schemas.microsoft.com/office/drawing/2014/main" id="{93B11F49-D47E-4865-B643-34FA27C352C5}"/>
              </a:ext>
            </a:extLst>
          </p:cNvPr>
          <p:cNvSpPr txBox="1">
            <a:spLocks/>
          </p:cNvSpPr>
          <p:nvPr/>
        </p:nvSpPr>
        <p:spPr bwMode="auto">
          <a:xfrm>
            <a:off x="983432" y="296696"/>
            <a:ext cx="4284000" cy="396000"/>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第七章  数据库安全保护</a:t>
            </a:r>
          </a:p>
        </p:txBody>
      </p:sp>
    </p:spTree>
    <p:extLst>
      <p:ext uri="{BB962C8B-B14F-4D97-AF65-F5344CB8AC3E}">
        <p14:creationId xmlns:p14="http://schemas.microsoft.com/office/powerpoint/2010/main" val="100035571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1424" y="404664"/>
            <a:ext cx="10440035" cy="3737610"/>
          </a:xfrm>
        </p:spPr>
        <p:txBody>
          <a:bodyPr>
            <a:normAutofit/>
          </a:bodyPr>
          <a:lstStyle/>
          <a:p>
            <a:pPr marL="0" indent="0">
              <a:buNone/>
            </a:pPr>
            <a:r>
              <a:rPr lang="zh-CN" altLang="en-US" sz="3200" b="1" dirty="0"/>
              <a:t>7.1.1数据库安全性概述</a:t>
            </a:r>
          </a:p>
          <a:p>
            <a:pPr marL="0" indent="0">
              <a:buNone/>
            </a:pPr>
            <a:r>
              <a:rPr lang="zh-CN" altLang="en-US" dirty="0"/>
              <a:t>      数据库的安全性是指保护数据库，以防止非法使用所造成数据的泄露、更改或破坏。它包括多方面问题：</a:t>
            </a:r>
          </a:p>
          <a:p>
            <a:pPr marL="0" indent="0">
              <a:buFont typeface="Wingdings" panose="05000000000000000000" charset="0"/>
              <a:buNone/>
            </a:pPr>
            <a:endParaRPr lang="zh-CN" altLang="en-US" dirty="0"/>
          </a:p>
          <a:p>
            <a:pPr marL="0" indent="0">
              <a:buNone/>
            </a:pPr>
            <a:endParaRPr lang="zh-CN" altLang="en-US" dirty="0"/>
          </a:p>
        </p:txBody>
      </p:sp>
      <p:sp>
        <p:nvSpPr>
          <p:cNvPr id="4" name="文本框 3"/>
          <p:cNvSpPr txBox="1"/>
          <p:nvPr/>
        </p:nvSpPr>
        <p:spPr>
          <a:xfrm>
            <a:off x="6312024" y="3212976"/>
            <a:ext cx="4622165" cy="2526846"/>
          </a:xfrm>
          <a:prstGeom prst="rect">
            <a:avLst/>
          </a:prstGeom>
          <a:solidFill>
            <a:schemeClr val="tx2">
              <a:lumMod val="25000"/>
              <a:lumOff val="75000"/>
            </a:schemeClr>
          </a:solidFill>
          <a:ln>
            <a:solidFill>
              <a:schemeClr val="accent1"/>
            </a:solidFill>
          </a:ln>
        </p:spPr>
        <p:txBody>
          <a:bodyPr wrap="square" rtlCol="0" anchor="t">
            <a:spAutoFit/>
          </a:bodyPr>
          <a:lstStyle/>
          <a:p>
            <a:pPr marL="228600" indent="-228600" algn="l">
              <a:lnSpc>
                <a:spcPct val="120000"/>
              </a:lnSpc>
              <a:spcBef>
                <a:spcPts val="1000"/>
              </a:spcBef>
              <a:buFont typeface="Wingdings" panose="05000000000000000000" charset="0"/>
              <a:buChar char="Ø"/>
            </a:pPr>
            <a:r>
              <a:rPr lang="en-US" altLang="zh-CN" sz="2400" dirty="0">
                <a:solidFill>
                  <a:schemeClr val="bg1"/>
                </a:solidFill>
                <a:latin typeface="微软雅黑" panose="020B0503020204020204" charset="-122"/>
                <a:ea typeface="微软雅黑" panose="020B0503020204020204" charset="-122"/>
                <a:sym typeface="+mn-ea"/>
              </a:rPr>
              <a:t> </a:t>
            </a:r>
            <a:r>
              <a:rPr lang="zh-CN" altLang="en-US" sz="2400" dirty="0">
                <a:solidFill>
                  <a:schemeClr val="bg1"/>
                </a:solidFill>
                <a:latin typeface="微软雅黑" panose="020B0503020204020204" charset="-122"/>
                <a:ea typeface="微软雅黑" panose="020B0503020204020204" charset="-122"/>
                <a:sym typeface="+mn-ea"/>
              </a:rPr>
              <a:t>硬件控制方面</a:t>
            </a:r>
            <a:endParaRPr lang="zh-CN" altLang="en-US" sz="2400" dirty="0">
              <a:solidFill>
                <a:schemeClr val="bg1"/>
              </a:solidFill>
            </a:endParaRPr>
          </a:p>
          <a:p>
            <a:pPr marL="228600" indent="-228600" algn="l">
              <a:lnSpc>
                <a:spcPct val="120000"/>
              </a:lnSpc>
              <a:spcBef>
                <a:spcPts val="1000"/>
              </a:spcBef>
              <a:buFont typeface="Wingdings" panose="05000000000000000000" charset="0"/>
              <a:buChar char="Ø"/>
            </a:pPr>
            <a:r>
              <a:rPr lang="zh-CN" altLang="en-US" sz="2400" dirty="0">
                <a:solidFill>
                  <a:schemeClr val="bg1"/>
                </a:solidFill>
                <a:latin typeface="微软雅黑" panose="020B0503020204020204" charset="-122"/>
                <a:ea typeface="微软雅黑" panose="020B0503020204020204" charset="-122"/>
                <a:sym typeface="+mn-ea"/>
              </a:rPr>
              <a:t> 操作系统安全性方面</a:t>
            </a:r>
          </a:p>
          <a:p>
            <a:pPr marL="228600" indent="-228600" algn="l">
              <a:lnSpc>
                <a:spcPct val="120000"/>
              </a:lnSpc>
              <a:spcBef>
                <a:spcPts val="1000"/>
              </a:spcBef>
              <a:buFont typeface="Wingdings" panose="05000000000000000000" charset="0"/>
              <a:buChar char="Ø"/>
            </a:pPr>
            <a:r>
              <a:rPr lang="zh-CN" altLang="en-US" sz="2400" dirty="0">
                <a:solidFill>
                  <a:schemeClr val="bg1"/>
                </a:solidFill>
              </a:rPr>
              <a:t> </a:t>
            </a:r>
            <a:r>
              <a:rPr lang="zh-CN" altLang="en-US" sz="2400" dirty="0">
                <a:solidFill>
                  <a:schemeClr val="bg1"/>
                </a:solidFill>
                <a:latin typeface="微软雅黑" panose="020B0503020204020204" charset="-122"/>
                <a:ea typeface="微软雅黑" panose="020B0503020204020204" charset="-122"/>
              </a:rPr>
              <a:t>数据库系统本身安全性方面</a:t>
            </a:r>
          </a:p>
          <a:p>
            <a:pPr marL="228600" indent="-228600" algn="l">
              <a:lnSpc>
                <a:spcPct val="120000"/>
              </a:lnSpc>
              <a:spcBef>
                <a:spcPts val="1000"/>
              </a:spcBef>
              <a:buFont typeface="Wingdings" panose="05000000000000000000" charset="0"/>
              <a:buChar char="Ø"/>
            </a:pPr>
            <a:endParaRPr lang="zh-CN" altLang="en-US" sz="2400"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1343472" y="3212976"/>
            <a:ext cx="4392488" cy="2526846"/>
          </a:xfrm>
          <a:prstGeom prst="rect">
            <a:avLst/>
          </a:prstGeom>
          <a:solidFill>
            <a:schemeClr val="tx2">
              <a:lumMod val="25000"/>
              <a:lumOff val="75000"/>
            </a:schemeClr>
          </a:solidFill>
          <a:ln>
            <a:solidFill>
              <a:schemeClr val="accent1"/>
            </a:solidFill>
          </a:ln>
        </p:spPr>
        <p:txBody>
          <a:bodyPr wrap="square" rtlCol="0" anchor="t">
            <a:spAutoFit/>
          </a:bodyPr>
          <a:lstStyle/>
          <a:p>
            <a:pPr marL="228600" indent="-228600" algn="l">
              <a:lnSpc>
                <a:spcPct val="120000"/>
              </a:lnSpc>
              <a:spcBef>
                <a:spcPts val="1000"/>
              </a:spcBef>
              <a:buFont typeface="Wingdings" panose="05000000000000000000" charset="0"/>
              <a:buChar char="Ø"/>
            </a:pPr>
            <a:r>
              <a:rPr lang="zh-CN" altLang="en-US" sz="2400" dirty="0">
                <a:solidFill>
                  <a:schemeClr val="bg1"/>
                </a:solidFill>
                <a:latin typeface="微软雅黑" panose="020B0503020204020204" charset="-122"/>
                <a:ea typeface="微软雅黑" panose="020B0503020204020204" charset="-122"/>
                <a:sym typeface="+mn-ea"/>
              </a:rPr>
              <a:t>法律、社会和伦理方面</a:t>
            </a:r>
            <a:endParaRPr lang="zh-CN" altLang="en-US" dirty="0">
              <a:solidFill>
                <a:schemeClr val="bg1"/>
              </a:solidFill>
            </a:endParaRPr>
          </a:p>
          <a:p>
            <a:pPr marL="228600" indent="-228600" algn="l">
              <a:lnSpc>
                <a:spcPct val="120000"/>
              </a:lnSpc>
              <a:spcBef>
                <a:spcPts val="1000"/>
              </a:spcBef>
              <a:buFont typeface="Wingdings" panose="05000000000000000000" charset="0"/>
              <a:buChar char="Ø"/>
            </a:pPr>
            <a:r>
              <a:rPr lang="zh-CN" altLang="en-US" sz="2400" dirty="0">
                <a:solidFill>
                  <a:schemeClr val="bg1"/>
                </a:solidFill>
                <a:latin typeface="微软雅黑" panose="020B0503020204020204" charset="-122"/>
                <a:ea typeface="微软雅黑" panose="020B0503020204020204" charset="-122"/>
                <a:sym typeface="+mn-ea"/>
              </a:rPr>
              <a:t> 物理控制方面</a:t>
            </a:r>
            <a:endParaRPr lang="zh-CN" altLang="en-US" dirty="0">
              <a:solidFill>
                <a:schemeClr val="bg1"/>
              </a:solidFill>
            </a:endParaRPr>
          </a:p>
          <a:p>
            <a:pPr marL="228600" indent="-228600" algn="l">
              <a:lnSpc>
                <a:spcPct val="120000"/>
              </a:lnSpc>
              <a:spcBef>
                <a:spcPts val="1000"/>
              </a:spcBef>
              <a:buFont typeface="Wingdings" panose="05000000000000000000" charset="0"/>
              <a:buChar char="Ø"/>
            </a:pPr>
            <a:r>
              <a:rPr lang="zh-CN" altLang="en-US" sz="2400" dirty="0">
                <a:solidFill>
                  <a:schemeClr val="bg1"/>
                </a:solidFill>
                <a:latin typeface="微软雅黑" panose="020B0503020204020204" charset="-122"/>
                <a:ea typeface="微软雅黑" panose="020B0503020204020204" charset="-122"/>
                <a:sym typeface="+mn-ea"/>
              </a:rPr>
              <a:t> 政策方面</a:t>
            </a:r>
            <a:endParaRPr lang="zh-CN" altLang="en-US" dirty="0">
              <a:solidFill>
                <a:schemeClr val="bg1"/>
              </a:solidFill>
            </a:endParaRPr>
          </a:p>
          <a:p>
            <a:pPr marL="228600" indent="-228600" algn="l">
              <a:lnSpc>
                <a:spcPct val="120000"/>
              </a:lnSpc>
              <a:spcBef>
                <a:spcPts val="1000"/>
              </a:spcBef>
              <a:buFont typeface="Wingdings" panose="05000000000000000000" charset="0"/>
              <a:buChar char="Ø"/>
            </a:pPr>
            <a:r>
              <a:rPr lang="zh-CN" altLang="en-US" sz="2400" dirty="0">
                <a:solidFill>
                  <a:schemeClr val="bg1"/>
                </a:solidFill>
                <a:latin typeface="微软雅黑" panose="020B0503020204020204" charset="-122"/>
                <a:ea typeface="微软雅黑" panose="020B0503020204020204" charset="-122"/>
                <a:sym typeface="+mn-ea"/>
              </a:rPr>
              <a:t> 运行与技术方面</a:t>
            </a:r>
            <a:endParaRPr lang="zh-CN" altLang="en-US" dirty="0">
              <a:solidFill>
                <a:schemeClr val="bg1"/>
              </a:solidFill>
            </a:endParaRPr>
          </a:p>
        </p:txBody>
      </p:sp>
    </p:spTree>
    <p:custDataLst>
      <p:tags r:id="rId1"/>
    </p:custDataLst>
    <p:extLst>
      <p:ext uri="{BB962C8B-B14F-4D97-AF65-F5344CB8AC3E}">
        <p14:creationId xmlns:p14="http://schemas.microsoft.com/office/powerpoint/2010/main" val="3043393133"/>
      </p:ext>
    </p:extLst>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3"/>
          <p:cNvSpPr>
            <a:spLocks noGrp="1" noChangeArrowheads="1"/>
          </p:cNvSpPr>
          <p:nvPr>
            <p:ph type="title"/>
          </p:nvPr>
        </p:nvSpPr>
        <p:spPr>
          <a:xfrm>
            <a:off x="1127448" y="128756"/>
            <a:ext cx="3223172"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数据库安全性</a:t>
            </a:r>
          </a:p>
        </p:txBody>
      </p:sp>
      <p:sp>
        <p:nvSpPr>
          <p:cNvPr id="1129476" name="Rectangle 4"/>
          <p:cNvSpPr>
            <a:spLocks noGrp="1" noChangeArrowheads="1"/>
          </p:cNvSpPr>
          <p:nvPr>
            <p:ph idx="1"/>
          </p:nvPr>
        </p:nvSpPr>
        <p:spPr>
          <a:xfrm>
            <a:off x="767408" y="1052736"/>
            <a:ext cx="10657184" cy="647700"/>
          </a:xfrm>
        </p:spPr>
        <p:txBody>
          <a:bodyPr/>
          <a:lstStyle/>
          <a:p>
            <a:pPr marL="358775" indent="-358775" algn="just" eaLnBrk="1" hangingPunct="1">
              <a:spcAft>
                <a:spcPct val="60000"/>
              </a:spcAft>
              <a:buNone/>
              <a:defRPr/>
            </a:pPr>
            <a:r>
              <a:rPr lang="zh-CN" altLang="en-US" sz="3600" dirty="0">
                <a:latin typeface="楷体_GB2312" pitchFamily="49" charset="-122"/>
              </a:rPr>
              <a:t>	数据库的安全性保护是防止</a:t>
            </a:r>
            <a:r>
              <a:rPr lang="zh-CN" altLang="en-US" sz="4000" b="1" dirty="0">
                <a:solidFill>
                  <a:srgbClr val="FFFF00"/>
                </a:solidFill>
                <a:latin typeface="楷体_GB2312" pitchFamily="49" charset="-122"/>
              </a:rPr>
              <a:t>非法</a:t>
            </a:r>
            <a:r>
              <a:rPr lang="zh-CN" altLang="en-US" sz="3600" dirty="0">
                <a:latin typeface="楷体_GB2312" pitchFamily="49" charset="-122"/>
              </a:rPr>
              <a:t>入侵或非法操作而造成数据的泄漏、篡改与破坏。</a:t>
            </a:r>
          </a:p>
        </p:txBody>
      </p:sp>
      <p:sp>
        <p:nvSpPr>
          <p:cNvPr id="1129477" name="Rectangle 5"/>
          <p:cNvSpPr>
            <a:spLocks noChangeArrowheads="1"/>
          </p:cNvSpPr>
          <p:nvPr/>
        </p:nvSpPr>
        <p:spPr bwMode="auto">
          <a:xfrm>
            <a:off x="767408" y="2564904"/>
            <a:ext cx="10140136" cy="647700"/>
          </a:xfrm>
          <a:prstGeom prst="rect">
            <a:avLst/>
          </a:prstGeom>
          <a:noFill/>
          <a:ln w="9525">
            <a:noFill/>
            <a:miter lim="800000"/>
            <a:headEnd/>
            <a:tailEnd/>
          </a:ln>
          <a:effectLst/>
        </p:spPr>
        <p:txBody>
          <a:bodyPr/>
          <a:lstStyle/>
          <a:p>
            <a:pPr marL="358775" indent="-358775" algn="just">
              <a:spcAft>
                <a:spcPct val="50000"/>
              </a:spcAft>
              <a:buClr>
                <a:srgbClr val="66FF33"/>
              </a:buClr>
              <a:buSzPct val="85000"/>
              <a:buBlip>
                <a:blip r:embed="rId2"/>
              </a:buBlip>
              <a:defRPr/>
            </a:pPr>
            <a:r>
              <a:rPr kumimoji="0" lang="zh-CN" altLang="en-US" dirty="0">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能够分辨合法用户与非法用户的身份；</a:t>
            </a:r>
          </a:p>
          <a:p>
            <a:pPr marL="358775" indent="-358775" algn="just">
              <a:spcAft>
                <a:spcPct val="50000"/>
              </a:spcAft>
              <a:buClr>
                <a:srgbClr val="66FF33"/>
              </a:buClr>
              <a:buSzPct val="85000"/>
              <a:buBlip>
                <a:blip r:embed="rId2"/>
              </a:buBlip>
              <a:defRPr/>
            </a:pPr>
            <a:r>
              <a:rPr kumimoji="0" lang="zh-CN" altLang="en-US" dirty="0">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让用户只能访问他能够访问的数据，执行他能够执行的操作；</a:t>
            </a:r>
          </a:p>
          <a:p>
            <a:pPr marL="358775" indent="-358775" algn="just">
              <a:spcAft>
                <a:spcPct val="50000"/>
              </a:spcAft>
              <a:buClr>
                <a:srgbClr val="66FF33"/>
              </a:buClr>
              <a:buSzPct val="85000"/>
              <a:buBlip>
                <a:blip r:embed="rId2"/>
              </a:buBlip>
              <a:defRPr/>
            </a:pPr>
            <a:r>
              <a:rPr kumimoji="0" lang="zh-CN" altLang="en-US" dirty="0">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隐藏用户不该看到或使用的数据；</a:t>
            </a:r>
          </a:p>
          <a:p>
            <a:pPr marL="358775" indent="-358775" algn="just">
              <a:spcAft>
                <a:spcPct val="50000"/>
              </a:spcAft>
              <a:buClr>
                <a:srgbClr val="66FF33"/>
              </a:buClr>
              <a:buSzPct val="85000"/>
              <a:buBlip>
                <a:blip r:embed="rId2"/>
              </a:buBlip>
              <a:defRPr/>
            </a:pPr>
            <a:r>
              <a:rPr kumimoji="0" lang="zh-CN" altLang="en-US" dirty="0">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防止他人绕过</a:t>
            </a:r>
            <a:r>
              <a:rPr kumimoji="0" lang="en-US" altLang="zh-CN" dirty="0">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DBMS</a:t>
            </a:r>
            <a:r>
              <a:rPr kumimoji="0" lang="zh-CN" altLang="en-US" dirty="0">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窃取数据；</a:t>
            </a:r>
          </a:p>
          <a:p>
            <a:pPr marL="358775" indent="-358775" algn="just">
              <a:spcAft>
                <a:spcPct val="50000"/>
              </a:spcAft>
              <a:buClr>
                <a:srgbClr val="66FF33"/>
              </a:buClr>
              <a:buSzPct val="85000"/>
              <a:buBlip>
                <a:blip r:embed="rId2"/>
              </a:buBlip>
              <a:defRPr/>
            </a:pPr>
            <a:r>
              <a:rPr kumimoji="0" lang="zh-CN" altLang="en-US" dirty="0">
                <a:solidFill>
                  <a:srgbClr val="CCFFCC"/>
                </a:solidFill>
                <a:effectLst>
                  <a:outerShdw blurRad="38100" dist="38100" dir="2700000" algn="tl">
                    <a:srgbClr val="000000"/>
                  </a:outerShdw>
                </a:effectLst>
                <a:latin typeface="宋体" panose="02010600030101010101" pitchFamily="2" charset="-122"/>
                <a:ea typeface="宋体" panose="02010600030101010101" pitchFamily="2" charset="-122"/>
              </a:rPr>
              <a:t>跟踪监视并记录用户对数据库的一举一动。</a:t>
            </a: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620688"/>
            <a:ext cx="10972800" cy="4054475"/>
          </a:xfrm>
        </p:spPr>
        <p:txBody>
          <a:bodyPr/>
          <a:lstStyle/>
          <a:p>
            <a:pPr marL="0" indent="0">
              <a:lnSpc>
                <a:spcPct val="150000"/>
              </a:lnSpc>
              <a:buNone/>
            </a:pPr>
            <a:r>
              <a:rPr lang="en-US" altLang="zh-CN" sz="2800" b="1" dirty="0" smtClean="0"/>
              <a:t>1</a:t>
            </a:r>
            <a:r>
              <a:rPr lang="en-US" altLang="zh-CN" sz="2800" b="1" dirty="0"/>
              <a:t>. </a:t>
            </a:r>
            <a:r>
              <a:rPr lang="zh-CN" altLang="en-US" sz="2800" b="1" dirty="0"/>
              <a:t>用户标识和鉴别</a:t>
            </a:r>
          </a:p>
          <a:p>
            <a:pPr marL="0" indent="0">
              <a:lnSpc>
                <a:spcPct val="150000"/>
              </a:lnSpc>
              <a:buNone/>
            </a:pPr>
            <a:r>
              <a:rPr lang="zh-CN" altLang="en-US" dirty="0"/>
              <a:t>       用户标识和鉴定是系统提供的最外层的安全保护措施，其方法是由系统提供一定的方式由用户标识自己的名字或身份，系统内部记录着所有合法用户的标识，每次用户要求进入系统时，都由系统进行核实，通过鉴定后才提供机器上数据库的使用权。</a:t>
            </a:r>
          </a:p>
        </p:txBody>
      </p:sp>
    </p:spTree>
    <p:custDataLst>
      <p:tags r:id="rId1"/>
    </p:custDataLst>
    <p:extLst>
      <p:ext uri="{BB962C8B-B14F-4D97-AF65-F5344CB8AC3E}">
        <p14:creationId xmlns:p14="http://schemas.microsoft.com/office/powerpoint/2010/main" val="2769737874"/>
      </p:ext>
    </p:extLst>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1424" y="1124744"/>
            <a:ext cx="10440035" cy="4585335"/>
          </a:xfrm>
        </p:spPr>
        <p:txBody>
          <a:bodyPr>
            <a:normAutofit fontScale="62500" lnSpcReduction="20000"/>
          </a:bodyPr>
          <a:lstStyle/>
          <a:p>
            <a:pPr marL="0" indent="0">
              <a:lnSpc>
                <a:spcPct val="160000"/>
              </a:lnSpc>
              <a:buNone/>
            </a:pPr>
            <a:r>
              <a:rPr lang="zh-CN" altLang="en-US" dirty="0"/>
              <a:t>用户标识和鉴定的常用的方法有以下几种：</a:t>
            </a:r>
          </a:p>
          <a:p>
            <a:pPr marL="0" indent="0">
              <a:lnSpc>
                <a:spcPct val="160000"/>
              </a:lnSpc>
              <a:buNone/>
            </a:pPr>
            <a:r>
              <a:rPr lang="zh-CN" altLang="en-US" dirty="0"/>
              <a:t>（1）单用户名鉴别法</a:t>
            </a:r>
          </a:p>
          <a:p>
            <a:pPr marL="0" indent="0">
              <a:lnSpc>
                <a:spcPct val="160000"/>
              </a:lnSpc>
              <a:buNone/>
            </a:pPr>
            <a:r>
              <a:rPr lang="zh-CN" altLang="en-US" dirty="0"/>
              <a:t>      用一个用户名或用户标识符来标明用户的身份，系统以此来鉴别用户的合法性。如果正确，则可进入下一步的核实，否则，用户不能使用计算机。</a:t>
            </a:r>
          </a:p>
          <a:p>
            <a:pPr marL="0" indent="0">
              <a:lnSpc>
                <a:spcPct val="160000"/>
              </a:lnSpc>
              <a:buNone/>
            </a:pPr>
            <a:r>
              <a:rPr lang="zh-CN" altLang="en-US" dirty="0"/>
              <a:t>（2）</a:t>
            </a:r>
            <a:r>
              <a:rPr lang="zh-CN" altLang="en-US" dirty="0">
                <a:solidFill>
                  <a:srgbClr val="FF0000"/>
                </a:solidFill>
              </a:rPr>
              <a:t>用户名与口令联合鉴别法</a:t>
            </a:r>
          </a:p>
          <a:p>
            <a:pPr marL="0" indent="0">
              <a:lnSpc>
                <a:spcPct val="160000"/>
              </a:lnSpc>
              <a:buNone/>
            </a:pPr>
            <a:r>
              <a:rPr lang="zh-CN" altLang="en-US" dirty="0"/>
              <a:t>      系统通过核对口令来判别用户身份的真伪。系统有一张用户口令表，为每个用户保持一个记录，包括用户名和口令两部分数据。用户先输入用户名.然后系统要求用户输人口令。为了保密，用户在终端上输人的口令不显示在屏幕上。系统核对口令以鉴别用户身份。</a:t>
            </a:r>
          </a:p>
        </p:txBody>
      </p:sp>
    </p:spTree>
    <p:custDataLst>
      <p:tags r:id="rId1"/>
    </p:custDataLst>
    <p:extLst>
      <p:ext uri="{BB962C8B-B14F-4D97-AF65-F5344CB8AC3E}">
        <p14:creationId xmlns:p14="http://schemas.microsoft.com/office/powerpoint/2010/main" val="2610934906"/>
      </p:ext>
    </p:ext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980728"/>
            <a:ext cx="10440035" cy="4511040"/>
          </a:xfrm>
        </p:spPr>
        <p:txBody>
          <a:bodyPr>
            <a:normAutofit/>
          </a:bodyPr>
          <a:lstStyle/>
          <a:p>
            <a:pPr marL="0" indent="0">
              <a:lnSpc>
                <a:spcPct val="160000"/>
              </a:lnSpc>
              <a:buNone/>
            </a:pPr>
            <a:r>
              <a:rPr lang="zh-CN" altLang="en-US" dirty="0"/>
              <a:t>（</a:t>
            </a:r>
            <a:r>
              <a:rPr lang="en-US" altLang="zh-CN" dirty="0"/>
              <a:t>3</a:t>
            </a:r>
            <a:r>
              <a:rPr lang="zh-CN" altLang="en-US" dirty="0"/>
              <a:t>）透明公式鉴别法</a:t>
            </a:r>
          </a:p>
          <a:p>
            <a:pPr marL="0" indent="0">
              <a:lnSpc>
                <a:spcPct val="160000"/>
              </a:lnSpc>
              <a:buNone/>
            </a:pPr>
            <a:r>
              <a:rPr lang="zh-CN" altLang="en-US" dirty="0"/>
              <a:t>      每个用户都预先约定好一个过程或者函数，鉴别用户身份时，系统提供一个随机数，用户根据自己预先约定的计算过程或者函数进行计算，系统根据计算结果辨别用户身份的合法性</a:t>
            </a:r>
            <a:r>
              <a:rPr lang="zh-CN" altLang="en-US" dirty="0" smtClean="0"/>
              <a:t>。</a:t>
            </a:r>
            <a:endParaRPr lang="zh-CN" altLang="en-US" dirty="0"/>
          </a:p>
        </p:txBody>
      </p:sp>
    </p:spTree>
    <p:custDataLst>
      <p:tags r:id="rId1"/>
    </p:custDataLst>
    <p:extLst>
      <p:ext uri="{BB962C8B-B14F-4D97-AF65-F5344CB8AC3E}">
        <p14:creationId xmlns:p14="http://schemas.microsoft.com/office/powerpoint/2010/main" val="1575066035"/>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title"/>
          </p:nvPr>
        </p:nvSpPr>
        <p:spPr>
          <a:xfrm>
            <a:off x="1127448" y="86748"/>
            <a:ext cx="3736133"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用户标识和鉴别</a:t>
            </a:r>
          </a:p>
        </p:txBody>
      </p:sp>
      <p:sp>
        <p:nvSpPr>
          <p:cNvPr id="5124" name="Rectangle 4"/>
          <p:cNvSpPr>
            <a:spLocks noGrp="1" noChangeArrowheads="1"/>
          </p:cNvSpPr>
          <p:nvPr>
            <p:ph idx="1"/>
          </p:nvPr>
        </p:nvSpPr>
        <p:spPr>
          <a:xfrm>
            <a:off x="7464152" y="740754"/>
            <a:ext cx="4176464" cy="592138"/>
          </a:xfrm>
          <a:solidFill>
            <a:srgbClr val="0000FF"/>
          </a:solidFill>
          <a:ln w="19050">
            <a:solidFill>
              <a:srgbClr val="CCFF33"/>
            </a:solidFill>
          </a:ln>
          <a:effectLst>
            <a:outerShdw dist="35921" dir="2700000" algn="ctr" rotWithShape="0">
              <a:schemeClr val="bg2"/>
            </a:outerShdw>
          </a:effectLst>
        </p:spPr>
        <p:txBody>
          <a:bodyPr/>
          <a:lstStyle/>
          <a:p>
            <a:pPr marL="358775" indent="-358775" algn="ctr" eaLnBrk="1" hangingPunct="1">
              <a:spcAft>
                <a:spcPct val="60000"/>
              </a:spcAft>
              <a:buNone/>
            </a:pPr>
            <a:r>
              <a:rPr lang="zh-CN" altLang="en-US" dirty="0">
                <a:solidFill>
                  <a:srgbClr val="FFFF00"/>
                </a:solidFill>
                <a:effectLst/>
                <a:latin typeface="楷体_GB2312" pitchFamily="49" charset="-122"/>
              </a:rPr>
              <a:t>核查是否是合法用户</a:t>
            </a:r>
          </a:p>
        </p:txBody>
      </p:sp>
      <p:grpSp>
        <p:nvGrpSpPr>
          <p:cNvPr id="6" name="组合 5">
            <a:extLst>
              <a:ext uri="{FF2B5EF4-FFF2-40B4-BE49-F238E27FC236}">
                <a16:creationId xmlns:a16="http://schemas.microsoft.com/office/drawing/2014/main" id="{997A97DF-7935-47D3-9B1E-6D3F734108A0}"/>
              </a:ext>
            </a:extLst>
          </p:cNvPr>
          <p:cNvGrpSpPr/>
          <p:nvPr/>
        </p:nvGrpSpPr>
        <p:grpSpPr>
          <a:xfrm>
            <a:off x="8158783" y="2287285"/>
            <a:ext cx="3049782" cy="4204395"/>
            <a:chOff x="7792930" y="2552700"/>
            <a:chExt cx="2473351" cy="3916363"/>
          </a:xfrm>
        </p:grpSpPr>
        <p:sp>
          <p:nvSpPr>
            <p:cNvPr id="1130501" name="AutoShape 5"/>
            <p:cNvSpPr>
              <a:spLocks noChangeArrowheads="1"/>
            </p:cNvSpPr>
            <p:nvPr/>
          </p:nvSpPr>
          <p:spPr bwMode="auto">
            <a:xfrm>
              <a:off x="8657884" y="2552700"/>
              <a:ext cx="914400" cy="304800"/>
            </a:xfrm>
            <a:prstGeom prst="roundRect">
              <a:avLst>
                <a:gd name="adj" fmla="val 50000"/>
              </a:avLst>
            </a:prstGeom>
            <a:solidFill>
              <a:srgbClr val="F5F5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000" b="1">
                  <a:solidFill>
                    <a:srgbClr val="000000"/>
                  </a:solidFill>
                  <a:effectLst/>
                  <a:latin typeface="微软雅黑" panose="020B0503020204020204" pitchFamily="34" charset="-122"/>
                  <a:ea typeface="微软雅黑" panose="020B0503020204020204" pitchFamily="34" charset="-122"/>
                </a:rPr>
                <a:t>开始</a:t>
              </a:r>
            </a:p>
          </p:txBody>
        </p:sp>
        <p:sp>
          <p:nvSpPr>
            <p:cNvPr id="1130502" name="AutoShape 6"/>
            <p:cNvSpPr>
              <a:spLocks noChangeArrowheads="1"/>
            </p:cNvSpPr>
            <p:nvPr/>
          </p:nvSpPr>
          <p:spPr bwMode="auto">
            <a:xfrm>
              <a:off x="8048284" y="3238500"/>
              <a:ext cx="2133600" cy="381000"/>
            </a:xfrm>
            <a:prstGeom prst="parallelogram">
              <a:avLst>
                <a:gd name="adj" fmla="val 45422"/>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000" b="1">
                  <a:solidFill>
                    <a:srgbClr val="000000"/>
                  </a:solidFill>
                  <a:effectLst/>
                  <a:latin typeface="微软雅黑" panose="020B0503020204020204" pitchFamily="34" charset="-122"/>
                  <a:ea typeface="微软雅黑" panose="020B0503020204020204" pitchFamily="34" charset="-122"/>
                </a:rPr>
                <a:t>用户及密码</a:t>
              </a:r>
            </a:p>
          </p:txBody>
        </p:sp>
        <p:sp>
          <p:nvSpPr>
            <p:cNvPr id="1130503" name="AutoShape 7"/>
            <p:cNvSpPr>
              <a:spLocks noChangeArrowheads="1"/>
            </p:cNvSpPr>
            <p:nvPr/>
          </p:nvSpPr>
          <p:spPr bwMode="auto">
            <a:xfrm>
              <a:off x="7963888" y="4084592"/>
              <a:ext cx="2302393" cy="646579"/>
            </a:xfrm>
            <a:prstGeom prst="diamond">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000" b="1" dirty="0">
                  <a:solidFill>
                    <a:srgbClr val="000000"/>
                  </a:solidFill>
                  <a:effectLst/>
                  <a:latin typeface="微软雅黑" panose="020B0503020204020204" pitchFamily="34" charset="-122"/>
                  <a:ea typeface="微软雅黑" panose="020B0503020204020204" pitchFamily="34" charset="-122"/>
                </a:rPr>
                <a:t>与密码表匹配</a:t>
              </a:r>
            </a:p>
          </p:txBody>
        </p:sp>
        <p:cxnSp>
          <p:nvCxnSpPr>
            <p:cNvPr id="5128" name="AutoShape 8"/>
            <p:cNvCxnSpPr>
              <a:cxnSpLocks noChangeShapeType="1"/>
              <a:stCxn id="1130503" idx="1"/>
              <a:endCxn id="1130502" idx="5"/>
            </p:cNvCxnSpPr>
            <p:nvPr/>
          </p:nvCxnSpPr>
          <p:spPr bwMode="auto">
            <a:xfrm rot="10800000" flipH="1">
              <a:off x="7963888" y="3429002"/>
              <a:ext cx="159731" cy="978880"/>
            </a:xfrm>
            <a:prstGeom prst="bentConnector3">
              <a:avLst>
                <a:gd name="adj1" fmla="val -116065"/>
              </a:avLst>
            </a:prstGeom>
            <a:noFill/>
            <a:ln w="28575"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130506" name="Rectangle 10"/>
            <p:cNvSpPr>
              <a:spLocks noChangeArrowheads="1"/>
            </p:cNvSpPr>
            <p:nvPr/>
          </p:nvSpPr>
          <p:spPr bwMode="auto">
            <a:xfrm>
              <a:off x="8353083" y="5192583"/>
              <a:ext cx="1524000" cy="457200"/>
            </a:xfrm>
            <a:prstGeom prst="rect">
              <a:avLst/>
            </a:prstGeom>
            <a:solidFill>
              <a:srgbClr val="F5F5FF"/>
            </a:solidFill>
            <a:ln w="12700" cap="sq">
              <a:solidFill>
                <a:srgbClr val="000000"/>
              </a:solidFill>
              <a:miter lim="800000"/>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000" b="1">
                  <a:solidFill>
                    <a:srgbClr val="000000"/>
                  </a:solidFill>
                  <a:effectLst/>
                  <a:latin typeface="微软雅黑" panose="020B0503020204020204" pitchFamily="34" charset="-122"/>
                  <a:ea typeface="微软雅黑" panose="020B0503020204020204" pitchFamily="34" charset="-122"/>
                </a:rPr>
                <a:t>使用数据库</a:t>
              </a:r>
            </a:p>
          </p:txBody>
        </p:sp>
        <p:cxnSp>
          <p:nvCxnSpPr>
            <p:cNvPr id="5132" name="AutoShape 12"/>
            <p:cNvCxnSpPr>
              <a:cxnSpLocks noChangeShapeType="1"/>
              <a:stCxn id="1130503" idx="2"/>
              <a:endCxn id="1130506" idx="0"/>
            </p:cNvCxnSpPr>
            <p:nvPr/>
          </p:nvCxnSpPr>
          <p:spPr bwMode="auto">
            <a:xfrm rot="5400000">
              <a:off x="8884379" y="4961875"/>
              <a:ext cx="461412" cy="2"/>
            </a:xfrm>
            <a:prstGeom prst="bentConnector3">
              <a:avLst>
                <a:gd name="adj1" fmla="val 50000"/>
              </a:avLst>
            </a:prstGeom>
            <a:noFill/>
            <a:ln w="28575"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130509" name="AutoShape 13"/>
            <p:cNvSpPr>
              <a:spLocks noChangeArrowheads="1"/>
            </p:cNvSpPr>
            <p:nvPr/>
          </p:nvSpPr>
          <p:spPr bwMode="auto">
            <a:xfrm>
              <a:off x="8657884" y="6164263"/>
              <a:ext cx="914400" cy="304800"/>
            </a:xfrm>
            <a:prstGeom prst="roundRect">
              <a:avLst>
                <a:gd name="adj" fmla="val 50000"/>
              </a:avLst>
            </a:prstGeom>
            <a:solidFill>
              <a:srgbClr val="F5F5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000" b="1">
                  <a:solidFill>
                    <a:srgbClr val="000000"/>
                  </a:solidFill>
                  <a:effectLst/>
                  <a:latin typeface="微软雅黑" panose="020B0503020204020204" pitchFamily="34" charset="-122"/>
                  <a:ea typeface="微软雅黑" panose="020B0503020204020204" pitchFamily="34" charset="-122"/>
                </a:rPr>
                <a:t>结束</a:t>
              </a:r>
            </a:p>
          </p:txBody>
        </p:sp>
        <p:cxnSp>
          <p:nvCxnSpPr>
            <p:cNvPr id="5135" name="AutoShape 15"/>
            <p:cNvCxnSpPr>
              <a:cxnSpLocks noChangeShapeType="1"/>
              <a:stCxn id="1130506" idx="2"/>
              <a:endCxn id="1130509" idx="0"/>
            </p:cNvCxnSpPr>
            <p:nvPr/>
          </p:nvCxnSpPr>
          <p:spPr bwMode="auto">
            <a:xfrm rot="16200000" flipH="1">
              <a:off x="8857843" y="5907022"/>
              <a:ext cx="514480" cy="1"/>
            </a:xfrm>
            <a:prstGeom prst="bentConnector3">
              <a:avLst>
                <a:gd name="adj1" fmla="val 50000"/>
              </a:avLst>
            </a:prstGeom>
            <a:noFill/>
            <a:ln w="28575"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5136" name="AutoShape 16"/>
            <p:cNvCxnSpPr>
              <a:cxnSpLocks noChangeShapeType="1"/>
              <a:stCxn id="1130501" idx="2"/>
              <a:endCxn id="1130502" idx="1"/>
            </p:cNvCxnSpPr>
            <p:nvPr/>
          </p:nvCxnSpPr>
          <p:spPr bwMode="auto">
            <a:xfrm>
              <a:off x="9115084" y="2857500"/>
              <a:ext cx="0" cy="381000"/>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137" name="AutoShape 17"/>
            <p:cNvCxnSpPr>
              <a:cxnSpLocks noChangeShapeType="1"/>
              <a:stCxn id="1130502" idx="4"/>
              <a:endCxn id="1130503" idx="0"/>
            </p:cNvCxnSpPr>
            <p:nvPr/>
          </p:nvCxnSpPr>
          <p:spPr bwMode="auto">
            <a:xfrm>
              <a:off x="9115084" y="3619500"/>
              <a:ext cx="1" cy="465091"/>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30516" name="Rectangle 20"/>
            <p:cNvSpPr>
              <a:spLocks noChangeArrowheads="1"/>
            </p:cNvSpPr>
            <p:nvPr/>
          </p:nvSpPr>
          <p:spPr bwMode="auto">
            <a:xfrm>
              <a:off x="9206119" y="4807987"/>
              <a:ext cx="135202" cy="30777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000" b="1" dirty="0">
                  <a:effectLst/>
                  <a:latin typeface="微软雅黑" panose="020B0503020204020204" pitchFamily="34" charset="-122"/>
                  <a:ea typeface="微软雅黑" panose="020B0503020204020204" pitchFamily="34" charset="-122"/>
                </a:rPr>
                <a:t>Y</a:t>
              </a:r>
            </a:p>
          </p:txBody>
        </p:sp>
        <p:sp>
          <p:nvSpPr>
            <p:cNvPr id="1130517" name="Rectangle 21"/>
            <p:cNvSpPr>
              <a:spLocks noChangeArrowheads="1"/>
            </p:cNvSpPr>
            <p:nvPr/>
          </p:nvSpPr>
          <p:spPr bwMode="auto">
            <a:xfrm>
              <a:off x="7792930" y="3776814"/>
              <a:ext cx="176804" cy="307777"/>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000" b="1" dirty="0">
                  <a:effectLst/>
                  <a:latin typeface="微软雅黑" panose="020B0503020204020204" pitchFamily="34" charset="-122"/>
                  <a:ea typeface="微软雅黑" panose="020B0503020204020204" pitchFamily="34" charset="-122"/>
                </a:rPr>
                <a:t>N</a:t>
              </a:r>
            </a:p>
          </p:txBody>
        </p:sp>
      </p:grpSp>
      <p:graphicFrame>
        <p:nvGraphicFramePr>
          <p:cNvPr id="1130518" name="Group 22"/>
          <p:cNvGraphicFramePr>
            <a:graphicFrameLocks noGrp="1"/>
          </p:cNvGraphicFramePr>
          <p:nvPr>
            <p:extLst>
              <p:ext uri="{D42A27DB-BD31-4B8C-83A1-F6EECF244321}">
                <p14:modId xmlns:p14="http://schemas.microsoft.com/office/powerpoint/2010/main" val="3807824419"/>
              </p:ext>
            </p:extLst>
          </p:nvPr>
        </p:nvGraphicFramePr>
        <p:xfrm>
          <a:off x="1352012" y="4437112"/>
          <a:ext cx="3948552" cy="2054568"/>
        </p:xfrm>
        <a:graphic>
          <a:graphicData uri="http://schemas.openxmlformats.org/drawingml/2006/table">
            <a:tbl>
              <a:tblPr/>
              <a:tblGrid>
                <a:gridCol w="1974276">
                  <a:extLst>
                    <a:ext uri="{9D8B030D-6E8A-4147-A177-3AD203B41FA5}">
                      <a16:colId xmlns:a16="http://schemas.microsoft.com/office/drawing/2014/main" val="20000"/>
                    </a:ext>
                  </a:extLst>
                </a:gridCol>
                <a:gridCol w="1974276">
                  <a:extLst>
                    <a:ext uri="{9D8B030D-6E8A-4147-A177-3AD203B41FA5}">
                      <a16:colId xmlns:a16="http://schemas.microsoft.com/office/drawing/2014/main" val="20001"/>
                    </a:ext>
                  </a:extLst>
                </a:gridCol>
              </a:tblGrid>
              <a:tr h="51364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用户名</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密码</a:t>
                      </a: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3642">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Admin</a:t>
                      </a:r>
                    </a:p>
                  </a:txBody>
                  <a:tcPr marL="5715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superstar</a:t>
                      </a:r>
                    </a:p>
                  </a:txBody>
                  <a:tcPr marL="5715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3642">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pansir</a:t>
                      </a:r>
                    </a:p>
                  </a:txBody>
                  <a:tcPr marL="5715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800" b="0" i="0" u="none" strike="noStrike" cap="none" normalizeH="0" baseline="0" dirty="0" err="1">
                          <a:ln>
                            <a:noFill/>
                          </a:ln>
                          <a:solidFill>
                            <a:srgbClr val="CCFFCC"/>
                          </a:solidFill>
                          <a:effectLst>
                            <a:outerShdw blurRad="38100" dist="38100" dir="2700000" algn="tl">
                              <a:srgbClr val="000000"/>
                            </a:outerShdw>
                          </a:effectLst>
                          <a:latin typeface="楷体_GB2312" pitchFamily="49" charset="-122"/>
                          <a:ea typeface="楷体_GB2312" pitchFamily="49" charset="-122"/>
                        </a:rPr>
                        <a:t>shuai</a:t>
                      </a:r>
                      <a:endParaRPr kumimoji="0" lang="en-US" altLang="zh-CN"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5715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3642">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5715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5715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130535" name="Rectangle 39"/>
          <p:cNvSpPr>
            <a:spLocks noChangeArrowheads="1"/>
          </p:cNvSpPr>
          <p:nvPr/>
        </p:nvSpPr>
        <p:spPr bwMode="auto">
          <a:xfrm>
            <a:off x="2197298" y="3778845"/>
            <a:ext cx="2051845" cy="492443"/>
          </a:xfrm>
          <a:prstGeom prst="rect">
            <a:avLst/>
          </a:prstGeom>
          <a:noFill/>
          <a:ln w="12700" cap="sq">
            <a:noFill/>
            <a:miter lim="800000"/>
            <a:headEnd/>
            <a:tailEnd/>
          </a:ln>
          <a:effectLst/>
        </p:spPr>
        <p:txBody>
          <a:bodyPr wrap="none" lIns="0" tIns="0" rIns="0" bIns="0">
            <a:spAutoFit/>
          </a:bodyPr>
          <a:lstStyle/>
          <a:p>
            <a:pPr algn="ctr">
              <a:spcBef>
                <a:spcPct val="20000"/>
              </a:spcBef>
              <a:spcAft>
                <a:spcPct val="0"/>
              </a:spcAft>
              <a:buSzTx/>
              <a:buFontTx/>
              <a:buNone/>
              <a:defRPr/>
            </a:pPr>
            <a:r>
              <a:rPr lang="zh-CN" altLang="en-US" dirty="0">
                <a:effectLst>
                  <a:outerShdw blurRad="38100" dist="38100" dir="2700000" algn="tl">
                    <a:srgbClr val="000000"/>
                  </a:outerShdw>
                </a:effectLst>
                <a:latin typeface="楷体" panose="02010609060101010101" pitchFamily="49" charset="-122"/>
                <a:ea typeface="楷体" panose="02010609060101010101" pitchFamily="49" charset="-122"/>
              </a:rPr>
              <a:t>系统密码表</a:t>
            </a:r>
          </a:p>
        </p:txBody>
      </p:sp>
      <p:pic>
        <p:nvPicPr>
          <p:cNvPr id="25" name="图片 24">
            <a:extLst>
              <a:ext uri="{FF2B5EF4-FFF2-40B4-BE49-F238E27FC236}">
                <a16:creationId xmlns:a16="http://schemas.microsoft.com/office/drawing/2014/main" id="{8B37011A-525F-4BC7-903E-A91518EA55C7}"/>
              </a:ext>
            </a:extLst>
          </p:cNvPr>
          <p:cNvPicPr>
            <a:picLocks noChangeAspect="1"/>
          </p:cNvPicPr>
          <p:nvPr/>
        </p:nvPicPr>
        <p:blipFill>
          <a:blip r:embed="rId3"/>
          <a:stretch>
            <a:fillRect/>
          </a:stretch>
        </p:blipFill>
        <p:spPr>
          <a:xfrm>
            <a:off x="427357" y="1332892"/>
            <a:ext cx="6107185" cy="1681688"/>
          </a:xfrm>
          <a:prstGeom prst="rect">
            <a:avLst/>
          </a:prstGeom>
          <a:ln w="38100" cap="sq" cmpd="thickThin">
            <a:solidFill>
              <a:srgbClr val="FFC000"/>
            </a:solidFill>
            <a:prstDash val="solid"/>
            <a:miter lim="800000"/>
          </a:ln>
          <a:effectLst>
            <a:innerShdw blurRad="76200">
              <a:srgbClr val="000000"/>
            </a:innerShdw>
          </a:effectLst>
        </p:spPr>
      </p:pic>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9416" y="764704"/>
            <a:ext cx="10440035" cy="4511040"/>
          </a:xfrm>
        </p:spPr>
        <p:txBody>
          <a:bodyPr>
            <a:normAutofit lnSpcReduction="10000"/>
          </a:bodyPr>
          <a:lstStyle/>
          <a:p>
            <a:pPr marL="0" indent="0">
              <a:lnSpc>
                <a:spcPct val="150000"/>
              </a:lnSpc>
              <a:buNone/>
            </a:pPr>
            <a:r>
              <a:rPr lang="zh-CN" altLang="en-US" sz="2800" b="1" dirty="0" smtClean="0"/>
              <a:t>2</a:t>
            </a:r>
            <a:r>
              <a:rPr lang="zh-CN" altLang="en-US" sz="2800" b="1" dirty="0"/>
              <a:t>.用户存取权限控制</a:t>
            </a:r>
            <a:endParaRPr lang="zh-CN" altLang="en-US" dirty="0"/>
          </a:p>
          <a:p>
            <a:pPr marL="0" indent="0">
              <a:lnSpc>
                <a:spcPct val="150000"/>
              </a:lnSpc>
              <a:buNone/>
            </a:pPr>
            <a:r>
              <a:rPr lang="zh-CN" altLang="en-US" dirty="0"/>
              <a:t>      在数据库系统中，每个用户都只能访问他有权存取的数据并执行有权使用的操作。因此，必须预先定义用户的存取权限。对于合法的用户，系统根据其存取权限的定义对其各种操作请求进行控制，确保其合法操作。存取控制机制主要包括以下两个部分：</a:t>
            </a:r>
          </a:p>
        </p:txBody>
      </p:sp>
    </p:spTree>
    <p:custDataLst>
      <p:tags r:id="rId1"/>
    </p:custDataLst>
    <p:extLst>
      <p:ext uri="{BB962C8B-B14F-4D97-AF65-F5344CB8AC3E}">
        <p14:creationId xmlns:p14="http://schemas.microsoft.com/office/powerpoint/2010/main" val="584715956"/>
      </p:ext>
    </p:extLst>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908720"/>
            <a:ext cx="10972800" cy="4054475"/>
          </a:xfrm>
        </p:spPr>
        <p:txBody>
          <a:bodyPr/>
          <a:lstStyle/>
          <a:p>
            <a:pPr marL="0" indent="0">
              <a:buNone/>
            </a:pPr>
            <a:r>
              <a:rPr lang="zh-CN" altLang="en-US" dirty="0"/>
              <a:t>（1）定义用户权限</a:t>
            </a:r>
          </a:p>
          <a:p>
            <a:pPr marL="0" indent="0">
              <a:buNone/>
            </a:pPr>
            <a:r>
              <a:rPr lang="zh-CN" altLang="en-US" dirty="0"/>
              <a:t>      </a:t>
            </a:r>
            <a:r>
              <a:rPr lang="zh-CN" altLang="en-US" b="1" dirty="0">
                <a:solidFill>
                  <a:srgbClr val="FF0000"/>
                </a:solidFill>
              </a:rPr>
              <a:t>用户存取权限</a:t>
            </a:r>
            <a:r>
              <a:rPr lang="zh-CN" altLang="en-US" dirty="0"/>
              <a:t>指的是不同的用户对于不同的数据对象允许执行的操作权限，系统将用户存取权限登记在数据字典中。定义用户存取权限称为</a:t>
            </a:r>
            <a:r>
              <a:rPr lang="zh-CN" altLang="en-US" b="1" dirty="0">
                <a:solidFill>
                  <a:srgbClr val="FF0000"/>
                </a:solidFill>
              </a:rPr>
              <a:t>授权(Authorization)</a:t>
            </a:r>
            <a:r>
              <a:rPr lang="zh-CN" altLang="en-US" dirty="0"/>
              <a:t>，存取权限由两个要素组成，</a:t>
            </a:r>
            <a:r>
              <a:rPr lang="zh-CN" altLang="en-US" b="1" dirty="0">
                <a:solidFill>
                  <a:srgbClr val="FF0000"/>
                </a:solidFill>
              </a:rPr>
              <a:t>数据对象</a:t>
            </a:r>
            <a:r>
              <a:rPr lang="zh-CN" altLang="en-US" dirty="0"/>
              <a:t>和</a:t>
            </a:r>
            <a:r>
              <a:rPr lang="zh-CN" altLang="en-US" b="1" dirty="0">
                <a:solidFill>
                  <a:srgbClr val="FF0000"/>
                </a:solidFill>
              </a:rPr>
              <a:t>操作类型</a:t>
            </a:r>
            <a:r>
              <a:rPr lang="zh-CN" altLang="en-US" dirty="0"/>
              <a:t>。</a:t>
            </a:r>
          </a:p>
          <a:p>
            <a:pPr marL="0" indent="0">
              <a:buNone/>
            </a:pPr>
            <a:r>
              <a:rPr lang="zh-CN" altLang="en-US" dirty="0"/>
              <a:t>      在数据库系统中，授权有两种: </a:t>
            </a:r>
            <a:r>
              <a:rPr lang="zh-CN" altLang="en-US" b="1" dirty="0">
                <a:solidFill>
                  <a:srgbClr val="FF0000"/>
                </a:solidFill>
              </a:rPr>
              <a:t>系统权限</a:t>
            </a:r>
            <a:r>
              <a:rPr lang="zh-CN" altLang="en-US" dirty="0"/>
              <a:t>和</a:t>
            </a:r>
            <a:r>
              <a:rPr lang="zh-CN" altLang="en-US" b="1" dirty="0">
                <a:solidFill>
                  <a:srgbClr val="FF0000"/>
                </a:solidFill>
              </a:rPr>
              <a:t>对象权限</a:t>
            </a:r>
            <a:r>
              <a:rPr lang="zh-CN" altLang="en-US" dirty="0"/>
              <a:t>。系统权限是由DBA授予某些数据库用户的，只有得到系统权限才能成为数据库用户，对象权限可以由DBA授予，也可以由数据对象的创建者授予，使数据库用户其有对某些数据对象进行某些操作的权限。</a:t>
            </a:r>
          </a:p>
        </p:txBody>
      </p:sp>
    </p:spTree>
    <p:custDataLst>
      <p:tags r:id="rId1"/>
    </p:custDataLst>
    <p:extLst>
      <p:ext uri="{BB962C8B-B14F-4D97-AF65-F5344CB8AC3E}">
        <p14:creationId xmlns:p14="http://schemas.microsoft.com/office/powerpoint/2010/main" val="3345198216"/>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692696"/>
            <a:ext cx="10838180" cy="4319905"/>
          </a:xfrm>
        </p:spPr>
        <p:txBody>
          <a:bodyPr/>
          <a:lstStyle/>
          <a:p>
            <a:pPr marL="0" indent="0">
              <a:buNone/>
            </a:pPr>
            <a:r>
              <a:rPr lang="zh-CN" altLang="en-US" b="1" dirty="0"/>
              <a:t>SQL语言中，向用户授权的GRANT语句的一般格式为：</a:t>
            </a:r>
            <a:endParaRPr lang="zh-CN" altLang="en-US" dirty="0"/>
          </a:p>
          <a:p>
            <a:pPr marL="0" indent="0">
              <a:buNone/>
            </a:pPr>
            <a:endParaRPr lang="zh-CN" altLang="en-US" dirty="0"/>
          </a:p>
          <a:p>
            <a:pPr marL="0" indent="0">
              <a:buNone/>
            </a:pPr>
            <a:endParaRPr lang="zh-CN" altLang="en-US" dirty="0"/>
          </a:p>
          <a:p>
            <a:pPr marL="0" indent="0">
              <a:buNone/>
            </a:pPr>
            <a:endParaRPr lang="zh-CN" altLang="en-US" dirty="0"/>
          </a:p>
          <a:p>
            <a:pPr marL="0" indent="0">
              <a:buNone/>
            </a:pPr>
            <a:endParaRPr lang="zh-CN" altLang="en-US" dirty="0"/>
          </a:p>
          <a:p>
            <a:pPr marL="0" indent="0">
              <a:buNone/>
            </a:pPr>
            <a:r>
              <a:rPr lang="zh-CN" altLang="en-US" dirty="0"/>
              <a:t>      其语义为将制定的系统权限或角色授予制定的用户或角色。其中，PUBLIC代表数据库中的全部用户。</a:t>
            </a:r>
            <a:r>
              <a:rPr lang="zh-CN" altLang="en-US" dirty="0">
                <a:solidFill>
                  <a:srgbClr val="FF0000"/>
                </a:solidFill>
              </a:rPr>
              <a:t>WITH GRANT OPTION为可选项</a:t>
            </a:r>
            <a:r>
              <a:rPr lang="zh-CN" altLang="en-US" dirty="0"/>
              <a:t>，制定后则允许被授权用户将制定的系统特权或角色在授予其他用户或角色。</a:t>
            </a:r>
          </a:p>
          <a:p>
            <a:pPr marL="0" indent="0">
              <a:buNone/>
            </a:pPr>
            <a:endParaRPr lang="zh-CN" altLang="en-US" b="1" dirty="0">
              <a:solidFill>
                <a:srgbClr val="FF0000"/>
              </a:solidFill>
            </a:endParaRPr>
          </a:p>
        </p:txBody>
      </p:sp>
      <p:sp>
        <p:nvSpPr>
          <p:cNvPr id="4" name="文本框 3"/>
          <p:cNvSpPr txBox="1"/>
          <p:nvPr/>
        </p:nvSpPr>
        <p:spPr>
          <a:xfrm>
            <a:off x="1888564" y="1916832"/>
            <a:ext cx="8599923" cy="1863074"/>
          </a:xfrm>
          <a:prstGeom prst="rect">
            <a:avLst/>
          </a:prstGeom>
          <a:solidFill>
            <a:schemeClr val="tx2">
              <a:lumMod val="10000"/>
              <a:lumOff val="90000"/>
            </a:schemeClr>
          </a:solidFill>
          <a:ln>
            <a:solidFill>
              <a:schemeClr val="accent1"/>
            </a:solidFill>
          </a:ln>
        </p:spPr>
        <p:txBody>
          <a:bodyPr wrap="square" rtlCol="0" anchor="t">
            <a:spAutoFit/>
          </a:bodyPr>
          <a:lstStyle/>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GRANT &lt;系统权限&gt;|&lt;角色&gt;[, &lt;系统权限&gt;| &lt;角色&gt; ] … </a:t>
            </a:r>
            <a:endParaRPr lang="zh-CN" altLang="en-US" b="1">
              <a:solidFill>
                <a:srgbClr val="FF0000"/>
              </a:solidFill>
            </a:endParaRPr>
          </a:p>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TO &lt;用户&gt;|&lt;角色&gt;[, &lt;用户&gt;|&lt;角色&gt;] …</a:t>
            </a:r>
            <a:endParaRPr lang="zh-CN" altLang="en-US" b="1">
              <a:solidFill>
                <a:srgbClr val="FF0000"/>
              </a:solidFill>
            </a:endParaRPr>
          </a:p>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[WITH GRANT OPTION] </a:t>
            </a:r>
            <a:endParaRPr lang="zh-CN" altLang="en-US"/>
          </a:p>
        </p:txBody>
      </p:sp>
    </p:spTree>
    <p:custDataLst>
      <p:tags r:id="rId1"/>
    </p:custDataLst>
    <p:extLst>
      <p:ext uri="{BB962C8B-B14F-4D97-AF65-F5344CB8AC3E}">
        <p14:creationId xmlns:p14="http://schemas.microsoft.com/office/powerpoint/2010/main" val="1568737493"/>
      </p:ext>
    </p:extLst>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83432" y="188640"/>
            <a:ext cx="10972800" cy="4054475"/>
          </a:xfrm>
        </p:spPr>
        <p:txBody>
          <a:bodyPr/>
          <a:lstStyle/>
          <a:p>
            <a:pPr marL="0" indent="0">
              <a:buNone/>
            </a:pPr>
            <a:r>
              <a:rPr lang="zh-CN" altLang="en-US" dirty="0"/>
              <a:t>例7.1 把创建表的权限授给用户USER1</a:t>
            </a:r>
          </a:p>
          <a:p>
            <a:pPr marL="0" indent="0">
              <a:buNone/>
            </a:pPr>
            <a:r>
              <a:rPr lang="zh-CN" altLang="en-US" dirty="0"/>
              <a:t>          GRANT CREATE TABLE TO USER1</a:t>
            </a:r>
          </a:p>
          <a:p>
            <a:pPr marL="0" indent="0">
              <a:buNone/>
            </a:pPr>
            <a:r>
              <a:rPr lang="zh-CN" altLang="en-US" b="1" dirty="0"/>
              <a:t>SQL语言，向用户授予对象权限的语法格式为：</a:t>
            </a:r>
            <a:endParaRPr lang="zh-CN" altLang="en-US" dirty="0"/>
          </a:p>
          <a:p>
            <a:pPr marL="0" indent="0">
              <a:buNone/>
            </a:pPr>
            <a:endParaRPr lang="zh-CN" altLang="en-US" dirty="0"/>
          </a:p>
        </p:txBody>
      </p:sp>
      <p:sp>
        <p:nvSpPr>
          <p:cNvPr id="4" name="文本框 3"/>
          <p:cNvSpPr txBox="1"/>
          <p:nvPr/>
        </p:nvSpPr>
        <p:spPr>
          <a:xfrm>
            <a:off x="1343472" y="2983104"/>
            <a:ext cx="9099867" cy="2520022"/>
          </a:xfrm>
          <a:prstGeom prst="rect">
            <a:avLst/>
          </a:prstGeom>
          <a:solidFill>
            <a:schemeClr val="tx2">
              <a:lumMod val="10000"/>
              <a:lumOff val="90000"/>
            </a:schemeClr>
          </a:solidFill>
          <a:ln>
            <a:solidFill>
              <a:schemeClr val="accent1"/>
            </a:solidFill>
          </a:ln>
        </p:spPr>
        <p:txBody>
          <a:bodyPr wrap="square" rtlCol="0" anchor="t">
            <a:spAutoFit/>
          </a:bodyPr>
          <a:lstStyle/>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GRANT ALL|&lt;对象权限&gt;[( 列名[, 列名]…) ][, &lt;对象权限&gt;]…</a:t>
            </a:r>
            <a:endParaRPr lang="zh-CN" altLang="en-US" b="1">
              <a:solidFill>
                <a:srgbClr val="FF0000"/>
              </a:solidFill>
            </a:endParaRPr>
          </a:p>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ON &lt;对象名&gt; </a:t>
            </a:r>
            <a:endParaRPr lang="zh-CN" altLang="en-US" b="1">
              <a:solidFill>
                <a:srgbClr val="FF0000"/>
              </a:solidFill>
            </a:endParaRPr>
          </a:p>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TO &lt;用户&gt;|&lt;角色&gt;| PUBLIC[, &lt;用户&gt;|&lt;角色&gt;] …</a:t>
            </a:r>
            <a:endParaRPr lang="zh-CN" altLang="en-US" b="1">
              <a:solidFill>
                <a:srgbClr val="FF0000"/>
              </a:solidFill>
            </a:endParaRPr>
          </a:p>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[WITH GRANT OPTION]</a:t>
            </a:r>
          </a:p>
        </p:txBody>
      </p:sp>
    </p:spTree>
    <p:custDataLst>
      <p:tags r:id="rId1"/>
    </p:custDataLst>
    <p:extLst>
      <p:ext uri="{BB962C8B-B14F-4D97-AF65-F5344CB8AC3E}">
        <p14:creationId xmlns:p14="http://schemas.microsoft.com/office/powerpoint/2010/main" val="1705183032"/>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404664"/>
            <a:ext cx="10972800" cy="4054475"/>
          </a:xfrm>
        </p:spPr>
        <p:txBody>
          <a:bodyPr/>
          <a:lstStyle/>
          <a:p>
            <a:pPr marL="0" indent="0">
              <a:lnSpc>
                <a:spcPct val="150000"/>
              </a:lnSpc>
              <a:buNone/>
            </a:pPr>
            <a:r>
              <a:rPr lang="en-US" altLang="zh-CN" dirty="0"/>
              <a:t>      </a:t>
            </a:r>
            <a:r>
              <a:rPr lang="zh-CN" altLang="en-US" dirty="0"/>
              <a:t>其语义为将指定的操作对象的对象权限授予指定的用户或角色。其中，</a:t>
            </a:r>
            <a:r>
              <a:rPr lang="zh-CN" altLang="en-US" dirty="0">
                <a:solidFill>
                  <a:srgbClr val="FF0000"/>
                </a:solidFill>
              </a:rPr>
              <a:t>ALL代表所有对象权限</a:t>
            </a:r>
            <a:r>
              <a:rPr lang="zh-CN" altLang="en-US" dirty="0"/>
              <a:t>。列名用于制定要授权的数据库对象的一列或多列。如果不指定列名，被授权的用户将在数据库队形的所有列上均拥有指定的特权。当授予</a:t>
            </a:r>
            <a:r>
              <a:rPr lang="zh-CN" altLang="en-US" dirty="0">
                <a:solidFill>
                  <a:srgbClr val="FF0000"/>
                </a:solidFill>
              </a:rPr>
              <a:t>INSERT、UPDATE</a:t>
            </a:r>
            <a:r>
              <a:rPr lang="zh-CN" altLang="en-US" dirty="0"/>
              <a:t>权限时才需要指定列名。</a:t>
            </a:r>
            <a:r>
              <a:rPr lang="zh-CN" altLang="en-US" dirty="0">
                <a:solidFill>
                  <a:srgbClr val="FF0000"/>
                </a:solidFill>
              </a:rPr>
              <a:t>ON</a:t>
            </a:r>
            <a:r>
              <a:rPr lang="zh-CN" altLang="en-US" dirty="0"/>
              <a:t>子句用于指定要授予对象权限的</a:t>
            </a:r>
            <a:r>
              <a:rPr lang="zh-CN" altLang="en-US" dirty="0">
                <a:solidFill>
                  <a:srgbClr val="FF0000"/>
                </a:solidFill>
              </a:rPr>
              <a:t>数据库对象</a:t>
            </a:r>
            <a:r>
              <a:rPr lang="zh-CN" altLang="en-US" dirty="0"/>
              <a:t>名，可以是基本表名或视图名等。WITH GRANT OPTION为可选项，制定后则允许被授权用户将制定的系统特权或角色在授予其他用户或角色。</a:t>
            </a:r>
          </a:p>
        </p:txBody>
      </p:sp>
    </p:spTree>
    <p:custDataLst>
      <p:tags r:id="rId1"/>
    </p:custDataLst>
    <p:extLst>
      <p:ext uri="{BB962C8B-B14F-4D97-AF65-F5344CB8AC3E}">
        <p14:creationId xmlns:p14="http://schemas.microsoft.com/office/powerpoint/2010/main" val="2031852653"/>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661641"/>
            <a:ext cx="10972800" cy="4054475"/>
          </a:xfrm>
        </p:spPr>
        <p:txBody>
          <a:bodyPr>
            <a:normAutofit fontScale="85000" lnSpcReduction="20000"/>
          </a:bodyPr>
          <a:lstStyle/>
          <a:p>
            <a:pPr marL="0" indent="0">
              <a:buNone/>
            </a:pPr>
            <a:r>
              <a:rPr lang="zh-CN" altLang="en-US" dirty="0"/>
              <a:t>例7.2 把查询ORDER表的权限授权给USER1用户。</a:t>
            </a:r>
          </a:p>
          <a:p>
            <a:pPr marL="0" indent="0">
              <a:buNone/>
            </a:pPr>
            <a:r>
              <a:rPr lang="zh-CN" altLang="en-US" dirty="0"/>
              <a:t>         GRANT SELECT ON ORDER TO USER1</a:t>
            </a:r>
          </a:p>
          <a:p>
            <a:pPr marL="0" indent="0">
              <a:buNone/>
            </a:pPr>
            <a:r>
              <a:rPr lang="zh-CN" altLang="en-US" b="1" dirty="0"/>
              <a:t>使用REVOKE语句收回系统权限，语法格式为：</a:t>
            </a:r>
          </a:p>
          <a:p>
            <a:pPr marL="0" indent="0">
              <a:buNone/>
            </a:pPr>
            <a:endParaRPr lang="zh-CN" altLang="en-US" b="1" dirty="0"/>
          </a:p>
          <a:p>
            <a:pPr marL="0" indent="0">
              <a:buNone/>
            </a:pPr>
            <a:endParaRPr lang="zh-CN" altLang="en-US" b="1" dirty="0"/>
          </a:p>
          <a:p>
            <a:pPr marL="0" indent="0">
              <a:buNone/>
            </a:pPr>
            <a:endParaRPr lang="zh-CN" altLang="en-US" b="1" dirty="0"/>
          </a:p>
          <a:p>
            <a:pPr marL="0" indent="0">
              <a:buNone/>
            </a:pPr>
            <a:r>
              <a:rPr lang="zh-CN" altLang="en-US" dirty="0" smtClean="0"/>
              <a:t>例</a:t>
            </a:r>
            <a:r>
              <a:rPr lang="zh-CN" altLang="en-US" dirty="0"/>
              <a:t>7.3 把USER1所拥有的创建表的权限收回。</a:t>
            </a:r>
          </a:p>
          <a:p>
            <a:pPr marL="0" indent="0">
              <a:buNone/>
            </a:pPr>
            <a:r>
              <a:rPr lang="zh-CN" altLang="en-US" dirty="0"/>
              <a:t>         REVOKE CREATE TABLE FROM USER1</a:t>
            </a:r>
          </a:p>
          <a:p>
            <a:pPr marL="0" indent="0">
              <a:buNone/>
            </a:pPr>
            <a:endParaRPr lang="zh-CN" altLang="en-US" dirty="0"/>
          </a:p>
        </p:txBody>
      </p:sp>
      <p:sp>
        <p:nvSpPr>
          <p:cNvPr id="4" name="文本框 3"/>
          <p:cNvSpPr txBox="1"/>
          <p:nvPr/>
        </p:nvSpPr>
        <p:spPr>
          <a:xfrm>
            <a:off x="1415480" y="2276872"/>
            <a:ext cx="8583295" cy="1105535"/>
          </a:xfrm>
          <a:prstGeom prst="rect">
            <a:avLst/>
          </a:prstGeom>
          <a:solidFill>
            <a:schemeClr val="tx2">
              <a:lumMod val="10000"/>
              <a:lumOff val="90000"/>
            </a:schemeClr>
          </a:solidFill>
          <a:ln>
            <a:solidFill>
              <a:schemeClr val="accent1"/>
            </a:solidFill>
          </a:ln>
        </p:spPr>
        <p:txBody>
          <a:bodyPr wrap="square" rtlCol="0" anchor="t">
            <a:spAutoFit/>
          </a:bodyPr>
          <a:lstStyle/>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REVOKE&lt;系统权限&gt;|&lt;角色&gt;[, &lt;系统权限&gt;|&lt;角色&gt;…</a:t>
            </a:r>
            <a:endParaRPr lang="zh-CN" altLang="en-US" b="1">
              <a:solidFill>
                <a:srgbClr val="FF0000"/>
              </a:solidFill>
            </a:endParaRPr>
          </a:p>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FROM&lt;用户名&gt;|&lt;角色&gt;| PUBLIC[, &lt;用户名&gt;|&lt;角色&gt;…</a:t>
            </a:r>
          </a:p>
        </p:txBody>
      </p:sp>
    </p:spTree>
    <p:custDataLst>
      <p:tags r:id="rId1"/>
    </p:custDataLst>
    <p:extLst>
      <p:ext uri="{BB962C8B-B14F-4D97-AF65-F5344CB8AC3E}">
        <p14:creationId xmlns:p14="http://schemas.microsoft.com/office/powerpoint/2010/main" val="690219873"/>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692696"/>
            <a:ext cx="10972800" cy="4054475"/>
          </a:xfrm>
        </p:spPr>
        <p:txBody>
          <a:bodyPr/>
          <a:lstStyle/>
          <a:p>
            <a:pPr marL="0" indent="0">
              <a:buNone/>
            </a:pPr>
            <a:r>
              <a:rPr lang="zh-CN" altLang="en-US" b="1" dirty="0"/>
              <a:t>SQL语言中，收回对象权限的语法格式为：</a:t>
            </a:r>
          </a:p>
          <a:p>
            <a:pPr marL="0" indent="0">
              <a:buNone/>
            </a:pPr>
            <a:endParaRPr lang="zh-CN" altLang="en-US" b="1" dirty="0"/>
          </a:p>
          <a:p>
            <a:pPr marL="0" indent="0">
              <a:buNone/>
            </a:pPr>
            <a:endParaRPr lang="zh-CN" altLang="en-US" b="1" dirty="0"/>
          </a:p>
          <a:p>
            <a:pPr marL="0" indent="0">
              <a:buNone/>
            </a:pPr>
            <a:endParaRPr lang="zh-CN" altLang="en-US" b="1" dirty="0"/>
          </a:p>
          <a:p>
            <a:pPr marL="0" indent="0">
              <a:buNone/>
            </a:pPr>
            <a:endParaRPr lang="zh-CN" altLang="en-US" b="1" dirty="0"/>
          </a:p>
          <a:p>
            <a:pPr marL="0" indent="0">
              <a:buNone/>
            </a:pPr>
            <a:r>
              <a:rPr lang="zh-CN" altLang="en-US" dirty="0"/>
              <a:t>例7.4 收回用户USER1对ORDER表的查询权限</a:t>
            </a:r>
          </a:p>
          <a:p>
            <a:pPr marL="0" indent="0">
              <a:buNone/>
            </a:pPr>
            <a:r>
              <a:rPr lang="zh-CN" altLang="en-US" dirty="0"/>
              <a:t>          REVOKE SELECT ON ORDER FROM USER1</a:t>
            </a:r>
          </a:p>
          <a:p>
            <a:pPr marL="0" indent="0">
              <a:buNone/>
            </a:pPr>
            <a:endParaRPr lang="zh-CN" altLang="en-US" dirty="0"/>
          </a:p>
        </p:txBody>
      </p:sp>
      <p:sp>
        <p:nvSpPr>
          <p:cNvPr id="4" name="文本框 3"/>
          <p:cNvSpPr txBox="1"/>
          <p:nvPr/>
        </p:nvSpPr>
        <p:spPr>
          <a:xfrm>
            <a:off x="1271464" y="1772816"/>
            <a:ext cx="9793088" cy="1863074"/>
          </a:xfrm>
          <a:prstGeom prst="rect">
            <a:avLst/>
          </a:prstGeom>
          <a:solidFill>
            <a:schemeClr val="tx2">
              <a:lumMod val="10000"/>
              <a:lumOff val="90000"/>
            </a:schemeClr>
          </a:solidFill>
          <a:ln>
            <a:solidFill>
              <a:schemeClr val="accent1"/>
            </a:solidFill>
          </a:ln>
        </p:spPr>
        <p:txBody>
          <a:bodyPr wrap="square" rtlCol="0" anchor="t">
            <a:spAutoFit/>
          </a:bodyPr>
          <a:lstStyle/>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REVOKE&lt;对象权限&gt;|&lt;角色&gt;[, &lt;对象权限&gt;|&lt;角色&gt;…</a:t>
            </a:r>
          </a:p>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ON&lt;对象名&gt;</a:t>
            </a:r>
            <a:endParaRPr lang="zh-CN" altLang="en-US" b="1">
              <a:solidFill>
                <a:srgbClr val="FF0000"/>
              </a:solidFill>
            </a:endParaRPr>
          </a:p>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FROM&lt;用户名&gt;|&lt;角色&gt;| PUBLIC[, &lt;用户名&gt;|&lt;角色&gt;…</a:t>
            </a:r>
          </a:p>
        </p:txBody>
      </p:sp>
    </p:spTree>
    <p:custDataLst>
      <p:tags r:id="rId1"/>
    </p:custDataLst>
    <p:extLst>
      <p:ext uri="{BB962C8B-B14F-4D97-AF65-F5344CB8AC3E}">
        <p14:creationId xmlns:p14="http://schemas.microsoft.com/office/powerpoint/2010/main" val="1801060163"/>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75664" y="548680"/>
            <a:ext cx="11124992" cy="1799590"/>
          </a:xfrm>
        </p:spPr>
        <p:txBody>
          <a:bodyPr/>
          <a:lstStyle/>
          <a:p>
            <a:pPr marL="0" indent="0">
              <a:lnSpc>
                <a:spcPct val="150000"/>
              </a:lnSpc>
              <a:buNone/>
            </a:pPr>
            <a:r>
              <a:rPr lang="zh-CN" altLang="en-US" sz="2800" b="1" dirty="0">
                <a:solidFill>
                  <a:srgbClr val="FF0000"/>
                </a:solidFill>
              </a:rPr>
              <a:t>注意：</a:t>
            </a:r>
            <a:endParaRPr lang="zh-CN" altLang="en-US" dirty="0"/>
          </a:p>
          <a:p>
            <a:pPr marL="0" indent="0">
              <a:lnSpc>
                <a:spcPct val="150000"/>
              </a:lnSpc>
              <a:buNone/>
            </a:pPr>
            <a:r>
              <a:rPr lang="zh-CN" altLang="en-US" dirty="0"/>
              <a:t>       存取控制的数据对象不仅有基本表、属性列等数据本身,还有内模式、外模式、模式等数据字典中的内容</a:t>
            </a:r>
            <a:r>
              <a:rPr lang="zh-CN" altLang="en-US" dirty="0" smtClean="0"/>
              <a:t>。</a:t>
            </a:r>
            <a:r>
              <a:rPr lang="zh-CN" altLang="en-US" dirty="0" smtClean="0">
                <a:solidFill>
                  <a:srgbClr val="FFFF00"/>
                </a:solidFill>
              </a:rPr>
              <a:t>判断</a:t>
            </a:r>
            <a:endParaRPr lang="zh-CN" altLang="en-US" dirty="0">
              <a:solidFill>
                <a:srgbClr val="FFFF00"/>
              </a:solidFill>
            </a:endParaRPr>
          </a:p>
        </p:txBody>
      </p:sp>
      <p:pic>
        <p:nvPicPr>
          <p:cNvPr id="4" name="图片 3"/>
          <p:cNvPicPr>
            <a:picLocks noChangeAspect="1"/>
          </p:cNvPicPr>
          <p:nvPr/>
        </p:nvPicPr>
        <p:blipFill>
          <a:blip r:embed="rId3"/>
          <a:stretch>
            <a:fillRect/>
          </a:stretch>
        </p:blipFill>
        <p:spPr>
          <a:xfrm>
            <a:off x="3287688" y="3212976"/>
            <a:ext cx="5431155" cy="3052445"/>
          </a:xfrm>
          <a:prstGeom prst="rect">
            <a:avLst/>
          </a:prstGeom>
        </p:spPr>
      </p:pic>
    </p:spTree>
    <p:custDataLst>
      <p:tags r:id="rId1"/>
    </p:custDataLst>
    <p:extLst>
      <p:ext uri="{BB962C8B-B14F-4D97-AF65-F5344CB8AC3E}">
        <p14:creationId xmlns:p14="http://schemas.microsoft.com/office/powerpoint/2010/main" val="603293515"/>
      </p:ext>
    </p:extLst>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980728"/>
            <a:ext cx="10972800" cy="4054475"/>
          </a:xfrm>
        </p:spPr>
        <p:txBody>
          <a:bodyPr/>
          <a:lstStyle/>
          <a:p>
            <a:pPr marL="0" indent="0">
              <a:buNone/>
            </a:pPr>
            <a:r>
              <a:rPr lang="zh-CN" altLang="en-US" dirty="0"/>
              <a:t>（2）合法权限检查</a:t>
            </a:r>
          </a:p>
          <a:p>
            <a:pPr marL="0" indent="0">
              <a:buNone/>
            </a:pPr>
            <a:r>
              <a:rPr lang="zh-CN" altLang="en-US" dirty="0"/>
              <a:t>       当用户发出存取数据库的操作请求后，DBMS查找数据字典，根据安全规则进行合法权限检查，若用户的操作请求超出了定义的权限，系统将拒绝执行此操作。</a:t>
            </a:r>
          </a:p>
          <a:p>
            <a:pPr marL="0" indent="0">
              <a:buNone/>
            </a:pPr>
            <a:r>
              <a:rPr lang="zh-CN" altLang="en-US" dirty="0"/>
              <a:t>       </a:t>
            </a:r>
            <a:endParaRPr lang="zh-CN" altLang="en-US" b="1" dirty="0">
              <a:solidFill>
                <a:srgbClr val="FF0000"/>
              </a:solidFill>
            </a:endParaRPr>
          </a:p>
        </p:txBody>
      </p:sp>
    </p:spTree>
    <p:custDataLst>
      <p:tags r:id="rId1"/>
    </p:custDataLst>
    <p:extLst>
      <p:ext uri="{BB962C8B-B14F-4D97-AF65-F5344CB8AC3E}">
        <p14:creationId xmlns:p14="http://schemas.microsoft.com/office/powerpoint/2010/main" val="392470175"/>
      </p:ext>
    </p:ext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title"/>
          </p:nvPr>
        </p:nvSpPr>
        <p:spPr>
          <a:xfrm>
            <a:off x="1127448" y="69928"/>
            <a:ext cx="3223172"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存取权限控制</a:t>
            </a:r>
          </a:p>
        </p:txBody>
      </p:sp>
      <p:sp>
        <p:nvSpPr>
          <p:cNvPr id="6148" name="Rectangle 4"/>
          <p:cNvSpPr>
            <a:spLocks noGrp="1" noChangeArrowheads="1"/>
          </p:cNvSpPr>
          <p:nvPr>
            <p:ph idx="1"/>
          </p:nvPr>
        </p:nvSpPr>
        <p:spPr>
          <a:xfrm>
            <a:off x="695400" y="1124744"/>
            <a:ext cx="10801200" cy="592138"/>
          </a:xfrm>
          <a:solidFill>
            <a:srgbClr val="0000FF"/>
          </a:solidFill>
          <a:ln w="19050">
            <a:solidFill>
              <a:srgbClr val="CCFF33"/>
            </a:solidFill>
          </a:ln>
          <a:effectLst>
            <a:outerShdw dist="35921" dir="2700000" algn="ctr" rotWithShape="0">
              <a:schemeClr val="bg2"/>
            </a:outerShdw>
          </a:effectLst>
        </p:spPr>
        <p:txBody>
          <a:bodyPr/>
          <a:lstStyle/>
          <a:p>
            <a:pPr marL="358775" indent="-358775" algn="ctr" eaLnBrk="1" hangingPunct="1">
              <a:spcAft>
                <a:spcPct val="60000"/>
              </a:spcAft>
              <a:buNone/>
            </a:pPr>
            <a:r>
              <a:rPr lang="zh-CN" altLang="en-US" dirty="0">
                <a:solidFill>
                  <a:srgbClr val="FFFF00"/>
                </a:solidFill>
                <a:effectLst/>
              </a:rPr>
              <a:t>规定一个用户能够做什么，</a:t>
            </a:r>
            <a:r>
              <a:rPr lang="en-US" altLang="zh-CN" dirty="0">
                <a:solidFill>
                  <a:srgbClr val="FFFF00"/>
                </a:solidFill>
                <a:effectLst/>
              </a:rPr>
              <a:t>SQL</a:t>
            </a:r>
            <a:r>
              <a:rPr lang="zh-CN" altLang="en-US" dirty="0">
                <a:solidFill>
                  <a:srgbClr val="FFFF00"/>
                </a:solidFill>
                <a:effectLst/>
              </a:rPr>
              <a:t>命令为 </a:t>
            </a:r>
            <a:r>
              <a:rPr lang="en-US" altLang="zh-CN" b="1" dirty="0">
                <a:solidFill>
                  <a:srgbClr val="FFC000"/>
                </a:solidFill>
                <a:effectLst/>
              </a:rPr>
              <a:t>GRANT</a:t>
            </a:r>
            <a:r>
              <a:rPr lang="zh-CN" altLang="en-US" b="1" dirty="0">
                <a:solidFill>
                  <a:srgbClr val="FFFF00"/>
                </a:solidFill>
                <a:effectLst/>
              </a:rPr>
              <a:t>，</a:t>
            </a:r>
            <a:r>
              <a:rPr lang="en-US" altLang="zh-CN" b="1" dirty="0">
                <a:solidFill>
                  <a:srgbClr val="FFC000"/>
                </a:solidFill>
                <a:effectLst/>
              </a:rPr>
              <a:t>REVOKE</a:t>
            </a:r>
            <a:endParaRPr lang="zh-CN" altLang="en-US" b="1" dirty="0">
              <a:solidFill>
                <a:srgbClr val="FFC000"/>
              </a:solidFill>
              <a:effectLst/>
            </a:endParaRPr>
          </a:p>
        </p:txBody>
      </p:sp>
      <p:graphicFrame>
        <p:nvGraphicFramePr>
          <p:cNvPr id="1131525" name="Group 5"/>
          <p:cNvGraphicFramePr>
            <a:graphicFrameLocks noGrp="1"/>
          </p:cNvGraphicFramePr>
          <p:nvPr>
            <p:extLst>
              <p:ext uri="{D42A27DB-BD31-4B8C-83A1-F6EECF244321}">
                <p14:modId xmlns:p14="http://schemas.microsoft.com/office/powerpoint/2010/main" val="1007363546"/>
              </p:ext>
            </p:extLst>
          </p:nvPr>
        </p:nvGraphicFramePr>
        <p:xfrm>
          <a:off x="1806466" y="2608623"/>
          <a:ext cx="8579066" cy="1280160"/>
        </p:xfrm>
        <a:graphic>
          <a:graphicData uri="http://schemas.openxmlformats.org/drawingml/2006/table">
            <a:tbl>
              <a:tblPr/>
              <a:tblGrid>
                <a:gridCol w="4378898">
                  <a:extLst>
                    <a:ext uri="{9D8B030D-6E8A-4147-A177-3AD203B41FA5}">
                      <a16:colId xmlns:a16="http://schemas.microsoft.com/office/drawing/2014/main" val="20000"/>
                    </a:ext>
                  </a:extLst>
                </a:gridCol>
                <a:gridCol w="4200168">
                  <a:extLst>
                    <a:ext uri="{9D8B030D-6E8A-4147-A177-3AD203B41FA5}">
                      <a16:colId xmlns:a16="http://schemas.microsoft.com/office/drawing/2014/main" val="20001"/>
                    </a:ext>
                  </a:extLst>
                </a:gridCol>
              </a:tblGrid>
              <a:tr h="365654">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99FF99"/>
                          </a:solidFill>
                          <a:effectLst>
                            <a:outerShdw blurRad="38100" dist="38100" dir="2700000" algn="tl">
                              <a:srgbClr val="000000"/>
                            </a:outerShdw>
                          </a:effectLst>
                          <a:latin typeface="楷体_GB2312" pitchFamily="49" charset="-122"/>
                          <a:ea typeface="楷体_GB2312" pitchFamily="49" charset="-122"/>
                        </a:rPr>
                        <a:t>数据对象（授权粒度）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99FF99"/>
                          </a:solidFill>
                          <a:effectLst>
                            <a:outerShdw blurRad="38100" dist="38100" dir="2700000" algn="tl">
                              <a:srgbClr val="000000"/>
                            </a:outerShdw>
                          </a:effectLst>
                          <a:latin typeface="楷体_GB2312" pitchFamily="49" charset="-122"/>
                          <a:ea typeface="楷体_GB2312" pitchFamily="49" charset="-122"/>
                        </a:rPr>
                        <a:t>操作类型</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654">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模式，外模式，内模式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建立、修改、删除、检索</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54">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表，属性列</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检索、插入、修改、删除</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31539" name="Rectangle 19"/>
          <p:cNvSpPr>
            <a:spLocks noChangeArrowheads="1"/>
          </p:cNvSpPr>
          <p:nvPr/>
        </p:nvSpPr>
        <p:spPr bwMode="auto">
          <a:xfrm>
            <a:off x="3426695" y="2099036"/>
            <a:ext cx="4667945" cy="430887"/>
          </a:xfrm>
          <a:prstGeom prst="rect">
            <a:avLst/>
          </a:prstGeom>
          <a:noFill/>
          <a:ln w="12700" cap="sq">
            <a:noFill/>
            <a:miter lim="800000"/>
            <a:headEnd/>
            <a:tailEnd/>
          </a:ln>
          <a:effectLst/>
        </p:spPr>
        <p:txBody>
          <a:bodyPr wrap="none" lIns="0" tIns="0" rIns="0" bIns="0">
            <a:spAutoFit/>
          </a:bodyPr>
          <a:lstStyle/>
          <a:p>
            <a:pPr algn="ctr">
              <a:spcBef>
                <a:spcPct val="20000"/>
              </a:spcBef>
              <a:spcAft>
                <a:spcPct val="0"/>
              </a:spcAft>
              <a:buSzTx/>
              <a:buFontTx/>
              <a:buNone/>
              <a:defRPr/>
            </a:pPr>
            <a:r>
              <a:rPr lang="zh-CN" altLang="en-US" sz="2800" dirty="0">
                <a:effectLst>
                  <a:outerShdw blurRad="38100" dist="38100" dir="2700000" algn="tl">
                    <a:srgbClr val="000000"/>
                  </a:outerShdw>
                </a:effectLst>
              </a:rPr>
              <a:t>关系数据库系统中的存取权限</a:t>
            </a:r>
          </a:p>
        </p:txBody>
      </p:sp>
      <p:sp>
        <p:nvSpPr>
          <p:cNvPr id="1131578" name="Rectangle 58"/>
          <p:cNvSpPr>
            <a:spLocks noChangeArrowheads="1"/>
          </p:cNvSpPr>
          <p:nvPr/>
        </p:nvSpPr>
        <p:spPr bwMode="auto">
          <a:xfrm>
            <a:off x="4529560" y="4106646"/>
            <a:ext cx="2462213" cy="369332"/>
          </a:xfrm>
          <a:prstGeom prst="rect">
            <a:avLst/>
          </a:prstGeom>
          <a:noFill/>
          <a:ln w="12700" cap="sq">
            <a:noFill/>
            <a:miter lim="800000"/>
            <a:headEnd/>
            <a:tailEnd/>
          </a:ln>
          <a:effectLst/>
        </p:spPr>
        <p:txBody>
          <a:bodyPr wrap="none" lIns="0" tIns="0" rIns="0" bIns="0">
            <a:spAutoFit/>
          </a:bodyPr>
          <a:lstStyle/>
          <a:p>
            <a:pPr algn="ctr">
              <a:spcBef>
                <a:spcPct val="20000"/>
              </a:spcBef>
              <a:spcAft>
                <a:spcPct val="0"/>
              </a:spcAft>
              <a:buSzTx/>
              <a:buFontTx/>
              <a:buNone/>
              <a:defRPr/>
            </a:pPr>
            <a:r>
              <a:rPr lang="zh-CN" altLang="en-US" sz="2400" dirty="0">
                <a:effectLst>
                  <a:outerShdw blurRad="38100" dist="38100" dir="2700000" algn="tl">
                    <a:srgbClr val="000000"/>
                  </a:outerShdw>
                </a:effectLst>
              </a:rPr>
              <a:t>一个授权表的例子</a:t>
            </a:r>
          </a:p>
        </p:txBody>
      </p:sp>
      <p:pic>
        <p:nvPicPr>
          <p:cNvPr id="2" name="图片 1"/>
          <p:cNvPicPr>
            <a:picLocks noChangeAspect="1"/>
          </p:cNvPicPr>
          <p:nvPr/>
        </p:nvPicPr>
        <p:blipFill rotWithShape="1">
          <a:blip r:embed="rId3"/>
          <a:srcRect r="15990"/>
          <a:stretch/>
        </p:blipFill>
        <p:spPr>
          <a:xfrm>
            <a:off x="1806467" y="4642007"/>
            <a:ext cx="8579067" cy="1872208"/>
          </a:xfrm>
          <a:prstGeom prst="rect">
            <a:avLst/>
          </a:prstGeom>
          <a:ln w="38100" cap="sq" cmpd="thickThin">
            <a:solidFill>
              <a:srgbClr val="FFC000"/>
            </a:solidFill>
            <a:prstDash val="solid"/>
            <a:miter lim="800000"/>
          </a:ln>
          <a:effectLst>
            <a:innerShdw blurRad="76200">
              <a:srgbClr val="000000"/>
            </a:innerShdw>
          </a:effectLst>
        </p:spPr>
      </p:pic>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9416" y="1052736"/>
            <a:ext cx="10440035" cy="4687570"/>
          </a:xfrm>
        </p:spPr>
        <p:txBody>
          <a:bodyPr>
            <a:normAutofit/>
          </a:bodyPr>
          <a:lstStyle/>
          <a:p>
            <a:pPr marL="0" indent="0">
              <a:lnSpc>
                <a:spcPct val="150000"/>
              </a:lnSpc>
              <a:buNone/>
            </a:pPr>
            <a:r>
              <a:rPr lang="zh-CN" altLang="en-US" sz="2800" b="1" dirty="0"/>
              <a:t>3.视图机制</a:t>
            </a:r>
          </a:p>
          <a:p>
            <a:pPr marL="0" indent="0">
              <a:lnSpc>
                <a:spcPct val="150000"/>
              </a:lnSpc>
              <a:buNone/>
            </a:pPr>
            <a:r>
              <a:rPr lang="zh-CN" altLang="en-US" dirty="0"/>
              <a:t>      通过视图机制把要保密的数据对无权存取这些数据的用户隐藏起来，从而自动地对数据提供一定程度的安全保护</a:t>
            </a:r>
            <a:r>
              <a:rPr lang="zh-CN" altLang="en-US" dirty="0" smtClean="0"/>
              <a:t>。</a:t>
            </a:r>
            <a:endParaRPr lang="zh-CN" altLang="en-US" dirty="0"/>
          </a:p>
        </p:txBody>
      </p:sp>
    </p:spTree>
    <p:custDataLst>
      <p:tags r:id="rId1"/>
    </p:custDataLst>
    <p:extLst>
      <p:ext uri="{BB962C8B-B14F-4D97-AF65-F5344CB8AC3E}">
        <p14:creationId xmlns:p14="http://schemas.microsoft.com/office/powerpoint/2010/main" val="2296279878"/>
      </p:ext>
    </p:extLst>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a:xfrm>
            <a:off x="1108942" y="106204"/>
            <a:ext cx="4762055"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结合权限的视图机制</a:t>
            </a:r>
          </a:p>
        </p:txBody>
      </p:sp>
      <p:sp>
        <p:nvSpPr>
          <p:cNvPr id="7172" name="Rectangle 4"/>
          <p:cNvSpPr>
            <a:spLocks noGrp="1" noChangeArrowheads="1"/>
          </p:cNvSpPr>
          <p:nvPr>
            <p:ph idx="1"/>
          </p:nvPr>
        </p:nvSpPr>
        <p:spPr>
          <a:xfrm>
            <a:off x="1199457" y="992576"/>
            <a:ext cx="9793086" cy="592138"/>
          </a:xfrm>
          <a:solidFill>
            <a:srgbClr val="0000FF"/>
          </a:solidFill>
          <a:ln w="19050">
            <a:solidFill>
              <a:srgbClr val="CCFF33"/>
            </a:solidFill>
          </a:ln>
          <a:effectLst>
            <a:outerShdw dist="35921" dir="2700000" algn="ctr" rotWithShape="0">
              <a:schemeClr val="bg2"/>
            </a:outerShdw>
          </a:effectLst>
        </p:spPr>
        <p:txBody>
          <a:bodyPr/>
          <a:lstStyle/>
          <a:p>
            <a:pPr marL="358775" indent="-358775" algn="ctr" eaLnBrk="1" hangingPunct="1">
              <a:spcAft>
                <a:spcPct val="60000"/>
              </a:spcAft>
              <a:buNone/>
            </a:pPr>
            <a:r>
              <a:rPr lang="zh-CN" altLang="en-US" dirty="0">
                <a:solidFill>
                  <a:srgbClr val="FFFF00"/>
                </a:solidFill>
                <a:effectLst/>
              </a:rPr>
              <a:t>隐藏用户无权或无需知道的数据</a:t>
            </a:r>
          </a:p>
        </p:txBody>
      </p:sp>
      <p:graphicFrame>
        <p:nvGraphicFramePr>
          <p:cNvPr id="1134597" name="Group 5"/>
          <p:cNvGraphicFramePr>
            <a:graphicFrameLocks noGrp="1"/>
          </p:cNvGraphicFramePr>
          <p:nvPr>
            <p:extLst>
              <p:ext uri="{D42A27DB-BD31-4B8C-83A1-F6EECF244321}">
                <p14:modId xmlns:p14="http://schemas.microsoft.com/office/powerpoint/2010/main" val="511744245"/>
              </p:ext>
            </p:extLst>
          </p:nvPr>
        </p:nvGraphicFramePr>
        <p:xfrm>
          <a:off x="1559496" y="1839614"/>
          <a:ext cx="3124200" cy="4267200"/>
        </p:xfrm>
        <a:graphic>
          <a:graphicData uri="http://schemas.openxmlformats.org/drawingml/2006/table">
            <a:tbl>
              <a:tblPr>
                <a:tableStyleId>{E269D01E-BC32-4049-B463-5C60D7B0CCD2}</a:tableStyleId>
              </a:tblPr>
              <a:tblGrid>
                <a:gridCol w="668337">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3">
                  <a:extLst>
                    <a:ext uri="{9D8B030D-6E8A-4147-A177-3AD203B41FA5}">
                      <a16:colId xmlns:a16="http://schemas.microsoft.com/office/drawing/2014/main" val="20002"/>
                    </a:ext>
                  </a:extLst>
                </a:gridCol>
                <a:gridCol w="569912">
                  <a:extLst>
                    <a:ext uri="{9D8B030D-6E8A-4147-A177-3AD203B41FA5}">
                      <a16:colId xmlns:a16="http://schemas.microsoft.com/office/drawing/2014/main" val="20003"/>
                    </a:ext>
                  </a:extLst>
                </a:gridCol>
                <a:gridCol w="557213">
                  <a:extLst>
                    <a:ext uri="{9D8B030D-6E8A-4147-A177-3AD203B41FA5}">
                      <a16:colId xmlns:a16="http://schemas.microsoft.com/office/drawing/2014/main" val="20004"/>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学号</a:t>
                      </a:r>
                      <a:endParaRPr kumimoji="0" lang="en-US" altLang="zh-CN" sz="2000" b="1"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姓名</a:t>
                      </a:r>
                      <a:endParaRPr kumimoji="0" lang="en-US" altLang="zh-CN" sz="2000" b="1"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性别</a:t>
                      </a:r>
                      <a:endParaRPr kumimoji="0" lang="en-US" altLang="zh-CN" sz="2000" b="1"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年龄</a:t>
                      </a:r>
                      <a:endParaRPr kumimoji="0" lang="en-US" altLang="zh-CN" sz="2000" b="1"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系</a:t>
                      </a:r>
                      <a:endParaRPr kumimoji="0" lang="en-US" altLang="zh-CN" sz="2000" b="1"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98001</a:t>
                      </a:r>
                      <a:endParaRPr kumimoji="0" lang="zh-CN" altLang="en-US"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张明</a:t>
                      </a:r>
                      <a:endParaRPr kumimoji="0" lang="zh-CN" altLang="en-US"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男</a:t>
                      </a:r>
                      <a:endParaRPr kumimoji="0" lang="zh-CN" altLang="en-US"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a:ln>
                            <a:noFill/>
                          </a:ln>
                          <a:solidFill>
                            <a:schemeClr val="tx1">
                              <a:lumMod val="50000"/>
                            </a:schemeClr>
                          </a:solidFill>
                          <a:effectLst/>
                        </a:rPr>
                        <a:t>29</a:t>
                      </a:r>
                      <a:endParaRPr kumimoji="0" lang="en-US" altLang="zh-CN"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CS</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01"/>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98002</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李华</a:t>
                      </a:r>
                      <a:endParaRPr kumimoji="0" lang="zh-CN" altLang="en-US"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女</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a:ln>
                            <a:noFill/>
                          </a:ln>
                          <a:solidFill>
                            <a:schemeClr val="tx1">
                              <a:lumMod val="50000"/>
                            </a:schemeClr>
                          </a:solidFill>
                          <a:effectLst/>
                        </a:rPr>
                        <a:t>30</a:t>
                      </a:r>
                      <a:endParaRPr kumimoji="0" lang="en-US" altLang="zh-CN"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MA</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02"/>
                  </a:ext>
                </a:extLst>
              </a:tr>
              <a:tr h="277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98003</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王军</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男</a:t>
                      </a:r>
                      <a:endParaRPr kumimoji="0" lang="zh-CN" altLang="en-US"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a:ln>
                            <a:noFill/>
                          </a:ln>
                          <a:solidFill>
                            <a:schemeClr val="tx1">
                              <a:lumMod val="50000"/>
                            </a:schemeClr>
                          </a:solidFill>
                          <a:effectLst/>
                        </a:rPr>
                        <a:t>28</a:t>
                      </a:r>
                      <a:endParaRPr kumimoji="0" lang="en-US" altLang="zh-CN"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IS</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03"/>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98004</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孙六</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女</a:t>
                      </a:r>
                      <a:endParaRPr kumimoji="0" lang="zh-CN" altLang="en-US"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a:ln>
                            <a:noFill/>
                          </a:ln>
                          <a:solidFill>
                            <a:schemeClr val="tx1">
                              <a:lumMod val="50000"/>
                            </a:schemeClr>
                          </a:solidFill>
                          <a:effectLst/>
                        </a:rPr>
                        <a:t>27</a:t>
                      </a:r>
                      <a:endParaRPr kumimoji="0" lang="en-US" altLang="zh-CN"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a:ln>
                            <a:noFill/>
                          </a:ln>
                          <a:solidFill>
                            <a:schemeClr val="tx1">
                              <a:lumMod val="50000"/>
                            </a:schemeClr>
                          </a:solidFill>
                          <a:effectLst/>
                        </a:rPr>
                        <a:t>IS</a:t>
                      </a:r>
                      <a:endParaRPr kumimoji="0" lang="en-US" altLang="zh-CN"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98005</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赵龙</a:t>
                      </a:r>
                      <a:endParaRPr kumimoji="0" lang="zh-CN" altLang="en-US"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dirty="0">
                          <a:ln>
                            <a:noFill/>
                          </a:ln>
                          <a:solidFill>
                            <a:schemeClr val="tx1">
                              <a:lumMod val="50000"/>
                            </a:schemeClr>
                          </a:solidFill>
                          <a:effectLst/>
                        </a:rPr>
                        <a:t>女</a:t>
                      </a:r>
                      <a:endParaRPr kumimoji="0" lang="zh-CN" altLang="en-US"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18</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CS</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05"/>
                  </a:ext>
                </a:extLst>
              </a:tr>
              <a:tr h="1524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98006</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周艺</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女</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22</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MA</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06"/>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99001</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朱然</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男</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29</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CS</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07"/>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99002</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李度</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女</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30</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a:ln>
                            <a:noFill/>
                          </a:ln>
                          <a:solidFill>
                            <a:schemeClr val="tx1">
                              <a:lumMod val="50000"/>
                            </a:schemeClr>
                          </a:solidFill>
                          <a:effectLst/>
                        </a:rPr>
                        <a:t>MA</a:t>
                      </a:r>
                      <a:endParaRPr kumimoji="0" lang="en-US" altLang="zh-CN"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08"/>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99003</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王成</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男</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28</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IS</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09"/>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99004</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孙空</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女</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a:ln>
                            <a:noFill/>
                          </a:ln>
                          <a:solidFill>
                            <a:schemeClr val="tx1">
                              <a:lumMod val="50000"/>
                            </a:schemeClr>
                          </a:solidFill>
                          <a:effectLst/>
                        </a:rPr>
                        <a:t>27</a:t>
                      </a:r>
                      <a:endParaRPr kumimoji="0" lang="en-US" altLang="zh-CN"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IS</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1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99005</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赵敏</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女</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a:ln>
                            <a:noFill/>
                          </a:ln>
                          <a:solidFill>
                            <a:schemeClr val="tx1">
                              <a:lumMod val="50000"/>
                            </a:schemeClr>
                          </a:solidFill>
                          <a:effectLst/>
                        </a:rPr>
                        <a:t>18</a:t>
                      </a:r>
                      <a:endParaRPr kumimoji="0" lang="en-US" altLang="zh-CN"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CS</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1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99006</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周灵</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女</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a:ln>
                            <a:noFill/>
                          </a:ln>
                          <a:solidFill>
                            <a:schemeClr val="tx1">
                              <a:lumMod val="50000"/>
                            </a:schemeClr>
                          </a:solidFill>
                          <a:effectLst/>
                        </a:rPr>
                        <a:t>22</a:t>
                      </a:r>
                      <a:endParaRPr kumimoji="0" lang="en-US" altLang="zh-CN"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MA</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1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99007</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张友</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u="none" strike="noStrike" cap="none" normalizeH="0" baseline="0">
                          <a:ln>
                            <a:noFill/>
                          </a:ln>
                          <a:solidFill>
                            <a:schemeClr val="tx1">
                              <a:lumMod val="50000"/>
                            </a:schemeClr>
                          </a:solidFill>
                          <a:effectLst/>
                        </a:rPr>
                        <a:t>男</a:t>
                      </a:r>
                      <a:endParaRPr kumimoji="0" lang="zh-CN" altLang="en-US"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a:ln>
                            <a:noFill/>
                          </a:ln>
                          <a:solidFill>
                            <a:schemeClr val="tx1">
                              <a:lumMod val="50000"/>
                            </a:schemeClr>
                          </a:solidFill>
                          <a:effectLst/>
                        </a:rPr>
                        <a:t>29</a:t>
                      </a:r>
                      <a:endParaRPr kumimoji="0" lang="en-US" altLang="zh-CN" sz="2000" b="0" i="0" u="none" strike="noStrike" cap="none" normalizeH="0" baseline="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u="none" strike="noStrike" cap="none" normalizeH="0" baseline="0" dirty="0">
                          <a:ln>
                            <a:noFill/>
                          </a:ln>
                          <a:solidFill>
                            <a:schemeClr val="tx1">
                              <a:lumMod val="50000"/>
                            </a:schemeClr>
                          </a:solidFill>
                          <a:effectLst/>
                        </a:rPr>
                        <a:t>CS</a:t>
                      </a:r>
                      <a:endParaRPr kumimoji="0" lang="en-US" altLang="zh-CN" sz="2000" b="0" i="0" u="none" strike="noStrike" cap="none" normalizeH="0" baseline="0" dirty="0">
                        <a:ln>
                          <a:noFill/>
                        </a:ln>
                        <a:solidFill>
                          <a:schemeClr val="tx1">
                            <a:lumMod val="50000"/>
                          </a:schemeClr>
                        </a:solidFill>
                        <a:effectLst/>
                        <a:latin typeface="Times New Roman" pitchFamily="18" charset="0"/>
                        <a:ea typeface="楷体_GB2312" pitchFamily="49" charset="-122"/>
                      </a:endParaRPr>
                    </a:p>
                  </a:txBody>
                  <a:tcPr marL="0" marR="0" marT="0" marB="0" horzOverflow="overflow"/>
                </a:tc>
                <a:extLst>
                  <a:ext uri="{0D108BD9-81ED-4DB2-BD59-A6C34878D82A}">
                    <a16:rowId xmlns:a16="http://schemas.microsoft.com/office/drawing/2014/main" val="10013"/>
                  </a:ext>
                </a:extLst>
              </a:tr>
            </a:tbl>
          </a:graphicData>
        </a:graphic>
      </p:graphicFrame>
      <p:sp>
        <p:nvSpPr>
          <p:cNvPr id="1134703" name="Rectangle 111"/>
          <p:cNvSpPr>
            <a:spLocks noChangeArrowheads="1"/>
          </p:cNvSpPr>
          <p:nvPr/>
        </p:nvSpPr>
        <p:spPr bwMode="auto">
          <a:xfrm>
            <a:off x="2168353" y="6232227"/>
            <a:ext cx="1953564" cy="430887"/>
          </a:xfrm>
          <a:prstGeom prst="rect">
            <a:avLst/>
          </a:prstGeom>
          <a:noFill/>
          <a:ln w="12700" cap="sq">
            <a:noFill/>
            <a:miter lim="800000"/>
            <a:headEnd/>
            <a:tailEnd/>
          </a:ln>
          <a:effectLst/>
        </p:spPr>
        <p:txBody>
          <a:bodyPr wrap="square" lIns="0" tIns="0" rIns="0" bIns="0">
            <a:spAutoFit/>
          </a:bodyPr>
          <a:lstStyle/>
          <a:p>
            <a:pPr algn="ctr">
              <a:spcBef>
                <a:spcPct val="20000"/>
              </a:spcBef>
              <a:spcAft>
                <a:spcPct val="0"/>
              </a:spcAft>
              <a:buSzTx/>
              <a:buFontTx/>
              <a:buNone/>
              <a:defRPr/>
            </a:pPr>
            <a:r>
              <a:rPr lang="zh-CN" altLang="en-US" sz="2800" dirty="0">
                <a:effectLst>
                  <a:outerShdw blurRad="38100" dist="38100" dir="2700000" algn="tl">
                    <a:srgbClr val="000000"/>
                  </a:outerShdw>
                </a:effectLst>
              </a:rPr>
              <a:t>完整的数据</a:t>
            </a:r>
          </a:p>
        </p:txBody>
      </p:sp>
      <p:graphicFrame>
        <p:nvGraphicFramePr>
          <p:cNvPr id="1134704" name="Group 112"/>
          <p:cNvGraphicFramePr>
            <a:graphicFrameLocks noGrp="1"/>
          </p:cNvGraphicFramePr>
          <p:nvPr>
            <p:extLst>
              <p:ext uri="{D42A27DB-BD31-4B8C-83A1-F6EECF244321}">
                <p14:modId xmlns:p14="http://schemas.microsoft.com/office/powerpoint/2010/main" val="2281936971"/>
              </p:ext>
            </p:extLst>
          </p:nvPr>
        </p:nvGraphicFramePr>
        <p:xfrm>
          <a:off x="7349484" y="2295728"/>
          <a:ext cx="3124200" cy="1828800"/>
        </p:xfrm>
        <a:graphic>
          <a:graphicData uri="http://schemas.openxmlformats.org/drawingml/2006/table">
            <a:tbl>
              <a:tblPr/>
              <a:tblGrid>
                <a:gridCol w="668338">
                  <a:extLst>
                    <a:ext uri="{9D8B030D-6E8A-4147-A177-3AD203B41FA5}">
                      <a16:colId xmlns:a16="http://schemas.microsoft.com/office/drawing/2014/main" val="20000"/>
                    </a:ext>
                  </a:extLst>
                </a:gridCol>
                <a:gridCol w="758825">
                  <a:extLst>
                    <a:ext uri="{9D8B030D-6E8A-4147-A177-3AD203B41FA5}">
                      <a16:colId xmlns:a16="http://schemas.microsoft.com/office/drawing/2014/main" val="20001"/>
                    </a:ext>
                  </a:extLst>
                </a:gridCol>
                <a:gridCol w="569912">
                  <a:extLst>
                    <a:ext uri="{9D8B030D-6E8A-4147-A177-3AD203B41FA5}">
                      <a16:colId xmlns:a16="http://schemas.microsoft.com/office/drawing/2014/main" val="20002"/>
                    </a:ext>
                  </a:extLst>
                </a:gridCol>
                <a:gridCol w="569913">
                  <a:extLst>
                    <a:ext uri="{9D8B030D-6E8A-4147-A177-3AD203B41FA5}">
                      <a16:colId xmlns:a16="http://schemas.microsoft.com/office/drawing/2014/main" val="20003"/>
                    </a:ext>
                  </a:extLst>
                </a:gridCol>
                <a:gridCol w="557212">
                  <a:extLst>
                    <a:ext uri="{9D8B030D-6E8A-4147-A177-3AD203B41FA5}">
                      <a16:colId xmlns:a16="http://schemas.microsoft.com/office/drawing/2014/main" val="20004"/>
                    </a:ext>
                  </a:extLst>
                </a:gridCol>
              </a:tblGrid>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学号</a:t>
                      </a:r>
                      <a:endParaRPr kumimoji="0" lang="en-US" altLang="zh-CN" sz="20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姓名</a:t>
                      </a:r>
                      <a:endParaRPr kumimoji="0" lang="en-US" altLang="zh-CN" sz="20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性别</a:t>
                      </a:r>
                      <a:endParaRPr kumimoji="0" lang="en-US" altLang="zh-CN" sz="20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年龄</a:t>
                      </a:r>
                      <a:endParaRPr kumimoji="0" lang="en-US" altLang="zh-CN" sz="20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系</a:t>
                      </a:r>
                      <a:endParaRPr kumimoji="0" lang="en-US" altLang="zh-CN" sz="2000" b="1"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99001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朱然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99005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赵敏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081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99007</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张友</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CC"/>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CC"/>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34750" name="AutoShape 158"/>
          <p:cNvSpPr>
            <a:spLocks noChangeArrowheads="1"/>
          </p:cNvSpPr>
          <p:nvPr/>
        </p:nvSpPr>
        <p:spPr bwMode="auto">
          <a:xfrm>
            <a:off x="5600612" y="2878679"/>
            <a:ext cx="929630" cy="427037"/>
          </a:xfrm>
          <a:prstGeom prst="rightArrow">
            <a:avLst>
              <a:gd name="adj1" fmla="val 50000"/>
              <a:gd name="adj2" fmla="val 40149"/>
            </a:avLst>
          </a:prstGeom>
          <a:solidFill>
            <a:schemeClr val="folHlink"/>
          </a:solidFill>
          <a:ln w="28575" cap="sq">
            <a:solidFill>
              <a:srgbClr val="FF6699"/>
            </a:solidFill>
            <a:miter lim="800000"/>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34751" name="Rectangle 159"/>
          <p:cNvSpPr>
            <a:spLocks noChangeArrowheads="1"/>
          </p:cNvSpPr>
          <p:nvPr/>
        </p:nvSpPr>
        <p:spPr bwMode="auto">
          <a:xfrm>
            <a:off x="7493948" y="4311853"/>
            <a:ext cx="2979736" cy="430887"/>
          </a:xfrm>
          <a:prstGeom prst="rect">
            <a:avLst/>
          </a:prstGeom>
          <a:noFill/>
          <a:ln w="12700" cap="sq">
            <a:noFill/>
            <a:miter lim="800000"/>
            <a:headEnd/>
            <a:tailEnd/>
          </a:ln>
          <a:effectLst/>
        </p:spPr>
        <p:txBody>
          <a:bodyPr wrap="square" lIns="0" tIns="0" rIns="0" bIns="0">
            <a:spAutoFit/>
          </a:bodyPr>
          <a:lstStyle/>
          <a:p>
            <a:pPr algn="ctr">
              <a:spcBef>
                <a:spcPct val="20000"/>
              </a:spcBef>
              <a:spcAft>
                <a:spcPct val="0"/>
              </a:spcAft>
              <a:buSzTx/>
              <a:buFontTx/>
              <a:buNone/>
              <a:defRPr/>
            </a:pPr>
            <a:r>
              <a:rPr lang="en-US" altLang="zh-CN" sz="2800" dirty="0">
                <a:effectLst>
                  <a:outerShdw blurRad="38100" dist="38100" dir="2700000" algn="tl">
                    <a:srgbClr val="000000"/>
                  </a:outerShdw>
                </a:effectLst>
              </a:rPr>
              <a:t>CS</a:t>
            </a:r>
            <a:r>
              <a:rPr lang="zh-CN" altLang="en-US" sz="2800" dirty="0">
                <a:effectLst>
                  <a:outerShdw blurRad="38100" dist="38100" dir="2700000" algn="tl">
                    <a:srgbClr val="000000"/>
                  </a:outerShdw>
                </a:effectLst>
              </a:rPr>
              <a:t>系学生视图</a:t>
            </a:r>
          </a:p>
        </p:txBody>
      </p:sp>
      <p:sp>
        <p:nvSpPr>
          <p:cNvPr id="11" name="AutoShape 15">
            <a:extLst>
              <a:ext uri="{FF2B5EF4-FFF2-40B4-BE49-F238E27FC236}">
                <a16:creationId xmlns:a16="http://schemas.microsoft.com/office/drawing/2014/main" id="{E8417625-4595-449A-9CD8-7A60F4B0C675}"/>
              </a:ext>
            </a:extLst>
          </p:cNvPr>
          <p:cNvSpPr>
            <a:spLocks noChangeArrowheads="1"/>
          </p:cNvSpPr>
          <p:nvPr/>
        </p:nvSpPr>
        <p:spPr bwMode="auto">
          <a:xfrm>
            <a:off x="5585470" y="5453755"/>
            <a:ext cx="1440160" cy="963138"/>
          </a:xfrm>
          <a:prstGeom prst="wedgeRoundRectCallout">
            <a:avLst>
              <a:gd name="adj1" fmla="val -89332"/>
              <a:gd name="adj2" fmla="val -47239"/>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ctr" fontAlgn="auto">
              <a:spcBef>
                <a:spcPts val="0"/>
              </a:spcBef>
              <a:spcAft>
                <a:spcPct val="40000"/>
              </a:spcAft>
              <a:buClr>
                <a:srgbClr val="66FF33"/>
              </a:buClr>
              <a:buSzPct val="85000"/>
              <a:buFontTx/>
              <a:buNone/>
              <a:defRPr/>
            </a:pPr>
            <a:r>
              <a:rPr kumimoji="0" lang="zh-CN" altLang="en-US" kern="0" dirty="0">
                <a:solidFill>
                  <a:srgbClr val="FFFFCC"/>
                </a:solidFill>
                <a:effectLst>
                  <a:outerShdw blurRad="38100" dist="38100" dir="2700000" algn="tl">
                    <a:srgbClr val="000000"/>
                  </a:outerShdw>
                </a:effectLst>
                <a:latin typeface="Times New Roman" pitchFamily="18" charset="0"/>
                <a:ea typeface="黑体" panose="02010609060101010101" pitchFamily="49" charset="-122"/>
              </a:rPr>
              <a:t>禁止</a:t>
            </a:r>
          </a:p>
        </p:txBody>
      </p:sp>
      <p:sp>
        <p:nvSpPr>
          <p:cNvPr id="12" name="AutoShape 15">
            <a:extLst>
              <a:ext uri="{FF2B5EF4-FFF2-40B4-BE49-F238E27FC236}">
                <a16:creationId xmlns:a16="http://schemas.microsoft.com/office/drawing/2014/main" id="{2F707C6B-B205-4E16-A59B-34FE1E9B4DAC}"/>
              </a:ext>
            </a:extLst>
          </p:cNvPr>
          <p:cNvSpPr>
            <a:spLocks noChangeArrowheads="1"/>
          </p:cNvSpPr>
          <p:nvPr/>
        </p:nvSpPr>
        <p:spPr bwMode="auto">
          <a:xfrm>
            <a:off x="8488152" y="5453755"/>
            <a:ext cx="1440160" cy="963138"/>
          </a:xfrm>
          <a:prstGeom prst="wedgeRoundRectCallout">
            <a:avLst>
              <a:gd name="adj1" fmla="val -30970"/>
              <a:gd name="adj2" fmla="val -91352"/>
              <a:gd name="adj3" fmla="val 16667"/>
            </a:avLst>
          </a:prstGeom>
          <a:gradFill rotWithShape="1">
            <a:gsLst>
              <a:gs pos="0">
                <a:srgbClr val="003399">
                  <a:gamma/>
                  <a:shade val="36471"/>
                  <a:invGamma/>
                </a:srgbClr>
              </a:gs>
              <a:gs pos="50000">
                <a:srgbClr val="003399"/>
              </a:gs>
              <a:gs pos="100000">
                <a:srgbClr val="003399">
                  <a:gamma/>
                  <a:shade val="36471"/>
                  <a:invGamma/>
                </a:srgbClr>
              </a:gs>
            </a:gsLst>
            <a:lin ang="2700000" scaled="1"/>
          </a:gradFill>
          <a:ln w="28575" algn="ctr">
            <a:solidFill>
              <a:srgbClr val="FF0000"/>
            </a:solidFill>
            <a:miter lim="800000"/>
            <a:headEnd/>
            <a:tailEnd/>
          </a:ln>
          <a:effectLst>
            <a:outerShdw dist="35921" dir="2700000" algn="ctr" rotWithShape="0">
              <a:srgbClr val="000514"/>
            </a:outerShdw>
          </a:effectLst>
        </p:spPr>
        <p:txBody>
          <a:bodyPr anchor="ctr"/>
          <a:lstStyle/>
          <a:p>
            <a:pPr algn="ctr" fontAlgn="auto">
              <a:spcBef>
                <a:spcPts val="0"/>
              </a:spcBef>
              <a:spcAft>
                <a:spcPct val="40000"/>
              </a:spcAft>
              <a:buClr>
                <a:srgbClr val="66FF33"/>
              </a:buClr>
              <a:buSzPct val="85000"/>
              <a:buFontTx/>
              <a:buNone/>
              <a:defRPr/>
            </a:pPr>
            <a:r>
              <a:rPr kumimoji="0" lang="zh-CN" altLang="en-US" kern="0" dirty="0">
                <a:solidFill>
                  <a:srgbClr val="FFFFCC"/>
                </a:solidFill>
                <a:effectLst>
                  <a:outerShdw blurRad="38100" dist="38100" dir="2700000" algn="tl">
                    <a:srgbClr val="000000"/>
                  </a:outerShdw>
                </a:effectLst>
                <a:latin typeface="Times New Roman" pitchFamily="18" charset="0"/>
                <a:ea typeface="黑体" panose="02010609060101010101" pitchFamily="49" charset="-122"/>
              </a:rPr>
              <a:t>允许</a:t>
            </a: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9416" y="1052736"/>
            <a:ext cx="10440035" cy="4687570"/>
          </a:xfrm>
        </p:spPr>
        <p:txBody>
          <a:bodyPr>
            <a:normAutofit/>
          </a:bodyPr>
          <a:lstStyle/>
          <a:p>
            <a:pPr marL="0" indent="0">
              <a:lnSpc>
                <a:spcPct val="150000"/>
              </a:lnSpc>
              <a:buNone/>
            </a:pPr>
            <a:r>
              <a:rPr lang="zh-CN" altLang="en-US" sz="2800" b="1" dirty="0" smtClean="0"/>
              <a:t>4</a:t>
            </a:r>
            <a:r>
              <a:rPr lang="zh-CN" altLang="en-US" sz="2800" b="1" dirty="0"/>
              <a:t>.数据加密（Data Eneryption）</a:t>
            </a:r>
          </a:p>
          <a:p>
            <a:pPr marL="0" indent="0">
              <a:lnSpc>
                <a:spcPct val="150000"/>
              </a:lnSpc>
              <a:buNone/>
            </a:pPr>
            <a:r>
              <a:rPr lang="zh-CN" altLang="en-US" sz="2400" dirty="0"/>
              <a:t>      数据加密是防止数据库中数据在</a:t>
            </a:r>
            <a:r>
              <a:rPr lang="zh-CN" altLang="en-US" sz="2400" dirty="0">
                <a:solidFill>
                  <a:srgbClr val="FF0000"/>
                </a:solidFill>
              </a:rPr>
              <a:t>存储和传输</a:t>
            </a:r>
            <a:r>
              <a:rPr lang="zh-CN" altLang="en-US" sz="2400" dirty="0"/>
              <a:t>中失密的有效手段。加密的基本思想是根据一定的算法将原始数据（明文，Plain text）加密成为不可直接识别的格式（密文，Cipher text）。数据以密码的形式存储和传输。</a:t>
            </a:r>
          </a:p>
          <a:p>
            <a:pPr marL="0" indent="0">
              <a:lnSpc>
                <a:spcPct val="150000"/>
              </a:lnSpc>
              <a:buNone/>
            </a:pPr>
            <a:r>
              <a:rPr lang="zh-CN" altLang="en-US" sz="2400" dirty="0"/>
              <a:t>加密方法有两种：</a:t>
            </a:r>
          </a:p>
          <a:p>
            <a:pPr>
              <a:lnSpc>
                <a:spcPct val="150000"/>
              </a:lnSpc>
              <a:buFont typeface="Wingdings" panose="05000000000000000000" charset="0"/>
              <a:buChar char="Ø"/>
            </a:pPr>
            <a:r>
              <a:rPr lang="zh-CN" altLang="en-US" sz="2400" dirty="0"/>
              <a:t> </a:t>
            </a:r>
            <a:r>
              <a:rPr lang="zh-CN" altLang="en-US" sz="2400" b="1" dirty="0">
                <a:solidFill>
                  <a:srgbClr val="FF0000"/>
                </a:solidFill>
              </a:rPr>
              <a:t>替换方法</a:t>
            </a:r>
          </a:p>
          <a:p>
            <a:pPr>
              <a:lnSpc>
                <a:spcPct val="150000"/>
              </a:lnSpc>
              <a:buFont typeface="Wingdings" panose="05000000000000000000" charset="0"/>
              <a:buChar char="Ø"/>
            </a:pPr>
            <a:r>
              <a:rPr lang="zh-CN" altLang="en-US" sz="2400" b="1" dirty="0">
                <a:solidFill>
                  <a:srgbClr val="FF0000"/>
                </a:solidFill>
              </a:rPr>
              <a:t>  转换方法</a:t>
            </a:r>
          </a:p>
        </p:txBody>
      </p:sp>
    </p:spTree>
    <p:custDataLst>
      <p:tags r:id="rId1"/>
    </p:custDataLst>
    <p:extLst>
      <p:ext uri="{BB962C8B-B14F-4D97-AF65-F5344CB8AC3E}">
        <p14:creationId xmlns:p14="http://schemas.microsoft.com/office/powerpoint/2010/main" val="38772715"/>
      </p:ext>
    </p:extLst>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title"/>
          </p:nvPr>
        </p:nvSpPr>
        <p:spPr>
          <a:xfrm>
            <a:off x="1089045" y="86584"/>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数据加密</a:t>
            </a:r>
          </a:p>
        </p:txBody>
      </p:sp>
      <p:sp>
        <p:nvSpPr>
          <p:cNvPr id="9220" name="Rectangle 4"/>
          <p:cNvSpPr>
            <a:spLocks noGrp="1" noChangeArrowheads="1"/>
          </p:cNvSpPr>
          <p:nvPr>
            <p:ph idx="1"/>
          </p:nvPr>
        </p:nvSpPr>
        <p:spPr>
          <a:xfrm>
            <a:off x="1199456" y="1152982"/>
            <a:ext cx="9793088" cy="592138"/>
          </a:xfrm>
          <a:solidFill>
            <a:srgbClr val="0000FF"/>
          </a:solidFill>
          <a:ln w="19050">
            <a:solidFill>
              <a:srgbClr val="CCFF33"/>
            </a:solidFill>
          </a:ln>
          <a:effectLst>
            <a:outerShdw dist="35921" dir="2700000" algn="ctr" rotWithShape="0">
              <a:schemeClr val="bg2"/>
            </a:outerShdw>
          </a:effectLst>
        </p:spPr>
        <p:txBody>
          <a:bodyPr/>
          <a:lstStyle/>
          <a:p>
            <a:pPr marL="358775" indent="-358775" algn="ctr" eaLnBrk="1" hangingPunct="1">
              <a:spcAft>
                <a:spcPct val="60000"/>
              </a:spcAft>
              <a:buNone/>
            </a:pPr>
            <a:r>
              <a:rPr lang="zh-CN" altLang="en-US" dirty="0">
                <a:solidFill>
                  <a:srgbClr val="FFFF00"/>
                </a:solidFill>
                <a:effectLst/>
                <a:latin typeface="楷体_GB2312" pitchFamily="49" charset="-122"/>
              </a:rPr>
              <a:t>让你偷去也看不懂</a:t>
            </a:r>
          </a:p>
        </p:txBody>
      </p:sp>
      <p:sp>
        <p:nvSpPr>
          <p:cNvPr id="9221" name="Rectangle 5"/>
          <p:cNvSpPr>
            <a:spLocks noChangeArrowheads="1"/>
          </p:cNvSpPr>
          <p:nvPr/>
        </p:nvSpPr>
        <p:spPr bwMode="auto">
          <a:xfrm>
            <a:off x="826654" y="1974739"/>
            <a:ext cx="1072919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pPr algn="just">
              <a:spcAft>
                <a:spcPct val="60000"/>
              </a:spcAft>
              <a:buClr>
                <a:srgbClr val="66FF33"/>
              </a:buClr>
              <a:buSzPct val="85000"/>
            </a:pPr>
            <a:r>
              <a:rPr kumimoji="0" lang="zh-CN" altLang="en-US" dirty="0">
                <a:solidFill>
                  <a:srgbClr val="CCFFCC"/>
                </a:solidFill>
                <a:effectLst/>
                <a:latin typeface="微软雅黑" pitchFamily="34" charset="-122"/>
                <a:ea typeface="微软雅黑" pitchFamily="34" charset="-122"/>
              </a:rPr>
              <a:t>根据一定的算法将原始数据（明文）加密成为不可直接识别的格式（密文）进行存储和传输，从而防止别有用心的人绕过</a:t>
            </a:r>
            <a:r>
              <a:rPr kumimoji="0" lang="en-US" altLang="zh-CN" dirty="0">
                <a:solidFill>
                  <a:srgbClr val="CCFFCC"/>
                </a:solidFill>
                <a:effectLst/>
                <a:latin typeface="微软雅黑" pitchFamily="34" charset="-122"/>
                <a:ea typeface="微软雅黑" pitchFamily="34" charset="-122"/>
              </a:rPr>
              <a:t>DBMS</a:t>
            </a:r>
            <a:r>
              <a:rPr kumimoji="0" lang="zh-CN" altLang="en-US" dirty="0">
                <a:solidFill>
                  <a:srgbClr val="CCFFCC"/>
                </a:solidFill>
                <a:effectLst/>
                <a:latin typeface="微软雅黑" pitchFamily="34" charset="-122"/>
                <a:ea typeface="微软雅黑" pitchFamily="34" charset="-122"/>
              </a:rPr>
              <a:t>直接从操作系统级或网络上盗取关键数据。</a:t>
            </a:r>
          </a:p>
        </p:txBody>
      </p:sp>
      <p:grpSp>
        <p:nvGrpSpPr>
          <p:cNvPr id="2" name="组合 1">
            <a:extLst>
              <a:ext uri="{FF2B5EF4-FFF2-40B4-BE49-F238E27FC236}">
                <a16:creationId xmlns:a16="http://schemas.microsoft.com/office/drawing/2014/main" id="{DCEDEEA5-C81C-412F-9676-A2A49CDD405A}"/>
              </a:ext>
            </a:extLst>
          </p:cNvPr>
          <p:cNvGrpSpPr/>
          <p:nvPr/>
        </p:nvGrpSpPr>
        <p:grpSpPr>
          <a:xfrm>
            <a:off x="1343472" y="4010744"/>
            <a:ext cx="9695556" cy="2514600"/>
            <a:chOff x="2686050" y="4010744"/>
            <a:chExt cx="7010400" cy="2514600"/>
          </a:xfrm>
        </p:grpSpPr>
        <p:sp>
          <p:nvSpPr>
            <p:cNvPr id="1137670" name="Oval 6"/>
            <p:cNvSpPr>
              <a:spLocks noChangeArrowheads="1"/>
            </p:cNvSpPr>
            <p:nvPr/>
          </p:nvSpPr>
          <p:spPr bwMode="auto">
            <a:xfrm>
              <a:off x="5276850" y="4010744"/>
              <a:ext cx="914400" cy="914400"/>
            </a:xfrm>
            <a:prstGeom prst="ellipse">
              <a:avLst/>
            </a:prstGeom>
            <a:gradFill rotWithShape="1">
              <a:gsLst>
                <a:gs pos="0">
                  <a:srgbClr val="00FFFF">
                    <a:gamma/>
                    <a:tint val="0"/>
                    <a:invGamma/>
                  </a:srgbClr>
                </a:gs>
                <a:gs pos="100000">
                  <a:srgbClr val="00FFFF"/>
                </a:gs>
              </a:gsLst>
              <a:path path="shape">
                <a:fillToRect l="50000" t="50000" r="50000" b="50000"/>
              </a:path>
            </a:gradFill>
            <a:ln w="12700" cap="sq">
              <a:solidFill>
                <a:srgbClr val="00FFFF"/>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b="1" dirty="0">
                  <a:solidFill>
                    <a:srgbClr val="000000"/>
                  </a:solidFill>
                  <a:effectLst>
                    <a:outerShdw blurRad="38100" dist="38100" dir="2700000" algn="tl">
                      <a:srgbClr val="FFFFFF"/>
                    </a:outerShdw>
                  </a:effectLst>
                  <a:latin typeface="微软雅黑" panose="020B0503020204020204" pitchFamily="34" charset="-122"/>
                  <a:ea typeface="微软雅黑" panose="020B0503020204020204" pitchFamily="34" charset="-122"/>
                </a:rPr>
                <a:t>加密</a:t>
              </a:r>
            </a:p>
          </p:txBody>
        </p:sp>
        <p:grpSp>
          <p:nvGrpSpPr>
            <p:cNvPr id="9223" name="Group 7"/>
            <p:cNvGrpSpPr>
              <a:grpSpLocks/>
            </p:cNvGrpSpPr>
            <p:nvPr/>
          </p:nvGrpSpPr>
          <p:grpSpPr bwMode="auto">
            <a:xfrm>
              <a:off x="2686050" y="4467944"/>
              <a:ext cx="1143000" cy="1219200"/>
              <a:chOff x="672" y="2400"/>
              <a:chExt cx="720" cy="768"/>
            </a:xfrm>
          </p:grpSpPr>
          <p:sp>
            <p:nvSpPr>
              <p:cNvPr id="1137672" name="AutoShape 8"/>
              <p:cNvSpPr>
                <a:spLocks noChangeArrowheads="1"/>
              </p:cNvSpPr>
              <p:nvPr/>
            </p:nvSpPr>
            <p:spPr bwMode="auto">
              <a:xfrm>
                <a:off x="672" y="2400"/>
                <a:ext cx="720" cy="768"/>
              </a:xfrm>
              <a:prstGeom prst="foldedCorner">
                <a:avLst>
                  <a:gd name="adj" fmla="val 12500"/>
                </a:avLst>
              </a:prstGeom>
              <a:solidFill>
                <a:srgbClr val="F5F5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37673" name="Line 9"/>
              <p:cNvSpPr>
                <a:spLocks noChangeShapeType="1"/>
              </p:cNvSpPr>
              <p:nvPr/>
            </p:nvSpPr>
            <p:spPr bwMode="auto">
              <a:xfrm>
                <a:off x="768" y="2592"/>
                <a:ext cx="528" cy="0"/>
              </a:xfrm>
              <a:prstGeom prst="line">
                <a:avLst/>
              </a:prstGeom>
              <a:noFill/>
              <a:ln w="12700" cap="rnd">
                <a:solidFill>
                  <a:srgbClr val="000000"/>
                </a:solidFill>
                <a:prstDash val="sysDot"/>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37674" name="Line 10"/>
              <p:cNvSpPr>
                <a:spLocks noChangeShapeType="1"/>
              </p:cNvSpPr>
              <p:nvPr/>
            </p:nvSpPr>
            <p:spPr bwMode="auto">
              <a:xfrm>
                <a:off x="768" y="2736"/>
                <a:ext cx="528" cy="0"/>
              </a:xfrm>
              <a:prstGeom prst="line">
                <a:avLst/>
              </a:prstGeom>
              <a:noFill/>
              <a:ln w="12700" cap="rnd">
                <a:solidFill>
                  <a:srgbClr val="000000"/>
                </a:solidFill>
                <a:prstDash val="sysDot"/>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37675" name="Line 11"/>
              <p:cNvSpPr>
                <a:spLocks noChangeShapeType="1"/>
              </p:cNvSpPr>
              <p:nvPr/>
            </p:nvSpPr>
            <p:spPr bwMode="auto">
              <a:xfrm>
                <a:off x="768" y="2832"/>
                <a:ext cx="528" cy="0"/>
              </a:xfrm>
              <a:prstGeom prst="line">
                <a:avLst/>
              </a:prstGeom>
              <a:noFill/>
              <a:ln w="12700" cap="rnd">
                <a:solidFill>
                  <a:srgbClr val="000000"/>
                </a:solidFill>
                <a:prstDash val="sysDot"/>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sp>
            <p:nvSpPr>
              <p:cNvPr id="1137676" name="Line 12"/>
              <p:cNvSpPr>
                <a:spLocks noChangeShapeType="1"/>
              </p:cNvSpPr>
              <p:nvPr/>
            </p:nvSpPr>
            <p:spPr bwMode="auto">
              <a:xfrm>
                <a:off x="768" y="2976"/>
                <a:ext cx="528" cy="0"/>
              </a:xfrm>
              <a:prstGeom prst="line">
                <a:avLst/>
              </a:prstGeom>
              <a:noFill/>
              <a:ln w="12700" cap="rnd">
                <a:solidFill>
                  <a:srgbClr val="000000"/>
                </a:solidFill>
                <a:prstDash val="sysDot"/>
                <a:round/>
                <a:headEnd/>
                <a:tailEnd/>
              </a:ln>
              <a:effectLst>
                <a:outerShdw dist="35921" dir="2700000" algn="ctr" rotWithShape="0">
                  <a:schemeClr val="bg2"/>
                </a:outerShdw>
              </a:effectLst>
            </p:spPr>
            <p:txBody>
              <a:bodyPr wrap="none" lIns="0" tIns="0" rIns="0" bIns="0" anchor="ctr"/>
              <a:lstStyle/>
              <a:p>
                <a:pPr>
                  <a:defRPr/>
                </a:pPr>
                <a:endParaRPr lang="zh-CN" altLang="en-US"/>
              </a:p>
            </p:txBody>
          </p:sp>
        </p:grpSp>
        <p:sp>
          <p:nvSpPr>
            <p:cNvPr id="1137677" name="AutoShape 13"/>
            <p:cNvSpPr>
              <a:spLocks noChangeArrowheads="1"/>
            </p:cNvSpPr>
            <p:nvPr/>
          </p:nvSpPr>
          <p:spPr bwMode="auto">
            <a:xfrm>
              <a:off x="7943850" y="4391744"/>
              <a:ext cx="1752600" cy="1447800"/>
            </a:xfrm>
            <a:prstGeom prst="can">
              <a:avLst>
                <a:gd name="adj" fmla="val 25000"/>
              </a:avLst>
            </a:prstGeom>
            <a:gradFill rotWithShape="1">
              <a:gsLst>
                <a:gs pos="0">
                  <a:srgbClr val="CCFFCC">
                    <a:gamma/>
                    <a:tint val="0"/>
                    <a:invGamma/>
                  </a:srgbClr>
                </a:gs>
                <a:gs pos="50000">
                  <a:srgbClr val="CCFFCC"/>
                </a:gs>
                <a:gs pos="100000">
                  <a:srgbClr val="CCFFCC">
                    <a:gamma/>
                    <a:tint val="0"/>
                    <a:invGamma/>
                  </a:srgbClr>
                </a:gs>
              </a:gsLst>
              <a:lin ang="18900000" scaled="1"/>
            </a:gra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b="1">
                  <a:solidFill>
                    <a:srgbClr val="000000"/>
                  </a:solidFill>
                  <a:effectLst>
                    <a:outerShdw blurRad="38100" dist="38100" dir="2700000" algn="tl">
                      <a:srgbClr val="FFFFFF"/>
                    </a:outerShdw>
                  </a:effectLst>
                  <a:latin typeface="微软雅黑" panose="020B0503020204020204" pitchFamily="34" charset="-122"/>
                  <a:ea typeface="微软雅黑" panose="020B0503020204020204" pitchFamily="34" charset="-122"/>
                </a:rPr>
                <a:t>数据库</a:t>
              </a:r>
            </a:p>
          </p:txBody>
        </p:sp>
        <p:sp>
          <p:nvSpPr>
            <p:cNvPr id="1137678" name="Oval 14"/>
            <p:cNvSpPr>
              <a:spLocks noChangeArrowheads="1"/>
            </p:cNvSpPr>
            <p:nvPr/>
          </p:nvSpPr>
          <p:spPr bwMode="auto">
            <a:xfrm>
              <a:off x="5311775" y="5610944"/>
              <a:ext cx="914400" cy="914400"/>
            </a:xfrm>
            <a:prstGeom prst="ellipse">
              <a:avLst/>
            </a:prstGeom>
            <a:gradFill rotWithShape="1">
              <a:gsLst>
                <a:gs pos="0">
                  <a:srgbClr val="00FFFF">
                    <a:gamma/>
                    <a:tint val="0"/>
                    <a:invGamma/>
                  </a:srgbClr>
                </a:gs>
                <a:gs pos="100000">
                  <a:srgbClr val="00FFFF"/>
                </a:gs>
              </a:gsLst>
              <a:path path="shape">
                <a:fillToRect l="50000" t="50000" r="50000" b="50000"/>
              </a:path>
            </a:gradFill>
            <a:ln w="12700" cap="sq">
              <a:solidFill>
                <a:srgbClr val="00FFFF"/>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400" b="1">
                  <a:solidFill>
                    <a:srgbClr val="000000"/>
                  </a:solidFill>
                  <a:effectLst>
                    <a:outerShdw blurRad="38100" dist="38100" dir="2700000" algn="tl">
                      <a:srgbClr val="FFFFFF"/>
                    </a:outerShdw>
                  </a:effectLst>
                  <a:latin typeface="微软雅黑" panose="020B0503020204020204" pitchFamily="34" charset="-122"/>
                  <a:ea typeface="微软雅黑" panose="020B0503020204020204" pitchFamily="34" charset="-122"/>
                </a:rPr>
                <a:t>解密</a:t>
              </a:r>
            </a:p>
          </p:txBody>
        </p:sp>
        <p:sp>
          <p:nvSpPr>
            <p:cNvPr id="1137679" name="Line 15"/>
            <p:cNvSpPr>
              <a:spLocks noChangeShapeType="1"/>
            </p:cNvSpPr>
            <p:nvPr/>
          </p:nvSpPr>
          <p:spPr bwMode="auto">
            <a:xfrm flipV="1">
              <a:off x="3829050" y="4467944"/>
              <a:ext cx="1371600" cy="457200"/>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cxnSp>
          <p:nvCxnSpPr>
            <p:cNvPr id="9227" name="AutoShape 16"/>
            <p:cNvCxnSpPr>
              <a:cxnSpLocks noChangeShapeType="1"/>
              <a:stCxn id="1137670" idx="6"/>
              <a:endCxn id="1137677" idx="2"/>
            </p:cNvCxnSpPr>
            <p:nvPr/>
          </p:nvCxnSpPr>
          <p:spPr bwMode="auto">
            <a:xfrm>
              <a:off x="6191250" y="4467944"/>
              <a:ext cx="1752600" cy="647700"/>
            </a:xfrm>
            <a:prstGeom prst="straightConnector1">
              <a:avLst/>
            </a:prstGeom>
            <a:noFill/>
            <a:ln w="28575"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37681" name="Line 17"/>
            <p:cNvSpPr>
              <a:spLocks noChangeShapeType="1"/>
            </p:cNvSpPr>
            <p:nvPr/>
          </p:nvSpPr>
          <p:spPr bwMode="auto">
            <a:xfrm flipH="1">
              <a:off x="6267450" y="5306144"/>
              <a:ext cx="1676400" cy="685800"/>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sp>
          <p:nvSpPr>
            <p:cNvPr id="1137682" name="Line 18"/>
            <p:cNvSpPr>
              <a:spLocks noChangeShapeType="1"/>
            </p:cNvSpPr>
            <p:nvPr/>
          </p:nvSpPr>
          <p:spPr bwMode="auto">
            <a:xfrm flipH="1" flipV="1">
              <a:off x="3829050" y="5306144"/>
              <a:ext cx="1447800" cy="762000"/>
            </a:xfrm>
            <a:prstGeom prst="line">
              <a:avLst/>
            </a:prstGeom>
            <a:noFill/>
            <a:ln w="28575" cap="sq">
              <a:solidFill>
                <a:schemeClr val="tx1"/>
              </a:solidFill>
              <a:round/>
              <a:headEnd/>
              <a:tailEnd type="triangle" w="med" len="med"/>
            </a:ln>
            <a:effectLst/>
          </p:spPr>
          <p:txBody>
            <a:bodyPr wrap="none" lIns="0" tIns="0" rIns="0" bIns="0" anchor="ctr"/>
            <a:lstStyle/>
            <a:p>
              <a:pPr>
                <a:defRPr/>
              </a:pPr>
              <a:endParaRPr lang="zh-CN" altLang="en-US"/>
            </a:p>
          </p:txBody>
        </p:sp>
        <p:sp>
          <p:nvSpPr>
            <p:cNvPr id="1137683" name="Rectangle 19"/>
            <p:cNvSpPr>
              <a:spLocks noChangeArrowheads="1"/>
            </p:cNvSpPr>
            <p:nvPr/>
          </p:nvSpPr>
          <p:spPr bwMode="auto">
            <a:xfrm>
              <a:off x="2913262" y="4010744"/>
              <a:ext cx="615553"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b="1">
                  <a:effectLst>
                    <a:outerShdw blurRad="38100" dist="38100" dir="2700000" algn="tl">
                      <a:srgbClr val="000000"/>
                    </a:outerShdw>
                  </a:effectLst>
                  <a:latin typeface="微软雅黑" panose="020B0503020204020204" pitchFamily="34" charset="-122"/>
                  <a:ea typeface="微软雅黑" panose="020B0503020204020204" pitchFamily="34" charset="-122"/>
                </a:rPr>
                <a:t>数据</a:t>
              </a:r>
            </a:p>
          </p:txBody>
        </p:sp>
        <p:sp>
          <p:nvSpPr>
            <p:cNvPr id="1137684" name="Rectangle 20"/>
            <p:cNvSpPr>
              <a:spLocks noChangeArrowheads="1"/>
            </p:cNvSpPr>
            <p:nvPr/>
          </p:nvSpPr>
          <p:spPr bwMode="auto">
            <a:xfrm rot="20429213">
              <a:off x="4186360" y="4292804"/>
              <a:ext cx="631583"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b="1">
                  <a:effectLst>
                    <a:outerShdw blurRad="38100" dist="38100" dir="2700000" algn="tl">
                      <a:srgbClr val="000000"/>
                    </a:outerShdw>
                  </a:effectLst>
                  <a:latin typeface="Times New Roman" pitchFamily="18" charset="0"/>
                </a:rPr>
                <a:t>hello</a:t>
              </a:r>
            </a:p>
          </p:txBody>
        </p:sp>
        <p:sp>
          <p:nvSpPr>
            <p:cNvPr id="1137685" name="Rectangle 21"/>
            <p:cNvSpPr>
              <a:spLocks noChangeArrowheads="1"/>
            </p:cNvSpPr>
            <p:nvPr/>
          </p:nvSpPr>
          <p:spPr bwMode="auto">
            <a:xfrm rot="1257097">
              <a:off x="6364569" y="4349954"/>
              <a:ext cx="1255151"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b="1">
                  <a:effectLst>
                    <a:outerShdw blurRad="38100" dist="38100" dir="2700000" algn="tl">
                      <a:srgbClr val="000000"/>
                    </a:outerShdw>
                  </a:effectLst>
                  <a:latin typeface="Times New Roman" pitchFamily="18" charset="0"/>
                </a:rPr>
                <a:t>※★○●№</a:t>
              </a:r>
            </a:p>
          </p:txBody>
        </p:sp>
        <p:sp>
          <p:nvSpPr>
            <p:cNvPr id="1137686" name="Rectangle 22"/>
            <p:cNvSpPr>
              <a:spLocks noChangeArrowheads="1"/>
            </p:cNvSpPr>
            <p:nvPr/>
          </p:nvSpPr>
          <p:spPr bwMode="auto">
            <a:xfrm rot="20354552">
              <a:off x="6847548" y="5667579"/>
              <a:ext cx="684483"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b="1">
                  <a:effectLst>
                    <a:outerShdw blurRad="38100" dist="38100" dir="2700000" algn="tl">
                      <a:srgbClr val="000000"/>
                    </a:outerShdw>
                  </a:effectLst>
                  <a:latin typeface="Times New Roman" pitchFamily="18" charset="0"/>
                </a:rPr>
                <a:t>*</a:t>
              </a:r>
              <a:r>
                <a:rPr lang="zh-CN" altLang="en-US" sz="2400" b="1">
                  <a:effectLst>
                    <a:outerShdw blurRad="38100" dist="38100" dir="2700000" algn="tl">
                      <a:srgbClr val="000000"/>
                    </a:outerShdw>
                  </a:effectLst>
                  <a:latin typeface="Times New Roman" pitchFamily="18" charset="0"/>
                </a:rPr>
                <a:t>（</a:t>
              </a:r>
              <a:r>
                <a:rPr lang="en-US" altLang="zh-CN" sz="2400" b="1">
                  <a:effectLst>
                    <a:outerShdw blurRad="38100" dist="38100" dir="2700000" algn="tl">
                      <a:srgbClr val="000000"/>
                    </a:outerShdw>
                  </a:effectLst>
                  <a:latin typeface="Times New Roman" pitchFamily="18" charset="0"/>
                </a:rPr>
                <a:t>A</a:t>
              </a:r>
            </a:p>
          </p:txBody>
        </p:sp>
        <p:sp>
          <p:nvSpPr>
            <p:cNvPr id="1137687" name="Rectangle 23"/>
            <p:cNvSpPr>
              <a:spLocks noChangeArrowheads="1"/>
            </p:cNvSpPr>
            <p:nvPr/>
          </p:nvSpPr>
          <p:spPr bwMode="auto">
            <a:xfrm rot="1918123">
              <a:off x="4201469" y="5688216"/>
              <a:ext cx="461665"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b="1">
                  <a:effectLst>
                    <a:outerShdw blurRad="38100" dist="38100" dir="2700000" algn="tl">
                      <a:srgbClr val="000000"/>
                    </a:outerShdw>
                  </a:effectLst>
                  <a:latin typeface="Times New Roman" pitchFamily="18" charset="0"/>
                </a:rPr>
                <a:t>210</a:t>
              </a:r>
            </a:p>
          </p:txBody>
        </p:sp>
      </p:gr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620688"/>
            <a:ext cx="10972800" cy="4054475"/>
          </a:xfrm>
        </p:spPr>
        <p:txBody>
          <a:bodyPr/>
          <a:lstStyle/>
          <a:p>
            <a:pPr marL="0" indent="0">
              <a:buNone/>
            </a:pPr>
            <a:r>
              <a:rPr lang="en-US" altLang="zh-CN" sz="2800" b="1" dirty="0"/>
              <a:t>5. </a:t>
            </a:r>
            <a:r>
              <a:rPr lang="zh-CN" altLang="en-US" sz="2800" b="1" dirty="0"/>
              <a:t>审计（Audit）</a:t>
            </a:r>
            <a:endParaRPr lang="zh-CN" altLang="en-US" dirty="0"/>
          </a:p>
          <a:p>
            <a:pPr marL="0" indent="0">
              <a:buNone/>
            </a:pPr>
            <a:r>
              <a:rPr lang="zh-CN" altLang="en-US" dirty="0"/>
              <a:t>      审计功能是一种监视措施，用来跟踪记录有关数据的访问活动。</a:t>
            </a:r>
          </a:p>
          <a:p>
            <a:pPr marL="0" indent="0">
              <a:buNone/>
            </a:pPr>
            <a:r>
              <a:rPr lang="zh-CN" altLang="en-US" dirty="0"/>
              <a:t>      审计追踪把用户对数据库的所有操作自动记录下来，存放在一个</a:t>
            </a:r>
            <a:r>
              <a:rPr lang="zh-CN" altLang="en-US" dirty="0">
                <a:solidFill>
                  <a:srgbClr val="FF0000"/>
                </a:solidFill>
              </a:rPr>
              <a:t>特殊文件</a:t>
            </a:r>
            <a:r>
              <a:rPr lang="zh-CN" altLang="en-US" dirty="0"/>
              <a:t>中，即</a:t>
            </a:r>
            <a:r>
              <a:rPr lang="zh-CN" altLang="en-US" dirty="0">
                <a:solidFill>
                  <a:srgbClr val="FF0000"/>
                </a:solidFill>
              </a:rPr>
              <a:t>审计日志</a:t>
            </a:r>
            <a:r>
              <a:rPr lang="zh-CN" altLang="en-US" dirty="0"/>
              <a:t>(Audit Log)。记录的内容一般包括：操作类型（如修改、查询等）、操作终端标识与操作者标识、操作日期和时间、操作所涉及的相关数据（如基本表、视图、记录、属性等）、数据的前项和后项等。利用对这些信息分析，发现违纪安全的行为，找出原因，采取措施，追究责任。</a:t>
            </a:r>
          </a:p>
        </p:txBody>
      </p:sp>
    </p:spTree>
    <p:custDataLst>
      <p:tags r:id="rId1"/>
    </p:custDataLst>
    <p:extLst>
      <p:ext uri="{BB962C8B-B14F-4D97-AF65-F5344CB8AC3E}">
        <p14:creationId xmlns:p14="http://schemas.microsoft.com/office/powerpoint/2010/main" val="824603506"/>
      </p:ext>
    </p:extLst>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title"/>
          </p:nvPr>
        </p:nvSpPr>
        <p:spPr>
          <a:xfrm>
            <a:off x="1127448" y="119969"/>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跟踪审查</a:t>
            </a:r>
          </a:p>
        </p:txBody>
      </p:sp>
      <p:sp>
        <p:nvSpPr>
          <p:cNvPr id="8196" name="Rectangle 4"/>
          <p:cNvSpPr>
            <a:spLocks noGrp="1" noChangeArrowheads="1"/>
          </p:cNvSpPr>
          <p:nvPr>
            <p:ph idx="1"/>
          </p:nvPr>
        </p:nvSpPr>
        <p:spPr>
          <a:xfrm>
            <a:off x="1271464" y="1012379"/>
            <a:ext cx="9937103" cy="592138"/>
          </a:xfrm>
          <a:solidFill>
            <a:srgbClr val="0000FF"/>
          </a:solidFill>
          <a:ln w="19050">
            <a:solidFill>
              <a:srgbClr val="CCFF33"/>
            </a:solidFill>
          </a:ln>
          <a:effectLst>
            <a:outerShdw dist="35921" dir="2700000" algn="ctr" rotWithShape="0">
              <a:schemeClr val="bg2"/>
            </a:outerShdw>
          </a:effectLst>
        </p:spPr>
        <p:txBody>
          <a:bodyPr/>
          <a:lstStyle/>
          <a:p>
            <a:pPr marL="358775" indent="-358775" algn="ctr" eaLnBrk="1" hangingPunct="1">
              <a:spcAft>
                <a:spcPct val="60000"/>
              </a:spcAft>
              <a:buNone/>
            </a:pPr>
            <a:r>
              <a:rPr lang="zh-CN" altLang="en-US" dirty="0">
                <a:solidFill>
                  <a:srgbClr val="FFFF00"/>
                </a:solidFill>
                <a:effectLst/>
                <a:latin typeface="楷体_GB2312" pitchFamily="49" charset="-122"/>
              </a:rPr>
              <a:t>监视记录数据库中发生的事件</a:t>
            </a:r>
          </a:p>
        </p:txBody>
      </p:sp>
      <p:sp>
        <p:nvSpPr>
          <p:cNvPr id="8197" name="Rectangle 5"/>
          <p:cNvSpPr>
            <a:spLocks noChangeArrowheads="1"/>
          </p:cNvSpPr>
          <p:nvPr/>
        </p:nvSpPr>
        <p:spPr bwMode="auto">
          <a:xfrm>
            <a:off x="1124441" y="1693552"/>
            <a:ext cx="1022513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pPr algn="just">
              <a:spcAft>
                <a:spcPct val="60000"/>
              </a:spcAft>
              <a:buClr>
                <a:srgbClr val="66FF33"/>
              </a:buClr>
              <a:buSzPct val="85000"/>
            </a:pPr>
            <a:r>
              <a:rPr kumimoji="0" lang="zh-CN" altLang="en-US" dirty="0">
                <a:solidFill>
                  <a:srgbClr val="CCFFCC"/>
                </a:solidFill>
                <a:effectLst/>
                <a:latin typeface="微软雅黑" pitchFamily="34" charset="-122"/>
                <a:ea typeface="微软雅黑" pitchFamily="34" charset="-122"/>
              </a:rPr>
              <a:t>可以利用自动记录的跟踪审查记录追查出系统最近发生的事件，从而判别系统是否受到非法操作或找出系统故障的原因，是一种事后审计方式。</a:t>
            </a:r>
          </a:p>
        </p:txBody>
      </p:sp>
      <p:graphicFrame>
        <p:nvGraphicFramePr>
          <p:cNvPr id="1135622" name="Group 6"/>
          <p:cNvGraphicFramePr>
            <a:graphicFrameLocks noGrp="1"/>
          </p:cNvGraphicFramePr>
          <p:nvPr>
            <p:extLst>
              <p:ext uri="{D42A27DB-BD31-4B8C-83A1-F6EECF244321}">
                <p14:modId xmlns:p14="http://schemas.microsoft.com/office/powerpoint/2010/main" val="2408279570"/>
              </p:ext>
            </p:extLst>
          </p:nvPr>
        </p:nvGraphicFramePr>
        <p:xfrm>
          <a:off x="1271464" y="3933056"/>
          <a:ext cx="9937103" cy="2652449"/>
        </p:xfrm>
        <a:graphic>
          <a:graphicData uri="http://schemas.openxmlformats.org/drawingml/2006/table">
            <a:tbl>
              <a:tblPr/>
              <a:tblGrid>
                <a:gridCol w="2710299">
                  <a:extLst>
                    <a:ext uri="{9D8B030D-6E8A-4147-A177-3AD203B41FA5}">
                      <a16:colId xmlns:a16="http://schemas.microsoft.com/office/drawing/2014/main" val="20000"/>
                    </a:ext>
                  </a:extLst>
                </a:gridCol>
                <a:gridCol w="1083323">
                  <a:extLst>
                    <a:ext uri="{9D8B030D-6E8A-4147-A177-3AD203B41FA5}">
                      <a16:colId xmlns:a16="http://schemas.microsoft.com/office/drawing/2014/main" val="20001"/>
                    </a:ext>
                  </a:extLst>
                </a:gridCol>
                <a:gridCol w="1808195">
                  <a:extLst>
                    <a:ext uri="{9D8B030D-6E8A-4147-A177-3AD203B41FA5}">
                      <a16:colId xmlns:a16="http://schemas.microsoft.com/office/drawing/2014/main" val="20002"/>
                    </a:ext>
                  </a:extLst>
                </a:gridCol>
                <a:gridCol w="1535373">
                  <a:extLst>
                    <a:ext uri="{9D8B030D-6E8A-4147-A177-3AD203B41FA5}">
                      <a16:colId xmlns:a16="http://schemas.microsoft.com/office/drawing/2014/main" val="20003"/>
                    </a:ext>
                  </a:extLst>
                </a:gridCol>
                <a:gridCol w="1534842">
                  <a:extLst>
                    <a:ext uri="{9D8B030D-6E8A-4147-A177-3AD203B41FA5}">
                      <a16:colId xmlns:a16="http://schemas.microsoft.com/office/drawing/2014/main" val="20004"/>
                    </a:ext>
                  </a:extLst>
                </a:gridCol>
                <a:gridCol w="1265071">
                  <a:extLst>
                    <a:ext uri="{9D8B030D-6E8A-4147-A177-3AD203B41FA5}">
                      <a16:colId xmlns:a16="http://schemas.microsoft.com/office/drawing/2014/main" val="20005"/>
                    </a:ext>
                  </a:extLst>
                </a:gridCol>
              </a:tblGrid>
              <a:tr h="335969">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时间</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用户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操作对象</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操作</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前像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1"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后像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2024.1.5 10:15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张三</a:t>
                      </a:r>
                      <a:endPar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S</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SELECT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2024.1.5 10:16</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张三</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S.</a:t>
                      </a:r>
                      <a:r>
                        <a:rPr kumimoji="0" lang="zh-CN" altLang="en-US"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学号</a:t>
                      </a:r>
                      <a:endPar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UPDATE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2110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2112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2024.1.5 10:18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张三</a:t>
                      </a:r>
                      <a:endPar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SC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SELECT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2024.2.2 14:25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李四</a:t>
                      </a:r>
                      <a:endPar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r>
                        <a:rPr kumimoji="0" lang="zh-CN" altLang="en-US"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课名</a:t>
                      </a:r>
                      <a:endPar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UPDATE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r>
                        <a:rPr kumimoji="0" lang="zh-CN" altLang="en-US"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语言</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2024.2.2 14:25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李四</a:t>
                      </a:r>
                      <a:endPar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DELETE</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Web</a:t>
                      </a:r>
                      <a:r>
                        <a:rPr kumimoji="0" lang="zh-CN" altLang="en-US"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技术</a:t>
                      </a:r>
                      <a:endPar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20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2024.2.2 16:05</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李四</a:t>
                      </a:r>
                      <a:endPar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SC</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SELECT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en-US" altLang="zh-CN" sz="22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727">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endParaRPr kumimoji="0" lang="en-US" altLang="zh-CN" sz="20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135687" name="Rectangle 71"/>
          <p:cNvSpPr>
            <a:spLocks noChangeArrowheads="1"/>
          </p:cNvSpPr>
          <p:nvPr/>
        </p:nvSpPr>
        <p:spPr bwMode="auto">
          <a:xfrm>
            <a:off x="4166030" y="3429000"/>
            <a:ext cx="2769989" cy="369332"/>
          </a:xfrm>
          <a:prstGeom prst="rect">
            <a:avLst/>
          </a:prstGeom>
          <a:noFill/>
          <a:ln w="12700" cap="sq">
            <a:noFill/>
            <a:miter lim="800000"/>
            <a:headEnd/>
            <a:tailEnd/>
          </a:ln>
          <a:effectLst/>
        </p:spPr>
        <p:txBody>
          <a:bodyPr wrap="none" lIns="0" tIns="0" rIns="0" bIns="0">
            <a:spAutoFit/>
          </a:bodyPr>
          <a:lstStyle/>
          <a:p>
            <a:pPr algn="ctr">
              <a:spcBef>
                <a:spcPct val="20000"/>
              </a:spcBef>
              <a:spcAft>
                <a:spcPct val="0"/>
              </a:spcAft>
              <a:buSzTx/>
              <a:buFontTx/>
              <a:buNone/>
              <a:defRPr/>
            </a:pPr>
            <a:r>
              <a:rPr lang="zh-CN" altLang="en-US" sz="2400" b="1">
                <a:effectLst>
                  <a:outerShdw blurRad="38100" dist="38100" dir="2700000" algn="tl">
                    <a:srgbClr val="000000"/>
                  </a:outerShdw>
                </a:effectLst>
              </a:rPr>
              <a:t>一个审计日志的例子</a:t>
            </a: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181847" y="1124744"/>
            <a:ext cx="9753600" cy="2143125"/>
          </a:xfrm>
          <a:prstGeom prst="rect">
            <a:avLst/>
          </a:prstGeom>
          <a:noFill/>
        </p:spPr>
        <p:txBody>
          <a:bodyPr vert="horz" wrap="square" rtlCol="0" anchor="ctr" anchorCtr="0">
            <a:noAutofit/>
          </a:bodyPr>
          <a:lstStyle/>
          <a:p>
            <a:pPr>
              <a:lnSpc>
                <a:spcPct val="150000"/>
              </a:lnSpc>
            </a:pPr>
            <a:r>
              <a:rPr lang="zh-CN" altLang="en-US" sz="2800" dirty="0">
                <a:latin typeface="Microsoft Yahei" panose="020B0503020204020204" pitchFamily="34" charset="-122"/>
                <a:ea typeface="Microsoft Yahei" panose="020B0503020204020204" pitchFamily="34" charset="-122"/>
                <a:sym typeface="Microsoft Yahei" panose="020B0503020204020204" pitchFamily="34" charset="-122"/>
              </a:rPr>
              <a:t>什么是数据库的安全性？数据库系统一般提供哪</a:t>
            </a:r>
            <a:r>
              <a:rPr lang="en-US" altLang="zh-CN" sz="2800" dirty="0">
                <a:latin typeface="Microsoft Yahei" panose="020B0503020204020204" pitchFamily="34" charset="-122"/>
                <a:ea typeface="Microsoft Yahei" panose="020B0503020204020204" pitchFamily="34" charset="-122"/>
                <a:sym typeface="Microsoft Yahei" panose="020B0503020204020204" pitchFamily="34" charset="-122"/>
              </a:rPr>
              <a:t>5</a:t>
            </a:r>
            <a:r>
              <a:rPr lang="zh-CN" altLang="en-US" sz="2800" dirty="0">
                <a:latin typeface="Microsoft Yahei" panose="020B0503020204020204" pitchFamily="34" charset="-122"/>
                <a:ea typeface="Microsoft Yahei" panose="020B0503020204020204" pitchFamily="34" charset="-122"/>
                <a:sym typeface="Microsoft Yahei" panose="020B0503020204020204" pitchFamily="34" charset="-122"/>
              </a:rPr>
              <a:t>种安全性控制。数据库的安全技术主要有哪 </a:t>
            </a:r>
            <a:r>
              <a:rPr lang="en-US" altLang="zh-CN" sz="2800" dirty="0">
                <a:latin typeface="Microsoft Yahei" panose="020B0503020204020204" pitchFamily="34" charset="-122"/>
                <a:ea typeface="Microsoft Yahei" panose="020B0503020204020204" pitchFamily="34" charset="-122"/>
                <a:sym typeface="Microsoft Yahei" panose="020B0503020204020204" pitchFamily="34" charset="-122"/>
              </a:rPr>
              <a:t>5 </a:t>
            </a:r>
            <a:r>
              <a:rPr lang="zh-CN" altLang="en-US" sz="2800" dirty="0">
                <a:latin typeface="Microsoft Yahei" panose="020B0503020204020204" pitchFamily="34" charset="-122"/>
                <a:ea typeface="Microsoft Yahei" panose="020B0503020204020204" pitchFamily="34" charset="-122"/>
                <a:sym typeface="Microsoft Yahei" panose="020B0503020204020204" pitchFamily="34" charset="-122"/>
              </a:rPr>
              <a:t>个，各有什么用，各自的原理是什么？（重点，要能够用自己的语言陈述）</a:t>
            </a:r>
          </a:p>
        </p:txBody>
      </p:sp>
      <p:sp>
        <p:nvSpPr>
          <p:cNvPr id="6" name="圆角矩形 5"/>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smtClean="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8" name="ColorBlock"/>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211095170"/>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title"/>
          </p:nvPr>
        </p:nvSpPr>
        <p:spPr>
          <a:xfrm>
            <a:off x="1089045" y="86584"/>
            <a:ext cx="4762055"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dirty="0">
                <a:solidFill>
                  <a:srgbClr val="FFFFCC"/>
                </a:solidFill>
                <a:effectLst>
                  <a:outerShdw blurRad="38100" dist="38100" dir="2700000" algn="tl">
                    <a:srgbClr val="000000"/>
                  </a:outerShdw>
                </a:effectLst>
                <a:latin typeface="Arial" pitchFamily="34" charset="0"/>
              </a:rPr>
              <a:t>数据库安全的重要性</a:t>
            </a:r>
          </a:p>
        </p:txBody>
      </p:sp>
      <p:grpSp>
        <p:nvGrpSpPr>
          <p:cNvPr id="5" name="组合 4">
            <a:extLst>
              <a:ext uri="{FF2B5EF4-FFF2-40B4-BE49-F238E27FC236}">
                <a16:creationId xmlns:a16="http://schemas.microsoft.com/office/drawing/2014/main" id="{C7CEF64A-C383-4EEF-A3A4-F3EA83E3E5E4}"/>
              </a:ext>
            </a:extLst>
          </p:cNvPr>
          <p:cNvGrpSpPr/>
          <p:nvPr/>
        </p:nvGrpSpPr>
        <p:grpSpPr>
          <a:xfrm>
            <a:off x="479376" y="1097325"/>
            <a:ext cx="10820400" cy="5396503"/>
            <a:chOff x="660400" y="1130301"/>
            <a:chExt cx="10820400" cy="5046499"/>
          </a:xfrm>
        </p:grpSpPr>
        <p:sp>
          <p:nvSpPr>
            <p:cNvPr id="51" name="标题 1">
              <a:extLst>
                <a:ext uri="{FF2B5EF4-FFF2-40B4-BE49-F238E27FC236}">
                  <a16:creationId xmlns:a16="http://schemas.microsoft.com/office/drawing/2014/main" id="{22D1A07C-3EB0-4033-883C-3510DDD045D1}"/>
                </a:ext>
              </a:extLst>
            </p:cNvPr>
            <p:cNvSpPr txBox="1"/>
            <p:nvPr/>
          </p:nvSpPr>
          <p:spPr>
            <a:xfrm>
              <a:off x="2450359" y="1130301"/>
              <a:ext cx="9030441" cy="1522004"/>
            </a:xfrm>
            <a:prstGeom prst="roundRect">
              <a:avLst>
                <a:gd name="adj" fmla="val 6411"/>
              </a:avLst>
            </a:prstGeom>
            <a:solidFill>
              <a:srgbClr val="FFFFFF"/>
            </a:solidFill>
            <a:ln w="12700" cap="sq">
              <a:solidFill>
                <a:srgbClr val="545479"/>
              </a:solidFill>
              <a:miter/>
            </a:ln>
          </p:spPr>
          <p:txBody>
            <a:bodyPr vert="horz" wrap="square"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52" name="标题 1">
              <a:extLst>
                <a:ext uri="{FF2B5EF4-FFF2-40B4-BE49-F238E27FC236}">
                  <a16:creationId xmlns:a16="http://schemas.microsoft.com/office/drawing/2014/main" id="{B1F37E8F-7484-4944-A87C-AE8AD742C073}"/>
                </a:ext>
              </a:extLst>
            </p:cNvPr>
            <p:cNvSpPr txBox="1"/>
            <p:nvPr/>
          </p:nvSpPr>
          <p:spPr>
            <a:xfrm>
              <a:off x="2868980" y="1604264"/>
              <a:ext cx="8450180" cy="967740"/>
            </a:xfrm>
            <a:prstGeom prst="rect">
              <a:avLst/>
            </a:prstGeom>
            <a:noFill/>
            <a:ln>
              <a:noFill/>
            </a:ln>
          </p:spPr>
          <p:txBody>
            <a:bodyPr vert="horz" wrap="square" lIns="0" tIns="0" rIns="0" bIns="0" rtlCol="0" anchor="ctr"/>
            <a:lstStyle/>
            <a:p>
              <a:pPr fontAlgn="auto">
                <a:spcBef>
                  <a:spcPts val="0"/>
                </a:spcBef>
                <a:spcAft>
                  <a:spcPts val="0"/>
                </a:spcAft>
                <a:buSzTx/>
                <a:buFontTx/>
                <a:buNone/>
              </a:pPr>
              <a:r>
                <a:rPr lang="en-US" altLang="zh-CN" sz="1800" dirty="0">
                  <a:ln w="12700">
                    <a:noFill/>
                  </a:ln>
                  <a:solidFill>
                    <a:srgbClr val="262626">
                      <a:alpha val="100000"/>
                    </a:srgbClr>
                  </a:solidFill>
                  <a:effectLst/>
                  <a:latin typeface="Source Han Sans"/>
                  <a:ea typeface="Source Han Sans"/>
                  <a:cs typeface="Source Han Sans"/>
                </a:rPr>
                <a:t>数据库作为信息社会的核心基础设施，其安全直接关系到国家数据资源的保护和利用，是维护国家安全的重要组成部分。在数字化时代，数据库安全不仅是技术问题，更是国家安全问题。保护数据库安全，就是保护国家的信息边疆，防止重要数据泄露、被篡改或破坏，确保国家数据资源的完整性和可用性。</a:t>
              </a:r>
              <a:endParaRPr lang="zh-CN" altLang="en-US" sz="2400" dirty="0">
                <a:solidFill>
                  <a:srgbClr val="000000"/>
                </a:solidFill>
                <a:effectLst/>
                <a:latin typeface="等线" panose="020F0502020204030204"/>
                <a:ea typeface="等线" panose="02010600030101010101" pitchFamily="2" charset="-122"/>
              </a:endParaRPr>
            </a:p>
          </p:txBody>
        </p:sp>
        <p:sp>
          <p:nvSpPr>
            <p:cNvPr id="53" name="标题 1">
              <a:extLst>
                <a:ext uri="{FF2B5EF4-FFF2-40B4-BE49-F238E27FC236}">
                  <a16:creationId xmlns:a16="http://schemas.microsoft.com/office/drawing/2014/main" id="{5B0B9711-3F10-46E9-BD16-3B1F098A44E0}"/>
                </a:ext>
              </a:extLst>
            </p:cNvPr>
            <p:cNvSpPr txBox="1"/>
            <p:nvPr/>
          </p:nvSpPr>
          <p:spPr>
            <a:xfrm>
              <a:off x="1104798" y="2892549"/>
              <a:ext cx="9030441" cy="1522004"/>
            </a:xfrm>
            <a:prstGeom prst="roundRect">
              <a:avLst>
                <a:gd name="adj" fmla="val 6411"/>
              </a:avLst>
            </a:prstGeom>
            <a:solidFill>
              <a:srgbClr val="FFFFFF"/>
            </a:solidFill>
            <a:ln w="12700" cap="sq">
              <a:solidFill>
                <a:srgbClr val="454666"/>
              </a:solidFill>
              <a:miter/>
            </a:ln>
          </p:spPr>
          <p:txBody>
            <a:bodyPr vert="horz" wrap="square"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54" name="标题 1">
              <a:extLst>
                <a:ext uri="{FF2B5EF4-FFF2-40B4-BE49-F238E27FC236}">
                  <a16:creationId xmlns:a16="http://schemas.microsoft.com/office/drawing/2014/main" id="{48E5434B-F0FD-4429-883E-CB3C50CA221B}"/>
                </a:ext>
              </a:extLst>
            </p:cNvPr>
            <p:cNvSpPr txBox="1"/>
            <p:nvPr/>
          </p:nvSpPr>
          <p:spPr>
            <a:xfrm>
              <a:off x="1524400" y="3316727"/>
              <a:ext cx="8450180" cy="967740"/>
            </a:xfrm>
            <a:prstGeom prst="rect">
              <a:avLst/>
            </a:prstGeom>
            <a:noFill/>
            <a:ln>
              <a:noFill/>
            </a:ln>
          </p:spPr>
          <p:txBody>
            <a:bodyPr vert="horz" wrap="square" lIns="0" tIns="0" rIns="0" bIns="0" rtlCol="0" anchor="ctr"/>
            <a:lstStyle/>
            <a:p>
              <a:pPr fontAlgn="auto">
                <a:spcBef>
                  <a:spcPts val="0"/>
                </a:spcBef>
                <a:spcAft>
                  <a:spcPts val="0"/>
                </a:spcAft>
                <a:buSzTx/>
                <a:buFontTx/>
                <a:buNone/>
              </a:pPr>
              <a:r>
                <a:rPr lang="en-US" altLang="zh-CN" sz="1800" dirty="0">
                  <a:ln w="12700">
                    <a:noFill/>
                  </a:ln>
                  <a:solidFill>
                    <a:srgbClr val="262626">
                      <a:alpha val="100000"/>
                    </a:srgbClr>
                  </a:solidFill>
                  <a:effectLst/>
                  <a:latin typeface="Source Han Sans"/>
                  <a:ea typeface="Source Han Sans"/>
                  <a:cs typeface="Source Han Sans"/>
                </a:rPr>
                <a:t>在全球化背景下，数据库安全与国家主权紧密相连。数据库中存储的数据往往涉及国家机密和关键信息，一旦受到外部攻击或非法访问，将对国家主权构成威胁。因此，加强数据库安全保护，是维护国家主权和尊严的必要措施。</a:t>
              </a:r>
              <a:endParaRPr lang="zh-CN" altLang="en-US" sz="2400" dirty="0">
                <a:solidFill>
                  <a:srgbClr val="000000"/>
                </a:solidFill>
                <a:effectLst/>
                <a:latin typeface="等线" panose="020F0502020204030204"/>
                <a:ea typeface="等线" panose="02010600030101010101" pitchFamily="2" charset="-122"/>
              </a:endParaRPr>
            </a:p>
          </p:txBody>
        </p:sp>
        <p:sp>
          <p:nvSpPr>
            <p:cNvPr id="55" name="标题 1">
              <a:extLst>
                <a:ext uri="{FF2B5EF4-FFF2-40B4-BE49-F238E27FC236}">
                  <a16:creationId xmlns:a16="http://schemas.microsoft.com/office/drawing/2014/main" id="{02F77AC4-92CA-4715-8E88-F13E9632CB34}"/>
                </a:ext>
              </a:extLst>
            </p:cNvPr>
            <p:cNvSpPr txBox="1"/>
            <p:nvPr/>
          </p:nvSpPr>
          <p:spPr>
            <a:xfrm>
              <a:off x="2450359" y="4654796"/>
              <a:ext cx="9030441" cy="1522004"/>
            </a:xfrm>
            <a:prstGeom prst="roundRect">
              <a:avLst>
                <a:gd name="adj" fmla="val 6411"/>
              </a:avLst>
            </a:prstGeom>
            <a:solidFill>
              <a:srgbClr val="FFFFFF"/>
            </a:solidFill>
            <a:ln w="12700" cap="sq">
              <a:solidFill>
                <a:srgbClr val="545479"/>
              </a:solidFill>
              <a:miter/>
            </a:ln>
          </p:spPr>
          <p:txBody>
            <a:bodyPr vert="horz" wrap="square"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56" name="标题 1">
              <a:extLst>
                <a:ext uri="{FF2B5EF4-FFF2-40B4-BE49-F238E27FC236}">
                  <a16:creationId xmlns:a16="http://schemas.microsoft.com/office/drawing/2014/main" id="{81DA14F1-5FBD-411F-93C4-538BC560B0B3}"/>
                </a:ext>
              </a:extLst>
            </p:cNvPr>
            <p:cNvSpPr txBox="1"/>
            <p:nvPr/>
          </p:nvSpPr>
          <p:spPr>
            <a:xfrm>
              <a:off x="2889090" y="5116154"/>
              <a:ext cx="8450180" cy="967740"/>
            </a:xfrm>
            <a:prstGeom prst="rect">
              <a:avLst/>
            </a:prstGeom>
            <a:noFill/>
            <a:ln>
              <a:noFill/>
            </a:ln>
          </p:spPr>
          <p:txBody>
            <a:bodyPr vert="horz" wrap="square" lIns="0" tIns="0" rIns="0" bIns="0" rtlCol="0" anchor="ctr"/>
            <a:lstStyle/>
            <a:p>
              <a:pPr fontAlgn="auto">
                <a:spcBef>
                  <a:spcPts val="0"/>
                </a:spcBef>
                <a:spcAft>
                  <a:spcPts val="0"/>
                </a:spcAft>
                <a:buSzTx/>
                <a:buFontTx/>
                <a:buNone/>
              </a:pPr>
              <a:r>
                <a:rPr lang="en-US" altLang="zh-CN" sz="1800" dirty="0">
                  <a:ln w="12700">
                    <a:noFill/>
                  </a:ln>
                  <a:solidFill>
                    <a:srgbClr val="262626">
                      <a:alpha val="100000"/>
                    </a:srgbClr>
                  </a:solidFill>
                  <a:effectLst/>
                  <a:latin typeface="Source Han Sans"/>
                  <a:ea typeface="Source Han Sans"/>
                  <a:cs typeface="Source Han Sans"/>
                </a:rPr>
                <a:t>数据库技术是国家竞争力的重要体现。在国际政治和经济竞争中，数据库安全能力的提升有助于保护国家利益，增强国家的国际话语权。通过加强数据库安全保护，可以有效地防止外国势力对我国数据的非法获取和利用，维护国家在全球数据竞争中的地位。</a:t>
              </a:r>
              <a:endParaRPr lang="zh-CN" altLang="en-US" sz="2400" dirty="0">
                <a:solidFill>
                  <a:srgbClr val="000000"/>
                </a:solidFill>
                <a:effectLst/>
                <a:latin typeface="等线" panose="020F0502020204030204"/>
                <a:ea typeface="等线" panose="02010600030101010101" pitchFamily="2" charset="-122"/>
              </a:endParaRPr>
            </a:p>
          </p:txBody>
        </p:sp>
        <p:sp>
          <p:nvSpPr>
            <p:cNvPr id="57" name="标题 1">
              <a:extLst>
                <a:ext uri="{FF2B5EF4-FFF2-40B4-BE49-F238E27FC236}">
                  <a16:creationId xmlns:a16="http://schemas.microsoft.com/office/drawing/2014/main" id="{42328B5F-40CF-44B0-9506-749B55B25C34}"/>
                </a:ext>
              </a:extLst>
            </p:cNvPr>
            <p:cNvSpPr txBox="1"/>
            <p:nvPr/>
          </p:nvSpPr>
          <p:spPr>
            <a:xfrm>
              <a:off x="2005961" y="1521927"/>
              <a:ext cx="741600" cy="7416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vert="horz" wrap="square"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6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58" name="标题 1">
              <a:extLst>
                <a:ext uri="{FF2B5EF4-FFF2-40B4-BE49-F238E27FC236}">
                  <a16:creationId xmlns:a16="http://schemas.microsoft.com/office/drawing/2014/main" id="{E059AA9B-DC32-4489-84B4-FF09AF7B24AF}"/>
                </a:ext>
              </a:extLst>
            </p:cNvPr>
            <p:cNvSpPr txBox="1"/>
            <p:nvPr/>
          </p:nvSpPr>
          <p:spPr>
            <a:xfrm>
              <a:off x="2153077" y="1643461"/>
              <a:ext cx="447368" cy="338554"/>
            </a:xfrm>
            <a:prstGeom prst="rect">
              <a:avLst/>
            </a:prstGeom>
            <a:noFill/>
            <a:ln>
              <a:noFill/>
            </a:ln>
          </p:spPr>
          <p:txBody>
            <a:bodyPr vert="horz" wrap="square" lIns="0" tIns="0" rIns="0" bIns="0" rtlCol="0" anchor="t"/>
            <a:lstStyle/>
            <a:p>
              <a:pPr algn="ctr" fontAlgn="auto">
                <a:spcBef>
                  <a:spcPts val="0"/>
                </a:spcBef>
                <a:spcAft>
                  <a:spcPts val="0"/>
                </a:spcAft>
                <a:buSzTx/>
                <a:buFontTx/>
                <a:buNone/>
              </a:pPr>
              <a:r>
                <a:rPr lang="en-US" altLang="zh-CN" dirty="0">
                  <a:ln w="12700">
                    <a:noFill/>
                  </a:ln>
                  <a:solidFill>
                    <a:srgbClr val="FFFFFF">
                      <a:alpha val="100000"/>
                    </a:srgbClr>
                  </a:solidFill>
                  <a:effectLst/>
                  <a:latin typeface="Segoe UI Black" panose="020B0A02040204020203" pitchFamily="34" charset="0"/>
                  <a:ea typeface="Segoe UI Black" panose="020B0A02040204020203" pitchFamily="34" charset="0"/>
                  <a:cs typeface="Source Han Sans"/>
                </a:rPr>
                <a:t>1</a:t>
              </a:r>
              <a:endParaRPr lang="zh-CN" altLang="en-US" sz="2400" dirty="0">
                <a:solidFill>
                  <a:srgbClr val="000000"/>
                </a:solidFill>
                <a:effectLst/>
                <a:latin typeface="Segoe UI Black" panose="020B0A02040204020203" pitchFamily="34" charset="0"/>
                <a:ea typeface="等线" panose="02010600030101010101" pitchFamily="2" charset="-122"/>
              </a:endParaRPr>
            </a:p>
          </p:txBody>
        </p:sp>
        <p:sp>
          <p:nvSpPr>
            <p:cNvPr id="59" name="标题 1">
              <a:extLst>
                <a:ext uri="{FF2B5EF4-FFF2-40B4-BE49-F238E27FC236}">
                  <a16:creationId xmlns:a16="http://schemas.microsoft.com/office/drawing/2014/main" id="{A33F212B-8212-4EA9-9992-55D0220879CA}"/>
                </a:ext>
              </a:extLst>
            </p:cNvPr>
            <p:cNvSpPr txBox="1"/>
            <p:nvPr/>
          </p:nvSpPr>
          <p:spPr>
            <a:xfrm>
              <a:off x="660400" y="3271234"/>
              <a:ext cx="741600" cy="7416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vert="horz" wrap="square"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6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60" name="标题 1">
              <a:extLst>
                <a:ext uri="{FF2B5EF4-FFF2-40B4-BE49-F238E27FC236}">
                  <a16:creationId xmlns:a16="http://schemas.microsoft.com/office/drawing/2014/main" id="{783FB6BD-A7E1-400F-8FD8-6E751062DB32}"/>
                </a:ext>
              </a:extLst>
            </p:cNvPr>
            <p:cNvSpPr txBox="1"/>
            <p:nvPr/>
          </p:nvSpPr>
          <p:spPr>
            <a:xfrm>
              <a:off x="824752" y="3397487"/>
              <a:ext cx="430131" cy="413825"/>
            </a:xfrm>
            <a:prstGeom prst="rect">
              <a:avLst/>
            </a:prstGeom>
            <a:noFill/>
            <a:ln>
              <a:noFill/>
            </a:ln>
          </p:spPr>
          <p:txBody>
            <a:bodyPr vert="horz" wrap="square" lIns="0" tIns="0" rIns="0" bIns="0" rtlCol="0" anchor="t"/>
            <a:lstStyle/>
            <a:p>
              <a:pPr algn="ctr" fontAlgn="auto">
                <a:spcBef>
                  <a:spcPts val="0"/>
                </a:spcBef>
                <a:spcAft>
                  <a:spcPts val="0"/>
                </a:spcAft>
                <a:buSzTx/>
                <a:buFontTx/>
                <a:buNone/>
              </a:pPr>
              <a:r>
                <a:rPr lang="en-US" altLang="zh-CN" dirty="0">
                  <a:ln w="12700">
                    <a:noFill/>
                  </a:ln>
                  <a:solidFill>
                    <a:srgbClr val="FFFFFF">
                      <a:alpha val="100000"/>
                    </a:srgbClr>
                  </a:solidFill>
                  <a:effectLst/>
                  <a:latin typeface="Segoe UI Black" panose="020B0A02040204020203" pitchFamily="34" charset="0"/>
                  <a:ea typeface="Segoe UI Black" panose="020B0A02040204020203" pitchFamily="34" charset="0"/>
                  <a:cs typeface="Source Han Sans"/>
                </a:rPr>
                <a:t>2</a:t>
              </a:r>
              <a:endParaRPr lang="zh-CN" altLang="en-US" sz="2400" dirty="0">
                <a:solidFill>
                  <a:srgbClr val="000000"/>
                </a:solidFill>
                <a:effectLst/>
                <a:latin typeface="Segoe UI Black" panose="020B0A02040204020203" pitchFamily="34" charset="0"/>
                <a:ea typeface="等线" panose="02010600030101010101" pitchFamily="2" charset="-122"/>
              </a:endParaRPr>
            </a:p>
          </p:txBody>
        </p:sp>
        <p:sp>
          <p:nvSpPr>
            <p:cNvPr id="61" name="标题 1">
              <a:extLst>
                <a:ext uri="{FF2B5EF4-FFF2-40B4-BE49-F238E27FC236}">
                  <a16:creationId xmlns:a16="http://schemas.microsoft.com/office/drawing/2014/main" id="{A260B4E0-66FC-40EB-9170-609C8E3873D3}"/>
                </a:ext>
              </a:extLst>
            </p:cNvPr>
            <p:cNvSpPr txBox="1"/>
            <p:nvPr/>
          </p:nvSpPr>
          <p:spPr>
            <a:xfrm>
              <a:off x="2005961" y="5028161"/>
              <a:ext cx="741600" cy="741600"/>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vert="horz" wrap="square"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6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62" name="标题 1">
              <a:extLst>
                <a:ext uri="{FF2B5EF4-FFF2-40B4-BE49-F238E27FC236}">
                  <a16:creationId xmlns:a16="http://schemas.microsoft.com/office/drawing/2014/main" id="{39E1D161-7D42-464E-8723-63237B1F0AA7}"/>
                </a:ext>
              </a:extLst>
            </p:cNvPr>
            <p:cNvSpPr txBox="1"/>
            <p:nvPr/>
          </p:nvSpPr>
          <p:spPr>
            <a:xfrm>
              <a:off x="2168658" y="5175771"/>
              <a:ext cx="447368" cy="338554"/>
            </a:xfrm>
            <a:prstGeom prst="rect">
              <a:avLst/>
            </a:prstGeom>
            <a:noFill/>
            <a:ln>
              <a:noFill/>
            </a:ln>
          </p:spPr>
          <p:txBody>
            <a:bodyPr vert="horz" wrap="square" lIns="0" tIns="0" rIns="0" bIns="0" rtlCol="0" anchor="t"/>
            <a:lstStyle/>
            <a:p>
              <a:pPr algn="ctr" fontAlgn="auto">
                <a:spcBef>
                  <a:spcPts val="0"/>
                </a:spcBef>
                <a:spcAft>
                  <a:spcPts val="0"/>
                </a:spcAft>
                <a:buSzTx/>
                <a:buFontTx/>
                <a:buNone/>
              </a:pPr>
              <a:r>
                <a:rPr lang="en-US" altLang="zh-CN" dirty="0">
                  <a:ln w="12700">
                    <a:noFill/>
                  </a:ln>
                  <a:solidFill>
                    <a:srgbClr val="FFFFFF">
                      <a:alpha val="100000"/>
                    </a:srgbClr>
                  </a:solidFill>
                  <a:effectLst/>
                  <a:latin typeface="Segoe UI Black" panose="020B0A02040204020203" pitchFamily="34" charset="0"/>
                  <a:ea typeface="Segoe UI Black" panose="020B0A02040204020203" pitchFamily="34" charset="0"/>
                  <a:cs typeface="Source Han Sans"/>
                </a:rPr>
                <a:t>3</a:t>
              </a:r>
              <a:endParaRPr lang="zh-CN" altLang="en-US" sz="2400" dirty="0">
                <a:solidFill>
                  <a:srgbClr val="000000"/>
                </a:solidFill>
                <a:effectLst/>
                <a:latin typeface="Segoe UI Black" panose="020B0A02040204020203" pitchFamily="34" charset="0"/>
                <a:ea typeface="等线" panose="02010600030101010101" pitchFamily="2" charset="-122"/>
              </a:endParaRPr>
            </a:p>
          </p:txBody>
        </p:sp>
        <p:sp>
          <p:nvSpPr>
            <p:cNvPr id="63" name="标题 1">
              <a:extLst>
                <a:ext uri="{FF2B5EF4-FFF2-40B4-BE49-F238E27FC236}">
                  <a16:creationId xmlns:a16="http://schemas.microsoft.com/office/drawing/2014/main" id="{01CD3749-E2F2-4912-9A5F-5095BDAD0DDE}"/>
                </a:ext>
              </a:extLst>
            </p:cNvPr>
            <p:cNvSpPr txBox="1"/>
            <p:nvPr/>
          </p:nvSpPr>
          <p:spPr>
            <a:xfrm>
              <a:off x="2044061" y="1445727"/>
              <a:ext cx="126253" cy="126253"/>
            </a:xfrm>
            <a:prstGeom prst="ellipse">
              <a:avLst/>
            </a:prstGeom>
            <a:solidFill>
              <a:srgbClr val="545479">
                <a:lumMod val="40000"/>
                <a:lumOff val="60000"/>
              </a:srgbClr>
            </a:solidFill>
            <a:ln w="12700" cap="sq">
              <a:noFill/>
              <a:miter/>
            </a:ln>
          </p:spPr>
          <p:txBody>
            <a:bodyPr vert="horz" wrap="square"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64" name="标题 1">
              <a:extLst>
                <a:ext uri="{FF2B5EF4-FFF2-40B4-BE49-F238E27FC236}">
                  <a16:creationId xmlns:a16="http://schemas.microsoft.com/office/drawing/2014/main" id="{A7A5BC18-8250-4D97-BD7E-B564401BE0E0}"/>
                </a:ext>
              </a:extLst>
            </p:cNvPr>
            <p:cNvSpPr txBox="1"/>
            <p:nvPr/>
          </p:nvSpPr>
          <p:spPr>
            <a:xfrm>
              <a:off x="698500" y="3195034"/>
              <a:ext cx="126253" cy="126253"/>
            </a:xfrm>
            <a:prstGeom prst="ellipse">
              <a:avLst/>
            </a:prstGeom>
            <a:solidFill>
              <a:srgbClr val="454666">
                <a:lumMod val="40000"/>
                <a:lumOff val="60000"/>
              </a:srgbClr>
            </a:solidFill>
            <a:ln w="12700" cap="sq">
              <a:noFill/>
              <a:miter/>
            </a:ln>
          </p:spPr>
          <p:txBody>
            <a:bodyPr vert="horz" wrap="square"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65" name="标题 1">
              <a:extLst>
                <a:ext uri="{FF2B5EF4-FFF2-40B4-BE49-F238E27FC236}">
                  <a16:creationId xmlns:a16="http://schemas.microsoft.com/office/drawing/2014/main" id="{2859C5BE-109D-489D-8C01-655A736F1E14}"/>
                </a:ext>
              </a:extLst>
            </p:cNvPr>
            <p:cNvSpPr txBox="1"/>
            <p:nvPr/>
          </p:nvSpPr>
          <p:spPr>
            <a:xfrm>
              <a:off x="2044061" y="4951961"/>
              <a:ext cx="126253" cy="126253"/>
            </a:xfrm>
            <a:prstGeom prst="ellipse">
              <a:avLst/>
            </a:prstGeom>
            <a:solidFill>
              <a:srgbClr val="545479">
                <a:lumMod val="40000"/>
                <a:lumOff val="60000"/>
              </a:srgbClr>
            </a:solidFill>
            <a:ln w="12700" cap="sq">
              <a:noFill/>
              <a:miter/>
            </a:ln>
          </p:spPr>
          <p:txBody>
            <a:bodyPr vert="horz" wrap="square"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rgbClr val="000000"/>
                </a:solidFill>
                <a:effectLst/>
                <a:uLnTx/>
                <a:uFillTx/>
                <a:latin typeface="等线" panose="020F0502020204030204"/>
                <a:ea typeface="等线" panose="02010600030101010101" pitchFamily="2" charset="-122"/>
              </a:endParaRPr>
            </a:p>
          </p:txBody>
        </p:sp>
        <p:sp>
          <p:nvSpPr>
            <p:cNvPr id="66" name="标题 1">
              <a:extLst>
                <a:ext uri="{FF2B5EF4-FFF2-40B4-BE49-F238E27FC236}">
                  <a16:creationId xmlns:a16="http://schemas.microsoft.com/office/drawing/2014/main" id="{CF85EB76-3A3B-4707-A7AC-A15B14496B62}"/>
                </a:ext>
              </a:extLst>
            </p:cNvPr>
            <p:cNvSpPr txBox="1"/>
            <p:nvPr/>
          </p:nvSpPr>
          <p:spPr>
            <a:xfrm>
              <a:off x="2869960" y="1183139"/>
              <a:ext cx="8449200" cy="338554"/>
            </a:xfrm>
            <a:prstGeom prst="rect">
              <a:avLst/>
            </a:prstGeom>
            <a:noFill/>
            <a:ln>
              <a:noFill/>
            </a:ln>
          </p:spPr>
          <p:txBody>
            <a:bodyPr vert="horz" wrap="square" lIns="0" tIns="0" rIns="0" bIns="0" rtlCol="0" anchor="ctr"/>
            <a:lstStyle/>
            <a:p>
              <a:pPr fontAlgn="auto">
                <a:spcBef>
                  <a:spcPts val="0"/>
                </a:spcBef>
                <a:spcAft>
                  <a:spcPts val="0"/>
                </a:spcAft>
                <a:buSzTx/>
                <a:buFontTx/>
                <a:buNone/>
              </a:pPr>
              <a:r>
                <a:rPr lang="en-US" altLang="zh-CN" sz="2400" b="1" dirty="0" err="1">
                  <a:ln w="12700">
                    <a:noFill/>
                  </a:ln>
                  <a:solidFill>
                    <a:srgbClr val="C00000"/>
                  </a:solidFill>
                  <a:effectLst/>
                  <a:latin typeface="微软雅黑" panose="020B0503020204020204" pitchFamily="34" charset="-122"/>
                  <a:ea typeface="微软雅黑" panose="020B0503020204020204" pitchFamily="34" charset="-122"/>
                  <a:cs typeface="Source Han Sans CN Bold"/>
                </a:rPr>
                <a:t>数据库安全的国家战略意义</a:t>
              </a:r>
              <a:endParaRPr lang="zh-CN" altLang="en-US" sz="2800" b="1" dirty="0">
                <a:solidFill>
                  <a:srgbClr val="C00000"/>
                </a:solidFill>
                <a:effectLst/>
                <a:latin typeface="微软雅黑" panose="020B0503020204020204" pitchFamily="34" charset="-122"/>
                <a:ea typeface="微软雅黑" panose="020B0503020204020204" pitchFamily="34" charset="-122"/>
              </a:endParaRPr>
            </a:p>
          </p:txBody>
        </p:sp>
        <p:sp>
          <p:nvSpPr>
            <p:cNvPr id="67" name="标题 1">
              <a:extLst>
                <a:ext uri="{FF2B5EF4-FFF2-40B4-BE49-F238E27FC236}">
                  <a16:creationId xmlns:a16="http://schemas.microsoft.com/office/drawing/2014/main" id="{41D897D8-17F4-4042-AAB9-85C00FA7988F}"/>
                </a:ext>
              </a:extLst>
            </p:cNvPr>
            <p:cNvSpPr txBox="1"/>
            <p:nvPr/>
          </p:nvSpPr>
          <p:spPr>
            <a:xfrm>
              <a:off x="2869960" y="4688512"/>
              <a:ext cx="8449200" cy="338554"/>
            </a:xfrm>
            <a:prstGeom prst="rect">
              <a:avLst/>
            </a:prstGeom>
            <a:noFill/>
            <a:ln>
              <a:noFill/>
            </a:ln>
          </p:spPr>
          <p:txBody>
            <a:bodyPr vert="horz" wrap="square" lIns="0" tIns="0" rIns="0" bIns="0" rtlCol="0" anchor="ctr"/>
            <a:lstStyle>
              <a:defPPr>
                <a:defRPr lang="en-US"/>
              </a:defPPr>
              <a:lvl1pPr fontAlgn="auto">
                <a:spcBef>
                  <a:spcPts val="0"/>
                </a:spcBef>
                <a:spcAft>
                  <a:spcPts val="0"/>
                </a:spcAft>
                <a:buSzTx/>
                <a:buFontTx/>
                <a:buNone/>
                <a:defRPr sz="2400" b="1">
                  <a:ln w="12700">
                    <a:noFill/>
                  </a:ln>
                  <a:solidFill>
                    <a:srgbClr val="262626">
                      <a:alpha val="100000"/>
                    </a:srgbClr>
                  </a:solidFill>
                  <a:effectLst/>
                  <a:latin typeface="微软雅黑" panose="020B0503020204020204" pitchFamily="34" charset="-122"/>
                  <a:ea typeface="微软雅黑" panose="020B0503020204020204" pitchFamily="34" charset="-122"/>
                  <a:cs typeface="Source Han Sans CN Bold"/>
                </a:defRPr>
              </a:lvl1pPr>
            </a:lstStyle>
            <a:p>
              <a:r>
                <a:rPr lang="en-US" altLang="zh-CN" dirty="0" err="1">
                  <a:solidFill>
                    <a:srgbClr val="C00000"/>
                  </a:solidFill>
                </a:rPr>
                <a:t>数据库安全与国际竞争</a:t>
              </a:r>
              <a:endParaRPr lang="zh-CN" altLang="en-US" dirty="0">
                <a:solidFill>
                  <a:srgbClr val="C00000"/>
                </a:solidFill>
              </a:endParaRPr>
            </a:p>
          </p:txBody>
        </p:sp>
        <p:sp>
          <p:nvSpPr>
            <p:cNvPr id="68" name="标题 1">
              <a:extLst>
                <a:ext uri="{FF2B5EF4-FFF2-40B4-BE49-F238E27FC236}">
                  <a16:creationId xmlns:a16="http://schemas.microsoft.com/office/drawing/2014/main" id="{DEBF862C-55AF-4A77-80A2-1653949ED314}"/>
                </a:ext>
              </a:extLst>
            </p:cNvPr>
            <p:cNvSpPr txBox="1"/>
            <p:nvPr/>
          </p:nvSpPr>
          <p:spPr>
            <a:xfrm>
              <a:off x="1528138" y="3002099"/>
              <a:ext cx="8449200" cy="338554"/>
            </a:xfrm>
            <a:prstGeom prst="rect">
              <a:avLst/>
            </a:prstGeom>
            <a:noFill/>
            <a:ln>
              <a:noFill/>
            </a:ln>
          </p:spPr>
          <p:txBody>
            <a:bodyPr vert="horz" wrap="square" lIns="0" tIns="0" rIns="0" bIns="0" rtlCol="0" anchor="ctr"/>
            <a:lstStyle>
              <a:defPPr>
                <a:defRPr lang="en-US"/>
              </a:defPPr>
              <a:lvl1pPr fontAlgn="auto">
                <a:spcBef>
                  <a:spcPts val="0"/>
                </a:spcBef>
                <a:spcAft>
                  <a:spcPts val="0"/>
                </a:spcAft>
                <a:buSzTx/>
                <a:buFontTx/>
                <a:buNone/>
                <a:defRPr sz="2400" b="1">
                  <a:ln w="12700">
                    <a:noFill/>
                  </a:ln>
                  <a:solidFill>
                    <a:srgbClr val="262626">
                      <a:alpha val="100000"/>
                    </a:srgbClr>
                  </a:solidFill>
                  <a:effectLst/>
                  <a:latin typeface="微软雅黑" panose="020B0503020204020204" pitchFamily="34" charset="-122"/>
                  <a:ea typeface="微软雅黑" panose="020B0503020204020204" pitchFamily="34" charset="-122"/>
                  <a:cs typeface="Source Han Sans CN Bold"/>
                </a:defRPr>
              </a:lvl1pPr>
            </a:lstStyle>
            <a:p>
              <a:r>
                <a:rPr lang="en-US" altLang="zh-CN" dirty="0" err="1">
                  <a:solidFill>
                    <a:srgbClr val="C00000"/>
                  </a:solidFill>
                </a:rPr>
                <a:t>数据库安全与国家主权</a:t>
              </a:r>
              <a:endParaRPr lang="zh-CN" altLang="en-US" dirty="0">
                <a:solidFill>
                  <a:srgbClr val="C00000"/>
                </a:solidFill>
              </a:endParaRPr>
            </a:p>
          </p:txBody>
        </p:sp>
      </p:grpSp>
    </p:spTree>
    <p:extLst>
      <p:ext uri="{BB962C8B-B14F-4D97-AF65-F5344CB8AC3E}">
        <p14:creationId xmlns:p14="http://schemas.microsoft.com/office/powerpoint/2010/main" val="1127507035"/>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title"/>
          </p:nvPr>
        </p:nvSpPr>
        <p:spPr>
          <a:xfrm>
            <a:off x="1089045" y="86584"/>
            <a:ext cx="6300938"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dirty="0">
                <a:solidFill>
                  <a:srgbClr val="FFFFCC"/>
                </a:solidFill>
                <a:effectLst>
                  <a:outerShdw blurRad="38100" dist="38100" dir="2700000" algn="tl">
                    <a:srgbClr val="000000"/>
                  </a:outerShdw>
                </a:effectLst>
                <a:latin typeface="Arial" pitchFamily="34" charset="0"/>
              </a:rPr>
              <a:t>中华人民共和国数据安全法</a:t>
            </a:r>
          </a:p>
        </p:txBody>
      </p:sp>
      <p:pic>
        <p:nvPicPr>
          <p:cNvPr id="3" name="图片 2">
            <a:extLst>
              <a:ext uri="{FF2B5EF4-FFF2-40B4-BE49-F238E27FC236}">
                <a16:creationId xmlns:a16="http://schemas.microsoft.com/office/drawing/2014/main" id="{D24DC5DD-9A1C-409B-B1F5-959C6CB6B3E9}"/>
              </a:ext>
            </a:extLst>
          </p:cNvPr>
          <p:cNvPicPr>
            <a:picLocks noChangeAspect="1"/>
          </p:cNvPicPr>
          <p:nvPr/>
        </p:nvPicPr>
        <p:blipFill>
          <a:blip r:embed="rId2"/>
          <a:stretch>
            <a:fillRect/>
          </a:stretch>
        </p:blipFill>
        <p:spPr>
          <a:xfrm>
            <a:off x="1005964" y="980728"/>
            <a:ext cx="10180071" cy="5472608"/>
          </a:xfrm>
          <a:prstGeom prst="rect">
            <a:avLst/>
          </a:prstGeom>
          <a:ln w="38100">
            <a:solidFill>
              <a:srgbClr val="FF0000"/>
            </a:solidFill>
          </a:ln>
        </p:spPr>
      </p:pic>
    </p:spTree>
    <p:extLst>
      <p:ext uri="{BB962C8B-B14F-4D97-AF65-F5344CB8AC3E}">
        <p14:creationId xmlns:p14="http://schemas.microsoft.com/office/powerpoint/2010/main" val="4146569900"/>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title"/>
          </p:nvPr>
        </p:nvSpPr>
        <p:spPr>
          <a:xfrm>
            <a:off x="1089045" y="86584"/>
            <a:ext cx="4276345"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dirty="0">
                <a:solidFill>
                  <a:srgbClr val="FFFFCC"/>
                </a:solidFill>
                <a:effectLst>
                  <a:outerShdw blurRad="38100" dist="38100" dir="2700000" algn="tl">
                    <a:srgbClr val="000000"/>
                  </a:outerShdw>
                </a:effectLst>
                <a:latin typeface="Arial" pitchFamily="34" charset="0"/>
              </a:rPr>
              <a:t>数据安全问题案例</a:t>
            </a:r>
          </a:p>
        </p:txBody>
      </p:sp>
      <p:sp>
        <p:nvSpPr>
          <p:cNvPr id="5" name="矩形 4">
            <a:extLst>
              <a:ext uri="{FF2B5EF4-FFF2-40B4-BE49-F238E27FC236}">
                <a16:creationId xmlns:a16="http://schemas.microsoft.com/office/drawing/2014/main" id="{2E6BBDF3-2978-4BDC-8DD3-C7EE0FE05B99}"/>
              </a:ext>
            </a:extLst>
          </p:cNvPr>
          <p:cNvSpPr/>
          <p:nvPr/>
        </p:nvSpPr>
        <p:spPr>
          <a:xfrm>
            <a:off x="407368" y="1052736"/>
            <a:ext cx="11233248" cy="5539978"/>
          </a:xfrm>
          <a:prstGeom prst="rect">
            <a:avLst/>
          </a:prstGeom>
        </p:spPr>
        <p:txBody>
          <a:bodyPr wrap="square">
            <a:spAutoFit/>
          </a:bodyPr>
          <a:lstStyle/>
          <a:p>
            <a:pPr marL="342900" indent="-342900">
              <a:buFont typeface="Arial" panose="020B0604020202020204" pitchFamily="34" charset="0"/>
              <a:buChar char="•"/>
            </a:pPr>
            <a:r>
              <a:rPr lang="en-US" altLang="zh-CN" sz="2400" b="1" dirty="0">
                <a:solidFill>
                  <a:srgbClr val="FFFF00"/>
                </a:solidFill>
                <a:effectLst/>
                <a:latin typeface="-apple-system"/>
              </a:rPr>
              <a:t>45</a:t>
            </a:r>
            <a:r>
              <a:rPr lang="zh-CN" altLang="en-US" sz="2400" b="1" dirty="0">
                <a:solidFill>
                  <a:srgbClr val="FFFF00"/>
                </a:solidFill>
                <a:effectLst/>
                <a:latin typeface="-apple-system"/>
              </a:rPr>
              <a:t>亿国内快递信息遭泄露</a:t>
            </a:r>
            <a:r>
              <a:rPr lang="zh-CN" altLang="en-US" sz="2400" dirty="0">
                <a:solidFill>
                  <a:srgbClr val="FFFF00"/>
                </a:solidFill>
                <a:effectLst/>
                <a:latin typeface="-apple-system"/>
              </a:rPr>
              <a:t>：</a:t>
            </a:r>
            <a:r>
              <a:rPr lang="en-US" altLang="zh-CN" sz="2400" dirty="0">
                <a:solidFill>
                  <a:schemeClr val="accent3">
                    <a:lumMod val="20000"/>
                    <a:lumOff val="80000"/>
                  </a:schemeClr>
                </a:solidFill>
                <a:effectLst/>
                <a:latin typeface="-apple-system"/>
              </a:rPr>
              <a:t>2023</a:t>
            </a:r>
            <a:r>
              <a:rPr lang="zh-CN" altLang="en-US" sz="2400" dirty="0">
                <a:solidFill>
                  <a:schemeClr val="accent3">
                    <a:lumMod val="20000"/>
                    <a:lumOff val="80000"/>
                  </a:schemeClr>
                </a:solidFill>
                <a:effectLst/>
                <a:latin typeface="-apple-system"/>
              </a:rPr>
              <a:t>年</a:t>
            </a:r>
            <a:r>
              <a:rPr lang="en-US" altLang="zh-CN" sz="2400" dirty="0">
                <a:solidFill>
                  <a:schemeClr val="accent3">
                    <a:lumMod val="20000"/>
                    <a:lumOff val="80000"/>
                  </a:schemeClr>
                </a:solidFill>
                <a:effectLst/>
                <a:latin typeface="-apple-system"/>
              </a:rPr>
              <a:t>2</a:t>
            </a:r>
            <a:r>
              <a:rPr lang="zh-CN" altLang="en-US" sz="2400" dirty="0">
                <a:solidFill>
                  <a:schemeClr val="accent3">
                    <a:lumMod val="20000"/>
                    <a:lumOff val="80000"/>
                  </a:schemeClr>
                </a:solidFill>
                <a:effectLst/>
                <a:latin typeface="-apple-system"/>
              </a:rPr>
              <a:t>月，</a:t>
            </a:r>
            <a:r>
              <a:rPr lang="en-US" altLang="zh-CN" sz="2400" dirty="0">
                <a:solidFill>
                  <a:schemeClr val="accent3">
                    <a:lumMod val="20000"/>
                    <a:lumOff val="80000"/>
                  </a:schemeClr>
                </a:solidFill>
                <a:effectLst/>
                <a:latin typeface="-apple-system"/>
              </a:rPr>
              <a:t>Telegram</a:t>
            </a:r>
            <a:r>
              <a:rPr lang="zh-CN" altLang="en-US" sz="2400" dirty="0">
                <a:solidFill>
                  <a:schemeClr val="accent3">
                    <a:lumMod val="20000"/>
                    <a:lumOff val="80000"/>
                  </a:schemeClr>
                </a:solidFill>
                <a:effectLst/>
                <a:latin typeface="-apple-system"/>
              </a:rPr>
              <a:t>查询机器人被爆泄露国内</a:t>
            </a:r>
            <a:r>
              <a:rPr lang="en-US" altLang="zh-CN" sz="2400" dirty="0">
                <a:solidFill>
                  <a:schemeClr val="accent3">
                    <a:lumMod val="20000"/>
                    <a:lumOff val="80000"/>
                  </a:schemeClr>
                </a:solidFill>
                <a:effectLst/>
                <a:latin typeface="-apple-system"/>
              </a:rPr>
              <a:t>45</a:t>
            </a:r>
            <a:r>
              <a:rPr lang="zh-CN" altLang="en-US" sz="2400" dirty="0">
                <a:solidFill>
                  <a:schemeClr val="accent3">
                    <a:lumMod val="20000"/>
                    <a:lumOff val="80000"/>
                  </a:schemeClr>
                </a:solidFill>
                <a:effectLst/>
                <a:latin typeface="-apple-system"/>
              </a:rPr>
              <a:t>亿条个人信息，数据主要来自各快递平台以及淘宝、京东等购物网站，包含用户真实姓名、电话与住址等。</a:t>
            </a:r>
          </a:p>
          <a:p>
            <a:pPr marL="342900" indent="-342900">
              <a:buFont typeface="Arial" panose="020B0604020202020204" pitchFamily="34" charset="0"/>
              <a:buChar char="•"/>
            </a:pPr>
            <a:r>
              <a:rPr lang="zh-CN" altLang="en-US" sz="2400" b="1" dirty="0">
                <a:solidFill>
                  <a:srgbClr val="FFFF00"/>
                </a:solidFill>
                <a:effectLst/>
                <a:latin typeface="-apple-system"/>
              </a:rPr>
              <a:t>宿迁某医学检验机构不履行数据安全保护义务案</a:t>
            </a:r>
            <a:r>
              <a:rPr lang="zh-CN" altLang="en-US" sz="2400" dirty="0">
                <a:solidFill>
                  <a:srgbClr val="FFFF00"/>
                </a:solidFill>
                <a:effectLst/>
                <a:latin typeface="-apple-system"/>
              </a:rPr>
              <a:t>：</a:t>
            </a:r>
            <a:r>
              <a:rPr lang="en-US" altLang="zh-CN" sz="2400" dirty="0">
                <a:solidFill>
                  <a:schemeClr val="accent3">
                    <a:lumMod val="20000"/>
                    <a:lumOff val="80000"/>
                  </a:schemeClr>
                </a:solidFill>
                <a:effectLst/>
                <a:latin typeface="-apple-system"/>
              </a:rPr>
              <a:t>2023</a:t>
            </a:r>
            <a:r>
              <a:rPr lang="zh-CN" altLang="en-US" sz="2400" dirty="0">
                <a:solidFill>
                  <a:schemeClr val="accent3">
                    <a:lumMod val="20000"/>
                    <a:lumOff val="80000"/>
                  </a:schemeClr>
                </a:solidFill>
                <a:effectLst/>
                <a:latin typeface="-apple-system"/>
              </a:rPr>
              <a:t>年</a:t>
            </a:r>
            <a:r>
              <a:rPr lang="en-US" altLang="zh-CN" sz="2400" dirty="0">
                <a:solidFill>
                  <a:schemeClr val="accent3">
                    <a:lumMod val="20000"/>
                    <a:lumOff val="80000"/>
                  </a:schemeClr>
                </a:solidFill>
                <a:effectLst/>
                <a:latin typeface="-apple-system"/>
              </a:rPr>
              <a:t>9</a:t>
            </a:r>
            <a:r>
              <a:rPr lang="zh-CN" altLang="en-US" sz="2400" dirty="0">
                <a:solidFill>
                  <a:schemeClr val="accent3">
                    <a:lumMod val="20000"/>
                    <a:lumOff val="80000"/>
                  </a:schemeClr>
                </a:solidFill>
                <a:effectLst/>
                <a:latin typeface="-apple-system"/>
              </a:rPr>
              <a:t>月，江苏宿迁公安网安部门发现某医学检验机构运营的医学检验信息平台存在</a:t>
            </a:r>
            <a:r>
              <a:rPr lang="en-US" altLang="zh-CN" sz="2400" dirty="0">
                <a:solidFill>
                  <a:schemeClr val="accent3">
                    <a:lumMod val="20000"/>
                    <a:lumOff val="80000"/>
                  </a:schemeClr>
                </a:solidFill>
                <a:effectLst/>
                <a:latin typeface="-apple-system"/>
              </a:rPr>
              <a:t>SQL</a:t>
            </a:r>
            <a:r>
              <a:rPr lang="zh-CN" altLang="en-US" sz="2400" dirty="0">
                <a:solidFill>
                  <a:schemeClr val="accent3">
                    <a:lumMod val="20000"/>
                    <a:lumOff val="80000"/>
                  </a:schemeClr>
                </a:solidFill>
                <a:effectLst/>
                <a:latin typeface="-apple-system"/>
              </a:rPr>
              <a:t>注入漏洞、弱口令等网络安全隐患，可致敏感业务数据泄露，涉嫌未履行数据安全保护义务。</a:t>
            </a:r>
          </a:p>
          <a:p>
            <a:pPr marL="342900" indent="-342900">
              <a:buFont typeface="Arial" panose="020B0604020202020204" pitchFamily="34" charset="0"/>
              <a:buChar char="•"/>
            </a:pPr>
            <a:r>
              <a:rPr lang="en-US" altLang="zh-CN" sz="2400" b="1" dirty="0">
                <a:solidFill>
                  <a:srgbClr val="FFFF00"/>
                </a:solidFill>
                <a:effectLst/>
                <a:latin typeface="-apple-system"/>
              </a:rPr>
              <a:t>APP</a:t>
            </a:r>
            <a:r>
              <a:rPr lang="zh-CN" altLang="en-US" sz="2400" b="1" dirty="0">
                <a:solidFill>
                  <a:srgbClr val="FFFF00"/>
                </a:solidFill>
                <a:effectLst/>
                <a:latin typeface="-apple-system"/>
              </a:rPr>
              <a:t>相关数据库在公网暴露，杭州某科技公司被罚</a:t>
            </a:r>
            <a:r>
              <a:rPr lang="en-US" altLang="zh-CN" sz="2400" b="1" dirty="0">
                <a:solidFill>
                  <a:srgbClr val="FFFF00"/>
                </a:solidFill>
                <a:effectLst/>
                <a:latin typeface="-apple-system"/>
              </a:rPr>
              <a:t>5</a:t>
            </a:r>
            <a:r>
              <a:rPr lang="zh-CN" altLang="en-US" sz="2400" b="1" dirty="0">
                <a:solidFill>
                  <a:srgbClr val="FFFF00"/>
                </a:solidFill>
                <a:effectLst/>
                <a:latin typeface="-apple-system"/>
              </a:rPr>
              <a:t>万元</a:t>
            </a:r>
            <a:r>
              <a:rPr lang="zh-CN" altLang="en-US" sz="2400" dirty="0">
                <a:solidFill>
                  <a:srgbClr val="FFFF00"/>
                </a:solidFill>
                <a:effectLst/>
                <a:latin typeface="-apple-system"/>
              </a:rPr>
              <a:t>：</a:t>
            </a:r>
            <a:r>
              <a:rPr lang="en-US" altLang="zh-CN" sz="2400" dirty="0">
                <a:solidFill>
                  <a:schemeClr val="accent3">
                    <a:lumMod val="20000"/>
                    <a:lumOff val="80000"/>
                  </a:schemeClr>
                </a:solidFill>
                <a:effectLst/>
                <a:latin typeface="-apple-system"/>
              </a:rPr>
              <a:t>2023</a:t>
            </a:r>
            <a:r>
              <a:rPr lang="zh-CN" altLang="en-US" sz="2400" dirty="0">
                <a:solidFill>
                  <a:schemeClr val="accent3">
                    <a:lumMod val="20000"/>
                    <a:lumOff val="80000"/>
                  </a:schemeClr>
                </a:solidFill>
                <a:effectLst/>
                <a:latin typeface="-apple-system"/>
              </a:rPr>
              <a:t>年</a:t>
            </a:r>
            <a:r>
              <a:rPr lang="en-US" altLang="zh-CN" sz="2400" dirty="0">
                <a:solidFill>
                  <a:schemeClr val="accent3">
                    <a:lumMod val="20000"/>
                    <a:lumOff val="80000"/>
                  </a:schemeClr>
                </a:solidFill>
                <a:effectLst/>
                <a:latin typeface="-apple-system"/>
              </a:rPr>
              <a:t>10</a:t>
            </a:r>
            <a:r>
              <a:rPr lang="zh-CN" altLang="en-US" sz="2400" dirty="0">
                <a:solidFill>
                  <a:schemeClr val="accent3">
                    <a:lumMod val="20000"/>
                    <a:lumOff val="80000"/>
                  </a:schemeClr>
                </a:solidFill>
                <a:effectLst/>
                <a:latin typeface="-apple-system"/>
              </a:rPr>
              <a:t>月，杭州某科技公司旗下某生活类</a:t>
            </a:r>
            <a:r>
              <a:rPr lang="en-US" altLang="zh-CN" sz="2400" dirty="0">
                <a:solidFill>
                  <a:schemeClr val="accent3">
                    <a:lumMod val="20000"/>
                    <a:lumOff val="80000"/>
                  </a:schemeClr>
                </a:solidFill>
                <a:effectLst/>
                <a:latin typeface="-apple-system"/>
              </a:rPr>
              <a:t>APP</a:t>
            </a:r>
            <a:r>
              <a:rPr lang="zh-CN" altLang="en-US" sz="2400" dirty="0">
                <a:solidFill>
                  <a:schemeClr val="accent3">
                    <a:lumMod val="20000"/>
                    <a:lumOff val="80000"/>
                  </a:schemeClr>
                </a:solidFill>
                <a:effectLst/>
                <a:latin typeface="-apple-system"/>
              </a:rPr>
              <a:t>相关数据库服务端口直接暴露在互联网环境中，存在未授权访问漏洞，未按要求履行数据安全保护义务，违反</a:t>
            </a:r>
            <a:r>
              <a:rPr lang="en-US" altLang="zh-CN" sz="2400" dirty="0">
                <a:solidFill>
                  <a:schemeClr val="accent3">
                    <a:lumMod val="20000"/>
                    <a:lumOff val="80000"/>
                  </a:schemeClr>
                </a:solidFill>
                <a:effectLst/>
                <a:latin typeface="-apple-system"/>
              </a:rPr>
              <a:t>《</a:t>
            </a:r>
            <a:r>
              <a:rPr lang="zh-CN" altLang="en-US" sz="2400" dirty="0">
                <a:solidFill>
                  <a:schemeClr val="accent3">
                    <a:lumMod val="20000"/>
                    <a:lumOff val="80000"/>
                  </a:schemeClr>
                </a:solidFill>
                <a:effectLst/>
                <a:latin typeface="-apple-system"/>
              </a:rPr>
              <a:t>数据安全法</a:t>
            </a:r>
            <a:r>
              <a:rPr lang="en-US" altLang="zh-CN" sz="2400" dirty="0">
                <a:solidFill>
                  <a:schemeClr val="accent3">
                    <a:lumMod val="20000"/>
                    <a:lumOff val="80000"/>
                  </a:schemeClr>
                </a:solidFill>
                <a:effectLst/>
                <a:latin typeface="-apple-system"/>
              </a:rPr>
              <a:t>》</a:t>
            </a:r>
            <a:r>
              <a:rPr lang="zh-CN" altLang="en-US" sz="2400" dirty="0">
                <a:solidFill>
                  <a:schemeClr val="accent3">
                    <a:lumMod val="20000"/>
                    <a:lumOff val="80000"/>
                  </a:schemeClr>
                </a:solidFill>
                <a:effectLst/>
                <a:latin typeface="-apple-system"/>
              </a:rPr>
              <a:t>第二十七条之规定，被处以罚款</a:t>
            </a:r>
            <a:r>
              <a:rPr lang="en-US" altLang="zh-CN" sz="2400" dirty="0">
                <a:solidFill>
                  <a:schemeClr val="accent3">
                    <a:lumMod val="20000"/>
                    <a:lumOff val="80000"/>
                  </a:schemeClr>
                </a:solidFill>
                <a:effectLst/>
                <a:latin typeface="-apple-system"/>
              </a:rPr>
              <a:t>5</a:t>
            </a:r>
            <a:r>
              <a:rPr lang="zh-CN" altLang="en-US" sz="2400" dirty="0">
                <a:solidFill>
                  <a:schemeClr val="accent3">
                    <a:lumMod val="20000"/>
                    <a:lumOff val="80000"/>
                  </a:schemeClr>
                </a:solidFill>
                <a:effectLst/>
                <a:latin typeface="-apple-system"/>
              </a:rPr>
              <a:t>万元。</a:t>
            </a:r>
          </a:p>
          <a:p>
            <a:pPr marL="342900" indent="-342900">
              <a:buFont typeface="Arial" panose="020B0604020202020204" pitchFamily="34" charset="0"/>
              <a:buChar char="•"/>
            </a:pPr>
            <a:r>
              <a:rPr lang="zh-CN" altLang="en-US" sz="2400" b="1" dirty="0">
                <a:solidFill>
                  <a:srgbClr val="FFFF00"/>
                </a:solidFill>
                <a:effectLst/>
                <a:latin typeface="-apple-system"/>
              </a:rPr>
              <a:t>交管</a:t>
            </a:r>
            <a:r>
              <a:rPr lang="en-US" altLang="zh-CN" sz="2400" b="1" dirty="0">
                <a:solidFill>
                  <a:srgbClr val="FFFF00"/>
                </a:solidFill>
                <a:effectLst/>
                <a:latin typeface="-apple-system"/>
              </a:rPr>
              <a:t>12123</a:t>
            </a:r>
            <a:r>
              <a:rPr lang="zh-CN" altLang="en-US" sz="2400" b="1" dirty="0">
                <a:solidFill>
                  <a:srgbClr val="FFFF00"/>
                </a:solidFill>
                <a:effectLst/>
                <a:latin typeface="-apple-system"/>
              </a:rPr>
              <a:t>信息系统遭“黄牛党”入侵，非法操作数百次</a:t>
            </a:r>
            <a:r>
              <a:rPr lang="zh-CN" altLang="en-US" sz="2400" dirty="0">
                <a:solidFill>
                  <a:srgbClr val="FFFF00"/>
                </a:solidFill>
                <a:effectLst/>
                <a:latin typeface="-apple-system"/>
              </a:rPr>
              <a:t>：</a:t>
            </a:r>
            <a:r>
              <a:rPr lang="en-US" altLang="zh-CN" sz="2400" dirty="0">
                <a:solidFill>
                  <a:schemeClr val="accent3">
                    <a:lumMod val="20000"/>
                    <a:lumOff val="80000"/>
                  </a:schemeClr>
                </a:solidFill>
                <a:effectLst/>
                <a:latin typeface="-apple-system"/>
              </a:rPr>
              <a:t>2023</a:t>
            </a:r>
            <a:r>
              <a:rPr lang="zh-CN" altLang="en-US" sz="2400" dirty="0">
                <a:solidFill>
                  <a:schemeClr val="accent3">
                    <a:lumMod val="20000"/>
                    <a:lumOff val="80000"/>
                  </a:schemeClr>
                </a:solidFill>
                <a:effectLst/>
                <a:latin typeface="-apple-system"/>
              </a:rPr>
              <a:t>年</a:t>
            </a:r>
            <a:r>
              <a:rPr lang="en-US" altLang="zh-CN" sz="2400" dirty="0">
                <a:solidFill>
                  <a:schemeClr val="accent3">
                    <a:lumMod val="20000"/>
                    <a:lumOff val="80000"/>
                  </a:schemeClr>
                </a:solidFill>
                <a:effectLst/>
                <a:latin typeface="-apple-system"/>
              </a:rPr>
              <a:t>10</a:t>
            </a:r>
            <a:r>
              <a:rPr lang="zh-CN" altLang="en-US" sz="2400" dirty="0">
                <a:solidFill>
                  <a:schemeClr val="accent3">
                    <a:lumMod val="20000"/>
                    <a:lumOff val="80000"/>
                  </a:schemeClr>
                </a:solidFill>
                <a:effectLst/>
                <a:latin typeface="-apple-system"/>
              </a:rPr>
              <a:t>月，无锡江阴市检察院办理了一起破坏计算机信息系统案，</a:t>
            </a:r>
            <a:r>
              <a:rPr lang="en-US" altLang="zh-CN" sz="2400" dirty="0">
                <a:solidFill>
                  <a:schemeClr val="accent3">
                    <a:lumMod val="20000"/>
                    <a:lumOff val="80000"/>
                  </a:schemeClr>
                </a:solidFill>
                <a:effectLst/>
                <a:latin typeface="-apple-system"/>
              </a:rPr>
              <a:t>10</a:t>
            </a:r>
            <a:r>
              <a:rPr lang="zh-CN" altLang="en-US" sz="2400" dirty="0">
                <a:solidFill>
                  <a:schemeClr val="accent3">
                    <a:lumMod val="20000"/>
                    <a:lumOff val="80000"/>
                  </a:schemeClr>
                </a:solidFill>
                <a:effectLst/>
                <a:latin typeface="-apple-system"/>
              </a:rPr>
              <a:t>名犯罪嫌疑人通过非法手段侵入交管“</a:t>
            </a:r>
            <a:r>
              <a:rPr lang="en-US" altLang="zh-CN" sz="2400" dirty="0">
                <a:solidFill>
                  <a:schemeClr val="accent3">
                    <a:lumMod val="20000"/>
                    <a:lumOff val="80000"/>
                  </a:schemeClr>
                </a:solidFill>
                <a:effectLst/>
                <a:latin typeface="-apple-system"/>
              </a:rPr>
              <a:t>12123”</a:t>
            </a:r>
            <a:r>
              <a:rPr lang="zh-CN" altLang="en-US" sz="2400" dirty="0">
                <a:solidFill>
                  <a:schemeClr val="accent3">
                    <a:lumMod val="20000"/>
                    <a:lumOff val="80000"/>
                  </a:schemeClr>
                </a:solidFill>
                <a:effectLst/>
                <a:latin typeface="-apple-system"/>
              </a:rPr>
              <a:t>系统，非法办理改绑手机号、补办行驶证、补办车牌等业务数百次，侵犯了个人隐私权和信息安全。</a:t>
            </a:r>
            <a:endParaRPr lang="zh-CN" altLang="en-US" sz="2400" b="0" i="0" dirty="0">
              <a:solidFill>
                <a:schemeClr val="accent3">
                  <a:lumMod val="20000"/>
                  <a:lumOff val="80000"/>
                </a:schemeClr>
              </a:solidFill>
              <a:effectLst/>
              <a:latin typeface="-apple-system"/>
            </a:endParaRPr>
          </a:p>
        </p:txBody>
      </p:sp>
    </p:spTree>
    <p:extLst>
      <p:ext uri="{BB962C8B-B14F-4D97-AF65-F5344CB8AC3E}">
        <p14:creationId xmlns:p14="http://schemas.microsoft.com/office/powerpoint/2010/main" val="1690416055"/>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127448" y="2276872"/>
            <a:ext cx="9753600" cy="2143125"/>
          </a:xfrm>
          <a:prstGeom prst="rect">
            <a:avLst/>
          </a:prstGeom>
          <a:noFill/>
        </p:spPr>
        <p:txBody>
          <a:bodyPr vert="horz" wrap="square" rtlCol="0" anchor="ctr" anchorCtr="0">
            <a:noAutofit/>
          </a:bodyPr>
          <a:lstStyle/>
          <a:p>
            <a:r>
              <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rPr>
              <a:t>假设我们要为一家全电子信息化的医院设计数据库系统，其中除了一些公开的如科室、医护人员的公开信息外，还存储着患者和医护人员的个人信息，以及患者的电子病历、诊断信息、药品记录等极度敏感的数据。</a:t>
            </a:r>
          </a:p>
          <a:p>
            <a:endPar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rPr>
              <a:t>尽可能全面地列举出这个医院数据库可能面临的安全威胁（可以从外部攻击、内部威胁、无意失误、物理安全等角度思考）。</a:t>
            </a:r>
          </a:p>
          <a:p>
            <a:endPar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endParaRPr>
          </a:p>
          <a:p>
            <a:r>
              <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rPr>
              <a:t>基于这些威胁，我们应该构建一个怎样的有纵深的安全防御体系？请描述这个体系的层次（例如：网络层、操作系统层、</a:t>
            </a:r>
            <a:r>
              <a:rPr lang="en-US" altLang="zh-CN" sz="2600" dirty="0">
                <a:latin typeface="Microsoft Yahei" panose="020B0503020204020204" pitchFamily="34" charset="-122"/>
                <a:ea typeface="Microsoft Yahei" panose="020B0503020204020204" pitchFamily="34" charset="-122"/>
                <a:sym typeface="Microsoft Yahei" panose="020B0503020204020204" pitchFamily="34" charset="-122"/>
              </a:rPr>
              <a:t>DBMS</a:t>
            </a:r>
            <a:r>
              <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rPr>
              <a:t>层、应用层、管理层面），并简要说明每个层次的关键防护措施。</a:t>
            </a:r>
          </a:p>
        </p:txBody>
      </p:sp>
      <p:sp>
        <p:nvSpPr>
          <p:cNvPr id="6" name="圆角矩形 5"/>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smtClean="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8" name="ColorBlock"/>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50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14670694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71406" y="260648"/>
            <a:ext cx="10440035" cy="5814427"/>
          </a:xfrm>
        </p:spPr>
        <p:txBody>
          <a:bodyPr>
            <a:normAutofit/>
          </a:bodyPr>
          <a:lstStyle/>
          <a:p>
            <a:pPr marL="0" indent="0">
              <a:buNone/>
            </a:pPr>
            <a:r>
              <a:rPr lang="zh-CN" altLang="en-US" sz="3200" b="1" dirty="0"/>
              <a:t>7.1.3 MySQL安全性概述</a:t>
            </a:r>
          </a:p>
          <a:p>
            <a:pPr marL="0" indent="0">
              <a:buNone/>
            </a:pPr>
            <a:r>
              <a:rPr lang="en-US" altLang="zh-CN" sz="2800" b="1" dirty="0"/>
              <a:t>1. </a:t>
            </a:r>
            <a:r>
              <a:rPr lang="zh-CN" altLang="en-US" sz="2800" b="1" dirty="0"/>
              <a:t>MySQL授权管理表</a:t>
            </a:r>
          </a:p>
          <a:p>
            <a:pPr marL="0" indent="0">
              <a:buNone/>
            </a:pPr>
            <a:r>
              <a:rPr lang="zh-CN" altLang="en-US" dirty="0"/>
              <a:t>      MySQL服务器通过MySQL权限表来控制用户对数据库的访问，安装MySQL数据库成功后会自动安装多个数据库。MySQL权限表存放在MySQL数据库里。</a:t>
            </a:r>
          </a:p>
          <a:p>
            <a:pPr marL="0" indent="0">
              <a:buNone/>
            </a:pPr>
            <a:r>
              <a:rPr lang="zh-CN" altLang="en-US" dirty="0"/>
              <a:t>      常用的与用户和权限有关的表包括：</a:t>
            </a:r>
          </a:p>
          <a:p>
            <a:pPr marL="0" indent="0">
              <a:buNone/>
            </a:pPr>
            <a:r>
              <a:rPr lang="zh-CN" altLang="en-US" b="1" dirty="0">
                <a:solidFill>
                  <a:srgbClr val="FF0000"/>
                </a:solidFill>
              </a:rPr>
              <a:t>（</a:t>
            </a:r>
            <a:r>
              <a:rPr lang="en-US" altLang="zh-CN" b="1" dirty="0">
                <a:solidFill>
                  <a:srgbClr val="FF0000"/>
                </a:solidFill>
              </a:rPr>
              <a:t>1</a:t>
            </a:r>
            <a:r>
              <a:rPr lang="zh-CN" altLang="en-US" b="1" dirty="0">
                <a:solidFill>
                  <a:srgbClr val="FF0000"/>
                </a:solidFill>
              </a:rPr>
              <a:t>）mysql.user表</a:t>
            </a:r>
          </a:p>
          <a:p>
            <a:pPr marL="0" indent="0">
              <a:buNone/>
            </a:pPr>
            <a:r>
              <a:rPr lang="zh-CN" altLang="en-US" b="1" dirty="0">
                <a:solidFill>
                  <a:srgbClr val="FF0000"/>
                </a:solidFill>
              </a:rPr>
              <a:t>（</a:t>
            </a:r>
            <a:r>
              <a:rPr lang="en-US" altLang="zh-CN" b="1" dirty="0">
                <a:solidFill>
                  <a:srgbClr val="FF0000"/>
                </a:solidFill>
              </a:rPr>
              <a:t>2</a:t>
            </a:r>
            <a:r>
              <a:rPr lang="zh-CN" altLang="en-US" b="1" dirty="0">
                <a:solidFill>
                  <a:srgbClr val="FF0000"/>
                </a:solidFill>
              </a:rPr>
              <a:t>）mysql.db表</a:t>
            </a:r>
          </a:p>
          <a:p>
            <a:pPr marL="0" indent="0">
              <a:buNone/>
            </a:pPr>
            <a:r>
              <a:rPr lang="zh-CN" altLang="en-US" b="1" dirty="0">
                <a:solidFill>
                  <a:srgbClr val="FF0000"/>
                </a:solidFill>
              </a:rPr>
              <a:t>（</a:t>
            </a:r>
            <a:r>
              <a:rPr lang="en-US" altLang="zh-CN" b="1" dirty="0">
                <a:solidFill>
                  <a:srgbClr val="FF0000"/>
                </a:solidFill>
              </a:rPr>
              <a:t>3</a:t>
            </a:r>
            <a:r>
              <a:rPr lang="zh-CN" altLang="en-US" b="1" dirty="0">
                <a:solidFill>
                  <a:srgbClr val="FF0000"/>
                </a:solidFill>
              </a:rPr>
              <a:t>）mysql.tables_priv表</a:t>
            </a:r>
          </a:p>
          <a:p>
            <a:pPr marL="0" indent="0">
              <a:buNone/>
            </a:pPr>
            <a:endParaRPr lang="zh-CN" altLang="en-US" b="1" dirty="0">
              <a:solidFill>
                <a:srgbClr val="FF0000"/>
              </a:solidFill>
            </a:endParaRPr>
          </a:p>
        </p:txBody>
      </p:sp>
      <p:sp>
        <p:nvSpPr>
          <p:cNvPr id="4" name="文本框 3"/>
          <p:cNvSpPr txBox="1"/>
          <p:nvPr/>
        </p:nvSpPr>
        <p:spPr>
          <a:xfrm>
            <a:off x="5951984" y="3933056"/>
            <a:ext cx="6532666" cy="1525546"/>
          </a:xfrm>
          <a:prstGeom prst="rect">
            <a:avLst/>
          </a:prstGeom>
          <a:noFill/>
        </p:spPr>
        <p:txBody>
          <a:bodyPr wrap="square" rtlCol="0" anchor="t">
            <a:spAutoFit/>
          </a:bodyPr>
          <a:lstStyle/>
          <a:p>
            <a:pPr algn="l">
              <a:lnSpc>
                <a:spcPct val="120000"/>
              </a:lnSpc>
              <a:spcBef>
                <a:spcPts val="1000"/>
              </a:spcBef>
              <a:buFont typeface="Arial" panose="020B0604020202020204" pitchFamily="34" charset="0"/>
            </a:pPr>
            <a:r>
              <a:rPr lang="zh-CN" altLang="en-US" b="1" dirty="0">
                <a:solidFill>
                  <a:srgbClr val="FF0000"/>
                </a:solidFill>
                <a:latin typeface="微软雅黑" panose="020B0503020204020204" charset="-122"/>
                <a:ea typeface="微软雅黑" panose="020B0503020204020204" charset="-122"/>
                <a:sym typeface="+mn-ea"/>
              </a:rPr>
              <a:t>（</a:t>
            </a:r>
            <a:r>
              <a:rPr lang="en-US" altLang="zh-CN" b="1" dirty="0">
                <a:solidFill>
                  <a:srgbClr val="FF0000"/>
                </a:solidFill>
                <a:latin typeface="微软雅黑" panose="020B0503020204020204" charset="-122"/>
                <a:ea typeface="微软雅黑" panose="020B0503020204020204" charset="-122"/>
                <a:sym typeface="+mn-ea"/>
              </a:rPr>
              <a:t>4</a:t>
            </a:r>
            <a:r>
              <a:rPr lang="zh-CN" altLang="en-US" b="1" dirty="0">
                <a:solidFill>
                  <a:srgbClr val="FF0000"/>
                </a:solidFill>
                <a:latin typeface="微软雅黑" panose="020B0503020204020204" charset="-122"/>
                <a:ea typeface="微软雅黑" panose="020B0503020204020204" charset="-122"/>
                <a:sym typeface="+mn-ea"/>
              </a:rPr>
              <a:t>）mysql.columns_priv表</a:t>
            </a:r>
            <a:endParaRPr lang="zh-CN" altLang="en-US" sz="4000" b="1" dirty="0">
              <a:solidFill>
                <a:srgbClr val="FF0000"/>
              </a:solidFill>
            </a:endParaRPr>
          </a:p>
          <a:p>
            <a:pPr algn="l">
              <a:lnSpc>
                <a:spcPct val="120000"/>
              </a:lnSpc>
              <a:spcBef>
                <a:spcPts val="1000"/>
              </a:spcBef>
              <a:buFont typeface="Arial" panose="020B0604020202020204" pitchFamily="34" charset="0"/>
            </a:pPr>
            <a:r>
              <a:rPr lang="zh-CN" altLang="en-US" b="1" dirty="0">
                <a:solidFill>
                  <a:srgbClr val="FF0000"/>
                </a:solidFill>
                <a:latin typeface="微软雅黑" panose="020B0503020204020204" charset="-122"/>
                <a:ea typeface="微软雅黑" panose="020B0503020204020204" charset="-122"/>
                <a:sym typeface="+mn-ea"/>
              </a:rPr>
              <a:t>（</a:t>
            </a:r>
            <a:r>
              <a:rPr lang="en-US" altLang="zh-CN" b="1" dirty="0">
                <a:solidFill>
                  <a:srgbClr val="FF0000"/>
                </a:solidFill>
                <a:latin typeface="微软雅黑" panose="020B0503020204020204" charset="-122"/>
                <a:ea typeface="微软雅黑" panose="020B0503020204020204" charset="-122"/>
                <a:sym typeface="+mn-ea"/>
              </a:rPr>
              <a:t>5</a:t>
            </a:r>
            <a:r>
              <a:rPr lang="zh-CN" altLang="en-US" b="1" dirty="0">
                <a:solidFill>
                  <a:srgbClr val="FF0000"/>
                </a:solidFill>
                <a:latin typeface="微软雅黑" panose="020B0503020204020204" charset="-122"/>
                <a:ea typeface="微软雅黑" panose="020B0503020204020204" charset="-122"/>
                <a:sym typeface="+mn-ea"/>
              </a:rPr>
              <a:t>）mysql.procs_priv表</a:t>
            </a:r>
            <a:endParaRPr lang="zh-CN" altLang="en-US" sz="4000" dirty="0"/>
          </a:p>
        </p:txBody>
      </p:sp>
    </p:spTree>
    <p:custDataLst>
      <p:tags r:id="rId1"/>
    </p:custDataLst>
    <p:extLst>
      <p:ext uri="{BB962C8B-B14F-4D97-AF65-F5344CB8AC3E}">
        <p14:creationId xmlns:p14="http://schemas.microsoft.com/office/powerpoint/2010/main" val="2061984216"/>
      </p:ext>
    </p:extLst>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3392" y="764704"/>
            <a:ext cx="11091545" cy="4319905"/>
          </a:xfrm>
        </p:spPr>
        <p:txBody>
          <a:bodyPr/>
          <a:lstStyle/>
          <a:p>
            <a:pPr marL="0" indent="0">
              <a:buNone/>
            </a:pPr>
            <a:r>
              <a:rPr lang="en-US" altLang="zh-CN" sz="2800" b="1" dirty="0"/>
              <a:t>2. </a:t>
            </a:r>
            <a:r>
              <a:rPr lang="en-US" altLang="zh-CN" sz="2800" b="1" dirty="0" err="1"/>
              <a:t>MySQL的用户管理</a:t>
            </a:r>
            <a:endParaRPr lang="en-US" altLang="zh-CN" dirty="0"/>
          </a:p>
          <a:p>
            <a:pPr marL="0" indent="0">
              <a:buNone/>
            </a:pPr>
            <a:r>
              <a:rPr lang="en-US" altLang="zh-CN" b="1" dirty="0"/>
              <a:t>（1）用户登录</a:t>
            </a:r>
            <a:endParaRPr lang="en-US" altLang="zh-CN" dirty="0"/>
          </a:p>
          <a:p>
            <a:pPr marL="0" indent="0">
              <a:buNone/>
            </a:pPr>
            <a:r>
              <a:rPr lang="en-US" altLang="zh-CN" dirty="0" err="1"/>
              <a:t>用户登录的方式有两种</a:t>
            </a:r>
            <a:r>
              <a:rPr lang="en-US" altLang="zh-CN" dirty="0"/>
              <a:t>：</a:t>
            </a:r>
          </a:p>
          <a:p>
            <a:pPr marL="0" indent="0">
              <a:buNone/>
            </a:pPr>
            <a:r>
              <a:rPr lang="en-US" altLang="zh-CN" dirty="0"/>
              <a:t>①　</a:t>
            </a:r>
            <a:r>
              <a:rPr lang="en-US" altLang="zh-CN" b="1" dirty="0" err="1">
                <a:solidFill>
                  <a:srgbClr val="FF0000"/>
                </a:solidFill>
              </a:rPr>
              <a:t>直接通过MySQL控制台进行登录</a:t>
            </a:r>
            <a:r>
              <a:rPr lang="en-US" altLang="zh-CN" dirty="0" err="1"/>
              <a:t>，默认情况下，这种方式以root身份进行登录，直接输入密码即可</a:t>
            </a:r>
            <a:r>
              <a:rPr lang="en-US" altLang="zh-CN" dirty="0"/>
              <a:t>。</a:t>
            </a:r>
          </a:p>
          <a:p>
            <a:pPr marL="0" indent="0">
              <a:buNone/>
            </a:pPr>
            <a:r>
              <a:rPr lang="en-US" altLang="zh-CN" dirty="0"/>
              <a:t>②　</a:t>
            </a:r>
            <a:r>
              <a:rPr lang="en-US" altLang="zh-CN" b="1" dirty="0" err="1">
                <a:solidFill>
                  <a:srgbClr val="FF0000"/>
                </a:solidFill>
              </a:rPr>
              <a:t>通过mysql命令来登录MySQL服务器</a:t>
            </a:r>
            <a:r>
              <a:rPr lang="en-US" altLang="zh-CN" dirty="0" err="1"/>
              <a:t>。Mysql命令登录服务器的语法格式</a:t>
            </a:r>
            <a:r>
              <a:rPr lang="en-US" altLang="zh-CN" dirty="0"/>
              <a:t>：</a:t>
            </a:r>
          </a:p>
        </p:txBody>
      </p:sp>
      <p:sp>
        <p:nvSpPr>
          <p:cNvPr id="100" name="文本框 99"/>
          <p:cNvSpPr txBox="1"/>
          <p:nvPr/>
        </p:nvSpPr>
        <p:spPr>
          <a:xfrm>
            <a:off x="1631504" y="5589270"/>
            <a:ext cx="8283575" cy="829945"/>
          </a:xfrm>
          <a:prstGeom prst="rect">
            <a:avLst/>
          </a:prstGeom>
          <a:solidFill>
            <a:schemeClr val="tx2">
              <a:lumMod val="10000"/>
              <a:lumOff val="90000"/>
            </a:schemeClr>
          </a:solidFill>
          <a:ln w="9525">
            <a:solidFill>
              <a:schemeClr val="accent1"/>
            </a:solidFill>
          </a:ln>
        </p:spPr>
        <p:txBody>
          <a:bodyPr wrap="square">
            <a:spAutoFit/>
          </a:bodyPr>
          <a:lstStyle/>
          <a:p>
            <a:pPr indent="0"/>
            <a:r>
              <a:rPr lang="en-US" sz="2400" b="1">
                <a:solidFill>
                  <a:srgbClr val="FF0000"/>
                </a:solidFill>
                <a:latin typeface="微软雅黑" panose="020B0503020204020204" charset="-122"/>
                <a:ea typeface="微软雅黑" panose="020B0503020204020204" charset="-122"/>
                <a:cs typeface="微软雅黑" panose="020B0503020204020204" charset="-122"/>
              </a:rPr>
              <a:t>mysql -h hostname | hostIP -P port -u username </a:t>
            </a:r>
          </a:p>
          <a:p>
            <a:pPr indent="0"/>
            <a:r>
              <a:rPr lang="en-US" sz="2400" b="1">
                <a:solidFill>
                  <a:srgbClr val="FF0000"/>
                </a:solidFill>
                <a:latin typeface="微软雅黑" panose="020B0503020204020204" charset="-122"/>
                <a:ea typeface="微软雅黑" panose="020B0503020204020204" charset="-122"/>
                <a:cs typeface="微软雅黑" panose="020B0503020204020204" charset="-122"/>
              </a:rPr>
              <a:t>           -p DatabaseName -e “SQL</a:t>
            </a:r>
            <a:r>
              <a:rPr lang="zh-CN" sz="2400" b="1">
                <a:solidFill>
                  <a:srgbClr val="FF0000"/>
                </a:solidFill>
                <a:latin typeface="微软雅黑" panose="020B0503020204020204" charset="-122"/>
                <a:ea typeface="微软雅黑" panose="020B0503020204020204" charset="-122"/>
                <a:cs typeface="微软雅黑" panose="020B0503020204020204" charset="-122"/>
              </a:rPr>
              <a:t>语句</a:t>
            </a:r>
            <a:r>
              <a:rPr lang="en-US" sz="2400" b="1">
                <a:solidFill>
                  <a:srgbClr val="FF0000"/>
                </a:solidFill>
                <a:latin typeface="微软雅黑" panose="020B0503020204020204" charset="-122"/>
                <a:ea typeface="微软雅黑" panose="020B0503020204020204" charset="-122"/>
                <a:cs typeface="微软雅黑" panose="020B0503020204020204" charset="-122"/>
              </a:rPr>
              <a:t>”</a:t>
            </a:r>
            <a:endParaRPr lang="en-US" altLang="en-US" sz="2400" b="1">
              <a:solidFill>
                <a:srgbClr val="FF0000"/>
              </a:solidFill>
              <a:latin typeface="微软雅黑" panose="020B0503020204020204" charset="-122"/>
              <a:ea typeface="微软雅黑" panose="020B0503020204020204" charset="-122"/>
              <a:cs typeface="微软雅黑" panose="020B0503020204020204" charset="-122"/>
            </a:endParaRPr>
          </a:p>
        </p:txBody>
      </p:sp>
    </p:spTree>
    <p:custDataLst>
      <p:tags r:id="rId1"/>
    </p:custDataLst>
    <p:extLst>
      <p:ext uri="{BB962C8B-B14F-4D97-AF65-F5344CB8AC3E}">
        <p14:creationId xmlns:p14="http://schemas.microsoft.com/office/powerpoint/2010/main" val="2072434016"/>
      </p:ext>
    </p:extLst>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9416" y="116632"/>
            <a:ext cx="11250295" cy="6173470"/>
          </a:xfrm>
        </p:spPr>
        <p:txBody>
          <a:bodyPr>
            <a:noAutofit/>
          </a:bodyPr>
          <a:lstStyle/>
          <a:p>
            <a:pPr marL="0" indent="0">
              <a:buNone/>
            </a:pPr>
            <a:r>
              <a:rPr lang="zh-CN" altLang="en-US" sz="2800" dirty="0"/>
              <a:t>其参数的含义为：</a:t>
            </a:r>
          </a:p>
          <a:p>
            <a:pPr marL="0" indent="0">
              <a:buNone/>
            </a:pPr>
            <a:r>
              <a:rPr lang="zh-CN" altLang="en-US" sz="2800" b="1" dirty="0">
                <a:solidFill>
                  <a:srgbClr val="FF0000"/>
                </a:solidFill>
              </a:rPr>
              <a:t>-h</a:t>
            </a:r>
            <a:r>
              <a:rPr lang="zh-CN" altLang="en-US" sz="2800" dirty="0"/>
              <a:t>：该参数后面可以接主机名或主机IP地址。其中hostname表示主机名，hostIP表示主机IP地址。</a:t>
            </a:r>
          </a:p>
          <a:p>
            <a:pPr marL="0" indent="0">
              <a:buNone/>
            </a:pPr>
            <a:r>
              <a:rPr lang="zh-CN" altLang="en-US" sz="2800" b="1" dirty="0">
                <a:solidFill>
                  <a:srgbClr val="FF0000"/>
                </a:solidFill>
              </a:rPr>
              <a:t>-P</a:t>
            </a:r>
            <a:r>
              <a:rPr lang="zh-CN" altLang="en-US" sz="2800" dirty="0"/>
              <a:t>：该参数后面接MySQL服务的端口，通过该参数连接到指定的端口。port定端口号，默认端口是3306。</a:t>
            </a:r>
          </a:p>
          <a:p>
            <a:pPr marL="0" indent="0">
              <a:buNone/>
            </a:pPr>
            <a:r>
              <a:rPr lang="zh-CN" altLang="en-US" sz="2800" b="1" dirty="0">
                <a:solidFill>
                  <a:srgbClr val="FF0000"/>
                </a:solidFill>
              </a:rPr>
              <a:t>-u</a:t>
            </a:r>
            <a:r>
              <a:rPr lang="zh-CN" altLang="en-US" sz="2800" dirty="0"/>
              <a:t>：该参数后面接用户名，username表示用户名。</a:t>
            </a:r>
          </a:p>
          <a:p>
            <a:pPr marL="0" indent="0">
              <a:buNone/>
            </a:pPr>
            <a:r>
              <a:rPr lang="zh-CN" altLang="en-US" sz="2800" b="1" dirty="0">
                <a:solidFill>
                  <a:srgbClr val="FF0000"/>
                </a:solidFill>
              </a:rPr>
              <a:t>-p</a:t>
            </a:r>
            <a:r>
              <a:rPr lang="zh-CN" altLang="en-US" sz="2800" dirty="0"/>
              <a:t>：该参数会提示输入密码。一般情况下，不将密码跟在该参数的后面。如果该参数后跟密码，这个登录密码必须与-p参数之间没有空格。</a:t>
            </a:r>
          </a:p>
          <a:p>
            <a:pPr marL="0" indent="0">
              <a:buNone/>
            </a:pPr>
            <a:r>
              <a:rPr lang="zh-CN" altLang="en-US" sz="2800" b="1" dirty="0">
                <a:solidFill>
                  <a:srgbClr val="FF0000"/>
                </a:solidFill>
              </a:rPr>
              <a:t>DatabaseName</a:t>
            </a:r>
            <a:r>
              <a:rPr lang="zh-CN" altLang="en-US" sz="2800" dirty="0"/>
              <a:t>：该参数指明登录到哪一个数据库。如果没有指定该参数，会直接登录到MySQL数据库中，然后可以使用USE命令来选择数据库。</a:t>
            </a:r>
          </a:p>
          <a:p>
            <a:pPr marL="0" indent="0">
              <a:buNone/>
            </a:pPr>
            <a:r>
              <a:rPr lang="zh-CN" altLang="en-US" sz="2800" b="1" dirty="0">
                <a:solidFill>
                  <a:srgbClr val="FF0000"/>
                </a:solidFill>
              </a:rPr>
              <a:t>-e</a:t>
            </a:r>
            <a:r>
              <a:rPr lang="zh-CN" altLang="en-US" sz="2800" dirty="0"/>
              <a:t>：该参数后面加SQL语句，登录MySQL服务器后可以立即执行这个SQL语句，然后退出MySQL服务器。</a:t>
            </a:r>
          </a:p>
        </p:txBody>
      </p:sp>
    </p:spTree>
    <p:custDataLst>
      <p:tags r:id="rId1"/>
    </p:custDataLst>
    <p:extLst>
      <p:ext uri="{BB962C8B-B14F-4D97-AF65-F5344CB8AC3E}">
        <p14:creationId xmlns:p14="http://schemas.microsoft.com/office/powerpoint/2010/main" val="808188667"/>
      </p:ext>
    </p:extLst>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52865" y="476672"/>
            <a:ext cx="10440000" cy="4320000"/>
          </a:xfrm>
        </p:spPr>
        <p:txBody>
          <a:bodyPr>
            <a:normAutofit fontScale="85000" lnSpcReduction="10000"/>
          </a:bodyPr>
          <a:lstStyle/>
          <a:p>
            <a:pPr marL="0" indent="0">
              <a:buNone/>
            </a:pPr>
            <a:r>
              <a:rPr lang="zh-CN" altLang="en-US" dirty="0"/>
              <a:t>例7.5 使用“Sam”用户身份登录到“Student”数据库中，同时查看“Stu”表的结构。</a:t>
            </a:r>
          </a:p>
          <a:p>
            <a:pPr marL="0" indent="0">
              <a:buNone/>
            </a:pPr>
            <a:r>
              <a:rPr lang="zh-CN" altLang="en-US" dirty="0"/>
              <a:t>        Mysql -h localhost -u Sam -p123456 Student -e “DESC Stu”;</a:t>
            </a:r>
          </a:p>
          <a:p>
            <a:pPr marL="0" indent="0">
              <a:buNone/>
            </a:pPr>
            <a:r>
              <a:rPr lang="zh-CN" altLang="en-US" b="1" dirty="0"/>
              <a:t>（2）添加用户</a:t>
            </a:r>
            <a:endParaRPr lang="zh-CN" altLang="en-US" dirty="0"/>
          </a:p>
          <a:p>
            <a:pPr marL="0" indent="0">
              <a:buNone/>
            </a:pPr>
            <a:r>
              <a:rPr lang="zh-CN" altLang="en-US" dirty="0"/>
              <a:t>       添加用户是指添加普通用户，添加用户的方式主要有2种：</a:t>
            </a:r>
          </a:p>
          <a:p>
            <a:pPr marL="0" indent="0">
              <a:buNone/>
            </a:pPr>
            <a:r>
              <a:rPr lang="zh-CN" altLang="en-US" dirty="0"/>
              <a:t>①　</a:t>
            </a:r>
            <a:r>
              <a:rPr lang="zh-CN" altLang="en-US" b="1" dirty="0"/>
              <a:t>CREATE USER语句创建用户</a:t>
            </a:r>
            <a:endParaRPr lang="zh-CN" altLang="en-US" dirty="0"/>
          </a:p>
          <a:p>
            <a:pPr marL="0" indent="0">
              <a:buNone/>
            </a:pPr>
            <a:r>
              <a:rPr lang="zh-CN" altLang="en-US" dirty="0"/>
              <a:t>CREATE USER语句创建普通账户的基本格式：</a:t>
            </a:r>
          </a:p>
          <a:p>
            <a:pPr marL="0" indent="0">
              <a:buNone/>
            </a:pPr>
            <a:endParaRPr lang="zh-CN" altLang="en-US" dirty="0"/>
          </a:p>
        </p:txBody>
      </p:sp>
      <p:sp>
        <p:nvSpPr>
          <p:cNvPr id="4" name="文本框 3"/>
          <p:cNvSpPr txBox="1"/>
          <p:nvPr/>
        </p:nvSpPr>
        <p:spPr>
          <a:xfrm>
            <a:off x="1026653" y="5085184"/>
            <a:ext cx="10440035" cy="1105535"/>
          </a:xfrm>
          <a:prstGeom prst="rect">
            <a:avLst/>
          </a:prstGeom>
          <a:solidFill>
            <a:schemeClr val="tx2">
              <a:lumMod val="10000"/>
              <a:lumOff val="90000"/>
            </a:schemeClr>
          </a:solidFill>
          <a:ln>
            <a:solidFill>
              <a:schemeClr val="accent1"/>
            </a:solidFill>
          </a:ln>
        </p:spPr>
        <p:txBody>
          <a:bodyPr wrap="square" rtlCol="0" anchor="t">
            <a:spAutoFit/>
          </a:bodyPr>
          <a:lstStyle/>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CREATE USER user [ IDENTIFIED BY [PASSWORD] ‘password’ ]</a:t>
            </a:r>
            <a:endParaRPr lang="zh-CN" altLang="en-US" b="1">
              <a:solidFill>
                <a:srgbClr val="FF0000"/>
              </a:solidFill>
            </a:endParaRPr>
          </a:p>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    [, user [IDENTIFIED BY [PASSWORD ] ‘ password’] ] …</a:t>
            </a:r>
          </a:p>
        </p:txBody>
      </p:sp>
    </p:spTree>
    <p:custDataLst>
      <p:tags r:id="rId1"/>
    </p:custDataLst>
    <p:extLst>
      <p:ext uri="{BB962C8B-B14F-4D97-AF65-F5344CB8AC3E}">
        <p14:creationId xmlns:p14="http://schemas.microsoft.com/office/powerpoint/2010/main" val="545533573"/>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9416" y="908720"/>
            <a:ext cx="10440035" cy="4687570"/>
          </a:xfrm>
        </p:spPr>
        <p:txBody>
          <a:bodyPr>
            <a:normAutofit fontScale="85000" lnSpcReduction="20000"/>
          </a:bodyPr>
          <a:lstStyle/>
          <a:p>
            <a:pPr marL="0" indent="0">
              <a:buNone/>
            </a:pPr>
            <a:r>
              <a:rPr lang="zh-CN" altLang="en-US" dirty="0"/>
              <a:t>其参数的含义如下：</a:t>
            </a:r>
          </a:p>
          <a:p>
            <a:pPr marL="0" indent="0">
              <a:buNone/>
            </a:pPr>
            <a:r>
              <a:rPr lang="zh-CN" altLang="en-US" b="1" dirty="0">
                <a:solidFill>
                  <a:srgbClr val="FF0000"/>
                </a:solidFill>
              </a:rPr>
              <a:t>user：</a:t>
            </a:r>
            <a:r>
              <a:rPr lang="zh-CN" altLang="en-US" dirty="0"/>
              <a:t>表示新建用户的账户，他有用户名（User）和主机名（Host）组成。</a:t>
            </a:r>
          </a:p>
          <a:p>
            <a:pPr marL="0" indent="0">
              <a:buNone/>
            </a:pPr>
            <a:r>
              <a:rPr lang="zh-CN" altLang="en-US" b="1" dirty="0">
                <a:solidFill>
                  <a:srgbClr val="FF0000"/>
                </a:solidFill>
              </a:rPr>
              <a:t>IDENTIFIED BY：</a:t>
            </a:r>
            <a:r>
              <a:rPr lang="zh-CN" altLang="en-US" dirty="0"/>
              <a:t>用来设置用户的密码。</a:t>
            </a:r>
          </a:p>
          <a:p>
            <a:pPr marL="0" indent="0">
              <a:buNone/>
            </a:pPr>
            <a:r>
              <a:rPr lang="zh-CN" altLang="en-US" b="1" dirty="0">
                <a:solidFill>
                  <a:srgbClr val="FF0000"/>
                </a:solidFill>
              </a:rPr>
              <a:t>password：</a:t>
            </a:r>
            <a:r>
              <a:rPr lang="zh-CN" altLang="en-US" dirty="0"/>
              <a:t>表示用户密码。如果改密码是一个普通的字符串，则不需要使用PASSWORD关键字。如果要把密码指定为由PASSWORD（）函数返回的混编值，则需要包含PASSWORD关键字。</a:t>
            </a:r>
          </a:p>
          <a:p>
            <a:pPr marL="0" indent="0">
              <a:buNone/>
            </a:pPr>
            <a:r>
              <a:rPr lang="zh-CN" altLang="en-US" dirty="0"/>
              <a:t>例7.6 创建用户名为“Sam”，主机名为“localhost”，密码为“123456”的用户。</a:t>
            </a:r>
          </a:p>
          <a:p>
            <a:pPr marL="0" indent="0">
              <a:buNone/>
            </a:pPr>
            <a:r>
              <a:rPr lang="zh-CN" altLang="en-US" dirty="0"/>
              <a:t>    CREATE USER  ‘Sam’@’localhost’ IDENTIFIED BY ‘123456’；</a:t>
            </a:r>
          </a:p>
        </p:txBody>
      </p:sp>
    </p:spTree>
    <p:custDataLst>
      <p:tags r:id="rId1"/>
    </p:custDataLst>
    <p:extLst>
      <p:ext uri="{BB962C8B-B14F-4D97-AF65-F5344CB8AC3E}">
        <p14:creationId xmlns:p14="http://schemas.microsoft.com/office/powerpoint/2010/main" val="689897319"/>
      </p:ext>
    </p:extLst>
  </p:cSld>
  <p:clrMapOvr>
    <a:masterClrMapping/>
  </p:clrMapOvr>
  <p:transition>
    <p:rand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61029" y="404664"/>
            <a:ext cx="10440035" cy="6336704"/>
          </a:xfrm>
        </p:spPr>
        <p:txBody>
          <a:bodyPr>
            <a:normAutofit fontScale="82500" lnSpcReduction="10000"/>
          </a:bodyPr>
          <a:lstStyle/>
          <a:p>
            <a:pPr marL="0" indent="0">
              <a:buNone/>
            </a:pPr>
            <a:r>
              <a:rPr lang="zh-CN" altLang="en-US" dirty="0"/>
              <a:t>②</a:t>
            </a:r>
            <a:r>
              <a:rPr lang="zh-CN" altLang="en-US" b="1" dirty="0"/>
              <a:t>　使用GRANT语句创建</a:t>
            </a:r>
          </a:p>
          <a:p>
            <a:pPr marL="0" indent="0">
              <a:buNone/>
            </a:pPr>
            <a:r>
              <a:rPr lang="zh-CN" altLang="en-US" b="1" dirty="0"/>
              <a:t>GRANT语句创建账户的基本格式如下：</a:t>
            </a:r>
          </a:p>
          <a:p>
            <a:pPr marL="0" indent="0">
              <a:buNone/>
            </a:pPr>
            <a:endParaRPr lang="zh-CN" altLang="en-US" b="1" dirty="0"/>
          </a:p>
          <a:p>
            <a:pPr marL="0" indent="0">
              <a:buNone/>
            </a:pPr>
            <a:endParaRPr lang="zh-CN" altLang="en-US" b="1" dirty="0"/>
          </a:p>
          <a:p>
            <a:pPr marL="0" indent="0">
              <a:buNone/>
            </a:pPr>
            <a:endParaRPr lang="zh-CN" altLang="en-US" b="1" dirty="0"/>
          </a:p>
          <a:p>
            <a:pPr marL="0" indent="0">
              <a:buNone/>
            </a:pPr>
            <a:endParaRPr lang="en-US" altLang="zh-CN" b="1" dirty="0" smtClean="0"/>
          </a:p>
          <a:p>
            <a:pPr marL="0" indent="0">
              <a:buNone/>
            </a:pPr>
            <a:endParaRPr lang="en-US" altLang="zh-CN" b="1" dirty="0"/>
          </a:p>
          <a:p>
            <a:pPr marL="0" indent="0">
              <a:buNone/>
            </a:pPr>
            <a:endParaRPr lang="zh-CN" altLang="en-US" b="1" dirty="0"/>
          </a:p>
          <a:p>
            <a:pPr marL="0" indent="0">
              <a:buNone/>
            </a:pPr>
            <a:r>
              <a:rPr lang="zh-CN" altLang="en-US" dirty="0"/>
              <a:t>例7.7 创建用户名为“Sam”，主机名为“localhost”，密码为“123456”的用户，并且该用户拥有所有表的INSER和SELECT权限。</a:t>
            </a:r>
          </a:p>
          <a:p>
            <a:pPr marL="0" indent="0">
              <a:buNone/>
            </a:pPr>
            <a:r>
              <a:rPr lang="zh-CN" altLang="en-US" dirty="0"/>
              <a:t>GRANT INSERT，SELECT ON *.* </a:t>
            </a:r>
          </a:p>
          <a:p>
            <a:pPr marL="0" indent="0">
              <a:buNone/>
            </a:pPr>
            <a:r>
              <a:rPr lang="zh-CN" altLang="en-US" dirty="0"/>
              <a:t>TO  ‘Sam’@’localhost’ IDENTIFIED BY ’123456’；</a:t>
            </a:r>
            <a:endParaRPr lang="zh-CN" altLang="en-US" b="1" dirty="0"/>
          </a:p>
          <a:p>
            <a:pPr marL="0" indent="0">
              <a:buNone/>
            </a:pPr>
            <a:endParaRPr lang="zh-CN" altLang="en-US" b="1" dirty="0"/>
          </a:p>
        </p:txBody>
      </p:sp>
      <p:sp>
        <p:nvSpPr>
          <p:cNvPr id="4" name="文本框 3"/>
          <p:cNvSpPr txBox="1"/>
          <p:nvPr/>
        </p:nvSpPr>
        <p:spPr>
          <a:xfrm>
            <a:off x="1055440" y="1628800"/>
            <a:ext cx="9217024" cy="2520280"/>
          </a:xfrm>
          <a:prstGeom prst="rect">
            <a:avLst/>
          </a:prstGeom>
          <a:solidFill>
            <a:schemeClr val="tx2">
              <a:lumMod val="10000"/>
              <a:lumOff val="90000"/>
            </a:schemeClr>
          </a:solidFill>
          <a:ln>
            <a:solidFill>
              <a:schemeClr val="accent1"/>
            </a:solidFill>
          </a:ln>
        </p:spPr>
        <p:txBody>
          <a:bodyPr wrap="square" rtlCol="0" anchor="t">
            <a:spAutoFit/>
          </a:bodyPr>
          <a:lstStyle/>
          <a:p>
            <a:pPr algn="l">
              <a:lnSpc>
                <a:spcPct val="120000"/>
              </a:lnSpc>
              <a:spcBef>
                <a:spcPts val="1000"/>
              </a:spcBef>
              <a:buFont typeface="Arial" panose="020B0604020202020204" pitchFamily="34" charset="0"/>
            </a:pPr>
            <a:r>
              <a:rPr lang="zh-CN" altLang="en-US" sz="2400" b="1" dirty="0">
                <a:solidFill>
                  <a:srgbClr val="FF0000"/>
                </a:solidFill>
                <a:latin typeface="微软雅黑" panose="020B0503020204020204" charset="-122"/>
                <a:ea typeface="微软雅黑" panose="020B0503020204020204" charset="-122"/>
                <a:sym typeface="+mn-ea"/>
              </a:rPr>
              <a:t>GRANT priv_type </a:t>
            </a:r>
          </a:p>
          <a:p>
            <a:pPr algn="l">
              <a:lnSpc>
                <a:spcPct val="120000"/>
              </a:lnSpc>
              <a:spcBef>
                <a:spcPts val="1000"/>
              </a:spcBef>
              <a:buFont typeface="Arial" panose="020B0604020202020204" pitchFamily="34" charset="0"/>
            </a:pPr>
            <a:r>
              <a:rPr lang="zh-CN" altLang="en-US" sz="2400" b="1" dirty="0">
                <a:solidFill>
                  <a:srgbClr val="FF0000"/>
                </a:solidFill>
                <a:latin typeface="微软雅黑" panose="020B0503020204020204" charset="-122"/>
                <a:ea typeface="微软雅黑" panose="020B0503020204020204" charset="-122"/>
                <a:sym typeface="+mn-ea"/>
              </a:rPr>
              <a:t>ON database.table </a:t>
            </a:r>
          </a:p>
          <a:p>
            <a:pPr algn="l">
              <a:lnSpc>
                <a:spcPct val="120000"/>
              </a:lnSpc>
              <a:spcBef>
                <a:spcPts val="1000"/>
              </a:spcBef>
              <a:buFont typeface="Arial" panose="020B0604020202020204" pitchFamily="34" charset="0"/>
            </a:pPr>
            <a:r>
              <a:rPr lang="zh-CN" altLang="en-US" sz="2400" b="1" dirty="0">
                <a:solidFill>
                  <a:srgbClr val="FF0000"/>
                </a:solidFill>
                <a:latin typeface="微软雅黑" panose="020B0503020204020204" charset="-122"/>
                <a:ea typeface="微软雅黑" panose="020B0503020204020204" charset="-122"/>
                <a:sym typeface="+mn-ea"/>
              </a:rPr>
              <a:t>TO user [IDENTIFIED BY [PASSWORD] ‘password’ ]</a:t>
            </a:r>
            <a:endParaRPr lang="zh-CN" altLang="en-US" b="1" dirty="0">
              <a:solidFill>
                <a:srgbClr val="FF0000"/>
              </a:solidFill>
            </a:endParaRPr>
          </a:p>
          <a:p>
            <a:pPr algn="l">
              <a:lnSpc>
                <a:spcPct val="120000"/>
              </a:lnSpc>
              <a:spcBef>
                <a:spcPts val="1000"/>
              </a:spcBef>
              <a:buFont typeface="Arial" panose="020B0604020202020204" pitchFamily="34" charset="0"/>
            </a:pPr>
            <a:r>
              <a:rPr lang="zh-CN" altLang="en-US" sz="2400" b="1" dirty="0">
                <a:solidFill>
                  <a:srgbClr val="FF0000"/>
                </a:solidFill>
                <a:latin typeface="微软雅黑" panose="020B0503020204020204" charset="-122"/>
                <a:ea typeface="微软雅黑" panose="020B0503020204020204" charset="-122"/>
                <a:sym typeface="+mn-ea"/>
              </a:rPr>
              <a:t>   [, user [IDENTIFIED BY [PASSWORD] ‘password’ ] ]</a:t>
            </a:r>
          </a:p>
        </p:txBody>
      </p:sp>
    </p:spTree>
    <p:custDataLst>
      <p:tags r:id="rId1"/>
    </p:custDataLst>
    <p:extLst>
      <p:ext uri="{BB962C8B-B14F-4D97-AF65-F5344CB8AC3E}">
        <p14:creationId xmlns:p14="http://schemas.microsoft.com/office/powerpoint/2010/main" val="1939991846"/>
      </p:ext>
    </p:extLst>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9605" y="732155"/>
            <a:ext cx="10972800" cy="5721181"/>
          </a:xfrm>
        </p:spPr>
        <p:txBody>
          <a:bodyPr>
            <a:normAutofit fontScale="70000" lnSpcReduction="20000"/>
          </a:bodyPr>
          <a:lstStyle/>
          <a:p>
            <a:pPr marL="0" indent="0">
              <a:lnSpc>
                <a:spcPct val="170000"/>
              </a:lnSpc>
              <a:buNone/>
            </a:pPr>
            <a:r>
              <a:rPr lang="zh-CN" altLang="en-US" b="1" dirty="0"/>
              <a:t> （3）删除用户</a:t>
            </a:r>
            <a:endParaRPr lang="zh-CN" altLang="en-US" dirty="0"/>
          </a:p>
          <a:p>
            <a:pPr marL="0" indent="0">
              <a:lnSpc>
                <a:spcPct val="170000"/>
              </a:lnSpc>
              <a:buNone/>
            </a:pPr>
            <a:r>
              <a:rPr lang="zh-CN" altLang="en-US" dirty="0"/>
              <a:t>        删除用户的方式有两种：</a:t>
            </a:r>
          </a:p>
          <a:p>
            <a:pPr marL="457200" indent="-457200">
              <a:lnSpc>
                <a:spcPct val="170000"/>
              </a:lnSpc>
              <a:buFont typeface="+mj-ea"/>
              <a:buAutoNum type="circleNumDbPlain"/>
            </a:pPr>
            <a:r>
              <a:rPr lang="zh-CN" altLang="en-US" b="1" dirty="0"/>
              <a:t>使用DROP USER语句删除</a:t>
            </a:r>
          </a:p>
          <a:p>
            <a:pPr marL="0" indent="0">
              <a:lnSpc>
                <a:spcPct val="170000"/>
              </a:lnSpc>
              <a:buFont typeface="+mj-ea"/>
              <a:buNone/>
            </a:pPr>
            <a:r>
              <a:rPr lang="zh-CN" altLang="en-US" b="1" dirty="0"/>
              <a:t>    </a:t>
            </a:r>
            <a:r>
              <a:rPr lang="zh-CN" altLang="en-US" dirty="0"/>
              <a:t> 其语句格式如下：</a:t>
            </a:r>
          </a:p>
          <a:p>
            <a:pPr marL="0" indent="0">
              <a:lnSpc>
                <a:spcPct val="170000"/>
              </a:lnSpc>
              <a:buFont typeface="+mj-ea"/>
              <a:buNone/>
            </a:pPr>
            <a:endParaRPr lang="zh-CN" altLang="en-US" b="1" dirty="0"/>
          </a:p>
          <a:p>
            <a:pPr marL="0" indent="0">
              <a:lnSpc>
                <a:spcPct val="170000"/>
              </a:lnSpc>
              <a:buFont typeface="+mj-ea"/>
              <a:buNone/>
            </a:pPr>
            <a:endParaRPr lang="zh-CN" altLang="en-US" b="1" dirty="0"/>
          </a:p>
          <a:p>
            <a:pPr marL="0" indent="0">
              <a:lnSpc>
                <a:spcPct val="170000"/>
              </a:lnSpc>
              <a:buFont typeface="+mj-ea"/>
              <a:buNone/>
            </a:pPr>
            <a:r>
              <a:rPr lang="zh-CN" altLang="en-US" dirty="0"/>
              <a:t>       使用该语句可以同时删除一个或多个用户，用户间用逗号间隔。user表示需要删除的用户，它由用户名（User）和主机名（Host）组成。</a:t>
            </a:r>
          </a:p>
          <a:p>
            <a:pPr marL="0" indent="0">
              <a:lnSpc>
                <a:spcPct val="170000"/>
              </a:lnSpc>
              <a:buFont typeface="+mj-ea"/>
              <a:buNone/>
            </a:pPr>
            <a:endParaRPr lang="zh-CN" altLang="en-US" dirty="0"/>
          </a:p>
        </p:txBody>
      </p:sp>
      <p:sp>
        <p:nvSpPr>
          <p:cNvPr id="5" name="文本框 4"/>
          <p:cNvSpPr txBox="1"/>
          <p:nvPr/>
        </p:nvSpPr>
        <p:spPr>
          <a:xfrm>
            <a:off x="2495600" y="3501008"/>
            <a:ext cx="3832844" cy="581057"/>
          </a:xfrm>
          <a:prstGeom prst="rect">
            <a:avLst/>
          </a:prstGeom>
          <a:solidFill>
            <a:schemeClr val="tx2">
              <a:lumMod val="10000"/>
              <a:lumOff val="90000"/>
            </a:schemeClr>
          </a:solidFill>
          <a:ln>
            <a:solidFill>
              <a:schemeClr val="accent1"/>
            </a:solidFill>
          </a:ln>
        </p:spPr>
        <p:txBody>
          <a:bodyPr wrap="none" rtlCol="0" anchor="t">
            <a:spAutoFit/>
          </a:bodyPr>
          <a:lstStyle/>
          <a:p>
            <a:pPr algn="l">
              <a:lnSpc>
                <a:spcPct val="150000"/>
              </a:lnSpc>
              <a:spcBef>
                <a:spcPts val="1000"/>
              </a:spcBef>
              <a:buFont typeface="+mj-ea"/>
            </a:pPr>
            <a:r>
              <a:rPr lang="zh-CN" altLang="en-US" sz="2400" b="1" dirty="0">
                <a:solidFill>
                  <a:srgbClr val="FF0000"/>
                </a:solidFill>
                <a:latin typeface="微软雅黑" panose="020B0503020204020204" charset="-122"/>
                <a:ea typeface="微软雅黑" panose="020B0503020204020204" charset="-122"/>
                <a:sym typeface="+mn-ea"/>
              </a:rPr>
              <a:t>DROP USER user[, user]</a:t>
            </a:r>
          </a:p>
        </p:txBody>
      </p:sp>
    </p:spTree>
    <p:custDataLst>
      <p:tags r:id="rId1"/>
    </p:custDataLst>
    <p:extLst>
      <p:ext uri="{BB962C8B-B14F-4D97-AF65-F5344CB8AC3E}">
        <p14:creationId xmlns:p14="http://schemas.microsoft.com/office/powerpoint/2010/main" val="375153408"/>
      </p:ext>
    </p:extLst>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9416" y="548680"/>
            <a:ext cx="10440035" cy="6192688"/>
          </a:xfrm>
        </p:spPr>
        <p:txBody>
          <a:bodyPr>
            <a:normAutofit fontScale="70000" lnSpcReduction="20000"/>
          </a:bodyPr>
          <a:lstStyle/>
          <a:p>
            <a:pPr marL="0" indent="0">
              <a:lnSpc>
                <a:spcPct val="170000"/>
              </a:lnSpc>
              <a:buNone/>
            </a:pPr>
            <a:r>
              <a:rPr lang="zh-CN" altLang="en-US" dirty="0"/>
              <a:t>例7.8 删除用户名为“Sam”、“Mike”的用户。</a:t>
            </a:r>
          </a:p>
          <a:p>
            <a:pPr marL="0" indent="0">
              <a:lnSpc>
                <a:spcPct val="170000"/>
              </a:lnSpc>
              <a:buNone/>
            </a:pPr>
            <a:r>
              <a:rPr lang="zh-CN" altLang="en-US" dirty="0"/>
              <a:t>       DROP USER ‘Sam’@’localhost’, ‘Mike’@’localhost’；</a:t>
            </a:r>
          </a:p>
          <a:p>
            <a:pPr marL="0" indent="0">
              <a:lnSpc>
                <a:spcPct val="170000"/>
              </a:lnSpc>
              <a:buNone/>
            </a:pPr>
            <a:r>
              <a:rPr lang="zh-CN" altLang="en-US" b="1" dirty="0"/>
              <a:t>②　使用DELETE语句删除</a:t>
            </a:r>
          </a:p>
          <a:p>
            <a:pPr marL="0" indent="0">
              <a:lnSpc>
                <a:spcPct val="170000"/>
              </a:lnSpc>
              <a:buNone/>
            </a:pPr>
            <a:r>
              <a:rPr lang="zh-CN" altLang="en-US" dirty="0"/>
              <a:t>       其语句格式为：</a:t>
            </a:r>
          </a:p>
          <a:p>
            <a:pPr marL="0" indent="0">
              <a:lnSpc>
                <a:spcPct val="170000"/>
              </a:lnSpc>
              <a:buNone/>
            </a:pPr>
            <a:endParaRPr lang="zh-CN" altLang="en-US" b="1" dirty="0"/>
          </a:p>
          <a:p>
            <a:pPr marL="0" indent="0">
              <a:lnSpc>
                <a:spcPct val="170000"/>
              </a:lnSpc>
              <a:buNone/>
            </a:pPr>
            <a:endParaRPr lang="zh-CN" altLang="en-US" b="1" dirty="0"/>
          </a:p>
          <a:p>
            <a:pPr marL="0" indent="0">
              <a:lnSpc>
                <a:spcPct val="170000"/>
              </a:lnSpc>
              <a:buNone/>
            </a:pPr>
            <a:r>
              <a:rPr lang="zh-CN" altLang="en-US" dirty="0"/>
              <a:t>例7.9 删除用户名为“Sam”，主机名为“localhost”的用户。</a:t>
            </a:r>
          </a:p>
          <a:p>
            <a:pPr marL="0" indent="0">
              <a:lnSpc>
                <a:spcPct val="170000"/>
              </a:lnSpc>
              <a:buNone/>
            </a:pPr>
            <a:r>
              <a:rPr lang="zh-CN" altLang="en-US" dirty="0"/>
              <a:t>               DELETE FROM mysql.user </a:t>
            </a:r>
          </a:p>
          <a:p>
            <a:pPr marL="0" indent="0">
              <a:lnSpc>
                <a:spcPct val="170000"/>
              </a:lnSpc>
              <a:buNone/>
            </a:pPr>
            <a:r>
              <a:rPr lang="zh-CN" altLang="en-US" dirty="0"/>
              <a:t>               WHERE Host=’localhost’ AND User=’Sam’；</a:t>
            </a:r>
            <a:endParaRPr lang="zh-CN" altLang="en-US" b="1" dirty="0"/>
          </a:p>
          <a:p>
            <a:pPr marL="0" indent="0">
              <a:lnSpc>
                <a:spcPct val="170000"/>
              </a:lnSpc>
              <a:buNone/>
            </a:pPr>
            <a:endParaRPr lang="zh-CN" altLang="en-US" b="1" dirty="0"/>
          </a:p>
          <a:p>
            <a:pPr marL="0" indent="0">
              <a:lnSpc>
                <a:spcPct val="170000"/>
              </a:lnSpc>
              <a:buNone/>
            </a:pPr>
            <a:endParaRPr lang="zh-CN" altLang="en-US" b="1" dirty="0"/>
          </a:p>
        </p:txBody>
      </p:sp>
      <p:sp>
        <p:nvSpPr>
          <p:cNvPr id="4" name="文本框 3"/>
          <p:cNvSpPr txBox="1"/>
          <p:nvPr/>
        </p:nvSpPr>
        <p:spPr>
          <a:xfrm>
            <a:off x="1803663" y="3092256"/>
            <a:ext cx="8511540" cy="1105535"/>
          </a:xfrm>
          <a:prstGeom prst="rect">
            <a:avLst/>
          </a:prstGeom>
          <a:solidFill>
            <a:schemeClr val="tx2">
              <a:lumMod val="10000"/>
              <a:lumOff val="90000"/>
            </a:schemeClr>
          </a:solidFill>
          <a:ln>
            <a:solidFill>
              <a:schemeClr val="accent1"/>
            </a:solidFill>
          </a:ln>
        </p:spPr>
        <p:txBody>
          <a:bodyPr wrap="none" rtlCol="0" anchor="t">
            <a:spAutoFit/>
          </a:bodyPr>
          <a:lstStyle/>
          <a:p>
            <a:pPr algn="l">
              <a:lnSpc>
                <a:spcPct val="120000"/>
              </a:lnSpc>
              <a:spcBef>
                <a:spcPts val="1000"/>
              </a:spcBef>
              <a:buFont typeface="Arial" panose="020B0604020202020204" pitchFamily="34" charset="0"/>
            </a:pPr>
            <a:r>
              <a:rPr lang="zh-CN" altLang="en-US" sz="2400" b="1" dirty="0">
                <a:solidFill>
                  <a:srgbClr val="FF0000"/>
                </a:solidFill>
                <a:latin typeface="微软雅黑" panose="020B0503020204020204" charset="-122"/>
                <a:ea typeface="微软雅黑" panose="020B0503020204020204" charset="-122"/>
                <a:sym typeface="+mn-ea"/>
              </a:rPr>
              <a:t>DELETE FROM user</a:t>
            </a:r>
          </a:p>
          <a:p>
            <a:pPr algn="l">
              <a:lnSpc>
                <a:spcPct val="120000"/>
              </a:lnSpc>
              <a:spcBef>
                <a:spcPts val="1000"/>
              </a:spcBef>
              <a:buFont typeface="Arial" panose="020B0604020202020204" pitchFamily="34" charset="0"/>
            </a:pPr>
            <a:r>
              <a:rPr lang="zh-CN" altLang="en-US" sz="2400" b="1" dirty="0">
                <a:solidFill>
                  <a:srgbClr val="FF0000"/>
                </a:solidFill>
                <a:latin typeface="微软雅黑" panose="020B0503020204020204" charset="-122"/>
                <a:ea typeface="微软雅黑" panose="020B0503020204020204" charset="-122"/>
                <a:sym typeface="+mn-ea"/>
              </a:rPr>
              <a:t>WHERE Host=‘localhost’AND User=‘username’；</a:t>
            </a:r>
          </a:p>
        </p:txBody>
      </p:sp>
    </p:spTree>
    <p:custDataLst>
      <p:tags r:id="rId1"/>
    </p:custDataLst>
    <p:extLst>
      <p:ext uri="{BB962C8B-B14F-4D97-AF65-F5344CB8AC3E}">
        <p14:creationId xmlns:p14="http://schemas.microsoft.com/office/powerpoint/2010/main" val="4240068700"/>
      </p:ext>
    </p:extLst>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1424" y="404664"/>
            <a:ext cx="10972800" cy="4054475"/>
          </a:xfrm>
        </p:spPr>
        <p:txBody>
          <a:bodyPr/>
          <a:lstStyle/>
          <a:p>
            <a:pPr marL="0" indent="0">
              <a:lnSpc>
                <a:spcPct val="150000"/>
              </a:lnSpc>
              <a:buNone/>
            </a:pPr>
            <a:r>
              <a:rPr lang="zh-CN" altLang="en-US" sz="2400" b="1" dirty="0"/>
              <a:t>3. MySQL的权限管理原理</a:t>
            </a:r>
          </a:p>
          <a:p>
            <a:pPr marL="0" indent="0">
              <a:lnSpc>
                <a:spcPct val="150000"/>
              </a:lnSpc>
              <a:buNone/>
            </a:pPr>
            <a:r>
              <a:rPr lang="zh-CN" altLang="en-US" sz="2800" dirty="0"/>
              <a:t>      MySQL权限的工作原理包括两个阶段：</a:t>
            </a:r>
            <a:r>
              <a:rPr lang="zh-CN" altLang="en-US" sz="2800" b="1" dirty="0">
                <a:solidFill>
                  <a:srgbClr val="FF0000"/>
                </a:solidFill>
              </a:rPr>
              <a:t>连接验证阶段</a:t>
            </a:r>
            <a:r>
              <a:rPr lang="zh-CN" altLang="en-US" sz="2800" dirty="0"/>
              <a:t>和</a:t>
            </a:r>
            <a:r>
              <a:rPr lang="zh-CN" altLang="en-US" sz="2800" b="1" dirty="0">
                <a:solidFill>
                  <a:srgbClr val="FF0000"/>
                </a:solidFill>
              </a:rPr>
              <a:t>请求验证阶段</a:t>
            </a:r>
            <a:r>
              <a:rPr lang="zh-CN" altLang="en-US" sz="2800" dirty="0"/>
              <a:t>。</a:t>
            </a:r>
          </a:p>
          <a:p>
            <a:pPr marL="0" indent="0">
              <a:lnSpc>
                <a:spcPct val="150000"/>
              </a:lnSpc>
              <a:buNone/>
            </a:pPr>
            <a:r>
              <a:rPr lang="zh-CN" altLang="en-US" sz="2800" dirty="0"/>
              <a:t>（</a:t>
            </a:r>
            <a:r>
              <a:rPr lang="en-US" altLang="zh-CN" sz="2800" dirty="0"/>
              <a:t>1</a:t>
            </a:r>
            <a:r>
              <a:rPr lang="zh-CN" altLang="en-US" sz="2800" dirty="0"/>
              <a:t>）连接验证阶段</a:t>
            </a:r>
          </a:p>
          <a:p>
            <a:pPr marL="0" indent="0">
              <a:lnSpc>
                <a:spcPct val="150000"/>
              </a:lnSpc>
              <a:buNone/>
            </a:pPr>
            <a:r>
              <a:rPr lang="zh-CN" altLang="en-US" sz="2800" dirty="0"/>
              <a:t>      MySQL权限系统将检查用户是否被允许连接到MySQL服务器。</a:t>
            </a:r>
          </a:p>
          <a:p>
            <a:pPr marL="0" indent="0">
              <a:lnSpc>
                <a:spcPct val="150000"/>
              </a:lnSpc>
              <a:buNone/>
            </a:pPr>
            <a:r>
              <a:rPr lang="zh-CN" altLang="en-US" sz="2800" dirty="0"/>
              <a:t>（</a:t>
            </a:r>
            <a:r>
              <a:rPr lang="en-US" altLang="zh-CN" sz="2800" dirty="0"/>
              <a:t>2</a:t>
            </a:r>
            <a:r>
              <a:rPr lang="zh-CN" altLang="en-US" sz="2800" dirty="0"/>
              <a:t>）请求验证阶段</a:t>
            </a:r>
          </a:p>
          <a:p>
            <a:pPr marL="0" indent="0">
              <a:lnSpc>
                <a:spcPct val="150000"/>
              </a:lnSpc>
              <a:buNone/>
            </a:pPr>
            <a:r>
              <a:rPr lang="zh-CN" altLang="en-US" sz="2800" dirty="0"/>
              <a:t>      MySQL权限系统将会检查用户所发出的每一个对于数据库的操作请求，以确定用户是否具有足够的权限来执行这一操作。</a:t>
            </a:r>
          </a:p>
        </p:txBody>
      </p:sp>
    </p:spTree>
    <p:custDataLst>
      <p:tags r:id="rId1"/>
    </p:custDataLst>
    <p:extLst>
      <p:ext uri="{BB962C8B-B14F-4D97-AF65-F5344CB8AC3E}">
        <p14:creationId xmlns:p14="http://schemas.microsoft.com/office/powerpoint/2010/main" val="1048930621"/>
      </p:ext>
    </p:extLst>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1988840"/>
            <a:ext cx="2448272" cy="854968"/>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第二节</a:t>
            </a:r>
          </a:p>
        </p:txBody>
      </p:sp>
      <p:sp>
        <p:nvSpPr>
          <p:cNvPr id="2" name="标题 1"/>
          <p:cNvSpPr>
            <a:spLocks noGrp="1"/>
          </p:cNvSpPr>
          <p:nvPr>
            <p:ph type="title"/>
          </p:nvPr>
        </p:nvSpPr>
        <p:spPr>
          <a:xfrm>
            <a:off x="1271464" y="3356992"/>
            <a:ext cx="9649072" cy="1256758"/>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algn="ctr"/>
            <a:r>
              <a:rPr lang="zh-CN" altLang="en-US" sz="6000" b="1" kern="10" spc="60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数据库的完整性</a:t>
            </a:r>
          </a:p>
        </p:txBody>
      </p:sp>
      <p:sp>
        <p:nvSpPr>
          <p:cNvPr id="4" name="标题 1">
            <a:extLst>
              <a:ext uri="{FF2B5EF4-FFF2-40B4-BE49-F238E27FC236}">
                <a16:creationId xmlns:a16="http://schemas.microsoft.com/office/drawing/2014/main" id="{1DECDF0B-FDC0-4C58-9326-80561E26595A}"/>
              </a:ext>
            </a:extLst>
          </p:cNvPr>
          <p:cNvSpPr txBox="1">
            <a:spLocks/>
          </p:cNvSpPr>
          <p:nvPr/>
        </p:nvSpPr>
        <p:spPr bwMode="auto">
          <a:xfrm>
            <a:off x="983432" y="296696"/>
            <a:ext cx="4284000" cy="396000"/>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第七章  数据库安全保护</a:t>
            </a:r>
          </a:p>
        </p:txBody>
      </p:sp>
    </p:spTree>
    <p:extLst>
      <p:ext uri="{BB962C8B-B14F-4D97-AF65-F5344CB8AC3E}">
        <p14:creationId xmlns:p14="http://schemas.microsoft.com/office/powerpoint/2010/main" val="154571584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692696"/>
            <a:ext cx="10972800" cy="4054475"/>
          </a:xfrm>
        </p:spPr>
        <p:txBody>
          <a:bodyPr/>
          <a:lstStyle/>
          <a:p>
            <a:pPr marL="0" indent="0">
              <a:lnSpc>
                <a:spcPct val="150000"/>
              </a:lnSpc>
              <a:buNone/>
            </a:pPr>
            <a:r>
              <a:rPr lang="zh-CN" altLang="en-US" sz="2800" b="1" dirty="0"/>
              <a:t>7.2.1 数据库完整性概述</a:t>
            </a:r>
            <a:endParaRPr lang="zh-CN" altLang="en-US" sz="2800" dirty="0"/>
          </a:p>
          <a:p>
            <a:pPr marL="0" indent="0">
              <a:lnSpc>
                <a:spcPct val="150000"/>
              </a:lnSpc>
              <a:buNone/>
            </a:pPr>
            <a:r>
              <a:rPr lang="zh-CN" altLang="en-US" sz="2800" dirty="0"/>
              <a:t>       数据库的完整性是指数据的正确性和相容性。数据的完整性是为了防止数据库中存在</a:t>
            </a:r>
            <a:r>
              <a:rPr lang="zh-CN" altLang="en-US" sz="2800" dirty="0">
                <a:solidFill>
                  <a:srgbClr val="FF0000"/>
                </a:solidFill>
              </a:rPr>
              <a:t>不符合语义</a:t>
            </a:r>
            <a:r>
              <a:rPr lang="zh-CN" altLang="en-US" sz="2800" dirty="0"/>
              <a:t>的数据。数据库中的数据是否具备完整性关系到数据能否真实的反应现实世界。</a:t>
            </a:r>
          </a:p>
          <a:p>
            <a:pPr marL="0" indent="0">
              <a:lnSpc>
                <a:spcPct val="150000"/>
              </a:lnSpc>
              <a:buNone/>
            </a:pPr>
            <a:r>
              <a:rPr lang="zh-CN" altLang="en-US" sz="2800" dirty="0"/>
              <a:t>      数据库的完整性不同于数据库的安全性，安全性措施的防范对象是</a:t>
            </a:r>
            <a:r>
              <a:rPr lang="zh-CN" altLang="en-US" sz="2800" dirty="0">
                <a:solidFill>
                  <a:srgbClr val="FF0000"/>
                </a:solidFill>
              </a:rPr>
              <a:t>非法用户和非法操作</a:t>
            </a:r>
            <a:r>
              <a:rPr lang="zh-CN" altLang="en-US" sz="2800" dirty="0"/>
              <a:t>；完整性措施的防范对象是</a:t>
            </a:r>
            <a:r>
              <a:rPr lang="zh-CN" altLang="en-US" sz="2800" dirty="0">
                <a:solidFill>
                  <a:srgbClr val="FF0000"/>
                </a:solidFill>
              </a:rPr>
              <a:t>不合语义的数据</a:t>
            </a:r>
            <a:r>
              <a:rPr lang="zh-CN" altLang="en-US" sz="2800" dirty="0"/>
              <a:t>。从数据库的安全保护角度来看，数据库的安全性和完整性是密不可分的。</a:t>
            </a:r>
          </a:p>
        </p:txBody>
      </p:sp>
    </p:spTree>
    <p:custDataLst>
      <p:tags r:id="rId1"/>
    </p:custDataLst>
    <p:extLst>
      <p:ext uri="{BB962C8B-B14F-4D97-AF65-F5344CB8AC3E}">
        <p14:creationId xmlns:p14="http://schemas.microsoft.com/office/powerpoint/2010/main" val="3041969225"/>
      </p:ext>
    </p:extLst>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title"/>
          </p:nvPr>
        </p:nvSpPr>
        <p:spPr>
          <a:xfrm>
            <a:off x="1127448" y="101332"/>
            <a:ext cx="3223172"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数据库完整性</a:t>
            </a:r>
          </a:p>
        </p:txBody>
      </p:sp>
      <p:sp>
        <p:nvSpPr>
          <p:cNvPr id="1138693" name="Rectangle 5"/>
          <p:cNvSpPr>
            <a:spLocks noGrp="1" noChangeArrowheads="1"/>
          </p:cNvSpPr>
          <p:nvPr>
            <p:ph idx="1"/>
          </p:nvPr>
        </p:nvSpPr>
        <p:spPr>
          <a:xfrm>
            <a:off x="1127448" y="1012313"/>
            <a:ext cx="10009112" cy="647700"/>
          </a:xfrm>
        </p:spPr>
        <p:txBody>
          <a:bodyPr/>
          <a:lstStyle/>
          <a:p>
            <a:pPr marL="0" indent="0" algn="just" eaLnBrk="1" hangingPunct="1">
              <a:spcAft>
                <a:spcPct val="60000"/>
              </a:spcAft>
              <a:buNone/>
              <a:defRPr/>
            </a:pPr>
            <a:r>
              <a:rPr kumimoji="1" lang="zh-CN" altLang="en-US" dirty="0"/>
              <a:t>完整性是指数据的正确性、有效性和相容性，以防止不合</a:t>
            </a:r>
            <a:r>
              <a:rPr kumimoji="1" lang="zh-CN" altLang="en-US" sz="4000" b="1" dirty="0">
                <a:solidFill>
                  <a:srgbClr val="FFFF00"/>
                </a:solidFill>
              </a:rPr>
              <a:t>语义</a:t>
            </a:r>
            <a:r>
              <a:rPr kumimoji="1" lang="zh-CN" altLang="en-US" dirty="0"/>
              <a:t>的数据进入数据库。</a:t>
            </a:r>
            <a:r>
              <a:rPr lang="zh-CN" altLang="en-US" dirty="0"/>
              <a:t> </a:t>
            </a:r>
            <a:endParaRPr lang="en-US" altLang="zh-CN" dirty="0">
              <a:effectLst/>
              <a:latin typeface="楷体_GB2312" pitchFamily="49" charset="-122"/>
            </a:endParaRPr>
          </a:p>
        </p:txBody>
      </p:sp>
      <p:sp>
        <p:nvSpPr>
          <p:cNvPr id="10244" name="Rectangle 4"/>
          <p:cNvSpPr>
            <a:spLocks noChangeArrowheads="1"/>
          </p:cNvSpPr>
          <p:nvPr/>
        </p:nvSpPr>
        <p:spPr bwMode="auto">
          <a:xfrm>
            <a:off x="6600056" y="2219346"/>
            <a:ext cx="38163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pPr algn="just">
              <a:spcAft>
                <a:spcPct val="60000"/>
              </a:spcAft>
              <a:buClr>
                <a:srgbClr val="66FF33"/>
              </a:buClr>
              <a:buSzPct val="85000"/>
            </a:pPr>
            <a:r>
              <a:rPr kumimoji="0" lang="zh-CN" altLang="en-US" sz="2800">
                <a:solidFill>
                  <a:srgbClr val="99FF99"/>
                </a:solidFill>
                <a:effectLst/>
              </a:rPr>
              <a:t>例如语义约定：</a:t>
            </a:r>
          </a:p>
        </p:txBody>
      </p:sp>
      <p:graphicFrame>
        <p:nvGraphicFramePr>
          <p:cNvPr id="1138694" name="Group 6"/>
          <p:cNvGraphicFramePr>
            <a:graphicFrameLocks noGrp="1"/>
          </p:cNvGraphicFramePr>
          <p:nvPr>
            <p:extLst>
              <p:ext uri="{D42A27DB-BD31-4B8C-83A1-F6EECF244321}">
                <p14:modId xmlns:p14="http://schemas.microsoft.com/office/powerpoint/2010/main" val="2449652929"/>
              </p:ext>
            </p:extLst>
          </p:nvPr>
        </p:nvGraphicFramePr>
        <p:xfrm>
          <a:off x="1226420" y="2543196"/>
          <a:ext cx="4005485" cy="3873504"/>
        </p:xfrm>
        <a:graphic>
          <a:graphicData uri="http://schemas.openxmlformats.org/drawingml/2006/table">
            <a:tbl>
              <a:tblPr/>
              <a:tblGrid>
                <a:gridCol w="856864">
                  <a:extLst>
                    <a:ext uri="{9D8B030D-6E8A-4147-A177-3AD203B41FA5}">
                      <a16:colId xmlns:a16="http://schemas.microsoft.com/office/drawing/2014/main" val="20000"/>
                    </a:ext>
                  </a:extLst>
                </a:gridCol>
                <a:gridCol w="972877">
                  <a:extLst>
                    <a:ext uri="{9D8B030D-6E8A-4147-A177-3AD203B41FA5}">
                      <a16:colId xmlns:a16="http://schemas.microsoft.com/office/drawing/2014/main" val="20001"/>
                    </a:ext>
                  </a:extLst>
                </a:gridCol>
                <a:gridCol w="730676">
                  <a:extLst>
                    <a:ext uri="{9D8B030D-6E8A-4147-A177-3AD203B41FA5}">
                      <a16:colId xmlns:a16="http://schemas.microsoft.com/office/drawing/2014/main" val="20002"/>
                    </a:ext>
                  </a:extLst>
                </a:gridCol>
                <a:gridCol w="730675">
                  <a:extLst>
                    <a:ext uri="{9D8B030D-6E8A-4147-A177-3AD203B41FA5}">
                      <a16:colId xmlns:a16="http://schemas.microsoft.com/office/drawing/2014/main" val="20003"/>
                    </a:ext>
                  </a:extLst>
                </a:gridCol>
                <a:gridCol w="714393">
                  <a:extLst>
                    <a:ext uri="{9D8B030D-6E8A-4147-A177-3AD203B41FA5}">
                      <a16:colId xmlns:a16="http://schemas.microsoft.com/office/drawing/2014/main" val="20004"/>
                    </a:ext>
                  </a:extLst>
                </a:gridCol>
              </a:tblGrid>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学号</a:t>
                      </a:r>
                      <a:endParaRPr kumimoji="0" lang="en-US" altLang="zh-CN" sz="20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姓名</a:t>
                      </a:r>
                      <a:endParaRPr kumimoji="0" lang="en-US" altLang="zh-CN" sz="20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性别</a:t>
                      </a:r>
                      <a:endParaRPr kumimoji="0" lang="en-US" altLang="zh-CN" sz="20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年龄</a:t>
                      </a:r>
                      <a:endParaRPr kumimoji="0" lang="en-US" altLang="zh-CN" sz="20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系</a:t>
                      </a:r>
                      <a:endParaRPr kumimoji="0" lang="en-US" altLang="zh-CN" sz="20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238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99001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朱然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99002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李度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99003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王成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3850">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99004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孙空</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263">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99005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赵敏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0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1138788" name="Rectangle 100"/>
          <p:cNvSpPr>
            <a:spLocks noChangeArrowheads="1"/>
          </p:cNvSpPr>
          <p:nvPr/>
        </p:nvSpPr>
        <p:spPr bwMode="auto">
          <a:xfrm>
            <a:off x="6744518" y="2948008"/>
            <a:ext cx="4103688" cy="304800"/>
          </a:xfrm>
          <a:prstGeom prst="rect">
            <a:avLst/>
          </a:prstGeom>
          <a:noFill/>
          <a:ln w="12700" cap="sq">
            <a:noFill/>
            <a:miter lim="800000"/>
            <a:headEnd/>
            <a:tailEnd/>
          </a:ln>
          <a:effectLst/>
        </p:spPr>
        <p:txBody>
          <a:bodyPr lIns="0" tIns="0" rIns="0" bIns="0"/>
          <a:lstStyle/>
          <a:p>
            <a:pPr>
              <a:spcBef>
                <a:spcPct val="50000"/>
              </a:spcBef>
              <a:spcAft>
                <a:spcPct val="0"/>
              </a:spcAft>
              <a:buSzTx/>
              <a:buFontTx/>
              <a:buNone/>
              <a:defRPr/>
            </a:pPr>
            <a:r>
              <a:rPr lang="zh-CN" altLang="en-US" sz="2800" dirty="0">
                <a:effectLst>
                  <a:outerShdw blurRad="38100" dist="38100" dir="2700000" algn="tl">
                    <a:srgbClr val="000000"/>
                  </a:outerShdw>
                </a:effectLst>
                <a:latin typeface="Times New Roman" pitchFamily="18" charset="0"/>
              </a:rPr>
              <a:t>性别只能是</a:t>
            </a:r>
            <a:r>
              <a:rPr lang="en-US" altLang="zh-CN" sz="2800" dirty="0">
                <a:effectLst>
                  <a:outerShdw blurRad="38100" dist="38100" dir="2700000" algn="tl">
                    <a:srgbClr val="000000"/>
                  </a:outerShdw>
                </a:effectLst>
                <a:latin typeface="Times New Roman" pitchFamily="18" charset="0"/>
              </a:rPr>
              <a:t>"</a:t>
            </a:r>
            <a:r>
              <a:rPr lang="zh-CN" altLang="en-US" sz="2800" dirty="0">
                <a:effectLst>
                  <a:outerShdw blurRad="38100" dist="38100" dir="2700000" algn="tl">
                    <a:srgbClr val="000000"/>
                  </a:outerShdw>
                </a:effectLst>
                <a:latin typeface="Times New Roman" pitchFamily="18" charset="0"/>
              </a:rPr>
              <a:t>男</a:t>
            </a:r>
            <a:r>
              <a:rPr lang="en-US" altLang="zh-CN" sz="2800" dirty="0">
                <a:effectLst>
                  <a:outerShdw blurRad="38100" dist="38100" dir="2700000" algn="tl">
                    <a:srgbClr val="000000"/>
                  </a:outerShdw>
                </a:effectLst>
                <a:latin typeface="Times New Roman" pitchFamily="18" charset="0"/>
              </a:rPr>
              <a:t>"</a:t>
            </a:r>
            <a:r>
              <a:rPr lang="zh-CN" altLang="en-US" sz="2800" dirty="0">
                <a:effectLst>
                  <a:outerShdw blurRad="38100" dist="38100" dir="2700000" algn="tl">
                    <a:srgbClr val="000000"/>
                  </a:outerShdw>
                </a:effectLst>
                <a:latin typeface="Times New Roman" pitchFamily="18" charset="0"/>
              </a:rPr>
              <a:t>或</a:t>
            </a:r>
            <a:r>
              <a:rPr lang="en-US" altLang="zh-CN" sz="2800" dirty="0">
                <a:effectLst>
                  <a:outerShdw blurRad="38100" dist="38100" dir="2700000" algn="tl">
                    <a:srgbClr val="000000"/>
                  </a:outerShdw>
                </a:effectLst>
                <a:latin typeface="Times New Roman" pitchFamily="18" charset="0"/>
              </a:rPr>
              <a:t>"</a:t>
            </a:r>
            <a:r>
              <a:rPr lang="zh-CN" altLang="en-US" sz="2800" dirty="0">
                <a:effectLst>
                  <a:outerShdw blurRad="38100" dist="38100" dir="2700000" algn="tl">
                    <a:srgbClr val="000000"/>
                  </a:outerShdw>
                </a:effectLst>
                <a:latin typeface="Times New Roman" pitchFamily="18" charset="0"/>
              </a:rPr>
              <a:t>女</a:t>
            </a:r>
            <a:r>
              <a:rPr lang="en-US" altLang="zh-CN" sz="2800" dirty="0">
                <a:effectLst>
                  <a:outerShdw blurRad="38100" dist="38100" dir="2700000" algn="tl">
                    <a:srgbClr val="000000"/>
                  </a:outerShdw>
                </a:effectLst>
                <a:latin typeface="Times New Roman" pitchFamily="18" charset="0"/>
              </a:rPr>
              <a:t>"</a:t>
            </a:r>
            <a:r>
              <a:rPr lang="zh-CN" altLang="en-US" sz="2800" dirty="0">
                <a:effectLst>
                  <a:outerShdw blurRad="38100" dist="38100" dir="2700000" algn="tl">
                    <a:srgbClr val="000000"/>
                  </a:outerShdw>
                </a:effectLst>
                <a:latin typeface="Times New Roman" pitchFamily="18" charset="0"/>
              </a:rPr>
              <a:t>并且不能为空。</a:t>
            </a:r>
          </a:p>
          <a:p>
            <a:pPr>
              <a:spcBef>
                <a:spcPct val="50000"/>
              </a:spcBef>
              <a:spcAft>
                <a:spcPct val="0"/>
              </a:spcAft>
              <a:buSzTx/>
              <a:buFontTx/>
              <a:buNone/>
              <a:defRPr/>
            </a:pPr>
            <a:r>
              <a:rPr lang="zh-CN" altLang="en-US" sz="2800" dirty="0">
                <a:effectLst>
                  <a:outerShdw blurRad="38100" dist="38100" dir="2700000" algn="tl">
                    <a:srgbClr val="000000"/>
                  </a:outerShdw>
                </a:effectLst>
                <a:latin typeface="Times New Roman" pitchFamily="18" charset="0"/>
              </a:rPr>
              <a:t>年龄为两位正整数。</a:t>
            </a:r>
          </a:p>
        </p:txBody>
      </p:sp>
      <p:sp>
        <p:nvSpPr>
          <p:cNvPr id="10325" name="Rectangle 101"/>
          <p:cNvSpPr>
            <a:spLocks noChangeArrowheads="1"/>
          </p:cNvSpPr>
          <p:nvPr/>
        </p:nvSpPr>
        <p:spPr bwMode="auto">
          <a:xfrm>
            <a:off x="6600056" y="4751408"/>
            <a:ext cx="42481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pPr algn="just">
              <a:spcAft>
                <a:spcPct val="60000"/>
              </a:spcAft>
              <a:buClr>
                <a:srgbClr val="66FF33"/>
              </a:buClr>
              <a:buSzPct val="85000"/>
            </a:pPr>
            <a:r>
              <a:rPr kumimoji="0" lang="zh-CN" altLang="en-US" sz="2800">
                <a:solidFill>
                  <a:srgbClr val="99FF99"/>
                </a:solidFill>
                <a:effectLst/>
              </a:rPr>
              <a:t>那么必须实施完整性保护以保证对该表数据的操作满足上述约定（称为完整性约束条件）。</a:t>
            </a:r>
            <a:endParaRPr kumimoji="0" lang="en-US" altLang="zh-CN" sz="2800">
              <a:solidFill>
                <a:srgbClr val="99FF99"/>
              </a:solidFill>
              <a:effectLst/>
            </a:endParaRP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9416" y="1052736"/>
            <a:ext cx="10440035" cy="4168140"/>
          </a:xfrm>
        </p:spPr>
        <p:txBody>
          <a:bodyPr>
            <a:normAutofit fontScale="70000" lnSpcReduction="20000"/>
          </a:bodyPr>
          <a:lstStyle/>
          <a:p>
            <a:pPr marL="0" indent="0">
              <a:lnSpc>
                <a:spcPct val="170000"/>
              </a:lnSpc>
              <a:buNone/>
            </a:pPr>
            <a:r>
              <a:rPr lang="zh-CN" altLang="en-US" sz="3200" b="1" dirty="0"/>
              <a:t>7.2.2 完整性规的形式化定义</a:t>
            </a:r>
            <a:endParaRPr lang="zh-CN" altLang="en-US" dirty="0"/>
          </a:p>
          <a:p>
            <a:pPr marL="0" indent="0">
              <a:lnSpc>
                <a:spcPct val="170000"/>
              </a:lnSpc>
              <a:buNone/>
            </a:pPr>
            <a:r>
              <a:rPr lang="zh-CN" altLang="en-US" dirty="0"/>
              <a:t>       数据库的完整性规则由以下三部分构成：</a:t>
            </a:r>
          </a:p>
          <a:p>
            <a:pPr marL="0" lvl="0" indent="0">
              <a:lnSpc>
                <a:spcPct val="170000"/>
              </a:lnSpc>
              <a:buFont typeface="Wingdings" panose="05000000000000000000" charset="0"/>
              <a:buChar char="Ø"/>
            </a:pPr>
            <a:r>
              <a:rPr lang="zh-CN" altLang="en-US" dirty="0"/>
              <a:t>  </a:t>
            </a:r>
            <a:r>
              <a:rPr lang="zh-CN" altLang="en-US" b="1" dirty="0">
                <a:solidFill>
                  <a:srgbClr val="FF0000"/>
                </a:solidFill>
              </a:rPr>
              <a:t>触发条件</a:t>
            </a:r>
            <a:r>
              <a:rPr lang="zh-CN" altLang="en-US" dirty="0"/>
              <a:t>：规定系统什么时候使用规则检查数据；</a:t>
            </a:r>
          </a:p>
          <a:p>
            <a:pPr lvl="0">
              <a:lnSpc>
                <a:spcPct val="170000"/>
              </a:lnSpc>
              <a:buFont typeface="Wingdings" panose="05000000000000000000" charset="0"/>
              <a:buChar char="Ø"/>
            </a:pPr>
            <a:r>
              <a:rPr lang="zh-CN" altLang="en-US" dirty="0"/>
              <a:t> </a:t>
            </a:r>
            <a:r>
              <a:rPr lang="zh-CN" altLang="en-US" b="1" dirty="0" smtClean="0">
                <a:solidFill>
                  <a:srgbClr val="FF0000"/>
                </a:solidFill>
              </a:rPr>
              <a:t>约束条件</a:t>
            </a:r>
            <a:r>
              <a:rPr lang="zh-CN" altLang="en-US" dirty="0"/>
              <a:t>：规定系统检查用户发出的操作请求违背了什么完整性约束条件；</a:t>
            </a:r>
          </a:p>
          <a:p>
            <a:pPr marL="0" lvl="0" indent="0">
              <a:lnSpc>
                <a:spcPct val="170000"/>
              </a:lnSpc>
              <a:buFont typeface="Wingdings" panose="05000000000000000000" charset="0"/>
              <a:buChar char="Ø"/>
            </a:pPr>
            <a:r>
              <a:rPr lang="zh-CN" altLang="en-US" dirty="0"/>
              <a:t>  </a:t>
            </a:r>
            <a:r>
              <a:rPr lang="zh-CN" altLang="en-US" b="1" dirty="0">
                <a:solidFill>
                  <a:srgbClr val="FF0000"/>
                </a:solidFill>
              </a:rPr>
              <a:t>违约响应</a:t>
            </a:r>
            <a:r>
              <a:rPr lang="zh-CN" altLang="en-US" dirty="0"/>
              <a:t>：规定系统如果发现用户的操作请求违背了完整性约束条件，应该采取什么动作来保证数据的完整性，即违约时要做的事情。</a:t>
            </a:r>
          </a:p>
          <a:p>
            <a:pPr marL="0" indent="0">
              <a:lnSpc>
                <a:spcPct val="170000"/>
              </a:lnSpc>
              <a:buNone/>
            </a:pPr>
            <a:endParaRPr lang="zh-CN" altLang="en-US" dirty="0"/>
          </a:p>
        </p:txBody>
      </p:sp>
    </p:spTree>
    <p:custDataLst>
      <p:tags r:id="rId1"/>
    </p:custDataLst>
    <p:extLst>
      <p:ext uri="{BB962C8B-B14F-4D97-AF65-F5344CB8AC3E}">
        <p14:creationId xmlns:p14="http://schemas.microsoft.com/office/powerpoint/2010/main" val="1285574947"/>
      </p:ext>
    </p:extLst>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620688"/>
            <a:ext cx="10972800" cy="4054475"/>
          </a:xfrm>
        </p:spPr>
        <p:txBody>
          <a:bodyPr/>
          <a:lstStyle/>
          <a:p>
            <a:pPr marL="0" indent="0">
              <a:lnSpc>
                <a:spcPct val="150000"/>
              </a:lnSpc>
              <a:buNone/>
            </a:pPr>
            <a:r>
              <a:rPr lang="en-US" altLang="zh-CN" sz="2400">
                <a:sym typeface="+mn-ea"/>
              </a:rPr>
              <a:t>       </a:t>
            </a:r>
            <a:r>
              <a:rPr lang="zh-CN" altLang="en-US" sz="2400">
                <a:sym typeface="+mn-ea"/>
              </a:rPr>
              <a:t>一条完整性规则可以形式化的定义为一个</a:t>
            </a:r>
            <a:r>
              <a:rPr lang="zh-CN" altLang="en-US" sz="2400" b="1">
                <a:solidFill>
                  <a:srgbClr val="FF0000"/>
                </a:solidFill>
                <a:sym typeface="+mn-ea"/>
              </a:rPr>
              <a:t>五元组</a:t>
            </a:r>
            <a:r>
              <a:rPr lang="zh-CN" altLang="en-US" sz="2400">
                <a:sym typeface="+mn-ea"/>
              </a:rPr>
              <a:t>（D，O，A，C，P），其中：</a:t>
            </a:r>
            <a:endParaRPr lang="zh-CN" altLang="en-US" sz="2400"/>
          </a:p>
          <a:p>
            <a:pPr marL="0" indent="0">
              <a:lnSpc>
                <a:spcPct val="150000"/>
              </a:lnSpc>
              <a:buNone/>
            </a:pPr>
            <a:r>
              <a:rPr lang="zh-CN" altLang="en-US" sz="2400" b="1">
                <a:solidFill>
                  <a:srgbClr val="FF0000"/>
                </a:solidFill>
                <a:sym typeface="+mn-ea"/>
              </a:rPr>
              <a:t>D（Data）</a:t>
            </a:r>
            <a:r>
              <a:rPr lang="zh-CN" altLang="en-US" sz="2400">
                <a:sym typeface="+mn-ea"/>
              </a:rPr>
              <a:t>：代表约束作用的数据对象；</a:t>
            </a:r>
            <a:endParaRPr lang="zh-CN" altLang="en-US" sz="2400"/>
          </a:p>
          <a:p>
            <a:pPr marL="0" indent="0">
              <a:lnSpc>
                <a:spcPct val="150000"/>
              </a:lnSpc>
              <a:buNone/>
            </a:pPr>
            <a:r>
              <a:rPr lang="zh-CN" altLang="en-US" sz="2400" b="1">
                <a:solidFill>
                  <a:srgbClr val="FF0000"/>
                </a:solidFill>
                <a:sym typeface="+mn-ea"/>
              </a:rPr>
              <a:t>O（Operation）</a:t>
            </a:r>
            <a:r>
              <a:rPr lang="zh-CN" altLang="en-US" sz="2400">
                <a:sym typeface="+mn-ea"/>
              </a:rPr>
              <a:t>：代表触发完整性检查的数据库操作，当用户发出操作请求时需要检查该完整性规则；</a:t>
            </a:r>
            <a:endParaRPr lang="zh-CN" altLang="en-US" sz="2400"/>
          </a:p>
          <a:p>
            <a:pPr marL="0" indent="0">
              <a:lnSpc>
                <a:spcPct val="150000"/>
              </a:lnSpc>
              <a:buNone/>
            </a:pPr>
            <a:r>
              <a:rPr lang="zh-CN" altLang="en-US" sz="2400" b="1">
                <a:solidFill>
                  <a:srgbClr val="FF0000"/>
                </a:solidFill>
                <a:sym typeface="+mn-ea"/>
              </a:rPr>
              <a:t>A（Assertion）</a:t>
            </a:r>
            <a:r>
              <a:rPr lang="zh-CN" altLang="en-US" sz="2400">
                <a:sym typeface="+mn-ea"/>
              </a:rPr>
              <a:t>：代表数据对象必须满足的语义约束，这是规则的主体；</a:t>
            </a:r>
            <a:endParaRPr lang="zh-CN" altLang="en-US" sz="2400"/>
          </a:p>
          <a:p>
            <a:pPr marL="0" indent="0">
              <a:lnSpc>
                <a:spcPct val="150000"/>
              </a:lnSpc>
              <a:buNone/>
            </a:pPr>
            <a:r>
              <a:rPr lang="zh-CN" altLang="en-US" sz="2400" b="1">
                <a:solidFill>
                  <a:srgbClr val="FF0000"/>
                </a:solidFill>
                <a:sym typeface="+mn-ea"/>
              </a:rPr>
              <a:t>C（Condition）</a:t>
            </a:r>
            <a:r>
              <a:rPr lang="zh-CN" altLang="en-US" sz="2400">
                <a:sym typeface="+mn-ea"/>
              </a:rPr>
              <a:t>：代表选择A作用的数据对象值的谓词；</a:t>
            </a:r>
            <a:endParaRPr lang="zh-CN" altLang="en-US" sz="2400"/>
          </a:p>
          <a:p>
            <a:pPr marL="0" indent="0">
              <a:lnSpc>
                <a:spcPct val="150000"/>
              </a:lnSpc>
              <a:buNone/>
            </a:pPr>
            <a:r>
              <a:rPr lang="zh-CN" altLang="en-US" sz="2400" b="1">
                <a:solidFill>
                  <a:srgbClr val="FF0000"/>
                </a:solidFill>
                <a:sym typeface="+mn-ea"/>
              </a:rPr>
              <a:t>P（Procedure）</a:t>
            </a:r>
            <a:r>
              <a:rPr lang="zh-CN" altLang="en-US" sz="2400">
                <a:sym typeface="+mn-ea"/>
              </a:rPr>
              <a:t>：代表违反完整性规则时触发执行的操作过程。</a:t>
            </a:r>
            <a:endParaRPr lang="zh-CN" altLang="en-US" sz="2400"/>
          </a:p>
          <a:p>
            <a:pPr marL="0" indent="0">
              <a:lnSpc>
                <a:spcPct val="150000"/>
              </a:lnSpc>
              <a:buNone/>
            </a:pPr>
            <a:endParaRPr lang="zh-CN" altLang="en-US" sz="2400"/>
          </a:p>
        </p:txBody>
      </p:sp>
    </p:spTree>
    <p:custDataLst>
      <p:tags r:id="rId1"/>
    </p:custDataLst>
    <p:extLst>
      <p:ext uri="{BB962C8B-B14F-4D97-AF65-F5344CB8AC3E}">
        <p14:creationId xmlns:p14="http://schemas.microsoft.com/office/powerpoint/2010/main" val="3717438257"/>
      </p:ext>
    </p:extLst>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title"/>
          </p:nvPr>
        </p:nvSpPr>
        <p:spPr>
          <a:xfrm>
            <a:off x="1127448" y="70741"/>
            <a:ext cx="4762055" cy="760959"/>
          </a:xfr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完整性约束条件分类</a:t>
            </a:r>
          </a:p>
        </p:txBody>
      </p:sp>
      <p:graphicFrame>
        <p:nvGraphicFramePr>
          <p:cNvPr id="1139716" name="Group 4"/>
          <p:cNvGraphicFramePr>
            <a:graphicFrameLocks noGrp="1"/>
          </p:cNvGraphicFramePr>
          <p:nvPr>
            <p:extLst>
              <p:ext uri="{D42A27DB-BD31-4B8C-83A1-F6EECF244321}">
                <p14:modId xmlns:p14="http://schemas.microsoft.com/office/powerpoint/2010/main" val="121027652"/>
              </p:ext>
            </p:extLst>
          </p:nvPr>
        </p:nvGraphicFramePr>
        <p:xfrm>
          <a:off x="623392" y="1052736"/>
          <a:ext cx="10801200" cy="3621907"/>
        </p:xfrm>
        <a:graphic>
          <a:graphicData uri="http://schemas.openxmlformats.org/drawingml/2006/table">
            <a:tbl>
              <a:tblPr/>
              <a:tblGrid>
                <a:gridCol w="1378920">
                  <a:extLst>
                    <a:ext uri="{9D8B030D-6E8A-4147-A177-3AD203B41FA5}">
                      <a16:colId xmlns:a16="http://schemas.microsoft.com/office/drawing/2014/main" val="20000"/>
                    </a:ext>
                  </a:extLst>
                </a:gridCol>
                <a:gridCol w="2761805">
                  <a:extLst>
                    <a:ext uri="{9D8B030D-6E8A-4147-A177-3AD203B41FA5}">
                      <a16:colId xmlns:a16="http://schemas.microsoft.com/office/drawing/2014/main" val="20001"/>
                    </a:ext>
                  </a:extLst>
                </a:gridCol>
                <a:gridCol w="2166589">
                  <a:extLst>
                    <a:ext uri="{9D8B030D-6E8A-4147-A177-3AD203B41FA5}">
                      <a16:colId xmlns:a16="http://schemas.microsoft.com/office/drawing/2014/main" val="20002"/>
                    </a:ext>
                  </a:extLst>
                </a:gridCol>
                <a:gridCol w="4493886">
                  <a:extLst>
                    <a:ext uri="{9D8B030D-6E8A-4147-A177-3AD203B41FA5}">
                      <a16:colId xmlns:a16="http://schemas.microsoft.com/office/drawing/2014/main" val="20003"/>
                    </a:ext>
                  </a:extLst>
                </a:gridCol>
              </a:tblGrid>
              <a:tr h="576064">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endParaRPr kumimoji="0" lang="zh-CN" altLang="en-US" sz="2800" b="1"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1" i="0" u="none" strike="noStrike" cap="none" normalizeH="0" baseline="0" dirty="0">
                          <a:ln>
                            <a:noFill/>
                          </a:ln>
                          <a:solidFill>
                            <a:srgbClr val="99FF99"/>
                          </a:solidFill>
                          <a:effectLst>
                            <a:outerShdw blurRad="38100" dist="38100" dir="2700000" algn="tl">
                              <a:srgbClr val="000000"/>
                            </a:outerShdw>
                          </a:effectLst>
                          <a:latin typeface="楷体_GB2312" pitchFamily="49" charset="-122"/>
                          <a:ea typeface="楷体_GB2312" pitchFamily="49" charset="-122"/>
                        </a:rPr>
                        <a:t>列级</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1" i="0" u="none" strike="noStrike" cap="none" normalizeH="0" baseline="0">
                          <a:ln>
                            <a:noFill/>
                          </a:ln>
                          <a:solidFill>
                            <a:srgbClr val="99FF99"/>
                          </a:solidFill>
                          <a:effectLst>
                            <a:outerShdw blurRad="38100" dist="38100" dir="2700000" algn="tl">
                              <a:srgbClr val="000000"/>
                            </a:outerShdw>
                          </a:effectLst>
                          <a:latin typeface="楷体_GB2312" pitchFamily="49" charset="-122"/>
                          <a:ea typeface="楷体_GB2312" pitchFamily="49" charset="-122"/>
                        </a:rPr>
                        <a:t>元组级</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1" i="0" u="none" strike="noStrike" cap="none" normalizeH="0" baseline="0">
                          <a:ln>
                            <a:noFill/>
                          </a:ln>
                          <a:solidFill>
                            <a:srgbClr val="99FF99"/>
                          </a:solidFill>
                          <a:effectLst>
                            <a:outerShdw blurRad="38100" dist="38100" dir="2700000" algn="tl">
                              <a:srgbClr val="000000"/>
                            </a:outerShdw>
                          </a:effectLst>
                          <a:latin typeface="楷体_GB2312" pitchFamily="49" charset="-122"/>
                          <a:ea typeface="楷体_GB2312" pitchFamily="49" charset="-122"/>
                        </a:rPr>
                        <a:t>关系级</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45864">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a:ln>
                            <a:noFill/>
                          </a:ln>
                          <a:solidFill>
                            <a:srgbClr val="99FF99"/>
                          </a:solidFill>
                          <a:effectLst>
                            <a:outerShdw blurRad="38100" dist="38100" dir="2700000" algn="tl">
                              <a:srgbClr val="000000"/>
                            </a:outerShdw>
                          </a:effectLst>
                          <a:latin typeface="楷体_GB2312" pitchFamily="49" charset="-122"/>
                          <a:ea typeface="楷体_GB2312" pitchFamily="49" charset="-122"/>
                        </a:rPr>
                        <a:t>静态</a:t>
                      </a:r>
                    </a:p>
                  </a:txBody>
                  <a:tcPr marL="57600" marR="0" marT="35994" marB="359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类型</a:t>
                      </a:r>
                    </a:p>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格式</a:t>
                      </a:r>
                    </a:p>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值域</a:t>
                      </a:r>
                    </a:p>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空值</a:t>
                      </a:r>
                    </a:p>
                  </a:txBody>
                  <a:tcPr marL="57600" marR="0" marT="35994" marB="359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10000"/>
                        </a:spcAft>
                        <a:buClr>
                          <a:srgbClr val="66FF33"/>
                        </a:buClr>
                        <a:buSzPct val="85000"/>
                        <a:buFont typeface="Wingdings" pitchFamily="2" charset="2"/>
                        <a:buNone/>
                        <a:tabLst/>
                      </a:pPr>
                      <a:r>
                        <a:rPr kumimoji="0" lang="zh-CN" altLang="en-US"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列间的相互约束</a:t>
                      </a:r>
                    </a:p>
                  </a:txBody>
                  <a:tcPr marL="57600" marR="0" marT="35994" marB="359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实体完整性</a:t>
                      </a:r>
                    </a:p>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参照完整性</a:t>
                      </a:r>
                    </a:p>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函数依赖约束</a:t>
                      </a:r>
                    </a:p>
                    <a:p>
                      <a:pPr marL="0" marR="0" lvl="0" indent="0" algn="ctr" defTabSz="914400" rtl="0" eaLnBrk="1" fontAlgn="base" latinLnBrk="0" hangingPunct="1">
                        <a:lnSpc>
                          <a:spcPct val="100000"/>
                        </a:lnSpc>
                        <a:spcBef>
                          <a:spcPct val="10000"/>
                        </a:spcBef>
                        <a:spcAft>
                          <a:spcPct val="10000"/>
                        </a:spcAft>
                        <a:buClr>
                          <a:srgbClr val="66FF33"/>
                        </a:buClr>
                        <a:buSzPct val="85000"/>
                        <a:buFont typeface="Wingdings" pitchFamily="2" charset="2"/>
                        <a:buNone/>
                        <a:tabLst/>
                      </a:pPr>
                      <a:r>
                        <a:rPr kumimoji="0" lang="zh-CN" altLang="en-US"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统计约束</a:t>
                      </a:r>
                    </a:p>
                  </a:txBody>
                  <a:tcPr marL="57600" marR="0" marT="35994" marB="359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99979">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a:ln>
                            <a:noFill/>
                          </a:ln>
                          <a:solidFill>
                            <a:srgbClr val="99FF99"/>
                          </a:solidFill>
                          <a:effectLst>
                            <a:outerShdw blurRad="38100" dist="38100" dir="2700000" algn="tl">
                              <a:srgbClr val="000000"/>
                            </a:outerShdw>
                          </a:effectLst>
                          <a:latin typeface="楷体_GB2312" pitchFamily="49" charset="-122"/>
                          <a:ea typeface="楷体_GB2312" pitchFamily="49" charset="-122"/>
                        </a:rPr>
                        <a:t>动态</a:t>
                      </a:r>
                    </a:p>
                  </a:txBody>
                  <a:tcPr marL="5715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rPr>
                        <a:t>列的定义或值改变前后的参照</a:t>
                      </a:r>
                      <a:endParaRPr kumimoji="0" lang="en-US" altLang="zh-CN" sz="2800" b="0" i="0" u="none" strike="noStrike" cap="none" normalizeH="0" baseline="0">
                        <a:ln>
                          <a:noFill/>
                        </a:ln>
                        <a:solidFill>
                          <a:srgbClr val="CCFFCC"/>
                        </a:solidFill>
                        <a:effectLst>
                          <a:outerShdw blurRad="38100" dist="38100" dir="2700000" algn="tl">
                            <a:srgbClr val="000000"/>
                          </a:outerShdw>
                        </a:effectLst>
                        <a:latin typeface="楷体_GB2312" pitchFamily="49" charset="-122"/>
                        <a:ea typeface="楷体_GB2312" pitchFamily="49" charset="-122"/>
                      </a:endParaRPr>
                    </a:p>
                  </a:txBody>
                  <a:tcPr marL="5715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元组修改前后的参照</a:t>
                      </a:r>
                    </a:p>
                  </a:txBody>
                  <a:tcPr marL="5715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10000"/>
                        </a:spcBef>
                        <a:spcAft>
                          <a:spcPct val="40000"/>
                        </a:spcAft>
                        <a:buClr>
                          <a:srgbClr val="66FF33"/>
                        </a:buClr>
                        <a:buSzPct val="85000"/>
                        <a:buFont typeface="Wingdings" pitchFamily="2" charset="2"/>
                        <a:buNone/>
                        <a:tabLst/>
                      </a:pPr>
                      <a:r>
                        <a:rPr kumimoji="0" lang="zh-CN" altLang="en-US" sz="2800" b="0" i="0" u="none" strike="noStrike" cap="none" normalizeH="0" baseline="0" dirty="0">
                          <a:ln>
                            <a:noFill/>
                          </a:ln>
                          <a:solidFill>
                            <a:srgbClr val="CCFFCC"/>
                          </a:solidFill>
                          <a:effectLst>
                            <a:outerShdw blurRad="38100" dist="38100" dir="2700000" algn="tl">
                              <a:srgbClr val="000000"/>
                            </a:outerShdw>
                          </a:effectLst>
                          <a:latin typeface="楷体_GB2312" pitchFamily="49" charset="-122"/>
                          <a:ea typeface="楷体_GB2312" pitchFamily="49" charset="-122"/>
                        </a:rPr>
                        <a:t>关系变化前后状态的限制</a:t>
                      </a:r>
                    </a:p>
                  </a:txBody>
                  <a:tcPr marL="5715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39738" name="Text Box 26"/>
          <p:cNvSpPr txBox="1">
            <a:spLocks noChangeArrowheads="1"/>
          </p:cNvSpPr>
          <p:nvPr/>
        </p:nvSpPr>
        <p:spPr bwMode="auto">
          <a:xfrm>
            <a:off x="2208214" y="5157192"/>
            <a:ext cx="7992243" cy="1206484"/>
          </a:xfrm>
          <a:prstGeom prst="rect">
            <a:avLst/>
          </a:prstGeom>
          <a:noFill/>
          <a:ln w="9525">
            <a:noFill/>
            <a:miter lim="800000"/>
            <a:headEnd/>
            <a:tailEnd/>
          </a:ln>
          <a:effectLst/>
        </p:spPr>
        <p:txBody>
          <a:bodyPr/>
          <a:lstStyle>
            <a:defPPr>
              <a:defRPr lang="en-US"/>
            </a:defPPr>
            <a:lvl1pPr marL="358775" indent="-358775" algn="just">
              <a:spcAft>
                <a:spcPct val="50000"/>
              </a:spcAft>
              <a:buClr>
                <a:srgbClr val="66FF33"/>
              </a:buClr>
              <a:buSzPct val="85000"/>
              <a:buBlip>
                <a:blip r:embed="rId2"/>
              </a:buBlip>
              <a:defRPr kumimoji="0" sz="2800">
                <a:solidFill>
                  <a:srgbClr val="CCFFCC"/>
                </a:solidFill>
                <a:effectLst>
                  <a:outerShdw blurRad="38100" dist="38100" dir="2700000" algn="tl">
                    <a:srgbClr val="000000"/>
                  </a:outerShdw>
                </a:effectLst>
                <a:latin typeface="微软雅黑" pitchFamily="34" charset="-122"/>
                <a:ea typeface="微软雅黑" pitchFamily="34" charset="-122"/>
              </a:defRPr>
            </a:lvl1pPr>
          </a:lstStyle>
          <a:p>
            <a:r>
              <a:rPr lang="zh-CN" altLang="en-US" sz="3200" dirty="0"/>
              <a:t>静态约束是对数据定义的约束；</a:t>
            </a:r>
          </a:p>
          <a:p>
            <a:r>
              <a:rPr lang="zh-CN" altLang="en-US" sz="3200" dirty="0"/>
              <a:t>动态约束是对数据状态变迁的约束。</a:t>
            </a:r>
          </a:p>
        </p:txBody>
      </p:sp>
      <p:sp>
        <p:nvSpPr>
          <p:cNvPr id="1139739" name="Line 27"/>
          <p:cNvSpPr>
            <a:spLocks noChangeShapeType="1"/>
          </p:cNvSpPr>
          <p:nvPr/>
        </p:nvSpPr>
        <p:spPr bwMode="auto">
          <a:xfrm>
            <a:off x="630644" y="1052737"/>
            <a:ext cx="1360900" cy="576064"/>
          </a:xfrm>
          <a:prstGeom prst="line">
            <a:avLst/>
          </a:prstGeom>
          <a:noFill/>
          <a:ln w="12700" cap="sq">
            <a:solidFill>
              <a:schemeClr val="tx1"/>
            </a:solidFill>
            <a:round/>
            <a:headEnd/>
            <a:tailEnd/>
          </a:ln>
          <a:effectLst/>
        </p:spPr>
        <p:txBody>
          <a:bodyPr lIns="0" tIns="0" rIns="0" bIns="0"/>
          <a:lstStyle/>
          <a:p>
            <a:pPr>
              <a:defRPr/>
            </a:pPr>
            <a:endParaRPr lang="zh-CN" altLang="en-US" sz="3600"/>
          </a:p>
        </p:txBody>
      </p:sp>
      <p:sp>
        <p:nvSpPr>
          <p:cNvPr id="1139740" name="Rectangle 28"/>
          <p:cNvSpPr>
            <a:spLocks noChangeArrowheads="1"/>
          </p:cNvSpPr>
          <p:nvPr/>
        </p:nvSpPr>
        <p:spPr bwMode="auto">
          <a:xfrm>
            <a:off x="1334936" y="1035468"/>
            <a:ext cx="618759" cy="369332"/>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zh-CN" altLang="en-US" sz="2400" b="1" dirty="0">
                <a:solidFill>
                  <a:srgbClr val="CCFFCC"/>
                </a:solidFill>
                <a:effectLst>
                  <a:outerShdw blurRad="38100" dist="38100" dir="2700000" algn="tl">
                    <a:srgbClr val="000000"/>
                  </a:outerShdw>
                </a:effectLst>
              </a:rPr>
              <a:t>粒度</a:t>
            </a:r>
          </a:p>
        </p:txBody>
      </p:sp>
      <p:sp>
        <p:nvSpPr>
          <p:cNvPr id="1139741" name="Rectangle 29"/>
          <p:cNvSpPr>
            <a:spLocks noChangeArrowheads="1"/>
          </p:cNvSpPr>
          <p:nvPr/>
        </p:nvSpPr>
        <p:spPr bwMode="auto">
          <a:xfrm>
            <a:off x="684054" y="1258950"/>
            <a:ext cx="618759" cy="369332"/>
          </a:xfrm>
          <a:prstGeom prst="rect">
            <a:avLst/>
          </a:prstGeom>
          <a:noFill/>
          <a:ln w="12700" cap="sq" algn="ctr">
            <a:noFill/>
            <a:miter lim="800000"/>
            <a:headEnd/>
            <a:tailEnd/>
          </a:ln>
          <a:effectLst/>
        </p:spPr>
        <p:txBody>
          <a:bodyPr wrap="none" lIns="0" tIns="0" rIns="0" bIns="0">
            <a:spAutoFit/>
          </a:bodyPr>
          <a:lstStyle/>
          <a:p>
            <a:pPr>
              <a:buSzTx/>
              <a:buFontTx/>
              <a:buNone/>
              <a:defRPr/>
            </a:pPr>
            <a:r>
              <a:rPr kumimoji="0" lang="zh-CN" altLang="en-US" sz="2400" b="1" dirty="0">
                <a:solidFill>
                  <a:srgbClr val="CCFFCC"/>
                </a:solidFill>
                <a:effectLst>
                  <a:outerShdw blurRad="38100" dist="38100" dir="2700000" algn="tl">
                    <a:srgbClr val="000000"/>
                  </a:outerShdw>
                </a:effectLst>
              </a:rPr>
              <a:t>状态</a:t>
            </a: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40740" name="Group 4"/>
          <p:cNvGraphicFramePr>
            <a:graphicFrameLocks noGrp="1"/>
          </p:cNvGraphicFramePr>
          <p:nvPr>
            <p:extLst>
              <p:ext uri="{D42A27DB-BD31-4B8C-83A1-F6EECF244321}">
                <p14:modId xmlns:p14="http://schemas.microsoft.com/office/powerpoint/2010/main" val="3086454501"/>
              </p:ext>
            </p:extLst>
          </p:nvPr>
        </p:nvGraphicFramePr>
        <p:xfrm>
          <a:off x="551384" y="1176134"/>
          <a:ext cx="4392487" cy="5205192"/>
        </p:xfrm>
        <a:graphic>
          <a:graphicData uri="http://schemas.openxmlformats.org/drawingml/2006/table">
            <a:tbl>
              <a:tblPr/>
              <a:tblGrid>
                <a:gridCol w="939654">
                  <a:extLst>
                    <a:ext uri="{9D8B030D-6E8A-4147-A177-3AD203B41FA5}">
                      <a16:colId xmlns:a16="http://schemas.microsoft.com/office/drawing/2014/main" val="20000"/>
                    </a:ext>
                  </a:extLst>
                </a:gridCol>
                <a:gridCol w="1066874">
                  <a:extLst>
                    <a:ext uri="{9D8B030D-6E8A-4147-A177-3AD203B41FA5}">
                      <a16:colId xmlns:a16="http://schemas.microsoft.com/office/drawing/2014/main" val="20001"/>
                    </a:ext>
                  </a:extLst>
                </a:gridCol>
                <a:gridCol w="801271">
                  <a:extLst>
                    <a:ext uri="{9D8B030D-6E8A-4147-A177-3AD203B41FA5}">
                      <a16:colId xmlns:a16="http://schemas.microsoft.com/office/drawing/2014/main" val="20002"/>
                    </a:ext>
                  </a:extLst>
                </a:gridCol>
                <a:gridCol w="801273">
                  <a:extLst>
                    <a:ext uri="{9D8B030D-6E8A-4147-A177-3AD203B41FA5}">
                      <a16:colId xmlns:a16="http://schemas.microsoft.com/office/drawing/2014/main" val="20003"/>
                    </a:ext>
                  </a:extLst>
                </a:gridCol>
                <a:gridCol w="783415">
                  <a:extLst>
                    <a:ext uri="{9D8B030D-6E8A-4147-A177-3AD203B41FA5}">
                      <a16:colId xmlns:a16="http://schemas.microsoft.com/office/drawing/2014/main" val="20004"/>
                    </a:ext>
                  </a:extLst>
                </a:gridCol>
              </a:tblGrid>
              <a:tr h="43376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学号</a:t>
                      </a:r>
                      <a:endParaRPr kumimoji="0" lang="en-US" altLang="zh-CN" sz="24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cap="flat">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姓名</a:t>
                      </a:r>
                      <a:endParaRPr kumimoji="0" lang="en-US" altLang="zh-CN" sz="24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性别</a:t>
                      </a:r>
                      <a:endParaRPr kumimoji="0" lang="en-US" altLang="zh-CN" sz="24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年龄</a:t>
                      </a:r>
                      <a:endParaRPr kumimoji="0" lang="en-US" altLang="zh-CN" sz="24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系</a:t>
                      </a:r>
                      <a:endParaRPr kumimoji="0" lang="en-US" altLang="zh-CN" sz="2400" b="1"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endParaRPr>
                    </a:p>
                  </a:txBody>
                  <a:tcPr marL="0" marR="0" marT="0" marB="0" horzOverflow="overflow">
                    <a:lnL w="12700" cap="flat" cmpd="sng" algn="ctr">
                      <a:solidFill>
                        <a:schemeClr val="tx1"/>
                      </a:solidFill>
                      <a:prstDash val="solid"/>
                      <a:round/>
                      <a:headEnd type="none" w="med" len="med"/>
                      <a:tailEnd type="none" w="med" len="med"/>
                    </a:lnL>
                    <a:lnR cap="flat">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376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张明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76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李华</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76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王军</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376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孙六</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376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赵龙</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376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98006</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周艺</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22</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3376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99001</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朱然</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29</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3376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99002</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李度</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30</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MA</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3376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99003</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王成</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男</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28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3376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99004</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孙空</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27</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IS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33766">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99005</a:t>
                      </a:r>
                    </a:p>
                  </a:txBody>
                  <a:tcPr marL="0" marR="0" marT="0" marB="0"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赵敏</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zh-CN" altLang="en-US"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女</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a:ln>
                            <a:noFill/>
                          </a:ln>
                          <a:solidFill>
                            <a:srgbClr val="CCFF33"/>
                          </a:solidFill>
                          <a:effectLst>
                            <a:outerShdw blurRad="38100" dist="38100" dir="2700000" algn="tl">
                              <a:srgbClr val="000000"/>
                            </a:outerShdw>
                          </a:effectLst>
                          <a:latin typeface="Times New Roman" pitchFamily="18" charset="0"/>
                          <a:ea typeface="楷体_GB2312" pitchFamily="49" charset="-122"/>
                        </a:rPr>
                        <a:t>18</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40000"/>
                        </a:spcAft>
                        <a:buClr>
                          <a:srgbClr val="66FF33"/>
                        </a:buClr>
                        <a:buSzPct val="85000"/>
                        <a:buFont typeface="Wingdings" pitchFamily="2" charset="2"/>
                        <a:buNone/>
                        <a:tabLst/>
                      </a:pPr>
                      <a:r>
                        <a:rPr kumimoji="0" lang="en-US" altLang="zh-CN" sz="2400" b="0" i="0" u="none" strike="noStrike" cap="none" normalizeH="0" baseline="0" dirty="0">
                          <a:ln>
                            <a:noFill/>
                          </a:ln>
                          <a:solidFill>
                            <a:srgbClr val="CCFF33"/>
                          </a:solidFill>
                          <a:effectLst>
                            <a:outerShdw blurRad="38100" dist="38100" dir="2700000" algn="tl">
                              <a:srgbClr val="000000"/>
                            </a:outerShdw>
                          </a:effectLst>
                          <a:latin typeface="Times New Roman" pitchFamily="18" charset="0"/>
                          <a:ea typeface="楷体_GB2312" pitchFamily="49" charset="-122"/>
                        </a:rPr>
                        <a:t>CS</a:t>
                      </a:r>
                    </a:p>
                  </a:txBody>
                  <a:tcPr marL="0" marR="0" marT="0" marB="0"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1140834" name="Rectangle 98"/>
          <p:cNvSpPr>
            <a:spLocks noChangeArrowheads="1"/>
          </p:cNvSpPr>
          <p:nvPr/>
        </p:nvSpPr>
        <p:spPr bwMode="auto">
          <a:xfrm>
            <a:off x="5375920" y="992158"/>
            <a:ext cx="5943401" cy="304800"/>
          </a:xfrm>
          <a:prstGeom prst="rect">
            <a:avLst/>
          </a:prstGeom>
          <a:noFill/>
          <a:ln w="12700" cap="sq">
            <a:noFill/>
            <a:miter lim="800000"/>
            <a:headEnd/>
            <a:tailEnd/>
          </a:ln>
          <a:effectLst/>
        </p:spPr>
        <p:txBody>
          <a:bodyPr lIns="0" tIns="0" rIns="0" bIns="0"/>
          <a:lstStyle/>
          <a:p>
            <a:pPr>
              <a:spcBef>
                <a:spcPct val="50000"/>
              </a:spcBef>
              <a:spcAft>
                <a:spcPct val="0"/>
              </a:spcAft>
              <a:buSzTx/>
              <a:buFontTx/>
              <a:buNone/>
              <a:defRPr/>
            </a:pPr>
            <a:r>
              <a:rPr kumimoji="0" lang="zh-CN" altLang="en-US" sz="3000" dirty="0">
                <a:solidFill>
                  <a:srgbClr val="99FF99"/>
                </a:solidFill>
                <a:effectLst/>
              </a:rPr>
              <a:t>性别只能是</a:t>
            </a:r>
            <a:r>
              <a:rPr kumimoji="0" lang="en-US" altLang="zh-CN" sz="3000" dirty="0">
                <a:solidFill>
                  <a:srgbClr val="99FF99"/>
                </a:solidFill>
                <a:effectLst/>
              </a:rPr>
              <a:t>"</a:t>
            </a:r>
            <a:r>
              <a:rPr kumimoji="0" lang="zh-CN" altLang="en-US" sz="3000" dirty="0">
                <a:solidFill>
                  <a:srgbClr val="99FF99"/>
                </a:solidFill>
                <a:effectLst/>
              </a:rPr>
              <a:t>男</a:t>
            </a:r>
            <a:r>
              <a:rPr kumimoji="0" lang="en-US" altLang="zh-CN" sz="3000" dirty="0">
                <a:solidFill>
                  <a:srgbClr val="99FF99"/>
                </a:solidFill>
                <a:effectLst/>
              </a:rPr>
              <a:t>"</a:t>
            </a:r>
            <a:r>
              <a:rPr kumimoji="0" lang="zh-CN" altLang="en-US" sz="3000" dirty="0">
                <a:solidFill>
                  <a:srgbClr val="99FF99"/>
                </a:solidFill>
                <a:effectLst/>
              </a:rPr>
              <a:t>或</a:t>
            </a:r>
            <a:r>
              <a:rPr kumimoji="0" lang="en-US" altLang="zh-CN" sz="3000" dirty="0">
                <a:solidFill>
                  <a:srgbClr val="99FF99"/>
                </a:solidFill>
                <a:effectLst/>
              </a:rPr>
              <a:t>"</a:t>
            </a:r>
            <a:r>
              <a:rPr kumimoji="0" lang="zh-CN" altLang="en-US" sz="3000" dirty="0">
                <a:solidFill>
                  <a:srgbClr val="99FF99"/>
                </a:solidFill>
                <a:effectLst/>
              </a:rPr>
              <a:t>女</a:t>
            </a:r>
            <a:r>
              <a:rPr kumimoji="0" lang="en-US" altLang="zh-CN" sz="3000" dirty="0">
                <a:solidFill>
                  <a:srgbClr val="99FF99"/>
                </a:solidFill>
                <a:effectLst/>
              </a:rPr>
              <a:t>"</a:t>
            </a:r>
            <a:r>
              <a:rPr kumimoji="0" lang="zh-CN" altLang="en-US" sz="3000" dirty="0">
                <a:solidFill>
                  <a:srgbClr val="99FF99"/>
                </a:solidFill>
                <a:effectLst/>
              </a:rPr>
              <a:t>且不能为空</a:t>
            </a:r>
            <a:r>
              <a:rPr kumimoji="0" lang="zh-CN" altLang="en-US" sz="3000" dirty="0">
                <a:solidFill>
                  <a:schemeClr val="folHlink"/>
                </a:solidFill>
                <a:effectLst/>
              </a:rPr>
              <a:t>是静态列级完整性约束</a:t>
            </a:r>
            <a:r>
              <a:rPr lang="zh-CN" altLang="en-US" sz="3000" dirty="0">
                <a:solidFill>
                  <a:schemeClr val="folHlink"/>
                </a:solidFill>
                <a:effectLst>
                  <a:outerShdw blurRad="38100" dist="38100" dir="2700000" algn="tl">
                    <a:srgbClr val="000000"/>
                  </a:outerShdw>
                </a:effectLst>
                <a:latin typeface="Times New Roman" pitchFamily="18" charset="0"/>
              </a:rPr>
              <a:t>。</a:t>
            </a:r>
          </a:p>
          <a:p>
            <a:pPr>
              <a:spcBef>
                <a:spcPct val="50000"/>
              </a:spcBef>
              <a:spcAft>
                <a:spcPct val="0"/>
              </a:spcAft>
              <a:buSzTx/>
              <a:buFontTx/>
              <a:buNone/>
              <a:defRPr/>
            </a:pPr>
            <a:r>
              <a:rPr kumimoji="0" lang="en-US" altLang="zh-CN" sz="3000" dirty="0">
                <a:solidFill>
                  <a:srgbClr val="99FF99"/>
                </a:solidFill>
                <a:effectLst/>
              </a:rPr>
              <a:t>MA</a:t>
            </a:r>
            <a:r>
              <a:rPr kumimoji="0" lang="zh-CN" altLang="en-US" sz="3000" dirty="0">
                <a:solidFill>
                  <a:srgbClr val="99FF99"/>
                </a:solidFill>
                <a:effectLst/>
              </a:rPr>
              <a:t>系的学生必须是女生</a:t>
            </a:r>
            <a:r>
              <a:rPr kumimoji="0" lang="zh-CN" altLang="en-US" sz="3000" dirty="0">
                <a:solidFill>
                  <a:schemeClr val="folHlink"/>
                </a:solidFill>
                <a:effectLst/>
              </a:rPr>
              <a:t>是静态元组级完整性约束。</a:t>
            </a:r>
          </a:p>
          <a:p>
            <a:pPr>
              <a:spcBef>
                <a:spcPct val="50000"/>
              </a:spcBef>
              <a:spcAft>
                <a:spcPct val="0"/>
              </a:spcAft>
              <a:buSzTx/>
              <a:buFontTx/>
              <a:buNone/>
              <a:defRPr/>
            </a:pPr>
            <a:r>
              <a:rPr kumimoji="0" lang="zh-CN" altLang="en-US" sz="3000" dirty="0">
                <a:solidFill>
                  <a:srgbClr val="99FF99"/>
                </a:solidFill>
                <a:effectLst/>
              </a:rPr>
              <a:t>平均年龄不能大于</a:t>
            </a:r>
            <a:r>
              <a:rPr kumimoji="0" lang="en-US" altLang="zh-CN" sz="3000" dirty="0">
                <a:solidFill>
                  <a:srgbClr val="99FF99"/>
                </a:solidFill>
                <a:effectLst/>
              </a:rPr>
              <a:t>25</a:t>
            </a:r>
            <a:r>
              <a:rPr kumimoji="0" lang="zh-CN" altLang="en-US" sz="3000" dirty="0">
                <a:solidFill>
                  <a:schemeClr val="folHlink"/>
                </a:solidFill>
                <a:effectLst/>
              </a:rPr>
              <a:t>是静态关系级</a:t>
            </a:r>
            <a:r>
              <a:rPr kumimoji="0" lang="en-US" altLang="zh-CN" sz="3000" dirty="0">
                <a:solidFill>
                  <a:schemeClr val="folHlink"/>
                </a:solidFill>
                <a:effectLst/>
              </a:rPr>
              <a:t>(</a:t>
            </a:r>
            <a:r>
              <a:rPr kumimoji="0" lang="zh-CN" altLang="en-US" sz="3000" dirty="0">
                <a:solidFill>
                  <a:schemeClr val="folHlink"/>
                </a:solidFill>
                <a:effectLst/>
              </a:rPr>
              <a:t>表级</a:t>
            </a:r>
            <a:r>
              <a:rPr kumimoji="0" lang="en-US" altLang="zh-CN" sz="3000" dirty="0">
                <a:solidFill>
                  <a:schemeClr val="folHlink"/>
                </a:solidFill>
                <a:effectLst/>
              </a:rPr>
              <a:t>)</a:t>
            </a:r>
            <a:r>
              <a:rPr kumimoji="0" lang="zh-CN" altLang="en-US" sz="3000" dirty="0">
                <a:solidFill>
                  <a:schemeClr val="folHlink"/>
                </a:solidFill>
                <a:effectLst/>
              </a:rPr>
              <a:t>完整性约束。</a:t>
            </a:r>
          </a:p>
          <a:p>
            <a:pPr>
              <a:spcBef>
                <a:spcPct val="50000"/>
              </a:spcBef>
              <a:spcAft>
                <a:spcPct val="0"/>
              </a:spcAft>
              <a:buSzTx/>
              <a:buFontTx/>
              <a:buNone/>
              <a:defRPr/>
            </a:pPr>
            <a:r>
              <a:rPr kumimoji="0" lang="zh-CN" altLang="en-US" sz="3000" dirty="0">
                <a:solidFill>
                  <a:srgbClr val="99FF99"/>
                </a:solidFill>
                <a:effectLst/>
              </a:rPr>
              <a:t>改年龄值时新年龄值必须大于原年龄值</a:t>
            </a:r>
            <a:r>
              <a:rPr kumimoji="0" lang="zh-CN" altLang="en-US" sz="3000" dirty="0">
                <a:solidFill>
                  <a:schemeClr val="folHlink"/>
                </a:solidFill>
                <a:effectLst/>
              </a:rPr>
              <a:t>是动态列级完整性约束。</a:t>
            </a:r>
            <a:endParaRPr kumimoji="0" lang="en-US" altLang="zh-CN" sz="3000" dirty="0">
              <a:solidFill>
                <a:schemeClr val="folHlink"/>
              </a:solidFill>
              <a:effectLst/>
            </a:endParaRPr>
          </a:p>
          <a:p>
            <a:pPr>
              <a:spcBef>
                <a:spcPct val="50000"/>
              </a:spcBef>
              <a:spcAft>
                <a:spcPct val="0"/>
              </a:spcAft>
              <a:buSzTx/>
              <a:defRPr/>
            </a:pPr>
            <a:r>
              <a:rPr kumimoji="0" lang="en-US" altLang="zh-CN" sz="3000" dirty="0">
                <a:solidFill>
                  <a:srgbClr val="99FF99"/>
                </a:solidFill>
                <a:effectLst/>
              </a:rPr>
              <a:t>98</a:t>
            </a:r>
            <a:r>
              <a:rPr kumimoji="0" lang="zh-CN" altLang="en-US" sz="3000" dirty="0">
                <a:solidFill>
                  <a:srgbClr val="99FF99"/>
                </a:solidFill>
                <a:effectLst/>
              </a:rPr>
              <a:t>级学生不能转</a:t>
            </a:r>
            <a:r>
              <a:rPr kumimoji="0" lang="en-US" altLang="zh-CN" sz="3000" dirty="0">
                <a:solidFill>
                  <a:srgbClr val="99FF99"/>
                </a:solidFill>
                <a:effectLst/>
              </a:rPr>
              <a:t>(</a:t>
            </a:r>
            <a:r>
              <a:rPr kumimoji="0" lang="zh-CN" altLang="en-US" sz="3000" dirty="0">
                <a:solidFill>
                  <a:srgbClr val="99FF99"/>
                </a:solidFill>
                <a:effectLst/>
              </a:rPr>
              <a:t>修改</a:t>
            </a:r>
            <a:r>
              <a:rPr kumimoji="0" lang="en-US" altLang="zh-CN" sz="3000" dirty="0">
                <a:solidFill>
                  <a:srgbClr val="99FF99"/>
                </a:solidFill>
                <a:effectLst/>
              </a:rPr>
              <a:t>)</a:t>
            </a:r>
            <a:r>
              <a:rPr kumimoji="0" lang="zh-CN" altLang="en-US" sz="3000" dirty="0">
                <a:solidFill>
                  <a:srgbClr val="99FF99"/>
                </a:solidFill>
                <a:effectLst/>
              </a:rPr>
              <a:t>系</a:t>
            </a:r>
            <a:r>
              <a:rPr kumimoji="0" lang="zh-CN" altLang="en-US" sz="3000" dirty="0">
                <a:solidFill>
                  <a:schemeClr val="folHlink"/>
                </a:solidFill>
                <a:effectLst/>
              </a:rPr>
              <a:t>是动态元组级完整性约束。</a:t>
            </a:r>
          </a:p>
        </p:txBody>
      </p:sp>
      <p:sp>
        <p:nvSpPr>
          <p:cNvPr id="7" name="Rectangle 3">
            <a:extLst>
              <a:ext uri="{FF2B5EF4-FFF2-40B4-BE49-F238E27FC236}">
                <a16:creationId xmlns:a16="http://schemas.microsoft.com/office/drawing/2014/main" id="{6B44BDC3-ACC5-4A8E-948F-DCE5783E1C59}"/>
              </a:ext>
            </a:extLst>
          </p:cNvPr>
          <p:cNvSpPr>
            <a:spLocks noGrp="1" noChangeArrowheads="1"/>
          </p:cNvSpPr>
          <p:nvPr>
            <p:ph type="title"/>
          </p:nvPr>
        </p:nvSpPr>
        <p:spPr>
          <a:xfrm>
            <a:off x="1127448" y="70741"/>
            <a:ext cx="4762055" cy="760959"/>
          </a:xfrm>
          <a:noFill/>
          <a:ln w="12700" cap="sq">
            <a:noFill/>
            <a:miter lim="800000"/>
            <a:headEnd/>
            <a:tailEnd/>
          </a:ln>
          <a:effectLst>
            <a:outerShdw dist="35921" dir="2700000" algn="ctr" rotWithShape="0">
              <a:srgbClr val="000514"/>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完整性约束条件分类</a:t>
            </a: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title"/>
          </p:nvPr>
        </p:nvSpPr>
        <p:spPr>
          <a:xfrm>
            <a:off x="1055440" y="30745"/>
            <a:ext cx="2710211"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完整性控制</a:t>
            </a:r>
          </a:p>
        </p:txBody>
      </p:sp>
      <p:sp>
        <p:nvSpPr>
          <p:cNvPr id="13316" name="Rectangle 4"/>
          <p:cNvSpPr>
            <a:spLocks noChangeArrowheads="1"/>
          </p:cNvSpPr>
          <p:nvPr/>
        </p:nvSpPr>
        <p:spPr bwMode="auto">
          <a:xfrm>
            <a:off x="2280170" y="4695901"/>
            <a:ext cx="74882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lstStyle/>
          <a:p>
            <a:pPr>
              <a:spcBef>
                <a:spcPct val="50000"/>
              </a:spcBef>
              <a:spcAft>
                <a:spcPct val="0"/>
              </a:spcAft>
              <a:buSzTx/>
              <a:buFontTx/>
              <a:buNone/>
            </a:pPr>
            <a:r>
              <a:rPr kumimoji="0" lang="zh-CN" altLang="en-US" dirty="0">
                <a:solidFill>
                  <a:srgbClr val="CCFFCC"/>
                </a:solidFill>
                <a:effectLst/>
                <a:latin typeface="微软雅黑" panose="020B0503020204020204" pitchFamily="34" charset="-122"/>
                <a:ea typeface="微软雅黑" panose="020B0503020204020204" pitchFamily="34" charset="-122"/>
              </a:rPr>
              <a:t>完整性约束条件按检查时机又分为两种：</a:t>
            </a:r>
          </a:p>
        </p:txBody>
      </p:sp>
      <p:grpSp>
        <p:nvGrpSpPr>
          <p:cNvPr id="2" name="组合 1">
            <a:extLst>
              <a:ext uri="{FF2B5EF4-FFF2-40B4-BE49-F238E27FC236}">
                <a16:creationId xmlns:a16="http://schemas.microsoft.com/office/drawing/2014/main" id="{D8B78AC5-2C74-454E-B1C0-86CD4DEEA386}"/>
              </a:ext>
            </a:extLst>
          </p:cNvPr>
          <p:cNvGrpSpPr/>
          <p:nvPr/>
        </p:nvGrpSpPr>
        <p:grpSpPr>
          <a:xfrm>
            <a:off x="2135560" y="1379149"/>
            <a:ext cx="7632848" cy="2806375"/>
            <a:chOff x="3359696" y="1551393"/>
            <a:chExt cx="5029200" cy="2148686"/>
          </a:xfrm>
        </p:grpSpPr>
        <p:sp>
          <p:nvSpPr>
            <p:cNvPr id="13317" name="Oval 5"/>
            <p:cNvSpPr>
              <a:spLocks noChangeArrowheads="1"/>
            </p:cNvSpPr>
            <p:nvPr/>
          </p:nvSpPr>
          <p:spPr bwMode="auto">
            <a:xfrm>
              <a:off x="3359696" y="1551393"/>
              <a:ext cx="1066800" cy="990600"/>
            </a:xfrm>
            <a:prstGeom prst="ellipse">
              <a:avLst/>
            </a:prstGeom>
            <a:solidFill>
              <a:srgbClr val="0000FF"/>
            </a:solidFill>
            <a:ln w="1905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dirty="0">
                  <a:solidFill>
                    <a:srgbClr val="FFFF00"/>
                  </a:solidFill>
                  <a:effectLst/>
                  <a:latin typeface="微软雅黑" panose="020B0503020204020204" pitchFamily="34" charset="-122"/>
                  <a:ea typeface="微软雅黑" panose="020B0503020204020204" pitchFamily="34" charset="-122"/>
                </a:rPr>
                <a:t>定义</a:t>
              </a:r>
            </a:p>
          </p:txBody>
        </p:sp>
        <p:sp>
          <p:nvSpPr>
            <p:cNvPr id="13318" name="Oval 6"/>
            <p:cNvSpPr>
              <a:spLocks noChangeArrowheads="1"/>
            </p:cNvSpPr>
            <p:nvPr/>
          </p:nvSpPr>
          <p:spPr bwMode="auto">
            <a:xfrm>
              <a:off x="5188496" y="1551393"/>
              <a:ext cx="1066800" cy="990600"/>
            </a:xfrm>
            <a:prstGeom prst="ellipse">
              <a:avLst/>
            </a:prstGeom>
            <a:solidFill>
              <a:srgbClr val="0000FF"/>
            </a:solidFill>
            <a:ln w="1905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a:solidFill>
                    <a:srgbClr val="FFFF00"/>
                  </a:solidFill>
                  <a:effectLst/>
                  <a:latin typeface="微软雅黑" panose="020B0503020204020204" pitchFamily="34" charset="-122"/>
                  <a:ea typeface="微软雅黑" panose="020B0503020204020204" pitchFamily="34" charset="-122"/>
                </a:rPr>
                <a:t>检查</a:t>
              </a:r>
            </a:p>
          </p:txBody>
        </p:sp>
        <p:sp>
          <p:nvSpPr>
            <p:cNvPr id="13319" name="Oval 7"/>
            <p:cNvSpPr>
              <a:spLocks noChangeArrowheads="1"/>
            </p:cNvSpPr>
            <p:nvPr/>
          </p:nvSpPr>
          <p:spPr bwMode="auto">
            <a:xfrm>
              <a:off x="7322096" y="1627593"/>
              <a:ext cx="1066800" cy="990600"/>
            </a:xfrm>
            <a:prstGeom prst="ellipse">
              <a:avLst/>
            </a:prstGeom>
            <a:solidFill>
              <a:srgbClr val="0000FF"/>
            </a:solidFill>
            <a:ln w="19050" cap="sq">
              <a:solidFill>
                <a:schemeClr val="tx1"/>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pPr>
              <a:r>
                <a:rPr lang="zh-CN" altLang="en-US" dirty="0">
                  <a:solidFill>
                    <a:srgbClr val="FFFF00"/>
                  </a:solidFill>
                  <a:effectLst/>
                  <a:latin typeface="微软雅黑" panose="020B0503020204020204" pitchFamily="34" charset="-122"/>
                  <a:ea typeface="微软雅黑" panose="020B0503020204020204" pitchFamily="34" charset="-122"/>
                </a:rPr>
                <a:t>动作</a:t>
              </a:r>
            </a:p>
          </p:txBody>
        </p:sp>
        <p:sp>
          <p:nvSpPr>
            <p:cNvPr id="1141768" name="Line 8"/>
            <p:cNvSpPr>
              <a:spLocks noChangeShapeType="1"/>
            </p:cNvSpPr>
            <p:nvPr/>
          </p:nvSpPr>
          <p:spPr bwMode="auto">
            <a:xfrm>
              <a:off x="4121696" y="3151593"/>
              <a:ext cx="1524000" cy="0"/>
            </a:xfrm>
            <a:prstGeom prst="line">
              <a:avLst/>
            </a:prstGeom>
            <a:noFill/>
            <a:ln w="28575" cap="sq">
              <a:solidFill>
                <a:schemeClr val="tx1"/>
              </a:solidFill>
              <a:round/>
              <a:headEnd/>
              <a:tailEnd/>
            </a:ln>
            <a:effectLst/>
          </p:spPr>
          <p:txBody>
            <a:bodyPr wrap="none" lIns="0" tIns="0" rIns="0" bIns="0" anchor="ctr"/>
            <a:lstStyle/>
            <a:p>
              <a:pPr>
                <a:defRPr/>
              </a:pPr>
              <a:endParaRPr lang="zh-CN" altLang="en-US" sz="3600">
                <a:latin typeface="微软雅黑" panose="020B0503020204020204" pitchFamily="34" charset="-122"/>
                <a:ea typeface="微软雅黑" panose="020B0503020204020204" pitchFamily="34" charset="-122"/>
              </a:endParaRPr>
            </a:p>
          </p:txBody>
        </p:sp>
        <p:sp>
          <p:nvSpPr>
            <p:cNvPr id="1141769" name="Line 9"/>
            <p:cNvSpPr>
              <a:spLocks noChangeShapeType="1"/>
            </p:cNvSpPr>
            <p:nvPr/>
          </p:nvSpPr>
          <p:spPr bwMode="auto">
            <a:xfrm>
              <a:off x="4121696" y="3238906"/>
              <a:ext cx="1524000" cy="0"/>
            </a:xfrm>
            <a:prstGeom prst="line">
              <a:avLst/>
            </a:prstGeom>
            <a:noFill/>
            <a:ln w="28575" cap="sq">
              <a:solidFill>
                <a:schemeClr val="tx1"/>
              </a:solidFill>
              <a:round/>
              <a:headEnd/>
              <a:tailEnd/>
            </a:ln>
            <a:effectLst/>
          </p:spPr>
          <p:txBody>
            <a:bodyPr wrap="none" lIns="0" tIns="0" rIns="0" bIns="0" anchor="ctr"/>
            <a:lstStyle/>
            <a:p>
              <a:pPr>
                <a:defRPr/>
              </a:pPr>
              <a:endParaRPr lang="zh-CN" altLang="en-US" sz="3600">
                <a:latin typeface="微软雅黑" panose="020B0503020204020204" pitchFamily="34" charset="-122"/>
                <a:ea typeface="微软雅黑" panose="020B0503020204020204" pitchFamily="34" charset="-122"/>
              </a:endParaRPr>
            </a:p>
          </p:txBody>
        </p:sp>
        <p:sp>
          <p:nvSpPr>
            <p:cNvPr id="1141770" name="Rectangle 10"/>
            <p:cNvSpPr>
              <a:spLocks noChangeArrowheads="1"/>
            </p:cNvSpPr>
            <p:nvPr/>
          </p:nvSpPr>
          <p:spPr bwMode="auto">
            <a:xfrm>
              <a:off x="3986553" y="3323043"/>
              <a:ext cx="1892712" cy="377036"/>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a:effectLst>
                    <a:outerShdw blurRad="38100" dist="38100" dir="2700000" algn="tl">
                      <a:srgbClr val="000000"/>
                    </a:outerShdw>
                  </a:effectLst>
                  <a:latin typeface="微软雅黑" panose="020B0503020204020204" pitchFamily="34" charset="-122"/>
                  <a:ea typeface="微软雅黑" panose="020B0503020204020204" pitchFamily="34" charset="-122"/>
                </a:rPr>
                <a:t>完整性约束条件</a:t>
              </a:r>
            </a:p>
          </p:txBody>
        </p:sp>
        <p:sp>
          <p:nvSpPr>
            <p:cNvPr id="1141771" name="Line 11"/>
            <p:cNvSpPr>
              <a:spLocks noChangeShapeType="1"/>
            </p:cNvSpPr>
            <p:nvPr/>
          </p:nvSpPr>
          <p:spPr bwMode="auto">
            <a:xfrm>
              <a:off x="4045496" y="2541993"/>
              <a:ext cx="533400" cy="533400"/>
            </a:xfrm>
            <a:prstGeom prst="line">
              <a:avLst/>
            </a:prstGeom>
            <a:noFill/>
            <a:ln w="57150" cap="sq">
              <a:solidFill>
                <a:schemeClr val="tx1"/>
              </a:solidFill>
              <a:round/>
              <a:headEnd/>
              <a:tailEnd type="triangle" w="med" len="med"/>
            </a:ln>
            <a:effectLst/>
          </p:spPr>
          <p:txBody>
            <a:bodyPr wrap="none" lIns="0" tIns="0" rIns="0" bIns="0" anchor="ctr"/>
            <a:lstStyle/>
            <a:p>
              <a:pPr>
                <a:defRPr/>
              </a:pPr>
              <a:endParaRPr lang="zh-CN" altLang="en-US" sz="3600">
                <a:latin typeface="微软雅黑" panose="020B0503020204020204" pitchFamily="34" charset="-122"/>
                <a:ea typeface="微软雅黑" panose="020B0503020204020204" pitchFamily="34" charset="-122"/>
              </a:endParaRPr>
            </a:p>
          </p:txBody>
        </p:sp>
        <p:sp>
          <p:nvSpPr>
            <p:cNvPr id="1141772" name="Line 12"/>
            <p:cNvSpPr>
              <a:spLocks noChangeShapeType="1"/>
            </p:cNvSpPr>
            <p:nvPr/>
          </p:nvSpPr>
          <p:spPr bwMode="auto">
            <a:xfrm flipV="1">
              <a:off x="4959896" y="2541993"/>
              <a:ext cx="533400" cy="533400"/>
            </a:xfrm>
            <a:prstGeom prst="line">
              <a:avLst/>
            </a:prstGeom>
            <a:noFill/>
            <a:ln w="57150" cap="sq">
              <a:solidFill>
                <a:schemeClr val="tx1"/>
              </a:solidFill>
              <a:round/>
              <a:headEnd/>
              <a:tailEnd type="triangle" w="med" len="med"/>
            </a:ln>
            <a:effectLst/>
          </p:spPr>
          <p:txBody>
            <a:bodyPr wrap="none" lIns="0" tIns="0" rIns="0" bIns="0" anchor="ctr"/>
            <a:lstStyle/>
            <a:p>
              <a:pPr>
                <a:defRPr/>
              </a:pPr>
              <a:endParaRPr lang="zh-CN" altLang="en-US" sz="3600">
                <a:latin typeface="微软雅黑" panose="020B0503020204020204" pitchFamily="34" charset="-122"/>
                <a:ea typeface="微软雅黑" panose="020B0503020204020204" pitchFamily="34" charset="-122"/>
              </a:endParaRPr>
            </a:p>
          </p:txBody>
        </p:sp>
        <p:sp>
          <p:nvSpPr>
            <p:cNvPr id="1141773" name="Line 13"/>
            <p:cNvSpPr>
              <a:spLocks noChangeShapeType="1"/>
            </p:cNvSpPr>
            <p:nvPr/>
          </p:nvSpPr>
          <p:spPr bwMode="auto">
            <a:xfrm>
              <a:off x="6356896" y="2084793"/>
              <a:ext cx="914400" cy="0"/>
            </a:xfrm>
            <a:prstGeom prst="line">
              <a:avLst/>
            </a:prstGeom>
            <a:noFill/>
            <a:ln w="57150" cap="sq">
              <a:solidFill>
                <a:schemeClr val="tx1"/>
              </a:solidFill>
              <a:round/>
              <a:headEnd/>
              <a:tailEnd type="triangle" w="med" len="med"/>
            </a:ln>
            <a:effectLst/>
          </p:spPr>
          <p:txBody>
            <a:bodyPr wrap="none" lIns="0" tIns="0" rIns="0" bIns="0" anchor="ctr"/>
            <a:lstStyle/>
            <a:p>
              <a:pPr>
                <a:defRPr/>
              </a:pPr>
              <a:endParaRPr lang="zh-CN" altLang="en-US" sz="3600">
                <a:latin typeface="微软雅黑" panose="020B0503020204020204" pitchFamily="34" charset="-122"/>
                <a:ea typeface="微软雅黑" panose="020B0503020204020204" pitchFamily="34" charset="-122"/>
              </a:endParaRPr>
            </a:p>
          </p:txBody>
        </p:sp>
        <p:sp>
          <p:nvSpPr>
            <p:cNvPr id="1141774" name="Rectangle 14"/>
            <p:cNvSpPr>
              <a:spLocks noChangeArrowheads="1"/>
            </p:cNvSpPr>
            <p:nvPr/>
          </p:nvSpPr>
          <p:spPr bwMode="auto">
            <a:xfrm>
              <a:off x="6543709" y="1575207"/>
              <a:ext cx="540775" cy="377036"/>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a:effectLst>
                    <a:outerShdw blurRad="38100" dist="38100" dir="2700000" algn="tl">
                      <a:srgbClr val="000000"/>
                    </a:outerShdw>
                  </a:effectLst>
                  <a:latin typeface="微软雅黑" panose="020B0503020204020204" pitchFamily="34" charset="-122"/>
                  <a:ea typeface="微软雅黑" panose="020B0503020204020204" pitchFamily="34" charset="-122"/>
                </a:rPr>
                <a:t>违约</a:t>
              </a:r>
            </a:p>
          </p:txBody>
        </p:sp>
      </p:grpSp>
      <p:sp>
        <p:nvSpPr>
          <p:cNvPr id="13327" name="Rectangle 15"/>
          <p:cNvSpPr>
            <a:spLocks noChangeArrowheads="1"/>
          </p:cNvSpPr>
          <p:nvPr/>
        </p:nvSpPr>
        <p:spPr bwMode="auto">
          <a:xfrm>
            <a:off x="2255241" y="5453732"/>
            <a:ext cx="8353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lIns="0" tIns="0" rIns="0" bIns="0"/>
          <a:lstStyle/>
          <a:p>
            <a:pPr marL="271463" indent="-271463">
              <a:spcBef>
                <a:spcPct val="15000"/>
              </a:spcBef>
              <a:spcAft>
                <a:spcPct val="0"/>
              </a:spcAft>
              <a:buSzTx/>
              <a:buFontTx/>
              <a:buChar char="•"/>
            </a:pPr>
            <a:r>
              <a:rPr kumimoji="0" lang="zh-CN" altLang="en-US" dirty="0">
                <a:solidFill>
                  <a:srgbClr val="CCFFCC"/>
                </a:solidFill>
                <a:effectLst/>
              </a:rPr>
              <a:t>一条语句执行完就检查的</a:t>
            </a:r>
            <a:r>
              <a:rPr kumimoji="0" lang="zh-CN" altLang="en-US" dirty="0">
                <a:solidFill>
                  <a:srgbClr val="00FFFF"/>
                </a:solidFill>
                <a:effectLst/>
              </a:rPr>
              <a:t>立即执行的约束</a:t>
            </a:r>
            <a:r>
              <a:rPr kumimoji="0" lang="zh-CN" altLang="en-US" dirty="0">
                <a:solidFill>
                  <a:srgbClr val="CCFFCC"/>
                </a:solidFill>
                <a:effectLst/>
              </a:rPr>
              <a:t>；</a:t>
            </a:r>
          </a:p>
          <a:p>
            <a:pPr marL="271463" indent="-271463">
              <a:spcBef>
                <a:spcPct val="15000"/>
              </a:spcBef>
              <a:spcAft>
                <a:spcPct val="0"/>
              </a:spcAft>
              <a:buSzTx/>
              <a:buFontTx/>
              <a:buChar char="•"/>
            </a:pPr>
            <a:r>
              <a:rPr kumimoji="0" lang="zh-CN" altLang="en-US" dirty="0">
                <a:solidFill>
                  <a:srgbClr val="CCFFCC"/>
                </a:solidFill>
                <a:effectLst/>
              </a:rPr>
              <a:t>一个事务执行完才检查的</a:t>
            </a:r>
            <a:r>
              <a:rPr kumimoji="0" lang="zh-CN" altLang="en-US" dirty="0">
                <a:solidFill>
                  <a:srgbClr val="00FFFF"/>
                </a:solidFill>
                <a:effectLst/>
              </a:rPr>
              <a:t>延迟执行的约束</a:t>
            </a:r>
            <a:r>
              <a:rPr kumimoji="0" lang="zh-CN" altLang="en-US" dirty="0">
                <a:solidFill>
                  <a:srgbClr val="CCFFCC"/>
                </a:solidFill>
                <a:effectLst/>
              </a:rPr>
              <a:t>。</a:t>
            </a: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2060848"/>
            <a:ext cx="2448272" cy="782960"/>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第三节</a:t>
            </a:r>
          </a:p>
        </p:txBody>
      </p:sp>
      <p:sp>
        <p:nvSpPr>
          <p:cNvPr id="2" name="标题 1"/>
          <p:cNvSpPr>
            <a:spLocks noGrp="1"/>
          </p:cNvSpPr>
          <p:nvPr>
            <p:ph type="title"/>
          </p:nvPr>
        </p:nvSpPr>
        <p:spPr>
          <a:xfrm>
            <a:off x="983432" y="3356992"/>
            <a:ext cx="10225136" cy="1256758"/>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algn="ctr"/>
            <a:r>
              <a:rPr lang="zh-CN" altLang="en-US" sz="6000" b="1" kern="10" spc="60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数据库的并发控制技术</a:t>
            </a:r>
          </a:p>
        </p:txBody>
      </p:sp>
      <p:sp>
        <p:nvSpPr>
          <p:cNvPr id="5" name="标题 1">
            <a:extLst>
              <a:ext uri="{FF2B5EF4-FFF2-40B4-BE49-F238E27FC236}">
                <a16:creationId xmlns:a16="http://schemas.microsoft.com/office/drawing/2014/main" id="{59330B1D-DE4B-42A6-91D6-7C6C590CDE41}"/>
              </a:ext>
            </a:extLst>
          </p:cNvPr>
          <p:cNvSpPr txBox="1">
            <a:spLocks/>
          </p:cNvSpPr>
          <p:nvPr/>
        </p:nvSpPr>
        <p:spPr bwMode="auto">
          <a:xfrm>
            <a:off x="983432" y="296696"/>
            <a:ext cx="4284000" cy="396000"/>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第七章  数据库安全保护</a:t>
            </a:r>
          </a:p>
        </p:txBody>
      </p:sp>
    </p:spTree>
    <p:extLst>
      <p:ext uri="{BB962C8B-B14F-4D97-AF65-F5344CB8AC3E}">
        <p14:creationId xmlns:p14="http://schemas.microsoft.com/office/powerpoint/2010/main" val="301266333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a:xfrm>
            <a:off x="1110862" y="50342"/>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并发控制</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48951" name="Rectangle 23"/>
          <p:cNvSpPr>
            <a:spLocks noGrp="1" noChangeArrowheads="1"/>
          </p:cNvSpPr>
          <p:nvPr>
            <p:ph idx="1"/>
          </p:nvPr>
        </p:nvSpPr>
        <p:spPr>
          <a:xfrm>
            <a:off x="767408" y="1060550"/>
            <a:ext cx="10801200" cy="2463800"/>
          </a:xfrm>
        </p:spPr>
        <p:txBody>
          <a:bodyPr/>
          <a:lstStyle/>
          <a:p>
            <a:pPr eaLnBrk="1" hangingPunct="1">
              <a:defRPr/>
            </a:pPr>
            <a:r>
              <a:rPr kumimoji="1" lang="zh-CN" altLang="zh-CN" dirty="0">
                <a:latin typeface="Arial" charset="0"/>
              </a:rPr>
              <a:t>数据库面向的是多用户的共享使用。</a:t>
            </a:r>
          </a:p>
          <a:p>
            <a:pPr eaLnBrk="1" hangingPunct="1">
              <a:defRPr/>
            </a:pPr>
            <a:r>
              <a:rPr kumimoji="1" lang="zh-CN" altLang="zh-CN" dirty="0">
                <a:latin typeface="Arial" charset="0"/>
              </a:rPr>
              <a:t>多个用户在同一时间存取同一数据块的操作称为数据库的</a:t>
            </a:r>
            <a:r>
              <a:rPr kumimoji="1" lang="zh-CN" altLang="zh-CN" dirty="0">
                <a:solidFill>
                  <a:srgbClr val="00FFFF"/>
                </a:solidFill>
                <a:latin typeface="Arial" charset="0"/>
              </a:rPr>
              <a:t>并发操作</a:t>
            </a:r>
            <a:r>
              <a:rPr kumimoji="1" lang="zh-CN" altLang="zh-CN" dirty="0">
                <a:latin typeface="Arial" charset="0"/>
              </a:rPr>
              <a:t>。</a:t>
            </a:r>
          </a:p>
          <a:p>
            <a:pPr eaLnBrk="1" hangingPunct="1">
              <a:defRPr/>
            </a:pPr>
            <a:r>
              <a:rPr kumimoji="1" lang="zh-CN" altLang="zh-CN" dirty="0">
                <a:latin typeface="Arial" charset="0"/>
              </a:rPr>
              <a:t>DBMS必须对并发操作进行控制，以保持数据库中数据的一致性。</a:t>
            </a:r>
          </a:p>
        </p:txBody>
      </p:sp>
      <p:sp>
        <p:nvSpPr>
          <p:cNvPr id="1148932" name="mainfrm"/>
          <p:cNvSpPr>
            <a:spLocks noEditPoints="1" noChangeArrowheads="1"/>
          </p:cNvSpPr>
          <p:nvPr/>
        </p:nvSpPr>
        <p:spPr bwMode="auto">
          <a:xfrm>
            <a:off x="5562600" y="4941168"/>
            <a:ext cx="1066800" cy="1219200"/>
          </a:xfrm>
          <a:custGeom>
            <a:avLst/>
            <a:gdLst>
              <a:gd name="T0" fmla="*/ 0 w 21600"/>
              <a:gd name="T1" fmla="*/ 0 h 21600"/>
              <a:gd name="T2" fmla="*/ 10800 w 21600"/>
              <a:gd name="T3" fmla="*/ 0 h 21600"/>
              <a:gd name="T4" fmla="*/ 21600 w 21600"/>
              <a:gd name="T5" fmla="*/ 0 h 21600"/>
              <a:gd name="T6" fmla="*/ 21600 w 21600"/>
              <a:gd name="T7" fmla="*/ 10800 h 21600"/>
              <a:gd name="T8" fmla="*/ 20603 w 21600"/>
              <a:gd name="T9" fmla="*/ 21600 h 21600"/>
              <a:gd name="T10" fmla="*/ 10800 w 21600"/>
              <a:gd name="T11" fmla="*/ 21600 h 21600"/>
              <a:gd name="T12" fmla="*/ 1163 w 21600"/>
              <a:gd name="T13" fmla="*/ 21600 h 21600"/>
              <a:gd name="T14" fmla="*/ 0 w 21600"/>
              <a:gd name="T15" fmla="*/ 10800 h 21600"/>
              <a:gd name="T16" fmla="*/ 332 w 21600"/>
              <a:gd name="T17" fmla="*/ 22174 h 21600"/>
              <a:gd name="T18" fmla="*/ 21579 w 21600"/>
              <a:gd name="T19" fmla="*/ 27914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FFFFFF"/>
          </a:solidFill>
          <a:ln w="9525">
            <a:solidFill>
              <a:srgbClr val="000000"/>
            </a:solidFill>
            <a:miter lim="800000"/>
            <a:headEnd/>
            <a:tailEnd/>
          </a:ln>
        </p:spPr>
        <p:txBody>
          <a:bodyPr/>
          <a:lstStyle/>
          <a:p>
            <a:pPr>
              <a:defRPr/>
            </a:pPr>
            <a:endParaRPr lang="zh-CN" altLang="en-US"/>
          </a:p>
        </p:txBody>
      </p:sp>
      <p:sp>
        <p:nvSpPr>
          <p:cNvPr id="1148933" name="AutoShape 5"/>
          <p:cNvSpPr>
            <a:spLocks noChangeArrowheads="1"/>
          </p:cNvSpPr>
          <p:nvPr/>
        </p:nvSpPr>
        <p:spPr bwMode="auto">
          <a:xfrm>
            <a:off x="2490789" y="5609506"/>
            <a:ext cx="942975" cy="635000"/>
          </a:xfrm>
          <a:prstGeom prst="can">
            <a:avLst>
              <a:gd name="adj" fmla="val 25000"/>
            </a:avLst>
          </a:prstGeom>
          <a:solidFill>
            <a:srgbClr val="FFFFFF"/>
          </a:solidFill>
          <a:ln w="12700" cap="sq">
            <a:solidFill>
              <a:srgbClr val="000000"/>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en-US" altLang="zh-CN" sz="2400">
                <a:solidFill>
                  <a:srgbClr val="000000"/>
                </a:solidFill>
                <a:effectLst>
                  <a:outerShdw blurRad="38100" dist="38100" dir="2700000" algn="tl">
                    <a:srgbClr val="C0C0C0"/>
                  </a:outerShdw>
                </a:effectLst>
                <a:latin typeface="Times New Roman" pitchFamily="18" charset="0"/>
              </a:rPr>
              <a:t>DB</a:t>
            </a:r>
          </a:p>
        </p:txBody>
      </p:sp>
      <p:cxnSp>
        <p:nvCxnSpPr>
          <p:cNvPr id="14342" name="AutoShape 6"/>
          <p:cNvCxnSpPr>
            <a:cxnSpLocks noChangeShapeType="1"/>
            <a:stCxn id="1148932" idx="7"/>
            <a:endCxn id="1148933" idx="4"/>
          </p:cNvCxnSpPr>
          <p:nvPr/>
        </p:nvCxnSpPr>
        <p:spPr bwMode="auto">
          <a:xfrm rot="10800000" flipV="1">
            <a:off x="3433764" y="5550768"/>
            <a:ext cx="2128837" cy="376238"/>
          </a:xfrm>
          <a:prstGeom prst="curvedConnector3">
            <a:avLst>
              <a:gd name="adj1" fmla="val 49963"/>
            </a:avLst>
          </a:prstGeom>
          <a:noFill/>
          <a:ln w="19050" cap="sq">
            <a:solidFill>
              <a:schemeClr val="tx1"/>
            </a:solidFill>
            <a:round/>
            <a:headEnd/>
            <a:tailEnd/>
          </a:ln>
          <a:effectLst>
            <a:outerShdw dist="17961" dir="2700000" algn="ctr" rotWithShape="0">
              <a:schemeClr val="bg2"/>
            </a:outerShdw>
          </a:effectLst>
          <a:extLst>
            <a:ext uri="{909E8E84-426E-40DD-AFC4-6F175D3DCCD1}">
              <a14:hiddenFill xmlns:a14="http://schemas.microsoft.com/office/drawing/2010/main">
                <a:noFill/>
              </a14:hiddenFill>
            </a:ext>
          </a:extLst>
        </p:spPr>
      </p:cxnSp>
      <p:sp>
        <p:nvSpPr>
          <p:cNvPr id="1148935" name="Rectangle 7"/>
          <p:cNvSpPr>
            <a:spLocks noChangeArrowheads="1"/>
          </p:cNvSpPr>
          <p:nvPr/>
        </p:nvSpPr>
        <p:spPr bwMode="auto">
          <a:xfrm>
            <a:off x="5788225" y="6158781"/>
            <a:ext cx="615553"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主机</a:t>
            </a:r>
          </a:p>
        </p:txBody>
      </p:sp>
      <p:sp>
        <p:nvSpPr>
          <p:cNvPr id="1148936" name="Rectangle 8"/>
          <p:cNvSpPr>
            <a:spLocks noChangeArrowheads="1"/>
          </p:cNvSpPr>
          <p:nvPr/>
        </p:nvSpPr>
        <p:spPr bwMode="auto">
          <a:xfrm>
            <a:off x="6666113" y="4026768"/>
            <a:ext cx="615553"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终端</a:t>
            </a:r>
          </a:p>
        </p:txBody>
      </p:sp>
      <p:sp>
        <p:nvSpPr>
          <p:cNvPr id="1148937" name="laptop"/>
          <p:cNvSpPr>
            <a:spLocks noEditPoints="1" noChangeArrowheads="1"/>
          </p:cNvSpPr>
          <p:nvPr/>
        </p:nvSpPr>
        <p:spPr bwMode="auto">
          <a:xfrm>
            <a:off x="7239001" y="4179168"/>
            <a:ext cx="752475" cy="528638"/>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FFFFFF"/>
          </a:solidFill>
          <a:ln w="9525">
            <a:solidFill>
              <a:srgbClr val="000000"/>
            </a:solidFill>
            <a:miter lim="800000"/>
            <a:headEnd/>
            <a:tailEnd/>
          </a:ln>
        </p:spPr>
        <p:txBody>
          <a:bodyPr/>
          <a:lstStyle/>
          <a:p>
            <a:pPr>
              <a:defRPr/>
            </a:pPr>
            <a:endParaRPr lang="zh-CN" altLang="en-US"/>
          </a:p>
        </p:txBody>
      </p:sp>
      <p:sp>
        <p:nvSpPr>
          <p:cNvPr id="1148938" name="Rectangle 10"/>
          <p:cNvSpPr>
            <a:spLocks noChangeArrowheads="1"/>
          </p:cNvSpPr>
          <p:nvPr/>
        </p:nvSpPr>
        <p:spPr bwMode="auto">
          <a:xfrm>
            <a:off x="7529713" y="4961806"/>
            <a:ext cx="615553"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终端</a:t>
            </a:r>
          </a:p>
        </p:txBody>
      </p:sp>
      <p:sp>
        <p:nvSpPr>
          <p:cNvPr id="1148939" name="laptop"/>
          <p:cNvSpPr>
            <a:spLocks noEditPoints="1" noChangeArrowheads="1"/>
          </p:cNvSpPr>
          <p:nvPr/>
        </p:nvSpPr>
        <p:spPr bwMode="auto">
          <a:xfrm>
            <a:off x="8153401" y="5017368"/>
            <a:ext cx="752475" cy="528638"/>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FFFFFF"/>
          </a:solidFill>
          <a:ln w="9525">
            <a:solidFill>
              <a:srgbClr val="000000"/>
            </a:solidFill>
            <a:miter lim="800000"/>
            <a:headEnd/>
            <a:tailEnd/>
          </a:ln>
        </p:spPr>
        <p:txBody>
          <a:bodyPr/>
          <a:lstStyle/>
          <a:p>
            <a:pPr>
              <a:defRPr/>
            </a:pPr>
            <a:endParaRPr lang="zh-CN" altLang="en-US"/>
          </a:p>
        </p:txBody>
      </p:sp>
      <p:sp>
        <p:nvSpPr>
          <p:cNvPr id="1148940" name="Rectangle 12"/>
          <p:cNvSpPr>
            <a:spLocks noChangeArrowheads="1"/>
          </p:cNvSpPr>
          <p:nvPr/>
        </p:nvSpPr>
        <p:spPr bwMode="auto">
          <a:xfrm>
            <a:off x="7745613" y="5753968"/>
            <a:ext cx="615553"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终端</a:t>
            </a:r>
          </a:p>
        </p:txBody>
      </p:sp>
      <p:sp>
        <p:nvSpPr>
          <p:cNvPr id="1148941" name="laptop"/>
          <p:cNvSpPr>
            <a:spLocks noEditPoints="1" noChangeArrowheads="1"/>
          </p:cNvSpPr>
          <p:nvPr/>
        </p:nvSpPr>
        <p:spPr bwMode="auto">
          <a:xfrm>
            <a:off x="8382001" y="5931768"/>
            <a:ext cx="752475" cy="528638"/>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FFFFFF"/>
          </a:solidFill>
          <a:ln w="9525">
            <a:solidFill>
              <a:srgbClr val="000000"/>
            </a:solidFill>
            <a:miter lim="800000"/>
            <a:headEnd/>
            <a:tailEnd/>
          </a:ln>
        </p:spPr>
        <p:txBody>
          <a:bodyPr/>
          <a:lstStyle/>
          <a:p>
            <a:pPr>
              <a:defRPr/>
            </a:pPr>
            <a:endParaRPr lang="zh-CN" altLang="en-US"/>
          </a:p>
        </p:txBody>
      </p:sp>
      <p:sp>
        <p:nvSpPr>
          <p:cNvPr id="1148942" name="Rectangle 14"/>
          <p:cNvSpPr>
            <a:spLocks noChangeArrowheads="1"/>
          </p:cNvSpPr>
          <p:nvPr/>
        </p:nvSpPr>
        <p:spPr bwMode="auto">
          <a:xfrm>
            <a:off x="4937325" y="4026768"/>
            <a:ext cx="615553"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终端</a:t>
            </a:r>
          </a:p>
        </p:txBody>
      </p:sp>
      <p:sp>
        <p:nvSpPr>
          <p:cNvPr id="1148943" name="laptop"/>
          <p:cNvSpPr>
            <a:spLocks noEditPoints="1" noChangeArrowheads="1"/>
          </p:cNvSpPr>
          <p:nvPr/>
        </p:nvSpPr>
        <p:spPr bwMode="auto">
          <a:xfrm>
            <a:off x="5562601" y="4026768"/>
            <a:ext cx="752475" cy="528638"/>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FFFFFF"/>
          </a:solidFill>
          <a:ln w="9525">
            <a:solidFill>
              <a:srgbClr val="000000"/>
            </a:solidFill>
            <a:miter lim="800000"/>
            <a:headEnd/>
            <a:tailEnd/>
          </a:ln>
        </p:spPr>
        <p:txBody>
          <a:bodyPr/>
          <a:lstStyle/>
          <a:p>
            <a:pPr>
              <a:defRPr/>
            </a:pPr>
            <a:endParaRPr lang="zh-CN" altLang="en-US"/>
          </a:p>
        </p:txBody>
      </p:sp>
      <p:sp>
        <p:nvSpPr>
          <p:cNvPr id="1148944" name="Rectangle 16"/>
          <p:cNvSpPr>
            <a:spLocks noChangeArrowheads="1"/>
          </p:cNvSpPr>
          <p:nvPr/>
        </p:nvSpPr>
        <p:spPr bwMode="auto">
          <a:xfrm>
            <a:off x="3208538" y="4458568"/>
            <a:ext cx="615553" cy="369332"/>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终端</a:t>
            </a:r>
          </a:p>
        </p:txBody>
      </p:sp>
      <p:sp>
        <p:nvSpPr>
          <p:cNvPr id="1148945" name="laptop"/>
          <p:cNvSpPr>
            <a:spLocks noEditPoints="1" noChangeArrowheads="1"/>
          </p:cNvSpPr>
          <p:nvPr/>
        </p:nvSpPr>
        <p:spPr bwMode="auto">
          <a:xfrm>
            <a:off x="3810001" y="4483968"/>
            <a:ext cx="752475" cy="528638"/>
          </a:xfrm>
          <a:custGeom>
            <a:avLst/>
            <a:gdLst>
              <a:gd name="T0" fmla="*/ 3362 w 21600"/>
              <a:gd name="T1" fmla="*/ 0 h 21600"/>
              <a:gd name="T2" fmla="*/ 3362 w 21600"/>
              <a:gd name="T3" fmla="*/ 7173 h 21600"/>
              <a:gd name="T4" fmla="*/ 18327 w 21600"/>
              <a:gd name="T5" fmla="*/ 0 h 21600"/>
              <a:gd name="T6" fmla="*/ 18327 w 21600"/>
              <a:gd name="T7" fmla="*/ 7173 h 21600"/>
              <a:gd name="T8" fmla="*/ 10800 w 21600"/>
              <a:gd name="T9" fmla="*/ 0 h 21600"/>
              <a:gd name="T10" fmla="*/ 10800 w 21600"/>
              <a:gd name="T11" fmla="*/ 21600 h 21600"/>
              <a:gd name="T12" fmla="*/ 0 w 21600"/>
              <a:gd name="T13" fmla="*/ 21600 h 21600"/>
              <a:gd name="T14" fmla="*/ 21600 w 21600"/>
              <a:gd name="T15" fmla="*/ 21600 h 21600"/>
              <a:gd name="T16" fmla="*/ 4445 w 21600"/>
              <a:gd name="T17" fmla="*/ 1858 h 21600"/>
              <a:gd name="T18" fmla="*/ 17311 w 21600"/>
              <a:gd name="T19" fmla="*/ 12323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extrusionOk="0">
                <a:moveTo>
                  <a:pt x="3362" y="0"/>
                </a:moveTo>
                <a:lnTo>
                  <a:pt x="18327" y="0"/>
                </a:lnTo>
                <a:lnTo>
                  <a:pt x="18327" y="14347"/>
                </a:lnTo>
                <a:lnTo>
                  <a:pt x="3362" y="14347"/>
                </a:lnTo>
                <a:lnTo>
                  <a:pt x="3362" y="0"/>
                </a:lnTo>
                <a:close/>
              </a:path>
              <a:path w="21600" h="21600" extrusionOk="0">
                <a:moveTo>
                  <a:pt x="3340" y="15068"/>
                </a:moveTo>
                <a:lnTo>
                  <a:pt x="0" y="19877"/>
                </a:lnTo>
                <a:lnTo>
                  <a:pt x="21600" y="19877"/>
                </a:lnTo>
                <a:lnTo>
                  <a:pt x="18327" y="15068"/>
                </a:lnTo>
                <a:lnTo>
                  <a:pt x="3340" y="15068"/>
                </a:lnTo>
                <a:close/>
              </a:path>
              <a:path w="21600" h="21600" extrusionOk="0">
                <a:moveTo>
                  <a:pt x="0" y="19877"/>
                </a:moveTo>
                <a:lnTo>
                  <a:pt x="0" y="21600"/>
                </a:lnTo>
                <a:lnTo>
                  <a:pt x="21600" y="21600"/>
                </a:lnTo>
                <a:lnTo>
                  <a:pt x="21600" y="19877"/>
                </a:lnTo>
                <a:lnTo>
                  <a:pt x="0" y="19877"/>
                </a:lnTo>
                <a:close/>
              </a:path>
              <a:path w="21600" h="21600" extrusionOk="0">
                <a:moveTo>
                  <a:pt x="4186" y="1523"/>
                </a:moveTo>
                <a:lnTo>
                  <a:pt x="17547" y="1523"/>
                </a:lnTo>
                <a:lnTo>
                  <a:pt x="17547" y="12744"/>
                </a:lnTo>
                <a:lnTo>
                  <a:pt x="4186" y="12744"/>
                </a:lnTo>
                <a:lnTo>
                  <a:pt x="4186" y="1523"/>
                </a:lnTo>
                <a:close/>
              </a:path>
              <a:path w="21600" h="21600" extrusionOk="0">
                <a:moveTo>
                  <a:pt x="3318" y="15549"/>
                </a:moveTo>
                <a:lnTo>
                  <a:pt x="2917" y="16110"/>
                </a:lnTo>
                <a:lnTo>
                  <a:pt x="18727" y="16110"/>
                </a:lnTo>
                <a:lnTo>
                  <a:pt x="18327" y="15549"/>
                </a:lnTo>
                <a:lnTo>
                  <a:pt x="3318" y="15549"/>
                </a:lnTo>
                <a:close/>
              </a:path>
              <a:path w="21600" h="21600" extrusionOk="0">
                <a:moveTo>
                  <a:pt x="6213" y="18314"/>
                </a:moveTo>
                <a:lnTo>
                  <a:pt x="5946" y="18875"/>
                </a:lnTo>
                <a:lnTo>
                  <a:pt x="15766" y="18875"/>
                </a:lnTo>
                <a:lnTo>
                  <a:pt x="15499" y="18314"/>
                </a:lnTo>
                <a:lnTo>
                  <a:pt x="6213" y="18314"/>
                </a:lnTo>
                <a:close/>
              </a:path>
              <a:path w="21600" h="21600" extrusionOk="0">
                <a:moveTo>
                  <a:pt x="2828" y="16471"/>
                </a:moveTo>
                <a:lnTo>
                  <a:pt x="2405" y="17072"/>
                </a:lnTo>
                <a:lnTo>
                  <a:pt x="19284" y="17072"/>
                </a:lnTo>
                <a:lnTo>
                  <a:pt x="18839" y="16471"/>
                </a:lnTo>
                <a:lnTo>
                  <a:pt x="2828" y="16471"/>
                </a:lnTo>
                <a:close/>
              </a:path>
              <a:path w="21600" h="21600" extrusionOk="0">
                <a:moveTo>
                  <a:pt x="2316" y="17352"/>
                </a:moveTo>
                <a:lnTo>
                  <a:pt x="1871" y="17953"/>
                </a:lnTo>
                <a:lnTo>
                  <a:pt x="19863" y="17953"/>
                </a:lnTo>
                <a:lnTo>
                  <a:pt x="19395" y="17352"/>
                </a:lnTo>
                <a:lnTo>
                  <a:pt x="2316" y="17352"/>
                </a:lnTo>
                <a:close/>
              </a:path>
            </a:pathLst>
          </a:custGeom>
          <a:solidFill>
            <a:srgbClr val="FFFFFF"/>
          </a:solidFill>
          <a:ln w="9525">
            <a:solidFill>
              <a:srgbClr val="000000"/>
            </a:solidFill>
            <a:miter lim="800000"/>
            <a:headEnd/>
            <a:tailEnd/>
          </a:ln>
        </p:spPr>
        <p:txBody>
          <a:bodyPr/>
          <a:lstStyle/>
          <a:p>
            <a:pPr>
              <a:defRPr/>
            </a:pPr>
            <a:endParaRPr lang="zh-CN" altLang="en-US"/>
          </a:p>
        </p:txBody>
      </p:sp>
      <p:sp>
        <p:nvSpPr>
          <p:cNvPr id="1148946" name="Line 18"/>
          <p:cNvSpPr>
            <a:spLocks noChangeShapeType="1"/>
          </p:cNvSpPr>
          <p:nvPr/>
        </p:nvSpPr>
        <p:spPr bwMode="auto">
          <a:xfrm>
            <a:off x="4267200" y="5017368"/>
            <a:ext cx="1295400" cy="381000"/>
          </a:xfrm>
          <a:prstGeom prst="line">
            <a:avLst/>
          </a:prstGeom>
          <a:noFill/>
          <a:ln w="19050" cap="sq">
            <a:solidFill>
              <a:schemeClr val="tx1"/>
            </a:solidFill>
            <a:round/>
            <a:headEnd/>
            <a:tailEnd/>
          </a:ln>
          <a:effectLst>
            <a:outerShdw dist="12700" dir="5400000" algn="ctr" rotWithShape="0">
              <a:schemeClr val="bg2"/>
            </a:outerShdw>
          </a:effectLst>
        </p:spPr>
        <p:txBody>
          <a:bodyPr lIns="0" tIns="0" rIns="0" bIns="0" anchor="ctr"/>
          <a:lstStyle/>
          <a:p>
            <a:pPr>
              <a:defRPr/>
            </a:pPr>
            <a:endParaRPr lang="zh-CN" altLang="en-US"/>
          </a:p>
        </p:txBody>
      </p:sp>
      <p:sp>
        <p:nvSpPr>
          <p:cNvPr id="1148947" name="Line 19"/>
          <p:cNvSpPr>
            <a:spLocks noChangeShapeType="1"/>
          </p:cNvSpPr>
          <p:nvPr/>
        </p:nvSpPr>
        <p:spPr bwMode="auto">
          <a:xfrm>
            <a:off x="5943600" y="4560168"/>
            <a:ext cx="0" cy="381000"/>
          </a:xfrm>
          <a:prstGeom prst="line">
            <a:avLst/>
          </a:prstGeom>
          <a:noFill/>
          <a:ln w="19050" cap="sq">
            <a:solidFill>
              <a:schemeClr val="tx1"/>
            </a:solidFill>
            <a:round/>
            <a:headEnd/>
            <a:tailEnd/>
          </a:ln>
          <a:effectLst>
            <a:outerShdw dist="12700" dir="5400000" algn="ctr" rotWithShape="0">
              <a:schemeClr val="bg2"/>
            </a:outerShdw>
          </a:effectLst>
        </p:spPr>
        <p:txBody>
          <a:bodyPr lIns="0" tIns="0" rIns="0" bIns="0" anchor="ctr"/>
          <a:lstStyle/>
          <a:p>
            <a:pPr>
              <a:defRPr/>
            </a:pPr>
            <a:endParaRPr lang="zh-CN" altLang="en-US"/>
          </a:p>
        </p:txBody>
      </p:sp>
      <p:sp>
        <p:nvSpPr>
          <p:cNvPr id="1148948" name="Line 20"/>
          <p:cNvSpPr>
            <a:spLocks noChangeShapeType="1"/>
          </p:cNvSpPr>
          <p:nvPr/>
        </p:nvSpPr>
        <p:spPr bwMode="auto">
          <a:xfrm flipH="1">
            <a:off x="6629400" y="4712568"/>
            <a:ext cx="838200" cy="381000"/>
          </a:xfrm>
          <a:prstGeom prst="line">
            <a:avLst/>
          </a:prstGeom>
          <a:noFill/>
          <a:ln w="19050" cap="sq">
            <a:solidFill>
              <a:schemeClr val="tx1"/>
            </a:solidFill>
            <a:round/>
            <a:headEnd/>
            <a:tailEnd/>
          </a:ln>
          <a:effectLst>
            <a:outerShdw dist="12700" dir="5400000" algn="ctr" rotWithShape="0">
              <a:schemeClr val="bg2"/>
            </a:outerShdw>
          </a:effectLst>
        </p:spPr>
        <p:txBody>
          <a:bodyPr lIns="0" tIns="0" rIns="0" bIns="0" anchor="ctr"/>
          <a:lstStyle/>
          <a:p>
            <a:pPr>
              <a:defRPr/>
            </a:pPr>
            <a:endParaRPr lang="zh-CN" altLang="en-US"/>
          </a:p>
        </p:txBody>
      </p:sp>
      <p:sp>
        <p:nvSpPr>
          <p:cNvPr id="1148949" name="Line 21"/>
          <p:cNvSpPr>
            <a:spLocks noChangeShapeType="1"/>
          </p:cNvSpPr>
          <p:nvPr/>
        </p:nvSpPr>
        <p:spPr bwMode="auto">
          <a:xfrm flipH="1">
            <a:off x="6629400" y="5398368"/>
            <a:ext cx="1600200" cy="0"/>
          </a:xfrm>
          <a:prstGeom prst="line">
            <a:avLst/>
          </a:prstGeom>
          <a:noFill/>
          <a:ln w="19050" cap="sq">
            <a:solidFill>
              <a:schemeClr val="tx1"/>
            </a:solidFill>
            <a:round/>
            <a:headEnd/>
            <a:tailEnd/>
          </a:ln>
          <a:effectLst>
            <a:outerShdw dist="12700" dir="5400000" algn="ctr" rotWithShape="0">
              <a:schemeClr val="bg2"/>
            </a:outerShdw>
          </a:effectLst>
        </p:spPr>
        <p:txBody>
          <a:bodyPr lIns="0" tIns="0" rIns="0" bIns="0" anchor="ctr"/>
          <a:lstStyle/>
          <a:p>
            <a:pPr>
              <a:defRPr/>
            </a:pPr>
            <a:endParaRPr lang="zh-CN" altLang="en-US"/>
          </a:p>
        </p:txBody>
      </p:sp>
      <p:sp>
        <p:nvSpPr>
          <p:cNvPr id="1148950" name="Line 22"/>
          <p:cNvSpPr>
            <a:spLocks noChangeShapeType="1"/>
          </p:cNvSpPr>
          <p:nvPr/>
        </p:nvSpPr>
        <p:spPr bwMode="auto">
          <a:xfrm flipH="1" flipV="1">
            <a:off x="6629400" y="5626968"/>
            <a:ext cx="1752600" cy="762000"/>
          </a:xfrm>
          <a:prstGeom prst="line">
            <a:avLst/>
          </a:prstGeom>
          <a:noFill/>
          <a:ln w="19050" cap="sq">
            <a:solidFill>
              <a:schemeClr val="tx1"/>
            </a:solidFill>
            <a:round/>
            <a:headEnd/>
            <a:tailEnd/>
          </a:ln>
          <a:effectLst>
            <a:outerShdw dist="12700" dir="5400000" algn="ctr" rotWithShape="0">
              <a:schemeClr val="bg2"/>
            </a:outerShdw>
          </a:effectLst>
        </p:spPr>
        <p:txBody>
          <a:bodyPr lIns="0" tIns="0" rIns="0" bIns="0" anchor="ctr"/>
          <a:lstStyle/>
          <a:p>
            <a:pPr>
              <a:defRPr/>
            </a:pPr>
            <a:endParaRPr lang="zh-CN" altLang="en-US"/>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title"/>
          </p:nvPr>
        </p:nvSpPr>
        <p:spPr>
          <a:xfrm>
            <a:off x="1099523" y="92531"/>
            <a:ext cx="5075217"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事务（</a:t>
            </a:r>
            <a:r>
              <a:rPr kumimoji="1" lang="en-US" altLang="zh-CN" sz="4000" b="1" kern="1200" dirty="0">
                <a:solidFill>
                  <a:srgbClr val="FFFFCC"/>
                </a:solidFill>
                <a:effectLst>
                  <a:outerShdw blurRad="38100" dist="38100" dir="2700000" algn="tl">
                    <a:srgbClr val="000000"/>
                  </a:outerShdw>
                </a:effectLst>
                <a:latin typeface="Arial" pitchFamily="34" charset="0"/>
              </a:rPr>
              <a:t>Transaction</a:t>
            </a:r>
            <a:r>
              <a:rPr kumimoji="1" lang="zh-CN" altLang="en-US" sz="4000" b="1" kern="1200" dirty="0">
                <a:solidFill>
                  <a:srgbClr val="FFFFCC"/>
                </a:solidFill>
                <a:effectLst>
                  <a:outerShdw blurRad="38100" dist="38100" dir="2700000" algn="tl">
                    <a:srgbClr val="000000"/>
                  </a:outerShdw>
                </a:effectLst>
                <a:latin typeface="Arial" pitchFamily="34" charset="0"/>
              </a:rPr>
              <a:t>）</a:t>
            </a:r>
          </a:p>
        </p:txBody>
      </p:sp>
      <p:sp>
        <p:nvSpPr>
          <p:cNvPr id="1149956" name="Rectangle 4"/>
          <p:cNvSpPr>
            <a:spLocks noGrp="1" noChangeArrowheads="1"/>
          </p:cNvSpPr>
          <p:nvPr>
            <p:ph idx="1"/>
          </p:nvPr>
        </p:nvSpPr>
        <p:spPr>
          <a:xfrm>
            <a:off x="761572" y="1024971"/>
            <a:ext cx="10735028" cy="2463800"/>
          </a:xfrm>
        </p:spPr>
        <p:txBody>
          <a:bodyPr/>
          <a:lstStyle/>
          <a:p>
            <a:pPr eaLnBrk="1" hangingPunct="1">
              <a:defRPr/>
            </a:pPr>
            <a:r>
              <a:rPr kumimoji="1" lang="zh-CN" altLang="en-US" sz="2800" dirty="0">
                <a:latin typeface="Arial" charset="0"/>
              </a:rPr>
              <a:t>事务是指</a:t>
            </a:r>
            <a:r>
              <a:rPr kumimoji="1" lang="zh-CN" altLang="zh-CN" sz="2800" dirty="0">
                <a:latin typeface="Arial" charset="0"/>
              </a:rPr>
              <a:t>用户为实现某种功能而定义的一组操作</a:t>
            </a:r>
            <a:r>
              <a:rPr kumimoji="1" lang="zh-CN" altLang="en-US" sz="2800" dirty="0">
                <a:latin typeface="Arial" charset="0"/>
              </a:rPr>
              <a:t>序列的集合</a:t>
            </a:r>
            <a:r>
              <a:rPr kumimoji="1" lang="zh-CN" altLang="zh-CN" sz="2800" dirty="0">
                <a:latin typeface="Arial" charset="0"/>
              </a:rPr>
              <a:t>，是数据</a:t>
            </a:r>
            <a:r>
              <a:rPr kumimoji="1" lang="zh-CN" altLang="en-US" sz="2800" dirty="0">
                <a:latin typeface="Arial" charset="0"/>
              </a:rPr>
              <a:t>恢复和并发控制</a:t>
            </a:r>
            <a:r>
              <a:rPr kumimoji="1" lang="zh-CN" altLang="zh-CN" sz="2800" dirty="0">
                <a:latin typeface="Arial" charset="0"/>
              </a:rPr>
              <a:t>的</a:t>
            </a:r>
            <a:r>
              <a:rPr kumimoji="1" lang="zh-CN" altLang="en-US" sz="2800" dirty="0">
                <a:solidFill>
                  <a:srgbClr val="FF0000"/>
                </a:solidFill>
                <a:latin typeface="Arial" charset="0"/>
              </a:rPr>
              <a:t>基本</a:t>
            </a:r>
            <a:r>
              <a:rPr kumimoji="1" lang="zh-CN" altLang="zh-CN" sz="2800" dirty="0">
                <a:solidFill>
                  <a:srgbClr val="FF0000"/>
                </a:solidFill>
                <a:latin typeface="Arial" charset="0"/>
              </a:rPr>
              <a:t>单位</a:t>
            </a:r>
            <a:r>
              <a:rPr kumimoji="1" lang="zh-CN" altLang="zh-CN" sz="2800" dirty="0" smtClean="0">
                <a:latin typeface="Arial" charset="0"/>
              </a:rPr>
              <a:t>。</a:t>
            </a:r>
            <a:r>
              <a:rPr kumimoji="1" lang="zh-CN" altLang="en-US" sz="2800" dirty="0">
                <a:latin typeface="Arial" charset="0"/>
              </a:rPr>
              <a:t>一个事务可以是一组</a:t>
            </a:r>
            <a:r>
              <a:rPr kumimoji="1" lang="en-US" altLang="zh-CN" sz="2800" dirty="0">
                <a:latin typeface="Arial" charset="0"/>
              </a:rPr>
              <a:t>SQL</a:t>
            </a:r>
            <a:r>
              <a:rPr kumimoji="1" lang="zh-CN" altLang="en-US" sz="2800" dirty="0">
                <a:latin typeface="Arial" charset="0"/>
              </a:rPr>
              <a:t>语句、一条</a:t>
            </a:r>
            <a:r>
              <a:rPr kumimoji="1" lang="en-US" altLang="zh-CN" sz="2800" dirty="0">
                <a:latin typeface="Arial" charset="0"/>
              </a:rPr>
              <a:t>SQL</a:t>
            </a:r>
            <a:r>
              <a:rPr kumimoji="1" lang="zh-CN" altLang="en-US" sz="2800" dirty="0">
                <a:latin typeface="Arial" charset="0"/>
              </a:rPr>
              <a:t>语句或整个程序，一个应用程序可以包括多个事务。</a:t>
            </a:r>
          </a:p>
          <a:p>
            <a:pPr eaLnBrk="1" hangingPunct="1">
              <a:defRPr/>
            </a:pPr>
            <a:endParaRPr kumimoji="1" lang="zh-CN" altLang="zh-CN" sz="2800" dirty="0">
              <a:latin typeface="Arial" charset="0"/>
            </a:endParaRPr>
          </a:p>
        </p:txBody>
      </p:sp>
      <p:sp>
        <p:nvSpPr>
          <p:cNvPr id="1149957" name="Oval 5"/>
          <p:cNvSpPr>
            <a:spLocks noChangeArrowheads="1"/>
          </p:cNvSpPr>
          <p:nvPr/>
        </p:nvSpPr>
        <p:spPr bwMode="auto">
          <a:xfrm>
            <a:off x="3756354" y="3450597"/>
            <a:ext cx="986587" cy="887413"/>
          </a:xfrm>
          <a:prstGeom prst="ellipse">
            <a:avLst/>
          </a:prstGeom>
          <a:solidFill>
            <a:srgbClr val="F5F5FF"/>
          </a:solidFill>
          <a:ln w="19050" cap="sq">
            <a:solidFill>
              <a:schemeClr val="accent2"/>
            </a:solidFill>
            <a:round/>
            <a:headEnd/>
            <a:tailEnd/>
          </a:ln>
          <a:effectLst>
            <a:outerShdw dist="35921" dir="2700000" algn="ctr" rotWithShape="0">
              <a:schemeClr val="bg2"/>
            </a:outerShdw>
          </a:effectLst>
        </p:spPr>
        <p:txBody>
          <a:bodyPr wrap="none" lIns="0" tIns="0" rIns="0" bIns="0" anchor="ctr"/>
          <a:lstStyle/>
          <a:p>
            <a:pPr algn="ctr">
              <a:spcAft>
                <a:spcPct val="0"/>
              </a:spcAft>
              <a:buSzTx/>
              <a:buFontTx/>
              <a:buNone/>
              <a:defRPr/>
            </a:pPr>
            <a:r>
              <a:rPr lang="zh-CN" altLang="en-US" sz="2800" b="1">
                <a:solidFill>
                  <a:srgbClr val="000000"/>
                </a:solidFill>
                <a:effectLst>
                  <a:outerShdw blurRad="38100" dist="38100" dir="2700000" algn="tl">
                    <a:srgbClr val="C0C0C0"/>
                  </a:outerShdw>
                </a:effectLst>
                <a:latin typeface="宋体" panose="02010600030101010101" pitchFamily="2" charset="-122"/>
                <a:ea typeface="宋体" panose="02010600030101010101" pitchFamily="2" charset="-122"/>
              </a:rPr>
              <a:t>销售</a:t>
            </a:r>
          </a:p>
        </p:txBody>
      </p:sp>
      <p:sp>
        <p:nvSpPr>
          <p:cNvPr id="1149958" name="Line 6"/>
          <p:cNvSpPr>
            <a:spLocks noChangeShapeType="1"/>
          </p:cNvSpPr>
          <p:nvPr/>
        </p:nvSpPr>
        <p:spPr bwMode="auto">
          <a:xfrm>
            <a:off x="1703512" y="3888415"/>
            <a:ext cx="1969560" cy="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sz="3600">
              <a:latin typeface="宋体" panose="02010600030101010101" pitchFamily="2" charset="-122"/>
              <a:ea typeface="宋体" panose="02010600030101010101" pitchFamily="2" charset="-122"/>
            </a:endParaRPr>
          </a:p>
        </p:txBody>
      </p:sp>
      <p:sp>
        <p:nvSpPr>
          <p:cNvPr id="1149959" name="Rectangle 7"/>
          <p:cNvSpPr>
            <a:spLocks noChangeArrowheads="1"/>
          </p:cNvSpPr>
          <p:nvPr/>
        </p:nvSpPr>
        <p:spPr bwMode="auto">
          <a:xfrm>
            <a:off x="1665051" y="3369963"/>
            <a:ext cx="1996009" cy="430887"/>
          </a:xfrm>
          <a:prstGeom prst="rect">
            <a:avLst/>
          </a:prstGeom>
          <a:noFill/>
          <a:ln w="12700" cap="sq">
            <a:noFill/>
            <a:miter lim="800000"/>
            <a:headEnd/>
            <a:tailEnd/>
          </a:ln>
          <a:effectLst/>
        </p:spPr>
        <p:txBody>
          <a:bodyPr wrap="square" lIns="0" tIns="0" rIns="0" bIns="0">
            <a:spAutoFit/>
          </a:bodyPr>
          <a:lstStyle/>
          <a:p>
            <a:pPr algn="ctr">
              <a:spcAft>
                <a:spcPct val="0"/>
              </a:spcAft>
              <a:buSzTx/>
              <a:buFontTx/>
              <a:buNone/>
              <a:defRPr/>
            </a:pPr>
            <a:r>
              <a:rPr lang="zh-CN" altLang="en-US" sz="2800" dirty="0">
                <a:effectLst>
                  <a:outerShdw blurRad="38100" dist="38100" dir="2700000" algn="tl">
                    <a:srgbClr val="000000"/>
                  </a:outerShdw>
                </a:effectLst>
                <a:latin typeface="宋体" panose="02010600030101010101" pitchFamily="2" charset="-122"/>
                <a:ea typeface="宋体" panose="02010600030101010101" pitchFamily="2" charset="-122"/>
              </a:rPr>
              <a:t>编号，数量</a:t>
            </a:r>
          </a:p>
        </p:txBody>
      </p:sp>
      <p:sp>
        <p:nvSpPr>
          <p:cNvPr id="1149960" name="Line 8"/>
          <p:cNvSpPr>
            <a:spLocks noChangeShapeType="1"/>
          </p:cNvSpPr>
          <p:nvPr/>
        </p:nvSpPr>
        <p:spPr bwMode="auto">
          <a:xfrm>
            <a:off x="2613353" y="4745996"/>
            <a:ext cx="1270738"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sz="3600">
              <a:latin typeface="宋体" panose="02010600030101010101" pitchFamily="2" charset="-122"/>
              <a:ea typeface="宋体" panose="02010600030101010101" pitchFamily="2" charset="-122"/>
            </a:endParaRPr>
          </a:p>
        </p:txBody>
      </p:sp>
      <p:sp>
        <p:nvSpPr>
          <p:cNvPr id="1149961" name="Line 9"/>
          <p:cNvSpPr>
            <a:spLocks noChangeShapeType="1"/>
          </p:cNvSpPr>
          <p:nvPr/>
        </p:nvSpPr>
        <p:spPr bwMode="auto">
          <a:xfrm>
            <a:off x="2613353" y="4822196"/>
            <a:ext cx="1270738"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sz="3600">
              <a:latin typeface="宋体" panose="02010600030101010101" pitchFamily="2" charset="-122"/>
              <a:ea typeface="宋体" panose="02010600030101010101" pitchFamily="2" charset="-122"/>
            </a:endParaRPr>
          </a:p>
        </p:txBody>
      </p:sp>
      <p:sp>
        <p:nvSpPr>
          <p:cNvPr id="1149962" name="Rectangle 10"/>
          <p:cNvSpPr>
            <a:spLocks noChangeArrowheads="1"/>
          </p:cNvSpPr>
          <p:nvPr/>
        </p:nvSpPr>
        <p:spPr bwMode="auto">
          <a:xfrm>
            <a:off x="2531945" y="4898396"/>
            <a:ext cx="1197606" cy="430887"/>
          </a:xfrm>
          <a:prstGeom prst="rect">
            <a:avLst/>
          </a:prstGeom>
          <a:noFill/>
          <a:ln w="12700" cap="sq">
            <a:noFill/>
            <a:miter lim="800000"/>
            <a:headEnd/>
            <a:tailEnd/>
          </a:ln>
          <a:effectLst/>
        </p:spPr>
        <p:txBody>
          <a:bodyPr wrap="square" lIns="0" tIns="0" rIns="0" bIns="0">
            <a:spAutoFit/>
          </a:bodyPr>
          <a:lstStyle/>
          <a:p>
            <a:pPr algn="ctr">
              <a:spcAft>
                <a:spcPct val="0"/>
              </a:spcAft>
              <a:buSzTx/>
              <a:buFontTx/>
              <a:buNone/>
              <a:defRPr/>
            </a:pPr>
            <a:r>
              <a:rPr lang="zh-CN" altLang="en-US" sz="2800">
                <a:effectLst>
                  <a:outerShdw blurRad="38100" dist="38100" dir="2700000" algn="tl">
                    <a:srgbClr val="000000"/>
                  </a:outerShdw>
                </a:effectLst>
                <a:latin typeface="宋体" panose="02010600030101010101" pitchFamily="2" charset="-122"/>
                <a:ea typeface="宋体" panose="02010600030101010101" pitchFamily="2" charset="-122"/>
              </a:rPr>
              <a:t>库存帐</a:t>
            </a:r>
          </a:p>
        </p:txBody>
      </p:sp>
      <p:sp>
        <p:nvSpPr>
          <p:cNvPr id="1149963" name="Line 11"/>
          <p:cNvSpPr>
            <a:spLocks noChangeShapeType="1"/>
          </p:cNvSpPr>
          <p:nvPr/>
        </p:nvSpPr>
        <p:spPr bwMode="auto">
          <a:xfrm flipH="1">
            <a:off x="3237241" y="4212596"/>
            <a:ext cx="661842" cy="45720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sz="3600">
              <a:latin typeface="宋体" panose="02010600030101010101" pitchFamily="2" charset="-122"/>
              <a:ea typeface="宋体" panose="02010600030101010101" pitchFamily="2" charset="-122"/>
            </a:endParaRPr>
          </a:p>
        </p:txBody>
      </p:sp>
      <p:sp>
        <p:nvSpPr>
          <p:cNvPr id="1149964" name="Line 12"/>
          <p:cNvSpPr>
            <a:spLocks noChangeShapeType="1"/>
          </p:cNvSpPr>
          <p:nvPr/>
        </p:nvSpPr>
        <p:spPr bwMode="auto">
          <a:xfrm>
            <a:off x="4253241" y="4760284"/>
            <a:ext cx="1270738"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sz="3600">
              <a:latin typeface="宋体" panose="02010600030101010101" pitchFamily="2" charset="-122"/>
              <a:ea typeface="宋体" panose="02010600030101010101" pitchFamily="2" charset="-122"/>
            </a:endParaRPr>
          </a:p>
        </p:txBody>
      </p:sp>
      <p:sp>
        <p:nvSpPr>
          <p:cNvPr id="1149965" name="Line 13"/>
          <p:cNvSpPr>
            <a:spLocks noChangeShapeType="1"/>
          </p:cNvSpPr>
          <p:nvPr/>
        </p:nvSpPr>
        <p:spPr bwMode="auto">
          <a:xfrm>
            <a:off x="4253241" y="4836484"/>
            <a:ext cx="1270738"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sz="3600">
              <a:latin typeface="宋体" panose="02010600030101010101" pitchFamily="2" charset="-122"/>
              <a:ea typeface="宋体" panose="02010600030101010101" pitchFamily="2" charset="-122"/>
            </a:endParaRPr>
          </a:p>
        </p:txBody>
      </p:sp>
      <p:sp>
        <p:nvSpPr>
          <p:cNvPr id="1149966" name="Rectangle 14"/>
          <p:cNvSpPr>
            <a:spLocks noChangeArrowheads="1"/>
          </p:cNvSpPr>
          <p:nvPr/>
        </p:nvSpPr>
        <p:spPr bwMode="auto">
          <a:xfrm>
            <a:off x="4035010" y="4912684"/>
            <a:ext cx="1996009" cy="430887"/>
          </a:xfrm>
          <a:prstGeom prst="rect">
            <a:avLst/>
          </a:prstGeom>
          <a:noFill/>
          <a:ln w="12700" cap="sq">
            <a:noFill/>
            <a:miter lim="800000"/>
            <a:headEnd/>
            <a:tailEnd/>
          </a:ln>
          <a:effectLst/>
        </p:spPr>
        <p:txBody>
          <a:bodyPr wrap="square" lIns="0" tIns="0" rIns="0" bIns="0">
            <a:spAutoFit/>
          </a:bodyPr>
          <a:lstStyle/>
          <a:p>
            <a:pPr algn="ctr">
              <a:spcAft>
                <a:spcPct val="0"/>
              </a:spcAft>
              <a:buSzTx/>
              <a:buFontTx/>
              <a:buNone/>
              <a:defRPr/>
            </a:pPr>
            <a:r>
              <a:rPr lang="zh-CN" altLang="en-US" sz="2800">
                <a:effectLst>
                  <a:outerShdw blurRad="38100" dist="38100" dir="2700000" algn="tl">
                    <a:srgbClr val="000000"/>
                  </a:outerShdw>
                </a:effectLst>
                <a:latin typeface="宋体" panose="02010600030101010101" pitchFamily="2" charset="-122"/>
                <a:ea typeface="宋体" panose="02010600030101010101" pitchFamily="2" charset="-122"/>
              </a:rPr>
              <a:t>销售明细帐</a:t>
            </a:r>
          </a:p>
        </p:txBody>
      </p:sp>
      <p:sp>
        <p:nvSpPr>
          <p:cNvPr id="1149967" name="Line 15"/>
          <p:cNvSpPr>
            <a:spLocks noChangeShapeType="1"/>
          </p:cNvSpPr>
          <p:nvPr/>
        </p:nvSpPr>
        <p:spPr bwMode="auto">
          <a:xfrm>
            <a:off x="4442153" y="4288796"/>
            <a:ext cx="423579" cy="457200"/>
          </a:xfrm>
          <a:prstGeom prst="line">
            <a:avLst/>
          </a:prstGeom>
          <a:noFill/>
          <a:ln w="12700" cap="sq">
            <a:solidFill>
              <a:schemeClr val="tx1"/>
            </a:solidFill>
            <a:round/>
            <a:headEnd/>
            <a:tailEnd type="triangle" w="med" len="med"/>
          </a:ln>
          <a:effectLst/>
        </p:spPr>
        <p:txBody>
          <a:bodyPr wrap="none" lIns="0" tIns="0" rIns="0" bIns="0" anchor="ctr"/>
          <a:lstStyle/>
          <a:p>
            <a:pPr>
              <a:defRPr/>
            </a:pPr>
            <a:endParaRPr lang="zh-CN" altLang="en-US" sz="3600">
              <a:latin typeface="宋体" panose="02010600030101010101" pitchFamily="2" charset="-122"/>
              <a:ea typeface="宋体" panose="02010600030101010101" pitchFamily="2" charset="-122"/>
            </a:endParaRPr>
          </a:p>
        </p:txBody>
      </p:sp>
      <p:sp>
        <p:nvSpPr>
          <p:cNvPr id="1149968" name="Text Box 16"/>
          <p:cNvSpPr txBox="1">
            <a:spLocks noChangeArrowheads="1"/>
          </p:cNvSpPr>
          <p:nvPr/>
        </p:nvSpPr>
        <p:spPr bwMode="auto">
          <a:xfrm>
            <a:off x="6256666" y="3498222"/>
            <a:ext cx="4403461" cy="1721222"/>
          </a:xfrm>
          <a:prstGeom prst="rect">
            <a:avLst/>
          </a:prstGeom>
          <a:noFill/>
          <a:ln w="12700" cap="sq">
            <a:noFill/>
            <a:miter lim="800000"/>
            <a:headEnd/>
            <a:tailEnd/>
          </a:ln>
          <a:effectLst/>
        </p:spPr>
        <p:txBody>
          <a:bodyPr wrap="square" lIns="72000" tIns="72000" rIns="72000" bIns="72000">
            <a:spAutoFit/>
          </a:bodyPr>
          <a:lstStyle/>
          <a:p>
            <a:pPr marL="444500" indent="-444500">
              <a:spcBef>
                <a:spcPct val="20000"/>
              </a:spcBef>
              <a:spcAft>
                <a:spcPct val="0"/>
              </a:spcAft>
              <a:buSzTx/>
              <a:defRPr/>
            </a:pPr>
            <a:r>
              <a:rPr lang="en-US" altLang="zh-CN">
                <a:effectLst>
                  <a:outerShdw blurRad="38100" dist="38100" dir="2700000" algn="tl">
                    <a:srgbClr val="000000"/>
                  </a:outerShdw>
                </a:effectLst>
                <a:latin typeface="宋体" panose="02010600030101010101" pitchFamily="2" charset="-122"/>
                <a:ea typeface="宋体" panose="02010600030101010101" pitchFamily="2" charset="-122"/>
              </a:rPr>
              <a:t>①	</a:t>
            </a:r>
            <a:r>
              <a:rPr lang="zh-CN" altLang="en-US">
                <a:effectLst>
                  <a:outerShdw blurRad="38100" dist="38100" dir="2700000" algn="tl">
                    <a:srgbClr val="000000"/>
                  </a:outerShdw>
                </a:effectLst>
                <a:latin typeface="宋体" panose="02010600030101010101" pitchFamily="2" charset="-122"/>
                <a:ea typeface="宋体" panose="02010600030101010101" pitchFamily="2" charset="-122"/>
              </a:rPr>
              <a:t>更新库存帐中的数量</a:t>
            </a:r>
          </a:p>
          <a:p>
            <a:pPr marL="444500" indent="-444500">
              <a:spcBef>
                <a:spcPct val="20000"/>
              </a:spcBef>
              <a:spcAft>
                <a:spcPct val="0"/>
              </a:spcAft>
              <a:buSzTx/>
              <a:defRPr/>
            </a:pPr>
            <a:r>
              <a:rPr lang="zh-CN" altLang="en-US">
                <a:effectLst>
                  <a:outerShdw blurRad="38100" dist="38100" dir="2700000" algn="tl">
                    <a:srgbClr val="000000"/>
                  </a:outerShdw>
                </a:effectLst>
                <a:latin typeface="宋体" panose="02010600030101010101" pitchFamily="2" charset="-122"/>
                <a:ea typeface="宋体" panose="02010600030101010101" pitchFamily="2" charset="-122"/>
              </a:rPr>
              <a:t>②	填写销售数据到销售明细帐</a:t>
            </a:r>
          </a:p>
        </p:txBody>
      </p:sp>
      <p:sp>
        <p:nvSpPr>
          <p:cNvPr id="1149969" name="Rectangle 17"/>
          <p:cNvSpPr>
            <a:spLocks noChangeArrowheads="1"/>
          </p:cNvSpPr>
          <p:nvPr/>
        </p:nvSpPr>
        <p:spPr bwMode="auto">
          <a:xfrm>
            <a:off x="2178209" y="2564904"/>
            <a:ext cx="8886343" cy="492443"/>
          </a:xfrm>
          <a:prstGeom prst="rect">
            <a:avLst/>
          </a:prstGeom>
          <a:noFill/>
          <a:ln w="12700" cap="sq" algn="ctr">
            <a:noFill/>
            <a:miter lim="800000"/>
            <a:headEnd/>
            <a:tailEnd/>
          </a:ln>
          <a:effectLst/>
        </p:spPr>
        <p:txBody>
          <a:bodyPr wrap="square" lIns="0" tIns="0" rIns="0" bIns="0">
            <a:spAutoFit/>
          </a:bodyPr>
          <a:lstStyle/>
          <a:p>
            <a:pPr>
              <a:spcAft>
                <a:spcPct val="40000"/>
              </a:spcAft>
              <a:buClr>
                <a:srgbClr val="66FF33"/>
              </a:buClr>
              <a:buSzPct val="85000"/>
              <a:defRPr/>
            </a:pPr>
            <a:r>
              <a:rPr lang="zh-CN" altLang="en-US" dirty="0">
                <a:solidFill>
                  <a:srgbClr val="66FF99"/>
                </a:solidFill>
                <a:effectLst>
                  <a:outerShdw blurRad="38100" dist="38100" dir="2700000" algn="tl">
                    <a:srgbClr val="000000"/>
                  </a:outerShdw>
                </a:effectLst>
                <a:latin typeface="宋体" panose="02010600030101010101" pitchFamily="2" charset="-122"/>
                <a:ea typeface="宋体" panose="02010600030101010101" pitchFamily="2" charset="-122"/>
              </a:rPr>
              <a:t>例如记录一次销售事务需要两个操作：</a:t>
            </a:r>
            <a:endParaRPr lang="zh-CN" altLang="zh-CN" dirty="0">
              <a:solidFill>
                <a:srgbClr val="66FF99"/>
              </a:solidFill>
              <a:effectLst>
                <a:outerShdw blurRad="38100" dist="38100" dir="2700000" algn="tl">
                  <a:srgbClr val="000000"/>
                </a:outerShdw>
              </a:effectLst>
              <a:latin typeface="宋体" panose="02010600030101010101" pitchFamily="2" charset="-122"/>
              <a:ea typeface="宋体" panose="02010600030101010101" pitchFamily="2" charset="-122"/>
            </a:endParaRPr>
          </a:p>
        </p:txBody>
      </p:sp>
      <p:sp>
        <p:nvSpPr>
          <p:cNvPr id="1149970" name="Rectangle 18"/>
          <p:cNvSpPr>
            <a:spLocks noChangeArrowheads="1"/>
          </p:cNvSpPr>
          <p:nvPr/>
        </p:nvSpPr>
        <p:spPr bwMode="auto">
          <a:xfrm>
            <a:off x="2178209" y="5706568"/>
            <a:ext cx="8886343" cy="984885"/>
          </a:xfrm>
          <a:prstGeom prst="rect">
            <a:avLst/>
          </a:prstGeom>
          <a:noFill/>
          <a:ln w="12700" cap="sq" algn="ctr">
            <a:noFill/>
            <a:miter lim="800000"/>
            <a:headEnd/>
            <a:tailEnd/>
          </a:ln>
          <a:effectLst/>
        </p:spPr>
        <p:txBody>
          <a:bodyPr wrap="square" lIns="0" tIns="0" rIns="0" bIns="0">
            <a:spAutoFit/>
          </a:bodyPr>
          <a:lstStyle/>
          <a:p>
            <a:pPr>
              <a:spcAft>
                <a:spcPct val="40000"/>
              </a:spcAft>
              <a:buClr>
                <a:srgbClr val="66FF33"/>
              </a:buClr>
              <a:buSzPct val="85000"/>
              <a:defRPr/>
            </a:pPr>
            <a:r>
              <a:rPr lang="zh-CN" altLang="en-US">
                <a:solidFill>
                  <a:srgbClr val="66FF99"/>
                </a:solidFill>
                <a:effectLst>
                  <a:outerShdw blurRad="38100" dist="38100" dir="2700000" algn="tl">
                    <a:srgbClr val="000000"/>
                  </a:outerShdw>
                </a:effectLst>
                <a:latin typeface="宋体" panose="02010600030101010101" pitchFamily="2" charset="-122"/>
                <a:ea typeface="宋体" panose="02010600030101010101" pitchFamily="2" charset="-122"/>
              </a:rPr>
              <a:t>该事务中的两个操作没有顺序要求，但必须看做一个整体才能保证数据的一致性。</a:t>
            </a:r>
            <a:endParaRPr lang="zh-CN" altLang="zh-CN">
              <a:solidFill>
                <a:srgbClr val="66FF99"/>
              </a:solidFill>
              <a:effectLst>
                <a:outerShdw blurRad="38100" dist="38100" dir="2700000" algn="tl">
                  <a:srgbClr val="000000"/>
                </a:outerShdw>
              </a:effectLst>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title"/>
          </p:nvPr>
        </p:nvSpPr>
        <p:spPr>
          <a:xfrm>
            <a:off x="1055440" y="84391"/>
            <a:ext cx="3223172"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显式事务定义</a:t>
            </a:r>
          </a:p>
        </p:txBody>
      </p:sp>
      <p:sp>
        <p:nvSpPr>
          <p:cNvPr id="1150980" name="Rectangle 4"/>
          <p:cNvSpPr>
            <a:spLocks noGrp="1" noChangeArrowheads="1"/>
          </p:cNvSpPr>
          <p:nvPr>
            <p:ph idx="1"/>
          </p:nvPr>
        </p:nvSpPr>
        <p:spPr>
          <a:xfrm>
            <a:off x="695400" y="992550"/>
            <a:ext cx="10657184" cy="2463800"/>
          </a:xfrm>
        </p:spPr>
        <p:txBody>
          <a:bodyPr/>
          <a:lstStyle/>
          <a:p>
            <a:pPr eaLnBrk="1" hangingPunct="1">
              <a:defRPr/>
            </a:pPr>
            <a:r>
              <a:rPr kumimoji="1" lang="zh-CN" altLang="zh-CN" dirty="0">
                <a:latin typeface="Arial" charset="0"/>
              </a:rPr>
              <a:t>事务的开始与结束可以由用户显式控制，或者由DBMS按照缺省规定自动划分。 </a:t>
            </a:r>
          </a:p>
        </p:txBody>
      </p:sp>
      <p:grpSp>
        <p:nvGrpSpPr>
          <p:cNvPr id="2" name="组合 1">
            <a:extLst>
              <a:ext uri="{FF2B5EF4-FFF2-40B4-BE49-F238E27FC236}">
                <a16:creationId xmlns:a16="http://schemas.microsoft.com/office/drawing/2014/main" id="{87AE916C-3C0F-4650-A073-AD27D81710C1}"/>
              </a:ext>
            </a:extLst>
          </p:cNvPr>
          <p:cNvGrpSpPr/>
          <p:nvPr/>
        </p:nvGrpSpPr>
        <p:grpSpPr>
          <a:xfrm>
            <a:off x="1204511" y="2060848"/>
            <a:ext cx="10004057" cy="1908994"/>
            <a:chOff x="2122488" y="2420888"/>
            <a:chExt cx="7424737" cy="1404938"/>
          </a:xfrm>
        </p:grpSpPr>
        <p:sp>
          <p:nvSpPr>
            <p:cNvPr id="1150981" name="Rectangle 5"/>
            <p:cNvSpPr>
              <a:spLocks noChangeArrowheads="1"/>
            </p:cNvSpPr>
            <p:nvPr/>
          </p:nvSpPr>
          <p:spPr bwMode="auto">
            <a:xfrm>
              <a:off x="2122488" y="2711401"/>
              <a:ext cx="2286000" cy="838200"/>
            </a:xfrm>
            <a:prstGeom prst="rect">
              <a:avLst/>
            </a:prstGeom>
            <a:ln w="38100">
              <a:solidFill>
                <a:schemeClr val="tx1"/>
              </a:solidFill>
              <a:headEnd/>
              <a:tailEnd/>
            </a:ln>
          </p:spPr>
          <p:style>
            <a:lnRef idx="1">
              <a:schemeClr val="accent1"/>
            </a:lnRef>
            <a:fillRef idx="2">
              <a:schemeClr val="accent1"/>
            </a:fillRef>
            <a:effectRef idx="1">
              <a:schemeClr val="accent1"/>
            </a:effectRef>
            <a:fontRef idx="minor">
              <a:schemeClr val="dk1"/>
            </a:fontRef>
          </p:style>
          <p:txBody>
            <a:bodyPr wrap="none" lIns="0" tIns="0" rIns="0" bIns="0" anchor="ctr"/>
            <a:lstStyle/>
            <a:p>
              <a:pPr algn="ctr">
                <a:spcAft>
                  <a:spcPct val="0"/>
                </a:spcAft>
                <a:buSzTx/>
                <a:buFontTx/>
                <a:buNone/>
                <a:defRPr/>
              </a:pPr>
              <a:r>
                <a:rPr lang="en-US" altLang="zh-CN" sz="2800" dirty="0">
                  <a:solidFill>
                    <a:srgbClr val="000000"/>
                  </a:solidFill>
                  <a:effectLst>
                    <a:outerShdw blurRad="38100" dist="38100" dir="2700000" algn="tl">
                      <a:srgbClr val="C0C0C0"/>
                    </a:outerShdw>
                  </a:effectLst>
                  <a:latin typeface="Arial Black" panose="020B0A04020102020204" pitchFamily="34" charset="0"/>
                  <a:ea typeface="宋体" panose="02010600030101010101" pitchFamily="2" charset="-122"/>
                </a:rPr>
                <a:t>BEGIN </a:t>
              </a:r>
            </a:p>
            <a:p>
              <a:pPr algn="ctr">
                <a:spcAft>
                  <a:spcPct val="0"/>
                </a:spcAft>
                <a:buSzTx/>
                <a:buFontTx/>
                <a:buNone/>
                <a:defRPr/>
              </a:pPr>
              <a:r>
                <a:rPr lang="en-US" altLang="zh-CN" sz="2800" dirty="0">
                  <a:solidFill>
                    <a:srgbClr val="000000"/>
                  </a:solidFill>
                  <a:effectLst>
                    <a:outerShdw blurRad="38100" dist="38100" dir="2700000" algn="tl">
                      <a:srgbClr val="C0C0C0"/>
                    </a:outerShdw>
                  </a:effectLst>
                  <a:latin typeface="Arial Black" panose="020B0A04020102020204" pitchFamily="34" charset="0"/>
                  <a:ea typeface="宋体" panose="02010600030101010101" pitchFamily="2" charset="-122"/>
                </a:rPr>
                <a:t>TRANSACTION</a:t>
              </a:r>
            </a:p>
          </p:txBody>
        </p:sp>
        <p:sp>
          <p:nvSpPr>
            <p:cNvPr id="1150982" name="Rectangle 6"/>
            <p:cNvSpPr>
              <a:spLocks noChangeArrowheads="1"/>
            </p:cNvSpPr>
            <p:nvPr/>
          </p:nvSpPr>
          <p:spPr bwMode="auto">
            <a:xfrm>
              <a:off x="4818063" y="2711401"/>
              <a:ext cx="762000" cy="838200"/>
            </a:xfrm>
            <a:prstGeom prst="rect">
              <a:avLst/>
            </a:prstGeom>
            <a:ln w="38100">
              <a:solidFill>
                <a:schemeClr val="tx1"/>
              </a:solidFill>
              <a:headEnd/>
              <a:tailEnd/>
            </a:ln>
          </p:spPr>
          <p:style>
            <a:lnRef idx="1">
              <a:schemeClr val="accent1"/>
            </a:lnRef>
            <a:fillRef idx="2">
              <a:schemeClr val="accent1"/>
            </a:fillRef>
            <a:effectRef idx="1">
              <a:schemeClr val="accent1"/>
            </a:effectRef>
            <a:fontRef idx="minor">
              <a:schemeClr val="dk1"/>
            </a:fontRef>
          </p:style>
          <p:txBody>
            <a:bodyPr lIns="0" tIns="0" rIns="0" bIns="0" anchor="ctr"/>
            <a:lstStyle/>
            <a:p>
              <a:pPr algn="ctr">
                <a:spcAft>
                  <a:spcPct val="0"/>
                </a:spcAft>
                <a:buSzTx/>
                <a:buFontTx/>
                <a:buNone/>
                <a:defRPr/>
              </a:pPr>
              <a:r>
                <a:rPr lang="zh-CN" altLang="en-US" sz="2800">
                  <a:solidFill>
                    <a:srgbClr val="000000"/>
                  </a:solidFill>
                  <a:effectLst>
                    <a:outerShdw blurRad="38100" dist="38100" dir="2700000" algn="tl">
                      <a:srgbClr val="C0C0C0"/>
                    </a:outerShdw>
                  </a:effectLst>
                  <a:latin typeface="Arial Black" panose="020B0A04020102020204" pitchFamily="34" charset="0"/>
                  <a:ea typeface="宋体" panose="02010600030101010101" pitchFamily="2" charset="-122"/>
                </a:rPr>
                <a:t>数据处理</a:t>
              </a:r>
            </a:p>
          </p:txBody>
        </p:sp>
        <p:sp>
          <p:nvSpPr>
            <p:cNvPr id="1150983" name="Rectangle 7"/>
            <p:cNvSpPr>
              <a:spLocks noChangeArrowheads="1"/>
            </p:cNvSpPr>
            <p:nvPr/>
          </p:nvSpPr>
          <p:spPr bwMode="auto">
            <a:xfrm>
              <a:off x="7794625" y="2420888"/>
              <a:ext cx="1752600" cy="457200"/>
            </a:xfrm>
            <a:prstGeom prst="rect">
              <a:avLst/>
            </a:prstGeom>
            <a:ln w="38100">
              <a:solidFill>
                <a:schemeClr val="tx1"/>
              </a:solidFill>
              <a:headEnd/>
              <a:tailEnd/>
            </a:ln>
          </p:spPr>
          <p:style>
            <a:lnRef idx="1">
              <a:schemeClr val="accent1"/>
            </a:lnRef>
            <a:fillRef idx="2">
              <a:schemeClr val="accent1"/>
            </a:fillRef>
            <a:effectRef idx="1">
              <a:schemeClr val="accent1"/>
            </a:effectRef>
            <a:fontRef idx="minor">
              <a:schemeClr val="dk1"/>
            </a:fontRef>
          </p:style>
          <p:txBody>
            <a:bodyPr lIns="0" tIns="0" rIns="0" bIns="0" anchor="ctr"/>
            <a:lstStyle/>
            <a:p>
              <a:pPr algn="ctr">
                <a:spcAft>
                  <a:spcPct val="0"/>
                </a:spcAft>
                <a:buSzTx/>
                <a:buFontTx/>
                <a:buNone/>
                <a:defRPr/>
              </a:pPr>
              <a:r>
                <a:rPr lang="en-US" altLang="zh-CN" sz="2800" dirty="0">
                  <a:solidFill>
                    <a:srgbClr val="000000"/>
                  </a:solidFill>
                  <a:effectLst>
                    <a:outerShdw blurRad="38100" dist="38100" dir="2700000" algn="tl">
                      <a:srgbClr val="C0C0C0"/>
                    </a:outerShdw>
                  </a:effectLst>
                  <a:latin typeface="Arial Black" panose="020B0A04020102020204" pitchFamily="34" charset="0"/>
                  <a:ea typeface="宋体" panose="02010600030101010101" pitchFamily="2" charset="-122"/>
                </a:rPr>
                <a:t>COMMIT</a:t>
              </a:r>
            </a:p>
          </p:txBody>
        </p:sp>
        <p:sp>
          <p:nvSpPr>
            <p:cNvPr id="1150984" name="Rectangle 8"/>
            <p:cNvSpPr>
              <a:spLocks noChangeArrowheads="1"/>
            </p:cNvSpPr>
            <p:nvPr/>
          </p:nvSpPr>
          <p:spPr bwMode="auto">
            <a:xfrm>
              <a:off x="7794625" y="3368626"/>
              <a:ext cx="1752600" cy="457200"/>
            </a:xfrm>
            <a:prstGeom prst="rect">
              <a:avLst/>
            </a:prstGeom>
            <a:ln w="38100">
              <a:solidFill>
                <a:schemeClr val="tx1"/>
              </a:solidFill>
              <a:headEnd/>
              <a:tailEnd/>
            </a:ln>
          </p:spPr>
          <p:style>
            <a:lnRef idx="1">
              <a:schemeClr val="accent1"/>
            </a:lnRef>
            <a:fillRef idx="2">
              <a:schemeClr val="accent1"/>
            </a:fillRef>
            <a:effectRef idx="1">
              <a:schemeClr val="accent1"/>
            </a:effectRef>
            <a:fontRef idx="minor">
              <a:schemeClr val="dk1"/>
            </a:fontRef>
          </p:style>
          <p:txBody>
            <a:bodyPr lIns="0" tIns="0" rIns="0" bIns="0" anchor="ctr"/>
            <a:lstStyle/>
            <a:p>
              <a:pPr algn="ctr">
                <a:spcAft>
                  <a:spcPct val="0"/>
                </a:spcAft>
                <a:buSzTx/>
                <a:buFontTx/>
                <a:buNone/>
                <a:defRPr/>
              </a:pPr>
              <a:r>
                <a:rPr lang="en-US" altLang="zh-CN" sz="2800">
                  <a:solidFill>
                    <a:srgbClr val="000000"/>
                  </a:solidFill>
                  <a:effectLst>
                    <a:outerShdw blurRad="38100" dist="38100" dir="2700000" algn="tl">
                      <a:srgbClr val="C0C0C0"/>
                    </a:outerShdw>
                  </a:effectLst>
                  <a:latin typeface="Arial Black" panose="020B0A04020102020204" pitchFamily="34" charset="0"/>
                  <a:ea typeface="宋体" panose="02010600030101010101" pitchFamily="2" charset="-122"/>
                </a:rPr>
                <a:t>ROLLBACK</a:t>
              </a:r>
            </a:p>
          </p:txBody>
        </p:sp>
        <p:sp>
          <p:nvSpPr>
            <p:cNvPr id="1150985" name="AutoShape 9"/>
            <p:cNvSpPr>
              <a:spLocks noChangeArrowheads="1"/>
            </p:cNvSpPr>
            <p:nvPr/>
          </p:nvSpPr>
          <p:spPr bwMode="auto">
            <a:xfrm>
              <a:off x="6010275" y="2892376"/>
              <a:ext cx="1371600" cy="476250"/>
            </a:xfrm>
            <a:prstGeom prst="diamond">
              <a:avLst/>
            </a:prstGeom>
            <a:ln w="38100">
              <a:solidFill>
                <a:schemeClr val="tx1"/>
              </a:solidFill>
              <a:headEnd/>
              <a:tailEnd/>
            </a:ln>
          </p:spPr>
          <p:style>
            <a:lnRef idx="1">
              <a:schemeClr val="accent1"/>
            </a:lnRef>
            <a:fillRef idx="2">
              <a:schemeClr val="accent1"/>
            </a:fillRef>
            <a:effectRef idx="1">
              <a:schemeClr val="accent1"/>
            </a:effectRef>
            <a:fontRef idx="minor">
              <a:schemeClr val="dk1"/>
            </a:fontRef>
          </p:style>
          <p:txBody>
            <a:bodyPr lIns="0" tIns="0" rIns="0" bIns="0" anchor="ctr"/>
            <a:lstStyle/>
            <a:p>
              <a:pPr algn="ctr">
                <a:spcAft>
                  <a:spcPct val="0"/>
                </a:spcAft>
                <a:buSzTx/>
                <a:buFontTx/>
                <a:buNone/>
                <a:defRPr/>
              </a:pPr>
              <a:r>
                <a:rPr lang="zh-CN" altLang="en-US" sz="2800">
                  <a:solidFill>
                    <a:srgbClr val="000000"/>
                  </a:solidFill>
                  <a:effectLst>
                    <a:outerShdw blurRad="38100" dist="38100" dir="2700000" algn="tl">
                      <a:srgbClr val="C0C0C0"/>
                    </a:outerShdw>
                  </a:effectLst>
                  <a:latin typeface="Arial Black" panose="020B0A04020102020204" pitchFamily="34" charset="0"/>
                  <a:ea typeface="宋体" panose="02010600030101010101" pitchFamily="2" charset="-122"/>
                </a:rPr>
                <a:t>正常</a:t>
              </a:r>
            </a:p>
          </p:txBody>
        </p:sp>
        <p:cxnSp>
          <p:nvCxnSpPr>
            <p:cNvPr id="16394" name="AutoShape 10"/>
            <p:cNvCxnSpPr>
              <a:cxnSpLocks noChangeShapeType="1"/>
              <a:stCxn id="1150981" idx="3"/>
              <a:endCxn id="1150982" idx="1"/>
            </p:cNvCxnSpPr>
            <p:nvPr/>
          </p:nvCxnSpPr>
          <p:spPr bwMode="auto">
            <a:xfrm>
              <a:off x="4408489" y="3130501"/>
              <a:ext cx="40957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95" name="AutoShape 11"/>
            <p:cNvCxnSpPr>
              <a:cxnSpLocks noChangeShapeType="1"/>
              <a:stCxn id="1150982" idx="3"/>
              <a:endCxn id="1150985" idx="1"/>
            </p:cNvCxnSpPr>
            <p:nvPr/>
          </p:nvCxnSpPr>
          <p:spPr bwMode="auto">
            <a:xfrm>
              <a:off x="5580063" y="3130501"/>
              <a:ext cx="430212"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396" name="AutoShape 12"/>
            <p:cNvCxnSpPr>
              <a:cxnSpLocks noChangeShapeType="1"/>
              <a:stCxn id="1150985" idx="0"/>
              <a:endCxn id="1150983" idx="1"/>
            </p:cNvCxnSpPr>
            <p:nvPr/>
          </p:nvCxnSpPr>
          <p:spPr bwMode="auto">
            <a:xfrm rot="16200000">
              <a:off x="7123906" y="2221657"/>
              <a:ext cx="242888" cy="1098550"/>
            </a:xfrm>
            <a:prstGeom prst="bentConnector2">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16397" name="AutoShape 13"/>
            <p:cNvCxnSpPr>
              <a:cxnSpLocks noChangeShapeType="1"/>
              <a:stCxn id="1150985" idx="2"/>
              <a:endCxn id="1150984" idx="1"/>
            </p:cNvCxnSpPr>
            <p:nvPr/>
          </p:nvCxnSpPr>
          <p:spPr bwMode="auto">
            <a:xfrm rot="16200000" flipH="1">
              <a:off x="7131050" y="2933651"/>
              <a:ext cx="228600" cy="1098550"/>
            </a:xfrm>
            <a:prstGeom prst="bentConnector2">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1150990" name="Rectangle 14"/>
            <p:cNvSpPr>
              <a:spLocks noChangeArrowheads="1"/>
            </p:cNvSpPr>
            <p:nvPr/>
          </p:nvSpPr>
          <p:spPr bwMode="auto">
            <a:xfrm>
              <a:off x="7005906" y="2674888"/>
              <a:ext cx="177266" cy="271813"/>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Arial Black" panose="020B0A04020102020204" pitchFamily="34" charset="0"/>
                  <a:ea typeface="宋体" panose="02010600030101010101" pitchFamily="2" charset="-122"/>
                </a:rPr>
                <a:t>Y</a:t>
              </a:r>
            </a:p>
          </p:txBody>
        </p:sp>
        <p:sp>
          <p:nvSpPr>
            <p:cNvPr id="1150991" name="Rectangle 15"/>
            <p:cNvSpPr>
              <a:spLocks noChangeArrowheads="1"/>
            </p:cNvSpPr>
            <p:nvPr/>
          </p:nvSpPr>
          <p:spPr bwMode="auto">
            <a:xfrm>
              <a:off x="7016824" y="3292426"/>
              <a:ext cx="190352" cy="271813"/>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en-US" altLang="zh-CN" sz="2400">
                  <a:effectLst>
                    <a:outerShdw blurRad="38100" dist="38100" dir="2700000" algn="tl">
                      <a:srgbClr val="000000"/>
                    </a:outerShdw>
                  </a:effectLst>
                  <a:latin typeface="Arial Black" panose="020B0A04020102020204" pitchFamily="34" charset="0"/>
                  <a:ea typeface="宋体" panose="02010600030101010101" pitchFamily="2" charset="-122"/>
                </a:rPr>
                <a:t>N</a:t>
              </a:r>
            </a:p>
          </p:txBody>
        </p:sp>
      </p:grpSp>
      <p:sp>
        <p:nvSpPr>
          <p:cNvPr id="1150992" name="Rectangle 16"/>
          <p:cNvSpPr>
            <a:spLocks noChangeArrowheads="1"/>
          </p:cNvSpPr>
          <p:nvPr/>
        </p:nvSpPr>
        <p:spPr bwMode="auto">
          <a:xfrm>
            <a:off x="1204511" y="4118564"/>
            <a:ext cx="10148073" cy="427037"/>
          </a:xfrm>
          <a:prstGeom prst="rect">
            <a:avLst/>
          </a:prstGeom>
          <a:noFill/>
          <a:ln w="12700" cap="sq">
            <a:noFill/>
            <a:miter lim="800000"/>
            <a:headEnd/>
            <a:tailEnd/>
          </a:ln>
          <a:effectLst/>
        </p:spPr>
        <p:txBody>
          <a:bodyPr lIns="0" tIns="0" rIns="0" bIns="0"/>
          <a:lstStyle/>
          <a:p>
            <a:pPr algn="just">
              <a:spcBef>
                <a:spcPct val="20000"/>
              </a:spcBef>
              <a:spcAft>
                <a:spcPct val="0"/>
              </a:spcAft>
              <a:buSzTx/>
              <a:buFontTx/>
              <a:buNone/>
              <a:defRPr/>
            </a:pPr>
            <a:r>
              <a:rPr lang="en-US" altLang="zh-CN" dirty="0">
                <a:solidFill>
                  <a:srgbClr val="00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BEGIN TRANSACTION</a:t>
            </a:r>
            <a:r>
              <a:rPr lang="zh-CN" altLang="en-US"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表示启动一个事务。</a:t>
            </a:r>
          </a:p>
          <a:p>
            <a:pPr algn="just">
              <a:spcBef>
                <a:spcPct val="20000"/>
              </a:spcBef>
              <a:spcAft>
                <a:spcPct val="0"/>
              </a:spcAft>
              <a:buSzTx/>
              <a:buFontTx/>
              <a:buNone/>
              <a:defRPr/>
            </a:pPr>
            <a:r>
              <a:rPr lang="en-US" altLang="zh-CN" dirty="0">
                <a:solidFill>
                  <a:srgbClr val="00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COMMIT</a:t>
            </a:r>
            <a:r>
              <a:rPr lang="zh-CN" altLang="en-US"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表示提交事务，即确认本次事务的所有操作，数据库将存储本次事务处理的结果。</a:t>
            </a:r>
          </a:p>
          <a:p>
            <a:pPr algn="just">
              <a:spcBef>
                <a:spcPct val="20000"/>
              </a:spcBef>
              <a:spcAft>
                <a:spcPct val="0"/>
              </a:spcAft>
              <a:buSzTx/>
              <a:buFontTx/>
              <a:buNone/>
              <a:defRPr/>
            </a:pPr>
            <a:r>
              <a:rPr lang="en-US" altLang="zh-CN" dirty="0">
                <a:solidFill>
                  <a:srgbClr val="00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ROLLBACK</a:t>
            </a:r>
            <a:r>
              <a:rPr lang="zh-CN" altLang="en-US"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表示回滚事务，即取消本次事务的所有操作，使数据库回到本次事务前的状态。</a:t>
            </a: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1424" y="548680"/>
            <a:ext cx="10440035" cy="6120680"/>
          </a:xfrm>
        </p:spPr>
        <p:txBody>
          <a:bodyPr>
            <a:normAutofit fontScale="77500" lnSpcReduction="20000"/>
          </a:bodyPr>
          <a:lstStyle/>
          <a:p>
            <a:pPr marL="0" indent="0">
              <a:lnSpc>
                <a:spcPct val="170000"/>
              </a:lnSpc>
              <a:buNone/>
            </a:pPr>
            <a:r>
              <a:rPr lang="zh-CN" altLang="en-US" sz="2800" b="1" dirty="0"/>
              <a:t>2. 事务的ACID特性</a:t>
            </a:r>
            <a:endParaRPr lang="zh-CN" altLang="en-US" dirty="0"/>
          </a:p>
          <a:p>
            <a:pPr marL="0" indent="0">
              <a:lnSpc>
                <a:spcPct val="170000"/>
              </a:lnSpc>
              <a:buNone/>
            </a:pPr>
            <a:r>
              <a:rPr lang="zh-CN" altLang="en-US" b="1" dirty="0">
                <a:solidFill>
                  <a:srgbClr val="FF0000"/>
                </a:solidFill>
              </a:rPr>
              <a:t>（1）原子性（Atomicity）</a:t>
            </a:r>
            <a:endParaRPr lang="zh-CN" altLang="en-US" dirty="0"/>
          </a:p>
          <a:p>
            <a:pPr marL="0" indent="0">
              <a:lnSpc>
                <a:spcPct val="170000"/>
              </a:lnSpc>
              <a:buNone/>
            </a:pPr>
            <a:r>
              <a:rPr lang="zh-CN" altLang="en-US" dirty="0"/>
              <a:t>       事务是数据库的逻辑工作单位，事务中包括的各个操作在事务在执行时，应该遵守“要么不做，要么全做”的原则，即不允许事务部分的完成。即使因为故障而使事务未能完成，它执行的部分操作将要被取消。</a:t>
            </a:r>
          </a:p>
          <a:p>
            <a:pPr marL="0" indent="0">
              <a:lnSpc>
                <a:spcPct val="170000"/>
              </a:lnSpc>
              <a:buNone/>
            </a:pPr>
            <a:r>
              <a:rPr lang="zh-CN" altLang="en-US" b="1" dirty="0">
                <a:solidFill>
                  <a:srgbClr val="FF0000"/>
                </a:solidFill>
              </a:rPr>
              <a:t>（2）一致性（Consistency)</a:t>
            </a:r>
            <a:endParaRPr lang="zh-CN" altLang="en-US" dirty="0"/>
          </a:p>
          <a:p>
            <a:pPr marL="0" indent="0">
              <a:lnSpc>
                <a:spcPct val="170000"/>
              </a:lnSpc>
              <a:buNone/>
            </a:pPr>
            <a:r>
              <a:rPr lang="zh-CN" altLang="en-US" dirty="0"/>
              <a:t>       事务对数据库的操作必须使数据库从一个一致状态转变到另一个一致状态。所谓数据库的一致状态是指事务操作后数据库中的数据要满足各种完整性约束要求。</a:t>
            </a:r>
          </a:p>
        </p:txBody>
      </p:sp>
    </p:spTree>
    <p:custDataLst>
      <p:tags r:id="rId1"/>
    </p:custDataLst>
    <p:extLst>
      <p:ext uri="{BB962C8B-B14F-4D97-AF65-F5344CB8AC3E}">
        <p14:creationId xmlns:p14="http://schemas.microsoft.com/office/powerpoint/2010/main" val="978921883"/>
      </p:ext>
    </p:extLst>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3392" y="764704"/>
            <a:ext cx="10972800" cy="4054475"/>
          </a:xfrm>
        </p:spPr>
        <p:txBody>
          <a:bodyPr/>
          <a:lstStyle/>
          <a:p>
            <a:pPr marL="0" indent="0">
              <a:lnSpc>
                <a:spcPct val="150000"/>
              </a:lnSpc>
              <a:buNone/>
            </a:pPr>
            <a:r>
              <a:rPr lang="zh-CN" altLang="en-US" b="1" dirty="0">
                <a:solidFill>
                  <a:srgbClr val="FF0000"/>
                </a:solidFill>
              </a:rPr>
              <a:t>（3）隔离性（Isolation)</a:t>
            </a:r>
            <a:endParaRPr lang="zh-CN" altLang="en-US" dirty="0"/>
          </a:p>
          <a:p>
            <a:pPr marL="0" indent="0">
              <a:lnSpc>
                <a:spcPct val="150000"/>
              </a:lnSpc>
              <a:buNone/>
            </a:pPr>
            <a:r>
              <a:rPr lang="zh-CN" altLang="en-US" dirty="0"/>
              <a:t>       如果多个事务并发地执行，那么应像各个事务独立执行一样，一个事务的执行不能被其他事务干扰。</a:t>
            </a:r>
          </a:p>
          <a:p>
            <a:pPr marL="0" indent="0">
              <a:lnSpc>
                <a:spcPct val="150000"/>
              </a:lnSpc>
              <a:buNone/>
            </a:pPr>
            <a:r>
              <a:rPr lang="zh-CN" altLang="en-US" b="1" dirty="0">
                <a:solidFill>
                  <a:srgbClr val="FF0000"/>
                </a:solidFill>
              </a:rPr>
              <a:t>（4）持久性（Durability)</a:t>
            </a:r>
            <a:endParaRPr lang="zh-CN" altLang="en-US" dirty="0"/>
          </a:p>
          <a:p>
            <a:pPr marL="0" indent="0">
              <a:lnSpc>
                <a:spcPct val="150000"/>
              </a:lnSpc>
              <a:buNone/>
            </a:pPr>
            <a:r>
              <a:rPr lang="zh-CN" altLang="en-US" dirty="0"/>
              <a:t>       持久性是指一个事务一旦提交，它对数据库中数据的改变就应该是持久的，即使数据库因故障而受到破坏，DBMS也应该能够恢复。</a:t>
            </a:r>
          </a:p>
        </p:txBody>
      </p:sp>
    </p:spTree>
    <p:custDataLst>
      <p:tags r:id="rId1"/>
    </p:custDataLst>
    <p:extLst>
      <p:ext uri="{BB962C8B-B14F-4D97-AF65-F5344CB8AC3E}">
        <p14:creationId xmlns:p14="http://schemas.microsoft.com/office/powerpoint/2010/main" val="1729505085"/>
      </p:ext>
    </p:extLst>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3600" dirty="0">
                <a:latin typeface="Microsoft Yahei" panose="020B0503020204020204" pitchFamily="34" charset="-122"/>
                <a:ea typeface="Microsoft Yahei" panose="020B0503020204020204" pitchFamily="34" charset="-122"/>
                <a:sym typeface="Microsoft Yahei" panose="020B0503020204020204" pitchFamily="34" charset="-122"/>
              </a:rPr>
              <a:t>什么是事务？详细解释事务的 </a:t>
            </a:r>
            <a:r>
              <a:rPr lang="en-US" altLang="zh-CN" sz="3600" dirty="0">
                <a:latin typeface="Microsoft Yahei" panose="020B0503020204020204" pitchFamily="34" charset="-122"/>
                <a:ea typeface="Microsoft Yahei" panose="020B0503020204020204" pitchFamily="34" charset="-122"/>
                <a:sym typeface="Microsoft Yahei" panose="020B0503020204020204" pitchFamily="34" charset="-122"/>
              </a:rPr>
              <a:t>ACID </a:t>
            </a:r>
            <a:r>
              <a:rPr lang="zh-CN" altLang="en-US" sz="3600" dirty="0">
                <a:latin typeface="Microsoft Yahei" panose="020B0503020204020204" pitchFamily="34" charset="-122"/>
                <a:ea typeface="Microsoft Yahei" panose="020B0503020204020204" pitchFamily="34" charset="-122"/>
                <a:sym typeface="Microsoft Yahei" panose="020B0503020204020204" pitchFamily="34" charset="-122"/>
              </a:rPr>
              <a:t>特性？</a:t>
            </a:r>
          </a:p>
        </p:txBody>
      </p:sp>
      <p:sp>
        <p:nvSpPr>
          <p:cNvPr id="6" name="圆角矩形 5"/>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smtClean="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8" name="ColorBlock"/>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483964118"/>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2" name="Rectangle 10"/>
          <p:cNvSpPr>
            <a:spLocks noGrp="1" noChangeArrowheads="1"/>
          </p:cNvSpPr>
          <p:nvPr>
            <p:ph type="title"/>
          </p:nvPr>
        </p:nvSpPr>
        <p:spPr>
          <a:xfrm>
            <a:off x="1109589" y="63395"/>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并发事务</a:t>
            </a:r>
          </a:p>
        </p:txBody>
      </p:sp>
      <p:sp>
        <p:nvSpPr>
          <p:cNvPr id="1153027" name="Rectangle 3"/>
          <p:cNvSpPr>
            <a:spLocks noGrp="1" noChangeArrowheads="1"/>
          </p:cNvSpPr>
          <p:nvPr>
            <p:ph idx="1"/>
          </p:nvPr>
        </p:nvSpPr>
        <p:spPr>
          <a:xfrm>
            <a:off x="731404" y="959029"/>
            <a:ext cx="10729192" cy="2463800"/>
          </a:xfrm>
        </p:spPr>
        <p:txBody>
          <a:bodyPr/>
          <a:lstStyle/>
          <a:p>
            <a:pPr eaLnBrk="1" hangingPunct="1">
              <a:defRPr/>
            </a:pPr>
            <a:r>
              <a:rPr kumimoji="1" lang="zh-CN" altLang="zh-CN" dirty="0">
                <a:latin typeface="Arial" charset="0"/>
              </a:rPr>
              <a:t>DBMS的并发控制是以事务为单位进行的</a:t>
            </a:r>
            <a:r>
              <a:rPr kumimoji="1" lang="zh-CN" altLang="en-US" dirty="0">
                <a:latin typeface="Arial" charset="0"/>
              </a:rPr>
              <a:t>，旨在</a:t>
            </a:r>
            <a:r>
              <a:rPr kumimoji="1" lang="zh-CN" altLang="zh-CN" dirty="0">
                <a:latin typeface="Arial" charset="0"/>
              </a:rPr>
              <a:t>改善系统资源利用率</a:t>
            </a:r>
            <a:r>
              <a:rPr kumimoji="1" lang="zh-CN" altLang="en-US" dirty="0">
                <a:latin typeface="Arial" charset="0"/>
              </a:rPr>
              <a:t>，提高各事务的并行执行效率。</a:t>
            </a:r>
          </a:p>
          <a:p>
            <a:pPr eaLnBrk="1" hangingPunct="1">
              <a:defRPr/>
            </a:pPr>
            <a:r>
              <a:rPr kumimoji="1" lang="zh-CN" altLang="zh-CN" dirty="0">
                <a:latin typeface="Arial" charset="0"/>
              </a:rPr>
              <a:t>多个事务</a:t>
            </a:r>
            <a:r>
              <a:rPr kumimoji="1" lang="zh-CN" altLang="en-US" dirty="0">
                <a:latin typeface="Arial" charset="0"/>
              </a:rPr>
              <a:t>是按</a:t>
            </a:r>
            <a:r>
              <a:rPr kumimoji="1" lang="zh-CN" altLang="zh-CN" dirty="0">
                <a:latin typeface="Arial" charset="0"/>
              </a:rPr>
              <a:t>顺序执行</a:t>
            </a:r>
            <a:r>
              <a:rPr kumimoji="1" lang="zh-CN" altLang="en-US" dirty="0">
                <a:latin typeface="Arial" charset="0"/>
              </a:rPr>
              <a:t>的</a:t>
            </a:r>
            <a:r>
              <a:rPr kumimoji="1" lang="zh-CN" altLang="zh-CN" dirty="0">
                <a:latin typeface="Arial" charset="0"/>
              </a:rPr>
              <a:t>，即一个事务执行完全结束后，另一个事务才开始，称</a:t>
            </a:r>
            <a:r>
              <a:rPr kumimoji="1" lang="zh-CN" altLang="en-US" dirty="0">
                <a:latin typeface="Arial" charset="0"/>
              </a:rPr>
              <a:t>为</a:t>
            </a:r>
            <a:r>
              <a:rPr kumimoji="1" lang="zh-CN" altLang="zh-CN" dirty="0">
                <a:solidFill>
                  <a:srgbClr val="00FFFF"/>
                </a:solidFill>
                <a:latin typeface="Arial" charset="0"/>
              </a:rPr>
              <a:t>串行访问</a:t>
            </a:r>
            <a:r>
              <a:rPr kumimoji="1" lang="zh-CN" altLang="zh-CN" dirty="0">
                <a:latin typeface="Arial" charset="0"/>
              </a:rPr>
              <a:t>(Serial access)。</a:t>
            </a:r>
            <a:r>
              <a:rPr kumimoji="1" lang="zh-CN" altLang="en-US" dirty="0">
                <a:latin typeface="Arial" charset="0"/>
              </a:rPr>
              <a:t>如</a:t>
            </a:r>
            <a:r>
              <a:rPr kumimoji="1" lang="en-US" altLang="zh-CN" dirty="0">
                <a:latin typeface="Arial" charset="0"/>
              </a:rPr>
              <a:t>T2</a:t>
            </a:r>
            <a:r>
              <a:rPr kumimoji="1" lang="zh-CN" altLang="en-US" dirty="0">
                <a:latin typeface="Arial" charset="0"/>
              </a:rPr>
              <a:t>和</a:t>
            </a:r>
            <a:r>
              <a:rPr kumimoji="1" lang="en-US" altLang="zh-CN" dirty="0">
                <a:latin typeface="Arial" charset="0"/>
              </a:rPr>
              <a:t>T3</a:t>
            </a:r>
            <a:r>
              <a:rPr kumimoji="1" lang="zh-CN" altLang="en-US" dirty="0">
                <a:latin typeface="Arial" charset="0"/>
              </a:rPr>
              <a:t>。</a:t>
            </a:r>
            <a:endParaRPr kumimoji="1" lang="zh-CN" altLang="zh-CN" dirty="0">
              <a:latin typeface="Arial" charset="0"/>
            </a:endParaRPr>
          </a:p>
          <a:p>
            <a:pPr eaLnBrk="1" hangingPunct="1">
              <a:defRPr/>
            </a:pPr>
            <a:r>
              <a:rPr kumimoji="1" lang="zh-CN" altLang="zh-CN" dirty="0">
                <a:latin typeface="Arial" charset="0"/>
              </a:rPr>
              <a:t>如果多个事务可以在时间上重叠执行，称为</a:t>
            </a:r>
            <a:r>
              <a:rPr kumimoji="1" lang="zh-CN" altLang="zh-CN" dirty="0">
                <a:solidFill>
                  <a:srgbClr val="00FFFF"/>
                </a:solidFill>
                <a:latin typeface="Arial" charset="0"/>
              </a:rPr>
              <a:t>并发访问</a:t>
            </a:r>
            <a:r>
              <a:rPr kumimoji="1" lang="zh-CN" altLang="zh-CN" dirty="0">
                <a:latin typeface="Arial" charset="0"/>
              </a:rPr>
              <a:t>(Concurrent access)。</a:t>
            </a:r>
            <a:r>
              <a:rPr kumimoji="1" lang="zh-CN" altLang="en-US" dirty="0">
                <a:latin typeface="Arial" charset="0"/>
              </a:rPr>
              <a:t>如</a:t>
            </a:r>
            <a:r>
              <a:rPr kumimoji="1" lang="en-US" altLang="zh-CN" dirty="0">
                <a:latin typeface="Arial" charset="0"/>
              </a:rPr>
              <a:t>T1</a:t>
            </a:r>
            <a:r>
              <a:rPr kumimoji="1" lang="zh-CN" altLang="en-US" dirty="0">
                <a:latin typeface="Arial" charset="0"/>
              </a:rPr>
              <a:t>和</a:t>
            </a:r>
            <a:r>
              <a:rPr kumimoji="1" lang="en-US" altLang="zh-CN" dirty="0">
                <a:latin typeface="Arial" charset="0"/>
              </a:rPr>
              <a:t>T2</a:t>
            </a:r>
            <a:r>
              <a:rPr kumimoji="1" lang="zh-CN" altLang="en-US" dirty="0">
                <a:latin typeface="Arial" charset="0"/>
              </a:rPr>
              <a:t>，</a:t>
            </a:r>
            <a:r>
              <a:rPr kumimoji="1" lang="en-US" altLang="zh-CN" dirty="0">
                <a:latin typeface="Arial" charset="0"/>
              </a:rPr>
              <a:t>T1</a:t>
            </a:r>
            <a:r>
              <a:rPr kumimoji="1" lang="zh-CN" altLang="en-US" dirty="0">
                <a:latin typeface="Arial" charset="0"/>
              </a:rPr>
              <a:t>和</a:t>
            </a:r>
            <a:r>
              <a:rPr kumimoji="1" lang="en-US" altLang="zh-CN" dirty="0">
                <a:latin typeface="Arial" charset="0"/>
              </a:rPr>
              <a:t>T3</a:t>
            </a:r>
            <a:r>
              <a:rPr kumimoji="1" lang="zh-CN" altLang="en-US" dirty="0">
                <a:latin typeface="Arial" charset="0"/>
              </a:rPr>
              <a:t>。</a:t>
            </a:r>
            <a:endParaRPr kumimoji="1" lang="zh-CN" altLang="zh-CN" dirty="0">
              <a:latin typeface="Arial" charset="0"/>
            </a:endParaRPr>
          </a:p>
        </p:txBody>
      </p:sp>
      <p:sp>
        <p:nvSpPr>
          <p:cNvPr id="1153028" name="Freeform 4"/>
          <p:cNvSpPr>
            <a:spLocks/>
          </p:cNvSpPr>
          <p:nvPr/>
        </p:nvSpPr>
        <p:spPr bwMode="auto">
          <a:xfrm>
            <a:off x="2208214" y="5142334"/>
            <a:ext cx="7570787" cy="323850"/>
          </a:xfrm>
          <a:custGeom>
            <a:avLst/>
            <a:gdLst/>
            <a:ahLst/>
            <a:cxnLst>
              <a:cxn ang="0">
                <a:pos x="0" y="204"/>
              </a:cxn>
              <a:cxn ang="0">
                <a:pos x="472" y="204"/>
              </a:cxn>
              <a:cxn ang="0">
                <a:pos x="472" y="0"/>
              </a:cxn>
              <a:cxn ang="0">
                <a:pos x="3409" y="2"/>
              </a:cxn>
              <a:cxn ang="0">
                <a:pos x="3409" y="194"/>
              </a:cxn>
              <a:cxn ang="0">
                <a:pos x="4769" y="194"/>
              </a:cxn>
            </a:cxnLst>
            <a:rect l="0" t="0" r="r" b="b"/>
            <a:pathLst>
              <a:path w="4769" h="204">
                <a:moveTo>
                  <a:pt x="0" y="204"/>
                </a:moveTo>
                <a:lnTo>
                  <a:pt x="472" y="204"/>
                </a:lnTo>
                <a:lnTo>
                  <a:pt x="472" y="0"/>
                </a:lnTo>
                <a:lnTo>
                  <a:pt x="3409" y="2"/>
                </a:lnTo>
                <a:lnTo>
                  <a:pt x="3409" y="194"/>
                </a:lnTo>
                <a:lnTo>
                  <a:pt x="4769" y="194"/>
                </a:lnTo>
              </a:path>
            </a:pathLst>
          </a:custGeom>
          <a:noFill/>
          <a:ln w="28575" cap="sq" cmpd="sng">
            <a:solidFill>
              <a:schemeClr val="tx1"/>
            </a:solidFill>
            <a:prstDash val="solid"/>
            <a:round/>
            <a:headEnd type="none" w="med" len="med"/>
            <a:tailEnd type="none" w="med" len="med"/>
          </a:ln>
          <a:effectLst/>
        </p:spPr>
        <p:txBody>
          <a:bodyPr lIns="0" tIns="0" rIns="0" bIns="0"/>
          <a:lstStyle/>
          <a:p>
            <a:pPr>
              <a:defRPr/>
            </a:pPr>
            <a:endParaRPr lang="zh-CN" altLang="en-US"/>
          </a:p>
        </p:txBody>
      </p:sp>
      <p:sp>
        <p:nvSpPr>
          <p:cNvPr id="1153029" name="Freeform 5"/>
          <p:cNvSpPr>
            <a:spLocks/>
          </p:cNvSpPr>
          <p:nvPr/>
        </p:nvSpPr>
        <p:spPr bwMode="auto">
          <a:xfrm>
            <a:off x="2208214" y="5615409"/>
            <a:ext cx="7570787" cy="330200"/>
          </a:xfrm>
          <a:custGeom>
            <a:avLst/>
            <a:gdLst/>
            <a:ahLst/>
            <a:cxnLst>
              <a:cxn ang="0">
                <a:pos x="0" y="207"/>
              </a:cxn>
              <a:cxn ang="0">
                <a:pos x="705" y="208"/>
              </a:cxn>
              <a:cxn ang="0">
                <a:pos x="705" y="0"/>
              </a:cxn>
              <a:cxn ang="0">
                <a:pos x="1153" y="0"/>
              </a:cxn>
              <a:cxn ang="0">
                <a:pos x="1153" y="200"/>
              </a:cxn>
              <a:cxn ang="0">
                <a:pos x="4769" y="197"/>
              </a:cxn>
            </a:cxnLst>
            <a:rect l="0" t="0" r="r" b="b"/>
            <a:pathLst>
              <a:path w="4769" h="208">
                <a:moveTo>
                  <a:pt x="0" y="207"/>
                </a:moveTo>
                <a:lnTo>
                  <a:pt x="705" y="208"/>
                </a:lnTo>
                <a:lnTo>
                  <a:pt x="705" y="0"/>
                </a:lnTo>
                <a:lnTo>
                  <a:pt x="1153" y="0"/>
                </a:lnTo>
                <a:lnTo>
                  <a:pt x="1153" y="200"/>
                </a:lnTo>
                <a:lnTo>
                  <a:pt x="4769" y="197"/>
                </a:lnTo>
              </a:path>
            </a:pathLst>
          </a:custGeom>
          <a:noFill/>
          <a:ln w="28575" cap="sq" cmpd="sng">
            <a:solidFill>
              <a:srgbClr val="66FF99"/>
            </a:solidFill>
            <a:prstDash val="solid"/>
            <a:round/>
            <a:headEnd type="none" w="med" len="med"/>
            <a:tailEnd type="none" w="med" len="med"/>
          </a:ln>
          <a:effectLst/>
        </p:spPr>
        <p:txBody>
          <a:bodyPr lIns="0" tIns="0" rIns="0" bIns="0"/>
          <a:lstStyle/>
          <a:p>
            <a:pPr>
              <a:defRPr/>
            </a:pPr>
            <a:endParaRPr lang="zh-CN" altLang="en-US"/>
          </a:p>
        </p:txBody>
      </p:sp>
      <p:sp>
        <p:nvSpPr>
          <p:cNvPr id="1153030" name="Freeform 6"/>
          <p:cNvSpPr>
            <a:spLocks/>
          </p:cNvSpPr>
          <p:nvPr/>
        </p:nvSpPr>
        <p:spPr bwMode="auto">
          <a:xfrm>
            <a:off x="2208214" y="6148809"/>
            <a:ext cx="7570787" cy="330200"/>
          </a:xfrm>
          <a:custGeom>
            <a:avLst/>
            <a:gdLst/>
            <a:ahLst/>
            <a:cxnLst>
              <a:cxn ang="0">
                <a:pos x="0" y="205"/>
              </a:cxn>
              <a:cxn ang="0">
                <a:pos x="1449" y="208"/>
              </a:cxn>
              <a:cxn ang="0">
                <a:pos x="1449" y="0"/>
              </a:cxn>
              <a:cxn ang="0">
                <a:pos x="2553" y="0"/>
              </a:cxn>
              <a:cxn ang="0">
                <a:pos x="2553" y="192"/>
              </a:cxn>
              <a:cxn ang="0">
                <a:pos x="4769" y="195"/>
              </a:cxn>
            </a:cxnLst>
            <a:rect l="0" t="0" r="r" b="b"/>
            <a:pathLst>
              <a:path w="4769" h="208">
                <a:moveTo>
                  <a:pt x="0" y="205"/>
                </a:moveTo>
                <a:lnTo>
                  <a:pt x="1449" y="208"/>
                </a:lnTo>
                <a:lnTo>
                  <a:pt x="1449" y="0"/>
                </a:lnTo>
                <a:lnTo>
                  <a:pt x="2553" y="0"/>
                </a:lnTo>
                <a:lnTo>
                  <a:pt x="2553" y="192"/>
                </a:lnTo>
                <a:lnTo>
                  <a:pt x="4769" y="195"/>
                </a:lnTo>
              </a:path>
            </a:pathLst>
          </a:custGeom>
          <a:noFill/>
          <a:ln w="28575" cap="sq" cmpd="sng">
            <a:solidFill>
              <a:srgbClr val="FFFF00"/>
            </a:solidFill>
            <a:prstDash val="solid"/>
            <a:round/>
            <a:headEnd type="none" w="med" len="med"/>
            <a:tailEnd type="none" w="med" len="med"/>
          </a:ln>
          <a:effectLst/>
        </p:spPr>
        <p:txBody>
          <a:bodyPr lIns="0" tIns="0" rIns="0" bIns="0"/>
          <a:lstStyle/>
          <a:p>
            <a:pPr>
              <a:defRPr/>
            </a:pPr>
            <a:endParaRPr lang="zh-CN" altLang="en-US"/>
          </a:p>
        </p:txBody>
      </p:sp>
      <p:sp>
        <p:nvSpPr>
          <p:cNvPr id="1153031" name="Rectangle 7"/>
          <p:cNvSpPr>
            <a:spLocks noChangeArrowheads="1"/>
          </p:cNvSpPr>
          <p:nvPr/>
        </p:nvSpPr>
        <p:spPr bwMode="auto">
          <a:xfrm>
            <a:off x="2208214" y="5085184"/>
            <a:ext cx="359073" cy="369332"/>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2400">
                <a:effectLst>
                  <a:outerShdw blurRad="38100" dist="38100" dir="2700000" algn="tl">
                    <a:srgbClr val="000000"/>
                  </a:outerShdw>
                </a:effectLst>
                <a:latin typeface="Arial" charset="0"/>
              </a:rPr>
              <a:t>T1</a:t>
            </a:r>
            <a:endParaRPr lang="zh-CN" altLang="en-US" sz="2400">
              <a:effectLst>
                <a:outerShdw blurRad="38100" dist="38100" dir="2700000" algn="tl">
                  <a:srgbClr val="000000"/>
                </a:outerShdw>
              </a:effectLst>
              <a:latin typeface="Arial" charset="0"/>
            </a:endParaRPr>
          </a:p>
        </p:txBody>
      </p:sp>
      <p:sp>
        <p:nvSpPr>
          <p:cNvPr id="1153032" name="Rectangle 8"/>
          <p:cNvSpPr>
            <a:spLocks noChangeArrowheads="1"/>
          </p:cNvSpPr>
          <p:nvPr/>
        </p:nvSpPr>
        <p:spPr bwMode="auto">
          <a:xfrm>
            <a:off x="2208214" y="5610646"/>
            <a:ext cx="359073" cy="369332"/>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2400">
                <a:solidFill>
                  <a:srgbClr val="66FF99"/>
                </a:solidFill>
                <a:effectLst>
                  <a:outerShdw blurRad="38100" dist="38100" dir="2700000" algn="tl">
                    <a:srgbClr val="000000"/>
                  </a:outerShdw>
                </a:effectLst>
                <a:latin typeface="Arial" charset="0"/>
              </a:rPr>
              <a:t>T2</a:t>
            </a:r>
            <a:endParaRPr lang="zh-CN" altLang="en-US" sz="2400">
              <a:solidFill>
                <a:srgbClr val="66FF99"/>
              </a:solidFill>
              <a:effectLst>
                <a:outerShdw blurRad="38100" dist="38100" dir="2700000" algn="tl">
                  <a:srgbClr val="000000"/>
                </a:outerShdw>
              </a:effectLst>
              <a:latin typeface="Arial" charset="0"/>
            </a:endParaRPr>
          </a:p>
        </p:txBody>
      </p:sp>
      <p:sp>
        <p:nvSpPr>
          <p:cNvPr id="1153033" name="Rectangle 9"/>
          <p:cNvSpPr>
            <a:spLocks noChangeArrowheads="1"/>
          </p:cNvSpPr>
          <p:nvPr/>
        </p:nvSpPr>
        <p:spPr bwMode="auto">
          <a:xfrm>
            <a:off x="2208214" y="6115471"/>
            <a:ext cx="359073" cy="369332"/>
          </a:xfrm>
          <a:prstGeom prst="rect">
            <a:avLst/>
          </a:prstGeom>
          <a:noFill/>
          <a:ln w="12700" cap="sq" algn="ctr">
            <a:noFill/>
            <a:miter lim="800000"/>
            <a:headEnd/>
            <a:tailEnd/>
          </a:ln>
          <a:effectLst/>
        </p:spPr>
        <p:txBody>
          <a:bodyPr wrap="none" lIns="0" tIns="0" rIns="0" bIns="0">
            <a:spAutoFit/>
          </a:bodyPr>
          <a:lstStyle/>
          <a:p>
            <a:pPr>
              <a:buSzTx/>
              <a:buFontTx/>
              <a:buNone/>
              <a:defRPr/>
            </a:pPr>
            <a:r>
              <a:rPr lang="en-US" altLang="zh-CN" sz="2400">
                <a:solidFill>
                  <a:srgbClr val="FFFF00"/>
                </a:solidFill>
                <a:effectLst>
                  <a:outerShdw blurRad="38100" dist="38100" dir="2700000" algn="tl">
                    <a:srgbClr val="000000"/>
                  </a:outerShdw>
                </a:effectLst>
                <a:latin typeface="Arial" charset="0"/>
              </a:rPr>
              <a:t>T3</a:t>
            </a:r>
            <a:endParaRPr lang="zh-CN" altLang="en-US" sz="2400">
              <a:solidFill>
                <a:srgbClr val="FFFF00"/>
              </a:solidFill>
              <a:effectLst>
                <a:outerShdw blurRad="38100" dist="38100" dir="2700000" algn="tl">
                  <a:srgbClr val="000000"/>
                </a:outerShdw>
              </a:effectLst>
              <a:latin typeface="Arial" charset="0"/>
            </a:endParaRP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548680"/>
            <a:ext cx="10440035" cy="5760640"/>
          </a:xfrm>
        </p:spPr>
        <p:txBody>
          <a:bodyPr>
            <a:normAutofit fontScale="85000" lnSpcReduction="10000"/>
          </a:bodyPr>
          <a:lstStyle/>
          <a:p>
            <a:pPr marL="0" indent="0">
              <a:lnSpc>
                <a:spcPct val="160000"/>
              </a:lnSpc>
              <a:buNone/>
            </a:pPr>
            <a:r>
              <a:rPr lang="zh-CN" altLang="en-US" sz="3200" b="1" dirty="0"/>
              <a:t>7.3.3 并发操作与数据的不一致性</a:t>
            </a:r>
            <a:endParaRPr lang="zh-CN" altLang="en-US" dirty="0"/>
          </a:p>
          <a:p>
            <a:pPr marL="0" indent="0">
              <a:lnSpc>
                <a:spcPct val="160000"/>
              </a:lnSpc>
              <a:buNone/>
            </a:pPr>
            <a:r>
              <a:rPr lang="zh-CN" altLang="en-US" b="1" dirty="0"/>
              <a:t>例7.10</a:t>
            </a:r>
            <a:r>
              <a:rPr lang="zh-CN" altLang="en-US" dirty="0"/>
              <a:t> 学生选课操作。学生选课的过程如下：查询该课程的剩余名额；若余额大于0，则执行选课操作（将选课余额减1，并增加一条选课记录）。 若某门课门课剩余名额W=15，这是恰好有甲、乙两名同学要选择课程，如果正常操作，应该是一名同学操作完毕，另一名同学再执行选课操作，两名同学选完课后，剩余名额W=13。</a:t>
            </a:r>
          </a:p>
          <a:p>
            <a:pPr marL="0" indent="0">
              <a:lnSpc>
                <a:spcPct val="160000"/>
              </a:lnSpc>
              <a:buNone/>
            </a:pPr>
            <a:r>
              <a:rPr lang="zh-CN" altLang="en-US" dirty="0"/>
              <a:t>如果对并发操纵不进行合理的调度，就有可能导致数据库中数据的不一致性。如下所示：</a:t>
            </a:r>
          </a:p>
          <a:p>
            <a:pPr marL="0" indent="0">
              <a:lnSpc>
                <a:spcPct val="160000"/>
              </a:lnSpc>
              <a:buNone/>
            </a:pPr>
            <a:endParaRPr lang="zh-CN" altLang="en-US" dirty="0"/>
          </a:p>
        </p:txBody>
      </p:sp>
    </p:spTree>
    <p:custDataLst>
      <p:tags r:id="rId1"/>
    </p:custDataLst>
    <p:extLst>
      <p:ext uri="{BB962C8B-B14F-4D97-AF65-F5344CB8AC3E}">
        <p14:creationId xmlns:p14="http://schemas.microsoft.com/office/powerpoint/2010/main" val="2807424694"/>
      </p:ext>
    </p:extLst>
  </p:cSld>
  <p:clrMapOvr>
    <a:masterClrMapping/>
  </p:clrMapOvr>
  <p:transition>
    <p:rand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1384" y="548680"/>
            <a:ext cx="10972800" cy="4054475"/>
          </a:xfrm>
        </p:spPr>
        <p:txBody>
          <a:bodyPr/>
          <a:lstStyle/>
          <a:p>
            <a:pPr marL="0" indent="0">
              <a:lnSpc>
                <a:spcPct val="150000"/>
              </a:lnSpc>
              <a:buNone/>
            </a:pPr>
            <a:r>
              <a:rPr lang="zh-CN" altLang="en-US" sz="2800" b="1" dirty="0"/>
              <a:t>1.丢失更新（Lost Update）</a:t>
            </a:r>
            <a:endParaRPr lang="zh-CN" altLang="en-US" dirty="0"/>
          </a:p>
          <a:p>
            <a:pPr marL="0" indent="0">
              <a:lnSpc>
                <a:spcPct val="150000"/>
              </a:lnSpc>
              <a:buNone/>
            </a:pPr>
            <a:r>
              <a:rPr lang="zh-CN" altLang="en-US" dirty="0"/>
              <a:t>       事务T1和T2从数据库读入了同一数据库并各自进行修改，在两个事务都完成了读入数据的操作以后，T1先完成修改操作，并将更新的数据协会数据库，随后T2也完成了修改，并将结果协会数据库，这样就覆盖了T1 的操作结果，导致T1对该数据的修改好像从未发生过。这种情形就成为“丢失修改”。</a:t>
            </a:r>
          </a:p>
        </p:txBody>
      </p:sp>
      <p:pic>
        <p:nvPicPr>
          <p:cNvPr id="4" name="图片 3"/>
          <p:cNvPicPr>
            <a:picLocks noChangeAspect="1"/>
          </p:cNvPicPr>
          <p:nvPr/>
        </p:nvPicPr>
        <p:blipFill>
          <a:blip r:embed="rId3"/>
          <a:stretch>
            <a:fillRect/>
          </a:stretch>
        </p:blipFill>
        <p:spPr>
          <a:xfrm>
            <a:off x="4455622" y="2161021"/>
            <a:ext cx="7525212" cy="4090035"/>
          </a:xfrm>
          <a:prstGeom prst="rect">
            <a:avLst/>
          </a:prstGeom>
        </p:spPr>
      </p:pic>
    </p:spTree>
    <p:custDataLst>
      <p:tags r:id="rId1"/>
    </p:custDataLst>
    <p:extLst>
      <p:ext uri="{BB962C8B-B14F-4D97-AF65-F5344CB8AC3E}">
        <p14:creationId xmlns:p14="http://schemas.microsoft.com/office/powerpoint/2010/main" val="230794921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620688"/>
            <a:ext cx="10972800" cy="4054475"/>
          </a:xfrm>
        </p:spPr>
        <p:txBody>
          <a:bodyPr/>
          <a:lstStyle/>
          <a:p>
            <a:pPr marL="0" indent="0">
              <a:lnSpc>
                <a:spcPct val="150000"/>
              </a:lnSpc>
              <a:buNone/>
            </a:pPr>
            <a:r>
              <a:rPr lang="zh-CN" altLang="en-US" sz="2800" b="1"/>
              <a:t>2. 污读（Dirty Read）</a:t>
            </a:r>
            <a:endParaRPr lang="zh-CN" altLang="en-US"/>
          </a:p>
          <a:p>
            <a:pPr marL="0" indent="0">
              <a:lnSpc>
                <a:spcPct val="150000"/>
              </a:lnSpc>
              <a:buNone/>
            </a:pPr>
            <a:r>
              <a:rPr lang="zh-CN" altLang="en-US"/>
              <a:t>       事务T1更新了数据R，事务T2读取了更新后的数据R，事务T1由于某种原因被撤销，修改无效，数据R恢复原值，事务T2得到的级据与数指库的内容不一致，这种情况视称为“污读”或“脏读”。</a:t>
            </a:r>
          </a:p>
        </p:txBody>
      </p:sp>
      <p:pic>
        <p:nvPicPr>
          <p:cNvPr id="4" name="图片 3"/>
          <p:cNvPicPr>
            <a:picLocks noChangeAspect="1"/>
          </p:cNvPicPr>
          <p:nvPr/>
        </p:nvPicPr>
        <p:blipFill>
          <a:blip r:embed="rId3"/>
          <a:stretch>
            <a:fillRect/>
          </a:stretch>
        </p:blipFill>
        <p:spPr>
          <a:xfrm>
            <a:off x="4676140" y="2538095"/>
            <a:ext cx="6767830" cy="4017010"/>
          </a:xfrm>
          <a:prstGeom prst="rect">
            <a:avLst/>
          </a:prstGeom>
        </p:spPr>
      </p:pic>
    </p:spTree>
    <p:custDataLst>
      <p:tags r:id="rId1"/>
    </p:custDataLst>
    <p:extLst>
      <p:ext uri="{BB962C8B-B14F-4D97-AF65-F5344CB8AC3E}">
        <p14:creationId xmlns:p14="http://schemas.microsoft.com/office/powerpoint/2010/main" val="132581566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57860" y="836712"/>
            <a:ext cx="10972800" cy="4054475"/>
          </a:xfrm>
        </p:spPr>
        <p:txBody>
          <a:bodyPr/>
          <a:lstStyle/>
          <a:p>
            <a:pPr marL="0" indent="0">
              <a:lnSpc>
                <a:spcPct val="150000"/>
              </a:lnSpc>
              <a:buNone/>
            </a:pPr>
            <a:r>
              <a:rPr lang="zh-CN" altLang="en-US" sz="2800" b="1" dirty="0"/>
              <a:t>3. 不可重复读（Unrepeatable Read）</a:t>
            </a:r>
          </a:p>
          <a:p>
            <a:pPr marL="0" indent="0">
              <a:lnSpc>
                <a:spcPct val="150000"/>
              </a:lnSpc>
              <a:buNone/>
            </a:pPr>
            <a:r>
              <a:rPr lang="zh-CN" altLang="en-US" dirty="0"/>
              <a:t>       事务T1按一定条件从数据库读入某些数据，随后事务T2对其进行更新并将更新结果写回数据库，当T1再次按同一条件读入数据时，结果发现已经跟刚才不一样了。可能有的数据的值改变了，也可能有的数据已经删除，还可能增加了某些数据。这种情形就是“不可重复读”。</a:t>
            </a:r>
          </a:p>
        </p:txBody>
      </p:sp>
      <p:pic>
        <p:nvPicPr>
          <p:cNvPr id="4" name="图片 3"/>
          <p:cNvPicPr>
            <a:picLocks noChangeAspect="1"/>
          </p:cNvPicPr>
          <p:nvPr/>
        </p:nvPicPr>
        <p:blipFill>
          <a:blip r:embed="rId3"/>
          <a:stretch>
            <a:fillRect/>
          </a:stretch>
        </p:blipFill>
        <p:spPr>
          <a:xfrm>
            <a:off x="3904615" y="2533015"/>
            <a:ext cx="7726045" cy="4009390"/>
          </a:xfrm>
          <a:prstGeom prst="rect">
            <a:avLst/>
          </a:prstGeom>
        </p:spPr>
      </p:pic>
    </p:spTree>
    <p:custDataLst>
      <p:tags r:id="rId1"/>
    </p:custDataLst>
    <p:extLst>
      <p:ext uri="{BB962C8B-B14F-4D97-AF65-F5344CB8AC3E}">
        <p14:creationId xmlns:p14="http://schemas.microsoft.com/office/powerpoint/2010/main" val="343321730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title"/>
          </p:nvPr>
        </p:nvSpPr>
        <p:spPr>
          <a:xfrm>
            <a:off x="1055440" y="116632"/>
            <a:ext cx="6797868"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并发控制</a:t>
            </a:r>
            <a:r>
              <a:rPr kumimoji="1" lang="zh-CN" altLang="en-US" sz="3200" b="1" kern="1200" dirty="0">
                <a:solidFill>
                  <a:srgbClr val="FFFFCC"/>
                </a:solidFill>
                <a:effectLst>
                  <a:outerShdw blurRad="38100" dist="38100" dir="2700000" algn="tl">
                    <a:srgbClr val="000000"/>
                  </a:outerShdw>
                </a:effectLst>
                <a:latin typeface="Arial" pitchFamily="34" charset="0"/>
              </a:rPr>
              <a:t>（</a:t>
            </a:r>
            <a:r>
              <a:rPr kumimoji="1" lang="en-US" altLang="zh-CN" sz="3200" b="1" kern="1200" dirty="0">
                <a:solidFill>
                  <a:srgbClr val="FFFFCC"/>
                </a:solidFill>
                <a:effectLst>
                  <a:outerShdw blurRad="38100" dist="38100" dir="2700000" algn="tl">
                    <a:srgbClr val="000000"/>
                  </a:outerShdw>
                </a:effectLst>
                <a:latin typeface="Arial" pitchFamily="34" charset="0"/>
              </a:rPr>
              <a:t>Concurrent Control</a:t>
            </a:r>
            <a:r>
              <a:rPr kumimoji="1" lang="zh-CN" altLang="en-US" sz="3200" b="1" kern="1200" dirty="0">
                <a:solidFill>
                  <a:srgbClr val="FFFFCC"/>
                </a:solidFill>
                <a:effectLst>
                  <a:outerShdw blurRad="38100" dist="38100" dir="2700000" algn="tl">
                    <a:srgbClr val="000000"/>
                  </a:outerShdw>
                </a:effectLst>
                <a:latin typeface="Arial" pitchFamily="34" charset="0"/>
              </a:rPr>
              <a:t>）</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57124" name="Rectangle 4"/>
          <p:cNvSpPr>
            <a:spLocks noGrp="1" noChangeArrowheads="1"/>
          </p:cNvSpPr>
          <p:nvPr>
            <p:ph idx="1"/>
          </p:nvPr>
        </p:nvSpPr>
        <p:spPr>
          <a:xfrm>
            <a:off x="767408" y="1124744"/>
            <a:ext cx="10729192" cy="2463800"/>
          </a:xfrm>
        </p:spPr>
        <p:txBody>
          <a:bodyPr/>
          <a:lstStyle/>
          <a:p>
            <a:pPr eaLnBrk="1" hangingPunct="1">
              <a:spcAft>
                <a:spcPts val="2200"/>
              </a:spcAft>
              <a:defRPr/>
            </a:pPr>
            <a:r>
              <a:rPr kumimoji="1" lang="zh-CN" altLang="en-US" dirty="0">
                <a:latin typeface="楷体_GB2312" pitchFamily="49" charset="-122"/>
              </a:rPr>
              <a:t>丢失修改、不可重复读和读</a:t>
            </a:r>
            <a:r>
              <a:rPr kumimoji="1" lang="en-US" altLang="zh-CN" dirty="0">
                <a:latin typeface="楷体_GB2312" pitchFamily="49" charset="-122"/>
              </a:rPr>
              <a:t>"</a:t>
            </a:r>
            <a:r>
              <a:rPr kumimoji="1" lang="zh-CN" altLang="en-US" dirty="0">
                <a:latin typeface="楷体_GB2312" pitchFamily="49" charset="-122"/>
              </a:rPr>
              <a:t>脏</a:t>
            </a:r>
            <a:r>
              <a:rPr kumimoji="1" lang="en-US" altLang="zh-CN" dirty="0">
                <a:latin typeface="楷体_GB2312" pitchFamily="49" charset="-122"/>
              </a:rPr>
              <a:t>"</a:t>
            </a:r>
            <a:r>
              <a:rPr kumimoji="1" lang="zh-CN" altLang="en-US" dirty="0">
                <a:latin typeface="楷体_GB2312" pitchFamily="49" charset="-122"/>
              </a:rPr>
              <a:t>数据都是在事务的并发执行中可能产生的数据不一致</a:t>
            </a:r>
            <a:r>
              <a:rPr kumimoji="1" lang="zh-CN" altLang="zh-CN" dirty="0">
                <a:latin typeface="楷体_GB2312" pitchFamily="49" charset="-122"/>
              </a:rPr>
              <a:t>。</a:t>
            </a:r>
            <a:endParaRPr kumimoji="1" lang="zh-CN" altLang="en-US" dirty="0">
              <a:latin typeface="楷体_GB2312" pitchFamily="49" charset="-122"/>
            </a:endParaRPr>
          </a:p>
          <a:p>
            <a:pPr eaLnBrk="1" hangingPunct="1">
              <a:spcAft>
                <a:spcPts val="2200"/>
              </a:spcAft>
              <a:defRPr/>
            </a:pPr>
            <a:r>
              <a:rPr kumimoji="1" lang="zh-CN" altLang="zh-CN" dirty="0">
                <a:latin typeface="楷体_GB2312" pitchFamily="49" charset="-122"/>
              </a:rPr>
              <a:t>引起数据不一致的主要原因是多个事务间的相互干扰，即单个事务的隔离性被破坏。</a:t>
            </a:r>
          </a:p>
          <a:p>
            <a:pPr eaLnBrk="1" hangingPunct="1">
              <a:spcAft>
                <a:spcPts val="2200"/>
              </a:spcAft>
              <a:defRPr/>
            </a:pPr>
            <a:r>
              <a:rPr kumimoji="1" lang="zh-CN" altLang="zh-CN" dirty="0">
                <a:latin typeface="楷体_GB2312" pitchFamily="49" charset="-122"/>
              </a:rPr>
              <a:t>DBMS</a:t>
            </a:r>
            <a:r>
              <a:rPr kumimoji="1" lang="zh-CN" altLang="en-US" dirty="0">
                <a:latin typeface="楷体_GB2312" pitchFamily="49" charset="-122"/>
              </a:rPr>
              <a:t>必须</a:t>
            </a:r>
            <a:r>
              <a:rPr kumimoji="1" lang="zh-CN" altLang="zh-CN" dirty="0">
                <a:latin typeface="楷体_GB2312" pitchFamily="49" charset="-122"/>
              </a:rPr>
              <a:t>合理地调度各事务中的操作的顺序，避免并发事务之间的相互干扰造成数据的不一致性，保证数据库的完整性</a:t>
            </a:r>
            <a:r>
              <a:rPr kumimoji="1" lang="zh-CN" altLang="en-US" dirty="0">
                <a:latin typeface="楷体_GB2312" pitchFamily="49" charset="-122"/>
              </a:rPr>
              <a:t>，这就是所谓的</a:t>
            </a:r>
            <a:r>
              <a:rPr kumimoji="1" lang="zh-CN" altLang="zh-CN" dirty="0">
                <a:latin typeface="楷体_GB2312" pitchFamily="49" charset="-122"/>
              </a:rPr>
              <a:t>并发控制</a:t>
            </a:r>
            <a:r>
              <a:rPr kumimoji="1" lang="zh-CN" altLang="en-US" dirty="0">
                <a:latin typeface="楷体_GB2312" pitchFamily="49" charset="-122"/>
              </a:rPr>
              <a:t>。</a:t>
            </a:r>
          </a:p>
          <a:p>
            <a:pPr eaLnBrk="1" hangingPunct="1">
              <a:spcAft>
                <a:spcPts val="2200"/>
              </a:spcAft>
              <a:defRPr/>
            </a:pPr>
            <a:r>
              <a:rPr kumimoji="1" lang="zh-CN" altLang="en-US" dirty="0">
                <a:latin typeface="楷体_GB2312" pitchFamily="49" charset="-122"/>
              </a:rPr>
              <a:t>实现并发控制的方法有</a:t>
            </a:r>
            <a:r>
              <a:rPr kumimoji="1" lang="zh-CN" altLang="en-US" b="1" dirty="0">
                <a:solidFill>
                  <a:srgbClr val="FFFF00"/>
                </a:solidFill>
                <a:latin typeface="楷体_GB2312" pitchFamily="49" charset="-122"/>
              </a:rPr>
              <a:t>封锁技术</a:t>
            </a:r>
            <a:r>
              <a:rPr kumimoji="1" lang="zh-CN" altLang="en-US" dirty="0">
                <a:latin typeface="楷体_GB2312" pitchFamily="49" charset="-122"/>
              </a:rPr>
              <a:t>、时标技术以及版本更新技术等，其中封锁技术应用最广泛。</a:t>
            </a:r>
            <a:endParaRPr kumimoji="1" lang="zh-CN" altLang="zh-CN" dirty="0">
              <a:latin typeface="楷体_GB2312" pitchFamily="49" charset="-122"/>
            </a:endParaRP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title"/>
          </p:nvPr>
        </p:nvSpPr>
        <p:spPr>
          <a:xfrm>
            <a:off x="1055440" y="116632"/>
            <a:ext cx="34780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封锁</a:t>
            </a:r>
            <a:r>
              <a:rPr kumimoji="1" lang="en-US" altLang="zh-CN" sz="4000" b="1" kern="1200" dirty="0">
                <a:solidFill>
                  <a:srgbClr val="FFFFCC"/>
                </a:solidFill>
                <a:effectLst>
                  <a:outerShdw blurRad="38100" dist="38100" dir="2700000" algn="tl">
                    <a:srgbClr val="000000"/>
                  </a:outerShdw>
                </a:effectLst>
                <a:latin typeface="Arial" pitchFamily="34" charset="0"/>
              </a:rPr>
              <a:t>(Locking)</a:t>
            </a:r>
          </a:p>
        </p:txBody>
      </p:sp>
      <p:sp>
        <p:nvSpPr>
          <p:cNvPr id="1158148" name="Rectangle 4"/>
          <p:cNvSpPr>
            <a:spLocks noGrp="1" noChangeArrowheads="1"/>
          </p:cNvSpPr>
          <p:nvPr>
            <p:ph idx="1"/>
          </p:nvPr>
        </p:nvSpPr>
        <p:spPr>
          <a:xfrm>
            <a:off x="695400" y="1036637"/>
            <a:ext cx="10657184" cy="2463800"/>
          </a:xfrm>
        </p:spPr>
        <p:txBody>
          <a:bodyPr/>
          <a:lstStyle/>
          <a:p>
            <a:pPr algn="just" eaLnBrk="1" hangingPunct="1">
              <a:spcAft>
                <a:spcPct val="70000"/>
              </a:spcAft>
              <a:defRPr/>
            </a:pPr>
            <a:r>
              <a:rPr kumimoji="1" lang="zh-CN" altLang="en-US" dirty="0">
                <a:latin typeface="Arial" charset="0"/>
              </a:rPr>
              <a:t>封锁是指</a:t>
            </a:r>
            <a:r>
              <a:rPr kumimoji="1" lang="zh-CN" altLang="zh-CN" dirty="0">
                <a:latin typeface="Arial" charset="0"/>
              </a:rPr>
              <a:t>当事务T在对某个数据对象（属性、记录、关系）进行操作之前，须先对该对象加锁，使其它事务不能更新甚至不能读取该对象，直到T释放该对象的锁。</a:t>
            </a:r>
            <a:r>
              <a:rPr kumimoji="1" lang="zh-CN" altLang="en-US" dirty="0">
                <a:latin typeface="Arial" charset="0"/>
              </a:rPr>
              <a:t>一般有两种类型的封锁：</a:t>
            </a:r>
            <a:endParaRPr kumimoji="1" lang="zh-CN" altLang="zh-CN" dirty="0">
              <a:latin typeface="Arial" charset="0"/>
            </a:endParaRPr>
          </a:p>
        </p:txBody>
      </p:sp>
      <p:sp>
        <p:nvSpPr>
          <p:cNvPr id="1158149" name="Rectangle 5"/>
          <p:cNvSpPr>
            <a:spLocks noChangeArrowheads="1"/>
          </p:cNvSpPr>
          <p:nvPr/>
        </p:nvSpPr>
        <p:spPr bwMode="auto">
          <a:xfrm>
            <a:off x="842963" y="3429843"/>
            <a:ext cx="10365605" cy="2463800"/>
          </a:xfrm>
          <a:prstGeom prst="rect">
            <a:avLst/>
          </a:prstGeom>
          <a:noFill/>
          <a:ln w="9525">
            <a:noFill/>
            <a:miter lim="800000"/>
            <a:headEnd/>
            <a:tailEnd/>
          </a:ln>
          <a:effectLst/>
        </p:spPr>
        <p:txBody>
          <a:bodyPr/>
          <a:lstStyle/>
          <a:p>
            <a:pPr marL="266700" indent="-266700" algn="just">
              <a:spcAft>
                <a:spcPct val="70000"/>
              </a:spcAft>
              <a:buClr>
                <a:srgbClr val="00FFFF"/>
              </a:buClr>
              <a:buSzTx/>
              <a:buFontTx/>
              <a:buChar char="•"/>
              <a:defRPr/>
            </a:pPr>
            <a:r>
              <a:rPr lang="zh-CN" altLang="zh-CN" sz="3000" dirty="0">
                <a:solidFill>
                  <a:srgbClr val="00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排它锁(X锁)</a:t>
            </a:r>
            <a:r>
              <a:rPr lang="zh-CN" altLang="zh-CN" sz="30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：当事务T对数据对象R加X锁后，只允许T读取和</a:t>
            </a:r>
            <a:r>
              <a:rPr lang="zh-CN" altLang="en-US" sz="30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更新</a:t>
            </a:r>
            <a:r>
              <a:rPr lang="zh-CN" altLang="zh-CN" sz="30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R，其他事务不能再对R加任何锁</a:t>
            </a:r>
            <a:r>
              <a:rPr lang="zh-CN" altLang="en-US" sz="30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a:t>
            </a:r>
            <a:r>
              <a:rPr lang="zh-CN" altLang="zh-CN" sz="30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即不能读取和修改R</a:t>
            </a:r>
            <a:r>
              <a:rPr lang="zh-CN" altLang="en-US" sz="30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a:t>
            </a:r>
            <a:r>
              <a:rPr lang="zh-CN" altLang="zh-CN" sz="30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，直到T释放R上的X锁。</a:t>
            </a:r>
          </a:p>
          <a:p>
            <a:pPr marL="266700" indent="-266700" algn="just">
              <a:spcAft>
                <a:spcPct val="70000"/>
              </a:spcAft>
              <a:buClr>
                <a:srgbClr val="00FFFF"/>
              </a:buClr>
              <a:buSzTx/>
              <a:buFontTx/>
              <a:buChar char="•"/>
              <a:defRPr/>
            </a:pPr>
            <a:r>
              <a:rPr lang="zh-CN" altLang="zh-CN" sz="3000" dirty="0">
                <a:solidFill>
                  <a:srgbClr val="00FFFF"/>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共享锁(S锁)</a:t>
            </a:r>
            <a:r>
              <a:rPr lang="zh-CN" altLang="zh-CN" sz="30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：当事务T对数据对象R加S锁后，其他事务也可以对R再加S锁</a:t>
            </a:r>
            <a:r>
              <a:rPr lang="zh-CN" altLang="en-US" sz="30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而不能加</a:t>
            </a:r>
            <a:r>
              <a:rPr lang="en-US" altLang="zh-CN" sz="30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X</a:t>
            </a:r>
            <a:r>
              <a:rPr lang="zh-CN" altLang="en-US" sz="30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锁</a:t>
            </a:r>
            <a:r>
              <a:rPr lang="zh-CN" altLang="zh-CN" sz="3000" dirty="0">
                <a:solidFill>
                  <a:srgbClr val="CCFFCC"/>
                </a:solidFill>
                <a:effectLst>
                  <a:outerShdw blurRad="38100" dist="38100" dir="2700000" algn="tl">
                    <a:srgbClr val="000000"/>
                  </a:outerShdw>
                </a:effectLst>
                <a:latin typeface="微软雅黑" panose="020B0503020204020204" pitchFamily="34" charset="-122"/>
                <a:ea typeface="微软雅黑" panose="020B0503020204020204" pitchFamily="34" charset="-122"/>
              </a:rPr>
              <a:t>，即多个事务可以读取但不能修改R。</a:t>
            </a: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title"/>
          </p:nvPr>
        </p:nvSpPr>
        <p:spPr>
          <a:xfrm>
            <a:off x="1055440" y="116632"/>
            <a:ext cx="2197250" cy="760959"/>
          </a:xfrm>
          <a:noFill/>
          <a:ln w="12700" cap="sq">
            <a:noFill/>
            <a:miter lim="800000"/>
            <a:headEnd/>
            <a:tailEnd/>
          </a:ln>
          <a:effectLst>
            <a:outerShdw dist="35921" dir="2700000" algn="ctr" rotWithShape="0">
              <a:srgbClr val="000514"/>
            </a:outerShdw>
          </a:effectLst>
        </p:spPr>
        <p:txBody>
          <a:bodyPr vert="horz" wrap="none" lIns="72000" tIns="72000" rIns="72000" bIns="72000" numCol="1" rtlCol="0" anchor="ctr" anchorCtr="0" compatLnSpc="1">
            <a:prstTxWarp prst="textNoShape">
              <a:avLst/>
            </a:prstTxWarp>
            <a:spAutoFit/>
          </a:bodyPr>
          <a:lstStyle/>
          <a:p>
            <a:pPr eaLnBrk="1" hangingPunct="1">
              <a:spcBef>
                <a:spcPts val="0"/>
              </a:spcBef>
              <a:spcAft>
                <a:spcPct val="25000"/>
              </a:spcAft>
              <a:buSzPct val="80000"/>
            </a:pPr>
            <a:r>
              <a:rPr kumimoji="1" lang="zh-CN" altLang="en-US" sz="4000" b="1" kern="1200" dirty="0">
                <a:solidFill>
                  <a:srgbClr val="FFFFCC"/>
                </a:solidFill>
                <a:effectLst>
                  <a:outerShdw blurRad="38100" dist="38100" dir="2700000" algn="tl">
                    <a:srgbClr val="000000"/>
                  </a:outerShdw>
                </a:effectLst>
                <a:latin typeface="Arial" pitchFamily="34" charset="0"/>
              </a:rPr>
              <a:t>封锁粒度</a:t>
            </a:r>
          </a:p>
        </p:txBody>
      </p:sp>
      <p:sp>
        <p:nvSpPr>
          <p:cNvPr id="1159172" name="Rectangle 4"/>
          <p:cNvSpPr>
            <a:spLocks noGrp="1" noChangeArrowheads="1"/>
          </p:cNvSpPr>
          <p:nvPr>
            <p:ph idx="1"/>
          </p:nvPr>
        </p:nvSpPr>
        <p:spPr>
          <a:xfrm>
            <a:off x="422012" y="1340768"/>
            <a:ext cx="11347975" cy="2463800"/>
          </a:xfrm>
        </p:spPr>
        <p:txBody>
          <a:bodyPr/>
          <a:lstStyle/>
          <a:p>
            <a:pPr eaLnBrk="1" hangingPunct="1">
              <a:spcAft>
                <a:spcPct val="75000"/>
              </a:spcAft>
              <a:defRPr/>
            </a:pPr>
            <a:r>
              <a:rPr kumimoji="1" lang="zh-CN" altLang="zh-CN" sz="3400" dirty="0">
                <a:latin typeface="Arial" charset="0"/>
              </a:rPr>
              <a:t>所谓封锁的粒度，即是被封锁数据对象的大小。</a:t>
            </a:r>
            <a:endParaRPr kumimoji="1" lang="zh-CN" altLang="en-US" sz="3400" dirty="0">
              <a:latin typeface="Arial" charset="0"/>
            </a:endParaRPr>
          </a:p>
          <a:p>
            <a:pPr eaLnBrk="1" hangingPunct="1">
              <a:spcAft>
                <a:spcPct val="75000"/>
              </a:spcAft>
              <a:defRPr/>
            </a:pPr>
            <a:r>
              <a:rPr kumimoji="1" lang="zh-CN" altLang="zh-CN" sz="3400" dirty="0">
                <a:latin typeface="Arial" charset="0"/>
              </a:rPr>
              <a:t>在关系数据库中，封锁的粒度</a:t>
            </a:r>
            <a:r>
              <a:rPr kumimoji="1" lang="zh-CN" altLang="en-US" sz="3400" dirty="0">
                <a:latin typeface="Arial" charset="0"/>
              </a:rPr>
              <a:t>可以是</a:t>
            </a:r>
            <a:r>
              <a:rPr kumimoji="1" lang="zh-CN" altLang="zh-CN" sz="3400" dirty="0">
                <a:latin typeface="Arial" charset="0"/>
              </a:rPr>
              <a:t>：属性值、属性值集、元组、关系、索引项、整个索引或整个数据库</a:t>
            </a:r>
            <a:r>
              <a:rPr kumimoji="1" lang="zh-CN" altLang="en-US" sz="3400" dirty="0">
                <a:latin typeface="Arial" charset="0"/>
              </a:rPr>
              <a:t>，甚至</a:t>
            </a:r>
            <a:r>
              <a:rPr kumimoji="1" lang="zh-CN" altLang="zh-CN" sz="3400" dirty="0">
                <a:latin typeface="Arial" charset="0"/>
              </a:rPr>
              <a:t>还可以是一些物理单元</a:t>
            </a:r>
            <a:r>
              <a:rPr kumimoji="1" lang="zh-CN" altLang="en-US" sz="3400" dirty="0">
                <a:latin typeface="Arial" charset="0"/>
              </a:rPr>
              <a:t>，如</a:t>
            </a:r>
            <a:r>
              <a:rPr kumimoji="1" lang="zh-CN" altLang="zh-CN" sz="3400" dirty="0">
                <a:latin typeface="Arial" charset="0"/>
              </a:rPr>
              <a:t>页(数据页或索引页)、块等等。</a:t>
            </a:r>
          </a:p>
          <a:p>
            <a:pPr eaLnBrk="1" hangingPunct="1">
              <a:spcAft>
                <a:spcPct val="75000"/>
              </a:spcAft>
              <a:defRPr/>
            </a:pPr>
            <a:r>
              <a:rPr kumimoji="1" lang="zh-CN" altLang="zh-CN" sz="3400" dirty="0">
                <a:latin typeface="Arial" charset="0"/>
              </a:rPr>
              <a:t>封锁的粒度与系统的并发度和并发控制的开销密切相关。封锁粒度越大系统中能够被封锁的对象就越少，并发度也就越小，但同时系统开销也越少；封锁粒度越小并发度越高，但系统开销也就越大。</a:t>
            </a: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620688"/>
            <a:ext cx="10972800" cy="4054475"/>
          </a:xfrm>
        </p:spPr>
        <p:txBody>
          <a:bodyPr/>
          <a:lstStyle/>
          <a:p>
            <a:pPr marL="0" indent="0">
              <a:buNone/>
            </a:pPr>
            <a:r>
              <a:rPr lang="zh-CN" altLang="en-US" dirty="0"/>
              <a:t>2.封锁协议（Lock Protocol）</a:t>
            </a:r>
          </a:p>
          <a:p>
            <a:pPr marL="0" indent="0">
              <a:buNone/>
            </a:pPr>
            <a:r>
              <a:rPr lang="zh-CN" altLang="en-US" dirty="0"/>
              <a:t>（1）一级封锁协议</a:t>
            </a:r>
          </a:p>
          <a:p>
            <a:pPr marL="0" indent="0">
              <a:buNone/>
            </a:pPr>
            <a:r>
              <a:rPr lang="zh-CN" altLang="en-US" dirty="0"/>
              <a:t>       一级封锁协议的内容是事务T在修改数据对象之前必须对其加X锁，直到事务结束为止。</a:t>
            </a:r>
          </a:p>
          <a:p>
            <a:pPr marL="0" indent="0">
              <a:buNone/>
            </a:pPr>
            <a:r>
              <a:rPr lang="zh-CN" altLang="en-US" dirty="0"/>
              <a:t>       利用一级封锁协议可以解决表7-2中的丢失更新问题。</a:t>
            </a:r>
          </a:p>
        </p:txBody>
      </p:sp>
      <p:pic>
        <p:nvPicPr>
          <p:cNvPr id="4" name="图片 3"/>
          <p:cNvPicPr>
            <a:picLocks noChangeAspect="1"/>
          </p:cNvPicPr>
          <p:nvPr/>
        </p:nvPicPr>
        <p:blipFill>
          <a:blip r:embed="rId3"/>
          <a:stretch>
            <a:fillRect/>
          </a:stretch>
        </p:blipFill>
        <p:spPr>
          <a:xfrm>
            <a:off x="4786630" y="1702435"/>
            <a:ext cx="6676390" cy="4800600"/>
          </a:xfrm>
          <a:prstGeom prst="rect">
            <a:avLst/>
          </a:prstGeom>
        </p:spPr>
      </p:pic>
    </p:spTree>
    <p:custDataLst>
      <p:tags r:id="rId1"/>
    </p:custDataLst>
    <p:extLst>
      <p:ext uri="{BB962C8B-B14F-4D97-AF65-F5344CB8AC3E}">
        <p14:creationId xmlns:p14="http://schemas.microsoft.com/office/powerpoint/2010/main" val="95338316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9416" y="404664"/>
            <a:ext cx="10972800" cy="4054475"/>
          </a:xfrm>
        </p:spPr>
        <p:txBody>
          <a:bodyPr/>
          <a:lstStyle/>
          <a:p>
            <a:pPr marL="0" indent="0">
              <a:buNone/>
            </a:pPr>
            <a:r>
              <a:rPr lang="zh-CN" altLang="en-US" dirty="0"/>
              <a:t>（2）二级封锁协议</a:t>
            </a:r>
          </a:p>
          <a:p>
            <a:pPr marL="0" indent="0">
              <a:buNone/>
            </a:pPr>
            <a:r>
              <a:rPr lang="zh-CN" altLang="en-US" dirty="0"/>
              <a:t>       二级封锁协议的内容是在一级封锁协议的基础上，另外加上事务T在读取数据R之前必须先对其加S锁，读完后释放S锁。</a:t>
            </a:r>
          </a:p>
          <a:p>
            <a:pPr marL="0" indent="0">
              <a:buNone/>
            </a:pPr>
            <a:r>
              <a:rPr lang="zh-CN" altLang="en-US" dirty="0"/>
              <a:t>       利用二级封锁协议可以解决表7-3中的数据“污读”问题。</a:t>
            </a:r>
          </a:p>
        </p:txBody>
      </p:sp>
      <p:pic>
        <p:nvPicPr>
          <p:cNvPr id="4" name="图片 3"/>
          <p:cNvPicPr>
            <a:picLocks noChangeAspect="1"/>
          </p:cNvPicPr>
          <p:nvPr/>
        </p:nvPicPr>
        <p:blipFill>
          <a:blip r:embed="rId3"/>
          <a:stretch>
            <a:fillRect/>
          </a:stretch>
        </p:blipFill>
        <p:spPr>
          <a:xfrm>
            <a:off x="4977765" y="1702435"/>
            <a:ext cx="6338570" cy="4928235"/>
          </a:xfrm>
          <a:prstGeom prst="rect">
            <a:avLst/>
          </a:prstGeom>
        </p:spPr>
      </p:pic>
    </p:spTree>
    <p:custDataLst>
      <p:tags r:id="rId1"/>
    </p:custDataLst>
    <p:extLst>
      <p:ext uri="{BB962C8B-B14F-4D97-AF65-F5344CB8AC3E}">
        <p14:creationId xmlns:p14="http://schemas.microsoft.com/office/powerpoint/2010/main" val="291217132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Righ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9416" y="548680"/>
            <a:ext cx="10972800" cy="4054475"/>
          </a:xfrm>
        </p:spPr>
        <p:txBody>
          <a:bodyPr/>
          <a:lstStyle/>
          <a:p>
            <a:pPr marL="0" indent="0">
              <a:buNone/>
            </a:pPr>
            <a:r>
              <a:rPr lang="zh-CN" altLang="en-US" dirty="0"/>
              <a:t>（3）三级封锁协议</a:t>
            </a:r>
          </a:p>
          <a:p>
            <a:pPr marL="0" indent="0">
              <a:buNone/>
            </a:pPr>
            <a:r>
              <a:rPr lang="zh-CN" altLang="en-US" dirty="0"/>
              <a:t>       三级封锁协议的内容是在一级封锁协议的基础上，另外加上事务T在读取数据R之前必须先对其加S锁，读完后并不释放S锁，而直到事务T结束才释放。前面已经讲过，事务的结束是以COMMIT或ROLLBACK为标识。</a:t>
            </a:r>
          </a:p>
          <a:p>
            <a:pPr marL="0" indent="0">
              <a:buNone/>
            </a:pPr>
            <a:r>
              <a:rPr lang="zh-CN" altLang="en-US" dirty="0"/>
              <a:t>       利用三级封锁协议可以解决表7-4中的不可重读问题。</a:t>
            </a:r>
          </a:p>
        </p:txBody>
      </p:sp>
      <p:pic>
        <p:nvPicPr>
          <p:cNvPr id="4" name="图片 3"/>
          <p:cNvPicPr>
            <a:picLocks noChangeAspect="1"/>
          </p:cNvPicPr>
          <p:nvPr/>
        </p:nvPicPr>
        <p:blipFill>
          <a:blip r:embed="rId3"/>
          <a:stretch>
            <a:fillRect/>
          </a:stretch>
        </p:blipFill>
        <p:spPr>
          <a:xfrm>
            <a:off x="5497830" y="1551940"/>
            <a:ext cx="5087620" cy="4921250"/>
          </a:xfrm>
          <a:prstGeom prst="rect">
            <a:avLst/>
          </a:prstGeom>
        </p:spPr>
      </p:pic>
    </p:spTree>
    <p:custDataLst>
      <p:tags r:id="rId1"/>
    </p:custDataLst>
    <p:extLst>
      <p:ext uri="{BB962C8B-B14F-4D97-AF65-F5344CB8AC3E}">
        <p14:creationId xmlns:p14="http://schemas.microsoft.com/office/powerpoint/2010/main" val="286302528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83432" y="1052736"/>
            <a:ext cx="9753600" cy="2143125"/>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r>
              <a:rPr kumimoji="1" lang="zh-CN" altLang="en-US" sz="2600" b="0" i="0" u="none" strike="noStrike" kern="1200" cap="none" spc="0" normalizeH="0" baseline="0" noProof="0" dirty="0" smtClean="0">
                <a:ln>
                  <a:noFill/>
                </a:ln>
                <a:solidFill>
                  <a:srgbClr val="FFFFFF"/>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数据库</a:t>
            </a:r>
            <a:r>
              <a:rPr kumimoji="1" lang="zh-CN" altLang="en-US" sz="2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的并发操作可能出现哪些不一致问题？怎样才能有针对性的解决这些不一致问题</a:t>
            </a:r>
            <a:r>
              <a:rPr kumimoji="1" lang="zh-CN" altLang="en-US" sz="2600" b="0" i="0" u="none" strike="noStrike" kern="1200" cap="none" spc="0" normalizeH="0" baseline="0" noProof="0" dirty="0" smtClean="0">
                <a:ln>
                  <a:noFill/>
                </a:ln>
                <a:solidFill>
                  <a:srgbClr val="FFFFFF"/>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endParaRPr kumimoji="1" lang="zh-CN" altLang="en-US" sz="2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6" name="圆角矩形 5"/>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r>
              <a:rPr kumimoji="1" lang="zh-CN" altLang="en-US" sz="1600" b="0" i="0" u="none" strike="noStrike" kern="1200" cap="none" spc="0" normalizeH="0" baseline="0" noProof="0" smtClean="0">
                <a:ln>
                  <a:noFill/>
                </a:ln>
                <a:solidFill>
                  <a:srgbClr val="FFFFFF"/>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作答</a:t>
            </a: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endParaRPr kumimoji="1" lang="zh-CN" altLang="en-US" sz="3200" b="0" i="0" u="none" strike="noStrike" kern="1200" cap="none" spc="0" normalizeH="0" baseline="0" noProof="0" smtClean="0">
                <a:ln>
                  <a:noFill/>
                </a:ln>
                <a:solidFill>
                  <a:srgbClr val="FFFFFF"/>
                </a:solidFill>
                <a:effectLst>
                  <a:outerShdw blurRad="38100" dist="38100" dir="2700000" algn="tl">
                    <a:srgbClr val="000000">
                      <a:alpha val="43137"/>
                    </a:srgbClr>
                  </a:outerShdw>
                </a:effectLst>
                <a:uLnTx/>
                <a:uFillTx/>
                <a:latin typeface="楷体_GB2312" pitchFamily="49" charset="-122"/>
                <a:ea typeface="楷体_GB2312" pitchFamily="49" charset="-122"/>
                <a:cs typeface="+mn-cs"/>
              </a:endParaRPr>
            </a:p>
          </p:txBody>
        </p:sp>
        <p:sp>
          <p:nvSpPr>
            <p:cNvPr id="8" name="ColorBlock"/>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a:pPr>
              <a:endParaRPr kumimoji="1" lang="zh-CN" altLang="en-US" sz="3200" b="0" i="0" u="none" strike="noStrike" kern="1200" cap="none" spc="0" normalizeH="0" baseline="0" noProof="0" smtClean="0">
                <a:ln>
                  <a:noFill/>
                </a:ln>
                <a:solidFill>
                  <a:srgbClr val="FFFFFF"/>
                </a:solidFill>
                <a:effectLst>
                  <a:outerShdw blurRad="38100" dist="38100" dir="2700000" algn="tl">
                    <a:srgbClr val="000000">
                      <a:alpha val="43137"/>
                    </a:srgbClr>
                  </a:outerShdw>
                </a:effectLst>
                <a:uLnTx/>
                <a:uFillTx/>
                <a:latin typeface="楷体_GB2312" pitchFamily="49" charset="-122"/>
                <a:ea typeface="楷体_GB2312" pitchFamily="49" charset="-122"/>
                <a:cs typeface="+mn-cs"/>
              </a:endParaRPr>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r>
                <a:rPr kumimoji="1" lang="zh-CN" altLang="en-US" sz="2600" b="0" i="0" u="none" strike="noStrike" kern="1200" cap="none" spc="0" normalizeH="0" baseline="0" noProof="0" smtClean="0">
                  <a:ln>
                    <a:noFill/>
                  </a:ln>
                  <a:solidFill>
                    <a:srgbClr val="000000"/>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主观题</a:t>
              </a:r>
              <a:endParaRPr kumimoji="1" lang="zh-CN" altLang="en-US" sz="2600" b="0"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0"/>
                </a:spcBef>
                <a:spcAft>
                  <a:spcPct val="25000"/>
                </a:spcAft>
                <a:buClrTx/>
                <a:buSzPct val="80000"/>
                <a:buFont typeface="Wingdings" pitchFamily="2" charset="2"/>
                <a:buNone/>
                <a:tabLst/>
                <a:defRPr/>
              </a:pPr>
              <a:r>
                <a:rPr kumimoji="1" lang="en-US" altLang="zh-CN" sz="2000" b="0" i="0" u="none" strike="noStrike" kern="1200" cap="none" spc="0" normalizeH="0" baseline="0" noProof="0" smtClean="0">
                  <a:ln>
                    <a:noFill/>
                  </a:ln>
                  <a:solidFill>
                    <a:srgbClr val="808080"/>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a:t>
              </a:r>
              <a:r>
                <a:rPr kumimoji="1" lang="zh-CN" altLang="en-US" sz="2000" b="0" i="0" u="none" strike="noStrike" kern="1200" cap="none" spc="0" normalizeH="0" baseline="0" noProof="0" smtClean="0">
                  <a:ln>
                    <a:noFill/>
                  </a:ln>
                  <a:solidFill>
                    <a:srgbClr val="808080"/>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endParaRPr kumimoji="1" lang="zh-CN" altLang="en-US" sz="2000" b="0" i="0" u="none" strike="noStrike" kern="1200" cap="none" spc="0" normalizeH="0" baseline="0" noProof="0">
                <a:ln>
                  <a:noFill/>
                </a:ln>
                <a:solidFill>
                  <a:srgbClr val="808080"/>
                </a:solidFill>
                <a:effectLst>
                  <a:outerShdw blurRad="38100" dist="38100" dir="2700000" algn="tl">
                    <a:srgbClr val="000000">
                      <a:alpha val="43137"/>
                    </a:srgbClr>
                  </a:outerShdw>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pic>
        <p:nvPicPr>
          <p:cNvPr id="4" name="图片 3"/>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529517227"/>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txBox="1">
            <a:spLocks/>
          </p:cNvSpPr>
          <p:nvPr/>
        </p:nvSpPr>
        <p:spPr bwMode="auto">
          <a:xfrm>
            <a:off x="4583832" y="2060848"/>
            <a:ext cx="2448272" cy="782960"/>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60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第四节</a:t>
            </a:r>
          </a:p>
        </p:txBody>
      </p:sp>
      <p:sp>
        <p:nvSpPr>
          <p:cNvPr id="2" name="标题 1"/>
          <p:cNvSpPr>
            <a:spLocks noGrp="1"/>
          </p:cNvSpPr>
          <p:nvPr>
            <p:ph type="title"/>
          </p:nvPr>
        </p:nvSpPr>
        <p:spPr>
          <a:xfrm>
            <a:off x="983432" y="3356992"/>
            <a:ext cx="10225136" cy="1256758"/>
          </a:xfr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p>
            <a:pPr algn="ctr"/>
            <a:r>
              <a:rPr lang="zh-CN" altLang="en-US" sz="6000" b="1" kern="10" spc="600" baseline="-25000" dirty="0">
                <a:ln w="9525">
                  <a:solidFill>
                    <a:srgbClr val="003399"/>
                  </a:solidFill>
                  <a:prstDash val="solid"/>
                </a:ln>
                <a:solidFill>
                  <a:srgbClr val="FFFFFF"/>
                </a:solidFill>
                <a:effectLst>
                  <a:outerShdw blurRad="12700" dist="38100" dir="2700000" algn="tl" rotWithShape="0">
                    <a:srgbClr val="003399">
                      <a:lumMod val="50000"/>
                    </a:srgbClr>
                  </a:outerShdw>
                </a:effectLst>
              </a:rPr>
              <a:t>数据库的恢复</a:t>
            </a:r>
          </a:p>
        </p:txBody>
      </p:sp>
      <p:sp>
        <p:nvSpPr>
          <p:cNvPr id="5" name="标题 1">
            <a:extLst>
              <a:ext uri="{FF2B5EF4-FFF2-40B4-BE49-F238E27FC236}">
                <a16:creationId xmlns:a16="http://schemas.microsoft.com/office/drawing/2014/main" id="{8F44E9CB-32BA-4B08-BB1B-79F848400204}"/>
              </a:ext>
            </a:extLst>
          </p:cNvPr>
          <p:cNvSpPr txBox="1">
            <a:spLocks/>
          </p:cNvSpPr>
          <p:nvPr/>
        </p:nvSpPr>
        <p:spPr bwMode="auto">
          <a:xfrm>
            <a:off x="983432" y="296696"/>
            <a:ext cx="4284000" cy="396000"/>
          </a:xfrm>
          <a:prstGeom prst="rect">
            <a:avLst/>
          </a:prstGeom>
          <a:noFill/>
          <a:ln w="9525">
            <a:noFill/>
            <a:miter lim="800000"/>
            <a:headEnd/>
            <a:tailEnd/>
          </a:ln>
          <a:effectLst>
            <a:outerShdw dist="17961" dir="2700000" algn="ctr" rotWithShape="0">
              <a:srgbClr val="000514"/>
            </a:outerShdw>
          </a:effectLst>
        </p:spPr>
        <p:txBody>
          <a:bodyPr vert="horz" wrap="none" lIns="91440" tIns="45720" rIns="91440" bIns="45720" numCol="1" fromWordArt="1" anchor="ctr" anchorCtr="0" compatLnSpc="1">
            <a:prstTxWarp prst="textPlain">
              <a:avLst>
                <a:gd name="adj" fmla="val 50000"/>
              </a:avLst>
            </a:prstTxWarp>
          </a:bodyPr>
          <a:lstStyle>
            <a:lvl1pPr algn="l" rtl="0" eaLnBrk="0" fontAlgn="base" hangingPunct="0">
              <a:spcBef>
                <a:spcPct val="0"/>
              </a:spcBef>
              <a:spcAft>
                <a:spcPct val="0"/>
              </a:spcAft>
              <a:defRPr sz="3000">
                <a:solidFill>
                  <a:srgbClr val="FF9900"/>
                </a:solidFill>
                <a:latin typeface="微软雅黑" panose="020B0503020204020204" pitchFamily="34" charset="-122"/>
                <a:ea typeface="微软雅黑" panose="020B0503020204020204" pitchFamily="34" charset="-122"/>
                <a:cs typeface="+mj-cs"/>
              </a:defRPr>
            </a:lvl1pPr>
            <a:lvl2pPr algn="l" rtl="0" eaLnBrk="0" fontAlgn="base" hangingPunct="0">
              <a:spcBef>
                <a:spcPct val="0"/>
              </a:spcBef>
              <a:spcAft>
                <a:spcPct val="0"/>
              </a:spcAft>
              <a:defRPr sz="3000">
                <a:solidFill>
                  <a:srgbClr val="FF9900"/>
                </a:solidFill>
                <a:latin typeface="方正姚体" pitchFamily="2" charset="-122"/>
                <a:ea typeface="方正姚体" pitchFamily="2" charset="-122"/>
              </a:defRPr>
            </a:lvl2pPr>
            <a:lvl3pPr algn="l" rtl="0" eaLnBrk="0" fontAlgn="base" hangingPunct="0">
              <a:spcBef>
                <a:spcPct val="0"/>
              </a:spcBef>
              <a:spcAft>
                <a:spcPct val="0"/>
              </a:spcAft>
              <a:defRPr sz="3000">
                <a:solidFill>
                  <a:srgbClr val="FF9900"/>
                </a:solidFill>
                <a:latin typeface="方正姚体" pitchFamily="2" charset="-122"/>
                <a:ea typeface="方正姚体" pitchFamily="2" charset="-122"/>
              </a:defRPr>
            </a:lvl3pPr>
            <a:lvl4pPr algn="l" rtl="0" eaLnBrk="0" fontAlgn="base" hangingPunct="0">
              <a:spcBef>
                <a:spcPct val="0"/>
              </a:spcBef>
              <a:spcAft>
                <a:spcPct val="0"/>
              </a:spcAft>
              <a:defRPr sz="3000">
                <a:solidFill>
                  <a:srgbClr val="FF9900"/>
                </a:solidFill>
                <a:latin typeface="方正姚体" pitchFamily="2" charset="-122"/>
                <a:ea typeface="方正姚体" pitchFamily="2" charset="-122"/>
              </a:defRPr>
            </a:lvl4pPr>
            <a:lvl5pPr algn="l" rtl="0" eaLnBrk="0" fontAlgn="base" hangingPunct="0">
              <a:spcBef>
                <a:spcPct val="0"/>
              </a:spcBef>
              <a:spcAft>
                <a:spcPct val="0"/>
              </a:spcAft>
              <a:defRPr sz="3000">
                <a:solidFill>
                  <a:srgbClr val="FF9900"/>
                </a:solidFill>
                <a:latin typeface="方正姚体" pitchFamily="2" charset="-122"/>
                <a:ea typeface="方正姚体" pitchFamily="2" charset="-122"/>
              </a:defRPr>
            </a:lvl5pPr>
            <a:lvl6pPr marL="457200" algn="l" rtl="0" fontAlgn="base">
              <a:spcBef>
                <a:spcPct val="0"/>
              </a:spcBef>
              <a:spcAft>
                <a:spcPct val="0"/>
              </a:spcAft>
              <a:defRPr sz="3000">
                <a:solidFill>
                  <a:srgbClr val="FF9900"/>
                </a:solidFill>
                <a:latin typeface="方正姚体" pitchFamily="2" charset="-122"/>
                <a:ea typeface="方正姚体" pitchFamily="2" charset="-122"/>
              </a:defRPr>
            </a:lvl6pPr>
            <a:lvl7pPr marL="914400" algn="l" rtl="0" fontAlgn="base">
              <a:spcBef>
                <a:spcPct val="0"/>
              </a:spcBef>
              <a:spcAft>
                <a:spcPct val="0"/>
              </a:spcAft>
              <a:defRPr sz="3000">
                <a:solidFill>
                  <a:srgbClr val="FF9900"/>
                </a:solidFill>
                <a:latin typeface="方正姚体" pitchFamily="2" charset="-122"/>
                <a:ea typeface="方正姚体" pitchFamily="2" charset="-122"/>
              </a:defRPr>
            </a:lvl7pPr>
            <a:lvl8pPr marL="1371600" algn="l" rtl="0" fontAlgn="base">
              <a:spcBef>
                <a:spcPct val="0"/>
              </a:spcBef>
              <a:spcAft>
                <a:spcPct val="0"/>
              </a:spcAft>
              <a:defRPr sz="3000">
                <a:solidFill>
                  <a:srgbClr val="FF9900"/>
                </a:solidFill>
                <a:latin typeface="方正姚体" pitchFamily="2" charset="-122"/>
                <a:ea typeface="方正姚体" pitchFamily="2" charset="-122"/>
              </a:defRPr>
            </a:lvl8pPr>
            <a:lvl9pPr marL="1828800" algn="l" rtl="0" fontAlgn="base">
              <a:spcBef>
                <a:spcPct val="0"/>
              </a:spcBef>
              <a:spcAft>
                <a:spcPct val="0"/>
              </a:spcAft>
              <a:defRPr sz="3000">
                <a:solidFill>
                  <a:srgbClr val="FF9900"/>
                </a:solidFill>
                <a:latin typeface="方正姚体" pitchFamily="2" charset="-122"/>
                <a:ea typeface="方正姚体"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6000" b="1" i="0" u="none" strike="noStrike" kern="10" cap="none" spc="0" normalizeH="0" baseline="-25000" noProof="0" dirty="0">
                <a:ln w="9525">
                  <a:solidFill>
                    <a:srgbClr val="003399"/>
                  </a:solidFill>
                  <a:prstDash val="solid"/>
                </a:ln>
                <a:solidFill>
                  <a:srgbClr val="FFFFFF"/>
                </a:solidFill>
                <a:effectLst>
                  <a:outerShdw blurRad="12700" dist="38100" dir="2700000" algn="tl" rotWithShape="0">
                    <a:srgbClr val="003399">
                      <a:lumMod val="50000"/>
                    </a:srgbClr>
                  </a:outerShdw>
                </a:effectLst>
                <a:uLnTx/>
                <a:uFillTx/>
                <a:latin typeface="微软雅黑" panose="020B0503020204020204" pitchFamily="34" charset="-122"/>
                <a:ea typeface="微软雅黑" panose="020B0503020204020204" pitchFamily="34" charset="-122"/>
                <a:cs typeface="+mj-cs"/>
              </a:rPr>
              <a:t>第七章  数据库安全保护</a:t>
            </a:r>
          </a:p>
        </p:txBody>
      </p:sp>
    </p:spTree>
    <p:extLst>
      <p:ext uri="{BB962C8B-B14F-4D97-AF65-F5344CB8AC3E}">
        <p14:creationId xmlns:p14="http://schemas.microsoft.com/office/powerpoint/2010/main" val="3557491665"/>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188640"/>
            <a:ext cx="10972800" cy="4054475"/>
          </a:xfrm>
        </p:spPr>
        <p:txBody>
          <a:bodyPr/>
          <a:lstStyle/>
          <a:p>
            <a:pPr marL="0" indent="0">
              <a:lnSpc>
                <a:spcPct val="150000"/>
              </a:lnSpc>
              <a:buNone/>
            </a:pPr>
            <a:r>
              <a:rPr lang="zh-CN" altLang="en-US" sz="3200" b="1" dirty="0"/>
              <a:t>7.4.1 数据库恢复含义</a:t>
            </a:r>
            <a:endParaRPr lang="zh-CN" altLang="en-US" dirty="0"/>
          </a:p>
          <a:p>
            <a:pPr marL="0" indent="0">
              <a:lnSpc>
                <a:spcPct val="150000"/>
              </a:lnSpc>
              <a:buNone/>
            </a:pPr>
            <a:r>
              <a:rPr lang="zh-CN" altLang="en-US" dirty="0"/>
              <a:t>       系统必须具有检测故障并把数据从错误状态中恢复到某一正确状态的功能，这就是</a:t>
            </a:r>
            <a:r>
              <a:rPr lang="zh-CN" altLang="en-US" b="1" dirty="0">
                <a:solidFill>
                  <a:srgbClr val="FF0000"/>
                </a:solidFill>
              </a:rPr>
              <a:t>数据库的恢复</a:t>
            </a:r>
            <a:r>
              <a:rPr lang="zh-CN" altLang="en-US" dirty="0"/>
              <a:t>。</a:t>
            </a:r>
          </a:p>
          <a:p>
            <a:pPr marL="0" indent="0">
              <a:lnSpc>
                <a:spcPct val="150000"/>
              </a:lnSpc>
              <a:buNone/>
            </a:pPr>
            <a:r>
              <a:rPr lang="zh-CN" altLang="en-US" dirty="0"/>
              <a:t>7.4.2 数据库恢复的原理及实现技术</a:t>
            </a:r>
          </a:p>
          <a:p>
            <a:pPr marL="0" indent="0">
              <a:lnSpc>
                <a:spcPct val="150000"/>
              </a:lnSpc>
              <a:buNone/>
            </a:pPr>
            <a:r>
              <a:rPr lang="zh-CN" altLang="en-US" dirty="0"/>
              <a:t>       数据库恢复的基本原理就是</a:t>
            </a:r>
            <a:r>
              <a:rPr lang="zh-CN" altLang="en-US" b="1" dirty="0">
                <a:solidFill>
                  <a:srgbClr val="FF0000"/>
                </a:solidFill>
              </a:rPr>
              <a:t>数据的“冗余”</a:t>
            </a:r>
            <a:r>
              <a:rPr lang="zh-CN" altLang="en-US" dirty="0"/>
              <a:t>。恢复系统应该提供两种类型的功能：一种是生成冗余数据，即对可能发生的故障做某些准备；另一种是冗余重建，即利用这些冗余数据来恢复数据库。</a:t>
            </a:r>
          </a:p>
        </p:txBody>
      </p:sp>
    </p:spTree>
    <p:custDataLst>
      <p:tags r:id="rId1"/>
    </p:custDataLst>
    <p:extLst>
      <p:ext uri="{BB962C8B-B14F-4D97-AF65-F5344CB8AC3E}">
        <p14:creationId xmlns:p14="http://schemas.microsoft.com/office/powerpoint/2010/main" val="3150925914"/>
      </p:ext>
    </p:extLst>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1424" y="764704"/>
            <a:ext cx="10440035" cy="5832648"/>
          </a:xfrm>
        </p:spPr>
        <p:txBody>
          <a:bodyPr>
            <a:normAutofit fontScale="70000" lnSpcReduction="20000"/>
          </a:bodyPr>
          <a:lstStyle/>
          <a:p>
            <a:pPr marL="0" indent="0">
              <a:lnSpc>
                <a:spcPct val="170000"/>
              </a:lnSpc>
              <a:buNone/>
            </a:pPr>
            <a:r>
              <a:rPr lang="zh-CN" altLang="en-US" sz="2800" b="1"/>
              <a:t>1.登记日志文件（Logging）</a:t>
            </a:r>
            <a:endParaRPr lang="zh-CN" altLang="en-US"/>
          </a:p>
          <a:p>
            <a:pPr marL="0" indent="0">
              <a:lnSpc>
                <a:spcPct val="170000"/>
              </a:lnSpc>
              <a:buNone/>
            </a:pPr>
            <a:r>
              <a:rPr lang="zh-CN" altLang="en-US"/>
              <a:t>      </a:t>
            </a:r>
            <a:r>
              <a:rPr lang="zh-CN" altLang="en-US" b="1">
                <a:solidFill>
                  <a:srgbClr val="FF0000"/>
                </a:solidFill>
              </a:rPr>
              <a:t> 日志文件</a:t>
            </a:r>
            <a:r>
              <a:rPr lang="zh-CN" altLang="en-US"/>
              <a:t>是用来记录事物对数据库更新操作的文件，对数据库的每次修改都将把被修改项目的旧值和新值写在一个叫做运行日志的文件中，目的是为数据库的恢复保留依据。</a:t>
            </a:r>
          </a:p>
          <a:p>
            <a:pPr marL="0" indent="0">
              <a:lnSpc>
                <a:spcPct val="170000"/>
              </a:lnSpc>
              <a:buNone/>
            </a:pPr>
            <a:r>
              <a:rPr lang="zh-CN" altLang="en-US"/>
              <a:t>       日志文件分为</a:t>
            </a:r>
            <a:r>
              <a:rPr lang="zh-CN" altLang="en-US" b="1">
                <a:solidFill>
                  <a:srgbClr val="FF0000"/>
                </a:solidFill>
              </a:rPr>
              <a:t>以记录为单位的日志文件</a:t>
            </a:r>
            <a:r>
              <a:rPr lang="zh-CN" altLang="en-US"/>
              <a:t>和</a:t>
            </a:r>
            <a:r>
              <a:rPr lang="zh-CN" altLang="en-US" b="1">
                <a:solidFill>
                  <a:srgbClr val="FF0000"/>
                </a:solidFill>
              </a:rPr>
              <a:t>以数据块为单位的日志文件</a:t>
            </a:r>
            <a:r>
              <a:rPr lang="zh-CN" altLang="en-US"/>
              <a:t>。</a:t>
            </a:r>
          </a:p>
          <a:p>
            <a:pPr marL="0" indent="0">
              <a:lnSpc>
                <a:spcPct val="170000"/>
              </a:lnSpc>
              <a:buNone/>
            </a:pPr>
            <a:r>
              <a:rPr lang="zh-CN" altLang="en-US"/>
              <a:t>       以记录为单位的日志文件格式和内容包括：</a:t>
            </a:r>
          </a:p>
          <a:p>
            <a:pPr marL="491490" indent="-491490">
              <a:lnSpc>
                <a:spcPct val="170000"/>
              </a:lnSpc>
              <a:buFont typeface="Wingdings" panose="05000000000000000000" charset="0"/>
              <a:buChar char="u"/>
            </a:pPr>
            <a:r>
              <a:rPr lang="zh-CN" altLang="en-US"/>
              <a:t>更新数据库的事务开始标识（BEGIN TRANSACTION）；</a:t>
            </a:r>
          </a:p>
          <a:p>
            <a:pPr marL="491490" indent="-491490">
              <a:lnSpc>
                <a:spcPct val="170000"/>
              </a:lnSpc>
              <a:buFont typeface="Wingdings" panose="05000000000000000000" charset="0"/>
              <a:buChar char="u"/>
            </a:pPr>
            <a:r>
              <a:rPr lang="zh-CN" altLang="en-US"/>
              <a:t>更新数据库的事务结束标识（COMMIT或ROLLBACK）；</a:t>
            </a:r>
          </a:p>
          <a:p>
            <a:pPr marL="491490" indent="-491490">
              <a:lnSpc>
                <a:spcPct val="170000"/>
              </a:lnSpc>
              <a:buFont typeface="Wingdings" panose="05000000000000000000" charset="0"/>
              <a:buChar char="u"/>
            </a:pPr>
            <a:r>
              <a:rPr lang="zh-CN" altLang="en-US"/>
              <a:t>各个事务所有更新操作</a:t>
            </a:r>
          </a:p>
          <a:p>
            <a:pPr>
              <a:lnSpc>
                <a:spcPct val="170000"/>
              </a:lnSpc>
              <a:buNone/>
            </a:pPr>
            <a:endParaRPr lang="zh-CN" altLang="en-US"/>
          </a:p>
        </p:txBody>
      </p:sp>
    </p:spTree>
    <p:custDataLst>
      <p:tags r:id="rId1"/>
    </p:custDataLst>
    <p:extLst>
      <p:ext uri="{BB962C8B-B14F-4D97-AF65-F5344CB8AC3E}">
        <p14:creationId xmlns:p14="http://schemas.microsoft.com/office/powerpoint/2010/main" val="314562165"/>
      </p:ext>
    </p:extLst>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188640"/>
            <a:ext cx="10972800" cy="4054475"/>
          </a:xfrm>
        </p:spPr>
        <p:txBody>
          <a:bodyPr/>
          <a:lstStyle/>
          <a:p>
            <a:pPr marL="0" indent="0">
              <a:lnSpc>
                <a:spcPct val="150000"/>
              </a:lnSpc>
              <a:buNone/>
            </a:pPr>
            <a:r>
              <a:rPr lang="en-US" altLang="zh-CN" sz="2800" dirty="0"/>
              <a:t>       </a:t>
            </a:r>
            <a:r>
              <a:rPr lang="zh-CN" altLang="en-US" sz="2800" dirty="0"/>
              <a:t>以数据块为单位的日志文件，每条日志记录的内容包括：</a:t>
            </a:r>
          </a:p>
          <a:p>
            <a:pPr marL="550545" indent="-550545">
              <a:lnSpc>
                <a:spcPct val="150000"/>
              </a:lnSpc>
              <a:buFont typeface="Wingdings" panose="05000000000000000000" charset="0"/>
              <a:buChar char="u"/>
            </a:pPr>
            <a:r>
              <a:rPr lang="zh-CN" altLang="en-US" sz="2800" dirty="0"/>
              <a:t>事务标识（标明是哪个事务）；</a:t>
            </a:r>
          </a:p>
          <a:p>
            <a:pPr marL="550545" indent="-550545">
              <a:lnSpc>
                <a:spcPct val="150000"/>
              </a:lnSpc>
              <a:buFont typeface="Wingdings" panose="05000000000000000000" charset="0"/>
              <a:buChar char="u"/>
            </a:pPr>
            <a:r>
              <a:rPr lang="zh-CN" altLang="en-US" sz="2800" dirty="0"/>
              <a:t>被更新的数据块。</a:t>
            </a:r>
          </a:p>
          <a:p>
            <a:pPr marL="0" indent="0">
              <a:lnSpc>
                <a:spcPct val="150000"/>
              </a:lnSpc>
              <a:buFont typeface="Wingdings" panose="05000000000000000000" charset="0"/>
              <a:buNone/>
            </a:pPr>
            <a:r>
              <a:rPr lang="zh-CN" altLang="en-US" sz="2800" dirty="0"/>
              <a:t>2. 数据转储（Data Dump）</a:t>
            </a:r>
          </a:p>
          <a:p>
            <a:pPr marL="0" indent="0">
              <a:lnSpc>
                <a:spcPct val="150000"/>
              </a:lnSpc>
              <a:buFont typeface="Wingdings" panose="05000000000000000000" charset="0"/>
              <a:buNone/>
            </a:pPr>
            <a:r>
              <a:rPr lang="zh-CN" altLang="en-US" sz="2800" dirty="0"/>
              <a:t>       所谓</a:t>
            </a:r>
            <a:r>
              <a:rPr lang="zh-CN" altLang="en-US" sz="2800" b="1" dirty="0">
                <a:solidFill>
                  <a:srgbClr val="FF0000"/>
                </a:solidFill>
              </a:rPr>
              <a:t>转储</a:t>
            </a:r>
            <a:r>
              <a:rPr lang="zh-CN" altLang="en-US" sz="2800" dirty="0"/>
              <a:t>是指DBA定期地将整个数据库复制到另一个磁盘上保存起来的过程。转储的数据文本称为</a:t>
            </a:r>
            <a:r>
              <a:rPr lang="zh-CN" altLang="en-US" sz="2800" b="1" dirty="0">
                <a:solidFill>
                  <a:srgbClr val="FF0000"/>
                </a:solidFill>
              </a:rPr>
              <a:t>后备副本</a:t>
            </a:r>
            <a:r>
              <a:rPr lang="zh-CN" altLang="en-US" sz="2800" dirty="0"/>
              <a:t>或</a:t>
            </a:r>
            <a:r>
              <a:rPr lang="zh-CN" altLang="en-US" sz="2800" b="1" dirty="0">
                <a:solidFill>
                  <a:srgbClr val="FF0000"/>
                </a:solidFill>
              </a:rPr>
              <a:t>后缘副本。</a:t>
            </a:r>
          </a:p>
          <a:p>
            <a:pPr marL="0" indent="0">
              <a:lnSpc>
                <a:spcPct val="150000"/>
              </a:lnSpc>
              <a:buFont typeface="Wingdings" panose="05000000000000000000" charset="0"/>
              <a:buNone/>
            </a:pPr>
            <a:r>
              <a:rPr lang="zh-CN" altLang="en-US" sz="2800" dirty="0"/>
              <a:t>       按照转储方式，转储可以分为</a:t>
            </a:r>
            <a:r>
              <a:rPr lang="zh-CN" altLang="en-US" sz="2800" b="1" dirty="0">
                <a:solidFill>
                  <a:srgbClr val="FF0000"/>
                </a:solidFill>
              </a:rPr>
              <a:t>海量转储</a:t>
            </a:r>
            <a:r>
              <a:rPr lang="zh-CN" altLang="en-US" sz="2800" dirty="0"/>
              <a:t>和</a:t>
            </a:r>
            <a:r>
              <a:rPr lang="zh-CN" altLang="en-US" sz="2800" b="1" dirty="0">
                <a:solidFill>
                  <a:srgbClr val="FF0000"/>
                </a:solidFill>
              </a:rPr>
              <a:t>增量转储</a:t>
            </a:r>
            <a:r>
              <a:rPr lang="zh-CN" altLang="en-US" sz="2800" dirty="0"/>
              <a:t>。海量转储是指每次转储全部数据库；增量转储是指每次只转储上次转储后被更新过得数据。</a:t>
            </a:r>
          </a:p>
        </p:txBody>
      </p:sp>
    </p:spTree>
    <p:custDataLst>
      <p:tags r:id="rId1"/>
    </p:custDataLst>
    <p:extLst>
      <p:ext uri="{BB962C8B-B14F-4D97-AF65-F5344CB8AC3E}">
        <p14:creationId xmlns:p14="http://schemas.microsoft.com/office/powerpoint/2010/main" val="3779024279"/>
      </p:ext>
    </p:extLst>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548680"/>
            <a:ext cx="10972800" cy="4054475"/>
          </a:xfrm>
        </p:spPr>
        <p:txBody>
          <a:bodyPr/>
          <a:lstStyle/>
          <a:p>
            <a:pPr marL="0" indent="0">
              <a:lnSpc>
                <a:spcPct val="150000"/>
              </a:lnSpc>
              <a:buNone/>
            </a:pPr>
            <a:r>
              <a:rPr lang="en-US" altLang="zh-CN" dirty="0"/>
              <a:t>       </a:t>
            </a:r>
            <a:r>
              <a:rPr lang="zh-CN" altLang="en-US" dirty="0"/>
              <a:t>按照转储状态，转储又可分为</a:t>
            </a:r>
            <a:r>
              <a:rPr lang="zh-CN" altLang="en-US" b="1" dirty="0">
                <a:solidFill>
                  <a:srgbClr val="FF0000"/>
                </a:solidFill>
              </a:rPr>
              <a:t>静态转储</a:t>
            </a:r>
            <a:r>
              <a:rPr lang="zh-CN" altLang="en-US" dirty="0"/>
              <a:t>和</a:t>
            </a:r>
            <a:r>
              <a:rPr lang="zh-CN" altLang="en-US" b="1" dirty="0">
                <a:solidFill>
                  <a:srgbClr val="FF0000"/>
                </a:solidFill>
              </a:rPr>
              <a:t>动态转储</a:t>
            </a:r>
            <a:r>
              <a:rPr lang="zh-CN" altLang="en-US" dirty="0"/>
              <a:t>。</a:t>
            </a:r>
          </a:p>
          <a:p>
            <a:pPr marL="0" indent="0">
              <a:lnSpc>
                <a:spcPct val="150000"/>
              </a:lnSpc>
              <a:buNone/>
            </a:pPr>
            <a:r>
              <a:rPr lang="zh-CN" altLang="en-US" dirty="0"/>
              <a:t>       </a:t>
            </a:r>
            <a:r>
              <a:rPr lang="zh-CN" altLang="en-US" b="1" dirty="0">
                <a:solidFill>
                  <a:srgbClr val="FF0000"/>
                </a:solidFill>
              </a:rPr>
              <a:t>静态转储</a:t>
            </a:r>
            <a:r>
              <a:rPr lang="zh-CN" altLang="en-US" dirty="0"/>
              <a:t>期间不允许有任何数据存取活动，因而需在当前所有用户的事务结束之后进行，新用户事务只有在转储结束之后才能进行；</a:t>
            </a:r>
          </a:p>
          <a:p>
            <a:pPr marL="0" indent="0">
              <a:lnSpc>
                <a:spcPct val="150000"/>
              </a:lnSpc>
              <a:buNone/>
            </a:pPr>
            <a:r>
              <a:rPr lang="zh-CN" altLang="en-US" dirty="0"/>
              <a:t>     </a:t>
            </a:r>
            <a:r>
              <a:rPr lang="zh-CN" altLang="en-US" b="1" dirty="0">
                <a:solidFill>
                  <a:srgbClr val="FF0000"/>
                </a:solidFill>
              </a:rPr>
              <a:t>  动态转储</a:t>
            </a:r>
            <a:r>
              <a:rPr lang="zh-CN" altLang="en-US" dirty="0"/>
              <a:t>允许转储期间继续运行用户事务，把转储期间各事务对数据库的修改活动登记下来，建立日志文件，备用副本加上日志文件就能把数据库恢复到某一时刻的正确状态。</a:t>
            </a:r>
          </a:p>
        </p:txBody>
      </p:sp>
    </p:spTree>
    <p:custDataLst>
      <p:tags r:id="rId1"/>
    </p:custDataLst>
    <p:extLst>
      <p:ext uri="{BB962C8B-B14F-4D97-AF65-F5344CB8AC3E}">
        <p14:creationId xmlns:p14="http://schemas.microsoft.com/office/powerpoint/2010/main" val="327242913"/>
      </p:ext>
    </p:extLst>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title"/>
          </p:nvPr>
        </p:nvSpPr>
        <p:spPr>
          <a:xfrm>
            <a:off x="1071983" y="87927"/>
            <a:ext cx="3736133"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pPr>
              <a:defRPr/>
            </a:pPr>
            <a:r>
              <a:rPr lang="zh-CN" altLang="en-US" sz="4000" b="1" dirty="0">
                <a:solidFill>
                  <a:srgbClr val="FFFFCC"/>
                </a:solidFill>
                <a:effectLst>
                  <a:outerShdw blurRad="38100" dist="38100" dir="2700000" algn="tl">
                    <a:srgbClr val="000000"/>
                  </a:outerShdw>
                </a:effectLst>
                <a:latin typeface="Arial" pitchFamily="34" charset="0"/>
              </a:rPr>
              <a:t>数据库恢复技术</a:t>
            </a:r>
          </a:p>
        </p:txBody>
      </p:sp>
      <p:sp>
        <p:nvSpPr>
          <p:cNvPr id="1170459" name="Rectangle 27"/>
          <p:cNvSpPr>
            <a:spLocks noGrp="1" noChangeArrowheads="1"/>
          </p:cNvSpPr>
          <p:nvPr>
            <p:ph idx="1"/>
          </p:nvPr>
        </p:nvSpPr>
        <p:spPr>
          <a:xfrm>
            <a:off x="695400" y="1059024"/>
            <a:ext cx="10585176" cy="1584325"/>
          </a:xfrm>
        </p:spPr>
        <p:txBody>
          <a:bodyPr/>
          <a:lstStyle/>
          <a:p>
            <a:pPr marL="360363" indent="-360363" algn="just" eaLnBrk="1" hangingPunct="1">
              <a:spcAft>
                <a:spcPct val="60000"/>
              </a:spcAft>
              <a:buNone/>
              <a:defRPr/>
            </a:pPr>
            <a:r>
              <a:rPr lang="zh-CN" altLang="en-US" dirty="0"/>
              <a:t>	建立数据库或事务日志的拷贝，当数据库意外损坏时再利用备份来恢复数据库。</a:t>
            </a:r>
            <a:endParaRPr lang="en-US" altLang="zh-CN" dirty="0"/>
          </a:p>
        </p:txBody>
      </p:sp>
      <p:grpSp>
        <p:nvGrpSpPr>
          <p:cNvPr id="2" name="组合 1">
            <a:extLst>
              <a:ext uri="{FF2B5EF4-FFF2-40B4-BE49-F238E27FC236}">
                <a16:creationId xmlns:a16="http://schemas.microsoft.com/office/drawing/2014/main" id="{1BD6DEEA-50D9-4128-8269-54487017D707}"/>
              </a:ext>
            </a:extLst>
          </p:cNvPr>
          <p:cNvGrpSpPr/>
          <p:nvPr/>
        </p:nvGrpSpPr>
        <p:grpSpPr>
          <a:xfrm>
            <a:off x="2135560" y="2660918"/>
            <a:ext cx="7827423" cy="3905671"/>
            <a:chOff x="2588791" y="2660918"/>
            <a:chExt cx="6116278" cy="3905671"/>
          </a:xfrm>
        </p:grpSpPr>
        <p:sp>
          <p:nvSpPr>
            <p:cNvPr id="1170439" name="Oval 7"/>
            <p:cNvSpPr>
              <a:spLocks noChangeArrowheads="1"/>
            </p:cNvSpPr>
            <p:nvPr/>
          </p:nvSpPr>
          <p:spPr bwMode="auto">
            <a:xfrm flipH="1">
              <a:off x="7341766" y="5021531"/>
              <a:ext cx="1363303" cy="896936"/>
            </a:xfrm>
            <a:prstGeom prst="ellipse">
              <a:avLst/>
            </a:prstGeom>
            <a:solidFill>
              <a:schemeClr val="tx1"/>
            </a:solidFill>
            <a:ln w="38100" cap="sq" algn="ctr">
              <a:solidFill>
                <a:srgbClr val="CCFF66"/>
              </a:solidFill>
              <a:round/>
              <a:headEnd/>
              <a:tailEnd/>
            </a:ln>
            <a:effectLst/>
          </p:spPr>
          <p:txBody>
            <a:bodyPr wrap="square" lIns="72000" tIns="72000" rIns="72000" bIns="72000" anchor="ctr">
              <a:spAutoFit/>
            </a:bodyPr>
            <a:lstStyle/>
            <a:p>
              <a:pPr>
                <a:defRPr/>
              </a:pPr>
              <a:endParaRPr lang="zh-CN" altLang="en-US"/>
            </a:p>
          </p:txBody>
        </p:sp>
        <p:sp>
          <p:nvSpPr>
            <p:cNvPr id="1170440" name="AutoShape 8"/>
            <p:cNvSpPr>
              <a:spLocks noChangeArrowheads="1"/>
            </p:cNvSpPr>
            <p:nvPr/>
          </p:nvSpPr>
          <p:spPr bwMode="auto">
            <a:xfrm>
              <a:off x="3741316" y="3526105"/>
              <a:ext cx="1066800" cy="1079500"/>
            </a:xfrm>
            <a:prstGeom prst="can">
              <a:avLst>
                <a:gd name="adj" fmla="val 23967"/>
              </a:avLst>
            </a:prstGeom>
            <a:gradFill rotWithShape="1">
              <a:gsLst>
                <a:gs pos="0">
                  <a:srgbClr val="008000">
                    <a:gamma/>
                    <a:shade val="0"/>
                    <a:invGamma/>
                  </a:srgbClr>
                </a:gs>
                <a:gs pos="50000">
                  <a:srgbClr val="008000"/>
                </a:gs>
                <a:gs pos="100000">
                  <a:srgbClr val="008000">
                    <a:gamma/>
                    <a:shade val="0"/>
                    <a:invGamma/>
                  </a:srgbClr>
                </a:gs>
              </a:gsLst>
              <a:lin ang="18900000" scaled="1"/>
            </a:gradFill>
            <a:ln w="28575" cap="sq">
              <a:solidFill>
                <a:srgbClr val="CCFF66"/>
              </a:solidFill>
              <a:round/>
              <a:headEnd/>
              <a:tailEnd/>
            </a:ln>
            <a:effectLst>
              <a:outerShdw dist="107763" dir="2700000" algn="ctr" rotWithShape="0">
                <a:schemeClr val="bg2">
                  <a:alpha val="50000"/>
                </a:schemeClr>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备份时</a:t>
              </a:r>
            </a:p>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数据库</a:t>
              </a:r>
            </a:p>
          </p:txBody>
        </p:sp>
        <p:sp>
          <p:nvSpPr>
            <p:cNvPr id="1170441" name="AutoShape 9"/>
            <p:cNvSpPr>
              <a:spLocks noChangeArrowheads="1"/>
            </p:cNvSpPr>
            <p:nvPr/>
          </p:nvSpPr>
          <p:spPr bwMode="auto">
            <a:xfrm>
              <a:off x="7486229" y="3454667"/>
              <a:ext cx="1066800" cy="1219200"/>
            </a:xfrm>
            <a:prstGeom prst="can">
              <a:avLst>
                <a:gd name="adj" fmla="val 27069"/>
              </a:avLst>
            </a:prstGeom>
            <a:gradFill rotWithShape="1">
              <a:gsLst>
                <a:gs pos="0">
                  <a:srgbClr val="660066">
                    <a:gamma/>
                    <a:shade val="0"/>
                    <a:invGamma/>
                  </a:srgbClr>
                </a:gs>
                <a:gs pos="50000">
                  <a:srgbClr val="660066"/>
                </a:gs>
                <a:gs pos="100000">
                  <a:srgbClr val="660066">
                    <a:gamma/>
                    <a:shade val="0"/>
                    <a:invGamma/>
                  </a:srgbClr>
                </a:gs>
              </a:gsLst>
              <a:lin ang="18900000" scaled="1"/>
            </a:gradFill>
            <a:ln w="28575" cap="sq">
              <a:solidFill>
                <a:srgbClr val="CCFF66"/>
              </a:solidFill>
              <a:round/>
              <a:headEnd/>
              <a:tailEnd/>
            </a:ln>
            <a:effectLst>
              <a:outerShdw dist="107763" dir="2700000" algn="ctr" rotWithShape="0">
                <a:schemeClr val="bg2">
                  <a:alpha val="50000"/>
                </a:schemeClr>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现在的</a:t>
              </a:r>
            </a:p>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数据库</a:t>
              </a:r>
            </a:p>
          </p:txBody>
        </p:sp>
        <p:sp>
          <p:nvSpPr>
            <p:cNvPr id="1170442" name="AutoShape 10"/>
            <p:cNvSpPr>
              <a:spLocks noChangeArrowheads="1"/>
            </p:cNvSpPr>
            <p:nvPr/>
          </p:nvSpPr>
          <p:spPr bwMode="auto">
            <a:xfrm>
              <a:off x="3741316" y="5487089"/>
              <a:ext cx="1066800" cy="1079500"/>
            </a:xfrm>
            <a:prstGeom prst="can">
              <a:avLst>
                <a:gd name="adj" fmla="val 23967"/>
              </a:avLst>
            </a:prstGeom>
            <a:gradFill rotWithShape="1">
              <a:gsLst>
                <a:gs pos="0">
                  <a:schemeClr val="bg1">
                    <a:gamma/>
                    <a:shade val="0"/>
                    <a:invGamma/>
                  </a:schemeClr>
                </a:gs>
                <a:gs pos="50000">
                  <a:schemeClr val="bg1"/>
                </a:gs>
                <a:gs pos="100000">
                  <a:schemeClr val="bg1">
                    <a:gamma/>
                    <a:shade val="0"/>
                    <a:invGamma/>
                  </a:schemeClr>
                </a:gs>
              </a:gsLst>
              <a:lin ang="18900000" scaled="1"/>
            </a:gradFill>
            <a:ln w="28575" cap="sq">
              <a:solidFill>
                <a:srgbClr val="CCFF66"/>
              </a:solidFill>
              <a:round/>
              <a:headEnd/>
              <a:tailEnd/>
            </a:ln>
            <a:effectLst>
              <a:outerShdw dist="107763" dir="2700000" algn="ctr" rotWithShape="0">
                <a:schemeClr val="bg2">
                  <a:alpha val="50000"/>
                </a:schemeClr>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数据库</a:t>
              </a:r>
            </a:p>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备份</a:t>
              </a:r>
            </a:p>
          </p:txBody>
        </p:sp>
        <p:sp>
          <p:nvSpPr>
            <p:cNvPr id="1170443" name="Line 11"/>
            <p:cNvSpPr>
              <a:spLocks noChangeShapeType="1"/>
            </p:cNvSpPr>
            <p:nvPr/>
          </p:nvSpPr>
          <p:spPr bwMode="auto">
            <a:xfrm>
              <a:off x="4965280" y="4102367"/>
              <a:ext cx="2376487" cy="0"/>
            </a:xfrm>
            <a:prstGeom prst="line">
              <a:avLst/>
            </a:prstGeom>
            <a:noFill/>
            <a:ln w="5715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70444" name="Line 12"/>
            <p:cNvSpPr>
              <a:spLocks noChangeShapeType="1"/>
            </p:cNvSpPr>
            <p:nvPr/>
          </p:nvSpPr>
          <p:spPr bwMode="auto">
            <a:xfrm>
              <a:off x="2588791" y="4102367"/>
              <a:ext cx="1079500" cy="0"/>
            </a:xfrm>
            <a:prstGeom prst="line">
              <a:avLst/>
            </a:prstGeom>
            <a:noFill/>
            <a:ln w="57150" cap="sq">
              <a:solidFill>
                <a:schemeClr val="tx1"/>
              </a:solidFill>
              <a:round/>
              <a:headEnd/>
              <a:tailEnd type="triangle" w="med" len="med"/>
            </a:ln>
            <a:effectLst/>
          </p:spPr>
          <p:txBody>
            <a:bodyPr wrap="none" lIns="0" tIns="0" rIns="0" bIns="0" anchor="ctr"/>
            <a:lstStyle/>
            <a:p>
              <a:pPr>
                <a:defRPr/>
              </a:pPr>
              <a:endParaRPr lang="zh-CN" altLang="en-US"/>
            </a:p>
          </p:txBody>
        </p:sp>
        <p:sp>
          <p:nvSpPr>
            <p:cNvPr id="1170445" name="Rectangle 13"/>
            <p:cNvSpPr>
              <a:spLocks noChangeArrowheads="1"/>
            </p:cNvSpPr>
            <p:nvPr/>
          </p:nvSpPr>
          <p:spPr bwMode="auto">
            <a:xfrm>
              <a:off x="2733255" y="3597543"/>
              <a:ext cx="663575" cy="39687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600" b="1">
                  <a:effectLst>
                    <a:outerShdw blurRad="38100" dist="38100" dir="2700000" algn="tl">
                      <a:srgbClr val="000000"/>
                    </a:outerShdw>
                  </a:effectLst>
                </a:rPr>
                <a:t>运行</a:t>
              </a:r>
            </a:p>
          </p:txBody>
        </p:sp>
        <p:sp>
          <p:nvSpPr>
            <p:cNvPr id="1170446" name="Rectangle 14"/>
            <p:cNvSpPr>
              <a:spLocks noChangeArrowheads="1"/>
            </p:cNvSpPr>
            <p:nvPr/>
          </p:nvSpPr>
          <p:spPr bwMode="auto">
            <a:xfrm>
              <a:off x="5757442" y="3597543"/>
              <a:ext cx="663575" cy="39687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600" b="1">
                  <a:effectLst>
                    <a:outerShdw blurRad="38100" dist="38100" dir="2700000" algn="tl">
                      <a:srgbClr val="000000"/>
                    </a:outerShdw>
                  </a:effectLst>
                </a:rPr>
                <a:t>运行</a:t>
              </a:r>
            </a:p>
          </p:txBody>
        </p:sp>
        <p:sp>
          <p:nvSpPr>
            <p:cNvPr id="1170447" name="Freeform 15"/>
            <p:cNvSpPr>
              <a:spLocks/>
            </p:cNvSpPr>
            <p:nvPr/>
          </p:nvSpPr>
          <p:spPr bwMode="auto">
            <a:xfrm>
              <a:off x="3165054" y="4640530"/>
              <a:ext cx="519112" cy="1223962"/>
            </a:xfrm>
            <a:custGeom>
              <a:avLst/>
              <a:gdLst/>
              <a:ahLst/>
              <a:cxnLst>
                <a:cxn ang="0">
                  <a:pos x="327" y="0"/>
                </a:cxn>
                <a:cxn ang="0">
                  <a:pos x="93" y="203"/>
                </a:cxn>
                <a:cxn ang="0">
                  <a:pos x="4" y="414"/>
                </a:cxn>
                <a:cxn ang="0">
                  <a:pos x="69" y="601"/>
                </a:cxn>
                <a:cxn ang="0">
                  <a:pos x="288" y="771"/>
                </a:cxn>
              </a:cxnLst>
              <a:rect l="0" t="0" r="r" b="b"/>
              <a:pathLst>
                <a:path w="327" h="771">
                  <a:moveTo>
                    <a:pt x="327" y="0"/>
                  </a:moveTo>
                  <a:cubicBezTo>
                    <a:pt x="288" y="32"/>
                    <a:pt x="147" y="134"/>
                    <a:pt x="93" y="203"/>
                  </a:cubicBezTo>
                  <a:cubicBezTo>
                    <a:pt x="36" y="253"/>
                    <a:pt x="8" y="348"/>
                    <a:pt x="4" y="414"/>
                  </a:cubicBezTo>
                  <a:cubicBezTo>
                    <a:pt x="0" y="480"/>
                    <a:pt x="22" y="542"/>
                    <a:pt x="69" y="601"/>
                  </a:cubicBezTo>
                  <a:cubicBezTo>
                    <a:pt x="116" y="660"/>
                    <a:pt x="243" y="736"/>
                    <a:pt x="288" y="771"/>
                  </a:cubicBezTo>
                </a:path>
              </a:pathLst>
            </a:custGeom>
            <a:noFill/>
            <a:ln w="57150" cap="sq" cmpd="sng">
              <a:solidFill>
                <a:schemeClr val="tx1"/>
              </a:solidFill>
              <a:round/>
              <a:headEnd/>
              <a:tailEnd type="triangle" w="med" len="med"/>
            </a:ln>
            <a:effectLst/>
          </p:spPr>
          <p:txBody>
            <a:bodyPr wrap="none" lIns="0" tIns="0" rIns="0" bIns="0" anchor="ctr"/>
            <a:lstStyle/>
            <a:p>
              <a:pPr>
                <a:defRPr/>
              </a:pPr>
              <a:endParaRPr lang="zh-CN" altLang="en-US"/>
            </a:p>
          </p:txBody>
        </p:sp>
        <p:pic>
          <p:nvPicPr>
            <p:cNvPr id="35853" name="Picture 16" descr="u=337435896,3238493708&amp;gp=1">
              <a:hlinkClick r:id="rId2"/>
            </p:cNvPr>
            <p:cNvPicPr>
              <a:picLocks noChangeAspect="1" noChangeArrowheads="1"/>
            </p:cNvPicPr>
            <p:nvPr/>
          </p:nvPicPr>
          <p:blipFill>
            <a:blip r:embed="rId3">
              <a:clrChange>
                <a:clrFrom>
                  <a:srgbClr val="6D6D91"/>
                </a:clrFrom>
                <a:clrTo>
                  <a:srgbClr val="6D6D91">
                    <a:alpha val="0"/>
                  </a:srgbClr>
                </a:clrTo>
              </a:clrChange>
              <a:extLst>
                <a:ext uri="{28A0092B-C50C-407E-A947-70E740481C1C}">
                  <a14:useLocalDpi xmlns:a14="http://schemas.microsoft.com/office/drawing/2010/main" val="0"/>
                </a:ext>
              </a:extLst>
            </a:blip>
            <a:srcRect/>
            <a:stretch>
              <a:fillRect/>
            </a:stretch>
          </p:blipFill>
          <p:spPr bwMode="auto">
            <a:xfrm>
              <a:off x="7473530" y="5110431"/>
              <a:ext cx="4730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0449" name="Rectangle 17"/>
            <p:cNvSpPr>
              <a:spLocks noChangeArrowheads="1"/>
            </p:cNvSpPr>
            <p:nvPr/>
          </p:nvSpPr>
          <p:spPr bwMode="auto">
            <a:xfrm>
              <a:off x="6681367" y="4892943"/>
              <a:ext cx="663575" cy="39687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600" b="1">
                  <a:effectLst>
                    <a:outerShdw blurRad="38100" dist="38100" dir="2700000" algn="tl">
                      <a:srgbClr val="000000"/>
                    </a:outerShdw>
                  </a:effectLst>
                </a:rPr>
                <a:t>意外</a:t>
              </a:r>
            </a:p>
          </p:txBody>
        </p:sp>
        <p:sp>
          <p:nvSpPr>
            <p:cNvPr id="1170450" name="Freeform 18"/>
            <p:cNvSpPr>
              <a:spLocks/>
            </p:cNvSpPr>
            <p:nvPr/>
          </p:nvSpPr>
          <p:spPr bwMode="auto">
            <a:xfrm flipH="1" flipV="1">
              <a:off x="5038304" y="4640530"/>
              <a:ext cx="519112" cy="1223962"/>
            </a:xfrm>
            <a:custGeom>
              <a:avLst/>
              <a:gdLst/>
              <a:ahLst/>
              <a:cxnLst>
                <a:cxn ang="0">
                  <a:pos x="327" y="0"/>
                </a:cxn>
                <a:cxn ang="0">
                  <a:pos x="93" y="203"/>
                </a:cxn>
                <a:cxn ang="0">
                  <a:pos x="4" y="414"/>
                </a:cxn>
                <a:cxn ang="0">
                  <a:pos x="69" y="601"/>
                </a:cxn>
                <a:cxn ang="0">
                  <a:pos x="288" y="771"/>
                </a:cxn>
              </a:cxnLst>
              <a:rect l="0" t="0" r="r" b="b"/>
              <a:pathLst>
                <a:path w="327" h="771">
                  <a:moveTo>
                    <a:pt x="327" y="0"/>
                  </a:moveTo>
                  <a:cubicBezTo>
                    <a:pt x="288" y="32"/>
                    <a:pt x="147" y="134"/>
                    <a:pt x="93" y="203"/>
                  </a:cubicBezTo>
                  <a:cubicBezTo>
                    <a:pt x="36" y="253"/>
                    <a:pt x="8" y="348"/>
                    <a:pt x="4" y="414"/>
                  </a:cubicBezTo>
                  <a:cubicBezTo>
                    <a:pt x="0" y="480"/>
                    <a:pt x="22" y="542"/>
                    <a:pt x="69" y="601"/>
                  </a:cubicBezTo>
                  <a:cubicBezTo>
                    <a:pt x="116" y="660"/>
                    <a:pt x="243" y="736"/>
                    <a:pt x="288" y="771"/>
                  </a:cubicBezTo>
                </a:path>
              </a:pathLst>
            </a:custGeom>
            <a:noFill/>
            <a:ln w="57150" cap="sq" cmpd="sng">
              <a:solidFill>
                <a:schemeClr val="tx1"/>
              </a:solidFill>
              <a:round/>
              <a:headEnd/>
              <a:tailEnd type="triangle" w="med" len="med"/>
            </a:ln>
            <a:effectLst/>
          </p:spPr>
          <p:txBody>
            <a:bodyPr wrap="none" lIns="0" tIns="0" rIns="0" bIns="0" anchor="ctr"/>
            <a:lstStyle/>
            <a:p>
              <a:pPr>
                <a:defRPr/>
              </a:pPr>
              <a:endParaRPr lang="zh-CN" altLang="en-US"/>
            </a:p>
          </p:txBody>
        </p:sp>
        <p:sp>
          <p:nvSpPr>
            <p:cNvPr id="1170451" name="Rectangle 19"/>
            <p:cNvSpPr>
              <a:spLocks noChangeArrowheads="1"/>
            </p:cNvSpPr>
            <p:nvPr/>
          </p:nvSpPr>
          <p:spPr bwMode="auto">
            <a:xfrm>
              <a:off x="2661817" y="4821505"/>
              <a:ext cx="360363" cy="793750"/>
            </a:xfrm>
            <a:prstGeom prst="rect">
              <a:avLst/>
            </a:prstGeom>
            <a:noFill/>
            <a:ln w="12700" cap="sq">
              <a:noFill/>
              <a:miter lim="800000"/>
              <a:headEnd/>
              <a:tailEnd/>
            </a:ln>
            <a:effectLst/>
          </p:spPr>
          <p:txBody>
            <a:bodyPr lIns="0" tIns="0" rIns="0" bIns="0">
              <a:spAutoFit/>
            </a:bodyPr>
            <a:lstStyle/>
            <a:p>
              <a:pPr algn="ctr">
                <a:spcAft>
                  <a:spcPct val="0"/>
                </a:spcAft>
                <a:buSzTx/>
                <a:buFontTx/>
                <a:buNone/>
                <a:defRPr/>
              </a:pPr>
              <a:r>
                <a:rPr lang="zh-CN" altLang="en-US" sz="2600" b="1">
                  <a:effectLst>
                    <a:outerShdw blurRad="38100" dist="38100" dir="2700000" algn="tl">
                      <a:srgbClr val="000000"/>
                    </a:outerShdw>
                  </a:effectLst>
                </a:rPr>
                <a:t>备份</a:t>
              </a:r>
            </a:p>
          </p:txBody>
        </p:sp>
        <p:sp>
          <p:nvSpPr>
            <p:cNvPr id="1170452" name="Rectangle 20"/>
            <p:cNvSpPr>
              <a:spLocks noChangeArrowheads="1"/>
            </p:cNvSpPr>
            <p:nvPr/>
          </p:nvSpPr>
          <p:spPr bwMode="auto">
            <a:xfrm>
              <a:off x="5614567" y="4821505"/>
              <a:ext cx="360363" cy="793750"/>
            </a:xfrm>
            <a:prstGeom prst="rect">
              <a:avLst/>
            </a:prstGeom>
            <a:noFill/>
            <a:ln w="12700" cap="sq">
              <a:noFill/>
              <a:miter lim="800000"/>
              <a:headEnd/>
              <a:tailEnd/>
            </a:ln>
            <a:effectLst/>
          </p:spPr>
          <p:txBody>
            <a:bodyPr lIns="0" tIns="0" rIns="0" bIns="0">
              <a:spAutoFit/>
            </a:bodyPr>
            <a:lstStyle/>
            <a:p>
              <a:pPr algn="ctr">
                <a:spcAft>
                  <a:spcPct val="0"/>
                </a:spcAft>
                <a:buSzTx/>
                <a:buFontTx/>
                <a:buNone/>
                <a:defRPr/>
              </a:pPr>
              <a:r>
                <a:rPr lang="zh-CN" altLang="en-US" sz="2600" b="1">
                  <a:effectLst>
                    <a:outerShdw blurRad="38100" dist="38100" dir="2700000" algn="tl">
                      <a:srgbClr val="000000"/>
                    </a:outerShdw>
                  </a:effectLst>
                </a:rPr>
                <a:t>恢复</a:t>
              </a:r>
            </a:p>
          </p:txBody>
        </p:sp>
        <p:sp>
          <p:nvSpPr>
            <p:cNvPr id="1170453" name="Freeform 21"/>
            <p:cNvSpPr>
              <a:spLocks/>
            </p:cNvSpPr>
            <p:nvPr/>
          </p:nvSpPr>
          <p:spPr bwMode="auto">
            <a:xfrm>
              <a:off x="6130504" y="5720030"/>
              <a:ext cx="1803400" cy="703262"/>
            </a:xfrm>
            <a:custGeom>
              <a:avLst/>
              <a:gdLst/>
              <a:ahLst/>
              <a:cxnLst>
                <a:cxn ang="0">
                  <a:pos x="1136" y="0"/>
                </a:cxn>
                <a:cxn ang="0">
                  <a:pos x="812" y="389"/>
                </a:cxn>
                <a:cxn ang="0">
                  <a:pos x="325" y="324"/>
                </a:cxn>
                <a:cxn ang="0">
                  <a:pos x="0" y="0"/>
                </a:cxn>
              </a:cxnLst>
              <a:rect l="0" t="0" r="r" b="b"/>
              <a:pathLst>
                <a:path w="1136" h="443">
                  <a:moveTo>
                    <a:pt x="1136" y="0"/>
                  </a:moveTo>
                  <a:cubicBezTo>
                    <a:pt x="1085" y="65"/>
                    <a:pt x="947" y="335"/>
                    <a:pt x="812" y="389"/>
                  </a:cubicBezTo>
                  <a:cubicBezTo>
                    <a:pt x="677" y="443"/>
                    <a:pt x="460" y="389"/>
                    <a:pt x="325" y="324"/>
                  </a:cubicBezTo>
                  <a:cubicBezTo>
                    <a:pt x="190" y="259"/>
                    <a:pt x="68" y="67"/>
                    <a:pt x="0" y="0"/>
                  </a:cubicBezTo>
                </a:path>
              </a:pathLst>
            </a:custGeom>
            <a:noFill/>
            <a:ln w="57150" cap="flat" cmpd="sng">
              <a:solidFill>
                <a:schemeClr val="tx1"/>
              </a:solidFill>
              <a:prstDash val="sysDot"/>
              <a:round/>
              <a:headEnd/>
              <a:tailEnd type="triangle" w="med" len="med"/>
            </a:ln>
            <a:effectLst/>
          </p:spPr>
          <p:txBody>
            <a:bodyPr wrap="none" lIns="0" tIns="0" rIns="0" bIns="0" anchor="ctr"/>
            <a:lstStyle/>
            <a:p>
              <a:pPr>
                <a:defRPr/>
              </a:pPr>
              <a:endParaRPr lang="zh-CN" altLang="en-US"/>
            </a:p>
          </p:txBody>
        </p:sp>
        <p:sp>
          <p:nvSpPr>
            <p:cNvPr id="1170454" name="Freeform 22"/>
            <p:cNvSpPr>
              <a:spLocks/>
            </p:cNvSpPr>
            <p:nvPr/>
          </p:nvSpPr>
          <p:spPr bwMode="auto">
            <a:xfrm>
              <a:off x="4908130" y="3126055"/>
              <a:ext cx="2574925" cy="417512"/>
            </a:xfrm>
            <a:custGeom>
              <a:avLst/>
              <a:gdLst/>
              <a:ahLst/>
              <a:cxnLst>
                <a:cxn ang="0">
                  <a:pos x="1622" y="238"/>
                </a:cxn>
                <a:cxn ang="0">
                  <a:pos x="1249" y="52"/>
                </a:cxn>
                <a:cxn ang="0">
                  <a:pos x="438" y="35"/>
                </a:cxn>
                <a:cxn ang="0">
                  <a:pos x="0" y="263"/>
                </a:cxn>
              </a:cxnLst>
              <a:rect l="0" t="0" r="r" b="b"/>
              <a:pathLst>
                <a:path w="1622" h="263">
                  <a:moveTo>
                    <a:pt x="1622" y="238"/>
                  </a:moveTo>
                  <a:cubicBezTo>
                    <a:pt x="1560" y="207"/>
                    <a:pt x="1446" y="86"/>
                    <a:pt x="1249" y="52"/>
                  </a:cubicBezTo>
                  <a:cubicBezTo>
                    <a:pt x="1052" y="18"/>
                    <a:pt x="646" y="0"/>
                    <a:pt x="438" y="35"/>
                  </a:cubicBezTo>
                  <a:cubicBezTo>
                    <a:pt x="230" y="70"/>
                    <a:pt x="91" y="216"/>
                    <a:pt x="0" y="263"/>
                  </a:cubicBezTo>
                </a:path>
              </a:pathLst>
            </a:custGeom>
            <a:noFill/>
            <a:ln w="57150" cap="flat" cmpd="sng">
              <a:solidFill>
                <a:schemeClr val="tx1"/>
              </a:solidFill>
              <a:prstDash val="sysDot"/>
              <a:round/>
              <a:headEnd/>
              <a:tailEnd type="triangle" w="med" len="med"/>
            </a:ln>
            <a:effectLst/>
          </p:spPr>
          <p:txBody>
            <a:bodyPr wrap="none" lIns="0" tIns="0" rIns="0" bIns="0" anchor="ctr"/>
            <a:lstStyle/>
            <a:p>
              <a:pPr>
                <a:defRPr/>
              </a:pPr>
              <a:endParaRPr lang="zh-CN" altLang="en-US"/>
            </a:p>
          </p:txBody>
        </p:sp>
        <p:sp>
          <p:nvSpPr>
            <p:cNvPr id="1170455" name="Rectangle 23"/>
            <p:cNvSpPr>
              <a:spLocks noChangeArrowheads="1"/>
            </p:cNvSpPr>
            <p:nvPr/>
          </p:nvSpPr>
          <p:spPr bwMode="auto">
            <a:xfrm>
              <a:off x="5384380" y="2660918"/>
              <a:ext cx="1658937" cy="396875"/>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600" b="1">
                  <a:effectLst>
                    <a:outerShdw blurRad="38100" dist="38100" dir="2700000" algn="tl">
                      <a:srgbClr val="000000"/>
                    </a:outerShdw>
                  </a:effectLst>
                </a:rPr>
                <a:t>再回到从前</a:t>
              </a:r>
              <a:endParaRPr lang="en-US" altLang="zh-CN" sz="2600" b="1">
                <a:effectLst>
                  <a:outerShdw blurRad="38100" dist="38100" dir="2700000" algn="tl">
                    <a:srgbClr val="000000"/>
                  </a:outerShdw>
                </a:effectLst>
              </a:endParaRPr>
            </a:p>
          </p:txBody>
        </p:sp>
        <p:pic>
          <p:nvPicPr>
            <p:cNvPr id="35861" name="Picture 24" descr="324490258">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76766" y="5254892"/>
              <a:ext cx="4318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title"/>
          </p:nvPr>
        </p:nvSpPr>
        <p:spPr>
          <a:xfrm>
            <a:off x="1055440" y="78310"/>
            <a:ext cx="271021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kumimoji="1" lang="zh-CN" altLang="zh-CN" sz="4000" b="1" kern="1200" dirty="0">
                <a:solidFill>
                  <a:srgbClr val="FFFFCC"/>
                </a:solidFill>
                <a:effectLst>
                  <a:outerShdw blurRad="38100" dist="38100" dir="2700000" algn="tl">
                    <a:srgbClr val="000000"/>
                  </a:outerShdw>
                </a:effectLst>
                <a:latin typeface="Arial" pitchFamily="34" charset="0"/>
              </a:rPr>
              <a:t>恢复</a:t>
            </a:r>
            <a:r>
              <a:rPr kumimoji="1" lang="zh-CN" altLang="en-US" sz="4000" b="1" kern="1200" dirty="0">
                <a:solidFill>
                  <a:srgbClr val="FFFFCC"/>
                </a:solidFill>
                <a:effectLst>
                  <a:outerShdw blurRad="38100" dist="38100" dir="2700000" algn="tl">
                    <a:srgbClr val="000000"/>
                  </a:outerShdw>
                </a:effectLst>
                <a:latin typeface="Arial" pitchFamily="34" charset="0"/>
              </a:rPr>
              <a:t>的原理</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71460" name="Rectangle 4"/>
          <p:cNvSpPr>
            <a:spLocks noGrp="1" noChangeArrowheads="1"/>
          </p:cNvSpPr>
          <p:nvPr>
            <p:ph idx="1"/>
          </p:nvPr>
        </p:nvSpPr>
        <p:spPr>
          <a:xfrm>
            <a:off x="684212" y="1011348"/>
            <a:ext cx="10740378" cy="2463800"/>
          </a:xfrm>
        </p:spPr>
        <p:txBody>
          <a:bodyPr/>
          <a:lstStyle/>
          <a:p>
            <a:pPr eaLnBrk="1" hangingPunct="1">
              <a:spcBef>
                <a:spcPts val="0"/>
              </a:spcBef>
              <a:spcAft>
                <a:spcPts val="1800"/>
              </a:spcAft>
              <a:buClrTx/>
              <a:buSzPct val="80000"/>
              <a:buFontTx/>
              <a:buChar char="•"/>
              <a:defRPr/>
            </a:pPr>
            <a:r>
              <a:rPr kumimoji="1" lang="zh-CN" altLang="en-US" dirty="0">
                <a:latin typeface="楷体_GB2312" pitchFamily="49" charset="-122"/>
              </a:rPr>
              <a:t>利用数据冗余技术将系统恢复到故障前的正常状态。</a:t>
            </a:r>
          </a:p>
          <a:p>
            <a:pPr eaLnBrk="1" hangingPunct="1">
              <a:spcBef>
                <a:spcPts val="0"/>
              </a:spcBef>
              <a:spcAft>
                <a:spcPts val="1800"/>
              </a:spcAft>
              <a:buClrTx/>
              <a:buSzPct val="80000"/>
              <a:buFontTx/>
              <a:buChar char="•"/>
              <a:defRPr/>
            </a:pPr>
            <a:r>
              <a:rPr kumimoji="1" lang="zh-CN" altLang="en-US" dirty="0">
                <a:latin typeface="楷体_GB2312" pitchFamily="49" charset="-122"/>
              </a:rPr>
              <a:t>恢复是否行之有效是衡量系统性能优劣的重要指标。</a:t>
            </a:r>
          </a:p>
        </p:txBody>
      </p:sp>
      <p:sp>
        <p:nvSpPr>
          <p:cNvPr id="1171496" name="AutoShape 40"/>
          <p:cNvSpPr>
            <a:spLocks noChangeArrowheads="1"/>
          </p:cNvSpPr>
          <p:nvPr/>
        </p:nvSpPr>
        <p:spPr bwMode="auto">
          <a:xfrm>
            <a:off x="4800600" y="2708275"/>
            <a:ext cx="1066800" cy="1079500"/>
          </a:xfrm>
          <a:prstGeom prst="can">
            <a:avLst>
              <a:gd name="adj" fmla="val 23967"/>
            </a:avLst>
          </a:prstGeom>
          <a:gradFill rotWithShape="1">
            <a:gsLst>
              <a:gs pos="0">
                <a:srgbClr val="008000">
                  <a:gamma/>
                  <a:shade val="0"/>
                  <a:invGamma/>
                </a:srgbClr>
              </a:gs>
              <a:gs pos="50000">
                <a:srgbClr val="008000"/>
              </a:gs>
              <a:gs pos="100000">
                <a:srgbClr val="008000">
                  <a:gamma/>
                  <a:shade val="0"/>
                  <a:invGamma/>
                </a:srgbClr>
              </a:gs>
            </a:gsLst>
            <a:lin ang="18900000" scaled="1"/>
          </a:gradFill>
          <a:ln w="28575" cap="sq">
            <a:solidFill>
              <a:srgbClr val="CCFF66"/>
            </a:solidFill>
            <a:round/>
            <a:headEnd/>
            <a:tailEnd/>
          </a:ln>
          <a:effectLst>
            <a:outerShdw dist="107763" dir="2700000" algn="ctr" rotWithShape="0">
              <a:schemeClr val="bg2">
                <a:alpha val="50000"/>
              </a:schemeClr>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备份点</a:t>
            </a:r>
          </a:p>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数据库</a:t>
            </a:r>
          </a:p>
        </p:txBody>
      </p:sp>
      <p:sp>
        <p:nvSpPr>
          <p:cNvPr id="1171497" name="AutoShape 41"/>
          <p:cNvSpPr>
            <a:spLocks noChangeArrowheads="1"/>
          </p:cNvSpPr>
          <p:nvPr/>
        </p:nvSpPr>
        <p:spPr bwMode="auto">
          <a:xfrm>
            <a:off x="7462838" y="2708275"/>
            <a:ext cx="1066800" cy="1219200"/>
          </a:xfrm>
          <a:prstGeom prst="can">
            <a:avLst>
              <a:gd name="adj" fmla="val 27069"/>
            </a:avLst>
          </a:prstGeom>
          <a:gradFill rotWithShape="1">
            <a:gsLst>
              <a:gs pos="0">
                <a:srgbClr val="660066">
                  <a:gamma/>
                  <a:shade val="0"/>
                  <a:invGamma/>
                </a:srgbClr>
              </a:gs>
              <a:gs pos="50000">
                <a:srgbClr val="660066"/>
              </a:gs>
              <a:gs pos="100000">
                <a:srgbClr val="660066">
                  <a:gamma/>
                  <a:shade val="0"/>
                  <a:invGamma/>
                </a:srgbClr>
              </a:gs>
            </a:gsLst>
            <a:lin ang="18900000" scaled="1"/>
          </a:gradFill>
          <a:ln w="28575" cap="sq">
            <a:solidFill>
              <a:srgbClr val="CCFF66"/>
            </a:solidFill>
            <a:round/>
            <a:headEnd/>
            <a:tailEnd/>
          </a:ln>
          <a:effectLst>
            <a:outerShdw dist="107763" dir="2700000" algn="ctr" rotWithShape="0">
              <a:schemeClr val="bg2">
                <a:alpha val="50000"/>
              </a:schemeClr>
            </a:outerShdw>
          </a:effectLst>
        </p:spPr>
        <p:txBody>
          <a:bodyPr wrap="none" lIns="0" tIns="0" rIns="0" bIns="0" anchor="ctr"/>
          <a:lstStyle/>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故障点</a:t>
            </a:r>
          </a:p>
          <a:p>
            <a:pPr algn="ctr">
              <a:spcAft>
                <a:spcPct val="0"/>
              </a:spcAft>
              <a:buSzTx/>
              <a:buFontTx/>
              <a:buNone/>
              <a:defRPr/>
            </a:pPr>
            <a:r>
              <a:rPr lang="zh-CN" altLang="en-US" sz="2400">
                <a:effectLst>
                  <a:outerShdw blurRad="38100" dist="38100" dir="2700000" algn="tl">
                    <a:srgbClr val="000000"/>
                  </a:outerShdw>
                </a:effectLst>
                <a:latin typeface="Times New Roman" pitchFamily="18" charset="0"/>
              </a:rPr>
              <a:t>数据库</a:t>
            </a:r>
          </a:p>
        </p:txBody>
      </p:sp>
      <p:sp>
        <p:nvSpPr>
          <p:cNvPr id="1171498" name="Line 42"/>
          <p:cNvSpPr>
            <a:spLocks noChangeShapeType="1"/>
          </p:cNvSpPr>
          <p:nvPr/>
        </p:nvSpPr>
        <p:spPr bwMode="auto">
          <a:xfrm>
            <a:off x="5915025" y="4271963"/>
            <a:ext cx="0" cy="1981200"/>
          </a:xfrm>
          <a:prstGeom prst="line">
            <a:avLst/>
          </a:prstGeom>
          <a:noFill/>
          <a:ln w="12700">
            <a:solidFill>
              <a:srgbClr val="00CC99"/>
            </a:solidFill>
            <a:prstDash val="lgDashDot"/>
            <a:round/>
            <a:headEnd/>
            <a:tailEnd/>
          </a:ln>
          <a:effectLst/>
        </p:spPr>
        <p:txBody>
          <a:bodyPr wrap="none" lIns="0" tIns="0" rIns="0" bIns="0" anchor="ctr"/>
          <a:lstStyle/>
          <a:p>
            <a:pPr>
              <a:defRPr/>
            </a:pPr>
            <a:endParaRPr lang="zh-CN" altLang="en-US"/>
          </a:p>
        </p:txBody>
      </p:sp>
      <p:sp>
        <p:nvSpPr>
          <p:cNvPr id="1171499" name="Line 43"/>
          <p:cNvSpPr>
            <a:spLocks noChangeShapeType="1"/>
          </p:cNvSpPr>
          <p:nvPr/>
        </p:nvSpPr>
        <p:spPr bwMode="auto">
          <a:xfrm>
            <a:off x="4314825" y="4271963"/>
            <a:ext cx="0" cy="1981200"/>
          </a:xfrm>
          <a:prstGeom prst="line">
            <a:avLst/>
          </a:prstGeom>
          <a:noFill/>
          <a:ln w="12700">
            <a:solidFill>
              <a:srgbClr val="00CC99"/>
            </a:solidFill>
            <a:prstDash val="lgDashDot"/>
            <a:round/>
            <a:headEnd/>
            <a:tailEnd/>
          </a:ln>
          <a:effectLst/>
        </p:spPr>
        <p:txBody>
          <a:bodyPr wrap="none" lIns="0" tIns="0" rIns="0" bIns="0" anchor="ctr"/>
          <a:lstStyle/>
          <a:p>
            <a:pPr>
              <a:defRPr/>
            </a:pPr>
            <a:endParaRPr lang="zh-CN" altLang="en-US"/>
          </a:p>
        </p:txBody>
      </p:sp>
      <p:grpSp>
        <p:nvGrpSpPr>
          <p:cNvPr id="37897" name="Group 44"/>
          <p:cNvGrpSpPr>
            <a:grpSpLocks/>
          </p:cNvGrpSpPr>
          <p:nvPr/>
        </p:nvGrpSpPr>
        <p:grpSpPr bwMode="auto">
          <a:xfrm>
            <a:off x="2638425" y="4652963"/>
            <a:ext cx="1676400" cy="76200"/>
            <a:chOff x="384" y="2784"/>
            <a:chExt cx="1296" cy="48"/>
          </a:xfrm>
        </p:grpSpPr>
        <p:sp>
          <p:nvSpPr>
            <p:cNvPr id="1171501" name="Line 45"/>
            <p:cNvSpPr>
              <a:spLocks noChangeShapeType="1"/>
            </p:cNvSpPr>
            <p:nvPr/>
          </p:nvSpPr>
          <p:spPr bwMode="auto">
            <a:xfrm>
              <a:off x="384" y="2832"/>
              <a:ext cx="1296" cy="0"/>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02" name="Line 46"/>
            <p:cNvSpPr>
              <a:spLocks noChangeShapeType="1"/>
            </p:cNvSpPr>
            <p:nvPr/>
          </p:nvSpPr>
          <p:spPr bwMode="auto">
            <a:xfrm flipV="1">
              <a:off x="384" y="2784"/>
              <a:ext cx="0" cy="48"/>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03" name="Line 47"/>
            <p:cNvSpPr>
              <a:spLocks noChangeShapeType="1"/>
            </p:cNvSpPr>
            <p:nvPr/>
          </p:nvSpPr>
          <p:spPr bwMode="auto">
            <a:xfrm flipV="1">
              <a:off x="1680" y="2784"/>
              <a:ext cx="0" cy="48"/>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grpSp>
      <p:sp>
        <p:nvSpPr>
          <p:cNvPr id="1171504" name="Line 48"/>
          <p:cNvSpPr>
            <a:spLocks noChangeShapeType="1"/>
          </p:cNvSpPr>
          <p:nvPr/>
        </p:nvSpPr>
        <p:spPr bwMode="auto">
          <a:xfrm>
            <a:off x="4295775" y="4729163"/>
            <a:ext cx="1619250" cy="0"/>
          </a:xfrm>
          <a:prstGeom prst="line">
            <a:avLst/>
          </a:prstGeom>
          <a:noFill/>
          <a:ln w="19050">
            <a:solidFill>
              <a:schemeClr val="tx1"/>
            </a:solidFill>
            <a:prstDash val="lgDash"/>
            <a:round/>
            <a:headEnd/>
            <a:tailEnd/>
          </a:ln>
          <a:effectLst/>
        </p:spPr>
        <p:txBody>
          <a:bodyPr wrap="none" lIns="0" tIns="0" rIns="0" bIns="0" anchor="ctr"/>
          <a:lstStyle/>
          <a:p>
            <a:pPr>
              <a:defRPr/>
            </a:pPr>
            <a:endParaRPr lang="zh-CN" altLang="en-US"/>
          </a:p>
        </p:txBody>
      </p:sp>
      <p:sp>
        <p:nvSpPr>
          <p:cNvPr id="1171505" name="Line 49"/>
          <p:cNvSpPr>
            <a:spLocks noChangeShapeType="1"/>
          </p:cNvSpPr>
          <p:nvPr/>
        </p:nvSpPr>
        <p:spPr bwMode="auto">
          <a:xfrm flipV="1">
            <a:off x="7991475" y="4652963"/>
            <a:ext cx="0" cy="76200"/>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06" name="Rectangle 50"/>
          <p:cNvSpPr>
            <a:spLocks noChangeArrowheads="1"/>
          </p:cNvSpPr>
          <p:nvPr/>
        </p:nvSpPr>
        <p:spPr bwMode="auto">
          <a:xfrm>
            <a:off x="2890143" y="4249738"/>
            <a:ext cx="1128514" cy="338554"/>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66FF99"/>
                </a:solidFill>
                <a:effectLst>
                  <a:outerShdw blurRad="38100" dist="38100" dir="2700000" algn="tl">
                    <a:srgbClr val="000000"/>
                  </a:outerShdw>
                </a:effectLst>
              </a:rPr>
              <a:t>运行事务</a:t>
            </a:r>
          </a:p>
        </p:txBody>
      </p:sp>
      <p:sp>
        <p:nvSpPr>
          <p:cNvPr id="1171507" name="Rectangle 51"/>
          <p:cNvSpPr>
            <a:spLocks noChangeArrowheads="1"/>
          </p:cNvSpPr>
          <p:nvPr/>
        </p:nvSpPr>
        <p:spPr bwMode="auto">
          <a:xfrm>
            <a:off x="7589714" y="4005263"/>
            <a:ext cx="846386" cy="338554"/>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FFFF00"/>
                </a:solidFill>
                <a:effectLst>
                  <a:outerShdw blurRad="38100" dist="38100" dir="2700000" algn="tl">
                    <a:srgbClr val="000000"/>
                  </a:outerShdw>
                </a:effectLst>
              </a:rPr>
              <a:t>故障点</a:t>
            </a:r>
          </a:p>
        </p:txBody>
      </p:sp>
      <p:sp>
        <p:nvSpPr>
          <p:cNvPr id="1171508" name="Line 52"/>
          <p:cNvSpPr>
            <a:spLocks noChangeShapeType="1"/>
          </p:cNvSpPr>
          <p:nvPr/>
        </p:nvSpPr>
        <p:spPr bwMode="auto">
          <a:xfrm flipV="1">
            <a:off x="4314825" y="5795963"/>
            <a:ext cx="0" cy="7620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71509" name="Line 53"/>
          <p:cNvSpPr>
            <a:spLocks noChangeShapeType="1"/>
          </p:cNvSpPr>
          <p:nvPr/>
        </p:nvSpPr>
        <p:spPr bwMode="auto">
          <a:xfrm>
            <a:off x="7972425" y="4729163"/>
            <a:ext cx="2057400" cy="0"/>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10" name="Line 54"/>
          <p:cNvSpPr>
            <a:spLocks noChangeShapeType="1"/>
          </p:cNvSpPr>
          <p:nvPr/>
        </p:nvSpPr>
        <p:spPr bwMode="auto">
          <a:xfrm flipV="1">
            <a:off x="10029825" y="4652963"/>
            <a:ext cx="0" cy="76200"/>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11" name="Rectangle 55"/>
          <p:cNvSpPr>
            <a:spLocks noChangeArrowheads="1"/>
          </p:cNvSpPr>
          <p:nvPr/>
        </p:nvSpPr>
        <p:spPr bwMode="auto">
          <a:xfrm>
            <a:off x="1967360" y="4878388"/>
            <a:ext cx="564257" cy="338554"/>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CCFF66"/>
                </a:solidFill>
                <a:effectLst>
                  <a:outerShdw blurRad="38100" dist="38100" dir="2700000" algn="tl">
                    <a:srgbClr val="000000"/>
                  </a:outerShdw>
                </a:effectLst>
              </a:rPr>
              <a:t>日志</a:t>
            </a:r>
          </a:p>
        </p:txBody>
      </p:sp>
      <p:sp>
        <p:nvSpPr>
          <p:cNvPr id="1171512" name="Rectangle 56"/>
          <p:cNvSpPr>
            <a:spLocks noChangeArrowheads="1"/>
          </p:cNvSpPr>
          <p:nvPr/>
        </p:nvSpPr>
        <p:spPr bwMode="auto">
          <a:xfrm>
            <a:off x="4843910" y="4249738"/>
            <a:ext cx="564257" cy="338554"/>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66FF99"/>
                </a:solidFill>
                <a:effectLst>
                  <a:outerShdw blurRad="38100" dist="38100" dir="2700000" algn="tl">
                    <a:srgbClr val="000000"/>
                  </a:outerShdw>
                </a:effectLst>
              </a:rPr>
              <a:t>备份</a:t>
            </a:r>
          </a:p>
        </p:txBody>
      </p:sp>
      <p:sp>
        <p:nvSpPr>
          <p:cNvPr id="1171513" name="Line 57"/>
          <p:cNvSpPr>
            <a:spLocks noChangeShapeType="1"/>
          </p:cNvSpPr>
          <p:nvPr/>
        </p:nvSpPr>
        <p:spPr bwMode="auto">
          <a:xfrm>
            <a:off x="5915025" y="4729163"/>
            <a:ext cx="2057400" cy="0"/>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14" name="Line 58"/>
          <p:cNvSpPr>
            <a:spLocks noChangeShapeType="1"/>
          </p:cNvSpPr>
          <p:nvPr/>
        </p:nvSpPr>
        <p:spPr bwMode="auto">
          <a:xfrm flipV="1">
            <a:off x="5915025" y="4652963"/>
            <a:ext cx="0" cy="76200"/>
          </a:xfrm>
          <a:prstGeom prst="line">
            <a:avLst/>
          </a:prstGeom>
          <a:noFill/>
          <a:ln w="19050" cap="sq">
            <a:solidFill>
              <a:schemeClr val="tx1"/>
            </a:solidFill>
            <a:round/>
            <a:headEnd/>
            <a:tailEnd/>
          </a:ln>
          <a:effectLst/>
        </p:spPr>
        <p:txBody>
          <a:bodyPr wrap="none" lIns="0" tIns="0" rIns="0" bIns="0" anchor="ctr"/>
          <a:lstStyle/>
          <a:p>
            <a:pPr>
              <a:defRPr/>
            </a:pPr>
            <a:endParaRPr lang="zh-CN" altLang="en-US"/>
          </a:p>
        </p:txBody>
      </p:sp>
      <p:sp>
        <p:nvSpPr>
          <p:cNvPr id="1171515" name="Rectangle 59"/>
          <p:cNvSpPr>
            <a:spLocks noChangeArrowheads="1"/>
          </p:cNvSpPr>
          <p:nvPr/>
        </p:nvSpPr>
        <p:spPr bwMode="auto">
          <a:xfrm>
            <a:off x="6285806" y="4249738"/>
            <a:ext cx="1128514" cy="338554"/>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66FF99"/>
                </a:solidFill>
                <a:effectLst>
                  <a:outerShdw blurRad="38100" dist="38100" dir="2700000" algn="tl">
                    <a:srgbClr val="000000"/>
                  </a:outerShdw>
                </a:effectLst>
              </a:rPr>
              <a:t>运行事务</a:t>
            </a:r>
          </a:p>
        </p:txBody>
      </p:sp>
      <p:sp>
        <p:nvSpPr>
          <p:cNvPr id="1171516" name="Line 60"/>
          <p:cNvSpPr>
            <a:spLocks noChangeShapeType="1"/>
          </p:cNvSpPr>
          <p:nvPr/>
        </p:nvSpPr>
        <p:spPr bwMode="auto">
          <a:xfrm>
            <a:off x="7991475" y="4365625"/>
            <a:ext cx="0" cy="173038"/>
          </a:xfrm>
          <a:prstGeom prst="line">
            <a:avLst/>
          </a:prstGeom>
          <a:noFill/>
          <a:ln w="38100" cap="sq">
            <a:solidFill>
              <a:srgbClr val="FFFF00"/>
            </a:solidFill>
            <a:round/>
            <a:headEnd/>
            <a:tailEnd type="triangle" w="med" len="med"/>
          </a:ln>
          <a:effectLst/>
        </p:spPr>
        <p:txBody>
          <a:bodyPr wrap="none" lIns="0" tIns="0" rIns="0" bIns="0" anchor="ctr"/>
          <a:lstStyle/>
          <a:p>
            <a:pPr>
              <a:defRPr/>
            </a:pPr>
            <a:endParaRPr lang="zh-CN" altLang="en-US"/>
          </a:p>
        </p:txBody>
      </p:sp>
      <p:sp>
        <p:nvSpPr>
          <p:cNvPr id="1171517" name="Line 61"/>
          <p:cNvSpPr>
            <a:spLocks noChangeShapeType="1"/>
          </p:cNvSpPr>
          <p:nvPr/>
        </p:nvSpPr>
        <p:spPr bwMode="auto">
          <a:xfrm>
            <a:off x="2638425" y="5033963"/>
            <a:ext cx="1676400" cy="0"/>
          </a:xfrm>
          <a:prstGeom prst="line">
            <a:avLst/>
          </a:prstGeom>
          <a:noFill/>
          <a:ln w="12700" cap="sq">
            <a:solidFill>
              <a:srgbClr val="CCFF66"/>
            </a:solidFill>
            <a:round/>
            <a:headEnd type="oval" w="lg" len="lg"/>
            <a:tailEnd type="triangle" w="med" len="med"/>
          </a:ln>
          <a:effectLst/>
        </p:spPr>
        <p:txBody>
          <a:bodyPr wrap="none" lIns="0" tIns="0" rIns="0" bIns="0" anchor="ctr"/>
          <a:lstStyle/>
          <a:p>
            <a:pPr>
              <a:defRPr/>
            </a:pPr>
            <a:endParaRPr lang="zh-CN" altLang="en-US"/>
          </a:p>
        </p:txBody>
      </p:sp>
      <p:sp>
        <p:nvSpPr>
          <p:cNvPr id="1171518" name="Line 62"/>
          <p:cNvSpPr>
            <a:spLocks noChangeShapeType="1"/>
          </p:cNvSpPr>
          <p:nvPr/>
        </p:nvSpPr>
        <p:spPr bwMode="auto">
          <a:xfrm>
            <a:off x="5934075" y="5033963"/>
            <a:ext cx="1949450" cy="0"/>
          </a:xfrm>
          <a:prstGeom prst="line">
            <a:avLst/>
          </a:prstGeom>
          <a:noFill/>
          <a:ln w="12700" cap="sq">
            <a:solidFill>
              <a:srgbClr val="CCFF66"/>
            </a:solidFill>
            <a:round/>
            <a:headEnd type="oval" w="lg" len="lg"/>
            <a:tailEnd type="triangle" w="med" len="med"/>
          </a:ln>
          <a:effectLst/>
        </p:spPr>
        <p:txBody>
          <a:bodyPr wrap="none" lIns="0" tIns="0" rIns="0" bIns="0" anchor="ctr"/>
          <a:lstStyle/>
          <a:p>
            <a:pPr>
              <a:defRPr/>
            </a:pPr>
            <a:endParaRPr lang="zh-CN" altLang="en-US"/>
          </a:p>
        </p:txBody>
      </p:sp>
      <p:sp>
        <p:nvSpPr>
          <p:cNvPr id="1171519" name="Line 63"/>
          <p:cNvSpPr>
            <a:spLocks noChangeShapeType="1"/>
          </p:cNvSpPr>
          <p:nvPr/>
        </p:nvSpPr>
        <p:spPr bwMode="auto">
          <a:xfrm>
            <a:off x="4333875" y="5872163"/>
            <a:ext cx="1619250" cy="0"/>
          </a:xfrm>
          <a:prstGeom prst="line">
            <a:avLst/>
          </a:prstGeom>
          <a:noFill/>
          <a:ln w="12700">
            <a:solidFill>
              <a:schemeClr val="tx1"/>
            </a:solidFill>
            <a:prstDash val="lgDash"/>
            <a:round/>
            <a:headEnd/>
            <a:tailEnd/>
          </a:ln>
          <a:effectLst/>
        </p:spPr>
        <p:txBody>
          <a:bodyPr wrap="none" lIns="0" tIns="0" rIns="0" bIns="0" anchor="ctr"/>
          <a:lstStyle/>
          <a:p>
            <a:pPr>
              <a:defRPr/>
            </a:pPr>
            <a:endParaRPr lang="zh-CN" altLang="en-US"/>
          </a:p>
        </p:txBody>
      </p:sp>
      <p:sp>
        <p:nvSpPr>
          <p:cNvPr id="1171520" name="Line 64"/>
          <p:cNvSpPr>
            <a:spLocks noChangeShapeType="1"/>
          </p:cNvSpPr>
          <p:nvPr/>
        </p:nvSpPr>
        <p:spPr bwMode="auto">
          <a:xfrm flipV="1">
            <a:off x="8029575" y="5795963"/>
            <a:ext cx="0" cy="7620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71521" name="Rectangle 65"/>
          <p:cNvSpPr>
            <a:spLocks noChangeArrowheads="1"/>
          </p:cNvSpPr>
          <p:nvPr/>
        </p:nvSpPr>
        <p:spPr bwMode="auto">
          <a:xfrm>
            <a:off x="4843910" y="5392738"/>
            <a:ext cx="564257" cy="338554"/>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66FF99"/>
                </a:solidFill>
                <a:effectLst>
                  <a:outerShdw blurRad="38100" dist="38100" dir="2700000" algn="tl">
                    <a:srgbClr val="000000"/>
                  </a:outerShdw>
                </a:effectLst>
              </a:rPr>
              <a:t>恢复</a:t>
            </a:r>
          </a:p>
        </p:txBody>
      </p:sp>
      <p:sp>
        <p:nvSpPr>
          <p:cNvPr id="1171522" name="Line 66"/>
          <p:cNvSpPr>
            <a:spLocks noChangeShapeType="1"/>
          </p:cNvSpPr>
          <p:nvPr/>
        </p:nvSpPr>
        <p:spPr bwMode="auto">
          <a:xfrm>
            <a:off x="5953125" y="5872163"/>
            <a:ext cx="2057400" cy="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71523" name="Line 67"/>
          <p:cNvSpPr>
            <a:spLocks noChangeShapeType="1"/>
          </p:cNvSpPr>
          <p:nvPr/>
        </p:nvSpPr>
        <p:spPr bwMode="auto">
          <a:xfrm flipV="1">
            <a:off x="5915025" y="5795963"/>
            <a:ext cx="0" cy="76200"/>
          </a:xfrm>
          <a:prstGeom prst="line">
            <a:avLst/>
          </a:prstGeom>
          <a:noFill/>
          <a:ln w="12700" cap="sq">
            <a:solidFill>
              <a:schemeClr val="tx1"/>
            </a:solidFill>
            <a:round/>
            <a:headEnd/>
            <a:tailEnd/>
          </a:ln>
          <a:effectLst/>
        </p:spPr>
        <p:txBody>
          <a:bodyPr wrap="none" lIns="0" tIns="0" rIns="0" bIns="0" anchor="ctr"/>
          <a:lstStyle/>
          <a:p>
            <a:pPr>
              <a:defRPr/>
            </a:pPr>
            <a:endParaRPr lang="zh-CN" altLang="en-US"/>
          </a:p>
        </p:txBody>
      </p:sp>
      <p:sp>
        <p:nvSpPr>
          <p:cNvPr id="1171524" name="Rectangle 68"/>
          <p:cNvSpPr>
            <a:spLocks noChangeArrowheads="1"/>
          </p:cNvSpPr>
          <p:nvPr/>
        </p:nvSpPr>
        <p:spPr bwMode="auto">
          <a:xfrm>
            <a:off x="6111628" y="5392738"/>
            <a:ext cx="1692771" cy="338554"/>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66FF99"/>
                </a:solidFill>
                <a:effectLst>
                  <a:outerShdw blurRad="38100" dist="38100" dir="2700000" algn="tl">
                    <a:srgbClr val="000000"/>
                  </a:outerShdw>
                </a:effectLst>
              </a:rPr>
              <a:t>重新运行事务</a:t>
            </a:r>
          </a:p>
        </p:txBody>
      </p:sp>
      <p:sp>
        <p:nvSpPr>
          <p:cNvPr id="1171525" name="Rectangle 69"/>
          <p:cNvSpPr>
            <a:spLocks noChangeArrowheads="1"/>
          </p:cNvSpPr>
          <p:nvPr/>
        </p:nvSpPr>
        <p:spPr bwMode="auto">
          <a:xfrm>
            <a:off x="8273803" y="4249738"/>
            <a:ext cx="1692771" cy="338554"/>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66FF99"/>
                </a:solidFill>
                <a:effectLst>
                  <a:outerShdw blurRad="38100" dist="38100" dir="2700000" algn="tl">
                    <a:srgbClr val="000000"/>
                  </a:outerShdw>
                </a:effectLst>
              </a:rPr>
              <a:t>继续运行事务</a:t>
            </a:r>
          </a:p>
        </p:txBody>
      </p:sp>
      <p:sp>
        <p:nvSpPr>
          <p:cNvPr id="1171526" name="Line 70"/>
          <p:cNvSpPr>
            <a:spLocks noChangeShapeType="1"/>
          </p:cNvSpPr>
          <p:nvPr/>
        </p:nvSpPr>
        <p:spPr bwMode="auto">
          <a:xfrm>
            <a:off x="7991475" y="5033963"/>
            <a:ext cx="2057400" cy="0"/>
          </a:xfrm>
          <a:prstGeom prst="line">
            <a:avLst/>
          </a:prstGeom>
          <a:noFill/>
          <a:ln w="12700" cap="sq">
            <a:solidFill>
              <a:srgbClr val="CCFF66"/>
            </a:solidFill>
            <a:round/>
            <a:headEnd type="oval" w="lg" len="lg"/>
            <a:tailEnd type="triangle" w="med" len="med"/>
          </a:ln>
          <a:effectLst/>
        </p:spPr>
        <p:txBody>
          <a:bodyPr wrap="none" lIns="0" tIns="0" rIns="0" bIns="0" anchor="ctr"/>
          <a:lstStyle/>
          <a:p>
            <a:pPr>
              <a:defRPr/>
            </a:pPr>
            <a:endParaRPr lang="zh-CN" altLang="en-US"/>
          </a:p>
        </p:txBody>
      </p:sp>
      <p:sp>
        <p:nvSpPr>
          <p:cNvPr id="1171527" name="Line 71"/>
          <p:cNvSpPr>
            <a:spLocks noChangeShapeType="1"/>
          </p:cNvSpPr>
          <p:nvPr/>
        </p:nvSpPr>
        <p:spPr bwMode="auto">
          <a:xfrm>
            <a:off x="4295775" y="3933826"/>
            <a:ext cx="0" cy="231775"/>
          </a:xfrm>
          <a:prstGeom prst="line">
            <a:avLst/>
          </a:prstGeom>
          <a:noFill/>
          <a:ln w="38100" cap="sq">
            <a:solidFill>
              <a:srgbClr val="FFFF00"/>
            </a:solidFill>
            <a:round/>
            <a:headEnd/>
            <a:tailEnd type="triangle" w="med" len="med"/>
          </a:ln>
          <a:effectLst/>
        </p:spPr>
        <p:txBody>
          <a:bodyPr wrap="none" lIns="0" tIns="0" rIns="0" bIns="0" anchor="ctr"/>
          <a:lstStyle/>
          <a:p>
            <a:pPr>
              <a:defRPr/>
            </a:pPr>
            <a:endParaRPr lang="zh-CN" altLang="en-US"/>
          </a:p>
        </p:txBody>
      </p:sp>
      <p:sp>
        <p:nvSpPr>
          <p:cNvPr id="1171528" name="Rectangle 72"/>
          <p:cNvSpPr>
            <a:spLocks noChangeArrowheads="1"/>
          </p:cNvSpPr>
          <p:nvPr/>
        </p:nvSpPr>
        <p:spPr bwMode="auto">
          <a:xfrm>
            <a:off x="3863851" y="3573463"/>
            <a:ext cx="846386" cy="338554"/>
          </a:xfrm>
          <a:prstGeom prst="rect">
            <a:avLst/>
          </a:prstGeom>
          <a:noFill/>
          <a:ln w="12700" cap="sq">
            <a:noFill/>
            <a:miter lim="800000"/>
            <a:headEnd/>
            <a:tailEnd/>
          </a:ln>
          <a:effectLst/>
        </p:spPr>
        <p:txBody>
          <a:bodyPr wrap="none" lIns="0" tIns="0" rIns="0" bIns="0">
            <a:spAutoFit/>
          </a:bodyPr>
          <a:lstStyle/>
          <a:p>
            <a:pPr algn="ctr">
              <a:spcAft>
                <a:spcPct val="0"/>
              </a:spcAft>
              <a:buSzTx/>
              <a:buFontTx/>
              <a:buNone/>
              <a:defRPr/>
            </a:pPr>
            <a:r>
              <a:rPr lang="zh-CN" altLang="en-US" sz="2200" b="1">
                <a:solidFill>
                  <a:srgbClr val="FFFF00"/>
                </a:solidFill>
                <a:effectLst>
                  <a:outerShdw blurRad="38100" dist="38100" dir="2700000" algn="tl">
                    <a:srgbClr val="000000"/>
                  </a:outerShdw>
                </a:effectLst>
              </a:rPr>
              <a:t>备份点</a:t>
            </a:r>
          </a:p>
        </p:txBody>
      </p:sp>
      <p:sp>
        <p:nvSpPr>
          <p:cNvPr id="37923" name="AutoShape 73"/>
          <p:cNvSpPr>
            <a:spLocks noChangeArrowheads="1"/>
          </p:cNvSpPr>
          <p:nvPr/>
        </p:nvSpPr>
        <p:spPr bwMode="auto">
          <a:xfrm>
            <a:off x="8759826" y="5373689"/>
            <a:ext cx="1368425" cy="935037"/>
          </a:xfrm>
          <a:prstGeom prst="wedgeRoundRectCallout">
            <a:avLst>
              <a:gd name="adj1" fmla="val -93852"/>
              <a:gd name="adj2" fmla="val -23852"/>
              <a:gd name="adj3" fmla="val 16667"/>
            </a:avLst>
          </a:prstGeom>
          <a:gradFill rotWithShape="1">
            <a:gsLst>
              <a:gs pos="0">
                <a:srgbClr val="B0A0F2"/>
              </a:gs>
              <a:gs pos="50000">
                <a:srgbClr val="ECE8FC"/>
              </a:gs>
              <a:gs pos="100000">
                <a:srgbClr val="B0A0F2"/>
              </a:gs>
            </a:gsLst>
            <a:lin ang="18900000" scaled="1"/>
          </a:gradFill>
          <a:ln w="28575" cap="sq" algn="ctr">
            <a:solidFill>
              <a:srgbClr val="FF0000"/>
            </a:solidFill>
            <a:miter lim="800000"/>
            <a:headEnd/>
            <a:tailEnd/>
          </a:ln>
          <a:effectLst>
            <a:outerShdw dist="53882" dir="2700000" algn="ctr" rotWithShape="0">
              <a:schemeClr val="bg2">
                <a:alpha val="50000"/>
              </a:schemeClr>
            </a:outerShdw>
          </a:effectLst>
        </p:spPr>
        <p:txBody>
          <a:bodyPr lIns="36000" tIns="36000" rIns="36000" bIns="36000" anchor="ctr" anchorCtr="1"/>
          <a:lstStyle/>
          <a:p>
            <a:pPr algn="ctr">
              <a:spcAft>
                <a:spcPct val="0"/>
              </a:spcAft>
              <a:buSzTx/>
              <a:buFontTx/>
              <a:buNone/>
            </a:pPr>
            <a:r>
              <a:rPr kumimoji="0" lang="zh-CN" altLang="en-US" sz="2400" b="1">
                <a:solidFill>
                  <a:srgbClr val="3333CC"/>
                </a:solidFill>
                <a:effectLst/>
              </a:rPr>
              <a:t>需要日志备份</a:t>
            </a:r>
          </a:p>
        </p:txBody>
      </p:sp>
      <p:sp>
        <p:nvSpPr>
          <p:cNvPr id="37924" name="AutoShape 74"/>
          <p:cNvSpPr>
            <a:spLocks noChangeArrowheads="1"/>
          </p:cNvSpPr>
          <p:nvPr/>
        </p:nvSpPr>
        <p:spPr bwMode="auto">
          <a:xfrm>
            <a:off x="1919288" y="5662614"/>
            <a:ext cx="1585912" cy="936625"/>
          </a:xfrm>
          <a:prstGeom prst="wedgeRoundRectCallout">
            <a:avLst>
              <a:gd name="adj1" fmla="val 118769"/>
              <a:gd name="adj2" fmla="val -52713"/>
              <a:gd name="adj3" fmla="val 16667"/>
            </a:avLst>
          </a:prstGeom>
          <a:gradFill rotWithShape="1">
            <a:gsLst>
              <a:gs pos="0">
                <a:srgbClr val="B0A0F2"/>
              </a:gs>
              <a:gs pos="50000">
                <a:srgbClr val="ECE8FC"/>
              </a:gs>
              <a:gs pos="100000">
                <a:srgbClr val="B0A0F2"/>
              </a:gs>
            </a:gsLst>
            <a:lin ang="18900000" scaled="1"/>
          </a:gradFill>
          <a:ln w="28575" cap="sq" algn="ctr">
            <a:solidFill>
              <a:srgbClr val="FF0000"/>
            </a:solidFill>
            <a:miter lim="800000"/>
            <a:headEnd/>
            <a:tailEnd/>
          </a:ln>
          <a:effectLst>
            <a:outerShdw dist="53882" dir="2700000" algn="ctr" rotWithShape="0">
              <a:schemeClr val="bg2">
                <a:alpha val="50000"/>
              </a:schemeClr>
            </a:outerShdw>
          </a:effectLst>
        </p:spPr>
        <p:txBody>
          <a:bodyPr lIns="36000" tIns="36000" rIns="36000" bIns="36000" anchor="ctr" anchorCtr="1"/>
          <a:lstStyle/>
          <a:p>
            <a:pPr algn="ctr">
              <a:spcAft>
                <a:spcPct val="0"/>
              </a:spcAft>
              <a:buSzTx/>
              <a:buFontTx/>
              <a:buNone/>
            </a:pPr>
            <a:r>
              <a:rPr kumimoji="0" lang="zh-CN" altLang="en-US" sz="2400" b="1">
                <a:solidFill>
                  <a:srgbClr val="3333CC"/>
                </a:solidFill>
                <a:effectLst/>
              </a:rPr>
              <a:t>需要数据库备份</a:t>
            </a: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title"/>
          </p:nvPr>
        </p:nvSpPr>
        <p:spPr>
          <a:xfrm>
            <a:off x="1055440" y="79111"/>
            <a:ext cx="3223172"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kumimoji="1" lang="zh-CN" altLang="zh-CN" sz="4000" b="1" kern="1200" dirty="0">
                <a:solidFill>
                  <a:srgbClr val="FFFFCC"/>
                </a:solidFill>
                <a:effectLst>
                  <a:outerShdw blurRad="38100" dist="38100" dir="2700000" algn="tl">
                    <a:srgbClr val="000000"/>
                  </a:outerShdw>
                </a:effectLst>
                <a:latin typeface="Arial" pitchFamily="34" charset="0"/>
              </a:rPr>
              <a:t>登记日志文件</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73508" name="Rectangle 4"/>
          <p:cNvSpPr>
            <a:spLocks noGrp="1" noChangeArrowheads="1"/>
          </p:cNvSpPr>
          <p:nvPr>
            <p:ph idx="1"/>
          </p:nvPr>
        </p:nvSpPr>
        <p:spPr>
          <a:xfrm>
            <a:off x="695400" y="1007139"/>
            <a:ext cx="10729192" cy="2463800"/>
          </a:xfrm>
        </p:spPr>
        <p:txBody>
          <a:bodyPr/>
          <a:lstStyle/>
          <a:p>
            <a:pPr algn="just" eaLnBrk="1" hangingPunct="1">
              <a:spcBef>
                <a:spcPct val="10000"/>
              </a:spcBef>
              <a:buClrTx/>
              <a:buSzPct val="80000"/>
              <a:buFontTx/>
              <a:buChar char="•"/>
              <a:defRPr/>
            </a:pPr>
            <a:r>
              <a:rPr kumimoji="1" lang="zh-CN" altLang="en-US" dirty="0">
                <a:latin typeface="楷体_GB2312" pitchFamily="49" charset="-122"/>
              </a:rPr>
              <a:t>日志文件用来记录每一事务对数据库所作的更新操作。每一日志记录包含：</a:t>
            </a:r>
          </a:p>
        </p:txBody>
      </p:sp>
      <p:sp>
        <p:nvSpPr>
          <p:cNvPr id="1173509" name="Rectangle 5"/>
          <p:cNvSpPr>
            <a:spLocks noChangeArrowheads="1"/>
          </p:cNvSpPr>
          <p:nvPr/>
        </p:nvSpPr>
        <p:spPr bwMode="auto">
          <a:xfrm>
            <a:off x="1429321" y="2136810"/>
            <a:ext cx="8001000" cy="2800767"/>
          </a:xfrm>
          <a:prstGeom prst="rect">
            <a:avLst/>
          </a:prstGeom>
          <a:noFill/>
          <a:ln w="12700" cap="sq">
            <a:noFill/>
            <a:miter lim="800000"/>
            <a:headEnd/>
            <a:tailEnd/>
          </a:ln>
          <a:effectLst/>
        </p:spPr>
        <p:txBody>
          <a:bodyPr lIns="0" tIns="0" rIns="0" bIns="0">
            <a:spAutoFit/>
          </a:bodyPr>
          <a:lstStyle/>
          <a:p>
            <a:pPr>
              <a:spcBef>
                <a:spcPct val="10000"/>
              </a:spcBef>
              <a:spcAft>
                <a:spcPct val="0"/>
              </a:spcAft>
              <a:buFont typeface="Wingdings" pitchFamily="2" charset="2"/>
              <a:buChar char="ü"/>
              <a:defRPr/>
            </a:pPr>
            <a:r>
              <a:rPr lang="zh-CN" altLang="en-US" sz="2800" dirty="0">
                <a:solidFill>
                  <a:schemeClr val="accent5">
                    <a:lumMod val="60000"/>
                    <a:lumOff val="40000"/>
                  </a:schemeClr>
                </a:solidFill>
                <a:effectLst>
                  <a:outerShdw blurRad="38100" dist="38100" dir="2700000" algn="tl">
                    <a:srgbClr val="000000"/>
                  </a:outerShdw>
                </a:effectLst>
                <a:latin typeface="新宋体" panose="02010609030101010101" pitchFamily="49" charset="-122"/>
                <a:ea typeface="新宋体" panose="02010609030101010101" pitchFamily="49" charset="-122"/>
              </a:rPr>
              <a:t> 事务标识</a:t>
            </a:r>
          </a:p>
          <a:p>
            <a:pPr>
              <a:spcBef>
                <a:spcPct val="10000"/>
              </a:spcBef>
              <a:spcAft>
                <a:spcPct val="0"/>
              </a:spcAft>
              <a:buFont typeface="Wingdings" pitchFamily="2" charset="2"/>
              <a:buChar char="ü"/>
              <a:defRPr/>
            </a:pPr>
            <a:r>
              <a:rPr lang="zh-CN" altLang="en-US" sz="2800" dirty="0">
                <a:solidFill>
                  <a:schemeClr val="accent5">
                    <a:lumMod val="60000"/>
                    <a:lumOff val="40000"/>
                  </a:schemeClr>
                </a:solidFill>
                <a:effectLst>
                  <a:outerShdw blurRad="38100" dist="38100" dir="2700000" algn="tl">
                    <a:srgbClr val="000000"/>
                  </a:outerShdw>
                </a:effectLst>
                <a:latin typeface="新宋体" panose="02010609030101010101" pitchFamily="49" charset="-122"/>
                <a:ea typeface="新宋体" panose="02010609030101010101" pitchFamily="49" charset="-122"/>
              </a:rPr>
              <a:t> 操作的类型（插入、删除或修改）</a:t>
            </a:r>
          </a:p>
          <a:p>
            <a:pPr>
              <a:spcBef>
                <a:spcPct val="10000"/>
              </a:spcBef>
              <a:spcAft>
                <a:spcPct val="0"/>
              </a:spcAft>
              <a:buFont typeface="Wingdings" pitchFamily="2" charset="2"/>
              <a:buChar char="ü"/>
              <a:defRPr/>
            </a:pPr>
            <a:r>
              <a:rPr lang="zh-CN" altLang="en-US" sz="2800" dirty="0">
                <a:solidFill>
                  <a:schemeClr val="accent5">
                    <a:lumMod val="60000"/>
                    <a:lumOff val="40000"/>
                  </a:schemeClr>
                </a:solidFill>
                <a:effectLst>
                  <a:outerShdw blurRad="38100" dist="38100" dir="2700000" algn="tl">
                    <a:srgbClr val="000000"/>
                  </a:outerShdw>
                </a:effectLst>
                <a:latin typeface="新宋体" panose="02010609030101010101" pitchFamily="49" charset="-122"/>
                <a:ea typeface="新宋体" panose="02010609030101010101" pitchFamily="49" charset="-122"/>
              </a:rPr>
              <a:t> 操作对象</a:t>
            </a:r>
          </a:p>
          <a:p>
            <a:pPr>
              <a:spcBef>
                <a:spcPct val="10000"/>
              </a:spcBef>
              <a:spcAft>
                <a:spcPct val="0"/>
              </a:spcAft>
              <a:buFont typeface="Wingdings" pitchFamily="2" charset="2"/>
              <a:buChar char="ü"/>
              <a:defRPr/>
            </a:pPr>
            <a:r>
              <a:rPr lang="zh-CN" altLang="en-US" sz="2800" dirty="0">
                <a:solidFill>
                  <a:schemeClr val="accent5">
                    <a:lumMod val="60000"/>
                    <a:lumOff val="40000"/>
                  </a:schemeClr>
                </a:solidFill>
                <a:effectLst>
                  <a:outerShdw blurRad="38100" dist="38100" dir="2700000" algn="tl">
                    <a:srgbClr val="000000"/>
                  </a:outerShdw>
                </a:effectLst>
                <a:latin typeface="新宋体" panose="02010609030101010101" pitchFamily="49" charset="-122"/>
                <a:ea typeface="新宋体" panose="02010609030101010101" pitchFamily="49" charset="-122"/>
              </a:rPr>
              <a:t> 数据的旧值（插入操作无旧值）</a:t>
            </a:r>
          </a:p>
          <a:p>
            <a:pPr>
              <a:spcBef>
                <a:spcPct val="10000"/>
              </a:spcBef>
              <a:spcAft>
                <a:spcPct val="0"/>
              </a:spcAft>
              <a:buFont typeface="Wingdings" pitchFamily="2" charset="2"/>
              <a:buChar char="ü"/>
              <a:defRPr/>
            </a:pPr>
            <a:r>
              <a:rPr lang="zh-CN" altLang="en-US" sz="2800" dirty="0">
                <a:solidFill>
                  <a:schemeClr val="accent5">
                    <a:lumMod val="60000"/>
                    <a:lumOff val="40000"/>
                  </a:schemeClr>
                </a:solidFill>
                <a:effectLst>
                  <a:outerShdw blurRad="38100" dist="38100" dir="2700000" algn="tl">
                    <a:srgbClr val="000000"/>
                  </a:outerShdw>
                </a:effectLst>
                <a:latin typeface="新宋体" panose="02010609030101010101" pitchFamily="49" charset="-122"/>
                <a:ea typeface="新宋体" panose="02010609030101010101" pitchFamily="49" charset="-122"/>
              </a:rPr>
              <a:t> 数据的新值（删除操作无新值）</a:t>
            </a:r>
          </a:p>
          <a:p>
            <a:pPr>
              <a:spcBef>
                <a:spcPct val="10000"/>
              </a:spcBef>
              <a:spcAft>
                <a:spcPct val="0"/>
              </a:spcAft>
              <a:buFont typeface="Wingdings" pitchFamily="2" charset="2"/>
              <a:buChar char="ü"/>
              <a:defRPr/>
            </a:pPr>
            <a:r>
              <a:rPr lang="zh-CN" altLang="en-US" sz="2800" dirty="0">
                <a:solidFill>
                  <a:schemeClr val="accent5">
                    <a:lumMod val="60000"/>
                    <a:lumOff val="40000"/>
                  </a:schemeClr>
                </a:solidFill>
                <a:effectLst>
                  <a:outerShdw blurRad="38100" dist="38100" dir="2700000" algn="tl">
                    <a:srgbClr val="000000"/>
                  </a:outerShdw>
                </a:effectLst>
                <a:latin typeface="新宋体" panose="02010609030101010101" pitchFamily="49" charset="-122"/>
                <a:ea typeface="新宋体" panose="02010609030101010101" pitchFamily="49" charset="-122"/>
              </a:rPr>
              <a:t> 事务的开始、结束等关键时刻</a:t>
            </a:r>
          </a:p>
        </p:txBody>
      </p:sp>
      <p:sp>
        <p:nvSpPr>
          <p:cNvPr id="1173510" name="Text Box 6"/>
          <p:cNvSpPr txBox="1">
            <a:spLocks noChangeArrowheads="1"/>
          </p:cNvSpPr>
          <p:nvPr/>
        </p:nvSpPr>
        <p:spPr bwMode="auto">
          <a:xfrm>
            <a:off x="695400" y="5157192"/>
            <a:ext cx="8610600" cy="1143000"/>
          </a:xfrm>
          <a:prstGeom prst="rect">
            <a:avLst/>
          </a:prstGeom>
          <a:noFill/>
          <a:ln w="12700" cap="sq">
            <a:noFill/>
            <a:miter lim="800000"/>
            <a:headEnd type="none" w="sm" len="sm"/>
            <a:tailEnd type="none" w="sm" len="sm"/>
          </a:ln>
          <a:effectLst/>
        </p:spPr>
        <p:txBody>
          <a:bodyPr/>
          <a:lstStyle/>
          <a:p>
            <a:pPr marL="277813" indent="-277813">
              <a:spcBef>
                <a:spcPct val="10000"/>
              </a:spcBef>
              <a:spcAft>
                <a:spcPct val="0"/>
              </a:spcAft>
              <a:buFontTx/>
              <a:buChar char="•"/>
              <a:defRPr/>
            </a:pPr>
            <a:r>
              <a:rPr lang="zh-CN" altLang="en-US" dirty="0">
                <a:solidFill>
                  <a:srgbClr val="CCFFCC"/>
                </a:solidFill>
                <a:effectLst>
                  <a:outerShdw blurRad="38100" dist="38100" dir="2700000" algn="tl">
                    <a:srgbClr val="000000"/>
                  </a:outerShdw>
                </a:effectLst>
              </a:rPr>
              <a:t>登记日志文件应遵循：</a:t>
            </a:r>
          </a:p>
        </p:txBody>
      </p:sp>
      <p:sp>
        <p:nvSpPr>
          <p:cNvPr id="1173511" name="Rectangle 7"/>
          <p:cNvSpPr>
            <a:spLocks noChangeArrowheads="1"/>
          </p:cNvSpPr>
          <p:nvPr/>
        </p:nvSpPr>
        <p:spPr bwMode="auto">
          <a:xfrm>
            <a:off x="1429321" y="5725717"/>
            <a:ext cx="8001000" cy="904863"/>
          </a:xfrm>
          <a:prstGeom prst="rect">
            <a:avLst/>
          </a:prstGeom>
          <a:noFill/>
          <a:ln w="12700" cap="sq">
            <a:noFill/>
            <a:miter lim="800000"/>
            <a:headEnd/>
            <a:tailEnd/>
          </a:ln>
          <a:effectLst/>
        </p:spPr>
        <p:txBody>
          <a:bodyPr lIns="0" tIns="0" rIns="0" bIns="0">
            <a:spAutoFit/>
          </a:bodyPr>
          <a:lstStyle/>
          <a:p>
            <a:pPr>
              <a:spcBef>
                <a:spcPct val="10000"/>
              </a:spcBef>
              <a:spcAft>
                <a:spcPct val="0"/>
              </a:spcAft>
              <a:buChar char="ü"/>
            </a:pPr>
            <a:r>
              <a:rPr lang="zh-CN" altLang="en-US" sz="2800" dirty="0">
                <a:solidFill>
                  <a:schemeClr val="accent5">
                    <a:lumMod val="60000"/>
                    <a:lumOff val="40000"/>
                  </a:schemeClr>
                </a:solidFill>
                <a:effectLst>
                  <a:outerShdw blurRad="38100" dist="38100" dir="2700000" algn="tl">
                    <a:srgbClr val="000000"/>
                  </a:outerShdw>
                </a:effectLst>
                <a:latin typeface="新宋体" panose="02010609030101010101" pitchFamily="49" charset="-122"/>
                <a:ea typeface="新宋体" panose="02010609030101010101" pitchFamily="49" charset="-122"/>
              </a:rPr>
              <a:t> 登记的次序严格按</a:t>
            </a:r>
            <a:r>
              <a:rPr lang="zh-CN" altLang="en-US" sz="2800" dirty="0" smtClean="0">
                <a:solidFill>
                  <a:schemeClr val="accent5">
                    <a:lumMod val="60000"/>
                    <a:lumOff val="40000"/>
                  </a:schemeClr>
                </a:solidFill>
                <a:effectLst>
                  <a:outerShdw blurRad="38100" dist="38100" dir="2700000" algn="tl">
                    <a:srgbClr val="000000"/>
                  </a:outerShdw>
                </a:effectLst>
                <a:latin typeface="新宋体" panose="02010609030101010101" pitchFamily="49" charset="-122"/>
                <a:ea typeface="新宋体" panose="02010609030101010101" pitchFamily="49" charset="-122"/>
              </a:rPr>
              <a:t>并发事务</a:t>
            </a:r>
            <a:r>
              <a:rPr lang="zh-CN" altLang="en-US" sz="2800" dirty="0">
                <a:solidFill>
                  <a:schemeClr val="accent5">
                    <a:lumMod val="60000"/>
                    <a:lumOff val="40000"/>
                  </a:schemeClr>
                </a:solidFill>
                <a:effectLst>
                  <a:outerShdw blurRad="38100" dist="38100" dir="2700000" algn="tl">
                    <a:srgbClr val="000000"/>
                  </a:outerShdw>
                </a:effectLst>
                <a:latin typeface="新宋体" panose="02010609030101010101" pitchFamily="49" charset="-122"/>
                <a:ea typeface="新宋体" panose="02010609030101010101" pitchFamily="49" charset="-122"/>
              </a:rPr>
              <a:t>执行的时间次序</a:t>
            </a:r>
            <a:endParaRPr lang="en-US" altLang="zh-CN" sz="2800" dirty="0">
              <a:solidFill>
                <a:schemeClr val="accent5">
                  <a:lumMod val="60000"/>
                  <a:lumOff val="40000"/>
                </a:schemeClr>
              </a:solidFill>
              <a:effectLst>
                <a:outerShdw blurRad="38100" dist="38100" dir="2700000" algn="tl">
                  <a:srgbClr val="000000"/>
                </a:outerShdw>
              </a:effectLst>
              <a:latin typeface="新宋体" panose="02010609030101010101" pitchFamily="49" charset="-122"/>
              <a:ea typeface="新宋体" panose="02010609030101010101" pitchFamily="49" charset="-122"/>
            </a:endParaRPr>
          </a:p>
          <a:p>
            <a:pPr>
              <a:spcBef>
                <a:spcPct val="10000"/>
              </a:spcBef>
              <a:spcAft>
                <a:spcPct val="0"/>
              </a:spcAft>
              <a:buChar char="ü"/>
            </a:pPr>
            <a:r>
              <a:rPr lang="zh-CN" altLang="en-US" sz="2800" dirty="0">
                <a:solidFill>
                  <a:schemeClr val="accent5">
                    <a:lumMod val="60000"/>
                    <a:lumOff val="40000"/>
                  </a:schemeClr>
                </a:solidFill>
                <a:effectLst>
                  <a:outerShdw blurRad="38100" dist="38100" dir="2700000" algn="tl">
                    <a:srgbClr val="000000"/>
                  </a:outerShdw>
                </a:effectLst>
                <a:latin typeface="新宋体" panose="02010609030101010101" pitchFamily="49" charset="-122"/>
                <a:ea typeface="新宋体" panose="02010609030101010101" pitchFamily="49" charset="-122"/>
              </a:rPr>
              <a:t> 必须先写日志文件，后更新数据库</a:t>
            </a:r>
          </a:p>
        </p:txBody>
      </p:sp>
      <p:sp>
        <p:nvSpPr>
          <p:cNvPr id="39944" name="Rectangle 8"/>
          <p:cNvSpPr>
            <a:spLocks noChangeArrowheads="1"/>
          </p:cNvSpPr>
          <p:nvPr/>
        </p:nvSpPr>
        <p:spPr bwMode="auto">
          <a:xfrm>
            <a:off x="8400256" y="3057273"/>
            <a:ext cx="2520280" cy="1077218"/>
          </a:xfrm>
          <a:prstGeom prst="rect">
            <a:avLst/>
          </a:prstGeom>
          <a:solidFill>
            <a:srgbClr val="0000FF"/>
          </a:solidFill>
          <a:ln w="19050" algn="ctr">
            <a:solidFill>
              <a:srgbClr val="CCFF33"/>
            </a:solidFill>
            <a:miter lim="800000"/>
            <a:headEnd/>
            <a:tailEnd/>
          </a:ln>
          <a:effectLst>
            <a:outerShdw dist="35921" dir="2700000" algn="ctr" rotWithShape="0">
              <a:schemeClr val="bg2"/>
            </a:outerShdw>
          </a:effectLst>
        </p:spPr>
        <p:txBody>
          <a:bodyPr wrap="square">
            <a:spAutoFit/>
          </a:bodyPr>
          <a:lstStyle/>
          <a:p>
            <a:pPr>
              <a:spcAft>
                <a:spcPct val="60000"/>
              </a:spcAft>
              <a:buClr>
                <a:srgbClr val="66FF33"/>
              </a:buClr>
              <a:buSzPct val="85000"/>
            </a:pPr>
            <a:r>
              <a:rPr kumimoji="0" lang="zh-CN" altLang="en-US">
                <a:solidFill>
                  <a:srgbClr val="FFFF00"/>
                </a:solidFill>
                <a:effectLst/>
              </a:rPr>
              <a:t>日志文件必须安全可靠！</a:t>
            </a:r>
          </a:p>
        </p:txBody>
      </p:sp>
    </p:spTree>
    <p:custDataLst>
      <p:tags r:id="rId1"/>
    </p:custData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055440" y="1196752"/>
            <a:ext cx="9753600" cy="2143125"/>
          </a:xfrm>
          <a:prstGeom prst="rect">
            <a:avLst/>
          </a:prstGeom>
          <a:noFill/>
        </p:spPr>
        <p:txBody>
          <a:bodyPr vert="horz" wrap="square" rtlCol="0" anchor="ctr" anchorCtr="0">
            <a:noAutofit/>
          </a:bodyPr>
          <a:lstStyle/>
          <a:p>
            <a:r>
              <a:rPr lang="zh-CN" altLang="en-US" sz="2600">
                <a:latin typeface="Microsoft Yahei" panose="020B0503020204020204" pitchFamily="34" charset="-122"/>
                <a:ea typeface="Microsoft Yahei" panose="020B0503020204020204" pitchFamily="34" charset="-122"/>
                <a:sym typeface="Microsoft Yahei" panose="020B0503020204020204" pitchFamily="34" charset="-122"/>
              </a:rPr>
              <a:t>数据库日志的作用是什么？每一条日志记录了什么？登记日志需要遵循哪两条原则，为什么？</a:t>
            </a:r>
          </a:p>
          <a:p>
            <a:endParaRPr lang="zh-CN" altLang="en-US" sz="2600" dirty="0">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圆角矩形 5"/>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smtClean="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8" name="ColorBlock"/>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14835434"/>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title"/>
          </p:nvPr>
        </p:nvSpPr>
        <p:spPr>
          <a:xfrm>
            <a:off x="1055440" y="86488"/>
            <a:ext cx="2710211"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kumimoji="1" lang="zh-CN" altLang="en-US" sz="4000" b="1" kern="1200" dirty="0">
                <a:solidFill>
                  <a:srgbClr val="FFFFCC"/>
                </a:solidFill>
                <a:effectLst>
                  <a:outerShdw blurRad="38100" dist="38100" dir="2700000" algn="tl">
                    <a:srgbClr val="000000"/>
                  </a:outerShdw>
                </a:effectLst>
                <a:latin typeface="Arial" pitchFamily="34" charset="0"/>
              </a:rPr>
              <a:t>数据库</a:t>
            </a:r>
            <a:r>
              <a:rPr kumimoji="1" lang="zh-CN" altLang="zh-CN" sz="4000" b="1" kern="1200" dirty="0">
                <a:solidFill>
                  <a:srgbClr val="FFFFCC"/>
                </a:solidFill>
                <a:effectLst>
                  <a:outerShdw blurRad="38100" dist="38100" dir="2700000" algn="tl">
                    <a:srgbClr val="000000"/>
                  </a:outerShdw>
                </a:effectLst>
                <a:latin typeface="Arial" pitchFamily="34" charset="0"/>
              </a:rPr>
              <a:t>故障</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78628" name="Rectangle 4"/>
          <p:cNvSpPr>
            <a:spLocks noGrp="1" noChangeArrowheads="1"/>
          </p:cNvSpPr>
          <p:nvPr>
            <p:ph idx="1"/>
          </p:nvPr>
        </p:nvSpPr>
        <p:spPr>
          <a:xfrm>
            <a:off x="718271" y="1052736"/>
            <a:ext cx="10755457" cy="2463800"/>
          </a:xfrm>
        </p:spPr>
        <p:txBody>
          <a:bodyPr/>
          <a:lstStyle/>
          <a:p>
            <a:pPr marL="266700" indent="-266700" eaLnBrk="1" hangingPunct="1">
              <a:spcBef>
                <a:spcPct val="10000"/>
              </a:spcBef>
              <a:spcAft>
                <a:spcPct val="0"/>
              </a:spcAft>
              <a:buClrTx/>
              <a:buSzPct val="80000"/>
              <a:buFontTx/>
              <a:buChar char="•"/>
              <a:defRPr/>
            </a:pPr>
            <a:r>
              <a:rPr kumimoji="1" lang="zh-CN" altLang="en-US" sz="2400" dirty="0">
                <a:solidFill>
                  <a:srgbClr val="00FFFF"/>
                </a:solidFill>
                <a:latin typeface="楷体_GB2312" pitchFamily="49" charset="-122"/>
              </a:rPr>
              <a:t>事务故障</a:t>
            </a:r>
          </a:p>
          <a:p>
            <a:pPr marL="266700" indent="-266700" eaLnBrk="1" hangingPunct="1">
              <a:spcBef>
                <a:spcPct val="10000"/>
              </a:spcBef>
              <a:spcAft>
                <a:spcPct val="0"/>
              </a:spcAft>
              <a:buClrTx/>
              <a:buSzPct val="80000"/>
              <a:buNone/>
              <a:defRPr/>
            </a:pPr>
            <a:r>
              <a:rPr kumimoji="1" lang="zh-CN" altLang="en-US" sz="2400" dirty="0">
                <a:solidFill>
                  <a:srgbClr val="000000"/>
                </a:solidFill>
                <a:effectLst>
                  <a:outerShdw blurRad="38100" dist="38100" dir="2700000" algn="tl">
                    <a:srgbClr val="FFFFFF"/>
                  </a:outerShdw>
                </a:effectLst>
                <a:latin typeface="楷体_GB2312" pitchFamily="49" charset="-122"/>
              </a:rPr>
              <a:t>	</a:t>
            </a:r>
            <a:r>
              <a:rPr kumimoji="1" lang="zh-CN" altLang="en-US" sz="2400" dirty="0" smtClean="0">
                <a:latin typeface="楷体_GB2312" pitchFamily="49" charset="-122"/>
              </a:rPr>
              <a:t>表示</a:t>
            </a:r>
            <a:r>
              <a:rPr kumimoji="1" lang="zh-CN" altLang="en-US" sz="2400" dirty="0">
                <a:latin typeface="楷体_GB2312" pitchFamily="49" charset="-122"/>
              </a:rPr>
              <a:t>由非预期的、不正常的程序所造成的故障。造成程序非正常结束的原因包括输入数据错误、运算溢出、违反储存保护、并行事务发生死锁等。</a:t>
            </a:r>
          </a:p>
          <a:p>
            <a:pPr marL="266700" indent="-266700" eaLnBrk="1" hangingPunct="1">
              <a:spcBef>
                <a:spcPct val="10000"/>
              </a:spcBef>
              <a:spcAft>
                <a:spcPct val="0"/>
              </a:spcAft>
              <a:buClrTx/>
              <a:buSzPct val="80000"/>
              <a:buNone/>
              <a:defRPr/>
            </a:pPr>
            <a:endParaRPr kumimoji="1" lang="zh-CN" altLang="en-US" sz="2400" dirty="0">
              <a:latin typeface="楷体_GB2312" pitchFamily="49" charset="-122"/>
            </a:endParaRPr>
          </a:p>
          <a:p>
            <a:pPr marL="266700" indent="-266700" eaLnBrk="1" hangingPunct="1">
              <a:spcBef>
                <a:spcPct val="50000"/>
              </a:spcBef>
              <a:spcAft>
                <a:spcPct val="0"/>
              </a:spcAft>
              <a:buClrTx/>
              <a:buSzPct val="80000"/>
              <a:buFontTx/>
              <a:buChar char="•"/>
              <a:defRPr/>
            </a:pPr>
            <a:r>
              <a:rPr kumimoji="1" lang="zh-CN" altLang="en-US" sz="2400" dirty="0">
                <a:solidFill>
                  <a:srgbClr val="00FFFF"/>
                </a:solidFill>
                <a:latin typeface="楷体_GB2312" pitchFamily="49" charset="-122"/>
              </a:rPr>
              <a:t>系统故障</a:t>
            </a:r>
          </a:p>
          <a:p>
            <a:pPr marL="266700" indent="-266700" eaLnBrk="1" hangingPunct="1">
              <a:spcBef>
                <a:spcPct val="10000"/>
              </a:spcBef>
              <a:spcAft>
                <a:spcPct val="0"/>
              </a:spcAft>
              <a:buClrTx/>
              <a:buSzPct val="80000"/>
              <a:buNone/>
              <a:defRPr/>
            </a:pPr>
            <a:r>
              <a:rPr kumimoji="1" lang="zh-CN" altLang="en-US" sz="2400" dirty="0">
                <a:latin typeface="楷体_GB2312" pitchFamily="49" charset="-122"/>
              </a:rPr>
              <a:t>	是指系统在运行过程中，由于某种原因，造成系统停止运转，致使所有正在运行的事务都以非正常方式终止，要求系统重新启动。引起系统故障的原因可能有硬件错误（如</a:t>
            </a:r>
            <a:r>
              <a:rPr kumimoji="1" lang="en-US" altLang="zh-CN" sz="2400" dirty="0">
                <a:latin typeface="楷体_GB2312" pitchFamily="49" charset="-122"/>
              </a:rPr>
              <a:t>CPU</a:t>
            </a:r>
            <a:r>
              <a:rPr kumimoji="1" lang="zh-CN" altLang="en-US" sz="2400" dirty="0">
                <a:latin typeface="楷体_GB2312" pitchFamily="49" charset="-122"/>
              </a:rPr>
              <a:t>故障、操作系统）或</a:t>
            </a:r>
            <a:r>
              <a:rPr kumimoji="1" lang="en-US" altLang="zh-CN" sz="2400" dirty="0">
                <a:latin typeface="楷体_GB2312" pitchFamily="49" charset="-122"/>
              </a:rPr>
              <a:t>DBMS</a:t>
            </a:r>
            <a:r>
              <a:rPr kumimoji="1" lang="zh-CN" altLang="en-US" sz="2400" dirty="0">
                <a:latin typeface="楷体_GB2312" pitchFamily="49" charset="-122"/>
              </a:rPr>
              <a:t>代码错误，突然断电等。</a:t>
            </a:r>
          </a:p>
          <a:p>
            <a:pPr marL="266700" indent="-266700" eaLnBrk="1" hangingPunct="1">
              <a:spcBef>
                <a:spcPct val="50000"/>
              </a:spcBef>
              <a:spcAft>
                <a:spcPct val="0"/>
              </a:spcAft>
              <a:buClrTx/>
              <a:buSzPct val="80000"/>
              <a:buFontTx/>
              <a:buChar char="•"/>
              <a:defRPr/>
            </a:pPr>
            <a:r>
              <a:rPr kumimoji="1" lang="zh-CN" altLang="en-US" sz="2400" dirty="0" smtClean="0">
                <a:solidFill>
                  <a:srgbClr val="00FFFF"/>
                </a:solidFill>
                <a:latin typeface="楷体_GB2312" pitchFamily="49" charset="-122"/>
              </a:rPr>
              <a:t>介质</a:t>
            </a:r>
            <a:r>
              <a:rPr kumimoji="1" lang="zh-CN" altLang="en-US" sz="2400" dirty="0">
                <a:solidFill>
                  <a:srgbClr val="00FFFF"/>
                </a:solidFill>
                <a:latin typeface="楷体_GB2312" pitchFamily="49" charset="-122"/>
              </a:rPr>
              <a:t>故障：</a:t>
            </a:r>
          </a:p>
          <a:p>
            <a:pPr marL="266700" indent="-266700" eaLnBrk="1" hangingPunct="1">
              <a:spcBef>
                <a:spcPct val="10000"/>
              </a:spcBef>
              <a:spcAft>
                <a:spcPct val="0"/>
              </a:spcAft>
              <a:buClrTx/>
              <a:buSzPct val="80000"/>
              <a:buNone/>
              <a:defRPr/>
            </a:pPr>
            <a:r>
              <a:rPr kumimoji="1" lang="zh-CN" altLang="en-US" sz="2400" dirty="0">
                <a:latin typeface="楷体_GB2312" pitchFamily="49" charset="-122"/>
              </a:rPr>
              <a:t>	系统在运行过程中由于辅助存储器介质受到破坏使存储其中的数据部分丢失或全部丢失。</a:t>
            </a:r>
          </a:p>
        </p:txBody>
      </p:sp>
      <p:sp>
        <p:nvSpPr>
          <p:cNvPr id="36869" name="Rectangle 5"/>
          <p:cNvSpPr>
            <a:spLocks noChangeArrowheads="1"/>
          </p:cNvSpPr>
          <p:nvPr/>
        </p:nvSpPr>
        <p:spPr bwMode="auto">
          <a:xfrm>
            <a:off x="5447928" y="370393"/>
            <a:ext cx="3727649" cy="954107"/>
          </a:xfrm>
          <a:prstGeom prst="rect">
            <a:avLst/>
          </a:prstGeom>
          <a:solidFill>
            <a:srgbClr val="0000FF"/>
          </a:solidFill>
          <a:ln w="19050" algn="ctr">
            <a:solidFill>
              <a:srgbClr val="CCFF33"/>
            </a:solidFill>
            <a:miter lim="800000"/>
            <a:headEnd/>
            <a:tailEnd/>
          </a:ln>
          <a:effectLst>
            <a:outerShdw dist="35921" dir="2700000" algn="ctr" rotWithShape="0">
              <a:schemeClr val="bg2"/>
            </a:outerShdw>
          </a:effectLst>
        </p:spPr>
        <p:txBody>
          <a:bodyPr wrap="square">
            <a:spAutoFit/>
          </a:bodyPr>
          <a:lstStyle/>
          <a:p>
            <a:pPr marL="358775" marR="0" lvl="0" indent="-358775" algn="ctr" defTabSz="914400" rtl="0" eaLnBrk="1" fontAlgn="base" latinLnBrk="0" hangingPunct="1">
              <a:lnSpc>
                <a:spcPct val="100000"/>
              </a:lnSpc>
              <a:spcBef>
                <a:spcPct val="0"/>
              </a:spcBef>
              <a:spcAft>
                <a:spcPct val="60000"/>
              </a:spcAft>
              <a:buClr>
                <a:srgbClr val="66FF33"/>
              </a:buClr>
              <a:buSzPct val="85000"/>
              <a:buFont typeface="Wingdings" pitchFamily="2" charset="2"/>
              <a:buNone/>
              <a:tabLst/>
              <a:defRPr/>
            </a:pPr>
            <a:r>
              <a:rPr kumimoji="0" lang="zh-CN" altLang="en-US" sz="2800" b="0" i="0" u="none" strike="noStrike" kern="1200" cap="none" spc="0" normalizeH="0" baseline="0" noProof="0" dirty="0">
                <a:ln>
                  <a:noFill/>
                </a:ln>
                <a:solidFill>
                  <a:srgbClr val="FFFF00"/>
                </a:solidFill>
                <a:effectLst/>
                <a:uLnTx/>
                <a:uFillTx/>
                <a:ea typeface="楷体_GB2312" pitchFamily="49" charset="-122"/>
                <a:cs typeface="+mn-cs"/>
              </a:rPr>
              <a:t>任何一种故障都会引起数据的不一致！</a:t>
            </a:r>
          </a:p>
        </p:txBody>
      </p:sp>
    </p:spTree>
    <p:extLst>
      <p:ext uri="{BB962C8B-B14F-4D97-AF65-F5344CB8AC3E}">
        <p14:creationId xmlns:p14="http://schemas.microsoft.com/office/powerpoint/2010/main" val="1419875499"/>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title"/>
          </p:nvPr>
        </p:nvSpPr>
        <p:spPr>
          <a:xfrm>
            <a:off x="1036563" y="75753"/>
            <a:ext cx="2197250"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kumimoji="1" lang="zh-CN" altLang="zh-CN" sz="4000" b="1" kern="1200" dirty="0">
                <a:solidFill>
                  <a:srgbClr val="FFFFCC"/>
                </a:solidFill>
                <a:effectLst>
                  <a:outerShdw blurRad="38100" dist="38100" dir="2700000" algn="tl">
                    <a:srgbClr val="000000"/>
                  </a:outerShdw>
                </a:effectLst>
                <a:latin typeface="Arial" pitchFamily="34" charset="0"/>
              </a:rPr>
              <a:t>恢复策略</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1174532" name="Rectangle 4"/>
          <p:cNvSpPr>
            <a:spLocks noGrp="1" noChangeArrowheads="1"/>
          </p:cNvSpPr>
          <p:nvPr>
            <p:ph idx="1"/>
          </p:nvPr>
        </p:nvSpPr>
        <p:spPr>
          <a:xfrm>
            <a:off x="695400" y="1084263"/>
            <a:ext cx="8667750" cy="2463800"/>
          </a:xfrm>
        </p:spPr>
        <p:txBody>
          <a:bodyPr/>
          <a:lstStyle/>
          <a:p>
            <a:pPr eaLnBrk="1" hangingPunct="1">
              <a:spcAft>
                <a:spcPct val="20000"/>
              </a:spcAft>
              <a:defRPr/>
            </a:pPr>
            <a:r>
              <a:rPr kumimoji="1" lang="zh-CN" altLang="en-US" dirty="0">
                <a:solidFill>
                  <a:srgbClr val="00FF99"/>
                </a:solidFill>
                <a:latin typeface="楷体_GB2312" pitchFamily="49" charset="-122"/>
              </a:rPr>
              <a:t>事务故障的恢复</a:t>
            </a:r>
          </a:p>
        </p:txBody>
      </p:sp>
      <p:sp>
        <p:nvSpPr>
          <p:cNvPr id="1174533" name="Rectangle 5"/>
          <p:cNvSpPr>
            <a:spLocks noChangeArrowheads="1"/>
          </p:cNvSpPr>
          <p:nvPr/>
        </p:nvSpPr>
        <p:spPr bwMode="auto">
          <a:xfrm>
            <a:off x="1199456" y="1848643"/>
            <a:ext cx="10441160" cy="3644075"/>
          </a:xfrm>
          <a:prstGeom prst="rect">
            <a:avLst/>
          </a:prstGeom>
          <a:noFill/>
          <a:ln w="12700" cap="sq">
            <a:noFill/>
            <a:miter lim="800000"/>
            <a:headEnd/>
            <a:tailEnd/>
          </a:ln>
          <a:effectLst/>
        </p:spPr>
        <p:txBody>
          <a:bodyPr wrap="square" lIns="0" tIns="0" rIns="0" bIns="0">
            <a:spAutoFit/>
          </a:bodyPr>
          <a:lstStyle/>
          <a:p>
            <a:pPr>
              <a:spcBef>
                <a:spcPct val="10000"/>
              </a:spcBef>
              <a:spcAft>
                <a:spcPct val="0"/>
              </a:spcAft>
              <a:defRPr/>
            </a:pPr>
            <a:r>
              <a:rPr lang="zh-CN" altLang="en-US" dirty="0">
                <a:solidFill>
                  <a:srgbClr val="CCFFCC"/>
                </a:solidFill>
                <a:effectLst>
                  <a:outerShdw blurRad="38100" dist="38100" dir="2700000" algn="tl">
                    <a:srgbClr val="000000"/>
                  </a:outerShdw>
                </a:effectLst>
              </a:rPr>
              <a:t>① 反向扫描日志文件，查找该事务的日志记录</a:t>
            </a:r>
            <a:r>
              <a:rPr lang="en-US" altLang="zh-CN" dirty="0">
                <a:solidFill>
                  <a:srgbClr val="CCFFCC"/>
                </a:solidFill>
                <a:effectLst>
                  <a:outerShdw blurRad="38100" dist="38100" dir="2700000" algn="tl">
                    <a:srgbClr val="000000"/>
                  </a:outerShdw>
                </a:effectLst>
              </a:rPr>
              <a:t>。</a:t>
            </a:r>
          </a:p>
          <a:p>
            <a:pPr>
              <a:spcBef>
                <a:spcPct val="55000"/>
              </a:spcBef>
              <a:spcAft>
                <a:spcPct val="0"/>
              </a:spcAft>
              <a:defRPr/>
            </a:pPr>
            <a:r>
              <a:rPr lang="zh-CN" altLang="en-US" dirty="0">
                <a:solidFill>
                  <a:srgbClr val="CCFFCC"/>
                </a:solidFill>
                <a:effectLst>
                  <a:outerShdw blurRad="38100" dist="38100" dir="2700000" algn="tl">
                    <a:srgbClr val="000000"/>
                  </a:outerShdw>
                </a:effectLst>
              </a:rPr>
              <a:t>② 对该事务的每一操作执行逆操作（</a:t>
            </a:r>
            <a:r>
              <a:rPr lang="en-US" altLang="zh-CN" dirty="0">
                <a:solidFill>
                  <a:srgbClr val="CCFFCC"/>
                </a:solidFill>
                <a:effectLst>
                  <a:outerShdw blurRad="38100" dist="38100" dir="2700000" algn="tl">
                    <a:srgbClr val="000000"/>
                  </a:outerShdw>
                </a:effectLst>
              </a:rPr>
              <a:t>UNDO</a:t>
            </a:r>
            <a:r>
              <a:rPr lang="zh-CN" altLang="en-US" dirty="0">
                <a:solidFill>
                  <a:srgbClr val="CCFFCC"/>
                </a:solidFill>
                <a:effectLst>
                  <a:outerShdw blurRad="38100" dist="38100" dir="2700000" algn="tl">
                    <a:srgbClr val="000000"/>
                  </a:outerShdw>
                </a:effectLst>
              </a:rPr>
              <a:t>）：</a:t>
            </a:r>
            <a:endParaRPr lang="en-US" altLang="zh-CN" dirty="0">
              <a:solidFill>
                <a:srgbClr val="CCFFCC"/>
              </a:solidFill>
              <a:effectLst>
                <a:outerShdw blurRad="38100" dist="38100" dir="2700000" algn="tl">
                  <a:srgbClr val="000000"/>
                </a:outerShdw>
              </a:effectLst>
            </a:endParaRPr>
          </a:p>
          <a:p>
            <a:pPr>
              <a:spcBef>
                <a:spcPct val="10000"/>
              </a:spcBef>
              <a:spcAft>
                <a:spcPct val="0"/>
              </a:spcAft>
              <a:defRPr/>
            </a:pPr>
            <a:r>
              <a:rPr lang="zh-CN" altLang="en-US" dirty="0">
                <a:solidFill>
                  <a:srgbClr val="CCFFCC"/>
                </a:solidFill>
                <a:effectLst>
                  <a:outerShdw blurRad="38100" dist="38100" dir="2700000" algn="tl">
                    <a:srgbClr val="000000"/>
                  </a:outerShdw>
                </a:effectLst>
              </a:rPr>
              <a:t>   </a:t>
            </a:r>
            <a:r>
              <a:rPr lang="zh-CN" altLang="en-US" dirty="0">
                <a:solidFill>
                  <a:srgbClr val="00FF99"/>
                </a:solidFill>
                <a:effectLst>
                  <a:outerShdw blurRad="38100" dist="38100" dir="2700000" algn="tl">
                    <a:srgbClr val="000000"/>
                  </a:outerShdw>
                </a:effectLst>
              </a:rPr>
              <a:t>※</a:t>
            </a:r>
            <a:r>
              <a:rPr lang="zh-CN" altLang="en-US" dirty="0">
                <a:solidFill>
                  <a:srgbClr val="CCFFCC"/>
                </a:solidFill>
                <a:effectLst>
                  <a:outerShdw blurRad="38100" dist="38100" dir="2700000" algn="tl">
                    <a:srgbClr val="000000"/>
                  </a:outerShdw>
                </a:effectLst>
              </a:rPr>
              <a:t> 对插入操作做删除操作</a:t>
            </a:r>
          </a:p>
          <a:p>
            <a:pPr>
              <a:spcBef>
                <a:spcPct val="10000"/>
              </a:spcBef>
              <a:spcAft>
                <a:spcPct val="0"/>
              </a:spcAft>
              <a:defRPr/>
            </a:pPr>
            <a:r>
              <a:rPr lang="zh-CN" altLang="en-US" dirty="0">
                <a:solidFill>
                  <a:srgbClr val="CCFFCC"/>
                </a:solidFill>
                <a:effectLst>
                  <a:outerShdw blurRad="38100" dist="38100" dir="2700000" algn="tl">
                    <a:srgbClr val="000000"/>
                  </a:outerShdw>
                </a:effectLst>
              </a:rPr>
              <a:t>   </a:t>
            </a:r>
            <a:r>
              <a:rPr lang="zh-CN" altLang="en-US" dirty="0">
                <a:solidFill>
                  <a:srgbClr val="00FF99"/>
                </a:solidFill>
                <a:effectLst>
                  <a:outerShdw blurRad="38100" dist="38100" dir="2700000" algn="tl">
                    <a:srgbClr val="000000"/>
                  </a:outerShdw>
                </a:effectLst>
              </a:rPr>
              <a:t>※</a:t>
            </a:r>
            <a:r>
              <a:rPr lang="zh-CN" altLang="en-US" dirty="0">
                <a:solidFill>
                  <a:srgbClr val="CCFFCC"/>
                </a:solidFill>
                <a:effectLst>
                  <a:outerShdw blurRad="38100" dist="38100" dir="2700000" algn="tl">
                    <a:srgbClr val="000000"/>
                  </a:outerShdw>
                </a:effectLst>
              </a:rPr>
              <a:t> 对删除操作做插入操作</a:t>
            </a:r>
          </a:p>
          <a:p>
            <a:pPr>
              <a:spcBef>
                <a:spcPct val="10000"/>
              </a:spcBef>
              <a:spcAft>
                <a:spcPct val="0"/>
              </a:spcAft>
              <a:defRPr/>
            </a:pPr>
            <a:r>
              <a:rPr lang="zh-CN" altLang="en-US" dirty="0">
                <a:solidFill>
                  <a:srgbClr val="CCFFCC"/>
                </a:solidFill>
                <a:effectLst>
                  <a:outerShdw blurRad="38100" dist="38100" dir="2700000" algn="tl">
                    <a:srgbClr val="000000"/>
                  </a:outerShdw>
                </a:effectLst>
              </a:rPr>
              <a:t>   </a:t>
            </a:r>
            <a:r>
              <a:rPr lang="zh-CN" altLang="en-US" dirty="0">
                <a:solidFill>
                  <a:srgbClr val="00FF99"/>
                </a:solidFill>
                <a:effectLst>
                  <a:outerShdw blurRad="38100" dist="38100" dir="2700000" algn="tl">
                    <a:srgbClr val="000000"/>
                  </a:outerShdw>
                </a:effectLst>
              </a:rPr>
              <a:t>※</a:t>
            </a:r>
            <a:r>
              <a:rPr lang="zh-CN" altLang="en-US" dirty="0">
                <a:solidFill>
                  <a:srgbClr val="CCFFCC"/>
                </a:solidFill>
                <a:effectLst>
                  <a:outerShdw blurRad="38100" dist="38100" dir="2700000" algn="tl">
                    <a:srgbClr val="000000"/>
                  </a:outerShdw>
                </a:effectLst>
              </a:rPr>
              <a:t> 对更新操作以旧值替换新值</a:t>
            </a:r>
          </a:p>
          <a:p>
            <a:pPr>
              <a:spcBef>
                <a:spcPct val="55000"/>
              </a:spcBef>
              <a:spcAft>
                <a:spcPct val="0"/>
              </a:spcAft>
              <a:defRPr/>
            </a:pPr>
            <a:r>
              <a:rPr lang="zh-CN" altLang="en-US" dirty="0">
                <a:solidFill>
                  <a:srgbClr val="CCFFCC"/>
                </a:solidFill>
                <a:effectLst>
                  <a:outerShdw blurRad="38100" dist="38100" dir="2700000" algn="tl">
                    <a:srgbClr val="000000"/>
                  </a:outerShdw>
                </a:effectLst>
              </a:rPr>
              <a:t>③ 重复以上操作直到扫描到该事务的开始标记</a:t>
            </a:r>
            <a:endParaRPr lang="en-US" altLang="zh-CN" dirty="0">
              <a:solidFill>
                <a:srgbClr val="CCFFCC"/>
              </a:solidFill>
              <a:effectLst>
                <a:outerShdw blurRad="38100" dist="38100" dir="2700000" algn="tl">
                  <a:srgbClr val="000000"/>
                </a:outerShdw>
              </a:effectLst>
            </a:endParaRPr>
          </a:p>
        </p:txBody>
      </p:sp>
      <p:sp>
        <p:nvSpPr>
          <p:cNvPr id="40966" name="Rectangle 6"/>
          <p:cNvSpPr>
            <a:spLocks noChangeArrowheads="1"/>
          </p:cNvSpPr>
          <p:nvPr/>
        </p:nvSpPr>
        <p:spPr bwMode="auto">
          <a:xfrm>
            <a:off x="1703512" y="5801423"/>
            <a:ext cx="7776864" cy="584775"/>
          </a:xfrm>
          <a:prstGeom prst="rect">
            <a:avLst/>
          </a:prstGeom>
          <a:solidFill>
            <a:srgbClr val="0000FF"/>
          </a:solidFill>
          <a:ln w="19050" algn="ctr">
            <a:solidFill>
              <a:srgbClr val="CCFF33"/>
            </a:solidFill>
            <a:miter lim="800000"/>
            <a:headEnd/>
            <a:tailEnd/>
          </a:ln>
          <a:effectLst>
            <a:outerShdw dist="35921" dir="2700000" algn="ctr" rotWithShape="0">
              <a:schemeClr val="bg2"/>
            </a:outerShdw>
          </a:effectLst>
        </p:spPr>
        <p:txBody>
          <a:bodyPr wrap="square">
            <a:spAutoFit/>
          </a:bodyPr>
          <a:lstStyle/>
          <a:p>
            <a:pPr algn="ctr">
              <a:spcAft>
                <a:spcPct val="60000"/>
              </a:spcAft>
              <a:buClr>
                <a:srgbClr val="66FF33"/>
              </a:buClr>
              <a:buSzPct val="85000"/>
            </a:pPr>
            <a:r>
              <a:rPr kumimoji="0" lang="zh-CN" altLang="en-US">
                <a:solidFill>
                  <a:srgbClr val="FFFF00"/>
                </a:solidFill>
                <a:effectLst/>
              </a:rPr>
              <a:t>由系统自动完成，无需人工干预！</a:t>
            </a:r>
          </a:p>
        </p:txBody>
      </p:sp>
    </p:spTree>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title"/>
          </p:nvPr>
        </p:nvSpPr>
        <p:spPr>
          <a:xfrm>
            <a:off x="1036563" y="75753"/>
            <a:ext cx="2197250"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kumimoji="1" lang="zh-CN" altLang="zh-CN" sz="4000" b="1" kern="1200" dirty="0">
                <a:solidFill>
                  <a:srgbClr val="FFFFCC"/>
                </a:solidFill>
                <a:effectLst>
                  <a:outerShdw blurRad="38100" dist="38100" dir="2700000" algn="tl">
                    <a:srgbClr val="000000"/>
                  </a:outerShdw>
                </a:effectLst>
                <a:latin typeface="Arial" pitchFamily="34" charset="0"/>
              </a:rPr>
              <a:t>恢复策略</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8" name="Rectangle 4">
            <a:extLst>
              <a:ext uri="{FF2B5EF4-FFF2-40B4-BE49-F238E27FC236}">
                <a16:creationId xmlns:a16="http://schemas.microsoft.com/office/drawing/2014/main" id="{3D2A1ECE-6C09-40CF-A0B3-51408334AF05}"/>
              </a:ext>
            </a:extLst>
          </p:cNvPr>
          <p:cNvSpPr txBox="1">
            <a:spLocks noChangeArrowheads="1"/>
          </p:cNvSpPr>
          <p:nvPr/>
        </p:nvSpPr>
        <p:spPr>
          <a:xfrm>
            <a:off x="695400" y="980728"/>
            <a:ext cx="8667750" cy="1185863"/>
          </a:xfrm>
          <a:prstGeom prst="rect">
            <a:avLst/>
          </a:prstGeom>
        </p:spPr>
        <p:txBody>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20000"/>
              </a:spcAft>
              <a:defRPr/>
            </a:pPr>
            <a:r>
              <a:rPr kumimoji="1" lang="zh-CN" altLang="en-US" kern="0">
                <a:solidFill>
                  <a:srgbClr val="00FF99"/>
                </a:solidFill>
                <a:latin typeface="楷体_GB2312" pitchFamily="49" charset="-122"/>
              </a:rPr>
              <a:t>系统故障的恢复</a:t>
            </a:r>
            <a:endParaRPr kumimoji="1" lang="zh-CN" altLang="en-US" kern="0" dirty="0">
              <a:solidFill>
                <a:srgbClr val="00FF99"/>
              </a:solidFill>
              <a:latin typeface="楷体_GB2312" pitchFamily="49" charset="-122"/>
            </a:endParaRPr>
          </a:p>
        </p:txBody>
      </p:sp>
      <p:sp>
        <p:nvSpPr>
          <p:cNvPr id="9" name="Rectangle 6">
            <a:extLst>
              <a:ext uri="{FF2B5EF4-FFF2-40B4-BE49-F238E27FC236}">
                <a16:creationId xmlns:a16="http://schemas.microsoft.com/office/drawing/2014/main" id="{B4C134DA-8E4D-434D-BC3A-DC16177D647C}"/>
              </a:ext>
            </a:extLst>
          </p:cNvPr>
          <p:cNvSpPr>
            <a:spLocks noChangeArrowheads="1"/>
          </p:cNvSpPr>
          <p:nvPr/>
        </p:nvSpPr>
        <p:spPr bwMode="auto">
          <a:xfrm>
            <a:off x="1139900" y="1662138"/>
            <a:ext cx="10356700" cy="3742563"/>
          </a:xfrm>
          <a:prstGeom prst="rect">
            <a:avLst/>
          </a:prstGeom>
          <a:noFill/>
          <a:ln w="12700" cap="sq">
            <a:noFill/>
            <a:miter lim="800000"/>
            <a:headEnd/>
            <a:tailEnd/>
          </a:ln>
          <a:effectLst/>
        </p:spPr>
        <p:txBody>
          <a:bodyPr wrap="square" lIns="0" tIns="0" rIns="0" bIns="0">
            <a:spAutoFit/>
          </a:bodyPr>
          <a:lstStyle/>
          <a:p>
            <a:pPr marL="525463" indent="-525463">
              <a:spcBef>
                <a:spcPct val="10000"/>
              </a:spcBef>
              <a:spcAft>
                <a:spcPct val="0"/>
              </a:spcAft>
              <a:defRPr/>
            </a:pPr>
            <a:r>
              <a:rPr lang="zh-CN" altLang="en-US" dirty="0">
                <a:solidFill>
                  <a:srgbClr val="CCFFCC"/>
                </a:solidFill>
                <a:effectLst>
                  <a:outerShdw blurRad="38100" dist="38100" dir="2700000" algn="tl">
                    <a:srgbClr val="000000"/>
                  </a:outerShdw>
                </a:effectLst>
              </a:rPr>
              <a:t>① 正向扫描日志文件，查找已经提交的事务，将其事务标识记入重做</a:t>
            </a:r>
            <a:r>
              <a:rPr lang="en-US" altLang="zh-CN" dirty="0">
                <a:solidFill>
                  <a:srgbClr val="CCFFCC"/>
                </a:solidFill>
                <a:effectLst>
                  <a:outerShdw blurRad="38100" dist="38100" dir="2700000" algn="tl">
                    <a:srgbClr val="000000"/>
                  </a:outerShdw>
                </a:effectLst>
              </a:rPr>
              <a:t>(REDO)</a:t>
            </a:r>
            <a:r>
              <a:rPr lang="zh-CN" altLang="en-US" dirty="0">
                <a:solidFill>
                  <a:srgbClr val="CCFFCC"/>
                </a:solidFill>
                <a:effectLst>
                  <a:outerShdw blurRad="38100" dist="38100" dir="2700000" algn="tl">
                    <a:srgbClr val="000000"/>
                  </a:outerShdw>
                </a:effectLst>
              </a:rPr>
              <a:t>队列；同时查找尚未提交的事务，将其事务标识记入撤消</a:t>
            </a:r>
            <a:r>
              <a:rPr lang="en-US" altLang="zh-CN" dirty="0">
                <a:solidFill>
                  <a:srgbClr val="CCFFCC"/>
                </a:solidFill>
                <a:effectLst>
                  <a:outerShdw blurRad="38100" dist="38100" dir="2700000" algn="tl">
                    <a:srgbClr val="000000"/>
                  </a:outerShdw>
                </a:effectLst>
              </a:rPr>
              <a:t>(UNDO)</a:t>
            </a:r>
            <a:r>
              <a:rPr lang="zh-CN" altLang="en-US" dirty="0">
                <a:solidFill>
                  <a:srgbClr val="CCFFCC"/>
                </a:solidFill>
                <a:effectLst>
                  <a:outerShdw blurRad="38100" dist="38100" dir="2700000" algn="tl">
                    <a:srgbClr val="000000"/>
                  </a:outerShdw>
                </a:effectLst>
              </a:rPr>
              <a:t>队列。</a:t>
            </a:r>
            <a:endParaRPr lang="en-US" altLang="zh-CN" dirty="0">
              <a:solidFill>
                <a:srgbClr val="CCFFCC"/>
              </a:solidFill>
              <a:effectLst>
                <a:outerShdw blurRad="38100" dist="38100" dir="2700000" algn="tl">
                  <a:srgbClr val="000000"/>
                </a:outerShdw>
              </a:effectLst>
            </a:endParaRPr>
          </a:p>
          <a:p>
            <a:pPr marL="525463" indent="-525463">
              <a:spcBef>
                <a:spcPct val="30000"/>
              </a:spcBef>
              <a:spcAft>
                <a:spcPct val="0"/>
              </a:spcAft>
              <a:defRPr/>
            </a:pPr>
            <a:r>
              <a:rPr lang="zh-CN" altLang="en-US" dirty="0">
                <a:solidFill>
                  <a:srgbClr val="CCFFCC"/>
                </a:solidFill>
                <a:effectLst>
                  <a:outerShdw blurRad="38100" dist="38100" dir="2700000" algn="tl">
                    <a:srgbClr val="000000"/>
                  </a:outerShdw>
                </a:effectLst>
              </a:rPr>
              <a:t>② 对撤消队列中的各个事务进行撤消处理，即反向扫描日志文件对这些事务执行逆操作。</a:t>
            </a:r>
            <a:endParaRPr lang="en-US" altLang="zh-CN" dirty="0">
              <a:solidFill>
                <a:srgbClr val="CCFFCC"/>
              </a:solidFill>
              <a:effectLst>
                <a:outerShdw blurRad="38100" dist="38100" dir="2700000" algn="tl">
                  <a:srgbClr val="000000"/>
                </a:outerShdw>
              </a:effectLst>
            </a:endParaRPr>
          </a:p>
          <a:p>
            <a:pPr marL="525463" indent="-525463">
              <a:spcBef>
                <a:spcPct val="30000"/>
              </a:spcBef>
              <a:spcAft>
                <a:spcPct val="0"/>
              </a:spcAft>
              <a:defRPr/>
            </a:pPr>
            <a:r>
              <a:rPr lang="zh-CN" altLang="en-US" dirty="0">
                <a:solidFill>
                  <a:srgbClr val="CCFFCC"/>
                </a:solidFill>
                <a:effectLst>
                  <a:outerShdw blurRad="38100" dist="38100" dir="2700000" algn="tl">
                    <a:srgbClr val="000000"/>
                  </a:outerShdw>
                </a:effectLst>
              </a:rPr>
              <a:t>③ 对重做队列中的各个事务进行重做处理，即正向扫描日志文件对这些事务重新执行日志文件中记录的操作。</a:t>
            </a:r>
          </a:p>
        </p:txBody>
      </p:sp>
      <p:sp>
        <p:nvSpPr>
          <p:cNvPr id="11" name="Rectangle 6">
            <a:extLst>
              <a:ext uri="{FF2B5EF4-FFF2-40B4-BE49-F238E27FC236}">
                <a16:creationId xmlns:a16="http://schemas.microsoft.com/office/drawing/2014/main" id="{A0F9E42A-77C3-4E82-9AB5-3966BB9FC7B7}"/>
              </a:ext>
            </a:extLst>
          </p:cNvPr>
          <p:cNvSpPr>
            <a:spLocks noChangeArrowheads="1"/>
          </p:cNvSpPr>
          <p:nvPr/>
        </p:nvSpPr>
        <p:spPr bwMode="auto">
          <a:xfrm>
            <a:off x="1703512" y="5801423"/>
            <a:ext cx="7776864" cy="584775"/>
          </a:xfrm>
          <a:prstGeom prst="rect">
            <a:avLst/>
          </a:prstGeom>
          <a:solidFill>
            <a:srgbClr val="0000FF"/>
          </a:solidFill>
          <a:ln w="19050" algn="ctr">
            <a:solidFill>
              <a:srgbClr val="CCFF33"/>
            </a:solidFill>
            <a:miter lim="800000"/>
            <a:headEnd/>
            <a:tailEnd/>
          </a:ln>
          <a:effectLst>
            <a:outerShdw dist="35921" dir="2700000" algn="ctr" rotWithShape="0">
              <a:schemeClr val="bg2"/>
            </a:outerShdw>
          </a:effectLst>
        </p:spPr>
        <p:txBody>
          <a:bodyPr wrap="square">
            <a:spAutoFit/>
          </a:bodyPr>
          <a:lstStyle/>
          <a:p>
            <a:pPr algn="ctr">
              <a:spcAft>
                <a:spcPct val="60000"/>
              </a:spcAft>
              <a:buClr>
                <a:srgbClr val="66FF33"/>
              </a:buClr>
              <a:buSzPct val="85000"/>
            </a:pPr>
            <a:r>
              <a:rPr kumimoji="0" lang="zh-CN" altLang="en-US">
                <a:solidFill>
                  <a:srgbClr val="FFFF00"/>
                </a:solidFill>
                <a:effectLst/>
              </a:rPr>
              <a:t>由系统自动完成，无需人工干预！</a:t>
            </a:r>
          </a:p>
        </p:txBody>
      </p:sp>
    </p:spTree>
    <p:custDataLst>
      <p:tags r:id="rId1"/>
    </p:custDataLst>
    <p:extLst>
      <p:ext uri="{BB962C8B-B14F-4D97-AF65-F5344CB8AC3E}">
        <p14:creationId xmlns:p14="http://schemas.microsoft.com/office/powerpoint/2010/main" val="3310865035"/>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title"/>
          </p:nvPr>
        </p:nvSpPr>
        <p:spPr>
          <a:xfrm>
            <a:off x="1036563" y="75753"/>
            <a:ext cx="2197250" cy="760959"/>
          </a:xfrm>
          <a:noFill/>
          <a:ln w="12700" cap="sq">
            <a:noFill/>
            <a:miter lim="800000"/>
            <a:headEnd/>
            <a:tailEnd/>
          </a:ln>
          <a:effectLst>
            <a:outerShdw dist="35921" dir="2700000" algn="ctr" rotWithShape="0">
              <a:schemeClr val="bg2"/>
            </a:outerShdw>
          </a:effectLst>
        </p:spPr>
        <p:txBody>
          <a:bodyPr vert="horz" wrap="none" lIns="72000" tIns="72000" rIns="72000" bIns="72000" numCol="1" anchor="ctr" anchorCtr="0" compatLnSpc="1">
            <a:prstTxWarp prst="textNoShape">
              <a:avLst/>
            </a:prstTxWarp>
            <a:spAutoFit/>
          </a:bodyPr>
          <a:lstStyle/>
          <a:p>
            <a:r>
              <a:rPr kumimoji="1" lang="zh-CN" altLang="zh-CN" sz="4000" b="1" kern="1200" dirty="0">
                <a:solidFill>
                  <a:srgbClr val="FFFFCC"/>
                </a:solidFill>
                <a:effectLst>
                  <a:outerShdw blurRad="38100" dist="38100" dir="2700000" algn="tl">
                    <a:srgbClr val="000000"/>
                  </a:outerShdw>
                </a:effectLst>
                <a:latin typeface="Arial" pitchFamily="34" charset="0"/>
              </a:rPr>
              <a:t>恢复策略</a:t>
            </a:r>
            <a:endParaRPr kumimoji="1" lang="en-US" altLang="zh-CN" sz="4000" b="1" kern="1200" dirty="0">
              <a:solidFill>
                <a:srgbClr val="FFFFCC"/>
              </a:solidFill>
              <a:effectLst>
                <a:outerShdw blurRad="38100" dist="38100" dir="2700000" algn="tl">
                  <a:srgbClr val="000000"/>
                </a:outerShdw>
              </a:effectLst>
              <a:latin typeface="Arial" pitchFamily="34" charset="0"/>
            </a:endParaRPr>
          </a:p>
        </p:txBody>
      </p:sp>
      <p:sp>
        <p:nvSpPr>
          <p:cNvPr id="3" name="Rectangle 4">
            <a:extLst>
              <a:ext uri="{FF2B5EF4-FFF2-40B4-BE49-F238E27FC236}">
                <a16:creationId xmlns:a16="http://schemas.microsoft.com/office/drawing/2014/main" id="{E2C210ED-F80A-4B45-8B9B-49F6A8A84D30}"/>
              </a:ext>
            </a:extLst>
          </p:cNvPr>
          <p:cNvSpPr txBox="1">
            <a:spLocks noChangeArrowheads="1"/>
          </p:cNvSpPr>
          <p:nvPr/>
        </p:nvSpPr>
        <p:spPr>
          <a:xfrm>
            <a:off x="695400" y="1124744"/>
            <a:ext cx="8667750" cy="2463800"/>
          </a:xfrm>
          <a:prstGeom prst="rect">
            <a:avLst/>
          </a:prstGeom>
        </p:spPr>
        <p:txBody>
          <a:bodyPr/>
          <a:lstStyle>
            <a:lvl1pPr marL="342900" indent="-342900" algn="l" rtl="0" eaLnBrk="0" fontAlgn="base" hangingPunct="0">
              <a:spcBef>
                <a:spcPct val="0"/>
              </a:spcBef>
              <a:spcAft>
                <a:spcPct val="40000"/>
              </a:spcAft>
              <a:buClr>
                <a:srgbClr val="66FF33"/>
              </a:buClr>
              <a:buSzPct val="85000"/>
              <a:buFont typeface="Wingdings" pitchFamily="2" charset="2"/>
              <a:buBlip>
                <a:blip r:embed="rId3"/>
              </a:buBlip>
              <a:defRPr sz="3200">
                <a:solidFill>
                  <a:srgbClr val="CCFFCC"/>
                </a:solidFill>
                <a:effectLst>
                  <a:outerShdw blurRad="38100" dist="38100" dir="2700000" algn="tl">
                    <a:srgbClr val="000000"/>
                  </a:outerShdw>
                </a:effectLst>
                <a:latin typeface="微软雅黑" pitchFamily="34" charset="-122"/>
                <a:ea typeface="微软雅黑" pitchFamily="34" charset="-122"/>
                <a:cs typeface="+mn-cs"/>
              </a:defRPr>
            </a:lvl1pPr>
            <a:lvl2pPr marL="742950" indent="-285750" algn="l" rtl="0" eaLnBrk="0" fontAlgn="base" hangingPunct="0">
              <a:spcBef>
                <a:spcPct val="0"/>
              </a:spcBef>
              <a:spcAft>
                <a:spcPct val="50000"/>
              </a:spcAft>
              <a:buClr>
                <a:schemeClr val="accent2"/>
              </a:buClr>
              <a:buSzPct val="50000"/>
              <a:buFont typeface="Wingdings" pitchFamily="2" charset="2"/>
              <a:buChar char="n"/>
              <a:defRPr sz="2800">
                <a:solidFill>
                  <a:srgbClr val="CCFFCC"/>
                </a:solidFill>
                <a:effectLst>
                  <a:outerShdw blurRad="38100" dist="38100" dir="2700000" algn="tl">
                    <a:srgbClr val="000000"/>
                  </a:outerShdw>
                </a:effectLst>
                <a:latin typeface="微软雅黑" pitchFamily="34" charset="-122"/>
                <a:ea typeface="微软雅黑" pitchFamily="34" charset="-122"/>
              </a:defRPr>
            </a:lvl2pPr>
            <a:lvl3pPr marL="1143000" indent="-228600" algn="l" rtl="0" eaLnBrk="0" fontAlgn="base" hangingPunct="0">
              <a:spcBef>
                <a:spcPct val="0"/>
              </a:spcBef>
              <a:spcAft>
                <a:spcPct val="15000"/>
              </a:spcAft>
              <a:buClr>
                <a:schemeClr val="tx2"/>
              </a:buClr>
              <a:buSzPct val="45000"/>
              <a:buFont typeface="Wingdings" pitchFamily="2" charset="2"/>
              <a:buChar char="n"/>
              <a:defRPr sz="2400">
                <a:solidFill>
                  <a:srgbClr val="CCFFCC"/>
                </a:solidFill>
                <a:effectLst>
                  <a:outerShdw blurRad="38100" dist="38100" dir="2700000" algn="tl">
                    <a:srgbClr val="000000"/>
                  </a:outerShdw>
                </a:effectLst>
                <a:latin typeface="微软雅黑" pitchFamily="34" charset="-122"/>
                <a:ea typeface="微软雅黑" pitchFamily="34" charset="-122"/>
              </a:defRPr>
            </a:lvl3pPr>
            <a:lvl4pPr marL="1600200" indent="-228600" algn="l" rtl="0" eaLnBrk="0" fontAlgn="base" hangingPunct="0">
              <a:spcBef>
                <a:spcPct val="0"/>
              </a:spcBef>
              <a:spcAft>
                <a:spcPct val="15000"/>
              </a:spcAft>
              <a:buClr>
                <a:schemeClr val="accent2"/>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4pPr>
            <a:lvl5pPr marL="2057400" indent="-228600" algn="l" rtl="0" eaLnBrk="0" fontAlgn="base" hangingPunct="0">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微软雅黑" pitchFamily="34" charset="-122"/>
                <a:ea typeface="微软雅黑" pitchFamily="34" charset="-122"/>
              </a:defRPr>
            </a:lvl5pPr>
            <a:lvl6pPr marL="25146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6pPr>
            <a:lvl7pPr marL="29718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7pPr>
            <a:lvl8pPr marL="34290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8pPr>
            <a:lvl9pPr marL="3886200" indent="-228600" algn="l" rtl="0" fontAlgn="base">
              <a:spcBef>
                <a:spcPct val="0"/>
              </a:spcBef>
              <a:spcAft>
                <a:spcPct val="15000"/>
              </a:spcAft>
              <a:buClr>
                <a:schemeClr val="hlink"/>
              </a:buClr>
              <a:buSzPct val="70000"/>
              <a:buFont typeface="Wingdings" pitchFamily="2" charset="2"/>
              <a:buChar char="n"/>
              <a:defRPr sz="2000">
                <a:solidFill>
                  <a:srgbClr val="CCFFCC"/>
                </a:solidFill>
                <a:effectLst>
                  <a:outerShdw blurRad="38100" dist="38100" dir="2700000" algn="tl">
                    <a:srgbClr val="000000"/>
                  </a:outerShdw>
                </a:effectLst>
                <a:latin typeface="+mn-lt"/>
                <a:ea typeface="+mn-ea"/>
              </a:defRPr>
            </a:lvl9pPr>
          </a:lstStyle>
          <a:p>
            <a:pPr eaLnBrk="1" hangingPunct="1">
              <a:spcAft>
                <a:spcPct val="20000"/>
              </a:spcAft>
              <a:defRPr/>
            </a:pPr>
            <a:r>
              <a:rPr kumimoji="1" lang="zh-CN" altLang="en-US" kern="0">
                <a:solidFill>
                  <a:srgbClr val="00FF99"/>
                </a:solidFill>
                <a:latin typeface="楷体_GB2312" pitchFamily="49" charset="-122"/>
              </a:rPr>
              <a:t>介质故障的恢复</a:t>
            </a:r>
            <a:endParaRPr kumimoji="1" lang="zh-CN" altLang="en-US" kern="0" dirty="0">
              <a:solidFill>
                <a:srgbClr val="00FF99"/>
              </a:solidFill>
              <a:latin typeface="楷体_GB2312" pitchFamily="49" charset="-122"/>
            </a:endParaRPr>
          </a:p>
        </p:txBody>
      </p:sp>
      <p:sp>
        <p:nvSpPr>
          <p:cNvPr id="4" name="Rectangle 5">
            <a:extLst>
              <a:ext uri="{FF2B5EF4-FFF2-40B4-BE49-F238E27FC236}">
                <a16:creationId xmlns:a16="http://schemas.microsoft.com/office/drawing/2014/main" id="{0DE9B05A-1721-4B3E-957F-0F55D8A272C3}"/>
              </a:ext>
            </a:extLst>
          </p:cNvPr>
          <p:cNvSpPr>
            <a:spLocks noChangeArrowheads="1"/>
          </p:cNvSpPr>
          <p:nvPr/>
        </p:nvSpPr>
        <p:spPr bwMode="auto">
          <a:xfrm>
            <a:off x="1036563" y="1927050"/>
            <a:ext cx="9971708" cy="3003899"/>
          </a:xfrm>
          <a:prstGeom prst="rect">
            <a:avLst/>
          </a:prstGeom>
          <a:noFill/>
          <a:ln w="12700" cap="sq">
            <a:noFill/>
            <a:miter lim="800000"/>
            <a:headEnd/>
            <a:tailEnd/>
          </a:ln>
          <a:effectLst/>
        </p:spPr>
        <p:txBody>
          <a:bodyPr wrap="square" lIns="0" tIns="0" rIns="0" bIns="0">
            <a:spAutoFit/>
          </a:bodyPr>
          <a:lstStyle/>
          <a:p>
            <a:pPr marL="525463" indent="-525463">
              <a:spcBef>
                <a:spcPct val="10000"/>
              </a:spcBef>
              <a:spcAft>
                <a:spcPct val="0"/>
              </a:spcAft>
              <a:defRPr/>
            </a:pPr>
            <a:r>
              <a:rPr lang="zh-CN" altLang="en-US" dirty="0">
                <a:solidFill>
                  <a:srgbClr val="CCFFCC"/>
                </a:solidFill>
                <a:effectLst>
                  <a:outerShdw blurRad="38100" dist="38100" dir="2700000" algn="tl">
                    <a:srgbClr val="000000"/>
                  </a:outerShdw>
                </a:effectLst>
              </a:rPr>
              <a:t>① 装入最新的后备数据库副本，使数据库恢复到最近一次转储时的一致性状态。</a:t>
            </a:r>
            <a:endParaRPr lang="en-US" altLang="zh-CN" dirty="0">
              <a:solidFill>
                <a:srgbClr val="CCFFCC"/>
              </a:solidFill>
              <a:effectLst>
                <a:outerShdw blurRad="38100" dist="38100" dir="2700000" algn="tl">
                  <a:srgbClr val="000000"/>
                </a:outerShdw>
              </a:effectLst>
            </a:endParaRPr>
          </a:p>
          <a:p>
            <a:pPr marL="525463" indent="-525463">
              <a:spcBef>
                <a:spcPct val="55000"/>
              </a:spcBef>
              <a:spcAft>
                <a:spcPct val="0"/>
              </a:spcAft>
              <a:defRPr/>
            </a:pPr>
            <a:r>
              <a:rPr lang="zh-CN" altLang="en-US" dirty="0">
                <a:solidFill>
                  <a:srgbClr val="CCFFCC"/>
                </a:solidFill>
                <a:effectLst>
                  <a:outerShdw blurRad="38100" dist="38100" dir="2700000" algn="tl">
                    <a:srgbClr val="000000"/>
                  </a:outerShdw>
                </a:effectLst>
              </a:rPr>
              <a:t>② 装入最新的日志文件副本。</a:t>
            </a:r>
            <a:endParaRPr lang="en-US" altLang="zh-CN" dirty="0">
              <a:solidFill>
                <a:srgbClr val="CCFFCC"/>
              </a:solidFill>
              <a:effectLst>
                <a:outerShdw blurRad="38100" dist="38100" dir="2700000" algn="tl">
                  <a:srgbClr val="000000"/>
                </a:outerShdw>
              </a:effectLst>
            </a:endParaRPr>
          </a:p>
          <a:p>
            <a:pPr marL="525463" indent="-525463">
              <a:spcBef>
                <a:spcPct val="55000"/>
              </a:spcBef>
              <a:spcAft>
                <a:spcPct val="0"/>
              </a:spcAft>
              <a:defRPr/>
            </a:pPr>
            <a:r>
              <a:rPr lang="zh-CN" altLang="en-US" dirty="0">
                <a:solidFill>
                  <a:srgbClr val="CCFFCC"/>
                </a:solidFill>
                <a:effectLst>
                  <a:outerShdw blurRad="38100" dist="38100" dir="2700000" algn="tl">
                    <a:srgbClr val="000000"/>
                  </a:outerShdw>
                </a:effectLst>
              </a:rPr>
              <a:t>③ 正向扫描日志文件，重做日志文件中记录的已提交的事务。</a:t>
            </a:r>
          </a:p>
        </p:txBody>
      </p:sp>
      <p:sp>
        <p:nvSpPr>
          <p:cNvPr id="5" name="Rectangle 6">
            <a:extLst>
              <a:ext uri="{FF2B5EF4-FFF2-40B4-BE49-F238E27FC236}">
                <a16:creationId xmlns:a16="http://schemas.microsoft.com/office/drawing/2014/main" id="{90D2ABFC-311C-4673-9C82-6EFB05DF1AD2}"/>
              </a:ext>
            </a:extLst>
          </p:cNvPr>
          <p:cNvSpPr>
            <a:spLocks noChangeArrowheads="1"/>
          </p:cNvSpPr>
          <p:nvPr/>
        </p:nvSpPr>
        <p:spPr bwMode="auto">
          <a:xfrm>
            <a:off x="1127448" y="5589240"/>
            <a:ext cx="9880823" cy="646331"/>
          </a:xfrm>
          <a:prstGeom prst="rect">
            <a:avLst/>
          </a:prstGeom>
          <a:solidFill>
            <a:srgbClr val="0000FF"/>
          </a:solidFill>
          <a:ln w="19050" algn="ctr">
            <a:solidFill>
              <a:srgbClr val="CCFF33"/>
            </a:solidFill>
            <a:miter lim="800000"/>
            <a:headEnd/>
            <a:tailEnd/>
          </a:ln>
          <a:effectLst>
            <a:outerShdw dist="35921" dir="2700000" algn="ctr" rotWithShape="0">
              <a:schemeClr val="bg2"/>
            </a:outerShdw>
          </a:effectLst>
        </p:spPr>
        <p:txBody>
          <a:bodyPr wrap="square">
            <a:spAutoFit/>
          </a:bodyPr>
          <a:lstStyle/>
          <a:p>
            <a:pPr algn="ctr">
              <a:spcAft>
                <a:spcPct val="60000"/>
              </a:spcAft>
              <a:buClr>
                <a:srgbClr val="66FF33"/>
              </a:buClr>
              <a:buSzPct val="85000"/>
            </a:pPr>
            <a:r>
              <a:rPr kumimoji="0" lang="en-US" altLang="zh-CN" sz="3600">
                <a:solidFill>
                  <a:srgbClr val="FFFF00"/>
                </a:solidFill>
                <a:effectLst/>
                <a:latin typeface="新宋体" panose="02010609030101010101" pitchFamily="49" charset="-122"/>
                <a:ea typeface="新宋体" panose="02010609030101010101" pitchFamily="49" charset="-122"/>
              </a:rPr>
              <a:t>DBA</a:t>
            </a:r>
            <a:r>
              <a:rPr kumimoji="0" lang="zh-CN" altLang="en-US" sz="3600">
                <a:solidFill>
                  <a:srgbClr val="FFFF00"/>
                </a:solidFill>
                <a:effectLst/>
                <a:latin typeface="新宋体" panose="02010609030101010101" pitchFamily="49" charset="-122"/>
                <a:ea typeface="新宋体" panose="02010609030101010101" pitchFamily="49" charset="-122"/>
              </a:rPr>
              <a:t>负责后备数据库副本和日志文件副本的装入！</a:t>
            </a:r>
          </a:p>
        </p:txBody>
      </p:sp>
    </p:spTree>
    <p:custDataLst>
      <p:tags r:id="rId1"/>
    </p:custDataLst>
    <p:extLst>
      <p:ext uri="{BB962C8B-B14F-4D97-AF65-F5344CB8AC3E}">
        <p14:creationId xmlns:p14="http://schemas.microsoft.com/office/powerpoint/2010/main" val="515166591"/>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1219200" y="635000"/>
            <a:ext cx="9753600" cy="4018136"/>
          </a:xfrm>
          <a:prstGeom prst="rect">
            <a:avLst/>
          </a:prstGeom>
          <a:noFill/>
        </p:spPr>
        <p:txBody>
          <a:bodyPr vert="horz" wrap="square" rtlCol="0" anchor="ctr" anchorCtr="0">
            <a:noAutofit/>
          </a:bodyPr>
          <a:lstStyle/>
          <a:p>
            <a:pPr>
              <a:lnSpc>
                <a:spcPct val="150000"/>
              </a:lnSpc>
            </a:pPr>
            <a:r>
              <a:rPr lang="zh-CN" altLang="en-US" sz="3600" dirty="0">
                <a:latin typeface="Microsoft Yahei" panose="020B0503020204020204" pitchFamily="34" charset="-122"/>
                <a:ea typeface="Microsoft Yahei" panose="020B0503020204020204" pitchFamily="34" charset="-122"/>
                <a:sym typeface="Microsoft Yahei" panose="020B0503020204020204" pitchFamily="34" charset="-122"/>
              </a:rPr>
              <a:t>数据库有哪三类故障？针对不同的故障，数据恢复的策略各是什么？</a:t>
            </a:r>
          </a:p>
        </p:txBody>
      </p:sp>
      <p:sp>
        <p:nvSpPr>
          <p:cNvPr id="6" name="圆角矩形 5"/>
          <p:cNvSpPr/>
          <p:nvPr>
            <p:custDataLst>
              <p:tags r:id="rId3"/>
            </p:custDataLst>
          </p:nvPr>
        </p:nvSpPr>
        <p:spPr bwMode="auto">
          <a:xfrm>
            <a:off x="8915400" y="6215063"/>
            <a:ext cx="1543050" cy="411480"/>
          </a:xfrm>
          <a:prstGeom prst="roundRect">
            <a:avLst/>
          </a:prstGeom>
          <a:solidFill>
            <a:srgbClr val="808080"/>
          </a:solidFill>
          <a:ln w="38100" cap="sq" cmpd="sng" algn="ctr">
            <a:solidFill>
              <a:srgbClr val="000000"/>
            </a:solidFill>
            <a:prstDash val="solid"/>
            <a:round/>
            <a:headEnd type="none" w="med" len="med"/>
            <a:tailEnd type="none" w="med" len="med"/>
          </a:ln>
          <a:effectLst/>
        </p:spPr>
        <p:txBody>
          <a:bodyPr vert="horz" wrap="square" lIns="91440" tIns="45720" rIns="91440" bIns="45720" numCol="1" rtlCol="0" anchor="ctr" anchorCtr="1"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r>
              <a:rPr kumimoji="1" lang="zh-CN" altLang="en-US" sz="1600" b="0" i="0" u="none" strike="noStrike" cap="none" normalizeH="0" baseline="0" smtClean="0">
                <a:ln>
                  <a:noFill/>
                </a:ln>
                <a:solidFill>
                  <a:srgbClr val="FFFFFF"/>
                </a:solidFill>
                <a:effectLst>
                  <a:outerShdw blurRad="38100" dist="38100" dir="2700000" algn="tl">
                    <a:srgbClr val="000000">
                      <a:alpha val="43137"/>
                    </a:srgbClr>
                  </a:outerShdw>
                </a:effectLst>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1" name="组合 10"/>
          <p:cNvGrpSpPr/>
          <p:nvPr>
            <p:custDataLst>
              <p:tags r:id="rId4"/>
            </p:custDataLst>
          </p:nvPr>
        </p:nvGrpSpPr>
        <p:grpSpPr>
          <a:xfrm>
            <a:off x="0" y="0"/>
            <a:ext cx="12192000" cy="635000"/>
            <a:chOff x="0" y="0"/>
            <a:chExt cx="12192000" cy="635000"/>
          </a:xfrm>
        </p:grpSpPr>
        <p:sp>
          <p:nvSpPr>
            <p:cNvPr id="7" name="TitleBackground"/>
            <p:cNvSpPr/>
            <p:nvPr>
              <p:custDataLst>
                <p:tags r:id="rId6"/>
              </p:custDataLst>
            </p:nvPr>
          </p:nvSpPr>
          <p:spPr bwMode="auto">
            <a:xfrm>
              <a:off x="0" y="0"/>
              <a:ext cx="12192000" cy="635000"/>
            </a:xfrm>
            <a:prstGeom prst="rect">
              <a:avLst/>
            </a:prstGeom>
            <a:solidFill>
              <a:srgbClr val="F6F7F8"/>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8" name="ColorBlock"/>
            <p:cNvSpPr/>
            <p:nvPr>
              <p:custDataLst>
                <p:tags r:id="rId7"/>
              </p:custDataLst>
            </p:nvPr>
          </p:nvSpPr>
          <p:spPr bwMode="auto">
            <a:xfrm>
              <a:off x="0" y="0"/>
              <a:ext cx="190500" cy="635000"/>
            </a:xfrm>
            <a:prstGeom prst="rect">
              <a:avLst/>
            </a:prstGeom>
            <a:solidFill>
              <a:srgbClr val="639EF4"/>
            </a:solidFill>
            <a:ln w="12700" cap="sq"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pPr>
              <a:endParaRPr kumimoji="1" lang="zh-CN" alt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endParaRPr>
            </a:p>
          </p:txBody>
        </p:sp>
        <p:sp>
          <p:nvSpPr>
            <p:cNvPr id="9"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76844682"/>
      </p:ext>
    </p:extLst>
  </p:cSld>
  <p:clrMapOvr>
    <a:masterClrMapping/>
  </p:clrMapOvr>
  <mc:AlternateContent xmlns:mc="http://schemas.openxmlformats.org/markup-compatibility/2006">
    <mc:Choice xmlns:p159="http://schemas.microsoft.com/office/powerpoint/2015/09/main" xmlns="" Requires="p159">
      <p:transition>
        <p159:morph option="byObject"/>
      </p:transition>
    </mc:Choice>
    <mc:Fallback>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3392" y="692696"/>
            <a:ext cx="10972800" cy="4054475"/>
          </a:xfrm>
        </p:spPr>
        <p:txBody>
          <a:bodyPr/>
          <a:lstStyle/>
          <a:p>
            <a:pPr marL="0" indent="0">
              <a:buNone/>
            </a:pPr>
            <a:r>
              <a:rPr lang="zh-CN" altLang="en-US" sz="3200" b="1" dirty="0"/>
              <a:t>7.4.4 MySQL数据库的备份和还原</a:t>
            </a:r>
            <a:endParaRPr lang="zh-CN" altLang="en-US" dirty="0"/>
          </a:p>
          <a:p>
            <a:pPr marL="0" indent="0">
              <a:buNone/>
            </a:pPr>
            <a:r>
              <a:rPr lang="zh-CN" altLang="en-US" dirty="0"/>
              <a:t>       MySQL数据库提供了表的锁定和解锁的相关操作，以确保在复制文件期间该文件不会被修改。</a:t>
            </a:r>
          </a:p>
          <a:p>
            <a:pPr marL="0" indent="0">
              <a:buNone/>
            </a:pPr>
            <a:r>
              <a:rPr lang="zh-CN" altLang="en-US" dirty="0"/>
              <a:t>       使用锁定机制备份表的基本步骤为：</a:t>
            </a:r>
          </a:p>
          <a:p>
            <a:pPr marL="0" indent="0">
              <a:buNone/>
            </a:pPr>
            <a:r>
              <a:rPr lang="zh-CN" altLang="en-US" dirty="0"/>
              <a:t>（1）使用LOCK TABLES命令锁定某一表或多个表。</a:t>
            </a:r>
          </a:p>
          <a:p>
            <a:pPr marL="0" indent="0">
              <a:buNone/>
            </a:pPr>
            <a:r>
              <a:rPr lang="zh-CN" altLang="en-US" dirty="0"/>
              <a:t>（2）复制对应的文件。</a:t>
            </a:r>
          </a:p>
          <a:p>
            <a:pPr marL="0" indent="0">
              <a:buNone/>
            </a:pPr>
            <a:r>
              <a:rPr lang="zh-CN" altLang="en-US" dirty="0"/>
              <a:t>（3）使用UNLOCK TABLES解锁已复制完的表。</a:t>
            </a:r>
          </a:p>
        </p:txBody>
      </p:sp>
    </p:spTree>
    <p:custDataLst>
      <p:tags r:id="rId1"/>
    </p:custDataLst>
    <p:extLst>
      <p:ext uri="{BB962C8B-B14F-4D97-AF65-F5344CB8AC3E}">
        <p14:creationId xmlns:p14="http://schemas.microsoft.com/office/powerpoint/2010/main" val="3039276273"/>
      </p:ext>
    </p:extLst>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1424" y="548680"/>
            <a:ext cx="10748645" cy="4820920"/>
          </a:xfrm>
        </p:spPr>
        <p:txBody>
          <a:bodyPr>
            <a:normAutofit fontScale="92500" lnSpcReduction="20000"/>
          </a:bodyPr>
          <a:lstStyle/>
          <a:p>
            <a:pPr marL="0" indent="0">
              <a:buNone/>
            </a:pPr>
            <a:r>
              <a:rPr lang="zh-CN" altLang="en-US" sz="2800" b="1" dirty="0"/>
              <a:t>1.表备份</a:t>
            </a:r>
            <a:endParaRPr lang="zh-CN" altLang="en-US" dirty="0"/>
          </a:p>
          <a:p>
            <a:pPr marL="0" indent="0">
              <a:buNone/>
            </a:pPr>
            <a:r>
              <a:rPr lang="zh-CN" altLang="en-US" b="1" dirty="0"/>
              <a:t>（1）SELECT INTO … OUTFILE语句</a:t>
            </a:r>
            <a:endParaRPr lang="zh-CN" altLang="en-US" dirty="0"/>
          </a:p>
          <a:p>
            <a:pPr marL="0" indent="0">
              <a:buNone/>
            </a:pPr>
            <a:r>
              <a:rPr lang="zh-CN" altLang="en-US" dirty="0"/>
              <a:t>       语句格式为：</a:t>
            </a:r>
          </a:p>
          <a:p>
            <a:pPr marL="0" indent="0">
              <a:buNone/>
            </a:pPr>
            <a:endParaRPr lang="zh-CN" altLang="en-US" dirty="0"/>
          </a:p>
          <a:p>
            <a:pPr marL="0" indent="0">
              <a:buNone/>
            </a:pPr>
            <a:endParaRPr lang="zh-CN" altLang="en-US" dirty="0"/>
          </a:p>
          <a:p>
            <a:pPr marL="0" indent="0">
              <a:buNone/>
            </a:pPr>
            <a:endParaRPr lang="zh-CN" altLang="en-US" dirty="0"/>
          </a:p>
          <a:p>
            <a:pPr marL="0" indent="0">
              <a:buNone/>
            </a:pPr>
            <a:endParaRPr lang="zh-CN" altLang="en-US" dirty="0"/>
          </a:p>
          <a:p>
            <a:pPr marL="0" indent="0">
              <a:buNone/>
            </a:pPr>
            <a:r>
              <a:rPr lang="zh-CN" altLang="en-US" b="1" dirty="0">
                <a:solidFill>
                  <a:srgbClr val="FF0000"/>
                </a:solidFill>
              </a:rPr>
              <a:t>注意</a:t>
            </a:r>
            <a:r>
              <a:rPr lang="zh-CN" altLang="en-US" dirty="0"/>
              <a:t>，如果想在服务器主机之外的客户主机上创建结果文件，不能使用此语句。</a:t>
            </a:r>
          </a:p>
          <a:p>
            <a:pPr marL="0" indent="0">
              <a:buNone/>
            </a:pPr>
            <a:endParaRPr lang="zh-CN" altLang="en-US" dirty="0"/>
          </a:p>
        </p:txBody>
      </p:sp>
      <p:sp>
        <p:nvSpPr>
          <p:cNvPr id="4" name="文本框 3"/>
          <p:cNvSpPr txBox="1"/>
          <p:nvPr/>
        </p:nvSpPr>
        <p:spPr>
          <a:xfrm>
            <a:off x="1991544" y="2120622"/>
            <a:ext cx="7920880" cy="1884442"/>
          </a:xfrm>
          <a:prstGeom prst="rect">
            <a:avLst/>
          </a:prstGeom>
          <a:solidFill>
            <a:schemeClr val="tx2">
              <a:lumMod val="10000"/>
              <a:lumOff val="90000"/>
            </a:schemeClr>
          </a:solidFill>
          <a:ln>
            <a:solidFill>
              <a:schemeClr val="accent1"/>
            </a:solidFill>
          </a:ln>
        </p:spPr>
        <p:txBody>
          <a:bodyPr wrap="square" rtlCol="0" anchor="t">
            <a:spAutoFit/>
          </a:bodyPr>
          <a:lstStyle/>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SELECT 列名列表</a:t>
            </a:r>
            <a:endParaRPr lang="zh-CN" altLang="en-US" b="1">
              <a:solidFill>
                <a:srgbClr val="FF0000"/>
              </a:solidFill>
            </a:endParaRPr>
          </a:p>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INTO OUTFILE | DUMPFILE ‘文件名’ 数据选项</a:t>
            </a:r>
            <a:endParaRPr lang="zh-CN" altLang="en-US" b="1">
              <a:solidFill>
                <a:srgbClr val="FF0000"/>
              </a:solidFill>
            </a:endParaRPr>
          </a:p>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FROM 表名[其它SELECT子句]</a:t>
            </a:r>
          </a:p>
        </p:txBody>
      </p:sp>
    </p:spTree>
    <p:custDataLst>
      <p:tags r:id="rId1"/>
    </p:custDataLst>
    <p:extLst>
      <p:ext uri="{BB962C8B-B14F-4D97-AF65-F5344CB8AC3E}">
        <p14:creationId xmlns:p14="http://schemas.microsoft.com/office/powerpoint/2010/main" val="2129234871"/>
      </p:ext>
    </p:extLst>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67408" y="548680"/>
            <a:ext cx="10440035" cy="5442585"/>
          </a:xfrm>
        </p:spPr>
        <p:txBody>
          <a:bodyPr>
            <a:normAutofit fontScale="85000" lnSpcReduction="20000"/>
          </a:bodyPr>
          <a:lstStyle/>
          <a:p>
            <a:pPr marL="0" indent="0">
              <a:buNone/>
            </a:pPr>
            <a:r>
              <a:rPr lang="zh-CN" altLang="en-US" dirty="0"/>
              <a:t>例7.11 将Student数据库中，表stu中的所有数据备份，填充到d:\table.txt目录下的table.txt文件中。</a:t>
            </a:r>
          </a:p>
          <a:p>
            <a:pPr marL="0" indent="0">
              <a:buNone/>
            </a:pPr>
            <a:r>
              <a:rPr lang="zh-CN" altLang="en-US" dirty="0"/>
              <a:t>         SELECT * INTO OUTFILE “d:\\table.txt” FROM Student；</a:t>
            </a:r>
          </a:p>
          <a:p>
            <a:pPr marL="0" indent="0">
              <a:buNone/>
            </a:pPr>
            <a:r>
              <a:rPr lang="zh-CN" altLang="en-US" dirty="0"/>
              <a:t>（2）BACKUP TABLE语句</a:t>
            </a:r>
          </a:p>
          <a:p>
            <a:pPr marL="0" indent="0">
              <a:buNone/>
            </a:pPr>
            <a:r>
              <a:rPr lang="zh-CN" altLang="en-US" dirty="0"/>
              <a:t>       语句的格式为：</a:t>
            </a:r>
          </a:p>
          <a:p>
            <a:pPr marL="0" indent="0">
              <a:buNone/>
            </a:pPr>
            <a:endParaRPr lang="zh-CN" altLang="en-US" dirty="0"/>
          </a:p>
          <a:p>
            <a:pPr marL="0" indent="0">
              <a:buNone/>
            </a:pPr>
            <a:endParaRPr lang="zh-CN" altLang="en-US" dirty="0"/>
          </a:p>
          <a:p>
            <a:pPr marL="0" indent="0">
              <a:buNone/>
            </a:pPr>
            <a:r>
              <a:rPr lang="zh-CN" altLang="en-US" dirty="0"/>
              <a:t>（3）LOAD DATA  INFILE语句</a:t>
            </a:r>
          </a:p>
          <a:p>
            <a:pPr marL="0" indent="0">
              <a:buNone/>
            </a:pPr>
            <a:r>
              <a:rPr lang="zh-CN" altLang="en-US" dirty="0"/>
              <a:t>       LOAD DATA INFILE语句用于高速地从一个文本文件中读取航，并装入一个表中。</a:t>
            </a:r>
          </a:p>
          <a:p>
            <a:pPr marL="0" indent="0">
              <a:buNone/>
            </a:pPr>
            <a:endParaRPr lang="zh-CN" altLang="en-US" dirty="0"/>
          </a:p>
        </p:txBody>
      </p:sp>
      <p:sp>
        <p:nvSpPr>
          <p:cNvPr id="4" name="文本框 3"/>
          <p:cNvSpPr txBox="1"/>
          <p:nvPr/>
        </p:nvSpPr>
        <p:spPr>
          <a:xfrm>
            <a:off x="4151784" y="2793404"/>
            <a:ext cx="6696744" cy="1061829"/>
          </a:xfrm>
          <a:prstGeom prst="rect">
            <a:avLst/>
          </a:prstGeom>
          <a:solidFill>
            <a:schemeClr val="tx2">
              <a:lumMod val="10000"/>
              <a:lumOff val="90000"/>
            </a:schemeClr>
          </a:solidFill>
          <a:ln>
            <a:solidFill>
              <a:schemeClr val="accent1"/>
            </a:solidFill>
          </a:ln>
        </p:spPr>
        <p:txBody>
          <a:bodyPr wrap="square" rtlCol="0" anchor="t">
            <a:spAutoFit/>
          </a:bodyPr>
          <a:lstStyle/>
          <a:p>
            <a:pPr marL="0" indent="0">
              <a:buNone/>
            </a:pPr>
            <a:r>
              <a:rPr lang="zh-CN" altLang="en-US" sz="2800" b="1" dirty="0">
                <a:solidFill>
                  <a:srgbClr val="FF0000"/>
                </a:solidFill>
                <a:sym typeface="+mn-ea"/>
              </a:rPr>
              <a:t>BACKUP TABLE表名1[，表名2] …</a:t>
            </a:r>
            <a:endParaRPr lang="zh-CN" altLang="en-US" sz="2800" b="1" dirty="0">
              <a:solidFill>
                <a:srgbClr val="FF0000"/>
              </a:solidFill>
            </a:endParaRPr>
          </a:p>
          <a:p>
            <a:pPr marL="0" indent="0">
              <a:buNone/>
            </a:pPr>
            <a:r>
              <a:rPr lang="zh-CN" altLang="en-US" sz="2800" b="1" dirty="0">
                <a:solidFill>
                  <a:srgbClr val="FF0000"/>
                </a:solidFill>
                <a:sym typeface="+mn-ea"/>
              </a:rPr>
              <a:t>TO‘/文件路径/文件名’</a:t>
            </a:r>
          </a:p>
        </p:txBody>
      </p:sp>
    </p:spTree>
    <p:custDataLst>
      <p:tags r:id="rId1"/>
    </p:custDataLst>
    <p:extLst>
      <p:ext uri="{BB962C8B-B14F-4D97-AF65-F5344CB8AC3E}">
        <p14:creationId xmlns:p14="http://schemas.microsoft.com/office/powerpoint/2010/main" val="2911404468"/>
      </p:ext>
    </p:extLst>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1384" y="836712"/>
            <a:ext cx="10972800" cy="4054475"/>
          </a:xfrm>
        </p:spPr>
        <p:txBody>
          <a:bodyPr/>
          <a:lstStyle/>
          <a:p>
            <a:pPr marL="0" indent="0">
              <a:buNone/>
            </a:pPr>
            <a:r>
              <a:rPr lang="en-US" altLang="zh-CN" sz="2800" b="1" dirty="0"/>
              <a:t>2. </a:t>
            </a:r>
            <a:r>
              <a:rPr lang="zh-CN" altLang="en-US" sz="2800" b="1" dirty="0"/>
              <a:t>自动备份</a:t>
            </a:r>
            <a:endParaRPr lang="zh-CN" altLang="en-US" dirty="0"/>
          </a:p>
          <a:p>
            <a:pPr marL="0" indent="0">
              <a:buNone/>
            </a:pPr>
            <a:r>
              <a:rPr lang="zh-CN" altLang="en-US" b="1" dirty="0"/>
              <a:t>（</a:t>
            </a:r>
            <a:r>
              <a:rPr lang="en-US" altLang="zh-CN" b="1" dirty="0"/>
              <a:t>1</a:t>
            </a:r>
            <a:r>
              <a:rPr lang="zh-CN" altLang="en-US" b="1" dirty="0"/>
              <a:t>）指定恢复时间</a:t>
            </a:r>
            <a:endParaRPr lang="zh-CN" altLang="en-US" dirty="0"/>
          </a:p>
          <a:p>
            <a:pPr marL="0" indent="0">
              <a:buNone/>
            </a:pPr>
            <a:r>
              <a:rPr lang="zh-CN" altLang="en-US" dirty="0"/>
              <a:t>       可以在</a:t>
            </a:r>
            <a:r>
              <a:rPr lang="zh-CN" altLang="en-US" b="1" dirty="0">
                <a:solidFill>
                  <a:srgbClr val="FF0000"/>
                </a:solidFill>
              </a:rPr>
              <a:t>mysqlbinlog</a:t>
            </a:r>
            <a:r>
              <a:rPr lang="zh-CN" altLang="en-US" dirty="0"/>
              <a:t>命令中通过</a:t>
            </a:r>
            <a:r>
              <a:rPr lang="zh-CN" altLang="en-US" b="1" dirty="0">
                <a:solidFill>
                  <a:srgbClr val="FF0000"/>
                </a:solidFill>
              </a:rPr>
              <a:t>--start-date</a:t>
            </a:r>
            <a:r>
              <a:rPr lang="zh-CN" altLang="en-US" dirty="0"/>
              <a:t>和</a:t>
            </a:r>
            <a:r>
              <a:rPr lang="zh-CN" altLang="en-US" b="1" dirty="0">
                <a:solidFill>
                  <a:srgbClr val="FF0000"/>
                </a:solidFill>
              </a:rPr>
              <a:t>--stop-date</a:t>
            </a:r>
            <a:r>
              <a:rPr lang="zh-CN" altLang="en-US" dirty="0"/>
              <a:t>选项指定DATETIME格式的起止时间。</a:t>
            </a:r>
          </a:p>
          <a:p>
            <a:pPr marL="0" indent="0">
              <a:buNone/>
            </a:pPr>
            <a:r>
              <a:rPr lang="zh-CN" altLang="en-US" dirty="0"/>
              <a:t>例7.12 恢复2017年12月31日上午10点10分10秒的数据。</a:t>
            </a:r>
          </a:p>
          <a:p>
            <a:pPr marL="948690" indent="-948690">
              <a:buNone/>
            </a:pPr>
            <a:r>
              <a:rPr lang="zh-CN" altLang="en-US" dirty="0"/>
              <a:t>          mysqlbinlog --stop-date=“2017-12-31                     10:10:10”/var/log/mysql/bin\|mysql -u root -pmypwd；</a:t>
            </a:r>
          </a:p>
        </p:txBody>
      </p:sp>
    </p:spTree>
    <p:custDataLst>
      <p:tags r:id="rId1"/>
    </p:custDataLst>
    <p:extLst>
      <p:ext uri="{BB962C8B-B14F-4D97-AF65-F5344CB8AC3E}">
        <p14:creationId xmlns:p14="http://schemas.microsoft.com/office/powerpoint/2010/main" val="243065474"/>
      </p:ext>
    </p:extLst>
  </p:cSld>
  <p:clrMapOvr>
    <a:masterClrMapping/>
  </p:clrMapOvr>
  <p:transition>
    <p:rand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51384" y="764704"/>
            <a:ext cx="10972800" cy="4054475"/>
          </a:xfrm>
        </p:spPr>
        <p:txBody>
          <a:bodyPr>
            <a:normAutofit fontScale="85000" lnSpcReduction="10000"/>
          </a:bodyPr>
          <a:lstStyle/>
          <a:p>
            <a:pPr marL="0" indent="0">
              <a:buNone/>
            </a:pPr>
            <a:r>
              <a:rPr lang="zh-CN" altLang="en-US" b="1" dirty="0">
                <a:sym typeface="+mn-ea"/>
              </a:rPr>
              <a:t>（2）指定恢复位置</a:t>
            </a:r>
            <a:endParaRPr lang="zh-CN" altLang="en-US" dirty="0"/>
          </a:p>
          <a:p>
            <a:pPr marL="0" indent="0">
              <a:buNone/>
            </a:pPr>
            <a:r>
              <a:rPr lang="zh-CN" altLang="en-US" dirty="0"/>
              <a:t>       可以根据系统日志的位置号，来恢复数据，使用</a:t>
            </a:r>
            <a:r>
              <a:rPr lang="zh-CN" altLang="en-US" b="1" dirty="0">
                <a:solidFill>
                  <a:srgbClr val="FF0000"/>
                </a:solidFill>
              </a:rPr>
              <a:t>mysqlbinlog</a:t>
            </a:r>
            <a:r>
              <a:rPr lang="zh-CN" altLang="en-US" dirty="0"/>
              <a:t>的选项</a:t>
            </a:r>
            <a:r>
              <a:rPr lang="zh-CN" altLang="en-US" b="1" dirty="0">
                <a:solidFill>
                  <a:srgbClr val="FF0000"/>
                </a:solidFill>
              </a:rPr>
              <a:t>--start-positon</a:t>
            </a:r>
            <a:r>
              <a:rPr lang="zh-CN" altLang="en-US" dirty="0"/>
              <a:t>和</a:t>
            </a:r>
            <a:r>
              <a:rPr lang="zh-CN" altLang="en-US" b="1" dirty="0">
                <a:solidFill>
                  <a:srgbClr val="FF0000"/>
                </a:solidFill>
              </a:rPr>
              <a:t>--stop-position</a:t>
            </a:r>
            <a:r>
              <a:rPr lang="zh-CN" altLang="en-US" dirty="0"/>
              <a:t>来执行。</a:t>
            </a:r>
          </a:p>
          <a:p>
            <a:pPr marL="0" indent="0">
              <a:buNone/>
            </a:pPr>
            <a:r>
              <a:rPr lang="zh-CN" altLang="en-US" dirty="0"/>
              <a:t>例7.13 查找2017年12月31日上午10:00~10:10的时间范围的位置号。</a:t>
            </a:r>
          </a:p>
          <a:p>
            <a:pPr marL="0" indent="0">
              <a:buNone/>
            </a:pPr>
            <a:r>
              <a:rPr lang="zh-CN" altLang="en-US" dirty="0"/>
              <a:t>          mysqlbinlog </a:t>
            </a:r>
          </a:p>
          <a:p>
            <a:pPr marL="0" indent="0">
              <a:buNone/>
            </a:pPr>
            <a:r>
              <a:rPr lang="zh-CN" altLang="en-US" dirty="0"/>
              <a:t>          --start-date=“2017-12-31 10:00:00” </a:t>
            </a:r>
          </a:p>
          <a:p>
            <a:pPr marL="0" indent="0">
              <a:buNone/>
            </a:pPr>
            <a:r>
              <a:rPr lang="zh-CN" altLang="en-US" dirty="0"/>
              <a:t>          --stop-date=“2017-12-31 10:10:00”\/var/log/mysql/bin</a:t>
            </a:r>
          </a:p>
          <a:p>
            <a:pPr marL="0" indent="0">
              <a:buNone/>
            </a:pPr>
            <a:r>
              <a:rPr lang="zh-CN" altLang="en-US" dirty="0"/>
              <a:t>          &gt; /tmp/mysql_restore.sql</a:t>
            </a:r>
          </a:p>
        </p:txBody>
      </p:sp>
    </p:spTree>
    <p:custDataLst>
      <p:tags r:id="rId1"/>
    </p:custDataLst>
    <p:extLst>
      <p:ext uri="{BB962C8B-B14F-4D97-AF65-F5344CB8AC3E}">
        <p14:creationId xmlns:p14="http://schemas.microsoft.com/office/powerpoint/2010/main" val="1759993560"/>
      </p:ext>
    </p:extLst>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3392" y="1484784"/>
            <a:ext cx="10972800" cy="4054475"/>
          </a:xfrm>
        </p:spPr>
        <p:txBody>
          <a:bodyPr/>
          <a:lstStyle/>
          <a:p>
            <a:pPr marL="0" indent="0">
              <a:buNone/>
            </a:pPr>
            <a:r>
              <a:rPr lang="zh-CN" altLang="en-US" sz="2800" b="1" dirty="0"/>
              <a:t>3.完全备份</a:t>
            </a:r>
            <a:endParaRPr lang="zh-CN" altLang="en-US" dirty="0"/>
          </a:p>
          <a:p>
            <a:pPr marL="0" indent="0">
              <a:buNone/>
            </a:pPr>
            <a:r>
              <a:rPr lang="zh-CN" altLang="en-US" dirty="0"/>
              <a:t>       mysqldump命令备份数据库语法格式如下：</a:t>
            </a:r>
          </a:p>
          <a:p>
            <a:pPr>
              <a:buFont typeface="Wingdings" panose="05000000000000000000" charset="0"/>
              <a:buChar char="u"/>
            </a:pPr>
            <a:r>
              <a:rPr lang="zh-CN" altLang="en-US" dirty="0"/>
              <a:t> 备份一个数据库或一张表，而不提供备份文件的地址</a:t>
            </a:r>
          </a:p>
          <a:p>
            <a:pPr marL="0" indent="0">
              <a:buNone/>
            </a:pPr>
            <a:endParaRPr lang="zh-CN" altLang="en-US" dirty="0"/>
          </a:p>
          <a:p>
            <a:pPr>
              <a:buFont typeface="Wingdings" panose="05000000000000000000" charset="0"/>
              <a:buChar char="u"/>
            </a:pPr>
            <a:r>
              <a:rPr lang="zh-CN" altLang="en-US" dirty="0"/>
              <a:t> 备份一个数据库或一张表，指明备份文件的名称和地址</a:t>
            </a:r>
          </a:p>
          <a:p>
            <a:pPr marL="0" indent="0">
              <a:buNone/>
            </a:pPr>
            <a:endParaRPr lang="zh-CN" altLang="en-US" dirty="0"/>
          </a:p>
        </p:txBody>
      </p:sp>
      <p:sp>
        <p:nvSpPr>
          <p:cNvPr id="4" name="文本框 3"/>
          <p:cNvSpPr txBox="1"/>
          <p:nvPr/>
        </p:nvSpPr>
        <p:spPr>
          <a:xfrm>
            <a:off x="2904490" y="3566795"/>
            <a:ext cx="5510530" cy="460375"/>
          </a:xfrm>
          <a:prstGeom prst="rect">
            <a:avLst/>
          </a:prstGeom>
          <a:solidFill>
            <a:schemeClr val="tx2">
              <a:lumMod val="10000"/>
              <a:lumOff val="90000"/>
            </a:schemeClr>
          </a:solidFill>
          <a:ln>
            <a:solidFill>
              <a:schemeClr val="accent1"/>
            </a:solidFill>
          </a:ln>
        </p:spPr>
        <p:txBody>
          <a:bodyPr wrap="square" rtlCol="0" anchor="t">
            <a:spAutoFit/>
          </a:bodyPr>
          <a:lstStyle/>
          <a:p>
            <a:r>
              <a:rPr lang="zh-CN" altLang="en-US" sz="2400" b="1">
                <a:solidFill>
                  <a:srgbClr val="FF0000"/>
                </a:solidFill>
                <a:latin typeface="微软雅黑" panose="020B0503020204020204" charset="-122"/>
                <a:ea typeface="微软雅黑" panose="020B0503020204020204" charset="-122"/>
                <a:sym typeface="+mn-ea"/>
              </a:rPr>
              <a:t>mysqldump [选项] 数据库名[表名]</a:t>
            </a:r>
          </a:p>
        </p:txBody>
      </p:sp>
      <p:sp>
        <p:nvSpPr>
          <p:cNvPr id="5" name="文本框 4"/>
          <p:cNvSpPr txBox="1"/>
          <p:nvPr/>
        </p:nvSpPr>
        <p:spPr>
          <a:xfrm>
            <a:off x="2904490" y="4791075"/>
            <a:ext cx="6019165" cy="1105535"/>
          </a:xfrm>
          <a:prstGeom prst="rect">
            <a:avLst/>
          </a:prstGeom>
          <a:solidFill>
            <a:schemeClr val="tx2">
              <a:lumMod val="10000"/>
              <a:lumOff val="90000"/>
            </a:schemeClr>
          </a:solidFill>
          <a:ln>
            <a:solidFill>
              <a:schemeClr val="accent1"/>
            </a:solidFill>
          </a:ln>
        </p:spPr>
        <p:txBody>
          <a:bodyPr wrap="square" rtlCol="0" anchor="t">
            <a:spAutoFit/>
          </a:bodyPr>
          <a:lstStyle/>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mysqldump [选项] 数据库名[表名] </a:t>
            </a:r>
            <a:endParaRPr lang="zh-CN" altLang="en-US" b="1">
              <a:solidFill>
                <a:srgbClr val="FF0000"/>
              </a:solidFill>
            </a:endParaRPr>
          </a:p>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&gt;文件路径（文件名称）</a:t>
            </a:r>
          </a:p>
        </p:txBody>
      </p:sp>
    </p:spTree>
    <p:custDataLst>
      <p:tags r:id="rId1"/>
    </p:custDataLst>
    <p:extLst>
      <p:ext uri="{BB962C8B-B14F-4D97-AF65-F5344CB8AC3E}">
        <p14:creationId xmlns:p14="http://schemas.microsoft.com/office/powerpoint/2010/main" val="3178985554"/>
      </p:ext>
    </p:extLst>
  </p:cSld>
  <p:clrMapOvr>
    <a:masterClrMapping/>
  </p:clrMapOvr>
  <p:transition>
    <p:rand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620688"/>
            <a:ext cx="10972800" cy="5328592"/>
          </a:xfrm>
        </p:spPr>
        <p:txBody>
          <a:bodyPr>
            <a:normAutofit fontScale="92500" lnSpcReduction="20000"/>
          </a:bodyPr>
          <a:lstStyle/>
          <a:p>
            <a:pPr marL="0" indent="0">
              <a:buNone/>
            </a:pPr>
            <a:r>
              <a:rPr lang="zh-CN" altLang="en-US" dirty="0"/>
              <a:t>例7.14 对Student数据库中的stu表进行别分，使用root用户名，密码为空，不提供备份文件的地址。</a:t>
            </a:r>
          </a:p>
          <a:p>
            <a:pPr marL="0" indent="0">
              <a:buNone/>
            </a:pPr>
            <a:r>
              <a:rPr lang="zh-CN" altLang="en-US" dirty="0"/>
              <a:t>        mysqldump -u root -p Student stu；</a:t>
            </a:r>
          </a:p>
          <a:p>
            <a:pPr>
              <a:buFont typeface="Wingdings" panose="05000000000000000000" charset="0"/>
              <a:buChar char="u"/>
            </a:pPr>
            <a:r>
              <a:rPr lang="zh-CN" altLang="en-US" dirty="0"/>
              <a:t> 同时备份多个数据库</a:t>
            </a:r>
          </a:p>
          <a:p>
            <a:pPr marL="0" indent="0">
              <a:buNone/>
            </a:pPr>
            <a:endParaRPr lang="zh-CN" altLang="en-US" dirty="0"/>
          </a:p>
          <a:p>
            <a:pPr marL="0" indent="0">
              <a:buNone/>
            </a:pPr>
            <a:endParaRPr lang="zh-CN" altLang="en-US" dirty="0"/>
          </a:p>
          <a:p>
            <a:pPr marL="0" indent="0">
              <a:buNone/>
            </a:pPr>
            <a:endParaRPr lang="zh-CN" altLang="en-US" dirty="0"/>
          </a:p>
          <a:p>
            <a:pPr marL="0" indent="0">
              <a:buNone/>
            </a:pPr>
            <a:r>
              <a:rPr lang="zh-CN" altLang="en-US" dirty="0"/>
              <a:t>例7.15 同时备份Student数据库和Teacher数据库。</a:t>
            </a:r>
          </a:p>
          <a:p>
            <a:pPr marL="0" indent="0">
              <a:buNone/>
            </a:pPr>
            <a:r>
              <a:rPr lang="zh-CN" altLang="en-US" dirty="0"/>
              <a:t>            mysqldump -u root -p --databases Student Teacher；</a:t>
            </a:r>
          </a:p>
        </p:txBody>
      </p:sp>
      <p:sp>
        <p:nvSpPr>
          <p:cNvPr id="4" name="文本框 3"/>
          <p:cNvSpPr txBox="1"/>
          <p:nvPr/>
        </p:nvSpPr>
        <p:spPr>
          <a:xfrm>
            <a:off x="2567608" y="2636912"/>
            <a:ext cx="6184900" cy="1105535"/>
          </a:xfrm>
          <a:prstGeom prst="rect">
            <a:avLst/>
          </a:prstGeom>
          <a:solidFill>
            <a:schemeClr val="tx2">
              <a:lumMod val="10000"/>
              <a:lumOff val="90000"/>
            </a:schemeClr>
          </a:solidFill>
          <a:ln>
            <a:solidFill>
              <a:schemeClr val="accent1"/>
            </a:solidFill>
          </a:ln>
        </p:spPr>
        <p:txBody>
          <a:bodyPr wrap="none" rtlCol="0" anchor="t">
            <a:spAutoFit/>
          </a:bodyPr>
          <a:lstStyle/>
          <a:p>
            <a:pPr algn="l">
              <a:lnSpc>
                <a:spcPct val="120000"/>
              </a:lnSpc>
              <a:spcBef>
                <a:spcPts val="1000"/>
              </a:spcBef>
              <a:buFont typeface="Arial" panose="020B0604020202020204" pitchFamily="34" charset="0"/>
            </a:pPr>
            <a:r>
              <a:rPr lang="zh-CN" altLang="en-US" sz="2400" b="1" dirty="0">
                <a:solidFill>
                  <a:srgbClr val="FF0000"/>
                </a:solidFill>
                <a:latin typeface="微软雅黑" panose="020B0503020204020204" charset="-122"/>
                <a:ea typeface="微软雅黑" panose="020B0503020204020204" charset="-122"/>
                <a:sym typeface="+mn-ea"/>
              </a:rPr>
              <a:t>mysqldump [选项]</a:t>
            </a:r>
          </a:p>
          <a:p>
            <a:pPr algn="l">
              <a:lnSpc>
                <a:spcPct val="120000"/>
              </a:lnSpc>
              <a:spcBef>
                <a:spcPts val="1000"/>
              </a:spcBef>
              <a:buFont typeface="Arial" panose="020B0604020202020204" pitchFamily="34" charset="0"/>
            </a:pPr>
            <a:r>
              <a:rPr lang="zh-CN" altLang="en-US" sz="2400" b="1" dirty="0">
                <a:solidFill>
                  <a:srgbClr val="FF0000"/>
                </a:solidFill>
                <a:latin typeface="微软雅黑" panose="020B0503020204020204" charset="-122"/>
                <a:ea typeface="微软雅黑" panose="020B0503020204020204" charset="-122"/>
                <a:sym typeface="+mn-ea"/>
              </a:rPr>
              <a:t>--databases 数据库1[数据库2 数据库3 … ]</a:t>
            </a:r>
          </a:p>
        </p:txBody>
      </p:sp>
    </p:spTree>
    <p:custDataLst>
      <p:tags r:id="rId1"/>
    </p:custDataLst>
    <p:extLst>
      <p:ext uri="{BB962C8B-B14F-4D97-AF65-F5344CB8AC3E}">
        <p14:creationId xmlns:p14="http://schemas.microsoft.com/office/powerpoint/2010/main" val="4062149247"/>
      </p:ext>
    </p:extLst>
  </p:cSld>
  <p:clrMapOvr>
    <a:masterClrMapping/>
  </p:clrMapOvr>
  <p:transition>
    <p:random/>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95400" y="764704"/>
            <a:ext cx="10972800" cy="4054475"/>
          </a:xfrm>
        </p:spPr>
        <p:txBody>
          <a:bodyPr/>
          <a:lstStyle/>
          <a:p>
            <a:pPr>
              <a:buFont typeface="Wingdings" panose="05000000000000000000" charset="0"/>
              <a:buChar char="u"/>
            </a:pPr>
            <a:r>
              <a:rPr lang="en-US" altLang="zh-CN" dirty="0"/>
              <a:t> </a:t>
            </a:r>
            <a:r>
              <a:rPr lang="zh-CN" altLang="en-US" dirty="0"/>
              <a:t>备份服务器上所有的数据库</a:t>
            </a:r>
          </a:p>
          <a:p>
            <a:pPr marL="0" indent="0">
              <a:buNone/>
            </a:pPr>
            <a:endParaRPr lang="zh-CN" altLang="en-US" dirty="0"/>
          </a:p>
          <a:p>
            <a:pPr marL="0" indent="0">
              <a:buNone/>
            </a:pPr>
            <a:r>
              <a:rPr lang="zh-CN" altLang="en-US" dirty="0"/>
              <a:t>例7.16 备份当前服务器的所有数据库。</a:t>
            </a:r>
          </a:p>
          <a:p>
            <a:pPr marL="0" indent="0">
              <a:buNone/>
            </a:pPr>
            <a:r>
              <a:rPr lang="zh-CN" altLang="en-US" dirty="0"/>
              <a:t>          mysqldump -u root -p --all -databases；</a:t>
            </a:r>
          </a:p>
          <a:p>
            <a:pPr marL="0" indent="0">
              <a:buNone/>
            </a:pPr>
            <a:r>
              <a:rPr lang="zh-CN" altLang="en-US" sz="2800" b="1" dirty="0"/>
              <a:t>4.文件还原</a:t>
            </a:r>
          </a:p>
          <a:p>
            <a:pPr marL="0" indent="0">
              <a:buNone/>
            </a:pPr>
            <a:r>
              <a:rPr lang="zh-CN" altLang="en-US" dirty="0"/>
              <a:t>       根据数据库/表所备份的文件来使数据恢复。语法格式如下：</a:t>
            </a:r>
          </a:p>
          <a:p>
            <a:pPr marL="0" indent="0">
              <a:buNone/>
            </a:pPr>
            <a:endParaRPr lang="zh-CN" altLang="en-US" dirty="0"/>
          </a:p>
        </p:txBody>
      </p:sp>
      <p:sp>
        <p:nvSpPr>
          <p:cNvPr id="4" name="文本框 3"/>
          <p:cNvSpPr txBox="1"/>
          <p:nvPr/>
        </p:nvSpPr>
        <p:spPr>
          <a:xfrm>
            <a:off x="2711624" y="1484784"/>
            <a:ext cx="5412740" cy="460375"/>
          </a:xfrm>
          <a:prstGeom prst="rect">
            <a:avLst/>
          </a:prstGeom>
          <a:solidFill>
            <a:schemeClr val="tx2">
              <a:lumMod val="10000"/>
              <a:lumOff val="90000"/>
            </a:schemeClr>
          </a:solidFill>
          <a:ln>
            <a:solidFill>
              <a:schemeClr val="accent1"/>
            </a:solidFill>
          </a:ln>
        </p:spPr>
        <p:txBody>
          <a:bodyPr wrap="none" rtlCol="0" anchor="t">
            <a:spAutoFit/>
          </a:bodyPr>
          <a:lstStyle/>
          <a:p>
            <a:r>
              <a:rPr lang="zh-CN" altLang="en-US" sz="2400" b="1" dirty="0">
                <a:solidFill>
                  <a:srgbClr val="FF0000"/>
                </a:solidFill>
                <a:latin typeface="微软雅黑" panose="020B0503020204020204" charset="-122"/>
                <a:ea typeface="微软雅黑" panose="020B0503020204020204" charset="-122"/>
                <a:sym typeface="+mn-ea"/>
              </a:rPr>
              <a:t>mysqldump [选项] --all -databases</a:t>
            </a:r>
          </a:p>
        </p:txBody>
      </p:sp>
      <p:sp>
        <p:nvSpPr>
          <p:cNvPr id="5" name="文本框 4"/>
          <p:cNvSpPr txBox="1"/>
          <p:nvPr/>
        </p:nvSpPr>
        <p:spPr>
          <a:xfrm>
            <a:off x="1876425" y="5417185"/>
            <a:ext cx="8848090" cy="534035"/>
          </a:xfrm>
          <a:prstGeom prst="rect">
            <a:avLst/>
          </a:prstGeom>
          <a:solidFill>
            <a:schemeClr val="tx2">
              <a:lumMod val="10000"/>
              <a:lumOff val="90000"/>
            </a:schemeClr>
          </a:solidFill>
          <a:ln>
            <a:solidFill>
              <a:schemeClr val="accent1"/>
            </a:solidFill>
          </a:ln>
        </p:spPr>
        <p:txBody>
          <a:bodyPr wrap="none" rtlCol="0" anchor="t">
            <a:spAutoFit/>
          </a:bodyPr>
          <a:lstStyle/>
          <a:p>
            <a:pPr algn="l">
              <a:lnSpc>
                <a:spcPct val="120000"/>
              </a:lnSpc>
              <a:spcBef>
                <a:spcPts val="1000"/>
              </a:spcBef>
              <a:buFont typeface="Arial" panose="020B0604020202020204" pitchFamily="34" charset="0"/>
            </a:pPr>
            <a:r>
              <a:rPr lang="zh-CN" altLang="en-US" sz="2400" b="1">
                <a:solidFill>
                  <a:srgbClr val="FF0000"/>
                </a:solidFill>
                <a:latin typeface="微软雅黑" panose="020B0503020204020204" charset="-122"/>
                <a:ea typeface="微软雅黑" panose="020B0503020204020204" charset="-122"/>
                <a:sym typeface="+mn-ea"/>
              </a:rPr>
              <a:t>mysqldump -u username -p [dbname] &lt;backupname.sql</a:t>
            </a:r>
          </a:p>
        </p:txBody>
      </p:sp>
    </p:spTree>
    <p:custDataLst>
      <p:tags r:id="rId1"/>
    </p:custDataLst>
    <p:extLst>
      <p:ext uri="{BB962C8B-B14F-4D97-AF65-F5344CB8AC3E}">
        <p14:creationId xmlns:p14="http://schemas.microsoft.com/office/powerpoint/2010/main" val="1055785565"/>
      </p:ext>
    </p:extLst>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3392" y="1412776"/>
            <a:ext cx="10972800" cy="4054475"/>
          </a:xfrm>
        </p:spPr>
        <p:txBody>
          <a:bodyPr/>
          <a:lstStyle/>
          <a:p>
            <a:pPr marL="0" indent="0">
              <a:buNone/>
            </a:pPr>
            <a:r>
              <a:rPr lang="zh-CN" altLang="en-US" dirty="0"/>
              <a:t>例7.17 利用备份文件“t_dept_back.sql”还原数据库Student下的stu表。</a:t>
            </a:r>
          </a:p>
          <a:p>
            <a:pPr marL="0" indent="0">
              <a:buNone/>
            </a:pPr>
            <a:r>
              <a:rPr lang="zh-CN" altLang="en-US" dirty="0"/>
              <a:t>             mysql -u root -p &lt;d:\t_dept_back.sql</a:t>
            </a:r>
          </a:p>
        </p:txBody>
      </p:sp>
    </p:spTree>
    <p:custDataLst>
      <p:tags r:id="rId1"/>
    </p:custDataLst>
    <p:extLst>
      <p:ext uri="{BB962C8B-B14F-4D97-AF65-F5344CB8AC3E}">
        <p14:creationId xmlns:p14="http://schemas.microsoft.com/office/powerpoint/2010/main" val="795059131"/>
      </p:ext>
    </p:ext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SLIDETAGS"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8.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 val="ShortAnswer"/>
  <p:tag name="PROBLEMSCORE" val="50.0"/>
  <p:tag name="PROBLEMVOICEALLOWED" val="False"/>
</p:tagLst>
</file>

<file path=ppt/tags/tag2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9.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5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5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5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5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66.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6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79.xml><?xml version="1.0" encoding="utf-8"?>
<p:tagLst xmlns:a="http://schemas.openxmlformats.org/drawingml/2006/main" xmlns:r="http://schemas.openxmlformats.org/officeDocument/2006/relationships" xmlns:p="http://schemas.openxmlformats.org/presentationml/2006/main">
  <p:tag name="SLIDETAGS" val="[]"/>
</p:tagLst>
</file>

<file path=ppt/tags/tag80.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8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xml><?xml version="1.0" encoding="utf-8"?>
<p:tagLst xmlns:a="http://schemas.openxmlformats.org/drawingml/2006/main" xmlns:r="http://schemas.openxmlformats.org/officeDocument/2006/relationships" xmlns:p="http://schemas.openxmlformats.org/presentationml/2006/main">
  <p:tag name="SLIDETAGS" val="[]"/>
</p:tagLst>
</file>

<file path=ppt/tags/tag90.xml><?xml version="1.0" encoding="utf-8"?>
<p:tagLst xmlns:a="http://schemas.openxmlformats.org/drawingml/2006/main" xmlns:r="http://schemas.openxmlformats.org/officeDocument/2006/relationships" xmlns:p="http://schemas.openxmlformats.org/presentationml/2006/main">
  <p:tag name="SLIDETAGS" val="[]"/>
</p:tagLst>
</file>

<file path=ppt/tags/tag9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9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6579"/>
</p:tagLst>
</file>

<file path=ppt/theme/theme1.xml><?xml version="1.0" encoding="utf-8"?>
<a:theme xmlns:a="http://schemas.openxmlformats.org/drawingml/2006/main" name="1_带有标题的">
  <a:themeElements>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fontScheme name="带有标题的">
      <a:majorFont>
        <a:latin typeface="方正姚体"/>
        <a:ea typeface="方正姚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spDef>
    <a:lnDef>
      <a:spPr bwMode="auto">
        <a:xfrm>
          <a:off x="0" y="0"/>
          <a:ext cx="1" cy="1"/>
        </a:xfrm>
        <a:custGeom>
          <a:avLst/>
          <a:gdLst/>
          <a:ahLst/>
          <a:cxnLst/>
          <a:rect l="0" t="0" r="0" b="0"/>
          <a:pathLst/>
        </a:custGeom>
        <a:noFill/>
        <a:ln w="12700" cap="sq"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25000"/>
          </a:spcAft>
          <a:buClrTx/>
          <a:buSzPct val="80000"/>
          <a:buFont typeface="Wingdings" pitchFamily="2" charset="2"/>
          <a:buNone/>
          <a:tabLst>
            <a:tab pos="1071563" algn="l"/>
          </a:tabLst>
          <a:defRPr kumimoji="1" lang="en-US" sz="3200" b="0" i="0" u="none" strike="noStrike" cap="none" normalizeH="0" baseline="0" smtClean="0">
            <a:ln>
              <a:noFill/>
            </a:ln>
            <a:solidFill>
              <a:schemeClr val="tx1"/>
            </a:solidFill>
            <a:effectLst>
              <a:outerShdw blurRad="38100" dist="38100" dir="2700000" algn="tl">
                <a:srgbClr val="000000">
                  <a:alpha val="43137"/>
                </a:srgbClr>
              </a:outerShdw>
            </a:effectLst>
            <a:latin typeface="楷体_GB2312" pitchFamily="49" charset="-122"/>
            <a:ea typeface="楷体_GB2312" pitchFamily="49" charset="-122"/>
          </a:defRPr>
        </a:defPPr>
      </a:lstStyle>
    </a:lnDef>
  </a:objectDefaults>
  <a:extraClrSchemeLst>
    <a:extraClrScheme>
      <a:clrScheme name="带有标题的 1">
        <a:dk1>
          <a:srgbClr val="000514"/>
        </a:dk1>
        <a:lt1>
          <a:srgbClr val="FFFFFF"/>
        </a:lt1>
        <a:dk2>
          <a:srgbClr val="003399"/>
        </a:dk2>
        <a:lt2>
          <a:srgbClr val="E5E5FF"/>
        </a:lt2>
        <a:accent1>
          <a:srgbClr val="0099CC"/>
        </a:accent1>
        <a:accent2>
          <a:srgbClr val="A886E0"/>
        </a:accent2>
        <a:accent3>
          <a:srgbClr val="AAADCA"/>
        </a:accent3>
        <a:accent4>
          <a:srgbClr val="DADADA"/>
        </a:accent4>
        <a:accent5>
          <a:srgbClr val="AACAE2"/>
        </a:accent5>
        <a:accent6>
          <a:srgbClr val="9879CB"/>
        </a:accent6>
        <a:hlink>
          <a:srgbClr val="FFCC00"/>
        </a:hlink>
        <a:folHlink>
          <a:srgbClr val="FFFFCC"/>
        </a:folHlink>
      </a:clrScheme>
      <a:clrMap bg1="dk2" tx1="lt1" bg2="dk1" tx2="lt2" accent1="accent1" accent2="accent2" accent3="accent3" accent4="accent4" accent5="accent5" accent6="accent6" hlink="hlink" folHlink="folHlink"/>
    </a:extraClrScheme>
    <a:extraClrScheme>
      <a:clrScheme name="带有标题的 2">
        <a:dk1>
          <a:srgbClr val="3E3E5C"/>
        </a:dk1>
        <a:lt1>
          <a:srgbClr val="FFFFFF"/>
        </a:lt1>
        <a:dk2>
          <a:srgbClr val="666699"/>
        </a:dk2>
        <a:lt2>
          <a:srgbClr val="DFDFE9"/>
        </a:lt2>
        <a:accent1>
          <a:srgbClr val="CC66FF"/>
        </a:accent1>
        <a:accent2>
          <a:srgbClr val="679ACD"/>
        </a:accent2>
        <a:accent3>
          <a:srgbClr val="B8B8CA"/>
        </a:accent3>
        <a:accent4>
          <a:srgbClr val="DADADA"/>
        </a:accent4>
        <a:accent5>
          <a:srgbClr val="E2B8FF"/>
        </a:accent5>
        <a:accent6>
          <a:srgbClr val="5D8BBA"/>
        </a:accent6>
        <a:hlink>
          <a:srgbClr val="CCECFF"/>
        </a:hlink>
        <a:folHlink>
          <a:srgbClr val="CCCCFF"/>
        </a:folHlink>
      </a:clrScheme>
      <a:clrMap bg1="dk2" tx1="lt1" bg2="dk1" tx2="lt2" accent1="accent1" accent2="accent2" accent3="accent3" accent4="accent4" accent5="accent5" accent6="accent6" hlink="hlink" folHlink="folHlink"/>
    </a:extraClrScheme>
    <a:extraClrScheme>
      <a:clrScheme name="带有标题的 3">
        <a:dk1>
          <a:srgbClr val="2A5400"/>
        </a:dk1>
        <a:lt1>
          <a:srgbClr val="FFFFFF"/>
        </a:lt1>
        <a:dk2>
          <a:srgbClr val="4A9400"/>
        </a:dk2>
        <a:lt2>
          <a:srgbClr val="BAE8BA"/>
        </a:lt2>
        <a:accent1>
          <a:srgbClr val="33CC33"/>
        </a:accent1>
        <a:accent2>
          <a:srgbClr val="99CC00"/>
        </a:accent2>
        <a:accent3>
          <a:srgbClr val="B1C8AA"/>
        </a:accent3>
        <a:accent4>
          <a:srgbClr val="DADADA"/>
        </a:accent4>
        <a:accent5>
          <a:srgbClr val="ADE2AD"/>
        </a:accent5>
        <a:accent6>
          <a:srgbClr val="8AB900"/>
        </a:accent6>
        <a:hlink>
          <a:srgbClr val="99FF33"/>
        </a:hlink>
        <a:folHlink>
          <a:srgbClr val="FFFF99"/>
        </a:folHlink>
      </a:clrScheme>
      <a:clrMap bg1="dk2" tx1="lt1" bg2="dk1" tx2="lt2" accent1="accent1" accent2="accent2" accent3="accent3" accent4="accent4" accent5="accent5" accent6="accent6" hlink="hlink" folHlink="folHlink"/>
    </a:extraClrScheme>
    <a:extraClrScheme>
      <a:clrScheme name="带有标题的 4">
        <a:dk1>
          <a:srgbClr val="000000"/>
        </a:dk1>
        <a:lt1>
          <a:srgbClr val="FFFFFF"/>
        </a:lt1>
        <a:dk2>
          <a:srgbClr val="51596D"/>
        </a:dk2>
        <a:lt2>
          <a:srgbClr val="DDDDDD"/>
        </a:lt2>
        <a:accent1>
          <a:srgbClr val="787E8A"/>
        </a:accent1>
        <a:accent2>
          <a:srgbClr val="339966"/>
        </a:accent2>
        <a:accent3>
          <a:srgbClr val="B3B5BA"/>
        </a:accent3>
        <a:accent4>
          <a:srgbClr val="DADADA"/>
        </a:accent4>
        <a:accent5>
          <a:srgbClr val="BEC0C4"/>
        </a:accent5>
        <a:accent6>
          <a:srgbClr val="2D8A5C"/>
        </a:accent6>
        <a:hlink>
          <a:srgbClr val="00FFFF"/>
        </a:hlink>
        <a:folHlink>
          <a:srgbClr val="74B6D0"/>
        </a:folHlink>
      </a:clrScheme>
      <a:clrMap bg1="dk2" tx1="lt1" bg2="dk1" tx2="lt2" accent1="accent1" accent2="accent2" accent3="accent3" accent4="accent4" accent5="accent5" accent6="accent6" hlink="hlink" folHlink="folHlink"/>
    </a:extraClrScheme>
    <a:extraClrScheme>
      <a:clrScheme name="带有标题的 5">
        <a:dk1>
          <a:srgbClr val="5C1F00"/>
        </a:dk1>
        <a:lt1>
          <a:srgbClr val="FFFFFF"/>
        </a:lt1>
        <a:dk2>
          <a:srgbClr val="8C0000"/>
        </a:dk2>
        <a:lt2>
          <a:srgbClr val="DFD293"/>
        </a:lt2>
        <a:accent1>
          <a:srgbClr val="FF6845"/>
        </a:accent1>
        <a:accent2>
          <a:srgbClr val="BE7960"/>
        </a:accent2>
        <a:accent3>
          <a:srgbClr val="C5AAAA"/>
        </a:accent3>
        <a:accent4>
          <a:srgbClr val="DADADA"/>
        </a:accent4>
        <a:accent5>
          <a:srgbClr val="FFB9B0"/>
        </a:accent5>
        <a:accent6>
          <a:srgbClr val="AC6D56"/>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带有标题的 6">
        <a:dk1>
          <a:srgbClr val="5E4444"/>
        </a:dk1>
        <a:lt1>
          <a:srgbClr val="F7F3F3"/>
        </a:lt1>
        <a:dk2>
          <a:srgbClr val="8A6362"/>
        </a:dk2>
        <a:lt2>
          <a:srgbClr val="D8C1BA"/>
        </a:lt2>
        <a:accent1>
          <a:srgbClr val="CC6600"/>
        </a:accent1>
        <a:accent2>
          <a:srgbClr val="C16059"/>
        </a:accent2>
        <a:accent3>
          <a:srgbClr val="C4B7B7"/>
        </a:accent3>
        <a:accent4>
          <a:srgbClr val="D3D0D0"/>
        </a:accent4>
        <a:accent5>
          <a:srgbClr val="E2B8AA"/>
        </a:accent5>
        <a:accent6>
          <a:srgbClr val="AF5650"/>
        </a:accent6>
        <a:hlink>
          <a:srgbClr val="FFCC00"/>
        </a:hlink>
        <a:folHlink>
          <a:srgbClr val="CBB557"/>
        </a:folHlink>
      </a:clrScheme>
      <a:clrMap bg1="dk2" tx1="lt1" bg2="dk1" tx2="lt2" accent1="accent1" accent2="accent2" accent3="accent3" accent4="accent4" accent5="accent5" accent6="accent6" hlink="hlink" folHlink="folHlink"/>
    </a:extraClrScheme>
    <a:extraClrScheme>
      <a:clrScheme name="带有标题的 7">
        <a:dk1>
          <a:srgbClr val="7F6737"/>
        </a:dk1>
        <a:lt1>
          <a:srgbClr val="FFFFFF"/>
        </a:lt1>
        <a:dk2>
          <a:srgbClr val="BFA673"/>
        </a:dk2>
        <a:lt2>
          <a:srgbClr val="E6E3AA"/>
        </a:lt2>
        <a:accent1>
          <a:srgbClr val="FFCC00"/>
        </a:accent1>
        <a:accent2>
          <a:srgbClr val="808000"/>
        </a:accent2>
        <a:accent3>
          <a:srgbClr val="DCD0BC"/>
        </a:accent3>
        <a:accent4>
          <a:srgbClr val="DADADA"/>
        </a:accent4>
        <a:accent5>
          <a:srgbClr val="FFE2AA"/>
        </a:accent5>
        <a:accent6>
          <a:srgbClr val="737300"/>
        </a:accent6>
        <a:hlink>
          <a:srgbClr val="784700"/>
        </a:hlink>
        <a:folHlink>
          <a:srgbClr val="9A7200"/>
        </a:folHlink>
      </a:clrScheme>
      <a:clrMap bg1="dk2" tx1="lt1" bg2="dk1" tx2="lt2" accent1="accent1" accent2="accent2" accent3="accent3" accent4="accent4" accent5="accent5" accent6="accent6" hlink="hlink" folHlink="folHlink"/>
    </a:extraClrScheme>
    <a:extraClrScheme>
      <a:clrScheme name="带有标题的 8">
        <a:dk1>
          <a:srgbClr val="4B2500"/>
        </a:dk1>
        <a:lt1>
          <a:srgbClr val="F9F0D3"/>
        </a:lt1>
        <a:dk2>
          <a:srgbClr val="A69564"/>
        </a:dk2>
        <a:lt2>
          <a:srgbClr val="EFDEAF"/>
        </a:lt2>
        <a:accent1>
          <a:srgbClr val="FFFFE3"/>
        </a:accent1>
        <a:accent2>
          <a:srgbClr val="BFBFA7"/>
        </a:accent2>
        <a:accent3>
          <a:srgbClr val="FBF6E6"/>
        </a:accent3>
        <a:accent4>
          <a:srgbClr val="3F1E00"/>
        </a:accent4>
        <a:accent5>
          <a:srgbClr val="FFFFEF"/>
        </a:accent5>
        <a:accent6>
          <a:srgbClr val="ADAD97"/>
        </a:accent6>
        <a:hlink>
          <a:srgbClr val="7B6D47"/>
        </a:hlink>
        <a:folHlink>
          <a:srgbClr val="A99D2F"/>
        </a:folHlink>
      </a:clrScheme>
      <a:clrMap bg1="lt1" tx1="dk1" bg2="lt2" tx2="dk2" accent1="accent1" accent2="accent2" accent3="accent3" accent4="accent4" accent5="accent5" accent6="accent6" hlink="hlink" folHlink="folHlink"/>
    </a:extraClrScheme>
    <a:extraClrScheme>
      <a:clrScheme name="带有标题的 9">
        <a:dk1>
          <a:srgbClr val="000000"/>
        </a:dk1>
        <a:lt1>
          <a:srgbClr val="FFFFFF"/>
        </a:lt1>
        <a:dk2>
          <a:srgbClr val="000000"/>
        </a:dk2>
        <a:lt2>
          <a:srgbClr val="808080"/>
        </a:lt2>
        <a:accent1>
          <a:srgbClr val="CCECFF"/>
        </a:accent1>
        <a:accent2>
          <a:srgbClr val="333399"/>
        </a:accent2>
        <a:accent3>
          <a:srgbClr val="FFFFFF"/>
        </a:accent3>
        <a:accent4>
          <a:srgbClr val="000000"/>
        </a:accent4>
        <a:accent5>
          <a:srgbClr val="E2F4FF"/>
        </a:accent5>
        <a:accent6>
          <a:srgbClr val="2D2D8A"/>
        </a:accent6>
        <a:hlink>
          <a:srgbClr val="6600FF"/>
        </a:hlink>
        <a:folHlink>
          <a:srgbClr val="00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15936</TotalTime>
  <Words>6951</Words>
  <Application>Microsoft Office PowerPoint</Application>
  <PresentationFormat>宽屏</PresentationFormat>
  <Paragraphs>835</Paragraphs>
  <Slides>88</Slides>
  <Notes>2</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88</vt:i4>
      </vt:variant>
    </vt:vector>
  </HeadingPairs>
  <TitlesOfParts>
    <vt:vector size="108" baseType="lpstr">
      <vt:lpstr>-apple-system</vt:lpstr>
      <vt:lpstr>Microsoft Yahei</vt:lpstr>
      <vt:lpstr>Source Han Sans</vt:lpstr>
      <vt:lpstr>Source Han Sans CN Bold</vt:lpstr>
      <vt:lpstr>等线</vt:lpstr>
      <vt:lpstr>方正姚体</vt:lpstr>
      <vt:lpstr>黑体</vt:lpstr>
      <vt:lpstr>楷体</vt:lpstr>
      <vt:lpstr>楷体_GB2312</vt:lpstr>
      <vt:lpstr>隶书</vt:lpstr>
      <vt:lpstr>宋体</vt:lpstr>
      <vt:lpstr>微软雅黑</vt:lpstr>
      <vt:lpstr>微软雅黑 Light</vt:lpstr>
      <vt:lpstr>新宋体</vt:lpstr>
      <vt:lpstr>Arial</vt:lpstr>
      <vt:lpstr>Arial Black</vt:lpstr>
      <vt:lpstr>Segoe UI Black</vt:lpstr>
      <vt:lpstr>Times New Roman</vt:lpstr>
      <vt:lpstr>Wingdings</vt:lpstr>
      <vt:lpstr>1_带有标题的</vt:lpstr>
      <vt:lpstr>PowerPoint 演示文稿</vt:lpstr>
      <vt:lpstr>数据库的安全性</vt:lpstr>
      <vt:lpstr>PowerPoint 演示文稿</vt:lpstr>
      <vt:lpstr>数据库安全性</vt:lpstr>
      <vt:lpstr>PowerPoint 演示文稿</vt:lpstr>
      <vt:lpstr>PowerPoint 演示文稿</vt:lpstr>
      <vt:lpstr>PowerPoint 演示文稿</vt:lpstr>
      <vt:lpstr>用户标识和鉴别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存取权限控制</vt:lpstr>
      <vt:lpstr>PowerPoint 演示文稿</vt:lpstr>
      <vt:lpstr>结合权限的视图机制</vt:lpstr>
      <vt:lpstr>PowerPoint 演示文稿</vt:lpstr>
      <vt:lpstr>数据加密</vt:lpstr>
      <vt:lpstr>PowerPoint 演示文稿</vt:lpstr>
      <vt:lpstr>跟踪审查</vt:lpstr>
      <vt:lpstr>PowerPoint 演示文稿</vt:lpstr>
      <vt:lpstr>数据库安全的重要性</vt:lpstr>
      <vt:lpstr>中华人民共和国数据安全法</vt:lpstr>
      <vt:lpstr>数据安全问题案例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数据库的完整性</vt:lpstr>
      <vt:lpstr>PowerPoint 演示文稿</vt:lpstr>
      <vt:lpstr>数据库完整性</vt:lpstr>
      <vt:lpstr>PowerPoint 演示文稿</vt:lpstr>
      <vt:lpstr>PowerPoint 演示文稿</vt:lpstr>
      <vt:lpstr>完整性约束条件分类</vt:lpstr>
      <vt:lpstr>完整性约束条件分类</vt:lpstr>
      <vt:lpstr>完整性控制</vt:lpstr>
      <vt:lpstr>数据库的并发控制技术</vt:lpstr>
      <vt:lpstr>并发控制</vt:lpstr>
      <vt:lpstr>事务（Transaction）</vt:lpstr>
      <vt:lpstr>显式事务定义</vt:lpstr>
      <vt:lpstr>PowerPoint 演示文稿</vt:lpstr>
      <vt:lpstr>PowerPoint 演示文稿</vt:lpstr>
      <vt:lpstr>PowerPoint 演示文稿</vt:lpstr>
      <vt:lpstr>并发事务</vt:lpstr>
      <vt:lpstr>PowerPoint 演示文稿</vt:lpstr>
      <vt:lpstr>PowerPoint 演示文稿</vt:lpstr>
      <vt:lpstr>PowerPoint 演示文稿</vt:lpstr>
      <vt:lpstr>PowerPoint 演示文稿</vt:lpstr>
      <vt:lpstr>并发控制（Concurrent Control）</vt:lpstr>
      <vt:lpstr>封锁(Locking)</vt:lpstr>
      <vt:lpstr>封锁粒度</vt:lpstr>
      <vt:lpstr>PowerPoint 演示文稿</vt:lpstr>
      <vt:lpstr>PowerPoint 演示文稿</vt:lpstr>
      <vt:lpstr>PowerPoint 演示文稿</vt:lpstr>
      <vt:lpstr>PowerPoint 演示文稿</vt:lpstr>
      <vt:lpstr>数据库的恢复</vt:lpstr>
      <vt:lpstr>PowerPoint 演示文稿</vt:lpstr>
      <vt:lpstr>PowerPoint 演示文稿</vt:lpstr>
      <vt:lpstr>PowerPoint 演示文稿</vt:lpstr>
      <vt:lpstr>PowerPoint 演示文稿</vt:lpstr>
      <vt:lpstr>数据库恢复技术</vt:lpstr>
      <vt:lpstr>恢复的原理</vt:lpstr>
      <vt:lpstr>登记日志文件</vt:lpstr>
      <vt:lpstr>PowerPoint 演示文稿</vt:lpstr>
      <vt:lpstr>数据库故障</vt:lpstr>
      <vt:lpstr>恢复策略</vt:lpstr>
      <vt:lpstr>恢复策略</vt:lpstr>
      <vt:lpstr>恢复策略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1</cp:lastModifiedBy>
  <cp:revision>1847</cp:revision>
  <cp:lastPrinted>2022-07-01T01:42:56Z</cp:lastPrinted>
  <dcterms:created xsi:type="dcterms:W3CDTF">1601-01-01T00:00:00Z</dcterms:created>
  <dcterms:modified xsi:type="dcterms:W3CDTF">2025-12-03T13:08:04Z</dcterms:modified>
</cp:coreProperties>
</file>