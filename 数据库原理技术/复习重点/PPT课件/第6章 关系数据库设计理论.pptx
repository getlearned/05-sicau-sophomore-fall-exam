
<file path=[Content_Types].xml><?xml version="1.0" encoding="utf-8"?>
<Types xmlns="http://schemas.openxmlformats.org/package/2006/content-types">
  <Default Extension="tmp" ContentType="image/png"/>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10.xml" ContentType="application/vnd.openxmlformats-officedocument.themeOverr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9"/>
  </p:notesMasterIdLst>
  <p:handoutMasterIdLst>
    <p:handoutMasterId r:id="rId140"/>
  </p:handoutMasterIdLst>
  <p:sldIdLst>
    <p:sldId id="256" r:id="rId2"/>
    <p:sldId id="707" r:id="rId3"/>
    <p:sldId id="709" r:id="rId4"/>
    <p:sldId id="441" r:id="rId5"/>
    <p:sldId id="708" r:id="rId6"/>
    <p:sldId id="730" r:id="rId7"/>
    <p:sldId id="731" r:id="rId8"/>
    <p:sldId id="305" r:id="rId9"/>
    <p:sldId id="710" r:id="rId10"/>
    <p:sldId id="691" r:id="rId11"/>
    <p:sldId id="692" r:id="rId12"/>
    <p:sldId id="696" r:id="rId13"/>
    <p:sldId id="697" r:id="rId14"/>
    <p:sldId id="698" r:id="rId15"/>
    <p:sldId id="699" r:id="rId16"/>
    <p:sldId id="700" r:id="rId17"/>
    <p:sldId id="711" r:id="rId18"/>
    <p:sldId id="701" r:id="rId19"/>
    <p:sldId id="728" r:id="rId20"/>
    <p:sldId id="688" r:id="rId21"/>
    <p:sldId id="712" r:id="rId22"/>
    <p:sldId id="316" r:id="rId23"/>
    <p:sldId id="713" r:id="rId24"/>
    <p:sldId id="317" r:id="rId25"/>
    <p:sldId id="732" r:id="rId26"/>
    <p:sldId id="733" r:id="rId27"/>
    <p:sldId id="318" r:id="rId28"/>
    <p:sldId id="734" r:id="rId29"/>
    <p:sldId id="735" r:id="rId30"/>
    <p:sldId id="736" r:id="rId31"/>
    <p:sldId id="319" r:id="rId32"/>
    <p:sldId id="737" r:id="rId33"/>
    <p:sldId id="714" r:id="rId34"/>
    <p:sldId id="320" r:id="rId35"/>
    <p:sldId id="738" r:id="rId36"/>
    <p:sldId id="729" r:id="rId37"/>
    <p:sldId id="325" r:id="rId38"/>
    <p:sldId id="652" r:id="rId39"/>
    <p:sldId id="739" r:id="rId40"/>
    <p:sldId id="326" r:id="rId41"/>
    <p:sldId id="740" r:id="rId42"/>
    <p:sldId id="741" r:id="rId43"/>
    <p:sldId id="742" r:id="rId44"/>
    <p:sldId id="743" r:id="rId45"/>
    <p:sldId id="744" r:id="rId46"/>
    <p:sldId id="745" r:id="rId47"/>
    <p:sldId id="746" r:id="rId48"/>
    <p:sldId id="747" r:id="rId49"/>
    <p:sldId id="327" r:id="rId50"/>
    <p:sldId id="748" r:id="rId51"/>
    <p:sldId id="749" r:id="rId52"/>
    <p:sldId id="750" r:id="rId53"/>
    <p:sldId id="330" r:id="rId54"/>
    <p:sldId id="751" r:id="rId55"/>
    <p:sldId id="383" r:id="rId56"/>
    <p:sldId id="659" r:id="rId57"/>
    <p:sldId id="752" r:id="rId58"/>
    <p:sldId id="753" r:id="rId59"/>
    <p:sldId id="754" r:id="rId60"/>
    <p:sldId id="755" r:id="rId61"/>
    <p:sldId id="756" r:id="rId62"/>
    <p:sldId id="757" r:id="rId63"/>
    <p:sldId id="758" r:id="rId64"/>
    <p:sldId id="392" r:id="rId65"/>
    <p:sldId id="706" r:id="rId66"/>
    <p:sldId id="341" r:id="rId67"/>
    <p:sldId id="342" r:id="rId68"/>
    <p:sldId id="716" r:id="rId69"/>
    <p:sldId id="702" r:id="rId70"/>
    <p:sldId id="703" r:id="rId71"/>
    <p:sldId id="759" r:id="rId72"/>
    <p:sldId id="382" r:id="rId73"/>
    <p:sldId id="395" r:id="rId74"/>
    <p:sldId id="666" r:id="rId75"/>
    <p:sldId id="397" r:id="rId76"/>
    <p:sldId id="660" r:id="rId77"/>
    <p:sldId id="705" r:id="rId78"/>
    <p:sldId id="661" r:id="rId79"/>
    <p:sldId id="765" r:id="rId80"/>
    <p:sldId id="689" r:id="rId81"/>
    <p:sldId id="717" r:id="rId82"/>
    <p:sldId id="345" r:id="rId83"/>
    <p:sldId id="346" r:id="rId84"/>
    <p:sldId id="718" r:id="rId85"/>
    <p:sldId id="347" r:id="rId86"/>
    <p:sldId id="719" r:id="rId87"/>
    <p:sldId id="720" r:id="rId88"/>
    <p:sldId id="721" r:id="rId89"/>
    <p:sldId id="348" r:id="rId90"/>
    <p:sldId id="722" r:id="rId91"/>
    <p:sldId id="723" r:id="rId92"/>
    <p:sldId id="724" r:id="rId93"/>
    <p:sldId id="349" r:id="rId94"/>
    <p:sldId id="725" r:id="rId95"/>
    <p:sldId id="726" r:id="rId96"/>
    <p:sldId id="350" r:id="rId97"/>
    <p:sldId id="351" r:id="rId98"/>
    <p:sldId id="727" r:id="rId99"/>
    <p:sldId id="766" r:id="rId100"/>
    <p:sldId id="690" r:id="rId101"/>
    <p:sldId id="352" r:id="rId102"/>
    <p:sldId id="353" r:id="rId103"/>
    <p:sldId id="354" r:id="rId104"/>
    <p:sldId id="760" r:id="rId105"/>
    <p:sldId id="761" r:id="rId106"/>
    <p:sldId id="355" r:id="rId107"/>
    <p:sldId id="667" r:id="rId108"/>
    <p:sldId id="668" r:id="rId109"/>
    <p:sldId id="669" r:id="rId110"/>
    <p:sldId id="359" r:id="rId111"/>
    <p:sldId id="360" r:id="rId112"/>
    <p:sldId id="670" r:id="rId113"/>
    <p:sldId id="671" r:id="rId114"/>
    <p:sldId id="672" r:id="rId115"/>
    <p:sldId id="673" r:id="rId116"/>
    <p:sldId id="674" r:id="rId117"/>
    <p:sldId id="675" r:id="rId118"/>
    <p:sldId id="676" r:id="rId119"/>
    <p:sldId id="677" r:id="rId120"/>
    <p:sldId id="678" r:id="rId121"/>
    <p:sldId id="679" r:id="rId122"/>
    <p:sldId id="680" r:id="rId123"/>
    <p:sldId id="372" r:id="rId124"/>
    <p:sldId id="681" r:id="rId125"/>
    <p:sldId id="767" r:id="rId126"/>
    <p:sldId id="374" r:id="rId127"/>
    <p:sldId id="682" r:id="rId128"/>
    <p:sldId id="683" r:id="rId129"/>
    <p:sldId id="684" r:id="rId130"/>
    <p:sldId id="768" r:id="rId131"/>
    <p:sldId id="378" r:id="rId132"/>
    <p:sldId id="685" r:id="rId133"/>
    <p:sldId id="686" r:id="rId134"/>
    <p:sldId id="704" r:id="rId135"/>
    <p:sldId id="764" r:id="rId136"/>
    <p:sldId id="762" r:id="rId137"/>
    <p:sldId id="763" r:id="rId1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E8A5106-687A-450D-BB27-DB4A53806402}">
          <p14:sldIdLst>
            <p14:sldId id="256"/>
            <p14:sldId id="707"/>
            <p14:sldId id="709"/>
          </p14:sldIdLst>
        </p14:section>
        <p14:section name="无标题节" id="{5D17D565-BF3E-4E1C-8E50-BC818473CB61}">
          <p14:sldIdLst>
            <p14:sldId id="441"/>
            <p14:sldId id="708"/>
            <p14:sldId id="730"/>
            <p14:sldId id="731"/>
            <p14:sldId id="305"/>
            <p14:sldId id="710"/>
            <p14:sldId id="691"/>
            <p14:sldId id="692"/>
            <p14:sldId id="696"/>
            <p14:sldId id="697"/>
            <p14:sldId id="698"/>
            <p14:sldId id="699"/>
            <p14:sldId id="700"/>
            <p14:sldId id="711"/>
            <p14:sldId id="701"/>
            <p14:sldId id="728"/>
            <p14:sldId id="688"/>
            <p14:sldId id="712"/>
            <p14:sldId id="316"/>
            <p14:sldId id="713"/>
            <p14:sldId id="317"/>
            <p14:sldId id="732"/>
            <p14:sldId id="733"/>
            <p14:sldId id="318"/>
            <p14:sldId id="734"/>
            <p14:sldId id="735"/>
            <p14:sldId id="736"/>
            <p14:sldId id="319"/>
            <p14:sldId id="737"/>
            <p14:sldId id="714"/>
            <p14:sldId id="320"/>
            <p14:sldId id="738"/>
            <p14:sldId id="729"/>
            <p14:sldId id="325"/>
            <p14:sldId id="652"/>
            <p14:sldId id="739"/>
            <p14:sldId id="326"/>
            <p14:sldId id="740"/>
            <p14:sldId id="741"/>
            <p14:sldId id="742"/>
            <p14:sldId id="743"/>
            <p14:sldId id="744"/>
            <p14:sldId id="745"/>
            <p14:sldId id="746"/>
            <p14:sldId id="747"/>
            <p14:sldId id="327"/>
            <p14:sldId id="748"/>
            <p14:sldId id="749"/>
            <p14:sldId id="750"/>
            <p14:sldId id="330"/>
            <p14:sldId id="751"/>
            <p14:sldId id="383"/>
            <p14:sldId id="659"/>
            <p14:sldId id="752"/>
            <p14:sldId id="753"/>
            <p14:sldId id="754"/>
            <p14:sldId id="755"/>
            <p14:sldId id="756"/>
            <p14:sldId id="757"/>
            <p14:sldId id="758"/>
            <p14:sldId id="392"/>
            <p14:sldId id="706"/>
            <p14:sldId id="341"/>
            <p14:sldId id="342"/>
            <p14:sldId id="716"/>
            <p14:sldId id="702"/>
            <p14:sldId id="703"/>
            <p14:sldId id="759"/>
            <p14:sldId id="382"/>
            <p14:sldId id="395"/>
            <p14:sldId id="666"/>
            <p14:sldId id="397"/>
            <p14:sldId id="660"/>
            <p14:sldId id="705"/>
            <p14:sldId id="661"/>
            <p14:sldId id="765"/>
            <p14:sldId id="689"/>
            <p14:sldId id="717"/>
            <p14:sldId id="345"/>
            <p14:sldId id="346"/>
            <p14:sldId id="718"/>
            <p14:sldId id="347"/>
            <p14:sldId id="719"/>
            <p14:sldId id="720"/>
            <p14:sldId id="721"/>
            <p14:sldId id="348"/>
            <p14:sldId id="722"/>
            <p14:sldId id="723"/>
            <p14:sldId id="724"/>
            <p14:sldId id="349"/>
            <p14:sldId id="725"/>
            <p14:sldId id="726"/>
            <p14:sldId id="350"/>
            <p14:sldId id="351"/>
            <p14:sldId id="727"/>
            <p14:sldId id="766"/>
            <p14:sldId id="690"/>
            <p14:sldId id="352"/>
            <p14:sldId id="353"/>
            <p14:sldId id="354"/>
            <p14:sldId id="760"/>
            <p14:sldId id="761"/>
            <p14:sldId id="355"/>
            <p14:sldId id="667"/>
            <p14:sldId id="668"/>
            <p14:sldId id="669"/>
            <p14:sldId id="359"/>
            <p14:sldId id="360"/>
            <p14:sldId id="670"/>
            <p14:sldId id="671"/>
            <p14:sldId id="672"/>
            <p14:sldId id="673"/>
            <p14:sldId id="674"/>
            <p14:sldId id="675"/>
            <p14:sldId id="676"/>
            <p14:sldId id="677"/>
            <p14:sldId id="678"/>
            <p14:sldId id="679"/>
            <p14:sldId id="680"/>
            <p14:sldId id="372"/>
            <p14:sldId id="681"/>
            <p14:sldId id="767"/>
            <p14:sldId id="374"/>
            <p14:sldId id="682"/>
            <p14:sldId id="683"/>
            <p14:sldId id="684"/>
            <p14:sldId id="768"/>
            <p14:sldId id="378"/>
            <p14:sldId id="685"/>
            <p14:sldId id="686"/>
            <p14:sldId id="704"/>
            <p14:sldId id="764"/>
            <p14:sldId id="762"/>
            <p14:sldId id="763"/>
          </p14:sldIdLst>
        </p14:section>
        <p14:section name="默认节" id="{1BEE69AB-DD72-49C7-9D27-3DE7967C4B5C}">
          <p14:sldIdLst/>
        </p14:section>
        <p14:section name="无标题节" id="{F40BDE25-56A0-4F42-A755-85D9FEE9BB27}">
          <p14:sldIdLst/>
        </p14:section>
        <p14:section name="默认节" id="{CA90CE24-3E7E-4FBD-BBF7-A248EB3B364A}">
          <p14:sldIdLst/>
        </p14:section>
        <p14:section name="无标题节" id="{E92612EF-14D6-4880-8E6B-BB4AE3A6D2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nsir" initials="p" lastIdx="1" clrIdx="0">
    <p:extLst>
      <p:ext uri="{19B8F6BF-5375-455C-9EA6-DF929625EA0E}">
        <p15:presenceInfo xmlns:p15="http://schemas.microsoft.com/office/powerpoint/2012/main" userId="pansi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FF33"/>
    <a:srgbClr val="66CCFF"/>
    <a:srgbClr val="00FFFF"/>
    <a:srgbClr val="CCFFCC"/>
    <a:srgbClr val="66FF33"/>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78" autoAdjust="0"/>
    <p:restoredTop sz="95238" autoAdjust="0"/>
  </p:normalViewPr>
  <p:slideViewPr>
    <p:cSldViewPr>
      <p:cViewPr varScale="1">
        <p:scale>
          <a:sx n="69" d="100"/>
          <a:sy n="69" d="100"/>
        </p:scale>
        <p:origin x="532" y="40"/>
      </p:cViewPr>
      <p:guideLst>
        <p:guide orient="horz" pos="2160"/>
        <p:guide pos="3840"/>
      </p:guideLst>
    </p:cSldViewPr>
  </p:slideViewPr>
  <p:outlineViewPr>
    <p:cViewPr>
      <p:scale>
        <a:sx n="33" d="100"/>
        <a:sy n="33" d="100"/>
      </p:scale>
      <p:origin x="0" y="915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 d="1"/>
        <a:sy n="1" d="1"/>
      </p:scale>
      <p:origin x="0" y="0"/>
    </p:cViewPr>
  </p:notesTextViewPr>
  <p:notesViewPr>
    <p:cSldViewPr>
      <p:cViewPr varScale="1">
        <p:scale>
          <a:sx n="84" d="100"/>
          <a:sy n="84" d="100"/>
        </p:scale>
        <p:origin x="382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handoutMaster" Target="handoutMasters/handoutMaster1.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32.xml"/><Relationship Id="rId3" Type="http://schemas.openxmlformats.org/officeDocument/2006/relationships/slide" Target="slides/slide25.xml"/><Relationship Id="rId7" Type="http://schemas.openxmlformats.org/officeDocument/2006/relationships/slide" Target="slides/slide30.xml"/><Relationship Id="rId2" Type="http://schemas.openxmlformats.org/officeDocument/2006/relationships/slide" Target="slides/slide7.xml"/><Relationship Id="rId1" Type="http://schemas.openxmlformats.org/officeDocument/2006/relationships/slide" Target="slides/slide6.xml"/><Relationship Id="rId6" Type="http://schemas.openxmlformats.org/officeDocument/2006/relationships/slide" Target="slides/slide29.xml"/><Relationship Id="rId5" Type="http://schemas.openxmlformats.org/officeDocument/2006/relationships/slide" Target="slides/slide28.xml"/><Relationship Id="rId10" Type="http://schemas.openxmlformats.org/officeDocument/2006/relationships/slide" Target="slides/slide96.xml"/><Relationship Id="rId4" Type="http://schemas.openxmlformats.org/officeDocument/2006/relationships/slide" Target="slides/slide26.xml"/><Relationship Id="rId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D572298-6E5C-45A7-8DDE-E4451CF4CA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B540FB1-9121-4750-8A79-327A377D80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D65523-C028-4DB9-90D7-9236D678E762}" type="datetimeFigureOut">
              <a:rPr lang="zh-CN" altLang="en-US" smtClean="0"/>
              <a:t>2025/11/24</a:t>
            </a:fld>
            <a:endParaRPr lang="zh-CN" altLang="en-US"/>
          </a:p>
        </p:txBody>
      </p:sp>
      <p:sp>
        <p:nvSpPr>
          <p:cNvPr id="4" name="页脚占位符 3">
            <a:extLst>
              <a:ext uri="{FF2B5EF4-FFF2-40B4-BE49-F238E27FC236}">
                <a16:creationId xmlns:a16="http://schemas.microsoft.com/office/drawing/2014/main" id="{41B17499-28E8-4CE7-96AE-8F3BC928D71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3360B60C-F1D4-4B4D-8A90-7D99723D9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409448-78F6-45D9-BD03-14932238E34B}" type="slidenum">
              <a:rPr lang="zh-CN" altLang="en-US" smtClean="0"/>
              <a:t>‹#›</a:t>
            </a:fld>
            <a:endParaRPr lang="zh-CN" altLang="en-US"/>
          </a:p>
        </p:txBody>
      </p:sp>
    </p:spTree>
    <p:extLst>
      <p:ext uri="{BB962C8B-B14F-4D97-AF65-F5344CB8AC3E}">
        <p14:creationId xmlns:p14="http://schemas.microsoft.com/office/powerpoint/2010/main" val="2899309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9BBECC-95BD-44F0-9A5B-3A77644942D4}" type="datetimeFigureOut">
              <a:rPr lang="zh-CN" altLang="en-US" smtClean="0"/>
              <a:t>2025/11/24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A304DF-C1BA-40AE-A248-EE1FD47657DE}" type="slidenum">
              <a:rPr lang="zh-CN" altLang="en-US" smtClean="0"/>
              <a:t>‹#›</a:t>
            </a:fld>
            <a:endParaRPr lang="zh-CN" altLang="en-US"/>
          </a:p>
        </p:txBody>
      </p:sp>
    </p:spTree>
    <p:extLst>
      <p:ext uri="{BB962C8B-B14F-4D97-AF65-F5344CB8AC3E}">
        <p14:creationId xmlns:p14="http://schemas.microsoft.com/office/powerpoint/2010/main" val="1123407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22488413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8482FD07-7D46-4E73-8B2E-E1CFE381CD9A}" type="datetime1">
              <a:rPr lang="zh-CN" altLang="en-US" smtClean="0"/>
              <a:t>2025/11/24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528494217"/>
      </p:ext>
    </p:extLst>
  </p:cSld>
  <p:clrMapOvr>
    <a:masterClrMapping/>
  </p:clrMapOvr>
  <p:transition spd="slow">
    <p:wipe dir="r"/>
    <p:sndAc>
      <p:stSnd>
        <p:snd r:embed="rId1" name="arrow.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u="none"/>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ACA9F20-D06C-48AD-BB22-62EAE2C48A10}" type="datetime1">
              <a:rPr lang="zh-CN" altLang="en-US" smtClean="0"/>
              <a:t>2025/11/24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480636031"/>
      </p:ext>
    </p:extLst>
  </p:cSld>
  <p:clrMapOvr>
    <a:masterClrMapping/>
  </p:clrMapOvr>
  <p:transition spd="slow">
    <p:wipe dir="r"/>
    <p:sndAc>
      <p:stSnd>
        <p:snd r:embed="rId1" name="arrow.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CCD2845-D28F-4AFF-A91A-9645A71D0E6A}" type="datetime1">
              <a:rPr lang="zh-CN" altLang="en-US" smtClean="0"/>
              <a:t>2025/11/24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955692531"/>
      </p:ext>
    </p:extLst>
  </p:cSld>
  <p:clrMapOvr>
    <a:masterClrMapping/>
  </p:clrMapOvr>
  <p:transition spd="slow">
    <p:wipe dir="r"/>
    <p:sndAc>
      <p:stSnd>
        <p:snd r:embed="rId1" name="arrow.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C67E2004-1E18-41A9-8EB0-D6A4DC5CD6D7}" type="datetime1">
              <a:rPr lang="zh-CN" altLang="en-US" smtClean="0"/>
              <a:t>2025/11/24</a:t>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527613974"/>
      </p:ext>
    </p:extLst>
  </p:cSld>
  <p:clrMapOvr>
    <a:masterClrMapping/>
  </p:clrMapOvr>
  <p:transition spd="slow">
    <p:wipe dir="r"/>
    <p:sndAc>
      <p:stSnd>
        <p:snd r:embed="rId1" name="arrow.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00" y="6356351"/>
            <a:ext cx="2844800" cy="365125"/>
          </a:xfrm>
          <a:prstGeom prst="rect">
            <a:avLst/>
          </a:prstGeom>
        </p:spPr>
        <p:txBody>
          <a:bodyPr/>
          <a:lstStyle/>
          <a:p>
            <a:fld id="{B504B268-1287-4BDF-8397-4925FB7B7917}" type="datetime1">
              <a:rPr lang="zh-CN" altLang="en-US" smtClean="0"/>
              <a:t>2025/11/24</a:t>
            </a:fld>
            <a:endParaRPr lang="zh-CN" altLang="en-US"/>
          </a:p>
        </p:txBody>
      </p:sp>
      <p:sp>
        <p:nvSpPr>
          <p:cNvPr id="8" name="页脚占位符 7"/>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375138244"/>
      </p:ext>
    </p:extLst>
  </p:cSld>
  <p:clrMapOvr>
    <a:masterClrMapping/>
  </p:clrMapOvr>
  <p:transition spd="slow">
    <p:wipe dir="r"/>
    <p:sndAc>
      <p:stSnd>
        <p:snd r:embed="rId1" name="arrow.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609600" y="6356351"/>
            <a:ext cx="2844800" cy="365125"/>
          </a:xfrm>
          <a:prstGeom prst="rect">
            <a:avLst/>
          </a:prstGeom>
        </p:spPr>
        <p:txBody>
          <a:bodyPr/>
          <a:lstStyle/>
          <a:p>
            <a:fld id="{66255C6B-7A18-4CFC-B91B-67DAAD8D924D}" type="datetime1">
              <a:rPr lang="zh-CN" altLang="en-US" smtClean="0"/>
              <a:t>2025/11/24</a:t>
            </a:fld>
            <a:endParaRPr lang="zh-CN" altLang="en-US"/>
          </a:p>
        </p:txBody>
      </p:sp>
      <p:sp>
        <p:nvSpPr>
          <p:cNvPr id="4" name="页脚占位符 3"/>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204638713"/>
      </p:ext>
    </p:extLst>
  </p:cSld>
  <p:clrMapOvr>
    <a:masterClrMapping/>
  </p:clrMapOvr>
  <p:transition spd="slow">
    <p:wipe dir="r"/>
    <p:sndAc>
      <p:stSnd>
        <p:snd r:embed="rId1" name="arrow.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fld id="{6503651D-02DB-4304-B1D1-86CE5CC95F20}" type="datetime1">
              <a:rPr lang="zh-CN" altLang="en-US" smtClean="0"/>
              <a:t>2025/11/24</a:t>
            </a:fld>
            <a:endParaRPr lang="zh-CN" altLang="en-US"/>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643391146"/>
      </p:ext>
    </p:extLst>
  </p:cSld>
  <p:clrMapOvr>
    <a:masterClrMapping/>
  </p:clrMapOvr>
  <p:transition spd="slow">
    <p:wipe dir="r"/>
    <p:sndAc>
      <p:stSnd>
        <p:snd r:embed="rId1" name="arrow.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39E032B3-A630-4AE8-9410-E779EE4E499F}" type="datetime1">
              <a:rPr lang="zh-CN" altLang="en-US" smtClean="0"/>
              <a:t>2025/11/24</a:t>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105957631"/>
      </p:ext>
    </p:extLst>
  </p:cSld>
  <p:clrMapOvr>
    <a:masterClrMapping/>
  </p:clrMapOvr>
  <p:transition spd="slow">
    <p:wipe dir="r"/>
    <p:sndAc>
      <p:stSnd>
        <p:snd r:embed="rId1" name="arrow.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28A0D1DD-B146-4A39-98DB-A410A2DA8593}" type="datetime1">
              <a:rPr lang="zh-CN" altLang="en-US" smtClean="0"/>
              <a:t>2025/11/24</a:t>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2784601604"/>
      </p:ext>
    </p:extLst>
  </p:cSld>
  <p:clrMapOvr>
    <a:masterClrMapping/>
  </p:clrMapOvr>
  <p:transition spd="slow">
    <p:wipe dir="r"/>
    <p:sndAc>
      <p:stSnd>
        <p:snd r:embed="rId1" name="arrow.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731B9D04-3F4B-4969-BB72-E12654C331C6}" type="datetime1">
              <a:rPr lang="zh-CN" altLang="en-US" smtClean="0"/>
              <a:t>2025/11/24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207155770"/>
      </p:ext>
    </p:extLst>
  </p:cSld>
  <p:clrMapOvr>
    <a:masterClrMapping/>
  </p:clrMapOvr>
  <p:transition spd="slow">
    <p:wipe dir="r"/>
    <p:sndAc>
      <p:stSnd>
        <p:snd r:embed="rId1" name="arrow.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ACF70CEB-E364-4535-9883-B3642DD32F3E}" type="datetime1">
              <a:rPr lang="zh-CN" altLang="en-US" smtClean="0"/>
              <a:t>2025/11/24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624791346"/>
      </p:ext>
    </p:extLst>
  </p:cSld>
  <p:clrMapOvr>
    <a:masterClrMapping/>
  </p:clrMapOvr>
  <p:transition spd="slow">
    <p:wipe dir="r"/>
    <p:sndAc>
      <p:stSnd>
        <p:snd r:embed="rId1" name="arrow.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06132" y="92019"/>
            <a:ext cx="6340197" cy="70788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algn="l" eaLnBrk="0" fontAlgn="base" hangingPunct="0">
              <a:spcAft>
                <a:spcPct val="0"/>
              </a:spcAft>
            </a:pPr>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椭圆 9"/>
          <p:cNvSpPr/>
          <p:nvPr userDrawn="1"/>
        </p:nvSpPr>
        <p:spPr>
          <a:xfrm rot="16200000">
            <a:off x="410427" y="244211"/>
            <a:ext cx="398347" cy="398346"/>
          </a:xfrm>
          <a:prstGeom prst="ellipse">
            <a:avLst/>
          </a:prstGeom>
          <a:noFill/>
          <a:ln>
            <a:solidFill>
              <a:srgbClr val="FCF873">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cxnSp>
        <p:nvCxnSpPr>
          <p:cNvPr id="11" name="直接连接符 10"/>
          <p:cNvCxnSpPr/>
          <p:nvPr userDrawn="1"/>
        </p:nvCxnSpPr>
        <p:spPr>
          <a:xfrm>
            <a:off x="4703" y="445962"/>
            <a:ext cx="495705" cy="0"/>
          </a:xfrm>
          <a:prstGeom prst="line">
            <a:avLst/>
          </a:prstGeom>
          <a:ln>
            <a:solidFill>
              <a:srgbClr val="FCF873">
                <a:alpha val="70000"/>
              </a:srgbClr>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userDrawn="1"/>
        </p:nvSpPr>
        <p:spPr>
          <a:xfrm rot="16200000">
            <a:off x="500408" y="334926"/>
            <a:ext cx="221871" cy="221871"/>
          </a:xfrm>
          <a:prstGeom prst="ellipse">
            <a:avLst/>
          </a:prstGeom>
          <a:gradFill>
            <a:gsLst>
              <a:gs pos="68000">
                <a:srgbClr val="C69135"/>
              </a:gs>
              <a:gs pos="31000">
                <a:srgbClr val="E6D38F"/>
              </a:gs>
              <a:gs pos="0">
                <a:srgbClr val="FCD860"/>
              </a:gs>
              <a:gs pos="100000">
                <a:srgbClr val="F1DF97"/>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spTree>
    <p:extLst>
      <p:ext uri="{BB962C8B-B14F-4D97-AF65-F5344CB8AC3E}">
        <p14:creationId xmlns:p14="http://schemas.microsoft.com/office/powerpoint/2010/main" val="4241664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r"/>
    <p:sndAc>
      <p:stSnd>
        <p:snd r:embed="rId13" name="arrow.wav"/>
      </p:stSnd>
    </p:sndAc>
  </p:transition>
  <p:timing>
    <p:tnLst>
      <p:par>
        <p:cTn id="1" dur="indefinite" restart="never" nodeType="tmRoot"/>
      </p:par>
    </p:tnLst>
  </p:timing>
  <p:hf sldNum="0" hdr="0" ftr="0" dt="0"/>
  <p:txStyles>
    <p:titleStyle>
      <a:lvl1pPr algn="ctr" defTabSz="914400" rtl="0" eaLnBrk="1" latinLnBrk="0" hangingPunct="1">
        <a:spcBef>
          <a:spcPct val="0"/>
        </a:spcBef>
        <a:buNone/>
        <a:defRPr lang="zh-CN" altLang="en-US" sz="4000" b="1" kern="1200" baseline="0" dirty="0">
          <a:solidFill>
            <a:srgbClr val="FF9900"/>
          </a:solidFill>
          <a:effectLst/>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bg1"/>
          </a:solidFill>
          <a:latin typeface="Arial" pitchFamily="34" charset="0"/>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baseline="0">
          <a:solidFill>
            <a:schemeClr val="bg1"/>
          </a:solidFill>
          <a:latin typeface="Arial" pitchFamily="34" charset="0"/>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bg1"/>
          </a:solidFill>
          <a:latin typeface="Arial" pitchFamily="34" charset="0"/>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audio" Target="../media/audio1.wav"/></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9.xml"/><Relationship Id="rId5" Type="http://schemas.openxmlformats.org/officeDocument/2006/relationships/audio" Target="../media/audio1.wav"/></Relationships>
</file>

<file path=ppt/slides/_rels/slide19.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1.tmp"/><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audio" Target="../media/audio1.wav"/><Relationship Id="rId5" Type="http://schemas.openxmlformats.org/officeDocument/2006/relationships/tags" Target="../tags/tag6.xml"/><Relationship Id="rId10" Type="http://schemas.openxmlformats.org/officeDocument/2006/relationships/slideLayout" Target="../slideLayouts/slideLayout7.xml"/><Relationship Id="rId4" Type="http://schemas.openxmlformats.org/officeDocument/2006/relationships/tags" Target="../tags/tag5.xml"/><Relationship Id="rId9" Type="http://schemas.openxmlformats.org/officeDocument/2006/relationships/tags" Target="../tags/tag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image" Target="../media/image2.wmf"/><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1.tmp"/><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audio" Target="../media/audio1.wav"/><Relationship Id="rId5" Type="http://schemas.openxmlformats.org/officeDocument/2006/relationships/tags" Target="../tags/tag15.xml"/><Relationship Id="rId10" Type="http://schemas.openxmlformats.org/officeDocument/2006/relationships/slideLayout" Target="../slideLayouts/slideLayout7.xml"/><Relationship Id="rId4" Type="http://schemas.openxmlformats.org/officeDocument/2006/relationships/tags" Target="../tags/tag14.xml"/><Relationship Id="rId9" Type="http://schemas.openxmlformats.org/officeDocument/2006/relationships/tags" Target="../tags/tag19.xml"/></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WordArt 21"/>
          <p:cNvSpPr>
            <a:spLocks noChangeArrowheads="1" noChangeShapeType="1" noTextEdit="1"/>
          </p:cNvSpPr>
          <p:nvPr/>
        </p:nvSpPr>
        <p:spPr bwMode="auto">
          <a:xfrm>
            <a:off x="4655840" y="1767124"/>
            <a:ext cx="2586300" cy="793963"/>
          </a:xfrm>
          <a:prstGeom prst="rect">
            <a:avLst/>
          </a:prstGeom>
        </p:spPr>
        <p:txBody>
          <a:bodyPr wrap="none" fromWordArt="1">
            <a:prstTxWarp prst="textPlain">
              <a:avLst>
                <a:gd name="adj" fmla="val 50000"/>
              </a:avLst>
            </a:prstTxWarp>
          </a:bodyPr>
          <a:lstStyle/>
          <a:p>
            <a:pPr algn="dist">
              <a:defRPr/>
            </a:pPr>
            <a:r>
              <a:rPr lang="zh-CN" altLang="en-US" sz="2800" kern="10" spc="30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第</a:t>
            </a:r>
            <a:r>
              <a:rPr lang="en-US" altLang="zh-CN" sz="2800" kern="10" spc="30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6</a:t>
            </a:r>
            <a:r>
              <a:rPr lang="zh-CN" altLang="en-US" sz="2800" kern="10" spc="30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章</a:t>
            </a:r>
          </a:p>
        </p:txBody>
      </p:sp>
      <p:sp>
        <p:nvSpPr>
          <p:cNvPr id="6" name="标题 1">
            <a:extLst>
              <a:ext uri="{FF2B5EF4-FFF2-40B4-BE49-F238E27FC236}">
                <a16:creationId xmlns:a16="http://schemas.microsoft.com/office/drawing/2014/main" id="{32884304-7B48-4472-9ACD-ADDBD2C672A1}"/>
              </a:ext>
            </a:extLst>
          </p:cNvPr>
          <p:cNvSpPr txBox="1">
            <a:spLocks/>
          </p:cNvSpPr>
          <p:nvPr/>
        </p:nvSpPr>
        <p:spPr bwMode="auto">
          <a:xfrm>
            <a:off x="767408" y="3429000"/>
            <a:ext cx="10729192" cy="1475884"/>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lvl="0" algn="dist">
              <a:defRPr/>
            </a:pPr>
            <a:r>
              <a:rPr lang="zh-CN" altLang="en-US" sz="6600" kern="10" spc="300" baseline="-25000" dirty="0">
                <a:ln w="28575"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latin typeface="隶书"/>
                <a:ea typeface="隶书"/>
              </a:rPr>
              <a:t>关系数据库设计理论</a:t>
            </a:r>
          </a:p>
        </p:txBody>
      </p:sp>
    </p:spTree>
    <p:custDataLst>
      <p:tags r:id="rId1"/>
    </p:custDataLst>
    <p:extLst>
      <p:ext uri="{BB962C8B-B14F-4D97-AF65-F5344CB8AC3E}">
        <p14:creationId xmlns:p14="http://schemas.microsoft.com/office/powerpoint/2010/main" val="351185436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6"/>
          <p:cNvSpPr txBox="1">
            <a:spLocks noGrp="1" noChangeArrowheads="1"/>
          </p:cNvSpPr>
          <p:nvPr/>
        </p:nvSpPr>
        <p:spPr bwMode="auto">
          <a:xfrm>
            <a:off x="83820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a:solidFill>
                  <a:schemeClr val="tx1"/>
                </a:solidFill>
                <a:latin typeface="Tahoma" panose="020B0604030504040204" pitchFamily="34" charset="0"/>
                <a:ea typeface="宋体" panose="02010600030101010101" pitchFamily="2" charset="-122"/>
              </a:defRPr>
            </a:lvl1pPr>
            <a:lvl2pPr marL="742950" indent="-285750" eaLnBrk="0" hangingPunct="0">
              <a:defRPr kumimoji="1">
                <a:solidFill>
                  <a:schemeClr val="tx1"/>
                </a:solidFill>
                <a:latin typeface="Tahoma" panose="020B0604030504040204" pitchFamily="34" charset="0"/>
                <a:ea typeface="宋体" panose="02010600030101010101" pitchFamily="2" charset="-122"/>
              </a:defRPr>
            </a:lvl2pPr>
            <a:lvl3pPr marL="1143000" indent="-228600" eaLnBrk="0" hangingPunct="0">
              <a:defRPr kumimoji="1">
                <a:solidFill>
                  <a:schemeClr val="tx1"/>
                </a:solidFill>
                <a:latin typeface="Tahoma" panose="020B0604030504040204" pitchFamily="34" charset="0"/>
                <a:ea typeface="宋体" panose="02010600030101010101" pitchFamily="2" charset="-122"/>
              </a:defRPr>
            </a:lvl3pPr>
            <a:lvl4pPr marL="1600200" indent="-228600" eaLnBrk="0" hangingPunct="0">
              <a:defRPr kumimoji="1">
                <a:solidFill>
                  <a:schemeClr val="tx1"/>
                </a:solidFill>
                <a:latin typeface="Tahoma" panose="020B0604030504040204" pitchFamily="34" charset="0"/>
                <a:ea typeface="宋体" panose="02010600030101010101" pitchFamily="2" charset="-122"/>
              </a:defRPr>
            </a:lvl4pPr>
            <a:lvl5pPr marL="2057400" indent="-228600" eaLnBrk="0" hangingPunct="0">
              <a:defRPr kumimoj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9pPr>
          </a:lstStyle>
          <a:p>
            <a:pPr algn="r"/>
            <a:fld id="{61E4ADF5-D5B1-4104-8E11-BA4F473CABD1}" type="slidenum">
              <a:rPr kumimoji="0" lang="en-US" altLang="zh-CN" sz="1400">
                <a:latin typeface="Times New Roman" panose="02020603050405020304" pitchFamily="18" charset="0"/>
              </a:rPr>
              <a:pPr algn="r"/>
              <a:t>2</a:t>
            </a:fld>
            <a:endParaRPr kumimoji="0" lang="en-US" altLang="zh-CN" sz="1400">
              <a:latin typeface="Times New Roman" panose="02020603050405020304" pitchFamily="18" charset="0"/>
            </a:endParaRPr>
          </a:p>
        </p:txBody>
      </p:sp>
      <p:sp>
        <p:nvSpPr>
          <p:cNvPr id="3076" name="Rectangle 2"/>
          <p:cNvSpPr>
            <a:spLocks noGrp="1" noChangeArrowheads="1"/>
          </p:cNvSpPr>
          <p:nvPr>
            <p:ph type="ctrTitle"/>
          </p:nvPr>
        </p:nvSpPr>
        <p:spPr>
          <a:xfrm>
            <a:off x="3165037" y="1663770"/>
            <a:ext cx="6295313" cy="707886"/>
          </a:xfrm>
        </p:spPr>
        <p:txBody>
          <a:bodyPr/>
          <a:lstStyle/>
          <a:p>
            <a:pPr eaLnBrk="1" hangingPunct="1"/>
            <a:r>
              <a:rPr lang="zh-CN" altLang="en-US" dirty="0" smtClean="0"/>
              <a:t>第</a:t>
            </a:r>
            <a:r>
              <a:rPr lang="en-US" altLang="zh-CN" dirty="0" smtClean="0"/>
              <a:t>6</a:t>
            </a:r>
            <a:r>
              <a:rPr lang="zh-CN" altLang="en-US" dirty="0" smtClean="0"/>
              <a:t>章 关系数据库设计理论</a:t>
            </a:r>
          </a:p>
        </p:txBody>
      </p:sp>
      <p:sp>
        <p:nvSpPr>
          <p:cNvPr id="3077" name="Rectangle 3"/>
          <p:cNvSpPr>
            <a:spLocks noGrp="1" noChangeArrowheads="1"/>
          </p:cNvSpPr>
          <p:nvPr>
            <p:ph type="subTitle" idx="1"/>
          </p:nvPr>
        </p:nvSpPr>
        <p:spPr>
          <a:xfrm>
            <a:off x="3276600" y="2492375"/>
            <a:ext cx="7010400" cy="3733800"/>
          </a:xfrm>
        </p:spPr>
        <p:txBody>
          <a:bodyPr/>
          <a:lstStyle/>
          <a:p>
            <a:pPr algn="l" eaLnBrk="1" hangingPunct="1"/>
            <a:r>
              <a:rPr lang="en-US" altLang="en-US" dirty="0" smtClean="0">
                <a:solidFill>
                  <a:schemeClr val="bg1"/>
                </a:solidFill>
              </a:rPr>
              <a:t>6.1</a:t>
            </a:r>
            <a:r>
              <a:rPr lang="en-US" altLang="zh-CN" dirty="0" smtClean="0">
                <a:solidFill>
                  <a:schemeClr val="bg1"/>
                </a:solidFill>
              </a:rPr>
              <a:t>、</a:t>
            </a:r>
            <a:r>
              <a:rPr lang="en-US" altLang="en-US" dirty="0" smtClean="0">
                <a:solidFill>
                  <a:schemeClr val="bg1"/>
                </a:solidFill>
              </a:rPr>
              <a:t>关系模式规范化的必要性</a:t>
            </a:r>
            <a:endParaRPr lang="zh-CN" altLang="en-US" dirty="0" smtClean="0">
              <a:solidFill>
                <a:schemeClr val="bg1"/>
              </a:solidFill>
            </a:endParaRPr>
          </a:p>
          <a:p>
            <a:pPr algn="l" eaLnBrk="1" hangingPunct="1"/>
            <a:r>
              <a:rPr lang="en-US" altLang="en-US" dirty="0" smtClean="0">
                <a:solidFill>
                  <a:schemeClr val="bg1"/>
                </a:solidFill>
              </a:rPr>
              <a:t>6.2</a:t>
            </a:r>
            <a:r>
              <a:rPr lang="en-US" altLang="zh-CN" dirty="0" smtClean="0">
                <a:solidFill>
                  <a:schemeClr val="bg1"/>
                </a:solidFill>
              </a:rPr>
              <a:t>、</a:t>
            </a:r>
            <a:r>
              <a:rPr lang="en-US" altLang="en-US" dirty="0" smtClean="0">
                <a:solidFill>
                  <a:schemeClr val="bg1"/>
                </a:solidFill>
              </a:rPr>
              <a:t>函数依赖</a:t>
            </a:r>
            <a:endParaRPr lang="zh-CN" altLang="en-US" dirty="0" smtClean="0">
              <a:solidFill>
                <a:schemeClr val="bg1"/>
              </a:solidFill>
            </a:endParaRPr>
          </a:p>
          <a:p>
            <a:pPr algn="l" eaLnBrk="1" hangingPunct="1"/>
            <a:r>
              <a:rPr lang="en-US" altLang="en-US" dirty="0" smtClean="0">
                <a:solidFill>
                  <a:schemeClr val="bg1"/>
                </a:solidFill>
              </a:rPr>
              <a:t>6.3</a:t>
            </a:r>
            <a:r>
              <a:rPr lang="en-US" altLang="zh-CN" dirty="0" smtClean="0">
                <a:solidFill>
                  <a:schemeClr val="bg1"/>
                </a:solidFill>
              </a:rPr>
              <a:t>、</a:t>
            </a:r>
            <a:r>
              <a:rPr lang="en-US" altLang="en-US" dirty="0" smtClean="0">
                <a:solidFill>
                  <a:schemeClr val="bg1"/>
                </a:solidFill>
              </a:rPr>
              <a:t>关系模式的范式与规范化</a:t>
            </a:r>
            <a:endParaRPr lang="en-US" altLang="zh-CN" dirty="0" smtClean="0">
              <a:solidFill>
                <a:schemeClr val="bg1"/>
              </a:solidFill>
            </a:endParaRPr>
          </a:p>
        </p:txBody>
      </p:sp>
    </p:spTree>
    <p:extLst>
      <p:ext uri="{BB962C8B-B14F-4D97-AF65-F5344CB8AC3E}">
        <p14:creationId xmlns:p14="http://schemas.microsoft.com/office/powerpoint/2010/main" val="377530524"/>
      </p:ext>
    </p:extLst>
  </p:cSld>
  <p:clrMapOvr>
    <a:masterClrMapping/>
  </p:clrMapOvr>
  <p:transition spd="slow">
    <p:wipe dir="r"/>
    <p:sndAc>
      <p:stSnd>
        <p:snd r:embed="rId3" name="arrow.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idx="4294967295"/>
          </p:nvPr>
        </p:nvSpPr>
        <p:spPr>
          <a:xfrm>
            <a:off x="4503777" y="766832"/>
            <a:ext cx="2749471" cy="707886"/>
          </a:xfrm>
        </p:spPr>
        <p:txBody>
          <a:bodyPr/>
          <a:lstStyle/>
          <a:p>
            <a:r>
              <a:rPr lang="zh-CN" altLang="en-US" smtClean="0"/>
              <a:t>教学重难点</a:t>
            </a:r>
          </a:p>
        </p:txBody>
      </p:sp>
      <p:sp>
        <p:nvSpPr>
          <p:cNvPr id="124931" name="Rectangle 3"/>
          <p:cNvSpPr>
            <a:spLocks noGrp="1" noChangeArrowheads="1"/>
          </p:cNvSpPr>
          <p:nvPr>
            <p:ph type="body" idx="4294967295"/>
          </p:nvPr>
        </p:nvSpPr>
        <p:spPr>
          <a:xfrm>
            <a:off x="3071814" y="2147888"/>
            <a:ext cx="6910387" cy="4114800"/>
          </a:xfrm>
        </p:spPr>
        <p:txBody>
          <a:bodyPr/>
          <a:lstStyle/>
          <a:p>
            <a:pPr eaLnBrk="1" hangingPunct="1"/>
            <a:r>
              <a:rPr lang="en-US" altLang="zh-CN" smtClean="0"/>
              <a:t>1</a:t>
            </a:r>
            <a:r>
              <a:rPr lang="zh-CN" altLang="en-US" smtClean="0"/>
              <a:t>、</a:t>
            </a:r>
            <a:r>
              <a:rPr lang="en-US" altLang="en-US" smtClean="0"/>
              <a:t>函数依赖</a:t>
            </a:r>
            <a:endParaRPr lang="zh-CN" altLang="en-US" smtClean="0"/>
          </a:p>
          <a:p>
            <a:pPr eaLnBrk="1" hangingPunct="1"/>
            <a:r>
              <a:rPr lang="en-US" altLang="zh-CN" smtClean="0"/>
              <a:t>2</a:t>
            </a:r>
            <a:r>
              <a:rPr lang="zh-CN" altLang="en-US" smtClean="0"/>
              <a:t>、</a:t>
            </a:r>
            <a:r>
              <a:rPr lang="en-US" altLang="en-US" smtClean="0"/>
              <a:t>关系模式的范式</a:t>
            </a:r>
            <a:endParaRPr lang="en-US" altLang="zh-CN" smtClean="0"/>
          </a:p>
          <a:p>
            <a:pPr eaLnBrk="1" hangingPunct="1"/>
            <a:r>
              <a:rPr lang="en-US" altLang="zh-CN" smtClean="0"/>
              <a:t>3</a:t>
            </a:r>
            <a:r>
              <a:rPr lang="zh-CN" altLang="en-US" smtClean="0"/>
              <a:t>、</a:t>
            </a:r>
            <a:r>
              <a:rPr lang="en-US" altLang="en-US" smtClean="0"/>
              <a:t>关系模式的规范化</a:t>
            </a:r>
            <a:endParaRPr lang="zh-CN" altLang="en-US" smtClean="0"/>
          </a:p>
        </p:txBody>
      </p:sp>
    </p:spTree>
    <p:extLst>
      <p:ext uri="{BB962C8B-B14F-4D97-AF65-F5344CB8AC3E}">
        <p14:creationId xmlns:p14="http://schemas.microsoft.com/office/powerpoint/2010/main" val="3845579352"/>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2132856"/>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第一节</a:t>
            </a:r>
          </a:p>
        </p:txBody>
      </p:sp>
      <p:sp>
        <p:nvSpPr>
          <p:cNvPr id="2" name="标题 1"/>
          <p:cNvSpPr>
            <a:spLocks noGrp="1"/>
          </p:cNvSpPr>
          <p:nvPr>
            <p:ph type="title"/>
          </p:nvPr>
        </p:nvSpPr>
        <p:spPr>
          <a:xfrm>
            <a:off x="1055440" y="3690257"/>
            <a:ext cx="10081120" cy="1112742"/>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关系模式规范化的必要性</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1055440" y="260648"/>
            <a:ext cx="4464496"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第六章  关系数据库设计理论</a:t>
            </a:r>
          </a:p>
        </p:txBody>
      </p:sp>
    </p:spTree>
    <p:extLst>
      <p:ext uri="{BB962C8B-B14F-4D97-AF65-F5344CB8AC3E}">
        <p14:creationId xmlns:p14="http://schemas.microsoft.com/office/powerpoint/2010/main" val="10441800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idx="4294967295"/>
          </p:nvPr>
        </p:nvSpPr>
        <p:spPr>
          <a:xfrm>
            <a:off x="1891523" y="61243"/>
            <a:ext cx="7417416" cy="769441"/>
          </a:xfrm>
        </p:spPr>
        <p:txBody>
          <a:bodyPr/>
          <a:lstStyle/>
          <a:p>
            <a:r>
              <a:rPr lang="en-US" altLang="en-US" sz="4400"/>
              <a:t> </a:t>
            </a:r>
            <a:r>
              <a:rPr lang="en-US" altLang="zh-CN" sz="4400"/>
              <a:t>6.1</a:t>
            </a:r>
            <a:r>
              <a:rPr lang="zh-CN" altLang="en-US" sz="4400"/>
              <a:t>关系模式规范化的必要性</a:t>
            </a:r>
          </a:p>
        </p:txBody>
      </p:sp>
      <p:sp>
        <p:nvSpPr>
          <p:cNvPr id="628739" name="Rectangle 3"/>
          <p:cNvSpPr>
            <a:spLocks noGrp="1" noChangeArrowheads="1"/>
          </p:cNvSpPr>
          <p:nvPr>
            <p:ph type="body" idx="4294967295"/>
          </p:nvPr>
        </p:nvSpPr>
        <p:spPr>
          <a:xfrm>
            <a:off x="983432" y="1628800"/>
            <a:ext cx="10513167" cy="4114800"/>
          </a:xfrm>
        </p:spPr>
        <p:txBody>
          <a:bodyPr>
            <a:normAutofit fontScale="92500" lnSpcReduction="20000"/>
          </a:bodyPr>
          <a:lstStyle/>
          <a:p>
            <a:pPr>
              <a:lnSpc>
                <a:spcPct val="150000"/>
              </a:lnSpc>
            </a:pPr>
            <a:r>
              <a:rPr lang="zh-CN" altLang="en-US" dirty="0" smtClean="0"/>
              <a:t>数据库的逻辑设计为什么要在关系型数据库规范化理论的指导下进行？</a:t>
            </a:r>
          </a:p>
          <a:p>
            <a:pPr>
              <a:lnSpc>
                <a:spcPct val="150000"/>
              </a:lnSpc>
            </a:pPr>
            <a:r>
              <a:rPr lang="zh-CN" altLang="en-US" dirty="0" smtClean="0"/>
              <a:t>什么才是合适的关系模式？</a:t>
            </a:r>
          </a:p>
          <a:p>
            <a:pPr>
              <a:lnSpc>
                <a:spcPct val="150000"/>
              </a:lnSpc>
            </a:pPr>
            <a:r>
              <a:rPr lang="zh-CN" altLang="en-US" dirty="0" smtClean="0"/>
              <a:t>如果不使用关系型数据库的规范化理论而随意进行数据库的设计可能导致哪些问题？</a:t>
            </a:r>
          </a:p>
          <a:p>
            <a:pPr>
              <a:lnSpc>
                <a:spcPct val="150000"/>
              </a:lnSpc>
            </a:pPr>
            <a:r>
              <a:rPr lang="zh-CN" altLang="en-US" dirty="0" smtClean="0"/>
              <a:t>又如何来解决这些问题？</a:t>
            </a:r>
          </a:p>
        </p:txBody>
      </p:sp>
    </p:spTree>
    <p:extLst>
      <p:ext uri="{BB962C8B-B14F-4D97-AF65-F5344CB8AC3E}">
        <p14:creationId xmlns:p14="http://schemas.microsoft.com/office/powerpoint/2010/main" val="953900820"/>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99456" y="116632"/>
            <a:ext cx="2242922" cy="707886"/>
          </a:xfrm>
        </p:spPr>
        <p:txBody>
          <a:bodyPr/>
          <a:lstStyle/>
          <a:p>
            <a:pPr eaLnBrk="1" hangingPunct="1"/>
            <a:r>
              <a:rPr lang="zh-CN" altLang="en-US">
                <a:solidFill>
                  <a:srgbClr val="FFFF00"/>
                </a:solidFill>
                <a:latin typeface="Arial" pitchFamily="34" charset="0"/>
                <a:ea typeface="宋体" pitchFamily="2" charset="-122"/>
              </a:rPr>
              <a:t>概念回顾</a:t>
            </a:r>
          </a:p>
        </p:txBody>
      </p:sp>
      <p:sp>
        <p:nvSpPr>
          <p:cNvPr id="12291" name="Rectangle 3"/>
          <p:cNvSpPr>
            <a:spLocks noGrp="1" noChangeArrowheads="1"/>
          </p:cNvSpPr>
          <p:nvPr>
            <p:ph type="body" idx="1"/>
          </p:nvPr>
        </p:nvSpPr>
        <p:spPr>
          <a:xfrm>
            <a:off x="623663" y="1052736"/>
            <a:ext cx="11160969" cy="3727450"/>
          </a:xfrm>
        </p:spPr>
        <p:txBody>
          <a:bodyPr>
            <a:noAutofit/>
          </a:bodyPr>
          <a:lstStyle/>
          <a:p>
            <a:pPr eaLnBrk="1" hangingPunct="1">
              <a:lnSpc>
                <a:spcPct val="140000"/>
              </a:lnSpc>
            </a:pPr>
            <a:r>
              <a:rPr lang="zh-CN" altLang="en-US" sz="2800" b="1" dirty="0">
                <a:solidFill>
                  <a:srgbClr val="FFFF00"/>
                </a:solidFill>
                <a:latin typeface="Arial" pitchFamily="34" charset="0"/>
                <a:ea typeface="宋体" pitchFamily="2" charset="-122"/>
              </a:rPr>
              <a:t>关系</a:t>
            </a:r>
            <a:r>
              <a:rPr lang="zh-CN" altLang="en-US" sz="2800" b="1" dirty="0">
                <a:latin typeface="Arial" pitchFamily="34" charset="0"/>
                <a:ea typeface="宋体" pitchFamily="2" charset="-122"/>
              </a:rPr>
              <a:t>：描述实体、属性、实体间的联系。</a:t>
            </a:r>
          </a:p>
          <a:p>
            <a:pPr lvl="1" eaLnBrk="1" hangingPunct="1">
              <a:lnSpc>
                <a:spcPct val="140000"/>
              </a:lnSpc>
            </a:pPr>
            <a:r>
              <a:rPr lang="zh-CN" altLang="en-US" b="1" dirty="0">
                <a:latin typeface="Arial" pitchFamily="34" charset="0"/>
                <a:ea typeface="宋体" pitchFamily="2" charset="-122"/>
              </a:rPr>
              <a:t>从形式上看，它是一张二维表，是所涉及属性的笛卡尔积的一个子集。</a:t>
            </a:r>
          </a:p>
          <a:p>
            <a:pPr eaLnBrk="1" hangingPunct="1">
              <a:lnSpc>
                <a:spcPct val="140000"/>
              </a:lnSpc>
            </a:pPr>
            <a:r>
              <a:rPr lang="zh-CN" altLang="en-US" sz="2800" b="1" dirty="0">
                <a:solidFill>
                  <a:srgbClr val="FFFF00"/>
                </a:solidFill>
                <a:latin typeface="Arial" pitchFamily="34" charset="0"/>
                <a:ea typeface="宋体" pitchFamily="2" charset="-122"/>
              </a:rPr>
              <a:t>关系模式</a:t>
            </a:r>
            <a:r>
              <a:rPr lang="zh-CN" altLang="en-US" sz="2800" b="1" dirty="0">
                <a:latin typeface="Arial" pitchFamily="34" charset="0"/>
                <a:ea typeface="宋体" pitchFamily="2" charset="-122"/>
              </a:rPr>
              <a:t>：关系的描述。</a:t>
            </a:r>
          </a:p>
          <a:p>
            <a:pPr eaLnBrk="1" hangingPunct="1">
              <a:lnSpc>
                <a:spcPct val="140000"/>
              </a:lnSpc>
            </a:pPr>
            <a:r>
              <a:rPr lang="zh-CN" altLang="en-US" sz="2800" b="1" dirty="0">
                <a:solidFill>
                  <a:srgbClr val="FFFF00"/>
                </a:solidFill>
                <a:latin typeface="Arial" pitchFamily="34" charset="0"/>
                <a:ea typeface="宋体" pitchFamily="2" charset="-122"/>
              </a:rPr>
              <a:t>关系数据库</a:t>
            </a:r>
            <a:r>
              <a:rPr lang="zh-CN" altLang="en-US" sz="2800" b="1" dirty="0">
                <a:latin typeface="Arial" pitchFamily="34" charset="0"/>
                <a:ea typeface="宋体" pitchFamily="2" charset="-122"/>
              </a:rPr>
              <a:t>：基于关系模型的数据库，利用关系来描述现实世界。</a:t>
            </a:r>
          </a:p>
          <a:p>
            <a:pPr lvl="1" eaLnBrk="1" hangingPunct="1">
              <a:lnSpc>
                <a:spcPct val="140000"/>
              </a:lnSpc>
            </a:pPr>
            <a:r>
              <a:rPr lang="zh-CN" altLang="en-US" b="1" dirty="0">
                <a:latin typeface="Arial" pitchFamily="34" charset="0"/>
                <a:ea typeface="宋体" pitchFamily="2" charset="-122"/>
              </a:rPr>
              <a:t>从形式上看，它由一组关系组成。</a:t>
            </a:r>
          </a:p>
          <a:p>
            <a:pPr eaLnBrk="1" hangingPunct="1">
              <a:lnSpc>
                <a:spcPct val="140000"/>
              </a:lnSpc>
            </a:pPr>
            <a:r>
              <a:rPr lang="zh-CN" altLang="en-US" sz="2800" b="1" dirty="0">
                <a:solidFill>
                  <a:srgbClr val="FFFF00"/>
                </a:solidFill>
                <a:latin typeface="Arial" pitchFamily="34" charset="0"/>
                <a:ea typeface="宋体" pitchFamily="2" charset="-122"/>
              </a:rPr>
              <a:t>关系数据库的模式</a:t>
            </a:r>
            <a:r>
              <a:rPr lang="zh-CN" altLang="en-US" sz="2800" b="1" dirty="0">
                <a:latin typeface="Arial" pitchFamily="34" charset="0"/>
                <a:ea typeface="宋体" pitchFamily="2" charset="-122"/>
              </a:rPr>
              <a:t>：定义这组关系的关系模式的全体。</a:t>
            </a:r>
            <a:endParaRPr lang="zh-CN" altLang="en-US" b="1" dirty="0">
              <a:latin typeface="Arial" pitchFamily="34" charset="0"/>
              <a:ea typeface="宋体" pitchFamily="2" charset="-122"/>
            </a:endParaRPr>
          </a:p>
        </p:txBody>
      </p:sp>
    </p:spTree>
    <p:extLst>
      <p:ext uri="{BB962C8B-B14F-4D97-AF65-F5344CB8AC3E}">
        <p14:creationId xmlns:p14="http://schemas.microsoft.com/office/powerpoint/2010/main" val="364234437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415571" y="188640"/>
            <a:ext cx="5330305" cy="707886"/>
          </a:xfrm>
        </p:spPr>
        <p:txBody>
          <a:bodyPr/>
          <a:lstStyle/>
          <a:p>
            <a:pPr eaLnBrk="1" hangingPunct="1"/>
            <a:r>
              <a:rPr lang="zh-CN" altLang="en-US">
                <a:solidFill>
                  <a:srgbClr val="FFFF00"/>
                </a:solidFill>
                <a:latin typeface="Arial" pitchFamily="34" charset="0"/>
                <a:ea typeface="宋体" pitchFamily="2" charset="-122"/>
              </a:rPr>
              <a:t>关系模式的形式化定义</a:t>
            </a:r>
          </a:p>
        </p:txBody>
      </p:sp>
      <p:sp>
        <p:nvSpPr>
          <p:cNvPr id="13315" name="Rectangle 3"/>
          <p:cNvSpPr>
            <a:spLocks noGrp="1" noChangeArrowheads="1"/>
          </p:cNvSpPr>
          <p:nvPr>
            <p:ph type="body" idx="1"/>
          </p:nvPr>
        </p:nvSpPr>
        <p:spPr>
          <a:xfrm>
            <a:off x="695400" y="1124744"/>
            <a:ext cx="10363200" cy="4114800"/>
          </a:xfrm>
        </p:spPr>
        <p:txBody>
          <a:bodyPr>
            <a:noAutofit/>
          </a:bodyPr>
          <a:lstStyle/>
          <a:p>
            <a:pPr eaLnBrk="1" hangingPunct="1">
              <a:lnSpc>
                <a:spcPct val="120000"/>
              </a:lnSpc>
              <a:buFont typeface="Wingdings" pitchFamily="2" charset="2"/>
              <a:buNone/>
            </a:pPr>
            <a:r>
              <a:rPr lang="zh-CN" altLang="en-US" sz="2800" b="1" dirty="0">
                <a:latin typeface="Arial" pitchFamily="34" charset="0"/>
                <a:ea typeface="宋体" pitchFamily="2" charset="-122"/>
              </a:rPr>
              <a:t>关系模式由五部分组成，即它是一个五元组：</a:t>
            </a:r>
          </a:p>
          <a:p>
            <a:pPr eaLnBrk="1" hangingPunct="1">
              <a:lnSpc>
                <a:spcPct val="120000"/>
              </a:lnSpc>
              <a:buFont typeface="Wingdings" pitchFamily="2" charset="2"/>
              <a:buNone/>
            </a:pPr>
            <a:r>
              <a:rPr lang="zh-CN" altLang="en-US" sz="2800" b="1" dirty="0">
                <a:solidFill>
                  <a:srgbClr val="FF0000"/>
                </a:solidFill>
                <a:latin typeface="Arial" pitchFamily="34" charset="0"/>
                <a:ea typeface="宋体" pitchFamily="2" charset="-122"/>
              </a:rPr>
              <a:t>                    </a:t>
            </a:r>
            <a:r>
              <a:rPr lang="en-US" altLang="zh-CN" b="1" dirty="0">
                <a:solidFill>
                  <a:srgbClr val="FFFF00"/>
                </a:solidFill>
                <a:latin typeface="Arial" pitchFamily="34" charset="0"/>
                <a:ea typeface="宋体" pitchFamily="2" charset="-122"/>
              </a:rPr>
              <a:t>R(U, D, DOM, F)</a:t>
            </a:r>
          </a:p>
          <a:p>
            <a:pPr lvl="1" eaLnBrk="1" hangingPunct="1">
              <a:lnSpc>
                <a:spcPct val="130000"/>
              </a:lnSpc>
              <a:buFont typeface="Wingdings" pitchFamily="2" charset="2"/>
              <a:buNone/>
            </a:pPr>
            <a:r>
              <a:rPr lang="en-US" altLang="zh-CN" sz="2400" b="1" dirty="0">
                <a:latin typeface="Arial" pitchFamily="34" charset="0"/>
                <a:ea typeface="宋体" pitchFamily="2" charset="-122"/>
              </a:rPr>
              <a:t>R</a:t>
            </a:r>
            <a:r>
              <a:rPr lang="zh-CN" altLang="en-US" sz="2400" b="1" dirty="0">
                <a:latin typeface="Arial" pitchFamily="34" charset="0"/>
                <a:ea typeface="宋体" pitchFamily="2" charset="-122"/>
              </a:rPr>
              <a:t>：         </a:t>
            </a:r>
            <a:r>
              <a:rPr lang="zh-CN" altLang="en-US" b="1" dirty="0">
                <a:latin typeface="Arial" pitchFamily="34" charset="0"/>
                <a:ea typeface="宋体" pitchFamily="2" charset="-122"/>
              </a:rPr>
              <a:t>关系名</a:t>
            </a:r>
          </a:p>
          <a:p>
            <a:pPr lvl="1" eaLnBrk="1" hangingPunct="1">
              <a:lnSpc>
                <a:spcPct val="130000"/>
              </a:lnSpc>
              <a:buFont typeface="Wingdings" pitchFamily="2" charset="2"/>
              <a:buNone/>
            </a:pPr>
            <a:r>
              <a:rPr lang="en-US" altLang="zh-CN" b="1" dirty="0">
                <a:latin typeface="Arial" pitchFamily="34" charset="0"/>
                <a:ea typeface="宋体" pitchFamily="2" charset="-122"/>
              </a:rPr>
              <a:t>U</a:t>
            </a:r>
            <a:r>
              <a:rPr lang="zh-CN" altLang="en-US" b="1" dirty="0">
                <a:latin typeface="Arial" pitchFamily="34" charset="0"/>
                <a:ea typeface="宋体" pitchFamily="2" charset="-122"/>
              </a:rPr>
              <a:t>：       组成该关系的属性名集合</a:t>
            </a:r>
          </a:p>
          <a:p>
            <a:pPr lvl="1" eaLnBrk="1" hangingPunct="1">
              <a:lnSpc>
                <a:spcPct val="130000"/>
              </a:lnSpc>
              <a:buFont typeface="Wingdings" pitchFamily="2" charset="2"/>
              <a:buNone/>
            </a:pPr>
            <a:r>
              <a:rPr lang="en-US" altLang="zh-CN" b="1" dirty="0">
                <a:latin typeface="Arial" pitchFamily="34" charset="0"/>
                <a:ea typeface="宋体" pitchFamily="2" charset="-122"/>
              </a:rPr>
              <a:t>D</a:t>
            </a:r>
            <a:r>
              <a:rPr lang="zh-CN" altLang="en-US" b="1" dirty="0">
                <a:latin typeface="Arial" pitchFamily="34" charset="0"/>
                <a:ea typeface="宋体" pitchFamily="2" charset="-122"/>
              </a:rPr>
              <a:t>：       属性组</a:t>
            </a:r>
            <a:r>
              <a:rPr lang="en-US" altLang="zh-CN" b="1" dirty="0">
                <a:latin typeface="Arial" pitchFamily="34" charset="0"/>
                <a:ea typeface="宋体" pitchFamily="2" charset="-122"/>
              </a:rPr>
              <a:t>U</a:t>
            </a:r>
            <a:r>
              <a:rPr lang="zh-CN" altLang="en-US" b="1" dirty="0">
                <a:latin typeface="Arial" pitchFamily="34" charset="0"/>
                <a:ea typeface="宋体" pitchFamily="2" charset="-122"/>
              </a:rPr>
              <a:t>中属性所来自的域</a:t>
            </a:r>
          </a:p>
          <a:p>
            <a:pPr lvl="1" eaLnBrk="1" hangingPunct="1">
              <a:lnSpc>
                <a:spcPct val="130000"/>
              </a:lnSpc>
              <a:buFont typeface="Wingdings" pitchFamily="2" charset="2"/>
              <a:buNone/>
            </a:pPr>
            <a:r>
              <a:rPr lang="en-US" altLang="zh-CN" b="1" dirty="0">
                <a:latin typeface="Arial" pitchFamily="34" charset="0"/>
                <a:ea typeface="宋体" pitchFamily="2" charset="-122"/>
              </a:rPr>
              <a:t>DOM</a:t>
            </a:r>
            <a:r>
              <a:rPr lang="zh-CN" altLang="en-US" b="1" dirty="0">
                <a:latin typeface="Arial" pitchFamily="34" charset="0"/>
                <a:ea typeface="宋体" pitchFamily="2" charset="-122"/>
              </a:rPr>
              <a:t>：   属性向域的映象集合</a:t>
            </a:r>
          </a:p>
          <a:p>
            <a:pPr lvl="1" eaLnBrk="1" hangingPunct="1">
              <a:lnSpc>
                <a:spcPct val="130000"/>
              </a:lnSpc>
              <a:buFont typeface="Wingdings" pitchFamily="2" charset="2"/>
              <a:buNone/>
            </a:pPr>
            <a:r>
              <a:rPr lang="en-US" altLang="zh-CN" b="1" dirty="0">
                <a:solidFill>
                  <a:srgbClr val="FFFF00"/>
                </a:solidFill>
                <a:latin typeface="Arial" pitchFamily="34" charset="0"/>
                <a:ea typeface="宋体" pitchFamily="2" charset="-122"/>
              </a:rPr>
              <a:t>F</a:t>
            </a:r>
            <a:r>
              <a:rPr lang="zh-CN" altLang="en-US" b="1" dirty="0">
                <a:solidFill>
                  <a:srgbClr val="FFFF00"/>
                </a:solidFill>
                <a:latin typeface="Arial" pitchFamily="34" charset="0"/>
                <a:ea typeface="宋体" pitchFamily="2" charset="-122"/>
              </a:rPr>
              <a:t>：        属性间数据的依赖关系集合</a:t>
            </a:r>
            <a:endParaRPr lang="zh-CN" altLang="en-US" sz="2400" b="1" dirty="0">
              <a:solidFill>
                <a:srgbClr val="FFFF00"/>
              </a:solidFill>
              <a:latin typeface="Arial" pitchFamily="34" charset="0"/>
              <a:ea typeface="宋体" pitchFamily="2" charset="-122"/>
            </a:endParaRPr>
          </a:p>
        </p:txBody>
      </p:sp>
    </p:spTree>
    <p:extLst>
      <p:ext uri="{BB962C8B-B14F-4D97-AF65-F5344CB8AC3E}">
        <p14:creationId xmlns:p14="http://schemas.microsoft.com/office/powerpoint/2010/main" val="188160454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3075" name="Rectangle 3"/>
          <p:cNvSpPr>
            <a:spLocks noGrp="1" noChangeArrowheads="1"/>
          </p:cNvSpPr>
          <p:nvPr>
            <p:ph type="title"/>
          </p:nvPr>
        </p:nvSpPr>
        <p:spPr>
          <a:xfrm>
            <a:off x="980513" y="931825"/>
            <a:ext cx="4727271" cy="646331"/>
          </a:xfrm>
        </p:spPr>
        <p:txBody>
          <a:bodyPr wrap="square"/>
          <a:lstStyle/>
          <a:p>
            <a:pPr algn="just">
              <a:buFont typeface="Wingdings" pitchFamily="2" charset="2"/>
              <a:buNone/>
            </a:pPr>
            <a:r>
              <a:rPr lang="zh-CN" altLang="en-US" sz="3600" b="0" dirty="0">
                <a:latin typeface="微软雅黑" panose="020B0503020204020204" pitchFamily="34" charset="-122"/>
                <a:ea typeface="微软雅黑" panose="020B0503020204020204" pitchFamily="34" charset="-122"/>
              </a:rPr>
              <a:t>一个学籍</a:t>
            </a:r>
            <a:r>
              <a:rPr lang="en-US" altLang="zh-CN" sz="3600" b="0" dirty="0">
                <a:latin typeface="微软雅黑" panose="020B0503020204020204" pitchFamily="34" charset="-122"/>
                <a:ea typeface="微软雅黑" panose="020B0503020204020204" pitchFamily="34" charset="-122"/>
              </a:rPr>
              <a:t>E-R</a:t>
            </a:r>
            <a:r>
              <a:rPr lang="zh-CN" altLang="en-US" sz="3600" b="0" dirty="0">
                <a:latin typeface="微软雅黑" panose="020B0503020204020204" pitchFamily="34" charset="-122"/>
                <a:ea typeface="微软雅黑" panose="020B0503020204020204" pitchFamily="34" charset="-122"/>
              </a:rPr>
              <a:t>模型：</a:t>
            </a:r>
          </a:p>
        </p:txBody>
      </p:sp>
      <p:sp>
        <p:nvSpPr>
          <p:cNvPr id="1471492" name="Rectangle 4"/>
          <p:cNvSpPr>
            <a:spLocks noChangeArrowheads="1"/>
          </p:cNvSpPr>
          <p:nvPr/>
        </p:nvSpPr>
        <p:spPr bwMode="auto">
          <a:xfrm>
            <a:off x="1127448" y="4466791"/>
            <a:ext cx="10369152" cy="457200"/>
          </a:xfrm>
          <a:prstGeom prst="rect">
            <a:avLst/>
          </a:prstGeom>
          <a:noFill/>
          <a:ln w="12700" cap="sq">
            <a:noFill/>
            <a:miter lim="800000"/>
            <a:headEnd/>
            <a:tailEnd/>
          </a:ln>
          <a:effectLst/>
        </p:spPr>
        <p:txBody>
          <a:bodyPr lIns="0" tIns="0" rIns="0" bIns="0"/>
          <a:lstStyle/>
          <a:p>
            <a:pPr marL="198438" marR="0" lvl="0" indent="-198438" algn="l" defTabSz="914400" rtl="0" eaLnBrk="1" fontAlgn="base" latinLnBrk="0" hangingPunct="1">
              <a:lnSpc>
                <a:spcPct val="100000"/>
              </a:lnSpc>
              <a:spcBef>
                <a:spcPct val="0"/>
              </a:spcBef>
              <a:spcAft>
                <a:spcPts val="600"/>
              </a:spcAft>
              <a:buClrTx/>
              <a:buSzTx/>
              <a:buFontTx/>
              <a:buChar char="•"/>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学生可能重名，但只有一个学号；</a:t>
            </a:r>
            <a:endPar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endParaRPr>
          </a:p>
          <a:p>
            <a:pPr marL="198438" marR="0" lvl="0" indent="-198438" algn="l" defTabSz="914400" rtl="0" eaLnBrk="1" fontAlgn="base" latinLnBrk="0" hangingPunct="1">
              <a:lnSpc>
                <a:spcPct val="100000"/>
              </a:lnSpc>
              <a:spcBef>
                <a:spcPct val="0"/>
              </a:spcBef>
              <a:spcAft>
                <a:spcPts val="600"/>
              </a:spcAft>
              <a:buClrTx/>
              <a:buSzTx/>
              <a:buFontTx/>
              <a:buChar char="•"/>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系不能重名，只有一名系主任，但系主任可能重名；</a:t>
            </a:r>
          </a:p>
          <a:p>
            <a:pPr marL="198438" marR="0" lvl="0" indent="-198438" algn="just" defTabSz="914400" rtl="0" eaLnBrk="1" fontAlgn="base" latinLnBrk="0" hangingPunct="1">
              <a:lnSpc>
                <a:spcPct val="100000"/>
              </a:lnSpc>
              <a:spcBef>
                <a:spcPct val="0"/>
              </a:spcBef>
              <a:spcAft>
                <a:spcPts val="600"/>
              </a:spcAft>
              <a:buClrTx/>
              <a:buSzTx/>
              <a:buFontTx/>
              <a:buChar char="•"/>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每门课有一个唯一的课名，不同课的学分可能相同；</a:t>
            </a:r>
          </a:p>
          <a:p>
            <a:pPr marL="198438" marR="0" lvl="0" indent="-198438" algn="just" defTabSz="914400" rtl="0" eaLnBrk="1" fontAlgn="base" latinLnBrk="0" hangingPunct="1">
              <a:lnSpc>
                <a:spcPct val="100000"/>
              </a:lnSpc>
              <a:spcBef>
                <a:spcPct val="0"/>
              </a:spcBef>
              <a:spcAft>
                <a:spcPts val="600"/>
              </a:spcAft>
              <a:buClrTx/>
              <a:buSzTx/>
              <a:buFontTx/>
              <a:buChar char="•"/>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每个学生所学的每一门课程都有一个成绩。</a:t>
            </a:r>
            <a:endPar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endParaRPr>
          </a:p>
        </p:txBody>
      </p:sp>
      <p:grpSp>
        <p:nvGrpSpPr>
          <p:cNvPr id="3077" name="Group 5"/>
          <p:cNvGrpSpPr>
            <a:grpSpLocks/>
          </p:cNvGrpSpPr>
          <p:nvPr/>
        </p:nvGrpSpPr>
        <p:grpSpPr bwMode="auto">
          <a:xfrm>
            <a:off x="983432" y="1820141"/>
            <a:ext cx="10369152" cy="1666875"/>
            <a:chOff x="204" y="929"/>
            <a:chExt cx="5268" cy="1050"/>
          </a:xfrm>
        </p:grpSpPr>
        <p:sp>
          <p:nvSpPr>
            <p:cNvPr id="1471494" name="Rectangle 6"/>
            <p:cNvSpPr>
              <a:spLocks noChangeArrowheads="1"/>
            </p:cNvSpPr>
            <p:nvPr/>
          </p:nvSpPr>
          <p:spPr bwMode="auto">
            <a:xfrm>
              <a:off x="571" y="1579"/>
              <a:ext cx="506" cy="266"/>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课程</a:t>
              </a:r>
            </a:p>
          </p:txBody>
        </p:sp>
        <p:sp>
          <p:nvSpPr>
            <p:cNvPr id="1471495" name="AutoShape 7"/>
            <p:cNvSpPr>
              <a:spLocks noChangeArrowheads="1"/>
            </p:cNvSpPr>
            <p:nvPr/>
          </p:nvSpPr>
          <p:spPr bwMode="auto">
            <a:xfrm>
              <a:off x="204" y="929"/>
              <a:ext cx="562" cy="267"/>
            </a:xfrm>
            <a:prstGeom prst="roundRect">
              <a:avLst>
                <a:gd name="adj" fmla="val 50000"/>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课名</a:t>
              </a:r>
            </a:p>
          </p:txBody>
        </p:sp>
        <p:sp>
          <p:nvSpPr>
            <p:cNvPr id="1471496" name="AutoShape 8"/>
            <p:cNvSpPr>
              <a:spLocks noChangeArrowheads="1"/>
            </p:cNvSpPr>
            <p:nvPr/>
          </p:nvSpPr>
          <p:spPr bwMode="auto">
            <a:xfrm>
              <a:off x="814" y="947"/>
              <a:ext cx="562" cy="267"/>
            </a:xfrm>
            <a:prstGeom prst="roundRect">
              <a:avLst>
                <a:gd name="adj" fmla="val 50000"/>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学分</a:t>
              </a:r>
            </a:p>
          </p:txBody>
        </p:sp>
        <p:sp>
          <p:nvSpPr>
            <p:cNvPr id="1471497" name="Rectangle 9"/>
            <p:cNvSpPr>
              <a:spLocks noChangeArrowheads="1"/>
            </p:cNvSpPr>
            <p:nvPr/>
          </p:nvSpPr>
          <p:spPr bwMode="auto">
            <a:xfrm>
              <a:off x="2556" y="1579"/>
              <a:ext cx="563" cy="266"/>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学生</a:t>
              </a:r>
            </a:p>
          </p:txBody>
        </p:sp>
        <p:sp>
          <p:nvSpPr>
            <p:cNvPr id="1471498" name="AutoShape 10"/>
            <p:cNvSpPr>
              <a:spLocks noChangeArrowheads="1"/>
            </p:cNvSpPr>
            <p:nvPr/>
          </p:nvSpPr>
          <p:spPr bwMode="auto">
            <a:xfrm>
              <a:off x="2219" y="963"/>
              <a:ext cx="557" cy="260"/>
            </a:xfrm>
            <a:prstGeom prst="roundRect">
              <a:avLst>
                <a:gd name="adj" fmla="val 50000"/>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学号</a:t>
              </a:r>
            </a:p>
          </p:txBody>
        </p:sp>
        <p:sp>
          <p:nvSpPr>
            <p:cNvPr id="1471499" name="AutoShape 11"/>
            <p:cNvSpPr>
              <a:spLocks noChangeArrowheads="1"/>
            </p:cNvSpPr>
            <p:nvPr/>
          </p:nvSpPr>
          <p:spPr bwMode="auto">
            <a:xfrm>
              <a:off x="3006" y="963"/>
              <a:ext cx="558" cy="267"/>
            </a:xfrm>
            <a:prstGeom prst="roundRect">
              <a:avLst>
                <a:gd name="adj" fmla="val 50000"/>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姓名</a:t>
              </a:r>
            </a:p>
          </p:txBody>
        </p:sp>
        <p:cxnSp>
          <p:nvCxnSpPr>
            <p:cNvPr id="3085" name="AutoShape 12"/>
            <p:cNvCxnSpPr>
              <a:cxnSpLocks noChangeShapeType="1"/>
              <a:stCxn id="1471495" idx="2"/>
              <a:endCxn id="1471494" idx="0"/>
            </p:cNvCxnSpPr>
            <p:nvPr/>
          </p:nvCxnSpPr>
          <p:spPr bwMode="auto">
            <a:xfrm>
              <a:off x="485" y="1196"/>
              <a:ext cx="339" cy="383"/>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cxnSp>
          <p:nvCxnSpPr>
            <p:cNvPr id="3086" name="AutoShape 13"/>
            <p:cNvCxnSpPr>
              <a:cxnSpLocks noChangeShapeType="1"/>
              <a:stCxn id="1471496" idx="2"/>
              <a:endCxn id="1471494" idx="0"/>
            </p:cNvCxnSpPr>
            <p:nvPr/>
          </p:nvCxnSpPr>
          <p:spPr bwMode="auto">
            <a:xfrm flipH="1">
              <a:off x="824" y="1214"/>
              <a:ext cx="271" cy="365"/>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cxnSp>
          <p:nvCxnSpPr>
            <p:cNvPr id="3087" name="AutoShape 14"/>
            <p:cNvCxnSpPr>
              <a:cxnSpLocks noChangeShapeType="1"/>
              <a:stCxn id="1471497" idx="0"/>
              <a:endCxn id="1471498" idx="2"/>
            </p:cNvCxnSpPr>
            <p:nvPr/>
          </p:nvCxnSpPr>
          <p:spPr bwMode="auto">
            <a:xfrm flipH="1" flipV="1">
              <a:off x="2498" y="1223"/>
              <a:ext cx="340" cy="356"/>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cxnSp>
          <p:nvCxnSpPr>
            <p:cNvPr id="3088" name="AutoShape 15"/>
            <p:cNvCxnSpPr>
              <a:cxnSpLocks noChangeShapeType="1"/>
              <a:stCxn id="1471497" idx="0"/>
              <a:endCxn id="1471499" idx="2"/>
            </p:cNvCxnSpPr>
            <p:nvPr/>
          </p:nvCxnSpPr>
          <p:spPr bwMode="auto">
            <a:xfrm flipV="1">
              <a:off x="2838" y="1230"/>
              <a:ext cx="447" cy="349"/>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sp>
          <p:nvSpPr>
            <p:cNvPr id="1471504" name="AutoShape 16"/>
            <p:cNvSpPr>
              <a:spLocks noChangeArrowheads="1"/>
            </p:cNvSpPr>
            <p:nvPr/>
          </p:nvSpPr>
          <p:spPr bwMode="auto">
            <a:xfrm>
              <a:off x="1356" y="1445"/>
              <a:ext cx="900" cy="533"/>
            </a:xfrm>
            <a:prstGeom prst="diamond">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选修</a:t>
              </a:r>
            </a:p>
          </p:txBody>
        </p:sp>
        <p:sp>
          <p:nvSpPr>
            <p:cNvPr id="1471505" name="AutoShape 17"/>
            <p:cNvSpPr>
              <a:spLocks noChangeArrowheads="1"/>
            </p:cNvSpPr>
            <p:nvPr/>
          </p:nvSpPr>
          <p:spPr bwMode="auto">
            <a:xfrm>
              <a:off x="1527" y="957"/>
              <a:ext cx="558" cy="259"/>
            </a:xfrm>
            <a:prstGeom prst="roundRect">
              <a:avLst>
                <a:gd name="adj" fmla="val 50000"/>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成绩</a:t>
              </a:r>
            </a:p>
          </p:txBody>
        </p:sp>
        <p:cxnSp>
          <p:nvCxnSpPr>
            <p:cNvPr id="3091" name="AutoShape 18"/>
            <p:cNvCxnSpPr>
              <a:cxnSpLocks noChangeShapeType="1"/>
              <a:stCxn id="1471505" idx="2"/>
              <a:endCxn id="1471504" idx="0"/>
            </p:cNvCxnSpPr>
            <p:nvPr/>
          </p:nvCxnSpPr>
          <p:spPr bwMode="auto">
            <a:xfrm>
              <a:off x="1806" y="1216"/>
              <a:ext cx="0" cy="229"/>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cxnSp>
          <p:nvCxnSpPr>
            <p:cNvPr id="3092" name="AutoShape 19"/>
            <p:cNvCxnSpPr>
              <a:cxnSpLocks noChangeShapeType="1"/>
              <a:stCxn id="1471494" idx="3"/>
              <a:endCxn id="1471504" idx="1"/>
            </p:cNvCxnSpPr>
            <p:nvPr/>
          </p:nvCxnSpPr>
          <p:spPr bwMode="auto">
            <a:xfrm>
              <a:off x="1077" y="1712"/>
              <a:ext cx="279" cy="0"/>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cxnSp>
          <p:nvCxnSpPr>
            <p:cNvPr id="3093" name="AutoShape 20"/>
            <p:cNvCxnSpPr>
              <a:cxnSpLocks noChangeShapeType="1"/>
              <a:stCxn id="1471504" idx="3"/>
              <a:endCxn id="1471497" idx="1"/>
            </p:cNvCxnSpPr>
            <p:nvPr/>
          </p:nvCxnSpPr>
          <p:spPr bwMode="auto">
            <a:xfrm>
              <a:off x="2256" y="1712"/>
              <a:ext cx="300" cy="0"/>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sp>
          <p:nvSpPr>
            <p:cNvPr id="1471509" name="Rectangle 21"/>
            <p:cNvSpPr>
              <a:spLocks noChangeArrowheads="1"/>
            </p:cNvSpPr>
            <p:nvPr/>
          </p:nvSpPr>
          <p:spPr bwMode="auto">
            <a:xfrm>
              <a:off x="972" y="1441"/>
              <a:ext cx="562" cy="265"/>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m</a:t>
              </a:r>
            </a:p>
          </p:txBody>
        </p:sp>
        <p:sp>
          <p:nvSpPr>
            <p:cNvPr id="1471510" name="Rectangle 22"/>
            <p:cNvSpPr>
              <a:spLocks noChangeArrowheads="1"/>
            </p:cNvSpPr>
            <p:nvPr/>
          </p:nvSpPr>
          <p:spPr bwMode="auto">
            <a:xfrm>
              <a:off x="2127" y="1464"/>
              <a:ext cx="563" cy="266"/>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n</a:t>
              </a:r>
            </a:p>
          </p:txBody>
        </p:sp>
        <p:sp>
          <p:nvSpPr>
            <p:cNvPr id="1471511" name="AutoShape 23"/>
            <p:cNvSpPr>
              <a:spLocks noChangeArrowheads="1"/>
            </p:cNvSpPr>
            <p:nvPr/>
          </p:nvSpPr>
          <p:spPr bwMode="auto">
            <a:xfrm>
              <a:off x="3482" y="1446"/>
              <a:ext cx="900" cy="533"/>
            </a:xfrm>
            <a:prstGeom prst="diamond">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属于</a:t>
              </a:r>
            </a:p>
          </p:txBody>
        </p:sp>
        <p:cxnSp>
          <p:nvCxnSpPr>
            <p:cNvPr id="3097" name="AutoShape 24"/>
            <p:cNvCxnSpPr>
              <a:cxnSpLocks noChangeShapeType="1"/>
              <a:stCxn id="1471497" idx="3"/>
              <a:endCxn id="1471511" idx="1"/>
            </p:cNvCxnSpPr>
            <p:nvPr/>
          </p:nvCxnSpPr>
          <p:spPr bwMode="auto">
            <a:xfrm>
              <a:off x="3119" y="1712"/>
              <a:ext cx="363" cy="1"/>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sp>
          <p:nvSpPr>
            <p:cNvPr id="1471513" name="Rectangle 25"/>
            <p:cNvSpPr>
              <a:spLocks noChangeArrowheads="1"/>
            </p:cNvSpPr>
            <p:nvPr/>
          </p:nvSpPr>
          <p:spPr bwMode="auto">
            <a:xfrm>
              <a:off x="3050" y="1448"/>
              <a:ext cx="563" cy="265"/>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n</a:t>
              </a:r>
            </a:p>
          </p:txBody>
        </p:sp>
        <p:sp>
          <p:nvSpPr>
            <p:cNvPr id="1471514" name="Rectangle 26"/>
            <p:cNvSpPr>
              <a:spLocks noChangeArrowheads="1"/>
            </p:cNvSpPr>
            <p:nvPr/>
          </p:nvSpPr>
          <p:spPr bwMode="auto">
            <a:xfrm>
              <a:off x="4693" y="1579"/>
              <a:ext cx="506" cy="266"/>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系</a:t>
              </a:r>
            </a:p>
          </p:txBody>
        </p:sp>
        <p:sp>
          <p:nvSpPr>
            <p:cNvPr id="1471515" name="AutoShape 27"/>
            <p:cNvSpPr>
              <a:spLocks noChangeArrowheads="1"/>
            </p:cNvSpPr>
            <p:nvPr/>
          </p:nvSpPr>
          <p:spPr bwMode="auto">
            <a:xfrm>
              <a:off x="4157" y="1002"/>
              <a:ext cx="562" cy="267"/>
            </a:xfrm>
            <a:prstGeom prst="roundRect">
              <a:avLst>
                <a:gd name="adj" fmla="val 50000"/>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系名</a:t>
              </a:r>
            </a:p>
          </p:txBody>
        </p:sp>
        <p:sp>
          <p:nvSpPr>
            <p:cNvPr id="1471516" name="AutoShape 28"/>
            <p:cNvSpPr>
              <a:spLocks noChangeArrowheads="1"/>
            </p:cNvSpPr>
            <p:nvPr/>
          </p:nvSpPr>
          <p:spPr bwMode="auto">
            <a:xfrm>
              <a:off x="4793" y="1002"/>
              <a:ext cx="679" cy="267"/>
            </a:xfrm>
            <a:prstGeom prst="roundRect">
              <a:avLst>
                <a:gd name="adj" fmla="val 50000"/>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系主任</a:t>
              </a:r>
            </a:p>
          </p:txBody>
        </p:sp>
        <p:cxnSp>
          <p:nvCxnSpPr>
            <p:cNvPr id="3102" name="AutoShape 29"/>
            <p:cNvCxnSpPr>
              <a:cxnSpLocks noChangeShapeType="1"/>
              <a:stCxn id="1471515" idx="2"/>
              <a:endCxn id="1471514" idx="0"/>
            </p:cNvCxnSpPr>
            <p:nvPr/>
          </p:nvCxnSpPr>
          <p:spPr bwMode="auto">
            <a:xfrm>
              <a:off x="4438" y="1269"/>
              <a:ext cx="508" cy="310"/>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cxnSp>
          <p:nvCxnSpPr>
            <p:cNvPr id="3103" name="AutoShape 30"/>
            <p:cNvCxnSpPr>
              <a:cxnSpLocks noChangeShapeType="1"/>
              <a:stCxn id="1471516" idx="2"/>
              <a:endCxn id="1471514" idx="0"/>
            </p:cNvCxnSpPr>
            <p:nvPr/>
          </p:nvCxnSpPr>
          <p:spPr bwMode="auto">
            <a:xfrm flipH="1">
              <a:off x="4946" y="1269"/>
              <a:ext cx="187" cy="310"/>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cxnSp>
          <p:nvCxnSpPr>
            <p:cNvPr id="3104" name="AutoShape 31"/>
            <p:cNvCxnSpPr>
              <a:cxnSpLocks noChangeShapeType="1"/>
              <a:stCxn id="1471511" idx="3"/>
              <a:endCxn id="1471514" idx="1"/>
            </p:cNvCxnSpPr>
            <p:nvPr/>
          </p:nvCxnSpPr>
          <p:spPr bwMode="auto">
            <a:xfrm flipV="1">
              <a:off x="4382" y="1712"/>
              <a:ext cx="311" cy="1"/>
            </a:xfrm>
            <a:prstGeom prst="straightConnector1">
              <a:avLst/>
            </a:prstGeom>
            <a:ln>
              <a:headEnd/>
              <a:tailEnd/>
            </a:ln>
            <a:extLst>
              <a:ext uri="{909E8E84-426E-40DD-AFC4-6F175D3DCCD1}">
                <a14:hiddenFill xmlns:a14="http://schemas.microsoft.com/office/drawing/2010/main">
                  <a:noFill/>
                </a14:hiddenFill>
              </a:ext>
            </a:extLst>
          </p:spPr>
          <p:style>
            <a:lnRef idx="3">
              <a:schemeClr val="lt1"/>
            </a:lnRef>
            <a:fillRef idx="1">
              <a:schemeClr val="accent1"/>
            </a:fillRef>
            <a:effectRef idx="1">
              <a:schemeClr val="accent1"/>
            </a:effectRef>
            <a:fontRef idx="minor">
              <a:schemeClr val="lt1"/>
            </a:fontRef>
          </p:style>
        </p:cxnSp>
        <p:sp>
          <p:nvSpPr>
            <p:cNvPr id="1471520" name="Rectangle 32"/>
            <p:cNvSpPr>
              <a:spLocks noChangeArrowheads="1"/>
            </p:cNvSpPr>
            <p:nvPr/>
          </p:nvSpPr>
          <p:spPr bwMode="auto">
            <a:xfrm>
              <a:off x="4236" y="1448"/>
              <a:ext cx="563" cy="265"/>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rPr>
                <a:t>1</a:t>
              </a:r>
            </a:p>
          </p:txBody>
        </p:sp>
      </p:grpSp>
      <p:sp>
        <p:nvSpPr>
          <p:cNvPr id="3078" name="Rectangle 33"/>
          <p:cNvSpPr>
            <a:spLocks noChangeArrowheads="1"/>
          </p:cNvSpPr>
          <p:nvPr/>
        </p:nvSpPr>
        <p:spPr bwMode="auto">
          <a:xfrm>
            <a:off x="985259" y="3764068"/>
            <a:ext cx="3019698"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spcBef>
                <a:spcPct val="0"/>
              </a:spcBef>
              <a:buFont typeface="Wingdings" pitchFamily="2" charset="2"/>
              <a:buNone/>
            </a:pPr>
            <a:r>
              <a:rPr lang="zh-CN" altLang="en-US" sz="3600" dirty="0">
                <a:solidFill>
                  <a:srgbClr val="FF9900"/>
                </a:solidFill>
                <a:latin typeface="微软雅黑" panose="020B0503020204020204" pitchFamily="34" charset="-122"/>
                <a:ea typeface="微软雅黑" panose="020B0503020204020204" pitchFamily="34" charset="-122"/>
                <a:cs typeface="+mj-cs"/>
              </a:rPr>
              <a:t>另有语义约定</a:t>
            </a:r>
            <a:r>
              <a:rPr lang="en-US" altLang="zh-CN" sz="3600" dirty="0">
                <a:solidFill>
                  <a:srgbClr val="FF9900"/>
                </a:solidFill>
                <a:latin typeface="微软雅黑" panose="020B0503020204020204" pitchFamily="34" charset="-122"/>
                <a:ea typeface="微软雅黑" panose="020B0503020204020204" pitchFamily="34" charset="-122"/>
                <a:cs typeface="+mj-cs"/>
              </a:rPr>
              <a:t>:</a:t>
            </a:r>
          </a:p>
        </p:txBody>
      </p:sp>
    </p:spTree>
  </p:cSld>
  <p:clrMapOvr>
    <a:overrideClrMapping bg1="lt1" tx1="dk1" bg2="lt2" tx2="dk2" accent1="accent1" accent2="accent2" accent3="accent3" accent4="accent4" accent5="accent5" accent6="accent6" hlink="hlink" folHlink="folHlink"/>
  </p:clrMapOvr>
  <p:transition spd="slow">
    <p:push dir="u"/>
    <p:sndAc>
      <p:stSnd>
        <p:snd r:embed="rId3" name="arrow.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7" name="Rectangle 3"/>
          <p:cNvSpPr>
            <a:spLocks noGrp="1" noChangeArrowheads="1"/>
          </p:cNvSpPr>
          <p:nvPr>
            <p:ph type="body" idx="4294967295"/>
          </p:nvPr>
        </p:nvSpPr>
        <p:spPr>
          <a:xfrm>
            <a:off x="627259" y="1052736"/>
            <a:ext cx="10972800" cy="4525963"/>
          </a:xfrm>
        </p:spPr>
        <p:txBody>
          <a:bodyPr/>
          <a:lstStyle/>
          <a:p>
            <a:r>
              <a:rPr lang="zh-CN" altLang="en-US" dirty="0"/>
              <a:t>依据这个概念模型可以设计出一个关系模式</a:t>
            </a:r>
            <a:r>
              <a:rPr lang="en-US" altLang="zh-CN" dirty="0"/>
              <a:t>DSC</a:t>
            </a:r>
            <a:r>
              <a:rPr lang="zh-CN" altLang="en-US" dirty="0"/>
              <a:t>如下：</a:t>
            </a:r>
          </a:p>
          <a:p>
            <a:pPr>
              <a:buFontTx/>
              <a:buNone/>
            </a:pPr>
            <a:r>
              <a:rPr lang="en-US" altLang="zh-CN" dirty="0"/>
              <a:t>DSC( </a:t>
            </a:r>
            <a:r>
              <a:rPr lang="zh-CN" altLang="en-US" dirty="0"/>
              <a:t>学号</a:t>
            </a:r>
            <a:r>
              <a:rPr lang="en-US" altLang="zh-CN" dirty="0"/>
              <a:t>, </a:t>
            </a:r>
            <a:r>
              <a:rPr lang="zh-CN" altLang="en-US" dirty="0"/>
              <a:t>姓名</a:t>
            </a:r>
            <a:r>
              <a:rPr lang="en-US" altLang="zh-CN" dirty="0"/>
              <a:t>, </a:t>
            </a:r>
            <a:r>
              <a:rPr lang="zh-CN" altLang="en-US" dirty="0"/>
              <a:t>系名</a:t>
            </a:r>
            <a:r>
              <a:rPr lang="en-US" altLang="zh-CN" dirty="0"/>
              <a:t>, </a:t>
            </a:r>
            <a:r>
              <a:rPr lang="zh-CN" altLang="en-US" dirty="0"/>
              <a:t>系主任</a:t>
            </a:r>
            <a:r>
              <a:rPr lang="en-US" altLang="zh-CN" dirty="0"/>
              <a:t>, </a:t>
            </a:r>
            <a:r>
              <a:rPr lang="zh-CN" altLang="en-US" dirty="0"/>
              <a:t>课名</a:t>
            </a:r>
            <a:r>
              <a:rPr lang="en-US" altLang="zh-CN" dirty="0"/>
              <a:t>, </a:t>
            </a:r>
            <a:r>
              <a:rPr lang="zh-CN" altLang="en-US" dirty="0"/>
              <a:t>学分</a:t>
            </a:r>
            <a:r>
              <a:rPr lang="en-US" altLang="zh-CN" dirty="0"/>
              <a:t>, </a:t>
            </a:r>
            <a:r>
              <a:rPr lang="zh-CN" altLang="en-US" dirty="0"/>
              <a:t>成绩</a:t>
            </a:r>
            <a:r>
              <a:rPr lang="en-US" altLang="zh-CN" dirty="0"/>
              <a:t>)</a:t>
            </a:r>
          </a:p>
          <a:p>
            <a:pPr lvl="1"/>
            <a:r>
              <a:rPr lang="zh-CN" altLang="en-US" dirty="0"/>
              <a:t>其中（学号，课名）属性组合是关系模式</a:t>
            </a:r>
            <a:r>
              <a:rPr lang="en-US" altLang="zh-CN" dirty="0"/>
              <a:t>DSC</a:t>
            </a:r>
            <a:r>
              <a:rPr lang="zh-CN" altLang="en-US" dirty="0"/>
              <a:t>的主键。</a:t>
            </a:r>
          </a:p>
          <a:p>
            <a:pPr lvl="1"/>
            <a:r>
              <a:rPr lang="zh-CN" altLang="en-US" dirty="0"/>
              <a:t>以关系模式</a:t>
            </a:r>
            <a:r>
              <a:rPr lang="en-US" altLang="zh-CN" dirty="0"/>
              <a:t>DSC</a:t>
            </a:r>
            <a:r>
              <a:rPr lang="zh-CN" altLang="en-US" dirty="0"/>
              <a:t>建立数据库，填入一部分具体的数据，如图</a:t>
            </a:r>
            <a:r>
              <a:rPr lang="en-US" altLang="zh-CN" dirty="0"/>
              <a:t>6-2</a:t>
            </a:r>
            <a:r>
              <a:rPr lang="zh-CN" altLang="en-US" dirty="0"/>
              <a:t>所示。</a:t>
            </a:r>
          </a:p>
        </p:txBody>
      </p:sp>
    </p:spTree>
    <p:extLst>
      <p:ext uri="{BB962C8B-B14F-4D97-AF65-F5344CB8AC3E}">
        <p14:creationId xmlns:p14="http://schemas.microsoft.com/office/powerpoint/2010/main" val="367999249"/>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36" name="Rectangle 3">
            <a:extLst>
              <a:ext uri="{FF2B5EF4-FFF2-40B4-BE49-F238E27FC236}">
                <a16:creationId xmlns:a16="http://schemas.microsoft.com/office/drawing/2014/main" id="{B807B7A5-D071-4E30-89E1-576BA3C8E6EC}"/>
              </a:ext>
            </a:extLst>
          </p:cNvPr>
          <p:cNvSpPr>
            <a:spLocks noGrp="1" noChangeArrowheads="1"/>
          </p:cNvSpPr>
          <p:nvPr>
            <p:ph type="title"/>
          </p:nvPr>
        </p:nvSpPr>
        <p:spPr>
          <a:xfrm>
            <a:off x="479376" y="672951"/>
            <a:ext cx="10009112" cy="1200329"/>
          </a:xfrm>
        </p:spPr>
        <p:txBody>
          <a:bodyPr wrap="square"/>
          <a:lstStyle/>
          <a:p>
            <a:pPr>
              <a:buFont typeface="Wingdings" pitchFamily="2" charset="2"/>
              <a:buNone/>
            </a:pPr>
            <a:r>
              <a:rPr lang="zh-CN" altLang="en-US" sz="36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方案</a:t>
            </a:r>
            <a:r>
              <a:rPr lang="en-US" altLang="zh-CN" sz="36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36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：把学籍</a:t>
            </a:r>
            <a:r>
              <a:rPr lang="en-US" altLang="zh-CN" sz="36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E-R</a:t>
            </a:r>
            <a:r>
              <a:rPr lang="zh-CN" altLang="en-US" sz="36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模型设计成一个关系模式</a:t>
            </a:r>
            <a:endParaRPr lang="en-US" altLang="zh-CN" sz="36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37" name="Group 4">
            <a:extLst>
              <a:ext uri="{FF2B5EF4-FFF2-40B4-BE49-F238E27FC236}">
                <a16:creationId xmlns:a16="http://schemas.microsoft.com/office/drawing/2014/main" id="{9ADC96AB-D22B-42BD-B8DE-5A8A8C7F1E35}"/>
              </a:ext>
            </a:extLst>
          </p:cNvPr>
          <p:cNvGraphicFramePr>
            <a:graphicFrameLocks noGrp="1"/>
          </p:cNvGraphicFramePr>
          <p:nvPr>
            <p:extLst>
              <p:ext uri="{D42A27DB-BD31-4B8C-83A1-F6EECF244321}">
                <p14:modId xmlns:p14="http://schemas.microsoft.com/office/powerpoint/2010/main" val="3835624051"/>
              </p:ext>
            </p:extLst>
          </p:nvPr>
        </p:nvGraphicFramePr>
        <p:xfrm>
          <a:off x="1118364" y="2954490"/>
          <a:ext cx="9874180" cy="3724848"/>
        </p:xfrm>
        <a:graphic>
          <a:graphicData uri="http://schemas.openxmlformats.org/drawingml/2006/table">
            <a:tbl>
              <a:tblPr/>
              <a:tblGrid>
                <a:gridCol w="1275416">
                  <a:extLst>
                    <a:ext uri="{9D8B030D-6E8A-4147-A177-3AD203B41FA5}">
                      <a16:colId xmlns:a16="http://schemas.microsoft.com/office/drawing/2014/main" val="20000"/>
                    </a:ext>
                  </a:extLst>
                </a:gridCol>
                <a:gridCol w="1273456">
                  <a:extLst>
                    <a:ext uri="{9D8B030D-6E8A-4147-A177-3AD203B41FA5}">
                      <a16:colId xmlns:a16="http://schemas.microsoft.com/office/drawing/2014/main" val="20001"/>
                    </a:ext>
                  </a:extLst>
                </a:gridCol>
                <a:gridCol w="1018764">
                  <a:extLst>
                    <a:ext uri="{9D8B030D-6E8A-4147-A177-3AD203B41FA5}">
                      <a16:colId xmlns:a16="http://schemas.microsoft.com/office/drawing/2014/main" val="20002"/>
                    </a:ext>
                  </a:extLst>
                </a:gridCol>
                <a:gridCol w="1657451">
                  <a:extLst>
                    <a:ext uri="{9D8B030D-6E8A-4147-A177-3AD203B41FA5}">
                      <a16:colId xmlns:a16="http://schemas.microsoft.com/office/drawing/2014/main" val="20003"/>
                    </a:ext>
                  </a:extLst>
                </a:gridCol>
                <a:gridCol w="1796551">
                  <a:extLst>
                    <a:ext uri="{9D8B030D-6E8A-4147-A177-3AD203B41FA5}">
                      <a16:colId xmlns:a16="http://schemas.microsoft.com/office/drawing/2014/main" val="20004"/>
                    </a:ext>
                  </a:extLst>
                </a:gridCol>
                <a:gridCol w="1302844">
                  <a:extLst>
                    <a:ext uri="{9D8B030D-6E8A-4147-A177-3AD203B41FA5}">
                      <a16:colId xmlns:a16="http://schemas.microsoft.com/office/drawing/2014/main" val="20005"/>
                    </a:ext>
                  </a:extLst>
                </a:gridCol>
                <a:gridCol w="1549698">
                  <a:extLst>
                    <a:ext uri="{9D8B030D-6E8A-4147-A177-3AD203B41FA5}">
                      <a16:colId xmlns:a16="http://schemas.microsoft.com/office/drawing/2014/main" val="20006"/>
                    </a:ext>
                  </a:extLst>
                </a:gridCol>
              </a:tblGrid>
              <a:tr h="37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姓名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系主任</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学分</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成绩</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86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74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38" name="Rectangle 136">
            <a:extLst>
              <a:ext uri="{FF2B5EF4-FFF2-40B4-BE49-F238E27FC236}">
                <a16:creationId xmlns:a16="http://schemas.microsoft.com/office/drawing/2014/main" id="{2495F962-31DB-4684-8285-0EA2C23FC287}"/>
              </a:ext>
            </a:extLst>
          </p:cNvPr>
          <p:cNvSpPr>
            <a:spLocks noChangeArrowheads="1"/>
          </p:cNvSpPr>
          <p:nvPr/>
        </p:nvSpPr>
        <p:spPr bwMode="auto">
          <a:xfrm>
            <a:off x="1118363" y="1748468"/>
            <a:ext cx="10091501" cy="457200"/>
          </a:xfrm>
          <a:prstGeom prst="rect">
            <a:avLst/>
          </a:prstGeom>
          <a:noFill/>
          <a:ln w="12700" cap="sq">
            <a:noFill/>
            <a:miter lim="800000"/>
            <a:headEnd/>
            <a:tailEnd/>
          </a:ln>
          <a:effectLst/>
        </p:spPr>
        <p:txBody>
          <a:bodyPr lIns="0" tIns="0" rIns="0" bIns="0"/>
          <a:lstStyle/>
          <a:p>
            <a:pPr marL="198438" marR="0" lvl="0" indent="-198438" algn="l" defTabSz="914400" rtl="0" eaLnBrk="1" fontAlgn="base" latinLnBrk="0" hangingPunct="1">
              <a:lnSpc>
                <a:spcPct val="100000"/>
              </a:lnSpc>
              <a:spcBef>
                <a:spcPct val="0"/>
              </a:spcBef>
              <a:spcAft>
                <a:spcPts val="600"/>
              </a:spcAft>
              <a:buClrTx/>
              <a:buSzTx/>
              <a:buFont typeface="Wingdings" pitchFamily="2" charset="2"/>
              <a:buNone/>
              <a:tabLst/>
              <a:defRPr/>
            </a:pP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DSC(</a:t>
            </a:r>
            <a:r>
              <a:rPr kumimoji="1" lang="zh-CN" altLang="en-US" sz="3600" i="0" u="sng"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学号</a:t>
            </a: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姓名</a:t>
            </a: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系名</a:t>
            </a: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系主任</a:t>
            </a: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3600" u="sng" dirty="0">
                <a:solidFill>
                  <a:srgbClr val="00FFFF"/>
                </a:solidFill>
                <a:effectLst>
                  <a:outerShdw blurRad="38100" dist="38100" dir="2700000" algn="tl">
                    <a:srgbClr val="000000"/>
                  </a:outerShdw>
                </a:effectLst>
                <a:ea typeface="楷体_GB2312" pitchFamily="49" charset="-122"/>
              </a:rPr>
              <a:t>课名</a:t>
            </a: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学分</a:t>
            </a: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成绩</a:t>
            </a:r>
            <a:r>
              <a:rPr kumimoji="1" lang="en-US" altLang="zh-CN" sz="360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a:p>
            <a:pPr marL="198438" marR="0" lvl="0" indent="-198438" algn="l" defTabSz="914400" rtl="0" eaLnBrk="1" fontAlgn="base" latinLnBrk="0" hangingPunct="1">
              <a:lnSpc>
                <a:spcPct val="100000"/>
              </a:lnSpc>
              <a:spcBef>
                <a:spcPct val="0"/>
              </a:spcBef>
              <a:spcAft>
                <a:spcPts val="600"/>
              </a:spcAft>
              <a:buClrTx/>
              <a:buSzTx/>
              <a:buFont typeface="Wingdings" pitchFamily="2" charset="2"/>
              <a:buNone/>
              <a:tabLst/>
              <a:defRPr/>
            </a:pPr>
            <a:r>
              <a:rPr kumimoji="1" lang="zh-CN" altLang="en-US" sz="280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说明：带下划线的属性集构成主键</a:t>
            </a:r>
            <a:r>
              <a:rPr kumimoji="1" lang="zh-CN" altLang="en-US" sz="360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t>
            </a:r>
          </a:p>
        </p:txBody>
      </p:sp>
      <p:sp>
        <p:nvSpPr>
          <p:cNvPr id="39" name="Rectangle 137">
            <a:extLst>
              <a:ext uri="{FF2B5EF4-FFF2-40B4-BE49-F238E27FC236}">
                <a16:creationId xmlns:a16="http://schemas.microsoft.com/office/drawing/2014/main" id="{BC8E0F3F-2B75-4AB1-A4F5-5F8777E93A00}"/>
              </a:ext>
            </a:extLst>
          </p:cNvPr>
          <p:cNvSpPr>
            <a:spLocks noChangeArrowheads="1"/>
          </p:cNvSpPr>
          <p:nvPr/>
        </p:nvSpPr>
        <p:spPr bwMode="auto">
          <a:xfrm>
            <a:off x="2243411" y="4005064"/>
            <a:ext cx="7705178" cy="1017240"/>
          </a:xfrm>
          <a:prstGeom prst="rect">
            <a:avLst/>
          </a:prstGeom>
          <a:solidFill>
            <a:srgbClr val="FF0000"/>
          </a:solidFill>
          <a:ln w="38100">
            <a:solidFill>
              <a:srgbClr val="FFFF00"/>
            </a:solidFill>
            <a:miter lim="800000"/>
            <a:headEnd/>
            <a:tailEnd/>
          </a:ln>
          <a:effectLst>
            <a:outerShdw blurRad="50800" dist="38100" dir="2700000" algn="tl" rotWithShape="0">
              <a:schemeClr val="tx1">
                <a:lumMod val="95000"/>
                <a:lumOff val="5000"/>
                <a:alpha val="40000"/>
              </a:schemeClr>
            </a:outerShdw>
          </a:effectLst>
        </p:spPr>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defRPr/>
            </a:pPr>
            <a:r>
              <a:rPr kumimoji="0" lang="zh-CN" altLang="en-US" sz="36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这个方案是</a:t>
            </a:r>
            <a:r>
              <a:rPr kumimoji="0" lang="en-US" altLang="zh-CN" sz="36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a:t>
            </a:r>
            <a:r>
              <a:rPr kumimoji="0" lang="zh-CN" altLang="en-US" sz="36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好”的方案吗？</a:t>
            </a:r>
          </a:p>
        </p:txBody>
      </p:sp>
    </p:spTree>
    <p:extLst>
      <p:ext uri="{BB962C8B-B14F-4D97-AF65-F5344CB8AC3E}">
        <p14:creationId xmlns:p14="http://schemas.microsoft.com/office/powerpoint/2010/main" val="40384097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sndAc>
          <p:stSnd>
            <p:snd r:embed="rId4" name="arrow.wav"/>
          </p:stSnd>
        </p:sndAc>
      </p:transition>
    </mc:Choice>
    <mc:Fallback>
      <p:transition spd="slow">
        <p:fade/>
        <p:sndAc>
          <p:stSnd>
            <p:snd r:embed="rId3"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1000"/>
                                        <p:tgtEl>
                                          <p:spTgt spid="39"/>
                                        </p:tgtEl>
                                      </p:cBhvr>
                                    </p:animEffect>
                                    <p:anim calcmode="lin" valueType="num">
                                      <p:cBhvr>
                                        <p:cTn id="8" dur="1000" fill="hold"/>
                                        <p:tgtEl>
                                          <p:spTgt spid="39"/>
                                        </p:tgtEl>
                                        <p:attrNameLst>
                                          <p:attrName>ppt_x</p:attrName>
                                        </p:attrNameLst>
                                      </p:cBhvr>
                                      <p:tavLst>
                                        <p:tav tm="0">
                                          <p:val>
                                            <p:strVal val="#ppt_x"/>
                                          </p:val>
                                        </p:tav>
                                        <p:tav tm="100000">
                                          <p:val>
                                            <p:strVal val="#ppt_x"/>
                                          </p:val>
                                        </p:tav>
                                      </p:tavLst>
                                    </p:anim>
                                    <p:anim calcmode="lin" valueType="num">
                                      <p:cBhvr>
                                        <p:cTn id="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3" name="Rectangle 3">
            <a:extLst>
              <a:ext uri="{FF2B5EF4-FFF2-40B4-BE49-F238E27FC236}">
                <a16:creationId xmlns:a16="http://schemas.microsoft.com/office/drawing/2014/main" id="{A7B4CDAC-8E8B-4103-A473-135AABD0E207}"/>
              </a:ext>
            </a:extLst>
          </p:cNvPr>
          <p:cNvSpPr>
            <a:spLocks noGrp="1" noChangeArrowheads="1"/>
          </p:cNvSpPr>
          <p:nvPr>
            <p:ph type="title"/>
          </p:nvPr>
        </p:nvSpPr>
        <p:spPr>
          <a:xfrm>
            <a:off x="1055440" y="4591170"/>
            <a:ext cx="6264696" cy="1200329"/>
          </a:xfrm>
        </p:spPr>
        <p:txBody>
          <a:bodyPr wrap="square"/>
          <a:lstStyle/>
          <a:p>
            <a:pPr algn="l">
              <a:buFont typeface="Wingdings" pitchFamily="2" charset="2"/>
              <a:buNone/>
            </a:pPr>
            <a:r>
              <a:rPr lang="en-US" altLang="zh-CN" sz="3600" b="1" dirty="0">
                <a:latin typeface="微软雅黑" panose="020B0503020204020204" pitchFamily="34" charset="-122"/>
                <a:ea typeface="微软雅黑" panose="020B0503020204020204" pitchFamily="34" charset="-122"/>
              </a:rPr>
              <a:t>DSC</a:t>
            </a:r>
            <a:r>
              <a:rPr lang="zh-CN" altLang="en-US" sz="3600" b="1" dirty="0">
                <a:latin typeface="微软雅黑" panose="020B0503020204020204" pitchFamily="34" charset="-122"/>
                <a:ea typeface="微软雅黑" panose="020B0503020204020204" pitchFamily="34" charset="-122"/>
              </a:rPr>
              <a:t>的问题</a:t>
            </a:r>
            <a:r>
              <a:rPr lang="en-US" altLang="zh-CN" sz="3600" b="1" dirty="0">
                <a:latin typeface="微软雅黑" panose="020B0503020204020204" pitchFamily="34" charset="-122"/>
                <a:ea typeface="微软雅黑" panose="020B0503020204020204" pitchFamily="34" charset="-122"/>
              </a:rPr>
              <a:t>1</a:t>
            </a:r>
            <a:r>
              <a:rPr lang="zh-CN" altLang="en-US" sz="3600" b="1" dirty="0">
                <a:latin typeface="微软雅黑" panose="020B0503020204020204" pitchFamily="34" charset="-122"/>
                <a:ea typeface="微软雅黑" panose="020B0503020204020204" pitchFamily="34" charset="-122"/>
              </a:rPr>
              <a:t>：</a:t>
            </a:r>
            <a:r>
              <a:rPr lang="zh-CN" altLang="en-US" sz="3600" b="1" dirty="0">
                <a:solidFill>
                  <a:srgbClr val="FFFF00"/>
                </a:solidFill>
                <a:latin typeface="微软雅黑" panose="020B0503020204020204" pitchFamily="34" charset="-122"/>
                <a:ea typeface="微软雅黑" panose="020B0503020204020204" pitchFamily="34" charset="-122"/>
              </a:rPr>
              <a:t>数据冗余太大</a:t>
            </a:r>
          </a:p>
        </p:txBody>
      </p:sp>
      <p:sp>
        <p:nvSpPr>
          <p:cNvPr id="4" name="Rectangle 4">
            <a:extLst>
              <a:ext uri="{FF2B5EF4-FFF2-40B4-BE49-F238E27FC236}">
                <a16:creationId xmlns:a16="http://schemas.microsoft.com/office/drawing/2014/main" id="{BABC5266-29DA-412F-B23F-13C6EB9DE044}"/>
              </a:ext>
            </a:extLst>
          </p:cNvPr>
          <p:cNvSpPr>
            <a:spLocks noChangeArrowheads="1"/>
          </p:cNvSpPr>
          <p:nvPr/>
        </p:nvSpPr>
        <p:spPr bwMode="auto">
          <a:xfrm>
            <a:off x="1127448" y="5624122"/>
            <a:ext cx="9937104" cy="457200"/>
          </a:xfrm>
          <a:prstGeom prst="rect">
            <a:avLst/>
          </a:prstGeom>
          <a:noFill/>
          <a:ln w="12700" cap="sq">
            <a:noFill/>
            <a:miter lim="800000"/>
            <a:headEnd/>
            <a:tailEnd/>
          </a:ln>
          <a:effectLst/>
        </p:spPr>
        <p:txBody>
          <a:bodyPr lIns="0" tIns="0" rIns="0" bIns="0"/>
          <a:lstStyle/>
          <a:p>
            <a:pPr marL="0" marR="0" lvl="0" indent="0" algn="just" defTabSz="914400" rtl="0" eaLnBrk="1" fontAlgn="base" latinLnBrk="0" hangingPunct="1">
              <a:lnSpc>
                <a:spcPct val="100000"/>
              </a:lnSpc>
              <a:spcBef>
                <a:spcPct val="0"/>
              </a:spcBef>
              <a:spcAft>
                <a:spcPct val="30000"/>
              </a:spcAft>
              <a:buClrTx/>
              <a:buSzTx/>
              <a:buFontTx/>
              <a:buNone/>
              <a:tabLst/>
              <a:defRPr/>
            </a:pP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多次出现同一个学生的姓名、所在系和系主任；多次出现同一课程的学分。</a:t>
            </a:r>
            <a:endPar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graphicFrame>
        <p:nvGraphicFramePr>
          <p:cNvPr id="6" name="Group 4">
            <a:extLst>
              <a:ext uri="{FF2B5EF4-FFF2-40B4-BE49-F238E27FC236}">
                <a16:creationId xmlns:a16="http://schemas.microsoft.com/office/drawing/2014/main" id="{ACD9F3DE-F687-4CC5-9857-024378E4D48C}"/>
              </a:ext>
            </a:extLst>
          </p:cNvPr>
          <p:cNvGraphicFramePr>
            <a:graphicFrameLocks noGrp="1"/>
          </p:cNvGraphicFramePr>
          <p:nvPr>
            <p:extLst>
              <p:ext uri="{D42A27DB-BD31-4B8C-83A1-F6EECF244321}">
                <p14:modId xmlns:p14="http://schemas.microsoft.com/office/powerpoint/2010/main" val="1094223536"/>
              </p:ext>
            </p:extLst>
          </p:nvPr>
        </p:nvGraphicFramePr>
        <p:xfrm>
          <a:off x="1055440" y="1005278"/>
          <a:ext cx="10009112" cy="3701869"/>
        </p:xfrm>
        <a:graphic>
          <a:graphicData uri="http://schemas.openxmlformats.org/drawingml/2006/table">
            <a:tbl>
              <a:tblPr/>
              <a:tblGrid>
                <a:gridCol w="1292845">
                  <a:extLst>
                    <a:ext uri="{9D8B030D-6E8A-4147-A177-3AD203B41FA5}">
                      <a16:colId xmlns:a16="http://schemas.microsoft.com/office/drawing/2014/main" val="20000"/>
                    </a:ext>
                  </a:extLst>
                </a:gridCol>
                <a:gridCol w="1290858">
                  <a:extLst>
                    <a:ext uri="{9D8B030D-6E8A-4147-A177-3AD203B41FA5}">
                      <a16:colId xmlns:a16="http://schemas.microsoft.com/office/drawing/2014/main" val="20001"/>
                    </a:ext>
                  </a:extLst>
                </a:gridCol>
                <a:gridCol w="1032686">
                  <a:extLst>
                    <a:ext uri="{9D8B030D-6E8A-4147-A177-3AD203B41FA5}">
                      <a16:colId xmlns:a16="http://schemas.microsoft.com/office/drawing/2014/main" val="20002"/>
                    </a:ext>
                  </a:extLst>
                </a:gridCol>
                <a:gridCol w="1680100">
                  <a:extLst>
                    <a:ext uri="{9D8B030D-6E8A-4147-A177-3AD203B41FA5}">
                      <a16:colId xmlns:a16="http://schemas.microsoft.com/office/drawing/2014/main" val="20003"/>
                    </a:ext>
                  </a:extLst>
                </a:gridCol>
                <a:gridCol w="1821101">
                  <a:extLst>
                    <a:ext uri="{9D8B030D-6E8A-4147-A177-3AD203B41FA5}">
                      <a16:colId xmlns:a16="http://schemas.microsoft.com/office/drawing/2014/main" val="20004"/>
                    </a:ext>
                  </a:extLst>
                </a:gridCol>
                <a:gridCol w="1320647">
                  <a:extLst>
                    <a:ext uri="{9D8B030D-6E8A-4147-A177-3AD203B41FA5}">
                      <a16:colId xmlns:a16="http://schemas.microsoft.com/office/drawing/2014/main" val="20005"/>
                    </a:ext>
                  </a:extLst>
                </a:gridCol>
                <a:gridCol w="1570875">
                  <a:extLst>
                    <a:ext uri="{9D8B030D-6E8A-4147-A177-3AD203B41FA5}">
                      <a16:colId xmlns:a16="http://schemas.microsoft.com/office/drawing/2014/main" val="20006"/>
                    </a:ext>
                  </a:extLst>
                </a:gridCol>
              </a:tblGrid>
              <a:tr h="3490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姓名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系主任</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rPr>
                        <a:t>学分</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成绩</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144654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sndAc>
          <p:stSnd>
            <p:snd r:embed="rId4" name="arrow.wav"/>
          </p:stSnd>
        </p:sndAc>
      </p:transition>
    </mc:Choice>
    <mc:Fallback>
      <p:transition spd="slow">
        <p:fade/>
        <p:sndAc>
          <p:stSnd>
            <p:snd r:embed="rId3" name="arrow.wav"/>
          </p:stSnd>
        </p:sndAc>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8" name="Rectangle 3">
            <a:extLst>
              <a:ext uri="{FF2B5EF4-FFF2-40B4-BE49-F238E27FC236}">
                <a16:creationId xmlns:a16="http://schemas.microsoft.com/office/drawing/2014/main" id="{C45DACC4-C89E-485C-857A-AECB28C97577}"/>
              </a:ext>
            </a:extLst>
          </p:cNvPr>
          <p:cNvSpPr>
            <a:spLocks noGrp="1" noChangeArrowheads="1"/>
          </p:cNvSpPr>
          <p:nvPr>
            <p:ph type="title"/>
          </p:nvPr>
        </p:nvSpPr>
        <p:spPr>
          <a:xfrm>
            <a:off x="1055440" y="4633391"/>
            <a:ext cx="6840760" cy="1200329"/>
          </a:xfrm>
        </p:spPr>
        <p:txBody>
          <a:bodyPr wrap="square"/>
          <a:lstStyle/>
          <a:p>
            <a:pPr algn="l">
              <a:buFont typeface="Wingdings" pitchFamily="2" charset="2"/>
              <a:buNone/>
            </a:pPr>
            <a:r>
              <a:rPr lang="en-US" altLang="zh-CN" sz="3600" b="1" dirty="0">
                <a:latin typeface="微软雅黑" panose="020B0503020204020204" pitchFamily="34" charset="-122"/>
                <a:ea typeface="微软雅黑" panose="020B0503020204020204" pitchFamily="34" charset="-122"/>
              </a:rPr>
              <a:t>DSC</a:t>
            </a:r>
            <a:r>
              <a:rPr lang="zh-CN" altLang="en-US" sz="3600" b="1" dirty="0">
                <a:latin typeface="微软雅黑" panose="020B0503020204020204" pitchFamily="34" charset="-122"/>
                <a:ea typeface="微软雅黑" panose="020B0503020204020204" pitchFamily="34" charset="-122"/>
              </a:rPr>
              <a:t>的问题</a:t>
            </a:r>
            <a:r>
              <a:rPr lang="en-US" altLang="zh-CN" sz="3600" b="1" dirty="0">
                <a:latin typeface="微软雅黑" panose="020B0503020204020204" pitchFamily="34" charset="-122"/>
                <a:ea typeface="微软雅黑" panose="020B0503020204020204" pitchFamily="34" charset="-122"/>
              </a:rPr>
              <a:t>2</a:t>
            </a:r>
            <a:r>
              <a:rPr lang="zh-CN" altLang="en-US" sz="3600" b="1" dirty="0">
                <a:latin typeface="微软雅黑" panose="020B0503020204020204" pitchFamily="34" charset="-122"/>
                <a:ea typeface="微软雅黑" panose="020B0503020204020204" pitchFamily="34" charset="-122"/>
              </a:rPr>
              <a:t>：</a:t>
            </a:r>
            <a:r>
              <a:rPr lang="zh-CN" altLang="en-US" sz="3600" b="1" dirty="0">
                <a:solidFill>
                  <a:srgbClr val="FFFF00"/>
                </a:solidFill>
                <a:latin typeface="微软雅黑" panose="020B0503020204020204" pitchFamily="34" charset="-122"/>
                <a:ea typeface="微软雅黑" panose="020B0503020204020204" pitchFamily="34" charset="-122"/>
              </a:rPr>
              <a:t>存在插入异常</a:t>
            </a:r>
          </a:p>
        </p:txBody>
      </p:sp>
      <p:sp>
        <p:nvSpPr>
          <p:cNvPr id="9" name="Rectangle 136">
            <a:extLst>
              <a:ext uri="{FF2B5EF4-FFF2-40B4-BE49-F238E27FC236}">
                <a16:creationId xmlns:a16="http://schemas.microsoft.com/office/drawing/2014/main" id="{50DEF0D6-7C86-4720-B069-DED23369701D}"/>
              </a:ext>
            </a:extLst>
          </p:cNvPr>
          <p:cNvSpPr>
            <a:spLocks noChangeArrowheads="1"/>
          </p:cNvSpPr>
          <p:nvPr/>
        </p:nvSpPr>
        <p:spPr bwMode="auto">
          <a:xfrm>
            <a:off x="1127448" y="5624122"/>
            <a:ext cx="10081120" cy="457200"/>
          </a:xfrm>
          <a:prstGeom prst="rect">
            <a:avLst/>
          </a:prstGeom>
          <a:noFill/>
          <a:ln w="12700" cap="sq">
            <a:noFill/>
            <a:miter lim="800000"/>
            <a:headEnd/>
            <a:tailEnd/>
          </a:ln>
          <a:effectLst/>
        </p:spPr>
        <p:txBody>
          <a:bodyPr lIns="0" tIns="0" rIns="0" bIns="0"/>
          <a:lstStyle/>
          <a:p>
            <a:pPr marL="0" marR="0" lvl="0" indent="0" algn="just" defTabSz="914400" rtl="0" eaLnBrk="1" fontAlgn="base" latinLnBrk="0" hangingPunct="1">
              <a:lnSpc>
                <a:spcPct val="100000"/>
              </a:lnSpc>
              <a:spcBef>
                <a:spcPct val="0"/>
              </a:spcBef>
              <a:spcAft>
                <a:spcPct val="10000"/>
              </a:spcAft>
              <a:buClrTx/>
              <a:buSzTx/>
              <a:buFontTx/>
              <a:buNone/>
              <a:tabLst/>
              <a:defRPr/>
            </a:pP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无法插入没有选课的学生；无法插入还无学生选修的新课；无法插入尚无学生的新系。</a:t>
            </a:r>
            <a:endPar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graphicFrame>
        <p:nvGraphicFramePr>
          <p:cNvPr id="7" name="Group 4">
            <a:extLst>
              <a:ext uri="{FF2B5EF4-FFF2-40B4-BE49-F238E27FC236}">
                <a16:creationId xmlns:a16="http://schemas.microsoft.com/office/drawing/2014/main" id="{EAF80D8A-32EB-476E-ADBD-35154E23A9AE}"/>
              </a:ext>
            </a:extLst>
          </p:cNvPr>
          <p:cNvGraphicFramePr>
            <a:graphicFrameLocks noGrp="1"/>
          </p:cNvGraphicFramePr>
          <p:nvPr>
            <p:extLst>
              <p:ext uri="{D42A27DB-BD31-4B8C-83A1-F6EECF244321}">
                <p14:modId xmlns:p14="http://schemas.microsoft.com/office/powerpoint/2010/main" val="3075078729"/>
              </p:ext>
            </p:extLst>
          </p:nvPr>
        </p:nvGraphicFramePr>
        <p:xfrm>
          <a:off x="1055440" y="1005278"/>
          <a:ext cx="10009112" cy="3701869"/>
        </p:xfrm>
        <a:graphic>
          <a:graphicData uri="http://schemas.openxmlformats.org/drawingml/2006/table">
            <a:tbl>
              <a:tblPr/>
              <a:tblGrid>
                <a:gridCol w="1292845">
                  <a:extLst>
                    <a:ext uri="{9D8B030D-6E8A-4147-A177-3AD203B41FA5}">
                      <a16:colId xmlns:a16="http://schemas.microsoft.com/office/drawing/2014/main" val="20000"/>
                    </a:ext>
                  </a:extLst>
                </a:gridCol>
                <a:gridCol w="1290858">
                  <a:extLst>
                    <a:ext uri="{9D8B030D-6E8A-4147-A177-3AD203B41FA5}">
                      <a16:colId xmlns:a16="http://schemas.microsoft.com/office/drawing/2014/main" val="20001"/>
                    </a:ext>
                  </a:extLst>
                </a:gridCol>
                <a:gridCol w="1032686">
                  <a:extLst>
                    <a:ext uri="{9D8B030D-6E8A-4147-A177-3AD203B41FA5}">
                      <a16:colId xmlns:a16="http://schemas.microsoft.com/office/drawing/2014/main" val="20002"/>
                    </a:ext>
                  </a:extLst>
                </a:gridCol>
                <a:gridCol w="1680100">
                  <a:extLst>
                    <a:ext uri="{9D8B030D-6E8A-4147-A177-3AD203B41FA5}">
                      <a16:colId xmlns:a16="http://schemas.microsoft.com/office/drawing/2014/main" val="20003"/>
                    </a:ext>
                  </a:extLst>
                </a:gridCol>
                <a:gridCol w="1821101">
                  <a:extLst>
                    <a:ext uri="{9D8B030D-6E8A-4147-A177-3AD203B41FA5}">
                      <a16:colId xmlns:a16="http://schemas.microsoft.com/office/drawing/2014/main" val="20004"/>
                    </a:ext>
                  </a:extLst>
                </a:gridCol>
                <a:gridCol w="1320647">
                  <a:extLst>
                    <a:ext uri="{9D8B030D-6E8A-4147-A177-3AD203B41FA5}">
                      <a16:colId xmlns:a16="http://schemas.microsoft.com/office/drawing/2014/main" val="20005"/>
                    </a:ext>
                  </a:extLst>
                </a:gridCol>
                <a:gridCol w="1570875">
                  <a:extLst>
                    <a:ext uri="{9D8B030D-6E8A-4147-A177-3AD203B41FA5}">
                      <a16:colId xmlns:a16="http://schemas.microsoft.com/office/drawing/2014/main" val="20006"/>
                    </a:ext>
                  </a:extLst>
                </a:gridCol>
              </a:tblGrid>
              <a:tr h="3490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姓名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系主任</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rPr>
                        <a:t>学分</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成绩</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5131444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sndAc>
          <p:stSnd>
            <p:snd r:embed="rId4" name="arrow.wav"/>
          </p:stSnd>
        </p:sndAc>
      </p:transition>
    </mc:Choice>
    <mc:Fallback>
      <p:transition spd="slow">
        <p:fade/>
        <p:sndAc>
          <p:stSnd>
            <p:snd r:embed="rId3" name="arrow.wav"/>
          </p:stSnd>
        </p:sndAc>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4" name="Rectangle 3">
            <a:extLst>
              <a:ext uri="{FF2B5EF4-FFF2-40B4-BE49-F238E27FC236}">
                <a16:creationId xmlns:a16="http://schemas.microsoft.com/office/drawing/2014/main" id="{8402F93D-33C8-4BBB-9144-37648F919070}"/>
              </a:ext>
            </a:extLst>
          </p:cNvPr>
          <p:cNvSpPr>
            <a:spLocks noGrp="1" noChangeArrowheads="1"/>
          </p:cNvSpPr>
          <p:nvPr>
            <p:ph type="title"/>
          </p:nvPr>
        </p:nvSpPr>
        <p:spPr>
          <a:xfrm>
            <a:off x="1055440" y="4580051"/>
            <a:ext cx="7632848" cy="1200329"/>
          </a:xfrm>
        </p:spPr>
        <p:txBody>
          <a:bodyPr wrap="square"/>
          <a:lstStyle/>
          <a:p>
            <a:pPr algn="l">
              <a:buFont typeface="Wingdings" pitchFamily="2" charset="2"/>
              <a:buNone/>
            </a:pPr>
            <a:r>
              <a:rPr lang="en-US" altLang="zh-CN" sz="3600" b="1" dirty="0">
                <a:latin typeface="微软雅黑" panose="020B0503020204020204" pitchFamily="34" charset="-122"/>
                <a:ea typeface="微软雅黑" panose="020B0503020204020204" pitchFamily="34" charset="-122"/>
              </a:rPr>
              <a:t>DSC</a:t>
            </a:r>
            <a:r>
              <a:rPr lang="zh-CN" altLang="en-US" sz="3600" b="1" dirty="0">
                <a:latin typeface="微软雅黑" panose="020B0503020204020204" pitchFamily="34" charset="-122"/>
                <a:ea typeface="微软雅黑" panose="020B0503020204020204" pitchFamily="34" charset="-122"/>
              </a:rPr>
              <a:t>的问题</a:t>
            </a:r>
            <a:r>
              <a:rPr lang="en-US" altLang="zh-CN" sz="3600" b="1" dirty="0">
                <a:latin typeface="微软雅黑" panose="020B0503020204020204" pitchFamily="34" charset="-122"/>
                <a:ea typeface="微软雅黑" panose="020B0503020204020204" pitchFamily="34" charset="-122"/>
              </a:rPr>
              <a:t>3</a:t>
            </a:r>
            <a:r>
              <a:rPr lang="zh-CN" altLang="en-US" sz="3600" b="1" dirty="0">
                <a:latin typeface="微软雅黑" panose="020B0503020204020204" pitchFamily="34" charset="-122"/>
                <a:ea typeface="微软雅黑" panose="020B0503020204020204" pitchFamily="34" charset="-122"/>
              </a:rPr>
              <a:t>：</a:t>
            </a:r>
            <a:r>
              <a:rPr lang="zh-CN" altLang="en-US" sz="3600" b="1" dirty="0">
                <a:solidFill>
                  <a:srgbClr val="FFFF00"/>
                </a:solidFill>
                <a:latin typeface="微软雅黑" panose="020B0503020204020204" pitchFamily="34" charset="-122"/>
                <a:ea typeface="微软雅黑" panose="020B0503020204020204" pitchFamily="34" charset="-122"/>
              </a:rPr>
              <a:t>存在删除异常</a:t>
            </a:r>
          </a:p>
        </p:txBody>
      </p:sp>
      <p:sp>
        <p:nvSpPr>
          <p:cNvPr id="5" name="Rectangle 136">
            <a:extLst>
              <a:ext uri="{FF2B5EF4-FFF2-40B4-BE49-F238E27FC236}">
                <a16:creationId xmlns:a16="http://schemas.microsoft.com/office/drawing/2014/main" id="{13FF1143-138E-4D41-82AB-940000A17180}"/>
              </a:ext>
            </a:extLst>
          </p:cNvPr>
          <p:cNvSpPr>
            <a:spLocks noChangeArrowheads="1"/>
          </p:cNvSpPr>
          <p:nvPr/>
        </p:nvSpPr>
        <p:spPr bwMode="auto">
          <a:xfrm>
            <a:off x="1114179" y="5601695"/>
            <a:ext cx="10382421"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10000"/>
              </a:spcAft>
              <a:buClrTx/>
              <a:buSzTx/>
              <a:buFontTx/>
              <a:buNone/>
              <a:tabLst/>
              <a:defRPr/>
            </a:pPr>
            <a:r>
              <a:rPr kumimoji="1" lang="zh-CN"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如果删除了某一系的所有学生，则该系被删除</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a:t>
            </a:r>
            <a:r>
              <a:rPr kumimoji="1" lang="zh-CN"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如果删除了所有选同一门课的学生，则该课程被删除</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a:t>
            </a:r>
            <a:endPar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graphicFrame>
        <p:nvGraphicFramePr>
          <p:cNvPr id="7" name="Group 4">
            <a:extLst>
              <a:ext uri="{FF2B5EF4-FFF2-40B4-BE49-F238E27FC236}">
                <a16:creationId xmlns:a16="http://schemas.microsoft.com/office/drawing/2014/main" id="{C64F5C75-B6C4-4A6A-9494-6276AF868309}"/>
              </a:ext>
            </a:extLst>
          </p:cNvPr>
          <p:cNvGraphicFramePr>
            <a:graphicFrameLocks noGrp="1"/>
          </p:cNvGraphicFramePr>
          <p:nvPr>
            <p:extLst>
              <p:ext uri="{D42A27DB-BD31-4B8C-83A1-F6EECF244321}">
                <p14:modId xmlns:p14="http://schemas.microsoft.com/office/powerpoint/2010/main" val="3075078729"/>
              </p:ext>
            </p:extLst>
          </p:nvPr>
        </p:nvGraphicFramePr>
        <p:xfrm>
          <a:off x="1055440" y="1005278"/>
          <a:ext cx="10009112" cy="3701869"/>
        </p:xfrm>
        <a:graphic>
          <a:graphicData uri="http://schemas.openxmlformats.org/drawingml/2006/table">
            <a:tbl>
              <a:tblPr/>
              <a:tblGrid>
                <a:gridCol w="1292845">
                  <a:extLst>
                    <a:ext uri="{9D8B030D-6E8A-4147-A177-3AD203B41FA5}">
                      <a16:colId xmlns:a16="http://schemas.microsoft.com/office/drawing/2014/main" val="20000"/>
                    </a:ext>
                  </a:extLst>
                </a:gridCol>
                <a:gridCol w="1290858">
                  <a:extLst>
                    <a:ext uri="{9D8B030D-6E8A-4147-A177-3AD203B41FA5}">
                      <a16:colId xmlns:a16="http://schemas.microsoft.com/office/drawing/2014/main" val="20001"/>
                    </a:ext>
                  </a:extLst>
                </a:gridCol>
                <a:gridCol w="1032686">
                  <a:extLst>
                    <a:ext uri="{9D8B030D-6E8A-4147-A177-3AD203B41FA5}">
                      <a16:colId xmlns:a16="http://schemas.microsoft.com/office/drawing/2014/main" val="20002"/>
                    </a:ext>
                  </a:extLst>
                </a:gridCol>
                <a:gridCol w="1680100">
                  <a:extLst>
                    <a:ext uri="{9D8B030D-6E8A-4147-A177-3AD203B41FA5}">
                      <a16:colId xmlns:a16="http://schemas.microsoft.com/office/drawing/2014/main" val="20003"/>
                    </a:ext>
                  </a:extLst>
                </a:gridCol>
                <a:gridCol w="1821101">
                  <a:extLst>
                    <a:ext uri="{9D8B030D-6E8A-4147-A177-3AD203B41FA5}">
                      <a16:colId xmlns:a16="http://schemas.microsoft.com/office/drawing/2014/main" val="20004"/>
                    </a:ext>
                  </a:extLst>
                </a:gridCol>
                <a:gridCol w="1320647">
                  <a:extLst>
                    <a:ext uri="{9D8B030D-6E8A-4147-A177-3AD203B41FA5}">
                      <a16:colId xmlns:a16="http://schemas.microsoft.com/office/drawing/2014/main" val="20005"/>
                    </a:ext>
                  </a:extLst>
                </a:gridCol>
                <a:gridCol w="1570875">
                  <a:extLst>
                    <a:ext uri="{9D8B030D-6E8A-4147-A177-3AD203B41FA5}">
                      <a16:colId xmlns:a16="http://schemas.microsoft.com/office/drawing/2014/main" val="20006"/>
                    </a:ext>
                  </a:extLst>
                </a:gridCol>
              </a:tblGrid>
              <a:tr h="3490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姓名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系主任</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rPr>
                        <a:t>学分</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成绩</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020552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sndAc>
          <p:stSnd>
            <p:snd r:embed="rId4" name="arrow.wav"/>
          </p:stSnd>
        </p:sndAc>
      </p:transition>
    </mc:Choice>
    <mc:Fallback>
      <p:transition spd="slow">
        <p:fade/>
        <p:sndAc>
          <p:stSnd>
            <p:snd r:embed="rId3" name="arrow.wav"/>
          </p:stSnd>
        </p:sndAc>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4" name="Rectangle 3">
            <a:extLst>
              <a:ext uri="{FF2B5EF4-FFF2-40B4-BE49-F238E27FC236}">
                <a16:creationId xmlns:a16="http://schemas.microsoft.com/office/drawing/2014/main" id="{66155649-93E9-43F0-B61F-01685404718E}"/>
              </a:ext>
            </a:extLst>
          </p:cNvPr>
          <p:cNvSpPr>
            <a:spLocks noGrp="1" noChangeArrowheads="1"/>
          </p:cNvSpPr>
          <p:nvPr>
            <p:ph type="title"/>
          </p:nvPr>
        </p:nvSpPr>
        <p:spPr>
          <a:xfrm>
            <a:off x="1055440" y="4571101"/>
            <a:ext cx="6048672" cy="1200329"/>
          </a:xfrm>
        </p:spPr>
        <p:txBody>
          <a:bodyPr wrap="square"/>
          <a:lstStyle/>
          <a:p>
            <a:pPr algn="l">
              <a:buFont typeface="Wingdings" pitchFamily="2" charset="2"/>
              <a:buNone/>
            </a:pPr>
            <a:r>
              <a:rPr lang="en-US" altLang="zh-CN" sz="3600" b="1" dirty="0">
                <a:latin typeface="微软雅黑" panose="020B0503020204020204" pitchFamily="34" charset="-122"/>
                <a:ea typeface="微软雅黑" panose="020B0503020204020204" pitchFamily="34" charset="-122"/>
              </a:rPr>
              <a:t>DSC</a:t>
            </a:r>
            <a:r>
              <a:rPr lang="zh-CN" altLang="en-US" sz="3600" b="1" dirty="0">
                <a:latin typeface="微软雅黑" panose="020B0503020204020204" pitchFamily="34" charset="-122"/>
                <a:ea typeface="微软雅黑" panose="020B0503020204020204" pitchFamily="34" charset="-122"/>
              </a:rPr>
              <a:t>的问题</a:t>
            </a:r>
            <a:r>
              <a:rPr lang="en-US" altLang="zh-CN" sz="3600" b="1" dirty="0">
                <a:latin typeface="微软雅黑" panose="020B0503020204020204" pitchFamily="34" charset="-122"/>
                <a:ea typeface="微软雅黑" panose="020B0503020204020204" pitchFamily="34" charset="-122"/>
              </a:rPr>
              <a:t>4</a:t>
            </a:r>
            <a:r>
              <a:rPr lang="zh-CN" altLang="en-US" sz="3600" b="1" dirty="0">
                <a:latin typeface="微软雅黑" panose="020B0503020204020204" pitchFamily="34" charset="-122"/>
                <a:ea typeface="微软雅黑" panose="020B0503020204020204" pitchFamily="34" charset="-122"/>
              </a:rPr>
              <a:t>：</a:t>
            </a:r>
            <a:r>
              <a:rPr lang="zh-CN" altLang="en-US" sz="3600" b="1" dirty="0">
                <a:solidFill>
                  <a:srgbClr val="FFFF00"/>
                </a:solidFill>
                <a:latin typeface="微软雅黑" panose="020B0503020204020204" pitchFamily="34" charset="-122"/>
                <a:ea typeface="微软雅黑" panose="020B0503020204020204" pitchFamily="34" charset="-122"/>
              </a:rPr>
              <a:t>存在更新异常</a:t>
            </a:r>
          </a:p>
        </p:txBody>
      </p:sp>
      <p:sp>
        <p:nvSpPr>
          <p:cNvPr id="5" name="Rectangle 136">
            <a:extLst>
              <a:ext uri="{FF2B5EF4-FFF2-40B4-BE49-F238E27FC236}">
                <a16:creationId xmlns:a16="http://schemas.microsoft.com/office/drawing/2014/main" id="{0A63FBAD-F667-4425-9AD2-DC46E37D9B4F}"/>
              </a:ext>
            </a:extLst>
          </p:cNvPr>
          <p:cNvSpPr>
            <a:spLocks noChangeArrowheads="1"/>
          </p:cNvSpPr>
          <p:nvPr/>
        </p:nvSpPr>
        <p:spPr bwMode="auto">
          <a:xfrm>
            <a:off x="1114179" y="5624122"/>
            <a:ext cx="10670453"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10000"/>
              </a:spcAft>
              <a:buClrTx/>
              <a:buSzTx/>
              <a:buFontTx/>
              <a:buNone/>
              <a:tabLst/>
              <a:defRPr/>
            </a:pPr>
            <a:r>
              <a:rPr kumimoji="1" lang="zh-CN"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某一系换了系主任，则必须修改所有该系学生的系主任数据，否则就会出现同一系有两个以上</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的</a:t>
            </a:r>
            <a:r>
              <a:rPr kumimoji="1" lang="zh-CN"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系主任</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a:t>
            </a:r>
            <a:endPar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graphicFrame>
        <p:nvGraphicFramePr>
          <p:cNvPr id="7" name="Group 4">
            <a:extLst>
              <a:ext uri="{FF2B5EF4-FFF2-40B4-BE49-F238E27FC236}">
                <a16:creationId xmlns:a16="http://schemas.microsoft.com/office/drawing/2014/main" id="{D40602C6-CE3B-4BA3-B9FF-1A9FDD52581E}"/>
              </a:ext>
            </a:extLst>
          </p:cNvPr>
          <p:cNvGraphicFramePr>
            <a:graphicFrameLocks noGrp="1"/>
          </p:cNvGraphicFramePr>
          <p:nvPr>
            <p:extLst>
              <p:ext uri="{D42A27DB-BD31-4B8C-83A1-F6EECF244321}">
                <p14:modId xmlns:p14="http://schemas.microsoft.com/office/powerpoint/2010/main" val="3075078729"/>
              </p:ext>
            </p:extLst>
          </p:nvPr>
        </p:nvGraphicFramePr>
        <p:xfrm>
          <a:off x="1055440" y="1005278"/>
          <a:ext cx="10009112" cy="3701869"/>
        </p:xfrm>
        <a:graphic>
          <a:graphicData uri="http://schemas.openxmlformats.org/drawingml/2006/table">
            <a:tbl>
              <a:tblPr/>
              <a:tblGrid>
                <a:gridCol w="1292845">
                  <a:extLst>
                    <a:ext uri="{9D8B030D-6E8A-4147-A177-3AD203B41FA5}">
                      <a16:colId xmlns:a16="http://schemas.microsoft.com/office/drawing/2014/main" val="20000"/>
                    </a:ext>
                  </a:extLst>
                </a:gridCol>
                <a:gridCol w="1290858">
                  <a:extLst>
                    <a:ext uri="{9D8B030D-6E8A-4147-A177-3AD203B41FA5}">
                      <a16:colId xmlns:a16="http://schemas.microsoft.com/office/drawing/2014/main" val="20001"/>
                    </a:ext>
                  </a:extLst>
                </a:gridCol>
                <a:gridCol w="1032686">
                  <a:extLst>
                    <a:ext uri="{9D8B030D-6E8A-4147-A177-3AD203B41FA5}">
                      <a16:colId xmlns:a16="http://schemas.microsoft.com/office/drawing/2014/main" val="20002"/>
                    </a:ext>
                  </a:extLst>
                </a:gridCol>
                <a:gridCol w="1680100">
                  <a:extLst>
                    <a:ext uri="{9D8B030D-6E8A-4147-A177-3AD203B41FA5}">
                      <a16:colId xmlns:a16="http://schemas.microsoft.com/office/drawing/2014/main" val="20003"/>
                    </a:ext>
                  </a:extLst>
                </a:gridCol>
                <a:gridCol w="1821101">
                  <a:extLst>
                    <a:ext uri="{9D8B030D-6E8A-4147-A177-3AD203B41FA5}">
                      <a16:colId xmlns:a16="http://schemas.microsoft.com/office/drawing/2014/main" val="20004"/>
                    </a:ext>
                  </a:extLst>
                </a:gridCol>
                <a:gridCol w="1320647">
                  <a:extLst>
                    <a:ext uri="{9D8B030D-6E8A-4147-A177-3AD203B41FA5}">
                      <a16:colId xmlns:a16="http://schemas.microsoft.com/office/drawing/2014/main" val="20005"/>
                    </a:ext>
                  </a:extLst>
                </a:gridCol>
                <a:gridCol w="1570875">
                  <a:extLst>
                    <a:ext uri="{9D8B030D-6E8A-4147-A177-3AD203B41FA5}">
                      <a16:colId xmlns:a16="http://schemas.microsoft.com/office/drawing/2014/main" val="20006"/>
                    </a:ext>
                  </a:extLst>
                </a:gridCol>
              </a:tblGrid>
              <a:tr h="3490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姓名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系主任</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rPr>
                        <a:t>学分</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成绩</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7776677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sndAc>
          <p:stSnd>
            <p:snd r:embed="rId4" name="arrow.wav"/>
          </p:stSnd>
        </p:sndAc>
      </p:transition>
    </mc:Choice>
    <mc:Fallback>
      <p:transition spd="slow">
        <p:fade/>
        <p:sndAc>
          <p:stSnd>
            <p:snd r:embed="rId3" name="arrow.wav"/>
          </p:stSnd>
        </p:sndAc>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8" name="Rectangle 3">
            <a:extLst>
              <a:ext uri="{FF2B5EF4-FFF2-40B4-BE49-F238E27FC236}">
                <a16:creationId xmlns:a16="http://schemas.microsoft.com/office/drawing/2014/main" id="{4A91B491-5091-4613-8A2B-94DC2C007D17}"/>
              </a:ext>
            </a:extLst>
          </p:cNvPr>
          <p:cNvSpPr>
            <a:spLocks noGrp="1" noChangeArrowheads="1"/>
          </p:cNvSpPr>
          <p:nvPr>
            <p:ph type="title"/>
          </p:nvPr>
        </p:nvSpPr>
        <p:spPr>
          <a:xfrm>
            <a:off x="980513" y="614878"/>
            <a:ext cx="9723999" cy="1200329"/>
          </a:xfrm>
        </p:spPr>
        <p:txBody>
          <a:bodyPr wrap="square"/>
          <a:lstStyle/>
          <a:p>
            <a:pPr algn="l">
              <a:buFont typeface="Wingdings" pitchFamily="2" charset="2"/>
              <a:buNone/>
            </a:pPr>
            <a:r>
              <a:rPr lang="zh-CN" altLang="en-US" sz="3600" b="0" dirty="0">
                <a:latin typeface="微软雅黑" panose="020B0503020204020204" pitchFamily="34" charset="-122"/>
                <a:ea typeface="微软雅黑" panose="020B0503020204020204" pitchFamily="34" charset="-122"/>
              </a:rPr>
              <a:t>方案</a:t>
            </a:r>
            <a:r>
              <a:rPr lang="en-US" altLang="zh-CN" sz="3600" b="0" dirty="0">
                <a:latin typeface="微软雅黑" panose="020B0503020204020204" pitchFamily="34" charset="-122"/>
                <a:ea typeface="微软雅黑" panose="020B0503020204020204" pitchFamily="34" charset="-122"/>
              </a:rPr>
              <a:t>2</a:t>
            </a:r>
            <a:r>
              <a:rPr lang="zh-CN" altLang="en-US" sz="3600" b="0" dirty="0">
                <a:latin typeface="微软雅黑" panose="020B0503020204020204" pitchFamily="34" charset="-122"/>
                <a:ea typeface="微软雅黑" panose="020B0503020204020204" pitchFamily="34" charset="-122"/>
              </a:rPr>
              <a:t>：把学籍</a:t>
            </a:r>
            <a:r>
              <a:rPr lang="en-US" altLang="zh-CN" sz="3600" b="0" dirty="0">
                <a:latin typeface="微软雅黑" panose="020B0503020204020204" pitchFamily="34" charset="-122"/>
                <a:ea typeface="微软雅黑" panose="020B0503020204020204" pitchFamily="34" charset="-122"/>
              </a:rPr>
              <a:t>E-R</a:t>
            </a:r>
            <a:r>
              <a:rPr lang="zh-CN" altLang="en-US" sz="3600" b="0" dirty="0">
                <a:latin typeface="微软雅黑" panose="020B0503020204020204" pitchFamily="34" charset="-122"/>
                <a:ea typeface="微软雅黑" panose="020B0503020204020204" pitchFamily="34" charset="-122"/>
              </a:rPr>
              <a:t>模型设计成</a:t>
            </a:r>
            <a:r>
              <a:rPr lang="en-US" altLang="zh-CN" sz="3600" b="0" dirty="0">
                <a:latin typeface="微软雅黑" panose="020B0503020204020204" pitchFamily="34" charset="-122"/>
                <a:ea typeface="微软雅黑" panose="020B0503020204020204" pitchFamily="34" charset="-122"/>
              </a:rPr>
              <a:t>4</a:t>
            </a:r>
            <a:r>
              <a:rPr lang="zh-CN" altLang="en-US" sz="3600" b="0" dirty="0">
                <a:latin typeface="微软雅黑" panose="020B0503020204020204" pitchFamily="34" charset="-122"/>
                <a:ea typeface="微软雅黑" panose="020B0503020204020204" pitchFamily="34" charset="-122"/>
              </a:rPr>
              <a:t>个关系模式</a:t>
            </a:r>
            <a:endParaRPr lang="en-US" altLang="zh-CN" sz="3600" b="0" dirty="0">
              <a:latin typeface="微软雅黑" panose="020B0503020204020204" pitchFamily="34" charset="-122"/>
              <a:ea typeface="微软雅黑" panose="020B0503020204020204" pitchFamily="34" charset="-122"/>
            </a:endParaRPr>
          </a:p>
        </p:txBody>
      </p:sp>
      <p:graphicFrame>
        <p:nvGraphicFramePr>
          <p:cNvPr id="9" name="Group 4">
            <a:extLst>
              <a:ext uri="{FF2B5EF4-FFF2-40B4-BE49-F238E27FC236}">
                <a16:creationId xmlns:a16="http://schemas.microsoft.com/office/drawing/2014/main" id="{473CF411-FB1F-4737-BF96-CD43FBCAE60B}"/>
              </a:ext>
            </a:extLst>
          </p:cNvPr>
          <p:cNvGraphicFramePr>
            <a:graphicFrameLocks noGrp="1"/>
          </p:cNvGraphicFramePr>
          <p:nvPr>
            <p:extLst>
              <p:ext uri="{D42A27DB-BD31-4B8C-83A1-F6EECF244321}">
                <p14:modId xmlns:p14="http://schemas.microsoft.com/office/powerpoint/2010/main" val="932679119"/>
              </p:ext>
            </p:extLst>
          </p:nvPr>
        </p:nvGraphicFramePr>
        <p:xfrm>
          <a:off x="695400" y="4653136"/>
          <a:ext cx="2345433" cy="1828800"/>
        </p:xfrm>
        <a:graphic>
          <a:graphicData uri="http://schemas.openxmlformats.org/drawingml/2006/table">
            <a:tbl>
              <a:tblPr/>
              <a:tblGrid>
                <a:gridCol w="781811">
                  <a:extLst>
                    <a:ext uri="{9D8B030D-6E8A-4147-A177-3AD203B41FA5}">
                      <a16:colId xmlns:a16="http://schemas.microsoft.com/office/drawing/2014/main" val="20000"/>
                    </a:ext>
                  </a:extLst>
                </a:gridCol>
                <a:gridCol w="781811">
                  <a:extLst>
                    <a:ext uri="{9D8B030D-6E8A-4147-A177-3AD203B41FA5}">
                      <a16:colId xmlns:a16="http://schemas.microsoft.com/office/drawing/2014/main" val="20001"/>
                    </a:ext>
                  </a:extLst>
                </a:gridCol>
                <a:gridCol w="781811">
                  <a:extLst>
                    <a:ext uri="{9D8B030D-6E8A-4147-A177-3AD203B41FA5}">
                      <a16:colId xmlns:a16="http://schemas.microsoft.com/office/drawing/2014/main" val="20002"/>
                    </a:ext>
                  </a:extLst>
                </a:gridCol>
              </a:tblGrid>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0" name="Group 40">
            <a:extLst>
              <a:ext uri="{FF2B5EF4-FFF2-40B4-BE49-F238E27FC236}">
                <a16:creationId xmlns:a16="http://schemas.microsoft.com/office/drawing/2014/main" id="{156CFC84-5775-4988-8475-1695598CB5DE}"/>
              </a:ext>
            </a:extLst>
          </p:cNvPr>
          <p:cNvGraphicFramePr>
            <a:graphicFrameLocks noGrp="1"/>
          </p:cNvGraphicFramePr>
          <p:nvPr>
            <p:extLst>
              <p:ext uri="{D42A27DB-BD31-4B8C-83A1-F6EECF244321}">
                <p14:modId xmlns:p14="http://schemas.microsoft.com/office/powerpoint/2010/main" val="1864889869"/>
              </p:ext>
            </p:extLst>
          </p:nvPr>
        </p:nvGraphicFramePr>
        <p:xfrm>
          <a:off x="8472264" y="2795643"/>
          <a:ext cx="3167880" cy="3657600"/>
        </p:xfrm>
        <a:graphic>
          <a:graphicData uri="http://schemas.openxmlformats.org/drawingml/2006/table">
            <a:tbl>
              <a:tblPr/>
              <a:tblGrid>
                <a:gridCol w="972813">
                  <a:extLst>
                    <a:ext uri="{9D8B030D-6E8A-4147-A177-3AD203B41FA5}">
                      <a16:colId xmlns:a16="http://schemas.microsoft.com/office/drawing/2014/main" val="20000"/>
                    </a:ext>
                  </a:extLst>
                </a:gridCol>
                <a:gridCol w="1366161">
                  <a:extLst>
                    <a:ext uri="{9D8B030D-6E8A-4147-A177-3AD203B41FA5}">
                      <a16:colId xmlns:a16="http://schemas.microsoft.com/office/drawing/2014/main" val="20001"/>
                    </a:ext>
                  </a:extLst>
                </a:gridCol>
                <a:gridCol w="828906">
                  <a:extLst>
                    <a:ext uri="{9D8B030D-6E8A-4147-A177-3AD203B41FA5}">
                      <a16:colId xmlns:a16="http://schemas.microsoft.com/office/drawing/2014/main" val="20002"/>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aphicFrame>
        <p:nvGraphicFramePr>
          <p:cNvPr id="11" name="Group 112">
            <a:extLst>
              <a:ext uri="{FF2B5EF4-FFF2-40B4-BE49-F238E27FC236}">
                <a16:creationId xmlns:a16="http://schemas.microsoft.com/office/drawing/2014/main" id="{2AFCE016-5540-4A6A-B4AB-1974F4632781}"/>
              </a:ext>
            </a:extLst>
          </p:cNvPr>
          <p:cNvGraphicFramePr>
            <a:graphicFrameLocks noGrp="1"/>
          </p:cNvGraphicFramePr>
          <p:nvPr>
            <p:extLst>
              <p:ext uri="{D42A27DB-BD31-4B8C-83A1-F6EECF244321}">
                <p14:modId xmlns:p14="http://schemas.microsoft.com/office/powerpoint/2010/main" val="1420289562"/>
              </p:ext>
            </p:extLst>
          </p:nvPr>
        </p:nvGraphicFramePr>
        <p:xfrm>
          <a:off x="6188429" y="4914840"/>
          <a:ext cx="1786532" cy="1524000"/>
        </p:xfrm>
        <a:graphic>
          <a:graphicData uri="http://schemas.openxmlformats.org/drawingml/2006/table">
            <a:tbl>
              <a:tblPr/>
              <a:tblGrid>
                <a:gridCol w="679745">
                  <a:extLst>
                    <a:ext uri="{9D8B030D-6E8A-4147-A177-3AD203B41FA5}">
                      <a16:colId xmlns:a16="http://schemas.microsoft.com/office/drawing/2014/main" val="20000"/>
                    </a:ext>
                  </a:extLst>
                </a:gridCol>
                <a:gridCol w="1106787">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2" name="Group 136">
            <a:extLst>
              <a:ext uri="{FF2B5EF4-FFF2-40B4-BE49-F238E27FC236}">
                <a16:creationId xmlns:a16="http://schemas.microsoft.com/office/drawing/2014/main" id="{43687E37-EC47-4C1E-AE27-7B72221C160F}"/>
              </a:ext>
            </a:extLst>
          </p:cNvPr>
          <p:cNvGraphicFramePr>
            <a:graphicFrameLocks noGrp="1"/>
          </p:cNvGraphicFramePr>
          <p:nvPr>
            <p:extLst>
              <p:ext uri="{D42A27DB-BD31-4B8C-83A1-F6EECF244321}">
                <p14:modId xmlns:p14="http://schemas.microsoft.com/office/powerpoint/2010/main" val="120285823"/>
              </p:ext>
            </p:extLst>
          </p:nvPr>
        </p:nvGraphicFramePr>
        <p:xfrm>
          <a:off x="3601223" y="4653136"/>
          <a:ext cx="2042792" cy="1828800"/>
        </p:xfrm>
        <a:graphic>
          <a:graphicData uri="http://schemas.openxmlformats.org/drawingml/2006/table">
            <a:tbl>
              <a:tblPr/>
              <a:tblGrid>
                <a:gridCol w="1350481">
                  <a:extLst>
                    <a:ext uri="{9D8B030D-6E8A-4147-A177-3AD203B41FA5}">
                      <a16:colId xmlns:a16="http://schemas.microsoft.com/office/drawing/2014/main" val="20000"/>
                    </a:ext>
                  </a:extLst>
                </a:gridCol>
                <a:gridCol w="692311">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学分</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3" name="Rectangle 167">
            <a:extLst>
              <a:ext uri="{FF2B5EF4-FFF2-40B4-BE49-F238E27FC236}">
                <a16:creationId xmlns:a16="http://schemas.microsoft.com/office/drawing/2014/main" id="{5C1E8D56-1016-47A2-9BCA-4E0B60EA4589}"/>
              </a:ext>
            </a:extLst>
          </p:cNvPr>
          <p:cNvSpPr>
            <a:spLocks noChangeArrowheads="1"/>
          </p:cNvSpPr>
          <p:nvPr/>
        </p:nvSpPr>
        <p:spPr bwMode="auto">
          <a:xfrm>
            <a:off x="2530475" y="1672613"/>
            <a:ext cx="3565525" cy="457200"/>
          </a:xfrm>
          <a:prstGeom prst="rect">
            <a:avLst/>
          </a:prstGeom>
          <a:noFill/>
          <a:ln w="12700" cap="sq">
            <a:noFill/>
            <a:miter lim="800000"/>
            <a:headEnd/>
            <a:tailEnd/>
          </a:ln>
          <a:effectLst/>
        </p:spPr>
        <p:txBody>
          <a:bodyPr lIns="0" tIns="0" rIns="0" bIns="0"/>
          <a:lstStyle/>
          <a:p>
            <a:pPr marL="198438" marR="0" lvl="0" indent="-198438" algn="l" defTabSz="914400" rtl="0" eaLnBrk="1" fontAlgn="base" latinLnBrk="0" hangingPunct="1">
              <a:lnSpc>
                <a:spcPct val="100000"/>
              </a:lnSpc>
              <a:spcBef>
                <a:spcPct val="0"/>
              </a:spcBef>
              <a:spcAft>
                <a:spcPct val="35000"/>
              </a:spcAft>
              <a:buClrTx/>
              <a:buSzTx/>
              <a:buFont typeface="Wingdings" pitchFamily="2" charset="2"/>
              <a:buNone/>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S(</a:t>
            </a:r>
            <a:r>
              <a:rPr kumimoji="1" lang="zh-CN" altLang="en-US" sz="2800" b="0" i="0" u="sng"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姓名</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系名</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p>
          <a:p>
            <a:pPr marL="198438" marR="0" lvl="0" indent="-198438" algn="l" defTabSz="914400" rtl="0" eaLnBrk="1" fontAlgn="base" latinLnBrk="0" hangingPunct="1">
              <a:lnSpc>
                <a:spcPct val="100000"/>
              </a:lnSpc>
              <a:spcBef>
                <a:spcPct val="0"/>
              </a:spcBef>
              <a:spcAft>
                <a:spcPct val="35000"/>
              </a:spcAft>
              <a:buClrTx/>
              <a:buSzTx/>
              <a:buFont typeface="Wingdings" pitchFamily="2" charset="2"/>
              <a:buNone/>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a:t>
            </a:r>
            <a:r>
              <a:rPr kumimoji="1" lang="zh-CN" altLang="en-US" sz="2800" b="0" i="0" u="sng"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系名</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系主任</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a:p>
            <a:pPr marL="198438" marR="0" lvl="0" indent="-198438" algn="l" defTabSz="914400" rtl="0" eaLnBrk="1" fontAlgn="base" latinLnBrk="0" hangingPunct="1">
              <a:lnSpc>
                <a:spcPct val="100000"/>
              </a:lnSpc>
              <a:spcBef>
                <a:spcPct val="0"/>
              </a:spcBef>
              <a:spcAft>
                <a:spcPct val="35000"/>
              </a:spcAft>
              <a:buClrTx/>
              <a:buSzTx/>
              <a:buFont typeface="Wingdings" pitchFamily="2" charset="2"/>
              <a:buNone/>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1" lang="zh-CN" altLang="en-US" sz="2800" b="0" i="0" u="sng"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课名</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学分</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a:p>
            <a:pPr marL="198438" marR="0" lvl="0" indent="-198438" algn="l" defTabSz="914400" rtl="0" eaLnBrk="1" fontAlgn="base" latinLnBrk="0" hangingPunct="1">
              <a:lnSpc>
                <a:spcPct val="100000"/>
              </a:lnSpc>
              <a:spcBef>
                <a:spcPct val="0"/>
              </a:spcBef>
              <a:spcAft>
                <a:spcPct val="35000"/>
              </a:spcAft>
              <a:buClrTx/>
              <a:buSzTx/>
              <a:buFont typeface="Wingdings" pitchFamily="2" charset="2"/>
              <a:buNone/>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SC(</a:t>
            </a:r>
            <a:r>
              <a:rPr kumimoji="1" lang="zh-CN" altLang="en-US" sz="2800" b="0" i="0" u="sng"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sng"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课名</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成绩</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endPar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p:txBody>
      </p:sp>
      <p:sp>
        <p:nvSpPr>
          <p:cNvPr id="14" name="Rectangle 168">
            <a:extLst>
              <a:ext uri="{FF2B5EF4-FFF2-40B4-BE49-F238E27FC236}">
                <a16:creationId xmlns:a16="http://schemas.microsoft.com/office/drawing/2014/main" id="{54E5C276-77C6-415D-95F5-8DB56CAD51CC}"/>
              </a:ext>
            </a:extLst>
          </p:cNvPr>
          <p:cNvSpPr>
            <a:spLocks noChangeArrowheads="1"/>
          </p:cNvSpPr>
          <p:nvPr/>
        </p:nvSpPr>
        <p:spPr bwMode="auto">
          <a:xfrm>
            <a:off x="983432" y="4078462"/>
            <a:ext cx="352194"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S</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15" name="Rectangle 169">
            <a:extLst>
              <a:ext uri="{FF2B5EF4-FFF2-40B4-BE49-F238E27FC236}">
                <a16:creationId xmlns:a16="http://schemas.microsoft.com/office/drawing/2014/main" id="{062BCDAA-317A-4D06-A6DB-EC9694A14584}"/>
              </a:ext>
            </a:extLst>
          </p:cNvPr>
          <p:cNvSpPr>
            <a:spLocks noChangeArrowheads="1"/>
          </p:cNvSpPr>
          <p:nvPr/>
        </p:nvSpPr>
        <p:spPr bwMode="auto">
          <a:xfrm>
            <a:off x="8518302" y="2271769"/>
            <a:ext cx="592645"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SC</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16" name="Rectangle 170">
            <a:extLst>
              <a:ext uri="{FF2B5EF4-FFF2-40B4-BE49-F238E27FC236}">
                <a16:creationId xmlns:a16="http://schemas.microsoft.com/office/drawing/2014/main" id="{1F179A21-79C1-47B1-A937-DDA41197FDF7}"/>
              </a:ext>
            </a:extLst>
          </p:cNvPr>
          <p:cNvSpPr>
            <a:spLocks noChangeArrowheads="1"/>
          </p:cNvSpPr>
          <p:nvPr/>
        </p:nvSpPr>
        <p:spPr bwMode="auto">
          <a:xfrm>
            <a:off x="6234467" y="4390966"/>
            <a:ext cx="419520"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D</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17" name="Rectangle 171">
            <a:extLst>
              <a:ext uri="{FF2B5EF4-FFF2-40B4-BE49-F238E27FC236}">
                <a16:creationId xmlns:a16="http://schemas.microsoft.com/office/drawing/2014/main" id="{E63A98F5-374B-4451-AA5A-11F4089A8D7A}"/>
              </a:ext>
            </a:extLst>
          </p:cNvPr>
          <p:cNvSpPr>
            <a:spLocks noChangeArrowheads="1"/>
          </p:cNvSpPr>
          <p:nvPr/>
        </p:nvSpPr>
        <p:spPr bwMode="auto">
          <a:xfrm>
            <a:off x="3934277" y="4078461"/>
            <a:ext cx="385857"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C</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18" name="Rectangle 137">
            <a:extLst>
              <a:ext uri="{FF2B5EF4-FFF2-40B4-BE49-F238E27FC236}">
                <a16:creationId xmlns:a16="http://schemas.microsoft.com/office/drawing/2014/main" id="{D0AF65A0-6CCD-4EC4-9D54-9C79480AF27C}"/>
              </a:ext>
            </a:extLst>
          </p:cNvPr>
          <p:cNvSpPr>
            <a:spLocks noChangeArrowheads="1"/>
          </p:cNvSpPr>
          <p:nvPr/>
        </p:nvSpPr>
        <p:spPr bwMode="auto">
          <a:xfrm>
            <a:off x="1818237" y="1737205"/>
            <a:ext cx="4232079" cy="2221713"/>
          </a:xfrm>
          <a:prstGeom prst="rect">
            <a:avLst/>
          </a:prstGeom>
          <a:solidFill>
            <a:srgbClr val="FF0000"/>
          </a:solidFill>
          <a:ln w="38100">
            <a:solidFill>
              <a:srgbClr val="FFFF00"/>
            </a:solidFill>
            <a:miter lim="800000"/>
            <a:headEnd/>
            <a:tailEnd/>
          </a:ln>
          <a:effectLst>
            <a:outerShdw blurRad="63500" sx="102000" sy="102000" algn="ctr" rotWithShape="0">
              <a:prstClr val="black">
                <a:alpha val="40000"/>
              </a:prstClr>
            </a:outerShdw>
          </a:effectLst>
        </p:spPr>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defRPr/>
            </a:pPr>
            <a:r>
              <a:rPr kumimoji="0" lang="zh-CN" altLang="en-US" sz="36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这个方案是</a:t>
            </a:r>
            <a:r>
              <a:rPr kumimoji="0" lang="en-US" altLang="zh-CN" sz="36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a:t>
            </a:r>
            <a:r>
              <a:rPr kumimoji="0" lang="zh-CN" altLang="en-US" sz="36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好”的方案吗？</a:t>
            </a:r>
          </a:p>
        </p:txBody>
      </p:sp>
    </p:spTree>
    <p:extLst>
      <p:ext uri="{BB962C8B-B14F-4D97-AF65-F5344CB8AC3E}">
        <p14:creationId xmlns:p14="http://schemas.microsoft.com/office/powerpoint/2010/main" val="2047474124"/>
      </p:ext>
    </p:extLst>
  </p:cSld>
  <p:clrMapOvr>
    <a:overrideClrMapping bg1="lt1" tx1="dk1" bg2="lt2" tx2="dk2" accent1="accent1" accent2="accent2" accent3="accent3" accent4="accent4" accent5="accent5" accent6="accent6" hlink="hlink" folHlink="folHlink"/>
  </p:clrMapOvr>
  <p:transition spd="slow">
    <p:push/>
    <p:sndAc>
      <p:stSnd>
        <p:snd r:embed="rId3" name="arrow.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18" name="Rectangle 171">
            <a:extLst>
              <a:ext uri="{FF2B5EF4-FFF2-40B4-BE49-F238E27FC236}">
                <a16:creationId xmlns:a16="http://schemas.microsoft.com/office/drawing/2014/main" id="{ACC1C90E-394D-4DBB-98E3-0E67FAFCBAC5}"/>
              </a:ext>
            </a:extLst>
          </p:cNvPr>
          <p:cNvSpPr>
            <a:spLocks noChangeArrowheads="1"/>
          </p:cNvSpPr>
          <p:nvPr/>
        </p:nvSpPr>
        <p:spPr bwMode="auto">
          <a:xfrm>
            <a:off x="623392" y="1267402"/>
            <a:ext cx="4343400" cy="457200"/>
          </a:xfrm>
          <a:prstGeom prst="rect">
            <a:avLst/>
          </a:prstGeom>
          <a:noFill/>
          <a:ln w="12700" cap="sq">
            <a:noFill/>
            <a:miter lim="800000"/>
            <a:headEnd/>
            <a:tailEnd/>
          </a:ln>
          <a:effectLst/>
        </p:spPr>
        <p:txBody>
          <a:bodyPr lIns="0" tIns="0" rIns="0" bIns="0"/>
          <a:lstStyle/>
          <a:p>
            <a:pPr marL="377825" marR="0" lvl="0" indent="-377825" algn="l" defTabSz="914400" rtl="0" eaLnBrk="1" fontAlgn="base" latinLnBrk="0" hangingPunct="1">
              <a:lnSpc>
                <a:spcPct val="150000"/>
              </a:lnSpc>
              <a:spcBef>
                <a:spcPct val="0"/>
              </a:spcBef>
              <a:spcAft>
                <a:spcPct val="0"/>
              </a:spcAft>
              <a:buClrTx/>
              <a:buSzTx/>
              <a:buFontTx/>
              <a:buChar char="•"/>
              <a:tabLst/>
              <a:defRPr/>
            </a:pPr>
            <a:r>
              <a:rPr kumimoji="1" lang="zh-CN" altLang="en-US" sz="40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数据冗余最小</a:t>
            </a:r>
          </a:p>
          <a:p>
            <a:pPr marL="377825" marR="0" lvl="0" indent="-377825" algn="l" defTabSz="914400" rtl="0" eaLnBrk="1" fontAlgn="base" latinLnBrk="0" hangingPunct="1">
              <a:lnSpc>
                <a:spcPct val="150000"/>
              </a:lnSpc>
              <a:spcBef>
                <a:spcPct val="0"/>
              </a:spcBef>
              <a:spcAft>
                <a:spcPct val="0"/>
              </a:spcAft>
              <a:buClrTx/>
              <a:buSzTx/>
              <a:buFontTx/>
              <a:buChar char="•"/>
              <a:tabLst/>
              <a:defRPr/>
            </a:pPr>
            <a:r>
              <a:rPr kumimoji="1" lang="zh-CN" altLang="en-US" sz="4000" b="1" dirty="0">
                <a:solidFill>
                  <a:srgbClr val="FFFF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减少</a:t>
            </a:r>
            <a:r>
              <a:rPr kumimoji="1" lang="zh-CN" altLang="en-US" sz="40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插入异常</a:t>
            </a:r>
          </a:p>
        </p:txBody>
      </p:sp>
      <p:sp>
        <p:nvSpPr>
          <p:cNvPr id="19" name="Rectangle 171">
            <a:extLst>
              <a:ext uri="{FF2B5EF4-FFF2-40B4-BE49-F238E27FC236}">
                <a16:creationId xmlns:a16="http://schemas.microsoft.com/office/drawing/2014/main" id="{0DF656F4-FD44-4A7B-B797-37FEB0089336}"/>
              </a:ext>
            </a:extLst>
          </p:cNvPr>
          <p:cNvSpPr>
            <a:spLocks noChangeArrowheads="1"/>
          </p:cNvSpPr>
          <p:nvPr/>
        </p:nvSpPr>
        <p:spPr bwMode="auto">
          <a:xfrm>
            <a:off x="4455720" y="1267402"/>
            <a:ext cx="4343400" cy="457200"/>
          </a:xfrm>
          <a:prstGeom prst="rect">
            <a:avLst/>
          </a:prstGeom>
          <a:noFill/>
          <a:ln w="12700" cap="sq">
            <a:noFill/>
            <a:miter lim="800000"/>
            <a:headEnd/>
            <a:tailEnd/>
          </a:ln>
          <a:effectLst/>
        </p:spPr>
        <p:txBody>
          <a:bodyPr lIns="0" tIns="0" rIns="0" bIns="0"/>
          <a:lstStyle/>
          <a:p>
            <a:pPr marL="377825" marR="0" lvl="0" indent="-377825" algn="l" defTabSz="914400" rtl="0" eaLnBrk="1" fontAlgn="base" latinLnBrk="0" hangingPunct="1">
              <a:lnSpc>
                <a:spcPct val="150000"/>
              </a:lnSpc>
              <a:spcBef>
                <a:spcPct val="0"/>
              </a:spcBef>
              <a:spcAft>
                <a:spcPct val="0"/>
              </a:spcAft>
              <a:buClrTx/>
              <a:buSzTx/>
              <a:buFontTx/>
              <a:buChar char="•"/>
              <a:tabLst/>
              <a:defRPr/>
            </a:pPr>
            <a:r>
              <a:rPr kumimoji="1" lang="zh-CN" altLang="en-US" sz="4000" b="1" dirty="0">
                <a:solidFill>
                  <a:srgbClr val="FFFF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减少</a:t>
            </a:r>
            <a:r>
              <a:rPr kumimoji="1" lang="zh-CN" altLang="en-US" sz="40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删除异常</a:t>
            </a:r>
          </a:p>
          <a:p>
            <a:pPr marL="377825" marR="0" lvl="0" indent="-377825" algn="l" defTabSz="914400" rtl="0" eaLnBrk="1" fontAlgn="base" latinLnBrk="0" hangingPunct="1">
              <a:lnSpc>
                <a:spcPct val="150000"/>
              </a:lnSpc>
              <a:spcBef>
                <a:spcPct val="0"/>
              </a:spcBef>
              <a:spcAft>
                <a:spcPct val="0"/>
              </a:spcAft>
              <a:buClrTx/>
              <a:buSzTx/>
              <a:buFontTx/>
              <a:buChar char="•"/>
              <a:tabLst/>
              <a:defRPr/>
            </a:pPr>
            <a:r>
              <a:rPr kumimoji="1" lang="zh-CN" altLang="en-US" sz="40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减少更新异常</a:t>
            </a:r>
          </a:p>
        </p:txBody>
      </p:sp>
      <p:graphicFrame>
        <p:nvGraphicFramePr>
          <p:cNvPr id="13" name="Group 4">
            <a:extLst>
              <a:ext uri="{FF2B5EF4-FFF2-40B4-BE49-F238E27FC236}">
                <a16:creationId xmlns:a16="http://schemas.microsoft.com/office/drawing/2014/main" id="{950B9B25-324B-46A5-8B95-32AFF1BA0CEA}"/>
              </a:ext>
            </a:extLst>
          </p:cNvPr>
          <p:cNvGraphicFramePr>
            <a:graphicFrameLocks noGrp="1"/>
          </p:cNvGraphicFramePr>
          <p:nvPr>
            <p:extLst>
              <p:ext uri="{D42A27DB-BD31-4B8C-83A1-F6EECF244321}">
                <p14:modId xmlns:p14="http://schemas.microsoft.com/office/powerpoint/2010/main" val="3130834488"/>
              </p:ext>
            </p:extLst>
          </p:nvPr>
        </p:nvGraphicFramePr>
        <p:xfrm>
          <a:off x="695400" y="4653136"/>
          <a:ext cx="2345433" cy="1828800"/>
        </p:xfrm>
        <a:graphic>
          <a:graphicData uri="http://schemas.openxmlformats.org/drawingml/2006/table">
            <a:tbl>
              <a:tblPr/>
              <a:tblGrid>
                <a:gridCol w="781811">
                  <a:extLst>
                    <a:ext uri="{9D8B030D-6E8A-4147-A177-3AD203B41FA5}">
                      <a16:colId xmlns:a16="http://schemas.microsoft.com/office/drawing/2014/main" val="20000"/>
                    </a:ext>
                  </a:extLst>
                </a:gridCol>
                <a:gridCol w="781811">
                  <a:extLst>
                    <a:ext uri="{9D8B030D-6E8A-4147-A177-3AD203B41FA5}">
                      <a16:colId xmlns:a16="http://schemas.microsoft.com/office/drawing/2014/main" val="20001"/>
                    </a:ext>
                  </a:extLst>
                </a:gridCol>
                <a:gridCol w="781811">
                  <a:extLst>
                    <a:ext uri="{9D8B030D-6E8A-4147-A177-3AD203B41FA5}">
                      <a16:colId xmlns:a16="http://schemas.microsoft.com/office/drawing/2014/main" val="20002"/>
                    </a:ext>
                  </a:extLst>
                </a:gridCol>
              </a:tblGrid>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0" name="Group 40">
            <a:extLst>
              <a:ext uri="{FF2B5EF4-FFF2-40B4-BE49-F238E27FC236}">
                <a16:creationId xmlns:a16="http://schemas.microsoft.com/office/drawing/2014/main" id="{7916E3FA-EC02-4BE4-B0B3-4038952BEE21}"/>
              </a:ext>
            </a:extLst>
          </p:cNvPr>
          <p:cNvGraphicFramePr>
            <a:graphicFrameLocks noGrp="1"/>
          </p:cNvGraphicFramePr>
          <p:nvPr>
            <p:extLst>
              <p:ext uri="{D42A27DB-BD31-4B8C-83A1-F6EECF244321}">
                <p14:modId xmlns:p14="http://schemas.microsoft.com/office/powerpoint/2010/main" val="772383267"/>
              </p:ext>
            </p:extLst>
          </p:nvPr>
        </p:nvGraphicFramePr>
        <p:xfrm>
          <a:off x="8472264" y="2795643"/>
          <a:ext cx="3167880" cy="3657600"/>
        </p:xfrm>
        <a:graphic>
          <a:graphicData uri="http://schemas.openxmlformats.org/drawingml/2006/table">
            <a:tbl>
              <a:tblPr/>
              <a:tblGrid>
                <a:gridCol w="972813">
                  <a:extLst>
                    <a:ext uri="{9D8B030D-6E8A-4147-A177-3AD203B41FA5}">
                      <a16:colId xmlns:a16="http://schemas.microsoft.com/office/drawing/2014/main" val="20000"/>
                    </a:ext>
                  </a:extLst>
                </a:gridCol>
                <a:gridCol w="1366161">
                  <a:extLst>
                    <a:ext uri="{9D8B030D-6E8A-4147-A177-3AD203B41FA5}">
                      <a16:colId xmlns:a16="http://schemas.microsoft.com/office/drawing/2014/main" val="20001"/>
                    </a:ext>
                  </a:extLst>
                </a:gridCol>
                <a:gridCol w="828906">
                  <a:extLst>
                    <a:ext uri="{9D8B030D-6E8A-4147-A177-3AD203B41FA5}">
                      <a16:colId xmlns:a16="http://schemas.microsoft.com/office/drawing/2014/main" val="20002"/>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86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a:ln>
                            <a:noFill/>
                          </a:ln>
                          <a:solidFill>
                            <a:srgbClr val="00FFFF"/>
                          </a:solidFill>
                          <a:effectLst/>
                          <a:latin typeface="Times New Roman" pitchFamily="18" charset="0"/>
                          <a:ea typeface="宋体" pitchFamily="2" charset="-122"/>
                          <a:cs typeface="+mn-cs"/>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endPar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itchFamily="18" charset="0"/>
                          <a:ea typeface="宋体"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aphicFrame>
        <p:nvGraphicFramePr>
          <p:cNvPr id="21" name="Group 112">
            <a:extLst>
              <a:ext uri="{FF2B5EF4-FFF2-40B4-BE49-F238E27FC236}">
                <a16:creationId xmlns:a16="http://schemas.microsoft.com/office/drawing/2014/main" id="{91144D18-A2C1-4BBC-B3DA-377AB7F314C1}"/>
              </a:ext>
            </a:extLst>
          </p:cNvPr>
          <p:cNvGraphicFramePr>
            <a:graphicFrameLocks noGrp="1"/>
          </p:cNvGraphicFramePr>
          <p:nvPr>
            <p:extLst>
              <p:ext uri="{D42A27DB-BD31-4B8C-83A1-F6EECF244321}">
                <p14:modId xmlns:p14="http://schemas.microsoft.com/office/powerpoint/2010/main" val="2018699604"/>
              </p:ext>
            </p:extLst>
          </p:nvPr>
        </p:nvGraphicFramePr>
        <p:xfrm>
          <a:off x="6188429" y="4914840"/>
          <a:ext cx="1786532" cy="1524000"/>
        </p:xfrm>
        <a:graphic>
          <a:graphicData uri="http://schemas.openxmlformats.org/drawingml/2006/table">
            <a:tbl>
              <a:tblPr/>
              <a:tblGrid>
                <a:gridCol w="679745">
                  <a:extLst>
                    <a:ext uri="{9D8B030D-6E8A-4147-A177-3AD203B41FA5}">
                      <a16:colId xmlns:a16="http://schemas.microsoft.com/office/drawing/2014/main" val="20000"/>
                    </a:ext>
                  </a:extLst>
                </a:gridCol>
                <a:gridCol w="1106787">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2" name="Group 136">
            <a:extLst>
              <a:ext uri="{FF2B5EF4-FFF2-40B4-BE49-F238E27FC236}">
                <a16:creationId xmlns:a16="http://schemas.microsoft.com/office/drawing/2014/main" id="{FE864DFF-B374-455A-B62C-0ABD6B39A296}"/>
              </a:ext>
            </a:extLst>
          </p:cNvPr>
          <p:cNvGraphicFramePr>
            <a:graphicFrameLocks noGrp="1"/>
          </p:cNvGraphicFramePr>
          <p:nvPr>
            <p:extLst>
              <p:ext uri="{D42A27DB-BD31-4B8C-83A1-F6EECF244321}">
                <p14:modId xmlns:p14="http://schemas.microsoft.com/office/powerpoint/2010/main" val="3025548580"/>
              </p:ext>
            </p:extLst>
          </p:nvPr>
        </p:nvGraphicFramePr>
        <p:xfrm>
          <a:off x="3601223" y="4653136"/>
          <a:ext cx="2042792" cy="1828800"/>
        </p:xfrm>
        <a:graphic>
          <a:graphicData uri="http://schemas.openxmlformats.org/drawingml/2006/table">
            <a:tbl>
              <a:tblPr/>
              <a:tblGrid>
                <a:gridCol w="1350481">
                  <a:extLst>
                    <a:ext uri="{9D8B030D-6E8A-4147-A177-3AD203B41FA5}">
                      <a16:colId xmlns:a16="http://schemas.microsoft.com/office/drawing/2014/main" val="20000"/>
                    </a:ext>
                  </a:extLst>
                </a:gridCol>
                <a:gridCol w="692311">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微软雅黑" panose="020B0503020204020204" pitchFamily="34" charset="-122"/>
                          <a:ea typeface="微软雅黑" panose="020B0503020204020204" pitchFamily="34" charset="-122"/>
                          <a:cs typeface="+mn-cs"/>
                        </a:rPr>
                        <a:t>课名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学分</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kern="1200" cap="none" normalizeH="0" baseline="0" dirty="0">
                          <a:ln>
                            <a:noFill/>
                          </a:ln>
                          <a:solidFill>
                            <a:srgbClr val="00FFFF"/>
                          </a:solidFill>
                          <a:effectLst/>
                          <a:latin typeface="Times New Roman" pitchFamily="18" charset="0"/>
                          <a:ea typeface="宋体" pitchFamily="2" charset="-122"/>
                          <a:cs typeface="+mn-cs"/>
                        </a:rPr>
                        <a:t>C</a:t>
                      </a: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itchFamily="18" charset="0"/>
                          <a:ea typeface="宋体" pitchFamily="2" charset="-122"/>
                        </a:rPr>
                        <a:t>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kern="1200" cap="none" normalizeH="0" baseline="0" dirty="0">
                          <a:ln>
                            <a:noFill/>
                          </a:ln>
                          <a:solidFill>
                            <a:srgbClr val="00FFFF"/>
                          </a:solidFill>
                          <a:effectLst/>
                          <a:latin typeface="Times New Roman" pitchFamily="18" charset="0"/>
                          <a:ea typeface="宋体" pitchFamily="2" charset="-122"/>
                          <a:cs typeface="+mn-cs"/>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bg1"/>
                          </a:solidFill>
                          <a:effectLst/>
                          <a:latin typeface="Times New Roman" pitchFamily="18" charset="0"/>
                          <a:ea typeface="宋体"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 name="Rectangle 168">
            <a:extLst>
              <a:ext uri="{FF2B5EF4-FFF2-40B4-BE49-F238E27FC236}">
                <a16:creationId xmlns:a16="http://schemas.microsoft.com/office/drawing/2014/main" id="{3A016989-2D3E-4B74-A2A8-8E2646682EC9}"/>
              </a:ext>
            </a:extLst>
          </p:cNvPr>
          <p:cNvSpPr>
            <a:spLocks noChangeArrowheads="1"/>
          </p:cNvSpPr>
          <p:nvPr/>
        </p:nvSpPr>
        <p:spPr bwMode="auto">
          <a:xfrm>
            <a:off x="983432" y="4078462"/>
            <a:ext cx="352194"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S</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24" name="Rectangle 169">
            <a:extLst>
              <a:ext uri="{FF2B5EF4-FFF2-40B4-BE49-F238E27FC236}">
                <a16:creationId xmlns:a16="http://schemas.microsoft.com/office/drawing/2014/main" id="{37E02142-EBEE-4E0E-AEAA-BB608D5F506B}"/>
              </a:ext>
            </a:extLst>
          </p:cNvPr>
          <p:cNvSpPr>
            <a:spLocks noChangeArrowheads="1"/>
          </p:cNvSpPr>
          <p:nvPr/>
        </p:nvSpPr>
        <p:spPr bwMode="auto">
          <a:xfrm>
            <a:off x="8518302" y="2271769"/>
            <a:ext cx="592645"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SC</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25" name="Rectangle 170">
            <a:extLst>
              <a:ext uri="{FF2B5EF4-FFF2-40B4-BE49-F238E27FC236}">
                <a16:creationId xmlns:a16="http://schemas.microsoft.com/office/drawing/2014/main" id="{A73C371A-85F7-479A-979A-AAE7C8EBACB7}"/>
              </a:ext>
            </a:extLst>
          </p:cNvPr>
          <p:cNvSpPr>
            <a:spLocks noChangeArrowheads="1"/>
          </p:cNvSpPr>
          <p:nvPr/>
        </p:nvSpPr>
        <p:spPr bwMode="auto">
          <a:xfrm>
            <a:off x="6234467" y="4390966"/>
            <a:ext cx="419520"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D</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26" name="Rectangle 171">
            <a:extLst>
              <a:ext uri="{FF2B5EF4-FFF2-40B4-BE49-F238E27FC236}">
                <a16:creationId xmlns:a16="http://schemas.microsoft.com/office/drawing/2014/main" id="{55A60C65-0CDB-4EC7-BBF6-0C1E666D7C80}"/>
              </a:ext>
            </a:extLst>
          </p:cNvPr>
          <p:cNvSpPr>
            <a:spLocks noChangeArrowheads="1"/>
          </p:cNvSpPr>
          <p:nvPr/>
        </p:nvSpPr>
        <p:spPr bwMode="auto">
          <a:xfrm>
            <a:off x="3934277" y="4078461"/>
            <a:ext cx="385857"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rPr>
              <a:t>C</a:t>
            </a:r>
            <a:endParaRPr kumimoji="1" lang="zh-CN" altLang="en-US" sz="2800" b="0" i="0" u="none" strike="noStrike" kern="1200" cap="none" spc="0" normalizeH="0" baseline="0" noProof="0">
              <a:ln>
                <a:noFill/>
              </a:ln>
              <a:solidFill>
                <a:srgbClr val="FFFF00"/>
              </a:solidFill>
              <a:effectLst>
                <a:outerShdw blurRad="38100" dist="38100" dir="2700000" algn="tl">
                  <a:srgbClr val="000000"/>
                </a:outerShdw>
              </a:effectLst>
              <a:uLnTx/>
              <a:uFillTx/>
              <a:ea typeface="楷体_GB2312" pitchFamily="49" charset="-122"/>
              <a:cs typeface="+mn-cs"/>
            </a:endParaRPr>
          </a:p>
        </p:txBody>
      </p:sp>
    </p:spTree>
    <p:extLst>
      <p:ext uri="{BB962C8B-B14F-4D97-AF65-F5344CB8AC3E}">
        <p14:creationId xmlns:p14="http://schemas.microsoft.com/office/powerpoint/2010/main" val="11615848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sndAc>
          <p:stSnd>
            <p:snd r:embed="rId4" name="arrow.wav"/>
          </p:stSnd>
        </p:sndAc>
      </p:transition>
    </mc:Choice>
    <mc:Fallback>
      <p:transition spd="slow">
        <p:fade/>
        <p:sndAc>
          <p:stSnd>
            <p:snd r:embed="rId3" name="arrow.wav"/>
          </p:stSnd>
        </p:sndAc>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7" name="Rectangle 3"/>
          <p:cNvSpPr>
            <a:spLocks noGrp="1" noChangeArrowheads="1"/>
          </p:cNvSpPr>
          <p:nvPr>
            <p:ph type="body" idx="4294967295"/>
          </p:nvPr>
        </p:nvSpPr>
        <p:spPr>
          <a:xfrm>
            <a:off x="609600" y="980728"/>
            <a:ext cx="10972800" cy="4525963"/>
          </a:xfrm>
        </p:spPr>
        <p:txBody>
          <a:bodyPr/>
          <a:lstStyle/>
          <a:p>
            <a:pPr>
              <a:lnSpc>
                <a:spcPct val="150000"/>
              </a:lnSpc>
            </a:pPr>
            <a:r>
              <a:rPr lang="zh-CN" altLang="en-US" dirty="0"/>
              <a:t>分解后的关系模式集也不是绝对的“好”。它也带来了其它的一些问题。例如当查询某名学生的系主任是谁，或者他学习的课程的名字时，就需要通过关系的连接运算才能实现。而连接的系统开销代价也是很大的，所以查询的效率相比要低一些。因此，是否需要分解，分解成多少关系模式，这些都需要从实际设计的目标出发来决定。</a:t>
            </a:r>
          </a:p>
        </p:txBody>
      </p:sp>
    </p:spTree>
    <p:extLst>
      <p:ext uri="{BB962C8B-B14F-4D97-AF65-F5344CB8AC3E}">
        <p14:creationId xmlns:p14="http://schemas.microsoft.com/office/powerpoint/2010/main" val="4250177513"/>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980513" y="2831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rPr>
              <a:t>问题的引入</a:t>
            </a:r>
            <a:endParaRPr kumimoji="1" lang="en-US" altLang="zh-CN"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j-cs"/>
            </a:endParaRPr>
          </a:p>
        </p:txBody>
      </p:sp>
      <p:sp>
        <p:nvSpPr>
          <p:cNvPr id="13" name="Rectangle 3">
            <a:extLst>
              <a:ext uri="{FF2B5EF4-FFF2-40B4-BE49-F238E27FC236}">
                <a16:creationId xmlns:a16="http://schemas.microsoft.com/office/drawing/2014/main" id="{22A8CA32-86D9-4C09-8AAF-862A5E4F4A63}"/>
              </a:ext>
            </a:extLst>
          </p:cNvPr>
          <p:cNvSpPr>
            <a:spLocks noGrp="1" noChangeArrowheads="1"/>
          </p:cNvSpPr>
          <p:nvPr>
            <p:ph type="title"/>
          </p:nvPr>
        </p:nvSpPr>
        <p:spPr>
          <a:xfrm>
            <a:off x="980512" y="1021958"/>
            <a:ext cx="9940023" cy="646331"/>
          </a:xfrm>
        </p:spPr>
        <p:txBody>
          <a:bodyPr wrap="square"/>
          <a:lstStyle/>
          <a:p>
            <a:pPr algn="l">
              <a:buFont typeface="Wingdings" pitchFamily="2" charset="2"/>
              <a:buNone/>
            </a:pPr>
            <a:r>
              <a:rPr lang="zh-CN" altLang="en-US" sz="3600" dirty="0">
                <a:latin typeface="微软雅黑" panose="020B0503020204020204" pitchFamily="34" charset="-122"/>
                <a:ea typeface="微软雅黑" panose="020B0503020204020204" pitchFamily="34" charset="-122"/>
              </a:rPr>
              <a:t>结论：什么是一个“好”的关系模式？</a:t>
            </a:r>
            <a:endParaRPr lang="en-US" altLang="zh-CN" sz="3600" dirty="0">
              <a:latin typeface="微软雅黑" panose="020B0503020204020204" pitchFamily="34" charset="-122"/>
              <a:ea typeface="微软雅黑" panose="020B0503020204020204" pitchFamily="34" charset="-122"/>
            </a:endParaRPr>
          </a:p>
        </p:txBody>
      </p:sp>
      <p:sp>
        <p:nvSpPr>
          <p:cNvPr id="20" name="Rectangle 4">
            <a:extLst>
              <a:ext uri="{FF2B5EF4-FFF2-40B4-BE49-F238E27FC236}">
                <a16:creationId xmlns:a16="http://schemas.microsoft.com/office/drawing/2014/main" id="{FD6A15C8-F8FB-4B87-9DAB-2419D4F6DCED}"/>
              </a:ext>
            </a:extLst>
          </p:cNvPr>
          <p:cNvSpPr>
            <a:spLocks noGrp="1" noChangeArrowheads="1"/>
          </p:cNvSpPr>
          <p:nvPr>
            <p:ph idx="1"/>
          </p:nvPr>
        </p:nvSpPr>
        <p:spPr>
          <a:xfrm>
            <a:off x="980512" y="1612617"/>
            <a:ext cx="10588095" cy="1081087"/>
          </a:xfrm>
          <a:noFill/>
          <a:ln w="9525">
            <a:noFill/>
            <a:miter lim="800000"/>
            <a:headEnd/>
            <a:tailEnd/>
          </a:ln>
          <a:effectLst/>
        </p:spPr>
        <p:txBody>
          <a:bodyPr>
            <a:normAutofit lnSpcReduction="10000"/>
          </a:bodyPr>
          <a:lstStyle/>
          <a:p>
            <a:pPr marL="0" indent="0" algn="just" fontAlgn="base">
              <a:spcBef>
                <a:spcPct val="0"/>
              </a:spcBef>
              <a:spcAft>
                <a:spcPct val="40000"/>
              </a:spcAft>
              <a:buClr>
                <a:srgbClr val="66FF33"/>
              </a:buClr>
              <a:buSzPct val="85000"/>
              <a:buNone/>
            </a:pPr>
            <a:r>
              <a:rPr lang="zh-CN" altLang="en-US" sz="3600" dirty="0">
                <a:solidFill>
                  <a:srgbClr val="CCFFCC"/>
                </a:solidFill>
                <a:effectLst>
                  <a:outerShdw blurRad="38100" dist="38100" dir="2700000" algn="tl">
                    <a:srgbClr val="000000"/>
                  </a:outerShdw>
                </a:effectLst>
                <a:latin typeface="楷体_GB2312" panose="02010609030101010101" pitchFamily="49" charset="-122"/>
                <a:ea typeface="楷体_GB2312" panose="02010609030101010101" pitchFamily="49" charset="-122"/>
              </a:rPr>
              <a:t>要能正确而完整地体现客观现实；无过度的数据冗余；无插入异常；无删除异常；更新不复杂！</a:t>
            </a:r>
          </a:p>
        </p:txBody>
      </p:sp>
      <p:sp>
        <p:nvSpPr>
          <p:cNvPr id="21" name="Rectangle 5">
            <a:extLst>
              <a:ext uri="{FF2B5EF4-FFF2-40B4-BE49-F238E27FC236}">
                <a16:creationId xmlns:a16="http://schemas.microsoft.com/office/drawing/2014/main" id="{D9B5903E-2C50-43CF-9683-0EE02B5BE214}"/>
              </a:ext>
            </a:extLst>
          </p:cNvPr>
          <p:cNvSpPr>
            <a:spLocks noChangeArrowheads="1"/>
          </p:cNvSpPr>
          <p:nvPr/>
        </p:nvSpPr>
        <p:spPr bwMode="auto">
          <a:xfrm>
            <a:off x="973058" y="4922217"/>
            <a:ext cx="9663962"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spcBef>
                <a:spcPct val="0"/>
              </a:spcBef>
              <a:buFont typeface="Wingdings" pitchFamily="2" charset="2"/>
              <a:buNone/>
            </a:pPr>
            <a:r>
              <a:rPr lang="zh-CN" altLang="en-US" sz="3600" b="1" dirty="0">
                <a:solidFill>
                  <a:srgbClr val="FF9900"/>
                </a:solidFill>
                <a:latin typeface="微软雅黑" panose="020B0503020204020204" pitchFamily="34" charset="-122"/>
                <a:ea typeface="微软雅黑" panose="020B0503020204020204" pitchFamily="34" charset="-122"/>
                <a:cs typeface="+mj-cs"/>
              </a:rPr>
              <a:t>对一个不“好”的关系模式该怎么办？</a:t>
            </a:r>
            <a:endParaRPr lang="en-US" altLang="zh-CN" sz="3600" b="1" dirty="0">
              <a:solidFill>
                <a:srgbClr val="FF9900"/>
              </a:solidFill>
              <a:latin typeface="微软雅黑" panose="020B0503020204020204" pitchFamily="34" charset="-122"/>
              <a:ea typeface="微软雅黑" panose="020B0503020204020204" pitchFamily="34" charset="-122"/>
              <a:cs typeface="+mj-cs"/>
            </a:endParaRPr>
          </a:p>
        </p:txBody>
      </p:sp>
      <p:sp>
        <p:nvSpPr>
          <p:cNvPr id="22" name="Rectangle 6">
            <a:extLst>
              <a:ext uri="{FF2B5EF4-FFF2-40B4-BE49-F238E27FC236}">
                <a16:creationId xmlns:a16="http://schemas.microsoft.com/office/drawing/2014/main" id="{876CAE14-E4A7-47D7-808B-EA63D51B3022}"/>
              </a:ext>
            </a:extLst>
          </p:cNvPr>
          <p:cNvSpPr>
            <a:spLocks noChangeArrowheads="1"/>
          </p:cNvSpPr>
          <p:nvPr/>
        </p:nvSpPr>
        <p:spPr bwMode="auto">
          <a:xfrm>
            <a:off x="973058" y="5496941"/>
            <a:ext cx="10513540" cy="525462"/>
          </a:xfrm>
          <a:prstGeom prst="rect">
            <a:avLst/>
          </a:prstGeom>
          <a:noFill/>
          <a:ln w="9525">
            <a:noFill/>
            <a:miter lim="800000"/>
            <a:headEnd/>
            <a:tailEnd/>
          </a:ln>
          <a:effectLst/>
        </p:spPr>
        <p:txBody>
          <a:bodyPr/>
          <a:lstStyle/>
          <a:p>
            <a:pPr marL="0" marR="0" lvl="0" indent="0"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lang="zh-CN" altLang="en-US" sz="3600" dirty="0">
                <a:solidFill>
                  <a:srgbClr val="CCFFCC"/>
                </a:solidFill>
                <a:effectLst>
                  <a:outerShdw blurRad="38100" dist="38100" dir="2700000" algn="tl">
                    <a:srgbClr val="000000"/>
                  </a:outerShdw>
                </a:effectLst>
                <a:latin typeface="Times New Roman" pitchFamily="18" charset="0"/>
                <a:ea typeface="楷体_GB2312" pitchFamily="49" charset="-122"/>
              </a:rPr>
              <a:t>依据</a:t>
            </a:r>
            <a:r>
              <a:rPr kumimoji="0" lang="zh-CN" altLang="en-US"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关系模式的规范化理论，将它</a:t>
            </a:r>
            <a:r>
              <a:rPr kumimoji="0" lang="zh-CN" altLang="en-US" sz="36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楷体_GB2312" pitchFamily="49" charset="-122"/>
                <a:cs typeface="+mn-cs"/>
              </a:rPr>
              <a:t>分解</a:t>
            </a:r>
            <a:r>
              <a:rPr kumimoji="0" lang="zh-CN" altLang="en-US"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成符合某种规范化标准（范式）的</a:t>
            </a:r>
            <a:r>
              <a:rPr kumimoji="0" lang="en-US" altLang="zh-CN"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a:t>
            </a:r>
            <a:r>
              <a:rPr kumimoji="0" lang="zh-CN" altLang="en-US"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好”的关系模式集！</a:t>
            </a:r>
          </a:p>
        </p:txBody>
      </p:sp>
      <p:sp>
        <p:nvSpPr>
          <p:cNvPr id="23" name="Rectangle 7">
            <a:extLst>
              <a:ext uri="{FF2B5EF4-FFF2-40B4-BE49-F238E27FC236}">
                <a16:creationId xmlns:a16="http://schemas.microsoft.com/office/drawing/2014/main" id="{1FAAF0BA-08A9-41C3-8A7C-59B873E39175}"/>
              </a:ext>
            </a:extLst>
          </p:cNvPr>
          <p:cNvSpPr>
            <a:spLocks noChangeArrowheads="1"/>
          </p:cNvSpPr>
          <p:nvPr/>
        </p:nvSpPr>
        <p:spPr bwMode="auto">
          <a:xfrm>
            <a:off x="973058" y="2999959"/>
            <a:ext cx="9663962"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spcBef>
                <a:spcPct val="0"/>
              </a:spcBef>
              <a:buFont typeface="Wingdings" pitchFamily="2" charset="2"/>
              <a:buNone/>
            </a:pPr>
            <a:r>
              <a:rPr lang="zh-CN" altLang="en-US" sz="3600" b="1" dirty="0">
                <a:solidFill>
                  <a:srgbClr val="FF9900"/>
                </a:solidFill>
                <a:latin typeface="微软雅黑" panose="020B0503020204020204" pitchFamily="34" charset="-122"/>
                <a:ea typeface="微软雅黑" panose="020B0503020204020204" pitchFamily="34" charset="-122"/>
                <a:cs typeface="+mj-cs"/>
              </a:rPr>
              <a:t>影响关系模式</a:t>
            </a:r>
            <a:r>
              <a:rPr lang="en-US" altLang="zh-CN" sz="3600" b="1" dirty="0">
                <a:solidFill>
                  <a:srgbClr val="FF9900"/>
                </a:solidFill>
                <a:latin typeface="微软雅黑" panose="020B0503020204020204" pitchFamily="34" charset="-122"/>
                <a:ea typeface="微软雅黑" panose="020B0503020204020204" pitchFamily="34" charset="-122"/>
                <a:cs typeface="+mj-cs"/>
              </a:rPr>
              <a:t>“</a:t>
            </a:r>
            <a:r>
              <a:rPr lang="zh-CN" altLang="en-US" sz="3600" b="1" dirty="0">
                <a:solidFill>
                  <a:srgbClr val="FF9900"/>
                </a:solidFill>
                <a:latin typeface="微软雅黑" panose="020B0503020204020204" pitchFamily="34" charset="-122"/>
                <a:ea typeface="微软雅黑" panose="020B0503020204020204" pitchFamily="34" charset="-122"/>
                <a:cs typeface="+mj-cs"/>
              </a:rPr>
              <a:t>好坏”的主要因素是什么？</a:t>
            </a:r>
            <a:endParaRPr lang="en-US" altLang="zh-CN" sz="3600" b="1" dirty="0">
              <a:solidFill>
                <a:srgbClr val="FF9900"/>
              </a:solidFill>
              <a:latin typeface="微软雅黑" panose="020B0503020204020204" pitchFamily="34" charset="-122"/>
              <a:ea typeface="微软雅黑" panose="020B0503020204020204" pitchFamily="34" charset="-122"/>
              <a:cs typeface="+mj-cs"/>
            </a:endParaRPr>
          </a:p>
        </p:txBody>
      </p:sp>
      <p:sp>
        <p:nvSpPr>
          <p:cNvPr id="24" name="Rectangle 8">
            <a:extLst>
              <a:ext uri="{FF2B5EF4-FFF2-40B4-BE49-F238E27FC236}">
                <a16:creationId xmlns:a16="http://schemas.microsoft.com/office/drawing/2014/main" id="{6F2F3E85-8C6A-4104-BB67-FA04143BA1BB}"/>
              </a:ext>
            </a:extLst>
          </p:cNvPr>
          <p:cNvSpPr>
            <a:spLocks noChangeArrowheads="1"/>
          </p:cNvSpPr>
          <p:nvPr/>
        </p:nvSpPr>
        <p:spPr bwMode="auto">
          <a:xfrm>
            <a:off x="973058" y="3592515"/>
            <a:ext cx="10566728" cy="647700"/>
          </a:xfrm>
          <a:prstGeom prst="rect">
            <a:avLst/>
          </a:prstGeom>
          <a:noFill/>
          <a:ln w="9525">
            <a:noFill/>
            <a:miter lim="800000"/>
            <a:headEnd/>
            <a:tailEnd/>
          </a:ln>
          <a:effectLst/>
        </p:spPr>
        <p:txBody>
          <a:bodyPr vert="horz" lIns="91440" tIns="45720" rIns="91440" bIns="45720" rtlCol="0">
            <a:noAutofit/>
          </a:bodyPr>
          <a:lstStyle/>
          <a:p>
            <a:pPr algn="just" fontAlgn="base">
              <a:spcBef>
                <a:spcPct val="0"/>
              </a:spcBef>
              <a:spcAft>
                <a:spcPct val="40000"/>
              </a:spcAft>
              <a:buClr>
                <a:srgbClr val="66FF33"/>
              </a:buClr>
              <a:buSzPct val="85000"/>
            </a:pPr>
            <a:r>
              <a:rPr lang="zh-CN" altLang="en-US" sz="3600" dirty="0">
                <a:solidFill>
                  <a:srgbClr val="CCFFCC"/>
                </a:solidFill>
                <a:effectLst>
                  <a:outerShdw blurRad="38100" dist="38100" dir="2700000" algn="tl">
                    <a:srgbClr val="000000"/>
                  </a:outerShdw>
                </a:effectLst>
                <a:latin typeface="楷体_GB2312" panose="02010609030101010101" pitchFamily="49" charset="-122"/>
                <a:ea typeface="楷体_GB2312" panose="02010609030101010101" pitchFamily="49" charset="-122"/>
              </a:rPr>
              <a:t>属性间的数据依赖！它也是关系模式规范化理论的最基本的概念。</a:t>
            </a:r>
          </a:p>
        </p:txBody>
      </p:sp>
    </p:spTree>
    <p:extLst>
      <p:ext uri="{BB962C8B-B14F-4D97-AF65-F5344CB8AC3E}">
        <p14:creationId xmlns:p14="http://schemas.microsoft.com/office/powerpoint/2010/main" val="33746655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800">
        <p14:flythrough dir="out"/>
        <p:sndAc>
          <p:stSnd>
            <p:snd r:embed="rId3" name="arrow.wav"/>
          </p:stSnd>
        </p:sndAc>
      </p:transition>
    </mc:Choice>
    <mc:Fallback xmlns="">
      <p:transition spd="slow">
        <p:fade/>
        <p:sndAc>
          <p:stSnd>
            <p:snd r:embed="rId5" name="arrow.wav"/>
          </p:stSnd>
        </p:sndAc>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10493424" cy="2143125"/>
          </a:xfrm>
          <a:prstGeom prst="rect">
            <a:avLst/>
          </a:prstGeom>
          <a:noFill/>
        </p:spPr>
        <p:txBody>
          <a:bodyPr vert="horz" wrap="square" rtlCol="0" anchor="ctr" anchorCtr="0">
            <a:noAutofit/>
          </a:bodyPr>
          <a:lstStyle/>
          <a:p>
            <a:pPr>
              <a:lnSpc>
                <a:spcPct val="150000"/>
              </a:lnSpc>
            </a:pPr>
            <a:r>
              <a:rPr lang="zh-CN" altLang="en-US" sz="32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在关系模式的设计中，如何判断这个关系模式集的好坏？</a:t>
            </a:r>
            <a:r>
              <a:rPr lang="zh-CN" altLang="en-US" sz="3200"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所谓</a:t>
            </a:r>
            <a:r>
              <a:rPr lang="zh-CN" altLang="en-US" sz="32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的“不好”的关系模式，一般存在哪些问题？</a:t>
            </a: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20487751"/>
      </p:ext>
    </p:extLst>
  </p:cSld>
  <p:clrMapOvr>
    <a:masterClrMapping/>
  </p:clrMapOvr>
  <p:transition spd="slow">
    <p:wipe dir="r"/>
    <p:sndAc>
      <p:stSnd>
        <p:snd r:embed="rId11" name="arrow.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2132856"/>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第二节</a:t>
            </a:r>
          </a:p>
        </p:txBody>
      </p:sp>
      <p:sp>
        <p:nvSpPr>
          <p:cNvPr id="2" name="标题 1"/>
          <p:cNvSpPr>
            <a:spLocks noGrp="1"/>
          </p:cNvSpPr>
          <p:nvPr>
            <p:ph type="title"/>
          </p:nvPr>
        </p:nvSpPr>
        <p:spPr>
          <a:xfrm>
            <a:off x="2495600" y="3890959"/>
            <a:ext cx="7200800" cy="1229982"/>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函数依赖</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1055440" y="260648"/>
            <a:ext cx="4464496"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第六章  关系数据库设计理论</a:t>
            </a:r>
          </a:p>
        </p:txBody>
      </p:sp>
    </p:spTree>
    <p:extLst>
      <p:ext uri="{BB962C8B-B14F-4D97-AF65-F5344CB8AC3E}">
        <p14:creationId xmlns:p14="http://schemas.microsoft.com/office/powerpoint/2010/main" val="250104647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idx="4294967295"/>
          </p:nvPr>
        </p:nvSpPr>
        <p:spPr>
          <a:xfrm>
            <a:off x="1631504" y="188640"/>
            <a:ext cx="3013967" cy="707886"/>
          </a:xfrm>
        </p:spPr>
        <p:txBody>
          <a:bodyPr/>
          <a:lstStyle/>
          <a:p>
            <a:r>
              <a:rPr lang="en-US" altLang="zh-CN" dirty="0" smtClean="0"/>
              <a:t>6.2</a:t>
            </a:r>
            <a:r>
              <a:rPr lang="zh-CN" altLang="en-US" dirty="0" smtClean="0"/>
              <a:t>函数依赖</a:t>
            </a:r>
          </a:p>
        </p:txBody>
      </p:sp>
      <p:sp>
        <p:nvSpPr>
          <p:cNvPr id="882691" name="Rectangle 3"/>
          <p:cNvSpPr>
            <a:spLocks noGrp="1" noChangeArrowheads="1"/>
          </p:cNvSpPr>
          <p:nvPr>
            <p:ph type="body" idx="4294967295"/>
          </p:nvPr>
        </p:nvSpPr>
        <p:spPr/>
        <p:txBody>
          <a:bodyPr>
            <a:normAutofit fontScale="92500"/>
          </a:bodyPr>
          <a:lstStyle/>
          <a:p>
            <a:pPr>
              <a:lnSpc>
                <a:spcPct val="150000"/>
              </a:lnSpc>
            </a:pPr>
            <a:r>
              <a:rPr lang="zh-CN" altLang="en-US" dirty="0"/>
              <a:t>关系模式中各属性值之间存在的</a:t>
            </a:r>
            <a:r>
              <a:rPr lang="zh-CN" altLang="en-US" dirty="0">
                <a:solidFill>
                  <a:srgbClr val="FFFF00"/>
                </a:solidFill>
              </a:rPr>
              <a:t>相互依赖与相互制约</a:t>
            </a:r>
            <a:r>
              <a:rPr lang="zh-CN" altLang="en-US" dirty="0"/>
              <a:t>的联系，称为数据依赖。它是现实世界中实体属性间联系的抽象，是数据的内在性质，是语义的体现。数据依赖有很多类型，其中最重要的一种是</a:t>
            </a:r>
            <a:r>
              <a:rPr lang="zh-CN" altLang="en-US" dirty="0">
                <a:solidFill>
                  <a:srgbClr val="FFFF00"/>
                </a:solidFill>
              </a:rPr>
              <a:t>函数依赖（</a:t>
            </a:r>
            <a:r>
              <a:rPr lang="en-US" altLang="zh-CN" dirty="0">
                <a:solidFill>
                  <a:srgbClr val="FFFF00"/>
                </a:solidFill>
              </a:rPr>
              <a:t>FD</a:t>
            </a:r>
            <a:r>
              <a:rPr lang="zh-CN" altLang="en-US" dirty="0">
                <a:solidFill>
                  <a:srgbClr val="FFFF00"/>
                </a:solidFill>
              </a:rPr>
              <a:t>，</a:t>
            </a:r>
            <a:r>
              <a:rPr lang="en-US" altLang="zh-CN" dirty="0">
                <a:solidFill>
                  <a:srgbClr val="FFFF00"/>
                </a:solidFill>
              </a:rPr>
              <a:t>Functional Dependency</a:t>
            </a:r>
            <a:r>
              <a:rPr lang="zh-CN" altLang="en-US" dirty="0">
                <a:solidFill>
                  <a:srgbClr val="FFFF00"/>
                </a:solidFill>
              </a:rPr>
              <a:t>），</a:t>
            </a:r>
            <a:r>
              <a:rPr lang="zh-CN" altLang="en-US" dirty="0"/>
              <a:t>它反映了同一关系中属性之间存在一种一一对应的类似于</a:t>
            </a:r>
            <a:r>
              <a:rPr lang="en-US" altLang="zh-CN" dirty="0">
                <a:solidFill>
                  <a:srgbClr val="FFFF00"/>
                </a:solidFill>
              </a:rPr>
              <a:t>y=f(x)</a:t>
            </a:r>
            <a:r>
              <a:rPr lang="zh-CN" altLang="en-US" dirty="0"/>
              <a:t>的单值函数关系，是规范化理论中的一个重要概念。</a:t>
            </a:r>
          </a:p>
        </p:txBody>
      </p:sp>
    </p:spTree>
    <p:extLst>
      <p:ext uri="{BB962C8B-B14F-4D97-AF65-F5344CB8AC3E}">
        <p14:creationId xmlns:p14="http://schemas.microsoft.com/office/powerpoint/2010/main" val="1437857662"/>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2754" name="Text Box 2"/>
          <p:cNvSpPr txBox="1">
            <a:spLocks noChangeArrowheads="1"/>
          </p:cNvSpPr>
          <p:nvPr/>
        </p:nvSpPr>
        <p:spPr bwMode="auto">
          <a:xfrm>
            <a:off x="983432" y="3745"/>
            <a:ext cx="3744539" cy="760959"/>
          </a:xfrm>
          <a:prstGeom prst="rect">
            <a:avLst/>
          </a:prstGeom>
          <a:noFill/>
          <a:ln w="12700" cap="sq">
            <a:noFill/>
            <a:miter lim="800000"/>
            <a:headEnd/>
            <a:tailEnd/>
          </a:ln>
          <a:effectLst/>
        </p:spPr>
        <p:txBody>
          <a:bodyPr wrap="square" lIns="72000" tIns="72000" rIns="72000" bIns="72000">
            <a:spAutoFit/>
          </a:bodyPr>
          <a:lstStyle/>
          <a:p>
            <a:pPr marL="0" marR="0" lvl="0" indent="0" algn="l" defTabSz="914400" rtl="0" eaLnBrk="1" fontAlgn="base" latinLnBrk="0" hangingPunct="1">
              <a:lnSpc>
                <a:spcPct val="100000"/>
              </a:lnSpc>
              <a:spcBef>
                <a:spcPts val="0"/>
              </a:spcBef>
              <a:spcAft>
                <a:spcPct val="25000"/>
              </a:spcAft>
              <a:buClrTx/>
              <a:buSzPct val="80000"/>
              <a:buFont typeface="Wingdings" pitchFamily="2" charset="2"/>
              <a:buNone/>
              <a:tabLst/>
              <a:defRPr/>
            </a:pPr>
            <a:r>
              <a:rPr kumimoji="1" lang="zh-CN" altLang="en-US" sz="4000" b="1" i="0" u="sng" strike="noStrike" kern="1200" cap="none" spc="0" normalizeH="0" baseline="0" noProof="0" dirty="0">
                <a:ln>
                  <a:noFill/>
                </a:ln>
                <a:solidFill>
                  <a:srgbClr val="FFFFCC"/>
                </a:solidFill>
                <a:effectLst>
                  <a:outerShdw blurRad="38100" dist="38100" dir="2700000" algn="tl">
                    <a:srgbClr val="000000"/>
                  </a:outerShdw>
                </a:effectLst>
                <a:uLnTx/>
                <a:uFillTx/>
                <a:latin typeface="Arial" pitchFamily="34" charset="0"/>
                <a:ea typeface="微软雅黑" pitchFamily="34" charset="-122"/>
                <a:cs typeface="+mn-cs"/>
              </a:rPr>
              <a:t>函数依赖的定义</a:t>
            </a:r>
          </a:p>
        </p:txBody>
      </p:sp>
      <p:sp>
        <p:nvSpPr>
          <p:cNvPr id="1482756" name="Rectangle 4"/>
          <p:cNvSpPr>
            <a:spLocks noChangeArrowheads="1"/>
          </p:cNvSpPr>
          <p:nvPr/>
        </p:nvSpPr>
        <p:spPr bwMode="auto">
          <a:xfrm>
            <a:off x="946088" y="980728"/>
            <a:ext cx="10622520" cy="647700"/>
          </a:xfrm>
          <a:prstGeom prst="rect">
            <a:avLst/>
          </a:prstGeom>
          <a:noFill/>
          <a:ln w="9525">
            <a:noFill/>
            <a:miter lim="800000"/>
            <a:headEnd/>
            <a:tailEnd/>
          </a:ln>
          <a:effectLst/>
        </p:spPr>
        <p:txBody>
          <a:bodyPr/>
          <a:lstStyle/>
          <a:p>
            <a:pPr marL="0" marR="0" lvl="0" indent="0" algn="just" defTabSz="914400" rtl="0" eaLnBrk="1" fontAlgn="base" latinLnBrk="0" hangingPunct="1">
              <a:lnSpc>
                <a:spcPct val="100000"/>
              </a:lnSpc>
              <a:spcBef>
                <a:spcPct val="0"/>
              </a:spcBef>
              <a:spcAft>
                <a:spcPct val="3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设有关系模式</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R(U)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和</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是</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的子集。若对</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R(U)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的</a:t>
            </a:r>
            <a:r>
              <a:rPr kumimoji="0"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任一具体关系</a:t>
            </a:r>
            <a:r>
              <a:rPr kumimoji="0" lang="en-US" altLang="zh-CN"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r</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中的任意两个元组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和</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v</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，只要</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u[X]=v[X]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就有</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u[Y]=v[Y]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，则称</a:t>
            </a:r>
            <a:r>
              <a:rPr kumimoji="0"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函数决定</a:t>
            </a:r>
            <a:r>
              <a:rPr kumimoji="0"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或</a:t>
            </a:r>
            <a:r>
              <a:rPr kumimoji="0"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函数依赖于</a:t>
            </a:r>
            <a:r>
              <a:rPr kumimoji="0"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，记作</a:t>
            </a:r>
            <a:r>
              <a:rPr kumimoji="0" lang="en-US"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p>
        </p:txBody>
      </p:sp>
      <p:graphicFrame>
        <p:nvGraphicFramePr>
          <p:cNvPr id="1482757" name="Group 5"/>
          <p:cNvGraphicFramePr>
            <a:graphicFrameLocks noGrp="1"/>
          </p:cNvGraphicFramePr>
          <p:nvPr>
            <p:extLst>
              <p:ext uri="{D42A27DB-BD31-4B8C-83A1-F6EECF244321}">
                <p14:modId xmlns:p14="http://schemas.microsoft.com/office/powerpoint/2010/main" val="3771973671"/>
              </p:ext>
            </p:extLst>
          </p:nvPr>
        </p:nvGraphicFramePr>
        <p:xfrm>
          <a:off x="7104112" y="2924944"/>
          <a:ext cx="4248472" cy="2926080"/>
        </p:xfrm>
        <a:graphic>
          <a:graphicData uri="http://schemas.openxmlformats.org/drawingml/2006/table">
            <a:tbl>
              <a:tblPr/>
              <a:tblGrid>
                <a:gridCol w="1040483">
                  <a:extLst>
                    <a:ext uri="{9D8B030D-6E8A-4147-A177-3AD203B41FA5}">
                      <a16:colId xmlns:a16="http://schemas.microsoft.com/office/drawing/2014/main" val="20000"/>
                    </a:ext>
                  </a:extLst>
                </a:gridCol>
                <a:gridCol w="961994">
                  <a:extLst>
                    <a:ext uri="{9D8B030D-6E8A-4147-A177-3AD203B41FA5}">
                      <a16:colId xmlns:a16="http://schemas.microsoft.com/office/drawing/2014/main" val="20001"/>
                    </a:ext>
                  </a:extLst>
                </a:gridCol>
                <a:gridCol w="722503">
                  <a:extLst>
                    <a:ext uri="{9D8B030D-6E8A-4147-A177-3AD203B41FA5}">
                      <a16:colId xmlns:a16="http://schemas.microsoft.com/office/drawing/2014/main" val="20002"/>
                    </a:ext>
                  </a:extLst>
                </a:gridCol>
                <a:gridCol w="722501">
                  <a:extLst>
                    <a:ext uri="{9D8B030D-6E8A-4147-A177-3AD203B41FA5}">
                      <a16:colId xmlns:a16="http://schemas.microsoft.com/office/drawing/2014/main" val="20003"/>
                    </a:ext>
                  </a:extLst>
                </a:gridCol>
                <a:gridCol w="800991">
                  <a:extLst>
                    <a:ext uri="{9D8B030D-6E8A-4147-A177-3AD203B41FA5}">
                      <a16:colId xmlns:a16="http://schemas.microsoft.com/office/drawing/2014/main" val="20004"/>
                    </a:ext>
                  </a:extLst>
                </a:gridCol>
              </a:tblGrid>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66CC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学号</a:t>
                      </a:r>
                      <a:endParaRPr kumimoji="0" lang="en-US" altLang="zh-CN" sz="2400" b="1" i="0" u="none" strike="noStrike" cap="none" normalizeH="0" baseline="0" dirty="0">
                        <a:ln>
                          <a:noFill/>
                        </a:ln>
                        <a:solidFill>
                          <a:srgbClr val="66CC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姓名</a:t>
                      </a:r>
                      <a:endParaRPr kumimoji="0" lang="en-US" altLang="zh-CN"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性别</a:t>
                      </a:r>
                      <a:endParaRPr kumimoji="0" lang="en-US" altLang="zh-CN"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年龄</a:t>
                      </a:r>
                      <a:endParaRPr kumimoji="0" lang="en-US" altLang="zh-CN"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系别</a:t>
                      </a:r>
                      <a:endParaRPr kumimoji="0" lang="en-US" altLang="zh-CN" sz="2400" b="1" i="0" u="none" strike="noStrike" cap="none" normalizeH="0" baseline="0" dirty="0">
                        <a:ln>
                          <a:noFill/>
                        </a:ln>
                        <a:solidFill>
                          <a:srgbClr val="CCFF99"/>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lumMod val="95000"/>
                        <a:lumOff val="5000"/>
                      </a:schemeClr>
                    </a:solidFill>
                  </a:tcPr>
                </a:tc>
                <a:extLst>
                  <a:ext uri="{0D108BD9-81ED-4DB2-BD59-A6C34878D82A}">
                    <a16:rowId xmlns:a16="http://schemas.microsoft.com/office/drawing/2014/main" val="10000"/>
                  </a:ext>
                </a:extLst>
              </a:tr>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29</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王军</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孙六</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27</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602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98007</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钟伟</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482827" name="Rectangle 75"/>
          <p:cNvSpPr>
            <a:spLocks noChangeArrowheads="1"/>
          </p:cNvSpPr>
          <p:nvPr/>
        </p:nvSpPr>
        <p:spPr bwMode="auto">
          <a:xfrm>
            <a:off x="1072682" y="3023760"/>
            <a:ext cx="5167333" cy="647700"/>
          </a:xfrm>
          <a:prstGeom prst="rect">
            <a:avLst/>
          </a:prstGeom>
          <a:noFill/>
          <a:ln w="9525">
            <a:noFill/>
            <a:miter lim="800000"/>
            <a:headEnd/>
            <a:tailEnd/>
          </a:ln>
          <a:effectLst/>
        </p:spPr>
        <p:txBody>
          <a:bodyPr/>
          <a:lstStyle/>
          <a:p>
            <a:pPr marL="0" marR="0" lvl="0" indent="0" algn="just" defTabSz="914400" rtl="0" eaLnBrk="1" fontAlgn="base" latinLnBrk="0" hangingPunct="1">
              <a:lnSpc>
                <a:spcPct val="100000"/>
              </a:lnSpc>
              <a:spcBef>
                <a:spcPct val="0"/>
              </a:spcBef>
              <a:spcAft>
                <a:spcPct val="50000"/>
              </a:spcAft>
              <a:buClr>
                <a:srgbClr val="66FF33"/>
              </a:buClr>
              <a:buSzPct val="85000"/>
              <a:buFont typeface="Wingdings" pitchFamily="2" charset="2"/>
              <a:buNone/>
              <a:tabLst/>
              <a:defRPr/>
            </a:pP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X→Y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意为元组的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值一经确定则它的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值也随之确定。</a:t>
            </a:r>
          </a:p>
          <a:p>
            <a:pPr marL="0" marR="0" lvl="0" indent="0" algn="just" defTabSz="914400" rtl="0" eaLnBrk="1" fontAlgn="base" latinLnBrk="0" hangingPunct="1">
              <a:lnSpc>
                <a:spcPct val="100000"/>
              </a:lnSpc>
              <a:spcBef>
                <a:spcPct val="0"/>
              </a:spcBef>
              <a:spcAft>
                <a:spcPct val="5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或者说，不可能存在</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上的属性值相等，而在</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上的属性值不等的两个元组。</a:t>
            </a:r>
          </a:p>
        </p:txBody>
      </p:sp>
      <p:sp>
        <p:nvSpPr>
          <p:cNvPr id="1482828" name="Rectangle 76"/>
          <p:cNvSpPr>
            <a:spLocks noChangeArrowheads="1"/>
          </p:cNvSpPr>
          <p:nvPr/>
        </p:nvSpPr>
        <p:spPr bwMode="auto">
          <a:xfrm>
            <a:off x="1072683" y="6021288"/>
            <a:ext cx="8660558" cy="637849"/>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例如 学号</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姓名， 学号</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姓名</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性别</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年龄</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系别</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endPar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9" name="Rectangle 3"/>
          <p:cNvSpPr>
            <a:spLocks noGrp="1" noChangeArrowheads="1"/>
          </p:cNvSpPr>
          <p:nvPr>
            <p:ph type="body" idx="4294967295"/>
          </p:nvPr>
        </p:nvSpPr>
        <p:spPr>
          <a:xfrm>
            <a:off x="641185" y="836712"/>
            <a:ext cx="10972800" cy="4525963"/>
          </a:xfrm>
        </p:spPr>
        <p:txBody>
          <a:bodyPr>
            <a:normAutofit fontScale="92500"/>
          </a:bodyPr>
          <a:lstStyle/>
          <a:p>
            <a:pPr>
              <a:lnSpc>
                <a:spcPct val="150000"/>
              </a:lnSpc>
            </a:pPr>
            <a:r>
              <a:rPr lang="zh-CN" altLang="en-US" dirty="0"/>
              <a:t>例如在上一节示例的关系模式</a:t>
            </a:r>
            <a:r>
              <a:rPr lang="en-US" altLang="zh-CN" dirty="0"/>
              <a:t>DSC</a:t>
            </a:r>
            <a:r>
              <a:rPr lang="zh-CN" altLang="en-US" dirty="0"/>
              <a:t>中，根据语义说明定义了每一个学生都有一个唯一的学号，他只能属于一个系。这意味着当已知一个学号时，无论该学生选修了多少门课程，他选修课程的所有元组中的姓名都相同，系名也相同，也就是说该学号对应的姓名和系名也就随之唯一可确定了。所以在</a:t>
            </a:r>
            <a:r>
              <a:rPr lang="en-US" altLang="zh-CN" dirty="0"/>
              <a:t>DSC</a:t>
            </a:r>
            <a:r>
              <a:rPr lang="zh-CN" altLang="en-US" dirty="0"/>
              <a:t>中就有学号→姓名、学号→系名、学号→（姓名，系名）等函数依赖。</a:t>
            </a:r>
          </a:p>
        </p:txBody>
      </p:sp>
    </p:spTree>
    <p:extLst>
      <p:ext uri="{BB962C8B-B14F-4D97-AF65-F5344CB8AC3E}">
        <p14:creationId xmlns:p14="http://schemas.microsoft.com/office/powerpoint/2010/main" val="1199070958"/>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2">
            <a:extLst>
              <a:ext uri="{FF2B5EF4-FFF2-40B4-BE49-F238E27FC236}">
                <a16:creationId xmlns:a16="http://schemas.microsoft.com/office/drawing/2014/main" id="{3D1A85FC-07D3-4A56-BFB9-358B97F3B9C3}"/>
              </a:ext>
            </a:extLst>
          </p:cNvPr>
          <p:cNvSpPr txBox="1">
            <a:spLocks noChangeArrowheads="1"/>
          </p:cNvSpPr>
          <p:nvPr/>
        </p:nvSpPr>
        <p:spPr bwMode="auto">
          <a:xfrm>
            <a:off x="983432" y="3745"/>
            <a:ext cx="3744539"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en-US" dirty="0"/>
              <a:t>函数依赖的定义</a:t>
            </a:r>
          </a:p>
        </p:txBody>
      </p:sp>
      <p:grpSp>
        <p:nvGrpSpPr>
          <p:cNvPr id="5" name="组合 4">
            <a:extLst>
              <a:ext uri="{FF2B5EF4-FFF2-40B4-BE49-F238E27FC236}">
                <a16:creationId xmlns:a16="http://schemas.microsoft.com/office/drawing/2014/main" id="{44833462-09A0-46AB-9476-EBAB2EB05060}"/>
              </a:ext>
            </a:extLst>
          </p:cNvPr>
          <p:cNvGrpSpPr/>
          <p:nvPr/>
        </p:nvGrpSpPr>
        <p:grpSpPr>
          <a:xfrm>
            <a:off x="983432" y="794420"/>
            <a:ext cx="10267191" cy="5718536"/>
            <a:chOff x="983432" y="794420"/>
            <a:chExt cx="10267191" cy="5718536"/>
          </a:xfrm>
        </p:grpSpPr>
        <p:grpSp>
          <p:nvGrpSpPr>
            <p:cNvPr id="2" name="组合 1"/>
            <p:cNvGrpSpPr/>
            <p:nvPr/>
          </p:nvGrpSpPr>
          <p:grpSpPr>
            <a:xfrm>
              <a:off x="3402786" y="3123132"/>
              <a:ext cx="604982" cy="546920"/>
              <a:chOff x="4369719" y="620688"/>
              <a:chExt cx="604982" cy="546920"/>
            </a:xfrm>
          </p:grpSpPr>
          <p:sp>
            <p:nvSpPr>
              <p:cNvPr id="1483785" name="Rectangle 9"/>
              <p:cNvSpPr>
                <a:spLocks noChangeArrowheads="1"/>
              </p:cNvSpPr>
              <p:nvPr/>
            </p:nvSpPr>
            <p:spPr bwMode="auto">
              <a:xfrm>
                <a:off x="4369719" y="620688"/>
                <a:ext cx="604982" cy="491732"/>
              </a:xfrm>
              <a:prstGeom prst="rect">
                <a:avLst/>
              </a:prstGeom>
              <a:noFill/>
              <a:ln w="12700" cap="sq">
                <a:noFill/>
                <a:miter lim="800000"/>
                <a:headEnd/>
                <a:tailEnd/>
              </a:ln>
              <a:effectLst/>
            </p:spPr>
            <p:txBody>
              <a:bodyPr wrap="none" lIns="72000" tIns="72000" rIns="72000" bIns="7200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dirty="0">
                    <a:ln>
                      <a:noFill/>
                    </a:ln>
                    <a:solidFill>
                      <a:srgbClr val="CCFFCC"/>
                    </a:solidFill>
                    <a:effectLst/>
                    <a:uLnTx/>
                    <a:uFillTx/>
                    <a:ea typeface="楷体_GB2312" pitchFamily="49" charset="-122"/>
                    <a:cs typeface="+mn-cs"/>
                    <a:sym typeface="Symbol" pitchFamily="18" charset="2"/>
                  </a:rPr>
                  <a:t></a:t>
                </a:r>
                <a:endParaRPr kumimoji="1" lang="zh-CN" altLang="en-US" sz="3200" b="0" i="0" u="none" strike="noStrike" kern="1200" cap="none" spc="0" normalizeH="0" baseline="0" noProof="0" dirty="0">
                  <a:ln>
                    <a:noFill/>
                  </a:ln>
                  <a:solidFill>
                    <a:srgbClr val="CCFFCC"/>
                  </a:solidFill>
                  <a:effectLst/>
                  <a:uLnTx/>
                  <a:uFillTx/>
                  <a:ea typeface="楷体_GB2312" pitchFamily="49" charset="-122"/>
                  <a:cs typeface="+mn-cs"/>
                  <a:sym typeface="Symbol" pitchFamily="18" charset="2"/>
                </a:endParaRPr>
              </a:p>
            </p:txBody>
          </p:sp>
          <p:sp>
            <p:nvSpPr>
              <p:cNvPr id="1483784" name="Line 8"/>
              <p:cNvSpPr>
                <a:spLocks noChangeShapeType="1"/>
              </p:cNvSpPr>
              <p:nvPr/>
            </p:nvSpPr>
            <p:spPr bwMode="auto">
              <a:xfrm>
                <a:off x="4506513" y="866553"/>
                <a:ext cx="223245" cy="301055"/>
              </a:xfrm>
              <a:prstGeom prst="line">
                <a:avLst/>
              </a:prstGeom>
              <a:noFill/>
              <a:ln w="19050" cap="sq">
                <a:solidFill>
                  <a:srgbClr val="CCFF99"/>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483781" name="Rectangle 5"/>
            <p:cNvSpPr>
              <a:spLocks noChangeArrowheads="1"/>
            </p:cNvSpPr>
            <p:nvPr/>
          </p:nvSpPr>
          <p:spPr bwMode="auto">
            <a:xfrm>
              <a:off x="983432" y="794420"/>
              <a:ext cx="10225136" cy="647700"/>
            </a:xfrm>
            <a:prstGeom prst="rect">
              <a:avLst/>
            </a:prstGeom>
            <a:noFill/>
            <a:ln w="9525">
              <a:noFill/>
              <a:miter lim="800000"/>
              <a:headEnd/>
              <a:tailEnd/>
            </a:ln>
            <a:effectLst/>
          </p:spPr>
          <p:txBody>
            <a:bodyPr/>
            <a:lstStyle/>
            <a:p>
              <a:pPr marL="0" marR="0" lvl="0" indent="0" algn="just" defTabSz="914400" rtl="0" eaLnBrk="1" fontAlgn="base" latinLnBrk="0" hangingPunct="1">
                <a:lnSpc>
                  <a:spcPct val="100000"/>
                </a:lnSpc>
                <a:spcBef>
                  <a:spcPct val="0"/>
                </a:spcBef>
                <a:spcAft>
                  <a:spcPts val="12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若</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，则称</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为该函数依赖的</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决定因子</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。相应的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称为</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依赖因子</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p>
            <a:p>
              <a:pPr marL="0" marR="0" lvl="0" indent="0" algn="just" defTabSz="914400" rtl="0" eaLnBrk="1" fontAlgn="base" latinLnBrk="0" hangingPunct="1">
                <a:lnSpc>
                  <a:spcPct val="100000"/>
                </a:lnSpc>
                <a:spcBef>
                  <a:spcPct val="0"/>
                </a:spcBef>
                <a:spcAft>
                  <a:spcPts val="12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若</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，且</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Y→X </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，则记为</a:t>
              </a:r>
              <a:r>
                <a:rPr kumimoji="0"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 (</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即互相依赖</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p>
            <a:p>
              <a:pPr marL="0" marR="0" lvl="0" indent="0" algn="just" defTabSz="914400" rtl="0" eaLnBrk="1" fontAlgn="base" latinLnBrk="0" hangingPunct="1">
                <a:lnSpc>
                  <a:spcPct val="100000"/>
                </a:lnSpc>
                <a:spcBef>
                  <a:spcPct val="0"/>
                </a:spcBef>
                <a:spcAft>
                  <a:spcPts val="12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若</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不函数依赖于</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，则记为</a:t>
              </a:r>
              <a:r>
                <a:rPr kumimoji="0"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p>
            <a:p>
              <a:pPr marL="0" marR="0" lvl="0" indent="0" algn="just" defTabSz="914400" rtl="0" eaLnBrk="1" fontAlgn="base" latinLnBrk="0" hangingPunct="1">
                <a:lnSpc>
                  <a:spcPct val="100000"/>
                </a:lnSpc>
                <a:spcBef>
                  <a:spcPct val="0"/>
                </a:spcBef>
                <a:spcAft>
                  <a:spcPts val="1200"/>
                </a:spcAft>
                <a:buClr>
                  <a:srgbClr val="66FF33"/>
                </a:buClr>
                <a:buSzPct val="85000"/>
                <a:buFont typeface="Wingdings" pitchFamily="2" charset="2"/>
                <a:buNone/>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1"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sym typeface="Symbol" pitchFamily="18" charset="2"/>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是非平凡的函数依赖</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p>
            <a:p>
              <a:pPr marL="0" marR="0" lvl="0" indent="0" algn="just" defTabSz="914400" rtl="0" eaLnBrk="1" fontAlgn="base" latinLnBrk="0" hangingPunct="1">
                <a:lnSpc>
                  <a:spcPct val="100000"/>
                </a:lnSpc>
                <a:spcBef>
                  <a:spcPct val="0"/>
                </a:spcBef>
                <a:spcAft>
                  <a:spcPts val="1200"/>
                </a:spcAft>
                <a:buClr>
                  <a:srgbClr val="66FF33"/>
                </a:buClr>
                <a:buSzPct val="85000"/>
                <a:buFont typeface="Wingdings" pitchFamily="2" charset="2"/>
                <a:buNone/>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Y   X</a:t>
              </a:r>
              <a:r>
                <a:rPr kumimoji="1"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是</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平凡的函数依赖</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p>
          </p:txBody>
        </p:sp>
        <p:sp>
          <p:nvSpPr>
            <p:cNvPr id="1483782" name="Rectangle 6"/>
            <p:cNvSpPr>
              <a:spLocks noChangeArrowheads="1"/>
            </p:cNvSpPr>
            <p:nvPr/>
          </p:nvSpPr>
          <p:spPr bwMode="auto">
            <a:xfrm>
              <a:off x="3403879" y="3775485"/>
              <a:ext cx="401887" cy="576293"/>
            </a:xfrm>
            <a:prstGeom prst="rect">
              <a:avLst/>
            </a:prstGeom>
            <a:noFill/>
            <a:ln w="12700" cap="sq">
              <a:noFill/>
              <a:miter lim="800000"/>
              <a:headEnd/>
              <a:tailEnd/>
            </a:ln>
            <a:effectLst/>
          </p:spPr>
          <p:txBody>
            <a:bodyPr wrap="squar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rPr>
                <a:t> </a:t>
              </a:r>
              <a:endParaRPr kumimoji="1" lang="zh-CN" altLang="en-US" sz="28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endParaRPr>
            </a:p>
          </p:txBody>
        </p:sp>
        <p:sp>
          <p:nvSpPr>
            <p:cNvPr id="1483786" name="Rectangle 10"/>
            <p:cNvSpPr>
              <a:spLocks noChangeArrowheads="1"/>
            </p:cNvSpPr>
            <p:nvPr/>
          </p:nvSpPr>
          <p:spPr bwMode="auto">
            <a:xfrm>
              <a:off x="1097253" y="4581128"/>
              <a:ext cx="10153370" cy="1241180"/>
            </a:xfrm>
            <a:prstGeom prst="rect">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lIns="216000" tIns="72000" rIns="0" bIns="0" anchor="t" anchorCtr="0"/>
            <a:lstStyle/>
            <a:p>
              <a:pPr marL="0" marR="0" lvl="0" indent="0" algn="just" defTabSz="914400" rtl="0" eaLnBrk="1" fontAlgn="base" latinLnBrk="0" hangingPunct="1">
                <a:lnSpc>
                  <a:spcPct val="100000"/>
                </a:lnSpc>
                <a:spcBef>
                  <a:spcPct val="0"/>
                </a:spcBef>
                <a:spcAft>
                  <a:spcPct val="25000"/>
                </a:spcAft>
                <a:buClrTx/>
                <a:buSzTx/>
                <a:buFontTx/>
                <a:buNone/>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姓名，</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学号,课名</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成绩</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t>
              </a:r>
              <a:r>
                <a:rPr kumimoji="1" lang="en-US" altLang="zh-CN" sz="3200" b="0" i="0" u="none" strike="noStrike" kern="1200" cap="none" spc="0" normalizeH="0" baseline="0" noProof="0" dirty="0" err="1">
                  <a:ln>
                    <a:noFill/>
                  </a:ln>
                  <a:solidFill>
                    <a:srgbClr val="FFFFFF"/>
                  </a:solidFill>
                  <a:effectLst>
                    <a:outerShdw blurRad="38100" dist="38100" dir="2700000" algn="tl">
                      <a:srgbClr val="000000"/>
                    </a:outerShdw>
                  </a:effectLst>
                  <a:uLnTx/>
                  <a:uFillTx/>
                  <a:ea typeface="楷体_GB2312" pitchFamily="49" charset="-122"/>
                  <a:cs typeface="+mn-cs"/>
                </a:rPr>
                <a:t>是非平凡的</a:t>
              </a:r>
              <a:endPar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endParaRPr>
            </a:p>
            <a:p>
              <a:pPr marL="0" marR="0" lvl="0" indent="0" algn="just" defTabSz="914400" rtl="0" eaLnBrk="1" fontAlgn="base" latinLnBrk="0" hangingPunct="1">
                <a:lnSpc>
                  <a:spcPct val="100000"/>
                </a:lnSpc>
                <a:spcBef>
                  <a:spcPct val="0"/>
                </a:spcBef>
                <a:spcAft>
                  <a:spcPct val="25000"/>
                </a:spcAft>
                <a:buClrTx/>
                <a:buSzTx/>
                <a:buFontTx/>
                <a:buNone/>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学号,课名</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t>
              </a:r>
              <a:r>
                <a:rPr kumimoji="1" lang="en-US" altLang="zh-CN" sz="3200" b="0" i="0" u="none" strike="noStrike" kern="1200" cap="none" spc="0" normalizeH="0" baseline="0" noProof="0" dirty="0" err="1">
                  <a:ln>
                    <a:noFill/>
                  </a:ln>
                  <a:solidFill>
                    <a:srgbClr val="FFFFFF"/>
                  </a:solidFill>
                  <a:effectLst>
                    <a:outerShdw blurRad="38100" dist="38100" dir="2700000" algn="tl">
                      <a:srgbClr val="000000"/>
                    </a:outerShdw>
                  </a:effectLst>
                  <a:uLnTx/>
                  <a:uFillTx/>
                  <a:ea typeface="楷体_GB2312" pitchFamily="49" charset="-122"/>
                  <a:cs typeface="+mn-cs"/>
                </a:rPr>
                <a:t>是平凡的</a:t>
              </a:r>
              <a:endPar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endParaRPr>
            </a:p>
          </p:txBody>
        </p:sp>
        <p:sp>
          <p:nvSpPr>
            <p:cNvPr id="1483787" name="Rectangle 11"/>
            <p:cNvSpPr>
              <a:spLocks noChangeArrowheads="1"/>
            </p:cNvSpPr>
            <p:nvPr/>
          </p:nvSpPr>
          <p:spPr bwMode="auto">
            <a:xfrm>
              <a:off x="1055198" y="6055756"/>
              <a:ext cx="10153370" cy="457200"/>
            </a:xfrm>
            <a:prstGeom prst="rect">
              <a:avLst/>
            </a:prstGeom>
            <a:noFill/>
            <a:ln w="12700" cap="sq">
              <a:noFill/>
              <a:miter lim="800000"/>
              <a:headEnd/>
              <a:tailEnd/>
            </a:ln>
            <a:effectLst/>
          </p:spPr>
          <p:txBody>
            <a:bodyPr lIns="0" tIns="0" rIns="0" bIns="0"/>
            <a:lstStyle/>
            <a:p>
              <a:pPr marL="0" marR="0" lvl="0" indent="-1080000" algn="just" defTabSz="914400" rtl="0" eaLnBrk="1" fontAlgn="base" latinLnBrk="0" hangingPunct="1">
                <a:lnSpc>
                  <a:spcPct val="100000"/>
                </a:lnSpc>
                <a:spcBef>
                  <a:spcPct val="0"/>
                </a:spcBef>
                <a:spcAft>
                  <a:spcPct val="25000"/>
                </a:spcAft>
                <a:buClrTx/>
                <a:buSzTx/>
                <a:buFontTx/>
                <a:buNone/>
                <a:tabLst/>
                <a:defRPr/>
              </a:pPr>
              <a:r>
                <a:rPr kumimoji="1" lang="zh-CN" altLang="en-US" sz="3200" b="0" i="0" u="none" strike="noStrike" kern="1200" cap="none" spc="0" normalizeH="0" baseline="0" noProof="0" dirty="0">
                  <a:ln>
                    <a:noFill/>
                  </a:ln>
                  <a:solidFill>
                    <a:srgbClr val="FF9900"/>
                  </a:solidFill>
                  <a:effectLst>
                    <a:outerShdw blurRad="38100" dist="38100" dir="2700000" algn="tl">
                      <a:srgbClr val="000000"/>
                    </a:outerShdw>
                  </a:effectLst>
                  <a:uLnTx/>
                  <a:uFillTx/>
                  <a:latin typeface="+mn-ea"/>
                  <a:cs typeface="+mn-cs"/>
                </a:rPr>
                <a:t>注意：</a:t>
              </a:r>
              <a:r>
                <a:rPr kumimoji="1" lang="zh-CN" altLang="en-US" sz="32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mn-ea"/>
                  <a:cs typeface="+mn-cs"/>
                </a:rPr>
                <a:t>平凡的函数依赖是必然成立的，</a:t>
              </a:r>
              <a:r>
                <a:rPr kumimoji="1" lang="zh-CN" altLang="en-US" sz="3200" dirty="0">
                  <a:solidFill>
                    <a:srgbClr val="FFFFCC"/>
                  </a:solidFill>
                  <a:effectLst>
                    <a:outerShdw blurRad="38100" dist="38100" dir="2700000" algn="tl">
                      <a:srgbClr val="000000"/>
                    </a:outerShdw>
                  </a:effectLst>
                  <a:latin typeface="+mn-ea"/>
                </a:rPr>
                <a:t>无需考虑</a:t>
              </a:r>
              <a:r>
                <a:rPr kumimoji="1" lang="zh-CN" altLang="en-US" sz="32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mn-ea"/>
                  <a:cs typeface="+mn-cs"/>
                </a:rPr>
                <a:t>。</a:t>
              </a:r>
              <a:endParaRPr kumimoji="1" lang="en-US" altLang="zh-CN" sz="32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mn-ea"/>
                <a:cs typeface="+mn-cs"/>
              </a:endParaRPr>
            </a:p>
          </p:txBody>
        </p:sp>
        <p:cxnSp>
          <p:nvCxnSpPr>
            <p:cNvPr id="7" name="直接连接符 6">
              <a:extLst>
                <a:ext uri="{FF2B5EF4-FFF2-40B4-BE49-F238E27FC236}">
                  <a16:creationId xmlns:a16="http://schemas.microsoft.com/office/drawing/2014/main" id="{BD05C483-43A4-44C0-BAD4-0857FC82BFE3}"/>
                </a:ext>
              </a:extLst>
            </p:cNvPr>
            <p:cNvCxnSpPr/>
            <p:nvPr/>
          </p:nvCxnSpPr>
          <p:spPr>
            <a:xfrm>
              <a:off x="6419096" y="2736628"/>
              <a:ext cx="108000" cy="18000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transition spd="slow">
    <p:wipe dir="r"/>
    <p:sndAc>
      <p:stSnd>
        <p:snd r:embed="rId3" name="arrow.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335360" y="565150"/>
            <a:ext cx="11618384" cy="6292850"/>
          </a:xfrm>
        </p:spPr>
        <p:txBody>
          <a:bodyPr/>
          <a:lstStyle/>
          <a:p>
            <a:pPr algn="just">
              <a:lnSpc>
                <a:spcPct val="150000"/>
              </a:lnSpc>
              <a:buFontTx/>
              <a:buNone/>
            </a:pPr>
            <a:r>
              <a:rPr lang="zh-CN" altLang="en-US" sz="3200" b="1" dirty="0">
                <a:solidFill>
                  <a:srgbClr val="FFFF00"/>
                </a:solidFill>
                <a:latin typeface="楷体_GB2312"/>
                <a:ea typeface="楷体_GB2312"/>
                <a:cs typeface="楷体_GB2312"/>
              </a:rPr>
              <a:t>有关函数依赖的几点说明：</a:t>
            </a:r>
          </a:p>
          <a:p>
            <a:pPr algn="just">
              <a:lnSpc>
                <a:spcPct val="150000"/>
              </a:lnSpc>
              <a:buFontTx/>
              <a:buNone/>
            </a:pPr>
            <a:r>
              <a:rPr lang="en-US" altLang="zh-CN" sz="3200" b="1" dirty="0">
                <a:solidFill>
                  <a:srgbClr val="FFFF00"/>
                </a:solidFill>
                <a:latin typeface="楷体_GB2312"/>
                <a:ea typeface="楷体_GB2312"/>
                <a:cs typeface="楷体_GB2312"/>
              </a:rPr>
              <a:t>1</a:t>
            </a:r>
            <a:r>
              <a:rPr lang="zh-CN" altLang="en-US" sz="3200" b="1" dirty="0">
                <a:solidFill>
                  <a:srgbClr val="FFFF00"/>
                </a:solidFill>
                <a:latin typeface="楷体_GB2312"/>
                <a:ea typeface="楷体_GB2312"/>
                <a:cs typeface="楷体_GB2312"/>
              </a:rPr>
              <a:t>．平凡的函数依赖与非平凡的函数依赖。</a:t>
            </a:r>
          </a:p>
          <a:p>
            <a:pPr lvl="1" algn="just">
              <a:lnSpc>
                <a:spcPct val="150000"/>
              </a:lnSpc>
            </a:pPr>
            <a:r>
              <a:rPr lang="zh-CN" altLang="en-US" b="1" dirty="0">
                <a:latin typeface="楷体_GB2312"/>
                <a:ea typeface="楷体_GB2312"/>
                <a:cs typeface="楷体_GB2312"/>
              </a:rPr>
              <a:t>当属性集</a:t>
            </a:r>
            <a:r>
              <a:rPr lang="en-US" altLang="zh-CN" b="1" dirty="0">
                <a:latin typeface="楷体_GB2312"/>
                <a:ea typeface="楷体_GB2312"/>
                <a:cs typeface="楷体_GB2312"/>
              </a:rPr>
              <a:t>Y</a:t>
            </a:r>
            <a:r>
              <a:rPr lang="zh-CN" altLang="en-US" b="1" dirty="0">
                <a:latin typeface="楷体_GB2312"/>
                <a:ea typeface="楷体_GB2312"/>
                <a:cs typeface="楷体_GB2312"/>
              </a:rPr>
              <a:t>是属性集</a:t>
            </a:r>
            <a:r>
              <a:rPr lang="en-US" altLang="zh-CN" b="1" dirty="0">
                <a:latin typeface="楷体_GB2312"/>
                <a:ea typeface="楷体_GB2312"/>
                <a:cs typeface="楷体_GB2312"/>
              </a:rPr>
              <a:t>X</a:t>
            </a:r>
            <a:r>
              <a:rPr lang="zh-CN" altLang="en-US" b="1" dirty="0">
                <a:latin typeface="楷体_GB2312"/>
                <a:ea typeface="楷体_GB2312"/>
                <a:cs typeface="楷体_GB2312"/>
              </a:rPr>
              <a:t>的子集时，则必然存在着函数依赖</a:t>
            </a:r>
            <a:r>
              <a:rPr lang="en-US" altLang="zh-CN" b="1" dirty="0">
                <a:latin typeface="楷体_GB2312"/>
                <a:ea typeface="楷体_GB2312"/>
                <a:cs typeface="楷体_GB2312"/>
              </a:rPr>
              <a:t>X→Y,</a:t>
            </a:r>
            <a:r>
              <a:rPr lang="zh-CN" altLang="en-US" b="1" dirty="0">
                <a:latin typeface="楷体_GB2312"/>
                <a:ea typeface="楷体_GB2312"/>
                <a:cs typeface="楷体_GB2312"/>
              </a:rPr>
              <a:t>这种类型的函数依赖称为</a:t>
            </a:r>
            <a:r>
              <a:rPr lang="zh-CN" altLang="en-US" b="1" dirty="0">
                <a:solidFill>
                  <a:srgbClr val="FFFF00"/>
                </a:solidFill>
                <a:latin typeface="楷体_GB2312"/>
                <a:ea typeface="楷体_GB2312"/>
                <a:cs typeface="楷体_GB2312"/>
              </a:rPr>
              <a:t>平凡的函数依赖</a:t>
            </a:r>
            <a:r>
              <a:rPr lang="zh-CN" altLang="en-US" b="1" dirty="0">
                <a:latin typeface="楷体_GB2312"/>
                <a:ea typeface="楷体_GB2312"/>
                <a:cs typeface="楷体_GB2312"/>
              </a:rPr>
              <a:t>。</a:t>
            </a:r>
          </a:p>
          <a:p>
            <a:pPr lvl="1" algn="just">
              <a:lnSpc>
                <a:spcPct val="150000"/>
              </a:lnSpc>
            </a:pPr>
            <a:r>
              <a:rPr lang="zh-CN" altLang="en-US" b="1" dirty="0">
                <a:latin typeface="楷体_GB2312"/>
                <a:ea typeface="楷体_GB2312"/>
                <a:cs typeface="楷体_GB2312"/>
              </a:rPr>
              <a:t>如果</a:t>
            </a:r>
            <a:r>
              <a:rPr lang="en-US" altLang="zh-CN" b="1" dirty="0">
                <a:latin typeface="楷体_GB2312"/>
                <a:ea typeface="楷体_GB2312"/>
                <a:cs typeface="楷体_GB2312"/>
              </a:rPr>
              <a:t>Y</a:t>
            </a:r>
            <a:r>
              <a:rPr lang="zh-CN" altLang="en-US" b="1" dirty="0">
                <a:latin typeface="楷体_GB2312"/>
                <a:ea typeface="楷体_GB2312"/>
                <a:cs typeface="楷体_GB2312"/>
              </a:rPr>
              <a:t>不是</a:t>
            </a:r>
            <a:r>
              <a:rPr lang="en-US" altLang="zh-CN" b="1" dirty="0">
                <a:latin typeface="楷体_GB2312"/>
                <a:ea typeface="楷体_GB2312"/>
                <a:cs typeface="楷体_GB2312"/>
              </a:rPr>
              <a:t>X</a:t>
            </a:r>
            <a:r>
              <a:rPr lang="zh-CN" altLang="en-US" b="1" dirty="0">
                <a:latin typeface="楷体_GB2312"/>
                <a:ea typeface="楷体_GB2312"/>
                <a:cs typeface="楷体_GB2312"/>
              </a:rPr>
              <a:t>的子集，则称</a:t>
            </a:r>
            <a:r>
              <a:rPr lang="en-US" altLang="zh-CN" b="1" dirty="0">
                <a:latin typeface="楷体_GB2312"/>
                <a:ea typeface="楷体_GB2312"/>
                <a:cs typeface="楷体_GB2312"/>
              </a:rPr>
              <a:t>X→Y</a:t>
            </a:r>
            <a:r>
              <a:rPr lang="zh-CN" altLang="en-US" b="1" dirty="0">
                <a:latin typeface="楷体_GB2312"/>
                <a:ea typeface="楷体_GB2312"/>
                <a:cs typeface="楷体_GB2312"/>
              </a:rPr>
              <a:t>为</a:t>
            </a:r>
            <a:r>
              <a:rPr lang="zh-CN" altLang="en-US" b="1" dirty="0">
                <a:solidFill>
                  <a:srgbClr val="FFFF00"/>
                </a:solidFill>
                <a:latin typeface="楷体_GB2312"/>
                <a:ea typeface="楷体_GB2312"/>
                <a:cs typeface="楷体_GB2312"/>
              </a:rPr>
              <a:t>非平凡的函数依赖。</a:t>
            </a:r>
          </a:p>
          <a:p>
            <a:pPr lvl="1" algn="just">
              <a:lnSpc>
                <a:spcPct val="150000"/>
              </a:lnSpc>
            </a:pPr>
            <a:r>
              <a:rPr lang="zh-CN" altLang="en-US" b="1" dirty="0">
                <a:latin typeface="楷体_GB2312"/>
                <a:ea typeface="楷体_GB2312"/>
                <a:cs typeface="楷体_GB2312"/>
              </a:rPr>
              <a:t>若不特别声明，我们讨论的都</a:t>
            </a:r>
            <a:r>
              <a:rPr lang="zh-CN" altLang="en-US" b="1" dirty="0">
                <a:solidFill>
                  <a:srgbClr val="FFFF00"/>
                </a:solidFill>
                <a:latin typeface="楷体_GB2312"/>
                <a:ea typeface="楷体_GB2312"/>
                <a:cs typeface="楷体_GB2312"/>
              </a:rPr>
              <a:t>是</a:t>
            </a:r>
            <a:r>
              <a:rPr lang="zh-CN" altLang="en-US" b="1" u="sng" dirty="0">
                <a:solidFill>
                  <a:srgbClr val="FFFF00"/>
                </a:solidFill>
                <a:latin typeface="楷体_GB2312"/>
                <a:ea typeface="楷体_GB2312"/>
                <a:cs typeface="楷体_GB2312"/>
              </a:rPr>
              <a:t>非平凡的函数依赖</a:t>
            </a:r>
            <a:r>
              <a:rPr lang="zh-CN" altLang="en-US" b="1" dirty="0">
                <a:solidFill>
                  <a:srgbClr val="FFFF00"/>
                </a:solidFill>
                <a:latin typeface="楷体_GB2312"/>
                <a:ea typeface="楷体_GB2312"/>
                <a:cs typeface="楷体_GB2312"/>
              </a:rPr>
              <a:t>。</a:t>
            </a:r>
          </a:p>
        </p:txBody>
      </p:sp>
    </p:spTree>
    <p:extLst>
      <p:ext uri="{BB962C8B-B14F-4D97-AF65-F5344CB8AC3E}">
        <p14:creationId xmlns:p14="http://schemas.microsoft.com/office/powerpoint/2010/main" val="4224601528"/>
      </p:ext>
    </p:extLst>
  </p:cSld>
  <p:clrMapOvr>
    <a:masterClrMapping/>
  </p:clrMapOvr>
  <p:transition spd="slow">
    <p:wipe dir="r"/>
    <p:sndAc>
      <p:stSnd>
        <p:snd r:embed="rId2" name="arrow.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271" y="562246"/>
            <a:ext cx="11952817" cy="6292850"/>
          </a:xfrm>
        </p:spPr>
        <p:txBody>
          <a:bodyPr/>
          <a:lstStyle/>
          <a:p>
            <a:pPr algn="just">
              <a:lnSpc>
                <a:spcPct val="150000"/>
              </a:lnSpc>
              <a:buFontTx/>
              <a:buNone/>
            </a:pPr>
            <a:r>
              <a:rPr lang="en-US" altLang="zh-CN" sz="2800" b="1" dirty="0">
                <a:solidFill>
                  <a:srgbClr val="FFFF00"/>
                </a:solidFill>
                <a:latin typeface="楷体_GB2312"/>
                <a:ea typeface="楷体_GB2312"/>
                <a:cs typeface="楷体_GB2312"/>
              </a:rPr>
              <a:t>2</a:t>
            </a:r>
            <a:r>
              <a:rPr lang="zh-CN" altLang="en-US" sz="2800" b="1" dirty="0">
                <a:solidFill>
                  <a:srgbClr val="FFFF00"/>
                </a:solidFill>
                <a:latin typeface="楷体_GB2312"/>
                <a:ea typeface="楷体_GB2312"/>
                <a:cs typeface="楷体_GB2312"/>
              </a:rPr>
              <a:t>．函数依赖是语义范畴的概念。</a:t>
            </a:r>
          </a:p>
          <a:p>
            <a:pPr lvl="1" algn="just">
              <a:lnSpc>
                <a:spcPct val="150000"/>
              </a:lnSpc>
            </a:pPr>
            <a:r>
              <a:rPr lang="zh-CN" altLang="en-US" sz="2800" b="1" dirty="0">
                <a:latin typeface="楷体_GB2312"/>
                <a:ea typeface="楷体_GB2312"/>
                <a:cs typeface="楷体_GB2312"/>
              </a:rPr>
              <a:t>我们只能根据语义来确定一个函数依赖，而不能按照其形式化定义来证明一个函数依赖是否成立。</a:t>
            </a:r>
          </a:p>
          <a:p>
            <a:pPr lvl="1" algn="just">
              <a:lnSpc>
                <a:spcPct val="150000"/>
              </a:lnSpc>
            </a:pPr>
            <a:r>
              <a:rPr lang="zh-CN" altLang="en-US" sz="2800" b="1" dirty="0">
                <a:latin typeface="楷体_GB2312"/>
                <a:ea typeface="楷体_GB2312"/>
                <a:cs typeface="楷体_GB2312"/>
              </a:rPr>
              <a:t>例如，对于关系模式</a:t>
            </a:r>
            <a:r>
              <a:rPr lang="en-US" altLang="zh-CN" sz="2800" b="1" dirty="0">
                <a:solidFill>
                  <a:srgbClr val="FFFF00"/>
                </a:solidFill>
                <a:latin typeface="楷体_GB2312"/>
                <a:ea typeface="楷体_GB2312"/>
                <a:cs typeface="楷体_GB2312"/>
              </a:rPr>
              <a:t>S</a:t>
            </a:r>
            <a:r>
              <a:rPr lang="zh-CN" altLang="en-US" sz="2800" b="1" dirty="0">
                <a:latin typeface="楷体_GB2312"/>
                <a:ea typeface="楷体_GB2312"/>
                <a:cs typeface="楷体_GB2312"/>
              </a:rPr>
              <a:t>，当学生</a:t>
            </a:r>
            <a:r>
              <a:rPr lang="zh-CN" altLang="en-US" sz="2800" b="1" dirty="0">
                <a:solidFill>
                  <a:srgbClr val="FFFF00"/>
                </a:solidFill>
                <a:latin typeface="楷体_GB2312"/>
                <a:ea typeface="楷体_GB2312"/>
                <a:cs typeface="楷体_GB2312"/>
              </a:rPr>
              <a:t>不存在重名</a:t>
            </a:r>
            <a:r>
              <a:rPr lang="zh-CN" altLang="en-US" sz="2800" b="1" dirty="0">
                <a:latin typeface="楷体_GB2312"/>
                <a:ea typeface="楷体_GB2312"/>
                <a:cs typeface="楷体_GB2312"/>
              </a:rPr>
              <a:t>的情况下，可以得到：</a:t>
            </a:r>
          </a:p>
          <a:p>
            <a:pPr lvl="2" algn="just">
              <a:lnSpc>
                <a:spcPct val="150000"/>
              </a:lnSpc>
            </a:pPr>
            <a:r>
              <a:rPr lang="zh-CN" altLang="en-US" b="1" dirty="0">
                <a:solidFill>
                  <a:srgbClr val="FFFF00"/>
                </a:solidFill>
                <a:latin typeface="楷体_GB2312"/>
                <a:ea typeface="楷体_GB2312"/>
                <a:cs typeface="楷体_GB2312"/>
              </a:rPr>
              <a:t>	</a:t>
            </a:r>
            <a:r>
              <a:rPr lang="en-US" altLang="zh-CN" b="1" dirty="0" err="1">
                <a:solidFill>
                  <a:srgbClr val="FFFF00"/>
                </a:solidFill>
                <a:latin typeface="楷体_GB2312"/>
                <a:ea typeface="楷体_GB2312"/>
                <a:cs typeface="楷体_GB2312"/>
              </a:rPr>
              <a:t>SN→AGE</a:t>
            </a:r>
            <a:endParaRPr lang="en-US" altLang="zh-CN" b="1" dirty="0">
              <a:solidFill>
                <a:srgbClr val="FFFF00"/>
              </a:solidFill>
              <a:latin typeface="楷体_GB2312"/>
              <a:ea typeface="楷体_GB2312"/>
              <a:cs typeface="楷体_GB2312"/>
            </a:endParaRPr>
          </a:p>
          <a:p>
            <a:pPr lvl="2" algn="just">
              <a:lnSpc>
                <a:spcPct val="150000"/>
              </a:lnSpc>
            </a:pPr>
            <a:r>
              <a:rPr lang="en-US" altLang="zh-CN" b="1" dirty="0">
                <a:solidFill>
                  <a:srgbClr val="FFFF00"/>
                </a:solidFill>
                <a:latin typeface="楷体_GB2312"/>
                <a:ea typeface="楷体_GB2312"/>
                <a:cs typeface="楷体_GB2312"/>
              </a:rPr>
              <a:t>	</a:t>
            </a:r>
            <a:r>
              <a:rPr lang="en-US" altLang="zh-CN" b="1" dirty="0" err="1">
                <a:solidFill>
                  <a:srgbClr val="FFFF00"/>
                </a:solidFill>
                <a:latin typeface="楷体_GB2312"/>
                <a:ea typeface="楷体_GB2312"/>
                <a:cs typeface="楷体_GB2312"/>
              </a:rPr>
              <a:t>SN→DEPT</a:t>
            </a:r>
            <a:endParaRPr lang="en-US" altLang="zh-CN" b="1" dirty="0">
              <a:solidFill>
                <a:srgbClr val="FFFF00"/>
              </a:solidFill>
              <a:latin typeface="楷体_GB2312"/>
              <a:ea typeface="楷体_GB2312"/>
              <a:cs typeface="楷体_GB2312"/>
            </a:endParaRPr>
          </a:p>
          <a:p>
            <a:pPr lvl="1">
              <a:lnSpc>
                <a:spcPct val="150000"/>
              </a:lnSpc>
            </a:pPr>
            <a:r>
              <a:rPr lang="zh-CN" altLang="en-US" sz="2800" b="1" dirty="0">
                <a:latin typeface="楷体_GB2312"/>
                <a:ea typeface="楷体_GB2312"/>
                <a:cs typeface="楷体_GB2312"/>
              </a:rPr>
              <a:t>这种函数依赖关系，必须是在没有重名的学生条件下才成立的，否则就不存在函数依赖了。</a:t>
            </a:r>
          </a:p>
          <a:p>
            <a:pPr lvl="1">
              <a:lnSpc>
                <a:spcPct val="150000"/>
              </a:lnSpc>
            </a:pPr>
            <a:r>
              <a:rPr lang="zh-CN" altLang="en-US" sz="2800" b="1" dirty="0">
                <a:latin typeface="楷体_GB2312"/>
                <a:ea typeface="楷体_GB2312"/>
                <a:cs typeface="楷体_GB2312"/>
              </a:rPr>
              <a:t>所以函数依赖反映了一种语义完整性约束。 </a:t>
            </a:r>
          </a:p>
        </p:txBody>
      </p:sp>
    </p:spTree>
    <p:extLst>
      <p:ext uri="{BB962C8B-B14F-4D97-AF65-F5344CB8AC3E}">
        <p14:creationId xmlns:p14="http://schemas.microsoft.com/office/powerpoint/2010/main" val="1748642593"/>
      </p:ext>
    </p:extLst>
  </p:cSld>
  <p:clrMapOvr>
    <a:masterClrMapping/>
  </p:clrMapOvr>
  <p:transition spd="slow">
    <p:wipe dir="r"/>
    <p:sndAc>
      <p:stSnd>
        <p:snd r:embed="rId2" name="arrow.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84804" name="Group 4"/>
          <p:cNvGraphicFramePr>
            <a:graphicFrameLocks noGrp="1"/>
          </p:cNvGraphicFramePr>
          <p:nvPr>
            <p:extLst>
              <p:ext uri="{D42A27DB-BD31-4B8C-83A1-F6EECF244321}">
                <p14:modId xmlns:p14="http://schemas.microsoft.com/office/powerpoint/2010/main" val="3941579698"/>
              </p:ext>
            </p:extLst>
          </p:nvPr>
        </p:nvGraphicFramePr>
        <p:xfrm>
          <a:off x="1015162" y="2843714"/>
          <a:ext cx="4679998" cy="1828800"/>
        </p:xfrm>
        <a:graphic>
          <a:graphicData uri="http://schemas.openxmlformats.org/drawingml/2006/table">
            <a:tbl>
              <a:tblPr/>
              <a:tblGrid>
                <a:gridCol w="1003579">
                  <a:extLst>
                    <a:ext uri="{9D8B030D-6E8A-4147-A177-3AD203B41FA5}">
                      <a16:colId xmlns:a16="http://schemas.microsoft.com/office/drawing/2014/main" val="20000"/>
                    </a:ext>
                  </a:extLst>
                </a:gridCol>
                <a:gridCol w="1001556">
                  <a:extLst>
                    <a:ext uri="{9D8B030D-6E8A-4147-A177-3AD203B41FA5}">
                      <a16:colId xmlns:a16="http://schemas.microsoft.com/office/drawing/2014/main" val="20001"/>
                    </a:ext>
                  </a:extLst>
                </a:gridCol>
                <a:gridCol w="752685">
                  <a:extLst>
                    <a:ext uri="{9D8B030D-6E8A-4147-A177-3AD203B41FA5}">
                      <a16:colId xmlns:a16="http://schemas.microsoft.com/office/drawing/2014/main" val="20002"/>
                    </a:ext>
                  </a:extLst>
                </a:gridCol>
                <a:gridCol w="1086537">
                  <a:extLst>
                    <a:ext uri="{9D8B030D-6E8A-4147-A177-3AD203B41FA5}">
                      <a16:colId xmlns:a16="http://schemas.microsoft.com/office/drawing/2014/main" val="20003"/>
                    </a:ext>
                  </a:extLst>
                </a:gridCol>
                <a:gridCol w="835641">
                  <a:extLst>
                    <a:ext uri="{9D8B030D-6E8A-4147-A177-3AD203B41FA5}">
                      <a16:colId xmlns:a16="http://schemas.microsoft.com/office/drawing/2014/main" val="20004"/>
                    </a:ext>
                  </a:extLst>
                </a:gridCol>
              </a:tblGrid>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系别</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87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张三</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20</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李四</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9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8003</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王五</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21</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赵六</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20</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84850" name="Rectangle 50"/>
          <p:cNvSpPr>
            <a:spLocks noChangeArrowheads="1"/>
          </p:cNvSpPr>
          <p:nvPr/>
        </p:nvSpPr>
        <p:spPr bwMode="auto">
          <a:xfrm>
            <a:off x="1994318" y="4909778"/>
            <a:ext cx="3024187"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5000"/>
              </a:spcAft>
              <a:buClrTx/>
              <a:buSzTx/>
              <a:buFontTx/>
              <a:buNone/>
              <a:tabLst/>
              <a:defRPr/>
            </a:pP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此时姓名</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年龄</a:t>
            </a:r>
          </a:p>
        </p:txBody>
      </p:sp>
      <p:sp>
        <p:nvSpPr>
          <p:cNvPr id="1484851" name="Rectangle 51"/>
          <p:cNvSpPr>
            <a:spLocks noChangeArrowheads="1"/>
          </p:cNvSpPr>
          <p:nvPr/>
        </p:nvSpPr>
        <p:spPr bwMode="auto">
          <a:xfrm>
            <a:off x="1015162" y="983473"/>
            <a:ext cx="10153127" cy="457200"/>
          </a:xfrm>
          <a:prstGeom prst="rect">
            <a:avLst/>
          </a:prstGeom>
          <a:noFill/>
          <a:ln w="12700" cap="sq">
            <a:noFill/>
            <a:miter lim="800000"/>
            <a:headEnd/>
            <a:tailEnd/>
          </a:ln>
          <a:effectLst/>
        </p:spPr>
        <p:txBody>
          <a:bodyPr lIns="0" tIns="0" rIns="0" bIns="0"/>
          <a:lstStyle/>
          <a:p>
            <a:pPr marL="0" marR="0" lvl="0" indent="0" algn="just" defTabSz="914400" rtl="0" eaLnBrk="1" fontAlgn="base" latinLnBrk="0" hangingPunct="1">
              <a:lnSpc>
                <a:spcPct val="100000"/>
              </a:lnSpc>
              <a:spcBef>
                <a:spcPct val="0"/>
              </a:spcBef>
              <a:spcAft>
                <a:spcPct val="25000"/>
              </a:spcAft>
              <a:buClrTx/>
              <a:buSzTx/>
              <a:buFontTx/>
              <a:buNone/>
              <a:tabLst/>
              <a:defRPr/>
            </a:pPr>
            <a:r>
              <a:rPr kumimoji="1" lang="zh-CN" altLang="en-US"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函数依赖是一个</a:t>
            </a:r>
            <a:r>
              <a:rPr kumimoji="1" lang="zh-CN" altLang="en-US" sz="36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语义范畴</a:t>
            </a:r>
            <a:r>
              <a:rPr kumimoji="1" lang="zh-CN" altLang="en-US"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的概念，并且必须</a:t>
            </a:r>
            <a:r>
              <a:rPr kumimoji="1" lang="zh-CN" altLang="en-US" sz="36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以关系模式</a:t>
            </a:r>
            <a:r>
              <a:rPr kumimoji="1" lang="zh-CN" altLang="en-US"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（包括所有可能的关系）</a:t>
            </a:r>
            <a:r>
              <a:rPr kumimoji="1" lang="zh-CN" altLang="en-US" sz="36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为准</a:t>
            </a:r>
            <a:r>
              <a:rPr kumimoji="1" lang="zh-CN" altLang="en-US"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，而不能只考虑到一个关系的状态！</a:t>
            </a:r>
          </a:p>
        </p:txBody>
      </p:sp>
      <p:graphicFrame>
        <p:nvGraphicFramePr>
          <p:cNvPr id="1484852" name="Group 52"/>
          <p:cNvGraphicFramePr>
            <a:graphicFrameLocks noGrp="1"/>
          </p:cNvGraphicFramePr>
          <p:nvPr>
            <p:extLst>
              <p:ext uri="{D42A27DB-BD31-4B8C-83A1-F6EECF244321}">
                <p14:modId xmlns:p14="http://schemas.microsoft.com/office/powerpoint/2010/main" val="3923263182"/>
              </p:ext>
            </p:extLst>
          </p:nvPr>
        </p:nvGraphicFramePr>
        <p:xfrm>
          <a:off x="6415884" y="2843714"/>
          <a:ext cx="4752405" cy="1828800"/>
        </p:xfrm>
        <a:graphic>
          <a:graphicData uri="http://schemas.openxmlformats.org/drawingml/2006/table">
            <a:tbl>
              <a:tblPr/>
              <a:tblGrid>
                <a:gridCol w="1019106">
                  <a:extLst>
                    <a:ext uri="{9D8B030D-6E8A-4147-A177-3AD203B41FA5}">
                      <a16:colId xmlns:a16="http://schemas.microsoft.com/office/drawing/2014/main" val="20000"/>
                    </a:ext>
                  </a:extLst>
                </a:gridCol>
                <a:gridCol w="1017052">
                  <a:extLst>
                    <a:ext uri="{9D8B030D-6E8A-4147-A177-3AD203B41FA5}">
                      <a16:colId xmlns:a16="http://schemas.microsoft.com/office/drawing/2014/main" val="20001"/>
                    </a:ext>
                  </a:extLst>
                </a:gridCol>
                <a:gridCol w="764330">
                  <a:extLst>
                    <a:ext uri="{9D8B030D-6E8A-4147-A177-3AD203B41FA5}">
                      <a16:colId xmlns:a16="http://schemas.microsoft.com/office/drawing/2014/main" val="20002"/>
                    </a:ext>
                  </a:extLst>
                </a:gridCol>
                <a:gridCol w="1103346">
                  <a:extLst>
                    <a:ext uri="{9D8B030D-6E8A-4147-A177-3AD203B41FA5}">
                      <a16:colId xmlns:a16="http://schemas.microsoft.com/office/drawing/2014/main" val="20003"/>
                    </a:ext>
                  </a:extLst>
                </a:gridCol>
                <a:gridCol w="848571">
                  <a:extLst>
                    <a:ext uri="{9D8B030D-6E8A-4147-A177-3AD203B41FA5}">
                      <a16:colId xmlns:a16="http://schemas.microsoft.com/office/drawing/2014/main" val="20004"/>
                    </a:ext>
                  </a:extLst>
                </a:gridCol>
              </a:tblGrid>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系别</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87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张三</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20</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李四</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9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8003</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王五</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21</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84898" name="Rectangle 98"/>
          <p:cNvSpPr>
            <a:spLocks noChangeArrowheads="1"/>
          </p:cNvSpPr>
          <p:nvPr/>
        </p:nvSpPr>
        <p:spPr bwMode="auto">
          <a:xfrm>
            <a:off x="7034878" y="4754620"/>
            <a:ext cx="3816350"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5000"/>
              </a:spcAft>
              <a:buClrTx/>
              <a:buSzTx/>
              <a:buFontTx/>
              <a:buNone/>
              <a:tabLst/>
              <a:defRPr/>
            </a:pP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能肯定姓名</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年龄吗？</a:t>
            </a:r>
          </a:p>
          <a:p>
            <a:pPr marL="0" marR="0" lvl="0" indent="0" algn="l" defTabSz="914400" rtl="0" eaLnBrk="1" fontAlgn="base" latinLnBrk="0" hangingPunct="1">
              <a:lnSpc>
                <a:spcPct val="100000"/>
              </a:lnSpc>
              <a:spcBef>
                <a:spcPct val="0"/>
              </a:spcBef>
              <a:spcAft>
                <a:spcPct val="5000"/>
              </a:spcAft>
              <a:buClrTx/>
              <a:buSzTx/>
              <a:buFontTx/>
              <a:buNone/>
              <a:tabLst/>
              <a:defRPr/>
            </a:pP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若约定不能重名呢？</a:t>
            </a:r>
          </a:p>
        </p:txBody>
      </p:sp>
      <p:sp>
        <p:nvSpPr>
          <p:cNvPr id="9" name="Rectangle 11"/>
          <p:cNvSpPr>
            <a:spLocks noChangeArrowheads="1"/>
          </p:cNvSpPr>
          <p:nvPr/>
        </p:nvSpPr>
        <p:spPr bwMode="auto">
          <a:xfrm>
            <a:off x="623392" y="6075162"/>
            <a:ext cx="11377264"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zh-CN" altLang="en-US"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可以根据属性间的联系类型（</a:t>
            </a:r>
            <a:r>
              <a:rPr kumimoji="1" lang="en-US" altLang="zh-CN"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1:1</a:t>
            </a:r>
            <a:r>
              <a:rPr kumimoji="1" lang="zh-CN" altLang="en-US"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1" lang="en-US" altLang="zh-CN"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1:n </a:t>
            </a:r>
            <a:r>
              <a:rPr kumimoji="1" lang="zh-CN" altLang="en-US"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和 </a:t>
            </a:r>
            <a:r>
              <a:rPr kumimoji="1" lang="en-US" altLang="zh-CN"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m:n) </a:t>
            </a:r>
            <a:r>
              <a:rPr kumimoji="1" lang="zh-CN" altLang="en-US"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来判断。</a:t>
            </a:r>
            <a:endParaRPr kumimoji="1" lang="en-US" altLang="zh-CN" sz="36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endParaRPr>
          </a:p>
        </p:txBody>
      </p:sp>
      <p:sp>
        <p:nvSpPr>
          <p:cNvPr id="12" name="Text Box 2">
            <a:extLst>
              <a:ext uri="{FF2B5EF4-FFF2-40B4-BE49-F238E27FC236}">
                <a16:creationId xmlns:a16="http://schemas.microsoft.com/office/drawing/2014/main" id="{149F075B-F9B1-4CEC-9188-6F790B39BBC8}"/>
              </a:ext>
            </a:extLst>
          </p:cNvPr>
          <p:cNvSpPr txBox="1">
            <a:spLocks noChangeArrowheads="1"/>
          </p:cNvSpPr>
          <p:nvPr/>
        </p:nvSpPr>
        <p:spPr bwMode="auto">
          <a:xfrm>
            <a:off x="983432" y="3745"/>
            <a:ext cx="3744539"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en-US" dirty="0">
                <a:latin typeface="微软雅黑" panose="020B0503020204020204" pitchFamily="34" charset="-122"/>
              </a:rPr>
              <a:t>函数依赖的定义</a:t>
            </a:r>
          </a:p>
        </p:txBody>
      </p:sp>
    </p:spTree>
  </p:cSld>
  <p:clrMapOvr>
    <a:masterClrMapping/>
  </p:clrMapOvr>
  <p:transition spd="slow">
    <p:wipe dir="r"/>
    <p:sndAc>
      <p:stSnd>
        <p:snd r:embed="rId2" name="arrow.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551384" y="908720"/>
            <a:ext cx="11233149" cy="6264275"/>
          </a:xfrm>
        </p:spPr>
        <p:txBody>
          <a:bodyPr/>
          <a:lstStyle/>
          <a:p>
            <a:pPr marL="187325" indent="-187325" algn="just">
              <a:buFontTx/>
              <a:buNone/>
            </a:pPr>
            <a:r>
              <a:rPr lang="en-US" altLang="zh-CN" sz="2200" dirty="0">
                <a:latin typeface="楷体_GB2312"/>
                <a:ea typeface="楷体_GB2312"/>
                <a:cs typeface="楷体_GB2312"/>
              </a:rPr>
              <a:t>3</a:t>
            </a:r>
            <a:r>
              <a:rPr lang="zh-CN" altLang="en-US" sz="2200" dirty="0">
                <a:latin typeface="楷体_GB2312"/>
                <a:ea typeface="楷体_GB2312"/>
                <a:cs typeface="楷体_GB2312"/>
              </a:rPr>
              <a:t>．</a:t>
            </a:r>
            <a:r>
              <a:rPr lang="zh-CN" altLang="en-US" sz="2400" b="1" dirty="0">
                <a:solidFill>
                  <a:srgbClr val="FFFF00"/>
                </a:solidFill>
                <a:latin typeface="楷体_GB2312"/>
                <a:ea typeface="楷体_GB2312"/>
                <a:cs typeface="楷体_GB2312"/>
              </a:rPr>
              <a:t>函数依赖与属性之间的联系类型</a:t>
            </a:r>
            <a:r>
              <a:rPr lang="zh-CN" altLang="en-US" sz="2200" dirty="0">
                <a:latin typeface="楷体_GB2312"/>
                <a:ea typeface="楷体_GB2312"/>
                <a:cs typeface="楷体_GB2312"/>
              </a:rPr>
              <a:t>有关。</a:t>
            </a:r>
          </a:p>
          <a:p>
            <a:pPr marL="577850" lvl="1" indent="-12700" algn="just">
              <a:buFontTx/>
              <a:buNone/>
            </a:pPr>
            <a:r>
              <a:rPr lang="zh-CN" altLang="en-US" sz="2200" dirty="0">
                <a:latin typeface="楷体_GB2312"/>
                <a:ea typeface="楷体_GB2312"/>
                <a:cs typeface="楷体_GB2312"/>
              </a:rPr>
              <a:t>（</a:t>
            </a:r>
            <a:r>
              <a:rPr lang="en-US" altLang="zh-CN" sz="2200" dirty="0">
                <a:latin typeface="楷体_GB2312"/>
                <a:ea typeface="楷体_GB2312"/>
                <a:cs typeface="楷体_GB2312"/>
              </a:rPr>
              <a:t>1</a:t>
            </a:r>
            <a:r>
              <a:rPr lang="zh-CN" altLang="en-US" sz="2200" dirty="0">
                <a:latin typeface="楷体_GB2312"/>
                <a:ea typeface="楷体_GB2312"/>
                <a:cs typeface="楷体_GB2312"/>
              </a:rPr>
              <a:t>）在一个关系模式中，如果属性</a:t>
            </a:r>
            <a:r>
              <a:rPr lang="en-US" altLang="zh-CN" sz="2200" dirty="0">
                <a:latin typeface="楷体_GB2312"/>
                <a:ea typeface="楷体_GB2312"/>
                <a:cs typeface="楷体_GB2312"/>
              </a:rPr>
              <a:t>X</a:t>
            </a:r>
            <a:r>
              <a:rPr lang="zh-CN" altLang="en-US" sz="2200" dirty="0">
                <a:latin typeface="楷体_GB2312"/>
                <a:ea typeface="楷体_GB2312"/>
                <a:cs typeface="楷体_GB2312"/>
              </a:rPr>
              <a:t>与</a:t>
            </a:r>
            <a:r>
              <a:rPr lang="en-US" altLang="zh-CN" sz="2200" dirty="0">
                <a:latin typeface="楷体_GB2312"/>
                <a:ea typeface="楷体_GB2312"/>
                <a:cs typeface="楷体_GB2312"/>
              </a:rPr>
              <a:t>Y</a:t>
            </a:r>
            <a:r>
              <a:rPr lang="zh-CN" altLang="en-US" sz="2200" dirty="0">
                <a:latin typeface="楷体_GB2312"/>
                <a:ea typeface="楷体_GB2312"/>
                <a:cs typeface="楷体_GB2312"/>
              </a:rPr>
              <a:t>有</a:t>
            </a:r>
            <a:r>
              <a:rPr lang="en-US" altLang="zh-CN" sz="2400" b="1" dirty="0">
                <a:solidFill>
                  <a:srgbClr val="FFFF00"/>
                </a:solidFill>
                <a:latin typeface="楷体_GB2312"/>
                <a:ea typeface="楷体_GB2312"/>
                <a:cs typeface="楷体_GB2312"/>
              </a:rPr>
              <a:t>1:1</a:t>
            </a:r>
            <a:r>
              <a:rPr lang="zh-CN" altLang="en-US" sz="2200" dirty="0">
                <a:latin typeface="楷体_GB2312"/>
                <a:ea typeface="楷体_GB2312"/>
                <a:cs typeface="楷体_GB2312"/>
              </a:rPr>
              <a:t>联系时，则存在函数依赖</a:t>
            </a:r>
            <a:r>
              <a:rPr lang="en-US" altLang="zh-CN" sz="2200" dirty="0">
                <a:latin typeface="楷体_GB2312"/>
                <a:ea typeface="楷体_GB2312"/>
                <a:cs typeface="楷体_GB2312"/>
              </a:rPr>
              <a:t>X→Y</a:t>
            </a:r>
            <a:r>
              <a:rPr lang="zh-CN" altLang="en-US" sz="2200" dirty="0">
                <a:latin typeface="楷体_GB2312"/>
                <a:ea typeface="楷体_GB2312"/>
                <a:cs typeface="楷体_GB2312"/>
              </a:rPr>
              <a:t>，</a:t>
            </a:r>
            <a:r>
              <a:rPr lang="en-US" altLang="zh-CN" sz="2200" dirty="0">
                <a:latin typeface="楷体_GB2312"/>
                <a:ea typeface="楷体_GB2312"/>
                <a:cs typeface="楷体_GB2312"/>
              </a:rPr>
              <a:t>Y→X</a:t>
            </a:r>
            <a:r>
              <a:rPr lang="zh-CN" altLang="en-US" sz="2200" dirty="0">
                <a:latin typeface="楷体_GB2312"/>
                <a:ea typeface="楷体_GB2312"/>
                <a:cs typeface="楷体_GB2312"/>
              </a:rPr>
              <a:t>，即</a:t>
            </a:r>
            <a:r>
              <a:rPr lang="en-US" altLang="zh-CN" sz="2200" dirty="0">
                <a:latin typeface="楷体_GB2312"/>
                <a:ea typeface="楷体_GB2312"/>
                <a:cs typeface="楷体_GB2312"/>
              </a:rPr>
              <a:t>X  </a:t>
            </a:r>
            <a:r>
              <a:rPr lang="en-US" altLang="zh-CN" sz="2200" dirty="0" smtClean="0">
                <a:latin typeface="楷体_GB2312"/>
                <a:ea typeface="楷体_GB2312"/>
                <a:cs typeface="楷体_GB2312"/>
              </a:rPr>
              <a:t>  Y</a:t>
            </a:r>
            <a:r>
              <a:rPr lang="zh-CN" altLang="en-US" sz="2200" dirty="0">
                <a:latin typeface="楷体_GB2312"/>
                <a:ea typeface="楷体_GB2312"/>
                <a:cs typeface="楷体_GB2312"/>
              </a:rPr>
              <a:t>。</a:t>
            </a:r>
          </a:p>
          <a:p>
            <a:pPr marL="1689100" lvl="3" algn="just">
              <a:buFontTx/>
              <a:buNone/>
            </a:pPr>
            <a:r>
              <a:rPr lang="zh-CN" altLang="en-US" sz="2200" dirty="0">
                <a:latin typeface="楷体_GB2312"/>
                <a:ea typeface="楷体_GB2312"/>
                <a:cs typeface="楷体_GB2312"/>
              </a:rPr>
              <a:t>     例如，当学生无重名时，</a:t>
            </a:r>
            <a:r>
              <a:rPr lang="en-US" altLang="zh-CN" sz="2200" dirty="0" err="1">
                <a:latin typeface="楷体_GB2312"/>
                <a:ea typeface="楷体_GB2312"/>
                <a:cs typeface="楷体_GB2312"/>
              </a:rPr>
              <a:t>SNO</a:t>
            </a:r>
            <a:r>
              <a:rPr lang="en-US" altLang="zh-CN" sz="2200" dirty="0">
                <a:latin typeface="楷体_GB2312"/>
                <a:ea typeface="楷体_GB2312"/>
                <a:cs typeface="楷体_GB2312"/>
              </a:rPr>
              <a:t> </a:t>
            </a:r>
            <a:r>
              <a:rPr lang="en-US" altLang="zh-CN" sz="2200" dirty="0" smtClean="0">
                <a:latin typeface="楷体_GB2312"/>
                <a:ea typeface="楷体_GB2312"/>
                <a:cs typeface="楷体_GB2312"/>
              </a:rPr>
              <a:t>    </a:t>
            </a:r>
            <a:r>
              <a:rPr lang="en-US" altLang="zh-CN" sz="2200" dirty="0">
                <a:latin typeface="楷体_GB2312"/>
                <a:ea typeface="楷体_GB2312"/>
                <a:cs typeface="楷体_GB2312"/>
              </a:rPr>
              <a:t>SN</a:t>
            </a:r>
            <a:r>
              <a:rPr lang="zh-CN" altLang="en-US" sz="2200" dirty="0">
                <a:latin typeface="楷体_GB2312"/>
                <a:ea typeface="楷体_GB2312"/>
                <a:cs typeface="楷体_GB2312"/>
              </a:rPr>
              <a:t>。</a:t>
            </a:r>
          </a:p>
          <a:p>
            <a:pPr marL="577850" lvl="1" indent="-12700" algn="just">
              <a:buFontTx/>
              <a:buNone/>
            </a:pPr>
            <a:r>
              <a:rPr lang="zh-CN" altLang="en-US" sz="2200" dirty="0">
                <a:latin typeface="楷体_GB2312"/>
                <a:ea typeface="楷体_GB2312"/>
                <a:cs typeface="楷体_GB2312"/>
              </a:rPr>
              <a:t>（</a:t>
            </a:r>
            <a:r>
              <a:rPr lang="en-US" altLang="zh-CN" sz="2200" dirty="0">
                <a:latin typeface="楷体_GB2312"/>
                <a:ea typeface="楷体_GB2312"/>
                <a:cs typeface="楷体_GB2312"/>
              </a:rPr>
              <a:t>2</a:t>
            </a:r>
            <a:r>
              <a:rPr lang="zh-CN" altLang="en-US" sz="2200" dirty="0">
                <a:latin typeface="楷体_GB2312"/>
                <a:ea typeface="楷体_GB2312"/>
                <a:cs typeface="楷体_GB2312"/>
              </a:rPr>
              <a:t>）如果属性</a:t>
            </a:r>
            <a:r>
              <a:rPr lang="en-US" altLang="zh-CN" sz="2200" dirty="0">
                <a:latin typeface="楷体_GB2312"/>
                <a:ea typeface="楷体_GB2312"/>
                <a:cs typeface="楷体_GB2312"/>
              </a:rPr>
              <a:t>X</a:t>
            </a:r>
            <a:r>
              <a:rPr lang="zh-CN" altLang="en-US" sz="2200" dirty="0">
                <a:latin typeface="楷体_GB2312"/>
                <a:ea typeface="楷体_GB2312"/>
                <a:cs typeface="楷体_GB2312"/>
              </a:rPr>
              <a:t>与</a:t>
            </a:r>
            <a:r>
              <a:rPr lang="en-US" altLang="zh-CN" sz="2200" dirty="0">
                <a:latin typeface="楷体_GB2312"/>
                <a:ea typeface="楷体_GB2312"/>
                <a:cs typeface="楷体_GB2312"/>
              </a:rPr>
              <a:t>Y</a:t>
            </a:r>
            <a:r>
              <a:rPr lang="zh-CN" altLang="en-US" sz="2200" dirty="0">
                <a:latin typeface="楷体_GB2312"/>
                <a:ea typeface="楷体_GB2312"/>
                <a:cs typeface="楷体_GB2312"/>
              </a:rPr>
              <a:t>有</a:t>
            </a:r>
            <a:r>
              <a:rPr lang="en-US" altLang="zh-CN" sz="2400" b="1" dirty="0">
                <a:solidFill>
                  <a:srgbClr val="FFFF00"/>
                </a:solidFill>
                <a:latin typeface="楷体_GB2312"/>
                <a:ea typeface="楷体_GB2312"/>
                <a:cs typeface="楷体_GB2312"/>
              </a:rPr>
              <a:t>1:m</a:t>
            </a:r>
            <a:r>
              <a:rPr lang="zh-CN" altLang="en-US" sz="2200" dirty="0">
                <a:latin typeface="楷体_GB2312"/>
                <a:ea typeface="楷体_GB2312"/>
                <a:cs typeface="楷体_GB2312"/>
              </a:rPr>
              <a:t>的联系时，则只存在函数依赖</a:t>
            </a:r>
            <a:r>
              <a:rPr lang="en-US" altLang="zh-CN" sz="2400" b="1" dirty="0">
                <a:solidFill>
                  <a:srgbClr val="FFFF00"/>
                </a:solidFill>
                <a:latin typeface="楷体_GB2312"/>
                <a:ea typeface="楷体_GB2312"/>
                <a:cs typeface="楷体_GB2312"/>
              </a:rPr>
              <a:t>X→Y</a:t>
            </a:r>
            <a:r>
              <a:rPr lang="zh-CN" altLang="en-US" sz="2200" dirty="0">
                <a:latin typeface="楷体_GB2312"/>
                <a:ea typeface="楷体_GB2312"/>
                <a:cs typeface="楷体_GB2312"/>
              </a:rPr>
              <a:t>。</a:t>
            </a:r>
          </a:p>
          <a:p>
            <a:pPr marL="577850" lvl="1" indent="-12700" algn="just">
              <a:buFontTx/>
              <a:buNone/>
            </a:pPr>
            <a:r>
              <a:rPr lang="zh-CN" altLang="en-US" sz="2200" dirty="0">
                <a:latin typeface="楷体_GB2312"/>
                <a:ea typeface="楷体_GB2312"/>
                <a:cs typeface="楷体_GB2312"/>
              </a:rPr>
              <a:t>     例如，</a:t>
            </a:r>
            <a:r>
              <a:rPr lang="en-US" altLang="zh-CN" sz="2200" dirty="0">
                <a:latin typeface="楷体_GB2312"/>
                <a:ea typeface="楷体_GB2312"/>
                <a:cs typeface="楷体_GB2312"/>
              </a:rPr>
              <a:t>SNO</a:t>
            </a:r>
            <a:r>
              <a:rPr lang="zh-CN" altLang="en-US" sz="2200" dirty="0">
                <a:latin typeface="楷体_GB2312"/>
                <a:ea typeface="楷体_GB2312"/>
                <a:cs typeface="楷体_GB2312"/>
              </a:rPr>
              <a:t>与</a:t>
            </a:r>
            <a:r>
              <a:rPr lang="en-US" altLang="zh-CN" sz="2200" dirty="0">
                <a:latin typeface="楷体_GB2312"/>
                <a:ea typeface="楷体_GB2312"/>
                <a:cs typeface="楷体_GB2312"/>
              </a:rPr>
              <a:t>AGE</a:t>
            </a:r>
            <a:r>
              <a:rPr lang="zh-CN" altLang="en-US" sz="2200" dirty="0">
                <a:latin typeface="楷体_GB2312"/>
                <a:ea typeface="楷体_GB2312"/>
                <a:cs typeface="楷体_GB2312"/>
              </a:rPr>
              <a:t>，</a:t>
            </a:r>
            <a:r>
              <a:rPr lang="en-US" altLang="zh-CN" sz="2200" dirty="0">
                <a:latin typeface="楷体_GB2312"/>
                <a:ea typeface="楷体_GB2312"/>
                <a:cs typeface="楷体_GB2312"/>
              </a:rPr>
              <a:t>DEPT</a:t>
            </a:r>
            <a:r>
              <a:rPr lang="zh-CN" altLang="en-US" sz="2200" dirty="0">
                <a:latin typeface="楷体_GB2312"/>
                <a:ea typeface="楷体_GB2312"/>
                <a:cs typeface="楷体_GB2312"/>
              </a:rPr>
              <a:t>之间均为</a:t>
            </a:r>
            <a:r>
              <a:rPr lang="en-US" altLang="zh-CN" sz="2200" dirty="0">
                <a:latin typeface="楷体_GB2312"/>
                <a:ea typeface="楷体_GB2312"/>
                <a:cs typeface="楷体_GB2312"/>
              </a:rPr>
              <a:t>1:m</a:t>
            </a:r>
            <a:r>
              <a:rPr lang="zh-CN" altLang="en-US" sz="2200" dirty="0">
                <a:latin typeface="楷体_GB2312"/>
                <a:ea typeface="楷体_GB2312"/>
                <a:cs typeface="楷体_GB2312"/>
              </a:rPr>
              <a:t>联系，所以有</a:t>
            </a:r>
            <a:r>
              <a:rPr lang="en-US" altLang="zh-CN" sz="2200" dirty="0">
                <a:latin typeface="楷体_GB2312"/>
                <a:ea typeface="楷体_GB2312"/>
                <a:cs typeface="楷体_GB2312"/>
              </a:rPr>
              <a:t>SNO→AGE</a:t>
            </a:r>
            <a:r>
              <a:rPr lang="zh-CN" altLang="en-US" sz="2200" dirty="0">
                <a:latin typeface="楷体_GB2312"/>
                <a:ea typeface="楷体_GB2312"/>
                <a:cs typeface="楷体_GB2312"/>
              </a:rPr>
              <a:t>，</a:t>
            </a:r>
            <a:r>
              <a:rPr lang="en-US" altLang="zh-CN" sz="2200" dirty="0">
                <a:latin typeface="楷体_GB2312"/>
                <a:ea typeface="楷体_GB2312"/>
                <a:cs typeface="楷体_GB2312"/>
              </a:rPr>
              <a:t>SNO→DEPT</a:t>
            </a:r>
            <a:r>
              <a:rPr lang="zh-CN" altLang="en-US" sz="2200" dirty="0">
                <a:latin typeface="楷体_GB2312"/>
                <a:ea typeface="楷体_GB2312"/>
                <a:cs typeface="楷体_GB2312"/>
              </a:rPr>
              <a:t>。</a:t>
            </a:r>
          </a:p>
          <a:p>
            <a:pPr marL="577850" lvl="1" indent="-12700" algn="just">
              <a:buFontTx/>
              <a:buNone/>
            </a:pPr>
            <a:r>
              <a:rPr lang="zh-CN" altLang="en-US" sz="2200" dirty="0">
                <a:latin typeface="楷体_GB2312"/>
                <a:ea typeface="楷体_GB2312"/>
                <a:cs typeface="楷体_GB2312"/>
              </a:rPr>
              <a:t>（</a:t>
            </a:r>
            <a:r>
              <a:rPr lang="en-US" altLang="zh-CN" sz="2200" dirty="0">
                <a:latin typeface="楷体_GB2312"/>
                <a:ea typeface="楷体_GB2312"/>
                <a:cs typeface="楷体_GB2312"/>
              </a:rPr>
              <a:t>3</a:t>
            </a:r>
            <a:r>
              <a:rPr lang="zh-CN" altLang="en-US" sz="2200" dirty="0">
                <a:latin typeface="楷体_GB2312"/>
                <a:ea typeface="楷体_GB2312"/>
                <a:cs typeface="楷体_GB2312"/>
              </a:rPr>
              <a:t>）如果</a:t>
            </a:r>
            <a:r>
              <a:rPr lang="zh-CN" altLang="en-US" sz="2400" b="1" dirty="0">
                <a:solidFill>
                  <a:srgbClr val="FFFF00"/>
                </a:solidFill>
                <a:latin typeface="楷体_GB2312"/>
                <a:ea typeface="楷体_GB2312"/>
                <a:cs typeface="楷体_GB2312"/>
              </a:rPr>
              <a:t>属性</a:t>
            </a:r>
            <a:r>
              <a:rPr lang="en-US" altLang="zh-CN" sz="2400" b="1" dirty="0">
                <a:solidFill>
                  <a:srgbClr val="FFFF00"/>
                </a:solidFill>
                <a:latin typeface="楷体_GB2312"/>
                <a:ea typeface="楷体_GB2312"/>
                <a:cs typeface="楷体_GB2312"/>
              </a:rPr>
              <a:t>X</a:t>
            </a:r>
            <a:r>
              <a:rPr lang="zh-CN" altLang="en-US" sz="2400" b="1" dirty="0">
                <a:solidFill>
                  <a:srgbClr val="FFFF00"/>
                </a:solidFill>
                <a:latin typeface="楷体_GB2312"/>
                <a:ea typeface="楷体_GB2312"/>
                <a:cs typeface="楷体_GB2312"/>
              </a:rPr>
              <a:t>与</a:t>
            </a:r>
            <a:r>
              <a:rPr lang="en-US" altLang="zh-CN" sz="2400" b="1" dirty="0">
                <a:solidFill>
                  <a:srgbClr val="FFFF00"/>
                </a:solidFill>
                <a:latin typeface="楷体_GB2312"/>
                <a:ea typeface="楷体_GB2312"/>
                <a:cs typeface="楷体_GB2312"/>
              </a:rPr>
              <a:t>Y</a:t>
            </a:r>
            <a:r>
              <a:rPr lang="zh-CN" altLang="en-US" sz="2400" b="1" dirty="0">
                <a:solidFill>
                  <a:srgbClr val="FFFF00"/>
                </a:solidFill>
                <a:latin typeface="楷体_GB2312"/>
                <a:ea typeface="楷体_GB2312"/>
                <a:cs typeface="楷体_GB2312"/>
              </a:rPr>
              <a:t>有</a:t>
            </a:r>
            <a:r>
              <a:rPr lang="en-US" altLang="zh-CN" sz="2400" b="1" dirty="0">
                <a:solidFill>
                  <a:srgbClr val="FFFF00"/>
                </a:solidFill>
                <a:latin typeface="楷体_GB2312"/>
                <a:ea typeface="楷体_GB2312"/>
                <a:cs typeface="楷体_GB2312"/>
              </a:rPr>
              <a:t>m: n</a:t>
            </a:r>
            <a:r>
              <a:rPr lang="zh-CN" altLang="en-US" sz="2400" b="1" dirty="0">
                <a:solidFill>
                  <a:srgbClr val="FFFF00"/>
                </a:solidFill>
                <a:latin typeface="楷体_GB2312"/>
                <a:ea typeface="楷体_GB2312"/>
                <a:cs typeface="楷体_GB2312"/>
              </a:rPr>
              <a:t>的联系</a:t>
            </a:r>
            <a:r>
              <a:rPr lang="zh-CN" altLang="en-US" sz="2200" dirty="0">
                <a:latin typeface="楷体_GB2312"/>
                <a:ea typeface="楷体_GB2312"/>
                <a:cs typeface="楷体_GB2312"/>
              </a:rPr>
              <a:t>时，则</a:t>
            </a:r>
            <a:r>
              <a:rPr lang="en-US" altLang="zh-CN" sz="2200" dirty="0">
                <a:latin typeface="楷体_GB2312"/>
                <a:ea typeface="楷体_GB2312"/>
                <a:cs typeface="楷体_GB2312"/>
              </a:rPr>
              <a:t>X</a:t>
            </a:r>
            <a:r>
              <a:rPr lang="zh-CN" altLang="en-US" sz="2200" dirty="0">
                <a:latin typeface="楷体_GB2312"/>
                <a:ea typeface="楷体_GB2312"/>
                <a:cs typeface="楷体_GB2312"/>
              </a:rPr>
              <a:t>与</a:t>
            </a:r>
            <a:r>
              <a:rPr lang="en-US" altLang="zh-CN" sz="2200" dirty="0">
                <a:latin typeface="楷体_GB2312"/>
                <a:ea typeface="楷体_GB2312"/>
                <a:cs typeface="楷体_GB2312"/>
              </a:rPr>
              <a:t>Y</a:t>
            </a:r>
            <a:r>
              <a:rPr lang="zh-CN" altLang="en-US" sz="2200" dirty="0">
                <a:latin typeface="楷体_GB2312"/>
                <a:ea typeface="楷体_GB2312"/>
                <a:cs typeface="楷体_GB2312"/>
              </a:rPr>
              <a:t>之间不存在任何函数依赖关系。</a:t>
            </a:r>
          </a:p>
          <a:p>
            <a:pPr marL="577850" lvl="1" indent="-12700" algn="just">
              <a:buFontTx/>
              <a:buNone/>
            </a:pPr>
            <a:r>
              <a:rPr lang="zh-CN" altLang="en-US" sz="2200" dirty="0">
                <a:latin typeface="楷体_GB2312"/>
                <a:ea typeface="楷体_GB2312"/>
                <a:cs typeface="楷体_GB2312"/>
              </a:rPr>
              <a:t>     例如，一个学生可以选修多门课程，一门课程又可以为多个学生选修，所以</a:t>
            </a:r>
            <a:r>
              <a:rPr lang="en-US" altLang="zh-CN" sz="2200" dirty="0">
                <a:latin typeface="楷体_GB2312"/>
                <a:ea typeface="楷体_GB2312"/>
                <a:cs typeface="楷体_GB2312"/>
              </a:rPr>
              <a:t>SNO</a:t>
            </a:r>
            <a:r>
              <a:rPr lang="zh-CN" altLang="en-US" sz="2200" dirty="0">
                <a:latin typeface="楷体_GB2312"/>
                <a:ea typeface="楷体_GB2312"/>
                <a:cs typeface="楷体_GB2312"/>
              </a:rPr>
              <a:t>与</a:t>
            </a:r>
            <a:r>
              <a:rPr lang="en-US" altLang="zh-CN" sz="2200" dirty="0">
                <a:latin typeface="楷体_GB2312"/>
                <a:ea typeface="楷体_GB2312"/>
                <a:cs typeface="楷体_GB2312"/>
              </a:rPr>
              <a:t>CNO</a:t>
            </a:r>
            <a:r>
              <a:rPr lang="zh-CN" altLang="en-US" sz="2200" dirty="0">
                <a:latin typeface="楷体_GB2312"/>
                <a:ea typeface="楷体_GB2312"/>
                <a:cs typeface="楷体_GB2312"/>
              </a:rPr>
              <a:t>之间不存在函数依赖关系。</a:t>
            </a:r>
          </a:p>
          <a:p>
            <a:pPr marL="577850" lvl="1" indent="-12700" algn="just"/>
            <a:endParaRPr lang="zh-CN" altLang="en-US" sz="2200" dirty="0">
              <a:latin typeface="楷体_GB2312"/>
              <a:ea typeface="楷体_GB2312"/>
              <a:cs typeface="楷体_GB2312"/>
            </a:endParaRPr>
          </a:p>
          <a:p>
            <a:pPr marL="187325" indent="-187325"/>
            <a:r>
              <a:rPr lang="zh-CN" altLang="en-US" sz="2200" dirty="0">
                <a:latin typeface="楷体_GB2312"/>
                <a:ea typeface="楷体_GB2312"/>
                <a:cs typeface="楷体_GB2312"/>
              </a:rPr>
              <a:t>由于函数依赖与属性之间的联系类型有关，所以在确定属性间的函数依赖关系时，可以从分析属性间的联系类型入手，便可确定属性间的函数依赖。 </a:t>
            </a:r>
          </a:p>
        </p:txBody>
      </p:sp>
      <p:sp>
        <p:nvSpPr>
          <p:cNvPr id="32771" name="Rectangle 3"/>
          <p:cNvSpPr>
            <a:spLocks noChangeArrowheads="1"/>
          </p:cNvSpPr>
          <p:nvPr/>
        </p:nvSpPr>
        <p:spPr bwMode="auto">
          <a:xfrm>
            <a:off x="5962651" y="3357563"/>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kumimoji="1" lang="zh-CN" altLang="en-US">
              <a:solidFill>
                <a:srgbClr val="000000"/>
              </a:solidFill>
              <a:latin typeface="Tahoma" pitchFamily="34" charset="0"/>
              <a:ea typeface="宋体" pitchFamily="2" charset="-122"/>
            </a:endParaRPr>
          </a:p>
        </p:txBody>
      </p:sp>
      <p:graphicFrame>
        <p:nvGraphicFramePr>
          <p:cNvPr id="32772" name="Object 4"/>
          <p:cNvGraphicFramePr>
            <a:graphicFrameLocks noChangeAspect="1"/>
          </p:cNvGraphicFramePr>
          <p:nvPr>
            <p:extLst/>
          </p:nvPr>
        </p:nvGraphicFramePr>
        <p:xfrm>
          <a:off x="1703512" y="1772816"/>
          <a:ext cx="432048" cy="217488"/>
        </p:xfrm>
        <a:graphic>
          <a:graphicData uri="http://schemas.openxmlformats.org/presentationml/2006/ole">
            <mc:AlternateContent xmlns:mc="http://schemas.openxmlformats.org/markup-compatibility/2006">
              <mc:Choice xmlns:v="urn:schemas-microsoft-com:vml" Requires="v">
                <p:oleObj spid="_x0000_s1034" r:id="rId4" imgW="203112" imgH="139639" progId="Equation.3">
                  <p:embed/>
                </p:oleObj>
              </mc:Choice>
              <mc:Fallback>
                <p:oleObj r:id="rId4" imgW="203112" imgH="139639" progId="Equation.3">
                  <p:embed/>
                  <p:pic>
                    <p:nvPicPr>
                      <p:cNvPr id="3277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3512" y="1772816"/>
                        <a:ext cx="432048" cy="217488"/>
                      </a:xfrm>
                      <a:prstGeom prst="rect">
                        <a:avLst/>
                      </a:prstGeom>
                      <a:solidFill>
                        <a:schemeClr val="bg1"/>
                      </a:solidFill>
                      <a:ln>
                        <a:noFill/>
                      </a:ln>
                      <a:extLst/>
                    </p:spPr>
                  </p:pic>
                </p:oleObj>
              </mc:Fallback>
            </mc:AlternateContent>
          </a:graphicData>
        </a:graphic>
      </p:graphicFrame>
      <p:pic>
        <p:nvPicPr>
          <p:cNvPr id="2" name="图片 1"/>
          <p:cNvPicPr>
            <a:picLocks noChangeAspect="1"/>
          </p:cNvPicPr>
          <p:nvPr/>
        </p:nvPicPr>
        <p:blipFill>
          <a:blip r:embed="rId6"/>
          <a:stretch>
            <a:fillRect/>
          </a:stretch>
        </p:blipFill>
        <p:spPr>
          <a:xfrm>
            <a:off x="6456040" y="2204864"/>
            <a:ext cx="396563" cy="230000"/>
          </a:xfrm>
          <a:prstGeom prst="rect">
            <a:avLst/>
          </a:prstGeom>
        </p:spPr>
      </p:pic>
    </p:spTree>
    <p:extLst>
      <p:ext uri="{BB962C8B-B14F-4D97-AF65-F5344CB8AC3E}">
        <p14:creationId xmlns:p14="http://schemas.microsoft.com/office/powerpoint/2010/main" val="702403128"/>
      </p:ext>
    </p:extLst>
  </p:cSld>
  <p:clrMapOvr>
    <a:masterClrMapping/>
  </p:clrMapOvr>
  <p:transition spd="slow">
    <p:wipe dir="r"/>
    <p:sndAc>
      <p:stSnd>
        <p:snd r:embed="rId3" name="arrow.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263353" y="565150"/>
            <a:ext cx="11616267" cy="6292850"/>
          </a:xfrm>
        </p:spPr>
        <p:txBody>
          <a:bodyPr/>
          <a:lstStyle/>
          <a:p>
            <a:pPr algn="just">
              <a:buFontTx/>
              <a:buNone/>
            </a:pPr>
            <a:r>
              <a:rPr lang="en-US" altLang="zh-CN" sz="2400" b="1" dirty="0">
                <a:solidFill>
                  <a:srgbClr val="FFFF00"/>
                </a:solidFill>
                <a:latin typeface="楷体_GB2312"/>
                <a:ea typeface="楷体_GB2312"/>
                <a:cs typeface="楷体_GB2312"/>
              </a:rPr>
              <a:t>4</a:t>
            </a:r>
            <a:r>
              <a:rPr lang="zh-CN" altLang="en-US" sz="2400" b="1" dirty="0">
                <a:solidFill>
                  <a:srgbClr val="FFFF00"/>
                </a:solidFill>
                <a:latin typeface="楷体_GB2312"/>
                <a:ea typeface="楷体_GB2312"/>
                <a:cs typeface="楷体_GB2312"/>
              </a:rPr>
              <a:t>．函数依赖关系的存在与时间无关。</a:t>
            </a:r>
          </a:p>
          <a:p>
            <a:pPr lvl="1"/>
            <a:r>
              <a:rPr lang="zh-CN" altLang="en-US" sz="2400" b="1" dirty="0">
                <a:latin typeface="楷体_GB2312"/>
                <a:ea typeface="楷体_GB2312"/>
                <a:cs typeface="楷体_GB2312"/>
              </a:rPr>
              <a:t>因为函数依赖是指关系中的</a:t>
            </a:r>
            <a:r>
              <a:rPr lang="zh-CN" altLang="en-US" sz="2400" b="1" dirty="0">
                <a:solidFill>
                  <a:srgbClr val="FFFF00"/>
                </a:solidFill>
                <a:latin typeface="楷体_GB2312"/>
                <a:ea typeface="楷体_GB2312"/>
                <a:cs typeface="楷体_GB2312"/>
              </a:rPr>
              <a:t>所有元组</a:t>
            </a:r>
            <a:r>
              <a:rPr lang="zh-CN" altLang="en-US" sz="2400" b="1" dirty="0">
                <a:latin typeface="楷体_GB2312"/>
                <a:ea typeface="楷体_GB2312"/>
                <a:cs typeface="楷体_GB2312"/>
              </a:rPr>
              <a:t>应该满足的</a:t>
            </a:r>
            <a:r>
              <a:rPr lang="zh-CN" altLang="en-US" sz="2400" b="1" dirty="0">
                <a:solidFill>
                  <a:srgbClr val="FFFF00"/>
                </a:solidFill>
                <a:latin typeface="楷体_GB2312"/>
                <a:ea typeface="楷体_GB2312"/>
                <a:cs typeface="楷体_GB2312"/>
              </a:rPr>
              <a:t>约束条件</a:t>
            </a:r>
            <a:r>
              <a:rPr lang="zh-CN" altLang="en-US" sz="2400" b="1" dirty="0">
                <a:latin typeface="楷体_GB2312"/>
                <a:ea typeface="楷体_GB2312"/>
                <a:cs typeface="楷体_GB2312"/>
              </a:rPr>
              <a:t>，而不是指关系中</a:t>
            </a:r>
            <a:r>
              <a:rPr lang="zh-CN" altLang="en-US" sz="2400" b="1" dirty="0">
                <a:solidFill>
                  <a:srgbClr val="FFFF00"/>
                </a:solidFill>
                <a:latin typeface="楷体_GB2312"/>
                <a:ea typeface="楷体_GB2312"/>
                <a:cs typeface="楷体_GB2312"/>
              </a:rPr>
              <a:t>某个或某些元组</a:t>
            </a:r>
            <a:r>
              <a:rPr lang="zh-CN" altLang="en-US" sz="2400" b="1" dirty="0">
                <a:latin typeface="楷体_GB2312"/>
                <a:ea typeface="楷体_GB2312"/>
                <a:cs typeface="楷体_GB2312"/>
              </a:rPr>
              <a:t>所满足的约束条件。</a:t>
            </a:r>
          </a:p>
          <a:p>
            <a:pPr lvl="1"/>
            <a:r>
              <a:rPr lang="zh-CN" altLang="en-US" sz="2400" b="1" dirty="0">
                <a:latin typeface="楷体_GB2312"/>
                <a:ea typeface="楷体_GB2312"/>
                <a:cs typeface="楷体_GB2312"/>
              </a:rPr>
              <a:t>当关系中的元组</a:t>
            </a:r>
            <a:r>
              <a:rPr lang="zh-CN" altLang="en-US" sz="2400" b="1" dirty="0">
                <a:solidFill>
                  <a:srgbClr val="FFFF00"/>
                </a:solidFill>
                <a:latin typeface="楷体_GB2312"/>
                <a:ea typeface="楷体_GB2312"/>
                <a:cs typeface="楷体_GB2312"/>
              </a:rPr>
              <a:t>增加、删除或更新</a:t>
            </a:r>
            <a:r>
              <a:rPr lang="zh-CN" altLang="en-US" sz="2400" b="1" dirty="0">
                <a:latin typeface="楷体_GB2312"/>
                <a:ea typeface="楷体_GB2312"/>
                <a:cs typeface="楷体_GB2312"/>
              </a:rPr>
              <a:t>后都不能破坏这种函数依赖。</a:t>
            </a:r>
          </a:p>
          <a:p>
            <a:pPr lvl="1"/>
            <a:r>
              <a:rPr lang="zh-CN" altLang="en-US" sz="2400" b="1" dirty="0">
                <a:latin typeface="楷体_GB2312"/>
                <a:ea typeface="楷体_GB2312"/>
                <a:cs typeface="楷体_GB2312"/>
              </a:rPr>
              <a:t>因此，必须根据语义来确定属性之间的函数依赖，而不能</a:t>
            </a:r>
            <a:r>
              <a:rPr lang="zh-CN" altLang="en-US" sz="2400" b="1" dirty="0">
                <a:solidFill>
                  <a:srgbClr val="FFFF00"/>
                </a:solidFill>
                <a:latin typeface="楷体_GB2312"/>
                <a:ea typeface="楷体_GB2312"/>
                <a:cs typeface="楷体_GB2312"/>
              </a:rPr>
              <a:t>单凭某一时刻关系中的实际数据值来判断</a:t>
            </a:r>
            <a:r>
              <a:rPr lang="zh-CN" altLang="en-US" sz="2400" b="1" dirty="0">
                <a:latin typeface="楷体_GB2312"/>
                <a:ea typeface="楷体_GB2312"/>
                <a:cs typeface="楷体_GB2312"/>
              </a:rPr>
              <a:t>。</a:t>
            </a:r>
          </a:p>
          <a:p>
            <a:pPr lvl="1"/>
            <a:r>
              <a:rPr lang="zh-CN" altLang="en-US" sz="2400" b="1" dirty="0">
                <a:latin typeface="楷体_GB2312"/>
                <a:ea typeface="楷体_GB2312"/>
                <a:cs typeface="楷体_GB2312"/>
              </a:rPr>
              <a:t>例如，对于关系模式</a:t>
            </a:r>
            <a:r>
              <a:rPr lang="en-US" altLang="zh-CN" sz="2400" b="1" dirty="0">
                <a:latin typeface="楷体_GB2312"/>
                <a:ea typeface="楷体_GB2312"/>
                <a:cs typeface="楷体_GB2312"/>
              </a:rPr>
              <a:t>S</a:t>
            </a:r>
            <a:r>
              <a:rPr lang="zh-CN" altLang="en-US" sz="2400" b="1" dirty="0">
                <a:latin typeface="楷体_GB2312"/>
                <a:ea typeface="楷体_GB2312"/>
                <a:cs typeface="楷体_GB2312"/>
              </a:rPr>
              <a:t>，假设没有给出无重名的学生这种语义规定，则即使当前关系中没有重名的记录，也只能存在函数依赖</a:t>
            </a:r>
            <a:r>
              <a:rPr lang="en-US" altLang="zh-CN" sz="2400" b="1" dirty="0" err="1">
                <a:latin typeface="楷体_GB2312"/>
                <a:ea typeface="楷体_GB2312"/>
                <a:cs typeface="楷体_GB2312"/>
              </a:rPr>
              <a:t>SNO→SN</a:t>
            </a:r>
            <a:r>
              <a:rPr lang="zh-CN" altLang="en-US" sz="2400" b="1" dirty="0">
                <a:latin typeface="楷体_GB2312"/>
                <a:ea typeface="楷体_GB2312"/>
                <a:cs typeface="楷体_GB2312"/>
              </a:rPr>
              <a:t>，而不能存在函数依赖</a:t>
            </a:r>
            <a:r>
              <a:rPr lang="en-US" altLang="zh-CN" sz="2400" b="1" dirty="0" err="1">
                <a:latin typeface="楷体_GB2312"/>
                <a:ea typeface="楷体_GB2312"/>
                <a:cs typeface="楷体_GB2312"/>
              </a:rPr>
              <a:t>SN→SNO</a:t>
            </a:r>
            <a:r>
              <a:rPr lang="zh-CN" altLang="en-US" sz="2400" b="1" dirty="0">
                <a:latin typeface="楷体_GB2312"/>
                <a:ea typeface="楷体_GB2312"/>
                <a:cs typeface="楷体_GB2312"/>
              </a:rPr>
              <a:t>，因为如果新增加一个重名的学生，函数依赖</a:t>
            </a:r>
            <a:r>
              <a:rPr lang="en-US" altLang="zh-CN" sz="2400" b="1" dirty="0" err="1">
                <a:latin typeface="楷体_GB2312"/>
                <a:ea typeface="楷体_GB2312"/>
                <a:cs typeface="楷体_GB2312"/>
              </a:rPr>
              <a:t>SN→SNO</a:t>
            </a:r>
            <a:r>
              <a:rPr lang="zh-CN" altLang="en-US" sz="2400" b="1" dirty="0">
                <a:latin typeface="楷体_GB2312"/>
                <a:ea typeface="楷体_GB2312"/>
                <a:cs typeface="楷体_GB2312"/>
              </a:rPr>
              <a:t>必然不成立。</a:t>
            </a:r>
          </a:p>
          <a:p>
            <a:pPr lvl="1"/>
            <a:r>
              <a:rPr lang="zh-CN" altLang="en-US" sz="2400" b="1" dirty="0">
                <a:latin typeface="楷体_GB2312"/>
                <a:ea typeface="楷体_GB2312"/>
                <a:cs typeface="楷体_GB2312"/>
              </a:rPr>
              <a:t>所以函数依赖关系的存在</a:t>
            </a:r>
            <a:r>
              <a:rPr lang="zh-CN" altLang="en-US" sz="2400" b="1" dirty="0">
                <a:solidFill>
                  <a:srgbClr val="FFFF00"/>
                </a:solidFill>
                <a:latin typeface="楷体_GB2312"/>
                <a:ea typeface="楷体_GB2312"/>
                <a:cs typeface="楷体_GB2312"/>
              </a:rPr>
              <a:t>与时间无关</a:t>
            </a:r>
            <a:r>
              <a:rPr lang="zh-CN" altLang="en-US" sz="2400" b="1" dirty="0">
                <a:latin typeface="楷体_GB2312"/>
                <a:ea typeface="楷体_GB2312"/>
                <a:cs typeface="楷体_GB2312"/>
              </a:rPr>
              <a:t>，而只与数据之间的</a:t>
            </a:r>
            <a:r>
              <a:rPr lang="zh-CN" altLang="en-US" sz="2400" b="1" dirty="0">
                <a:solidFill>
                  <a:srgbClr val="FFFF00"/>
                </a:solidFill>
                <a:latin typeface="楷体_GB2312"/>
                <a:ea typeface="楷体_GB2312"/>
                <a:cs typeface="楷体_GB2312"/>
              </a:rPr>
              <a:t>语义规定</a:t>
            </a:r>
            <a:r>
              <a:rPr lang="zh-CN" altLang="en-US" sz="2400" b="1" dirty="0">
                <a:latin typeface="楷体_GB2312"/>
                <a:ea typeface="楷体_GB2312"/>
                <a:cs typeface="楷体_GB2312"/>
              </a:rPr>
              <a:t>有关。 </a:t>
            </a:r>
          </a:p>
        </p:txBody>
      </p:sp>
    </p:spTree>
    <p:extLst>
      <p:ext uri="{BB962C8B-B14F-4D97-AF65-F5344CB8AC3E}">
        <p14:creationId xmlns:p14="http://schemas.microsoft.com/office/powerpoint/2010/main" val="1211427141"/>
      </p:ext>
    </p:extLst>
  </p:cSld>
  <p:clrMapOvr>
    <a:masterClrMapping/>
  </p:clrMapOvr>
  <p:transition spd="slow">
    <p:wipe dir="r"/>
    <p:sndAc>
      <p:stSnd>
        <p:snd r:embed="rId2" name="arrow.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xfrm>
            <a:off x="191347" y="620688"/>
            <a:ext cx="11808884" cy="6364288"/>
          </a:xfrm>
        </p:spPr>
        <p:txBody>
          <a:bodyPr/>
          <a:lstStyle/>
          <a:p>
            <a:pPr algn="just">
              <a:buFontTx/>
              <a:buNone/>
            </a:pPr>
            <a:r>
              <a:rPr lang="en-US" altLang="zh-CN" sz="2800" b="1" dirty="0">
                <a:solidFill>
                  <a:srgbClr val="FFFF00"/>
                </a:solidFill>
                <a:latin typeface="楷体_GB2312"/>
                <a:ea typeface="楷体_GB2312"/>
                <a:cs typeface="楷体_GB2312"/>
              </a:rPr>
              <a:t>5</a:t>
            </a:r>
            <a:r>
              <a:rPr lang="zh-CN" altLang="en-US" sz="2800" b="1" dirty="0">
                <a:solidFill>
                  <a:srgbClr val="FFFF00"/>
                </a:solidFill>
                <a:latin typeface="楷体_GB2312"/>
                <a:ea typeface="楷体_GB2312"/>
                <a:cs typeface="楷体_GB2312"/>
              </a:rPr>
              <a:t>．函数依赖可以保证关系分解的无损连接性</a:t>
            </a:r>
            <a:r>
              <a:rPr lang="zh-CN" altLang="en-US" sz="2800" b="1" dirty="0">
                <a:solidFill>
                  <a:srgbClr val="0066CC"/>
                </a:solidFill>
                <a:latin typeface="楷体_GB2312"/>
                <a:ea typeface="楷体_GB2312"/>
                <a:cs typeface="楷体_GB2312"/>
              </a:rPr>
              <a:t>。</a:t>
            </a:r>
          </a:p>
          <a:p>
            <a:pPr lvl="1" algn="just"/>
            <a:r>
              <a:rPr lang="zh-CN" altLang="en-US" sz="2800" b="1" dirty="0">
                <a:latin typeface="楷体_GB2312"/>
                <a:ea typeface="楷体_GB2312"/>
                <a:cs typeface="楷体_GB2312"/>
              </a:rPr>
              <a:t>设</a:t>
            </a:r>
            <a:r>
              <a:rPr lang="en-US" altLang="zh-CN" sz="2800" b="1" dirty="0">
                <a:latin typeface="楷体_GB2312"/>
                <a:ea typeface="楷体_GB2312"/>
                <a:cs typeface="楷体_GB2312"/>
              </a:rPr>
              <a:t>R</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X</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Y</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Z</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X</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Y</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Z</a:t>
            </a:r>
            <a:r>
              <a:rPr lang="zh-CN" altLang="en-US" sz="2800" b="1" dirty="0">
                <a:latin typeface="楷体_GB2312"/>
                <a:ea typeface="楷体_GB2312"/>
                <a:cs typeface="楷体_GB2312"/>
              </a:rPr>
              <a:t>为</a:t>
            </a:r>
            <a:r>
              <a:rPr lang="zh-CN" altLang="en-US" sz="2800" b="1" dirty="0">
                <a:solidFill>
                  <a:srgbClr val="FFFF00"/>
                </a:solidFill>
                <a:latin typeface="楷体_GB2312"/>
                <a:ea typeface="楷体_GB2312"/>
                <a:cs typeface="楷体_GB2312"/>
              </a:rPr>
              <a:t>不相交</a:t>
            </a:r>
            <a:r>
              <a:rPr lang="zh-CN" altLang="en-US" sz="2800" b="1" dirty="0">
                <a:latin typeface="楷体_GB2312"/>
                <a:ea typeface="楷体_GB2312"/>
                <a:cs typeface="楷体_GB2312"/>
              </a:rPr>
              <a:t>的属性集合，如果</a:t>
            </a:r>
            <a:r>
              <a:rPr lang="en-US" altLang="zh-CN" sz="2800" b="1" dirty="0" err="1">
                <a:latin typeface="楷体_GB2312"/>
                <a:ea typeface="楷体_GB2312"/>
                <a:cs typeface="楷体_GB2312"/>
              </a:rPr>
              <a:t>X→Y</a:t>
            </a:r>
            <a:r>
              <a:rPr lang="zh-CN" altLang="en-US" sz="2800" b="1" dirty="0">
                <a:latin typeface="楷体_GB2312"/>
                <a:ea typeface="楷体_GB2312"/>
                <a:cs typeface="楷体_GB2312"/>
              </a:rPr>
              <a:t>或</a:t>
            </a:r>
            <a:r>
              <a:rPr lang="en-US" altLang="zh-CN" sz="2800" b="1" dirty="0" err="1">
                <a:latin typeface="楷体_GB2312"/>
                <a:ea typeface="楷体_GB2312"/>
                <a:cs typeface="楷体_GB2312"/>
              </a:rPr>
              <a:t>X→Z</a:t>
            </a:r>
            <a:r>
              <a:rPr lang="en-US" altLang="zh-CN" sz="2800" b="1" dirty="0">
                <a:latin typeface="楷体_GB2312"/>
                <a:ea typeface="楷体_GB2312"/>
                <a:cs typeface="楷体_GB2312"/>
              </a:rPr>
              <a:t>,</a:t>
            </a:r>
            <a:r>
              <a:rPr lang="zh-CN" altLang="en-US" sz="2800" b="1" dirty="0">
                <a:latin typeface="楷体_GB2312"/>
                <a:ea typeface="楷体_GB2312"/>
                <a:cs typeface="楷体_GB2312"/>
              </a:rPr>
              <a:t>则有</a:t>
            </a:r>
            <a:r>
              <a:rPr lang="en-US" altLang="zh-CN" sz="2800" b="1" dirty="0">
                <a:latin typeface="楷体_GB2312"/>
                <a:ea typeface="楷体_GB2312"/>
                <a:cs typeface="楷体_GB2312"/>
              </a:rPr>
              <a:t>R(X</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Y</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Z)=R[X</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Y]*R[X</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Z]</a:t>
            </a:r>
            <a:r>
              <a:rPr lang="zh-CN" altLang="en-US" sz="2800" b="1" dirty="0">
                <a:latin typeface="楷体_GB2312"/>
                <a:ea typeface="楷体_GB2312"/>
                <a:cs typeface="楷体_GB2312"/>
              </a:rPr>
              <a:t>，</a:t>
            </a:r>
          </a:p>
          <a:p>
            <a:pPr lvl="1" algn="just"/>
            <a:r>
              <a:rPr lang="zh-CN" altLang="en-US" sz="2800" b="1" dirty="0">
                <a:latin typeface="楷体_GB2312"/>
                <a:ea typeface="楷体_GB2312"/>
                <a:cs typeface="楷体_GB2312"/>
              </a:rPr>
              <a:t>其中，</a:t>
            </a:r>
            <a:r>
              <a:rPr lang="en-US" altLang="zh-CN" sz="2800" b="1" dirty="0">
                <a:solidFill>
                  <a:srgbClr val="FFFF00"/>
                </a:solidFill>
                <a:latin typeface="楷体_GB2312"/>
                <a:ea typeface="楷体_GB2312"/>
                <a:cs typeface="楷体_GB2312"/>
              </a:rPr>
              <a:t>R[X</a:t>
            </a:r>
            <a:r>
              <a:rPr lang="zh-CN" altLang="en-US" sz="2800" b="1" dirty="0">
                <a:solidFill>
                  <a:srgbClr val="FFFF00"/>
                </a:solidFill>
                <a:latin typeface="楷体_GB2312"/>
                <a:ea typeface="楷体_GB2312"/>
                <a:cs typeface="楷体_GB2312"/>
              </a:rPr>
              <a:t>，</a:t>
            </a:r>
            <a:r>
              <a:rPr lang="en-US" altLang="zh-CN" sz="2800" b="1" dirty="0">
                <a:solidFill>
                  <a:srgbClr val="FFFF00"/>
                </a:solidFill>
                <a:latin typeface="楷体_GB2312"/>
                <a:ea typeface="楷体_GB2312"/>
                <a:cs typeface="楷体_GB2312"/>
              </a:rPr>
              <a:t>Y]</a:t>
            </a:r>
            <a:r>
              <a:rPr lang="zh-CN" altLang="en-US" sz="2800" b="1" dirty="0">
                <a:latin typeface="楷体_GB2312"/>
                <a:ea typeface="楷体_GB2312"/>
                <a:cs typeface="楷体_GB2312"/>
              </a:rPr>
              <a:t>表示关系</a:t>
            </a:r>
            <a:r>
              <a:rPr lang="en-US" altLang="zh-CN" sz="2800" b="1" dirty="0">
                <a:latin typeface="楷体_GB2312"/>
                <a:ea typeface="楷体_GB2312"/>
                <a:cs typeface="楷体_GB2312"/>
              </a:rPr>
              <a:t>R</a:t>
            </a:r>
            <a:r>
              <a:rPr lang="zh-CN" altLang="en-US" sz="2800" b="1" dirty="0">
                <a:latin typeface="楷体_GB2312"/>
                <a:ea typeface="楷体_GB2312"/>
                <a:cs typeface="楷体_GB2312"/>
              </a:rPr>
              <a:t>在属性</a:t>
            </a:r>
            <a:r>
              <a:rPr lang="zh-CN" altLang="en-US" sz="2800" b="1" dirty="0">
                <a:solidFill>
                  <a:srgbClr val="FFFF00"/>
                </a:solidFill>
                <a:latin typeface="楷体_GB2312"/>
                <a:ea typeface="楷体_GB2312"/>
                <a:cs typeface="楷体_GB2312"/>
              </a:rPr>
              <a:t>（</a:t>
            </a:r>
            <a:r>
              <a:rPr lang="en-US" altLang="zh-CN" sz="2800" b="1" dirty="0">
                <a:solidFill>
                  <a:srgbClr val="FFFF00"/>
                </a:solidFill>
                <a:latin typeface="楷体_GB2312"/>
                <a:ea typeface="楷体_GB2312"/>
                <a:cs typeface="楷体_GB2312"/>
              </a:rPr>
              <a:t>X</a:t>
            </a:r>
            <a:r>
              <a:rPr lang="zh-CN" altLang="en-US" sz="2800" b="1" dirty="0">
                <a:solidFill>
                  <a:srgbClr val="FFFF00"/>
                </a:solidFill>
                <a:latin typeface="楷体_GB2312"/>
                <a:ea typeface="楷体_GB2312"/>
                <a:cs typeface="楷体_GB2312"/>
              </a:rPr>
              <a:t>，</a:t>
            </a:r>
            <a:r>
              <a:rPr lang="en-US" altLang="zh-CN" sz="2800" b="1" dirty="0">
                <a:solidFill>
                  <a:srgbClr val="FFFF00"/>
                </a:solidFill>
                <a:latin typeface="楷体_GB2312"/>
                <a:ea typeface="楷体_GB2312"/>
                <a:cs typeface="楷体_GB2312"/>
              </a:rPr>
              <a:t>Y</a:t>
            </a:r>
            <a:r>
              <a:rPr lang="zh-CN" altLang="en-US" sz="2800" b="1" dirty="0">
                <a:solidFill>
                  <a:srgbClr val="FFFF00"/>
                </a:solidFill>
                <a:latin typeface="楷体_GB2312"/>
                <a:ea typeface="楷体_GB2312"/>
                <a:cs typeface="楷体_GB2312"/>
              </a:rPr>
              <a:t>）</a:t>
            </a:r>
            <a:r>
              <a:rPr lang="zh-CN" altLang="en-US" sz="2800" b="1" dirty="0">
                <a:latin typeface="楷体_GB2312"/>
                <a:ea typeface="楷体_GB2312"/>
                <a:cs typeface="楷体_GB2312"/>
              </a:rPr>
              <a:t>上的投影，即</a:t>
            </a:r>
            <a:r>
              <a:rPr lang="en-US" altLang="zh-CN" sz="2800" b="1" dirty="0">
                <a:latin typeface="楷体_GB2312"/>
                <a:ea typeface="楷体_GB2312"/>
                <a:cs typeface="楷体_GB2312"/>
              </a:rPr>
              <a:t>R</a:t>
            </a:r>
            <a:r>
              <a:rPr lang="zh-CN" altLang="en-US" sz="2800" b="1" dirty="0">
                <a:latin typeface="楷体_GB2312"/>
                <a:ea typeface="楷体_GB2312"/>
                <a:cs typeface="楷体_GB2312"/>
              </a:rPr>
              <a:t>等于其投影在</a:t>
            </a:r>
            <a:r>
              <a:rPr lang="en-US" altLang="zh-CN" sz="2800" b="1" dirty="0">
                <a:latin typeface="楷体_GB2312"/>
                <a:ea typeface="楷体_GB2312"/>
                <a:cs typeface="楷体_GB2312"/>
              </a:rPr>
              <a:t>X</a:t>
            </a:r>
            <a:r>
              <a:rPr lang="zh-CN" altLang="en-US" sz="2800" b="1" dirty="0">
                <a:latin typeface="楷体_GB2312"/>
                <a:ea typeface="楷体_GB2312"/>
                <a:cs typeface="楷体_GB2312"/>
              </a:rPr>
              <a:t>上的自然连接，这样便保证了关系</a:t>
            </a:r>
            <a:r>
              <a:rPr lang="en-US" altLang="zh-CN" sz="2800" b="1" dirty="0">
                <a:latin typeface="楷体_GB2312"/>
                <a:ea typeface="楷体_GB2312"/>
                <a:cs typeface="楷体_GB2312"/>
              </a:rPr>
              <a:t>R</a:t>
            </a:r>
            <a:r>
              <a:rPr lang="zh-CN" altLang="en-US" sz="2800" b="1" dirty="0">
                <a:latin typeface="楷体_GB2312"/>
                <a:ea typeface="楷体_GB2312"/>
                <a:cs typeface="楷体_GB2312"/>
              </a:rPr>
              <a:t>分解后不会丢失原有的信息，称作</a:t>
            </a:r>
            <a:r>
              <a:rPr lang="zh-CN" altLang="en-US" sz="2800" b="1" dirty="0">
                <a:solidFill>
                  <a:srgbClr val="FFFF00"/>
                </a:solidFill>
                <a:latin typeface="楷体_GB2312"/>
                <a:ea typeface="楷体_GB2312"/>
                <a:cs typeface="楷体_GB2312"/>
              </a:rPr>
              <a:t>关系分解的无损连接性</a:t>
            </a:r>
            <a:r>
              <a:rPr lang="zh-CN" altLang="en-US" sz="2800" b="1" dirty="0">
                <a:latin typeface="楷体_GB2312"/>
                <a:ea typeface="楷体_GB2312"/>
                <a:cs typeface="楷体_GB2312"/>
              </a:rPr>
              <a:t>。</a:t>
            </a:r>
          </a:p>
          <a:p>
            <a:pPr lvl="1"/>
            <a:r>
              <a:rPr lang="zh-CN" altLang="en-US" sz="2800" b="1" dirty="0">
                <a:latin typeface="楷体_GB2312"/>
                <a:ea typeface="楷体_GB2312"/>
                <a:cs typeface="楷体_GB2312"/>
              </a:rPr>
              <a:t>例如，对于关系模式</a:t>
            </a:r>
            <a:r>
              <a:rPr lang="en-US" altLang="zh-CN" sz="2800" b="1" dirty="0">
                <a:latin typeface="楷体_GB2312"/>
                <a:ea typeface="楷体_GB2312"/>
                <a:cs typeface="楷体_GB2312"/>
              </a:rPr>
              <a:t>SCD</a:t>
            </a:r>
            <a:r>
              <a:rPr lang="zh-CN" altLang="en-US" sz="2800" b="1" dirty="0">
                <a:latin typeface="楷体_GB2312"/>
                <a:ea typeface="楷体_GB2312"/>
                <a:cs typeface="楷体_GB2312"/>
              </a:rPr>
              <a:t>，有</a:t>
            </a:r>
            <a:r>
              <a:rPr lang="en-US" altLang="zh-CN" sz="2800" b="1" dirty="0" err="1">
                <a:latin typeface="楷体_GB2312"/>
                <a:ea typeface="楷体_GB2312"/>
                <a:cs typeface="楷体_GB2312"/>
              </a:rPr>
              <a:t>SNO</a:t>
            </a:r>
            <a:r>
              <a:rPr lang="en-US" altLang="zh-CN" sz="2800" b="1" dirty="0">
                <a:latin typeface="楷体_GB2312"/>
                <a:ea typeface="楷体_GB2312"/>
                <a:cs typeface="楷体_GB2312"/>
              </a:rPr>
              <a:t>→</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SN</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AGE</a:t>
            </a:r>
            <a:r>
              <a:rPr lang="zh-CN" altLang="en-US" sz="2800" b="1" dirty="0">
                <a:latin typeface="楷体_GB2312"/>
                <a:ea typeface="楷体_GB2312"/>
                <a:cs typeface="楷体_GB2312"/>
              </a:rPr>
              <a:t>，</a:t>
            </a:r>
            <a:r>
              <a:rPr lang="en-US" altLang="zh-CN" sz="2800" b="1" dirty="0" err="1">
                <a:latin typeface="楷体_GB2312"/>
                <a:ea typeface="楷体_GB2312"/>
                <a:cs typeface="楷体_GB2312"/>
              </a:rPr>
              <a:t>DEPT</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MN</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SCD</a:t>
            </a:r>
            <a:r>
              <a:rPr lang="zh-CN" altLang="en-US" sz="2800" b="1" dirty="0">
                <a:latin typeface="楷体_GB2312"/>
                <a:ea typeface="楷体_GB2312"/>
                <a:cs typeface="楷体_GB2312"/>
              </a:rPr>
              <a:t>（</a:t>
            </a:r>
            <a:r>
              <a:rPr lang="en-US" altLang="zh-CN" sz="2800" b="1" dirty="0" err="1">
                <a:latin typeface="楷体_GB2312"/>
                <a:ea typeface="楷体_GB2312"/>
                <a:cs typeface="楷体_GB2312"/>
              </a:rPr>
              <a:t>SNO</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SN</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AGE</a:t>
            </a:r>
            <a:r>
              <a:rPr lang="zh-CN" altLang="en-US" sz="2800" b="1" dirty="0">
                <a:latin typeface="楷体_GB2312"/>
                <a:ea typeface="楷体_GB2312"/>
                <a:cs typeface="楷体_GB2312"/>
              </a:rPr>
              <a:t>，</a:t>
            </a:r>
            <a:r>
              <a:rPr lang="en-US" altLang="zh-CN" sz="2800" b="1" dirty="0" err="1">
                <a:latin typeface="楷体_GB2312"/>
                <a:ea typeface="楷体_GB2312"/>
                <a:cs typeface="楷体_GB2312"/>
              </a:rPr>
              <a:t>DEPT</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MN</a:t>
            </a:r>
            <a:r>
              <a:rPr lang="zh-CN" altLang="en-US" sz="2800" b="1" dirty="0">
                <a:latin typeface="楷体_GB2312"/>
                <a:ea typeface="楷体_GB2312"/>
                <a:cs typeface="楷体_GB2312"/>
              </a:rPr>
              <a:t>，</a:t>
            </a:r>
            <a:r>
              <a:rPr lang="en-US" altLang="zh-CN" sz="2800" b="1" dirty="0" err="1">
                <a:latin typeface="楷体_GB2312"/>
                <a:ea typeface="楷体_GB2312"/>
                <a:cs typeface="楷体_GB2312"/>
              </a:rPr>
              <a:t>CNO</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SCORE</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=SCD[</a:t>
            </a:r>
            <a:r>
              <a:rPr lang="en-US" altLang="zh-CN" sz="2800" b="1" dirty="0" err="1">
                <a:latin typeface="楷体_GB2312"/>
                <a:ea typeface="楷体_GB2312"/>
                <a:cs typeface="楷体_GB2312"/>
              </a:rPr>
              <a:t>SNO</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SN</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AGE</a:t>
            </a:r>
            <a:r>
              <a:rPr lang="zh-CN" altLang="en-US" sz="2800" b="1" dirty="0">
                <a:latin typeface="楷体_GB2312"/>
                <a:ea typeface="楷体_GB2312"/>
                <a:cs typeface="楷体_GB2312"/>
              </a:rPr>
              <a:t>，</a:t>
            </a:r>
            <a:r>
              <a:rPr lang="en-US" altLang="zh-CN" sz="2800" b="1" dirty="0" err="1">
                <a:latin typeface="楷体_GB2312"/>
                <a:ea typeface="楷体_GB2312"/>
                <a:cs typeface="楷体_GB2312"/>
              </a:rPr>
              <a:t>DEPT</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MN]*SCD[</a:t>
            </a:r>
            <a:r>
              <a:rPr lang="en-US" altLang="zh-CN" sz="2800" b="1" dirty="0" err="1">
                <a:latin typeface="楷体_GB2312"/>
                <a:ea typeface="楷体_GB2312"/>
                <a:cs typeface="楷体_GB2312"/>
              </a:rPr>
              <a:t>SNO</a:t>
            </a:r>
            <a:r>
              <a:rPr lang="zh-CN" altLang="en-US" sz="2800" b="1" dirty="0">
                <a:latin typeface="楷体_GB2312"/>
                <a:ea typeface="楷体_GB2312"/>
                <a:cs typeface="楷体_GB2312"/>
              </a:rPr>
              <a:t>，</a:t>
            </a:r>
            <a:r>
              <a:rPr lang="en-US" altLang="zh-CN" sz="2800" b="1" dirty="0" err="1">
                <a:latin typeface="楷体_GB2312"/>
                <a:ea typeface="楷体_GB2312"/>
                <a:cs typeface="楷体_GB2312"/>
              </a:rPr>
              <a:t>CNO</a:t>
            </a:r>
            <a:r>
              <a:rPr lang="zh-CN" altLang="en-US" sz="2800" b="1" dirty="0">
                <a:latin typeface="楷体_GB2312"/>
                <a:ea typeface="楷体_GB2312"/>
                <a:cs typeface="楷体_GB2312"/>
              </a:rPr>
              <a:t>，</a:t>
            </a:r>
            <a:r>
              <a:rPr lang="en-US" altLang="zh-CN" sz="2800" b="1" dirty="0">
                <a:latin typeface="楷体_GB2312"/>
                <a:ea typeface="楷体_GB2312"/>
                <a:cs typeface="楷体_GB2312"/>
              </a:rPr>
              <a:t>SCORE]</a:t>
            </a:r>
            <a:r>
              <a:rPr lang="zh-CN" altLang="en-US" sz="2800" b="1" dirty="0">
                <a:latin typeface="楷体_GB2312"/>
                <a:ea typeface="楷体_GB2312"/>
                <a:cs typeface="楷体_GB2312"/>
              </a:rPr>
              <a:t>，也就是说，用其投影在</a:t>
            </a:r>
            <a:r>
              <a:rPr lang="en-US" altLang="zh-CN" sz="2800" b="1" dirty="0" err="1">
                <a:latin typeface="楷体_GB2312"/>
                <a:ea typeface="楷体_GB2312"/>
                <a:cs typeface="楷体_GB2312"/>
              </a:rPr>
              <a:t>SNO</a:t>
            </a:r>
            <a:r>
              <a:rPr lang="zh-CN" altLang="en-US" sz="2800" b="1" dirty="0">
                <a:latin typeface="楷体_GB2312"/>
                <a:ea typeface="楷体_GB2312"/>
                <a:cs typeface="楷体_GB2312"/>
              </a:rPr>
              <a:t>上的自然连接可复原关系模式</a:t>
            </a:r>
            <a:r>
              <a:rPr lang="en-US" altLang="zh-CN" sz="2800" b="1" dirty="0">
                <a:latin typeface="楷体_GB2312"/>
                <a:ea typeface="楷体_GB2312"/>
                <a:cs typeface="楷体_GB2312"/>
              </a:rPr>
              <a:t>SCD</a:t>
            </a:r>
            <a:r>
              <a:rPr lang="zh-CN" altLang="en-US" sz="2800" b="1" dirty="0">
                <a:latin typeface="楷体_GB2312"/>
                <a:ea typeface="楷体_GB2312"/>
                <a:cs typeface="楷体_GB2312"/>
              </a:rPr>
              <a:t>。</a:t>
            </a:r>
          </a:p>
          <a:p>
            <a:pPr lvl="1"/>
            <a:r>
              <a:rPr lang="zh-CN" altLang="en-US" sz="2800" b="1" dirty="0">
                <a:latin typeface="楷体_GB2312"/>
                <a:ea typeface="楷体_GB2312"/>
                <a:cs typeface="楷体_GB2312"/>
              </a:rPr>
              <a:t>这一性质非常重要，在后一节的</a:t>
            </a:r>
            <a:r>
              <a:rPr lang="zh-CN" altLang="en-US" sz="2800" b="1" dirty="0">
                <a:solidFill>
                  <a:srgbClr val="FFFF00"/>
                </a:solidFill>
                <a:latin typeface="楷体_GB2312"/>
                <a:ea typeface="楷体_GB2312"/>
                <a:cs typeface="楷体_GB2312"/>
              </a:rPr>
              <a:t>关系规范化</a:t>
            </a:r>
            <a:r>
              <a:rPr lang="zh-CN" altLang="en-US" sz="2800" b="1" dirty="0">
                <a:latin typeface="楷体_GB2312"/>
                <a:ea typeface="楷体_GB2312"/>
                <a:cs typeface="楷体_GB2312"/>
              </a:rPr>
              <a:t>中要用到。 </a:t>
            </a:r>
          </a:p>
        </p:txBody>
      </p:sp>
    </p:spTree>
    <p:extLst>
      <p:ext uri="{BB962C8B-B14F-4D97-AF65-F5344CB8AC3E}">
        <p14:creationId xmlns:p14="http://schemas.microsoft.com/office/powerpoint/2010/main" val="727047959"/>
      </p:ext>
    </p:extLst>
  </p:cSld>
  <p:clrMapOvr>
    <a:masterClrMapping/>
  </p:clrMapOvr>
  <p:transition spd="slow">
    <p:wipe dir="r"/>
    <p:sndAc>
      <p:stSnd>
        <p:snd r:embed="rId2" name="arrow.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DB79645-7CD2-47B0-8B79-EAF6CEF02C46}"/>
              </a:ext>
            </a:extLst>
          </p:cNvPr>
          <p:cNvGrpSpPr/>
          <p:nvPr/>
        </p:nvGrpSpPr>
        <p:grpSpPr>
          <a:xfrm>
            <a:off x="882510" y="932098"/>
            <a:ext cx="10326041" cy="1901250"/>
            <a:chOff x="1022351" y="1060988"/>
            <a:chExt cx="10326041" cy="1901250"/>
          </a:xfrm>
        </p:grpSpPr>
        <p:sp>
          <p:nvSpPr>
            <p:cNvPr id="1485828" name="Rectangle 4"/>
            <p:cNvSpPr>
              <a:spLocks noChangeArrowheads="1"/>
            </p:cNvSpPr>
            <p:nvPr/>
          </p:nvSpPr>
          <p:spPr bwMode="auto">
            <a:xfrm>
              <a:off x="1022351" y="1060988"/>
              <a:ext cx="10326041" cy="647700"/>
            </a:xfrm>
            <a:prstGeom prst="rect">
              <a:avLst/>
            </a:prstGeom>
            <a:noFill/>
            <a:ln w="9525">
              <a:noFill/>
              <a:miter lim="800000"/>
              <a:headEnd/>
              <a:tailEnd/>
            </a:ln>
            <a:effectLst/>
          </p:spPr>
          <p:txBody>
            <a:bodyPr/>
            <a:lstStyle/>
            <a:p>
              <a:pPr marL="0" marR="0" lvl="0" indent="0" algn="just" defTabSz="914400" rtl="0" eaLnBrk="1" fontAlgn="base" latinLnBrk="0" hangingPunct="1">
                <a:lnSpc>
                  <a:spcPct val="110000"/>
                </a:lnSpc>
                <a:spcBef>
                  <a:spcPct val="0"/>
                </a:spcBef>
                <a:spcAft>
                  <a:spcPct val="4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设</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R(U)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是一个关系模式，</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和</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都是</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的子集，且存在</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。若对于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的任何一个真子集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都有</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j-ea"/>
                  <a:ea typeface="+mj-ea"/>
                  <a:cs typeface="+mn-cs"/>
                </a:rPr>
                <a:t>完全函数依赖</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记作</a:t>
              </a:r>
              <a:r>
                <a:rPr kumimoji="1"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j-ea"/>
                  <a:ea typeface="+mj-ea"/>
                  <a:cs typeface="+mn-cs"/>
                </a:rPr>
                <a:t>X   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；若对于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的某一个真子集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j-ea"/>
                  <a:ea typeface="+mj-ea"/>
                  <a:cs typeface="+mn-cs"/>
                </a:rPr>
                <a:t>部分函数依赖</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记作</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     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endParaRPr>
            </a:p>
          </p:txBody>
        </p:sp>
        <p:sp>
          <p:nvSpPr>
            <p:cNvPr id="1485829" name="Line 5"/>
            <p:cNvSpPr>
              <a:spLocks noChangeShapeType="1"/>
            </p:cNvSpPr>
            <p:nvPr/>
          </p:nvSpPr>
          <p:spPr bwMode="auto">
            <a:xfrm>
              <a:off x="5754543" y="2464438"/>
              <a:ext cx="457200" cy="0"/>
            </a:xfrm>
            <a:prstGeom prst="line">
              <a:avLst/>
            </a:prstGeom>
            <a:noFill/>
            <a:ln w="38100" cap="sq">
              <a:solidFill>
                <a:srgbClr val="FFFF00"/>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485830" name="Text Box 6"/>
            <p:cNvSpPr txBox="1">
              <a:spLocks noChangeArrowheads="1"/>
            </p:cNvSpPr>
            <p:nvPr/>
          </p:nvSpPr>
          <p:spPr bwMode="auto">
            <a:xfrm>
              <a:off x="5902564" y="2161372"/>
              <a:ext cx="84959" cy="276999"/>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楷体_GB2312" pitchFamily="49" charset="-122"/>
                  <a:cs typeface="+mn-cs"/>
                </a:rPr>
                <a:t>f</a:t>
              </a:r>
            </a:p>
          </p:txBody>
        </p:sp>
        <p:sp>
          <p:nvSpPr>
            <p:cNvPr id="1485831" name="Line 7"/>
            <p:cNvSpPr>
              <a:spLocks noChangeShapeType="1"/>
            </p:cNvSpPr>
            <p:nvPr/>
          </p:nvSpPr>
          <p:spPr bwMode="auto">
            <a:xfrm>
              <a:off x="9264352" y="1771071"/>
              <a:ext cx="76200" cy="228600"/>
            </a:xfrm>
            <a:prstGeom prst="line">
              <a:avLst/>
            </a:prstGeom>
            <a:noFill/>
            <a:ln w="38100" cap="sq">
              <a:solidFill>
                <a:srgbClr val="CCFFCC"/>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485832" name="Line 8"/>
            <p:cNvSpPr>
              <a:spLocks noChangeShapeType="1"/>
            </p:cNvSpPr>
            <p:nvPr/>
          </p:nvSpPr>
          <p:spPr bwMode="auto">
            <a:xfrm>
              <a:off x="9449810" y="2962238"/>
              <a:ext cx="457200" cy="0"/>
            </a:xfrm>
            <a:prstGeom prst="line">
              <a:avLst/>
            </a:prstGeom>
            <a:noFill/>
            <a:ln w="38100" cap="sq">
              <a:solidFill>
                <a:srgbClr val="FFFF00"/>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485833" name="Text Box 9"/>
            <p:cNvSpPr txBox="1">
              <a:spLocks noChangeArrowheads="1"/>
            </p:cNvSpPr>
            <p:nvPr/>
          </p:nvSpPr>
          <p:spPr bwMode="auto">
            <a:xfrm>
              <a:off x="9566541" y="2535655"/>
              <a:ext cx="153888" cy="332399"/>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cs typeface="+mn-cs"/>
                </a:rPr>
                <a:t>p</a:t>
              </a:r>
            </a:p>
          </p:txBody>
        </p:sp>
      </p:grpSp>
      <p:sp>
        <p:nvSpPr>
          <p:cNvPr id="1485847" name="Rectangle 23"/>
          <p:cNvSpPr>
            <a:spLocks noChangeArrowheads="1"/>
          </p:cNvSpPr>
          <p:nvPr/>
        </p:nvSpPr>
        <p:spPr bwMode="auto">
          <a:xfrm>
            <a:off x="7052968" y="4701096"/>
            <a:ext cx="4515639"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50000"/>
              </a:lnSpc>
              <a:spcBef>
                <a:spcPct val="35000"/>
              </a:spcBef>
              <a:spcAft>
                <a:spcPct val="0"/>
              </a:spcAft>
              <a:buClrTx/>
              <a:buSzTx/>
              <a:buFontTx/>
              <a:buNone/>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sym typeface="Symbol" pitchFamily="18" charset="2"/>
              </a:rPr>
              <a:t>(学号,课名)         成绩</a:t>
            </a:r>
            <a:endPar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endParaRPr>
          </a:p>
          <a:p>
            <a:pPr marL="0" marR="0" lvl="0" indent="0" algn="l" defTabSz="914400" rtl="0" eaLnBrk="1" fontAlgn="base" latinLnBrk="0" hangingPunct="1">
              <a:lnSpc>
                <a:spcPct val="150000"/>
              </a:lnSpc>
              <a:spcBef>
                <a:spcPct val="35000"/>
              </a:spcBef>
              <a:spcAft>
                <a:spcPct val="0"/>
              </a:spcAft>
              <a:buClrTx/>
              <a:buSzTx/>
              <a:buFontTx/>
              <a:buNone/>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sym typeface="Symbol" pitchFamily="18" charset="2"/>
              </a:rPr>
              <a:t>(学号,课名)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学分</a:t>
            </a:r>
          </a:p>
        </p:txBody>
      </p:sp>
      <p:sp>
        <p:nvSpPr>
          <p:cNvPr id="1485848" name="Line 24"/>
          <p:cNvSpPr>
            <a:spLocks noChangeShapeType="1"/>
          </p:cNvSpPr>
          <p:nvPr/>
        </p:nvSpPr>
        <p:spPr bwMode="auto">
          <a:xfrm>
            <a:off x="9216418" y="5080685"/>
            <a:ext cx="588996" cy="0"/>
          </a:xfrm>
          <a:prstGeom prst="line">
            <a:avLst/>
          </a:prstGeom>
          <a:noFill/>
          <a:ln w="38100" cap="sq">
            <a:solidFill>
              <a:schemeClr val="bg1"/>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j-ea"/>
              <a:ea typeface="+mj-ea"/>
              <a:cs typeface="+mn-cs"/>
            </a:endParaRPr>
          </a:p>
        </p:txBody>
      </p:sp>
      <p:sp>
        <p:nvSpPr>
          <p:cNvPr id="1485849" name="Text Box 25"/>
          <p:cNvSpPr txBox="1">
            <a:spLocks noChangeArrowheads="1"/>
          </p:cNvSpPr>
          <p:nvPr/>
        </p:nvSpPr>
        <p:spPr bwMode="auto">
          <a:xfrm>
            <a:off x="9429006" y="4577248"/>
            <a:ext cx="154883" cy="430887"/>
          </a:xfrm>
          <a:prstGeom prst="rect">
            <a:avLst/>
          </a:prstGeom>
          <a:noFill/>
          <a:ln w="12700" cap="sq">
            <a:noFill/>
            <a:miter lim="800000"/>
            <a:headEnd/>
            <a:tailEnd/>
          </a:ln>
          <a:effectLst/>
        </p:spPr>
        <p:txBody>
          <a:bodyPr wrap="squar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楷体" panose="02010609060101010101" pitchFamily="49" charset="-122"/>
                <a:cs typeface="Times New Roman" panose="02020603050405020304" pitchFamily="18" charset="0"/>
              </a:rPr>
              <a:t>f</a:t>
            </a:r>
          </a:p>
        </p:txBody>
      </p:sp>
      <p:sp>
        <p:nvSpPr>
          <p:cNvPr id="1485850" name="Line 26"/>
          <p:cNvSpPr>
            <a:spLocks noChangeShapeType="1"/>
          </p:cNvSpPr>
          <p:nvPr/>
        </p:nvSpPr>
        <p:spPr bwMode="auto">
          <a:xfrm>
            <a:off x="9208491" y="6015507"/>
            <a:ext cx="588996" cy="0"/>
          </a:xfrm>
          <a:prstGeom prst="line">
            <a:avLst/>
          </a:prstGeom>
          <a:noFill/>
          <a:ln w="38100" cap="sq">
            <a:solidFill>
              <a:schemeClr val="bg1"/>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j-ea"/>
              <a:ea typeface="+mj-ea"/>
              <a:cs typeface="+mn-cs"/>
            </a:endParaRPr>
          </a:p>
        </p:txBody>
      </p:sp>
      <p:sp>
        <p:nvSpPr>
          <p:cNvPr id="1485851" name="Text Box 27"/>
          <p:cNvSpPr txBox="1">
            <a:spLocks noChangeArrowheads="1"/>
          </p:cNvSpPr>
          <p:nvPr/>
        </p:nvSpPr>
        <p:spPr bwMode="auto">
          <a:xfrm>
            <a:off x="9382876" y="5512070"/>
            <a:ext cx="231291" cy="430887"/>
          </a:xfrm>
          <a:prstGeom prst="rect">
            <a:avLst/>
          </a:prstGeom>
          <a:noFill/>
          <a:ln w="12700" cap="sq">
            <a:noFill/>
            <a:miter lim="800000"/>
            <a:headEnd/>
            <a:tailEnd/>
          </a:ln>
          <a:effectLst/>
        </p:spPr>
        <p:txBody>
          <a:bodyPr wrap="squar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pitchFamily="18" charset="0"/>
                <a:ea typeface="楷体" panose="02010609060101010101" pitchFamily="49" charset="-122"/>
                <a:cs typeface="Times New Roman" panose="02020603050405020304" pitchFamily="18" charset="0"/>
              </a:rPr>
              <a:t>p</a:t>
            </a:r>
          </a:p>
        </p:txBody>
      </p:sp>
      <p:sp>
        <p:nvSpPr>
          <p:cNvPr id="29" name="Text Box 2"/>
          <p:cNvSpPr txBox="1">
            <a:spLocks noChangeArrowheads="1"/>
          </p:cNvSpPr>
          <p:nvPr/>
        </p:nvSpPr>
        <p:spPr bwMode="auto">
          <a:xfrm>
            <a:off x="882510" y="2925"/>
            <a:ext cx="4679949"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en-US" dirty="0"/>
              <a:t>完全</a:t>
            </a:r>
            <a:r>
              <a:rPr lang="en-US" altLang="zh-CN" dirty="0"/>
              <a:t>/</a:t>
            </a:r>
            <a:r>
              <a:rPr lang="zh-CN" altLang="en-US" dirty="0"/>
              <a:t>部分函数依赖</a:t>
            </a:r>
          </a:p>
        </p:txBody>
      </p:sp>
      <p:grpSp>
        <p:nvGrpSpPr>
          <p:cNvPr id="27" name="组合 26">
            <a:extLst>
              <a:ext uri="{FF2B5EF4-FFF2-40B4-BE49-F238E27FC236}">
                <a16:creationId xmlns:a16="http://schemas.microsoft.com/office/drawing/2014/main" id="{DD7402A6-AA23-454F-8DF7-497B195F8AEC}"/>
              </a:ext>
            </a:extLst>
          </p:cNvPr>
          <p:cNvGrpSpPr/>
          <p:nvPr/>
        </p:nvGrpSpPr>
        <p:grpSpPr>
          <a:xfrm>
            <a:off x="1222953" y="3514607"/>
            <a:ext cx="5160385" cy="2911711"/>
            <a:chOff x="2135188" y="3643313"/>
            <a:chExt cx="3498851" cy="2162175"/>
          </a:xfrm>
        </p:grpSpPr>
        <p:sp>
          <p:nvSpPr>
            <p:cNvPr id="28" name="Rectangle 19">
              <a:extLst>
                <a:ext uri="{FF2B5EF4-FFF2-40B4-BE49-F238E27FC236}">
                  <a16:creationId xmlns:a16="http://schemas.microsoft.com/office/drawing/2014/main" id="{AFA0629D-1E47-4BD2-8D11-BBAAD454EFAB}"/>
                </a:ext>
              </a:extLst>
            </p:cNvPr>
            <p:cNvSpPr>
              <a:spLocks noChangeArrowheads="1"/>
            </p:cNvSpPr>
            <p:nvPr/>
          </p:nvSpPr>
          <p:spPr bwMode="auto">
            <a:xfrm>
              <a:off x="3362326" y="4364039"/>
              <a:ext cx="2206625" cy="720725"/>
            </a:xfrm>
            <a:prstGeom prst="rect">
              <a:avLst/>
            </a:prstGeom>
            <a:solidFill>
              <a:srgbClr val="3333FF"/>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FFFFFF"/>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endParaRPr>
            </a:p>
          </p:txBody>
        </p:sp>
        <p:sp>
          <p:nvSpPr>
            <p:cNvPr id="30" name="Rectangle 20">
              <a:extLst>
                <a:ext uri="{FF2B5EF4-FFF2-40B4-BE49-F238E27FC236}">
                  <a16:creationId xmlns:a16="http://schemas.microsoft.com/office/drawing/2014/main" id="{DACF9CD1-A776-4F4C-B783-BC52E3407281}"/>
                </a:ext>
              </a:extLst>
            </p:cNvPr>
            <p:cNvSpPr>
              <a:spLocks noChangeArrowheads="1"/>
            </p:cNvSpPr>
            <p:nvPr/>
          </p:nvSpPr>
          <p:spPr bwMode="auto">
            <a:xfrm>
              <a:off x="3490913" y="4524375"/>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学号</a:t>
              </a:r>
            </a:p>
          </p:txBody>
        </p:sp>
        <p:sp>
          <p:nvSpPr>
            <p:cNvPr id="31" name="Rectangle 21">
              <a:extLst>
                <a:ext uri="{FF2B5EF4-FFF2-40B4-BE49-F238E27FC236}">
                  <a16:creationId xmlns:a16="http://schemas.microsoft.com/office/drawing/2014/main" id="{7C4C4C01-D92E-42C5-A07F-04B22BFE5E27}"/>
                </a:ext>
              </a:extLst>
            </p:cNvPr>
            <p:cNvSpPr>
              <a:spLocks noChangeArrowheads="1"/>
            </p:cNvSpPr>
            <p:nvPr/>
          </p:nvSpPr>
          <p:spPr bwMode="auto">
            <a:xfrm>
              <a:off x="4595814" y="452437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课名</a:t>
              </a:r>
            </a:p>
          </p:txBody>
        </p:sp>
        <p:sp>
          <p:nvSpPr>
            <p:cNvPr id="32" name="Rectangle 22">
              <a:extLst>
                <a:ext uri="{FF2B5EF4-FFF2-40B4-BE49-F238E27FC236}">
                  <a16:creationId xmlns:a16="http://schemas.microsoft.com/office/drawing/2014/main" id="{8F7D0B87-5F1F-4835-8C91-0769D1331294}"/>
                </a:ext>
              </a:extLst>
            </p:cNvPr>
            <p:cNvSpPr>
              <a:spLocks noChangeArrowheads="1"/>
            </p:cNvSpPr>
            <p:nvPr/>
          </p:nvSpPr>
          <p:spPr bwMode="auto">
            <a:xfrm>
              <a:off x="2193926" y="452437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系名</a:t>
              </a:r>
            </a:p>
          </p:txBody>
        </p:sp>
        <p:sp>
          <p:nvSpPr>
            <p:cNvPr id="33" name="Rectangle 23">
              <a:extLst>
                <a:ext uri="{FF2B5EF4-FFF2-40B4-BE49-F238E27FC236}">
                  <a16:creationId xmlns:a16="http://schemas.microsoft.com/office/drawing/2014/main" id="{173AD22E-3CF7-4062-894C-624F2A391744}"/>
                </a:ext>
              </a:extLst>
            </p:cNvPr>
            <p:cNvSpPr>
              <a:spLocks noChangeArrowheads="1"/>
            </p:cNvSpPr>
            <p:nvPr/>
          </p:nvSpPr>
          <p:spPr bwMode="auto">
            <a:xfrm>
              <a:off x="2135188" y="5324475"/>
              <a:ext cx="895350"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系主任</a:t>
              </a:r>
            </a:p>
          </p:txBody>
        </p:sp>
        <p:cxnSp>
          <p:nvCxnSpPr>
            <p:cNvPr id="34" name="AutoShape 24">
              <a:extLst>
                <a:ext uri="{FF2B5EF4-FFF2-40B4-BE49-F238E27FC236}">
                  <a16:creationId xmlns:a16="http://schemas.microsoft.com/office/drawing/2014/main" id="{41E3261E-7F67-451B-812C-B4491C03750F}"/>
                </a:ext>
              </a:extLst>
            </p:cNvPr>
            <p:cNvCxnSpPr>
              <a:cxnSpLocks noChangeShapeType="1"/>
              <a:stCxn id="30" idx="1"/>
              <a:endCxn id="32" idx="3"/>
            </p:cNvCxnSpPr>
            <p:nvPr/>
          </p:nvCxnSpPr>
          <p:spPr bwMode="auto">
            <a:xfrm flipH="1">
              <a:off x="2971801" y="4724400"/>
              <a:ext cx="519113"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35" name="AutoShape 25">
              <a:extLst>
                <a:ext uri="{FF2B5EF4-FFF2-40B4-BE49-F238E27FC236}">
                  <a16:creationId xmlns:a16="http://schemas.microsoft.com/office/drawing/2014/main" id="{0F53525D-1AE1-415D-8E20-94931AF7F947}"/>
                </a:ext>
              </a:extLst>
            </p:cNvPr>
            <p:cNvCxnSpPr>
              <a:cxnSpLocks noChangeShapeType="1"/>
              <a:stCxn id="32" idx="2"/>
              <a:endCxn id="33" idx="0"/>
            </p:cNvCxnSpPr>
            <p:nvPr/>
          </p:nvCxnSpPr>
          <p:spPr bwMode="auto">
            <a:xfrm>
              <a:off x="2582863" y="492442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36" name="Rectangle 26">
              <a:extLst>
                <a:ext uri="{FF2B5EF4-FFF2-40B4-BE49-F238E27FC236}">
                  <a16:creationId xmlns:a16="http://schemas.microsoft.com/office/drawing/2014/main" id="{E7A4B911-7912-45BD-95FF-E7D444E121F2}"/>
                </a:ext>
              </a:extLst>
            </p:cNvPr>
            <p:cNvSpPr>
              <a:spLocks noChangeArrowheads="1"/>
            </p:cNvSpPr>
            <p:nvPr/>
          </p:nvSpPr>
          <p:spPr bwMode="auto">
            <a:xfrm>
              <a:off x="4595813" y="3643313"/>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学分</a:t>
              </a:r>
            </a:p>
          </p:txBody>
        </p:sp>
        <p:cxnSp>
          <p:nvCxnSpPr>
            <p:cNvPr id="37" name="AutoShape 27">
              <a:extLst>
                <a:ext uri="{FF2B5EF4-FFF2-40B4-BE49-F238E27FC236}">
                  <a16:creationId xmlns:a16="http://schemas.microsoft.com/office/drawing/2014/main" id="{5221B55B-60E2-4E35-8945-966F62FDE194}"/>
                </a:ext>
              </a:extLst>
            </p:cNvPr>
            <p:cNvCxnSpPr>
              <a:cxnSpLocks noChangeShapeType="1"/>
              <a:stCxn id="31" idx="0"/>
              <a:endCxn id="36" idx="2"/>
            </p:cNvCxnSpPr>
            <p:nvPr/>
          </p:nvCxnSpPr>
          <p:spPr bwMode="auto">
            <a:xfrm flipV="1">
              <a:off x="4984750" y="4043363"/>
              <a:ext cx="1588" cy="481012"/>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38" name="Rectangle 28">
              <a:extLst>
                <a:ext uri="{FF2B5EF4-FFF2-40B4-BE49-F238E27FC236}">
                  <a16:creationId xmlns:a16="http://schemas.microsoft.com/office/drawing/2014/main" id="{EC9F55A0-2C5F-4239-9823-6E9831BC281E}"/>
                </a:ext>
              </a:extLst>
            </p:cNvPr>
            <p:cNvSpPr>
              <a:spLocks noChangeArrowheads="1"/>
            </p:cNvSpPr>
            <p:nvPr/>
          </p:nvSpPr>
          <p:spPr bwMode="auto">
            <a:xfrm>
              <a:off x="4854576" y="5405438"/>
              <a:ext cx="779463"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成绩</a:t>
              </a:r>
            </a:p>
          </p:txBody>
        </p:sp>
        <p:cxnSp>
          <p:nvCxnSpPr>
            <p:cNvPr id="39" name="AutoShape 29">
              <a:extLst>
                <a:ext uri="{FF2B5EF4-FFF2-40B4-BE49-F238E27FC236}">
                  <a16:creationId xmlns:a16="http://schemas.microsoft.com/office/drawing/2014/main" id="{CD7BB0FA-418D-4883-A4BD-B10411042E67}"/>
                </a:ext>
              </a:extLst>
            </p:cNvPr>
            <p:cNvCxnSpPr>
              <a:cxnSpLocks noChangeShapeType="1"/>
              <a:endCxn id="38" idx="0"/>
            </p:cNvCxnSpPr>
            <p:nvPr/>
          </p:nvCxnSpPr>
          <p:spPr bwMode="auto">
            <a:xfrm>
              <a:off x="5245100" y="5084764"/>
              <a:ext cx="0" cy="320675"/>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40" name="Rectangle 30">
              <a:extLst>
                <a:ext uri="{FF2B5EF4-FFF2-40B4-BE49-F238E27FC236}">
                  <a16:creationId xmlns:a16="http://schemas.microsoft.com/office/drawing/2014/main" id="{A8CFAA1F-E01C-4E1C-98E1-8DF8BF85D100}"/>
                </a:ext>
              </a:extLst>
            </p:cNvPr>
            <p:cNvSpPr>
              <a:spLocks noChangeArrowheads="1"/>
            </p:cNvSpPr>
            <p:nvPr/>
          </p:nvSpPr>
          <p:spPr bwMode="auto">
            <a:xfrm>
              <a:off x="3490913" y="5324475"/>
              <a:ext cx="779462"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姓名</a:t>
              </a:r>
            </a:p>
          </p:txBody>
        </p:sp>
        <p:cxnSp>
          <p:nvCxnSpPr>
            <p:cNvPr id="41" name="AutoShape 31">
              <a:extLst>
                <a:ext uri="{FF2B5EF4-FFF2-40B4-BE49-F238E27FC236}">
                  <a16:creationId xmlns:a16="http://schemas.microsoft.com/office/drawing/2014/main" id="{BF51CC34-39B5-4042-857E-0DFAD5090BC0}"/>
                </a:ext>
              </a:extLst>
            </p:cNvPr>
            <p:cNvCxnSpPr>
              <a:cxnSpLocks noChangeShapeType="1"/>
              <a:stCxn id="30" idx="2"/>
              <a:endCxn id="40" idx="0"/>
            </p:cNvCxnSpPr>
            <p:nvPr/>
          </p:nvCxnSpPr>
          <p:spPr bwMode="auto">
            <a:xfrm>
              <a:off x="3881438" y="492442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med">
    <p:pull/>
    <p:sndAc>
      <p:stSnd>
        <p:snd r:embed="rId2" name="arrow.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xfrm>
            <a:off x="407404" y="692696"/>
            <a:ext cx="11425767" cy="6369050"/>
          </a:xfrm>
        </p:spPr>
        <p:txBody>
          <a:bodyPr/>
          <a:lstStyle/>
          <a:p>
            <a:pPr marL="0" indent="0"/>
            <a:r>
              <a:rPr lang="zh-CN" altLang="en-US" sz="3200" b="1">
                <a:latin typeface="宋体" pitchFamily="2" charset="-122"/>
                <a:ea typeface="宋体" pitchFamily="2" charset="-122"/>
                <a:cs typeface="楷体_GB2312"/>
              </a:rPr>
              <a:t>由定义可知：</a:t>
            </a:r>
          </a:p>
          <a:p>
            <a:pPr marL="179388" lvl="1" indent="0"/>
            <a:r>
              <a:rPr lang="zh-CN" altLang="en-US" b="1">
                <a:latin typeface="宋体" pitchFamily="2" charset="-122"/>
                <a:ea typeface="宋体" pitchFamily="2" charset="-122"/>
                <a:cs typeface="楷体_GB2312"/>
              </a:rPr>
              <a:t>只有当</a:t>
            </a:r>
            <a:r>
              <a:rPr lang="zh-CN" altLang="en-US" b="1">
                <a:solidFill>
                  <a:srgbClr val="FFFF00"/>
                </a:solidFill>
                <a:latin typeface="宋体" pitchFamily="2" charset="-122"/>
                <a:ea typeface="宋体" pitchFamily="2" charset="-122"/>
                <a:cs typeface="楷体_GB2312"/>
              </a:rPr>
              <a:t>决定因素</a:t>
            </a:r>
            <a:r>
              <a:rPr lang="zh-CN" altLang="en-US" b="1">
                <a:latin typeface="宋体" pitchFamily="2" charset="-122"/>
                <a:ea typeface="宋体" pitchFamily="2" charset="-122"/>
                <a:cs typeface="楷体_GB2312"/>
              </a:rPr>
              <a:t>是组合属性时，讨论部分函数依赖才有意义，</a:t>
            </a:r>
          </a:p>
          <a:p>
            <a:pPr marL="179388" lvl="1" indent="0"/>
            <a:r>
              <a:rPr lang="zh-CN" altLang="en-US" b="1">
                <a:latin typeface="宋体" pitchFamily="2" charset="-122"/>
                <a:ea typeface="宋体" pitchFamily="2" charset="-122"/>
                <a:cs typeface="楷体_GB2312"/>
              </a:rPr>
              <a:t>当决定因素是</a:t>
            </a:r>
            <a:r>
              <a:rPr lang="zh-CN" altLang="en-US" b="1">
                <a:solidFill>
                  <a:srgbClr val="FFFF00"/>
                </a:solidFill>
                <a:latin typeface="宋体" pitchFamily="2" charset="-122"/>
                <a:ea typeface="宋体" pitchFamily="2" charset="-122"/>
                <a:cs typeface="楷体_GB2312"/>
              </a:rPr>
              <a:t>单属性</a:t>
            </a:r>
            <a:r>
              <a:rPr lang="zh-CN" altLang="en-US" b="1">
                <a:latin typeface="宋体" pitchFamily="2" charset="-122"/>
                <a:ea typeface="宋体" pitchFamily="2" charset="-122"/>
                <a:cs typeface="楷体_GB2312"/>
              </a:rPr>
              <a:t>时，只能是完全函数依赖。</a:t>
            </a:r>
          </a:p>
          <a:p>
            <a:pPr marL="179388" lvl="1" indent="0"/>
            <a:r>
              <a:rPr lang="zh-CN" altLang="en-US" b="1">
                <a:latin typeface="宋体" pitchFamily="2" charset="-122"/>
                <a:ea typeface="宋体" pitchFamily="2" charset="-122"/>
                <a:cs typeface="楷体_GB2312"/>
              </a:rPr>
              <a:t>例如，在关系模式</a:t>
            </a:r>
            <a:r>
              <a:rPr lang="en-US" altLang="zh-CN" b="1">
                <a:latin typeface="宋体" pitchFamily="2" charset="-122"/>
                <a:ea typeface="宋体" pitchFamily="2" charset="-122"/>
                <a:cs typeface="楷体_GB2312"/>
              </a:rPr>
              <a:t>S</a:t>
            </a:r>
            <a:r>
              <a:rPr lang="zh-CN" altLang="en-US" b="1">
                <a:latin typeface="宋体" pitchFamily="2" charset="-122"/>
                <a:ea typeface="宋体" pitchFamily="2" charset="-122"/>
                <a:cs typeface="楷体_GB2312"/>
              </a:rPr>
              <a:t>（</a:t>
            </a:r>
            <a:r>
              <a:rPr lang="en-US" altLang="zh-CN" b="1">
                <a:latin typeface="宋体" pitchFamily="2" charset="-122"/>
                <a:ea typeface="宋体" pitchFamily="2" charset="-122"/>
                <a:cs typeface="楷体_GB2312"/>
              </a:rPr>
              <a:t>SNO</a:t>
            </a:r>
            <a:r>
              <a:rPr lang="zh-CN" altLang="en-US" b="1">
                <a:latin typeface="宋体" pitchFamily="2" charset="-122"/>
                <a:ea typeface="宋体" pitchFamily="2" charset="-122"/>
                <a:cs typeface="楷体_GB2312"/>
              </a:rPr>
              <a:t>，</a:t>
            </a:r>
            <a:r>
              <a:rPr lang="en-US" altLang="zh-CN" b="1">
                <a:latin typeface="宋体" pitchFamily="2" charset="-122"/>
                <a:ea typeface="宋体" pitchFamily="2" charset="-122"/>
                <a:cs typeface="楷体_GB2312"/>
              </a:rPr>
              <a:t>SN</a:t>
            </a:r>
            <a:r>
              <a:rPr lang="zh-CN" altLang="en-US" b="1">
                <a:latin typeface="宋体" pitchFamily="2" charset="-122"/>
                <a:ea typeface="宋体" pitchFamily="2" charset="-122"/>
                <a:cs typeface="楷体_GB2312"/>
              </a:rPr>
              <a:t>，</a:t>
            </a:r>
            <a:r>
              <a:rPr lang="en-US" altLang="zh-CN" b="1">
                <a:latin typeface="宋体" pitchFamily="2" charset="-122"/>
                <a:ea typeface="宋体" pitchFamily="2" charset="-122"/>
                <a:cs typeface="楷体_GB2312"/>
              </a:rPr>
              <a:t>AGE</a:t>
            </a:r>
            <a:r>
              <a:rPr lang="zh-CN" altLang="en-US" b="1">
                <a:latin typeface="宋体" pitchFamily="2" charset="-122"/>
                <a:ea typeface="宋体" pitchFamily="2" charset="-122"/>
                <a:cs typeface="楷体_GB2312"/>
              </a:rPr>
              <a:t>，</a:t>
            </a:r>
            <a:r>
              <a:rPr lang="en-US" altLang="zh-CN" b="1">
                <a:latin typeface="宋体" pitchFamily="2" charset="-122"/>
                <a:ea typeface="宋体" pitchFamily="2" charset="-122"/>
                <a:cs typeface="楷体_GB2312"/>
              </a:rPr>
              <a:t>DEPT</a:t>
            </a:r>
            <a:r>
              <a:rPr lang="zh-CN" altLang="en-US" b="1">
                <a:latin typeface="宋体" pitchFamily="2" charset="-122"/>
                <a:ea typeface="宋体" pitchFamily="2" charset="-122"/>
                <a:cs typeface="楷体_GB2312"/>
              </a:rPr>
              <a:t>），决定因素为单属性</a:t>
            </a:r>
            <a:r>
              <a:rPr lang="en-US" altLang="zh-CN" b="1">
                <a:latin typeface="宋体" pitchFamily="2" charset="-122"/>
                <a:ea typeface="宋体" pitchFamily="2" charset="-122"/>
                <a:cs typeface="楷体_GB2312"/>
              </a:rPr>
              <a:t>SNO</a:t>
            </a:r>
            <a:r>
              <a:rPr lang="zh-CN" altLang="en-US" b="1">
                <a:latin typeface="宋体" pitchFamily="2" charset="-122"/>
                <a:ea typeface="宋体" pitchFamily="2" charset="-122"/>
                <a:cs typeface="楷体_GB2312"/>
              </a:rPr>
              <a:t>，有</a:t>
            </a:r>
            <a:r>
              <a:rPr lang="en-US" altLang="zh-CN" b="1">
                <a:latin typeface="宋体" pitchFamily="2" charset="-122"/>
                <a:ea typeface="宋体" pitchFamily="2" charset="-122"/>
                <a:cs typeface="楷体_GB2312"/>
              </a:rPr>
              <a:t>SNO→</a:t>
            </a:r>
            <a:r>
              <a:rPr lang="zh-CN" altLang="en-US" b="1">
                <a:latin typeface="宋体" pitchFamily="2" charset="-122"/>
                <a:ea typeface="宋体" pitchFamily="2" charset="-122"/>
                <a:cs typeface="楷体_GB2312"/>
              </a:rPr>
              <a:t>（</a:t>
            </a:r>
            <a:r>
              <a:rPr lang="en-US" altLang="zh-CN" b="1">
                <a:latin typeface="宋体" pitchFamily="2" charset="-122"/>
                <a:ea typeface="宋体" pitchFamily="2" charset="-122"/>
                <a:cs typeface="楷体_GB2312"/>
              </a:rPr>
              <a:t>SN</a:t>
            </a:r>
            <a:r>
              <a:rPr lang="zh-CN" altLang="en-US" b="1">
                <a:latin typeface="宋体" pitchFamily="2" charset="-122"/>
                <a:ea typeface="宋体" pitchFamily="2" charset="-122"/>
                <a:cs typeface="楷体_GB2312"/>
              </a:rPr>
              <a:t>，</a:t>
            </a:r>
            <a:r>
              <a:rPr lang="en-US" altLang="zh-CN" b="1">
                <a:latin typeface="宋体" pitchFamily="2" charset="-122"/>
                <a:ea typeface="宋体" pitchFamily="2" charset="-122"/>
                <a:cs typeface="楷体_GB2312"/>
              </a:rPr>
              <a:t>AGE</a:t>
            </a:r>
            <a:r>
              <a:rPr lang="zh-CN" altLang="en-US" b="1">
                <a:latin typeface="宋体" pitchFamily="2" charset="-122"/>
                <a:ea typeface="宋体" pitchFamily="2" charset="-122"/>
                <a:cs typeface="楷体_GB2312"/>
              </a:rPr>
              <a:t>，</a:t>
            </a:r>
            <a:r>
              <a:rPr lang="en-US" altLang="zh-CN" b="1">
                <a:latin typeface="宋体" pitchFamily="2" charset="-122"/>
                <a:ea typeface="宋体" pitchFamily="2" charset="-122"/>
                <a:cs typeface="楷体_GB2312"/>
              </a:rPr>
              <a:t>DEPT</a:t>
            </a:r>
            <a:r>
              <a:rPr lang="zh-CN" altLang="en-US" b="1">
                <a:latin typeface="宋体" pitchFamily="2" charset="-122"/>
                <a:ea typeface="宋体" pitchFamily="2" charset="-122"/>
                <a:cs typeface="楷体_GB2312"/>
              </a:rPr>
              <a:t>），</a:t>
            </a:r>
            <a:r>
              <a:rPr lang="zh-CN" altLang="en-US" b="1">
                <a:solidFill>
                  <a:srgbClr val="FFFF00"/>
                </a:solidFill>
                <a:latin typeface="宋体" pitchFamily="2" charset="-122"/>
                <a:ea typeface="宋体" pitchFamily="2" charset="-122"/>
                <a:cs typeface="楷体_GB2312"/>
              </a:rPr>
              <a:t>不存在部分函数依赖</a:t>
            </a:r>
            <a:r>
              <a:rPr lang="zh-CN" altLang="en-US" b="1">
                <a:latin typeface="宋体" pitchFamily="2" charset="-122"/>
                <a:ea typeface="宋体" pitchFamily="2" charset="-122"/>
                <a:cs typeface="楷体_GB2312"/>
              </a:rPr>
              <a:t>。 </a:t>
            </a:r>
          </a:p>
        </p:txBody>
      </p:sp>
      <p:sp>
        <p:nvSpPr>
          <p:cNvPr id="37891" name="Rectangle 3"/>
          <p:cNvSpPr>
            <a:spLocks noChangeArrowheads="1"/>
          </p:cNvSpPr>
          <p:nvPr/>
        </p:nvSpPr>
        <p:spPr bwMode="auto">
          <a:xfrm>
            <a:off x="5975351" y="3357563"/>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7892" name="Rectangle 5"/>
          <p:cNvSpPr>
            <a:spLocks noChangeArrowheads="1"/>
          </p:cNvSpPr>
          <p:nvPr/>
        </p:nvSpPr>
        <p:spPr bwMode="auto">
          <a:xfrm>
            <a:off x="5816600" y="3328988"/>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7893" name="Rectangle 7"/>
          <p:cNvSpPr>
            <a:spLocks noChangeArrowheads="1"/>
          </p:cNvSpPr>
          <p:nvPr/>
        </p:nvSpPr>
        <p:spPr bwMode="auto">
          <a:xfrm>
            <a:off x="5816600" y="3328988"/>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extLst>
      <p:ext uri="{BB962C8B-B14F-4D97-AF65-F5344CB8AC3E}">
        <p14:creationId xmlns:p14="http://schemas.microsoft.com/office/powerpoint/2010/main" val="227923952"/>
      </p:ext>
    </p:extLst>
  </p:cSld>
  <p:clrMapOvr>
    <a:masterClrMapping/>
  </p:clrMapOvr>
  <p:transition spd="slow">
    <p:wipe dir="r"/>
    <p:sndAc>
      <p:stSnd>
        <p:snd r:embed="rId2" name="arrow.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3" name="Rectangle 3"/>
          <p:cNvSpPr>
            <a:spLocks noGrp="1" noChangeArrowheads="1"/>
          </p:cNvSpPr>
          <p:nvPr>
            <p:ph type="body" idx="4294967295"/>
          </p:nvPr>
        </p:nvSpPr>
        <p:spPr>
          <a:xfrm>
            <a:off x="551384" y="1196752"/>
            <a:ext cx="10972800" cy="4525963"/>
          </a:xfrm>
        </p:spPr>
        <p:txBody>
          <a:bodyPr/>
          <a:lstStyle/>
          <a:p>
            <a:pPr>
              <a:lnSpc>
                <a:spcPct val="150000"/>
              </a:lnSpc>
            </a:pPr>
            <a:r>
              <a:rPr lang="zh-CN" altLang="en-US" dirty="0" smtClean="0"/>
              <a:t>如果</a:t>
            </a:r>
            <a:r>
              <a:rPr lang="en-US" altLang="zh-CN" dirty="0" smtClean="0"/>
              <a:t>Y</a:t>
            </a:r>
            <a:r>
              <a:rPr lang="zh-CN" altLang="en-US" dirty="0" smtClean="0"/>
              <a:t>对</a:t>
            </a:r>
            <a:r>
              <a:rPr lang="en-US" altLang="zh-CN" dirty="0" smtClean="0"/>
              <a:t>X</a:t>
            </a:r>
            <a:r>
              <a:rPr lang="zh-CN" altLang="en-US" dirty="0" smtClean="0"/>
              <a:t>有部分函数依赖，则说明</a:t>
            </a:r>
            <a:r>
              <a:rPr lang="en-US" altLang="zh-CN" dirty="0" smtClean="0"/>
              <a:t>X</a:t>
            </a:r>
            <a:r>
              <a:rPr lang="zh-CN" altLang="en-US" dirty="0" smtClean="0"/>
              <a:t>中的“一部分”就可以确定</a:t>
            </a:r>
            <a:r>
              <a:rPr lang="en-US" altLang="zh-CN" dirty="0" smtClean="0"/>
              <a:t>Y</a:t>
            </a:r>
            <a:r>
              <a:rPr lang="zh-CN" altLang="en-US" dirty="0" smtClean="0"/>
              <a:t>，从数据依赖的观点来看，</a:t>
            </a:r>
            <a:r>
              <a:rPr lang="en-US" altLang="zh-CN" dirty="0" smtClean="0"/>
              <a:t>X</a:t>
            </a:r>
            <a:r>
              <a:rPr lang="zh-CN" altLang="en-US" dirty="0" smtClean="0"/>
              <a:t>中存在“冗余”的属性。关系模式规范化的第二范式就需要利用完全函数或部分函数依赖来判定。</a:t>
            </a:r>
          </a:p>
        </p:txBody>
      </p:sp>
    </p:spTree>
    <p:extLst>
      <p:ext uri="{BB962C8B-B14F-4D97-AF65-F5344CB8AC3E}">
        <p14:creationId xmlns:p14="http://schemas.microsoft.com/office/powerpoint/2010/main" val="2650771708"/>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6" name="Group 4"/>
          <p:cNvGrpSpPr>
            <a:grpSpLocks/>
          </p:cNvGrpSpPr>
          <p:nvPr/>
        </p:nvGrpSpPr>
        <p:grpSpPr bwMode="auto">
          <a:xfrm>
            <a:off x="7829200" y="4414639"/>
            <a:ext cx="3505200" cy="758826"/>
            <a:chOff x="3138" y="2292"/>
            <a:chExt cx="2208" cy="478"/>
          </a:xfrm>
        </p:grpSpPr>
        <p:sp>
          <p:nvSpPr>
            <p:cNvPr id="1486853" name="Rectangle 5"/>
            <p:cNvSpPr>
              <a:spLocks noChangeArrowheads="1"/>
            </p:cNvSpPr>
            <p:nvPr/>
          </p:nvSpPr>
          <p:spPr bwMode="auto">
            <a:xfrm>
              <a:off x="3138" y="2482"/>
              <a:ext cx="2208" cy="288"/>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35000"/>
                </a:spcBef>
                <a:spcAft>
                  <a:spcPct val="0"/>
                </a:spcAft>
                <a:buClrTx/>
                <a:buSzTx/>
                <a:buFontTx/>
                <a:buNone/>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sym typeface="Symbol" pitchFamily="18" charset="2"/>
                </a:rPr>
                <a:t>学号       系主任</a:t>
              </a:r>
              <a:endPar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endParaRPr>
            </a:p>
          </p:txBody>
        </p:sp>
        <p:sp>
          <p:nvSpPr>
            <p:cNvPr id="1486854" name="Line 6"/>
            <p:cNvSpPr>
              <a:spLocks noChangeShapeType="1"/>
            </p:cNvSpPr>
            <p:nvPr/>
          </p:nvSpPr>
          <p:spPr bwMode="auto">
            <a:xfrm>
              <a:off x="3788" y="2626"/>
              <a:ext cx="288" cy="0"/>
            </a:xfrm>
            <a:prstGeom prst="line">
              <a:avLst/>
            </a:prstGeom>
            <a:noFill/>
            <a:ln w="38100" cap="sq">
              <a:solidFill>
                <a:schemeClr val="bg1"/>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j-ea"/>
                <a:ea typeface="+mj-ea"/>
                <a:cs typeface="+mn-cs"/>
              </a:endParaRPr>
            </a:p>
          </p:txBody>
        </p:sp>
        <p:sp>
          <p:nvSpPr>
            <p:cNvPr id="1486855" name="Text Box 7"/>
            <p:cNvSpPr txBox="1">
              <a:spLocks noChangeArrowheads="1"/>
            </p:cNvSpPr>
            <p:nvPr/>
          </p:nvSpPr>
          <p:spPr bwMode="auto">
            <a:xfrm>
              <a:off x="3882" y="2292"/>
              <a:ext cx="72" cy="310"/>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FFFFFF"/>
                  </a:solidFill>
                  <a:effectLst>
                    <a:outerShdw blurRad="38100" dist="38100" dir="2700000" algn="tl">
                      <a:srgbClr val="000000"/>
                    </a:outerShdw>
                  </a:effectLst>
                  <a:uLnTx/>
                  <a:uFillTx/>
                  <a:latin typeface="+mn-lt"/>
                  <a:ea typeface="+mj-ea"/>
                  <a:cs typeface="+mn-cs"/>
                </a:rPr>
                <a:t>t</a:t>
              </a:r>
            </a:p>
          </p:txBody>
        </p:sp>
      </p:grpSp>
      <p:grpSp>
        <p:nvGrpSpPr>
          <p:cNvPr id="2" name="组合 1">
            <a:extLst>
              <a:ext uri="{FF2B5EF4-FFF2-40B4-BE49-F238E27FC236}">
                <a16:creationId xmlns:a16="http://schemas.microsoft.com/office/drawing/2014/main" id="{A1183C3C-B2E5-4258-9502-DE8854C8C35E}"/>
              </a:ext>
            </a:extLst>
          </p:cNvPr>
          <p:cNvGrpSpPr/>
          <p:nvPr/>
        </p:nvGrpSpPr>
        <p:grpSpPr>
          <a:xfrm>
            <a:off x="1375349" y="3448243"/>
            <a:ext cx="5160385" cy="2911711"/>
            <a:chOff x="2135188" y="3643313"/>
            <a:chExt cx="3498851" cy="2162175"/>
          </a:xfrm>
        </p:grpSpPr>
        <p:sp>
          <p:nvSpPr>
            <p:cNvPr id="1486867" name="Rectangle 19"/>
            <p:cNvSpPr>
              <a:spLocks noChangeArrowheads="1"/>
            </p:cNvSpPr>
            <p:nvPr/>
          </p:nvSpPr>
          <p:spPr bwMode="auto">
            <a:xfrm>
              <a:off x="3362326" y="4364039"/>
              <a:ext cx="2206625" cy="720725"/>
            </a:xfrm>
            <a:prstGeom prst="rect">
              <a:avLst/>
            </a:prstGeom>
            <a:solidFill>
              <a:srgbClr val="3333FF"/>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FFFFFF"/>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endParaRPr>
            </a:p>
          </p:txBody>
        </p:sp>
        <p:sp>
          <p:nvSpPr>
            <p:cNvPr id="1486868" name="Rectangle 20"/>
            <p:cNvSpPr>
              <a:spLocks noChangeArrowheads="1"/>
            </p:cNvSpPr>
            <p:nvPr/>
          </p:nvSpPr>
          <p:spPr bwMode="auto">
            <a:xfrm>
              <a:off x="3490913" y="4524375"/>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学号</a:t>
              </a:r>
            </a:p>
          </p:txBody>
        </p:sp>
        <p:sp>
          <p:nvSpPr>
            <p:cNvPr id="1486869" name="Rectangle 21"/>
            <p:cNvSpPr>
              <a:spLocks noChangeArrowheads="1"/>
            </p:cNvSpPr>
            <p:nvPr/>
          </p:nvSpPr>
          <p:spPr bwMode="auto">
            <a:xfrm>
              <a:off x="4595814" y="452437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课名</a:t>
              </a:r>
            </a:p>
          </p:txBody>
        </p:sp>
        <p:sp>
          <p:nvSpPr>
            <p:cNvPr id="1486870" name="Rectangle 22"/>
            <p:cNvSpPr>
              <a:spLocks noChangeArrowheads="1"/>
            </p:cNvSpPr>
            <p:nvPr/>
          </p:nvSpPr>
          <p:spPr bwMode="auto">
            <a:xfrm>
              <a:off x="2193926" y="452437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系名</a:t>
              </a:r>
            </a:p>
          </p:txBody>
        </p:sp>
        <p:sp>
          <p:nvSpPr>
            <p:cNvPr id="1486871" name="Rectangle 23"/>
            <p:cNvSpPr>
              <a:spLocks noChangeArrowheads="1"/>
            </p:cNvSpPr>
            <p:nvPr/>
          </p:nvSpPr>
          <p:spPr bwMode="auto">
            <a:xfrm>
              <a:off x="2135188" y="5324475"/>
              <a:ext cx="895350"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系主任</a:t>
              </a:r>
            </a:p>
          </p:txBody>
        </p:sp>
        <p:cxnSp>
          <p:nvCxnSpPr>
            <p:cNvPr id="18443" name="AutoShape 24"/>
            <p:cNvCxnSpPr>
              <a:cxnSpLocks noChangeShapeType="1"/>
              <a:stCxn id="1486868" idx="1"/>
              <a:endCxn id="1486870" idx="3"/>
            </p:cNvCxnSpPr>
            <p:nvPr/>
          </p:nvCxnSpPr>
          <p:spPr bwMode="auto">
            <a:xfrm flipH="1">
              <a:off x="2971801" y="4724400"/>
              <a:ext cx="519113"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18444" name="AutoShape 25"/>
            <p:cNvCxnSpPr>
              <a:cxnSpLocks noChangeShapeType="1"/>
              <a:stCxn id="1486870" idx="2"/>
              <a:endCxn id="1486871" idx="0"/>
            </p:cNvCxnSpPr>
            <p:nvPr/>
          </p:nvCxnSpPr>
          <p:spPr bwMode="auto">
            <a:xfrm>
              <a:off x="2582863" y="492442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6874" name="Rectangle 26"/>
            <p:cNvSpPr>
              <a:spLocks noChangeArrowheads="1"/>
            </p:cNvSpPr>
            <p:nvPr/>
          </p:nvSpPr>
          <p:spPr bwMode="auto">
            <a:xfrm>
              <a:off x="4595813" y="3643313"/>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学分</a:t>
              </a:r>
            </a:p>
          </p:txBody>
        </p:sp>
        <p:cxnSp>
          <p:nvCxnSpPr>
            <p:cNvPr id="18446" name="AutoShape 27"/>
            <p:cNvCxnSpPr>
              <a:cxnSpLocks noChangeShapeType="1"/>
              <a:stCxn id="1486869" idx="0"/>
              <a:endCxn id="1486874" idx="2"/>
            </p:cNvCxnSpPr>
            <p:nvPr/>
          </p:nvCxnSpPr>
          <p:spPr bwMode="auto">
            <a:xfrm flipV="1">
              <a:off x="4984750" y="4043363"/>
              <a:ext cx="1588" cy="481012"/>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6876" name="Rectangle 28"/>
            <p:cNvSpPr>
              <a:spLocks noChangeArrowheads="1"/>
            </p:cNvSpPr>
            <p:nvPr/>
          </p:nvSpPr>
          <p:spPr bwMode="auto">
            <a:xfrm>
              <a:off x="4854576" y="5405438"/>
              <a:ext cx="779463"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成绩</a:t>
              </a:r>
            </a:p>
          </p:txBody>
        </p:sp>
        <p:cxnSp>
          <p:nvCxnSpPr>
            <p:cNvPr id="18448" name="AutoShape 29"/>
            <p:cNvCxnSpPr>
              <a:cxnSpLocks noChangeShapeType="1"/>
              <a:endCxn id="1486876" idx="0"/>
            </p:cNvCxnSpPr>
            <p:nvPr/>
          </p:nvCxnSpPr>
          <p:spPr bwMode="auto">
            <a:xfrm>
              <a:off x="5245100" y="5084764"/>
              <a:ext cx="0" cy="320675"/>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6878" name="Rectangle 30"/>
            <p:cNvSpPr>
              <a:spLocks noChangeArrowheads="1"/>
            </p:cNvSpPr>
            <p:nvPr/>
          </p:nvSpPr>
          <p:spPr bwMode="auto">
            <a:xfrm>
              <a:off x="3490913" y="5324475"/>
              <a:ext cx="779462"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rPr>
                <a:t>姓名</a:t>
              </a:r>
            </a:p>
          </p:txBody>
        </p:sp>
        <p:cxnSp>
          <p:nvCxnSpPr>
            <p:cNvPr id="18450" name="AutoShape 31"/>
            <p:cNvCxnSpPr>
              <a:cxnSpLocks noChangeShapeType="1"/>
              <a:stCxn id="1486868" idx="2"/>
              <a:endCxn id="1486878" idx="0"/>
            </p:cNvCxnSpPr>
            <p:nvPr/>
          </p:nvCxnSpPr>
          <p:spPr bwMode="auto">
            <a:xfrm>
              <a:off x="3881438" y="492442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grpSp>
      <p:sp>
        <p:nvSpPr>
          <p:cNvPr id="33" name="Text Box 2"/>
          <p:cNvSpPr txBox="1">
            <a:spLocks noChangeArrowheads="1"/>
          </p:cNvSpPr>
          <p:nvPr/>
        </p:nvSpPr>
        <p:spPr bwMode="auto">
          <a:xfrm>
            <a:off x="911424" y="10540"/>
            <a:ext cx="3659186"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en-US" dirty="0"/>
              <a:t>传递函数依赖</a:t>
            </a:r>
          </a:p>
        </p:txBody>
      </p:sp>
      <p:grpSp>
        <p:nvGrpSpPr>
          <p:cNvPr id="3" name="组合 2">
            <a:extLst>
              <a:ext uri="{FF2B5EF4-FFF2-40B4-BE49-F238E27FC236}">
                <a16:creationId xmlns:a16="http://schemas.microsoft.com/office/drawing/2014/main" id="{3B1346FD-B2CA-4249-AE85-385038460569}"/>
              </a:ext>
            </a:extLst>
          </p:cNvPr>
          <p:cNvGrpSpPr/>
          <p:nvPr/>
        </p:nvGrpSpPr>
        <p:grpSpPr>
          <a:xfrm>
            <a:off x="917184" y="1074343"/>
            <a:ext cx="10128335" cy="1436700"/>
            <a:chOff x="1080232" y="1139370"/>
            <a:chExt cx="10128335" cy="1436700"/>
          </a:xfrm>
        </p:grpSpPr>
        <p:sp>
          <p:nvSpPr>
            <p:cNvPr id="1486857" name="Rectangle 9"/>
            <p:cNvSpPr>
              <a:spLocks noChangeArrowheads="1"/>
            </p:cNvSpPr>
            <p:nvPr/>
          </p:nvSpPr>
          <p:spPr bwMode="auto">
            <a:xfrm>
              <a:off x="1080232" y="1139370"/>
              <a:ext cx="10128335" cy="754177"/>
            </a:xfrm>
            <a:prstGeom prst="rect">
              <a:avLst/>
            </a:prstGeom>
            <a:noFill/>
            <a:ln w="9525">
              <a:noFill/>
              <a:miter lim="800000"/>
              <a:headEnd/>
              <a:tailEnd/>
            </a:ln>
            <a:effectLst/>
          </p:spPr>
          <p:txBody>
            <a:bodyPr/>
            <a:lstStyle/>
            <a:p>
              <a:pPr marL="0" marR="0" lvl="0" indent="0" algn="just" defTabSz="914400" rtl="0" eaLnBrk="1" fontAlgn="base" latinLnBrk="0" hangingPunct="1">
                <a:lnSpc>
                  <a:spcPct val="110000"/>
                </a:lnSpc>
                <a:spcBef>
                  <a:spcPct val="0"/>
                </a:spcBef>
                <a:spcAft>
                  <a:spcPct val="4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uLnTx/>
                  <a:uFillTx/>
                  <a:latin typeface="+mn-ea"/>
                  <a:cs typeface="+mn-cs"/>
                </a:rPr>
                <a:t>设</a:t>
              </a:r>
              <a:r>
                <a:rPr kumimoji="0" lang="en-US" altLang="zh-CN" sz="3200" b="0" i="0" u="none" strike="noStrike" kern="1200" cap="none" spc="0" normalizeH="0" baseline="0" noProof="0" dirty="0">
                  <a:ln>
                    <a:noFill/>
                  </a:ln>
                  <a:solidFill>
                    <a:srgbClr val="CCFFCC"/>
                  </a:solidFill>
                  <a:effectLst/>
                  <a:uLnTx/>
                  <a:uFillTx/>
                  <a:latin typeface="+mn-ea"/>
                  <a:cs typeface="+mn-cs"/>
                </a:rPr>
                <a:t>R(U)</a:t>
              </a:r>
              <a:r>
                <a:rPr kumimoji="0" lang="zh-CN" altLang="en-US" sz="3200" b="0" i="0" u="none" strike="noStrike" kern="1200" cap="none" spc="0" normalizeH="0" baseline="0" noProof="0" dirty="0">
                  <a:ln>
                    <a:noFill/>
                  </a:ln>
                  <a:solidFill>
                    <a:srgbClr val="CCFFCC"/>
                  </a:solidFill>
                  <a:effectLst/>
                  <a:uLnTx/>
                  <a:uFillTx/>
                  <a:latin typeface="+mn-ea"/>
                  <a:cs typeface="+mn-cs"/>
                </a:rPr>
                <a:t>是一个关系模式，</a:t>
              </a:r>
              <a:r>
                <a:rPr kumimoji="0" lang="en-US" altLang="zh-CN" sz="3200" b="0" i="0" u="none" strike="noStrike" kern="1200" cap="none" spc="0" normalizeH="0" baseline="0" noProof="0" dirty="0">
                  <a:ln>
                    <a:noFill/>
                  </a:ln>
                  <a:solidFill>
                    <a:srgbClr val="CCFFCC"/>
                  </a:solidFill>
                  <a:effectLst/>
                  <a:uLnTx/>
                  <a:uFillTx/>
                  <a:latin typeface="+mn-ea"/>
                  <a:cs typeface="+mn-cs"/>
                </a:rPr>
                <a:t>X</a:t>
              </a:r>
              <a:r>
                <a:rPr kumimoji="0" lang="zh-CN" altLang="en-US" sz="3200" b="0" i="0" u="none" strike="noStrike" kern="1200" cap="none" spc="0" normalizeH="0" baseline="0" noProof="0" dirty="0">
                  <a:ln>
                    <a:noFill/>
                  </a:ln>
                  <a:solidFill>
                    <a:srgbClr val="CCFFCC"/>
                  </a:solidFill>
                  <a:effectLst/>
                  <a:uLnTx/>
                  <a:uFillTx/>
                  <a:latin typeface="+mn-ea"/>
                  <a:cs typeface="+mn-cs"/>
                </a:rPr>
                <a:t>、</a:t>
              </a:r>
              <a:r>
                <a:rPr kumimoji="0" lang="en-US" altLang="zh-CN" sz="3200" b="0" i="0" u="none" strike="noStrike" kern="1200" cap="none" spc="0" normalizeH="0" baseline="0" noProof="0" dirty="0">
                  <a:ln>
                    <a:noFill/>
                  </a:ln>
                  <a:solidFill>
                    <a:srgbClr val="CCFFCC"/>
                  </a:solidFill>
                  <a:effectLst/>
                  <a:uLnTx/>
                  <a:uFillTx/>
                  <a:latin typeface="+mn-ea"/>
                  <a:cs typeface="+mn-cs"/>
                </a:rPr>
                <a:t>Y</a:t>
              </a:r>
              <a:r>
                <a:rPr kumimoji="0" lang="zh-CN" altLang="en-US" sz="3200" b="0" i="0" u="none" strike="noStrike" kern="1200" cap="none" spc="0" normalizeH="0" baseline="0" noProof="0" dirty="0">
                  <a:ln>
                    <a:noFill/>
                  </a:ln>
                  <a:solidFill>
                    <a:srgbClr val="CCFFCC"/>
                  </a:solidFill>
                  <a:effectLst/>
                  <a:uLnTx/>
                  <a:uFillTx/>
                  <a:latin typeface="+mn-ea"/>
                  <a:cs typeface="+mn-cs"/>
                </a:rPr>
                <a:t>、</a:t>
              </a:r>
              <a:r>
                <a:rPr kumimoji="0" lang="en-US" altLang="zh-CN" sz="3200" b="0" i="0" u="none" strike="noStrike" kern="1200" cap="none" spc="0" normalizeH="0" baseline="0" noProof="0" dirty="0">
                  <a:ln>
                    <a:noFill/>
                  </a:ln>
                  <a:solidFill>
                    <a:srgbClr val="CCFFCC"/>
                  </a:solidFill>
                  <a:effectLst/>
                  <a:uLnTx/>
                  <a:uFillTx/>
                  <a:latin typeface="+mn-ea"/>
                  <a:cs typeface="+mn-cs"/>
                </a:rPr>
                <a:t>Z</a:t>
              </a:r>
              <a:r>
                <a:rPr kumimoji="0" lang="zh-CN" altLang="en-US" sz="3200" b="0" i="0" u="none" strike="noStrike" kern="1200" cap="none" spc="0" normalizeH="0" baseline="0" noProof="0" dirty="0">
                  <a:ln>
                    <a:noFill/>
                  </a:ln>
                  <a:solidFill>
                    <a:srgbClr val="CCFFCC"/>
                  </a:solidFill>
                  <a:effectLst/>
                  <a:uLnTx/>
                  <a:uFillTx/>
                  <a:latin typeface="+mn-ea"/>
                  <a:cs typeface="+mn-cs"/>
                </a:rPr>
                <a:t>都是</a:t>
              </a:r>
              <a:r>
                <a:rPr kumimoji="0" lang="en-US" altLang="zh-CN" sz="3200" b="0" i="0" u="none" strike="noStrike" kern="1200" cap="none" spc="0" normalizeH="0" baseline="0" noProof="0" dirty="0">
                  <a:ln>
                    <a:noFill/>
                  </a:ln>
                  <a:solidFill>
                    <a:srgbClr val="CCFFCC"/>
                  </a:solidFill>
                  <a:effectLst/>
                  <a:uLnTx/>
                  <a:uFillTx/>
                  <a:latin typeface="+mn-ea"/>
                  <a:cs typeface="+mn-cs"/>
                </a:rPr>
                <a:t>U</a:t>
              </a:r>
              <a:r>
                <a:rPr kumimoji="0" lang="zh-CN" altLang="en-US" sz="3200" b="0" i="0" u="none" strike="noStrike" kern="1200" cap="none" spc="0" normalizeH="0" baseline="0" noProof="0" dirty="0">
                  <a:ln>
                    <a:noFill/>
                  </a:ln>
                  <a:solidFill>
                    <a:srgbClr val="CCFFCC"/>
                  </a:solidFill>
                  <a:effectLst/>
                  <a:uLnTx/>
                  <a:uFillTx/>
                  <a:latin typeface="+mn-ea"/>
                  <a:cs typeface="+mn-cs"/>
                </a:rPr>
                <a:t>的子集，</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如果</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Y→Z</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，并且</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Y</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Z  Y，Y→X，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Z</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传递函数依赖</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记作</a:t>
              </a:r>
              <a:r>
                <a:rPr kumimoji="1"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X　  Z</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endParaRPr>
            </a:p>
          </p:txBody>
        </p:sp>
        <p:sp>
          <p:nvSpPr>
            <p:cNvPr id="1486858" name="Line 10"/>
            <p:cNvSpPr>
              <a:spLocks noChangeShapeType="1"/>
            </p:cNvSpPr>
            <p:nvPr/>
          </p:nvSpPr>
          <p:spPr bwMode="auto">
            <a:xfrm>
              <a:off x="4227848" y="2560209"/>
              <a:ext cx="500000" cy="0"/>
            </a:xfrm>
            <a:prstGeom prst="line">
              <a:avLst/>
            </a:prstGeom>
            <a:noFill/>
            <a:ln w="38100" cap="sq">
              <a:solidFill>
                <a:srgbClr val="FFFF00"/>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40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ea"/>
                <a:cs typeface="+mn-cs"/>
              </a:endParaRPr>
            </a:p>
          </p:txBody>
        </p:sp>
        <p:sp>
          <p:nvSpPr>
            <p:cNvPr id="1486859" name="Text Box 11"/>
            <p:cNvSpPr txBox="1">
              <a:spLocks noChangeArrowheads="1"/>
            </p:cNvSpPr>
            <p:nvPr/>
          </p:nvSpPr>
          <p:spPr bwMode="auto">
            <a:xfrm>
              <a:off x="4376071" y="2188272"/>
              <a:ext cx="99386" cy="387798"/>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FFFF00"/>
                  </a:solidFill>
                  <a:effectLst>
                    <a:outerShdw blurRad="38100" dist="38100" dir="2700000" algn="tl">
                      <a:srgbClr val="000000"/>
                    </a:outerShdw>
                  </a:effectLst>
                  <a:uLnTx/>
                  <a:uFillTx/>
                  <a:latin typeface="+mn-lt"/>
                  <a:ea typeface="+mn-ea"/>
                  <a:cs typeface="+mn-cs"/>
                </a:rPr>
                <a:t>t</a:t>
              </a:r>
            </a:p>
          </p:txBody>
        </p:sp>
        <p:sp>
          <p:nvSpPr>
            <p:cNvPr id="1486860" name="Line 12"/>
            <p:cNvSpPr>
              <a:spLocks noChangeShapeType="1"/>
            </p:cNvSpPr>
            <p:nvPr/>
          </p:nvSpPr>
          <p:spPr bwMode="auto">
            <a:xfrm>
              <a:off x="7487798" y="1845690"/>
              <a:ext cx="83333" cy="266180"/>
            </a:xfrm>
            <a:prstGeom prst="line">
              <a:avLst/>
            </a:prstGeom>
            <a:noFill/>
            <a:ln w="19050" cap="sq">
              <a:solidFill>
                <a:srgbClr val="CCFFCC"/>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ea"/>
                <a:cs typeface="+mn-cs"/>
              </a:endParaRPr>
            </a:p>
          </p:txBody>
        </p:sp>
        <p:sp>
          <p:nvSpPr>
            <p:cNvPr id="1486866" name="Rectangle 18"/>
            <p:cNvSpPr>
              <a:spLocks noChangeArrowheads="1"/>
            </p:cNvSpPr>
            <p:nvPr/>
          </p:nvSpPr>
          <p:spPr bwMode="auto">
            <a:xfrm>
              <a:off x="4815769" y="1564551"/>
              <a:ext cx="439237" cy="637724"/>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endParaRPr>
            </a:p>
          </p:txBody>
        </p:sp>
        <p:sp>
          <p:nvSpPr>
            <p:cNvPr id="1486865" name="Line 17"/>
            <p:cNvSpPr>
              <a:spLocks noChangeShapeType="1"/>
            </p:cNvSpPr>
            <p:nvPr/>
          </p:nvSpPr>
          <p:spPr bwMode="auto">
            <a:xfrm>
              <a:off x="4998061" y="1810398"/>
              <a:ext cx="111111" cy="310544"/>
            </a:xfrm>
            <a:prstGeom prst="line">
              <a:avLst/>
            </a:prstGeom>
            <a:noFill/>
            <a:ln w="19050" cap="sq">
              <a:solidFill>
                <a:srgbClr val="CCFFCC"/>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ea"/>
                <a:cs typeface="+mn-cs"/>
              </a:endParaRPr>
            </a:p>
          </p:txBody>
        </p:sp>
        <p:sp>
          <p:nvSpPr>
            <p:cNvPr id="31" name="Rectangle 18">
              <a:extLst>
                <a:ext uri="{FF2B5EF4-FFF2-40B4-BE49-F238E27FC236}">
                  <a16:creationId xmlns:a16="http://schemas.microsoft.com/office/drawing/2014/main" id="{210CE6C9-4E8F-4EA7-8862-1775C3245F5A}"/>
                </a:ext>
              </a:extLst>
            </p:cNvPr>
            <p:cNvSpPr>
              <a:spLocks noChangeArrowheads="1"/>
            </p:cNvSpPr>
            <p:nvPr/>
          </p:nvSpPr>
          <p:spPr bwMode="auto">
            <a:xfrm>
              <a:off x="6053747" y="1574685"/>
              <a:ext cx="439237" cy="637724"/>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endParaRPr>
            </a:p>
          </p:txBody>
        </p:sp>
        <p:sp>
          <p:nvSpPr>
            <p:cNvPr id="32" name="Line 17">
              <a:extLst>
                <a:ext uri="{FF2B5EF4-FFF2-40B4-BE49-F238E27FC236}">
                  <a16:creationId xmlns:a16="http://schemas.microsoft.com/office/drawing/2014/main" id="{DB87AA2F-213D-4AB0-BBA5-1D0AD0746F57}"/>
                </a:ext>
              </a:extLst>
            </p:cNvPr>
            <p:cNvSpPr>
              <a:spLocks noChangeShapeType="1"/>
            </p:cNvSpPr>
            <p:nvPr/>
          </p:nvSpPr>
          <p:spPr bwMode="auto">
            <a:xfrm>
              <a:off x="6236039" y="1820532"/>
              <a:ext cx="111111" cy="310544"/>
            </a:xfrm>
            <a:prstGeom prst="line">
              <a:avLst/>
            </a:prstGeom>
            <a:noFill/>
            <a:ln w="19050" cap="sq">
              <a:solidFill>
                <a:srgbClr val="CCFFCC"/>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ea"/>
                <a:cs typeface="+mn-cs"/>
              </a:endParaRPr>
            </a:p>
          </p:txBody>
        </p:sp>
      </p:grp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408444" y="764708"/>
            <a:ext cx="11523133" cy="6219825"/>
          </a:xfrm>
        </p:spPr>
        <p:txBody>
          <a:bodyPr>
            <a:normAutofit/>
          </a:bodyPr>
          <a:lstStyle/>
          <a:p>
            <a:pPr marL="179388" lvl="1" indent="0" algn="just">
              <a:lnSpc>
                <a:spcPct val="150000"/>
              </a:lnSpc>
            </a:pPr>
            <a:r>
              <a:rPr lang="zh-CN" altLang="en-US" sz="3600" b="1" dirty="0">
                <a:latin typeface="楷体_GB2312"/>
                <a:ea typeface="楷体_GB2312"/>
                <a:cs typeface="楷体_GB2312"/>
              </a:rPr>
              <a:t>综上所述，函数依赖分为</a:t>
            </a:r>
            <a:r>
              <a:rPr lang="zh-CN" altLang="en-US" sz="3600" b="1" dirty="0">
                <a:solidFill>
                  <a:srgbClr val="FFFF00"/>
                </a:solidFill>
                <a:latin typeface="楷体_GB2312"/>
                <a:ea typeface="楷体_GB2312"/>
                <a:cs typeface="楷体_GB2312"/>
              </a:rPr>
              <a:t>完全函数依赖、部分函数依赖和传递函数依赖</a:t>
            </a:r>
            <a:r>
              <a:rPr lang="zh-CN" altLang="en-US" sz="3600" b="1" dirty="0">
                <a:latin typeface="楷体_GB2312"/>
                <a:ea typeface="楷体_GB2312"/>
                <a:cs typeface="楷体_GB2312"/>
              </a:rPr>
              <a:t>三类，它们是规范化理论的依据和规范化程度的准则，下面我们将以介绍的这些概念为基础，进行数据库的</a:t>
            </a:r>
            <a:r>
              <a:rPr lang="zh-CN" altLang="en-US" sz="3600" b="1" dirty="0">
                <a:solidFill>
                  <a:srgbClr val="FFFF00"/>
                </a:solidFill>
                <a:latin typeface="楷体_GB2312"/>
                <a:ea typeface="楷体_GB2312"/>
                <a:cs typeface="楷体_GB2312"/>
              </a:rPr>
              <a:t>规范设计</a:t>
            </a:r>
            <a:r>
              <a:rPr lang="zh-CN" altLang="en-US" sz="3600" b="1" dirty="0">
                <a:latin typeface="楷体_GB2312"/>
                <a:ea typeface="楷体_GB2312"/>
                <a:cs typeface="楷体_GB2312"/>
              </a:rPr>
              <a:t>。</a:t>
            </a:r>
            <a:endParaRPr lang="en-US" altLang="zh-CN" sz="3600" b="1" dirty="0">
              <a:latin typeface="楷体_GB2312"/>
              <a:ea typeface="楷体_GB2312"/>
              <a:cs typeface="楷体_GB2312"/>
            </a:endParaRPr>
          </a:p>
          <a:p>
            <a:pPr marL="179388" lvl="1" indent="0" algn="just">
              <a:lnSpc>
                <a:spcPct val="150000"/>
              </a:lnSpc>
              <a:buNone/>
            </a:pPr>
            <a:r>
              <a:rPr lang="zh-CN" altLang="en-US" sz="3600" b="1" dirty="0">
                <a:latin typeface="楷体_GB2312"/>
                <a:ea typeface="楷体_GB2312"/>
                <a:cs typeface="楷体_GB2312"/>
              </a:rPr>
              <a:t> </a:t>
            </a:r>
          </a:p>
        </p:txBody>
      </p:sp>
      <p:sp>
        <p:nvSpPr>
          <p:cNvPr id="39939" name="Rectangle 3"/>
          <p:cNvSpPr>
            <a:spLocks noChangeArrowheads="1"/>
          </p:cNvSpPr>
          <p:nvPr/>
        </p:nvSpPr>
        <p:spPr bwMode="auto">
          <a:xfrm>
            <a:off x="5975351" y="3357563"/>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41" name="Rectangle 5"/>
          <p:cNvSpPr>
            <a:spLocks noChangeArrowheads="1"/>
          </p:cNvSpPr>
          <p:nvPr/>
        </p:nvSpPr>
        <p:spPr bwMode="auto">
          <a:xfrm>
            <a:off x="6013451" y="3352800"/>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44" name="Rectangle 8"/>
          <p:cNvSpPr>
            <a:spLocks noChangeArrowheads="1"/>
          </p:cNvSpPr>
          <p:nvPr/>
        </p:nvSpPr>
        <p:spPr bwMode="auto">
          <a:xfrm>
            <a:off x="5842000" y="3328988"/>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945" name="Rectangle 9"/>
          <p:cNvSpPr>
            <a:spLocks noChangeArrowheads="1"/>
          </p:cNvSpPr>
          <p:nvPr/>
        </p:nvSpPr>
        <p:spPr bwMode="auto">
          <a:xfrm>
            <a:off x="5842000" y="3328988"/>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extLst>
      <p:ext uri="{BB962C8B-B14F-4D97-AF65-F5344CB8AC3E}">
        <p14:creationId xmlns:p14="http://schemas.microsoft.com/office/powerpoint/2010/main" val="2113460353"/>
      </p:ext>
    </p:extLst>
  </p:cSld>
  <p:clrMapOvr>
    <a:masterClrMapping/>
  </p:clrMapOvr>
  <p:transition spd="slow">
    <p:wipe dir="r"/>
    <p:sndAc>
      <p:stSnd>
        <p:snd r:embed="rId2" name="arrow.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zh-CN" altLang="en-US" sz="32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函数依赖的定义和意义是什么？规范化</a:t>
            </a:r>
            <a:r>
              <a:rPr lang="zh-CN" altLang="en-US" sz="3200"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理论主要研究哪三类函数依赖？</a:t>
            </a:r>
            <a:endParaRPr lang="zh-CN" altLang="en-US" sz="32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圆角矩形 5"/>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313959015"/>
      </p:ext>
    </p:extLst>
  </p:cSld>
  <p:clrMapOvr>
    <a:masterClrMapping/>
  </p:clrMapOvr>
  <p:transition spd="slow">
    <p:wipe dir="r"/>
    <p:sndAc>
      <p:stSnd>
        <p:snd r:embed="rId11" name="arrow.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970" name="Text Box 2"/>
          <p:cNvSpPr txBox="1">
            <a:spLocks noChangeArrowheads="1"/>
          </p:cNvSpPr>
          <p:nvPr/>
        </p:nvSpPr>
        <p:spPr bwMode="auto">
          <a:xfrm>
            <a:off x="911424" y="46318"/>
            <a:ext cx="5400675"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en-US" dirty="0"/>
              <a:t>函数依赖的推理规则</a:t>
            </a:r>
          </a:p>
        </p:txBody>
      </p:sp>
      <p:sp>
        <p:nvSpPr>
          <p:cNvPr id="1491972" name="Text Box 4"/>
          <p:cNvSpPr txBox="1">
            <a:spLocks noChangeArrowheads="1"/>
          </p:cNvSpPr>
          <p:nvPr/>
        </p:nvSpPr>
        <p:spPr bwMode="auto">
          <a:xfrm>
            <a:off x="911424" y="1052736"/>
            <a:ext cx="10081120" cy="11430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ts val="0"/>
              </a:spcBef>
              <a:spcAft>
                <a:spcPts val="3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函数依赖涉及这样一类问题：</a:t>
            </a:r>
            <a:r>
              <a:rPr kumimoji="1"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已知关系模式</a:t>
            </a:r>
            <a:r>
              <a:rPr kumimoji="1" lang="en-US" altLang="zh-CN"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R(U,F)</a:t>
            </a:r>
            <a:r>
              <a:rPr kumimoji="1"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，其中属性集</a:t>
            </a:r>
            <a:r>
              <a:rPr kumimoji="1" lang="en-US" altLang="zh-CN"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U={A,B,C}</a:t>
            </a:r>
            <a:r>
              <a:rPr kumimoji="1"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，函数依赖集</a:t>
            </a:r>
            <a:r>
              <a:rPr kumimoji="1" lang="en-US" altLang="zh-CN"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F={A→B</a:t>
            </a:r>
            <a:r>
              <a:rPr kumimoji="1"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B→C}</a:t>
            </a:r>
            <a:r>
              <a:rPr kumimoji="1"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，能推出</a:t>
            </a:r>
            <a:r>
              <a:rPr kumimoji="1" lang="en-US" altLang="zh-CN"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A→C</a:t>
            </a:r>
            <a:r>
              <a:rPr kumimoji="1"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成立吗</a:t>
            </a:r>
            <a:r>
              <a:rPr kumimoji="1" lang="en-US" altLang="zh-CN"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rPr>
              <a:t>?</a:t>
            </a:r>
            <a:endParaRPr kumimoji="1" lang="zh-CN" altLang="en-US" sz="3200" b="0" i="0" u="none" strike="noStrike" kern="1200" cap="none" spc="0" normalizeH="0" baseline="0" noProof="0" dirty="0">
              <a:ln>
                <a:noFill/>
              </a:ln>
              <a:solidFill>
                <a:srgbClr val="00FFFF"/>
              </a:solidFill>
              <a:effectLst>
                <a:outerShdw blurRad="38100" dist="38100" dir="2700000" algn="tl">
                  <a:srgbClr val="000000"/>
                </a:outerShdw>
              </a:effectLst>
              <a:uLnTx/>
              <a:uFillTx/>
              <a:latin typeface="+mj-ea"/>
              <a:ea typeface="+mj-ea"/>
              <a:cs typeface="+mn-cs"/>
            </a:endParaRPr>
          </a:p>
          <a:p>
            <a:pPr marL="0" marR="0" lvl="0" indent="0" algn="just" defTabSz="914400" rtl="0" eaLnBrk="1" fontAlgn="base" latinLnBrk="0" hangingPunct="1">
              <a:lnSpc>
                <a:spcPct val="100000"/>
              </a:lnSpc>
              <a:spcBef>
                <a:spcPts val="0"/>
              </a:spcBef>
              <a:spcAft>
                <a:spcPts val="3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对于关系模式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R(U,F)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中能够推导出函数依赖</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成立，则称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R</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的函数依赖集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F</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j-ea"/>
                <a:ea typeface="+mj-ea"/>
                <a:cs typeface="+mn-cs"/>
              </a:rPr>
              <a:t>逻辑蕴涵</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，记为</a:t>
            </a:r>
            <a:r>
              <a:rPr kumimoji="1" lang="en-US" altLang="zh-CN" sz="32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F|=X→Y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p>
          <a:p>
            <a:pPr marL="0" marR="0" lvl="0" indent="0" algn="just" defTabSz="914400" rtl="0" eaLnBrk="1" fontAlgn="base" latinLnBrk="0" hangingPunct="1">
              <a:lnSpc>
                <a:spcPct val="100000"/>
              </a:lnSpc>
              <a:spcBef>
                <a:spcPts val="0"/>
              </a:spcBef>
              <a:spcAft>
                <a:spcPts val="12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被函数依赖集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逻辑蕴涵的所有函数依赖所构成的集合，称为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的</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j-ea"/>
                <a:ea typeface="+mj-ea"/>
                <a:cs typeface="+mn-cs"/>
              </a:rPr>
              <a:t>闭包</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(closure)</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，记作</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F</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p>
          <a:p>
            <a:pPr marL="0" marR="0" lvl="0" indent="0" algn="just" defTabSz="914400" rtl="0" eaLnBrk="1" fontAlgn="base" latinLnBrk="0" hangingPunct="1">
              <a:lnSpc>
                <a:spcPct val="100000"/>
              </a:lnSpc>
              <a:spcBef>
                <a:spcPts val="0"/>
              </a:spcBef>
              <a:spcAft>
                <a:spcPts val="3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即：</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F</a:t>
            </a:r>
            <a:r>
              <a:rPr kumimoji="1"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={X→Y| F</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sym typeface="Symbol" pitchFamily="18" charset="2"/>
              </a:rPr>
              <a:t>|=</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a:xfrm>
            <a:off x="911424" y="1069667"/>
            <a:ext cx="8516938" cy="584775"/>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lvl="0" algn="l" fontAlgn="base">
              <a:spcBef>
                <a:spcPct val="30000"/>
              </a:spcBef>
              <a:spcAft>
                <a:spcPct val="70000"/>
              </a:spcAft>
              <a:buSzPct val="80000"/>
              <a:tabLst>
                <a:tab pos="715963" algn="l"/>
                <a:tab pos="1905000" algn="l"/>
              </a:tabLst>
              <a:defRPr/>
            </a:pPr>
            <a:r>
              <a:rPr kumimoji="1" lang="zh-CN" altLang="en-US" sz="3200" b="0" dirty="0">
                <a:solidFill>
                  <a:srgbClr val="99FF99"/>
                </a:solidFill>
                <a:effectLst>
                  <a:outerShdw blurRad="38100" dist="38100" dir="2700000" algn="tl">
                    <a:srgbClr val="000000"/>
                  </a:outerShdw>
                </a:effectLst>
                <a:latin typeface="+mj-ea"/>
                <a:ea typeface="+mj-ea"/>
              </a:rPr>
              <a:t>已知</a:t>
            </a:r>
            <a:r>
              <a:rPr kumimoji="1" lang="zh-CN" altLang="zh-CN" sz="3200" b="0" dirty="0">
                <a:solidFill>
                  <a:srgbClr val="99FF99"/>
                </a:solidFill>
                <a:effectLst>
                  <a:outerShdw blurRad="38100" dist="38100" dir="2700000" algn="tl">
                    <a:srgbClr val="000000"/>
                  </a:outerShdw>
                </a:effectLst>
                <a:latin typeface="+mj-ea"/>
                <a:ea typeface="+mj-ea"/>
              </a:rPr>
              <a:t>R</a:t>
            </a:r>
            <a:r>
              <a:rPr kumimoji="1" lang="zh-CN" altLang="en-US" sz="3200" b="0" dirty="0">
                <a:solidFill>
                  <a:srgbClr val="99FF99"/>
                </a:solidFill>
                <a:effectLst>
                  <a:outerShdw blurRad="38100" dist="38100" dir="2700000" algn="tl">
                    <a:srgbClr val="000000"/>
                  </a:outerShdw>
                </a:effectLst>
                <a:latin typeface="+mj-ea"/>
                <a:ea typeface="+mj-ea"/>
              </a:rPr>
              <a:t>(</a:t>
            </a:r>
            <a:r>
              <a:rPr kumimoji="1" lang="en-US" altLang="zh-CN" sz="3200" b="0" dirty="0">
                <a:solidFill>
                  <a:srgbClr val="99FF99"/>
                </a:solidFill>
                <a:effectLst>
                  <a:outerShdw blurRad="38100" dist="38100" dir="2700000" algn="tl">
                    <a:srgbClr val="000000"/>
                  </a:outerShdw>
                </a:effectLst>
                <a:latin typeface="+mj-ea"/>
                <a:ea typeface="+mj-ea"/>
              </a:rPr>
              <a:t>U={</a:t>
            </a:r>
            <a:r>
              <a:rPr kumimoji="1" lang="zh-CN" altLang="zh-CN" sz="3200" b="0" dirty="0">
                <a:solidFill>
                  <a:srgbClr val="99FF99"/>
                </a:solidFill>
                <a:effectLst>
                  <a:outerShdw blurRad="38100" dist="38100" dir="2700000" algn="tl">
                    <a:srgbClr val="000000"/>
                  </a:outerShdw>
                </a:effectLst>
                <a:latin typeface="+mj-ea"/>
                <a:ea typeface="+mj-ea"/>
              </a:rPr>
              <a:t>ABC</a:t>
            </a:r>
            <a:r>
              <a:rPr kumimoji="1" lang="zh-CN" altLang="en-US" sz="3200" b="0" dirty="0">
                <a:solidFill>
                  <a:srgbClr val="99FF99"/>
                </a:solidFill>
                <a:effectLst>
                  <a:outerShdw blurRad="38100" dist="38100" dir="2700000" algn="tl">
                    <a:srgbClr val="000000"/>
                  </a:outerShdw>
                </a:effectLst>
                <a:latin typeface="+mj-ea"/>
                <a:ea typeface="+mj-ea"/>
              </a:rPr>
              <a:t>}</a:t>
            </a:r>
            <a:r>
              <a:rPr kumimoji="1" lang="zh-CN" altLang="zh-CN" sz="3200" b="0" dirty="0">
                <a:solidFill>
                  <a:srgbClr val="99FF99"/>
                </a:solidFill>
                <a:effectLst>
                  <a:outerShdw blurRad="38100" dist="38100" dir="2700000" algn="tl">
                    <a:srgbClr val="000000"/>
                  </a:outerShdw>
                </a:effectLst>
                <a:latin typeface="+mj-ea"/>
                <a:ea typeface="+mj-ea"/>
              </a:rPr>
              <a:t>,</a:t>
            </a:r>
            <a:r>
              <a:rPr kumimoji="1" lang="zh-CN" altLang="en-US" sz="3200" b="0" dirty="0">
                <a:solidFill>
                  <a:srgbClr val="99FF99"/>
                </a:solidFill>
                <a:effectLst>
                  <a:outerShdw blurRad="38100" dist="38100" dir="2700000" algn="tl">
                    <a:srgbClr val="000000"/>
                  </a:outerShdw>
                </a:effectLst>
                <a:latin typeface="+mj-ea"/>
                <a:ea typeface="+mj-ea"/>
              </a:rPr>
              <a:t>F</a:t>
            </a:r>
            <a:r>
              <a:rPr kumimoji="1" lang="en-US" altLang="zh-CN" sz="3200" b="0" dirty="0">
                <a:solidFill>
                  <a:srgbClr val="99FF99"/>
                </a:solidFill>
                <a:effectLst>
                  <a:outerShdw blurRad="38100" dist="38100" dir="2700000" algn="tl">
                    <a:srgbClr val="000000"/>
                  </a:outerShdw>
                </a:effectLst>
                <a:latin typeface="+mj-ea"/>
                <a:ea typeface="+mj-ea"/>
              </a:rPr>
              <a:t>=</a:t>
            </a:r>
            <a:r>
              <a:rPr kumimoji="1" lang="zh-CN" altLang="zh-CN" sz="3200" b="0" dirty="0">
                <a:solidFill>
                  <a:srgbClr val="99FF99"/>
                </a:solidFill>
                <a:effectLst>
                  <a:outerShdw blurRad="38100" dist="38100" dir="2700000" algn="tl">
                    <a:srgbClr val="000000"/>
                  </a:outerShdw>
                </a:effectLst>
                <a:latin typeface="+mj-ea"/>
                <a:ea typeface="+mj-ea"/>
              </a:rPr>
              <a:t>{A→B, B→C}</a:t>
            </a:r>
            <a:r>
              <a:rPr kumimoji="1" lang="en-US" altLang="zh-CN" sz="3200" b="0" dirty="0">
                <a:solidFill>
                  <a:srgbClr val="99FF99"/>
                </a:solidFill>
                <a:effectLst>
                  <a:outerShdw blurRad="38100" dist="38100" dir="2700000" algn="tl">
                    <a:srgbClr val="000000"/>
                  </a:outerShdw>
                </a:effectLst>
                <a:latin typeface="+mj-ea"/>
                <a:ea typeface="+mj-ea"/>
              </a:rPr>
              <a:t>)</a:t>
            </a:r>
            <a:r>
              <a:rPr kumimoji="1" lang="zh-CN" altLang="zh-CN" sz="3200" b="0" dirty="0">
                <a:solidFill>
                  <a:srgbClr val="99FF99"/>
                </a:solidFill>
                <a:effectLst>
                  <a:outerShdw blurRad="38100" dist="38100" dir="2700000" algn="tl">
                    <a:srgbClr val="000000"/>
                  </a:outerShdw>
                </a:effectLst>
                <a:latin typeface="+mj-ea"/>
                <a:ea typeface="+mj-ea"/>
              </a:rPr>
              <a:t>, </a:t>
            </a:r>
            <a:r>
              <a:rPr kumimoji="1" lang="zh-CN" altLang="en-US" sz="3200" b="0" dirty="0">
                <a:solidFill>
                  <a:srgbClr val="99FF99"/>
                </a:solidFill>
                <a:effectLst>
                  <a:outerShdw blurRad="38100" dist="38100" dir="2700000" algn="tl">
                    <a:srgbClr val="000000"/>
                  </a:outerShdw>
                </a:effectLst>
                <a:latin typeface="+mj-ea"/>
                <a:ea typeface="+mj-ea"/>
              </a:rPr>
              <a:t>其</a:t>
            </a:r>
            <a:r>
              <a:rPr kumimoji="1" lang="zh-CN" altLang="zh-CN" sz="3200" b="0" dirty="0">
                <a:solidFill>
                  <a:srgbClr val="99FF99"/>
                </a:solidFill>
                <a:effectLst>
                  <a:outerShdw blurRad="38100" dist="38100" dir="2700000" algn="tl">
                    <a:srgbClr val="000000"/>
                  </a:outerShdw>
                </a:effectLst>
                <a:latin typeface="+mj-ea"/>
                <a:ea typeface="+mj-ea"/>
              </a:rPr>
              <a:t>F</a:t>
            </a:r>
            <a:r>
              <a:rPr kumimoji="1" lang="zh-CN" altLang="zh-CN" sz="3200" b="0" baseline="30000" dirty="0">
                <a:solidFill>
                  <a:srgbClr val="99FF99"/>
                </a:solidFill>
                <a:effectLst>
                  <a:outerShdw blurRad="38100" dist="38100" dir="2700000" algn="tl">
                    <a:srgbClr val="000000"/>
                  </a:outerShdw>
                </a:effectLst>
                <a:latin typeface="+mj-ea"/>
                <a:ea typeface="+mj-ea"/>
              </a:rPr>
              <a:t>+</a:t>
            </a:r>
            <a:r>
              <a:rPr kumimoji="1" lang="zh-CN" altLang="en-US" sz="3200" b="0" dirty="0">
                <a:solidFill>
                  <a:srgbClr val="99FF99"/>
                </a:solidFill>
                <a:effectLst>
                  <a:outerShdw blurRad="38100" dist="38100" dir="2700000" algn="tl">
                    <a:srgbClr val="000000"/>
                  </a:outerShdw>
                </a:effectLst>
                <a:latin typeface="+mj-ea"/>
                <a:ea typeface="+mj-ea"/>
              </a:rPr>
              <a:t>如下：</a:t>
            </a:r>
            <a:endParaRPr kumimoji="1" lang="zh-CN" altLang="zh-CN" sz="3200" b="0" dirty="0">
              <a:solidFill>
                <a:srgbClr val="99FF99"/>
              </a:solidFill>
              <a:effectLst>
                <a:outerShdw blurRad="38100" dist="38100" dir="2700000" algn="tl">
                  <a:srgbClr val="000000"/>
                </a:outerShdw>
              </a:effectLst>
              <a:latin typeface="+mj-ea"/>
              <a:ea typeface="+mj-ea"/>
            </a:endParaRPr>
          </a:p>
        </p:txBody>
      </p:sp>
      <mc:AlternateContent xmlns:mc="http://schemas.openxmlformats.org/markup-compatibility/2006" xmlns:a14="http://schemas.microsoft.com/office/drawing/2010/main">
        <mc:Choice Requires="a14">
          <p:sp>
            <p:nvSpPr>
              <p:cNvPr id="1495045" name="Rectangle 5"/>
              <p:cNvSpPr>
                <a:spLocks noChangeArrowheads="1"/>
              </p:cNvSpPr>
              <p:nvPr/>
            </p:nvSpPr>
            <p:spPr bwMode="auto">
              <a:xfrm>
                <a:off x="936793" y="1916832"/>
                <a:ext cx="11591863"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1" lang="en-US" altLang="zh-CN" sz="30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a:t>
                </a:r>
                <a14:m>
                  <m:oMath xmlns:m="http://schemas.openxmlformats.org/officeDocument/2006/math">
                    <m:r>
                      <a:rPr kumimoji="1" lang="en-US" altLang="zh-CN" sz="30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Cambria Math" panose="02040503050406030204" pitchFamily="18" charset="0"/>
                        <a:ea typeface="Cambria Math" panose="02040503050406030204" pitchFamily="18" charset="0"/>
                      </a:rPr>
                      <m:t>∅</m:t>
                    </m:r>
                  </m:oMath>
                </a14:m>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A→A</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AB→A</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AC→A</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ABC→A</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C→C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A→AB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AB→AB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AC→AB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ABC→AB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A→AC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AB→AC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AC→AC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ABC→AC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BC→B</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BC→C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tab pos="715963" algn="l"/>
                    <a:tab pos="1905000" algn="l"/>
                  </a:tabLst>
                  <a:defRPr/>
                </a:pP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         A→ABC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AB→ABC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AC→ABC</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ABC→A</a:t>
                </a:r>
                <a:r>
                  <a:rPr kumimoji="1" lang="zh-CN" altLang="en-US"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3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BC→BC }</a:t>
                </a:r>
              </a:p>
            </p:txBody>
          </p:sp>
        </mc:Choice>
        <mc:Fallback xmlns="">
          <p:sp>
            <p:nvSpPr>
              <p:cNvPr id="1495045" name="Rectangle 5"/>
              <p:cNvSpPr>
                <a:spLocks noRot="1" noChangeAspect="1" noMove="1" noResize="1" noEditPoints="1" noAdjustHandles="1" noChangeArrowheads="1" noChangeShapeType="1" noTextEdit="1"/>
              </p:cNvSpPr>
              <p:nvPr/>
            </p:nvSpPr>
            <p:spPr bwMode="auto">
              <a:xfrm>
                <a:off x="936793" y="1916832"/>
                <a:ext cx="11591863" cy="1311275"/>
              </a:xfrm>
              <a:prstGeom prst="rect">
                <a:avLst/>
              </a:prstGeom>
              <a:blipFill>
                <a:blip r:embed="rId3"/>
                <a:stretch>
                  <a:fillRect l="-1315" t="-6944" b="-250463"/>
                </a:stretch>
              </a:blipFill>
              <a:ln w="12700" cap="sq" algn="ctr">
                <a:noFill/>
                <a:miter lim="800000"/>
                <a:headEnd/>
                <a:tailEnd/>
              </a:ln>
              <a:effectLst/>
            </p:spPr>
            <p:txBody>
              <a:bodyPr/>
              <a:lstStyle/>
              <a:p>
                <a:r>
                  <a:rPr lang="zh-CN" altLang="en-US">
                    <a:noFill/>
                  </a:rPr>
                  <a:t> </a:t>
                </a:r>
              </a:p>
            </p:txBody>
          </p:sp>
        </mc:Fallback>
      </mc:AlternateContent>
      <p:sp>
        <p:nvSpPr>
          <p:cNvPr id="7" name="Text Box 2">
            <a:extLst>
              <a:ext uri="{FF2B5EF4-FFF2-40B4-BE49-F238E27FC236}">
                <a16:creationId xmlns:a16="http://schemas.microsoft.com/office/drawing/2014/main" id="{DC8D06CE-7D8F-40E5-BC2F-A60408FBE4B5}"/>
              </a:ext>
            </a:extLst>
          </p:cNvPr>
          <p:cNvSpPr txBox="1">
            <a:spLocks noChangeArrowheads="1"/>
          </p:cNvSpPr>
          <p:nvPr/>
        </p:nvSpPr>
        <p:spPr bwMode="auto">
          <a:xfrm>
            <a:off x="911424" y="46318"/>
            <a:ext cx="5400675"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en-US" dirty="0"/>
              <a:t>函数依赖的推理规则</a:t>
            </a:r>
          </a:p>
        </p:txBody>
      </p:sp>
    </p:spTree>
    <p:extLst>
      <p:ext uri="{BB962C8B-B14F-4D97-AF65-F5344CB8AC3E}">
        <p14:creationId xmlns:p14="http://schemas.microsoft.com/office/powerpoint/2010/main" val="24723874"/>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4"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839415" y="189047"/>
            <a:ext cx="9594614" cy="769441"/>
          </a:xfrm>
        </p:spPr>
        <p:txBody>
          <a:bodyPr/>
          <a:lstStyle/>
          <a:p>
            <a:r>
              <a:rPr lang="en-US" altLang="zh-CN" sz="4400">
                <a:latin typeface="Times New Roman" pitchFamily="18" charset="0"/>
                <a:ea typeface="宋体" pitchFamily="2" charset="-122"/>
              </a:rPr>
              <a:t>1. Armstrong</a:t>
            </a:r>
            <a:r>
              <a:rPr lang="zh-CN" altLang="en-US" sz="4400">
                <a:latin typeface="Times New Roman" pitchFamily="18" charset="0"/>
                <a:ea typeface="宋体" pitchFamily="2" charset="-122"/>
              </a:rPr>
              <a:t>公理系统的基本推理规则</a:t>
            </a:r>
          </a:p>
        </p:txBody>
      </p:sp>
      <p:sp>
        <p:nvSpPr>
          <p:cNvPr id="47107" name="Rectangle 3"/>
          <p:cNvSpPr>
            <a:spLocks noGrp="1" noChangeArrowheads="1"/>
          </p:cNvSpPr>
          <p:nvPr>
            <p:ph type="body" idx="4294967295"/>
          </p:nvPr>
        </p:nvSpPr>
        <p:spPr/>
        <p:txBody>
          <a:bodyPr/>
          <a:lstStyle/>
          <a:p>
            <a:r>
              <a:rPr lang="zh-CN" altLang="en-US" dirty="0">
                <a:latin typeface="Tahoma" pitchFamily="34" charset="0"/>
                <a:ea typeface="宋体" pitchFamily="2" charset="-122"/>
              </a:rPr>
              <a:t>设有关系模式</a:t>
            </a:r>
            <a:r>
              <a:rPr lang="en-US" altLang="zh-CN" dirty="0">
                <a:latin typeface="Tahoma" pitchFamily="34" charset="0"/>
                <a:ea typeface="宋体" pitchFamily="2" charset="-122"/>
              </a:rPr>
              <a:t>R(U,F)</a:t>
            </a:r>
            <a:r>
              <a:rPr lang="zh-CN" altLang="en-US" dirty="0">
                <a:latin typeface="Tahoma" pitchFamily="34" charset="0"/>
                <a:ea typeface="宋体" pitchFamily="2" charset="-122"/>
              </a:rPr>
              <a:t>，</a:t>
            </a:r>
            <a:r>
              <a:rPr lang="en-US" altLang="zh-CN" dirty="0">
                <a:latin typeface="Tahoma" pitchFamily="34" charset="0"/>
                <a:ea typeface="宋体" pitchFamily="2" charset="-122"/>
              </a:rPr>
              <a:t>U</a:t>
            </a:r>
            <a:r>
              <a:rPr lang="zh-CN" altLang="en-US" dirty="0">
                <a:latin typeface="Tahoma" pitchFamily="34" charset="0"/>
                <a:ea typeface="宋体" pitchFamily="2" charset="-122"/>
              </a:rPr>
              <a:t>是属性全集，</a:t>
            </a:r>
            <a:r>
              <a:rPr lang="en-US" altLang="zh-CN" dirty="0">
                <a:latin typeface="Tahoma" pitchFamily="34" charset="0"/>
                <a:ea typeface="宋体" pitchFamily="2" charset="-122"/>
              </a:rPr>
              <a:t>F</a:t>
            </a:r>
            <a:r>
              <a:rPr lang="zh-CN" altLang="en-US" dirty="0">
                <a:latin typeface="Tahoma" pitchFamily="34" charset="0"/>
                <a:ea typeface="宋体" pitchFamily="2" charset="-122"/>
              </a:rPr>
              <a:t>是在</a:t>
            </a:r>
            <a:r>
              <a:rPr lang="en-US" altLang="zh-CN" dirty="0">
                <a:latin typeface="Tahoma" pitchFamily="34" charset="0"/>
                <a:ea typeface="宋体" pitchFamily="2" charset="-122"/>
              </a:rPr>
              <a:t>R</a:t>
            </a:r>
            <a:r>
              <a:rPr lang="zh-CN" altLang="en-US" dirty="0">
                <a:latin typeface="Tahoma" pitchFamily="34" charset="0"/>
                <a:ea typeface="宋体" pitchFamily="2" charset="-122"/>
              </a:rPr>
              <a:t>上成立的一个函数依赖集，</a:t>
            </a:r>
            <a:r>
              <a:rPr lang="en-US" altLang="zh-CN" dirty="0">
                <a:latin typeface="Tahoma" pitchFamily="34" charset="0"/>
                <a:ea typeface="宋体" pitchFamily="2" charset="-122"/>
              </a:rPr>
              <a:t>X</a:t>
            </a:r>
            <a:r>
              <a:rPr lang="zh-CN" altLang="en-US" dirty="0">
                <a:latin typeface="Tahoma" pitchFamily="34" charset="0"/>
                <a:ea typeface="宋体" pitchFamily="2" charset="-122"/>
              </a:rPr>
              <a:t>、</a:t>
            </a:r>
            <a:r>
              <a:rPr lang="en-US" altLang="zh-CN" dirty="0">
                <a:latin typeface="Tahoma" pitchFamily="34" charset="0"/>
                <a:ea typeface="宋体" pitchFamily="2" charset="-122"/>
              </a:rPr>
              <a:t>Y</a:t>
            </a:r>
            <a:r>
              <a:rPr lang="zh-CN" altLang="en-US" dirty="0">
                <a:latin typeface="Tahoma" pitchFamily="34" charset="0"/>
                <a:ea typeface="宋体" pitchFamily="2" charset="-122"/>
              </a:rPr>
              <a:t>、</a:t>
            </a:r>
            <a:r>
              <a:rPr lang="en-US" altLang="zh-CN" dirty="0">
                <a:latin typeface="Tahoma" pitchFamily="34" charset="0"/>
                <a:ea typeface="宋体" pitchFamily="2" charset="-122"/>
              </a:rPr>
              <a:t>Z</a:t>
            </a:r>
            <a:r>
              <a:rPr lang="zh-CN" altLang="en-US" dirty="0">
                <a:latin typeface="Tahoma" pitchFamily="34" charset="0"/>
                <a:ea typeface="宋体" pitchFamily="2" charset="-122"/>
              </a:rPr>
              <a:t>、</a:t>
            </a:r>
            <a:r>
              <a:rPr lang="en-US" altLang="zh-CN" dirty="0">
                <a:latin typeface="Tahoma" pitchFamily="34" charset="0"/>
                <a:ea typeface="宋体" pitchFamily="2" charset="-122"/>
              </a:rPr>
              <a:t>W</a:t>
            </a:r>
            <a:r>
              <a:rPr lang="zh-CN" altLang="en-US" dirty="0">
                <a:latin typeface="Tahoma" pitchFamily="34" charset="0"/>
                <a:ea typeface="宋体" pitchFamily="2" charset="-122"/>
              </a:rPr>
              <a:t>均是</a:t>
            </a:r>
            <a:r>
              <a:rPr lang="en-US" altLang="zh-CN" dirty="0">
                <a:latin typeface="Tahoma" pitchFamily="34" charset="0"/>
                <a:ea typeface="宋体" pitchFamily="2" charset="-122"/>
              </a:rPr>
              <a:t>U</a:t>
            </a:r>
            <a:r>
              <a:rPr lang="zh-CN" altLang="en-US" dirty="0">
                <a:latin typeface="Tahoma" pitchFamily="34" charset="0"/>
                <a:ea typeface="宋体" pitchFamily="2" charset="-122"/>
              </a:rPr>
              <a:t>的子集，</a:t>
            </a:r>
            <a:r>
              <a:rPr lang="en-US" altLang="zh-CN" dirty="0">
                <a:latin typeface="Tahoma" pitchFamily="34" charset="0"/>
                <a:ea typeface="宋体" pitchFamily="2" charset="-122"/>
              </a:rPr>
              <a:t>XY</a:t>
            </a:r>
            <a:r>
              <a:rPr lang="zh-CN" altLang="en-US" dirty="0">
                <a:latin typeface="Tahoma" pitchFamily="34" charset="0"/>
                <a:ea typeface="宋体" pitchFamily="2" charset="-122"/>
              </a:rPr>
              <a:t>是</a:t>
            </a:r>
            <a:r>
              <a:rPr lang="en-US" altLang="zh-CN" dirty="0">
                <a:latin typeface="Tahoma" pitchFamily="34" charset="0"/>
                <a:ea typeface="宋体" pitchFamily="2" charset="-122"/>
              </a:rPr>
              <a:t>X    Y</a:t>
            </a:r>
            <a:r>
              <a:rPr lang="zh-CN" altLang="en-US" dirty="0">
                <a:latin typeface="Tahoma" pitchFamily="34" charset="0"/>
                <a:ea typeface="宋体" pitchFamily="2" charset="-122"/>
              </a:rPr>
              <a:t>的简写。</a:t>
            </a:r>
          </a:p>
        </p:txBody>
      </p:sp>
      <p:sp>
        <p:nvSpPr>
          <p:cNvPr id="47108" name="矩形 3"/>
          <p:cNvSpPr>
            <a:spLocks noChangeArrowheads="1"/>
          </p:cNvSpPr>
          <p:nvPr/>
        </p:nvSpPr>
        <p:spPr bwMode="auto">
          <a:xfrm>
            <a:off x="9552384" y="2132856"/>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FFFF00"/>
                </a:solidFill>
              </a:rPr>
              <a:t>∪</a:t>
            </a:r>
          </a:p>
        </p:txBody>
      </p:sp>
    </p:spTree>
    <p:extLst>
      <p:ext uri="{BB962C8B-B14F-4D97-AF65-F5344CB8AC3E}">
        <p14:creationId xmlns:p14="http://schemas.microsoft.com/office/powerpoint/2010/main" val="2759962811"/>
      </p:ext>
    </p:extLst>
  </p:cSld>
  <p:clrMapOvr>
    <a:masterClrMapping/>
  </p:clrMapOvr>
  <p:transition spd="slow">
    <p:wipe dir="r"/>
    <p:sndAc>
      <p:stSnd>
        <p:snd r:embed="rId2" name="arrow.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996" name="Text Box 4"/>
          <p:cNvSpPr txBox="1">
            <a:spLocks noChangeArrowheads="1"/>
          </p:cNvSpPr>
          <p:nvPr/>
        </p:nvSpPr>
        <p:spPr bwMode="auto">
          <a:xfrm>
            <a:off x="652587" y="777683"/>
            <a:ext cx="9937104"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设有关系模式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R(U,F)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Z</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W</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均是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的子集：</a:t>
            </a: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p:txBody>
      </p:sp>
      <p:sp>
        <p:nvSpPr>
          <p:cNvPr id="1492997" name="Text Box 5"/>
          <p:cNvSpPr txBox="1">
            <a:spLocks noChangeArrowheads="1"/>
          </p:cNvSpPr>
          <p:nvPr/>
        </p:nvSpPr>
        <p:spPr bwMode="auto">
          <a:xfrm>
            <a:off x="669574" y="1637928"/>
            <a:ext cx="11259074" cy="1143000"/>
          </a:xfrm>
          <a:prstGeom prst="rect">
            <a:avLst/>
          </a:prstGeom>
          <a:noFill/>
          <a:ln w="12700" cap="sq">
            <a:noFill/>
            <a:miter lim="800000"/>
            <a:headEnd type="none" w="sm" len="sm"/>
            <a:tailEnd type="none" w="sm" len="sm"/>
          </a:ln>
          <a:effectLst/>
        </p:spPr>
        <p:txBody>
          <a:bodyPr/>
          <a:lstStyle/>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r>
              <a:rPr kumimoji="1" lang="zh-CN" altLang="zh-CN"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自反</a:t>
            </a:r>
            <a:r>
              <a:rPr kumimoji="1" lang="zh-CN" altLang="en-US"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律</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若Y</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X，则</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X→Y；</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r>
              <a:rPr kumimoji="1" lang="zh-CN" altLang="zh-CN"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增广</a:t>
            </a:r>
            <a:r>
              <a:rPr kumimoji="1" lang="zh-CN" altLang="en-US"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律</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若X→Y，则</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XZ→YZ；</a:t>
            </a:r>
          </a:p>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r>
              <a:rPr kumimoji="1" lang="zh-CN" altLang="zh-CN"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传递</a:t>
            </a:r>
            <a:r>
              <a:rPr kumimoji="1" lang="zh-CN" altLang="en-US"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律</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Y→Z，则</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X→Z</a:t>
            </a:r>
            <a:r>
              <a:rPr kumimoji="1" lang="zh-CN" altLang="zh-CN"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en-US" sz="3200" b="0"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mj-ea"/>
                <a:ea typeface="+mj-ea"/>
                <a:cs typeface="+mn-cs"/>
              </a:rPr>
              <a:t>课后习题一</a:t>
            </a:r>
            <a:r>
              <a:rPr kumimoji="1" lang="en-US" altLang="zh-CN" sz="3200" b="0"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mj-ea"/>
                <a:ea typeface="+mj-ea"/>
                <a:cs typeface="+mn-cs"/>
              </a:rPr>
              <a:t>.7</a:t>
            </a:r>
            <a:endParaRPr kumimoji="1" lang="zh-CN"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j-ea"/>
              <a:ea typeface="+mj-ea"/>
              <a:cs typeface="+mn-cs"/>
            </a:endParaRPr>
          </a:p>
        </p:txBody>
      </p:sp>
      <p:sp>
        <p:nvSpPr>
          <p:cNvPr id="1492998" name="Text Box 6"/>
          <p:cNvSpPr txBox="1">
            <a:spLocks noChangeArrowheads="1"/>
          </p:cNvSpPr>
          <p:nvPr/>
        </p:nvSpPr>
        <p:spPr bwMode="auto">
          <a:xfrm>
            <a:off x="669574" y="4215369"/>
            <a:ext cx="9937104" cy="1143000"/>
          </a:xfrm>
          <a:prstGeom prst="rect">
            <a:avLst/>
          </a:prstGeom>
          <a:noFill/>
          <a:ln w="12700" cap="sq">
            <a:noFill/>
            <a:miter lim="800000"/>
            <a:headEnd type="none" w="sm" len="sm"/>
            <a:tailEnd type="none" w="sm" len="sm"/>
          </a:ln>
          <a:effectLst/>
        </p:spPr>
        <p:txBody>
          <a:bodyPr/>
          <a:lstStyle/>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r>
              <a:rPr kumimoji="1" lang="zh-CN" altLang="zh-CN"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合</a:t>
            </a:r>
            <a:r>
              <a:rPr kumimoji="1" lang="zh-CN" altLang="en-US"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并律</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X→Z，则</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X→YZ</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p>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r>
              <a:rPr kumimoji="1" lang="zh-CN" altLang="zh-CN"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伪传递律</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若X→Y，YW→Z, 则</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XW→Z；</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r>
              <a:rPr kumimoji="1" lang="zh-CN" altLang="zh-CN"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分解</a:t>
            </a:r>
            <a:r>
              <a:rPr kumimoji="1" lang="zh-CN" altLang="en-US"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律</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Z</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Y，则</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X→Z；</a:t>
            </a: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r>
              <a:rPr kumimoji="1" lang="zh-CN" altLang="en-US" sz="32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mj-ea"/>
                <a:ea typeface="+mj-ea"/>
                <a:cs typeface="+mn-cs"/>
              </a:rPr>
              <a:t>复合律</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若X→Y</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W</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Z</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则</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有</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W</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Y</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Z；</a:t>
            </a: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a:p>
            <a:pPr marL="182563" marR="0" lvl="0" indent="-182563" algn="l" defTabSz="914400" rtl="0" eaLnBrk="1" fontAlgn="base" latinLnBrk="0" hangingPunct="1">
              <a:lnSpc>
                <a:spcPct val="100000"/>
              </a:lnSpc>
              <a:spcBef>
                <a:spcPct val="0"/>
              </a:spcBef>
              <a:spcAft>
                <a:spcPct val="20000"/>
              </a:spcAft>
              <a:buClr>
                <a:srgbClr val="FF9900"/>
              </a:buClr>
              <a:buSzPct val="80000"/>
              <a:buFont typeface="Wingdings" pitchFamily="2" charset="2"/>
              <a:buChar char="§"/>
              <a:tabLst>
                <a:tab pos="715963" algn="l"/>
                <a:tab pos="2416175" algn="l"/>
              </a:tabLst>
              <a:defRPr/>
            </a:pP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p:txBody>
      </p:sp>
      <p:sp>
        <p:nvSpPr>
          <p:cNvPr id="1492999" name="Text Box 7"/>
          <p:cNvSpPr txBox="1">
            <a:spLocks noChangeArrowheads="1"/>
          </p:cNvSpPr>
          <p:nvPr/>
        </p:nvSpPr>
        <p:spPr bwMode="auto">
          <a:xfrm>
            <a:off x="839416" y="3565656"/>
            <a:ext cx="9937104" cy="542925"/>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4</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条推论：</a:t>
            </a: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endParaRPr>
          </a:p>
        </p:txBody>
      </p:sp>
      <p:sp>
        <p:nvSpPr>
          <p:cNvPr id="9" name="Text Box 2"/>
          <p:cNvSpPr txBox="1">
            <a:spLocks noChangeArrowheads="1"/>
          </p:cNvSpPr>
          <p:nvPr/>
        </p:nvSpPr>
        <p:spPr bwMode="auto">
          <a:xfrm>
            <a:off x="911424" y="-14940"/>
            <a:ext cx="5400675"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zh-CN" dirty="0"/>
              <a:t>Armstrong公理系统</a:t>
            </a:r>
            <a:endParaRPr lang="zh-CN" altLang="en-US" dirty="0"/>
          </a:p>
        </p:txBody>
      </p:sp>
    </p:spTree>
  </p:cSld>
  <p:clrMapOvr>
    <a:masterClrMapping/>
  </p:clrMapOvr>
  <p:transition spd="slow">
    <p:push dir="d"/>
    <p:sndAc>
      <p:stSnd>
        <p:snd r:embed="rId2" name="arrow.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4294967295"/>
          </p:nvPr>
        </p:nvSpPr>
        <p:spPr>
          <a:xfrm>
            <a:off x="719667" y="476250"/>
            <a:ext cx="10363200" cy="4114800"/>
          </a:xfrm>
        </p:spPr>
        <p:txBody>
          <a:bodyPr/>
          <a:lstStyle/>
          <a:p>
            <a:pPr>
              <a:lnSpc>
                <a:spcPct val="150000"/>
              </a:lnSpc>
              <a:buFontTx/>
              <a:buNone/>
            </a:pPr>
            <a:r>
              <a:rPr lang="zh-CN" altLang="en-US" dirty="0">
                <a:latin typeface="Tahoma" pitchFamily="34" charset="0"/>
                <a:ea typeface="宋体" pitchFamily="2" charset="-122"/>
              </a:rPr>
              <a:t> </a:t>
            </a:r>
            <a:r>
              <a:rPr lang="en-US" altLang="zh-CN" dirty="0">
                <a:latin typeface="Tahoma" pitchFamily="34" charset="0"/>
                <a:ea typeface="宋体" pitchFamily="2" charset="-122"/>
              </a:rPr>
              <a:t>(1) </a:t>
            </a:r>
            <a:r>
              <a:rPr lang="zh-CN" altLang="en-US" dirty="0">
                <a:latin typeface="Tahoma" pitchFamily="34" charset="0"/>
                <a:ea typeface="宋体" pitchFamily="2" charset="-122"/>
              </a:rPr>
              <a:t>自反律</a:t>
            </a:r>
          </a:p>
          <a:p>
            <a:pPr>
              <a:lnSpc>
                <a:spcPct val="150000"/>
              </a:lnSpc>
            </a:pPr>
            <a:r>
              <a:rPr lang="zh-CN" altLang="en-US" dirty="0">
                <a:latin typeface="Tahoma" pitchFamily="34" charset="0"/>
                <a:ea typeface="宋体" pitchFamily="2" charset="-122"/>
              </a:rPr>
              <a:t>如果</a:t>
            </a:r>
            <a:r>
              <a:rPr lang="en-US" altLang="zh-CN" dirty="0">
                <a:latin typeface="Tahoma" pitchFamily="34" charset="0"/>
                <a:ea typeface="宋体" pitchFamily="2" charset="-122"/>
              </a:rPr>
              <a:t>Y ⊆X</a:t>
            </a:r>
            <a:r>
              <a:rPr lang="zh-CN" altLang="en-US" dirty="0">
                <a:latin typeface="Tahoma" pitchFamily="34" charset="0"/>
                <a:ea typeface="宋体" pitchFamily="2" charset="-122"/>
              </a:rPr>
              <a:t>，则</a:t>
            </a:r>
            <a:r>
              <a:rPr lang="en-US" altLang="zh-CN" dirty="0">
                <a:latin typeface="Tahoma" pitchFamily="34" charset="0"/>
                <a:ea typeface="宋体" pitchFamily="2" charset="-122"/>
              </a:rPr>
              <a:t>X→Y</a:t>
            </a:r>
            <a:r>
              <a:rPr lang="zh-CN" altLang="en-US" dirty="0">
                <a:latin typeface="Tahoma" pitchFamily="34" charset="0"/>
                <a:ea typeface="宋体" pitchFamily="2" charset="-122"/>
              </a:rPr>
              <a:t>在</a:t>
            </a:r>
            <a:r>
              <a:rPr lang="en-US" altLang="zh-CN" dirty="0">
                <a:latin typeface="Tahoma" pitchFamily="34" charset="0"/>
                <a:ea typeface="宋体" pitchFamily="2" charset="-122"/>
              </a:rPr>
              <a:t>R</a:t>
            </a:r>
            <a:r>
              <a:rPr lang="zh-CN" altLang="en-US" dirty="0">
                <a:latin typeface="Tahoma" pitchFamily="34" charset="0"/>
                <a:ea typeface="宋体" pitchFamily="2" charset="-122"/>
              </a:rPr>
              <a:t>上成立。</a:t>
            </a:r>
          </a:p>
          <a:p>
            <a:pPr lvl="1">
              <a:lnSpc>
                <a:spcPct val="150000"/>
              </a:lnSpc>
            </a:pPr>
            <a:r>
              <a:rPr lang="zh-CN" altLang="en-US" dirty="0">
                <a:latin typeface="Tahoma" pitchFamily="34" charset="0"/>
                <a:ea typeface="宋体" pitchFamily="2" charset="-122"/>
              </a:rPr>
              <a:t>证明：自反律实际上就是平凡的函数依赖形式化定义，是必然成立的。因为在一个关系中不可能存在两个元组在属性</a:t>
            </a:r>
            <a:r>
              <a:rPr lang="en-US" altLang="zh-CN" dirty="0">
                <a:latin typeface="Tahoma" pitchFamily="34" charset="0"/>
                <a:ea typeface="宋体" pitchFamily="2" charset="-122"/>
              </a:rPr>
              <a:t>X</a:t>
            </a:r>
            <a:r>
              <a:rPr lang="zh-CN" altLang="en-US" dirty="0">
                <a:latin typeface="Tahoma" pitchFamily="34" charset="0"/>
                <a:ea typeface="宋体" pitchFamily="2" charset="-122"/>
              </a:rPr>
              <a:t>上的值相等，而在</a:t>
            </a:r>
            <a:r>
              <a:rPr lang="en-US" altLang="zh-CN" dirty="0">
                <a:latin typeface="Tahoma" pitchFamily="34" charset="0"/>
                <a:ea typeface="宋体" pitchFamily="2" charset="-122"/>
              </a:rPr>
              <a:t>X</a:t>
            </a:r>
            <a:r>
              <a:rPr lang="zh-CN" altLang="en-US" dirty="0">
                <a:latin typeface="Tahoma" pitchFamily="34" charset="0"/>
                <a:ea typeface="宋体" pitchFamily="2" charset="-122"/>
              </a:rPr>
              <a:t>的某个子集</a:t>
            </a:r>
            <a:r>
              <a:rPr lang="en-US" altLang="zh-CN" dirty="0">
                <a:latin typeface="Tahoma" pitchFamily="34" charset="0"/>
                <a:ea typeface="宋体" pitchFamily="2" charset="-122"/>
              </a:rPr>
              <a:t>Y</a:t>
            </a:r>
            <a:r>
              <a:rPr lang="zh-CN" altLang="en-US" dirty="0">
                <a:latin typeface="Tahoma" pitchFamily="34" charset="0"/>
                <a:ea typeface="宋体" pitchFamily="2" charset="-122"/>
              </a:rPr>
              <a:t>上的值不等。</a:t>
            </a:r>
          </a:p>
        </p:txBody>
      </p:sp>
    </p:spTree>
    <p:extLst>
      <p:ext uri="{BB962C8B-B14F-4D97-AF65-F5344CB8AC3E}">
        <p14:creationId xmlns:p14="http://schemas.microsoft.com/office/powerpoint/2010/main" val="105901837"/>
      </p:ext>
    </p:extLst>
  </p:cSld>
  <p:clrMapOvr>
    <a:masterClrMapping/>
  </p:clrMapOvr>
  <p:transition spd="slow">
    <p:wipe dir="r"/>
    <p:sndAc>
      <p:stSnd>
        <p:snd r:embed="rId2" name="arrow.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4294967295"/>
          </p:nvPr>
        </p:nvSpPr>
        <p:spPr>
          <a:xfrm>
            <a:off x="431800" y="0"/>
            <a:ext cx="10363200" cy="4114800"/>
          </a:xfrm>
        </p:spPr>
        <p:txBody>
          <a:bodyPr>
            <a:normAutofit lnSpcReduction="10000"/>
          </a:bodyPr>
          <a:lstStyle/>
          <a:p>
            <a:pPr>
              <a:lnSpc>
                <a:spcPct val="150000"/>
              </a:lnSpc>
              <a:buFontTx/>
              <a:buNone/>
            </a:pPr>
            <a:r>
              <a:rPr lang="en-US" altLang="zh-CN" sz="2800">
                <a:latin typeface="Tahoma" pitchFamily="34" charset="0"/>
                <a:ea typeface="宋体" pitchFamily="2" charset="-122"/>
              </a:rPr>
              <a:t>(2) </a:t>
            </a:r>
            <a:r>
              <a:rPr lang="zh-CN" altLang="en-US" sz="2800">
                <a:latin typeface="Tahoma" pitchFamily="34" charset="0"/>
                <a:ea typeface="宋体" pitchFamily="2" charset="-122"/>
              </a:rPr>
              <a:t>增广律</a:t>
            </a:r>
          </a:p>
          <a:p>
            <a:pPr>
              <a:lnSpc>
                <a:spcPct val="150000"/>
              </a:lnSpc>
            </a:pPr>
            <a:r>
              <a:rPr lang="zh-CN" altLang="en-US" sz="2800">
                <a:latin typeface="Tahoma" pitchFamily="34" charset="0"/>
                <a:ea typeface="宋体" pitchFamily="2" charset="-122"/>
              </a:rPr>
              <a:t>如果</a:t>
            </a:r>
            <a:r>
              <a:rPr lang="en-US" altLang="zh-CN" sz="2800">
                <a:latin typeface="Tahoma" pitchFamily="34" charset="0"/>
                <a:ea typeface="宋体" pitchFamily="2" charset="-122"/>
              </a:rPr>
              <a:t>X→Y</a:t>
            </a:r>
            <a:r>
              <a:rPr lang="zh-CN" altLang="en-US" sz="2800">
                <a:latin typeface="Tahoma" pitchFamily="34" charset="0"/>
                <a:ea typeface="宋体" pitchFamily="2" charset="-122"/>
              </a:rPr>
              <a:t>在</a:t>
            </a:r>
            <a:r>
              <a:rPr lang="en-US" altLang="zh-CN" sz="2800">
                <a:latin typeface="Tahoma" pitchFamily="34" charset="0"/>
                <a:ea typeface="宋体" pitchFamily="2" charset="-122"/>
              </a:rPr>
              <a:t>R</a:t>
            </a:r>
            <a:r>
              <a:rPr lang="zh-CN" altLang="en-US" sz="2800">
                <a:latin typeface="Tahoma" pitchFamily="34" charset="0"/>
                <a:ea typeface="宋体" pitchFamily="2" charset="-122"/>
              </a:rPr>
              <a:t>上成立，则</a:t>
            </a:r>
            <a:r>
              <a:rPr lang="en-US" altLang="zh-CN" sz="2800">
                <a:latin typeface="Tahoma" pitchFamily="34" charset="0"/>
                <a:ea typeface="宋体" pitchFamily="2" charset="-122"/>
              </a:rPr>
              <a:t>XZ→YZ</a:t>
            </a:r>
            <a:r>
              <a:rPr lang="zh-CN" altLang="en-US" sz="2800">
                <a:latin typeface="Tahoma" pitchFamily="34" charset="0"/>
                <a:ea typeface="宋体" pitchFamily="2" charset="-122"/>
              </a:rPr>
              <a:t>。</a:t>
            </a:r>
          </a:p>
          <a:p>
            <a:pPr lvl="1">
              <a:lnSpc>
                <a:spcPct val="150000"/>
              </a:lnSpc>
            </a:pPr>
            <a:r>
              <a:rPr lang="zh-CN" altLang="en-US" sz="2400">
                <a:latin typeface="Tahoma" pitchFamily="34" charset="0"/>
                <a:ea typeface="宋体" pitchFamily="2" charset="-122"/>
              </a:rPr>
              <a:t>证明：使用</a:t>
            </a:r>
            <a:r>
              <a:rPr lang="zh-CN" altLang="en-US" sz="2400">
                <a:solidFill>
                  <a:srgbClr val="FF0000"/>
                </a:solidFill>
                <a:latin typeface="Tahoma" pitchFamily="34" charset="0"/>
                <a:ea typeface="宋体" pitchFamily="2" charset="-122"/>
              </a:rPr>
              <a:t>反证法</a:t>
            </a:r>
            <a:r>
              <a:rPr lang="zh-CN" altLang="en-US" sz="2400">
                <a:latin typeface="Tahoma" pitchFamily="34" charset="0"/>
                <a:ea typeface="宋体" pitchFamily="2" charset="-122"/>
              </a:rPr>
              <a:t>。设</a:t>
            </a:r>
            <a:r>
              <a:rPr lang="en-US" altLang="zh-CN" sz="2400">
                <a:latin typeface="Tahoma" pitchFamily="34" charset="0"/>
                <a:ea typeface="宋体" pitchFamily="2" charset="-122"/>
              </a:rPr>
              <a:t>r</a:t>
            </a:r>
            <a:r>
              <a:rPr lang="zh-CN" altLang="en-US" sz="2400">
                <a:latin typeface="Tahoma" pitchFamily="34" charset="0"/>
                <a:ea typeface="宋体" pitchFamily="2" charset="-122"/>
              </a:rPr>
              <a:t>是</a:t>
            </a:r>
            <a:r>
              <a:rPr lang="en-US" altLang="zh-CN" sz="2400">
                <a:latin typeface="Tahoma" pitchFamily="34" charset="0"/>
                <a:ea typeface="宋体" pitchFamily="2" charset="-122"/>
              </a:rPr>
              <a:t>R</a:t>
            </a:r>
            <a:r>
              <a:rPr lang="zh-CN" altLang="en-US" sz="2400">
                <a:latin typeface="Tahoma" pitchFamily="34" charset="0"/>
                <a:ea typeface="宋体" pitchFamily="2" charset="-122"/>
              </a:rPr>
              <a:t>中的某一个具体的关系 ，</a:t>
            </a:r>
            <a:r>
              <a:rPr lang="en-US" altLang="zh-CN" sz="2400">
                <a:latin typeface="Tahoma" pitchFamily="34" charset="0"/>
                <a:ea typeface="宋体" pitchFamily="2" charset="-122"/>
              </a:rPr>
              <a:t>u</a:t>
            </a:r>
            <a:r>
              <a:rPr lang="zh-CN" altLang="en-US" sz="2400">
                <a:latin typeface="Tahoma" pitchFamily="34" charset="0"/>
                <a:ea typeface="宋体" pitchFamily="2" charset="-122"/>
              </a:rPr>
              <a:t>和</a:t>
            </a:r>
            <a:r>
              <a:rPr lang="en-US" altLang="zh-CN" sz="2400">
                <a:latin typeface="Tahoma" pitchFamily="34" charset="0"/>
                <a:ea typeface="宋体" pitchFamily="2" charset="-122"/>
              </a:rPr>
              <a:t>v</a:t>
            </a:r>
            <a:r>
              <a:rPr lang="zh-CN" altLang="en-US" sz="2400">
                <a:latin typeface="Tahoma" pitchFamily="34" charset="0"/>
                <a:ea typeface="宋体" pitchFamily="2" charset="-122"/>
              </a:rPr>
              <a:t>是</a:t>
            </a:r>
            <a:r>
              <a:rPr lang="en-US" altLang="zh-CN" sz="2400">
                <a:latin typeface="Tahoma" pitchFamily="34" charset="0"/>
                <a:ea typeface="宋体" pitchFamily="2" charset="-122"/>
              </a:rPr>
              <a:t>r</a:t>
            </a:r>
            <a:r>
              <a:rPr lang="zh-CN" altLang="en-US" sz="2400">
                <a:latin typeface="Tahoma" pitchFamily="34" charset="0"/>
                <a:ea typeface="宋体" pitchFamily="2" charset="-122"/>
              </a:rPr>
              <a:t>中的任意两个</a:t>
            </a:r>
            <a:r>
              <a:rPr lang="zh-CN" altLang="en-US" sz="2400">
                <a:solidFill>
                  <a:srgbClr val="FF0000"/>
                </a:solidFill>
                <a:latin typeface="Tahoma" pitchFamily="34" charset="0"/>
                <a:ea typeface="宋体" pitchFamily="2" charset="-122"/>
              </a:rPr>
              <a:t>元组</a:t>
            </a:r>
            <a:r>
              <a:rPr lang="zh-CN" altLang="en-US" sz="2400">
                <a:latin typeface="Tahoma" pitchFamily="34" charset="0"/>
                <a:ea typeface="宋体" pitchFamily="2" charset="-122"/>
              </a:rPr>
              <a:t>。已知</a:t>
            </a:r>
            <a:r>
              <a:rPr lang="en-US" altLang="zh-CN" sz="2400">
                <a:latin typeface="Tahoma" pitchFamily="34" charset="0"/>
                <a:ea typeface="宋体" pitchFamily="2" charset="-122"/>
              </a:rPr>
              <a:t>X→Y</a:t>
            </a:r>
            <a:r>
              <a:rPr lang="zh-CN" altLang="en-US" sz="2400">
                <a:latin typeface="Tahoma" pitchFamily="34" charset="0"/>
                <a:ea typeface="宋体" pitchFamily="2" charset="-122"/>
              </a:rPr>
              <a:t>，所以当</a:t>
            </a:r>
            <a:r>
              <a:rPr lang="en-US" altLang="zh-CN" sz="2400">
                <a:latin typeface="Tahoma" pitchFamily="34" charset="0"/>
                <a:ea typeface="宋体" pitchFamily="2" charset="-122"/>
              </a:rPr>
              <a:t>u[X]=v[X]</a:t>
            </a:r>
            <a:r>
              <a:rPr lang="zh-CN" altLang="en-US" sz="2400">
                <a:latin typeface="Tahoma" pitchFamily="34" charset="0"/>
                <a:ea typeface="宋体" pitchFamily="2" charset="-122"/>
              </a:rPr>
              <a:t>时必有</a:t>
            </a:r>
            <a:r>
              <a:rPr lang="en-US" altLang="zh-CN" sz="2400">
                <a:latin typeface="Tahoma" pitchFamily="34" charset="0"/>
                <a:ea typeface="宋体" pitchFamily="2" charset="-122"/>
              </a:rPr>
              <a:t>u[Y]=v[Y]</a:t>
            </a:r>
            <a:r>
              <a:rPr lang="zh-CN" altLang="en-US" sz="2400">
                <a:latin typeface="Tahoma" pitchFamily="34" charset="0"/>
                <a:ea typeface="宋体" pitchFamily="2" charset="-122"/>
              </a:rPr>
              <a:t>。假设</a:t>
            </a:r>
            <a:r>
              <a:rPr lang="en-US" altLang="zh-CN" sz="2400">
                <a:latin typeface="Tahoma" pitchFamily="34" charset="0"/>
                <a:ea typeface="宋体" pitchFamily="2" charset="-122"/>
              </a:rPr>
              <a:t>XZ↛YZ</a:t>
            </a:r>
            <a:r>
              <a:rPr lang="zh-CN" altLang="en-US" sz="2400">
                <a:latin typeface="Tahoma" pitchFamily="34" charset="0"/>
                <a:ea typeface="宋体" pitchFamily="2" charset="-122"/>
              </a:rPr>
              <a:t>，则当</a:t>
            </a:r>
            <a:r>
              <a:rPr lang="en-US" altLang="zh-CN" sz="2400">
                <a:latin typeface="Tahoma" pitchFamily="34" charset="0"/>
                <a:ea typeface="宋体" pitchFamily="2" charset="-122"/>
              </a:rPr>
              <a:t>u[XZ]=v[XZ]</a:t>
            </a:r>
            <a:r>
              <a:rPr lang="zh-CN" altLang="en-US" sz="2400">
                <a:latin typeface="Tahoma" pitchFamily="34" charset="0"/>
                <a:ea typeface="宋体" pitchFamily="2" charset="-122"/>
              </a:rPr>
              <a:t>时</a:t>
            </a:r>
            <a:r>
              <a:rPr lang="en-US" altLang="zh-CN" sz="2400">
                <a:latin typeface="Tahoma" pitchFamily="34" charset="0"/>
                <a:ea typeface="宋体" pitchFamily="2" charset="-122"/>
              </a:rPr>
              <a:t>u[YZ]≠v[YZ]</a:t>
            </a:r>
            <a:r>
              <a:rPr lang="zh-CN" altLang="en-US" sz="2400">
                <a:latin typeface="Tahoma" pitchFamily="34" charset="0"/>
                <a:ea typeface="宋体" pitchFamily="2" charset="-122"/>
              </a:rPr>
              <a:t>。由</a:t>
            </a:r>
            <a:r>
              <a:rPr lang="en-US" altLang="zh-CN" sz="2400">
                <a:latin typeface="Tahoma" pitchFamily="34" charset="0"/>
                <a:ea typeface="宋体" pitchFamily="2" charset="-122"/>
              </a:rPr>
              <a:t>u[XZ]=v[XZ]</a:t>
            </a:r>
            <a:r>
              <a:rPr lang="zh-CN" altLang="en-US" sz="2400">
                <a:latin typeface="Tahoma" pitchFamily="34" charset="0"/>
                <a:ea typeface="宋体" pitchFamily="2" charset="-122"/>
              </a:rPr>
              <a:t>可知必有</a:t>
            </a:r>
            <a:r>
              <a:rPr lang="en-US" altLang="zh-CN" sz="2400">
                <a:latin typeface="Tahoma" pitchFamily="34" charset="0"/>
                <a:ea typeface="宋体" pitchFamily="2" charset="-122"/>
              </a:rPr>
              <a:t>u[X]=v[X]</a:t>
            </a:r>
            <a:r>
              <a:rPr lang="zh-CN" altLang="en-US" sz="2400">
                <a:latin typeface="Tahoma" pitchFamily="34" charset="0"/>
                <a:ea typeface="宋体" pitchFamily="2" charset="-122"/>
              </a:rPr>
              <a:t>且</a:t>
            </a:r>
            <a:r>
              <a:rPr lang="en-US" altLang="zh-CN" sz="2400">
                <a:latin typeface="Tahoma" pitchFamily="34" charset="0"/>
                <a:ea typeface="宋体" pitchFamily="2" charset="-122"/>
              </a:rPr>
              <a:t>u[Z]=v[Z]</a:t>
            </a:r>
            <a:r>
              <a:rPr lang="zh-CN" altLang="en-US" sz="2400">
                <a:latin typeface="Tahoma" pitchFamily="34" charset="0"/>
                <a:ea typeface="宋体" pitchFamily="2" charset="-122"/>
              </a:rPr>
              <a:t>。由</a:t>
            </a:r>
            <a:r>
              <a:rPr lang="en-US" altLang="zh-CN" sz="2400">
                <a:latin typeface="Tahoma" pitchFamily="34" charset="0"/>
                <a:ea typeface="宋体" pitchFamily="2" charset="-122"/>
              </a:rPr>
              <a:t>u[YZ]≠v[YZ]</a:t>
            </a:r>
            <a:r>
              <a:rPr lang="zh-CN" altLang="en-US" sz="2400">
                <a:latin typeface="Tahoma" pitchFamily="34" charset="0"/>
                <a:ea typeface="宋体" pitchFamily="2" charset="-122"/>
              </a:rPr>
              <a:t>可知</a:t>
            </a:r>
            <a:r>
              <a:rPr lang="en-US" altLang="zh-CN" sz="2400">
                <a:latin typeface="Tahoma" pitchFamily="34" charset="0"/>
                <a:ea typeface="宋体" pitchFamily="2" charset="-122"/>
              </a:rPr>
              <a:t>u[Y]≠v[Y]</a:t>
            </a:r>
            <a:r>
              <a:rPr lang="zh-CN" altLang="en-US" sz="2400">
                <a:latin typeface="Tahoma" pitchFamily="34" charset="0"/>
                <a:ea typeface="宋体" pitchFamily="2" charset="-122"/>
              </a:rPr>
              <a:t>或</a:t>
            </a:r>
            <a:r>
              <a:rPr lang="en-US" altLang="zh-CN" sz="2400">
                <a:latin typeface="Tahoma" pitchFamily="34" charset="0"/>
                <a:ea typeface="宋体" pitchFamily="2" charset="-122"/>
              </a:rPr>
              <a:t>u[Z]≠v[Z]</a:t>
            </a:r>
            <a:r>
              <a:rPr lang="zh-CN" altLang="en-US" sz="2400">
                <a:latin typeface="Tahoma" pitchFamily="34" charset="0"/>
                <a:ea typeface="宋体" pitchFamily="2" charset="-122"/>
              </a:rPr>
              <a:t>，这两种情况显然与前面的结论矛盾，假设不成立，公理得证。</a:t>
            </a:r>
            <a:endParaRPr lang="en-US" altLang="zh-CN" sz="2400">
              <a:latin typeface="Tahoma" pitchFamily="34" charset="0"/>
              <a:ea typeface="宋体" pitchFamily="2" charset="-122"/>
            </a:endParaRPr>
          </a:p>
        </p:txBody>
      </p:sp>
    </p:spTree>
    <p:extLst>
      <p:ext uri="{BB962C8B-B14F-4D97-AF65-F5344CB8AC3E}">
        <p14:creationId xmlns:p14="http://schemas.microsoft.com/office/powerpoint/2010/main" val="572001213"/>
      </p:ext>
    </p:extLst>
  </p:cSld>
  <p:clrMapOvr>
    <a:masterClrMapping/>
  </p:clrMapOvr>
  <p:transition spd="slow">
    <p:wipe dir="r"/>
    <p:sndAc>
      <p:stSnd>
        <p:snd r:embed="rId2" name="arrow.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4294967295"/>
          </p:nvPr>
        </p:nvSpPr>
        <p:spPr>
          <a:xfrm>
            <a:off x="527051" y="260350"/>
            <a:ext cx="10363200" cy="4114800"/>
          </a:xfrm>
        </p:spPr>
        <p:txBody>
          <a:bodyPr>
            <a:normAutofit lnSpcReduction="10000"/>
          </a:bodyPr>
          <a:lstStyle/>
          <a:p>
            <a:pPr>
              <a:lnSpc>
                <a:spcPct val="150000"/>
              </a:lnSpc>
              <a:buFontTx/>
              <a:buNone/>
            </a:pPr>
            <a:r>
              <a:rPr lang="en-US" altLang="zh-CN" sz="3200">
                <a:latin typeface="Tahoma" pitchFamily="34" charset="0"/>
                <a:ea typeface="宋体" pitchFamily="2" charset="-122"/>
              </a:rPr>
              <a:t>(3) </a:t>
            </a:r>
            <a:r>
              <a:rPr lang="zh-CN" altLang="en-US" sz="3200">
                <a:latin typeface="Tahoma" pitchFamily="34" charset="0"/>
                <a:ea typeface="宋体" pitchFamily="2" charset="-122"/>
              </a:rPr>
              <a:t>传递律</a:t>
            </a:r>
          </a:p>
          <a:p>
            <a:pPr>
              <a:lnSpc>
                <a:spcPct val="150000"/>
              </a:lnSpc>
            </a:pPr>
            <a:r>
              <a:rPr lang="zh-CN" altLang="en-US" sz="3200">
                <a:latin typeface="Tahoma" pitchFamily="34" charset="0"/>
                <a:ea typeface="宋体" pitchFamily="2" charset="-122"/>
              </a:rPr>
              <a:t>如果</a:t>
            </a:r>
            <a:r>
              <a:rPr lang="en-US" altLang="zh-CN" sz="3200">
                <a:latin typeface="Tahoma" pitchFamily="34" charset="0"/>
                <a:ea typeface="宋体" pitchFamily="2" charset="-122"/>
              </a:rPr>
              <a:t>X→Y</a:t>
            </a:r>
            <a:r>
              <a:rPr lang="zh-CN" altLang="en-US" sz="3200">
                <a:latin typeface="Tahoma" pitchFamily="34" charset="0"/>
                <a:ea typeface="宋体" pitchFamily="2" charset="-122"/>
              </a:rPr>
              <a:t>和</a:t>
            </a:r>
            <a:r>
              <a:rPr lang="en-US" altLang="zh-CN" sz="3200">
                <a:latin typeface="Tahoma" pitchFamily="34" charset="0"/>
                <a:ea typeface="宋体" pitchFamily="2" charset="-122"/>
              </a:rPr>
              <a:t>Y→Z</a:t>
            </a:r>
            <a:r>
              <a:rPr lang="zh-CN" altLang="en-US" sz="3200">
                <a:latin typeface="Tahoma" pitchFamily="34" charset="0"/>
                <a:ea typeface="宋体" pitchFamily="2" charset="-122"/>
              </a:rPr>
              <a:t>在</a:t>
            </a:r>
            <a:r>
              <a:rPr lang="en-US" altLang="zh-CN" sz="3200">
                <a:latin typeface="Tahoma" pitchFamily="34" charset="0"/>
                <a:ea typeface="宋体" pitchFamily="2" charset="-122"/>
              </a:rPr>
              <a:t>R</a:t>
            </a:r>
            <a:r>
              <a:rPr lang="zh-CN" altLang="en-US" sz="3200">
                <a:latin typeface="Tahoma" pitchFamily="34" charset="0"/>
                <a:ea typeface="宋体" pitchFamily="2" charset="-122"/>
              </a:rPr>
              <a:t>上成立，则</a:t>
            </a:r>
            <a:r>
              <a:rPr lang="en-US" altLang="zh-CN" sz="3200">
                <a:latin typeface="Tahoma" pitchFamily="34" charset="0"/>
                <a:ea typeface="宋体" pitchFamily="2" charset="-122"/>
              </a:rPr>
              <a:t>X→Z</a:t>
            </a:r>
            <a:r>
              <a:rPr lang="zh-CN" altLang="en-US" sz="3200">
                <a:latin typeface="Tahoma" pitchFamily="34" charset="0"/>
                <a:ea typeface="宋体" pitchFamily="2" charset="-122"/>
              </a:rPr>
              <a:t>在</a:t>
            </a:r>
            <a:r>
              <a:rPr lang="en-US" altLang="zh-CN" sz="3200">
                <a:latin typeface="Tahoma" pitchFamily="34" charset="0"/>
                <a:ea typeface="宋体" pitchFamily="2" charset="-122"/>
              </a:rPr>
              <a:t>R</a:t>
            </a:r>
            <a:r>
              <a:rPr lang="zh-CN" altLang="en-US" sz="3200">
                <a:latin typeface="Tahoma" pitchFamily="34" charset="0"/>
                <a:ea typeface="宋体" pitchFamily="2" charset="-122"/>
              </a:rPr>
              <a:t>上也成立。</a:t>
            </a:r>
          </a:p>
          <a:p>
            <a:pPr lvl="1">
              <a:lnSpc>
                <a:spcPct val="150000"/>
              </a:lnSpc>
            </a:pPr>
            <a:r>
              <a:rPr lang="zh-CN" altLang="en-US" sz="2800">
                <a:latin typeface="Tahoma" pitchFamily="34" charset="0"/>
                <a:ea typeface="宋体" pitchFamily="2" charset="-122"/>
              </a:rPr>
              <a:t>证明：对于</a:t>
            </a:r>
            <a:r>
              <a:rPr lang="en-US" altLang="zh-CN" sz="2800">
                <a:latin typeface="Tahoma" pitchFamily="34" charset="0"/>
                <a:ea typeface="宋体" pitchFamily="2" charset="-122"/>
              </a:rPr>
              <a:t>R</a:t>
            </a:r>
            <a:r>
              <a:rPr lang="zh-CN" altLang="en-US" sz="2800">
                <a:latin typeface="Tahoma" pitchFamily="34" charset="0"/>
                <a:ea typeface="宋体" pitchFamily="2" charset="-122"/>
              </a:rPr>
              <a:t>中的任意关系</a:t>
            </a:r>
            <a:r>
              <a:rPr lang="en-US" altLang="zh-CN" sz="2800">
                <a:latin typeface="Tahoma" pitchFamily="34" charset="0"/>
                <a:ea typeface="宋体" pitchFamily="2" charset="-122"/>
              </a:rPr>
              <a:t>r</a:t>
            </a:r>
            <a:r>
              <a:rPr lang="zh-CN" altLang="en-US" sz="2800">
                <a:latin typeface="Tahoma" pitchFamily="34" charset="0"/>
                <a:ea typeface="宋体" pitchFamily="2" charset="-122"/>
              </a:rPr>
              <a:t>中的任意两个元组</a:t>
            </a:r>
            <a:r>
              <a:rPr lang="en-US" altLang="zh-CN" sz="2800">
                <a:latin typeface="Tahoma" pitchFamily="34" charset="0"/>
                <a:ea typeface="宋体" pitchFamily="2" charset="-122"/>
              </a:rPr>
              <a:t>u</a:t>
            </a:r>
            <a:r>
              <a:rPr lang="zh-CN" altLang="en-US" sz="2800">
                <a:latin typeface="Tahoma" pitchFamily="34" charset="0"/>
                <a:ea typeface="宋体" pitchFamily="2" charset="-122"/>
              </a:rPr>
              <a:t>和</a:t>
            </a:r>
            <a:r>
              <a:rPr lang="en-US" altLang="zh-CN" sz="2800">
                <a:latin typeface="Tahoma" pitchFamily="34" charset="0"/>
                <a:ea typeface="宋体" pitchFamily="2" charset="-122"/>
              </a:rPr>
              <a:t>v</a:t>
            </a:r>
            <a:r>
              <a:rPr lang="zh-CN" altLang="en-US" sz="2800">
                <a:latin typeface="Tahoma" pitchFamily="34" charset="0"/>
                <a:ea typeface="宋体" pitchFamily="2" charset="-122"/>
              </a:rPr>
              <a:t>，由</a:t>
            </a:r>
            <a:r>
              <a:rPr lang="en-US" altLang="zh-CN" sz="2800">
                <a:latin typeface="Tahoma" pitchFamily="34" charset="0"/>
                <a:ea typeface="宋体" pitchFamily="2" charset="-122"/>
              </a:rPr>
              <a:t>X→Y</a:t>
            </a:r>
            <a:r>
              <a:rPr lang="zh-CN" altLang="en-US" sz="2800">
                <a:latin typeface="Tahoma" pitchFamily="34" charset="0"/>
                <a:ea typeface="宋体" pitchFamily="2" charset="-122"/>
              </a:rPr>
              <a:t>得出当</a:t>
            </a:r>
            <a:r>
              <a:rPr lang="en-US" altLang="zh-CN" sz="2800">
                <a:latin typeface="Tahoma" pitchFamily="34" charset="0"/>
                <a:ea typeface="宋体" pitchFamily="2" charset="-122"/>
              </a:rPr>
              <a:t>u[X]=v[X]</a:t>
            </a:r>
            <a:r>
              <a:rPr lang="zh-CN" altLang="en-US" sz="2800">
                <a:latin typeface="Tahoma" pitchFamily="34" charset="0"/>
                <a:ea typeface="宋体" pitchFamily="2" charset="-122"/>
              </a:rPr>
              <a:t>时必有</a:t>
            </a:r>
            <a:r>
              <a:rPr lang="en-US" altLang="zh-CN" sz="2800">
                <a:latin typeface="Tahoma" pitchFamily="34" charset="0"/>
                <a:ea typeface="宋体" pitchFamily="2" charset="-122"/>
              </a:rPr>
              <a:t>u[Y]=v[Y]</a:t>
            </a:r>
            <a:r>
              <a:rPr lang="zh-CN" altLang="en-US" sz="2800">
                <a:latin typeface="Tahoma" pitchFamily="34" charset="0"/>
                <a:ea typeface="宋体" pitchFamily="2" charset="-122"/>
              </a:rPr>
              <a:t>。由</a:t>
            </a:r>
            <a:r>
              <a:rPr lang="en-US" altLang="zh-CN" sz="2800">
                <a:latin typeface="Tahoma" pitchFamily="34" charset="0"/>
                <a:ea typeface="宋体" pitchFamily="2" charset="-122"/>
              </a:rPr>
              <a:t>Y→Z</a:t>
            </a:r>
            <a:r>
              <a:rPr lang="zh-CN" altLang="en-US" sz="2800">
                <a:latin typeface="Tahoma" pitchFamily="34" charset="0"/>
                <a:ea typeface="宋体" pitchFamily="2" charset="-122"/>
              </a:rPr>
              <a:t>得出当</a:t>
            </a:r>
            <a:r>
              <a:rPr lang="en-US" altLang="zh-CN" sz="2800">
                <a:latin typeface="Tahoma" pitchFamily="34" charset="0"/>
                <a:ea typeface="宋体" pitchFamily="2" charset="-122"/>
              </a:rPr>
              <a:t>u[Y]=v[Y]</a:t>
            </a:r>
            <a:r>
              <a:rPr lang="zh-CN" altLang="en-US" sz="2800">
                <a:latin typeface="Tahoma" pitchFamily="34" charset="0"/>
                <a:ea typeface="宋体" pitchFamily="2" charset="-122"/>
              </a:rPr>
              <a:t>时必有</a:t>
            </a:r>
            <a:r>
              <a:rPr lang="en-US" altLang="zh-CN" sz="2800">
                <a:latin typeface="Tahoma" pitchFamily="34" charset="0"/>
                <a:ea typeface="宋体" pitchFamily="2" charset="-122"/>
              </a:rPr>
              <a:t>u[Z]=v[Z]</a:t>
            </a:r>
            <a:r>
              <a:rPr lang="zh-CN" altLang="en-US" sz="2800">
                <a:latin typeface="Tahoma" pitchFamily="34" charset="0"/>
                <a:ea typeface="宋体" pitchFamily="2" charset="-122"/>
              </a:rPr>
              <a:t>。两者联立可得，当</a:t>
            </a:r>
            <a:r>
              <a:rPr lang="en-US" altLang="zh-CN" sz="2800">
                <a:latin typeface="Tahoma" pitchFamily="34" charset="0"/>
                <a:ea typeface="宋体" pitchFamily="2" charset="-122"/>
              </a:rPr>
              <a:t>u[X]=v[X]</a:t>
            </a:r>
            <a:r>
              <a:rPr lang="zh-CN" altLang="en-US" sz="2800">
                <a:latin typeface="Tahoma" pitchFamily="34" charset="0"/>
                <a:ea typeface="宋体" pitchFamily="2" charset="-122"/>
              </a:rPr>
              <a:t>时，有</a:t>
            </a:r>
            <a:r>
              <a:rPr lang="en-US" altLang="zh-CN" sz="2800">
                <a:latin typeface="Tahoma" pitchFamily="34" charset="0"/>
                <a:ea typeface="宋体" pitchFamily="2" charset="-122"/>
              </a:rPr>
              <a:t>u[Z]=v[Z]</a:t>
            </a:r>
            <a:r>
              <a:rPr lang="zh-CN" altLang="en-US" sz="2800">
                <a:latin typeface="Tahoma" pitchFamily="34" charset="0"/>
                <a:ea typeface="宋体" pitchFamily="2" charset="-122"/>
              </a:rPr>
              <a:t>，即</a:t>
            </a:r>
            <a:r>
              <a:rPr lang="en-US" altLang="zh-CN" sz="2800">
                <a:latin typeface="Tahoma" pitchFamily="34" charset="0"/>
                <a:ea typeface="宋体" pitchFamily="2" charset="-122"/>
              </a:rPr>
              <a:t>X→Z</a:t>
            </a:r>
            <a:r>
              <a:rPr lang="zh-CN" altLang="en-US" sz="2800">
                <a:latin typeface="Tahoma" pitchFamily="34" charset="0"/>
                <a:ea typeface="宋体" pitchFamily="2" charset="-122"/>
              </a:rPr>
              <a:t>成立，公理得证。</a:t>
            </a:r>
          </a:p>
        </p:txBody>
      </p:sp>
    </p:spTree>
    <p:extLst>
      <p:ext uri="{BB962C8B-B14F-4D97-AF65-F5344CB8AC3E}">
        <p14:creationId xmlns:p14="http://schemas.microsoft.com/office/powerpoint/2010/main" val="1927067598"/>
      </p:ext>
    </p:extLst>
  </p:cSld>
  <p:clrMapOvr>
    <a:masterClrMapping/>
  </p:clrMapOvr>
  <p:transition spd="slow">
    <p:wipe dir="r"/>
    <p:sndAc>
      <p:stSnd>
        <p:snd r:embed="rId2" name="arrow.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body" idx="4294967295"/>
          </p:nvPr>
        </p:nvSpPr>
        <p:spPr>
          <a:xfrm>
            <a:off x="719667" y="692150"/>
            <a:ext cx="10363200" cy="4114800"/>
          </a:xfrm>
        </p:spPr>
        <p:txBody>
          <a:bodyPr/>
          <a:lstStyle/>
          <a:p>
            <a:pPr>
              <a:lnSpc>
                <a:spcPct val="150000"/>
              </a:lnSpc>
            </a:pPr>
            <a:r>
              <a:rPr lang="zh-CN" altLang="en-US">
                <a:latin typeface="Tahoma" pitchFamily="34" charset="0"/>
                <a:ea typeface="宋体" pitchFamily="2" charset="-122"/>
              </a:rPr>
              <a:t>通过以上三条推理规则的证明，可以得出推理规则正确性的定理。</a:t>
            </a:r>
          </a:p>
          <a:p>
            <a:pPr>
              <a:lnSpc>
                <a:spcPct val="150000"/>
              </a:lnSpc>
            </a:pPr>
            <a:r>
              <a:rPr lang="zh-CN" altLang="en-US">
                <a:latin typeface="Tahoma" pitchFamily="34" charset="0"/>
                <a:ea typeface="宋体" pitchFamily="2" charset="-122"/>
              </a:rPr>
              <a:t>定理</a:t>
            </a:r>
            <a:r>
              <a:rPr lang="en-US" altLang="zh-CN">
                <a:latin typeface="Tahoma" pitchFamily="34" charset="0"/>
                <a:ea typeface="宋体" pitchFamily="2" charset="-122"/>
              </a:rPr>
              <a:t>6.1 Armstrong</a:t>
            </a:r>
            <a:r>
              <a:rPr lang="zh-CN" altLang="en-US">
                <a:latin typeface="Tahoma" pitchFamily="34" charset="0"/>
                <a:ea typeface="宋体" pitchFamily="2" charset="-122"/>
              </a:rPr>
              <a:t>公理的推理规则是正确的。也就是说，如果</a:t>
            </a:r>
            <a:r>
              <a:rPr lang="en-US" altLang="zh-CN">
                <a:latin typeface="Tahoma" pitchFamily="34" charset="0"/>
                <a:ea typeface="宋体" pitchFamily="2" charset="-122"/>
              </a:rPr>
              <a:t>X→Y</a:t>
            </a:r>
            <a:r>
              <a:rPr lang="zh-CN" altLang="en-US">
                <a:latin typeface="Tahoma" pitchFamily="34" charset="0"/>
                <a:ea typeface="宋体" pitchFamily="2" charset="-122"/>
              </a:rPr>
              <a:t>是根据推理规则从</a:t>
            </a:r>
            <a:r>
              <a:rPr lang="en-US" altLang="zh-CN">
                <a:latin typeface="Tahoma" pitchFamily="34" charset="0"/>
                <a:ea typeface="宋体" pitchFamily="2" charset="-122"/>
              </a:rPr>
              <a:t>F</a:t>
            </a:r>
            <a:r>
              <a:rPr lang="zh-CN" altLang="en-US">
                <a:latin typeface="Tahoma" pitchFamily="34" charset="0"/>
                <a:ea typeface="宋体" pitchFamily="2" charset="-122"/>
              </a:rPr>
              <a:t>中导出的，则</a:t>
            </a:r>
            <a:r>
              <a:rPr lang="en-US" altLang="zh-CN">
                <a:latin typeface="Tahoma" pitchFamily="34" charset="0"/>
                <a:ea typeface="宋体" pitchFamily="2" charset="-122"/>
              </a:rPr>
              <a:t>X→Y</a:t>
            </a:r>
            <a:r>
              <a:rPr lang="zh-CN" altLang="en-US">
                <a:latin typeface="Tahoma" pitchFamily="34" charset="0"/>
                <a:ea typeface="宋体" pitchFamily="2" charset="-122"/>
              </a:rPr>
              <a:t>在</a:t>
            </a:r>
            <a:r>
              <a:rPr lang="en-US" altLang="zh-CN">
                <a:latin typeface="Tahoma" pitchFamily="34" charset="0"/>
                <a:ea typeface="宋体" pitchFamily="2" charset="-122"/>
              </a:rPr>
              <a:t>F</a:t>
            </a:r>
            <a:r>
              <a:rPr lang="en-US" altLang="zh-CN" baseline="30000">
                <a:latin typeface="Tahoma" pitchFamily="34" charset="0"/>
                <a:ea typeface="宋体" pitchFamily="2" charset="-122"/>
              </a:rPr>
              <a:t>+</a:t>
            </a:r>
            <a:r>
              <a:rPr lang="zh-CN" altLang="en-US">
                <a:latin typeface="Tahoma" pitchFamily="34" charset="0"/>
                <a:ea typeface="宋体" pitchFamily="2" charset="-122"/>
              </a:rPr>
              <a:t>中。</a:t>
            </a:r>
          </a:p>
        </p:txBody>
      </p:sp>
    </p:spTree>
    <p:extLst>
      <p:ext uri="{BB962C8B-B14F-4D97-AF65-F5344CB8AC3E}">
        <p14:creationId xmlns:p14="http://schemas.microsoft.com/office/powerpoint/2010/main" val="1899038437"/>
      </p:ext>
    </p:extLst>
  </p:cSld>
  <p:clrMapOvr>
    <a:masterClrMapping/>
  </p:clrMapOvr>
  <p:transition spd="slow">
    <p:wipe dir="r"/>
    <p:sndAc>
      <p:stSnd>
        <p:snd r:embed="rId2" name="arrow.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body" idx="4294967295"/>
          </p:nvPr>
        </p:nvSpPr>
        <p:spPr>
          <a:xfrm>
            <a:off x="334435" y="549275"/>
            <a:ext cx="10945284" cy="4114800"/>
          </a:xfrm>
        </p:spPr>
        <p:txBody>
          <a:bodyPr>
            <a:normAutofit fontScale="92500" lnSpcReduction="10000"/>
          </a:bodyPr>
          <a:lstStyle/>
          <a:p>
            <a:pPr>
              <a:lnSpc>
                <a:spcPct val="150000"/>
              </a:lnSpc>
              <a:buFontTx/>
              <a:buNone/>
            </a:pPr>
            <a:r>
              <a:rPr lang="en-US" altLang="zh-CN" sz="2800">
                <a:latin typeface="Tahoma" pitchFamily="34" charset="0"/>
                <a:ea typeface="宋体" pitchFamily="2" charset="-122"/>
              </a:rPr>
              <a:t>2. Armstrong</a:t>
            </a:r>
            <a:r>
              <a:rPr lang="zh-CN" altLang="en-US" sz="2800">
                <a:latin typeface="Tahoma" pitchFamily="34" charset="0"/>
                <a:ea typeface="宋体" pitchFamily="2" charset="-122"/>
              </a:rPr>
              <a:t>公理系统的推论</a:t>
            </a:r>
          </a:p>
          <a:p>
            <a:pPr>
              <a:lnSpc>
                <a:spcPct val="150000"/>
              </a:lnSpc>
            </a:pPr>
            <a:r>
              <a:rPr lang="zh-CN" altLang="en-US" sz="2800">
                <a:latin typeface="Tahoma" pitchFamily="34" charset="0"/>
                <a:ea typeface="宋体" pitchFamily="2" charset="-122"/>
              </a:rPr>
              <a:t>根据三条基本的推理规则，可以导出以下</a:t>
            </a:r>
            <a:r>
              <a:rPr lang="en-US" altLang="zh-CN" sz="2800">
                <a:solidFill>
                  <a:srgbClr val="FF0000"/>
                </a:solidFill>
                <a:latin typeface="Tahoma" pitchFamily="34" charset="0"/>
                <a:ea typeface="宋体" pitchFamily="2" charset="-122"/>
              </a:rPr>
              <a:t>4</a:t>
            </a:r>
            <a:r>
              <a:rPr lang="zh-CN" altLang="en-US" sz="2800">
                <a:latin typeface="Tahoma" pitchFamily="34" charset="0"/>
                <a:ea typeface="宋体" pitchFamily="2" charset="-122"/>
              </a:rPr>
              <a:t>条有用的推论。</a:t>
            </a:r>
          </a:p>
          <a:p>
            <a:pPr>
              <a:lnSpc>
                <a:spcPct val="150000"/>
              </a:lnSpc>
              <a:buFontTx/>
              <a:buNone/>
            </a:pPr>
            <a:r>
              <a:rPr lang="en-US" altLang="zh-CN" sz="2800">
                <a:latin typeface="Tahoma" pitchFamily="34" charset="0"/>
                <a:ea typeface="宋体" pitchFamily="2" charset="-122"/>
              </a:rPr>
              <a:t>(1) </a:t>
            </a:r>
            <a:r>
              <a:rPr lang="zh-CN" altLang="en-US" sz="2800">
                <a:latin typeface="Tahoma" pitchFamily="34" charset="0"/>
                <a:ea typeface="宋体" pitchFamily="2" charset="-122"/>
              </a:rPr>
              <a:t>合并律</a:t>
            </a:r>
          </a:p>
          <a:p>
            <a:pPr>
              <a:lnSpc>
                <a:spcPct val="150000"/>
              </a:lnSpc>
            </a:pPr>
            <a:r>
              <a:rPr lang="zh-CN" altLang="en-US" sz="2800">
                <a:solidFill>
                  <a:srgbClr val="FF0000"/>
                </a:solidFill>
                <a:latin typeface="Tahoma" pitchFamily="34" charset="0"/>
                <a:ea typeface="宋体" pitchFamily="2" charset="-122"/>
              </a:rPr>
              <a:t>若</a:t>
            </a:r>
            <a:r>
              <a:rPr lang="en-US" altLang="zh-CN" sz="2800">
                <a:solidFill>
                  <a:srgbClr val="FF0000"/>
                </a:solidFill>
                <a:latin typeface="Tahoma" pitchFamily="34" charset="0"/>
                <a:ea typeface="宋体" pitchFamily="2" charset="-122"/>
              </a:rPr>
              <a:t>X→Y</a:t>
            </a:r>
            <a:r>
              <a:rPr lang="zh-CN" altLang="en-US" sz="2800">
                <a:solidFill>
                  <a:srgbClr val="FF0000"/>
                </a:solidFill>
                <a:latin typeface="Tahoma" pitchFamily="34" charset="0"/>
                <a:ea typeface="宋体" pitchFamily="2" charset="-122"/>
              </a:rPr>
              <a:t>，</a:t>
            </a:r>
            <a:r>
              <a:rPr lang="en-US" altLang="zh-CN" sz="2800">
                <a:solidFill>
                  <a:srgbClr val="FF0000"/>
                </a:solidFill>
                <a:latin typeface="Tahoma" pitchFamily="34" charset="0"/>
                <a:ea typeface="宋体" pitchFamily="2" charset="-122"/>
              </a:rPr>
              <a:t>X→Z</a:t>
            </a:r>
            <a:r>
              <a:rPr lang="zh-CN" altLang="en-US" sz="2800">
                <a:solidFill>
                  <a:srgbClr val="FF0000"/>
                </a:solidFill>
                <a:latin typeface="Tahoma" pitchFamily="34" charset="0"/>
                <a:ea typeface="宋体" pitchFamily="2" charset="-122"/>
              </a:rPr>
              <a:t>，则</a:t>
            </a:r>
            <a:r>
              <a:rPr lang="en-US" altLang="zh-CN" sz="2800">
                <a:solidFill>
                  <a:srgbClr val="FF0000"/>
                </a:solidFill>
                <a:latin typeface="Tahoma" pitchFamily="34" charset="0"/>
                <a:ea typeface="宋体" pitchFamily="2" charset="-122"/>
              </a:rPr>
              <a:t>X→YZ</a:t>
            </a:r>
            <a:r>
              <a:rPr lang="zh-CN" altLang="en-US" sz="2800">
                <a:solidFill>
                  <a:srgbClr val="FF0000"/>
                </a:solidFill>
                <a:latin typeface="Tahoma" pitchFamily="34" charset="0"/>
                <a:ea typeface="宋体" pitchFamily="2" charset="-122"/>
              </a:rPr>
              <a:t>。</a:t>
            </a:r>
          </a:p>
          <a:p>
            <a:pPr lvl="1">
              <a:lnSpc>
                <a:spcPct val="150000"/>
              </a:lnSpc>
            </a:pPr>
            <a:r>
              <a:rPr lang="zh-CN" altLang="en-US" sz="2400">
                <a:latin typeface="Tahoma" pitchFamily="34" charset="0"/>
                <a:ea typeface="宋体" pitchFamily="2" charset="-122"/>
              </a:rPr>
              <a:t>证明：对于</a:t>
            </a:r>
            <a:r>
              <a:rPr lang="en-US" altLang="zh-CN" sz="2400">
                <a:latin typeface="Tahoma" pitchFamily="34" charset="0"/>
                <a:ea typeface="宋体" pitchFamily="2" charset="-122"/>
              </a:rPr>
              <a:t>R</a:t>
            </a:r>
            <a:r>
              <a:rPr lang="zh-CN" altLang="en-US" sz="2400">
                <a:latin typeface="Tahoma" pitchFamily="34" charset="0"/>
                <a:ea typeface="宋体" pitchFamily="2" charset="-122"/>
              </a:rPr>
              <a:t>中的任意一个关系</a:t>
            </a:r>
            <a:r>
              <a:rPr lang="en-US" altLang="zh-CN" sz="2400">
                <a:latin typeface="Tahoma" pitchFamily="34" charset="0"/>
                <a:ea typeface="宋体" pitchFamily="2" charset="-122"/>
              </a:rPr>
              <a:t>r</a:t>
            </a:r>
            <a:r>
              <a:rPr lang="zh-CN" altLang="en-US" sz="2400">
                <a:latin typeface="Tahoma" pitchFamily="34" charset="0"/>
                <a:ea typeface="宋体" pitchFamily="2" charset="-122"/>
              </a:rPr>
              <a:t>中的任意两个元组</a:t>
            </a:r>
            <a:r>
              <a:rPr lang="en-US" altLang="zh-CN" sz="2400">
                <a:latin typeface="Tahoma" pitchFamily="34" charset="0"/>
                <a:ea typeface="宋体" pitchFamily="2" charset="-122"/>
              </a:rPr>
              <a:t>u</a:t>
            </a:r>
            <a:r>
              <a:rPr lang="zh-CN" altLang="en-US" sz="2400">
                <a:latin typeface="Tahoma" pitchFamily="34" charset="0"/>
                <a:ea typeface="宋体" pitchFamily="2" charset="-122"/>
              </a:rPr>
              <a:t>和</a:t>
            </a:r>
            <a:r>
              <a:rPr lang="en-US" altLang="zh-CN" sz="2400">
                <a:latin typeface="Tahoma" pitchFamily="34" charset="0"/>
                <a:ea typeface="宋体" pitchFamily="2" charset="-122"/>
              </a:rPr>
              <a:t>v</a:t>
            </a:r>
            <a:r>
              <a:rPr lang="zh-CN" altLang="en-US" sz="2400">
                <a:latin typeface="Tahoma" pitchFamily="34" charset="0"/>
                <a:ea typeface="宋体" pitchFamily="2" charset="-122"/>
              </a:rPr>
              <a:t>，很明显当</a:t>
            </a:r>
            <a:r>
              <a:rPr lang="en-US" altLang="zh-CN" sz="2400">
                <a:latin typeface="Tahoma" pitchFamily="34" charset="0"/>
                <a:ea typeface="宋体" pitchFamily="2" charset="-122"/>
              </a:rPr>
              <a:t>u[X]=v[X]</a:t>
            </a:r>
            <a:r>
              <a:rPr lang="zh-CN" altLang="en-US" sz="2400">
                <a:latin typeface="Tahoma" pitchFamily="34" charset="0"/>
                <a:ea typeface="宋体" pitchFamily="2" charset="-122"/>
              </a:rPr>
              <a:t>时必有</a:t>
            </a:r>
            <a:r>
              <a:rPr lang="en-US" altLang="zh-CN" sz="2400">
                <a:latin typeface="Tahoma" pitchFamily="34" charset="0"/>
                <a:ea typeface="宋体" pitchFamily="2" charset="-122"/>
              </a:rPr>
              <a:t>u[XX]=v[XX]</a:t>
            </a:r>
            <a:r>
              <a:rPr lang="zh-CN" altLang="en-US" sz="2400">
                <a:latin typeface="Tahoma" pitchFamily="34" charset="0"/>
                <a:ea typeface="宋体" pitchFamily="2" charset="-122"/>
              </a:rPr>
              <a:t>，即</a:t>
            </a:r>
            <a:r>
              <a:rPr lang="en-US" altLang="zh-CN" sz="2400">
                <a:latin typeface="Tahoma" pitchFamily="34" charset="0"/>
                <a:ea typeface="宋体" pitchFamily="2" charset="-122"/>
              </a:rPr>
              <a:t>X→XX</a:t>
            </a:r>
            <a:r>
              <a:rPr lang="zh-CN" altLang="en-US" sz="2400">
                <a:latin typeface="Tahoma" pitchFamily="34" charset="0"/>
                <a:ea typeface="宋体" pitchFamily="2" charset="-122"/>
              </a:rPr>
              <a:t>。由</a:t>
            </a:r>
            <a:r>
              <a:rPr lang="en-US" altLang="zh-CN" sz="2400">
                <a:latin typeface="Tahoma" pitchFamily="34" charset="0"/>
                <a:ea typeface="宋体" pitchFamily="2" charset="-122"/>
              </a:rPr>
              <a:t>X→Y</a:t>
            </a:r>
            <a:r>
              <a:rPr lang="zh-CN" altLang="en-US" sz="2400">
                <a:latin typeface="Tahoma" pitchFamily="34" charset="0"/>
                <a:ea typeface="宋体" pitchFamily="2" charset="-122"/>
              </a:rPr>
              <a:t>可得</a:t>
            </a:r>
            <a:r>
              <a:rPr lang="en-US" altLang="zh-CN" sz="2400">
                <a:latin typeface="Tahoma" pitchFamily="34" charset="0"/>
                <a:ea typeface="宋体" pitchFamily="2" charset="-122"/>
              </a:rPr>
              <a:t>XX→XY</a:t>
            </a:r>
            <a:r>
              <a:rPr lang="zh-CN" altLang="en-US" sz="2400">
                <a:latin typeface="Tahoma" pitchFamily="34" charset="0"/>
                <a:ea typeface="宋体" pitchFamily="2" charset="-122"/>
              </a:rPr>
              <a:t>（增广律），从而可得</a:t>
            </a:r>
            <a:r>
              <a:rPr lang="en-US" altLang="zh-CN" sz="2400">
                <a:latin typeface="Tahoma" pitchFamily="34" charset="0"/>
                <a:ea typeface="宋体" pitchFamily="2" charset="-122"/>
              </a:rPr>
              <a:t>X→XY</a:t>
            </a:r>
            <a:r>
              <a:rPr lang="zh-CN" altLang="en-US" sz="2400">
                <a:latin typeface="Tahoma" pitchFamily="34" charset="0"/>
                <a:ea typeface="宋体" pitchFamily="2" charset="-122"/>
              </a:rPr>
              <a:t>（结合律）。由</a:t>
            </a:r>
            <a:r>
              <a:rPr lang="en-US" altLang="zh-CN" sz="2400">
                <a:latin typeface="Tahoma" pitchFamily="34" charset="0"/>
                <a:ea typeface="宋体" pitchFamily="2" charset="-122"/>
              </a:rPr>
              <a:t>X→Z</a:t>
            </a:r>
            <a:r>
              <a:rPr lang="zh-CN" altLang="en-US" sz="2400">
                <a:latin typeface="Tahoma" pitchFamily="34" charset="0"/>
                <a:ea typeface="宋体" pitchFamily="2" charset="-122"/>
              </a:rPr>
              <a:t>，可得</a:t>
            </a:r>
            <a:r>
              <a:rPr lang="en-US" altLang="zh-CN" sz="2400">
                <a:latin typeface="Tahoma" pitchFamily="34" charset="0"/>
                <a:ea typeface="宋体" pitchFamily="2" charset="-122"/>
              </a:rPr>
              <a:t>XY→YZ</a:t>
            </a:r>
            <a:r>
              <a:rPr lang="zh-CN" altLang="en-US" sz="2400">
                <a:latin typeface="Tahoma" pitchFamily="34" charset="0"/>
                <a:ea typeface="宋体" pitchFamily="2" charset="-122"/>
              </a:rPr>
              <a:t>（增广律），最后得证</a:t>
            </a:r>
            <a:r>
              <a:rPr lang="en-US" altLang="zh-CN" sz="2400">
                <a:latin typeface="Tahoma" pitchFamily="34" charset="0"/>
                <a:ea typeface="宋体" pitchFamily="2" charset="-122"/>
              </a:rPr>
              <a:t>X→YZ</a:t>
            </a:r>
            <a:r>
              <a:rPr lang="zh-CN" altLang="en-US" sz="2400">
                <a:latin typeface="Tahoma" pitchFamily="34" charset="0"/>
                <a:ea typeface="宋体" pitchFamily="2" charset="-122"/>
              </a:rPr>
              <a:t>（传递律）。</a:t>
            </a:r>
          </a:p>
        </p:txBody>
      </p:sp>
    </p:spTree>
    <p:extLst>
      <p:ext uri="{BB962C8B-B14F-4D97-AF65-F5344CB8AC3E}">
        <p14:creationId xmlns:p14="http://schemas.microsoft.com/office/powerpoint/2010/main" val="1951361172"/>
      </p:ext>
    </p:extLst>
  </p:cSld>
  <p:clrMapOvr>
    <a:masterClrMapping/>
  </p:clrMapOvr>
  <p:transition spd="slow">
    <p:wipe dir="r"/>
    <p:sndAc>
      <p:stSnd>
        <p:snd r:embed="rId2" name="arrow.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4294967295"/>
          </p:nvPr>
        </p:nvSpPr>
        <p:spPr>
          <a:xfrm>
            <a:off x="814917" y="404813"/>
            <a:ext cx="10363200" cy="4114800"/>
          </a:xfrm>
        </p:spPr>
        <p:txBody>
          <a:bodyPr>
            <a:normAutofit fontScale="77500" lnSpcReduction="20000"/>
          </a:bodyPr>
          <a:lstStyle/>
          <a:p>
            <a:pPr>
              <a:lnSpc>
                <a:spcPct val="150000"/>
              </a:lnSpc>
              <a:buFontTx/>
              <a:buNone/>
            </a:pPr>
            <a:r>
              <a:rPr lang="en-US" altLang="zh-CN" sz="3200" dirty="0">
                <a:latin typeface="Tahoma" pitchFamily="34" charset="0"/>
                <a:ea typeface="宋体" pitchFamily="2" charset="-122"/>
              </a:rPr>
              <a:t>(2) </a:t>
            </a:r>
            <a:r>
              <a:rPr lang="zh-CN" altLang="en-US" sz="3200" dirty="0">
                <a:latin typeface="Tahoma" pitchFamily="34" charset="0"/>
                <a:ea typeface="宋体" pitchFamily="2" charset="-122"/>
              </a:rPr>
              <a:t>分解律</a:t>
            </a:r>
          </a:p>
          <a:p>
            <a:pPr>
              <a:lnSpc>
                <a:spcPct val="150000"/>
              </a:lnSpc>
            </a:pPr>
            <a:r>
              <a:rPr lang="zh-CN" altLang="en-US" sz="3200" dirty="0">
                <a:latin typeface="Tahoma" pitchFamily="34" charset="0"/>
                <a:ea typeface="宋体" pitchFamily="2" charset="-122"/>
              </a:rPr>
              <a:t>若</a:t>
            </a:r>
            <a:r>
              <a:rPr lang="en-US" altLang="zh-CN" sz="3200" dirty="0">
                <a:solidFill>
                  <a:srgbClr val="FF0000"/>
                </a:solidFill>
                <a:latin typeface="Tahoma" pitchFamily="34" charset="0"/>
                <a:ea typeface="宋体" pitchFamily="2" charset="-122"/>
              </a:rPr>
              <a:t>X→Y</a:t>
            </a:r>
            <a:r>
              <a:rPr lang="zh-CN" altLang="en-US" sz="3200" dirty="0">
                <a:solidFill>
                  <a:srgbClr val="FF0000"/>
                </a:solidFill>
                <a:latin typeface="Tahoma" pitchFamily="34" charset="0"/>
                <a:ea typeface="宋体" pitchFamily="2" charset="-122"/>
              </a:rPr>
              <a:t>，</a:t>
            </a:r>
            <a:r>
              <a:rPr lang="en-US" altLang="zh-CN" sz="3200" dirty="0">
                <a:solidFill>
                  <a:srgbClr val="FF0000"/>
                </a:solidFill>
                <a:latin typeface="Tahoma" pitchFamily="34" charset="0"/>
                <a:ea typeface="宋体" pitchFamily="2" charset="-122"/>
              </a:rPr>
              <a:t>Z⊆Y</a:t>
            </a:r>
            <a:r>
              <a:rPr lang="zh-CN" altLang="en-US" sz="3200" dirty="0">
                <a:solidFill>
                  <a:srgbClr val="FF0000"/>
                </a:solidFill>
                <a:latin typeface="Tahoma" pitchFamily="34" charset="0"/>
                <a:ea typeface="宋体" pitchFamily="2" charset="-122"/>
              </a:rPr>
              <a:t>，则</a:t>
            </a:r>
            <a:r>
              <a:rPr lang="en-US" altLang="zh-CN" sz="3200" dirty="0">
                <a:solidFill>
                  <a:srgbClr val="FF0000"/>
                </a:solidFill>
                <a:latin typeface="Tahoma" pitchFamily="34" charset="0"/>
                <a:ea typeface="宋体" pitchFamily="2" charset="-122"/>
              </a:rPr>
              <a:t>X→Z</a:t>
            </a:r>
            <a:r>
              <a:rPr lang="zh-CN" altLang="en-US" sz="3200" dirty="0">
                <a:latin typeface="Tahoma" pitchFamily="34" charset="0"/>
                <a:ea typeface="宋体" pitchFamily="2" charset="-122"/>
              </a:rPr>
              <a:t>。</a:t>
            </a:r>
          </a:p>
          <a:p>
            <a:pPr lvl="1">
              <a:lnSpc>
                <a:spcPct val="150000"/>
              </a:lnSpc>
            </a:pPr>
            <a:r>
              <a:rPr lang="zh-CN" altLang="en-US" sz="2800" dirty="0">
                <a:latin typeface="Tahoma" pitchFamily="34" charset="0"/>
                <a:ea typeface="宋体" pitchFamily="2" charset="-122"/>
              </a:rPr>
              <a:t>证明：由</a:t>
            </a:r>
            <a:r>
              <a:rPr lang="en-US" altLang="zh-CN" sz="2800" dirty="0">
                <a:latin typeface="Tahoma" pitchFamily="34" charset="0"/>
                <a:ea typeface="宋体" pitchFamily="2" charset="-122"/>
              </a:rPr>
              <a:t>Z⊆Y</a:t>
            </a:r>
            <a:r>
              <a:rPr lang="zh-CN" altLang="en-US" sz="2800" dirty="0">
                <a:latin typeface="Tahoma" pitchFamily="34" charset="0"/>
                <a:ea typeface="宋体" pitchFamily="2" charset="-122"/>
              </a:rPr>
              <a:t>可得</a:t>
            </a:r>
            <a:r>
              <a:rPr lang="en-US" altLang="zh-CN" sz="2800" dirty="0">
                <a:latin typeface="Tahoma" pitchFamily="34" charset="0"/>
                <a:ea typeface="宋体" pitchFamily="2" charset="-122"/>
              </a:rPr>
              <a:t>Y→Z</a:t>
            </a:r>
            <a:r>
              <a:rPr lang="zh-CN" altLang="en-US" sz="2800" dirty="0">
                <a:latin typeface="Tahoma" pitchFamily="34" charset="0"/>
                <a:ea typeface="宋体" pitchFamily="2" charset="-122"/>
              </a:rPr>
              <a:t>（自反律），已知</a:t>
            </a:r>
            <a:r>
              <a:rPr lang="en-US" altLang="zh-CN" sz="2800" dirty="0">
                <a:latin typeface="Tahoma" pitchFamily="34" charset="0"/>
                <a:ea typeface="宋体" pitchFamily="2" charset="-122"/>
              </a:rPr>
              <a:t>X→Y</a:t>
            </a:r>
            <a:r>
              <a:rPr lang="zh-CN" altLang="en-US" sz="2800" dirty="0">
                <a:latin typeface="Tahoma" pitchFamily="34" charset="0"/>
                <a:ea typeface="宋体" pitchFamily="2" charset="-122"/>
              </a:rPr>
              <a:t>，所以得证</a:t>
            </a:r>
            <a:r>
              <a:rPr lang="en-US" altLang="zh-CN" sz="2800" dirty="0">
                <a:latin typeface="Tahoma" pitchFamily="34" charset="0"/>
                <a:ea typeface="宋体" pitchFamily="2" charset="-122"/>
              </a:rPr>
              <a:t>X→Z</a:t>
            </a:r>
            <a:r>
              <a:rPr lang="zh-CN" altLang="en-US" sz="2800" dirty="0">
                <a:latin typeface="Tahoma" pitchFamily="34" charset="0"/>
                <a:ea typeface="宋体" pitchFamily="2" charset="-122"/>
              </a:rPr>
              <a:t>（传递律）。</a:t>
            </a:r>
          </a:p>
          <a:p>
            <a:pPr>
              <a:lnSpc>
                <a:spcPct val="150000"/>
              </a:lnSpc>
              <a:buFontTx/>
              <a:buNone/>
            </a:pPr>
            <a:r>
              <a:rPr lang="en-US" altLang="zh-CN" sz="3200" dirty="0">
                <a:latin typeface="Tahoma" pitchFamily="34" charset="0"/>
                <a:ea typeface="宋体" pitchFamily="2" charset="-122"/>
              </a:rPr>
              <a:t>(3) </a:t>
            </a:r>
            <a:r>
              <a:rPr lang="zh-CN" altLang="en-US" sz="3200" dirty="0">
                <a:latin typeface="Tahoma" pitchFamily="34" charset="0"/>
                <a:ea typeface="宋体" pitchFamily="2" charset="-122"/>
              </a:rPr>
              <a:t>伪传递律</a:t>
            </a:r>
          </a:p>
          <a:p>
            <a:pPr>
              <a:lnSpc>
                <a:spcPct val="150000"/>
              </a:lnSpc>
            </a:pPr>
            <a:r>
              <a:rPr lang="zh-CN" altLang="en-US" sz="3200" dirty="0">
                <a:latin typeface="Tahoma" pitchFamily="34" charset="0"/>
                <a:ea typeface="宋体" pitchFamily="2" charset="-122"/>
              </a:rPr>
              <a:t>若</a:t>
            </a:r>
            <a:r>
              <a:rPr lang="en-US" altLang="zh-CN" sz="3200" dirty="0">
                <a:latin typeface="Tahoma" pitchFamily="34" charset="0"/>
                <a:ea typeface="宋体" pitchFamily="2" charset="-122"/>
              </a:rPr>
              <a:t>X→Y</a:t>
            </a:r>
            <a:r>
              <a:rPr lang="zh-CN" altLang="en-US" sz="3200" dirty="0">
                <a:latin typeface="Tahoma" pitchFamily="34" charset="0"/>
                <a:ea typeface="宋体" pitchFamily="2" charset="-122"/>
              </a:rPr>
              <a:t>，</a:t>
            </a:r>
            <a:r>
              <a:rPr lang="en-US" altLang="zh-CN" sz="3200" dirty="0">
                <a:latin typeface="Tahoma" pitchFamily="34" charset="0"/>
                <a:ea typeface="宋体" pitchFamily="2" charset="-122"/>
              </a:rPr>
              <a:t>WY→Z</a:t>
            </a:r>
            <a:r>
              <a:rPr lang="zh-CN" altLang="en-US" sz="3200" dirty="0">
                <a:latin typeface="Tahoma" pitchFamily="34" charset="0"/>
                <a:ea typeface="宋体" pitchFamily="2" charset="-122"/>
              </a:rPr>
              <a:t>，则</a:t>
            </a:r>
            <a:r>
              <a:rPr lang="en-US" altLang="zh-CN" sz="3200" dirty="0">
                <a:latin typeface="Tahoma" pitchFamily="34" charset="0"/>
                <a:ea typeface="宋体" pitchFamily="2" charset="-122"/>
              </a:rPr>
              <a:t>WX→Z</a:t>
            </a:r>
            <a:r>
              <a:rPr lang="zh-CN" altLang="en-US" sz="3200" dirty="0">
                <a:latin typeface="Tahoma" pitchFamily="34" charset="0"/>
                <a:ea typeface="宋体" pitchFamily="2" charset="-122"/>
              </a:rPr>
              <a:t>。</a:t>
            </a:r>
          </a:p>
          <a:p>
            <a:pPr lvl="1">
              <a:lnSpc>
                <a:spcPct val="150000"/>
              </a:lnSpc>
            </a:pPr>
            <a:r>
              <a:rPr lang="zh-CN" altLang="en-US" sz="2800" dirty="0">
                <a:latin typeface="Tahoma" pitchFamily="34" charset="0"/>
                <a:ea typeface="宋体" pitchFamily="2" charset="-122"/>
              </a:rPr>
              <a:t>证明：由</a:t>
            </a:r>
            <a:r>
              <a:rPr lang="en-US" altLang="zh-CN" sz="2800" dirty="0">
                <a:latin typeface="Tahoma" pitchFamily="34" charset="0"/>
                <a:ea typeface="宋体" pitchFamily="2" charset="-122"/>
              </a:rPr>
              <a:t>X→Y</a:t>
            </a:r>
            <a:r>
              <a:rPr lang="zh-CN" altLang="en-US" sz="2800" dirty="0">
                <a:latin typeface="Tahoma" pitchFamily="34" charset="0"/>
                <a:ea typeface="宋体" pitchFamily="2" charset="-122"/>
              </a:rPr>
              <a:t>得到</a:t>
            </a:r>
            <a:r>
              <a:rPr lang="en-US" altLang="zh-CN" sz="2800" dirty="0">
                <a:latin typeface="Tahoma" pitchFamily="34" charset="0"/>
                <a:ea typeface="宋体" pitchFamily="2" charset="-122"/>
              </a:rPr>
              <a:t>XW→YW</a:t>
            </a:r>
            <a:r>
              <a:rPr lang="zh-CN" altLang="en-US" sz="2800" dirty="0">
                <a:latin typeface="Tahoma" pitchFamily="34" charset="0"/>
                <a:ea typeface="宋体" pitchFamily="2" charset="-122"/>
              </a:rPr>
              <a:t>（增广律），再根据</a:t>
            </a:r>
            <a:r>
              <a:rPr lang="en-US" altLang="zh-CN" sz="2800" dirty="0">
                <a:latin typeface="Tahoma" pitchFamily="34" charset="0"/>
                <a:ea typeface="宋体" pitchFamily="2" charset="-122"/>
              </a:rPr>
              <a:t>WY→Z</a:t>
            </a:r>
            <a:r>
              <a:rPr lang="zh-CN" altLang="en-US" sz="2800" dirty="0">
                <a:latin typeface="Tahoma" pitchFamily="34" charset="0"/>
                <a:ea typeface="宋体" pitchFamily="2" charset="-122"/>
              </a:rPr>
              <a:t>得证</a:t>
            </a:r>
            <a:r>
              <a:rPr lang="en-US" altLang="zh-CN" sz="2800" dirty="0">
                <a:latin typeface="Tahoma" pitchFamily="34" charset="0"/>
                <a:ea typeface="宋体" pitchFamily="2" charset="-122"/>
              </a:rPr>
              <a:t>WX→Z</a:t>
            </a:r>
            <a:r>
              <a:rPr lang="zh-CN" altLang="en-US" sz="2800" dirty="0">
                <a:latin typeface="Tahoma" pitchFamily="34" charset="0"/>
                <a:ea typeface="宋体" pitchFamily="2" charset="-122"/>
              </a:rPr>
              <a:t>（传递律）。</a:t>
            </a:r>
          </a:p>
        </p:txBody>
      </p:sp>
    </p:spTree>
    <p:extLst>
      <p:ext uri="{BB962C8B-B14F-4D97-AF65-F5344CB8AC3E}">
        <p14:creationId xmlns:p14="http://schemas.microsoft.com/office/powerpoint/2010/main" val="909522378"/>
      </p:ext>
    </p:extLst>
  </p:cSld>
  <p:clrMapOvr>
    <a:masterClrMapping/>
  </p:clrMapOvr>
  <p:transition spd="slow">
    <p:wipe dir="r"/>
    <p:sndAc>
      <p:stSnd>
        <p:snd r:embed="rId2" name="arrow.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4294967295"/>
          </p:nvPr>
        </p:nvSpPr>
        <p:spPr>
          <a:xfrm>
            <a:off x="814917" y="333375"/>
            <a:ext cx="10363200" cy="4114800"/>
          </a:xfrm>
        </p:spPr>
        <p:txBody>
          <a:bodyPr/>
          <a:lstStyle/>
          <a:p>
            <a:pPr>
              <a:lnSpc>
                <a:spcPct val="150000"/>
              </a:lnSpc>
              <a:buFontTx/>
              <a:buNone/>
            </a:pPr>
            <a:r>
              <a:rPr lang="en-US" altLang="zh-CN" dirty="0">
                <a:latin typeface="Tahoma" pitchFamily="34" charset="0"/>
                <a:ea typeface="宋体" pitchFamily="2" charset="-122"/>
              </a:rPr>
              <a:t>(4) </a:t>
            </a:r>
            <a:r>
              <a:rPr lang="zh-CN" altLang="en-US" dirty="0">
                <a:latin typeface="Tahoma" pitchFamily="34" charset="0"/>
                <a:ea typeface="宋体" pitchFamily="2" charset="-122"/>
              </a:rPr>
              <a:t>复合律</a:t>
            </a:r>
          </a:p>
          <a:p>
            <a:pPr>
              <a:lnSpc>
                <a:spcPct val="150000"/>
              </a:lnSpc>
            </a:pPr>
            <a:r>
              <a:rPr lang="zh-CN" altLang="en-US" dirty="0">
                <a:solidFill>
                  <a:srgbClr val="FF0000"/>
                </a:solidFill>
                <a:latin typeface="Tahoma" pitchFamily="34" charset="0"/>
                <a:ea typeface="宋体" pitchFamily="2" charset="-122"/>
              </a:rPr>
              <a:t>若</a:t>
            </a:r>
            <a:r>
              <a:rPr lang="en-US" altLang="zh-CN" dirty="0">
                <a:solidFill>
                  <a:srgbClr val="FF0000"/>
                </a:solidFill>
                <a:latin typeface="Tahoma" pitchFamily="34" charset="0"/>
                <a:ea typeface="宋体" pitchFamily="2" charset="-122"/>
              </a:rPr>
              <a:t>X→Y</a:t>
            </a:r>
            <a:r>
              <a:rPr lang="zh-CN" altLang="en-US" dirty="0">
                <a:solidFill>
                  <a:srgbClr val="FF0000"/>
                </a:solidFill>
                <a:latin typeface="Tahoma" pitchFamily="34" charset="0"/>
                <a:ea typeface="宋体" pitchFamily="2" charset="-122"/>
              </a:rPr>
              <a:t>，</a:t>
            </a:r>
            <a:r>
              <a:rPr lang="en-US" altLang="zh-CN" dirty="0">
                <a:solidFill>
                  <a:srgbClr val="FF0000"/>
                </a:solidFill>
                <a:latin typeface="Tahoma" pitchFamily="34" charset="0"/>
                <a:ea typeface="宋体" pitchFamily="2" charset="-122"/>
              </a:rPr>
              <a:t>W→Z</a:t>
            </a:r>
            <a:r>
              <a:rPr lang="zh-CN" altLang="en-US" dirty="0">
                <a:solidFill>
                  <a:srgbClr val="FF0000"/>
                </a:solidFill>
                <a:latin typeface="Tahoma" pitchFamily="34" charset="0"/>
                <a:ea typeface="宋体" pitchFamily="2" charset="-122"/>
              </a:rPr>
              <a:t>，则</a:t>
            </a:r>
            <a:r>
              <a:rPr lang="en-US" altLang="zh-CN" dirty="0">
                <a:solidFill>
                  <a:srgbClr val="FF0000"/>
                </a:solidFill>
                <a:latin typeface="Tahoma" pitchFamily="34" charset="0"/>
                <a:ea typeface="宋体" pitchFamily="2" charset="-122"/>
              </a:rPr>
              <a:t>WX→YZ</a:t>
            </a:r>
            <a:r>
              <a:rPr lang="zh-CN" altLang="en-US" dirty="0">
                <a:latin typeface="Tahoma" pitchFamily="34" charset="0"/>
                <a:ea typeface="宋体" pitchFamily="2" charset="-122"/>
              </a:rPr>
              <a:t>。</a:t>
            </a:r>
          </a:p>
          <a:p>
            <a:pPr lvl="1">
              <a:lnSpc>
                <a:spcPct val="150000"/>
              </a:lnSpc>
            </a:pPr>
            <a:r>
              <a:rPr lang="zh-CN" altLang="en-US" dirty="0">
                <a:latin typeface="Tahoma" pitchFamily="34" charset="0"/>
                <a:ea typeface="宋体" pitchFamily="2" charset="-122"/>
              </a:rPr>
              <a:t>证明：由</a:t>
            </a:r>
            <a:r>
              <a:rPr lang="en-US" altLang="zh-CN" dirty="0">
                <a:latin typeface="Tahoma" pitchFamily="34" charset="0"/>
                <a:ea typeface="宋体" pitchFamily="2" charset="-122"/>
              </a:rPr>
              <a:t>X→Y</a:t>
            </a:r>
            <a:r>
              <a:rPr lang="zh-CN" altLang="en-US" dirty="0">
                <a:latin typeface="Tahoma" pitchFamily="34" charset="0"/>
                <a:ea typeface="宋体" pitchFamily="2" charset="-122"/>
              </a:rPr>
              <a:t>和</a:t>
            </a:r>
            <a:r>
              <a:rPr lang="en-US" altLang="zh-CN" dirty="0">
                <a:latin typeface="Tahoma" pitchFamily="34" charset="0"/>
                <a:ea typeface="宋体" pitchFamily="2" charset="-122"/>
              </a:rPr>
              <a:t>W→Z </a:t>
            </a:r>
            <a:r>
              <a:rPr lang="zh-CN" altLang="en-US" dirty="0">
                <a:latin typeface="Tahoma" pitchFamily="34" charset="0"/>
                <a:ea typeface="宋体" pitchFamily="2" charset="-122"/>
              </a:rPr>
              <a:t>可得</a:t>
            </a:r>
            <a:r>
              <a:rPr lang="en-US" altLang="zh-CN" dirty="0">
                <a:latin typeface="Tahoma" pitchFamily="34" charset="0"/>
                <a:ea typeface="宋体" pitchFamily="2" charset="-122"/>
              </a:rPr>
              <a:t>XW→YW</a:t>
            </a:r>
            <a:r>
              <a:rPr lang="zh-CN" altLang="en-US" dirty="0">
                <a:latin typeface="Tahoma" pitchFamily="34" charset="0"/>
                <a:ea typeface="宋体" pitchFamily="2" charset="-122"/>
              </a:rPr>
              <a:t>和</a:t>
            </a:r>
            <a:r>
              <a:rPr lang="en-US" altLang="zh-CN" dirty="0">
                <a:latin typeface="Tahoma" pitchFamily="34" charset="0"/>
                <a:ea typeface="宋体" pitchFamily="2" charset="-122"/>
              </a:rPr>
              <a:t>YW→YZ</a:t>
            </a:r>
            <a:r>
              <a:rPr lang="zh-CN" altLang="en-US" dirty="0">
                <a:latin typeface="Tahoma" pitchFamily="34" charset="0"/>
                <a:ea typeface="宋体" pitchFamily="2" charset="-122"/>
              </a:rPr>
              <a:t>（增广律），从而可得证</a:t>
            </a:r>
            <a:r>
              <a:rPr lang="en-US" altLang="zh-CN" dirty="0">
                <a:latin typeface="Tahoma" pitchFamily="34" charset="0"/>
                <a:ea typeface="宋体" pitchFamily="2" charset="-122"/>
              </a:rPr>
              <a:t>WX→YZ</a:t>
            </a:r>
            <a:r>
              <a:rPr lang="zh-CN" altLang="en-US" dirty="0">
                <a:latin typeface="Tahoma" pitchFamily="34" charset="0"/>
                <a:ea typeface="宋体" pitchFamily="2" charset="-122"/>
              </a:rPr>
              <a:t>（自反律）</a:t>
            </a:r>
          </a:p>
        </p:txBody>
      </p:sp>
    </p:spTree>
    <p:extLst>
      <p:ext uri="{BB962C8B-B14F-4D97-AF65-F5344CB8AC3E}">
        <p14:creationId xmlns:p14="http://schemas.microsoft.com/office/powerpoint/2010/main" val="2619899910"/>
      </p:ext>
    </p:extLst>
  </p:cSld>
  <p:clrMapOvr>
    <a:masterClrMapping/>
  </p:clrMapOvr>
  <p:transition spd="slow">
    <p:wipe dir="r"/>
    <p:sndAc>
      <p:stSnd>
        <p:snd r:embed="rId2" name="arrow.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1053142"/>
            <a:ext cx="10972800" cy="4525963"/>
          </a:xfrm>
        </p:spPr>
        <p:txBody>
          <a:bodyPr>
            <a:normAutofit fontScale="92500" lnSpcReduction="20000"/>
          </a:bodyPr>
          <a:lstStyle/>
          <a:p>
            <a:pPr>
              <a:lnSpc>
                <a:spcPct val="150000"/>
              </a:lnSpc>
            </a:pPr>
            <a:r>
              <a:rPr lang="zh-CN" altLang="en-US" dirty="0"/>
              <a:t>①</a:t>
            </a:r>
            <a:r>
              <a:rPr lang="en-US" altLang="zh-CN" dirty="0"/>
              <a:t>Armstrong</a:t>
            </a:r>
            <a:r>
              <a:rPr lang="zh-CN" altLang="en-US" dirty="0"/>
              <a:t>公理系统的</a:t>
            </a:r>
            <a:r>
              <a:rPr lang="zh-CN" altLang="en-US" dirty="0">
                <a:solidFill>
                  <a:srgbClr val="FFFF00"/>
                </a:solidFill>
              </a:rPr>
              <a:t>有效性</a:t>
            </a:r>
            <a:r>
              <a:rPr lang="zh-CN" altLang="en-US" dirty="0"/>
              <a:t>指的是：由</a:t>
            </a:r>
            <a:r>
              <a:rPr lang="en-US" altLang="zh-CN" dirty="0"/>
              <a:t>R</a:t>
            </a:r>
            <a:r>
              <a:rPr lang="zh-CN" altLang="en-US" dirty="0"/>
              <a:t>出发根据</a:t>
            </a:r>
            <a:r>
              <a:rPr lang="en-US" altLang="zh-CN" dirty="0"/>
              <a:t>Armstrong</a:t>
            </a:r>
            <a:r>
              <a:rPr lang="zh-CN" altLang="en-US" dirty="0"/>
              <a:t>公理系统推导出来的</a:t>
            </a:r>
            <a:r>
              <a:rPr lang="zh-CN" altLang="en-US" dirty="0">
                <a:solidFill>
                  <a:srgbClr val="FFFF00"/>
                </a:solidFill>
              </a:rPr>
              <a:t>每一个函数依赖</a:t>
            </a:r>
            <a:r>
              <a:rPr lang="zh-CN" altLang="en-US" dirty="0"/>
              <a:t>一定是</a:t>
            </a:r>
            <a:r>
              <a:rPr lang="en-US" altLang="zh-CN" dirty="0"/>
              <a:t>R</a:t>
            </a:r>
            <a:r>
              <a:rPr lang="zh-CN" altLang="en-US" dirty="0"/>
              <a:t>所</a:t>
            </a:r>
            <a:r>
              <a:rPr lang="zh-CN" altLang="en-US" dirty="0">
                <a:solidFill>
                  <a:srgbClr val="FFFF00"/>
                </a:solidFill>
              </a:rPr>
              <a:t>逻辑蕴含</a:t>
            </a:r>
            <a:r>
              <a:rPr lang="zh-CN" altLang="en-US" dirty="0"/>
              <a:t>的函数依赖。</a:t>
            </a:r>
            <a:endParaRPr lang="en-US" altLang="zh-CN" dirty="0"/>
          </a:p>
          <a:p>
            <a:pPr>
              <a:lnSpc>
                <a:spcPct val="150000"/>
              </a:lnSpc>
            </a:pPr>
            <a:endParaRPr lang="en-US" altLang="zh-CN" dirty="0"/>
          </a:p>
          <a:p>
            <a:pPr>
              <a:lnSpc>
                <a:spcPct val="150000"/>
              </a:lnSpc>
            </a:pPr>
            <a:r>
              <a:rPr lang="zh-CN" altLang="en-US" dirty="0"/>
              <a:t>②</a:t>
            </a:r>
            <a:r>
              <a:rPr lang="en-US" altLang="zh-CN" dirty="0"/>
              <a:t>Armstrong</a:t>
            </a:r>
            <a:r>
              <a:rPr lang="zh-CN" altLang="en-US" dirty="0"/>
              <a:t>公理系统的</a:t>
            </a:r>
            <a:r>
              <a:rPr lang="zh-CN" altLang="en-US" dirty="0">
                <a:solidFill>
                  <a:srgbClr val="FFFF00"/>
                </a:solidFill>
              </a:rPr>
              <a:t>完备性</a:t>
            </a:r>
            <a:r>
              <a:rPr lang="zh-CN" altLang="en-US" dirty="0"/>
              <a:t>指的是：对于</a:t>
            </a:r>
            <a:r>
              <a:rPr lang="en-US" altLang="zh-CN" dirty="0"/>
              <a:t>R</a:t>
            </a:r>
            <a:r>
              <a:rPr lang="zh-CN" altLang="en-US" dirty="0"/>
              <a:t>所逻辑蕴含的</a:t>
            </a:r>
            <a:r>
              <a:rPr lang="zh-CN" altLang="en-US" dirty="0">
                <a:solidFill>
                  <a:srgbClr val="FFFF00"/>
                </a:solidFill>
              </a:rPr>
              <a:t>每一函数依赖</a:t>
            </a:r>
            <a:r>
              <a:rPr lang="zh-CN" altLang="en-US" dirty="0"/>
              <a:t>，必定可以由</a:t>
            </a:r>
            <a:r>
              <a:rPr lang="en-US" altLang="zh-CN" dirty="0"/>
              <a:t>R</a:t>
            </a:r>
            <a:r>
              <a:rPr lang="zh-CN" altLang="en-US" dirty="0"/>
              <a:t>出发根据</a:t>
            </a:r>
            <a:r>
              <a:rPr lang="en-US" altLang="zh-CN" dirty="0"/>
              <a:t>Armstrong</a:t>
            </a:r>
            <a:r>
              <a:rPr lang="zh-CN" altLang="en-US" dirty="0"/>
              <a:t>公理系统推导出来。</a:t>
            </a:r>
          </a:p>
        </p:txBody>
      </p:sp>
    </p:spTree>
    <p:extLst>
      <p:ext uri="{BB962C8B-B14F-4D97-AF65-F5344CB8AC3E}">
        <p14:creationId xmlns:p14="http://schemas.microsoft.com/office/powerpoint/2010/main" val="2872375413"/>
      </p:ext>
    </p:extLst>
  </p:cSld>
  <p:clrMapOvr>
    <a:masterClrMapping/>
  </p:clrMapOvr>
  <p:transition spd="slow">
    <p:wipe dir="r"/>
    <p:sndAc>
      <p:stSnd>
        <p:snd r:embed="rId2" name="arrow.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911424" y="930699"/>
            <a:ext cx="8516938" cy="584775"/>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l"/>
            <a:r>
              <a:rPr lang="zh-CN" altLang="en-US" sz="3200" dirty="0">
                <a:latin typeface="微软雅黑" panose="020B0503020204020204" pitchFamily="34" charset="-122"/>
                <a:ea typeface="微软雅黑" panose="020B0503020204020204" pitchFamily="34" charset="-122"/>
              </a:rPr>
              <a:t>应用一例：证明逻辑蕴涵</a:t>
            </a:r>
            <a:endParaRPr lang="en-US" altLang="zh-CN" sz="3200" dirty="0">
              <a:latin typeface="微软雅黑" panose="020B0503020204020204" pitchFamily="34" charset="-122"/>
              <a:ea typeface="微软雅黑" panose="020B0503020204020204" pitchFamily="34" charset="-122"/>
            </a:endParaRPr>
          </a:p>
        </p:txBody>
      </p:sp>
      <p:sp>
        <p:nvSpPr>
          <p:cNvPr id="1494020" name="Text Box 4"/>
          <p:cNvSpPr txBox="1">
            <a:spLocks noChangeArrowheads="1"/>
          </p:cNvSpPr>
          <p:nvPr/>
        </p:nvSpPr>
        <p:spPr bwMode="auto">
          <a:xfrm>
            <a:off x="911424" y="1722696"/>
            <a:ext cx="10297144" cy="1431677"/>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设有</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关系模式R</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U,F)</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，其中</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U={A，B，C，D, E, G}, </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   </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F={AB→C, C→A, BC→D, ACD→B, D→EG, BE→C</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CG→BD, CE→AG},</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 </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证明</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sym typeface="Symbol" pitchFamily="18" charset="2"/>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BD→AC</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sp>
        <p:nvSpPr>
          <p:cNvPr id="1494021" name="Rectangle 5"/>
          <p:cNvSpPr>
            <a:spLocks noChangeArrowheads="1"/>
          </p:cNvSpPr>
          <p:nvPr/>
        </p:nvSpPr>
        <p:spPr bwMode="auto">
          <a:xfrm>
            <a:off x="948230" y="3789040"/>
            <a:ext cx="10297144" cy="1311275"/>
          </a:xfrm>
          <a:prstGeom prst="rect">
            <a:avLst/>
          </a:prstGeom>
          <a:noFill/>
          <a:ln w="12700" cap="sq" algn="ctr">
            <a:noFill/>
            <a:miter lim="800000"/>
            <a:headEnd/>
            <a:tailEnd/>
          </a:ln>
          <a:effectLst/>
        </p:spPr>
        <p:txBody>
          <a:bodyPr/>
          <a:lstStyle/>
          <a:p>
            <a:pPr marL="0" marR="0" lvl="0" indent="0" algn="just"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由</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D→EG</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可得</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D→E(</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分解</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，进一步得</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BD→BE(</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增广</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a:p>
            <a:pPr marL="0" marR="0" lvl="0" indent="0" algn="just"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由</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BE→C</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C→A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得出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BE→A(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传递</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BE→AC(</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合并</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a:p>
            <a:pPr marL="0" marR="0" lvl="0" indent="0" algn="just"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由前面推导出的</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BD→BE</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和</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BE→AC</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得出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BD→AC(</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传递</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所以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BD→AC</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被</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所蕴涵，即</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sym typeface="Symbol" pitchFamily="18" charset="2"/>
              </a:rPr>
              <a:t>|=</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BD→AC</a:t>
            </a:r>
          </a:p>
        </p:txBody>
      </p:sp>
      <p:sp>
        <p:nvSpPr>
          <p:cNvPr id="7" name="Text Box 2">
            <a:extLst>
              <a:ext uri="{FF2B5EF4-FFF2-40B4-BE49-F238E27FC236}">
                <a16:creationId xmlns:a16="http://schemas.microsoft.com/office/drawing/2014/main" id="{D2593EA9-8CD0-460A-9809-699A02533510}"/>
              </a:ext>
            </a:extLst>
          </p:cNvPr>
          <p:cNvSpPr txBox="1">
            <a:spLocks noChangeArrowheads="1"/>
          </p:cNvSpPr>
          <p:nvPr/>
        </p:nvSpPr>
        <p:spPr bwMode="auto">
          <a:xfrm>
            <a:off x="911424" y="-14940"/>
            <a:ext cx="5400675" cy="760959"/>
          </a:xfrm>
          <a:prstGeom prst="rect">
            <a:avLst/>
          </a:prstGeom>
          <a:noFill/>
          <a:ln w="12700" cap="sq">
            <a:noFill/>
            <a:miter lim="800000"/>
            <a:headEnd/>
            <a:tailEnd/>
          </a:ln>
          <a:effectLst/>
        </p:spPr>
        <p:txBody>
          <a:bodyPr wrap="square" lIns="72000" tIns="72000" rIns="72000" bIns="72000">
            <a:spAutoFit/>
          </a:bodyPr>
          <a:lstStyle>
            <a:defPPr>
              <a:defRPr lang="zh-CN"/>
            </a:defPPr>
            <a:lvl1pPr marR="0" lvl="0" indent="0" fontAlgn="base">
              <a:lnSpc>
                <a:spcPct val="100000"/>
              </a:lnSpc>
              <a:spcBef>
                <a:spcPts val="0"/>
              </a:spcBef>
              <a:spcAft>
                <a:spcPct val="25000"/>
              </a:spcAft>
              <a:buClrTx/>
              <a:buSzPct val="80000"/>
              <a:buFont typeface="Wingdings" pitchFamily="2" charset="2"/>
              <a:buNone/>
              <a:tabLst/>
              <a:defRPr kumimoji="1" sz="4000" b="1" i="0" u="sng" strike="noStrike" cap="none" spc="0" normalizeH="0" baseline="0">
                <a:ln>
                  <a:noFill/>
                </a:ln>
                <a:solidFill>
                  <a:srgbClr val="FFFFCC"/>
                </a:solidFill>
                <a:effectLst>
                  <a:outerShdw blurRad="38100" dist="38100" dir="2700000" algn="tl">
                    <a:srgbClr val="000000"/>
                  </a:outerShdw>
                </a:effectLst>
                <a:uLnTx/>
                <a:uFillTx/>
                <a:latin typeface="Arial" pitchFamily="34" charset="0"/>
                <a:ea typeface="微软雅黑" pitchFamily="34" charset="-122"/>
              </a:defRPr>
            </a:lvl1pPr>
          </a:lstStyle>
          <a:p>
            <a:r>
              <a:rPr lang="zh-CN" altLang="zh-CN" dirty="0"/>
              <a:t>Armstrong公理系统</a:t>
            </a:r>
            <a:endParaRPr lang="zh-CN" altLang="en-US" dirty="0"/>
          </a:p>
        </p:txBody>
      </p:sp>
    </p:spTree>
  </p:cSld>
  <p:clrMapOvr>
    <a:masterClrMapping/>
  </p:clrMapOvr>
  <p:transition spd="med">
    <p:pull dir="r"/>
    <p:sndAc>
      <p:stSnd>
        <p:snd r:embed="rId2" name="arrow.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body" idx="4294967295"/>
          </p:nvPr>
        </p:nvSpPr>
        <p:spPr>
          <a:xfrm>
            <a:off x="551384" y="548680"/>
            <a:ext cx="10363200" cy="4114800"/>
          </a:xfrm>
        </p:spPr>
        <p:txBody>
          <a:bodyPr>
            <a:normAutofit/>
          </a:bodyPr>
          <a:lstStyle/>
          <a:p>
            <a:pPr>
              <a:lnSpc>
                <a:spcPct val="150000"/>
              </a:lnSpc>
            </a:pPr>
            <a:r>
              <a:rPr lang="zh-CN" altLang="en-US" sz="2800" b="1">
                <a:latin typeface="Tahoma" pitchFamily="34" charset="0"/>
                <a:ea typeface="宋体" pitchFamily="2" charset="-122"/>
              </a:rPr>
              <a:t>利用</a:t>
            </a:r>
            <a:r>
              <a:rPr lang="en-US" altLang="zh-CN" sz="2800" b="1">
                <a:latin typeface="Tahoma" pitchFamily="34" charset="0"/>
                <a:ea typeface="宋体" pitchFamily="2" charset="-122"/>
              </a:rPr>
              <a:t>Armstrong</a:t>
            </a:r>
            <a:r>
              <a:rPr lang="zh-CN" altLang="en-US" sz="2800" b="1">
                <a:latin typeface="Tahoma" pitchFamily="34" charset="0"/>
                <a:ea typeface="宋体" pitchFamily="2" charset="-122"/>
              </a:rPr>
              <a:t>公理系统，可以证明函数依赖是否在关系模式</a:t>
            </a:r>
            <a:r>
              <a:rPr lang="en-US" altLang="zh-CN" sz="2800" b="1">
                <a:latin typeface="Tahoma" pitchFamily="34" charset="0"/>
                <a:ea typeface="宋体" pitchFamily="2" charset="-122"/>
              </a:rPr>
              <a:t>R</a:t>
            </a:r>
            <a:r>
              <a:rPr lang="zh-CN" altLang="en-US" sz="2800" b="1">
                <a:latin typeface="Tahoma" pitchFamily="34" charset="0"/>
                <a:ea typeface="宋体" pitchFamily="2" charset="-122"/>
              </a:rPr>
              <a:t>上成立。</a:t>
            </a:r>
          </a:p>
          <a:p>
            <a:pPr>
              <a:lnSpc>
                <a:spcPct val="150000"/>
              </a:lnSpc>
            </a:pPr>
            <a:r>
              <a:rPr lang="en-US" altLang="zh-CN" sz="2800" b="1">
                <a:latin typeface="Tahoma" pitchFamily="34" charset="0"/>
                <a:ea typeface="宋体" pitchFamily="2" charset="-122"/>
              </a:rPr>
              <a:t>【</a:t>
            </a:r>
            <a:r>
              <a:rPr lang="zh-CN" altLang="en-US" sz="2800" b="1">
                <a:latin typeface="Tahoma" pitchFamily="34" charset="0"/>
                <a:ea typeface="宋体" pitchFamily="2" charset="-122"/>
              </a:rPr>
              <a:t>例</a:t>
            </a:r>
            <a:r>
              <a:rPr lang="en-US" altLang="zh-CN" sz="2800" b="1">
                <a:latin typeface="Tahoma" pitchFamily="34" charset="0"/>
                <a:ea typeface="宋体" pitchFamily="2" charset="-122"/>
              </a:rPr>
              <a:t>6.1】</a:t>
            </a:r>
            <a:r>
              <a:rPr lang="zh-CN" altLang="en-US" sz="2800" b="1">
                <a:latin typeface="Tahoma" pitchFamily="34" charset="0"/>
                <a:ea typeface="宋体" pitchFamily="2" charset="-122"/>
              </a:rPr>
              <a:t>已知关系模式</a:t>
            </a:r>
            <a:r>
              <a:rPr lang="en-US" altLang="zh-CN" sz="2800" b="1">
                <a:latin typeface="Tahoma" pitchFamily="34" charset="0"/>
                <a:ea typeface="宋体" pitchFamily="2" charset="-122"/>
              </a:rPr>
              <a:t>R(U,F)</a:t>
            </a:r>
            <a:r>
              <a:rPr lang="zh-CN" altLang="en-US" sz="2800" b="1">
                <a:latin typeface="Tahoma" pitchFamily="34" charset="0"/>
                <a:ea typeface="宋体" pitchFamily="2" charset="-122"/>
              </a:rPr>
              <a:t>，其中属性集</a:t>
            </a:r>
            <a:r>
              <a:rPr lang="en-US" altLang="zh-CN" sz="2800" b="1">
                <a:latin typeface="Tahoma" pitchFamily="34" charset="0"/>
                <a:ea typeface="宋体" pitchFamily="2" charset="-122"/>
              </a:rPr>
              <a:t>U={A,B,C,D}</a:t>
            </a:r>
            <a:r>
              <a:rPr lang="zh-CN" altLang="en-US" sz="2800" b="1">
                <a:latin typeface="Tahoma" pitchFamily="34" charset="0"/>
                <a:ea typeface="宋体" pitchFamily="2" charset="-122"/>
              </a:rPr>
              <a:t>，函数依赖集</a:t>
            </a:r>
            <a:r>
              <a:rPr lang="en-US" altLang="zh-CN" sz="2800" b="1">
                <a:latin typeface="Tahoma" pitchFamily="34" charset="0"/>
                <a:ea typeface="宋体" pitchFamily="2" charset="-122"/>
              </a:rPr>
              <a:t>F={A→B</a:t>
            </a:r>
            <a:r>
              <a:rPr lang="zh-CN" altLang="en-US" sz="2800" b="1">
                <a:latin typeface="Tahoma" pitchFamily="34" charset="0"/>
                <a:ea typeface="宋体" pitchFamily="2" charset="-122"/>
              </a:rPr>
              <a:t>，</a:t>
            </a:r>
            <a:r>
              <a:rPr lang="en-US" altLang="zh-CN" sz="2800" b="1">
                <a:latin typeface="Tahoma" pitchFamily="34" charset="0"/>
                <a:ea typeface="宋体" pitchFamily="2" charset="-122"/>
              </a:rPr>
              <a:t>B→C</a:t>
            </a:r>
            <a:r>
              <a:rPr lang="zh-CN" altLang="en-US" sz="2800" b="1">
                <a:latin typeface="Tahoma" pitchFamily="34" charset="0"/>
                <a:ea typeface="宋体" pitchFamily="2" charset="-122"/>
              </a:rPr>
              <a:t>，</a:t>
            </a:r>
            <a:r>
              <a:rPr lang="en-US" altLang="zh-CN" sz="2800" b="1">
                <a:latin typeface="Tahoma" pitchFamily="34" charset="0"/>
                <a:ea typeface="宋体" pitchFamily="2" charset="-122"/>
              </a:rPr>
              <a:t>B→D}</a:t>
            </a:r>
            <a:r>
              <a:rPr lang="zh-CN" altLang="en-US" sz="2800" b="1">
                <a:latin typeface="Tahoma" pitchFamily="34" charset="0"/>
                <a:ea typeface="宋体" pitchFamily="2" charset="-122"/>
              </a:rPr>
              <a:t>，证明</a:t>
            </a:r>
            <a:r>
              <a:rPr lang="en-US" altLang="zh-CN" sz="2800" b="1">
                <a:latin typeface="Tahoma" pitchFamily="34" charset="0"/>
                <a:ea typeface="宋体" pitchFamily="2" charset="-122"/>
              </a:rPr>
              <a:t>F</a:t>
            </a:r>
            <a:r>
              <a:rPr lang="zh-CN" altLang="en-US" sz="2800" b="1">
                <a:latin typeface="Tahoma" pitchFamily="34" charset="0"/>
                <a:ea typeface="宋体" pitchFamily="2" charset="-122"/>
              </a:rPr>
              <a:t>中蕴涵着</a:t>
            </a:r>
            <a:r>
              <a:rPr lang="en-US" altLang="zh-CN" sz="2800" b="1">
                <a:latin typeface="Tahoma" pitchFamily="34" charset="0"/>
                <a:ea typeface="宋体" pitchFamily="2" charset="-122"/>
              </a:rPr>
              <a:t>A→CD</a:t>
            </a:r>
            <a:r>
              <a:rPr lang="zh-CN" altLang="en-US" sz="2800" b="1">
                <a:latin typeface="Tahoma" pitchFamily="34" charset="0"/>
                <a:ea typeface="宋体" pitchFamily="2" charset="-122"/>
              </a:rPr>
              <a:t>。</a:t>
            </a:r>
          </a:p>
          <a:p>
            <a:pPr lvl="1">
              <a:lnSpc>
                <a:spcPct val="150000"/>
              </a:lnSpc>
            </a:pPr>
            <a:r>
              <a:rPr lang="zh-CN" altLang="en-US" b="1">
                <a:latin typeface="Tahoma" pitchFamily="34" charset="0"/>
                <a:ea typeface="宋体" pitchFamily="2" charset="-122"/>
              </a:rPr>
              <a:t>证明：由</a:t>
            </a:r>
            <a:r>
              <a:rPr lang="en-US" altLang="zh-CN" b="1">
                <a:latin typeface="Tahoma" pitchFamily="34" charset="0"/>
                <a:ea typeface="宋体" pitchFamily="2" charset="-122"/>
              </a:rPr>
              <a:t>B→C</a:t>
            </a:r>
            <a:r>
              <a:rPr lang="zh-CN" altLang="en-US" b="1">
                <a:latin typeface="Tahoma" pitchFamily="34" charset="0"/>
                <a:ea typeface="宋体" pitchFamily="2" charset="-122"/>
              </a:rPr>
              <a:t>和</a:t>
            </a:r>
            <a:r>
              <a:rPr lang="en-US" altLang="zh-CN" b="1">
                <a:latin typeface="Tahoma" pitchFamily="34" charset="0"/>
                <a:ea typeface="宋体" pitchFamily="2" charset="-122"/>
              </a:rPr>
              <a:t>B→D</a:t>
            </a:r>
            <a:r>
              <a:rPr lang="zh-CN" altLang="en-US" b="1">
                <a:latin typeface="Tahoma" pitchFamily="34" charset="0"/>
                <a:ea typeface="宋体" pitchFamily="2" charset="-122"/>
              </a:rPr>
              <a:t>可得</a:t>
            </a:r>
            <a:r>
              <a:rPr lang="en-US" altLang="zh-CN" b="1">
                <a:latin typeface="Tahoma" pitchFamily="34" charset="0"/>
                <a:ea typeface="宋体" pitchFamily="2" charset="-122"/>
              </a:rPr>
              <a:t>B→CD</a:t>
            </a:r>
            <a:r>
              <a:rPr lang="zh-CN" altLang="en-US" b="1">
                <a:latin typeface="Tahoma" pitchFamily="34" charset="0"/>
                <a:ea typeface="宋体" pitchFamily="2" charset="-122"/>
              </a:rPr>
              <a:t>（合并律），进一步根据</a:t>
            </a:r>
            <a:r>
              <a:rPr lang="en-US" altLang="zh-CN" b="1">
                <a:latin typeface="Tahoma" pitchFamily="34" charset="0"/>
                <a:ea typeface="宋体" pitchFamily="2" charset="-122"/>
              </a:rPr>
              <a:t>A→B </a:t>
            </a:r>
            <a:r>
              <a:rPr lang="zh-CN" altLang="en-US" b="1">
                <a:latin typeface="Tahoma" pitchFamily="34" charset="0"/>
                <a:ea typeface="宋体" pitchFamily="2" charset="-122"/>
              </a:rPr>
              <a:t>可得</a:t>
            </a:r>
            <a:r>
              <a:rPr lang="en-US" altLang="zh-CN" b="1">
                <a:latin typeface="Tahoma" pitchFamily="34" charset="0"/>
                <a:ea typeface="宋体" pitchFamily="2" charset="-122"/>
              </a:rPr>
              <a:t>A→CD</a:t>
            </a:r>
            <a:r>
              <a:rPr lang="zh-CN" altLang="en-US" b="1">
                <a:latin typeface="Tahoma" pitchFamily="34" charset="0"/>
                <a:ea typeface="宋体" pitchFamily="2" charset="-122"/>
              </a:rPr>
              <a:t>（传递律），证明完毕。</a:t>
            </a:r>
          </a:p>
        </p:txBody>
      </p:sp>
    </p:spTree>
    <p:extLst>
      <p:ext uri="{BB962C8B-B14F-4D97-AF65-F5344CB8AC3E}">
        <p14:creationId xmlns:p14="http://schemas.microsoft.com/office/powerpoint/2010/main" val="1114853810"/>
      </p:ext>
    </p:extLst>
  </p:cSld>
  <p:clrMapOvr>
    <a:masterClrMapping/>
  </p:clrMapOvr>
  <p:transition spd="slow">
    <p:wipe dir="r"/>
    <p:sndAc>
      <p:stSnd>
        <p:snd r:embed="rId2" name="arrow.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body" idx="4294967295"/>
          </p:nvPr>
        </p:nvSpPr>
        <p:spPr>
          <a:xfrm>
            <a:off x="479376" y="620688"/>
            <a:ext cx="10363200" cy="4114800"/>
          </a:xfrm>
        </p:spPr>
        <p:txBody>
          <a:bodyPr>
            <a:noAutofit/>
          </a:bodyPr>
          <a:lstStyle/>
          <a:p>
            <a:pPr>
              <a:lnSpc>
                <a:spcPct val="150000"/>
              </a:lnSpc>
            </a:pPr>
            <a:r>
              <a:rPr lang="en-US" altLang="zh-CN" b="1" dirty="0">
                <a:latin typeface="Tahoma" pitchFamily="34" charset="0"/>
                <a:ea typeface="宋体" pitchFamily="2" charset="-122"/>
              </a:rPr>
              <a:t>【</a:t>
            </a:r>
            <a:r>
              <a:rPr lang="zh-CN" altLang="en-US" b="1" dirty="0">
                <a:latin typeface="Tahoma" pitchFamily="34" charset="0"/>
                <a:ea typeface="宋体" pitchFamily="2" charset="-122"/>
              </a:rPr>
              <a:t>例</a:t>
            </a:r>
            <a:r>
              <a:rPr lang="en-US" altLang="zh-CN" b="1" dirty="0">
                <a:latin typeface="Tahoma" pitchFamily="34" charset="0"/>
                <a:ea typeface="宋体" pitchFamily="2" charset="-122"/>
              </a:rPr>
              <a:t>6.2】</a:t>
            </a:r>
            <a:r>
              <a:rPr lang="zh-CN" altLang="en-US" b="1" dirty="0">
                <a:latin typeface="Tahoma" pitchFamily="34" charset="0"/>
                <a:ea typeface="宋体" pitchFamily="2" charset="-122"/>
              </a:rPr>
              <a:t>设有关系模式</a:t>
            </a:r>
            <a:r>
              <a:rPr lang="en-US" altLang="zh-CN" b="1" dirty="0">
                <a:latin typeface="Tahoma" pitchFamily="34" charset="0"/>
                <a:ea typeface="宋体" pitchFamily="2" charset="-122"/>
              </a:rPr>
              <a:t>R(U,F)</a:t>
            </a:r>
            <a:r>
              <a:rPr lang="zh-CN" altLang="en-US" b="1" dirty="0">
                <a:latin typeface="Tahoma" pitchFamily="34" charset="0"/>
                <a:ea typeface="宋体" pitchFamily="2" charset="-122"/>
              </a:rPr>
              <a:t>，其中</a:t>
            </a:r>
            <a:r>
              <a:rPr lang="en-US" altLang="zh-CN" b="1" dirty="0">
                <a:latin typeface="Tahoma" pitchFamily="34" charset="0"/>
                <a:ea typeface="宋体" pitchFamily="2" charset="-122"/>
              </a:rPr>
              <a:t>U={A</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B</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C</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D</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E</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G}</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F={AB→C, C→A, BC→D, ACD→B, D→EG, BE→C</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CG→BD, CE→AG}</a:t>
            </a:r>
            <a:r>
              <a:rPr lang="zh-CN" altLang="en-US" b="1" dirty="0">
                <a:latin typeface="Tahoma" pitchFamily="34" charset="0"/>
                <a:ea typeface="宋体" pitchFamily="2" charset="-122"/>
              </a:rPr>
              <a:t>，证明</a:t>
            </a:r>
            <a:r>
              <a:rPr lang="en-US" altLang="zh-CN" b="1" dirty="0">
                <a:latin typeface="Tahoma" pitchFamily="34" charset="0"/>
                <a:ea typeface="宋体" pitchFamily="2" charset="-122"/>
              </a:rPr>
              <a:t>F|=BD→AC</a:t>
            </a:r>
            <a:r>
              <a:rPr lang="zh-CN" altLang="en-US" b="1" dirty="0">
                <a:latin typeface="Tahoma" pitchFamily="34" charset="0"/>
                <a:ea typeface="宋体" pitchFamily="2" charset="-122"/>
              </a:rPr>
              <a:t>。</a:t>
            </a:r>
          </a:p>
          <a:p>
            <a:pPr lvl="1">
              <a:lnSpc>
                <a:spcPct val="150000"/>
              </a:lnSpc>
            </a:pPr>
            <a:r>
              <a:rPr lang="zh-CN" altLang="en-US" b="1" dirty="0">
                <a:latin typeface="Tahoma" pitchFamily="34" charset="0"/>
                <a:ea typeface="宋体" pitchFamily="2" charset="-122"/>
              </a:rPr>
              <a:t>证明：由</a:t>
            </a:r>
            <a:r>
              <a:rPr lang="en-US" altLang="zh-CN" b="1" dirty="0">
                <a:latin typeface="Tahoma" pitchFamily="34" charset="0"/>
                <a:ea typeface="宋体" pitchFamily="2" charset="-122"/>
              </a:rPr>
              <a:t>D→EG</a:t>
            </a:r>
            <a:r>
              <a:rPr lang="zh-CN" altLang="en-US" b="1" dirty="0">
                <a:latin typeface="Tahoma" pitchFamily="34" charset="0"/>
                <a:ea typeface="宋体" pitchFamily="2" charset="-122"/>
              </a:rPr>
              <a:t>可得</a:t>
            </a:r>
            <a:r>
              <a:rPr lang="en-US" altLang="zh-CN" b="1" dirty="0">
                <a:latin typeface="Tahoma" pitchFamily="34" charset="0"/>
                <a:ea typeface="宋体" pitchFamily="2" charset="-122"/>
              </a:rPr>
              <a:t>D→E(</a:t>
            </a:r>
            <a:r>
              <a:rPr lang="zh-CN" altLang="en-US" b="1" dirty="0">
                <a:latin typeface="Tahoma" pitchFamily="34" charset="0"/>
                <a:ea typeface="宋体" pitchFamily="2" charset="-122"/>
              </a:rPr>
              <a:t>分解</a:t>
            </a:r>
            <a:r>
              <a:rPr lang="en-US" altLang="zh-CN" b="1" dirty="0">
                <a:latin typeface="Tahoma" pitchFamily="34" charset="0"/>
                <a:ea typeface="宋体" pitchFamily="2" charset="-122"/>
              </a:rPr>
              <a:t>)</a:t>
            </a:r>
            <a:r>
              <a:rPr lang="zh-CN" altLang="en-US" b="1" dirty="0">
                <a:latin typeface="Tahoma" pitchFamily="34" charset="0"/>
                <a:ea typeface="宋体" pitchFamily="2" charset="-122"/>
              </a:rPr>
              <a:t>，进一步得</a:t>
            </a:r>
            <a:r>
              <a:rPr lang="en-US" altLang="zh-CN" b="1" dirty="0">
                <a:latin typeface="Tahoma" pitchFamily="34" charset="0"/>
                <a:ea typeface="宋体" pitchFamily="2" charset="-122"/>
              </a:rPr>
              <a:t>BD→BE(</a:t>
            </a:r>
            <a:r>
              <a:rPr lang="zh-CN" altLang="en-US" b="1" dirty="0">
                <a:latin typeface="Tahoma" pitchFamily="34" charset="0"/>
                <a:ea typeface="宋体" pitchFamily="2" charset="-122"/>
              </a:rPr>
              <a:t>增广</a:t>
            </a:r>
            <a:r>
              <a:rPr lang="en-US" altLang="zh-CN" b="1" dirty="0">
                <a:latin typeface="Tahoma" pitchFamily="34" charset="0"/>
                <a:ea typeface="宋体" pitchFamily="2" charset="-122"/>
              </a:rPr>
              <a:t>)</a:t>
            </a:r>
            <a:r>
              <a:rPr lang="zh-CN" altLang="en-US" b="1" dirty="0">
                <a:latin typeface="Tahoma" pitchFamily="34" charset="0"/>
                <a:ea typeface="宋体" pitchFamily="2" charset="-122"/>
              </a:rPr>
              <a:t>；由</a:t>
            </a:r>
            <a:r>
              <a:rPr lang="en-US" altLang="zh-CN" b="1" dirty="0">
                <a:latin typeface="Tahoma" pitchFamily="34" charset="0"/>
                <a:ea typeface="宋体" pitchFamily="2" charset="-122"/>
              </a:rPr>
              <a:t>BE→C</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C→A</a:t>
            </a:r>
            <a:r>
              <a:rPr lang="zh-CN" altLang="en-US" b="1" dirty="0">
                <a:latin typeface="Tahoma" pitchFamily="34" charset="0"/>
                <a:ea typeface="宋体" pitchFamily="2" charset="-122"/>
              </a:rPr>
              <a:t>得出</a:t>
            </a:r>
            <a:r>
              <a:rPr lang="en-US" altLang="zh-CN" b="1" dirty="0">
                <a:latin typeface="Tahoma" pitchFamily="34" charset="0"/>
                <a:ea typeface="宋体" pitchFamily="2" charset="-122"/>
              </a:rPr>
              <a:t>BE→A(</a:t>
            </a:r>
            <a:r>
              <a:rPr lang="zh-CN" altLang="en-US" b="1" dirty="0">
                <a:latin typeface="Tahoma" pitchFamily="34" charset="0"/>
                <a:ea typeface="宋体" pitchFamily="2" charset="-122"/>
              </a:rPr>
              <a:t>传递</a:t>
            </a:r>
            <a:r>
              <a:rPr lang="en-US" altLang="zh-CN" b="1" dirty="0">
                <a:latin typeface="Tahoma" pitchFamily="34" charset="0"/>
                <a:ea typeface="宋体" pitchFamily="2" charset="-122"/>
              </a:rPr>
              <a:t>)</a:t>
            </a:r>
            <a:r>
              <a:rPr lang="zh-CN" altLang="en-US" b="1" dirty="0">
                <a:latin typeface="Tahoma" pitchFamily="34" charset="0"/>
                <a:ea typeface="宋体" pitchFamily="2" charset="-122"/>
              </a:rPr>
              <a:t>，</a:t>
            </a:r>
            <a:r>
              <a:rPr lang="en-US" altLang="zh-CN" b="1" dirty="0">
                <a:latin typeface="Tahoma" pitchFamily="34" charset="0"/>
                <a:ea typeface="宋体" pitchFamily="2" charset="-122"/>
              </a:rPr>
              <a:t>BE→AC(</a:t>
            </a:r>
            <a:r>
              <a:rPr lang="zh-CN" altLang="en-US" b="1" dirty="0">
                <a:latin typeface="Tahoma" pitchFamily="34" charset="0"/>
                <a:ea typeface="宋体" pitchFamily="2" charset="-122"/>
              </a:rPr>
              <a:t>合并</a:t>
            </a:r>
            <a:r>
              <a:rPr lang="en-US" altLang="zh-CN" b="1" dirty="0">
                <a:latin typeface="Tahoma" pitchFamily="34" charset="0"/>
                <a:ea typeface="宋体" pitchFamily="2" charset="-122"/>
              </a:rPr>
              <a:t>)</a:t>
            </a:r>
            <a:r>
              <a:rPr lang="zh-CN" altLang="en-US" b="1" dirty="0">
                <a:latin typeface="Tahoma" pitchFamily="34" charset="0"/>
                <a:ea typeface="宋体" pitchFamily="2" charset="-122"/>
              </a:rPr>
              <a:t>；由前面推导出的</a:t>
            </a:r>
            <a:r>
              <a:rPr lang="en-US" altLang="zh-CN" b="1" dirty="0">
                <a:latin typeface="Tahoma" pitchFamily="34" charset="0"/>
                <a:ea typeface="宋体" pitchFamily="2" charset="-122"/>
              </a:rPr>
              <a:t>BD→BE</a:t>
            </a:r>
            <a:r>
              <a:rPr lang="zh-CN" altLang="en-US" b="1" dirty="0">
                <a:latin typeface="Tahoma" pitchFamily="34" charset="0"/>
                <a:ea typeface="宋体" pitchFamily="2" charset="-122"/>
              </a:rPr>
              <a:t>和</a:t>
            </a:r>
            <a:r>
              <a:rPr lang="en-US" altLang="zh-CN" b="1" dirty="0">
                <a:latin typeface="Tahoma" pitchFamily="34" charset="0"/>
                <a:ea typeface="宋体" pitchFamily="2" charset="-122"/>
              </a:rPr>
              <a:t>BE→AC</a:t>
            </a:r>
            <a:r>
              <a:rPr lang="zh-CN" altLang="en-US" b="1" dirty="0">
                <a:latin typeface="Tahoma" pitchFamily="34" charset="0"/>
                <a:ea typeface="宋体" pitchFamily="2" charset="-122"/>
              </a:rPr>
              <a:t>得出</a:t>
            </a:r>
            <a:r>
              <a:rPr lang="en-US" altLang="zh-CN" b="1" dirty="0">
                <a:latin typeface="Tahoma" pitchFamily="34" charset="0"/>
                <a:ea typeface="宋体" pitchFamily="2" charset="-122"/>
              </a:rPr>
              <a:t>BD→AC(</a:t>
            </a:r>
            <a:r>
              <a:rPr lang="zh-CN" altLang="en-US" b="1" dirty="0">
                <a:latin typeface="Tahoma" pitchFamily="34" charset="0"/>
                <a:ea typeface="宋体" pitchFamily="2" charset="-122"/>
              </a:rPr>
              <a:t>传递</a:t>
            </a:r>
            <a:r>
              <a:rPr lang="en-US" altLang="zh-CN" b="1" dirty="0">
                <a:latin typeface="Tahoma" pitchFamily="34" charset="0"/>
                <a:ea typeface="宋体" pitchFamily="2" charset="-122"/>
              </a:rPr>
              <a:t>)</a:t>
            </a:r>
            <a:r>
              <a:rPr lang="zh-CN" altLang="en-US" b="1" dirty="0">
                <a:latin typeface="Tahoma" pitchFamily="34" charset="0"/>
                <a:ea typeface="宋体" pitchFamily="2" charset="-122"/>
              </a:rPr>
              <a:t>，所以</a:t>
            </a:r>
            <a:r>
              <a:rPr lang="en-US" altLang="zh-CN" b="1" dirty="0">
                <a:latin typeface="Tahoma" pitchFamily="34" charset="0"/>
                <a:ea typeface="宋体" pitchFamily="2" charset="-122"/>
              </a:rPr>
              <a:t>BD→AC</a:t>
            </a:r>
            <a:r>
              <a:rPr lang="zh-CN" altLang="en-US" b="1" dirty="0">
                <a:latin typeface="Tahoma" pitchFamily="34" charset="0"/>
                <a:ea typeface="宋体" pitchFamily="2" charset="-122"/>
              </a:rPr>
              <a:t>被</a:t>
            </a:r>
            <a:r>
              <a:rPr lang="en-US" altLang="zh-CN" b="1" dirty="0">
                <a:latin typeface="Tahoma" pitchFamily="34" charset="0"/>
                <a:ea typeface="宋体" pitchFamily="2" charset="-122"/>
              </a:rPr>
              <a:t>F</a:t>
            </a:r>
            <a:r>
              <a:rPr lang="zh-CN" altLang="en-US" b="1" dirty="0">
                <a:latin typeface="Tahoma" pitchFamily="34" charset="0"/>
                <a:ea typeface="宋体" pitchFamily="2" charset="-122"/>
              </a:rPr>
              <a:t>所蕴涵，即</a:t>
            </a:r>
            <a:r>
              <a:rPr lang="en-US" altLang="zh-CN" b="1" dirty="0">
                <a:latin typeface="Tahoma" pitchFamily="34" charset="0"/>
                <a:ea typeface="宋体" pitchFamily="2" charset="-122"/>
              </a:rPr>
              <a:t>F|= BD→AC</a:t>
            </a:r>
            <a:r>
              <a:rPr lang="zh-CN" altLang="en-US" b="1" dirty="0">
                <a:latin typeface="Tahoma" pitchFamily="34" charset="0"/>
                <a:ea typeface="宋体" pitchFamily="2" charset="-122"/>
              </a:rPr>
              <a:t>，证明完毕。</a:t>
            </a:r>
          </a:p>
        </p:txBody>
      </p:sp>
    </p:spTree>
    <p:extLst>
      <p:ext uri="{BB962C8B-B14F-4D97-AF65-F5344CB8AC3E}">
        <p14:creationId xmlns:p14="http://schemas.microsoft.com/office/powerpoint/2010/main" val="3473276068"/>
      </p:ext>
    </p:extLst>
  </p:cSld>
  <p:clrMapOvr>
    <a:masterClrMapping/>
  </p:clrMapOvr>
  <p:transition spd="slow">
    <p:wipe dir="r"/>
    <p:sndAc>
      <p:stSnd>
        <p:snd r:embed="rId2" name="arrow.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p:cNvSpPr>
          <p:nvPr>
            <p:ph idx="1"/>
          </p:nvPr>
        </p:nvSpPr>
        <p:spPr>
          <a:xfrm>
            <a:off x="839416" y="620688"/>
            <a:ext cx="10363200" cy="6336704"/>
          </a:xfrm>
        </p:spPr>
        <p:txBody>
          <a:bodyPr>
            <a:normAutofit/>
          </a:bodyPr>
          <a:lstStyle/>
          <a:p>
            <a:r>
              <a:rPr lang="zh-CN" altLang="en-US" sz="4000" b="1" dirty="0">
                <a:ea typeface="宋体" pitchFamily="2" charset="-122"/>
              </a:rPr>
              <a:t>由于关系模式</a:t>
            </a:r>
            <a:r>
              <a:rPr lang="en-US" altLang="zh-CN" sz="4000" b="1" dirty="0">
                <a:ea typeface="宋体" pitchFamily="2" charset="-122"/>
              </a:rPr>
              <a:t>R(U,F)</a:t>
            </a:r>
            <a:r>
              <a:rPr lang="zh-CN" altLang="en-US" sz="4000" b="1" dirty="0">
                <a:ea typeface="宋体" pitchFamily="2" charset="-122"/>
              </a:rPr>
              <a:t>的函数依赖集闭包</a:t>
            </a:r>
            <a:r>
              <a:rPr lang="en-US" altLang="zh-CN" sz="4000" b="1" dirty="0">
                <a:solidFill>
                  <a:srgbClr val="FFFF00"/>
                </a:solidFill>
                <a:latin typeface="Times New Roman" pitchFamily="18" charset="0"/>
                <a:ea typeface="宋体" pitchFamily="2" charset="-122"/>
              </a:rPr>
              <a:t>F</a:t>
            </a:r>
            <a:r>
              <a:rPr lang="en-US" altLang="zh-CN" sz="4000" b="1" baseline="30000" dirty="0">
                <a:solidFill>
                  <a:srgbClr val="FFFF00"/>
                </a:solidFill>
                <a:latin typeface="Times New Roman" pitchFamily="18" charset="0"/>
                <a:ea typeface="宋体" pitchFamily="2" charset="-122"/>
              </a:rPr>
              <a:t>+</a:t>
            </a:r>
            <a:r>
              <a:rPr lang="zh-CN" altLang="en-US" sz="4000" b="1" dirty="0">
                <a:latin typeface="Times New Roman" pitchFamily="18" charset="0"/>
                <a:ea typeface="宋体" pitchFamily="2" charset="-122"/>
              </a:rPr>
              <a:t>蕴含了</a:t>
            </a:r>
            <a:r>
              <a:rPr lang="en-US" altLang="zh-CN" sz="4000" b="1" dirty="0">
                <a:solidFill>
                  <a:srgbClr val="FFFF00"/>
                </a:solidFill>
                <a:latin typeface="Times New Roman" pitchFamily="18" charset="0"/>
                <a:ea typeface="宋体" pitchFamily="2" charset="-122"/>
              </a:rPr>
              <a:t>F</a:t>
            </a:r>
            <a:r>
              <a:rPr lang="zh-CN" altLang="en-US" sz="4000" b="1" dirty="0">
                <a:solidFill>
                  <a:srgbClr val="FFFF00"/>
                </a:solidFill>
                <a:latin typeface="Times New Roman" pitchFamily="18" charset="0"/>
                <a:ea typeface="宋体" pitchFamily="2" charset="-122"/>
              </a:rPr>
              <a:t>中所有的函数依赖</a:t>
            </a:r>
            <a:r>
              <a:rPr lang="zh-CN" altLang="en-US" sz="4000" b="1" dirty="0">
                <a:latin typeface="Times New Roman" pitchFamily="18" charset="0"/>
                <a:ea typeface="宋体" pitchFamily="2" charset="-122"/>
              </a:rPr>
              <a:t>，但从例</a:t>
            </a:r>
            <a:r>
              <a:rPr lang="en-US" altLang="zh-CN" sz="4000" b="1" dirty="0">
                <a:latin typeface="Times New Roman" pitchFamily="18" charset="0"/>
                <a:ea typeface="宋体" pitchFamily="2" charset="-122"/>
              </a:rPr>
              <a:t>6.3</a:t>
            </a:r>
            <a:r>
              <a:rPr lang="zh-CN" altLang="en-US" sz="4000" b="1" dirty="0">
                <a:latin typeface="Times New Roman" pitchFamily="18" charset="0"/>
                <a:ea typeface="宋体" pitchFamily="2" charset="-122"/>
              </a:rPr>
              <a:t>和</a:t>
            </a:r>
            <a:r>
              <a:rPr lang="en-US" altLang="zh-CN" sz="4000" b="1" dirty="0">
                <a:latin typeface="Times New Roman" pitchFamily="18" charset="0"/>
                <a:ea typeface="宋体" pitchFamily="2" charset="-122"/>
              </a:rPr>
              <a:t>6.4</a:t>
            </a:r>
            <a:r>
              <a:rPr lang="zh-CN" altLang="en-US" sz="4000" b="1" dirty="0">
                <a:latin typeface="Times New Roman" pitchFamily="18" charset="0"/>
                <a:ea typeface="宋体" pitchFamily="2" charset="-122"/>
              </a:rPr>
              <a:t>中可以看出，</a:t>
            </a:r>
            <a:r>
              <a:rPr lang="zh-CN" altLang="en-US" sz="4000" b="1" dirty="0">
                <a:solidFill>
                  <a:srgbClr val="FFFF00"/>
                </a:solidFill>
                <a:latin typeface="Times New Roman" pitchFamily="18" charset="0"/>
                <a:ea typeface="宋体" pitchFamily="2" charset="-122"/>
              </a:rPr>
              <a:t>求解</a:t>
            </a:r>
            <a:r>
              <a:rPr lang="en-US" altLang="zh-CN" sz="4000" b="1" dirty="0">
                <a:solidFill>
                  <a:srgbClr val="FFFF00"/>
                </a:solidFill>
                <a:latin typeface="Times New Roman" pitchFamily="18" charset="0"/>
                <a:ea typeface="宋体" pitchFamily="2" charset="-122"/>
              </a:rPr>
              <a:t>F</a:t>
            </a:r>
            <a:r>
              <a:rPr lang="en-US" altLang="zh-CN" sz="4000" b="1" baseline="30000" dirty="0">
                <a:solidFill>
                  <a:srgbClr val="FFFF00"/>
                </a:solidFill>
                <a:latin typeface="Times New Roman" pitchFamily="18" charset="0"/>
                <a:ea typeface="宋体" pitchFamily="2" charset="-122"/>
              </a:rPr>
              <a:t>+</a:t>
            </a:r>
            <a:r>
              <a:rPr lang="zh-CN" altLang="en-US" sz="4000" b="1" dirty="0">
                <a:solidFill>
                  <a:srgbClr val="FFFF00"/>
                </a:solidFill>
                <a:latin typeface="Times New Roman" pitchFamily="18" charset="0"/>
                <a:ea typeface="宋体" pitchFamily="2" charset="-122"/>
              </a:rPr>
              <a:t>的计算量较大，效率低</a:t>
            </a:r>
            <a:r>
              <a:rPr lang="zh-CN" altLang="en-US" sz="4000" b="1" dirty="0">
                <a:solidFill>
                  <a:srgbClr val="000000"/>
                </a:solidFill>
                <a:latin typeface="Times New Roman" pitchFamily="18" charset="0"/>
                <a:ea typeface="宋体" pitchFamily="2" charset="-122"/>
              </a:rPr>
              <a:t>，</a:t>
            </a:r>
            <a:r>
              <a:rPr lang="zh-CN" altLang="en-US" sz="4000" b="1" dirty="0">
                <a:latin typeface="Times New Roman" pitchFamily="18" charset="0"/>
                <a:ea typeface="宋体" pitchFamily="2" charset="-122"/>
              </a:rPr>
              <a:t>而且在</a:t>
            </a:r>
            <a:r>
              <a:rPr lang="en-US" altLang="zh-CN" sz="4000" b="1" dirty="0">
                <a:latin typeface="Times New Roman" pitchFamily="18" charset="0"/>
                <a:ea typeface="宋体" pitchFamily="2" charset="-122"/>
              </a:rPr>
              <a:t>F</a:t>
            </a:r>
            <a:r>
              <a:rPr lang="zh-CN" altLang="en-US" sz="4000" b="1" dirty="0">
                <a:latin typeface="Times New Roman" pitchFamily="18" charset="0"/>
                <a:ea typeface="宋体" pitchFamily="2" charset="-122"/>
              </a:rPr>
              <a:t>中存在大量的平凡函数依赖或者无意义的函数依赖，实际应用中只需要得出</a:t>
            </a:r>
            <a:r>
              <a:rPr lang="en-US" altLang="zh-CN" sz="4000" b="1" dirty="0">
                <a:solidFill>
                  <a:srgbClr val="FFFF00"/>
                </a:solidFill>
                <a:latin typeface="Times New Roman" pitchFamily="18" charset="0"/>
                <a:ea typeface="宋体" pitchFamily="2" charset="-122"/>
              </a:rPr>
              <a:t>F</a:t>
            </a:r>
            <a:r>
              <a:rPr lang="en-US" altLang="zh-CN" sz="4000" b="1" baseline="30000" dirty="0">
                <a:solidFill>
                  <a:srgbClr val="FFFF00"/>
                </a:solidFill>
                <a:latin typeface="Times New Roman" pitchFamily="18" charset="0"/>
                <a:ea typeface="宋体" pitchFamily="2" charset="-122"/>
              </a:rPr>
              <a:t>+</a:t>
            </a:r>
            <a:r>
              <a:rPr lang="zh-CN" altLang="en-US" sz="4000" b="1" dirty="0">
                <a:solidFill>
                  <a:srgbClr val="FFFF00"/>
                </a:solidFill>
                <a:latin typeface="Times New Roman" pitchFamily="18" charset="0"/>
                <a:ea typeface="宋体" pitchFamily="2" charset="-122"/>
              </a:rPr>
              <a:t>的某个子集</a:t>
            </a:r>
            <a:r>
              <a:rPr lang="zh-CN" altLang="en-US" sz="4000" b="1" dirty="0">
                <a:latin typeface="Times New Roman" pitchFamily="18" charset="0"/>
                <a:ea typeface="宋体" pitchFamily="2" charset="-122"/>
              </a:rPr>
              <a:t>，为此引入了</a:t>
            </a:r>
            <a:r>
              <a:rPr lang="zh-CN" altLang="en-US" sz="4000" b="1" dirty="0">
                <a:solidFill>
                  <a:srgbClr val="FFFF00"/>
                </a:solidFill>
                <a:latin typeface="Times New Roman" pitchFamily="18" charset="0"/>
                <a:ea typeface="宋体" pitchFamily="2" charset="-122"/>
              </a:rPr>
              <a:t>属性集闭包</a:t>
            </a:r>
            <a:r>
              <a:rPr lang="zh-CN" altLang="en-US" sz="4000" b="1" dirty="0">
                <a:latin typeface="Times New Roman" pitchFamily="18" charset="0"/>
                <a:ea typeface="宋体" pitchFamily="2" charset="-122"/>
              </a:rPr>
              <a:t>的概念</a:t>
            </a:r>
            <a:r>
              <a:rPr lang="zh-CN" altLang="en-US" sz="4000" b="1" dirty="0" smtClean="0">
                <a:solidFill>
                  <a:srgbClr val="000000"/>
                </a:solidFill>
                <a:latin typeface="Times New Roman" pitchFamily="18" charset="0"/>
                <a:ea typeface="宋体" pitchFamily="2" charset="-122"/>
              </a:rPr>
              <a:t>。</a:t>
            </a:r>
            <a:endParaRPr lang="en-US" altLang="zh-CN" sz="4000" b="1" dirty="0" smtClean="0">
              <a:solidFill>
                <a:srgbClr val="000000"/>
              </a:solidFill>
              <a:latin typeface="Times New Roman" pitchFamily="18" charset="0"/>
              <a:ea typeface="宋体" pitchFamily="2" charset="-122"/>
            </a:endParaRPr>
          </a:p>
          <a:p>
            <a:endParaRPr lang="en-US" altLang="zh-CN" sz="4000" b="1" dirty="0" smtClean="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3625602041"/>
      </p:ext>
    </p:extLst>
  </p:cSld>
  <p:clrMapOvr>
    <a:masterClrMapping/>
  </p:clrMapOvr>
  <p:transition spd="slow">
    <p:wipe dir="r"/>
    <p:sndAc>
      <p:stSnd>
        <p:snd r:embed="rId2" name="arrow.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983432" y="16905"/>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1497092" name="Text Box 4"/>
          <p:cNvSpPr txBox="1">
            <a:spLocks noChangeArrowheads="1"/>
          </p:cNvSpPr>
          <p:nvPr/>
        </p:nvSpPr>
        <p:spPr bwMode="auto">
          <a:xfrm>
            <a:off x="983432" y="1046511"/>
            <a:ext cx="9861431" cy="11430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ct val="0"/>
              </a:spcBef>
              <a:spcAft>
                <a:spcPct val="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对于关系模式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R(U,F)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中的单个属性，称</a:t>
            </a:r>
          </a:p>
          <a:p>
            <a:pPr marL="0" marR="0" lvl="0" indent="0" algn="just" defTabSz="914400" rtl="0" eaLnBrk="1" fontAlgn="base" latinLnBrk="0" hangingPunct="1">
              <a:lnSpc>
                <a:spcPct val="100000"/>
              </a:lnSpc>
              <a:spcBef>
                <a:spcPct val="30000"/>
              </a:spcBef>
              <a:spcAft>
                <a:spcPct val="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	</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={A|A</a:t>
            </a:r>
            <a:r>
              <a:rPr kumimoji="1" lang="en-US" altLang="zh-CN" sz="28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sym typeface="Symbol" pitchFamily="18" charset="2"/>
              </a:rPr>
              <a:t></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U</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X→A</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能由</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F</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根据</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Armstrong</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公理导出</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j-ea"/>
                <a:ea typeface="+mj-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为属性集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关于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的闭包，通常简记为</a:t>
            </a:r>
            <a:r>
              <a:rPr kumimoji="1" lang="en-US" altLang="zh-CN" sz="40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mj-ea"/>
                <a:ea typeface="+mj-ea"/>
                <a:cs typeface="+mn-cs"/>
              </a:rPr>
              <a:t>X</a:t>
            </a:r>
            <a:r>
              <a:rPr kumimoji="1" lang="en-US" altLang="zh-CN" sz="4000" b="1" i="0" u="none" strike="noStrike" kern="1200" cap="none" spc="0" normalizeH="0" baseline="30000" noProof="0" dirty="0">
                <a:ln>
                  <a:noFill/>
                </a:ln>
                <a:solidFill>
                  <a:srgbClr val="FFFF00"/>
                </a:solidFill>
                <a:effectLst>
                  <a:outerShdw blurRad="38100" dist="38100" dir="2700000" algn="tl">
                    <a:srgbClr val="000000"/>
                  </a:outerShdw>
                </a:effectLst>
                <a:uLnTx/>
                <a:uFillTx/>
                <a:latin typeface="+mj-ea"/>
                <a:ea typeface="+mj-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j-ea"/>
                <a:ea typeface="+mj-ea"/>
                <a:cs typeface="+mn-cs"/>
              </a:rPr>
              <a:t>。</a:t>
            </a:r>
          </a:p>
        </p:txBody>
      </p:sp>
      <p:sp>
        <p:nvSpPr>
          <p:cNvPr id="1497093" name="Text Box 5"/>
          <p:cNvSpPr txBox="1">
            <a:spLocks noChangeArrowheads="1"/>
          </p:cNvSpPr>
          <p:nvPr/>
        </p:nvSpPr>
        <p:spPr bwMode="auto">
          <a:xfrm>
            <a:off x="983432" y="3212976"/>
            <a:ext cx="9861431" cy="604837"/>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4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已知</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R</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ABC</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,{A→B, B→C}</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endPar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endParaRPr>
          </a:p>
          <a:p>
            <a:pPr marL="0" marR="0" lvl="0" indent="0" algn="l" defTabSz="914400" rtl="0" eaLnBrk="1" fontAlgn="base" latinLnBrk="0" hangingPunct="1">
              <a:lnSpc>
                <a:spcPct val="100000"/>
              </a:lnSpc>
              <a:spcBef>
                <a:spcPct val="0"/>
              </a:spcBef>
              <a:spcAft>
                <a:spcPct val="4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根据</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能得出</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自反</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A→B</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(已知</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传递</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a:p>
            <a:pPr marL="0" marR="0" lvl="0" indent="0" algn="l" defTabSz="914400" rtl="0" eaLnBrk="1" fontAlgn="base" latinLnBrk="0" hangingPunct="1">
              <a:lnSpc>
                <a:spcPct val="100000"/>
              </a:lnSpc>
              <a:spcBef>
                <a:spcPct val="0"/>
              </a:spcBef>
              <a:spcAft>
                <a:spcPct val="4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所以 </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a:t>
            </a:r>
            <a:r>
              <a:rPr kumimoji="1" lang="en-US" altLang="zh-CN" sz="3200" b="0"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 {A</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p>
          <a:p>
            <a:pPr marL="0" marR="0" lvl="0" indent="0" algn="l" defTabSz="914400" rtl="0" eaLnBrk="1" fontAlgn="base" latinLnBrk="0" hangingPunct="1">
              <a:lnSpc>
                <a:spcPct val="100000"/>
              </a:lnSpc>
              <a:spcBef>
                <a:spcPct val="0"/>
              </a:spcBef>
              <a:spcAft>
                <a:spcPct val="4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同理 </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en-US" altLang="zh-CN" sz="3200" b="0"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 {B</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p>
          <a:p>
            <a:pPr marL="0" marR="0" lvl="0" indent="0" algn="l" defTabSz="914400" rtl="0" eaLnBrk="1" fontAlgn="base" latinLnBrk="0" hangingPunct="1">
              <a:lnSpc>
                <a:spcPct val="100000"/>
              </a:lnSpc>
              <a:spcBef>
                <a:spcPct val="0"/>
              </a:spcBef>
              <a:spcAft>
                <a:spcPct val="40000"/>
              </a:spcAft>
              <a:buClrTx/>
              <a:buSzPct val="80000"/>
              <a:buFont typeface="Wingdings" pitchFamily="2" charset="2"/>
              <a:buNone/>
              <a:tabLst>
                <a:tab pos="895350" algn="l"/>
                <a:tab pos="1905000" algn="l"/>
              </a:tabLst>
              <a:defRPr/>
            </a:pPr>
            <a:r>
              <a:rPr kumimoji="1" lang="en-US" altLang="zh-CN" sz="3200" dirty="0">
                <a:solidFill>
                  <a:srgbClr val="99FF99"/>
                </a:solidFill>
                <a:effectLst>
                  <a:outerShdw blurRad="38100" dist="38100" dir="2700000" algn="tl">
                    <a:srgbClr val="000000"/>
                  </a:outerShdw>
                </a:effectLst>
                <a:ea typeface="楷体_GB2312" pitchFamily="49" charset="-122"/>
              </a:rPr>
              <a:t>	</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en-US" altLang="zh-CN" sz="3200" b="0"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 {C}</a:t>
            </a:r>
            <a:endPar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endParaRPr>
          </a:p>
        </p:txBody>
      </p:sp>
      <p:grpSp>
        <p:nvGrpSpPr>
          <p:cNvPr id="28678" name="Group 6"/>
          <p:cNvGrpSpPr>
            <a:grpSpLocks/>
          </p:cNvGrpSpPr>
          <p:nvPr/>
        </p:nvGrpSpPr>
        <p:grpSpPr bwMode="auto">
          <a:xfrm>
            <a:off x="1071812" y="1516410"/>
            <a:ext cx="638174" cy="800100"/>
            <a:chOff x="-170" y="1097"/>
            <a:chExt cx="402" cy="504"/>
          </a:xfrm>
        </p:grpSpPr>
        <p:sp>
          <p:nvSpPr>
            <p:cNvPr id="1497095" name="Rectangle 7"/>
            <p:cNvSpPr>
              <a:spLocks noChangeArrowheads="1"/>
            </p:cNvSpPr>
            <p:nvPr/>
          </p:nvSpPr>
          <p:spPr bwMode="auto">
            <a:xfrm>
              <a:off x="-170" y="1213"/>
              <a:ext cx="346" cy="388"/>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40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X</a:t>
              </a:r>
              <a:r>
                <a:rPr kumimoji="1" lang="en-US" altLang="zh-CN" sz="4000" b="1" i="0" u="none" strike="noStrike" kern="1200" cap="none" spc="0" normalizeH="0" baseline="-25000" noProof="0" dirty="0">
                  <a:ln>
                    <a:noFill/>
                  </a:ln>
                  <a:solidFill>
                    <a:srgbClr val="FFFF00"/>
                  </a:solidFill>
                  <a:effectLst>
                    <a:outerShdw blurRad="38100" dist="38100" dir="2700000" algn="tl">
                      <a:srgbClr val="000000"/>
                    </a:outerShdw>
                  </a:effectLst>
                  <a:uLnTx/>
                  <a:uFillTx/>
                  <a:ea typeface="楷体_GB2312" pitchFamily="49" charset="-122"/>
                  <a:cs typeface="+mn-cs"/>
                </a:rPr>
                <a:t>F</a:t>
              </a:r>
              <a:endParaRPr kumimoji="1" lang="zh-CN" altLang="en-US" sz="4000" b="1" i="0" u="none" strike="noStrike" kern="1200" cap="none" spc="0" normalizeH="0" baseline="-25000" noProof="0" dirty="0">
                <a:ln>
                  <a:noFill/>
                </a:ln>
                <a:solidFill>
                  <a:srgbClr val="FFFF00"/>
                </a:solidFill>
                <a:effectLst>
                  <a:outerShdw blurRad="38100" dist="38100" dir="2700000" algn="tl">
                    <a:srgbClr val="000000"/>
                  </a:outerShdw>
                </a:effectLst>
                <a:uLnTx/>
                <a:uFillTx/>
                <a:ea typeface="楷体_GB2312" pitchFamily="49" charset="-122"/>
                <a:cs typeface="+mn-cs"/>
              </a:endParaRPr>
            </a:p>
          </p:txBody>
        </p:sp>
        <p:sp>
          <p:nvSpPr>
            <p:cNvPr id="1497096" name="Rectangle 8"/>
            <p:cNvSpPr>
              <a:spLocks noChangeArrowheads="1"/>
            </p:cNvSpPr>
            <p:nvPr/>
          </p:nvSpPr>
          <p:spPr bwMode="auto">
            <a:xfrm>
              <a:off x="59" y="1097"/>
              <a:ext cx="173" cy="310"/>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a:t>
              </a:r>
              <a:endParaRPr kumimoji="1"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endParaRPr>
            </a:p>
          </p:txBody>
        </p:sp>
      </p:grp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2"/>
          <p:cNvSpPr>
            <a:spLocks noGrp="1"/>
          </p:cNvSpPr>
          <p:nvPr>
            <p:ph idx="1"/>
          </p:nvPr>
        </p:nvSpPr>
        <p:spPr>
          <a:xfrm>
            <a:off x="263352" y="980728"/>
            <a:ext cx="10363200" cy="4114800"/>
          </a:xfrm>
        </p:spPr>
        <p:txBody>
          <a:bodyPr>
            <a:normAutofit/>
          </a:bodyPr>
          <a:lstStyle/>
          <a:p>
            <a:r>
              <a:rPr lang="zh-CN" altLang="en-US" sz="4000" b="1" dirty="0">
                <a:latin typeface="Arial" pitchFamily="34" charset="0"/>
                <a:ea typeface="宋体" pitchFamily="2" charset="-122"/>
              </a:rPr>
              <a:t>属性集</a:t>
            </a:r>
            <a:r>
              <a:rPr lang="en-US" altLang="zh-CN" sz="4000" b="1" dirty="0">
                <a:solidFill>
                  <a:srgbClr val="FFFF00"/>
                </a:solidFill>
                <a:latin typeface="Arial" pitchFamily="34" charset="0"/>
                <a:ea typeface="宋体" pitchFamily="2" charset="-122"/>
              </a:rPr>
              <a:t>X</a:t>
            </a:r>
            <a:r>
              <a:rPr lang="zh-CN" altLang="en-US" sz="4000" b="1" dirty="0">
                <a:latin typeface="Arial" pitchFamily="34" charset="0"/>
                <a:ea typeface="宋体" pitchFamily="2" charset="-122"/>
              </a:rPr>
              <a:t>关于函数依赖集合的</a:t>
            </a:r>
            <a:r>
              <a:rPr lang="zh-CN" altLang="en-US" sz="4000" b="1" dirty="0">
                <a:solidFill>
                  <a:srgbClr val="FFFF00"/>
                </a:solidFill>
                <a:latin typeface="Arial" pitchFamily="34" charset="0"/>
                <a:ea typeface="宋体" pitchFamily="2" charset="-122"/>
              </a:rPr>
              <a:t>闭包</a:t>
            </a:r>
            <a:r>
              <a:rPr lang="zh-CN" altLang="en-US" sz="4000" b="1" dirty="0">
                <a:latin typeface="Arial" pitchFamily="34" charset="0"/>
                <a:ea typeface="宋体" pitchFamily="2" charset="-122"/>
              </a:rPr>
              <a:t>，里面的元素是</a:t>
            </a:r>
            <a:r>
              <a:rPr lang="zh-CN" altLang="en-US" sz="4000" b="1" dirty="0">
                <a:solidFill>
                  <a:srgbClr val="FFFF00"/>
                </a:solidFill>
                <a:latin typeface="Arial" pitchFamily="34" charset="0"/>
                <a:ea typeface="宋体" pitchFamily="2" charset="-122"/>
              </a:rPr>
              <a:t>属性</a:t>
            </a:r>
            <a:r>
              <a:rPr lang="zh-CN" altLang="en-US" sz="4000" b="1" dirty="0">
                <a:latin typeface="Arial" pitchFamily="34" charset="0"/>
                <a:ea typeface="宋体" pitchFamily="2" charset="-122"/>
              </a:rPr>
              <a:t>（而不是函数依赖），这些属性是</a:t>
            </a:r>
            <a:r>
              <a:rPr lang="en-US" altLang="zh-CN" sz="4000" b="1" dirty="0">
                <a:latin typeface="Arial" pitchFamily="34" charset="0"/>
                <a:ea typeface="宋体" pitchFamily="2" charset="-122"/>
              </a:rPr>
              <a:t>F</a:t>
            </a:r>
            <a:r>
              <a:rPr lang="zh-CN" altLang="en-US" sz="4000" b="1" dirty="0">
                <a:latin typeface="Arial" pitchFamily="34" charset="0"/>
                <a:ea typeface="宋体" pitchFamily="2" charset="-122"/>
              </a:rPr>
              <a:t>根据</a:t>
            </a:r>
            <a:r>
              <a:rPr lang="en-US" altLang="zh-CN" sz="4000" b="1" dirty="0">
                <a:latin typeface="Arial" pitchFamily="34" charset="0"/>
                <a:ea typeface="宋体" pitchFamily="2" charset="-122"/>
              </a:rPr>
              <a:t>Armstrong </a:t>
            </a:r>
            <a:r>
              <a:rPr lang="zh-CN" altLang="en-US" sz="4000" b="1" dirty="0">
                <a:latin typeface="Arial" pitchFamily="34" charset="0"/>
                <a:ea typeface="宋体" pitchFamily="2" charset="-122"/>
              </a:rPr>
              <a:t>公理推导出来的</a:t>
            </a:r>
            <a:r>
              <a:rPr lang="zh-CN" altLang="en-US" sz="4000" b="1" dirty="0" smtClean="0">
                <a:latin typeface="Arial" pitchFamily="34" charset="0"/>
                <a:ea typeface="宋体" pitchFamily="2" charset="-122"/>
              </a:rPr>
              <a:t>。</a:t>
            </a:r>
            <a:endParaRPr lang="en-US" altLang="zh-CN" sz="4000" b="1" dirty="0" smtClean="0">
              <a:latin typeface="Arial" pitchFamily="34" charset="0"/>
              <a:ea typeface="宋体" pitchFamily="2" charset="-122"/>
            </a:endParaRPr>
          </a:p>
          <a:p>
            <a:pPr lvl="0"/>
            <a:r>
              <a:rPr kumimoji="1" lang="zh-CN" altLang="en-US" sz="4000" b="1" dirty="0">
                <a:solidFill>
                  <a:srgbClr val="FFFF00"/>
                </a:solidFill>
                <a:effectLst>
                  <a:outerShdw blurRad="38100" dist="38100" dir="2700000" algn="tl">
                    <a:srgbClr val="000000"/>
                  </a:outerShdw>
                </a:effectLst>
                <a:latin typeface="微软雅黑"/>
                <a:ea typeface="微软雅黑"/>
              </a:rPr>
              <a:t>注意：函数依赖集闭包</a:t>
            </a:r>
            <a:r>
              <a:rPr kumimoji="1" lang="en-US" altLang="zh-CN" sz="4000" b="1" dirty="0">
                <a:solidFill>
                  <a:srgbClr val="FFFF00"/>
                </a:solidFill>
                <a:effectLst>
                  <a:outerShdw blurRad="38100" dist="38100" dir="2700000" algn="tl">
                    <a:srgbClr val="000000"/>
                  </a:outerShdw>
                </a:effectLst>
                <a:latin typeface="微软雅黑"/>
                <a:ea typeface="微软雅黑"/>
              </a:rPr>
              <a:t>F</a:t>
            </a:r>
            <a:r>
              <a:rPr kumimoji="1" lang="en-US" altLang="zh-CN" sz="4000" b="1" baseline="30000" dirty="0">
                <a:solidFill>
                  <a:srgbClr val="FFFF00"/>
                </a:solidFill>
                <a:effectLst>
                  <a:outerShdw blurRad="38100" dist="38100" dir="2700000" algn="tl">
                    <a:srgbClr val="000000"/>
                  </a:outerShdw>
                </a:effectLst>
                <a:latin typeface="微软雅黑"/>
                <a:ea typeface="微软雅黑"/>
              </a:rPr>
              <a:t>+</a:t>
            </a:r>
            <a:r>
              <a:rPr kumimoji="1" lang="zh-CN" altLang="en-US" sz="4000" b="1" dirty="0">
                <a:solidFill>
                  <a:srgbClr val="FFFF00"/>
                </a:solidFill>
                <a:effectLst>
                  <a:outerShdw blurRad="38100" dist="38100" dir="2700000" algn="tl">
                    <a:srgbClr val="000000"/>
                  </a:outerShdw>
                </a:effectLst>
                <a:latin typeface="微软雅黑"/>
                <a:ea typeface="微软雅黑"/>
              </a:rPr>
              <a:t>的集合元素是函数依赖</a:t>
            </a:r>
            <a:r>
              <a:rPr kumimoji="1" lang="zh-CN" altLang="en-US" sz="4000" b="1" dirty="0" smtClean="0">
                <a:solidFill>
                  <a:srgbClr val="FFFF00"/>
                </a:solidFill>
                <a:effectLst>
                  <a:outerShdw blurRad="38100" dist="38100" dir="2700000" algn="tl">
                    <a:srgbClr val="000000"/>
                  </a:outerShdw>
                </a:effectLst>
                <a:latin typeface="微软雅黑"/>
                <a:ea typeface="微软雅黑"/>
              </a:rPr>
              <a:t>关系</a:t>
            </a:r>
            <a:r>
              <a:rPr kumimoji="1" lang="zh-CN" altLang="zh-CN" sz="4000" b="1" dirty="0">
                <a:solidFill>
                  <a:srgbClr val="FFFF00"/>
                </a:solidFill>
                <a:effectLst>
                  <a:outerShdw blurRad="38100" dist="38100" dir="2700000" algn="tl">
                    <a:srgbClr val="000000"/>
                  </a:outerShdw>
                </a:effectLst>
                <a:latin typeface="微软雅黑"/>
                <a:ea typeface="微软雅黑"/>
              </a:rPr>
              <a:t>X→Y </a:t>
            </a:r>
            <a:r>
              <a:rPr kumimoji="1" lang="zh-CN" altLang="en-US" sz="4000" b="1" dirty="0" smtClean="0">
                <a:solidFill>
                  <a:srgbClr val="FFFF00"/>
                </a:solidFill>
                <a:effectLst>
                  <a:outerShdw blurRad="38100" dist="38100" dir="2700000" algn="tl">
                    <a:srgbClr val="000000"/>
                  </a:outerShdw>
                </a:effectLst>
                <a:latin typeface="微软雅黑"/>
                <a:ea typeface="微软雅黑"/>
              </a:rPr>
              <a:t>，</a:t>
            </a:r>
            <a:r>
              <a:rPr kumimoji="1" lang="zh-CN" altLang="en-US" sz="4000" b="1" dirty="0">
                <a:solidFill>
                  <a:srgbClr val="FFFF00"/>
                </a:solidFill>
                <a:effectLst>
                  <a:outerShdw blurRad="38100" dist="38100" dir="2700000" algn="tl">
                    <a:srgbClr val="000000"/>
                  </a:outerShdw>
                </a:effectLst>
                <a:latin typeface="微软雅黑"/>
                <a:ea typeface="微软雅黑"/>
              </a:rPr>
              <a:t>属性集闭包</a:t>
            </a:r>
            <a:r>
              <a:rPr kumimoji="1" lang="en-US" altLang="zh-CN" sz="4000" b="1" dirty="0">
                <a:solidFill>
                  <a:srgbClr val="FFFF00"/>
                </a:solidFill>
                <a:effectLst>
                  <a:outerShdw blurRad="38100" dist="38100" dir="2700000" algn="tl">
                    <a:srgbClr val="000000"/>
                  </a:outerShdw>
                </a:effectLst>
                <a:latin typeface="微软雅黑"/>
                <a:ea typeface="微软雅黑"/>
              </a:rPr>
              <a:t>X</a:t>
            </a:r>
            <a:r>
              <a:rPr kumimoji="1" lang="en-US" altLang="zh-CN" sz="4000" b="1" baseline="30000" dirty="0">
                <a:solidFill>
                  <a:srgbClr val="FFFF00"/>
                </a:solidFill>
                <a:effectLst>
                  <a:outerShdw blurRad="38100" dist="38100" dir="2700000" algn="tl">
                    <a:srgbClr val="000000"/>
                  </a:outerShdw>
                </a:effectLst>
                <a:latin typeface="微软雅黑"/>
                <a:ea typeface="微软雅黑"/>
              </a:rPr>
              <a:t>+</a:t>
            </a:r>
            <a:r>
              <a:rPr kumimoji="1" lang="zh-CN" altLang="en-US" sz="4000" b="1" dirty="0">
                <a:solidFill>
                  <a:srgbClr val="FFFF00"/>
                </a:solidFill>
                <a:effectLst>
                  <a:outerShdw blurRad="38100" dist="38100" dir="2700000" algn="tl">
                    <a:srgbClr val="000000"/>
                  </a:outerShdw>
                </a:effectLst>
                <a:latin typeface="微软雅黑"/>
                <a:ea typeface="微软雅黑"/>
              </a:rPr>
              <a:t>的集合元素是属性。</a:t>
            </a:r>
          </a:p>
          <a:p>
            <a:endParaRPr lang="zh-CN" altLang="en-US" sz="4000" b="1" dirty="0">
              <a:latin typeface="Arial" pitchFamily="34" charset="0"/>
              <a:ea typeface="宋体" pitchFamily="2" charset="-122"/>
            </a:endParaRPr>
          </a:p>
        </p:txBody>
      </p:sp>
    </p:spTree>
    <p:extLst>
      <p:ext uri="{BB962C8B-B14F-4D97-AF65-F5344CB8AC3E}">
        <p14:creationId xmlns:p14="http://schemas.microsoft.com/office/powerpoint/2010/main" val="3717666848"/>
      </p:ext>
    </p:extLst>
  </p:cSld>
  <p:clrMapOvr>
    <a:masterClrMapping/>
  </p:clrMapOvr>
  <p:transition spd="slow">
    <p:wipe dir="r"/>
    <p:sndAc>
      <p:stSnd>
        <p:snd r:embed="rId2" name="arrow.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
          <p:cNvSpPr txBox="1">
            <a:spLocks noChangeArrowheads="1"/>
          </p:cNvSpPr>
          <p:nvPr/>
        </p:nvSpPr>
        <p:spPr bwMode="auto">
          <a:xfrm>
            <a:off x="983432" y="1124744"/>
            <a:ext cx="8382000"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下面给出一种求属性集闭包的算法</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p>
        </p:txBody>
      </p:sp>
      <p:sp>
        <p:nvSpPr>
          <p:cNvPr id="9" name="Text Box 5"/>
          <p:cNvSpPr txBox="1">
            <a:spLocks noChangeArrowheads="1"/>
          </p:cNvSpPr>
          <p:nvPr/>
        </p:nvSpPr>
        <p:spPr bwMode="auto">
          <a:xfrm>
            <a:off x="1002160" y="1965325"/>
            <a:ext cx="9865096" cy="604837"/>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40000"/>
              </a:spcAft>
              <a:buClrTx/>
              <a:buSzTx/>
              <a:buFont typeface="Wingdings" pitchFamily="2" charset="2"/>
              <a:buNone/>
              <a:tabLst>
                <a:tab pos="715963" algn="l"/>
                <a:tab pos="1905000" algn="l"/>
              </a:tabLst>
              <a:defRPr/>
            </a:pPr>
            <a:r>
              <a:rPr kumimoji="0" lang="zh-CN" altLang="en-US" sz="28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输入：</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属性集</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U</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、函数依赖集</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和</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U</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的一个子集</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a:p>
            <a:pPr marL="0" marR="0" lvl="0" indent="0" algn="l" defTabSz="914400" rtl="0" eaLnBrk="1" fontAlgn="base" latinLnBrk="0" hangingPunct="1">
              <a:lnSpc>
                <a:spcPct val="100000"/>
              </a:lnSpc>
              <a:spcBef>
                <a:spcPct val="0"/>
              </a:spcBef>
              <a:spcAft>
                <a:spcPct val="40000"/>
              </a:spcAft>
              <a:buClrTx/>
              <a:buSzTx/>
              <a:buFont typeface="Wingdings" pitchFamily="2" charset="2"/>
              <a:buNone/>
              <a:tabLst>
                <a:tab pos="715963" algn="l"/>
                <a:tab pos="1905000" algn="l"/>
              </a:tabLst>
              <a:defRPr/>
            </a:pPr>
            <a:r>
              <a:rPr kumimoji="0" lang="zh-CN" altLang="en-US" sz="28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输出：</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关于</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的闭包</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3000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a:p>
            <a:pPr marL="0" marR="0" lvl="0" indent="0" algn="l" defTabSz="914400" rtl="0" eaLnBrk="1" fontAlgn="base" latinLnBrk="0" hangingPunct="1">
              <a:lnSpc>
                <a:spcPct val="100000"/>
              </a:lnSpc>
              <a:spcBef>
                <a:spcPct val="0"/>
              </a:spcBef>
              <a:spcAft>
                <a:spcPct val="40000"/>
              </a:spcAft>
              <a:buClrTx/>
              <a:buSzTx/>
              <a:buFont typeface="Wingdings" pitchFamily="2" charset="2"/>
              <a:buNone/>
              <a:tabLst>
                <a:tab pos="715963" algn="l"/>
                <a:tab pos="1905000" algn="l"/>
              </a:tabLst>
              <a:defRPr/>
            </a:pPr>
            <a:r>
              <a:rPr kumimoji="0" lang="zh-CN" altLang="en-US" sz="2800" b="0"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计算方法和计算步骤：</a:t>
            </a:r>
          </a:p>
          <a:p>
            <a:pPr marL="0" marR="0" lvl="0" indent="0" algn="l" defTabSz="914400" rtl="0" eaLnBrk="1" fontAlgn="base" latinLnBrk="0" hangingPunct="1">
              <a:lnSpc>
                <a:spcPct val="120000"/>
              </a:lnSpc>
              <a:spcBef>
                <a:spcPct val="0"/>
              </a:spcBef>
              <a:spcAft>
                <a:spcPct val="0"/>
              </a:spcAft>
              <a:buClrTx/>
              <a:buSzTx/>
              <a:buFont typeface="Wingdings" pitchFamily="2" charset="2"/>
              <a:buNone/>
              <a:tabLst>
                <a:tab pos="534988" algn="l"/>
                <a:tab pos="1905000" algn="l"/>
              </a:tabLst>
              <a:defRPr/>
            </a:pP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⑴</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设置初始值：令</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0</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 </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a:p>
            <a:pPr marL="0" marR="0" lvl="0" indent="0" algn="l" defTabSz="914400" rtl="0" eaLnBrk="1" fontAlgn="base" latinLnBrk="0" hangingPunct="1">
              <a:lnSpc>
                <a:spcPct val="120000"/>
              </a:lnSpc>
              <a:spcBef>
                <a:spcPct val="0"/>
              </a:spcBef>
              <a:spcAft>
                <a:spcPct val="0"/>
              </a:spcAft>
              <a:buClrTx/>
              <a:buSzTx/>
              <a:buFont typeface="Wingdings" pitchFamily="2" charset="2"/>
              <a:buNone/>
              <a:tabLst>
                <a:tab pos="534988" algn="l"/>
                <a:tab pos="1905000" algn="l"/>
              </a:tabLst>
              <a:defRPr/>
            </a:pP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⑵</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如果</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0</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Symbol"/>
                <a:ea typeface="楷体_GB2312" pitchFamily="49" charset="-122"/>
                <a:cs typeface="+mn-cs"/>
              </a:rPr>
              <a:t>¹</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，令</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0</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，否则转⑷ ；</a:t>
            </a:r>
          </a:p>
          <a:p>
            <a:pPr marL="0" marR="0" lvl="0" indent="0" algn="l" defTabSz="914400" rtl="0" eaLnBrk="1" fontAlgn="base" latinLnBrk="0" hangingPunct="1">
              <a:lnSpc>
                <a:spcPct val="120000"/>
              </a:lnSpc>
              <a:spcBef>
                <a:spcPct val="0"/>
              </a:spcBef>
              <a:spcAft>
                <a:spcPct val="0"/>
              </a:spcAft>
              <a:buClrTx/>
              <a:buSzTx/>
              <a:buFont typeface="Wingdings" pitchFamily="2" charset="2"/>
              <a:buNone/>
              <a:tabLst>
                <a:tab pos="534988" algn="l"/>
                <a:tab pos="1905000" algn="l"/>
              </a:tabLst>
              <a:defRPr/>
            </a:pP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⑶</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构造函数依赖集</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Symbol"/>
                <a:ea typeface="楷体_GB2312" pitchFamily="49"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={Y→Z | (Y→Z)</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Symbol"/>
                <a:ea typeface="楷体_GB2312" pitchFamily="49" charset="-122"/>
                <a:cs typeface="+mn-cs"/>
              </a:rPr>
              <a:t>Î</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且</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Y</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Symbol"/>
                <a:ea typeface="楷体_GB2312" pitchFamily="49" charset="-122"/>
                <a:cs typeface="+mn-cs"/>
              </a:rPr>
              <a:t>Í</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，令 </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F=F-F</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Symbol"/>
                <a:ea typeface="楷体_GB2312" pitchFamily="49" charset="-122"/>
                <a:cs typeface="+mn-cs"/>
              </a:rPr>
              <a:t>¢</a:t>
            </a:r>
            <a:endPar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a:p>
            <a:pPr marL="0" marR="0" lvl="0" indent="0" algn="l" defTabSz="914400" rtl="0" eaLnBrk="1" fontAlgn="base" latinLnBrk="0" hangingPunct="1">
              <a:lnSpc>
                <a:spcPct val="120000"/>
              </a:lnSpc>
              <a:spcBef>
                <a:spcPct val="0"/>
              </a:spcBef>
              <a:spcAft>
                <a:spcPct val="0"/>
              </a:spcAft>
              <a:buClrTx/>
              <a:buSzTx/>
              <a:buFont typeface="Wingdings" pitchFamily="2" charset="2"/>
              <a:buNone/>
              <a:tabLst>
                <a:tab pos="534988" algn="l"/>
                <a:tab pos="1905000" algn="l"/>
              </a:tabLst>
              <a:defRPr/>
            </a:pP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对</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Symbol"/>
                <a:ea typeface="楷体_GB2312" pitchFamily="49" charset="-122"/>
                <a:cs typeface="+mn-cs"/>
              </a:rPr>
              <a:t>¢</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中的每一个函数依赖</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Y→Z,</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令</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∪Z,</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转⑵</a:t>
            </a:r>
          </a:p>
          <a:p>
            <a:pPr marL="0" marR="0" lvl="0" indent="0" algn="l" defTabSz="914400" rtl="0" eaLnBrk="1" fontAlgn="base" latinLnBrk="0" hangingPunct="1">
              <a:lnSpc>
                <a:spcPct val="120000"/>
              </a:lnSpc>
              <a:spcBef>
                <a:spcPct val="0"/>
              </a:spcBef>
              <a:spcAft>
                <a:spcPct val="0"/>
              </a:spcAft>
              <a:buClrTx/>
              <a:buSzTx/>
              <a:buFont typeface="Wingdings" pitchFamily="2" charset="2"/>
              <a:buNone/>
              <a:tabLst>
                <a:tab pos="534988" algn="l"/>
                <a:tab pos="1905000" algn="l"/>
              </a:tabLst>
              <a:defRPr/>
            </a:pP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⑷</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输出</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，它就是</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X</a:t>
            </a:r>
            <a:r>
              <a:rPr kumimoji="0" lang="en-US" altLang="zh-CN" sz="2800" b="0" i="0" u="none" strike="noStrike" kern="1200" cap="none" spc="0" normalizeH="0" baseline="3000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p:txBody>
      </p:sp>
      <p:sp>
        <p:nvSpPr>
          <p:cNvPr id="7" name="Rectangle 3">
            <a:extLst>
              <a:ext uri="{FF2B5EF4-FFF2-40B4-BE49-F238E27FC236}">
                <a16:creationId xmlns:a16="http://schemas.microsoft.com/office/drawing/2014/main" id="{4FC4ECC3-79BE-4CEF-AA3F-83C860FD0243}"/>
              </a:ext>
            </a:extLst>
          </p:cNvPr>
          <p:cNvSpPr>
            <a:spLocks noGrp="1" noChangeArrowheads="1"/>
          </p:cNvSpPr>
          <p:nvPr>
            <p:ph type="title"/>
          </p:nvPr>
        </p:nvSpPr>
        <p:spPr>
          <a:xfrm>
            <a:off x="983432" y="16905"/>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3682049818"/>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63CB90DB-E8C3-49EA-9835-799EDABEC63F}"/>
              </a:ext>
            </a:extLst>
          </p:cNvPr>
          <p:cNvSpPr txBox="1">
            <a:spLocks noChangeArrowheads="1"/>
          </p:cNvSpPr>
          <p:nvPr/>
        </p:nvSpPr>
        <p:spPr bwMode="auto">
          <a:xfrm>
            <a:off x="1415480" y="980728"/>
            <a:ext cx="10369152"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E</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G}, </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C→A, BC→D, ACD→B, D→EG, BE→C</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CG→BD, CE→AG},</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求</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(BD)</a:t>
            </a:r>
            <a:r>
              <a:rPr kumimoji="1" lang="en-US" altLang="zh-CN" sz="3200" b="0"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p:txBody>
      </p:sp>
      <p:sp>
        <p:nvSpPr>
          <p:cNvPr id="6" name="六边形 5">
            <a:extLst>
              <a:ext uri="{FF2B5EF4-FFF2-40B4-BE49-F238E27FC236}">
                <a16:creationId xmlns:a16="http://schemas.microsoft.com/office/drawing/2014/main" id="{7708A85E-BC24-4E65-B78B-A924262D7B44}"/>
              </a:ext>
            </a:extLst>
          </p:cNvPr>
          <p:cNvSpPr/>
          <p:nvPr/>
        </p:nvSpPr>
        <p:spPr>
          <a:xfrm>
            <a:off x="571040" y="1106452"/>
            <a:ext cx="844440" cy="781288"/>
          </a:xfrm>
          <a:prstGeom prst="hexagon">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fontAlgn="base">
              <a:spcBef>
                <a:spcPct val="0"/>
              </a:spcBef>
              <a:spcAft>
                <a:spcPct val="25000"/>
              </a:spcAft>
              <a:buSzPct val="80000"/>
            </a:pPr>
            <a:r>
              <a:rPr kumimoji="1" lang="zh-CN" altLang="en-US" sz="2800" b="1" dirty="0">
                <a:solidFill>
                  <a:srgbClr val="FFFFFF"/>
                </a:solidFill>
                <a:effectLst>
                  <a:outerShdw blurRad="38100" dist="38100" dir="2700000" algn="tl">
                    <a:srgbClr val="000000">
                      <a:alpha val="43137"/>
                    </a:srgbClr>
                  </a:outerShdw>
                </a:effectLst>
                <a:latin typeface="+mn-ea"/>
              </a:rPr>
              <a:t>例</a:t>
            </a:r>
          </a:p>
        </p:txBody>
      </p:sp>
      <p:sp>
        <p:nvSpPr>
          <p:cNvPr id="7" name="Rectangle 3">
            <a:extLst>
              <a:ext uri="{FF2B5EF4-FFF2-40B4-BE49-F238E27FC236}">
                <a16:creationId xmlns:a16="http://schemas.microsoft.com/office/drawing/2014/main" id="{6F906A91-37B5-473D-8E3C-E5FC93D70F3B}"/>
              </a:ext>
            </a:extLst>
          </p:cNvPr>
          <p:cNvSpPr>
            <a:spLocks noGrp="1" noChangeArrowheads="1"/>
          </p:cNvSpPr>
          <p:nvPr>
            <p:ph type="title"/>
          </p:nvPr>
        </p:nvSpPr>
        <p:spPr>
          <a:xfrm>
            <a:off x="983432" y="16905"/>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2374428730"/>
      </p:ext>
    </p:extLst>
  </p:cSld>
  <p:clrMapOvr>
    <a:masterClrMapping/>
  </p:clrMapOvr>
  <p:transition spd="slow">
    <p:cover dir="u"/>
    <p:sndAc>
      <p:stSnd>
        <p:snd r:embed="rId2" name="arrow.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63CB90DB-E8C3-49EA-9835-799EDABEC63F}"/>
              </a:ext>
            </a:extLst>
          </p:cNvPr>
          <p:cNvSpPr txBox="1">
            <a:spLocks noChangeArrowheads="1"/>
          </p:cNvSpPr>
          <p:nvPr/>
        </p:nvSpPr>
        <p:spPr bwMode="auto">
          <a:xfrm>
            <a:off x="1415480" y="980728"/>
            <a:ext cx="10369152"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E</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G}, </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C→A, BC→D, ACD→B, </a:t>
            </a:r>
            <a:r>
              <a:rPr kumimoji="1" lang="zh-CN"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D→EG</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BE→C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CG→BD, CE→AG},</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求</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p:txBody>
      </p:sp>
      <p:sp>
        <p:nvSpPr>
          <p:cNvPr id="6" name="Rectangle 5">
            <a:extLst>
              <a:ext uri="{FF2B5EF4-FFF2-40B4-BE49-F238E27FC236}">
                <a16:creationId xmlns:a16="http://schemas.microsoft.com/office/drawing/2014/main" id="{128C0FFE-3DE5-4F16-969A-52E8AC3F1C06}"/>
              </a:ext>
            </a:extLst>
          </p:cNvPr>
          <p:cNvSpPr>
            <a:spLocks noChangeArrowheads="1"/>
          </p:cNvSpPr>
          <p:nvPr/>
        </p:nvSpPr>
        <p:spPr bwMode="auto">
          <a:xfrm>
            <a:off x="1415480" y="2895857"/>
            <a:ext cx="9505056"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第一次：</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令当前</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找出</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中所有</a:t>
            </a:r>
            <a:r>
              <a:rPr kumimoji="1" lang="zh-CN" altLang="en-US"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决定因子包含</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在</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中的函数依赖，将其右边部分并入</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，并将其从</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中删除。</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得到新</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a:t>
            </a:r>
            <a:r>
              <a:rPr kumimoji="1" lang="en-US"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E</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G</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p>
        </p:txBody>
      </p:sp>
      <p:sp>
        <p:nvSpPr>
          <p:cNvPr id="7" name="Line 6">
            <a:extLst>
              <a:ext uri="{FF2B5EF4-FFF2-40B4-BE49-F238E27FC236}">
                <a16:creationId xmlns:a16="http://schemas.microsoft.com/office/drawing/2014/main" id="{929C14DC-0F0D-4C10-A3A7-EA22D889CAC7}"/>
              </a:ext>
            </a:extLst>
          </p:cNvPr>
          <p:cNvSpPr>
            <a:spLocks noChangeShapeType="1"/>
          </p:cNvSpPr>
          <p:nvPr/>
        </p:nvSpPr>
        <p:spPr bwMode="auto">
          <a:xfrm>
            <a:off x="7994036" y="1988840"/>
            <a:ext cx="1152128"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9" name="六边形 8">
            <a:extLst>
              <a:ext uri="{FF2B5EF4-FFF2-40B4-BE49-F238E27FC236}">
                <a16:creationId xmlns:a16="http://schemas.microsoft.com/office/drawing/2014/main" id="{A66D3029-E048-452E-96D2-657DEC4BA732}"/>
              </a:ext>
            </a:extLst>
          </p:cNvPr>
          <p:cNvSpPr/>
          <p:nvPr/>
        </p:nvSpPr>
        <p:spPr>
          <a:xfrm>
            <a:off x="571040" y="1106452"/>
            <a:ext cx="844440" cy="781288"/>
          </a:xfrm>
          <a:prstGeom prst="hexagon">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2800" b="0" i="0" u="none" strike="noStrike" kern="1200" cap="none" spc="0" normalizeH="0" baseline="0" noProof="0" dirty="0">
                <a:ln>
                  <a:noFill/>
                </a:ln>
                <a:solidFill>
                  <a:srgbClr val="FFFFFF"/>
                </a:solidFill>
                <a:effectLst/>
                <a:uLnTx/>
                <a:uFillTx/>
                <a:latin typeface="+mn-ea"/>
                <a:cs typeface="+mn-cs"/>
              </a:rPr>
              <a:t>例</a:t>
            </a:r>
          </a:p>
        </p:txBody>
      </p:sp>
      <p:sp>
        <p:nvSpPr>
          <p:cNvPr id="11" name="Rectangle 3">
            <a:extLst>
              <a:ext uri="{FF2B5EF4-FFF2-40B4-BE49-F238E27FC236}">
                <a16:creationId xmlns:a16="http://schemas.microsoft.com/office/drawing/2014/main" id="{DBC6DBC0-2850-4861-8958-DE9126151DE4}"/>
              </a:ext>
            </a:extLst>
          </p:cNvPr>
          <p:cNvSpPr>
            <a:spLocks noGrp="1" noChangeArrowheads="1"/>
          </p:cNvSpPr>
          <p:nvPr>
            <p:ph type="title"/>
          </p:nvPr>
        </p:nvSpPr>
        <p:spPr>
          <a:xfrm>
            <a:off x="983432" y="17108"/>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1093424845"/>
      </p:ext>
    </p:extLst>
  </p:cSld>
  <p:clrMapOvr>
    <a:masterClrMapping/>
  </p:clrMapOvr>
  <p:transition spd="slow">
    <p:fade/>
    <p:sndAc>
      <p:stSnd>
        <p:snd r:embed="rId2" name="arrow.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63CB90DB-E8C3-49EA-9835-799EDABEC63F}"/>
              </a:ext>
            </a:extLst>
          </p:cNvPr>
          <p:cNvSpPr txBox="1">
            <a:spLocks noChangeArrowheads="1"/>
          </p:cNvSpPr>
          <p:nvPr/>
        </p:nvSpPr>
        <p:spPr bwMode="auto">
          <a:xfrm>
            <a:off x="1412564" y="980728"/>
            <a:ext cx="9937104"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E</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G}, </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C→A, BC→D, ACD→B, </a:t>
            </a:r>
            <a:r>
              <a:rPr kumimoji="1" lang="zh-CN"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D→EG</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BE→C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CG→BD, CE→AG},</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求</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p:txBody>
      </p:sp>
      <p:sp>
        <p:nvSpPr>
          <p:cNvPr id="8" name="Line 6">
            <a:extLst>
              <a:ext uri="{FF2B5EF4-FFF2-40B4-BE49-F238E27FC236}">
                <a16:creationId xmlns:a16="http://schemas.microsoft.com/office/drawing/2014/main" id="{B03B366F-F5D1-4FD8-B973-AD929A4B15E1}"/>
              </a:ext>
            </a:extLst>
          </p:cNvPr>
          <p:cNvSpPr>
            <a:spLocks noChangeShapeType="1"/>
          </p:cNvSpPr>
          <p:nvPr/>
        </p:nvSpPr>
        <p:spPr bwMode="auto">
          <a:xfrm>
            <a:off x="9480376" y="1988840"/>
            <a:ext cx="1152128"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9" name="Rectangle 4">
            <a:extLst>
              <a:ext uri="{FF2B5EF4-FFF2-40B4-BE49-F238E27FC236}">
                <a16:creationId xmlns:a16="http://schemas.microsoft.com/office/drawing/2014/main" id="{85943BC0-D845-4097-8507-F01A5D68CA56}"/>
              </a:ext>
            </a:extLst>
          </p:cNvPr>
          <p:cNvSpPr>
            <a:spLocks noChangeArrowheads="1"/>
          </p:cNvSpPr>
          <p:nvPr/>
        </p:nvSpPr>
        <p:spPr bwMode="auto">
          <a:xfrm>
            <a:off x="1343472" y="2895857"/>
            <a:ext cx="9505056"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第二次：</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当前</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{B,D,E,G}</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找出</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中所有决定因子包含在</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中的函数依赖，将其右边部分并入</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，并将其从</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中删除。</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得到新</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 {B,D,</a:t>
            </a:r>
            <a:r>
              <a:rPr kumimoji="1" lang="en-US"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E</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G</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C</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p>
        </p:txBody>
      </p:sp>
      <p:grpSp>
        <p:nvGrpSpPr>
          <p:cNvPr id="2" name="组合 1">
            <a:extLst>
              <a:ext uri="{FF2B5EF4-FFF2-40B4-BE49-F238E27FC236}">
                <a16:creationId xmlns:a16="http://schemas.microsoft.com/office/drawing/2014/main" id="{E76CEA0B-7023-4E5C-9518-D2BCD4440CCA}"/>
              </a:ext>
            </a:extLst>
          </p:cNvPr>
          <p:cNvGrpSpPr/>
          <p:nvPr/>
        </p:nvGrpSpPr>
        <p:grpSpPr>
          <a:xfrm>
            <a:off x="8328248" y="1660443"/>
            <a:ext cx="249576" cy="206895"/>
            <a:chOff x="8760296" y="2708921"/>
            <a:chExt cx="365790" cy="303235"/>
          </a:xfrm>
        </p:grpSpPr>
        <p:sp>
          <p:nvSpPr>
            <p:cNvPr id="7" name="Line 6">
              <a:extLst>
                <a:ext uri="{FF2B5EF4-FFF2-40B4-BE49-F238E27FC236}">
                  <a16:creationId xmlns:a16="http://schemas.microsoft.com/office/drawing/2014/main" id="{929C14DC-0F0D-4C10-A3A7-EA22D889CAC7}"/>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1" name="Line 6">
              <a:extLst>
                <a:ext uri="{FF2B5EF4-FFF2-40B4-BE49-F238E27FC236}">
                  <a16:creationId xmlns:a16="http://schemas.microsoft.com/office/drawing/2014/main" id="{04D66700-9DC2-4142-A4D3-0E6D52A3B1A9}"/>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2" name="六边形 11">
            <a:extLst>
              <a:ext uri="{FF2B5EF4-FFF2-40B4-BE49-F238E27FC236}">
                <a16:creationId xmlns:a16="http://schemas.microsoft.com/office/drawing/2014/main" id="{BCF6ECD4-9ABD-4429-B8F9-BF93E1A42602}"/>
              </a:ext>
            </a:extLst>
          </p:cNvPr>
          <p:cNvSpPr/>
          <p:nvPr/>
        </p:nvSpPr>
        <p:spPr>
          <a:xfrm>
            <a:off x="571040" y="1106452"/>
            <a:ext cx="844440" cy="781288"/>
          </a:xfrm>
          <a:prstGeom prst="hexagon">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fontAlgn="base">
              <a:spcBef>
                <a:spcPct val="0"/>
              </a:spcBef>
              <a:spcAft>
                <a:spcPct val="25000"/>
              </a:spcAft>
              <a:buSzPct val="80000"/>
            </a:pPr>
            <a:r>
              <a:rPr kumimoji="1" lang="zh-CN" altLang="en-US" sz="2800" b="1" dirty="0">
                <a:solidFill>
                  <a:srgbClr val="FFFFFF"/>
                </a:solidFill>
                <a:effectLst>
                  <a:outerShdw blurRad="38100" dist="38100" dir="2700000" algn="tl">
                    <a:srgbClr val="000000">
                      <a:alpha val="43137"/>
                    </a:srgbClr>
                  </a:outerShdw>
                </a:effectLst>
                <a:latin typeface="+mn-ea"/>
              </a:rPr>
              <a:t>例</a:t>
            </a:r>
          </a:p>
        </p:txBody>
      </p:sp>
      <p:sp>
        <p:nvSpPr>
          <p:cNvPr id="13" name="Rectangle 3">
            <a:extLst>
              <a:ext uri="{FF2B5EF4-FFF2-40B4-BE49-F238E27FC236}">
                <a16:creationId xmlns:a16="http://schemas.microsoft.com/office/drawing/2014/main" id="{51BE8C32-B569-4C47-9321-71D7D2E20B77}"/>
              </a:ext>
            </a:extLst>
          </p:cNvPr>
          <p:cNvSpPr>
            <a:spLocks noGrp="1" noChangeArrowheads="1"/>
          </p:cNvSpPr>
          <p:nvPr>
            <p:ph type="title"/>
          </p:nvPr>
        </p:nvSpPr>
        <p:spPr>
          <a:xfrm>
            <a:off x="983432" y="17108"/>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3012211201"/>
      </p:ext>
    </p:extLst>
  </p:cSld>
  <p:clrMapOvr>
    <a:masterClrMapping/>
  </p:clrMapOvr>
  <p:transition spd="slow">
    <p:fade/>
    <p:sndAc>
      <p:stSnd>
        <p:snd r:embed="rId2" name="arrow.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63CB90DB-E8C3-49EA-9835-799EDABEC63F}"/>
              </a:ext>
            </a:extLst>
          </p:cNvPr>
          <p:cNvSpPr txBox="1">
            <a:spLocks noChangeArrowheads="1"/>
          </p:cNvSpPr>
          <p:nvPr/>
        </p:nvSpPr>
        <p:spPr bwMode="auto">
          <a:xfrm>
            <a:off x="1415480" y="980728"/>
            <a:ext cx="10369152"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E</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G}, </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C→A</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BC→D</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ACD→B, </a:t>
            </a:r>
            <a:r>
              <a:rPr kumimoji="1" lang="zh-CN"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D→EG</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BE→C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CG→BD</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CE→AG</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求</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p:txBody>
      </p:sp>
      <p:grpSp>
        <p:nvGrpSpPr>
          <p:cNvPr id="2" name="组合 1">
            <a:extLst>
              <a:ext uri="{FF2B5EF4-FFF2-40B4-BE49-F238E27FC236}">
                <a16:creationId xmlns:a16="http://schemas.microsoft.com/office/drawing/2014/main" id="{E76CEA0B-7023-4E5C-9518-D2BCD4440CCA}"/>
              </a:ext>
            </a:extLst>
          </p:cNvPr>
          <p:cNvGrpSpPr/>
          <p:nvPr/>
        </p:nvGrpSpPr>
        <p:grpSpPr>
          <a:xfrm>
            <a:off x="8328248" y="1660443"/>
            <a:ext cx="249576" cy="206895"/>
            <a:chOff x="8760296" y="2708921"/>
            <a:chExt cx="365790" cy="303235"/>
          </a:xfrm>
        </p:grpSpPr>
        <p:sp>
          <p:nvSpPr>
            <p:cNvPr id="7" name="Line 6">
              <a:extLst>
                <a:ext uri="{FF2B5EF4-FFF2-40B4-BE49-F238E27FC236}">
                  <a16:creationId xmlns:a16="http://schemas.microsoft.com/office/drawing/2014/main" id="{929C14DC-0F0D-4C10-A3A7-EA22D889CAC7}"/>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1" name="Line 6">
              <a:extLst>
                <a:ext uri="{FF2B5EF4-FFF2-40B4-BE49-F238E27FC236}">
                  <a16:creationId xmlns:a16="http://schemas.microsoft.com/office/drawing/2014/main" id="{04D66700-9DC2-4142-A4D3-0E6D52A3B1A9}"/>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2" name="Rectangle 5">
            <a:extLst>
              <a:ext uri="{FF2B5EF4-FFF2-40B4-BE49-F238E27FC236}">
                <a16:creationId xmlns:a16="http://schemas.microsoft.com/office/drawing/2014/main" id="{D81B6DC9-4007-4A8D-A5AF-DEF930AF426C}"/>
              </a:ext>
            </a:extLst>
          </p:cNvPr>
          <p:cNvSpPr>
            <a:spLocks noChangeArrowheads="1"/>
          </p:cNvSpPr>
          <p:nvPr/>
        </p:nvSpPr>
        <p:spPr bwMode="auto">
          <a:xfrm>
            <a:off x="1415520" y="3131845"/>
            <a:ext cx="9795607"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第三次：</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当前</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{B,D,E,G,C}</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找出</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中所有决定因子包含在</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中的函数依赖，将其右边部分并入</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，并将其从</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中删除。</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得到新</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 {B,D,</a:t>
            </a:r>
            <a:r>
              <a:rPr kumimoji="1" lang="en-US"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E</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G</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C</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A</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p>
        </p:txBody>
      </p:sp>
      <p:sp>
        <p:nvSpPr>
          <p:cNvPr id="13" name="Line 6">
            <a:extLst>
              <a:ext uri="{FF2B5EF4-FFF2-40B4-BE49-F238E27FC236}">
                <a16:creationId xmlns:a16="http://schemas.microsoft.com/office/drawing/2014/main" id="{D75B0E1A-7751-400E-9DD2-E681F8FB0990}"/>
              </a:ext>
            </a:extLst>
          </p:cNvPr>
          <p:cNvSpPr>
            <a:spLocks noChangeShapeType="1"/>
          </p:cNvSpPr>
          <p:nvPr/>
        </p:nvSpPr>
        <p:spPr bwMode="auto">
          <a:xfrm>
            <a:off x="3575720" y="1988840"/>
            <a:ext cx="1152128"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4" name="Line 6">
            <a:extLst>
              <a:ext uri="{FF2B5EF4-FFF2-40B4-BE49-F238E27FC236}">
                <a16:creationId xmlns:a16="http://schemas.microsoft.com/office/drawing/2014/main" id="{77CB4623-18D3-424D-8237-E134FB7C126C}"/>
              </a:ext>
            </a:extLst>
          </p:cNvPr>
          <p:cNvSpPr>
            <a:spLocks noChangeShapeType="1"/>
          </p:cNvSpPr>
          <p:nvPr/>
        </p:nvSpPr>
        <p:spPr bwMode="auto">
          <a:xfrm>
            <a:off x="4871864" y="1988840"/>
            <a:ext cx="1152128"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 name="Line 6">
            <a:extLst>
              <a:ext uri="{FF2B5EF4-FFF2-40B4-BE49-F238E27FC236}">
                <a16:creationId xmlns:a16="http://schemas.microsoft.com/office/drawing/2014/main" id="{94750F77-11DD-42A4-AFDE-6750B5E83455}"/>
              </a:ext>
            </a:extLst>
          </p:cNvPr>
          <p:cNvSpPr>
            <a:spLocks noChangeShapeType="1"/>
          </p:cNvSpPr>
          <p:nvPr/>
        </p:nvSpPr>
        <p:spPr bwMode="auto">
          <a:xfrm>
            <a:off x="1703512" y="2492896"/>
            <a:ext cx="1152128"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6" name="Line 6">
            <a:extLst>
              <a:ext uri="{FF2B5EF4-FFF2-40B4-BE49-F238E27FC236}">
                <a16:creationId xmlns:a16="http://schemas.microsoft.com/office/drawing/2014/main" id="{810E5CF1-8082-4CD0-992D-EC4D6533BC89}"/>
              </a:ext>
            </a:extLst>
          </p:cNvPr>
          <p:cNvSpPr>
            <a:spLocks noChangeShapeType="1"/>
          </p:cNvSpPr>
          <p:nvPr/>
        </p:nvSpPr>
        <p:spPr bwMode="auto">
          <a:xfrm>
            <a:off x="3359696" y="2492896"/>
            <a:ext cx="1152128"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nvGrpSpPr>
          <p:cNvPr id="17" name="组合 16">
            <a:extLst>
              <a:ext uri="{FF2B5EF4-FFF2-40B4-BE49-F238E27FC236}">
                <a16:creationId xmlns:a16="http://schemas.microsoft.com/office/drawing/2014/main" id="{4925A0A2-7119-4A28-B53F-F02C4E8BC4B6}"/>
              </a:ext>
            </a:extLst>
          </p:cNvPr>
          <p:cNvGrpSpPr/>
          <p:nvPr/>
        </p:nvGrpSpPr>
        <p:grpSpPr>
          <a:xfrm>
            <a:off x="9932419" y="1675827"/>
            <a:ext cx="249576" cy="206895"/>
            <a:chOff x="8760296" y="2708921"/>
            <a:chExt cx="365790" cy="303235"/>
          </a:xfrm>
        </p:grpSpPr>
        <p:sp>
          <p:nvSpPr>
            <p:cNvPr id="18" name="Line 6">
              <a:extLst>
                <a:ext uri="{FF2B5EF4-FFF2-40B4-BE49-F238E27FC236}">
                  <a16:creationId xmlns:a16="http://schemas.microsoft.com/office/drawing/2014/main" id="{948A9A3E-2779-40ED-B8A9-2D9B8A3EFD30}"/>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9" name="Line 6">
              <a:extLst>
                <a:ext uri="{FF2B5EF4-FFF2-40B4-BE49-F238E27FC236}">
                  <a16:creationId xmlns:a16="http://schemas.microsoft.com/office/drawing/2014/main" id="{935A3E82-2C14-4363-8BF4-54EAB5CBB63F}"/>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21" name="六边形 20">
            <a:extLst>
              <a:ext uri="{FF2B5EF4-FFF2-40B4-BE49-F238E27FC236}">
                <a16:creationId xmlns:a16="http://schemas.microsoft.com/office/drawing/2014/main" id="{DB96249A-2C7E-4469-8705-E0D6805F0DEB}"/>
              </a:ext>
            </a:extLst>
          </p:cNvPr>
          <p:cNvSpPr/>
          <p:nvPr/>
        </p:nvSpPr>
        <p:spPr>
          <a:xfrm>
            <a:off x="571040" y="1106452"/>
            <a:ext cx="844440" cy="781288"/>
          </a:xfrm>
          <a:prstGeom prst="hexagon">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fontAlgn="base">
              <a:spcBef>
                <a:spcPct val="0"/>
              </a:spcBef>
              <a:spcAft>
                <a:spcPct val="25000"/>
              </a:spcAft>
              <a:buSzPct val="80000"/>
            </a:pPr>
            <a:r>
              <a:rPr kumimoji="1" lang="zh-CN" altLang="en-US" sz="2800" b="1" dirty="0">
                <a:solidFill>
                  <a:srgbClr val="FFFFFF"/>
                </a:solidFill>
                <a:effectLst>
                  <a:outerShdw blurRad="38100" dist="38100" dir="2700000" algn="tl">
                    <a:srgbClr val="000000">
                      <a:alpha val="43137"/>
                    </a:srgbClr>
                  </a:outerShdw>
                </a:effectLst>
                <a:latin typeface="+mn-ea"/>
              </a:rPr>
              <a:t>例</a:t>
            </a:r>
          </a:p>
        </p:txBody>
      </p:sp>
      <p:sp>
        <p:nvSpPr>
          <p:cNvPr id="22" name="Rectangle 3">
            <a:extLst>
              <a:ext uri="{FF2B5EF4-FFF2-40B4-BE49-F238E27FC236}">
                <a16:creationId xmlns:a16="http://schemas.microsoft.com/office/drawing/2014/main" id="{E7BE9E95-4ABE-481C-9DF6-D30FC872E129}"/>
              </a:ext>
            </a:extLst>
          </p:cNvPr>
          <p:cNvSpPr>
            <a:spLocks noGrp="1" noChangeArrowheads="1"/>
          </p:cNvSpPr>
          <p:nvPr>
            <p:ph type="title"/>
          </p:nvPr>
        </p:nvSpPr>
        <p:spPr>
          <a:xfrm>
            <a:off x="983432" y="17108"/>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1767944120"/>
      </p:ext>
    </p:extLst>
  </p:cSld>
  <p:clrMapOvr>
    <a:masterClrMapping/>
  </p:clrMapOvr>
  <p:transition spd="slow">
    <p:fade/>
    <p:sndAc>
      <p:stSnd>
        <p:snd r:embed="rId2" name="arrow.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63CB90DB-E8C3-49EA-9835-799EDABEC63F}"/>
              </a:ext>
            </a:extLst>
          </p:cNvPr>
          <p:cNvSpPr txBox="1">
            <a:spLocks noChangeArrowheads="1"/>
          </p:cNvSpPr>
          <p:nvPr/>
        </p:nvSpPr>
        <p:spPr bwMode="auto">
          <a:xfrm>
            <a:off x="1415480" y="980728"/>
            <a:ext cx="10369152"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E</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G}, </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C→A</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BC→D</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ACD→B, </a:t>
            </a:r>
            <a:r>
              <a:rPr kumimoji="1" lang="zh-CN" altLang="zh-CN" sz="3200" b="1" i="0" u="none" strike="noStrike" kern="1200" cap="none" spc="0" normalizeH="0" baseline="0" noProof="0" dirty="0">
                <a:ln>
                  <a:noFill/>
                </a:ln>
                <a:solidFill>
                  <a:srgbClr val="00FFFF"/>
                </a:solidFill>
                <a:effectLst>
                  <a:outerShdw blurRad="38100" dist="38100" dir="2700000" algn="tl">
                    <a:srgbClr val="000000"/>
                  </a:outerShdw>
                </a:effectLst>
                <a:uLnTx/>
                <a:uFillTx/>
                <a:ea typeface="楷体_GB2312" pitchFamily="49" charset="-122"/>
                <a:cs typeface="+mn-cs"/>
              </a:rPr>
              <a:t>D→EG</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ea typeface="楷体_GB2312" pitchFamily="49" charset="-122"/>
                <a:cs typeface="+mn-cs"/>
              </a:rPr>
              <a:t>BE→C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CG→BD</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FF9900"/>
                </a:solidFill>
                <a:effectLst>
                  <a:outerShdw blurRad="38100" dist="38100" dir="2700000" algn="tl">
                    <a:srgbClr val="000000"/>
                  </a:outerShdw>
                </a:effectLst>
                <a:uLnTx/>
                <a:uFillTx/>
                <a:ea typeface="楷体_GB2312" pitchFamily="49" charset="-122"/>
                <a:cs typeface="+mn-cs"/>
              </a:rPr>
              <a:t>CE→AG</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求</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p:txBody>
      </p:sp>
      <p:grpSp>
        <p:nvGrpSpPr>
          <p:cNvPr id="2" name="组合 1">
            <a:extLst>
              <a:ext uri="{FF2B5EF4-FFF2-40B4-BE49-F238E27FC236}">
                <a16:creationId xmlns:a16="http://schemas.microsoft.com/office/drawing/2014/main" id="{E76CEA0B-7023-4E5C-9518-D2BCD4440CCA}"/>
              </a:ext>
            </a:extLst>
          </p:cNvPr>
          <p:cNvGrpSpPr/>
          <p:nvPr/>
        </p:nvGrpSpPr>
        <p:grpSpPr>
          <a:xfrm>
            <a:off x="8328248" y="1660443"/>
            <a:ext cx="249576" cy="206895"/>
            <a:chOff x="8760296" y="2708921"/>
            <a:chExt cx="365790" cy="303235"/>
          </a:xfrm>
        </p:grpSpPr>
        <p:sp>
          <p:nvSpPr>
            <p:cNvPr id="7" name="Line 6">
              <a:extLst>
                <a:ext uri="{FF2B5EF4-FFF2-40B4-BE49-F238E27FC236}">
                  <a16:creationId xmlns:a16="http://schemas.microsoft.com/office/drawing/2014/main" id="{929C14DC-0F0D-4C10-A3A7-EA22D889CAC7}"/>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1" name="Line 6">
              <a:extLst>
                <a:ext uri="{FF2B5EF4-FFF2-40B4-BE49-F238E27FC236}">
                  <a16:creationId xmlns:a16="http://schemas.microsoft.com/office/drawing/2014/main" id="{04D66700-9DC2-4142-A4D3-0E6D52A3B1A9}"/>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3" name="Line 6">
            <a:extLst>
              <a:ext uri="{FF2B5EF4-FFF2-40B4-BE49-F238E27FC236}">
                <a16:creationId xmlns:a16="http://schemas.microsoft.com/office/drawing/2014/main" id="{D75B0E1A-7751-400E-9DD2-E681F8FB0990}"/>
              </a:ext>
            </a:extLst>
          </p:cNvPr>
          <p:cNvSpPr>
            <a:spLocks noChangeShapeType="1"/>
          </p:cNvSpPr>
          <p:nvPr/>
        </p:nvSpPr>
        <p:spPr bwMode="auto">
          <a:xfrm>
            <a:off x="2207568" y="1988840"/>
            <a:ext cx="1152128"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4" name="Line 6">
            <a:extLst>
              <a:ext uri="{FF2B5EF4-FFF2-40B4-BE49-F238E27FC236}">
                <a16:creationId xmlns:a16="http://schemas.microsoft.com/office/drawing/2014/main" id="{77CB4623-18D3-424D-8237-E134FB7C126C}"/>
              </a:ext>
            </a:extLst>
          </p:cNvPr>
          <p:cNvSpPr>
            <a:spLocks noChangeShapeType="1"/>
          </p:cNvSpPr>
          <p:nvPr/>
        </p:nvSpPr>
        <p:spPr bwMode="auto">
          <a:xfrm>
            <a:off x="6312024" y="1988840"/>
            <a:ext cx="1440160" cy="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nvGrpSpPr>
          <p:cNvPr id="17" name="组合 16">
            <a:extLst>
              <a:ext uri="{FF2B5EF4-FFF2-40B4-BE49-F238E27FC236}">
                <a16:creationId xmlns:a16="http://schemas.microsoft.com/office/drawing/2014/main" id="{4925A0A2-7119-4A28-B53F-F02C4E8BC4B6}"/>
              </a:ext>
            </a:extLst>
          </p:cNvPr>
          <p:cNvGrpSpPr/>
          <p:nvPr/>
        </p:nvGrpSpPr>
        <p:grpSpPr>
          <a:xfrm>
            <a:off x="9932419" y="1675827"/>
            <a:ext cx="249576" cy="206895"/>
            <a:chOff x="8760296" y="2708921"/>
            <a:chExt cx="365790" cy="303235"/>
          </a:xfrm>
        </p:grpSpPr>
        <p:sp>
          <p:nvSpPr>
            <p:cNvPr id="18" name="Line 6">
              <a:extLst>
                <a:ext uri="{FF2B5EF4-FFF2-40B4-BE49-F238E27FC236}">
                  <a16:creationId xmlns:a16="http://schemas.microsoft.com/office/drawing/2014/main" id="{948A9A3E-2779-40ED-B8A9-2D9B8A3EFD30}"/>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9" name="Line 6">
              <a:extLst>
                <a:ext uri="{FF2B5EF4-FFF2-40B4-BE49-F238E27FC236}">
                  <a16:creationId xmlns:a16="http://schemas.microsoft.com/office/drawing/2014/main" id="{935A3E82-2C14-4363-8BF4-54EAB5CBB63F}"/>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20" name="组合 19">
            <a:extLst>
              <a:ext uri="{FF2B5EF4-FFF2-40B4-BE49-F238E27FC236}">
                <a16:creationId xmlns:a16="http://schemas.microsoft.com/office/drawing/2014/main" id="{69507984-BF39-424E-AE75-41796E83B231}"/>
              </a:ext>
            </a:extLst>
          </p:cNvPr>
          <p:cNvGrpSpPr/>
          <p:nvPr/>
        </p:nvGrpSpPr>
        <p:grpSpPr>
          <a:xfrm>
            <a:off x="3935760" y="1665456"/>
            <a:ext cx="249576" cy="206895"/>
            <a:chOff x="8760296" y="2708921"/>
            <a:chExt cx="365790" cy="303235"/>
          </a:xfrm>
        </p:grpSpPr>
        <p:sp>
          <p:nvSpPr>
            <p:cNvPr id="21" name="Line 6">
              <a:extLst>
                <a:ext uri="{FF2B5EF4-FFF2-40B4-BE49-F238E27FC236}">
                  <a16:creationId xmlns:a16="http://schemas.microsoft.com/office/drawing/2014/main" id="{A9178FC0-B4EC-4315-83E6-421DDC9ABCCD}"/>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22" name="Line 6">
              <a:extLst>
                <a:ext uri="{FF2B5EF4-FFF2-40B4-BE49-F238E27FC236}">
                  <a16:creationId xmlns:a16="http://schemas.microsoft.com/office/drawing/2014/main" id="{485BCD71-86AA-49A0-A173-18C89E42896F}"/>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23" name="组合 22">
            <a:extLst>
              <a:ext uri="{FF2B5EF4-FFF2-40B4-BE49-F238E27FC236}">
                <a16:creationId xmlns:a16="http://schemas.microsoft.com/office/drawing/2014/main" id="{D53CCFAC-42E2-4FC8-B835-00A8631557BF}"/>
              </a:ext>
            </a:extLst>
          </p:cNvPr>
          <p:cNvGrpSpPr/>
          <p:nvPr/>
        </p:nvGrpSpPr>
        <p:grpSpPr>
          <a:xfrm>
            <a:off x="5297624" y="1650072"/>
            <a:ext cx="249576" cy="206895"/>
            <a:chOff x="8760296" y="2708921"/>
            <a:chExt cx="365790" cy="303235"/>
          </a:xfrm>
        </p:grpSpPr>
        <p:sp>
          <p:nvSpPr>
            <p:cNvPr id="24" name="Line 6">
              <a:extLst>
                <a:ext uri="{FF2B5EF4-FFF2-40B4-BE49-F238E27FC236}">
                  <a16:creationId xmlns:a16="http://schemas.microsoft.com/office/drawing/2014/main" id="{FDF31D15-9B4F-4909-89EE-5DAAB77F80AE}"/>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25" name="Line 6">
              <a:extLst>
                <a:ext uri="{FF2B5EF4-FFF2-40B4-BE49-F238E27FC236}">
                  <a16:creationId xmlns:a16="http://schemas.microsoft.com/office/drawing/2014/main" id="{D5764587-12F0-4FEC-A47E-E607CC8B3924}"/>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26" name="组合 25">
            <a:extLst>
              <a:ext uri="{FF2B5EF4-FFF2-40B4-BE49-F238E27FC236}">
                <a16:creationId xmlns:a16="http://schemas.microsoft.com/office/drawing/2014/main" id="{13F158BA-32FA-4ED5-8C45-0BFF6A5E5B8A}"/>
              </a:ext>
            </a:extLst>
          </p:cNvPr>
          <p:cNvGrpSpPr/>
          <p:nvPr/>
        </p:nvGrpSpPr>
        <p:grpSpPr>
          <a:xfrm>
            <a:off x="2082780" y="2133075"/>
            <a:ext cx="249576" cy="206895"/>
            <a:chOff x="8760296" y="2708921"/>
            <a:chExt cx="365790" cy="303235"/>
          </a:xfrm>
        </p:grpSpPr>
        <p:sp>
          <p:nvSpPr>
            <p:cNvPr id="27" name="Line 6">
              <a:extLst>
                <a:ext uri="{FF2B5EF4-FFF2-40B4-BE49-F238E27FC236}">
                  <a16:creationId xmlns:a16="http://schemas.microsoft.com/office/drawing/2014/main" id="{5B6A808D-2908-4228-867B-6950D3F5842A}"/>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28" name="Line 6">
              <a:extLst>
                <a:ext uri="{FF2B5EF4-FFF2-40B4-BE49-F238E27FC236}">
                  <a16:creationId xmlns:a16="http://schemas.microsoft.com/office/drawing/2014/main" id="{1337212F-3BBD-4863-86A8-D7EF2C3C6013}"/>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29" name="组合 28">
            <a:extLst>
              <a:ext uri="{FF2B5EF4-FFF2-40B4-BE49-F238E27FC236}">
                <a16:creationId xmlns:a16="http://schemas.microsoft.com/office/drawing/2014/main" id="{EEAB20ED-98A8-4296-8A6D-BB4EE8131329}"/>
              </a:ext>
            </a:extLst>
          </p:cNvPr>
          <p:cNvGrpSpPr/>
          <p:nvPr/>
        </p:nvGrpSpPr>
        <p:grpSpPr>
          <a:xfrm>
            <a:off x="3809011" y="2124150"/>
            <a:ext cx="249576" cy="206895"/>
            <a:chOff x="8760296" y="2708921"/>
            <a:chExt cx="365790" cy="303235"/>
          </a:xfrm>
        </p:grpSpPr>
        <p:sp>
          <p:nvSpPr>
            <p:cNvPr id="30" name="Line 6">
              <a:extLst>
                <a:ext uri="{FF2B5EF4-FFF2-40B4-BE49-F238E27FC236}">
                  <a16:creationId xmlns:a16="http://schemas.microsoft.com/office/drawing/2014/main" id="{A132FB72-5A4E-4749-B3EA-24AED5DE6B73}"/>
                </a:ext>
              </a:extLst>
            </p:cNvPr>
            <p:cNvSpPr>
              <a:spLocks noChangeShapeType="1"/>
            </p:cNvSpPr>
            <p:nvPr/>
          </p:nvSpPr>
          <p:spPr bwMode="auto">
            <a:xfrm flipV="1">
              <a:off x="8760296" y="2708921"/>
              <a:ext cx="360040" cy="288032"/>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31" name="Line 6">
              <a:extLst>
                <a:ext uri="{FF2B5EF4-FFF2-40B4-BE49-F238E27FC236}">
                  <a16:creationId xmlns:a16="http://schemas.microsoft.com/office/drawing/2014/main" id="{FA5103AD-5BB4-458C-BDAB-3832C5F1894B}"/>
                </a:ext>
              </a:extLst>
            </p:cNvPr>
            <p:cNvSpPr>
              <a:spLocks noChangeShapeType="1"/>
            </p:cNvSpPr>
            <p:nvPr/>
          </p:nvSpPr>
          <p:spPr bwMode="auto">
            <a:xfrm>
              <a:off x="8766046" y="2714996"/>
              <a:ext cx="360040" cy="297160"/>
            </a:xfrm>
            <a:prstGeom prst="line">
              <a:avLst/>
            </a:prstGeom>
            <a:noFill/>
            <a:ln w="57150"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32" name="Rectangle 5">
            <a:extLst>
              <a:ext uri="{FF2B5EF4-FFF2-40B4-BE49-F238E27FC236}">
                <a16:creationId xmlns:a16="http://schemas.microsoft.com/office/drawing/2014/main" id="{20D10CF6-CF3C-4373-8A49-F47D08E337DB}"/>
              </a:ext>
            </a:extLst>
          </p:cNvPr>
          <p:cNvSpPr>
            <a:spLocks noChangeArrowheads="1"/>
          </p:cNvSpPr>
          <p:nvPr/>
        </p:nvSpPr>
        <p:spPr bwMode="auto">
          <a:xfrm>
            <a:off x="1388028" y="2709342"/>
            <a:ext cx="9532511" cy="1311275"/>
          </a:xfrm>
          <a:prstGeom prst="rect">
            <a:avLst/>
          </a:prstGeom>
          <a:noFill/>
          <a:ln w="12700" cap="sq" algn="ctr">
            <a:noFill/>
            <a:miter lim="800000"/>
            <a:headEnd/>
            <a:tailEnd/>
          </a:ln>
          <a:effectLst/>
        </p:spPr>
        <p:txBody>
          <a:bodyPr/>
          <a:lstStyle/>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第四次：</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当前</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{B,D,E,G,C,A}</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找出</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中所有决定因子包含在</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中的函数依赖，将其右边部分并入</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，并将其从</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中删除。</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得到新</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{B,D,E,G,C,A}</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此时</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与第三次相比已没有变化，或者</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已经为空，这就是最终的</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，结束。</a:t>
            </a:r>
          </a:p>
        </p:txBody>
      </p:sp>
      <p:sp>
        <p:nvSpPr>
          <p:cNvPr id="34" name="六边形 33">
            <a:extLst>
              <a:ext uri="{FF2B5EF4-FFF2-40B4-BE49-F238E27FC236}">
                <a16:creationId xmlns:a16="http://schemas.microsoft.com/office/drawing/2014/main" id="{033DFCFA-8E80-466C-B118-B32D3DA2CA99}"/>
              </a:ext>
            </a:extLst>
          </p:cNvPr>
          <p:cNvSpPr/>
          <p:nvPr/>
        </p:nvSpPr>
        <p:spPr>
          <a:xfrm>
            <a:off x="571040" y="1106452"/>
            <a:ext cx="844440" cy="781288"/>
          </a:xfrm>
          <a:prstGeom prst="hexagon">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2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mn-ea"/>
                <a:cs typeface="+mn-cs"/>
              </a:rPr>
              <a:t>例</a:t>
            </a:r>
          </a:p>
        </p:txBody>
      </p:sp>
      <p:sp>
        <p:nvSpPr>
          <p:cNvPr id="35" name="Rectangle 3">
            <a:extLst>
              <a:ext uri="{FF2B5EF4-FFF2-40B4-BE49-F238E27FC236}">
                <a16:creationId xmlns:a16="http://schemas.microsoft.com/office/drawing/2014/main" id="{349F4D61-D782-4783-9915-56907993F617}"/>
              </a:ext>
            </a:extLst>
          </p:cNvPr>
          <p:cNvSpPr>
            <a:spLocks noGrp="1" noChangeArrowheads="1"/>
          </p:cNvSpPr>
          <p:nvPr>
            <p:ph type="title"/>
          </p:nvPr>
        </p:nvSpPr>
        <p:spPr>
          <a:xfrm>
            <a:off x="983432" y="17108"/>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4117010467"/>
      </p:ext>
    </p:extLst>
  </p:cSld>
  <p:clrMapOvr>
    <a:masterClrMapping/>
  </p:clrMapOvr>
  <p:transition spd="slow">
    <p:fade/>
    <p:sndAc>
      <p:stSnd>
        <p:snd r:embed="rId2" name="arrow.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487528" y="980728"/>
            <a:ext cx="10273303"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E</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G}, </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C→A, BC→D, ACD→B, D→EG, BE→C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CG→BD, CE→AG},</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求</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(DE)</a:t>
            </a:r>
            <a:r>
              <a:rPr kumimoji="1" lang="en-US" altLang="zh-CN" sz="3200" b="1"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p:txBody>
      </p:sp>
      <p:sp>
        <p:nvSpPr>
          <p:cNvPr id="4" name="六边形 3">
            <a:extLst>
              <a:ext uri="{FF2B5EF4-FFF2-40B4-BE49-F238E27FC236}">
                <a16:creationId xmlns:a16="http://schemas.microsoft.com/office/drawing/2014/main" id="{91ADC8A2-439E-451E-A8E0-03E6473D0A3A}"/>
              </a:ext>
            </a:extLst>
          </p:cNvPr>
          <p:cNvSpPr/>
          <p:nvPr/>
        </p:nvSpPr>
        <p:spPr>
          <a:xfrm>
            <a:off x="551384" y="1161584"/>
            <a:ext cx="844440" cy="781288"/>
          </a:xfrm>
          <a:prstGeom prst="hexagon">
            <a:avLst/>
          </a:prstGeom>
          <a:solidFill>
            <a:srgbClr val="660066"/>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2800" b="1" i="0" u="none" strike="noStrike" kern="1200" cap="none" spc="0" normalizeH="0" baseline="0" noProof="0" dirty="0">
                <a:ln>
                  <a:noFill/>
                </a:ln>
                <a:solidFill>
                  <a:srgbClr val="FFFFFF"/>
                </a:solidFill>
                <a:effectLst/>
                <a:uLnTx/>
                <a:uFillTx/>
                <a:latin typeface="+mn-ea"/>
                <a:cs typeface="+mn-cs"/>
              </a:rPr>
              <a:t>例</a:t>
            </a:r>
          </a:p>
        </p:txBody>
      </p:sp>
      <p:sp>
        <p:nvSpPr>
          <p:cNvPr id="5" name="Rectangle 5">
            <a:extLst>
              <a:ext uri="{FF2B5EF4-FFF2-40B4-BE49-F238E27FC236}">
                <a16:creationId xmlns:a16="http://schemas.microsoft.com/office/drawing/2014/main" id="{F5FF9E93-D25B-4F38-8A1F-9BB7F15810E3}"/>
              </a:ext>
            </a:extLst>
          </p:cNvPr>
          <p:cNvSpPr>
            <a:spLocks noChangeArrowheads="1"/>
          </p:cNvSpPr>
          <p:nvPr/>
        </p:nvSpPr>
        <p:spPr bwMode="auto">
          <a:xfrm>
            <a:off x="1395852" y="2846541"/>
            <a:ext cx="9704591"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第一次：</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令</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 {D,E}</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找出</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中所有决定因子包含在</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a:t>
            </a:r>
            <a:r>
              <a:rPr kumimoji="1" lang="en-US" altLang="zh-CN" sz="3200" b="1" dirty="0">
                <a:solidFill>
                  <a:srgbClr val="CCFFCC"/>
                </a:solidFill>
                <a:effectLst>
                  <a:outerShdw blurRad="38100" dist="38100" dir="2700000" algn="tl">
                    <a:srgbClr val="000000"/>
                  </a:outerShdw>
                </a:effectLst>
                <a:ea typeface="楷体_GB2312" pitchFamily="49" charset="-122"/>
              </a:rPr>
              <a:t>DE</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中的函数依赖，将其右边部分并入</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，并将其从</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中删除。</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得到新</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rPr>
              <a:t>= {D,E,G}</a:t>
            </a:r>
          </a:p>
        </p:txBody>
      </p:sp>
      <p:sp>
        <p:nvSpPr>
          <p:cNvPr id="6" name="Freeform 6">
            <a:extLst>
              <a:ext uri="{FF2B5EF4-FFF2-40B4-BE49-F238E27FC236}">
                <a16:creationId xmlns:a16="http://schemas.microsoft.com/office/drawing/2014/main" id="{EE7B2F7A-B970-4D63-B64A-4DD96647318A}"/>
              </a:ext>
            </a:extLst>
          </p:cNvPr>
          <p:cNvSpPr>
            <a:spLocks/>
          </p:cNvSpPr>
          <p:nvPr/>
        </p:nvSpPr>
        <p:spPr bwMode="auto">
          <a:xfrm>
            <a:off x="8400538" y="1678807"/>
            <a:ext cx="598487" cy="292100"/>
          </a:xfrm>
          <a:custGeom>
            <a:avLst/>
            <a:gdLst/>
            <a:ahLst/>
            <a:cxnLst>
              <a:cxn ang="0">
                <a:pos x="0" y="79"/>
              </a:cxn>
              <a:cxn ang="0">
                <a:pos x="121" y="184"/>
              </a:cxn>
              <a:cxn ang="0">
                <a:pos x="377" y="0"/>
              </a:cxn>
            </a:cxnLst>
            <a:rect l="0" t="0" r="r" b="b"/>
            <a:pathLst>
              <a:path w="377" h="184">
                <a:moveTo>
                  <a:pt x="0" y="79"/>
                </a:moveTo>
                <a:lnTo>
                  <a:pt x="121" y="184"/>
                </a:lnTo>
                <a:lnTo>
                  <a:pt x="377" y="0"/>
                </a:lnTo>
              </a:path>
            </a:pathLst>
          </a:custGeom>
          <a:noFill/>
          <a:ln w="57150" cap="sq" cmpd="sng">
            <a:solidFill>
              <a:srgbClr val="FF0000"/>
            </a:solidFill>
            <a:prstDash val="solid"/>
            <a:round/>
            <a:headEnd type="none" w="med" len="med"/>
            <a:tailEnd type="none" w="med" len="me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9" name="Rectangle 3">
            <a:extLst>
              <a:ext uri="{FF2B5EF4-FFF2-40B4-BE49-F238E27FC236}">
                <a16:creationId xmlns:a16="http://schemas.microsoft.com/office/drawing/2014/main" id="{17FB406E-1861-4E18-9555-0777891376F6}"/>
              </a:ext>
            </a:extLst>
          </p:cNvPr>
          <p:cNvSpPr>
            <a:spLocks noGrp="1" noChangeArrowheads="1"/>
          </p:cNvSpPr>
          <p:nvPr>
            <p:ph type="title"/>
          </p:nvPr>
        </p:nvSpPr>
        <p:spPr>
          <a:xfrm>
            <a:off x="983432" y="17108"/>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1476563"/>
      </p:ext>
    </p:extLst>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3" name="arrow.wav"/>
          </p:stSnd>
        </p:sndAc>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487528" y="980728"/>
            <a:ext cx="10273303"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E</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G}, </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C→A, BC→D, ACD→B, D→EG, BE→C</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CG→BD, CE→AG},</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求</a:t>
            </a:r>
            <a:r>
              <a:rPr kumimoji="1" lang="en-US" altLang="zh-CN"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(DE)</a:t>
            </a:r>
            <a:r>
              <a:rPr kumimoji="1" lang="en-US" altLang="zh-CN" sz="3200" b="1" i="0" u="none" strike="noStrike" kern="1200" cap="none" spc="0" normalizeH="0" baseline="3000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en-US" sz="3200" b="1"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p>
        </p:txBody>
      </p:sp>
      <p:sp>
        <p:nvSpPr>
          <p:cNvPr id="4" name="六边形 3">
            <a:extLst>
              <a:ext uri="{FF2B5EF4-FFF2-40B4-BE49-F238E27FC236}">
                <a16:creationId xmlns:a16="http://schemas.microsoft.com/office/drawing/2014/main" id="{91ADC8A2-439E-451E-A8E0-03E6473D0A3A}"/>
              </a:ext>
            </a:extLst>
          </p:cNvPr>
          <p:cNvSpPr/>
          <p:nvPr/>
        </p:nvSpPr>
        <p:spPr>
          <a:xfrm>
            <a:off x="551384" y="1161584"/>
            <a:ext cx="844440" cy="781288"/>
          </a:xfrm>
          <a:prstGeom prst="hexagon">
            <a:avLst/>
          </a:prstGeom>
          <a:solidFill>
            <a:srgbClr val="660066"/>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fontAlgn="base">
              <a:spcBef>
                <a:spcPct val="0"/>
              </a:spcBef>
              <a:spcAft>
                <a:spcPct val="25000"/>
              </a:spcAft>
              <a:buSzPct val="80000"/>
            </a:pPr>
            <a:r>
              <a:rPr kumimoji="1" lang="zh-CN" altLang="en-US" sz="2800" b="1" dirty="0">
                <a:solidFill>
                  <a:srgbClr val="FFFFFF"/>
                </a:solidFill>
                <a:latin typeface="+mn-ea"/>
              </a:rPr>
              <a:t>例</a:t>
            </a:r>
          </a:p>
        </p:txBody>
      </p:sp>
      <p:sp>
        <p:nvSpPr>
          <p:cNvPr id="5" name="Freeform 6">
            <a:extLst>
              <a:ext uri="{FF2B5EF4-FFF2-40B4-BE49-F238E27FC236}">
                <a16:creationId xmlns:a16="http://schemas.microsoft.com/office/drawing/2014/main" id="{B33C6A09-30AC-465E-97B4-776420D4EBBD}"/>
              </a:ext>
            </a:extLst>
          </p:cNvPr>
          <p:cNvSpPr>
            <a:spLocks/>
          </p:cNvSpPr>
          <p:nvPr/>
        </p:nvSpPr>
        <p:spPr bwMode="auto">
          <a:xfrm>
            <a:off x="8400538" y="1678807"/>
            <a:ext cx="598487" cy="292100"/>
          </a:xfrm>
          <a:custGeom>
            <a:avLst/>
            <a:gdLst/>
            <a:ahLst/>
            <a:cxnLst>
              <a:cxn ang="0">
                <a:pos x="0" y="79"/>
              </a:cxn>
              <a:cxn ang="0">
                <a:pos x="121" y="184"/>
              </a:cxn>
              <a:cxn ang="0">
                <a:pos x="377" y="0"/>
              </a:cxn>
            </a:cxnLst>
            <a:rect l="0" t="0" r="r" b="b"/>
            <a:pathLst>
              <a:path w="377" h="184">
                <a:moveTo>
                  <a:pt x="0" y="79"/>
                </a:moveTo>
                <a:lnTo>
                  <a:pt x="121" y="184"/>
                </a:lnTo>
                <a:lnTo>
                  <a:pt x="377" y="0"/>
                </a:lnTo>
              </a:path>
            </a:pathLst>
          </a:custGeom>
          <a:noFill/>
          <a:ln w="57150" cap="sq" cmpd="sng">
            <a:solidFill>
              <a:srgbClr val="FF0000"/>
            </a:solidFill>
            <a:prstDash val="solid"/>
            <a:round/>
            <a:headEnd type="none" w="med" len="med"/>
            <a:tailEnd type="none" w="med" len="me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6" name="Rectangle 5">
            <a:extLst>
              <a:ext uri="{FF2B5EF4-FFF2-40B4-BE49-F238E27FC236}">
                <a16:creationId xmlns:a16="http://schemas.microsoft.com/office/drawing/2014/main" id="{2F3D111E-FAA5-4F9D-876A-78D15F6BED67}"/>
              </a:ext>
            </a:extLst>
          </p:cNvPr>
          <p:cNvSpPr>
            <a:spLocks noChangeArrowheads="1"/>
          </p:cNvSpPr>
          <p:nvPr/>
        </p:nvSpPr>
        <p:spPr bwMode="auto">
          <a:xfrm>
            <a:off x="1395824" y="2669408"/>
            <a:ext cx="9577064"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第二次：</a:t>
            </a:r>
          </a:p>
          <a:p>
            <a:pPr marL="0" marR="0" lvl="0" indent="0" algn="l"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当前</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 {D,E,G}</a:t>
            </a:r>
          </a:p>
          <a:p>
            <a:pPr marL="0" marR="0" lvl="0" indent="0" algn="l"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找出</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中所有决定因子包含在</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中的函数依赖，将其右边部分并入</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，并将其从</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F</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中删除。</a:t>
            </a:r>
          </a:p>
          <a:p>
            <a:pPr marL="0" marR="0" lvl="0" indent="0" algn="l"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得到新</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 </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 {D,E,G}</a:t>
            </a:r>
          </a:p>
          <a:p>
            <a:pPr marL="0" marR="0" lvl="0" indent="0" algn="l" defTabSz="914400" rtl="0" eaLnBrk="1" fontAlgn="base" latinLnBrk="0" hangingPunct="1">
              <a:lnSpc>
                <a:spcPct val="100000"/>
              </a:lnSpc>
              <a:spcBef>
                <a:spcPct val="0"/>
              </a:spcBef>
              <a:spcAft>
                <a:spcPts val="600"/>
              </a:spcAft>
              <a:buClrTx/>
              <a:buSzPct val="80000"/>
              <a:buFont typeface="Wingdings" pitchFamily="2" charset="2"/>
              <a:buNone/>
              <a:tabLst>
                <a:tab pos="715963" algn="l"/>
                <a:tab pos="1905000" algn="l"/>
              </a:tabLst>
              <a:defRPr/>
            </a:pP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此时</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与第上一次相比已没有变化，这就是最终的</a:t>
            </a:r>
            <a:r>
              <a:rPr kumimoji="1" lang="en-US" altLang="zh-CN"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(DE)</a:t>
            </a:r>
            <a:r>
              <a:rPr kumimoji="1" lang="en-US" altLang="zh-CN" sz="3200" b="1"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 </a:t>
            </a:r>
            <a:r>
              <a:rPr kumimoji="1" lang="zh-CN" altLang="en-US" sz="32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，结束</a:t>
            </a:r>
            <a:r>
              <a:rPr kumimoji="1" lang="zh-CN" altLang="en-US" sz="3200" b="1"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a:t>
            </a:r>
            <a:r>
              <a:rPr kumimoji="1" lang="zh-CN" altLang="en-US" sz="32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习题二</a:t>
            </a:r>
            <a:r>
              <a:rPr kumimoji="1" lang="en-US" altLang="zh-CN" sz="32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rPr>
              <a:t>.2</a:t>
            </a:r>
            <a:endParaRPr kumimoji="1" lang="en-US" altLang="zh-CN" sz="3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endParaRPr>
          </a:p>
        </p:txBody>
      </p:sp>
      <p:sp>
        <p:nvSpPr>
          <p:cNvPr id="9" name="Rectangle 3">
            <a:extLst>
              <a:ext uri="{FF2B5EF4-FFF2-40B4-BE49-F238E27FC236}">
                <a16:creationId xmlns:a16="http://schemas.microsoft.com/office/drawing/2014/main" id="{6069F907-EC02-4FAB-A757-EEC359CD0AD5}"/>
              </a:ext>
            </a:extLst>
          </p:cNvPr>
          <p:cNvSpPr>
            <a:spLocks noGrp="1" noChangeArrowheads="1"/>
          </p:cNvSpPr>
          <p:nvPr>
            <p:ph type="title"/>
          </p:nvPr>
        </p:nvSpPr>
        <p:spPr>
          <a:xfrm>
            <a:off x="983432" y="17108"/>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2941725437"/>
      </p:ext>
    </p:extLst>
  </p:cSld>
  <p:clrMapOvr>
    <a:masterClrMapping/>
  </p:clrMapOvr>
  <p:transition spd="slow">
    <p:fade/>
    <p:sndAc>
      <p:stSnd>
        <p:snd r:embed="rId2" name="arrow.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body" idx="4294967295"/>
          </p:nvPr>
        </p:nvSpPr>
        <p:spPr>
          <a:xfrm>
            <a:off x="239349" y="692696"/>
            <a:ext cx="11809312" cy="5329238"/>
          </a:xfrm>
        </p:spPr>
        <p:txBody>
          <a:bodyPr>
            <a:normAutofit/>
          </a:bodyPr>
          <a:lstStyle/>
          <a:p>
            <a:pPr>
              <a:lnSpc>
                <a:spcPct val="150000"/>
              </a:lnSpc>
            </a:pPr>
            <a:r>
              <a:rPr lang="zh-CN" altLang="en-US" sz="3600" b="1" dirty="0">
                <a:solidFill>
                  <a:srgbClr val="FFFF00"/>
                </a:solidFill>
                <a:latin typeface="Tahoma" pitchFamily="34" charset="0"/>
                <a:ea typeface="宋体" pitchFamily="2" charset="-122"/>
              </a:rPr>
              <a:t>定理</a:t>
            </a:r>
            <a:r>
              <a:rPr lang="en-US" altLang="zh-CN" sz="3600" b="1" dirty="0">
                <a:solidFill>
                  <a:srgbClr val="FFFF00"/>
                </a:solidFill>
                <a:latin typeface="Tahoma" pitchFamily="34" charset="0"/>
                <a:ea typeface="宋体" pitchFamily="2" charset="-122"/>
              </a:rPr>
              <a:t>6.2</a:t>
            </a:r>
            <a:r>
              <a:rPr lang="zh-CN" altLang="en-US" sz="3600" b="1" dirty="0">
                <a:latin typeface="Tahoma" pitchFamily="34" charset="0"/>
                <a:ea typeface="宋体" pitchFamily="2" charset="-122"/>
              </a:rPr>
              <a:t>设有关系模式</a:t>
            </a:r>
            <a:r>
              <a:rPr lang="en-US" altLang="zh-CN" sz="3600" b="1" dirty="0">
                <a:latin typeface="Tahoma" pitchFamily="34" charset="0"/>
                <a:ea typeface="宋体" pitchFamily="2" charset="-122"/>
              </a:rPr>
              <a:t>R(U,F)</a:t>
            </a:r>
            <a:r>
              <a:rPr lang="zh-CN" altLang="en-US" sz="3600" b="1" dirty="0">
                <a:latin typeface="Tahoma" pitchFamily="34" charset="0"/>
                <a:ea typeface="宋体" pitchFamily="2" charset="-122"/>
              </a:rPr>
              <a:t>，</a:t>
            </a:r>
            <a:r>
              <a:rPr lang="en-US" altLang="zh-CN" sz="3600" b="1" dirty="0">
                <a:latin typeface="Tahoma" pitchFamily="34" charset="0"/>
                <a:ea typeface="宋体" pitchFamily="2" charset="-122"/>
              </a:rPr>
              <a:t>U</a:t>
            </a:r>
            <a:r>
              <a:rPr lang="zh-CN" altLang="en-US" sz="3600" b="1" dirty="0">
                <a:latin typeface="Tahoma" pitchFamily="34" charset="0"/>
                <a:ea typeface="宋体" pitchFamily="2" charset="-122"/>
              </a:rPr>
              <a:t>是属性全集，</a:t>
            </a:r>
            <a:r>
              <a:rPr lang="en-US" altLang="zh-CN" sz="3600" b="1" dirty="0">
                <a:latin typeface="Tahoma" pitchFamily="34" charset="0"/>
                <a:ea typeface="宋体" pitchFamily="2" charset="-122"/>
              </a:rPr>
              <a:t>F</a:t>
            </a:r>
            <a:r>
              <a:rPr lang="zh-CN" altLang="en-US" sz="3600" b="1" dirty="0">
                <a:latin typeface="Tahoma" pitchFamily="34" charset="0"/>
                <a:ea typeface="宋体" pitchFamily="2" charset="-122"/>
              </a:rPr>
              <a:t>是</a:t>
            </a:r>
            <a:r>
              <a:rPr lang="en-US" altLang="zh-CN" sz="3600" b="1" dirty="0">
                <a:latin typeface="Tahoma" pitchFamily="34" charset="0"/>
                <a:ea typeface="宋体" pitchFamily="2" charset="-122"/>
              </a:rPr>
              <a:t>R</a:t>
            </a:r>
            <a:r>
              <a:rPr lang="zh-CN" altLang="en-US" sz="3600" b="1" dirty="0">
                <a:latin typeface="Tahoma" pitchFamily="34" charset="0"/>
                <a:ea typeface="宋体" pitchFamily="2" charset="-122"/>
              </a:rPr>
              <a:t>的一个函数依赖集，</a:t>
            </a:r>
            <a:r>
              <a:rPr lang="en-US" altLang="zh-CN" sz="3600" b="1" dirty="0">
                <a:latin typeface="Tahoma" pitchFamily="34" charset="0"/>
                <a:ea typeface="宋体" pitchFamily="2" charset="-122"/>
              </a:rPr>
              <a:t>X</a:t>
            </a:r>
            <a:r>
              <a:rPr lang="zh-CN" altLang="en-US" sz="3600" b="1" dirty="0">
                <a:latin typeface="Tahoma" pitchFamily="34" charset="0"/>
                <a:ea typeface="宋体" pitchFamily="2" charset="-122"/>
              </a:rPr>
              <a:t>和</a:t>
            </a:r>
            <a:r>
              <a:rPr lang="en-US" altLang="zh-CN" sz="3600" b="1" dirty="0">
                <a:latin typeface="Tahoma" pitchFamily="34" charset="0"/>
                <a:ea typeface="宋体" pitchFamily="2" charset="-122"/>
              </a:rPr>
              <a:t>Y</a:t>
            </a:r>
            <a:r>
              <a:rPr lang="zh-CN" altLang="en-US" sz="3600" b="1" dirty="0">
                <a:latin typeface="Tahoma" pitchFamily="34" charset="0"/>
                <a:ea typeface="宋体" pitchFamily="2" charset="-122"/>
              </a:rPr>
              <a:t>是</a:t>
            </a:r>
            <a:r>
              <a:rPr lang="en-US" altLang="zh-CN" sz="3600" b="1" dirty="0">
                <a:latin typeface="Tahoma" pitchFamily="34" charset="0"/>
                <a:ea typeface="宋体" pitchFamily="2" charset="-122"/>
              </a:rPr>
              <a:t>U</a:t>
            </a:r>
            <a:r>
              <a:rPr lang="zh-CN" altLang="en-US" sz="3600" b="1" dirty="0">
                <a:latin typeface="Tahoma" pitchFamily="34" charset="0"/>
                <a:ea typeface="宋体" pitchFamily="2" charset="-122"/>
              </a:rPr>
              <a:t>的子集，则</a:t>
            </a:r>
            <a:r>
              <a:rPr lang="en-US" altLang="zh-CN" sz="3600" b="1" dirty="0">
                <a:latin typeface="Tahoma" pitchFamily="34" charset="0"/>
                <a:ea typeface="宋体" pitchFamily="2" charset="-122"/>
              </a:rPr>
              <a:t>X→Y</a:t>
            </a:r>
            <a:r>
              <a:rPr lang="zh-CN" altLang="en-US" sz="3600" b="1" dirty="0">
                <a:latin typeface="Tahoma" pitchFamily="34" charset="0"/>
                <a:ea typeface="宋体" pitchFamily="2" charset="-122"/>
              </a:rPr>
              <a:t>能由</a:t>
            </a:r>
            <a:r>
              <a:rPr lang="en-US" altLang="zh-CN" sz="3600" b="1" dirty="0">
                <a:latin typeface="Tahoma" pitchFamily="34" charset="0"/>
                <a:ea typeface="宋体" pitchFamily="2" charset="-122"/>
              </a:rPr>
              <a:t>F</a:t>
            </a:r>
            <a:r>
              <a:rPr lang="zh-CN" altLang="en-US" sz="3600" b="1" dirty="0">
                <a:latin typeface="Tahoma" pitchFamily="34" charset="0"/>
                <a:ea typeface="宋体" pitchFamily="2" charset="-122"/>
              </a:rPr>
              <a:t>按照</a:t>
            </a:r>
            <a:r>
              <a:rPr lang="en-US" altLang="zh-CN" sz="3600" b="1" dirty="0">
                <a:latin typeface="Tahoma" pitchFamily="34" charset="0"/>
                <a:ea typeface="宋体" pitchFamily="2" charset="-122"/>
              </a:rPr>
              <a:t>Armstrong</a:t>
            </a:r>
            <a:r>
              <a:rPr lang="zh-CN" altLang="en-US" sz="3600" b="1" dirty="0">
                <a:latin typeface="Tahoma" pitchFamily="34" charset="0"/>
                <a:ea typeface="宋体" pitchFamily="2" charset="-122"/>
              </a:rPr>
              <a:t>公理系统推出，即</a:t>
            </a:r>
            <a:r>
              <a:rPr lang="en-US" altLang="zh-CN" sz="3600" b="1" dirty="0">
                <a:solidFill>
                  <a:srgbClr val="FFFF00"/>
                </a:solidFill>
                <a:latin typeface="Tahoma" pitchFamily="34" charset="0"/>
                <a:ea typeface="宋体" pitchFamily="2" charset="-122"/>
              </a:rPr>
              <a:t>X→Y∈F</a:t>
            </a:r>
            <a:r>
              <a:rPr lang="en-US" altLang="zh-CN" sz="3600" b="1" baseline="30000" dirty="0">
                <a:solidFill>
                  <a:srgbClr val="FFFF00"/>
                </a:solidFill>
                <a:latin typeface="Tahoma" pitchFamily="34" charset="0"/>
                <a:ea typeface="宋体" pitchFamily="2" charset="-122"/>
              </a:rPr>
              <a:t>+</a:t>
            </a:r>
            <a:r>
              <a:rPr lang="zh-CN" altLang="en-US" sz="3600" b="1" dirty="0">
                <a:solidFill>
                  <a:srgbClr val="FFFF00"/>
                </a:solidFill>
                <a:latin typeface="Tahoma" pitchFamily="34" charset="0"/>
                <a:ea typeface="宋体" pitchFamily="2" charset="-122"/>
              </a:rPr>
              <a:t>的充分必要条件是</a:t>
            </a:r>
            <a:r>
              <a:rPr lang="en-US" altLang="zh-CN" sz="3600" b="1" dirty="0">
                <a:solidFill>
                  <a:srgbClr val="FFFF00"/>
                </a:solidFill>
                <a:latin typeface="Tahoma" pitchFamily="34" charset="0"/>
                <a:ea typeface="宋体" pitchFamily="2" charset="-122"/>
              </a:rPr>
              <a:t>Y ⊆  X</a:t>
            </a:r>
            <a:r>
              <a:rPr lang="en-US" altLang="zh-CN" sz="3600" b="1" baseline="30000" dirty="0">
                <a:solidFill>
                  <a:srgbClr val="FFFF00"/>
                </a:solidFill>
                <a:latin typeface="Tahoma" pitchFamily="34" charset="0"/>
                <a:ea typeface="宋体" pitchFamily="2" charset="-122"/>
              </a:rPr>
              <a:t>+</a:t>
            </a:r>
            <a:r>
              <a:rPr lang="zh-CN" altLang="en-US" sz="3600" b="1" dirty="0">
                <a:latin typeface="Tahoma" pitchFamily="34" charset="0"/>
                <a:ea typeface="宋体" pitchFamily="2" charset="-122"/>
              </a:rPr>
              <a:t>。</a:t>
            </a:r>
          </a:p>
          <a:p>
            <a:pPr>
              <a:lnSpc>
                <a:spcPct val="150000"/>
              </a:lnSpc>
            </a:pPr>
            <a:r>
              <a:rPr lang="zh-CN" altLang="en-US" sz="3600" b="1" dirty="0">
                <a:latin typeface="Tahoma" pitchFamily="34" charset="0"/>
                <a:ea typeface="宋体" pitchFamily="2" charset="-122"/>
              </a:rPr>
              <a:t>根据这一定理，判定</a:t>
            </a:r>
            <a:r>
              <a:rPr lang="en-US" altLang="zh-CN" sz="3600" b="1" dirty="0">
                <a:latin typeface="Tahoma" pitchFamily="34" charset="0"/>
                <a:ea typeface="宋体" pitchFamily="2" charset="-122"/>
              </a:rPr>
              <a:t>X→Y</a:t>
            </a:r>
            <a:r>
              <a:rPr lang="zh-CN" altLang="en-US" sz="3600" b="1" dirty="0">
                <a:latin typeface="Tahoma" pitchFamily="34" charset="0"/>
                <a:ea typeface="宋体" pitchFamily="2" charset="-122"/>
              </a:rPr>
              <a:t>是否成立就只须通过判定</a:t>
            </a:r>
            <a:r>
              <a:rPr lang="en-US" altLang="zh-CN" sz="3600" b="1" dirty="0">
                <a:latin typeface="Tahoma" pitchFamily="34" charset="0"/>
                <a:ea typeface="宋体" pitchFamily="2" charset="-122"/>
              </a:rPr>
              <a:t>Y</a:t>
            </a:r>
            <a:r>
              <a:rPr lang="zh-CN" altLang="en-US" sz="3600" b="1" dirty="0">
                <a:latin typeface="Tahoma" pitchFamily="34" charset="0"/>
                <a:ea typeface="宋体" pitchFamily="2" charset="-122"/>
              </a:rPr>
              <a:t>是否为</a:t>
            </a:r>
            <a:r>
              <a:rPr lang="en-US" altLang="zh-CN" sz="3600" b="1" dirty="0">
                <a:latin typeface="Tahoma" pitchFamily="34" charset="0"/>
                <a:ea typeface="宋体" pitchFamily="2" charset="-122"/>
              </a:rPr>
              <a:t>X</a:t>
            </a:r>
            <a:r>
              <a:rPr lang="en-US" altLang="zh-CN" sz="3600" b="1" baseline="30000" dirty="0">
                <a:latin typeface="Tahoma" pitchFamily="34" charset="0"/>
                <a:ea typeface="宋体" pitchFamily="2" charset="-122"/>
              </a:rPr>
              <a:t>+</a:t>
            </a:r>
            <a:r>
              <a:rPr lang="zh-CN" altLang="en-US" sz="3600" b="1" dirty="0">
                <a:latin typeface="Tahoma" pitchFamily="34" charset="0"/>
                <a:ea typeface="宋体" pitchFamily="2" charset="-122"/>
              </a:rPr>
              <a:t>的子集就可以了。</a:t>
            </a:r>
          </a:p>
        </p:txBody>
      </p:sp>
    </p:spTree>
    <p:extLst>
      <p:ext uri="{BB962C8B-B14F-4D97-AF65-F5344CB8AC3E}">
        <p14:creationId xmlns:p14="http://schemas.microsoft.com/office/powerpoint/2010/main" val="1275994454"/>
      </p:ext>
    </p:extLst>
  </p:cSld>
  <p:clrMapOvr>
    <a:masterClrMapping/>
  </p:clrMapOvr>
  <p:transition spd="slow">
    <p:wipe dir="r"/>
    <p:sndAc>
      <p:stSnd>
        <p:snd r:embed="rId2" name="arrow.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973916" y="900028"/>
            <a:ext cx="8382000"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属性集闭包应用的一个重要定理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endPar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mn-ea"/>
              <a:cs typeface="+mn-cs"/>
            </a:endParaRPr>
          </a:p>
        </p:txBody>
      </p:sp>
      <p:sp>
        <p:nvSpPr>
          <p:cNvPr id="4" name="Rectangle 5"/>
          <p:cNvSpPr>
            <a:spLocks noChangeArrowheads="1"/>
          </p:cNvSpPr>
          <p:nvPr/>
        </p:nvSpPr>
        <p:spPr bwMode="auto">
          <a:xfrm>
            <a:off x="953917" y="1584663"/>
            <a:ext cx="10657754"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设</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F</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是属性集</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U</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上的函数依赖集，</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X</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与</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Y</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是</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U</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的子集，则</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X→Y</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能由</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F</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根据</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Armstrong</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公理导出的充分必要条件是</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Y</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sym typeface="Symbol" pitchFamily="18" charset="2"/>
              </a:rPr>
              <a:t></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X</a:t>
            </a:r>
            <a:r>
              <a:rPr kumimoji="1" lang="en-US" altLang="zh-CN" sz="3600" b="0" i="0" u="none" strike="noStrike" kern="1200" cap="none" spc="0" normalizeH="0" baseline="30000" noProof="0" dirty="0">
                <a:ln>
                  <a:noFill/>
                </a:ln>
                <a:solidFill>
                  <a:srgbClr val="FFFFFF"/>
                </a:solidFill>
                <a:effectLst>
                  <a:outerShdw blurRad="38100" dist="38100" dir="2700000" algn="tl">
                    <a:srgbClr val="000000"/>
                  </a:outerShdw>
                </a:effectLst>
                <a:uLnTx/>
                <a:uFillTx/>
                <a:latin typeface="+mn-ea"/>
                <a:cs typeface="+mn-cs"/>
              </a:rPr>
              <a:t>+</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rPr>
              <a:t>。</a:t>
            </a:r>
          </a:p>
        </p:txBody>
      </p:sp>
      <p:sp>
        <p:nvSpPr>
          <p:cNvPr id="5" name="Rectangle 6"/>
          <p:cNvSpPr>
            <a:spLocks noChangeArrowheads="1"/>
          </p:cNvSpPr>
          <p:nvPr/>
        </p:nvSpPr>
        <p:spPr bwMode="auto">
          <a:xfrm>
            <a:off x="953917" y="5214069"/>
            <a:ext cx="8318500" cy="1311275"/>
          </a:xfrm>
          <a:prstGeom prst="rect">
            <a:avLst/>
          </a:prstGeom>
          <a:noFill/>
          <a:ln w="12700" cap="sq"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20725"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解</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{B,D,E,G,C,A}</a:t>
            </a:r>
          </a:p>
          <a:p>
            <a:pPr marL="0" marR="0" lvl="0" indent="0" algn="l" defTabSz="914400" rtl="0" eaLnBrk="1" fontAlgn="base" latinLnBrk="0" hangingPunct="1">
              <a:lnSpc>
                <a:spcPct val="100000"/>
              </a:lnSpc>
              <a:spcBef>
                <a:spcPct val="0"/>
              </a:spcBef>
              <a:spcAft>
                <a:spcPct val="30000"/>
              </a:spcAft>
              <a:buClrTx/>
              <a:buSzPct val="80000"/>
              <a:buFont typeface="Wingdings" pitchFamily="2" charset="2"/>
              <a:buNone/>
              <a:tabLst>
                <a:tab pos="715963" algn="l"/>
                <a:tab pos="1905000" algn="l"/>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(AC)</a:t>
            </a:r>
            <a:r>
              <a:rPr kumimoji="1" lang="zh-CN" altLang="en-US" sz="28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 </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所以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rPr>
              <a:t>|=</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BD→AC</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endParaRPr>
          </a:p>
        </p:txBody>
      </p:sp>
      <p:sp>
        <p:nvSpPr>
          <p:cNvPr id="6" name="Text Box 7"/>
          <p:cNvSpPr txBox="1">
            <a:spLocks noChangeArrowheads="1"/>
          </p:cNvSpPr>
          <p:nvPr/>
        </p:nvSpPr>
        <p:spPr bwMode="auto">
          <a:xfrm>
            <a:off x="973916" y="3552460"/>
            <a:ext cx="9433049"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7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设有</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关系模式R</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U,F)</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，其中</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U={A，B，C，D, E, G}, </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F={AB→C, C→A, BC→D, ACD→B, D→EG, BE→C</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CG→BD, CE→AG},</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 </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证明</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F</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sym typeface="Symbol" pitchFamily="18" charset="2"/>
              </a:rPr>
              <a:t>|=</a:t>
            </a:r>
            <a:r>
              <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BD→AC</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rPr>
              <a:t>。</a:t>
            </a:r>
            <a:endParaRPr kumimoji="1" lang="zh-CN"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ea typeface="楷体_GB2312" pitchFamily="49" charset="-122"/>
              <a:cs typeface="+mn-cs"/>
            </a:endParaRPr>
          </a:p>
        </p:txBody>
      </p:sp>
      <p:sp>
        <p:nvSpPr>
          <p:cNvPr id="9" name="Rectangle 3">
            <a:extLst>
              <a:ext uri="{FF2B5EF4-FFF2-40B4-BE49-F238E27FC236}">
                <a16:creationId xmlns:a16="http://schemas.microsoft.com/office/drawing/2014/main" id="{378EA4D4-5EA3-400A-8452-1D7F9B486512}"/>
              </a:ext>
            </a:extLst>
          </p:cNvPr>
          <p:cNvSpPr>
            <a:spLocks noGrp="1" noChangeArrowheads="1"/>
          </p:cNvSpPr>
          <p:nvPr>
            <p:ph type="title"/>
          </p:nvPr>
        </p:nvSpPr>
        <p:spPr>
          <a:xfrm>
            <a:off x="983432" y="16905"/>
            <a:ext cx="2880320"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属性集闭包</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extLst>
      <p:ext uri="{BB962C8B-B14F-4D97-AF65-F5344CB8AC3E}">
        <p14:creationId xmlns:p14="http://schemas.microsoft.com/office/powerpoint/2010/main" val="1837679550"/>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title"/>
          </p:nvPr>
        </p:nvSpPr>
        <p:spPr>
          <a:xfrm>
            <a:off x="911424" y="0"/>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函数依赖集的等价</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1508356" name="Text Box 4"/>
          <p:cNvSpPr txBox="1">
            <a:spLocks noChangeArrowheads="1"/>
          </p:cNvSpPr>
          <p:nvPr/>
        </p:nvSpPr>
        <p:spPr bwMode="auto">
          <a:xfrm>
            <a:off x="898676" y="980728"/>
            <a:ext cx="10813947"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45000"/>
              </a:spcAft>
              <a:buClrTx/>
              <a:buSzPct val="80000"/>
              <a:buFont typeface="Wingdings" pitchFamily="2" charset="2"/>
              <a:buNone/>
              <a:tabLst>
                <a:tab pos="1071563"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上的两个函数依赖集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和</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，如果满足</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和</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是等价的。</a:t>
            </a:r>
          </a:p>
          <a:p>
            <a:pPr marL="0" marR="0" lvl="0" indent="0" algn="l" defTabSz="914400" rtl="0" eaLnBrk="1" fontAlgn="base" latinLnBrk="0" hangingPunct="1">
              <a:lnSpc>
                <a:spcPct val="100000"/>
              </a:lnSpc>
              <a:spcBef>
                <a:spcPct val="30000"/>
              </a:spcBef>
              <a:spcAft>
                <a:spcPct val="45000"/>
              </a:spcAft>
              <a:buClrTx/>
              <a:buSzPct val="80000"/>
              <a:buFont typeface="Wingdings" pitchFamily="2" charset="2"/>
              <a:buNone/>
              <a:tabLst>
                <a:tab pos="1071563" algn="l"/>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的充要条件是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G</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 G</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F</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p>
        </p:txBody>
      </p:sp>
      <p:sp>
        <p:nvSpPr>
          <p:cNvPr id="1508357" name="Text Box 5"/>
          <p:cNvSpPr txBox="1">
            <a:spLocks noChangeArrowheads="1"/>
          </p:cNvSpPr>
          <p:nvPr/>
        </p:nvSpPr>
        <p:spPr bwMode="auto">
          <a:xfrm>
            <a:off x="889338" y="3136739"/>
            <a:ext cx="11111317"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例如关系模式</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R(U)</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U={A,B,C}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endPar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ct val="0"/>
              </a:spcBef>
              <a:spcAft>
                <a:spcPts val="2400"/>
              </a:spcAft>
              <a:buClrTx/>
              <a:buSzPct val="80000"/>
              <a:buFont typeface="Wingdings" pitchFamily="2" charset="2"/>
              <a:buNone/>
              <a:tabLst>
                <a:tab pos="715963" algn="l"/>
                <a:tab pos="1905000" algn="l"/>
              </a:tabLst>
              <a:defRPr/>
            </a:pP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A→BC,B→C}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={A→B,B→C}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中</a:t>
            </a:r>
          </a:p>
          <a:p>
            <a:pPr lvl="0" fontAlgn="base">
              <a:spcBef>
                <a:spcPct val="0"/>
              </a:spcBef>
              <a:spcAft>
                <a:spcPct val="20000"/>
              </a:spcAft>
              <a:buSzPct val="80000"/>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根据   </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=ABC </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可知 </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zh-CN"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A→BC</a:t>
            </a:r>
            <a:r>
              <a:rPr kumimoji="1" lang="en-US" altLang="zh-CN"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 ,</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 所以</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en-US"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中有</a:t>
            </a:r>
            <a:r>
              <a:rPr kumimoji="1" lang="en-US" altLang="zh-CN"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F</a:t>
            </a:r>
            <a:r>
              <a:rPr kumimoji="1" lang="zh-CN" altLang="en-US"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的全部，</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G</a:t>
            </a:r>
            <a:r>
              <a:rPr kumimoji="1"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p>
          <a:p>
            <a:pPr lvl="0" fontAlgn="base">
              <a:spcBef>
                <a:spcPct val="0"/>
              </a:spcBef>
              <a:spcAft>
                <a:spcPct val="20000"/>
              </a:spcAft>
              <a:buSzPct val="80000"/>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同理   </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=ABC </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可知 </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zh-CN"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A→B</a:t>
            </a:r>
            <a:r>
              <a:rPr kumimoji="1" lang="en-US" altLang="zh-CN"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 </a:t>
            </a:r>
            <a:r>
              <a:rPr kumimoji="1" lang="zh-CN" altLang="en-US"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，那么</a:t>
            </a:r>
            <a:r>
              <a:rPr kumimoji="1" lang="en-US" altLang="zh-CN"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F</a:t>
            </a:r>
            <a:r>
              <a:rPr kumimoji="1" lang="zh-CN" altLang="en-US"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中有</a:t>
            </a:r>
            <a:r>
              <a:rPr kumimoji="1" lang="en-US" altLang="zh-CN"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G</a:t>
            </a:r>
            <a:r>
              <a:rPr kumimoji="1" lang="zh-CN" altLang="en-US" sz="3200" dirty="0">
                <a:solidFill>
                  <a:srgbClr val="99FF33"/>
                </a:solidFill>
                <a:effectLst>
                  <a:outerShdw blurRad="38100" dist="38100" dir="2700000" algn="tl">
                    <a:srgbClr val="000000"/>
                  </a:outerShdw>
                </a:effectLst>
                <a:latin typeface="新宋体" panose="02010609030101010101" pitchFamily="49" charset="-122"/>
                <a:ea typeface="新宋体" panose="02010609030101010101" pitchFamily="49" charset="-122"/>
              </a:rPr>
              <a:t>的全部，</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F</a:t>
            </a:r>
            <a:r>
              <a:rPr kumimoji="1"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endParaRPr kumimoji="1" lang="zh-CN" altLang="en-US"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endParaRPr>
          </a:p>
          <a:p>
            <a:pPr marL="0" marR="0" lvl="0" indent="0" algn="l" defTabSz="914400" rtl="0" eaLnBrk="1" fontAlgn="base" latinLnBrk="0" hangingPunct="1">
              <a:lnSpc>
                <a:spcPct val="100000"/>
              </a:lnSpc>
              <a:spcBef>
                <a:spcPct val="0"/>
              </a:spcBef>
              <a:spcAft>
                <a:spcPct val="2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故有</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与</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等价。</a:t>
            </a:r>
            <a:endParaRPr kumimoji="1" lang="zh-CN"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endParaRPr>
          </a:p>
        </p:txBody>
      </p:sp>
      <p:grpSp>
        <p:nvGrpSpPr>
          <p:cNvPr id="10" name="组合 9">
            <a:extLst>
              <a:ext uri="{FF2B5EF4-FFF2-40B4-BE49-F238E27FC236}">
                <a16:creationId xmlns:a16="http://schemas.microsoft.com/office/drawing/2014/main" id="{B3384873-9234-4962-8FBA-ED0A6CD390B4}"/>
              </a:ext>
            </a:extLst>
          </p:cNvPr>
          <p:cNvGrpSpPr/>
          <p:nvPr/>
        </p:nvGrpSpPr>
        <p:grpSpPr>
          <a:xfrm>
            <a:off x="1847528" y="4551228"/>
            <a:ext cx="486287" cy="492443"/>
            <a:chOff x="7884084" y="4116608"/>
            <a:chExt cx="486287" cy="492443"/>
          </a:xfrm>
        </p:grpSpPr>
        <p:sp>
          <p:nvSpPr>
            <p:cNvPr id="11" name="Rectangle 7">
              <a:extLst>
                <a:ext uri="{FF2B5EF4-FFF2-40B4-BE49-F238E27FC236}">
                  <a16:creationId xmlns:a16="http://schemas.microsoft.com/office/drawing/2014/main" id="{4B860F76-7ED9-4B89-AA34-BF453CA15745}"/>
                </a:ext>
              </a:extLst>
            </p:cNvPr>
            <p:cNvSpPr>
              <a:spLocks noChangeArrowheads="1"/>
            </p:cNvSpPr>
            <p:nvPr/>
          </p:nvSpPr>
          <p:spPr bwMode="auto">
            <a:xfrm>
              <a:off x="7884084" y="4116608"/>
              <a:ext cx="486287" cy="492443"/>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en-US"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G</a:t>
              </a:r>
              <a:endParaRPr kumimoji="1" lang="zh-CN" altLang="en-US"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sp>
          <p:nvSpPr>
            <p:cNvPr id="12" name="Rectangle 8">
              <a:extLst>
                <a:ext uri="{FF2B5EF4-FFF2-40B4-BE49-F238E27FC236}">
                  <a16:creationId xmlns:a16="http://schemas.microsoft.com/office/drawing/2014/main" id="{4541E934-6211-4B5A-A0B4-E914448A9CD8}"/>
                </a:ext>
              </a:extLst>
            </p:cNvPr>
            <p:cNvSpPr>
              <a:spLocks noChangeArrowheads="1"/>
            </p:cNvSpPr>
            <p:nvPr/>
          </p:nvSpPr>
          <p:spPr bwMode="auto">
            <a:xfrm>
              <a:off x="8150603" y="4197570"/>
              <a:ext cx="187283" cy="328612"/>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1" lang="zh-CN" altLang="en-US"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grpSp>
      <p:grpSp>
        <p:nvGrpSpPr>
          <p:cNvPr id="13" name="组合 12">
            <a:extLst>
              <a:ext uri="{FF2B5EF4-FFF2-40B4-BE49-F238E27FC236}">
                <a16:creationId xmlns:a16="http://schemas.microsoft.com/office/drawing/2014/main" id="{30192633-F7D7-41EF-9751-95BE0E9BC81A}"/>
              </a:ext>
            </a:extLst>
          </p:cNvPr>
          <p:cNvGrpSpPr/>
          <p:nvPr/>
        </p:nvGrpSpPr>
        <p:grpSpPr>
          <a:xfrm>
            <a:off x="1847528" y="5127292"/>
            <a:ext cx="453802" cy="492443"/>
            <a:chOff x="7884084" y="4116608"/>
            <a:chExt cx="453802" cy="492443"/>
          </a:xfrm>
        </p:grpSpPr>
        <p:sp>
          <p:nvSpPr>
            <p:cNvPr id="14" name="Rectangle 7">
              <a:extLst>
                <a:ext uri="{FF2B5EF4-FFF2-40B4-BE49-F238E27FC236}">
                  <a16:creationId xmlns:a16="http://schemas.microsoft.com/office/drawing/2014/main" id="{0CEF441E-6CF3-4E44-A819-0DEF3CF5E025}"/>
                </a:ext>
              </a:extLst>
            </p:cNvPr>
            <p:cNvSpPr>
              <a:spLocks noChangeArrowheads="1"/>
            </p:cNvSpPr>
            <p:nvPr/>
          </p:nvSpPr>
          <p:spPr bwMode="auto">
            <a:xfrm>
              <a:off x="7884084" y="4116608"/>
              <a:ext cx="434414" cy="492443"/>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en-US"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endParaRPr kumimoji="1" lang="zh-CN" altLang="en-US"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sp>
          <p:nvSpPr>
            <p:cNvPr id="15" name="Rectangle 8">
              <a:extLst>
                <a:ext uri="{FF2B5EF4-FFF2-40B4-BE49-F238E27FC236}">
                  <a16:creationId xmlns:a16="http://schemas.microsoft.com/office/drawing/2014/main" id="{8AD83BCF-D353-4DE4-B2DB-FC9FD3D8C81A}"/>
                </a:ext>
              </a:extLst>
            </p:cNvPr>
            <p:cNvSpPr>
              <a:spLocks noChangeArrowheads="1"/>
            </p:cNvSpPr>
            <p:nvPr/>
          </p:nvSpPr>
          <p:spPr bwMode="auto">
            <a:xfrm>
              <a:off x="8150603" y="4197570"/>
              <a:ext cx="187283" cy="328612"/>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1" lang="zh-CN" altLang="en-US"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484797650"/>
      </p:ext>
    </p:extLst>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title"/>
          </p:nvPr>
        </p:nvSpPr>
        <p:spPr>
          <a:xfrm>
            <a:off x="911424" y="0"/>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a:solidFill>
                  <a:srgbClr val="FFFFCC"/>
                </a:solidFill>
                <a:effectLst>
                  <a:outerShdw blurRad="38100" dist="38100" dir="2700000" algn="tl">
                    <a:srgbClr val="000000"/>
                  </a:outerShdw>
                </a:effectLst>
                <a:latin typeface="Arial" pitchFamily="34" charset="0"/>
                <a:cs typeface="+mn-cs"/>
              </a:rPr>
              <a:t>函数依赖集的</a:t>
            </a:r>
            <a:r>
              <a:rPr kumimoji="1" lang="zh-CN" altLang="en-US" u="sng" dirty="0">
                <a:solidFill>
                  <a:srgbClr val="FFFFCC"/>
                </a:solidFill>
                <a:effectLst>
                  <a:outerShdw blurRad="38100" dist="38100" dir="2700000" algn="tl">
                    <a:srgbClr val="000000"/>
                  </a:outerShdw>
                </a:effectLst>
                <a:latin typeface="Arial" pitchFamily="34" charset="0"/>
                <a:cs typeface="+mn-cs"/>
              </a:rPr>
              <a:t>等价</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1508356" name="Text Box 4"/>
          <p:cNvSpPr txBox="1">
            <a:spLocks noChangeArrowheads="1"/>
          </p:cNvSpPr>
          <p:nvPr/>
        </p:nvSpPr>
        <p:spPr bwMode="auto">
          <a:xfrm>
            <a:off x="898676" y="980728"/>
            <a:ext cx="10813947"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30000"/>
              </a:spcBef>
              <a:spcAft>
                <a:spcPct val="45000"/>
              </a:spcAft>
              <a:buClrTx/>
              <a:buSzPct val="80000"/>
              <a:buFont typeface="Wingdings" pitchFamily="2" charset="2"/>
              <a:buNone/>
              <a:tabLst>
                <a:tab pos="1071563"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上的两个函数依赖集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和</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，如果满足</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和</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是等价的。</a:t>
            </a:r>
          </a:p>
          <a:p>
            <a:pPr marL="0" marR="0" lvl="0" indent="0" algn="l" defTabSz="914400" rtl="0" eaLnBrk="1" fontAlgn="base" latinLnBrk="0" hangingPunct="1">
              <a:lnSpc>
                <a:spcPct val="100000"/>
              </a:lnSpc>
              <a:spcBef>
                <a:spcPct val="30000"/>
              </a:spcBef>
              <a:spcAft>
                <a:spcPct val="45000"/>
              </a:spcAft>
              <a:buClrTx/>
              <a:buSzPct val="80000"/>
              <a:buFont typeface="Wingdings" pitchFamily="2" charset="2"/>
              <a:buNone/>
              <a:tabLst>
                <a:tab pos="1071563" algn="l"/>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=G</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的充要条件是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G</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 G</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sym typeface="Symbol" pitchFamily="18" charset="2"/>
              </a:rPr>
              <a:t>F</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mn-ea"/>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p>
        </p:txBody>
      </p:sp>
      <p:sp>
        <p:nvSpPr>
          <p:cNvPr id="1508357" name="Text Box 5"/>
          <p:cNvSpPr txBox="1">
            <a:spLocks noChangeArrowheads="1"/>
          </p:cNvSpPr>
          <p:nvPr/>
        </p:nvSpPr>
        <p:spPr bwMode="auto">
          <a:xfrm>
            <a:off x="889339" y="3105150"/>
            <a:ext cx="10353020"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例如关系模式</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R(U)</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U={A,B,C}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endPar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endParaRPr>
          </a:p>
          <a:p>
            <a:pPr marL="0" marR="0" lvl="0" indent="0" algn="l" defTabSz="914400" rtl="0" eaLnBrk="1" fontAlgn="base" latinLnBrk="0" hangingPunct="1">
              <a:lnSpc>
                <a:spcPct val="100000"/>
              </a:lnSpc>
              <a:spcBef>
                <a:spcPct val="0"/>
              </a:spcBef>
              <a:spcAft>
                <a:spcPts val="2400"/>
              </a:spcAft>
              <a:buClrTx/>
              <a:buSzPct val="80000"/>
              <a:buFont typeface="Wingdings" pitchFamily="2" charset="2"/>
              <a:buNone/>
              <a:tabLst>
                <a:tab pos="715963" algn="l"/>
                <a:tab pos="1905000" algn="l"/>
              </a:tabLst>
              <a:defRPr/>
            </a:pP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A→BC,B→C}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={A→B,B→C}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中</a:t>
            </a:r>
          </a:p>
          <a:p>
            <a:pPr marL="0" marR="0" lvl="0" indent="0" algn="l" defTabSz="914400" rtl="0" eaLnBrk="1" fontAlgn="base" latinLnBrk="0" hangingPunct="1">
              <a:lnSpc>
                <a:spcPct val="100000"/>
              </a:lnSpc>
              <a:spcBef>
                <a:spcPct val="0"/>
              </a:spcBef>
              <a:spcAft>
                <a:spcPct val="2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由于从</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中的</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分解即可得到</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A→B</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和</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，即</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F</a:t>
            </a:r>
            <a:r>
              <a:rPr kumimoji="1"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p>
          <a:p>
            <a:pPr marL="0" marR="0" lvl="0" indent="0" algn="l" defTabSz="914400" rtl="0" eaLnBrk="1" fontAlgn="base" latinLnBrk="0" hangingPunct="1">
              <a:lnSpc>
                <a:spcPct val="100000"/>
              </a:lnSpc>
              <a:spcBef>
                <a:spcPct val="0"/>
              </a:spcBef>
              <a:spcAft>
                <a:spcPct val="2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同理从</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中的</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→B</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和</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B→C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传递可得</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，进而合并得</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B</a:t>
            </a:r>
            <a:r>
              <a:rPr kumimoji="1"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C</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，即</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G</a:t>
            </a:r>
            <a:r>
              <a:rPr kumimoji="1"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rPr>
              <a:t>+</a:t>
            </a:r>
            <a:endParaRPr kumimoji="1" lang="zh-CN" altLang="en-US"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endParaRPr>
          </a:p>
          <a:p>
            <a:pPr marL="0" marR="0" lvl="0" indent="0" algn="l" defTabSz="914400" rtl="0" eaLnBrk="1" fontAlgn="base" latinLnBrk="0" hangingPunct="1">
              <a:lnSpc>
                <a:spcPct val="100000"/>
              </a:lnSpc>
              <a:spcBef>
                <a:spcPct val="0"/>
              </a:spcBef>
              <a:spcAft>
                <a:spcPct val="20000"/>
              </a:spcAft>
              <a:buClrTx/>
              <a:buSzPct val="80000"/>
              <a:buFont typeface="Wingdings" pitchFamily="2" charset="2"/>
              <a:buNone/>
              <a:tabLst>
                <a:tab pos="715963" algn="l"/>
                <a:tab pos="1905000" algn="l"/>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故有</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F</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与</a:t>
            </a:r>
            <a:r>
              <a:rPr kumimoji="1"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G</a:t>
            </a: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rPr>
              <a:t>等价。</a:t>
            </a:r>
            <a:endParaRPr kumimoji="1" lang="zh-CN"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新宋体" panose="02010609030101010101" pitchFamily="49" charset="-122"/>
              <a:ea typeface="新宋体" panose="02010609030101010101" pitchFamily="49" charset="-122"/>
              <a:cs typeface="+mn-cs"/>
              <a:sym typeface="Symbol" pitchFamily="18" charset="2"/>
            </a:endParaRPr>
          </a:p>
        </p:txBody>
      </p:sp>
      <p:sp>
        <p:nvSpPr>
          <p:cNvPr id="7" name="Text Box 5">
            <a:extLst>
              <a:ext uri="{FF2B5EF4-FFF2-40B4-BE49-F238E27FC236}">
                <a16:creationId xmlns:a16="http://schemas.microsoft.com/office/drawing/2014/main" id="{CDD678FB-039B-4783-9400-D6D7FF332FF2}"/>
              </a:ext>
            </a:extLst>
          </p:cNvPr>
          <p:cNvSpPr txBox="1">
            <a:spLocks noChangeArrowheads="1"/>
          </p:cNvSpPr>
          <p:nvPr/>
        </p:nvSpPr>
        <p:spPr bwMode="auto">
          <a:xfrm>
            <a:off x="4511824" y="6093296"/>
            <a:ext cx="8424863" cy="594320"/>
          </a:xfrm>
          <a:prstGeom prst="rect">
            <a:avLst/>
          </a:prstGeom>
          <a:noFill/>
          <a:ln w="12700" cap="sq">
            <a:noFill/>
            <a:miter lim="800000"/>
            <a:headEnd type="none" w="sm" len="sm"/>
            <a:tailEnd type="none" w="sm" len="sm"/>
          </a:ln>
          <a:effectLst/>
        </p:spPr>
        <p:txBody>
          <a:bodyPr/>
          <a:lstStyle/>
          <a:p>
            <a:pPr marL="457200" marR="0" lvl="0" indent="-45720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也可以用</a:t>
            </a:r>
            <a:r>
              <a:rPr kumimoji="1"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Armstrong</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公理系统来证</a:t>
            </a:r>
            <a:endParaRPr kumimoji="1"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9380" name="Text Box 4"/>
          <p:cNvSpPr txBox="1">
            <a:spLocks noChangeArrowheads="1"/>
          </p:cNvSpPr>
          <p:nvPr/>
        </p:nvSpPr>
        <p:spPr bwMode="auto">
          <a:xfrm>
            <a:off x="839416" y="1052736"/>
            <a:ext cx="10037284" cy="1143000"/>
          </a:xfrm>
          <a:prstGeom prst="rect">
            <a:avLst/>
          </a:prstGeom>
          <a:noFill/>
          <a:ln w="12700" cap="sq">
            <a:noFill/>
            <a:miter lim="800000"/>
            <a:headEnd type="none" w="sm" len="sm"/>
            <a:tailEnd type="none" w="sm" len="sm"/>
          </a:ln>
          <a:effectLst/>
        </p:spPr>
        <p:txBody>
          <a:bodyPr/>
          <a:lstStyle/>
          <a:p>
            <a:pPr marL="457200" marR="0" lvl="0" indent="-457200" algn="just"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如果函数集</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满足：</a:t>
            </a:r>
          </a:p>
          <a:p>
            <a:pPr marL="457200" marR="0" lvl="0" indent="-457200" algn="just" defTabSz="914400" rtl="0" eaLnBrk="1" fontAlgn="base" latinLnBrk="0" hangingPunct="1">
              <a:lnSpc>
                <a:spcPct val="100000"/>
              </a:lnSpc>
              <a:spcBef>
                <a:spcPct val="0"/>
              </a:spcBef>
              <a:spcAft>
                <a:spcPct val="25000"/>
              </a:spcAft>
              <a:buClrTx/>
              <a:buSzPct val="80000"/>
              <a:buFont typeface="Wingdings" pitchFamily="2" charset="2"/>
              <a:buAutoNum type="arabicParenR"/>
              <a:tabLst>
                <a:tab pos="1071563" algn="l"/>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中的任一函数依赖</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的右部都是单属性；</a:t>
            </a:r>
          </a:p>
          <a:p>
            <a:pPr marL="457200" marR="0" lvl="0" indent="-457200" algn="just" defTabSz="914400" rtl="0" eaLnBrk="1" fontAlgn="base" latinLnBrk="0" hangingPunct="1">
              <a:lnSpc>
                <a:spcPct val="100000"/>
              </a:lnSpc>
              <a:spcBef>
                <a:spcPct val="0"/>
              </a:spcBef>
              <a:spcAft>
                <a:spcPct val="25000"/>
              </a:spcAft>
              <a:buClrTx/>
              <a:buSzPct val="80000"/>
              <a:buFont typeface="Wingdings" pitchFamily="2" charset="2"/>
              <a:buAutoNum type="arabicParenR"/>
              <a:tabLst>
                <a:tab pos="1071563"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对</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中的任一函数依赖</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，有</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不等价，即</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中没有冗余的函数依赖；</a:t>
            </a:r>
          </a:p>
          <a:p>
            <a:pPr marL="457200" marR="0" lvl="0" indent="-457200" algn="just" defTabSz="914400" rtl="0" eaLnBrk="1" fontAlgn="base" latinLnBrk="0" hangingPunct="1">
              <a:lnSpc>
                <a:spcPct val="100000"/>
              </a:lnSpc>
              <a:spcBef>
                <a:spcPct val="0"/>
              </a:spcBef>
              <a:spcAft>
                <a:spcPct val="25000"/>
              </a:spcAft>
              <a:buClrTx/>
              <a:buSzPct val="80000"/>
              <a:buFont typeface="Wingdings" pitchFamily="2" charset="2"/>
              <a:buAutoNum type="arabicParenR"/>
              <a:tabLst>
                <a:tab pos="1071563"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对</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中的任一函数依赖</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Z</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sym typeface="Symbol" pitchFamily="18" charset="2"/>
              </a:rPr>
              <a:t>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sym typeface="Symbol" pitchFamily="18" charset="2"/>
              </a:rPr>
              <a:t>，则</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sym typeface="Symbol" pitchFamily="18" charset="2"/>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F-{X</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 ∪{Z</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与</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不等价，即每个函数依赖的左部（决定因子）没有冗余属性。</a:t>
            </a:r>
          </a:p>
          <a:p>
            <a:pPr marL="457200" marR="0" lvl="0" indent="-457200" algn="just"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为最小函数依赖集，记为</a:t>
            </a:r>
            <a:r>
              <a:rPr kumimoji="1"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min</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p:txBody>
      </p:sp>
      <p:sp>
        <p:nvSpPr>
          <p:cNvPr id="1509381" name="Text Box 5"/>
          <p:cNvSpPr txBox="1">
            <a:spLocks noChangeArrowheads="1"/>
          </p:cNvSpPr>
          <p:nvPr/>
        </p:nvSpPr>
        <p:spPr bwMode="auto">
          <a:xfrm>
            <a:off x="839416" y="5877272"/>
            <a:ext cx="8424863" cy="594320"/>
          </a:xfrm>
          <a:prstGeom prst="rect">
            <a:avLst/>
          </a:prstGeom>
          <a:noFill/>
          <a:ln w="12700" cap="sq">
            <a:noFill/>
            <a:miter lim="800000"/>
            <a:headEnd type="none" w="sm" len="sm"/>
            <a:tailEnd type="none" w="sm" len="sm"/>
          </a:ln>
          <a:effectLst/>
        </p:spPr>
        <p:txBody>
          <a:bodyPr/>
          <a:lstStyle/>
          <a:p>
            <a:pPr marL="457200" marR="0" lvl="0" indent="-45720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每个函数依赖集必有等价的最小函数依赖集。</a:t>
            </a:r>
            <a:endParaRPr kumimoji="1" lang="en-US" altLang="zh-CN"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endParaRPr>
          </a:p>
        </p:txBody>
      </p:sp>
      <p:sp>
        <p:nvSpPr>
          <p:cNvPr id="7" name="Rectangle 3">
            <a:extLst>
              <a:ext uri="{FF2B5EF4-FFF2-40B4-BE49-F238E27FC236}">
                <a16:creationId xmlns:a16="http://schemas.microsoft.com/office/drawing/2014/main" id="{0442E990-638B-4065-B0B9-6FE8496B1346}"/>
              </a:ext>
            </a:extLst>
          </p:cNvPr>
          <p:cNvSpPr>
            <a:spLocks noGrp="1" noChangeArrowheads="1"/>
          </p:cNvSpPr>
          <p:nvPr>
            <p:ph type="title"/>
          </p:nvPr>
        </p:nvSpPr>
        <p:spPr>
          <a:xfrm>
            <a:off x="839416" y="5928"/>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最小函数依赖集</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548680"/>
            <a:ext cx="10972800" cy="4525963"/>
          </a:xfrm>
        </p:spPr>
        <p:txBody>
          <a:bodyPr>
            <a:noAutofit/>
          </a:bodyPr>
          <a:lstStyle/>
          <a:p>
            <a:pPr>
              <a:lnSpc>
                <a:spcPct val="120000"/>
              </a:lnSpc>
            </a:pPr>
            <a:r>
              <a:rPr lang="en-US" altLang="zh-CN" sz="2000" dirty="0"/>
              <a:t>3. </a:t>
            </a:r>
            <a:r>
              <a:rPr lang="zh-CN" altLang="en-US" sz="2000" dirty="0"/>
              <a:t>求最小函数依赖集的算法</a:t>
            </a:r>
          </a:p>
          <a:p>
            <a:pPr>
              <a:lnSpc>
                <a:spcPct val="120000"/>
              </a:lnSpc>
            </a:pPr>
            <a:r>
              <a:rPr lang="zh-CN" altLang="en-US" sz="2000" dirty="0"/>
              <a:t>可以证明，对任何一个函数依赖集都存在一个与其等价的最小依赖集。</a:t>
            </a:r>
          </a:p>
          <a:p>
            <a:pPr>
              <a:lnSpc>
                <a:spcPct val="120000"/>
              </a:lnSpc>
            </a:pPr>
            <a:r>
              <a:rPr lang="zh-CN" altLang="en-US" sz="2000" dirty="0"/>
              <a:t>算法</a:t>
            </a:r>
            <a:r>
              <a:rPr lang="en-US" altLang="zh-CN" sz="2000" dirty="0"/>
              <a:t>6.3  </a:t>
            </a:r>
            <a:r>
              <a:rPr lang="zh-CN" altLang="en-US" sz="2000" dirty="0"/>
              <a:t>设有关系模式</a:t>
            </a:r>
            <a:r>
              <a:rPr lang="en-US" altLang="zh-CN" sz="2000" dirty="0"/>
              <a:t>R(U,F)</a:t>
            </a:r>
            <a:r>
              <a:rPr lang="zh-CN" altLang="en-US" sz="2000" dirty="0"/>
              <a:t>，</a:t>
            </a:r>
            <a:r>
              <a:rPr lang="en-US" altLang="zh-CN" sz="2000" dirty="0"/>
              <a:t>U</a:t>
            </a:r>
            <a:r>
              <a:rPr lang="zh-CN" altLang="en-US" sz="2000" dirty="0"/>
              <a:t>是属性全集，</a:t>
            </a:r>
            <a:r>
              <a:rPr lang="en-US" altLang="zh-CN" sz="2000" dirty="0"/>
              <a:t>F</a:t>
            </a:r>
            <a:r>
              <a:rPr lang="zh-CN" altLang="en-US" sz="2000" dirty="0"/>
              <a:t>是</a:t>
            </a:r>
            <a:r>
              <a:rPr lang="en-US" altLang="zh-CN" sz="2000" dirty="0"/>
              <a:t>R</a:t>
            </a:r>
            <a:r>
              <a:rPr lang="zh-CN" altLang="en-US" sz="2000" dirty="0"/>
              <a:t>上的一个函数依赖集，计算</a:t>
            </a:r>
            <a:r>
              <a:rPr lang="en-US" altLang="zh-CN" sz="2000" dirty="0"/>
              <a:t>F</a:t>
            </a:r>
            <a:r>
              <a:rPr lang="zh-CN" altLang="en-US" sz="2000" dirty="0"/>
              <a:t>的最小函数依赖集</a:t>
            </a:r>
            <a:r>
              <a:rPr lang="en-US" altLang="zh-CN" sz="2000" dirty="0" err="1"/>
              <a:t>Fmin</a:t>
            </a:r>
            <a:endParaRPr lang="en-US" altLang="zh-CN" sz="2000" dirty="0"/>
          </a:p>
          <a:p>
            <a:pPr>
              <a:lnSpc>
                <a:spcPct val="120000"/>
              </a:lnSpc>
            </a:pPr>
            <a:r>
              <a:rPr lang="zh-CN" altLang="en-US" sz="2000" dirty="0"/>
              <a:t>输入：关系模式</a:t>
            </a:r>
            <a:r>
              <a:rPr lang="en-US" altLang="zh-CN" sz="2000" dirty="0"/>
              <a:t>R</a:t>
            </a:r>
            <a:r>
              <a:rPr lang="zh-CN" altLang="en-US" sz="2000" dirty="0"/>
              <a:t>，属性集</a:t>
            </a:r>
            <a:r>
              <a:rPr lang="en-US" altLang="zh-CN" sz="2000" dirty="0"/>
              <a:t>U</a:t>
            </a:r>
            <a:r>
              <a:rPr lang="zh-CN" altLang="en-US" sz="2000" dirty="0"/>
              <a:t>及其函数依赖集</a:t>
            </a:r>
            <a:r>
              <a:rPr lang="en-US" altLang="zh-CN" sz="2000" dirty="0"/>
              <a:t>F</a:t>
            </a:r>
            <a:r>
              <a:rPr lang="zh-CN" altLang="en-US" sz="2000" dirty="0"/>
              <a:t>。</a:t>
            </a:r>
          </a:p>
          <a:p>
            <a:pPr>
              <a:lnSpc>
                <a:spcPct val="120000"/>
              </a:lnSpc>
            </a:pPr>
            <a:r>
              <a:rPr lang="zh-CN" altLang="en-US" sz="2000" dirty="0"/>
              <a:t>输出：</a:t>
            </a:r>
            <a:r>
              <a:rPr lang="en-US" altLang="zh-CN" sz="2000" dirty="0"/>
              <a:t>F</a:t>
            </a:r>
            <a:r>
              <a:rPr lang="zh-CN" altLang="en-US" sz="2000" dirty="0"/>
              <a:t>的一个等价的最小函数依赖集</a:t>
            </a:r>
            <a:r>
              <a:rPr lang="en-US" altLang="zh-CN" sz="2000" dirty="0" err="1"/>
              <a:t>Fmin</a:t>
            </a:r>
            <a:endParaRPr lang="en-US" altLang="zh-CN" sz="2000" dirty="0"/>
          </a:p>
          <a:p>
            <a:pPr>
              <a:lnSpc>
                <a:spcPct val="120000"/>
              </a:lnSpc>
            </a:pPr>
            <a:r>
              <a:rPr lang="zh-CN" altLang="en-US" sz="2000" dirty="0"/>
              <a:t>步骤：</a:t>
            </a:r>
          </a:p>
          <a:p>
            <a:pPr>
              <a:lnSpc>
                <a:spcPct val="120000"/>
              </a:lnSpc>
            </a:pPr>
            <a:r>
              <a:rPr lang="en-US" altLang="zh-CN" sz="2000" dirty="0"/>
              <a:t>(1) </a:t>
            </a:r>
            <a:r>
              <a:rPr lang="zh-CN" altLang="en-US" sz="2000" dirty="0"/>
              <a:t>利用分解律使</a:t>
            </a:r>
            <a:r>
              <a:rPr lang="en-US" altLang="zh-CN" sz="2000" dirty="0"/>
              <a:t>F</a:t>
            </a:r>
            <a:r>
              <a:rPr lang="zh-CN" altLang="en-US" sz="2000" dirty="0"/>
              <a:t>中的每一个函数依赖的依赖因素只有一个属性。</a:t>
            </a:r>
          </a:p>
          <a:p>
            <a:pPr>
              <a:lnSpc>
                <a:spcPct val="120000"/>
              </a:lnSpc>
            </a:pPr>
            <a:r>
              <a:rPr lang="en-US" altLang="zh-CN" sz="2000" dirty="0"/>
              <a:t>(2) </a:t>
            </a:r>
            <a:r>
              <a:rPr lang="zh-CN" altLang="en-US" sz="2000" dirty="0"/>
              <a:t>去掉多余的函数依赖。逐一地检查</a:t>
            </a:r>
            <a:r>
              <a:rPr lang="en-US" altLang="zh-CN" sz="2000" dirty="0"/>
              <a:t>F</a:t>
            </a:r>
            <a:r>
              <a:rPr lang="zh-CN" altLang="en-US" sz="2000" dirty="0"/>
              <a:t>中的每一个函数依赖</a:t>
            </a:r>
            <a:r>
              <a:rPr lang="en-US" altLang="zh-CN" sz="2000" dirty="0"/>
              <a:t>X→A</a:t>
            </a:r>
            <a:r>
              <a:rPr lang="zh-CN" altLang="en-US" sz="2000" dirty="0"/>
              <a:t>，令</a:t>
            </a:r>
            <a:r>
              <a:rPr lang="en-US" altLang="zh-CN" sz="2000" dirty="0"/>
              <a:t>G=F-{X→A}</a:t>
            </a:r>
            <a:r>
              <a:rPr lang="zh-CN" altLang="en-US" sz="2000" dirty="0"/>
              <a:t>，然后求</a:t>
            </a:r>
            <a:r>
              <a:rPr lang="en-US" altLang="zh-CN" sz="2000" dirty="0"/>
              <a:t>X</a:t>
            </a:r>
            <a:r>
              <a:rPr lang="zh-CN" altLang="en-US" sz="2000" dirty="0"/>
              <a:t>＋ </a:t>
            </a:r>
            <a:r>
              <a:rPr lang="en-US" altLang="zh-CN" sz="2000" dirty="0"/>
              <a:t>G</a:t>
            </a:r>
            <a:r>
              <a:rPr lang="zh-CN" altLang="en-US" sz="2000" dirty="0"/>
              <a:t>，若</a:t>
            </a:r>
            <a:r>
              <a:rPr lang="en-US" altLang="zh-CN" sz="2000" dirty="0"/>
              <a:t>A X</a:t>
            </a:r>
            <a:r>
              <a:rPr lang="zh-CN" altLang="en-US" sz="2000" dirty="0"/>
              <a:t>＋ </a:t>
            </a:r>
            <a:r>
              <a:rPr lang="en-US" altLang="zh-CN" sz="2000" dirty="0"/>
              <a:t>G</a:t>
            </a:r>
            <a:r>
              <a:rPr lang="zh-CN" altLang="en-US" sz="2000" dirty="0"/>
              <a:t>，则说明</a:t>
            </a:r>
            <a:r>
              <a:rPr lang="en-US" altLang="zh-CN" sz="2000" dirty="0"/>
              <a:t>X→A</a:t>
            </a:r>
            <a:r>
              <a:rPr lang="zh-CN" altLang="en-US" sz="2000" dirty="0"/>
              <a:t>冗余，从</a:t>
            </a:r>
            <a:r>
              <a:rPr lang="en-US" altLang="zh-CN" sz="2000" dirty="0"/>
              <a:t>F</a:t>
            </a:r>
            <a:r>
              <a:rPr lang="zh-CN" altLang="en-US" sz="2000" dirty="0"/>
              <a:t>中去掉</a:t>
            </a:r>
            <a:r>
              <a:rPr lang="en-US" altLang="zh-CN" sz="2000" dirty="0"/>
              <a:t>X→A</a:t>
            </a:r>
            <a:r>
              <a:rPr lang="zh-CN" altLang="en-US" sz="2000" dirty="0"/>
              <a:t>，即</a:t>
            </a:r>
            <a:r>
              <a:rPr lang="en-US" altLang="zh-CN" sz="2000" dirty="0"/>
              <a:t>F=F-{X→A}</a:t>
            </a:r>
            <a:r>
              <a:rPr lang="zh-CN" altLang="en-US" sz="2000" dirty="0"/>
              <a:t>。</a:t>
            </a:r>
          </a:p>
          <a:p>
            <a:pPr>
              <a:lnSpc>
                <a:spcPct val="120000"/>
              </a:lnSpc>
            </a:pPr>
            <a:r>
              <a:rPr lang="en-US" altLang="zh-CN" sz="2000" dirty="0"/>
              <a:t>(3) </a:t>
            </a:r>
            <a:r>
              <a:rPr lang="zh-CN" altLang="en-US" sz="2000" dirty="0"/>
              <a:t>逐一地检查左部非单个属性的函数依赖，例如</a:t>
            </a:r>
            <a:r>
              <a:rPr lang="en-US" altLang="zh-CN" sz="2000" dirty="0"/>
              <a:t>XY→A</a:t>
            </a:r>
            <a:r>
              <a:rPr lang="zh-CN" altLang="en-US" sz="2000" dirty="0"/>
              <a:t>，如果要判断</a:t>
            </a:r>
            <a:r>
              <a:rPr lang="en-US" altLang="zh-CN" sz="2000" dirty="0"/>
              <a:t>Y</a:t>
            </a:r>
            <a:r>
              <a:rPr lang="zh-CN" altLang="en-US" sz="2000" dirty="0"/>
              <a:t>是否是冗余属性，则求</a:t>
            </a:r>
            <a:r>
              <a:rPr lang="en-US" altLang="zh-CN" sz="2000" dirty="0"/>
              <a:t>X</a:t>
            </a:r>
            <a:r>
              <a:rPr lang="zh-CN" altLang="en-US" sz="2000" dirty="0"/>
              <a:t>＋ </a:t>
            </a:r>
            <a:r>
              <a:rPr lang="en-US" altLang="zh-CN" sz="2000" dirty="0"/>
              <a:t>F</a:t>
            </a:r>
            <a:r>
              <a:rPr lang="zh-CN" altLang="en-US" sz="2000" dirty="0"/>
              <a:t>，若</a:t>
            </a:r>
            <a:r>
              <a:rPr lang="en-US" altLang="zh-CN" sz="2000" dirty="0"/>
              <a:t>A X</a:t>
            </a:r>
            <a:r>
              <a:rPr lang="zh-CN" altLang="en-US" sz="2000" dirty="0"/>
              <a:t>＋ </a:t>
            </a:r>
            <a:r>
              <a:rPr lang="en-US" altLang="zh-CN" sz="2000" dirty="0"/>
              <a:t>F</a:t>
            </a:r>
            <a:r>
              <a:rPr lang="zh-CN" altLang="en-US" sz="2000" dirty="0"/>
              <a:t>，则说明</a:t>
            </a:r>
            <a:r>
              <a:rPr lang="en-US" altLang="zh-CN" sz="2000" dirty="0"/>
              <a:t>Y</a:t>
            </a:r>
            <a:r>
              <a:rPr lang="zh-CN" altLang="en-US" sz="2000" dirty="0"/>
              <a:t>是多余的，以</a:t>
            </a:r>
            <a:r>
              <a:rPr lang="en-US" altLang="zh-CN" sz="2000" dirty="0"/>
              <a:t>X→A</a:t>
            </a:r>
            <a:r>
              <a:rPr lang="zh-CN" altLang="en-US" sz="2000" dirty="0"/>
              <a:t>代替</a:t>
            </a:r>
            <a:r>
              <a:rPr lang="en-US" altLang="zh-CN" sz="2000" dirty="0"/>
              <a:t>XY→A</a:t>
            </a:r>
            <a:r>
              <a:rPr lang="zh-CN" altLang="en-US" sz="2000" dirty="0"/>
              <a:t>，即</a:t>
            </a:r>
            <a:r>
              <a:rPr lang="en-US" altLang="zh-CN" sz="2000" dirty="0"/>
              <a:t>F=F-{XY→A}∪{X→A}</a:t>
            </a:r>
            <a:r>
              <a:rPr lang="zh-CN" altLang="en-US" sz="2000" dirty="0"/>
              <a:t>；否则</a:t>
            </a:r>
            <a:r>
              <a:rPr lang="en-US" altLang="zh-CN" sz="2000" dirty="0"/>
              <a:t>Y</a:t>
            </a:r>
            <a:r>
              <a:rPr lang="zh-CN" altLang="en-US" sz="2000" dirty="0"/>
              <a:t>不是冗余属性，接下来用相同的方法判断</a:t>
            </a:r>
            <a:r>
              <a:rPr lang="en-US" altLang="zh-CN" sz="2000" dirty="0"/>
              <a:t>X</a:t>
            </a:r>
            <a:r>
              <a:rPr lang="zh-CN" altLang="en-US" sz="2000" dirty="0"/>
              <a:t>是否是冗余属性，直到消除掉各函数依赖决定因素中的冗余属性。</a:t>
            </a:r>
          </a:p>
          <a:p>
            <a:pPr>
              <a:lnSpc>
                <a:spcPct val="120000"/>
              </a:lnSpc>
            </a:pPr>
            <a:r>
              <a:rPr lang="en-US" altLang="zh-CN" sz="2000" dirty="0"/>
              <a:t>(4) </a:t>
            </a:r>
            <a:r>
              <a:rPr lang="zh-CN" altLang="en-US" sz="2000" dirty="0"/>
              <a:t>最终得到的函数依赖集</a:t>
            </a:r>
            <a:r>
              <a:rPr lang="en-US" altLang="zh-CN" sz="2000" dirty="0"/>
              <a:t>F</a:t>
            </a:r>
            <a:r>
              <a:rPr lang="zh-CN" altLang="en-US" sz="2000" dirty="0"/>
              <a:t>即为最小函数依赖集</a:t>
            </a:r>
            <a:r>
              <a:rPr lang="en-US" altLang="zh-CN" sz="2000" dirty="0" err="1"/>
              <a:t>Fmin</a:t>
            </a:r>
            <a:r>
              <a:rPr lang="zh-CN" altLang="en-US" sz="2000" dirty="0"/>
              <a:t>。</a:t>
            </a:r>
          </a:p>
          <a:p>
            <a:pPr>
              <a:lnSpc>
                <a:spcPct val="120000"/>
              </a:lnSpc>
            </a:pPr>
            <a:endParaRPr lang="zh-CN" altLang="en-US" sz="2000" dirty="0"/>
          </a:p>
        </p:txBody>
      </p:sp>
    </p:spTree>
    <p:extLst>
      <p:ext uri="{BB962C8B-B14F-4D97-AF65-F5344CB8AC3E}">
        <p14:creationId xmlns:p14="http://schemas.microsoft.com/office/powerpoint/2010/main" val="3629481114"/>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0442E990-638B-4065-B0B9-6FE8496B1346}"/>
              </a:ext>
            </a:extLst>
          </p:cNvPr>
          <p:cNvSpPr>
            <a:spLocks noGrp="1" noChangeArrowheads="1"/>
          </p:cNvSpPr>
          <p:nvPr>
            <p:ph type="title"/>
          </p:nvPr>
        </p:nvSpPr>
        <p:spPr>
          <a:xfrm>
            <a:off x="839416" y="5928"/>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最小函数依赖集</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5" name="Text Box 4">
            <a:extLst>
              <a:ext uri="{FF2B5EF4-FFF2-40B4-BE49-F238E27FC236}">
                <a16:creationId xmlns:a16="http://schemas.microsoft.com/office/drawing/2014/main" id="{3F3525F9-A61E-4A00-8448-BD9D26B3A32E}"/>
              </a:ext>
            </a:extLst>
          </p:cNvPr>
          <p:cNvSpPr txBox="1">
            <a:spLocks noChangeArrowheads="1"/>
          </p:cNvSpPr>
          <p:nvPr/>
        </p:nvSpPr>
        <p:spPr bwMode="auto">
          <a:xfrm>
            <a:off x="1703512" y="1052736"/>
            <a:ext cx="9469016"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R(U,F)</a:t>
            </a:r>
            <a:r>
              <a:rPr kumimoji="1"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a:t>
            </a:r>
            <a:r>
              <a:rPr kumimoji="1"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U={A,B,C},F={A→BC,B→C}</a:t>
            </a:r>
            <a:r>
              <a:rPr kumimoji="1"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A→BC</a:t>
            </a:r>
            <a:r>
              <a:rPr kumimoji="1"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右端不是单属性，故</a:t>
            </a:r>
            <a:r>
              <a:rPr kumimoji="1"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不是最小函数依赖集。</a:t>
            </a:r>
          </a:p>
        </p:txBody>
      </p:sp>
      <p:sp>
        <p:nvSpPr>
          <p:cNvPr id="6" name="Text Box 5">
            <a:extLst>
              <a:ext uri="{FF2B5EF4-FFF2-40B4-BE49-F238E27FC236}">
                <a16:creationId xmlns:a16="http://schemas.microsoft.com/office/drawing/2014/main" id="{C54921A6-043B-4737-87E7-DAC909E737B6}"/>
              </a:ext>
            </a:extLst>
          </p:cNvPr>
          <p:cNvSpPr txBox="1">
            <a:spLocks noChangeArrowheads="1"/>
          </p:cNvSpPr>
          <p:nvPr/>
        </p:nvSpPr>
        <p:spPr bwMode="auto">
          <a:xfrm>
            <a:off x="1739481" y="2852068"/>
            <a:ext cx="9469016"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R(U,F)</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a:t>
            </a: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U={A,B,C},F={A→B,B→C,A→C}</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A→C</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可由</a:t>
            </a: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A→B</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和</a:t>
            </a: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B→C</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推出</a:t>
            </a:r>
            <a:r>
              <a:rPr kumimoji="1" lang="zh-CN" altLang="en-US" sz="3200" b="0" i="0" u="none" strike="noStrike" kern="1200" cap="none" spc="0" normalizeH="0" baseline="0" noProof="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是冗余函数依赖，故</a:t>
            </a: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不是其最小函数依赖集。</a:t>
            </a:r>
          </a:p>
        </p:txBody>
      </p:sp>
      <p:sp>
        <p:nvSpPr>
          <p:cNvPr id="8" name="Text Box 6">
            <a:extLst>
              <a:ext uri="{FF2B5EF4-FFF2-40B4-BE49-F238E27FC236}">
                <a16:creationId xmlns:a16="http://schemas.microsoft.com/office/drawing/2014/main" id="{929CE0C8-A647-402B-ACDC-58421CE7C007}"/>
              </a:ext>
            </a:extLst>
          </p:cNvPr>
          <p:cNvSpPr txBox="1">
            <a:spLocks noChangeArrowheads="1"/>
          </p:cNvSpPr>
          <p:nvPr/>
        </p:nvSpPr>
        <p:spPr bwMode="auto">
          <a:xfrm>
            <a:off x="1739481" y="5233764"/>
            <a:ext cx="9469016"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R(U,F)</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a:t>
            </a: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U={A,B,C},F={AB→C,B→A}</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AB→C</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中的</a:t>
            </a: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是冗余属性</a:t>
            </a:r>
            <a:r>
              <a:rPr kumimoji="1" lang="zh-CN" altLang="en-US" sz="3200" b="0" i="0" u="none" strike="noStrike" kern="1200" cap="none" spc="0" normalizeH="0" baseline="0" noProof="0">
                <a:ln>
                  <a:noFill/>
                </a:ln>
                <a:solidFill>
                  <a:srgbClr val="99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故</a:t>
            </a:r>
            <a:r>
              <a:rPr kumimoji="1" lang="en-US" altLang="zh-CN"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1" lang="zh-CN" altLang="en-US" sz="3200" b="0" i="0" u="none" strike="noStrike" kern="1200" cap="none" spc="0" normalizeH="0" baseline="0" noProof="0">
                <a:ln>
                  <a:noFill/>
                </a:ln>
                <a:solidFill>
                  <a:srgbClr val="CCFF33"/>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不是最小函数依赖集。</a:t>
            </a:r>
          </a:p>
        </p:txBody>
      </p:sp>
      <p:sp>
        <p:nvSpPr>
          <p:cNvPr id="9" name="六边形 8">
            <a:extLst>
              <a:ext uri="{FF2B5EF4-FFF2-40B4-BE49-F238E27FC236}">
                <a16:creationId xmlns:a16="http://schemas.microsoft.com/office/drawing/2014/main" id="{2157E94C-0F11-4137-8172-42F07BD63A4F}"/>
              </a:ext>
            </a:extLst>
          </p:cNvPr>
          <p:cNvSpPr/>
          <p:nvPr/>
        </p:nvSpPr>
        <p:spPr>
          <a:xfrm>
            <a:off x="551384" y="1161584"/>
            <a:ext cx="844440" cy="781288"/>
          </a:xfrm>
          <a:prstGeom prst="hexagon">
            <a:avLst/>
          </a:prstGeom>
          <a:solidFill>
            <a:srgbClr val="00B050"/>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2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mn-ea"/>
                <a:cs typeface="+mn-cs"/>
              </a:rPr>
              <a:t>例</a:t>
            </a:r>
          </a:p>
        </p:txBody>
      </p:sp>
    </p:spTree>
    <p:extLst>
      <p:ext uri="{BB962C8B-B14F-4D97-AF65-F5344CB8AC3E}">
        <p14:creationId xmlns:p14="http://schemas.microsoft.com/office/powerpoint/2010/main" val="3556751013"/>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250">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0442E990-638B-4065-B0B9-6FE8496B1346}"/>
              </a:ext>
            </a:extLst>
          </p:cNvPr>
          <p:cNvSpPr>
            <a:spLocks noGrp="1" noChangeArrowheads="1"/>
          </p:cNvSpPr>
          <p:nvPr>
            <p:ph type="title"/>
          </p:nvPr>
        </p:nvSpPr>
        <p:spPr>
          <a:xfrm>
            <a:off x="839416" y="5928"/>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最小函数依赖集</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5" name="Text Box 4">
            <a:extLst>
              <a:ext uri="{FF2B5EF4-FFF2-40B4-BE49-F238E27FC236}">
                <a16:creationId xmlns:a16="http://schemas.microsoft.com/office/drawing/2014/main" id="{576EC8D6-D1DB-4A6A-8C66-7E34521654A7}"/>
              </a:ext>
            </a:extLst>
          </p:cNvPr>
          <p:cNvSpPr txBox="1">
            <a:spLocks noChangeArrowheads="1"/>
          </p:cNvSpPr>
          <p:nvPr/>
        </p:nvSpPr>
        <p:spPr bwMode="auto">
          <a:xfrm>
            <a:off x="1487488" y="829255"/>
            <a:ext cx="10417175"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en-US" altLang="en-US" sz="3200" b="0" i="0" u="none" strike="noStrike" kern="1200" cap="none" spc="0" normalizeH="0" baseline="0" noProof="0" dirty="0" err="1">
                <a:ln>
                  <a:noFill/>
                </a:ln>
                <a:solidFill>
                  <a:srgbClr val="CCFF33"/>
                </a:solidFill>
                <a:effectLst>
                  <a:outerShdw blurRad="38100" dist="38100" dir="2700000" algn="tl">
                    <a:srgbClr val="000000"/>
                  </a:outerShdw>
                </a:effectLst>
                <a:uLnTx/>
                <a:uFillTx/>
                <a:ea typeface="楷体_GB2312" pitchFamily="49" charset="-122"/>
                <a:cs typeface="+mn-cs"/>
              </a:rPr>
              <a:t>已知关系模式R中</a:t>
            </a:r>
            <a:r>
              <a:rPr kumimoji="1" lang="en-US" altLang="zh-CN" sz="3200" b="0" i="0" u="none" strike="noStrike" kern="1200" cap="none" spc="0" normalizeH="0" baseline="0" noProof="0" dirty="0" err="1">
                <a:ln>
                  <a:noFill/>
                </a:ln>
                <a:solidFill>
                  <a:srgbClr val="CCFF33"/>
                </a:solidFill>
                <a:effectLst>
                  <a:outerShdw blurRad="38100" dist="38100" dir="2700000" algn="tl">
                    <a:srgbClr val="000000"/>
                  </a:outerShdw>
                </a:effectLst>
                <a:uLnTx/>
                <a:uFillTx/>
                <a:ea typeface="楷体_GB2312" pitchFamily="49" charset="-122"/>
                <a:cs typeface="+mn-cs"/>
              </a:rPr>
              <a:t>，U</a:t>
            </a:r>
            <a:r>
              <a:rPr kumimoji="1" lang="en-US"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={A,B,C,D,E,G},F={AB→C,C→A, BC→D, ACD→B, D→EG, BE→C, CG→BD, CE→AG},</a:t>
            </a:r>
            <a:br>
              <a:rPr kumimoji="1" lang="en-US"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br>
            <a:r>
              <a:rPr kumimoji="1" lang="en-US" altLang="en-US" sz="3200" b="0" i="0" u="none" strike="noStrike" kern="1200" cap="none" spc="0" normalizeH="0" baseline="0" noProof="0" dirty="0" err="1">
                <a:ln>
                  <a:noFill/>
                </a:ln>
                <a:solidFill>
                  <a:srgbClr val="CCFF33"/>
                </a:solidFill>
                <a:effectLst>
                  <a:outerShdw blurRad="38100" dist="38100" dir="2700000" algn="tl">
                    <a:srgbClr val="000000"/>
                  </a:outerShdw>
                </a:effectLst>
                <a:uLnTx/>
                <a:uFillTx/>
                <a:ea typeface="楷体_GB2312" pitchFamily="49" charset="-122"/>
                <a:cs typeface="+mn-cs"/>
              </a:rPr>
              <a:t>求F的最小函数依赖集</a:t>
            </a:r>
            <a:r>
              <a:rPr kumimoji="1"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a:t>
            </a:r>
            <a:endParaRPr kumimoji="1"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endParaRPr>
          </a:p>
        </p:txBody>
      </p:sp>
      <p:sp>
        <p:nvSpPr>
          <p:cNvPr id="6" name="Text Box 5">
            <a:extLst>
              <a:ext uri="{FF2B5EF4-FFF2-40B4-BE49-F238E27FC236}">
                <a16:creationId xmlns:a16="http://schemas.microsoft.com/office/drawing/2014/main" id="{7A25FFC0-E561-4024-A574-DF12B588BF9A}"/>
              </a:ext>
            </a:extLst>
          </p:cNvPr>
          <p:cNvSpPr txBox="1">
            <a:spLocks noChangeArrowheads="1"/>
          </p:cNvSpPr>
          <p:nvPr/>
        </p:nvSpPr>
        <p:spPr bwMode="auto">
          <a:xfrm>
            <a:off x="1127448" y="2636912"/>
            <a:ext cx="10417175" cy="11430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627063" algn="l"/>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1) </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将所有函数依赖右端分解成单属性。</a:t>
            </a:r>
          </a:p>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627063" algn="l"/>
              </a:tabLst>
              <a:defRPr/>
            </a:pPr>
            <a:r>
              <a:rPr kumimoji="1" lang="zh-CN" altLang="en-US"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 </a:t>
            </a:r>
            <a:r>
              <a:rPr kumimoji="1" lang="en-US" altLang="zh-CN"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F={AB→C, C→A, BC→D, ACD→B, D→E, D→G,BE→C,CG→B,</a:t>
            </a:r>
            <a:r>
              <a:rPr kumimoji="1" lang="zh-CN" altLang="en-US"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　　　　	</a:t>
            </a:r>
            <a:r>
              <a:rPr kumimoji="1" lang="en-US" altLang="zh-CN"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CG→D, CE→A</a:t>
            </a:r>
            <a:r>
              <a:rPr kumimoji="1" lang="zh-CN" altLang="en-US"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a:t>
            </a:r>
            <a:r>
              <a:rPr kumimoji="1" lang="en-US" altLang="zh-CN"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CE→G}</a:t>
            </a:r>
          </a:p>
          <a:p>
            <a:pPr marL="0" marR="0" lvl="0" indent="0" algn="l" defTabSz="914400" rtl="0" eaLnBrk="1" fontAlgn="base" latinLnBrk="0" hangingPunct="1">
              <a:lnSpc>
                <a:spcPct val="100000"/>
              </a:lnSpc>
              <a:spcBef>
                <a:spcPts val="1200"/>
              </a:spcBef>
              <a:spcAft>
                <a:spcPts val="30"/>
              </a:spcAft>
              <a:buClrTx/>
              <a:buSzPct val="80000"/>
              <a:buFont typeface="Wingdings" pitchFamily="2" charset="2"/>
              <a:buNone/>
              <a:tabLst>
                <a:tab pos="627063" algn="l"/>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2) </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消去冗余函数依赖。</a:t>
            </a:r>
          </a:p>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627063" algn="l"/>
              </a:tabLst>
              <a:defRPr/>
            </a:pPr>
            <a:r>
              <a:rPr kumimoji="1" lang="en-US" altLang="zh-CN"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 F={AB→C, C→A, BC→D, D→E, D→G, BE→C, CG→B, CE→G}</a:t>
            </a:r>
          </a:p>
          <a:p>
            <a:pPr marL="0" marR="0" lvl="0" indent="0" algn="l" defTabSz="914400" rtl="0" eaLnBrk="1" fontAlgn="base" latinLnBrk="0" hangingPunct="1">
              <a:lnSpc>
                <a:spcPct val="100000"/>
              </a:lnSpc>
              <a:spcBef>
                <a:spcPts val="1800"/>
              </a:spcBef>
              <a:spcAft>
                <a:spcPct val="25000"/>
              </a:spcAft>
              <a:buClrTx/>
              <a:buSzPct val="80000"/>
              <a:buFont typeface="Wingdings" pitchFamily="2" charset="2"/>
              <a:buNone/>
              <a:tabLst>
                <a:tab pos="627063" algn="l"/>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3) </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消去冗余属性。</a:t>
            </a:r>
          </a:p>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627063" algn="l"/>
              </a:tabLst>
              <a:defRPr/>
            </a:pPr>
            <a:r>
              <a:rPr kumimoji="1" lang="en-US" altLang="zh-CN"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 F={AB→C, C→A, BC→D, D→E, D→G, BE→C, CG→B, CE→G}</a:t>
            </a:r>
            <a:endParaRPr kumimoji="1" lang="zh-CN" altLang="en-US" sz="28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endParaRPr>
          </a:p>
        </p:txBody>
      </p:sp>
      <p:sp>
        <p:nvSpPr>
          <p:cNvPr id="8" name="六边形 7">
            <a:extLst>
              <a:ext uri="{FF2B5EF4-FFF2-40B4-BE49-F238E27FC236}">
                <a16:creationId xmlns:a16="http://schemas.microsoft.com/office/drawing/2014/main" id="{32DF9281-4A90-4266-AF1E-F5F38AD8F49D}"/>
              </a:ext>
            </a:extLst>
          </p:cNvPr>
          <p:cNvSpPr/>
          <p:nvPr/>
        </p:nvSpPr>
        <p:spPr>
          <a:xfrm>
            <a:off x="551384" y="1161584"/>
            <a:ext cx="844440" cy="781288"/>
          </a:xfrm>
          <a:prstGeom prst="hexagon">
            <a:avLst/>
          </a:prstGeom>
          <a:solidFill>
            <a:schemeClr val="accent6">
              <a:lumMod val="50000"/>
            </a:schemeClr>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wrap="square">
            <a:spAutoFit/>
          </a:bodyPr>
          <a:lstStyle/>
          <a:p>
            <a:pPr fontAlgn="base">
              <a:spcBef>
                <a:spcPct val="0"/>
              </a:spcBef>
              <a:spcAft>
                <a:spcPct val="25000"/>
              </a:spcAft>
              <a:buSzPct val="80000"/>
            </a:pPr>
            <a:r>
              <a:rPr kumimoji="1" lang="zh-CN" altLang="en-US" sz="2800" b="1" dirty="0">
                <a:solidFill>
                  <a:srgbClr val="FFFFFF"/>
                </a:solidFill>
                <a:effectLst>
                  <a:outerShdw blurRad="38100" dist="38100" dir="2700000" algn="tl">
                    <a:srgbClr val="000000">
                      <a:alpha val="43137"/>
                    </a:srgbClr>
                  </a:outerShdw>
                </a:effectLst>
                <a:latin typeface="+mn-ea"/>
              </a:rPr>
              <a:t>例</a:t>
            </a:r>
          </a:p>
        </p:txBody>
      </p:sp>
    </p:spTree>
    <p:extLst>
      <p:ext uri="{BB962C8B-B14F-4D97-AF65-F5344CB8AC3E}">
        <p14:creationId xmlns:p14="http://schemas.microsoft.com/office/powerpoint/2010/main" val="2439761269"/>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250">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up)">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up)">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up)">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type="body" idx="4294967295"/>
          </p:nvPr>
        </p:nvSpPr>
        <p:spPr>
          <a:xfrm>
            <a:off x="263352" y="764704"/>
            <a:ext cx="11784387" cy="4968552"/>
          </a:xfrm>
          <a:solidFill>
            <a:schemeClr val="bg1"/>
          </a:solidFill>
        </p:spPr>
        <p:txBody>
          <a:bodyPr>
            <a:normAutofit lnSpcReduction="10000"/>
          </a:bodyPr>
          <a:lstStyle/>
          <a:p>
            <a:pPr>
              <a:lnSpc>
                <a:spcPct val="90000"/>
              </a:lnSpc>
            </a:pPr>
            <a:r>
              <a:rPr lang="en-US" altLang="zh-CN" sz="2800" dirty="0">
                <a:solidFill>
                  <a:schemeClr val="tx1"/>
                </a:solidFill>
                <a:latin typeface="Tahoma" pitchFamily="34" charset="0"/>
                <a:ea typeface="宋体" pitchFamily="2" charset="-122"/>
              </a:rPr>
              <a:t>【</a:t>
            </a:r>
            <a:r>
              <a:rPr lang="zh-CN" altLang="en-US" sz="2800" dirty="0">
                <a:solidFill>
                  <a:schemeClr val="tx1"/>
                </a:solidFill>
                <a:latin typeface="Tahoma" pitchFamily="34" charset="0"/>
                <a:ea typeface="宋体" pitchFamily="2" charset="-122"/>
              </a:rPr>
              <a:t>例</a:t>
            </a:r>
            <a:r>
              <a:rPr lang="en-US" altLang="zh-CN" sz="2800" dirty="0">
                <a:solidFill>
                  <a:schemeClr val="tx1"/>
                </a:solidFill>
                <a:latin typeface="Tahoma" pitchFamily="34" charset="0"/>
                <a:ea typeface="宋体" pitchFamily="2" charset="-122"/>
              </a:rPr>
              <a:t>6.12】 </a:t>
            </a:r>
            <a:r>
              <a:rPr lang="zh-CN" altLang="en-US" sz="2800" dirty="0">
                <a:solidFill>
                  <a:schemeClr val="tx1"/>
                </a:solidFill>
                <a:latin typeface="Tahoma" pitchFamily="34" charset="0"/>
                <a:ea typeface="宋体" pitchFamily="2" charset="-122"/>
              </a:rPr>
              <a:t>设有关系模式</a:t>
            </a:r>
            <a:r>
              <a:rPr lang="en-US" altLang="zh-CN" sz="2800" dirty="0">
                <a:solidFill>
                  <a:schemeClr val="tx1"/>
                </a:solidFill>
                <a:latin typeface="Tahoma" pitchFamily="34" charset="0"/>
                <a:ea typeface="宋体" pitchFamily="2" charset="-122"/>
              </a:rPr>
              <a:t>R(U</a:t>
            </a:r>
            <a:r>
              <a:rPr lang="zh-CN" altLang="en-US" sz="2800" dirty="0">
                <a:solidFill>
                  <a:schemeClr val="tx1"/>
                </a:solidFill>
                <a:latin typeface="Tahoma" pitchFamily="34" charset="0"/>
                <a:ea typeface="宋体" pitchFamily="2" charset="-122"/>
              </a:rPr>
              <a:t>，</a:t>
            </a:r>
            <a:r>
              <a:rPr lang="en-US" altLang="zh-CN" sz="2800" dirty="0">
                <a:solidFill>
                  <a:schemeClr val="tx1"/>
                </a:solidFill>
                <a:latin typeface="Tahoma" pitchFamily="34" charset="0"/>
                <a:ea typeface="宋体" pitchFamily="2" charset="-122"/>
              </a:rPr>
              <a:t>F)</a:t>
            </a:r>
            <a:r>
              <a:rPr lang="zh-CN" altLang="en-US" sz="2800" dirty="0">
                <a:solidFill>
                  <a:schemeClr val="tx1"/>
                </a:solidFill>
                <a:latin typeface="Tahoma" pitchFamily="34" charset="0"/>
                <a:ea typeface="宋体" pitchFamily="2" charset="-122"/>
              </a:rPr>
              <a:t>，其中</a:t>
            </a:r>
            <a:r>
              <a:rPr lang="en-US" altLang="zh-CN" sz="2800" dirty="0">
                <a:solidFill>
                  <a:schemeClr val="tx1"/>
                </a:solidFill>
                <a:latin typeface="Tahoma" pitchFamily="34" charset="0"/>
                <a:ea typeface="宋体" pitchFamily="2" charset="-122"/>
              </a:rPr>
              <a:t>U={A,B,C}</a:t>
            </a:r>
            <a:r>
              <a:rPr lang="zh-CN" altLang="en-US" sz="2800" dirty="0">
                <a:solidFill>
                  <a:schemeClr val="tx1"/>
                </a:solidFill>
                <a:latin typeface="Tahoma" pitchFamily="34" charset="0"/>
                <a:ea typeface="宋体" pitchFamily="2" charset="-122"/>
              </a:rPr>
              <a:t>，</a:t>
            </a:r>
            <a:r>
              <a:rPr lang="en-US" altLang="zh-CN" sz="2800" dirty="0">
                <a:solidFill>
                  <a:schemeClr val="tx1"/>
                </a:solidFill>
                <a:latin typeface="Tahoma" pitchFamily="34" charset="0"/>
                <a:ea typeface="宋体" pitchFamily="2" charset="-122"/>
              </a:rPr>
              <a:t>F={A→BC</a:t>
            </a:r>
            <a:r>
              <a:rPr lang="zh-CN" altLang="en-US" sz="2800" dirty="0">
                <a:solidFill>
                  <a:schemeClr val="tx1"/>
                </a:solidFill>
                <a:latin typeface="Tahoma" pitchFamily="34" charset="0"/>
                <a:ea typeface="宋体" pitchFamily="2" charset="-122"/>
              </a:rPr>
              <a:t>，</a:t>
            </a:r>
            <a:r>
              <a:rPr lang="en-US" altLang="zh-CN" sz="2800" dirty="0">
                <a:solidFill>
                  <a:schemeClr val="tx1"/>
                </a:solidFill>
                <a:latin typeface="Tahoma" pitchFamily="34" charset="0"/>
                <a:ea typeface="宋体" pitchFamily="2" charset="-122"/>
              </a:rPr>
              <a:t>B→C</a:t>
            </a:r>
            <a:r>
              <a:rPr lang="zh-CN" altLang="en-US" sz="2800" dirty="0">
                <a:solidFill>
                  <a:schemeClr val="tx1"/>
                </a:solidFill>
                <a:latin typeface="Tahoma" pitchFamily="34" charset="0"/>
                <a:ea typeface="宋体" pitchFamily="2" charset="-122"/>
              </a:rPr>
              <a:t>，</a:t>
            </a:r>
            <a:r>
              <a:rPr lang="en-US" altLang="zh-CN" sz="2800" dirty="0">
                <a:solidFill>
                  <a:schemeClr val="tx1"/>
                </a:solidFill>
                <a:latin typeface="Tahoma" pitchFamily="34" charset="0"/>
                <a:ea typeface="宋体" pitchFamily="2" charset="-122"/>
              </a:rPr>
              <a:t>AB→C}</a:t>
            </a:r>
            <a:r>
              <a:rPr lang="zh-CN" altLang="en-US" sz="2800" dirty="0">
                <a:solidFill>
                  <a:schemeClr val="tx1"/>
                </a:solidFill>
                <a:latin typeface="Tahoma" pitchFamily="34" charset="0"/>
                <a:ea typeface="宋体" pitchFamily="2" charset="-122"/>
              </a:rPr>
              <a:t>，求</a:t>
            </a:r>
            <a:r>
              <a:rPr lang="en-US" altLang="zh-CN" sz="2800" dirty="0">
                <a:solidFill>
                  <a:schemeClr val="tx1"/>
                </a:solidFill>
                <a:latin typeface="Tahoma" pitchFamily="34" charset="0"/>
                <a:ea typeface="宋体" pitchFamily="2" charset="-122"/>
              </a:rPr>
              <a:t>F</a:t>
            </a:r>
            <a:r>
              <a:rPr lang="zh-CN" altLang="en-US" sz="2800" dirty="0">
                <a:solidFill>
                  <a:schemeClr val="tx1"/>
                </a:solidFill>
                <a:latin typeface="Tahoma" pitchFamily="34" charset="0"/>
                <a:ea typeface="宋体" pitchFamily="2" charset="-122"/>
              </a:rPr>
              <a:t>的最小函数依赖集</a:t>
            </a:r>
            <a:r>
              <a:rPr lang="en-US" altLang="zh-CN" sz="2800" dirty="0" err="1">
                <a:solidFill>
                  <a:schemeClr val="tx1"/>
                </a:solidFill>
                <a:latin typeface="Tahoma" pitchFamily="34" charset="0"/>
                <a:ea typeface="宋体" pitchFamily="2" charset="-122"/>
              </a:rPr>
              <a:t>F</a:t>
            </a:r>
            <a:r>
              <a:rPr lang="en-US" altLang="zh-CN" sz="2800" baseline="-25000" dirty="0" err="1">
                <a:solidFill>
                  <a:schemeClr val="tx1"/>
                </a:solidFill>
                <a:latin typeface="Tahoma" pitchFamily="34" charset="0"/>
                <a:ea typeface="宋体" pitchFamily="2" charset="-122"/>
              </a:rPr>
              <a:t>min</a:t>
            </a:r>
            <a:endParaRPr lang="zh-CN" altLang="en-US" sz="2800" dirty="0">
              <a:solidFill>
                <a:schemeClr val="tx1"/>
              </a:solidFill>
              <a:latin typeface="Tahoma" pitchFamily="34" charset="0"/>
              <a:ea typeface="宋体" pitchFamily="2" charset="-122"/>
            </a:endParaRPr>
          </a:p>
          <a:p>
            <a:pPr lvl="1">
              <a:lnSpc>
                <a:spcPct val="90000"/>
              </a:lnSpc>
              <a:buFontTx/>
              <a:buNone/>
            </a:pPr>
            <a:r>
              <a:rPr lang="zh-CN" altLang="en-US" sz="2400" dirty="0">
                <a:solidFill>
                  <a:schemeClr val="tx1"/>
                </a:solidFill>
                <a:latin typeface="Tahoma" pitchFamily="34" charset="0"/>
                <a:ea typeface="宋体" pitchFamily="2" charset="-122"/>
              </a:rPr>
              <a:t>解：</a:t>
            </a:r>
            <a:r>
              <a:rPr lang="en-US" altLang="zh-CN" sz="2400" dirty="0">
                <a:solidFill>
                  <a:schemeClr val="tx1"/>
                </a:solidFill>
                <a:latin typeface="Tahoma" pitchFamily="34" charset="0"/>
                <a:ea typeface="宋体" pitchFamily="2" charset="-122"/>
              </a:rPr>
              <a:t>(1) F</a:t>
            </a:r>
            <a:r>
              <a:rPr lang="zh-CN" altLang="en-US" sz="2400" dirty="0">
                <a:solidFill>
                  <a:schemeClr val="tx1"/>
                </a:solidFill>
                <a:latin typeface="Tahoma" pitchFamily="34" charset="0"/>
                <a:ea typeface="宋体" pitchFamily="2" charset="-122"/>
              </a:rPr>
              <a:t>中依赖因素为多属性的函数依赖只有</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，将其分解成</a:t>
            </a:r>
            <a:r>
              <a:rPr lang="en-US" altLang="zh-CN" sz="2400" dirty="0">
                <a:solidFill>
                  <a:schemeClr val="tx1"/>
                </a:solidFill>
                <a:latin typeface="Tahoma" pitchFamily="34" charset="0"/>
                <a:ea typeface="宋体" pitchFamily="2" charset="-122"/>
              </a:rPr>
              <a:t>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A→C</a:t>
            </a:r>
            <a:r>
              <a:rPr lang="zh-CN" altLang="en-US" sz="2400" dirty="0">
                <a:solidFill>
                  <a:schemeClr val="tx1"/>
                </a:solidFill>
                <a:latin typeface="Tahoma" pitchFamily="34" charset="0"/>
                <a:ea typeface="宋体" pitchFamily="2" charset="-122"/>
              </a:rPr>
              <a:t>后得到</a:t>
            </a:r>
            <a:r>
              <a:rPr lang="en-US" altLang="zh-CN" sz="2400" dirty="0">
                <a:solidFill>
                  <a:schemeClr val="tx1"/>
                </a:solidFill>
                <a:latin typeface="Tahoma" pitchFamily="34" charset="0"/>
                <a:ea typeface="宋体" pitchFamily="2" charset="-122"/>
              </a:rPr>
              <a:t>F={A→B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A→C</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a:t>
            </a:r>
          </a:p>
          <a:p>
            <a:pPr lvl="1">
              <a:lnSpc>
                <a:spcPct val="90000"/>
              </a:lnSpc>
              <a:buFontTx/>
              <a:buNone/>
            </a:pPr>
            <a:r>
              <a:rPr lang="en-US" altLang="zh-CN" sz="2400" dirty="0">
                <a:solidFill>
                  <a:schemeClr val="tx1"/>
                </a:solidFill>
                <a:latin typeface="Tahoma" pitchFamily="34" charset="0"/>
                <a:ea typeface="宋体" pitchFamily="2" charset="-122"/>
              </a:rPr>
              <a:t>(2) </a:t>
            </a:r>
            <a:r>
              <a:rPr lang="zh-CN" altLang="en-US" sz="2400" dirty="0">
                <a:solidFill>
                  <a:schemeClr val="tx1"/>
                </a:solidFill>
                <a:latin typeface="Tahoma" pitchFamily="34" charset="0"/>
                <a:ea typeface="宋体" pitchFamily="2" charset="-122"/>
              </a:rPr>
              <a:t>检查</a:t>
            </a:r>
            <a:r>
              <a:rPr lang="en-US" altLang="zh-CN" sz="2400" dirty="0">
                <a:solidFill>
                  <a:schemeClr val="tx1"/>
                </a:solidFill>
                <a:latin typeface="Tahoma" pitchFamily="34" charset="0"/>
                <a:ea typeface="宋体" pitchFamily="2" charset="-122"/>
              </a:rPr>
              <a:t>A→B</a:t>
            </a:r>
            <a:r>
              <a:rPr lang="zh-CN" altLang="en-US" sz="2400" dirty="0">
                <a:solidFill>
                  <a:schemeClr val="tx1"/>
                </a:solidFill>
                <a:latin typeface="Tahoma" pitchFamily="34" charset="0"/>
                <a:ea typeface="宋体" pitchFamily="2" charset="-122"/>
              </a:rPr>
              <a:t>：令</a:t>
            </a:r>
            <a:r>
              <a:rPr lang="en-US" altLang="zh-CN" sz="2400" dirty="0">
                <a:solidFill>
                  <a:schemeClr val="tx1"/>
                </a:solidFill>
                <a:latin typeface="Tahoma" pitchFamily="34" charset="0"/>
                <a:ea typeface="宋体" pitchFamily="2" charset="-122"/>
              </a:rPr>
              <a:t>G={A→C</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，求得</a:t>
            </a:r>
            <a:r>
              <a:rPr lang="en-US" altLang="zh-CN" sz="2400" dirty="0">
                <a:solidFill>
                  <a:schemeClr val="tx1"/>
                </a:solidFill>
                <a:latin typeface="Tahoma" pitchFamily="34" charset="0"/>
                <a:ea typeface="宋体" pitchFamily="2" charset="-122"/>
              </a:rPr>
              <a:t>A</a:t>
            </a:r>
            <a:r>
              <a:rPr lang="en-US" altLang="zh-CN" sz="2400" baseline="-25000" dirty="0">
                <a:solidFill>
                  <a:schemeClr val="tx1"/>
                </a:solidFill>
                <a:latin typeface="Tahoma" pitchFamily="34" charset="0"/>
                <a:ea typeface="宋体" pitchFamily="2" charset="-122"/>
              </a:rPr>
              <a:t>G</a:t>
            </a:r>
            <a:r>
              <a:rPr lang="zh-CN" altLang="en-US" sz="2400" baseline="30000" dirty="0" smtClean="0">
                <a:solidFill>
                  <a:schemeClr val="tx1"/>
                </a:solidFill>
                <a:latin typeface="Tahoma" pitchFamily="34" charset="0"/>
                <a:ea typeface="宋体" pitchFamily="2" charset="-122"/>
              </a:rPr>
              <a:t>＋</a:t>
            </a:r>
            <a:r>
              <a:rPr lang="zh-CN" altLang="en-US" sz="2400" dirty="0" smtClean="0">
                <a:solidFill>
                  <a:schemeClr val="tx1"/>
                </a:solidFill>
                <a:latin typeface="Tahoma" pitchFamily="34" charset="0"/>
                <a:ea typeface="宋体" pitchFamily="2" charset="-122"/>
              </a:rPr>
              <a:t> </a:t>
            </a:r>
            <a:r>
              <a:rPr lang="en-US" altLang="zh-CN" sz="2400" dirty="0" smtClean="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AC</a:t>
            </a:r>
            <a:r>
              <a:rPr lang="zh-CN" altLang="en-US" sz="2400" dirty="0">
                <a:solidFill>
                  <a:schemeClr val="tx1"/>
                </a:solidFill>
                <a:latin typeface="Tahoma" pitchFamily="34" charset="0"/>
                <a:ea typeface="宋体" pitchFamily="2" charset="-122"/>
              </a:rPr>
              <a:t>，因为</a:t>
            </a:r>
            <a:r>
              <a:rPr lang="en-US" altLang="zh-CN" sz="2400" dirty="0">
                <a:solidFill>
                  <a:schemeClr val="tx1"/>
                </a:solidFill>
                <a:latin typeface="Tahoma" pitchFamily="34" charset="0"/>
                <a:ea typeface="宋体" pitchFamily="2" charset="-122"/>
              </a:rPr>
              <a:t>B </a:t>
            </a:r>
            <a:r>
              <a:rPr lang="zh-CN" altLang="en-US" sz="2400" dirty="0">
                <a:solidFill>
                  <a:schemeClr val="tx1"/>
                </a:solidFill>
                <a:latin typeface="Tahoma" pitchFamily="34" charset="0"/>
                <a:ea typeface="宋体" pitchFamily="2" charset="-122"/>
                <a:cs typeface="+mn-cs"/>
              </a:rPr>
              <a:t>∉ </a:t>
            </a:r>
            <a:r>
              <a:rPr lang="en-US" altLang="zh-CN" sz="2400" dirty="0">
                <a:solidFill>
                  <a:schemeClr val="tx1"/>
                </a:solidFill>
                <a:latin typeface="Tahoma" pitchFamily="34" charset="0"/>
                <a:ea typeface="宋体" pitchFamily="2" charset="-122"/>
              </a:rPr>
              <a:t>A</a:t>
            </a:r>
            <a:r>
              <a:rPr lang="en-US" altLang="zh-CN" sz="2400" baseline="-25000" dirty="0">
                <a:solidFill>
                  <a:schemeClr val="tx1"/>
                </a:solidFill>
                <a:latin typeface="Tahoma" pitchFamily="34" charset="0"/>
                <a:ea typeface="宋体" pitchFamily="2" charset="-122"/>
              </a:rPr>
              <a:t>G</a:t>
            </a:r>
            <a:r>
              <a:rPr lang="zh-CN" altLang="en-US" sz="2400" baseline="30000" dirty="0" smtClean="0">
                <a:solidFill>
                  <a:schemeClr val="tx1"/>
                </a:solidFill>
                <a:latin typeface="Tahoma" pitchFamily="34" charset="0"/>
                <a:ea typeface="宋体" pitchFamily="2" charset="-122"/>
              </a:rPr>
              <a:t>＋</a:t>
            </a:r>
            <a:r>
              <a:rPr lang="zh-CN" altLang="en-US" sz="2400" dirty="0" smtClean="0">
                <a:solidFill>
                  <a:schemeClr val="tx1"/>
                </a:solidFill>
                <a:latin typeface="Tahoma" pitchFamily="34" charset="0"/>
                <a:ea typeface="宋体" pitchFamily="2" charset="-122"/>
              </a:rPr>
              <a:t> ，</a:t>
            </a:r>
            <a:r>
              <a:rPr lang="zh-CN" altLang="en-US" sz="2400" dirty="0">
                <a:solidFill>
                  <a:schemeClr val="tx1"/>
                </a:solidFill>
                <a:latin typeface="Tahoma" pitchFamily="34" charset="0"/>
                <a:ea typeface="宋体" pitchFamily="2" charset="-122"/>
              </a:rPr>
              <a:t>所以</a:t>
            </a:r>
            <a:r>
              <a:rPr lang="en-US" altLang="zh-CN" sz="2400" dirty="0">
                <a:solidFill>
                  <a:schemeClr val="tx1"/>
                </a:solidFill>
                <a:latin typeface="Tahoma" pitchFamily="34" charset="0"/>
                <a:ea typeface="宋体" pitchFamily="2" charset="-122"/>
              </a:rPr>
              <a:t>A→B</a:t>
            </a:r>
            <a:r>
              <a:rPr lang="zh-CN" altLang="en-US" sz="2400" dirty="0">
                <a:solidFill>
                  <a:schemeClr val="tx1"/>
                </a:solidFill>
                <a:latin typeface="Tahoma" pitchFamily="34" charset="0"/>
                <a:ea typeface="宋体" pitchFamily="2" charset="-122"/>
              </a:rPr>
              <a:t>不冗余。</a:t>
            </a:r>
          </a:p>
          <a:p>
            <a:pPr lvl="1">
              <a:lnSpc>
                <a:spcPct val="90000"/>
              </a:lnSpc>
              <a:buFontTx/>
              <a:buNone/>
            </a:pPr>
            <a:r>
              <a:rPr lang="zh-CN" altLang="en-US" sz="2400" dirty="0">
                <a:solidFill>
                  <a:schemeClr val="tx1"/>
                </a:solidFill>
                <a:latin typeface="Tahoma" pitchFamily="34" charset="0"/>
                <a:ea typeface="宋体" pitchFamily="2" charset="-122"/>
              </a:rPr>
              <a:t>检查</a:t>
            </a:r>
            <a:r>
              <a:rPr lang="en-US" altLang="zh-CN" sz="2400" dirty="0">
                <a:solidFill>
                  <a:schemeClr val="tx1"/>
                </a:solidFill>
                <a:latin typeface="Tahoma" pitchFamily="34" charset="0"/>
                <a:ea typeface="宋体" pitchFamily="2" charset="-122"/>
              </a:rPr>
              <a:t>A→C</a:t>
            </a:r>
            <a:r>
              <a:rPr lang="zh-CN" altLang="en-US" sz="2400" dirty="0">
                <a:solidFill>
                  <a:schemeClr val="tx1"/>
                </a:solidFill>
                <a:latin typeface="Tahoma" pitchFamily="34" charset="0"/>
                <a:ea typeface="宋体" pitchFamily="2" charset="-122"/>
              </a:rPr>
              <a:t>：令</a:t>
            </a:r>
            <a:r>
              <a:rPr lang="en-US" altLang="zh-CN" sz="2400" dirty="0">
                <a:solidFill>
                  <a:schemeClr val="tx1"/>
                </a:solidFill>
                <a:latin typeface="Tahoma" pitchFamily="34" charset="0"/>
                <a:ea typeface="宋体" pitchFamily="2" charset="-122"/>
              </a:rPr>
              <a:t>G={A→B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a:t>
            </a:r>
            <a:r>
              <a:rPr lang="zh-CN" altLang="en-US" sz="2400" dirty="0" smtClean="0">
                <a:solidFill>
                  <a:schemeClr val="tx1"/>
                </a:solidFill>
                <a:latin typeface="Tahoma" pitchFamily="34" charset="0"/>
                <a:ea typeface="宋体" pitchFamily="2" charset="-122"/>
              </a:rPr>
              <a:t>求得</a:t>
            </a:r>
            <a:r>
              <a:rPr lang="en-US" altLang="zh-CN" sz="2400" dirty="0">
                <a:solidFill>
                  <a:schemeClr val="tx1"/>
                </a:solidFill>
                <a:latin typeface="Tahoma" pitchFamily="34" charset="0"/>
                <a:ea typeface="宋体" pitchFamily="2" charset="-122"/>
              </a:rPr>
              <a:t>A</a:t>
            </a:r>
            <a:r>
              <a:rPr lang="en-US" altLang="zh-CN" sz="2400" baseline="-25000" dirty="0">
                <a:solidFill>
                  <a:schemeClr val="tx1"/>
                </a:solidFill>
                <a:latin typeface="Tahoma" pitchFamily="34" charset="0"/>
                <a:ea typeface="宋体" pitchFamily="2" charset="-122"/>
              </a:rPr>
              <a:t>G</a:t>
            </a:r>
            <a:r>
              <a:rPr lang="zh-CN" altLang="en-US" sz="2400" baseline="30000" dirty="0">
                <a:solidFill>
                  <a:schemeClr val="tx1"/>
                </a:solidFill>
                <a:latin typeface="Tahoma" pitchFamily="34" charset="0"/>
                <a:ea typeface="宋体" pitchFamily="2" charset="-122"/>
              </a:rPr>
              <a:t>＋</a:t>
            </a:r>
            <a:r>
              <a:rPr lang="zh-CN" altLang="en-US" sz="2400" dirty="0">
                <a:solidFill>
                  <a:schemeClr val="tx1"/>
                </a:solidFill>
                <a:latin typeface="Tahoma" pitchFamily="34" charset="0"/>
                <a:ea typeface="宋体" pitchFamily="2" charset="-122"/>
              </a:rPr>
              <a:t> </a:t>
            </a:r>
            <a:r>
              <a:rPr lang="en-US" altLang="zh-CN" sz="2400" dirty="0" smtClean="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，因为</a:t>
            </a:r>
            <a:r>
              <a:rPr lang="en-US" altLang="zh-CN" sz="2400" dirty="0" smtClean="0">
                <a:solidFill>
                  <a:schemeClr val="tx1"/>
                </a:solidFill>
                <a:latin typeface="Tahoma" pitchFamily="34" charset="0"/>
                <a:ea typeface="宋体" pitchFamily="2" charset="-122"/>
              </a:rPr>
              <a:t>C</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 A</a:t>
            </a:r>
            <a:r>
              <a:rPr lang="en-US" altLang="zh-CN" sz="2400" baseline="-25000" dirty="0">
                <a:solidFill>
                  <a:schemeClr val="tx1"/>
                </a:solidFill>
                <a:latin typeface="Tahoma" pitchFamily="34" charset="0"/>
                <a:ea typeface="宋体" pitchFamily="2" charset="-122"/>
              </a:rPr>
              <a:t>G</a:t>
            </a:r>
            <a:r>
              <a:rPr lang="zh-CN" altLang="en-US" sz="2400" baseline="30000" dirty="0">
                <a:solidFill>
                  <a:schemeClr val="tx1"/>
                </a:solidFill>
                <a:latin typeface="Tahoma" pitchFamily="34" charset="0"/>
                <a:ea typeface="宋体" pitchFamily="2" charset="-122"/>
              </a:rPr>
              <a:t>＋</a:t>
            </a:r>
            <a:r>
              <a:rPr lang="zh-CN" altLang="en-US" sz="2400" dirty="0">
                <a:solidFill>
                  <a:schemeClr val="tx1"/>
                </a:solidFill>
                <a:latin typeface="Tahoma" pitchFamily="34" charset="0"/>
                <a:ea typeface="宋体" pitchFamily="2" charset="-122"/>
              </a:rPr>
              <a:t> ，所以</a:t>
            </a:r>
            <a:r>
              <a:rPr lang="en-US" altLang="zh-CN" sz="2400" dirty="0">
                <a:solidFill>
                  <a:schemeClr val="tx1"/>
                </a:solidFill>
                <a:latin typeface="Tahoma" pitchFamily="34" charset="0"/>
                <a:ea typeface="宋体" pitchFamily="2" charset="-122"/>
              </a:rPr>
              <a:t>A→C</a:t>
            </a:r>
            <a:r>
              <a:rPr lang="zh-CN" altLang="en-US" sz="2400" dirty="0">
                <a:solidFill>
                  <a:schemeClr val="tx1"/>
                </a:solidFill>
                <a:latin typeface="Tahoma" pitchFamily="34" charset="0"/>
                <a:ea typeface="宋体" pitchFamily="2" charset="-122"/>
              </a:rPr>
              <a:t>是冗余的，从</a:t>
            </a:r>
            <a:r>
              <a:rPr lang="en-US" altLang="zh-CN" sz="2400" dirty="0">
                <a:solidFill>
                  <a:schemeClr val="tx1"/>
                </a:solidFill>
                <a:latin typeface="Tahoma" pitchFamily="34" charset="0"/>
                <a:ea typeface="宋体" pitchFamily="2" charset="-122"/>
              </a:rPr>
              <a:t>F</a:t>
            </a:r>
            <a:r>
              <a:rPr lang="zh-CN" altLang="en-US" sz="2400" dirty="0">
                <a:solidFill>
                  <a:schemeClr val="tx1"/>
                </a:solidFill>
                <a:latin typeface="Tahoma" pitchFamily="34" charset="0"/>
                <a:ea typeface="宋体" pitchFamily="2" charset="-122"/>
              </a:rPr>
              <a:t>中去掉，则</a:t>
            </a:r>
            <a:r>
              <a:rPr lang="en-US" altLang="zh-CN" sz="2400" dirty="0">
                <a:solidFill>
                  <a:schemeClr val="tx1"/>
                </a:solidFill>
                <a:latin typeface="Tahoma" pitchFamily="34" charset="0"/>
                <a:ea typeface="宋体" pitchFamily="2" charset="-122"/>
              </a:rPr>
              <a:t>F={A→B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a:t>
            </a:r>
          </a:p>
          <a:p>
            <a:pPr lvl="1">
              <a:lnSpc>
                <a:spcPct val="90000"/>
              </a:lnSpc>
              <a:buFontTx/>
              <a:buNone/>
            </a:pPr>
            <a:r>
              <a:rPr lang="zh-CN" altLang="en-US" sz="2400" dirty="0">
                <a:solidFill>
                  <a:schemeClr val="tx1"/>
                </a:solidFill>
                <a:latin typeface="Tahoma" pitchFamily="34" charset="0"/>
                <a:ea typeface="宋体" pitchFamily="2" charset="-122"/>
              </a:rPr>
              <a:t>检查</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：令</a:t>
            </a:r>
            <a:r>
              <a:rPr lang="en-US" altLang="zh-CN" sz="2400" dirty="0">
                <a:solidFill>
                  <a:schemeClr val="tx1"/>
                </a:solidFill>
                <a:latin typeface="Tahoma" pitchFamily="34" charset="0"/>
                <a:ea typeface="宋体" pitchFamily="2" charset="-122"/>
              </a:rPr>
              <a:t>G={A→B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，求得</a:t>
            </a:r>
            <a:r>
              <a:rPr lang="en-US" altLang="zh-CN" sz="2400" dirty="0">
                <a:solidFill>
                  <a:schemeClr val="tx1"/>
                </a:solidFill>
                <a:latin typeface="Tahoma" pitchFamily="34" charset="0"/>
                <a:ea typeface="宋体" pitchFamily="2" charset="-122"/>
              </a:rPr>
              <a:t>B</a:t>
            </a:r>
            <a:r>
              <a:rPr lang="en-US" altLang="zh-CN" sz="2400" baseline="-25000" dirty="0">
                <a:solidFill>
                  <a:schemeClr val="tx1"/>
                </a:solidFill>
                <a:latin typeface="Tahoma" pitchFamily="34" charset="0"/>
                <a:ea typeface="宋体" pitchFamily="2" charset="-122"/>
              </a:rPr>
              <a:t>G</a:t>
            </a:r>
            <a:r>
              <a:rPr lang="zh-CN" altLang="en-US" sz="2400" baseline="30000" dirty="0" smtClean="0">
                <a:solidFill>
                  <a:schemeClr val="tx1"/>
                </a:solidFill>
                <a:latin typeface="Tahoma" pitchFamily="34" charset="0"/>
                <a:ea typeface="宋体" pitchFamily="2" charset="-122"/>
              </a:rPr>
              <a:t>＋</a:t>
            </a:r>
            <a:r>
              <a:rPr lang="zh-CN" altLang="en-US" sz="2400" dirty="0" smtClean="0">
                <a:solidFill>
                  <a:schemeClr val="tx1"/>
                </a:solidFill>
                <a:latin typeface="Tahoma" pitchFamily="34" charset="0"/>
                <a:ea typeface="宋体" pitchFamily="2" charset="-122"/>
              </a:rPr>
              <a:t> </a:t>
            </a:r>
            <a:r>
              <a:rPr lang="en-US" altLang="zh-CN" sz="2400" dirty="0" smtClean="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a:t>
            </a:r>
            <a:r>
              <a:rPr lang="zh-CN" altLang="en-US" sz="2400" dirty="0">
                <a:solidFill>
                  <a:schemeClr val="tx1"/>
                </a:solidFill>
                <a:latin typeface="Tahoma" pitchFamily="34" charset="0"/>
                <a:ea typeface="宋体" pitchFamily="2" charset="-122"/>
              </a:rPr>
              <a:t>，因为</a:t>
            </a:r>
            <a:r>
              <a:rPr lang="en-US" altLang="zh-CN" sz="2400" dirty="0" smtClean="0">
                <a:solidFill>
                  <a:schemeClr val="tx1"/>
                </a:solidFill>
                <a:latin typeface="Tahoma" pitchFamily="34" charset="0"/>
                <a:ea typeface="宋体" pitchFamily="2" charset="-122"/>
              </a:rPr>
              <a:t>C</a:t>
            </a:r>
            <a:r>
              <a:rPr lang="zh-CN" altLang="en-US" sz="2400" dirty="0">
                <a:solidFill>
                  <a:schemeClr val="tx1"/>
                </a:solidFill>
                <a:latin typeface="Tahoma" pitchFamily="34" charset="0"/>
                <a:ea typeface="宋体" pitchFamily="2" charset="-122"/>
              </a:rPr>
              <a:t> ∉</a:t>
            </a:r>
            <a:r>
              <a:rPr lang="en-US" altLang="zh-CN" sz="2400" dirty="0">
                <a:solidFill>
                  <a:schemeClr val="tx1"/>
                </a:solidFill>
                <a:latin typeface="Tahoma" pitchFamily="34" charset="0"/>
                <a:ea typeface="宋体" pitchFamily="2" charset="-122"/>
              </a:rPr>
              <a:t> B</a:t>
            </a:r>
            <a:r>
              <a:rPr lang="en-US" altLang="zh-CN" sz="2400" baseline="-25000" dirty="0">
                <a:solidFill>
                  <a:schemeClr val="tx1"/>
                </a:solidFill>
                <a:latin typeface="Tahoma" pitchFamily="34" charset="0"/>
                <a:ea typeface="宋体" pitchFamily="2" charset="-122"/>
              </a:rPr>
              <a:t>G</a:t>
            </a:r>
            <a:r>
              <a:rPr lang="zh-CN" altLang="en-US" sz="2400" baseline="30000" dirty="0">
                <a:solidFill>
                  <a:schemeClr val="tx1"/>
                </a:solidFill>
                <a:latin typeface="Tahoma" pitchFamily="34" charset="0"/>
                <a:ea typeface="宋体" pitchFamily="2" charset="-122"/>
              </a:rPr>
              <a:t>＋</a:t>
            </a:r>
            <a:r>
              <a:rPr lang="zh-CN" altLang="en-US" sz="2400" dirty="0">
                <a:solidFill>
                  <a:schemeClr val="tx1"/>
                </a:solidFill>
                <a:latin typeface="Tahoma" pitchFamily="34" charset="0"/>
                <a:ea typeface="宋体" pitchFamily="2" charset="-122"/>
              </a:rPr>
              <a:t> ，所以</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不冗余。</a:t>
            </a:r>
          </a:p>
          <a:p>
            <a:pPr lvl="1">
              <a:lnSpc>
                <a:spcPct val="90000"/>
              </a:lnSpc>
              <a:buFontTx/>
              <a:buNone/>
            </a:pPr>
            <a:r>
              <a:rPr lang="zh-CN" altLang="en-US" sz="2400" dirty="0">
                <a:solidFill>
                  <a:schemeClr val="tx1"/>
                </a:solidFill>
                <a:latin typeface="Tahoma" pitchFamily="34" charset="0"/>
                <a:ea typeface="宋体" pitchFamily="2" charset="-122"/>
              </a:rPr>
              <a:t>检查</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：令</a:t>
            </a:r>
            <a:r>
              <a:rPr lang="en-US" altLang="zh-CN" sz="2400" dirty="0">
                <a:solidFill>
                  <a:schemeClr val="tx1"/>
                </a:solidFill>
                <a:latin typeface="Tahoma" pitchFamily="34" charset="0"/>
                <a:ea typeface="宋体" pitchFamily="2" charset="-122"/>
              </a:rPr>
              <a:t>G={A→B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，求得</a:t>
            </a:r>
            <a:r>
              <a:rPr lang="en-US" altLang="zh-CN" sz="2400" dirty="0">
                <a:solidFill>
                  <a:schemeClr val="tx1"/>
                </a:solidFill>
                <a:latin typeface="Tahoma" pitchFamily="34" charset="0"/>
                <a:ea typeface="宋体" pitchFamily="2" charset="-122"/>
              </a:rPr>
              <a:t>AB</a:t>
            </a:r>
            <a:r>
              <a:rPr lang="en-US" altLang="zh-CN" sz="2400" baseline="-25000" dirty="0">
                <a:solidFill>
                  <a:schemeClr val="tx1"/>
                </a:solidFill>
                <a:latin typeface="Tahoma" pitchFamily="34" charset="0"/>
                <a:ea typeface="宋体" pitchFamily="2" charset="-122"/>
              </a:rPr>
              <a:t>G</a:t>
            </a:r>
            <a:r>
              <a:rPr lang="zh-CN" altLang="en-US" sz="2400" baseline="30000" dirty="0" smtClean="0">
                <a:solidFill>
                  <a:schemeClr val="tx1"/>
                </a:solidFill>
                <a:latin typeface="Tahoma" pitchFamily="34" charset="0"/>
                <a:ea typeface="宋体" pitchFamily="2" charset="-122"/>
              </a:rPr>
              <a:t>＋</a:t>
            </a:r>
            <a:r>
              <a:rPr lang="zh-CN" altLang="en-US" sz="2400" dirty="0" smtClean="0">
                <a:solidFill>
                  <a:schemeClr val="tx1"/>
                </a:solidFill>
                <a:latin typeface="Tahoma" pitchFamily="34" charset="0"/>
                <a:ea typeface="宋体" pitchFamily="2" charset="-122"/>
              </a:rPr>
              <a:t> </a:t>
            </a:r>
            <a:r>
              <a:rPr lang="en-US" altLang="zh-CN" sz="2400" dirty="0" smtClean="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，因为</a:t>
            </a:r>
            <a:r>
              <a:rPr lang="en-US" altLang="zh-CN" sz="2400" dirty="0" smtClean="0">
                <a:solidFill>
                  <a:schemeClr val="tx1"/>
                </a:solidFill>
                <a:latin typeface="Tahoma" pitchFamily="34" charset="0"/>
                <a:ea typeface="宋体" pitchFamily="2" charset="-122"/>
              </a:rPr>
              <a:t>C</a:t>
            </a:r>
            <a:r>
              <a:rPr lang="zh-CN" altLang="en-US" sz="2400" dirty="0">
                <a:solidFill>
                  <a:schemeClr val="tx1"/>
                </a:solidFill>
                <a:latin typeface="Tahoma" pitchFamily="34" charset="0"/>
                <a:ea typeface="宋体" pitchFamily="2" charset="-122"/>
              </a:rPr>
              <a:t> ∈</a:t>
            </a:r>
            <a:r>
              <a:rPr lang="en-US" altLang="zh-CN" sz="2400" dirty="0">
                <a:solidFill>
                  <a:schemeClr val="tx1"/>
                </a:solidFill>
                <a:latin typeface="Tahoma" pitchFamily="34" charset="0"/>
                <a:ea typeface="宋体" pitchFamily="2" charset="-122"/>
              </a:rPr>
              <a:t> AB</a:t>
            </a:r>
            <a:r>
              <a:rPr lang="en-US" altLang="zh-CN" sz="2400" baseline="-25000" dirty="0">
                <a:solidFill>
                  <a:schemeClr val="tx1"/>
                </a:solidFill>
                <a:latin typeface="Tahoma" pitchFamily="34" charset="0"/>
                <a:ea typeface="宋体" pitchFamily="2" charset="-122"/>
              </a:rPr>
              <a:t>G</a:t>
            </a:r>
            <a:r>
              <a:rPr lang="zh-CN" altLang="en-US" sz="2400" baseline="30000" dirty="0">
                <a:solidFill>
                  <a:schemeClr val="tx1"/>
                </a:solidFill>
                <a:latin typeface="Tahoma" pitchFamily="34" charset="0"/>
                <a:ea typeface="宋体" pitchFamily="2" charset="-122"/>
              </a:rPr>
              <a:t>＋</a:t>
            </a:r>
            <a:r>
              <a:rPr lang="zh-CN" altLang="en-US" sz="2400" dirty="0">
                <a:solidFill>
                  <a:schemeClr val="tx1"/>
                </a:solidFill>
                <a:latin typeface="Tahoma" pitchFamily="34" charset="0"/>
                <a:ea typeface="宋体" pitchFamily="2" charset="-122"/>
              </a:rPr>
              <a:t> ，所以</a:t>
            </a:r>
            <a:r>
              <a:rPr lang="en-US" altLang="zh-CN" sz="2400" dirty="0">
                <a:solidFill>
                  <a:schemeClr val="tx1"/>
                </a:solidFill>
                <a:latin typeface="Tahoma" pitchFamily="34" charset="0"/>
                <a:ea typeface="宋体" pitchFamily="2" charset="-122"/>
              </a:rPr>
              <a:t>AB→C</a:t>
            </a:r>
            <a:r>
              <a:rPr lang="zh-CN" altLang="en-US" sz="2400" dirty="0">
                <a:solidFill>
                  <a:schemeClr val="tx1"/>
                </a:solidFill>
                <a:latin typeface="Tahoma" pitchFamily="34" charset="0"/>
                <a:ea typeface="宋体" pitchFamily="2" charset="-122"/>
              </a:rPr>
              <a:t>是冗余的，从</a:t>
            </a:r>
            <a:r>
              <a:rPr lang="en-US" altLang="zh-CN" sz="2400" dirty="0">
                <a:solidFill>
                  <a:schemeClr val="tx1"/>
                </a:solidFill>
                <a:latin typeface="Tahoma" pitchFamily="34" charset="0"/>
                <a:ea typeface="宋体" pitchFamily="2" charset="-122"/>
              </a:rPr>
              <a:t>F</a:t>
            </a:r>
            <a:r>
              <a:rPr lang="zh-CN" altLang="en-US" sz="2400" dirty="0">
                <a:solidFill>
                  <a:schemeClr val="tx1"/>
                </a:solidFill>
                <a:latin typeface="Tahoma" pitchFamily="34" charset="0"/>
                <a:ea typeface="宋体" pitchFamily="2" charset="-122"/>
              </a:rPr>
              <a:t>中去掉，则</a:t>
            </a:r>
            <a:r>
              <a:rPr lang="en-US" altLang="zh-CN" sz="2400" dirty="0">
                <a:solidFill>
                  <a:schemeClr val="tx1"/>
                </a:solidFill>
                <a:latin typeface="Tahoma" pitchFamily="34" charset="0"/>
                <a:ea typeface="宋体" pitchFamily="2" charset="-122"/>
              </a:rPr>
              <a:t>F={A→B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B→C}</a:t>
            </a:r>
            <a:r>
              <a:rPr lang="zh-CN" altLang="en-US" sz="2400" dirty="0">
                <a:solidFill>
                  <a:schemeClr val="tx1"/>
                </a:solidFill>
                <a:latin typeface="Tahoma" pitchFamily="34" charset="0"/>
                <a:ea typeface="宋体" pitchFamily="2" charset="-122"/>
              </a:rPr>
              <a:t>，已没有了冗余的函数依赖。</a:t>
            </a:r>
          </a:p>
          <a:p>
            <a:pPr lvl="1">
              <a:lnSpc>
                <a:spcPct val="90000"/>
              </a:lnSpc>
              <a:buFontTx/>
              <a:buNone/>
            </a:pPr>
            <a:r>
              <a:rPr lang="en-US" altLang="zh-CN" sz="2400" dirty="0">
                <a:solidFill>
                  <a:schemeClr val="tx1"/>
                </a:solidFill>
                <a:latin typeface="Tahoma" pitchFamily="34" charset="0"/>
                <a:ea typeface="宋体" pitchFamily="2" charset="-122"/>
              </a:rPr>
              <a:t>(3) F</a:t>
            </a:r>
            <a:r>
              <a:rPr lang="zh-CN" altLang="en-US" sz="2400" dirty="0">
                <a:solidFill>
                  <a:schemeClr val="tx1"/>
                </a:solidFill>
                <a:latin typeface="Tahoma" pitchFamily="34" charset="0"/>
                <a:ea typeface="宋体" pitchFamily="2" charset="-122"/>
              </a:rPr>
              <a:t>中的函数依赖左部均为单属性，不存在冗余的属性。</a:t>
            </a:r>
          </a:p>
          <a:p>
            <a:pPr lvl="1">
              <a:lnSpc>
                <a:spcPct val="90000"/>
              </a:lnSpc>
              <a:buFontTx/>
              <a:buNone/>
            </a:pPr>
            <a:r>
              <a:rPr lang="zh-CN" altLang="en-US" sz="2400" dirty="0">
                <a:solidFill>
                  <a:schemeClr val="tx1"/>
                </a:solidFill>
                <a:latin typeface="Tahoma" pitchFamily="34" charset="0"/>
                <a:ea typeface="宋体" pitchFamily="2" charset="-122"/>
              </a:rPr>
              <a:t>因此，求出</a:t>
            </a:r>
            <a:r>
              <a:rPr lang="en-US" altLang="zh-CN" sz="2400" dirty="0" err="1">
                <a:solidFill>
                  <a:schemeClr val="tx1"/>
                </a:solidFill>
                <a:latin typeface="Tahoma" pitchFamily="34" charset="0"/>
                <a:ea typeface="宋体" pitchFamily="2" charset="-122"/>
              </a:rPr>
              <a:t>Fmin</a:t>
            </a:r>
            <a:r>
              <a:rPr lang="en-US" altLang="zh-CN" sz="2400" dirty="0">
                <a:solidFill>
                  <a:schemeClr val="tx1"/>
                </a:solidFill>
                <a:latin typeface="Tahoma" pitchFamily="34" charset="0"/>
                <a:ea typeface="宋体" pitchFamily="2" charset="-122"/>
              </a:rPr>
              <a:t>={A→B</a:t>
            </a:r>
            <a:r>
              <a:rPr lang="zh-CN" altLang="en-US" sz="2400" dirty="0">
                <a:solidFill>
                  <a:schemeClr val="tx1"/>
                </a:solidFill>
                <a:latin typeface="Tahoma" pitchFamily="34" charset="0"/>
                <a:ea typeface="宋体" pitchFamily="2" charset="-122"/>
              </a:rPr>
              <a:t>，</a:t>
            </a:r>
            <a:r>
              <a:rPr lang="en-US" altLang="zh-CN" sz="2400" dirty="0">
                <a:solidFill>
                  <a:schemeClr val="tx1"/>
                </a:solidFill>
                <a:latin typeface="Tahoma" pitchFamily="34" charset="0"/>
                <a:ea typeface="宋体" pitchFamily="2" charset="-122"/>
              </a:rPr>
              <a:t>B→C}</a:t>
            </a:r>
            <a:r>
              <a:rPr lang="zh-CN" altLang="en-US" sz="2400" dirty="0" smtClean="0">
                <a:solidFill>
                  <a:schemeClr val="tx1"/>
                </a:solidFill>
                <a:latin typeface="Tahoma" pitchFamily="34" charset="0"/>
                <a:ea typeface="宋体" pitchFamily="2" charset="-122"/>
              </a:rPr>
              <a:t>。</a:t>
            </a:r>
            <a:endParaRPr lang="en-US" altLang="zh-CN" sz="2400" dirty="0" smtClean="0">
              <a:solidFill>
                <a:schemeClr val="tx1"/>
              </a:solidFill>
              <a:latin typeface="Tahoma" pitchFamily="34" charset="0"/>
              <a:ea typeface="宋体" pitchFamily="2" charset="-122"/>
            </a:endParaRPr>
          </a:p>
          <a:p>
            <a:pPr lvl="1">
              <a:lnSpc>
                <a:spcPct val="90000"/>
              </a:lnSpc>
              <a:buFontTx/>
              <a:buNone/>
            </a:pPr>
            <a:endParaRPr lang="en-US" altLang="zh-CN" sz="2400" dirty="0">
              <a:solidFill>
                <a:schemeClr val="tx1"/>
              </a:solidFill>
              <a:latin typeface="Tahoma" pitchFamily="34" charset="0"/>
              <a:ea typeface="宋体" pitchFamily="2" charset="-122"/>
            </a:endParaRPr>
          </a:p>
        </p:txBody>
      </p:sp>
      <p:sp>
        <p:nvSpPr>
          <p:cNvPr id="2" name="矩形 1"/>
          <p:cNvSpPr/>
          <p:nvPr/>
        </p:nvSpPr>
        <p:spPr>
          <a:xfrm>
            <a:off x="1415480" y="6093296"/>
            <a:ext cx="1830950" cy="424732"/>
          </a:xfrm>
          <a:prstGeom prst="rect">
            <a:avLst/>
          </a:prstGeom>
        </p:spPr>
        <p:txBody>
          <a:bodyPr wrap="none">
            <a:spAutoFit/>
          </a:bodyPr>
          <a:lstStyle/>
          <a:p>
            <a:pPr marL="742950" lvl="1" indent="-285750">
              <a:lnSpc>
                <a:spcPct val="90000"/>
              </a:lnSpc>
              <a:spcBef>
                <a:spcPct val="20000"/>
              </a:spcBef>
            </a:pPr>
            <a:r>
              <a:rPr lang="zh-CN" altLang="en-US" sz="2400" dirty="0">
                <a:solidFill>
                  <a:srgbClr val="FFFF00"/>
                </a:solidFill>
                <a:latin typeface="Tahoma" pitchFamily="34" charset="0"/>
                <a:ea typeface="宋体" pitchFamily="2" charset="-122"/>
              </a:rPr>
              <a:t>习题二</a:t>
            </a:r>
            <a:r>
              <a:rPr lang="en-US" altLang="zh-CN" sz="2400" dirty="0">
                <a:solidFill>
                  <a:srgbClr val="FFFF00"/>
                </a:solidFill>
                <a:latin typeface="Tahoma" pitchFamily="34" charset="0"/>
                <a:ea typeface="宋体" pitchFamily="2" charset="-122"/>
              </a:rPr>
              <a:t>.5</a:t>
            </a:r>
            <a:endParaRPr lang="zh-CN" altLang="en-US" sz="2400" dirty="0">
              <a:solidFill>
                <a:srgbClr val="FFFF00"/>
              </a:solidFill>
              <a:latin typeface="Tahoma" pitchFamily="34" charset="0"/>
              <a:ea typeface="宋体" pitchFamily="2" charset="-122"/>
            </a:endParaRPr>
          </a:p>
        </p:txBody>
      </p:sp>
    </p:spTree>
    <p:extLst>
      <p:ext uri="{BB962C8B-B14F-4D97-AF65-F5344CB8AC3E}">
        <p14:creationId xmlns:p14="http://schemas.microsoft.com/office/powerpoint/2010/main" val="1955261944"/>
      </p:ext>
    </p:extLst>
  </p:cSld>
  <p:clrMapOvr>
    <a:masterClrMapping/>
  </p:clrMapOvr>
  <p:transition spd="slow">
    <p:wipe dir="r"/>
    <p:sndAc>
      <p:stSnd>
        <p:snd r:embed="rId2" name="arrow.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985837" y="15327"/>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候选键的形式化定义</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grpSp>
        <p:nvGrpSpPr>
          <p:cNvPr id="2" name="组合 1">
            <a:extLst>
              <a:ext uri="{FF2B5EF4-FFF2-40B4-BE49-F238E27FC236}">
                <a16:creationId xmlns:a16="http://schemas.microsoft.com/office/drawing/2014/main" id="{5800A8B7-648E-4D81-B973-AE53FF8EFC0B}"/>
              </a:ext>
            </a:extLst>
          </p:cNvPr>
          <p:cNvGrpSpPr/>
          <p:nvPr/>
        </p:nvGrpSpPr>
        <p:grpSpPr>
          <a:xfrm>
            <a:off x="985838" y="921890"/>
            <a:ext cx="10582770" cy="1143000"/>
            <a:chOff x="985838" y="921890"/>
            <a:chExt cx="10582770" cy="1143000"/>
          </a:xfrm>
        </p:grpSpPr>
        <p:sp>
          <p:nvSpPr>
            <p:cNvPr id="1487876" name="Text Box 4"/>
            <p:cNvSpPr txBox="1">
              <a:spLocks noChangeArrowheads="1"/>
            </p:cNvSpPr>
            <p:nvPr/>
          </p:nvSpPr>
          <p:spPr bwMode="auto">
            <a:xfrm>
              <a:off x="985838" y="921890"/>
              <a:ext cx="10582770" cy="11430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ts val="0"/>
                </a:spcBef>
                <a:spcAft>
                  <a:spcPts val="1800"/>
                </a:spcAft>
                <a:buClrTx/>
                <a:buSzPct val="80000"/>
                <a:buFont typeface="Wingdings" pitchFamily="2" charset="2"/>
                <a:buNone/>
                <a:tabLst>
                  <a:tab pos="428625"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中，若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K  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且</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K　 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成立，则称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K</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的一个</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超键</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K　 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成立，则称</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K</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的一个</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候选键</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endParaRPr>
            </a:p>
            <a:p>
              <a:pPr marL="0" marR="0" lvl="0" indent="0" algn="just" defTabSz="914400" rtl="0" eaLnBrk="1" fontAlgn="base" latinLnBrk="0" hangingPunct="1">
                <a:lnSpc>
                  <a:spcPct val="100000"/>
                </a:lnSpc>
                <a:spcBef>
                  <a:spcPts val="600"/>
                </a:spcBef>
                <a:spcAft>
                  <a:spcPts val="1800"/>
                </a:spcAft>
                <a:buClrTx/>
                <a:buSzPct val="80000"/>
                <a:buFont typeface="Wingdings" pitchFamily="2" charset="2"/>
                <a:buNone/>
                <a:tabLst>
                  <a:tab pos="428625"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若关系</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有多个候选键，则可选定其中一个做为</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主键</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endPar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endParaRPr>
            </a:p>
            <a:p>
              <a:pPr marL="0" marR="0" lvl="0" indent="0" algn="just" defTabSz="914400" rtl="0" eaLnBrk="1" fontAlgn="base" latinLnBrk="0" hangingPunct="1">
                <a:lnSpc>
                  <a:spcPct val="100000"/>
                </a:lnSpc>
                <a:spcBef>
                  <a:spcPts val="1200"/>
                </a:spcBef>
                <a:spcAft>
                  <a:spcPts val="1800"/>
                </a:spcAft>
                <a:buClrTx/>
                <a:buSzPct val="80000"/>
                <a:buFont typeface="Wingdings" pitchFamily="2" charset="2"/>
                <a:buNone/>
                <a:tabLst>
                  <a:tab pos="428625" algn="l"/>
                  <a:tab pos="1905000" algn="l"/>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包含在</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的任何一个候选键中的属性称为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的</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主属性</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，否则称为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R(U)</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的</a:t>
              </a:r>
              <a:r>
                <a:rPr kumimoji="1"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mn-ea"/>
                  <a:cs typeface="+mn-cs"/>
                </a:rPr>
                <a:t>非主属性</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p>
          </p:txBody>
        </p:sp>
        <p:sp>
          <p:nvSpPr>
            <p:cNvPr id="1487877" name="Line 5"/>
            <p:cNvSpPr>
              <a:spLocks noChangeShapeType="1"/>
            </p:cNvSpPr>
            <p:nvPr/>
          </p:nvSpPr>
          <p:spPr bwMode="auto">
            <a:xfrm>
              <a:off x="3064485" y="1758375"/>
              <a:ext cx="390922" cy="11625"/>
            </a:xfrm>
            <a:prstGeom prst="line">
              <a:avLst/>
            </a:prstGeom>
            <a:noFill/>
            <a:ln w="38100" cap="sq">
              <a:solidFill>
                <a:srgbClr val="CCFFCC"/>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n-ea"/>
                <a:cs typeface="+mn-cs"/>
              </a:endParaRPr>
            </a:p>
          </p:txBody>
        </p:sp>
        <p:sp>
          <p:nvSpPr>
            <p:cNvPr id="1487878" name="Text Box 6"/>
            <p:cNvSpPr txBox="1">
              <a:spLocks noChangeArrowheads="1"/>
            </p:cNvSpPr>
            <p:nvPr/>
          </p:nvSpPr>
          <p:spPr bwMode="auto">
            <a:xfrm>
              <a:off x="3215680" y="1416633"/>
              <a:ext cx="84960" cy="307777"/>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CCFFCC"/>
                  </a:solidFill>
                  <a:effectLst>
                    <a:outerShdw blurRad="38100" dist="38100" dir="2700000" algn="tl">
                      <a:srgbClr val="000000"/>
                    </a:outerShdw>
                  </a:effectLst>
                  <a:uLnTx/>
                  <a:uFillTx/>
                  <a:latin typeface="+mn-lt"/>
                  <a:ea typeface="+mn-ea"/>
                  <a:cs typeface="+mn-cs"/>
                </a:rPr>
                <a:t>f</a:t>
              </a:r>
            </a:p>
          </p:txBody>
        </p:sp>
      </p:grpSp>
      <p:sp>
        <p:nvSpPr>
          <p:cNvPr id="1487879" name="Rectangle 7"/>
          <p:cNvSpPr>
            <a:spLocks noChangeArrowheads="1"/>
          </p:cNvSpPr>
          <p:nvPr/>
        </p:nvSpPr>
        <p:spPr bwMode="auto">
          <a:xfrm>
            <a:off x="5043363" y="876299"/>
            <a:ext cx="401887" cy="57629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rPr>
              <a:t></a:t>
            </a:r>
            <a:endParaRPr kumimoji="1" lang="zh-CN" altLang="en-US" sz="28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endParaRPr>
          </a:p>
        </p:txBody>
      </p:sp>
      <p:sp>
        <p:nvSpPr>
          <p:cNvPr id="1487880" name="Rectangle 8"/>
          <p:cNvSpPr>
            <a:spLocks noChangeArrowheads="1"/>
          </p:cNvSpPr>
          <p:nvPr/>
        </p:nvSpPr>
        <p:spPr bwMode="auto">
          <a:xfrm>
            <a:off x="2639616" y="5087016"/>
            <a:ext cx="2206625" cy="720725"/>
          </a:xfrm>
          <a:prstGeom prst="rect">
            <a:avLst/>
          </a:prstGeom>
          <a:solidFill>
            <a:srgbClr val="3333FF"/>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sp>
        <p:nvSpPr>
          <p:cNvPr id="1487881" name="Rectangle 9"/>
          <p:cNvSpPr>
            <a:spLocks noChangeArrowheads="1"/>
          </p:cNvSpPr>
          <p:nvPr/>
        </p:nvSpPr>
        <p:spPr bwMode="auto">
          <a:xfrm>
            <a:off x="2768203" y="5247353"/>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学号</a:t>
            </a:r>
          </a:p>
        </p:txBody>
      </p:sp>
      <p:sp>
        <p:nvSpPr>
          <p:cNvPr id="1487882" name="Rectangle 10"/>
          <p:cNvSpPr>
            <a:spLocks noChangeArrowheads="1"/>
          </p:cNvSpPr>
          <p:nvPr/>
        </p:nvSpPr>
        <p:spPr bwMode="auto">
          <a:xfrm>
            <a:off x="3873104" y="5247353"/>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课名</a:t>
            </a:r>
          </a:p>
        </p:txBody>
      </p:sp>
      <p:sp>
        <p:nvSpPr>
          <p:cNvPr id="1487883" name="Rectangle 11"/>
          <p:cNvSpPr>
            <a:spLocks noChangeArrowheads="1"/>
          </p:cNvSpPr>
          <p:nvPr/>
        </p:nvSpPr>
        <p:spPr bwMode="auto">
          <a:xfrm>
            <a:off x="1471216" y="5247353"/>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sp>
        <p:nvSpPr>
          <p:cNvPr id="1487884" name="Rectangle 12"/>
          <p:cNvSpPr>
            <a:spLocks noChangeArrowheads="1"/>
          </p:cNvSpPr>
          <p:nvPr/>
        </p:nvSpPr>
        <p:spPr bwMode="auto">
          <a:xfrm>
            <a:off x="1412478" y="6047454"/>
            <a:ext cx="895350" cy="401637"/>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19469" name="AutoShape 13"/>
          <p:cNvCxnSpPr>
            <a:cxnSpLocks noChangeShapeType="1"/>
            <a:stCxn id="1487881" idx="1"/>
            <a:endCxn id="1487883" idx="3"/>
          </p:cNvCxnSpPr>
          <p:nvPr/>
        </p:nvCxnSpPr>
        <p:spPr bwMode="auto">
          <a:xfrm flipH="1">
            <a:off x="2249091" y="5447378"/>
            <a:ext cx="519113"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19470" name="AutoShape 14"/>
          <p:cNvCxnSpPr>
            <a:cxnSpLocks noChangeShapeType="1"/>
            <a:stCxn id="1487883" idx="2"/>
            <a:endCxn id="1487884" idx="0"/>
          </p:cNvCxnSpPr>
          <p:nvPr/>
        </p:nvCxnSpPr>
        <p:spPr bwMode="auto">
          <a:xfrm>
            <a:off x="1860153" y="5647403"/>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87" name="Rectangle 15"/>
          <p:cNvSpPr>
            <a:spLocks noChangeArrowheads="1"/>
          </p:cNvSpPr>
          <p:nvPr/>
        </p:nvSpPr>
        <p:spPr bwMode="auto">
          <a:xfrm>
            <a:off x="3873103" y="4366290"/>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学分</a:t>
            </a:r>
          </a:p>
        </p:txBody>
      </p:sp>
      <p:cxnSp>
        <p:nvCxnSpPr>
          <p:cNvPr id="19472" name="AutoShape 16"/>
          <p:cNvCxnSpPr>
            <a:cxnSpLocks noChangeShapeType="1"/>
            <a:stCxn id="1487882" idx="0"/>
            <a:endCxn id="1487887" idx="2"/>
          </p:cNvCxnSpPr>
          <p:nvPr/>
        </p:nvCxnSpPr>
        <p:spPr bwMode="auto">
          <a:xfrm flipV="1">
            <a:off x="4262040" y="4766341"/>
            <a:ext cx="1588" cy="481013"/>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89" name="Rectangle 17"/>
          <p:cNvSpPr>
            <a:spLocks noChangeArrowheads="1"/>
          </p:cNvSpPr>
          <p:nvPr/>
        </p:nvSpPr>
        <p:spPr bwMode="auto">
          <a:xfrm>
            <a:off x="4131866" y="6128415"/>
            <a:ext cx="779463"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成绩</a:t>
            </a:r>
          </a:p>
        </p:txBody>
      </p:sp>
      <p:cxnSp>
        <p:nvCxnSpPr>
          <p:cNvPr id="19474" name="AutoShape 18"/>
          <p:cNvCxnSpPr>
            <a:cxnSpLocks noChangeShapeType="1"/>
            <a:endCxn id="1487889" idx="0"/>
          </p:cNvCxnSpPr>
          <p:nvPr/>
        </p:nvCxnSpPr>
        <p:spPr bwMode="auto">
          <a:xfrm>
            <a:off x="4522390" y="5807741"/>
            <a:ext cx="0" cy="320675"/>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91" name="Rectangle 19"/>
          <p:cNvSpPr>
            <a:spLocks noChangeArrowheads="1"/>
          </p:cNvSpPr>
          <p:nvPr/>
        </p:nvSpPr>
        <p:spPr bwMode="auto">
          <a:xfrm>
            <a:off x="2768203" y="6047454"/>
            <a:ext cx="779462" cy="401637"/>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姓名</a:t>
            </a:r>
          </a:p>
        </p:txBody>
      </p:sp>
      <p:cxnSp>
        <p:nvCxnSpPr>
          <p:cNvPr id="19476" name="AutoShape 20"/>
          <p:cNvCxnSpPr>
            <a:cxnSpLocks noChangeShapeType="1"/>
            <a:stCxn id="1487881" idx="2"/>
            <a:endCxn id="1487891" idx="0"/>
          </p:cNvCxnSpPr>
          <p:nvPr/>
        </p:nvCxnSpPr>
        <p:spPr bwMode="auto">
          <a:xfrm>
            <a:off x="3158728" y="5647403"/>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93" name="Rectangle 21"/>
          <p:cNvSpPr>
            <a:spLocks noChangeArrowheads="1"/>
          </p:cNvSpPr>
          <p:nvPr/>
        </p:nvSpPr>
        <p:spPr bwMode="auto">
          <a:xfrm>
            <a:off x="6456040" y="4326744"/>
            <a:ext cx="5110980"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ts val="12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学号</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课名</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是主键。</a:t>
            </a:r>
          </a:p>
          <a:p>
            <a:pPr marL="0" marR="0" lvl="0" indent="0" algn="l" defTabSz="914400" rtl="0" eaLnBrk="1" fontAlgn="base" latinLnBrk="0" hangingPunct="1">
              <a:lnSpc>
                <a:spcPct val="100000"/>
              </a:lnSpc>
              <a:spcBef>
                <a:spcPct val="0"/>
              </a:spcBef>
              <a:spcAft>
                <a:spcPts val="1200"/>
              </a:spcAft>
              <a:buClrTx/>
              <a:buSzTx/>
              <a:buFontTx/>
              <a:buNone/>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学号和课名都是主属性。</a:t>
            </a:r>
          </a:p>
          <a:p>
            <a:pPr marL="0" marR="0" lvl="0" indent="0" algn="l" defTabSz="914400" rtl="0" eaLnBrk="1" fontAlgn="base" latinLnBrk="0" hangingPunct="1">
              <a:lnSpc>
                <a:spcPct val="100000"/>
              </a:lnSpc>
              <a:spcBef>
                <a:spcPct val="0"/>
              </a:spcBef>
              <a:spcAft>
                <a:spcPts val="1200"/>
              </a:spcAft>
              <a:buClrTx/>
              <a:buSzTx/>
              <a:buFontTx/>
              <a:buNone/>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系名、系主任、姓名、学分和成绩是非主属性。</a:t>
            </a:r>
          </a:p>
        </p:txBody>
      </p:sp>
      <p:sp>
        <p:nvSpPr>
          <p:cNvPr id="22" name="Line 5"/>
          <p:cNvSpPr>
            <a:spLocks noChangeShapeType="1"/>
          </p:cNvSpPr>
          <p:nvPr/>
        </p:nvSpPr>
        <p:spPr bwMode="auto">
          <a:xfrm>
            <a:off x="6456040" y="1231816"/>
            <a:ext cx="457200" cy="0"/>
          </a:xfrm>
          <a:prstGeom prst="line">
            <a:avLst/>
          </a:prstGeom>
          <a:noFill/>
          <a:ln w="38100" cap="sq">
            <a:solidFill>
              <a:srgbClr val="CCFFCC"/>
            </a:solidFill>
            <a:round/>
            <a:headEnd/>
            <a:tailEnd type="stealth"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Tree>
    <p:extLst>
      <p:ext uri="{BB962C8B-B14F-4D97-AF65-F5344CB8AC3E}">
        <p14:creationId xmlns:p14="http://schemas.microsoft.com/office/powerpoint/2010/main" val="456936455"/>
      </p:ext>
    </p:extLst>
  </p:cSld>
  <p:clrMapOvr>
    <a:masterClrMapping/>
  </p:clrMapOvr>
  <p:transition spd="med">
    <p:pull dir="d"/>
    <p:sndAc>
      <p:stSnd>
        <p:snd r:embed="rId2" name="arrow.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992668"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候选键的求解理论</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3" name="矩形 2"/>
          <p:cNvSpPr/>
          <p:nvPr/>
        </p:nvSpPr>
        <p:spPr>
          <a:xfrm>
            <a:off x="702507" y="949812"/>
            <a:ext cx="10506061" cy="3344698"/>
          </a:xfrm>
          <a:prstGeom prst="rect">
            <a:avLst/>
          </a:prstGeom>
        </p:spPr>
        <p:txBody>
          <a:bodyPr wrap="square">
            <a:spAutoFit/>
          </a:bodyPr>
          <a:lstStyle/>
          <a:p>
            <a:pPr marL="0" marR="0" lvl="0" indent="266700" algn="just" defTabSz="914400" rtl="0" eaLnBrk="1" fontAlgn="base" latinLnBrk="0" hangingPunct="1">
              <a:lnSpc>
                <a:spcPct val="125000"/>
              </a:lnSpc>
              <a:spcBef>
                <a:spcPct val="0"/>
              </a:spcBef>
              <a:spcAft>
                <a:spcPts val="1800"/>
              </a:spcAft>
              <a:buClrTx/>
              <a:buSzPct val="80000"/>
              <a:buFont typeface="Wingdings" pitchFamily="2" charset="2"/>
              <a:buNone/>
              <a:tabLst/>
              <a:defRPr/>
            </a:pP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R(U,F)</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的属性</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可分为以下四类</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endPar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endParaRPr>
          </a:p>
          <a:p>
            <a:pPr marL="457200" marR="0" lvl="0" indent="-457200" algn="just" defTabSz="914400" rtl="0" eaLnBrk="1" fontAlgn="base" latinLnBrk="0" hangingPunct="1">
              <a:lnSpc>
                <a:spcPct val="125000"/>
              </a:lnSpc>
              <a:spcBef>
                <a:spcPct val="0"/>
              </a:spcBef>
              <a:spcAft>
                <a:spcPts val="0"/>
              </a:spcAft>
              <a:buClrTx/>
              <a:buSzPct val="80000"/>
              <a:buFont typeface="Arial" panose="020B0604020202020204" pitchFamily="34" charset="0"/>
              <a:buChar char="•"/>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L</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类：仅出现在</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中的函数依赖的决定因素的属性。</a:t>
            </a:r>
          </a:p>
          <a:p>
            <a:pPr marL="457200" marR="0" lvl="0" indent="-457200" algn="just" defTabSz="914400" rtl="0" eaLnBrk="1" fontAlgn="base" latinLnBrk="0" hangingPunct="1">
              <a:lnSpc>
                <a:spcPct val="125000"/>
              </a:lnSpc>
              <a:spcBef>
                <a:spcPct val="0"/>
              </a:spcBef>
              <a:spcAft>
                <a:spcPts val="0"/>
              </a:spcAft>
              <a:buClrTx/>
              <a:buSzPct val="80000"/>
              <a:buFont typeface="Arial" panose="020B0604020202020204" pitchFamily="34" charset="0"/>
              <a:buChar char="•"/>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类：仅出现在</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的函数依赖的依赖因素的属性。</a:t>
            </a:r>
          </a:p>
          <a:p>
            <a:pPr marL="457200" marR="0" lvl="0" indent="-457200" algn="just" defTabSz="914400" rtl="0" eaLnBrk="1" fontAlgn="base" latinLnBrk="0" hangingPunct="1">
              <a:lnSpc>
                <a:spcPct val="125000"/>
              </a:lnSpc>
              <a:spcBef>
                <a:spcPct val="0"/>
              </a:spcBef>
              <a:spcAft>
                <a:spcPts val="0"/>
              </a:spcAft>
              <a:buClrTx/>
              <a:buSzPct val="80000"/>
              <a:buFont typeface="Arial" panose="020B0604020202020204" pitchFamily="34" charset="0"/>
              <a:buChar char="•"/>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N</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类：在</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的函数依赖左右两边均未出现的属性。</a:t>
            </a:r>
          </a:p>
          <a:p>
            <a:pPr marL="457200" marR="0" lvl="0" indent="-457200" algn="just" defTabSz="914400" rtl="0" eaLnBrk="1" fontAlgn="base" latinLnBrk="0" hangingPunct="1">
              <a:lnSpc>
                <a:spcPct val="125000"/>
              </a:lnSpc>
              <a:spcBef>
                <a:spcPct val="0"/>
              </a:spcBef>
              <a:spcAft>
                <a:spcPts val="0"/>
              </a:spcAft>
              <a:buClrTx/>
              <a:buSzPct val="80000"/>
              <a:buFont typeface="Arial" panose="020B0604020202020204" pitchFamily="34" charset="0"/>
              <a:buChar char="•"/>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LR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类：在</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F</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的函数依赖左右两边均出现的属性。</a:t>
            </a:r>
          </a:p>
        </p:txBody>
      </p:sp>
      <p:sp>
        <p:nvSpPr>
          <p:cNvPr id="24" name="矩形 23"/>
          <p:cNvSpPr/>
          <p:nvPr/>
        </p:nvSpPr>
        <p:spPr>
          <a:xfrm>
            <a:off x="1127448" y="4581128"/>
            <a:ext cx="10195439" cy="1876283"/>
          </a:xfrm>
          <a:prstGeom prst="rect">
            <a:avLst/>
          </a:prstGeom>
        </p:spPr>
        <p:txBody>
          <a:bodyPr wrap="square">
            <a:spAutoFit/>
          </a:bodyPr>
          <a:lstStyle/>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r>
              <a:rPr kumimoji="1" lang="zh-CN" altLang="en-US"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例如</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关系模式</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R(U,F)</a:t>
            </a:r>
            <a:r>
              <a:rPr kumimoji="1" lang="zh-CN" altLang="en-US"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中</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U=ABCD</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F={D</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AD</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AC</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r>
              <a:rPr kumimoji="1" lang="zh-CN" altLang="en-US"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则</a:t>
            </a:r>
            <a:r>
              <a:rPr kumimoji="1" lang="zh-CN"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可</a:t>
            </a:r>
            <a:r>
              <a:rPr kumimoji="1" lang="zh-CN" altLang="en-US"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知</a:t>
            </a:r>
            <a:r>
              <a:rPr kumimoji="1" lang="en-US"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A</a:t>
            </a:r>
            <a:r>
              <a:rPr kumimoji="1" lang="zh-CN"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C</a:t>
            </a:r>
            <a:r>
              <a:rPr kumimoji="1" lang="zh-CN"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1" lang="en-US"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L</a:t>
            </a:r>
            <a:r>
              <a:rPr kumimoji="1" lang="zh-CN"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a:t>
            </a:r>
            <a:r>
              <a:rPr kumimoji="1" lang="zh-CN" altLang="en-US"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en-US"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en-US"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1" lang="en-US"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1" lang="zh-CN" altLang="en-US"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a:t>
            </a:r>
            <a:r>
              <a:rPr kumimoji="1" lang="zh-CN" altLang="zh-CN" sz="3200" b="0"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20932699"/>
      </p:ext>
    </p:extLst>
  </p:cSld>
  <p:clrMapOvr>
    <a:masterClrMapping/>
  </p:clrMapOvr>
  <p:transition spd="slow">
    <p:push dir="u"/>
    <p:sndAc>
      <p:stSnd>
        <p:snd r:embed="rId2" name="arrow.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992668"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候选键的求解理论</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878C0C9-33E1-4AE4-9E50-6DB519AAA1BF}"/>
                  </a:ext>
                </a:extLst>
              </p:cNvPr>
              <p:cNvSpPr/>
              <p:nvPr/>
            </p:nvSpPr>
            <p:spPr>
              <a:xfrm>
                <a:off x="551384" y="1052736"/>
                <a:ext cx="10729192" cy="5332935"/>
              </a:xfrm>
              <a:prstGeom prst="rect">
                <a:avLst/>
              </a:prstGeom>
            </p:spPr>
            <p:txBody>
              <a:bodyPr wrap="square">
                <a:spAutoFit/>
              </a:bodyPr>
              <a:lstStyle/>
              <a:p>
                <a:pPr marL="0" marR="0" lvl="0" indent="267970" algn="just" defTabSz="914400" rtl="0" eaLnBrk="1" fontAlgn="base" latinLnBrk="0" hangingPunct="1">
                  <a:lnSpc>
                    <a:spcPct val="120000"/>
                  </a:lnSpc>
                  <a:spcBef>
                    <a:spcPts val="1800"/>
                  </a:spcBef>
                  <a:spcAft>
                    <a:spcPts val="1800"/>
                  </a:spcAft>
                  <a:buClrTx/>
                  <a:buSzPct val="80000"/>
                  <a:buFont typeface="Wingdings" pitchFamily="2" charset="2"/>
                  <a:buNone/>
                  <a:tabLst/>
                  <a:defRPr/>
                </a:pPr>
                <a:r>
                  <a:rPr kumimoji="1" lang="en-US" altLang="zh-CN" sz="3200" b="0" i="0" u="none" strike="noStrike" kern="1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对于关系模式</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R(U,F)</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14:m>
                  <m:oMath xmlns:m="http://schemas.openxmlformats.org/officeDocument/2006/math">
                    <m:r>
                      <a:rPr kumimoji="1" lang="en-US" altLang="zh-CN" sz="3200" b="0" i="0" u="none" strike="noStrike" kern="1200" cap="none" spc="0" normalizeH="0" baseline="0" noProof="0">
                        <a:ln>
                          <a:noFill/>
                        </a:ln>
                        <a:solidFill>
                          <a:srgbClr val="CCFFCC"/>
                        </a:solidFill>
                        <a:effectLst>
                          <a:outerShdw blurRad="38100" dist="38100" dir="2700000" algn="tl">
                            <a:srgbClr val="000000"/>
                          </a:outerShdw>
                        </a:effectLst>
                        <a:uLnTx/>
                        <a:uFillTx/>
                        <a:latin typeface="Cambria Math" panose="02040503050406030204" pitchFamily="18" charset="0"/>
                        <a:cs typeface="+mn-cs"/>
                      </a:rPr>
                      <m:t>∈</m:t>
                    </m:r>
                  </m:oMath>
                </a14:m>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U</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，有以下结论</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endPar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endParaRPr>
              </a:p>
              <a:p>
                <a:pPr marL="457200" marR="0" lvl="0" indent="-457200" algn="just" defTabSz="914400" rtl="0" eaLnBrk="1" fontAlgn="base" latinLnBrk="0" hangingPunct="1">
                  <a:lnSpc>
                    <a:spcPct val="120000"/>
                  </a:lnSpc>
                  <a:spcBef>
                    <a:spcPct val="0"/>
                  </a:spcBef>
                  <a:spcAft>
                    <a:spcPts val="1800"/>
                  </a:spcAft>
                  <a:buClrTx/>
                  <a:buSzPct val="80000"/>
                  <a:buFont typeface="Arial" panose="020B0604020202020204" pitchFamily="34" charset="0"/>
                  <a:buChar char="•"/>
                  <a:tabLst/>
                  <a:defRPr/>
                </a:pP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L</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类属性，则</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必为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的任一候选键的成员。</a:t>
                </a:r>
              </a:p>
              <a:p>
                <a:pPr marL="457200" marR="0" lvl="0" indent="-457200" algn="just" defTabSz="914400" rtl="0" eaLnBrk="1" fontAlgn="base" latinLnBrk="0" hangingPunct="1">
                  <a:lnSpc>
                    <a:spcPct val="120000"/>
                  </a:lnSpc>
                  <a:spcBef>
                    <a:spcPct val="0"/>
                  </a:spcBef>
                  <a:spcAft>
                    <a:spcPts val="1800"/>
                  </a:spcAft>
                  <a:buClrTx/>
                  <a:buSzPct val="80000"/>
                  <a:buFont typeface="Arial" panose="020B0604020202020204" pitchFamily="34" charset="0"/>
                  <a:buChar char="•"/>
                  <a:tabLst/>
                  <a:defRPr/>
                </a:pP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L</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类属性，且</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=U</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，则</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必为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的唯一候选键。</a:t>
                </a:r>
              </a:p>
              <a:p>
                <a:pPr marL="457200" marR="0" lvl="0" indent="-457200" algn="just" defTabSz="914400" rtl="0" eaLnBrk="1" fontAlgn="base" latinLnBrk="0" hangingPunct="1">
                  <a:lnSpc>
                    <a:spcPct val="120000"/>
                  </a:lnSpc>
                  <a:spcBef>
                    <a:spcPct val="0"/>
                  </a:spcBef>
                  <a:spcAft>
                    <a:spcPts val="1800"/>
                  </a:spcAft>
                  <a:buClrTx/>
                  <a:buSzPct val="80000"/>
                  <a:buFont typeface="Arial" panose="020B0604020202020204" pitchFamily="34" charset="0"/>
                  <a:buChar char="•"/>
                  <a:tabLst/>
                  <a:defRPr/>
                </a:pP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类属性，则</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不在任何候选键中。</a:t>
                </a:r>
              </a:p>
              <a:p>
                <a:pPr marL="457200" marR="0" lvl="0" indent="-457200" algn="just" defTabSz="914400" rtl="0" eaLnBrk="1" fontAlgn="base" latinLnBrk="0" hangingPunct="1">
                  <a:lnSpc>
                    <a:spcPct val="120000"/>
                  </a:lnSpc>
                  <a:spcBef>
                    <a:spcPct val="0"/>
                  </a:spcBef>
                  <a:spcAft>
                    <a:spcPts val="1800"/>
                  </a:spcAft>
                  <a:buClrTx/>
                  <a:buSzPct val="80000"/>
                  <a:buFont typeface="Arial" panose="020B0604020202020204" pitchFamily="34" charset="0"/>
                  <a:buChar char="•"/>
                  <a:tabLst/>
                  <a:defRPr/>
                </a:pP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若</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N</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类属性，则</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必为</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的任一候选键的成员。</a:t>
                </a:r>
              </a:p>
              <a:p>
                <a:pPr marL="457200" marR="0" lvl="0" indent="-457200" algn="just" defTabSz="914400" rtl="0" eaLnBrk="1" fontAlgn="base" latinLnBrk="0" hangingPunct="1">
                  <a:lnSpc>
                    <a:spcPct val="120000"/>
                  </a:lnSpc>
                  <a:spcBef>
                    <a:spcPct val="0"/>
                  </a:spcBef>
                  <a:spcAft>
                    <a:spcPts val="1800"/>
                  </a:spcAft>
                  <a:buClrTx/>
                  <a:buSzPct val="80000"/>
                  <a:buFont typeface="Arial" panose="020B0604020202020204" pitchFamily="34" charset="0"/>
                  <a:buChar char="•"/>
                  <a:tabLst/>
                  <a:defRPr/>
                </a:pPr>
                <a:r>
                  <a:rPr kumimoji="1" lang="zh-CN" altLang="zh-CN"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ea typeface="楷体_GB2312" pitchFamily="49" charset="-122"/>
                    <a:cs typeface="+mn-cs"/>
                  </a:rPr>
                  <a:t>若</a:t>
                </a:r>
                <a:r>
                  <a:rPr kumimoji="1" lang="en-US" altLang="zh-CN"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N</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类和</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L</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类属性组成的属性集，且</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=U</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，则</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的唯一候选键。</a:t>
                </a:r>
              </a:p>
            </p:txBody>
          </p:sp>
        </mc:Choice>
        <mc:Fallback xmlns="">
          <p:sp>
            <p:nvSpPr>
              <p:cNvPr id="5" name="矩形 4">
                <a:extLst>
                  <a:ext uri="{FF2B5EF4-FFF2-40B4-BE49-F238E27FC236}">
                    <a16:creationId xmlns:a16="http://schemas.microsoft.com/office/drawing/2014/main" id="{6878C0C9-33E1-4AE4-9E50-6DB519AAA1BF}"/>
                  </a:ext>
                </a:extLst>
              </p:cNvPr>
              <p:cNvSpPr>
                <a:spLocks noRot="1" noChangeAspect="1" noMove="1" noResize="1" noEditPoints="1" noAdjustHandles="1" noChangeArrowheads="1" noChangeShapeType="1" noTextEdit="1"/>
              </p:cNvSpPr>
              <p:nvPr/>
            </p:nvSpPr>
            <p:spPr>
              <a:xfrm>
                <a:off x="551384" y="1052736"/>
                <a:ext cx="10729192" cy="5332935"/>
              </a:xfrm>
              <a:prstGeom prst="rect">
                <a:avLst/>
              </a:prstGeom>
              <a:blipFill>
                <a:blip r:embed="rId3"/>
                <a:stretch>
                  <a:fillRect l="-909" t="-1257" r="-1818" b="-34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04303882"/>
      </p:ext>
    </p:extLst>
  </p:cSld>
  <p:clrMapOvr>
    <a:masterClrMapping/>
  </p:clrMapOvr>
  <p:transition spd="slow">
    <p:wipe dir="d"/>
    <p:sndAc>
      <p:stSnd>
        <p:snd r:embed="rId2" name="arrow.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1055440"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候选键的求解算法</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3" name="矩形 2"/>
          <p:cNvSpPr/>
          <p:nvPr/>
        </p:nvSpPr>
        <p:spPr>
          <a:xfrm>
            <a:off x="335360" y="764704"/>
            <a:ext cx="11233248" cy="6155531"/>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ts val="300"/>
              </a:spcAft>
              <a:buClrTx/>
              <a:buSzPct val="80000"/>
              <a:buFont typeface="Wingdings" pitchFamily="2" charset="2"/>
              <a:buNone/>
              <a:tabLst/>
              <a:defRPr/>
            </a:pP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设有关系模式</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R(U,F)</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U</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是属性全集，</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上的一个函数依赖集</a:t>
            </a:r>
            <a:r>
              <a:rPr kumimoji="1" lang="zh-CN" altLang="en-US"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的所有候选键。</a:t>
            </a:r>
          </a:p>
          <a:p>
            <a:pPr marL="457200" marR="0" lvl="0" indent="-457200" algn="just" defTabSz="914400" rtl="0" eaLnBrk="1" fontAlgn="base" latinLnBrk="0" hangingPunct="1">
              <a:lnSpc>
                <a:spcPct val="100000"/>
              </a:lnSpc>
              <a:spcBef>
                <a:spcPct val="0"/>
              </a:spcBef>
              <a:spcAft>
                <a:spcPts val="300"/>
              </a:spcAft>
              <a:buClrTx/>
              <a:buSzPct val="100000"/>
              <a:buFont typeface="+mj-lt"/>
              <a:buAutoNum type="arabicPeriod"/>
              <a:tabLst/>
              <a:defRPr/>
            </a:pP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根据函数依赖集</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，将</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的所有属性分为</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类和</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类等四类，并令</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代表</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类和</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代表</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类属性。令</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en-US"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457200" marR="0" lvl="0" indent="-457200" algn="just" defTabSz="914400" rtl="0" eaLnBrk="1" fontAlgn="base" latinLnBrk="0" hangingPunct="1">
              <a:lnSpc>
                <a:spcPct val="100000"/>
              </a:lnSpc>
              <a:spcBef>
                <a:spcPct val="0"/>
              </a:spcBef>
              <a:spcAft>
                <a:spcPts val="300"/>
              </a:spcAft>
              <a:buClrTx/>
              <a:buSzPct val="100000"/>
              <a:buFont typeface="+mj-lt"/>
              <a:buAutoNum type="arabicPeriod"/>
              <a:tabLst/>
              <a:defRPr/>
            </a:pP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，若</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=U</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，则</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即为</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的唯一候选键，转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；否则转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457200" marR="0" lvl="0" indent="-457200" algn="just" defTabSz="914400" rtl="0" eaLnBrk="1" fontAlgn="base" latinLnBrk="0" hangingPunct="1">
              <a:lnSpc>
                <a:spcPct val="100000"/>
              </a:lnSpc>
              <a:spcBef>
                <a:spcPct val="0"/>
              </a:spcBef>
              <a:spcAft>
                <a:spcPts val="300"/>
              </a:spcAft>
              <a:buClrTx/>
              <a:buSzPct val="100000"/>
              <a:buFont typeface="+mj-lt"/>
              <a:buAutoNum type="arabicPeriod"/>
              <a:tabLst/>
              <a:defRPr/>
            </a:pP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对</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中每一个属性</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a:t>
            </a:r>
            <a:r>
              <a:rPr kumimoji="1" lang="en-US" altLang="zh-CN" sz="28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宋体" panose="02010600030101010101" pitchFamily="2" charset="-122"/>
              </a:rPr>
              <a:t>。若某个</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a:t>
            </a:r>
            <a:r>
              <a:rPr kumimoji="1" lang="en-US" altLang="zh-CN" sz="28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0" i="0" u="none" strike="noStrike" kern="100" cap="none" spc="0" normalizeH="0" baseline="0" noProof="0" dirty="0">
                <a:ln>
                  <a:noFill/>
                </a:ln>
                <a:solidFill>
                  <a:srgbClr val="CCFFCC"/>
                </a:solidFill>
                <a:effectLst/>
                <a:uLnTx/>
                <a:uFillTx/>
                <a:latin typeface="宋体" panose="02010600030101010101" pitchFamily="2" charset="-122"/>
                <a:ea typeface="宋体" panose="02010600030101010101" pitchFamily="2" charset="-122"/>
                <a:cs typeface="宋体" panose="02010600030101010101" pitchFamily="2" charset="-122"/>
              </a:rPr>
              <a:t>=U</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，将此</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并入</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并将该属性</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从</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中去除。全部完成后若</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则转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；否则转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457200" marR="0" lvl="0" indent="-457200" algn="just" defTabSz="914400" rtl="0" eaLnBrk="1" fontAlgn="base" latinLnBrk="0" hangingPunct="1">
              <a:lnSpc>
                <a:spcPct val="100000"/>
              </a:lnSpc>
              <a:spcBef>
                <a:spcPct val="0"/>
              </a:spcBef>
              <a:spcAft>
                <a:spcPts val="300"/>
              </a:spcAft>
              <a:buClrTx/>
              <a:buSzPct val="100000"/>
              <a:buFont typeface="+mj-lt"/>
              <a:buAutoNum type="arabicPeriod"/>
              <a:tabLst/>
              <a:defRPr/>
            </a:pP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求出</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中的所有两个属性的组合，将每一种组合与</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合并求属性集的闭包。如果某个组合与</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合并的属性集闭包包含了所有的属性，则将此组合与</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合并的属性集并入</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，并将该组合的属性从</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中去除。全部完成后若</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则转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；否则转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457200" marR="0" lvl="0" indent="-457200" algn="just" defTabSz="914400" rtl="0" eaLnBrk="1" fontAlgn="base" latinLnBrk="0" hangingPunct="1">
              <a:lnSpc>
                <a:spcPct val="100000"/>
              </a:lnSpc>
              <a:spcBef>
                <a:spcPct val="0"/>
              </a:spcBef>
              <a:spcAft>
                <a:spcPts val="300"/>
              </a:spcAft>
              <a:buClrTx/>
              <a:buSzPct val="100000"/>
              <a:buFont typeface="+mj-lt"/>
              <a:buAutoNum type="arabicPeriod"/>
              <a:tabLst/>
              <a:defRPr/>
            </a:pPr>
            <a:r>
              <a:rPr kumimoji="1" lang="zh-CN" altLang="en-US"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仿照</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步，求</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个属性组合、</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个属性组合…，直到</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转</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457200" marR="0" lvl="0" indent="-457200" algn="just" defTabSz="914400" rtl="0" eaLnBrk="1" fontAlgn="base" latinLnBrk="0" hangingPunct="1">
              <a:lnSpc>
                <a:spcPct val="100000"/>
              </a:lnSpc>
              <a:spcBef>
                <a:spcPct val="0"/>
              </a:spcBef>
              <a:spcAft>
                <a:spcPts val="300"/>
              </a:spcAft>
              <a:buClrTx/>
              <a:buSzPct val="100000"/>
              <a:buFont typeface="+mj-lt"/>
              <a:buAutoNum type="arabicPeriod"/>
              <a:tabLst/>
              <a:defRPr/>
            </a:pP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停止，输出</a:t>
            </a:r>
            <a:r>
              <a:rPr kumimoji="1" lang="en-US"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zh-CN" sz="28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210566878"/>
      </p:ext>
    </p:extLst>
  </p:cSld>
  <p:clrMapOvr>
    <a:masterClrMapping/>
  </p:clrMapOvr>
  <p:transition spd="slow">
    <p:push dir="u"/>
    <p:sndAc>
      <p:stSnd>
        <p:snd r:embed="rId2" name="arrow.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1055440"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候选键的求解算法</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4" name="矩形 3">
            <a:extLst>
              <a:ext uri="{FF2B5EF4-FFF2-40B4-BE49-F238E27FC236}">
                <a16:creationId xmlns:a16="http://schemas.microsoft.com/office/drawing/2014/main" id="{9A8B95E7-BBB6-485A-814D-318A873C38E2}"/>
              </a:ext>
            </a:extLst>
          </p:cNvPr>
          <p:cNvSpPr/>
          <p:nvPr/>
        </p:nvSpPr>
        <p:spPr>
          <a:xfrm>
            <a:off x="569225" y="1124744"/>
            <a:ext cx="11053549" cy="4176784"/>
          </a:xfrm>
          <a:prstGeom prst="rect">
            <a:avLst/>
          </a:prstGeom>
        </p:spPr>
        <p:txBody>
          <a:bodyPr wrap="square">
            <a:spAutoFit/>
          </a:bodyPr>
          <a:lstStyle/>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r>
              <a:rPr kumimoji="1" lang="zh-CN" altLang="zh-CN" sz="3600" b="0" i="0" u="none" strike="noStrike" kern="1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设有关系模式</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R(U,F)</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U=ABCD</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F={D</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AD</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AC</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的所有候选键。</a:t>
            </a:r>
            <a:endParaRPr kumimoji="1" lang="en-US"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endParaRPr kumimoji="1" lang="zh-CN" altLang="zh-CN" sz="3600" b="0" i="0" u="none" strike="noStrike" kern="100" cap="none" spc="0" normalizeH="0" baseline="0" noProof="0" dirty="0">
              <a:ln>
                <a:noFill/>
              </a:ln>
              <a:solidFill>
                <a:srgbClr val="66FF33"/>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解：依据</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可见</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两属性是</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类属性，故</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两属性必为</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的任一候选键的成员；可求得</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AC</a:t>
            </a:r>
            <a:r>
              <a:rPr kumimoji="1" lang="en-US" altLang="zh-CN" sz="36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=ABCD=U</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，因此解出</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AC</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的唯一候选键。</a:t>
            </a:r>
            <a:endPar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50630949"/>
      </p:ext>
    </p:extLst>
  </p:cSld>
  <p:clrMapOvr>
    <a:masterClrMapping/>
  </p:clrMapOvr>
  <p:transition spd="med">
    <p:pull dir="d"/>
    <p:sndAc>
      <p:stSnd>
        <p:snd r:embed="rId2" name="arrow.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up)">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1055440"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候选键的求解算法</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4" name="矩形 3">
            <a:extLst>
              <a:ext uri="{FF2B5EF4-FFF2-40B4-BE49-F238E27FC236}">
                <a16:creationId xmlns:a16="http://schemas.microsoft.com/office/drawing/2014/main" id="{9A8B95E7-BBB6-485A-814D-318A873C38E2}"/>
              </a:ext>
            </a:extLst>
          </p:cNvPr>
          <p:cNvSpPr/>
          <p:nvPr/>
        </p:nvSpPr>
        <p:spPr>
          <a:xfrm>
            <a:off x="569225" y="1124744"/>
            <a:ext cx="11215407" cy="4869282"/>
          </a:xfrm>
          <a:prstGeom prst="rect">
            <a:avLst/>
          </a:prstGeom>
        </p:spPr>
        <p:txBody>
          <a:bodyPr wrap="square">
            <a:spAutoFit/>
          </a:bodyPr>
          <a:lstStyle/>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r>
              <a:rPr kumimoji="1" lang="zh-CN" altLang="zh-CN" sz="3600" b="0" i="0" u="none" strike="noStrike" kern="1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设有关系模式</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R(U,F)</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U=ABCDEG</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F={A</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DC</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1" lang="en-US"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6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的所有候选键。</a:t>
            </a:r>
          </a:p>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endPar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Pct val="80000"/>
              <a:buFont typeface="Wingdings" pitchFamily="2" charset="2"/>
              <a:buNone/>
              <a:tabLst/>
              <a:defRPr/>
            </a:pP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解：根据</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可知</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两属性是</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类属性，故</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两属性必为</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的任一候选键的成员；又由于</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类属性，故</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也必为</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的任一候选键的成员。计算</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CEG</a:t>
            </a:r>
            <a:r>
              <a:rPr kumimoji="1" lang="en-US" altLang="zh-CN" sz="36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 ABCDEG=U</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CEG</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r>
              <a:rPr kumimoji="1" lang="en-US"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6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的唯一候选键。</a:t>
            </a:r>
          </a:p>
        </p:txBody>
      </p:sp>
    </p:spTree>
    <p:extLst>
      <p:ext uri="{BB962C8B-B14F-4D97-AF65-F5344CB8AC3E}">
        <p14:creationId xmlns:p14="http://schemas.microsoft.com/office/powerpoint/2010/main" val="3338511428"/>
      </p:ext>
    </p:extLst>
  </p:cSld>
  <p:clrMapOvr>
    <a:masterClrMapping/>
  </p:clrMapOvr>
  <p:transition spd="med">
    <p:pull dir="d"/>
    <p:sndAc>
      <p:stSnd>
        <p:snd r:embed="rId2" name="arrow.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up)">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1055440"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候选键的求解算法</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5" name="矩形 4">
            <a:extLst>
              <a:ext uri="{FF2B5EF4-FFF2-40B4-BE49-F238E27FC236}">
                <a16:creationId xmlns:a16="http://schemas.microsoft.com/office/drawing/2014/main" id="{34CD1877-F05A-42B3-AF1A-FFB8720F70C5}"/>
              </a:ext>
            </a:extLst>
          </p:cNvPr>
          <p:cNvSpPr/>
          <p:nvPr/>
        </p:nvSpPr>
        <p:spPr>
          <a:xfrm>
            <a:off x="263352" y="908720"/>
            <a:ext cx="11593288" cy="5816977"/>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defRPr/>
            </a:pPr>
            <a:r>
              <a:rPr kumimoji="1" lang="zh-CN" altLang="zh-CN" sz="3200" b="0" i="0" u="none" strike="noStrike" kern="1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设有关系模式</a:t>
            </a:r>
            <a:r>
              <a:rPr kumimoji="1" lang="en-US"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R(A,B,C,D,E)</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与它的函数依赖集</a:t>
            </a:r>
            <a:r>
              <a:rPr kumimoji="1" lang="en-US"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F={A</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BC, B</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D,CD</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E,E</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1" lang="en-US"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R</a:t>
            </a:r>
            <a:r>
              <a:rPr kumimoji="1" lang="zh-CN" altLang="zh-CN" sz="3200" b="0" i="0" u="none" strike="noStrike" kern="100" cap="none" spc="0" normalizeH="0" baseline="0" noProof="0" dirty="0">
                <a:ln>
                  <a:noFill/>
                </a:ln>
                <a:solidFill>
                  <a:srgbClr val="66FF33"/>
                </a:solidFill>
                <a:effectLst/>
                <a:uLnTx/>
                <a:uFillTx/>
                <a:latin typeface="Times New Roman" panose="02020603050405020304" pitchFamily="18" charset="0"/>
                <a:ea typeface="宋体" panose="02010600030101010101" pitchFamily="2" charset="-122"/>
                <a:cs typeface="Times New Roman" panose="02020603050405020304" pitchFamily="18" charset="0"/>
              </a:rPr>
              <a:t>的所有候选键。</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defRPr/>
            </a:pP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解：由</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可见所有属性均为</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LR</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类，无</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L</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类和</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类属性，即</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1" lang="zh-CN" altLang="en-US"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Y={A,B,C,D,E}</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。令</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en-US"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defRPr/>
            </a:pP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中各属性的闭包：</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=ABCDE</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=BD</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=ABCDE</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。可见</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都是候选键。将其并入</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，得</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。然后将</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从</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中去掉得</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 ={B,C,D}</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defRPr/>
            </a:pP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由于</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取其中属性的两两组合的闭包：</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=BDCEA</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BD</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=BD</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CD</a:t>
            </a:r>
            <a:r>
              <a:rPr kumimoji="1" lang="en-US" altLang="zh-CN" sz="3200" b="0" i="0" u="none" strike="noStrike" kern="100" cap="none" spc="0" normalizeH="0" baseline="3000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=CDEAB</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。可见</a:t>
            </a:r>
            <a:r>
              <a:rPr kumimoji="1" lang="en-US" altLang="zh-CN" sz="3200" b="0" i="0" u="none" strike="noStrike" kern="100" cap="none" spc="0" normalizeH="0" baseline="0" noProof="0" dirty="0">
                <a:ln>
                  <a:noFill/>
                </a:ln>
                <a:solidFill>
                  <a:srgbClr val="CCFFCC"/>
                </a:solidFill>
                <a:effectLst/>
                <a:uLnTx/>
                <a:uFillTx/>
                <a:latin typeface="宋体" panose="02010600030101010101" pitchFamily="2" charset="-122"/>
                <a:ea typeface="宋体" panose="02010600030101010101" pitchFamily="2" charset="-122"/>
                <a:cs typeface="Times New Roman" panose="02020603050405020304" pitchFamily="18" charset="0"/>
              </a:rPr>
              <a:t>BC</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CD</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也是候选键，并入</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，得</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K={A</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CD}</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。然后将</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B</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从</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中去掉得</a:t>
            </a:r>
            <a:r>
              <a:rPr kumimoji="1" lang="en-US"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just" defTabSz="914400" rtl="0" eaLnBrk="1" fontAlgn="base" latinLnBrk="0" hangingPunct="1">
              <a:lnSpc>
                <a:spcPct val="100000"/>
              </a:lnSpc>
              <a:spcBef>
                <a:spcPct val="0"/>
              </a:spcBef>
              <a:spcAft>
                <a:spcPts val="600"/>
              </a:spcAft>
              <a:buClrTx/>
              <a:buSzPct val="80000"/>
              <a:buFont typeface="Wingdings" pitchFamily="2" charset="2"/>
              <a:buNone/>
              <a:tabLst/>
              <a:defRPr/>
            </a:pPr>
            <a:r>
              <a:rPr kumimoji="1" lang="zh-CN" altLang="zh-CN" sz="3200" b="0" i="0" u="none" strike="noStrike" kern="1200" cap="none" spc="0" normalizeH="0" baseline="0" noProof="0" dirty="0">
                <a:ln>
                  <a:noFill/>
                </a:ln>
                <a:solidFill>
                  <a:srgbClr val="CCFFCC"/>
                </a:solidFill>
                <a:effectLst/>
                <a:uLnTx/>
                <a:uFillTx/>
                <a:ea typeface="宋体" panose="02010600030101010101" pitchFamily="2" charset="-122"/>
                <a:cs typeface="Times New Roman" panose="02020603050405020304" pitchFamily="18" charset="0"/>
              </a:rPr>
              <a:t>由于</a:t>
            </a:r>
            <a:r>
              <a:rPr kumimoji="1" lang="en-US" altLang="zh-CN" sz="3200" b="0" i="0" u="none" strike="noStrike" kern="1200" cap="none" spc="0" normalizeH="0" baseline="0" noProof="0" dirty="0">
                <a:ln>
                  <a:noFill/>
                </a:ln>
                <a:solidFill>
                  <a:srgbClr val="CCFFCC"/>
                </a:solidFill>
                <a:effectLst/>
                <a:uLnTx/>
                <a:uFillTx/>
                <a:ea typeface="宋体" panose="02010600030101010101" pitchFamily="2" charset="-122"/>
                <a:cs typeface="Times New Roman" panose="02020603050405020304" pitchFamily="18" charset="0"/>
              </a:rPr>
              <a:t>Y</a:t>
            </a:r>
            <a:r>
              <a:rPr kumimoji="1" lang="zh-CN" altLang="zh-CN" sz="3200" b="0" i="0" u="none" strike="noStrike" kern="1200" cap="none" spc="0" normalizeH="0" baseline="0" noProof="0" dirty="0">
                <a:ln>
                  <a:noFill/>
                </a:ln>
                <a:solidFill>
                  <a:srgbClr val="CCFFCC"/>
                </a:solidFill>
                <a:effectLst/>
                <a:uLnTx/>
                <a:uFillTx/>
                <a:ea typeface="宋体" panose="02010600030101010101" pitchFamily="2" charset="-122"/>
                <a:cs typeface="Times New Roman" panose="02020603050405020304" pitchFamily="18" charset="0"/>
              </a:rPr>
              <a:t>为空，算法结束。所以</a:t>
            </a:r>
            <a:r>
              <a:rPr kumimoji="1" lang="en-US" altLang="zh-CN" sz="3200" b="0" i="0" u="none" strike="noStrike" kern="1200" cap="none" spc="0" normalizeH="0" baseline="0" noProof="0" dirty="0">
                <a:ln>
                  <a:noFill/>
                </a:ln>
                <a:solidFill>
                  <a:srgbClr val="CCFFCC"/>
                </a:solidFill>
                <a:effectLst/>
                <a:uLnTx/>
                <a:uFillTx/>
                <a:ea typeface="宋体" panose="02010600030101010101" pitchFamily="2" charset="-122"/>
                <a:cs typeface="Times New Roman" panose="02020603050405020304" pitchFamily="18" charset="0"/>
              </a:rPr>
              <a:t>R</a:t>
            </a:r>
            <a:r>
              <a:rPr kumimoji="1" lang="zh-CN" altLang="zh-CN" sz="3200" b="0" i="0" u="none" strike="noStrike" kern="1200" cap="none" spc="0" normalizeH="0" baseline="0" noProof="0" dirty="0">
                <a:ln>
                  <a:noFill/>
                </a:ln>
                <a:solidFill>
                  <a:srgbClr val="CCFFCC"/>
                </a:solidFill>
                <a:effectLst/>
                <a:uLnTx/>
                <a:uFillTx/>
                <a:ea typeface="宋体" panose="02010600030101010101" pitchFamily="2" charset="-122"/>
                <a:cs typeface="Times New Roman" panose="02020603050405020304" pitchFamily="18" charset="0"/>
              </a:rPr>
              <a:t>的候选键有</a:t>
            </a:r>
            <a:r>
              <a:rPr kumimoji="1" lang="en-US"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rPr>
              <a:t>A</a:t>
            </a:r>
            <a:r>
              <a:rPr kumimoji="1" lang="zh-CN"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rPr>
              <a:t>E</a:t>
            </a:r>
            <a:r>
              <a:rPr kumimoji="1" lang="zh-CN"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rPr>
              <a:t>BC</a:t>
            </a:r>
            <a:r>
              <a:rPr kumimoji="1" lang="zh-CN"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rPr>
              <a:t>CD</a:t>
            </a:r>
            <a:r>
              <a:rPr kumimoji="1" lang="zh-CN"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共</a:t>
            </a:r>
            <a:r>
              <a:rPr kumimoji="1" lang="en-US"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rPr>
              <a:t>4</a:t>
            </a:r>
            <a:r>
              <a:rPr kumimoji="1" lang="zh-CN" altLang="zh-CN" sz="3200" b="0" i="0" u="none" strike="noStrike" kern="12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rPr>
              <a:t>个。</a:t>
            </a:r>
            <a:endParaRPr kumimoji="1" lang="zh-CN" altLang="zh-CN" sz="3200" b="0" i="0" u="none" strike="noStrike" kern="100" cap="none" spc="0" normalizeH="0" baseline="0" noProof="0" dirty="0">
              <a:ln>
                <a:noFill/>
              </a:ln>
              <a:solidFill>
                <a:srgbClr val="CCFFCC"/>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5654373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250">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up)">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up)">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solidFill>
                  <a:srgbClr val="FFFF00"/>
                </a:solidFill>
              </a:rPr>
              <a:t>课后习题二</a:t>
            </a:r>
            <a:r>
              <a:rPr lang="en-US" altLang="zh-CN" dirty="0" smtClean="0">
                <a:solidFill>
                  <a:srgbClr val="FFFF00"/>
                </a:solidFill>
              </a:rPr>
              <a:t>.3,4</a:t>
            </a:r>
            <a:endParaRPr lang="zh-CN" altLang="en-US" dirty="0">
              <a:solidFill>
                <a:srgbClr val="FFFF00"/>
              </a:solidFill>
            </a:endParaRPr>
          </a:p>
        </p:txBody>
      </p:sp>
    </p:spTree>
    <p:extLst>
      <p:ext uri="{BB962C8B-B14F-4D97-AF65-F5344CB8AC3E}">
        <p14:creationId xmlns:p14="http://schemas.microsoft.com/office/powerpoint/2010/main" val="2287815597"/>
      </p:ext>
    </p:extLst>
  </p:cSld>
  <p:clrMapOvr>
    <a:masterClrMapping/>
  </p:clrMapOvr>
  <p:transition spd="slow">
    <p:wipe dir="r"/>
    <p:sndAc>
      <p:stSnd>
        <p:snd r:embed="rId2" name="arrow.wav"/>
      </p:stSnd>
    </p:sndAc>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2132856"/>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第三节</a:t>
            </a:r>
          </a:p>
        </p:txBody>
      </p:sp>
      <p:sp>
        <p:nvSpPr>
          <p:cNvPr id="2" name="标题 1"/>
          <p:cNvSpPr>
            <a:spLocks noGrp="1"/>
          </p:cNvSpPr>
          <p:nvPr>
            <p:ph type="title"/>
          </p:nvPr>
        </p:nvSpPr>
        <p:spPr>
          <a:xfrm>
            <a:off x="1055440" y="3861048"/>
            <a:ext cx="10081120" cy="1289804"/>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关系模式的规范化</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1040988" y="260648"/>
            <a:ext cx="4464496"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第六章  关系数据库设计理论</a:t>
            </a:r>
          </a:p>
        </p:txBody>
      </p:sp>
    </p:spTree>
    <p:extLst>
      <p:ext uri="{BB962C8B-B14F-4D97-AF65-F5344CB8AC3E}">
        <p14:creationId xmlns:p14="http://schemas.microsoft.com/office/powerpoint/2010/main" val="5780909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idx="4294967295"/>
          </p:nvPr>
        </p:nvSpPr>
        <p:spPr>
          <a:xfrm>
            <a:off x="773884" y="92019"/>
            <a:ext cx="6604693" cy="707886"/>
          </a:xfrm>
        </p:spPr>
        <p:txBody>
          <a:bodyPr/>
          <a:lstStyle/>
          <a:p>
            <a:r>
              <a:rPr lang="en-US" altLang="zh-CN" smtClean="0"/>
              <a:t>6.3</a:t>
            </a:r>
            <a:r>
              <a:rPr lang="zh-CN" altLang="en-US" smtClean="0"/>
              <a:t>关系模式的范式与规范化</a:t>
            </a:r>
          </a:p>
        </p:txBody>
      </p:sp>
      <p:sp>
        <p:nvSpPr>
          <p:cNvPr id="931843" name="Rectangle 3"/>
          <p:cNvSpPr>
            <a:spLocks noGrp="1" noChangeArrowheads="1"/>
          </p:cNvSpPr>
          <p:nvPr>
            <p:ph type="body" idx="4294967295"/>
          </p:nvPr>
        </p:nvSpPr>
        <p:spPr/>
        <p:txBody>
          <a:bodyPr/>
          <a:lstStyle/>
          <a:p>
            <a:pPr>
              <a:lnSpc>
                <a:spcPct val="150000"/>
              </a:lnSpc>
            </a:pPr>
            <a:r>
              <a:rPr lang="zh-CN" altLang="en-US" dirty="0" smtClean="0"/>
              <a:t>在关系数据库设计时，为了消除关系模式中不适当的数据依赖引起的数据冗余和操作异常等问题，就必须对关系模式进行规范化，使关系模式满足一系列的条件或要求。关系模式规范化的标准就是</a:t>
            </a:r>
            <a:r>
              <a:rPr lang="zh-CN" altLang="en-US" dirty="0" smtClean="0">
                <a:solidFill>
                  <a:srgbClr val="FFFF00"/>
                </a:solidFill>
              </a:rPr>
              <a:t>范式</a:t>
            </a:r>
            <a:r>
              <a:rPr lang="zh-CN" altLang="en-US" dirty="0" smtClean="0"/>
              <a:t>（</a:t>
            </a:r>
            <a:r>
              <a:rPr lang="en-US" altLang="zh-CN" dirty="0" smtClean="0"/>
              <a:t>Normal Form</a:t>
            </a:r>
            <a:r>
              <a:rPr lang="zh-CN" altLang="en-US" dirty="0" smtClean="0"/>
              <a:t>，</a:t>
            </a:r>
            <a:r>
              <a:rPr lang="en-US" altLang="zh-CN" dirty="0" smtClean="0"/>
              <a:t>NF</a:t>
            </a:r>
            <a:r>
              <a:rPr lang="zh-CN" altLang="en-US" dirty="0" smtClean="0"/>
              <a:t>）。</a:t>
            </a:r>
          </a:p>
        </p:txBody>
      </p:sp>
    </p:spTree>
    <p:extLst>
      <p:ext uri="{BB962C8B-B14F-4D97-AF65-F5344CB8AC3E}">
        <p14:creationId xmlns:p14="http://schemas.microsoft.com/office/powerpoint/2010/main" val="1391335824"/>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title"/>
          </p:nvPr>
        </p:nvSpPr>
        <p:spPr>
          <a:xfrm>
            <a:off x="1028874" y="-24762"/>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范式 </a:t>
            </a:r>
            <a:r>
              <a:rPr kumimoji="1" lang="en-US" altLang="zh-CN" sz="3600" u="sng" dirty="0">
                <a:solidFill>
                  <a:srgbClr val="FFFFCC"/>
                </a:solidFill>
                <a:effectLst>
                  <a:outerShdw blurRad="38100" dist="38100" dir="2700000" algn="tl">
                    <a:srgbClr val="000000"/>
                  </a:outerShdw>
                </a:effectLst>
                <a:latin typeface="Arial" pitchFamily="34" charset="0"/>
                <a:cs typeface="+mn-cs"/>
              </a:rPr>
              <a:t>(Normal Form)</a:t>
            </a:r>
            <a:r>
              <a:rPr kumimoji="1" lang="zh-CN" altLang="en-US" u="sng" dirty="0">
                <a:solidFill>
                  <a:srgbClr val="FFFFCC"/>
                </a:solidFill>
                <a:effectLst>
                  <a:outerShdw blurRad="38100" dist="38100" dir="2700000" algn="tl">
                    <a:srgbClr val="000000"/>
                  </a:outerShdw>
                </a:effectLst>
                <a:latin typeface="Arial" pitchFamily="34" charset="0"/>
                <a:cs typeface="+mn-cs"/>
              </a:rPr>
              <a:t>的定义</a:t>
            </a:r>
            <a:endParaRPr kumimoji="1" lang="en-US" altLang="zh-CN" u="sng" dirty="0">
              <a:solidFill>
                <a:srgbClr val="FFFFCC"/>
              </a:solidFill>
              <a:effectLst>
                <a:outerShdw blurRad="38100" dist="38100" dir="2700000" algn="tl">
                  <a:srgbClr val="000000"/>
                </a:outerShdw>
              </a:effectLst>
              <a:latin typeface="Arial" pitchFamily="34" charset="0"/>
              <a:cs typeface="+mn-cs"/>
            </a:endParaRPr>
          </a:p>
        </p:txBody>
      </p:sp>
      <p:sp>
        <p:nvSpPr>
          <p:cNvPr id="1550340" name="Rectangle 4"/>
          <p:cNvSpPr>
            <a:spLocks noGrp="1" noChangeArrowheads="1"/>
          </p:cNvSpPr>
          <p:nvPr>
            <p:ph idx="1"/>
          </p:nvPr>
        </p:nvSpPr>
        <p:spPr>
          <a:xfrm>
            <a:off x="1028874" y="961876"/>
            <a:ext cx="8229600" cy="647700"/>
          </a:xfrm>
        </p:spPr>
        <p:txBody>
          <a:bodyPr/>
          <a:lstStyle/>
          <a:p>
            <a:pPr>
              <a:buFont typeface="Wingdings" pitchFamily="2" charset="2"/>
              <a:buNone/>
              <a:defRPr/>
            </a:pPr>
            <a:r>
              <a:rPr lang="zh-CN" altLang="en-US" dirty="0"/>
              <a:t>范式就是满足某种规范化标准的关系模式</a:t>
            </a:r>
          </a:p>
        </p:txBody>
      </p:sp>
      <p:grpSp>
        <p:nvGrpSpPr>
          <p:cNvPr id="2" name="组合 1">
            <a:extLst>
              <a:ext uri="{FF2B5EF4-FFF2-40B4-BE49-F238E27FC236}">
                <a16:creationId xmlns:a16="http://schemas.microsoft.com/office/drawing/2014/main" id="{3C67F462-C63D-47CB-A7C0-46CA448424A4}"/>
              </a:ext>
            </a:extLst>
          </p:cNvPr>
          <p:cNvGrpSpPr/>
          <p:nvPr/>
        </p:nvGrpSpPr>
        <p:grpSpPr>
          <a:xfrm>
            <a:off x="1283185" y="1988840"/>
            <a:ext cx="4513571" cy="4513571"/>
            <a:chOff x="1435101" y="2217887"/>
            <a:chExt cx="4191000" cy="4191000"/>
          </a:xfrm>
        </p:grpSpPr>
        <p:sp>
          <p:nvSpPr>
            <p:cNvPr id="1550341" name="Oval 5"/>
            <p:cNvSpPr>
              <a:spLocks noChangeArrowheads="1"/>
            </p:cNvSpPr>
            <p:nvPr/>
          </p:nvSpPr>
          <p:spPr bwMode="auto">
            <a:xfrm>
              <a:off x="1435101" y="2217887"/>
              <a:ext cx="4191000" cy="4191000"/>
            </a:xfrm>
            <a:prstGeom prst="ellipse">
              <a:avLst/>
            </a:prstGeom>
            <a:solidFill>
              <a:srgbClr val="F5F5FF"/>
            </a:solidFill>
            <a:ln w="12700" cap="sq">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42" name="Oval 6"/>
            <p:cNvSpPr>
              <a:spLocks noChangeArrowheads="1"/>
            </p:cNvSpPr>
            <p:nvPr/>
          </p:nvSpPr>
          <p:spPr bwMode="auto">
            <a:xfrm>
              <a:off x="1719263" y="2659212"/>
              <a:ext cx="3657600" cy="3657600"/>
            </a:xfrm>
            <a:prstGeom prst="ellipse">
              <a:avLst/>
            </a:prstGeom>
            <a:solidFill>
              <a:srgbClr val="EBEBFF"/>
            </a:solidFill>
            <a:ln w="12700" cap="sq">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43" name="Oval 7"/>
            <p:cNvSpPr>
              <a:spLocks noChangeAspect="1" noChangeArrowheads="1"/>
            </p:cNvSpPr>
            <p:nvPr/>
          </p:nvSpPr>
          <p:spPr bwMode="auto">
            <a:xfrm>
              <a:off x="1990726" y="3124350"/>
              <a:ext cx="3116262" cy="3116263"/>
            </a:xfrm>
            <a:prstGeom prst="ellipse">
              <a:avLst/>
            </a:prstGeom>
            <a:solidFill>
              <a:srgbClr val="E1E1FF"/>
            </a:solidFill>
            <a:ln w="12700" cap="sq">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44" name="Oval 8"/>
            <p:cNvSpPr>
              <a:spLocks noChangeAspect="1" noChangeArrowheads="1"/>
            </p:cNvSpPr>
            <p:nvPr/>
          </p:nvSpPr>
          <p:spPr bwMode="auto">
            <a:xfrm>
              <a:off x="2273301" y="3649812"/>
              <a:ext cx="2514600" cy="2514600"/>
            </a:xfrm>
            <a:prstGeom prst="ellipse">
              <a:avLst/>
            </a:prstGeom>
            <a:solidFill>
              <a:srgbClr val="D7D7FF"/>
            </a:solidFill>
            <a:ln w="12700" cap="sq">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45" name="Oval 9"/>
            <p:cNvSpPr>
              <a:spLocks noChangeAspect="1" noChangeArrowheads="1"/>
            </p:cNvSpPr>
            <p:nvPr/>
          </p:nvSpPr>
          <p:spPr bwMode="auto">
            <a:xfrm>
              <a:off x="2578101" y="4183212"/>
              <a:ext cx="1905000" cy="1905000"/>
            </a:xfrm>
            <a:prstGeom prst="ellipse">
              <a:avLst/>
            </a:prstGeom>
            <a:solidFill>
              <a:srgbClr val="CDCDFF"/>
            </a:solidFill>
            <a:ln w="12700" cap="sq">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46" name="Oval 10"/>
            <p:cNvSpPr>
              <a:spLocks noChangeAspect="1" noChangeArrowheads="1"/>
            </p:cNvSpPr>
            <p:nvPr/>
          </p:nvSpPr>
          <p:spPr bwMode="auto">
            <a:xfrm>
              <a:off x="2882901" y="4722962"/>
              <a:ext cx="1289050" cy="1289050"/>
            </a:xfrm>
            <a:prstGeom prst="ellipse">
              <a:avLst/>
            </a:prstGeom>
            <a:solidFill>
              <a:srgbClr val="C3C3FF"/>
            </a:solidFill>
            <a:ln w="12700" cap="sq">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47" name="Oval 11"/>
            <p:cNvSpPr>
              <a:spLocks noChangeAspect="1" noChangeArrowheads="1"/>
            </p:cNvSpPr>
            <p:nvPr/>
          </p:nvSpPr>
          <p:spPr bwMode="auto">
            <a:xfrm>
              <a:off x="3143251" y="5173812"/>
              <a:ext cx="762000" cy="762000"/>
            </a:xfrm>
            <a:prstGeom prst="ellipse">
              <a:avLst/>
            </a:prstGeom>
            <a:solidFill>
              <a:srgbClr val="B9B9FF"/>
            </a:solidFill>
            <a:ln w="12700" cap="sq">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48" name="Text Box 12"/>
            <p:cNvSpPr txBox="1">
              <a:spLocks noChangeArrowheads="1"/>
            </p:cNvSpPr>
            <p:nvPr/>
          </p:nvSpPr>
          <p:spPr bwMode="auto">
            <a:xfrm>
              <a:off x="3238140" y="5383362"/>
              <a:ext cx="570640" cy="385396"/>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5</a:t>
              </a:r>
              <a:r>
                <a:rPr kumimoji="1" lang="en-US" altLang="zh-CN" sz="2800" b="0" i="1"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NF</a:t>
              </a:r>
            </a:p>
          </p:txBody>
        </p:sp>
        <p:sp>
          <p:nvSpPr>
            <p:cNvPr id="1550349" name="Text Box 13"/>
            <p:cNvSpPr txBox="1">
              <a:spLocks noChangeArrowheads="1"/>
            </p:cNvSpPr>
            <p:nvPr/>
          </p:nvSpPr>
          <p:spPr bwMode="auto">
            <a:xfrm>
              <a:off x="3238140" y="4767412"/>
              <a:ext cx="570640" cy="385396"/>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4</a:t>
              </a:r>
              <a:r>
                <a:rPr kumimoji="1" lang="en-US" altLang="zh-CN" sz="2800" b="0" i="1"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NF</a:t>
              </a:r>
            </a:p>
          </p:txBody>
        </p:sp>
        <p:sp>
          <p:nvSpPr>
            <p:cNvPr id="1550350" name="Text Box 14"/>
            <p:cNvSpPr txBox="1">
              <a:spLocks noChangeArrowheads="1"/>
            </p:cNvSpPr>
            <p:nvPr/>
          </p:nvSpPr>
          <p:spPr bwMode="auto">
            <a:xfrm>
              <a:off x="3104799" y="4327674"/>
              <a:ext cx="837321" cy="385396"/>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BC</a:t>
              </a:r>
              <a:r>
                <a:rPr kumimoji="1" lang="en-US" altLang="zh-CN" sz="2800" b="0" i="1"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NF</a:t>
              </a:r>
            </a:p>
          </p:txBody>
        </p:sp>
        <p:sp>
          <p:nvSpPr>
            <p:cNvPr id="1550351" name="Text Box 15"/>
            <p:cNvSpPr txBox="1">
              <a:spLocks noChangeArrowheads="1"/>
            </p:cNvSpPr>
            <p:nvPr/>
          </p:nvSpPr>
          <p:spPr bwMode="auto">
            <a:xfrm>
              <a:off x="3238140" y="3726012"/>
              <a:ext cx="570640" cy="385396"/>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3</a:t>
              </a:r>
              <a:r>
                <a:rPr kumimoji="1" lang="en-US" altLang="zh-CN" sz="2800" b="0" i="1"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NF</a:t>
              </a:r>
            </a:p>
          </p:txBody>
        </p:sp>
        <p:sp>
          <p:nvSpPr>
            <p:cNvPr id="1550352" name="Text Box 16"/>
            <p:cNvSpPr txBox="1">
              <a:spLocks noChangeArrowheads="1"/>
            </p:cNvSpPr>
            <p:nvPr/>
          </p:nvSpPr>
          <p:spPr bwMode="auto">
            <a:xfrm>
              <a:off x="3238140" y="3192612"/>
              <a:ext cx="570640" cy="385396"/>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2</a:t>
              </a:r>
              <a:r>
                <a:rPr kumimoji="1" lang="en-US" altLang="zh-CN" sz="2800" b="0" i="1"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NF</a:t>
              </a:r>
            </a:p>
          </p:txBody>
        </p:sp>
        <p:sp>
          <p:nvSpPr>
            <p:cNvPr id="1550353" name="Text Box 17"/>
            <p:cNvSpPr txBox="1">
              <a:spLocks noChangeArrowheads="1"/>
            </p:cNvSpPr>
            <p:nvPr/>
          </p:nvSpPr>
          <p:spPr bwMode="auto">
            <a:xfrm>
              <a:off x="3238140" y="2735412"/>
              <a:ext cx="570640" cy="385396"/>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1</a:t>
              </a:r>
              <a:r>
                <a:rPr kumimoji="1" lang="en-US" altLang="zh-CN" sz="2800" b="0" i="1"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NF</a:t>
              </a:r>
            </a:p>
          </p:txBody>
        </p:sp>
        <p:sp>
          <p:nvSpPr>
            <p:cNvPr id="1550354" name="Text Box 18"/>
            <p:cNvSpPr txBox="1">
              <a:spLocks noChangeArrowheads="1"/>
            </p:cNvSpPr>
            <p:nvPr/>
          </p:nvSpPr>
          <p:spPr bwMode="auto">
            <a:xfrm>
              <a:off x="3040917" y="2257574"/>
              <a:ext cx="963492" cy="385396"/>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非规范</a:t>
              </a:r>
              <a:endParaRPr kumimoji="1" lang="zh-CN" altLang="en-US" sz="2800" b="0" i="1"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endParaRPr>
            </a:p>
          </p:txBody>
        </p:sp>
      </p:grpSp>
      <p:sp>
        <p:nvSpPr>
          <p:cNvPr id="1550355" name="Line 19"/>
          <p:cNvSpPr>
            <a:spLocks noChangeShapeType="1"/>
          </p:cNvSpPr>
          <p:nvPr/>
        </p:nvSpPr>
        <p:spPr bwMode="auto">
          <a:xfrm>
            <a:off x="6476558" y="2609054"/>
            <a:ext cx="0" cy="3200400"/>
          </a:xfrm>
          <a:prstGeom prst="line">
            <a:avLst/>
          </a:prstGeom>
          <a:noFill/>
          <a:ln w="57150" cap="sq">
            <a:solidFill>
              <a:srgbClr val="99FF33"/>
            </a:solidFill>
            <a:round/>
            <a:headEnd/>
            <a:tailEnd type="triangle" w="med"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50356" name="Text Box 20"/>
          <p:cNvSpPr txBox="1">
            <a:spLocks noChangeArrowheads="1"/>
          </p:cNvSpPr>
          <p:nvPr/>
        </p:nvSpPr>
        <p:spPr bwMode="auto">
          <a:xfrm>
            <a:off x="6250938" y="2059601"/>
            <a:ext cx="410369" cy="492443"/>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rPr>
              <a:t>低</a:t>
            </a:r>
            <a:endParaRPr kumimoji="1" lang="en-US" altLang="zh-CN" sz="3200" b="0" i="1" u="none" strike="noStrike" kern="1200" cap="none" spc="0" normalizeH="0" baseline="0" noProof="0" dirty="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sp>
        <p:nvSpPr>
          <p:cNvPr id="1550357" name="Text Box 21"/>
          <p:cNvSpPr txBox="1">
            <a:spLocks noChangeArrowheads="1"/>
          </p:cNvSpPr>
          <p:nvPr/>
        </p:nvSpPr>
        <p:spPr bwMode="auto">
          <a:xfrm>
            <a:off x="6312649" y="5839618"/>
            <a:ext cx="410369" cy="492443"/>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rPr>
              <a:t>高</a:t>
            </a:r>
            <a:endParaRPr kumimoji="1" lang="en-US" altLang="zh-CN" sz="3200" b="0" i="1" u="none" strike="noStrike" kern="1200" cap="none" spc="0" normalizeH="0" baseline="0" noProof="0" dirty="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sp>
        <p:nvSpPr>
          <p:cNvPr id="1550358" name="Text Box 22"/>
          <p:cNvSpPr txBox="1">
            <a:spLocks noChangeArrowheads="1"/>
          </p:cNvSpPr>
          <p:nvPr/>
        </p:nvSpPr>
        <p:spPr bwMode="auto">
          <a:xfrm>
            <a:off x="6615584" y="3159174"/>
            <a:ext cx="430887" cy="1795363"/>
          </a:xfrm>
          <a:prstGeom prst="rect">
            <a:avLst/>
          </a:prstGeom>
          <a:noFill/>
          <a:ln w="12700" cap="sq">
            <a:noFill/>
            <a:miter lim="800000"/>
            <a:headEnd/>
            <a:tailEnd/>
          </a:ln>
          <a:effectLst/>
        </p:spPr>
        <p:txBody>
          <a:bodyPr vert="eaVert"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rPr>
              <a:t>规范化要求</a:t>
            </a:r>
            <a:endParaRPr kumimoji="1" lang="en-US" altLang="zh-CN" sz="2800" b="0" i="1" u="none" strike="noStrike" kern="1200" cap="none" spc="0" normalizeH="0" baseline="0" noProof="0" dirty="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sp>
        <p:nvSpPr>
          <p:cNvPr id="1550359" name="Text Box 23"/>
          <p:cNvSpPr txBox="1">
            <a:spLocks noChangeArrowheads="1"/>
          </p:cNvSpPr>
          <p:nvPr/>
        </p:nvSpPr>
        <p:spPr bwMode="auto">
          <a:xfrm>
            <a:off x="7156361" y="2962735"/>
            <a:ext cx="430887" cy="2154436"/>
          </a:xfrm>
          <a:prstGeom prst="rect">
            <a:avLst/>
          </a:prstGeom>
          <a:noFill/>
          <a:ln w="12700" cap="sq">
            <a:noFill/>
            <a:miter lim="800000"/>
            <a:headEnd/>
            <a:tailEnd/>
          </a:ln>
          <a:effectLst/>
        </p:spPr>
        <p:txBody>
          <a:bodyPr vert="eaVert"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rPr>
              <a:t>（约束条件）</a:t>
            </a:r>
            <a:endParaRPr kumimoji="1" lang="en-US" altLang="zh-CN" sz="2800" b="0" i="1" u="none" strike="noStrike" kern="1200" cap="none" spc="0" normalizeH="0" baseline="0" noProof="0">
              <a:ln>
                <a:noFill/>
              </a:ln>
              <a:solidFill>
                <a:srgbClr val="99FF33"/>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sp>
        <p:nvSpPr>
          <p:cNvPr id="1550361" name="Text Box 25"/>
          <p:cNvSpPr txBox="1">
            <a:spLocks noChangeArrowheads="1"/>
          </p:cNvSpPr>
          <p:nvPr/>
        </p:nvSpPr>
        <p:spPr bwMode="auto">
          <a:xfrm>
            <a:off x="8652030" y="5517953"/>
            <a:ext cx="2489200" cy="854075"/>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楷体_GB2312" pitchFamily="49" charset="-122"/>
                <a:cs typeface="+mn-cs"/>
              </a:rPr>
              <a:t>关系数据库之父</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楷体_GB2312" pitchFamily="49" charset="-122"/>
                <a:cs typeface="+mn-cs"/>
              </a:rPr>
              <a:t>E. F. Codd</a:t>
            </a:r>
            <a:endParaRPr kumimoji="1" lang="zh-CN" altLang="en-US" sz="2800" b="0" i="1" u="none" strike="noStrike" kern="120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pic>
        <p:nvPicPr>
          <p:cNvPr id="4" name="图片 3">
            <a:extLst>
              <a:ext uri="{FF2B5EF4-FFF2-40B4-BE49-F238E27FC236}">
                <a16:creationId xmlns:a16="http://schemas.microsoft.com/office/drawing/2014/main" id="{F3BD9FDA-B79F-4A37-8511-766560502192}"/>
              </a:ext>
            </a:extLst>
          </p:cNvPr>
          <p:cNvPicPr>
            <a:picLocks noChangeAspect="1"/>
          </p:cNvPicPr>
          <p:nvPr/>
        </p:nvPicPr>
        <p:blipFill>
          <a:blip r:embed="rId3"/>
          <a:stretch>
            <a:fillRect/>
          </a:stretch>
        </p:blipFill>
        <p:spPr>
          <a:xfrm>
            <a:off x="8677572" y="2069159"/>
            <a:ext cx="2141406" cy="3109229"/>
          </a:xfrm>
          <a:prstGeom prst="rect">
            <a:avLst/>
          </a:prstGeom>
          <a:solidFill>
            <a:srgbClr val="FFFFFF">
              <a:shade val="85000"/>
            </a:srgbClr>
          </a:solidFill>
          <a:ln w="88900" cap="sq">
            <a:solidFill>
              <a:srgbClr val="FFFFFF"/>
            </a:solidFill>
            <a:miter lim="800000"/>
          </a:ln>
          <a:effectLst>
            <a:glow rad="63500">
              <a:schemeClr val="accent3">
                <a:satMod val="175000"/>
                <a:alpha val="40000"/>
              </a:scheme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spd="slow" p14:dur="1200">
        <p:zoom dir="in"/>
        <p:sndAc>
          <p:stSnd>
            <p:snd r:embed="rId2" name="arrow.wav"/>
          </p:stSnd>
        </p:sndAc>
      </p:transition>
    </mc:Choice>
    <mc:Fallback xmlns="">
      <p:transition spd="slow">
        <p:zoom dir="in"/>
        <p:sndAc>
          <p:stSnd>
            <p:snd r:embed="rId4" name="arrow.wav"/>
          </p:stSnd>
        </p:sndAc>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title"/>
          </p:nvPr>
        </p:nvSpPr>
        <p:spPr>
          <a:xfrm>
            <a:off x="983432" y="0"/>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第一范式</a:t>
            </a:r>
            <a:r>
              <a:rPr kumimoji="1" lang="en-US" altLang="zh-CN" u="sng" dirty="0">
                <a:solidFill>
                  <a:srgbClr val="FFFFCC"/>
                </a:solidFill>
                <a:effectLst>
                  <a:outerShdw blurRad="38100" dist="38100" dir="2700000" algn="tl">
                    <a:srgbClr val="000000"/>
                  </a:outerShdw>
                </a:effectLst>
                <a:latin typeface="Arial" pitchFamily="34" charset="0"/>
                <a:cs typeface="+mn-cs"/>
              </a:rPr>
              <a:t>(1NF)</a:t>
            </a:r>
          </a:p>
        </p:txBody>
      </p:sp>
      <p:sp>
        <p:nvSpPr>
          <p:cNvPr id="1551364" name="Rectangle 4"/>
          <p:cNvSpPr>
            <a:spLocks noGrp="1" noChangeArrowheads="1"/>
          </p:cNvSpPr>
          <p:nvPr>
            <p:ph idx="1"/>
          </p:nvPr>
        </p:nvSpPr>
        <p:spPr>
          <a:xfrm>
            <a:off x="983432" y="980728"/>
            <a:ext cx="9937104" cy="647700"/>
          </a:xfrm>
        </p:spPr>
        <p:txBody>
          <a:bodyPr>
            <a:noAutofit/>
          </a:bodyPr>
          <a:lstStyle/>
          <a:p>
            <a:pPr marL="0" indent="0" algn="just">
              <a:spcAft>
                <a:spcPct val="25000"/>
              </a:spcAft>
              <a:buNone/>
              <a:defRPr/>
            </a:pPr>
            <a:r>
              <a:rPr lang="zh-CN" altLang="en-US" dirty="0"/>
              <a:t>如果关系模式</a:t>
            </a:r>
            <a:r>
              <a:rPr lang="en-US" altLang="zh-CN" dirty="0"/>
              <a:t>R(U)</a:t>
            </a:r>
            <a:r>
              <a:rPr lang="zh-CN" altLang="en-US" dirty="0"/>
              <a:t>的所有属性均是不可再分的基本数据项，则称</a:t>
            </a:r>
            <a:r>
              <a:rPr lang="en-US" altLang="zh-CN" dirty="0"/>
              <a:t>R</a:t>
            </a:r>
            <a:r>
              <a:rPr lang="zh-CN" altLang="en-US" dirty="0"/>
              <a:t>属于</a:t>
            </a:r>
            <a:r>
              <a:rPr lang="zh-CN" altLang="en-US" dirty="0">
                <a:solidFill>
                  <a:srgbClr val="FFFF00"/>
                </a:solidFill>
              </a:rPr>
              <a:t>第一范式</a:t>
            </a:r>
            <a:r>
              <a:rPr lang="zh-CN" altLang="en-US" dirty="0"/>
              <a:t>，记作</a:t>
            </a:r>
            <a:r>
              <a:rPr lang="en-US" altLang="zh-CN" dirty="0">
                <a:solidFill>
                  <a:srgbClr val="FFFF00"/>
                </a:solidFill>
              </a:rPr>
              <a:t>R(U)</a:t>
            </a:r>
            <a:r>
              <a:rPr lang="zh-CN" altLang="en-US" dirty="0">
                <a:solidFill>
                  <a:srgbClr val="FFFF00"/>
                </a:solidFill>
              </a:rPr>
              <a:t>∈</a:t>
            </a:r>
            <a:r>
              <a:rPr lang="en-US" altLang="zh-CN" dirty="0">
                <a:solidFill>
                  <a:srgbClr val="FFFF00"/>
                </a:solidFill>
              </a:rPr>
              <a:t>1NF</a:t>
            </a:r>
            <a:r>
              <a:rPr lang="zh-CN" altLang="en-US" dirty="0"/>
              <a:t>。任何一个关系模式都必须满足</a:t>
            </a:r>
            <a:r>
              <a:rPr lang="en-US" altLang="zh-CN" dirty="0"/>
              <a:t>1NF</a:t>
            </a:r>
            <a:r>
              <a:rPr lang="zh-CN" altLang="en-US" dirty="0"/>
              <a:t>。</a:t>
            </a:r>
          </a:p>
          <a:p>
            <a:pPr marL="0" indent="0" algn="just">
              <a:spcAft>
                <a:spcPct val="25000"/>
              </a:spcAft>
              <a:buNone/>
              <a:defRPr/>
            </a:pPr>
            <a:r>
              <a:rPr lang="zh-CN" altLang="en-US" dirty="0"/>
              <a:t>属性不可再分依赖于语义。</a:t>
            </a:r>
            <a:r>
              <a:rPr lang="en-US" altLang="zh-CN" dirty="0"/>
              <a:t>1NF</a:t>
            </a:r>
            <a:r>
              <a:rPr lang="zh-CN" altLang="en-US" dirty="0"/>
              <a:t>的关系模式在形式上表现为一张规则二维表，即不允许出现表中表。</a:t>
            </a:r>
          </a:p>
        </p:txBody>
      </p:sp>
      <p:graphicFrame>
        <p:nvGraphicFramePr>
          <p:cNvPr id="1551365" name="Group 5"/>
          <p:cNvGraphicFramePr>
            <a:graphicFrameLocks noGrp="1"/>
          </p:cNvGraphicFramePr>
          <p:nvPr>
            <p:extLst>
              <p:ext uri="{D42A27DB-BD31-4B8C-83A1-F6EECF244321}">
                <p14:modId xmlns:p14="http://schemas.microsoft.com/office/powerpoint/2010/main" val="1951577067"/>
              </p:ext>
            </p:extLst>
          </p:nvPr>
        </p:nvGraphicFramePr>
        <p:xfrm>
          <a:off x="1079686" y="4608639"/>
          <a:ext cx="3730168" cy="1528763"/>
        </p:xfrm>
        <a:graphic>
          <a:graphicData uri="http://schemas.openxmlformats.org/drawingml/2006/table">
            <a:tbl>
              <a:tblPr/>
              <a:tblGrid>
                <a:gridCol w="947594">
                  <a:extLst>
                    <a:ext uri="{9D8B030D-6E8A-4147-A177-3AD203B41FA5}">
                      <a16:colId xmlns:a16="http://schemas.microsoft.com/office/drawing/2014/main" val="20000"/>
                    </a:ext>
                  </a:extLst>
                </a:gridCol>
                <a:gridCol w="1162242">
                  <a:extLst>
                    <a:ext uri="{9D8B030D-6E8A-4147-A177-3AD203B41FA5}">
                      <a16:colId xmlns:a16="http://schemas.microsoft.com/office/drawing/2014/main" val="20001"/>
                    </a:ext>
                  </a:extLst>
                </a:gridCol>
                <a:gridCol w="1620332">
                  <a:extLst>
                    <a:ext uri="{9D8B030D-6E8A-4147-A177-3AD203B41FA5}">
                      <a16:colId xmlns:a16="http://schemas.microsoft.com/office/drawing/2014/main" val="20002"/>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语文</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数学</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58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a:t>
                      </a: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95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51399" name="Group 39"/>
          <p:cNvGraphicFramePr>
            <a:graphicFrameLocks noGrp="1"/>
          </p:cNvGraphicFramePr>
          <p:nvPr>
            <p:extLst>
              <p:ext uri="{D42A27DB-BD31-4B8C-83A1-F6EECF244321}">
                <p14:modId xmlns:p14="http://schemas.microsoft.com/office/powerpoint/2010/main" val="3514619784"/>
              </p:ext>
            </p:extLst>
          </p:nvPr>
        </p:nvGraphicFramePr>
        <p:xfrm>
          <a:off x="6393532" y="4608639"/>
          <a:ext cx="3586647" cy="1882775"/>
        </p:xfrm>
        <a:graphic>
          <a:graphicData uri="http://schemas.openxmlformats.org/drawingml/2006/table">
            <a:tbl>
              <a:tblPr/>
              <a:tblGrid>
                <a:gridCol w="956439">
                  <a:extLst>
                    <a:ext uri="{9D8B030D-6E8A-4147-A177-3AD203B41FA5}">
                      <a16:colId xmlns:a16="http://schemas.microsoft.com/office/drawing/2014/main" val="20000"/>
                    </a:ext>
                  </a:extLst>
                </a:gridCol>
                <a:gridCol w="1072218">
                  <a:extLst>
                    <a:ext uri="{9D8B030D-6E8A-4147-A177-3AD203B41FA5}">
                      <a16:colId xmlns:a16="http://schemas.microsoft.com/office/drawing/2014/main" val="20001"/>
                    </a:ext>
                  </a:extLst>
                </a:gridCol>
                <a:gridCol w="1557990">
                  <a:extLst>
                    <a:ext uri="{9D8B030D-6E8A-4147-A177-3AD203B41FA5}">
                      <a16:colId xmlns:a16="http://schemas.microsoft.com/office/drawing/2014/main" val="20002"/>
                    </a:ext>
                  </a:extLst>
                </a:gridCol>
              </a:tblGrid>
              <a:tr h="358775">
                <a:tc rowSpan="2">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成绩</a:t>
                      </a: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1444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语文</a:t>
                      </a: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数学</a:t>
                      </a: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58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a:t>
                      </a: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75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551434" name="Rectangle 74"/>
          <p:cNvSpPr>
            <a:spLocks noChangeArrowheads="1"/>
          </p:cNvSpPr>
          <p:nvPr/>
        </p:nvSpPr>
        <p:spPr bwMode="auto">
          <a:xfrm>
            <a:off x="6393532" y="4077072"/>
            <a:ext cx="3751675"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0000"/>
              </a:spcAft>
              <a:buClrTx/>
              <a:buSzTx/>
              <a:buFontTx/>
              <a:buNone/>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R2(</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成绩</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itchFamily="2" charset="-122"/>
                <a:ea typeface="宋体" pitchFamily="2"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1NF</a:t>
            </a:r>
          </a:p>
        </p:txBody>
      </p:sp>
      <p:sp>
        <p:nvSpPr>
          <p:cNvPr id="1551435" name="Rectangle 75"/>
          <p:cNvSpPr>
            <a:spLocks noChangeArrowheads="1"/>
          </p:cNvSpPr>
          <p:nvPr/>
        </p:nvSpPr>
        <p:spPr bwMode="auto">
          <a:xfrm>
            <a:off x="1065437" y="4077072"/>
            <a:ext cx="4176464" cy="4572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0000"/>
              </a:spcAft>
              <a:buClrTx/>
              <a:buSzTx/>
              <a:buFontTx/>
              <a:buNone/>
              <a:tabLst/>
              <a:defRPr/>
            </a:pP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R1(</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学号</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语文</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1" lang="zh-CN" altLang="en-US"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数学</a:t>
            </a:r>
            <a:r>
              <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itchFamily="2" charset="-122"/>
                <a:ea typeface="宋体" pitchFamily="2" charset="-122"/>
                <a:cs typeface="+mn-cs"/>
              </a:rPr>
              <a:t>∈</a:t>
            </a: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1NF</a:t>
            </a:r>
          </a:p>
        </p:txBody>
      </p:sp>
      <p:sp>
        <p:nvSpPr>
          <p:cNvPr id="1551436" name="Line 76"/>
          <p:cNvSpPr>
            <a:spLocks noChangeShapeType="1"/>
          </p:cNvSpPr>
          <p:nvPr/>
        </p:nvSpPr>
        <p:spPr bwMode="auto">
          <a:xfrm>
            <a:off x="8698285" y="4173699"/>
            <a:ext cx="71438" cy="287337"/>
          </a:xfrm>
          <a:prstGeom prst="line">
            <a:avLst/>
          </a:prstGeom>
          <a:noFill/>
          <a:ln w="19050" cap="sq">
            <a:solidFill>
              <a:srgbClr val="99FF33"/>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3" name="Rectangle 3"/>
          <p:cNvSpPr>
            <a:spLocks noGrp="1" noChangeArrowheads="1"/>
          </p:cNvSpPr>
          <p:nvPr>
            <p:ph type="body" idx="4294967295"/>
          </p:nvPr>
        </p:nvSpPr>
        <p:spPr>
          <a:xfrm>
            <a:off x="640864" y="836712"/>
            <a:ext cx="10972800" cy="4525963"/>
          </a:xfrm>
        </p:spPr>
        <p:txBody>
          <a:bodyPr/>
          <a:lstStyle/>
          <a:p>
            <a:pPr>
              <a:lnSpc>
                <a:spcPct val="150000"/>
              </a:lnSpc>
            </a:pPr>
            <a:r>
              <a:rPr lang="zh-CN" altLang="en-US" dirty="0" smtClean="0"/>
              <a:t>但是满足第一范式的关系模式并不一定是一个好的关系模式。例如在</a:t>
            </a:r>
            <a:r>
              <a:rPr lang="en-US" altLang="zh-CN" dirty="0" smtClean="0"/>
              <a:t>6.1</a:t>
            </a:r>
            <a:r>
              <a:rPr lang="zh-CN" altLang="en-US" dirty="0" smtClean="0"/>
              <a:t>小节中示例的简单教学管理系统中的关系模式</a:t>
            </a:r>
            <a:r>
              <a:rPr lang="en-US" altLang="zh-CN" dirty="0" smtClean="0"/>
              <a:t>DSC</a:t>
            </a:r>
            <a:r>
              <a:rPr lang="zh-CN" altLang="en-US" dirty="0" smtClean="0"/>
              <a:t>就是</a:t>
            </a:r>
            <a:r>
              <a:rPr lang="en-US" altLang="zh-CN" dirty="0" smtClean="0"/>
              <a:t>1NF</a:t>
            </a:r>
            <a:r>
              <a:rPr lang="zh-CN" altLang="en-US" dirty="0" smtClean="0"/>
              <a:t>，但它存在大量的数据冗余和操作异常，是一个不好的关系模式。</a:t>
            </a:r>
          </a:p>
        </p:txBody>
      </p:sp>
    </p:spTree>
    <p:extLst>
      <p:ext uri="{BB962C8B-B14F-4D97-AF65-F5344CB8AC3E}">
        <p14:creationId xmlns:p14="http://schemas.microsoft.com/office/powerpoint/2010/main" val="1032611623"/>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title"/>
          </p:nvPr>
        </p:nvSpPr>
        <p:spPr>
          <a:xfrm>
            <a:off x="971238" y="-7389"/>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第二范式</a:t>
            </a:r>
            <a:r>
              <a:rPr kumimoji="1" lang="en-US" altLang="zh-CN" u="sng" dirty="0">
                <a:solidFill>
                  <a:srgbClr val="FFFFCC"/>
                </a:solidFill>
                <a:effectLst>
                  <a:outerShdw blurRad="38100" dist="38100" dir="2700000" algn="tl">
                    <a:srgbClr val="000000"/>
                  </a:outerShdw>
                </a:effectLst>
                <a:latin typeface="Arial" pitchFamily="34" charset="0"/>
                <a:cs typeface="+mn-cs"/>
              </a:rPr>
              <a:t>(2NF)</a:t>
            </a:r>
          </a:p>
        </p:txBody>
      </p:sp>
      <p:sp>
        <p:nvSpPr>
          <p:cNvPr id="1552388" name="Rectangle 4"/>
          <p:cNvSpPr>
            <a:spLocks noGrp="1" noChangeArrowheads="1"/>
          </p:cNvSpPr>
          <p:nvPr>
            <p:ph idx="1"/>
          </p:nvPr>
        </p:nvSpPr>
        <p:spPr>
          <a:xfrm>
            <a:off x="971238" y="973595"/>
            <a:ext cx="10297144" cy="647700"/>
          </a:xfrm>
        </p:spPr>
        <p:txBody>
          <a:bodyPr>
            <a:noAutofit/>
          </a:bodyPr>
          <a:lstStyle/>
          <a:p>
            <a:pPr marL="0" indent="0">
              <a:spcAft>
                <a:spcPct val="25000"/>
              </a:spcAft>
              <a:buNone/>
              <a:defRPr/>
            </a:pPr>
            <a:r>
              <a:rPr lang="zh-CN" altLang="en-US" dirty="0"/>
              <a:t>若关系模式</a:t>
            </a:r>
            <a:r>
              <a:rPr lang="en-US" altLang="zh-CN" dirty="0"/>
              <a:t>R(U)∈1NF</a:t>
            </a:r>
            <a:r>
              <a:rPr lang="zh-CN" altLang="en-US" dirty="0"/>
              <a:t>，且</a:t>
            </a:r>
            <a:r>
              <a:rPr lang="en-US" altLang="zh-CN" dirty="0"/>
              <a:t>R</a:t>
            </a:r>
            <a:r>
              <a:rPr lang="zh-CN" altLang="en-US" dirty="0"/>
              <a:t>的每一个非主属性都完全函数依赖于</a:t>
            </a:r>
            <a:r>
              <a:rPr lang="en-US" altLang="zh-CN" dirty="0"/>
              <a:t>R</a:t>
            </a:r>
            <a:r>
              <a:rPr lang="zh-CN" altLang="en-US" dirty="0"/>
              <a:t>的任何一个候选键，则</a:t>
            </a:r>
            <a:r>
              <a:rPr lang="en-US" altLang="zh-CN" dirty="0">
                <a:solidFill>
                  <a:srgbClr val="FFFF00"/>
                </a:solidFill>
              </a:rPr>
              <a:t>R(U)∈2NF</a:t>
            </a:r>
            <a:r>
              <a:rPr lang="zh-CN" altLang="en-US" dirty="0"/>
              <a:t>。</a:t>
            </a:r>
          </a:p>
        </p:txBody>
      </p:sp>
      <p:graphicFrame>
        <p:nvGraphicFramePr>
          <p:cNvPr id="1552389" name="Group 5"/>
          <p:cNvGraphicFramePr>
            <a:graphicFrameLocks noGrp="1"/>
          </p:cNvGraphicFramePr>
          <p:nvPr>
            <p:extLst>
              <p:ext uri="{D42A27DB-BD31-4B8C-83A1-F6EECF244321}">
                <p14:modId xmlns:p14="http://schemas.microsoft.com/office/powerpoint/2010/main" val="1225745391"/>
              </p:ext>
            </p:extLst>
          </p:nvPr>
        </p:nvGraphicFramePr>
        <p:xfrm>
          <a:off x="1110122" y="3224704"/>
          <a:ext cx="3607296" cy="1219200"/>
        </p:xfrm>
        <a:graphic>
          <a:graphicData uri="http://schemas.openxmlformats.org/drawingml/2006/table">
            <a:tbl>
              <a:tblPr/>
              <a:tblGrid>
                <a:gridCol w="701419">
                  <a:extLst>
                    <a:ext uri="{9D8B030D-6E8A-4147-A177-3AD203B41FA5}">
                      <a16:colId xmlns:a16="http://schemas.microsoft.com/office/drawing/2014/main" val="20000"/>
                    </a:ext>
                  </a:extLst>
                </a:gridCol>
                <a:gridCol w="901824">
                  <a:extLst>
                    <a:ext uri="{9D8B030D-6E8A-4147-A177-3AD203B41FA5}">
                      <a16:colId xmlns:a16="http://schemas.microsoft.com/office/drawing/2014/main" val="20001"/>
                    </a:ext>
                  </a:extLst>
                </a:gridCol>
                <a:gridCol w="901824">
                  <a:extLst>
                    <a:ext uri="{9D8B030D-6E8A-4147-A177-3AD203B41FA5}">
                      <a16:colId xmlns:a16="http://schemas.microsoft.com/office/drawing/2014/main" val="20002"/>
                    </a:ext>
                  </a:extLst>
                </a:gridCol>
                <a:gridCol w="1102229">
                  <a:extLst>
                    <a:ext uri="{9D8B030D-6E8A-4147-A177-3AD203B41FA5}">
                      <a16:colId xmlns:a16="http://schemas.microsoft.com/office/drawing/2014/main" val="20003"/>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6110" name="Rectangle 34"/>
          <p:cNvSpPr>
            <a:spLocks noChangeArrowheads="1"/>
          </p:cNvSpPr>
          <p:nvPr/>
        </p:nvSpPr>
        <p:spPr bwMode="auto">
          <a:xfrm>
            <a:off x="1110122" y="2420888"/>
            <a:ext cx="1027490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0" tIns="0" rIns="0" bIns="0"/>
          <a:lstStyle/>
          <a:p>
            <a:pPr marL="198438" marR="0" lvl="0" indent="-198438" algn="l" defTabSz="914400" rtl="0" eaLnBrk="1" fontAlgn="base" latinLnBrk="0" hangingPunct="1">
              <a:lnSpc>
                <a:spcPct val="100000"/>
              </a:lnSpc>
              <a:spcBef>
                <a:spcPct val="0"/>
              </a:spcBef>
              <a:spcAft>
                <a:spcPct val="0"/>
              </a:spcAft>
              <a:buClrTx/>
              <a:buSzTx/>
              <a:buFont typeface="Wingdings" pitchFamily="2" charset="2"/>
              <a:buNone/>
              <a:tabLst/>
              <a:defRPr/>
            </a:pPr>
            <a:r>
              <a:rPr kumimoji="1" lang="en-US" altLang="zh-CN"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SD(</a:t>
            </a:r>
            <a:r>
              <a:rPr kumimoji="1" lang="zh-CN" altLang="en-US" sz="2800" b="0" i="0" u="sng"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学号</a:t>
            </a:r>
            <a:r>
              <a:rPr kumimoji="1" lang="zh-CN" altLang="en-US"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 姓名, 系名, 系主任)，  </a:t>
            </a:r>
            <a:r>
              <a:rPr kumimoji="1" lang="en-US" altLang="zh-CN"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SC(</a:t>
            </a:r>
            <a:r>
              <a:rPr kumimoji="1" lang="zh-CN" altLang="en-US" sz="2800" b="0" i="0" u="sng"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学号, 课名</a:t>
            </a:r>
            <a:r>
              <a:rPr kumimoji="1" lang="zh-CN" altLang="en-US"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 成绩) </a:t>
            </a:r>
            <a:r>
              <a:rPr kumimoji="1" lang="en-US" altLang="zh-CN" sz="2800" b="0" i="0" u="none" strike="noStrike" kern="1200" cap="none" spc="0" normalizeH="0" baseline="0" noProof="0" dirty="0">
                <a:ln>
                  <a:noFill/>
                </a:ln>
                <a:solidFill>
                  <a:srgbClr val="99FF33"/>
                </a:solidFill>
                <a:effectLst/>
                <a:uLnTx/>
                <a:uFillTx/>
                <a:latin typeface="Times New Roman" pitchFamily="18" charset="0"/>
                <a:ea typeface="宋体" pitchFamily="2" charset="-122"/>
                <a:cs typeface="+mn-cs"/>
              </a:rPr>
              <a:t>∈ </a:t>
            </a:r>
            <a:r>
              <a:rPr kumimoji="1" lang="en-US" altLang="zh-CN"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2NF</a:t>
            </a:r>
            <a:endParaRPr kumimoji="1" lang="zh-CN" altLang="en-US"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endParaRPr>
          </a:p>
        </p:txBody>
      </p:sp>
      <p:graphicFrame>
        <p:nvGraphicFramePr>
          <p:cNvPr id="1552419" name="Group 35"/>
          <p:cNvGraphicFramePr>
            <a:graphicFrameLocks noGrp="1"/>
          </p:cNvGraphicFramePr>
          <p:nvPr>
            <p:extLst>
              <p:ext uri="{D42A27DB-BD31-4B8C-83A1-F6EECF244321}">
                <p14:modId xmlns:p14="http://schemas.microsoft.com/office/powerpoint/2010/main" val="2012192007"/>
              </p:ext>
            </p:extLst>
          </p:nvPr>
        </p:nvGraphicFramePr>
        <p:xfrm>
          <a:off x="6318896" y="3202335"/>
          <a:ext cx="3881556" cy="2438400"/>
        </p:xfrm>
        <a:graphic>
          <a:graphicData uri="http://schemas.openxmlformats.org/drawingml/2006/table">
            <a:tbl>
              <a:tblPr/>
              <a:tblGrid>
                <a:gridCol w="970993">
                  <a:extLst>
                    <a:ext uri="{9D8B030D-6E8A-4147-A177-3AD203B41FA5}">
                      <a16:colId xmlns:a16="http://schemas.microsoft.com/office/drawing/2014/main" val="20000"/>
                    </a:ext>
                  </a:extLst>
                </a:gridCol>
                <a:gridCol w="1939570">
                  <a:extLst>
                    <a:ext uri="{9D8B030D-6E8A-4147-A177-3AD203B41FA5}">
                      <a16:colId xmlns:a16="http://schemas.microsoft.com/office/drawing/2014/main" val="20001"/>
                    </a:ext>
                  </a:extLst>
                </a:gridCol>
                <a:gridCol w="970993">
                  <a:extLst>
                    <a:ext uri="{9D8B030D-6E8A-4147-A177-3AD203B41FA5}">
                      <a16:colId xmlns:a16="http://schemas.microsoft.com/office/drawing/2014/main" val="20002"/>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课名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成绩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C</a:t>
                      </a:r>
                      <a:r>
                        <a:rPr kumimoji="0" lang="zh-CN" altLang="en-US"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85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数据库</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80</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数据结构</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76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82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高数</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72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C</a:t>
                      </a: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语言</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68</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C</a:t>
                      </a: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语言</a:t>
                      </a:r>
                      <a:endPar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84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52471" name="Rectangle 87"/>
          <p:cNvSpPr>
            <a:spLocks noChangeArrowheads="1"/>
          </p:cNvSpPr>
          <p:nvPr/>
        </p:nvSpPr>
        <p:spPr bwMode="auto">
          <a:xfrm>
            <a:off x="3189995" y="4880468"/>
            <a:ext cx="944562" cy="407987"/>
          </a:xfrm>
          <a:prstGeom prst="rect">
            <a:avLst/>
          </a:prstGeom>
          <a:solidFill>
            <a:srgbClr val="3333FF"/>
          </a:solidFill>
          <a:ln w="12700" cap="sq">
            <a:solidFill>
              <a:srgbClr val="99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学号</a:t>
            </a:r>
          </a:p>
        </p:txBody>
      </p:sp>
      <p:sp>
        <p:nvSpPr>
          <p:cNvPr id="1552472" name="Rectangle 88"/>
          <p:cNvSpPr>
            <a:spLocks noChangeArrowheads="1"/>
          </p:cNvSpPr>
          <p:nvPr/>
        </p:nvSpPr>
        <p:spPr bwMode="auto">
          <a:xfrm>
            <a:off x="1613607" y="4880468"/>
            <a:ext cx="946150"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sp>
        <p:nvSpPr>
          <p:cNvPr id="1552473" name="Rectangle 89"/>
          <p:cNvSpPr>
            <a:spLocks noChangeArrowheads="1"/>
          </p:cNvSpPr>
          <p:nvPr/>
        </p:nvSpPr>
        <p:spPr bwMode="auto">
          <a:xfrm>
            <a:off x="1613607" y="5696443"/>
            <a:ext cx="946150"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46150" name="AutoShape 90"/>
          <p:cNvCxnSpPr>
            <a:cxnSpLocks noChangeShapeType="1"/>
            <a:stCxn id="1552471" idx="1"/>
            <a:endCxn id="1552472" idx="3"/>
          </p:cNvCxnSpPr>
          <p:nvPr/>
        </p:nvCxnSpPr>
        <p:spPr bwMode="auto">
          <a:xfrm flipH="1">
            <a:off x="2559757" y="5085254"/>
            <a:ext cx="630238"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46151" name="AutoShape 91"/>
          <p:cNvCxnSpPr>
            <a:cxnSpLocks noChangeShapeType="1"/>
            <a:stCxn id="1552472" idx="2"/>
            <a:endCxn id="1552473" idx="0"/>
          </p:cNvCxnSpPr>
          <p:nvPr/>
        </p:nvCxnSpPr>
        <p:spPr bwMode="auto">
          <a:xfrm>
            <a:off x="2086682" y="5288454"/>
            <a:ext cx="0" cy="407988"/>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552476" name="Rectangle 92"/>
          <p:cNvSpPr>
            <a:spLocks noChangeArrowheads="1"/>
          </p:cNvSpPr>
          <p:nvPr/>
        </p:nvSpPr>
        <p:spPr bwMode="auto">
          <a:xfrm>
            <a:off x="3189995" y="5696443"/>
            <a:ext cx="944562"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姓名</a:t>
            </a:r>
          </a:p>
        </p:txBody>
      </p:sp>
      <p:cxnSp>
        <p:nvCxnSpPr>
          <p:cNvPr id="46153" name="AutoShape 93"/>
          <p:cNvCxnSpPr>
            <a:cxnSpLocks noChangeShapeType="1"/>
            <a:stCxn id="1552471" idx="2"/>
            <a:endCxn id="1552476" idx="0"/>
          </p:cNvCxnSpPr>
          <p:nvPr/>
        </p:nvCxnSpPr>
        <p:spPr bwMode="auto">
          <a:xfrm>
            <a:off x="3663070" y="5288454"/>
            <a:ext cx="0" cy="407988"/>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552478" name="Rectangle 94"/>
          <p:cNvSpPr>
            <a:spLocks noChangeArrowheads="1"/>
          </p:cNvSpPr>
          <p:nvPr/>
        </p:nvSpPr>
        <p:spPr bwMode="auto">
          <a:xfrm>
            <a:off x="6726375" y="5867747"/>
            <a:ext cx="1871663" cy="552450"/>
          </a:xfrm>
          <a:prstGeom prst="rect">
            <a:avLst/>
          </a:prstGeom>
          <a:solidFill>
            <a:srgbClr val="3333FF"/>
          </a:solidFill>
          <a:ln w="12700" cap="sq">
            <a:solidFill>
              <a:srgbClr val="99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sp>
        <p:nvSpPr>
          <p:cNvPr id="1552479" name="Rectangle 95"/>
          <p:cNvSpPr>
            <a:spLocks noChangeArrowheads="1"/>
          </p:cNvSpPr>
          <p:nvPr/>
        </p:nvSpPr>
        <p:spPr bwMode="auto">
          <a:xfrm>
            <a:off x="6799399" y="5942361"/>
            <a:ext cx="801688" cy="396875"/>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学号</a:t>
            </a:r>
          </a:p>
        </p:txBody>
      </p:sp>
      <p:sp>
        <p:nvSpPr>
          <p:cNvPr id="1552480" name="Rectangle 96"/>
          <p:cNvSpPr>
            <a:spLocks noChangeArrowheads="1"/>
          </p:cNvSpPr>
          <p:nvPr/>
        </p:nvSpPr>
        <p:spPr bwMode="auto">
          <a:xfrm>
            <a:off x="7710625" y="5942361"/>
            <a:ext cx="803275" cy="396875"/>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课名</a:t>
            </a:r>
          </a:p>
        </p:txBody>
      </p:sp>
      <p:sp>
        <p:nvSpPr>
          <p:cNvPr id="1552481" name="Rectangle 97"/>
          <p:cNvSpPr>
            <a:spLocks noChangeArrowheads="1"/>
          </p:cNvSpPr>
          <p:nvPr/>
        </p:nvSpPr>
        <p:spPr bwMode="auto">
          <a:xfrm>
            <a:off x="9031424" y="5939185"/>
            <a:ext cx="801688" cy="40005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成绩</a:t>
            </a:r>
          </a:p>
        </p:txBody>
      </p:sp>
      <p:cxnSp>
        <p:nvCxnSpPr>
          <p:cNvPr id="46158" name="AutoShape 98"/>
          <p:cNvCxnSpPr>
            <a:cxnSpLocks noChangeShapeType="1"/>
            <a:stCxn id="1552478" idx="3"/>
            <a:endCxn id="1552481" idx="1"/>
          </p:cNvCxnSpPr>
          <p:nvPr/>
        </p:nvCxnSpPr>
        <p:spPr bwMode="auto">
          <a:xfrm flipV="1">
            <a:off x="8598038" y="6139210"/>
            <a:ext cx="433387" cy="4762"/>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1" name="Rectangle 3"/>
          <p:cNvSpPr>
            <a:spLocks noGrp="1" noChangeArrowheads="1"/>
          </p:cNvSpPr>
          <p:nvPr>
            <p:ph type="body" idx="4294967295"/>
          </p:nvPr>
        </p:nvSpPr>
        <p:spPr>
          <a:xfrm>
            <a:off x="479376" y="1196752"/>
            <a:ext cx="10972800" cy="4525963"/>
          </a:xfrm>
        </p:spPr>
        <p:txBody>
          <a:bodyPr>
            <a:normAutofit lnSpcReduction="10000"/>
          </a:bodyPr>
          <a:lstStyle/>
          <a:p>
            <a:pPr>
              <a:lnSpc>
                <a:spcPct val="150000"/>
              </a:lnSpc>
            </a:pPr>
            <a:r>
              <a:rPr lang="zh-CN" altLang="en-US" sz="2400" dirty="0"/>
              <a:t>定义</a:t>
            </a:r>
            <a:r>
              <a:rPr lang="en-US" altLang="zh-CN" sz="2400" dirty="0"/>
              <a:t>6.11 </a:t>
            </a:r>
            <a:r>
              <a:rPr lang="zh-CN" altLang="en-US" sz="2400" dirty="0"/>
              <a:t>如果一个关系模式</a:t>
            </a:r>
            <a:r>
              <a:rPr lang="en-US" altLang="zh-CN" sz="2400" dirty="0"/>
              <a:t>R 1NF</a:t>
            </a:r>
            <a:r>
              <a:rPr lang="zh-CN" altLang="en-US" sz="2400" dirty="0"/>
              <a:t>，且它的所有非主属性都完全函数依赖于</a:t>
            </a:r>
            <a:r>
              <a:rPr lang="en-US" altLang="zh-CN" sz="2400" dirty="0"/>
              <a:t>R</a:t>
            </a:r>
            <a:r>
              <a:rPr lang="zh-CN" altLang="en-US" sz="2400" dirty="0"/>
              <a:t>的候选键，则称</a:t>
            </a:r>
            <a:r>
              <a:rPr lang="en-US" altLang="zh-CN" sz="2400" dirty="0"/>
              <a:t>R</a:t>
            </a:r>
            <a:r>
              <a:rPr lang="zh-CN" altLang="en-US" sz="2400" dirty="0"/>
              <a:t>满足第二范式，记为</a:t>
            </a:r>
            <a:r>
              <a:rPr lang="en-US" altLang="zh-CN" sz="2400" dirty="0"/>
              <a:t>R 2NF</a:t>
            </a:r>
            <a:r>
              <a:rPr lang="zh-CN" altLang="en-US" sz="2400" dirty="0"/>
              <a:t>。</a:t>
            </a:r>
          </a:p>
          <a:p>
            <a:pPr>
              <a:lnSpc>
                <a:spcPct val="150000"/>
              </a:lnSpc>
            </a:pPr>
            <a:r>
              <a:rPr lang="zh-CN" altLang="en-US" sz="2400" dirty="0"/>
              <a:t>在关系模式</a:t>
            </a:r>
            <a:r>
              <a:rPr lang="en-US" altLang="zh-CN" sz="2400" dirty="0"/>
              <a:t>DSC</a:t>
            </a:r>
            <a:r>
              <a:rPr lang="zh-CN" altLang="en-US" sz="2400" dirty="0"/>
              <a:t>中，候选键是（学号</a:t>
            </a:r>
            <a:r>
              <a:rPr lang="en-US" altLang="zh-CN" sz="2400" dirty="0"/>
              <a:t>,</a:t>
            </a:r>
            <a:r>
              <a:rPr lang="zh-CN" altLang="en-US" sz="2400" dirty="0"/>
              <a:t>课名），由于存在</a:t>
            </a:r>
            <a:r>
              <a:rPr lang="zh-CN" altLang="en-US" sz="2400" dirty="0" smtClean="0"/>
              <a:t>如</a:t>
            </a:r>
            <a:endParaRPr lang="en-US" altLang="zh-CN" sz="2400" dirty="0" smtClean="0"/>
          </a:p>
          <a:p>
            <a:pPr>
              <a:lnSpc>
                <a:spcPct val="150000"/>
              </a:lnSpc>
            </a:pPr>
            <a:r>
              <a:rPr lang="zh-CN" altLang="en-US" sz="2400" dirty="0" smtClean="0"/>
              <a:t>（</a:t>
            </a:r>
            <a:r>
              <a:rPr lang="zh-CN" altLang="en-US" sz="2400" dirty="0"/>
              <a:t>学号</a:t>
            </a:r>
            <a:r>
              <a:rPr lang="en-US" altLang="zh-CN" sz="2400" dirty="0"/>
              <a:t>,</a:t>
            </a:r>
            <a:r>
              <a:rPr lang="zh-CN" altLang="en-US" sz="2400" dirty="0"/>
              <a:t>课名） </a:t>
            </a:r>
            <a:r>
              <a:rPr lang="zh-CN" altLang="en-US" sz="2400" dirty="0" smtClean="0"/>
              <a:t>     姓名</a:t>
            </a:r>
            <a:r>
              <a:rPr lang="zh-CN" altLang="en-US" sz="2400" dirty="0"/>
              <a:t>这样的部分函数依赖，所以</a:t>
            </a:r>
            <a:r>
              <a:rPr lang="en-US" altLang="zh-CN" sz="2400" dirty="0"/>
              <a:t>DSC</a:t>
            </a:r>
            <a:r>
              <a:rPr lang="zh-CN" altLang="en-US" sz="2400" dirty="0"/>
              <a:t>中存在非主属性姓名不是完全函数依赖于候选键的情况，因此</a:t>
            </a:r>
            <a:r>
              <a:rPr lang="en-US" altLang="zh-CN" sz="2400" dirty="0"/>
              <a:t>DSC</a:t>
            </a:r>
            <a:r>
              <a:rPr lang="zh-CN" altLang="en-US" sz="2400" dirty="0"/>
              <a:t>不是第二范式。</a:t>
            </a:r>
          </a:p>
          <a:p>
            <a:pPr>
              <a:lnSpc>
                <a:spcPct val="150000"/>
              </a:lnSpc>
            </a:pPr>
            <a:r>
              <a:rPr lang="zh-CN" altLang="en-US" sz="2400" dirty="0"/>
              <a:t>如果能将</a:t>
            </a:r>
            <a:r>
              <a:rPr lang="en-US" altLang="zh-CN" sz="2400" dirty="0"/>
              <a:t>DSC</a:t>
            </a:r>
            <a:r>
              <a:rPr lang="zh-CN" altLang="en-US" sz="2400" dirty="0"/>
              <a:t>中的全部的非主属性对候选键的部分函数依赖消除掉，则就可以让它规范化成</a:t>
            </a:r>
            <a:r>
              <a:rPr lang="en-US" altLang="zh-CN" sz="2400" dirty="0"/>
              <a:t>2NF</a:t>
            </a:r>
            <a:r>
              <a:rPr lang="zh-CN" altLang="en-US" sz="2400" dirty="0"/>
              <a:t>。而解决的办法，就是将关系模式分解成多个关系模式的集合。</a:t>
            </a:r>
          </a:p>
        </p:txBody>
      </p:sp>
      <p:pic>
        <p:nvPicPr>
          <p:cNvPr id="2" name="图片 1"/>
          <p:cNvPicPr>
            <a:picLocks noChangeAspect="1"/>
          </p:cNvPicPr>
          <p:nvPr/>
        </p:nvPicPr>
        <p:blipFill>
          <a:blip r:embed="rId3"/>
          <a:stretch>
            <a:fillRect/>
          </a:stretch>
        </p:blipFill>
        <p:spPr>
          <a:xfrm>
            <a:off x="2783632" y="3095992"/>
            <a:ext cx="554784" cy="188992"/>
          </a:xfrm>
          <a:prstGeom prst="rect">
            <a:avLst/>
          </a:prstGeom>
        </p:spPr>
      </p:pic>
    </p:spTree>
    <p:extLst>
      <p:ext uri="{BB962C8B-B14F-4D97-AF65-F5344CB8AC3E}">
        <p14:creationId xmlns:p14="http://schemas.microsoft.com/office/powerpoint/2010/main" val="2727453518"/>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5" name="Rectangle 3"/>
          <p:cNvSpPr>
            <a:spLocks noGrp="1" noChangeArrowheads="1"/>
          </p:cNvSpPr>
          <p:nvPr>
            <p:ph type="body" idx="4294967295"/>
          </p:nvPr>
        </p:nvSpPr>
        <p:spPr>
          <a:xfrm>
            <a:off x="609600" y="1124744"/>
            <a:ext cx="10972800" cy="4525963"/>
          </a:xfrm>
        </p:spPr>
        <p:txBody>
          <a:bodyPr>
            <a:normAutofit fontScale="92500" lnSpcReduction="10000"/>
          </a:bodyPr>
          <a:lstStyle/>
          <a:p>
            <a:pPr>
              <a:lnSpc>
                <a:spcPct val="150000"/>
              </a:lnSpc>
            </a:pPr>
            <a:r>
              <a:rPr lang="zh-CN" altLang="en-US" sz="2800" dirty="0"/>
              <a:t>例如将关系模式</a:t>
            </a:r>
            <a:r>
              <a:rPr lang="en-US" altLang="zh-CN" sz="2800" dirty="0"/>
              <a:t>DSC</a:t>
            </a:r>
            <a:r>
              <a:rPr lang="zh-CN" altLang="en-US" sz="2800" dirty="0"/>
              <a:t>分解成以下</a:t>
            </a:r>
            <a:r>
              <a:rPr lang="en-US" altLang="zh-CN" sz="2800" dirty="0"/>
              <a:t>3</a:t>
            </a:r>
            <a:r>
              <a:rPr lang="zh-CN" altLang="en-US" sz="2800" dirty="0"/>
              <a:t>个关系模式的集合：</a:t>
            </a:r>
          </a:p>
          <a:p>
            <a:pPr>
              <a:lnSpc>
                <a:spcPct val="150000"/>
              </a:lnSpc>
            </a:pPr>
            <a:r>
              <a:rPr lang="en-US" altLang="zh-CN" sz="2800" dirty="0"/>
              <a:t>DS</a:t>
            </a:r>
            <a:r>
              <a:rPr lang="zh-CN" altLang="en-US" sz="2800" dirty="0"/>
              <a:t>（</a:t>
            </a:r>
            <a:r>
              <a:rPr lang="zh-CN" altLang="en-US" sz="2800" u="sng" dirty="0"/>
              <a:t>学号</a:t>
            </a:r>
            <a:r>
              <a:rPr lang="zh-CN" altLang="en-US" sz="2800" dirty="0"/>
              <a:t>，姓名，系名，系主任）</a:t>
            </a:r>
          </a:p>
          <a:p>
            <a:pPr>
              <a:lnSpc>
                <a:spcPct val="150000"/>
              </a:lnSpc>
            </a:pPr>
            <a:r>
              <a:rPr lang="en-US" altLang="zh-CN" sz="2800" dirty="0"/>
              <a:t>C</a:t>
            </a:r>
            <a:r>
              <a:rPr lang="zh-CN" altLang="en-US" sz="2800" dirty="0"/>
              <a:t>（</a:t>
            </a:r>
            <a:r>
              <a:rPr lang="zh-CN" altLang="en-US" sz="2800" u="sng" dirty="0"/>
              <a:t>课名</a:t>
            </a:r>
            <a:r>
              <a:rPr lang="zh-CN" altLang="en-US" sz="2800" dirty="0"/>
              <a:t>，学分）</a:t>
            </a:r>
          </a:p>
          <a:p>
            <a:pPr>
              <a:lnSpc>
                <a:spcPct val="150000"/>
              </a:lnSpc>
            </a:pPr>
            <a:r>
              <a:rPr lang="en-US" altLang="zh-CN" sz="2800" dirty="0"/>
              <a:t>SC</a:t>
            </a:r>
            <a:r>
              <a:rPr lang="zh-CN" altLang="en-US" sz="2800" dirty="0"/>
              <a:t>（</a:t>
            </a:r>
            <a:r>
              <a:rPr lang="zh-CN" altLang="en-US" sz="2800" u="sng" dirty="0"/>
              <a:t>学号，课名</a:t>
            </a:r>
            <a:r>
              <a:rPr lang="zh-CN" altLang="en-US" sz="2800" dirty="0"/>
              <a:t>，成绩）</a:t>
            </a:r>
          </a:p>
          <a:p>
            <a:pPr>
              <a:lnSpc>
                <a:spcPct val="150000"/>
              </a:lnSpc>
            </a:pPr>
            <a:r>
              <a:rPr lang="zh-CN" altLang="en-US" sz="2800" dirty="0"/>
              <a:t>其中</a:t>
            </a:r>
            <a:r>
              <a:rPr lang="en-US" altLang="zh-CN" sz="2800" dirty="0"/>
              <a:t>DS</a:t>
            </a:r>
            <a:r>
              <a:rPr lang="zh-CN" altLang="en-US" sz="2800" dirty="0"/>
              <a:t>的候选键是学号，</a:t>
            </a:r>
            <a:r>
              <a:rPr lang="en-US" altLang="zh-CN" sz="2800" dirty="0"/>
              <a:t>C</a:t>
            </a:r>
            <a:r>
              <a:rPr lang="zh-CN" altLang="en-US" sz="2800" dirty="0"/>
              <a:t>的候选键是课名，</a:t>
            </a:r>
            <a:r>
              <a:rPr lang="en-US" altLang="zh-CN" sz="2800" dirty="0"/>
              <a:t>SC</a:t>
            </a:r>
            <a:r>
              <a:rPr lang="zh-CN" altLang="en-US" sz="2800" dirty="0"/>
              <a:t>的候选键是（学号</a:t>
            </a:r>
            <a:r>
              <a:rPr lang="en-US" altLang="zh-CN" sz="2800" dirty="0"/>
              <a:t>,</a:t>
            </a:r>
            <a:r>
              <a:rPr lang="zh-CN" altLang="en-US" sz="2800" dirty="0"/>
              <a:t>课名），可见每一个关系模式的非主属性都是完全函数依赖于候选键的，所以</a:t>
            </a:r>
            <a:r>
              <a:rPr lang="en-US" altLang="zh-CN" sz="2800" dirty="0"/>
              <a:t>DS</a:t>
            </a:r>
            <a:r>
              <a:rPr lang="zh-CN" altLang="en-US" sz="2800" dirty="0"/>
              <a:t>、</a:t>
            </a:r>
            <a:r>
              <a:rPr lang="en-US" altLang="zh-CN" sz="2800" dirty="0"/>
              <a:t>C</a:t>
            </a:r>
            <a:r>
              <a:rPr lang="zh-CN" altLang="en-US" sz="2800" dirty="0"/>
              <a:t>和</a:t>
            </a:r>
            <a:r>
              <a:rPr lang="en-US" altLang="zh-CN" sz="2800" dirty="0"/>
              <a:t>SC</a:t>
            </a:r>
            <a:r>
              <a:rPr lang="zh-CN" altLang="en-US" sz="2800" dirty="0"/>
              <a:t>都是</a:t>
            </a:r>
            <a:r>
              <a:rPr lang="en-US" altLang="zh-CN" sz="2800" dirty="0"/>
              <a:t>2NF</a:t>
            </a:r>
            <a:r>
              <a:rPr lang="zh-CN" altLang="en-US" sz="2800" dirty="0"/>
              <a:t>。</a:t>
            </a:r>
          </a:p>
        </p:txBody>
      </p:sp>
    </p:spTree>
    <p:extLst>
      <p:ext uri="{BB962C8B-B14F-4D97-AF65-F5344CB8AC3E}">
        <p14:creationId xmlns:p14="http://schemas.microsoft.com/office/powerpoint/2010/main" val="4156175890"/>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9" name="Rectangle 3"/>
          <p:cNvSpPr>
            <a:spLocks noGrp="1" noChangeArrowheads="1"/>
          </p:cNvSpPr>
          <p:nvPr>
            <p:ph type="body" idx="4294967295"/>
          </p:nvPr>
        </p:nvSpPr>
        <p:spPr>
          <a:xfrm>
            <a:off x="609600" y="908720"/>
            <a:ext cx="10972800" cy="4525963"/>
          </a:xfrm>
        </p:spPr>
        <p:txBody>
          <a:bodyPr>
            <a:normAutofit fontScale="77500" lnSpcReduction="20000"/>
          </a:bodyPr>
          <a:lstStyle/>
          <a:p>
            <a:pPr>
              <a:lnSpc>
                <a:spcPct val="150000"/>
              </a:lnSpc>
            </a:pPr>
            <a:r>
              <a:rPr lang="zh-CN" altLang="en-US" sz="2400" dirty="0"/>
              <a:t>分解后的关系模式集｛</a:t>
            </a:r>
            <a:r>
              <a:rPr lang="en-US" altLang="zh-CN" sz="2400" dirty="0"/>
              <a:t>DS</a:t>
            </a:r>
            <a:r>
              <a:rPr lang="zh-CN" altLang="en-US" sz="2400" dirty="0"/>
              <a:t>，</a:t>
            </a:r>
            <a:r>
              <a:rPr lang="en-US" altLang="zh-CN" sz="2400" dirty="0"/>
              <a:t>C</a:t>
            </a:r>
            <a:r>
              <a:rPr lang="zh-CN" altLang="en-US" sz="2400" dirty="0"/>
              <a:t>，</a:t>
            </a:r>
            <a:r>
              <a:rPr lang="en-US" altLang="zh-CN" sz="2400" dirty="0"/>
              <a:t>SC</a:t>
            </a:r>
            <a:r>
              <a:rPr lang="zh-CN" altLang="en-US" sz="2400" dirty="0"/>
              <a:t>｝相比分解前的关系模式</a:t>
            </a:r>
            <a:r>
              <a:rPr lang="en-US" altLang="zh-CN" sz="2400" dirty="0"/>
              <a:t>DSC</a:t>
            </a:r>
            <a:r>
              <a:rPr lang="zh-CN" altLang="en-US" sz="2400" dirty="0"/>
              <a:t>信息表达完全相同，但在数据冗余和操作异常上得到了很大的改善。</a:t>
            </a:r>
          </a:p>
          <a:p>
            <a:pPr>
              <a:lnSpc>
                <a:spcPct val="150000"/>
              </a:lnSpc>
            </a:pPr>
            <a:r>
              <a:rPr lang="zh-CN" altLang="en-US" sz="2400" dirty="0"/>
              <a:t>不过仔细分析其中的</a:t>
            </a:r>
            <a:r>
              <a:rPr lang="en-US" altLang="zh-CN" sz="2400" dirty="0"/>
              <a:t>DS</a:t>
            </a:r>
            <a:r>
              <a:rPr lang="zh-CN" altLang="en-US" sz="2400" dirty="0"/>
              <a:t>，也会发现还是存在着如下的一些问题。</a:t>
            </a:r>
          </a:p>
          <a:p>
            <a:pPr lvl="1">
              <a:lnSpc>
                <a:spcPct val="150000"/>
              </a:lnSpc>
            </a:pPr>
            <a:r>
              <a:rPr lang="en-US" altLang="zh-CN" sz="2000" dirty="0"/>
              <a:t>(1) </a:t>
            </a:r>
            <a:r>
              <a:rPr lang="zh-CN" altLang="en-US" sz="2000" dirty="0"/>
              <a:t>数据冗余。</a:t>
            </a:r>
          </a:p>
          <a:p>
            <a:pPr lvl="1">
              <a:lnSpc>
                <a:spcPct val="150000"/>
              </a:lnSpc>
            </a:pPr>
            <a:r>
              <a:rPr lang="en-US" altLang="zh-CN" sz="2000" dirty="0"/>
              <a:t>(2) </a:t>
            </a:r>
            <a:r>
              <a:rPr lang="zh-CN" altLang="en-US" sz="2000" dirty="0"/>
              <a:t>插入异常。</a:t>
            </a:r>
          </a:p>
          <a:p>
            <a:pPr lvl="1">
              <a:lnSpc>
                <a:spcPct val="150000"/>
              </a:lnSpc>
            </a:pPr>
            <a:r>
              <a:rPr lang="en-US" altLang="zh-CN" sz="2000" dirty="0"/>
              <a:t>(3) </a:t>
            </a:r>
            <a:r>
              <a:rPr lang="zh-CN" altLang="en-US" sz="2000" dirty="0"/>
              <a:t>删除异常。</a:t>
            </a:r>
          </a:p>
          <a:p>
            <a:pPr lvl="1">
              <a:lnSpc>
                <a:spcPct val="150000"/>
              </a:lnSpc>
            </a:pPr>
            <a:r>
              <a:rPr lang="en-US" altLang="zh-CN" sz="2000" dirty="0"/>
              <a:t>(4) </a:t>
            </a:r>
            <a:r>
              <a:rPr lang="zh-CN" altLang="en-US" sz="2000" dirty="0"/>
              <a:t>更新复杂。</a:t>
            </a:r>
          </a:p>
          <a:p>
            <a:pPr>
              <a:lnSpc>
                <a:spcPct val="150000"/>
              </a:lnSpc>
            </a:pPr>
            <a:r>
              <a:rPr lang="zh-CN" altLang="en-US" sz="2400" dirty="0"/>
              <a:t>可见，满足</a:t>
            </a:r>
            <a:r>
              <a:rPr lang="en-US" altLang="zh-CN" sz="2400" dirty="0"/>
              <a:t>2NF</a:t>
            </a:r>
            <a:r>
              <a:rPr lang="zh-CN" altLang="en-US" sz="2400" dirty="0"/>
              <a:t>的关系模式并不能完全消除关系模式中的各种异常情况，还需要进一步的规范化。而对关系模式</a:t>
            </a:r>
            <a:r>
              <a:rPr lang="en-US" altLang="zh-CN" sz="2400" dirty="0"/>
              <a:t>DS</a:t>
            </a:r>
            <a:r>
              <a:rPr lang="zh-CN" altLang="en-US" sz="2400" dirty="0"/>
              <a:t>的分析发现这些冗余和异常都是因为</a:t>
            </a:r>
            <a:r>
              <a:rPr lang="zh-CN" altLang="en-US" sz="2400" dirty="0">
                <a:solidFill>
                  <a:srgbClr val="FFFF00"/>
                </a:solidFill>
              </a:rPr>
              <a:t>系主任传递函数依赖于候选键学号</a:t>
            </a:r>
            <a:r>
              <a:rPr lang="zh-CN" altLang="en-US" sz="2400" dirty="0"/>
              <a:t>造成的</a:t>
            </a:r>
            <a:r>
              <a:rPr lang="zh-CN" altLang="en-US" sz="2400" dirty="0" smtClean="0"/>
              <a:t>。</a:t>
            </a:r>
            <a:endParaRPr lang="en-US" altLang="zh-CN" sz="2400" dirty="0" smtClean="0"/>
          </a:p>
          <a:p>
            <a:pPr lvl="0"/>
            <a:endParaRPr lang="en-US" altLang="zh-CN" dirty="0" smtClean="0">
              <a:solidFill>
                <a:srgbClr val="FFFF00"/>
              </a:solidFill>
            </a:endParaRPr>
          </a:p>
          <a:p>
            <a:pPr lvl="0"/>
            <a:r>
              <a:rPr lang="zh-CN" altLang="en-US" dirty="0" smtClean="0">
                <a:solidFill>
                  <a:srgbClr val="FFFF00"/>
                </a:solidFill>
              </a:rPr>
              <a:t>课后习题一 </a:t>
            </a:r>
            <a:r>
              <a:rPr lang="en-US" altLang="zh-CN" dirty="0" smtClean="0">
                <a:solidFill>
                  <a:srgbClr val="FFFF00"/>
                </a:solidFill>
              </a:rPr>
              <a:t>.4</a:t>
            </a:r>
            <a:endParaRPr lang="zh-CN" altLang="en-US" dirty="0">
              <a:solidFill>
                <a:srgbClr val="FFFF00"/>
              </a:solidFill>
            </a:endParaRPr>
          </a:p>
          <a:p>
            <a:pPr>
              <a:lnSpc>
                <a:spcPct val="150000"/>
              </a:lnSpc>
            </a:pPr>
            <a:endParaRPr lang="zh-CN" altLang="en-US" sz="2400" dirty="0"/>
          </a:p>
        </p:txBody>
      </p:sp>
    </p:spTree>
    <p:extLst>
      <p:ext uri="{BB962C8B-B14F-4D97-AF65-F5344CB8AC3E}">
        <p14:creationId xmlns:p14="http://schemas.microsoft.com/office/powerpoint/2010/main" val="798646556"/>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title"/>
          </p:nvPr>
        </p:nvSpPr>
        <p:spPr>
          <a:xfrm>
            <a:off x="983432" y="438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第三范式</a:t>
            </a:r>
            <a:r>
              <a:rPr kumimoji="1" lang="en-US" altLang="zh-CN" u="sng" dirty="0">
                <a:solidFill>
                  <a:srgbClr val="FFFFCC"/>
                </a:solidFill>
                <a:effectLst>
                  <a:outerShdw blurRad="38100" dist="38100" dir="2700000" algn="tl">
                    <a:srgbClr val="000000"/>
                  </a:outerShdw>
                </a:effectLst>
                <a:latin typeface="Arial" pitchFamily="34" charset="0"/>
                <a:cs typeface="+mn-cs"/>
              </a:rPr>
              <a:t>(3NF)</a:t>
            </a:r>
          </a:p>
        </p:txBody>
      </p:sp>
      <p:sp>
        <p:nvSpPr>
          <p:cNvPr id="1553412" name="Rectangle 4"/>
          <p:cNvSpPr>
            <a:spLocks noGrp="1" noChangeArrowheads="1"/>
          </p:cNvSpPr>
          <p:nvPr>
            <p:ph idx="1"/>
          </p:nvPr>
        </p:nvSpPr>
        <p:spPr>
          <a:xfrm>
            <a:off x="983432" y="1040728"/>
            <a:ext cx="10225136" cy="647700"/>
          </a:xfrm>
        </p:spPr>
        <p:txBody>
          <a:bodyPr>
            <a:noAutofit/>
          </a:bodyPr>
          <a:lstStyle/>
          <a:p>
            <a:pPr marL="0" indent="0">
              <a:spcAft>
                <a:spcPct val="25000"/>
              </a:spcAft>
              <a:buNone/>
              <a:defRPr/>
            </a:pPr>
            <a:r>
              <a:rPr lang="zh-CN" altLang="en-US" dirty="0"/>
              <a:t>若关系模式</a:t>
            </a:r>
            <a:r>
              <a:rPr lang="en-US" altLang="zh-CN" dirty="0"/>
              <a:t>R(U)</a:t>
            </a:r>
            <a:r>
              <a:rPr lang="zh-CN" altLang="en-US" dirty="0"/>
              <a:t>∈</a:t>
            </a:r>
            <a:r>
              <a:rPr lang="en-US" altLang="zh-CN" dirty="0"/>
              <a:t>2NF</a:t>
            </a:r>
            <a:r>
              <a:rPr lang="zh-CN" altLang="en-US" dirty="0"/>
              <a:t>，且</a:t>
            </a:r>
            <a:r>
              <a:rPr lang="en-US" altLang="zh-CN" dirty="0"/>
              <a:t>R</a:t>
            </a:r>
            <a:r>
              <a:rPr lang="zh-CN" altLang="en-US" dirty="0"/>
              <a:t>的每一个非主属性都不传递函数依赖于</a:t>
            </a:r>
            <a:r>
              <a:rPr lang="en-US" altLang="zh-CN" dirty="0"/>
              <a:t>R</a:t>
            </a:r>
            <a:r>
              <a:rPr lang="zh-CN" altLang="en-US" dirty="0"/>
              <a:t>的任何候选键，则</a:t>
            </a:r>
            <a:r>
              <a:rPr lang="en-US" altLang="zh-CN" dirty="0">
                <a:solidFill>
                  <a:srgbClr val="FFFF00"/>
                </a:solidFill>
              </a:rPr>
              <a:t>R(U)∈3NF</a:t>
            </a:r>
            <a:r>
              <a:rPr lang="zh-CN" altLang="en-US" dirty="0"/>
              <a:t>。</a:t>
            </a:r>
          </a:p>
        </p:txBody>
      </p:sp>
      <p:sp>
        <p:nvSpPr>
          <p:cNvPr id="47109" name="Rectangle 5"/>
          <p:cNvSpPr>
            <a:spLocks noChangeArrowheads="1"/>
          </p:cNvSpPr>
          <p:nvPr/>
        </p:nvSpPr>
        <p:spPr bwMode="auto">
          <a:xfrm>
            <a:off x="2207568" y="2514674"/>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0" tIns="0" rIns="0" bIns="0"/>
          <a:lstStyle/>
          <a:p>
            <a:pPr marL="198438" marR="0" lvl="0" indent="-198438" algn="l" defTabSz="914400" rtl="0" eaLnBrk="1" fontAlgn="base" latinLnBrk="0" hangingPunct="1">
              <a:lnSpc>
                <a:spcPct val="100000"/>
              </a:lnSpc>
              <a:spcBef>
                <a:spcPct val="0"/>
              </a:spcBef>
              <a:spcAft>
                <a:spcPct val="0"/>
              </a:spcAft>
              <a:buClrTx/>
              <a:buSzTx/>
              <a:buFont typeface="Wingdings" pitchFamily="2" charset="2"/>
              <a:buNone/>
              <a:tabLst/>
              <a:defRPr/>
            </a:pPr>
            <a:r>
              <a:rPr kumimoji="1" lang="en-US" altLang="en-US" sz="2800" b="0" i="0" u="none" strike="noStrike" kern="1200" cap="none" spc="0" normalizeH="0" baseline="0" noProof="0" dirty="0">
                <a:ln>
                  <a:noFill/>
                </a:ln>
                <a:solidFill>
                  <a:srgbClr val="99FF33"/>
                </a:solidFill>
                <a:effectLst/>
                <a:uLnTx/>
                <a:uFillTx/>
                <a:ea typeface="楷体_GB2312" pitchFamily="49" charset="-122"/>
                <a:cs typeface="+mn-cs"/>
              </a:rPr>
              <a:t>S(</a:t>
            </a:r>
            <a:r>
              <a:rPr kumimoji="1" lang="en-US" altLang="en-US" sz="2800" b="0" i="0" u="sng" strike="noStrike" kern="1200" cap="none" spc="0" normalizeH="0" baseline="0" noProof="0" dirty="0" err="1">
                <a:ln>
                  <a:noFill/>
                </a:ln>
                <a:solidFill>
                  <a:srgbClr val="99FF33"/>
                </a:solidFill>
                <a:effectLst/>
                <a:uLnTx/>
                <a:uFillTx/>
                <a:ea typeface="楷体_GB2312" pitchFamily="49" charset="-122"/>
                <a:cs typeface="+mn-cs"/>
              </a:rPr>
              <a:t>学号</a:t>
            </a:r>
            <a:r>
              <a:rPr kumimoji="1" lang="en-US" altLang="en-US" sz="2800" b="0" i="0" u="none" strike="noStrike" kern="1200" cap="none" spc="0" normalizeH="0" baseline="0" noProof="0" dirty="0" err="1">
                <a:ln>
                  <a:noFill/>
                </a:ln>
                <a:solidFill>
                  <a:srgbClr val="99FF33"/>
                </a:solidFill>
                <a:effectLst/>
                <a:uLnTx/>
                <a:uFillTx/>
                <a:ea typeface="楷体_GB2312" pitchFamily="49" charset="-122"/>
                <a:cs typeface="+mn-cs"/>
              </a:rPr>
              <a:t>,姓名,系名</a:t>
            </a:r>
            <a:r>
              <a:rPr kumimoji="1" lang="en-US" altLang="en-US" sz="2800" b="0" i="0" u="none" strike="noStrike" kern="1200" cap="none" spc="0" normalizeH="0" baseline="0" noProof="0" dirty="0">
                <a:ln>
                  <a:noFill/>
                </a:ln>
                <a:solidFill>
                  <a:srgbClr val="99FF33"/>
                </a:solidFill>
                <a:effectLst/>
                <a:uLnTx/>
                <a:uFillTx/>
                <a:ea typeface="楷体_GB2312" pitchFamily="49" charset="-122"/>
                <a:cs typeface="+mn-cs"/>
              </a:rPr>
              <a:t>)，D(</a:t>
            </a:r>
            <a:r>
              <a:rPr kumimoji="1" lang="en-US" altLang="en-US" sz="2800" b="0" i="0" u="sng" strike="noStrike" kern="1200" cap="none" spc="0" normalizeH="0" baseline="0" noProof="0" dirty="0" err="1">
                <a:ln>
                  <a:noFill/>
                </a:ln>
                <a:solidFill>
                  <a:srgbClr val="99FF33"/>
                </a:solidFill>
                <a:effectLst/>
                <a:uLnTx/>
                <a:uFillTx/>
                <a:ea typeface="楷体_GB2312" pitchFamily="49" charset="-122"/>
                <a:cs typeface="+mn-cs"/>
              </a:rPr>
              <a:t>系名</a:t>
            </a:r>
            <a:r>
              <a:rPr kumimoji="1" lang="en-US" altLang="en-US" sz="2800" b="0" i="0" u="none" strike="noStrike" kern="1200" cap="none" spc="0" normalizeH="0" baseline="0" noProof="0" dirty="0" err="1">
                <a:ln>
                  <a:noFill/>
                </a:ln>
                <a:solidFill>
                  <a:srgbClr val="99FF33"/>
                </a:solidFill>
                <a:effectLst/>
                <a:uLnTx/>
                <a:uFillTx/>
                <a:ea typeface="楷体_GB2312" pitchFamily="49" charset="-122"/>
                <a:cs typeface="+mn-cs"/>
              </a:rPr>
              <a:t>,系主任</a:t>
            </a:r>
            <a:r>
              <a:rPr kumimoji="1" lang="en-US" altLang="en-US" sz="2800" b="0" i="0" u="none" strike="noStrike" kern="1200" cap="none" spc="0" normalizeH="0" baseline="0" noProof="0" dirty="0">
                <a:ln>
                  <a:noFill/>
                </a:ln>
                <a:solidFill>
                  <a:srgbClr val="99FF33"/>
                </a:solidFill>
                <a:effectLst/>
                <a:uLnTx/>
                <a:uFillTx/>
                <a:ea typeface="楷体_GB2312" pitchFamily="49" charset="-122"/>
                <a:cs typeface="+mn-cs"/>
              </a:rPr>
              <a:t>）</a:t>
            </a:r>
            <a:r>
              <a:rPr kumimoji="1" lang="en-US" altLang="zh-CN" sz="2800" b="0" i="0" u="none" strike="noStrike" kern="1200" cap="none" spc="0" normalizeH="0" baseline="0" noProof="0" dirty="0">
                <a:ln>
                  <a:noFill/>
                </a:ln>
                <a:solidFill>
                  <a:srgbClr val="99FF33"/>
                </a:solidFill>
                <a:effectLst/>
                <a:uLnTx/>
                <a:uFillTx/>
                <a:latin typeface="Times New Roman" pitchFamily="18" charset="0"/>
                <a:ea typeface="宋体" pitchFamily="2" charset="-122"/>
                <a:cs typeface="+mn-cs"/>
              </a:rPr>
              <a:t>∈ </a:t>
            </a:r>
            <a:r>
              <a:rPr kumimoji="1" lang="en-US" altLang="zh-CN"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rPr>
              <a:t>3NF</a:t>
            </a:r>
            <a:endParaRPr kumimoji="1" lang="zh-CN" altLang="en-US" sz="2800" b="0" i="0" u="none" strike="noStrike" kern="1200" cap="none" spc="0" normalizeH="0" baseline="0" noProof="0" dirty="0">
              <a:ln>
                <a:noFill/>
              </a:ln>
              <a:solidFill>
                <a:srgbClr val="99FF33"/>
              </a:solidFill>
              <a:effectLst/>
              <a:uLnTx/>
              <a:uFillTx/>
              <a:latin typeface="Times New Roman" pitchFamily="18" charset="0"/>
              <a:ea typeface="楷体_GB2312" pitchFamily="49" charset="-122"/>
              <a:cs typeface="+mn-cs"/>
            </a:endParaRPr>
          </a:p>
        </p:txBody>
      </p:sp>
      <p:sp>
        <p:nvSpPr>
          <p:cNvPr id="1553414" name="Rectangle 6"/>
          <p:cNvSpPr>
            <a:spLocks noChangeArrowheads="1"/>
          </p:cNvSpPr>
          <p:nvPr/>
        </p:nvSpPr>
        <p:spPr bwMode="auto">
          <a:xfrm>
            <a:off x="4511031" y="5996063"/>
            <a:ext cx="944563" cy="407987"/>
          </a:xfrm>
          <a:prstGeom prst="rect">
            <a:avLst/>
          </a:prstGeom>
          <a:solidFill>
            <a:srgbClr val="3333FF"/>
          </a:solidFill>
          <a:ln w="12700" cap="sq">
            <a:solidFill>
              <a:srgbClr val="99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学号</a:t>
            </a:r>
          </a:p>
        </p:txBody>
      </p:sp>
      <p:sp>
        <p:nvSpPr>
          <p:cNvPr id="1553415" name="Rectangle 7"/>
          <p:cNvSpPr>
            <a:spLocks noChangeArrowheads="1"/>
          </p:cNvSpPr>
          <p:nvPr/>
        </p:nvSpPr>
        <p:spPr bwMode="auto">
          <a:xfrm>
            <a:off x="2934643" y="5996063"/>
            <a:ext cx="946150"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cxnSp>
        <p:nvCxnSpPr>
          <p:cNvPr id="47112" name="AutoShape 8"/>
          <p:cNvCxnSpPr>
            <a:cxnSpLocks noChangeShapeType="1"/>
            <a:stCxn id="1553414" idx="1"/>
            <a:endCxn id="1553415" idx="3"/>
          </p:cNvCxnSpPr>
          <p:nvPr/>
        </p:nvCxnSpPr>
        <p:spPr bwMode="auto">
          <a:xfrm flipH="1">
            <a:off x="3880794" y="6200849"/>
            <a:ext cx="630237"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553417" name="Rectangle 9"/>
          <p:cNvSpPr>
            <a:spLocks noChangeArrowheads="1"/>
          </p:cNvSpPr>
          <p:nvPr/>
        </p:nvSpPr>
        <p:spPr bwMode="auto">
          <a:xfrm>
            <a:off x="4511031" y="5059438"/>
            <a:ext cx="944563"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姓名</a:t>
            </a:r>
          </a:p>
        </p:txBody>
      </p:sp>
      <p:cxnSp>
        <p:nvCxnSpPr>
          <p:cNvPr id="47114" name="AutoShape 10"/>
          <p:cNvCxnSpPr>
            <a:cxnSpLocks noChangeShapeType="1"/>
            <a:stCxn id="1553414" idx="0"/>
            <a:endCxn id="1553417" idx="2"/>
          </p:cNvCxnSpPr>
          <p:nvPr/>
        </p:nvCxnSpPr>
        <p:spPr bwMode="auto">
          <a:xfrm flipV="1">
            <a:off x="4984105" y="5467424"/>
            <a:ext cx="0" cy="528638"/>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graphicFrame>
        <p:nvGraphicFramePr>
          <p:cNvPr id="1553419" name="Group 11"/>
          <p:cNvGraphicFramePr>
            <a:graphicFrameLocks noGrp="1"/>
          </p:cNvGraphicFramePr>
          <p:nvPr>
            <p:extLst>
              <p:ext uri="{D42A27DB-BD31-4B8C-83A1-F6EECF244321}">
                <p14:modId xmlns:p14="http://schemas.microsoft.com/office/powerpoint/2010/main" val="562094213"/>
              </p:ext>
            </p:extLst>
          </p:nvPr>
        </p:nvGraphicFramePr>
        <p:xfrm>
          <a:off x="1055440" y="3259212"/>
          <a:ext cx="3057128" cy="2438400"/>
        </p:xfrm>
        <a:graphic>
          <a:graphicData uri="http://schemas.openxmlformats.org/drawingml/2006/table">
            <a:tbl>
              <a:tblPr/>
              <a:tblGrid>
                <a:gridCol w="855996">
                  <a:extLst>
                    <a:ext uri="{9D8B030D-6E8A-4147-A177-3AD203B41FA5}">
                      <a16:colId xmlns:a16="http://schemas.microsoft.com/office/drawing/2014/main" val="20000"/>
                    </a:ext>
                  </a:extLst>
                </a:gridCol>
                <a:gridCol w="1108208">
                  <a:extLst>
                    <a:ext uri="{9D8B030D-6E8A-4147-A177-3AD203B41FA5}">
                      <a16:colId xmlns:a16="http://schemas.microsoft.com/office/drawing/2014/main" val="20001"/>
                    </a:ext>
                  </a:extLst>
                </a:gridCol>
                <a:gridCol w="1092924">
                  <a:extLst>
                    <a:ext uri="{9D8B030D-6E8A-4147-A177-3AD203B41FA5}">
                      <a16:colId xmlns:a16="http://schemas.microsoft.com/office/drawing/2014/main" val="20002"/>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李科</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王军</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9806</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朱成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9807</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黄沙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553459" name="Group 51"/>
          <p:cNvGraphicFramePr>
            <a:graphicFrameLocks noGrp="1"/>
          </p:cNvGraphicFramePr>
          <p:nvPr>
            <p:extLst>
              <p:ext uri="{D42A27DB-BD31-4B8C-83A1-F6EECF244321}">
                <p14:modId xmlns:p14="http://schemas.microsoft.com/office/powerpoint/2010/main" val="577819500"/>
              </p:ext>
            </p:extLst>
          </p:nvPr>
        </p:nvGraphicFramePr>
        <p:xfrm>
          <a:off x="7259862" y="3271912"/>
          <a:ext cx="2652562" cy="1381224"/>
        </p:xfrm>
        <a:graphic>
          <a:graphicData uri="http://schemas.openxmlformats.org/drawingml/2006/table">
            <a:tbl>
              <a:tblPr/>
              <a:tblGrid>
                <a:gridCol w="1193653">
                  <a:extLst>
                    <a:ext uri="{9D8B030D-6E8A-4147-A177-3AD203B41FA5}">
                      <a16:colId xmlns:a16="http://schemas.microsoft.com/office/drawing/2014/main" val="20000"/>
                    </a:ext>
                  </a:extLst>
                </a:gridCol>
                <a:gridCol w="1458909">
                  <a:extLst>
                    <a:ext uri="{9D8B030D-6E8A-4147-A177-3AD203B41FA5}">
                      <a16:colId xmlns:a16="http://schemas.microsoft.com/office/drawing/2014/main" val="20001"/>
                    </a:ext>
                  </a:extLst>
                </a:gridCol>
              </a:tblGrid>
              <a:tr h="3453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53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53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王浩</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53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33"/>
                          </a:solidFill>
                          <a:effectLst>
                            <a:outerShdw blurRad="38100" dist="38100" dir="2700000" algn="tl">
                              <a:srgbClr val="000000"/>
                            </a:outerShdw>
                          </a:effectLst>
                          <a:latin typeface="宋体" panose="02010600030101010101" pitchFamily="2" charset="-122"/>
                          <a:ea typeface="宋体" panose="02010600030101010101" pitchFamily="2"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53478" name="Rectangle 70"/>
          <p:cNvSpPr>
            <a:spLocks noChangeArrowheads="1"/>
          </p:cNvSpPr>
          <p:nvPr/>
        </p:nvSpPr>
        <p:spPr bwMode="auto">
          <a:xfrm>
            <a:off x="8182918" y="4914974"/>
            <a:ext cx="946150" cy="407988"/>
          </a:xfrm>
          <a:prstGeom prst="rect">
            <a:avLst/>
          </a:prstGeom>
          <a:solidFill>
            <a:srgbClr val="3333FF"/>
          </a:solidFill>
          <a:ln w="12700" cap="sq">
            <a:solidFill>
              <a:srgbClr val="99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系名</a:t>
            </a:r>
          </a:p>
        </p:txBody>
      </p:sp>
      <p:sp>
        <p:nvSpPr>
          <p:cNvPr id="1553479" name="Rectangle 71"/>
          <p:cNvSpPr>
            <a:spLocks noChangeArrowheads="1"/>
          </p:cNvSpPr>
          <p:nvPr/>
        </p:nvSpPr>
        <p:spPr bwMode="auto">
          <a:xfrm>
            <a:off x="8182918" y="5730949"/>
            <a:ext cx="946150" cy="407988"/>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47168" name="AutoShape 72"/>
          <p:cNvCxnSpPr>
            <a:cxnSpLocks noChangeShapeType="1"/>
            <a:stCxn id="1553478" idx="2"/>
            <a:endCxn id="1553479" idx="0"/>
          </p:cNvCxnSpPr>
          <p:nvPr/>
        </p:nvCxnSpPr>
        <p:spPr bwMode="auto">
          <a:xfrm>
            <a:off x="8655993" y="5322963"/>
            <a:ext cx="0" cy="407987"/>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7" name="Rectangle 3"/>
          <p:cNvSpPr>
            <a:spLocks noGrp="1" noChangeArrowheads="1"/>
          </p:cNvSpPr>
          <p:nvPr>
            <p:ph type="body" idx="4294967295"/>
          </p:nvPr>
        </p:nvSpPr>
        <p:spPr>
          <a:xfrm>
            <a:off x="767408" y="836712"/>
            <a:ext cx="10972800" cy="4525963"/>
          </a:xfrm>
        </p:spPr>
        <p:txBody>
          <a:bodyPr>
            <a:normAutofit fontScale="92500"/>
          </a:bodyPr>
          <a:lstStyle/>
          <a:p>
            <a:pPr>
              <a:lnSpc>
                <a:spcPct val="150000"/>
              </a:lnSpc>
            </a:pPr>
            <a:r>
              <a:rPr lang="zh-CN" altLang="en-US" sz="2800" dirty="0"/>
              <a:t>例如将</a:t>
            </a:r>
            <a:r>
              <a:rPr lang="en-US" altLang="zh-CN" sz="2800" dirty="0"/>
              <a:t>DS</a:t>
            </a:r>
            <a:r>
              <a:rPr lang="zh-CN" altLang="en-US" sz="2800" dirty="0"/>
              <a:t>分解成以下两个关系模式的集合：</a:t>
            </a:r>
          </a:p>
          <a:p>
            <a:pPr>
              <a:lnSpc>
                <a:spcPct val="150000"/>
              </a:lnSpc>
            </a:pPr>
            <a:r>
              <a:rPr lang="en-US" altLang="zh-CN" sz="2800" dirty="0"/>
              <a:t>S</a:t>
            </a:r>
            <a:r>
              <a:rPr lang="zh-CN" altLang="en-US" sz="2800" dirty="0"/>
              <a:t>（</a:t>
            </a:r>
            <a:r>
              <a:rPr lang="zh-CN" altLang="en-US" sz="2800" u="sng" dirty="0"/>
              <a:t>学号</a:t>
            </a:r>
            <a:r>
              <a:rPr lang="zh-CN" altLang="en-US" sz="2800" dirty="0"/>
              <a:t>，姓名，系名）</a:t>
            </a:r>
          </a:p>
          <a:p>
            <a:pPr>
              <a:lnSpc>
                <a:spcPct val="150000"/>
              </a:lnSpc>
            </a:pPr>
            <a:r>
              <a:rPr lang="en-US" altLang="zh-CN" sz="2800" dirty="0"/>
              <a:t>D</a:t>
            </a:r>
            <a:r>
              <a:rPr lang="zh-CN" altLang="en-US" sz="2800" dirty="0"/>
              <a:t>（</a:t>
            </a:r>
            <a:r>
              <a:rPr lang="zh-CN" altLang="en-US" sz="2800" u="sng" dirty="0"/>
              <a:t>系名</a:t>
            </a:r>
            <a:r>
              <a:rPr lang="zh-CN" altLang="en-US" sz="2800" dirty="0"/>
              <a:t>，系主任）</a:t>
            </a:r>
          </a:p>
          <a:p>
            <a:pPr>
              <a:lnSpc>
                <a:spcPct val="150000"/>
              </a:lnSpc>
            </a:pPr>
            <a:r>
              <a:rPr lang="zh-CN" altLang="en-US" sz="2800" dirty="0"/>
              <a:t>显然，分解后的每一个关系模式中既没有非主属性对候选键的部分函数依赖，也没有非主属性对候选键的传递函数依赖，它们都满足</a:t>
            </a:r>
            <a:r>
              <a:rPr lang="en-US" altLang="zh-CN" sz="2800" dirty="0"/>
              <a:t>3NF</a:t>
            </a:r>
            <a:r>
              <a:rPr lang="zh-CN" altLang="en-US" sz="2800" dirty="0"/>
              <a:t>，数据冗余和操作异常进一步得到了减少，而信息表达与分解前完全一致。</a:t>
            </a:r>
          </a:p>
        </p:txBody>
      </p:sp>
    </p:spTree>
    <p:extLst>
      <p:ext uri="{BB962C8B-B14F-4D97-AF65-F5344CB8AC3E}">
        <p14:creationId xmlns:p14="http://schemas.microsoft.com/office/powerpoint/2010/main" val="700082628"/>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1" name="Rectangle 3"/>
          <p:cNvSpPr>
            <a:spLocks noGrp="1" noChangeArrowheads="1"/>
          </p:cNvSpPr>
          <p:nvPr>
            <p:ph type="body" idx="4294967295"/>
          </p:nvPr>
        </p:nvSpPr>
        <p:spPr>
          <a:xfrm>
            <a:off x="616353" y="908720"/>
            <a:ext cx="10972800" cy="4525963"/>
          </a:xfrm>
        </p:spPr>
        <p:txBody>
          <a:bodyPr/>
          <a:lstStyle/>
          <a:p>
            <a:pPr>
              <a:lnSpc>
                <a:spcPct val="150000"/>
              </a:lnSpc>
            </a:pPr>
            <a:r>
              <a:rPr lang="zh-CN" altLang="en-US" sz="2400" dirty="0"/>
              <a:t>将一个</a:t>
            </a:r>
            <a:r>
              <a:rPr lang="en-US" altLang="zh-CN" sz="2400" dirty="0"/>
              <a:t>2NF</a:t>
            </a:r>
            <a:r>
              <a:rPr lang="zh-CN" altLang="en-US" sz="2400" dirty="0"/>
              <a:t>关系分解为多个</a:t>
            </a:r>
            <a:r>
              <a:rPr lang="en-US" altLang="zh-CN" sz="2400" dirty="0"/>
              <a:t>3NF</a:t>
            </a:r>
            <a:r>
              <a:rPr lang="zh-CN" altLang="en-US" sz="2400" dirty="0"/>
              <a:t>的关系后，并不能完全消除关系模式中的各种异常情况和数据冗余。</a:t>
            </a:r>
          </a:p>
          <a:p>
            <a:pPr>
              <a:lnSpc>
                <a:spcPct val="150000"/>
              </a:lnSpc>
            </a:pPr>
            <a:r>
              <a:rPr lang="zh-CN" altLang="en-US" sz="2400" dirty="0"/>
              <a:t>例如有一个反映学生、教师和课程关系的关系模式</a:t>
            </a:r>
            <a:r>
              <a:rPr lang="en-US" altLang="zh-CN" sz="2400" dirty="0"/>
              <a:t>STC</a:t>
            </a:r>
            <a:r>
              <a:rPr lang="zh-CN" altLang="en-US" sz="2400" dirty="0"/>
              <a:t>（学号，工号，课号），语义约定每个学生可选多门课。每个教师只教一门课，但一门课可由几位教师讲授，当某个学生选定一门课程后就确定了一位授课教师。</a:t>
            </a:r>
          </a:p>
          <a:p>
            <a:pPr lvl="1">
              <a:lnSpc>
                <a:spcPct val="150000"/>
              </a:lnSpc>
            </a:pPr>
            <a:r>
              <a:rPr lang="zh-CN" altLang="en-US" sz="2000" dirty="0"/>
              <a:t>根据上述描述，得到</a:t>
            </a:r>
            <a:r>
              <a:rPr lang="en-US" altLang="zh-CN" sz="2000" dirty="0"/>
              <a:t>STC</a:t>
            </a:r>
            <a:r>
              <a:rPr lang="zh-CN" altLang="en-US" sz="2000" dirty="0"/>
              <a:t>的函数依赖集</a:t>
            </a:r>
            <a:r>
              <a:rPr lang="en-US" altLang="zh-CN" sz="2000" dirty="0"/>
              <a:t>F=</a:t>
            </a:r>
            <a:r>
              <a:rPr lang="zh-CN" altLang="en-US" sz="2000" dirty="0"/>
              <a:t>｛（学号</a:t>
            </a:r>
            <a:r>
              <a:rPr lang="en-US" altLang="zh-CN" sz="2000" dirty="0"/>
              <a:t>,</a:t>
            </a:r>
            <a:r>
              <a:rPr lang="zh-CN" altLang="en-US" sz="2000" dirty="0"/>
              <a:t>课号）→工号，工号→课号｝。可求得候选键为（学号</a:t>
            </a:r>
            <a:r>
              <a:rPr lang="en-US" altLang="zh-CN" sz="2000" dirty="0"/>
              <a:t>,</a:t>
            </a:r>
            <a:r>
              <a:rPr lang="zh-CN" altLang="en-US" sz="2000" dirty="0"/>
              <a:t>课号）和（学号</a:t>
            </a:r>
            <a:r>
              <a:rPr lang="en-US" altLang="zh-CN" sz="2000" dirty="0"/>
              <a:t>,</a:t>
            </a:r>
            <a:r>
              <a:rPr lang="zh-CN" altLang="en-US" sz="2000" dirty="0"/>
              <a:t>课号）。由于没有非主属性，所以就不存在任何非主属性部分或传递函数依赖于候选键，即</a:t>
            </a:r>
            <a:r>
              <a:rPr lang="en-US" altLang="zh-CN" sz="2000" dirty="0"/>
              <a:t>STC</a:t>
            </a:r>
            <a:r>
              <a:rPr lang="zh-CN" altLang="en-US" sz="2000" dirty="0"/>
              <a:t>既满足</a:t>
            </a:r>
            <a:r>
              <a:rPr lang="en-US" altLang="zh-CN" sz="2000" dirty="0"/>
              <a:t>2NF</a:t>
            </a:r>
            <a:r>
              <a:rPr lang="zh-CN" altLang="en-US" sz="2000" dirty="0"/>
              <a:t>，也满足</a:t>
            </a:r>
            <a:r>
              <a:rPr lang="en-US" altLang="zh-CN" sz="2000" dirty="0"/>
              <a:t>3NF</a:t>
            </a:r>
            <a:r>
              <a:rPr lang="zh-CN" altLang="en-US" sz="2000" dirty="0"/>
              <a:t>。</a:t>
            </a:r>
          </a:p>
        </p:txBody>
      </p:sp>
    </p:spTree>
    <p:extLst>
      <p:ext uri="{BB962C8B-B14F-4D97-AF65-F5344CB8AC3E}">
        <p14:creationId xmlns:p14="http://schemas.microsoft.com/office/powerpoint/2010/main" val="2161084959"/>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5" name="Rectangle 3"/>
          <p:cNvSpPr>
            <a:spLocks noGrp="1" noChangeArrowheads="1"/>
          </p:cNvSpPr>
          <p:nvPr>
            <p:ph type="body" idx="4294967295"/>
          </p:nvPr>
        </p:nvSpPr>
        <p:spPr>
          <a:xfrm>
            <a:off x="479376" y="692696"/>
            <a:ext cx="10972800" cy="4525963"/>
          </a:xfrm>
        </p:spPr>
        <p:txBody>
          <a:bodyPr>
            <a:normAutofit fontScale="70000" lnSpcReduction="20000"/>
          </a:bodyPr>
          <a:lstStyle/>
          <a:p>
            <a:pPr>
              <a:lnSpc>
                <a:spcPct val="150000"/>
              </a:lnSpc>
            </a:pPr>
            <a:r>
              <a:rPr lang="en-US" altLang="zh-CN" dirty="0"/>
              <a:t>STC</a:t>
            </a:r>
            <a:r>
              <a:rPr lang="zh-CN" altLang="en-US" dirty="0"/>
              <a:t>仍然存在如下一些问题。</a:t>
            </a:r>
          </a:p>
          <a:p>
            <a:pPr lvl="1">
              <a:lnSpc>
                <a:spcPct val="150000"/>
              </a:lnSpc>
            </a:pPr>
            <a:r>
              <a:rPr lang="en-US" altLang="zh-CN" dirty="0"/>
              <a:t>(1) </a:t>
            </a:r>
            <a:r>
              <a:rPr lang="zh-CN" altLang="en-US" dirty="0"/>
              <a:t>数据冗余。</a:t>
            </a:r>
          </a:p>
          <a:p>
            <a:pPr lvl="1">
              <a:lnSpc>
                <a:spcPct val="150000"/>
              </a:lnSpc>
            </a:pPr>
            <a:r>
              <a:rPr lang="en-US" altLang="zh-CN" dirty="0"/>
              <a:t>(2) </a:t>
            </a:r>
            <a:r>
              <a:rPr lang="zh-CN" altLang="en-US" dirty="0"/>
              <a:t>插入异常。</a:t>
            </a:r>
          </a:p>
          <a:p>
            <a:pPr lvl="1">
              <a:lnSpc>
                <a:spcPct val="150000"/>
              </a:lnSpc>
            </a:pPr>
            <a:r>
              <a:rPr lang="en-US" altLang="zh-CN" dirty="0"/>
              <a:t>(3) </a:t>
            </a:r>
            <a:r>
              <a:rPr lang="zh-CN" altLang="en-US" dirty="0"/>
              <a:t>删除异常。</a:t>
            </a:r>
          </a:p>
          <a:p>
            <a:pPr lvl="1">
              <a:lnSpc>
                <a:spcPct val="150000"/>
              </a:lnSpc>
            </a:pPr>
            <a:r>
              <a:rPr lang="en-US" altLang="zh-CN" dirty="0"/>
              <a:t>(4) </a:t>
            </a:r>
            <a:r>
              <a:rPr lang="zh-CN" altLang="en-US" dirty="0"/>
              <a:t>更新异常。</a:t>
            </a:r>
          </a:p>
          <a:p>
            <a:pPr>
              <a:lnSpc>
                <a:spcPct val="150000"/>
              </a:lnSpc>
            </a:pPr>
            <a:r>
              <a:rPr lang="zh-CN" altLang="en-US" dirty="0"/>
              <a:t>因此，</a:t>
            </a:r>
            <a:r>
              <a:rPr lang="en-US" altLang="zh-CN" dirty="0"/>
              <a:t>3NF</a:t>
            </a:r>
            <a:r>
              <a:rPr lang="zh-CN" altLang="en-US" dirty="0"/>
              <a:t>虽然已经是比较好的模型，但仍然存在改进的余地。而其中主要是因为存在着</a:t>
            </a:r>
            <a:r>
              <a:rPr lang="zh-CN" altLang="en-US" dirty="0">
                <a:solidFill>
                  <a:srgbClr val="FFFF00"/>
                </a:solidFill>
              </a:rPr>
              <a:t>主属性对候选键</a:t>
            </a:r>
            <a:r>
              <a:rPr lang="zh-CN" altLang="en-US" dirty="0"/>
              <a:t>的某种不合理的依赖</a:t>
            </a:r>
            <a:r>
              <a:rPr lang="zh-CN" altLang="en-US" dirty="0" smtClean="0"/>
              <a:t>。</a:t>
            </a:r>
            <a:endParaRPr lang="en-US" altLang="zh-CN" dirty="0" smtClean="0"/>
          </a:p>
          <a:p>
            <a:pPr>
              <a:lnSpc>
                <a:spcPct val="150000"/>
              </a:lnSpc>
            </a:pPr>
            <a:endParaRPr lang="en-US" altLang="zh-CN" dirty="0"/>
          </a:p>
          <a:p>
            <a:pPr lvl="0"/>
            <a:r>
              <a:rPr lang="zh-CN" altLang="en-US" sz="2700" dirty="0">
                <a:solidFill>
                  <a:srgbClr val="FFFF00"/>
                </a:solidFill>
              </a:rPr>
              <a:t>课后习题一 </a:t>
            </a:r>
            <a:r>
              <a:rPr lang="en-US" altLang="zh-CN" sz="2700" dirty="0" smtClean="0">
                <a:solidFill>
                  <a:srgbClr val="FFFF00"/>
                </a:solidFill>
              </a:rPr>
              <a:t>.5</a:t>
            </a:r>
            <a:endParaRPr lang="zh-CN" altLang="en-US" sz="2700" dirty="0">
              <a:solidFill>
                <a:srgbClr val="FFFF00"/>
              </a:solidFill>
            </a:endParaRPr>
          </a:p>
          <a:p>
            <a:pPr>
              <a:lnSpc>
                <a:spcPct val="150000"/>
              </a:lnSpc>
            </a:pPr>
            <a:endParaRPr lang="zh-CN" altLang="en-US" dirty="0"/>
          </a:p>
        </p:txBody>
      </p:sp>
    </p:spTree>
    <p:extLst>
      <p:ext uri="{BB962C8B-B14F-4D97-AF65-F5344CB8AC3E}">
        <p14:creationId xmlns:p14="http://schemas.microsoft.com/office/powerpoint/2010/main" val="1597176481"/>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a:xfrm>
            <a:off x="983432" y="-16724"/>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en-US" altLang="zh-CN" u="sng" dirty="0">
                <a:solidFill>
                  <a:srgbClr val="FFFFCC"/>
                </a:solidFill>
                <a:effectLst>
                  <a:outerShdw blurRad="38100" dist="38100" dir="2700000" algn="tl">
                    <a:srgbClr val="000000"/>
                  </a:outerShdw>
                </a:effectLst>
                <a:latin typeface="Arial" pitchFamily="34" charset="0"/>
                <a:cs typeface="+mn-cs"/>
              </a:rPr>
              <a:t>BC</a:t>
            </a:r>
            <a:r>
              <a:rPr kumimoji="1" lang="zh-CN" altLang="en-US" u="sng" dirty="0">
                <a:solidFill>
                  <a:srgbClr val="FFFFCC"/>
                </a:solidFill>
                <a:effectLst>
                  <a:outerShdw blurRad="38100" dist="38100" dir="2700000" algn="tl">
                    <a:srgbClr val="000000"/>
                  </a:outerShdw>
                </a:effectLst>
                <a:latin typeface="Arial" pitchFamily="34" charset="0"/>
                <a:cs typeface="+mn-cs"/>
              </a:rPr>
              <a:t>范式</a:t>
            </a:r>
            <a:r>
              <a:rPr kumimoji="1" lang="en-US" altLang="zh-CN" u="sng" dirty="0">
                <a:solidFill>
                  <a:srgbClr val="FFFFCC"/>
                </a:solidFill>
                <a:effectLst>
                  <a:outerShdw blurRad="38100" dist="38100" dir="2700000" algn="tl">
                    <a:srgbClr val="000000"/>
                  </a:outerShdw>
                </a:effectLst>
                <a:latin typeface="Arial" pitchFamily="34" charset="0"/>
                <a:cs typeface="+mn-cs"/>
              </a:rPr>
              <a:t>(BCNF)</a:t>
            </a:r>
          </a:p>
        </p:txBody>
      </p:sp>
      <p:sp>
        <p:nvSpPr>
          <p:cNvPr id="1554436" name="Rectangle 4"/>
          <p:cNvSpPr>
            <a:spLocks noGrp="1" noChangeArrowheads="1"/>
          </p:cNvSpPr>
          <p:nvPr>
            <p:ph idx="1"/>
          </p:nvPr>
        </p:nvSpPr>
        <p:spPr>
          <a:xfrm>
            <a:off x="1001617" y="883443"/>
            <a:ext cx="10585176" cy="647700"/>
          </a:xfrm>
        </p:spPr>
        <p:txBody>
          <a:bodyPr>
            <a:noAutofit/>
          </a:bodyPr>
          <a:lstStyle/>
          <a:p>
            <a:pPr marL="0" indent="0">
              <a:spcAft>
                <a:spcPct val="25000"/>
              </a:spcAft>
              <a:buNone/>
              <a:defRPr/>
            </a:pPr>
            <a:r>
              <a:rPr lang="zh-CN" altLang="en-US" dirty="0">
                <a:latin typeface="+mn-ea"/>
                <a:ea typeface="+mn-ea"/>
              </a:rPr>
              <a:t>若关系模式</a:t>
            </a:r>
            <a:r>
              <a:rPr lang="en-US" altLang="zh-CN" dirty="0">
                <a:latin typeface="+mn-ea"/>
                <a:ea typeface="+mn-ea"/>
              </a:rPr>
              <a:t>R(U)</a:t>
            </a:r>
            <a:r>
              <a:rPr lang="zh-CN" altLang="en-US" dirty="0">
                <a:latin typeface="+mn-ea"/>
                <a:ea typeface="+mn-ea"/>
              </a:rPr>
              <a:t>∈</a:t>
            </a:r>
            <a:r>
              <a:rPr lang="en-US" altLang="zh-CN" dirty="0">
                <a:latin typeface="+mn-ea"/>
                <a:ea typeface="+mn-ea"/>
              </a:rPr>
              <a:t>1NF</a:t>
            </a:r>
            <a:r>
              <a:rPr lang="zh-CN" altLang="en-US" dirty="0">
                <a:latin typeface="+mn-ea"/>
                <a:ea typeface="+mn-ea"/>
              </a:rPr>
              <a:t>，对于</a:t>
            </a:r>
            <a:r>
              <a:rPr lang="en-US" altLang="zh-CN" dirty="0">
                <a:latin typeface="+mn-ea"/>
                <a:ea typeface="+mn-ea"/>
              </a:rPr>
              <a:t>R</a:t>
            </a:r>
            <a:r>
              <a:rPr lang="zh-CN" altLang="en-US" dirty="0">
                <a:latin typeface="+mn-ea"/>
                <a:ea typeface="+mn-ea"/>
              </a:rPr>
              <a:t>的任意一个函数依赖</a:t>
            </a:r>
            <a:r>
              <a:rPr lang="en-US" altLang="zh-CN" dirty="0">
                <a:latin typeface="+mn-ea"/>
                <a:ea typeface="+mn-ea"/>
              </a:rPr>
              <a:t>X→Y (Y  X)</a:t>
            </a:r>
            <a:r>
              <a:rPr lang="zh-CN" altLang="en-US" dirty="0">
                <a:latin typeface="+mn-ea"/>
                <a:ea typeface="+mn-ea"/>
              </a:rPr>
              <a:t>，</a:t>
            </a:r>
            <a:r>
              <a:rPr lang="en-US" altLang="zh-CN" dirty="0">
                <a:latin typeface="+mn-ea"/>
                <a:ea typeface="+mn-ea"/>
              </a:rPr>
              <a:t>X(</a:t>
            </a:r>
            <a:r>
              <a:rPr lang="zh-CN" altLang="en-US" dirty="0">
                <a:latin typeface="+mn-ea"/>
                <a:ea typeface="+mn-ea"/>
              </a:rPr>
              <a:t>即决定因子</a:t>
            </a:r>
            <a:r>
              <a:rPr lang="en-US" altLang="zh-CN" dirty="0">
                <a:latin typeface="+mn-ea"/>
                <a:ea typeface="+mn-ea"/>
              </a:rPr>
              <a:t>)</a:t>
            </a:r>
            <a:r>
              <a:rPr lang="zh-CN" altLang="en-US" dirty="0">
                <a:latin typeface="+mn-ea"/>
                <a:ea typeface="+mn-ea"/>
              </a:rPr>
              <a:t>必含有候选键，则</a:t>
            </a:r>
            <a:r>
              <a:rPr lang="en-US" altLang="zh-CN" dirty="0">
                <a:solidFill>
                  <a:srgbClr val="FFFF00"/>
                </a:solidFill>
                <a:latin typeface="+mn-ea"/>
                <a:ea typeface="+mn-ea"/>
              </a:rPr>
              <a:t>R(U)∈BCNF</a:t>
            </a:r>
            <a:r>
              <a:rPr lang="zh-CN" altLang="en-US" dirty="0">
                <a:latin typeface="+mn-ea"/>
                <a:ea typeface="+mn-ea"/>
              </a:rPr>
              <a:t>。</a:t>
            </a:r>
          </a:p>
          <a:p>
            <a:pPr marL="0" indent="0">
              <a:spcBef>
                <a:spcPct val="15000"/>
              </a:spcBef>
              <a:spcAft>
                <a:spcPct val="25000"/>
              </a:spcAft>
              <a:buNone/>
              <a:defRPr/>
            </a:pPr>
            <a:r>
              <a:rPr lang="en-US" altLang="zh-CN" dirty="0">
                <a:latin typeface="+mn-ea"/>
                <a:ea typeface="+mn-ea"/>
              </a:rPr>
              <a:t>BCNF</a:t>
            </a:r>
            <a:r>
              <a:rPr lang="zh-CN" altLang="en-US" dirty="0">
                <a:latin typeface="+mn-ea"/>
                <a:ea typeface="+mn-ea"/>
              </a:rPr>
              <a:t>又称修正的</a:t>
            </a:r>
            <a:r>
              <a:rPr lang="en-US" altLang="zh-CN" dirty="0">
                <a:latin typeface="+mn-ea"/>
                <a:ea typeface="+mn-ea"/>
              </a:rPr>
              <a:t>3NF</a:t>
            </a:r>
            <a:r>
              <a:rPr lang="zh-CN" altLang="en-US" dirty="0">
                <a:latin typeface="+mn-ea"/>
                <a:ea typeface="+mn-ea"/>
              </a:rPr>
              <a:t>，它具有如下性质：</a:t>
            </a:r>
          </a:p>
        </p:txBody>
      </p:sp>
      <p:grpSp>
        <p:nvGrpSpPr>
          <p:cNvPr id="48133" name="Group 5"/>
          <p:cNvGrpSpPr>
            <a:grpSpLocks/>
          </p:cNvGrpSpPr>
          <p:nvPr/>
        </p:nvGrpSpPr>
        <p:grpSpPr bwMode="auto">
          <a:xfrm>
            <a:off x="1415480" y="1268761"/>
            <a:ext cx="401638" cy="576261"/>
            <a:chOff x="423" y="1572"/>
            <a:chExt cx="253" cy="363"/>
          </a:xfrm>
        </p:grpSpPr>
        <p:sp>
          <p:nvSpPr>
            <p:cNvPr id="1554439" name="Rectangle 7"/>
            <p:cNvSpPr>
              <a:spLocks noChangeArrowheads="1"/>
            </p:cNvSpPr>
            <p:nvPr/>
          </p:nvSpPr>
          <p:spPr bwMode="auto">
            <a:xfrm>
              <a:off x="423" y="1572"/>
              <a:ext cx="253" cy="363"/>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strike="noStrike" kern="1200" cap="none" spc="0" normalizeH="0" baseline="0" noProof="0" dirty="0">
                  <a:ln>
                    <a:noFill/>
                  </a:ln>
                  <a:solidFill>
                    <a:schemeClr val="bg1"/>
                  </a:solidFill>
                  <a:uLnTx/>
                  <a:uFillTx/>
                  <a:ea typeface="楷体_GB2312" pitchFamily="49" charset="-122"/>
                  <a:cs typeface="+mn-cs"/>
                  <a:sym typeface="Symbol" pitchFamily="18" charset="2"/>
                </a:rPr>
                <a:t></a:t>
              </a:r>
              <a:endParaRPr kumimoji="1" lang="zh-CN" altLang="en-US" sz="2800" b="0" i="0" strike="noStrike" kern="1200" cap="none" spc="0" normalizeH="0" baseline="0" noProof="0" dirty="0">
                <a:ln>
                  <a:noFill/>
                </a:ln>
                <a:solidFill>
                  <a:schemeClr val="bg1"/>
                </a:solidFill>
                <a:uLnTx/>
                <a:uFillTx/>
                <a:ea typeface="楷体_GB2312" pitchFamily="49" charset="-122"/>
                <a:cs typeface="+mn-cs"/>
                <a:sym typeface="Symbol" pitchFamily="18" charset="2"/>
              </a:endParaRPr>
            </a:p>
          </p:txBody>
        </p:sp>
        <p:sp>
          <p:nvSpPr>
            <p:cNvPr id="1554438" name="Line 6"/>
            <p:cNvSpPr>
              <a:spLocks noChangeShapeType="1"/>
            </p:cNvSpPr>
            <p:nvPr/>
          </p:nvSpPr>
          <p:spPr bwMode="auto">
            <a:xfrm>
              <a:off x="506" y="1705"/>
              <a:ext cx="86" cy="227"/>
            </a:xfrm>
            <a:prstGeom prst="line">
              <a:avLst/>
            </a:prstGeom>
            <a:noFill/>
            <a:ln w="19050" cap="sq">
              <a:solidFill>
                <a:schemeClr val="bg1"/>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554440" name="Rectangle 8"/>
          <p:cNvSpPr>
            <a:spLocks noChangeArrowheads="1"/>
          </p:cNvSpPr>
          <p:nvPr/>
        </p:nvSpPr>
        <p:spPr bwMode="auto">
          <a:xfrm>
            <a:off x="1055440" y="2852936"/>
            <a:ext cx="10009112" cy="1575816"/>
          </a:xfrm>
          <a:prstGeom prst="rect">
            <a:avLst/>
          </a:prstGeom>
          <a:noFill/>
          <a:ln w="12700" cap="sq" algn="ctr">
            <a:noFill/>
            <a:miter lim="800000"/>
            <a:headEnd/>
            <a:tailEnd/>
          </a:ln>
          <a:effectLst/>
        </p:spPr>
        <p:txBody>
          <a:bodyPr wrap="square" lIns="0" tIns="0" rIns="0" bIns="0">
            <a:spAutoFit/>
          </a:bodyPr>
          <a:lstStyle/>
          <a:p>
            <a:pPr marL="360000" marR="0" lvl="0" indent="-360000" algn="l" defTabSz="914400" rtl="0" eaLnBrk="1" fontAlgn="base" latinLnBrk="0" hangingPunct="1">
              <a:lnSpc>
                <a:spcPct val="100000"/>
              </a:lnSpc>
              <a:spcBef>
                <a:spcPct val="0"/>
              </a:spcBef>
              <a:spcAft>
                <a:spcPct val="10000"/>
              </a:spcAft>
              <a:buClr>
                <a:srgbClr val="66FF33"/>
              </a:buClr>
              <a:buSzPct val="85000"/>
              <a:buFont typeface="Wingdings" pitchFamily="2" charset="2"/>
              <a:buBlip>
                <a:blip r:embed="rId3"/>
              </a:buBlip>
              <a:tabLst/>
              <a:defRPr/>
            </a:pPr>
            <a:r>
              <a:rPr kumimoji="0" lang="zh-CN" altLang="en-US" sz="3200" b="0" i="0" u="none" strike="noStrike" kern="1200" cap="none" spc="0" normalizeH="0" baseline="0" noProof="0" dirty="0">
                <a:ln>
                  <a:noFill/>
                </a:ln>
                <a:solidFill>
                  <a:srgbClr val="99FFCC"/>
                </a:solidFill>
                <a:effectLst>
                  <a:outerShdw blurRad="38100" dist="38100" dir="2700000" algn="tl">
                    <a:srgbClr val="000000"/>
                  </a:outerShdw>
                </a:effectLst>
                <a:uLnTx/>
                <a:uFillTx/>
                <a:ea typeface="楷体_GB2312" pitchFamily="49" charset="-122"/>
                <a:cs typeface="+mn-cs"/>
              </a:rPr>
              <a:t>所有非主属性都完全函数依赖于每一个候选键。</a:t>
            </a:r>
          </a:p>
          <a:p>
            <a:pPr marL="360000" marR="0" lvl="0" indent="-360000" algn="l" defTabSz="914400" rtl="0" eaLnBrk="1" fontAlgn="base" latinLnBrk="0" hangingPunct="1">
              <a:lnSpc>
                <a:spcPct val="100000"/>
              </a:lnSpc>
              <a:spcBef>
                <a:spcPct val="0"/>
              </a:spcBef>
              <a:spcAft>
                <a:spcPct val="10000"/>
              </a:spcAft>
              <a:buClr>
                <a:srgbClr val="66FF33"/>
              </a:buClr>
              <a:buSzPct val="85000"/>
              <a:buFont typeface="Wingdings" pitchFamily="2" charset="2"/>
              <a:buBlip>
                <a:blip r:embed="rId3"/>
              </a:buBlip>
              <a:tabLst/>
              <a:defRPr/>
            </a:pPr>
            <a:r>
              <a:rPr kumimoji="0" lang="zh-CN" altLang="en-US" sz="3200" b="0" i="0" u="none" strike="noStrike" kern="1200" cap="none" spc="0" normalizeH="0" baseline="0" noProof="0" dirty="0">
                <a:ln>
                  <a:noFill/>
                </a:ln>
                <a:solidFill>
                  <a:srgbClr val="99FFCC"/>
                </a:solidFill>
                <a:effectLst>
                  <a:outerShdw blurRad="38100" dist="38100" dir="2700000" algn="tl">
                    <a:srgbClr val="000000"/>
                  </a:outerShdw>
                </a:effectLst>
                <a:uLnTx/>
                <a:uFillTx/>
                <a:ea typeface="楷体_GB2312" pitchFamily="49" charset="-122"/>
                <a:cs typeface="+mn-cs"/>
              </a:rPr>
              <a:t>所有主属性都完全函数依赖于不包含它的候选键。</a:t>
            </a:r>
          </a:p>
          <a:p>
            <a:pPr marL="360000" marR="0" lvl="0" indent="-360000" algn="l" defTabSz="914400" rtl="0" eaLnBrk="1" fontAlgn="base" latinLnBrk="0" hangingPunct="1">
              <a:lnSpc>
                <a:spcPct val="100000"/>
              </a:lnSpc>
              <a:spcBef>
                <a:spcPct val="0"/>
              </a:spcBef>
              <a:spcAft>
                <a:spcPct val="10000"/>
              </a:spcAft>
              <a:buClr>
                <a:srgbClr val="66FF33"/>
              </a:buClr>
              <a:buSzPct val="85000"/>
              <a:buFont typeface="Wingdings" pitchFamily="2" charset="2"/>
              <a:buBlip>
                <a:blip r:embed="rId3"/>
              </a:buBlip>
              <a:tabLst/>
              <a:defRPr/>
            </a:pPr>
            <a:r>
              <a:rPr kumimoji="0" lang="zh-CN" altLang="en-US" sz="3200" b="0" i="0" u="none" strike="noStrike" kern="1200" cap="none" spc="0" normalizeH="0" baseline="0" noProof="0" dirty="0">
                <a:ln>
                  <a:noFill/>
                </a:ln>
                <a:solidFill>
                  <a:srgbClr val="99FFCC"/>
                </a:solidFill>
                <a:effectLst>
                  <a:outerShdw blurRad="38100" dist="38100" dir="2700000" algn="tl">
                    <a:srgbClr val="000000"/>
                  </a:outerShdw>
                </a:effectLst>
                <a:uLnTx/>
                <a:uFillTx/>
                <a:ea typeface="楷体_GB2312" pitchFamily="49" charset="-122"/>
                <a:cs typeface="+mn-cs"/>
              </a:rPr>
              <a:t>没有属性完全函数依赖于任何一组非候选键属性。 </a:t>
            </a:r>
          </a:p>
        </p:txBody>
      </p:sp>
      <p:sp>
        <p:nvSpPr>
          <p:cNvPr id="1554441" name="Rectangle 9"/>
          <p:cNvSpPr>
            <a:spLocks noChangeArrowheads="1"/>
          </p:cNvSpPr>
          <p:nvPr/>
        </p:nvSpPr>
        <p:spPr bwMode="auto">
          <a:xfrm>
            <a:off x="1055440" y="4810125"/>
            <a:ext cx="10585176" cy="1723549"/>
          </a:xfrm>
          <a:prstGeom prst="rect">
            <a:avLst/>
          </a:prstGeom>
          <a:noFill/>
          <a:ln w="12700" cap="sq" algn="ctr">
            <a:noFill/>
            <a:miter lim="800000"/>
            <a:headEnd/>
            <a:tailEnd/>
          </a:ln>
          <a:effectLst/>
        </p:spPr>
        <p:txBody>
          <a:bodyPr wrap="square" lIns="0" tIns="0" rIns="0" bIns="0">
            <a:spAutoFit/>
          </a:bodyPr>
          <a:lstStyle/>
          <a:p>
            <a:pPr marL="0" marR="0" lvl="0" indent="0" algn="l" defTabSz="914400" rtl="0" eaLnBrk="1" fontAlgn="base" latinLnBrk="0" hangingPunct="1">
              <a:lnSpc>
                <a:spcPct val="100000"/>
              </a:lnSpc>
              <a:spcBef>
                <a:spcPct val="25000"/>
              </a:spcBef>
              <a:spcAft>
                <a:spcPct val="25000"/>
              </a:spcAft>
              <a:buClr>
                <a:srgbClr val="66FF33"/>
              </a:buClr>
              <a:buSzPct val="85000"/>
              <a:buFont typeface="Wingdings" pitchFamily="2" charset="2"/>
              <a:buNone/>
              <a:tabLst/>
              <a:defRPr/>
            </a:pPr>
            <a:r>
              <a:rPr kumimoji="0" lang="en-US" altLang="en-US" sz="3200" b="0" i="0" u="none" strike="noStrike" kern="1200" cap="none" spc="0" normalizeH="0" baseline="0" noProof="0" dirty="0" err="1">
                <a:ln>
                  <a:noFill/>
                </a:ln>
                <a:solidFill>
                  <a:srgbClr val="CCFFCC"/>
                </a:solidFill>
                <a:effectLst>
                  <a:outerShdw blurRad="38100" dist="38100" dir="2700000" algn="tl">
                    <a:srgbClr val="000000"/>
                  </a:outerShdw>
                </a:effectLst>
                <a:uLnTx/>
                <a:uFillTx/>
                <a:latin typeface="+mn-ea"/>
                <a:cs typeface="+mn-cs"/>
              </a:rPr>
              <a:t>可见BCNF中不存在任何属性传递函数依赖或部分函数依赖于任何候选</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键！</a:t>
            </a:r>
          </a:p>
          <a:p>
            <a:pPr marL="0" marR="0" lvl="0" indent="0" algn="l" defTabSz="914400" rtl="0" eaLnBrk="1" fontAlgn="base" latinLnBrk="0" hangingPunct="1">
              <a:lnSpc>
                <a:spcPct val="100000"/>
              </a:lnSpc>
              <a:spcBef>
                <a:spcPct val="25000"/>
              </a:spcBef>
              <a:spcAft>
                <a:spcPct val="25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若</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BCNF</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，则必有</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R∈3NF</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，反之未必</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p>
        </p:txBody>
      </p: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7" name="Rectangle 3"/>
          <p:cNvSpPr>
            <a:spLocks noGrp="1" noChangeArrowheads="1"/>
          </p:cNvSpPr>
          <p:nvPr>
            <p:ph type="body" idx="4294967295"/>
          </p:nvPr>
        </p:nvSpPr>
        <p:spPr>
          <a:xfrm>
            <a:off x="636320" y="908720"/>
            <a:ext cx="10972800" cy="4525963"/>
          </a:xfrm>
        </p:spPr>
        <p:txBody>
          <a:bodyPr>
            <a:normAutofit fontScale="92500" lnSpcReduction="10000"/>
          </a:bodyPr>
          <a:lstStyle/>
          <a:p>
            <a:pPr>
              <a:lnSpc>
                <a:spcPct val="150000"/>
              </a:lnSpc>
            </a:pPr>
            <a:r>
              <a:rPr lang="zh-CN" altLang="en-US" sz="2800" dirty="0"/>
              <a:t>对于关系模式 </a:t>
            </a:r>
            <a:r>
              <a:rPr lang="en-US" altLang="zh-CN" sz="2800" dirty="0"/>
              <a:t>STC</a:t>
            </a:r>
            <a:r>
              <a:rPr lang="zh-CN" altLang="en-US" sz="2800" dirty="0"/>
              <a:t>（学号，工号，课号），由于存在主属性课号对其中一个候选键（学号，工号）的部分函数依赖，所以</a:t>
            </a:r>
            <a:r>
              <a:rPr lang="en-US" altLang="zh-CN" sz="2800" dirty="0"/>
              <a:t>STC</a:t>
            </a:r>
            <a:r>
              <a:rPr lang="zh-CN" altLang="en-US" sz="2800" dirty="0"/>
              <a:t>不满足</a:t>
            </a:r>
            <a:r>
              <a:rPr lang="en-US" altLang="zh-CN" sz="2800" dirty="0"/>
              <a:t>BCNF</a:t>
            </a:r>
            <a:r>
              <a:rPr lang="zh-CN" altLang="en-US" sz="2800" dirty="0"/>
              <a:t>。</a:t>
            </a:r>
          </a:p>
          <a:p>
            <a:pPr>
              <a:lnSpc>
                <a:spcPct val="150000"/>
              </a:lnSpc>
            </a:pPr>
            <a:r>
              <a:rPr lang="zh-CN" altLang="en-US" sz="2800" dirty="0"/>
              <a:t>如果将</a:t>
            </a:r>
            <a:r>
              <a:rPr lang="en-US" altLang="zh-CN" sz="2800" dirty="0"/>
              <a:t>STC</a:t>
            </a:r>
            <a:r>
              <a:rPr lang="zh-CN" altLang="en-US" sz="2800" dirty="0"/>
              <a:t>分解成下面的关系模式集：</a:t>
            </a:r>
          </a:p>
          <a:p>
            <a:pPr>
              <a:lnSpc>
                <a:spcPct val="150000"/>
              </a:lnSpc>
            </a:pPr>
            <a:r>
              <a:rPr lang="en-US" altLang="zh-CN" sz="2800" dirty="0"/>
              <a:t>SC</a:t>
            </a:r>
            <a:r>
              <a:rPr lang="zh-CN" altLang="en-US" sz="2800" dirty="0"/>
              <a:t>（</a:t>
            </a:r>
            <a:r>
              <a:rPr lang="zh-CN" altLang="en-US" sz="2800" u="sng" dirty="0"/>
              <a:t>学号，工号</a:t>
            </a:r>
            <a:r>
              <a:rPr lang="zh-CN" altLang="en-US" sz="2800" dirty="0"/>
              <a:t>）</a:t>
            </a:r>
          </a:p>
          <a:p>
            <a:pPr>
              <a:lnSpc>
                <a:spcPct val="150000"/>
              </a:lnSpc>
            </a:pPr>
            <a:r>
              <a:rPr lang="en-US" altLang="zh-CN" sz="2800" dirty="0"/>
              <a:t>TC</a:t>
            </a:r>
            <a:r>
              <a:rPr lang="zh-CN" altLang="en-US" sz="2800" dirty="0"/>
              <a:t>（</a:t>
            </a:r>
            <a:r>
              <a:rPr lang="zh-CN" altLang="en-US" sz="2800" u="sng" dirty="0"/>
              <a:t>工号</a:t>
            </a:r>
            <a:r>
              <a:rPr lang="zh-CN" altLang="en-US" sz="2800" dirty="0"/>
              <a:t>，课号</a:t>
            </a:r>
            <a:r>
              <a:rPr lang="en-US" altLang="zh-CN" sz="2800" dirty="0"/>
              <a:t>)</a:t>
            </a:r>
          </a:p>
          <a:p>
            <a:pPr>
              <a:lnSpc>
                <a:spcPct val="150000"/>
              </a:lnSpc>
            </a:pPr>
            <a:r>
              <a:rPr lang="zh-CN" altLang="en-US" sz="2800" dirty="0"/>
              <a:t>分解以后的信息表达与</a:t>
            </a:r>
            <a:r>
              <a:rPr lang="en-US" altLang="zh-CN" sz="2800" dirty="0"/>
              <a:t>STC</a:t>
            </a:r>
            <a:r>
              <a:rPr lang="zh-CN" altLang="en-US" sz="2800" dirty="0"/>
              <a:t>是完全一致的，且</a:t>
            </a:r>
            <a:r>
              <a:rPr lang="en-US" altLang="zh-CN" sz="2800" dirty="0"/>
              <a:t>SC</a:t>
            </a:r>
            <a:r>
              <a:rPr lang="zh-CN" altLang="en-US" sz="2800" dirty="0"/>
              <a:t>和</a:t>
            </a:r>
            <a:r>
              <a:rPr lang="en-US" altLang="zh-CN" sz="2800" dirty="0"/>
              <a:t>TC</a:t>
            </a:r>
            <a:r>
              <a:rPr lang="zh-CN" altLang="en-US" sz="2800" dirty="0"/>
              <a:t>均为</a:t>
            </a:r>
            <a:r>
              <a:rPr lang="en-US" altLang="zh-CN" sz="2800" dirty="0"/>
              <a:t>BCNF</a:t>
            </a:r>
            <a:r>
              <a:rPr lang="zh-CN" altLang="en-US" sz="2800" dirty="0"/>
              <a:t>，解决了</a:t>
            </a:r>
            <a:r>
              <a:rPr lang="en-US" altLang="zh-CN" sz="2800" dirty="0"/>
              <a:t>STC</a:t>
            </a:r>
            <a:r>
              <a:rPr lang="zh-CN" altLang="en-US" sz="2800" dirty="0"/>
              <a:t>中前述的数据冗余和操作异常。</a:t>
            </a:r>
          </a:p>
        </p:txBody>
      </p:sp>
    </p:spTree>
    <p:extLst>
      <p:ext uri="{BB962C8B-B14F-4D97-AF65-F5344CB8AC3E}">
        <p14:creationId xmlns:p14="http://schemas.microsoft.com/office/powerpoint/2010/main" val="3287739872"/>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1" name="Rectangle 3"/>
          <p:cNvSpPr>
            <a:spLocks noGrp="1" noChangeArrowheads="1"/>
          </p:cNvSpPr>
          <p:nvPr>
            <p:ph type="body" idx="4294967295"/>
          </p:nvPr>
        </p:nvSpPr>
        <p:spPr>
          <a:xfrm>
            <a:off x="609600" y="908720"/>
            <a:ext cx="10972800" cy="4525963"/>
          </a:xfrm>
        </p:spPr>
        <p:txBody>
          <a:bodyPr>
            <a:normAutofit fontScale="85000" lnSpcReduction="10000"/>
          </a:bodyPr>
          <a:lstStyle/>
          <a:p>
            <a:pPr>
              <a:lnSpc>
                <a:spcPct val="150000"/>
              </a:lnSpc>
            </a:pPr>
            <a:r>
              <a:rPr lang="en-US" altLang="zh-CN" sz="2800" dirty="0"/>
              <a:t>3NF</a:t>
            </a:r>
            <a:r>
              <a:rPr lang="zh-CN" altLang="en-US" sz="2800" dirty="0"/>
              <a:t>和</a:t>
            </a:r>
            <a:r>
              <a:rPr lang="en-US" altLang="zh-CN" sz="2800" dirty="0"/>
              <a:t>BCNF</a:t>
            </a:r>
            <a:r>
              <a:rPr lang="zh-CN" altLang="en-US" sz="2800" dirty="0"/>
              <a:t>是以函数依赖为基础的关系模式规范化程度的测度。如果一个关系型数据库中的所有关系模式都属于</a:t>
            </a:r>
            <a:r>
              <a:rPr lang="en-US" altLang="zh-CN" sz="2800" dirty="0"/>
              <a:t>BCNF</a:t>
            </a:r>
            <a:r>
              <a:rPr lang="zh-CN" altLang="en-US" sz="2800" dirty="0"/>
              <a:t>，那么在函数依赖范畴内，它已实现了模式的彻底分解，达到了最高的模范化程度，消除了插入异常和删除异常并且数据冗余也减少到了极小的程度。</a:t>
            </a:r>
          </a:p>
          <a:p>
            <a:pPr>
              <a:lnSpc>
                <a:spcPct val="150000"/>
              </a:lnSpc>
            </a:pPr>
            <a:r>
              <a:rPr lang="zh-CN" altLang="en-US" sz="2800" dirty="0"/>
              <a:t>在信息系统的设计中，普遍采用的是“基于</a:t>
            </a:r>
            <a:r>
              <a:rPr lang="en-US" altLang="zh-CN" sz="2800" dirty="0"/>
              <a:t>3NF</a:t>
            </a:r>
            <a:r>
              <a:rPr lang="zh-CN" altLang="en-US" sz="2800" dirty="0"/>
              <a:t>的系统设计”方法，因为</a:t>
            </a:r>
            <a:r>
              <a:rPr lang="en-US" altLang="zh-CN" sz="2800" dirty="0"/>
              <a:t>3NF</a:t>
            </a:r>
            <a:r>
              <a:rPr lang="zh-CN" altLang="en-US" sz="2800" dirty="0"/>
              <a:t>是无条件可以达到的，并且基本解决了“异常”问题，因此这种方法目前在信息系统的设计中被广泛应用</a:t>
            </a:r>
            <a:r>
              <a:rPr lang="zh-CN" altLang="en-US" sz="2800" dirty="0" smtClean="0"/>
              <a:t>。</a:t>
            </a:r>
            <a:endParaRPr lang="en-US" altLang="zh-CN" sz="2800" dirty="0" smtClean="0"/>
          </a:p>
          <a:p>
            <a:pPr lvl="0"/>
            <a:endParaRPr lang="en-US" altLang="zh-CN" sz="2700" dirty="0" smtClean="0">
              <a:solidFill>
                <a:srgbClr val="FFFF00"/>
              </a:solidFill>
            </a:endParaRPr>
          </a:p>
          <a:p>
            <a:pPr lvl="0"/>
            <a:r>
              <a:rPr lang="zh-CN" altLang="en-US" sz="2700" dirty="0" smtClean="0">
                <a:solidFill>
                  <a:srgbClr val="FFFF00"/>
                </a:solidFill>
              </a:rPr>
              <a:t>课后习题二 </a:t>
            </a:r>
            <a:r>
              <a:rPr lang="en-US" altLang="zh-CN" sz="2700" dirty="0" smtClean="0">
                <a:solidFill>
                  <a:srgbClr val="FFFF00"/>
                </a:solidFill>
              </a:rPr>
              <a:t>.6</a:t>
            </a:r>
            <a:endParaRPr lang="zh-CN" altLang="en-US" sz="2700" dirty="0">
              <a:solidFill>
                <a:srgbClr val="FFFF00"/>
              </a:solidFill>
            </a:endParaRPr>
          </a:p>
          <a:p>
            <a:pPr>
              <a:lnSpc>
                <a:spcPct val="150000"/>
              </a:lnSpc>
            </a:pPr>
            <a:endParaRPr lang="zh-CN" altLang="en-US" sz="2800" dirty="0"/>
          </a:p>
        </p:txBody>
      </p:sp>
    </p:spTree>
    <p:extLst>
      <p:ext uri="{BB962C8B-B14F-4D97-AF65-F5344CB8AC3E}">
        <p14:creationId xmlns:p14="http://schemas.microsoft.com/office/powerpoint/2010/main" val="245301898"/>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title"/>
          </p:nvPr>
        </p:nvSpPr>
        <p:spPr>
          <a:xfrm>
            <a:off x="983432" y="7322"/>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规范化（</a:t>
            </a:r>
            <a:r>
              <a:rPr kumimoji="1" lang="en-US" altLang="zh-CN" u="sng" dirty="0">
                <a:solidFill>
                  <a:srgbClr val="FFFFCC"/>
                </a:solidFill>
                <a:effectLst>
                  <a:outerShdw blurRad="38100" dist="38100" dir="2700000" algn="tl">
                    <a:srgbClr val="000000"/>
                  </a:outerShdw>
                </a:effectLst>
                <a:latin typeface="Arial" pitchFamily="34" charset="0"/>
                <a:cs typeface="+mn-cs"/>
              </a:rPr>
              <a:t>Normalization</a:t>
            </a:r>
            <a:r>
              <a:rPr kumimoji="1" lang="zh-CN" altLang="en-US" u="sng" dirty="0">
                <a:solidFill>
                  <a:srgbClr val="FFFFCC"/>
                </a:solidFill>
                <a:effectLst>
                  <a:outerShdw blurRad="38100" dist="38100" dir="2700000" algn="tl">
                    <a:srgbClr val="000000"/>
                  </a:outerShdw>
                </a:effectLst>
                <a:latin typeface="Arial" pitchFamily="34" charset="0"/>
                <a:cs typeface="+mn-cs"/>
              </a:rPr>
              <a:t>）</a:t>
            </a:r>
          </a:p>
        </p:txBody>
      </p:sp>
      <p:sp>
        <p:nvSpPr>
          <p:cNvPr id="1555460" name="Rectangle 4"/>
          <p:cNvSpPr>
            <a:spLocks noGrp="1" noChangeArrowheads="1"/>
          </p:cNvSpPr>
          <p:nvPr>
            <p:ph idx="1"/>
          </p:nvPr>
        </p:nvSpPr>
        <p:spPr>
          <a:xfrm>
            <a:off x="551384" y="1340768"/>
            <a:ext cx="10801200" cy="647700"/>
          </a:xfrm>
        </p:spPr>
        <p:txBody>
          <a:bodyPr>
            <a:noAutofit/>
          </a:bodyPr>
          <a:lstStyle/>
          <a:p>
            <a:pPr marL="358775" indent="-358775">
              <a:spcAft>
                <a:spcPts val="4200"/>
              </a:spcAft>
              <a:defRPr/>
            </a:pPr>
            <a:r>
              <a:rPr lang="zh-CN" altLang="en-US" dirty="0">
                <a:latin typeface="楷体_GB2312" pitchFamily="49" charset="-122"/>
              </a:rPr>
              <a:t>通过模式分解将一个低级别范式的关系模式转换为若干个高级别范式的关系模式的过程，称作关系模式的</a:t>
            </a:r>
            <a:r>
              <a:rPr lang="zh-CN" altLang="en-US" dirty="0">
                <a:solidFill>
                  <a:srgbClr val="FFFF00"/>
                </a:solidFill>
                <a:latin typeface="楷体_GB2312" pitchFamily="49" charset="-122"/>
              </a:rPr>
              <a:t>规范化</a:t>
            </a:r>
            <a:r>
              <a:rPr lang="zh-CN" altLang="en-US" dirty="0">
                <a:latin typeface="楷体_GB2312" pitchFamily="49" charset="-122"/>
              </a:rPr>
              <a:t>。</a:t>
            </a:r>
          </a:p>
          <a:p>
            <a:pPr marL="358775" indent="-358775">
              <a:spcAft>
                <a:spcPts val="4200"/>
              </a:spcAft>
              <a:defRPr/>
            </a:pPr>
            <a:r>
              <a:rPr lang="zh-CN" altLang="en-US" dirty="0">
                <a:latin typeface="楷体_GB2312" pitchFamily="49" charset="-122"/>
              </a:rPr>
              <a:t>规范化的</a:t>
            </a:r>
            <a:r>
              <a:rPr lang="zh-CN" altLang="en-US" dirty="0">
                <a:solidFill>
                  <a:srgbClr val="66CCFF"/>
                </a:solidFill>
                <a:latin typeface="楷体_GB2312" pitchFamily="49" charset="-122"/>
              </a:rPr>
              <a:t>基本思想</a:t>
            </a:r>
            <a:r>
              <a:rPr lang="zh-CN" altLang="en-US" dirty="0">
                <a:latin typeface="楷体_GB2312" pitchFamily="49" charset="-122"/>
              </a:rPr>
              <a:t>是使原先关系模式中属性之间的数据依赖达到某种程度的</a:t>
            </a:r>
            <a:r>
              <a:rPr lang="zh-CN" altLang="en-US" dirty="0"/>
              <a:t>“</a:t>
            </a:r>
            <a:r>
              <a:rPr lang="zh-CN" altLang="en-US" dirty="0">
                <a:latin typeface="楷体_GB2312" pitchFamily="49" charset="-122"/>
              </a:rPr>
              <a:t>分离</a:t>
            </a:r>
            <a:r>
              <a:rPr lang="zh-CN" altLang="en-US" dirty="0"/>
              <a:t>”</a:t>
            </a:r>
            <a:r>
              <a:rPr lang="zh-CN" altLang="en-US" dirty="0">
                <a:latin typeface="楷体_GB2312" pitchFamily="49" charset="-122"/>
              </a:rPr>
              <a:t>，逐步消除数据依赖中不合理的部分，实现</a:t>
            </a:r>
            <a:r>
              <a:rPr lang="zh-CN" altLang="en-US" dirty="0">
                <a:solidFill>
                  <a:srgbClr val="FF9900"/>
                </a:solidFill>
                <a:latin typeface="楷体_GB2312" pitchFamily="49" charset="-122"/>
              </a:rPr>
              <a:t>概念的单一化</a:t>
            </a:r>
            <a:r>
              <a:rPr lang="zh-CN" altLang="en-US" dirty="0">
                <a:latin typeface="楷体_GB2312" pitchFamily="49" charset="-122"/>
              </a:rPr>
              <a:t>。</a:t>
            </a:r>
          </a:p>
          <a:p>
            <a:pPr marL="358775" indent="-358775">
              <a:spcAft>
                <a:spcPts val="4200"/>
              </a:spcAft>
              <a:defRPr/>
            </a:pPr>
            <a:r>
              <a:rPr lang="zh-CN" altLang="en-US" dirty="0">
                <a:latin typeface="楷体_GB2312" pitchFamily="49" charset="-122"/>
              </a:rPr>
              <a:t>规范化的</a:t>
            </a:r>
            <a:r>
              <a:rPr lang="zh-CN" altLang="en-US" dirty="0">
                <a:solidFill>
                  <a:srgbClr val="99FF33"/>
                </a:solidFill>
                <a:latin typeface="楷体_GB2312" pitchFamily="49" charset="-122"/>
              </a:rPr>
              <a:t>目的</a:t>
            </a:r>
            <a:r>
              <a:rPr lang="zh-CN" altLang="en-US" dirty="0">
                <a:latin typeface="楷体_GB2312" pitchFamily="49" charset="-122"/>
              </a:rPr>
              <a:t>是使关系模式结构合理，消除存储异常，使数据冗余尽量小，便于插入、删除和更新。</a:t>
            </a:r>
          </a:p>
        </p:txBody>
      </p:sp>
    </p:spTree>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type="title"/>
          </p:nvPr>
        </p:nvSpPr>
        <p:spPr>
          <a:xfrm>
            <a:off x="911424" y="3746"/>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规范化的一般步骤</a:t>
            </a:r>
          </a:p>
        </p:txBody>
      </p:sp>
      <p:grpSp>
        <p:nvGrpSpPr>
          <p:cNvPr id="4" name="组合 3">
            <a:extLst>
              <a:ext uri="{FF2B5EF4-FFF2-40B4-BE49-F238E27FC236}">
                <a16:creationId xmlns:a16="http://schemas.microsoft.com/office/drawing/2014/main" id="{D91B4AE5-92E8-4B8A-98C3-568C224189BA}"/>
              </a:ext>
            </a:extLst>
          </p:cNvPr>
          <p:cNvGrpSpPr/>
          <p:nvPr/>
        </p:nvGrpSpPr>
        <p:grpSpPr>
          <a:xfrm>
            <a:off x="1150622" y="1124744"/>
            <a:ext cx="10606582" cy="5382702"/>
            <a:chOff x="757723" y="1192113"/>
            <a:chExt cx="9383570" cy="4896524"/>
          </a:xfrm>
        </p:grpSpPr>
        <p:sp>
          <p:nvSpPr>
            <p:cNvPr id="1556484" name="Rectangle 4"/>
            <p:cNvSpPr>
              <a:spLocks noChangeArrowheads="1"/>
            </p:cNvSpPr>
            <p:nvPr/>
          </p:nvSpPr>
          <p:spPr bwMode="auto">
            <a:xfrm>
              <a:off x="3750880" y="1192113"/>
              <a:ext cx="861104" cy="430887"/>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1</a:t>
              </a:r>
              <a:r>
                <a:rPr kumimoji="1" lang="en-US" altLang="zh-CN" sz="28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NF</a:t>
              </a:r>
            </a:p>
          </p:txBody>
        </p:sp>
        <p:sp>
          <p:nvSpPr>
            <p:cNvPr id="1556485" name="Rectangle 5"/>
            <p:cNvSpPr>
              <a:spLocks noChangeArrowheads="1"/>
            </p:cNvSpPr>
            <p:nvPr/>
          </p:nvSpPr>
          <p:spPr bwMode="auto">
            <a:xfrm>
              <a:off x="3750880" y="2084288"/>
              <a:ext cx="861104" cy="430887"/>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2</a:t>
              </a:r>
              <a:r>
                <a:rPr kumimoji="1" lang="en-US" altLang="zh-CN"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NF</a:t>
              </a:r>
            </a:p>
          </p:txBody>
        </p:sp>
        <p:sp>
          <p:nvSpPr>
            <p:cNvPr id="1556486" name="Rectangle 6"/>
            <p:cNvSpPr>
              <a:spLocks noChangeArrowheads="1"/>
            </p:cNvSpPr>
            <p:nvPr/>
          </p:nvSpPr>
          <p:spPr bwMode="auto">
            <a:xfrm>
              <a:off x="3750880" y="2978050"/>
              <a:ext cx="861104" cy="430887"/>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3</a:t>
              </a:r>
              <a:r>
                <a:rPr kumimoji="1" lang="en-US" altLang="zh-CN"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NF</a:t>
              </a:r>
            </a:p>
          </p:txBody>
        </p:sp>
        <p:sp>
          <p:nvSpPr>
            <p:cNvPr id="1556487" name="Rectangle 7"/>
            <p:cNvSpPr>
              <a:spLocks noChangeArrowheads="1"/>
            </p:cNvSpPr>
            <p:nvPr/>
          </p:nvSpPr>
          <p:spPr bwMode="auto">
            <a:xfrm>
              <a:off x="3543450" y="3870225"/>
              <a:ext cx="1278037" cy="430887"/>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BCNF</a:t>
              </a:r>
            </a:p>
          </p:txBody>
        </p:sp>
        <p:sp>
          <p:nvSpPr>
            <p:cNvPr id="1556488" name="Rectangle 8"/>
            <p:cNvSpPr>
              <a:spLocks noChangeArrowheads="1"/>
            </p:cNvSpPr>
            <p:nvPr/>
          </p:nvSpPr>
          <p:spPr bwMode="auto">
            <a:xfrm>
              <a:off x="3750880" y="4763988"/>
              <a:ext cx="861104" cy="430887"/>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4</a:t>
              </a:r>
              <a:r>
                <a:rPr kumimoji="1" lang="en-US" altLang="zh-CN"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NF</a:t>
              </a:r>
            </a:p>
          </p:txBody>
        </p:sp>
        <p:sp>
          <p:nvSpPr>
            <p:cNvPr id="1556489" name="Rectangle 9"/>
            <p:cNvSpPr>
              <a:spLocks noChangeArrowheads="1"/>
            </p:cNvSpPr>
            <p:nvPr/>
          </p:nvSpPr>
          <p:spPr bwMode="auto">
            <a:xfrm>
              <a:off x="3750880" y="5657750"/>
              <a:ext cx="861104" cy="430887"/>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5</a:t>
              </a:r>
              <a:r>
                <a:rPr kumimoji="1" lang="en-US" altLang="zh-CN" sz="28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NF</a:t>
              </a:r>
            </a:p>
          </p:txBody>
        </p:sp>
        <p:cxnSp>
          <p:nvCxnSpPr>
            <p:cNvPr id="50186" name="AutoShape 10"/>
            <p:cNvCxnSpPr>
              <a:cxnSpLocks noChangeShapeType="1"/>
              <a:stCxn id="1556484" idx="2"/>
              <a:endCxn id="1556485" idx="0"/>
            </p:cNvCxnSpPr>
            <p:nvPr/>
          </p:nvCxnSpPr>
          <p:spPr bwMode="auto">
            <a:xfrm>
              <a:off x="4181433" y="1623000"/>
              <a:ext cx="0" cy="461288"/>
            </a:xfrm>
            <a:prstGeom prst="straightConnector1">
              <a:avLst/>
            </a:prstGeom>
            <a:noFill/>
            <a:ln w="38100" cap="sq">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50187" name="AutoShape 11"/>
            <p:cNvCxnSpPr>
              <a:cxnSpLocks noChangeShapeType="1"/>
              <a:stCxn id="1556485" idx="2"/>
              <a:endCxn id="1556486" idx="0"/>
            </p:cNvCxnSpPr>
            <p:nvPr/>
          </p:nvCxnSpPr>
          <p:spPr bwMode="auto">
            <a:xfrm>
              <a:off x="4181433" y="2515175"/>
              <a:ext cx="0" cy="462875"/>
            </a:xfrm>
            <a:prstGeom prst="straightConnector1">
              <a:avLst/>
            </a:prstGeom>
            <a:noFill/>
            <a:ln w="38100" cap="sq">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50188" name="AutoShape 12"/>
            <p:cNvCxnSpPr>
              <a:cxnSpLocks noChangeShapeType="1"/>
              <a:stCxn id="1556486" idx="2"/>
              <a:endCxn id="1556487" idx="0"/>
            </p:cNvCxnSpPr>
            <p:nvPr/>
          </p:nvCxnSpPr>
          <p:spPr bwMode="auto">
            <a:xfrm>
              <a:off x="4181433" y="3408937"/>
              <a:ext cx="1036" cy="461288"/>
            </a:xfrm>
            <a:prstGeom prst="straightConnector1">
              <a:avLst/>
            </a:prstGeom>
            <a:noFill/>
            <a:ln w="38100" cap="sq">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50189" name="AutoShape 13"/>
            <p:cNvCxnSpPr>
              <a:cxnSpLocks noChangeShapeType="1"/>
              <a:stCxn id="1556487" idx="2"/>
              <a:endCxn id="1556488" idx="0"/>
            </p:cNvCxnSpPr>
            <p:nvPr/>
          </p:nvCxnSpPr>
          <p:spPr bwMode="auto">
            <a:xfrm flipH="1">
              <a:off x="4181433" y="4301112"/>
              <a:ext cx="1036" cy="462876"/>
            </a:xfrm>
            <a:prstGeom prst="straightConnector1">
              <a:avLst/>
            </a:prstGeom>
            <a:noFill/>
            <a:ln w="38100" cap="sq">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50190" name="AutoShape 14"/>
            <p:cNvCxnSpPr>
              <a:cxnSpLocks noChangeShapeType="1"/>
              <a:stCxn id="1556488" idx="2"/>
              <a:endCxn id="1556489" idx="0"/>
            </p:cNvCxnSpPr>
            <p:nvPr/>
          </p:nvCxnSpPr>
          <p:spPr bwMode="auto">
            <a:xfrm>
              <a:off x="4181433" y="5194875"/>
              <a:ext cx="0" cy="462875"/>
            </a:xfrm>
            <a:prstGeom prst="straightConnector1">
              <a:avLst/>
            </a:prstGeom>
            <a:noFill/>
            <a:ln w="38100" cap="sq">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50191" name="AutoShape 15"/>
            <p:cNvCxnSpPr>
              <a:cxnSpLocks noChangeShapeType="1"/>
              <a:stCxn id="1556484" idx="1"/>
              <a:endCxn id="1556487" idx="1"/>
            </p:cNvCxnSpPr>
            <p:nvPr/>
          </p:nvCxnSpPr>
          <p:spPr bwMode="auto">
            <a:xfrm rot="10800000" flipV="1">
              <a:off x="3543450" y="1407557"/>
              <a:ext cx="207430" cy="2678112"/>
            </a:xfrm>
            <a:prstGeom prst="bentConnector3">
              <a:avLst>
                <a:gd name="adj1" fmla="val 344947"/>
              </a:avLst>
            </a:prstGeom>
            <a:noFill/>
            <a:ln w="38100" cap="sq">
              <a:solidFill>
                <a:schemeClr val="bg1"/>
              </a:solidFill>
              <a:miter lim="800000"/>
              <a:headEnd/>
              <a:tailEnd type="triangle" w="med" len="med"/>
            </a:ln>
            <a:extLst>
              <a:ext uri="{909E8E84-426E-40DD-AFC4-6F175D3DCCD1}">
                <a14:hiddenFill xmlns:a14="http://schemas.microsoft.com/office/drawing/2010/main">
                  <a:noFill/>
                </a14:hiddenFill>
              </a:ext>
            </a:extLst>
          </p:spPr>
        </p:cxnSp>
        <p:sp>
          <p:nvSpPr>
            <p:cNvPr id="1556496" name="Rectangle 16"/>
            <p:cNvSpPr>
              <a:spLocks noChangeArrowheads="1"/>
            </p:cNvSpPr>
            <p:nvPr/>
          </p:nvSpPr>
          <p:spPr bwMode="auto">
            <a:xfrm>
              <a:off x="4393070" y="1552475"/>
              <a:ext cx="5114933" cy="363971"/>
            </a:xfrm>
            <a:prstGeom prst="rect">
              <a:avLst/>
            </a:prstGeom>
            <a:noFill/>
            <a:ln w="12700" cap="sq">
              <a:noFill/>
              <a:miter lim="800000"/>
              <a:headEnd/>
              <a:tailEnd/>
            </a:ln>
            <a:effectLst/>
          </p:spPr>
          <p:txBody>
            <a:bodyPr wrap="square" lIns="0" tIns="0" rIns="0" bIns="0">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消除非主属性对候选键的部分函数依赖</a:t>
              </a:r>
            </a:p>
          </p:txBody>
        </p:sp>
        <p:sp>
          <p:nvSpPr>
            <p:cNvPr id="1556497" name="Rectangle 17"/>
            <p:cNvSpPr>
              <a:spLocks noChangeArrowheads="1"/>
            </p:cNvSpPr>
            <p:nvPr/>
          </p:nvSpPr>
          <p:spPr bwMode="auto">
            <a:xfrm>
              <a:off x="4393069" y="2492275"/>
              <a:ext cx="5114937" cy="363971"/>
            </a:xfrm>
            <a:prstGeom prst="rect">
              <a:avLst/>
            </a:prstGeom>
            <a:noFill/>
            <a:ln w="12700" cap="sq" algn="ctr">
              <a:noFill/>
              <a:miter lim="800000"/>
              <a:headEnd/>
              <a:tailEnd/>
            </a:ln>
            <a:effectLst/>
          </p:spPr>
          <p:txBody>
            <a:bodyPr wrap="square" lIns="0" tIns="0" rIns="0" bIns="0">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消除非主属性对候选键的传递函数依赖</a:t>
              </a:r>
            </a:p>
          </p:txBody>
        </p:sp>
        <p:sp>
          <p:nvSpPr>
            <p:cNvPr id="1556498" name="Rectangle 18"/>
            <p:cNvSpPr>
              <a:spLocks noChangeArrowheads="1"/>
            </p:cNvSpPr>
            <p:nvPr/>
          </p:nvSpPr>
          <p:spPr bwMode="auto">
            <a:xfrm>
              <a:off x="4393069" y="3390344"/>
              <a:ext cx="5748224" cy="363971"/>
            </a:xfrm>
            <a:prstGeom prst="rect">
              <a:avLst/>
            </a:prstGeom>
            <a:noFill/>
            <a:ln w="12700" cap="sq">
              <a:noFill/>
              <a:miter lim="800000"/>
              <a:headEnd/>
              <a:tailEnd/>
            </a:ln>
            <a:effectLst/>
          </p:spPr>
          <p:txBody>
            <a:bodyPr wrap="square" lIns="0" tIns="0" rIns="0" bIns="0">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消除主属性对候选键的部分和传递函数依赖</a:t>
              </a:r>
            </a:p>
          </p:txBody>
        </p:sp>
        <p:sp>
          <p:nvSpPr>
            <p:cNvPr id="1556499" name="Rectangle 19"/>
            <p:cNvSpPr>
              <a:spLocks noChangeArrowheads="1"/>
            </p:cNvSpPr>
            <p:nvPr/>
          </p:nvSpPr>
          <p:spPr bwMode="auto">
            <a:xfrm>
              <a:off x="4393069" y="4317900"/>
              <a:ext cx="4857013" cy="363971"/>
            </a:xfrm>
            <a:prstGeom prst="rect">
              <a:avLst/>
            </a:prstGeom>
            <a:noFill/>
            <a:ln w="12700" cap="sq">
              <a:noFill/>
              <a:miter lim="800000"/>
              <a:headEnd/>
              <a:tailEnd/>
            </a:ln>
            <a:effectLst/>
          </p:spPr>
          <p:txBody>
            <a:bodyPr wrap="square" lIns="0" tIns="0" rIns="0" bIns="0">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消除非平凡且非函数依赖的多值依赖</a:t>
              </a:r>
            </a:p>
          </p:txBody>
        </p:sp>
        <p:sp>
          <p:nvSpPr>
            <p:cNvPr id="1556500" name="Rectangle 20"/>
            <p:cNvSpPr>
              <a:spLocks noChangeArrowheads="1"/>
            </p:cNvSpPr>
            <p:nvPr/>
          </p:nvSpPr>
          <p:spPr bwMode="auto">
            <a:xfrm>
              <a:off x="4393070" y="5157688"/>
              <a:ext cx="4796412" cy="363971"/>
            </a:xfrm>
            <a:prstGeom prst="rect">
              <a:avLst/>
            </a:prstGeom>
            <a:noFill/>
            <a:ln w="12700" cap="sq">
              <a:noFill/>
              <a:miter lim="800000"/>
              <a:headEnd/>
              <a:tailEnd/>
            </a:ln>
            <a:effectLst/>
          </p:spPr>
          <p:txBody>
            <a:bodyPr wrap="square" lIns="0" tIns="0" rIns="0" bIns="0">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消除不是由候选键所蕴含的连接依赖</a:t>
              </a:r>
            </a:p>
          </p:txBody>
        </p:sp>
        <p:sp>
          <p:nvSpPr>
            <p:cNvPr id="1556501" name="Rectangle 21"/>
            <p:cNvSpPr>
              <a:spLocks noChangeArrowheads="1"/>
            </p:cNvSpPr>
            <p:nvPr/>
          </p:nvSpPr>
          <p:spPr bwMode="auto">
            <a:xfrm>
              <a:off x="757723" y="1721144"/>
              <a:ext cx="2143534" cy="1091913"/>
            </a:xfrm>
            <a:prstGeom prst="rect">
              <a:avLst/>
            </a:prstGeom>
            <a:noFill/>
            <a:ln w="12700" cap="sq">
              <a:noFill/>
              <a:miter lim="800000"/>
              <a:headEnd/>
              <a:tailEnd/>
            </a:ln>
            <a:effectLst/>
          </p:spPr>
          <p:txBody>
            <a:bodyPr wrap="square" lIns="0" tIns="0" rIns="0" bIns="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消除决定因子不包含候选键的非平凡函数依赖</a:t>
              </a:r>
            </a:p>
          </p:txBody>
        </p:sp>
      </p:grpSp>
      <p:sp>
        <p:nvSpPr>
          <p:cNvPr id="1556502" name="Rectangle 22"/>
          <p:cNvSpPr>
            <a:spLocks noChangeArrowheads="1"/>
          </p:cNvSpPr>
          <p:nvPr/>
        </p:nvSpPr>
        <p:spPr bwMode="auto">
          <a:xfrm>
            <a:off x="868070" y="4582561"/>
            <a:ext cx="2070728" cy="1861251"/>
          </a:xfrm>
          <a:prstGeom prst="rect">
            <a:avLst/>
          </a:prstGeom>
          <a:solidFill>
            <a:srgbClr val="3333FF"/>
          </a:solidFill>
          <a:ln w="38100" cap="sq" algn="ctr">
            <a:solidFill>
              <a:srgbClr val="FFFF00"/>
            </a:solidFill>
            <a:miter lim="800000"/>
            <a:headEnd/>
            <a:tailEnd/>
          </a:ln>
          <a:effectLst/>
        </p:spPr>
        <p:txBody>
          <a:bodyPr wrap="square" lIns="72000" tIns="72000" rIns="72000" bIns="72000" anchor="ctr">
            <a:spAutoFit/>
          </a:bodyPr>
          <a:lstStyle/>
          <a:p>
            <a:pPr algn="dist" fontAlgn="base">
              <a:spcBef>
                <a:spcPct val="0"/>
              </a:spcBef>
              <a:spcAft>
                <a:spcPct val="0"/>
              </a:spcAft>
            </a:pPr>
            <a:r>
              <a:rPr kumimoji="1" lang="zh-CN" altLang="en-US" sz="3200" dirty="0">
                <a:solidFill>
                  <a:srgbClr val="FF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全面衡量</a:t>
            </a:r>
          </a:p>
          <a:p>
            <a:pPr algn="dist" fontAlgn="base">
              <a:spcBef>
                <a:spcPct val="0"/>
              </a:spcBef>
              <a:spcAft>
                <a:spcPct val="0"/>
              </a:spcAft>
            </a:pPr>
            <a:r>
              <a:rPr kumimoji="1" lang="zh-CN" altLang="en-US" sz="3200" dirty="0">
                <a:solidFill>
                  <a:srgbClr val="FF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综合考虑</a:t>
            </a:r>
          </a:p>
          <a:p>
            <a:pPr algn="dist" fontAlgn="base">
              <a:spcBef>
                <a:spcPct val="0"/>
              </a:spcBef>
              <a:spcAft>
                <a:spcPct val="0"/>
              </a:spcAft>
            </a:pPr>
            <a:r>
              <a:rPr kumimoji="1" lang="zh-CN" altLang="en-US" sz="3200" dirty="0">
                <a:solidFill>
                  <a:srgbClr val="FF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结合实际</a:t>
            </a:r>
          </a:p>
        </p:txBody>
      </p:sp>
      <p:sp>
        <p:nvSpPr>
          <p:cNvPr id="1556503" name="Rectangle 23"/>
          <p:cNvSpPr>
            <a:spLocks noChangeArrowheads="1"/>
          </p:cNvSpPr>
          <p:nvPr/>
        </p:nvSpPr>
        <p:spPr bwMode="auto">
          <a:xfrm>
            <a:off x="594459" y="3575628"/>
            <a:ext cx="2637908" cy="1130291"/>
          </a:xfrm>
          <a:prstGeom prst="rect">
            <a:avLst/>
          </a:prstGeom>
          <a:solidFill>
            <a:srgbClr val="3333FF"/>
          </a:solidFill>
          <a:ln w="38100" cap="sq" algn="ctr">
            <a:solidFill>
              <a:srgbClr val="FFFF00"/>
            </a:solidFill>
            <a:miter lim="800000"/>
            <a:headEnd/>
            <a:tailEnd/>
          </a:ln>
          <a:effectLst/>
        </p:spPr>
        <p:txBody>
          <a:bodyPr wrap="square" lIns="72000" tIns="72000" rIns="72000" bIns="72000" anchor="ctr">
            <a:spAutoFit/>
          </a:bodyPr>
          <a:lstStyle/>
          <a:p>
            <a:pPr marL="0" marR="0" lvl="0" indent="0" algn="dist"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规范化级别并非越高越好</a:t>
            </a:r>
          </a:p>
        </p:txBody>
      </p:sp>
    </p:spTree>
  </p:cSld>
  <p:clrMapOvr>
    <a:masterClrMapping/>
  </p:clrMapOvr>
  <p:transition spd="slow">
    <p:cover dir="u"/>
    <p:sndAc>
      <p:stSnd>
        <p:snd r:embed="rId2" name="arrow.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7" name="Rectangle 3"/>
          <p:cNvSpPr>
            <a:spLocks noGrp="1" noChangeArrowheads="1"/>
          </p:cNvSpPr>
          <p:nvPr>
            <p:ph type="body" idx="4294967295"/>
          </p:nvPr>
        </p:nvSpPr>
        <p:spPr>
          <a:xfrm>
            <a:off x="579655" y="836712"/>
            <a:ext cx="10972800" cy="4525963"/>
          </a:xfrm>
        </p:spPr>
        <p:txBody>
          <a:bodyPr>
            <a:normAutofit fontScale="92500"/>
          </a:bodyPr>
          <a:lstStyle/>
          <a:p>
            <a:pPr>
              <a:lnSpc>
                <a:spcPct val="150000"/>
              </a:lnSpc>
            </a:pPr>
            <a:r>
              <a:rPr lang="zh-CN" altLang="en-US" dirty="0"/>
              <a:t>规范化程度过低的关系可能会存在插入异常，删除异常，修改复杂，数据冗余等问题，需要对其进行规范化，转换成高级范式，但这</a:t>
            </a:r>
            <a:r>
              <a:rPr lang="zh-CN" altLang="en-US" dirty="0">
                <a:solidFill>
                  <a:srgbClr val="FFFF00"/>
                </a:solidFill>
              </a:rPr>
              <a:t>并不意味着规范化程度越高的关系模式就越好</a:t>
            </a:r>
            <a:r>
              <a:rPr lang="zh-CN" altLang="en-US" dirty="0"/>
              <a:t>，在设计数据库模式结构时，必须以现实世界的实际情况和用户应用需求做进一步分析，确定一个合适的能够反映现实世界的模式。即上面的规范化步骤可以在其中任何一步</a:t>
            </a:r>
            <a:r>
              <a:rPr lang="zh-CN" altLang="en-US" dirty="0" smtClean="0"/>
              <a:t>终止。</a:t>
            </a:r>
            <a:endParaRPr lang="zh-CN" altLang="en-US" dirty="0"/>
          </a:p>
        </p:txBody>
      </p:sp>
    </p:spTree>
    <p:extLst>
      <p:ext uri="{BB962C8B-B14F-4D97-AF65-F5344CB8AC3E}">
        <p14:creationId xmlns:p14="http://schemas.microsoft.com/office/powerpoint/2010/main" val="3476950979"/>
      </p:ext>
    </p:extLst>
  </p:cSld>
  <p:clrMapOvr>
    <a:masterClrMapping/>
  </p:clrMapOvr>
  <p:transition spd="slow">
    <p:wipe dir="r"/>
    <p:sndAc>
      <p:stSnd>
        <p:snd r:embed="rId2" name="arrow.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solidFill>
                  <a:srgbClr val="FFFF00"/>
                </a:solidFill>
              </a:rPr>
              <a:t>课后习题</a:t>
            </a:r>
            <a:r>
              <a:rPr lang="zh-CN" altLang="en-US" dirty="0">
                <a:solidFill>
                  <a:srgbClr val="FFFF00"/>
                </a:solidFill>
              </a:rPr>
              <a:t>一</a:t>
            </a:r>
            <a:r>
              <a:rPr lang="en-US" altLang="zh-CN" dirty="0" smtClean="0">
                <a:solidFill>
                  <a:srgbClr val="FFFF00"/>
                </a:solidFill>
              </a:rPr>
              <a:t>.1-3</a:t>
            </a:r>
            <a:endParaRPr lang="zh-CN" altLang="en-US" dirty="0">
              <a:solidFill>
                <a:srgbClr val="FFFF00"/>
              </a:solidFill>
            </a:endParaRPr>
          </a:p>
        </p:txBody>
      </p:sp>
    </p:spTree>
    <p:extLst>
      <p:ext uri="{BB962C8B-B14F-4D97-AF65-F5344CB8AC3E}">
        <p14:creationId xmlns:p14="http://schemas.microsoft.com/office/powerpoint/2010/main" val="1956542253"/>
      </p:ext>
    </p:extLst>
  </p:cSld>
  <p:clrMapOvr>
    <a:masterClrMapping/>
  </p:clrMapOvr>
  <p:transition spd="slow">
    <p:wipe dir="r"/>
    <p:sndAc>
      <p:stSnd>
        <p:snd r:embed="rId2" name="arrow.wav"/>
      </p:stSnd>
    </p:sndAc>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2132856"/>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第四节</a:t>
            </a:r>
          </a:p>
        </p:txBody>
      </p:sp>
      <p:sp>
        <p:nvSpPr>
          <p:cNvPr id="2" name="标题 1"/>
          <p:cNvSpPr>
            <a:spLocks noGrp="1"/>
          </p:cNvSpPr>
          <p:nvPr>
            <p:ph type="title"/>
          </p:nvPr>
        </p:nvSpPr>
        <p:spPr>
          <a:xfrm>
            <a:off x="2495600" y="3890959"/>
            <a:ext cx="7200800" cy="1229982"/>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模式分解</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983432" y="260648"/>
            <a:ext cx="4464496"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第六章  关系数据库设计理论</a:t>
            </a:r>
          </a:p>
        </p:txBody>
      </p:sp>
    </p:spTree>
    <p:extLst>
      <p:ext uri="{BB962C8B-B14F-4D97-AF65-F5344CB8AC3E}">
        <p14:creationId xmlns:p14="http://schemas.microsoft.com/office/powerpoint/2010/main" val="202883180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451" name="Rectangle 3"/>
          <p:cNvSpPr>
            <a:spLocks noGrp="1" noChangeArrowheads="1"/>
          </p:cNvSpPr>
          <p:nvPr>
            <p:ph type="title"/>
          </p:nvPr>
        </p:nvSpPr>
        <p:spPr>
          <a:xfrm>
            <a:off x="973807" y="0"/>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关系模式的分解</a:t>
            </a:r>
          </a:p>
        </p:txBody>
      </p:sp>
      <p:sp>
        <p:nvSpPr>
          <p:cNvPr id="1512452" name="Rectangle 4"/>
          <p:cNvSpPr>
            <a:spLocks noGrp="1" noChangeArrowheads="1"/>
          </p:cNvSpPr>
          <p:nvPr>
            <p:ph idx="1"/>
          </p:nvPr>
        </p:nvSpPr>
        <p:spPr>
          <a:xfrm>
            <a:off x="973806" y="1018781"/>
            <a:ext cx="9658697" cy="647700"/>
          </a:xfrm>
        </p:spPr>
        <p:txBody>
          <a:bodyPr>
            <a:noAutofit/>
          </a:bodyPr>
          <a:lstStyle/>
          <a:p>
            <a:pPr marL="0" indent="0" algn="just">
              <a:lnSpc>
                <a:spcPct val="120000"/>
              </a:lnSpc>
              <a:spcAft>
                <a:spcPct val="0"/>
              </a:spcAft>
              <a:buNone/>
              <a:defRPr/>
            </a:pPr>
            <a:r>
              <a:rPr lang="zh-CN" altLang="en-US" dirty="0">
                <a:solidFill>
                  <a:srgbClr val="CCFFCC"/>
                </a:solidFill>
                <a:effectLst>
                  <a:outerShdw blurRad="38100" dist="38100" dir="2700000" algn="tl">
                    <a:srgbClr val="000000"/>
                  </a:outerShdw>
                </a:effectLst>
                <a:latin typeface="+mn-ea"/>
                <a:ea typeface="+mn-ea"/>
              </a:rPr>
              <a:t>设有关系模式</a:t>
            </a:r>
            <a:r>
              <a:rPr lang="en-US" altLang="zh-CN" dirty="0">
                <a:solidFill>
                  <a:srgbClr val="CCFFCC"/>
                </a:solidFill>
                <a:effectLst>
                  <a:outerShdw blurRad="38100" dist="38100" dir="2700000" algn="tl">
                    <a:srgbClr val="000000"/>
                  </a:outerShdw>
                </a:effectLst>
                <a:latin typeface="+mn-ea"/>
                <a:ea typeface="+mn-ea"/>
              </a:rPr>
              <a:t>R(U,F)</a:t>
            </a:r>
            <a:r>
              <a:rPr lang="zh-CN" altLang="en-US" dirty="0">
                <a:solidFill>
                  <a:srgbClr val="CCFFCC"/>
                </a:solidFill>
                <a:latin typeface="+mn-ea"/>
                <a:ea typeface="+mn-ea"/>
              </a:rPr>
              <a:t>，称</a:t>
            </a:r>
            <a:r>
              <a:rPr lang="en-US" altLang="zh-CN" i="1" dirty="0">
                <a:solidFill>
                  <a:srgbClr val="CCFFCC"/>
                </a:solidFill>
                <a:latin typeface="+mn-ea"/>
                <a:ea typeface="+mn-ea"/>
              </a:rPr>
              <a:t>ρ</a:t>
            </a:r>
            <a:r>
              <a:rPr lang="en-US" altLang="zh-CN" dirty="0">
                <a:solidFill>
                  <a:srgbClr val="CCFFCC"/>
                </a:solidFill>
                <a:latin typeface="+mn-ea"/>
                <a:ea typeface="+mn-ea"/>
              </a:rPr>
              <a:t>={R</a:t>
            </a:r>
            <a:r>
              <a:rPr lang="en-US" altLang="zh-CN" baseline="-30000" dirty="0">
                <a:solidFill>
                  <a:srgbClr val="CCFFCC"/>
                </a:solidFill>
                <a:latin typeface="+mn-ea"/>
                <a:ea typeface="+mn-ea"/>
              </a:rPr>
              <a:t>1</a:t>
            </a:r>
            <a:r>
              <a:rPr lang="en-US" altLang="zh-CN" dirty="0">
                <a:solidFill>
                  <a:srgbClr val="CCFFCC"/>
                </a:solidFill>
                <a:latin typeface="+mn-ea"/>
                <a:ea typeface="+mn-ea"/>
              </a:rPr>
              <a:t>(U</a:t>
            </a:r>
            <a:r>
              <a:rPr lang="en-US" altLang="zh-CN" baseline="-30000" dirty="0">
                <a:solidFill>
                  <a:srgbClr val="CCFFCC"/>
                </a:solidFill>
                <a:latin typeface="+mn-ea"/>
                <a:ea typeface="+mn-ea"/>
              </a:rPr>
              <a:t>1</a:t>
            </a:r>
            <a:r>
              <a:rPr lang="en-US" altLang="zh-CN" dirty="0">
                <a:solidFill>
                  <a:srgbClr val="CCFFCC"/>
                </a:solidFill>
                <a:latin typeface="+mn-ea"/>
                <a:ea typeface="+mn-ea"/>
              </a:rPr>
              <a:t>),R</a:t>
            </a:r>
            <a:r>
              <a:rPr lang="en-US" altLang="zh-CN" baseline="-30000" dirty="0">
                <a:solidFill>
                  <a:srgbClr val="CCFFCC"/>
                </a:solidFill>
                <a:latin typeface="+mn-ea"/>
                <a:ea typeface="+mn-ea"/>
              </a:rPr>
              <a:t>2</a:t>
            </a:r>
            <a:r>
              <a:rPr lang="en-US" altLang="zh-CN" dirty="0">
                <a:solidFill>
                  <a:srgbClr val="CCFFCC"/>
                </a:solidFill>
                <a:latin typeface="+mn-ea"/>
                <a:ea typeface="+mn-ea"/>
              </a:rPr>
              <a:t>(U</a:t>
            </a:r>
            <a:r>
              <a:rPr lang="en-US" altLang="zh-CN" baseline="-30000" dirty="0">
                <a:solidFill>
                  <a:srgbClr val="CCFFCC"/>
                </a:solidFill>
                <a:latin typeface="+mn-ea"/>
                <a:ea typeface="+mn-ea"/>
              </a:rPr>
              <a:t>2</a:t>
            </a:r>
            <a:r>
              <a:rPr lang="en-US" altLang="zh-CN" dirty="0">
                <a:solidFill>
                  <a:srgbClr val="CCFFCC"/>
                </a:solidFill>
                <a:latin typeface="+mn-ea"/>
                <a:ea typeface="+mn-ea"/>
              </a:rPr>
              <a:t>),…, </a:t>
            </a:r>
            <a:r>
              <a:rPr lang="en-US" altLang="zh-CN" dirty="0" err="1">
                <a:solidFill>
                  <a:srgbClr val="CCFFCC"/>
                </a:solidFill>
                <a:latin typeface="+mn-ea"/>
                <a:ea typeface="+mn-ea"/>
              </a:rPr>
              <a:t>R</a:t>
            </a:r>
            <a:r>
              <a:rPr lang="en-US" altLang="zh-CN" baseline="-30000" dirty="0" err="1">
                <a:solidFill>
                  <a:srgbClr val="CCFFCC"/>
                </a:solidFill>
                <a:latin typeface="+mn-ea"/>
                <a:ea typeface="+mn-ea"/>
              </a:rPr>
              <a:t>k</a:t>
            </a:r>
            <a:r>
              <a:rPr lang="en-US" altLang="zh-CN" dirty="0">
                <a:solidFill>
                  <a:srgbClr val="CCFFCC"/>
                </a:solidFill>
                <a:latin typeface="+mn-ea"/>
                <a:ea typeface="+mn-ea"/>
              </a:rPr>
              <a:t>(</a:t>
            </a:r>
            <a:r>
              <a:rPr lang="en-US" altLang="zh-CN" dirty="0" err="1">
                <a:solidFill>
                  <a:srgbClr val="CCFFCC"/>
                </a:solidFill>
                <a:latin typeface="+mn-ea"/>
                <a:ea typeface="+mn-ea"/>
              </a:rPr>
              <a:t>U</a:t>
            </a:r>
            <a:r>
              <a:rPr lang="en-US" altLang="zh-CN" baseline="-30000" dirty="0" err="1">
                <a:solidFill>
                  <a:srgbClr val="CCFFCC"/>
                </a:solidFill>
                <a:latin typeface="+mn-ea"/>
                <a:ea typeface="+mn-ea"/>
              </a:rPr>
              <a:t>k</a:t>
            </a:r>
            <a:r>
              <a:rPr lang="en-US" altLang="zh-CN" dirty="0">
                <a:solidFill>
                  <a:srgbClr val="CCFFCC"/>
                </a:solidFill>
                <a:latin typeface="+mn-ea"/>
                <a:ea typeface="+mn-ea"/>
              </a:rPr>
              <a:t>)}</a:t>
            </a:r>
            <a:r>
              <a:rPr lang="zh-CN" altLang="en-US" dirty="0">
                <a:solidFill>
                  <a:srgbClr val="CCFFCC"/>
                </a:solidFill>
                <a:latin typeface="+mn-ea"/>
                <a:ea typeface="+mn-ea"/>
              </a:rPr>
              <a:t>为</a:t>
            </a:r>
            <a:r>
              <a:rPr lang="en-US" altLang="zh-CN" dirty="0">
                <a:solidFill>
                  <a:srgbClr val="CCFFCC"/>
                </a:solidFill>
                <a:latin typeface="+mn-ea"/>
                <a:ea typeface="+mn-ea"/>
              </a:rPr>
              <a:t>R</a:t>
            </a:r>
            <a:r>
              <a:rPr lang="zh-CN" altLang="en-US" dirty="0">
                <a:solidFill>
                  <a:srgbClr val="CCFFCC"/>
                </a:solidFill>
                <a:latin typeface="+mn-ea"/>
                <a:ea typeface="+mn-ea"/>
              </a:rPr>
              <a:t>的一个</a:t>
            </a:r>
            <a:r>
              <a:rPr lang="zh-CN" altLang="en-US" dirty="0">
                <a:solidFill>
                  <a:srgbClr val="FFFF00"/>
                </a:solidFill>
                <a:latin typeface="+mn-ea"/>
                <a:ea typeface="+mn-ea"/>
              </a:rPr>
              <a:t>分解</a:t>
            </a:r>
            <a:r>
              <a:rPr lang="zh-CN" altLang="en-US" dirty="0">
                <a:solidFill>
                  <a:srgbClr val="CCFFCC"/>
                </a:solidFill>
                <a:latin typeface="+mn-ea"/>
                <a:ea typeface="+mn-ea"/>
              </a:rPr>
              <a:t>，其中</a:t>
            </a:r>
            <a:r>
              <a:rPr lang="en-US" altLang="zh-CN" dirty="0">
                <a:solidFill>
                  <a:srgbClr val="CCFFCC"/>
                </a:solidFill>
                <a:latin typeface="+mn-ea"/>
                <a:ea typeface="+mn-ea"/>
              </a:rPr>
              <a:t>U</a:t>
            </a:r>
            <a:r>
              <a:rPr lang="zh-CN" altLang="en-US" dirty="0">
                <a:solidFill>
                  <a:srgbClr val="CCFFCC"/>
                </a:solidFill>
                <a:latin typeface="+mn-ea"/>
                <a:ea typeface="+mn-ea"/>
              </a:rPr>
              <a:t>＝</a:t>
            </a:r>
            <a:r>
              <a:rPr lang="en-US" altLang="zh-CN" dirty="0">
                <a:solidFill>
                  <a:srgbClr val="CCFFCC"/>
                </a:solidFill>
                <a:latin typeface="+mn-ea"/>
                <a:ea typeface="+mn-ea"/>
              </a:rPr>
              <a:t>U</a:t>
            </a:r>
            <a:r>
              <a:rPr lang="en-US" altLang="zh-CN" baseline="-30000" dirty="0">
                <a:solidFill>
                  <a:srgbClr val="CCFFCC"/>
                </a:solidFill>
                <a:latin typeface="+mn-ea"/>
                <a:ea typeface="+mn-ea"/>
              </a:rPr>
              <a:t>1</a:t>
            </a:r>
            <a:r>
              <a:rPr lang="en-US" altLang="zh-CN" dirty="0">
                <a:solidFill>
                  <a:srgbClr val="CCFFCC"/>
                </a:solidFill>
                <a:latin typeface="+mn-ea"/>
                <a:ea typeface="+mn-ea"/>
              </a:rPr>
              <a:t>∪U</a:t>
            </a:r>
            <a:r>
              <a:rPr lang="en-US" altLang="zh-CN" baseline="-30000" dirty="0">
                <a:solidFill>
                  <a:srgbClr val="CCFFCC"/>
                </a:solidFill>
                <a:latin typeface="+mn-ea"/>
                <a:ea typeface="+mn-ea"/>
              </a:rPr>
              <a:t>2</a:t>
            </a:r>
            <a:r>
              <a:rPr lang="en-US" altLang="zh-CN" dirty="0">
                <a:solidFill>
                  <a:srgbClr val="CCFFCC"/>
                </a:solidFill>
                <a:latin typeface="+mn-ea"/>
                <a:ea typeface="+mn-ea"/>
              </a:rPr>
              <a:t>∪…∪</a:t>
            </a:r>
            <a:r>
              <a:rPr lang="en-US" altLang="zh-CN" dirty="0" err="1">
                <a:solidFill>
                  <a:srgbClr val="CCFFCC"/>
                </a:solidFill>
                <a:latin typeface="+mn-ea"/>
                <a:ea typeface="+mn-ea"/>
              </a:rPr>
              <a:t>U</a:t>
            </a:r>
            <a:r>
              <a:rPr lang="en-US" altLang="zh-CN" baseline="-30000" dirty="0" err="1">
                <a:solidFill>
                  <a:srgbClr val="CCFFCC"/>
                </a:solidFill>
                <a:latin typeface="+mn-ea"/>
                <a:ea typeface="+mn-ea"/>
              </a:rPr>
              <a:t>k</a:t>
            </a:r>
            <a:r>
              <a:rPr lang="zh-CN" altLang="en-US" dirty="0">
                <a:solidFill>
                  <a:srgbClr val="CCFFCC"/>
                </a:solidFill>
                <a:latin typeface="+mn-ea"/>
                <a:ea typeface="+mn-ea"/>
              </a:rPr>
              <a:t>且不存在</a:t>
            </a:r>
            <a:r>
              <a:rPr lang="en-US" altLang="zh-CN" dirty="0">
                <a:solidFill>
                  <a:srgbClr val="CCFFCC"/>
                </a:solidFill>
                <a:latin typeface="+mn-ea"/>
                <a:ea typeface="+mn-ea"/>
              </a:rPr>
              <a:t>U</a:t>
            </a:r>
            <a:r>
              <a:rPr lang="en-US" altLang="zh-CN" baseline="-25000" dirty="0">
                <a:solidFill>
                  <a:srgbClr val="CCFFCC"/>
                </a:solidFill>
                <a:latin typeface="+mn-ea"/>
                <a:ea typeface="+mn-ea"/>
              </a:rPr>
              <a:t>i</a:t>
            </a:r>
            <a:r>
              <a:rPr lang="en-US" altLang="zh-CN" dirty="0">
                <a:solidFill>
                  <a:srgbClr val="CCFFCC"/>
                </a:solidFill>
                <a:latin typeface="+mn-ea"/>
                <a:ea typeface="+mn-ea"/>
              </a:rPr>
              <a:t>   </a:t>
            </a:r>
            <a:r>
              <a:rPr lang="en-US" altLang="zh-CN" dirty="0" err="1">
                <a:solidFill>
                  <a:srgbClr val="CCFFCC"/>
                </a:solidFill>
                <a:latin typeface="+mn-ea"/>
                <a:ea typeface="+mn-ea"/>
              </a:rPr>
              <a:t>U</a:t>
            </a:r>
            <a:r>
              <a:rPr lang="en-US" altLang="zh-CN" baseline="-25000" dirty="0" err="1">
                <a:solidFill>
                  <a:srgbClr val="CCFFCC"/>
                </a:solidFill>
                <a:latin typeface="+mn-ea"/>
                <a:ea typeface="+mn-ea"/>
              </a:rPr>
              <a:t>j</a:t>
            </a:r>
            <a:r>
              <a:rPr lang="en-US" altLang="zh-CN" dirty="0">
                <a:solidFill>
                  <a:srgbClr val="CCFFCC"/>
                </a:solidFill>
                <a:latin typeface="+mn-ea"/>
                <a:ea typeface="+mn-ea"/>
              </a:rPr>
              <a:t>(1≤i,j≤k</a:t>
            </a:r>
            <a:r>
              <a:rPr lang="zh-CN" altLang="en-US" dirty="0">
                <a:solidFill>
                  <a:srgbClr val="CCFFCC"/>
                </a:solidFill>
                <a:latin typeface="+mn-ea"/>
                <a:ea typeface="+mn-ea"/>
              </a:rPr>
              <a:t>且</a:t>
            </a:r>
            <a:r>
              <a:rPr lang="en-US" altLang="zh-CN" dirty="0" err="1">
                <a:solidFill>
                  <a:srgbClr val="CCFFCC"/>
                </a:solidFill>
                <a:latin typeface="+mn-ea"/>
                <a:ea typeface="+mn-ea"/>
              </a:rPr>
              <a:t>i≠j</a:t>
            </a:r>
            <a:r>
              <a:rPr lang="en-US" altLang="zh-CN" dirty="0">
                <a:solidFill>
                  <a:srgbClr val="CCFFCC"/>
                </a:solidFill>
                <a:latin typeface="+mn-ea"/>
                <a:ea typeface="+mn-ea"/>
              </a:rPr>
              <a:t>)</a:t>
            </a:r>
            <a:r>
              <a:rPr lang="zh-CN" altLang="en-US" dirty="0">
                <a:solidFill>
                  <a:srgbClr val="CCFFCC"/>
                </a:solidFill>
                <a:latin typeface="+mn-ea"/>
                <a:ea typeface="+mn-ea"/>
              </a:rPr>
              <a:t>。</a:t>
            </a:r>
          </a:p>
        </p:txBody>
      </p:sp>
      <p:sp>
        <p:nvSpPr>
          <p:cNvPr id="1512453" name="Rectangle 5"/>
          <p:cNvSpPr>
            <a:spLocks noChangeArrowheads="1"/>
          </p:cNvSpPr>
          <p:nvPr/>
        </p:nvSpPr>
        <p:spPr bwMode="auto">
          <a:xfrm>
            <a:off x="973808" y="3115001"/>
            <a:ext cx="9560327" cy="647700"/>
          </a:xfrm>
          <a:prstGeom prst="rect">
            <a:avLst/>
          </a:prstGeom>
          <a:noFill/>
          <a:ln w="9525">
            <a:noFill/>
            <a:miter lim="800000"/>
            <a:headEnd/>
            <a:tailEnd/>
          </a:ln>
          <a:effectLst/>
        </p:spPr>
        <p:txBody>
          <a:bodyPr/>
          <a:lstStyle/>
          <a:p>
            <a:pPr marL="0" marR="0" lvl="0" indent="0" algn="l" defTabSz="914400" rtl="0" eaLnBrk="1" fontAlgn="base" latinLnBrk="0" hangingPunct="1">
              <a:lnSpc>
                <a:spcPct val="100000"/>
              </a:lnSpc>
              <a:spcBef>
                <a:spcPct val="0"/>
              </a:spcBef>
              <a:spcAft>
                <a:spcPct val="25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例如设有关系模式</a:t>
            </a:r>
            <a:r>
              <a:rPr kumimoji="0"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R( ABCDE, {A→B, BC→E, D→C} )</a:t>
            </a:r>
          </a:p>
          <a:p>
            <a:pPr marL="0" marR="0" lvl="0" indent="0" algn="l" defTabSz="914400" rtl="0" eaLnBrk="1" fontAlgn="base" latinLnBrk="0" hangingPunct="1">
              <a:lnSpc>
                <a:spcPct val="100000"/>
              </a:lnSpc>
              <a:spcBef>
                <a:spcPct val="0"/>
              </a:spcBef>
              <a:spcAft>
                <a:spcPct val="25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则</a:t>
            </a:r>
            <a:r>
              <a:rPr kumimoji="0"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R</a:t>
            </a:r>
            <a:r>
              <a:rPr kumimoji="0"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的一个可能的分解</a:t>
            </a:r>
            <a:r>
              <a:rPr kumimoji="0" lang="en-US" altLang="zh-CN" sz="3200" b="0" i="1"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为：</a:t>
            </a:r>
          </a:p>
        </p:txBody>
      </p:sp>
      <p:sp>
        <p:nvSpPr>
          <p:cNvPr id="1512454" name="Rectangle 6"/>
          <p:cNvSpPr>
            <a:spLocks noChangeArrowheads="1"/>
          </p:cNvSpPr>
          <p:nvPr/>
        </p:nvSpPr>
        <p:spPr bwMode="auto">
          <a:xfrm>
            <a:off x="2495600" y="4509120"/>
            <a:ext cx="7921625" cy="492443"/>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3200" b="0" i="1"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ρ </a:t>
            </a:r>
            <a:r>
              <a:rPr kumimoji="0"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 { R</a:t>
            </a:r>
            <a:r>
              <a:rPr kumimoji="0" lang="en-US" altLang="zh-CN" sz="3200" b="0" i="0" u="none" strike="noStrike" kern="1200" cap="none" spc="0" normalizeH="0" baseline="-30000" noProof="0" dirty="0">
                <a:ln>
                  <a:noFill/>
                </a:ln>
                <a:solidFill>
                  <a:srgbClr val="CCFF33"/>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(AB), R</a:t>
            </a:r>
            <a:r>
              <a:rPr kumimoji="0" lang="en-US" altLang="zh-CN" sz="3200" b="0" i="0" u="none" strike="noStrike" kern="1200" cap="none" spc="0" normalizeH="0" baseline="-30000" noProof="0" dirty="0">
                <a:ln>
                  <a:noFill/>
                </a:ln>
                <a:solidFill>
                  <a:srgbClr val="CCFF33"/>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(BCE), R</a:t>
            </a:r>
            <a:r>
              <a:rPr kumimoji="0" lang="en-US" altLang="zh-CN" sz="3200" b="0" i="0" u="none" strike="noStrike" kern="1200" cap="none" spc="0" normalizeH="0" baseline="-30000" noProof="0" dirty="0">
                <a:ln>
                  <a:noFill/>
                </a:ln>
                <a:solidFill>
                  <a:srgbClr val="CCFF33"/>
                </a:solidFill>
                <a:effectLst>
                  <a:outerShdw blurRad="38100" dist="38100" dir="2700000" algn="tl">
                    <a:srgbClr val="000000"/>
                  </a:outerShdw>
                </a:effectLst>
                <a:uLnTx/>
                <a:uFillTx/>
                <a:ea typeface="楷体_GB2312" pitchFamily="49" charset="-122"/>
                <a:cs typeface="+mn-cs"/>
              </a:rPr>
              <a:t>3</a:t>
            </a:r>
            <a:r>
              <a:rPr kumimoji="0" lang="en-US" altLang="zh-CN"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rPr>
              <a:t>(CD) }</a:t>
            </a:r>
            <a:endParaRPr kumimoji="0" lang="zh-CN" altLang="en-US" sz="3200" b="0" i="0" u="none" strike="noStrike" kern="1200" cap="none" spc="0" normalizeH="0" baseline="0" noProof="0" dirty="0">
              <a:ln>
                <a:noFill/>
              </a:ln>
              <a:solidFill>
                <a:srgbClr val="CCFF33"/>
              </a:solidFill>
              <a:effectLst>
                <a:outerShdw blurRad="38100" dist="38100" dir="2700000" algn="tl">
                  <a:srgbClr val="000000"/>
                </a:outerShdw>
              </a:effectLst>
              <a:uLnTx/>
              <a:uFillTx/>
              <a:ea typeface="楷体_GB2312" pitchFamily="49" charset="-122"/>
              <a:cs typeface="+mn-cs"/>
            </a:endParaRPr>
          </a:p>
        </p:txBody>
      </p:sp>
      <p:sp>
        <p:nvSpPr>
          <p:cNvPr id="1512455" name="Rectangle 7"/>
          <p:cNvSpPr>
            <a:spLocks noChangeArrowheads="1"/>
          </p:cNvSpPr>
          <p:nvPr/>
        </p:nvSpPr>
        <p:spPr bwMode="auto">
          <a:xfrm>
            <a:off x="1271463" y="5373216"/>
            <a:ext cx="7921625" cy="1138773"/>
          </a:xfrm>
          <a:prstGeom prst="rect">
            <a:avLst/>
          </a:prstGeom>
          <a:noFill/>
          <a:ln w="12700" cap="sq" algn="ctr">
            <a:noFill/>
            <a:miter lim="800000"/>
            <a:headEnd/>
            <a:tailEnd/>
          </a:ln>
          <a:effectLst/>
        </p:spPr>
        <p:txBody>
          <a:bodyPr lIns="0" tIns="0" rIns="0" bIns="0">
            <a:spAutoFit/>
          </a:bodyPr>
          <a:lstStyle/>
          <a:p>
            <a:pPr marL="1077913" marR="0" lvl="0" indent="-1077913" algn="l" defTabSz="914400" rtl="0" eaLnBrk="1" fontAlgn="base" latinLnBrk="0" hangingPunct="1">
              <a:lnSpc>
                <a:spcPct val="100000"/>
              </a:lnSpc>
              <a:spcBef>
                <a:spcPct val="0"/>
              </a:spcBef>
              <a:spcAft>
                <a:spcPts val="1200"/>
              </a:spcAft>
              <a:buClrTx/>
              <a:buSzTx/>
              <a:buFont typeface="Wingdings" pitchFamily="2" charset="2"/>
              <a:buNone/>
              <a:tabLst/>
              <a:defRPr/>
            </a:pPr>
            <a:r>
              <a:rPr kumimoji="0" lang="zh-CN" altLang="en-US" sz="3200" b="0" i="0" u="none" strike="noStrike" kern="1200" cap="none" spc="0" normalizeH="0" baseline="0" noProof="0" dirty="0">
                <a:ln>
                  <a:noFill/>
                </a:ln>
                <a:solidFill>
                  <a:srgbClr val="FF9900"/>
                </a:solidFill>
                <a:effectLst>
                  <a:outerShdw blurRad="38100" dist="38100" dir="2700000" algn="tl">
                    <a:srgbClr val="000000"/>
                  </a:outerShdw>
                </a:effectLst>
                <a:uLnTx/>
                <a:uFillTx/>
                <a:latin typeface="+mn-ea"/>
                <a:cs typeface="+mn-cs"/>
              </a:rPr>
              <a:t>问题：</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这个分解能保证不丢失信息吗？</a:t>
            </a:r>
          </a:p>
          <a:p>
            <a:pPr marL="1209675" marR="0" lvl="0" indent="-1209675" algn="l" defTabSz="914400" rtl="0" eaLnBrk="1" fontAlgn="base" latinLnBrk="0" hangingPunct="1">
              <a:lnSpc>
                <a:spcPct val="100000"/>
              </a:lnSpc>
              <a:spcBef>
                <a:spcPct val="0"/>
              </a:spcBef>
              <a:spcAft>
                <a:spcPts val="1200"/>
              </a:spcAft>
              <a:buClrTx/>
              <a:buSzTx/>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mn-ea"/>
                <a:cs typeface="+mn-cs"/>
              </a:rPr>
              <a:t>	这个分解能保持原有的函数依赖吗？</a:t>
            </a:r>
          </a:p>
        </p:txBody>
      </p:sp>
      <p:sp>
        <p:nvSpPr>
          <p:cNvPr id="1512456" name="Rectangle 8"/>
          <p:cNvSpPr>
            <a:spLocks noChangeArrowheads="1"/>
          </p:cNvSpPr>
          <p:nvPr/>
        </p:nvSpPr>
        <p:spPr bwMode="auto">
          <a:xfrm>
            <a:off x="1415480" y="2145209"/>
            <a:ext cx="438756" cy="637849"/>
          </a:xfrm>
          <a:prstGeom prst="rect">
            <a:avLst/>
          </a:prstGeom>
          <a:noFill/>
          <a:ln w="12700" cap="sq">
            <a:noFill/>
            <a:miter lim="800000"/>
            <a:headEnd/>
            <a:tailEnd/>
          </a:ln>
          <a:effectLst/>
        </p:spPr>
        <p:txBody>
          <a:bodyPr wrap="none"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rPr>
              <a:t></a:t>
            </a:r>
            <a:endPar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483" name="Rectangle 11"/>
          <p:cNvSpPr>
            <a:spLocks noGrp="1" noChangeArrowheads="1"/>
          </p:cNvSpPr>
          <p:nvPr>
            <p:ph type="title"/>
          </p:nvPr>
        </p:nvSpPr>
        <p:spPr>
          <a:xfrm>
            <a:off x="911424" y="0"/>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分解的无损连接性</a:t>
            </a:r>
          </a:p>
        </p:txBody>
      </p:sp>
      <p:sp>
        <p:nvSpPr>
          <p:cNvPr id="15" name="Rectangle 3">
            <a:extLst>
              <a:ext uri="{FF2B5EF4-FFF2-40B4-BE49-F238E27FC236}">
                <a16:creationId xmlns:a16="http://schemas.microsoft.com/office/drawing/2014/main" id="{BBF5384F-469B-4E5C-A798-DA96FDB55F16}"/>
              </a:ext>
            </a:extLst>
          </p:cNvPr>
          <p:cNvSpPr txBox="1">
            <a:spLocks noChangeArrowheads="1"/>
          </p:cNvSpPr>
          <p:nvPr/>
        </p:nvSpPr>
        <p:spPr bwMode="auto">
          <a:xfrm>
            <a:off x="623393" y="980728"/>
            <a:ext cx="10801200" cy="647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8775" marR="0" lvl="0" indent="-358775" algn="just" defTabSz="914400" rtl="0" eaLnBrk="0" fontAlgn="base" latinLnBrk="0" hangingPunct="0">
              <a:lnSpc>
                <a:spcPct val="110000"/>
              </a:lnSpc>
              <a:spcBef>
                <a:spcPct val="0"/>
              </a:spcBef>
              <a:spcAft>
                <a:spcPct val="40000"/>
              </a:spcAft>
              <a:buClr>
                <a:srgbClr val="66FF33"/>
              </a:buClr>
              <a:buSzPct val="85000"/>
              <a:buFont typeface="Wingdings" pitchFamily="2" charset="2"/>
              <a:buBlip>
                <a:blip r:embed="rId3"/>
              </a:buBlip>
              <a:tabLst/>
              <a:defRPr/>
            </a:pP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设</a:t>
            </a:r>
            <a:r>
              <a:rPr kumimoji="0" lang="en-US" altLang="zh-CN" b="0" i="1"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ρ</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={R</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mn-ea"/>
                <a:cs typeface="+mn-cs"/>
              </a:rPr>
              <a:t>1</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(U</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mn-ea"/>
                <a:cs typeface="+mn-cs"/>
              </a:rPr>
              <a:t>1</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),R</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mn-ea"/>
                <a:cs typeface="+mn-cs"/>
              </a:rPr>
              <a:t>2</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(U</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mn-ea"/>
                <a:cs typeface="+mn-cs"/>
              </a:rPr>
              <a:t>2</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r>
              <a:rPr kumimoji="0" lang="en-US" altLang="zh-CN" b="0" i="0" u="none" strike="noStrike" kern="0" cap="none" spc="0" normalizeH="0" baseline="0" noProof="0" dirty="0" err="1">
                <a:ln>
                  <a:noFill/>
                </a:ln>
                <a:solidFill>
                  <a:srgbClr val="CCFFCC"/>
                </a:solidFill>
                <a:effectLst>
                  <a:outerShdw blurRad="38100" dist="38100" dir="2700000" algn="tl">
                    <a:srgbClr val="000000"/>
                  </a:outerShdw>
                </a:effectLst>
                <a:uLnTx/>
                <a:uFillTx/>
                <a:latin typeface="+mn-ea"/>
                <a:cs typeface="+mn-cs"/>
              </a:rPr>
              <a:t>R</a:t>
            </a:r>
            <a:r>
              <a:rPr kumimoji="0" lang="en-US" altLang="zh-CN" b="0" i="0" u="none" strike="noStrike" kern="0" cap="none" spc="0" normalizeH="0" baseline="-30000" noProof="0" dirty="0" err="1">
                <a:ln>
                  <a:noFill/>
                </a:ln>
                <a:solidFill>
                  <a:srgbClr val="CCFFCC"/>
                </a:solidFill>
                <a:effectLst>
                  <a:outerShdw blurRad="38100" dist="38100" dir="2700000" algn="tl">
                    <a:srgbClr val="000000"/>
                  </a:outerShdw>
                </a:effectLst>
                <a:uLnTx/>
                <a:uFillTx/>
                <a:latin typeface="+mn-ea"/>
                <a:cs typeface="+mn-cs"/>
              </a:rPr>
              <a:t>k</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r>
              <a:rPr kumimoji="0" lang="en-US" altLang="zh-CN" b="0" i="0" u="none" strike="noStrike" kern="0" cap="none" spc="0" normalizeH="0" baseline="0" noProof="0" dirty="0" err="1">
                <a:ln>
                  <a:noFill/>
                </a:ln>
                <a:solidFill>
                  <a:srgbClr val="CCFFCC"/>
                </a:solidFill>
                <a:effectLst>
                  <a:outerShdw blurRad="38100" dist="38100" dir="2700000" algn="tl">
                    <a:srgbClr val="000000"/>
                  </a:outerShdw>
                </a:effectLst>
                <a:uLnTx/>
                <a:uFillTx/>
                <a:latin typeface="+mn-ea"/>
                <a:cs typeface="+mn-cs"/>
              </a:rPr>
              <a:t>U</a:t>
            </a:r>
            <a:r>
              <a:rPr kumimoji="0" lang="en-US" altLang="zh-CN" b="0" i="0" u="none" strike="noStrike" kern="0" cap="none" spc="0" normalizeH="0" baseline="-30000" noProof="0" dirty="0" err="1">
                <a:ln>
                  <a:noFill/>
                </a:ln>
                <a:solidFill>
                  <a:srgbClr val="CCFFCC"/>
                </a:solidFill>
                <a:effectLst>
                  <a:outerShdw blurRad="38100" dist="38100" dir="2700000" algn="tl">
                    <a:srgbClr val="000000"/>
                  </a:outerShdw>
                </a:effectLst>
                <a:uLnTx/>
                <a:uFillTx/>
                <a:latin typeface="+mn-ea"/>
                <a:cs typeface="+mn-cs"/>
              </a:rPr>
              <a:t>k</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是关系模式</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R(U,F)</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的一个分解，若对</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R</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的每一个满足</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F</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的具体关系</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r</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rPr>
              <a:t>都有：</a:t>
            </a:r>
          </a:p>
        </p:txBody>
      </p:sp>
      <p:grpSp>
        <p:nvGrpSpPr>
          <p:cNvPr id="24" name="Group 4">
            <a:extLst>
              <a:ext uri="{FF2B5EF4-FFF2-40B4-BE49-F238E27FC236}">
                <a16:creationId xmlns:a16="http://schemas.microsoft.com/office/drawing/2014/main" id="{6951BAE5-4C35-4F86-981E-7126612130CE}"/>
              </a:ext>
            </a:extLst>
          </p:cNvPr>
          <p:cNvGrpSpPr>
            <a:grpSpLocks/>
          </p:cNvGrpSpPr>
          <p:nvPr/>
        </p:nvGrpSpPr>
        <p:grpSpPr bwMode="auto">
          <a:xfrm>
            <a:off x="1261722" y="2267221"/>
            <a:ext cx="10666926" cy="1231898"/>
            <a:chOff x="702" y="1453"/>
            <a:chExt cx="4990" cy="776"/>
          </a:xfrm>
        </p:grpSpPr>
        <p:sp>
          <p:nvSpPr>
            <p:cNvPr id="25" name="Rectangle 5">
              <a:extLst>
                <a:ext uri="{FF2B5EF4-FFF2-40B4-BE49-F238E27FC236}">
                  <a16:creationId xmlns:a16="http://schemas.microsoft.com/office/drawing/2014/main" id="{217C2D7C-BA77-4653-B16A-6065AB8EB182}"/>
                </a:ext>
              </a:extLst>
            </p:cNvPr>
            <p:cNvSpPr>
              <a:spLocks noChangeArrowheads="1"/>
            </p:cNvSpPr>
            <p:nvPr/>
          </p:nvSpPr>
          <p:spPr bwMode="auto">
            <a:xfrm>
              <a:off x="702" y="1453"/>
              <a:ext cx="4990" cy="776"/>
            </a:xfrm>
            <a:prstGeom prst="rect">
              <a:avLst/>
            </a:prstGeom>
            <a:noFill/>
            <a:ln w="12700" cap="sq" algn="ctr">
              <a:noFill/>
              <a:miter lim="800000"/>
              <a:headEnd/>
              <a:tailEnd/>
            </a:ln>
            <a:effectLst/>
          </p:spPr>
          <p:txBody>
            <a:bodyPr lIns="0" tIns="0" rIns="0" bIns="0">
              <a:spAutoFit/>
            </a:bodyPr>
            <a:lstStyle/>
            <a:p>
              <a:pPr fontAlgn="base">
                <a:spcBef>
                  <a:spcPct val="0"/>
                </a:spcBef>
                <a:spcAft>
                  <a:spcPct val="25000"/>
                </a:spcAft>
                <a:defRPr/>
              </a:pPr>
              <a:r>
                <a:rPr lang="en-US" altLang="zh-CN" sz="4000" spc="600" dirty="0">
                  <a:solidFill>
                    <a:srgbClr val="CCFFCC"/>
                  </a:solidFill>
                  <a:effectLst>
                    <a:outerShdw blurRad="38100" dist="38100" dir="2700000" algn="tl">
                      <a:srgbClr val="000000"/>
                    </a:outerShdw>
                  </a:effectLst>
                  <a:latin typeface="楷体_GB2312" pitchFamily="49" charset="-122"/>
                  <a:ea typeface="楷体_GB2312" pitchFamily="49" charset="-122"/>
                </a:rPr>
                <a:t>r = Π</a:t>
              </a:r>
              <a:r>
                <a:rPr lang="en-US" altLang="zh-CN" sz="3200" spc="600" dirty="0">
                  <a:solidFill>
                    <a:srgbClr val="CCFFCC"/>
                  </a:solidFill>
                  <a:effectLst>
                    <a:outerShdw blurRad="38100" dist="38100" dir="2700000" algn="tl">
                      <a:srgbClr val="000000"/>
                    </a:outerShdw>
                  </a:effectLst>
                  <a:latin typeface="楷体_GB2312" pitchFamily="49" charset="-122"/>
                  <a:ea typeface="楷体_GB2312" pitchFamily="49" charset="-122"/>
                </a:rPr>
                <a:t>U</a:t>
              </a:r>
              <a:r>
                <a:rPr lang="en-US" altLang="zh-CN" sz="3600" spc="600" baseline="-30000" dirty="0">
                  <a:solidFill>
                    <a:srgbClr val="CCFFCC"/>
                  </a:solidFill>
                  <a:effectLst>
                    <a:outerShdw blurRad="38100" dist="38100" dir="2700000" algn="tl">
                      <a:srgbClr val="000000"/>
                    </a:outerShdw>
                  </a:effectLst>
                  <a:latin typeface="楷体_GB2312" pitchFamily="49" charset="-122"/>
                  <a:ea typeface="楷体_GB2312" pitchFamily="49" charset="-122"/>
                </a:rPr>
                <a:t>1</a:t>
              </a:r>
              <a:r>
                <a:rPr lang="en-US" altLang="zh-CN" sz="4000" spc="600" dirty="0">
                  <a:solidFill>
                    <a:srgbClr val="CCFFCC"/>
                  </a:solidFill>
                  <a:effectLst>
                    <a:outerShdw blurRad="38100" dist="38100" dir="2700000" algn="tl">
                      <a:srgbClr val="000000"/>
                    </a:outerShdw>
                  </a:effectLst>
                  <a:latin typeface="楷体_GB2312" pitchFamily="49" charset="-122"/>
                  <a:ea typeface="楷体_GB2312" pitchFamily="49" charset="-122"/>
                </a:rPr>
                <a:t>(r)   Π</a:t>
              </a:r>
              <a:r>
                <a:rPr lang="en-US" altLang="zh-CN" sz="3200" spc="600" dirty="0">
                  <a:solidFill>
                    <a:srgbClr val="CCFFCC"/>
                  </a:solidFill>
                  <a:effectLst>
                    <a:outerShdw blurRad="38100" dist="38100" dir="2700000" algn="tl">
                      <a:srgbClr val="000000"/>
                    </a:outerShdw>
                  </a:effectLst>
                  <a:latin typeface="楷体_GB2312" pitchFamily="49" charset="-122"/>
                  <a:ea typeface="楷体_GB2312" pitchFamily="49" charset="-122"/>
                </a:rPr>
                <a:t>U</a:t>
              </a:r>
              <a:r>
                <a:rPr lang="en-US" altLang="zh-CN" sz="4000" spc="600" baseline="-30000" dirty="0">
                  <a:solidFill>
                    <a:srgbClr val="CCFFCC"/>
                  </a:solidFill>
                  <a:effectLst>
                    <a:outerShdw blurRad="38100" dist="38100" dir="2700000" algn="tl">
                      <a:srgbClr val="000000"/>
                    </a:outerShdw>
                  </a:effectLst>
                  <a:latin typeface="楷体_GB2312" pitchFamily="49" charset="-122"/>
                  <a:ea typeface="楷体_GB2312" pitchFamily="49" charset="-122"/>
                </a:rPr>
                <a:t>2</a:t>
              </a:r>
              <a:r>
                <a:rPr lang="en-US" altLang="zh-CN" sz="4000" spc="600" dirty="0">
                  <a:solidFill>
                    <a:srgbClr val="CCFFCC"/>
                  </a:solidFill>
                  <a:effectLst>
                    <a:outerShdw blurRad="38100" dist="38100" dir="2700000" algn="tl">
                      <a:srgbClr val="000000"/>
                    </a:outerShdw>
                  </a:effectLst>
                  <a:latin typeface="楷体_GB2312" pitchFamily="49" charset="-122"/>
                  <a:ea typeface="楷体_GB2312" pitchFamily="49" charset="-122"/>
                </a:rPr>
                <a:t>(r)   </a:t>
              </a:r>
              <a:r>
                <a:rPr lang="en-US" altLang="zh-CN" sz="4000" spc="600" dirty="0">
                  <a:solidFill>
                    <a:srgbClr val="CCFFCC"/>
                  </a:solidFill>
                  <a:effectLst>
                    <a:outerShdw blurRad="38100" dist="38100" dir="2700000" algn="tl">
                      <a:srgbClr val="000000"/>
                    </a:outerShdw>
                  </a:effectLst>
                  <a:ea typeface="楷体_GB2312" pitchFamily="49" charset="-122"/>
                </a:rPr>
                <a:t>···</a:t>
              </a:r>
              <a:r>
                <a:rPr lang="en-US" altLang="zh-CN" sz="4000" spc="600" dirty="0">
                  <a:solidFill>
                    <a:srgbClr val="CCFFCC"/>
                  </a:solidFill>
                  <a:effectLst>
                    <a:outerShdw blurRad="38100" dist="38100" dir="2700000" algn="tl">
                      <a:srgbClr val="000000"/>
                    </a:outerShdw>
                  </a:effectLst>
                  <a:latin typeface="楷体_GB2312" pitchFamily="49" charset="-122"/>
                  <a:ea typeface="楷体_GB2312" pitchFamily="49" charset="-122"/>
                </a:rPr>
                <a:t>   </a:t>
              </a:r>
              <a:r>
                <a:rPr lang="en-US" altLang="zh-CN" sz="4000" spc="600" dirty="0" err="1">
                  <a:solidFill>
                    <a:srgbClr val="CCFFCC"/>
                  </a:solidFill>
                  <a:effectLst>
                    <a:outerShdw blurRad="38100" dist="38100" dir="2700000" algn="tl">
                      <a:srgbClr val="000000"/>
                    </a:outerShdw>
                  </a:effectLst>
                  <a:latin typeface="楷体_GB2312" pitchFamily="49" charset="-122"/>
                  <a:ea typeface="楷体_GB2312" pitchFamily="49" charset="-122"/>
                </a:rPr>
                <a:t>Π</a:t>
              </a:r>
              <a:r>
                <a:rPr lang="en-US" altLang="zh-CN" sz="3200" spc="600" dirty="0" err="1">
                  <a:solidFill>
                    <a:srgbClr val="CCFFCC"/>
                  </a:solidFill>
                  <a:effectLst>
                    <a:outerShdw blurRad="38100" dist="38100" dir="2700000" algn="tl">
                      <a:srgbClr val="000000"/>
                    </a:outerShdw>
                  </a:effectLst>
                  <a:latin typeface="楷体_GB2312" pitchFamily="49" charset="-122"/>
                  <a:ea typeface="楷体_GB2312" pitchFamily="49" charset="-122"/>
                </a:rPr>
                <a:t>U</a:t>
              </a:r>
              <a:r>
                <a:rPr lang="en-US" altLang="zh-CN" sz="4000" spc="600" baseline="-30000" dirty="0" err="1">
                  <a:solidFill>
                    <a:srgbClr val="CCFFCC"/>
                  </a:solidFill>
                  <a:effectLst>
                    <a:outerShdw blurRad="38100" dist="38100" dir="2700000" algn="tl">
                      <a:srgbClr val="000000"/>
                    </a:outerShdw>
                  </a:effectLst>
                  <a:latin typeface="楷体_GB2312" pitchFamily="49" charset="-122"/>
                  <a:ea typeface="楷体_GB2312" pitchFamily="49" charset="-122"/>
                </a:rPr>
                <a:t>k</a:t>
              </a:r>
              <a:r>
                <a:rPr lang="en-US" altLang="zh-CN" sz="4000" spc="600" dirty="0">
                  <a:solidFill>
                    <a:srgbClr val="CCFFCC"/>
                  </a:solidFill>
                  <a:effectLst>
                    <a:outerShdw blurRad="38100" dist="38100" dir="2700000" algn="tl">
                      <a:srgbClr val="000000"/>
                    </a:outerShdw>
                  </a:effectLst>
                  <a:latin typeface="楷体_GB2312" pitchFamily="49" charset="-122"/>
                  <a:ea typeface="楷体_GB2312" pitchFamily="49" charset="-122"/>
                </a:rPr>
                <a:t>(r)</a:t>
              </a:r>
              <a:endParaRPr lang="zh-CN" altLang="en-US" sz="4000" spc="600" dirty="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sp>
          <p:nvSpPr>
            <p:cNvPr id="26" name="Freeform 6">
              <a:extLst>
                <a:ext uri="{FF2B5EF4-FFF2-40B4-BE49-F238E27FC236}">
                  <a16:creationId xmlns:a16="http://schemas.microsoft.com/office/drawing/2014/main" id="{03CB75F5-DAC2-4C16-B246-0CD177DB79CD}"/>
                </a:ext>
              </a:extLst>
            </p:cNvPr>
            <p:cNvSpPr>
              <a:spLocks/>
            </p:cNvSpPr>
            <p:nvPr/>
          </p:nvSpPr>
          <p:spPr bwMode="auto">
            <a:xfrm>
              <a:off x="2175" y="1556"/>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fontAlgn="base">
                <a:spcBef>
                  <a:spcPct val="0"/>
                </a:spcBef>
                <a:spcAft>
                  <a:spcPct val="25000"/>
                </a:spcAft>
                <a:buSzPct val="80000"/>
                <a:buFont typeface="Wingdings" pitchFamily="2" charset="2"/>
                <a:buNone/>
                <a:defRPr/>
              </a:pPr>
              <a:endParaRPr kumimoji="1" lang="zh-CN" altLang="en-US" sz="4000" spc="600">
                <a:solidFill>
                  <a:srgbClr val="FFFFFF"/>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27" name="Freeform 7">
              <a:extLst>
                <a:ext uri="{FF2B5EF4-FFF2-40B4-BE49-F238E27FC236}">
                  <a16:creationId xmlns:a16="http://schemas.microsoft.com/office/drawing/2014/main" id="{7019772F-5B2C-4F7D-BF1B-36889BE51B58}"/>
                </a:ext>
              </a:extLst>
            </p:cNvPr>
            <p:cNvSpPr>
              <a:spLocks/>
            </p:cNvSpPr>
            <p:nvPr/>
          </p:nvSpPr>
          <p:spPr bwMode="auto">
            <a:xfrm>
              <a:off x="3368" y="1588"/>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fontAlgn="base">
                <a:spcBef>
                  <a:spcPct val="0"/>
                </a:spcBef>
                <a:spcAft>
                  <a:spcPct val="25000"/>
                </a:spcAft>
                <a:buSzPct val="80000"/>
                <a:buFont typeface="Wingdings" pitchFamily="2" charset="2"/>
                <a:buNone/>
                <a:defRPr/>
              </a:pPr>
              <a:endParaRPr kumimoji="1" lang="zh-CN" altLang="en-US" sz="4000" spc="600">
                <a:solidFill>
                  <a:srgbClr val="FFFFFF"/>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28" name="Freeform 8">
              <a:extLst>
                <a:ext uri="{FF2B5EF4-FFF2-40B4-BE49-F238E27FC236}">
                  <a16:creationId xmlns:a16="http://schemas.microsoft.com/office/drawing/2014/main" id="{EC168A58-D22F-4302-AF02-DA2C90AA93A3}"/>
                </a:ext>
              </a:extLst>
            </p:cNvPr>
            <p:cNvSpPr>
              <a:spLocks/>
            </p:cNvSpPr>
            <p:nvPr/>
          </p:nvSpPr>
          <p:spPr bwMode="auto">
            <a:xfrm>
              <a:off x="4012" y="1580"/>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fontAlgn="base">
                <a:spcBef>
                  <a:spcPct val="0"/>
                </a:spcBef>
                <a:spcAft>
                  <a:spcPct val="25000"/>
                </a:spcAft>
                <a:buSzPct val="80000"/>
                <a:buFont typeface="Wingdings" pitchFamily="2" charset="2"/>
                <a:buNone/>
                <a:defRPr/>
              </a:pPr>
              <a:endParaRPr kumimoji="1" lang="zh-CN" altLang="en-US" sz="4000" spc="600">
                <a:solidFill>
                  <a:srgbClr val="FFFFFF"/>
                </a:solidFill>
                <a:effectLst>
                  <a:outerShdw blurRad="38100" dist="38100" dir="2700000" algn="tl">
                    <a:srgbClr val="000000">
                      <a:alpha val="43137"/>
                    </a:srgbClr>
                  </a:outerShdw>
                </a:effectLst>
                <a:latin typeface="楷体_GB2312" pitchFamily="49" charset="-122"/>
                <a:ea typeface="楷体_GB2312" pitchFamily="49" charset="-122"/>
              </a:endParaRPr>
            </a:p>
          </p:txBody>
        </p:sp>
      </p:grpSp>
      <p:sp>
        <p:nvSpPr>
          <p:cNvPr id="29" name="Rectangle 9">
            <a:extLst>
              <a:ext uri="{FF2B5EF4-FFF2-40B4-BE49-F238E27FC236}">
                <a16:creationId xmlns:a16="http://schemas.microsoft.com/office/drawing/2014/main" id="{72480AEE-66C4-4A98-A31E-A6F3F3F47166}"/>
              </a:ext>
            </a:extLst>
          </p:cNvPr>
          <p:cNvSpPr>
            <a:spLocks noChangeArrowheads="1"/>
          </p:cNvSpPr>
          <p:nvPr/>
        </p:nvSpPr>
        <p:spPr bwMode="auto">
          <a:xfrm>
            <a:off x="506412" y="3562728"/>
            <a:ext cx="10801199" cy="647700"/>
          </a:xfrm>
          <a:prstGeom prst="rect">
            <a:avLst/>
          </a:prstGeom>
          <a:noFill/>
          <a:ln w="9525">
            <a:noFill/>
            <a:miter lim="800000"/>
            <a:headEnd/>
            <a:tailEnd/>
          </a:ln>
          <a:effectLst/>
        </p:spPr>
        <p:txBody>
          <a:bodyPr/>
          <a:lstStyle/>
          <a:p>
            <a:pPr marL="358775" indent="-358775" algn="just" fontAlgn="base">
              <a:spcBef>
                <a:spcPct val="0"/>
              </a:spcBef>
              <a:spcAft>
                <a:spcPct val="40000"/>
              </a:spcAft>
              <a:buClr>
                <a:srgbClr val="66FF33"/>
              </a:buClr>
              <a:buSzPct val="85000"/>
              <a:buFont typeface="Wingdings" pitchFamily="2" charset="2"/>
              <a:buNone/>
              <a:defRPr/>
            </a:pPr>
            <a:r>
              <a:rPr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则称这个分解</a:t>
            </a:r>
            <a:r>
              <a:rPr lang="en-US" altLang="zh-CN" sz="3200" i="1"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ρ</a:t>
            </a:r>
            <a:r>
              <a:rPr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相对于</a:t>
            </a:r>
            <a:r>
              <a:rPr lang="en-US" altLang="zh-CN"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F</a:t>
            </a:r>
            <a:r>
              <a:rPr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具有</a:t>
            </a:r>
            <a:r>
              <a:rPr lang="zh-CN" altLang="en-US" sz="3200" dirty="0">
                <a:solidFill>
                  <a:srgbClr val="FFFF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无损连接性</a:t>
            </a:r>
            <a:r>
              <a:rPr lang="en-US" altLang="zh-CN" sz="3200" dirty="0">
                <a:solidFill>
                  <a:srgbClr val="FFFF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en-US" altLang="zh-CN" sz="3200" i="1" dirty="0">
                <a:solidFill>
                  <a:srgbClr val="FFFF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lossless join decomposition </a:t>
            </a:r>
            <a:r>
              <a:rPr lang="en-US" altLang="zh-CN" sz="3200" dirty="0">
                <a:solidFill>
                  <a:srgbClr val="FFFF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，简称</a:t>
            </a:r>
            <a:r>
              <a:rPr lang="en-US" altLang="zh-CN" sz="3200" i="1"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ρ</a:t>
            </a:r>
            <a:r>
              <a:rPr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为</a:t>
            </a:r>
            <a:r>
              <a:rPr lang="en-US" altLang="zh-CN"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R(U,F)</a:t>
            </a:r>
            <a:r>
              <a:rPr lang="zh-CN" altLang="en-US"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的无损连接分解。</a:t>
            </a:r>
            <a:endParaRPr lang="en-US" altLang="zh-CN" sz="32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30" name="Rectangle 10">
            <a:extLst>
              <a:ext uri="{FF2B5EF4-FFF2-40B4-BE49-F238E27FC236}">
                <a16:creationId xmlns:a16="http://schemas.microsoft.com/office/drawing/2014/main" id="{8216B09F-4365-489D-A61C-E940B063F8DC}"/>
              </a:ext>
            </a:extLst>
          </p:cNvPr>
          <p:cNvSpPr>
            <a:spLocks noChangeArrowheads="1"/>
          </p:cNvSpPr>
          <p:nvPr/>
        </p:nvSpPr>
        <p:spPr bwMode="auto">
          <a:xfrm>
            <a:off x="796788" y="5877272"/>
            <a:ext cx="8647112" cy="647700"/>
          </a:xfrm>
          <a:prstGeom prst="rect">
            <a:avLst/>
          </a:prstGeom>
          <a:noFill/>
          <a:ln w="9525">
            <a:noFill/>
            <a:miter lim="800000"/>
            <a:headEnd/>
            <a:tailEnd/>
          </a:ln>
          <a:effectLst/>
        </p:spPr>
        <p:txBody>
          <a:bodyPr/>
          <a:lstStyle/>
          <a:p>
            <a:pPr marL="358775" indent="-358775" algn="just" fontAlgn="base">
              <a:spcBef>
                <a:spcPct val="0"/>
              </a:spcBef>
              <a:spcAft>
                <a:spcPct val="40000"/>
              </a:spcAft>
              <a:buClr>
                <a:srgbClr val="66FF33"/>
              </a:buClr>
              <a:buSzPct val="85000"/>
              <a:buFont typeface="Wingdings" pitchFamily="2" charset="2"/>
              <a:buNone/>
              <a:defRPr/>
            </a:pPr>
            <a:r>
              <a:rPr lang="zh-CN" altLang="en-US" sz="3200" dirty="0">
                <a:solidFill>
                  <a:srgbClr val="FFCC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具有无损连接性的分解能够保证不丢失信息！</a:t>
            </a:r>
            <a:endParaRPr lang="en-US" altLang="zh-CN" sz="3200" dirty="0">
              <a:solidFill>
                <a:srgbClr val="FFCC00"/>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31" name="Rectangle 12">
            <a:extLst>
              <a:ext uri="{FF2B5EF4-FFF2-40B4-BE49-F238E27FC236}">
                <a16:creationId xmlns:a16="http://schemas.microsoft.com/office/drawing/2014/main" id="{4C69199D-4558-420D-A02D-AA9735F9B3DA}"/>
              </a:ext>
            </a:extLst>
          </p:cNvPr>
          <p:cNvSpPr>
            <a:spLocks noChangeArrowheads="1"/>
          </p:cNvSpPr>
          <p:nvPr/>
        </p:nvSpPr>
        <p:spPr bwMode="auto">
          <a:xfrm>
            <a:off x="796788" y="4446767"/>
            <a:ext cx="10510823" cy="647700"/>
          </a:xfrm>
          <a:prstGeom prst="rect">
            <a:avLst/>
          </a:prstGeom>
          <a:noFill/>
          <a:ln w="9525">
            <a:noFill/>
            <a:miter lim="800000"/>
            <a:headEnd/>
            <a:tailEnd/>
          </a:ln>
          <a:effectLst/>
        </p:spPr>
        <p:txBody>
          <a:bodyPr/>
          <a:lstStyle/>
          <a:p>
            <a:pPr algn="just" fontAlgn="base">
              <a:spcBef>
                <a:spcPct val="0"/>
              </a:spcBef>
              <a:spcAft>
                <a:spcPct val="40000"/>
              </a:spcAft>
              <a:buClr>
                <a:srgbClr val="66FF33"/>
              </a:buClr>
              <a:buSzPct val="85000"/>
              <a:buFont typeface="Wingdings" pitchFamily="2" charset="2"/>
              <a:buNone/>
              <a:defRPr/>
            </a:pPr>
            <a:r>
              <a:rPr lang="zh-CN" altLang="en-US" sz="3200" dirty="0">
                <a:solidFill>
                  <a:srgbClr val="CCFFCC"/>
                </a:solidFill>
                <a:effectLst>
                  <a:outerShdw blurRad="38100" dist="38100" dir="2700000" algn="tl">
                    <a:srgbClr val="000000"/>
                  </a:outerShdw>
                </a:effectLst>
                <a:latin typeface="楷体_GB2312" pitchFamily="49" charset="-122"/>
                <a:ea typeface="楷体_GB2312" pitchFamily="49" charset="-122"/>
              </a:rPr>
              <a:t>无损连接分解意为分解前的关系</a:t>
            </a:r>
            <a:r>
              <a:rPr lang="en-US"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r</a:t>
            </a:r>
            <a:r>
              <a:rPr lang="zh-CN" altLang="en-US" sz="3200" dirty="0">
                <a:solidFill>
                  <a:srgbClr val="CCFFCC"/>
                </a:solidFill>
                <a:effectLst>
                  <a:outerShdw blurRad="38100" dist="38100" dir="2700000" algn="tl">
                    <a:srgbClr val="000000"/>
                  </a:outerShdw>
                </a:effectLst>
                <a:latin typeface="楷体_GB2312" pitchFamily="49" charset="-122"/>
                <a:ea typeface="楷体_GB2312" pitchFamily="49" charset="-122"/>
              </a:rPr>
              <a:t>可以由分解后的各关系</a:t>
            </a:r>
            <a:r>
              <a:rPr lang="en-US"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a:t>
            </a:r>
            <a:r>
              <a:rPr lang="zh-CN" altLang="en-US" sz="3200" dirty="0">
                <a:solidFill>
                  <a:srgbClr val="CCFFCC"/>
                </a:solidFill>
                <a:effectLst>
                  <a:outerShdw blurRad="38100" dist="38100" dir="2700000" algn="tl">
                    <a:srgbClr val="000000"/>
                  </a:outerShdw>
                </a:effectLst>
                <a:latin typeface="楷体_GB2312" pitchFamily="49" charset="-122"/>
                <a:ea typeface="楷体_GB2312" pitchFamily="49" charset="-122"/>
              </a:rPr>
              <a:t>即</a:t>
            </a:r>
            <a:r>
              <a:rPr lang="en-US"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r</a:t>
            </a:r>
            <a:r>
              <a:rPr lang="zh-CN"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在U</a:t>
            </a:r>
            <a:r>
              <a:rPr lang="zh-CN" altLang="zh-CN" sz="3200" baseline="-25000" dirty="0">
                <a:solidFill>
                  <a:srgbClr val="CCFFCC"/>
                </a:solidFill>
                <a:effectLst>
                  <a:outerShdw blurRad="38100" dist="38100" dir="2700000" algn="tl">
                    <a:srgbClr val="000000"/>
                  </a:outerShdw>
                </a:effectLst>
                <a:latin typeface="楷体_GB2312" pitchFamily="49" charset="-122"/>
                <a:ea typeface="楷体_GB2312" pitchFamily="49" charset="-122"/>
              </a:rPr>
              <a:t>i</a:t>
            </a:r>
            <a:r>
              <a:rPr lang="zh-CN"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上</a:t>
            </a:r>
            <a:r>
              <a:rPr lang="zh-CN" altLang="en-US" sz="3200" dirty="0">
                <a:solidFill>
                  <a:srgbClr val="CCFFCC"/>
                </a:solidFill>
                <a:effectLst>
                  <a:outerShdw blurRad="38100" dist="38100" dir="2700000" algn="tl">
                    <a:srgbClr val="000000"/>
                  </a:outerShdw>
                </a:effectLst>
                <a:latin typeface="楷体_GB2312" pitchFamily="49" charset="-122"/>
                <a:ea typeface="楷体_GB2312" pitchFamily="49" charset="-122"/>
              </a:rPr>
              <a:t>的</a:t>
            </a:r>
            <a:r>
              <a:rPr lang="zh-CN"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投影</a:t>
            </a:r>
            <a:r>
              <a:rPr lang="zh-CN" altLang="en-US" sz="3200" dirty="0">
                <a:solidFill>
                  <a:srgbClr val="CCFFCC"/>
                </a:solidFill>
                <a:effectLst>
                  <a:outerShdw blurRad="38100" dist="38100" dir="2700000" algn="tl">
                    <a:srgbClr val="000000"/>
                  </a:outerShdw>
                </a:effectLst>
                <a:latin typeface="楷体_GB2312" pitchFamily="49" charset="-122"/>
                <a:ea typeface="楷体_GB2312" pitchFamily="49" charset="-122"/>
              </a:rPr>
              <a:t>)</a:t>
            </a:r>
            <a:r>
              <a:rPr lang="zh-CN"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自然连接</a:t>
            </a:r>
            <a:r>
              <a:rPr lang="zh-CN" altLang="en-US" sz="3200" dirty="0">
                <a:solidFill>
                  <a:srgbClr val="CCFFCC"/>
                </a:solidFill>
                <a:effectLst>
                  <a:outerShdw blurRad="38100" dist="38100" dir="2700000" algn="tl">
                    <a:srgbClr val="000000"/>
                  </a:outerShdw>
                </a:effectLst>
                <a:latin typeface="楷体_GB2312" pitchFamily="49" charset="-122"/>
                <a:ea typeface="楷体_GB2312" pitchFamily="49" charset="-122"/>
              </a:rPr>
              <a:t>而还原。</a:t>
            </a:r>
            <a:endParaRPr lang="en-US" altLang="zh-CN" sz="3200" dirty="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spTree>
  </p:cSld>
  <p:clrMapOvr>
    <a:masterClrMapping/>
  </p:clrMapOvr>
  <p:transition spd="slow">
    <p:push dir="r"/>
    <p:sndAc>
      <p:stSnd>
        <p:snd r:embed="rId2" name="arrow.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500" name="Rectangle 4"/>
          <p:cNvSpPr>
            <a:spLocks noGrp="1" noChangeArrowheads="1"/>
          </p:cNvSpPr>
          <p:nvPr>
            <p:ph type="title"/>
          </p:nvPr>
        </p:nvSpPr>
        <p:spPr>
          <a:xfrm>
            <a:off x="929308" y="21201"/>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分解的保持函数依赖性</a:t>
            </a:r>
          </a:p>
        </p:txBody>
      </p:sp>
      <p:sp>
        <p:nvSpPr>
          <p:cNvPr id="1514501" name="Rectangle 5"/>
          <p:cNvSpPr>
            <a:spLocks noChangeArrowheads="1"/>
          </p:cNvSpPr>
          <p:nvPr/>
        </p:nvSpPr>
        <p:spPr bwMode="auto">
          <a:xfrm>
            <a:off x="929308" y="5958680"/>
            <a:ext cx="8772525" cy="647700"/>
          </a:xfrm>
          <a:prstGeom prst="rect">
            <a:avLst/>
          </a:prstGeom>
          <a:noFill/>
          <a:ln w="9525">
            <a:noFill/>
            <a:miter lim="800000"/>
            <a:headEnd/>
            <a:tailEnd/>
          </a:ln>
          <a:effectLst/>
        </p:spPr>
        <p:txBody>
          <a:bodyPr/>
          <a:lstStyle/>
          <a:p>
            <a:pPr marL="358775" marR="0" lvl="0" indent="-358775"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	</a:t>
            </a:r>
            <a:r>
              <a:rPr kumimoji="0" lang="zh-CN"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保持函数依赖的分解可以减轻或解决各种异常</a:t>
            </a:r>
            <a:r>
              <a:rPr kumimoji="0" lang="zh-CN" altLang="en-US"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0" lang="en-US" altLang="zh-CN" sz="32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sp>
        <p:nvSpPr>
          <p:cNvPr id="1514502" name="Rectangle 6"/>
          <p:cNvSpPr>
            <a:spLocks noChangeArrowheads="1"/>
          </p:cNvSpPr>
          <p:nvPr/>
        </p:nvSpPr>
        <p:spPr bwMode="auto">
          <a:xfrm>
            <a:off x="929308" y="3852049"/>
            <a:ext cx="8178800" cy="576263"/>
          </a:xfrm>
          <a:prstGeom prst="rect">
            <a:avLst/>
          </a:prstGeom>
          <a:noFill/>
          <a:ln w="9525">
            <a:noFill/>
            <a:miter lim="800000"/>
            <a:headEnd/>
            <a:tailEnd/>
          </a:ln>
          <a:effectLst/>
        </p:spPr>
        <p:txBody>
          <a:bodyPr/>
          <a:lstStyle/>
          <a:p>
            <a:pPr marL="358775" marR="0" lvl="0" indent="-358775"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则称</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ρ</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是</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保持函数依赖</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的分解。</a:t>
            </a:r>
          </a:p>
        </p:txBody>
      </p:sp>
      <p:sp>
        <p:nvSpPr>
          <p:cNvPr id="1514503" name="Rectangle 7"/>
          <p:cNvSpPr>
            <a:spLocks noChangeArrowheads="1"/>
          </p:cNvSpPr>
          <p:nvPr/>
        </p:nvSpPr>
        <p:spPr bwMode="auto">
          <a:xfrm>
            <a:off x="929308" y="4628858"/>
            <a:ext cx="10132403" cy="1008062"/>
          </a:xfrm>
          <a:prstGeom prst="rect">
            <a:avLst/>
          </a:prstGeom>
          <a:noFill/>
          <a:ln w="9525">
            <a:noFill/>
            <a:miter lim="800000"/>
            <a:headEnd/>
            <a:tailEnd/>
          </a:ln>
          <a:effectLst/>
        </p:spPr>
        <p:txBody>
          <a:bodyPr/>
          <a:lstStyle/>
          <a:p>
            <a:pPr marL="0" marR="0" lvl="0" indent="0"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其中</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π</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Z</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表示</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在</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的一个属性子集</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Z</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上的</a:t>
            </a:r>
            <a:r>
              <a:rPr kumimoji="0" lang="zh-CN" altLang="en-US" sz="3200"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投影</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，其定义为：</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π</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Z</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(F)={X</a:t>
            </a:r>
            <a:r>
              <a:rPr kumimoji="0" lang="en-US"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Y|(X</a:t>
            </a:r>
            <a:r>
              <a:rPr kumimoji="0" lang="en-US"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Y)</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0" lang="en-US" altLang="zh-CN" sz="32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 </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且 </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XY</a:t>
            </a:r>
            <a:r>
              <a:rPr kumimoji="1" lang="zh-CN"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sym typeface="Symbol" pitchFamily="18" charset="2"/>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Z</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p:txBody>
      </p:sp>
      <p:grpSp>
        <p:nvGrpSpPr>
          <p:cNvPr id="53256" name="Group 8"/>
          <p:cNvGrpSpPr>
            <a:grpSpLocks/>
          </p:cNvGrpSpPr>
          <p:nvPr/>
        </p:nvGrpSpPr>
        <p:grpSpPr bwMode="auto">
          <a:xfrm>
            <a:off x="3791744" y="2597148"/>
            <a:ext cx="3933828" cy="1155702"/>
            <a:chOff x="-94" y="1679"/>
            <a:chExt cx="2478" cy="728"/>
          </a:xfrm>
        </p:grpSpPr>
        <p:grpSp>
          <p:nvGrpSpPr>
            <p:cNvPr id="53257" name="Group 9"/>
            <p:cNvGrpSpPr>
              <a:grpSpLocks/>
            </p:cNvGrpSpPr>
            <p:nvPr/>
          </p:nvGrpSpPr>
          <p:grpSpPr bwMode="auto">
            <a:xfrm>
              <a:off x="844" y="1679"/>
              <a:ext cx="414" cy="728"/>
              <a:chOff x="2501" y="2018"/>
              <a:chExt cx="414" cy="728"/>
            </a:xfrm>
          </p:grpSpPr>
          <p:sp>
            <p:nvSpPr>
              <p:cNvPr id="1514506" name="Rectangle 10"/>
              <p:cNvSpPr>
                <a:spLocks noChangeArrowheads="1"/>
              </p:cNvSpPr>
              <p:nvPr/>
            </p:nvSpPr>
            <p:spPr bwMode="auto">
              <a:xfrm>
                <a:off x="2501" y="2165"/>
                <a:ext cx="355" cy="427"/>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zh-CN" altLang="en-US" sz="44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p>
            </p:txBody>
          </p:sp>
          <p:sp>
            <p:nvSpPr>
              <p:cNvPr id="1514507" name="Rectangle 11"/>
              <p:cNvSpPr>
                <a:spLocks noChangeArrowheads="1"/>
              </p:cNvSpPr>
              <p:nvPr/>
            </p:nvSpPr>
            <p:spPr bwMode="auto">
              <a:xfrm>
                <a:off x="2536" y="2475"/>
                <a:ext cx="379" cy="271"/>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2800" b="1" i="0" u="none" strike="noStrike" kern="1200" cap="none" spc="0" normalizeH="0" baseline="0" noProof="0" dirty="0" err="1">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i</a:t>
                </a:r>
                <a:r>
                  <a:rPr kumimoji="0" lang="en-US" altLang="zh-CN" sz="28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=1</a:t>
                </a:r>
              </a:p>
            </p:txBody>
          </p:sp>
          <p:sp>
            <p:nvSpPr>
              <p:cNvPr id="1514508" name="Rectangle 12"/>
              <p:cNvSpPr>
                <a:spLocks noChangeArrowheads="1"/>
              </p:cNvSpPr>
              <p:nvPr/>
            </p:nvSpPr>
            <p:spPr bwMode="auto">
              <a:xfrm>
                <a:off x="2606" y="2018"/>
                <a:ext cx="135" cy="271"/>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2800" b="1"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k</a:t>
                </a:r>
              </a:p>
            </p:txBody>
          </p:sp>
        </p:grpSp>
        <p:sp>
          <p:nvSpPr>
            <p:cNvPr id="1514509" name="Rectangle 13"/>
            <p:cNvSpPr>
              <a:spLocks noChangeArrowheads="1"/>
            </p:cNvSpPr>
            <p:nvPr/>
          </p:nvSpPr>
          <p:spPr bwMode="auto">
            <a:xfrm>
              <a:off x="-94" y="1786"/>
              <a:ext cx="988" cy="465"/>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4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r>
                <a:rPr kumimoji="0" lang="en-US" altLang="zh-CN" sz="40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en-US" altLang="zh-CN" sz="4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 = </a:t>
              </a:r>
              <a:r>
                <a:rPr kumimoji="0" lang="en-US" altLang="zh-CN" sz="48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en-US" altLang="zh-CN" sz="4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 </a:t>
              </a:r>
            </a:p>
          </p:txBody>
        </p:sp>
        <p:sp>
          <p:nvSpPr>
            <p:cNvPr id="1514510" name="Rectangle 14"/>
            <p:cNvSpPr>
              <a:spLocks noChangeArrowheads="1"/>
            </p:cNvSpPr>
            <p:nvPr/>
          </p:nvSpPr>
          <p:spPr bwMode="auto">
            <a:xfrm>
              <a:off x="1248" y="1792"/>
              <a:ext cx="1136" cy="427"/>
            </a:xfrm>
            <a:prstGeom prst="rect">
              <a:avLst/>
            </a:prstGeom>
            <a:noFill/>
            <a:ln w="12700" cap="sq" algn="ctr">
              <a:noFill/>
              <a:miter lim="800000"/>
              <a:headEnd/>
              <a:tailEnd/>
            </a:ln>
            <a:effectLst/>
          </p:spPr>
          <p:txBody>
            <a:bodyPr wrap="squar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4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π  </a:t>
              </a:r>
              <a:r>
                <a:rPr kumimoji="0" lang="en-US" altLang="zh-CN" sz="40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(F)</a:t>
              </a:r>
            </a:p>
          </p:txBody>
        </p:sp>
        <p:sp>
          <p:nvSpPr>
            <p:cNvPr id="1514511" name="Rectangle 15"/>
            <p:cNvSpPr>
              <a:spLocks noChangeArrowheads="1"/>
            </p:cNvSpPr>
            <p:nvPr/>
          </p:nvSpPr>
          <p:spPr bwMode="auto">
            <a:xfrm>
              <a:off x="1489" y="1981"/>
              <a:ext cx="244" cy="310"/>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U</a:t>
              </a:r>
              <a:r>
                <a:rPr kumimoji="0" lang="en-US" altLang="zh-CN" sz="3600" b="0" i="0" u="none" strike="noStrike" kern="1200" cap="none" spc="0" normalizeH="0" baseline="-2500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i</a:t>
              </a:r>
              <a:endParaRPr kumimoji="0" lang="zh-CN" altLang="en-US" sz="3600" b="0" i="0" u="none" strike="noStrike" kern="1200" cap="none" spc="0" normalizeH="0" baseline="-2500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sp>
          <p:nvSpPr>
            <p:cNvPr id="1514512" name="Rectangle 16"/>
            <p:cNvSpPr>
              <a:spLocks noChangeArrowheads="1"/>
            </p:cNvSpPr>
            <p:nvPr/>
          </p:nvSpPr>
          <p:spPr bwMode="auto">
            <a:xfrm>
              <a:off x="2114" y="1778"/>
              <a:ext cx="129" cy="465"/>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48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0" lang="zh-CN" altLang="en-US" sz="4000" b="0" i="0" u="none" strike="noStrike" kern="1200" cap="none" spc="0" normalizeH="0" baseline="3000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sp>
          <p:nvSpPr>
            <p:cNvPr id="1514513" name="Rectangle 17"/>
            <p:cNvSpPr>
              <a:spLocks noChangeArrowheads="1"/>
            </p:cNvSpPr>
            <p:nvPr/>
          </p:nvSpPr>
          <p:spPr bwMode="auto">
            <a:xfrm>
              <a:off x="2185" y="1688"/>
              <a:ext cx="192" cy="310"/>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grpSp>
      <p:sp>
        <p:nvSpPr>
          <p:cNvPr id="50" name="Rectangle 3">
            <a:extLst>
              <a:ext uri="{FF2B5EF4-FFF2-40B4-BE49-F238E27FC236}">
                <a16:creationId xmlns:a16="http://schemas.microsoft.com/office/drawing/2014/main" id="{ACB6747B-657A-4CD2-874F-BA90CAC53175}"/>
              </a:ext>
            </a:extLst>
          </p:cNvPr>
          <p:cNvSpPr txBox="1">
            <a:spLocks noChangeArrowheads="1"/>
          </p:cNvSpPr>
          <p:nvPr/>
        </p:nvSpPr>
        <p:spPr bwMode="auto">
          <a:xfrm>
            <a:off x="552004" y="899320"/>
            <a:ext cx="10944595" cy="2016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8775" marR="0" lvl="0" indent="-358775" algn="just" defTabSz="914400" rtl="0" eaLnBrk="0" fontAlgn="base" latinLnBrk="0" hangingPunct="0">
              <a:lnSpc>
                <a:spcPct val="115000"/>
              </a:lnSpc>
              <a:spcBef>
                <a:spcPct val="0"/>
              </a:spcBef>
              <a:spcAft>
                <a:spcPct val="40000"/>
              </a:spcAft>
              <a:buClr>
                <a:srgbClr val="66FF33"/>
              </a:buClr>
              <a:buSzPct val="85000"/>
              <a:buFont typeface="Wingdings" pitchFamily="2" charset="2"/>
              <a:buBlip>
                <a:blip r:embed="rId3"/>
              </a:buBlip>
              <a:tabLst/>
              <a:defRPr/>
            </a:pPr>
            <a:r>
              <a:rPr kumimoji="0" lang="zh-CN" altLang="en-US"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设</a:t>
            </a:r>
            <a:r>
              <a:rPr kumimoji="0" lang="en-US" altLang="zh-CN" b="0" i="1"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ρ</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={R</a:t>
            </a:r>
            <a:r>
              <a:rPr kumimoji="0" lang="en-US" altLang="zh-CN" b="0" i="0" u="none" strike="noStrike" kern="0" cap="none" spc="0" normalizeH="0" baseline="-30000" noProof="0">
                <a:ln>
                  <a:noFill/>
                </a:ln>
                <a:solidFill>
                  <a:srgbClr val="CCFFCC"/>
                </a:solidFill>
                <a:effectLst>
                  <a:outerShdw blurRad="38100" dist="38100" dir="2700000" algn="tl">
                    <a:srgbClr val="000000"/>
                  </a:outerShdw>
                </a:effectLst>
                <a:uLnTx/>
                <a:uFillTx/>
                <a:latin typeface="+mn-ea"/>
                <a:cs typeface="+mn-cs"/>
              </a:rPr>
              <a:t>1</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(U</a:t>
            </a:r>
            <a:r>
              <a:rPr kumimoji="0" lang="en-US" altLang="zh-CN" b="0" i="0" u="none" strike="noStrike" kern="0" cap="none" spc="0" normalizeH="0" baseline="-30000" noProof="0">
                <a:ln>
                  <a:noFill/>
                </a:ln>
                <a:solidFill>
                  <a:srgbClr val="CCFFCC"/>
                </a:solidFill>
                <a:effectLst>
                  <a:outerShdw blurRad="38100" dist="38100" dir="2700000" algn="tl">
                    <a:srgbClr val="000000"/>
                  </a:outerShdw>
                </a:effectLst>
                <a:uLnTx/>
                <a:uFillTx/>
                <a:latin typeface="+mn-ea"/>
                <a:cs typeface="+mn-cs"/>
              </a:rPr>
              <a:t>1</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),R</a:t>
            </a:r>
            <a:r>
              <a:rPr kumimoji="0" lang="en-US" altLang="zh-CN" b="0" i="0" u="none" strike="noStrike" kern="0" cap="none" spc="0" normalizeH="0" baseline="-30000" noProof="0">
                <a:ln>
                  <a:noFill/>
                </a:ln>
                <a:solidFill>
                  <a:srgbClr val="CCFFCC"/>
                </a:solidFill>
                <a:effectLst>
                  <a:outerShdw blurRad="38100" dist="38100" dir="2700000" algn="tl">
                    <a:srgbClr val="000000"/>
                  </a:outerShdw>
                </a:effectLst>
                <a:uLnTx/>
                <a:uFillTx/>
                <a:latin typeface="+mn-ea"/>
                <a:cs typeface="+mn-cs"/>
              </a:rPr>
              <a:t>2</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(U</a:t>
            </a:r>
            <a:r>
              <a:rPr kumimoji="0" lang="en-US" altLang="zh-CN" b="0" i="0" u="none" strike="noStrike" kern="0" cap="none" spc="0" normalizeH="0" baseline="-30000" noProof="0">
                <a:ln>
                  <a:noFill/>
                </a:ln>
                <a:solidFill>
                  <a:srgbClr val="CCFFCC"/>
                </a:solidFill>
                <a:effectLst>
                  <a:outerShdw blurRad="38100" dist="38100" dir="2700000" algn="tl">
                    <a:srgbClr val="000000"/>
                  </a:outerShdw>
                </a:effectLst>
                <a:uLnTx/>
                <a:uFillTx/>
                <a:latin typeface="+mn-ea"/>
                <a:cs typeface="+mn-cs"/>
              </a:rPr>
              <a:t>2</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),…,R</a:t>
            </a:r>
            <a:r>
              <a:rPr kumimoji="0" lang="en-US" altLang="zh-CN" b="0" i="0" u="none" strike="noStrike" kern="0" cap="none" spc="0" normalizeH="0" baseline="-30000" noProof="0">
                <a:ln>
                  <a:noFill/>
                </a:ln>
                <a:solidFill>
                  <a:srgbClr val="CCFFCC"/>
                </a:solidFill>
                <a:effectLst>
                  <a:outerShdw blurRad="38100" dist="38100" dir="2700000" algn="tl">
                    <a:srgbClr val="000000"/>
                  </a:outerShdw>
                </a:effectLst>
                <a:uLnTx/>
                <a:uFillTx/>
                <a:latin typeface="+mn-ea"/>
                <a:cs typeface="+mn-cs"/>
              </a:rPr>
              <a:t>k</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(U</a:t>
            </a:r>
            <a:r>
              <a:rPr kumimoji="0" lang="en-US" altLang="zh-CN" b="0" i="0" u="none" strike="noStrike" kern="0" cap="none" spc="0" normalizeH="0" baseline="-30000" noProof="0">
                <a:ln>
                  <a:noFill/>
                </a:ln>
                <a:solidFill>
                  <a:srgbClr val="CCFFCC"/>
                </a:solidFill>
                <a:effectLst>
                  <a:outerShdw blurRad="38100" dist="38100" dir="2700000" algn="tl">
                    <a:srgbClr val="000000"/>
                  </a:outerShdw>
                </a:effectLst>
                <a:uLnTx/>
                <a:uFillTx/>
                <a:latin typeface="+mn-ea"/>
                <a:cs typeface="+mn-cs"/>
              </a:rPr>
              <a:t>k</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a:t>
            </a:r>
            <a:r>
              <a:rPr kumimoji="0" lang="zh-CN" altLang="en-US"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是关系模式</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R(U,F)</a:t>
            </a:r>
            <a:r>
              <a:rPr kumimoji="0" lang="zh-CN" altLang="en-US"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的一个分解，如果</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F</a:t>
            </a:r>
            <a:r>
              <a:rPr kumimoji="0" lang="zh-CN" altLang="en-US"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所蕴含的函数依赖一定也可以由所有</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F</a:t>
            </a:r>
            <a:r>
              <a:rPr kumimoji="0" lang="zh-CN" altLang="en-US"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在</a:t>
            </a:r>
            <a:r>
              <a:rPr kumimoji="0" lang="en-US" altLang="zh-CN"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U</a:t>
            </a:r>
            <a:r>
              <a:rPr kumimoji="0" lang="en-US" altLang="zh-CN" b="0" i="0" u="none" strike="noStrike" kern="0" cap="none" spc="0" normalizeH="0" baseline="-25000" noProof="0">
                <a:ln>
                  <a:noFill/>
                </a:ln>
                <a:solidFill>
                  <a:srgbClr val="CCFFCC"/>
                </a:solidFill>
                <a:effectLst>
                  <a:outerShdw blurRad="38100" dist="38100" dir="2700000" algn="tl">
                    <a:srgbClr val="000000"/>
                  </a:outerShdw>
                </a:effectLst>
                <a:uLnTx/>
                <a:uFillTx/>
                <a:latin typeface="+mn-ea"/>
                <a:cs typeface="+mn-cs"/>
              </a:rPr>
              <a:t>i</a:t>
            </a:r>
            <a:r>
              <a:rPr kumimoji="0" lang="zh-CN" altLang="en-US"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上的投影所逻辑蕴含，即：</a:t>
            </a:r>
          </a:p>
          <a:p>
            <a:pPr marL="358775" marR="0" lvl="0" indent="-358775" algn="just" defTabSz="914400" rtl="0" eaLnBrk="0" fontAlgn="base" latinLnBrk="0" hangingPunct="0">
              <a:lnSpc>
                <a:spcPct val="115000"/>
              </a:lnSpc>
              <a:spcBef>
                <a:spcPct val="0"/>
              </a:spcBef>
              <a:spcAft>
                <a:spcPct val="40000"/>
              </a:spcAft>
              <a:buClr>
                <a:srgbClr val="66FF33"/>
              </a:buClr>
              <a:buSzPct val="85000"/>
              <a:buFont typeface="Wingdings" pitchFamily="2" charset="2"/>
              <a:buNone/>
              <a:tabLst/>
              <a:defRPr/>
            </a:pPr>
            <a:r>
              <a:rPr kumimoji="0" lang="zh-CN" altLang="en-US" b="0" i="0" u="none" strike="noStrike" kern="0" cap="none" spc="0" normalizeH="0" baseline="0" noProof="0">
                <a:ln>
                  <a:noFill/>
                </a:ln>
                <a:solidFill>
                  <a:srgbClr val="CCFFCC"/>
                </a:solidFill>
                <a:effectLst>
                  <a:outerShdw blurRad="38100" dist="38100" dir="2700000" algn="tl">
                    <a:srgbClr val="000000"/>
                  </a:outerShdw>
                </a:effectLst>
                <a:uLnTx/>
                <a:uFillTx/>
                <a:latin typeface="+mn-ea"/>
                <a:cs typeface="+mn-cs"/>
              </a:rPr>
              <a:t>	</a:t>
            </a:r>
            <a:endPar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mn-ea"/>
              <a:cs typeface="+mn-cs"/>
            </a:endParaRPr>
          </a:p>
        </p:txBody>
      </p:sp>
    </p:spTree>
  </p:cSld>
  <p:clrMapOvr>
    <a:masterClrMapping/>
  </p:clrMapOvr>
  <p:transition spd="slow">
    <p:push dir="d"/>
    <p:sndAc>
      <p:stSnd>
        <p:snd r:embed="rId2" name="arrow.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19336" y="908720"/>
            <a:ext cx="11967485" cy="1438781"/>
          </a:xfrm>
          <a:prstGeom prst="rect">
            <a:avLst/>
          </a:prstGeom>
        </p:spPr>
      </p:pic>
      <p:pic>
        <p:nvPicPr>
          <p:cNvPr id="5" name="图片 4"/>
          <p:cNvPicPr>
            <a:picLocks noChangeAspect="1"/>
          </p:cNvPicPr>
          <p:nvPr/>
        </p:nvPicPr>
        <p:blipFill>
          <a:blip r:embed="rId4"/>
          <a:stretch>
            <a:fillRect/>
          </a:stretch>
        </p:blipFill>
        <p:spPr>
          <a:xfrm>
            <a:off x="191344" y="2636912"/>
            <a:ext cx="10473836" cy="3846909"/>
          </a:xfrm>
          <a:prstGeom prst="rect">
            <a:avLst/>
          </a:prstGeom>
        </p:spPr>
      </p:pic>
    </p:spTree>
    <p:extLst>
      <p:ext uri="{BB962C8B-B14F-4D97-AF65-F5344CB8AC3E}">
        <p14:creationId xmlns:p14="http://schemas.microsoft.com/office/powerpoint/2010/main" val="973282857"/>
      </p:ext>
    </p:extLst>
  </p:cSld>
  <p:clrMapOvr>
    <a:masterClrMapping/>
  </p:clrMapOvr>
  <p:transition spd="slow">
    <p:wipe dir="r"/>
    <p:sndAc>
      <p:stSnd>
        <p:snd r:embed="rId2" name="arrow.wav"/>
      </p:stSnd>
    </p:sndAc>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91344" y="1916832"/>
            <a:ext cx="11930906" cy="2231329"/>
          </a:xfrm>
          <a:prstGeom prst="rect">
            <a:avLst/>
          </a:prstGeom>
        </p:spPr>
      </p:pic>
    </p:spTree>
    <p:extLst>
      <p:ext uri="{BB962C8B-B14F-4D97-AF65-F5344CB8AC3E}">
        <p14:creationId xmlns:p14="http://schemas.microsoft.com/office/powerpoint/2010/main" val="2506337127"/>
      </p:ext>
    </p:extLst>
  </p:cSld>
  <p:clrMapOvr>
    <a:masterClrMapping/>
  </p:clrMapOvr>
  <p:transition spd="slow">
    <p:wipe dir="r"/>
    <p:sndAc>
      <p:stSnd>
        <p:snd r:embed="rId2" name="arrow.wav"/>
      </p:stSnd>
    </p:sndAc>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分解案例</a:t>
            </a:r>
          </a:p>
        </p:txBody>
      </p:sp>
      <p:graphicFrame>
        <p:nvGraphicFramePr>
          <p:cNvPr id="1515524" name="Group 4"/>
          <p:cNvGraphicFramePr>
            <a:graphicFrameLocks noGrp="1"/>
          </p:cNvGraphicFramePr>
          <p:nvPr>
            <p:extLst>
              <p:ext uri="{D42A27DB-BD31-4B8C-83A1-F6EECF244321}">
                <p14:modId xmlns:p14="http://schemas.microsoft.com/office/powerpoint/2010/main" val="2300358174"/>
              </p:ext>
            </p:extLst>
          </p:nvPr>
        </p:nvGraphicFramePr>
        <p:xfrm>
          <a:off x="5057775" y="1359195"/>
          <a:ext cx="1136320" cy="3140000"/>
        </p:xfrm>
        <a:graphic>
          <a:graphicData uri="http://schemas.openxmlformats.org/drawingml/2006/table">
            <a:tbl>
              <a:tblPr/>
              <a:tblGrid>
                <a:gridCol w="1136320">
                  <a:extLst>
                    <a:ext uri="{9D8B030D-6E8A-4147-A177-3AD203B41FA5}">
                      <a16:colId xmlns:a16="http://schemas.microsoft.com/office/drawing/2014/main" val="20000"/>
                    </a:ext>
                  </a:extLst>
                </a:gridCol>
              </a:tblGrid>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25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5546" name="Rectangle 26"/>
          <p:cNvSpPr>
            <a:spLocks noChangeArrowheads="1"/>
          </p:cNvSpPr>
          <p:nvPr/>
        </p:nvSpPr>
        <p:spPr bwMode="auto">
          <a:xfrm>
            <a:off x="5507507" y="920180"/>
            <a:ext cx="171522"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S</a:t>
            </a:r>
          </a:p>
        </p:txBody>
      </p:sp>
      <p:graphicFrame>
        <p:nvGraphicFramePr>
          <p:cNvPr id="1515547" name="Group 27"/>
          <p:cNvGraphicFramePr>
            <a:graphicFrameLocks noGrp="1"/>
          </p:cNvGraphicFramePr>
          <p:nvPr>
            <p:extLst>
              <p:ext uri="{D42A27DB-BD31-4B8C-83A1-F6EECF244321}">
                <p14:modId xmlns:p14="http://schemas.microsoft.com/office/powerpoint/2010/main" val="185252914"/>
              </p:ext>
            </p:extLst>
          </p:nvPr>
        </p:nvGraphicFramePr>
        <p:xfrm>
          <a:off x="7090094" y="1328925"/>
          <a:ext cx="1285876" cy="1637984"/>
        </p:xfrm>
        <a:graphic>
          <a:graphicData uri="http://schemas.openxmlformats.org/drawingml/2006/table">
            <a:tbl>
              <a:tblPr/>
              <a:tblGrid>
                <a:gridCol w="1285876">
                  <a:extLst>
                    <a:ext uri="{9D8B030D-6E8A-4147-A177-3AD203B41FA5}">
                      <a16:colId xmlns:a16="http://schemas.microsoft.com/office/drawing/2014/main" val="20000"/>
                    </a:ext>
                  </a:extLst>
                </a:gridCol>
              </a:tblGrid>
              <a:tr h="40949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949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949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949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15565" name="Rectangle 45"/>
          <p:cNvSpPr>
            <a:spLocks noChangeArrowheads="1"/>
          </p:cNvSpPr>
          <p:nvPr/>
        </p:nvSpPr>
        <p:spPr bwMode="auto">
          <a:xfrm>
            <a:off x="7617366" y="923874"/>
            <a:ext cx="222818"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D</a:t>
            </a:r>
          </a:p>
        </p:txBody>
      </p:sp>
      <p:graphicFrame>
        <p:nvGraphicFramePr>
          <p:cNvPr id="1515566" name="Group 46"/>
          <p:cNvGraphicFramePr>
            <a:graphicFrameLocks noGrp="1"/>
          </p:cNvGraphicFramePr>
          <p:nvPr>
            <p:extLst>
              <p:ext uri="{D42A27DB-BD31-4B8C-83A1-F6EECF244321}">
                <p14:modId xmlns:p14="http://schemas.microsoft.com/office/powerpoint/2010/main" val="3429502139"/>
              </p:ext>
            </p:extLst>
          </p:nvPr>
        </p:nvGraphicFramePr>
        <p:xfrm>
          <a:off x="9118273" y="1359195"/>
          <a:ext cx="1611640" cy="1249608"/>
        </p:xfrm>
        <a:graphic>
          <a:graphicData uri="http://schemas.openxmlformats.org/drawingml/2006/table">
            <a:tbl>
              <a:tblPr/>
              <a:tblGrid>
                <a:gridCol w="1611640">
                  <a:extLst>
                    <a:ext uri="{9D8B030D-6E8A-4147-A177-3AD203B41FA5}">
                      <a16:colId xmlns:a16="http://schemas.microsoft.com/office/drawing/2014/main" val="20000"/>
                    </a:ext>
                  </a:extLst>
                </a:gridCol>
              </a:tblGrid>
              <a:tr h="41653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653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653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515578" name="Rectangle 58"/>
          <p:cNvSpPr>
            <a:spLocks noChangeArrowheads="1"/>
          </p:cNvSpPr>
          <p:nvPr/>
        </p:nvSpPr>
        <p:spPr bwMode="auto">
          <a:xfrm>
            <a:off x="9787036" y="936689"/>
            <a:ext cx="274114"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M</a:t>
            </a:r>
          </a:p>
        </p:txBody>
      </p:sp>
      <p:sp>
        <p:nvSpPr>
          <p:cNvPr id="1515579" name="Rectangle 59"/>
          <p:cNvSpPr>
            <a:spLocks noChangeArrowheads="1"/>
          </p:cNvSpPr>
          <p:nvPr/>
        </p:nvSpPr>
        <p:spPr bwMode="auto">
          <a:xfrm>
            <a:off x="5275609" y="4678680"/>
            <a:ext cx="785812" cy="406400"/>
          </a:xfrm>
          <a:prstGeom prst="rect">
            <a:avLst/>
          </a:prstGeom>
          <a:solidFill>
            <a:srgbClr val="0000FF"/>
          </a:solidFill>
          <a:ln w="12700" cap="sq">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姓名</a:t>
            </a:r>
          </a:p>
        </p:txBody>
      </p:sp>
      <p:sp>
        <p:nvSpPr>
          <p:cNvPr id="1515580" name="Rectangle 60"/>
          <p:cNvSpPr>
            <a:spLocks noChangeArrowheads="1"/>
          </p:cNvSpPr>
          <p:nvPr/>
        </p:nvSpPr>
        <p:spPr bwMode="auto">
          <a:xfrm>
            <a:off x="7387751" y="3111771"/>
            <a:ext cx="785813" cy="406400"/>
          </a:xfrm>
          <a:prstGeom prst="rect">
            <a:avLst/>
          </a:prstGeom>
          <a:solidFill>
            <a:srgbClr val="0000FF"/>
          </a:solidFill>
          <a:ln w="12700" cap="sq">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系名</a:t>
            </a:r>
          </a:p>
        </p:txBody>
      </p:sp>
      <p:sp>
        <p:nvSpPr>
          <p:cNvPr id="1515581" name="Rectangle 61"/>
          <p:cNvSpPr>
            <a:spLocks noChangeArrowheads="1"/>
          </p:cNvSpPr>
          <p:nvPr/>
        </p:nvSpPr>
        <p:spPr bwMode="auto">
          <a:xfrm>
            <a:off x="9415299" y="2791965"/>
            <a:ext cx="1017587" cy="406400"/>
          </a:xfrm>
          <a:prstGeom prst="rect">
            <a:avLst/>
          </a:prstGeom>
          <a:solidFill>
            <a:srgbClr val="0000FF"/>
          </a:solidFill>
          <a:ln w="12700" cap="sq">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系主任</a:t>
            </a:r>
          </a:p>
        </p:txBody>
      </p:sp>
      <p:sp>
        <p:nvSpPr>
          <p:cNvPr id="1515582" name="Rectangle 62"/>
          <p:cNvSpPr>
            <a:spLocks noChangeArrowheads="1"/>
          </p:cNvSpPr>
          <p:nvPr/>
        </p:nvSpPr>
        <p:spPr bwMode="auto">
          <a:xfrm>
            <a:off x="623392" y="1377669"/>
            <a:ext cx="3277095" cy="4793704"/>
          </a:xfrm>
          <a:prstGeom prst="rect">
            <a:avLst/>
          </a:prstGeom>
          <a:solidFill>
            <a:srgbClr val="EBEBFF"/>
          </a:solidFill>
          <a:ln w="12700" cap="sq">
            <a:solidFill>
              <a:srgbClr val="FF99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15583" name="Rectangle 63"/>
          <p:cNvSpPr>
            <a:spLocks noChangeArrowheads="1"/>
          </p:cNvSpPr>
          <p:nvPr/>
        </p:nvSpPr>
        <p:spPr bwMode="auto">
          <a:xfrm>
            <a:off x="1206196" y="1426253"/>
            <a:ext cx="1928280" cy="430887"/>
          </a:xfrm>
          <a:prstGeom prst="rect">
            <a:avLst/>
          </a:prstGeom>
          <a:noFill/>
          <a:ln w="12700" cap="sq">
            <a:noFill/>
            <a:miter lim="800000"/>
            <a:headEnd/>
            <a:tailEnd/>
          </a:ln>
          <a:effectLst/>
        </p:spPr>
        <p:txBody>
          <a:bodyPr wrap="squar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SDM∈2NF</a:t>
            </a:r>
          </a:p>
        </p:txBody>
      </p:sp>
      <p:graphicFrame>
        <p:nvGraphicFramePr>
          <p:cNvPr id="1515584" name="Group 64"/>
          <p:cNvGraphicFramePr>
            <a:graphicFrameLocks noGrp="1"/>
          </p:cNvGraphicFramePr>
          <p:nvPr>
            <p:extLst>
              <p:ext uri="{D42A27DB-BD31-4B8C-83A1-F6EECF244321}">
                <p14:modId xmlns:p14="http://schemas.microsoft.com/office/powerpoint/2010/main" val="3885592223"/>
              </p:ext>
            </p:extLst>
          </p:nvPr>
        </p:nvGraphicFramePr>
        <p:xfrm>
          <a:off x="876718" y="1955800"/>
          <a:ext cx="2795169" cy="2926080"/>
        </p:xfrm>
        <a:graphic>
          <a:graphicData uri="http://schemas.openxmlformats.org/drawingml/2006/table">
            <a:tbl>
              <a:tblPr/>
              <a:tblGrid>
                <a:gridCol w="867466">
                  <a:extLst>
                    <a:ext uri="{9D8B030D-6E8A-4147-A177-3AD203B41FA5}">
                      <a16:colId xmlns:a16="http://schemas.microsoft.com/office/drawing/2014/main" val="20000"/>
                    </a:ext>
                  </a:extLst>
                </a:gridCol>
                <a:gridCol w="867466">
                  <a:extLst>
                    <a:ext uri="{9D8B030D-6E8A-4147-A177-3AD203B41FA5}">
                      <a16:colId xmlns:a16="http://schemas.microsoft.com/office/drawing/2014/main" val="20001"/>
                    </a:ext>
                  </a:extLst>
                </a:gridCol>
                <a:gridCol w="1060237">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5624" name="Rectangle 104"/>
          <p:cNvSpPr>
            <a:spLocks noChangeArrowheads="1"/>
          </p:cNvSpPr>
          <p:nvPr/>
        </p:nvSpPr>
        <p:spPr bwMode="auto">
          <a:xfrm>
            <a:off x="2530865" y="5019897"/>
            <a:ext cx="993971"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姓名</a:t>
            </a:r>
          </a:p>
        </p:txBody>
      </p:sp>
      <p:sp>
        <p:nvSpPr>
          <p:cNvPr id="1515625" name="Rectangle 105"/>
          <p:cNvSpPr>
            <a:spLocks noChangeArrowheads="1"/>
          </p:cNvSpPr>
          <p:nvPr/>
        </p:nvSpPr>
        <p:spPr bwMode="auto">
          <a:xfrm>
            <a:off x="1092030" y="5019897"/>
            <a:ext cx="993972"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sp>
        <p:nvSpPr>
          <p:cNvPr id="1515626" name="Rectangle 106"/>
          <p:cNvSpPr>
            <a:spLocks noChangeArrowheads="1"/>
          </p:cNvSpPr>
          <p:nvPr/>
        </p:nvSpPr>
        <p:spPr bwMode="auto">
          <a:xfrm>
            <a:off x="997650" y="5664200"/>
            <a:ext cx="1172686"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54359" name="AutoShape 107"/>
          <p:cNvCxnSpPr>
            <a:cxnSpLocks noChangeShapeType="1"/>
            <a:stCxn id="1515624" idx="1"/>
            <a:endCxn id="1515625" idx="3"/>
          </p:cNvCxnSpPr>
          <p:nvPr/>
        </p:nvCxnSpPr>
        <p:spPr bwMode="auto">
          <a:xfrm flipH="1">
            <a:off x="2086002" y="5184997"/>
            <a:ext cx="444863"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4360" name="AutoShape 108"/>
          <p:cNvCxnSpPr>
            <a:cxnSpLocks noChangeShapeType="1"/>
            <a:stCxn id="1515625" idx="2"/>
            <a:endCxn id="1515626" idx="0"/>
          </p:cNvCxnSpPr>
          <p:nvPr/>
        </p:nvCxnSpPr>
        <p:spPr bwMode="auto">
          <a:xfrm flipH="1">
            <a:off x="1583993" y="5350097"/>
            <a:ext cx="5023" cy="314103"/>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54361" name="Group 109"/>
          <p:cNvGrpSpPr>
            <a:grpSpLocks/>
          </p:cNvGrpSpPr>
          <p:nvPr/>
        </p:nvGrpSpPr>
        <p:grpSpPr bwMode="auto">
          <a:xfrm>
            <a:off x="7090094" y="4282508"/>
            <a:ext cx="4267200" cy="381000"/>
            <a:chOff x="2447" y="2692"/>
            <a:chExt cx="2688" cy="240"/>
          </a:xfrm>
        </p:grpSpPr>
        <p:sp>
          <p:nvSpPr>
            <p:cNvPr id="1515630" name="Rectangle 110"/>
            <p:cNvSpPr>
              <a:spLocks noChangeArrowheads="1"/>
            </p:cNvSpPr>
            <p:nvPr/>
          </p:nvSpPr>
          <p:spPr bwMode="auto">
            <a:xfrm>
              <a:off x="2447" y="2692"/>
              <a:ext cx="2688" cy="24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S  </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D      M</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有0个元组</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不具有无损连接性</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丢失了所有的函数依赖</a:t>
              </a:r>
            </a:p>
          </p:txBody>
        </p:sp>
        <p:sp>
          <p:nvSpPr>
            <p:cNvPr id="1515631" name="Freeform 111"/>
            <p:cNvSpPr>
              <a:spLocks/>
            </p:cNvSpPr>
            <p:nvPr/>
          </p:nvSpPr>
          <p:spPr bwMode="auto">
            <a:xfrm>
              <a:off x="2689" y="2782"/>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15632" name="Freeform 112"/>
            <p:cNvSpPr>
              <a:spLocks/>
            </p:cNvSpPr>
            <p:nvPr/>
          </p:nvSpPr>
          <p:spPr bwMode="auto">
            <a:xfrm>
              <a:off x="3246" y="2782"/>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515633" name="Rectangle 113"/>
          <p:cNvSpPr>
            <a:spLocks noChangeArrowheads="1"/>
          </p:cNvSpPr>
          <p:nvPr/>
        </p:nvSpPr>
        <p:spPr bwMode="auto">
          <a:xfrm>
            <a:off x="4595662" y="5994400"/>
            <a:ext cx="7155804" cy="595634"/>
          </a:xfrm>
          <a:prstGeom prst="rect">
            <a:avLst/>
          </a:prstGeom>
          <a:solidFill>
            <a:srgbClr val="FF0000"/>
          </a:solidFill>
          <a:ln w="28575" cap="sq" algn="ctr">
            <a:solidFill>
              <a:srgbClr val="FFFF00"/>
            </a:solidFill>
            <a:miter lim="800000"/>
            <a:headEnd/>
            <a:tailEnd/>
          </a:ln>
          <a:effectLst>
            <a:outerShdw blurRad="50800" dist="38100" dir="2700000" algn="tl" rotWithShape="0">
              <a:prstClr val="black">
                <a:alpha val="40000"/>
              </a:prstClr>
            </a:outerShdw>
          </a:effectLst>
        </p:spPr>
        <p:txBody>
          <a:bodyPr lIns="0" tIns="0" rIns="0" bIns="0" anchor="ctr" anchorCtr="1"/>
          <a:lstStyle/>
          <a:p>
            <a:pPr marL="377825" indent="-377825" algn="ctr" fontAlgn="base">
              <a:spcBef>
                <a:spcPct val="0"/>
              </a:spcBef>
              <a:spcAft>
                <a:spcPct val="0"/>
              </a:spcAft>
            </a:pPr>
            <a:r>
              <a:rPr kumimoji="1" lang="zh-CN" altLang="en-US" sz="3200" b="1" dirty="0">
                <a:solidFill>
                  <a:srgbClr val="FFFF00"/>
                </a:solidFill>
                <a:latin typeface="+mn-ea"/>
              </a:rPr>
              <a:t>信息几乎完全丢失，不可取的分解方案</a:t>
            </a:r>
          </a:p>
        </p:txBody>
      </p:sp>
    </p:spTree>
  </p:cSld>
  <p:clrMapOvr>
    <a:masterClrMapping/>
  </p:clrMapOvr>
  <mc:AlternateContent xmlns:mc="http://schemas.openxmlformats.org/markup-compatibility/2006" xmlns:p14="http://schemas.microsoft.com/office/powerpoint/2010/main">
    <mc:Choice Requires="p14">
      <p:transition spd="slow" p14:dur="800">
        <p:circle/>
        <p:sndAc>
          <p:stSnd>
            <p:snd r:embed="rId2" name="arrow.wav"/>
          </p:stSnd>
        </p:sndAc>
      </p:transition>
    </mc:Choice>
    <mc:Fallback xmlns="">
      <p:transition spd="slow">
        <p:circle/>
        <p:sndAc>
          <p:stSnd>
            <p:snd r:embed="rId3" name="arrow.wav"/>
          </p:stSnd>
        </p:sndAc>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15633"/>
                                        </p:tgtEl>
                                        <p:attrNameLst>
                                          <p:attrName>style.visibility</p:attrName>
                                        </p:attrNameLst>
                                      </p:cBhvr>
                                      <p:to>
                                        <p:strVal val="visible"/>
                                      </p:to>
                                    </p:set>
                                    <p:animEffect transition="in" filter="fade">
                                      <p:cBhvr>
                                        <p:cTn id="7" dur="1000"/>
                                        <p:tgtEl>
                                          <p:spTgt spid="1515633"/>
                                        </p:tgtEl>
                                      </p:cBhvr>
                                    </p:animEffect>
                                    <p:anim calcmode="lin" valueType="num">
                                      <p:cBhvr>
                                        <p:cTn id="8" dur="1000" fill="hold"/>
                                        <p:tgtEl>
                                          <p:spTgt spid="1515633"/>
                                        </p:tgtEl>
                                        <p:attrNameLst>
                                          <p:attrName>ppt_x</p:attrName>
                                        </p:attrNameLst>
                                      </p:cBhvr>
                                      <p:tavLst>
                                        <p:tav tm="0">
                                          <p:val>
                                            <p:strVal val="#ppt_x"/>
                                          </p:val>
                                        </p:tav>
                                        <p:tav tm="100000">
                                          <p:val>
                                            <p:strVal val="#ppt_x"/>
                                          </p:val>
                                        </p:tav>
                                      </p:tavLst>
                                    </p:anim>
                                    <p:anim calcmode="lin" valueType="num">
                                      <p:cBhvr>
                                        <p:cTn id="9" dur="1000" fill="hold"/>
                                        <p:tgtEl>
                                          <p:spTgt spid="15156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33"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分解案例</a:t>
            </a:r>
          </a:p>
        </p:txBody>
      </p:sp>
      <p:sp>
        <p:nvSpPr>
          <p:cNvPr id="1515582" name="Rectangle 62"/>
          <p:cNvSpPr>
            <a:spLocks noChangeArrowheads="1"/>
          </p:cNvSpPr>
          <p:nvPr/>
        </p:nvSpPr>
        <p:spPr bwMode="auto">
          <a:xfrm>
            <a:off x="623392" y="1377669"/>
            <a:ext cx="3277095" cy="4793704"/>
          </a:xfrm>
          <a:prstGeom prst="rect">
            <a:avLst/>
          </a:prstGeom>
          <a:solidFill>
            <a:srgbClr val="EBEBFF"/>
          </a:solidFill>
          <a:ln w="12700" cap="sq">
            <a:solidFill>
              <a:srgbClr val="FF99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15583" name="Rectangle 63"/>
          <p:cNvSpPr>
            <a:spLocks noChangeArrowheads="1"/>
          </p:cNvSpPr>
          <p:nvPr/>
        </p:nvSpPr>
        <p:spPr bwMode="auto">
          <a:xfrm>
            <a:off x="1206196" y="1426253"/>
            <a:ext cx="1928280" cy="430887"/>
          </a:xfrm>
          <a:prstGeom prst="rect">
            <a:avLst/>
          </a:prstGeom>
          <a:noFill/>
          <a:ln w="12700" cap="sq">
            <a:noFill/>
            <a:miter lim="800000"/>
            <a:headEnd/>
            <a:tailEnd/>
          </a:ln>
          <a:effectLst/>
        </p:spPr>
        <p:txBody>
          <a:bodyPr wrap="squar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SDM∈2NF</a:t>
            </a:r>
          </a:p>
        </p:txBody>
      </p:sp>
      <p:graphicFrame>
        <p:nvGraphicFramePr>
          <p:cNvPr id="1515584" name="Group 64"/>
          <p:cNvGraphicFramePr>
            <a:graphicFrameLocks noGrp="1"/>
          </p:cNvGraphicFramePr>
          <p:nvPr>
            <p:extLst>
              <p:ext uri="{D42A27DB-BD31-4B8C-83A1-F6EECF244321}">
                <p14:modId xmlns:p14="http://schemas.microsoft.com/office/powerpoint/2010/main" val="2735522734"/>
              </p:ext>
            </p:extLst>
          </p:nvPr>
        </p:nvGraphicFramePr>
        <p:xfrm>
          <a:off x="876718" y="1955800"/>
          <a:ext cx="2795169" cy="2926080"/>
        </p:xfrm>
        <a:graphic>
          <a:graphicData uri="http://schemas.openxmlformats.org/drawingml/2006/table">
            <a:tbl>
              <a:tblPr/>
              <a:tblGrid>
                <a:gridCol w="867466">
                  <a:extLst>
                    <a:ext uri="{9D8B030D-6E8A-4147-A177-3AD203B41FA5}">
                      <a16:colId xmlns:a16="http://schemas.microsoft.com/office/drawing/2014/main" val="20000"/>
                    </a:ext>
                  </a:extLst>
                </a:gridCol>
                <a:gridCol w="867466">
                  <a:extLst>
                    <a:ext uri="{9D8B030D-6E8A-4147-A177-3AD203B41FA5}">
                      <a16:colId xmlns:a16="http://schemas.microsoft.com/office/drawing/2014/main" val="20001"/>
                    </a:ext>
                  </a:extLst>
                </a:gridCol>
                <a:gridCol w="1060237">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5624" name="Rectangle 104"/>
          <p:cNvSpPr>
            <a:spLocks noChangeArrowheads="1"/>
          </p:cNvSpPr>
          <p:nvPr/>
        </p:nvSpPr>
        <p:spPr bwMode="auto">
          <a:xfrm>
            <a:off x="2530865" y="5019897"/>
            <a:ext cx="993971"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姓名</a:t>
            </a:r>
          </a:p>
        </p:txBody>
      </p:sp>
      <p:sp>
        <p:nvSpPr>
          <p:cNvPr id="1515625" name="Rectangle 105"/>
          <p:cNvSpPr>
            <a:spLocks noChangeArrowheads="1"/>
          </p:cNvSpPr>
          <p:nvPr/>
        </p:nvSpPr>
        <p:spPr bwMode="auto">
          <a:xfrm>
            <a:off x="1092030" y="5019897"/>
            <a:ext cx="993972"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sp>
        <p:nvSpPr>
          <p:cNvPr id="1515626" name="Rectangle 106"/>
          <p:cNvSpPr>
            <a:spLocks noChangeArrowheads="1"/>
          </p:cNvSpPr>
          <p:nvPr/>
        </p:nvSpPr>
        <p:spPr bwMode="auto">
          <a:xfrm>
            <a:off x="997650" y="5664200"/>
            <a:ext cx="1172686"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54359" name="AutoShape 107"/>
          <p:cNvCxnSpPr>
            <a:cxnSpLocks noChangeShapeType="1"/>
            <a:stCxn id="1515624" idx="1"/>
            <a:endCxn id="1515625" idx="3"/>
          </p:cNvCxnSpPr>
          <p:nvPr/>
        </p:nvCxnSpPr>
        <p:spPr bwMode="auto">
          <a:xfrm flipH="1">
            <a:off x="2086002" y="5184997"/>
            <a:ext cx="444863"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4360" name="AutoShape 108"/>
          <p:cNvCxnSpPr>
            <a:cxnSpLocks noChangeShapeType="1"/>
            <a:stCxn id="1515625" idx="2"/>
            <a:endCxn id="1515626" idx="0"/>
          </p:cNvCxnSpPr>
          <p:nvPr/>
        </p:nvCxnSpPr>
        <p:spPr bwMode="auto">
          <a:xfrm flipH="1">
            <a:off x="1583993" y="5350097"/>
            <a:ext cx="5023" cy="314103"/>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2" name="组合 1">
            <a:extLst>
              <a:ext uri="{FF2B5EF4-FFF2-40B4-BE49-F238E27FC236}">
                <a16:creationId xmlns:a16="http://schemas.microsoft.com/office/drawing/2014/main" id="{148A64B2-F1AC-4979-B7B5-8552BEF03D35}"/>
              </a:ext>
            </a:extLst>
          </p:cNvPr>
          <p:cNvGrpSpPr/>
          <p:nvPr/>
        </p:nvGrpSpPr>
        <p:grpSpPr>
          <a:xfrm>
            <a:off x="4461513" y="5050969"/>
            <a:ext cx="7250027" cy="381000"/>
            <a:chOff x="4999048" y="5080758"/>
            <a:chExt cx="6785584" cy="381000"/>
          </a:xfrm>
        </p:grpSpPr>
        <p:sp>
          <p:nvSpPr>
            <p:cNvPr id="25" name="Rectangle 4">
              <a:extLst>
                <a:ext uri="{FF2B5EF4-FFF2-40B4-BE49-F238E27FC236}">
                  <a16:creationId xmlns:a16="http://schemas.microsoft.com/office/drawing/2014/main" id="{A741C7DB-4E8E-4301-81CC-9154ECCF25C0}"/>
                </a:ext>
              </a:extLst>
            </p:cNvPr>
            <p:cNvSpPr>
              <a:spLocks noChangeArrowheads="1"/>
            </p:cNvSpPr>
            <p:nvPr/>
          </p:nvSpPr>
          <p:spPr bwMode="auto">
            <a:xfrm>
              <a:off x="4999048" y="5080758"/>
              <a:ext cx="6785584"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SM  </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DM</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多出</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Times New Roman" pitchFamily="18" charset="0"/>
                  <a:ea typeface="楷体_GB2312" pitchFamily="49" charset="-122"/>
                  <a:cs typeface="+mn-cs"/>
                </a:rPr>
                <a:t>(</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Times New Roman" pitchFamily="18" charset="0"/>
                  <a:ea typeface="楷体_GB2312" pitchFamily="49" charset="-122"/>
                  <a:cs typeface="+mn-cs"/>
                </a:rPr>
                <a:t>张明</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Times New Roman" pitchFamily="18" charset="0"/>
                  <a:ea typeface="楷体_GB2312" pitchFamily="49" charset="-122"/>
                  <a:cs typeface="+mn-cs"/>
                </a:rPr>
                <a:t>,CS,</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Times New Roman" pitchFamily="18" charset="0"/>
                  <a:ea typeface="楷体_GB2312" pitchFamily="49" charset="-122"/>
                  <a:cs typeface="+mn-cs"/>
                </a:rPr>
                <a:t>刘成</a:t>
              </a:r>
              <a:r>
                <a:rPr kumimoji="1" lang="en-US" altLang="zh-CN"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Times New Roman" pitchFamily="18" charset="0"/>
                  <a:ea typeface="楷体_GB2312" pitchFamily="49" charset="-122"/>
                  <a:cs typeface="+mn-cs"/>
                </a:rPr>
                <a:t>)</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等</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5</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个元组，不具有无损连接性。</a:t>
              </a:r>
            </a:p>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丢失了</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Times New Roman" pitchFamily="18" charset="0"/>
                  <a:ea typeface="楷体_GB2312" pitchFamily="49" charset="-122"/>
                  <a:cs typeface="+mn-cs"/>
                </a:rPr>
                <a:t>姓名→系名</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函数依赖。</a:t>
              </a:r>
            </a:p>
          </p:txBody>
        </p:sp>
        <p:sp>
          <p:nvSpPr>
            <p:cNvPr id="26" name="Freeform 5">
              <a:extLst>
                <a:ext uri="{FF2B5EF4-FFF2-40B4-BE49-F238E27FC236}">
                  <a16:creationId xmlns:a16="http://schemas.microsoft.com/office/drawing/2014/main" id="{1B7F2127-A25D-4371-8844-AF45C4FE62C5}"/>
                </a:ext>
              </a:extLst>
            </p:cNvPr>
            <p:cNvSpPr>
              <a:spLocks/>
            </p:cNvSpPr>
            <p:nvPr/>
          </p:nvSpPr>
          <p:spPr bwMode="auto">
            <a:xfrm>
              <a:off x="5682328" y="5202201"/>
              <a:ext cx="309563" cy="22701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27" name="Rectangle 6">
            <a:extLst>
              <a:ext uri="{FF2B5EF4-FFF2-40B4-BE49-F238E27FC236}">
                <a16:creationId xmlns:a16="http://schemas.microsoft.com/office/drawing/2014/main" id="{FA46499D-A9F7-44BE-9959-091F75D90C0E}"/>
              </a:ext>
            </a:extLst>
          </p:cNvPr>
          <p:cNvSpPr>
            <a:spLocks noChangeArrowheads="1"/>
          </p:cNvSpPr>
          <p:nvPr/>
        </p:nvSpPr>
        <p:spPr bwMode="auto">
          <a:xfrm>
            <a:off x="4999048" y="882650"/>
            <a:ext cx="445635"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SM</a:t>
            </a:r>
          </a:p>
        </p:txBody>
      </p:sp>
      <p:sp>
        <p:nvSpPr>
          <p:cNvPr id="28" name="Rectangle 7">
            <a:extLst>
              <a:ext uri="{FF2B5EF4-FFF2-40B4-BE49-F238E27FC236}">
                <a16:creationId xmlns:a16="http://schemas.microsoft.com/office/drawing/2014/main" id="{0A6A03CA-6FD2-4741-BF0B-F23E14F091F9}"/>
              </a:ext>
            </a:extLst>
          </p:cNvPr>
          <p:cNvSpPr>
            <a:spLocks noChangeArrowheads="1"/>
          </p:cNvSpPr>
          <p:nvPr/>
        </p:nvSpPr>
        <p:spPr bwMode="auto">
          <a:xfrm>
            <a:off x="9258457" y="895070"/>
            <a:ext cx="496931"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DM</a:t>
            </a:r>
          </a:p>
        </p:txBody>
      </p:sp>
      <p:graphicFrame>
        <p:nvGraphicFramePr>
          <p:cNvPr id="29" name="Group 8">
            <a:extLst>
              <a:ext uri="{FF2B5EF4-FFF2-40B4-BE49-F238E27FC236}">
                <a16:creationId xmlns:a16="http://schemas.microsoft.com/office/drawing/2014/main" id="{E1DDC23D-5D06-4890-A6C9-D4AFEC76CD2A}"/>
              </a:ext>
            </a:extLst>
          </p:cNvPr>
          <p:cNvGraphicFramePr>
            <a:graphicFrameLocks noGrp="1"/>
          </p:cNvGraphicFramePr>
          <p:nvPr>
            <p:extLst>
              <p:ext uri="{D42A27DB-BD31-4B8C-83A1-F6EECF244321}">
                <p14:modId xmlns:p14="http://schemas.microsoft.com/office/powerpoint/2010/main" val="1105974654"/>
              </p:ext>
            </p:extLst>
          </p:nvPr>
        </p:nvGraphicFramePr>
        <p:xfrm>
          <a:off x="4511675" y="1339850"/>
          <a:ext cx="2198254" cy="2926080"/>
        </p:xfrm>
        <a:graphic>
          <a:graphicData uri="http://schemas.openxmlformats.org/drawingml/2006/table">
            <a:tbl>
              <a:tblPr/>
              <a:tblGrid>
                <a:gridCol w="989214">
                  <a:extLst>
                    <a:ext uri="{9D8B030D-6E8A-4147-A177-3AD203B41FA5}">
                      <a16:colId xmlns:a16="http://schemas.microsoft.com/office/drawing/2014/main" val="20000"/>
                    </a:ext>
                  </a:extLst>
                </a:gridCol>
                <a:gridCol w="120904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30" name="Group 39">
            <a:extLst>
              <a:ext uri="{FF2B5EF4-FFF2-40B4-BE49-F238E27FC236}">
                <a16:creationId xmlns:a16="http://schemas.microsoft.com/office/drawing/2014/main" id="{7D184A9B-586E-4805-A200-925379E97243}"/>
              </a:ext>
            </a:extLst>
          </p:cNvPr>
          <p:cNvGraphicFramePr>
            <a:graphicFrameLocks noGrp="1"/>
          </p:cNvGraphicFramePr>
          <p:nvPr>
            <p:extLst>
              <p:ext uri="{D42A27DB-BD31-4B8C-83A1-F6EECF244321}">
                <p14:modId xmlns:p14="http://schemas.microsoft.com/office/powerpoint/2010/main" val="1191723271"/>
              </p:ext>
            </p:extLst>
          </p:nvPr>
        </p:nvGraphicFramePr>
        <p:xfrm>
          <a:off x="8524062" y="1377669"/>
          <a:ext cx="2791220" cy="1515752"/>
        </p:xfrm>
        <a:graphic>
          <a:graphicData uri="http://schemas.openxmlformats.org/drawingml/2006/table">
            <a:tbl>
              <a:tblPr/>
              <a:tblGrid>
                <a:gridCol w="1256049">
                  <a:extLst>
                    <a:ext uri="{9D8B030D-6E8A-4147-A177-3AD203B41FA5}">
                      <a16:colId xmlns:a16="http://schemas.microsoft.com/office/drawing/2014/main" val="20000"/>
                    </a:ext>
                  </a:extLst>
                </a:gridCol>
                <a:gridCol w="1535171">
                  <a:extLst>
                    <a:ext uri="{9D8B030D-6E8A-4147-A177-3AD203B41FA5}">
                      <a16:colId xmlns:a16="http://schemas.microsoft.com/office/drawing/2014/main" val="20001"/>
                    </a:ext>
                  </a:extLst>
                </a:gridCol>
              </a:tblGrid>
              <a:tr h="3789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89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89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89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1" name="Rectangle 58">
            <a:extLst>
              <a:ext uri="{FF2B5EF4-FFF2-40B4-BE49-F238E27FC236}">
                <a16:creationId xmlns:a16="http://schemas.microsoft.com/office/drawing/2014/main" id="{84208A0B-4E27-4BB9-B066-41F943DAA458}"/>
              </a:ext>
            </a:extLst>
          </p:cNvPr>
          <p:cNvSpPr>
            <a:spLocks noChangeArrowheads="1"/>
          </p:cNvSpPr>
          <p:nvPr/>
        </p:nvSpPr>
        <p:spPr bwMode="auto">
          <a:xfrm>
            <a:off x="4518401" y="4422614"/>
            <a:ext cx="754063" cy="381000"/>
          </a:xfrm>
          <a:prstGeom prst="rect">
            <a:avLst/>
          </a:prstGeom>
          <a:solidFill>
            <a:srgbClr val="0000FF"/>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姓名</a:t>
            </a:r>
          </a:p>
        </p:txBody>
      </p:sp>
      <p:sp>
        <p:nvSpPr>
          <p:cNvPr id="32" name="Rectangle 59">
            <a:extLst>
              <a:ext uri="{FF2B5EF4-FFF2-40B4-BE49-F238E27FC236}">
                <a16:creationId xmlns:a16="http://schemas.microsoft.com/office/drawing/2014/main" id="{DC392238-3F0D-40E6-8DBD-95E78C853162}"/>
              </a:ext>
            </a:extLst>
          </p:cNvPr>
          <p:cNvSpPr>
            <a:spLocks noChangeArrowheads="1"/>
          </p:cNvSpPr>
          <p:nvPr/>
        </p:nvSpPr>
        <p:spPr bwMode="auto">
          <a:xfrm>
            <a:off x="5729664" y="4422614"/>
            <a:ext cx="949325" cy="381000"/>
          </a:xfrm>
          <a:prstGeom prst="rect">
            <a:avLst/>
          </a:prstGeom>
          <a:solidFill>
            <a:srgbClr val="DDDDDD"/>
          </a:solidFill>
          <a:ln w="12700" cap="sq" algn="ctr">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33" name="AutoShape 60">
            <a:extLst>
              <a:ext uri="{FF2B5EF4-FFF2-40B4-BE49-F238E27FC236}">
                <a16:creationId xmlns:a16="http://schemas.microsoft.com/office/drawing/2014/main" id="{673B6D2B-0538-4F5E-B434-C23651C8F9AA}"/>
              </a:ext>
            </a:extLst>
          </p:cNvPr>
          <p:cNvCxnSpPr>
            <a:cxnSpLocks noChangeShapeType="1"/>
            <a:stCxn id="31" idx="3"/>
            <a:endCxn id="32" idx="1"/>
          </p:cNvCxnSpPr>
          <p:nvPr/>
        </p:nvCxnSpPr>
        <p:spPr bwMode="auto">
          <a:xfrm>
            <a:off x="5272463" y="4613114"/>
            <a:ext cx="457200" cy="0"/>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34" name="Rectangle 61">
            <a:extLst>
              <a:ext uri="{FF2B5EF4-FFF2-40B4-BE49-F238E27FC236}">
                <a16:creationId xmlns:a16="http://schemas.microsoft.com/office/drawing/2014/main" id="{34085760-B6FB-4D11-8D58-8FCBAD3CC83E}"/>
              </a:ext>
            </a:extLst>
          </p:cNvPr>
          <p:cNvSpPr>
            <a:spLocks noChangeArrowheads="1"/>
          </p:cNvSpPr>
          <p:nvPr/>
        </p:nvSpPr>
        <p:spPr bwMode="auto">
          <a:xfrm>
            <a:off x="8884600" y="3118967"/>
            <a:ext cx="747713" cy="381000"/>
          </a:xfrm>
          <a:prstGeom prst="rect">
            <a:avLst/>
          </a:prstGeom>
          <a:solidFill>
            <a:srgbClr val="0000FF"/>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系名</a:t>
            </a:r>
          </a:p>
        </p:txBody>
      </p:sp>
      <p:cxnSp>
        <p:nvCxnSpPr>
          <p:cNvPr id="35" name="AutoShape 62">
            <a:extLst>
              <a:ext uri="{FF2B5EF4-FFF2-40B4-BE49-F238E27FC236}">
                <a16:creationId xmlns:a16="http://schemas.microsoft.com/office/drawing/2014/main" id="{7F1DA980-F7F9-486D-9E39-26DEEB96FB95}"/>
              </a:ext>
            </a:extLst>
          </p:cNvPr>
          <p:cNvCxnSpPr>
            <a:cxnSpLocks noChangeShapeType="1"/>
            <a:stCxn id="34" idx="3"/>
            <a:endCxn id="36" idx="1"/>
          </p:cNvCxnSpPr>
          <p:nvPr/>
        </p:nvCxnSpPr>
        <p:spPr bwMode="auto">
          <a:xfrm>
            <a:off x="9632313" y="3309468"/>
            <a:ext cx="547687" cy="1587"/>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36" name="Rectangle 63">
            <a:extLst>
              <a:ext uri="{FF2B5EF4-FFF2-40B4-BE49-F238E27FC236}">
                <a16:creationId xmlns:a16="http://schemas.microsoft.com/office/drawing/2014/main" id="{6A22024C-D191-4B79-84D0-EF6F975FEA8A}"/>
              </a:ext>
            </a:extLst>
          </p:cNvPr>
          <p:cNvSpPr>
            <a:spLocks noChangeArrowheads="1"/>
          </p:cNvSpPr>
          <p:nvPr/>
        </p:nvSpPr>
        <p:spPr bwMode="auto">
          <a:xfrm>
            <a:off x="10180000" y="3095154"/>
            <a:ext cx="1008063" cy="431800"/>
          </a:xfrm>
          <a:prstGeom prst="rect">
            <a:avLst/>
          </a:prstGeom>
          <a:solidFill>
            <a:srgbClr val="DDDDDD"/>
          </a:solidFill>
          <a:ln w="12700" cap="sq">
            <a:solidFill>
              <a:srgbClr val="CCFF33"/>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sp>
        <p:nvSpPr>
          <p:cNvPr id="37" name="Rectangle 111">
            <a:extLst>
              <a:ext uri="{FF2B5EF4-FFF2-40B4-BE49-F238E27FC236}">
                <a16:creationId xmlns:a16="http://schemas.microsoft.com/office/drawing/2014/main" id="{344F825D-5C86-46E8-961B-564556773C26}"/>
              </a:ext>
            </a:extLst>
          </p:cNvPr>
          <p:cNvSpPr>
            <a:spLocks noChangeArrowheads="1"/>
          </p:cNvSpPr>
          <p:nvPr/>
        </p:nvSpPr>
        <p:spPr bwMode="auto">
          <a:xfrm>
            <a:off x="7730488" y="3725159"/>
            <a:ext cx="3457575" cy="1150937"/>
          </a:xfrm>
          <a:prstGeom prst="rect">
            <a:avLst/>
          </a:prstGeom>
          <a:solidFill>
            <a:srgbClr val="FF0000"/>
          </a:solidFill>
          <a:ln w="28575" cap="sq" algn="ctr">
            <a:solidFill>
              <a:srgbClr val="FFFF00"/>
            </a:solidFill>
            <a:miter lim="800000"/>
            <a:headEnd/>
            <a:tailEnd/>
          </a:ln>
          <a:effectLst>
            <a:outerShdw blurRad="50800" dist="38100" dir="2700000" algn="tl" rotWithShape="0">
              <a:prstClr val="black">
                <a:alpha val="40000"/>
              </a:prstClr>
            </a:outerShdw>
          </a:effectLst>
        </p:spPr>
        <p:txBody>
          <a:bodyPr lIns="0" tIns="0" rIns="0" bIns="0" anchor="ctr" anchorCtr="1"/>
          <a:lstStyle/>
          <a:p>
            <a:pPr marL="377825" indent="-377825" algn="ctr" fontAlgn="base">
              <a:spcBef>
                <a:spcPct val="0"/>
              </a:spcBef>
              <a:spcAft>
                <a:spcPct val="0"/>
              </a:spcAft>
            </a:pPr>
            <a:r>
              <a:rPr kumimoji="1" lang="zh-CN" altLang="en-US" sz="3200" b="1" dirty="0">
                <a:solidFill>
                  <a:srgbClr val="FFFF00"/>
                </a:solidFill>
                <a:latin typeface="+mn-ea"/>
              </a:rPr>
              <a:t>信息无法正确还原</a:t>
            </a:r>
          </a:p>
          <a:p>
            <a:pPr marL="377825" indent="-377825" algn="ctr" fontAlgn="base">
              <a:spcBef>
                <a:spcPct val="0"/>
              </a:spcBef>
              <a:spcAft>
                <a:spcPct val="0"/>
              </a:spcAft>
            </a:pPr>
            <a:r>
              <a:rPr kumimoji="1" lang="zh-CN" altLang="en-US" sz="3200" b="1" dirty="0">
                <a:solidFill>
                  <a:srgbClr val="FFFF00"/>
                </a:solidFill>
                <a:latin typeface="+mn-ea"/>
              </a:rPr>
              <a:t>不可取的分解方案</a:t>
            </a:r>
          </a:p>
        </p:txBody>
      </p:sp>
    </p:spTree>
    <p:extLst>
      <p:ext uri="{BB962C8B-B14F-4D97-AF65-F5344CB8AC3E}">
        <p14:creationId xmlns:p14="http://schemas.microsoft.com/office/powerpoint/2010/main" val="2532243111"/>
      </p:ext>
    </p:extLst>
  </p:cSld>
  <p:clrMapOvr>
    <a:masterClrMapping/>
  </p:clrMapOvr>
  <p:transition spd="slow">
    <p:wipe dir="r"/>
    <p:sndAc>
      <p:stSnd>
        <p:snd r:embed="rId2" name="arrow.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分解案例</a:t>
            </a:r>
          </a:p>
        </p:txBody>
      </p:sp>
      <p:sp>
        <p:nvSpPr>
          <p:cNvPr id="1515582" name="Rectangle 62"/>
          <p:cNvSpPr>
            <a:spLocks noChangeArrowheads="1"/>
          </p:cNvSpPr>
          <p:nvPr/>
        </p:nvSpPr>
        <p:spPr bwMode="auto">
          <a:xfrm>
            <a:off x="623392" y="1377669"/>
            <a:ext cx="3277095" cy="4793704"/>
          </a:xfrm>
          <a:prstGeom prst="rect">
            <a:avLst/>
          </a:prstGeom>
          <a:solidFill>
            <a:srgbClr val="EBEBFF"/>
          </a:solidFill>
          <a:ln w="12700" cap="sq">
            <a:solidFill>
              <a:srgbClr val="FF99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15583" name="Rectangle 63"/>
          <p:cNvSpPr>
            <a:spLocks noChangeArrowheads="1"/>
          </p:cNvSpPr>
          <p:nvPr/>
        </p:nvSpPr>
        <p:spPr bwMode="auto">
          <a:xfrm>
            <a:off x="1206196" y="1426253"/>
            <a:ext cx="1928280" cy="430887"/>
          </a:xfrm>
          <a:prstGeom prst="rect">
            <a:avLst/>
          </a:prstGeom>
          <a:noFill/>
          <a:ln w="12700" cap="sq">
            <a:noFill/>
            <a:miter lim="800000"/>
            <a:headEnd/>
            <a:tailEnd/>
          </a:ln>
          <a:effectLst/>
        </p:spPr>
        <p:txBody>
          <a:bodyPr wrap="squar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SDM∈2NF</a:t>
            </a:r>
          </a:p>
        </p:txBody>
      </p:sp>
      <p:graphicFrame>
        <p:nvGraphicFramePr>
          <p:cNvPr id="1515584" name="Group 64"/>
          <p:cNvGraphicFramePr>
            <a:graphicFrameLocks noGrp="1"/>
          </p:cNvGraphicFramePr>
          <p:nvPr>
            <p:extLst>
              <p:ext uri="{D42A27DB-BD31-4B8C-83A1-F6EECF244321}">
                <p14:modId xmlns:p14="http://schemas.microsoft.com/office/powerpoint/2010/main" val="1334568011"/>
              </p:ext>
            </p:extLst>
          </p:nvPr>
        </p:nvGraphicFramePr>
        <p:xfrm>
          <a:off x="876718" y="1955800"/>
          <a:ext cx="2795169" cy="2926080"/>
        </p:xfrm>
        <a:graphic>
          <a:graphicData uri="http://schemas.openxmlformats.org/drawingml/2006/table">
            <a:tbl>
              <a:tblPr/>
              <a:tblGrid>
                <a:gridCol w="867466">
                  <a:extLst>
                    <a:ext uri="{9D8B030D-6E8A-4147-A177-3AD203B41FA5}">
                      <a16:colId xmlns:a16="http://schemas.microsoft.com/office/drawing/2014/main" val="20000"/>
                    </a:ext>
                  </a:extLst>
                </a:gridCol>
                <a:gridCol w="867466">
                  <a:extLst>
                    <a:ext uri="{9D8B030D-6E8A-4147-A177-3AD203B41FA5}">
                      <a16:colId xmlns:a16="http://schemas.microsoft.com/office/drawing/2014/main" val="20001"/>
                    </a:ext>
                  </a:extLst>
                </a:gridCol>
                <a:gridCol w="1060237">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5624" name="Rectangle 104"/>
          <p:cNvSpPr>
            <a:spLocks noChangeArrowheads="1"/>
          </p:cNvSpPr>
          <p:nvPr/>
        </p:nvSpPr>
        <p:spPr bwMode="auto">
          <a:xfrm>
            <a:off x="2530865" y="5019897"/>
            <a:ext cx="993971"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姓名</a:t>
            </a:r>
          </a:p>
        </p:txBody>
      </p:sp>
      <p:sp>
        <p:nvSpPr>
          <p:cNvPr id="1515625" name="Rectangle 105"/>
          <p:cNvSpPr>
            <a:spLocks noChangeArrowheads="1"/>
          </p:cNvSpPr>
          <p:nvPr/>
        </p:nvSpPr>
        <p:spPr bwMode="auto">
          <a:xfrm>
            <a:off x="1092030" y="5019897"/>
            <a:ext cx="993972"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sp>
        <p:nvSpPr>
          <p:cNvPr id="1515626" name="Rectangle 106"/>
          <p:cNvSpPr>
            <a:spLocks noChangeArrowheads="1"/>
          </p:cNvSpPr>
          <p:nvPr/>
        </p:nvSpPr>
        <p:spPr bwMode="auto">
          <a:xfrm>
            <a:off x="997650" y="5664200"/>
            <a:ext cx="1172686"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54359" name="AutoShape 107"/>
          <p:cNvCxnSpPr>
            <a:cxnSpLocks noChangeShapeType="1"/>
            <a:stCxn id="1515624" idx="1"/>
            <a:endCxn id="1515625" idx="3"/>
          </p:cNvCxnSpPr>
          <p:nvPr/>
        </p:nvCxnSpPr>
        <p:spPr bwMode="auto">
          <a:xfrm flipH="1">
            <a:off x="2086002" y="5184997"/>
            <a:ext cx="444863"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4360" name="AutoShape 108"/>
          <p:cNvCxnSpPr>
            <a:cxnSpLocks noChangeShapeType="1"/>
            <a:stCxn id="1515625" idx="2"/>
            <a:endCxn id="1515626" idx="0"/>
          </p:cNvCxnSpPr>
          <p:nvPr/>
        </p:nvCxnSpPr>
        <p:spPr bwMode="auto">
          <a:xfrm flipH="1">
            <a:off x="1583993" y="5350097"/>
            <a:ext cx="5023" cy="314103"/>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8" name="Rectangle 4">
            <a:extLst>
              <a:ext uri="{FF2B5EF4-FFF2-40B4-BE49-F238E27FC236}">
                <a16:creationId xmlns:a16="http://schemas.microsoft.com/office/drawing/2014/main" id="{AAE0F27E-1E77-4B0B-96FA-DEA61305CF94}"/>
              </a:ext>
            </a:extLst>
          </p:cNvPr>
          <p:cNvSpPr>
            <a:spLocks noChangeArrowheads="1"/>
          </p:cNvSpPr>
          <p:nvPr/>
        </p:nvSpPr>
        <p:spPr bwMode="auto">
          <a:xfrm>
            <a:off x="4916486" y="5019394"/>
            <a:ext cx="6004050"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SD      SM</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 SDM</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，是具有无损连接性的分解。</a:t>
            </a:r>
          </a:p>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丢失了</a:t>
            </a:r>
            <a:r>
              <a:rPr kumimoji="1" lang="zh-CN" altLang="en-US" sz="3200" b="0" i="0" u="none" strike="noStrike" kern="1200" cap="none" spc="0" normalizeH="0" baseline="0" noProof="0" dirty="0">
                <a:ln>
                  <a:noFill/>
                </a:ln>
                <a:solidFill>
                  <a:srgbClr val="99FF99"/>
                </a:solidFill>
                <a:effectLst>
                  <a:outerShdw blurRad="38100" dist="38100" dir="2700000" algn="tl">
                    <a:srgbClr val="000000"/>
                  </a:outerShdw>
                </a:effectLst>
                <a:uLnTx/>
                <a:uFillTx/>
                <a:latin typeface="Times New Roman" pitchFamily="18" charset="0"/>
                <a:ea typeface="楷体_GB2312" pitchFamily="49" charset="-122"/>
                <a:cs typeface="+mn-cs"/>
              </a:rPr>
              <a:t>系名→系主任</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函数依赖。</a:t>
            </a:r>
          </a:p>
        </p:txBody>
      </p:sp>
      <p:sp>
        <p:nvSpPr>
          <p:cNvPr id="39" name="Freeform 5">
            <a:extLst>
              <a:ext uri="{FF2B5EF4-FFF2-40B4-BE49-F238E27FC236}">
                <a16:creationId xmlns:a16="http://schemas.microsoft.com/office/drawing/2014/main" id="{B5803D46-E117-41A4-8BF9-4412F73AC4C4}"/>
              </a:ext>
            </a:extLst>
          </p:cNvPr>
          <p:cNvSpPr>
            <a:spLocks/>
          </p:cNvSpPr>
          <p:nvPr/>
        </p:nvSpPr>
        <p:spPr bwMode="auto">
          <a:xfrm>
            <a:off x="5603260" y="5123085"/>
            <a:ext cx="309563" cy="227012"/>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40" name="Rectangle 6">
            <a:extLst>
              <a:ext uri="{FF2B5EF4-FFF2-40B4-BE49-F238E27FC236}">
                <a16:creationId xmlns:a16="http://schemas.microsoft.com/office/drawing/2014/main" id="{FAB4945D-A29D-4EE4-B494-A8921BA0AF17}"/>
              </a:ext>
            </a:extLst>
          </p:cNvPr>
          <p:cNvSpPr>
            <a:spLocks noChangeArrowheads="1"/>
          </p:cNvSpPr>
          <p:nvPr/>
        </p:nvSpPr>
        <p:spPr bwMode="auto">
          <a:xfrm>
            <a:off x="5100773" y="4500880"/>
            <a:ext cx="754063" cy="381000"/>
          </a:xfrm>
          <a:prstGeom prst="rect">
            <a:avLst/>
          </a:prstGeom>
          <a:solidFill>
            <a:srgbClr val="0000FF"/>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姓名</a:t>
            </a:r>
          </a:p>
        </p:txBody>
      </p:sp>
      <p:sp>
        <p:nvSpPr>
          <p:cNvPr id="41" name="Rectangle 7">
            <a:extLst>
              <a:ext uri="{FF2B5EF4-FFF2-40B4-BE49-F238E27FC236}">
                <a16:creationId xmlns:a16="http://schemas.microsoft.com/office/drawing/2014/main" id="{F5882DE4-082C-4D12-8571-B437FAD41E73}"/>
              </a:ext>
            </a:extLst>
          </p:cNvPr>
          <p:cNvSpPr>
            <a:spLocks noChangeArrowheads="1"/>
          </p:cNvSpPr>
          <p:nvPr/>
        </p:nvSpPr>
        <p:spPr bwMode="auto">
          <a:xfrm>
            <a:off x="6312035" y="4500880"/>
            <a:ext cx="804862" cy="381000"/>
          </a:xfrm>
          <a:prstGeom prst="rect">
            <a:avLst/>
          </a:prstGeom>
          <a:solidFill>
            <a:srgbClr val="DDDDDD"/>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cxnSp>
        <p:nvCxnSpPr>
          <p:cNvPr id="42" name="AutoShape 8">
            <a:extLst>
              <a:ext uri="{FF2B5EF4-FFF2-40B4-BE49-F238E27FC236}">
                <a16:creationId xmlns:a16="http://schemas.microsoft.com/office/drawing/2014/main" id="{DB811D53-99D7-44A0-89DF-0104581AD0DF}"/>
              </a:ext>
            </a:extLst>
          </p:cNvPr>
          <p:cNvCxnSpPr>
            <a:cxnSpLocks noChangeShapeType="1"/>
            <a:stCxn id="40" idx="3"/>
            <a:endCxn id="41" idx="1"/>
          </p:cNvCxnSpPr>
          <p:nvPr/>
        </p:nvCxnSpPr>
        <p:spPr bwMode="auto">
          <a:xfrm>
            <a:off x="5854835" y="4691380"/>
            <a:ext cx="457200" cy="0"/>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43" name="Rectangle 9">
            <a:extLst>
              <a:ext uri="{FF2B5EF4-FFF2-40B4-BE49-F238E27FC236}">
                <a16:creationId xmlns:a16="http://schemas.microsoft.com/office/drawing/2014/main" id="{7A192745-77D0-4D12-A712-12EE5376984A}"/>
              </a:ext>
            </a:extLst>
          </p:cNvPr>
          <p:cNvSpPr>
            <a:spLocks noChangeArrowheads="1"/>
          </p:cNvSpPr>
          <p:nvPr/>
        </p:nvSpPr>
        <p:spPr bwMode="auto">
          <a:xfrm>
            <a:off x="8193655" y="4488022"/>
            <a:ext cx="747713" cy="381000"/>
          </a:xfrm>
          <a:prstGeom prst="rect">
            <a:avLst/>
          </a:prstGeom>
          <a:solidFill>
            <a:srgbClr val="0000FF"/>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姓名</a:t>
            </a:r>
          </a:p>
        </p:txBody>
      </p:sp>
      <p:cxnSp>
        <p:nvCxnSpPr>
          <p:cNvPr id="44" name="AutoShape 10">
            <a:extLst>
              <a:ext uri="{FF2B5EF4-FFF2-40B4-BE49-F238E27FC236}">
                <a16:creationId xmlns:a16="http://schemas.microsoft.com/office/drawing/2014/main" id="{244C9957-0DED-4180-B6DB-0927810F2773}"/>
              </a:ext>
            </a:extLst>
          </p:cNvPr>
          <p:cNvCxnSpPr>
            <a:cxnSpLocks noChangeShapeType="1"/>
            <a:stCxn id="43" idx="3"/>
            <a:endCxn id="45" idx="1"/>
          </p:cNvCxnSpPr>
          <p:nvPr/>
        </p:nvCxnSpPr>
        <p:spPr bwMode="auto">
          <a:xfrm>
            <a:off x="8941368" y="4678522"/>
            <a:ext cx="547687" cy="1588"/>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45" name="Rectangle 11">
            <a:extLst>
              <a:ext uri="{FF2B5EF4-FFF2-40B4-BE49-F238E27FC236}">
                <a16:creationId xmlns:a16="http://schemas.microsoft.com/office/drawing/2014/main" id="{44848B80-942F-448C-A26B-43D485C0A133}"/>
              </a:ext>
            </a:extLst>
          </p:cNvPr>
          <p:cNvSpPr>
            <a:spLocks noChangeArrowheads="1"/>
          </p:cNvSpPr>
          <p:nvPr/>
        </p:nvSpPr>
        <p:spPr bwMode="auto">
          <a:xfrm>
            <a:off x="9489055" y="4464210"/>
            <a:ext cx="1008063" cy="431800"/>
          </a:xfrm>
          <a:prstGeom prst="rect">
            <a:avLst/>
          </a:prstGeom>
          <a:solidFill>
            <a:srgbClr val="DDDDDD"/>
          </a:solidFill>
          <a:ln w="12700" cap="sq">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sp>
        <p:nvSpPr>
          <p:cNvPr id="46" name="Rectangle 59">
            <a:extLst>
              <a:ext uri="{FF2B5EF4-FFF2-40B4-BE49-F238E27FC236}">
                <a16:creationId xmlns:a16="http://schemas.microsoft.com/office/drawing/2014/main" id="{A178A3BC-06F6-4EEB-984E-BDA2957B9433}"/>
              </a:ext>
            </a:extLst>
          </p:cNvPr>
          <p:cNvSpPr>
            <a:spLocks noChangeArrowheads="1"/>
          </p:cNvSpPr>
          <p:nvPr/>
        </p:nvSpPr>
        <p:spPr bwMode="auto">
          <a:xfrm>
            <a:off x="5879781" y="920469"/>
            <a:ext cx="394339"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SD</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sp>
        <p:nvSpPr>
          <p:cNvPr id="47" name="Rectangle 60">
            <a:extLst>
              <a:ext uri="{FF2B5EF4-FFF2-40B4-BE49-F238E27FC236}">
                <a16:creationId xmlns:a16="http://schemas.microsoft.com/office/drawing/2014/main" id="{25966625-87CC-4AA6-A9BF-DB40387D106D}"/>
              </a:ext>
            </a:extLst>
          </p:cNvPr>
          <p:cNvSpPr>
            <a:spLocks noChangeArrowheads="1"/>
          </p:cNvSpPr>
          <p:nvPr/>
        </p:nvSpPr>
        <p:spPr bwMode="auto">
          <a:xfrm>
            <a:off x="8495733" y="890306"/>
            <a:ext cx="445635"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SM</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graphicFrame>
        <p:nvGraphicFramePr>
          <p:cNvPr id="48" name="Group 61">
            <a:extLst>
              <a:ext uri="{FF2B5EF4-FFF2-40B4-BE49-F238E27FC236}">
                <a16:creationId xmlns:a16="http://schemas.microsoft.com/office/drawing/2014/main" id="{90444D9B-3C05-4EEB-9247-510E66F627AD}"/>
              </a:ext>
            </a:extLst>
          </p:cNvPr>
          <p:cNvGraphicFramePr>
            <a:graphicFrameLocks noGrp="1"/>
          </p:cNvGraphicFramePr>
          <p:nvPr>
            <p:extLst>
              <p:ext uri="{D42A27DB-BD31-4B8C-83A1-F6EECF244321}">
                <p14:modId xmlns:p14="http://schemas.microsoft.com/office/powerpoint/2010/main" val="1290279628"/>
              </p:ext>
            </p:extLst>
          </p:nvPr>
        </p:nvGraphicFramePr>
        <p:xfrm>
          <a:off x="4814887" y="1377669"/>
          <a:ext cx="2562226" cy="2926080"/>
        </p:xfrm>
        <a:graphic>
          <a:graphicData uri="http://schemas.openxmlformats.org/drawingml/2006/table">
            <a:tbl>
              <a:tblPr/>
              <a:tblGrid>
                <a:gridCol w="1153002">
                  <a:extLst>
                    <a:ext uri="{9D8B030D-6E8A-4147-A177-3AD203B41FA5}">
                      <a16:colId xmlns:a16="http://schemas.microsoft.com/office/drawing/2014/main" val="20000"/>
                    </a:ext>
                  </a:extLst>
                </a:gridCol>
                <a:gridCol w="1409224">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49" name="Group 92">
            <a:extLst>
              <a:ext uri="{FF2B5EF4-FFF2-40B4-BE49-F238E27FC236}">
                <a16:creationId xmlns:a16="http://schemas.microsoft.com/office/drawing/2014/main" id="{C3469B48-8C10-4B36-92D0-DE62944EAF5C}"/>
              </a:ext>
            </a:extLst>
          </p:cNvPr>
          <p:cNvGraphicFramePr>
            <a:graphicFrameLocks noGrp="1"/>
          </p:cNvGraphicFramePr>
          <p:nvPr>
            <p:extLst>
              <p:ext uri="{D42A27DB-BD31-4B8C-83A1-F6EECF244321}">
                <p14:modId xmlns:p14="http://schemas.microsoft.com/office/powerpoint/2010/main" val="3289819324"/>
              </p:ext>
            </p:extLst>
          </p:nvPr>
        </p:nvGraphicFramePr>
        <p:xfrm>
          <a:off x="8001000" y="1352269"/>
          <a:ext cx="2562226" cy="2926080"/>
        </p:xfrm>
        <a:graphic>
          <a:graphicData uri="http://schemas.openxmlformats.org/drawingml/2006/table">
            <a:tbl>
              <a:tblPr/>
              <a:tblGrid>
                <a:gridCol w="1153002">
                  <a:extLst>
                    <a:ext uri="{9D8B030D-6E8A-4147-A177-3AD203B41FA5}">
                      <a16:colId xmlns:a16="http://schemas.microsoft.com/office/drawing/2014/main" val="20000"/>
                    </a:ext>
                  </a:extLst>
                </a:gridCol>
                <a:gridCol w="1409224">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0" name="Rectangle 123">
            <a:extLst>
              <a:ext uri="{FF2B5EF4-FFF2-40B4-BE49-F238E27FC236}">
                <a16:creationId xmlns:a16="http://schemas.microsoft.com/office/drawing/2014/main" id="{551EEA83-9F20-4EA6-A694-EA3B3F09081D}"/>
              </a:ext>
            </a:extLst>
          </p:cNvPr>
          <p:cNvSpPr>
            <a:spLocks noChangeArrowheads="1"/>
          </p:cNvSpPr>
          <p:nvPr/>
        </p:nvSpPr>
        <p:spPr bwMode="auto">
          <a:xfrm>
            <a:off x="5960269" y="2278800"/>
            <a:ext cx="3880147" cy="1150937"/>
          </a:xfrm>
          <a:prstGeom prst="rect">
            <a:avLst/>
          </a:prstGeom>
          <a:solidFill>
            <a:srgbClr val="FF0000"/>
          </a:solidFill>
          <a:ln w="28575" cap="sq" algn="ctr">
            <a:solidFill>
              <a:srgbClr val="FFFF00"/>
            </a:solidFill>
            <a:miter lim="800000"/>
            <a:headEnd/>
            <a:tailEnd/>
          </a:ln>
          <a:effectLst>
            <a:outerShdw blurRad="50800" dist="38100" dir="2700000" algn="tl" rotWithShape="0">
              <a:prstClr val="black">
                <a:alpha val="40000"/>
              </a:prstClr>
            </a:outerShdw>
          </a:effectLst>
        </p:spPr>
        <p:txBody>
          <a:bodyPr lIns="0" tIns="0" rIns="0" bIns="0" anchor="ctr" anchorCtr="1"/>
          <a:lstStyle/>
          <a:p>
            <a:pPr marL="377825" indent="-377825" algn="ctr" fontAlgn="base">
              <a:spcBef>
                <a:spcPct val="0"/>
              </a:spcBef>
              <a:spcAft>
                <a:spcPct val="0"/>
              </a:spcAft>
            </a:pPr>
            <a:r>
              <a:rPr kumimoji="1" lang="zh-CN" altLang="en-US" sz="3200" b="1">
                <a:solidFill>
                  <a:srgbClr val="FFFF00"/>
                </a:solidFill>
                <a:latin typeface="+mn-ea"/>
              </a:rPr>
              <a:t>数据冗余和操作异常</a:t>
            </a:r>
          </a:p>
          <a:p>
            <a:pPr marL="377825" indent="-377825" algn="ctr" fontAlgn="base">
              <a:spcBef>
                <a:spcPct val="0"/>
              </a:spcBef>
              <a:spcAft>
                <a:spcPct val="0"/>
              </a:spcAft>
            </a:pPr>
            <a:r>
              <a:rPr kumimoji="1" lang="zh-CN" altLang="en-US" sz="3200" b="1">
                <a:solidFill>
                  <a:srgbClr val="FFFF00"/>
                </a:solidFill>
                <a:latin typeface="+mn-ea"/>
              </a:rPr>
              <a:t>不可取的分解方案</a:t>
            </a:r>
          </a:p>
        </p:txBody>
      </p:sp>
    </p:spTree>
    <p:extLst>
      <p:ext uri="{BB962C8B-B14F-4D97-AF65-F5344CB8AC3E}">
        <p14:creationId xmlns:p14="http://schemas.microsoft.com/office/powerpoint/2010/main" val="22889889"/>
      </p:ext>
    </p:extLst>
  </p:cSld>
  <p:clrMapOvr>
    <a:masterClrMapping/>
  </p:clrMapOvr>
  <p:transition spd="slow">
    <p:wipe dir="r"/>
    <p:sndAc>
      <p:stSnd>
        <p:snd r:embed="rId2" name="arrow.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分解案例</a:t>
            </a:r>
          </a:p>
        </p:txBody>
      </p:sp>
      <p:sp>
        <p:nvSpPr>
          <p:cNvPr id="1515582" name="Rectangle 62"/>
          <p:cNvSpPr>
            <a:spLocks noChangeArrowheads="1"/>
          </p:cNvSpPr>
          <p:nvPr/>
        </p:nvSpPr>
        <p:spPr bwMode="auto">
          <a:xfrm>
            <a:off x="623392" y="1377669"/>
            <a:ext cx="3277095" cy="4793704"/>
          </a:xfrm>
          <a:prstGeom prst="rect">
            <a:avLst/>
          </a:prstGeom>
          <a:solidFill>
            <a:srgbClr val="EBEBFF"/>
          </a:solidFill>
          <a:ln w="12700" cap="sq">
            <a:solidFill>
              <a:srgbClr val="FF99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515583" name="Rectangle 63"/>
          <p:cNvSpPr>
            <a:spLocks noChangeArrowheads="1"/>
          </p:cNvSpPr>
          <p:nvPr/>
        </p:nvSpPr>
        <p:spPr bwMode="auto">
          <a:xfrm>
            <a:off x="1206196" y="1426253"/>
            <a:ext cx="1928280" cy="430887"/>
          </a:xfrm>
          <a:prstGeom prst="rect">
            <a:avLst/>
          </a:prstGeom>
          <a:noFill/>
          <a:ln w="12700" cap="sq">
            <a:noFill/>
            <a:miter lim="800000"/>
            <a:headEnd/>
            <a:tailEnd/>
          </a:ln>
          <a:effectLst/>
        </p:spPr>
        <p:txBody>
          <a:bodyPr wrap="squar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SDM∈2NF</a:t>
            </a:r>
          </a:p>
        </p:txBody>
      </p:sp>
      <p:graphicFrame>
        <p:nvGraphicFramePr>
          <p:cNvPr id="1515584" name="Group 64"/>
          <p:cNvGraphicFramePr>
            <a:graphicFrameLocks noGrp="1"/>
          </p:cNvGraphicFramePr>
          <p:nvPr>
            <p:extLst>
              <p:ext uri="{D42A27DB-BD31-4B8C-83A1-F6EECF244321}">
                <p14:modId xmlns:p14="http://schemas.microsoft.com/office/powerpoint/2010/main" val="3014280359"/>
              </p:ext>
            </p:extLst>
          </p:nvPr>
        </p:nvGraphicFramePr>
        <p:xfrm>
          <a:off x="876718" y="1955800"/>
          <a:ext cx="2795169" cy="2926080"/>
        </p:xfrm>
        <a:graphic>
          <a:graphicData uri="http://schemas.openxmlformats.org/drawingml/2006/table">
            <a:tbl>
              <a:tblPr/>
              <a:tblGrid>
                <a:gridCol w="867466">
                  <a:extLst>
                    <a:ext uri="{9D8B030D-6E8A-4147-A177-3AD203B41FA5}">
                      <a16:colId xmlns:a16="http://schemas.microsoft.com/office/drawing/2014/main" val="20000"/>
                    </a:ext>
                  </a:extLst>
                </a:gridCol>
                <a:gridCol w="867466">
                  <a:extLst>
                    <a:ext uri="{9D8B030D-6E8A-4147-A177-3AD203B41FA5}">
                      <a16:colId xmlns:a16="http://schemas.microsoft.com/office/drawing/2014/main" val="20001"/>
                    </a:ext>
                  </a:extLst>
                </a:gridCol>
                <a:gridCol w="1060237">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5624" name="Rectangle 104"/>
          <p:cNvSpPr>
            <a:spLocks noChangeArrowheads="1"/>
          </p:cNvSpPr>
          <p:nvPr/>
        </p:nvSpPr>
        <p:spPr bwMode="auto">
          <a:xfrm>
            <a:off x="2530865" y="5019897"/>
            <a:ext cx="993971"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姓名</a:t>
            </a:r>
          </a:p>
        </p:txBody>
      </p:sp>
      <p:sp>
        <p:nvSpPr>
          <p:cNvPr id="1515625" name="Rectangle 105"/>
          <p:cNvSpPr>
            <a:spLocks noChangeArrowheads="1"/>
          </p:cNvSpPr>
          <p:nvPr/>
        </p:nvSpPr>
        <p:spPr bwMode="auto">
          <a:xfrm>
            <a:off x="1092030" y="5019897"/>
            <a:ext cx="993972"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sp>
        <p:nvSpPr>
          <p:cNvPr id="1515626" name="Rectangle 106"/>
          <p:cNvSpPr>
            <a:spLocks noChangeArrowheads="1"/>
          </p:cNvSpPr>
          <p:nvPr/>
        </p:nvSpPr>
        <p:spPr bwMode="auto">
          <a:xfrm>
            <a:off x="997650" y="5664200"/>
            <a:ext cx="1172686"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cxnSp>
        <p:nvCxnSpPr>
          <p:cNvPr id="54359" name="AutoShape 107"/>
          <p:cNvCxnSpPr>
            <a:cxnSpLocks noChangeShapeType="1"/>
            <a:stCxn id="1515624" idx="1"/>
            <a:endCxn id="1515625" idx="3"/>
          </p:cNvCxnSpPr>
          <p:nvPr/>
        </p:nvCxnSpPr>
        <p:spPr bwMode="auto">
          <a:xfrm flipH="1">
            <a:off x="2086002" y="5184997"/>
            <a:ext cx="444863"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4360" name="AutoShape 108"/>
          <p:cNvCxnSpPr>
            <a:cxnSpLocks noChangeShapeType="1"/>
            <a:stCxn id="1515625" idx="2"/>
            <a:endCxn id="1515626" idx="0"/>
          </p:cNvCxnSpPr>
          <p:nvPr/>
        </p:nvCxnSpPr>
        <p:spPr bwMode="auto">
          <a:xfrm flipH="1">
            <a:off x="1583993" y="5350097"/>
            <a:ext cx="5023" cy="314103"/>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2" name="组合 1">
            <a:extLst>
              <a:ext uri="{FF2B5EF4-FFF2-40B4-BE49-F238E27FC236}">
                <a16:creationId xmlns:a16="http://schemas.microsoft.com/office/drawing/2014/main" id="{2AF659E8-2545-424A-BDFA-32A6C1EC8EA5}"/>
              </a:ext>
            </a:extLst>
          </p:cNvPr>
          <p:cNvGrpSpPr/>
          <p:nvPr/>
        </p:nvGrpSpPr>
        <p:grpSpPr>
          <a:xfrm>
            <a:off x="5447112" y="5022472"/>
            <a:ext cx="6322169" cy="381000"/>
            <a:chOff x="5015880" y="5013302"/>
            <a:chExt cx="6322169" cy="381000"/>
          </a:xfrm>
        </p:grpSpPr>
        <p:sp>
          <p:nvSpPr>
            <p:cNvPr id="24" name="Rectangle 4">
              <a:extLst>
                <a:ext uri="{FF2B5EF4-FFF2-40B4-BE49-F238E27FC236}">
                  <a16:creationId xmlns:a16="http://schemas.microsoft.com/office/drawing/2014/main" id="{253A1AD5-9BD5-4424-8C01-38305336C39E}"/>
                </a:ext>
              </a:extLst>
            </p:cNvPr>
            <p:cNvSpPr>
              <a:spLocks noChangeArrowheads="1"/>
            </p:cNvSpPr>
            <p:nvPr/>
          </p:nvSpPr>
          <p:spPr bwMode="auto">
            <a:xfrm>
              <a:off x="5015880" y="5013302"/>
              <a:ext cx="6322169"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SD      DM</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 </a:t>
              </a:r>
              <a:r>
                <a:rPr kumimoji="1"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 SDM</a:t>
              </a: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，是具有无损连接性的分解。</a:t>
              </a:r>
            </a:p>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楷体_GB2312" pitchFamily="49" charset="-122"/>
                  <a:cs typeface="+mn-cs"/>
                </a:rPr>
                <a:t>保持了所有的函数依赖。</a:t>
              </a:r>
            </a:p>
          </p:txBody>
        </p:sp>
        <p:sp>
          <p:nvSpPr>
            <p:cNvPr id="25" name="Freeform 5">
              <a:extLst>
                <a:ext uri="{FF2B5EF4-FFF2-40B4-BE49-F238E27FC236}">
                  <a16:creationId xmlns:a16="http://schemas.microsoft.com/office/drawing/2014/main" id="{EBA96643-4EC6-4D59-8762-256963023E2B}"/>
                </a:ext>
              </a:extLst>
            </p:cNvPr>
            <p:cNvSpPr>
              <a:spLocks/>
            </p:cNvSpPr>
            <p:nvPr/>
          </p:nvSpPr>
          <p:spPr bwMode="auto">
            <a:xfrm>
              <a:off x="5689720" y="5152744"/>
              <a:ext cx="309563" cy="22701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26" name="Rectangle 6">
            <a:extLst>
              <a:ext uri="{FF2B5EF4-FFF2-40B4-BE49-F238E27FC236}">
                <a16:creationId xmlns:a16="http://schemas.microsoft.com/office/drawing/2014/main" id="{BD543E6E-86E2-4827-801C-15CC788DCEF5}"/>
              </a:ext>
            </a:extLst>
          </p:cNvPr>
          <p:cNvSpPr>
            <a:spLocks noChangeArrowheads="1"/>
          </p:cNvSpPr>
          <p:nvPr/>
        </p:nvSpPr>
        <p:spPr bwMode="auto">
          <a:xfrm>
            <a:off x="5468416" y="4442119"/>
            <a:ext cx="754063" cy="381000"/>
          </a:xfrm>
          <a:prstGeom prst="rect">
            <a:avLst/>
          </a:prstGeom>
          <a:solidFill>
            <a:srgbClr val="0000FF"/>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姓名</a:t>
            </a:r>
          </a:p>
        </p:txBody>
      </p:sp>
      <p:sp>
        <p:nvSpPr>
          <p:cNvPr id="27" name="Rectangle 7">
            <a:extLst>
              <a:ext uri="{FF2B5EF4-FFF2-40B4-BE49-F238E27FC236}">
                <a16:creationId xmlns:a16="http://schemas.microsoft.com/office/drawing/2014/main" id="{061574E1-A6EA-4AF1-B1AC-3FE78CEE8FBF}"/>
              </a:ext>
            </a:extLst>
          </p:cNvPr>
          <p:cNvSpPr>
            <a:spLocks noChangeArrowheads="1"/>
          </p:cNvSpPr>
          <p:nvPr/>
        </p:nvSpPr>
        <p:spPr bwMode="auto">
          <a:xfrm>
            <a:off x="6679678" y="4442119"/>
            <a:ext cx="804862" cy="381000"/>
          </a:xfrm>
          <a:prstGeom prst="rect">
            <a:avLst/>
          </a:prstGeom>
          <a:solidFill>
            <a:srgbClr val="DDDDDD"/>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系名</a:t>
            </a:r>
          </a:p>
        </p:txBody>
      </p:sp>
      <p:cxnSp>
        <p:nvCxnSpPr>
          <p:cNvPr id="28" name="AutoShape 8">
            <a:extLst>
              <a:ext uri="{FF2B5EF4-FFF2-40B4-BE49-F238E27FC236}">
                <a16:creationId xmlns:a16="http://schemas.microsoft.com/office/drawing/2014/main" id="{E45083D7-03B5-45E5-BD8E-60615291F880}"/>
              </a:ext>
            </a:extLst>
          </p:cNvPr>
          <p:cNvCxnSpPr>
            <a:cxnSpLocks noChangeShapeType="1"/>
            <a:stCxn id="26" idx="3"/>
            <a:endCxn id="27" idx="1"/>
          </p:cNvCxnSpPr>
          <p:nvPr/>
        </p:nvCxnSpPr>
        <p:spPr bwMode="auto">
          <a:xfrm>
            <a:off x="6222478" y="4632619"/>
            <a:ext cx="457200" cy="0"/>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29" name="Rectangle 9">
            <a:extLst>
              <a:ext uri="{FF2B5EF4-FFF2-40B4-BE49-F238E27FC236}">
                <a16:creationId xmlns:a16="http://schemas.microsoft.com/office/drawing/2014/main" id="{F904A692-4088-46C0-A3AF-8CD7E4139BB6}"/>
              </a:ext>
            </a:extLst>
          </p:cNvPr>
          <p:cNvSpPr>
            <a:spLocks noChangeArrowheads="1"/>
          </p:cNvSpPr>
          <p:nvPr/>
        </p:nvSpPr>
        <p:spPr bwMode="auto">
          <a:xfrm>
            <a:off x="8658081" y="3156616"/>
            <a:ext cx="747712" cy="381000"/>
          </a:xfrm>
          <a:prstGeom prst="rect">
            <a:avLst/>
          </a:prstGeom>
          <a:solidFill>
            <a:srgbClr val="0000FF"/>
          </a:solidFill>
          <a:ln w="12700" cap="sq" algn="ctr">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系名</a:t>
            </a:r>
          </a:p>
        </p:txBody>
      </p:sp>
      <p:cxnSp>
        <p:nvCxnSpPr>
          <p:cNvPr id="30" name="AutoShape 10">
            <a:extLst>
              <a:ext uri="{FF2B5EF4-FFF2-40B4-BE49-F238E27FC236}">
                <a16:creationId xmlns:a16="http://schemas.microsoft.com/office/drawing/2014/main" id="{60BFDE5A-03D3-4F27-A2BB-56E01BA702E3}"/>
              </a:ext>
            </a:extLst>
          </p:cNvPr>
          <p:cNvCxnSpPr>
            <a:cxnSpLocks noChangeShapeType="1"/>
            <a:stCxn id="29" idx="3"/>
            <a:endCxn id="31" idx="1"/>
          </p:cNvCxnSpPr>
          <p:nvPr/>
        </p:nvCxnSpPr>
        <p:spPr bwMode="auto">
          <a:xfrm>
            <a:off x="9405793" y="3347116"/>
            <a:ext cx="547688" cy="1588"/>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31" name="Rectangle 11">
            <a:extLst>
              <a:ext uri="{FF2B5EF4-FFF2-40B4-BE49-F238E27FC236}">
                <a16:creationId xmlns:a16="http://schemas.microsoft.com/office/drawing/2014/main" id="{99966BD4-02C6-451A-9D4F-1ACCEBA50443}"/>
              </a:ext>
            </a:extLst>
          </p:cNvPr>
          <p:cNvSpPr>
            <a:spLocks noChangeArrowheads="1"/>
          </p:cNvSpPr>
          <p:nvPr/>
        </p:nvSpPr>
        <p:spPr bwMode="auto">
          <a:xfrm>
            <a:off x="9953481" y="3132804"/>
            <a:ext cx="1008062" cy="431800"/>
          </a:xfrm>
          <a:prstGeom prst="rect">
            <a:avLst/>
          </a:prstGeom>
          <a:solidFill>
            <a:srgbClr val="DDDDDD"/>
          </a:solidFill>
          <a:ln w="12700" cap="sq">
            <a:solidFill>
              <a:srgbClr val="FFFF00"/>
            </a:solidFill>
            <a:miter lim="800000"/>
            <a:headEnd/>
            <a:tailEnd/>
          </a:ln>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itchFamily="18" charset="0"/>
                <a:ea typeface="楷体_GB2312" pitchFamily="49" charset="-122"/>
                <a:cs typeface="+mn-cs"/>
              </a:rPr>
              <a:t>系主任</a:t>
            </a:r>
          </a:p>
        </p:txBody>
      </p:sp>
      <p:sp>
        <p:nvSpPr>
          <p:cNvPr id="33" name="Rectangle 59">
            <a:extLst>
              <a:ext uri="{FF2B5EF4-FFF2-40B4-BE49-F238E27FC236}">
                <a16:creationId xmlns:a16="http://schemas.microsoft.com/office/drawing/2014/main" id="{22AB4DC0-AF5A-4668-9E05-C642CFE4D719}"/>
              </a:ext>
            </a:extLst>
          </p:cNvPr>
          <p:cNvSpPr>
            <a:spLocks noChangeArrowheads="1"/>
          </p:cNvSpPr>
          <p:nvPr/>
        </p:nvSpPr>
        <p:spPr bwMode="auto">
          <a:xfrm>
            <a:off x="9031937" y="868656"/>
            <a:ext cx="496931"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DM</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graphicFrame>
        <p:nvGraphicFramePr>
          <p:cNvPr id="34" name="Group 60">
            <a:extLst>
              <a:ext uri="{FF2B5EF4-FFF2-40B4-BE49-F238E27FC236}">
                <a16:creationId xmlns:a16="http://schemas.microsoft.com/office/drawing/2014/main" id="{3F6D150D-F3ED-478D-BD54-9066E320E1AA}"/>
              </a:ext>
            </a:extLst>
          </p:cNvPr>
          <p:cNvGraphicFramePr>
            <a:graphicFrameLocks noGrp="1"/>
          </p:cNvGraphicFramePr>
          <p:nvPr>
            <p:extLst>
              <p:ext uri="{D42A27DB-BD31-4B8C-83A1-F6EECF244321}">
                <p14:modId xmlns:p14="http://schemas.microsoft.com/office/powerpoint/2010/main" val="3100727513"/>
              </p:ext>
            </p:extLst>
          </p:nvPr>
        </p:nvGraphicFramePr>
        <p:xfrm>
          <a:off x="8473951" y="1300456"/>
          <a:ext cx="2590601" cy="1571624"/>
        </p:xfrm>
        <a:graphic>
          <a:graphicData uri="http://schemas.openxmlformats.org/drawingml/2006/table">
            <a:tbl>
              <a:tblPr/>
              <a:tblGrid>
                <a:gridCol w="1165770">
                  <a:extLst>
                    <a:ext uri="{9D8B030D-6E8A-4147-A177-3AD203B41FA5}">
                      <a16:colId xmlns:a16="http://schemas.microsoft.com/office/drawing/2014/main" val="20000"/>
                    </a:ext>
                  </a:extLst>
                </a:gridCol>
                <a:gridCol w="1424831">
                  <a:extLst>
                    <a:ext uri="{9D8B030D-6E8A-4147-A177-3AD203B41FA5}">
                      <a16:colId xmlns:a16="http://schemas.microsoft.com/office/drawing/2014/main" val="20001"/>
                    </a:ext>
                  </a:extLst>
                </a:gridCol>
              </a:tblGrid>
              <a:tr h="3929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9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9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290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5" name="Rectangle 79">
            <a:extLst>
              <a:ext uri="{FF2B5EF4-FFF2-40B4-BE49-F238E27FC236}">
                <a16:creationId xmlns:a16="http://schemas.microsoft.com/office/drawing/2014/main" id="{FDBAA6D6-87F4-407B-BF3D-3C6A01B3BCFE}"/>
              </a:ext>
            </a:extLst>
          </p:cNvPr>
          <p:cNvSpPr>
            <a:spLocks noChangeArrowheads="1"/>
          </p:cNvSpPr>
          <p:nvPr/>
        </p:nvSpPr>
        <p:spPr bwMode="auto">
          <a:xfrm>
            <a:off x="6425758" y="868656"/>
            <a:ext cx="394339" cy="369332"/>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rPr>
              <a:t>SD</a:t>
            </a:r>
            <a:endParaRPr kumimoji="1" lang="en-US" altLang="zh-CN" sz="2400" b="1" i="0" u="none" strike="noStrike" kern="1200" cap="none" spc="0" normalizeH="0" baseline="0" noProof="0">
              <a:ln>
                <a:noFill/>
              </a:ln>
              <a:solidFill>
                <a:srgbClr val="FFFFFF"/>
              </a:solidFill>
              <a:effectLst>
                <a:outerShdw blurRad="38100" dist="38100" dir="2700000" algn="tl">
                  <a:srgbClr val="000000"/>
                </a:outerShdw>
              </a:effectLst>
              <a:uLnTx/>
              <a:uFillTx/>
              <a:latin typeface="Times New Roman" pitchFamily="18" charset="0"/>
              <a:ea typeface="楷体_GB2312" pitchFamily="49" charset="-122"/>
              <a:cs typeface="+mn-cs"/>
            </a:endParaRPr>
          </a:p>
        </p:txBody>
      </p:sp>
      <p:graphicFrame>
        <p:nvGraphicFramePr>
          <p:cNvPr id="36" name="Group 80">
            <a:extLst>
              <a:ext uri="{FF2B5EF4-FFF2-40B4-BE49-F238E27FC236}">
                <a16:creationId xmlns:a16="http://schemas.microsoft.com/office/drawing/2014/main" id="{93108F8F-DEDB-46BF-BADB-C38D79D159B7}"/>
              </a:ext>
            </a:extLst>
          </p:cNvPr>
          <p:cNvGraphicFramePr>
            <a:graphicFrameLocks noGrp="1"/>
          </p:cNvGraphicFramePr>
          <p:nvPr>
            <p:extLst>
              <p:ext uri="{D42A27DB-BD31-4B8C-83A1-F6EECF244321}">
                <p14:modId xmlns:p14="http://schemas.microsoft.com/office/powerpoint/2010/main" val="2900852400"/>
              </p:ext>
            </p:extLst>
          </p:nvPr>
        </p:nvGraphicFramePr>
        <p:xfrm>
          <a:off x="5303912" y="1325856"/>
          <a:ext cx="2161977" cy="2926080"/>
        </p:xfrm>
        <a:graphic>
          <a:graphicData uri="http://schemas.openxmlformats.org/drawingml/2006/table">
            <a:tbl>
              <a:tblPr/>
              <a:tblGrid>
                <a:gridCol w="972890">
                  <a:extLst>
                    <a:ext uri="{9D8B030D-6E8A-4147-A177-3AD203B41FA5}">
                      <a16:colId xmlns:a16="http://schemas.microsoft.com/office/drawing/2014/main" val="20000"/>
                    </a:ext>
                  </a:extLst>
                </a:gridCol>
                <a:gridCol w="1189087">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7" name="Rectangle 111">
            <a:extLst>
              <a:ext uri="{FF2B5EF4-FFF2-40B4-BE49-F238E27FC236}">
                <a16:creationId xmlns:a16="http://schemas.microsoft.com/office/drawing/2014/main" id="{A36F1A1A-9404-48DD-8601-DD21A1671284}"/>
              </a:ext>
            </a:extLst>
          </p:cNvPr>
          <p:cNvSpPr>
            <a:spLocks noChangeArrowheads="1"/>
          </p:cNvSpPr>
          <p:nvPr/>
        </p:nvSpPr>
        <p:spPr bwMode="auto">
          <a:xfrm>
            <a:off x="5347516" y="5049460"/>
            <a:ext cx="6221092" cy="1547891"/>
          </a:xfrm>
          <a:prstGeom prst="rect">
            <a:avLst/>
          </a:prstGeom>
          <a:solidFill>
            <a:srgbClr val="FF0000"/>
          </a:solidFill>
          <a:ln w="28575" cap="sq" algn="ctr">
            <a:solidFill>
              <a:srgbClr val="FFFF00"/>
            </a:solidFill>
            <a:miter lim="800000"/>
            <a:headEnd/>
            <a:tailEnd/>
          </a:ln>
          <a:effectLst>
            <a:outerShdw blurRad="50800" dist="38100" dir="2700000" algn="tl" rotWithShape="0">
              <a:prstClr val="black">
                <a:alpha val="40000"/>
              </a:prstClr>
            </a:outerShdw>
          </a:effectLst>
        </p:spPr>
        <p:txBody>
          <a:bodyPr lIns="0" tIns="0" rIns="0" bIns="0" anchor="ctr" anchorCtr="1"/>
          <a:lstStyle/>
          <a:p>
            <a:pPr marL="377825" indent="-377825" algn="ctr" fontAlgn="base">
              <a:spcBef>
                <a:spcPct val="0"/>
              </a:spcBef>
              <a:spcAft>
                <a:spcPct val="0"/>
              </a:spcAft>
            </a:pPr>
            <a:r>
              <a:rPr kumimoji="1" lang="zh-CN" altLang="en-US" sz="3200" b="1" dirty="0">
                <a:solidFill>
                  <a:srgbClr val="FFFF00"/>
                </a:solidFill>
                <a:latin typeface="+mn-ea"/>
              </a:rPr>
              <a:t>信息完整无冗余，无操作异常</a:t>
            </a:r>
          </a:p>
          <a:p>
            <a:pPr marL="377825" indent="-377825" algn="ctr" fontAlgn="base">
              <a:spcBef>
                <a:spcPct val="0"/>
              </a:spcBef>
              <a:spcAft>
                <a:spcPct val="0"/>
              </a:spcAft>
            </a:pPr>
            <a:r>
              <a:rPr kumimoji="1" lang="zh-CN" altLang="en-US" sz="3200" b="1" dirty="0">
                <a:solidFill>
                  <a:srgbClr val="FFFF00"/>
                </a:solidFill>
                <a:latin typeface="+mn-ea"/>
              </a:rPr>
              <a:t>最可取的分解方案</a:t>
            </a:r>
          </a:p>
        </p:txBody>
      </p:sp>
    </p:spTree>
    <p:extLst>
      <p:ext uri="{BB962C8B-B14F-4D97-AF65-F5344CB8AC3E}">
        <p14:creationId xmlns:p14="http://schemas.microsoft.com/office/powerpoint/2010/main" val="2985651081"/>
      </p:ext>
    </p:extLst>
  </p:cSld>
  <p:clrMapOvr>
    <a:masterClrMapping/>
  </p:clrMapOvr>
  <p:transition spd="slow">
    <p:wipe dir="r"/>
    <p:sndAc>
      <p:stSnd>
        <p:snd r:embed="rId2" name="arrow.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58372" name="Rectangle 4"/>
          <p:cNvSpPr>
            <a:spLocks noGrp="1" noChangeArrowheads="1"/>
          </p:cNvSpPr>
          <p:nvPr>
            <p:ph idx="1"/>
          </p:nvPr>
        </p:nvSpPr>
        <p:spPr>
          <a:xfrm>
            <a:off x="1022337" y="980728"/>
            <a:ext cx="10297144" cy="647700"/>
          </a:xfrm>
          <a:noFill/>
          <a:extLst>
            <a:ext uri="{909E8E84-426E-40DD-AFC4-6F175D3DCCD1}">
              <a14:hiddenFill xmlns:a14="http://schemas.microsoft.com/office/drawing/2010/main">
                <a:solidFill>
                  <a:srgbClr val="FFFFFF"/>
                </a:solidFill>
              </a14:hiddenFill>
            </a:ext>
          </a:extLst>
        </p:spPr>
        <p:txBody>
          <a:bodyPr>
            <a:noAutofit/>
          </a:bodyPr>
          <a:lstStyle/>
          <a:p>
            <a:pPr marL="0" indent="0" algn="just">
              <a:buNone/>
            </a:pPr>
            <a:r>
              <a:rPr lang="en-US" altLang="zh-CN" sz="2800" i="1" dirty="0">
                <a:effectLst/>
              </a:rPr>
              <a:t>ρ</a:t>
            </a:r>
            <a:r>
              <a:rPr lang="en-US" altLang="zh-CN" sz="2800" dirty="0">
                <a:effectLst/>
              </a:rPr>
              <a:t>={R</a:t>
            </a:r>
            <a:r>
              <a:rPr lang="en-US" altLang="zh-CN" sz="2800" baseline="-30000" dirty="0">
                <a:effectLst/>
              </a:rPr>
              <a:t>1</a:t>
            </a:r>
            <a:r>
              <a:rPr lang="en-US" altLang="zh-CN" sz="2800" dirty="0">
                <a:effectLst/>
              </a:rPr>
              <a:t>(U</a:t>
            </a:r>
            <a:r>
              <a:rPr lang="en-US" altLang="zh-CN" sz="2800" baseline="-30000" dirty="0">
                <a:effectLst/>
              </a:rPr>
              <a:t>1</a:t>
            </a:r>
            <a:r>
              <a:rPr lang="en-US" altLang="zh-CN" sz="2800" dirty="0">
                <a:effectLst/>
              </a:rPr>
              <a:t>),R</a:t>
            </a:r>
            <a:r>
              <a:rPr lang="en-US" altLang="zh-CN" sz="2800" baseline="-30000" dirty="0">
                <a:effectLst/>
              </a:rPr>
              <a:t>2</a:t>
            </a:r>
            <a:r>
              <a:rPr lang="en-US" altLang="zh-CN" sz="2800" dirty="0">
                <a:effectLst/>
              </a:rPr>
              <a:t>(U</a:t>
            </a:r>
            <a:r>
              <a:rPr lang="en-US" altLang="zh-CN" sz="2800" baseline="-30000" dirty="0">
                <a:effectLst/>
              </a:rPr>
              <a:t>2</a:t>
            </a:r>
            <a:r>
              <a:rPr lang="en-US" altLang="zh-CN" sz="2800" dirty="0">
                <a:effectLst/>
              </a:rPr>
              <a:t>),…, </a:t>
            </a:r>
            <a:r>
              <a:rPr lang="en-US" altLang="zh-CN" sz="2800" dirty="0" err="1">
                <a:effectLst/>
              </a:rPr>
              <a:t>R</a:t>
            </a:r>
            <a:r>
              <a:rPr lang="en-US" altLang="zh-CN" sz="2800" baseline="-30000" dirty="0" err="1">
                <a:effectLst/>
              </a:rPr>
              <a:t>k</a:t>
            </a:r>
            <a:r>
              <a:rPr lang="en-US" altLang="zh-CN" sz="2800" dirty="0">
                <a:effectLst/>
              </a:rPr>
              <a:t>(</a:t>
            </a:r>
            <a:r>
              <a:rPr lang="en-US" altLang="zh-CN" sz="2800" dirty="0" err="1">
                <a:effectLst/>
              </a:rPr>
              <a:t>U</a:t>
            </a:r>
            <a:r>
              <a:rPr lang="en-US" altLang="zh-CN" sz="2800" baseline="-30000" dirty="0" err="1">
                <a:effectLst/>
              </a:rPr>
              <a:t>k</a:t>
            </a:r>
            <a:r>
              <a:rPr lang="en-US" altLang="zh-CN" sz="2800" dirty="0">
                <a:effectLst/>
              </a:rPr>
              <a:t>)}</a:t>
            </a:r>
            <a:r>
              <a:rPr lang="zh-CN" altLang="en-US" sz="2800" dirty="0">
                <a:effectLst/>
              </a:rPr>
              <a:t>为关系模式</a:t>
            </a:r>
            <a:r>
              <a:rPr lang="en-US" altLang="zh-CN" sz="2800" dirty="0">
                <a:effectLst/>
              </a:rPr>
              <a:t>R(U,F)</a:t>
            </a:r>
            <a:r>
              <a:rPr lang="zh-CN" altLang="en-US" sz="2800" dirty="0">
                <a:effectLst/>
              </a:rPr>
              <a:t>的分解，其中</a:t>
            </a:r>
            <a:r>
              <a:rPr lang="en-US" altLang="zh-CN" sz="2800" dirty="0">
                <a:effectLst/>
              </a:rPr>
              <a:t>U={A</a:t>
            </a:r>
            <a:r>
              <a:rPr lang="en-US" altLang="zh-CN" sz="2800" baseline="-25000" dirty="0">
                <a:effectLst/>
              </a:rPr>
              <a:t>1</a:t>
            </a:r>
            <a:r>
              <a:rPr lang="en-US" altLang="zh-CN" sz="2800" dirty="0">
                <a:effectLst/>
              </a:rPr>
              <a:t>,A</a:t>
            </a:r>
            <a:r>
              <a:rPr lang="en-US" altLang="zh-CN" sz="2800" baseline="-25000" dirty="0">
                <a:effectLst/>
              </a:rPr>
              <a:t>2</a:t>
            </a:r>
            <a:r>
              <a:rPr lang="en-US" altLang="zh-CN" sz="2800" dirty="0">
                <a:effectLst/>
              </a:rPr>
              <a:t>,…,A</a:t>
            </a:r>
            <a:r>
              <a:rPr lang="en-US" altLang="zh-CN" sz="2800" baseline="-25000" dirty="0">
                <a:effectLst/>
              </a:rPr>
              <a:t>n</a:t>
            </a:r>
            <a:r>
              <a:rPr lang="en-US" altLang="zh-CN" sz="2800" dirty="0">
                <a:effectLst/>
              </a:rPr>
              <a:t>}=</a:t>
            </a:r>
            <a:r>
              <a:rPr lang="zh-CN" altLang="en-US" sz="2800" dirty="0">
                <a:effectLst/>
              </a:rPr>
              <a:t>（</a:t>
            </a:r>
            <a:r>
              <a:rPr lang="en-US" altLang="zh-CN" sz="2800" dirty="0">
                <a:effectLst/>
              </a:rPr>
              <a:t>U</a:t>
            </a:r>
            <a:r>
              <a:rPr lang="en-US" altLang="zh-CN" sz="2800" baseline="-30000" dirty="0">
                <a:effectLst/>
              </a:rPr>
              <a:t>1</a:t>
            </a:r>
            <a:r>
              <a:rPr lang="en-US" altLang="zh-CN" sz="2800" dirty="0">
                <a:effectLst/>
              </a:rPr>
              <a:t>∪U</a:t>
            </a:r>
            <a:r>
              <a:rPr lang="en-US" altLang="zh-CN" sz="2800" baseline="-30000" dirty="0">
                <a:effectLst/>
              </a:rPr>
              <a:t>2</a:t>
            </a:r>
            <a:r>
              <a:rPr lang="en-US" altLang="zh-CN" sz="2800" dirty="0">
                <a:effectLst/>
              </a:rPr>
              <a:t>∪…∪</a:t>
            </a:r>
            <a:r>
              <a:rPr lang="en-US" altLang="zh-CN" sz="2800" dirty="0" err="1">
                <a:effectLst/>
              </a:rPr>
              <a:t>U</a:t>
            </a:r>
            <a:r>
              <a:rPr lang="en-US" altLang="zh-CN" sz="2800" baseline="-30000" dirty="0" err="1">
                <a:effectLst/>
              </a:rPr>
              <a:t>k</a:t>
            </a:r>
            <a:r>
              <a:rPr lang="zh-CN" altLang="en-US" sz="2800" dirty="0">
                <a:effectLst/>
              </a:rPr>
              <a:t>），</a:t>
            </a:r>
            <a:r>
              <a:rPr lang="en-US" altLang="zh-CN" sz="2800" i="1" dirty="0">
                <a:effectLst/>
              </a:rPr>
              <a:t>ρ</a:t>
            </a:r>
            <a:r>
              <a:rPr lang="zh-CN" altLang="en-US" sz="2800" dirty="0">
                <a:effectLst/>
              </a:rPr>
              <a:t>是否是无损连接分解的测试方法如下：</a:t>
            </a:r>
          </a:p>
        </p:txBody>
      </p:sp>
      <p:sp>
        <p:nvSpPr>
          <p:cNvPr id="1519621" name="Rectangle 5"/>
          <p:cNvSpPr>
            <a:spLocks noChangeArrowheads="1"/>
          </p:cNvSpPr>
          <p:nvPr/>
        </p:nvSpPr>
        <p:spPr bwMode="auto">
          <a:xfrm>
            <a:off x="623392" y="2492896"/>
            <a:ext cx="10873208" cy="647700"/>
          </a:xfrm>
          <a:prstGeom prst="rect">
            <a:avLst/>
          </a:prstGeom>
          <a:noFill/>
          <a:ln w="9525">
            <a:noFill/>
            <a:miter lim="800000"/>
            <a:headEnd/>
            <a:tailEnd/>
          </a:ln>
          <a:effectLst/>
        </p:spPr>
        <p:txBody>
          <a:bodyPr/>
          <a:lstStyle/>
          <a:p>
            <a:pPr marL="352425" marR="0" lvl="0" indent="-352425" algn="just" defTabSz="914400" rtl="0" eaLnBrk="1" fontAlgn="base" latinLnBrk="0" hangingPunct="1">
              <a:lnSpc>
                <a:spcPct val="100000"/>
              </a:lnSpc>
              <a:spcBef>
                <a:spcPct val="0"/>
              </a:spcBef>
              <a:spcAft>
                <a:spcPts val="12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1)</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构造一张</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k</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行</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n</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列的表，列标题为</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A</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j</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(j=1,2…,n)</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，行标题为</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U</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=1,2…,k)</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，若</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A</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j</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U</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则在表格的</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行</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j</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列处填上</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a</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j</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，否则填上</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b</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ij</a:t>
            </a:r>
            <a:r>
              <a:rPr kumimoji="0" lang="en-US" altLang="zh-CN" sz="2800" b="0" i="0" u="none" strike="noStrike" kern="1200" cap="none" spc="0" normalizeH="0" baseline="-2500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a:t>
            </a:r>
          </a:p>
          <a:p>
            <a:pPr marL="352425" marR="0" lvl="0" indent="-352425" algn="just" defTabSz="914400" rtl="0" eaLnBrk="1" fontAlgn="base" latinLnBrk="0" hangingPunct="1">
              <a:lnSpc>
                <a:spcPct val="100000"/>
              </a:lnSpc>
              <a:spcBef>
                <a:spcPct val="0"/>
              </a:spcBef>
              <a:spcAft>
                <a:spcPct val="2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2)</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依次根据</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F</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中的函数依赖</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X→Y</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，将表格中所有</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X</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相等而</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Y</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不等的行按下面规则将其</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Y</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修改相等：</a:t>
            </a:r>
          </a:p>
          <a:p>
            <a:pPr marL="352425" marR="0" lvl="0" indent="-352425" algn="just" defTabSz="914400" rtl="0" eaLnBrk="1" fontAlgn="base" latinLnBrk="0" hangingPunct="1">
              <a:lnSpc>
                <a:spcPct val="100000"/>
              </a:lnSpc>
              <a:spcBef>
                <a:spcPct val="0"/>
              </a:spcBef>
              <a:spcAft>
                <a:spcPct val="20000"/>
              </a:spcAft>
              <a:buClr>
                <a:srgbClr val="66FF33"/>
              </a:buClr>
              <a:buSzPct val="85000"/>
              <a:buFont typeface="Wingdings" pitchFamily="2" charset="2"/>
              <a:buNone/>
              <a:tabLst/>
              <a:defRPr/>
            </a:pP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  ①如果某一行的</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Y</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为</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a</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j</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，则将其它行的</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Y</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都改为</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a</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j</a:t>
            </a:r>
            <a:endPar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endParaRPr>
          </a:p>
          <a:p>
            <a:pPr marL="352425" marR="0" lvl="0" indent="-352425"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  ②如果没有</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Y</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为</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a</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j</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，则用</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最小的</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b</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ij</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替换其他的</a:t>
            </a:r>
            <a:r>
              <a:rPr kumimoji="0" lang="en-US" altLang="zh-CN" sz="2800" b="0" i="0" u="none" strike="noStrike" kern="1200" cap="none" spc="0" normalizeH="0" baseline="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b</a:t>
            </a:r>
            <a:r>
              <a:rPr kumimoji="0" lang="en-US" altLang="zh-CN" sz="2800" b="0" i="0" u="none" strike="noStrike" kern="1200" cap="none" spc="0" normalizeH="0" baseline="-25000" noProof="0" dirty="0" err="1">
                <a:ln>
                  <a:noFill/>
                </a:ln>
                <a:solidFill>
                  <a:srgbClr val="CCFFCC"/>
                </a:solidFill>
                <a:effectLst/>
                <a:uLnTx/>
                <a:uFillTx/>
                <a:latin typeface="微软雅黑" panose="020B0503020204020204" pitchFamily="34" charset="-122"/>
                <a:ea typeface="微软雅黑" panose="020B0503020204020204" pitchFamily="34" charset="-122"/>
                <a:cs typeface="+mn-cs"/>
              </a:rPr>
              <a:t>ij</a:t>
            </a:r>
            <a:endParaRPr kumimoji="0" lang="en-US" altLang="zh-CN" sz="2800" b="0" i="0" u="none" strike="noStrike" kern="1200" cap="none" spc="0" normalizeH="0" baseline="-25000" noProof="0" dirty="0">
              <a:ln>
                <a:noFill/>
              </a:ln>
              <a:solidFill>
                <a:srgbClr val="CCFFCC"/>
              </a:solidFill>
              <a:effectLst/>
              <a:uLnTx/>
              <a:uFillTx/>
              <a:latin typeface="微软雅黑" panose="020B0503020204020204" pitchFamily="34" charset="-122"/>
              <a:ea typeface="微软雅黑" panose="020B0503020204020204" pitchFamily="34" charset="-122"/>
              <a:cs typeface="+mn-cs"/>
            </a:endParaRPr>
          </a:p>
          <a:p>
            <a:pPr marL="352425" marR="0" lvl="0" indent="-352425"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3)</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修改结束后某一行全是</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a</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型元素，则</a:t>
            </a:r>
            <a:r>
              <a:rPr kumimoji="0" lang="en-US" altLang="zh-CN" sz="2800" b="0" i="1"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ρ</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是无损连接分解，否则，即所有行都包含</a:t>
            </a:r>
            <a:r>
              <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b</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型元素，</a:t>
            </a:r>
            <a:r>
              <a:rPr kumimoji="0" lang="en-US" altLang="zh-CN" sz="2800" b="0" i="1"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ρ</a:t>
            </a:r>
            <a:r>
              <a:rPr kumimoji="0" lang="zh-CN" altLang="en-US"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rPr>
              <a:t>不是无损连接分解。</a:t>
            </a:r>
            <a:endParaRPr kumimoji="0" lang="en-US" altLang="zh-CN" sz="2800" b="0" i="0" u="none" strike="noStrike" kern="1200" cap="none" spc="0" normalizeH="0" baseline="0" noProof="0" dirty="0">
              <a:ln>
                <a:noFill/>
              </a:ln>
              <a:solidFill>
                <a:srgbClr val="CCFFCC"/>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a:t>
            </a:r>
            <a:r>
              <a:rPr lang="en-US" altLang="en-US" dirty="0">
                <a:solidFill>
                  <a:srgbClr val="99FF33"/>
                </a:solidFill>
              </a:rPr>
              <a:t>→</a:t>
            </a:r>
            <a:r>
              <a:rPr lang="en-US" altLang="zh-CN" dirty="0">
                <a:solidFill>
                  <a:srgbClr val="99FF33"/>
                </a:solidFill>
              </a:rPr>
              <a:t>D,E</a:t>
            </a:r>
            <a:r>
              <a:rPr lang="en-US" altLang="en-US" dirty="0">
                <a:solidFill>
                  <a:srgbClr val="99FF33"/>
                </a:solidFill>
              </a:rPr>
              <a:t>→</a:t>
            </a:r>
            <a:r>
              <a:rPr lang="en-US" altLang="zh-CN" dirty="0">
                <a:solidFill>
                  <a:srgbClr val="99FF33"/>
                </a:solidFill>
              </a:rPr>
              <a:t>D, D</a:t>
            </a:r>
            <a:r>
              <a:rPr lang="en-US" altLang="en-US" dirty="0">
                <a:solidFill>
                  <a:srgbClr val="99FF33"/>
                </a:solidFill>
              </a:rPr>
              <a:t>→</a:t>
            </a:r>
            <a:r>
              <a:rPr lang="en-US" altLang="zh-CN" dirty="0">
                <a:solidFill>
                  <a:srgbClr val="99FF33"/>
                </a:solidFill>
              </a:rPr>
              <a:t>B,BC</a:t>
            </a:r>
            <a:r>
              <a:rPr lang="en-US" altLang="en-US" dirty="0">
                <a:solidFill>
                  <a:srgbClr val="99FF33"/>
                </a:solidFill>
              </a:rPr>
              <a:t>→D,DC→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1520645" name="Group 5"/>
          <p:cNvGraphicFramePr>
            <a:graphicFrameLocks noGrp="1"/>
          </p:cNvGraphicFramePr>
          <p:nvPr>
            <p:extLst>
              <p:ext uri="{D42A27DB-BD31-4B8C-83A1-F6EECF244321}">
                <p14:modId xmlns:p14="http://schemas.microsoft.com/office/powerpoint/2010/main" val="956341076"/>
              </p:ext>
            </p:extLst>
          </p:nvPr>
        </p:nvGraphicFramePr>
        <p:xfrm>
          <a:off x="1055439" y="3429000"/>
          <a:ext cx="9937103" cy="2930918"/>
        </p:xfrm>
        <a:graphic>
          <a:graphicData uri="http://schemas.openxmlformats.org/drawingml/2006/table">
            <a:tbl>
              <a:tblPr/>
              <a:tblGrid>
                <a:gridCol w="503510">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b24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b34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b54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0725" name="Rectangle 85"/>
          <p:cNvSpPr>
            <a:spLocks noChangeArrowheads="1"/>
          </p:cNvSpPr>
          <p:nvPr/>
        </p:nvSpPr>
        <p:spPr bwMode="auto">
          <a:xfrm>
            <a:off x="926564" y="265824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1)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构建初始表格</a:t>
            </a:r>
          </a:p>
        </p:txBody>
      </p: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,E</a:t>
            </a:r>
            <a:r>
              <a:rPr lang="en-US" altLang="en-US" dirty="0">
                <a:solidFill>
                  <a:srgbClr val="99FF33"/>
                </a:solidFill>
              </a:rPr>
              <a:t>→</a:t>
            </a:r>
            <a:r>
              <a:rPr lang="en-US" altLang="zh-CN" dirty="0">
                <a:solidFill>
                  <a:srgbClr val="99FF33"/>
                </a:solidFill>
              </a:rPr>
              <a:t>D, D</a:t>
            </a:r>
            <a:r>
              <a:rPr lang="en-US" altLang="en-US" dirty="0">
                <a:solidFill>
                  <a:srgbClr val="99FF33"/>
                </a:solidFill>
              </a:rPr>
              <a:t>→</a:t>
            </a:r>
            <a:r>
              <a:rPr lang="en-US" altLang="zh-CN" dirty="0">
                <a:solidFill>
                  <a:srgbClr val="99FF33"/>
                </a:solidFill>
              </a:rPr>
              <a:t>B,BC</a:t>
            </a:r>
            <a:r>
              <a:rPr lang="en-US" altLang="en-US" dirty="0">
                <a:solidFill>
                  <a:srgbClr val="99FF33"/>
                </a:solidFill>
              </a:rPr>
              <a:t>→D,DC→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2150310491"/>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b24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b34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b54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983432"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2)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找出所有</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相等而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不相等的行进行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的替换</a:t>
            </a:r>
          </a:p>
        </p:txBody>
      </p:sp>
      <p:sp>
        <p:nvSpPr>
          <p:cNvPr id="8" name="Oval 86">
            <a:extLst>
              <a:ext uri="{FF2B5EF4-FFF2-40B4-BE49-F238E27FC236}">
                <a16:creationId xmlns:a16="http://schemas.microsoft.com/office/drawing/2014/main" id="{CBD1545B-042B-41AD-B316-089F722D40DC}"/>
              </a:ext>
            </a:extLst>
          </p:cNvPr>
          <p:cNvSpPr>
            <a:spLocks noChangeArrowheads="1"/>
          </p:cNvSpPr>
          <p:nvPr/>
        </p:nvSpPr>
        <p:spPr bwMode="auto">
          <a:xfrm>
            <a:off x="9336360" y="4305085"/>
            <a:ext cx="117475" cy="117475"/>
          </a:xfrm>
          <a:prstGeom prst="ellipse">
            <a:avLst/>
          </a:prstGeom>
          <a:solidFill>
            <a:srgbClr val="FF0000"/>
          </a:solidFill>
          <a:ln w="12700" cap="sq" algn="ctr">
            <a:solidFill>
              <a:srgbClr val="FF0000"/>
            </a:solidFill>
            <a:round/>
            <a:headEnd/>
            <a:tailEnd/>
          </a:ln>
          <a:effectLst>
            <a:outerShdw blurRad="50800" dist="38100" dir="2700000" algn="tl" rotWithShape="0">
              <a:prstClr val="black">
                <a:alpha val="40000"/>
              </a:prstClr>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Tree>
    <p:extLst>
      <p:ext uri="{BB962C8B-B14F-4D97-AF65-F5344CB8AC3E}">
        <p14:creationId xmlns:p14="http://schemas.microsoft.com/office/powerpoint/2010/main" val="3881294015"/>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,E</a:t>
            </a:r>
            <a:r>
              <a:rPr lang="en-US" altLang="en-US" dirty="0">
                <a:solidFill>
                  <a:srgbClr val="99FF33"/>
                </a:solidFill>
              </a:rPr>
              <a:t>→</a:t>
            </a:r>
            <a:r>
              <a:rPr lang="en-US" altLang="zh-CN" dirty="0">
                <a:solidFill>
                  <a:srgbClr val="99FF33"/>
                </a:solidFill>
              </a:rPr>
              <a:t>D, D</a:t>
            </a:r>
            <a:r>
              <a:rPr lang="en-US" altLang="en-US" dirty="0">
                <a:solidFill>
                  <a:srgbClr val="99FF33"/>
                </a:solidFill>
              </a:rPr>
              <a:t>→</a:t>
            </a:r>
            <a:r>
              <a:rPr lang="en-US" altLang="zh-CN" dirty="0">
                <a:solidFill>
                  <a:srgbClr val="99FF33"/>
                </a:solidFill>
              </a:rPr>
              <a:t>B,BC</a:t>
            </a:r>
            <a:r>
              <a:rPr lang="en-US" altLang="en-US" dirty="0">
                <a:solidFill>
                  <a:srgbClr val="99FF33"/>
                </a:solidFill>
              </a:rPr>
              <a:t>→D,DC→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3075633923"/>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b34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983432" y="278092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2)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第</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1</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次修改后得到下表</a:t>
            </a:r>
          </a:p>
        </p:txBody>
      </p:sp>
    </p:spTree>
    <p:extLst>
      <p:ext uri="{BB962C8B-B14F-4D97-AF65-F5344CB8AC3E}">
        <p14:creationId xmlns:p14="http://schemas.microsoft.com/office/powerpoint/2010/main" val="193178499"/>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D</a:t>
            </a:r>
            <a:r>
              <a:rPr lang="en-US" altLang="en-US" dirty="0">
                <a:solidFill>
                  <a:srgbClr val="99FF33"/>
                </a:solidFill>
              </a:rPr>
              <a:t>→</a:t>
            </a:r>
            <a:r>
              <a:rPr lang="en-US" altLang="zh-CN" dirty="0">
                <a:solidFill>
                  <a:srgbClr val="99FF33"/>
                </a:solidFill>
              </a:rPr>
              <a:t>B,BC</a:t>
            </a:r>
            <a:r>
              <a:rPr lang="en-US" altLang="en-US" dirty="0">
                <a:solidFill>
                  <a:srgbClr val="99FF33"/>
                </a:solidFill>
              </a:rPr>
              <a:t>→D,DC→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4183287002"/>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b34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3)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找出所有</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E</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相等而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不相等的行进行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的替换</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264352" y="1067027"/>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1" name="Oval 86">
            <a:extLst>
              <a:ext uri="{FF2B5EF4-FFF2-40B4-BE49-F238E27FC236}">
                <a16:creationId xmlns:a16="http://schemas.microsoft.com/office/drawing/2014/main" id="{256D2716-9DB1-4D7C-99BE-498B50046C23}"/>
              </a:ext>
            </a:extLst>
          </p:cNvPr>
          <p:cNvSpPr>
            <a:spLocks noChangeArrowheads="1"/>
          </p:cNvSpPr>
          <p:nvPr/>
        </p:nvSpPr>
        <p:spPr bwMode="auto">
          <a:xfrm>
            <a:off x="9264352" y="4725144"/>
            <a:ext cx="117475" cy="117475"/>
          </a:xfrm>
          <a:prstGeom prst="ellipse">
            <a:avLst/>
          </a:prstGeom>
          <a:solidFill>
            <a:srgbClr val="FF0000"/>
          </a:solidFill>
          <a:ln w="12700" cap="sq" algn="ctr">
            <a:solidFill>
              <a:srgbClr val="FF0000"/>
            </a:solidFill>
            <a:round/>
            <a:headEnd/>
            <a:tailEnd/>
          </a:ln>
          <a:effectLst>
            <a:outerShdw blurRad="50800" dist="38100" dir="2700000" algn="tl" rotWithShape="0">
              <a:prstClr val="black">
                <a:alpha val="40000"/>
              </a:prstClr>
            </a:outerShdw>
          </a:effectLst>
        </p:spPr>
        <p:txBody>
          <a:bodyPr wrap="none" lIns="0" tIns="0" rIns="0" bIns="0" anchor="ctr"/>
          <a:lstStyle/>
          <a:p>
            <a:pPr fontAlgn="base">
              <a:spcBef>
                <a:spcPct val="0"/>
              </a:spcBef>
              <a:spcAft>
                <a:spcPct val="25000"/>
              </a:spcAft>
              <a:buSzPct val="80000"/>
            </a:pPr>
            <a:endParaRPr kumimoji="1" lang="zh-CN" altLang="en-US" sz="3200">
              <a:solidFill>
                <a:srgbClr val="FFFFFF"/>
              </a:solidFill>
              <a:effectLst>
                <a:outerShdw blurRad="38100" dist="38100" dir="2700000" algn="tl">
                  <a:srgbClr val="000000">
                    <a:alpha val="43137"/>
                  </a:srgbClr>
                </a:outerShdw>
              </a:effectLst>
              <a:ea typeface="楷体_GB2312" pitchFamily="49" charset="-122"/>
            </a:endParaRPr>
          </a:p>
        </p:txBody>
      </p:sp>
    </p:spTree>
    <p:extLst>
      <p:ext uri="{BB962C8B-B14F-4D97-AF65-F5344CB8AC3E}">
        <p14:creationId xmlns:p14="http://schemas.microsoft.com/office/powerpoint/2010/main" val="4181567759"/>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D</a:t>
            </a:r>
            <a:r>
              <a:rPr lang="en-US" altLang="en-US" dirty="0">
                <a:solidFill>
                  <a:srgbClr val="99FF33"/>
                </a:solidFill>
              </a:rPr>
              <a:t>→</a:t>
            </a:r>
            <a:r>
              <a:rPr lang="en-US" altLang="zh-CN" dirty="0">
                <a:solidFill>
                  <a:srgbClr val="99FF33"/>
                </a:solidFill>
              </a:rPr>
              <a:t>B,BC</a:t>
            </a:r>
            <a:r>
              <a:rPr lang="en-US" altLang="en-US" dirty="0">
                <a:solidFill>
                  <a:srgbClr val="99FF33"/>
                </a:solidFill>
              </a:rPr>
              <a:t>→D,DC→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3414321824"/>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3)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第</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2</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次修改后的结果如下表</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264352" y="107514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Tree>
    <p:extLst>
      <p:ext uri="{BB962C8B-B14F-4D97-AF65-F5344CB8AC3E}">
        <p14:creationId xmlns:p14="http://schemas.microsoft.com/office/powerpoint/2010/main" val="148457369"/>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a:t>
            </a:r>
            <a:r>
              <a:rPr lang="en-US" altLang="zh-CN" dirty="0">
                <a:solidFill>
                  <a:srgbClr val="00FFFF"/>
                </a:solidFill>
              </a:rPr>
              <a:t>D</a:t>
            </a:r>
            <a:r>
              <a:rPr lang="en-US" altLang="en-US" dirty="0">
                <a:solidFill>
                  <a:srgbClr val="00FFFF"/>
                </a:solidFill>
              </a:rPr>
              <a:t>→</a:t>
            </a:r>
            <a:r>
              <a:rPr lang="en-US" altLang="zh-CN" dirty="0">
                <a:solidFill>
                  <a:srgbClr val="00FFFF"/>
                </a:solidFill>
              </a:rPr>
              <a:t>B</a:t>
            </a:r>
            <a:r>
              <a:rPr lang="en-US" altLang="zh-CN" dirty="0">
                <a:solidFill>
                  <a:srgbClr val="99FF33"/>
                </a:solidFill>
              </a:rPr>
              <a:t>,BC</a:t>
            </a:r>
            <a:r>
              <a:rPr lang="en-US" altLang="en-US" dirty="0">
                <a:solidFill>
                  <a:srgbClr val="99FF33"/>
                </a:solidFill>
              </a:rPr>
              <a:t>→D,DC→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2332289771"/>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b22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b32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b52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4)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找出所有</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相等而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B</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不相等的行进行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B</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的替换</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236739" y="107514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1" name="组合 10">
            <a:extLst>
              <a:ext uri="{FF2B5EF4-FFF2-40B4-BE49-F238E27FC236}">
                <a16:creationId xmlns:a16="http://schemas.microsoft.com/office/drawing/2014/main" id="{ED4D32C1-DE76-4FCB-8184-810629DD5409}"/>
              </a:ext>
            </a:extLst>
          </p:cNvPr>
          <p:cNvGrpSpPr/>
          <p:nvPr/>
        </p:nvGrpSpPr>
        <p:grpSpPr>
          <a:xfrm>
            <a:off x="10296865" y="1075143"/>
            <a:ext cx="288032" cy="265625"/>
            <a:chOff x="9428362" y="1030083"/>
            <a:chExt cx="288032" cy="265625"/>
          </a:xfrm>
        </p:grpSpPr>
        <p:sp>
          <p:nvSpPr>
            <p:cNvPr id="12" name="Line 86">
              <a:extLst>
                <a:ext uri="{FF2B5EF4-FFF2-40B4-BE49-F238E27FC236}">
                  <a16:creationId xmlns:a16="http://schemas.microsoft.com/office/drawing/2014/main" id="{5E66DC3C-CAAC-464F-AB83-8311804F6079}"/>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3" name="Line 86">
              <a:extLst>
                <a:ext uri="{FF2B5EF4-FFF2-40B4-BE49-F238E27FC236}">
                  <a16:creationId xmlns:a16="http://schemas.microsoft.com/office/drawing/2014/main" id="{D131314F-5383-4C40-AC66-3E1BC1B221A3}"/>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4" name="Oval 86">
            <a:extLst>
              <a:ext uri="{FF2B5EF4-FFF2-40B4-BE49-F238E27FC236}">
                <a16:creationId xmlns:a16="http://schemas.microsoft.com/office/drawing/2014/main" id="{8EF85AE0-8546-4B97-BC56-6C25F2919606}"/>
              </a:ext>
            </a:extLst>
          </p:cNvPr>
          <p:cNvSpPr>
            <a:spLocks noChangeArrowheads="1"/>
          </p:cNvSpPr>
          <p:nvPr/>
        </p:nvSpPr>
        <p:spPr bwMode="auto">
          <a:xfrm>
            <a:off x="6384032" y="4305085"/>
            <a:ext cx="117475" cy="117475"/>
          </a:xfrm>
          <a:prstGeom prst="ellipse">
            <a:avLst/>
          </a:prstGeom>
          <a:solidFill>
            <a:srgbClr val="FF0000"/>
          </a:solidFill>
          <a:ln w="12700" cap="sq" algn="ctr">
            <a:solidFill>
              <a:srgbClr val="FF0000"/>
            </a:solidFill>
            <a:round/>
            <a:headEnd/>
            <a:tailEnd/>
          </a:ln>
          <a:effectLst>
            <a:outerShdw blurRad="50800" dist="38100" dir="2700000" algn="tl" rotWithShape="0">
              <a:prstClr val="black">
                <a:alpha val="40000"/>
              </a:prstClr>
            </a:outerShdw>
          </a:effectLst>
        </p:spPr>
        <p:txBody>
          <a:bodyPr wrap="none" lIns="0" tIns="0" rIns="0" bIns="0" anchor="ctr"/>
          <a:lstStyle/>
          <a:p>
            <a:pPr fontAlgn="base">
              <a:spcBef>
                <a:spcPct val="0"/>
              </a:spcBef>
              <a:spcAft>
                <a:spcPct val="25000"/>
              </a:spcAft>
              <a:buSzPct val="80000"/>
            </a:pPr>
            <a:endParaRPr kumimoji="1" lang="zh-CN" altLang="en-US" sz="3200">
              <a:solidFill>
                <a:srgbClr val="FFFFFF"/>
              </a:solidFill>
              <a:effectLst>
                <a:outerShdw blurRad="38100" dist="38100" dir="2700000" algn="tl">
                  <a:srgbClr val="000000">
                    <a:alpha val="43137"/>
                  </a:srgbClr>
                </a:outerShdw>
              </a:effectLst>
              <a:ea typeface="楷体_GB2312" pitchFamily="49" charset="-122"/>
            </a:endParaRPr>
          </a:p>
        </p:txBody>
      </p:sp>
    </p:spTree>
    <p:extLst>
      <p:ext uri="{BB962C8B-B14F-4D97-AF65-F5344CB8AC3E}">
        <p14:creationId xmlns:p14="http://schemas.microsoft.com/office/powerpoint/2010/main" val="2905900517"/>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a:t>
            </a:r>
            <a:r>
              <a:rPr lang="en-US" altLang="zh-CN" dirty="0">
                <a:solidFill>
                  <a:srgbClr val="00FFFF"/>
                </a:solidFill>
              </a:rPr>
              <a:t>D</a:t>
            </a:r>
            <a:r>
              <a:rPr lang="en-US" altLang="en-US" dirty="0">
                <a:solidFill>
                  <a:srgbClr val="00FFFF"/>
                </a:solidFill>
              </a:rPr>
              <a:t>→</a:t>
            </a:r>
            <a:r>
              <a:rPr lang="en-US" altLang="zh-CN" dirty="0">
                <a:solidFill>
                  <a:srgbClr val="00FFFF"/>
                </a:solidFill>
              </a:rPr>
              <a:t>B</a:t>
            </a:r>
            <a:r>
              <a:rPr lang="en-US" altLang="zh-CN" dirty="0">
                <a:solidFill>
                  <a:srgbClr val="99FF33"/>
                </a:solidFill>
              </a:rPr>
              <a:t>,BC</a:t>
            </a:r>
            <a:r>
              <a:rPr lang="en-US" altLang="en-US" dirty="0">
                <a:solidFill>
                  <a:srgbClr val="99FF33"/>
                </a:solidFill>
              </a:rPr>
              <a:t>→D,DC→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3988043969"/>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a2</a:t>
                      </a:r>
                      <a:endPar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4)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第</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3</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次修改后的结果如下表</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308747" y="103008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1" name="组合 10">
            <a:extLst>
              <a:ext uri="{FF2B5EF4-FFF2-40B4-BE49-F238E27FC236}">
                <a16:creationId xmlns:a16="http://schemas.microsoft.com/office/drawing/2014/main" id="{ED4D32C1-DE76-4FCB-8184-810629DD5409}"/>
              </a:ext>
            </a:extLst>
          </p:cNvPr>
          <p:cNvGrpSpPr/>
          <p:nvPr/>
        </p:nvGrpSpPr>
        <p:grpSpPr>
          <a:xfrm>
            <a:off x="10368873" y="1030083"/>
            <a:ext cx="288032" cy="265625"/>
            <a:chOff x="9428362" y="1030083"/>
            <a:chExt cx="288032" cy="265625"/>
          </a:xfrm>
        </p:grpSpPr>
        <p:sp>
          <p:nvSpPr>
            <p:cNvPr id="12" name="Line 86">
              <a:extLst>
                <a:ext uri="{FF2B5EF4-FFF2-40B4-BE49-F238E27FC236}">
                  <a16:creationId xmlns:a16="http://schemas.microsoft.com/office/drawing/2014/main" id="{5E66DC3C-CAAC-464F-AB83-8311804F6079}"/>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3" name="Line 86">
              <a:extLst>
                <a:ext uri="{FF2B5EF4-FFF2-40B4-BE49-F238E27FC236}">
                  <a16:creationId xmlns:a16="http://schemas.microsoft.com/office/drawing/2014/main" id="{D131314F-5383-4C40-AC66-3E1BC1B221A3}"/>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Tree>
    <p:extLst>
      <p:ext uri="{BB962C8B-B14F-4D97-AF65-F5344CB8AC3E}">
        <p14:creationId xmlns:p14="http://schemas.microsoft.com/office/powerpoint/2010/main" val="1975406050"/>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a:t>
            </a:r>
            <a:r>
              <a:rPr lang="en-US" altLang="zh-CN" dirty="0">
                <a:solidFill>
                  <a:srgbClr val="00FFFF"/>
                </a:solidFill>
              </a:rPr>
              <a:t>D</a:t>
            </a:r>
            <a:r>
              <a:rPr lang="en-US" altLang="en-US" dirty="0">
                <a:solidFill>
                  <a:srgbClr val="00FFFF"/>
                </a:solidFill>
              </a:rPr>
              <a:t>→</a:t>
            </a:r>
            <a:r>
              <a:rPr lang="en-US" altLang="zh-CN" dirty="0">
                <a:solidFill>
                  <a:srgbClr val="00FFFF"/>
                </a:solidFill>
              </a:rPr>
              <a:t>B</a:t>
            </a:r>
            <a:r>
              <a:rPr lang="en-US" altLang="zh-CN" dirty="0">
                <a:solidFill>
                  <a:srgbClr val="99FF33"/>
                </a:solidFill>
              </a:rPr>
              <a:t>,</a:t>
            </a:r>
            <a:r>
              <a:rPr lang="en-US" altLang="zh-CN" dirty="0">
                <a:solidFill>
                  <a:srgbClr val="00FFFF"/>
                </a:solidFill>
              </a:rPr>
              <a:t>BC</a:t>
            </a:r>
            <a:r>
              <a:rPr lang="en-US" altLang="en-US" dirty="0">
                <a:solidFill>
                  <a:srgbClr val="00FFFF"/>
                </a:solidFill>
              </a:rPr>
              <a:t>→D</a:t>
            </a:r>
            <a:r>
              <a:rPr lang="en-US" altLang="en-US" dirty="0">
                <a:solidFill>
                  <a:srgbClr val="99FF33"/>
                </a:solidFill>
              </a:rPr>
              <a:t>,DC→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381365261"/>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a:ln>
                            <a:noFill/>
                          </a:ln>
                          <a:solidFill>
                            <a:srgbClr val="CCFFCC"/>
                          </a:solidFill>
                          <a:effectLst>
                            <a:outerShdw blurRad="38100" dist="38100" dir="2700000" algn="tl">
                              <a:srgbClr val="000000"/>
                            </a:outerShdw>
                          </a:effectLst>
                          <a:uLnTx/>
                          <a:uFillTx/>
                          <a:latin typeface="楷体_GB2312" pitchFamily="49" charset="-122"/>
                          <a:ea typeface="楷体_GB2312" pitchFamily="49" charset="-122"/>
                          <a:cs typeface="+mn-cs"/>
                        </a:rPr>
                        <a:t>a2</a:t>
                      </a:r>
                      <a:endParaRPr kumimoji="0" lang="en-US" altLang="zh-CN" sz="28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pitchFamily="49"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5)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找出所有</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BC</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相等而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不相等的行进行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的替换</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308747" y="103008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1" name="组合 10">
            <a:extLst>
              <a:ext uri="{FF2B5EF4-FFF2-40B4-BE49-F238E27FC236}">
                <a16:creationId xmlns:a16="http://schemas.microsoft.com/office/drawing/2014/main" id="{ED4D32C1-DE76-4FCB-8184-810629DD5409}"/>
              </a:ext>
            </a:extLst>
          </p:cNvPr>
          <p:cNvGrpSpPr/>
          <p:nvPr/>
        </p:nvGrpSpPr>
        <p:grpSpPr>
          <a:xfrm>
            <a:off x="10368873" y="1030083"/>
            <a:ext cx="288032" cy="265625"/>
            <a:chOff x="9428362" y="1030083"/>
            <a:chExt cx="288032" cy="265625"/>
          </a:xfrm>
        </p:grpSpPr>
        <p:sp>
          <p:nvSpPr>
            <p:cNvPr id="12" name="Line 86">
              <a:extLst>
                <a:ext uri="{FF2B5EF4-FFF2-40B4-BE49-F238E27FC236}">
                  <a16:creationId xmlns:a16="http://schemas.microsoft.com/office/drawing/2014/main" id="{5E66DC3C-CAAC-464F-AB83-8311804F6079}"/>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3" name="Line 86">
              <a:extLst>
                <a:ext uri="{FF2B5EF4-FFF2-40B4-BE49-F238E27FC236}">
                  <a16:creationId xmlns:a16="http://schemas.microsoft.com/office/drawing/2014/main" id="{D131314F-5383-4C40-AC66-3E1BC1B221A3}"/>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14" name="Oval 86">
            <a:extLst>
              <a:ext uri="{FF2B5EF4-FFF2-40B4-BE49-F238E27FC236}">
                <a16:creationId xmlns:a16="http://schemas.microsoft.com/office/drawing/2014/main" id="{8EF85AE0-8546-4B97-BC56-6C25F2919606}"/>
              </a:ext>
            </a:extLst>
          </p:cNvPr>
          <p:cNvSpPr>
            <a:spLocks noChangeArrowheads="1"/>
          </p:cNvSpPr>
          <p:nvPr/>
        </p:nvSpPr>
        <p:spPr bwMode="auto">
          <a:xfrm>
            <a:off x="9283959" y="5589240"/>
            <a:ext cx="117475" cy="117475"/>
          </a:xfrm>
          <a:prstGeom prst="ellipse">
            <a:avLst/>
          </a:prstGeom>
          <a:solidFill>
            <a:srgbClr val="FF0000"/>
          </a:solidFill>
          <a:ln w="12700" cap="sq" algn="ctr">
            <a:solidFill>
              <a:srgbClr val="FF0000"/>
            </a:solidFill>
            <a:round/>
            <a:headEnd/>
            <a:tailEnd/>
          </a:ln>
          <a:effectLst>
            <a:outerShdw blurRad="50800" dist="38100" dir="2700000" algn="tl" rotWithShape="0">
              <a:prstClr val="black">
                <a:alpha val="40000"/>
              </a:prstClr>
            </a:outerShdw>
          </a:effectLst>
        </p:spPr>
        <p:txBody>
          <a:bodyPr wrap="none" lIns="0" tIns="0" rIns="0" bIns="0" anchor="ctr"/>
          <a:lstStyle/>
          <a:p>
            <a:pPr fontAlgn="base">
              <a:spcBef>
                <a:spcPct val="0"/>
              </a:spcBef>
              <a:spcAft>
                <a:spcPct val="25000"/>
              </a:spcAft>
              <a:buSzPct val="80000"/>
            </a:pPr>
            <a:endParaRPr kumimoji="1" lang="zh-CN" altLang="en-US" sz="3200">
              <a:solidFill>
                <a:srgbClr val="FFFFFF"/>
              </a:solidFill>
              <a:effectLst>
                <a:outerShdw blurRad="38100" dist="38100" dir="2700000" algn="tl">
                  <a:srgbClr val="000000">
                    <a:alpha val="43137"/>
                  </a:srgbClr>
                </a:outerShdw>
              </a:effectLst>
              <a:ea typeface="楷体_GB2312" pitchFamily="49" charset="-122"/>
            </a:endParaRPr>
          </a:p>
        </p:txBody>
      </p:sp>
      <p:grpSp>
        <p:nvGrpSpPr>
          <p:cNvPr id="15" name="组合 14">
            <a:extLst>
              <a:ext uri="{FF2B5EF4-FFF2-40B4-BE49-F238E27FC236}">
                <a16:creationId xmlns:a16="http://schemas.microsoft.com/office/drawing/2014/main" id="{DF352AB7-7503-4691-8EA1-0E49BC90BF4A}"/>
              </a:ext>
            </a:extLst>
          </p:cNvPr>
          <p:cNvGrpSpPr/>
          <p:nvPr/>
        </p:nvGrpSpPr>
        <p:grpSpPr>
          <a:xfrm>
            <a:off x="1295865" y="1471651"/>
            <a:ext cx="288032" cy="265625"/>
            <a:chOff x="9428362" y="1030083"/>
            <a:chExt cx="288032" cy="265625"/>
          </a:xfrm>
        </p:grpSpPr>
        <p:sp>
          <p:nvSpPr>
            <p:cNvPr id="16" name="Line 86">
              <a:extLst>
                <a:ext uri="{FF2B5EF4-FFF2-40B4-BE49-F238E27FC236}">
                  <a16:creationId xmlns:a16="http://schemas.microsoft.com/office/drawing/2014/main" id="{528A2FB5-2618-4DCA-A5E6-20B4FC2CE83D}"/>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7" name="Line 86">
              <a:extLst>
                <a:ext uri="{FF2B5EF4-FFF2-40B4-BE49-F238E27FC236}">
                  <a16:creationId xmlns:a16="http://schemas.microsoft.com/office/drawing/2014/main" id="{D4B0DE0E-3493-409B-BB6B-0FDBA03CBC7F}"/>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Tree>
    <p:extLst>
      <p:ext uri="{BB962C8B-B14F-4D97-AF65-F5344CB8AC3E}">
        <p14:creationId xmlns:p14="http://schemas.microsoft.com/office/powerpoint/2010/main" val="2519219316"/>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a:t>
            </a:r>
            <a:r>
              <a:rPr lang="en-US" altLang="zh-CN" dirty="0">
                <a:solidFill>
                  <a:srgbClr val="00FFFF"/>
                </a:solidFill>
              </a:rPr>
              <a:t>D</a:t>
            </a:r>
            <a:r>
              <a:rPr lang="en-US" altLang="en-US" dirty="0">
                <a:solidFill>
                  <a:srgbClr val="00FFFF"/>
                </a:solidFill>
              </a:rPr>
              <a:t>→</a:t>
            </a:r>
            <a:r>
              <a:rPr lang="en-US" altLang="zh-CN" dirty="0">
                <a:solidFill>
                  <a:srgbClr val="00FFFF"/>
                </a:solidFill>
              </a:rPr>
              <a:t>B</a:t>
            </a:r>
            <a:r>
              <a:rPr lang="en-US" altLang="zh-CN" dirty="0">
                <a:solidFill>
                  <a:srgbClr val="99FF33"/>
                </a:solidFill>
              </a:rPr>
              <a:t>,</a:t>
            </a:r>
            <a:r>
              <a:rPr lang="en-US" altLang="zh-CN" dirty="0">
                <a:solidFill>
                  <a:srgbClr val="00FFFF"/>
                </a:solidFill>
              </a:rPr>
              <a:t>BC</a:t>
            </a:r>
            <a:r>
              <a:rPr lang="en-US" altLang="en-US" dirty="0">
                <a:solidFill>
                  <a:srgbClr val="00FFFF"/>
                </a:solidFill>
              </a:rPr>
              <a:t>→D</a:t>
            </a:r>
            <a:r>
              <a:rPr lang="en-US" altLang="en-US" dirty="0">
                <a:solidFill>
                  <a:srgbClr val="99FF33"/>
                </a:solidFill>
              </a:rPr>
              <a:t>,DC→</a:t>
            </a:r>
            <a:r>
              <a:rPr lang="en-US" altLang="zh-CN" dirty="0">
                <a:solidFill>
                  <a:srgbClr val="99FF33"/>
                </a:solidFill>
              </a:rPr>
              <a:t>A}</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3308837832"/>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a:ln>
                            <a:noFill/>
                          </a:ln>
                          <a:solidFill>
                            <a:srgbClr val="CCFFCC"/>
                          </a:solidFill>
                          <a:effectLst>
                            <a:outerShdw blurRad="38100" dist="38100" dir="2700000" algn="tl">
                              <a:srgbClr val="000000"/>
                            </a:outerShdw>
                          </a:effectLst>
                          <a:uLnTx/>
                          <a:uFillTx/>
                          <a:latin typeface="楷体_GB2312" pitchFamily="49" charset="-122"/>
                          <a:ea typeface="楷体_GB2312" pitchFamily="49" charset="-122"/>
                          <a:cs typeface="+mn-cs"/>
                        </a:rPr>
                        <a:t>a2</a:t>
                      </a:r>
                      <a:endParaRPr kumimoji="0" lang="en-US" altLang="zh-CN" sz="28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pitchFamily="49"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5)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第</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4</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次修改后的结果如下表</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308747" y="103008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1" name="组合 10">
            <a:extLst>
              <a:ext uri="{FF2B5EF4-FFF2-40B4-BE49-F238E27FC236}">
                <a16:creationId xmlns:a16="http://schemas.microsoft.com/office/drawing/2014/main" id="{ED4D32C1-DE76-4FCB-8184-810629DD5409}"/>
              </a:ext>
            </a:extLst>
          </p:cNvPr>
          <p:cNvGrpSpPr/>
          <p:nvPr/>
        </p:nvGrpSpPr>
        <p:grpSpPr>
          <a:xfrm>
            <a:off x="10368873" y="1030083"/>
            <a:ext cx="288032" cy="265625"/>
            <a:chOff x="9428362" y="1030083"/>
            <a:chExt cx="288032" cy="265625"/>
          </a:xfrm>
        </p:grpSpPr>
        <p:sp>
          <p:nvSpPr>
            <p:cNvPr id="12" name="Line 86">
              <a:extLst>
                <a:ext uri="{FF2B5EF4-FFF2-40B4-BE49-F238E27FC236}">
                  <a16:creationId xmlns:a16="http://schemas.microsoft.com/office/drawing/2014/main" id="{5E66DC3C-CAAC-464F-AB83-8311804F6079}"/>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3" name="Line 86">
              <a:extLst>
                <a:ext uri="{FF2B5EF4-FFF2-40B4-BE49-F238E27FC236}">
                  <a16:creationId xmlns:a16="http://schemas.microsoft.com/office/drawing/2014/main" id="{D131314F-5383-4C40-AC66-3E1BC1B221A3}"/>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5" name="组合 14">
            <a:extLst>
              <a:ext uri="{FF2B5EF4-FFF2-40B4-BE49-F238E27FC236}">
                <a16:creationId xmlns:a16="http://schemas.microsoft.com/office/drawing/2014/main" id="{DF352AB7-7503-4691-8EA1-0E49BC90BF4A}"/>
              </a:ext>
            </a:extLst>
          </p:cNvPr>
          <p:cNvGrpSpPr/>
          <p:nvPr/>
        </p:nvGrpSpPr>
        <p:grpSpPr>
          <a:xfrm>
            <a:off x="1295865" y="1471651"/>
            <a:ext cx="288032" cy="265625"/>
            <a:chOff x="9428362" y="1030083"/>
            <a:chExt cx="288032" cy="265625"/>
          </a:xfrm>
        </p:grpSpPr>
        <p:sp>
          <p:nvSpPr>
            <p:cNvPr id="16" name="Line 86">
              <a:extLst>
                <a:ext uri="{FF2B5EF4-FFF2-40B4-BE49-F238E27FC236}">
                  <a16:creationId xmlns:a16="http://schemas.microsoft.com/office/drawing/2014/main" id="{528A2FB5-2618-4DCA-A5E6-20B4FC2CE83D}"/>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7" name="Line 86">
              <a:extLst>
                <a:ext uri="{FF2B5EF4-FFF2-40B4-BE49-F238E27FC236}">
                  <a16:creationId xmlns:a16="http://schemas.microsoft.com/office/drawing/2014/main" id="{D4B0DE0E-3493-409B-BB6B-0FDBA03CBC7F}"/>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Tree>
    <p:extLst>
      <p:ext uri="{BB962C8B-B14F-4D97-AF65-F5344CB8AC3E}">
        <p14:creationId xmlns:p14="http://schemas.microsoft.com/office/powerpoint/2010/main" val="3405537445"/>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a:t>
            </a:r>
            <a:r>
              <a:rPr lang="en-US" altLang="zh-CN" dirty="0">
                <a:solidFill>
                  <a:srgbClr val="00FFFF"/>
                </a:solidFill>
              </a:rPr>
              <a:t>D</a:t>
            </a:r>
            <a:r>
              <a:rPr lang="en-US" altLang="en-US" dirty="0">
                <a:solidFill>
                  <a:srgbClr val="00FFFF"/>
                </a:solidFill>
              </a:rPr>
              <a:t>→</a:t>
            </a:r>
            <a:r>
              <a:rPr lang="en-US" altLang="zh-CN" dirty="0">
                <a:solidFill>
                  <a:srgbClr val="00FFFF"/>
                </a:solidFill>
              </a:rPr>
              <a:t>B</a:t>
            </a:r>
            <a:r>
              <a:rPr lang="en-US" altLang="zh-CN" dirty="0">
                <a:solidFill>
                  <a:srgbClr val="99FF33"/>
                </a:solidFill>
              </a:rPr>
              <a:t>,</a:t>
            </a:r>
            <a:r>
              <a:rPr lang="en-US" altLang="zh-CN" dirty="0">
                <a:solidFill>
                  <a:srgbClr val="00FFFF"/>
                </a:solidFill>
              </a:rPr>
              <a:t>BC</a:t>
            </a:r>
            <a:r>
              <a:rPr lang="en-US" altLang="en-US" dirty="0">
                <a:solidFill>
                  <a:srgbClr val="00FFFF"/>
                </a:solidFill>
              </a:rPr>
              <a:t>→D</a:t>
            </a:r>
            <a:r>
              <a:rPr lang="en-US" altLang="en-US" dirty="0">
                <a:solidFill>
                  <a:srgbClr val="99FF33"/>
                </a:solidFill>
              </a:rPr>
              <a:t>,</a:t>
            </a:r>
            <a:r>
              <a:rPr lang="en-US" altLang="en-US" dirty="0">
                <a:solidFill>
                  <a:srgbClr val="00FFFF"/>
                </a:solidFill>
              </a:rPr>
              <a:t>DC→</a:t>
            </a:r>
            <a:r>
              <a:rPr lang="en-US" altLang="zh-CN" dirty="0">
                <a:solidFill>
                  <a:srgbClr val="00FFFF"/>
                </a:solidFill>
              </a:rPr>
              <a:t>A</a:t>
            </a:r>
            <a:r>
              <a:rPr lang="en-US" altLang="zh-CN" dirty="0">
                <a:solidFill>
                  <a:srgbClr val="99FF33"/>
                </a:solidFill>
              </a:rPr>
              <a:t>}</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1875444490"/>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b31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b41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6)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找出所有</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DC</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相等而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不相等的行进行</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的替换</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308747" y="103008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1" name="组合 10">
            <a:extLst>
              <a:ext uri="{FF2B5EF4-FFF2-40B4-BE49-F238E27FC236}">
                <a16:creationId xmlns:a16="http://schemas.microsoft.com/office/drawing/2014/main" id="{ED4D32C1-DE76-4FCB-8184-810629DD5409}"/>
              </a:ext>
            </a:extLst>
          </p:cNvPr>
          <p:cNvGrpSpPr/>
          <p:nvPr/>
        </p:nvGrpSpPr>
        <p:grpSpPr>
          <a:xfrm>
            <a:off x="10368873" y="1030083"/>
            <a:ext cx="288032" cy="265625"/>
            <a:chOff x="9428362" y="1030083"/>
            <a:chExt cx="288032" cy="265625"/>
          </a:xfrm>
        </p:grpSpPr>
        <p:sp>
          <p:nvSpPr>
            <p:cNvPr id="12" name="Line 86">
              <a:extLst>
                <a:ext uri="{FF2B5EF4-FFF2-40B4-BE49-F238E27FC236}">
                  <a16:creationId xmlns:a16="http://schemas.microsoft.com/office/drawing/2014/main" id="{5E66DC3C-CAAC-464F-AB83-8311804F6079}"/>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3" name="Line 86">
              <a:extLst>
                <a:ext uri="{FF2B5EF4-FFF2-40B4-BE49-F238E27FC236}">
                  <a16:creationId xmlns:a16="http://schemas.microsoft.com/office/drawing/2014/main" id="{D131314F-5383-4C40-AC66-3E1BC1B221A3}"/>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5" name="组合 14">
            <a:extLst>
              <a:ext uri="{FF2B5EF4-FFF2-40B4-BE49-F238E27FC236}">
                <a16:creationId xmlns:a16="http://schemas.microsoft.com/office/drawing/2014/main" id="{DF352AB7-7503-4691-8EA1-0E49BC90BF4A}"/>
              </a:ext>
            </a:extLst>
          </p:cNvPr>
          <p:cNvGrpSpPr/>
          <p:nvPr/>
        </p:nvGrpSpPr>
        <p:grpSpPr>
          <a:xfrm>
            <a:off x="1295865" y="1471651"/>
            <a:ext cx="288032" cy="265625"/>
            <a:chOff x="9428362" y="1030083"/>
            <a:chExt cx="288032" cy="265625"/>
          </a:xfrm>
        </p:grpSpPr>
        <p:sp>
          <p:nvSpPr>
            <p:cNvPr id="16" name="Line 86">
              <a:extLst>
                <a:ext uri="{FF2B5EF4-FFF2-40B4-BE49-F238E27FC236}">
                  <a16:creationId xmlns:a16="http://schemas.microsoft.com/office/drawing/2014/main" id="{528A2FB5-2618-4DCA-A5E6-20B4FC2CE83D}"/>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7" name="Line 86">
              <a:extLst>
                <a:ext uri="{FF2B5EF4-FFF2-40B4-BE49-F238E27FC236}">
                  <a16:creationId xmlns:a16="http://schemas.microsoft.com/office/drawing/2014/main" id="{D4B0DE0E-3493-409B-BB6B-0FDBA03CBC7F}"/>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8" name="组合 17">
            <a:extLst>
              <a:ext uri="{FF2B5EF4-FFF2-40B4-BE49-F238E27FC236}">
                <a16:creationId xmlns:a16="http://schemas.microsoft.com/office/drawing/2014/main" id="{D9A805D8-A89C-49BE-9DFE-FCC074BF8F91}"/>
              </a:ext>
            </a:extLst>
          </p:cNvPr>
          <p:cNvGrpSpPr/>
          <p:nvPr/>
        </p:nvGrpSpPr>
        <p:grpSpPr>
          <a:xfrm>
            <a:off x="2592009" y="1469659"/>
            <a:ext cx="288032" cy="265625"/>
            <a:chOff x="9428362" y="1030083"/>
            <a:chExt cx="288032" cy="265625"/>
          </a:xfrm>
        </p:grpSpPr>
        <p:sp>
          <p:nvSpPr>
            <p:cNvPr id="19" name="Line 86">
              <a:extLst>
                <a:ext uri="{FF2B5EF4-FFF2-40B4-BE49-F238E27FC236}">
                  <a16:creationId xmlns:a16="http://schemas.microsoft.com/office/drawing/2014/main" id="{966B86AD-9080-4339-A67F-6DA144CE20BA}"/>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20" name="Line 86">
              <a:extLst>
                <a:ext uri="{FF2B5EF4-FFF2-40B4-BE49-F238E27FC236}">
                  <a16:creationId xmlns:a16="http://schemas.microsoft.com/office/drawing/2014/main" id="{7CD2F1A7-BAF0-4807-8726-0DA26BB044FE}"/>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21" name="Oval 86">
            <a:extLst>
              <a:ext uri="{FF2B5EF4-FFF2-40B4-BE49-F238E27FC236}">
                <a16:creationId xmlns:a16="http://schemas.microsoft.com/office/drawing/2014/main" id="{4470C938-67C2-492E-9FF8-EA498430731A}"/>
              </a:ext>
            </a:extLst>
          </p:cNvPr>
          <p:cNvSpPr>
            <a:spLocks noChangeArrowheads="1"/>
          </p:cNvSpPr>
          <p:nvPr/>
        </p:nvSpPr>
        <p:spPr bwMode="auto">
          <a:xfrm>
            <a:off x="4943872" y="6021288"/>
            <a:ext cx="117475" cy="117475"/>
          </a:xfrm>
          <a:prstGeom prst="ellipse">
            <a:avLst/>
          </a:prstGeom>
          <a:solidFill>
            <a:srgbClr val="FF0000"/>
          </a:solidFill>
          <a:ln w="12700" cap="sq" algn="ctr">
            <a:solidFill>
              <a:srgbClr val="FF0000"/>
            </a:solidFill>
            <a:round/>
            <a:headEnd/>
            <a:tailEnd/>
          </a:ln>
          <a:effectLst>
            <a:outerShdw blurRad="50800" dist="38100" dir="2700000" algn="tl" rotWithShape="0">
              <a:prstClr val="black">
                <a:alpha val="40000"/>
              </a:prstClr>
            </a:outerShdw>
          </a:effectLst>
        </p:spPr>
        <p:txBody>
          <a:bodyPr wrap="none" lIns="0" tIns="0" rIns="0" bIns="0" anchor="ctr"/>
          <a:lstStyle/>
          <a:p>
            <a:pPr fontAlgn="base">
              <a:spcBef>
                <a:spcPct val="0"/>
              </a:spcBef>
              <a:spcAft>
                <a:spcPct val="25000"/>
              </a:spcAft>
              <a:buSzPct val="80000"/>
            </a:pPr>
            <a:endParaRPr kumimoji="1" lang="zh-CN" altLang="en-US" sz="3200">
              <a:solidFill>
                <a:srgbClr val="FFFFFF"/>
              </a:solidFill>
              <a:effectLst>
                <a:outerShdw blurRad="38100" dist="38100" dir="2700000" algn="tl">
                  <a:srgbClr val="000000">
                    <a:alpha val="43137"/>
                  </a:srgbClr>
                </a:outerShdw>
              </a:effectLst>
              <a:ea typeface="楷体_GB2312" pitchFamily="49" charset="-122"/>
            </a:endParaRPr>
          </a:p>
        </p:txBody>
      </p:sp>
    </p:spTree>
    <p:extLst>
      <p:ext uri="{BB962C8B-B14F-4D97-AF65-F5344CB8AC3E}">
        <p14:creationId xmlns:p14="http://schemas.microsoft.com/office/powerpoint/2010/main" val="1745790608"/>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a:t>
            </a:r>
            <a:r>
              <a:rPr lang="en-US" altLang="zh-CN" dirty="0">
                <a:solidFill>
                  <a:srgbClr val="00FFFF"/>
                </a:solidFill>
              </a:rPr>
              <a:t>D</a:t>
            </a:r>
            <a:r>
              <a:rPr lang="en-US" altLang="en-US" dirty="0">
                <a:solidFill>
                  <a:srgbClr val="00FFFF"/>
                </a:solidFill>
              </a:rPr>
              <a:t>→</a:t>
            </a:r>
            <a:r>
              <a:rPr lang="en-US" altLang="zh-CN" dirty="0">
                <a:solidFill>
                  <a:srgbClr val="00FFFF"/>
                </a:solidFill>
              </a:rPr>
              <a:t>B</a:t>
            </a:r>
            <a:r>
              <a:rPr lang="en-US" altLang="zh-CN" dirty="0">
                <a:solidFill>
                  <a:srgbClr val="99FF33"/>
                </a:solidFill>
              </a:rPr>
              <a:t>,</a:t>
            </a:r>
            <a:r>
              <a:rPr lang="en-US" altLang="zh-CN" dirty="0">
                <a:solidFill>
                  <a:srgbClr val="00FFFF"/>
                </a:solidFill>
              </a:rPr>
              <a:t>BC</a:t>
            </a:r>
            <a:r>
              <a:rPr lang="en-US" altLang="en-US" dirty="0">
                <a:solidFill>
                  <a:srgbClr val="00FFFF"/>
                </a:solidFill>
              </a:rPr>
              <a:t>→D</a:t>
            </a:r>
            <a:r>
              <a:rPr lang="en-US" altLang="en-US" dirty="0">
                <a:solidFill>
                  <a:srgbClr val="99FF33"/>
                </a:solidFill>
              </a:rPr>
              <a:t>,</a:t>
            </a:r>
            <a:r>
              <a:rPr lang="en-US" altLang="en-US" dirty="0">
                <a:solidFill>
                  <a:srgbClr val="00FFFF"/>
                </a:solidFill>
              </a:rPr>
              <a:t>DC→</a:t>
            </a:r>
            <a:r>
              <a:rPr lang="en-US" altLang="zh-CN" dirty="0">
                <a:solidFill>
                  <a:srgbClr val="00FFFF"/>
                </a:solidFill>
              </a:rPr>
              <a:t>A</a:t>
            </a:r>
            <a:r>
              <a:rPr lang="en-US" altLang="zh-CN" dirty="0">
                <a:solidFill>
                  <a:srgbClr val="99FF33"/>
                </a:solidFill>
              </a:rPr>
              <a:t>}</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2254560954"/>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a1</a:t>
                      </a:r>
                      <a:endPar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99FF33"/>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874871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6)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第</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5</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次修改后的结果如下表</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308747" y="103008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1" name="组合 10">
            <a:extLst>
              <a:ext uri="{FF2B5EF4-FFF2-40B4-BE49-F238E27FC236}">
                <a16:creationId xmlns:a16="http://schemas.microsoft.com/office/drawing/2014/main" id="{ED4D32C1-DE76-4FCB-8184-810629DD5409}"/>
              </a:ext>
            </a:extLst>
          </p:cNvPr>
          <p:cNvGrpSpPr/>
          <p:nvPr/>
        </p:nvGrpSpPr>
        <p:grpSpPr>
          <a:xfrm>
            <a:off x="10368873" y="1030083"/>
            <a:ext cx="288032" cy="265625"/>
            <a:chOff x="9428362" y="1030083"/>
            <a:chExt cx="288032" cy="265625"/>
          </a:xfrm>
        </p:grpSpPr>
        <p:sp>
          <p:nvSpPr>
            <p:cNvPr id="12" name="Line 86">
              <a:extLst>
                <a:ext uri="{FF2B5EF4-FFF2-40B4-BE49-F238E27FC236}">
                  <a16:creationId xmlns:a16="http://schemas.microsoft.com/office/drawing/2014/main" id="{5E66DC3C-CAAC-464F-AB83-8311804F6079}"/>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3" name="Line 86">
              <a:extLst>
                <a:ext uri="{FF2B5EF4-FFF2-40B4-BE49-F238E27FC236}">
                  <a16:creationId xmlns:a16="http://schemas.microsoft.com/office/drawing/2014/main" id="{D131314F-5383-4C40-AC66-3E1BC1B221A3}"/>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5" name="组合 14">
            <a:extLst>
              <a:ext uri="{FF2B5EF4-FFF2-40B4-BE49-F238E27FC236}">
                <a16:creationId xmlns:a16="http://schemas.microsoft.com/office/drawing/2014/main" id="{DF352AB7-7503-4691-8EA1-0E49BC90BF4A}"/>
              </a:ext>
            </a:extLst>
          </p:cNvPr>
          <p:cNvGrpSpPr/>
          <p:nvPr/>
        </p:nvGrpSpPr>
        <p:grpSpPr>
          <a:xfrm>
            <a:off x="1295865" y="1471651"/>
            <a:ext cx="288032" cy="265625"/>
            <a:chOff x="9428362" y="1030083"/>
            <a:chExt cx="288032" cy="265625"/>
          </a:xfrm>
        </p:grpSpPr>
        <p:sp>
          <p:nvSpPr>
            <p:cNvPr id="16" name="Line 86">
              <a:extLst>
                <a:ext uri="{FF2B5EF4-FFF2-40B4-BE49-F238E27FC236}">
                  <a16:creationId xmlns:a16="http://schemas.microsoft.com/office/drawing/2014/main" id="{528A2FB5-2618-4DCA-A5E6-20B4FC2CE83D}"/>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7" name="Line 86">
              <a:extLst>
                <a:ext uri="{FF2B5EF4-FFF2-40B4-BE49-F238E27FC236}">
                  <a16:creationId xmlns:a16="http://schemas.microsoft.com/office/drawing/2014/main" id="{D4B0DE0E-3493-409B-BB6B-0FDBA03CBC7F}"/>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8" name="组合 17">
            <a:extLst>
              <a:ext uri="{FF2B5EF4-FFF2-40B4-BE49-F238E27FC236}">
                <a16:creationId xmlns:a16="http://schemas.microsoft.com/office/drawing/2014/main" id="{D9A805D8-A89C-49BE-9DFE-FCC074BF8F91}"/>
              </a:ext>
            </a:extLst>
          </p:cNvPr>
          <p:cNvGrpSpPr/>
          <p:nvPr/>
        </p:nvGrpSpPr>
        <p:grpSpPr>
          <a:xfrm>
            <a:off x="2592009" y="1469659"/>
            <a:ext cx="288032" cy="265625"/>
            <a:chOff x="9428362" y="1030083"/>
            <a:chExt cx="288032" cy="265625"/>
          </a:xfrm>
        </p:grpSpPr>
        <p:sp>
          <p:nvSpPr>
            <p:cNvPr id="19" name="Line 86">
              <a:extLst>
                <a:ext uri="{FF2B5EF4-FFF2-40B4-BE49-F238E27FC236}">
                  <a16:creationId xmlns:a16="http://schemas.microsoft.com/office/drawing/2014/main" id="{966B86AD-9080-4339-A67F-6DA144CE20BA}"/>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20" name="Line 86">
              <a:extLst>
                <a:ext uri="{FF2B5EF4-FFF2-40B4-BE49-F238E27FC236}">
                  <a16:creationId xmlns:a16="http://schemas.microsoft.com/office/drawing/2014/main" id="{7CD2F1A7-BAF0-4807-8726-0DA26BB044FE}"/>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Tree>
    <p:extLst>
      <p:ext uri="{BB962C8B-B14F-4D97-AF65-F5344CB8AC3E}">
        <p14:creationId xmlns:p14="http://schemas.microsoft.com/office/powerpoint/2010/main" val="1550843799"/>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E17E39CA-51A3-486D-8EBE-6AD94499B944}"/>
              </a:ext>
            </a:extLst>
          </p:cNvPr>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无损连接的测试算法</a:t>
            </a:r>
          </a:p>
        </p:txBody>
      </p:sp>
      <p:sp>
        <p:nvSpPr>
          <p:cNvPr id="1520644" name="Rectangle 4"/>
          <p:cNvSpPr>
            <a:spLocks noGrp="1" noChangeArrowheads="1"/>
          </p:cNvSpPr>
          <p:nvPr>
            <p:ph idx="1"/>
          </p:nvPr>
        </p:nvSpPr>
        <p:spPr>
          <a:xfrm>
            <a:off x="911424" y="887756"/>
            <a:ext cx="10321546" cy="647700"/>
          </a:xfrm>
        </p:spPr>
        <p:txBody>
          <a:bodyPr>
            <a:noAutofit/>
          </a:bodyPr>
          <a:lstStyle/>
          <a:p>
            <a:pPr marL="0" indent="0" algn="just">
              <a:buNone/>
              <a:defRPr/>
            </a:pPr>
            <a:r>
              <a:rPr lang="zh-CN" altLang="en-US" dirty="0">
                <a:solidFill>
                  <a:srgbClr val="99FF33"/>
                </a:solidFill>
              </a:rPr>
              <a:t>关系模式</a:t>
            </a:r>
            <a:r>
              <a:rPr lang="en-US" altLang="zh-CN" dirty="0">
                <a:solidFill>
                  <a:srgbClr val="99FF33"/>
                </a:solidFill>
              </a:rPr>
              <a:t>R(U,F)</a:t>
            </a:r>
            <a:r>
              <a:rPr lang="zh-CN" altLang="en-US" dirty="0">
                <a:solidFill>
                  <a:srgbClr val="99FF33"/>
                </a:solidFill>
              </a:rPr>
              <a:t>中，</a:t>
            </a:r>
            <a:r>
              <a:rPr lang="en-US" altLang="zh-CN" dirty="0">
                <a:solidFill>
                  <a:srgbClr val="99FF33"/>
                </a:solidFill>
              </a:rPr>
              <a:t>U={A,B,C,D,E}</a:t>
            </a:r>
            <a:r>
              <a:rPr lang="zh-CN" altLang="en-US" dirty="0">
                <a:solidFill>
                  <a:srgbClr val="99FF33"/>
                </a:solidFill>
              </a:rPr>
              <a:t>，</a:t>
            </a:r>
            <a:r>
              <a:rPr lang="en-US" altLang="zh-CN" dirty="0">
                <a:solidFill>
                  <a:srgbClr val="99FF33"/>
                </a:solidFill>
              </a:rPr>
              <a:t>F={</a:t>
            </a:r>
            <a:r>
              <a:rPr lang="en-US" altLang="zh-CN" dirty="0">
                <a:solidFill>
                  <a:srgbClr val="00FFFF"/>
                </a:solidFill>
              </a:rPr>
              <a:t>A</a:t>
            </a:r>
            <a:r>
              <a:rPr lang="en-US" altLang="en-US" dirty="0">
                <a:solidFill>
                  <a:srgbClr val="00FFFF"/>
                </a:solidFill>
              </a:rPr>
              <a:t>→</a:t>
            </a:r>
            <a:r>
              <a:rPr lang="en-US" altLang="zh-CN" dirty="0">
                <a:solidFill>
                  <a:srgbClr val="00FFFF"/>
                </a:solidFill>
              </a:rPr>
              <a:t>D</a:t>
            </a:r>
            <a:r>
              <a:rPr lang="en-US" altLang="zh-CN" dirty="0">
                <a:solidFill>
                  <a:srgbClr val="99FF33"/>
                </a:solidFill>
              </a:rPr>
              <a:t>,</a:t>
            </a:r>
            <a:r>
              <a:rPr lang="en-US" altLang="zh-CN" dirty="0">
                <a:solidFill>
                  <a:srgbClr val="00FFFF"/>
                </a:solidFill>
              </a:rPr>
              <a:t>E</a:t>
            </a:r>
            <a:r>
              <a:rPr lang="en-US" altLang="en-US" dirty="0">
                <a:solidFill>
                  <a:srgbClr val="00FFFF"/>
                </a:solidFill>
              </a:rPr>
              <a:t>→</a:t>
            </a:r>
            <a:r>
              <a:rPr lang="en-US" altLang="zh-CN" dirty="0">
                <a:solidFill>
                  <a:srgbClr val="00FFFF"/>
                </a:solidFill>
              </a:rPr>
              <a:t>D</a:t>
            </a:r>
            <a:r>
              <a:rPr lang="en-US" altLang="zh-CN" dirty="0">
                <a:solidFill>
                  <a:srgbClr val="99FF33"/>
                </a:solidFill>
              </a:rPr>
              <a:t>, </a:t>
            </a:r>
            <a:r>
              <a:rPr lang="en-US" altLang="zh-CN" dirty="0">
                <a:solidFill>
                  <a:srgbClr val="00FFFF"/>
                </a:solidFill>
              </a:rPr>
              <a:t>D</a:t>
            </a:r>
            <a:r>
              <a:rPr lang="en-US" altLang="en-US" dirty="0">
                <a:solidFill>
                  <a:srgbClr val="00FFFF"/>
                </a:solidFill>
              </a:rPr>
              <a:t>→</a:t>
            </a:r>
            <a:r>
              <a:rPr lang="en-US" altLang="zh-CN" dirty="0">
                <a:solidFill>
                  <a:srgbClr val="00FFFF"/>
                </a:solidFill>
              </a:rPr>
              <a:t>B</a:t>
            </a:r>
            <a:r>
              <a:rPr lang="en-US" altLang="zh-CN" dirty="0">
                <a:solidFill>
                  <a:srgbClr val="99FF33"/>
                </a:solidFill>
              </a:rPr>
              <a:t>,</a:t>
            </a:r>
            <a:r>
              <a:rPr lang="en-US" altLang="zh-CN" dirty="0">
                <a:solidFill>
                  <a:srgbClr val="00FFFF"/>
                </a:solidFill>
              </a:rPr>
              <a:t>BC</a:t>
            </a:r>
            <a:r>
              <a:rPr lang="en-US" altLang="en-US" dirty="0">
                <a:solidFill>
                  <a:srgbClr val="00FFFF"/>
                </a:solidFill>
              </a:rPr>
              <a:t>→D</a:t>
            </a:r>
            <a:r>
              <a:rPr lang="en-US" altLang="en-US" dirty="0">
                <a:solidFill>
                  <a:srgbClr val="99FF33"/>
                </a:solidFill>
              </a:rPr>
              <a:t>,</a:t>
            </a:r>
            <a:r>
              <a:rPr lang="en-US" altLang="en-US" dirty="0">
                <a:solidFill>
                  <a:srgbClr val="00FFFF"/>
                </a:solidFill>
              </a:rPr>
              <a:t>DC→</a:t>
            </a:r>
            <a:r>
              <a:rPr lang="en-US" altLang="zh-CN" dirty="0">
                <a:solidFill>
                  <a:srgbClr val="00FFFF"/>
                </a:solidFill>
              </a:rPr>
              <a:t>A</a:t>
            </a:r>
            <a:r>
              <a:rPr lang="en-US" altLang="zh-CN" dirty="0">
                <a:solidFill>
                  <a:srgbClr val="99FF33"/>
                </a:solidFill>
              </a:rPr>
              <a:t>}</a:t>
            </a:r>
            <a:r>
              <a:rPr lang="zh-CN" altLang="en-US" dirty="0">
                <a:solidFill>
                  <a:srgbClr val="99FF33"/>
                </a:solidFill>
              </a:rPr>
              <a:t>，</a:t>
            </a:r>
            <a:r>
              <a:rPr lang="en-US" altLang="zh-CN" i="1" dirty="0">
                <a:solidFill>
                  <a:srgbClr val="99FF33"/>
                </a:solidFill>
              </a:rPr>
              <a:t>ρ</a:t>
            </a:r>
            <a:r>
              <a:rPr lang="en-US" altLang="zh-CN" dirty="0">
                <a:solidFill>
                  <a:srgbClr val="99FF33"/>
                </a:solidFill>
              </a:rPr>
              <a:t>={R</a:t>
            </a:r>
            <a:r>
              <a:rPr lang="en-US" altLang="zh-CN" baseline="-30000" dirty="0">
                <a:solidFill>
                  <a:srgbClr val="99FF33"/>
                </a:solidFill>
              </a:rPr>
              <a:t>1</a:t>
            </a:r>
            <a:r>
              <a:rPr lang="en-US" altLang="zh-CN" dirty="0">
                <a:solidFill>
                  <a:srgbClr val="99FF33"/>
                </a:solidFill>
              </a:rPr>
              <a:t>(A,B),R</a:t>
            </a:r>
            <a:r>
              <a:rPr lang="en-US" altLang="zh-CN" baseline="-30000" dirty="0">
                <a:solidFill>
                  <a:srgbClr val="99FF33"/>
                </a:solidFill>
              </a:rPr>
              <a:t>2</a:t>
            </a:r>
            <a:r>
              <a:rPr lang="en-US" altLang="zh-CN" dirty="0">
                <a:solidFill>
                  <a:srgbClr val="99FF33"/>
                </a:solidFill>
              </a:rPr>
              <a:t>(A,E),R</a:t>
            </a:r>
            <a:r>
              <a:rPr lang="en-US" altLang="zh-CN" baseline="-30000" dirty="0">
                <a:solidFill>
                  <a:srgbClr val="99FF33"/>
                </a:solidFill>
              </a:rPr>
              <a:t>3</a:t>
            </a:r>
            <a:r>
              <a:rPr lang="en-US" altLang="zh-CN" dirty="0">
                <a:solidFill>
                  <a:srgbClr val="99FF33"/>
                </a:solidFill>
              </a:rPr>
              <a:t>(C,E), R</a:t>
            </a:r>
            <a:r>
              <a:rPr lang="en-US" altLang="zh-CN" baseline="-30000" dirty="0">
                <a:solidFill>
                  <a:srgbClr val="99FF33"/>
                </a:solidFill>
              </a:rPr>
              <a:t>4</a:t>
            </a:r>
            <a:r>
              <a:rPr lang="en-US" altLang="zh-CN" dirty="0">
                <a:solidFill>
                  <a:srgbClr val="99FF33"/>
                </a:solidFill>
              </a:rPr>
              <a:t>(B,C,D),R</a:t>
            </a:r>
            <a:r>
              <a:rPr lang="en-US" altLang="zh-CN" baseline="-30000" dirty="0">
                <a:solidFill>
                  <a:srgbClr val="99FF33"/>
                </a:solidFill>
              </a:rPr>
              <a:t>5</a:t>
            </a:r>
            <a:r>
              <a:rPr lang="en-US" altLang="zh-CN" dirty="0">
                <a:solidFill>
                  <a:srgbClr val="99FF33"/>
                </a:solidFill>
              </a:rPr>
              <a:t>(A,C)}</a:t>
            </a:r>
            <a:r>
              <a:rPr lang="zh-CN" altLang="en-US" dirty="0">
                <a:solidFill>
                  <a:srgbClr val="99FF33"/>
                </a:solidFill>
              </a:rPr>
              <a:t>，</a:t>
            </a:r>
            <a:r>
              <a:rPr lang="en-US" altLang="zh-CN" i="1" dirty="0">
                <a:solidFill>
                  <a:srgbClr val="99FF33"/>
                </a:solidFill>
              </a:rPr>
              <a:t>ρ</a:t>
            </a:r>
            <a:r>
              <a:rPr lang="zh-CN" altLang="en-US" dirty="0">
                <a:solidFill>
                  <a:srgbClr val="99FF33"/>
                </a:solidFill>
              </a:rPr>
              <a:t>是否是无损连接分解</a:t>
            </a:r>
            <a:r>
              <a:rPr lang="en-US" altLang="zh-CN" dirty="0">
                <a:solidFill>
                  <a:srgbClr val="99FF33"/>
                </a:solidFill>
              </a:rPr>
              <a:t>?</a:t>
            </a:r>
            <a:endParaRPr lang="zh-CN" altLang="en-US" dirty="0">
              <a:solidFill>
                <a:srgbClr val="99FF33"/>
              </a:solidFill>
            </a:endParaRPr>
          </a:p>
        </p:txBody>
      </p:sp>
      <p:graphicFrame>
        <p:nvGraphicFramePr>
          <p:cNvPr id="6" name="Group 5">
            <a:extLst>
              <a:ext uri="{FF2B5EF4-FFF2-40B4-BE49-F238E27FC236}">
                <a16:creationId xmlns:a16="http://schemas.microsoft.com/office/drawing/2014/main" id="{716075A7-F1C9-4101-B07D-396715131922}"/>
              </a:ext>
            </a:extLst>
          </p:cNvPr>
          <p:cNvGraphicFramePr>
            <a:graphicFrameLocks noGrp="1"/>
          </p:cNvGraphicFramePr>
          <p:nvPr>
            <p:extLst>
              <p:ext uri="{D42A27DB-BD31-4B8C-83A1-F6EECF244321}">
                <p14:modId xmlns:p14="http://schemas.microsoft.com/office/powerpoint/2010/main" val="1499804415"/>
              </p:ext>
            </p:extLst>
          </p:nvPr>
        </p:nvGraphicFramePr>
        <p:xfrm>
          <a:off x="1055439" y="3429000"/>
          <a:ext cx="9937102" cy="2930918"/>
        </p:xfrm>
        <a:graphic>
          <a:graphicData uri="http://schemas.openxmlformats.org/drawingml/2006/table">
            <a:tbl>
              <a:tblPr/>
              <a:tblGrid>
                <a:gridCol w="503509">
                  <a:extLst>
                    <a:ext uri="{9D8B030D-6E8A-4147-A177-3AD203B41FA5}">
                      <a16:colId xmlns:a16="http://schemas.microsoft.com/office/drawing/2014/main" val="20000"/>
                    </a:ext>
                  </a:extLst>
                </a:gridCol>
                <a:gridCol w="2335663">
                  <a:extLst>
                    <a:ext uri="{9D8B030D-6E8A-4147-A177-3AD203B41FA5}">
                      <a16:colId xmlns:a16="http://schemas.microsoft.com/office/drawing/2014/main" val="20001"/>
                    </a:ext>
                  </a:extLst>
                </a:gridCol>
                <a:gridCol w="1419586">
                  <a:extLst>
                    <a:ext uri="{9D8B030D-6E8A-4147-A177-3AD203B41FA5}">
                      <a16:colId xmlns:a16="http://schemas.microsoft.com/office/drawing/2014/main" val="20002"/>
                    </a:ext>
                  </a:extLst>
                </a:gridCol>
                <a:gridCol w="1419586">
                  <a:extLst>
                    <a:ext uri="{9D8B030D-6E8A-4147-A177-3AD203B41FA5}">
                      <a16:colId xmlns:a16="http://schemas.microsoft.com/office/drawing/2014/main" val="20003"/>
                    </a:ext>
                  </a:extLst>
                </a:gridCol>
                <a:gridCol w="1419586">
                  <a:extLst>
                    <a:ext uri="{9D8B030D-6E8A-4147-A177-3AD203B41FA5}">
                      <a16:colId xmlns:a16="http://schemas.microsoft.com/office/drawing/2014/main" val="20004"/>
                    </a:ext>
                  </a:extLst>
                </a:gridCol>
                <a:gridCol w="1419586">
                  <a:extLst>
                    <a:ext uri="{9D8B030D-6E8A-4147-A177-3AD203B41FA5}">
                      <a16:colId xmlns:a16="http://schemas.microsoft.com/office/drawing/2014/main" val="20005"/>
                    </a:ext>
                  </a:extLst>
                </a:gridCol>
                <a:gridCol w="1419586">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b23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b14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endPar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en-US" altLang="zh-CN" sz="2800" b="0" i="0" u="none" strike="noStrike" kern="1200" cap="none" normalizeH="0" baseline="0" noProof="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b45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bg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a1</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a2</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a3</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a4</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kern="1200"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cs typeface="+mn-cs"/>
                        </a:rPr>
                        <a:t>b55</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Rectangle 85">
            <a:extLst>
              <a:ext uri="{FF2B5EF4-FFF2-40B4-BE49-F238E27FC236}">
                <a16:creationId xmlns:a16="http://schemas.microsoft.com/office/drawing/2014/main" id="{E9F1C3F0-4BE2-46CE-AB2C-80FE7A6B99B8}"/>
              </a:ext>
            </a:extLst>
          </p:cNvPr>
          <p:cNvSpPr>
            <a:spLocks noChangeArrowheads="1"/>
          </p:cNvSpPr>
          <p:nvPr/>
        </p:nvSpPr>
        <p:spPr bwMode="auto">
          <a:xfrm>
            <a:off x="1007833" y="2788508"/>
            <a:ext cx="9937102" cy="381000"/>
          </a:xfrm>
          <a:prstGeom prst="rect">
            <a:avLst/>
          </a:prstGeom>
          <a:noFill/>
          <a:ln w="12700" cap="sq">
            <a:noFill/>
            <a:miter lim="800000"/>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7) </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最终表里存在全</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型元素行，故</a:t>
            </a:r>
            <a:r>
              <a:rPr kumimoji="1" lang="en-US" altLang="zh-CN" sz="3200" b="0" i="1"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ρ</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是无损连接分解！</a:t>
            </a:r>
          </a:p>
        </p:txBody>
      </p:sp>
      <p:grpSp>
        <p:nvGrpSpPr>
          <p:cNvPr id="2" name="组合 1">
            <a:extLst>
              <a:ext uri="{FF2B5EF4-FFF2-40B4-BE49-F238E27FC236}">
                <a16:creationId xmlns:a16="http://schemas.microsoft.com/office/drawing/2014/main" id="{65762FFC-EF0F-4940-8F66-5534615E0EDB}"/>
              </a:ext>
            </a:extLst>
          </p:cNvPr>
          <p:cNvGrpSpPr/>
          <p:nvPr/>
        </p:nvGrpSpPr>
        <p:grpSpPr>
          <a:xfrm>
            <a:off x="9308747" y="1030083"/>
            <a:ext cx="288032" cy="265625"/>
            <a:chOff x="9428362" y="1030083"/>
            <a:chExt cx="288032" cy="265625"/>
          </a:xfrm>
        </p:grpSpPr>
        <p:sp>
          <p:nvSpPr>
            <p:cNvPr id="8" name="Line 86">
              <a:extLst>
                <a:ext uri="{FF2B5EF4-FFF2-40B4-BE49-F238E27FC236}">
                  <a16:creationId xmlns:a16="http://schemas.microsoft.com/office/drawing/2014/main" id="{7798680B-64EF-40B2-A76D-88EB6719078E}"/>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0" name="Line 86">
              <a:extLst>
                <a:ext uri="{FF2B5EF4-FFF2-40B4-BE49-F238E27FC236}">
                  <a16:creationId xmlns:a16="http://schemas.microsoft.com/office/drawing/2014/main" id="{C5D5841C-6C06-458C-AAD6-1E3E2613A7FA}"/>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1" name="组合 10">
            <a:extLst>
              <a:ext uri="{FF2B5EF4-FFF2-40B4-BE49-F238E27FC236}">
                <a16:creationId xmlns:a16="http://schemas.microsoft.com/office/drawing/2014/main" id="{ED4D32C1-DE76-4FCB-8184-810629DD5409}"/>
              </a:ext>
            </a:extLst>
          </p:cNvPr>
          <p:cNvGrpSpPr/>
          <p:nvPr/>
        </p:nvGrpSpPr>
        <p:grpSpPr>
          <a:xfrm>
            <a:off x="10368873" y="1030083"/>
            <a:ext cx="288032" cy="265625"/>
            <a:chOff x="9428362" y="1030083"/>
            <a:chExt cx="288032" cy="265625"/>
          </a:xfrm>
        </p:grpSpPr>
        <p:sp>
          <p:nvSpPr>
            <p:cNvPr id="12" name="Line 86">
              <a:extLst>
                <a:ext uri="{FF2B5EF4-FFF2-40B4-BE49-F238E27FC236}">
                  <a16:creationId xmlns:a16="http://schemas.microsoft.com/office/drawing/2014/main" id="{5E66DC3C-CAAC-464F-AB83-8311804F6079}"/>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3" name="Line 86">
              <a:extLst>
                <a:ext uri="{FF2B5EF4-FFF2-40B4-BE49-F238E27FC236}">
                  <a16:creationId xmlns:a16="http://schemas.microsoft.com/office/drawing/2014/main" id="{D131314F-5383-4C40-AC66-3E1BC1B221A3}"/>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5" name="组合 14">
            <a:extLst>
              <a:ext uri="{FF2B5EF4-FFF2-40B4-BE49-F238E27FC236}">
                <a16:creationId xmlns:a16="http://schemas.microsoft.com/office/drawing/2014/main" id="{DF352AB7-7503-4691-8EA1-0E49BC90BF4A}"/>
              </a:ext>
            </a:extLst>
          </p:cNvPr>
          <p:cNvGrpSpPr/>
          <p:nvPr/>
        </p:nvGrpSpPr>
        <p:grpSpPr>
          <a:xfrm>
            <a:off x="1295865" y="1471651"/>
            <a:ext cx="288032" cy="265625"/>
            <a:chOff x="9428362" y="1030083"/>
            <a:chExt cx="288032" cy="265625"/>
          </a:xfrm>
        </p:grpSpPr>
        <p:sp>
          <p:nvSpPr>
            <p:cNvPr id="16" name="Line 86">
              <a:extLst>
                <a:ext uri="{FF2B5EF4-FFF2-40B4-BE49-F238E27FC236}">
                  <a16:creationId xmlns:a16="http://schemas.microsoft.com/office/drawing/2014/main" id="{528A2FB5-2618-4DCA-A5E6-20B4FC2CE83D}"/>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17" name="Line 86">
              <a:extLst>
                <a:ext uri="{FF2B5EF4-FFF2-40B4-BE49-F238E27FC236}">
                  <a16:creationId xmlns:a16="http://schemas.microsoft.com/office/drawing/2014/main" id="{D4B0DE0E-3493-409B-BB6B-0FDBA03CBC7F}"/>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grpSp>
        <p:nvGrpSpPr>
          <p:cNvPr id="18" name="组合 17">
            <a:extLst>
              <a:ext uri="{FF2B5EF4-FFF2-40B4-BE49-F238E27FC236}">
                <a16:creationId xmlns:a16="http://schemas.microsoft.com/office/drawing/2014/main" id="{D9A805D8-A89C-49BE-9DFE-FCC074BF8F91}"/>
              </a:ext>
            </a:extLst>
          </p:cNvPr>
          <p:cNvGrpSpPr/>
          <p:nvPr/>
        </p:nvGrpSpPr>
        <p:grpSpPr>
          <a:xfrm>
            <a:off x="2592009" y="1469659"/>
            <a:ext cx="288032" cy="265625"/>
            <a:chOff x="9428362" y="1030083"/>
            <a:chExt cx="288032" cy="265625"/>
          </a:xfrm>
        </p:grpSpPr>
        <p:sp>
          <p:nvSpPr>
            <p:cNvPr id="19" name="Line 86">
              <a:extLst>
                <a:ext uri="{FF2B5EF4-FFF2-40B4-BE49-F238E27FC236}">
                  <a16:creationId xmlns:a16="http://schemas.microsoft.com/office/drawing/2014/main" id="{966B86AD-9080-4339-A67F-6DA144CE20BA}"/>
                </a:ext>
              </a:extLst>
            </p:cNvPr>
            <p:cNvSpPr>
              <a:spLocks noChangeShapeType="1"/>
            </p:cNvSpPr>
            <p:nvPr/>
          </p:nvSpPr>
          <p:spPr bwMode="auto">
            <a:xfrm flipV="1">
              <a:off x="9470742" y="1030083"/>
              <a:ext cx="203272" cy="265625"/>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
          <p:nvSpPr>
            <p:cNvPr id="20" name="Line 86">
              <a:extLst>
                <a:ext uri="{FF2B5EF4-FFF2-40B4-BE49-F238E27FC236}">
                  <a16:creationId xmlns:a16="http://schemas.microsoft.com/office/drawing/2014/main" id="{7CD2F1A7-BAF0-4807-8726-0DA26BB044FE}"/>
                </a:ext>
              </a:extLst>
            </p:cNvPr>
            <p:cNvSpPr>
              <a:spLocks noChangeShapeType="1"/>
            </p:cNvSpPr>
            <p:nvPr/>
          </p:nvSpPr>
          <p:spPr bwMode="auto">
            <a:xfrm>
              <a:off x="9428362" y="1075880"/>
              <a:ext cx="288032" cy="174030"/>
            </a:xfrm>
            <a:prstGeom prst="line">
              <a:avLst/>
            </a:prstGeom>
            <a:noFill/>
            <a:ln w="28575" cap="sq">
              <a:solidFill>
                <a:srgbClr val="FF0000"/>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grpSp>
      <p:sp>
        <p:nvSpPr>
          <p:cNvPr id="3" name="矩形 2">
            <a:extLst>
              <a:ext uri="{FF2B5EF4-FFF2-40B4-BE49-F238E27FC236}">
                <a16:creationId xmlns:a16="http://schemas.microsoft.com/office/drawing/2014/main" id="{74D7C7E9-80EA-4F89-B364-8071FFEEF28B}"/>
              </a:ext>
            </a:extLst>
          </p:cNvPr>
          <p:cNvSpPr/>
          <p:nvPr/>
        </p:nvSpPr>
        <p:spPr bwMode="auto">
          <a:xfrm>
            <a:off x="3901440" y="5082540"/>
            <a:ext cx="7086600" cy="411480"/>
          </a:xfrm>
          <a:prstGeom prst="rect">
            <a:avLst/>
          </a:prstGeom>
          <a:noFill/>
          <a:ln w="38100" cap="sq"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endParaRPr kumimoji="1" lang="zh-CN" altLang="en-US" sz="3200" b="0" i="0" u="none" strike="noStrike" kern="1200" cap="none" spc="0" normalizeH="0" baseline="0" noProof="0">
              <a:ln w="0"/>
              <a:solidFill>
                <a:srgbClr val="FFFFFF"/>
              </a:solidFill>
              <a:effectLst>
                <a:outerShdw blurRad="38100" dist="19050" dir="2700000" algn="tl" rotWithShape="0">
                  <a:srgbClr val="000514">
                    <a:alpha val="40000"/>
                  </a:srgbClr>
                </a:outerShdw>
              </a:effectLst>
              <a:uLnTx/>
              <a:uFillTx/>
              <a:latin typeface="楷体_GB2312" pitchFamily="49" charset="-122"/>
              <a:ea typeface="楷体_GB2312" pitchFamily="49" charset="-122"/>
              <a:cs typeface="+mn-cs"/>
            </a:endParaRPr>
          </a:p>
        </p:txBody>
      </p:sp>
    </p:spTree>
    <p:extLst>
      <p:ext uri="{BB962C8B-B14F-4D97-AF65-F5344CB8AC3E}">
        <p14:creationId xmlns:p14="http://schemas.microsoft.com/office/powerpoint/2010/main" val="1035005976"/>
      </p:ext>
    </p:extLst>
  </p:cSld>
  <p:clrMapOvr>
    <a:masterClrMapping/>
  </p:clrMapOvr>
  <mc:AlternateContent xmlns:mc="http://schemas.openxmlformats.org/markup-compatibility/2006">
    <mc:Choice xmlns:p159="http://schemas.microsoft.com/office/powerpoint/2015/09/main" xmlns="" Requires="p159">
      <p:transition spd="slow">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无损连接的一个实用定理</a:t>
            </a:r>
          </a:p>
        </p:txBody>
      </p:sp>
      <p:sp>
        <p:nvSpPr>
          <p:cNvPr id="1532931" name="Rectangle 3"/>
          <p:cNvSpPr>
            <a:spLocks noGrp="1" noChangeArrowheads="1"/>
          </p:cNvSpPr>
          <p:nvPr>
            <p:ph idx="1"/>
          </p:nvPr>
        </p:nvSpPr>
        <p:spPr>
          <a:xfrm>
            <a:off x="539369" y="885498"/>
            <a:ext cx="10513168" cy="2016125"/>
          </a:xfrm>
        </p:spPr>
        <p:txBody>
          <a:bodyPr>
            <a:normAutofit/>
          </a:bodyPr>
          <a:lstStyle/>
          <a:p>
            <a:pPr marL="358775" indent="-358775" algn="just">
              <a:lnSpc>
                <a:spcPct val="115000"/>
              </a:lnSpc>
              <a:defRPr/>
            </a:pPr>
            <a:r>
              <a:rPr lang="zh-CN" altLang="en-US" dirty="0">
                <a:latin typeface="楷体_GB2312" pitchFamily="49" charset="-122"/>
              </a:rPr>
              <a:t>如果</a:t>
            </a:r>
            <a:r>
              <a:rPr lang="en-US" altLang="zh-CN" dirty="0">
                <a:latin typeface="楷体_GB2312" pitchFamily="49" charset="-122"/>
              </a:rPr>
              <a:t>R(U,F)</a:t>
            </a:r>
            <a:r>
              <a:rPr lang="zh-CN" altLang="en-US" dirty="0">
                <a:latin typeface="楷体_GB2312" pitchFamily="49" charset="-122"/>
              </a:rPr>
              <a:t>的分解为</a:t>
            </a:r>
            <a:r>
              <a:rPr lang="en-US" altLang="zh-CN" i="1" dirty="0">
                <a:latin typeface="楷体_GB2312" pitchFamily="49" charset="-122"/>
              </a:rPr>
              <a:t>ρ</a:t>
            </a:r>
            <a:r>
              <a:rPr lang="zh-CN" altLang="en-US" dirty="0">
                <a:latin typeface="楷体_GB2312" pitchFamily="49" charset="-122"/>
              </a:rPr>
              <a:t>＝</a:t>
            </a:r>
            <a:r>
              <a:rPr lang="en-US" altLang="zh-CN" dirty="0">
                <a:latin typeface="楷体_GB2312" pitchFamily="49" charset="-122"/>
              </a:rPr>
              <a:t>{R</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),R</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a:t>
            </a:r>
            <a:r>
              <a:rPr lang="zh-CN" altLang="en-US" dirty="0">
                <a:latin typeface="楷体_GB2312" pitchFamily="49" charset="-122"/>
              </a:rPr>
              <a:t>，其中</a:t>
            </a:r>
            <a:r>
              <a:rPr lang="en-US" altLang="zh-CN" dirty="0">
                <a:latin typeface="楷体_GB2312" pitchFamily="49" charset="-122"/>
              </a:rPr>
              <a:t>U=U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zh-CN" altLang="en-US" dirty="0">
                <a:latin typeface="楷体_GB2312" pitchFamily="49" charset="-122"/>
              </a:rPr>
              <a:t>，则分解</a:t>
            </a:r>
            <a:r>
              <a:rPr lang="en-US" altLang="zh-CN" i="1" dirty="0">
                <a:latin typeface="楷体_GB2312" pitchFamily="49" charset="-122"/>
              </a:rPr>
              <a:t>ρ</a:t>
            </a:r>
            <a:r>
              <a:rPr lang="zh-CN" altLang="en-US" dirty="0">
                <a:latin typeface="楷体_GB2312" pitchFamily="49" charset="-122"/>
              </a:rPr>
              <a:t>是无损连接的充要条件为</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a:t>
            </a:r>
            <a:r>
              <a:rPr lang="zh-CN" altLang="en-US" dirty="0">
                <a:latin typeface="楷体_GB2312" pitchFamily="49" charset="-122"/>
              </a:rPr>
              <a:t>或者</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a:t>
            </a:r>
            <a:r>
              <a:rPr lang="zh-CN" altLang="en-US" dirty="0">
                <a:latin typeface="楷体_GB2312" pitchFamily="49" charset="-122"/>
              </a:rPr>
              <a:t>成立。	</a:t>
            </a:r>
          </a:p>
        </p:txBody>
      </p:sp>
      <p:sp>
        <p:nvSpPr>
          <p:cNvPr id="1532933" name="Text Box 5"/>
          <p:cNvSpPr txBox="1">
            <a:spLocks noChangeArrowheads="1"/>
          </p:cNvSpPr>
          <p:nvPr/>
        </p:nvSpPr>
        <p:spPr bwMode="auto">
          <a:xfrm>
            <a:off x="911424" y="2968404"/>
            <a:ext cx="9971295"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2000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设关系模式</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R(A,B,C)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。若</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分解成</a:t>
            </a:r>
            <a:r>
              <a:rPr kumimoji="0" lang="en-US" altLang="zh-CN" sz="3200" b="0" i="1"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ρ</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={R</a:t>
            </a:r>
            <a:r>
              <a:rPr kumimoji="0" lang="en-US" altLang="zh-CN"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R</a:t>
            </a:r>
            <a:r>
              <a:rPr kumimoji="0" lang="en-US" altLang="zh-CN"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(A,C)}</a:t>
            </a:r>
          </a:p>
          <a:p>
            <a:pPr marL="0" marR="0" lvl="0" indent="0" algn="l" defTabSz="914400" rtl="0" eaLnBrk="1" fontAlgn="base" latinLnBrk="0" hangingPunct="1">
              <a:lnSpc>
                <a:spcPct val="100000"/>
              </a:lnSpc>
              <a:spcBef>
                <a:spcPct val="15000"/>
              </a:spcBef>
              <a:spcAft>
                <a:spcPct val="2000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则有</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 </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={A,B,C}=U</a:t>
            </a:r>
            <a:endPar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15000"/>
              </a:spcBef>
              <a:spcAft>
                <a:spcPct val="20000"/>
              </a:spcAft>
              <a:buClrTx/>
              <a:buSzTx/>
              <a:buFontTx/>
              <a:buNone/>
              <a:tabLst/>
              <a:defRPr/>
            </a:pP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zh-CN" altLang="en-US"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zh-CN" altLang="en-US" sz="3200" b="0" i="0" u="none" strike="noStrike" kern="1200" cap="none" spc="0" normalizeH="0" baseline="-25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={C}</a:t>
            </a:r>
          </a:p>
          <a:p>
            <a:pPr marL="0" marR="0" lvl="0" indent="0" algn="l" defTabSz="914400" rtl="0" eaLnBrk="1" fontAlgn="base" latinLnBrk="0" hangingPunct="1">
              <a:lnSpc>
                <a:spcPct val="100000"/>
              </a:lnSpc>
              <a:spcBef>
                <a:spcPct val="0"/>
              </a:spcBef>
              <a:spcAft>
                <a:spcPct val="2000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由</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可知</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，即</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成立</a:t>
            </a:r>
          </a:p>
          <a:p>
            <a:pPr marL="0" marR="0" lvl="0" indent="0" algn="l" defTabSz="914400" rtl="0" eaLnBrk="1" fontAlgn="base" latinLnBrk="0" hangingPunct="1">
              <a:lnSpc>
                <a:spcPct val="100000"/>
              </a:lnSpc>
              <a:spcBef>
                <a:spcPct val="0"/>
              </a:spcBef>
              <a:spcAft>
                <a:spcPct val="2000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故此</a:t>
            </a:r>
            <a:r>
              <a:rPr kumimoji="0" lang="en-US" altLang="zh-CN" sz="3200" b="0" i="1"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ρ</a:t>
            </a:r>
            <a:r>
              <a:rPr kumimoji="0" lang="zh-CN" altLang="en-US"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rPr>
              <a:t>为无损连接分解</a:t>
            </a:r>
            <a:endParaRPr kumimoji="0" lang="zh-CN" altLang="zh-CN" sz="3200" b="0" i="0" u="none" strike="noStrike" kern="1200" cap="none" spc="0" normalizeH="0" baseline="0" noProof="0" dirty="0">
              <a:ln>
                <a:noFill/>
              </a:ln>
              <a:solidFill>
                <a:srgbClr val="99FF33"/>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3" name="arrow.wav"/>
          </p:stSnd>
        </p:sndAc>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无损连接的一个实用定理</a:t>
            </a:r>
          </a:p>
        </p:txBody>
      </p:sp>
      <p:sp>
        <p:nvSpPr>
          <p:cNvPr id="5" name="Text Box 5">
            <a:extLst>
              <a:ext uri="{FF2B5EF4-FFF2-40B4-BE49-F238E27FC236}">
                <a16:creationId xmlns:a16="http://schemas.microsoft.com/office/drawing/2014/main" id="{2A5EE251-5C10-4920-B098-8697EB54C249}"/>
              </a:ext>
            </a:extLst>
          </p:cNvPr>
          <p:cNvSpPr txBox="1">
            <a:spLocks noChangeArrowheads="1"/>
          </p:cNvSpPr>
          <p:nvPr/>
        </p:nvSpPr>
        <p:spPr bwMode="auto">
          <a:xfrm>
            <a:off x="850786" y="2901623"/>
            <a:ext cx="10357782"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设关系模式</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R(A,B,C)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。若</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分解成</a:t>
            </a:r>
            <a:r>
              <a:rPr kumimoji="0" lang="en-US" altLang="zh-CN" sz="3200" b="0" i="1"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ρ</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={R</a:t>
            </a:r>
            <a:r>
              <a:rPr kumimoji="0" lang="en-US"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R</a:t>
            </a:r>
            <a:r>
              <a:rPr kumimoji="0" lang="en-US"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(B,C)}</a:t>
            </a:r>
          </a:p>
          <a:p>
            <a:pPr marL="0" marR="0" lvl="0" indent="0" algn="l" defTabSz="914400" rtl="0" eaLnBrk="1" fontAlgn="base" latinLnBrk="0" hangingPunct="1">
              <a:lnSpc>
                <a:spcPct val="100000"/>
              </a:lnSpc>
              <a:spcBef>
                <a:spcPct val="1500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则有</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 </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={A,B,C}=U</a:t>
            </a:r>
            <a:endPar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15000"/>
              </a:spcBef>
              <a:spcAft>
                <a:spcPct val="0"/>
              </a:spcAft>
              <a:buClrTx/>
              <a:buSzTx/>
              <a:buFontTx/>
              <a:buNone/>
              <a:tabLst/>
              <a:defRPr/>
            </a:pP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zh-CN" altLang="en-US"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zh-CN" altLang="en-US" sz="3200" b="0" i="0" u="none" strike="noStrike" kern="1200" cap="none" spc="0" normalizeH="0" baseline="-25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={C}</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由</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无法推出</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B→A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，即</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不成立</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也无法推出</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，即</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2</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-U</a:t>
            </a:r>
            <a:r>
              <a:rPr kumimoji="0" lang="en-US" altLang="zh-CN" sz="3200" b="0" i="0" u="none" strike="noStrike" kern="1200" cap="none" spc="0" normalizeH="0" baseline="-3000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1</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不成立</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故此</a:t>
            </a:r>
            <a:r>
              <a:rPr kumimoji="0" lang="en-US" altLang="zh-CN" sz="3200" b="0" i="1"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ρ</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rPr>
              <a:t>不具有无损连接性</a:t>
            </a:r>
            <a:endPar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宋体" panose="02010600030101010101" pitchFamily="2" charset="-122"/>
              <a:ea typeface="宋体" panose="02010600030101010101" pitchFamily="2" charset="-122"/>
            </a:endParaRPr>
          </a:p>
        </p:txBody>
      </p:sp>
      <p:sp>
        <p:nvSpPr>
          <p:cNvPr id="7" name="Rectangle 3">
            <a:extLst>
              <a:ext uri="{FF2B5EF4-FFF2-40B4-BE49-F238E27FC236}">
                <a16:creationId xmlns:a16="http://schemas.microsoft.com/office/drawing/2014/main" id="{7EC488EC-9373-4340-9A0B-5DB6B1B87731}"/>
              </a:ext>
            </a:extLst>
          </p:cNvPr>
          <p:cNvSpPr>
            <a:spLocks noGrp="1" noChangeArrowheads="1"/>
          </p:cNvSpPr>
          <p:nvPr>
            <p:ph idx="1"/>
          </p:nvPr>
        </p:nvSpPr>
        <p:spPr>
          <a:xfrm>
            <a:off x="539369" y="885498"/>
            <a:ext cx="10513168" cy="2016125"/>
          </a:xfrm>
        </p:spPr>
        <p:txBody>
          <a:bodyPr>
            <a:normAutofit/>
          </a:bodyPr>
          <a:lstStyle/>
          <a:p>
            <a:pPr marL="358775" indent="-358775" algn="just">
              <a:lnSpc>
                <a:spcPct val="115000"/>
              </a:lnSpc>
              <a:defRPr/>
            </a:pPr>
            <a:r>
              <a:rPr lang="zh-CN" altLang="en-US" dirty="0">
                <a:latin typeface="楷体_GB2312" pitchFamily="49" charset="-122"/>
              </a:rPr>
              <a:t>如果</a:t>
            </a:r>
            <a:r>
              <a:rPr lang="en-US" altLang="zh-CN" dirty="0">
                <a:latin typeface="楷体_GB2312" pitchFamily="49" charset="-122"/>
              </a:rPr>
              <a:t>R(U,F)</a:t>
            </a:r>
            <a:r>
              <a:rPr lang="zh-CN" altLang="en-US" dirty="0">
                <a:latin typeface="楷体_GB2312" pitchFamily="49" charset="-122"/>
              </a:rPr>
              <a:t>的分解为</a:t>
            </a:r>
            <a:r>
              <a:rPr lang="en-US" altLang="zh-CN" i="1" dirty="0">
                <a:latin typeface="楷体_GB2312" pitchFamily="49" charset="-122"/>
              </a:rPr>
              <a:t>ρ</a:t>
            </a:r>
            <a:r>
              <a:rPr lang="zh-CN" altLang="en-US" dirty="0">
                <a:latin typeface="楷体_GB2312" pitchFamily="49" charset="-122"/>
              </a:rPr>
              <a:t>＝</a:t>
            </a:r>
            <a:r>
              <a:rPr lang="en-US" altLang="zh-CN" dirty="0">
                <a:latin typeface="楷体_GB2312" pitchFamily="49" charset="-122"/>
              </a:rPr>
              <a:t>{R</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),R</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a:t>
            </a:r>
            <a:r>
              <a:rPr lang="zh-CN" altLang="en-US" dirty="0">
                <a:latin typeface="楷体_GB2312" pitchFamily="49" charset="-122"/>
              </a:rPr>
              <a:t>，其中</a:t>
            </a:r>
            <a:r>
              <a:rPr lang="en-US" altLang="zh-CN" dirty="0">
                <a:latin typeface="楷体_GB2312" pitchFamily="49" charset="-122"/>
              </a:rPr>
              <a:t>U=U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zh-CN" altLang="en-US" dirty="0">
                <a:latin typeface="楷体_GB2312" pitchFamily="49" charset="-122"/>
              </a:rPr>
              <a:t>，则分解</a:t>
            </a:r>
            <a:r>
              <a:rPr lang="en-US" altLang="zh-CN" i="1" dirty="0">
                <a:latin typeface="楷体_GB2312" pitchFamily="49" charset="-122"/>
              </a:rPr>
              <a:t>ρ</a:t>
            </a:r>
            <a:r>
              <a:rPr lang="zh-CN" altLang="en-US" dirty="0">
                <a:latin typeface="楷体_GB2312" pitchFamily="49" charset="-122"/>
              </a:rPr>
              <a:t>是无损连接的充要条件为</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a:t>
            </a:r>
            <a:r>
              <a:rPr lang="zh-CN" altLang="en-US" dirty="0">
                <a:latin typeface="楷体_GB2312" pitchFamily="49" charset="-122"/>
              </a:rPr>
              <a:t>或者</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2</a:t>
            </a:r>
            <a:r>
              <a:rPr lang="en-US" altLang="zh-CN" dirty="0">
                <a:latin typeface="楷体_GB2312" pitchFamily="49" charset="-122"/>
              </a:rPr>
              <a:t>-U</a:t>
            </a:r>
            <a:r>
              <a:rPr lang="en-US" altLang="zh-CN" baseline="-30000" dirty="0">
                <a:latin typeface="楷体_GB2312" pitchFamily="49" charset="-122"/>
              </a:rPr>
              <a:t>1</a:t>
            </a:r>
            <a:r>
              <a:rPr lang="en-US" altLang="zh-CN" dirty="0">
                <a:latin typeface="楷体_GB2312" pitchFamily="49" charset="-122"/>
              </a:rPr>
              <a:t>)</a:t>
            </a:r>
            <a:r>
              <a:rPr lang="zh-CN" altLang="en-US" dirty="0">
                <a:latin typeface="楷体_GB2312" pitchFamily="49" charset="-122"/>
              </a:rPr>
              <a:t>成立。	</a:t>
            </a:r>
          </a:p>
        </p:txBody>
      </p:sp>
    </p:spTree>
    <p:extLst>
      <p:ext uri="{BB962C8B-B14F-4D97-AF65-F5344CB8AC3E}">
        <p14:creationId xmlns:p14="http://schemas.microsoft.com/office/powerpoint/2010/main" val="1533423504"/>
      </p:ext>
    </p:extLst>
  </p:cSld>
  <p:clrMapOvr>
    <a:masterClrMapping/>
  </p:clrMapOvr>
  <p:transition spd="slow">
    <p:wipe dir="d"/>
    <p:sndAc>
      <p:stSnd>
        <p:snd r:embed="rId2" name="arrow.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solidFill>
                  <a:srgbClr val="FFFF00"/>
                </a:solidFill>
              </a:rPr>
              <a:t>课后习题二</a:t>
            </a:r>
            <a:r>
              <a:rPr lang="en-US" altLang="zh-CN" dirty="0" smtClean="0">
                <a:solidFill>
                  <a:srgbClr val="FFFF00"/>
                </a:solidFill>
              </a:rPr>
              <a:t>.7.8</a:t>
            </a:r>
            <a:endParaRPr lang="zh-CN" altLang="en-US" dirty="0">
              <a:solidFill>
                <a:srgbClr val="FFFF00"/>
              </a:solidFill>
            </a:endParaRPr>
          </a:p>
        </p:txBody>
      </p:sp>
    </p:spTree>
    <p:extLst>
      <p:ext uri="{BB962C8B-B14F-4D97-AF65-F5344CB8AC3E}">
        <p14:creationId xmlns:p14="http://schemas.microsoft.com/office/powerpoint/2010/main" val="1523235349"/>
      </p:ext>
    </p:extLst>
  </p:cSld>
  <p:clrMapOvr>
    <a:masterClrMapping/>
  </p:clrMapOvr>
  <p:transition spd="slow">
    <p:wipe dir="r"/>
    <p:sndAc>
      <p:stSnd>
        <p:snd r:embed="rId2" name="arrow.wav"/>
      </p:stSnd>
    </p:sndAc>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979"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保持函数依赖测试算法</a:t>
            </a:r>
          </a:p>
        </p:txBody>
      </p:sp>
      <p:sp>
        <p:nvSpPr>
          <p:cNvPr id="39" name="Rectangle 4">
            <a:extLst>
              <a:ext uri="{FF2B5EF4-FFF2-40B4-BE49-F238E27FC236}">
                <a16:creationId xmlns:a16="http://schemas.microsoft.com/office/drawing/2014/main" id="{810EC4F9-C19F-48BC-A943-260ABA43D12F}"/>
              </a:ext>
            </a:extLst>
          </p:cNvPr>
          <p:cNvSpPr txBox="1">
            <a:spLocks noChangeArrowheads="1"/>
          </p:cNvSpPr>
          <p:nvPr/>
        </p:nvSpPr>
        <p:spPr bwMode="auto">
          <a:xfrm>
            <a:off x="875420" y="980728"/>
            <a:ext cx="10765196" cy="647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just" defTabSz="914400" rtl="0" eaLnBrk="0" fontAlgn="base" latinLnBrk="0" hangingPunct="0">
              <a:lnSpc>
                <a:spcPct val="100000"/>
              </a:lnSpc>
              <a:spcBef>
                <a:spcPct val="0"/>
              </a:spcBef>
              <a:spcAft>
                <a:spcPct val="40000"/>
              </a:spcAft>
              <a:buClr>
                <a:srgbClr val="66FF33"/>
              </a:buClr>
              <a:buSzPct val="85000"/>
              <a:buFont typeface="Wingdings" pitchFamily="2" charset="2"/>
              <a:buNone/>
              <a:tabLst>
                <a:tab pos="352425" algn="l"/>
              </a:tabLst>
              <a:defRPr/>
            </a:pPr>
            <a:r>
              <a:rPr kumimoji="0" lang="en-US" altLang="zh-CN" b="0" i="1"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ρ</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={R</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1</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(U</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1</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),R</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2</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(U</a:t>
            </a:r>
            <a:r>
              <a:rPr kumimoji="0" lang="en-US" altLang="zh-CN" b="0" i="0" u="none" strike="noStrike" kern="0" cap="none" spc="0" normalizeH="0" baseline="-3000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2</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Times New Roman"/>
                <a:ea typeface="楷体_GB2312"/>
                <a:cs typeface="+mn-cs"/>
              </a:rPr>
              <a:t>…</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 </a:t>
            </a:r>
            <a:r>
              <a:rPr kumimoji="0" lang="en-US" altLang="zh-CN" b="0" i="0" u="none" strike="noStrike" kern="0" cap="none" spc="0" normalizeH="0" baseline="0" noProof="0" dirty="0" err="1">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R</a:t>
            </a:r>
            <a:r>
              <a:rPr kumimoji="0" lang="en-US" altLang="zh-CN" b="0" i="0" u="none" strike="noStrike" kern="0" cap="none" spc="0" normalizeH="0" baseline="-30000" noProof="0" dirty="0" err="1">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k</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a:t>
            </a:r>
            <a:r>
              <a:rPr kumimoji="0" lang="en-US" altLang="zh-CN" b="0" i="0" u="none" strike="noStrike" kern="0" cap="none" spc="0" normalizeH="0" baseline="0" noProof="0" dirty="0" err="1">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U</a:t>
            </a:r>
            <a:r>
              <a:rPr kumimoji="0" lang="en-US" altLang="zh-CN" b="0" i="0" u="none" strike="noStrike" kern="0" cap="none" spc="0" normalizeH="0" baseline="-30000" noProof="0" dirty="0" err="1">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k</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为关系模式</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R(U,F)</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的分解，</a:t>
            </a:r>
            <a:r>
              <a:rPr kumimoji="0" lang="en-US" altLang="zh-CN" b="0" i="1"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ρ</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是否保持函数依赖的测试方法如下：</a:t>
            </a:r>
          </a:p>
          <a:p>
            <a:pPr marL="0" marR="0" lvl="0" indent="-457200" algn="just" defTabSz="914400" rtl="0" eaLnBrk="0" fontAlgn="base" latinLnBrk="0" hangingPunct="0">
              <a:lnSpc>
                <a:spcPct val="100000"/>
              </a:lnSpc>
              <a:spcBef>
                <a:spcPct val="55000"/>
              </a:spcBef>
              <a:spcAft>
                <a:spcPct val="0"/>
              </a:spcAft>
              <a:buClrTx/>
              <a:buSzTx/>
              <a:buFontTx/>
              <a:buNone/>
              <a:tabLst>
                <a:tab pos="352425" algn="l"/>
              </a:tabLst>
              <a:defRPr/>
            </a:pP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⑴ </a:t>
            </a:r>
            <a:r>
              <a:rPr kumimoji="0" lang="zh-CN" altLang="en-US"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令</a:t>
            </a:r>
            <a:r>
              <a:rPr kumimoji="0" lang="en-US" altLang="zh-CN"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G=            </a:t>
            </a:r>
            <a:r>
              <a:rPr kumimoji="0" lang="zh-CN" altLang="en-US"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a:t>
            </a:r>
            <a:r>
              <a:rPr kumimoji="0" lang="en-US" altLang="zh-CN"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F=F-G</a:t>
            </a:r>
            <a:r>
              <a:rPr kumimoji="0" lang="zh-CN" altLang="en-US"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a:t>
            </a:r>
            <a:r>
              <a:rPr kumimoji="0" lang="en-US" altLang="zh-CN"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Result=True</a:t>
            </a:r>
            <a:r>
              <a:rPr kumimoji="0" lang="zh-CN" altLang="en-US"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，若</a:t>
            </a:r>
            <a:r>
              <a:rPr kumimoji="0" lang="en-US" altLang="zh-CN"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F=φ</a:t>
            </a:r>
            <a:r>
              <a:rPr kumimoji="0" lang="zh-CN" altLang="en-US" b="0" i="0" u="none" strike="noStrike" kern="0" cap="none"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转⑷</a:t>
            </a:r>
          </a:p>
          <a:p>
            <a:pPr marL="0" marR="0" lvl="0" indent="-457200" algn="just" defTabSz="914400" rtl="0" eaLnBrk="0" fontAlgn="base" latinLnBrk="0" hangingPunct="0">
              <a:lnSpc>
                <a:spcPct val="100000"/>
              </a:lnSpc>
              <a:spcBef>
                <a:spcPct val="70000"/>
              </a:spcBef>
              <a:spcAft>
                <a:spcPct val="0"/>
              </a:spcAft>
              <a:buClrTx/>
              <a:buSzTx/>
              <a:buFontTx/>
              <a:buNone/>
              <a:tabLst>
                <a:tab pos="352425" algn="l"/>
              </a:tabLst>
              <a:defRPr/>
            </a:pP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⑵ </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对</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F</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的第</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1</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个函数依赖</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X→Y</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，计算  ，令</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F=F-{X→Y}</a:t>
            </a:r>
            <a:endParaRPr kumimoji="0" lang="zh-CN" altLang="en-US" b="1"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endParaRPr>
          </a:p>
          <a:p>
            <a:pPr marL="0" marR="0" lvl="0" indent="-457200" algn="just" defTabSz="914400" rtl="0" eaLnBrk="0" fontAlgn="base" latinLnBrk="0" hangingPunct="0">
              <a:lnSpc>
                <a:spcPct val="100000"/>
              </a:lnSpc>
              <a:spcBef>
                <a:spcPct val="70000"/>
              </a:spcBef>
              <a:spcAft>
                <a:spcPct val="0"/>
              </a:spcAft>
              <a:buClrTx/>
              <a:buSzTx/>
              <a:buFontTx/>
              <a:buNone/>
              <a:tabLst>
                <a:tab pos="352425" algn="l"/>
              </a:tabLst>
              <a:defRPr/>
            </a:pP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⑶ 若</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Y          </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，则令</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Result=False</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，转⑷</a:t>
            </a:r>
          </a:p>
          <a:p>
            <a:pPr marL="0" marR="0" lvl="0" indent="-457200" algn="just" defTabSz="914400" rtl="0" eaLnBrk="0" fontAlgn="base" latinLnBrk="0" hangingPunct="0">
              <a:lnSpc>
                <a:spcPct val="100000"/>
              </a:lnSpc>
              <a:spcBef>
                <a:spcPct val="20000"/>
              </a:spcBef>
              <a:spcAft>
                <a:spcPct val="0"/>
              </a:spcAft>
              <a:buClrTx/>
              <a:buSzTx/>
              <a:buFontTx/>
              <a:buNone/>
              <a:tabLst>
                <a:tab pos="352425" algn="l"/>
              </a:tabLst>
              <a:defRPr/>
            </a:pP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   否则，若</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F</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Symbol"/>
                <a:ea typeface="楷体_GB2312"/>
                <a:cs typeface="+mn-cs"/>
              </a:rPr>
              <a:t>¹</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φ</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转⑵，否则转⑷；</a:t>
            </a:r>
          </a:p>
          <a:p>
            <a:pPr marL="0" marR="0" lvl="0" indent="-457200" algn="l" defTabSz="914400" rtl="0" eaLnBrk="0" fontAlgn="base" latinLnBrk="0" hangingPunct="0">
              <a:lnSpc>
                <a:spcPct val="100000"/>
              </a:lnSpc>
              <a:spcBef>
                <a:spcPct val="70000"/>
              </a:spcBef>
              <a:spcAft>
                <a:spcPct val="0"/>
              </a:spcAft>
              <a:buClrTx/>
              <a:buSzTx/>
              <a:buFontTx/>
              <a:buNone/>
              <a:tabLst>
                <a:tab pos="352425" algn="l"/>
              </a:tabLst>
              <a:defRPr/>
            </a:pP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⑷ 若</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Result=True</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则 </a:t>
            </a:r>
            <a:r>
              <a:rPr kumimoji="0" lang="en-US" altLang="zh-CN" b="0" i="1"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ρ </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保持函数依赖 </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F</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，否则</a:t>
            </a:r>
            <a:r>
              <a:rPr kumimoji="0" lang="en-US" altLang="zh-CN" b="0" i="1"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ρ</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不保持函数       </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	 </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依赖</a:t>
            </a:r>
            <a:r>
              <a:rPr kumimoji="0" lang="en-US" altLang="zh-CN"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F</a:t>
            </a:r>
            <a:r>
              <a:rPr kumimoji="0" lang="zh-CN" altLang="en-US" b="0" i="0" u="none" strike="noStrike" kern="0" cap="none" spc="0" normalizeH="0" baseline="0" noProof="0" dirty="0">
                <a:ln>
                  <a:noFill/>
                </a:ln>
                <a:solidFill>
                  <a:srgbClr val="CCFFCC"/>
                </a:solidFill>
                <a:effectLst>
                  <a:outerShdw blurRad="38100" dist="38100" dir="2700000" algn="tl">
                    <a:srgbClr val="000000"/>
                  </a:outerShdw>
                </a:effectLst>
                <a:uLnTx/>
                <a:uFillTx/>
                <a:latin typeface="楷体_GB2312" pitchFamily="49" charset="-122"/>
                <a:ea typeface="楷体_GB2312"/>
                <a:cs typeface="+mn-cs"/>
              </a:rPr>
              <a:t>。 </a:t>
            </a:r>
          </a:p>
        </p:txBody>
      </p:sp>
      <p:grpSp>
        <p:nvGrpSpPr>
          <p:cNvPr id="40" name="Group 5">
            <a:extLst>
              <a:ext uri="{FF2B5EF4-FFF2-40B4-BE49-F238E27FC236}">
                <a16:creationId xmlns:a16="http://schemas.microsoft.com/office/drawing/2014/main" id="{9C0196D8-0CC8-415E-A802-FE9799699D7A}"/>
              </a:ext>
            </a:extLst>
          </p:cNvPr>
          <p:cNvGrpSpPr>
            <a:grpSpLocks/>
          </p:cNvGrpSpPr>
          <p:nvPr/>
        </p:nvGrpSpPr>
        <p:grpSpPr bwMode="auto">
          <a:xfrm>
            <a:off x="2474214" y="2259211"/>
            <a:ext cx="1686760" cy="838199"/>
            <a:chOff x="988" y="1456"/>
            <a:chExt cx="853" cy="528"/>
          </a:xfrm>
        </p:grpSpPr>
        <p:grpSp>
          <p:nvGrpSpPr>
            <p:cNvPr id="41" name="Group 6">
              <a:extLst>
                <a:ext uri="{FF2B5EF4-FFF2-40B4-BE49-F238E27FC236}">
                  <a16:creationId xmlns:a16="http://schemas.microsoft.com/office/drawing/2014/main" id="{44EA806A-D877-45EF-BF5D-3A0DDE36DAFB}"/>
                </a:ext>
              </a:extLst>
            </p:cNvPr>
            <p:cNvGrpSpPr>
              <a:grpSpLocks/>
            </p:cNvGrpSpPr>
            <p:nvPr/>
          </p:nvGrpSpPr>
          <p:grpSpPr bwMode="auto">
            <a:xfrm>
              <a:off x="988" y="1456"/>
              <a:ext cx="292" cy="528"/>
              <a:chOff x="2813" y="2045"/>
              <a:chExt cx="292" cy="528"/>
            </a:xfrm>
          </p:grpSpPr>
          <p:sp>
            <p:nvSpPr>
              <p:cNvPr id="44" name="Rectangle 7">
                <a:extLst>
                  <a:ext uri="{FF2B5EF4-FFF2-40B4-BE49-F238E27FC236}">
                    <a16:creationId xmlns:a16="http://schemas.microsoft.com/office/drawing/2014/main" id="{65ABC8B7-B7BC-4729-8047-89EBBA5BF83C}"/>
                  </a:ext>
                </a:extLst>
              </p:cNvPr>
              <p:cNvSpPr>
                <a:spLocks noChangeArrowheads="1"/>
              </p:cNvSpPr>
              <p:nvPr/>
            </p:nvSpPr>
            <p:spPr bwMode="auto">
              <a:xfrm>
                <a:off x="2813" y="2144"/>
                <a:ext cx="292" cy="349"/>
              </a:xfrm>
              <a:prstGeom prst="rect">
                <a:avLst/>
              </a:prstGeom>
              <a:noFill/>
              <a:ln w="12700" cap="sq" algn="ctr">
                <a:noFill/>
                <a:miter lim="800000"/>
                <a:headEnd/>
                <a:tailEnd/>
              </a:ln>
              <a:effectLst/>
            </p:spPr>
            <p:txBody>
              <a:bodyPr wrap="none" lIns="0" tIns="0" rIns="0" bIns="0">
                <a:spAutoFit/>
              </a:bodyPr>
              <a:lstStyle/>
              <a:p>
                <a:pPr fontAlgn="base">
                  <a:spcBef>
                    <a:spcPct val="0"/>
                  </a:spcBef>
                  <a:spcAft>
                    <a:spcPct val="25000"/>
                  </a:spcAft>
                  <a:defRPr/>
                </a:pPr>
                <a:r>
                  <a:rPr lang="zh-CN" altLang="en-US" sz="3600" b="1" dirty="0">
                    <a:solidFill>
                      <a:srgbClr val="CCFFCC"/>
                    </a:solidFill>
                    <a:effectLst>
                      <a:outerShdw blurRad="38100" dist="38100" dir="2700000" algn="tl">
                        <a:srgbClr val="000000"/>
                      </a:outerShdw>
                    </a:effectLst>
                    <a:latin typeface="楷体_GB2312" pitchFamily="49" charset="-122"/>
                    <a:ea typeface="楷体_GB2312" pitchFamily="49" charset="-122"/>
                  </a:rPr>
                  <a:t>∪</a:t>
                </a:r>
              </a:p>
            </p:txBody>
          </p:sp>
          <p:sp>
            <p:nvSpPr>
              <p:cNvPr id="45" name="Rectangle 8">
                <a:extLst>
                  <a:ext uri="{FF2B5EF4-FFF2-40B4-BE49-F238E27FC236}">
                    <a16:creationId xmlns:a16="http://schemas.microsoft.com/office/drawing/2014/main" id="{EC0C8F70-A7E3-4ADE-91BA-88FE84B844D1}"/>
                  </a:ext>
                </a:extLst>
              </p:cNvPr>
              <p:cNvSpPr>
                <a:spLocks noChangeArrowheads="1"/>
              </p:cNvSpPr>
              <p:nvPr/>
            </p:nvSpPr>
            <p:spPr bwMode="auto">
              <a:xfrm>
                <a:off x="2835" y="2379"/>
                <a:ext cx="245" cy="194"/>
              </a:xfrm>
              <a:prstGeom prst="rect">
                <a:avLst/>
              </a:prstGeom>
              <a:noFill/>
              <a:ln w="12700" cap="sq" algn="ctr">
                <a:noFill/>
                <a:miter lim="800000"/>
                <a:headEnd/>
                <a:tailEnd/>
              </a:ln>
              <a:effectLst/>
            </p:spPr>
            <p:txBody>
              <a:bodyPr wrap="none" lIns="0" tIns="0" rIns="0" bIns="0">
                <a:spAutoFit/>
              </a:bodyPr>
              <a:lstStyle/>
              <a:p>
                <a:pPr fontAlgn="base">
                  <a:spcBef>
                    <a:spcPct val="0"/>
                  </a:spcBef>
                  <a:spcAft>
                    <a:spcPct val="25000"/>
                  </a:spcAft>
                  <a:defRPr/>
                </a:pPr>
                <a:r>
                  <a:rPr lang="en-US" altLang="zh-CN" sz="2000" b="1">
                    <a:solidFill>
                      <a:srgbClr val="CCFFCC"/>
                    </a:solidFill>
                    <a:effectLst>
                      <a:outerShdw blurRad="38100" dist="38100" dir="2700000" algn="tl">
                        <a:srgbClr val="000000"/>
                      </a:outerShdw>
                    </a:effectLst>
                    <a:latin typeface="楷体_GB2312" pitchFamily="49" charset="-122"/>
                    <a:ea typeface="楷体_GB2312" pitchFamily="49" charset="-122"/>
                  </a:rPr>
                  <a:t>i=1</a:t>
                </a:r>
              </a:p>
            </p:txBody>
          </p:sp>
          <p:sp>
            <p:nvSpPr>
              <p:cNvPr id="46" name="Rectangle 9">
                <a:extLst>
                  <a:ext uri="{FF2B5EF4-FFF2-40B4-BE49-F238E27FC236}">
                    <a16:creationId xmlns:a16="http://schemas.microsoft.com/office/drawing/2014/main" id="{D51A459C-3FA6-4684-8267-E2D98230932D}"/>
                  </a:ext>
                </a:extLst>
              </p:cNvPr>
              <p:cNvSpPr>
                <a:spLocks noChangeArrowheads="1"/>
              </p:cNvSpPr>
              <p:nvPr/>
            </p:nvSpPr>
            <p:spPr bwMode="auto">
              <a:xfrm>
                <a:off x="2901" y="2045"/>
                <a:ext cx="82" cy="194"/>
              </a:xfrm>
              <a:prstGeom prst="rect">
                <a:avLst/>
              </a:prstGeom>
              <a:noFill/>
              <a:ln w="12700" cap="sq" algn="ctr">
                <a:noFill/>
                <a:miter lim="800000"/>
                <a:headEnd/>
                <a:tailEnd/>
              </a:ln>
              <a:effectLst/>
            </p:spPr>
            <p:txBody>
              <a:bodyPr wrap="none" lIns="0" tIns="0" rIns="0" bIns="0">
                <a:spAutoFit/>
              </a:bodyPr>
              <a:lstStyle/>
              <a:p>
                <a:pPr fontAlgn="base">
                  <a:spcBef>
                    <a:spcPct val="0"/>
                  </a:spcBef>
                  <a:spcAft>
                    <a:spcPct val="25000"/>
                  </a:spcAft>
                  <a:defRPr/>
                </a:pPr>
                <a:r>
                  <a:rPr lang="en-US" altLang="zh-CN" sz="2000" b="1" dirty="0">
                    <a:solidFill>
                      <a:srgbClr val="CCFFCC"/>
                    </a:solidFill>
                    <a:effectLst>
                      <a:outerShdw blurRad="38100" dist="38100" dir="2700000" algn="tl">
                        <a:srgbClr val="000000"/>
                      </a:outerShdw>
                    </a:effectLst>
                    <a:latin typeface="楷体_GB2312" pitchFamily="49" charset="-122"/>
                    <a:ea typeface="楷体_GB2312" pitchFamily="49" charset="-122"/>
                  </a:rPr>
                  <a:t>k</a:t>
                </a:r>
              </a:p>
            </p:txBody>
          </p:sp>
        </p:grpSp>
        <p:sp>
          <p:nvSpPr>
            <p:cNvPr id="42" name="Rectangle 10">
              <a:extLst>
                <a:ext uri="{FF2B5EF4-FFF2-40B4-BE49-F238E27FC236}">
                  <a16:creationId xmlns:a16="http://schemas.microsoft.com/office/drawing/2014/main" id="{C40D6AEA-75BD-4D9A-BFD1-1B5D3FFBB672}"/>
                </a:ext>
              </a:extLst>
            </p:cNvPr>
            <p:cNvSpPr>
              <a:spLocks noChangeArrowheads="1"/>
            </p:cNvSpPr>
            <p:nvPr/>
          </p:nvSpPr>
          <p:spPr bwMode="auto">
            <a:xfrm>
              <a:off x="1226" y="1534"/>
              <a:ext cx="615" cy="349"/>
            </a:xfrm>
            <a:prstGeom prst="rect">
              <a:avLst/>
            </a:prstGeom>
            <a:noFill/>
            <a:ln w="12700" cap="sq" algn="ctr">
              <a:noFill/>
              <a:miter lim="800000"/>
              <a:headEnd/>
              <a:tailEnd/>
            </a:ln>
            <a:effectLst/>
          </p:spPr>
          <p:txBody>
            <a:bodyPr wrap="none" lIns="0" tIns="0" rIns="0" bIns="0">
              <a:spAutoFit/>
            </a:bodyPr>
            <a:lstStyle/>
            <a:p>
              <a:pPr fontAlgn="base">
                <a:spcBef>
                  <a:spcPct val="0"/>
                </a:spcBef>
                <a:spcAft>
                  <a:spcPct val="25000"/>
                </a:spcAft>
                <a:defRPr/>
              </a:pPr>
              <a:r>
                <a:rPr lang="el-GR" altLang="zh-CN" sz="3600" dirty="0">
                  <a:solidFill>
                    <a:srgbClr val="CCFFCC"/>
                  </a:solidFill>
                  <a:effectLst>
                    <a:outerShdw blurRad="38100" dist="38100" dir="2700000" algn="tl">
                      <a:srgbClr val="000000"/>
                    </a:outerShdw>
                  </a:effectLst>
                  <a:latin typeface="楷体_GB2312" pitchFamily="49" charset="-122"/>
                  <a:ea typeface="楷体_GB2312" pitchFamily="49" charset="-122"/>
                </a:rPr>
                <a:t>Π</a:t>
              </a:r>
              <a:r>
                <a:rPr lang="en-US" altLang="zh-CN" sz="3600" dirty="0">
                  <a:solidFill>
                    <a:srgbClr val="CCFFCC"/>
                  </a:solidFill>
                  <a:effectLst>
                    <a:outerShdw blurRad="38100" dist="38100" dir="2700000" algn="tl">
                      <a:srgbClr val="000000"/>
                    </a:outerShdw>
                  </a:effectLst>
                  <a:latin typeface="楷体_GB2312" pitchFamily="49" charset="-122"/>
                  <a:ea typeface="楷体_GB2312" pitchFamily="49" charset="-122"/>
                </a:rPr>
                <a:t>  </a:t>
              </a:r>
              <a:r>
                <a:rPr lang="en-US" altLang="zh-CN" sz="2400" dirty="0">
                  <a:solidFill>
                    <a:srgbClr val="CCFFCC"/>
                  </a:solidFill>
                  <a:effectLst>
                    <a:outerShdw blurRad="38100" dist="38100" dir="2700000" algn="tl">
                      <a:srgbClr val="000000"/>
                    </a:outerShdw>
                  </a:effectLst>
                  <a:latin typeface="楷体_GB2312" pitchFamily="49" charset="-122"/>
                  <a:ea typeface="楷体_GB2312" pitchFamily="49" charset="-122"/>
                </a:rPr>
                <a:t> </a:t>
              </a:r>
              <a:r>
                <a:rPr lang="en-US" altLang="zh-CN" sz="3200" dirty="0">
                  <a:solidFill>
                    <a:srgbClr val="CCFFCC"/>
                  </a:solidFill>
                  <a:effectLst>
                    <a:outerShdw blurRad="38100" dist="38100" dir="2700000" algn="tl">
                      <a:srgbClr val="000000"/>
                    </a:outerShdw>
                  </a:effectLst>
                  <a:latin typeface="楷体_GB2312" pitchFamily="49" charset="-122"/>
                  <a:ea typeface="楷体_GB2312" pitchFamily="49" charset="-122"/>
                </a:rPr>
                <a:t>(F)</a:t>
              </a:r>
            </a:p>
          </p:txBody>
        </p:sp>
        <p:sp>
          <p:nvSpPr>
            <p:cNvPr id="43" name="Rectangle 11">
              <a:extLst>
                <a:ext uri="{FF2B5EF4-FFF2-40B4-BE49-F238E27FC236}">
                  <a16:creationId xmlns:a16="http://schemas.microsoft.com/office/drawing/2014/main" id="{17CF7A18-DD90-4CF5-8B9C-3CD9A9F8BB9B}"/>
                </a:ext>
              </a:extLst>
            </p:cNvPr>
            <p:cNvSpPr>
              <a:spLocks noChangeArrowheads="1"/>
            </p:cNvSpPr>
            <p:nvPr/>
          </p:nvSpPr>
          <p:spPr bwMode="auto">
            <a:xfrm>
              <a:off x="1424" y="1708"/>
              <a:ext cx="189" cy="271"/>
            </a:xfrm>
            <a:prstGeom prst="rect">
              <a:avLst/>
            </a:prstGeom>
            <a:noFill/>
            <a:ln w="12700" cap="sq" algn="ctr">
              <a:noFill/>
              <a:miter lim="800000"/>
              <a:headEnd/>
              <a:tailEnd/>
            </a:ln>
            <a:effectLst/>
          </p:spPr>
          <p:txBody>
            <a:bodyPr wrap="none" lIns="0" tIns="0" rIns="0" bIns="0">
              <a:spAutoFit/>
            </a:bodyPr>
            <a:lstStyle/>
            <a:p>
              <a:pPr fontAlgn="base">
                <a:spcBef>
                  <a:spcPct val="0"/>
                </a:spcBef>
                <a:spcAft>
                  <a:spcPct val="25000"/>
                </a:spcAft>
                <a:defRPr/>
              </a:pPr>
              <a:r>
                <a:rPr lang="en-US" altLang="zh-CN" sz="2800" dirty="0">
                  <a:solidFill>
                    <a:srgbClr val="CCFFCC"/>
                  </a:solidFill>
                  <a:effectLst>
                    <a:outerShdw blurRad="38100" dist="38100" dir="2700000" algn="tl">
                      <a:srgbClr val="000000"/>
                    </a:outerShdw>
                  </a:effectLst>
                  <a:latin typeface="楷体_GB2312" pitchFamily="49" charset="-122"/>
                  <a:ea typeface="楷体_GB2312" pitchFamily="49" charset="-122"/>
                </a:rPr>
                <a:t>U</a:t>
              </a:r>
              <a:r>
                <a:rPr lang="en-US" altLang="zh-CN" sz="2800" baseline="-25000" dirty="0">
                  <a:solidFill>
                    <a:srgbClr val="CCFFCC"/>
                  </a:solidFill>
                  <a:effectLst>
                    <a:outerShdw blurRad="38100" dist="38100" dir="2700000" algn="tl">
                      <a:srgbClr val="000000"/>
                    </a:outerShdw>
                  </a:effectLst>
                  <a:latin typeface="楷体_GB2312" pitchFamily="49" charset="-122"/>
                  <a:ea typeface="楷体_GB2312" pitchFamily="49" charset="-122"/>
                </a:rPr>
                <a:t>i</a:t>
              </a:r>
              <a:endParaRPr lang="zh-CN" altLang="en-US" sz="2800" baseline="-25000" dirty="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grpSp>
      <p:grpSp>
        <p:nvGrpSpPr>
          <p:cNvPr id="47" name="Group 12">
            <a:extLst>
              <a:ext uri="{FF2B5EF4-FFF2-40B4-BE49-F238E27FC236}">
                <a16:creationId xmlns:a16="http://schemas.microsoft.com/office/drawing/2014/main" id="{3C7E1DF4-E6D6-44AD-B10B-7B23C90E3274}"/>
              </a:ext>
            </a:extLst>
          </p:cNvPr>
          <p:cNvGrpSpPr>
            <a:grpSpLocks/>
          </p:cNvGrpSpPr>
          <p:nvPr/>
        </p:nvGrpSpPr>
        <p:grpSpPr bwMode="auto">
          <a:xfrm>
            <a:off x="7320136" y="3273082"/>
            <a:ext cx="448880" cy="492124"/>
            <a:chOff x="4241" y="1997"/>
            <a:chExt cx="227" cy="310"/>
          </a:xfrm>
        </p:grpSpPr>
        <p:sp>
          <p:nvSpPr>
            <p:cNvPr id="48" name="Rectangle 13">
              <a:extLst>
                <a:ext uri="{FF2B5EF4-FFF2-40B4-BE49-F238E27FC236}">
                  <a16:creationId xmlns:a16="http://schemas.microsoft.com/office/drawing/2014/main" id="{208F8650-9E85-4F7A-91E4-3DBFA3995E7F}"/>
                </a:ext>
              </a:extLst>
            </p:cNvPr>
            <p:cNvSpPr>
              <a:spLocks noChangeArrowheads="1"/>
            </p:cNvSpPr>
            <p:nvPr/>
          </p:nvSpPr>
          <p:spPr bwMode="auto">
            <a:xfrm>
              <a:off x="4241" y="1997"/>
              <a:ext cx="217" cy="310"/>
            </a:xfrm>
            <a:prstGeom prst="rect">
              <a:avLst/>
            </a:prstGeom>
            <a:noFill/>
            <a:ln w="12700" cap="sq" algn="ctr">
              <a:noFill/>
              <a:miter lim="800000"/>
              <a:headEnd/>
              <a:tailEnd/>
            </a:ln>
            <a:effectLst/>
          </p:spPr>
          <p:txBody>
            <a:bodyPr wrap="none" lIns="0" tIns="0" rIns="0" bIns="0">
              <a:spAutoFit/>
            </a:bodyPr>
            <a:lstStyle/>
            <a:p>
              <a:pPr fontAlgn="base">
                <a:spcBef>
                  <a:spcPct val="0"/>
                </a:spcBef>
                <a:spcAft>
                  <a:spcPct val="25000"/>
                </a:spcAft>
                <a:defRPr/>
              </a:pPr>
              <a:r>
                <a:rPr kumimoji="1" lang="en-US" altLang="zh-CN" sz="3200" b="1" dirty="0">
                  <a:solidFill>
                    <a:srgbClr val="CCFFCC"/>
                  </a:solidFill>
                  <a:effectLst>
                    <a:outerShdw blurRad="38100" dist="38100" dir="2700000" algn="tl">
                      <a:srgbClr val="000000"/>
                    </a:outerShdw>
                  </a:effectLst>
                  <a:latin typeface="楷体_GB2312" pitchFamily="49" charset="-122"/>
                  <a:ea typeface="楷体_GB2312" pitchFamily="49" charset="-122"/>
                </a:rPr>
                <a:t>X</a:t>
              </a:r>
              <a:r>
                <a:rPr kumimoji="1" lang="en-US" altLang="zh-CN" sz="3200" b="1" baseline="-25000" dirty="0">
                  <a:solidFill>
                    <a:srgbClr val="CCFFCC"/>
                  </a:solidFill>
                  <a:effectLst>
                    <a:outerShdw blurRad="38100" dist="38100" dir="2700000" algn="tl">
                      <a:srgbClr val="000000"/>
                    </a:outerShdw>
                  </a:effectLst>
                  <a:latin typeface="楷体_GB2312" pitchFamily="49" charset="-122"/>
                  <a:ea typeface="楷体_GB2312" pitchFamily="49" charset="-122"/>
                </a:rPr>
                <a:t>G</a:t>
              </a:r>
              <a:endParaRPr kumimoji="1" lang="zh-CN" altLang="en-US" sz="3200" b="1" baseline="-25000" dirty="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sp>
          <p:nvSpPr>
            <p:cNvPr id="49" name="Rectangle 14">
              <a:extLst>
                <a:ext uri="{FF2B5EF4-FFF2-40B4-BE49-F238E27FC236}">
                  <a16:creationId xmlns:a16="http://schemas.microsoft.com/office/drawing/2014/main" id="{4C51A4F9-1376-4165-9961-F11E97C25BC5}"/>
                </a:ext>
              </a:extLst>
            </p:cNvPr>
            <p:cNvSpPr>
              <a:spLocks noChangeArrowheads="1"/>
            </p:cNvSpPr>
            <p:nvPr/>
          </p:nvSpPr>
          <p:spPr bwMode="auto">
            <a:xfrm>
              <a:off x="4364" y="2029"/>
              <a:ext cx="104" cy="207"/>
            </a:xfrm>
            <a:prstGeom prst="rect">
              <a:avLst/>
            </a:prstGeom>
            <a:noFill/>
            <a:ln w="12700" cap="sq" algn="ctr">
              <a:noFill/>
              <a:miter lim="800000"/>
              <a:headEnd/>
              <a:tailEnd/>
            </a:ln>
            <a:effectLst/>
          </p:spPr>
          <p:txBody>
            <a:bodyPr lIns="0" tIns="0" rIns="0" bIns="0">
              <a:spAutoFit/>
            </a:bodyPr>
            <a:lstStyle/>
            <a:p>
              <a:pPr fontAlgn="base">
                <a:spcBef>
                  <a:spcPct val="0"/>
                </a:spcBef>
                <a:spcAft>
                  <a:spcPct val="25000"/>
                </a:spcAft>
                <a:defRPr/>
              </a:pPr>
              <a:r>
                <a:rPr kumimoji="1" lang="en-US" altLang="zh-CN" sz="3200" b="1" baseline="30000">
                  <a:solidFill>
                    <a:srgbClr val="CCFFCC"/>
                  </a:solidFill>
                  <a:effectLst>
                    <a:outerShdw blurRad="38100" dist="38100" dir="2700000" algn="tl">
                      <a:srgbClr val="000000"/>
                    </a:outerShdw>
                  </a:effectLst>
                  <a:latin typeface="楷体_GB2312" pitchFamily="49" charset="-122"/>
                  <a:ea typeface="楷体_GB2312" pitchFamily="49" charset="-122"/>
                </a:rPr>
                <a:t>+</a:t>
              </a:r>
              <a:endParaRPr kumimoji="1" lang="zh-CN" altLang="en-US" sz="3200" b="1" baseline="3000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grpSp>
      <p:grpSp>
        <p:nvGrpSpPr>
          <p:cNvPr id="6" name="组合 5">
            <a:extLst>
              <a:ext uri="{FF2B5EF4-FFF2-40B4-BE49-F238E27FC236}">
                <a16:creationId xmlns:a16="http://schemas.microsoft.com/office/drawing/2014/main" id="{24515E3B-20BA-41EA-92FB-6B12F1453737}"/>
              </a:ext>
            </a:extLst>
          </p:cNvPr>
          <p:cNvGrpSpPr/>
          <p:nvPr/>
        </p:nvGrpSpPr>
        <p:grpSpPr>
          <a:xfrm>
            <a:off x="2178412" y="4005064"/>
            <a:ext cx="923466" cy="638176"/>
            <a:chOff x="1991544" y="4005064"/>
            <a:chExt cx="923466" cy="638176"/>
          </a:xfrm>
        </p:grpSpPr>
        <p:grpSp>
          <p:nvGrpSpPr>
            <p:cNvPr id="50" name="Group 15">
              <a:extLst>
                <a:ext uri="{FF2B5EF4-FFF2-40B4-BE49-F238E27FC236}">
                  <a16:creationId xmlns:a16="http://schemas.microsoft.com/office/drawing/2014/main" id="{9545D734-578F-4D74-A8EB-E5EB70E60157}"/>
                </a:ext>
              </a:extLst>
            </p:cNvPr>
            <p:cNvGrpSpPr>
              <a:grpSpLocks/>
            </p:cNvGrpSpPr>
            <p:nvPr/>
          </p:nvGrpSpPr>
          <p:grpSpPr bwMode="auto">
            <a:xfrm>
              <a:off x="1991544" y="4005064"/>
              <a:ext cx="923466" cy="638176"/>
              <a:chOff x="617" y="2416"/>
              <a:chExt cx="467" cy="402"/>
            </a:xfrm>
          </p:grpSpPr>
          <p:grpSp>
            <p:nvGrpSpPr>
              <p:cNvPr id="51" name="Group 16">
                <a:extLst>
                  <a:ext uri="{FF2B5EF4-FFF2-40B4-BE49-F238E27FC236}">
                    <a16:creationId xmlns:a16="http://schemas.microsoft.com/office/drawing/2014/main" id="{AFAC012A-E8B1-4FBB-B151-D29C025825EA}"/>
                  </a:ext>
                </a:extLst>
              </p:cNvPr>
              <p:cNvGrpSpPr>
                <a:grpSpLocks/>
              </p:cNvGrpSpPr>
              <p:nvPr/>
            </p:nvGrpSpPr>
            <p:grpSpPr bwMode="auto">
              <a:xfrm>
                <a:off x="857" y="2494"/>
                <a:ext cx="227" cy="310"/>
                <a:chOff x="4241" y="1997"/>
                <a:chExt cx="227" cy="310"/>
              </a:xfrm>
            </p:grpSpPr>
            <p:sp>
              <p:nvSpPr>
                <p:cNvPr id="53" name="Rectangle 17">
                  <a:extLst>
                    <a:ext uri="{FF2B5EF4-FFF2-40B4-BE49-F238E27FC236}">
                      <a16:creationId xmlns:a16="http://schemas.microsoft.com/office/drawing/2014/main" id="{EC21A451-56D3-4456-A5F8-7C1D1308AD5B}"/>
                    </a:ext>
                  </a:extLst>
                </p:cNvPr>
                <p:cNvSpPr>
                  <a:spLocks noChangeArrowheads="1"/>
                </p:cNvSpPr>
                <p:nvPr/>
              </p:nvSpPr>
              <p:spPr bwMode="auto">
                <a:xfrm>
                  <a:off x="4241" y="1997"/>
                  <a:ext cx="217" cy="310"/>
                </a:xfrm>
                <a:prstGeom prst="rect">
                  <a:avLst/>
                </a:prstGeom>
                <a:noFill/>
                <a:ln w="12700" cap="sq" algn="ctr">
                  <a:noFill/>
                  <a:miter lim="800000"/>
                  <a:headEnd/>
                  <a:tailEnd/>
                </a:ln>
                <a:effectLst/>
              </p:spPr>
              <p:txBody>
                <a:bodyPr wrap="none" lIns="0" tIns="0" rIns="0" bIns="0">
                  <a:spAutoFit/>
                </a:bodyPr>
                <a:lstStyle/>
                <a:p>
                  <a:pPr fontAlgn="base">
                    <a:spcBef>
                      <a:spcPct val="0"/>
                    </a:spcBef>
                    <a:spcAft>
                      <a:spcPct val="25000"/>
                    </a:spcAft>
                    <a:defRPr/>
                  </a:pPr>
                  <a:r>
                    <a:rPr kumimoji="1" lang="en-US" altLang="zh-CN" sz="3200" b="1">
                      <a:solidFill>
                        <a:srgbClr val="CCFFCC"/>
                      </a:solidFill>
                      <a:effectLst>
                        <a:outerShdw blurRad="38100" dist="38100" dir="2700000" algn="tl">
                          <a:srgbClr val="000000"/>
                        </a:outerShdw>
                      </a:effectLst>
                      <a:latin typeface="楷体_GB2312" pitchFamily="49" charset="-122"/>
                      <a:ea typeface="楷体_GB2312" pitchFamily="49" charset="-122"/>
                    </a:rPr>
                    <a:t>X</a:t>
                  </a:r>
                  <a:r>
                    <a:rPr kumimoji="1" lang="en-US" altLang="zh-CN" sz="3200" b="1" baseline="-25000">
                      <a:solidFill>
                        <a:srgbClr val="CCFFCC"/>
                      </a:solidFill>
                      <a:effectLst>
                        <a:outerShdw blurRad="38100" dist="38100" dir="2700000" algn="tl">
                          <a:srgbClr val="000000"/>
                        </a:outerShdw>
                      </a:effectLst>
                      <a:latin typeface="楷体_GB2312" pitchFamily="49" charset="-122"/>
                      <a:ea typeface="楷体_GB2312" pitchFamily="49" charset="-122"/>
                    </a:rPr>
                    <a:t>G</a:t>
                  </a:r>
                  <a:endParaRPr kumimoji="1" lang="zh-CN" altLang="en-US" sz="3200" b="1" baseline="-2500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sp>
              <p:nvSpPr>
                <p:cNvPr id="54" name="Rectangle 18">
                  <a:extLst>
                    <a:ext uri="{FF2B5EF4-FFF2-40B4-BE49-F238E27FC236}">
                      <a16:creationId xmlns:a16="http://schemas.microsoft.com/office/drawing/2014/main" id="{4FAE60A1-CAA6-4DB3-9CC1-A024AFF4D7A3}"/>
                    </a:ext>
                  </a:extLst>
                </p:cNvPr>
                <p:cNvSpPr>
                  <a:spLocks noChangeArrowheads="1"/>
                </p:cNvSpPr>
                <p:nvPr/>
              </p:nvSpPr>
              <p:spPr bwMode="auto">
                <a:xfrm>
                  <a:off x="4364" y="2029"/>
                  <a:ext cx="104" cy="207"/>
                </a:xfrm>
                <a:prstGeom prst="rect">
                  <a:avLst/>
                </a:prstGeom>
                <a:noFill/>
                <a:ln w="12700" cap="sq" algn="ctr">
                  <a:noFill/>
                  <a:miter lim="800000"/>
                  <a:headEnd/>
                  <a:tailEnd/>
                </a:ln>
                <a:effectLst/>
              </p:spPr>
              <p:txBody>
                <a:bodyPr lIns="0" tIns="0" rIns="0" bIns="0">
                  <a:spAutoFit/>
                </a:bodyPr>
                <a:lstStyle/>
                <a:p>
                  <a:pPr fontAlgn="base">
                    <a:spcBef>
                      <a:spcPct val="0"/>
                    </a:spcBef>
                    <a:spcAft>
                      <a:spcPct val="25000"/>
                    </a:spcAft>
                    <a:defRPr/>
                  </a:pPr>
                  <a:r>
                    <a:rPr kumimoji="1" lang="en-US" altLang="zh-CN" sz="3200" b="1" baseline="30000" dirty="0">
                      <a:solidFill>
                        <a:srgbClr val="CCFFCC"/>
                      </a:solidFill>
                      <a:effectLst>
                        <a:outerShdw blurRad="38100" dist="38100" dir="2700000" algn="tl">
                          <a:srgbClr val="000000"/>
                        </a:outerShdw>
                      </a:effectLst>
                      <a:latin typeface="楷体_GB2312" pitchFamily="49" charset="-122"/>
                      <a:ea typeface="楷体_GB2312" pitchFamily="49" charset="-122"/>
                    </a:rPr>
                    <a:t>+</a:t>
                  </a:r>
                  <a:endParaRPr kumimoji="1" lang="zh-CN" altLang="en-US" sz="3200" b="1" baseline="30000" dirty="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grpSp>
          <p:sp>
            <p:nvSpPr>
              <p:cNvPr id="52" name="Rectangle 19">
                <a:extLst>
                  <a:ext uri="{FF2B5EF4-FFF2-40B4-BE49-F238E27FC236}">
                    <a16:creationId xmlns:a16="http://schemas.microsoft.com/office/drawing/2014/main" id="{7EFF8F8E-9A6E-4FE3-992B-27EAE084081D}"/>
                  </a:ext>
                </a:extLst>
              </p:cNvPr>
              <p:cNvSpPr>
                <a:spLocks noChangeArrowheads="1"/>
              </p:cNvSpPr>
              <p:nvPr/>
            </p:nvSpPr>
            <p:spPr bwMode="auto">
              <a:xfrm>
                <a:off x="617" y="2416"/>
                <a:ext cx="250" cy="402"/>
              </a:xfrm>
              <a:prstGeom prst="rect">
                <a:avLst/>
              </a:prstGeom>
              <a:noFill/>
              <a:ln w="12700" cap="sq">
                <a:noFill/>
                <a:miter lim="800000"/>
                <a:headEnd/>
                <a:tailEnd/>
              </a:ln>
              <a:effectLst/>
            </p:spPr>
            <p:txBody>
              <a:bodyPr lIns="72000" tIns="72000" rIns="72000" bIns="72000">
                <a:spAutoFit/>
              </a:bodyPr>
              <a:lstStyle/>
              <a:p>
                <a:pPr fontAlgn="base">
                  <a:spcBef>
                    <a:spcPct val="0"/>
                  </a:spcBef>
                  <a:spcAft>
                    <a:spcPct val="0"/>
                  </a:spcAft>
                  <a:defRPr/>
                </a:pPr>
                <a:r>
                  <a:rPr kumimoji="1" lang="en-US" altLang="zh-CN" sz="3200">
                    <a:solidFill>
                      <a:srgbClr val="CCFFCC"/>
                    </a:solidFill>
                    <a:effectLst>
                      <a:outerShdw blurRad="38100" dist="38100" dir="2700000" algn="tl">
                        <a:srgbClr val="000000"/>
                      </a:outerShdw>
                    </a:effectLst>
                    <a:latin typeface="楷体_GB2312" pitchFamily="49" charset="-122"/>
                    <a:ea typeface="楷体_GB2312" pitchFamily="49" charset="-122"/>
                    <a:sym typeface="Symbol" pitchFamily="18" charset="2"/>
                  </a:rPr>
                  <a:t></a:t>
                </a:r>
                <a:endParaRPr kumimoji="1" lang="zh-CN" altLang="en-US" sz="3200">
                  <a:solidFill>
                    <a:srgbClr val="CCFFCC"/>
                  </a:solidFill>
                  <a:effectLst>
                    <a:outerShdw blurRad="38100" dist="38100" dir="2700000" algn="tl">
                      <a:srgbClr val="000000"/>
                    </a:outerShdw>
                  </a:effectLst>
                  <a:latin typeface="楷体_GB2312" pitchFamily="49" charset="-122"/>
                  <a:ea typeface="楷体_GB2312" pitchFamily="49" charset="-122"/>
                  <a:sym typeface="Symbol" pitchFamily="18" charset="2"/>
                </a:endParaRPr>
              </a:p>
            </p:txBody>
          </p:sp>
        </p:grpSp>
        <p:sp>
          <p:nvSpPr>
            <p:cNvPr id="55" name="Line 20">
              <a:extLst>
                <a:ext uri="{FF2B5EF4-FFF2-40B4-BE49-F238E27FC236}">
                  <a16:creationId xmlns:a16="http://schemas.microsoft.com/office/drawing/2014/main" id="{4369DFEA-5225-45D4-97FA-453FFD04EB0F}"/>
                </a:ext>
              </a:extLst>
            </p:cNvPr>
            <p:cNvSpPr>
              <a:spLocks noChangeShapeType="1"/>
            </p:cNvSpPr>
            <p:nvPr/>
          </p:nvSpPr>
          <p:spPr bwMode="auto">
            <a:xfrm>
              <a:off x="2197198" y="4201911"/>
              <a:ext cx="90962" cy="360363"/>
            </a:xfrm>
            <a:prstGeom prst="line">
              <a:avLst/>
            </a:prstGeom>
            <a:noFill/>
            <a:ln w="12700" cap="sq">
              <a:solidFill>
                <a:srgbClr val="CCFFCC"/>
              </a:solidFill>
              <a:round/>
              <a:headEnd/>
              <a:tailEnd/>
            </a:ln>
            <a:effectLst/>
          </p:spPr>
          <p:txBody>
            <a:bodyPr lIns="0" tIns="0" rIns="0" bIns="0"/>
            <a:lstStyle/>
            <a:p>
              <a:pPr fontAlgn="base">
                <a:spcBef>
                  <a:spcPct val="0"/>
                </a:spcBef>
                <a:spcAft>
                  <a:spcPct val="25000"/>
                </a:spcAft>
                <a:buSzPct val="80000"/>
                <a:buFont typeface="Wingdings" pitchFamily="2" charset="2"/>
                <a:buNone/>
                <a:defRPr/>
              </a:pPr>
              <a:endParaRPr kumimoji="1" lang="zh-CN" altLang="en-US" sz="3600">
                <a:solidFill>
                  <a:srgbClr val="FFFFFF"/>
                </a:solidFill>
                <a:effectLst>
                  <a:outerShdw blurRad="38100" dist="38100" dir="2700000" algn="tl">
                    <a:srgbClr val="000000">
                      <a:alpha val="43137"/>
                    </a:srgbClr>
                  </a:outerShdw>
                </a:effectLst>
                <a:latin typeface="楷体_GB2312" pitchFamily="49" charset="-122"/>
                <a:ea typeface="楷体_GB2312" pitchFamily="49" charset="-122"/>
              </a:endParaRPr>
            </a:p>
          </p:txBody>
        </p:sp>
      </p:grpSp>
    </p:spTree>
  </p:cSld>
  <p:clrMapOvr>
    <a:masterClrMapping/>
  </p:clrMapOvr>
  <p:transition spd="slow">
    <p:push dir="u"/>
    <p:sndAc>
      <p:stSnd>
        <p:snd r:embed="rId2" name="arrow.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979"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保持函数依赖测试算法</a:t>
            </a:r>
          </a:p>
        </p:txBody>
      </p:sp>
      <p:sp>
        <p:nvSpPr>
          <p:cNvPr id="22" name="Text Box 4">
            <a:extLst>
              <a:ext uri="{FF2B5EF4-FFF2-40B4-BE49-F238E27FC236}">
                <a16:creationId xmlns:a16="http://schemas.microsoft.com/office/drawing/2014/main" id="{3D216E11-441C-4854-BE75-8128E72BE125}"/>
              </a:ext>
            </a:extLst>
          </p:cNvPr>
          <p:cNvSpPr txBox="1">
            <a:spLocks noChangeArrowheads="1"/>
          </p:cNvSpPr>
          <p:nvPr/>
        </p:nvSpPr>
        <p:spPr bwMode="auto">
          <a:xfrm>
            <a:off x="898677" y="980728"/>
            <a:ext cx="10585176"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设有关系模式R(ABCD，{A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，R的一个分解</a:t>
            </a:r>
            <a:r>
              <a:rPr kumimoji="0" lang="zh-CN" altLang="en-US"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a:t>
            </a:r>
            <a:r>
              <a:rPr kumimoji="0" lang="zh-CN" altLang="en-US"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(AB),R</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(BC),R</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3</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(CD)}。</a:t>
            </a:r>
            <a:r>
              <a:rPr kumimoji="0" lang="zh-CN" altLang="en-US"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 </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保持F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endPar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p:txBody>
      </p:sp>
      <p:sp>
        <p:nvSpPr>
          <p:cNvPr id="23" name="Text Box 5">
            <a:extLst>
              <a:ext uri="{FF2B5EF4-FFF2-40B4-BE49-F238E27FC236}">
                <a16:creationId xmlns:a16="http://schemas.microsoft.com/office/drawing/2014/main" id="{00BF3C0D-BAA3-4FEA-AC9D-715D91777291}"/>
              </a:ext>
            </a:extLst>
          </p:cNvPr>
          <p:cNvSpPr txBox="1">
            <a:spLocks noChangeArrowheads="1"/>
          </p:cNvSpPr>
          <p:nvPr/>
        </p:nvSpPr>
        <p:spPr bwMode="auto">
          <a:xfrm>
            <a:off x="889696" y="2276872"/>
            <a:ext cx="8382000" cy="6477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25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1) F</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=π</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AB</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(F)={A→B,B→A}</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=π</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BC</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(F)={B→C,C→B}</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3</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=π</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CD</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(F)={C→D,D→C}</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G = F</a:t>
            </a:r>
            <a:r>
              <a:rPr kumimoji="0"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rPr>
              <a:t>3</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 {A→B,B→A,B→C,C→B,C→D,D→C}</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F = F-G = {D→A}</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Result=True</a:t>
            </a:r>
          </a:p>
        </p:txBody>
      </p:sp>
    </p:spTree>
    <p:extLst>
      <p:ext uri="{BB962C8B-B14F-4D97-AF65-F5344CB8AC3E}">
        <p14:creationId xmlns:p14="http://schemas.microsoft.com/office/powerpoint/2010/main" val="2029630617"/>
      </p:ext>
    </p:extLst>
  </p:cSld>
  <p:clrMapOvr>
    <a:masterClrMapping/>
  </p:clrMapOvr>
  <p:transition spd="med">
    <p:pull/>
    <p:sndAc>
      <p:stSnd>
        <p:snd r:embed="rId2" name="arrow.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979"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保持函数依赖测试算法</a:t>
            </a:r>
          </a:p>
        </p:txBody>
      </p:sp>
      <p:grpSp>
        <p:nvGrpSpPr>
          <p:cNvPr id="2" name="组合 1">
            <a:extLst>
              <a:ext uri="{FF2B5EF4-FFF2-40B4-BE49-F238E27FC236}">
                <a16:creationId xmlns:a16="http://schemas.microsoft.com/office/drawing/2014/main" id="{E7A0EC61-1D8C-40AC-88E7-97AAED9B931D}"/>
              </a:ext>
            </a:extLst>
          </p:cNvPr>
          <p:cNvGrpSpPr/>
          <p:nvPr/>
        </p:nvGrpSpPr>
        <p:grpSpPr>
          <a:xfrm>
            <a:off x="898677" y="2276872"/>
            <a:ext cx="10548587" cy="3457819"/>
            <a:chOff x="1055440" y="2318814"/>
            <a:chExt cx="10548587" cy="3457819"/>
          </a:xfrm>
        </p:grpSpPr>
        <p:sp>
          <p:nvSpPr>
            <p:cNvPr id="5" name="Text Box 5">
              <a:extLst>
                <a:ext uri="{FF2B5EF4-FFF2-40B4-BE49-F238E27FC236}">
                  <a16:creationId xmlns:a16="http://schemas.microsoft.com/office/drawing/2014/main" id="{DE0B0AD6-0A65-4D7B-976F-06A5D4864E47}"/>
                </a:ext>
              </a:extLst>
            </p:cNvPr>
            <p:cNvSpPr txBox="1">
              <a:spLocks noChangeArrowheads="1"/>
            </p:cNvSpPr>
            <p:nvPr/>
          </p:nvSpPr>
          <p:spPr bwMode="auto">
            <a:xfrm>
              <a:off x="1055440" y="2318814"/>
              <a:ext cx="10548587" cy="6477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25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上一步求出了</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Result=true</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F={D→A}</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以及</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G={A→B,B→A,B→C,C→B,C→D,D→C}</a:t>
              </a:r>
            </a:p>
            <a:p>
              <a:pPr marL="0" marR="0" lvl="0" indent="0" algn="just" defTabSz="914400" rtl="0" eaLnBrk="1" fontAlgn="base" latinLnBrk="0" hangingPunct="1">
                <a:lnSpc>
                  <a:spcPct val="125000"/>
                </a:lnSpc>
                <a:spcBef>
                  <a:spcPct val="3000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2) F=F-{D→A}=∅</a:t>
              </a:r>
              <a:endPar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endParaRPr>
            </a:p>
            <a:p>
              <a:pPr marL="0" marR="0" lvl="0" indent="0" algn="just" defTabSz="914400" rtl="0" eaLnBrk="1" fontAlgn="base" latinLnBrk="0" hangingPunct="1">
                <a:lnSpc>
                  <a:spcPct val="125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由</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计算      </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{D,C,B,A}</a:t>
              </a:r>
              <a:endPar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endParaRPr>
            </a:p>
            <a:p>
              <a:pPr marL="0" marR="0" lvl="0" indent="0" algn="just" defTabSz="914400" rtl="0" eaLnBrk="1" fontAlgn="base" latinLnBrk="0" hangingPunct="1">
                <a:lnSpc>
                  <a:spcPct val="125000"/>
                </a:lnSpc>
                <a:spcBef>
                  <a:spcPct val="4500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3) </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由于</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         </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且</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，转</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4)</a:t>
              </a:r>
            </a:p>
            <a:p>
              <a:pPr marL="0" marR="0" lvl="0" indent="0" algn="just" defTabSz="914400" rtl="0" eaLnBrk="1" fontAlgn="base" latinLnBrk="0" hangingPunct="1">
                <a:lnSpc>
                  <a:spcPct val="125000"/>
                </a:lnSpc>
                <a:spcBef>
                  <a:spcPct val="4500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4) </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由于</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Result</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没有改变，仍为</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true</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，故得</a:t>
              </a:r>
              <a:r>
                <a:rPr kumimoji="0" lang="zh-CN" altLang="en-US" sz="3200" b="0" i="1"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ρ </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保持F</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p>
          </p:txBody>
        </p:sp>
        <p:grpSp>
          <p:nvGrpSpPr>
            <p:cNvPr id="6" name="Group 6">
              <a:extLst>
                <a:ext uri="{FF2B5EF4-FFF2-40B4-BE49-F238E27FC236}">
                  <a16:creationId xmlns:a16="http://schemas.microsoft.com/office/drawing/2014/main" id="{363FB4BD-2464-4F99-990C-5FD3988503A3}"/>
                </a:ext>
              </a:extLst>
            </p:cNvPr>
            <p:cNvGrpSpPr>
              <a:grpSpLocks/>
            </p:cNvGrpSpPr>
            <p:nvPr/>
          </p:nvGrpSpPr>
          <p:grpSpPr bwMode="auto">
            <a:xfrm>
              <a:off x="3735030" y="4498988"/>
              <a:ext cx="515937" cy="492126"/>
              <a:chOff x="4241" y="1997"/>
              <a:chExt cx="325" cy="310"/>
            </a:xfrm>
          </p:grpSpPr>
          <p:sp>
            <p:nvSpPr>
              <p:cNvPr id="7" name="Rectangle 7">
                <a:extLst>
                  <a:ext uri="{FF2B5EF4-FFF2-40B4-BE49-F238E27FC236}">
                    <a16:creationId xmlns:a16="http://schemas.microsoft.com/office/drawing/2014/main" id="{E12BBBB9-F0A1-4E1A-B8B5-E25EC6A18D19}"/>
                  </a:ext>
                </a:extLst>
              </p:cNvPr>
              <p:cNvSpPr>
                <a:spLocks noChangeArrowheads="1"/>
              </p:cNvSpPr>
              <p:nvPr/>
            </p:nvSpPr>
            <p:spPr bwMode="auto">
              <a:xfrm>
                <a:off x="4241" y="1997"/>
                <a:ext cx="325" cy="310"/>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en-US" altLang="zh-CN" sz="3200" b="0" i="0" u="none" strike="noStrike" kern="1200" cap="none" spc="0" normalizeH="0" baseline="-25000" noProof="0">
                    <a:ln>
                      <a:noFill/>
                    </a:ln>
                    <a:solidFill>
                      <a:srgbClr val="FFFFFF"/>
                    </a:solidFill>
                    <a:effectLst>
                      <a:outerShdw blurRad="38100" dist="38100" dir="2700000" algn="tl">
                        <a:srgbClr val="000000"/>
                      </a:outerShdw>
                    </a:effectLst>
                    <a:uLnTx/>
                    <a:uFillTx/>
                    <a:ea typeface="楷体_GB2312" pitchFamily="49" charset="-122"/>
                    <a:cs typeface="+mn-cs"/>
                  </a:rPr>
                  <a:t>G</a:t>
                </a:r>
                <a:endParaRPr kumimoji="1" lang="zh-CN" altLang="en-US" sz="3200" b="0" i="0" u="none" strike="noStrike" kern="1200" cap="none" spc="0" normalizeH="0" baseline="-25000" noProof="0">
                  <a:ln>
                    <a:noFill/>
                  </a:ln>
                  <a:solidFill>
                    <a:srgbClr val="FFFFFF"/>
                  </a:solidFill>
                  <a:effectLst>
                    <a:outerShdw blurRad="38100" dist="38100" dir="2700000" algn="tl">
                      <a:srgbClr val="000000"/>
                    </a:outerShdw>
                  </a:effectLst>
                  <a:uLnTx/>
                  <a:uFillTx/>
                  <a:ea typeface="楷体_GB2312" pitchFamily="49" charset="-122"/>
                  <a:cs typeface="+mn-cs"/>
                </a:endParaRPr>
              </a:p>
            </p:txBody>
          </p:sp>
          <p:sp>
            <p:nvSpPr>
              <p:cNvPr id="8" name="Rectangle 8">
                <a:extLst>
                  <a:ext uri="{FF2B5EF4-FFF2-40B4-BE49-F238E27FC236}">
                    <a16:creationId xmlns:a16="http://schemas.microsoft.com/office/drawing/2014/main" id="{0F731439-0676-42CB-AB36-42D76E308945}"/>
                  </a:ext>
                </a:extLst>
              </p:cNvPr>
              <p:cNvSpPr>
                <a:spLocks noChangeArrowheads="1"/>
              </p:cNvSpPr>
              <p:nvPr/>
            </p:nvSpPr>
            <p:spPr bwMode="auto">
              <a:xfrm>
                <a:off x="4417" y="1997"/>
                <a:ext cx="104" cy="207"/>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a:t>
                </a:r>
                <a:endParaRPr kumimoji="1" lang="zh-CN" altLang="en-US"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endParaRPr>
              </a:p>
            </p:txBody>
          </p:sp>
        </p:grpSp>
        <p:grpSp>
          <p:nvGrpSpPr>
            <p:cNvPr id="9" name="Group 9">
              <a:extLst>
                <a:ext uri="{FF2B5EF4-FFF2-40B4-BE49-F238E27FC236}">
                  <a16:creationId xmlns:a16="http://schemas.microsoft.com/office/drawing/2014/main" id="{25E3F04A-0D58-4E14-8790-4251809648E1}"/>
                </a:ext>
              </a:extLst>
            </p:cNvPr>
            <p:cNvGrpSpPr>
              <a:grpSpLocks/>
            </p:cNvGrpSpPr>
            <p:nvPr/>
          </p:nvGrpSpPr>
          <p:grpSpPr bwMode="auto">
            <a:xfrm>
              <a:off x="2964237" y="5160682"/>
              <a:ext cx="896937" cy="615951"/>
              <a:chOff x="617" y="2416"/>
              <a:chExt cx="565" cy="388"/>
            </a:xfrm>
          </p:grpSpPr>
          <p:grpSp>
            <p:nvGrpSpPr>
              <p:cNvPr id="10" name="Group 10">
                <a:extLst>
                  <a:ext uri="{FF2B5EF4-FFF2-40B4-BE49-F238E27FC236}">
                    <a16:creationId xmlns:a16="http://schemas.microsoft.com/office/drawing/2014/main" id="{B9913131-FC7D-4C42-96FE-DE1EB9B23A15}"/>
                  </a:ext>
                </a:extLst>
              </p:cNvPr>
              <p:cNvGrpSpPr>
                <a:grpSpLocks/>
              </p:cNvGrpSpPr>
              <p:nvPr/>
            </p:nvGrpSpPr>
            <p:grpSpPr bwMode="auto">
              <a:xfrm>
                <a:off x="857" y="2494"/>
                <a:ext cx="325" cy="310"/>
                <a:chOff x="4241" y="1997"/>
                <a:chExt cx="325" cy="310"/>
              </a:xfrm>
            </p:grpSpPr>
            <p:sp>
              <p:nvSpPr>
                <p:cNvPr id="12" name="Rectangle 11">
                  <a:extLst>
                    <a:ext uri="{FF2B5EF4-FFF2-40B4-BE49-F238E27FC236}">
                      <a16:creationId xmlns:a16="http://schemas.microsoft.com/office/drawing/2014/main" id="{C464C6F6-9210-405D-90BC-213B4ADD195A}"/>
                    </a:ext>
                  </a:extLst>
                </p:cNvPr>
                <p:cNvSpPr>
                  <a:spLocks noChangeArrowheads="1"/>
                </p:cNvSpPr>
                <p:nvPr/>
              </p:nvSpPr>
              <p:spPr bwMode="auto">
                <a:xfrm>
                  <a:off x="4241" y="1997"/>
                  <a:ext cx="325" cy="310"/>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1"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rPr>
                    <a:t>G</a:t>
                  </a:r>
                  <a:endParaRPr kumimoji="1" lang="zh-CN" altLang="en-US"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endParaRPr>
                </a:p>
              </p:txBody>
            </p:sp>
            <p:sp>
              <p:nvSpPr>
                <p:cNvPr id="13" name="Rectangle 12">
                  <a:extLst>
                    <a:ext uri="{FF2B5EF4-FFF2-40B4-BE49-F238E27FC236}">
                      <a16:creationId xmlns:a16="http://schemas.microsoft.com/office/drawing/2014/main" id="{4D9F1C03-F53F-4307-A539-D2C6020058FB}"/>
                    </a:ext>
                  </a:extLst>
                </p:cNvPr>
                <p:cNvSpPr>
                  <a:spLocks noChangeArrowheads="1"/>
                </p:cNvSpPr>
                <p:nvPr/>
              </p:nvSpPr>
              <p:spPr bwMode="auto">
                <a:xfrm>
                  <a:off x="4439" y="2030"/>
                  <a:ext cx="104" cy="207"/>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1"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a:t>
                  </a:r>
                  <a:endParaRPr kumimoji="1" lang="zh-CN" altLang="en-US" sz="3200" b="1"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endParaRPr>
                </a:p>
              </p:txBody>
            </p:sp>
          </p:grpSp>
          <p:sp>
            <p:nvSpPr>
              <p:cNvPr id="11" name="Rectangle 13">
                <a:extLst>
                  <a:ext uri="{FF2B5EF4-FFF2-40B4-BE49-F238E27FC236}">
                    <a16:creationId xmlns:a16="http://schemas.microsoft.com/office/drawing/2014/main" id="{D0049019-C97E-422F-B39A-43A3CC68F136}"/>
                  </a:ext>
                </a:extLst>
              </p:cNvPr>
              <p:cNvSpPr>
                <a:spLocks noChangeArrowheads="1"/>
              </p:cNvSpPr>
              <p:nvPr/>
            </p:nvSpPr>
            <p:spPr bwMode="auto">
              <a:xfrm>
                <a:off x="617" y="2416"/>
                <a:ext cx="250" cy="363"/>
              </a:xfrm>
              <a:prstGeom prst="rect">
                <a:avLst/>
              </a:prstGeom>
              <a:noFill/>
              <a:ln w="12700" cap="sq">
                <a:noFill/>
                <a:miter lim="800000"/>
                <a:headEnd/>
                <a:tailEnd/>
              </a:ln>
              <a:effectLst/>
            </p:spPr>
            <p:txBody>
              <a:bodyPr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sym typeface="Symbol" pitchFamily="18" charset="2"/>
                  </a:rPr>
                  <a:t></a:t>
                </a:r>
                <a:endParaRPr kumimoji="1" lang="zh-CN" altLang="en-US" sz="28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sym typeface="Symbol" pitchFamily="18" charset="2"/>
                </a:endParaRPr>
              </a:p>
            </p:txBody>
          </p:sp>
        </p:grpSp>
      </p:grpSp>
      <p:sp>
        <p:nvSpPr>
          <p:cNvPr id="14" name="Text Box 4">
            <a:extLst>
              <a:ext uri="{FF2B5EF4-FFF2-40B4-BE49-F238E27FC236}">
                <a16:creationId xmlns:a16="http://schemas.microsoft.com/office/drawing/2014/main" id="{9DEBD07C-FEE7-44A9-B3FF-A8F69952D170}"/>
              </a:ext>
            </a:extLst>
          </p:cNvPr>
          <p:cNvSpPr txBox="1">
            <a:spLocks noChangeArrowheads="1"/>
          </p:cNvSpPr>
          <p:nvPr/>
        </p:nvSpPr>
        <p:spPr bwMode="auto">
          <a:xfrm>
            <a:off x="898677" y="980728"/>
            <a:ext cx="10585176"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设有关系模式R(ABCD，{A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，R的一个分解</a:t>
            </a:r>
            <a:r>
              <a:rPr kumimoji="0" lang="zh-CN" altLang="en-US"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a:t>
            </a:r>
            <a:r>
              <a:rPr kumimoji="0" lang="zh-CN" altLang="en-US"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(AB),R</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(BC),R</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3</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(CD)}。</a:t>
            </a:r>
            <a:r>
              <a:rPr kumimoji="0" lang="zh-CN" altLang="en-US"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 </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保持F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endPar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p:txBody>
      </p:sp>
    </p:spTree>
    <p:extLst>
      <p:ext uri="{BB962C8B-B14F-4D97-AF65-F5344CB8AC3E}">
        <p14:creationId xmlns:p14="http://schemas.microsoft.com/office/powerpoint/2010/main" val="183994836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500">
        <p159:morph option="byObject"/>
        <p:sndAc>
          <p:stSnd>
            <p:snd r:embed="rId3" name="arrow.wav"/>
          </p:stSnd>
        </p:sndAc>
      </p:transition>
    </mc:Choice>
    <mc:Fallback>
      <p:transition spd="slow">
        <p:fade/>
        <p:sndAc>
          <p:stSnd>
            <p:snd r:embed="rId2" name="arrow.wav"/>
          </p:stSnd>
        </p:sndAc>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979" name="Rectangle 3"/>
          <p:cNvSpPr>
            <a:spLocks noGrp="1" noChangeArrowheads="1"/>
          </p:cNvSpPr>
          <p:nvPr>
            <p:ph type="title"/>
          </p:nvPr>
        </p:nvSpPr>
        <p:spPr>
          <a:xfrm>
            <a:off x="911424"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保持函数依赖测试算法</a:t>
            </a:r>
          </a:p>
        </p:txBody>
      </p:sp>
      <p:sp>
        <p:nvSpPr>
          <p:cNvPr id="15" name="Text Box 4">
            <a:extLst>
              <a:ext uri="{FF2B5EF4-FFF2-40B4-BE49-F238E27FC236}">
                <a16:creationId xmlns:a16="http://schemas.microsoft.com/office/drawing/2014/main" id="{DDE45105-8768-471D-87D3-FF714A1851FB}"/>
              </a:ext>
            </a:extLst>
          </p:cNvPr>
          <p:cNvSpPr txBox="1">
            <a:spLocks noChangeArrowheads="1"/>
          </p:cNvSpPr>
          <p:nvPr/>
        </p:nvSpPr>
        <p:spPr bwMode="auto">
          <a:xfrm>
            <a:off x="911424" y="980728"/>
            <a:ext cx="9508262"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设有关系模式R(ABCD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E</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E</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，R的一个分解</a:t>
            </a:r>
            <a:r>
              <a:rPr kumimoji="0" lang="zh-CN" altLang="en-US"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a:t>
            </a:r>
            <a:r>
              <a:rPr kumimoji="0" lang="zh-CN" altLang="en-US"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1</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E</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a:t>
            </a:r>
            <a:r>
              <a:rPr kumimoji="0" lang="zh-CN" altLang="zh-CN" sz="3200" b="0" i="0" u="none" strike="noStrike" kern="1200" cap="none" spc="0" normalizeH="0" baseline="-25000" noProof="0" dirty="0">
                <a:ln>
                  <a:noFill/>
                </a:ln>
                <a:solidFill>
                  <a:srgbClr val="99FF33"/>
                </a:solidFill>
                <a:effectLst>
                  <a:outerShdw blurRad="38100" dist="38100" dir="2700000" algn="tl">
                    <a:srgbClr val="000000"/>
                  </a:outerShdw>
                </a:effectLst>
                <a:uLnTx/>
                <a:uFillTx/>
                <a:ea typeface="楷体_GB2312" pitchFamily="49" charset="-122"/>
                <a:cs typeface="+mn-cs"/>
              </a:rPr>
              <a:t>2</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CD</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保持F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endPar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p:txBody>
      </p:sp>
      <p:sp>
        <p:nvSpPr>
          <p:cNvPr id="16" name="Text Box 5">
            <a:extLst>
              <a:ext uri="{FF2B5EF4-FFF2-40B4-BE49-F238E27FC236}">
                <a16:creationId xmlns:a16="http://schemas.microsoft.com/office/drawing/2014/main" id="{C928608A-D719-4CF9-B2BC-B21F5C95EFC7}"/>
              </a:ext>
            </a:extLst>
          </p:cNvPr>
          <p:cNvSpPr txBox="1">
            <a:spLocks noChangeArrowheads="1"/>
          </p:cNvSpPr>
          <p:nvPr/>
        </p:nvSpPr>
        <p:spPr bwMode="auto">
          <a:xfrm>
            <a:off x="911424" y="2282246"/>
            <a:ext cx="9720757" cy="6477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1)F</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=π</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ABE</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(F)={A→B,A→E,B→E}</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=π</a:t>
            </a:r>
            <a:r>
              <a:rPr kumimoji="0"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ea typeface="楷体_GB2312" pitchFamily="49" charset="-122"/>
                <a:cs typeface="+mn-cs"/>
              </a:rPr>
              <a:t>CD</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G = F</a:t>
            </a:r>
            <a:r>
              <a:rPr kumimoji="0"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rPr>
              <a:t>2 </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{A→B,A→E,B→E}</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F = F-G = {</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B</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C</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E</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Result=True</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2)F=F-{</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B</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C</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E</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endPar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由</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B</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C</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D计算      </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 {BE}</a:t>
            </a:r>
            <a:endPar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3)</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由于</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{C,D}        </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，则</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Result=False</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，转</a:t>
            </a: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4)</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4)Result=False</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，得</a:t>
            </a:r>
            <a:r>
              <a:rPr kumimoji="0" lang="zh-CN" altLang="en-US" sz="3200" b="0" i="1"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不</a:t>
            </a:r>
            <a:r>
              <a:rPr kumimoji="0" lang="zh-CN"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保持F</a:t>
            </a:r>
            <a:r>
              <a:rPr kumimoji="0"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a:t>
            </a:r>
            <a:endParaRPr kumimoji="0"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endParaRPr>
          </a:p>
        </p:txBody>
      </p:sp>
      <p:grpSp>
        <p:nvGrpSpPr>
          <p:cNvPr id="2" name="组合 1">
            <a:extLst>
              <a:ext uri="{FF2B5EF4-FFF2-40B4-BE49-F238E27FC236}">
                <a16:creationId xmlns:a16="http://schemas.microsoft.com/office/drawing/2014/main" id="{8043F0CF-F807-4F93-B3A3-5B46F9E9711A}"/>
              </a:ext>
            </a:extLst>
          </p:cNvPr>
          <p:cNvGrpSpPr/>
          <p:nvPr/>
        </p:nvGrpSpPr>
        <p:grpSpPr>
          <a:xfrm>
            <a:off x="3863752" y="4534263"/>
            <a:ext cx="461005" cy="492124"/>
            <a:chOff x="7884084" y="4116608"/>
            <a:chExt cx="461005" cy="492124"/>
          </a:xfrm>
        </p:grpSpPr>
        <p:sp>
          <p:nvSpPr>
            <p:cNvPr id="25" name="Rectangle 7">
              <a:extLst>
                <a:ext uri="{FF2B5EF4-FFF2-40B4-BE49-F238E27FC236}">
                  <a16:creationId xmlns:a16="http://schemas.microsoft.com/office/drawing/2014/main" id="{CF171716-D56E-46F6-9183-5505417D0369}"/>
                </a:ext>
              </a:extLst>
            </p:cNvPr>
            <p:cNvSpPr>
              <a:spLocks noChangeArrowheads="1"/>
            </p:cNvSpPr>
            <p:nvPr/>
          </p:nvSpPr>
          <p:spPr bwMode="auto">
            <a:xfrm>
              <a:off x="7884084" y="4116608"/>
              <a:ext cx="461005" cy="492124"/>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B</a:t>
              </a:r>
              <a:r>
                <a:rPr kumimoji="1"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G</a:t>
              </a:r>
              <a:endParaRPr kumimoji="1" lang="zh-CN" altLang="en-US" sz="3200" b="0" i="0" u="none" strike="noStrike" kern="1200" cap="none" spc="0" normalizeH="0" baseline="-2500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sp>
          <p:nvSpPr>
            <p:cNvPr id="26" name="Rectangle 8">
              <a:extLst>
                <a:ext uri="{FF2B5EF4-FFF2-40B4-BE49-F238E27FC236}">
                  <a16:creationId xmlns:a16="http://schemas.microsoft.com/office/drawing/2014/main" id="{C1D0819D-7682-4027-9958-A8DD328D0C20}"/>
                </a:ext>
              </a:extLst>
            </p:cNvPr>
            <p:cNvSpPr>
              <a:spLocks noChangeArrowheads="1"/>
            </p:cNvSpPr>
            <p:nvPr/>
          </p:nvSpPr>
          <p:spPr bwMode="auto">
            <a:xfrm>
              <a:off x="8150603" y="4197570"/>
              <a:ext cx="187283" cy="328612"/>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3000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a:t>
              </a:r>
              <a:endParaRPr kumimoji="1" lang="zh-CN" altLang="en-US" sz="3200" b="0" i="0" u="none" strike="noStrike" kern="1200" cap="none" spc="0" normalizeH="0" baseline="3000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endParaRPr>
            </a:p>
          </p:txBody>
        </p:sp>
      </p:grpSp>
      <p:grpSp>
        <p:nvGrpSpPr>
          <p:cNvPr id="18" name="Group 9">
            <a:extLst>
              <a:ext uri="{FF2B5EF4-FFF2-40B4-BE49-F238E27FC236}">
                <a16:creationId xmlns:a16="http://schemas.microsoft.com/office/drawing/2014/main" id="{E5CB3E7D-1B7C-4199-ACDC-B12647563D2C}"/>
              </a:ext>
            </a:extLst>
          </p:cNvPr>
          <p:cNvGrpSpPr>
            <a:grpSpLocks/>
          </p:cNvGrpSpPr>
          <p:nvPr/>
        </p:nvGrpSpPr>
        <p:grpSpPr bwMode="auto">
          <a:xfrm>
            <a:off x="3212414" y="5095080"/>
            <a:ext cx="893201" cy="638176"/>
            <a:chOff x="617" y="2416"/>
            <a:chExt cx="496" cy="402"/>
          </a:xfrm>
        </p:grpSpPr>
        <p:grpSp>
          <p:nvGrpSpPr>
            <p:cNvPr id="20" name="Group 10">
              <a:extLst>
                <a:ext uri="{FF2B5EF4-FFF2-40B4-BE49-F238E27FC236}">
                  <a16:creationId xmlns:a16="http://schemas.microsoft.com/office/drawing/2014/main" id="{03171DE4-8895-4C27-9CE6-4BDB42C38AB8}"/>
                </a:ext>
              </a:extLst>
            </p:cNvPr>
            <p:cNvGrpSpPr>
              <a:grpSpLocks/>
            </p:cNvGrpSpPr>
            <p:nvPr/>
          </p:nvGrpSpPr>
          <p:grpSpPr bwMode="auto">
            <a:xfrm>
              <a:off x="857" y="2494"/>
              <a:ext cx="256" cy="310"/>
              <a:chOff x="4241" y="1997"/>
              <a:chExt cx="256" cy="310"/>
            </a:xfrm>
          </p:grpSpPr>
          <p:sp>
            <p:nvSpPr>
              <p:cNvPr id="23" name="Rectangle 11">
                <a:extLst>
                  <a:ext uri="{FF2B5EF4-FFF2-40B4-BE49-F238E27FC236}">
                    <a16:creationId xmlns:a16="http://schemas.microsoft.com/office/drawing/2014/main" id="{A66B2773-190C-477F-A16F-2C396FEEB01D}"/>
                  </a:ext>
                </a:extLst>
              </p:cNvPr>
              <p:cNvSpPr>
                <a:spLocks noChangeArrowheads="1"/>
              </p:cNvSpPr>
              <p:nvPr/>
            </p:nvSpPr>
            <p:spPr bwMode="auto">
              <a:xfrm>
                <a:off x="4241" y="1997"/>
                <a:ext cx="256" cy="310"/>
              </a:xfrm>
              <a:prstGeom prst="rect">
                <a:avLst/>
              </a:prstGeom>
              <a:noFill/>
              <a:ln w="12700" cap="sq" algn="ctr">
                <a:noFill/>
                <a:miter lim="800000"/>
                <a:headEnd/>
                <a:tailEnd/>
              </a:ln>
              <a:effectLst/>
            </p:spPr>
            <p:txBody>
              <a:bodyPr wrap="none"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ea typeface="楷体_GB2312" pitchFamily="49" charset="-122"/>
                    <a:cs typeface="+mn-cs"/>
                  </a:rPr>
                  <a:t>B</a:t>
                </a:r>
                <a:r>
                  <a:rPr kumimoji="1" lang="en-US" altLang="zh-CN"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rPr>
                  <a:t>G</a:t>
                </a:r>
                <a:endParaRPr kumimoji="1" lang="zh-CN" altLang="en-US" sz="3200" b="0" i="0" u="none" strike="noStrike" kern="1200" cap="none" spc="0" normalizeH="0" baseline="-25000" noProof="0" dirty="0">
                  <a:ln>
                    <a:noFill/>
                  </a:ln>
                  <a:solidFill>
                    <a:srgbClr val="FFFFFF"/>
                  </a:solidFill>
                  <a:effectLst>
                    <a:outerShdw blurRad="38100" dist="38100" dir="2700000" algn="tl">
                      <a:srgbClr val="000000"/>
                    </a:outerShdw>
                  </a:effectLst>
                  <a:uLnTx/>
                  <a:uFillTx/>
                  <a:ea typeface="楷体_GB2312" pitchFamily="49" charset="-122"/>
                  <a:cs typeface="+mn-cs"/>
                </a:endParaRPr>
              </a:p>
            </p:txBody>
          </p:sp>
          <p:sp>
            <p:nvSpPr>
              <p:cNvPr id="24" name="Rectangle 12">
                <a:extLst>
                  <a:ext uri="{FF2B5EF4-FFF2-40B4-BE49-F238E27FC236}">
                    <a16:creationId xmlns:a16="http://schemas.microsoft.com/office/drawing/2014/main" id="{96A7D24A-A138-4E2D-8881-91670E9828E2}"/>
                  </a:ext>
                </a:extLst>
              </p:cNvPr>
              <p:cNvSpPr>
                <a:spLocks noChangeArrowheads="1"/>
              </p:cNvSpPr>
              <p:nvPr/>
            </p:nvSpPr>
            <p:spPr bwMode="auto">
              <a:xfrm>
                <a:off x="4364" y="2029"/>
                <a:ext cx="104" cy="207"/>
              </a:xfrm>
              <a:prstGeom prst="rect">
                <a:avLst/>
              </a:prstGeom>
              <a:noFill/>
              <a:ln w="12700" cap="sq" algn="ctr">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5000"/>
                  </a:spcAft>
                  <a:buClrTx/>
                  <a:buSzTx/>
                  <a:buFontTx/>
                  <a:buNone/>
                  <a:tabLst/>
                  <a:defRPr/>
                </a:pPr>
                <a:r>
                  <a:rPr kumimoji="1" lang="en-US" altLang="zh-CN" sz="3200" b="1" i="0" u="none" strike="noStrike" kern="1200" cap="none" spc="0" normalizeH="0" baseline="30000" noProof="0">
                    <a:ln>
                      <a:noFill/>
                    </a:ln>
                    <a:solidFill>
                      <a:srgbClr val="FFFFFF"/>
                    </a:solidFill>
                    <a:effectLst>
                      <a:outerShdw blurRad="38100" dist="38100" dir="2700000" algn="tl">
                        <a:srgbClr val="000000"/>
                      </a:outerShdw>
                    </a:effectLst>
                    <a:uLnTx/>
                    <a:uFillTx/>
                    <a:ea typeface="楷体_GB2312" pitchFamily="49" charset="-122"/>
                    <a:cs typeface="+mn-cs"/>
                  </a:rPr>
                  <a:t>+</a:t>
                </a:r>
                <a:endParaRPr kumimoji="1" lang="zh-CN" altLang="en-US" sz="3200" b="1" i="0" u="none" strike="noStrike" kern="1200" cap="none" spc="0" normalizeH="0" baseline="30000" noProof="0">
                  <a:ln>
                    <a:noFill/>
                  </a:ln>
                  <a:solidFill>
                    <a:srgbClr val="FFFFFF"/>
                  </a:solidFill>
                  <a:effectLst>
                    <a:outerShdw blurRad="38100" dist="38100" dir="2700000" algn="tl">
                      <a:srgbClr val="000000"/>
                    </a:outerShdw>
                  </a:effectLst>
                  <a:uLnTx/>
                  <a:uFillTx/>
                  <a:ea typeface="楷体_GB2312" pitchFamily="49" charset="-122"/>
                  <a:cs typeface="+mn-cs"/>
                </a:endParaRPr>
              </a:p>
            </p:txBody>
          </p:sp>
        </p:grpSp>
        <p:sp>
          <p:nvSpPr>
            <p:cNvPr id="21" name="Rectangle 13">
              <a:extLst>
                <a:ext uri="{FF2B5EF4-FFF2-40B4-BE49-F238E27FC236}">
                  <a16:creationId xmlns:a16="http://schemas.microsoft.com/office/drawing/2014/main" id="{1B1BE6F3-6DA4-40B6-9630-9EC9128EA832}"/>
                </a:ext>
              </a:extLst>
            </p:cNvPr>
            <p:cNvSpPr>
              <a:spLocks noChangeArrowheads="1"/>
            </p:cNvSpPr>
            <p:nvPr/>
          </p:nvSpPr>
          <p:spPr bwMode="auto">
            <a:xfrm>
              <a:off x="617" y="2416"/>
              <a:ext cx="250" cy="402"/>
            </a:xfrm>
            <a:prstGeom prst="rect">
              <a:avLst/>
            </a:prstGeom>
            <a:noFill/>
            <a:ln w="12700" cap="sq">
              <a:noFill/>
              <a:miter lim="800000"/>
              <a:headEnd/>
              <a:tailEnd/>
            </a:ln>
            <a:effectLst/>
          </p:spPr>
          <p:txBody>
            <a:bodyPr lIns="72000" tIns="72000" rIns="72000" bIns="72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srgbClr val="FFFFFF"/>
                  </a:solidFill>
                  <a:effectLst>
                    <a:outerShdw blurRad="38100" dist="38100" dir="2700000" algn="tl">
                      <a:srgbClr val="000000"/>
                    </a:outerShdw>
                  </a:effectLst>
                  <a:uLnTx/>
                  <a:uFillTx/>
                  <a:ea typeface="楷体_GB2312" pitchFamily="49" charset="-122"/>
                  <a:cs typeface="+mn-cs"/>
                  <a:sym typeface="Symbol" pitchFamily="18" charset="2"/>
                </a:rPr>
                <a:t></a:t>
              </a:r>
              <a:endParaRPr kumimoji="1" lang="zh-CN" altLang="en-US" sz="3200" b="0" i="0" u="none" strike="noStrike" kern="1200" cap="none" spc="0" normalizeH="0" baseline="0" noProof="0">
                <a:ln>
                  <a:noFill/>
                </a:ln>
                <a:solidFill>
                  <a:srgbClr val="FFFFFF"/>
                </a:solidFill>
                <a:effectLst>
                  <a:outerShdw blurRad="38100" dist="38100" dir="2700000" algn="tl">
                    <a:srgbClr val="000000"/>
                  </a:outerShdw>
                </a:effectLst>
                <a:uLnTx/>
                <a:uFillTx/>
                <a:ea typeface="楷体_GB2312" pitchFamily="49" charset="-122"/>
                <a:cs typeface="+mn-cs"/>
                <a:sym typeface="Symbol" pitchFamily="18" charset="2"/>
              </a:endParaRPr>
            </a:p>
          </p:txBody>
        </p:sp>
      </p:grpSp>
      <p:sp>
        <p:nvSpPr>
          <p:cNvPr id="19" name="Line 14">
            <a:extLst>
              <a:ext uri="{FF2B5EF4-FFF2-40B4-BE49-F238E27FC236}">
                <a16:creationId xmlns:a16="http://schemas.microsoft.com/office/drawing/2014/main" id="{C284F9AA-2748-49E8-A204-102AA2E05836}"/>
              </a:ext>
            </a:extLst>
          </p:cNvPr>
          <p:cNvSpPr>
            <a:spLocks noChangeShapeType="1"/>
          </p:cNvSpPr>
          <p:nvPr/>
        </p:nvSpPr>
        <p:spPr bwMode="auto">
          <a:xfrm>
            <a:off x="3355578" y="5249068"/>
            <a:ext cx="163873" cy="431800"/>
          </a:xfrm>
          <a:prstGeom prst="line">
            <a:avLst/>
          </a:prstGeom>
          <a:noFill/>
          <a:ln w="12700" cap="sq">
            <a:solidFill>
              <a:schemeClr val="bg1"/>
            </a:solidFill>
            <a:round/>
            <a:headEnd/>
            <a:tailEnd/>
          </a:ln>
          <a:effectLst/>
        </p:spPr>
        <p:txBody>
          <a:bodyPr lIns="0" tIns="0" rIns="0" bIns="0"/>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endParaRPr kumimoji="1" lang="zh-CN" altLang="en-US" sz="32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ea typeface="楷体_GB2312" pitchFamily="49" charset="-122"/>
              <a:cs typeface="+mn-cs"/>
            </a:endParaRPr>
          </a:p>
        </p:txBody>
      </p:sp>
    </p:spTree>
    <p:extLst>
      <p:ext uri="{BB962C8B-B14F-4D97-AF65-F5344CB8AC3E}">
        <p14:creationId xmlns:p14="http://schemas.microsoft.com/office/powerpoint/2010/main" val="3188885244"/>
      </p:ext>
    </p:extLst>
  </p:cSld>
  <p:clrMapOvr>
    <a:masterClrMapping/>
  </p:clrMapOvr>
  <p:transition spd="slow">
    <p:push dir="r"/>
    <p:sndAc>
      <p:stSnd>
        <p:snd r:embed="rId2" name="arrow.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solidFill>
                  <a:srgbClr val="FFFF00"/>
                </a:solidFill>
              </a:rPr>
              <a:t>课后习题二</a:t>
            </a:r>
            <a:r>
              <a:rPr lang="en-US" altLang="zh-CN" dirty="0" smtClean="0">
                <a:solidFill>
                  <a:srgbClr val="FFFF00"/>
                </a:solidFill>
              </a:rPr>
              <a:t>.9</a:t>
            </a:r>
            <a:endParaRPr lang="zh-CN" altLang="en-US" dirty="0">
              <a:solidFill>
                <a:srgbClr val="FFFF00"/>
              </a:solidFill>
            </a:endParaRPr>
          </a:p>
        </p:txBody>
      </p:sp>
    </p:spTree>
    <p:extLst>
      <p:ext uri="{BB962C8B-B14F-4D97-AF65-F5344CB8AC3E}">
        <p14:creationId xmlns:p14="http://schemas.microsoft.com/office/powerpoint/2010/main" val="2277031468"/>
      </p:ext>
    </p:extLst>
  </p:cSld>
  <p:clrMapOvr>
    <a:masterClrMapping/>
  </p:clrMapOvr>
  <p:transition spd="slow">
    <p:wipe dir="r"/>
    <p:sndAc>
      <p:stSnd>
        <p:snd r:embed="rId2" name="arrow.wav"/>
      </p:stSnd>
    </p:sndAc>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title"/>
          </p:nvPr>
        </p:nvSpPr>
        <p:spPr>
          <a:xfrm>
            <a:off x="983432"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分解成</a:t>
            </a:r>
            <a:r>
              <a:rPr kumimoji="1" lang="en-US" altLang="zh-CN" u="sng" dirty="0">
                <a:solidFill>
                  <a:srgbClr val="FFFFCC"/>
                </a:solidFill>
                <a:effectLst>
                  <a:outerShdw blurRad="38100" dist="38100" dir="2700000" algn="tl">
                    <a:srgbClr val="000000"/>
                  </a:outerShdw>
                </a:effectLst>
                <a:latin typeface="Arial" pitchFamily="34" charset="0"/>
                <a:cs typeface="+mn-cs"/>
              </a:rPr>
              <a:t>3NF</a:t>
            </a:r>
            <a:r>
              <a:rPr kumimoji="1" lang="zh-CN" altLang="en-US" u="sng" dirty="0">
                <a:solidFill>
                  <a:srgbClr val="FFFFCC"/>
                </a:solidFill>
                <a:effectLst>
                  <a:outerShdw blurRad="38100" dist="38100" dir="2700000" algn="tl">
                    <a:srgbClr val="000000"/>
                  </a:outerShdw>
                </a:effectLst>
                <a:latin typeface="Arial" pitchFamily="34" charset="0"/>
                <a:cs typeface="+mn-cs"/>
              </a:rPr>
              <a:t>模式集的算法</a:t>
            </a:r>
          </a:p>
        </p:txBody>
      </p:sp>
      <p:sp>
        <p:nvSpPr>
          <p:cNvPr id="1546244" name="Rectangle 4"/>
          <p:cNvSpPr>
            <a:spLocks noGrp="1" noChangeArrowheads="1"/>
          </p:cNvSpPr>
          <p:nvPr>
            <p:ph idx="1"/>
          </p:nvPr>
        </p:nvSpPr>
        <p:spPr>
          <a:xfrm>
            <a:off x="983432" y="1958457"/>
            <a:ext cx="10057991" cy="647700"/>
          </a:xfrm>
        </p:spPr>
        <p:txBody>
          <a:bodyPr>
            <a:noAutofit/>
          </a:bodyPr>
          <a:lstStyle/>
          <a:p>
            <a:pPr marL="534988" indent="-534988" algn="just">
              <a:spcBef>
                <a:spcPts val="600"/>
              </a:spcBef>
              <a:spcAft>
                <a:spcPts val="1800"/>
              </a:spcAft>
              <a:buNone/>
              <a:defRPr/>
            </a:pPr>
            <a:r>
              <a:rPr lang="en-US" altLang="zh-CN" dirty="0">
                <a:solidFill>
                  <a:srgbClr val="CCFFCC"/>
                </a:solidFill>
                <a:latin typeface="楷体_GB2312" panose="02010609030101010101" pitchFamily="49" charset="-122"/>
                <a:ea typeface="楷体_GB2312" panose="02010609030101010101" pitchFamily="49" charset="-122"/>
              </a:rPr>
              <a:t>1)	</a:t>
            </a:r>
            <a:r>
              <a:rPr lang="zh-CN" altLang="en-US" dirty="0">
                <a:solidFill>
                  <a:srgbClr val="CCFFCC"/>
                </a:solidFill>
                <a:latin typeface="楷体_GB2312" panose="02010609030101010101" pitchFamily="49" charset="-122"/>
                <a:ea typeface="楷体_GB2312" panose="02010609030101010101" pitchFamily="49" charset="-122"/>
              </a:rPr>
              <a:t>令</a:t>
            </a:r>
            <a:r>
              <a:rPr lang="en-US" altLang="zh-CN" dirty="0">
                <a:solidFill>
                  <a:srgbClr val="CCFFCC"/>
                </a:solidFill>
                <a:latin typeface="楷体_GB2312" panose="02010609030101010101" pitchFamily="49" charset="-122"/>
                <a:ea typeface="楷体_GB2312" panose="02010609030101010101" pitchFamily="49" charset="-122"/>
              </a:rPr>
              <a:t>F=</a:t>
            </a:r>
            <a:r>
              <a:rPr lang="en-US" altLang="zh-CN" dirty="0" err="1">
                <a:solidFill>
                  <a:srgbClr val="CCFFCC"/>
                </a:solidFill>
                <a:latin typeface="楷体_GB2312" panose="02010609030101010101" pitchFamily="49" charset="-122"/>
                <a:ea typeface="楷体_GB2312" panose="02010609030101010101" pitchFamily="49" charset="-122"/>
              </a:rPr>
              <a:t>F</a:t>
            </a:r>
            <a:r>
              <a:rPr lang="en-US" altLang="zh-CN" baseline="-25000" dirty="0" err="1">
                <a:solidFill>
                  <a:srgbClr val="CCFFCC"/>
                </a:solidFill>
                <a:latin typeface="楷体_GB2312" panose="02010609030101010101" pitchFamily="49" charset="-122"/>
                <a:ea typeface="楷体_GB2312" panose="02010609030101010101" pitchFamily="49" charset="-122"/>
              </a:rPr>
              <a:t>min</a:t>
            </a:r>
            <a:r>
              <a:rPr lang="zh-CN" altLang="en-US" dirty="0">
                <a:solidFill>
                  <a:srgbClr val="CCFFCC"/>
                </a:solidFill>
                <a:latin typeface="楷体_GB2312" panose="02010609030101010101" pitchFamily="49" charset="-122"/>
                <a:ea typeface="楷体_GB2312" panose="02010609030101010101" pitchFamily="49" charset="-122"/>
              </a:rPr>
              <a:t>，</a:t>
            </a:r>
            <a:r>
              <a:rPr lang="en-US" altLang="zh-CN" i="1" dirty="0">
                <a:solidFill>
                  <a:srgbClr val="CCFFCC"/>
                </a:solidFill>
                <a:latin typeface="楷体_GB2312" panose="02010609030101010101" pitchFamily="49" charset="-122"/>
                <a:ea typeface="楷体_GB2312" panose="02010609030101010101" pitchFamily="49" charset="-122"/>
              </a:rPr>
              <a:t>ρ</a:t>
            </a:r>
            <a:r>
              <a:rPr lang="en-US" altLang="zh-CN" dirty="0">
                <a:solidFill>
                  <a:srgbClr val="CCFFCC"/>
                </a:solidFill>
                <a:latin typeface="楷体_GB2312" panose="02010609030101010101" pitchFamily="49" charset="-122"/>
                <a:ea typeface="楷体_GB2312" panose="02010609030101010101" pitchFamily="49" charset="-122"/>
              </a:rPr>
              <a:t>=∅</a:t>
            </a:r>
          </a:p>
          <a:p>
            <a:pPr marL="534988" indent="-534988" algn="just">
              <a:spcBef>
                <a:spcPts val="600"/>
              </a:spcBef>
              <a:spcAft>
                <a:spcPts val="1800"/>
              </a:spcAft>
              <a:buNone/>
              <a:defRPr/>
            </a:pPr>
            <a:r>
              <a:rPr lang="en-US" altLang="zh-CN" dirty="0">
                <a:solidFill>
                  <a:srgbClr val="CCFFCC"/>
                </a:solidFill>
                <a:latin typeface="楷体_GB2312" panose="02010609030101010101" pitchFamily="49" charset="-122"/>
                <a:ea typeface="楷体_GB2312" panose="02010609030101010101" pitchFamily="49" charset="-122"/>
              </a:rPr>
              <a:t>2)	</a:t>
            </a:r>
            <a:r>
              <a:rPr lang="zh-CN" altLang="en-US" dirty="0">
                <a:solidFill>
                  <a:srgbClr val="CCFFCC"/>
                </a:solidFill>
                <a:latin typeface="楷体_GB2312" panose="02010609030101010101" pitchFamily="49" charset="-122"/>
                <a:ea typeface="楷体_GB2312" panose="02010609030101010101" pitchFamily="49" charset="-122"/>
              </a:rPr>
              <a:t>令</a:t>
            </a:r>
            <a:r>
              <a:rPr lang="en-US" altLang="zh-CN" dirty="0">
                <a:solidFill>
                  <a:srgbClr val="CCFFCC"/>
                </a:solidFill>
                <a:latin typeface="楷体_GB2312" panose="02010609030101010101" pitchFamily="49" charset="-122"/>
                <a:ea typeface="楷体_GB2312" panose="02010609030101010101" pitchFamily="49" charset="-122"/>
              </a:rPr>
              <a:t>U</a:t>
            </a:r>
            <a:r>
              <a:rPr lang="en-US" altLang="zh-CN" baseline="-25000" dirty="0">
                <a:solidFill>
                  <a:srgbClr val="CCFFCC"/>
                </a:solidFill>
                <a:latin typeface="楷体_GB2312" panose="02010609030101010101" pitchFamily="49" charset="-122"/>
                <a:ea typeface="楷体_GB2312" panose="02010609030101010101" pitchFamily="49" charset="-122"/>
              </a:rPr>
              <a:t>1</a:t>
            </a:r>
            <a:r>
              <a:rPr lang="zh-CN" altLang="en-US" dirty="0">
                <a:solidFill>
                  <a:srgbClr val="CCFFCC"/>
                </a:solidFill>
                <a:latin typeface="楷体_GB2312" panose="02010609030101010101" pitchFamily="49" charset="-122"/>
                <a:ea typeface="楷体_GB2312" panose="02010609030101010101" pitchFamily="49" charset="-122"/>
              </a:rPr>
              <a:t>为所有没有在</a:t>
            </a:r>
            <a:r>
              <a:rPr lang="en-US" altLang="zh-CN" dirty="0">
                <a:solidFill>
                  <a:srgbClr val="CCFFCC"/>
                </a:solidFill>
                <a:latin typeface="楷体_GB2312" panose="02010609030101010101" pitchFamily="49" charset="-122"/>
                <a:ea typeface="楷体_GB2312" panose="02010609030101010101" pitchFamily="49" charset="-122"/>
              </a:rPr>
              <a:t>F</a:t>
            </a:r>
            <a:r>
              <a:rPr lang="zh-CN" altLang="en-US" dirty="0">
                <a:solidFill>
                  <a:srgbClr val="CCFFCC"/>
                </a:solidFill>
                <a:latin typeface="楷体_GB2312" panose="02010609030101010101" pitchFamily="49" charset="-122"/>
                <a:ea typeface="楷体_GB2312" panose="02010609030101010101" pitchFamily="49" charset="-122"/>
              </a:rPr>
              <a:t>中出现过的属性的集合，</a:t>
            </a:r>
            <a:r>
              <a:rPr lang="en-US" altLang="zh-CN" i="1" dirty="0">
                <a:solidFill>
                  <a:srgbClr val="CCFFCC"/>
                </a:solidFill>
                <a:latin typeface="楷体_GB2312" panose="02010609030101010101" pitchFamily="49" charset="-122"/>
                <a:ea typeface="楷体_GB2312" panose="02010609030101010101" pitchFamily="49" charset="-122"/>
              </a:rPr>
              <a:t>ρ</a:t>
            </a:r>
            <a:r>
              <a:rPr lang="en-US" altLang="zh-CN" dirty="0">
                <a:solidFill>
                  <a:srgbClr val="CCFFCC"/>
                </a:solidFill>
                <a:latin typeface="楷体_GB2312" panose="02010609030101010101" pitchFamily="49" charset="-122"/>
                <a:ea typeface="楷体_GB2312" panose="02010609030101010101" pitchFamily="49" charset="-122"/>
              </a:rPr>
              <a:t>=</a:t>
            </a:r>
            <a:r>
              <a:rPr lang="en-US" altLang="zh-CN" i="1" dirty="0" err="1">
                <a:solidFill>
                  <a:srgbClr val="CCFFCC"/>
                </a:solidFill>
                <a:latin typeface="楷体_GB2312" panose="02010609030101010101" pitchFamily="49" charset="-122"/>
                <a:ea typeface="楷体_GB2312" panose="02010609030101010101" pitchFamily="49" charset="-122"/>
              </a:rPr>
              <a:t>ρ</a:t>
            </a:r>
            <a:r>
              <a:rPr lang="en-US" altLang="zh-CN" dirty="0" err="1">
                <a:solidFill>
                  <a:srgbClr val="CCFFCC"/>
                </a:solidFill>
                <a:latin typeface="楷体_GB2312" panose="02010609030101010101" pitchFamily="49" charset="-122"/>
                <a:ea typeface="楷体_GB2312" panose="02010609030101010101" pitchFamily="49" charset="-122"/>
              </a:rPr>
              <a:t>∪R</a:t>
            </a:r>
            <a:r>
              <a:rPr lang="en-US" altLang="zh-CN" dirty="0">
                <a:solidFill>
                  <a:srgbClr val="CCFFCC"/>
                </a:solidFill>
                <a:latin typeface="楷体_GB2312" panose="02010609030101010101" pitchFamily="49" charset="-122"/>
                <a:ea typeface="楷体_GB2312" panose="02010609030101010101" pitchFamily="49" charset="-122"/>
              </a:rPr>
              <a:t>(U</a:t>
            </a:r>
            <a:r>
              <a:rPr lang="en-US" altLang="zh-CN" baseline="-25000" dirty="0">
                <a:solidFill>
                  <a:srgbClr val="CCFFCC"/>
                </a:solidFill>
                <a:latin typeface="楷体_GB2312" panose="02010609030101010101" pitchFamily="49" charset="-122"/>
                <a:ea typeface="楷体_GB2312" panose="02010609030101010101" pitchFamily="49" charset="-122"/>
              </a:rPr>
              <a:t>1</a:t>
            </a:r>
            <a:r>
              <a:rPr lang="en-US" altLang="zh-CN" dirty="0">
                <a:solidFill>
                  <a:srgbClr val="CCFFCC"/>
                </a:solidFill>
                <a:latin typeface="楷体_GB2312" panose="02010609030101010101" pitchFamily="49" charset="-122"/>
                <a:ea typeface="楷体_GB2312" panose="02010609030101010101" pitchFamily="49" charset="-122"/>
              </a:rPr>
              <a:t>)</a:t>
            </a:r>
            <a:r>
              <a:rPr lang="zh-CN" altLang="en-US" dirty="0">
                <a:solidFill>
                  <a:srgbClr val="CCFFCC"/>
                </a:solidFill>
                <a:latin typeface="楷体_GB2312" panose="02010609030101010101" pitchFamily="49" charset="-122"/>
                <a:ea typeface="楷体_GB2312" panose="02010609030101010101" pitchFamily="49" charset="-122"/>
              </a:rPr>
              <a:t>， </a:t>
            </a:r>
            <a:r>
              <a:rPr lang="en-US" altLang="zh-CN" dirty="0">
                <a:solidFill>
                  <a:srgbClr val="CCFFCC"/>
                </a:solidFill>
                <a:latin typeface="楷体_GB2312" panose="02010609030101010101" pitchFamily="49" charset="-122"/>
                <a:ea typeface="楷体_GB2312" panose="02010609030101010101" pitchFamily="49" charset="-122"/>
              </a:rPr>
              <a:t>U=U</a:t>
            </a:r>
            <a:r>
              <a:rPr lang="zh-CN" altLang="en-US" i="1" dirty="0">
                <a:solidFill>
                  <a:srgbClr val="CCFFCC"/>
                </a:solidFill>
                <a:latin typeface="楷体_GB2312" panose="02010609030101010101" pitchFamily="49" charset="-122"/>
                <a:ea typeface="楷体_GB2312" panose="02010609030101010101" pitchFamily="49" charset="-122"/>
              </a:rPr>
              <a:t>－</a:t>
            </a:r>
            <a:r>
              <a:rPr lang="en-US" altLang="zh-CN" dirty="0">
                <a:solidFill>
                  <a:srgbClr val="CCFFCC"/>
                </a:solidFill>
                <a:latin typeface="楷体_GB2312" panose="02010609030101010101" pitchFamily="49" charset="-122"/>
                <a:ea typeface="楷体_GB2312" panose="02010609030101010101" pitchFamily="49" charset="-122"/>
              </a:rPr>
              <a:t>U</a:t>
            </a:r>
            <a:r>
              <a:rPr lang="en-US" altLang="zh-CN" baseline="-25000" dirty="0">
                <a:solidFill>
                  <a:srgbClr val="CCFFCC"/>
                </a:solidFill>
                <a:latin typeface="楷体_GB2312" panose="02010609030101010101" pitchFamily="49" charset="-122"/>
                <a:ea typeface="楷体_GB2312" panose="02010609030101010101" pitchFamily="49" charset="-122"/>
              </a:rPr>
              <a:t>1</a:t>
            </a:r>
            <a:endParaRPr lang="zh-CN" altLang="en-US" dirty="0">
              <a:solidFill>
                <a:srgbClr val="CCFFCC"/>
              </a:solidFill>
              <a:latin typeface="楷体_GB2312" panose="02010609030101010101" pitchFamily="49" charset="-122"/>
              <a:ea typeface="楷体_GB2312" panose="02010609030101010101" pitchFamily="49" charset="-122"/>
            </a:endParaRPr>
          </a:p>
          <a:p>
            <a:pPr marL="534988" indent="-534988" algn="just">
              <a:spcBef>
                <a:spcPts val="600"/>
              </a:spcBef>
              <a:spcAft>
                <a:spcPts val="1800"/>
              </a:spcAft>
              <a:buNone/>
              <a:defRPr/>
            </a:pPr>
            <a:r>
              <a:rPr lang="en-US" altLang="zh-CN" dirty="0">
                <a:solidFill>
                  <a:srgbClr val="CCFFCC"/>
                </a:solidFill>
                <a:latin typeface="楷体_GB2312" panose="02010609030101010101" pitchFamily="49" charset="-122"/>
                <a:ea typeface="楷体_GB2312" panose="02010609030101010101" pitchFamily="49" charset="-122"/>
              </a:rPr>
              <a:t>3)	</a:t>
            </a:r>
            <a:r>
              <a:rPr lang="zh-CN" altLang="en-US" dirty="0">
                <a:solidFill>
                  <a:srgbClr val="CCFFCC"/>
                </a:solidFill>
                <a:latin typeface="楷体_GB2312" panose="02010609030101010101" pitchFamily="49" charset="-122"/>
                <a:ea typeface="楷体_GB2312" panose="02010609030101010101" pitchFamily="49" charset="-122"/>
              </a:rPr>
              <a:t>若</a:t>
            </a:r>
            <a:r>
              <a:rPr lang="en-US" altLang="zh-CN" dirty="0">
                <a:solidFill>
                  <a:srgbClr val="CCFFCC"/>
                </a:solidFill>
                <a:latin typeface="楷体_GB2312" panose="02010609030101010101" pitchFamily="49" charset="-122"/>
                <a:ea typeface="楷体_GB2312" panose="02010609030101010101" pitchFamily="49" charset="-122"/>
              </a:rPr>
              <a:t>F</a:t>
            </a:r>
            <a:r>
              <a:rPr lang="zh-CN" altLang="en-US" dirty="0">
                <a:solidFill>
                  <a:srgbClr val="CCFFCC"/>
                </a:solidFill>
                <a:latin typeface="楷体_GB2312" panose="02010609030101010101" pitchFamily="49" charset="-122"/>
                <a:ea typeface="楷体_GB2312" panose="02010609030101010101" pitchFamily="49" charset="-122"/>
              </a:rPr>
              <a:t>中存在</a:t>
            </a:r>
            <a:r>
              <a:rPr lang="en-US" altLang="zh-CN" dirty="0">
                <a:solidFill>
                  <a:srgbClr val="CCFFCC"/>
                </a:solidFill>
                <a:latin typeface="楷体_GB2312" panose="02010609030101010101" pitchFamily="49" charset="-122"/>
                <a:ea typeface="楷体_GB2312" panose="02010609030101010101" pitchFamily="49" charset="-122"/>
              </a:rPr>
              <a:t>X→A</a:t>
            </a:r>
            <a:r>
              <a:rPr lang="zh-CN" altLang="en-US" dirty="0">
                <a:solidFill>
                  <a:srgbClr val="CCFFCC"/>
                </a:solidFill>
                <a:latin typeface="楷体_GB2312" panose="02010609030101010101" pitchFamily="49" charset="-122"/>
                <a:ea typeface="楷体_GB2312" panose="02010609030101010101" pitchFamily="49" charset="-122"/>
              </a:rPr>
              <a:t>且</a:t>
            </a:r>
            <a:r>
              <a:rPr lang="en-US" altLang="zh-CN" dirty="0">
                <a:solidFill>
                  <a:srgbClr val="CCFFCC"/>
                </a:solidFill>
                <a:latin typeface="楷体_GB2312" panose="02010609030101010101" pitchFamily="49" charset="-122"/>
                <a:ea typeface="楷体_GB2312" panose="02010609030101010101" pitchFamily="49" charset="-122"/>
              </a:rPr>
              <a:t>X∪A=U</a:t>
            </a:r>
            <a:r>
              <a:rPr lang="zh-CN" altLang="en-US" dirty="0">
                <a:solidFill>
                  <a:srgbClr val="CCFFCC"/>
                </a:solidFill>
                <a:latin typeface="楷体_GB2312" panose="02010609030101010101" pitchFamily="49" charset="-122"/>
                <a:ea typeface="楷体_GB2312" panose="02010609030101010101" pitchFamily="49" charset="-122"/>
              </a:rPr>
              <a:t>，则</a:t>
            </a:r>
            <a:r>
              <a:rPr lang="en-US" altLang="zh-CN" i="1" dirty="0">
                <a:solidFill>
                  <a:srgbClr val="CCFFCC"/>
                </a:solidFill>
                <a:latin typeface="楷体_GB2312" panose="02010609030101010101" pitchFamily="49" charset="-122"/>
                <a:ea typeface="楷体_GB2312" panose="02010609030101010101" pitchFamily="49" charset="-122"/>
              </a:rPr>
              <a:t>ρ</a:t>
            </a:r>
            <a:r>
              <a:rPr lang="en-US" altLang="zh-CN" dirty="0">
                <a:solidFill>
                  <a:srgbClr val="CCFFCC"/>
                </a:solidFill>
                <a:latin typeface="楷体_GB2312" panose="02010609030101010101" pitchFamily="49" charset="-122"/>
                <a:ea typeface="楷体_GB2312" panose="02010609030101010101" pitchFamily="49" charset="-122"/>
              </a:rPr>
              <a:t>=</a:t>
            </a:r>
            <a:r>
              <a:rPr lang="en-US" altLang="zh-CN" i="1" dirty="0" err="1">
                <a:solidFill>
                  <a:srgbClr val="CCFFCC"/>
                </a:solidFill>
                <a:latin typeface="楷体_GB2312" panose="02010609030101010101" pitchFamily="49" charset="-122"/>
                <a:ea typeface="楷体_GB2312" panose="02010609030101010101" pitchFamily="49" charset="-122"/>
              </a:rPr>
              <a:t>ρ</a:t>
            </a:r>
            <a:r>
              <a:rPr lang="en-US" altLang="zh-CN" dirty="0" err="1">
                <a:solidFill>
                  <a:srgbClr val="CCFFCC"/>
                </a:solidFill>
                <a:latin typeface="楷体_GB2312" panose="02010609030101010101" pitchFamily="49" charset="-122"/>
                <a:ea typeface="楷体_GB2312" panose="02010609030101010101" pitchFamily="49" charset="-122"/>
              </a:rPr>
              <a:t>∪R</a:t>
            </a:r>
            <a:r>
              <a:rPr lang="en-US" altLang="zh-CN" dirty="0">
                <a:solidFill>
                  <a:srgbClr val="CCFFCC"/>
                </a:solidFill>
                <a:latin typeface="楷体_GB2312" panose="02010609030101010101" pitchFamily="49" charset="-122"/>
                <a:ea typeface="楷体_GB2312" panose="02010609030101010101" pitchFamily="49" charset="-122"/>
              </a:rPr>
              <a:t>(U)</a:t>
            </a:r>
            <a:r>
              <a:rPr lang="zh-CN" altLang="en-US" dirty="0">
                <a:solidFill>
                  <a:srgbClr val="CCFFCC"/>
                </a:solidFill>
                <a:latin typeface="楷体_GB2312" panose="02010609030101010101" pitchFamily="49" charset="-122"/>
                <a:ea typeface="楷体_GB2312" panose="02010609030101010101" pitchFamily="49" charset="-122"/>
              </a:rPr>
              <a:t>，转</a:t>
            </a:r>
            <a:r>
              <a:rPr lang="en-US" altLang="zh-CN" dirty="0">
                <a:solidFill>
                  <a:srgbClr val="CCFFCC"/>
                </a:solidFill>
                <a:latin typeface="楷体_GB2312" panose="02010609030101010101" pitchFamily="49" charset="-122"/>
                <a:ea typeface="楷体_GB2312" panose="02010609030101010101" pitchFamily="49" charset="-122"/>
              </a:rPr>
              <a:t>4)</a:t>
            </a:r>
            <a:r>
              <a:rPr lang="zh-CN" altLang="en-US" dirty="0">
                <a:solidFill>
                  <a:srgbClr val="CCFFCC"/>
                </a:solidFill>
                <a:latin typeface="楷体_GB2312" panose="02010609030101010101" pitchFamily="49" charset="-122"/>
                <a:ea typeface="楷体_GB2312" panose="02010609030101010101" pitchFamily="49" charset="-122"/>
              </a:rPr>
              <a:t>。否则将所有</a:t>
            </a:r>
            <a:r>
              <a:rPr lang="en-US" altLang="zh-CN" dirty="0">
                <a:solidFill>
                  <a:srgbClr val="CCFFCC"/>
                </a:solidFill>
                <a:latin typeface="楷体_GB2312" panose="02010609030101010101" pitchFamily="49" charset="-122"/>
                <a:ea typeface="楷体_GB2312" panose="02010609030101010101" pitchFamily="49" charset="-122"/>
              </a:rPr>
              <a:t>X→A</a:t>
            </a:r>
            <a:r>
              <a:rPr lang="en-US" altLang="zh-CN" baseline="-25000" dirty="0">
                <a:solidFill>
                  <a:srgbClr val="CCFFCC"/>
                </a:solidFill>
                <a:latin typeface="楷体_GB2312" panose="02010609030101010101" pitchFamily="49" charset="-122"/>
                <a:ea typeface="楷体_GB2312" panose="02010609030101010101" pitchFamily="49" charset="-122"/>
              </a:rPr>
              <a:t>1</a:t>
            </a:r>
            <a:r>
              <a:rPr lang="zh-CN" altLang="en-US" dirty="0">
                <a:solidFill>
                  <a:srgbClr val="CCFFCC"/>
                </a:solidFill>
                <a:latin typeface="楷体_GB2312" panose="02010609030101010101" pitchFamily="49" charset="-122"/>
                <a:ea typeface="楷体_GB2312" panose="02010609030101010101" pitchFamily="49" charset="-122"/>
              </a:rPr>
              <a:t>，</a:t>
            </a:r>
            <a:r>
              <a:rPr lang="en-US" altLang="zh-CN" dirty="0">
                <a:solidFill>
                  <a:srgbClr val="CCFFCC"/>
                </a:solidFill>
                <a:latin typeface="楷体_GB2312" panose="02010609030101010101" pitchFamily="49" charset="-122"/>
                <a:ea typeface="楷体_GB2312" panose="02010609030101010101" pitchFamily="49" charset="-122"/>
              </a:rPr>
              <a:t>X→A</a:t>
            </a:r>
            <a:r>
              <a:rPr lang="en-US" altLang="zh-CN" baseline="-25000" dirty="0">
                <a:solidFill>
                  <a:srgbClr val="CCFFCC"/>
                </a:solidFill>
                <a:latin typeface="楷体_GB2312" panose="02010609030101010101" pitchFamily="49" charset="-122"/>
                <a:ea typeface="楷体_GB2312" panose="02010609030101010101" pitchFamily="49" charset="-122"/>
              </a:rPr>
              <a:t>2</a:t>
            </a:r>
            <a:r>
              <a:rPr lang="en-US" altLang="zh-CN" dirty="0">
                <a:solidFill>
                  <a:srgbClr val="CCFFCC"/>
                </a:solidFill>
                <a:latin typeface="楷体_GB2312" panose="02010609030101010101" pitchFamily="49" charset="-122"/>
                <a:ea typeface="楷体_GB2312" panose="02010609030101010101" pitchFamily="49" charset="-122"/>
              </a:rPr>
              <a:t>,…,</a:t>
            </a:r>
            <a:r>
              <a:rPr lang="en-US" altLang="zh-CN" dirty="0" err="1">
                <a:solidFill>
                  <a:srgbClr val="CCFFCC"/>
                </a:solidFill>
                <a:latin typeface="楷体_GB2312" panose="02010609030101010101" pitchFamily="49" charset="-122"/>
                <a:ea typeface="楷体_GB2312" panose="02010609030101010101" pitchFamily="49" charset="-122"/>
              </a:rPr>
              <a:t>X→A</a:t>
            </a:r>
            <a:r>
              <a:rPr lang="en-US" altLang="zh-CN" baseline="-25000" dirty="0" err="1">
                <a:solidFill>
                  <a:srgbClr val="CCFFCC"/>
                </a:solidFill>
                <a:latin typeface="楷体_GB2312" panose="02010609030101010101" pitchFamily="49" charset="-122"/>
                <a:ea typeface="楷体_GB2312" panose="02010609030101010101" pitchFamily="49" charset="-122"/>
              </a:rPr>
              <a:t>k</a:t>
            </a:r>
            <a:r>
              <a:rPr lang="zh-CN" altLang="en-US" dirty="0">
                <a:solidFill>
                  <a:srgbClr val="CCFFCC"/>
                </a:solidFill>
                <a:latin typeface="楷体_GB2312" panose="02010609030101010101" pitchFamily="49" charset="-122"/>
                <a:ea typeface="楷体_GB2312" panose="02010609030101010101" pitchFamily="49" charset="-122"/>
              </a:rPr>
              <a:t>合并构成一个关系模式</a:t>
            </a:r>
            <a:r>
              <a:rPr lang="en-US" altLang="zh-CN" dirty="0">
                <a:solidFill>
                  <a:srgbClr val="CCFFCC"/>
                </a:solidFill>
                <a:latin typeface="楷体_GB2312" panose="02010609030101010101" pitchFamily="49" charset="-122"/>
                <a:ea typeface="楷体_GB2312" panose="02010609030101010101" pitchFamily="49" charset="-122"/>
              </a:rPr>
              <a:t>R(XA</a:t>
            </a:r>
            <a:r>
              <a:rPr lang="en-US" altLang="zh-CN" baseline="-25000" dirty="0">
                <a:solidFill>
                  <a:srgbClr val="CCFFCC"/>
                </a:solidFill>
                <a:latin typeface="楷体_GB2312" panose="02010609030101010101" pitchFamily="49" charset="-122"/>
                <a:ea typeface="楷体_GB2312" panose="02010609030101010101" pitchFamily="49" charset="-122"/>
              </a:rPr>
              <a:t>1</a:t>
            </a:r>
            <a:r>
              <a:rPr lang="en-US" altLang="zh-CN" dirty="0">
                <a:solidFill>
                  <a:srgbClr val="CCFFCC"/>
                </a:solidFill>
                <a:latin typeface="楷体_GB2312" panose="02010609030101010101" pitchFamily="49" charset="-122"/>
                <a:ea typeface="楷体_GB2312" panose="02010609030101010101" pitchFamily="49" charset="-122"/>
              </a:rPr>
              <a:t>A</a:t>
            </a:r>
            <a:r>
              <a:rPr lang="en-US" altLang="zh-CN" baseline="-25000" dirty="0">
                <a:solidFill>
                  <a:srgbClr val="CCFFCC"/>
                </a:solidFill>
                <a:latin typeface="楷体_GB2312" panose="02010609030101010101" pitchFamily="49" charset="-122"/>
                <a:ea typeface="楷体_GB2312" panose="02010609030101010101" pitchFamily="49" charset="-122"/>
              </a:rPr>
              <a:t>2</a:t>
            </a:r>
            <a:r>
              <a:rPr lang="en-US" altLang="zh-CN" dirty="0">
                <a:solidFill>
                  <a:srgbClr val="CCFFCC"/>
                </a:solidFill>
                <a:latin typeface="楷体_GB2312" panose="02010609030101010101" pitchFamily="49" charset="-122"/>
                <a:ea typeface="楷体_GB2312" panose="02010609030101010101" pitchFamily="49" charset="-122"/>
              </a:rPr>
              <a:t>…A</a:t>
            </a:r>
            <a:r>
              <a:rPr lang="en-US" altLang="zh-CN" baseline="-25000" dirty="0">
                <a:solidFill>
                  <a:srgbClr val="CCFFCC"/>
                </a:solidFill>
                <a:latin typeface="楷体_GB2312" panose="02010609030101010101" pitchFamily="49" charset="-122"/>
                <a:ea typeface="楷体_GB2312" panose="02010609030101010101" pitchFamily="49" charset="-122"/>
              </a:rPr>
              <a:t>k</a:t>
            </a:r>
            <a:r>
              <a:rPr lang="en-US" altLang="zh-CN" dirty="0">
                <a:solidFill>
                  <a:srgbClr val="CCFFCC"/>
                </a:solidFill>
                <a:latin typeface="楷体_GB2312" panose="02010609030101010101" pitchFamily="49" charset="-122"/>
                <a:ea typeface="楷体_GB2312" panose="02010609030101010101" pitchFamily="49" charset="-122"/>
              </a:rPr>
              <a:t>)</a:t>
            </a:r>
            <a:r>
              <a:rPr lang="zh-CN" altLang="en-US" dirty="0">
                <a:solidFill>
                  <a:srgbClr val="CCFFCC"/>
                </a:solidFill>
                <a:latin typeface="楷体_GB2312" panose="02010609030101010101" pitchFamily="49" charset="-122"/>
                <a:ea typeface="楷体_GB2312" panose="02010609030101010101" pitchFamily="49" charset="-122"/>
              </a:rPr>
              <a:t>，并将其并入</a:t>
            </a:r>
            <a:r>
              <a:rPr lang="en-US" altLang="zh-CN" i="1" dirty="0">
                <a:solidFill>
                  <a:srgbClr val="CCFFCC"/>
                </a:solidFill>
                <a:latin typeface="楷体_GB2312" panose="02010609030101010101" pitchFamily="49" charset="-122"/>
                <a:ea typeface="楷体_GB2312" panose="02010609030101010101" pitchFamily="49" charset="-122"/>
              </a:rPr>
              <a:t>ρ</a:t>
            </a:r>
            <a:r>
              <a:rPr lang="zh-CN" altLang="en-US" dirty="0">
                <a:solidFill>
                  <a:srgbClr val="CCFFCC"/>
                </a:solidFill>
                <a:latin typeface="楷体_GB2312" panose="02010609030101010101" pitchFamily="49" charset="-122"/>
                <a:ea typeface="楷体_GB2312" panose="02010609030101010101" pitchFamily="49" charset="-122"/>
              </a:rPr>
              <a:t>。</a:t>
            </a:r>
          </a:p>
          <a:p>
            <a:pPr marL="534988" indent="-534988" algn="just">
              <a:spcBef>
                <a:spcPts val="600"/>
              </a:spcBef>
              <a:buNone/>
              <a:defRPr/>
            </a:pPr>
            <a:r>
              <a:rPr lang="en-US" altLang="zh-CN" dirty="0">
                <a:solidFill>
                  <a:srgbClr val="CCFFCC"/>
                </a:solidFill>
                <a:latin typeface="楷体_GB2312" panose="02010609030101010101" pitchFamily="49" charset="-122"/>
                <a:ea typeface="楷体_GB2312" panose="02010609030101010101" pitchFamily="49" charset="-122"/>
              </a:rPr>
              <a:t>4)	</a:t>
            </a:r>
            <a:r>
              <a:rPr lang="zh-CN" altLang="en-US" dirty="0">
                <a:solidFill>
                  <a:srgbClr val="CCFFCC"/>
                </a:solidFill>
                <a:latin typeface="楷体_GB2312" panose="02010609030101010101" pitchFamily="49" charset="-122"/>
                <a:ea typeface="楷体_GB2312" panose="02010609030101010101" pitchFamily="49" charset="-122"/>
              </a:rPr>
              <a:t>结束，</a:t>
            </a:r>
            <a:r>
              <a:rPr lang="en-US" altLang="zh-CN" i="1" dirty="0">
                <a:solidFill>
                  <a:srgbClr val="CCFFCC"/>
                </a:solidFill>
                <a:latin typeface="楷体_GB2312" panose="02010609030101010101" pitchFamily="49" charset="-122"/>
                <a:ea typeface="楷体_GB2312" panose="02010609030101010101" pitchFamily="49" charset="-122"/>
              </a:rPr>
              <a:t>ρ</a:t>
            </a:r>
            <a:r>
              <a:rPr lang="zh-CN" altLang="en-US" dirty="0">
                <a:solidFill>
                  <a:srgbClr val="CCFFCC"/>
                </a:solidFill>
                <a:latin typeface="楷体_GB2312" panose="02010609030101010101" pitchFamily="49" charset="-122"/>
                <a:ea typeface="楷体_GB2312" panose="02010609030101010101" pitchFamily="49" charset="-122"/>
              </a:rPr>
              <a:t>即是保持函数依赖的</a:t>
            </a:r>
            <a:r>
              <a:rPr lang="en-US" altLang="zh-CN" dirty="0">
                <a:solidFill>
                  <a:srgbClr val="CCFFCC"/>
                </a:solidFill>
                <a:latin typeface="楷体_GB2312" panose="02010609030101010101" pitchFamily="49" charset="-122"/>
                <a:ea typeface="楷体_GB2312" panose="02010609030101010101" pitchFamily="49" charset="-122"/>
              </a:rPr>
              <a:t>3NF</a:t>
            </a:r>
            <a:r>
              <a:rPr lang="zh-CN" altLang="en-US" dirty="0">
                <a:solidFill>
                  <a:srgbClr val="CCFFCC"/>
                </a:solidFill>
                <a:latin typeface="楷体_GB2312" panose="02010609030101010101" pitchFamily="49" charset="-122"/>
                <a:ea typeface="楷体_GB2312" panose="02010609030101010101" pitchFamily="49" charset="-122"/>
              </a:rPr>
              <a:t>模式集</a:t>
            </a:r>
          </a:p>
        </p:txBody>
      </p:sp>
      <p:sp>
        <p:nvSpPr>
          <p:cNvPr id="4" name="Rectangle 4">
            <a:extLst>
              <a:ext uri="{FF2B5EF4-FFF2-40B4-BE49-F238E27FC236}">
                <a16:creationId xmlns:a16="http://schemas.microsoft.com/office/drawing/2014/main" id="{7F2557C4-6284-4678-8978-E5578E0AE598}"/>
              </a:ext>
            </a:extLst>
          </p:cNvPr>
          <p:cNvSpPr txBox="1">
            <a:spLocks noChangeArrowheads="1"/>
          </p:cNvSpPr>
          <p:nvPr/>
        </p:nvSpPr>
        <p:spPr>
          <a:xfrm>
            <a:off x="623392" y="1041779"/>
            <a:ext cx="10057991" cy="647700"/>
          </a:xfrm>
          <a:prstGeom prst="rect">
            <a:avLst/>
          </a:prstGeom>
        </p:spPr>
        <p:txBody>
          <a:bodyPr vert="horz" lIns="91440" tIns="45720" rIns="91440" bIns="45720" rtlCol="0">
            <a:no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8775" marR="0" lvl="0" indent="-358775" algn="just" defTabSz="914400" rtl="0" eaLnBrk="0" fontAlgn="base" latinLnBrk="0" hangingPunct="0">
              <a:lnSpc>
                <a:spcPct val="100000"/>
              </a:lnSpc>
              <a:spcBef>
                <a:spcPct val="0"/>
              </a:spcBef>
              <a:spcAft>
                <a:spcPts val="3600"/>
              </a:spcAft>
              <a:buClr>
                <a:srgbClr val="66FF33"/>
              </a:buClr>
              <a:buSzPct val="85000"/>
              <a:buFont typeface="Wingdings" pitchFamily="2" charset="2"/>
              <a:buBlip>
                <a:blip r:embed="rId3"/>
              </a:buBlip>
              <a:tabLst/>
              <a:defRPr/>
            </a:pP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将</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R(U,F)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分解成保持函数依赖的</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3NF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模式集</a:t>
            </a:r>
          </a:p>
        </p:txBody>
      </p:sp>
    </p:spTree>
  </p:cSld>
  <p:clrMapOvr>
    <a:masterClrMapping/>
  </p:clrMapOvr>
  <mc:AlternateContent xmlns:mc="http://schemas.openxmlformats.org/markup-compatibility/2006" xmlns:p14="http://schemas.microsoft.com/office/powerpoint/2010/main">
    <mc:Choice Requires="p14">
      <p:transition spd="slow" p14:dur="1250">
        <p14:flip dir="r"/>
        <p:sndAc>
          <p:stSnd>
            <p:snd r:embed="rId2" name="arrow.wav"/>
          </p:stSnd>
        </p:sndAc>
      </p:transition>
    </mc:Choice>
    <mc:Fallback xmlns="">
      <p:transition spd="slow">
        <p:fade/>
        <p:sndAc>
          <p:stSnd>
            <p:snd r:embed="rId4" name="arrow.wav"/>
          </p:stSnd>
        </p:sndAc>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title"/>
          </p:nvPr>
        </p:nvSpPr>
        <p:spPr>
          <a:xfrm>
            <a:off x="983432"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分解成</a:t>
            </a:r>
            <a:r>
              <a:rPr kumimoji="1" lang="en-US" altLang="zh-CN" u="sng" dirty="0">
                <a:solidFill>
                  <a:srgbClr val="FFFFCC"/>
                </a:solidFill>
                <a:effectLst>
                  <a:outerShdw blurRad="38100" dist="38100" dir="2700000" algn="tl">
                    <a:srgbClr val="000000"/>
                  </a:outerShdw>
                </a:effectLst>
                <a:latin typeface="Arial" pitchFamily="34" charset="0"/>
                <a:cs typeface="+mn-cs"/>
              </a:rPr>
              <a:t>3NF</a:t>
            </a:r>
            <a:r>
              <a:rPr kumimoji="1" lang="zh-CN" altLang="en-US" u="sng" dirty="0">
                <a:solidFill>
                  <a:srgbClr val="FFFFCC"/>
                </a:solidFill>
                <a:effectLst>
                  <a:outerShdw blurRad="38100" dist="38100" dir="2700000" algn="tl">
                    <a:srgbClr val="000000"/>
                  </a:outerShdw>
                </a:effectLst>
                <a:latin typeface="Arial" pitchFamily="34" charset="0"/>
                <a:cs typeface="+mn-cs"/>
              </a:rPr>
              <a:t>模式集的算法</a:t>
            </a:r>
          </a:p>
        </p:txBody>
      </p:sp>
      <p:sp>
        <p:nvSpPr>
          <p:cNvPr id="7" name="Text Box 5">
            <a:extLst>
              <a:ext uri="{FF2B5EF4-FFF2-40B4-BE49-F238E27FC236}">
                <a16:creationId xmlns:a16="http://schemas.microsoft.com/office/drawing/2014/main" id="{64916FA5-35E0-40DD-8E1D-DD44EE29839E}"/>
              </a:ext>
            </a:extLst>
          </p:cNvPr>
          <p:cNvSpPr txBox="1">
            <a:spLocks noChangeArrowheads="1"/>
          </p:cNvSpPr>
          <p:nvPr/>
        </p:nvSpPr>
        <p:spPr bwMode="auto">
          <a:xfrm>
            <a:off x="1015622" y="1966554"/>
            <a:ext cx="10120892" cy="6477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设关系模式</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R中，</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U=</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CTHRSG</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F={C→T,CS→G,HR→C,</a:t>
            </a:r>
            <a:b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b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HS→R,TH→R}</a:t>
            </a:r>
            <a:endPar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容易证明</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就是</a:t>
            </a:r>
            <a:r>
              <a:rPr kumimoji="0"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25000" noProof="0" dirty="0" err="1">
                <a:ln>
                  <a:noFill/>
                </a:ln>
                <a:solidFill>
                  <a:srgbClr val="99FF33"/>
                </a:solidFill>
                <a:effectLst>
                  <a:outerShdw blurRad="38100" dist="38100" dir="2700000" algn="tl">
                    <a:srgbClr val="000000"/>
                  </a:outerShdw>
                </a:effectLst>
                <a:uLnTx/>
                <a:uFillTx/>
                <a:ea typeface="楷体_GB2312" pitchFamily="49" charset="-122"/>
                <a:cs typeface="+mn-cs"/>
              </a:rPr>
              <a:t>min</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ρ={CT，CSG，HR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，HSR，HRT}</a:t>
            </a:r>
          </a:p>
        </p:txBody>
      </p:sp>
      <p:sp>
        <p:nvSpPr>
          <p:cNvPr id="8" name="Text Box 6">
            <a:extLst>
              <a:ext uri="{FF2B5EF4-FFF2-40B4-BE49-F238E27FC236}">
                <a16:creationId xmlns:a16="http://schemas.microsoft.com/office/drawing/2014/main" id="{B6A0550F-59F6-431E-AC5A-0E3377CDA8FA}"/>
              </a:ext>
            </a:extLst>
          </p:cNvPr>
          <p:cNvSpPr txBox="1">
            <a:spLocks noChangeArrowheads="1"/>
          </p:cNvSpPr>
          <p:nvPr/>
        </p:nvSpPr>
        <p:spPr bwMode="auto">
          <a:xfrm>
            <a:off x="985392" y="3950217"/>
            <a:ext cx="10880742"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已知关系模式R</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(ABCD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25000" noProof="0" dirty="0" err="1">
                <a:ln>
                  <a:noFill/>
                </a:ln>
                <a:solidFill>
                  <a:srgbClr val="99FF33"/>
                </a:solidFill>
                <a:effectLst>
                  <a:outerShdw blurRad="38100" dist="38100" dir="2700000" algn="tl">
                    <a:srgbClr val="000000"/>
                  </a:outerShdw>
                </a:effectLst>
                <a:uLnTx/>
                <a:uFillTx/>
                <a:ea typeface="楷体_GB2312" pitchFamily="49" charset="-122"/>
                <a:cs typeface="+mn-cs"/>
              </a:rPr>
              <a:t>min</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p:txBody>
      </p:sp>
      <p:sp>
        <p:nvSpPr>
          <p:cNvPr id="9" name="Text Box 7">
            <a:extLst>
              <a:ext uri="{FF2B5EF4-FFF2-40B4-BE49-F238E27FC236}">
                <a16:creationId xmlns:a16="http://schemas.microsoft.com/office/drawing/2014/main" id="{4FA88CC5-3048-4C40-8936-004CF33236AD}"/>
              </a:ext>
            </a:extLst>
          </p:cNvPr>
          <p:cNvSpPr txBox="1">
            <a:spLocks noChangeArrowheads="1"/>
          </p:cNvSpPr>
          <p:nvPr/>
        </p:nvSpPr>
        <p:spPr bwMode="auto">
          <a:xfrm>
            <a:off x="985392" y="5398993"/>
            <a:ext cx="10880742" cy="647700"/>
          </a:xfrm>
          <a:prstGeom prst="rect">
            <a:avLst/>
          </a:prstGeom>
          <a:noFill/>
          <a:ln w="12700" cap="sq">
            <a:noFill/>
            <a:miter lim="800000"/>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已知关系模式R</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(ABCDE</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E</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endPar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就是</a:t>
            </a:r>
            <a:r>
              <a:rPr kumimoji="0" lang="en-US" altLang="zh-CN" sz="3200" b="0" i="0" u="none" strike="noStrike" kern="1200" cap="none" spc="0" normalizeH="0" baseline="0" noProof="0" dirty="0" err="1">
                <a:ln>
                  <a:noFill/>
                </a:ln>
                <a:solidFill>
                  <a:srgbClr val="99FF33"/>
                </a:solidFill>
                <a:effectLst>
                  <a:outerShdw blurRad="38100" dist="38100" dir="2700000" algn="tl">
                    <a:srgbClr val="000000"/>
                  </a:outerShdw>
                </a:effectLst>
                <a:uLnTx/>
                <a:uFillTx/>
                <a:ea typeface="楷体_GB2312" pitchFamily="49" charset="-122"/>
                <a:cs typeface="+mn-cs"/>
              </a:rPr>
              <a:t>F</a:t>
            </a:r>
            <a:r>
              <a:rPr kumimoji="0" lang="en-US" altLang="zh-CN" sz="3200" b="0" i="0" u="none" strike="noStrike" kern="1200" cap="none" spc="0" normalizeH="0" baseline="-25000" noProof="0" dirty="0" err="1">
                <a:ln>
                  <a:noFill/>
                </a:ln>
                <a:solidFill>
                  <a:srgbClr val="99FF33"/>
                </a:solidFill>
                <a:effectLst>
                  <a:outerShdw blurRad="38100" dist="38100" dir="2700000" algn="tl">
                    <a:srgbClr val="000000"/>
                  </a:outerShdw>
                </a:effectLst>
                <a:uLnTx/>
                <a:uFillTx/>
                <a:ea typeface="楷体_GB2312" pitchFamily="49" charset="-122"/>
                <a:cs typeface="+mn-cs"/>
              </a:rPr>
              <a:t>min</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DE</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p>
        </p:txBody>
      </p:sp>
      <p:sp>
        <p:nvSpPr>
          <p:cNvPr id="11" name="Rectangle 4">
            <a:extLst>
              <a:ext uri="{FF2B5EF4-FFF2-40B4-BE49-F238E27FC236}">
                <a16:creationId xmlns:a16="http://schemas.microsoft.com/office/drawing/2014/main" id="{1F026313-E554-45A0-91BF-17103E6C79E6}"/>
              </a:ext>
            </a:extLst>
          </p:cNvPr>
          <p:cNvSpPr txBox="1">
            <a:spLocks noChangeArrowheads="1"/>
          </p:cNvSpPr>
          <p:nvPr/>
        </p:nvSpPr>
        <p:spPr>
          <a:xfrm>
            <a:off x="623392" y="1041779"/>
            <a:ext cx="10057991" cy="647700"/>
          </a:xfrm>
          <a:prstGeom prst="rect">
            <a:avLst/>
          </a:prstGeom>
        </p:spPr>
        <p:txBody>
          <a:bodyPr vert="horz" lIns="91440" tIns="45720" rIns="91440" bIns="45720" rtlCol="0">
            <a:no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8775" marR="0" lvl="0" indent="-358775" algn="just" defTabSz="914400" rtl="0" eaLnBrk="0" fontAlgn="base" latinLnBrk="0" hangingPunct="0">
              <a:lnSpc>
                <a:spcPct val="100000"/>
              </a:lnSpc>
              <a:spcBef>
                <a:spcPct val="0"/>
              </a:spcBef>
              <a:spcAft>
                <a:spcPts val="3600"/>
              </a:spcAft>
              <a:buClr>
                <a:srgbClr val="66FF33"/>
              </a:buClr>
              <a:buSzPct val="85000"/>
              <a:buFont typeface="Wingdings" pitchFamily="2" charset="2"/>
              <a:buBlip>
                <a:blip r:embed="rId3"/>
              </a:buBlip>
              <a:tabLst/>
              <a:defRPr/>
            </a:pP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将</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R(U,F)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分解成保持函数依赖的</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3NF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模式集</a:t>
            </a:r>
          </a:p>
        </p:txBody>
      </p:sp>
    </p:spTree>
    <p:extLst>
      <p:ext uri="{BB962C8B-B14F-4D97-AF65-F5344CB8AC3E}">
        <p14:creationId xmlns:p14="http://schemas.microsoft.com/office/powerpoint/2010/main" val="940361675"/>
      </p:ext>
    </p:extLst>
  </p:cSld>
  <p:clrMapOvr>
    <a:masterClrMapping/>
  </p:clrMapOvr>
  <mc:AlternateContent xmlns:mc="http://schemas.openxmlformats.org/markup-compatibility/2006" xmlns:p14="http://schemas.microsoft.com/office/powerpoint/2010/main">
    <mc:Choice Requires="p14">
      <p:transition spd="slow" p14:dur="800">
        <p14:flythrough/>
        <p:sndAc>
          <p:stSnd>
            <p:snd r:embed="rId2" name="arrow.wav"/>
          </p:stSnd>
        </p:sndAc>
      </p:transition>
    </mc:Choice>
    <mc:Fallback xmlns="">
      <p:transition spd="slow">
        <p:fade/>
        <p:sndAc>
          <p:stSnd>
            <p:snd r:embed="rId4" name="arrow.wav"/>
          </p:stSnd>
        </p:sndAc>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title"/>
          </p:nvPr>
        </p:nvSpPr>
        <p:spPr>
          <a:xfrm>
            <a:off x="983432"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分解成</a:t>
            </a:r>
            <a:r>
              <a:rPr kumimoji="1" lang="en-US" altLang="zh-CN" u="sng" dirty="0">
                <a:solidFill>
                  <a:srgbClr val="FFFFCC"/>
                </a:solidFill>
                <a:effectLst>
                  <a:outerShdw blurRad="38100" dist="38100" dir="2700000" algn="tl">
                    <a:srgbClr val="000000"/>
                  </a:outerShdw>
                </a:effectLst>
                <a:latin typeface="Arial" pitchFamily="34" charset="0"/>
                <a:cs typeface="+mn-cs"/>
              </a:rPr>
              <a:t>3NF</a:t>
            </a:r>
            <a:r>
              <a:rPr kumimoji="1" lang="zh-CN" altLang="en-US" u="sng" dirty="0">
                <a:solidFill>
                  <a:srgbClr val="FFFFCC"/>
                </a:solidFill>
                <a:effectLst>
                  <a:outerShdw blurRad="38100" dist="38100" dir="2700000" algn="tl">
                    <a:srgbClr val="000000"/>
                  </a:outerShdw>
                </a:effectLst>
                <a:latin typeface="Arial" pitchFamily="34" charset="0"/>
                <a:cs typeface="+mn-cs"/>
              </a:rPr>
              <a:t>模式集的算法</a:t>
            </a:r>
          </a:p>
        </p:txBody>
      </p:sp>
      <p:sp>
        <p:nvSpPr>
          <p:cNvPr id="11" name="Rectangle 4">
            <a:extLst>
              <a:ext uri="{FF2B5EF4-FFF2-40B4-BE49-F238E27FC236}">
                <a16:creationId xmlns:a16="http://schemas.microsoft.com/office/drawing/2014/main" id="{88F8FBD2-B007-47EF-8243-8249971F93F2}"/>
              </a:ext>
            </a:extLst>
          </p:cNvPr>
          <p:cNvSpPr txBox="1">
            <a:spLocks noChangeArrowheads="1"/>
          </p:cNvSpPr>
          <p:nvPr/>
        </p:nvSpPr>
        <p:spPr>
          <a:xfrm>
            <a:off x="623392" y="980728"/>
            <a:ext cx="10500871" cy="647700"/>
          </a:xfrm>
          <a:prstGeom prst="rect">
            <a:avLst/>
          </a:prstGeom>
        </p:spPr>
        <p:txBody>
          <a:bodyPr vert="horz" lIns="91440" tIns="45720" rIns="91440" bIns="45720" rtlCol="0">
            <a:no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8775" marR="0" lvl="0" indent="-358775" algn="just" defTabSz="914400" rtl="0" eaLnBrk="0" fontAlgn="base" latinLnBrk="0" hangingPunct="0">
              <a:lnSpc>
                <a:spcPct val="100000"/>
              </a:lnSpc>
              <a:spcBef>
                <a:spcPct val="0"/>
              </a:spcBef>
              <a:spcAft>
                <a:spcPct val="40000"/>
              </a:spcAft>
              <a:buClr>
                <a:srgbClr val="66FF33"/>
              </a:buClr>
              <a:buSzPct val="85000"/>
              <a:buFont typeface="Wingdings" pitchFamily="2" charset="2"/>
              <a:buBlip>
                <a:blip r:embed="rId3"/>
              </a:buBlip>
              <a:tabLst/>
              <a:defRPr/>
            </a:pP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将</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R(U,F)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分解成既具有无损连接性，又保持函数依赖的</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3NF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模式集</a:t>
            </a:r>
          </a:p>
        </p:txBody>
      </p:sp>
      <p:sp>
        <p:nvSpPr>
          <p:cNvPr id="12" name="Rectangle 5">
            <a:extLst>
              <a:ext uri="{FF2B5EF4-FFF2-40B4-BE49-F238E27FC236}">
                <a16:creationId xmlns:a16="http://schemas.microsoft.com/office/drawing/2014/main" id="{9E25EF70-DCC7-440C-9520-2D0A4959104D}"/>
              </a:ext>
            </a:extLst>
          </p:cNvPr>
          <p:cNvSpPr>
            <a:spLocks noChangeArrowheads="1"/>
          </p:cNvSpPr>
          <p:nvPr/>
        </p:nvSpPr>
        <p:spPr bwMode="auto">
          <a:xfrm>
            <a:off x="996493" y="2276872"/>
            <a:ext cx="9918632" cy="647700"/>
          </a:xfrm>
          <a:prstGeom prst="rect">
            <a:avLst/>
          </a:prstGeom>
          <a:noFill/>
          <a:ln w="9525" algn="ctr">
            <a:noFill/>
            <a:miter lim="800000"/>
            <a:headEnd/>
            <a:tailEnd/>
          </a:ln>
          <a:effectLst/>
        </p:spPr>
        <p:txBody>
          <a:bodyPr/>
          <a:lstStyle/>
          <a:p>
            <a:pPr marL="0" marR="0" lvl="0" indent="0"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已知</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a:ea typeface="楷体_GB2312" pitchFamily="49"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R</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k</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k</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是由</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R(U,F)</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按前面算法得到的一个保持函数依赖的分解。设</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的一个候选键，若存在某个</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i</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使</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X</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rPr>
              <a:t></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i</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，则令</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，否则令</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ρ</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τ</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就是所需的分解。</a:t>
            </a:r>
          </a:p>
        </p:txBody>
      </p:sp>
      <p:sp>
        <p:nvSpPr>
          <p:cNvPr id="13" name="Text Box 6">
            <a:extLst>
              <a:ext uri="{FF2B5EF4-FFF2-40B4-BE49-F238E27FC236}">
                <a16:creationId xmlns:a16="http://schemas.microsoft.com/office/drawing/2014/main" id="{BD744DB8-C6C7-4566-9B83-CD4BFF678165}"/>
              </a:ext>
            </a:extLst>
          </p:cNvPr>
          <p:cNvSpPr txBox="1">
            <a:spLocks noChangeArrowheads="1"/>
          </p:cNvSpPr>
          <p:nvPr/>
        </p:nvSpPr>
        <p:spPr bwMode="auto">
          <a:xfrm>
            <a:off x="996493" y="4437112"/>
            <a:ext cx="9754667" cy="6477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由</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关系模式</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CTHRSG</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{C→T,CS→G,HR→C,HS→R,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 </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TH→R}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)可得保持函数依赖的</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3NF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分解</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ρ={CT，CSG，HR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，HSR，HRT}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，容易得出</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的一个候选键为</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HS</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，因</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HS</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sym typeface="Symbol" pitchFamily="18" charset="2"/>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HSR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，所以该分解也是无损连接分解。</a:t>
            </a:r>
            <a:endPar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p:txBody>
      </p:sp>
    </p:spTree>
    <p:extLst>
      <p:ext uri="{BB962C8B-B14F-4D97-AF65-F5344CB8AC3E}">
        <p14:creationId xmlns:p14="http://schemas.microsoft.com/office/powerpoint/2010/main" val="854808118"/>
      </p:ext>
    </p:extLst>
  </p:cSld>
  <p:clrMapOvr>
    <a:masterClrMapping/>
  </p:clrMapOvr>
  <mc:AlternateContent xmlns:mc="http://schemas.openxmlformats.org/markup-compatibility/2006" xmlns:p14="http://schemas.microsoft.com/office/powerpoint/2010/main">
    <mc:Choice Requires="p14">
      <p:transition spd="slow" p14:dur="800">
        <p14:flythrough/>
        <p:sndAc>
          <p:stSnd>
            <p:snd r:embed="rId2" name="arrow.wav"/>
          </p:stSnd>
        </p:sndAc>
      </p:transition>
    </mc:Choice>
    <mc:Fallback xmlns="">
      <p:transition spd="slow">
        <p:fade/>
        <p:sndAc>
          <p:stSnd>
            <p:snd r:embed="rId4" name="arrow.wav"/>
          </p:stSnd>
        </p:sndAc>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title"/>
          </p:nvPr>
        </p:nvSpPr>
        <p:spPr>
          <a:xfrm>
            <a:off x="983432" y="3745"/>
            <a:ext cx="8516938" cy="760959"/>
          </a:xfrm>
          <a:noFill/>
          <a:ln w="12700" cap="sq">
            <a:noFill/>
            <a:miter lim="800000"/>
            <a:headEnd/>
            <a:tailEnd/>
          </a:ln>
          <a:effectLst/>
        </p:spPr>
        <p:txBody>
          <a:bodyPr wrap="square" lIns="72000" tIns="72000" rIns="72000" bIns="72000">
            <a:spAutoFit/>
          </a:bodyPr>
          <a:lstStyle/>
          <a:p>
            <a:pPr algn="l" fontAlgn="base">
              <a:spcBef>
                <a:spcPts val="0"/>
              </a:spcBef>
              <a:spcAft>
                <a:spcPct val="25000"/>
              </a:spcAft>
              <a:buSzPct val="80000"/>
              <a:buFont typeface="Wingdings" pitchFamily="2" charset="2"/>
            </a:pPr>
            <a:r>
              <a:rPr kumimoji="1" lang="zh-CN" altLang="en-US" u="sng" dirty="0">
                <a:solidFill>
                  <a:srgbClr val="FFFFCC"/>
                </a:solidFill>
                <a:effectLst>
                  <a:outerShdw blurRad="38100" dist="38100" dir="2700000" algn="tl">
                    <a:srgbClr val="000000"/>
                  </a:outerShdw>
                </a:effectLst>
                <a:latin typeface="Arial" pitchFamily="34" charset="0"/>
                <a:cs typeface="+mn-cs"/>
              </a:rPr>
              <a:t>分解成</a:t>
            </a:r>
            <a:r>
              <a:rPr kumimoji="1" lang="en-US" altLang="zh-CN" u="sng" dirty="0">
                <a:solidFill>
                  <a:srgbClr val="FFFFCC"/>
                </a:solidFill>
                <a:effectLst>
                  <a:outerShdw blurRad="38100" dist="38100" dir="2700000" algn="tl">
                    <a:srgbClr val="000000"/>
                  </a:outerShdw>
                </a:effectLst>
                <a:latin typeface="Arial" pitchFamily="34" charset="0"/>
                <a:cs typeface="+mn-cs"/>
              </a:rPr>
              <a:t>3NF</a:t>
            </a:r>
            <a:r>
              <a:rPr kumimoji="1" lang="zh-CN" altLang="en-US" u="sng" dirty="0">
                <a:solidFill>
                  <a:srgbClr val="FFFFCC"/>
                </a:solidFill>
                <a:effectLst>
                  <a:outerShdw blurRad="38100" dist="38100" dir="2700000" algn="tl">
                    <a:srgbClr val="000000"/>
                  </a:outerShdw>
                </a:effectLst>
                <a:latin typeface="Arial" pitchFamily="34" charset="0"/>
                <a:cs typeface="+mn-cs"/>
              </a:rPr>
              <a:t>模式集的算法</a:t>
            </a:r>
          </a:p>
        </p:txBody>
      </p:sp>
      <p:sp>
        <p:nvSpPr>
          <p:cNvPr id="11" name="Rectangle 4">
            <a:extLst>
              <a:ext uri="{FF2B5EF4-FFF2-40B4-BE49-F238E27FC236}">
                <a16:creationId xmlns:a16="http://schemas.microsoft.com/office/drawing/2014/main" id="{88F8FBD2-B007-47EF-8243-8249971F93F2}"/>
              </a:ext>
            </a:extLst>
          </p:cNvPr>
          <p:cNvSpPr txBox="1">
            <a:spLocks noChangeArrowheads="1"/>
          </p:cNvSpPr>
          <p:nvPr/>
        </p:nvSpPr>
        <p:spPr>
          <a:xfrm>
            <a:off x="623392" y="980728"/>
            <a:ext cx="10500871" cy="647700"/>
          </a:xfrm>
          <a:prstGeom prst="rect">
            <a:avLst/>
          </a:prstGeom>
        </p:spPr>
        <p:txBody>
          <a:bodyPr vert="horz" lIns="91440" tIns="45720" rIns="91440" bIns="45720" rtlCol="0">
            <a:no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8775" marR="0" lvl="0" indent="-358775" algn="just" defTabSz="914400" rtl="0" eaLnBrk="0" fontAlgn="base" latinLnBrk="0" hangingPunct="0">
              <a:lnSpc>
                <a:spcPct val="100000"/>
              </a:lnSpc>
              <a:spcBef>
                <a:spcPct val="0"/>
              </a:spcBef>
              <a:spcAft>
                <a:spcPct val="40000"/>
              </a:spcAft>
              <a:buClr>
                <a:srgbClr val="66FF33"/>
              </a:buClr>
              <a:buSzPct val="85000"/>
              <a:buFont typeface="Wingdings" pitchFamily="2" charset="2"/>
              <a:buBlip>
                <a:blip r:embed="rId3"/>
              </a:buBlip>
              <a:tabLst/>
              <a:defRPr/>
            </a:pP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将</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R(U,F)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分解成既具有无损连接性，又保持函数依赖的</a:t>
            </a:r>
            <a:r>
              <a:rPr kumimoji="0" lang="en-US" altLang="zh-CN"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3NF</a:t>
            </a:r>
            <a:r>
              <a:rPr kumimoji="0" lang="zh-CN" altLang="en-US" sz="32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模式集</a:t>
            </a:r>
          </a:p>
        </p:txBody>
      </p:sp>
      <p:sp>
        <p:nvSpPr>
          <p:cNvPr id="12" name="Rectangle 5">
            <a:extLst>
              <a:ext uri="{FF2B5EF4-FFF2-40B4-BE49-F238E27FC236}">
                <a16:creationId xmlns:a16="http://schemas.microsoft.com/office/drawing/2014/main" id="{9E25EF70-DCC7-440C-9520-2D0A4959104D}"/>
              </a:ext>
            </a:extLst>
          </p:cNvPr>
          <p:cNvSpPr>
            <a:spLocks noChangeArrowheads="1"/>
          </p:cNvSpPr>
          <p:nvPr/>
        </p:nvSpPr>
        <p:spPr bwMode="auto">
          <a:xfrm>
            <a:off x="996493" y="2276872"/>
            <a:ext cx="9918632" cy="647700"/>
          </a:xfrm>
          <a:prstGeom prst="rect">
            <a:avLst/>
          </a:prstGeom>
          <a:noFill/>
          <a:ln w="9525" algn="ctr">
            <a:noFill/>
            <a:miter lim="800000"/>
            <a:headEnd/>
            <a:tailEnd/>
          </a:ln>
          <a:effectLst/>
        </p:spPr>
        <p:txBody>
          <a:bodyPr/>
          <a:lstStyle/>
          <a:p>
            <a:pPr marL="0" marR="0" lvl="0" indent="0" algn="just" defTabSz="914400" rtl="0" eaLnBrk="1" fontAlgn="base" latinLnBrk="0" hangingPunct="1">
              <a:lnSpc>
                <a:spcPct val="100000"/>
              </a:lnSpc>
              <a:spcBef>
                <a:spcPct val="0"/>
              </a:spcBef>
              <a:spcAft>
                <a:spcPct val="40000"/>
              </a:spcAft>
              <a:buClr>
                <a:srgbClr val="66FF33"/>
              </a:buClr>
              <a:buSzPct val="85000"/>
              <a:buFont typeface="Wingdings" pitchFamily="2" charset="2"/>
              <a:buNone/>
              <a:tabLst/>
              <a:defRPr/>
            </a:pP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已知</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1</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a:ln>
                  <a:noFill/>
                </a:ln>
                <a:solidFill>
                  <a:srgbClr val="CCFFCC"/>
                </a:solidFill>
                <a:effectLst>
                  <a:outerShdw blurRad="38100" dist="38100" dir="2700000" algn="tl">
                    <a:srgbClr val="000000"/>
                  </a:outerShdw>
                </a:effectLst>
                <a:uLnTx/>
                <a:uFillTx/>
                <a:ea typeface="楷体_GB2312" pitchFamily="49" charset="-122"/>
                <a:cs typeface="+mn-cs"/>
              </a:rPr>
              <a:t>2</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a:ea typeface="楷体_GB2312" pitchFamily="49" charset="-122"/>
                <a:cs typeface="+mn-cs"/>
              </a:rPr>
              <a:t>…</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R</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k</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k</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是由</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R(U,F)</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按前面算法得到的一个保持函数依赖的分解。设</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是</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R(U)</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的一个候选键，若存在某个</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i</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使</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X</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sym typeface="Symbol" pitchFamily="18" charset="2"/>
              </a:rPr>
              <a:t></a:t>
            </a:r>
            <a:r>
              <a:rPr kumimoji="0" lang="en-US" altLang="zh-CN" sz="3200" b="0" i="0" u="none" strike="noStrike" kern="1200" cap="none" spc="0" normalizeH="0" baseline="0" noProof="0" dirty="0" err="1">
                <a:ln>
                  <a:noFill/>
                </a:ln>
                <a:solidFill>
                  <a:srgbClr val="CCFFCC"/>
                </a:solidFill>
                <a:effectLst>
                  <a:outerShdw blurRad="38100" dist="38100" dir="2700000" algn="tl">
                    <a:srgbClr val="000000"/>
                  </a:outerShdw>
                </a:effectLst>
                <a:uLnTx/>
                <a:uFillTx/>
                <a:ea typeface="楷体_GB2312" pitchFamily="49" charset="-122"/>
                <a:cs typeface="+mn-cs"/>
              </a:rPr>
              <a:t>U</a:t>
            </a:r>
            <a:r>
              <a:rPr kumimoji="0" lang="en-US" altLang="zh-CN" sz="3200" b="0" i="0" u="none" strike="noStrike" kern="1200" cap="none" spc="0" normalizeH="0" baseline="-25000" noProof="0" dirty="0" err="1">
                <a:ln>
                  <a:noFill/>
                </a:ln>
                <a:solidFill>
                  <a:srgbClr val="CCFFCC"/>
                </a:solidFill>
                <a:effectLst>
                  <a:outerShdw blurRad="38100" dist="38100" dir="2700000" algn="tl">
                    <a:srgbClr val="000000"/>
                  </a:outerShdw>
                </a:effectLst>
                <a:uLnTx/>
                <a:uFillTx/>
                <a:ea typeface="楷体_GB2312" pitchFamily="49" charset="-122"/>
                <a:cs typeface="+mn-cs"/>
              </a:rPr>
              <a:t>i</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，则令</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，否则令</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τ</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ρ</a:t>
            </a:r>
            <a:r>
              <a:rPr kumimoji="0" lang="en-US" altLang="zh-CN"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∪{R(X)}</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a:t>
            </a:r>
            <a:r>
              <a:rPr kumimoji="0" lang="en-US" altLang="zh-CN" sz="3200" b="0" i="1"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τ</a:t>
            </a:r>
            <a:r>
              <a:rPr kumimoji="0" lang="zh-CN" altLang="en-US" sz="3200" b="0" i="0" u="none" strike="noStrike" kern="1200" cap="none" spc="0" normalizeH="0" baseline="0" noProof="0" dirty="0">
                <a:ln>
                  <a:noFill/>
                </a:ln>
                <a:solidFill>
                  <a:srgbClr val="CCFFCC"/>
                </a:solidFill>
                <a:effectLst>
                  <a:outerShdw blurRad="38100" dist="38100" dir="2700000" algn="tl">
                    <a:srgbClr val="000000"/>
                  </a:outerShdw>
                </a:effectLst>
                <a:uLnTx/>
                <a:uFillTx/>
                <a:ea typeface="楷体_GB2312" pitchFamily="49" charset="-122"/>
                <a:cs typeface="+mn-cs"/>
              </a:rPr>
              <a:t>就是所需的分解。</a:t>
            </a:r>
          </a:p>
        </p:txBody>
      </p:sp>
      <p:sp>
        <p:nvSpPr>
          <p:cNvPr id="6" name="Text Box 6">
            <a:extLst>
              <a:ext uri="{FF2B5EF4-FFF2-40B4-BE49-F238E27FC236}">
                <a16:creationId xmlns:a16="http://schemas.microsoft.com/office/drawing/2014/main" id="{8DE8A3B4-BAFC-4B98-904D-CF5714DAFFDF}"/>
              </a:ext>
            </a:extLst>
          </p:cNvPr>
          <p:cNvSpPr txBox="1">
            <a:spLocks noChangeArrowheads="1"/>
          </p:cNvSpPr>
          <p:nvPr/>
        </p:nvSpPr>
        <p:spPr bwMode="auto">
          <a:xfrm>
            <a:off x="996492" y="4509120"/>
            <a:ext cx="9918631" cy="647700"/>
          </a:xfrm>
          <a:prstGeom prst="rect">
            <a:avLst/>
          </a:prstGeom>
          <a:noFill/>
          <a:ln w="12700" cap="sq">
            <a:noFill/>
            <a:miter lim="800000"/>
            <a:headEnd type="none" w="sm" len="sm"/>
            <a:tailEnd type="none" w="sm" len="sm"/>
          </a:ln>
          <a:effec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由关系模式R</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(ABCD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)可得保持函数依赖的</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3NF</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分解</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ρ={</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，可得</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R</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的候选键为</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，故</a:t>
            </a:r>
            <a:r>
              <a:rPr kumimoji="0" lang="en-US" altLang="zh-CN"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τ</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ABD</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才能保证分解的无损连接性。由于</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AD</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sym typeface="Symbol" pitchFamily="18" charset="2"/>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BD</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，故最终得出</a:t>
            </a:r>
            <a:r>
              <a:rPr kumimoji="0" lang="en-US" altLang="zh-CN" sz="3200" b="0" i="1"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τ</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BC</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en-US"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ABD</a:t>
            </a:r>
            <a:r>
              <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r>
              <a:rPr kumimoji="0" lang="zh-CN" altLang="en-US"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rPr>
              <a:t>。</a:t>
            </a:r>
            <a:endParaRPr kumimoji="0" lang="zh-CN" altLang="zh-CN" sz="3200" b="0" i="0" u="none" strike="noStrike" kern="1200" cap="none" spc="0" normalizeH="0" baseline="0" noProof="0" dirty="0">
              <a:ln>
                <a:noFill/>
              </a:ln>
              <a:solidFill>
                <a:srgbClr val="99FF33"/>
              </a:solidFill>
              <a:effectLst>
                <a:outerShdw blurRad="38100" dist="38100" dir="2700000" algn="tl">
                  <a:srgbClr val="000000"/>
                </a:outerShdw>
              </a:effectLst>
              <a:uLnTx/>
              <a:uFillTx/>
              <a:ea typeface="楷体_GB2312" pitchFamily="49" charset="-122"/>
              <a:cs typeface="+mn-cs"/>
            </a:endParaRPr>
          </a:p>
        </p:txBody>
      </p:sp>
    </p:spTree>
    <p:extLst>
      <p:ext uri="{BB962C8B-B14F-4D97-AF65-F5344CB8AC3E}">
        <p14:creationId xmlns:p14="http://schemas.microsoft.com/office/powerpoint/2010/main" val="1500883644"/>
      </p:ext>
    </p:extLst>
  </p:cSld>
  <p:clrMapOvr>
    <a:masterClrMapping/>
  </p:clrMapOvr>
  <mc:AlternateContent xmlns:mc="http://schemas.openxmlformats.org/markup-compatibility/2006" xmlns:p14="http://schemas.microsoft.com/office/powerpoint/2010/main">
    <mc:Choice Requires="p14">
      <p:transition spd="slow" p14:dur="800">
        <p14:flythrough/>
        <p:sndAc>
          <p:stSnd>
            <p:snd r:embed="rId2" name="arrow.wav"/>
          </p:stSnd>
        </p:sndAc>
      </p:transition>
    </mc:Choice>
    <mc:Fallback xmlns="">
      <p:transition spd="slow">
        <p:fade/>
        <p:sndAc>
          <p:stSnd>
            <p:snd r:embed="rId4" name="arrow.wav"/>
          </p:stSnd>
        </p:sndAc>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407368" y="836712"/>
            <a:ext cx="11618383"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b="1">
                <a:solidFill>
                  <a:schemeClr val="tx1"/>
                </a:solidFill>
                <a:latin typeface="+mn-lt"/>
                <a:ea typeface="楷体_GB2312" pitchFamily="49" charset="-122"/>
              </a:defRPr>
            </a:lvl2pPr>
            <a:lvl3pPr marL="1143000" indent="-228600" algn="l" rtl="0" eaLnBrk="0" fontAlgn="base" hangingPunct="0">
              <a:spcBef>
                <a:spcPct val="20000"/>
              </a:spcBef>
              <a:spcAft>
                <a:spcPct val="0"/>
              </a:spcAft>
              <a:buChar char="•"/>
              <a:defRPr sz="2800" b="1">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400" b="1">
                <a:solidFill>
                  <a:schemeClr val="tx1"/>
                </a:solidFill>
                <a:latin typeface="+mn-lt"/>
                <a:ea typeface="楷体_GB2312" pitchFamily="49"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b="1">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b="1">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b="1">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b="1">
                <a:solidFill>
                  <a:schemeClr val="tx1"/>
                </a:solidFill>
                <a:latin typeface="+mn-lt"/>
                <a:ea typeface="宋体"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例</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关系模式</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R</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U</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F</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），其中</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U={ E</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G</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H</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J }</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F={ E→I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J→I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I→G</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GH→I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IH→E }</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，将</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R</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分解为</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3NF</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，并使之具有无损连接性和保持函数依赖特性。</a:t>
            </a:r>
            <a:endParaRPr kumimoji="0" lang="zh-CN" altLang="en-US" sz="2400" b="0" i="0" u="none" strike="noStrike" kern="0" cap="none" spc="0" normalizeH="0" baseline="0" noProof="0" dirty="0">
              <a:ln>
                <a:noFill/>
              </a:ln>
              <a:solidFill>
                <a:schemeClr val="bg1"/>
              </a:solidFill>
              <a:effectLst/>
              <a:uLnTx/>
              <a:uFillTx/>
              <a:latin typeface="Arial"/>
              <a:ea typeface="黑体"/>
              <a:cs typeface="+mn-cs"/>
            </a:endParaRPr>
          </a:p>
        </p:txBody>
      </p:sp>
      <p:sp>
        <p:nvSpPr>
          <p:cNvPr id="4" name="Text Box 4"/>
          <p:cNvSpPr txBox="1">
            <a:spLocks noChangeArrowheads="1"/>
          </p:cNvSpPr>
          <p:nvPr/>
        </p:nvSpPr>
        <p:spPr bwMode="auto">
          <a:xfrm>
            <a:off x="766236" y="2420945"/>
            <a:ext cx="10993967"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600">
                <a:solidFill>
                  <a:schemeClr val="tx1"/>
                </a:solidFill>
                <a:latin typeface="Arial" charset="0"/>
                <a:ea typeface="黑体" pitchFamily="2" charset="-122"/>
              </a:defRPr>
            </a:lvl1pPr>
            <a:lvl2pPr>
              <a:defRPr sz="3200" b="1">
                <a:solidFill>
                  <a:schemeClr val="tx1"/>
                </a:solidFill>
                <a:latin typeface="Arial" charset="0"/>
                <a:ea typeface="楷体_GB2312" pitchFamily="49"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楷体_GB2312" pitchFamily="49" charset="-122"/>
              </a:defRPr>
            </a:lvl4pPr>
            <a:lvl5pPr>
              <a:defRPr sz="2000" b="1">
                <a:solidFill>
                  <a:schemeClr val="tx1"/>
                </a:solidFill>
                <a:latin typeface="Arial" charset="0"/>
                <a:ea typeface="宋体" pitchFamily="2" charset="-122"/>
              </a:defRPr>
            </a:lvl5pPr>
            <a:lvl6pPr>
              <a:defRPr sz="2000" b="1">
                <a:solidFill>
                  <a:schemeClr val="tx1"/>
                </a:solidFill>
                <a:latin typeface="Arial" charset="0"/>
                <a:ea typeface="宋体" pitchFamily="2" charset="-122"/>
              </a:defRPr>
            </a:lvl6pPr>
            <a:lvl7pPr>
              <a:defRPr sz="2000" b="1">
                <a:solidFill>
                  <a:schemeClr val="tx1"/>
                </a:solidFill>
                <a:latin typeface="Arial" charset="0"/>
                <a:ea typeface="宋体" pitchFamily="2" charset="-122"/>
              </a:defRPr>
            </a:lvl7pPr>
            <a:lvl8pPr>
              <a:defRPr sz="2000" b="1">
                <a:solidFill>
                  <a:schemeClr val="tx1"/>
                </a:solidFill>
                <a:latin typeface="Arial" charset="0"/>
                <a:ea typeface="宋体" pitchFamily="2" charset="-122"/>
              </a:defRPr>
            </a:lvl8pPr>
            <a:lvl9pPr>
              <a:defRPr sz="2000" b="1">
                <a:solidFill>
                  <a:schemeClr val="tx1"/>
                </a:solidFill>
                <a:latin typeface="Arial" charset="0"/>
                <a:ea typeface="宋体" pitchFamily="2" charset="-122"/>
              </a:defRPr>
            </a:lvl9pPr>
          </a:lstStyle>
          <a:p>
            <a:pPr fontAlgn="base">
              <a:lnSpc>
                <a:spcPct val="140000"/>
              </a:lnSpc>
              <a:spcBef>
                <a:spcPct val="0"/>
              </a:spcBef>
              <a:spcAft>
                <a:spcPct val="0"/>
              </a:spcAft>
            </a:pPr>
            <a:r>
              <a:rPr lang="zh-CN" altLang="en-US" sz="2400" b="1" dirty="0">
                <a:solidFill>
                  <a:schemeClr val="bg1"/>
                </a:solidFill>
                <a:ea typeface="楷体_GB2312" pitchFamily="49" charset="-122"/>
              </a:rPr>
              <a:t>解答：</a:t>
            </a:r>
          </a:p>
          <a:p>
            <a:pPr fontAlgn="base">
              <a:lnSpc>
                <a:spcPct val="140000"/>
              </a:lnSpc>
              <a:spcBef>
                <a:spcPct val="0"/>
              </a:spcBef>
              <a:spcAft>
                <a:spcPct val="0"/>
              </a:spcAft>
            </a:pP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1</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F</a:t>
            </a:r>
            <a:r>
              <a:rPr lang="zh-CN" altLang="en-US" sz="2400" b="1" dirty="0">
                <a:solidFill>
                  <a:schemeClr val="bg1"/>
                </a:solidFill>
                <a:ea typeface="楷体_GB2312" pitchFamily="49" charset="-122"/>
              </a:rPr>
              <a:t>已为最小函数依赖集。</a:t>
            </a:r>
          </a:p>
          <a:p>
            <a:pPr fontAlgn="base">
              <a:lnSpc>
                <a:spcPct val="140000"/>
              </a:lnSpc>
              <a:spcBef>
                <a:spcPct val="0"/>
              </a:spcBef>
              <a:spcAft>
                <a:spcPct val="0"/>
              </a:spcAft>
            </a:pP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2</a:t>
            </a:r>
            <a:r>
              <a:rPr lang="zh-CN" altLang="en-US" sz="2400" b="1" dirty="0">
                <a:solidFill>
                  <a:schemeClr val="bg1"/>
                </a:solidFill>
                <a:ea typeface="楷体_GB2312" pitchFamily="49" charset="-122"/>
              </a:rPr>
              <a:t>）没有类似</a:t>
            </a:r>
            <a:r>
              <a:rPr lang="en-US" altLang="zh-CN" sz="2400" b="1" dirty="0">
                <a:solidFill>
                  <a:schemeClr val="bg1"/>
                </a:solidFill>
                <a:ea typeface="楷体_GB2312" pitchFamily="49" charset="-122"/>
              </a:rPr>
              <a:t>X→A∈F</a:t>
            </a:r>
            <a:r>
              <a:rPr lang="zh-CN" altLang="en-US" sz="2400" b="1" dirty="0">
                <a:solidFill>
                  <a:schemeClr val="bg1"/>
                </a:solidFill>
                <a:ea typeface="楷体_GB2312" pitchFamily="49" charset="-122"/>
              </a:rPr>
              <a:t>，且</a:t>
            </a:r>
            <a:r>
              <a:rPr lang="en-US" altLang="zh-CN" sz="2400" b="1" dirty="0">
                <a:solidFill>
                  <a:schemeClr val="bg1"/>
                </a:solidFill>
                <a:ea typeface="楷体_GB2312" pitchFamily="49" charset="-122"/>
              </a:rPr>
              <a:t>X∪A=U</a:t>
            </a:r>
            <a:r>
              <a:rPr lang="zh-CN" altLang="en-US" sz="2400" b="1" dirty="0">
                <a:solidFill>
                  <a:schemeClr val="bg1"/>
                </a:solidFill>
                <a:ea typeface="楷体_GB2312" pitchFamily="49" charset="-122"/>
              </a:rPr>
              <a:t>的函数依赖。</a:t>
            </a:r>
          </a:p>
          <a:p>
            <a:pPr fontAlgn="base">
              <a:lnSpc>
                <a:spcPct val="140000"/>
              </a:lnSpc>
              <a:spcBef>
                <a:spcPct val="0"/>
              </a:spcBef>
              <a:spcAft>
                <a:spcPct val="0"/>
              </a:spcAft>
            </a:pP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3</a:t>
            </a:r>
            <a:r>
              <a:rPr lang="zh-CN" altLang="en-US" sz="2400" b="1" dirty="0">
                <a:solidFill>
                  <a:schemeClr val="bg1"/>
                </a:solidFill>
                <a:ea typeface="楷体_GB2312" pitchFamily="49" charset="-122"/>
              </a:rPr>
              <a:t>）对</a:t>
            </a:r>
            <a:r>
              <a:rPr lang="en-US" altLang="zh-CN" sz="2400" b="1" dirty="0">
                <a:solidFill>
                  <a:schemeClr val="bg1"/>
                </a:solidFill>
                <a:ea typeface="楷体_GB2312" pitchFamily="49" charset="-122"/>
              </a:rPr>
              <a:t>F</a:t>
            </a:r>
            <a:r>
              <a:rPr lang="zh-CN" altLang="en-US" sz="2400" b="1" dirty="0">
                <a:solidFill>
                  <a:schemeClr val="bg1"/>
                </a:solidFill>
                <a:ea typeface="楷体_GB2312" pitchFamily="49" charset="-122"/>
              </a:rPr>
              <a:t>按具有相同左部的原则分组，得到每组所对应的属性集</a:t>
            </a:r>
            <a:r>
              <a:rPr lang="en-US" altLang="zh-CN" sz="2400" b="1" dirty="0">
                <a:solidFill>
                  <a:schemeClr val="bg1"/>
                </a:solidFill>
                <a:ea typeface="楷体_GB2312" pitchFamily="49" charset="-122"/>
              </a:rPr>
              <a:t>U1= EI</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U2= IJ</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U3= GI</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U4= GHI</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U5= EHI</a:t>
            </a:r>
            <a:r>
              <a:rPr lang="zh-CN" altLang="en-US" sz="2400" b="1" dirty="0">
                <a:solidFill>
                  <a:schemeClr val="bg1"/>
                </a:solidFill>
                <a:ea typeface="楷体_GB2312" pitchFamily="49" charset="-122"/>
              </a:rPr>
              <a:t>。因为</a:t>
            </a:r>
            <a:r>
              <a:rPr lang="en-US" altLang="zh-CN" sz="2400" b="1" dirty="0">
                <a:solidFill>
                  <a:schemeClr val="bg1"/>
                </a:solidFill>
                <a:ea typeface="楷体_GB2312" pitchFamily="49" charset="-122"/>
              </a:rPr>
              <a:t>U1⊆ U5</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U3⊆ U4</a:t>
            </a:r>
            <a:r>
              <a:rPr lang="zh-CN" altLang="en-US" sz="2400" b="1" dirty="0">
                <a:solidFill>
                  <a:schemeClr val="bg1"/>
                </a:solidFill>
                <a:ea typeface="楷体_GB2312" pitchFamily="49" charset="-122"/>
              </a:rPr>
              <a:t>，所以去掉</a:t>
            </a:r>
            <a:r>
              <a:rPr lang="en-US" altLang="zh-CN" sz="2400" b="1" dirty="0">
                <a:solidFill>
                  <a:schemeClr val="bg1"/>
                </a:solidFill>
                <a:ea typeface="楷体_GB2312" pitchFamily="49" charset="-122"/>
              </a:rPr>
              <a:t>U1</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U3</a:t>
            </a:r>
            <a:r>
              <a:rPr lang="zh-CN" altLang="en-US" sz="2400" b="1" dirty="0">
                <a:solidFill>
                  <a:schemeClr val="bg1"/>
                </a:solidFill>
                <a:ea typeface="楷体_GB2312" pitchFamily="49" charset="-122"/>
              </a:rPr>
              <a:t>。</a:t>
            </a:r>
          </a:p>
          <a:p>
            <a:pPr fontAlgn="base">
              <a:lnSpc>
                <a:spcPct val="140000"/>
              </a:lnSpc>
              <a:spcBef>
                <a:spcPct val="0"/>
              </a:spcBef>
              <a:spcAft>
                <a:spcPct val="0"/>
              </a:spcAft>
            </a:pP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4</a:t>
            </a:r>
            <a:r>
              <a:rPr lang="zh-CN" altLang="en-US" sz="2400" b="1" dirty="0">
                <a:solidFill>
                  <a:schemeClr val="bg1"/>
                </a:solidFill>
                <a:ea typeface="楷体_GB2312" pitchFamily="49" charset="-122"/>
              </a:rPr>
              <a:t>）</a:t>
            </a:r>
            <a:r>
              <a:rPr lang="en-US" altLang="zh-CN" sz="2400" b="1" dirty="0">
                <a:solidFill>
                  <a:schemeClr val="bg1"/>
                </a:solidFill>
                <a:ea typeface="楷体_GB2312" pitchFamily="49" charset="-122"/>
              </a:rPr>
              <a:t>R</a:t>
            </a:r>
            <a:r>
              <a:rPr lang="zh-CN" altLang="en-US" sz="2400" b="1" dirty="0">
                <a:solidFill>
                  <a:schemeClr val="bg1"/>
                </a:solidFill>
                <a:ea typeface="楷体_GB2312" pitchFamily="49" charset="-122"/>
              </a:rPr>
              <a:t>中的所有属性均在</a:t>
            </a:r>
            <a:r>
              <a:rPr lang="en-US" altLang="zh-CN" sz="2400" b="1" dirty="0">
                <a:solidFill>
                  <a:schemeClr val="bg1"/>
                </a:solidFill>
                <a:ea typeface="楷体_GB2312" pitchFamily="49" charset="-122"/>
              </a:rPr>
              <a:t>F</a:t>
            </a:r>
            <a:r>
              <a:rPr lang="zh-CN" altLang="en-US" sz="2400" b="1" dirty="0">
                <a:solidFill>
                  <a:schemeClr val="bg1"/>
                </a:solidFill>
                <a:ea typeface="楷体_GB2312" pitchFamily="49" charset="-122"/>
              </a:rPr>
              <a:t>中出现。</a:t>
            </a:r>
          </a:p>
        </p:txBody>
      </p:sp>
    </p:spTree>
    <p:extLst>
      <p:ext uri="{BB962C8B-B14F-4D97-AF65-F5344CB8AC3E}">
        <p14:creationId xmlns:p14="http://schemas.microsoft.com/office/powerpoint/2010/main" val="61353184"/>
      </p:ext>
    </p:extLst>
  </p:cSld>
  <p:clrMapOvr>
    <a:masterClrMapping/>
  </p:clrMapOvr>
  <p:transition spd="slow">
    <p:wipe dir="r"/>
    <p:sndAc>
      <p:stSnd>
        <p:snd r:embed="rId2" name="arrow.wav"/>
      </p:stSnd>
    </p:sndAc>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431804" y="1196981"/>
            <a:ext cx="11425767"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b="1">
                <a:solidFill>
                  <a:schemeClr val="tx1"/>
                </a:solidFill>
                <a:latin typeface="+mn-lt"/>
                <a:ea typeface="楷体_GB2312" pitchFamily="49" charset="-122"/>
              </a:defRPr>
            </a:lvl2pPr>
            <a:lvl3pPr marL="1143000" indent="-228600" algn="l" rtl="0" eaLnBrk="0" fontAlgn="base" hangingPunct="0">
              <a:spcBef>
                <a:spcPct val="20000"/>
              </a:spcBef>
              <a:spcAft>
                <a:spcPct val="0"/>
              </a:spcAft>
              <a:buChar char="•"/>
              <a:defRPr sz="2800" b="1">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400" b="1">
                <a:solidFill>
                  <a:schemeClr val="tx1"/>
                </a:solidFill>
                <a:latin typeface="+mn-lt"/>
                <a:ea typeface="楷体_GB2312" pitchFamily="49"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b="1">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b="1">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b="1">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b="1">
                <a:solidFill>
                  <a:schemeClr val="tx1"/>
                </a:solidFill>
                <a:latin typeface="+mn-lt"/>
                <a:ea typeface="宋体" pitchFamily="2" charset="-122"/>
              </a:defRPr>
            </a:lvl9pPr>
          </a:lstStyle>
          <a:p>
            <a:pPr marL="342900" marR="0" lvl="0" indent="-342900" algn="l" defTabSz="914400" rtl="0" eaLnBrk="0" fontAlgn="base" latinLnBrk="0" hangingPunct="0">
              <a:lnSpc>
                <a:spcPct val="80000"/>
              </a:lnSpc>
              <a:spcBef>
                <a:spcPct val="20000"/>
              </a:spcBef>
              <a:spcAft>
                <a:spcPct val="0"/>
              </a:spcAft>
              <a:buClrTx/>
              <a:buSzTx/>
              <a:buFontTx/>
              <a:buChar char="•"/>
              <a:tabLst/>
              <a:defRPr/>
            </a:pPr>
            <a:r>
              <a:rPr kumimoji="0" lang="zh-CN" altLang="en-US" sz="3200" b="0" i="0" u="none" strike="noStrike" kern="0" cap="none" spc="0" normalizeH="0" baseline="0" noProof="0" dirty="0" smtClean="0">
                <a:ln>
                  <a:noFill/>
                </a:ln>
                <a:solidFill>
                  <a:schemeClr val="bg1"/>
                </a:solidFill>
                <a:effectLst/>
                <a:uLnTx/>
                <a:uFillTx/>
                <a:latin typeface="Arial"/>
                <a:ea typeface="黑体"/>
                <a:cs typeface="+mn-cs"/>
              </a:rPr>
              <a:t>分解关系模式为满足</a:t>
            </a:r>
            <a:r>
              <a:rPr kumimoji="0" lang="en-US" altLang="zh-CN" sz="3200" b="0" i="0" u="none" strike="noStrike" kern="0" cap="none" spc="0" normalizeH="0" baseline="0" noProof="0" dirty="0" smtClean="0">
                <a:ln>
                  <a:noFill/>
                </a:ln>
                <a:solidFill>
                  <a:schemeClr val="bg1"/>
                </a:solidFill>
                <a:effectLst/>
                <a:uLnTx/>
                <a:uFillTx/>
                <a:latin typeface="Arial"/>
                <a:ea typeface="黑体"/>
                <a:cs typeface="+mn-cs"/>
              </a:rPr>
              <a:t>3NF</a:t>
            </a:r>
            <a:r>
              <a:rPr kumimoji="0" lang="zh-CN" altLang="en-US" sz="3200" b="0" i="0" u="none" strike="noStrike" kern="0" cap="none" spc="0" normalizeH="0" baseline="0" noProof="0" dirty="0" smtClean="0">
                <a:ln>
                  <a:noFill/>
                </a:ln>
                <a:solidFill>
                  <a:schemeClr val="bg1"/>
                </a:solidFill>
                <a:effectLst/>
                <a:uLnTx/>
                <a:uFillTx/>
                <a:latin typeface="Arial"/>
                <a:ea typeface="黑体"/>
                <a:cs typeface="+mn-cs"/>
              </a:rPr>
              <a:t>的一个无损且保持函数依赖的分解算法</a:t>
            </a:r>
          </a:p>
          <a:p>
            <a:pPr marL="742950" marR="0" lvl="1" indent="-285750" algn="l" defTabSz="914400" rtl="0" eaLnBrk="0" fontAlgn="base" latinLnBrk="0" hangingPunct="0">
              <a:lnSpc>
                <a:spcPct val="150000"/>
              </a:lnSpc>
              <a:spcBef>
                <a:spcPct val="0"/>
              </a:spcBef>
              <a:spcAft>
                <a:spcPct val="0"/>
              </a:spcAft>
              <a:buClrTx/>
              <a:buSzTx/>
              <a:buFontTx/>
              <a:buNone/>
              <a:tabLst/>
              <a:defRPr/>
            </a:pP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5</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）将</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Ui</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及</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F</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在</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Ui</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上的投影</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F</a:t>
            </a:r>
            <a:r>
              <a:rPr kumimoji="0" lang="en-US" altLang="zh-CN" sz="2400" b="1" i="0" u="none" strike="noStrike" kern="0" cap="none" spc="0" normalizeH="0" baseline="-14000" noProof="0" dirty="0" smtClean="0">
                <a:ln>
                  <a:noFill/>
                </a:ln>
                <a:solidFill>
                  <a:schemeClr val="bg1"/>
                </a:solidFill>
                <a:effectLst/>
                <a:uLnTx/>
                <a:uFillTx/>
                <a:latin typeface="Arial"/>
                <a:ea typeface="楷体_GB2312" pitchFamily="49" charset="-122"/>
              </a:rPr>
              <a:t>i</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构成一个关系模式</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Ri</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Ui,Fi</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，由于</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F</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是最小函数依赖集，</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Ri</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Ui,Fi</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一定是属于以</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X</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为候选键的</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3NF</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。并且</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Fi’</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一定被</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Fi</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所包含，因此各关系模式</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Ri</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Ui,Fi</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 </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组成的分解</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ρ</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是保持函数依赖的。    </a:t>
            </a:r>
          </a:p>
          <a:p>
            <a:pPr marL="742950" marR="0" lvl="1" indent="-285750" algn="l" defTabSz="914400" rtl="0" eaLnBrk="0" fontAlgn="base" latinLnBrk="0" hangingPunct="0">
              <a:lnSpc>
                <a:spcPct val="150000"/>
              </a:lnSpc>
              <a:spcBef>
                <a:spcPct val="0"/>
              </a:spcBef>
              <a:spcAft>
                <a:spcPct val="0"/>
              </a:spcAft>
              <a:buClrTx/>
              <a:buSzTx/>
              <a:buFontTx/>
              <a:buNone/>
              <a:tabLst/>
              <a:defRPr/>
            </a:pP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6</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）若某个</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Ui</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中已包含</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R</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中的候选键，则该分解也就具有无损连接性。若</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Ui</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中均不包含</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R</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中的候选键，则在分解</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ρ</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的结果上再并入一个关系模式</a:t>
            </a:r>
            <a:r>
              <a:rPr kumimoji="0" lang="en-US" altLang="zh-CN" sz="2400" b="1" i="0" u="none" strike="noStrike" kern="0" cap="none" spc="0" normalizeH="0" baseline="0" noProof="0" dirty="0" err="1" smtClean="0">
                <a:ln>
                  <a:noFill/>
                </a:ln>
                <a:solidFill>
                  <a:schemeClr val="bg1"/>
                </a:solidFill>
                <a:effectLst/>
                <a:uLnTx/>
                <a:uFillTx/>
                <a:latin typeface="Arial"/>
                <a:ea typeface="楷体_GB2312" pitchFamily="49" charset="-122"/>
              </a:rPr>
              <a:t>R</a:t>
            </a:r>
            <a:r>
              <a:rPr kumimoji="0" lang="en-US" altLang="zh-CN" sz="2400" b="1" i="0" u="none" strike="noStrike" kern="0" cap="none" spc="0" normalizeH="0" baseline="-14000" noProof="0" dirty="0" err="1" smtClean="0">
                <a:ln>
                  <a:noFill/>
                </a:ln>
                <a:solidFill>
                  <a:schemeClr val="bg1"/>
                </a:solidFill>
                <a:effectLst/>
                <a:uLnTx/>
                <a:uFillTx/>
                <a:latin typeface="Arial"/>
                <a:ea typeface="楷体_GB2312" pitchFamily="49" charset="-122"/>
              </a:rPr>
              <a:t>k</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K,F</a:t>
            </a:r>
            <a:r>
              <a:rPr kumimoji="0" lang="en-US" altLang="zh-CN" sz="2400" b="1" i="0" u="none" strike="noStrike" kern="0" cap="none" spc="0" normalizeH="0" baseline="-14000" noProof="0" dirty="0" smtClean="0">
                <a:ln>
                  <a:noFill/>
                </a:ln>
                <a:solidFill>
                  <a:schemeClr val="bg1"/>
                </a:solidFill>
                <a:effectLst/>
                <a:uLnTx/>
                <a:uFillTx/>
                <a:latin typeface="Arial"/>
                <a:ea typeface="楷体_GB2312" pitchFamily="49" charset="-122"/>
              </a:rPr>
              <a:t>K</a:t>
            </a:r>
            <a:r>
              <a:rPr kumimoji="0" lang="en-US" altLang="zh-CN" sz="2400" b="1" i="0" u="none" strike="noStrike" kern="0" cap="none" spc="0" normalizeH="0" baseline="0" noProof="0" dirty="0" smtClean="0">
                <a:ln>
                  <a:noFill/>
                </a:ln>
                <a:solidFill>
                  <a:schemeClr val="bg1"/>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，其中</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K</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为</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R</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的某一候选键，</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F</a:t>
            </a:r>
            <a:r>
              <a:rPr kumimoji="0" lang="en-US" altLang="zh-CN" sz="2400" b="1" i="0" u="none" strike="noStrike" kern="0" cap="none" spc="0" normalizeH="0" baseline="-14000" noProof="0" dirty="0" smtClean="0">
                <a:ln>
                  <a:noFill/>
                </a:ln>
                <a:solidFill>
                  <a:schemeClr val="bg1"/>
                </a:solidFill>
                <a:effectLst/>
                <a:uLnTx/>
                <a:uFillTx/>
                <a:latin typeface="Arial"/>
                <a:ea typeface="楷体_GB2312" pitchFamily="49" charset="-122"/>
              </a:rPr>
              <a:t>K</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为</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F</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在</a:t>
            </a:r>
            <a:r>
              <a:rPr kumimoji="0" lang="en-US" altLang="zh-CN" sz="2400" b="1" i="0" u="none" strike="noStrike" kern="0" cap="none" spc="0" normalizeH="0" baseline="0" noProof="0" dirty="0" smtClean="0">
                <a:ln>
                  <a:noFill/>
                </a:ln>
                <a:solidFill>
                  <a:schemeClr val="bg1"/>
                </a:solidFill>
                <a:effectLst/>
                <a:uLnTx/>
                <a:uFillTx/>
                <a:latin typeface="Arial"/>
                <a:ea typeface="楷体_GB2312" pitchFamily="49" charset="-122"/>
              </a:rPr>
              <a:t>K</a:t>
            </a:r>
            <a:r>
              <a:rPr kumimoji="0" lang="zh-CN" altLang="en-US" sz="2400" b="1" i="0" u="none" strike="noStrike" kern="0" cap="none" spc="0" normalizeH="0" baseline="0" noProof="0" dirty="0" smtClean="0">
                <a:ln>
                  <a:noFill/>
                </a:ln>
                <a:solidFill>
                  <a:schemeClr val="bg1"/>
                </a:solidFill>
                <a:effectLst/>
                <a:uLnTx/>
                <a:uFillTx/>
                <a:latin typeface="Arial"/>
                <a:ea typeface="楷体_GB2312" pitchFamily="49" charset="-122"/>
              </a:rPr>
              <a:t>上的投影。 </a:t>
            </a:r>
            <a:endParaRPr kumimoji="0" lang="en-US" altLang="zh-CN" sz="2400" b="1" i="0" u="none" strike="noStrike" kern="0" cap="none" spc="0" normalizeH="0" baseline="0" noProof="0" dirty="0">
              <a:ln>
                <a:noFill/>
              </a:ln>
              <a:solidFill>
                <a:schemeClr val="bg1"/>
              </a:solidFill>
              <a:effectLst/>
              <a:uLnTx/>
              <a:uFillTx/>
              <a:latin typeface="Arial"/>
              <a:ea typeface="楷体_GB2312" pitchFamily="49" charset="-122"/>
            </a:endParaRPr>
          </a:p>
        </p:txBody>
      </p:sp>
    </p:spTree>
    <p:extLst>
      <p:ext uri="{BB962C8B-B14F-4D97-AF65-F5344CB8AC3E}">
        <p14:creationId xmlns:p14="http://schemas.microsoft.com/office/powerpoint/2010/main" val="268757989"/>
      </p:ext>
    </p:extLst>
  </p:cSld>
  <p:clrMapOvr>
    <a:masterClrMapping/>
  </p:clrMapOvr>
  <p:transition spd="slow">
    <p:wipe dir="r"/>
    <p:sndAc>
      <p:stSnd>
        <p:snd r:embed="rId2" name="arrow.wav"/>
      </p:stSnd>
    </p:sndAc>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407368" y="548680"/>
            <a:ext cx="11737304"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b="1">
                <a:solidFill>
                  <a:schemeClr val="tx1"/>
                </a:solidFill>
                <a:latin typeface="+mn-lt"/>
                <a:ea typeface="楷体_GB2312" pitchFamily="49" charset="-122"/>
              </a:defRPr>
            </a:lvl2pPr>
            <a:lvl3pPr marL="1143000" indent="-228600" algn="l" rtl="0" eaLnBrk="0" fontAlgn="base" hangingPunct="0">
              <a:spcBef>
                <a:spcPct val="20000"/>
              </a:spcBef>
              <a:spcAft>
                <a:spcPct val="0"/>
              </a:spcAft>
              <a:buChar char="•"/>
              <a:defRPr sz="2800" b="1">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400" b="1">
                <a:solidFill>
                  <a:schemeClr val="tx1"/>
                </a:solidFill>
                <a:latin typeface="+mn-lt"/>
                <a:ea typeface="楷体_GB2312" pitchFamily="49"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b="1">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b="1">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b="1">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b="1">
                <a:solidFill>
                  <a:schemeClr val="tx1"/>
                </a:solidFill>
                <a:latin typeface="+mn-lt"/>
                <a:ea typeface="宋体"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例</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续</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关系模式</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R</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U</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F</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），其中</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U={ E</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G</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H</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J }</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F={ E→I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J→I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I→G</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GH→I</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IH→E }</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，将</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R</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分解为</a:t>
            </a:r>
            <a:r>
              <a:rPr kumimoji="0" lang="en-US" altLang="zh-CN" sz="2400" b="0" i="0" u="none" strike="noStrike" kern="0" cap="none" spc="0" normalizeH="0" baseline="0" noProof="0" dirty="0" smtClean="0">
                <a:ln>
                  <a:noFill/>
                </a:ln>
                <a:solidFill>
                  <a:schemeClr val="bg1"/>
                </a:solidFill>
                <a:effectLst/>
                <a:uLnTx/>
                <a:uFillTx/>
                <a:latin typeface="Arial"/>
                <a:ea typeface="黑体"/>
                <a:cs typeface="+mn-cs"/>
              </a:rPr>
              <a:t>3NF</a:t>
            </a:r>
            <a:r>
              <a:rPr kumimoji="0" lang="zh-CN" altLang="en-US" sz="2400" b="0" i="0" u="none" strike="noStrike" kern="0" cap="none" spc="0" normalizeH="0" baseline="0" noProof="0" dirty="0" smtClean="0">
                <a:ln>
                  <a:noFill/>
                </a:ln>
                <a:solidFill>
                  <a:schemeClr val="bg1"/>
                </a:solidFill>
                <a:effectLst/>
                <a:uLnTx/>
                <a:uFillTx/>
                <a:latin typeface="Arial"/>
                <a:ea typeface="黑体"/>
                <a:cs typeface="+mn-cs"/>
              </a:rPr>
              <a:t>，并使之具有无损连接性和保持函数依赖特性。</a:t>
            </a:r>
            <a:endParaRPr kumimoji="0" lang="zh-CN" altLang="en-US" sz="2400" b="0" i="0" u="none" strike="noStrike" kern="0" cap="none" spc="0" normalizeH="0" baseline="0" noProof="0" dirty="0">
              <a:ln>
                <a:noFill/>
              </a:ln>
              <a:solidFill>
                <a:schemeClr val="bg1"/>
              </a:solidFill>
              <a:effectLst/>
              <a:uLnTx/>
              <a:uFillTx/>
              <a:latin typeface="Arial"/>
              <a:ea typeface="黑体"/>
              <a:cs typeface="+mn-cs"/>
            </a:endParaRPr>
          </a:p>
        </p:txBody>
      </p:sp>
      <p:sp>
        <p:nvSpPr>
          <p:cNvPr id="3" name="Text Box 4"/>
          <p:cNvSpPr txBox="1">
            <a:spLocks noChangeArrowheads="1"/>
          </p:cNvSpPr>
          <p:nvPr/>
        </p:nvSpPr>
        <p:spPr bwMode="auto">
          <a:xfrm>
            <a:off x="527051" y="1989140"/>
            <a:ext cx="11664949" cy="405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600">
                <a:solidFill>
                  <a:schemeClr val="tx1"/>
                </a:solidFill>
                <a:latin typeface="Arial" charset="0"/>
                <a:ea typeface="黑体" pitchFamily="2" charset="-122"/>
              </a:defRPr>
            </a:lvl1pPr>
            <a:lvl2pPr>
              <a:defRPr sz="3200" b="1">
                <a:solidFill>
                  <a:schemeClr val="tx1"/>
                </a:solidFill>
                <a:latin typeface="Arial" charset="0"/>
                <a:ea typeface="楷体_GB2312" pitchFamily="49"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楷体_GB2312" pitchFamily="49" charset="-122"/>
              </a:defRPr>
            </a:lvl4pPr>
            <a:lvl5pPr>
              <a:defRPr sz="2000" b="1">
                <a:solidFill>
                  <a:schemeClr val="tx1"/>
                </a:solidFill>
                <a:latin typeface="Arial" charset="0"/>
                <a:ea typeface="宋体" pitchFamily="2" charset="-122"/>
              </a:defRPr>
            </a:lvl5pPr>
            <a:lvl6pPr>
              <a:defRPr sz="2000" b="1">
                <a:solidFill>
                  <a:schemeClr val="tx1"/>
                </a:solidFill>
                <a:latin typeface="Arial" charset="0"/>
                <a:ea typeface="宋体" pitchFamily="2" charset="-122"/>
              </a:defRPr>
            </a:lvl6pPr>
            <a:lvl7pPr>
              <a:defRPr sz="2000" b="1">
                <a:solidFill>
                  <a:schemeClr val="tx1"/>
                </a:solidFill>
                <a:latin typeface="Arial" charset="0"/>
                <a:ea typeface="宋体" pitchFamily="2" charset="-122"/>
              </a:defRPr>
            </a:lvl7pPr>
            <a:lvl8pPr>
              <a:defRPr sz="2000" b="1">
                <a:solidFill>
                  <a:schemeClr val="tx1"/>
                </a:solidFill>
                <a:latin typeface="Arial" charset="0"/>
                <a:ea typeface="宋体" pitchFamily="2" charset="-122"/>
              </a:defRPr>
            </a:lvl8pPr>
            <a:lvl9pPr>
              <a:defRPr sz="2000" b="1">
                <a:solidFill>
                  <a:schemeClr val="tx1"/>
                </a:solidFill>
                <a:latin typeface="Arial" charset="0"/>
                <a:ea typeface="宋体" pitchFamily="2" charset="-122"/>
              </a:defRPr>
            </a:lvl9pPr>
          </a:lstStyle>
          <a:p>
            <a:pPr fontAlgn="base">
              <a:lnSpc>
                <a:spcPct val="130000"/>
              </a:lnSpc>
              <a:spcBef>
                <a:spcPct val="0"/>
              </a:spcBef>
              <a:spcAft>
                <a:spcPct val="0"/>
              </a:spcAft>
            </a:pPr>
            <a:r>
              <a:rPr lang="zh-CN" altLang="en-US" sz="2200" b="1" dirty="0">
                <a:solidFill>
                  <a:schemeClr val="bg1"/>
                </a:solidFill>
                <a:ea typeface="楷体_GB2312" pitchFamily="49" charset="-122"/>
              </a:rPr>
              <a:t>解答：</a:t>
            </a:r>
          </a:p>
          <a:p>
            <a:pPr fontAlgn="base">
              <a:lnSpc>
                <a:spcPct val="130000"/>
              </a:lnSpc>
              <a:spcBef>
                <a:spcPct val="0"/>
              </a:spcBef>
              <a:spcAft>
                <a:spcPct val="0"/>
              </a:spcAft>
            </a:pP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5</a:t>
            </a:r>
            <a:r>
              <a:rPr lang="zh-CN" altLang="en-US" sz="2200" b="1" dirty="0">
                <a:solidFill>
                  <a:schemeClr val="bg1"/>
                </a:solidFill>
                <a:ea typeface="楷体_GB2312" pitchFamily="49" charset="-122"/>
              </a:rPr>
              <a:t>）将</a:t>
            </a:r>
            <a:r>
              <a:rPr lang="en-US" altLang="zh-CN" sz="2200" b="1" dirty="0">
                <a:solidFill>
                  <a:schemeClr val="bg1"/>
                </a:solidFill>
                <a:ea typeface="楷体_GB2312" pitchFamily="49" charset="-122"/>
              </a:rPr>
              <a:t>Ui</a:t>
            </a:r>
            <a:r>
              <a:rPr lang="zh-CN" altLang="en-US" sz="2200" b="1" dirty="0">
                <a:solidFill>
                  <a:schemeClr val="bg1"/>
                </a:solidFill>
                <a:ea typeface="楷体_GB2312" pitchFamily="49" charset="-122"/>
              </a:rPr>
              <a:t>及</a:t>
            </a:r>
            <a:r>
              <a:rPr lang="en-US" altLang="zh-CN" sz="2200" b="1" dirty="0">
                <a:solidFill>
                  <a:schemeClr val="bg1"/>
                </a:solidFill>
                <a:ea typeface="楷体_GB2312" pitchFamily="49" charset="-122"/>
              </a:rPr>
              <a:t>F</a:t>
            </a:r>
            <a:r>
              <a:rPr lang="zh-CN" altLang="en-US" sz="2200" b="1" dirty="0">
                <a:solidFill>
                  <a:schemeClr val="bg1"/>
                </a:solidFill>
                <a:ea typeface="楷体_GB2312" pitchFamily="49" charset="-122"/>
              </a:rPr>
              <a:t>在</a:t>
            </a:r>
            <a:r>
              <a:rPr lang="en-US" altLang="zh-CN" sz="2200" b="1" dirty="0">
                <a:solidFill>
                  <a:schemeClr val="bg1"/>
                </a:solidFill>
                <a:ea typeface="楷体_GB2312" pitchFamily="49" charset="-122"/>
              </a:rPr>
              <a:t>Ui</a:t>
            </a:r>
            <a:r>
              <a:rPr lang="zh-CN" altLang="en-US" sz="2200" b="1" dirty="0">
                <a:solidFill>
                  <a:schemeClr val="bg1"/>
                </a:solidFill>
                <a:ea typeface="楷体_GB2312" pitchFamily="49" charset="-122"/>
              </a:rPr>
              <a:t>上的投影</a:t>
            </a:r>
            <a:r>
              <a:rPr lang="en-US" altLang="zh-CN" sz="2200" b="1" dirty="0">
                <a:solidFill>
                  <a:schemeClr val="bg1"/>
                </a:solidFill>
                <a:ea typeface="楷体_GB2312" pitchFamily="49" charset="-122"/>
              </a:rPr>
              <a:t>Fi</a:t>
            </a:r>
            <a:r>
              <a:rPr lang="zh-CN" altLang="en-US" sz="2200" b="1" dirty="0">
                <a:solidFill>
                  <a:schemeClr val="bg1"/>
                </a:solidFill>
                <a:ea typeface="楷体_GB2312" pitchFamily="49" charset="-122"/>
              </a:rPr>
              <a:t>构成一个关系模式</a:t>
            </a:r>
            <a:r>
              <a:rPr lang="en-US" altLang="zh-CN" sz="2200" b="1" dirty="0">
                <a:solidFill>
                  <a:schemeClr val="bg1"/>
                </a:solidFill>
                <a:ea typeface="楷体_GB2312" pitchFamily="49" charset="-122"/>
              </a:rPr>
              <a:t>Ri</a:t>
            </a:r>
            <a:r>
              <a:rPr lang="zh-CN" altLang="en-US" sz="2200" b="1" dirty="0">
                <a:solidFill>
                  <a:schemeClr val="bg1"/>
                </a:solidFill>
                <a:ea typeface="楷体_GB2312" pitchFamily="49" charset="-122"/>
              </a:rPr>
              <a:t>（</a:t>
            </a:r>
            <a:r>
              <a:rPr lang="en-US" altLang="zh-CN" sz="2200" b="1" dirty="0" err="1">
                <a:solidFill>
                  <a:schemeClr val="bg1"/>
                </a:solidFill>
                <a:ea typeface="楷体_GB2312" pitchFamily="49" charset="-122"/>
              </a:rPr>
              <a:t>Ui,Fi</a:t>
            </a:r>
            <a:r>
              <a:rPr lang="zh-CN" altLang="en-US" sz="2200" b="1" dirty="0">
                <a:solidFill>
                  <a:schemeClr val="bg1"/>
                </a:solidFill>
                <a:ea typeface="楷体_GB2312" pitchFamily="49" charset="-122"/>
              </a:rPr>
              <a:t>），则分解</a:t>
            </a:r>
            <a:r>
              <a:rPr lang="en-US" altLang="zh-CN" sz="2200" b="1" dirty="0">
                <a:solidFill>
                  <a:schemeClr val="bg1"/>
                </a:solidFill>
                <a:ea typeface="楷体_GB2312" pitchFamily="49" charset="-122"/>
              </a:rPr>
              <a:t>ρ={R1</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 I,J }, { J→I }</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R2</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{G,H,I}</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{I→G,GH→I}</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R3</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{E,H,I}</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 E→I,IH→E }</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a:t>
            </a:r>
            <a:r>
              <a:rPr lang="zh-CN" altLang="en-US" sz="2200" b="1" dirty="0">
                <a:solidFill>
                  <a:schemeClr val="bg1"/>
                </a:solidFill>
                <a:ea typeface="楷体_GB2312" pitchFamily="49" charset="-122"/>
              </a:rPr>
              <a:t>保持函数依赖，且分解后的每个关系模式均为</a:t>
            </a:r>
            <a:r>
              <a:rPr lang="en-US" altLang="zh-CN" sz="2200" b="1" dirty="0">
                <a:solidFill>
                  <a:schemeClr val="bg1"/>
                </a:solidFill>
                <a:ea typeface="楷体_GB2312" pitchFamily="49" charset="-122"/>
              </a:rPr>
              <a:t>3NF</a:t>
            </a:r>
            <a:r>
              <a:rPr lang="zh-CN" altLang="en-US" sz="2200" b="1" dirty="0">
                <a:solidFill>
                  <a:schemeClr val="bg1"/>
                </a:solidFill>
                <a:ea typeface="楷体_GB2312" pitchFamily="49" charset="-122"/>
              </a:rPr>
              <a:t>。</a:t>
            </a:r>
          </a:p>
          <a:p>
            <a:pPr fontAlgn="base">
              <a:lnSpc>
                <a:spcPct val="130000"/>
              </a:lnSpc>
              <a:spcBef>
                <a:spcPct val="0"/>
              </a:spcBef>
              <a:spcAft>
                <a:spcPct val="0"/>
              </a:spcAft>
            </a:pP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6</a:t>
            </a:r>
            <a:r>
              <a:rPr lang="zh-CN" altLang="en-US" sz="2200" b="1" dirty="0">
                <a:solidFill>
                  <a:schemeClr val="bg1"/>
                </a:solidFill>
                <a:ea typeface="楷体_GB2312" pitchFamily="49" charset="-122"/>
              </a:rPr>
              <a:t>）可确定</a:t>
            </a:r>
            <a:r>
              <a:rPr lang="en-US" altLang="zh-CN" sz="2200" b="1" dirty="0">
                <a:solidFill>
                  <a:schemeClr val="bg1"/>
                </a:solidFill>
                <a:ea typeface="楷体_GB2312" pitchFamily="49" charset="-122"/>
              </a:rPr>
              <a:t>R</a:t>
            </a:r>
            <a:r>
              <a:rPr lang="zh-CN" altLang="en-US" sz="2200" b="1" dirty="0">
                <a:solidFill>
                  <a:schemeClr val="bg1"/>
                </a:solidFill>
                <a:ea typeface="楷体_GB2312" pitchFamily="49" charset="-122"/>
              </a:rPr>
              <a:t>的一个候选键</a:t>
            </a:r>
            <a:r>
              <a:rPr lang="en-US" altLang="zh-CN" sz="2200" b="1" dirty="0">
                <a:solidFill>
                  <a:schemeClr val="bg1"/>
                </a:solidFill>
                <a:ea typeface="楷体_GB2312" pitchFamily="49" charset="-122"/>
              </a:rPr>
              <a:t>HJ</a:t>
            </a:r>
            <a:r>
              <a:rPr lang="zh-CN" altLang="en-US" sz="2200" b="1" dirty="0">
                <a:solidFill>
                  <a:schemeClr val="bg1"/>
                </a:solidFill>
                <a:ea typeface="楷体_GB2312" pitchFamily="49" charset="-122"/>
              </a:rPr>
              <a:t>，由于</a:t>
            </a:r>
            <a:r>
              <a:rPr lang="en-US" altLang="zh-CN" sz="2200" b="1" dirty="0">
                <a:solidFill>
                  <a:schemeClr val="bg1"/>
                </a:solidFill>
                <a:ea typeface="楷体_GB2312" pitchFamily="49" charset="-122"/>
              </a:rPr>
              <a:t>Ui </a:t>
            </a:r>
            <a:r>
              <a:rPr lang="zh-CN" altLang="en-US" sz="2200" b="1" dirty="0">
                <a:solidFill>
                  <a:schemeClr val="bg1"/>
                </a:solidFill>
                <a:ea typeface="楷体_GB2312" pitchFamily="49" charset="-122"/>
              </a:rPr>
              <a:t>均不包含</a:t>
            </a:r>
            <a:r>
              <a:rPr lang="en-US" altLang="zh-CN" sz="2200" b="1" dirty="0">
                <a:solidFill>
                  <a:schemeClr val="bg1"/>
                </a:solidFill>
                <a:ea typeface="楷体_GB2312" pitchFamily="49" charset="-122"/>
              </a:rPr>
              <a:t>HJ</a:t>
            </a:r>
            <a:r>
              <a:rPr lang="zh-CN" altLang="en-US" sz="2200" b="1" dirty="0">
                <a:solidFill>
                  <a:schemeClr val="bg1"/>
                </a:solidFill>
                <a:ea typeface="楷体_GB2312" pitchFamily="49" charset="-122"/>
              </a:rPr>
              <a:t>，则</a:t>
            </a:r>
            <a:r>
              <a:rPr lang="en-US" altLang="zh-CN" sz="2200" b="1" dirty="0">
                <a:solidFill>
                  <a:schemeClr val="bg1"/>
                </a:solidFill>
                <a:ea typeface="楷体_GB2312" pitchFamily="49" charset="-122"/>
              </a:rPr>
              <a:t>ρ=ρ∪{R4</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{H,J}</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a:t>
            </a:r>
            <a:r>
              <a:rPr lang="zh-CN" altLang="en-US" sz="2200" b="1" dirty="0">
                <a:solidFill>
                  <a:schemeClr val="bg1"/>
                </a:solidFill>
                <a:ea typeface="楷体_GB2312" pitchFamily="49" charset="-122"/>
              </a:rPr>
              <a:t>，因此将</a:t>
            </a:r>
            <a:r>
              <a:rPr lang="en-US" altLang="zh-CN" sz="2200" b="1" dirty="0">
                <a:solidFill>
                  <a:schemeClr val="bg1"/>
                </a:solidFill>
                <a:ea typeface="楷体_GB2312" pitchFamily="49" charset="-122"/>
              </a:rPr>
              <a:t>R</a:t>
            </a:r>
            <a:r>
              <a:rPr lang="zh-CN" altLang="en-US" sz="2200" b="1" dirty="0">
                <a:solidFill>
                  <a:schemeClr val="bg1"/>
                </a:solidFill>
                <a:ea typeface="楷体_GB2312" pitchFamily="49" charset="-122"/>
              </a:rPr>
              <a:t>分解为</a:t>
            </a:r>
            <a:r>
              <a:rPr lang="en-US" altLang="zh-CN" sz="2200" b="1" dirty="0">
                <a:solidFill>
                  <a:schemeClr val="bg1"/>
                </a:solidFill>
                <a:ea typeface="楷体_GB2312" pitchFamily="49" charset="-122"/>
              </a:rPr>
              <a:t>ρ={ R1</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 I,J }, { J→I }</a:t>
            </a:r>
            <a:r>
              <a:rPr lang="zh-CN" altLang="en-US" sz="2200" b="1" dirty="0">
                <a:solidFill>
                  <a:schemeClr val="bg1"/>
                </a:solidFill>
                <a:ea typeface="楷体_GB2312" pitchFamily="49" charset="-122"/>
              </a:rPr>
              <a:t>），</a:t>
            </a:r>
          </a:p>
          <a:p>
            <a:pPr fontAlgn="base">
              <a:lnSpc>
                <a:spcPct val="130000"/>
              </a:lnSpc>
              <a:spcBef>
                <a:spcPct val="0"/>
              </a:spcBef>
              <a:spcAft>
                <a:spcPct val="0"/>
              </a:spcAft>
            </a:pPr>
            <a:r>
              <a:rPr lang="en-US" altLang="zh-CN" sz="2200" b="1" dirty="0">
                <a:solidFill>
                  <a:schemeClr val="bg1"/>
                </a:solidFill>
                <a:ea typeface="楷体_GB2312" pitchFamily="49" charset="-122"/>
              </a:rPr>
              <a:t>   R2</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{G,H,I}</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{I→G,GH→I}</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R3</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{E,H,I}</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 E→I,IH→E }</a:t>
            </a:r>
            <a:r>
              <a:rPr lang="zh-CN" altLang="en-US" sz="2200" b="1" dirty="0">
                <a:solidFill>
                  <a:schemeClr val="bg1"/>
                </a:solidFill>
                <a:ea typeface="楷体_GB2312" pitchFamily="49" charset="-122"/>
              </a:rPr>
              <a:t>），</a:t>
            </a:r>
          </a:p>
          <a:p>
            <a:pPr fontAlgn="base">
              <a:lnSpc>
                <a:spcPct val="130000"/>
              </a:lnSpc>
              <a:spcBef>
                <a:spcPct val="0"/>
              </a:spcBef>
              <a:spcAft>
                <a:spcPct val="0"/>
              </a:spcAft>
            </a:pPr>
            <a:r>
              <a:rPr lang="en-US" altLang="zh-CN" sz="2200" b="1" dirty="0">
                <a:solidFill>
                  <a:schemeClr val="bg1"/>
                </a:solidFill>
                <a:ea typeface="楷体_GB2312" pitchFamily="49" charset="-122"/>
              </a:rPr>
              <a:t>   R4</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{H,J}</a:t>
            </a:r>
            <a:r>
              <a:rPr lang="zh-CN" altLang="en-US" sz="2200" b="1" dirty="0">
                <a:solidFill>
                  <a:schemeClr val="bg1"/>
                </a:solidFill>
                <a:ea typeface="楷体_GB2312" pitchFamily="49" charset="-122"/>
              </a:rPr>
              <a:t>）</a:t>
            </a:r>
            <a:r>
              <a:rPr lang="en-US" altLang="zh-CN" sz="2200" b="1" dirty="0">
                <a:solidFill>
                  <a:schemeClr val="bg1"/>
                </a:solidFill>
                <a:ea typeface="楷体_GB2312" pitchFamily="49" charset="-122"/>
              </a:rPr>
              <a:t>}</a:t>
            </a:r>
            <a:r>
              <a:rPr lang="zh-CN" altLang="en-US" sz="2200" b="1" dirty="0">
                <a:solidFill>
                  <a:schemeClr val="bg1"/>
                </a:solidFill>
                <a:ea typeface="楷体_GB2312" pitchFamily="49" charset="-122"/>
              </a:rPr>
              <a:t>。</a:t>
            </a:r>
          </a:p>
          <a:p>
            <a:pPr fontAlgn="base">
              <a:lnSpc>
                <a:spcPct val="130000"/>
              </a:lnSpc>
              <a:spcBef>
                <a:spcPct val="0"/>
              </a:spcBef>
              <a:spcAft>
                <a:spcPct val="0"/>
              </a:spcAft>
            </a:pPr>
            <a:r>
              <a:rPr lang="zh-CN" altLang="en-US" sz="2200" b="1" dirty="0">
                <a:solidFill>
                  <a:schemeClr val="bg1"/>
                </a:solidFill>
                <a:ea typeface="楷体_GB2312" pitchFamily="49" charset="-122"/>
              </a:rPr>
              <a:t>分解具有无损连接性，</a:t>
            </a:r>
            <a:r>
              <a:rPr lang="en-US" altLang="zh-CN" sz="2200" b="1" dirty="0">
                <a:solidFill>
                  <a:schemeClr val="bg1"/>
                </a:solidFill>
                <a:ea typeface="楷体_GB2312" pitchFamily="49" charset="-122"/>
              </a:rPr>
              <a:t>ρ</a:t>
            </a:r>
            <a:r>
              <a:rPr lang="zh-CN" altLang="en-US" sz="2200" b="1" dirty="0">
                <a:solidFill>
                  <a:schemeClr val="bg1"/>
                </a:solidFill>
                <a:ea typeface="楷体_GB2312" pitchFamily="49" charset="-122"/>
              </a:rPr>
              <a:t>即为所求。</a:t>
            </a:r>
          </a:p>
        </p:txBody>
      </p:sp>
    </p:spTree>
    <p:extLst>
      <p:ext uri="{BB962C8B-B14F-4D97-AF65-F5344CB8AC3E}">
        <p14:creationId xmlns:p14="http://schemas.microsoft.com/office/powerpoint/2010/main" val="4168376997"/>
      </p:ext>
    </p:extLst>
  </p:cSld>
  <p:clrMapOvr>
    <a:masterClrMapping/>
  </p:clrMapOvr>
  <p:transition spd="slow">
    <p:wipe dir="r"/>
    <p:sndAc>
      <p:stSnd>
        <p:snd r:embed="rId2" name="arrow.wav"/>
      </p:stSnd>
    </p:sndAc>
  </p:transition>
</p:sld>
</file>

<file path=ppt/tags/tag1.xml><?xml version="1.0" encoding="utf-8"?>
<p:tagLst xmlns:a="http://schemas.openxmlformats.org/drawingml/2006/main" xmlns:r="http://schemas.openxmlformats.org/officeDocument/2006/relationships" xmlns:p="http://schemas.openxmlformats.org/presentationml/2006/main">
  <p:tag name="SLIDETAGS" val="[]"/>
</p:tagLst>
</file>

<file path=ppt/tags/tag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Arial"/>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3593</TotalTime>
  <Words>14526</Words>
  <Application>Microsoft Office PowerPoint</Application>
  <PresentationFormat>宽屏</PresentationFormat>
  <Paragraphs>2330</Paragraphs>
  <Slides>137</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137</vt:i4>
      </vt:variant>
    </vt:vector>
  </HeadingPairs>
  <TitlesOfParts>
    <vt:vector size="155" baseType="lpstr">
      <vt:lpstr>Microsoft Yahei</vt:lpstr>
      <vt:lpstr>等线</vt:lpstr>
      <vt:lpstr>黑体</vt:lpstr>
      <vt:lpstr>楷体</vt:lpstr>
      <vt:lpstr>楷体_GB2312</vt:lpstr>
      <vt:lpstr>隶书</vt:lpstr>
      <vt:lpstr>宋体</vt:lpstr>
      <vt:lpstr>微软雅黑</vt:lpstr>
      <vt:lpstr>新宋体</vt:lpstr>
      <vt:lpstr>Arial</vt:lpstr>
      <vt:lpstr>Calibri</vt:lpstr>
      <vt:lpstr>Cambria Math</vt:lpstr>
      <vt:lpstr>Symbol</vt:lpstr>
      <vt:lpstr>Tahoma</vt:lpstr>
      <vt:lpstr>Times New Roman</vt:lpstr>
      <vt:lpstr>Wingdings</vt:lpstr>
      <vt:lpstr>Office 主题​​</vt:lpstr>
      <vt:lpstr>Microsoft 公式 3.0</vt:lpstr>
      <vt:lpstr>PowerPoint 演示文稿</vt:lpstr>
      <vt:lpstr>第6章 关系数据库设计理论</vt:lpstr>
      <vt:lpstr>教学重难点</vt:lpstr>
      <vt:lpstr>关系模式规范化的必要性</vt:lpstr>
      <vt:lpstr> 6.1关系模式规范化的必要性</vt:lpstr>
      <vt:lpstr>概念回顾</vt:lpstr>
      <vt:lpstr>关系模式的形式化定义</vt:lpstr>
      <vt:lpstr>一个学籍E-R模型：</vt:lpstr>
      <vt:lpstr>PowerPoint 演示文稿</vt:lpstr>
      <vt:lpstr>方案1：把学籍E-R模型设计成一个关系模式</vt:lpstr>
      <vt:lpstr>DSC的问题1：数据冗余太大</vt:lpstr>
      <vt:lpstr>DSC的问题2：存在插入异常</vt:lpstr>
      <vt:lpstr>DSC的问题3：存在删除异常</vt:lpstr>
      <vt:lpstr>DSC的问题4：存在更新异常</vt:lpstr>
      <vt:lpstr>方案2：把学籍E-R模型设计成4个关系模式</vt:lpstr>
      <vt:lpstr>PowerPoint 演示文稿</vt:lpstr>
      <vt:lpstr>PowerPoint 演示文稿</vt:lpstr>
      <vt:lpstr>结论：什么是一个“好”的关系模式？</vt:lpstr>
      <vt:lpstr>PowerPoint 演示文稿</vt:lpstr>
      <vt:lpstr>函数依赖</vt:lpstr>
      <vt:lpstr>6.2函数依赖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已知R(U={ABC},F={A→B, B→C}), 其F+如下：</vt:lpstr>
      <vt:lpstr>1. Armstrong公理系统的基本推理规则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应用一例：证明逻辑蕴涵</vt:lpstr>
      <vt:lpstr>PowerPoint 演示文稿</vt:lpstr>
      <vt:lpstr>PowerPoint 演示文稿</vt:lpstr>
      <vt:lpstr>PowerPoint 演示文稿</vt:lpstr>
      <vt:lpstr>属性集闭包</vt:lpstr>
      <vt:lpstr>PowerPoint 演示文稿</vt:lpstr>
      <vt:lpstr>属性集闭包</vt:lpstr>
      <vt:lpstr>属性集闭包</vt:lpstr>
      <vt:lpstr>属性集闭包</vt:lpstr>
      <vt:lpstr>属性集闭包</vt:lpstr>
      <vt:lpstr>属性集闭包</vt:lpstr>
      <vt:lpstr>属性集闭包</vt:lpstr>
      <vt:lpstr>属性集闭包</vt:lpstr>
      <vt:lpstr>属性集闭包</vt:lpstr>
      <vt:lpstr>PowerPoint 演示文稿</vt:lpstr>
      <vt:lpstr>属性集闭包</vt:lpstr>
      <vt:lpstr>函数依赖集的等价</vt:lpstr>
      <vt:lpstr>函数依赖集的等价</vt:lpstr>
      <vt:lpstr>最小函数依赖集</vt:lpstr>
      <vt:lpstr>PowerPoint 演示文稿</vt:lpstr>
      <vt:lpstr>最小函数依赖集</vt:lpstr>
      <vt:lpstr>最小函数依赖集</vt:lpstr>
      <vt:lpstr>PowerPoint 演示文稿</vt:lpstr>
      <vt:lpstr>候选键的形式化定义</vt:lpstr>
      <vt:lpstr>候选键的求解理论</vt:lpstr>
      <vt:lpstr>候选键的求解理论</vt:lpstr>
      <vt:lpstr>候选键的求解算法</vt:lpstr>
      <vt:lpstr>候选键的求解算法</vt:lpstr>
      <vt:lpstr>候选键的求解算法</vt:lpstr>
      <vt:lpstr>候选键的求解算法</vt:lpstr>
      <vt:lpstr>PowerPoint 演示文稿</vt:lpstr>
      <vt:lpstr>关系模式的规范化</vt:lpstr>
      <vt:lpstr>6.3关系模式的范式与规范化</vt:lpstr>
      <vt:lpstr>范式 (Normal Form)的定义</vt:lpstr>
      <vt:lpstr>第一范式(1NF)</vt:lpstr>
      <vt:lpstr>PowerPoint 演示文稿</vt:lpstr>
      <vt:lpstr>第二范式(2NF)</vt:lpstr>
      <vt:lpstr>PowerPoint 演示文稿</vt:lpstr>
      <vt:lpstr>PowerPoint 演示文稿</vt:lpstr>
      <vt:lpstr>PowerPoint 演示文稿</vt:lpstr>
      <vt:lpstr>第三范式(3NF)</vt:lpstr>
      <vt:lpstr>PowerPoint 演示文稿</vt:lpstr>
      <vt:lpstr>PowerPoint 演示文稿</vt:lpstr>
      <vt:lpstr>PowerPoint 演示文稿</vt:lpstr>
      <vt:lpstr>BC范式(BCNF)</vt:lpstr>
      <vt:lpstr>PowerPoint 演示文稿</vt:lpstr>
      <vt:lpstr>PowerPoint 演示文稿</vt:lpstr>
      <vt:lpstr>规范化（Normalization）</vt:lpstr>
      <vt:lpstr>规范化的一般步骤</vt:lpstr>
      <vt:lpstr>PowerPoint 演示文稿</vt:lpstr>
      <vt:lpstr>PowerPoint 演示文稿</vt:lpstr>
      <vt:lpstr>模式分解</vt:lpstr>
      <vt:lpstr>关系模式的分解</vt:lpstr>
      <vt:lpstr>分解的无损连接性</vt:lpstr>
      <vt:lpstr>分解的保持函数依赖性</vt:lpstr>
      <vt:lpstr>PowerPoint 演示文稿</vt:lpstr>
      <vt:lpstr>PowerPoint 演示文稿</vt:lpstr>
      <vt:lpstr>分解案例</vt:lpstr>
      <vt:lpstr>分解案例</vt:lpstr>
      <vt:lpstr>分解案例</vt:lpstr>
      <vt:lpstr>分解案例</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无损连接的一个实用定理</vt:lpstr>
      <vt:lpstr>无损连接的一个实用定理</vt:lpstr>
      <vt:lpstr>PowerPoint 演示文稿</vt:lpstr>
      <vt:lpstr>保持函数依赖测试算法</vt:lpstr>
      <vt:lpstr>保持函数依赖测试算法</vt:lpstr>
      <vt:lpstr>保持函数依赖测试算法</vt:lpstr>
      <vt:lpstr>保持函数依赖测试算法</vt:lpstr>
      <vt:lpstr>PowerPoint 演示文稿</vt:lpstr>
      <vt:lpstr>分解成3NF模式集的算法</vt:lpstr>
      <vt:lpstr>分解成3NF模式集的算法</vt:lpstr>
      <vt:lpstr>分解成3NF模式集的算法</vt:lpstr>
      <vt:lpstr>分解成3NF模式集的算法</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pansir</dc:creator>
  <cp:lastModifiedBy>1</cp:lastModifiedBy>
  <cp:revision>540</cp:revision>
  <dcterms:created xsi:type="dcterms:W3CDTF">2016-09-04T04:12:03Z</dcterms:created>
  <dcterms:modified xsi:type="dcterms:W3CDTF">2025-11-24T13:10:55Z</dcterms:modified>
</cp:coreProperties>
</file>