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 id="2147483688" r:id="rId2"/>
    <p:sldMasterId id="2147483711" r:id="rId3"/>
  </p:sldMasterIdLst>
  <p:notesMasterIdLst>
    <p:notesMasterId r:id="rId57"/>
  </p:notesMasterIdLst>
  <p:handoutMasterIdLst>
    <p:handoutMasterId r:id="rId58"/>
  </p:handoutMasterIdLst>
  <p:sldIdLst>
    <p:sldId id="637" r:id="rId4"/>
    <p:sldId id="680" r:id="rId5"/>
    <p:sldId id="622" r:id="rId6"/>
    <p:sldId id="638" r:id="rId7"/>
    <p:sldId id="639" r:id="rId8"/>
    <p:sldId id="640" r:id="rId9"/>
    <p:sldId id="682" r:id="rId10"/>
    <p:sldId id="641" r:id="rId11"/>
    <p:sldId id="642" r:id="rId12"/>
    <p:sldId id="700" r:id="rId13"/>
    <p:sldId id="683" r:id="rId14"/>
    <p:sldId id="684" r:id="rId15"/>
    <p:sldId id="685" r:id="rId16"/>
    <p:sldId id="686" r:id="rId17"/>
    <p:sldId id="687" r:id="rId18"/>
    <p:sldId id="644" r:id="rId19"/>
    <p:sldId id="645" r:id="rId20"/>
    <p:sldId id="688" r:id="rId21"/>
    <p:sldId id="647" r:id="rId22"/>
    <p:sldId id="676" r:id="rId23"/>
    <p:sldId id="677" r:id="rId24"/>
    <p:sldId id="689" r:id="rId25"/>
    <p:sldId id="678" r:id="rId26"/>
    <p:sldId id="701" r:id="rId27"/>
    <p:sldId id="649" r:id="rId28"/>
    <p:sldId id="690" r:id="rId29"/>
    <p:sldId id="652" r:id="rId30"/>
    <p:sldId id="653" r:id="rId31"/>
    <p:sldId id="654" r:id="rId32"/>
    <p:sldId id="655" r:id="rId33"/>
    <p:sldId id="656" r:id="rId34"/>
    <p:sldId id="659" r:id="rId35"/>
    <p:sldId id="660" r:id="rId36"/>
    <p:sldId id="691" r:id="rId37"/>
    <p:sldId id="692" r:id="rId38"/>
    <p:sldId id="661" r:id="rId39"/>
    <p:sldId id="662" r:id="rId40"/>
    <p:sldId id="657" r:id="rId41"/>
    <p:sldId id="663" r:id="rId42"/>
    <p:sldId id="664" r:id="rId43"/>
    <p:sldId id="693" r:id="rId44"/>
    <p:sldId id="694" r:id="rId45"/>
    <p:sldId id="695" r:id="rId46"/>
    <p:sldId id="696" r:id="rId47"/>
    <p:sldId id="697" r:id="rId48"/>
    <p:sldId id="698" r:id="rId49"/>
    <p:sldId id="667" r:id="rId50"/>
    <p:sldId id="668" r:id="rId51"/>
    <p:sldId id="669" r:id="rId52"/>
    <p:sldId id="671" r:id="rId53"/>
    <p:sldId id="672" r:id="rId54"/>
    <p:sldId id="673" r:id="rId55"/>
    <p:sldId id="699" r:id="rId56"/>
  </p:sldIdLst>
  <p:sldSz cx="12192000" cy="6858000"/>
  <p:notesSz cx="6858000" cy="9144000"/>
  <p:defaultTextStyle>
    <a:defPPr>
      <a:defRPr lang="en-US"/>
    </a:defPPr>
    <a:lvl1pPr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1pPr>
    <a:lvl2pPr marL="4572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2pPr>
    <a:lvl3pPr marL="9144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3pPr>
    <a:lvl4pPr marL="13716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4pPr>
    <a:lvl5pPr marL="1828800" algn="l" rtl="0" fontAlgn="base">
      <a:spcBef>
        <a:spcPct val="0"/>
      </a:spcBef>
      <a:spcAft>
        <a:spcPct val="0"/>
      </a:spcAft>
      <a:defRPr sz="1200" kern="1200" baseline="-25000">
        <a:solidFill>
          <a:schemeClr val="tx1"/>
        </a:solidFill>
        <a:latin typeface="Garamond" pitchFamily="18" charset="0"/>
        <a:ea typeface="宋体" pitchFamily="2" charset="-122"/>
        <a:cs typeface="+mn-cs"/>
      </a:defRPr>
    </a:lvl5pPr>
    <a:lvl6pPr marL="2286000" algn="l" defTabSz="914400" rtl="0" eaLnBrk="1" latinLnBrk="0" hangingPunct="1">
      <a:defRPr sz="1200" kern="1200" baseline="-25000">
        <a:solidFill>
          <a:schemeClr val="tx1"/>
        </a:solidFill>
        <a:latin typeface="Garamond" pitchFamily="18" charset="0"/>
        <a:ea typeface="宋体" pitchFamily="2" charset="-122"/>
        <a:cs typeface="+mn-cs"/>
      </a:defRPr>
    </a:lvl6pPr>
    <a:lvl7pPr marL="2743200" algn="l" defTabSz="914400" rtl="0" eaLnBrk="1" latinLnBrk="0" hangingPunct="1">
      <a:defRPr sz="1200" kern="1200" baseline="-25000">
        <a:solidFill>
          <a:schemeClr val="tx1"/>
        </a:solidFill>
        <a:latin typeface="Garamond" pitchFamily="18" charset="0"/>
        <a:ea typeface="宋体" pitchFamily="2" charset="-122"/>
        <a:cs typeface="+mn-cs"/>
      </a:defRPr>
    </a:lvl7pPr>
    <a:lvl8pPr marL="3200400" algn="l" defTabSz="914400" rtl="0" eaLnBrk="1" latinLnBrk="0" hangingPunct="1">
      <a:defRPr sz="1200" kern="1200" baseline="-25000">
        <a:solidFill>
          <a:schemeClr val="tx1"/>
        </a:solidFill>
        <a:latin typeface="Garamond" pitchFamily="18" charset="0"/>
        <a:ea typeface="宋体" pitchFamily="2" charset="-122"/>
        <a:cs typeface="+mn-cs"/>
      </a:defRPr>
    </a:lvl8pPr>
    <a:lvl9pPr marL="3657600" algn="l" defTabSz="914400" rtl="0" eaLnBrk="1" latinLnBrk="0" hangingPunct="1">
      <a:defRPr sz="1200" kern="1200" baseline="-25000">
        <a:solidFill>
          <a:schemeClr val="tx1"/>
        </a:solidFill>
        <a:latin typeface="Garamond"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145"/>
    <a:srgbClr val="EEEFF4"/>
    <a:srgbClr val="001132"/>
    <a:srgbClr val="000D26"/>
    <a:srgbClr val="FFFFFF"/>
    <a:srgbClr val="00FF00"/>
    <a:srgbClr val="0000F2"/>
    <a:srgbClr val="CCFF99"/>
    <a:srgbClr val="0099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78" autoAdjust="0"/>
    <p:restoredTop sz="95244" autoAdjust="0"/>
  </p:normalViewPr>
  <p:slideViewPr>
    <p:cSldViewPr>
      <p:cViewPr varScale="1">
        <p:scale>
          <a:sx n="115" d="100"/>
          <a:sy n="115" d="100"/>
        </p:scale>
        <p:origin x="384" y="102"/>
      </p:cViewPr>
      <p:guideLst>
        <p:guide orient="horz" pos="2160"/>
        <p:guide pos="3840"/>
      </p:guideLst>
    </p:cSldViewPr>
  </p:slideViewPr>
  <p:outlineViewPr>
    <p:cViewPr>
      <p:scale>
        <a:sx n="33" d="100"/>
        <a:sy n="33" d="100"/>
      </p:scale>
      <p:origin x="0" y="2196"/>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Lst>
  </p:outlineViewPr>
  <p:notesTextViewPr>
    <p:cViewPr>
      <p:scale>
        <a:sx n="100" d="100"/>
        <a:sy n="100" d="100"/>
      </p:scale>
      <p:origin x="0" y="0"/>
    </p:cViewPr>
  </p:notesTextViewPr>
  <p:sorterViewPr>
    <p:cViewPr>
      <p:scale>
        <a:sx n="100" d="100"/>
        <a:sy n="100" d="100"/>
      </p:scale>
      <p:origin x="0" y="6018"/>
    </p:cViewPr>
  </p:sorterViewPr>
  <p:notesViewPr>
    <p:cSldViewPr>
      <p:cViewPr>
        <p:scale>
          <a:sx n="66" d="100"/>
          <a:sy n="66" d="100"/>
        </p:scale>
        <p:origin x="-2550" y="7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_rels/viewProps.xml.rels><?xml version="1.0" encoding="UTF-8" standalone="yes"?>
<Relationships xmlns="http://schemas.openxmlformats.org/package/2006/relationships"><Relationship Id="rId8" Type="http://schemas.openxmlformats.org/officeDocument/2006/relationships/slide" Target="slides/slide17.xml"/><Relationship Id="rId13" Type="http://schemas.openxmlformats.org/officeDocument/2006/relationships/slide" Target="slides/slide25.xml"/><Relationship Id="rId18" Type="http://schemas.openxmlformats.org/officeDocument/2006/relationships/slide" Target="slides/slide31.xml"/><Relationship Id="rId26" Type="http://schemas.openxmlformats.org/officeDocument/2006/relationships/slide" Target="slides/slide47.xml"/><Relationship Id="rId3" Type="http://schemas.openxmlformats.org/officeDocument/2006/relationships/slide" Target="slides/slide5.xml"/><Relationship Id="rId21" Type="http://schemas.openxmlformats.org/officeDocument/2006/relationships/slide" Target="slides/slide36.xml"/><Relationship Id="rId7" Type="http://schemas.openxmlformats.org/officeDocument/2006/relationships/slide" Target="slides/slide16.xml"/><Relationship Id="rId12" Type="http://schemas.openxmlformats.org/officeDocument/2006/relationships/slide" Target="slides/slide23.xml"/><Relationship Id="rId17" Type="http://schemas.openxmlformats.org/officeDocument/2006/relationships/slide" Target="slides/slide30.xml"/><Relationship Id="rId25" Type="http://schemas.openxmlformats.org/officeDocument/2006/relationships/slide" Target="slides/slide40.xml"/><Relationship Id="rId2" Type="http://schemas.openxmlformats.org/officeDocument/2006/relationships/slide" Target="slides/slide4.xml"/><Relationship Id="rId16" Type="http://schemas.openxmlformats.org/officeDocument/2006/relationships/slide" Target="slides/slide29.xml"/><Relationship Id="rId20" Type="http://schemas.openxmlformats.org/officeDocument/2006/relationships/slide" Target="slides/slide33.xml"/><Relationship Id="rId29" Type="http://schemas.openxmlformats.org/officeDocument/2006/relationships/slide" Target="slides/slide50.xml"/><Relationship Id="rId1" Type="http://schemas.openxmlformats.org/officeDocument/2006/relationships/slide" Target="slides/slide3.xml"/><Relationship Id="rId6" Type="http://schemas.openxmlformats.org/officeDocument/2006/relationships/slide" Target="slides/slide9.xml"/><Relationship Id="rId11" Type="http://schemas.openxmlformats.org/officeDocument/2006/relationships/slide" Target="slides/slide21.xml"/><Relationship Id="rId24" Type="http://schemas.openxmlformats.org/officeDocument/2006/relationships/slide" Target="slides/slide39.xml"/><Relationship Id="rId5" Type="http://schemas.openxmlformats.org/officeDocument/2006/relationships/slide" Target="slides/slide8.xml"/><Relationship Id="rId15" Type="http://schemas.openxmlformats.org/officeDocument/2006/relationships/slide" Target="slides/slide28.xml"/><Relationship Id="rId23" Type="http://schemas.openxmlformats.org/officeDocument/2006/relationships/slide" Target="slides/slide38.xml"/><Relationship Id="rId28" Type="http://schemas.openxmlformats.org/officeDocument/2006/relationships/slide" Target="slides/slide49.xml"/><Relationship Id="rId10" Type="http://schemas.openxmlformats.org/officeDocument/2006/relationships/slide" Target="slides/slide20.xml"/><Relationship Id="rId19" Type="http://schemas.openxmlformats.org/officeDocument/2006/relationships/slide" Target="slides/slide32.xml"/><Relationship Id="rId31" Type="http://schemas.openxmlformats.org/officeDocument/2006/relationships/slide" Target="slides/slide52.xml"/><Relationship Id="rId4" Type="http://schemas.openxmlformats.org/officeDocument/2006/relationships/slide" Target="slides/slide6.xml"/><Relationship Id="rId9" Type="http://schemas.openxmlformats.org/officeDocument/2006/relationships/slide" Target="slides/slide19.xml"/><Relationship Id="rId14" Type="http://schemas.openxmlformats.org/officeDocument/2006/relationships/slide" Target="slides/slide27.xml"/><Relationship Id="rId22" Type="http://schemas.openxmlformats.org/officeDocument/2006/relationships/slide" Target="slides/slide37.xml"/><Relationship Id="rId27" Type="http://schemas.openxmlformats.org/officeDocument/2006/relationships/slide" Target="slides/slide48.xml"/><Relationship Id="rId30"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baseline="0">
                <a:latin typeface="Times New Roman" pitchFamily="18" charset="0"/>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baseline="0">
                <a:latin typeface="Times New Roman" pitchFamily="18" charset="0"/>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baseline="0">
                <a:latin typeface="Times New Roman" pitchFamily="18" charset="0"/>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baseline="0">
                <a:latin typeface="Times New Roman" pitchFamily="18" charset="0"/>
              </a:defRPr>
            </a:lvl1pPr>
          </a:lstStyle>
          <a:p>
            <a:pPr>
              <a:defRPr/>
            </a:pPr>
            <a:fld id="{151A9782-2FC3-43BA-9A36-0BE2A123DEBD}" type="slidenum">
              <a:rPr lang="zh-CN" altLang="en-US"/>
              <a:pPr>
                <a:defRPr/>
              </a:pPr>
              <a:t>‹#›</a:t>
            </a:fld>
            <a:endParaRPr lang="en-US" altLang="zh-CN"/>
          </a:p>
        </p:txBody>
      </p:sp>
    </p:spTree>
    <p:extLst>
      <p:ext uri="{BB962C8B-B14F-4D97-AF65-F5344CB8AC3E}">
        <p14:creationId xmlns:p14="http://schemas.microsoft.com/office/powerpoint/2010/main" val="215515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baseline="0">
                <a:latin typeface="Times New Roman" pitchFamily="18" charset="0"/>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baseline="0">
                <a:latin typeface="Times New Roman" pitchFamily="18" charset="0"/>
              </a:defRPr>
            </a:lvl1pPr>
          </a:lstStyle>
          <a:p>
            <a:pPr>
              <a:defRPr/>
            </a:pPr>
            <a:endParaRPr lang="en-US" altLang="zh-CN"/>
          </a:p>
        </p:txBody>
      </p:sp>
      <p:sp>
        <p:nvSpPr>
          <p:cNvPr id="368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baseline="0">
                <a:latin typeface="Times New Roman" pitchFamily="18" charset="0"/>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baseline="0">
                <a:latin typeface="Times New Roman" pitchFamily="18" charset="0"/>
              </a:defRPr>
            </a:lvl1pPr>
          </a:lstStyle>
          <a:p>
            <a:pPr>
              <a:defRPr/>
            </a:pPr>
            <a:fld id="{03FF0817-35DE-4620-8116-CD53722ECFBA}" type="slidenum">
              <a:rPr lang="zh-CN" altLang="en-US"/>
              <a:pPr>
                <a:defRPr/>
              </a:pPr>
              <a:t>‹#›</a:t>
            </a:fld>
            <a:endParaRPr lang="en-US" altLang="zh-CN"/>
          </a:p>
        </p:txBody>
      </p:sp>
    </p:spTree>
    <p:extLst>
      <p:ext uri="{BB962C8B-B14F-4D97-AF65-F5344CB8AC3E}">
        <p14:creationId xmlns:p14="http://schemas.microsoft.com/office/powerpoint/2010/main" val="836575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6"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42273"/>
            <a:ext cx="5724644" cy="646331"/>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25929988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3272829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40197" cy="70788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2736999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847104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22972"/>
            <a:ext cx="5724644" cy="646331"/>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0503076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90031922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0811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62432" cy="40011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97309152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62432" cy="40011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9108705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3190328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56285" y="989014"/>
            <a:ext cx="738664" cy="563231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7233746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标题和内容">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9778401" y="0"/>
            <a:ext cx="2413598" cy="1213658"/>
            <a:chOff x="7778078" y="0"/>
            <a:chExt cx="4413923" cy="3499502"/>
          </a:xfrm>
        </p:grpSpPr>
        <p:sp>
          <p:nvSpPr>
            <p:cNvPr id="13" name="任意多边形: 形状 12"/>
            <p:cNvSpPr/>
            <p:nvPr>
              <p:custDataLst>
                <p:tags r:id="rId12"/>
              </p:custDataLst>
            </p:nvPr>
          </p:nvSpPr>
          <p:spPr bwMode="auto">
            <a:xfrm>
              <a:off x="7778078" y="1"/>
              <a:ext cx="4413922" cy="3499501"/>
            </a:xfrm>
            <a:custGeom>
              <a:avLst/>
              <a:gdLst>
                <a:gd name="connsiteX0" fmla="*/ 0 w 4413922"/>
                <a:gd name="connsiteY0" fmla="*/ 0 h 3499501"/>
                <a:gd name="connsiteX1" fmla="*/ 4413922 w 4413922"/>
                <a:gd name="connsiteY1" fmla="*/ 0 h 3499501"/>
                <a:gd name="connsiteX2" fmla="*/ 4413922 w 4413922"/>
                <a:gd name="connsiteY2" fmla="*/ 3499501 h 3499501"/>
              </a:gdLst>
              <a:ahLst/>
              <a:cxnLst>
                <a:cxn ang="0">
                  <a:pos x="connsiteX0" y="connsiteY0"/>
                </a:cxn>
                <a:cxn ang="0">
                  <a:pos x="connsiteX1" y="connsiteY1"/>
                </a:cxn>
                <a:cxn ang="0">
                  <a:pos x="connsiteX2" y="connsiteY2"/>
                </a:cxn>
              </a:cxnLst>
              <a:rect l="l" t="t" r="r" b="b"/>
              <a:pathLst>
                <a:path w="4413922" h="3499501">
                  <a:moveTo>
                    <a:pt x="0" y="0"/>
                  </a:moveTo>
                  <a:lnTo>
                    <a:pt x="4413922" y="0"/>
                  </a:lnTo>
                  <a:lnTo>
                    <a:pt x="4413922" y="3499501"/>
                  </a:lnTo>
                  <a:close/>
                </a:path>
              </a:pathLst>
            </a:custGeom>
            <a:solidFill>
              <a:schemeClr val="accent1">
                <a:lumMod val="40000"/>
                <a:lumOff val="60000"/>
                <a:alpha val="34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sp>
          <p:nvSpPr>
            <p:cNvPr id="14" name="任意多边形: 形状 13"/>
            <p:cNvSpPr/>
            <p:nvPr>
              <p:custDataLst>
                <p:tags r:id="rId13"/>
              </p:custDataLst>
            </p:nvPr>
          </p:nvSpPr>
          <p:spPr bwMode="auto">
            <a:xfrm>
              <a:off x="7821128" y="0"/>
              <a:ext cx="4370872" cy="2993432"/>
            </a:xfrm>
            <a:custGeom>
              <a:avLst/>
              <a:gdLst>
                <a:gd name="connsiteX0" fmla="*/ 0 w 4370872"/>
                <a:gd name="connsiteY0" fmla="*/ 0 h 2993432"/>
                <a:gd name="connsiteX1" fmla="*/ 4370872 w 4370872"/>
                <a:gd name="connsiteY1" fmla="*/ 0 h 2993432"/>
                <a:gd name="connsiteX2" fmla="*/ 4370872 w 4370872"/>
                <a:gd name="connsiteY2" fmla="*/ 2993432 h 2993432"/>
              </a:gdLst>
              <a:ahLst/>
              <a:cxnLst>
                <a:cxn ang="0">
                  <a:pos x="connsiteX0" y="connsiteY0"/>
                </a:cxn>
                <a:cxn ang="0">
                  <a:pos x="connsiteX1" y="connsiteY1"/>
                </a:cxn>
                <a:cxn ang="0">
                  <a:pos x="connsiteX2" y="connsiteY2"/>
                </a:cxn>
              </a:cxnLst>
              <a:rect l="l" t="t" r="r" b="b"/>
              <a:pathLst>
                <a:path w="4370872" h="2993432">
                  <a:moveTo>
                    <a:pt x="0" y="0"/>
                  </a:moveTo>
                  <a:lnTo>
                    <a:pt x="4370872" y="0"/>
                  </a:lnTo>
                  <a:lnTo>
                    <a:pt x="4370872" y="2993432"/>
                  </a:lnTo>
                  <a:close/>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sp>
          <p:nvSpPr>
            <p:cNvPr id="15" name="任意多边形: 形状 14"/>
            <p:cNvSpPr/>
            <p:nvPr>
              <p:custDataLst>
                <p:tags r:id="rId14"/>
              </p:custDataLst>
            </p:nvPr>
          </p:nvSpPr>
          <p:spPr bwMode="auto">
            <a:xfrm>
              <a:off x="7889890" y="1"/>
              <a:ext cx="4302111" cy="2419939"/>
            </a:xfrm>
            <a:custGeom>
              <a:avLst/>
              <a:gdLst>
                <a:gd name="connsiteX0" fmla="*/ 0 w 4302111"/>
                <a:gd name="connsiteY0" fmla="*/ 0 h 2419939"/>
                <a:gd name="connsiteX1" fmla="*/ 4302111 w 4302111"/>
                <a:gd name="connsiteY1" fmla="*/ 0 h 2419939"/>
                <a:gd name="connsiteX2" fmla="*/ 4302111 w 4302111"/>
                <a:gd name="connsiteY2" fmla="*/ 2419939 h 2419939"/>
              </a:gdLst>
              <a:ahLst/>
              <a:cxnLst>
                <a:cxn ang="0">
                  <a:pos x="connsiteX0" y="connsiteY0"/>
                </a:cxn>
                <a:cxn ang="0">
                  <a:pos x="connsiteX1" y="connsiteY1"/>
                </a:cxn>
                <a:cxn ang="0">
                  <a:pos x="connsiteX2" y="connsiteY2"/>
                </a:cxn>
              </a:cxnLst>
              <a:rect l="l" t="t" r="r" b="b"/>
              <a:pathLst>
                <a:path w="4302111" h="2419939">
                  <a:moveTo>
                    <a:pt x="0" y="0"/>
                  </a:moveTo>
                  <a:lnTo>
                    <a:pt x="4302111" y="0"/>
                  </a:lnTo>
                  <a:lnTo>
                    <a:pt x="4302111" y="2419939"/>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sp>
          <p:nvSpPr>
            <p:cNvPr id="16" name="任意多边形: 形状 15"/>
            <p:cNvSpPr/>
            <p:nvPr>
              <p:custDataLst>
                <p:tags r:id="rId15"/>
              </p:custDataLst>
            </p:nvPr>
          </p:nvSpPr>
          <p:spPr bwMode="auto">
            <a:xfrm>
              <a:off x="7985356" y="0"/>
              <a:ext cx="4206644" cy="1895952"/>
            </a:xfrm>
            <a:custGeom>
              <a:avLst/>
              <a:gdLst>
                <a:gd name="connsiteX0" fmla="*/ 0 w 4206644"/>
                <a:gd name="connsiteY0" fmla="*/ 0 h 1895952"/>
                <a:gd name="connsiteX1" fmla="*/ 4206644 w 4206644"/>
                <a:gd name="connsiteY1" fmla="*/ 0 h 1895952"/>
                <a:gd name="connsiteX2" fmla="*/ 4206644 w 4206644"/>
                <a:gd name="connsiteY2" fmla="*/ 1895952 h 1895952"/>
              </a:gdLst>
              <a:ahLst/>
              <a:cxnLst>
                <a:cxn ang="0">
                  <a:pos x="connsiteX0" y="connsiteY0"/>
                </a:cxn>
                <a:cxn ang="0">
                  <a:pos x="connsiteX1" y="connsiteY1"/>
                </a:cxn>
                <a:cxn ang="0">
                  <a:pos x="connsiteX2" y="connsiteY2"/>
                </a:cxn>
              </a:cxnLst>
              <a:rect l="l" t="t" r="r" b="b"/>
              <a:pathLst>
                <a:path w="4206644" h="1895952">
                  <a:moveTo>
                    <a:pt x="0" y="0"/>
                  </a:moveTo>
                  <a:lnTo>
                    <a:pt x="4206644" y="0"/>
                  </a:lnTo>
                  <a:lnTo>
                    <a:pt x="4206644" y="1895952"/>
                  </a:lnTo>
                  <a:close/>
                </a:path>
              </a:pathLst>
            </a:custGeom>
            <a:solidFill>
              <a:schemeClr val="accent1">
                <a:alpha val="71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grpSp>
      <p:grpSp>
        <p:nvGrpSpPr>
          <p:cNvPr id="17" name="组合 16"/>
          <p:cNvGrpSpPr/>
          <p:nvPr>
            <p:custDataLst>
              <p:tags r:id="rId2"/>
            </p:custDataLst>
          </p:nvPr>
        </p:nvGrpSpPr>
        <p:grpSpPr>
          <a:xfrm rot="5400000" flipV="1">
            <a:off x="3022408" y="3006392"/>
            <a:ext cx="829198" cy="6874019"/>
            <a:chOff x="7778078" y="0"/>
            <a:chExt cx="4413923" cy="3499502"/>
          </a:xfrm>
        </p:grpSpPr>
        <p:sp>
          <p:nvSpPr>
            <p:cNvPr id="18" name="任意多边形: 形状 17"/>
            <p:cNvSpPr/>
            <p:nvPr>
              <p:custDataLst>
                <p:tags r:id="rId8"/>
              </p:custDataLst>
            </p:nvPr>
          </p:nvSpPr>
          <p:spPr bwMode="auto">
            <a:xfrm>
              <a:off x="7778078" y="1"/>
              <a:ext cx="4413922" cy="3499501"/>
            </a:xfrm>
            <a:custGeom>
              <a:avLst/>
              <a:gdLst>
                <a:gd name="connsiteX0" fmla="*/ 0 w 4413922"/>
                <a:gd name="connsiteY0" fmla="*/ 0 h 3499501"/>
                <a:gd name="connsiteX1" fmla="*/ 4413922 w 4413922"/>
                <a:gd name="connsiteY1" fmla="*/ 0 h 3499501"/>
                <a:gd name="connsiteX2" fmla="*/ 4413922 w 4413922"/>
                <a:gd name="connsiteY2" fmla="*/ 3499501 h 3499501"/>
              </a:gdLst>
              <a:ahLst/>
              <a:cxnLst>
                <a:cxn ang="0">
                  <a:pos x="connsiteX0" y="connsiteY0"/>
                </a:cxn>
                <a:cxn ang="0">
                  <a:pos x="connsiteX1" y="connsiteY1"/>
                </a:cxn>
                <a:cxn ang="0">
                  <a:pos x="connsiteX2" y="connsiteY2"/>
                </a:cxn>
              </a:cxnLst>
              <a:rect l="l" t="t" r="r" b="b"/>
              <a:pathLst>
                <a:path w="4413922" h="3499501">
                  <a:moveTo>
                    <a:pt x="0" y="0"/>
                  </a:moveTo>
                  <a:lnTo>
                    <a:pt x="4413922" y="0"/>
                  </a:lnTo>
                  <a:lnTo>
                    <a:pt x="4413922" y="3499501"/>
                  </a:lnTo>
                  <a:close/>
                </a:path>
              </a:pathLst>
            </a:custGeom>
            <a:solidFill>
              <a:schemeClr val="accent1">
                <a:lumMod val="40000"/>
                <a:lumOff val="60000"/>
                <a:alpha val="34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sp>
          <p:nvSpPr>
            <p:cNvPr id="19" name="任意多边形: 形状 18"/>
            <p:cNvSpPr/>
            <p:nvPr>
              <p:custDataLst>
                <p:tags r:id="rId9"/>
              </p:custDataLst>
            </p:nvPr>
          </p:nvSpPr>
          <p:spPr bwMode="auto">
            <a:xfrm>
              <a:off x="7821128" y="0"/>
              <a:ext cx="4370872" cy="2993432"/>
            </a:xfrm>
            <a:custGeom>
              <a:avLst/>
              <a:gdLst>
                <a:gd name="connsiteX0" fmla="*/ 0 w 4370872"/>
                <a:gd name="connsiteY0" fmla="*/ 0 h 2993432"/>
                <a:gd name="connsiteX1" fmla="*/ 4370872 w 4370872"/>
                <a:gd name="connsiteY1" fmla="*/ 0 h 2993432"/>
                <a:gd name="connsiteX2" fmla="*/ 4370872 w 4370872"/>
                <a:gd name="connsiteY2" fmla="*/ 2993432 h 2993432"/>
              </a:gdLst>
              <a:ahLst/>
              <a:cxnLst>
                <a:cxn ang="0">
                  <a:pos x="connsiteX0" y="connsiteY0"/>
                </a:cxn>
                <a:cxn ang="0">
                  <a:pos x="connsiteX1" y="connsiteY1"/>
                </a:cxn>
                <a:cxn ang="0">
                  <a:pos x="connsiteX2" y="connsiteY2"/>
                </a:cxn>
              </a:cxnLst>
              <a:rect l="l" t="t" r="r" b="b"/>
              <a:pathLst>
                <a:path w="4370872" h="2993432">
                  <a:moveTo>
                    <a:pt x="0" y="0"/>
                  </a:moveTo>
                  <a:lnTo>
                    <a:pt x="4370872" y="0"/>
                  </a:lnTo>
                  <a:lnTo>
                    <a:pt x="4370872" y="2993432"/>
                  </a:lnTo>
                  <a:close/>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sp>
          <p:nvSpPr>
            <p:cNvPr id="20" name="任意多边形: 形状 19"/>
            <p:cNvSpPr/>
            <p:nvPr>
              <p:custDataLst>
                <p:tags r:id="rId10"/>
              </p:custDataLst>
            </p:nvPr>
          </p:nvSpPr>
          <p:spPr bwMode="auto">
            <a:xfrm>
              <a:off x="7889890" y="1"/>
              <a:ext cx="4302111" cy="2419939"/>
            </a:xfrm>
            <a:custGeom>
              <a:avLst/>
              <a:gdLst>
                <a:gd name="connsiteX0" fmla="*/ 0 w 4302111"/>
                <a:gd name="connsiteY0" fmla="*/ 0 h 2419939"/>
                <a:gd name="connsiteX1" fmla="*/ 4302111 w 4302111"/>
                <a:gd name="connsiteY1" fmla="*/ 0 h 2419939"/>
                <a:gd name="connsiteX2" fmla="*/ 4302111 w 4302111"/>
                <a:gd name="connsiteY2" fmla="*/ 2419939 h 2419939"/>
              </a:gdLst>
              <a:ahLst/>
              <a:cxnLst>
                <a:cxn ang="0">
                  <a:pos x="connsiteX0" y="connsiteY0"/>
                </a:cxn>
                <a:cxn ang="0">
                  <a:pos x="connsiteX1" y="connsiteY1"/>
                </a:cxn>
                <a:cxn ang="0">
                  <a:pos x="connsiteX2" y="connsiteY2"/>
                </a:cxn>
              </a:cxnLst>
              <a:rect l="l" t="t" r="r" b="b"/>
              <a:pathLst>
                <a:path w="4302111" h="2419939">
                  <a:moveTo>
                    <a:pt x="0" y="0"/>
                  </a:moveTo>
                  <a:lnTo>
                    <a:pt x="4302111" y="0"/>
                  </a:lnTo>
                  <a:lnTo>
                    <a:pt x="4302111" y="2419939"/>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sp>
          <p:nvSpPr>
            <p:cNvPr id="21" name="任意多边形: 形状 20"/>
            <p:cNvSpPr/>
            <p:nvPr>
              <p:custDataLst>
                <p:tags r:id="rId11"/>
              </p:custDataLst>
            </p:nvPr>
          </p:nvSpPr>
          <p:spPr bwMode="auto">
            <a:xfrm>
              <a:off x="7985356" y="0"/>
              <a:ext cx="4206644" cy="1895952"/>
            </a:xfrm>
            <a:custGeom>
              <a:avLst/>
              <a:gdLst>
                <a:gd name="connsiteX0" fmla="*/ 0 w 4206644"/>
                <a:gd name="connsiteY0" fmla="*/ 0 h 1895952"/>
                <a:gd name="connsiteX1" fmla="*/ 4206644 w 4206644"/>
                <a:gd name="connsiteY1" fmla="*/ 0 h 1895952"/>
                <a:gd name="connsiteX2" fmla="*/ 4206644 w 4206644"/>
                <a:gd name="connsiteY2" fmla="*/ 1895952 h 1895952"/>
              </a:gdLst>
              <a:ahLst/>
              <a:cxnLst>
                <a:cxn ang="0">
                  <a:pos x="connsiteX0" y="connsiteY0"/>
                </a:cxn>
                <a:cxn ang="0">
                  <a:pos x="connsiteX1" y="connsiteY1"/>
                </a:cxn>
                <a:cxn ang="0">
                  <a:pos x="connsiteX2" y="connsiteY2"/>
                </a:cxn>
              </a:cxnLst>
              <a:rect l="l" t="t" r="r" b="b"/>
              <a:pathLst>
                <a:path w="4206644" h="1895952">
                  <a:moveTo>
                    <a:pt x="0" y="0"/>
                  </a:moveTo>
                  <a:lnTo>
                    <a:pt x="4206644" y="0"/>
                  </a:lnTo>
                  <a:lnTo>
                    <a:pt x="4206644" y="1895952"/>
                  </a:lnTo>
                  <a:close/>
                </a:path>
              </a:pathLst>
            </a:custGeom>
            <a:solidFill>
              <a:schemeClr val="accent1">
                <a:alpha val="71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zh-CN" altLang="en-US">
                <a:latin typeface="微软雅黑" panose="020B0503020204020204" charset="-122"/>
                <a:ea typeface="微软雅黑" panose="020B0503020204020204" charset="-122"/>
              </a:endParaRPr>
            </a:p>
          </p:txBody>
        </p:sp>
      </p:grpSp>
      <p:sp>
        <p:nvSpPr>
          <p:cNvPr id="2" name="标题 1"/>
          <p:cNvSpPr>
            <a:spLocks noGrp="1"/>
          </p:cNvSpPr>
          <p:nvPr>
            <p:ph type="title"/>
            <p:custDataLst>
              <p:tags r:id="rId3"/>
            </p:custDataLst>
          </p:nvPr>
        </p:nvSpPr>
        <p:spPr>
          <a:xfrm>
            <a:off x="876000" y="334800"/>
            <a:ext cx="10440000" cy="1368000"/>
          </a:xfrm>
        </p:spPr>
        <p:txBody>
          <a:bodyPr>
            <a:normAutofit/>
          </a:bodyPr>
          <a:lstStyle>
            <a:lvl1pPr>
              <a:defRPr sz="4000">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内容占位符 2"/>
          <p:cNvSpPr>
            <a:spLocks noGrp="1"/>
          </p:cNvSpPr>
          <p:nvPr>
            <p:ph idx="1"/>
            <p:custDataLst>
              <p:tags r:id="rId4"/>
            </p:custDataLst>
          </p:nvPr>
        </p:nvSpPr>
        <p:spPr>
          <a:xfrm>
            <a:off x="876000" y="1852295"/>
            <a:ext cx="10440000" cy="4320000"/>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t>2025/10/21</a:t>
            </a:fld>
            <a:endParaRPr lang="zh-CN" altLang="en-US"/>
          </a:p>
        </p:txBody>
      </p:sp>
      <p:sp>
        <p:nvSpPr>
          <p:cNvPr id="5" name="页脚占位符 4"/>
          <p:cNvSpPr>
            <a:spLocks noGrp="1"/>
          </p:cNvSpPr>
          <p:nvPr>
            <p:ph type="ftr" sz="quarter" idx="11"/>
            <p:custDataLst>
              <p:tags r:id="rId6"/>
            </p:custDataLst>
          </p:nvPr>
        </p:nvSpPr>
        <p:spPr/>
        <p:txBody>
          <a:bodyPr/>
          <a:lstStyle>
            <a:lvl1pPr>
              <a:defRPr>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59962447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88439"/>
            <a:ext cx="4801314" cy="553998"/>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42870318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8992917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59433" cy="70788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30095731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7560551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69139"/>
            <a:ext cx="4801314" cy="553998"/>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74208064"/>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84111576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4851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81668" cy="40011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8381836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81668" cy="40011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6208726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0660773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902451" y="989014"/>
            <a:ext cx="646331" cy="470898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858800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42273"/>
            <a:ext cx="5724644" cy="646331"/>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04268648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9416" y="0"/>
            <a:ext cx="5724644" cy="646331"/>
          </a:xfrm>
        </p:spPr>
        <p:txBody>
          <a:bodyPr/>
          <a:lstStyle>
            <a:lvl1pPr>
              <a:defRPr>
                <a:latin typeface="微软雅黑" pitchFamily="34" charset="-122"/>
                <a:ea typeface="微软雅黑" pitchFamily="34"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4661493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40197" cy="70788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572598764"/>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5801474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22972"/>
            <a:ext cx="5724644" cy="646331"/>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1885735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80906364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7772320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62432" cy="40011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9486997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62432" cy="40011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9399075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9194864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56285" y="989014"/>
            <a:ext cx="738664" cy="563231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7940774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和内容">
    <p:spTree>
      <p:nvGrpSpPr>
        <p:cNvPr id="1" name=""/>
        <p:cNvGrpSpPr/>
        <p:nvPr/>
      </p:nvGrpSpPr>
      <p:grpSpPr>
        <a:xfrm>
          <a:off x="0" y="0"/>
          <a:ext cx="0" cy="0"/>
          <a:chOff x="0" y="0"/>
          <a:chExt cx="0" cy="0"/>
        </a:xfrm>
      </p:grpSpPr>
      <p:cxnSp>
        <p:nvCxnSpPr>
          <p:cNvPr id="2" name="直接连接符 6"/>
          <p:cNvCxnSpPr/>
          <p:nvPr userDrawn="1"/>
        </p:nvCxnSpPr>
        <p:spPr>
          <a:xfrm>
            <a:off x="1007533" y="833967"/>
            <a:ext cx="10464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 name="Group 7"/>
          <p:cNvGrpSpPr>
            <a:grpSpLocks/>
          </p:cNvGrpSpPr>
          <p:nvPr userDrawn="1"/>
        </p:nvGrpSpPr>
        <p:grpSpPr bwMode="auto">
          <a:xfrm>
            <a:off x="431802" y="391586"/>
            <a:ext cx="520700" cy="273049"/>
            <a:chOff x="0" y="0"/>
            <a:chExt cx="1041399" cy="549275"/>
          </a:xfrm>
        </p:grpSpPr>
        <p:sp>
          <p:nvSpPr>
            <p:cNvPr id="4" name="Freeform 16"/>
            <p:cNvSpPr>
              <a:spLocks/>
            </p:cNvSpPr>
            <p:nvPr/>
          </p:nvSpPr>
          <p:spPr bwMode="auto">
            <a:xfrm>
              <a:off x="0" y="0"/>
              <a:ext cx="364066"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p:spPr>
          <p:txBody>
            <a:bodyPr/>
            <a:lstStyle/>
            <a:p>
              <a:pPr fontAlgn="auto">
                <a:spcBef>
                  <a:spcPts val="0"/>
                </a:spcBef>
                <a:spcAft>
                  <a:spcPts val="0"/>
                </a:spcAft>
                <a:defRPr/>
              </a:pPr>
              <a:endParaRPr lang="zh-CN" altLang="en-US" sz="1600">
                <a:latin typeface="+mn-lt"/>
                <a:ea typeface="+mn-ea"/>
              </a:endParaRPr>
            </a:p>
          </p:txBody>
        </p:sp>
        <p:sp>
          <p:nvSpPr>
            <p:cNvPr id="5" name="Freeform 17"/>
            <p:cNvSpPr>
              <a:spLocks/>
            </p:cNvSpPr>
            <p:nvPr/>
          </p:nvSpPr>
          <p:spPr bwMode="auto">
            <a:xfrm>
              <a:off x="338666" y="0"/>
              <a:ext cx="359834"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p:spPr>
          <p:txBody>
            <a:bodyPr/>
            <a:lstStyle/>
            <a:p>
              <a:pPr fontAlgn="auto">
                <a:spcBef>
                  <a:spcPts val="0"/>
                </a:spcBef>
                <a:spcAft>
                  <a:spcPts val="0"/>
                </a:spcAft>
                <a:defRPr/>
              </a:pPr>
              <a:endParaRPr lang="zh-CN" altLang="en-US" sz="1600">
                <a:latin typeface="+mn-lt"/>
                <a:ea typeface="+mn-ea"/>
              </a:endParaRPr>
            </a:p>
          </p:txBody>
        </p:sp>
        <p:sp>
          <p:nvSpPr>
            <p:cNvPr id="6" name="Freeform 18"/>
            <p:cNvSpPr>
              <a:spLocks/>
            </p:cNvSpPr>
            <p:nvPr/>
          </p:nvSpPr>
          <p:spPr bwMode="auto">
            <a:xfrm>
              <a:off x="681567" y="0"/>
              <a:ext cx="35983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p:spPr>
          <p:txBody>
            <a:bodyPr/>
            <a:lstStyle/>
            <a:p>
              <a:pPr fontAlgn="auto">
                <a:spcBef>
                  <a:spcPts val="0"/>
                </a:spcBef>
                <a:spcAft>
                  <a:spcPts val="0"/>
                </a:spcAft>
                <a:defRPr/>
              </a:pPr>
              <a:endParaRPr lang="zh-CN" altLang="en-US" sz="1600">
                <a:latin typeface="+mn-lt"/>
                <a:ea typeface="+mn-ea"/>
              </a:endParaRPr>
            </a:p>
          </p:txBody>
        </p:sp>
      </p:grpSp>
      <p:sp>
        <p:nvSpPr>
          <p:cNvPr id="7" name="TextBox 15"/>
          <p:cNvSpPr txBox="1"/>
          <p:nvPr userDrawn="1"/>
        </p:nvSpPr>
        <p:spPr>
          <a:xfrm>
            <a:off x="10801352" y="321735"/>
            <a:ext cx="895349" cy="256480"/>
          </a:xfrm>
          <a:prstGeom prst="rect">
            <a:avLst/>
          </a:prstGeom>
          <a:noFill/>
        </p:spPr>
        <p:txBody>
          <a:bodyPr>
            <a:spAutoFit/>
          </a:bodyPr>
          <a:lstStyle/>
          <a:p>
            <a:pPr algn="ctr" fontAlgn="auto">
              <a:spcBef>
                <a:spcPts val="0"/>
              </a:spcBef>
              <a:spcAft>
                <a:spcPts val="0"/>
              </a:spcAft>
              <a:defRPr/>
            </a:pPr>
            <a:r>
              <a:rPr lang="zh-CN" altLang="en-US" sz="160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393333719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705959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1.pn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1132"/>
        </a:solid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624417" y="2276476"/>
            <a:ext cx="109728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41704" name="Rectangle 8"/>
          <p:cNvSpPr>
            <a:spLocks noGrp="1" noChangeArrowheads="1"/>
          </p:cNvSpPr>
          <p:nvPr>
            <p:ph type="title"/>
          </p:nvPr>
        </p:nvSpPr>
        <p:spPr bwMode="auto">
          <a:xfrm>
            <a:off x="668104" y="71920"/>
            <a:ext cx="6340197" cy="707886"/>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r>
              <a:rPr lang="zh-CN" altLang="en-US"/>
              <a:t>单击此处编辑母版标题样式</a:t>
            </a:r>
          </a:p>
        </p:txBody>
      </p:sp>
      <p:sp>
        <p:nvSpPr>
          <p:cNvPr id="6" name="椭圆 5"/>
          <p:cNvSpPr/>
          <p:nvPr userDrawn="1"/>
        </p:nvSpPr>
        <p:spPr>
          <a:xfrm rot="16200000">
            <a:off x="222576" y="244210"/>
            <a:ext cx="398347" cy="398346"/>
          </a:xfrm>
          <a:prstGeom prst="ellipse">
            <a:avLst/>
          </a:prstGeom>
          <a:noFill/>
          <a:ln>
            <a:solidFill>
              <a:srgbClr val="FCF873">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cxnSp>
        <p:nvCxnSpPr>
          <p:cNvPr id="7" name="直接连接符 6"/>
          <p:cNvCxnSpPr/>
          <p:nvPr userDrawn="1"/>
        </p:nvCxnSpPr>
        <p:spPr>
          <a:xfrm>
            <a:off x="-183148" y="445961"/>
            <a:ext cx="495705" cy="0"/>
          </a:xfrm>
          <a:prstGeom prst="line">
            <a:avLst/>
          </a:prstGeom>
          <a:ln>
            <a:solidFill>
              <a:srgbClr val="FCF873">
                <a:alpha val="70000"/>
              </a:srgbClr>
            </a:solidFill>
          </a:ln>
        </p:spPr>
        <p:style>
          <a:lnRef idx="1">
            <a:schemeClr val="accent1"/>
          </a:lnRef>
          <a:fillRef idx="0">
            <a:schemeClr val="accent1"/>
          </a:fillRef>
          <a:effectRef idx="0">
            <a:schemeClr val="accent1"/>
          </a:effectRef>
          <a:fontRef idx="minor">
            <a:schemeClr val="tx1"/>
          </a:fontRef>
        </p:style>
      </p:cxnSp>
      <p:sp>
        <p:nvSpPr>
          <p:cNvPr id="8" name="椭圆 7"/>
          <p:cNvSpPr>
            <a:spLocks noChangeAspect="1"/>
          </p:cNvSpPr>
          <p:nvPr userDrawn="1"/>
        </p:nvSpPr>
        <p:spPr>
          <a:xfrm rot="16200000">
            <a:off x="312557" y="334925"/>
            <a:ext cx="221871" cy="221871"/>
          </a:xfrm>
          <a:prstGeom prst="ellipse">
            <a:avLst/>
          </a:prstGeom>
          <a:gradFill>
            <a:gsLst>
              <a:gs pos="68000">
                <a:srgbClr val="C69135"/>
              </a:gs>
              <a:gs pos="31000">
                <a:srgbClr val="E6D38F"/>
              </a:gs>
              <a:gs pos="0">
                <a:srgbClr val="FCD860"/>
              </a:gs>
              <a:gs pos="100000">
                <a:srgbClr val="F1DF97"/>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spTree>
  </p:cSld>
  <p:clrMap bg1="dk2" tx1="lt1" bg2="dk1"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25" r:id="rId12"/>
  </p:sldLayoutIdLst>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xStyles>
    <p:title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4"/>
        </a:buBlip>
        <a:defRPr sz="3200">
          <a:solidFill>
            <a:schemeClr val="tx1"/>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chemeClr val="tx1"/>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chemeClr val="tx1"/>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1132"/>
        </a:solid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624417" y="2276476"/>
            <a:ext cx="109728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41704" name="Rectangle 8"/>
          <p:cNvSpPr>
            <a:spLocks noGrp="1" noChangeArrowheads="1"/>
          </p:cNvSpPr>
          <p:nvPr>
            <p:ph type="title"/>
          </p:nvPr>
        </p:nvSpPr>
        <p:spPr bwMode="auto">
          <a:xfrm>
            <a:off x="624418" y="986653"/>
            <a:ext cx="4801314" cy="553998"/>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r>
              <a:rPr lang="zh-CN" altLang="en-US"/>
              <a:t>单击此处编辑母版标题样式</a:t>
            </a:r>
          </a:p>
        </p:txBody>
      </p:sp>
      <p:sp>
        <p:nvSpPr>
          <p:cNvPr id="541705" name="Text Box 9"/>
          <p:cNvSpPr txBox="1">
            <a:spLocks noChangeArrowheads="1"/>
          </p:cNvSpPr>
          <p:nvPr userDrawn="1"/>
        </p:nvSpPr>
        <p:spPr bwMode="auto">
          <a:xfrm>
            <a:off x="11550770" y="6535739"/>
            <a:ext cx="461197" cy="268517"/>
          </a:xfrm>
          <a:prstGeom prst="rect">
            <a:avLst/>
          </a:prstGeom>
          <a:noFill/>
          <a:ln w="12700" cap="sq" algn="ctr">
            <a:noFill/>
            <a:miter lim="800000"/>
            <a:headEnd/>
            <a:tailEnd/>
          </a:ln>
          <a:effectLst/>
        </p:spPr>
        <p:txBody>
          <a:bodyPr wrap="none" lIns="72000" tIns="72000" rIns="72000" bIns="72000">
            <a:spAutoFit/>
          </a:bodyPr>
          <a:lstStyle/>
          <a:p>
            <a:pPr algn="ctr">
              <a:defRPr/>
            </a:pPr>
            <a:r>
              <a:rPr lang="zh-CN" altLang="en-US" sz="1200">
                <a:solidFill>
                  <a:srgbClr val="FFFFFF"/>
                </a:solidFill>
                <a:ea typeface="楷体_GB2312" pitchFamily="49" charset="-122"/>
              </a:rPr>
              <a:t>第</a:t>
            </a:r>
            <a:fld id="{78266903-B61B-4C5B-94FC-7A9B41F88A36}" type="slidenum">
              <a:rPr lang="zh-CN" altLang="en-US" sz="1200">
                <a:solidFill>
                  <a:srgbClr val="FFFFFF"/>
                </a:solidFill>
                <a:ea typeface="楷体_GB2312" pitchFamily="49" charset="-122"/>
              </a:rPr>
              <a:pPr algn="ctr">
                <a:defRPr/>
              </a:pPr>
              <a:t>‹#›</a:t>
            </a:fld>
            <a:r>
              <a:rPr lang="zh-CN" altLang="en-US" sz="1200">
                <a:solidFill>
                  <a:srgbClr val="FFFFFF"/>
                </a:solidFill>
                <a:ea typeface="楷体_GB2312" pitchFamily="49" charset="-122"/>
              </a:rPr>
              <a:t>页</a:t>
            </a:r>
            <a:endParaRPr lang="en-US" altLang="zh-CN" sz="1200">
              <a:solidFill>
                <a:srgbClr val="FFFFFF"/>
              </a:solidFill>
              <a:ea typeface="楷体_GB2312" pitchFamily="49" charset="-122"/>
            </a:endParaRPr>
          </a:p>
        </p:txBody>
      </p:sp>
      <p:sp>
        <p:nvSpPr>
          <p:cNvPr id="541706" name="Text Box 10"/>
          <p:cNvSpPr txBox="1">
            <a:spLocks noChangeArrowheads="1"/>
          </p:cNvSpPr>
          <p:nvPr userDrawn="1"/>
        </p:nvSpPr>
        <p:spPr bwMode="auto">
          <a:xfrm>
            <a:off x="9514823" y="131763"/>
            <a:ext cx="1667123" cy="164148"/>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1600">
                <a:solidFill>
                  <a:srgbClr val="8BB1E9"/>
                </a:solidFill>
                <a:effectLst>
                  <a:outerShdw blurRad="38100" dist="38100" dir="2700000" algn="tl">
                    <a:srgbClr val="000000"/>
                  </a:outerShdw>
                </a:effectLst>
                <a:latin typeface="Times New Roman" pitchFamily="18" charset="0"/>
                <a:ea typeface="楷体_GB2312" pitchFamily="49" charset="-122"/>
              </a:rPr>
              <a:t>四川农业大学    潘勇浩 制作</a:t>
            </a:r>
          </a:p>
        </p:txBody>
      </p:sp>
    </p:spTree>
  </p:cSld>
  <p:clrMap bg1="dk2" tx1="lt1" bg2="dk1"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xStyles>
    <p:titleStyle>
      <a:lvl1pPr algn="l" rtl="0" eaLnBrk="0" fontAlgn="base" hangingPunct="0">
        <a:spcBef>
          <a:spcPct val="0"/>
        </a:spcBef>
        <a:spcAft>
          <a:spcPct val="0"/>
        </a:spcAft>
        <a:defRPr sz="3000">
          <a:solidFill>
            <a:srgbClr val="FF9900"/>
          </a:solidFill>
          <a:latin typeface="+mj-lt"/>
          <a:ea typeface="+mj-ea"/>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3"/>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1B37"/>
        </a:solid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624417" y="2276476"/>
            <a:ext cx="109728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8"/>
          <p:cNvSpPr>
            <a:spLocks noGrp="1" noChangeArrowheads="1"/>
          </p:cNvSpPr>
          <p:nvPr>
            <p:ph type="title"/>
          </p:nvPr>
        </p:nvSpPr>
        <p:spPr bwMode="auto">
          <a:xfrm>
            <a:off x="932213" y="-19018"/>
            <a:ext cx="6340197" cy="70788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defTabSz="914400" latinLnBrk="0">
              <a:buNone/>
            </a:pPr>
            <a:r>
              <a:rPr lang="zh-CN" altLang="en-US" dirty="0"/>
              <a:t>单击此处编辑母版标题样式</a:t>
            </a:r>
          </a:p>
        </p:txBody>
      </p:sp>
      <p:sp>
        <p:nvSpPr>
          <p:cNvPr id="1029" name="Text Box 9"/>
          <p:cNvSpPr txBox="1">
            <a:spLocks noChangeArrowheads="1"/>
          </p:cNvSpPr>
          <p:nvPr userDrawn="1"/>
        </p:nvSpPr>
        <p:spPr bwMode="auto">
          <a:xfrm>
            <a:off x="11452986" y="6535738"/>
            <a:ext cx="656765" cy="330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72000" tIns="72000" rIns="72000" bIns="7200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kumimoji="0" lang="zh-CN" altLang="en-US" sz="1800" baseline="-25000">
                <a:effectLst/>
                <a:latin typeface="微软雅黑" pitchFamily="34" charset="-122"/>
                <a:ea typeface="微软雅黑" pitchFamily="34" charset="-122"/>
              </a:rPr>
              <a:t>第</a:t>
            </a:r>
            <a:fld id="{92B9EE40-6A22-4DEE-98EE-6C01CC0FCB71}" type="slidenum">
              <a:rPr kumimoji="0" lang="zh-CN" altLang="en-US" sz="1800" baseline="-25000" smtClean="0">
                <a:effectLst/>
                <a:latin typeface="微软雅黑" pitchFamily="34" charset="-122"/>
                <a:ea typeface="微软雅黑" pitchFamily="34" charset="-122"/>
              </a:rPr>
              <a:pPr algn="ctr" eaLnBrk="1" hangingPunct="1">
                <a:spcAft>
                  <a:spcPct val="0"/>
                </a:spcAft>
                <a:buSzTx/>
                <a:buFontTx/>
                <a:buNone/>
                <a:defRPr/>
              </a:pPr>
              <a:t>‹#›</a:t>
            </a:fld>
            <a:r>
              <a:rPr kumimoji="0" lang="zh-CN" altLang="en-US" sz="1800" baseline="-25000">
                <a:effectLst/>
                <a:latin typeface="微软雅黑" pitchFamily="34" charset="-122"/>
                <a:ea typeface="微软雅黑" pitchFamily="34" charset="-122"/>
              </a:rPr>
              <a:t>页</a:t>
            </a:r>
            <a:endParaRPr kumimoji="0" lang="en-US" altLang="zh-CN" sz="1800" baseline="-25000">
              <a:effectLst/>
              <a:latin typeface="微软雅黑" pitchFamily="34" charset="-122"/>
              <a:ea typeface="微软雅黑" pitchFamily="34" charset="-122"/>
            </a:endParaRPr>
          </a:p>
        </p:txBody>
      </p:sp>
      <p:sp>
        <p:nvSpPr>
          <p:cNvPr id="13" name="椭圆 12">
            <a:extLst>
              <a:ext uri="{FF2B5EF4-FFF2-40B4-BE49-F238E27FC236}">
                <a16:creationId xmlns:a16="http://schemas.microsoft.com/office/drawing/2014/main" id="{68654E0C-CF69-4821-BDEC-10A15526ACD4}"/>
              </a:ext>
            </a:extLst>
          </p:cNvPr>
          <p:cNvSpPr/>
          <p:nvPr userDrawn="1"/>
        </p:nvSpPr>
        <p:spPr>
          <a:xfrm rot="16200000">
            <a:off x="410427" y="294349"/>
            <a:ext cx="398347" cy="398346"/>
          </a:xfrm>
          <a:prstGeom prst="ellipse">
            <a:avLst/>
          </a:prstGeom>
          <a:noFill/>
          <a:ln w="25400" cap="flat" cmpd="sng" algn="ctr">
            <a:solidFill>
              <a:srgbClr val="FCF873">
                <a:alpha val="7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1DF97"/>
              </a:solidFill>
              <a:effectLst/>
              <a:uLnTx/>
              <a:uFillTx/>
              <a:latin typeface="Times New Roman"/>
              <a:ea typeface="微软雅黑"/>
              <a:cs typeface="+mn-cs"/>
            </a:endParaRPr>
          </a:p>
        </p:txBody>
      </p:sp>
      <p:cxnSp>
        <p:nvCxnSpPr>
          <p:cNvPr id="14" name="直接连接符 13">
            <a:extLst>
              <a:ext uri="{FF2B5EF4-FFF2-40B4-BE49-F238E27FC236}">
                <a16:creationId xmlns:a16="http://schemas.microsoft.com/office/drawing/2014/main" id="{1B6E77B3-A3DE-4BCD-8FE3-1BFAB10B12B4}"/>
              </a:ext>
            </a:extLst>
          </p:cNvPr>
          <p:cNvCxnSpPr/>
          <p:nvPr userDrawn="1"/>
        </p:nvCxnSpPr>
        <p:spPr>
          <a:xfrm>
            <a:off x="4703" y="496100"/>
            <a:ext cx="495705" cy="0"/>
          </a:xfrm>
          <a:prstGeom prst="line">
            <a:avLst/>
          </a:prstGeom>
          <a:noFill/>
          <a:ln w="9525" cap="flat" cmpd="sng" algn="ctr">
            <a:solidFill>
              <a:srgbClr val="FCF873">
                <a:alpha val="70000"/>
              </a:srgbClr>
            </a:solidFill>
            <a:prstDash val="solid"/>
          </a:ln>
          <a:effectLst/>
        </p:spPr>
      </p:cxnSp>
      <p:sp>
        <p:nvSpPr>
          <p:cNvPr id="15" name="椭圆 14">
            <a:extLst>
              <a:ext uri="{FF2B5EF4-FFF2-40B4-BE49-F238E27FC236}">
                <a16:creationId xmlns:a16="http://schemas.microsoft.com/office/drawing/2014/main" id="{554828A6-7528-434C-A3B9-63B27EB6A112}"/>
              </a:ext>
            </a:extLst>
          </p:cNvPr>
          <p:cNvSpPr>
            <a:spLocks noChangeAspect="1"/>
          </p:cNvSpPr>
          <p:nvPr userDrawn="1"/>
        </p:nvSpPr>
        <p:spPr>
          <a:xfrm rot="16200000">
            <a:off x="500408" y="385064"/>
            <a:ext cx="221871" cy="221871"/>
          </a:xfrm>
          <a:prstGeom prst="ellipse">
            <a:avLst/>
          </a:prstGeom>
          <a:gradFill>
            <a:gsLst>
              <a:gs pos="68000">
                <a:srgbClr val="C69135"/>
              </a:gs>
              <a:gs pos="31000">
                <a:srgbClr val="E6D38F"/>
              </a:gs>
              <a:gs pos="0">
                <a:srgbClr val="FCD860"/>
              </a:gs>
              <a:gs pos="100000">
                <a:srgbClr val="F1DF97"/>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1DF97"/>
              </a:solidFill>
              <a:effectLst/>
              <a:uLnTx/>
              <a:uFillTx/>
              <a:latin typeface="Times New Roman"/>
              <a:ea typeface="微软雅黑"/>
              <a:cs typeface="+mn-cs"/>
            </a:endParaRPr>
          </a:p>
        </p:txBody>
      </p:sp>
      <p:sp>
        <p:nvSpPr>
          <p:cNvPr id="11" name="Text Box 10">
            <a:extLst>
              <a:ext uri="{FF2B5EF4-FFF2-40B4-BE49-F238E27FC236}">
                <a16:creationId xmlns:a16="http://schemas.microsoft.com/office/drawing/2014/main" id="{38EDCC1A-FA29-4A1C-A9F0-A05F00263A36}"/>
              </a:ext>
            </a:extLst>
          </p:cNvPr>
          <p:cNvSpPr txBox="1">
            <a:spLocks noChangeArrowheads="1"/>
          </p:cNvSpPr>
          <p:nvPr userDrawn="1"/>
        </p:nvSpPr>
        <p:spPr bwMode="auto">
          <a:xfrm>
            <a:off x="10133744" y="59543"/>
            <a:ext cx="2058256" cy="184666"/>
          </a:xfrm>
          <a:prstGeom prst="rect">
            <a:avLst/>
          </a:prstGeom>
          <a:noFill/>
          <a:ln w="12700" cap="sq">
            <a:noFill/>
            <a:miter lim="800000"/>
            <a:headEnd/>
            <a:tailEnd/>
          </a:ln>
          <a:effectLst/>
        </p:spPr>
        <p:txBody>
          <a:bodyPr wrap="none" lIns="0" tIns="0" rIns="0" bIns="0">
            <a:spAutoFit/>
          </a:bodyPr>
          <a:lstStyle/>
          <a:p>
            <a:pPr algn="ctr" fontAlgn="auto">
              <a:spcBef>
                <a:spcPts val="0"/>
              </a:spcBef>
              <a:spcAft>
                <a:spcPts val="0"/>
              </a:spcAft>
              <a:buSzTx/>
              <a:buFontTx/>
              <a:buNone/>
              <a:defRPr/>
            </a:pPr>
            <a:r>
              <a:rPr kumimoji="0" lang="zh-CN" altLang="en-US" sz="1200" u="sng" dirty="0">
                <a:solidFill>
                  <a:srgbClr val="EEECE1"/>
                </a:solidFill>
                <a:effectLst>
                  <a:outerShdw blurRad="38100" dist="38100" dir="2700000" algn="tl">
                    <a:srgbClr val="000000"/>
                  </a:outerShdw>
                </a:effectLst>
                <a:latin typeface="华文楷体" panose="02010600040101010101" pitchFamily="2" charset="-122"/>
                <a:ea typeface="华文楷体" panose="02010600040101010101" pitchFamily="2" charset="-122"/>
              </a:rPr>
              <a:t>  四川农业大学   潘勇浩   </a:t>
            </a:r>
            <a:r>
              <a:rPr kumimoji="0" lang="en-US" altLang="zh-CN" sz="1200" u="sng" dirty="0">
                <a:solidFill>
                  <a:srgbClr val="EEECE1"/>
                </a:solidFill>
                <a:effectLst>
                  <a:outerShdw blurRad="38100" dist="38100" dir="2700000" algn="tl">
                    <a:srgbClr val="000000"/>
                  </a:outerShdw>
                </a:effectLst>
                <a:latin typeface="华文楷体" panose="02010600040101010101" pitchFamily="2" charset="-122"/>
                <a:ea typeface="华文楷体" panose="02010600040101010101" pitchFamily="2" charset="-122"/>
              </a:rPr>
              <a:t>2024  </a:t>
            </a:r>
            <a:endParaRPr kumimoji="0" lang="zh-CN" altLang="en-US" sz="1200" u="sng" dirty="0">
              <a:solidFill>
                <a:srgbClr val="EEECE1"/>
              </a:solidFill>
              <a:effectLst>
                <a:outerShdw blurRad="38100" dist="38100" dir="2700000" algn="tl">
                  <a:srgbClr val="000000"/>
                </a:outerShdw>
              </a:effectLst>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936942174"/>
      </p:ext>
    </p:extLst>
  </p:cSld>
  <p:clrMap bg1="dk2" tx1="lt1" bg2="dk1"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Lst>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xStyles>
    <p:titleStyle>
      <a:lvl1pPr algn="l" rtl="0" eaLnBrk="0" fontAlgn="base" hangingPunct="0">
        <a:spcBef>
          <a:spcPct val="0"/>
        </a:spcBef>
        <a:spcAft>
          <a:spcPct val="0"/>
        </a:spcAft>
        <a:defRPr lang="zh-CN" altLang="en-US" sz="4000" b="1" kern="1200" baseline="0" dirty="0">
          <a:solidFill>
            <a:srgbClr val="FF9900"/>
          </a:solidFill>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5"/>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3.tmp"/><Relationship Id="rId5" Type="http://schemas.openxmlformats.org/officeDocument/2006/relationships/tags" Target="../tags/tag20.xml"/><Relationship Id="rId10" Type="http://schemas.openxmlformats.org/officeDocument/2006/relationships/slideLayout" Target="../slideLayouts/slideLayout7.xml"/><Relationship Id="rId4" Type="http://schemas.openxmlformats.org/officeDocument/2006/relationships/tags" Target="../tags/tag19.xml"/><Relationship Id="rId9" Type="http://schemas.openxmlformats.org/officeDocument/2006/relationships/tags" Target="../tags/tag2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9.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0.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3.tmp"/><Relationship Id="rId5" Type="http://schemas.openxmlformats.org/officeDocument/2006/relationships/tags" Target="../tags/tag36.xml"/><Relationship Id="rId10" Type="http://schemas.openxmlformats.org/officeDocument/2006/relationships/slideLayout" Target="../slideLayouts/slideLayout7.xml"/><Relationship Id="rId4" Type="http://schemas.openxmlformats.org/officeDocument/2006/relationships/tags" Target="../tags/tag35.xml"/><Relationship Id="rId9" Type="http://schemas.openxmlformats.org/officeDocument/2006/relationships/tags" Target="../tags/tag40.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4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2.xml"/><Relationship Id="rId1" Type="http://schemas.openxmlformats.org/officeDocument/2006/relationships/tags" Target="../tags/tag4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2.xml"/><Relationship Id="rId1" Type="http://schemas.openxmlformats.org/officeDocument/2006/relationships/tags" Target="../tags/tag4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2.xml"/><Relationship Id="rId1" Type="http://schemas.openxmlformats.org/officeDocument/2006/relationships/tags" Target="../tags/tag45.xml"/><Relationship Id="rId5" Type="http://schemas.openxmlformats.org/officeDocument/2006/relationships/image" Target="../media/image16.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2.xml"/><Relationship Id="rId1" Type="http://schemas.openxmlformats.org/officeDocument/2006/relationships/tags" Target="../tags/tag46.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2.xml"/><Relationship Id="rId1" Type="http://schemas.openxmlformats.org/officeDocument/2006/relationships/tags" Target="../tags/tag47.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2.xml"/><Relationship Id="rId1" Type="http://schemas.openxmlformats.org/officeDocument/2006/relationships/tags" Target="../tags/tag48.xml"/><Relationship Id="rId5" Type="http://schemas.openxmlformats.org/officeDocument/2006/relationships/image" Target="../media/image21.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271464" y="3429000"/>
            <a:ext cx="9721080" cy="1475884"/>
          </a:xfrm>
        </p:spPr>
        <p:txBody>
          <a:bodyPr wrap="none" numCol="1" fromWordArt="1">
            <a:prstTxWarp prst="textPlain">
              <a:avLst>
                <a:gd name="adj" fmla="val 50000"/>
              </a:avLst>
            </a:prstTxWarp>
          </a:bodyPr>
          <a:lstStyle/>
          <a:p>
            <a:pPr algn="dist"/>
            <a:r>
              <a:rPr lang="zh-CN" altLang="en-US" sz="2800" kern="10" spc="300" baseline="-2500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隶书"/>
                <a:ea typeface="隶书"/>
              </a:rPr>
              <a:t>关系数据模型</a:t>
            </a:r>
            <a:endParaRPr lang="zh-CN" altLang="en-US" sz="2800" kern="10" spc="560" baseline="-2500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cs typeface="+mn-cs"/>
            </a:endParaRPr>
          </a:p>
        </p:txBody>
      </p:sp>
      <p:sp>
        <p:nvSpPr>
          <p:cNvPr id="7" name="WordArt 21"/>
          <p:cNvSpPr>
            <a:spLocks noChangeArrowheads="1" noChangeShapeType="1" noTextEdit="1"/>
          </p:cNvSpPr>
          <p:nvPr/>
        </p:nvSpPr>
        <p:spPr bwMode="auto">
          <a:xfrm>
            <a:off x="4730842" y="1700808"/>
            <a:ext cx="2802324" cy="860280"/>
          </a:xfrm>
          <a:prstGeom prst="rect">
            <a:avLst/>
          </a:prstGeom>
        </p:spPr>
        <p:txBody>
          <a:bodyPr wrap="none" fromWordArt="1">
            <a:prstTxWarp prst="textPlain">
              <a:avLst>
                <a:gd name="adj" fmla="val 50000"/>
              </a:avLst>
            </a:prstTxWarp>
          </a:bodyPr>
          <a:lstStyle/>
          <a:p>
            <a:pPr marL="0" marR="0" lvl="0" indent="0" algn="dist"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10" cap="none" spc="0" normalizeH="0" baseline="0" noProof="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uLnTx/>
                <a:uFillTx/>
                <a:latin typeface="隶书"/>
                <a:ea typeface="隶书"/>
              </a:rPr>
              <a:t>第</a:t>
            </a:r>
            <a:r>
              <a:rPr kumimoji="0" lang="en-US" altLang="zh-CN" sz="2800" b="0" i="0" u="none" strike="noStrike" kern="10" cap="none" spc="0" normalizeH="0" baseline="0" noProof="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uLnTx/>
                <a:uFillTx/>
                <a:latin typeface="隶书"/>
                <a:ea typeface="隶书"/>
              </a:rPr>
              <a:t>3</a:t>
            </a:r>
            <a:r>
              <a:rPr kumimoji="0" lang="zh-CN" altLang="en-US" sz="2800" b="0" i="0" u="none" strike="noStrike" kern="10" cap="none" spc="0" normalizeH="0" baseline="0" noProof="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uLnTx/>
                <a:uFillTx/>
                <a:latin typeface="隶书"/>
                <a:ea typeface="隶书"/>
              </a:rPr>
              <a:t>章</a:t>
            </a:r>
          </a:p>
        </p:txBody>
      </p:sp>
    </p:spTree>
    <p:extLst>
      <p:ext uri="{BB962C8B-B14F-4D97-AF65-F5344CB8AC3E}">
        <p14:creationId xmlns:p14="http://schemas.microsoft.com/office/powerpoint/2010/main" val="7652553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95600" y="1124744"/>
            <a:ext cx="9316616" cy="4054475"/>
          </a:xfrm>
        </p:spPr>
        <p:txBody>
          <a:bodyPr/>
          <a:lstStyle/>
          <a:p>
            <a:r>
              <a:rPr lang="en-US" altLang="zh-CN" dirty="0"/>
              <a:t>3.1 </a:t>
            </a:r>
            <a:r>
              <a:rPr lang="zh-CN" altLang="en-US" dirty="0"/>
              <a:t>关系模型</a:t>
            </a:r>
            <a:r>
              <a:rPr lang="zh-CN" altLang="en-US" dirty="0" smtClean="0"/>
              <a:t>概述</a:t>
            </a:r>
            <a:endParaRPr lang="en-US" altLang="zh-CN" dirty="0" smtClean="0"/>
          </a:p>
          <a:p>
            <a:r>
              <a:rPr lang="en-US" altLang="zh-CN" dirty="0" smtClean="0"/>
              <a:t>3.2 </a:t>
            </a:r>
            <a:r>
              <a:rPr lang="zh-CN" altLang="en-US" dirty="0"/>
              <a:t>关系的键与关系的完整性</a:t>
            </a:r>
          </a:p>
          <a:p>
            <a:r>
              <a:rPr lang="en-US" altLang="zh-CN" dirty="0"/>
              <a:t>3.3 </a:t>
            </a:r>
            <a:r>
              <a:rPr lang="zh-CN" altLang="en-US" dirty="0"/>
              <a:t>从</a:t>
            </a:r>
            <a:r>
              <a:rPr lang="en-US" altLang="zh-CN" dirty="0"/>
              <a:t>E-R</a:t>
            </a:r>
            <a:r>
              <a:rPr lang="zh-CN" altLang="en-US" dirty="0"/>
              <a:t>模型到关系模型</a:t>
            </a:r>
          </a:p>
          <a:p>
            <a:r>
              <a:rPr lang="en-US" altLang="zh-CN" dirty="0"/>
              <a:t>3.4 </a:t>
            </a:r>
            <a:r>
              <a:rPr lang="zh-CN" altLang="en-US" dirty="0"/>
              <a:t>关系代数</a:t>
            </a:r>
          </a:p>
          <a:p>
            <a:r>
              <a:rPr lang="en-US" altLang="zh-CN" dirty="0"/>
              <a:t>3.5 </a:t>
            </a:r>
            <a:r>
              <a:rPr lang="zh-CN" altLang="en-US" dirty="0"/>
              <a:t>关系代数表达式的优化</a:t>
            </a:r>
          </a:p>
          <a:p>
            <a:r>
              <a:rPr lang="en-US" altLang="zh-CN" dirty="0"/>
              <a:t>3.6 </a:t>
            </a:r>
            <a:r>
              <a:rPr lang="zh-CN" altLang="en-US" dirty="0"/>
              <a:t>小结</a:t>
            </a:r>
          </a:p>
          <a:p>
            <a:endParaRPr lang="zh-CN" altLang="en-US" dirty="0"/>
          </a:p>
        </p:txBody>
      </p:sp>
    </p:spTree>
    <p:extLst>
      <p:ext uri="{BB962C8B-B14F-4D97-AF65-F5344CB8AC3E}">
        <p14:creationId xmlns:p14="http://schemas.microsoft.com/office/powerpoint/2010/main" val="367937044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72" name="Rectangle 3"/>
          <p:cNvSpPr txBox="1">
            <a:spLocks noChangeArrowheads="1"/>
          </p:cNvSpPr>
          <p:nvPr/>
        </p:nvSpPr>
        <p:spPr bwMode="auto">
          <a:xfrm>
            <a:off x="467544" y="1196305"/>
            <a:ext cx="11173072" cy="4752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l" defTabSz="914400" rtl="0" eaLnBrk="1" fontAlgn="base" latinLnBrk="0" hangingPunct="1">
              <a:lnSpc>
                <a:spcPct val="100000"/>
              </a:lnSpc>
              <a:spcBef>
                <a:spcPct val="0"/>
              </a:spcBef>
              <a:spcAft>
                <a:spcPct val="25000"/>
              </a:spcAft>
              <a:buClr>
                <a:srgbClr val="66FF33"/>
              </a:buClr>
              <a:buSzPct val="85000"/>
              <a:buFont typeface="Wingdings" pitchFamily="2" charset="2"/>
              <a:buNone/>
              <a:tabLst/>
              <a:defRPr/>
            </a:pPr>
            <a:r>
              <a:rPr kumimoji="1" lang="zh-CN" altLang="en-US" sz="4000" b="1" i="0" u="none" strike="noStrike" kern="0" cap="none" spc="0" normalizeH="0" baseline="0" noProof="0" dirty="0">
                <a:ln>
                  <a:noFill/>
                </a:ln>
                <a:solidFill>
                  <a:srgbClr val="FFC000"/>
                </a:solidFill>
                <a:effectLst>
                  <a:outerShdw blurRad="38100" dist="38100" dir="2700000" algn="tl">
                    <a:srgbClr val="000000"/>
                  </a:outerShdw>
                </a:effectLst>
                <a:uLnTx/>
                <a:uFillTx/>
                <a:latin typeface="微软雅黑" pitchFamily="34" charset="-122"/>
                <a:ea typeface="微软雅黑" pitchFamily="34" charset="-122"/>
                <a:cs typeface="+mn-cs"/>
              </a:rPr>
              <a:t>域</a:t>
            </a:r>
            <a:r>
              <a:rPr kumimoji="1" lang="zh-CN" altLang="en-US" sz="4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a typeface="微软雅黑" pitchFamily="34" charset="-122"/>
                <a:cs typeface="+mn-cs"/>
              </a:rPr>
              <a:t>(</a:t>
            </a:r>
            <a:r>
              <a:rPr kumimoji="1" lang="en-US" altLang="zh-CN" sz="4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a typeface="微软雅黑" pitchFamily="34" charset="-122"/>
                <a:cs typeface="+mn-cs"/>
              </a:rPr>
              <a:t>Domain)</a:t>
            </a:r>
            <a:r>
              <a:rPr kumimoji="1" lang="zh-CN" altLang="en-US" sz="4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a typeface="微软雅黑" pitchFamily="34" charset="-122"/>
                <a:cs typeface="+mn-cs"/>
              </a:rPr>
              <a:t>是一组具有相同数据类型的值的集合。</a:t>
            </a:r>
            <a:endParaRPr kumimoji="1" lang="en-US" altLang="zh-CN" sz="4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a typeface="微软雅黑" pitchFamily="34" charset="-122"/>
              <a:cs typeface="+mn-cs"/>
            </a:endParaRPr>
          </a:p>
          <a:p>
            <a:pPr marL="0" marR="0" lvl="0" indent="0" algn="l" defTabSz="914400" rtl="0" eaLnBrk="1" fontAlgn="base" latinLnBrk="0" hangingPunct="1">
              <a:lnSpc>
                <a:spcPct val="100000"/>
              </a:lnSpc>
              <a:spcBef>
                <a:spcPts val="1200"/>
              </a:spcBef>
              <a:spcAft>
                <a:spcPct val="25000"/>
              </a:spcAft>
              <a:buClr>
                <a:srgbClr val="66FF33"/>
              </a:buClr>
              <a:buSzPct val="85000"/>
              <a:buFont typeface="Wingdings" pitchFamily="2" charset="2"/>
              <a:buNone/>
              <a:tabLst/>
              <a:defRPr/>
            </a:pPr>
            <a:r>
              <a:rPr kumimoji="1" lang="zh-CN" altLang="en-US" sz="4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a typeface="微软雅黑" pitchFamily="34" charset="-122"/>
                <a:cs typeface="+mn-cs"/>
              </a:rPr>
              <a:t>域中所包含的值的个数称为域的</a:t>
            </a:r>
            <a:r>
              <a:rPr kumimoji="1" lang="zh-CN" altLang="en-US" sz="4000" b="1" i="0" u="none" strike="noStrike" kern="0" cap="none" spc="0" normalizeH="0" baseline="0" noProof="0" dirty="0">
                <a:ln>
                  <a:noFill/>
                </a:ln>
                <a:solidFill>
                  <a:srgbClr val="FFC000"/>
                </a:solidFill>
                <a:effectLst>
                  <a:outerShdw blurRad="38100" dist="38100" dir="2700000" algn="tl">
                    <a:srgbClr val="000000"/>
                  </a:outerShdw>
                </a:effectLst>
                <a:uLnTx/>
                <a:uFillTx/>
                <a:latin typeface="微软雅黑" pitchFamily="34" charset="-122"/>
                <a:ea typeface="微软雅黑" pitchFamily="34" charset="-122"/>
                <a:cs typeface="+mn-cs"/>
              </a:rPr>
              <a:t>基数</a:t>
            </a:r>
            <a:r>
              <a:rPr kumimoji="1" lang="zh-CN" altLang="en-US" sz="4000" b="0" i="0" u="none" strike="noStrike" kern="0" cap="none" spc="0" normalizeH="0" baseline="0" noProof="0" dirty="0">
                <a:ln>
                  <a:noFill/>
                </a:ln>
                <a:solidFill>
                  <a:prstClr val="white"/>
                </a:solidFill>
                <a:effectLst>
                  <a:outerShdw blurRad="38100" dist="38100" dir="2700000" algn="tl">
                    <a:srgbClr val="000000"/>
                  </a:outerShdw>
                </a:effectLst>
                <a:uLnTx/>
                <a:uFillTx/>
                <a:latin typeface="微软雅黑" pitchFamily="34" charset="-122"/>
                <a:ea typeface="微软雅黑" pitchFamily="34" charset="-122"/>
                <a:cs typeface="+mn-cs"/>
              </a:rPr>
              <a:t>。</a:t>
            </a:r>
          </a:p>
        </p:txBody>
      </p:sp>
      <p:sp>
        <p:nvSpPr>
          <p:cNvPr id="73" name="Rectangle 3"/>
          <p:cNvSpPr txBox="1">
            <a:spLocks noChangeArrowheads="1"/>
          </p:cNvSpPr>
          <p:nvPr/>
        </p:nvSpPr>
        <p:spPr bwMode="auto">
          <a:xfrm>
            <a:off x="911423" y="3861048"/>
            <a:ext cx="10205969" cy="2088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ts val="1200"/>
              </a:spcBef>
              <a:spcAft>
                <a:spcPct val="25000"/>
              </a:spcAft>
              <a:buClr>
                <a:srgbClr val="66FF33"/>
              </a:buClr>
              <a:buSzPct val="85000"/>
              <a:buFont typeface="Wingdings" pitchFamily="2" charset="2"/>
              <a:buNone/>
              <a:tabLst>
                <a:tab pos="7265988" algn="l"/>
              </a:tabLst>
              <a:defRPr/>
            </a:pP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D1 = { '</a:t>
            </a:r>
            <a:r>
              <a:rPr kumimoji="1" lang="zh-CN" altLang="en-US"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男</a:t>
            </a: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 ,'</a:t>
            </a:r>
            <a:r>
              <a:rPr kumimoji="1" lang="zh-CN" altLang="en-US"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女</a:t>
            </a: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 }	</a:t>
            </a:r>
            <a:r>
              <a:rPr kumimoji="1" lang="zh-CN" altLang="en-US"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基数为</a:t>
            </a: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2</a:t>
            </a:r>
          </a:p>
          <a:p>
            <a:pPr marL="342900" marR="0" lvl="0" indent="-342900" algn="l" defTabSz="914400" rtl="0" eaLnBrk="1" fontAlgn="base" latinLnBrk="0" hangingPunct="1">
              <a:lnSpc>
                <a:spcPct val="100000"/>
              </a:lnSpc>
              <a:spcBef>
                <a:spcPts val="1200"/>
              </a:spcBef>
              <a:spcAft>
                <a:spcPct val="25000"/>
              </a:spcAft>
              <a:buClr>
                <a:srgbClr val="66FF33"/>
              </a:buClr>
              <a:buSzPct val="85000"/>
              <a:buFont typeface="Wingdings" pitchFamily="2" charset="2"/>
              <a:buNone/>
              <a:tabLst>
                <a:tab pos="7265988" algn="l"/>
              </a:tabLst>
              <a:defRPr/>
            </a:pP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D2 = { x | 0≤x≤150 }	</a:t>
            </a:r>
            <a:r>
              <a:rPr kumimoji="1" lang="zh-CN" altLang="en-US"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基数为</a:t>
            </a: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151</a:t>
            </a:r>
          </a:p>
          <a:p>
            <a:pPr marL="342900" marR="0" lvl="0" indent="-342900" algn="l" defTabSz="914400" rtl="0" eaLnBrk="1" fontAlgn="base" latinLnBrk="0" hangingPunct="1">
              <a:lnSpc>
                <a:spcPct val="100000"/>
              </a:lnSpc>
              <a:spcBef>
                <a:spcPts val="1200"/>
              </a:spcBef>
              <a:spcAft>
                <a:spcPct val="25000"/>
              </a:spcAft>
              <a:buClr>
                <a:srgbClr val="66FF33"/>
              </a:buClr>
              <a:buSzPct val="85000"/>
              <a:buFont typeface="Wingdings" pitchFamily="2" charset="2"/>
              <a:buNone/>
              <a:tabLst>
                <a:tab pos="7265988" algn="l"/>
              </a:tabLst>
              <a:defRPr/>
            </a:pP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D3 = { &lt;</a:t>
            </a:r>
            <a:r>
              <a:rPr kumimoji="1" lang="en-US" altLang="zh-CN" sz="3600" b="0" i="0" u="none" strike="noStrike" kern="0" cap="none" spc="0" normalizeH="0" baseline="0" noProof="0" dirty="0" err="1">
                <a:ln>
                  <a:noFill/>
                </a:ln>
                <a:solidFill>
                  <a:srgbClr val="00FF00"/>
                </a:solidFill>
                <a:effectLst/>
                <a:uLnTx/>
                <a:uFillTx/>
                <a:latin typeface="微软雅黑" pitchFamily="34" charset="-122"/>
                <a:ea typeface="微软雅黑" pitchFamily="34" charset="-122"/>
                <a:cs typeface="+mn-cs"/>
              </a:rPr>
              <a:t>a</a:t>
            </a:r>
            <a:r>
              <a:rPr kumimoji="1" lang="en-US" altLang="zh-CN" sz="4000" b="0" i="0" u="none" strike="noStrike" kern="0" cap="none" spc="0" normalizeH="0" baseline="-25000" noProof="0" dirty="0" err="1">
                <a:ln>
                  <a:noFill/>
                </a:ln>
                <a:solidFill>
                  <a:srgbClr val="00FF00"/>
                </a:solidFill>
                <a:effectLst/>
                <a:uLnTx/>
                <a:uFillTx/>
                <a:latin typeface="微软雅黑" pitchFamily="34" charset="-122"/>
                <a:ea typeface="微软雅黑" pitchFamily="34" charset="-122"/>
                <a:cs typeface="+mn-cs"/>
              </a:rPr>
              <a:t>i</a:t>
            </a:r>
            <a:r>
              <a:rPr kumimoji="1" lang="en-US" altLang="zh-CN" sz="3600" b="0" i="0" u="none" strike="noStrike" kern="0" cap="none" spc="0" normalizeH="0" baseline="0" noProof="0" dirty="0" err="1">
                <a:ln>
                  <a:noFill/>
                </a:ln>
                <a:solidFill>
                  <a:srgbClr val="00FF00"/>
                </a:solidFill>
                <a:effectLst/>
                <a:uLnTx/>
                <a:uFillTx/>
                <a:latin typeface="微软雅黑" pitchFamily="34" charset="-122"/>
                <a:ea typeface="微软雅黑" pitchFamily="34" charset="-122"/>
                <a:cs typeface="+mn-cs"/>
              </a:rPr>
              <a:t>,a</a:t>
            </a:r>
            <a:r>
              <a:rPr kumimoji="1" lang="en-US" altLang="zh-CN" sz="4000" b="0" i="0" u="none" strike="noStrike" kern="0" cap="none" spc="0" normalizeH="0" baseline="-25000" noProof="0" dirty="0" err="1">
                <a:ln>
                  <a:noFill/>
                </a:ln>
                <a:solidFill>
                  <a:srgbClr val="00FF00"/>
                </a:solidFill>
                <a:effectLst/>
                <a:uLnTx/>
                <a:uFillTx/>
                <a:latin typeface="微软雅黑" pitchFamily="34" charset="-122"/>
                <a:ea typeface="微软雅黑" pitchFamily="34" charset="-122"/>
                <a:cs typeface="+mn-cs"/>
              </a:rPr>
              <a:t>j</a:t>
            </a: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&gt;| </a:t>
            </a:r>
            <a:r>
              <a:rPr kumimoji="1" lang="en-US" altLang="zh-CN" sz="3600" b="0" i="0" u="none" strike="noStrike" kern="0" cap="none" spc="0" normalizeH="0" baseline="0" noProof="0" dirty="0" err="1">
                <a:ln>
                  <a:noFill/>
                </a:ln>
                <a:solidFill>
                  <a:srgbClr val="00FF00"/>
                </a:solidFill>
                <a:effectLst/>
                <a:uLnTx/>
                <a:uFillTx/>
                <a:latin typeface="微软雅黑" pitchFamily="34" charset="-122"/>
                <a:ea typeface="微软雅黑" pitchFamily="34" charset="-122"/>
                <a:cs typeface="+mn-cs"/>
              </a:rPr>
              <a:t>i,j</a:t>
            </a:r>
            <a:r>
              <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=1,2,3…… }	</a:t>
            </a:r>
            <a:r>
              <a:rPr kumimoji="1" lang="zh-CN" altLang="en-US"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rPr>
              <a:t>基数为无穷</a:t>
            </a:r>
            <a:endParaRPr kumimoji="1" lang="en-US" altLang="zh-CN" sz="3600" b="0" i="0" u="none" strike="noStrike" kern="0" cap="none" spc="0" normalizeH="0" baseline="0" noProof="0" dirty="0">
              <a:ln>
                <a:noFill/>
              </a:ln>
              <a:solidFill>
                <a:srgbClr val="00FF00"/>
              </a:solidFill>
              <a:effectLst/>
              <a:uLnTx/>
              <a:uFillTx/>
              <a:latin typeface="微软雅黑" pitchFamily="34" charset="-122"/>
              <a:ea typeface="微软雅黑" pitchFamily="34" charset="-122"/>
              <a:cs typeface="+mn-cs"/>
            </a:endParaRPr>
          </a:p>
        </p:txBody>
      </p:sp>
    </p:spTree>
    <p:extLst>
      <p:ext uri="{BB962C8B-B14F-4D97-AF65-F5344CB8AC3E}">
        <p14:creationId xmlns:p14="http://schemas.microsoft.com/office/powerpoint/2010/main" val="1025437834"/>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5" name="Rectangle 3"/>
          <p:cNvSpPr txBox="1">
            <a:spLocks noChangeArrowheads="1"/>
          </p:cNvSpPr>
          <p:nvPr/>
        </p:nvSpPr>
        <p:spPr bwMode="auto">
          <a:xfrm>
            <a:off x="487362" y="1119936"/>
            <a:ext cx="10937230" cy="23762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l" defTabSz="914400" rtl="0" eaLnBrk="1" fontAlgn="base" latinLnBrk="0" hangingPunct="1">
              <a:lnSpc>
                <a:spcPct val="100000"/>
              </a:lnSpc>
              <a:spcBef>
                <a:spcPct val="120000"/>
              </a:spcBef>
              <a:spcAft>
                <a:spcPct val="25000"/>
              </a:spcAft>
              <a:buClr>
                <a:srgbClr val="66FF33"/>
              </a:buClr>
              <a:buSzPct val="85000"/>
              <a:buNone/>
              <a:tabLst/>
              <a:defRPr/>
            </a:pP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itchFamily="34" charset="-122"/>
                <a:ea typeface="微软雅黑" pitchFamily="34" charset="-122"/>
                <a:cs typeface="+mn-cs"/>
              </a:rPr>
              <a:t>一组域</a:t>
            </a:r>
            <a:r>
              <a:rPr kumimoji="1" lang="en-US" altLang="zh-CN"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itchFamily="34" charset="-122"/>
                <a:ea typeface="微软雅黑" pitchFamily="34" charset="-122"/>
                <a:cs typeface="+mn-cs"/>
              </a:rPr>
              <a:t>D1,D2,…,</a:t>
            </a:r>
            <a:r>
              <a:rPr kumimoji="1" lang="en-US" altLang="zh-CN" sz="3600" b="0" i="0" u="none" strike="noStrike" kern="0" cap="none" spc="0" normalizeH="0" baseline="0" noProof="0" dirty="0" err="1">
                <a:ln>
                  <a:noFill/>
                </a:ln>
                <a:solidFill>
                  <a:srgbClr val="FFFFFF"/>
                </a:solidFill>
                <a:effectLst>
                  <a:outerShdw blurRad="38100" dist="38100" dir="2700000" algn="tl">
                    <a:srgbClr val="000000"/>
                  </a:outerShdw>
                </a:effectLst>
                <a:uLnTx/>
                <a:uFillTx/>
                <a:latin typeface="微软雅黑" pitchFamily="34" charset="-122"/>
                <a:ea typeface="微软雅黑" pitchFamily="34" charset="-122"/>
                <a:cs typeface="+mn-cs"/>
              </a:rPr>
              <a:t>Dn</a:t>
            </a: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itchFamily="34" charset="-122"/>
                <a:ea typeface="微软雅黑" pitchFamily="34" charset="-122"/>
                <a:cs typeface="+mn-cs"/>
              </a:rPr>
              <a:t>（域可以有相同的）的</a:t>
            </a:r>
            <a:r>
              <a:rPr kumimoji="1" lang="zh-CN" altLang="en-US" sz="3600" b="1" i="0" u="none" strike="noStrike" kern="0" cap="none" spc="0" normalizeH="0" baseline="0" noProof="0" dirty="0">
                <a:ln>
                  <a:noFill/>
                </a:ln>
                <a:solidFill>
                  <a:srgbClr val="FFC000"/>
                </a:solidFill>
                <a:effectLst>
                  <a:outerShdw blurRad="38100" dist="38100" dir="2700000" algn="tl">
                    <a:srgbClr val="000000"/>
                  </a:outerShdw>
                </a:effectLst>
                <a:uLnTx/>
                <a:uFillTx/>
                <a:latin typeface="微软雅黑" pitchFamily="34" charset="-122"/>
                <a:ea typeface="微软雅黑" pitchFamily="34" charset="-122"/>
                <a:cs typeface="+mn-cs"/>
              </a:rPr>
              <a:t>笛卡尔积</a:t>
            </a:r>
            <a:r>
              <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cs typeface="+mn-cs"/>
              </a:rPr>
              <a:t>(Cartesian Product)</a:t>
            </a: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itchFamily="34" charset="-122"/>
                <a:ea typeface="微软雅黑" pitchFamily="34" charset="-122"/>
                <a:cs typeface="+mn-cs"/>
              </a:rPr>
              <a:t>为</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cs typeface="+mn-cs"/>
              </a:rPr>
              <a:t>：</a:t>
            </a:r>
            <a:endParaRPr kumimoji="1" lang="zh-CN" altLang="en-US" sz="3600" b="0" i="0" u="none" strike="noStrike" kern="0" cap="none" spc="0" normalizeH="0" baseline="0" noProof="0" dirty="0">
              <a:ln>
                <a:noFill/>
              </a:ln>
              <a:solidFill>
                <a:srgbClr val="00FFFF"/>
              </a:solidFill>
              <a:effectLst>
                <a:outerShdw blurRad="38100" dist="38100" dir="2700000" algn="tl">
                  <a:srgbClr val="000000"/>
                </a:outerShdw>
              </a:effectLst>
              <a:uLnTx/>
              <a:uFillTx/>
              <a:latin typeface="微软雅黑" pitchFamily="34" charset="-122"/>
              <a:ea typeface="微软雅黑" pitchFamily="34" charset="-122"/>
              <a:cs typeface="+mn-cs"/>
            </a:endParaRPr>
          </a:p>
        </p:txBody>
      </p:sp>
      <p:sp>
        <p:nvSpPr>
          <p:cNvPr id="6" name="Rectangle 3"/>
          <p:cNvSpPr txBox="1">
            <a:spLocks noChangeArrowheads="1"/>
          </p:cNvSpPr>
          <p:nvPr/>
        </p:nvSpPr>
        <p:spPr bwMode="auto">
          <a:xfrm>
            <a:off x="487362" y="3496200"/>
            <a:ext cx="10937230" cy="11881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l" defTabSz="914400" rtl="0" eaLnBrk="1" fontAlgn="base" latinLnBrk="0" hangingPunct="1">
              <a:lnSpc>
                <a:spcPct val="100000"/>
              </a:lnSpc>
              <a:spcBef>
                <a:spcPct val="0"/>
              </a:spcBef>
              <a:spcAft>
                <a:spcPts val="3000"/>
              </a:spcAft>
              <a:buClr>
                <a:srgbClr val="66FF33"/>
              </a:buClr>
              <a:buSzPct val="85000"/>
              <a:buFont typeface="Wingdings" pitchFamily="2" charset="2"/>
              <a:buNone/>
              <a:tabLst/>
              <a:defRPr/>
            </a:pP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rPr>
              <a:t>其中每一个元素（</a:t>
            </a:r>
            <a:r>
              <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rPr>
              <a:t>d1,d2,…,</a:t>
            </a:r>
            <a:r>
              <a:rPr kumimoji="1" lang="en-US" altLang="zh-CN" sz="3600" b="0" i="0" u="none" strike="noStrike" kern="0" cap="none" spc="0" normalizeH="0" baseline="0" noProof="0" dirty="0" err="1">
                <a:ln>
                  <a:noFill/>
                </a:ln>
                <a:solidFill>
                  <a:srgbClr val="CCFFCC"/>
                </a:solidFill>
                <a:effectLst>
                  <a:outerShdw blurRad="38100" dist="38100" dir="2700000" algn="tl">
                    <a:srgbClr val="000000"/>
                  </a:outerShdw>
                </a:effectLst>
                <a:uLnTx/>
                <a:uFillTx/>
              </a:rPr>
              <a:t>dn</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rPr>
              <a:t>）称为一个</a:t>
            </a:r>
            <a:r>
              <a:rPr kumimoji="1" lang="en-US" altLang="zh-CN" sz="3600" kern="0" baseline="0" dirty="0"/>
              <a:t>n</a:t>
            </a:r>
            <a:r>
              <a:rPr kumimoji="1" lang="zh-CN" altLang="en-US" sz="3600" kern="0" baseline="0" dirty="0"/>
              <a:t>元组</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rPr>
              <a:t>(</a:t>
            </a:r>
            <a:r>
              <a:rPr kumimoji="1" lang="en-US" altLang="zh-CN" sz="3600" b="0" i="1" u="none" strike="noStrike" kern="0" cap="none" spc="0" normalizeH="0" baseline="0" noProof="0" dirty="0">
                <a:ln>
                  <a:noFill/>
                </a:ln>
                <a:solidFill>
                  <a:srgbClr val="CCFFCC"/>
                </a:solidFill>
                <a:effectLst>
                  <a:outerShdw blurRad="38100" dist="38100" dir="2700000" algn="tl">
                    <a:srgbClr val="000000"/>
                  </a:outerShdw>
                </a:effectLst>
                <a:uLnTx/>
                <a:uFillTx/>
              </a:rPr>
              <a:t>n-tuple</a:t>
            </a:r>
            <a:r>
              <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rPr>
              <a:t>)，</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rPr>
              <a:t>简称</a:t>
            </a:r>
            <a:r>
              <a:rPr kumimoji="1" lang="zh-CN" altLang="en-US" sz="3600" b="1" kern="0" baseline="0" dirty="0">
                <a:solidFill>
                  <a:srgbClr val="FFC000"/>
                </a:solidFill>
              </a:rPr>
              <a:t>元组</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rPr>
              <a:t>(</a:t>
            </a:r>
            <a:r>
              <a:rPr kumimoji="1" lang="en-US" altLang="zh-CN" sz="3600" b="0" i="1" u="none" strike="noStrike" kern="0" cap="none" spc="0" normalizeH="0" baseline="0" noProof="0" dirty="0">
                <a:ln>
                  <a:noFill/>
                </a:ln>
                <a:solidFill>
                  <a:srgbClr val="CCFFCC"/>
                </a:solidFill>
                <a:effectLst>
                  <a:outerShdw blurRad="38100" dist="38100" dir="2700000" algn="tl">
                    <a:srgbClr val="000000"/>
                  </a:outerShdw>
                </a:effectLst>
                <a:uLnTx/>
                <a:uFillTx/>
              </a:rPr>
              <a:t>Tuple</a:t>
            </a:r>
            <a:r>
              <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rPr>
              <a:t>)。</a:t>
            </a:r>
          </a:p>
          <a:p>
            <a:pPr marL="0" marR="0" lvl="0" indent="0" algn="l" defTabSz="914400" rtl="0" eaLnBrk="1" fontAlgn="base" latinLnBrk="0" hangingPunct="1">
              <a:lnSpc>
                <a:spcPct val="100000"/>
              </a:lnSpc>
              <a:spcBef>
                <a:spcPct val="0"/>
              </a:spcBef>
              <a:spcAft>
                <a:spcPts val="3000"/>
              </a:spcAft>
              <a:buClr>
                <a:srgbClr val="66FF33"/>
              </a:buClr>
              <a:buSzPct val="85000"/>
              <a:buFont typeface="Wingdings" pitchFamily="2" charset="2"/>
              <a:buNone/>
              <a:tabLst/>
              <a:defRPr/>
            </a:pPr>
            <a:r>
              <a:rPr kumimoji="1" lang="zh-CN" altLang="en-US" sz="3600" kern="0" baseline="0" noProof="0" dirty="0"/>
              <a:t>元组中每一个</a:t>
            </a:r>
            <a:r>
              <a:rPr kumimoji="1" lang="en-US" altLang="zh-CN" sz="3600" kern="0" baseline="0" noProof="0" dirty="0"/>
              <a:t>di</a:t>
            </a:r>
            <a:r>
              <a:rPr kumimoji="1" lang="zh-CN" altLang="en-US" sz="3600" kern="0" baseline="0" noProof="0" dirty="0"/>
              <a:t>称为元组</a:t>
            </a:r>
            <a:r>
              <a:rPr kumimoji="1" lang="zh-CN" altLang="en-US" sz="3600" b="1" kern="0" baseline="0" dirty="0">
                <a:solidFill>
                  <a:srgbClr val="FFC000"/>
                </a:solidFill>
              </a:rPr>
              <a:t>分量</a:t>
            </a:r>
            <a:endParaRPr kumimoji="1" lang="en-US" altLang="zh-CN" sz="3600" b="1" kern="0" baseline="0" dirty="0">
              <a:solidFill>
                <a:srgbClr val="FFC000"/>
              </a:solidFill>
            </a:endParaRPr>
          </a:p>
          <a:p>
            <a:pPr marL="0" marR="0" lvl="0" indent="0" algn="l" defTabSz="914400" rtl="0" eaLnBrk="1" fontAlgn="base" latinLnBrk="0" hangingPunct="1">
              <a:lnSpc>
                <a:spcPct val="100000"/>
              </a:lnSpc>
              <a:spcBef>
                <a:spcPct val="0"/>
              </a:spcBef>
              <a:spcAft>
                <a:spcPts val="3000"/>
              </a:spcAft>
              <a:buClr>
                <a:srgbClr val="66FF33"/>
              </a:buClr>
              <a:buSzPct val="85000"/>
              <a:buFont typeface="Wingdings" pitchFamily="2" charset="2"/>
              <a:buNone/>
              <a:tabLst/>
              <a:defRPr/>
            </a:pPr>
            <a:r>
              <a:rPr kumimoji="1" lang="zh-CN" altLang="en-US" sz="3600" kern="0" baseline="0" noProof="0" dirty="0"/>
              <a:t>若</a:t>
            </a:r>
            <a:r>
              <a:rPr kumimoji="1" lang="en-US" altLang="zh-CN" sz="3600" kern="0" baseline="0" noProof="0" dirty="0"/>
              <a:t>Di</a:t>
            </a:r>
            <a:r>
              <a:rPr kumimoji="1" lang="zh-CN" altLang="en-US" sz="3600" kern="0" baseline="0" noProof="0" dirty="0"/>
              <a:t>的基数为</a:t>
            </a:r>
            <a:r>
              <a:rPr kumimoji="1" lang="en-US" altLang="zh-CN" sz="3600" kern="0" baseline="0" dirty="0"/>
              <a:t>m</a:t>
            </a:r>
            <a:r>
              <a:rPr kumimoji="1" lang="en-US" altLang="zh-CN" sz="3600" kern="0" dirty="0"/>
              <a:t>i</a:t>
            </a:r>
            <a:r>
              <a:rPr kumimoji="1" lang="zh-CN" altLang="en-US" sz="3600" kern="0" baseline="0" dirty="0"/>
              <a:t>，则</a:t>
            </a:r>
            <a:r>
              <a:rPr kumimoji="1" lang="zh-CN" altLang="en-US" sz="3600" kern="0" baseline="0" noProof="0" dirty="0"/>
              <a:t>结果的基数为：</a:t>
            </a:r>
            <a:endPar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endParaRPr>
          </a:p>
          <a:p>
            <a:pPr marL="0" marR="0" lvl="0" indent="0" algn="l" defTabSz="914400" rtl="0" eaLnBrk="1" fontAlgn="base" latinLnBrk="0" hangingPunct="1">
              <a:lnSpc>
                <a:spcPct val="100000"/>
              </a:lnSpc>
              <a:spcBef>
                <a:spcPct val="0"/>
              </a:spcBef>
              <a:spcAft>
                <a:spcPts val="3000"/>
              </a:spcAft>
              <a:buClr>
                <a:srgbClr val="66FF33"/>
              </a:buClr>
              <a:buSzPct val="85000"/>
              <a:buFont typeface="Wingdings" pitchFamily="2" charset="2"/>
              <a:buNone/>
              <a:tabLst/>
              <a:defRPr/>
            </a:pPr>
            <a:endPar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endParaRPr>
          </a:p>
          <a:p>
            <a:pPr marL="342900" marR="0" lvl="0" indent="-342900" algn="l" defTabSz="914400" rtl="0" eaLnBrk="1" fontAlgn="base" latinLnBrk="0" hangingPunct="1">
              <a:lnSpc>
                <a:spcPct val="100000"/>
              </a:lnSpc>
              <a:spcBef>
                <a:spcPct val="0"/>
              </a:spcBef>
              <a:spcAft>
                <a:spcPts val="3000"/>
              </a:spcAft>
              <a:buClr>
                <a:srgbClr val="66FF33"/>
              </a:buClr>
              <a:buSzPct val="85000"/>
              <a:buFont typeface="Wingdings" pitchFamily="2" charset="2"/>
              <a:buNone/>
              <a:tabLst/>
              <a:defRPr/>
            </a:pPr>
            <a:endPar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endParaRPr>
          </a:p>
        </p:txBody>
      </p:sp>
      <p:sp>
        <p:nvSpPr>
          <p:cNvPr id="7" name="矩形 6"/>
          <p:cNvSpPr/>
          <p:nvPr/>
        </p:nvSpPr>
        <p:spPr>
          <a:xfrm>
            <a:off x="487362" y="2586936"/>
            <a:ext cx="11245080" cy="646331"/>
          </a:xfrm>
          <a:prstGeom prst="rect">
            <a:avLst/>
          </a:prstGeom>
        </p:spPr>
        <p:txBody>
          <a:bodyPr wrap="square">
            <a:spAutoFit/>
          </a:bodyPr>
          <a:lstStyle/>
          <a:p>
            <a:pPr marL="342900" lvl="0" indent="-342900" fontAlgn="base">
              <a:spcBef>
                <a:spcPct val="0"/>
              </a:spcBef>
              <a:spcAft>
                <a:spcPct val="25000"/>
              </a:spcAft>
              <a:buClr>
                <a:srgbClr val="66FF33"/>
              </a:buClr>
              <a:buSzPct val="85000"/>
              <a:defRPr/>
            </a:pPr>
            <a:r>
              <a:rPr kumimoji="1" lang="en-US" altLang="zh-CN" sz="3600" kern="0" baseline="0" dirty="0">
                <a:solidFill>
                  <a:srgbClr val="FFFF00"/>
                </a:solidFill>
                <a:effectLst>
                  <a:outerShdw blurRad="38100" dist="38100" dir="2700000" algn="tl">
                    <a:srgbClr val="000000"/>
                  </a:outerShdw>
                </a:effectLst>
                <a:latin typeface="Arial" charset="0"/>
                <a:ea typeface="楷体_GB2312"/>
              </a:rPr>
              <a:t>D1×D2×…×</a:t>
            </a:r>
            <a:r>
              <a:rPr kumimoji="1" lang="en-US" altLang="zh-CN" sz="3600" kern="0" baseline="0" dirty="0" err="1">
                <a:solidFill>
                  <a:srgbClr val="FFFF00"/>
                </a:solidFill>
                <a:effectLst>
                  <a:outerShdw blurRad="38100" dist="38100" dir="2700000" algn="tl">
                    <a:srgbClr val="000000"/>
                  </a:outerShdw>
                </a:effectLst>
                <a:latin typeface="Arial" charset="0"/>
                <a:ea typeface="楷体_GB2312"/>
              </a:rPr>
              <a:t>Dn</a:t>
            </a:r>
            <a:r>
              <a:rPr kumimoji="1" lang="en-US" altLang="zh-CN" sz="3600" kern="0" baseline="0" dirty="0">
                <a:solidFill>
                  <a:srgbClr val="FFFF00"/>
                </a:solidFill>
                <a:effectLst>
                  <a:outerShdw blurRad="38100" dist="38100" dir="2700000" algn="tl">
                    <a:srgbClr val="000000"/>
                  </a:outerShdw>
                </a:effectLst>
                <a:latin typeface="Arial" charset="0"/>
                <a:ea typeface="楷体_GB2312"/>
              </a:rPr>
              <a:t>={(d1,d2,…,</a:t>
            </a:r>
            <a:r>
              <a:rPr kumimoji="1" lang="en-US" altLang="zh-CN" sz="3600" kern="0" baseline="0" dirty="0" err="1">
                <a:solidFill>
                  <a:srgbClr val="FFFF00"/>
                </a:solidFill>
                <a:effectLst>
                  <a:outerShdw blurRad="38100" dist="38100" dir="2700000" algn="tl">
                    <a:srgbClr val="000000"/>
                  </a:outerShdw>
                </a:effectLst>
                <a:latin typeface="Arial" charset="0"/>
                <a:ea typeface="楷体_GB2312"/>
              </a:rPr>
              <a:t>dn</a:t>
            </a:r>
            <a:r>
              <a:rPr kumimoji="1" lang="en-US" altLang="zh-CN" sz="3600" kern="0" baseline="0" dirty="0">
                <a:solidFill>
                  <a:srgbClr val="FFFF00"/>
                </a:solidFill>
                <a:effectLst>
                  <a:outerShdw blurRad="38100" dist="38100" dir="2700000" algn="tl">
                    <a:srgbClr val="000000"/>
                  </a:outerShdw>
                </a:effectLst>
                <a:latin typeface="Arial" charset="0"/>
                <a:ea typeface="楷体_GB2312"/>
              </a:rPr>
              <a:t>)|</a:t>
            </a:r>
            <a:r>
              <a:rPr kumimoji="1" lang="en-US" altLang="zh-CN" sz="3600" kern="0" baseline="0" dirty="0" err="1">
                <a:solidFill>
                  <a:srgbClr val="FFFF00"/>
                </a:solidFill>
                <a:effectLst>
                  <a:outerShdw blurRad="38100" dist="38100" dir="2700000" algn="tl">
                    <a:srgbClr val="000000"/>
                  </a:outerShdw>
                </a:effectLst>
                <a:latin typeface="Arial" charset="0"/>
                <a:ea typeface="楷体_GB2312"/>
              </a:rPr>
              <a:t>di∈Di,i</a:t>
            </a:r>
            <a:r>
              <a:rPr kumimoji="1" lang="en-US" altLang="zh-CN" sz="3600" kern="0" baseline="0" dirty="0">
                <a:solidFill>
                  <a:srgbClr val="FFFF00"/>
                </a:solidFill>
                <a:effectLst>
                  <a:outerShdw blurRad="38100" dist="38100" dir="2700000" algn="tl">
                    <a:srgbClr val="000000"/>
                  </a:outerShdw>
                </a:effectLst>
                <a:latin typeface="Arial" charset="0"/>
                <a:ea typeface="楷体_GB2312"/>
              </a:rPr>
              <a:t>=1,2,…,n}</a:t>
            </a:r>
          </a:p>
        </p:txBody>
      </p:sp>
      <p:graphicFrame>
        <p:nvGraphicFramePr>
          <p:cNvPr id="8" name="对象 7"/>
          <p:cNvGraphicFramePr>
            <a:graphicFrameLocks noChangeAspect="1"/>
          </p:cNvGraphicFramePr>
          <p:nvPr>
            <p:extLst>
              <p:ext uri="{D42A27DB-BD31-4B8C-83A1-F6EECF244321}">
                <p14:modId xmlns:p14="http://schemas.microsoft.com/office/powerpoint/2010/main" val="1010367069"/>
              </p:ext>
            </p:extLst>
          </p:nvPr>
        </p:nvGraphicFramePr>
        <p:xfrm>
          <a:off x="8112224" y="4947265"/>
          <a:ext cx="1656184" cy="1816461"/>
        </p:xfrm>
        <a:graphic>
          <a:graphicData uri="http://schemas.openxmlformats.org/presentationml/2006/ole">
            <mc:AlternateContent xmlns:mc="http://schemas.openxmlformats.org/markup-compatibility/2006">
              <mc:Choice xmlns:v="urn:schemas-microsoft-com:vml" Requires="v">
                <p:oleObj spid="_x0000_s1050" name="Equation" r:id="rId4" imgW="393480" imgH="431640" progId="Equation.DSMT4">
                  <p:embed/>
                </p:oleObj>
              </mc:Choice>
              <mc:Fallback>
                <p:oleObj name="Equation" r:id="rId4" imgW="393480" imgH="431640" progId="Equation.DSMT4">
                  <p:embed/>
                  <p:pic>
                    <p:nvPicPr>
                      <p:cNvPr id="11" name="对象 10"/>
                      <p:cNvPicPr/>
                      <p:nvPr/>
                    </p:nvPicPr>
                    <p:blipFill>
                      <a:blip r:embed="rId5"/>
                      <a:stretch>
                        <a:fillRect/>
                      </a:stretch>
                    </p:blipFill>
                    <p:spPr>
                      <a:xfrm>
                        <a:off x="8112224" y="4947265"/>
                        <a:ext cx="1656184" cy="1816461"/>
                      </a:xfrm>
                      <a:prstGeom prst="rect">
                        <a:avLst/>
                      </a:prstGeom>
                    </p:spPr>
                  </p:pic>
                </p:oleObj>
              </mc:Fallback>
            </mc:AlternateContent>
          </a:graphicData>
        </a:graphic>
      </p:graphicFrame>
    </p:spTree>
    <p:extLst>
      <p:ext uri="{BB962C8B-B14F-4D97-AF65-F5344CB8AC3E}">
        <p14:creationId xmlns:p14="http://schemas.microsoft.com/office/powerpoint/2010/main" val="382094840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2" name="Text Box 4"/>
          <p:cNvSpPr txBox="1">
            <a:spLocks noChangeArrowheads="1"/>
          </p:cNvSpPr>
          <p:nvPr/>
        </p:nvSpPr>
        <p:spPr bwMode="auto">
          <a:xfrm>
            <a:off x="1343472" y="4012029"/>
            <a:ext cx="8617744" cy="2585323"/>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zh-CN" altLang="en-US" sz="2800" baseline="0" dirty="0">
                <a:solidFill>
                  <a:srgbClr val="CCFFCC"/>
                </a:solidFill>
                <a:effectLst>
                  <a:outerShdw blurRad="38100" dist="38100" dir="2700000" algn="tl">
                    <a:srgbClr val="000000"/>
                  </a:outerShdw>
                </a:effectLst>
                <a:latin typeface="宋体" panose="02010600030101010101" pitchFamily="2" charset="-122"/>
              </a:rPr>
              <a:t>(张三,计算机,数据结构),  (张三,计算机,肉品加工),</a:t>
            </a:r>
          </a:p>
          <a:p>
            <a:pPr fontAlgn="auto">
              <a:spcBef>
                <a:spcPts val="0"/>
              </a:spcBef>
              <a:defRPr/>
            </a:pPr>
            <a:r>
              <a:rPr lang="zh-CN" altLang="en-US" sz="2800" baseline="0" dirty="0">
                <a:solidFill>
                  <a:srgbClr val="CCFFCC"/>
                </a:solidFill>
                <a:effectLst>
                  <a:outerShdw blurRad="38100" dist="38100" dir="2700000" algn="tl">
                    <a:srgbClr val="000000"/>
                  </a:outerShdw>
                </a:effectLst>
                <a:latin typeface="宋体" panose="02010600030101010101" pitchFamily="2" charset="-122"/>
              </a:rPr>
              <a:t>(张三,食品,数据结构),  (张三,食品,肉品加工),</a:t>
            </a:r>
          </a:p>
          <a:p>
            <a:pPr fontAlgn="auto">
              <a:spcBef>
                <a:spcPts val="0"/>
              </a:spcBef>
              <a:defRPr/>
            </a:pPr>
            <a:r>
              <a:rPr lang="zh-CN" altLang="en-US" sz="2800" baseline="0" dirty="0">
                <a:solidFill>
                  <a:srgbClr val="CCFFCC"/>
                </a:solidFill>
                <a:effectLst>
                  <a:outerShdw blurRad="38100" dist="38100" dir="2700000" algn="tl">
                    <a:srgbClr val="000000"/>
                  </a:outerShdw>
                </a:effectLst>
                <a:latin typeface="宋体" panose="02010600030101010101" pitchFamily="2" charset="-122"/>
              </a:rPr>
              <a:t>(李四,计算机,数据结构),  (李四,计算机,肉品加工),</a:t>
            </a:r>
          </a:p>
          <a:p>
            <a:pPr fontAlgn="auto">
              <a:spcBef>
                <a:spcPts val="0"/>
              </a:spcBef>
              <a:defRPr/>
            </a:pPr>
            <a:r>
              <a:rPr lang="zh-CN" altLang="en-US" sz="2800" baseline="0" dirty="0">
                <a:solidFill>
                  <a:srgbClr val="CCFFCC"/>
                </a:solidFill>
                <a:effectLst>
                  <a:outerShdw blurRad="38100" dist="38100" dir="2700000" algn="tl">
                    <a:srgbClr val="000000"/>
                  </a:outerShdw>
                </a:effectLst>
                <a:latin typeface="宋体" panose="02010600030101010101" pitchFamily="2" charset="-122"/>
              </a:rPr>
              <a:t>(李四,食品,数据结构),  (李四,食品,肉品加工),</a:t>
            </a:r>
          </a:p>
          <a:p>
            <a:pPr fontAlgn="auto">
              <a:spcBef>
                <a:spcPts val="0"/>
              </a:spcBef>
              <a:defRPr/>
            </a:pPr>
            <a:r>
              <a:rPr lang="zh-CN" altLang="en-US" sz="2800" baseline="0" dirty="0">
                <a:solidFill>
                  <a:srgbClr val="CCFFCC"/>
                </a:solidFill>
                <a:effectLst>
                  <a:outerShdw blurRad="38100" dist="38100" dir="2700000" algn="tl">
                    <a:srgbClr val="000000"/>
                  </a:outerShdw>
                </a:effectLst>
                <a:latin typeface="宋体" panose="02010600030101010101" pitchFamily="2" charset="-122"/>
              </a:rPr>
              <a:t>(王五,计算机,数据结构),  (王五,计算机,肉品加工),</a:t>
            </a:r>
          </a:p>
          <a:p>
            <a:pPr fontAlgn="auto">
              <a:spcBef>
                <a:spcPts val="0"/>
              </a:spcBef>
              <a:defRPr/>
            </a:pPr>
            <a:r>
              <a:rPr lang="zh-CN" altLang="en-US" sz="2800" baseline="0" dirty="0">
                <a:solidFill>
                  <a:srgbClr val="CCFFCC"/>
                </a:solidFill>
                <a:effectLst>
                  <a:outerShdw blurRad="38100" dist="38100" dir="2700000" algn="tl">
                    <a:srgbClr val="000000"/>
                  </a:outerShdw>
                </a:effectLst>
                <a:latin typeface="宋体" panose="02010600030101010101" pitchFamily="2" charset="-122"/>
              </a:rPr>
              <a:t>(王五,食品,数据结构),  (王五,食品,肉品加工)</a:t>
            </a:r>
          </a:p>
        </p:txBody>
      </p:sp>
      <p:sp>
        <p:nvSpPr>
          <p:cNvPr id="13" name="AutoShape 5"/>
          <p:cNvSpPr>
            <a:spLocks noChangeArrowheads="1"/>
          </p:cNvSpPr>
          <p:nvPr/>
        </p:nvSpPr>
        <p:spPr bwMode="auto">
          <a:xfrm>
            <a:off x="911424" y="4082323"/>
            <a:ext cx="9361040" cy="2444736"/>
          </a:xfrm>
          <a:prstGeom prst="bracePair">
            <a:avLst>
              <a:gd name="adj" fmla="val 4245"/>
            </a:avLst>
          </a:prstGeom>
          <a:noFill/>
          <a:ln w="28575" cap="sq">
            <a:solidFill>
              <a:srgbClr val="CCFFCC"/>
            </a:solidFill>
            <a:round/>
            <a:headEnd/>
            <a:tailEnd/>
          </a:ln>
          <a:effectLst/>
        </p:spPr>
        <p:txBody>
          <a:bodyPr wrap="none" lIns="0" tIns="0" rIns="0" bIns="0" anchor="ctr"/>
          <a:lstStyle/>
          <a:p>
            <a:pPr fontAlgn="auto">
              <a:spcBef>
                <a:spcPts val="0"/>
              </a:spcBef>
              <a:spcAft>
                <a:spcPts val="0"/>
              </a:spcAft>
              <a:defRPr/>
            </a:pPr>
            <a:endParaRPr lang="zh-CN" altLang="en-US" sz="1800" baseline="0">
              <a:solidFill>
                <a:prstClr val="black"/>
              </a:solidFill>
              <a:latin typeface="微软雅黑" panose="020B0503020204020204" pitchFamily="34" charset="-122"/>
              <a:ea typeface="微软雅黑" panose="020B0503020204020204" pitchFamily="34" charset="-122"/>
            </a:endParaRPr>
          </a:p>
        </p:txBody>
      </p:sp>
      <p:sp>
        <p:nvSpPr>
          <p:cNvPr id="14" name="Rectangle 2"/>
          <p:cNvSpPr txBox="1">
            <a:spLocks noChangeArrowheads="1"/>
          </p:cNvSpPr>
          <p:nvPr/>
        </p:nvSpPr>
        <p:spPr bwMode="auto">
          <a:xfrm>
            <a:off x="801910" y="901546"/>
            <a:ext cx="10153128" cy="287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Bef>
                <a:spcPts val="0"/>
              </a:spcBef>
              <a:spcAft>
                <a:spcPts val="600"/>
              </a:spcAft>
              <a:buFont typeface="Wingdings" pitchFamily="2" charset="2"/>
              <a:buNone/>
              <a:defRPr/>
            </a:pPr>
            <a:r>
              <a:rPr kumimoji="1" lang="zh-CN" altLang="zh-CN" baseline="0" dirty="0">
                <a:solidFill>
                  <a:srgbClr val="FFFFFF"/>
                </a:solidFill>
                <a:latin typeface="微软雅黑" panose="020B0503020204020204" pitchFamily="34" charset="-122"/>
                <a:ea typeface="微软雅黑" panose="020B0503020204020204" pitchFamily="34" charset="-122"/>
              </a:rPr>
              <a:t>例如给定3个域：</a:t>
            </a:r>
          </a:p>
          <a:p>
            <a:pPr eaLnBrk="1" hangingPunct="1">
              <a:spcBef>
                <a:spcPts val="0"/>
              </a:spcBef>
              <a:spcAft>
                <a:spcPts val="600"/>
              </a:spcAft>
              <a:buFont typeface="Wingdings" pitchFamily="2" charset="2"/>
              <a:buNone/>
              <a:defRPr/>
            </a:pPr>
            <a:r>
              <a:rPr kumimoji="1" lang="zh-CN" altLang="zh-CN" baseline="0" dirty="0">
                <a:latin typeface="微软雅黑" panose="020B0503020204020204" pitchFamily="34" charset="-122"/>
                <a:ea typeface="微软雅黑" panose="020B0503020204020204" pitchFamily="34" charset="-122"/>
              </a:rPr>
              <a:t>	</a:t>
            </a:r>
            <a:r>
              <a:rPr kumimoji="1" lang="zh-CN" altLang="zh-CN" baseline="0" dirty="0">
                <a:latin typeface="宋体" panose="02010600030101010101" pitchFamily="2" charset="-122"/>
                <a:ea typeface="宋体" panose="02010600030101010101" pitchFamily="2" charset="-122"/>
              </a:rPr>
              <a:t>D</a:t>
            </a:r>
            <a:r>
              <a:rPr kumimoji="1" lang="zh-CN" altLang="zh-CN" dirty="0">
                <a:latin typeface="宋体" panose="02010600030101010101" pitchFamily="2" charset="-122"/>
                <a:ea typeface="宋体" panose="02010600030101010101" pitchFamily="2" charset="-122"/>
              </a:rPr>
              <a:t>1</a:t>
            </a:r>
            <a:r>
              <a:rPr kumimoji="1" lang="zh-CN" altLang="zh-CN" baseline="0" dirty="0">
                <a:latin typeface="宋体" panose="02010600030101010101" pitchFamily="2" charset="-122"/>
                <a:ea typeface="宋体" panose="02010600030101010101" pitchFamily="2" charset="-122"/>
              </a:rPr>
              <a:t>=学生集合={张三，李四，王五}</a:t>
            </a:r>
          </a:p>
          <a:p>
            <a:pPr eaLnBrk="1" hangingPunct="1">
              <a:spcBef>
                <a:spcPts val="0"/>
              </a:spcBef>
              <a:spcAft>
                <a:spcPts val="600"/>
              </a:spcAft>
              <a:buFont typeface="Wingdings" pitchFamily="2" charset="2"/>
              <a:buNone/>
              <a:defRPr/>
            </a:pPr>
            <a:r>
              <a:rPr kumimoji="1" lang="zh-CN" altLang="zh-CN" baseline="0" dirty="0">
                <a:latin typeface="宋体" panose="02010600030101010101" pitchFamily="2" charset="-122"/>
                <a:ea typeface="宋体" panose="02010600030101010101" pitchFamily="2" charset="-122"/>
              </a:rPr>
              <a:t>	D</a:t>
            </a:r>
            <a:r>
              <a:rPr kumimoji="1" lang="zh-CN" altLang="zh-CN" dirty="0">
                <a:latin typeface="宋体" panose="02010600030101010101" pitchFamily="2" charset="-122"/>
                <a:ea typeface="宋体" panose="02010600030101010101" pitchFamily="2" charset="-122"/>
              </a:rPr>
              <a:t>2</a:t>
            </a:r>
            <a:r>
              <a:rPr kumimoji="1" lang="zh-CN" altLang="zh-CN" baseline="0" dirty="0">
                <a:latin typeface="宋体" panose="02010600030101010101" pitchFamily="2" charset="-122"/>
                <a:ea typeface="宋体" panose="02010600030101010101" pitchFamily="2" charset="-122"/>
              </a:rPr>
              <a:t>=专业集合={计算机，食品}</a:t>
            </a:r>
          </a:p>
          <a:p>
            <a:pPr eaLnBrk="1" hangingPunct="1">
              <a:spcBef>
                <a:spcPts val="0"/>
              </a:spcBef>
              <a:spcAft>
                <a:spcPts val="600"/>
              </a:spcAft>
              <a:buFont typeface="Wingdings" pitchFamily="2" charset="2"/>
              <a:buNone/>
              <a:defRPr/>
            </a:pPr>
            <a:r>
              <a:rPr kumimoji="1" lang="zh-CN" altLang="zh-CN" baseline="0" dirty="0">
                <a:latin typeface="宋体" panose="02010600030101010101" pitchFamily="2" charset="-122"/>
                <a:ea typeface="宋体" panose="02010600030101010101" pitchFamily="2" charset="-122"/>
              </a:rPr>
              <a:t>	D</a:t>
            </a:r>
            <a:r>
              <a:rPr kumimoji="1" lang="zh-CN" altLang="zh-CN" dirty="0">
                <a:latin typeface="宋体" panose="02010600030101010101" pitchFamily="2" charset="-122"/>
                <a:ea typeface="宋体" panose="02010600030101010101" pitchFamily="2" charset="-122"/>
              </a:rPr>
              <a:t>3</a:t>
            </a:r>
            <a:r>
              <a:rPr kumimoji="1" lang="zh-CN" altLang="zh-CN" baseline="0" dirty="0">
                <a:latin typeface="宋体" panose="02010600030101010101" pitchFamily="2" charset="-122"/>
                <a:ea typeface="宋体" panose="02010600030101010101" pitchFamily="2" charset="-122"/>
              </a:rPr>
              <a:t>=课程集合={数据结构，肉品加工}</a:t>
            </a:r>
          </a:p>
          <a:p>
            <a:pPr eaLnBrk="1" hangingPunct="1">
              <a:spcBef>
                <a:spcPts val="1200"/>
              </a:spcBef>
              <a:spcAft>
                <a:spcPts val="600"/>
              </a:spcAft>
              <a:buFont typeface="Wingdings" pitchFamily="2" charset="2"/>
              <a:buNone/>
              <a:defRPr/>
            </a:pPr>
            <a:r>
              <a:rPr kumimoji="1" lang="zh-CN" altLang="zh-CN" baseline="0" dirty="0">
                <a:solidFill>
                  <a:srgbClr val="FFFFFF"/>
                </a:solidFill>
                <a:latin typeface="微软雅黑" panose="020B0503020204020204" pitchFamily="34" charset="-122"/>
                <a:ea typeface="微软雅黑" panose="020B0503020204020204" pitchFamily="34" charset="-122"/>
              </a:rPr>
              <a:t>则D</a:t>
            </a:r>
            <a:r>
              <a:rPr kumimoji="1" lang="zh-CN" altLang="zh-CN" dirty="0">
                <a:solidFill>
                  <a:srgbClr val="FFFFFF"/>
                </a:solidFill>
                <a:latin typeface="微软雅黑" panose="020B0503020204020204" pitchFamily="34" charset="-122"/>
                <a:ea typeface="微软雅黑" panose="020B0503020204020204" pitchFamily="34" charset="-122"/>
              </a:rPr>
              <a:t>1</a:t>
            </a:r>
            <a:r>
              <a:rPr kumimoji="1" lang="zh-CN" altLang="zh-CN" baseline="0" dirty="0">
                <a:solidFill>
                  <a:srgbClr val="FFFFFF"/>
                </a:solidFill>
                <a:latin typeface="微软雅黑" panose="020B0503020204020204" pitchFamily="34" charset="-122"/>
                <a:ea typeface="微软雅黑" panose="020B0503020204020204" pitchFamily="34" charset="-122"/>
              </a:rPr>
              <a:t>,D</a:t>
            </a:r>
            <a:r>
              <a:rPr kumimoji="1" lang="zh-CN" altLang="zh-CN" dirty="0">
                <a:solidFill>
                  <a:srgbClr val="FFFFFF"/>
                </a:solidFill>
                <a:latin typeface="微软雅黑" panose="020B0503020204020204" pitchFamily="34" charset="-122"/>
                <a:ea typeface="微软雅黑" panose="020B0503020204020204" pitchFamily="34" charset="-122"/>
              </a:rPr>
              <a:t>2</a:t>
            </a:r>
            <a:r>
              <a:rPr kumimoji="1" lang="zh-CN" altLang="zh-CN" baseline="0" dirty="0">
                <a:solidFill>
                  <a:srgbClr val="FFFFFF"/>
                </a:solidFill>
                <a:latin typeface="微软雅黑" panose="020B0503020204020204" pitchFamily="34" charset="-122"/>
                <a:ea typeface="微软雅黑" panose="020B0503020204020204" pitchFamily="34" charset="-122"/>
              </a:rPr>
              <a:t>,D</a:t>
            </a:r>
            <a:r>
              <a:rPr kumimoji="1" lang="zh-CN" altLang="zh-CN" dirty="0">
                <a:solidFill>
                  <a:srgbClr val="FFFFFF"/>
                </a:solidFill>
                <a:latin typeface="微软雅黑" panose="020B0503020204020204" pitchFamily="34" charset="-122"/>
                <a:ea typeface="微软雅黑" panose="020B0503020204020204" pitchFamily="34" charset="-122"/>
              </a:rPr>
              <a:t>3</a:t>
            </a:r>
            <a:r>
              <a:rPr kumimoji="1" lang="zh-CN" altLang="zh-CN" baseline="0" dirty="0">
                <a:solidFill>
                  <a:srgbClr val="FFFFFF"/>
                </a:solidFill>
                <a:latin typeface="微软雅黑" panose="020B0503020204020204" pitchFamily="34" charset="-122"/>
                <a:ea typeface="微软雅黑" panose="020B0503020204020204" pitchFamily="34" charset="-122"/>
              </a:rPr>
              <a:t>的笛卡尔积D</a:t>
            </a:r>
            <a:r>
              <a:rPr kumimoji="1" lang="zh-CN" altLang="zh-CN" dirty="0">
                <a:solidFill>
                  <a:srgbClr val="FFFFFF"/>
                </a:solidFill>
                <a:latin typeface="微软雅黑" panose="020B0503020204020204" pitchFamily="34" charset="-122"/>
                <a:ea typeface="微软雅黑" panose="020B0503020204020204" pitchFamily="34" charset="-122"/>
              </a:rPr>
              <a:t>1</a:t>
            </a:r>
            <a:r>
              <a:rPr kumimoji="1" lang="zh-CN" altLang="zh-CN" baseline="0" dirty="0">
                <a:solidFill>
                  <a:srgbClr val="FFFFFF"/>
                </a:solidFill>
                <a:latin typeface="微软雅黑" panose="020B0503020204020204" pitchFamily="34" charset="-122"/>
                <a:ea typeface="微软雅黑" panose="020B0503020204020204" pitchFamily="34" charset="-122"/>
              </a:rPr>
              <a:t>×D</a:t>
            </a:r>
            <a:r>
              <a:rPr kumimoji="1" lang="zh-CN" altLang="zh-CN" dirty="0">
                <a:solidFill>
                  <a:srgbClr val="FFFFFF"/>
                </a:solidFill>
                <a:latin typeface="微软雅黑" panose="020B0503020204020204" pitchFamily="34" charset="-122"/>
                <a:ea typeface="微软雅黑" panose="020B0503020204020204" pitchFamily="34" charset="-122"/>
              </a:rPr>
              <a:t>2</a:t>
            </a:r>
            <a:r>
              <a:rPr kumimoji="1" lang="zh-CN" altLang="zh-CN" baseline="0" dirty="0">
                <a:solidFill>
                  <a:srgbClr val="FFFFFF"/>
                </a:solidFill>
                <a:latin typeface="微软雅黑" panose="020B0503020204020204" pitchFamily="34" charset="-122"/>
                <a:ea typeface="微软雅黑" panose="020B0503020204020204" pitchFamily="34" charset="-122"/>
              </a:rPr>
              <a:t>×D</a:t>
            </a:r>
            <a:r>
              <a:rPr kumimoji="1" lang="zh-CN" altLang="zh-CN" dirty="0">
                <a:solidFill>
                  <a:srgbClr val="FFFFFF"/>
                </a:solidFill>
                <a:latin typeface="微软雅黑" panose="020B0503020204020204" pitchFamily="34" charset="-122"/>
                <a:ea typeface="微软雅黑" panose="020B0503020204020204" pitchFamily="34" charset="-122"/>
              </a:rPr>
              <a:t>3</a:t>
            </a:r>
            <a:r>
              <a:rPr kumimoji="1" lang="zh-CN" altLang="zh-CN" baseline="0" dirty="0">
                <a:solidFill>
                  <a:srgbClr val="FFFFFF"/>
                </a:solidFill>
                <a:latin typeface="微软雅黑" panose="020B0503020204020204" pitchFamily="34" charset="-122"/>
                <a:ea typeface="微软雅黑" panose="020B0503020204020204" pitchFamily="34" charset="-122"/>
              </a:rPr>
              <a:t>为:</a:t>
            </a:r>
          </a:p>
        </p:txBody>
      </p:sp>
      <p:sp>
        <p:nvSpPr>
          <p:cNvPr id="6" name="WordArt 8">
            <a:extLst>
              <a:ext uri="{FF2B5EF4-FFF2-40B4-BE49-F238E27FC236}">
                <a16:creationId xmlns:a16="http://schemas.microsoft.com/office/drawing/2014/main" id="{099EC6B7-7618-4FED-8685-A45350050647}"/>
              </a:ext>
            </a:extLst>
          </p:cNvPr>
          <p:cNvSpPr>
            <a:spLocks noChangeArrowheads="1" noChangeShapeType="1" noTextEdit="1"/>
          </p:cNvSpPr>
          <p:nvPr/>
        </p:nvSpPr>
        <p:spPr bwMode="auto">
          <a:xfrm>
            <a:off x="8125012" y="1196752"/>
            <a:ext cx="3672408" cy="1008112"/>
          </a:xfrm>
          <a:prstGeom prst="rect">
            <a:avLst/>
          </a:prstGeom>
        </p:spPr>
        <p:txBody>
          <a:bodyPr wrap="none" fromWordArt="1">
            <a:prstTxWarp prst="textPlain">
              <a:avLst>
                <a:gd name="adj" fmla="val 50000"/>
              </a:avLst>
            </a:prstTxWarp>
          </a:bodyPr>
          <a:lstStyle/>
          <a:p>
            <a:pPr algn="ctr">
              <a:defRPr/>
            </a:pPr>
            <a:r>
              <a:rPr lang="zh-CN" altLang="en-US" sz="1600" kern="10" dirty="0">
                <a:ln w="12700">
                  <a:solidFill>
                    <a:schemeClr val="accent3">
                      <a:lumMod val="50000"/>
                    </a:schemeClr>
                  </a:solidFill>
                  <a:prstDash val="solid"/>
                </a:ln>
                <a:solidFill>
                  <a:schemeClr val="accent1">
                    <a:lumMod val="40000"/>
                    <a:lumOff val="60000"/>
                  </a:schemeClr>
                </a:solidFill>
                <a:effectLst>
                  <a:innerShdw blurRad="177800">
                    <a:schemeClr val="accent3">
                      <a:lumMod val="50000"/>
                    </a:schemeClr>
                  </a:innerShdw>
                </a:effectLst>
                <a:latin typeface="微软雅黑" panose="020B0503020204020204" pitchFamily="34" charset="-122"/>
                <a:ea typeface="微软雅黑" panose="020B0503020204020204" pitchFamily="34" charset="-122"/>
              </a:rPr>
              <a:t>二维表？</a:t>
            </a:r>
          </a:p>
        </p:txBody>
      </p:sp>
    </p:spTree>
    <p:extLst>
      <p:ext uri="{BB962C8B-B14F-4D97-AF65-F5344CB8AC3E}">
        <p14:creationId xmlns:p14="http://schemas.microsoft.com/office/powerpoint/2010/main" val="234337628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5000" fill="hold" grpId="0" nodeType="afterEffect">
                                  <p:stCondLst>
                                    <p:cond delay="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6" name="Rectangle 2"/>
          <p:cNvSpPr txBox="1">
            <a:spLocks noChangeArrowheads="1"/>
          </p:cNvSpPr>
          <p:nvPr/>
        </p:nvSpPr>
        <p:spPr bwMode="auto">
          <a:xfrm>
            <a:off x="745093" y="4510096"/>
            <a:ext cx="5328592" cy="1368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25000"/>
              </a:spcAft>
              <a:buFont typeface="Wingdings" pitchFamily="2" charset="2"/>
              <a:buNone/>
              <a:defRPr/>
            </a:pPr>
            <a:r>
              <a:rPr kumimoji="1" lang="zh-CN" altLang="en-US" baseline="0" dirty="0">
                <a:solidFill>
                  <a:schemeClr val="tx1"/>
                </a:solidFill>
                <a:latin typeface="微软雅黑" panose="020B0503020204020204" pitchFamily="34" charset="-122"/>
                <a:ea typeface="微软雅黑" panose="020B0503020204020204" pitchFamily="34" charset="-122"/>
              </a:rPr>
              <a:t>上面</a:t>
            </a:r>
            <a:r>
              <a:rPr kumimoji="1" lang="en-US" altLang="zh-CN" baseline="0" dirty="0">
                <a:solidFill>
                  <a:schemeClr val="tx1"/>
                </a:solidFill>
                <a:latin typeface="微软雅黑" panose="020B0503020204020204" pitchFamily="34" charset="-122"/>
                <a:ea typeface="微软雅黑" panose="020B0503020204020204" pitchFamily="34" charset="-122"/>
              </a:rPr>
              <a:t>3</a:t>
            </a:r>
            <a:r>
              <a:rPr kumimoji="1" lang="zh-CN" altLang="en-US" baseline="0" dirty="0">
                <a:solidFill>
                  <a:schemeClr val="tx1"/>
                </a:solidFill>
                <a:latin typeface="微软雅黑" panose="020B0503020204020204" pitchFamily="34" charset="-122"/>
                <a:ea typeface="微软雅黑" panose="020B0503020204020204" pitchFamily="34" charset="-122"/>
              </a:rPr>
              <a:t>个域</a:t>
            </a:r>
            <a:r>
              <a:rPr kumimoji="1" lang="zh-CN" altLang="zh-CN" baseline="0" dirty="0">
                <a:solidFill>
                  <a:schemeClr val="tx1"/>
                </a:solidFill>
                <a:latin typeface="微软雅黑" panose="020B0503020204020204" pitchFamily="34" charset="-122"/>
                <a:ea typeface="微软雅黑" panose="020B0503020204020204" pitchFamily="34" charset="-122"/>
              </a:rPr>
              <a:t>D1,D2,D3的笛卡尔积D1×D2×D3</a:t>
            </a:r>
            <a:r>
              <a:rPr kumimoji="1" lang="zh-CN" altLang="en-US" baseline="0" dirty="0">
                <a:solidFill>
                  <a:schemeClr val="tx1"/>
                </a:solidFill>
                <a:latin typeface="微软雅黑" panose="020B0503020204020204" pitchFamily="34" charset="-122"/>
                <a:ea typeface="微软雅黑" panose="020B0503020204020204" pitchFamily="34" charset="-122"/>
              </a:rPr>
              <a:t>也可以表示</a:t>
            </a:r>
            <a:r>
              <a:rPr kumimoji="1" lang="zh-CN" altLang="zh-CN" baseline="0" dirty="0">
                <a:solidFill>
                  <a:schemeClr val="tx1"/>
                </a:solidFill>
                <a:latin typeface="微软雅黑" panose="020B0503020204020204" pitchFamily="34" charset="-122"/>
                <a:ea typeface="微软雅黑" panose="020B0503020204020204" pitchFamily="34" charset="-122"/>
              </a:rPr>
              <a:t>为</a:t>
            </a:r>
            <a:r>
              <a:rPr kumimoji="1" lang="zh-CN" altLang="en-US" baseline="0" dirty="0">
                <a:solidFill>
                  <a:schemeClr val="tx1"/>
                </a:solidFill>
                <a:latin typeface="微软雅黑" panose="020B0503020204020204" pitchFamily="34" charset="-122"/>
                <a:ea typeface="微软雅黑" panose="020B0503020204020204" pitchFamily="34" charset="-122"/>
              </a:rPr>
              <a:t>如右边所示的二维表：</a:t>
            </a:r>
            <a:endParaRPr kumimoji="1" lang="zh-CN" altLang="zh-CN" baseline="0" dirty="0">
              <a:solidFill>
                <a:schemeClr val="tx1"/>
              </a:solidFill>
              <a:latin typeface="微软雅黑" panose="020B0503020204020204" pitchFamily="34" charset="-122"/>
              <a:ea typeface="微软雅黑" panose="020B0503020204020204" pitchFamily="34" charset="-122"/>
            </a:endParaRPr>
          </a:p>
        </p:txBody>
      </p:sp>
      <p:graphicFrame>
        <p:nvGraphicFramePr>
          <p:cNvPr id="7" name="Group 3"/>
          <p:cNvGraphicFramePr>
            <a:graphicFrameLocks noGrp="1"/>
          </p:cNvGraphicFramePr>
          <p:nvPr>
            <p:extLst>
              <p:ext uri="{D42A27DB-BD31-4B8C-83A1-F6EECF244321}">
                <p14:modId xmlns:p14="http://schemas.microsoft.com/office/powerpoint/2010/main" val="4242629475"/>
              </p:ext>
            </p:extLst>
          </p:nvPr>
        </p:nvGraphicFramePr>
        <p:xfrm>
          <a:off x="7392144" y="634571"/>
          <a:ext cx="4175125" cy="5112562"/>
        </p:xfrm>
        <a:graphic>
          <a:graphicData uri="http://schemas.openxmlformats.org/drawingml/2006/table">
            <a:tbl>
              <a:tblPr/>
              <a:tblGrid>
                <a:gridCol w="1392237">
                  <a:extLst>
                    <a:ext uri="{9D8B030D-6E8A-4147-A177-3AD203B41FA5}">
                      <a16:colId xmlns:a16="http://schemas.microsoft.com/office/drawing/2014/main" val="20000"/>
                    </a:ext>
                  </a:extLst>
                </a:gridCol>
                <a:gridCol w="1216025">
                  <a:extLst>
                    <a:ext uri="{9D8B030D-6E8A-4147-A177-3AD203B41FA5}">
                      <a16:colId xmlns:a16="http://schemas.microsoft.com/office/drawing/2014/main" val="20001"/>
                    </a:ext>
                  </a:extLst>
                </a:gridCol>
                <a:gridCol w="1566863">
                  <a:extLst>
                    <a:ext uri="{9D8B030D-6E8A-4147-A177-3AD203B41FA5}">
                      <a16:colId xmlns:a16="http://schemas.microsoft.com/office/drawing/2014/main" val="20002"/>
                    </a:ext>
                  </a:extLst>
                </a:gridCol>
              </a:tblGrid>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99FF33"/>
                          </a:solidFill>
                          <a:effectLst/>
                          <a:latin typeface="宋体" panose="02010600030101010101" pitchFamily="2" charset="-122"/>
                          <a:ea typeface="宋体" panose="02010600030101010101" pitchFamily="2" charset="-122"/>
                        </a:rPr>
                        <a:t>学生</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99FF33"/>
                          </a:solidFill>
                          <a:effectLst/>
                          <a:latin typeface="宋体" panose="02010600030101010101" pitchFamily="2" charset="-122"/>
                          <a:ea typeface="宋体" panose="02010600030101010101" pitchFamily="2" charset="-122"/>
                        </a:rPr>
                        <a:t>专业</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99FF33"/>
                          </a:solidFill>
                          <a:effectLst/>
                          <a:latin typeface="宋体" panose="02010600030101010101" pitchFamily="2" charset="-122"/>
                          <a:ea typeface="宋体" panose="02010600030101010101" pitchFamily="2" charset="-122"/>
                        </a:rPr>
                        <a:t>课程</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计算机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计算机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肉品加工</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食品</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食品</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肉品加工</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计算机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计算机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肉品加工</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食品</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食品</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肉品加工</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计算机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计算机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肉品加工</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食品</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327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食品</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肉品加工</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8" name="Rectangle 61"/>
          <p:cNvSpPr>
            <a:spLocks noChangeArrowheads="1"/>
          </p:cNvSpPr>
          <p:nvPr/>
        </p:nvSpPr>
        <p:spPr bwMode="auto">
          <a:xfrm>
            <a:off x="1415480" y="6101097"/>
            <a:ext cx="9539721" cy="427037"/>
          </a:xfrm>
          <a:prstGeom prst="rect">
            <a:avLst/>
          </a:prstGeom>
          <a:noFill/>
          <a:ln w="9525" algn="ctr">
            <a:noFill/>
            <a:miter lim="800000"/>
            <a:headEnd/>
            <a:tailEnd/>
          </a:ln>
          <a:effectLst/>
        </p:spPr>
        <p:txBody>
          <a:bodyPr/>
          <a:lstStyle/>
          <a:p>
            <a:pPr marL="342900" marR="0" lvl="0" indent="-342900" defTabSz="914400" eaLnBrk="1" fontAlgn="auto" latinLnBrk="0" hangingPunct="1">
              <a:lnSpc>
                <a:spcPct val="100000"/>
              </a:lnSpc>
              <a:spcBef>
                <a:spcPts val="0"/>
              </a:spcBef>
              <a:spcAft>
                <a:spcPts val="0"/>
              </a:spcAft>
              <a:buClr>
                <a:srgbClr val="66FF33"/>
              </a:buClr>
              <a:buSzPct val="85000"/>
              <a:buFontTx/>
              <a:buNone/>
              <a:tabLst/>
              <a:defRPr/>
            </a:pPr>
            <a:r>
              <a:rPr kumimoji="0" lang="zh-CN" altLang="en-US" sz="3600" b="1"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每一行就是一个元组，每一列都来自同一域</a:t>
            </a:r>
          </a:p>
        </p:txBody>
      </p:sp>
      <p:sp>
        <p:nvSpPr>
          <p:cNvPr id="9" name="Rectangle 62"/>
          <p:cNvSpPr>
            <a:spLocks noChangeArrowheads="1"/>
          </p:cNvSpPr>
          <p:nvPr/>
        </p:nvSpPr>
        <p:spPr bwMode="auto">
          <a:xfrm>
            <a:off x="812216" y="1439513"/>
            <a:ext cx="5283784" cy="2879725"/>
          </a:xfrm>
          <a:prstGeom prst="rect">
            <a:avLst/>
          </a:prstGeom>
          <a:noFill/>
          <a:ln w="9525">
            <a:noFill/>
            <a:miter lim="800000"/>
            <a:headEnd/>
            <a:tailEnd/>
          </a:ln>
          <a:effectLst/>
        </p:spPr>
        <p:txBody>
          <a:bodyPr/>
          <a:lstStyle/>
          <a:p>
            <a:pPr marL="393700" indent="-393700">
              <a:buClr>
                <a:srgbClr val="66FF33"/>
              </a:buClr>
              <a:buSzPct val="85000"/>
              <a:defRPr/>
            </a:pPr>
            <a:r>
              <a:rPr lang="zh-CN" altLang="zh-CN" sz="3200" baseline="0" dirty="0">
                <a:solidFill>
                  <a:srgbClr val="CCFFCC"/>
                </a:solidFill>
                <a:effectLst>
                  <a:outerShdw blurRad="38100" dist="38100" dir="2700000" algn="tl">
                    <a:srgbClr val="000000"/>
                  </a:outerShdw>
                </a:effectLst>
                <a:latin typeface="Arial" charset="0"/>
              </a:rPr>
              <a:t>D1</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学生集合</a:t>
            </a:r>
            <a:endParaRPr lang="zh-CN" altLang="en-US" sz="3200" baseline="0" dirty="0">
              <a:solidFill>
                <a:srgbClr val="CCFFCC"/>
              </a:solidFill>
              <a:effectLst>
                <a:outerShdw blurRad="38100" dist="38100" dir="2700000" algn="tl">
                  <a:srgbClr val="000000"/>
                </a:outerShdw>
              </a:effectLst>
              <a:latin typeface="Arial" charset="0"/>
            </a:endParaRPr>
          </a:p>
          <a:p>
            <a:pPr marL="622300" indent="-622300">
              <a:buClr>
                <a:srgbClr val="66FF33"/>
              </a:buClr>
              <a:buSzPct val="85000"/>
              <a:defRPr/>
            </a:pP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{张三，李四，王五}</a:t>
            </a:r>
          </a:p>
          <a:p>
            <a:pPr marL="393700" indent="-393700">
              <a:buClr>
                <a:srgbClr val="66FF33"/>
              </a:buClr>
              <a:buSzPct val="85000"/>
              <a:defRPr/>
            </a:pPr>
            <a:r>
              <a:rPr lang="zh-CN" altLang="zh-CN" sz="3200" baseline="0" dirty="0">
                <a:solidFill>
                  <a:srgbClr val="CCFFCC"/>
                </a:solidFill>
                <a:effectLst>
                  <a:outerShdw blurRad="38100" dist="38100" dir="2700000" algn="tl">
                    <a:srgbClr val="000000"/>
                  </a:outerShdw>
                </a:effectLst>
                <a:latin typeface="Arial" charset="0"/>
              </a:rPr>
              <a:t>D2</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专业集合</a:t>
            </a:r>
            <a:endParaRPr lang="zh-CN" altLang="en-US" sz="3200" baseline="0" dirty="0">
              <a:solidFill>
                <a:srgbClr val="CCFFCC"/>
              </a:solidFill>
              <a:effectLst>
                <a:outerShdw blurRad="38100" dist="38100" dir="2700000" algn="tl">
                  <a:srgbClr val="000000"/>
                </a:outerShdw>
              </a:effectLst>
              <a:latin typeface="Arial" charset="0"/>
            </a:endParaRPr>
          </a:p>
          <a:p>
            <a:pPr marL="622300" indent="-622300">
              <a:buClr>
                <a:srgbClr val="66FF33"/>
              </a:buClr>
              <a:buSzPct val="85000"/>
              <a:defRPr/>
            </a:pP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{计算机，食品}</a:t>
            </a:r>
          </a:p>
          <a:p>
            <a:pPr marL="393700" indent="-393700">
              <a:buClr>
                <a:srgbClr val="66FF33"/>
              </a:buClr>
              <a:buSzPct val="85000"/>
              <a:defRPr/>
            </a:pPr>
            <a:r>
              <a:rPr lang="zh-CN" altLang="zh-CN" sz="3200" baseline="0" dirty="0">
                <a:solidFill>
                  <a:srgbClr val="CCFFCC"/>
                </a:solidFill>
                <a:effectLst>
                  <a:outerShdw blurRad="38100" dist="38100" dir="2700000" algn="tl">
                    <a:srgbClr val="000000"/>
                  </a:outerShdw>
                </a:effectLst>
                <a:latin typeface="Arial" charset="0"/>
              </a:rPr>
              <a:t>D3</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课程集合</a:t>
            </a:r>
            <a:endParaRPr lang="zh-CN" altLang="en-US" sz="3200" baseline="0" dirty="0">
              <a:solidFill>
                <a:srgbClr val="CCFFCC"/>
              </a:solidFill>
              <a:effectLst>
                <a:outerShdw blurRad="38100" dist="38100" dir="2700000" algn="tl">
                  <a:srgbClr val="000000"/>
                </a:outerShdw>
              </a:effectLst>
              <a:latin typeface="Arial" charset="0"/>
            </a:endParaRPr>
          </a:p>
          <a:p>
            <a:pPr marL="622300" indent="-622300">
              <a:buClr>
                <a:srgbClr val="66FF33"/>
              </a:buClr>
              <a:buSzPct val="85000"/>
              <a:defRPr/>
            </a:pP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a:t>
            </a:r>
            <a:r>
              <a:rPr lang="zh-CN" altLang="en-US" sz="3200" baseline="0" dirty="0">
                <a:solidFill>
                  <a:srgbClr val="CCFFCC"/>
                </a:solidFill>
                <a:effectLst>
                  <a:outerShdw blurRad="38100" dist="38100" dir="2700000" algn="tl">
                    <a:srgbClr val="000000"/>
                  </a:outerShdw>
                </a:effectLst>
                <a:latin typeface="Arial" charset="0"/>
              </a:rPr>
              <a:t> </a:t>
            </a:r>
            <a:r>
              <a:rPr lang="zh-CN" altLang="zh-CN" sz="3200" baseline="0" dirty="0">
                <a:solidFill>
                  <a:srgbClr val="CCFFCC"/>
                </a:solidFill>
                <a:effectLst>
                  <a:outerShdw blurRad="38100" dist="38100" dir="2700000" algn="tl">
                    <a:srgbClr val="000000"/>
                  </a:outerShdw>
                </a:effectLst>
                <a:latin typeface="Arial" charset="0"/>
              </a:rPr>
              <a:t>{数据结构，肉品加工}</a:t>
            </a:r>
          </a:p>
        </p:txBody>
      </p:sp>
      <p:sp>
        <p:nvSpPr>
          <p:cNvPr id="10" name="Rectangle 3"/>
          <p:cNvSpPr txBox="1">
            <a:spLocks noChangeArrowheads="1"/>
          </p:cNvSpPr>
          <p:nvPr/>
        </p:nvSpPr>
        <p:spPr bwMode="auto">
          <a:xfrm>
            <a:off x="745093" y="814588"/>
            <a:ext cx="8333110" cy="23762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l" defTabSz="914400" rtl="0" eaLnBrk="1" fontAlgn="base" latinLnBrk="0" hangingPunct="1">
              <a:lnSpc>
                <a:spcPct val="100000"/>
              </a:lnSpc>
              <a:spcBef>
                <a:spcPct val="120000"/>
              </a:spcBef>
              <a:spcAft>
                <a:spcPct val="25000"/>
              </a:spcAft>
              <a:buClr>
                <a:srgbClr val="66FF33"/>
              </a:buClr>
              <a:buSzPct val="85000"/>
              <a:buNone/>
              <a:tabLst/>
              <a:defRPr/>
            </a:pPr>
            <a:r>
              <a:rPr kumimoji="1" lang="zh-CN" altLang="en-US" sz="3600" b="0" i="0" u="none" strike="noStrike" kern="0" cap="none" spc="0" normalizeH="0" baseline="0" noProof="0" dirty="0">
                <a:ln>
                  <a:noFill/>
                </a:ln>
                <a:solidFill>
                  <a:srgbClr val="00FFFF"/>
                </a:solidFill>
                <a:effectLst>
                  <a:outerShdw blurRad="38100" dist="38100" dir="2700000" algn="tl">
                    <a:srgbClr val="000000"/>
                  </a:outerShdw>
                </a:effectLst>
                <a:uLnTx/>
                <a:uFillTx/>
                <a:latin typeface="微软雅黑" pitchFamily="34" charset="-122"/>
                <a:ea typeface="微软雅黑" pitchFamily="34" charset="-122"/>
                <a:cs typeface="+mn-cs"/>
              </a:rPr>
              <a:t>换种方式表示</a:t>
            </a:r>
          </a:p>
        </p:txBody>
      </p:sp>
    </p:spTree>
    <p:extLst>
      <p:ext uri="{BB962C8B-B14F-4D97-AF65-F5344CB8AC3E}">
        <p14:creationId xmlns:p14="http://schemas.microsoft.com/office/powerpoint/2010/main" val="82810823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908720"/>
            <a:ext cx="10972800" cy="4054475"/>
          </a:xfrm>
        </p:spPr>
        <p:txBody>
          <a:bodyPr/>
          <a:lstStyle/>
          <a:p>
            <a:pPr>
              <a:lnSpc>
                <a:spcPct val="150000"/>
              </a:lnSpc>
            </a:pPr>
            <a:r>
              <a:rPr lang="zh-CN" altLang="en-US" dirty="0" smtClean="0"/>
              <a:t>属性</a:t>
            </a:r>
            <a:r>
              <a:rPr lang="zh-CN" altLang="en-US" dirty="0"/>
              <a:t>（</a:t>
            </a:r>
            <a:r>
              <a:rPr lang="en-US" altLang="zh-CN" dirty="0"/>
              <a:t>Attribute</a:t>
            </a:r>
            <a:r>
              <a:rPr lang="zh-CN" altLang="en-US" dirty="0"/>
              <a:t>）</a:t>
            </a:r>
          </a:p>
          <a:p>
            <a:pPr>
              <a:lnSpc>
                <a:spcPct val="150000"/>
              </a:lnSpc>
            </a:pPr>
            <a:r>
              <a:rPr lang="zh-CN" altLang="en-US" dirty="0"/>
              <a:t>       由于关系中不同列的域可以相同，为了加以区别，必须要为每个域取一个名字，称为</a:t>
            </a:r>
            <a:r>
              <a:rPr lang="zh-CN" altLang="en-US" dirty="0">
                <a:solidFill>
                  <a:srgbClr val="FF0000"/>
                </a:solidFill>
              </a:rPr>
              <a:t>属性</a:t>
            </a:r>
            <a:r>
              <a:rPr lang="zh-CN" altLang="en-US" dirty="0"/>
              <a:t>。</a:t>
            </a:r>
            <a:r>
              <a:rPr lang="en-US" altLang="zh-CN" dirty="0"/>
              <a:t>n</a:t>
            </a:r>
            <a:r>
              <a:rPr lang="zh-CN" altLang="en-US" dirty="0"/>
              <a:t>元关系必有</a:t>
            </a:r>
            <a:r>
              <a:rPr lang="en-US" altLang="zh-CN" dirty="0"/>
              <a:t>n</a:t>
            </a:r>
            <a:r>
              <a:rPr lang="zh-CN" altLang="en-US" dirty="0"/>
              <a:t>个属性。</a:t>
            </a:r>
          </a:p>
          <a:p>
            <a:pPr>
              <a:lnSpc>
                <a:spcPct val="150000"/>
              </a:lnSpc>
            </a:pPr>
            <a:endParaRPr lang="zh-CN" altLang="en-US" dirty="0"/>
          </a:p>
        </p:txBody>
      </p:sp>
    </p:spTree>
    <p:extLst>
      <p:ext uri="{BB962C8B-B14F-4D97-AF65-F5344CB8AC3E}">
        <p14:creationId xmlns:p14="http://schemas.microsoft.com/office/powerpoint/2010/main" val="9482059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1" name="Rectangle 3"/>
          <p:cNvSpPr txBox="1">
            <a:spLocks noChangeArrowheads="1"/>
          </p:cNvSpPr>
          <p:nvPr/>
        </p:nvSpPr>
        <p:spPr bwMode="auto">
          <a:xfrm>
            <a:off x="407368" y="878804"/>
            <a:ext cx="11110239" cy="33988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5000"/>
              </a:spcAft>
              <a:defRPr/>
            </a:pPr>
            <a:r>
              <a:rPr kumimoji="1" lang="zh-CN" altLang="en-US" sz="3600" baseline="0" dirty="0">
                <a:latin typeface="微软雅黑" panose="020B0503020204020204" pitchFamily="34" charset="-122"/>
                <a:ea typeface="微软雅黑" panose="020B0503020204020204" pitchFamily="34" charset="-122"/>
              </a:rPr>
              <a:t>笛卡尔积</a:t>
            </a:r>
            <a:r>
              <a:rPr kumimoji="1" lang="zh-CN" altLang="zh-CN" sz="3600" baseline="0" dirty="0">
                <a:latin typeface="微软雅黑" panose="020B0503020204020204" pitchFamily="34" charset="-122"/>
                <a:ea typeface="微软雅黑" panose="020B0503020204020204" pitchFamily="34" charset="-122"/>
              </a:rPr>
              <a:t>D1×D2×…×Dn的任</a:t>
            </a:r>
            <a:r>
              <a:rPr kumimoji="1" lang="zh-CN" altLang="en-US" sz="3600" baseline="0" dirty="0">
                <a:latin typeface="微软雅黑" panose="020B0503020204020204" pitchFamily="34" charset="-122"/>
                <a:ea typeface="微软雅黑" panose="020B0503020204020204" pitchFamily="34" charset="-122"/>
              </a:rPr>
              <a:t>意</a:t>
            </a:r>
            <a:r>
              <a:rPr kumimoji="1" lang="zh-CN" altLang="zh-CN" sz="3600" baseline="0" dirty="0">
                <a:latin typeface="微软雅黑" panose="020B0503020204020204" pitchFamily="34" charset="-122"/>
                <a:ea typeface="微软雅黑" panose="020B0503020204020204" pitchFamily="34" charset="-122"/>
              </a:rPr>
              <a:t>一</a:t>
            </a:r>
            <a:r>
              <a:rPr kumimoji="1" lang="zh-CN" altLang="en-US" sz="3600" baseline="0" dirty="0">
                <a:latin typeface="微软雅黑" panose="020B0503020204020204" pitchFamily="34" charset="-122"/>
                <a:ea typeface="微软雅黑" panose="020B0503020204020204" pitchFamily="34" charset="-122"/>
              </a:rPr>
              <a:t>个</a:t>
            </a:r>
            <a:r>
              <a:rPr kumimoji="1" lang="zh-CN" altLang="zh-CN" sz="3600" baseline="0" dirty="0">
                <a:latin typeface="微软雅黑" panose="020B0503020204020204" pitchFamily="34" charset="-122"/>
                <a:ea typeface="微软雅黑" panose="020B0503020204020204" pitchFamily="34" charset="-122"/>
              </a:rPr>
              <a:t>子集称为在域D1,D2,…,Dn上</a:t>
            </a:r>
            <a:r>
              <a:rPr kumimoji="1" lang="zh-CN" altLang="en-US" sz="3600" baseline="0" dirty="0">
                <a:latin typeface="微软雅黑" panose="020B0503020204020204" pitchFamily="34" charset="-122"/>
                <a:ea typeface="微软雅黑" panose="020B0503020204020204" pitchFamily="34" charset="-122"/>
              </a:rPr>
              <a:t>的一个</a:t>
            </a:r>
            <a:r>
              <a:rPr kumimoji="1" lang="zh-CN" altLang="zh-CN" sz="3600" b="1" baseline="0" dirty="0">
                <a:solidFill>
                  <a:srgbClr val="FFC000"/>
                </a:solidFill>
                <a:latin typeface="微软雅黑" panose="020B0503020204020204" pitchFamily="34" charset="-122"/>
                <a:ea typeface="微软雅黑" panose="020B0503020204020204" pitchFamily="34" charset="-122"/>
              </a:rPr>
              <a:t>关系</a:t>
            </a:r>
            <a:r>
              <a:rPr kumimoji="1" lang="zh-CN" altLang="zh-CN" sz="3600" baseline="0" dirty="0">
                <a:latin typeface="微软雅黑" panose="020B0503020204020204" pitchFamily="34" charset="-122"/>
                <a:ea typeface="微软雅黑" panose="020B0503020204020204" pitchFamily="34" charset="-122"/>
              </a:rPr>
              <a:t>(</a:t>
            </a:r>
            <a:r>
              <a:rPr kumimoji="1" lang="zh-CN" altLang="zh-CN" sz="3600" i="1" baseline="0" dirty="0">
                <a:latin typeface="微软雅黑" panose="020B0503020204020204" pitchFamily="34" charset="-122"/>
                <a:ea typeface="微软雅黑" panose="020B0503020204020204" pitchFamily="34" charset="-122"/>
              </a:rPr>
              <a:t>Relation</a:t>
            </a:r>
            <a:r>
              <a:rPr kumimoji="1" lang="zh-CN" altLang="zh-CN" sz="3600" baseline="0" dirty="0">
                <a:latin typeface="微软雅黑" panose="020B0503020204020204" pitchFamily="34" charset="-122"/>
                <a:ea typeface="微软雅黑" panose="020B0503020204020204" pitchFamily="34" charset="-122"/>
              </a:rPr>
              <a:t>)</a:t>
            </a:r>
            <a:r>
              <a:rPr kumimoji="1" lang="zh-CN" altLang="en-US" sz="3600" baseline="0" dirty="0">
                <a:latin typeface="微软雅黑" panose="020B0503020204020204" pitchFamily="34" charset="-122"/>
                <a:ea typeface="微软雅黑" panose="020B0503020204020204" pitchFamily="34" charset="-122"/>
              </a:rPr>
              <a:t>。</a:t>
            </a:r>
            <a:endParaRPr kumimoji="1" lang="en-US" altLang="zh-CN" sz="3600" baseline="0" dirty="0">
              <a:latin typeface="微软雅黑" panose="020B0503020204020204" pitchFamily="34" charset="-122"/>
              <a:ea typeface="微软雅黑" panose="020B0503020204020204" pitchFamily="34" charset="-122"/>
            </a:endParaRPr>
          </a:p>
          <a:p>
            <a:pPr eaLnBrk="1" hangingPunct="1">
              <a:spcAft>
                <a:spcPct val="25000"/>
              </a:spcAft>
              <a:defRPr/>
            </a:pPr>
            <a:r>
              <a:rPr kumimoji="1" lang="zh-CN" altLang="en-US" sz="3600" baseline="0" dirty="0">
                <a:latin typeface="微软雅黑" panose="020B0503020204020204" pitchFamily="34" charset="-122"/>
                <a:ea typeface="微软雅黑" panose="020B0503020204020204" pitchFamily="34" charset="-122"/>
              </a:rPr>
              <a:t>其中域的数目</a:t>
            </a:r>
            <a:r>
              <a:rPr kumimoji="1" lang="en-US" altLang="zh-CN" sz="3600" baseline="0" dirty="0">
                <a:latin typeface="微软雅黑" panose="020B0503020204020204" pitchFamily="34" charset="-122"/>
                <a:ea typeface="微软雅黑" panose="020B0503020204020204" pitchFamily="34" charset="-122"/>
              </a:rPr>
              <a:t>n</a:t>
            </a:r>
            <a:r>
              <a:rPr kumimoji="1" lang="zh-CN" altLang="zh-CN" sz="3600" baseline="0" dirty="0">
                <a:latin typeface="微软雅黑" panose="020B0503020204020204" pitchFamily="34" charset="-122"/>
                <a:ea typeface="微软雅黑" panose="020B0503020204020204" pitchFamily="34" charset="-122"/>
              </a:rPr>
              <a:t>称为关系的</a:t>
            </a:r>
            <a:r>
              <a:rPr kumimoji="1" lang="zh-CN" altLang="zh-CN" sz="3600" b="1" baseline="0" dirty="0">
                <a:solidFill>
                  <a:srgbClr val="FFC000"/>
                </a:solidFill>
                <a:latin typeface="微软雅黑" panose="020B0503020204020204" pitchFamily="34" charset="-122"/>
                <a:ea typeface="微软雅黑" panose="020B0503020204020204" pitchFamily="34" charset="-122"/>
              </a:rPr>
              <a:t>度</a:t>
            </a:r>
            <a:r>
              <a:rPr kumimoji="1" lang="zh-CN" altLang="zh-CN" sz="3600" baseline="0" dirty="0">
                <a:latin typeface="微软雅黑" panose="020B0503020204020204" pitchFamily="34" charset="-122"/>
                <a:ea typeface="微软雅黑" panose="020B0503020204020204" pitchFamily="34" charset="-122"/>
              </a:rPr>
              <a:t>(</a:t>
            </a:r>
            <a:r>
              <a:rPr kumimoji="1" lang="zh-CN" altLang="en-US" sz="3600" baseline="0" dirty="0">
                <a:latin typeface="微软雅黑" panose="020B0503020204020204" pitchFamily="34" charset="-122"/>
                <a:ea typeface="微软雅黑" panose="020B0503020204020204" pitchFamily="34" charset="-122"/>
              </a:rPr>
              <a:t>D</a:t>
            </a:r>
            <a:r>
              <a:rPr kumimoji="1" lang="en-US" altLang="zh-CN" sz="3600" baseline="0" dirty="0" err="1">
                <a:latin typeface="微软雅黑" panose="020B0503020204020204" pitchFamily="34" charset="-122"/>
                <a:ea typeface="微软雅黑" panose="020B0503020204020204" pitchFamily="34" charset="-122"/>
              </a:rPr>
              <a:t>egree</a:t>
            </a:r>
            <a:r>
              <a:rPr kumimoji="1" lang="zh-CN" altLang="zh-CN" sz="3600" baseline="0" dirty="0">
                <a:latin typeface="微软雅黑" panose="020B0503020204020204" pitchFamily="34" charset="-122"/>
                <a:ea typeface="微软雅黑" panose="020B0503020204020204" pitchFamily="34" charset="-122"/>
              </a:rPr>
              <a:t>)。</a:t>
            </a:r>
          </a:p>
          <a:p>
            <a:pPr eaLnBrk="1" hangingPunct="1">
              <a:spcBef>
                <a:spcPct val="25000"/>
              </a:spcBef>
              <a:spcAft>
                <a:spcPct val="15000"/>
              </a:spcAft>
              <a:defRPr/>
            </a:pPr>
            <a:r>
              <a:rPr kumimoji="1" lang="zh-CN" altLang="en-US" sz="3600" baseline="0" dirty="0">
                <a:latin typeface="微软雅黑" panose="020B0503020204020204" pitchFamily="34" charset="-122"/>
                <a:ea typeface="微软雅黑" panose="020B0503020204020204" pitchFamily="34" charset="-122"/>
              </a:rPr>
              <a:t>度为</a:t>
            </a:r>
            <a:r>
              <a:rPr kumimoji="1" lang="en-US" altLang="zh-CN" sz="3600" baseline="0" dirty="0">
                <a:latin typeface="微软雅黑" panose="020B0503020204020204" pitchFamily="34" charset="-122"/>
                <a:ea typeface="微软雅黑" panose="020B0503020204020204" pitchFamily="34" charset="-122"/>
              </a:rPr>
              <a:t>n</a:t>
            </a:r>
            <a:r>
              <a:rPr kumimoji="1" lang="zh-CN" altLang="en-US" sz="3600" baseline="0" dirty="0">
                <a:latin typeface="微软雅黑" panose="020B0503020204020204" pitchFamily="34" charset="-122"/>
                <a:ea typeface="微软雅黑" panose="020B0503020204020204" pitchFamily="34" charset="-122"/>
              </a:rPr>
              <a:t>的关系称为</a:t>
            </a:r>
            <a:r>
              <a:rPr kumimoji="1" lang="en-US" altLang="zh-CN" sz="3600" b="1" baseline="0" dirty="0">
                <a:solidFill>
                  <a:srgbClr val="FFC000"/>
                </a:solidFill>
                <a:latin typeface="微软雅黑" panose="020B0503020204020204" pitchFamily="34" charset="-122"/>
                <a:ea typeface="微软雅黑" panose="020B0503020204020204" pitchFamily="34" charset="-122"/>
              </a:rPr>
              <a:t>n</a:t>
            </a:r>
            <a:r>
              <a:rPr kumimoji="1" lang="zh-CN" altLang="en-US" sz="3600" b="1" baseline="0" dirty="0">
                <a:solidFill>
                  <a:srgbClr val="FFC000"/>
                </a:solidFill>
                <a:latin typeface="微软雅黑" panose="020B0503020204020204" pitchFamily="34" charset="-122"/>
                <a:ea typeface="微软雅黑" panose="020B0503020204020204" pitchFamily="34" charset="-122"/>
              </a:rPr>
              <a:t>元</a:t>
            </a:r>
            <a:r>
              <a:rPr kumimoji="1" lang="zh-CN" altLang="en-US" sz="3600" baseline="0" dirty="0">
                <a:latin typeface="微软雅黑" panose="020B0503020204020204" pitchFamily="34" charset="-122"/>
                <a:ea typeface="微软雅黑" panose="020B0503020204020204" pitchFamily="34" charset="-122"/>
              </a:rPr>
              <a:t>关系</a:t>
            </a:r>
            <a:r>
              <a:rPr kumimoji="1" lang="zh-CN" altLang="zh-CN" sz="3600" baseline="0" dirty="0">
                <a:latin typeface="微软雅黑" panose="020B0503020204020204" pitchFamily="34" charset="-122"/>
                <a:ea typeface="微软雅黑" panose="020B0503020204020204" pitchFamily="34" charset="-122"/>
              </a:rPr>
              <a:t>。</a:t>
            </a:r>
            <a:endParaRPr kumimoji="1" lang="zh-CN" altLang="en-US" sz="3600" baseline="0" dirty="0">
              <a:latin typeface="微软雅黑" panose="020B0503020204020204" pitchFamily="34" charset="-122"/>
              <a:ea typeface="微软雅黑" panose="020B0503020204020204" pitchFamily="34" charset="-122"/>
            </a:endParaRPr>
          </a:p>
          <a:p>
            <a:pPr eaLnBrk="1" hangingPunct="1">
              <a:spcBef>
                <a:spcPct val="25000"/>
              </a:spcBef>
              <a:spcAft>
                <a:spcPct val="15000"/>
              </a:spcAft>
              <a:defRPr/>
            </a:pPr>
            <a:r>
              <a:rPr kumimoji="1" lang="zh-CN" altLang="zh-CN" sz="3600" baseline="0" dirty="0">
                <a:latin typeface="微软雅黑" panose="020B0503020204020204" pitchFamily="34" charset="-122"/>
                <a:ea typeface="微软雅黑" panose="020B0503020204020204" pitchFamily="34" charset="-122"/>
              </a:rPr>
              <a:t>关系</a:t>
            </a:r>
            <a:r>
              <a:rPr kumimoji="1" lang="zh-CN" altLang="en-US" sz="3600" baseline="0" dirty="0">
                <a:latin typeface="微软雅黑" panose="020B0503020204020204" pitchFamily="34" charset="-122"/>
                <a:ea typeface="微软雅黑" panose="020B0503020204020204" pitchFamily="34" charset="-122"/>
              </a:rPr>
              <a:t>可以看作</a:t>
            </a:r>
            <a:r>
              <a:rPr kumimoji="1" lang="zh-CN" altLang="zh-CN" sz="3600" baseline="0" dirty="0">
                <a:latin typeface="微软雅黑" panose="020B0503020204020204" pitchFamily="34" charset="-122"/>
                <a:ea typeface="微软雅黑" panose="020B0503020204020204" pitchFamily="34" charset="-122"/>
              </a:rPr>
              <a:t>是一张</a:t>
            </a:r>
            <a:r>
              <a:rPr kumimoji="1" lang="zh-CN" altLang="en-US" sz="3600" baseline="0" dirty="0">
                <a:latin typeface="微软雅黑" panose="020B0503020204020204" pitchFamily="34" charset="-122"/>
                <a:ea typeface="微软雅黑" panose="020B0503020204020204" pitchFamily="34" charset="-122"/>
              </a:rPr>
              <a:t>规则的，有意义的</a:t>
            </a:r>
            <a:r>
              <a:rPr kumimoji="1" lang="zh-CN" altLang="zh-CN" sz="3600" baseline="0" dirty="0">
                <a:latin typeface="微软雅黑" panose="020B0503020204020204" pitchFamily="34" charset="-122"/>
                <a:ea typeface="微软雅黑" panose="020B0503020204020204" pitchFamily="34" charset="-122"/>
              </a:rPr>
              <a:t>二维表</a:t>
            </a:r>
            <a:r>
              <a:rPr kumimoji="1" lang="zh-CN" altLang="en-US" sz="3600" baseline="0" dirty="0">
                <a:latin typeface="微软雅黑" panose="020B0503020204020204" pitchFamily="34" charset="-122"/>
                <a:ea typeface="微软雅黑" panose="020B0503020204020204" pitchFamily="34" charset="-122"/>
              </a:rPr>
              <a:t>。</a:t>
            </a:r>
            <a:endParaRPr kumimoji="1" lang="zh-CN" altLang="zh-CN" sz="3600" baseline="0" dirty="0">
              <a:latin typeface="微软雅黑" panose="020B0503020204020204" pitchFamily="34" charset="-122"/>
              <a:ea typeface="微软雅黑" panose="020B0503020204020204" pitchFamily="34" charset="-122"/>
            </a:endParaRPr>
          </a:p>
        </p:txBody>
      </p:sp>
      <p:grpSp>
        <p:nvGrpSpPr>
          <p:cNvPr id="12" name="Group 4"/>
          <p:cNvGrpSpPr>
            <a:grpSpLocks/>
          </p:cNvGrpSpPr>
          <p:nvPr/>
        </p:nvGrpSpPr>
        <p:grpSpPr bwMode="auto">
          <a:xfrm>
            <a:off x="2481564" y="4653137"/>
            <a:ext cx="6095797" cy="1944216"/>
            <a:chOff x="1112" y="2886"/>
            <a:chExt cx="3038" cy="799"/>
          </a:xfrm>
        </p:grpSpPr>
        <p:sp>
          <p:nvSpPr>
            <p:cNvPr id="13" name="Rectangle 5"/>
            <p:cNvSpPr>
              <a:spLocks noChangeArrowheads="1"/>
            </p:cNvSpPr>
            <p:nvPr/>
          </p:nvSpPr>
          <p:spPr bwMode="auto">
            <a:xfrm>
              <a:off x="2985" y="3486"/>
              <a:ext cx="1165" cy="199"/>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数据结构</a:t>
              </a:r>
            </a:p>
          </p:txBody>
        </p:sp>
        <p:sp>
          <p:nvSpPr>
            <p:cNvPr id="14" name="Rectangle 6"/>
            <p:cNvSpPr>
              <a:spLocks noChangeArrowheads="1"/>
            </p:cNvSpPr>
            <p:nvPr/>
          </p:nvSpPr>
          <p:spPr bwMode="auto">
            <a:xfrm>
              <a:off x="1821" y="3486"/>
              <a:ext cx="1164" cy="199"/>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计算机</a:t>
              </a:r>
            </a:p>
          </p:txBody>
        </p:sp>
        <p:sp>
          <p:nvSpPr>
            <p:cNvPr id="15" name="Rectangle 7"/>
            <p:cNvSpPr>
              <a:spLocks noChangeArrowheads="1"/>
            </p:cNvSpPr>
            <p:nvPr/>
          </p:nvSpPr>
          <p:spPr bwMode="auto">
            <a:xfrm>
              <a:off x="1112" y="3486"/>
              <a:ext cx="709" cy="199"/>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王五</a:t>
              </a:r>
            </a:p>
          </p:txBody>
        </p:sp>
        <p:sp>
          <p:nvSpPr>
            <p:cNvPr id="16" name="Rectangle 8"/>
            <p:cNvSpPr>
              <a:spLocks noChangeArrowheads="1"/>
            </p:cNvSpPr>
            <p:nvPr/>
          </p:nvSpPr>
          <p:spPr bwMode="auto">
            <a:xfrm>
              <a:off x="2985" y="3286"/>
              <a:ext cx="1165" cy="199"/>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数据结构</a:t>
              </a:r>
            </a:p>
          </p:txBody>
        </p:sp>
        <p:sp>
          <p:nvSpPr>
            <p:cNvPr id="17" name="Rectangle 9"/>
            <p:cNvSpPr>
              <a:spLocks noChangeArrowheads="1"/>
            </p:cNvSpPr>
            <p:nvPr/>
          </p:nvSpPr>
          <p:spPr bwMode="auto">
            <a:xfrm>
              <a:off x="1821" y="3286"/>
              <a:ext cx="1164" cy="199"/>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计算机</a:t>
              </a:r>
            </a:p>
          </p:txBody>
        </p:sp>
        <p:sp>
          <p:nvSpPr>
            <p:cNvPr id="18" name="Rectangle 10"/>
            <p:cNvSpPr>
              <a:spLocks noChangeArrowheads="1"/>
            </p:cNvSpPr>
            <p:nvPr/>
          </p:nvSpPr>
          <p:spPr bwMode="auto">
            <a:xfrm>
              <a:off x="1112" y="3286"/>
              <a:ext cx="709" cy="199"/>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李四</a:t>
              </a:r>
            </a:p>
          </p:txBody>
        </p:sp>
        <p:sp>
          <p:nvSpPr>
            <p:cNvPr id="19" name="Rectangle 11"/>
            <p:cNvSpPr>
              <a:spLocks noChangeArrowheads="1"/>
            </p:cNvSpPr>
            <p:nvPr/>
          </p:nvSpPr>
          <p:spPr bwMode="auto">
            <a:xfrm>
              <a:off x="2985" y="3086"/>
              <a:ext cx="1165" cy="200"/>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a:ln>
                    <a:noFill/>
                  </a:ln>
                  <a:solidFill>
                    <a:srgbClr val="CCFFCC"/>
                  </a:solidFill>
                  <a:effectLst>
                    <a:outerShdw blurRad="38100" dist="38100" dir="2700000" algn="tl">
                      <a:srgbClr val="000000"/>
                    </a:outerShdw>
                  </a:effectLst>
                  <a:uLnTx/>
                  <a:uFillTx/>
                  <a:latin typeface="Times New Roman" pitchFamily="18" charset="0"/>
                </a:rPr>
                <a:t>肉品加工</a:t>
              </a:r>
            </a:p>
          </p:txBody>
        </p:sp>
        <p:sp>
          <p:nvSpPr>
            <p:cNvPr id="20" name="Rectangle 12"/>
            <p:cNvSpPr>
              <a:spLocks noChangeArrowheads="1"/>
            </p:cNvSpPr>
            <p:nvPr/>
          </p:nvSpPr>
          <p:spPr bwMode="auto">
            <a:xfrm>
              <a:off x="1821" y="3086"/>
              <a:ext cx="1164" cy="200"/>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rPr>
                <a:t>食品</a:t>
              </a:r>
            </a:p>
          </p:txBody>
        </p:sp>
        <p:sp>
          <p:nvSpPr>
            <p:cNvPr id="21" name="Rectangle 13"/>
            <p:cNvSpPr>
              <a:spLocks noChangeArrowheads="1"/>
            </p:cNvSpPr>
            <p:nvPr/>
          </p:nvSpPr>
          <p:spPr bwMode="auto">
            <a:xfrm>
              <a:off x="1112" y="3086"/>
              <a:ext cx="709" cy="200"/>
            </a:xfrm>
            <a:prstGeom prst="rect">
              <a:avLst/>
            </a:prstGeom>
            <a:no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0" i="0" u="none" strike="noStrike" kern="0" cap="none" spc="0" normalizeH="0" baseline="0" noProof="0" dirty="0">
                  <a:ln>
                    <a:noFill/>
                  </a:ln>
                  <a:solidFill>
                    <a:srgbClr val="CCFFCC"/>
                  </a:solidFill>
                  <a:effectLst>
                    <a:outerShdw blurRad="38100" dist="38100" dir="2700000" algn="tl">
                      <a:srgbClr val="000000"/>
                    </a:outerShdw>
                  </a:effectLst>
                  <a:uLnTx/>
                  <a:uFillTx/>
                  <a:latin typeface="Times New Roman" pitchFamily="18" charset="0"/>
                </a:rPr>
                <a:t>张三</a:t>
              </a:r>
            </a:p>
          </p:txBody>
        </p:sp>
        <p:sp>
          <p:nvSpPr>
            <p:cNvPr id="22" name="Rectangle 14"/>
            <p:cNvSpPr>
              <a:spLocks noChangeArrowheads="1"/>
            </p:cNvSpPr>
            <p:nvPr/>
          </p:nvSpPr>
          <p:spPr bwMode="auto">
            <a:xfrm>
              <a:off x="2985" y="2886"/>
              <a:ext cx="1165" cy="200"/>
            </a:xfrm>
            <a:prstGeom prst="rect">
              <a:avLst/>
            </a:prstGeom>
            <a:solidFill>
              <a:srgbClr val="0000F2"/>
            </a:solid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1" i="0" u="none" strike="noStrike" kern="0" cap="none" spc="0" normalizeH="0" baseline="0" noProof="0">
                  <a:ln>
                    <a:noFill/>
                  </a:ln>
                  <a:solidFill>
                    <a:srgbClr val="99FF33"/>
                  </a:solidFill>
                  <a:effectLst>
                    <a:outerShdw blurRad="38100" dist="38100" dir="2700000" algn="tl">
                      <a:srgbClr val="000000"/>
                    </a:outerShdw>
                  </a:effectLst>
                  <a:uLnTx/>
                  <a:uFillTx/>
                  <a:latin typeface="Times New Roman" pitchFamily="18" charset="0"/>
                </a:rPr>
                <a:t>课程</a:t>
              </a:r>
            </a:p>
          </p:txBody>
        </p:sp>
        <p:sp>
          <p:nvSpPr>
            <p:cNvPr id="23" name="Rectangle 15"/>
            <p:cNvSpPr>
              <a:spLocks noChangeArrowheads="1"/>
            </p:cNvSpPr>
            <p:nvPr/>
          </p:nvSpPr>
          <p:spPr bwMode="auto">
            <a:xfrm>
              <a:off x="1821" y="2886"/>
              <a:ext cx="1164" cy="200"/>
            </a:xfrm>
            <a:prstGeom prst="rect">
              <a:avLst/>
            </a:prstGeom>
            <a:solidFill>
              <a:srgbClr val="0000F2"/>
            </a:solid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1" i="0" u="none" strike="noStrike" kern="0" cap="none" spc="0" normalizeH="0" baseline="0" noProof="0">
                  <a:ln>
                    <a:noFill/>
                  </a:ln>
                  <a:solidFill>
                    <a:srgbClr val="99FF33"/>
                  </a:solidFill>
                  <a:effectLst>
                    <a:outerShdw blurRad="38100" dist="38100" dir="2700000" algn="tl">
                      <a:srgbClr val="000000"/>
                    </a:outerShdw>
                  </a:effectLst>
                  <a:uLnTx/>
                  <a:uFillTx/>
                  <a:latin typeface="Times New Roman" pitchFamily="18" charset="0"/>
                </a:rPr>
                <a:t>专业</a:t>
              </a:r>
            </a:p>
          </p:txBody>
        </p:sp>
        <p:sp>
          <p:nvSpPr>
            <p:cNvPr id="24" name="Rectangle 16"/>
            <p:cNvSpPr>
              <a:spLocks noChangeArrowheads="1"/>
            </p:cNvSpPr>
            <p:nvPr/>
          </p:nvSpPr>
          <p:spPr bwMode="auto">
            <a:xfrm>
              <a:off x="1112" y="2886"/>
              <a:ext cx="709" cy="200"/>
            </a:xfrm>
            <a:prstGeom prst="rect">
              <a:avLst/>
            </a:prstGeom>
            <a:solidFill>
              <a:srgbClr val="0000F2"/>
            </a:solidFill>
            <a:ln w="12700" cap="sq">
              <a:noFill/>
              <a:miter lim="800000"/>
              <a:headEnd/>
              <a:tailEnd/>
            </a:ln>
            <a:effectLst/>
          </p:spPr>
          <p:txBody>
            <a:bodyPr lIns="0" tIns="0" rIns="0" bIns="0"/>
            <a:lstStyle/>
            <a:p>
              <a:pPr marL="0" marR="0" lvl="0" indent="0" algn="ctr" defTabSz="914400" eaLnBrk="1" fontAlgn="auto" latinLnBrk="0" hangingPunct="1">
                <a:lnSpc>
                  <a:spcPct val="100000"/>
                </a:lnSpc>
                <a:spcBef>
                  <a:spcPts val="0"/>
                </a:spcBef>
                <a:spcAft>
                  <a:spcPct val="40000"/>
                </a:spcAft>
                <a:buClr>
                  <a:srgbClr val="66FF33"/>
                </a:buClr>
                <a:buSzPct val="85000"/>
                <a:buFontTx/>
                <a:buNone/>
                <a:tabLst/>
                <a:defRPr/>
              </a:pPr>
              <a:r>
                <a:rPr kumimoji="0" lang="zh-CN" altLang="en-US" sz="2800" b="1" i="0" u="none" strike="noStrike" kern="0" cap="none" spc="0" normalizeH="0" baseline="0" noProof="0" dirty="0">
                  <a:ln>
                    <a:noFill/>
                  </a:ln>
                  <a:solidFill>
                    <a:srgbClr val="99FF33"/>
                  </a:solidFill>
                  <a:effectLst>
                    <a:outerShdw blurRad="38100" dist="38100" dir="2700000" algn="tl">
                      <a:srgbClr val="000000"/>
                    </a:outerShdw>
                  </a:effectLst>
                  <a:uLnTx/>
                  <a:uFillTx/>
                  <a:latin typeface="Times New Roman" pitchFamily="18" charset="0"/>
                </a:rPr>
                <a:t>学生</a:t>
              </a:r>
            </a:p>
          </p:txBody>
        </p:sp>
        <p:sp>
          <p:nvSpPr>
            <p:cNvPr id="25" name="Line 17"/>
            <p:cNvSpPr>
              <a:spLocks noChangeShapeType="1"/>
            </p:cNvSpPr>
            <p:nvPr/>
          </p:nvSpPr>
          <p:spPr bwMode="auto">
            <a:xfrm>
              <a:off x="1112" y="2886"/>
              <a:ext cx="3038" cy="0"/>
            </a:xfrm>
            <a:prstGeom prst="line">
              <a:avLst/>
            </a:prstGeom>
            <a:noFill/>
            <a:ln w="28575" cap="sq">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6" name="Line 18"/>
            <p:cNvSpPr>
              <a:spLocks noChangeShapeType="1"/>
            </p:cNvSpPr>
            <p:nvPr/>
          </p:nvSpPr>
          <p:spPr bwMode="auto">
            <a:xfrm>
              <a:off x="1112" y="3086"/>
              <a:ext cx="3038" cy="0"/>
            </a:xfrm>
            <a:prstGeom prst="line">
              <a:avLst/>
            </a:prstGeom>
            <a:noFill/>
            <a:ln w="12700">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7" name="Line 19"/>
            <p:cNvSpPr>
              <a:spLocks noChangeShapeType="1"/>
            </p:cNvSpPr>
            <p:nvPr/>
          </p:nvSpPr>
          <p:spPr bwMode="auto">
            <a:xfrm>
              <a:off x="1112" y="3286"/>
              <a:ext cx="3038" cy="0"/>
            </a:xfrm>
            <a:prstGeom prst="line">
              <a:avLst/>
            </a:prstGeom>
            <a:noFill/>
            <a:ln w="12700">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8" name="Line 20"/>
            <p:cNvSpPr>
              <a:spLocks noChangeShapeType="1"/>
            </p:cNvSpPr>
            <p:nvPr/>
          </p:nvSpPr>
          <p:spPr bwMode="auto">
            <a:xfrm>
              <a:off x="1112" y="3486"/>
              <a:ext cx="3038" cy="0"/>
            </a:xfrm>
            <a:prstGeom prst="line">
              <a:avLst/>
            </a:prstGeom>
            <a:noFill/>
            <a:ln w="12700">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29" name="Line 21"/>
            <p:cNvSpPr>
              <a:spLocks noChangeShapeType="1"/>
            </p:cNvSpPr>
            <p:nvPr/>
          </p:nvSpPr>
          <p:spPr bwMode="auto">
            <a:xfrm>
              <a:off x="1112" y="3685"/>
              <a:ext cx="3038" cy="0"/>
            </a:xfrm>
            <a:prstGeom prst="line">
              <a:avLst/>
            </a:prstGeom>
            <a:noFill/>
            <a:ln w="28575" cap="sq">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30" name="Line 22"/>
            <p:cNvSpPr>
              <a:spLocks noChangeShapeType="1"/>
            </p:cNvSpPr>
            <p:nvPr/>
          </p:nvSpPr>
          <p:spPr bwMode="auto">
            <a:xfrm>
              <a:off x="1112" y="2886"/>
              <a:ext cx="0" cy="799"/>
            </a:xfrm>
            <a:prstGeom prst="line">
              <a:avLst/>
            </a:prstGeom>
            <a:noFill/>
            <a:ln w="28575" cap="sq">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31" name="Line 23"/>
            <p:cNvSpPr>
              <a:spLocks noChangeShapeType="1"/>
            </p:cNvSpPr>
            <p:nvPr/>
          </p:nvSpPr>
          <p:spPr bwMode="auto">
            <a:xfrm>
              <a:off x="1821" y="2886"/>
              <a:ext cx="0" cy="799"/>
            </a:xfrm>
            <a:prstGeom prst="line">
              <a:avLst/>
            </a:prstGeom>
            <a:noFill/>
            <a:ln w="12700">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32" name="Line 24"/>
            <p:cNvSpPr>
              <a:spLocks noChangeShapeType="1"/>
            </p:cNvSpPr>
            <p:nvPr/>
          </p:nvSpPr>
          <p:spPr bwMode="auto">
            <a:xfrm>
              <a:off x="2985" y="2886"/>
              <a:ext cx="0" cy="799"/>
            </a:xfrm>
            <a:prstGeom prst="line">
              <a:avLst/>
            </a:prstGeom>
            <a:noFill/>
            <a:ln w="12700">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sp>
          <p:nvSpPr>
            <p:cNvPr id="33" name="Line 25"/>
            <p:cNvSpPr>
              <a:spLocks noChangeShapeType="1"/>
            </p:cNvSpPr>
            <p:nvPr/>
          </p:nvSpPr>
          <p:spPr bwMode="auto">
            <a:xfrm>
              <a:off x="4150" y="2886"/>
              <a:ext cx="0" cy="799"/>
            </a:xfrm>
            <a:prstGeom prst="line">
              <a:avLst/>
            </a:prstGeom>
            <a:noFill/>
            <a:ln w="28575" cap="sq">
              <a:solidFill>
                <a:srgbClr val="FFFFFF"/>
              </a:solidFill>
              <a:round/>
              <a:headEnd/>
              <a:tailEnd/>
            </a:ln>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ysClr val="windowText" lastClr="000000"/>
                </a:solidFill>
                <a:effectLst/>
                <a:uLnTx/>
                <a:uFillTx/>
              </a:endParaRPr>
            </a:p>
          </p:txBody>
        </p:sp>
      </p:grpSp>
    </p:spTree>
    <p:extLst>
      <p:ext uri="{BB962C8B-B14F-4D97-AF65-F5344CB8AC3E}">
        <p14:creationId xmlns:p14="http://schemas.microsoft.com/office/powerpoint/2010/main" val="319219091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34" name="Rectangle 3"/>
          <p:cNvSpPr txBox="1">
            <a:spLocks noChangeArrowheads="1"/>
          </p:cNvSpPr>
          <p:nvPr/>
        </p:nvSpPr>
        <p:spPr bwMode="auto">
          <a:xfrm>
            <a:off x="191344" y="794190"/>
            <a:ext cx="11603356" cy="3327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ts val="1800"/>
              </a:spcAft>
              <a:defRPr/>
            </a:pPr>
            <a:r>
              <a:rPr kumimoji="1" lang="zh-CN" altLang="en-US" sz="3600" baseline="0" dirty="0">
                <a:latin typeface="微软雅黑" panose="020B0503020204020204" pitchFamily="34" charset="-122"/>
                <a:ea typeface="微软雅黑" panose="020B0503020204020204" pitchFamily="34" charset="-122"/>
              </a:rPr>
              <a:t>  关系应具备如下性质：</a:t>
            </a:r>
          </a:p>
          <a:p>
            <a:pPr marL="450850" lvl="1" indent="-271463" eaLnBrk="1" hangingPunct="1">
              <a:spcAft>
                <a:spcPts val="600"/>
              </a:spcAft>
              <a:buClr>
                <a:srgbClr val="FFFF00"/>
              </a:buClr>
              <a:buSzPct val="75000"/>
              <a:buFont typeface="Wingdings" pitchFamily="2" charset="2"/>
              <a:buAutoNum type="arabicPeriod"/>
              <a:defRPr/>
            </a:pPr>
            <a:r>
              <a:rPr kumimoji="1" lang="zh-CN" altLang="zh-CN" sz="3000" baseline="0" dirty="0">
                <a:latin typeface="微软雅黑" panose="020B0503020204020204" pitchFamily="34" charset="-122"/>
                <a:ea typeface="微软雅黑" panose="020B0503020204020204" pitchFamily="34" charset="-122"/>
              </a:rPr>
              <a:t>不允许出现完全相同的元组</a:t>
            </a:r>
          </a:p>
          <a:p>
            <a:pPr marL="450850" lvl="1" indent="-271463" eaLnBrk="1" hangingPunct="1">
              <a:spcAft>
                <a:spcPts val="600"/>
              </a:spcAft>
              <a:buClr>
                <a:srgbClr val="FFFF00"/>
              </a:buClr>
              <a:buSzPct val="75000"/>
              <a:buFont typeface="Wingdings" pitchFamily="2" charset="2"/>
              <a:buAutoNum type="arabicPeriod"/>
              <a:defRPr/>
            </a:pPr>
            <a:r>
              <a:rPr kumimoji="1" lang="zh-CN" altLang="zh-CN" sz="3000" baseline="0" dirty="0">
                <a:latin typeface="微软雅黑" panose="020B0503020204020204" pitchFamily="34" charset="-122"/>
                <a:ea typeface="微软雅黑" panose="020B0503020204020204" pitchFamily="34" charset="-122"/>
              </a:rPr>
              <a:t>元组次序</a:t>
            </a:r>
            <a:r>
              <a:rPr kumimoji="1" lang="zh-CN" altLang="en-US" sz="3000" baseline="0" dirty="0">
                <a:latin typeface="微软雅黑" panose="020B0503020204020204" pitchFamily="34" charset="-122"/>
                <a:ea typeface="微软雅黑" panose="020B0503020204020204" pitchFamily="34" charset="-122"/>
              </a:rPr>
              <a:t>是</a:t>
            </a:r>
            <a:r>
              <a:rPr kumimoji="1" lang="zh-CN" altLang="zh-CN" sz="3000" baseline="0" dirty="0">
                <a:latin typeface="微软雅黑" panose="020B0503020204020204" pitchFamily="34" charset="-122"/>
                <a:ea typeface="微软雅黑" panose="020B0503020204020204" pitchFamily="34" charset="-122"/>
              </a:rPr>
              <a:t>任意</a:t>
            </a:r>
            <a:r>
              <a:rPr kumimoji="1" lang="zh-CN" altLang="en-US" sz="3000" baseline="0" dirty="0">
                <a:latin typeface="微软雅黑" panose="020B0503020204020204" pitchFamily="34" charset="-122"/>
                <a:ea typeface="微软雅黑" panose="020B0503020204020204" pitchFamily="34" charset="-122"/>
              </a:rPr>
              <a:t>的</a:t>
            </a:r>
          </a:p>
          <a:p>
            <a:pPr marL="450850" lvl="1" indent="-271463" eaLnBrk="1" hangingPunct="1">
              <a:spcAft>
                <a:spcPts val="600"/>
              </a:spcAft>
              <a:buClr>
                <a:srgbClr val="FFFF00"/>
              </a:buClr>
              <a:buSzPct val="75000"/>
              <a:buFont typeface="Wingdings" pitchFamily="2" charset="2"/>
              <a:buAutoNum type="arabicPeriod"/>
              <a:defRPr/>
            </a:pPr>
            <a:r>
              <a:rPr kumimoji="1" lang="zh-CN" altLang="en-US" sz="3000" baseline="0" dirty="0">
                <a:latin typeface="微软雅黑" panose="020B0503020204020204" pitchFamily="34" charset="-122"/>
                <a:ea typeface="微软雅黑" panose="020B0503020204020204" pitchFamily="34" charset="-122"/>
              </a:rPr>
              <a:t>理论上没有列序</a:t>
            </a:r>
            <a:endParaRPr kumimoji="1" lang="zh-CN" altLang="zh-CN" sz="3000" baseline="0" dirty="0">
              <a:latin typeface="微软雅黑" panose="020B0503020204020204" pitchFamily="34" charset="-122"/>
              <a:ea typeface="微软雅黑" panose="020B0503020204020204" pitchFamily="34" charset="-122"/>
            </a:endParaRPr>
          </a:p>
          <a:p>
            <a:pPr marL="450850" lvl="1" indent="-271463" eaLnBrk="1" hangingPunct="1">
              <a:spcAft>
                <a:spcPts val="600"/>
              </a:spcAft>
              <a:buClr>
                <a:srgbClr val="FFFF00"/>
              </a:buClr>
              <a:buSzPct val="75000"/>
              <a:buFont typeface="Wingdings" pitchFamily="2" charset="2"/>
              <a:buAutoNum type="arabicPeriod"/>
              <a:defRPr/>
            </a:pPr>
            <a:r>
              <a:rPr kumimoji="1" lang="zh-CN" altLang="en-US" sz="3000" baseline="0" dirty="0">
                <a:latin typeface="微软雅黑" panose="020B0503020204020204" pitchFamily="34" charset="-122"/>
                <a:ea typeface="微软雅黑" panose="020B0503020204020204" pitchFamily="34" charset="-122"/>
              </a:rPr>
              <a:t>列是同质的。即一</a:t>
            </a:r>
            <a:r>
              <a:rPr kumimoji="1" lang="zh-CN" altLang="zh-CN" sz="3000" baseline="0" dirty="0">
                <a:latin typeface="微软雅黑" panose="020B0503020204020204" pitchFamily="34" charset="-122"/>
                <a:ea typeface="微软雅黑" panose="020B0503020204020204" pitchFamily="34" charset="-122"/>
              </a:rPr>
              <a:t>列的</a:t>
            </a:r>
            <a:r>
              <a:rPr kumimoji="1" lang="zh-CN" altLang="en-US" sz="3000" baseline="0" dirty="0">
                <a:latin typeface="微软雅黑" panose="020B0503020204020204" pitchFamily="34" charset="-122"/>
                <a:ea typeface="微软雅黑" panose="020B0503020204020204" pitchFamily="34" charset="-122"/>
              </a:rPr>
              <a:t>值都</a:t>
            </a:r>
            <a:r>
              <a:rPr kumimoji="1" lang="zh-CN" altLang="zh-CN" sz="3000" baseline="0" dirty="0">
                <a:latin typeface="微软雅黑" panose="020B0503020204020204" pitchFamily="34" charset="-122"/>
                <a:ea typeface="微软雅黑" panose="020B0503020204020204" pitchFamily="34" charset="-122"/>
              </a:rPr>
              <a:t>来自于同一个域，是同一类型的数据</a:t>
            </a:r>
            <a:r>
              <a:rPr kumimoji="1" lang="zh-CN" altLang="en-US" sz="3000" baseline="0" dirty="0">
                <a:latin typeface="微软雅黑" panose="020B0503020204020204" pitchFamily="34" charset="-122"/>
                <a:ea typeface="微软雅黑" panose="020B0503020204020204" pitchFamily="34" charset="-122"/>
              </a:rPr>
              <a:t>。</a:t>
            </a:r>
            <a:endParaRPr kumimoji="1" lang="zh-CN" altLang="zh-CN" sz="3000" baseline="0" dirty="0">
              <a:latin typeface="微软雅黑" panose="020B0503020204020204" pitchFamily="34" charset="-122"/>
              <a:ea typeface="微软雅黑" panose="020B0503020204020204" pitchFamily="34" charset="-122"/>
            </a:endParaRPr>
          </a:p>
          <a:p>
            <a:pPr marL="450850" lvl="1" indent="-271463" eaLnBrk="1" hangingPunct="1">
              <a:spcAft>
                <a:spcPts val="600"/>
              </a:spcAft>
              <a:buClr>
                <a:srgbClr val="FFFF00"/>
              </a:buClr>
              <a:buSzPct val="75000"/>
              <a:buFont typeface="Wingdings" pitchFamily="2" charset="2"/>
              <a:buAutoNum type="arabicPeriod"/>
              <a:defRPr/>
            </a:pPr>
            <a:r>
              <a:rPr kumimoji="1" lang="zh-CN" altLang="zh-CN" sz="3000" baseline="0" dirty="0">
                <a:latin typeface="微软雅黑" panose="020B0503020204020204" pitchFamily="34" charset="-122"/>
                <a:ea typeface="微软雅黑" panose="020B0503020204020204" pitchFamily="34" charset="-122"/>
              </a:rPr>
              <a:t>不同的列可</a:t>
            </a:r>
            <a:r>
              <a:rPr kumimoji="1" lang="zh-CN" altLang="en-US" sz="3000" baseline="0" dirty="0">
                <a:latin typeface="微软雅黑" panose="020B0503020204020204" pitchFamily="34" charset="-122"/>
                <a:ea typeface="微软雅黑" panose="020B0503020204020204" pitchFamily="34" charset="-122"/>
              </a:rPr>
              <a:t>出</a:t>
            </a:r>
            <a:r>
              <a:rPr kumimoji="1" lang="zh-CN" altLang="zh-CN" sz="3000" baseline="0" dirty="0">
                <a:latin typeface="微软雅黑" panose="020B0503020204020204" pitchFamily="34" charset="-122"/>
                <a:ea typeface="微软雅黑" panose="020B0503020204020204" pitchFamily="34" charset="-122"/>
              </a:rPr>
              <a:t>自同一域，每一列称为一个</a:t>
            </a:r>
            <a:r>
              <a:rPr kumimoji="1" lang="zh-CN" altLang="zh-CN" sz="3000" b="1" baseline="0" dirty="0">
                <a:solidFill>
                  <a:srgbClr val="FFC000"/>
                </a:solidFill>
                <a:latin typeface="微软雅黑" panose="020B0503020204020204" pitchFamily="34" charset="-122"/>
                <a:ea typeface="微软雅黑" panose="020B0503020204020204" pitchFamily="34" charset="-122"/>
              </a:rPr>
              <a:t>属性</a:t>
            </a:r>
            <a:r>
              <a:rPr kumimoji="1" lang="zh-CN" altLang="zh-CN" sz="3000" baseline="0" dirty="0">
                <a:latin typeface="微软雅黑" panose="020B0503020204020204" pitchFamily="34" charset="-122"/>
                <a:ea typeface="微软雅黑" panose="020B0503020204020204" pitchFamily="34" charset="-122"/>
              </a:rPr>
              <a:t>，</a:t>
            </a:r>
            <a:r>
              <a:rPr kumimoji="1" lang="zh-CN" altLang="en-US" sz="3000" baseline="0" dirty="0">
                <a:latin typeface="微软雅黑" panose="020B0503020204020204" pitchFamily="34" charset="-122"/>
                <a:ea typeface="微软雅黑" panose="020B0503020204020204" pitchFamily="34" charset="-122"/>
              </a:rPr>
              <a:t>有</a:t>
            </a:r>
            <a:r>
              <a:rPr kumimoji="1" lang="zh-CN" altLang="zh-CN" sz="3000" baseline="0" dirty="0">
                <a:latin typeface="微软雅黑" panose="020B0503020204020204" pitchFamily="34" charset="-122"/>
                <a:ea typeface="微软雅黑" panose="020B0503020204020204" pitchFamily="34" charset="-122"/>
              </a:rPr>
              <a:t>唯一</a:t>
            </a:r>
            <a:r>
              <a:rPr kumimoji="1" lang="zh-CN" altLang="en-US" sz="3000" baseline="0" dirty="0">
                <a:latin typeface="微软雅黑" panose="020B0503020204020204" pitchFamily="34" charset="-122"/>
                <a:ea typeface="微软雅黑" panose="020B0503020204020204" pitchFamily="34" charset="-122"/>
              </a:rPr>
              <a:t>的</a:t>
            </a:r>
            <a:r>
              <a:rPr kumimoji="1" lang="zh-CN" altLang="zh-CN" sz="3000" baseline="0" dirty="0">
                <a:latin typeface="微软雅黑" panose="020B0503020204020204" pitchFamily="34" charset="-122"/>
                <a:ea typeface="微软雅黑" panose="020B0503020204020204" pitchFamily="34" charset="-122"/>
              </a:rPr>
              <a:t>属性名</a:t>
            </a:r>
            <a:r>
              <a:rPr kumimoji="1" lang="zh-CN" altLang="en-US" sz="3000" baseline="0" dirty="0">
                <a:latin typeface="微软雅黑" panose="020B0503020204020204" pitchFamily="34" charset="-122"/>
                <a:ea typeface="微软雅黑" panose="020B0503020204020204" pitchFamily="34" charset="-122"/>
              </a:rPr>
              <a:t>。</a:t>
            </a:r>
            <a:endParaRPr kumimoji="1" lang="zh-CN" altLang="zh-CN" sz="3000" baseline="0" dirty="0">
              <a:latin typeface="微软雅黑" panose="020B0503020204020204" pitchFamily="34" charset="-122"/>
              <a:ea typeface="微软雅黑" panose="020B0503020204020204" pitchFamily="34" charset="-122"/>
            </a:endParaRPr>
          </a:p>
          <a:p>
            <a:pPr marL="450850" lvl="1" indent="-271463" eaLnBrk="1" hangingPunct="1">
              <a:spcAft>
                <a:spcPts val="600"/>
              </a:spcAft>
              <a:buClr>
                <a:srgbClr val="FFFF00"/>
              </a:buClr>
              <a:buSzPct val="75000"/>
              <a:buFont typeface="Wingdings" pitchFamily="2" charset="2"/>
              <a:buAutoNum type="arabicPeriod"/>
              <a:defRPr/>
            </a:pPr>
            <a:r>
              <a:rPr kumimoji="1" lang="zh-CN" altLang="en-US" sz="3000" baseline="0" dirty="0">
                <a:latin typeface="微软雅黑" panose="020B0503020204020204" pitchFamily="34" charset="-122"/>
                <a:ea typeface="微软雅黑" panose="020B0503020204020204" pitchFamily="34" charset="-122"/>
              </a:rPr>
              <a:t>属性值</a:t>
            </a:r>
            <a:r>
              <a:rPr kumimoji="1" lang="zh-CN" altLang="zh-CN" sz="3000" baseline="0" dirty="0">
                <a:latin typeface="微软雅黑" panose="020B0503020204020204" pitchFamily="34" charset="-122"/>
                <a:ea typeface="微软雅黑" panose="020B0503020204020204" pitchFamily="34" charset="-122"/>
              </a:rPr>
              <a:t>是不可再分的数据项，即具有原子性</a:t>
            </a:r>
            <a:r>
              <a:rPr kumimoji="1" lang="zh-CN" altLang="en-US" sz="3000" baseline="0" dirty="0">
                <a:latin typeface="微软雅黑" panose="020B0503020204020204" pitchFamily="34" charset="-122"/>
                <a:ea typeface="微软雅黑" panose="020B0503020204020204" pitchFamily="34" charset="-122"/>
              </a:rPr>
              <a:t>。</a:t>
            </a:r>
            <a:endParaRPr kumimoji="1" lang="zh-CN" altLang="zh-CN" sz="3000" baseline="0" dirty="0">
              <a:latin typeface="微软雅黑" panose="020B0503020204020204" pitchFamily="34" charset="-122"/>
              <a:ea typeface="微软雅黑" panose="020B0503020204020204" pitchFamily="34" charset="-122"/>
            </a:endParaRPr>
          </a:p>
        </p:txBody>
      </p:sp>
      <p:graphicFrame>
        <p:nvGraphicFramePr>
          <p:cNvPr id="35" name="Group 4"/>
          <p:cNvGraphicFramePr>
            <a:graphicFrameLocks noGrp="1"/>
          </p:cNvGraphicFramePr>
          <p:nvPr>
            <p:extLst>
              <p:ext uri="{D42A27DB-BD31-4B8C-83A1-F6EECF244321}">
                <p14:modId xmlns:p14="http://schemas.microsoft.com/office/powerpoint/2010/main" val="810725349"/>
              </p:ext>
            </p:extLst>
          </p:nvPr>
        </p:nvGraphicFramePr>
        <p:xfrm>
          <a:off x="6744072" y="4952216"/>
          <a:ext cx="4353896" cy="1728976"/>
        </p:xfrm>
        <a:graphic>
          <a:graphicData uri="http://schemas.openxmlformats.org/drawingml/2006/table">
            <a:tbl>
              <a:tblPr/>
              <a:tblGrid>
                <a:gridCol w="1222176">
                  <a:extLst>
                    <a:ext uri="{9D8B030D-6E8A-4147-A177-3AD203B41FA5}">
                      <a16:colId xmlns:a16="http://schemas.microsoft.com/office/drawing/2014/main" val="20000"/>
                    </a:ext>
                  </a:extLst>
                </a:gridCol>
                <a:gridCol w="1160468">
                  <a:extLst>
                    <a:ext uri="{9D8B030D-6E8A-4147-A177-3AD203B41FA5}">
                      <a16:colId xmlns:a16="http://schemas.microsoft.com/office/drawing/2014/main" val="20001"/>
                    </a:ext>
                  </a:extLst>
                </a:gridCol>
                <a:gridCol w="917060">
                  <a:extLst>
                    <a:ext uri="{9D8B030D-6E8A-4147-A177-3AD203B41FA5}">
                      <a16:colId xmlns:a16="http://schemas.microsoft.com/office/drawing/2014/main" val="20002"/>
                    </a:ext>
                  </a:extLst>
                </a:gridCol>
                <a:gridCol w="1054192">
                  <a:extLst>
                    <a:ext uri="{9D8B030D-6E8A-4147-A177-3AD203B41FA5}">
                      <a16:colId xmlns:a16="http://schemas.microsoft.com/office/drawing/2014/main" val="20003"/>
                    </a:ext>
                  </a:extLst>
                </a:gridCol>
              </a:tblGrid>
              <a:tr h="4322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语文</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数学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政治</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4322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58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69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77</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2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45</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89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74</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22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68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74</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92D050"/>
                          </a:solidFill>
                          <a:effectLst>
                            <a:outerShdw blurRad="38100" dist="38100" dir="2700000" algn="tl">
                              <a:srgbClr val="000000"/>
                            </a:outerShdw>
                          </a:effectLst>
                          <a:latin typeface="宋体" panose="02010600030101010101" pitchFamily="2" charset="-122"/>
                          <a:ea typeface="宋体" panose="02010600030101010101" pitchFamily="2" charset="-122"/>
                        </a:rPr>
                        <a:t>62</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6" name="Rectangle 36"/>
          <p:cNvSpPr>
            <a:spLocks noChangeArrowheads="1"/>
          </p:cNvSpPr>
          <p:nvPr/>
        </p:nvSpPr>
        <p:spPr bwMode="auto">
          <a:xfrm>
            <a:off x="716057" y="5311879"/>
            <a:ext cx="4913315" cy="1009650"/>
          </a:xfrm>
          <a:prstGeom prst="rect">
            <a:avLst/>
          </a:prstGeom>
          <a:noFill/>
          <a:ln w="9525">
            <a:noFill/>
            <a:miter lim="800000"/>
            <a:headEnd/>
            <a:tailEnd/>
          </a:ln>
          <a:effectLst/>
        </p:spPr>
        <p:txBody>
          <a:bodyPr/>
          <a:lstStyle/>
          <a:p>
            <a:pPr marL="393700" indent="-393700">
              <a:buClr>
                <a:srgbClr val="66FF33"/>
              </a:buClr>
              <a:buSzPct val="85000"/>
              <a:defRPr/>
            </a:pP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D1</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en-US"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姓名 </a:t>
            </a:r>
            <a:r>
              <a:rPr lang="en-US"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{张三</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李四</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王五}</a:t>
            </a:r>
          </a:p>
          <a:p>
            <a:pPr marL="393700" indent="-393700">
              <a:buClr>
                <a:srgbClr val="66FF33"/>
              </a:buClr>
              <a:buSzPct val="85000"/>
              <a:defRPr/>
            </a:pP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D2</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分数 </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en-US"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{x|0≤x≤10</a:t>
            </a:r>
            <a:r>
              <a:rPr lang="zh-CN" altLang="en-US"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0</a:t>
            </a:r>
            <a:r>
              <a:rPr lang="zh-CN" altLang="zh-CN" sz="2800" baseline="0" dirty="0">
                <a:solidFill>
                  <a:srgbClr val="92D050"/>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407164617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000">
                <a:latin typeface="Microsoft Yahei" panose="020B0503020204020204" pitchFamily="34" charset="-122"/>
                <a:ea typeface="Microsoft Yahei" panose="020B0503020204020204" pitchFamily="34" charset="-122"/>
                <a:sym typeface="Microsoft Yahei" panose="020B0503020204020204" pitchFamily="34" charset="-122"/>
              </a:rPr>
              <a:t>关系应该具有哪 </a:t>
            </a:r>
            <a:r>
              <a:rPr lang="en-US" altLang="zh-CN" sz="4000">
                <a:latin typeface="Microsoft Yahei" panose="020B0503020204020204" pitchFamily="34" charset="-122"/>
                <a:ea typeface="Microsoft Yahei" panose="020B0503020204020204" pitchFamily="34" charset="-122"/>
                <a:sym typeface="Microsoft Yahei" panose="020B0503020204020204" pitchFamily="34" charset="-122"/>
              </a:rPr>
              <a:t>6 </a:t>
            </a:r>
            <a:r>
              <a:rPr lang="zh-CN" altLang="en-US" sz="4000">
                <a:latin typeface="Microsoft Yahei" panose="020B0503020204020204" pitchFamily="34" charset="-122"/>
                <a:ea typeface="Microsoft Yahei" panose="020B0503020204020204" pitchFamily="34" charset="-122"/>
                <a:sym typeface="Microsoft Yahei" panose="020B0503020204020204" pitchFamily="34" charset="-122"/>
              </a:rPr>
              <a:t>个性质？ 知道每一个性质的意义和原理吗？</a:t>
            </a:r>
            <a:endParaRPr lang="zh-CN" altLang="en-US" sz="4000" dirty="0">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p:cNvGrpSpPr/>
          <p:nvPr>
            <p:custDataLst>
              <p:tags r:id="rId4"/>
            </p:custDataLst>
          </p:nvPr>
        </p:nvGrpSpPr>
        <p:grpSpPr>
          <a:xfrm>
            <a:off x="0" y="0"/>
            <a:ext cx="12192000" cy="635000"/>
            <a:chOff x="0" y="0"/>
            <a:chExt cx="12192000" cy="635000"/>
          </a:xfrm>
        </p:grpSpPr>
        <p:sp>
          <p:nvSpPr>
            <p:cNvPr id="8"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4771257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548680"/>
            <a:ext cx="10440000" cy="4320000"/>
          </a:xfrm>
        </p:spPr>
        <p:txBody>
          <a:bodyPr/>
          <a:lstStyle/>
          <a:p>
            <a:pPr marL="0" indent="0">
              <a:lnSpc>
                <a:spcPct val="150000"/>
              </a:lnSpc>
              <a:buNone/>
            </a:pPr>
            <a:r>
              <a:rPr lang="zh-CN" altLang="en-US" sz="2800" b="1" dirty="0" smtClean="0"/>
              <a:t>1</a:t>
            </a:r>
            <a:r>
              <a:rPr lang="zh-CN" altLang="en-US" sz="2800" b="1" dirty="0"/>
              <a:t>.关系模型的三要素</a:t>
            </a:r>
            <a:endParaRPr lang="zh-CN" altLang="en-US" sz="2800" dirty="0"/>
          </a:p>
          <a:p>
            <a:pPr marL="0" indent="0">
              <a:lnSpc>
                <a:spcPct val="150000"/>
              </a:lnSpc>
              <a:buNone/>
            </a:pPr>
            <a:r>
              <a:rPr lang="zh-CN" altLang="en-US" sz="2800" dirty="0"/>
              <a:t>      </a:t>
            </a:r>
            <a:r>
              <a:rPr lang="zh-CN" altLang="en-US" sz="2800" dirty="0">
                <a:solidFill>
                  <a:srgbClr val="FF0000"/>
                </a:solidFill>
              </a:rPr>
              <a:t>关系数据结构</a:t>
            </a:r>
            <a:r>
              <a:rPr lang="zh-CN" altLang="en-US" sz="2800" dirty="0"/>
              <a:t>、</a:t>
            </a:r>
            <a:r>
              <a:rPr lang="zh-CN" altLang="en-US" sz="2800" dirty="0">
                <a:solidFill>
                  <a:srgbClr val="FF0000"/>
                </a:solidFill>
              </a:rPr>
              <a:t>关系操作集合</a:t>
            </a:r>
            <a:r>
              <a:rPr lang="zh-CN" altLang="en-US" sz="2800" dirty="0"/>
              <a:t>和</a:t>
            </a:r>
            <a:r>
              <a:rPr lang="zh-CN" altLang="en-US" sz="2800" dirty="0">
                <a:solidFill>
                  <a:srgbClr val="FF0000"/>
                </a:solidFill>
              </a:rPr>
              <a:t>关系完整性约束</a:t>
            </a:r>
            <a:r>
              <a:rPr lang="zh-CN" altLang="en-US" sz="2800" dirty="0"/>
              <a:t>三部分是关系模型的三要素。</a:t>
            </a:r>
          </a:p>
          <a:p>
            <a:pPr marL="0" indent="0">
              <a:lnSpc>
                <a:spcPct val="150000"/>
              </a:lnSpc>
              <a:buNone/>
            </a:pPr>
            <a:r>
              <a:rPr lang="zh-CN" altLang="en-US" sz="2800" b="1" dirty="0"/>
              <a:t>（1）关系数据结构</a:t>
            </a:r>
          </a:p>
          <a:p>
            <a:pPr marL="0" indent="0">
              <a:lnSpc>
                <a:spcPct val="150000"/>
              </a:lnSpc>
              <a:buNone/>
            </a:pPr>
            <a:r>
              <a:rPr lang="zh-CN" altLang="en-US" sz="2800" b="1" dirty="0"/>
              <a:t>      </a:t>
            </a:r>
            <a:r>
              <a:rPr lang="zh-CN" altLang="en-US" sz="2800" dirty="0"/>
              <a:t>关系模型中数据的逻辑结构就是一张二维表。</a:t>
            </a:r>
          </a:p>
        </p:txBody>
      </p:sp>
    </p:spTree>
    <p:custDataLst>
      <p:tags r:id="rId1"/>
    </p:custDataLst>
    <p:extLst>
      <p:ext uri="{BB962C8B-B14F-4D97-AF65-F5344CB8AC3E}">
        <p14:creationId xmlns:p14="http://schemas.microsoft.com/office/powerpoint/2010/main" val="1324308040"/>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692696"/>
            <a:ext cx="10440000" cy="4320000"/>
          </a:xfrm>
        </p:spPr>
        <p:txBody>
          <a:bodyPr/>
          <a:lstStyle/>
          <a:p>
            <a:pPr marL="0" indent="0">
              <a:lnSpc>
                <a:spcPct val="150000"/>
              </a:lnSpc>
              <a:buNone/>
            </a:pPr>
            <a:r>
              <a:rPr lang="zh-CN" altLang="en-US" sz="2800" b="1" dirty="0"/>
              <a:t>（2）关系操作</a:t>
            </a:r>
          </a:p>
          <a:p>
            <a:pPr marL="0" indent="0">
              <a:lnSpc>
                <a:spcPct val="150000"/>
              </a:lnSpc>
              <a:buNone/>
            </a:pPr>
            <a:r>
              <a:rPr lang="zh-CN" altLang="en-US" dirty="0"/>
              <a:t>      关系模型中常用的关系操作包括：并、交、差、选择、投影、连接、除等查询操作和增加、修改、删除等更新操作两部分，其中，最主要部分的是查询操作。</a:t>
            </a:r>
          </a:p>
          <a:p>
            <a:pPr marL="0" indent="0">
              <a:lnSpc>
                <a:spcPct val="150000"/>
              </a:lnSpc>
              <a:buNone/>
            </a:pPr>
            <a:r>
              <a:rPr lang="zh-CN" altLang="en-US" sz="2800" b="1" dirty="0"/>
              <a:t>（3）完整性约束</a:t>
            </a:r>
            <a:endParaRPr lang="zh-CN" altLang="en-US" dirty="0"/>
          </a:p>
          <a:p>
            <a:pPr marL="0" indent="0">
              <a:lnSpc>
                <a:spcPct val="150000"/>
              </a:lnSpc>
              <a:buNone/>
            </a:pPr>
            <a:r>
              <a:rPr lang="zh-CN" altLang="en-US" dirty="0"/>
              <a:t>      关系模型提供了丰富的完整性控制机制，允许定义三类完整性：</a:t>
            </a:r>
            <a:r>
              <a:rPr lang="zh-CN" altLang="en-US" dirty="0">
                <a:solidFill>
                  <a:srgbClr val="FF0000"/>
                </a:solidFill>
              </a:rPr>
              <a:t>实体完整性、参照完整性和用户定义完整性</a:t>
            </a:r>
            <a:r>
              <a:rPr lang="zh-CN" altLang="en-US" dirty="0"/>
              <a:t>。</a:t>
            </a:r>
          </a:p>
        </p:txBody>
      </p:sp>
    </p:spTree>
    <p:custDataLst>
      <p:tags r:id="rId1"/>
    </p:custDataLst>
    <p:extLst>
      <p:ext uri="{BB962C8B-B14F-4D97-AF65-F5344CB8AC3E}">
        <p14:creationId xmlns:p14="http://schemas.microsoft.com/office/powerpoint/2010/main" val="1713595871"/>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836712"/>
            <a:ext cx="10873208" cy="4320000"/>
          </a:xfrm>
        </p:spPr>
        <p:txBody>
          <a:bodyPr/>
          <a:lstStyle/>
          <a:p>
            <a:pPr marL="0" indent="0">
              <a:lnSpc>
                <a:spcPct val="150000"/>
              </a:lnSpc>
              <a:buNone/>
            </a:pPr>
            <a:r>
              <a:rPr lang="zh-CN" altLang="en-US" sz="2800" b="1" dirty="0"/>
              <a:t>2.关系数据模型的存储结构</a:t>
            </a:r>
            <a:endParaRPr lang="zh-CN" altLang="en-US" dirty="0"/>
          </a:p>
          <a:p>
            <a:pPr marL="0" indent="0">
              <a:lnSpc>
                <a:spcPct val="150000"/>
              </a:lnSpc>
              <a:buNone/>
            </a:pPr>
            <a:r>
              <a:rPr lang="zh-CN" altLang="en-US" dirty="0"/>
              <a:t>      在关系数据模型中，实体及实体间的联系都用表来表示，在关系数据库的物理结构中，有数据库管理系统一个表对应着一个操作系统文件，有的数据库管理系统从操作系统获得若干个大的文件，自己设计表、索引等存储结构。</a:t>
            </a:r>
          </a:p>
        </p:txBody>
      </p:sp>
    </p:spTree>
    <p:custDataLst>
      <p:tags r:id="rId1"/>
    </p:custDataLst>
    <p:extLst>
      <p:ext uri="{BB962C8B-B14F-4D97-AF65-F5344CB8AC3E}">
        <p14:creationId xmlns:p14="http://schemas.microsoft.com/office/powerpoint/2010/main" val="1961138618"/>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548680"/>
            <a:ext cx="10729192" cy="4320000"/>
          </a:xfrm>
        </p:spPr>
        <p:txBody>
          <a:bodyPr>
            <a:noAutofit/>
          </a:bodyPr>
          <a:lstStyle/>
          <a:p>
            <a:pPr marL="0" indent="0">
              <a:lnSpc>
                <a:spcPct val="150000"/>
              </a:lnSpc>
              <a:buNone/>
            </a:pPr>
            <a:r>
              <a:rPr lang="en-US" altLang="zh-CN" sz="2800" b="1" dirty="0"/>
              <a:t>3. </a:t>
            </a:r>
            <a:r>
              <a:rPr lang="zh-CN" altLang="en-US" sz="2800" b="1" dirty="0"/>
              <a:t>关系模型的特点</a:t>
            </a:r>
          </a:p>
          <a:p>
            <a:pPr>
              <a:lnSpc>
                <a:spcPct val="150000"/>
              </a:lnSpc>
              <a:buFont typeface="Wingdings" panose="05000000000000000000" charset="0"/>
              <a:buChar char="Ø"/>
            </a:pPr>
            <a:r>
              <a:rPr lang="zh-CN" altLang="en-US" sz="2800" b="1" dirty="0"/>
              <a:t>  </a:t>
            </a:r>
            <a:r>
              <a:rPr lang="zh-CN" altLang="en-US" sz="2800" dirty="0"/>
              <a:t>以严格的数学理论为基础，关系数据库的理论体系更加严谨。</a:t>
            </a:r>
          </a:p>
          <a:p>
            <a:pPr>
              <a:lnSpc>
                <a:spcPct val="150000"/>
              </a:lnSpc>
              <a:buFont typeface="Wingdings" panose="05000000000000000000" charset="0"/>
              <a:buChar char="Ø"/>
            </a:pPr>
            <a:r>
              <a:rPr lang="zh-CN" altLang="en-US" sz="2800" dirty="0"/>
              <a:t>  关系以二维表的形式体现，数据结构简单、清晰，易学易懂。</a:t>
            </a:r>
          </a:p>
          <a:p>
            <a:pPr>
              <a:lnSpc>
                <a:spcPct val="150000"/>
              </a:lnSpc>
              <a:buFont typeface="Wingdings" panose="05000000000000000000" charset="0"/>
              <a:buChar char="Ø"/>
            </a:pPr>
            <a:r>
              <a:rPr lang="zh-CN" altLang="en-US" sz="2800" dirty="0"/>
              <a:t>  关系模型的存取路径对用户是透明的，数据独立性更高，安全性更好。</a:t>
            </a:r>
          </a:p>
          <a:p>
            <a:pPr>
              <a:lnSpc>
                <a:spcPct val="150000"/>
              </a:lnSpc>
              <a:buFont typeface="Wingdings" panose="05000000000000000000" charset="0"/>
              <a:buChar char="Ø"/>
            </a:pPr>
            <a:r>
              <a:rPr lang="zh-CN" altLang="en-US" sz="2800" dirty="0"/>
              <a:t>  关系数据模型简化了程序员数据库开发的工作，数据库系统更易于维护。</a:t>
            </a:r>
          </a:p>
        </p:txBody>
      </p:sp>
    </p:spTree>
    <p:custDataLst>
      <p:tags r:id="rId1"/>
    </p:custDataLst>
    <p:extLst>
      <p:ext uri="{BB962C8B-B14F-4D97-AF65-F5344CB8AC3E}">
        <p14:creationId xmlns:p14="http://schemas.microsoft.com/office/powerpoint/2010/main" val="504900073"/>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476672"/>
            <a:ext cx="11308715" cy="5501005"/>
          </a:xfrm>
        </p:spPr>
        <p:txBody>
          <a:bodyPr>
            <a:normAutofit lnSpcReduction="10000"/>
          </a:bodyPr>
          <a:lstStyle/>
          <a:p>
            <a:pPr marL="0" indent="0">
              <a:buNone/>
            </a:pPr>
            <a:r>
              <a:rPr lang="en-US" altLang="zh-CN" sz="2800" b="1" dirty="0"/>
              <a:t>4. </a:t>
            </a:r>
            <a:r>
              <a:rPr lang="zh-CN" altLang="en-US" sz="2800" b="1" dirty="0"/>
              <a:t>关系模型与关系模式</a:t>
            </a:r>
          </a:p>
          <a:p>
            <a:pPr marL="0" indent="0">
              <a:buNone/>
            </a:pPr>
            <a:r>
              <a:rPr lang="zh-CN" altLang="en-US" sz="2800" dirty="0"/>
              <a:t>      </a:t>
            </a:r>
            <a:r>
              <a:rPr lang="zh-CN" altLang="en-US" dirty="0"/>
              <a:t>关系模型是由若干个</a:t>
            </a:r>
            <a:r>
              <a:rPr lang="zh-CN" altLang="en-US" dirty="0">
                <a:solidFill>
                  <a:srgbClr val="FF0000"/>
                </a:solidFill>
              </a:rPr>
              <a:t>关系模式</a:t>
            </a:r>
            <a:r>
              <a:rPr lang="zh-CN" altLang="en-US" dirty="0"/>
              <a:t>组成的集合。关系模式是用来定义关系的，一个关系数据库包含一组关系，定义这组关系的关系模式的</a:t>
            </a:r>
            <a:r>
              <a:rPr lang="zh-CN" altLang="en-US" dirty="0">
                <a:solidFill>
                  <a:srgbClr val="FF0000"/>
                </a:solidFill>
              </a:rPr>
              <a:t>全体</a:t>
            </a:r>
            <a:r>
              <a:rPr lang="zh-CN" altLang="en-US" dirty="0"/>
              <a:t>就构成了该数据库的模式。</a:t>
            </a:r>
            <a:endParaRPr lang="zh-CN" altLang="en-US" sz="2800" dirty="0"/>
          </a:p>
          <a:p>
            <a:pPr marL="0" indent="0">
              <a:buNone/>
            </a:pPr>
            <a:r>
              <a:rPr lang="zh-CN" altLang="en-US" b="1" dirty="0">
                <a:solidFill>
                  <a:srgbClr val="FF0000"/>
                </a:solidFill>
              </a:rPr>
              <a:t>定义3.4</a:t>
            </a:r>
            <a:r>
              <a:rPr lang="zh-CN" altLang="en-US" b="1" dirty="0"/>
              <a:t> 关系的描述称为</a:t>
            </a:r>
            <a:r>
              <a:rPr lang="zh-CN" altLang="en-US" b="1" dirty="0">
                <a:solidFill>
                  <a:srgbClr val="FF0000"/>
                </a:solidFill>
              </a:rPr>
              <a:t>关系模式</a:t>
            </a:r>
            <a:r>
              <a:rPr lang="zh-CN" altLang="en-US" b="1" dirty="0"/>
              <a:t>（Relation Schema）。它可以形式化的表示为一个五元组，记为：</a:t>
            </a:r>
          </a:p>
          <a:p>
            <a:pPr marL="0" indent="0">
              <a:buNone/>
            </a:pPr>
            <a:r>
              <a:rPr lang="zh-CN" altLang="en-US" b="1" dirty="0"/>
              <a:t>                     R（U，D，DOM，F）</a:t>
            </a:r>
          </a:p>
          <a:p>
            <a:pPr marL="0" indent="0">
              <a:buNone/>
            </a:pPr>
            <a:r>
              <a:rPr lang="zh-CN" altLang="en-US" b="1" dirty="0"/>
              <a:t>      其中，R为关系名，U为组成该关系模式的属性名集合，D为属性组U中属性来自的域，DOM为属性向域的映像集合，F为属性间数据的依赖关系集合，如图：</a:t>
            </a:r>
          </a:p>
        </p:txBody>
      </p:sp>
    </p:spTree>
    <p:custDataLst>
      <p:tags r:id="rId1"/>
    </p:custDataLst>
    <p:extLst>
      <p:ext uri="{BB962C8B-B14F-4D97-AF65-F5344CB8AC3E}">
        <p14:creationId xmlns:p14="http://schemas.microsoft.com/office/powerpoint/2010/main" val="958572625"/>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7" name="Rectangle 3"/>
          <p:cNvSpPr txBox="1">
            <a:spLocks noChangeArrowheads="1"/>
          </p:cNvSpPr>
          <p:nvPr/>
        </p:nvSpPr>
        <p:spPr bwMode="auto">
          <a:xfrm>
            <a:off x="119336" y="940065"/>
            <a:ext cx="11533112" cy="246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just" defTabSz="914400" rtl="0" eaLnBrk="1" fontAlgn="base" latinLnBrk="0" hangingPunct="1">
              <a:lnSpc>
                <a:spcPct val="100000"/>
              </a:lnSpc>
              <a:spcBef>
                <a:spcPct val="0"/>
              </a:spcBef>
              <a:spcAft>
                <a:spcPct val="30000"/>
              </a:spcAft>
              <a:buClr>
                <a:srgbClr val="66FF33"/>
              </a:buClr>
              <a:buSzPct val="85000"/>
              <a:buFont typeface="Wingdings" pitchFamily="2" charset="2"/>
              <a:buBlip>
                <a:blip r:embed="rId2"/>
              </a:buBlip>
              <a:tabLst/>
              <a:defRPr/>
            </a:pPr>
            <a:r>
              <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关系的结构描述称为</a:t>
            </a:r>
            <a:r>
              <a:rPr kumimoji="1" lang="zh-CN" altLang="zh-CN" sz="3400" b="1" i="0" u="none" strike="noStrike" kern="0" cap="none" spc="0" normalizeH="0" baseline="0" noProof="0" dirty="0">
                <a:ln>
                  <a:noFill/>
                </a:ln>
                <a:solidFill>
                  <a:srgbClr val="FFC000"/>
                </a:solidFill>
                <a:effectLst>
                  <a:outerShdw blurRad="38100" dist="38100" dir="2700000" algn="tl">
                    <a:srgbClr val="000000"/>
                  </a:outerShdw>
                </a:effectLst>
                <a:uLnTx/>
                <a:uFillTx/>
                <a:latin typeface="微软雅黑" pitchFamily="34" charset="-122"/>
                <a:ea typeface="微软雅黑" pitchFamily="34" charset="-122"/>
              </a:rPr>
              <a:t>关系模式</a:t>
            </a:r>
            <a:r>
              <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a:t>
            </a:r>
            <a:r>
              <a:rPr kumimoji="1" lang="zh-CN" altLang="zh-CN" sz="3400" b="0" i="1"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Relation schema</a:t>
            </a:r>
            <a:r>
              <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)，它可以形式化地表示为</a:t>
            </a:r>
            <a:r>
              <a:rPr kumimoji="1" lang="zh-CN" altLang="en-US"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一个五元组</a:t>
            </a:r>
            <a:r>
              <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a:t>
            </a:r>
          </a:p>
          <a:p>
            <a:pPr marL="342900" marR="0" lvl="0" indent="-342900" algn="just" defTabSz="914400" rtl="0" eaLnBrk="1" fontAlgn="base" latinLnBrk="0" hangingPunct="1">
              <a:lnSpc>
                <a:spcPct val="100000"/>
              </a:lnSpc>
              <a:spcBef>
                <a:spcPct val="0"/>
              </a:spcBef>
              <a:spcAft>
                <a:spcPct val="30000"/>
              </a:spcAft>
              <a:buClr>
                <a:srgbClr val="66FF33"/>
              </a:buClr>
              <a:buSzPct val="85000"/>
              <a:buFont typeface="Wingdings" pitchFamily="2" charset="2"/>
              <a:buNone/>
              <a:tabLst/>
              <a:defRPr/>
            </a:pPr>
            <a:r>
              <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		</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R（U，D，DOM，F ）</a:t>
            </a:r>
          </a:p>
        </p:txBody>
      </p:sp>
      <p:pic>
        <p:nvPicPr>
          <p:cNvPr id="2" name="图片 1">
            <a:extLst>
              <a:ext uri="{FF2B5EF4-FFF2-40B4-BE49-F238E27FC236}">
                <a16:creationId xmlns:a16="http://schemas.microsoft.com/office/drawing/2014/main" id="{5E258306-8A90-4CDD-9B65-88704D2842A1}"/>
              </a:ext>
            </a:extLst>
          </p:cNvPr>
          <p:cNvPicPr/>
          <p:nvPr/>
        </p:nvPicPr>
        <p:blipFill rotWithShape="1">
          <a:blip r:embed="rId3" cstate="print"/>
          <a:srcRect b="5882"/>
          <a:stretch/>
        </p:blipFill>
        <p:spPr>
          <a:xfrm>
            <a:off x="329406" y="2708920"/>
            <a:ext cx="7566794" cy="3960440"/>
          </a:xfrm>
          <a:prstGeom prst="rect">
            <a:avLst/>
          </a:prstGeom>
        </p:spPr>
      </p:pic>
      <p:sp>
        <p:nvSpPr>
          <p:cNvPr id="5" name="Rectangle 3">
            <a:extLst>
              <a:ext uri="{FF2B5EF4-FFF2-40B4-BE49-F238E27FC236}">
                <a16:creationId xmlns:a16="http://schemas.microsoft.com/office/drawing/2014/main" id="{338BE1AE-8517-4B94-B874-CDB03C5338FC}"/>
              </a:ext>
            </a:extLst>
          </p:cNvPr>
          <p:cNvSpPr txBox="1">
            <a:spLocks noChangeArrowheads="1"/>
          </p:cNvSpPr>
          <p:nvPr/>
        </p:nvSpPr>
        <p:spPr bwMode="auto">
          <a:xfrm>
            <a:off x="8106269" y="3140968"/>
            <a:ext cx="3966395" cy="246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marR="0" lvl="0" indent="0" algn="just" defTabSz="914400" rtl="0" eaLnBrk="1" fontAlgn="base" latinLnBrk="0" hangingPunct="1">
              <a:lnSpc>
                <a:spcPct val="100000"/>
              </a:lnSpc>
              <a:spcBef>
                <a:spcPct val="45000"/>
              </a:spcBef>
              <a:spcAft>
                <a:spcPct val="30000"/>
              </a:spcAft>
              <a:buClr>
                <a:srgbClr val="66FF33"/>
              </a:buClr>
              <a:buSzPct val="85000"/>
              <a:buNone/>
              <a:tabLst/>
              <a:defRPr/>
            </a:pPr>
            <a:r>
              <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rPr>
              <a:t>关系模式通常可以简记为</a:t>
            </a:r>
          </a:p>
          <a:p>
            <a:pPr marL="342900" marR="0" lvl="0" indent="-342900" algn="just" defTabSz="914400" rtl="0" eaLnBrk="1" fontAlgn="base" latinLnBrk="0" hangingPunct="1">
              <a:lnSpc>
                <a:spcPct val="100000"/>
              </a:lnSpc>
              <a:spcBef>
                <a:spcPct val="0"/>
              </a:spcBef>
              <a:spcAft>
                <a:spcPct val="30000"/>
              </a:spcAft>
              <a:buClr>
                <a:srgbClr val="66FF33"/>
              </a:buClr>
              <a:buSzPct val="85000"/>
              <a:buFont typeface="Wingdings" pitchFamily="2" charset="2"/>
              <a:buNone/>
              <a:tabLst/>
              <a:defRPr/>
            </a:pP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R</a:t>
            </a:r>
            <a:r>
              <a:rPr kumimoji="1" lang="en-US" altLang="zh-CN" sz="3400" kern="0" baseline="0" dirty="0">
                <a:solidFill>
                  <a:srgbClr val="FFFF00"/>
                </a:solidFill>
                <a:latin typeface="微软雅黑" pitchFamily="34" charset="-122"/>
                <a:ea typeface="微软雅黑" pitchFamily="34" charset="-122"/>
              </a:rPr>
              <a:t>(</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U</a:t>
            </a:r>
            <a:r>
              <a:rPr kumimoji="1" lang="zh-CN" altLang="en-US"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 </a:t>
            </a:r>
            <a:r>
              <a:rPr kumimoji="1" lang="zh-CN" altLang="en-US"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 </a:t>
            </a:r>
            <a:endParaRPr kumimoji="1" lang="en-US"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endParaRPr>
          </a:p>
          <a:p>
            <a:pPr marL="342900" marR="0" lvl="0" indent="-342900" algn="just" defTabSz="914400" rtl="0" eaLnBrk="1" fontAlgn="base" latinLnBrk="0" hangingPunct="1">
              <a:lnSpc>
                <a:spcPct val="100000"/>
              </a:lnSpc>
              <a:spcBef>
                <a:spcPct val="0"/>
              </a:spcBef>
              <a:spcAft>
                <a:spcPct val="30000"/>
              </a:spcAft>
              <a:buClr>
                <a:srgbClr val="66FF33"/>
              </a:buClr>
              <a:buSzPct val="85000"/>
              <a:buFont typeface="Wingdings" pitchFamily="2" charset="2"/>
              <a:buNone/>
              <a:tabLst/>
              <a:defRPr/>
            </a:pPr>
            <a:r>
              <a:rPr kumimoji="1" lang="zh-CN" altLang="zh-CN" sz="34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itchFamily="34" charset="-122"/>
                <a:ea typeface="微软雅黑" pitchFamily="34" charset="-122"/>
              </a:rPr>
              <a:t>或</a:t>
            </a:r>
            <a:r>
              <a:rPr kumimoji="1" lang="zh-CN" altLang="en-US" sz="34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itchFamily="34" charset="-122"/>
                <a:ea typeface="微软雅黑" pitchFamily="34" charset="-122"/>
              </a:rPr>
              <a:t>者</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 </a:t>
            </a:r>
            <a:r>
              <a:rPr kumimoji="1" lang="zh-CN" altLang="en-US"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 </a:t>
            </a:r>
            <a:endParaRPr kumimoji="1" lang="en-US"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endParaRPr>
          </a:p>
          <a:p>
            <a:pPr marL="342900" marR="0" lvl="0" indent="-342900" algn="just" defTabSz="914400" rtl="0" eaLnBrk="1" fontAlgn="base" latinLnBrk="0" hangingPunct="1">
              <a:lnSpc>
                <a:spcPct val="100000"/>
              </a:lnSpc>
              <a:spcBef>
                <a:spcPct val="0"/>
              </a:spcBef>
              <a:spcAft>
                <a:spcPct val="30000"/>
              </a:spcAft>
              <a:buClr>
                <a:srgbClr val="66FF33"/>
              </a:buClr>
              <a:buSzPct val="85000"/>
              <a:buFont typeface="Wingdings" pitchFamily="2" charset="2"/>
              <a:buNone/>
              <a:tabLst/>
              <a:defRPr/>
            </a:pP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R</a:t>
            </a:r>
            <a:r>
              <a:rPr kumimoji="1" lang="en-US" altLang="zh-CN" sz="3400" kern="0" baseline="0" dirty="0">
                <a:solidFill>
                  <a:srgbClr val="FFFF00"/>
                </a:solidFill>
                <a:latin typeface="微软雅黑" pitchFamily="34" charset="-122"/>
                <a:ea typeface="微软雅黑" pitchFamily="34" charset="-122"/>
              </a:rPr>
              <a:t>(</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A</a:t>
            </a:r>
            <a:r>
              <a:rPr kumimoji="1" lang="zh-CN" altLang="zh-CN" sz="3400" b="0" i="0" u="none" strike="noStrike" kern="0" cap="none" spc="0" normalizeH="0" baseline="-2500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1</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，A</a:t>
            </a:r>
            <a:r>
              <a:rPr kumimoji="1" lang="zh-CN" altLang="zh-CN" sz="3400" b="0" i="0" u="none" strike="noStrike" kern="0" cap="none" spc="0" normalizeH="0" baseline="-2500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2</a:t>
            </a:r>
            <a:r>
              <a:rPr kumimoji="1" lang="zh-CN"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，…，A</a:t>
            </a:r>
            <a:r>
              <a:rPr kumimoji="1" lang="zh-CN" altLang="zh-CN" sz="3400" b="0" i="0" u="none" strike="noStrike" kern="0" cap="none" spc="0" normalizeH="0" baseline="-2500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n</a:t>
            </a:r>
            <a:r>
              <a:rPr kumimoji="1" lang="en-US" altLang="zh-CN" sz="3400" b="0"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itchFamily="34" charset="-122"/>
                <a:ea typeface="微软雅黑" pitchFamily="34" charset="-122"/>
              </a:rPr>
              <a:t>)</a:t>
            </a:r>
            <a:endParaRPr kumimoji="1" lang="zh-CN" altLang="zh-CN" sz="34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val="416201108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250" fill="hold"/>
                                        <p:tgtEl>
                                          <p:spTgt spid="5"/>
                                        </p:tgtEl>
                                        <p:attrNameLst>
                                          <p:attrName>ppt_x</p:attrName>
                                        </p:attrNameLst>
                                      </p:cBhvr>
                                      <p:tavLst>
                                        <p:tav tm="0">
                                          <p:val>
                                            <p:strVal val="#ppt_x"/>
                                          </p:val>
                                        </p:tav>
                                        <p:tav tm="100000">
                                          <p:val>
                                            <p:strVal val="#ppt_x"/>
                                          </p:val>
                                        </p:tav>
                                      </p:tavLst>
                                    </p:anim>
                                    <p:anim calcmode="lin" valueType="num">
                                      <p:cBhvr additive="base">
                                        <p:cTn id="14" dur="25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76205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4" name="Freeform 2"/>
          <p:cNvSpPr>
            <a:spLocks/>
          </p:cNvSpPr>
          <p:nvPr/>
        </p:nvSpPr>
        <p:spPr bwMode="auto">
          <a:xfrm>
            <a:off x="1487860" y="5489010"/>
            <a:ext cx="647700" cy="380480"/>
          </a:xfrm>
          <a:custGeom>
            <a:avLst/>
            <a:gdLst/>
            <a:ahLst/>
            <a:cxnLst>
              <a:cxn ang="0">
                <a:pos x="408" y="363"/>
              </a:cxn>
              <a:cxn ang="0">
                <a:pos x="128" y="285"/>
              </a:cxn>
              <a:cxn ang="0">
                <a:pos x="0" y="0"/>
              </a:cxn>
            </a:cxnLst>
            <a:rect l="0" t="0" r="r" b="b"/>
            <a:pathLst>
              <a:path w="408" h="363">
                <a:moveTo>
                  <a:pt x="408" y="363"/>
                </a:moveTo>
                <a:lnTo>
                  <a:pt x="128" y="285"/>
                </a:lnTo>
                <a:lnTo>
                  <a:pt x="0" y="0"/>
                </a:lnTo>
              </a:path>
            </a:pathLst>
          </a:custGeom>
          <a:noFill/>
          <a:ln w="28575" cap="sq" cmpd="sng">
            <a:solidFill>
              <a:srgbClr val="FF0000"/>
            </a:solidFill>
            <a:prstDash val="solid"/>
            <a:round/>
            <a:headEnd type="none" w="med" len="med"/>
            <a:tailEnd type="triangle" w="med" len="med"/>
          </a:ln>
          <a:effectLst>
            <a:outerShdw dist="28398" dir="1593903" algn="ctr" rotWithShape="0">
              <a:srgbClr val="000514">
                <a:alpha val="50000"/>
              </a:srgbClr>
            </a:outerShdw>
          </a:effectLst>
        </p:spPr>
        <p:txBody>
          <a:bodyPr lIns="36000" tIns="36000" rIns="36000" bIns="3600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5" name="Freeform 3"/>
          <p:cNvSpPr>
            <a:spLocks/>
          </p:cNvSpPr>
          <p:nvPr/>
        </p:nvSpPr>
        <p:spPr bwMode="auto">
          <a:xfrm>
            <a:off x="4627958" y="1196628"/>
            <a:ext cx="1601788" cy="380480"/>
          </a:xfrm>
          <a:custGeom>
            <a:avLst/>
            <a:gdLst/>
            <a:ahLst/>
            <a:cxnLst>
              <a:cxn ang="0">
                <a:pos x="1009" y="0"/>
              </a:cxn>
              <a:cxn ang="0">
                <a:pos x="804" y="2"/>
              </a:cxn>
              <a:cxn ang="0">
                <a:pos x="112" y="206"/>
              </a:cxn>
              <a:cxn ang="0">
                <a:pos x="0" y="346"/>
              </a:cxn>
            </a:cxnLst>
            <a:rect l="0" t="0" r="r" b="b"/>
            <a:pathLst>
              <a:path w="1009" h="346">
                <a:moveTo>
                  <a:pt x="1009" y="0"/>
                </a:moveTo>
                <a:lnTo>
                  <a:pt x="804" y="2"/>
                </a:lnTo>
                <a:lnTo>
                  <a:pt x="112" y="206"/>
                </a:lnTo>
                <a:lnTo>
                  <a:pt x="0" y="346"/>
                </a:lnTo>
              </a:path>
            </a:pathLst>
          </a:custGeom>
          <a:noFill/>
          <a:ln w="28575" cap="sq" cmpd="sng">
            <a:solidFill>
              <a:srgbClr val="FF0000"/>
            </a:solidFill>
            <a:prstDash val="solid"/>
            <a:round/>
            <a:headEnd type="none" w="med" len="med"/>
            <a:tailEnd type="triangle" w="med" len="med"/>
          </a:ln>
          <a:effectLst>
            <a:outerShdw dist="17961" dir="2700000" algn="ctr" rotWithShape="0">
              <a:srgbClr val="000514">
                <a:alpha val="50000"/>
              </a:srgbClr>
            </a:outerShdw>
          </a:effectLst>
        </p:spPr>
        <p:txBody>
          <a:bodyPr lIns="36000" tIns="36000" rIns="36000" bIns="3600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graphicFrame>
        <p:nvGraphicFramePr>
          <p:cNvPr id="6" name="Group 5"/>
          <p:cNvGraphicFramePr>
            <a:graphicFrameLocks noGrp="1"/>
          </p:cNvGraphicFramePr>
          <p:nvPr>
            <p:extLst>
              <p:ext uri="{D42A27DB-BD31-4B8C-83A1-F6EECF244321}">
                <p14:modId xmlns:p14="http://schemas.microsoft.com/office/powerpoint/2010/main" val="883756771"/>
              </p:ext>
            </p:extLst>
          </p:nvPr>
        </p:nvGraphicFramePr>
        <p:xfrm>
          <a:off x="1089115" y="1633741"/>
          <a:ext cx="4321175" cy="2926080"/>
        </p:xfrm>
        <a:graphic>
          <a:graphicData uri="http://schemas.openxmlformats.org/drawingml/2006/table">
            <a:tbl>
              <a:tblPr/>
              <a:tblGrid>
                <a:gridCol w="1058289">
                  <a:extLst>
                    <a:ext uri="{9D8B030D-6E8A-4147-A177-3AD203B41FA5}">
                      <a16:colId xmlns:a16="http://schemas.microsoft.com/office/drawing/2014/main" val="20000"/>
                    </a:ext>
                  </a:extLst>
                </a:gridCol>
                <a:gridCol w="978457">
                  <a:extLst>
                    <a:ext uri="{9D8B030D-6E8A-4147-A177-3AD203B41FA5}">
                      <a16:colId xmlns:a16="http://schemas.microsoft.com/office/drawing/2014/main" val="20001"/>
                    </a:ext>
                  </a:extLst>
                </a:gridCol>
                <a:gridCol w="734865">
                  <a:extLst>
                    <a:ext uri="{9D8B030D-6E8A-4147-A177-3AD203B41FA5}">
                      <a16:colId xmlns:a16="http://schemas.microsoft.com/office/drawing/2014/main" val="20002"/>
                    </a:ext>
                  </a:extLst>
                </a:gridCol>
                <a:gridCol w="734866">
                  <a:extLst>
                    <a:ext uri="{9D8B030D-6E8A-4147-A177-3AD203B41FA5}">
                      <a16:colId xmlns:a16="http://schemas.microsoft.com/office/drawing/2014/main" val="20003"/>
                    </a:ext>
                  </a:extLst>
                </a:gridCol>
                <a:gridCol w="814698">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Rectangle 75"/>
          <p:cNvSpPr>
            <a:spLocks noChangeArrowheads="1"/>
          </p:cNvSpPr>
          <p:nvPr/>
        </p:nvSpPr>
        <p:spPr bwMode="auto">
          <a:xfrm>
            <a:off x="479376" y="1645097"/>
            <a:ext cx="564007" cy="369332"/>
          </a:xfrm>
          <a:prstGeom prst="rect">
            <a:avLst/>
          </a:prstGeom>
          <a:noFill/>
          <a:ln w="12700" cap="sq">
            <a:noFill/>
            <a:miter lim="800000"/>
            <a:headEnd/>
            <a:tailEnd/>
          </a:ln>
          <a:effectLst/>
        </p:spPr>
        <p:txBody>
          <a:bodyPr wrap="square" lIns="0" tIns="0" rIns="0" bIns="0">
            <a:spAutoFit/>
          </a:bodyPr>
          <a:lstStyle/>
          <a:p>
            <a:pPr>
              <a:spcAft>
                <a:spcPct val="0"/>
              </a:spcAft>
              <a:buSzTx/>
              <a:buFontTx/>
              <a:buNone/>
              <a:defRPr/>
            </a:pPr>
            <a:r>
              <a:rPr lang="en-US" altLang="zh-CN" sz="2400" baseline="0" dirty="0">
                <a:effectLst>
                  <a:outerShdw blurRad="38100" dist="38100" dir="2700000" algn="tl">
                    <a:srgbClr val="000000"/>
                  </a:outerShdw>
                </a:effectLst>
                <a:latin typeface="Times New Roman" pitchFamily="18" charset="0"/>
              </a:rPr>
              <a:t>ST</a:t>
            </a:r>
          </a:p>
        </p:txBody>
      </p:sp>
      <p:graphicFrame>
        <p:nvGraphicFramePr>
          <p:cNvPr id="9" name="Group 76"/>
          <p:cNvGraphicFramePr>
            <a:graphicFrameLocks noGrp="1"/>
          </p:cNvGraphicFramePr>
          <p:nvPr>
            <p:extLst>
              <p:ext uri="{D42A27DB-BD31-4B8C-83A1-F6EECF244321}">
                <p14:modId xmlns:p14="http://schemas.microsoft.com/office/powerpoint/2010/main" val="1048410257"/>
              </p:ext>
            </p:extLst>
          </p:nvPr>
        </p:nvGraphicFramePr>
        <p:xfrm>
          <a:off x="8367932" y="1656601"/>
          <a:ext cx="2901356" cy="2926080"/>
        </p:xfrm>
        <a:graphic>
          <a:graphicData uri="http://schemas.openxmlformats.org/drawingml/2006/table">
            <a:tbl>
              <a:tblPr/>
              <a:tblGrid>
                <a:gridCol w="812380">
                  <a:extLst>
                    <a:ext uri="{9D8B030D-6E8A-4147-A177-3AD203B41FA5}">
                      <a16:colId xmlns:a16="http://schemas.microsoft.com/office/drawing/2014/main" val="20000"/>
                    </a:ext>
                  </a:extLst>
                </a:gridCol>
                <a:gridCol w="1044488">
                  <a:extLst>
                    <a:ext uri="{9D8B030D-6E8A-4147-A177-3AD203B41FA5}">
                      <a16:colId xmlns:a16="http://schemas.microsoft.com/office/drawing/2014/main" val="20001"/>
                    </a:ext>
                  </a:extLst>
                </a:gridCol>
                <a:gridCol w="1044488">
                  <a:extLst>
                    <a:ext uri="{9D8B030D-6E8A-4147-A177-3AD203B41FA5}">
                      <a16:colId xmlns:a16="http://schemas.microsoft.com/office/drawing/2014/main" val="20002"/>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系名</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9801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9802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9803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陈然</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9804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李科</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9805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9806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朱成</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9807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a:ln>
                            <a:noFill/>
                          </a:ln>
                          <a:solidFill>
                            <a:srgbClr val="CCFFCC"/>
                          </a:solidFill>
                          <a:effectLst/>
                          <a:latin typeface="宋体" panose="02010600030101010101" pitchFamily="2" charset="-122"/>
                          <a:ea typeface="宋体" panose="02010600030101010101" pitchFamily="2" charset="-122"/>
                        </a:rPr>
                        <a:t>黄沙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0" name="Rectangle 116"/>
          <p:cNvSpPr>
            <a:spLocks noChangeArrowheads="1"/>
          </p:cNvSpPr>
          <p:nvPr/>
        </p:nvSpPr>
        <p:spPr bwMode="auto">
          <a:xfrm>
            <a:off x="7505500" y="1656601"/>
            <a:ext cx="615553"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zh-CN" altLang="en-US" sz="2400" baseline="0" dirty="0">
                <a:effectLst>
                  <a:outerShdw blurRad="38100" dist="38100" dir="2700000" algn="tl">
                    <a:srgbClr val="000000"/>
                  </a:outerShdw>
                </a:effectLst>
                <a:latin typeface="Times New Roman" pitchFamily="18" charset="0"/>
              </a:rPr>
              <a:t>学生</a:t>
            </a:r>
          </a:p>
        </p:txBody>
      </p:sp>
      <p:sp>
        <p:nvSpPr>
          <p:cNvPr id="11" name="Rectangle 117"/>
          <p:cNvSpPr>
            <a:spLocks noChangeArrowheads="1"/>
          </p:cNvSpPr>
          <p:nvPr/>
        </p:nvSpPr>
        <p:spPr bwMode="auto">
          <a:xfrm>
            <a:off x="1043382" y="4985198"/>
            <a:ext cx="5184775" cy="427037"/>
          </a:xfrm>
          <a:prstGeom prst="rect">
            <a:avLst/>
          </a:prstGeom>
          <a:noFill/>
          <a:ln w="9525" algn="ctr">
            <a:noFill/>
            <a:miter lim="800000"/>
            <a:headEnd/>
            <a:tailEnd/>
          </a:ln>
          <a:effectLst/>
        </p:spPr>
        <p:txBody>
          <a:bodyPr/>
          <a:lstStyle/>
          <a:p>
            <a:pPr marL="342900" marR="0" lvl="0" indent="-342900" defTabSz="914400" eaLnBrk="1" fontAlgn="auto" latinLnBrk="0" hangingPunct="1">
              <a:lnSpc>
                <a:spcPct val="100000"/>
              </a:lnSpc>
              <a:spcBef>
                <a:spcPts val="0"/>
              </a:spcBef>
              <a:spcAft>
                <a:spcPts val="0"/>
              </a:spcAft>
              <a:buClr>
                <a:srgbClr val="66FF33"/>
              </a:buClr>
              <a:buSzPct val="85000"/>
              <a:buFontTx/>
              <a:buNone/>
              <a:tabLst/>
              <a:defRPr/>
            </a:pP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ST(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学号</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姓名</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性别</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年龄</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系</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endPar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endParaRPr>
          </a:p>
        </p:txBody>
      </p:sp>
      <p:sp>
        <p:nvSpPr>
          <p:cNvPr id="12" name="Rectangle 118"/>
          <p:cNvSpPr>
            <a:spLocks noChangeArrowheads="1"/>
          </p:cNvSpPr>
          <p:nvPr/>
        </p:nvSpPr>
        <p:spPr bwMode="auto">
          <a:xfrm>
            <a:off x="6372621" y="5805141"/>
            <a:ext cx="4190270" cy="427037"/>
          </a:xfrm>
          <a:prstGeom prst="rect">
            <a:avLst/>
          </a:prstGeom>
          <a:noFill/>
          <a:ln w="9525" algn="ctr">
            <a:noFill/>
            <a:miter lim="800000"/>
            <a:headEnd/>
            <a:tailEnd/>
          </a:ln>
          <a:effectLst/>
        </p:spPr>
        <p:txBody>
          <a:bodyPr/>
          <a:lstStyle/>
          <a:p>
            <a:pPr marL="342900" marR="0" lvl="0" indent="-342900" defTabSz="914400" eaLnBrk="1" fontAlgn="auto" latinLnBrk="0" hangingPunct="1">
              <a:lnSpc>
                <a:spcPct val="100000"/>
              </a:lnSpc>
              <a:spcBef>
                <a:spcPts val="0"/>
              </a:spcBef>
              <a:spcAft>
                <a:spcPts val="0"/>
              </a:spcAft>
              <a:buClr>
                <a:srgbClr val="66FF33"/>
              </a:buClr>
              <a:buSzPct val="85000"/>
              <a:buFontTx/>
              <a:buNone/>
              <a:tabLst/>
              <a:defRPr/>
            </a:pP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学生</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学号</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姓名</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r>
              <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系名</a:t>
            </a:r>
            <a:r>
              <a:rPr kumimoji="0" lang="en-US" altLang="zh-CN"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a:t>
            </a:r>
            <a:endParaRPr kumimoji="0" lang="zh-CN" altLang="en-US" sz="3200" b="0" i="0" u="none" strike="noStrike" kern="0" cap="none" spc="0" normalizeH="0" baseline="0" noProof="0" dirty="0">
              <a:ln>
                <a:noFill/>
              </a:ln>
              <a:solidFill>
                <a:srgbClr val="FF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endParaRPr>
          </a:p>
        </p:txBody>
      </p:sp>
      <p:sp>
        <p:nvSpPr>
          <p:cNvPr id="13" name="AutoShape 119"/>
          <p:cNvSpPr>
            <a:spLocks noChangeArrowheads="1"/>
          </p:cNvSpPr>
          <p:nvPr/>
        </p:nvSpPr>
        <p:spPr bwMode="auto">
          <a:xfrm>
            <a:off x="2705099" y="4632349"/>
            <a:ext cx="288925" cy="360363"/>
          </a:xfrm>
          <a:prstGeom prst="downArrow">
            <a:avLst>
              <a:gd name="adj1" fmla="val 50000"/>
              <a:gd name="adj2" fmla="val 31181"/>
            </a:avLst>
          </a:prstGeom>
          <a:solidFill>
            <a:srgbClr val="0099CC"/>
          </a:solidFill>
          <a:ln w="12700"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14" name="AutoShape 120"/>
          <p:cNvSpPr>
            <a:spLocks noChangeArrowheads="1"/>
          </p:cNvSpPr>
          <p:nvPr/>
        </p:nvSpPr>
        <p:spPr bwMode="auto">
          <a:xfrm>
            <a:off x="8616938" y="4708175"/>
            <a:ext cx="264140" cy="1118671"/>
          </a:xfrm>
          <a:prstGeom prst="downArrow">
            <a:avLst>
              <a:gd name="adj1" fmla="val 50278"/>
              <a:gd name="adj2" fmla="val 59676"/>
            </a:avLst>
          </a:prstGeom>
          <a:solidFill>
            <a:srgbClr val="0099CC"/>
          </a:solidFill>
          <a:ln w="12700" cap="sq">
            <a:solidFill>
              <a:srgbClr val="FFFFFF"/>
            </a:solidFill>
            <a:miter lim="800000"/>
            <a:headEnd/>
            <a:tailEnd/>
          </a:ln>
          <a:effectLst>
            <a:outerShdw dist="35921" dir="2700000" algn="ctr" rotWithShape="0">
              <a:srgbClr val="000514"/>
            </a:outerShdw>
          </a:effectLst>
        </p:spPr>
        <p:txBody>
          <a:bodyPr wrap="none" lIns="72000" tIns="72000" rIns="72000" bIns="72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15" name="Text Box 121"/>
          <p:cNvSpPr txBox="1">
            <a:spLocks noChangeArrowheads="1"/>
          </p:cNvSpPr>
          <p:nvPr/>
        </p:nvSpPr>
        <p:spPr bwMode="auto">
          <a:xfrm>
            <a:off x="6228158" y="980728"/>
            <a:ext cx="1223963" cy="565146"/>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3200" b="1" i="0" u="none" strike="noStrike" kern="0" cap="none" spc="0" normalizeH="0" baseline="0" noProof="0">
                <a:ln>
                  <a:noFill/>
                </a:ln>
                <a:solidFill>
                  <a:srgbClr val="3333CC"/>
                </a:solidFill>
                <a:effectLst/>
                <a:uLnTx/>
                <a:uFillTx/>
                <a:latin typeface="微软雅黑" panose="020B0503020204020204" pitchFamily="34" charset="-122"/>
                <a:ea typeface="微软雅黑" panose="020B0503020204020204" pitchFamily="34" charset="-122"/>
              </a:rPr>
              <a:t>关系</a:t>
            </a:r>
          </a:p>
        </p:txBody>
      </p:sp>
      <p:sp>
        <p:nvSpPr>
          <p:cNvPr id="16" name="Line 122"/>
          <p:cNvSpPr>
            <a:spLocks noChangeShapeType="1"/>
          </p:cNvSpPr>
          <p:nvPr/>
        </p:nvSpPr>
        <p:spPr bwMode="auto">
          <a:xfrm>
            <a:off x="7452121" y="1227090"/>
            <a:ext cx="1296887" cy="389188"/>
          </a:xfrm>
          <a:prstGeom prst="line">
            <a:avLst/>
          </a:prstGeom>
          <a:noFill/>
          <a:ln w="28575" cap="sq">
            <a:solidFill>
              <a:srgbClr val="FF0000"/>
            </a:solidFill>
            <a:round/>
            <a:headEnd/>
            <a:tailEnd type="triangle" w="med" len="med"/>
          </a:ln>
          <a:effectLst>
            <a:outerShdw dist="28398" dir="1593903" algn="ctr" rotWithShape="0">
              <a:srgbClr val="000514">
                <a:alpha val="50000"/>
              </a:srgbClr>
            </a:outerShdw>
          </a:effectLst>
        </p:spPr>
        <p:txBody>
          <a:bodyPr wrap="square" lIns="36000" tIns="36000" rIns="36000" bIns="3600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17" name="Text Box 123"/>
          <p:cNvSpPr txBox="1">
            <a:spLocks noChangeArrowheads="1"/>
          </p:cNvSpPr>
          <p:nvPr/>
        </p:nvSpPr>
        <p:spPr bwMode="auto">
          <a:xfrm>
            <a:off x="2135560" y="5847785"/>
            <a:ext cx="1943100" cy="565146"/>
          </a:xfrm>
          <a:prstGeom prst="rect">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3200" b="1" i="0" u="none" strike="noStrike" kern="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rPr>
              <a:t>关系模式</a:t>
            </a:r>
          </a:p>
        </p:txBody>
      </p:sp>
      <p:sp>
        <p:nvSpPr>
          <p:cNvPr id="18" name="Line 124"/>
          <p:cNvSpPr>
            <a:spLocks noChangeShapeType="1"/>
          </p:cNvSpPr>
          <p:nvPr/>
        </p:nvSpPr>
        <p:spPr bwMode="auto">
          <a:xfrm>
            <a:off x="4080248" y="6063685"/>
            <a:ext cx="2232025" cy="0"/>
          </a:xfrm>
          <a:prstGeom prst="line">
            <a:avLst/>
          </a:prstGeom>
          <a:noFill/>
          <a:ln w="28575" cap="sq">
            <a:solidFill>
              <a:srgbClr val="FF0000"/>
            </a:solidFill>
            <a:round/>
            <a:headEnd/>
            <a:tailEnd type="triangle" w="med" len="med"/>
          </a:ln>
          <a:effectLst>
            <a:outerShdw dist="28398" dir="1593903" algn="ctr" rotWithShape="0">
              <a:srgbClr val="000514">
                <a:alpha val="50000"/>
              </a:srgbClr>
            </a:outerShdw>
          </a:effectLst>
        </p:spPr>
        <p:txBody>
          <a:bodyPr wrap="square" lIns="36000" tIns="36000" rIns="36000" bIns="3600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789467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876300" y="702310"/>
            <a:ext cx="10440035" cy="720090"/>
          </a:xfrm>
        </p:spPr>
        <p:txBody>
          <a:bodyPr>
            <a:normAutofit/>
          </a:bodyPr>
          <a:lstStyle/>
          <a:p>
            <a:r>
              <a:rPr lang="zh-CN" altLang="en-US" b="1" dirty="0" smtClean="0">
                <a:sym typeface="+mn-ea"/>
              </a:rPr>
              <a:t>关系</a:t>
            </a:r>
            <a:r>
              <a:rPr lang="zh-CN" altLang="en-US" b="1" dirty="0">
                <a:sym typeface="+mn-ea"/>
              </a:rPr>
              <a:t>的键与关系的完整性</a:t>
            </a:r>
          </a:p>
        </p:txBody>
      </p:sp>
      <p:sp>
        <p:nvSpPr>
          <p:cNvPr id="3" name="内容占位符 2"/>
          <p:cNvSpPr>
            <a:spLocks noGrp="1"/>
          </p:cNvSpPr>
          <p:nvPr>
            <p:ph idx="1"/>
          </p:nvPr>
        </p:nvSpPr>
        <p:spPr>
          <a:xfrm>
            <a:off x="876300" y="1778635"/>
            <a:ext cx="11059160" cy="4334510"/>
          </a:xfrm>
        </p:spPr>
        <p:txBody>
          <a:bodyPr>
            <a:normAutofit/>
          </a:bodyPr>
          <a:lstStyle/>
          <a:p>
            <a:pPr marL="0" indent="0">
              <a:buNone/>
            </a:pPr>
            <a:r>
              <a:rPr lang="zh-CN" altLang="en-US" sz="2800" dirty="0"/>
              <a:t>      在给定关系中，存在一个或一组属性，能够标识该关系的每一行或与另一个表产生联系，这样的属性我们称之为</a:t>
            </a:r>
            <a:r>
              <a:rPr lang="zh-CN" altLang="en-US" sz="2800" b="1" dirty="0">
                <a:solidFill>
                  <a:srgbClr val="FF0000"/>
                </a:solidFill>
              </a:rPr>
              <a:t>关系键</a:t>
            </a:r>
            <a:r>
              <a:rPr lang="zh-CN" altLang="en-US" sz="2800" dirty="0" smtClean="0"/>
              <a:t>。</a:t>
            </a:r>
            <a:endParaRPr lang="en-US" altLang="zh-CN" sz="2800" dirty="0" smtClean="0"/>
          </a:p>
          <a:p>
            <a:pPr marL="0" indent="0">
              <a:buNone/>
            </a:pPr>
            <a:r>
              <a:rPr lang="zh-CN" altLang="en-US" sz="3200" b="1" dirty="0" smtClean="0"/>
              <a:t>候选</a:t>
            </a:r>
            <a:r>
              <a:rPr lang="zh-CN" altLang="en-US" sz="3200" b="1" dirty="0"/>
              <a:t>键（Candidate Key）与主键（Primary Key）</a:t>
            </a:r>
            <a:endParaRPr lang="zh-CN" altLang="en-US" sz="2800" dirty="0"/>
          </a:p>
          <a:p>
            <a:pPr marL="0" indent="0">
              <a:buNone/>
            </a:pPr>
            <a:r>
              <a:rPr lang="zh-CN" altLang="en-US" sz="2800" dirty="0"/>
              <a:t>      若关系中某一属性或属性组的值能够唯一标识一个元组，则称该属性或属性组为关系的</a:t>
            </a:r>
            <a:r>
              <a:rPr lang="zh-CN" altLang="en-US" sz="2800" b="1" dirty="0">
                <a:solidFill>
                  <a:srgbClr val="FF0000"/>
                </a:solidFill>
              </a:rPr>
              <a:t>候选键</a:t>
            </a:r>
            <a:r>
              <a:rPr lang="zh-CN" altLang="en-US" sz="2800" dirty="0"/>
              <a:t>。一个关系中至少含有一个候选键。</a:t>
            </a:r>
          </a:p>
          <a:p>
            <a:pPr marL="0" indent="0">
              <a:buNone/>
            </a:pPr>
            <a:r>
              <a:rPr lang="zh-CN" altLang="en-US" sz="2800" dirty="0"/>
              <a:t>      若一个关系有多个候选键时，我们从候选关系键中选择一个作为</a:t>
            </a:r>
            <a:r>
              <a:rPr lang="zh-CN" altLang="en-US" sz="2800" b="1" dirty="0">
                <a:solidFill>
                  <a:srgbClr val="FF0000"/>
                </a:solidFill>
              </a:rPr>
              <a:t>主键（也称为主码、主关键字）。</a:t>
            </a:r>
          </a:p>
        </p:txBody>
      </p:sp>
    </p:spTree>
    <p:custDataLst>
      <p:tags r:id="rId1"/>
    </p:custDataLst>
    <p:extLst>
      <p:ext uri="{BB962C8B-B14F-4D97-AF65-F5344CB8AC3E}">
        <p14:creationId xmlns:p14="http://schemas.microsoft.com/office/powerpoint/2010/main" val="1594510789"/>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码的概念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5" name="Rectangle 3"/>
          <p:cNvSpPr txBox="1">
            <a:spLocks noChangeArrowheads="1"/>
          </p:cNvSpPr>
          <p:nvPr/>
        </p:nvSpPr>
        <p:spPr bwMode="auto">
          <a:xfrm>
            <a:off x="264260" y="949425"/>
            <a:ext cx="11304347" cy="246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spcAft>
                <a:spcPct val="15000"/>
              </a:spcAft>
              <a:defRPr/>
            </a:pPr>
            <a:r>
              <a:rPr kumimoji="1" lang="zh-CN" altLang="zh-CN" baseline="0" dirty="0">
                <a:latin typeface="微软雅黑" panose="020B0503020204020204" pitchFamily="34" charset="-122"/>
                <a:ea typeface="微软雅黑" panose="020B0503020204020204" pitchFamily="34" charset="-122"/>
              </a:rPr>
              <a:t>如果关系R的一个属性组F不是R的主</a:t>
            </a:r>
            <a:r>
              <a:rPr kumimoji="1" lang="zh-CN" altLang="en-US" baseline="0" dirty="0">
                <a:latin typeface="微软雅黑" panose="020B0503020204020204" pitchFamily="34" charset="-122"/>
                <a:ea typeface="微软雅黑" panose="020B0503020204020204" pitchFamily="34" charset="-122"/>
              </a:rPr>
              <a:t>码</a:t>
            </a:r>
            <a:r>
              <a:rPr kumimoji="1" lang="zh-CN" altLang="zh-CN" baseline="0" dirty="0">
                <a:latin typeface="微软雅黑" panose="020B0503020204020204" pitchFamily="34" charset="-122"/>
                <a:ea typeface="微软雅黑" panose="020B0503020204020204" pitchFamily="34" charset="-122"/>
              </a:rPr>
              <a:t>，但F与另一关系S(R和S可以是同一关系)的主</a:t>
            </a:r>
            <a:r>
              <a:rPr kumimoji="1" lang="zh-CN" altLang="en-US" baseline="0" dirty="0">
                <a:latin typeface="微软雅黑" panose="020B0503020204020204" pitchFamily="34" charset="-122"/>
                <a:ea typeface="微软雅黑" panose="020B0503020204020204" pitchFamily="34" charset="-122"/>
              </a:rPr>
              <a:t>码</a:t>
            </a:r>
            <a:r>
              <a:rPr kumimoji="1" lang="zh-CN" altLang="zh-CN" baseline="0" dirty="0">
                <a:latin typeface="微软雅黑" panose="020B0503020204020204" pitchFamily="34" charset="-122"/>
                <a:ea typeface="微软雅黑" panose="020B0503020204020204" pitchFamily="34" charset="-122"/>
              </a:rPr>
              <a:t>相对应，则称F为关系R的</a:t>
            </a:r>
            <a:r>
              <a:rPr kumimoji="1" lang="zh-CN" altLang="zh-CN" b="1" baseline="0" dirty="0">
                <a:solidFill>
                  <a:srgbClr val="FFC000"/>
                </a:solidFill>
                <a:latin typeface="微软雅黑" panose="020B0503020204020204" pitchFamily="34" charset="-122"/>
                <a:ea typeface="微软雅黑" panose="020B0503020204020204" pitchFamily="34" charset="-122"/>
              </a:rPr>
              <a:t>外</a:t>
            </a:r>
            <a:r>
              <a:rPr kumimoji="1" lang="zh-CN" altLang="en-US" b="1" baseline="0" dirty="0">
                <a:solidFill>
                  <a:srgbClr val="FFC000"/>
                </a:solidFill>
                <a:latin typeface="微软雅黑" panose="020B0503020204020204" pitchFamily="34" charset="-122"/>
                <a:ea typeface="微软雅黑" panose="020B0503020204020204" pitchFamily="34" charset="-122"/>
              </a:rPr>
              <a:t>码</a:t>
            </a:r>
            <a:r>
              <a:rPr kumimoji="1" lang="zh-CN" altLang="zh-CN" baseline="0" dirty="0">
                <a:latin typeface="微软雅黑" panose="020B0503020204020204" pitchFamily="34" charset="-122"/>
                <a:ea typeface="微软雅黑" panose="020B0503020204020204" pitchFamily="34" charset="-122"/>
              </a:rPr>
              <a:t>(</a:t>
            </a:r>
            <a:r>
              <a:rPr kumimoji="1" lang="zh-CN" altLang="zh-CN" i="1" baseline="0" dirty="0">
                <a:latin typeface="微软雅黑" panose="020B0503020204020204" pitchFamily="34" charset="-122"/>
                <a:ea typeface="微软雅黑" panose="020B0503020204020204" pitchFamily="34" charset="-122"/>
              </a:rPr>
              <a:t>Foreign key</a:t>
            </a:r>
            <a:r>
              <a:rPr kumimoji="1" lang="zh-CN" altLang="zh-CN" baseline="0" dirty="0">
                <a:latin typeface="微软雅黑" panose="020B0503020204020204" pitchFamily="34" charset="-122"/>
                <a:ea typeface="微软雅黑" panose="020B0503020204020204" pitchFamily="34" charset="-122"/>
              </a:rPr>
              <a:t>)。并称关系R为</a:t>
            </a:r>
            <a:r>
              <a:rPr kumimoji="1" lang="zh-CN" altLang="zh-CN" baseline="0" dirty="0">
                <a:solidFill>
                  <a:srgbClr val="00FFFF"/>
                </a:solidFill>
                <a:latin typeface="微软雅黑" panose="020B0503020204020204" pitchFamily="34" charset="-122"/>
                <a:ea typeface="微软雅黑" panose="020B0503020204020204" pitchFamily="34" charset="-122"/>
              </a:rPr>
              <a:t>参照关系</a:t>
            </a:r>
            <a:r>
              <a:rPr kumimoji="1" lang="zh-CN" altLang="zh-CN" baseline="0" dirty="0">
                <a:latin typeface="微软雅黑" panose="020B0503020204020204" pitchFamily="34" charset="-122"/>
                <a:ea typeface="微软雅黑" panose="020B0503020204020204" pitchFamily="34" charset="-122"/>
              </a:rPr>
              <a:t>(</a:t>
            </a:r>
            <a:r>
              <a:rPr kumimoji="1" lang="zh-CN" altLang="zh-CN" i="1" baseline="0" dirty="0">
                <a:latin typeface="微软雅黑" panose="020B0503020204020204" pitchFamily="34" charset="-122"/>
                <a:ea typeface="微软雅黑" panose="020B0503020204020204" pitchFamily="34" charset="-122"/>
              </a:rPr>
              <a:t>referencing relation</a:t>
            </a:r>
            <a:r>
              <a:rPr kumimoji="1" lang="zh-CN" altLang="zh-CN" baseline="0" dirty="0">
                <a:latin typeface="微软雅黑" panose="020B0503020204020204" pitchFamily="34" charset="-122"/>
                <a:ea typeface="微软雅黑" panose="020B0503020204020204" pitchFamily="34" charset="-122"/>
              </a:rPr>
              <a:t>)，关系S称为</a:t>
            </a:r>
            <a:r>
              <a:rPr kumimoji="1" lang="zh-CN" altLang="zh-CN" baseline="0" dirty="0">
                <a:solidFill>
                  <a:srgbClr val="00FFFF"/>
                </a:solidFill>
                <a:latin typeface="微软雅黑" panose="020B0503020204020204" pitchFamily="34" charset="-122"/>
                <a:ea typeface="微软雅黑" panose="020B0503020204020204" pitchFamily="34" charset="-122"/>
              </a:rPr>
              <a:t>被参照关系</a:t>
            </a:r>
            <a:r>
              <a:rPr kumimoji="1" lang="zh-CN" altLang="zh-CN" baseline="0" dirty="0">
                <a:latin typeface="微软雅黑" panose="020B0503020204020204" pitchFamily="34" charset="-122"/>
                <a:ea typeface="微软雅黑" panose="020B0503020204020204" pitchFamily="34" charset="-122"/>
              </a:rPr>
              <a:t>(</a:t>
            </a:r>
            <a:r>
              <a:rPr kumimoji="1" lang="zh-CN" altLang="zh-CN" i="1" baseline="0" dirty="0">
                <a:latin typeface="微软雅黑" panose="020B0503020204020204" pitchFamily="34" charset="-122"/>
                <a:ea typeface="微软雅黑" panose="020B0503020204020204" pitchFamily="34" charset="-122"/>
              </a:rPr>
              <a:t>referenced relation</a:t>
            </a:r>
            <a:r>
              <a:rPr kumimoji="1" lang="zh-CN" altLang="zh-CN" baseline="0" dirty="0">
                <a:latin typeface="微软雅黑" panose="020B0503020204020204" pitchFamily="34" charset="-122"/>
                <a:ea typeface="微软雅黑" panose="020B0503020204020204" pitchFamily="34" charset="-122"/>
              </a:rPr>
              <a:t>)</a:t>
            </a:r>
            <a:r>
              <a:rPr kumimoji="1" lang="zh-CN" altLang="en-US" baseline="0" dirty="0">
                <a:latin typeface="微软雅黑" panose="020B0503020204020204" pitchFamily="34" charset="-122"/>
                <a:ea typeface="微软雅黑" panose="020B0503020204020204" pitchFamily="34" charset="-122"/>
              </a:rPr>
              <a:t>。</a:t>
            </a:r>
            <a:endParaRPr kumimoji="1" lang="zh-CN" altLang="zh-CN" baseline="0" dirty="0">
              <a:latin typeface="微软雅黑" panose="020B0503020204020204" pitchFamily="34" charset="-122"/>
              <a:ea typeface="微软雅黑" panose="020B0503020204020204" pitchFamily="34" charset="-122"/>
            </a:endParaRPr>
          </a:p>
        </p:txBody>
      </p:sp>
      <p:graphicFrame>
        <p:nvGraphicFramePr>
          <p:cNvPr id="6" name="Group 4"/>
          <p:cNvGraphicFramePr>
            <a:graphicFrameLocks noGrp="1"/>
          </p:cNvGraphicFramePr>
          <p:nvPr>
            <p:extLst>
              <p:ext uri="{D42A27DB-BD31-4B8C-83A1-F6EECF244321}">
                <p14:modId xmlns:p14="http://schemas.microsoft.com/office/powerpoint/2010/main" val="671687644"/>
              </p:ext>
            </p:extLst>
          </p:nvPr>
        </p:nvGraphicFramePr>
        <p:xfrm>
          <a:off x="1210776" y="4017776"/>
          <a:ext cx="3557100" cy="1974124"/>
        </p:xfrm>
        <a:graphic>
          <a:graphicData uri="http://schemas.openxmlformats.org/drawingml/2006/table">
            <a:tbl>
              <a:tblPr/>
              <a:tblGrid>
                <a:gridCol w="1067130">
                  <a:extLst>
                    <a:ext uri="{9D8B030D-6E8A-4147-A177-3AD203B41FA5}">
                      <a16:colId xmlns:a16="http://schemas.microsoft.com/office/drawing/2014/main" val="20000"/>
                    </a:ext>
                  </a:extLst>
                </a:gridCol>
                <a:gridCol w="1156058">
                  <a:extLst>
                    <a:ext uri="{9D8B030D-6E8A-4147-A177-3AD203B41FA5}">
                      <a16:colId xmlns:a16="http://schemas.microsoft.com/office/drawing/2014/main" val="20001"/>
                    </a:ext>
                  </a:extLst>
                </a:gridCol>
                <a:gridCol w="1333912">
                  <a:extLst>
                    <a:ext uri="{9D8B030D-6E8A-4147-A177-3AD203B41FA5}">
                      <a16:colId xmlns:a16="http://schemas.microsoft.com/office/drawing/2014/main" val="20002"/>
                    </a:ext>
                  </a:extLst>
                </a:gridCol>
              </a:tblGrid>
              <a:tr h="49295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49526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95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95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7" name="Group 26"/>
          <p:cNvGraphicFramePr>
            <a:graphicFrameLocks noGrp="1"/>
          </p:cNvGraphicFramePr>
          <p:nvPr>
            <p:extLst>
              <p:ext uri="{D42A27DB-BD31-4B8C-83A1-F6EECF244321}">
                <p14:modId xmlns:p14="http://schemas.microsoft.com/office/powerpoint/2010/main" val="276433511"/>
              </p:ext>
            </p:extLst>
          </p:nvPr>
        </p:nvGraphicFramePr>
        <p:xfrm>
          <a:off x="7288889" y="4017777"/>
          <a:ext cx="3692336" cy="1972535"/>
        </p:xfrm>
        <a:graphic>
          <a:graphicData uri="http://schemas.openxmlformats.org/drawingml/2006/table">
            <a:tbl>
              <a:tblPr/>
              <a:tblGrid>
                <a:gridCol w="1107700">
                  <a:extLst>
                    <a:ext uri="{9D8B030D-6E8A-4147-A177-3AD203B41FA5}">
                      <a16:colId xmlns:a16="http://schemas.microsoft.com/office/drawing/2014/main" val="20000"/>
                    </a:ext>
                  </a:extLst>
                </a:gridCol>
                <a:gridCol w="1661551">
                  <a:extLst>
                    <a:ext uri="{9D8B030D-6E8A-4147-A177-3AD203B41FA5}">
                      <a16:colId xmlns:a16="http://schemas.microsoft.com/office/drawing/2014/main" val="20001"/>
                    </a:ext>
                  </a:extLst>
                </a:gridCol>
                <a:gridCol w="923085">
                  <a:extLst>
                    <a:ext uri="{9D8B030D-6E8A-4147-A177-3AD203B41FA5}">
                      <a16:colId xmlns:a16="http://schemas.microsoft.com/office/drawing/2014/main" val="20002"/>
                    </a:ext>
                  </a:extLst>
                </a:gridCol>
              </a:tblGrid>
              <a:tr h="48628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课程名</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48856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628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139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Text Box 48"/>
          <p:cNvSpPr txBox="1">
            <a:spLocks noChangeArrowheads="1"/>
          </p:cNvSpPr>
          <p:nvPr/>
        </p:nvSpPr>
        <p:spPr bwMode="auto">
          <a:xfrm>
            <a:off x="4691676" y="4204375"/>
            <a:ext cx="76200" cy="274638"/>
          </a:xfrm>
          <a:prstGeom prst="rect">
            <a:avLst/>
          </a:prstGeom>
          <a:noFill/>
          <a:ln w="12700" cap="sq">
            <a:noFill/>
            <a:miter lim="800000"/>
            <a:headEnd/>
            <a:tailEnd/>
          </a:ln>
          <a:effectLst/>
        </p:spPr>
        <p:txBody>
          <a:bodyPr lIns="0" tIns="0" rIns="0" bIns="0">
            <a:spAutoFit/>
          </a:bodyPr>
          <a:lstStyle/>
          <a:p>
            <a:pPr algn="ctr">
              <a:spcBef>
                <a:spcPct val="50000"/>
              </a:spcBef>
              <a:spcAft>
                <a:spcPct val="0"/>
              </a:spcAft>
              <a:buSzTx/>
              <a:buFontTx/>
              <a:buNone/>
              <a:defRPr/>
            </a:pPr>
            <a:endParaRPr lang="zh-CN" altLang="en-US" sz="1800" baseline="0">
              <a:effectLst>
                <a:outerShdw blurRad="38100" dist="38100" dir="2700000" algn="tl">
                  <a:srgbClr val="000000"/>
                </a:outerShdw>
              </a:effectLst>
              <a:latin typeface="Times New Roman" pitchFamily="18" charset="0"/>
            </a:endParaRPr>
          </a:p>
        </p:txBody>
      </p:sp>
      <p:sp>
        <p:nvSpPr>
          <p:cNvPr id="9" name="Text Box 49"/>
          <p:cNvSpPr txBox="1">
            <a:spLocks noChangeArrowheads="1"/>
          </p:cNvSpPr>
          <p:nvPr/>
        </p:nvSpPr>
        <p:spPr bwMode="auto">
          <a:xfrm>
            <a:off x="7669889" y="4204375"/>
            <a:ext cx="76200" cy="274638"/>
          </a:xfrm>
          <a:prstGeom prst="rect">
            <a:avLst/>
          </a:prstGeom>
          <a:noFill/>
          <a:ln w="12700" cap="sq">
            <a:noFill/>
            <a:miter lim="800000"/>
            <a:headEnd/>
            <a:tailEnd/>
          </a:ln>
          <a:effectLst/>
        </p:spPr>
        <p:txBody>
          <a:bodyPr lIns="0" tIns="0" rIns="0" bIns="0">
            <a:spAutoFit/>
          </a:bodyPr>
          <a:lstStyle/>
          <a:p>
            <a:pPr algn="ctr">
              <a:spcBef>
                <a:spcPct val="50000"/>
              </a:spcBef>
              <a:spcAft>
                <a:spcPct val="0"/>
              </a:spcAft>
              <a:buSzTx/>
              <a:buFontTx/>
              <a:buNone/>
              <a:defRPr/>
            </a:pPr>
            <a:endParaRPr lang="zh-CN" altLang="en-US" sz="1800" baseline="0">
              <a:effectLst>
                <a:outerShdw blurRad="38100" dist="38100" dir="2700000" algn="tl">
                  <a:srgbClr val="000000"/>
                </a:outerShdw>
              </a:effectLst>
              <a:latin typeface="Times New Roman" pitchFamily="18" charset="0"/>
            </a:endParaRPr>
          </a:p>
        </p:txBody>
      </p:sp>
      <p:sp>
        <p:nvSpPr>
          <p:cNvPr id="11" name="Rectangle 51"/>
          <p:cNvSpPr>
            <a:spLocks noChangeArrowheads="1"/>
          </p:cNvSpPr>
          <p:nvPr/>
        </p:nvSpPr>
        <p:spPr bwMode="auto">
          <a:xfrm>
            <a:off x="7534065" y="6245012"/>
            <a:ext cx="721351"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主码</a:t>
            </a:r>
          </a:p>
        </p:txBody>
      </p:sp>
      <p:sp>
        <p:nvSpPr>
          <p:cNvPr id="12" name="Line 52"/>
          <p:cNvSpPr>
            <a:spLocks noChangeShapeType="1"/>
          </p:cNvSpPr>
          <p:nvPr/>
        </p:nvSpPr>
        <p:spPr bwMode="auto">
          <a:xfrm flipV="1">
            <a:off x="7894741" y="6003950"/>
            <a:ext cx="0" cy="233362"/>
          </a:xfrm>
          <a:prstGeom prst="line">
            <a:avLst/>
          </a:prstGeom>
          <a:noFill/>
          <a:ln w="28575" cap="sq">
            <a:solidFill>
              <a:srgbClr val="FFFFCC"/>
            </a:solidFill>
            <a:round/>
            <a:headEnd/>
            <a:tailEnd type="triangle" w="med" len="med"/>
          </a:ln>
          <a:effectLst>
            <a:outerShdw dist="12700" dir="5400000" algn="ctr" rotWithShape="0">
              <a:srgbClr val="000514"/>
            </a:outerShdw>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3" name="Rectangle 53"/>
          <p:cNvSpPr>
            <a:spLocks noChangeArrowheads="1"/>
          </p:cNvSpPr>
          <p:nvPr/>
        </p:nvSpPr>
        <p:spPr bwMode="auto">
          <a:xfrm>
            <a:off x="3575909" y="6237312"/>
            <a:ext cx="721351"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外码</a:t>
            </a:r>
          </a:p>
        </p:txBody>
      </p:sp>
      <p:sp>
        <p:nvSpPr>
          <p:cNvPr id="14" name="Line 54"/>
          <p:cNvSpPr>
            <a:spLocks noChangeShapeType="1"/>
          </p:cNvSpPr>
          <p:nvPr/>
        </p:nvSpPr>
        <p:spPr bwMode="auto">
          <a:xfrm flipV="1">
            <a:off x="4035422" y="6011650"/>
            <a:ext cx="0" cy="233362"/>
          </a:xfrm>
          <a:prstGeom prst="line">
            <a:avLst/>
          </a:prstGeom>
          <a:noFill/>
          <a:ln w="28575" cap="sq">
            <a:solidFill>
              <a:srgbClr val="FFFFCC"/>
            </a:solidFill>
            <a:round/>
            <a:headEnd/>
            <a:tailEnd type="triangle" w="med" len="med"/>
          </a:ln>
          <a:effectLst>
            <a:outerShdw dist="12700" dir="5400000" algn="ctr" rotWithShape="0">
              <a:srgbClr val="000514"/>
            </a:outerShdw>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5" name="Rectangle 55"/>
          <p:cNvSpPr>
            <a:spLocks noChangeArrowheads="1"/>
          </p:cNvSpPr>
          <p:nvPr/>
        </p:nvSpPr>
        <p:spPr bwMode="auto">
          <a:xfrm>
            <a:off x="1876889" y="3429567"/>
            <a:ext cx="1442703"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参照关系</a:t>
            </a:r>
          </a:p>
        </p:txBody>
      </p:sp>
      <p:sp>
        <p:nvSpPr>
          <p:cNvPr id="16" name="Rectangle 56"/>
          <p:cNvSpPr>
            <a:spLocks noChangeArrowheads="1"/>
          </p:cNvSpPr>
          <p:nvPr/>
        </p:nvSpPr>
        <p:spPr bwMode="auto">
          <a:xfrm>
            <a:off x="8141060" y="3429567"/>
            <a:ext cx="1803379"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被参照关系</a:t>
            </a:r>
          </a:p>
        </p:txBody>
      </p:sp>
      <p:sp>
        <p:nvSpPr>
          <p:cNvPr id="17" name="Rectangle 57"/>
          <p:cNvSpPr>
            <a:spLocks noChangeArrowheads="1"/>
          </p:cNvSpPr>
          <p:nvPr/>
        </p:nvSpPr>
        <p:spPr bwMode="auto">
          <a:xfrm>
            <a:off x="650387" y="3930691"/>
            <a:ext cx="425450" cy="1723549"/>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800" b="1" baseline="0" dirty="0">
                <a:effectLst>
                  <a:outerShdw blurRad="38100" dist="38100" dir="2700000" algn="tl">
                    <a:srgbClr val="000000"/>
                  </a:outerShdw>
                </a:effectLst>
                <a:latin typeface="Times New Roman" pitchFamily="18" charset="0"/>
              </a:rPr>
              <a:t>学生选课</a:t>
            </a:r>
          </a:p>
        </p:txBody>
      </p:sp>
      <p:sp>
        <p:nvSpPr>
          <p:cNvPr id="18" name="Rectangle 58"/>
          <p:cNvSpPr>
            <a:spLocks noChangeArrowheads="1"/>
          </p:cNvSpPr>
          <p:nvPr/>
        </p:nvSpPr>
        <p:spPr bwMode="auto">
          <a:xfrm>
            <a:off x="6764707" y="4017776"/>
            <a:ext cx="425450" cy="861774"/>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800" b="1" baseline="0" dirty="0">
                <a:effectLst>
                  <a:outerShdw blurRad="38100" dist="38100" dir="2700000" algn="tl">
                    <a:srgbClr val="000000"/>
                  </a:outerShdw>
                </a:effectLst>
                <a:latin typeface="Times New Roman" pitchFamily="18" charset="0"/>
              </a:rPr>
              <a:t>课程</a:t>
            </a:r>
          </a:p>
        </p:txBody>
      </p:sp>
      <p:sp>
        <p:nvSpPr>
          <p:cNvPr id="37" name="弧形 36">
            <a:extLst>
              <a:ext uri="{FF2B5EF4-FFF2-40B4-BE49-F238E27FC236}">
                <a16:creationId xmlns:a16="http://schemas.microsoft.com/office/drawing/2014/main" id="{8CC8D7AA-605D-4EE1-9D6C-F1394D2AFF7E}"/>
              </a:ext>
            </a:extLst>
          </p:cNvPr>
          <p:cNvSpPr/>
          <p:nvPr/>
        </p:nvSpPr>
        <p:spPr bwMode="auto">
          <a:xfrm>
            <a:off x="4034682" y="3362621"/>
            <a:ext cx="3657048" cy="1008752"/>
          </a:xfrm>
          <a:prstGeom prst="arc">
            <a:avLst>
              <a:gd name="adj1" fmla="val 10619725"/>
              <a:gd name="adj2" fmla="val 176167"/>
            </a:avLst>
          </a:prstGeom>
          <a:ln w="38100">
            <a:solidFill>
              <a:schemeClr val="accent3">
                <a:lumMod val="60000"/>
                <a:lumOff val="40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362811888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275016"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关系模型的完整性约束</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7" name="Rectangle 59">
            <a:extLst>
              <a:ext uri="{FF2B5EF4-FFF2-40B4-BE49-F238E27FC236}">
                <a16:creationId xmlns:a16="http://schemas.microsoft.com/office/drawing/2014/main" id="{BACC495A-E6BB-476A-9B46-781C4CF6A9A9}"/>
              </a:ext>
            </a:extLst>
          </p:cNvPr>
          <p:cNvSpPr txBox="1">
            <a:spLocks noChangeArrowheads="1"/>
          </p:cNvSpPr>
          <p:nvPr/>
        </p:nvSpPr>
        <p:spPr bwMode="auto">
          <a:xfrm>
            <a:off x="407368" y="836712"/>
            <a:ext cx="11377264" cy="151216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50000"/>
              </a:spcAft>
              <a:defRPr/>
            </a:pPr>
            <a:r>
              <a:rPr kumimoji="1" lang="zh-CN" altLang="zh-CN" baseline="0" dirty="0">
                <a:solidFill>
                  <a:srgbClr val="00FFFF"/>
                </a:solidFill>
                <a:latin typeface="微软雅黑" panose="020B0503020204020204" pitchFamily="34" charset="-122"/>
                <a:ea typeface="微软雅黑" panose="020B0503020204020204" pitchFamily="34" charset="-122"/>
              </a:rPr>
              <a:t>实体完整性</a:t>
            </a:r>
            <a:r>
              <a:rPr kumimoji="1" lang="zh-CN" altLang="zh-CN" baseline="0" dirty="0">
                <a:latin typeface="微软雅黑" panose="020B0503020204020204" pitchFamily="34" charset="-122"/>
                <a:ea typeface="微软雅黑" panose="020B0503020204020204" pitchFamily="34" charset="-122"/>
              </a:rPr>
              <a:t>(</a:t>
            </a:r>
            <a:r>
              <a:rPr kumimoji="1" lang="zh-CN" altLang="zh-CN" i="1" baseline="0" dirty="0">
                <a:latin typeface="微软雅黑" panose="020B0503020204020204" pitchFamily="34" charset="-122"/>
                <a:ea typeface="微软雅黑" panose="020B0503020204020204" pitchFamily="34" charset="-122"/>
              </a:rPr>
              <a:t>Entity </a:t>
            </a:r>
            <a:r>
              <a:rPr kumimoji="1" lang="zh-CN" altLang="en-US" i="1" baseline="0" dirty="0">
                <a:latin typeface="微软雅黑" panose="020B0503020204020204" pitchFamily="34" charset="-122"/>
                <a:ea typeface="微软雅黑" panose="020B0503020204020204" pitchFamily="34" charset="-122"/>
              </a:rPr>
              <a:t>i</a:t>
            </a:r>
            <a:r>
              <a:rPr kumimoji="1" lang="zh-CN" altLang="zh-CN" i="1" baseline="0" dirty="0">
                <a:latin typeface="微软雅黑" panose="020B0503020204020204" pitchFamily="34" charset="-122"/>
                <a:ea typeface="微软雅黑" panose="020B0503020204020204" pitchFamily="34" charset="-122"/>
              </a:rPr>
              <a:t>ntegrity</a:t>
            </a:r>
            <a:r>
              <a:rPr kumimoji="1" lang="zh-CN" altLang="zh-CN" baseline="0" dirty="0">
                <a:latin typeface="微软雅黑" panose="020B0503020204020204" pitchFamily="34" charset="-122"/>
                <a:ea typeface="微软雅黑" panose="020B0503020204020204" pitchFamily="34" charset="-122"/>
              </a:rPr>
              <a:t>)</a:t>
            </a:r>
            <a:endParaRPr kumimoji="1" lang="en-US" altLang="zh-CN" baseline="0" dirty="0">
              <a:latin typeface="微软雅黑" panose="020B0503020204020204" pitchFamily="34" charset="-122"/>
              <a:ea typeface="微软雅黑" panose="020B0503020204020204" pitchFamily="34" charset="-122"/>
            </a:endParaRPr>
          </a:p>
          <a:p>
            <a:pPr marL="0" indent="0" eaLnBrk="1" hangingPunct="1">
              <a:spcAft>
                <a:spcPct val="50000"/>
              </a:spcAft>
              <a:buNone/>
              <a:defRPr/>
            </a:pPr>
            <a:r>
              <a:rPr kumimoji="1" lang="zh-CN" altLang="en-US" baseline="0" dirty="0" smtClean="0">
                <a:latin typeface="微软雅黑" panose="020B0503020204020204" pitchFamily="34" charset="-122"/>
                <a:ea typeface="微软雅黑" panose="020B0503020204020204" pitchFamily="34" charset="-122"/>
              </a:rPr>
              <a:t>实体完整性</a:t>
            </a:r>
            <a:r>
              <a:rPr kumimoji="1" lang="zh-CN" altLang="en-US" baseline="0" dirty="0">
                <a:latin typeface="微软雅黑" panose="020B0503020204020204" pitchFamily="34" charset="-122"/>
                <a:ea typeface="微软雅黑" panose="020B0503020204020204" pitchFamily="34" charset="-122"/>
              </a:rPr>
              <a:t>规则：若属性或属性组</a:t>
            </a:r>
            <a:r>
              <a:rPr kumimoji="1" lang="en-US" altLang="zh-CN" baseline="0" dirty="0">
                <a:latin typeface="微软雅黑" panose="020B0503020204020204" pitchFamily="34" charset="-122"/>
                <a:ea typeface="微软雅黑" panose="020B0503020204020204" pitchFamily="34" charset="-122"/>
              </a:rPr>
              <a:t>K</a:t>
            </a:r>
            <a:r>
              <a:rPr kumimoji="1" lang="zh-CN" altLang="en-US" baseline="0" dirty="0">
                <a:latin typeface="微软雅黑" panose="020B0503020204020204" pitchFamily="34" charset="-122"/>
                <a:ea typeface="微软雅黑" panose="020B0503020204020204" pitchFamily="34" charset="-122"/>
              </a:rPr>
              <a:t>是基本关系</a:t>
            </a:r>
            <a:r>
              <a:rPr kumimoji="1" lang="en-US" altLang="zh-CN" baseline="0" dirty="0">
                <a:latin typeface="微软雅黑" panose="020B0503020204020204" pitchFamily="34" charset="-122"/>
                <a:ea typeface="微软雅黑" panose="020B0503020204020204" pitchFamily="34" charset="-122"/>
              </a:rPr>
              <a:t>R</a:t>
            </a:r>
            <a:r>
              <a:rPr kumimoji="1" lang="zh-CN" altLang="en-US" baseline="0" dirty="0">
                <a:latin typeface="微软雅黑" panose="020B0503020204020204" pitchFamily="34" charset="-122"/>
                <a:ea typeface="微软雅黑" panose="020B0503020204020204" pitchFamily="34" charset="-122"/>
              </a:rPr>
              <a:t>的主键，则所有元组</a:t>
            </a:r>
            <a:r>
              <a:rPr kumimoji="1" lang="en-US" altLang="zh-CN" baseline="0" dirty="0">
                <a:latin typeface="微软雅黑" panose="020B0503020204020204" pitchFamily="34" charset="-122"/>
                <a:ea typeface="微软雅黑" panose="020B0503020204020204" pitchFamily="34" charset="-122"/>
              </a:rPr>
              <a:t>K</a:t>
            </a:r>
            <a:r>
              <a:rPr kumimoji="1" lang="zh-CN" altLang="en-US" baseline="0" dirty="0">
                <a:latin typeface="微软雅黑" panose="020B0503020204020204" pitchFamily="34" charset="-122"/>
                <a:ea typeface="微软雅黑" panose="020B0503020204020204" pitchFamily="34" charset="-122"/>
              </a:rPr>
              <a:t>的取值都唯一，并且</a:t>
            </a:r>
            <a:r>
              <a:rPr kumimoji="1" lang="en-US" altLang="zh-CN" baseline="0" dirty="0">
                <a:latin typeface="微软雅黑" panose="020B0503020204020204" pitchFamily="34" charset="-122"/>
                <a:ea typeface="微软雅黑" panose="020B0503020204020204" pitchFamily="34" charset="-122"/>
              </a:rPr>
              <a:t>K</a:t>
            </a:r>
            <a:r>
              <a:rPr kumimoji="1" lang="zh-CN" altLang="en-US" baseline="0" dirty="0">
                <a:latin typeface="微软雅黑" panose="020B0503020204020204" pitchFamily="34" charset="-122"/>
                <a:ea typeface="微软雅黑" panose="020B0503020204020204" pitchFamily="34" charset="-122"/>
              </a:rPr>
              <a:t>中属性不能全部或部分取空值。</a:t>
            </a:r>
          </a:p>
          <a:p>
            <a:pPr marL="0" indent="0" eaLnBrk="1" hangingPunct="1">
              <a:spcAft>
                <a:spcPct val="50000"/>
              </a:spcAft>
              <a:buNone/>
              <a:defRPr/>
            </a:pPr>
            <a:endParaRPr kumimoji="1" lang="zh-CN" altLang="zh-CN" baseline="0" dirty="0">
              <a:latin typeface="微软雅黑" panose="020B0503020204020204" pitchFamily="34" charset="-122"/>
              <a:ea typeface="微软雅黑" panose="020B0503020204020204" pitchFamily="34" charset="-122"/>
            </a:endParaRPr>
          </a:p>
        </p:txBody>
      </p:sp>
      <p:graphicFrame>
        <p:nvGraphicFramePr>
          <p:cNvPr id="18" name="Group 2">
            <a:extLst>
              <a:ext uri="{FF2B5EF4-FFF2-40B4-BE49-F238E27FC236}">
                <a16:creationId xmlns:a16="http://schemas.microsoft.com/office/drawing/2014/main" id="{AD700DCF-9FAA-4DEB-A7AD-DFF1C8A88902}"/>
              </a:ext>
            </a:extLst>
          </p:cNvPr>
          <p:cNvGraphicFramePr>
            <a:graphicFrameLocks/>
          </p:cNvGraphicFramePr>
          <p:nvPr>
            <p:extLst>
              <p:ext uri="{D42A27DB-BD31-4B8C-83A1-F6EECF244321}">
                <p14:modId xmlns:p14="http://schemas.microsoft.com/office/powerpoint/2010/main" val="1764102280"/>
              </p:ext>
            </p:extLst>
          </p:nvPr>
        </p:nvGraphicFramePr>
        <p:xfrm>
          <a:off x="911424" y="2708920"/>
          <a:ext cx="9793088" cy="2508516"/>
        </p:xfrm>
        <a:graphic>
          <a:graphicData uri="http://schemas.openxmlformats.org/drawingml/2006/table">
            <a:tbl>
              <a:tblPr>
                <a:tableStyleId>{2D5ABB26-0587-4C30-8999-92F81FD0307C}</a:tableStyleId>
              </a:tblPr>
              <a:tblGrid>
                <a:gridCol w="2749334">
                  <a:extLst>
                    <a:ext uri="{9D8B030D-6E8A-4147-A177-3AD203B41FA5}">
                      <a16:colId xmlns:a16="http://schemas.microsoft.com/office/drawing/2014/main" val="20000"/>
                    </a:ext>
                  </a:extLst>
                </a:gridCol>
                <a:gridCol w="2610732">
                  <a:extLst>
                    <a:ext uri="{9D8B030D-6E8A-4147-A177-3AD203B41FA5}">
                      <a16:colId xmlns:a16="http://schemas.microsoft.com/office/drawing/2014/main" val="20001"/>
                    </a:ext>
                  </a:extLst>
                </a:gridCol>
                <a:gridCol w="2060867">
                  <a:extLst>
                    <a:ext uri="{9D8B030D-6E8A-4147-A177-3AD203B41FA5}">
                      <a16:colId xmlns:a16="http://schemas.microsoft.com/office/drawing/2014/main" val="20002"/>
                    </a:ext>
                  </a:extLst>
                </a:gridCol>
                <a:gridCol w="2372155">
                  <a:extLst>
                    <a:ext uri="{9D8B030D-6E8A-4147-A177-3AD203B41FA5}">
                      <a16:colId xmlns:a16="http://schemas.microsoft.com/office/drawing/2014/main" val="20003"/>
                    </a:ext>
                  </a:extLst>
                </a:gridCol>
              </a:tblGrid>
              <a:tr h="5031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学号</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姓名</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性别</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年龄</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extLst>
                  <a:ext uri="{0D108BD9-81ED-4DB2-BD59-A6C34878D82A}">
                    <a16:rowId xmlns:a16="http://schemas.microsoft.com/office/drawing/2014/main" val="10000"/>
                  </a:ext>
                </a:extLst>
              </a:tr>
              <a:tr h="5031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98001</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张三</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男</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29</a:t>
                      </a:r>
                      <a:endParaRPr kumimoji="0" lang="en-US" altLang="zh-CN"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07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98002</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李四</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女</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30</a:t>
                      </a:r>
                      <a:endParaRPr kumimoji="0" lang="en-US" altLang="zh-CN"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007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en-US" altLang="zh-CN"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07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a:t>
                      </a:r>
                      <a:r>
                        <a:rPr kumimoji="0" lang="en-US" altLang="zh-CN"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9343</a:t>
                      </a:r>
                      <a:endParaRPr kumimoji="0" lang="en-US" altLang="zh-CN"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王五</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男</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29</a:t>
                      </a:r>
                      <a:endParaRPr kumimoji="0" lang="en-US" altLang="zh-CN"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WordArt 8">
            <a:extLst>
              <a:ext uri="{FF2B5EF4-FFF2-40B4-BE49-F238E27FC236}">
                <a16:creationId xmlns:a16="http://schemas.microsoft.com/office/drawing/2014/main" id="{88A01183-7A8F-4D30-B707-FD58FD32180D}"/>
              </a:ext>
            </a:extLst>
          </p:cNvPr>
          <p:cNvSpPr>
            <a:spLocks noChangeArrowheads="1" noChangeShapeType="1" noTextEdit="1"/>
          </p:cNvSpPr>
          <p:nvPr/>
        </p:nvSpPr>
        <p:spPr bwMode="auto">
          <a:xfrm>
            <a:off x="1415480" y="5655030"/>
            <a:ext cx="8352928" cy="732515"/>
          </a:xfrm>
          <a:prstGeom prst="rect">
            <a:avLst/>
          </a:prstGeom>
        </p:spPr>
        <p:txBody>
          <a:bodyPr wrap="none" fromWordArt="1">
            <a:prstTxWarp prst="textPlain">
              <a:avLst>
                <a:gd name="adj" fmla="val 50000"/>
              </a:avLst>
            </a:prstTxWarp>
          </a:bodyPr>
          <a:lstStyle/>
          <a:p>
            <a:pPr algn="ctr">
              <a:defRPr/>
            </a:pPr>
            <a:r>
              <a:rPr lang="zh-CN" altLang="en-US" sz="6600" b="1" kern="10" dirty="0">
                <a:ln w="9525">
                  <a:solidFill>
                    <a:schemeClr val="bg1"/>
                  </a:solidFill>
                  <a:prstDash val="solid"/>
                </a:ln>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想想主码的作用是什么？</a:t>
            </a:r>
          </a:p>
        </p:txBody>
      </p:sp>
      <p:sp>
        <p:nvSpPr>
          <p:cNvPr id="6" name="WordArt 8">
            <a:extLst>
              <a:ext uri="{FF2B5EF4-FFF2-40B4-BE49-F238E27FC236}">
                <a16:creationId xmlns:a16="http://schemas.microsoft.com/office/drawing/2014/main" id="{C9E47D19-462C-40F8-B58C-25B005B6D131}"/>
              </a:ext>
            </a:extLst>
          </p:cNvPr>
          <p:cNvSpPr>
            <a:spLocks noChangeArrowheads="1" noChangeShapeType="1" noTextEdit="1"/>
          </p:cNvSpPr>
          <p:nvPr/>
        </p:nvSpPr>
        <p:spPr bwMode="auto">
          <a:xfrm>
            <a:off x="8616280" y="440161"/>
            <a:ext cx="2472952" cy="793102"/>
          </a:xfrm>
          <a:prstGeom prst="rect">
            <a:avLst/>
          </a:prstGeom>
        </p:spPr>
        <p:txBody>
          <a:bodyPr wrap="none" fromWordArt="1">
            <a:prstTxWarp prst="textPlain">
              <a:avLst>
                <a:gd name="adj" fmla="val 50000"/>
              </a:avLst>
            </a:prstTxWarp>
          </a:bodyPr>
          <a:lstStyle/>
          <a:p>
            <a:pPr algn="ctr">
              <a:defRPr/>
            </a:pPr>
            <a:r>
              <a:rPr lang="zh-CN" altLang="en-US" sz="6600" b="1" kern="10" dirty="0">
                <a:ln w="38100">
                  <a:solidFill>
                    <a:schemeClr val="tx1"/>
                  </a:solidFill>
                  <a:prstDash val="solid"/>
                </a:ln>
                <a:solidFill>
                  <a:srgbClr val="FF0000"/>
                </a:solidFill>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必须有</a:t>
            </a:r>
          </a:p>
        </p:txBody>
      </p:sp>
    </p:spTree>
    <p:extLst>
      <p:ext uri="{BB962C8B-B14F-4D97-AF65-F5344CB8AC3E}">
        <p14:creationId xmlns:p14="http://schemas.microsoft.com/office/powerpoint/2010/main" val="313157385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5000" fill="hold" grpId="0" nodeType="afterEffect">
                                  <p:stCondLst>
                                    <p:cond delay="0"/>
                                  </p:stCondLst>
                                  <p:childTnLst>
                                    <p:animEffect transition="out" filter="fade">
                                      <p:cBhvr>
                                        <p:cTn id="9" dur="500" tmFilter="0, 0; .2, .5; .8, .5; 1, 0"/>
                                        <p:tgtEl>
                                          <p:spTgt spid="20"/>
                                        </p:tgtEl>
                                      </p:cBhvr>
                                    </p:animEffect>
                                    <p:animScale>
                                      <p:cBhvr>
                                        <p:cTn id="10" dur="250" autoRev="1" fill="hold"/>
                                        <p:tgtEl>
                                          <p:spTgt spid="20"/>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26" presetClass="emph" presetSubtype="0" repeatCount="5000" fill="hold" grpId="0" nodeType="afterEffect">
                                  <p:stCondLst>
                                    <p:cond delay="0"/>
                                  </p:stCondLst>
                                  <p:childTnLst>
                                    <p:animEffect transition="out" filter="fade">
                                      <p:cBhvr>
                                        <p:cTn id="17" dur="500" tmFilter="0, 0; .2, .5; .8, .5; 1, 0"/>
                                        <p:tgtEl>
                                          <p:spTgt spid="6"/>
                                        </p:tgtEl>
                                      </p:cBhvr>
                                    </p:animEffect>
                                    <p:animScale>
                                      <p:cBhvr>
                                        <p:cTn id="18"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6" grpId="0"/>
      <p:bldP spid="6" grpId="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275016"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关系模型的完整性约束</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4" name="Rectangle 59">
            <a:extLst>
              <a:ext uri="{FF2B5EF4-FFF2-40B4-BE49-F238E27FC236}">
                <a16:creationId xmlns:a16="http://schemas.microsoft.com/office/drawing/2014/main" id="{5F61E6E9-50D7-4A50-B25A-11390A288995}"/>
              </a:ext>
            </a:extLst>
          </p:cNvPr>
          <p:cNvSpPr txBox="1">
            <a:spLocks noChangeArrowheads="1"/>
          </p:cNvSpPr>
          <p:nvPr/>
        </p:nvSpPr>
        <p:spPr bwMode="auto">
          <a:xfrm>
            <a:off x="407368" y="965200"/>
            <a:ext cx="11089232" cy="246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spcAft>
                <a:spcPct val="50000"/>
              </a:spcAft>
              <a:defRPr/>
            </a:pPr>
            <a:r>
              <a:rPr kumimoji="1" lang="zh-CN" altLang="zh-CN" sz="3600" baseline="0" dirty="0">
                <a:solidFill>
                  <a:srgbClr val="00FFFF"/>
                </a:solidFill>
                <a:latin typeface="微软雅黑" panose="020B0503020204020204" pitchFamily="34" charset="-122"/>
                <a:ea typeface="微软雅黑" panose="020B0503020204020204" pitchFamily="34" charset="-122"/>
              </a:rPr>
              <a:t>参照完整性</a:t>
            </a:r>
            <a:r>
              <a:rPr kumimoji="1" lang="zh-CN" altLang="zh-CN" sz="3600" baseline="0" dirty="0">
                <a:latin typeface="微软雅黑" panose="020B0503020204020204" pitchFamily="34" charset="-122"/>
                <a:ea typeface="微软雅黑" panose="020B0503020204020204" pitchFamily="34" charset="-122"/>
              </a:rPr>
              <a:t>(</a:t>
            </a:r>
            <a:r>
              <a:rPr kumimoji="1" lang="zh-CN" altLang="zh-CN" sz="3600" i="1" baseline="0" dirty="0">
                <a:latin typeface="微软雅黑" panose="020B0503020204020204" pitchFamily="34" charset="-122"/>
                <a:ea typeface="微软雅黑" panose="020B0503020204020204" pitchFamily="34" charset="-122"/>
              </a:rPr>
              <a:t>Referential integrity</a:t>
            </a:r>
            <a:r>
              <a:rPr kumimoji="1" lang="zh-CN" altLang="zh-CN" sz="3600" baseline="0" dirty="0">
                <a:latin typeface="微软雅黑" panose="020B0503020204020204" pitchFamily="34" charset="-122"/>
                <a:ea typeface="微软雅黑" panose="020B0503020204020204" pitchFamily="34" charset="-122"/>
              </a:rPr>
              <a:t>)</a:t>
            </a:r>
            <a:r>
              <a:rPr kumimoji="1" lang="zh-CN" altLang="en-US" sz="3600" baseline="0" dirty="0">
                <a:latin typeface="微软雅黑" panose="020B0503020204020204" pitchFamily="34" charset="-122"/>
                <a:ea typeface="微软雅黑" panose="020B0503020204020204" pitchFamily="34" charset="-122"/>
              </a:rPr>
              <a:t>：</a:t>
            </a:r>
            <a:endParaRPr kumimoji="1" lang="en-US" altLang="zh-CN" sz="3600" baseline="0" dirty="0">
              <a:latin typeface="微软雅黑" panose="020B0503020204020204" pitchFamily="34" charset="-122"/>
              <a:ea typeface="微软雅黑" panose="020B0503020204020204" pitchFamily="34" charset="-122"/>
            </a:endParaRPr>
          </a:p>
          <a:p>
            <a:pPr marL="360363" indent="0" algn="just" eaLnBrk="1" hangingPunct="1">
              <a:spcAft>
                <a:spcPct val="50000"/>
              </a:spcAft>
              <a:buNone/>
              <a:tabLst>
                <a:tab pos="360363" algn="l"/>
              </a:tabLst>
              <a:defRPr/>
            </a:pPr>
            <a:r>
              <a:rPr kumimoji="1" lang="zh-CN" altLang="zh-CN" sz="3600" baseline="0" dirty="0">
                <a:latin typeface="微软雅黑" panose="020B0503020204020204" pitchFamily="34" charset="-122"/>
                <a:ea typeface="微软雅黑" panose="020B0503020204020204" pitchFamily="34" charset="-122"/>
              </a:rPr>
              <a:t>若</a:t>
            </a:r>
            <a:r>
              <a:rPr kumimoji="1" lang="zh-CN" altLang="en-US" sz="3600" baseline="0" dirty="0">
                <a:latin typeface="微软雅黑" panose="020B0503020204020204" pitchFamily="34" charset="-122"/>
                <a:ea typeface="微软雅黑" panose="020B0503020204020204" pitchFamily="34" charset="-122"/>
              </a:rPr>
              <a:t>属性集</a:t>
            </a:r>
            <a:r>
              <a:rPr kumimoji="1" lang="zh-CN" altLang="zh-CN" sz="3600" baseline="0" dirty="0">
                <a:latin typeface="微软雅黑" panose="020B0503020204020204" pitchFamily="34" charset="-122"/>
                <a:ea typeface="微软雅黑" panose="020B0503020204020204" pitchFamily="34" charset="-122"/>
              </a:rPr>
              <a:t>F是关系R的外</a:t>
            </a:r>
            <a:r>
              <a:rPr kumimoji="1" lang="zh-CN" altLang="en-US" sz="3600" baseline="0" dirty="0">
                <a:latin typeface="微软雅黑" panose="020B0503020204020204" pitchFamily="34" charset="-122"/>
                <a:ea typeface="微软雅黑" panose="020B0503020204020204" pitchFamily="34" charset="-122"/>
              </a:rPr>
              <a:t>码，</a:t>
            </a:r>
            <a:r>
              <a:rPr kumimoji="1" lang="zh-CN" altLang="zh-CN" sz="3600" baseline="0" dirty="0">
                <a:latin typeface="微软雅黑" panose="020B0503020204020204" pitchFamily="34" charset="-122"/>
                <a:ea typeface="微软雅黑" panose="020B0503020204020204" pitchFamily="34" charset="-122"/>
              </a:rPr>
              <a:t>则F的取值要么为空，要么取被参照关系S的</a:t>
            </a:r>
            <a:r>
              <a:rPr kumimoji="1" lang="zh-CN" altLang="en-US" sz="3600" baseline="0" dirty="0">
                <a:latin typeface="微软雅黑" panose="020B0503020204020204" pitchFamily="34" charset="-122"/>
                <a:ea typeface="微软雅黑" panose="020B0503020204020204" pitchFamily="34" charset="-122"/>
              </a:rPr>
              <a:t>某一</a:t>
            </a:r>
            <a:r>
              <a:rPr kumimoji="1" lang="zh-CN" altLang="zh-CN" sz="3600" baseline="0" dirty="0">
                <a:latin typeface="微软雅黑" panose="020B0503020204020204" pitchFamily="34" charset="-122"/>
                <a:ea typeface="微软雅黑" panose="020B0503020204020204" pitchFamily="34" charset="-122"/>
              </a:rPr>
              <a:t>主</a:t>
            </a:r>
            <a:r>
              <a:rPr kumimoji="1" lang="zh-CN" altLang="en-US" sz="3600" baseline="0" dirty="0">
                <a:latin typeface="微软雅黑" panose="020B0503020204020204" pitchFamily="34" charset="-122"/>
                <a:ea typeface="微软雅黑" panose="020B0503020204020204" pitchFamily="34" charset="-122"/>
              </a:rPr>
              <a:t>码值</a:t>
            </a:r>
            <a:r>
              <a:rPr kumimoji="1" lang="zh-CN" altLang="zh-CN" sz="3600" baseline="0" dirty="0">
                <a:latin typeface="微软雅黑" panose="020B0503020204020204" pitchFamily="34" charset="-122"/>
                <a:ea typeface="微软雅黑" panose="020B0503020204020204" pitchFamily="34" charset="-122"/>
              </a:rPr>
              <a:t>。</a:t>
            </a:r>
          </a:p>
        </p:txBody>
      </p:sp>
      <p:graphicFrame>
        <p:nvGraphicFramePr>
          <p:cNvPr id="20" name="Group 4">
            <a:extLst>
              <a:ext uri="{FF2B5EF4-FFF2-40B4-BE49-F238E27FC236}">
                <a16:creationId xmlns:a16="http://schemas.microsoft.com/office/drawing/2014/main" id="{59A36FA6-7E9B-4A63-A5A2-DB72EB433B58}"/>
              </a:ext>
            </a:extLst>
          </p:cNvPr>
          <p:cNvGraphicFramePr>
            <a:graphicFrameLocks noGrp="1"/>
          </p:cNvGraphicFramePr>
          <p:nvPr>
            <p:extLst>
              <p:ext uri="{D42A27DB-BD31-4B8C-83A1-F6EECF244321}">
                <p14:modId xmlns:p14="http://schemas.microsoft.com/office/powerpoint/2010/main" val="1967182103"/>
              </p:ext>
            </p:extLst>
          </p:nvPr>
        </p:nvGraphicFramePr>
        <p:xfrm>
          <a:off x="1210776" y="4017776"/>
          <a:ext cx="3557100" cy="1974124"/>
        </p:xfrm>
        <a:graphic>
          <a:graphicData uri="http://schemas.openxmlformats.org/drawingml/2006/table">
            <a:tbl>
              <a:tblPr/>
              <a:tblGrid>
                <a:gridCol w="1067130">
                  <a:extLst>
                    <a:ext uri="{9D8B030D-6E8A-4147-A177-3AD203B41FA5}">
                      <a16:colId xmlns:a16="http://schemas.microsoft.com/office/drawing/2014/main" val="20000"/>
                    </a:ext>
                  </a:extLst>
                </a:gridCol>
                <a:gridCol w="1156058">
                  <a:extLst>
                    <a:ext uri="{9D8B030D-6E8A-4147-A177-3AD203B41FA5}">
                      <a16:colId xmlns:a16="http://schemas.microsoft.com/office/drawing/2014/main" val="20001"/>
                    </a:ext>
                  </a:extLst>
                </a:gridCol>
                <a:gridCol w="1333912">
                  <a:extLst>
                    <a:ext uri="{9D8B030D-6E8A-4147-A177-3AD203B41FA5}">
                      <a16:colId xmlns:a16="http://schemas.microsoft.com/office/drawing/2014/main" val="20002"/>
                    </a:ext>
                  </a:extLst>
                </a:gridCol>
              </a:tblGrid>
              <a:tr h="49295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49526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295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295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2" name="Group 26">
            <a:extLst>
              <a:ext uri="{FF2B5EF4-FFF2-40B4-BE49-F238E27FC236}">
                <a16:creationId xmlns:a16="http://schemas.microsoft.com/office/drawing/2014/main" id="{626E13F3-CFF1-4C2A-9C4C-D77E82582255}"/>
              </a:ext>
            </a:extLst>
          </p:cNvPr>
          <p:cNvGraphicFramePr>
            <a:graphicFrameLocks noGrp="1"/>
          </p:cNvGraphicFramePr>
          <p:nvPr>
            <p:extLst>
              <p:ext uri="{D42A27DB-BD31-4B8C-83A1-F6EECF244321}">
                <p14:modId xmlns:p14="http://schemas.microsoft.com/office/powerpoint/2010/main" val="2024349277"/>
              </p:ext>
            </p:extLst>
          </p:nvPr>
        </p:nvGraphicFramePr>
        <p:xfrm>
          <a:off x="7288889" y="4017777"/>
          <a:ext cx="3692336" cy="1972535"/>
        </p:xfrm>
        <a:graphic>
          <a:graphicData uri="http://schemas.openxmlformats.org/drawingml/2006/table">
            <a:tbl>
              <a:tblPr/>
              <a:tblGrid>
                <a:gridCol w="1107700">
                  <a:extLst>
                    <a:ext uri="{9D8B030D-6E8A-4147-A177-3AD203B41FA5}">
                      <a16:colId xmlns:a16="http://schemas.microsoft.com/office/drawing/2014/main" val="20000"/>
                    </a:ext>
                  </a:extLst>
                </a:gridCol>
                <a:gridCol w="1661551">
                  <a:extLst>
                    <a:ext uri="{9D8B030D-6E8A-4147-A177-3AD203B41FA5}">
                      <a16:colId xmlns:a16="http://schemas.microsoft.com/office/drawing/2014/main" val="20001"/>
                    </a:ext>
                  </a:extLst>
                </a:gridCol>
                <a:gridCol w="923085">
                  <a:extLst>
                    <a:ext uri="{9D8B030D-6E8A-4147-A177-3AD203B41FA5}">
                      <a16:colId xmlns:a16="http://schemas.microsoft.com/office/drawing/2014/main" val="20002"/>
                    </a:ext>
                  </a:extLst>
                </a:gridCol>
              </a:tblGrid>
              <a:tr h="48628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课程名</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F2"/>
                    </a:solidFill>
                  </a:tcPr>
                </a:tc>
                <a:extLst>
                  <a:ext uri="{0D108BD9-81ED-4DB2-BD59-A6C34878D82A}">
                    <a16:rowId xmlns:a16="http://schemas.microsoft.com/office/drawing/2014/main" val="10000"/>
                  </a:ext>
                </a:extLst>
              </a:tr>
              <a:tr h="48856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628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139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 name="Text Box 48">
            <a:extLst>
              <a:ext uri="{FF2B5EF4-FFF2-40B4-BE49-F238E27FC236}">
                <a16:creationId xmlns:a16="http://schemas.microsoft.com/office/drawing/2014/main" id="{AD1A1846-C3A4-4C3C-A277-10CE9AE0E7DB}"/>
              </a:ext>
            </a:extLst>
          </p:cNvPr>
          <p:cNvSpPr txBox="1">
            <a:spLocks noChangeArrowheads="1"/>
          </p:cNvSpPr>
          <p:nvPr/>
        </p:nvSpPr>
        <p:spPr bwMode="auto">
          <a:xfrm>
            <a:off x="4691676" y="4204375"/>
            <a:ext cx="76200" cy="274638"/>
          </a:xfrm>
          <a:prstGeom prst="rect">
            <a:avLst/>
          </a:prstGeom>
          <a:noFill/>
          <a:ln w="12700" cap="sq">
            <a:noFill/>
            <a:miter lim="800000"/>
            <a:headEnd/>
            <a:tailEnd/>
          </a:ln>
          <a:effectLst/>
        </p:spPr>
        <p:txBody>
          <a:bodyPr lIns="0" tIns="0" rIns="0" bIns="0">
            <a:spAutoFit/>
          </a:bodyPr>
          <a:lstStyle/>
          <a:p>
            <a:pPr algn="ctr">
              <a:spcBef>
                <a:spcPct val="50000"/>
              </a:spcBef>
              <a:spcAft>
                <a:spcPct val="0"/>
              </a:spcAft>
              <a:buSzTx/>
              <a:buFontTx/>
              <a:buNone/>
              <a:defRPr/>
            </a:pPr>
            <a:endParaRPr lang="zh-CN" altLang="en-US" sz="1800" baseline="0">
              <a:effectLst>
                <a:outerShdw blurRad="38100" dist="38100" dir="2700000" algn="tl">
                  <a:srgbClr val="000000"/>
                </a:outerShdw>
              </a:effectLst>
              <a:latin typeface="Times New Roman" pitchFamily="18" charset="0"/>
            </a:endParaRPr>
          </a:p>
        </p:txBody>
      </p:sp>
      <p:sp>
        <p:nvSpPr>
          <p:cNvPr id="26" name="Text Box 49">
            <a:extLst>
              <a:ext uri="{FF2B5EF4-FFF2-40B4-BE49-F238E27FC236}">
                <a16:creationId xmlns:a16="http://schemas.microsoft.com/office/drawing/2014/main" id="{042FA048-0D49-4ADD-9ED7-5D60E4C46B96}"/>
              </a:ext>
            </a:extLst>
          </p:cNvPr>
          <p:cNvSpPr txBox="1">
            <a:spLocks noChangeArrowheads="1"/>
          </p:cNvSpPr>
          <p:nvPr/>
        </p:nvSpPr>
        <p:spPr bwMode="auto">
          <a:xfrm>
            <a:off x="7669889" y="4204375"/>
            <a:ext cx="76200" cy="274638"/>
          </a:xfrm>
          <a:prstGeom prst="rect">
            <a:avLst/>
          </a:prstGeom>
          <a:noFill/>
          <a:ln w="12700" cap="sq">
            <a:noFill/>
            <a:miter lim="800000"/>
            <a:headEnd/>
            <a:tailEnd/>
          </a:ln>
          <a:effectLst/>
        </p:spPr>
        <p:txBody>
          <a:bodyPr lIns="0" tIns="0" rIns="0" bIns="0">
            <a:spAutoFit/>
          </a:bodyPr>
          <a:lstStyle/>
          <a:p>
            <a:pPr algn="ctr">
              <a:spcBef>
                <a:spcPct val="50000"/>
              </a:spcBef>
              <a:spcAft>
                <a:spcPct val="0"/>
              </a:spcAft>
              <a:buSzTx/>
              <a:buFontTx/>
              <a:buNone/>
              <a:defRPr/>
            </a:pPr>
            <a:endParaRPr lang="zh-CN" altLang="en-US" sz="1800" baseline="0">
              <a:effectLst>
                <a:outerShdw blurRad="38100" dist="38100" dir="2700000" algn="tl">
                  <a:srgbClr val="000000"/>
                </a:outerShdw>
              </a:effectLst>
              <a:latin typeface="Times New Roman" pitchFamily="18" charset="0"/>
            </a:endParaRPr>
          </a:p>
        </p:txBody>
      </p:sp>
      <p:sp>
        <p:nvSpPr>
          <p:cNvPr id="28" name="Rectangle 51">
            <a:extLst>
              <a:ext uri="{FF2B5EF4-FFF2-40B4-BE49-F238E27FC236}">
                <a16:creationId xmlns:a16="http://schemas.microsoft.com/office/drawing/2014/main" id="{4C498114-EEB3-4A6B-98C3-D2ABE9E77D18}"/>
              </a:ext>
            </a:extLst>
          </p:cNvPr>
          <p:cNvSpPr>
            <a:spLocks noChangeArrowheads="1"/>
          </p:cNvSpPr>
          <p:nvPr/>
        </p:nvSpPr>
        <p:spPr bwMode="auto">
          <a:xfrm>
            <a:off x="7534065" y="6245012"/>
            <a:ext cx="721351"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主码</a:t>
            </a:r>
          </a:p>
        </p:txBody>
      </p:sp>
      <p:sp>
        <p:nvSpPr>
          <p:cNvPr id="30" name="Line 52">
            <a:extLst>
              <a:ext uri="{FF2B5EF4-FFF2-40B4-BE49-F238E27FC236}">
                <a16:creationId xmlns:a16="http://schemas.microsoft.com/office/drawing/2014/main" id="{11D50BD5-04EE-4DFB-9A5C-77FF2F4C0FF4}"/>
              </a:ext>
            </a:extLst>
          </p:cNvPr>
          <p:cNvSpPr>
            <a:spLocks noChangeShapeType="1"/>
          </p:cNvSpPr>
          <p:nvPr/>
        </p:nvSpPr>
        <p:spPr bwMode="auto">
          <a:xfrm flipV="1">
            <a:off x="7894741" y="6003950"/>
            <a:ext cx="0" cy="233362"/>
          </a:xfrm>
          <a:prstGeom prst="line">
            <a:avLst/>
          </a:prstGeom>
          <a:noFill/>
          <a:ln w="28575" cap="sq">
            <a:solidFill>
              <a:srgbClr val="FFFFCC"/>
            </a:solidFill>
            <a:round/>
            <a:headEnd/>
            <a:tailEnd type="triangle" w="med" len="med"/>
          </a:ln>
          <a:effectLst>
            <a:outerShdw dist="12700" dir="5400000" algn="ctr" rotWithShape="0">
              <a:srgbClr val="000514"/>
            </a:outerShdw>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2" name="Rectangle 53">
            <a:extLst>
              <a:ext uri="{FF2B5EF4-FFF2-40B4-BE49-F238E27FC236}">
                <a16:creationId xmlns:a16="http://schemas.microsoft.com/office/drawing/2014/main" id="{BB1F2AE7-E0C3-4955-B841-927F348D1C7C}"/>
              </a:ext>
            </a:extLst>
          </p:cNvPr>
          <p:cNvSpPr>
            <a:spLocks noChangeArrowheads="1"/>
          </p:cNvSpPr>
          <p:nvPr/>
        </p:nvSpPr>
        <p:spPr bwMode="auto">
          <a:xfrm>
            <a:off x="3575909" y="6237312"/>
            <a:ext cx="721351"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外码</a:t>
            </a:r>
          </a:p>
        </p:txBody>
      </p:sp>
      <p:sp>
        <p:nvSpPr>
          <p:cNvPr id="34" name="Line 54">
            <a:extLst>
              <a:ext uri="{FF2B5EF4-FFF2-40B4-BE49-F238E27FC236}">
                <a16:creationId xmlns:a16="http://schemas.microsoft.com/office/drawing/2014/main" id="{60D585D1-B3E2-46EE-9FFE-DF8378ADD093}"/>
              </a:ext>
            </a:extLst>
          </p:cNvPr>
          <p:cNvSpPr>
            <a:spLocks noChangeShapeType="1"/>
          </p:cNvSpPr>
          <p:nvPr/>
        </p:nvSpPr>
        <p:spPr bwMode="auto">
          <a:xfrm flipV="1">
            <a:off x="4035422" y="6011650"/>
            <a:ext cx="0" cy="233362"/>
          </a:xfrm>
          <a:prstGeom prst="line">
            <a:avLst/>
          </a:prstGeom>
          <a:noFill/>
          <a:ln w="28575" cap="sq">
            <a:solidFill>
              <a:srgbClr val="FFFFCC"/>
            </a:solidFill>
            <a:round/>
            <a:headEnd/>
            <a:tailEnd type="triangle" w="med" len="med"/>
          </a:ln>
          <a:effectLst>
            <a:outerShdw dist="12700" dir="5400000" algn="ctr" rotWithShape="0">
              <a:srgbClr val="000514"/>
            </a:outerShdw>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6" name="Rectangle 55">
            <a:extLst>
              <a:ext uri="{FF2B5EF4-FFF2-40B4-BE49-F238E27FC236}">
                <a16:creationId xmlns:a16="http://schemas.microsoft.com/office/drawing/2014/main" id="{5A66EC23-4799-49AF-B3EF-EDE273943009}"/>
              </a:ext>
            </a:extLst>
          </p:cNvPr>
          <p:cNvSpPr>
            <a:spLocks noChangeArrowheads="1"/>
          </p:cNvSpPr>
          <p:nvPr/>
        </p:nvSpPr>
        <p:spPr bwMode="auto">
          <a:xfrm>
            <a:off x="1876889" y="3429567"/>
            <a:ext cx="1442703"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参照关系</a:t>
            </a:r>
          </a:p>
        </p:txBody>
      </p:sp>
      <p:sp>
        <p:nvSpPr>
          <p:cNvPr id="38" name="Rectangle 56">
            <a:extLst>
              <a:ext uri="{FF2B5EF4-FFF2-40B4-BE49-F238E27FC236}">
                <a16:creationId xmlns:a16="http://schemas.microsoft.com/office/drawing/2014/main" id="{8CCD6BDC-4C94-4B4E-9814-FB85961D7545}"/>
              </a:ext>
            </a:extLst>
          </p:cNvPr>
          <p:cNvSpPr>
            <a:spLocks noChangeArrowheads="1"/>
          </p:cNvSpPr>
          <p:nvPr/>
        </p:nvSpPr>
        <p:spPr bwMode="auto">
          <a:xfrm>
            <a:off x="8141060" y="3429567"/>
            <a:ext cx="1803379" cy="43088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b="1" baseline="0" dirty="0">
                <a:solidFill>
                  <a:srgbClr val="99FF33"/>
                </a:solidFill>
                <a:effectLst>
                  <a:outerShdw blurRad="38100" dist="38100" dir="2700000" algn="tl">
                    <a:srgbClr val="000000"/>
                  </a:outerShdw>
                </a:effectLst>
                <a:latin typeface="Times New Roman" pitchFamily="18" charset="0"/>
              </a:rPr>
              <a:t>被参照关系</a:t>
            </a:r>
          </a:p>
        </p:txBody>
      </p:sp>
      <p:sp>
        <p:nvSpPr>
          <p:cNvPr id="40" name="Rectangle 57">
            <a:extLst>
              <a:ext uri="{FF2B5EF4-FFF2-40B4-BE49-F238E27FC236}">
                <a16:creationId xmlns:a16="http://schemas.microsoft.com/office/drawing/2014/main" id="{935A7CAA-9538-4940-B723-2C006005C40B}"/>
              </a:ext>
            </a:extLst>
          </p:cNvPr>
          <p:cNvSpPr>
            <a:spLocks noChangeArrowheads="1"/>
          </p:cNvSpPr>
          <p:nvPr/>
        </p:nvSpPr>
        <p:spPr bwMode="auto">
          <a:xfrm>
            <a:off x="650387" y="3930691"/>
            <a:ext cx="425450" cy="1723549"/>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800" b="1" baseline="0" dirty="0">
                <a:effectLst>
                  <a:outerShdw blurRad="38100" dist="38100" dir="2700000" algn="tl">
                    <a:srgbClr val="000000"/>
                  </a:outerShdw>
                </a:effectLst>
                <a:latin typeface="Times New Roman" pitchFamily="18" charset="0"/>
              </a:rPr>
              <a:t>学生选课</a:t>
            </a:r>
          </a:p>
        </p:txBody>
      </p:sp>
      <p:sp>
        <p:nvSpPr>
          <p:cNvPr id="42" name="Rectangle 58">
            <a:extLst>
              <a:ext uri="{FF2B5EF4-FFF2-40B4-BE49-F238E27FC236}">
                <a16:creationId xmlns:a16="http://schemas.microsoft.com/office/drawing/2014/main" id="{D0630F97-C466-4299-9751-F3FF3731DCDC}"/>
              </a:ext>
            </a:extLst>
          </p:cNvPr>
          <p:cNvSpPr>
            <a:spLocks noChangeArrowheads="1"/>
          </p:cNvSpPr>
          <p:nvPr/>
        </p:nvSpPr>
        <p:spPr bwMode="auto">
          <a:xfrm>
            <a:off x="6764707" y="4017776"/>
            <a:ext cx="425450" cy="861774"/>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800" b="1" baseline="0" dirty="0">
                <a:effectLst>
                  <a:outerShdw blurRad="38100" dist="38100" dir="2700000" algn="tl">
                    <a:srgbClr val="000000"/>
                  </a:outerShdw>
                </a:effectLst>
                <a:latin typeface="Times New Roman" pitchFamily="18" charset="0"/>
              </a:rPr>
              <a:t>课程</a:t>
            </a:r>
          </a:p>
        </p:txBody>
      </p:sp>
      <p:sp>
        <p:nvSpPr>
          <p:cNvPr id="44" name="弧形 43">
            <a:extLst>
              <a:ext uri="{FF2B5EF4-FFF2-40B4-BE49-F238E27FC236}">
                <a16:creationId xmlns:a16="http://schemas.microsoft.com/office/drawing/2014/main" id="{3B9F4336-6C96-42D1-AF4B-FC44F7CAFF7E}"/>
              </a:ext>
            </a:extLst>
          </p:cNvPr>
          <p:cNvSpPr/>
          <p:nvPr/>
        </p:nvSpPr>
        <p:spPr bwMode="auto">
          <a:xfrm>
            <a:off x="4034682" y="3408904"/>
            <a:ext cx="3657048" cy="1008752"/>
          </a:xfrm>
          <a:prstGeom prst="arc">
            <a:avLst>
              <a:gd name="adj1" fmla="val 10686517"/>
              <a:gd name="adj2" fmla="val 74798"/>
            </a:avLst>
          </a:prstGeom>
          <a:ln w="38100">
            <a:solidFill>
              <a:schemeClr val="accent3">
                <a:lumMod val="60000"/>
                <a:lumOff val="40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7" name="WordArt 8">
            <a:extLst>
              <a:ext uri="{FF2B5EF4-FFF2-40B4-BE49-F238E27FC236}">
                <a16:creationId xmlns:a16="http://schemas.microsoft.com/office/drawing/2014/main" id="{35C1B0A9-9FDF-4217-8739-D8AE362AFB98}"/>
              </a:ext>
            </a:extLst>
          </p:cNvPr>
          <p:cNvSpPr>
            <a:spLocks noChangeArrowheads="1" noChangeShapeType="1" noTextEdit="1"/>
          </p:cNvSpPr>
          <p:nvPr/>
        </p:nvSpPr>
        <p:spPr bwMode="auto">
          <a:xfrm>
            <a:off x="8597196" y="463509"/>
            <a:ext cx="3168352" cy="946836"/>
          </a:xfrm>
          <a:prstGeom prst="rect">
            <a:avLst/>
          </a:prstGeom>
        </p:spPr>
        <p:txBody>
          <a:bodyPr wrap="none" fromWordArt="1">
            <a:prstTxWarp prst="textPlain">
              <a:avLst>
                <a:gd name="adj" fmla="val 50000"/>
              </a:avLst>
            </a:prstTxWarp>
          </a:bodyPr>
          <a:lstStyle/>
          <a:p>
            <a:pPr algn="ctr">
              <a:defRPr/>
            </a:pPr>
            <a:r>
              <a:rPr lang="zh-CN" altLang="en-US" sz="6600" b="1" kern="10" dirty="0">
                <a:ln w="38100">
                  <a:solidFill>
                    <a:schemeClr val="tx1"/>
                  </a:solidFill>
                  <a:prstDash val="solid"/>
                </a:ln>
                <a:solidFill>
                  <a:srgbClr val="FF0000"/>
                </a:solidFill>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应该有</a:t>
            </a:r>
          </a:p>
        </p:txBody>
      </p:sp>
    </p:spTree>
    <p:extLst>
      <p:ext uri="{BB962C8B-B14F-4D97-AF65-F5344CB8AC3E}">
        <p14:creationId xmlns:p14="http://schemas.microsoft.com/office/powerpoint/2010/main" val="189723939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5000" fill="hold" grpId="0" nodeType="afterEffect">
                                  <p:stCondLst>
                                    <p:cond delay="0"/>
                                  </p:stCondLst>
                                  <p:childTnLst>
                                    <p:animEffect transition="out" filter="fade">
                                      <p:cBhvr>
                                        <p:cTn id="9" dur="500" tmFilter="0, 0; .2, .5; .8, .5; 1, 0"/>
                                        <p:tgtEl>
                                          <p:spTgt spid="17"/>
                                        </p:tgtEl>
                                      </p:cBhvr>
                                    </p:animEffect>
                                    <p:animScale>
                                      <p:cBhvr>
                                        <p:cTn id="10" dur="250" autoRev="1" fill="hold"/>
                                        <p:tgtEl>
                                          <p:spTgt spid="1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sym typeface="+mn-ea"/>
              </a:rPr>
              <a:t>关系</a:t>
            </a:r>
            <a:r>
              <a:rPr lang="zh-CN" altLang="en-US" b="1" dirty="0">
                <a:sym typeface="+mn-ea"/>
              </a:rPr>
              <a:t>的键与关系的完整性</a:t>
            </a:r>
            <a:endParaRPr lang="zh-CN" altLang="en-US" dirty="0"/>
          </a:p>
        </p:txBody>
      </p:sp>
      <p:sp>
        <p:nvSpPr>
          <p:cNvPr id="3" name="内容占位符 2"/>
          <p:cNvSpPr>
            <a:spLocks noGrp="1"/>
          </p:cNvSpPr>
          <p:nvPr>
            <p:ph idx="1"/>
          </p:nvPr>
        </p:nvSpPr>
        <p:spPr/>
        <p:txBody>
          <a:bodyPr/>
          <a:lstStyle/>
          <a:p>
            <a:pPr marL="0" indent="0">
              <a:buNone/>
            </a:pPr>
            <a:r>
              <a:rPr lang="zh-CN" altLang="en-US" b="1" dirty="0"/>
              <a:t>具体使用时需要注意以下三点：</a:t>
            </a:r>
          </a:p>
          <a:p>
            <a:pPr marL="0" indent="0">
              <a:buNone/>
            </a:pPr>
            <a:r>
              <a:rPr lang="zh-CN" altLang="en-US" b="1" dirty="0"/>
              <a:t>（1）关系R的外键F与关系S的主键Ks可以</a:t>
            </a:r>
            <a:r>
              <a:rPr lang="zh-CN" altLang="en-US" b="1" dirty="0">
                <a:solidFill>
                  <a:srgbClr val="FF0000"/>
                </a:solidFill>
              </a:rPr>
              <a:t>不同名</a:t>
            </a:r>
            <a:r>
              <a:rPr lang="zh-CN" altLang="en-US" b="1" dirty="0"/>
              <a:t>，但是它们必须要出自相同的</a:t>
            </a:r>
            <a:r>
              <a:rPr lang="zh-CN" altLang="en-US" b="1" dirty="0">
                <a:solidFill>
                  <a:srgbClr val="FF0000"/>
                </a:solidFill>
              </a:rPr>
              <a:t>域</a:t>
            </a:r>
            <a:r>
              <a:rPr lang="zh-CN" altLang="en-US" b="1" dirty="0"/>
              <a:t>。</a:t>
            </a:r>
          </a:p>
          <a:p>
            <a:pPr marL="0" indent="0">
              <a:buNone/>
            </a:pPr>
            <a:r>
              <a:rPr lang="zh-CN" altLang="en-US" b="1" dirty="0"/>
              <a:t>（2）关系R和S可以是同一个关系，此时表示一个关系中不同属性之间的制约和参照的联系。</a:t>
            </a:r>
          </a:p>
          <a:p>
            <a:pPr marL="0" indent="0">
              <a:buNone/>
            </a:pPr>
            <a:r>
              <a:rPr lang="zh-CN" altLang="en-US" b="1" dirty="0"/>
              <a:t>（</a:t>
            </a:r>
            <a:r>
              <a:rPr lang="en-US" altLang="zh-CN" b="1" dirty="0"/>
              <a:t>3</a:t>
            </a:r>
            <a:r>
              <a:rPr lang="zh-CN" altLang="en-US" b="1" dirty="0"/>
              <a:t>）外键值是否为空应看具体情况而定。</a:t>
            </a:r>
          </a:p>
        </p:txBody>
      </p:sp>
    </p:spTree>
    <p:custDataLst>
      <p:tags r:id="rId1"/>
    </p:custDataLst>
    <p:extLst>
      <p:ext uri="{BB962C8B-B14F-4D97-AF65-F5344CB8AC3E}">
        <p14:creationId xmlns:p14="http://schemas.microsoft.com/office/powerpoint/2010/main" val="4155638489"/>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275016"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关系模型的完整性约束</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2" name="Rectangle 59">
            <a:extLst>
              <a:ext uri="{FF2B5EF4-FFF2-40B4-BE49-F238E27FC236}">
                <a16:creationId xmlns:a16="http://schemas.microsoft.com/office/drawing/2014/main" id="{28E21354-F53C-4369-95BD-ADD93C6A3E1E}"/>
              </a:ext>
            </a:extLst>
          </p:cNvPr>
          <p:cNvSpPr txBox="1">
            <a:spLocks noChangeArrowheads="1"/>
          </p:cNvSpPr>
          <p:nvPr/>
        </p:nvSpPr>
        <p:spPr bwMode="auto">
          <a:xfrm>
            <a:off x="371364" y="965200"/>
            <a:ext cx="11449272" cy="2463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50000"/>
              </a:spcAft>
              <a:defRPr/>
            </a:pPr>
            <a:r>
              <a:rPr kumimoji="1" lang="zh-CN" altLang="zh-CN" baseline="0" dirty="0">
                <a:solidFill>
                  <a:srgbClr val="00FFFF"/>
                </a:solidFill>
                <a:latin typeface="微软雅黑" panose="020B0503020204020204" pitchFamily="34" charset="-122"/>
                <a:ea typeface="微软雅黑" panose="020B0503020204020204" pitchFamily="34" charset="-122"/>
              </a:rPr>
              <a:t>用户自定义的完整性</a:t>
            </a:r>
            <a:r>
              <a:rPr kumimoji="1" lang="zh-CN" altLang="zh-CN" baseline="0" dirty="0">
                <a:latin typeface="微软雅黑" panose="020B0503020204020204" pitchFamily="34" charset="-122"/>
                <a:ea typeface="微软雅黑" panose="020B0503020204020204" pitchFamily="34" charset="-122"/>
              </a:rPr>
              <a:t>(</a:t>
            </a:r>
            <a:r>
              <a:rPr kumimoji="1" lang="zh-CN" altLang="zh-CN" i="1" baseline="0" dirty="0">
                <a:latin typeface="微软雅黑" panose="020B0503020204020204" pitchFamily="34" charset="-122"/>
                <a:ea typeface="微软雅黑" panose="020B0503020204020204" pitchFamily="34" charset="-122"/>
              </a:rPr>
              <a:t>User-Defined integrity</a:t>
            </a:r>
            <a:r>
              <a:rPr kumimoji="1" lang="zh-CN" altLang="zh-CN" baseline="0" dirty="0">
                <a:latin typeface="微软雅黑" panose="020B0503020204020204" pitchFamily="34" charset="-122"/>
                <a:ea typeface="微软雅黑" panose="020B0503020204020204" pitchFamily="34" charset="-122"/>
              </a:rPr>
              <a:t>)</a:t>
            </a:r>
            <a:r>
              <a:rPr kumimoji="1" lang="zh-CN" altLang="en-US" baseline="0" dirty="0">
                <a:latin typeface="微软雅黑" panose="020B0503020204020204" pitchFamily="34" charset="-122"/>
                <a:ea typeface="微软雅黑" panose="020B0503020204020204" pitchFamily="34" charset="-122"/>
              </a:rPr>
              <a:t>： 用户定义的完整性是针对某一具体的实际数据库的约束条件，它由应用环境所决定，它反映某一具体应用所涉及的数据必须满足的语义要求，比如，属性的数据的输入格式、取值范围等。</a:t>
            </a:r>
            <a:endParaRPr kumimoji="1" lang="en-US" altLang="zh-CN" baseline="0" dirty="0">
              <a:latin typeface="微软雅黑" panose="020B0503020204020204" pitchFamily="34" charset="-122"/>
              <a:ea typeface="微软雅黑" panose="020B0503020204020204" pitchFamily="34" charset="-122"/>
            </a:endParaRPr>
          </a:p>
        </p:txBody>
      </p:sp>
      <p:sp>
        <p:nvSpPr>
          <p:cNvPr id="8" name="Rectangle 100">
            <a:extLst>
              <a:ext uri="{FF2B5EF4-FFF2-40B4-BE49-F238E27FC236}">
                <a16:creationId xmlns:a16="http://schemas.microsoft.com/office/drawing/2014/main" id="{DD02DF68-6230-4A71-BDDB-7DAC444271C9}"/>
              </a:ext>
            </a:extLst>
          </p:cNvPr>
          <p:cNvSpPr>
            <a:spLocks noChangeArrowheads="1"/>
          </p:cNvSpPr>
          <p:nvPr/>
        </p:nvSpPr>
        <p:spPr bwMode="auto">
          <a:xfrm>
            <a:off x="7032104" y="4408761"/>
            <a:ext cx="4536504" cy="288032"/>
          </a:xfrm>
          <a:prstGeom prst="rect">
            <a:avLst/>
          </a:prstGeom>
          <a:noFill/>
          <a:ln w="12700" cap="sq">
            <a:noFill/>
            <a:miter lim="800000"/>
            <a:headEnd/>
            <a:tailEnd/>
          </a:ln>
          <a:effectLst/>
        </p:spPr>
        <p:txBody>
          <a:bodyPr lIns="0" tIns="0" rIns="0" bIns="0"/>
          <a:lstStyle/>
          <a:p>
            <a:pPr>
              <a:spcBef>
                <a:spcPct val="50000"/>
              </a:spcBef>
              <a:spcAft>
                <a:spcPct val="0"/>
              </a:spcAft>
              <a:buSzTx/>
              <a:buFontTx/>
              <a:buNone/>
              <a:defRPr/>
            </a:pPr>
            <a:r>
              <a:rPr lang="zh-CN" altLang="en-US" sz="3600" baseline="0" dirty="0">
                <a:solidFill>
                  <a:srgbClr val="99FF99"/>
                </a:solidFill>
              </a:rPr>
              <a:t>性别只能是</a:t>
            </a:r>
            <a:r>
              <a:rPr lang="en-US" altLang="zh-CN" sz="3600" baseline="0" dirty="0">
                <a:solidFill>
                  <a:srgbClr val="99FF99"/>
                </a:solidFill>
              </a:rPr>
              <a:t>"</a:t>
            </a:r>
            <a:r>
              <a:rPr lang="zh-CN" altLang="en-US" sz="3600" baseline="0" dirty="0">
                <a:solidFill>
                  <a:srgbClr val="99FF99"/>
                </a:solidFill>
              </a:rPr>
              <a:t>男</a:t>
            </a:r>
            <a:r>
              <a:rPr lang="en-US" altLang="zh-CN" sz="3600" baseline="0" dirty="0">
                <a:solidFill>
                  <a:srgbClr val="99FF99"/>
                </a:solidFill>
              </a:rPr>
              <a:t>"</a:t>
            </a:r>
            <a:r>
              <a:rPr lang="zh-CN" altLang="en-US" sz="3600" baseline="0" dirty="0">
                <a:solidFill>
                  <a:srgbClr val="99FF99"/>
                </a:solidFill>
              </a:rPr>
              <a:t>或</a:t>
            </a:r>
            <a:r>
              <a:rPr lang="en-US" altLang="zh-CN" sz="3600" baseline="0" dirty="0">
                <a:solidFill>
                  <a:srgbClr val="99FF99"/>
                </a:solidFill>
              </a:rPr>
              <a:t>"</a:t>
            </a:r>
            <a:r>
              <a:rPr lang="zh-CN" altLang="en-US" sz="3600" baseline="0" dirty="0">
                <a:solidFill>
                  <a:srgbClr val="99FF99"/>
                </a:solidFill>
              </a:rPr>
              <a:t>女</a:t>
            </a:r>
            <a:r>
              <a:rPr lang="en-US" altLang="zh-CN" sz="3600" baseline="0" dirty="0">
                <a:solidFill>
                  <a:srgbClr val="99FF99"/>
                </a:solidFill>
              </a:rPr>
              <a:t>"</a:t>
            </a:r>
            <a:r>
              <a:rPr lang="zh-CN" altLang="en-US" sz="3600" baseline="0" dirty="0">
                <a:solidFill>
                  <a:srgbClr val="99FF99"/>
                </a:solidFill>
              </a:rPr>
              <a:t>并且不能为空。</a:t>
            </a:r>
          </a:p>
          <a:p>
            <a:pPr>
              <a:spcBef>
                <a:spcPct val="50000"/>
              </a:spcBef>
              <a:spcAft>
                <a:spcPct val="0"/>
              </a:spcAft>
              <a:buSzTx/>
              <a:buFontTx/>
              <a:buNone/>
              <a:defRPr/>
            </a:pPr>
            <a:r>
              <a:rPr lang="zh-CN" altLang="en-US" sz="3600" baseline="0" dirty="0">
                <a:solidFill>
                  <a:srgbClr val="99FF99"/>
                </a:solidFill>
              </a:rPr>
              <a:t>年龄为两位正整数。</a:t>
            </a:r>
          </a:p>
        </p:txBody>
      </p:sp>
      <p:graphicFrame>
        <p:nvGraphicFramePr>
          <p:cNvPr id="10" name="Group 2">
            <a:extLst>
              <a:ext uri="{FF2B5EF4-FFF2-40B4-BE49-F238E27FC236}">
                <a16:creationId xmlns:a16="http://schemas.microsoft.com/office/drawing/2014/main" id="{42322F8D-0590-4B61-9BDC-338D4D3E02C8}"/>
              </a:ext>
            </a:extLst>
          </p:cNvPr>
          <p:cNvGraphicFramePr>
            <a:graphicFrameLocks/>
          </p:cNvGraphicFramePr>
          <p:nvPr>
            <p:extLst>
              <p:ext uri="{D42A27DB-BD31-4B8C-83A1-F6EECF244321}">
                <p14:modId xmlns:p14="http://schemas.microsoft.com/office/powerpoint/2010/main" val="1486380127"/>
              </p:ext>
            </p:extLst>
          </p:nvPr>
        </p:nvGraphicFramePr>
        <p:xfrm>
          <a:off x="839416" y="3231602"/>
          <a:ext cx="5472608" cy="3021016"/>
        </p:xfrm>
        <a:graphic>
          <a:graphicData uri="http://schemas.openxmlformats.org/drawingml/2006/table">
            <a:tbl>
              <a:tblPr>
                <a:tableStyleId>{2D5ABB26-0587-4C30-8999-92F81FD0307C}</a:tableStyleId>
              </a:tblPr>
              <a:tblGrid>
                <a:gridCol w="1536393">
                  <a:extLst>
                    <a:ext uri="{9D8B030D-6E8A-4147-A177-3AD203B41FA5}">
                      <a16:colId xmlns:a16="http://schemas.microsoft.com/office/drawing/2014/main" val="20000"/>
                    </a:ext>
                  </a:extLst>
                </a:gridCol>
                <a:gridCol w="1458938">
                  <a:extLst>
                    <a:ext uri="{9D8B030D-6E8A-4147-A177-3AD203B41FA5}">
                      <a16:colId xmlns:a16="http://schemas.microsoft.com/office/drawing/2014/main" val="20001"/>
                    </a:ext>
                  </a:extLst>
                </a:gridCol>
                <a:gridCol w="1151661">
                  <a:extLst>
                    <a:ext uri="{9D8B030D-6E8A-4147-A177-3AD203B41FA5}">
                      <a16:colId xmlns:a16="http://schemas.microsoft.com/office/drawing/2014/main" val="20002"/>
                    </a:ext>
                  </a:extLst>
                </a:gridCol>
                <a:gridCol w="1325616">
                  <a:extLst>
                    <a:ext uri="{9D8B030D-6E8A-4147-A177-3AD203B41FA5}">
                      <a16:colId xmlns:a16="http://schemas.microsoft.com/office/drawing/2014/main" val="20003"/>
                    </a:ext>
                  </a:extLst>
                </a:gridCol>
              </a:tblGrid>
              <a:tr h="5031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学号</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姓名</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性别</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年龄</a:t>
                      </a:r>
                      <a:endParaRPr kumimoji="0" lang="zh-CN" altLang="en-US" sz="2400" b="1"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2"/>
                    </a:solidFill>
                  </a:tcPr>
                </a:tc>
                <a:extLst>
                  <a:ext uri="{0D108BD9-81ED-4DB2-BD59-A6C34878D82A}">
                    <a16:rowId xmlns:a16="http://schemas.microsoft.com/office/drawing/2014/main" val="10000"/>
                  </a:ext>
                </a:extLst>
              </a:tr>
              <a:tr h="5031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98001</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张三</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男</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29</a:t>
                      </a:r>
                      <a:endParaRPr kumimoji="0" lang="en-US" altLang="zh-CN"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07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98002</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李四</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女</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30</a:t>
                      </a:r>
                      <a:endParaRPr kumimoji="0" lang="en-US" altLang="zh-CN"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132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zh-CN" altLang="en-US"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a:ln>
                            <a:noFill/>
                          </a:ln>
                          <a:effectLst>
                            <a:outerShdw blurRad="38100" dist="38100" dir="2700000" algn="tl">
                              <a:srgbClr val="000000"/>
                            </a:outerShdw>
                          </a:effectLst>
                          <a:latin typeface="宋体" panose="02010600030101010101" pitchFamily="2" charset="-122"/>
                          <a:ea typeface="宋体" panose="02010600030101010101" pitchFamily="2" charset="-122"/>
                        </a:rPr>
                        <a:t>┆</a:t>
                      </a:r>
                      <a:endParaRPr kumimoji="0" lang="en-US" altLang="zh-CN" sz="2400" b="0" i="0" u="none" strike="noStrike" cap="none" normalizeH="0" baseline="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007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a:t>
                      </a:r>
                      <a:r>
                        <a:rPr kumimoji="0" lang="en-US" altLang="zh-CN"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9343</a:t>
                      </a:r>
                      <a:endParaRPr kumimoji="0" lang="en-US" altLang="zh-CN"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王五</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男</a:t>
                      </a:r>
                      <a:endParaRPr kumimoji="0" lang="zh-CN" altLang="en-US"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u="none" strike="noStrike" cap="none" normalizeH="0" baseline="0" dirty="0">
                          <a:ln>
                            <a:noFill/>
                          </a:ln>
                          <a:effectLst>
                            <a:outerShdw blurRad="38100" dist="38100" dir="2700000" algn="tl">
                              <a:srgbClr val="000000"/>
                            </a:outerShdw>
                          </a:effectLst>
                          <a:latin typeface="宋体" panose="02010600030101010101" pitchFamily="2" charset="-122"/>
                          <a:ea typeface="宋体" panose="02010600030101010101" pitchFamily="2" charset="-122"/>
                        </a:rPr>
                        <a:t>29</a:t>
                      </a:r>
                      <a:endParaRPr kumimoji="0" lang="en-US" altLang="zh-CN" sz="2400" b="0" i="0" u="none" strike="noStrike" cap="none" normalizeH="0" baseline="0" dirty="0">
                        <a:ln>
                          <a:noFill/>
                        </a:ln>
                        <a:solidFill>
                          <a:schemeClr val="bg1"/>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WordArt 8">
            <a:extLst>
              <a:ext uri="{FF2B5EF4-FFF2-40B4-BE49-F238E27FC236}">
                <a16:creationId xmlns:a16="http://schemas.microsoft.com/office/drawing/2014/main" id="{877B8456-76D2-4D69-AA96-19B46C952A50}"/>
              </a:ext>
            </a:extLst>
          </p:cNvPr>
          <p:cNvSpPr>
            <a:spLocks noChangeArrowheads="1" noChangeShapeType="1" noTextEdit="1"/>
          </p:cNvSpPr>
          <p:nvPr/>
        </p:nvSpPr>
        <p:spPr bwMode="auto">
          <a:xfrm>
            <a:off x="7716180" y="3231602"/>
            <a:ext cx="3168352" cy="946836"/>
          </a:xfrm>
          <a:prstGeom prst="rect">
            <a:avLst/>
          </a:prstGeom>
        </p:spPr>
        <p:txBody>
          <a:bodyPr wrap="none" fromWordArt="1">
            <a:prstTxWarp prst="textPlain">
              <a:avLst>
                <a:gd name="adj" fmla="val 50000"/>
              </a:avLst>
            </a:prstTxWarp>
          </a:bodyPr>
          <a:lstStyle/>
          <a:p>
            <a:pPr algn="ctr">
              <a:defRPr/>
            </a:pPr>
            <a:r>
              <a:rPr lang="zh-CN" altLang="en-US" sz="6600" b="1" kern="10" dirty="0">
                <a:ln w="38100">
                  <a:solidFill>
                    <a:schemeClr val="tx1"/>
                  </a:solidFill>
                  <a:prstDash val="solid"/>
                </a:ln>
                <a:solidFill>
                  <a:srgbClr val="FF0000"/>
                </a:solidFill>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可以有</a:t>
            </a:r>
          </a:p>
        </p:txBody>
      </p:sp>
    </p:spTree>
    <p:extLst>
      <p:ext uri="{BB962C8B-B14F-4D97-AF65-F5344CB8AC3E}">
        <p14:creationId xmlns:p14="http://schemas.microsoft.com/office/powerpoint/2010/main" val="120043744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5000" fill="hold" grpId="0" nodeType="afterEffect">
                                  <p:stCondLst>
                                    <p:cond delay="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4800" dirty="0">
                <a:latin typeface="Microsoft Yahei" panose="020B0503020204020204" pitchFamily="34" charset="-122"/>
                <a:ea typeface="Microsoft Yahei" panose="020B0503020204020204" pitchFamily="34" charset="-122"/>
                <a:sym typeface="Microsoft Yahei" panose="020B0503020204020204" pitchFamily="34" charset="-122"/>
              </a:rPr>
              <a:t>关系模型有哪三种完整性约束，各自的作用是什么？</a:t>
            </a:r>
          </a:p>
        </p:txBody>
      </p:sp>
      <p:sp>
        <p:nvSpPr>
          <p:cNvPr id="7" name="圆角矩形 6"/>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p:cNvGrpSpPr/>
          <p:nvPr>
            <p:custDataLst>
              <p:tags r:id="rId4"/>
            </p:custDataLst>
          </p:nvPr>
        </p:nvGrpSpPr>
        <p:grpSpPr>
          <a:xfrm>
            <a:off x="0" y="0"/>
            <a:ext cx="12192000" cy="635000"/>
            <a:chOff x="0" y="0"/>
            <a:chExt cx="12192000" cy="635000"/>
          </a:xfrm>
        </p:grpSpPr>
        <p:sp>
          <p:nvSpPr>
            <p:cNvPr id="8"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9"/>
              </p:custDataLst>
            </p:nvPr>
          </p:nvSpPr>
          <p:spPr>
            <a:xfrm>
              <a:off x="116395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31931569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关系操作</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7" name="Rectangle 4"/>
          <p:cNvSpPr txBox="1">
            <a:spLocks noChangeArrowheads="1"/>
          </p:cNvSpPr>
          <p:nvPr/>
        </p:nvSpPr>
        <p:spPr bwMode="auto">
          <a:xfrm>
            <a:off x="335360" y="889016"/>
            <a:ext cx="11257458" cy="14398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0"/>
              </a:spcBef>
              <a:spcAft>
                <a:spcPct val="30000"/>
              </a:spcAft>
              <a:buClr>
                <a:srgbClr val="66FF33"/>
              </a:buClr>
              <a:buSzPct val="85000"/>
              <a:buFont typeface="Wingdings" pitchFamily="2" charset="2"/>
              <a:buBlip>
                <a:blip r:embed="rId2"/>
              </a:buBlip>
              <a:tabLst/>
              <a:defRPr/>
            </a:pPr>
            <a:r>
              <a:rPr kumimoji="0"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关系操作是指对关系实施的各种操作。</a:t>
            </a:r>
            <a:endParaRPr kumimoji="0"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00000"/>
              </a:lnSpc>
              <a:spcBef>
                <a:spcPct val="0"/>
              </a:spcBef>
              <a:spcAft>
                <a:spcPct val="30000"/>
              </a:spcAft>
              <a:buClr>
                <a:srgbClr val="66FF33"/>
              </a:buClr>
              <a:buSzPct val="85000"/>
              <a:buFont typeface="Wingdings" pitchFamily="2" charset="2"/>
              <a:buBlip>
                <a:blip r:embed="rId2"/>
              </a:buBlip>
              <a:tabLst/>
              <a:defRPr/>
            </a:pP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关系操作的对象和结果都是关系，实际是集合操作。</a:t>
            </a:r>
            <a:endParaRPr kumimoji="1" lang="en-US" altLang="zh-CN"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endParaRPr>
          </a:p>
          <a:p>
            <a:pPr eaLnBrk="1" hangingPunct="1">
              <a:spcAft>
                <a:spcPct val="30000"/>
              </a:spcAft>
              <a:defRPr/>
            </a:pPr>
            <a:r>
              <a:rPr lang="zh-CN" altLang="en-US" sz="3600" kern="0" baseline="0" dirty="0">
                <a:latin typeface="微软雅黑" panose="020B0503020204020204" pitchFamily="34" charset="-122"/>
                <a:ea typeface="微软雅黑" panose="020B0503020204020204" pitchFamily="34" charset="-122"/>
              </a:rPr>
              <a:t>关系操作主要分为关系查询和关系更新（包括增加、修改和删除）两类</a:t>
            </a:r>
            <a:r>
              <a:rPr kumimoji="1" lang="zh-CN" altLang="en-US" sz="3600" kern="0" baseline="0" dirty="0">
                <a:latin typeface="微软雅黑" panose="020B0503020204020204" pitchFamily="34" charset="-122"/>
                <a:ea typeface="微软雅黑" panose="020B0503020204020204" pitchFamily="34" charset="-122"/>
              </a:rPr>
              <a:t>。</a:t>
            </a:r>
            <a:endParaRPr kumimoji="1" lang="en-US" altLang="zh-CN" sz="3600" kern="0" baseline="0" dirty="0">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00000"/>
              </a:lnSpc>
              <a:spcBef>
                <a:spcPct val="0"/>
              </a:spcBef>
              <a:spcAft>
                <a:spcPct val="30000"/>
              </a:spcAft>
              <a:buClr>
                <a:srgbClr val="66FF33"/>
              </a:buClr>
              <a:buSzPct val="85000"/>
              <a:buFont typeface="Wingdings" pitchFamily="2" charset="2"/>
              <a:buBlip>
                <a:blip r:embed="rId2"/>
              </a:buBlip>
              <a:tabLst/>
              <a:defRPr/>
            </a:pP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关系操作是</a:t>
            </a:r>
            <a:r>
              <a:rPr kumimoji="1" lang="zh-CN" altLang="en-US" sz="3600" b="1" i="0" u="none" strike="noStrike" kern="0" cap="none" spc="0" normalizeH="0" baseline="0" noProof="0" dirty="0">
                <a:ln>
                  <a:noFill/>
                </a:ln>
                <a:solidFill>
                  <a:srgbClr val="FFFF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一次一集合</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的操作方式，而非关系数据模型是</a:t>
            </a:r>
            <a:r>
              <a:rPr kumimoji="1" lang="zh-CN" altLang="en-US" sz="3600" b="1" i="0" u="none" strike="noStrike" kern="0" cap="none" spc="0" normalizeH="0" baseline="0" noProof="0" dirty="0">
                <a:ln>
                  <a:noFill/>
                </a:ln>
                <a:solidFill>
                  <a:srgbClr val="FFC000"/>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一次一记录</a:t>
            </a:r>
            <a:r>
              <a:rPr kumimoji="1" lang="zh-CN" altLang="en-US" sz="3600" b="0" i="0" u="none" strike="noStrike" kern="0" cap="none" spc="0" normalizeH="0" baseline="0" noProof="0" dirty="0">
                <a:ln>
                  <a:noFill/>
                </a:ln>
                <a:solidFill>
                  <a:srgbClr val="CCFFCC"/>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的操作方式。</a:t>
            </a:r>
          </a:p>
        </p:txBody>
      </p:sp>
      <p:grpSp>
        <p:nvGrpSpPr>
          <p:cNvPr id="18" name="Group 139"/>
          <p:cNvGrpSpPr>
            <a:grpSpLocks/>
          </p:cNvGrpSpPr>
          <p:nvPr/>
        </p:nvGrpSpPr>
        <p:grpSpPr bwMode="auto">
          <a:xfrm>
            <a:off x="767408" y="5013176"/>
            <a:ext cx="8343728" cy="1777391"/>
            <a:chOff x="325" y="2398"/>
            <a:chExt cx="3930" cy="1076"/>
          </a:xfrm>
        </p:grpSpPr>
        <p:sp>
          <p:nvSpPr>
            <p:cNvPr id="20" name="Rectangle 140"/>
            <p:cNvSpPr>
              <a:spLocks noChangeArrowheads="1"/>
            </p:cNvSpPr>
            <p:nvPr/>
          </p:nvSpPr>
          <p:spPr bwMode="auto">
            <a:xfrm>
              <a:off x="1874" y="2398"/>
              <a:ext cx="842" cy="1076"/>
            </a:xfrm>
            <a:prstGeom prst="rect">
              <a:avLst/>
            </a:prstGeom>
            <a:noFill/>
            <a:ln w="12700" cap="sq">
              <a:noFill/>
              <a:miter lim="800000"/>
              <a:headEnd/>
              <a:tailEnd/>
            </a:ln>
            <a:effectLst/>
          </p:spPr>
          <p:txBody>
            <a:bodyPr wrap="none" lIns="72000" tIns="72000" rIns="72000" bIns="7200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关系代数</a:t>
              </a:r>
            </a:p>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关系演算</a:t>
              </a:r>
            </a:p>
            <a:p>
              <a:pPr marL="0" marR="0" lvl="0" indent="0" defTabSz="914400" eaLnBrk="1" fontAlgn="auto" latinLnBrk="0" hangingPunct="1">
                <a:lnSpc>
                  <a:spcPct val="100000"/>
                </a:lnSpc>
                <a:spcBef>
                  <a:spcPts val="0"/>
                </a:spcBef>
                <a:spcAft>
                  <a:spcPts val="600"/>
                </a:spcAft>
                <a:buClrTx/>
                <a:buSzTx/>
                <a:buFontTx/>
                <a:buNone/>
                <a:tabLst/>
                <a:defRPr/>
              </a:pPr>
              <a:r>
                <a:rPr kumimoji="0" lang="en-US" altLang="zh-CN"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SQL</a:t>
              </a:r>
            </a:p>
          </p:txBody>
        </p:sp>
        <p:sp>
          <p:nvSpPr>
            <p:cNvPr id="21" name="Rectangle 141"/>
            <p:cNvSpPr>
              <a:spLocks noChangeArrowheads="1"/>
            </p:cNvSpPr>
            <p:nvPr/>
          </p:nvSpPr>
          <p:spPr bwMode="auto">
            <a:xfrm>
              <a:off x="3027" y="2552"/>
              <a:ext cx="1228" cy="731"/>
            </a:xfrm>
            <a:prstGeom prst="rect">
              <a:avLst/>
            </a:prstGeom>
            <a:noFill/>
            <a:ln w="12700" cap="sq">
              <a:noFill/>
              <a:miter lim="800000"/>
              <a:headEnd/>
              <a:tailEnd/>
            </a:ln>
            <a:effectLst/>
          </p:spPr>
          <p:txBody>
            <a:bodyPr wrap="none" lIns="72000" tIns="72000" rIns="72000" bIns="7200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元组关系演算</a:t>
              </a:r>
            </a:p>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域关系演算</a:t>
              </a:r>
            </a:p>
          </p:txBody>
        </p:sp>
        <p:sp>
          <p:nvSpPr>
            <p:cNvPr id="22" name="AutoShape 142"/>
            <p:cNvSpPr>
              <a:spLocks/>
            </p:cNvSpPr>
            <p:nvPr/>
          </p:nvSpPr>
          <p:spPr bwMode="auto">
            <a:xfrm>
              <a:off x="1738" y="2552"/>
              <a:ext cx="52" cy="746"/>
            </a:xfrm>
            <a:prstGeom prst="leftBrace">
              <a:avLst>
                <a:gd name="adj1" fmla="val 90399"/>
                <a:gd name="adj2" fmla="val 50000"/>
              </a:avLst>
            </a:prstGeom>
            <a:noFill/>
            <a:ln w="28575" cap="sq">
              <a:solidFill>
                <a:srgbClr val="CCFFCC"/>
              </a:solidFill>
              <a:round/>
              <a:headEnd/>
              <a:tailEnd/>
            </a:ln>
            <a:effectLst/>
          </p:spPr>
          <p:txBody>
            <a:bodyPr wrap="none" lIns="72000" tIns="72000" rIns="72000" bIns="72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AutoShape 143"/>
            <p:cNvSpPr>
              <a:spLocks/>
            </p:cNvSpPr>
            <p:nvPr/>
          </p:nvSpPr>
          <p:spPr bwMode="auto">
            <a:xfrm>
              <a:off x="2895" y="2765"/>
              <a:ext cx="46" cy="320"/>
            </a:xfrm>
            <a:prstGeom prst="leftBrace">
              <a:avLst>
                <a:gd name="adj1" fmla="val 57971"/>
                <a:gd name="adj2" fmla="val 50000"/>
              </a:avLst>
            </a:prstGeom>
            <a:noFill/>
            <a:ln w="28575" cap="sq">
              <a:solidFill>
                <a:srgbClr val="CCFFCC"/>
              </a:solidFill>
              <a:round/>
              <a:headEnd/>
              <a:tailEnd/>
            </a:ln>
            <a:effectLst/>
          </p:spPr>
          <p:txBody>
            <a:bodyPr wrap="none" lIns="72000" tIns="72000" rIns="72000" bIns="72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0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4" name="Rectangle 144"/>
            <p:cNvSpPr>
              <a:spLocks noChangeArrowheads="1"/>
            </p:cNvSpPr>
            <p:nvPr/>
          </p:nvSpPr>
          <p:spPr bwMode="auto">
            <a:xfrm>
              <a:off x="325" y="2713"/>
              <a:ext cx="1228" cy="386"/>
            </a:xfrm>
            <a:prstGeom prst="rect">
              <a:avLst/>
            </a:prstGeom>
            <a:noFill/>
            <a:ln w="12700" cap="sq">
              <a:noFill/>
              <a:miter lim="800000"/>
              <a:headEnd/>
              <a:tailEnd/>
            </a:ln>
            <a:effectLst/>
          </p:spPr>
          <p:txBody>
            <a:bodyPr wrap="none" lIns="72000" tIns="72000" rIns="72000" bIns="72000">
              <a:spAutoFit/>
            </a:bodyPr>
            <a:lstStyle/>
            <a:p>
              <a:pPr marL="0" marR="0" lvl="0" indent="0" defTabSz="914400" eaLnBrk="1" fontAlgn="auto" latinLnBrk="0" hangingPunct="1">
                <a:lnSpc>
                  <a:spcPct val="100000"/>
                </a:lnSpc>
                <a:spcBef>
                  <a:spcPts val="0"/>
                </a:spcBef>
                <a:spcAft>
                  <a:spcPct val="0"/>
                </a:spcAft>
                <a:buClrTx/>
                <a:buSzTx/>
                <a:buFontTx/>
                <a:buNone/>
                <a:tabLst/>
                <a:defRPr/>
              </a:pPr>
              <a:r>
                <a:rPr kumimoji="0" lang="zh-CN" alt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微软雅黑" panose="020B0503020204020204" pitchFamily="34" charset="-122"/>
                  <a:ea typeface="微软雅黑" panose="020B0503020204020204" pitchFamily="34" charset="-122"/>
                </a:rPr>
                <a:t>关系数据语言</a:t>
              </a:r>
            </a:p>
          </p:txBody>
        </p:sp>
      </p:grpSp>
    </p:spTree>
    <p:extLst>
      <p:ext uri="{BB962C8B-B14F-4D97-AF65-F5344CB8AC3E}">
        <p14:creationId xmlns:p14="http://schemas.microsoft.com/office/powerpoint/2010/main" val="62165528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smtClean="0"/>
              <a:t>关系代数</a:t>
            </a:r>
            <a:endParaRPr lang="zh-CN" altLang="en-US" sz="3600" b="1" dirty="0"/>
          </a:p>
        </p:txBody>
      </p:sp>
      <p:sp>
        <p:nvSpPr>
          <p:cNvPr id="3" name="内容占位符 2"/>
          <p:cNvSpPr>
            <a:spLocks noGrp="1"/>
          </p:cNvSpPr>
          <p:nvPr>
            <p:ph idx="1"/>
          </p:nvPr>
        </p:nvSpPr>
        <p:spPr>
          <a:xfrm>
            <a:off x="876300" y="1852295"/>
            <a:ext cx="10440035" cy="1680845"/>
          </a:xfrm>
        </p:spPr>
        <p:txBody>
          <a:bodyPr>
            <a:normAutofit fontScale="77500" lnSpcReduction="20000"/>
          </a:bodyPr>
          <a:lstStyle/>
          <a:p>
            <a:pPr marL="0" indent="0">
              <a:lnSpc>
                <a:spcPct val="150000"/>
              </a:lnSpc>
              <a:buNone/>
            </a:pPr>
            <a:r>
              <a:rPr lang="en-US" altLang="zh-CN" dirty="0"/>
              <a:t>      </a:t>
            </a:r>
            <a:r>
              <a:rPr lang="zh-CN" altLang="en-US" dirty="0"/>
              <a:t>关系代数是由E.F.Codd于1970年提出的，1979年E.F.Codd又对关系模型做了扩展。关系模型是一种抽象的查询语言，是关系操纵语言的一种传统表达方式，它是用对关系的运算来表达查询的。</a:t>
            </a:r>
          </a:p>
        </p:txBody>
      </p:sp>
      <p:sp>
        <p:nvSpPr>
          <p:cNvPr id="100" name="文本框 99"/>
          <p:cNvSpPr txBox="1"/>
          <p:nvPr/>
        </p:nvSpPr>
        <p:spPr>
          <a:xfrm>
            <a:off x="876300" y="3737610"/>
            <a:ext cx="10106025" cy="1938992"/>
          </a:xfrm>
          <a:prstGeom prst="rect">
            <a:avLst/>
          </a:prstGeom>
          <a:noFill/>
          <a:ln w="9525">
            <a:noFill/>
          </a:ln>
        </p:spPr>
        <p:txBody>
          <a:bodyPr wrap="square">
            <a:spAutoFit/>
          </a:bodyPr>
          <a:lstStyle/>
          <a:p>
            <a:pPr indent="266700">
              <a:lnSpc>
                <a:spcPct val="150000"/>
              </a:lnSpc>
            </a:pPr>
            <a:r>
              <a:rPr lang="en-US" altLang="zh-CN" sz="4000" b="0" dirty="0">
                <a:solidFill>
                  <a:schemeClr val="tx1">
                    <a:lumMod val="85000"/>
                    <a:lumOff val="15000"/>
                  </a:schemeClr>
                </a:solidFill>
                <a:latin typeface="微软雅黑" panose="020B0503020204020204" charset="-122"/>
                <a:ea typeface="微软雅黑" panose="020B0503020204020204" charset="-122"/>
              </a:rPr>
              <a:t>    </a:t>
            </a:r>
            <a:r>
              <a:rPr lang="zh-CN" altLang="en-US" sz="4000" b="0" dirty="0">
                <a:solidFill>
                  <a:schemeClr val="tx1">
                    <a:lumMod val="85000"/>
                    <a:lumOff val="15000"/>
                  </a:schemeClr>
                </a:solidFill>
                <a:latin typeface="微软雅黑" panose="020B0503020204020204" charset="-122"/>
                <a:ea typeface="微软雅黑" panose="020B0503020204020204" charset="-122"/>
              </a:rPr>
              <a:t>任何一种运算都是将一定的运算符作用于一定的运算对象上，从而得到预期的运算结果。所以运算的三大要素就是</a:t>
            </a:r>
            <a:r>
              <a:rPr lang="zh-CN" altLang="en-US" sz="4000" b="0" dirty="0">
                <a:solidFill>
                  <a:srgbClr val="FF0000"/>
                </a:solidFill>
                <a:latin typeface="微软雅黑" panose="020B0503020204020204" charset="-122"/>
                <a:ea typeface="微软雅黑" panose="020B0503020204020204" charset="-122"/>
              </a:rPr>
              <a:t>运算对象、运算符和运算结果</a:t>
            </a:r>
            <a:r>
              <a:rPr lang="zh-CN" altLang="en-US" sz="4000" b="0" dirty="0">
                <a:solidFill>
                  <a:schemeClr val="tx1">
                    <a:lumMod val="85000"/>
                    <a:lumOff val="15000"/>
                  </a:schemeClr>
                </a:solidFill>
                <a:latin typeface="微软雅黑" panose="020B0503020204020204" charset="-122"/>
                <a:ea typeface="微软雅黑" panose="020B0503020204020204" charset="-122"/>
              </a:rPr>
              <a:t>。</a:t>
            </a:r>
          </a:p>
        </p:txBody>
      </p:sp>
    </p:spTree>
    <p:custDataLst>
      <p:tags r:id="rId1"/>
    </p:custDataLst>
    <p:extLst>
      <p:ext uri="{BB962C8B-B14F-4D97-AF65-F5344CB8AC3E}">
        <p14:creationId xmlns:p14="http://schemas.microsoft.com/office/powerpoint/2010/main" val="3574414791"/>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关系操作</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0" name="Rectangle 4"/>
          <p:cNvSpPr txBox="1">
            <a:spLocks noChangeArrowheads="1"/>
          </p:cNvSpPr>
          <p:nvPr/>
        </p:nvSpPr>
        <p:spPr bwMode="auto">
          <a:xfrm>
            <a:off x="95125" y="853617"/>
            <a:ext cx="11617499" cy="14398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30000"/>
              </a:spcAft>
              <a:defRPr/>
            </a:pPr>
            <a:r>
              <a:rPr kumimoji="1" lang="zh-CN" altLang="zh-CN" baseline="0" dirty="0">
                <a:latin typeface="Arial" charset="0"/>
              </a:rPr>
              <a:t>关系代数是一种抽象的非过程化查询语言，是关系数据操纵语言的一种传统表达方式。运算对象和运算结果都是</a:t>
            </a:r>
            <a:r>
              <a:rPr kumimoji="1" lang="zh-CN" altLang="zh-CN" baseline="0" dirty="0">
                <a:solidFill>
                  <a:srgbClr val="FF0000"/>
                </a:solidFill>
                <a:latin typeface="Arial" charset="0"/>
              </a:rPr>
              <a:t>关系</a:t>
            </a:r>
            <a:r>
              <a:rPr kumimoji="1" lang="zh-CN" altLang="en-US" baseline="0" dirty="0">
                <a:latin typeface="Arial" charset="0"/>
              </a:rPr>
              <a:t>。</a:t>
            </a:r>
            <a:endParaRPr kumimoji="1" lang="zh-CN" altLang="zh-CN" baseline="0" dirty="0">
              <a:latin typeface="Arial" charset="0"/>
            </a:endParaRPr>
          </a:p>
        </p:txBody>
      </p:sp>
      <p:graphicFrame>
        <p:nvGraphicFramePr>
          <p:cNvPr id="11" name="Group 5"/>
          <p:cNvGraphicFramePr>
            <a:graphicFrameLocks noGrp="1"/>
          </p:cNvGraphicFramePr>
          <p:nvPr>
            <p:extLst>
              <p:ext uri="{D42A27DB-BD31-4B8C-83A1-F6EECF244321}">
                <p14:modId xmlns:p14="http://schemas.microsoft.com/office/powerpoint/2010/main" val="4241786283"/>
              </p:ext>
            </p:extLst>
          </p:nvPr>
        </p:nvGraphicFramePr>
        <p:xfrm>
          <a:off x="886314" y="2763548"/>
          <a:ext cx="8162014" cy="1997212"/>
        </p:xfrm>
        <a:graphic>
          <a:graphicData uri="http://schemas.openxmlformats.org/drawingml/2006/table">
            <a:tbl>
              <a:tblPr/>
              <a:tblGrid>
                <a:gridCol w="3368761">
                  <a:extLst>
                    <a:ext uri="{9D8B030D-6E8A-4147-A177-3AD203B41FA5}">
                      <a16:colId xmlns:a16="http://schemas.microsoft.com/office/drawing/2014/main" val="20000"/>
                    </a:ext>
                  </a:extLst>
                </a:gridCol>
                <a:gridCol w="4793253">
                  <a:extLst>
                    <a:ext uri="{9D8B030D-6E8A-4147-A177-3AD203B41FA5}">
                      <a16:colId xmlns:a16="http://schemas.microsoft.com/office/drawing/2014/main" val="20001"/>
                    </a:ext>
                  </a:extLst>
                </a:gridCol>
              </a:tblGrid>
              <a:tr h="84025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32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集合运算</a:t>
                      </a:r>
                    </a:p>
                  </a:txBody>
                  <a:tcPr marL="75600" marR="0" marT="36007" marB="36007"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并(∪)</a:t>
                      </a: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 ，交(∩)，</a:t>
                      </a:r>
                      <a:r>
                        <a:rPr kumimoji="0" lang="zh-CN" altLang="en-US"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差(－)</a:t>
                      </a:r>
                    </a:p>
                    <a:p>
                      <a:pPr marL="0" marR="0" lvl="0" indent="0" algn="l"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广义笛卡尔积(×)</a:t>
                      </a:r>
                    </a:p>
                  </a:txBody>
                  <a:tcPr marL="75600" marR="0" marT="36007" marB="36007"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0123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32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专门的关系运算</a:t>
                      </a:r>
                    </a:p>
                  </a:txBody>
                  <a:tcPr marL="75600" marR="0" marT="36007" marB="36007"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选择(</a:t>
                      </a:r>
                      <a:r>
                        <a:rPr kumimoji="0" lang="en-US" altLang="zh-CN"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σ)</a:t>
                      </a:r>
                      <a:r>
                        <a:rPr kumimoji="0" lang="en-US" altLang="zh-CN" sz="2800" b="0"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a:t>
                      </a:r>
                      <a:r>
                        <a:rPr kumimoji="0" lang="zh-CN" altLang="en-US"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投影(</a:t>
                      </a:r>
                      <a:r>
                        <a:rPr kumimoji="0" lang="en-US" altLang="zh-CN" sz="2800" b="1" i="0" u="none" strike="noStrike" cap="none" normalizeH="0" baseline="0" dirty="0">
                          <a:ln>
                            <a:noFill/>
                          </a:ln>
                          <a:solidFill>
                            <a:srgbClr val="FFFF00"/>
                          </a:solidFill>
                          <a:effectLst>
                            <a:outerShdw blurRad="38100" dist="38100" dir="2700000" algn="tl">
                              <a:srgbClr val="000000"/>
                            </a:outerShdw>
                          </a:effectLst>
                          <a:latin typeface="宋体" panose="02010600030101010101" pitchFamily="2" charset="-122"/>
                          <a:ea typeface="宋体" panose="02010600030101010101" pitchFamily="2" charset="-122"/>
                        </a:rPr>
                        <a:t>Π)</a:t>
                      </a: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 </a:t>
                      </a:r>
                    </a:p>
                    <a:p>
                      <a:pPr marL="0" marR="0" lvl="0" indent="0" algn="l"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连接(</a:t>
                      </a:r>
                      <a:r>
                        <a:rPr kumimoji="0" lang="zh-CN" altLang="en-US" sz="32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  </a:t>
                      </a: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)，除(÷)</a:t>
                      </a:r>
                      <a:endParaRPr kumimoji="0" lang="zh-CN" altLang="en-US" sz="32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75600" marR="0" marT="36007" marB="36007"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Rectangle 16"/>
          <p:cNvSpPr>
            <a:spLocks noChangeArrowheads="1"/>
          </p:cNvSpPr>
          <p:nvPr/>
        </p:nvSpPr>
        <p:spPr bwMode="auto">
          <a:xfrm>
            <a:off x="2303013" y="2276872"/>
            <a:ext cx="216405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Bef>
                <a:spcPct val="20000"/>
              </a:spcBef>
              <a:spcAft>
                <a:spcPct val="0"/>
              </a:spcAft>
              <a:buSzTx/>
              <a:buFontTx/>
              <a:buNone/>
            </a:pPr>
            <a:r>
              <a:rPr lang="zh-CN" altLang="en-US" sz="2800" b="1" baseline="0" dirty="0">
                <a:solidFill>
                  <a:srgbClr val="99FF33"/>
                </a:solidFill>
                <a:effectLst/>
                <a:latin typeface="Times New Roman" pitchFamily="18" charset="0"/>
              </a:rPr>
              <a:t>关系代数运算</a:t>
            </a:r>
          </a:p>
        </p:txBody>
      </p:sp>
      <p:graphicFrame>
        <p:nvGraphicFramePr>
          <p:cNvPr id="13" name="Group 17"/>
          <p:cNvGraphicFramePr>
            <a:graphicFrameLocks noGrp="1"/>
          </p:cNvGraphicFramePr>
          <p:nvPr>
            <p:extLst>
              <p:ext uri="{D42A27DB-BD31-4B8C-83A1-F6EECF244321}">
                <p14:modId xmlns:p14="http://schemas.microsoft.com/office/powerpoint/2010/main" val="3116235336"/>
              </p:ext>
            </p:extLst>
          </p:nvPr>
        </p:nvGraphicFramePr>
        <p:xfrm>
          <a:off x="827088" y="5467425"/>
          <a:ext cx="8221240" cy="946422"/>
        </p:xfrm>
        <a:graphic>
          <a:graphicData uri="http://schemas.openxmlformats.org/drawingml/2006/table">
            <a:tbl>
              <a:tblPr/>
              <a:tblGrid>
                <a:gridCol w="3005823">
                  <a:extLst>
                    <a:ext uri="{9D8B030D-6E8A-4147-A177-3AD203B41FA5}">
                      <a16:colId xmlns:a16="http://schemas.microsoft.com/office/drawing/2014/main" val="20000"/>
                    </a:ext>
                  </a:extLst>
                </a:gridCol>
                <a:gridCol w="5215417">
                  <a:extLst>
                    <a:ext uri="{9D8B030D-6E8A-4147-A177-3AD203B41FA5}">
                      <a16:colId xmlns:a16="http://schemas.microsoft.com/office/drawing/2014/main" val="20001"/>
                    </a:ext>
                  </a:extLst>
                </a:gridCol>
              </a:tblGrid>
              <a:tr h="4732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比较运算</a:t>
                      </a:r>
                    </a:p>
                  </a:txBody>
                  <a:tcPr marL="7620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7620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32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逻辑运算</a:t>
                      </a:r>
                    </a:p>
                  </a:txBody>
                  <a:tcPr marL="76200" marR="0" marT="0" marB="0" anchor="ctr"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与(∧)，或(∨)，非(┐)</a:t>
                      </a:r>
                    </a:p>
                  </a:txBody>
                  <a:tcPr marL="76200" marR="0" marT="0" marB="0" anchor="ctr"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4" name="Rectangle 28"/>
          <p:cNvSpPr>
            <a:spLocks noChangeArrowheads="1"/>
          </p:cNvSpPr>
          <p:nvPr/>
        </p:nvSpPr>
        <p:spPr bwMode="auto">
          <a:xfrm>
            <a:off x="1575765" y="4970919"/>
            <a:ext cx="43281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0" tIns="0" rIns="0" bIns="0">
            <a:spAutoFit/>
          </a:bodyPr>
          <a:lstStyle/>
          <a:p>
            <a:pPr algn="ctr">
              <a:spcBef>
                <a:spcPct val="20000"/>
              </a:spcBef>
              <a:spcAft>
                <a:spcPct val="0"/>
              </a:spcAft>
              <a:buSzTx/>
              <a:buFontTx/>
              <a:buNone/>
            </a:pPr>
            <a:r>
              <a:rPr lang="zh-CN" altLang="en-US" sz="2800" b="1" baseline="0" dirty="0">
                <a:solidFill>
                  <a:srgbClr val="99FF33"/>
                </a:solidFill>
                <a:effectLst/>
                <a:latin typeface="Times New Roman" pitchFamily="18" charset="0"/>
              </a:rPr>
              <a:t>辅助专门的关系运算的运算</a:t>
            </a:r>
          </a:p>
        </p:txBody>
      </p:sp>
      <p:sp>
        <p:nvSpPr>
          <p:cNvPr id="15" name="Freeform 29"/>
          <p:cNvSpPr>
            <a:spLocks/>
          </p:cNvSpPr>
          <p:nvPr/>
        </p:nvSpPr>
        <p:spPr bwMode="auto">
          <a:xfrm>
            <a:off x="5303912" y="4414387"/>
            <a:ext cx="215900" cy="203200"/>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sp>
        <p:nvSpPr>
          <p:cNvPr id="16" name="AutoShape 30"/>
          <p:cNvSpPr>
            <a:spLocks noChangeArrowheads="1"/>
          </p:cNvSpPr>
          <p:nvPr/>
        </p:nvSpPr>
        <p:spPr bwMode="auto">
          <a:xfrm>
            <a:off x="8773424" y="3042282"/>
            <a:ext cx="2952328" cy="2359524"/>
          </a:xfrm>
          <a:prstGeom prst="cloudCallout">
            <a:avLst>
              <a:gd name="adj1" fmla="val -71515"/>
              <a:gd name="adj2" fmla="val -16181"/>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wrap="square" lIns="36000" tIns="36000" rIns="36000" bIns="36000">
            <a:spAutoFit/>
          </a:bodyPr>
          <a:lstStyle/>
          <a:p>
            <a:pPr marL="0" marR="0" lvl="0" indent="0" algn="just" defTabSz="914400" eaLnBrk="1" fontAlgn="auto" latinLnBrk="0" hangingPunct="1">
              <a:lnSpc>
                <a:spcPct val="100000"/>
              </a:lnSpc>
              <a:spcBef>
                <a:spcPts val="0"/>
              </a:spcBef>
              <a:spcAft>
                <a:spcPct val="0"/>
              </a:spcAft>
              <a:buClrTx/>
              <a:buSzTx/>
              <a:buFontTx/>
              <a:buNone/>
              <a:tabLst/>
              <a:defRPr/>
            </a:pPr>
            <a:r>
              <a:rPr kumimoji="0" lang="zh-CN" altLang="en-US" sz="3200" b="1" i="0" u="none" strike="noStrike" kern="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rPr>
              <a:t>黄色字体为五种基本运算</a:t>
            </a:r>
          </a:p>
        </p:txBody>
      </p:sp>
    </p:spTree>
    <p:extLst>
      <p:ext uri="{BB962C8B-B14F-4D97-AF65-F5344CB8AC3E}">
        <p14:creationId xmlns:p14="http://schemas.microsoft.com/office/powerpoint/2010/main" val="388109205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5000" fill="hold" grpId="1" nodeType="afterEffect">
                                  <p:stCondLst>
                                    <p:cond delay="0"/>
                                  </p:stCondLst>
                                  <p:childTnLst>
                                    <p:animEffect transition="out" filter="fade">
                                      <p:cBhvr>
                                        <p:cTn id="9" dur="500" tmFilter="0, 0; .2, .5; .8, .5; 1, 0"/>
                                        <p:tgtEl>
                                          <p:spTgt spid="16"/>
                                        </p:tgtEl>
                                      </p:cBhvr>
                                    </p:animEffect>
                                    <p:animScale>
                                      <p:cBhvr>
                                        <p:cTn id="10"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3439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并（</a:t>
            </a:r>
            <a:r>
              <a:rPr lang="en-US" altLang="zh-CN" b="1" u="sng" kern="1200" dirty="0">
                <a:solidFill>
                  <a:schemeClr val="folHlink"/>
                </a:solidFill>
                <a:effectLst>
                  <a:outerShdw blurRad="38100" dist="38100" dir="2700000" algn="tl">
                    <a:srgbClr val="000000"/>
                  </a:outerShdw>
                </a:effectLst>
                <a:cs typeface="+mn-cs"/>
              </a:rPr>
              <a:t>Union</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30" name="Rectangle 4"/>
          <p:cNvSpPr txBox="1">
            <a:spLocks noChangeArrowheads="1"/>
          </p:cNvSpPr>
          <p:nvPr/>
        </p:nvSpPr>
        <p:spPr bwMode="auto">
          <a:xfrm>
            <a:off x="263352" y="887959"/>
            <a:ext cx="11449272" cy="2130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30000"/>
              </a:spcAft>
              <a:buFont typeface="Wingdings" pitchFamily="2" charset="2"/>
              <a:buNone/>
              <a:defRPr/>
            </a:pPr>
            <a:r>
              <a:rPr kumimoji="1" lang="zh-CN" altLang="en-US" baseline="0" dirty="0">
                <a:latin typeface="Arial" charset="0"/>
              </a:rPr>
              <a:t>	</a:t>
            </a:r>
            <a:r>
              <a:rPr kumimoji="1" lang="zh-CN" altLang="zh-CN" baseline="0" dirty="0">
                <a:latin typeface="Arial" charset="0"/>
              </a:rPr>
              <a:t>设关系R和关系S</a:t>
            </a:r>
            <a:r>
              <a:rPr kumimoji="1" lang="zh-CN" altLang="en-US" baseline="0" dirty="0">
                <a:latin typeface="Arial" charset="0"/>
              </a:rPr>
              <a:t>是</a:t>
            </a:r>
            <a:r>
              <a:rPr kumimoji="1" lang="zh-CN" altLang="en-US" baseline="0" dirty="0">
                <a:solidFill>
                  <a:srgbClr val="00FFFF"/>
                </a:solidFill>
                <a:latin typeface="Arial" charset="0"/>
              </a:rPr>
              <a:t>相容</a:t>
            </a:r>
            <a:r>
              <a:rPr kumimoji="1" lang="zh-CN" altLang="en-US" baseline="0" dirty="0">
                <a:latin typeface="Arial" charset="0"/>
              </a:rPr>
              <a:t>的，</a:t>
            </a:r>
            <a:r>
              <a:rPr kumimoji="1" lang="zh-CN" altLang="zh-CN" baseline="0" dirty="0">
                <a:latin typeface="Arial" charset="0"/>
              </a:rPr>
              <a:t>则关系R和关系S的并由属于R或属于S的元组组成</a:t>
            </a:r>
            <a:r>
              <a:rPr kumimoji="1" lang="zh-CN" altLang="en-US" baseline="0" dirty="0">
                <a:latin typeface="Arial" charset="0"/>
              </a:rPr>
              <a:t>，</a:t>
            </a:r>
            <a:r>
              <a:rPr kumimoji="1" lang="zh-CN" altLang="zh-CN" baseline="0" dirty="0">
                <a:latin typeface="Arial" charset="0"/>
              </a:rPr>
              <a:t>记为:</a:t>
            </a:r>
          </a:p>
          <a:p>
            <a:pPr eaLnBrk="1" hangingPunct="1">
              <a:spcAft>
                <a:spcPct val="30000"/>
              </a:spcAft>
              <a:buFont typeface="Wingdings" pitchFamily="2" charset="2"/>
              <a:buNone/>
              <a:defRPr/>
            </a:pPr>
            <a:r>
              <a:rPr kumimoji="1" lang="zh-CN" altLang="zh-CN" baseline="0" dirty="0">
                <a:latin typeface="Arial" charset="0"/>
              </a:rPr>
              <a:t>		</a:t>
            </a:r>
            <a:r>
              <a:rPr kumimoji="1" lang="zh-CN" altLang="zh-CN" baseline="0" dirty="0">
                <a:solidFill>
                  <a:srgbClr val="FFFF00"/>
                </a:solidFill>
                <a:latin typeface="Arial" charset="0"/>
              </a:rPr>
              <a:t>	 R∪S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t</a:t>
            </a:r>
            <a:r>
              <a:rPr kumimoji="1" lang="zh-CN" altLang="zh-CN" baseline="0" dirty="0">
                <a:solidFill>
                  <a:srgbClr val="FFFF00"/>
                </a:solidFill>
                <a:latin typeface="Arial" charset="0"/>
                <a:ea typeface="宋体" pitchFamily="2" charset="-122"/>
              </a:rPr>
              <a:t>∈</a:t>
            </a:r>
            <a:r>
              <a:rPr kumimoji="1" lang="zh-CN" altLang="zh-CN" baseline="0" dirty="0">
                <a:solidFill>
                  <a:srgbClr val="FFFF00"/>
                </a:solidFill>
                <a:latin typeface="Arial" charset="0"/>
              </a:rPr>
              <a:t>R</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t</a:t>
            </a:r>
            <a:r>
              <a:rPr kumimoji="1" lang="zh-CN" altLang="zh-CN" baseline="0" dirty="0">
                <a:solidFill>
                  <a:srgbClr val="FFFF00"/>
                </a:solidFill>
                <a:latin typeface="Arial" charset="0"/>
                <a:ea typeface="宋体" pitchFamily="2" charset="-122"/>
              </a:rPr>
              <a:t>∈</a:t>
            </a:r>
            <a:r>
              <a:rPr kumimoji="1" lang="zh-CN" altLang="zh-CN" baseline="0" dirty="0">
                <a:solidFill>
                  <a:srgbClr val="FFFF00"/>
                </a:solidFill>
                <a:latin typeface="Arial" charset="0"/>
              </a:rPr>
              <a:t>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p>
        </p:txBody>
      </p:sp>
      <p:graphicFrame>
        <p:nvGraphicFramePr>
          <p:cNvPr id="33" name="Group 39"/>
          <p:cNvGraphicFramePr>
            <a:graphicFrameLocks noGrp="1"/>
          </p:cNvGraphicFramePr>
          <p:nvPr>
            <p:extLst>
              <p:ext uri="{D42A27DB-BD31-4B8C-83A1-F6EECF244321}">
                <p14:modId xmlns:p14="http://schemas.microsoft.com/office/powerpoint/2010/main" val="831912717"/>
              </p:ext>
            </p:extLst>
          </p:nvPr>
        </p:nvGraphicFramePr>
        <p:xfrm>
          <a:off x="9162305" y="3145384"/>
          <a:ext cx="1905000" cy="2644128"/>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406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406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406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406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4406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44068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bl>
          </a:graphicData>
        </a:graphic>
      </p:graphicFrame>
      <p:sp>
        <p:nvSpPr>
          <p:cNvPr id="36" name="Rectangle 64"/>
          <p:cNvSpPr>
            <a:spLocks noChangeArrowheads="1"/>
          </p:cNvSpPr>
          <p:nvPr/>
        </p:nvSpPr>
        <p:spPr bwMode="auto">
          <a:xfrm>
            <a:off x="9295272" y="2738988"/>
            <a:ext cx="735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a:solidFill>
                  <a:prstClr val="white"/>
                </a:solidFill>
                <a:latin typeface="Arial" charset="0"/>
                <a:ea typeface="黑体" panose="02010609060101010101" pitchFamily="49" charset="-122"/>
              </a:rPr>
              <a:t>R∪S</a:t>
            </a:r>
            <a:endParaRPr lang="zh-CN" altLang="en-US" sz="2400" baseline="0">
              <a:solidFill>
                <a:prstClr val="white"/>
              </a:solidFill>
              <a:latin typeface="Arial" charset="0"/>
              <a:ea typeface="黑体" panose="02010609060101010101" pitchFamily="49" charset="-122"/>
            </a:endParaRPr>
          </a:p>
        </p:txBody>
      </p:sp>
      <p:sp>
        <p:nvSpPr>
          <p:cNvPr id="37" name="Oval 65" descr="浅色上对角线"/>
          <p:cNvSpPr>
            <a:spLocks noChangeArrowheads="1"/>
          </p:cNvSpPr>
          <p:nvPr/>
        </p:nvSpPr>
        <p:spPr bwMode="auto">
          <a:xfrm>
            <a:off x="769368" y="2852936"/>
            <a:ext cx="1624013" cy="1600200"/>
          </a:xfrm>
          <a:prstGeom prst="ellipse">
            <a:avLst/>
          </a:prstGeom>
          <a:pattFill prst="ltUpDiag">
            <a:fgClr>
              <a:srgbClr val="000000"/>
            </a:fgClr>
            <a:bgClr>
              <a:srgbClr val="FFFFFF"/>
            </a:bgClr>
          </a:patt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38" name="Oval 66" descr="浅色上对角线"/>
          <p:cNvSpPr>
            <a:spLocks noChangeArrowheads="1"/>
          </p:cNvSpPr>
          <p:nvPr/>
        </p:nvSpPr>
        <p:spPr bwMode="auto">
          <a:xfrm>
            <a:off x="1986981" y="2900561"/>
            <a:ext cx="1624012" cy="1600200"/>
          </a:xfrm>
          <a:prstGeom prst="ellipse">
            <a:avLst/>
          </a:prstGeom>
          <a:pattFill prst="ltUpDiag">
            <a:fgClr>
              <a:srgbClr val="000000"/>
            </a:fgClr>
            <a:bgClr>
              <a:srgbClr val="FFFFFF"/>
            </a:bgClr>
          </a:patt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39" name="Oval 67" descr="浅色上对角线"/>
          <p:cNvSpPr>
            <a:spLocks noChangeArrowheads="1"/>
          </p:cNvSpPr>
          <p:nvPr/>
        </p:nvSpPr>
        <p:spPr bwMode="auto">
          <a:xfrm>
            <a:off x="769368" y="2852936"/>
            <a:ext cx="1624013" cy="1600200"/>
          </a:xfrm>
          <a:prstGeom prst="ellips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40" name="Rectangle 68"/>
          <p:cNvSpPr>
            <a:spLocks noChangeArrowheads="1"/>
          </p:cNvSpPr>
          <p:nvPr/>
        </p:nvSpPr>
        <p:spPr bwMode="auto">
          <a:xfrm>
            <a:off x="1188468" y="3098999"/>
            <a:ext cx="201613" cy="334962"/>
          </a:xfrm>
          <a:prstGeom prst="rect">
            <a:avLst/>
          </a:prstGeom>
          <a:noFill/>
          <a:ln w="12700" cap="sq">
            <a:noFill/>
            <a:miter lim="800000"/>
            <a:headEnd/>
            <a:tailEnd/>
          </a:ln>
          <a:effectLst/>
        </p:spPr>
        <p:txBody>
          <a:bodyPr wrap="none" lIns="0" tIns="0" rIns="0" bIns="0">
            <a:spAutoFit/>
          </a:bodyPr>
          <a:lstStyle/>
          <a:p>
            <a:pPr algn="ctr" fontAlgn="auto">
              <a:spcBef>
                <a:spcPts val="0"/>
              </a:spcBef>
              <a:defRPr/>
            </a:pPr>
            <a:r>
              <a:rPr lang="en-US" altLang="zh-CN" sz="2200" b="1" kern="0" baseline="0">
                <a:solidFill>
                  <a:srgbClr val="003399"/>
                </a:solidFill>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41" name="Rectangle 69"/>
          <p:cNvSpPr>
            <a:spLocks noChangeArrowheads="1"/>
          </p:cNvSpPr>
          <p:nvPr/>
        </p:nvSpPr>
        <p:spPr bwMode="auto">
          <a:xfrm>
            <a:off x="2841056" y="3081536"/>
            <a:ext cx="155575" cy="334963"/>
          </a:xfrm>
          <a:prstGeom prst="rect">
            <a:avLst/>
          </a:prstGeom>
          <a:noFill/>
          <a:ln w="12700" cap="sq">
            <a:noFill/>
            <a:miter lim="800000"/>
            <a:headEnd/>
            <a:tailEnd/>
          </a:ln>
          <a:effectLst/>
        </p:spPr>
        <p:txBody>
          <a:bodyPr wrap="none" lIns="0" tIns="0" rIns="0" bIns="0">
            <a:spAutoFit/>
          </a:bodyPr>
          <a:lstStyle/>
          <a:p>
            <a:pPr algn="ctr" fontAlgn="auto">
              <a:spcBef>
                <a:spcPts val="0"/>
              </a:spcBef>
              <a:defRPr/>
            </a:pPr>
            <a:r>
              <a:rPr lang="en-US" altLang="zh-CN" sz="2200" b="1" kern="0" baseline="0">
                <a:solidFill>
                  <a:srgbClr val="003399"/>
                </a:solidFill>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42" name="Rectangle 70"/>
          <p:cNvSpPr>
            <a:spLocks noChangeArrowheads="1"/>
          </p:cNvSpPr>
          <p:nvPr/>
        </p:nvSpPr>
        <p:spPr bwMode="auto">
          <a:xfrm>
            <a:off x="1744093" y="4580136"/>
            <a:ext cx="728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a:solidFill>
                  <a:srgbClr val="99FF33"/>
                </a:solidFill>
                <a:latin typeface="Arial" charset="0"/>
                <a:ea typeface="黑体" panose="02010609060101010101" pitchFamily="49" charset="-122"/>
              </a:rPr>
              <a:t>R∪S</a:t>
            </a:r>
            <a:endParaRPr lang="zh-CN" altLang="en-US" sz="2400" baseline="0">
              <a:solidFill>
                <a:srgbClr val="99FF33"/>
              </a:solidFill>
              <a:latin typeface="Arial" charset="0"/>
              <a:ea typeface="黑体" panose="02010609060101010101" pitchFamily="49" charset="-122"/>
            </a:endParaRPr>
          </a:p>
        </p:txBody>
      </p:sp>
      <p:graphicFrame>
        <p:nvGraphicFramePr>
          <p:cNvPr id="47" name="Group 5"/>
          <p:cNvGraphicFramePr>
            <a:graphicFrameLocks noGrp="1"/>
          </p:cNvGraphicFramePr>
          <p:nvPr>
            <p:extLst>
              <p:ext uri="{D42A27DB-BD31-4B8C-83A1-F6EECF244321}">
                <p14:modId xmlns:p14="http://schemas.microsoft.com/office/powerpoint/2010/main" val="996670930"/>
              </p:ext>
            </p:extLst>
          </p:nvPr>
        </p:nvGraphicFramePr>
        <p:xfrm>
          <a:off x="5091900" y="4849917"/>
          <a:ext cx="1905000" cy="146304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extLst>
                  <a:ext uri="{0D108BD9-81ED-4DB2-BD59-A6C34878D82A}">
                    <a16:rowId xmlns:a16="http://schemas.microsoft.com/office/drawing/2014/main" val="10000"/>
                  </a:ext>
                </a:extLst>
              </a:tr>
              <a:tr h="33972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1"/>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2"/>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3"/>
                  </a:ext>
                </a:extLst>
              </a:tr>
            </a:tbl>
          </a:graphicData>
        </a:graphic>
      </p:graphicFrame>
      <p:graphicFrame>
        <p:nvGraphicFramePr>
          <p:cNvPr id="48" name="Group 22"/>
          <p:cNvGraphicFramePr>
            <a:graphicFrameLocks noGrp="1"/>
          </p:cNvGraphicFramePr>
          <p:nvPr>
            <p:extLst>
              <p:ext uri="{D42A27DB-BD31-4B8C-83A1-F6EECF244321}">
                <p14:modId xmlns:p14="http://schemas.microsoft.com/office/powerpoint/2010/main" val="3555849294"/>
              </p:ext>
            </p:extLst>
          </p:nvPr>
        </p:nvGraphicFramePr>
        <p:xfrm>
          <a:off x="5091900" y="3089236"/>
          <a:ext cx="1905000" cy="146304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340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1"/>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2"/>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3"/>
                  </a:ext>
                </a:extLst>
              </a:tr>
            </a:tbl>
          </a:graphicData>
        </a:graphic>
      </p:graphicFrame>
      <p:sp>
        <p:nvSpPr>
          <p:cNvPr id="49" name="Rectangle 62"/>
          <p:cNvSpPr>
            <a:spLocks noChangeArrowheads="1"/>
          </p:cNvSpPr>
          <p:nvPr/>
        </p:nvSpPr>
        <p:spPr bwMode="auto">
          <a:xfrm>
            <a:off x="4800704" y="3052168"/>
            <a:ext cx="205185"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50" name="Rectangle 63"/>
          <p:cNvSpPr>
            <a:spLocks noChangeArrowheads="1"/>
          </p:cNvSpPr>
          <p:nvPr/>
        </p:nvSpPr>
        <p:spPr bwMode="auto">
          <a:xfrm>
            <a:off x="4850564" y="4868967"/>
            <a:ext cx="171522"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2" name="矩形 1"/>
          <p:cNvSpPr/>
          <p:nvPr/>
        </p:nvSpPr>
        <p:spPr>
          <a:xfrm>
            <a:off x="283518" y="5036392"/>
            <a:ext cx="4393336" cy="1528624"/>
          </a:xfrm>
          <a:prstGeom prst="rect">
            <a:avLst/>
          </a:prstGeom>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注意</a:t>
            </a:r>
            <a:r>
              <a:rPr lang="zh-CN" altLang="en-US" sz="2800" b="1" dirty="0" smtClean="0">
                <a:solidFill>
                  <a:srgbClr val="FF0000"/>
                </a:solidFill>
                <a:latin typeface="微软雅黑" panose="020B0503020204020204" pitchFamily="34" charset="-122"/>
                <a:ea typeface="微软雅黑" panose="020B0503020204020204" pitchFamily="34" charset="-122"/>
              </a:rPr>
              <a:t>：</a:t>
            </a:r>
            <a:endParaRPr lang="en-US" altLang="zh-CN" sz="2800" b="1" dirty="0" smtClean="0">
              <a:solidFill>
                <a:srgbClr val="FF0000"/>
              </a:solidFill>
              <a:latin typeface="微软雅黑" panose="020B0503020204020204" pitchFamily="34" charset="-122"/>
              <a:ea typeface="微软雅黑" panose="020B0503020204020204" pitchFamily="34" charset="-122"/>
            </a:endParaRPr>
          </a:p>
          <a:p>
            <a:r>
              <a:rPr lang="zh-CN" altLang="en-US" sz="2800" b="1" dirty="0" smtClean="0">
                <a:solidFill>
                  <a:srgbClr val="FF0000"/>
                </a:solidFill>
                <a:latin typeface="微软雅黑" panose="020B0503020204020204" pitchFamily="34" charset="-122"/>
                <a:ea typeface="微软雅黑" panose="020B0503020204020204" pitchFamily="34" charset="-122"/>
              </a:rPr>
              <a:t>关系</a:t>
            </a:r>
            <a:r>
              <a:rPr lang="en-US" altLang="zh-CN" sz="2800" b="1" dirty="0">
                <a:solidFill>
                  <a:srgbClr val="FF0000"/>
                </a:solidFill>
                <a:latin typeface="微软雅黑" panose="020B0503020204020204" pitchFamily="34" charset="-122"/>
                <a:ea typeface="微软雅黑" panose="020B0503020204020204" pitchFamily="34" charset="-122"/>
              </a:rPr>
              <a:t>R</a:t>
            </a:r>
            <a:r>
              <a:rPr lang="zh-CN" altLang="en-US" sz="2800" b="1" dirty="0">
                <a:solidFill>
                  <a:srgbClr val="FF0000"/>
                </a:solidFill>
                <a:latin typeface="微软雅黑" panose="020B0503020204020204" pitchFamily="34" charset="-122"/>
                <a:ea typeface="微软雅黑" panose="020B0503020204020204" pitchFamily="34" charset="-122"/>
              </a:rPr>
              <a:t>和关系</a:t>
            </a:r>
            <a:r>
              <a:rPr lang="en-US" altLang="zh-CN" sz="2800" b="1" dirty="0">
                <a:solidFill>
                  <a:srgbClr val="FF0000"/>
                </a:solidFill>
                <a:latin typeface="微软雅黑" panose="020B0503020204020204" pitchFamily="34" charset="-122"/>
                <a:ea typeface="微软雅黑" panose="020B0503020204020204" pitchFamily="34" charset="-122"/>
              </a:rPr>
              <a:t>S</a:t>
            </a:r>
            <a:r>
              <a:rPr lang="zh-CN" altLang="en-US" sz="2800" b="1" dirty="0">
                <a:solidFill>
                  <a:srgbClr val="FF0000"/>
                </a:solidFill>
                <a:latin typeface="微软雅黑" panose="020B0503020204020204" pitchFamily="34" charset="-122"/>
                <a:ea typeface="微软雅黑" panose="020B0503020204020204" pitchFamily="34" charset="-122"/>
              </a:rPr>
              <a:t>的属性个数、相应列上的属性名和域必须一致。</a:t>
            </a:r>
          </a:p>
          <a:p>
            <a:r>
              <a:rPr lang="zh-CN" altLang="en-US" sz="2800" b="1" dirty="0" smtClean="0">
                <a:solidFill>
                  <a:srgbClr val="FF0000"/>
                </a:solidFill>
                <a:latin typeface="微软雅黑" panose="020B0503020204020204" pitchFamily="34" charset="-122"/>
                <a:ea typeface="微软雅黑" panose="020B0503020204020204" pitchFamily="34" charset="-122"/>
              </a:rPr>
              <a:t>并</a:t>
            </a:r>
            <a:r>
              <a:rPr lang="zh-CN" altLang="en-US" sz="2800" b="1" dirty="0">
                <a:solidFill>
                  <a:srgbClr val="FF0000"/>
                </a:solidFill>
                <a:latin typeface="微软雅黑" panose="020B0503020204020204" pitchFamily="34" charset="-122"/>
                <a:ea typeface="微软雅黑" panose="020B0503020204020204" pitchFamily="34" charset="-122"/>
              </a:rPr>
              <a:t>操作是关系的基本操作，它不能由其它操作导出。</a:t>
            </a:r>
          </a:p>
        </p:txBody>
      </p:sp>
    </p:spTree>
    <p:extLst>
      <p:ext uri="{BB962C8B-B14F-4D97-AF65-F5344CB8AC3E}">
        <p14:creationId xmlns:p14="http://schemas.microsoft.com/office/powerpoint/2010/main" val="111149801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040560" cy="760959"/>
          </a:xfrm>
          <a:noFill/>
          <a:ln w="12700" cap="sq">
            <a:noFill/>
            <a:miter lim="800000"/>
            <a:headEnd/>
            <a:tailEnd/>
          </a:ln>
          <a:effectLst>
            <a:outerShdw dist="35921" dir="2700000" algn="ctr" rotWithShape="0">
              <a:schemeClr val="bg2"/>
            </a:outerShdw>
          </a:effectLst>
        </p:spPr>
        <p:txBody>
          <a:bodyPr vert="horz" wrap="squar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差（</a:t>
            </a:r>
            <a:r>
              <a:rPr lang="en-US" altLang="zh-CN" b="1" u="sng" kern="1200" dirty="0">
                <a:solidFill>
                  <a:schemeClr val="folHlink"/>
                </a:solidFill>
                <a:effectLst>
                  <a:outerShdw blurRad="38100" dist="38100" dir="2700000" algn="tl">
                    <a:srgbClr val="000000"/>
                  </a:outerShdw>
                </a:effectLst>
                <a:cs typeface="+mn-cs"/>
              </a:rPr>
              <a:t>Difference </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graphicFrame>
        <p:nvGraphicFramePr>
          <p:cNvPr id="60" name="Group 39"/>
          <p:cNvGraphicFramePr>
            <a:graphicFrameLocks noGrp="1"/>
          </p:cNvGraphicFramePr>
          <p:nvPr>
            <p:extLst>
              <p:ext uri="{D42A27DB-BD31-4B8C-83A1-F6EECF244321}">
                <p14:modId xmlns:p14="http://schemas.microsoft.com/office/powerpoint/2010/main" val="1992509659"/>
              </p:ext>
            </p:extLst>
          </p:nvPr>
        </p:nvGraphicFramePr>
        <p:xfrm>
          <a:off x="7968208" y="3196512"/>
          <a:ext cx="1905000" cy="1312608"/>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375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375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3753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sp>
        <p:nvSpPr>
          <p:cNvPr id="63" name="Rectangle 55"/>
          <p:cNvSpPr>
            <a:spLocks noChangeArrowheads="1"/>
          </p:cNvSpPr>
          <p:nvPr/>
        </p:nvSpPr>
        <p:spPr bwMode="auto">
          <a:xfrm>
            <a:off x="8101175" y="2790114"/>
            <a:ext cx="735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a:solidFill>
                  <a:prstClr val="white"/>
                </a:solidFill>
                <a:latin typeface="Arial" charset="0"/>
                <a:ea typeface="黑体" panose="02010609060101010101" pitchFamily="49" charset="-122"/>
              </a:rPr>
              <a:t>R－S</a:t>
            </a:r>
            <a:endParaRPr lang="zh-CN" altLang="en-US" sz="2400" baseline="0">
              <a:solidFill>
                <a:prstClr val="white"/>
              </a:solidFill>
              <a:latin typeface="Arial" charset="0"/>
              <a:ea typeface="黑体" panose="02010609060101010101" pitchFamily="49" charset="-122"/>
            </a:endParaRPr>
          </a:p>
        </p:txBody>
      </p:sp>
      <p:sp>
        <p:nvSpPr>
          <p:cNvPr id="64" name="Oval 56" descr="浅色上对角线"/>
          <p:cNvSpPr>
            <a:spLocks noChangeArrowheads="1"/>
          </p:cNvSpPr>
          <p:nvPr/>
        </p:nvSpPr>
        <p:spPr bwMode="auto">
          <a:xfrm>
            <a:off x="919669" y="3967310"/>
            <a:ext cx="1624013" cy="1600200"/>
          </a:xfrm>
          <a:prstGeom prst="ellipse">
            <a:avLst/>
          </a:prstGeom>
          <a:pattFill prst="ltUpDiag">
            <a:fgClr>
              <a:srgbClr val="000000"/>
            </a:fgClr>
            <a:bgClr>
              <a:srgbClr val="FFFFFF"/>
            </a:bgClr>
          </a:patt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65" name="Oval 57"/>
          <p:cNvSpPr>
            <a:spLocks noChangeArrowheads="1"/>
          </p:cNvSpPr>
          <p:nvPr/>
        </p:nvSpPr>
        <p:spPr bwMode="auto">
          <a:xfrm>
            <a:off x="2038857" y="3967310"/>
            <a:ext cx="1624012" cy="1600200"/>
          </a:xfrm>
          <a:prstGeom prst="ellipse">
            <a:avLst/>
          </a:prstGeom>
          <a:solidFill>
            <a:srgbClr val="FFFFFF"/>
          </a:solid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66" name="Rectangle 58"/>
          <p:cNvSpPr>
            <a:spLocks noChangeArrowheads="1"/>
          </p:cNvSpPr>
          <p:nvPr/>
        </p:nvSpPr>
        <p:spPr bwMode="auto">
          <a:xfrm>
            <a:off x="1422907" y="4213373"/>
            <a:ext cx="185737" cy="33496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200" baseline="0">
                <a:solidFill>
                  <a:srgbClr val="3333CC"/>
                </a:solidFill>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67" name="Rectangle 59"/>
          <p:cNvSpPr>
            <a:spLocks noChangeArrowheads="1"/>
          </p:cNvSpPr>
          <p:nvPr/>
        </p:nvSpPr>
        <p:spPr bwMode="auto">
          <a:xfrm>
            <a:off x="3067557" y="4195910"/>
            <a:ext cx="155575" cy="334963"/>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200" baseline="0">
                <a:solidFill>
                  <a:srgbClr val="3333CC"/>
                </a:solidFill>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68" name="Rectangle 60"/>
          <p:cNvSpPr>
            <a:spLocks noChangeArrowheads="1"/>
          </p:cNvSpPr>
          <p:nvPr/>
        </p:nvSpPr>
        <p:spPr bwMode="auto">
          <a:xfrm>
            <a:off x="1970594" y="5694510"/>
            <a:ext cx="728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a:solidFill>
                  <a:srgbClr val="99FF33"/>
                </a:solidFill>
                <a:latin typeface="Arial" charset="0"/>
                <a:ea typeface="黑体" panose="02010609060101010101" pitchFamily="49" charset="-122"/>
              </a:rPr>
              <a:t>R－S</a:t>
            </a:r>
            <a:endParaRPr lang="zh-CN" altLang="en-US" sz="2400" baseline="0">
              <a:solidFill>
                <a:srgbClr val="99FF33"/>
              </a:solidFill>
              <a:latin typeface="Arial" charset="0"/>
              <a:ea typeface="黑体" panose="02010609060101010101" pitchFamily="49" charset="-122"/>
            </a:endParaRPr>
          </a:p>
        </p:txBody>
      </p:sp>
      <p:sp>
        <p:nvSpPr>
          <p:cNvPr id="69" name="Oval 61" descr="浅色上对角线"/>
          <p:cNvSpPr>
            <a:spLocks noChangeArrowheads="1"/>
          </p:cNvSpPr>
          <p:nvPr/>
        </p:nvSpPr>
        <p:spPr bwMode="auto">
          <a:xfrm>
            <a:off x="919669" y="3967310"/>
            <a:ext cx="1624013" cy="1600200"/>
          </a:xfrm>
          <a:prstGeom prst="ellips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grpSp>
        <p:nvGrpSpPr>
          <p:cNvPr id="2" name="组合 1"/>
          <p:cNvGrpSpPr/>
          <p:nvPr/>
        </p:nvGrpSpPr>
        <p:grpSpPr>
          <a:xfrm>
            <a:off x="407368" y="964754"/>
            <a:ext cx="11305256" cy="1727200"/>
            <a:chOff x="407368" y="964754"/>
            <a:chExt cx="11305256" cy="1727200"/>
          </a:xfrm>
        </p:grpSpPr>
        <p:sp>
          <p:nvSpPr>
            <p:cNvPr id="57" name="Rectangle 4"/>
            <p:cNvSpPr txBox="1">
              <a:spLocks noChangeArrowheads="1"/>
            </p:cNvSpPr>
            <p:nvPr/>
          </p:nvSpPr>
          <p:spPr bwMode="auto">
            <a:xfrm>
              <a:off x="407368" y="964754"/>
              <a:ext cx="11305256" cy="172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30000"/>
                </a:spcAft>
                <a:buFont typeface="Wingdings" pitchFamily="2" charset="2"/>
                <a:buNone/>
                <a:defRPr/>
              </a:pPr>
              <a:r>
                <a:rPr kumimoji="1" lang="zh-CN" altLang="en-US" baseline="0" dirty="0">
                  <a:latin typeface="Arial" charset="0"/>
                </a:rPr>
                <a:t>	</a:t>
              </a:r>
              <a:r>
                <a:rPr kumimoji="1" lang="zh-CN" altLang="zh-CN" baseline="0" dirty="0">
                  <a:latin typeface="Arial" charset="0"/>
                </a:rPr>
                <a:t>设关系R和关系S</a:t>
              </a:r>
              <a:r>
                <a:rPr kumimoji="1" lang="zh-CN" altLang="en-US" baseline="0" dirty="0">
                  <a:latin typeface="Arial" charset="0"/>
                </a:rPr>
                <a:t>是</a:t>
              </a:r>
              <a:r>
                <a:rPr kumimoji="1" lang="zh-CN" altLang="en-US" baseline="0" dirty="0">
                  <a:solidFill>
                    <a:srgbClr val="00FFFF"/>
                  </a:solidFill>
                  <a:latin typeface="Arial" charset="0"/>
                </a:rPr>
                <a:t>相容</a:t>
              </a:r>
              <a:r>
                <a:rPr kumimoji="1" lang="zh-CN" altLang="en-US" baseline="0" dirty="0">
                  <a:latin typeface="Arial" charset="0"/>
                </a:rPr>
                <a:t>的，</a:t>
              </a:r>
              <a:r>
                <a:rPr kumimoji="1" lang="zh-CN" altLang="zh-CN" baseline="0" dirty="0">
                  <a:latin typeface="Arial" charset="0"/>
                </a:rPr>
                <a:t>则关系R和关系S的差由属于R但不属于S的元组组成, 记为:</a:t>
              </a:r>
            </a:p>
            <a:p>
              <a:pPr eaLnBrk="1" hangingPunct="1">
                <a:spcAft>
                  <a:spcPct val="30000"/>
                </a:spcAft>
                <a:buFont typeface="Wingdings" pitchFamily="2" charset="2"/>
                <a:buNone/>
                <a:defRPr/>
              </a:pPr>
              <a:r>
                <a:rPr kumimoji="1" lang="zh-CN" altLang="zh-CN" baseline="0" dirty="0">
                  <a:latin typeface="Arial" charset="0"/>
                </a:rPr>
                <a:t>		</a:t>
              </a:r>
              <a:r>
                <a:rPr kumimoji="1" lang="zh-CN" altLang="zh-CN" baseline="0" dirty="0">
                  <a:solidFill>
                    <a:srgbClr val="FFFF00"/>
                  </a:solidFill>
                  <a:latin typeface="Arial" charset="0"/>
                </a:rPr>
                <a:t>	 R－S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t</a:t>
              </a:r>
              <a:r>
                <a:rPr kumimoji="1" lang="zh-CN" altLang="zh-CN" baseline="0" dirty="0">
                  <a:solidFill>
                    <a:srgbClr val="FFFF00"/>
                  </a:solidFill>
                  <a:latin typeface="宋体" pitchFamily="2" charset="-122"/>
                  <a:ea typeface="宋体" pitchFamily="2" charset="-122"/>
                </a:rPr>
                <a:t>∈</a:t>
              </a:r>
              <a:r>
                <a:rPr kumimoji="1" lang="zh-CN" altLang="zh-CN" baseline="0" dirty="0">
                  <a:solidFill>
                    <a:srgbClr val="FFFF00"/>
                  </a:solidFill>
                  <a:latin typeface="Arial" charset="0"/>
                </a:rPr>
                <a:t>R</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t</a:t>
              </a:r>
              <a:r>
                <a:rPr kumimoji="1" lang="zh-CN" altLang="zh-CN" baseline="0" dirty="0">
                  <a:solidFill>
                    <a:srgbClr val="FFFF00"/>
                  </a:solidFill>
                  <a:latin typeface="宋体" pitchFamily="2" charset="-122"/>
                  <a:ea typeface="宋体" pitchFamily="2" charset="-122"/>
                </a:rPr>
                <a:t>∈</a:t>
              </a:r>
              <a:r>
                <a:rPr kumimoji="1" lang="zh-CN" altLang="zh-CN" baseline="0" dirty="0">
                  <a:solidFill>
                    <a:srgbClr val="FFFF00"/>
                  </a:solidFill>
                  <a:latin typeface="Arial" charset="0"/>
                </a:rPr>
                <a:t>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p>
          </p:txBody>
        </p:sp>
        <p:sp>
          <p:nvSpPr>
            <p:cNvPr id="70" name="Line 62"/>
            <p:cNvSpPr>
              <a:spLocks noChangeShapeType="1"/>
            </p:cNvSpPr>
            <p:nvPr/>
          </p:nvSpPr>
          <p:spPr bwMode="auto">
            <a:xfrm flipH="1">
              <a:off x="6198451" y="2232574"/>
              <a:ext cx="71438" cy="287338"/>
            </a:xfrm>
            <a:prstGeom prst="line">
              <a:avLst/>
            </a:prstGeom>
            <a:noFill/>
            <a:ln w="19050" cap="sq">
              <a:solidFill>
                <a:srgbClr val="FFFF00"/>
              </a:solidFill>
              <a:round/>
              <a:headEnd/>
              <a:tailEnd/>
            </a:ln>
            <a:effectLst/>
          </p:spPr>
          <p:txBody>
            <a:bodyPr lIns="72000" tIns="72000" rIns="72000" bIns="72000"/>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grpSp>
      <p:graphicFrame>
        <p:nvGraphicFramePr>
          <p:cNvPr id="75" name="Group 5"/>
          <p:cNvGraphicFramePr>
            <a:graphicFrameLocks noGrp="1"/>
          </p:cNvGraphicFramePr>
          <p:nvPr>
            <p:extLst>
              <p:ext uri="{D42A27DB-BD31-4B8C-83A1-F6EECF244321}">
                <p14:modId xmlns:p14="http://schemas.microsoft.com/office/powerpoint/2010/main" val="39549461"/>
              </p:ext>
            </p:extLst>
          </p:nvPr>
        </p:nvGraphicFramePr>
        <p:xfrm>
          <a:off x="5091900" y="4849917"/>
          <a:ext cx="1905000" cy="146304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extLst>
                  <a:ext uri="{0D108BD9-81ED-4DB2-BD59-A6C34878D82A}">
                    <a16:rowId xmlns:a16="http://schemas.microsoft.com/office/drawing/2014/main" val="10000"/>
                  </a:ext>
                </a:extLst>
              </a:tr>
              <a:tr h="33972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1"/>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2"/>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3"/>
                  </a:ext>
                </a:extLst>
              </a:tr>
            </a:tbl>
          </a:graphicData>
        </a:graphic>
      </p:graphicFrame>
      <p:graphicFrame>
        <p:nvGraphicFramePr>
          <p:cNvPr id="76" name="Group 22"/>
          <p:cNvGraphicFramePr>
            <a:graphicFrameLocks noGrp="1"/>
          </p:cNvGraphicFramePr>
          <p:nvPr>
            <p:extLst>
              <p:ext uri="{D42A27DB-BD31-4B8C-83A1-F6EECF244321}">
                <p14:modId xmlns:p14="http://schemas.microsoft.com/office/powerpoint/2010/main" val="1786232057"/>
              </p:ext>
            </p:extLst>
          </p:nvPr>
        </p:nvGraphicFramePr>
        <p:xfrm>
          <a:off x="5091900" y="3089236"/>
          <a:ext cx="1905000" cy="146304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340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1"/>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2"/>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3"/>
                  </a:ext>
                </a:extLst>
              </a:tr>
            </a:tbl>
          </a:graphicData>
        </a:graphic>
      </p:graphicFrame>
      <p:sp>
        <p:nvSpPr>
          <p:cNvPr id="77" name="Rectangle 62"/>
          <p:cNvSpPr>
            <a:spLocks noChangeArrowheads="1"/>
          </p:cNvSpPr>
          <p:nvPr/>
        </p:nvSpPr>
        <p:spPr bwMode="auto">
          <a:xfrm>
            <a:off x="4800704" y="3052168"/>
            <a:ext cx="205185"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78" name="Rectangle 63"/>
          <p:cNvSpPr>
            <a:spLocks noChangeArrowheads="1"/>
          </p:cNvSpPr>
          <p:nvPr/>
        </p:nvSpPr>
        <p:spPr bwMode="auto">
          <a:xfrm>
            <a:off x="4850564" y="4868967"/>
            <a:ext cx="171522"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18" name="矩形 17"/>
          <p:cNvSpPr/>
          <p:nvPr/>
        </p:nvSpPr>
        <p:spPr>
          <a:xfrm>
            <a:off x="7192875" y="4817125"/>
            <a:ext cx="4393336" cy="1528624"/>
          </a:xfrm>
          <a:prstGeom prst="rect">
            <a:avLst/>
          </a:prstGeom>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注意</a:t>
            </a:r>
            <a:r>
              <a:rPr lang="zh-CN" altLang="en-US" sz="2800" b="1" dirty="0" smtClean="0">
                <a:solidFill>
                  <a:srgbClr val="FF0000"/>
                </a:solidFill>
                <a:latin typeface="微软雅黑" panose="020B0503020204020204" pitchFamily="34" charset="-122"/>
                <a:ea typeface="微软雅黑" panose="020B0503020204020204" pitchFamily="34" charset="-122"/>
              </a:rPr>
              <a:t>：</a:t>
            </a:r>
            <a:endParaRPr lang="en-US" altLang="zh-CN" sz="2800" b="1" dirty="0" smtClean="0">
              <a:solidFill>
                <a:srgbClr val="FF0000"/>
              </a:solidFill>
              <a:latin typeface="微软雅黑" panose="020B0503020204020204" pitchFamily="34" charset="-122"/>
              <a:ea typeface="微软雅黑" panose="020B0503020204020204" pitchFamily="34" charset="-122"/>
            </a:endParaRPr>
          </a:p>
          <a:p>
            <a:r>
              <a:rPr lang="zh-CN" altLang="en-US" sz="2800" b="1" dirty="0">
                <a:solidFill>
                  <a:srgbClr val="FF0000"/>
                </a:solidFill>
                <a:latin typeface="微软雅黑" panose="020B0503020204020204" pitchFamily="34" charset="-122"/>
                <a:ea typeface="微软雅黑" panose="020B0503020204020204" pitchFamily="34" charset="-122"/>
              </a:rPr>
              <a:t>关系</a:t>
            </a:r>
            <a:r>
              <a:rPr lang="en-US" altLang="zh-CN" sz="2800" b="1" dirty="0">
                <a:solidFill>
                  <a:srgbClr val="FF0000"/>
                </a:solidFill>
                <a:latin typeface="微软雅黑" panose="020B0503020204020204" pitchFamily="34" charset="-122"/>
                <a:ea typeface="微软雅黑" panose="020B0503020204020204" pitchFamily="34" charset="-122"/>
              </a:rPr>
              <a:t>R</a:t>
            </a:r>
            <a:r>
              <a:rPr lang="zh-CN" altLang="en-US" sz="2800" b="1" dirty="0">
                <a:solidFill>
                  <a:srgbClr val="FF0000"/>
                </a:solidFill>
                <a:latin typeface="微软雅黑" panose="020B0503020204020204" pitchFamily="34" charset="-122"/>
                <a:ea typeface="微软雅黑" panose="020B0503020204020204" pitchFamily="34" charset="-122"/>
              </a:rPr>
              <a:t>和关系</a:t>
            </a:r>
            <a:r>
              <a:rPr lang="en-US" altLang="zh-CN" sz="2800" b="1" dirty="0">
                <a:solidFill>
                  <a:srgbClr val="FF0000"/>
                </a:solidFill>
                <a:latin typeface="微软雅黑" panose="020B0503020204020204" pitchFamily="34" charset="-122"/>
                <a:ea typeface="微软雅黑" panose="020B0503020204020204" pitchFamily="34" charset="-122"/>
              </a:rPr>
              <a:t>S</a:t>
            </a:r>
            <a:r>
              <a:rPr lang="zh-CN" altLang="en-US" sz="2800" b="1" dirty="0">
                <a:solidFill>
                  <a:srgbClr val="FF0000"/>
                </a:solidFill>
                <a:latin typeface="微软雅黑" panose="020B0503020204020204" pitchFamily="34" charset="-122"/>
                <a:ea typeface="微软雅黑" panose="020B0503020204020204" pitchFamily="34" charset="-122"/>
              </a:rPr>
              <a:t>的结构必须一致，即关系</a:t>
            </a:r>
            <a:r>
              <a:rPr lang="en-US" altLang="zh-CN" sz="2800" b="1" dirty="0">
                <a:solidFill>
                  <a:srgbClr val="FF0000"/>
                </a:solidFill>
                <a:latin typeface="微软雅黑" panose="020B0503020204020204" pitchFamily="34" charset="-122"/>
                <a:ea typeface="微软雅黑" panose="020B0503020204020204" pitchFamily="34" charset="-122"/>
              </a:rPr>
              <a:t>R</a:t>
            </a:r>
            <a:r>
              <a:rPr lang="zh-CN" altLang="en-US" sz="2800" b="1" dirty="0">
                <a:solidFill>
                  <a:srgbClr val="FF0000"/>
                </a:solidFill>
                <a:latin typeface="微软雅黑" panose="020B0503020204020204" pitchFamily="34" charset="-122"/>
                <a:ea typeface="微软雅黑" panose="020B0503020204020204" pitchFamily="34" charset="-122"/>
              </a:rPr>
              <a:t>和关系</a:t>
            </a:r>
            <a:r>
              <a:rPr lang="en-US" altLang="zh-CN" sz="2800" b="1" dirty="0">
                <a:solidFill>
                  <a:srgbClr val="FF0000"/>
                </a:solidFill>
                <a:latin typeface="微软雅黑" panose="020B0503020204020204" pitchFamily="34" charset="-122"/>
                <a:ea typeface="微软雅黑" panose="020B0503020204020204" pitchFamily="34" charset="-122"/>
              </a:rPr>
              <a:t>S</a:t>
            </a:r>
            <a:r>
              <a:rPr lang="zh-CN" altLang="en-US" sz="2800" b="1" dirty="0">
                <a:solidFill>
                  <a:srgbClr val="FF0000"/>
                </a:solidFill>
                <a:latin typeface="微软雅黑" panose="020B0503020204020204" pitchFamily="34" charset="-122"/>
                <a:ea typeface="微软雅黑" panose="020B0503020204020204" pitchFamily="34" charset="-122"/>
              </a:rPr>
              <a:t>的属性个数、相应列上的属性名和域必须一致。</a:t>
            </a:r>
          </a:p>
          <a:p>
            <a:r>
              <a:rPr lang="zh-CN" altLang="en-US" sz="2800" b="1" dirty="0" smtClean="0">
                <a:solidFill>
                  <a:srgbClr val="FF0000"/>
                </a:solidFill>
                <a:latin typeface="微软雅黑" panose="020B0503020204020204" pitchFamily="34" charset="-122"/>
                <a:ea typeface="微软雅黑" panose="020B0503020204020204" pitchFamily="34" charset="-122"/>
              </a:rPr>
              <a:t>差</a:t>
            </a:r>
            <a:r>
              <a:rPr lang="zh-CN" altLang="en-US" sz="2800" b="1" dirty="0">
                <a:solidFill>
                  <a:srgbClr val="FF0000"/>
                </a:solidFill>
                <a:latin typeface="微软雅黑" panose="020B0503020204020204" pitchFamily="34" charset="-122"/>
                <a:ea typeface="微软雅黑" panose="020B0503020204020204" pitchFamily="34" charset="-122"/>
              </a:rPr>
              <a:t>操作也是关系的基本操作。</a:t>
            </a:r>
          </a:p>
        </p:txBody>
      </p:sp>
    </p:spTree>
    <p:extLst>
      <p:ext uri="{BB962C8B-B14F-4D97-AF65-F5344CB8AC3E}">
        <p14:creationId xmlns:p14="http://schemas.microsoft.com/office/powerpoint/2010/main" val="133898332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040560" cy="760959"/>
          </a:xfrm>
          <a:noFill/>
          <a:ln w="12700" cap="sq">
            <a:noFill/>
            <a:miter lim="800000"/>
            <a:headEnd/>
            <a:tailEnd/>
          </a:ln>
          <a:effectLst>
            <a:outerShdw dist="35921" dir="2700000" algn="ctr" rotWithShape="0">
              <a:schemeClr val="bg2"/>
            </a:outerShdw>
          </a:effectLst>
        </p:spPr>
        <p:txBody>
          <a:bodyPr vert="horz" wrap="squar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交（</a:t>
            </a:r>
            <a:r>
              <a:rPr lang="en-US" altLang="zh-CN" b="1" u="sng" kern="1200" dirty="0">
                <a:solidFill>
                  <a:schemeClr val="folHlink"/>
                </a:solidFill>
                <a:effectLst>
                  <a:outerShdw blurRad="38100" dist="38100" dir="2700000" algn="tl">
                    <a:srgbClr val="000000"/>
                  </a:outerShdw>
                </a:effectLst>
                <a:cs typeface="+mn-cs"/>
              </a:rPr>
              <a:t>Intersection</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57" name="Rectangle 4"/>
          <p:cNvSpPr txBox="1">
            <a:spLocks noChangeArrowheads="1"/>
          </p:cNvSpPr>
          <p:nvPr/>
        </p:nvSpPr>
        <p:spPr bwMode="auto">
          <a:xfrm>
            <a:off x="407368" y="964754"/>
            <a:ext cx="11305256" cy="172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30000"/>
              </a:spcAft>
              <a:buNone/>
              <a:defRPr/>
            </a:pPr>
            <a:r>
              <a:rPr kumimoji="1" lang="zh-CN" altLang="en-US" baseline="0" dirty="0">
                <a:latin typeface="Arial" charset="0"/>
              </a:rPr>
              <a:t>	</a:t>
            </a:r>
            <a:r>
              <a:rPr kumimoji="1" lang="zh-CN" altLang="zh-CN" baseline="0" dirty="0">
                <a:latin typeface="Arial" charset="0"/>
              </a:rPr>
              <a:t>设关系R和关系S</a:t>
            </a:r>
            <a:r>
              <a:rPr kumimoji="1" lang="zh-CN" altLang="en-US" baseline="0" dirty="0">
                <a:latin typeface="Arial" charset="0"/>
              </a:rPr>
              <a:t>是</a:t>
            </a:r>
            <a:r>
              <a:rPr kumimoji="1" lang="zh-CN" altLang="en-US" baseline="0" dirty="0">
                <a:solidFill>
                  <a:srgbClr val="00FFFF"/>
                </a:solidFill>
                <a:latin typeface="Arial" charset="0"/>
              </a:rPr>
              <a:t>相容</a:t>
            </a:r>
            <a:r>
              <a:rPr kumimoji="1" lang="zh-CN" altLang="en-US" baseline="0" dirty="0">
                <a:latin typeface="Arial" charset="0"/>
              </a:rPr>
              <a:t>的，</a:t>
            </a:r>
            <a:r>
              <a:rPr kumimoji="1" lang="zh-CN" altLang="zh-CN" baseline="0" dirty="0">
                <a:latin typeface="Arial" charset="0"/>
              </a:rPr>
              <a:t>则关系R和关系S的</a:t>
            </a:r>
            <a:r>
              <a:rPr kumimoji="1" lang="zh-CN" altLang="en-US" baseline="0" dirty="0">
                <a:latin typeface="Arial" charset="0"/>
              </a:rPr>
              <a:t>交由既属于</a:t>
            </a:r>
            <a:r>
              <a:rPr kumimoji="1" lang="en-US" altLang="zh-CN" baseline="0" dirty="0">
                <a:latin typeface="Arial" charset="0"/>
              </a:rPr>
              <a:t>R</a:t>
            </a:r>
            <a:r>
              <a:rPr kumimoji="1" lang="zh-CN" altLang="en-US" baseline="0" dirty="0">
                <a:latin typeface="Arial" charset="0"/>
              </a:rPr>
              <a:t>又属于</a:t>
            </a:r>
            <a:r>
              <a:rPr kumimoji="1" lang="en-US" altLang="zh-CN" baseline="0" dirty="0">
                <a:latin typeface="Arial" charset="0"/>
              </a:rPr>
              <a:t>S</a:t>
            </a:r>
            <a:r>
              <a:rPr kumimoji="1" lang="zh-CN" altLang="en-US" baseline="0" dirty="0">
                <a:latin typeface="Arial" charset="0"/>
              </a:rPr>
              <a:t>的元组组成</a:t>
            </a:r>
            <a:r>
              <a:rPr kumimoji="1" lang="zh-CN" altLang="zh-CN" baseline="0" dirty="0">
                <a:latin typeface="Arial" charset="0"/>
              </a:rPr>
              <a:t>, 记为:</a:t>
            </a:r>
          </a:p>
          <a:p>
            <a:pPr eaLnBrk="1" hangingPunct="1">
              <a:spcAft>
                <a:spcPct val="30000"/>
              </a:spcAft>
              <a:buNone/>
              <a:defRPr/>
            </a:pPr>
            <a:r>
              <a:rPr kumimoji="1" lang="zh-CN" altLang="zh-CN" baseline="0" dirty="0">
                <a:latin typeface="Arial" charset="0"/>
              </a:rPr>
              <a:t>		</a:t>
            </a:r>
            <a:r>
              <a:rPr kumimoji="1" lang="zh-CN" altLang="zh-CN" baseline="0" dirty="0">
                <a:solidFill>
                  <a:srgbClr val="FFFF00"/>
                </a:solidFill>
                <a:latin typeface="Arial" charset="0"/>
              </a:rPr>
              <a:t>	 </a:t>
            </a:r>
            <a:r>
              <a:rPr kumimoji="1" lang="en-US" altLang="zh-CN" baseline="0" dirty="0">
                <a:solidFill>
                  <a:srgbClr val="FFFF00"/>
                </a:solidFill>
                <a:latin typeface="Arial" charset="0"/>
              </a:rPr>
              <a:t>R∩S = { t | </a:t>
            </a:r>
            <a:r>
              <a:rPr kumimoji="1" lang="en-US" altLang="zh-CN" baseline="0" dirty="0" err="1">
                <a:solidFill>
                  <a:srgbClr val="FFFF00"/>
                </a:solidFill>
                <a:latin typeface="Arial" charset="0"/>
              </a:rPr>
              <a:t>t∈R</a:t>
            </a:r>
            <a:r>
              <a:rPr kumimoji="1" lang="en-US" altLang="zh-CN" baseline="0" dirty="0">
                <a:solidFill>
                  <a:srgbClr val="FFFF00"/>
                </a:solidFill>
                <a:latin typeface="Arial" charset="0"/>
              </a:rPr>
              <a:t> ∧ </a:t>
            </a:r>
            <a:r>
              <a:rPr kumimoji="1" lang="en-US" altLang="zh-CN" baseline="0" dirty="0" err="1">
                <a:solidFill>
                  <a:srgbClr val="FFFF00"/>
                </a:solidFill>
                <a:latin typeface="Arial" charset="0"/>
              </a:rPr>
              <a:t>t∈S</a:t>
            </a:r>
            <a:r>
              <a:rPr kumimoji="1" lang="en-US" altLang="zh-CN" baseline="0" dirty="0">
                <a:solidFill>
                  <a:srgbClr val="FFFF00"/>
                </a:solidFill>
                <a:latin typeface="Arial" charset="0"/>
              </a:rPr>
              <a:t> }</a:t>
            </a:r>
          </a:p>
        </p:txBody>
      </p:sp>
      <p:graphicFrame>
        <p:nvGraphicFramePr>
          <p:cNvPr id="90" name="Group 39"/>
          <p:cNvGraphicFramePr>
            <a:graphicFrameLocks noGrp="1"/>
          </p:cNvGraphicFramePr>
          <p:nvPr>
            <p:extLst>
              <p:ext uri="{D42A27DB-BD31-4B8C-83A1-F6EECF244321}">
                <p14:modId xmlns:p14="http://schemas.microsoft.com/office/powerpoint/2010/main" val="563631395"/>
              </p:ext>
            </p:extLst>
          </p:nvPr>
        </p:nvGraphicFramePr>
        <p:xfrm>
          <a:off x="7527130" y="3055805"/>
          <a:ext cx="1905000" cy="858836"/>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2941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extLst>
                  <a:ext uri="{0D108BD9-81ED-4DB2-BD59-A6C34878D82A}">
                    <a16:rowId xmlns:a16="http://schemas.microsoft.com/office/drawing/2014/main" val="10000"/>
                  </a:ext>
                </a:extLst>
              </a:tr>
              <a:tr h="42941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3" name="Rectangle 52"/>
          <p:cNvSpPr>
            <a:spLocks noChangeArrowheads="1"/>
          </p:cNvSpPr>
          <p:nvPr/>
        </p:nvSpPr>
        <p:spPr bwMode="auto">
          <a:xfrm>
            <a:off x="7703378" y="2649405"/>
            <a:ext cx="6492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dirty="0">
                <a:solidFill>
                  <a:prstClr val="white"/>
                </a:solidFill>
                <a:latin typeface="Arial" charset="0"/>
                <a:ea typeface="黑体" panose="02010609060101010101" pitchFamily="49" charset="-122"/>
              </a:rPr>
              <a:t>R∩S</a:t>
            </a:r>
            <a:endParaRPr lang="zh-CN" altLang="en-US" sz="2400" baseline="0" dirty="0">
              <a:solidFill>
                <a:prstClr val="white"/>
              </a:solidFill>
              <a:latin typeface="Arial" charset="0"/>
              <a:ea typeface="黑体" panose="02010609060101010101" pitchFamily="49" charset="-122"/>
            </a:endParaRPr>
          </a:p>
        </p:txBody>
      </p:sp>
      <p:grpSp>
        <p:nvGrpSpPr>
          <p:cNvPr id="4" name="组合 3"/>
          <p:cNvGrpSpPr/>
          <p:nvPr/>
        </p:nvGrpSpPr>
        <p:grpSpPr>
          <a:xfrm>
            <a:off x="1062543" y="3952752"/>
            <a:ext cx="2538413" cy="2193925"/>
            <a:chOff x="685800" y="4093245"/>
            <a:chExt cx="2538413" cy="2193925"/>
          </a:xfrm>
        </p:grpSpPr>
        <p:sp>
          <p:nvSpPr>
            <p:cNvPr id="94" name="Oval 53"/>
            <p:cNvSpPr>
              <a:spLocks noChangeArrowheads="1"/>
            </p:cNvSpPr>
            <p:nvPr/>
          </p:nvSpPr>
          <p:spPr bwMode="auto">
            <a:xfrm>
              <a:off x="685800" y="4093245"/>
              <a:ext cx="1624013" cy="1600200"/>
            </a:xfrm>
            <a:prstGeom prst="ellipse">
              <a:avLst/>
            </a:prstGeom>
            <a:solidFill>
              <a:srgbClr val="FFFFFF"/>
            </a:solid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95" name="Oval 54"/>
            <p:cNvSpPr>
              <a:spLocks noChangeArrowheads="1"/>
            </p:cNvSpPr>
            <p:nvPr/>
          </p:nvSpPr>
          <p:spPr bwMode="auto">
            <a:xfrm>
              <a:off x="1600200" y="4093245"/>
              <a:ext cx="1624013" cy="1600200"/>
            </a:xfrm>
            <a:prstGeom prst="ellipse">
              <a:avLst/>
            </a:prstGeom>
            <a:solidFill>
              <a:srgbClr val="FFFFFF"/>
            </a:solid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96" name="Rectangle 55"/>
            <p:cNvSpPr>
              <a:spLocks noChangeArrowheads="1"/>
            </p:cNvSpPr>
            <p:nvPr/>
          </p:nvSpPr>
          <p:spPr bwMode="auto">
            <a:xfrm>
              <a:off x="990600" y="4398045"/>
              <a:ext cx="185738" cy="334963"/>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200" baseline="0">
                  <a:solidFill>
                    <a:srgbClr val="3333CC"/>
                  </a:solidFill>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97" name="Rectangle 56"/>
            <p:cNvSpPr>
              <a:spLocks noChangeArrowheads="1"/>
            </p:cNvSpPr>
            <p:nvPr/>
          </p:nvSpPr>
          <p:spPr bwMode="auto">
            <a:xfrm>
              <a:off x="2667000" y="4398045"/>
              <a:ext cx="155575" cy="334963"/>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200" baseline="0">
                  <a:solidFill>
                    <a:srgbClr val="3333CC"/>
                  </a:solidFill>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98" name="Rectangle 57"/>
            <p:cNvSpPr>
              <a:spLocks noChangeArrowheads="1"/>
            </p:cNvSpPr>
            <p:nvPr/>
          </p:nvSpPr>
          <p:spPr bwMode="auto">
            <a:xfrm>
              <a:off x="1600200" y="5922045"/>
              <a:ext cx="728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a:solidFill>
                    <a:srgbClr val="99FF33"/>
                  </a:solidFill>
                  <a:latin typeface="Arial" charset="0"/>
                  <a:ea typeface="黑体" panose="02010609060101010101" pitchFamily="49" charset="-122"/>
                </a:rPr>
                <a:t>R∩S</a:t>
              </a:r>
              <a:endParaRPr lang="zh-CN" altLang="en-US" sz="2400" baseline="0">
                <a:solidFill>
                  <a:srgbClr val="99FF33"/>
                </a:solidFill>
                <a:latin typeface="Arial" charset="0"/>
                <a:ea typeface="黑体" panose="02010609060101010101" pitchFamily="49" charset="-122"/>
              </a:endParaRPr>
            </a:p>
          </p:txBody>
        </p:sp>
        <p:sp>
          <p:nvSpPr>
            <p:cNvPr id="99" name="Oval 58" descr="浅色上对角线"/>
            <p:cNvSpPr>
              <a:spLocks noChangeArrowheads="1"/>
            </p:cNvSpPr>
            <p:nvPr/>
          </p:nvSpPr>
          <p:spPr bwMode="auto">
            <a:xfrm>
              <a:off x="685800" y="4093245"/>
              <a:ext cx="1624013" cy="1600200"/>
            </a:xfrm>
            <a:prstGeom prst="ellips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0" name="Line 59"/>
            <p:cNvSpPr>
              <a:spLocks noChangeShapeType="1"/>
            </p:cNvSpPr>
            <p:nvPr/>
          </p:nvSpPr>
          <p:spPr bwMode="auto">
            <a:xfrm flipH="1">
              <a:off x="1757363" y="4259933"/>
              <a:ext cx="228600" cy="152400"/>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1" name="Line 60"/>
            <p:cNvSpPr>
              <a:spLocks noChangeShapeType="1"/>
            </p:cNvSpPr>
            <p:nvPr/>
          </p:nvSpPr>
          <p:spPr bwMode="auto">
            <a:xfrm flipH="1">
              <a:off x="1676400" y="4312320"/>
              <a:ext cx="371475" cy="23812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2" name="Line 61"/>
            <p:cNvSpPr>
              <a:spLocks noChangeShapeType="1"/>
            </p:cNvSpPr>
            <p:nvPr/>
          </p:nvSpPr>
          <p:spPr bwMode="auto">
            <a:xfrm flipH="1">
              <a:off x="1638300" y="4378995"/>
              <a:ext cx="457200" cy="290513"/>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3" name="Line 62"/>
            <p:cNvSpPr>
              <a:spLocks noChangeShapeType="1"/>
            </p:cNvSpPr>
            <p:nvPr/>
          </p:nvSpPr>
          <p:spPr bwMode="auto">
            <a:xfrm flipH="1">
              <a:off x="1614488" y="4431383"/>
              <a:ext cx="528637" cy="319087"/>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4" name="Line 63"/>
            <p:cNvSpPr>
              <a:spLocks noChangeShapeType="1"/>
            </p:cNvSpPr>
            <p:nvPr/>
          </p:nvSpPr>
          <p:spPr bwMode="auto">
            <a:xfrm flipH="1">
              <a:off x="1604963" y="4483770"/>
              <a:ext cx="581025" cy="357188"/>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5" name="Line 64"/>
            <p:cNvSpPr>
              <a:spLocks noChangeShapeType="1"/>
            </p:cNvSpPr>
            <p:nvPr/>
          </p:nvSpPr>
          <p:spPr bwMode="auto">
            <a:xfrm flipH="1">
              <a:off x="1604963" y="4536158"/>
              <a:ext cx="623887" cy="37147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6" name="Line 65"/>
            <p:cNvSpPr>
              <a:spLocks noChangeShapeType="1"/>
            </p:cNvSpPr>
            <p:nvPr/>
          </p:nvSpPr>
          <p:spPr bwMode="auto">
            <a:xfrm flipH="1">
              <a:off x="1609725" y="4598070"/>
              <a:ext cx="638175" cy="385763"/>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7" name="Line 66"/>
            <p:cNvSpPr>
              <a:spLocks noChangeShapeType="1"/>
            </p:cNvSpPr>
            <p:nvPr/>
          </p:nvSpPr>
          <p:spPr bwMode="auto">
            <a:xfrm flipH="1">
              <a:off x="1624013" y="4655220"/>
              <a:ext cx="652462" cy="39052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8" name="Line 67"/>
            <p:cNvSpPr>
              <a:spLocks noChangeShapeType="1"/>
            </p:cNvSpPr>
            <p:nvPr/>
          </p:nvSpPr>
          <p:spPr bwMode="auto">
            <a:xfrm flipH="1">
              <a:off x="1647825" y="4721895"/>
              <a:ext cx="642938" cy="39052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09" name="Line 68"/>
            <p:cNvSpPr>
              <a:spLocks noChangeShapeType="1"/>
            </p:cNvSpPr>
            <p:nvPr/>
          </p:nvSpPr>
          <p:spPr bwMode="auto">
            <a:xfrm flipH="1">
              <a:off x="1662113" y="4788570"/>
              <a:ext cx="638175" cy="39052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10" name="Line 69"/>
            <p:cNvSpPr>
              <a:spLocks noChangeShapeType="1"/>
            </p:cNvSpPr>
            <p:nvPr/>
          </p:nvSpPr>
          <p:spPr bwMode="auto">
            <a:xfrm flipH="1">
              <a:off x="1676400" y="4864770"/>
              <a:ext cx="633413" cy="385763"/>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11" name="Line 70"/>
            <p:cNvSpPr>
              <a:spLocks noChangeShapeType="1"/>
            </p:cNvSpPr>
            <p:nvPr/>
          </p:nvSpPr>
          <p:spPr bwMode="auto">
            <a:xfrm flipH="1">
              <a:off x="1714500" y="4931445"/>
              <a:ext cx="600075" cy="37147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12" name="Line 71"/>
            <p:cNvSpPr>
              <a:spLocks noChangeShapeType="1"/>
            </p:cNvSpPr>
            <p:nvPr/>
          </p:nvSpPr>
          <p:spPr bwMode="auto">
            <a:xfrm flipH="1">
              <a:off x="1743075" y="5021933"/>
              <a:ext cx="552450" cy="333375"/>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13" name="Line 72"/>
            <p:cNvSpPr>
              <a:spLocks noChangeShapeType="1"/>
            </p:cNvSpPr>
            <p:nvPr/>
          </p:nvSpPr>
          <p:spPr bwMode="auto">
            <a:xfrm flipH="1">
              <a:off x="1795463" y="5102895"/>
              <a:ext cx="481012" cy="300038"/>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14" name="Line 73"/>
            <p:cNvSpPr>
              <a:spLocks noChangeShapeType="1"/>
            </p:cNvSpPr>
            <p:nvPr/>
          </p:nvSpPr>
          <p:spPr bwMode="auto">
            <a:xfrm flipH="1">
              <a:off x="1843088" y="5221958"/>
              <a:ext cx="381000" cy="228600"/>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sp>
          <p:nvSpPr>
            <p:cNvPr id="115" name="Line 74"/>
            <p:cNvSpPr>
              <a:spLocks noChangeShapeType="1"/>
            </p:cNvSpPr>
            <p:nvPr/>
          </p:nvSpPr>
          <p:spPr bwMode="auto">
            <a:xfrm flipH="1">
              <a:off x="1876425" y="5336258"/>
              <a:ext cx="300038" cy="171450"/>
            </a:xfrm>
            <a:prstGeom prst="line">
              <a:avLst/>
            </a:prstGeom>
            <a:noFill/>
            <a:ln w="12700" cap="sq">
              <a:solidFill>
                <a:srgbClr val="000000"/>
              </a:solidFill>
              <a:round/>
              <a:headEnd/>
              <a:tailEnd/>
            </a:ln>
            <a:effectLst/>
          </p:spPr>
          <p:txBody>
            <a:bodyPr wrap="none" lIns="0" tIns="0" rIns="0" bIns="0" anchor="ctr"/>
            <a:lstStyle/>
            <a:p>
              <a:pPr fontAlgn="auto">
                <a:spcBef>
                  <a:spcPts val="0"/>
                </a:spcBef>
                <a:spcAft>
                  <a:spcPts val="0"/>
                </a:spcAft>
                <a:defRPr/>
              </a:pPr>
              <a:endParaRPr lang="zh-CN" altLang="en-US" sz="1800" kern="0" baseline="0">
                <a:solidFill>
                  <a:sysClr val="windowText" lastClr="000000"/>
                </a:solidFill>
                <a:latin typeface="Franklin Gothic Book"/>
                <a:ea typeface="黑体" panose="02010609060101010101" pitchFamily="49" charset="-122"/>
              </a:endParaRPr>
            </a:p>
          </p:txBody>
        </p:sp>
      </p:grpSp>
      <p:graphicFrame>
        <p:nvGraphicFramePr>
          <p:cNvPr id="124" name="Group 5"/>
          <p:cNvGraphicFramePr>
            <a:graphicFrameLocks noGrp="1"/>
          </p:cNvGraphicFramePr>
          <p:nvPr>
            <p:extLst>
              <p:ext uri="{D42A27DB-BD31-4B8C-83A1-F6EECF244321}">
                <p14:modId xmlns:p14="http://schemas.microsoft.com/office/powerpoint/2010/main" val="204501616"/>
              </p:ext>
            </p:extLst>
          </p:nvPr>
        </p:nvGraphicFramePr>
        <p:xfrm>
          <a:off x="5091900" y="4849917"/>
          <a:ext cx="1905000" cy="146304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lumMod val="50000"/>
                        <a:lumOff val="50000"/>
                      </a:schemeClr>
                    </a:solidFill>
                  </a:tcPr>
                </a:tc>
                <a:extLst>
                  <a:ext uri="{0D108BD9-81ED-4DB2-BD59-A6C34878D82A}">
                    <a16:rowId xmlns:a16="http://schemas.microsoft.com/office/drawing/2014/main" val="10000"/>
                  </a:ext>
                </a:extLst>
              </a:tr>
              <a:tr h="33972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1"/>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孙七</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2"/>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3"/>
                  </a:ext>
                </a:extLst>
              </a:tr>
            </a:tbl>
          </a:graphicData>
        </a:graphic>
      </p:graphicFrame>
      <p:graphicFrame>
        <p:nvGraphicFramePr>
          <p:cNvPr id="125" name="Group 22"/>
          <p:cNvGraphicFramePr>
            <a:graphicFrameLocks noGrp="1"/>
          </p:cNvGraphicFramePr>
          <p:nvPr>
            <p:extLst>
              <p:ext uri="{D42A27DB-BD31-4B8C-83A1-F6EECF244321}">
                <p14:modId xmlns:p14="http://schemas.microsoft.com/office/powerpoint/2010/main" val="1404579707"/>
              </p:ext>
            </p:extLst>
          </p:nvPr>
        </p:nvGraphicFramePr>
        <p:xfrm>
          <a:off x="5091900" y="3089236"/>
          <a:ext cx="1905000" cy="146304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3404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1"/>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2"/>
                  </a:ext>
                </a:extLst>
              </a:tr>
              <a:tr h="3381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10000"/>
                      </a:schemeClr>
                    </a:solidFill>
                  </a:tcPr>
                </a:tc>
                <a:extLst>
                  <a:ext uri="{0D108BD9-81ED-4DB2-BD59-A6C34878D82A}">
                    <a16:rowId xmlns:a16="http://schemas.microsoft.com/office/drawing/2014/main" val="10003"/>
                  </a:ext>
                </a:extLst>
              </a:tr>
            </a:tbl>
          </a:graphicData>
        </a:graphic>
      </p:graphicFrame>
      <p:sp>
        <p:nvSpPr>
          <p:cNvPr id="126" name="Rectangle 62"/>
          <p:cNvSpPr>
            <a:spLocks noChangeArrowheads="1"/>
          </p:cNvSpPr>
          <p:nvPr/>
        </p:nvSpPr>
        <p:spPr bwMode="auto">
          <a:xfrm>
            <a:off x="4800704" y="3052168"/>
            <a:ext cx="205185"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127" name="Rectangle 63"/>
          <p:cNvSpPr>
            <a:spLocks noChangeArrowheads="1"/>
          </p:cNvSpPr>
          <p:nvPr/>
        </p:nvSpPr>
        <p:spPr bwMode="auto">
          <a:xfrm>
            <a:off x="4850564" y="4868967"/>
            <a:ext cx="171522"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5" name="矩形 4"/>
          <p:cNvSpPr/>
          <p:nvPr/>
        </p:nvSpPr>
        <p:spPr>
          <a:xfrm>
            <a:off x="6969864" y="2095867"/>
            <a:ext cx="2816797" cy="584775"/>
          </a:xfrm>
          <a:prstGeom prst="rect">
            <a:avLst/>
          </a:prstGeom>
        </p:spPr>
        <p:txBody>
          <a:bodyPr wrap="none">
            <a:spAutoFit/>
          </a:bodyPr>
          <a:lstStyle/>
          <a:p>
            <a:pPr lvl="0">
              <a:spcAft>
                <a:spcPct val="30000"/>
              </a:spcAft>
              <a:defRPr/>
            </a:pPr>
            <a:r>
              <a:rPr kumimoji="1" lang="en-US" altLang="zh-CN" sz="3200" baseline="0" dirty="0">
                <a:solidFill>
                  <a:schemeClr val="accent6">
                    <a:lumMod val="20000"/>
                    <a:lumOff val="80000"/>
                  </a:schemeClr>
                </a:solidFill>
                <a:latin typeface="Arial" charset="0"/>
              </a:rPr>
              <a:t>=  R – (R – S) </a:t>
            </a:r>
          </a:p>
        </p:txBody>
      </p:sp>
      <p:sp>
        <p:nvSpPr>
          <p:cNvPr id="34" name="矩形 33"/>
          <p:cNvSpPr/>
          <p:nvPr/>
        </p:nvSpPr>
        <p:spPr>
          <a:xfrm>
            <a:off x="7427430" y="4110857"/>
            <a:ext cx="4393336" cy="2103140"/>
          </a:xfrm>
          <a:prstGeom prst="rect">
            <a:avLst/>
          </a:prstGeom>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注意</a:t>
            </a:r>
            <a:r>
              <a:rPr lang="zh-CN" altLang="en-US" sz="2800" b="1" dirty="0" smtClean="0">
                <a:solidFill>
                  <a:srgbClr val="FF0000"/>
                </a:solidFill>
                <a:latin typeface="微软雅黑" panose="020B0503020204020204" pitchFamily="34" charset="-122"/>
                <a:ea typeface="微软雅黑" panose="020B0503020204020204" pitchFamily="34" charset="-122"/>
              </a:rPr>
              <a:t>：</a:t>
            </a:r>
            <a:endParaRPr lang="en-US" altLang="zh-CN" sz="2800" b="1" dirty="0" smtClean="0">
              <a:solidFill>
                <a:srgbClr val="FF0000"/>
              </a:solidFill>
              <a:latin typeface="微软雅黑" panose="020B0503020204020204" pitchFamily="34" charset="-122"/>
              <a:ea typeface="微软雅黑" panose="020B0503020204020204" pitchFamily="34" charset="-122"/>
            </a:endParaRPr>
          </a:p>
          <a:p>
            <a:r>
              <a:rPr lang="zh-CN" altLang="en-US" sz="2800" b="1" dirty="0">
                <a:solidFill>
                  <a:srgbClr val="FF0000"/>
                </a:solidFill>
                <a:latin typeface="微软雅黑" panose="020B0503020204020204" pitchFamily="34" charset="-122"/>
                <a:ea typeface="微软雅黑" panose="020B0503020204020204" pitchFamily="34" charset="-122"/>
              </a:rPr>
              <a:t>关系</a:t>
            </a:r>
            <a:r>
              <a:rPr lang="en-US" altLang="zh-CN" sz="2800" b="1" dirty="0">
                <a:solidFill>
                  <a:srgbClr val="FF0000"/>
                </a:solidFill>
                <a:latin typeface="微软雅黑" panose="020B0503020204020204" pitchFamily="34" charset="-122"/>
                <a:ea typeface="微软雅黑" panose="020B0503020204020204" pitchFamily="34" charset="-122"/>
              </a:rPr>
              <a:t>R</a:t>
            </a:r>
            <a:r>
              <a:rPr lang="zh-CN" altLang="en-US" sz="2800" b="1" dirty="0">
                <a:solidFill>
                  <a:srgbClr val="FF0000"/>
                </a:solidFill>
                <a:latin typeface="微软雅黑" panose="020B0503020204020204" pitchFamily="34" charset="-122"/>
                <a:ea typeface="微软雅黑" panose="020B0503020204020204" pitchFamily="34" charset="-122"/>
              </a:rPr>
              <a:t>和关系</a:t>
            </a:r>
            <a:r>
              <a:rPr lang="en-US" altLang="zh-CN" sz="2800" b="1" dirty="0">
                <a:solidFill>
                  <a:srgbClr val="FF0000"/>
                </a:solidFill>
                <a:latin typeface="微软雅黑" panose="020B0503020204020204" pitchFamily="34" charset="-122"/>
                <a:ea typeface="微软雅黑" panose="020B0503020204020204" pitchFamily="34" charset="-122"/>
              </a:rPr>
              <a:t>S</a:t>
            </a:r>
            <a:r>
              <a:rPr lang="zh-CN" altLang="en-US" sz="2800" b="1" dirty="0">
                <a:solidFill>
                  <a:srgbClr val="FF0000"/>
                </a:solidFill>
                <a:latin typeface="微软雅黑" panose="020B0503020204020204" pitchFamily="34" charset="-122"/>
                <a:ea typeface="微软雅黑" panose="020B0503020204020204" pitchFamily="34" charset="-122"/>
              </a:rPr>
              <a:t>的结构必须一致，即关系</a:t>
            </a:r>
            <a:r>
              <a:rPr lang="en-US" altLang="zh-CN" sz="2800" b="1" dirty="0">
                <a:solidFill>
                  <a:srgbClr val="FF0000"/>
                </a:solidFill>
                <a:latin typeface="微软雅黑" panose="020B0503020204020204" pitchFamily="34" charset="-122"/>
                <a:ea typeface="微软雅黑" panose="020B0503020204020204" pitchFamily="34" charset="-122"/>
              </a:rPr>
              <a:t>R</a:t>
            </a:r>
            <a:r>
              <a:rPr lang="zh-CN" altLang="en-US" sz="2800" b="1" dirty="0">
                <a:solidFill>
                  <a:srgbClr val="FF0000"/>
                </a:solidFill>
                <a:latin typeface="微软雅黑" panose="020B0503020204020204" pitchFamily="34" charset="-122"/>
                <a:ea typeface="微软雅黑" panose="020B0503020204020204" pitchFamily="34" charset="-122"/>
              </a:rPr>
              <a:t>和关系</a:t>
            </a:r>
            <a:r>
              <a:rPr lang="en-US" altLang="zh-CN" sz="2800" b="1" dirty="0">
                <a:solidFill>
                  <a:srgbClr val="FF0000"/>
                </a:solidFill>
                <a:latin typeface="微软雅黑" panose="020B0503020204020204" pitchFamily="34" charset="-122"/>
                <a:ea typeface="微软雅黑" panose="020B0503020204020204" pitchFamily="34" charset="-122"/>
              </a:rPr>
              <a:t>S</a:t>
            </a:r>
            <a:r>
              <a:rPr lang="zh-CN" altLang="en-US" sz="2800" b="1" dirty="0">
                <a:solidFill>
                  <a:srgbClr val="FF0000"/>
                </a:solidFill>
                <a:latin typeface="微软雅黑" panose="020B0503020204020204" pitchFamily="34" charset="-122"/>
                <a:ea typeface="微软雅黑" panose="020B0503020204020204" pitchFamily="34" charset="-122"/>
              </a:rPr>
              <a:t>的属性个数、相应列上的属性名和域必须一致。</a:t>
            </a:r>
          </a:p>
          <a:p>
            <a:r>
              <a:rPr lang="zh-CN" altLang="en-US" sz="2800" b="1" dirty="0">
                <a:solidFill>
                  <a:srgbClr val="FF0000"/>
                </a:solidFill>
                <a:latin typeface="微软雅黑" panose="020B0503020204020204" pitchFamily="34" charset="-122"/>
                <a:ea typeface="微软雅黑" panose="020B0503020204020204" pitchFamily="34" charset="-122"/>
              </a:rPr>
              <a:t> 交操作不是关系的基本操作，它可以由差的运算导出，即</a:t>
            </a:r>
            <a:r>
              <a:rPr lang="en-US" altLang="zh-CN" sz="2800" b="1" dirty="0">
                <a:solidFill>
                  <a:srgbClr val="FF0000"/>
                </a:solidFill>
                <a:latin typeface="微软雅黑" panose="020B0503020204020204" pitchFamily="34" charset="-122"/>
                <a:ea typeface="微软雅黑" panose="020B0503020204020204" pitchFamily="34" charset="-122"/>
              </a:rPr>
              <a:t>R∩S=R—</a:t>
            </a:r>
            <a:r>
              <a:rPr lang="zh-CN" altLang="en-US" sz="2800" b="1" dirty="0">
                <a:solidFill>
                  <a:srgbClr val="FF0000"/>
                </a:solidFill>
                <a:latin typeface="微软雅黑" panose="020B0503020204020204" pitchFamily="34" charset="-122"/>
                <a:ea typeface="微软雅黑" panose="020B0503020204020204" pitchFamily="34" charset="-122"/>
              </a:rPr>
              <a:t>（</a:t>
            </a:r>
            <a:r>
              <a:rPr lang="en-US" altLang="zh-CN" sz="2800" b="1" dirty="0">
                <a:solidFill>
                  <a:srgbClr val="FF0000"/>
                </a:solidFill>
                <a:latin typeface="微软雅黑" panose="020B0503020204020204" pitchFamily="34" charset="-122"/>
                <a:ea typeface="微软雅黑" panose="020B0503020204020204" pitchFamily="34" charset="-122"/>
              </a:rPr>
              <a:t>R—S</a:t>
            </a:r>
            <a:r>
              <a:rPr lang="zh-CN" altLang="en-US" sz="2800" b="1" dirty="0">
                <a:solidFill>
                  <a:srgbClr val="FF0000"/>
                </a:solidFill>
                <a:latin typeface="微软雅黑" panose="020B0503020204020204" pitchFamily="34" charset="-122"/>
                <a:ea typeface="微软雅黑" panose="020B0503020204020204" pitchFamily="34" charset="-122"/>
              </a:rPr>
              <a:t>）或</a:t>
            </a:r>
            <a:r>
              <a:rPr lang="en-US" altLang="zh-CN" sz="2800" b="1" dirty="0">
                <a:solidFill>
                  <a:srgbClr val="FF0000"/>
                </a:solidFill>
                <a:latin typeface="微软雅黑" panose="020B0503020204020204" pitchFamily="34" charset="-122"/>
                <a:ea typeface="微软雅黑" panose="020B0503020204020204" pitchFamily="34" charset="-122"/>
              </a:rPr>
              <a:t>R∩S=S—</a:t>
            </a:r>
            <a:r>
              <a:rPr lang="zh-CN" altLang="en-US" sz="2800" b="1" dirty="0">
                <a:solidFill>
                  <a:srgbClr val="FF0000"/>
                </a:solidFill>
                <a:latin typeface="微软雅黑" panose="020B0503020204020204" pitchFamily="34" charset="-122"/>
                <a:ea typeface="微软雅黑" panose="020B0503020204020204" pitchFamily="34" charset="-122"/>
              </a:rPr>
              <a:t>（</a:t>
            </a:r>
            <a:r>
              <a:rPr lang="en-US" altLang="zh-CN" sz="2800" b="1" dirty="0">
                <a:solidFill>
                  <a:srgbClr val="FF0000"/>
                </a:solidFill>
                <a:latin typeface="微软雅黑" panose="020B0503020204020204" pitchFamily="34" charset="-122"/>
                <a:ea typeface="微软雅黑" panose="020B0503020204020204" pitchFamily="34" charset="-122"/>
              </a:rPr>
              <a:t>S—R</a:t>
            </a:r>
            <a:r>
              <a:rPr lang="zh-CN" altLang="en-US" sz="2800" b="1" dirty="0">
                <a:solidFill>
                  <a:srgbClr val="FF0000"/>
                </a:solidFill>
                <a:latin typeface="微软雅黑" panose="020B0503020204020204" pitchFamily="34" charset="-122"/>
                <a:ea typeface="微软雅黑" panose="020B0503020204020204" pitchFamily="34" charset="-122"/>
              </a:rPr>
              <a:t>）导出。</a:t>
            </a:r>
          </a:p>
        </p:txBody>
      </p:sp>
    </p:spTree>
    <p:extLst>
      <p:ext uri="{BB962C8B-B14F-4D97-AF65-F5344CB8AC3E}">
        <p14:creationId xmlns:p14="http://schemas.microsoft.com/office/powerpoint/2010/main" val="143662922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11426508"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广义笛卡尔积（</a:t>
            </a:r>
            <a:r>
              <a:rPr lang="en-US" altLang="zh-CN" b="1" u="sng" kern="1200" dirty="0">
                <a:solidFill>
                  <a:schemeClr val="folHlink"/>
                </a:solidFill>
                <a:effectLst>
                  <a:outerShdw blurRad="38100" dist="38100" dir="2700000" algn="tl">
                    <a:srgbClr val="000000"/>
                  </a:outerShdw>
                </a:effectLst>
                <a:cs typeface="+mn-cs"/>
              </a:rPr>
              <a:t>Extended Cartesian Product</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40" name="Rectangle 4"/>
          <p:cNvSpPr txBox="1">
            <a:spLocks noChangeArrowheads="1"/>
          </p:cNvSpPr>
          <p:nvPr/>
        </p:nvSpPr>
        <p:spPr bwMode="auto">
          <a:xfrm>
            <a:off x="407368" y="858612"/>
            <a:ext cx="11521280" cy="2779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30000"/>
              </a:spcAft>
              <a:buNone/>
              <a:defRPr/>
            </a:pPr>
            <a:r>
              <a:rPr kumimoji="1" lang="zh-CN" altLang="en-US" baseline="0" dirty="0">
                <a:latin typeface="Arial" charset="0"/>
              </a:rPr>
              <a:t>	</a:t>
            </a:r>
            <a:r>
              <a:rPr kumimoji="1" lang="zh-CN" altLang="zh-CN" baseline="0" dirty="0">
                <a:latin typeface="Arial" charset="0"/>
              </a:rPr>
              <a:t>设</a:t>
            </a:r>
            <a:r>
              <a:rPr kumimoji="1" lang="zh-CN" altLang="en-US" baseline="0" dirty="0">
                <a:latin typeface="Arial" charset="0"/>
              </a:rPr>
              <a:t>m元</a:t>
            </a:r>
            <a:r>
              <a:rPr kumimoji="1" lang="zh-CN" altLang="zh-CN" baseline="0" dirty="0">
                <a:latin typeface="Arial" charset="0"/>
              </a:rPr>
              <a:t>关系R有a个元组，</a:t>
            </a:r>
            <a:r>
              <a:rPr kumimoji="1" lang="zh-CN" altLang="en-US" baseline="0" dirty="0">
                <a:latin typeface="Arial" charset="0"/>
              </a:rPr>
              <a:t>n元</a:t>
            </a:r>
            <a:r>
              <a:rPr kumimoji="1" lang="zh-CN" altLang="zh-CN" baseline="0" dirty="0">
                <a:latin typeface="Arial" charset="0"/>
              </a:rPr>
              <a:t>关系S有b个元组，则R和S的广义笛卡尔积是一个有a×b个元组的</a:t>
            </a:r>
            <a:r>
              <a:rPr kumimoji="1" lang="zh-CN" altLang="en-US" baseline="0" dirty="0">
                <a:latin typeface="Arial" charset="0"/>
              </a:rPr>
              <a:t>m</a:t>
            </a:r>
            <a:r>
              <a:rPr kumimoji="1" lang="en-US" altLang="zh-CN" baseline="0" dirty="0">
                <a:latin typeface="Arial" charset="0"/>
              </a:rPr>
              <a:t>+n</a:t>
            </a:r>
            <a:r>
              <a:rPr kumimoji="1" lang="zh-CN" altLang="en-US" baseline="0" dirty="0">
                <a:latin typeface="Arial" charset="0"/>
              </a:rPr>
              <a:t>元关系</a:t>
            </a:r>
            <a:r>
              <a:rPr kumimoji="1" lang="zh-CN" altLang="zh-CN" baseline="0" dirty="0">
                <a:latin typeface="Arial" charset="0"/>
              </a:rPr>
              <a:t>，其中每一个元组的前</a:t>
            </a:r>
            <a:r>
              <a:rPr kumimoji="1" lang="zh-CN" altLang="en-US" baseline="0" dirty="0">
                <a:latin typeface="Arial" charset="0"/>
              </a:rPr>
              <a:t>m个分量</a:t>
            </a:r>
            <a:r>
              <a:rPr kumimoji="1" lang="zh-CN" altLang="zh-CN" baseline="0" dirty="0">
                <a:latin typeface="Arial" charset="0"/>
              </a:rPr>
              <a:t>是关系R的一个元组，后</a:t>
            </a:r>
            <a:r>
              <a:rPr kumimoji="1" lang="zh-CN" altLang="en-US" baseline="0" dirty="0">
                <a:latin typeface="Arial" charset="0"/>
              </a:rPr>
              <a:t>n个分量</a:t>
            </a:r>
            <a:r>
              <a:rPr kumimoji="1" lang="zh-CN" altLang="zh-CN" baseline="0" dirty="0">
                <a:latin typeface="Arial" charset="0"/>
              </a:rPr>
              <a:t>是关系S的一个元组。记作：</a:t>
            </a:r>
            <a:r>
              <a:rPr kumimoji="1" lang="zh-CN" altLang="en-US" baseline="0" dirty="0">
                <a:latin typeface="Arial" charset="0"/>
              </a:rPr>
              <a:t>  </a:t>
            </a:r>
            <a:r>
              <a:rPr kumimoji="1" lang="zh-CN" altLang="zh-CN" baseline="0" dirty="0">
                <a:solidFill>
                  <a:srgbClr val="FFFF00"/>
                </a:solidFill>
                <a:latin typeface="Arial" charset="0"/>
              </a:rPr>
              <a:t>R</a:t>
            </a:r>
            <a:r>
              <a:rPr kumimoji="1" lang="zh-CN" altLang="zh-CN" baseline="0" dirty="0">
                <a:solidFill>
                  <a:srgbClr val="FFFF00"/>
                </a:solidFill>
                <a:latin typeface="Arial" charset="0"/>
                <a:ea typeface="宋体" pitchFamily="2" charset="-122"/>
              </a:rPr>
              <a:t>×</a:t>
            </a:r>
            <a:r>
              <a:rPr kumimoji="1" lang="zh-CN" altLang="zh-CN" baseline="0" dirty="0">
                <a:solidFill>
                  <a:srgbClr val="FFFF00"/>
                </a:solidFill>
                <a:latin typeface="Arial" charset="0"/>
              </a:rPr>
              <a:t>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en-US" altLang="zh-CN" baseline="0" dirty="0">
                <a:solidFill>
                  <a:srgbClr val="FFFF00"/>
                </a:solidFill>
                <a:latin typeface="Arial" charset="0"/>
              </a:rPr>
              <a:t>{ &lt;</a:t>
            </a:r>
            <a:r>
              <a:rPr kumimoji="1" lang="en-US" altLang="zh-CN" baseline="0" dirty="0" err="1">
                <a:solidFill>
                  <a:srgbClr val="FFFF00"/>
                </a:solidFill>
                <a:latin typeface="Arial" charset="0"/>
              </a:rPr>
              <a:t>tr,ts</a:t>
            </a:r>
            <a:r>
              <a:rPr kumimoji="1" lang="en-US" altLang="zh-CN" baseline="0" dirty="0">
                <a:solidFill>
                  <a:srgbClr val="FFFF00"/>
                </a:solidFill>
                <a:latin typeface="Arial" charset="0"/>
              </a:rPr>
              <a:t>&gt; | </a:t>
            </a:r>
            <a:r>
              <a:rPr kumimoji="1" lang="en-US" altLang="zh-CN" baseline="0" dirty="0" err="1">
                <a:solidFill>
                  <a:srgbClr val="FFFF00"/>
                </a:solidFill>
                <a:latin typeface="Arial" charset="0"/>
              </a:rPr>
              <a:t>tr</a:t>
            </a:r>
            <a:r>
              <a:rPr kumimoji="1" lang="en-US" altLang="zh-CN" baseline="0" dirty="0" err="1">
                <a:solidFill>
                  <a:srgbClr val="FFFF00"/>
                </a:solidFill>
                <a:latin typeface="Arial" charset="0"/>
                <a:ea typeface="宋体" pitchFamily="2" charset="-122"/>
              </a:rPr>
              <a:t>∈</a:t>
            </a:r>
            <a:r>
              <a:rPr kumimoji="1" lang="en-US" altLang="zh-CN" baseline="0" dirty="0" err="1">
                <a:solidFill>
                  <a:srgbClr val="FFFF00"/>
                </a:solidFill>
                <a:latin typeface="Arial" charset="0"/>
              </a:rPr>
              <a:t>R</a:t>
            </a:r>
            <a:r>
              <a:rPr kumimoji="1" lang="en-US" altLang="zh-CN" baseline="0" dirty="0">
                <a:solidFill>
                  <a:srgbClr val="FFFF00"/>
                </a:solidFill>
                <a:latin typeface="Arial" charset="0"/>
              </a:rPr>
              <a:t> ∧ </a:t>
            </a:r>
            <a:r>
              <a:rPr kumimoji="1" lang="en-US" altLang="zh-CN" baseline="0" dirty="0" err="1">
                <a:solidFill>
                  <a:srgbClr val="FFFF00"/>
                </a:solidFill>
                <a:latin typeface="Arial" charset="0"/>
              </a:rPr>
              <a:t>ts</a:t>
            </a:r>
            <a:r>
              <a:rPr kumimoji="1" lang="en-US" altLang="zh-CN" baseline="0" dirty="0" err="1">
                <a:solidFill>
                  <a:srgbClr val="FFFF00"/>
                </a:solidFill>
                <a:latin typeface="Arial" charset="0"/>
                <a:ea typeface="宋体" pitchFamily="2" charset="-122"/>
              </a:rPr>
              <a:t>∈S</a:t>
            </a:r>
            <a:r>
              <a:rPr kumimoji="1" lang="en-US" altLang="zh-CN" baseline="0" dirty="0">
                <a:solidFill>
                  <a:srgbClr val="FFFF00"/>
                </a:solidFill>
                <a:latin typeface="Arial" charset="0"/>
              </a:rPr>
              <a:t> }</a:t>
            </a:r>
          </a:p>
        </p:txBody>
      </p:sp>
      <p:graphicFrame>
        <p:nvGraphicFramePr>
          <p:cNvPr id="41" name="Group 5"/>
          <p:cNvGraphicFramePr>
            <a:graphicFrameLocks noGrp="1"/>
          </p:cNvGraphicFramePr>
          <p:nvPr>
            <p:extLst>
              <p:ext uri="{D42A27DB-BD31-4B8C-83A1-F6EECF244321}">
                <p14:modId xmlns:p14="http://schemas.microsoft.com/office/powerpoint/2010/main" val="952955298"/>
              </p:ext>
            </p:extLst>
          </p:nvPr>
        </p:nvGraphicFramePr>
        <p:xfrm>
          <a:off x="3494237" y="3643347"/>
          <a:ext cx="1905000" cy="1224939"/>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083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学历</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补助</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r h="4083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083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graphicFrame>
        <p:nvGraphicFramePr>
          <p:cNvPr id="42" name="Group 19"/>
          <p:cNvGraphicFramePr>
            <a:graphicFrameLocks noGrp="1"/>
          </p:cNvGraphicFramePr>
          <p:nvPr>
            <p:extLst>
              <p:ext uri="{D42A27DB-BD31-4B8C-83A1-F6EECF244321}">
                <p14:modId xmlns:p14="http://schemas.microsoft.com/office/powerpoint/2010/main" val="2921187961"/>
              </p:ext>
            </p:extLst>
          </p:nvPr>
        </p:nvGraphicFramePr>
        <p:xfrm>
          <a:off x="757932" y="3644149"/>
          <a:ext cx="2313731" cy="1728192"/>
        </p:xfrm>
        <a:graphic>
          <a:graphicData uri="http://schemas.openxmlformats.org/drawingml/2006/table">
            <a:tbl>
              <a:tblPr/>
              <a:tblGrid>
                <a:gridCol w="826333">
                  <a:extLst>
                    <a:ext uri="{9D8B030D-6E8A-4147-A177-3AD203B41FA5}">
                      <a16:colId xmlns:a16="http://schemas.microsoft.com/office/drawing/2014/main" val="20000"/>
                    </a:ext>
                  </a:extLst>
                </a:gridCol>
                <a:gridCol w="743699">
                  <a:extLst>
                    <a:ext uri="{9D8B030D-6E8A-4147-A177-3AD203B41FA5}">
                      <a16:colId xmlns:a16="http://schemas.microsoft.com/office/drawing/2014/main" val="20001"/>
                    </a:ext>
                  </a:extLst>
                </a:gridCol>
                <a:gridCol w="743699">
                  <a:extLst>
                    <a:ext uri="{9D8B030D-6E8A-4147-A177-3AD203B41FA5}">
                      <a16:colId xmlns:a16="http://schemas.microsoft.com/office/drawing/2014/main" val="20002"/>
                    </a:ext>
                  </a:extLst>
                </a:gridCol>
              </a:tblGrid>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graphicFrame>
        <p:nvGraphicFramePr>
          <p:cNvPr id="43" name="Group 41"/>
          <p:cNvGraphicFramePr>
            <a:graphicFrameLocks noGrp="1"/>
          </p:cNvGraphicFramePr>
          <p:nvPr>
            <p:extLst>
              <p:ext uri="{D42A27DB-BD31-4B8C-83A1-F6EECF244321}">
                <p14:modId xmlns:p14="http://schemas.microsoft.com/office/powerpoint/2010/main" val="1983538515"/>
              </p:ext>
            </p:extLst>
          </p:nvPr>
        </p:nvGraphicFramePr>
        <p:xfrm>
          <a:off x="6168008" y="3817242"/>
          <a:ext cx="5616624" cy="2708104"/>
        </p:xfrm>
        <a:graphic>
          <a:graphicData uri="http://schemas.openxmlformats.org/drawingml/2006/table">
            <a:tbl>
              <a:tblPr/>
              <a:tblGrid>
                <a:gridCol w="1170130">
                  <a:extLst>
                    <a:ext uri="{9D8B030D-6E8A-4147-A177-3AD203B41FA5}">
                      <a16:colId xmlns:a16="http://schemas.microsoft.com/office/drawing/2014/main" val="20000"/>
                    </a:ext>
                  </a:extLst>
                </a:gridCol>
                <a:gridCol w="1053117">
                  <a:extLst>
                    <a:ext uri="{9D8B030D-6E8A-4147-A177-3AD203B41FA5}">
                      <a16:colId xmlns:a16="http://schemas.microsoft.com/office/drawing/2014/main" val="20001"/>
                    </a:ext>
                  </a:extLst>
                </a:gridCol>
                <a:gridCol w="1053117">
                  <a:extLst>
                    <a:ext uri="{9D8B030D-6E8A-4147-A177-3AD203B41FA5}">
                      <a16:colId xmlns:a16="http://schemas.microsoft.com/office/drawing/2014/main" val="20002"/>
                    </a:ext>
                  </a:extLst>
                </a:gridCol>
                <a:gridCol w="1287143">
                  <a:extLst>
                    <a:ext uri="{9D8B030D-6E8A-4147-A177-3AD203B41FA5}">
                      <a16:colId xmlns:a16="http://schemas.microsoft.com/office/drawing/2014/main" val="20003"/>
                    </a:ext>
                  </a:extLst>
                </a:gridCol>
                <a:gridCol w="1053117">
                  <a:extLst>
                    <a:ext uri="{9D8B030D-6E8A-4147-A177-3AD203B41FA5}">
                      <a16:colId xmlns:a16="http://schemas.microsoft.com/office/drawing/2014/main" val="20004"/>
                    </a:ext>
                  </a:extLst>
                </a:gridCol>
              </a:tblGrid>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R.</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R.</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R.</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S.</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学历</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S.</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补助</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8687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44" name="Rectangle 91"/>
          <p:cNvSpPr>
            <a:spLocks noChangeArrowheads="1"/>
          </p:cNvSpPr>
          <p:nvPr/>
        </p:nvSpPr>
        <p:spPr bwMode="auto">
          <a:xfrm>
            <a:off x="1722140" y="3212976"/>
            <a:ext cx="205185"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45" name="Rectangle 92"/>
          <p:cNvSpPr>
            <a:spLocks noChangeArrowheads="1"/>
          </p:cNvSpPr>
          <p:nvPr/>
        </p:nvSpPr>
        <p:spPr bwMode="auto">
          <a:xfrm>
            <a:off x="4293818" y="3237487"/>
            <a:ext cx="171522"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46" name="Rectangle 93"/>
          <p:cNvSpPr>
            <a:spLocks noChangeArrowheads="1"/>
          </p:cNvSpPr>
          <p:nvPr/>
        </p:nvSpPr>
        <p:spPr bwMode="auto">
          <a:xfrm>
            <a:off x="8932465" y="3330722"/>
            <a:ext cx="735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dirty="0">
                <a:solidFill>
                  <a:prstClr val="white"/>
                </a:solidFill>
                <a:latin typeface="Arial" charset="0"/>
                <a:ea typeface="黑体" panose="02010609060101010101" pitchFamily="49" charset="-122"/>
              </a:rPr>
              <a:t>R×S</a:t>
            </a:r>
            <a:endParaRPr lang="zh-CN" altLang="en-US" sz="2400" baseline="0" dirty="0">
              <a:solidFill>
                <a:prstClr val="white"/>
              </a:solidFill>
              <a:latin typeface="Arial" charset="0"/>
              <a:ea typeface="黑体" panose="02010609060101010101" pitchFamily="49" charset="-122"/>
            </a:endParaRPr>
          </a:p>
        </p:txBody>
      </p:sp>
      <p:sp>
        <p:nvSpPr>
          <p:cNvPr id="10" name="矩形 9"/>
          <p:cNvSpPr/>
          <p:nvPr/>
        </p:nvSpPr>
        <p:spPr>
          <a:xfrm>
            <a:off x="818832" y="5540146"/>
            <a:ext cx="4505662" cy="954107"/>
          </a:xfrm>
          <a:prstGeom prst="rect">
            <a:avLst/>
          </a:prstGeom>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注意</a:t>
            </a:r>
            <a:r>
              <a:rPr lang="zh-CN" altLang="en-US" sz="2800" b="1" dirty="0" smtClean="0">
                <a:solidFill>
                  <a:srgbClr val="FF0000"/>
                </a:solidFill>
                <a:latin typeface="微软雅黑" panose="020B0503020204020204" pitchFamily="34" charset="-122"/>
                <a:ea typeface="微软雅黑" panose="020B0503020204020204" pitchFamily="34" charset="-122"/>
              </a:rPr>
              <a:t>：</a:t>
            </a:r>
            <a:endParaRPr lang="en-US" altLang="zh-CN" sz="2800" b="1" dirty="0" smtClean="0">
              <a:solidFill>
                <a:srgbClr val="FF0000"/>
              </a:solidFill>
              <a:latin typeface="微软雅黑" panose="020B0503020204020204" pitchFamily="34" charset="-122"/>
              <a:ea typeface="微软雅黑" panose="020B0503020204020204" pitchFamily="34" charset="-122"/>
            </a:endParaRPr>
          </a:p>
          <a:p>
            <a:r>
              <a:rPr lang="zh-CN" altLang="en-US" sz="2800" b="1" dirty="0">
                <a:solidFill>
                  <a:srgbClr val="FF0000"/>
                </a:solidFill>
                <a:latin typeface="微软雅黑" panose="020B0503020204020204" pitchFamily="34" charset="-122"/>
                <a:ea typeface="微软雅黑" panose="020B0503020204020204" pitchFamily="34" charset="-122"/>
              </a:rPr>
              <a:t>广义笛卡尔积操作中的关系</a:t>
            </a:r>
            <a:r>
              <a:rPr lang="en-US" altLang="zh-CN" sz="2800" b="1" dirty="0">
                <a:solidFill>
                  <a:srgbClr val="FF0000"/>
                </a:solidFill>
                <a:latin typeface="微软雅黑" panose="020B0503020204020204" pitchFamily="34" charset="-122"/>
                <a:ea typeface="微软雅黑" panose="020B0503020204020204" pitchFamily="34" charset="-122"/>
              </a:rPr>
              <a:t>R</a:t>
            </a:r>
            <a:r>
              <a:rPr lang="zh-CN" altLang="en-US" sz="2800" b="1" dirty="0">
                <a:solidFill>
                  <a:srgbClr val="FF0000"/>
                </a:solidFill>
                <a:latin typeface="微软雅黑" panose="020B0503020204020204" pitchFamily="34" charset="-122"/>
                <a:ea typeface="微软雅黑" panose="020B0503020204020204" pitchFamily="34" charset="-122"/>
              </a:rPr>
              <a:t>和</a:t>
            </a:r>
            <a:r>
              <a:rPr lang="en-US" altLang="zh-CN" sz="2800" b="1" dirty="0">
                <a:solidFill>
                  <a:srgbClr val="FF0000"/>
                </a:solidFill>
                <a:latin typeface="微软雅黑" panose="020B0503020204020204" pitchFamily="34" charset="-122"/>
                <a:ea typeface="微软雅黑" panose="020B0503020204020204" pitchFamily="34" charset="-122"/>
              </a:rPr>
              <a:t>S</a:t>
            </a:r>
            <a:r>
              <a:rPr lang="zh-CN" altLang="en-US" sz="2800" b="1" dirty="0">
                <a:solidFill>
                  <a:srgbClr val="FF0000"/>
                </a:solidFill>
                <a:latin typeface="微软雅黑" panose="020B0503020204020204" pitchFamily="34" charset="-122"/>
                <a:ea typeface="微软雅黑" panose="020B0503020204020204" pitchFamily="34" charset="-122"/>
              </a:rPr>
              <a:t>的结构可以不同，它是关系代数的基本操作。</a:t>
            </a:r>
          </a:p>
        </p:txBody>
      </p:sp>
    </p:spTree>
    <p:extLst>
      <p:ext uri="{BB962C8B-B14F-4D97-AF65-F5344CB8AC3E}">
        <p14:creationId xmlns:p14="http://schemas.microsoft.com/office/powerpoint/2010/main" val="242767171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 name="Group 41"/>
          <p:cNvGraphicFramePr>
            <a:graphicFrameLocks noGrp="1"/>
          </p:cNvGraphicFramePr>
          <p:nvPr>
            <p:extLst>
              <p:ext uri="{D42A27DB-BD31-4B8C-83A1-F6EECF244321}">
                <p14:modId xmlns:p14="http://schemas.microsoft.com/office/powerpoint/2010/main" val="3756336434"/>
              </p:ext>
            </p:extLst>
          </p:nvPr>
        </p:nvGraphicFramePr>
        <p:xfrm>
          <a:off x="6168008" y="3817242"/>
          <a:ext cx="5616624" cy="2779714"/>
        </p:xfrm>
        <a:graphic>
          <a:graphicData uri="http://schemas.openxmlformats.org/drawingml/2006/table">
            <a:tbl>
              <a:tblPr/>
              <a:tblGrid>
                <a:gridCol w="1170130">
                  <a:extLst>
                    <a:ext uri="{9D8B030D-6E8A-4147-A177-3AD203B41FA5}">
                      <a16:colId xmlns:a16="http://schemas.microsoft.com/office/drawing/2014/main" val="20000"/>
                    </a:ext>
                  </a:extLst>
                </a:gridCol>
                <a:gridCol w="1053117">
                  <a:extLst>
                    <a:ext uri="{9D8B030D-6E8A-4147-A177-3AD203B41FA5}">
                      <a16:colId xmlns:a16="http://schemas.microsoft.com/office/drawing/2014/main" val="20001"/>
                    </a:ext>
                  </a:extLst>
                </a:gridCol>
                <a:gridCol w="1053117">
                  <a:extLst>
                    <a:ext uri="{9D8B030D-6E8A-4147-A177-3AD203B41FA5}">
                      <a16:colId xmlns:a16="http://schemas.microsoft.com/office/drawing/2014/main" val="20002"/>
                    </a:ext>
                  </a:extLst>
                </a:gridCol>
                <a:gridCol w="1287143">
                  <a:extLst>
                    <a:ext uri="{9D8B030D-6E8A-4147-A177-3AD203B41FA5}">
                      <a16:colId xmlns:a16="http://schemas.microsoft.com/office/drawing/2014/main" val="20003"/>
                    </a:ext>
                  </a:extLst>
                </a:gridCol>
                <a:gridCol w="1053117">
                  <a:extLst>
                    <a:ext uri="{9D8B030D-6E8A-4147-A177-3AD203B41FA5}">
                      <a16:colId xmlns:a16="http://schemas.microsoft.com/office/drawing/2014/main" val="20004"/>
                    </a:ext>
                  </a:extLst>
                </a:gridCol>
              </a:tblGrid>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学历</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补助</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3" name="标题 2"/>
          <p:cNvSpPr>
            <a:spLocks noGrp="1"/>
          </p:cNvSpPr>
          <p:nvPr>
            <p:ph type="title"/>
          </p:nvPr>
        </p:nvSpPr>
        <p:spPr>
          <a:xfrm>
            <a:off x="767408" y="0"/>
            <a:ext cx="11426508"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广义笛卡尔积（</a:t>
            </a:r>
            <a:r>
              <a:rPr lang="en-US" altLang="zh-CN" b="1" u="sng" kern="1200" dirty="0">
                <a:solidFill>
                  <a:schemeClr val="folHlink"/>
                </a:solidFill>
                <a:effectLst>
                  <a:outerShdw blurRad="38100" dist="38100" dir="2700000" algn="tl">
                    <a:srgbClr val="000000"/>
                  </a:outerShdw>
                </a:effectLst>
                <a:cs typeface="+mn-cs"/>
              </a:rPr>
              <a:t>Extended Cartesian Product</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graphicFrame>
        <p:nvGraphicFramePr>
          <p:cNvPr id="41" name="Group 5"/>
          <p:cNvGraphicFramePr>
            <a:graphicFrameLocks noGrp="1"/>
          </p:cNvGraphicFramePr>
          <p:nvPr>
            <p:extLst>
              <p:ext uri="{D42A27DB-BD31-4B8C-83A1-F6EECF244321}">
                <p14:modId xmlns:p14="http://schemas.microsoft.com/office/powerpoint/2010/main" val="4267670478"/>
              </p:ext>
            </p:extLst>
          </p:nvPr>
        </p:nvGraphicFramePr>
        <p:xfrm>
          <a:off x="3494237" y="4508318"/>
          <a:ext cx="1905000" cy="1296945"/>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3231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学历</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补助</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r h="43231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高中</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3231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大学</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240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graphicFrame>
        <p:nvGraphicFramePr>
          <p:cNvPr id="42" name="Group 19"/>
          <p:cNvGraphicFramePr>
            <a:graphicFrameLocks noGrp="1"/>
          </p:cNvGraphicFramePr>
          <p:nvPr>
            <p:extLst>
              <p:ext uri="{D42A27DB-BD31-4B8C-83A1-F6EECF244321}">
                <p14:modId xmlns:p14="http://schemas.microsoft.com/office/powerpoint/2010/main" val="3720544685"/>
              </p:ext>
            </p:extLst>
          </p:nvPr>
        </p:nvGraphicFramePr>
        <p:xfrm>
          <a:off x="757932" y="4509119"/>
          <a:ext cx="2313731" cy="1601316"/>
        </p:xfrm>
        <a:graphic>
          <a:graphicData uri="http://schemas.openxmlformats.org/drawingml/2006/table">
            <a:tbl>
              <a:tblPr/>
              <a:tblGrid>
                <a:gridCol w="826333">
                  <a:extLst>
                    <a:ext uri="{9D8B030D-6E8A-4147-A177-3AD203B41FA5}">
                      <a16:colId xmlns:a16="http://schemas.microsoft.com/office/drawing/2014/main" val="20000"/>
                    </a:ext>
                  </a:extLst>
                </a:gridCol>
                <a:gridCol w="743699">
                  <a:extLst>
                    <a:ext uri="{9D8B030D-6E8A-4147-A177-3AD203B41FA5}">
                      <a16:colId xmlns:a16="http://schemas.microsoft.com/office/drawing/2014/main" val="20001"/>
                    </a:ext>
                  </a:extLst>
                </a:gridCol>
                <a:gridCol w="743699">
                  <a:extLst>
                    <a:ext uri="{9D8B030D-6E8A-4147-A177-3AD203B41FA5}">
                      <a16:colId xmlns:a16="http://schemas.microsoft.com/office/drawing/2014/main" val="20002"/>
                    </a:ext>
                  </a:extLst>
                </a:gridCol>
              </a:tblGrid>
              <a:tr h="40032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0032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0032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0032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44" name="Rectangle 91"/>
          <p:cNvSpPr>
            <a:spLocks noChangeArrowheads="1"/>
          </p:cNvSpPr>
          <p:nvPr/>
        </p:nvSpPr>
        <p:spPr bwMode="auto">
          <a:xfrm>
            <a:off x="1722140" y="4077947"/>
            <a:ext cx="205185"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45" name="Rectangle 92"/>
          <p:cNvSpPr>
            <a:spLocks noChangeArrowheads="1"/>
          </p:cNvSpPr>
          <p:nvPr/>
        </p:nvSpPr>
        <p:spPr bwMode="auto">
          <a:xfrm>
            <a:off x="4293818" y="4102458"/>
            <a:ext cx="171522"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46" name="Rectangle 93"/>
          <p:cNvSpPr>
            <a:spLocks noChangeArrowheads="1"/>
          </p:cNvSpPr>
          <p:nvPr/>
        </p:nvSpPr>
        <p:spPr bwMode="auto">
          <a:xfrm>
            <a:off x="8932465" y="3330722"/>
            <a:ext cx="735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dirty="0">
                <a:solidFill>
                  <a:prstClr val="white"/>
                </a:solidFill>
                <a:latin typeface="Arial" charset="0"/>
                <a:ea typeface="黑体" panose="02010609060101010101" pitchFamily="49" charset="-122"/>
              </a:rPr>
              <a:t>R×S</a:t>
            </a:r>
            <a:endParaRPr lang="zh-CN" altLang="en-US" sz="2400" baseline="0" dirty="0">
              <a:solidFill>
                <a:prstClr val="white"/>
              </a:solidFill>
              <a:latin typeface="Arial" charset="0"/>
              <a:ea typeface="黑体" panose="02010609060101010101" pitchFamily="49" charset="-122"/>
            </a:endParaRPr>
          </a:p>
        </p:txBody>
      </p:sp>
      <p:sp>
        <p:nvSpPr>
          <p:cNvPr id="11" name="圆角矩形标注 10"/>
          <p:cNvSpPr/>
          <p:nvPr/>
        </p:nvSpPr>
        <p:spPr bwMode="auto">
          <a:xfrm>
            <a:off x="7135522" y="4669614"/>
            <a:ext cx="4329663" cy="1440821"/>
          </a:xfrm>
          <a:prstGeom prst="wedgeRoundRectCallout">
            <a:avLst>
              <a:gd name="adj1" fmla="val -27291"/>
              <a:gd name="adj2" fmla="val -84825"/>
              <a:gd name="adj3" fmla="val 16667"/>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wrap="square" lIns="36000" tIns="36000" rIns="36000" bIns="36000" anchor="ctr" anchorCtr="0">
            <a:noAutofit/>
          </a:bodyPr>
          <a:lstStyle/>
          <a:p>
            <a:pPr fontAlgn="auto">
              <a:spcBef>
                <a:spcPts val="0"/>
              </a:spcBef>
            </a:pPr>
            <a:r>
              <a:rPr lang="zh-CN" altLang="en-US" sz="2800" b="1" kern="0" baseline="0" dirty="0">
                <a:solidFill>
                  <a:srgbClr val="3333CC"/>
                </a:solidFill>
                <a:latin typeface="微软雅黑" panose="020B0503020204020204" pitchFamily="34" charset="-122"/>
                <a:ea typeface="微软雅黑" panose="020B0503020204020204" pitchFamily="34" charset="-122"/>
              </a:rPr>
              <a:t>无二义性的情况下属性名前可以省略关系名前缀</a:t>
            </a:r>
          </a:p>
        </p:txBody>
      </p:sp>
      <p:sp>
        <p:nvSpPr>
          <p:cNvPr id="14" name="Rectangle 4"/>
          <p:cNvSpPr txBox="1">
            <a:spLocks noChangeArrowheads="1"/>
          </p:cNvSpPr>
          <p:nvPr/>
        </p:nvSpPr>
        <p:spPr bwMode="auto">
          <a:xfrm>
            <a:off x="407368" y="858612"/>
            <a:ext cx="11521280" cy="2779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30000"/>
              </a:spcAft>
              <a:buNone/>
              <a:defRPr/>
            </a:pPr>
            <a:r>
              <a:rPr kumimoji="1" lang="zh-CN" altLang="en-US" baseline="0" dirty="0">
                <a:latin typeface="Arial" charset="0"/>
              </a:rPr>
              <a:t>	</a:t>
            </a:r>
            <a:r>
              <a:rPr kumimoji="1" lang="zh-CN" altLang="zh-CN" baseline="0" dirty="0">
                <a:latin typeface="Arial" charset="0"/>
              </a:rPr>
              <a:t>设</a:t>
            </a:r>
            <a:r>
              <a:rPr kumimoji="1" lang="zh-CN" altLang="en-US" baseline="0" dirty="0">
                <a:latin typeface="Arial" charset="0"/>
              </a:rPr>
              <a:t>m元</a:t>
            </a:r>
            <a:r>
              <a:rPr kumimoji="1" lang="zh-CN" altLang="zh-CN" baseline="0" dirty="0">
                <a:latin typeface="Arial" charset="0"/>
              </a:rPr>
              <a:t>关系R有a个元组，</a:t>
            </a:r>
            <a:r>
              <a:rPr kumimoji="1" lang="zh-CN" altLang="en-US" baseline="0" dirty="0">
                <a:latin typeface="Arial" charset="0"/>
              </a:rPr>
              <a:t>n元</a:t>
            </a:r>
            <a:r>
              <a:rPr kumimoji="1" lang="zh-CN" altLang="zh-CN" baseline="0" dirty="0">
                <a:latin typeface="Arial" charset="0"/>
              </a:rPr>
              <a:t>关系S有b个元组，则R和S的广义笛卡尔积是一个有a×b个元组的</a:t>
            </a:r>
            <a:r>
              <a:rPr kumimoji="1" lang="zh-CN" altLang="en-US" baseline="0" dirty="0">
                <a:latin typeface="Arial" charset="0"/>
              </a:rPr>
              <a:t>m</a:t>
            </a:r>
            <a:r>
              <a:rPr kumimoji="1" lang="en-US" altLang="zh-CN" baseline="0" dirty="0">
                <a:latin typeface="Arial" charset="0"/>
              </a:rPr>
              <a:t>+n</a:t>
            </a:r>
            <a:r>
              <a:rPr kumimoji="1" lang="zh-CN" altLang="en-US" baseline="0" dirty="0">
                <a:latin typeface="Arial" charset="0"/>
              </a:rPr>
              <a:t>元关系</a:t>
            </a:r>
            <a:r>
              <a:rPr kumimoji="1" lang="zh-CN" altLang="zh-CN" baseline="0" dirty="0">
                <a:latin typeface="Arial" charset="0"/>
              </a:rPr>
              <a:t>，其中每一个元组的前</a:t>
            </a:r>
            <a:r>
              <a:rPr kumimoji="1" lang="zh-CN" altLang="en-US" baseline="0" dirty="0">
                <a:latin typeface="Arial" charset="0"/>
              </a:rPr>
              <a:t>m个分量</a:t>
            </a:r>
            <a:r>
              <a:rPr kumimoji="1" lang="zh-CN" altLang="zh-CN" baseline="0" dirty="0">
                <a:latin typeface="Arial" charset="0"/>
              </a:rPr>
              <a:t>是关系R的一个元组，后</a:t>
            </a:r>
            <a:r>
              <a:rPr kumimoji="1" lang="zh-CN" altLang="en-US" baseline="0" dirty="0">
                <a:latin typeface="Arial" charset="0"/>
              </a:rPr>
              <a:t>n个分量</a:t>
            </a:r>
            <a:r>
              <a:rPr kumimoji="1" lang="zh-CN" altLang="zh-CN" baseline="0" dirty="0">
                <a:latin typeface="Arial" charset="0"/>
              </a:rPr>
              <a:t>是关系S的一个元组。记作：</a:t>
            </a:r>
            <a:r>
              <a:rPr kumimoji="1" lang="zh-CN" altLang="en-US" baseline="0" dirty="0">
                <a:latin typeface="Arial" charset="0"/>
              </a:rPr>
              <a:t>  </a:t>
            </a:r>
            <a:r>
              <a:rPr kumimoji="1" lang="zh-CN" altLang="zh-CN" baseline="0" dirty="0">
                <a:solidFill>
                  <a:srgbClr val="FFFF00"/>
                </a:solidFill>
                <a:latin typeface="Arial" charset="0"/>
              </a:rPr>
              <a:t>R</a:t>
            </a:r>
            <a:r>
              <a:rPr kumimoji="1" lang="zh-CN" altLang="zh-CN" baseline="0" dirty="0">
                <a:solidFill>
                  <a:srgbClr val="FFFF00"/>
                </a:solidFill>
                <a:latin typeface="Arial" charset="0"/>
                <a:ea typeface="宋体" pitchFamily="2" charset="-122"/>
              </a:rPr>
              <a:t>×</a:t>
            </a:r>
            <a:r>
              <a:rPr kumimoji="1" lang="zh-CN" altLang="zh-CN" baseline="0" dirty="0">
                <a:solidFill>
                  <a:srgbClr val="FFFF00"/>
                </a:solidFill>
                <a:latin typeface="Arial" charset="0"/>
              </a:rPr>
              <a:t>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en-US" altLang="zh-CN" baseline="0" dirty="0">
                <a:solidFill>
                  <a:srgbClr val="FFFF00"/>
                </a:solidFill>
                <a:latin typeface="Arial" charset="0"/>
              </a:rPr>
              <a:t>{ &lt;</a:t>
            </a:r>
            <a:r>
              <a:rPr kumimoji="1" lang="en-US" altLang="zh-CN" baseline="0" dirty="0" err="1">
                <a:solidFill>
                  <a:srgbClr val="FFFF00"/>
                </a:solidFill>
                <a:latin typeface="Arial" charset="0"/>
              </a:rPr>
              <a:t>tr,ts</a:t>
            </a:r>
            <a:r>
              <a:rPr kumimoji="1" lang="en-US" altLang="zh-CN" baseline="0" dirty="0">
                <a:solidFill>
                  <a:srgbClr val="FFFF00"/>
                </a:solidFill>
                <a:latin typeface="Arial" charset="0"/>
              </a:rPr>
              <a:t>&gt; | </a:t>
            </a:r>
            <a:r>
              <a:rPr kumimoji="1" lang="en-US" altLang="zh-CN" baseline="0" dirty="0" err="1">
                <a:solidFill>
                  <a:srgbClr val="FFFF00"/>
                </a:solidFill>
                <a:latin typeface="Arial" charset="0"/>
              </a:rPr>
              <a:t>tr</a:t>
            </a:r>
            <a:r>
              <a:rPr kumimoji="1" lang="en-US" altLang="zh-CN" baseline="0" dirty="0" err="1">
                <a:solidFill>
                  <a:srgbClr val="FFFF00"/>
                </a:solidFill>
                <a:latin typeface="Arial" charset="0"/>
                <a:ea typeface="宋体" pitchFamily="2" charset="-122"/>
              </a:rPr>
              <a:t>∈</a:t>
            </a:r>
            <a:r>
              <a:rPr kumimoji="1" lang="en-US" altLang="zh-CN" baseline="0" dirty="0" err="1">
                <a:solidFill>
                  <a:srgbClr val="FFFF00"/>
                </a:solidFill>
                <a:latin typeface="Arial" charset="0"/>
              </a:rPr>
              <a:t>R</a:t>
            </a:r>
            <a:r>
              <a:rPr kumimoji="1" lang="en-US" altLang="zh-CN" baseline="0" dirty="0">
                <a:solidFill>
                  <a:srgbClr val="FFFF00"/>
                </a:solidFill>
                <a:latin typeface="Arial" charset="0"/>
              </a:rPr>
              <a:t> ∧ </a:t>
            </a:r>
            <a:r>
              <a:rPr kumimoji="1" lang="en-US" altLang="zh-CN" baseline="0" dirty="0" err="1">
                <a:solidFill>
                  <a:srgbClr val="FFFF00"/>
                </a:solidFill>
                <a:latin typeface="Arial" charset="0"/>
              </a:rPr>
              <a:t>ts</a:t>
            </a:r>
            <a:r>
              <a:rPr kumimoji="1" lang="en-US" altLang="zh-CN" baseline="0" dirty="0" err="1">
                <a:solidFill>
                  <a:srgbClr val="FFFF00"/>
                </a:solidFill>
                <a:latin typeface="Arial" charset="0"/>
                <a:ea typeface="宋体" pitchFamily="2" charset="-122"/>
              </a:rPr>
              <a:t>∈S</a:t>
            </a:r>
            <a:r>
              <a:rPr kumimoji="1" lang="en-US" altLang="zh-CN" baseline="0" dirty="0">
                <a:solidFill>
                  <a:srgbClr val="FFFF00"/>
                </a:solidFill>
                <a:latin typeface="Arial" charset="0"/>
              </a:rPr>
              <a:t> }</a:t>
            </a:r>
          </a:p>
        </p:txBody>
      </p:sp>
    </p:spTree>
    <p:extLst>
      <p:ext uri="{BB962C8B-B14F-4D97-AF65-F5344CB8AC3E}">
        <p14:creationId xmlns:p14="http://schemas.microsoft.com/office/powerpoint/2010/main" val="273534654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3000" fill="hold" grpId="0" nodeType="afterEffect">
                                  <p:stCondLst>
                                    <p:cond delay="0"/>
                                  </p:stCondLst>
                                  <p:childTnLst>
                                    <p:animEffect transition="out" filter="fade">
                                      <p:cBhvr>
                                        <p:cTn id="6" dur="500" tmFilter="0, 0; .2, .5; .8, .5; 1, 0"/>
                                        <p:tgtEl>
                                          <p:spTgt spid="11"/>
                                        </p:tgtEl>
                                      </p:cBhvr>
                                    </p:animEffect>
                                    <p:animScale>
                                      <p:cBhvr>
                                        <p:cTn id="7"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 name="Group 41"/>
          <p:cNvGraphicFramePr>
            <a:graphicFrameLocks noGrp="1"/>
          </p:cNvGraphicFramePr>
          <p:nvPr>
            <p:extLst>
              <p:ext uri="{D42A27DB-BD31-4B8C-83A1-F6EECF244321}">
                <p14:modId xmlns:p14="http://schemas.microsoft.com/office/powerpoint/2010/main" val="1887125170"/>
              </p:ext>
            </p:extLst>
          </p:nvPr>
        </p:nvGraphicFramePr>
        <p:xfrm>
          <a:off x="6168008" y="3817241"/>
          <a:ext cx="5616624" cy="2779714"/>
        </p:xfrm>
        <a:graphic>
          <a:graphicData uri="http://schemas.openxmlformats.org/drawingml/2006/table">
            <a:tbl>
              <a:tblPr/>
              <a:tblGrid>
                <a:gridCol w="1170130">
                  <a:extLst>
                    <a:ext uri="{9D8B030D-6E8A-4147-A177-3AD203B41FA5}">
                      <a16:colId xmlns:a16="http://schemas.microsoft.com/office/drawing/2014/main" val="20000"/>
                    </a:ext>
                  </a:extLst>
                </a:gridCol>
                <a:gridCol w="1053117">
                  <a:extLst>
                    <a:ext uri="{9D8B030D-6E8A-4147-A177-3AD203B41FA5}">
                      <a16:colId xmlns:a16="http://schemas.microsoft.com/office/drawing/2014/main" val="20001"/>
                    </a:ext>
                  </a:extLst>
                </a:gridCol>
                <a:gridCol w="1053117">
                  <a:extLst>
                    <a:ext uri="{9D8B030D-6E8A-4147-A177-3AD203B41FA5}">
                      <a16:colId xmlns:a16="http://schemas.microsoft.com/office/drawing/2014/main" val="20002"/>
                    </a:ext>
                  </a:extLst>
                </a:gridCol>
                <a:gridCol w="1287143">
                  <a:extLst>
                    <a:ext uri="{9D8B030D-6E8A-4147-A177-3AD203B41FA5}">
                      <a16:colId xmlns:a16="http://schemas.microsoft.com/office/drawing/2014/main" val="20003"/>
                    </a:ext>
                  </a:extLst>
                </a:gridCol>
                <a:gridCol w="1053117">
                  <a:extLst>
                    <a:ext uri="{9D8B030D-6E8A-4147-A177-3AD203B41FA5}">
                      <a16:colId xmlns:a16="http://schemas.microsoft.com/office/drawing/2014/main" val="20004"/>
                    </a:ext>
                  </a:extLst>
                </a:gridCol>
              </a:tblGrid>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R.</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99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S.</a:t>
                      </a: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 </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99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权值</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16</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16</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9710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16</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3" name="标题 2"/>
          <p:cNvSpPr>
            <a:spLocks noGrp="1"/>
          </p:cNvSpPr>
          <p:nvPr>
            <p:ph type="title"/>
          </p:nvPr>
        </p:nvSpPr>
        <p:spPr>
          <a:xfrm>
            <a:off x="767408" y="0"/>
            <a:ext cx="11426508"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广义笛卡尔积（</a:t>
            </a:r>
            <a:r>
              <a:rPr lang="en-US" altLang="zh-CN" b="1" u="sng" kern="1200" dirty="0">
                <a:solidFill>
                  <a:schemeClr val="folHlink"/>
                </a:solidFill>
                <a:effectLst>
                  <a:outerShdw blurRad="38100" dist="38100" dir="2700000" algn="tl">
                    <a:srgbClr val="000000"/>
                  </a:outerShdw>
                </a:effectLst>
                <a:cs typeface="+mn-cs"/>
              </a:rPr>
              <a:t>Extended Cartesian Product</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graphicFrame>
        <p:nvGraphicFramePr>
          <p:cNvPr id="41" name="Group 5"/>
          <p:cNvGraphicFramePr>
            <a:graphicFrameLocks noGrp="1"/>
          </p:cNvGraphicFramePr>
          <p:nvPr>
            <p:extLst>
              <p:ext uri="{D42A27DB-BD31-4B8C-83A1-F6EECF244321}">
                <p14:modId xmlns:p14="http://schemas.microsoft.com/office/powerpoint/2010/main" val="4252541788"/>
              </p:ext>
            </p:extLst>
          </p:nvPr>
        </p:nvGraphicFramePr>
        <p:xfrm>
          <a:off x="3494237" y="4508318"/>
          <a:ext cx="1905000" cy="1296945"/>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3231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99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权值</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00CC"/>
                    </a:solidFill>
                  </a:tcPr>
                </a:tc>
                <a:extLst>
                  <a:ext uri="{0D108BD9-81ED-4DB2-BD59-A6C34878D82A}">
                    <a16:rowId xmlns:a16="http://schemas.microsoft.com/office/drawing/2014/main" val="10000"/>
                  </a:ext>
                </a:extLst>
              </a:tr>
              <a:tr h="43231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3231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16</a:t>
                      </a:r>
                      <a:endPar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endParaRP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graphicFrame>
        <p:nvGraphicFramePr>
          <p:cNvPr id="42" name="Group 19"/>
          <p:cNvGraphicFramePr>
            <a:graphicFrameLocks noGrp="1"/>
          </p:cNvGraphicFramePr>
          <p:nvPr>
            <p:extLst>
              <p:ext uri="{D42A27DB-BD31-4B8C-83A1-F6EECF244321}">
                <p14:modId xmlns:p14="http://schemas.microsoft.com/office/powerpoint/2010/main" val="303611251"/>
              </p:ext>
            </p:extLst>
          </p:nvPr>
        </p:nvGraphicFramePr>
        <p:xfrm>
          <a:off x="757932" y="4509120"/>
          <a:ext cx="2313731" cy="1728192"/>
        </p:xfrm>
        <a:graphic>
          <a:graphicData uri="http://schemas.openxmlformats.org/drawingml/2006/table">
            <a:tbl>
              <a:tblPr/>
              <a:tblGrid>
                <a:gridCol w="826333">
                  <a:extLst>
                    <a:ext uri="{9D8B030D-6E8A-4147-A177-3AD203B41FA5}">
                      <a16:colId xmlns:a16="http://schemas.microsoft.com/office/drawing/2014/main" val="20000"/>
                    </a:ext>
                  </a:extLst>
                </a:gridCol>
                <a:gridCol w="743699">
                  <a:extLst>
                    <a:ext uri="{9D8B030D-6E8A-4147-A177-3AD203B41FA5}">
                      <a16:colId xmlns:a16="http://schemas.microsoft.com/office/drawing/2014/main" val="20001"/>
                    </a:ext>
                  </a:extLst>
                </a:gridCol>
                <a:gridCol w="743699">
                  <a:extLst>
                    <a:ext uri="{9D8B030D-6E8A-4147-A177-3AD203B41FA5}">
                      <a16:colId xmlns:a16="http://schemas.microsoft.com/office/drawing/2014/main" val="20002"/>
                    </a:ext>
                  </a:extLst>
                </a:gridCol>
              </a:tblGrid>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0099CC"/>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3204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44" name="Rectangle 91"/>
          <p:cNvSpPr>
            <a:spLocks noChangeArrowheads="1"/>
          </p:cNvSpPr>
          <p:nvPr/>
        </p:nvSpPr>
        <p:spPr bwMode="auto">
          <a:xfrm>
            <a:off x="1722140" y="4077947"/>
            <a:ext cx="205185"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R</a:t>
            </a:r>
          </a:p>
        </p:txBody>
      </p:sp>
      <p:sp>
        <p:nvSpPr>
          <p:cNvPr id="45" name="Rectangle 92"/>
          <p:cNvSpPr>
            <a:spLocks noChangeArrowheads="1"/>
          </p:cNvSpPr>
          <p:nvPr/>
        </p:nvSpPr>
        <p:spPr bwMode="auto">
          <a:xfrm>
            <a:off x="4293818" y="4102458"/>
            <a:ext cx="171522" cy="369332"/>
          </a:xfrm>
          <a:prstGeom prst="rect">
            <a:avLst/>
          </a:prstGeom>
          <a:noFill/>
          <a:ln w="12700" cap="sq">
            <a:noFill/>
            <a:miter lim="800000"/>
            <a:headEnd/>
            <a:tailEnd/>
          </a:ln>
          <a:effectLst/>
        </p:spPr>
        <p:txBody>
          <a:bodyPr wrap="none" lIns="0" tIns="0" rIns="0" bIns="0">
            <a:spAutoFit/>
          </a:bodyPr>
          <a:lstStyle/>
          <a:p>
            <a:pPr algn="ct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a:t>
            </a:r>
          </a:p>
        </p:txBody>
      </p:sp>
      <p:sp>
        <p:nvSpPr>
          <p:cNvPr id="46" name="Rectangle 93"/>
          <p:cNvSpPr>
            <a:spLocks noChangeArrowheads="1"/>
          </p:cNvSpPr>
          <p:nvPr/>
        </p:nvSpPr>
        <p:spPr bwMode="auto">
          <a:xfrm>
            <a:off x="8932465" y="3330722"/>
            <a:ext cx="735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fontAlgn="auto">
              <a:spcBef>
                <a:spcPts val="0"/>
              </a:spcBef>
            </a:pPr>
            <a:r>
              <a:rPr lang="en-US" altLang="zh-CN" sz="2400" baseline="0" dirty="0">
                <a:solidFill>
                  <a:prstClr val="white"/>
                </a:solidFill>
                <a:latin typeface="Arial" charset="0"/>
                <a:ea typeface="黑体" panose="02010609060101010101" pitchFamily="49" charset="-122"/>
              </a:rPr>
              <a:t>R×S</a:t>
            </a:r>
            <a:endParaRPr lang="zh-CN" altLang="en-US" sz="2400" baseline="0" dirty="0">
              <a:solidFill>
                <a:prstClr val="white"/>
              </a:solidFill>
              <a:latin typeface="Arial" charset="0"/>
              <a:ea typeface="黑体" panose="02010609060101010101" pitchFamily="49" charset="-122"/>
            </a:endParaRPr>
          </a:p>
        </p:txBody>
      </p:sp>
      <p:sp>
        <p:nvSpPr>
          <p:cNvPr id="10" name="Rectangle 4"/>
          <p:cNvSpPr txBox="1">
            <a:spLocks noChangeArrowheads="1"/>
          </p:cNvSpPr>
          <p:nvPr/>
        </p:nvSpPr>
        <p:spPr bwMode="auto">
          <a:xfrm>
            <a:off x="407368" y="858612"/>
            <a:ext cx="11521280" cy="2779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30000"/>
              </a:spcAft>
              <a:buNone/>
              <a:defRPr/>
            </a:pPr>
            <a:r>
              <a:rPr kumimoji="1" lang="zh-CN" altLang="en-US" baseline="0" dirty="0">
                <a:latin typeface="Arial" charset="0"/>
              </a:rPr>
              <a:t>	</a:t>
            </a:r>
            <a:r>
              <a:rPr kumimoji="1" lang="zh-CN" altLang="zh-CN" baseline="0" dirty="0">
                <a:latin typeface="Arial" charset="0"/>
              </a:rPr>
              <a:t>设</a:t>
            </a:r>
            <a:r>
              <a:rPr kumimoji="1" lang="zh-CN" altLang="en-US" baseline="0" dirty="0">
                <a:latin typeface="Arial" charset="0"/>
              </a:rPr>
              <a:t>m元</a:t>
            </a:r>
            <a:r>
              <a:rPr kumimoji="1" lang="zh-CN" altLang="zh-CN" baseline="0" dirty="0">
                <a:latin typeface="Arial" charset="0"/>
              </a:rPr>
              <a:t>关系R有a个元组，</a:t>
            </a:r>
            <a:r>
              <a:rPr kumimoji="1" lang="zh-CN" altLang="en-US" baseline="0" dirty="0">
                <a:latin typeface="Arial" charset="0"/>
              </a:rPr>
              <a:t>n元</a:t>
            </a:r>
            <a:r>
              <a:rPr kumimoji="1" lang="zh-CN" altLang="zh-CN" baseline="0" dirty="0">
                <a:latin typeface="Arial" charset="0"/>
              </a:rPr>
              <a:t>关系S有b个元组，则R和S的广义笛卡尔积是一个有a×b个元组的</a:t>
            </a:r>
            <a:r>
              <a:rPr kumimoji="1" lang="zh-CN" altLang="en-US" baseline="0" dirty="0">
                <a:latin typeface="Arial" charset="0"/>
              </a:rPr>
              <a:t>m</a:t>
            </a:r>
            <a:r>
              <a:rPr kumimoji="1" lang="en-US" altLang="zh-CN" baseline="0" dirty="0">
                <a:latin typeface="Arial" charset="0"/>
              </a:rPr>
              <a:t>+n</a:t>
            </a:r>
            <a:r>
              <a:rPr kumimoji="1" lang="zh-CN" altLang="en-US" baseline="0" dirty="0">
                <a:latin typeface="Arial" charset="0"/>
              </a:rPr>
              <a:t>元关系</a:t>
            </a:r>
            <a:r>
              <a:rPr kumimoji="1" lang="zh-CN" altLang="zh-CN" baseline="0" dirty="0">
                <a:latin typeface="Arial" charset="0"/>
              </a:rPr>
              <a:t>，其中每一个元组的前</a:t>
            </a:r>
            <a:r>
              <a:rPr kumimoji="1" lang="zh-CN" altLang="en-US" baseline="0" dirty="0">
                <a:latin typeface="Arial" charset="0"/>
              </a:rPr>
              <a:t>m个分量</a:t>
            </a:r>
            <a:r>
              <a:rPr kumimoji="1" lang="zh-CN" altLang="zh-CN" baseline="0" dirty="0">
                <a:latin typeface="Arial" charset="0"/>
              </a:rPr>
              <a:t>是关系R的一个元组，后</a:t>
            </a:r>
            <a:r>
              <a:rPr kumimoji="1" lang="zh-CN" altLang="en-US" baseline="0" dirty="0">
                <a:latin typeface="Arial" charset="0"/>
              </a:rPr>
              <a:t>n个分量</a:t>
            </a:r>
            <a:r>
              <a:rPr kumimoji="1" lang="zh-CN" altLang="zh-CN" baseline="0" dirty="0">
                <a:latin typeface="Arial" charset="0"/>
              </a:rPr>
              <a:t>是关系S的一个元组。记作：</a:t>
            </a:r>
            <a:r>
              <a:rPr kumimoji="1" lang="zh-CN" altLang="en-US" baseline="0" dirty="0">
                <a:latin typeface="Arial" charset="0"/>
              </a:rPr>
              <a:t>  </a:t>
            </a:r>
            <a:r>
              <a:rPr kumimoji="1" lang="zh-CN" altLang="zh-CN" baseline="0" dirty="0">
                <a:solidFill>
                  <a:srgbClr val="FFFF00"/>
                </a:solidFill>
                <a:latin typeface="Arial" charset="0"/>
              </a:rPr>
              <a:t>R</a:t>
            </a:r>
            <a:r>
              <a:rPr kumimoji="1" lang="zh-CN" altLang="zh-CN" baseline="0" dirty="0">
                <a:solidFill>
                  <a:srgbClr val="FFFF00"/>
                </a:solidFill>
                <a:latin typeface="Arial" charset="0"/>
                <a:ea typeface="宋体" pitchFamily="2" charset="-122"/>
              </a:rPr>
              <a:t>×</a:t>
            </a:r>
            <a:r>
              <a:rPr kumimoji="1" lang="zh-CN" altLang="zh-CN" baseline="0" dirty="0">
                <a:solidFill>
                  <a:srgbClr val="FFFF00"/>
                </a:solidFill>
                <a:latin typeface="Arial" charset="0"/>
              </a:rPr>
              <a:t>S</a:t>
            </a:r>
            <a:r>
              <a:rPr kumimoji="1" lang="zh-CN" altLang="en-US" baseline="0" dirty="0">
                <a:solidFill>
                  <a:srgbClr val="FFFF00"/>
                </a:solidFill>
                <a:latin typeface="Arial" charset="0"/>
              </a:rPr>
              <a:t> </a:t>
            </a:r>
            <a:r>
              <a:rPr kumimoji="1" lang="zh-CN" altLang="zh-CN" baseline="0" dirty="0">
                <a:solidFill>
                  <a:srgbClr val="FFFF00"/>
                </a:solidFill>
                <a:latin typeface="Arial" charset="0"/>
              </a:rPr>
              <a:t>=</a:t>
            </a:r>
            <a:r>
              <a:rPr kumimoji="1" lang="zh-CN" altLang="en-US" baseline="0" dirty="0">
                <a:solidFill>
                  <a:srgbClr val="FFFF00"/>
                </a:solidFill>
                <a:latin typeface="Arial" charset="0"/>
              </a:rPr>
              <a:t> </a:t>
            </a:r>
            <a:r>
              <a:rPr kumimoji="1" lang="en-US" altLang="zh-CN" baseline="0" dirty="0">
                <a:solidFill>
                  <a:srgbClr val="FFFF00"/>
                </a:solidFill>
                <a:latin typeface="Arial" charset="0"/>
              </a:rPr>
              <a:t>{ &lt;</a:t>
            </a:r>
            <a:r>
              <a:rPr kumimoji="1" lang="en-US" altLang="zh-CN" baseline="0" dirty="0" err="1">
                <a:solidFill>
                  <a:srgbClr val="FFFF00"/>
                </a:solidFill>
                <a:latin typeface="Arial" charset="0"/>
              </a:rPr>
              <a:t>tr,ts</a:t>
            </a:r>
            <a:r>
              <a:rPr kumimoji="1" lang="en-US" altLang="zh-CN" baseline="0" dirty="0">
                <a:solidFill>
                  <a:srgbClr val="FFFF00"/>
                </a:solidFill>
                <a:latin typeface="Arial" charset="0"/>
              </a:rPr>
              <a:t>&gt; | </a:t>
            </a:r>
            <a:r>
              <a:rPr kumimoji="1" lang="en-US" altLang="zh-CN" baseline="0" dirty="0" err="1">
                <a:solidFill>
                  <a:srgbClr val="FFFF00"/>
                </a:solidFill>
                <a:latin typeface="Arial" charset="0"/>
              </a:rPr>
              <a:t>tr</a:t>
            </a:r>
            <a:r>
              <a:rPr kumimoji="1" lang="en-US" altLang="zh-CN" baseline="0" dirty="0" err="1">
                <a:solidFill>
                  <a:srgbClr val="FFFF00"/>
                </a:solidFill>
                <a:latin typeface="Arial" charset="0"/>
                <a:ea typeface="宋体" pitchFamily="2" charset="-122"/>
              </a:rPr>
              <a:t>∈</a:t>
            </a:r>
            <a:r>
              <a:rPr kumimoji="1" lang="en-US" altLang="zh-CN" baseline="0" dirty="0" err="1">
                <a:solidFill>
                  <a:srgbClr val="FFFF00"/>
                </a:solidFill>
                <a:latin typeface="Arial" charset="0"/>
              </a:rPr>
              <a:t>R</a:t>
            </a:r>
            <a:r>
              <a:rPr kumimoji="1" lang="en-US" altLang="zh-CN" baseline="0" dirty="0">
                <a:solidFill>
                  <a:srgbClr val="FFFF00"/>
                </a:solidFill>
                <a:latin typeface="Arial" charset="0"/>
              </a:rPr>
              <a:t> ∧ </a:t>
            </a:r>
            <a:r>
              <a:rPr kumimoji="1" lang="en-US" altLang="zh-CN" baseline="0" dirty="0" err="1">
                <a:solidFill>
                  <a:srgbClr val="FFFF00"/>
                </a:solidFill>
                <a:latin typeface="Arial" charset="0"/>
              </a:rPr>
              <a:t>ts</a:t>
            </a:r>
            <a:r>
              <a:rPr kumimoji="1" lang="en-US" altLang="zh-CN" baseline="0" dirty="0" err="1">
                <a:solidFill>
                  <a:srgbClr val="FFFF00"/>
                </a:solidFill>
                <a:latin typeface="Arial" charset="0"/>
                <a:ea typeface="宋体" pitchFamily="2" charset="-122"/>
              </a:rPr>
              <a:t>∈S</a:t>
            </a:r>
            <a:r>
              <a:rPr kumimoji="1" lang="en-US" altLang="zh-CN" baseline="0" dirty="0">
                <a:solidFill>
                  <a:srgbClr val="FFFF00"/>
                </a:solidFill>
                <a:latin typeface="Arial" charset="0"/>
              </a:rPr>
              <a:t> }</a:t>
            </a:r>
          </a:p>
        </p:txBody>
      </p:sp>
      <p:sp>
        <p:nvSpPr>
          <p:cNvPr id="11" name="圆角矩形标注 10"/>
          <p:cNvSpPr/>
          <p:nvPr/>
        </p:nvSpPr>
        <p:spPr bwMode="auto">
          <a:xfrm>
            <a:off x="6960096" y="5023462"/>
            <a:ext cx="4268249" cy="1086973"/>
          </a:xfrm>
          <a:prstGeom prst="wedgeRoundRectCallout">
            <a:avLst>
              <a:gd name="adj1" fmla="val -27291"/>
              <a:gd name="adj2" fmla="val -84825"/>
              <a:gd name="adj3" fmla="val 16667"/>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wrap="square" lIns="36000" tIns="36000" rIns="36000" bIns="36000" anchor="ctr" anchorCtr="0">
            <a:noAutofit/>
          </a:bodyPr>
          <a:lstStyle/>
          <a:p>
            <a:pPr fontAlgn="auto">
              <a:spcBef>
                <a:spcPts val="0"/>
              </a:spcBef>
            </a:pPr>
            <a:r>
              <a:rPr lang="zh-CN" altLang="en-US" sz="2800" b="1" kern="0" baseline="0" dirty="0">
                <a:solidFill>
                  <a:srgbClr val="3333CC"/>
                </a:solidFill>
                <a:latin typeface="微软雅黑" panose="020B0503020204020204" pitchFamily="34" charset="-122"/>
                <a:ea typeface="微软雅黑" panose="020B0503020204020204" pitchFamily="34" charset="-122"/>
              </a:rPr>
              <a:t>可以混用两种格式，只要保证无二义性即可</a:t>
            </a:r>
          </a:p>
        </p:txBody>
      </p:sp>
    </p:spTree>
    <p:extLst>
      <p:ext uri="{BB962C8B-B14F-4D97-AF65-F5344CB8AC3E}">
        <p14:creationId xmlns:p14="http://schemas.microsoft.com/office/powerpoint/2010/main" val="198915640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3000" fill="hold" grpId="0" nodeType="afterEffect">
                                  <p:stCondLst>
                                    <p:cond delay="0"/>
                                  </p:stCondLst>
                                  <p:childTnLst>
                                    <p:animEffect transition="out" filter="fade">
                                      <p:cBhvr>
                                        <p:cTn id="6" dur="500" tmFilter="0, 0; .2, .5; .8, .5; 1, 0"/>
                                        <p:tgtEl>
                                          <p:spTgt spid="11"/>
                                        </p:tgtEl>
                                      </p:cBhvr>
                                    </p:animEffect>
                                    <p:animScale>
                                      <p:cBhvr>
                                        <p:cTn id="7"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7368" y="548680"/>
            <a:ext cx="11249660" cy="1161415"/>
          </a:xfrm>
        </p:spPr>
        <p:txBody>
          <a:bodyPr/>
          <a:lstStyle/>
          <a:p>
            <a:pPr marL="0" indent="0">
              <a:buNone/>
            </a:pPr>
            <a:r>
              <a:rPr lang="zh-CN" altLang="en-US" dirty="0" smtClean="0"/>
              <a:t>例有</a:t>
            </a:r>
            <a:r>
              <a:rPr lang="zh-CN" altLang="en-US" dirty="0"/>
              <a:t>如下关系R和S，分别求出R∩S、R∪S、R—S和R×S的结果，如</a:t>
            </a:r>
            <a:r>
              <a:rPr lang="zh-CN" altLang="en-US" dirty="0" smtClean="0"/>
              <a:t>图所</a:t>
            </a:r>
            <a:r>
              <a:rPr lang="zh-CN" altLang="en-US" dirty="0"/>
              <a:t>示。</a:t>
            </a:r>
          </a:p>
        </p:txBody>
      </p:sp>
      <p:pic>
        <p:nvPicPr>
          <p:cNvPr id="4" name="图片 3"/>
          <p:cNvPicPr>
            <a:picLocks noChangeAspect="1"/>
          </p:cNvPicPr>
          <p:nvPr/>
        </p:nvPicPr>
        <p:blipFill>
          <a:blip r:embed="rId3"/>
          <a:stretch>
            <a:fillRect/>
          </a:stretch>
        </p:blipFill>
        <p:spPr>
          <a:xfrm>
            <a:off x="2034540" y="2727325"/>
            <a:ext cx="7602220" cy="2974975"/>
          </a:xfrm>
          <a:prstGeom prst="rect">
            <a:avLst/>
          </a:prstGeom>
        </p:spPr>
      </p:pic>
    </p:spTree>
    <p:custDataLst>
      <p:tags r:id="rId1"/>
    </p:custDataLst>
    <p:extLst>
      <p:ext uri="{BB962C8B-B14F-4D97-AF65-F5344CB8AC3E}">
        <p14:creationId xmlns:p14="http://schemas.microsoft.com/office/powerpoint/2010/main" val="1580571649"/>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3"/>
          <a:stretch>
            <a:fillRect/>
          </a:stretch>
        </p:blipFill>
        <p:spPr>
          <a:xfrm>
            <a:off x="431800" y="334645"/>
            <a:ext cx="2369185" cy="4722495"/>
          </a:xfrm>
          <a:prstGeom prst="rect">
            <a:avLst/>
          </a:prstGeom>
        </p:spPr>
      </p:pic>
      <p:pic>
        <p:nvPicPr>
          <p:cNvPr id="5" name="图片 4"/>
          <p:cNvPicPr>
            <a:picLocks noChangeAspect="1"/>
          </p:cNvPicPr>
          <p:nvPr/>
        </p:nvPicPr>
        <p:blipFill>
          <a:blip r:embed="rId4"/>
          <a:stretch>
            <a:fillRect/>
          </a:stretch>
        </p:blipFill>
        <p:spPr>
          <a:xfrm>
            <a:off x="3576320" y="447675"/>
            <a:ext cx="2466340" cy="2798445"/>
          </a:xfrm>
          <a:prstGeom prst="rect">
            <a:avLst/>
          </a:prstGeom>
        </p:spPr>
      </p:pic>
      <p:pic>
        <p:nvPicPr>
          <p:cNvPr id="6" name="图片 5"/>
          <p:cNvPicPr>
            <a:picLocks noChangeAspect="1"/>
          </p:cNvPicPr>
          <p:nvPr/>
        </p:nvPicPr>
        <p:blipFill>
          <a:blip r:embed="rId5"/>
          <a:stretch>
            <a:fillRect/>
          </a:stretch>
        </p:blipFill>
        <p:spPr>
          <a:xfrm>
            <a:off x="3576320" y="3881755"/>
            <a:ext cx="2444750" cy="2247265"/>
          </a:xfrm>
          <a:prstGeom prst="rect">
            <a:avLst/>
          </a:prstGeom>
        </p:spPr>
      </p:pic>
      <p:pic>
        <p:nvPicPr>
          <p:cNvPr id="7" name="内容占位符 3"/>
          <p:cNvPicPr>
            <a:picLocks noChangeAspect="1"/>
          </p:cNvPicPr>
          <p:nvPr/>
        </p:nvPicPr>
        <p:blipFill>
          <a:blip r:embed="rId6"/>
          <a:stretch>
            <a:fillRect/>
          </a:stretch>
        </p:blipFill>
        <p:spPr>
          <a:xfrm>
            <a:off x="6962775" y="140970"/>
            <a:ext cx="4488815" cy="6575425"/>
          </a:xfrm>
          <a:prstGeom prst="rect">
            <a:avLst/>
          </a:prstGeom>
        </p:spPr>
      </p:pic>
    </p:spTree>
    <p:custDataLst>
      <p:tags r:id="rId1"/>
    </p:custDataLst>
    <p:extLst>
      <p:ext uri="{BB962C8B-B14F-4D97-AF65-F5344CB8AC3E}">
        <p14:creationId xmlns:p14="http://schemas.microsoft.com/office/powerpoint/2010/main" val="3613166705"/>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553664"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选择（</a:t>
            </a:r>
            <a:r>
              <a:rPr lang="en-US" altLang="zh-CN" b="1" u="sng" kern="1200" dirty="0">
                <a:solidFill>
                  <a:schemeClr val="folHlink"/>
                </a:solidFill>
                <a:effectLst>
                  <a:outerShdw blurRad="38100" dist="38100" dir="2700000" algn="tl">
                    <a:srgbClr val="000000"/>
                  </a:outerShdw>
                </a:effectLst>
                <a:cs typeface="+mn-cs"/>
              </a:rPr>
              <a:t>Selection</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0" name="Rectangle 4"/>
          <p:cNvSpPr txBox="1">
            <a:spLocks noChangeArrowheads="1"/>
          </p:cNvSpPr>
          <p:nvPr/>
        </p:nvSpPr>
        <p:spPr bwMode="auto">
          <a:xfrm>
            <a:off x="671937" y="883424"/>
            <a:ext cx="11528028" cy="172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ts val="0"/>
              </a:spcAft>
              <a:buFont typeface="Wingdings" pitchFamily="2" charset="2"/>
              <a:buNone/>
              <a:defRPr/>
            </a:pPr>
            <a:r>
              <a:rPr kumimoji="1" lang="zh-CN" altLang="zh-CN" baseline="0" dirty="0">
                <a:latin typeface="Arial" charset="0"/>
              </a:rPr>
              <a:t>从关系R中选出满足条件F的元组组成新关系，记作：</a:t>
            </a:r>
            <a:endParaRPr kumimoji="1" lang="en-US" altLang="zh-CN" baseline="0" dirty="0">
              <a:latin typeface="Arial" charset="0"/>
            </a:endParaRPr>
          </a:p>
          <a:p>
            <a:pPr marL="0" indent="0" eaLnBrk="1" hangingPunct="1">
              <a:spcAft>
                <a:spcPts val="0"/>
              </a:spcAft>
              <a:buNone/>
              <a:defRPr/>
            </a:pPr>
            <a:r>
              <a:rPr kumimoji="1" lang="zh-CN" altLang="zh-CN" sz="2800" baseline="0" dirty="0">
                <a:solidFill>
                  <a:prstClr val="black"/>
                </a:solidFill>
                <a:effectLst/>
                <a:latin typeface="Arial" charset="0"/>
                <a:ea typeface="黑体" panose="02010609060101010101" pitchFamily="49" charset="-122"/>
              </a:rPr>
              <a:t> </a:t>
            </a:r>
            <a:r>
              <a:rPr kumimoji="1" lang="en-US" altLang="zh-CN" sz="2800" baseline="0" dirty="0">
                <a:solidFill>
                  <a:prstClr val="black"/>
                </a:solidFill>
                <a:effectLst/>
                <a:latin typeface="Arial" charset="0"/>
                <a:ea typeface="黑体" panose="02010609060101010101" pitchFamily="49" charset="-122"/>
              </a:rPr>
              <a:t>         </a:t>
            </a:r>
            <a:r>
              <a:rPr kumimoji="1" lang="en-US" altLang="zh-CN" sz="2800" baseline="0" dirty="0">
                <a:solidFill>
                  <a:srgbClr val="FF0000"/>
                </a:solidFill>
                <a:effectLst/>
                <a:latin typeface="Arial" charset="0"/>
                <a:ea typeface="黑体" panose="02010609060101010101" pitchFamily="49" charset="-122"/>
              </a:rPr>
              <a:t> </a:t>
            </a:r>
            <a:r>
              <a:rPr kumimoji="1" lang="zh-CN" altLang="zh-CN" baseline="0" dirty="0">
                <a:solidFill>
                  <a:srgbClr val="FF0000"/>
                </a:solidFill>
                <a:effectLst/>
                <a:latin typeface="Arial" charset="0"/>
                <a:ea typeface="黑体" panose="02010609060101010101" pitchFamily="49" charset="-122"/>
              </a:rPr>
              <a:t>σ</a:t>
            </a:r>
            <a:r>
              <a:rPr kumimoji="1" lang="zh-CN" altLang="zh-CN" dirty="0">
                <a:solidFill>
                  <a:srgbClr val="FFFF00"/>
                </a:solidFill>
                <a:effectLst/>
                <a:latin typeface="Arial" charset="0"/>
                <a:ea typeface="黑体" panose="02010609060101010101" pitchFamily="49" charset="-122"/>
              </a:rPr>
              <a:t>F</a:t>
            </a:r>
            <a:r>
              <a:rPr kumimoji="1" lang="zh-CN" altLang="zh-CN" baseline="0" dirty="0">
                <a:solidFill>
                  <a:srgbClr val="FFFF00"/>
                </a:solidFill>
                <a:effectLst/>
                <a:latin typeface="Arial" charset="0"/>
                <a:ea typeface="黑体" panose="02010609060101010101" pitchFamily="49" charset="-122"/>
              </a:rPr>
              <a:t>（R）= { t</a:t>
            </a:r>
            <a:r>
              <a:rPr kumimoji="1" lang="zh-CN" altLang="en-US" baseline="0" dirty="0">
                <a:solidFill>
                  <a:srgbClr val="FFFF00"/>
                </a:solidFill>
                <a:effectLst/>
                <a:latin typeface="Arial" charset="0"/>
                <a:ea typeface="黑体" panose="02010609060101010101" pitchFamily="49" charset="-122"/>
              </a:rPr>
              <a:t> </a:t>
            </a:r>
            <a:r>
              <a:rPr kumimoji="1" lang="zh-CN" altLang="zh-CN" baseline="0" dirty="0">
                <a:solidFill>
                  <a:srgbClr val="FFFF00"/>
                </a:solidFill>
                <a:effectLst/>
                <a:latin typeface="Arial" charset="0"/>
                <a:ea typeface="黑体" panose="02010609060101010101" pitchFamily="49" charset="-122"/>
              </a:rPr>
              <a:t>| t</a:t>
            </a:r>
            <a:r>
              <a:rPr kumimoji="1" lang="zh-CN" altLang="zh-CN" baseline="0" dirty="0">
                <a:solidFill>
                  <a:srgbClr val="FFFF00"/>
                </a:solidFill>
                <a:effectLst/>
                <a:latin typeface="Arial" charset="0"/>
                <a:ea typeface="宋体" pitchFamily="2" charset="-122"/>
              </a:rPr>
              <a:t>∈</a:t>
            </a:r>
            <a:r>
              <a:rPr kumimoji="1" lang="zh-CN" altLang="zh-CN" baseline="0" dirty="0">
                <a:solidFill>
                  <a:srgbClr val="FFFF00"/>
                </a:solidFill>
                <a:effectLst/>
                <a:latin typeface="Arial" charset="0"/>
                <a:ea typeface="黑体" panose="02010609060101010101" pitchFamily="49" charset="-122"/>
              </a:rPr>
              <a:t>R ∧ F(t)</a:t>
            </a:r>
            <a:r>
              <a:rPr kumimoji="1" lang="zh-CN" altLang="en-US" baseline="0" dirty="0">
                <a:solidFill>
                  <a:srgbClr val="FFFF00"/>
                </a:solidFill>
                <a:effectLst/>
                <a:latin typeface="Arial" charset="0"/>
                <a:ea typeface="黑体" panose="02010609060101010101" pitchFamily="49" charset="-122"/>
              </a:rPr>
              <a:t> </a:t>
            </a:r>
            <a:r>
              <a:rPr kumimoji="1" lang="zh-CN" altLang="zh-CN" baseline="0" dirty="0">
                <a:solidFill>
                  <a:srgbClr val="FFFF00"/>
                </a:solidFill>
                <a:effectLst/>
                <a:latin typeface="Arial" charset="0"/>
                <a:ea typeface="黑体" panose="02010609060101010101" pitchFamily="49" charset="-122"/>
              </a:rPr>
              <a:t>}</a:t>
            </a:r>
            <a:endParaRPr kumimoji="1" lang="en-US" altLang="zh-CN" baseline="0" dirty="0">
              <a:latin typeface="Arial" charset="0"/>
            </a:endParaRPr>
          </a:p>
          <a:p>
            <a:pPr marL="0" indent="0" eaLnBrk="1" hangingPunct="1">
              <a:spcAft>
                <a:spcPts val="0"/>
              </a:spcAft>
              <a:buNone/>
              <a:defRPr/>
            </a:pPr>
            <a:r>
              <a:rPr kumimoji="1" lang="zh-CN" altLang="zh-CN" baseline="0" dirty="0">
                <a:latin typeface="Arial" charset="0"/>
              </a:rPr>
              <a:t>其中F为一个由属性名</a:t>
            </a:r>
            <a:r>
              <a:rPr kumimoji="1" lang="zh-CN" altLang="en-US" baseline="0" dirty="0">
                <a:latin typeface="Arial" charset="0"/>
              </a:rPr>
              <a:t>(或属性序号</a:t>
            </a:r>
            <a:r>
              <a:rPr kumimoji="1" lang="en-US" altLang="zh-CN" baseline="0" dirty="0">
                <a:latin typeface="Arial" charset="0"/>
              </a:rPr>
              <a:t>)</a:t>
            </a:r>
            <a:r>
              <a:rPr kumimoji="1" lang="zh-CN" altLang="zh-CN" baseline="0" dirty="0">
                <a:latin typeface="Arial" charset="0"/>
              </a:rPr>
              <a:t>、常量、简单函数用比较运算符和逻辑运算符组成的逻辑表达式。</a:t>
            </a:r>
            <a:endParaRPr kumimoji="1" lang="zh-CN" altLang="en-US" baseline="0" dirty="0">
              <a:latin typeface="Arial" charset="0"/>
            </a:endParaRPr>
          </a:p>
        </p:txBody>
      </p:sp>
      <p:graphicFrame>
        <p:nvGraphicFramePr>
          <p:cNvPr id="11" name="Group 5"/>
          <p:cNvGraphicFramePr>
            <a:graphicFrameLocks noGrp="1"/>
          </p:cNvGraphicFramePr>
          <p:nvPr>
            <p:extLst>
              <p:ext uri="{D42A27DB-BD31-4B8C-83A1-F6EECF244321}">
                <p14:modId xmlns:p14="http://schemas.microsoft.com/office/powerpoint/2010/main" val="76828158"/>
              </p:ext>
            </p:extLst>
          </p:nvPr>
        </p:nvGraphicFramePr>
        <p:xfrm>
          <a:off x="1516831" y="3227905"/>
          <a:ext cx="3638550" cy="3247304"/>
        </p:xfrm>
        <a:graphic>
          <a:graphicData uri="http://schemas.openxmlformats.org/drawingml/2006/table">
            <a:tbl>
              <a:tblPr/>
              <a:tblGrid>
                <a:gridCol w="1073705">
                  <a:extLst>
                    <a:ext uri="{9D8B030D-6E8A-4147-A177-3AD203B41FA5}">
                      <a16:colId xmlns:a16="http://schemas.microsoft.com/office/drawing/2014/main" val="20000"/>
                    </a:ext>
                  </a:extLst>
                </a:gridCol>
                <a:gridCol w="992709">
                  <a:extLst>
                    <a:ext uri="{9D8B030D-6E8A-4147-A177-3AD203B41FA5}">
                      <a16:colId xmlns:a16="http://schemas.microsoft.com/office/drawing/2014/main" val="20001"/>
                    </a:ext>
                  </a:extLst>
                </a:gridCol>
                <a:gridCol w="745570">
                  <a:extLst>
                    <a:ext uri="{9D8B030D-6E8A-4147-A177-3AD203B41FA5}">
                      <a16:colId xmlns:a16="http://schemas.microsoft.com/office/drawing/2014/main" val="20002"/>
                    </a:ext>
                  </a:extLst>
                </a:gridCol>
                <a:gridCol w="826566">
                  <a:extLst>
                    <a:ext uri="{9D8B030D-6E8A-4147-A177-3AD203B41FA5}">
                      <a16:colId xmlns:a16="http://schemas.microsoft.com/office/drawing/2014/main" val="20003"/>
                    </a:ext>
                  </a:extLst>
                </a:gridCol>
              </a:tblGrid>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29</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98004</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27</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98006</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22</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4059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98007</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bl>
          </a:graphicData>
        </a:graphic>
      </p:graphicFrame>
      <p:sp>
        <p:nvSpPr>
          <p:cNvPr id="12" name="Rectangle 52"/>
          <p:cNvSpPr>
            <a:spLocks noChangeArrowheads="1"/>
          </p:cNvSpPr>
          <p:nvPr/>
        </p:nvSpPr>
        <p:spPr bwMode="auto">
          <a:xfrm>
            <a:off x="804714" y="3227905"/>
            <a:ext cx="615553"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zh-CN" altLang="en-US" sz="2400" baseline="0" dirty="0">
                <a:effectLst>
                  <a:outerShdw blurRad="38100" dist="38100" dir="2700000" algn="tl">
                    <a:srgbClr val="000000"/>
                  </a:outerShdw>
                </a:effectLst>
                <a:latin typeface="Times New Roman" pitchFamily="18" charset="0"/>
              </a:rPr>
              <a:t>学生</a:t>
            </a:r>
          </a:p>
        </p:txBody>
      </p:sp>
      <p:graphicFrame>
        <p:nvGraphicFramePr>
          <p:cNvPr id="14" name="Group 54"/>
          <p:cNvGraphicFramePr>
            <a:graphicFrameLocks noGrp="1"/>
          </p:cNvGraphicFramePr>
          <p:nvPr>
            <p:extLst>
              <p:ext uri="{D42A27DB-BD31-4B8C-83A1-F6EECF244321}">
                <p14:modId xmlns:p14="http://schemas.microsoft.com/office/powerpoint/2010/main" val="473848041"/>
              </p:ext>
            </p:extLst>
          </p:nvPr>
        </p:nvGraphicFramePr>
        <p:xfrm>
          <a:off x="7104856" y="5483385"/>
          <a:ext cx="3455640" cy="1135320"/>
        </p:xfrm>
        <a:graphic>
          <a:graphicData uri="http://schemas.openxmlformats.org/drawingml/2006/table">
            <a:tbl>
              <a:tblPr/>
              <a:tblGrid>
                <a:gridCol w="1019730">
                  <a:extLst>
                    <a:ext uri="{9D8B030D-6E8A-4147-A177-3AD203B41FA5}">
                      <a16:colId xmlns:a16="http://schemas.microsoft.com/office/drawing/2014/main" val="20000"/>
                    </a:ext>
                  </a:extLst>
                </a:gridCol>
                <a:gridCol w="942806">
                  <a:extLst>
                    <a:ext uri="{9D8B030D-6E8A-4147-A177-3AD203B41FA5}">
                      <a16:colId xmlns:a16="http://schemas.microsoft.com/office/drawing/2014/main" val="20001"/>
                    </a:ext>
                  </a:extLst>
                </a:gridCol>
                <a:gridCol w="708090">
                  <a:extLst>
                    <a:ext uri="{9D8B030D-6E8A-4147-A177-3AD203B41FA5}">
                      <a16:colId xmlns:a16="http://schemas.microsoft.com/office/drawing/2014/main" val="20002"/>
                    </a:ext>
                  </a:extLst>
                </a:gridCol>
                <a:gridCol w="785014">
                  <a:extLst>
                    <a:ext uri="{9D8B030D-6E8A-4147-A177-3AD203B41FA5}">
                      <a16:colId xmlns:a16="http://schemas.microsoft.com/office/drawing/2014/main" val="20003"/>
                    </a:ext>
                  </a:extLst>
                </a:gridCol>
              </a:tblGrid>
              <a:tr h="37844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7844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29</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7844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cxnSp>
        <p:nvCxnSpPr>
          <p:cNvPr id="15" name="AutoShape 76"/>
          <p:cNvCxnSpPr>
            <a:cxnSpLocks noChangeShapeType="1"/>
          </p:cNvCxnSpPr>
          <p:nvPr/>
        </p:nvCxnSpPr>
        <p:spPr bwMode="auto">
          <a:xfrm>
            <a:off x="5699252" y="5129093"/>
            <a:ext cx="1015330" cy="399157"/>
          </a:xfrm>
          <a:prstGeom prst="bentConnector3">
            <a:avLst>
              <a:gd name="adj1" fmla="val 50000"/>
            </a:avLst>
          </a:prstGeom>
          <a:noFill/>
          <a:ln w="76200" cap="sq">
            <a:solidFill>
              <a:srgbClr val="CCFFCC"/>
            </a:solidFill>
            <a:miter lim="800000"/>
            <a:headEnd/>
            <a:tailEnd type="triangle" w="med" len="med"/>
          </a:ln>
          <a:effectLst>
            <a:outerShdw dist="35921" dir="2700000" algn="ctr" rotWithShape="0">
              <a:srgbClr val="000514"/>
            </a:outerShdw>
          </a:effectLst>
        </p:spPr>
      </p:cxnSp>
      <p:graphicFrame>
        <p:nvGraphicFramePr>
          <p:cNvPr id="17" name="Group 78"/>
          <p:cNvGraphicFramePr>
            <a:graphicFrameLocks noGrp="1"/>
          </p:cNvGraphicFramePr>
          <p:nvPr>
            <p:extLst>
              <p:ext uri="{D42A27DB-BD31-4B8C-83A1-F6EECF244321}">
                <p14:modId xmlns:p14="http://schemas.microsoft.com/office/powerpoint/2010/main" val="1019887681"/>
              </p:ext>
            </p:extLst>
          </p:nvPr>
        </p:nvGraphicFramePr>
        <p:xfrm>
          <a:off x="8300523" y="3163195"/>
          <a:ext cx="3384376" cy="1268868"/>
        </p:xfrm>
        <a:graphic>
          <a:graphicData uri="http://schemas.openxmlformats.org/drawingml/2006/table">
            <a:tbl>
              <a:tblPr/>
              <a:tblGrid>
                <a:gridCol w="998701">
                  <a:extLst>
                    <a:ext uri="{9D8B030D-6E8A-4147-A177-3AD203B41FA5}">
                      <a16:colId xmlns:a16="http://schemas.microsoft.com/office/drawing/2014/main" val="20000"/>
                    </a:ext>
                  </a:extLst>
                </a:gridCol>
                <a:gridCol w="923363">
                  <a:extLst>
                    <a:ext uri="{9D8B030D-6E8A-4147-A177-3AD203B41FA5}">
                      <a16:colId xmlns:a16="http://schemas.microsoft.com/office/drawing/2014/main" val="20001"/>
                    </a:ext>
                  </a:extLst>
                </a:gridCol>
                <a:gridCol w="693487">
                  <a:extLst>
                    <a:ext uri="{9D8B030D-6E8A-4147-A177-3AD203B41FA5}">
                      <a16:colId xmlns:a16="http://schemas.microsoft.com/office/drawing/2014/main" val="20002"/>
                    </a:ext>
                  </a:extLst>
                </a:gridCol>
                <a:gridCol w="768825">
                  <a:extLst>
                    <a:ext uri="{9D8B030D-6E8A-4147-A177-3AD203B41FA5}">
                      <a16:colId xmlns:a16="http://schemas.microsoft.com/office/drawing/2014/main" val="20003"/>
                    </a:ext>
                  </a:extLst>
                </a:gridCol>
              </a:tblGrid>
              <a:tr h="4229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229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98005</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229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98007</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sp>
        <p:nvSpPr>
          <p:cNvPr id="18" name="Line 100"/>
          <p:cNvSpPr>
            <a:spLocks noChangeShapeType="1"/>
          </p:cNvSpPr>
          <p:nvPr/>
        </p:nvSpPr>
        <p:spPr bwMode="auto">
          <a:xfrm>
            <a:off x="5807968" y="3882050"/>
            <a:ext cx="2057400" cy="0"/>
          </a:xfrm>
          <a:prstGeom prst="line">
            <a:avLst/>
          </a:prstGeom>
          <a:noFill/>
          <a:ln w="76200" cap="sq">
            <a:solidFill>
              <a:srgbClr val="CCFFCC"/>
            </a:solidFill>
            <a:round/>
            <a:headEnd/>
            <a:tailEnd type="triangle" w="med" len="med"/>
          </a:ln>
          <a:effectLst>
            <a:outerShdw dist="35921" dir="2700000" algn="ctr" rotWithShape="0">
              <a:srgbClr val="000514"/>
            </a:outerShdw>
          </a:effec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0" name="Rectangle 77"/>
          <p:cNvSpPr>
            <a:spLocks noChangeArrowheads="1"/>
          </p:cNvSpPr>
          <p:nvPr/>
        </p:nvSpPr>
        <p:spPr bwMode="auto">
          <a:xfrm>
            <a:off x="5862694" y="3179590"/>
            <a:ext cx="4343400" cy="615553"/>
          </a:xfrm>
          <a:prstGeom prst="rect">
            <a:avLst/>
          </a:prstGeom>
          <a:noFill/>
          <a:ln w="12700" cap="sq">
            <a:noFill/>
            <a:miter lim="800000"/>
            <a:headEnd/>
            <a:tailEnd/>
          </a:ln>
          <a:effectLst/>
        </p:spPr>
        <p:txBody>
          <a:bodyPr lIns="0" tIns="0" rIns="0" bIns="0">
            <a:spAutoFit/>
          </a:bodyPr>
          <a:lstStyle/>
          <a:p>
            <a:pPr marL="0" marR="0" lvl="0" indent="0" defTabSz="914400" eaLnBrk="1" fontAlgn="auto" latinLnBrk="0" hangingPunct="1">
              <a:lnSpc>
                <a:spcPct val="100000"/>
              </a:lnSpc>
              <a:spcBef>
                <a:spcPts val="0"/>
              </a:spcBef>
              <a:spcAft>
                <a:spcPct val="0"/>
              </a:spcAft>
              <a:buClrTx/>
              <a:buSzTx/>
              <a:buFontTx/>
              <a:buNone/>
              <a:tabLst/>
              <a:defRPr/>
            </a:pPr>
            <a:r>
              <a:rPr kumimoji="0" lang="en-US" altLang="zh-CN" sz="4000" b="1" i="0" u="none" strike="noStrike" kern="0" cap="none" spc="0" normalizeH="0" baseline="0" noProof="0" dirty="0">
                <a:ln>
                  <a:noFill/>
                </a:ln>
                <a:solidFill>
                  <a:srgbClr val="99FF33"/>
                </a:solidFill>
                <a:effectLst>
                  <a:outerShdw blurRad="38100" dist="38100" dir="2700000" algn="tl">
                    <a:srgbClr val="000000"/>
                  </a:outerShdw>
                </a:effectLst>
                <a:uLnTx/>
                <a:uFillTx/>
              </a:rPr>
              <a:t>σ</a:t>
            </a:r>
            <a:r>
              <a:rPr kumimoji="0" lang="zh-CN" altLang="en-US" sz="2800" b="1" i="0" u="none" strike="noStrike" kern="0" cap="none" spc="0" normalizeH="0" baseline="-30000" noProof="0" dirty="0">
                <a:ln>
                  <a:noFill/>
                </a:ln>
                <a:solidFill>
                  <a:srgbClr val="99FF33"/>
                </a:solidFill>
                <a:effectLst>
                  <a:outerShdw blurRad="38100" dist="38100" dir="2700000" algn="tl">
                    <a:srgbClr val="000000"/>
                  </a:outerShdw>
                </a:effectLst>
                <a:uLnTx/>
                <a:uFillTx/>
              </a:rPr>
              <a:t>年龄&lt;20</a:t>
            </a:r>
            <a:r>
              <a:rPr kumimoji="0" lang="zh-CN" altLang="en-US" sz="2400" b="1" i="0" u="none" strike="noStrike" kern="0" cap="none" spc="0" normalizeH="0" baseline="0" noProof="0" dirty="0">
                <a:ln>
                  <a:noFill/>
                </a:ln>
                <a:solidFill>
                  <a:srgbClr val="99FF33"/>
                </a:solidFill>
                <a:effectLst>
                  <a:outerShdw blurRad="38100" dist="38100" dir="2700000" algn="tl">
                    <a:srgbClr val="000000"/>
                  </a:outerShdw>
                </a:effectLst>
                <a:uLnTx/>
                <a:uFillTx/>
              </a:rPr>
              <a:t>(</a:t>
            </a:r>
            <a:r>
              <a:rPr kumimoji="0" lang="zh-CN" altLang="en-US" sz="2400" b="0" i="0" u="none" strike="noStrike" kern="0" cap="none" spc="0" normalizeH="0" baseline="0" noProof="0" dirty="0">
                <a:ln>
                  <a:noFill/>
                </a:ln>
                <a:solidFill>
                  <a:srgbClr val="99FF33"/>
                </a:solidFill>
                <a:effectLst>
                  <a:outerShdw blurRad="38100" dist="38100" dir="2700000" algn="tl">
                    <a:srgbClr val="000000"/>
                  </a:outerShdw>
                </a:effectLst>
                <a:uLnTx/>
                <a:uFillTx/>
              </a:rPr>
              <a:t>学生</a:t>
            </a:r>
            <a:r>
              <a:rPr kumimoji="0" lang="zh-CN" altLang="en-US" sz="2400" b="1" i="0" u="none" strike="noStrike" kern="0" cap="none" spc="0" normalizeH="0" baseline="0" noProof="0" dirty="0">
                <a:ln>
                  <a:noFill/>
                </a:ln>
                <a:solidFill>
                  <a:srgbClr val="99FF33"/>
                </a:solidFill>
                <a:effectLst>
                  <a:outerShdw blurRad="38100" dist="38100" dir="2700000" algn="tl">
                    <a:srgbClr val="000000"/>
                  </a:outerShdw>
                </a:effectLst>
                <a:uLnTx/>
                <a:uFillTx/>
              </a:rPr>
              <a:t>) </a:t>
            </a:r>
          </a:p>
        </p:txBody>
      </p:sp>
      <p:sp>
        <p:nvSpPr>
          <p:cNvPr id="22" name="Rectangle 53"/>
          <p:cNvSpPr>
            <a:spLocks noChangeArrowheads="1"/>
          </p:cNvSpPr>
          <p:nvPr/>
        </p:nvSpPr>
        <p:spPr bwMode="auto">
          <a:xfrm>
            <a:off x="6435951" y="4783162"/>
            <a:ext cx="4343400" cy="492443"/>
          </a:xfrm>
          <a:prstGeom prst="rect">
            <a:avLst/>
          </a:prstGeom>
          <a:noFill/>
          <a:ln w="12700" cap="sq">
            <a:noFill/>
            <a:miter lim="800000"/>
            <a:headEnd/>
            <a:tailEnd/>
          </a:ln>
          <a:effectLst/>
        </p:spPr>
        <p:txBody>
          <a:bodyPr lIns="0" tIns="0" rIns="0" bIns="0">
            <a:spAutoFit/>
          </a:bodyPr>
          <a:lstStyle/>
          <a:p>
            <a:pPr fontAlgn="auto">
              <a:spcBef>
                <a:spcPts val="0"/>
              </a:spcBef>
              <a:defRPr/>
            </a:pPr>
            <a:r>
              <a:rPr lang="en-US" altLang="zh-CN" sz="32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性别=</a:t>
            </a:r>
            <a:r>
              <a:rPr lang="en-US" altLang="zh-CN"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男</a:t>
            </a:r>
            <a:r>
              <a:rPr lang="en-US" altLang="zh-CN"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 ∧ 年龄&gt;20 </a:t>
            </a:r>
            <a:r>
              <a:rPr lang="zh-CN" altLang="en-US" sz="23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3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学生</a:t>
            </a:r>
            <a:r>
              <a:rPr lang="zh-CN" altLang="en-US" sz="23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 </a:t>
            </a:r>
          </a:p>
        </p:txBody>
      </p:sp>
    </p:spTree>
    <p:extLst>
      <p:ext uri="{BB962C8B-B14F-4D97-AF65-F5344CB8AC3E}">
        <p14:creationId xmlns:p14="http://schemas.microsoft.com/office/powerpoint/2010/main" val="324147255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837075"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投影（</a:t>
            </a:r>
            <a:r>
              <a:rPr lang="en-US" altLang="zh-CN" b="1" u="sng" kern="1200" dirty="0">
                <a:solidFill>
                  <a:schemeClr val="folHlink"/>
                </a:solidFill>
                <a:effectLst>
                  <a:outerShdw blurRad="38100" dist="38100" dir="2700000" algn="tl">
                    <a:srgbClr val="000000"/>
                  </a:outerShdw>
                </a:effectLst>
                <a:cs typeface="+mn-cs"/>
              </a:rPr>
              <a:t>Projection</a:t>
            </a:r>
            <a:r>
              <a:rPr lang="zh-CN" altLang="en-US" b="1" u="sng" kern="1200" dirty="0">
                <a:solidFill>
                  <a:schemeClr val="folHlink"/>
                </a:solidFill>
                <a:effectLst>
                  <a:outerShdw blurRad="38100" dist="38100" dir="2700000" algn="tl">
                    <a:srgbClr val="000000"/>
                  </a:outerShdw>
                </a:effectLst>
                <a:cs typeface="+mn-cs"/>
              </a:rPr>
              <a:t>）</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6" name="Rectangle 4"/>
          <p:cNvSpPr txBox="1">
            <a:spLocks noChangeArrowheads="1"/>
          </p:cNvSpPr>
          <p:nvPr/>
        </p:nvSpPr>
        <p:spPr bwMode="auto">
          <a:xfrm>
            <a:off x="695400" y="895857"/>
            <a:ext cx="11377264" cy="172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ts val="0"/>
              </a:spcAft>
              <a:buFont typeface="Wingdings" pitchFamily="2" charset="2"/>
              <a:buNone/>
              <a:defRPr/>
            </a:pPr>
            <a:r>
              <a:rPr kumimoji="1" lang="zh-CN" altLang="en-US" baseline="0" dirty="0">
                <a:latin typeface="Times New Roman" pitchFamily="18" charset="0"/>
                <a:cs typeface="Arial" pitchFamily="34" charset="0"/>
              </a:rPr>
              <a:t>在关系</a:t>
            </a:r>
            <a:r>
              <a:rPr kumimoji="1" lang="en-US" altLang="zh-CN" baseline="0" dirty="0">
                <a:latin typeface="Times New Roman" pitchFamily="18" charset="0"/>
                <a:cs typeface="Arial" pitchFamily="34" charset="0"/>
              </a:rPr>
              <a:t>R</a:t>
            </a:r>
            <a:r>
              <a:rPr kumimoji="1" lang="zh-CN" altLang="en-US" baseline="0" dirty="0">
                <a:latin typeface="Times New Roman" pitchFamily="18" charset="0"/>
                <a:cs typeface="Arial" pitchFamily="34" charset="0"/>
              </a:rPr>
              <a:t>中按指定的列序选出若干属性列组成新的关系，记作：</a:t>
            </a:r>
            <a:endParaRPr kumimoji="1" lang="en-US" altLang="zh-CN" baseline="0" dirty="0">
              <a:latin typeface="Times New Roman" pitchFamily="18" charset="0"/>
              <a:cs typeface="Arial" pitchFamily="34" charset="0"/>
            </a:endParaRPr>
          </a:p>
          <a:p>
            <a:pPr marL="0" indent="0" eaLnBrk="1" hangingPunct="1">
              <a:spcAft>
                <a:spcPts val="0"/>
              </a:spcAft>
              <a:buFont typeface="Wingdings" pitchFamily="2" charset="2"/>
              <a:buNone/>
              <a:defRPr/>
            </a:pPr>
            <a:r>
              <a:rPr kumimoji="1" lang="en-US" altLang="zh-CN" baseline="0" dirty="0">
                <a:latin typeface="Times New Roman" pitchFamily="18" charset="0"/>
                <a:cs typeface="Arial" pitchFamily="34" charset="0"/>
              </a:rPr>
              <a:t> </a:t>
            </a:r>
            <a:r>
              <a:rPr kumimoji="1" lang="zh-CN" altLang="en-US" baseline="0" dirty="0">
                <a:latin typeface="Times New Roman" pitchFamily="18" charset="0"/>
                <a:cs typeface="Arial" pitchFamily="34" charset="0"/>
              </a:rPr>
              <a:t>               </a:t>
            </a:r>
            <a:r>
              <a:rPr kumimoji="1" lang="zh-CN" altLang="en-US" baseline="0" dirty="0">
                <a:solidFill>
                  <a:srgbClr val="FF0000"/>
                </a:solidFill>
                <a:latin typeface="Times New Roman" pitchFamily="18" charset="0"/>
                <a:cs typeface="Arial" pitchFamily="34" charset="0"/>
              </a:rPr>
              <a:t>∏</a:t>
            </a:r>
            <a:r>
              <a:rPr kumimoji="1" lang="en-US" altLang="zh-CN" dirty="0">
                <a:solidFill>
                  <a:srgbClr val="FFFF00"/>
                </a:solidFill>
                <a:latin typeface="Times New Roman" pitchFamily="18" charset="0"/>
                <a:cs typeface="Arial" pitchFamily="34" charset="0"/>
              </a:rPr>
              <a:t>A</a:t>
            </a:r>
            <a:r>
              <a:rPr kumimoji="1" lang="zh-CN" altLang="en-US" baseline="0" dirty="0">
                <a:solidFill>
                  <a:srgbClr val="FFFF00"/>
                </a:solidFill>
                <a:latin typeface="Times New Roman" pitchFamily="18" charset="0"/>
                <a:cs typeface="Arial" pitchFamily="34" charset="0"/>
              </a:rPr>
              <a:t>（</a:t>
            </a:r>
            <a:r>
              <a:rPr kumimoji="1" lang="en-US" altLang="zh-CN" baseline="0" dirty="0">
                <a:solidFill>
                  <a:srgbClr val="FFFF00"/>
                </a:solidFill>
                <a:latin typeface="Times New Roman" pitchFamily="18" charset="0"/>
                <a:cs typeface="Arial" pitchFamily="34" charset="0"/>
              </a:rPr>
              <a:t>R</a:t>
            </a:r>
            <a:r>
              <a:rPr kumimoji="1" lang="zh-CN" altLang="en-US" baseline="0" dirty="0">
                <a:solidFill>
                  <a:srgbClr val="FFFF00"/>
                </a:solidFill>
                <a:latin typeface="Times New Roman" pitchFamily="18" charset="0"/>
                <a:cs typeface="Arial" pitchFamily="34" charset="0"/>
              </a:rPr>
              <a:t>）</a:t>
            </a:r>
            <a:r>
              <a:rPr kumimoji="1" lang="en-US" altLang="zh-CN" baseline="0" dirty="0">
                <a:solidFill>
                  <a:srgbClr val="FFFF00"/>
                </a:solidFill>
                <a:latin typeface="Times New Roman" pitchFamily="18" charset="0"/>
                <a:cs typeface="Arial" pitchFamily="34" charset="0"/>
              </a:rPr>
              <a:t>= { t[A] | </a:t>
            </a:r>
            <a:r>
              <a:rPr kumimoji="1" lang="en-US" altLang="zh-CN" baseline="0" dirty="0" err="1">
                <a:solidFill>
                  <a:srgbClr val="FFFF00"/>
                </a:solidFill>
                <a:latin typeface="Times New Roman" pitchFamily="18" charset="0"/>
                <a:cs typeface="Arial" pitchFamily="34" charset="0"/>
              </a:rPr>
              <a:t>t</a:t>
            </a:r>
            <a:r>
              <a:rPr kumimoji="1" lang="en-US" altLang="zh-CN" baseline="0" dirty="0" err="1">
                <a:solidFill>
                  <a:srgbClr val="FFFF00"/>
                </a:solidFill>
                <a:latin typeface="Times New Roman" pitchFamily="18" charset="0"/>
                <a:ea typeface="宋体" pitchFamily="2" charset="-122"/>
                <a:cs typeface="Arial" pitchFamily="34" charset="0"/>
              </a:rPr>
              <a:t>∈</a:t>
            </a:r>
            <a:r>
              <a:rPr kumimoji="1" lang="en-US" altLang="zh-CN" baseline="0" dirty="0" err="1">
                <a:solidFill>
                  <a:srgbClr val="FFFF00"/>
                </a:solidFill>
                <a:latin typeface="Times New Roman" pitchFamily="18" charset="0"/>
                <a:cs typeface="Arial" pitchFamily="34" charset="0"/>
              </a:rPr>
              <a:t>R</a:t>
            </a:r>
            <a:r>
              <a:rPr kumimoji="1" lang="en-US" altLang="zh-CN" baseline="0" dirty="0">
                <a:solidFill>
                  <a:srgbClr val="FFFF00"/>
                </a:solidFill>
                <a:latin typeface="Times New Roman" pitchFamily="18" charset="0"/>
                <a:cs typeface="Arial" pitchFamily="34" charset="0"/>
              </a:rPr>
              <a:t> }</a:t>
            </a:r>
            <a:endParaRPr kumimoji="1" lang="en-US" altLang="zh-CN" baseline="0" dirty="0">
              <a:latin typeface="Times New Roman" pitchFamily="18" charset="0"/>
              <a:cs typeface="Arial" pitchFamily="34" charset="0"/>
            </a:endParaRPr>
          </a:p>
          <a:p>
            <a:pPr marL="0" indent="0" eaLnBrk="1" hangingPunct="1">
              <a:spcAft>
                <a:spcPts val="0"/>
              </a:spcAft>
              <a:buFont typeface="Wingdings" pitchFamily="2" charset="2"/>
              <a:buNone/>
              <a:defRPr/>
            </a:pPr>
            <a:r>
              <a:rPr kumimoji="1" lang="zh-CN" altLang="en-US" baseline="0" dirty="0">
                <a:latin typeface="Times New Roman" pitchFamily="18" charset="0"/>
                <a:cs typeface="Arial" pitchFamily="34" charset="0"/>
              </a:rPr>
              <a:t>其中</a:t>
            </a:r>
            <a:r>
              <a:rPr kumimoji="1" lang="en-US" altLang="zh-CN" baseline="0" dirty="0">
                <a:latin typeface="Times New Roman" pitchFamily="18" charset="0"/>
                <a:cs typeface="Arial" pitchFamily="34" charset="0"/>
              </a:rPr>
              <a:t>A</a:t>
            </a:r>
            <a:r>
              <a:rPr kumimoji="1" lang="zh-CN" altLang="en-US" baseline="0" dirty="0">
                <a:latin typeface="Times New Roman" pitchFamily="18" charset="0"/>
                <a:cs typeface="Arial" pitchFamily="34" charset="0"/>
              </a:rPr>
              <a:t>为一个</a:t>
            </a:r>
            <a:r>
              <a:rPr kumimoji="1" lang="en-US" altLang="zh-CN" baseline="0" dirty="0">
                <a:latin typeface="Times New Roman" pitchFamily="18" charset="0"/>
                <a:cs typeface="Arial" pitchFamily="34" charset="0"/>
              </a:rPr>
              <a:t>R</a:t>
            </a:r>
            <a:r>
              <a:rPr kumimoji="1" lang="zh-CN" altLang="en-US" baseline="0" dirty="0">
                <a:latin typeface="Times New Roman" pitchFamily="18" charset="0"/>
                <a:cs typeface="Arial" pitchFamily="34" charset="0"/>
              </a:rPr>
              <a:t>的属性名</a:t>
            </a:r>
            <a:r>
              <a:rPr kumimoji="1" lang="en-US" altLang="zh-CN" baseline="0" dirty="0">
                <a:latin typeface="Times New Roman" pitchFamily="18" charset="0"/>
                <a:cs typeface="Arial" pitchFamily="34" charset="0"/>
              </a:rPr>
              <a:t>(</a:t>
            </a:r>
            <a:r>
              <a:rPr kumimoji="1" lang="zh-CN" altLang="en-US" baseline="0" dirty="0">
                <a:latin typeface="Times New Roman" pitchFamily="18" charset="0"/>
                <a:cs typeface="Arial" pitchFamily="34" charset="0"/>
              </a:rPr>
              <a:t>或属性序号</a:t>
            </a:r>
            <a:r>
              <a:rPr kumimoji="1" lang="en-US" altLang="zh-CN" baseline="0" dirty="0">
                <a:latin typeface="Times New Roman" pitchFamily="18" charset="0"/>
                <a:cs typeface="Arial" pitchFamily="34" charset="0"/>
              </a:rPr>
              <a:t>)</a:t>
            </a:r>
            <a:r>
              <a:rPr kumimoji="1" lang="zh-CN" altLang="en-US" baseline="0" dirty="0">
                <a:latin typeface="Times New Roman" pitchFamily="18" charset="0"/>
                <a:cs typeface="Arial" pitchFamily="34" charset="0"/>
              </a:rPr>
              <a:t>的序列。注意投影结果中必须消去重复的元组。</a:t>
            </a:r>
          </a:p>
        </p:txBody>
      </p:sp>
      <p:graphicFrame>
        <p:nvGraphicFramePr>
          <p:cNvPr id="30" name="Group 5"/>
          <p:cNvGraphicFramePr>
            <a:graphicFrameLocks noGrp="1"/>
          </p:cNvGraphicFramePr>
          <p:nvPr>
            <p:extLst>
              <p:ext uri="{D42A27DB-BD31-4B8C-83A1-F6EECF244321}">
                <p14:modId xmlns:p14="http://schemas.microsoft.com/office/powerpoint/2010/main" val="4132686851"/>
              </p:ext>
            </p:extLst>
          </p:nvPr>
        </p:nvGraphicFramePr>
        <p:xfrm>
          <a:off x="984250" y="4215571"/>
          <a:ext cx="3671590" cy="1463040"/>
        </p:xfrm>
        <a:graphic>
          <a:graphicData uri="http://schemas.openxmlformats.org/drawingml/2006/table">
            <a:tbl>
              <a:tblPr/>
              <a:tblGrid>
                <a:gridCol w="1083455">
                  <a:extLst>
                    <a:ext uri="{9D8B030D-6E8A-4147-A177-3AD203B41FA5}">
                      <a16:colId xmlns:a16="http://schemas.microsoft.com/office/drawing/2014/main" val="20000"/>
                    </a:ext>
                  </a:extLst>
                </a:gridCol>
                <a:gridCol w="1001724">
                  <a:extLst>
                    <a:ext uri="{9D8B030D-6E8A-4147-A177-3AD203B41FA5}">
                      <a16:colId xmlns:a16="http://schemas.microsoft.com/office/drawing/2014/main" val="20001"/>
                    </a:ext>
                  </a:extLst>
                </a:gridCol>
                <a:gridCol w="752340">
                  <a:extLst>
                    <a:ext uri="{9D8B030D-6E8A-4147-A177-3AD203B41FA5}">
                      <a16:colId xmlns:a16="http://schemas.microsoft.com/office/drawing/2014/main" val="20002"/>
                    </a:ext>
                  </a:extLst>
                </a:gridCol>
                <a:gridCol w="834071">
                  <a:extLst>
                    <a:ext uri="{9D8B030D-6E8A-4147-A177-3AD203B41FA5}">
                      <a16:colId xmlns:a16="http://schemas.microsoft.com/office/drawing/2014/main" val="20003"/>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29</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30</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98003</a:t>
                      </a:r>
                    </a:p>
                  </a:txBody>
                  <a:tcPr marL="0" marR="0" marT="0" marB="0"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28</a:t>
                      </a:r>
                    </a:p>
                  </a:txBody>
                  <a:tcPr marL="0" marR="0" marT="0" marB="0"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31" name="Rectangle 32"/>
          <p:cNvSpPr>
            <a:spLocks noChangeArrowheads="1"/>
          </p:cNvSpPr>
          <p:nvPr/>
        </p:nvSpPr>
        <p:spPr bwMode="auto">
          <a:xfrm>
            <a:off x="1303983" y="3717032"/>
            <a:ext cx="615553" cy="369332"/>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zh-CN" altLang="en-US"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学生</a:t>
            </a:r>
          </a:p>
        </p:txBody>
      </p:sp>
      <p:sp>
        <p:nvSpPr>
          <p:cNvPr id="32" name="Rectangle 33"/>
          <p:cNvSpPr>
            <a:spLocks noChangeArrowheads="1"/>
          </p:cNvSpPr>
          <p:nvPr/>
        </p:nvSpPr>
        <p:spPr bwMode="auto">
          <a:xfrm>
            <a:off x="6018212" y="3258908"/>
            <a:ext cx="3200400" cy="492443"/>
          </a:xfrm>
          <a:prstGeom prst="rect">
            <a:avLst/>
          </a:prstGeom>
          <a:noFill/>
          <a:ln w="12700" cap="sq">
            <a:noFill/>
            <a:miter lim="800000"/>
            <a:headEnd/>
            <a:tailEnd/>
          </a:ln>
          <a:effectLst/>
        </p:spPr>
        <p:txBody>
          <a:bodyPr lIns="0" tIns="0" rIns="0" bIns="0">
            <a:spAutoFit/>
          </a:bodyPr>
          <a:lstStyle/>
          <a:p>
            <a:pPr fontAlgn="auto">
              <a:spcBef>
                <a:spcPts val="0"/>
              </a:spcBef>
              <a:defRPr/>
            </a:pPr>
            <a:r>
              <a:rPr lang="en-US" altLang="zh-CN" sz="32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年龄</a:t>
            </a:r>
            <a:r>
              <a:rPr lang="en-US" altLang="zh-CN"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姓名</a:t>
            </a:r>
            <a:r>
              <a:rPr lang="en-US" altLang="zh-CN" sz="24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4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学生</a:t>
            </a:r>
            <a:r>
              <a:rPr lang="zh-CN" altLang="en-US" sz="24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p>
        </p:txBody>
      </p:sp>
      <p:graphicFrame>
        <p:nvGraphicFramePr>
          <p:cNvPr id="33" name="Group 34"/>
          <p:cNvGraphicFramePr>
            <a:graphicFrameLocks noGrp="1"/>
          </p:cNvGraphicFramePr>
          <p:nvPr>
            <p:extLst>
              <p:ext uri="{D42A27DB-BD31-4B8C-83A1-F6EECF244321}">
                <p14:modId xmlns:p14="http://schemas.microsoft.com/office/powerpoint/2010/main" val="107757847"/>
              </p:ext>
            </p:extLst>
          </p:nvPr>
        </p:nvGraphicFramePr>
        <p:xfrm>
          <a:off x="8904312" y="3264391"/>
          <a:ext cx="2105868" cy="1463040"/>
        </p:xfrm>
        <a:graphic>
          <a:graphicData uri="http://schemas.openxmlformats.org/drawingml/2006/table">
            <a:tbl>
              <a:tblPr/>
              <a:tblGrid>
                <a:gridCol w="1052934">
                  <a:extLst>
                    <a:ext uri="{9D8B030D-6E8A-4147-A177-3AD203B41FA5}">
                      <a16:colId xmlns:a16="http://schemas.microsoft.com/office/drawing/2014/main" val="20000"/>
                    </a:ext>
                  </a:extLst>
                </a:gridCol>
                <a:gridCol w="1052934">
                  <a:extLst>
                    <a:ext uri="{9D8B030D-6E8A-4147-A177-3AD203B41FA5}">
                      <a16:colId xmlns:a16="http://schemas.microsoft.com/office/drawing/2014/main" val="20001"/>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29</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张明</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30</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李华</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28</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王军</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graphicFrame>
        <p:nvGraphicFramePr>
          <p:cNvPr id="34" name="Group 52"/>
          <p:cNvGraphicFramePr>
            <a:graphicFrameLocks noGrp="1"/>
          </p:cNvGraphicFramePr>
          <p:nvPr>
            <p:extLst>
              <p:ext uri="{D42A27DB-BD31-4B8C-83A1-F6EECF244321}">
                <p14:modId xmlns:p14="http://schemas.microsoft.com/office/powerpoint/2010/main" val="2207402650"/>
              </p:ext>
            </p:extLst>
          </p:nvPr>
        </p:nvGraphicFramePr>
        <p:xfrm>
          <a:off x="9218612" y="5500072"/>
          <a:ext cx="1097756" cy="1097280"/>
        </p:xfrm>
        <a:graphic>
          <a:graphicData uri="http://schemas.openxmlformats.org/drawingml/2006/table">
            <a:tbl>
              <a:tblPr/>
              <a:tblGrid>
                <a:gridCol w="1097756">
                  <a:extLst>
                    <a:ext uri="{9D8B030D-6E8A-4147-A177-3AD203B41FA5}">
                      <a16:colId xmlns:a16="http://schemas.microsoft.com/office/drawing/2014/main" val="20000"/>
                    </a:ext>
                  </a:extLst>
                </a:gridCol>
              </a:tblGrid>
              <a:tr h="746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cxnSp>
        <p:nvCxnSpPr>
          <p:cNvPr id="36" name="AutoShape 63"/>
          <p:cNvCxnSpPr>
            <a:cxnSpLocks noChangeShapeType="1"/>
          </p:cNvCxnSpPr>
          <p:nvPr/>
        </p:nvCxnSpPr>
        <p:spPr bwMode="auto">
          <a:xfrm>
            <a:off x="3431704" y="5855058"/>
            <a:ext cx="5215421" cy="416573"/>
          </a:xfrm>
          <a:prstGeom prst="bentConnector3">
            <a:avLst>
              <a:gd name="adj1" fmla="val 59"/>
            </a:avLst>
          </a:prstGeom>
          <a:noFill/>
          <a:ln w="76200" cap="sq">
            <a:solidFill>
              <a:srgbClr val="CCFFCC"/>
            </a:solidFill>
            <a:miter lim="800000"/>
            <a:headEnd/>
            <a:tailEnd type="triangle" w="med" len="med"/>
          </a:ln>
          <a:effectLst>
            <a:outerShdw dist="35921" dir="2700000" algn="ctr" rotWithShape="0">
              <a:srgbClr val="000514"/>
            </a:outerShdw>
          </a:effectLst>
        </p:spPr>
      </p:cxnSp>
      <p:sp>
        <p:nvSpPr>
          <p:cNvPr id="37" name="Rectangle 64"/>
          <p:cNvSpPr>
            <a:spLocks noChangeArrowheads="1"/>
          </p:cNvSpPr>
          <p:nvPr/>
        </p:nvSpPr>
        <p:spPr bwMode="auto">
          <a:xfrm>
            <a:off x="5861062" y="3896524"/>
            <a:ext cx="3200400" cy="615553"/>
          </a:xfrm>
          <a:prstGeom prst="rect">
            <a:avLst/>
          </a:prstGeom>
          <a:noFill/>
          <a:ln w="12700" cap="sq">
            <a:noFill/>
            <a:miter lim="800000"/>
            <a:headEnd/>
            <a:tailEnd/>
          </a:ln>
          <a:effectLst/>
        </p:spPr>
        <p:txBody>
          <a:bodyPr lIns="0" tIns="0" rIns="0" bIns="0">
            <a:spAutoFit/>
          </a:bodyPr>
          <a:lstStyle/>
          <a:p>
            <a:pPr fontAlgn="auto">
              <a:spcBef>
                <a:spcPts val="0"/>
              </a:spcBef>
              <a:defRPr/>
            </a:pPr>
            <a:r>
              <a:rPr lang="zh-CN" altLang="en-US" sz="2800" b="1" kern="0" baseline="0" dirty="0">
                <a:solidFill>
                  <a:srgbClr val="FFFFCC"/>
                </a:solidFill>
                <a:effectLst>
                  <a:outerShdw blurRad="38100" dist="38100" dir="2700000" algn="tl">
                    <a:srgbClr val="000000"/>
                  </a:outerShdw>
                </a:effectLst>
                <a:latin typeface="Franklin Gothic Book"/>
                <a:ea typeface="黑体" panose="02010609060101010101" pitchFamily="49" charset="-122"/>
              </a:rPr>
              <a:t>或者</a:t>
            </a:r>
            <a:r>
              <a:rPr lang="zh-CN" altLang="en-US" sz="4000" b="1" kern="0" baseline="0" dirty="0">
                <a:solidFill>
                  <a:srgbClr val="FFFFCC"/>
                </a:solidFill>
                <a:effectLst>
                  <a:outerShdw blurRad="38100" dist="38100" dir="2700000" algn="tl">
                    <a:srgbClr val="000000"/>
                  </a:outerShdw>
                </a:effectLst>
                <a:latin typeface="Franklin Gothic Book"/>
                <a:ea typeface="黑体" panose="02010609060101010101" pitchFamily="49" charset="-122"/>
              </a:rPr>
              <a:t> </a:t>
            </a:r>
            <a:r>
              <a:rPr lang="en-US" altLang="zh-CN" sz="32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en-US" altLang="zh-CN"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4,2</a:t>
            </a:r>
            <a:r>
              <a:rPr lang="en-US" altLang="zh-CN" sz="24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4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学生</a:t>
            </a:r>
            <a:r>
              <a:rPr lang="zh-CN" altLang="en-US" sz="24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p>
        </p:txBody>
      </p:sp>
      <p:sp>
        <p:nvSpPr>
          <p:cNvPr id="38" name="Rectangle 51"/>
          <p:cNvSpPr>
            <a:spLocks noChangeArrowheads="1"/>
          </p:cNvSpPr>
          <p:nvPr/>
        </p:nvSpPr>
        <p:spPr bwMode="auto">
          <a:xfrm>
            <a:off x="4927114" y="5674022"/>
            <a:ext cx="4464050" cy="923330"/>
          </a:xfrm>
          <a:prstGeom prst="rect">
            <a:avLst/>
          </a:prstGeom>
          <a:noFill/>
          <a:ln w="12700" cap="sq">
            <a:noFill/>
            <a:miter lim="800000"/>
            <a:headEnd/>
            <a:tailEnd/>
          </a:ln>
          <a:effectLst/>
        </p:spPr>
        <p:txBody>
          <a:bodyPr lIns="0" tIns="0" rIns="0" bIns="0">
            <a:spAutoFit/>
          </a:bodyPr>
          <a:lstStyle/>
          <a:p>
            <a:pPr fontAlgn="auto">
              <a:spcBef>
                <a:spcPts val="0"/>
              </a:spcBef>
              <a:defRPr/>
            </a:pPr>
            <a:r>
              <a:rPr lang="en-US" altLang="zh-CN" sz="32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en-US" altLang="zh-CN" sz="36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3</a:t>
            </a:r>
            <a:r>
              <a:rPr lang="en-US" altLang="zh-CN" sz="23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3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学生</a:t>
            </a:r>
            <a:r>
              <a:rPr lang="zh-CN" altLang="en-US" sz="23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 </a:t>
            </a:r>
            <a:r>
              <a:rPr lang="zh-CN" altLang="en-US" sz="2800" b="1" kern="0" baseline="0" dirty="0">
                <a:solidFill>
                  <a:srgbClr val="FFFFCC"/>
                </a:solidFill>
                <a:effectLst>
                  <a:outerShdw blurRad="38100" dist="38100" dir="2700000" algn="tl">
                    <a:srgbClr val="000000"/>
                  </a:outerShdw>
                </a:effectLst>
                <a:latin typeface="Franklin Gothic Book"/>
                <a:ea typeface="黑体" panose="02010609060101010101" pitchFamily="49" charset="-122"/>
              </a:rPr>
              <a:t>或者 </a:t>
            </a:r>
            <a:r>
              <a:rPr lang="en-US" altLang="zh-CN" sz="32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800" b="1"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性别</a:t>
            </a:r>
            <a:r>
              <a:rPr lang="en-US" altLang="zh-CN" sz="23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23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学生</a:t>
            </a:r>
            <a:r>
              <a:rPr lang="zh-CN" altLang="en-US" sz="2300" b="1"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p>
          <a:p>
            <a:pPr fontAlgn="auto">
              <a:spcBef>
                <a:spcPts val="0"/>
              </a:spcBef>
              <a:defRPr/>
            </a:pPr>
            <a:endParaRPr lang="zh-CN" altLang="en-US" sz="2800" b="1" kern="0" baseline="0" dirty="0">
              <a:solidFill>
                <a:srgbClr val="FFFFCC"/>
              </a:solidFill>
              <a:effectLst>
                <a:outerShdw blurRad="38100" dist="38100" dir="2700000" algn="tl">
                  <a:srgbClr val="000000"/>
                </a:outerShdw>
              </a:effectLst>
              <a:latin typeface="Franklin Gothic Book"/>
              <a:ea typeface="黑体" panose="02010609060101010101" pitchFamily="49" charset="-122"/>
            </a:endParaRPr>
          </a:p>
        </p:txBody>
      </p:sp>
      <p:cxnSp>
        <p:nvCxnSpPr>
          <p:cNvPr id="39" name="AutoShape 63"/>
          <p:cNvCxnSpPr>
            <a:cxnSpLocks noChangeShapeType="1"/>
          </p:cNvCxnSpPr>
          <p:nvPr/>
        </p:nvCxnSpPr>
        <p:spPr bwMode="auto">
          <a:xfrm flipV="1">
            <a:off x="4806837" y="3910112"/>
            <a:ext cx="3840286" cy="738770"/>
          </a:xfrm>
          <a:prstGeom prst="bentConnector3">
            <a:avLst>
              <a:gd name="adj1" fmla="val 15366"/>
            </a:avLst>
          </a:prstGeom>
          <a:noFill/>
          <a:ln w="76200" cap="sq">
            <a:solidFill>
              <a:srgbClr val="CCFFCC"/>
            </a:solidFill>
            <a:miter lim="800000"/>
            <a:headEnd/>
            <a:tailEnd type="triangle" w="med" len="med"/>
          </a:ln>
          <a:effectLst>
            <a:outerShdw dist="35921" dir="2700000" algn="ctr" rotWithShape="0">
              <a:srgbClr val="000514"/>
            </a:outerShdw>
          </a:effectLst>
        </p:spPr>
      </p:cxnSp>
    </p:spTree>
    <p:extLst>
      <p:ext uri="{BB962C8B-B14F-4D97-AF65-F5344CB8AC3E}">
        <p14:creationId xmlns:p14="http://schemas.microsoft.com/office/powerpoint/2010/main" val="3184885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58438"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连接（</a:t>
            </a:r>
            <a:r>
              <a:rPr lang="en-US" altLang="zh-CN" b="1" u="sng" kern="1200" dirty="0">
                <a:solidFill>
                  <a:schemeClr val="folHlink"/>
                </a:solidFill>
                <a:effectLst>
                  <a:outerShdw blurRad="38100" dist="38100" dir="2700000" algn="tl">
                    <a:srgbClr val="000000"/>
                  </a:outerShdw>
                </a:effectLst>
                <a:cs typeface="+mn-cs"/>
              </a:rPr>
              <a:t>Join</a:t>
            </a:r>
            <a:r>
              <a:rPr lang="zh-CN" altLang="en-US" b="1" u="sng" kern="1200" dirty="0">
                <a:solidFill>
                  <a:schemeClr val="folHlink"/>
                </a:solidFill>
                <a:effectLst>
                  <a:outerShdw blurRad="38100" dist="38100" dir="2700000" algn="tl">
                    <a:srgbClr val="000000"/>
                  </a:outerShdw>
                </a:effectLst>
                <a:cs typeface="+mn-cs"/>
              </a:rPr>
              <a:t>）</a:t>
            </a:r>
            <a:endParaRPr lang="en-US" altLang="zh-CN" b="1" u="sng" kern="1200" dirty="0">
              <a:solidFill>
                <a:schemeClr val="folHlink"/>
              </a:solidFill>
              <a:effectLst>
                <a:outerShdw blurRad="38100" dist="38100" dir="2700000" algn="tl">
                  <a:srgbClr val="000000"/>
                </a:outerShdw>
              </a:effectLst>
              <a:cs typeface="+mn-cs"/>
            </a:endParaRPr>
          </a:p>
        </p:txBody>
      </p:sp>
      <p:sp>
        <p:nvSpPr>
          <p:cNvPr id="14" name="Rectangle 4"/>
          <p:cNvSpPr txBox="1">
            <a:spLocks noChangeArrowheads="1"/>
          </p:cNvSpPr>
          <p:nvPr/>
        </p:nvSpPr>
        <p:spPr bwMode="auto">
          <a:xfrm>
            <a:off x="668131" y="791890"/>
            <a:ext cx="10360675" cy="172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2"/>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lnSpc>
                <a:spcPct val="120000"/>
              </a:lnSpc>
              <a:spcAft>
                <a:spcPct val="30000"/>
              </a:spcAft>
              <a:buNone/>
              <a:defRPr/>
            </a:pPr>
            <a:r>
              <a:rPr kumimoji="1" lang="zh-CN" altLang="en-US" baseline="0" dirty="0">
                <a:latin typeface="Arial" charset="0"/>
              </a:rPr>
              <a:t>从关系</a:t>
            </a:r>
            <a:r>
              <a:rPr kumimoji="1" lang="en-US" altLang="zh-CN" baseline="0" dirty="0">
                <a:latin typeface="Arial" charset="0"/>
              </a:rPr>
              <a:t>R</a:t>
            </a:r>
            <a:r>
              <a:rPr kumimoji="1" lang="zh-CN" altLang="en-US" baseline="0" dirty="0">
                <a:latin typeface="Arial" charset="0"/>
              </a:rPr>
              <a:t>和</a:t>
            </a:r>
            <a:r>
              <a:rPr kumimoji="1" lang="en-US" altLang="zh-CN" baseline="0" dirty="0">
                <a:latin typeface="Arial" charset="0"/>
              </a:rPr>
              <a:t>S</a:t>
            </a:r>
            <a:r>
              <a:rPr kumimoji="1" lang="zh-CN" altLang="en-US" baseline="0" dirty="0">
                <a:latin typeface="Arial" charset="0"/>
              </a:rPr>
              <a:t>的广义笛卡尔积中选取</a:t>
            </a:r>
            <a:r>
              <a:rPr kumimoji="1" lang="en-US" altLang="zh-CN" baseline="0" dirty="0">
                <a:latin typeface="Arial" charset="0"/>
              </a:rPr>
              <a:t>R</a:t>
            </a:r>
            <a:r>
              <a:rPr kumimoji="1" lang="zh-CN" altLang="en-US" baseline="0" dirty="0">
                <a:latin typeface="Arial" charset="0"/>
              </a:rPr>
              <a:t>与</a:t>
            </a:r>
            <a:r>
              <a:rPr kumimoji="1" lang="en-US" altLang="zh-CN" baseline="0" dirty="0">
                <a:latin typeface="Arial" charset="0"/>
              </a:rPr>
              <a:t>S</a:t>
            </a:r>
            <a:r>
              <a:rPr kumimoji="1" lang="zh-CN" altLang="en-US" baseline="0" dirty="0">
                <a:latin typeface="Arial" charset="0"/>
              </a:rPr>
              <a:t>的属性间满足一定条件的元组，可记作：</a:t>
            </a:r>
            <a:endParaRPr kumimoji="1" lang="en-US" altLang="zh-CN" baseline="0" dirty="0">
              <a:latin typeface="Arial" charset="0"/>
            </a:endParaRPr>
          </a:p>
          <a:p>
            <a:pPr marL="0" indent="0" eaLnBrk="1" hangingPunct="1">
              <a:lnSpc>
                <a:spcPct val="120000"/>
              </a:lnSpc>
              <a:spcAft>
                <a:spcPct val="30000"/>
              </a:spcAft>
              <a:buNone/>
              <a:defRPr/>
            </a:pPr>
            <a:endParaRPr kumimoji="1" lang="zh-CN" altLang="en-US" baseline="0" dirty="0">
              <a:latin typeface="Arial" charset="0"/>
            </a:endParaRPr>
          </a:p>
        </p:txBody>
      </p:sp>
      <p:grpSp>
        <p:nvGrpSpPr>
          <p:cNvPr id="28" name="Group 6"/>
          <p:cNvGrpSpPr>
            <a:grpSpLocks/>
          </p:cNvGrpSpPr>
          <p:nvPr/>
        </p:nvGrpSpPr>
        <p:grpSpPr bwMode="auto">
          <a:xfrm>
            <a:off x="1485111" y="2088058"/>
            <a:ext cx="10402538" cy="923925"/>
            <a:chOff x="645" y="1552"/>
            <a:chExt cx="4455" cy="582"/>
          </a:xfrm>
        </p:grpSpPr>
        <p:sp>
          <p:nvSpPr>
            <p:cNvPr id="29" name="Rectangle 7"/>
            <p:cNvSpPr>
              <a:spLocks noChangeArrowheads="1"/>
            </p:cNvSpPr>
            <p:nvPr/>
          </p:nvSpPr>
          <p:spPr bwMode="auto">
            <a:xfrm>
              <a:off x="666" y="1825"/>
              <a:ext cx="622" cy="174"/>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1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R.A θ S.B</a:t>
              </a:r>
              <a:endParaRPr kumimoji="0" lang="zh-CN" altLang="en-US" sz="1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35" name="Rectangle 8"/>
            <p:cNvSpPr>
              <a:spLocks noChangeArrowheads="1"/>
            </p:cNvSpPr>
            <p:nvPr/>
          </p:nvSpPr>
          <p:spPr bwMode="auto">
            <a:xfrm>
              <a:off x="645" y="1576"/>
              <a:ext cx="164" cy="271"/>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R</a:t>
              </a:r>
              <a:endParaRPr kumimoji="0" lang="zh-CN"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40" name="Rectangle 9"/>
            <p:cNvSpPr>
              <a:spLocks noChangeArrowheads="1"/>
            </p:cNvSpPr>
            <p:nvPr/>
          </p:nvSpPr>
          <p:spPr bwMode="auto">
            <a:xfrm flipH="1">
              <a:off x="1185" y="1576"/>
              <a:ext cx="48" cy="271"/>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S</a:t>
              </a:r>
              <a:endParaRPr kumimoji="0" lang="zh-CN"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41" name="Rectangle 10"/>
            <p:cNvSpPr>
              <a:spLocks noChangeArrowheads="1"/>
            </p:cNvSpPr>
            <p:nvPr/>
          </p:nvSpPr>
          <p:spPr bwMode="auto">
            <a:xfrm>
              <a:off x="1391" y="1552"/>
              <a:ext cx="3709" cy="582"/>
            </a:xfrm>
            <a:prstGeom prst="rect">
              <a:avLst/>
            </a:prstGeom>
            <a:noFill/>
            <a:ln w="12700" cap="sq">
              <a:noFill/>
              <a:miter lim="800000"/>
              <a:headEnd/>
              <a:tailEnd/>
            </a:ln>
            <a:effectLst/>
          </p:spPr>
          <p:txBody>
            <a:bodyPr wrap="square" lIns="0" tIns="0" rIns="0" bIns="0">
              <a:spAutoFit/>
            </a:bodyPr>
            <a:lstStyle/>
            <a:p>
              <a:pPr fontAlgn="auto">
                <a:spcBef>
                  <a:spcPts val="0"/>
                </a:spcBef>
                <a:defRPr/>
              </a:pPr>
              <a:r>
                <a:rPr lang="en-US" altLang="zh-CN" sz="2800" b="1" kern="0" baseline="0" dirty="0">
                  <a:solidFill>
                    <a:srgbClr val="FFFF00"/>
                  </a:solidFill>
                  <a:effectLst>
                    <a:outerShdw blurRad="38100" dist="38100" dir="2700000" algn="tl">
                      <a:srgbClr val="000000"/>
                    </a:outerShdw>
                  </a:effectLst>
                  <a:latin typeface="Times New Roman" pitchFamily="18" charset="0"/>
                </a:rPr>
                <a:t>=  </a:t>
              </a:r>
              <a:r>
                <a:rPr kumimoji="1" lang="en-US" altLang="zh-CN" sz="2800" baseline="0" dirty="0">
                  <a:solidFill>
                    <a:srgbClr val="FFFF00"/>
                  </a:solidFill>
                  <a:latin typeface="Arial" charset="0"/>
                </a:rPr>
                <a:t>{ &lt;</a:t>
              </a:r>
              <a:r>
                <a:rPr kumimoji="1" lang="en-US" altLang="zh-CN" sz="2800" baseline="0" dirty="0" err="1">
                  <a:solidFill>
                    <a:srgbClr val="FFFF00"/>
                  </a:solidFill>
                  <a:latin typeface="Arial" charset="0"/>
                </a:rPr>
                <a:t>tr,ts</a:t>
              </a:r>
              <a:r>
                <a:rPr kumimoji="1" lang="en-US" altLang="zh-CN" sz="2800" baseline="0" dirty="0">
                  <a:solidFill>
                    <a:srgbClr val="FFFF00"/>
                  </a:solidFill>
                  <a:latin typeface="Arial" charset="0"/>
                </a:rPr>
                <a:t>&gt; | </a:t>
              </a:r>
              <a:r>
                <a:rPr kumimoji="1" lang="en-US" altLang="zh-CN" sz="2800" baseline="0" dirty="0" err="1">
                  <a:solidFill>
                    <a:srgbClr val="FFFF00"/>
                  </a:solidFill>
                  <a:latin typeface="Arial" charset="0"/>
                </a:rPr>
                <a:t>tr∈R</a:t>
              </a:r>
              <a:r>
                <a:rPr kumimoji="1" lang="en-US" altLang="zh-CN" sz="2800" baseline="0" dirty="0">
                  <a:solidFill>
                    <a:srgbClr val="FFFF00"/>
                  </a:solidFill>
                  <a:latin typeface="Arial" charset="0"/>
                </a:rPr>
                <a:t> ∧ </a:t>
              </a:r>
              <a:r>
                <a:rPr kumimoji="1" lang="en-US" altLang="zh-CN" sz="2800" baseline="0" dirty="0" err="1">
                  <a:solidFill>
                    <a:srgbClr val="FFFF00"/>
                  </a:solidFill>
                  <a:latin typeface="Arial" charset="0"/>
                </a:rPr>
                <a:t>ts∈S</a:t>
              </a:r>
              <a:r>
                <a:rPr kumimoji="1" lang="en-US" altLang="zh-CN" sz="2800" baseline="0" dirty="0">
                  <a:solidFill>
                    <a:srgbClr val="FFFF00"/>
                  </a:solidFill>
                  <a:latin typeface="Arial" charset="0"/>
                </a:rPr>
                <a:t> ∧ </a:t>
              </a:r>
              <a:r>
                <a:rPr lang="en-US" altLang="zh-CN" sz="2800" b="1" kern="0" baseline="0" dirty="0">
                  <a:solidFill>
                    <a:srgbClr val="FFFF00"/>
                  </a:solidFill>
                  <a:effectLst>
                    <a:outerShdw blurRad="38100" dist="38100" dir="2700000" algn="tl">
                      <a:srgbClr val="000000"/>
                    </a:outerShdw>
                  </a:effectLst>
                </a:rPr>
                <a:t>R.A θ S.B</a:t>
              </a:r>
              <a:r>
                <a:rPr kumimoji="1" lang="en-US" altLang="zh-CN" sz="2800" baseline="0" dirty="0">
                  <a:solidFill>
                    <a:srgbClr val="FFFF00"/>
                  </a:solidFill>
                  <a:latin typeface="Arial" charset="0"/>
                </a:rPr>
                <a:t> }</a:t>
              </a:r>
            </a:p>
            <a:p>
              <a:pPr lvl="0" fontAlgn="auto">
                <a:spcBef>
                  <a:spcPts val="0"/>
                </a:spcBef>
                <a:defRPr/>
              </a:pPr>
              <a:r>
                <a:rPr lang="en-US" altLang="zh-CN" sz="2800" b="1" kern="0" baseline="0" dirty="0">
                  <a:solidFill>
                    <a:srgbClr val="FFFF00"/>
                  </a:solidFill>
                  <a:effectLst>
                    <a:outerShdw blurRad="38100" dist="38100" dir="2700000" algn="tl">
                      <a:srgbClr val="000000"/>
                    </a:outerShdw>
                  </a:effectLst>
                  <a:latin typeface="Times New Roman" pitchFamily="18" charset="0"/>
                </a:rPr>
                <a:t>=  </a:t>
              </a:r>
              <a:r>
                <a:rPr kumimoji="0" lang="en-US" altLang="en-US" sz="32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σ</a:t>
              </a:r>
              <a:r>
                <a:rPr kumimoji="0" lang="en-US"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 </a:t>
              </a:r>
              <a:r>
                <a:rPr kumimoji="0" lang="en-US" altLang="zh-CN" sz="2800" b="1" i="0" u="none" strike="noStrike" kern="0" cap="none" spc="0" normalizeH="0" baseline="-25000" noProof="0" dirty="0">
                  <a:ln>
                    <a:noFill/>
                  </a:ln>
                  <a:solidFill>
                    <a:srgbClr val="FFFF00"/>
                  </a:solidFill>
                  <a:effectLst>
                    <a:outerShdw blurRad="38100" dist="38100" dir="2700000" algn="tl">
                      <a:srgbClr val="000000"/>
                    </a:outerShdw>
                  </a:effectLst>
                  <a:uLnTx/>
                  <a:uFillTx/>
                  <a:ea typeface="宋体" pitchFamily="2" charset="-122"/>
                </a:rPr>
                <a:t>R.A θ S.B</a:t>
              </a:r>
              <a:r>
                <a:rPr kumimoji="0" lang="en-US" altLang="zh-CN"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a:t>
              </a:r>
              <a:r>
                <a:rPr kumimoji="0" lang="en-US"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R×S </a:t>
              </a:r>
              <a:r>
                <a:rPr kumimoji="0" lang="en-US" altLang="zh-CN"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a:t>
              </a:r>
              <a:endParaRPr kumimoji="0" lang="zh-CN"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42" name="Freeform 11"/>
            <p:cNvSpPr>
              <a:spLocks/>
            </p:cNvSpPr>
            <p:nvPr/>
          </p:nvSpPr>
          <p:spPr bwMode="auto">
            <a:xfrm>
              <a:off x="912" y="1634"/>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00"/>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grpSp>
      <p:graphicFrame>
        <p:nvGraphicFramePr>
          <p:cNvPr id="55" name="Group 4"/>
          <p:cNvGraphicFramePr>
            <a:graphicFrameLocks noGrp="1"/>
          </p:cNvGraphicFramePr>
          <p:nvPr>
            <p:extLst>
              <p:ext uri="{D42A27DB-BD31-4B8C-83A1-F6EECF244321}">
                <p14:modId xmlns:p14="http://schemas.microsoft.com/office/powerpoint/2010/main" val="3628639113"/>
              </p:ext>
            </p:extLst>
          </p:nvPr>
        </p:nvGraphicFramePr>
        <p:xfrm>
          <a:off x="912639" y="4918288"/>
          <a:ext cx="1960563" cy="1463040"/>
        </p:xfrm>
        <a:graphic>
          <a:graphicData uri="http://schemas.openxmlformats.org/drawingml/2006/table">
            <a:tbl>
              <a:tblPr/>
              <a:tblGrid>
                <a:gridCol w="758825">
                  <a:extLst>
                    <a:ext uri="{9D8B030D-6E8A-4147-A177-3AD203B41FA5}">
                      <a16:colId xmlns:a16="http://schemas.microsoft.com/office/drawing/2014/main" val="20000"/>
                    </a:ext>
                  </a:extLst>
                </a:gridCol>
                <a:gridCol w="569913">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graphicFrame>
        <p:nvGraphicFramePr>
          <p:cNvPr id="56" name="Group 38"/>
          <p:cNvGraphicFramePr>
            <a:graphicFrameLocks noGrp="1"/>
          </p:cNvGraphicFramePr>
          <p:nvPr>
            <p:extLst>
              <p:ext uri="{D42A27DB-BD31-4B8C-83A1-F6EECF244321}">
                <p14:modId xmlns:p14="http://schemas.microsoft.com/office/powerpoint/2010/main" val="1913766895"/>
              </p:ext>
            </p:extLst>
          </p:nvPr>
        </p:nvGraphicFramePr>
        <p:xfrm>
          <a:off x="3071664" y="4918288"/>
          <a:ext cx="1201737" cy="1463040"/>
        </p:xfrm>
        <a:graphic>
          <a:graphicData uri="http://schemas.openxmlformats.org/drawingml/2006/table">
            <a:tbl>
              <a:tblPr/>
              <a:tblGrid>
                <a:gridCol w="569912">
                  <a:extLst>
                    <a:ext uri="{9D8B030D-6E8A-4147-A177-3AD203B41FA5}">
                      <a16:colId xmlns:a16="http://schemas.microsoft.com/office/drawing/2014/main" val="20000"/>
                    </a:ext>
                  </a:extLst>
                </a:gridCol>
                <a:gridCol w="631825">
                  <a:extLst>
                    <a:ext uri="{9D8B030D-6E8A-4147-A177-3AD203B41FA5}">
                      <a16:colId xmlns:a16="http://schemas.microsoft.com/office/drawing/2014/main" val="20001"/>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graphicFrame>
        <p:nvGraphicFramePr>
          <p:cNvPr id="57" name="Group 69"/>
          <p:cNvGraphicFramePr>
            <a:graphicFrameLocks noGrp="1"/>
          </p:cNvGraphicFramePr>
          <p:nvPr>
            <p:extLst>
              <p:ext uri="{D42A27DB-BD31-4B8C-83A1-F6EECF244321}">
                <p14:modId xmlns:p14="http://schemas.microsoft.com/office/powerpoint/2010/main" val="2516344534"/>
              </p:ext>
            </p:extLst>
          </p:nvPr>
        </p:nvGraphicFramePr>
        <p:xfrm>
          <a:off x="5087888" y="4918288"/>
          <a:ext cx="2973388" cy="1463040"/>
        </p:xfrm>
        <a:graphic>
          <a:graphicData uri="http://schemas.openxmlformats.org/drawingml/2006/table">
            <a:tbl>
              <a:tblPr/>
              <a:tblGrid>
                <a:gridCol w="569913">
                  <a:extLst>
                    <a:ext uri="{9D8B030D-6E8A-4147-A177-3AD203B41FA5}">
                      <a16:colId xmlns:a16="http://schemas.microsoft.com/office/drawing/2014/main" val="20000"/>
                    </a:ext>
                  </a:extLst>
                </a:gridCol>
                <a:gridCol w="569912">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631825">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2286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58" name="Rectangle 145"/>
          <p:cNvSpPr>
            <a:spLocks noChangeArrowheads="1"/>
          </p:cNvSpPr>
          <p:nvPr/>
        </p:nvSpPr>
        <p:spPr bwMode="auto">
          <a:xfrm>
            <a:off x="988839" y="4461088"/>
            <a:ext cx="205184"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baseline="0" dirty="0">
                <a:effectLst>
                  <a:outerShdw blurRad="38100" dist="38100" dir="2700000" algn="tl">
                    <a:srgbClr val="000000"/>
                  </a:outerShdw>
                </a:effectLst>
                <a:latin typeface="Times New Roman" pitchFamily="18" charset="0"/>
              </a:rPr>
              <a:t>R</a:t>
            </a:r>
          </a:p>
        </p:txBody>
      </p:sp>
      <p:sp>
        <p:nvSpPr>
          <p:cNvPr id="59" name="Rectangle 146"/>
          <p:cNvSpPr>
            <a:spLocks noChangeArrowheads="1"/>
          </p:cNvSpPr>
          <p:nvPr/>
        </p:nvSpPr>
        <p:spPr bwMode="auto">
          <a:xfrm>
            <a:off x="3326095" y="4458598"/>
            <a:ext cx="17152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baseline="0" dirty="0">
                <a:effectLst>
                  <a:outerShdw blurRad="38100" dist="38100" dir="2700000" algn="tl">
                    <a:srgbClr val="000000"/>
                  </a:outerShdw>
                </a:effectLst>
                <a:latin typeface="Times New Roman" pitchFamily="18" charset="0"/>
              </a:rPr>
              <a:t>S</a:t>
            </a:r>
          </a:p>
        </p:txBody>
      </p:sp>
      <p:grpSp>
        <p:nvGrpSpPr>
          <p:cNvPr id="60" name="Group 147"/>
          <p:cNvGrpSpPr>
            <a:grpSpLocks/>
          </p:cNvGrpSpPr>
          <p:nvPr/>
        </p:nvGrpSpPr>
        <p:grpSpPr bwMode="auto">
          <a:xfrm>
            <a:off x="5549559" y="4209633"/>
            <a:ext cx="1101726" cy="630237"/>
            <a:chOff x="3655" y="887"/>
            <a:chExt cx="694" cy="397"/>
          </a:xfrm>
        </p:grpSpPr>
        <p:sp>
          <p:nvSpPr>
            <p:cNvPr id="61" name="Rectangle 148"/>
            <p:cNvSpPr>
              <a:spLocks noChangeArrowheads="1"/>
            </p:cNvSpPr>
            <p:nvPr/>
          </p:nvSpPr>
          <p:spPr bwMode="auto">
            <a:xfrm>
              <a:off x="3664" y="1090"/>
              <a:ext cx="685" cy="194"/>
            </a:xfrm>
            <a:prstGeom prst="rect">
              <a:avLst/>
            </a:prstGeom>
            <a:noFill/>
            <a:ln w="12700" cap="sq">
              <a:noFill/>
              <a:miter lim="800000"/>
              <a:headEnd/>
              <a:tailEnd/>
            </a:ln>
            <a:effec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rPr>
                <a:t>C &gt; E</a:t>
              </a:r>
              <a:endParaRPr kumimoji="0" lang="zh-CN" altLang="en-US"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62" name="Rectangle 149"/>
            <p:cNvSpPr>
              <a:spLocks noChangeArrowheads="1"/>
            </p:cNvSpPr>
            <p:nvPr/>
          </p:nvSpPr>
          <p:spPr bwMode="auto">
            <a:xfrm>
              <a:off x="3655" y="887"/>
              <a:ext cx="129" cy="233"/>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R</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63" name="Rectangle 150"/>
            <p:cNvSpPr>
              <a:spLocks noChangeArrowheads="1"/>
            </p:cNvSpPr>
            <p:nvPr/>
          </p:nvSpPr>
          <p:spPr bwMode="auto">
            <a:xfrm flipH="1">
              <a:off x="4179" y="887"/>
              <a:ext cx="48" cy="233"/>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S</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64" name="Freeform 151"/>
            <p:cNvSpPr>
              <a:spLocks/>
            </p:cNvSpPr>
            <p:nvPr/>
          </p:nvSpPr>
          <p:spPr bwMode="auto">
            <a:xfrm>
              <a:off x="3909" y="946"/>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FF"/>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endParaRPr>
            </a:p>
          </p:txBody>
        </p:sp>
      </p:grpSp>
      <p:sp>
        <p:nvSpPr>
          <p:cNvPr id="44" name="Rectangle 5"/>
          <p:cNvSpPr>
            <a:spLocks noChangeArrowheads="1"/>
          </p:cNvSpPr>
          <p:nvPr/>
        </p:nvSpPr>
        <p:spPr bwMode="auto">
          <a:xfrm>
            <a:off x="565521" y="3073970"/>
            <a:ext cx="10715055" cy="4270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a:lnSpc>
                <a:spcPct val="125000"/>
              </a:lnSpc>
              <a:spcAft>
                <a:spcPct val="30000"/>
              </a:spcAft>
              <a:buClr>
                <a:srgbClr val="66FF33"/>
              </a:buClr>
              <a:buSzPct val="85000"/>
            </a:pP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其中</a:t>
            </a:r>
            <a:r>
              <a:rPr kumimoji="1" lang="en-US" altLang="zh-CN" sz="3200" baseline="0" dirty="0">
                <a:solidFill>
                  <a:srgbClr val="CCFFCC"/>
                </a:solidFill>
                <a:effectLst>
                  <a:outerShdw blurRad="38100" dist="38100" dir="2700000" algn="tl">
                    <a:srgbClr val="000000"/>
                  </a:outerShdw>
                </a:effectLst>
                <a:latin typeface="Arial" charset="0"/>
                <a:ea typeface="微软雅黑" pitchFamily="34" charset="-122"/>
              </a:rPr>
              <a:t>θ</a:t>
            </a: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是比较运算符，</a:t>
            </a:r>
            <a:r>
              <a:rPr kumimoji="1" lang="en-US" altLang="zh-CN" sz="3200" baseline="0" dirty="0">
                <a:solidFill>
                  <a:srgbClr val="CCFFCC"/>
                </a:solidFill>
                <a:effectLst>
                  <a:outerShdw blurRad="38100" dist="38100" dir="2700000" algn="tl">
                    <a:srgbClr val="000000"/>
                  </a:outerShdw>
                </a:effectLst>
                <a:latin typeface="Arial" charset="0"/>
                <a:ea typeface="微软雅黑" pitchFamily="34" charset="-122"/>
              </a:rPr>
              <a:t>A</a:t>
            </a: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和</a:t>
            </a:r>
            <a:r>
              <a:rPr kumimoji="1" lang="en-US" altLang="zh-CN" sz="3200" baseline="0" dirty="0">
                <a:solidFill>
                  <a:srgbClr val="CCFFCC"/>
                </a:solidFill>
                <a:effectLst>
                  <a:outerShdw blurRad="38100" dist="38100" dir="2700000" algn="tl">
                    <a:srgbClr val="000000"/>
                  </a:outerShdw>
                </a:effectLst>
                <a:latin typeface="Arial" charset="0"/>
                <a:ea typeface="微软雅黑" pitchFamily="34" charset="-122"/>
              </a:rPr>
              <a:t>B</a:t>
            </a: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分别为</a:t>
            </a:r>
            <a:r>
              <a:rPr kumimoji="1" lang="en-US" altLang="zh-CN" sz="3200" baseline="0" dirty="0">
                <a:solidFill>
                  <a:srgbClr val="CCFFCC"/>
                </a:solidFill>
                <a:effectLst>
                  <a:outerShdw blurRad="38100" dist="38100" dir="2700000" algn="tl">
                    <a:srgbClr val="000000"/>
                  </a:outerShdw>
                </a:effectLst>
                <a:latin typeface="Arial" charset="0"/>
                <a:ea typeface="微软雅黑" pitchFamily="34" charset="-122"/>
              </a:rPr>
              <a:t>R</a:t>
            </a: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和</a:t>
            </a:r>
            <a:r>
              <a:rPr kumimoji="1" lang="en-US" altLang="zh-CN" sz="3200" baseline="0" dirty="0">
                <a:solidFill>
                  <a:srgbClr val="CCFFCC"/>
                </a:solidFill>
                <a:effectLst>
                  <a:outerShdw blurRad="38100" dist="38100" dir="2700000" algn="tl">
                    <a:srgbClr val="000000"/>
                  </a:outerShdw>
                </a:effectLst>
                <a:latin typeface="Arial" charset="0"/>
                <a:ea typeface="微软雅黑" pitchFamily="34" charset="-122"/>
              </a:rPr>
              <a:t>S</a:t>
            </a: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上</a:t>
            </a:r>
            <a:r>
              <a:rPr kumimoji="1" lang="zh-CN" altLang="en-US" sz="3200" baseline="0" dirty="0">
                <a:solidFill>
                  <a:srgbClr val="FF0000"/>
                </a:solidFill>
                <a:effectLst>
                  <a:outerShdw blurRad="38100" dist="38100" dir="2700000" algn="tl">
                    <a:srgbClr val="000000"/>
                  </a:outerShdw>
                </a:effectLst>
                <a:latin typeface="Arial" charset="0"/>
                <a:ea typeface="微软雅黑" pitchFamily="34" charset="-122"/>
              </a:rPr>
              <a:t>度数相等且可比</a:t>
            </a:r>
            <a:r>
              <a:rPr kumimoji="1" lang="zh-CN" altLang="en-US" sz="3200" baseline="0" dirty="0">
                <a:solidFill>
                  <a:srgbClr val="CCFFCC"/>
                </a:solidFill>
                <a:effectLst>
                  <a:outerShdw blurRad="38100" dist="38100" dir="2700000" algn="tl">
                    <a:srgbClr val="000000"/>
                  </a:outerShdw>
                </a:effectLst>
                <a:latin typeface="Arial" charset="0"/>
                <a:ea typeface="微软雅黑" pitchFamily="34" charset="-122"/>
              </a:rPr>
              <a:t>的属性集。</a:t>
            </a:r>
          </a:p>
        </p:txBody>
      </p:sp>
      <p:graphicFrame>
        <p:nvGraphicFramePr>
          <p:cNvPr id="22" name="Group 69"/>
          <p:cNvGraphicFramePr>
            <a:graphicFrameLocks noGrp="1"/>
          </p:cNvGraphicFramePr>
          <p:nvPr/>
        </p:nvGraphicFramePr>
        <p:xfrm>
          <a:off x="8667228" y="4552528"/>
          <a:ext cx="2973388" cy="1828800"/>
        </p:xfrm>
        <a:graphic>
          <a:graphicData uri="http://schemas.openxmlformats.org/drawingml/2006/table">
            <a:tbl>
              <a:tblPr/>
              <a:tblGrid>
                <a:gridCol w="569913">
                  <a:extLst>
                    <a:ext uri="{9D8B030D-6E8A-4147-A177-3AD203B41FA5}">
                      <a16:colId xmlns:a16="http://schemas.microsoft.com/office/drawing/2014/main" val="20000"/>
                    </a:ext>
                  </a:extLst>
                </a:gridCol>
                <a:gridCol w="569912">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631825">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2286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3533532092"/>
                  </a:ext>
                </a:extLst>
              </a:tr>
            </a:tbl>
          </a:graphicData>
        </a:graphic>
      </p:graphicFrame>
      <p:grpSp>
        <p:nvGrpSpPr>
          <p:cNvPr id="23" name="Group 147"/>
          <p:cNvGrpSpPr>
            <a:grpSpLocks/>
          </p:cNvGrpSpPr>
          <p:nvPr/>
        </p:nvGrpSpPr>
        <p:grpSpPr bwMode="auto">
          <a:xfrm>
            <a:off x="9171284" y="3936354"/>
            <a:ext cx="908051" cy="604838"/>
            <a:chOff x="3655" y="887"/>
            <a:chExt cx="572" cy="381"/>
          </a:xfrm>
        </p:grpSpPr>
        <p:sp>
          <p:nvSpPr>
            <p:cNvPr id="24" name="Rectangle 148"/>
            <p:cNvSpPr>
              <a:spLocks noChangeArrowheads="1"/>
            </p:cNvSpPr>
            <p:nvPr/>
          </p:nvSpPr>
          <p:spPr bwMode="auto">
            <a:xfrm>
              <a:off x="3714" y="1074"/>
              <a:ext cx="494" cy="194"/>
            </a:xfrm>
            <a:prstGeom prst="rect">
              <a:avLst/>
            </a:prstGeom>
            <a:noFill/>
            <a:ln w="12700" cap="sq">
              <a:noFill/>
              <a:miter lim="800000"/>
              <a:headEnd/>
              <a:tailEnd/>
            </a:ln>
            <a:effec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rPr>
                <a:t>C &lt; E</a:t>
              </a:r>
              <a:endParaRPr kumimoji="0" lang="zh-CN" altLang="en-US"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25" name="Rectangle 149"/>
            <p:cNvSpPr>
              <a:spLocks noChangeArrowheads="1"/>
            </p:cNvSpPr>
            <p:nvPr/>
          </p:nvSpPr>
          <p:spPr bwMode="auto">
            <a:xfrm>
              <a:off x="3655" y="887"/>
              <a:ext cx="129" cy="233"/>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rPr>
                <a:t>R</a:t>
              </a:r>
              <a:endParaRPr kumimoji="0" lang="zh-CN" altLang="en-US" sz="24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26" name="Rectangle 150"/>
            <p:cNvSpPr>
              <a:spLocks noChangeArrowheads="1"/>
            </p:cNvSpPr>
            <p:nvPr/>
          </p:nvSpPr>
          <p:spPr bwMode="auto">
            <a:xfrm flipH="1">
              <a:off x="4179" y="887"/>
              <a:ext cx="48" cy="233"/>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rPr>
                <a:t>S</a:t>
              </a:r>
              <a:endParaRPr kumimoji="0" lang="zh-CN" altLang="en-US" sz="2400" b="0" i="0" u="none" strike="noStrike" kern="0" cap="none" spc="0" normalizeH="0" baseline="0" noProof="0" dirty="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27" name="Freeform 151"/>
            <p:cNvSpPr>
              <a:spLocks/>
            </p:cNvSpPr>
            <p:nvPr/>
          </p:nvSpPr>
          <p:spPr bwMode="auto">
            <a:xfrm>
              <a:off x="3909" y="946"/>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FF"/>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endParaRPr>
            </a:p>
          </p:txBody>
        </p:sp>
      </p:grpSp>
    </p:spTree>
    <p:extLst>
      <p:ext uri="{BB962C8B-B14F-4D97-AF65-F5344CB8AC3E}">
        <p14:creationId xmlns:p14="http://schemas.microsoft.com/office/powerpoint/2010/main" val="255870342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58438"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连接（</a:t>
            </a:r>
            <a:r>
              <a:rPr lang="en-US" altLang="zh-CN" b="1" u="sng" kern="1200" dirty="0">
                <a:solidFill>
                  <a:schemeClr val="folHlink"/>
                </a:solidFill>
                <a:effectLst>
                  <a:outerShdw blurRad="38100" dist="38100" dir="2700000" algn="tl">
                    <a:srgbClr val="000000"/>
                  </a:outerShdw>
                </a:effectLst>
                <a:cs typeface="+mn-cs"/>
              </a:rPr>
              <a:t>Join</a:t>
            </a:r>
            <a:r>
              <a:rPr lang="zh-CN" altLang="en-US" b="1" u="sng" kern="1200" dirty="0">
                <a:solidFill>
                  <a:schemeClr val="folHlink"/>
                </a:solidFill>
                <a:effectLst>
                  <a:outerShdw blurRad="38100" dist="38100" dir="2700000" algn="tl">
                    <a:srgbClr val="000000"/>
                  </a:outerShdw>
                </a:effectLst>
                <a:cs typeface="+mn-cs"/>
              </a:rPr>
              <a:t>）</a:t>
            </a:r>
            <a:endParaRPr lang="en-US" altLang="zh-CN" b="1" u="sng" kern="1200" dirty="0">
              <a:solidFill>
                <a:schemeClr val="folHlink"/>
              </a:solidFill>
              <a:effectLst>
                <a:outerShdw blurRad="38100" dist="38100" dir="2700000" algn="tl">
                  <a:srgbClr val="000000"/>
                </a:outerShdw>
              </a:effectLst>
              <a:cs typeface="+mn-cs"/>
            </a:endParaRPr>
          </a:p>
        </p:txBody>
      </p:sp>
      <p:sp>
        <p:nvSpPr>
          <p:cNvPr id="31" name="Rectangle 5"/>
          <p:cNvSpPr>
            <a:spLocks noChangeArrowheads="1"/>
          </p:cNvSpPr>
          <p:nvPr/>
        </p:nvSpPr>
        <p:spPr bwMode="auto">
          <a:xfrm>
            <a:off x="407368" y="1124744"/>
            <a:ext cx="11161240" cy="427038"/>
          </a:xfrm>
          <a:prstGeom prst="rect">
            <a:avLst/>
          </a:prstGeom>
          <a:noFill/>
          <a:ln w="9525" algn="ctr">
            <a:noFill/>
            <a:miter lim="800000"/>
            <a:headEnd/>
            <a:tailEnd/>
          </a:ln>
          <a:effectLst/>
        </p:spPr>
        <p:txBody>
          <a:bodyPr/>
          <a:lstStyle/>
          <a:p>
            <a:pPr marL="342900" indent="-342900" fontAlgn="auto">
              <a:spcBef>
                <a:spcPts val="0"/>
              </a:spcBef>
              <a:spcAft>
                <a:spcPct val="30000"/>
              </a:spcAft>
              <a:buClr>
                <a:srgbClr val="FF9900"/>
              </a:buClr>
              <a:buSzPct val="50000"/>
              <a:buFont typeface="Wingdings" pitchFamily="2" charset="2"/>
              <a:buChar char="n"/>
              <a:defRPr/>
            </a:pPr>
            <a:r>
              <a:rPr lang="en-US" altLang="zh-CN" sz="4000" baseline="0" dirty="0">
                <a:solidFill>
                  <a:srgbClr val="CCFFCC"/>
                </a:solidFill>
                <a:effectLst>
                  <a:outerShdw blurRad="38100" dist="38100" dir="2700000" algn="tl">
                    <a:srgbClr val="000000"/>
                  </a:outerShdw>
                </a:effectLst>
                <a:latin typeface="Arial" charset="0"/>
                <a:ea typeface="黑体" panose="02010609060101010101" pitchFamily="49" charset="-122"/>
              </a:rPr>
              <a:t>θ</a:t>
            </a:r>
            <a:r>
              <a:rPr lang="zh-CN" altLang="en-US" sz="4000" baseline="0" dirty="0">
                <a:solidFill>
                  <a:srgbClr val="CCFFCC"/>
                </a:solidFill>
                <a:effectLst>
                  <a:outerShdw blurRad="38100" dist="38100" dir="2700000" algn="tl">
                    <a:srgbClr val="000000"/>
                  </a:outerShdw>
                </a:effectLst>
                <a:latin typeface="Arial" charset="0"/>
                <a:ea typeface="黑体" panose="02010609060101010101" pitchFamily="49" charset="-122"/>
              </a:rPr>
              <a:t>为“</a:t>
            </a:r>
            <a:r>
              <a:rPr lang="en-US" altLang="zh-CN" sz="4000" baseline="0" dirty="0">
                <a:solidFill>
                  <a:srgbClr val="CCFFCC"/>
                </a:solidFill>
                <a:effectLst>
                  <a:outerShdw blurRad="38100" dist="38100" dir="2700000" algn="tl">
                    <a:srgbClr val="000000"/>
                  </a:outerShdw>
                </a:effectLst>
                <a:latin typeface="Arial" charset="0"/>
                <a:ea typeface="黑体" panose="02010609060101010101" pitchFamily="49" charset="-122"/>
              </a:rPr>
              <a:t>=”</a:t>
            </a:r>
            <a:r>
              <a:rPr lang="zh-CN" altLang="en-US" sz="4000" baseline="0" dirty="0">
                <a:solidFill>
                  <a:srgbClr val="CCFFCC"/>
                </a:solidFill>
                <a:effectLst>
                  <a:outerShdw blurRad="38100" dist="38100" dir="2700000" algn="tl">
                    <a:srgbClr val="000000"/>
                  </a:outerShdw>
                </a:effectLst>
                <a:latin typeface="Arial" charset="0"/>
                <a:ea typeface="黑体" panose="02010609060101010101" pitchFamily="49" charset="-122"/>
              </a:rPr>
              <a:t>时称为</a:t>
            </a:r>
            <a:r>
              <a:rPr lang="zh-CN" altLang="en-US" sz="4000" baseline="0" dirty="0">
                <a:solidFill>
                  <a:srgbClr val="FFFF00"/>
                </a:solidFill>
                <a:effectLst>
                  <a:outerShdw blurRad="38100" dist="38100" dir="2700000" algn="tl">
                    <a:srgbClr val="000000"/>
                  </a:outerShdw>
                </a:effectLst>
                <a:latin typeface="Arial" charset="0"/>
                <a:ea typeface="黑体" panose="02010609060101010101" pitchFamily="49" charset="-122"/>
              </a:rPr>
              <a:t>等值连接</a:t>
            </a:r>
            <a:r>
              <a:rPr lang="zh-CN" altLang="en-US" sz="4000" baseline="0" dirty="0">
                <a:solidFill>
                  <a:srgbClr val="CCFFCC"/>
                </a:solidFill>
                <a:effectLst>
                  <a:outerShdw blurRad="38100" dist="38100" dir="2700000" algn="tl">
                    <a:srgbClr val="000000"/>
                  </a:outerShdw>
                </a:effectLst>
                <a:latin typeface="Arial" charset="0"/>
                <a:ea typeface="黑体" panose="02010609060101010101" pitchFamily="49" charset="-122"/>
              </a:rPr>
              <a:t>，其它称为非等值连接。</a:t>
            </a:r>
            <a:endParaRPr lang="en-US" altLang="zh-CN" sz="4000" baseline="0" dirty="0">
              <a:solidFill>
                <a:srgbClr val="CCFFCC"/>
              </a:solidFill>
              <a:effectLst>
                <a:outerShdw blurRad="38100" dist="38100" dir="2700000" algn="tl">
                  <a:srgbClr val="000000"/>
                </a:outerShdw>
              </a:effectLst>
              <a:latin typeface="Arial" charset="0"/>
              <a:ea typeface="黑体" panose="02010609060101010101" pitchFamily="49" charset="-122"/>
            </a:endParaRPr>
          </a:p>
        </p:txBody>
      </p:sp>
      <p:sp>
        <p:nvSpPr>
          <p:cNvPr id="7" name="Rectangle 145"/>
          <p:cNvSpPr>
            <a:spLocks noChangeArrowheads="1"/>
          </p:cNvSpPr>
          <p:nvPr/>
        </p:nvSpPr>
        <p:spPr bwMode="auto">
          <a:xfrm>
            <a:off x="801363" y="2899792"/>
            <a:ext cx="205184"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baseline="0" dirty="0">
                <a:effectLst>
                  <a:outerShdw blurRad="38100" dist="38100" dir="2700000" algn="tl">
                    <a:srgbClr val="000000"/>
                  </a:outerShdw>
                </a:effectLst>
                <a:latin typeface="Times New Roman" pitchFamily="18" charset="0"/>
              </a:rPr>
              <a:t>R</a:t>
            </a:r>
          </a:p>
        </p:txBody>
      </p:sp>
      <p:sp>
        <p:nvSpPr>
          <p:cNvPr id="8" name="Rectangle 146"/>
          <p:cNvSpPr>
            <a:spLocks noChangeArrowheads="1"/>
          </p:cNvSpPr>
          <p:nvPr/>
        </p:nvSpPr>
        <p:spPr bwMode="auto">
          <a:xfrm>
            <a:off x="3472060" y="2868585"/>
            <a:ext cx="17152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baseline="0" dirty="0">
                <a:effectLst>
                  <a:outerShdw blurRad="38100" dist="38100" dir="2700000" algn="tl">
                    <a:srgbClr val="000000"/>
                  </a:outerShdw>
                </a:effectLst>
                <a:latin typeface="Times New Roman" pitchFamily="18" charset="0"/>
              </a:rPr>
              <a:t>S</a:t>
            </a:r>
          </a:p>
        </p:txBody>
      </p:sp>
      <p:grpSp>
        <p:nvGrpSpPr>
          <p:cNvPr id="9" name="Group 147"/>
          <p:cNvGrpSpPr>
            <a:grpSpLocks/>
          </p:cNvGrpSpPr>
          <p:nvPr/>
        </p:nvGrpSpPr>
        <p:grpSpPr bwMode="auto">
          <a:xfrm>
            <a:off x="5993801" y="2630292"/>
            <a:ext cx="908051" cy="620713"/>
            <a:chOff x="3655" y="887"/>
            <a:chExt cx="572" cy="391"/>
          </a:xfrm>
        </p:grpSpPr>
        <p:sp>
          <p:nvSpPr>
            <p:cNvPr id="10" name="Rectangle 148"/>
            <p:cNvSpPr>
              <a:spLocks noChangeArrowheads="1"/>
            </p:cNvSpPr>
            <p:nvPr/>
          </p:nvSpPr>
          <p:spPr bwMode="auto">
            <a:xfrm>
              <a:off x="3784" y="1084"/>
              <a:ext cx="394" cy="194"/>
            </a:xfrm>
            <a:prstGeom prst="rect">
              <a:avLst/>
            </a:prstGeom>
            <a:noFill/>
            <a:ln w="12700" cap="sq">
              <a:noFill/>
              <a:miter lim="800000"/>
              <a:headEnd/>
              <a:tailEnd/>
            </a:ln>
            <a:effec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lang="en-US" altLang="zh-CN" sz="2000" kern="0" baseline="0" dirty="0">
                  <a:effectLst>
                    <a:outerShdw blurRad="38100" dist="38100" dir="2700000" algn="tl">
                      <a:srgbClr val="000000"/>
                    </a:outerShdw>
                  </a:effectLst>
                  <a:latin typeface="Times New Roman" pitchFamily="18" charset="0"/>
                </a:rPr>
                <a:t>C</a:t>
              </a:r>
              <a:r>
                <a:rPr kumimoji="0" lang="en-US" altLang="zh-CN"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rPr>
                <a:t> = D</a:t>
              </a:r>
              <a:endParaRPr kumimoji="0" lang="zh-CN" altLang="en-US"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ndParaRPr>
            </a:p>
          </p:txBody>
        </p:sp>
        <p:sp>
          <p:nvSpPr>
            <p:cNvPr id="11" name="Rectangle 149"/>
            <p:cNvSpPr>
              <a:spLocks noChangeArrowheads="1"/>
            </p:cNvSpPr>
            <p:nvPr/>
          </p:nvSpPr>
          <p:spPr bwMode="auto">
            <a:xfrm>
              <a:off x="3655" y="887"/>
              <a:ext cx="129" cy="233"/>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R</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12" name="Rectangle 150"/>
            <p:cNvSpPr>
              <a:spLocks noChangeArrowheads="1"/>
            </p:cNvSpPr>
            <p:nvPr/>
          </p:nvSpPr>
          <p:spPr bwMode="auto">
            <a:xfrm flipH="1">
              <a:off x="4179" y="887"/>
              <a:ext cx="48" cy="233"/>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S</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13" name="Freeform 151"/>
            <p:cNvSpPr>
              <a:spLocks/>
            </p:cNvSpPr>
            <p:nvPr/>
          </p:nvSpPr>
          <p:spPr bwMode="auto">
            <a:xfrm>
              <a:off x="3909" y="946"/>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FF"/>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endParaRPr>
            </a:p>
          </p:txBody>
        </p:sp>
      </p:grpSp>
      <p:graphicFrame>
        <p:nvGraphicFramePr>
          <p:cNvPr id="20" name="Group 4"/>
          <p:cNvGraphicFramePr>
            <a:graphicFrameLocks noGrp="1"/>
          </p:cNvGraphicFramePr>
          <p:nvPr/>
        </p:nvGraphicFramePr>
        <p:xfrm>
          <a:off x="620649" y="3356992"/>
          <a:ext cx="1960563" cy="1828800"/>
        </p:xfrm>
        <a:graphic>
          <a:graphicData uri="http://schemas.openxmlformats.org/drawingml/2006/table">
            <a:tbl>
              <a:tblPr/>
              <a:tblGrid>
                <a:gridCol w="758825">
                  <a:extLst>
                    <a:ext uri="{9D8B030D-6E8A-4147-A177-3AD203B41FA5}">
                      <a16:colId xmlns:a16="http://schemas.microsoft.com/office/drawing/2014/main" val="20000"/>
                    </a:ext>
                  </a:extLst>
                </a:gridCol>
                <a:gridCol w="569913">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bl>
          </a:graphicData>
        </a:graphic>
      </p:graphicFrame>
      <p:graphicFrame>
        <p:nvGraphicFramePr>
          <p:cNvPr id="21" name="Group 38"/>
          <p:cNvGraphicFramePr>
            <a:graphicFrameLocks noGrp="1"/>
          </p:cNvGraphicFramePr>
          <p:nvPr/>
        </p:nvGraphicFramePr>
        <p:xfrm>
          <a:off x="3093406" y="3356992"/>
          <a:ext cx="1431619" cy="2194560"/>
        </p:xfrm>
        <a:graphic>
          <a:graphicData uri="http://schemas.openxmlformats.org/drawingml/2006/table">
            <a:tbl>
              <a:tblPr/>
              <a:tblGrid>
                <a:gridCol w="799794">
                  <a:extLst>
                    <a:ext uri="{9D8B030D-6E8A-4147-A177-3AD203B41FA5}">
                      <a16:colId xmlns:a16="http://schemas.microsoft.com/office/drawing/2014/main" val="20000"/>
                    </a:ext>
                  </a:extLst>
                </a:gridCol>
                <a:gridCol w="631825">
                  <a:extLst>
                    <a:ext uri="{9D8B030D-6E8A-4147-A177-3AD203B41FA5}">
                      <a16:colId xmlns:a16="http://schemas.microsoft.com/office/drawing/2014/main" val="20001"/>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30956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bl>
          </a:graphicData>
        </a:graphic>
      </p:graphicFrame>
      <p:sp>
        <p:nvSpPr>
          <p:cNvPr id="22" name="Rectangle 146"/>
          <p:cNvSpPr>
            <a:spLocks noChangeArrowheads="1"/>
          </p:cNvSpPr>
          <p:nvPr/>
        </p:nvSpPr>
        <p:spPr bwMode="auto">
          <a:xfrm>
            <a:off x="3621088" y="1519386"/>
            <a:ext cx="157094" cy="338554"/>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200">
                <a:solidFill>
                  <a:schemeClr val="bg1"/>
                </a:solidFill>
                <a:effectLst>
                  <a:outerShdw blurRad="38100" dist="38100" dir="2700000" algn="tl">
                    <a:srgbClr val="000000"/>
                  </a:outerShdw>
                </a:effectLst>
                <a:latin typeface="Times New Roman" pitchFamily="18" charset="0"/>
              </a:rPr>
              <a:t>S</a:t>
            </a:r>
          </a:p>
        </p:txBody>
      </p:sp>
      <p:graphicFrame>
        <p:nvGraphicFramePr>
          <p:cNvPr id="23" name="Group 152"/>
          <p:cNvGraphicFramePr>
            <a:graphicFrameLocks noGrp="1"/>
          </p:cNvGraphicFramePr>
          <p:nvPr/>
        </p:nvGraphicFramePr>
        <p:xfrm>
          <a:off x="5546371" y="3338945"/>
          <a:ext cx="2766852" cy="1097280"/>
        </p:xfrm>
        <a:graphic>
          <a:graphicData uri="http://schemas.openxmlformats.org/drawingml/2006/table">
            <a:tbl>
              <a:tblPr/>
              <a:tblGrid>
                <a:gridCol w="505600">
                  <a:extLst>
                    <a:ext uri="{9D8B030D-6E8A-4147-A177-3AD203B41FA5}">
                      <a16:colId xmlns:a16="http://schemas.microsoft.com/office/drawing/2014/main" val="20000"/>
                    </a:ext>
                  </a:extLst>
                </a:gridCol>
                <a:gridCol w="679944">
                  <a:extLst>
                    <a:ext uri="{9D8B030D-6E8A-4147-A177-3AD203B41FA5}">
                      <a16:colId xmlns:a16="http://schemas.microsoft.com/office/drawing/2014/main" val="20001"/>
                    </a:ext>
                  </a:extLst>
                </a:gridCol>
                <a:gridCol w="474218">
                  <a:extLst>
                    <a:ext uri="{9D8B030D-6E8A-4147-A177-3AD203B41FA5}">
                      <a16:colId xmlns:a16="http://schemas.microsoft.com/office/drawing/2014/main" val="20002"/>
                    </a:ext>
                  </a:extLst>
                </a:gridCol>
                <a:gridCol w="632872">
                  <a:extLst>
                    <a:ext uri="{9D8B030D-6E8A-4147-A177-3AD203B41FA5}">
                      <a16:colId xmlns:a16="http://schemas.microsoft.com/office/drawing/2014/main" val="20003"/>
                    </a:ext>
                  </a:extLst>
                </a:gridCol>
                <a:gridCol w="474218">
                  <a:extLst>
                    <a:ext uri="{9D8B030D-6E8A-4147-A177-3AD203B41FA5}">
                      <a16:colId xmlns:a16="http://schemas.microsoft.com/office/drawing/2014/main" val="20004"/>
                    </a:ext>
                  </a:extLst>
                </a:gridCol>
              </a:tblGrid>
              <a:tr h="2286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R.B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S.B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grpSp>
        <p:nvGrpSpPr>
          <p:cNvPr id="24" name="Group 147"/>
          <p:cNvGrpSpPr>
            <a:grpSpLocks/>
          </p:cNvGrpSpPr>
          <p:nvPr/>
        </p:nvGrpSpPr>
        <p:grpSpPr bwMode="auto">
          <a:xfrm>
            <a:off x="9048834" y="2630292"/>
            <a:ext cx="1360489" cy="620713"/>
            <a:chOff x="3553" y="887"/>
            <a:chExt cx="857" cy="391"/>
          </a:xfrm>
        </p:grpSpPr>
        <p:sp>
          <p:nvSpPr>
            <p:cNvPr id="25" name="Rectangle 148"/>
            <p:cNvSpPr>
              <a:spLocks noChangeArrowheads="1"/>
            </p:cNvSpPr>
            <p:nvPr/>
          </p:nvSpPr>
          <p:spPr bwMode="auto">
            <a:xfrm>
              <a:off x="3553" y="1084"/>
              <a:ext cx="857" cy="194"/>
            </a:xfrm>
            <a:prstGeom prst="rect">
              <a:avLst/>
            </a:prstGeom>
            <a:noFill/>
            <a:ln w="12700" cap="sq">
              <a:noFill/>
              <a:miter lim="800000"/>
              <a:headEnd/>
              <a:tailEnd/>
            </a:ln>
            <a:effec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lang="en-US" altLang="zh-CN" sz="2000" kern="0" baseline="0" dirty="0">
                  <a:effectLst>
                    <a:outerShdw blurRad="38100" dist="38100" dir="2700000" algn="tl">
                      <a:srgbClr val="000000"/>
                    </a:outerShdw>
                  </a:effectLst>
                  <a:latin typeface="Times New Roman" pitchFamily="18" charset="0"/>
                </a:rPr>
                <a:t>R.B</a:t>
              </a:r>
              <a:r>
                <a:rPr kumimoji="0" lang="en-US" altLang="zh-CN"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rPr>
                <a:t> = S.B</a:t>
              </a:r>
              <a:endParaRPr kumimoji="0" lang="zh-CN" altLang="en-US"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ndParaRPr>
            </a:p>
          </p:txBody>
        </p:sp>
        <p:sp>
          <p:nvSpPr>
            <p:cNvPr id="26" name="Rectangle 149"/>
            <p:cNvSpPr>
              <a:spLocks noChangeArrowheads="1"/>
            </p:cNvSpPr>
            <p:nvPr/>
          </p:nvSpPr>
          <p:spPr bwMode="auto">
            <a:xfrm>
              <a:off x="3655" y="887"/>
              <a:ext cx="129" cy="233"/>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R</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27" name="Rectangle 150"/>
            <p:cNvSpPr>
              <a:spLocks noChangeArrowheads="1"/>
            </p:cNvSpPr>
            <p:nvPr/>
          </p:nvSpPr>
          <p:spPr bwMode="auto">
            <a:xfrm flipH="1">
              <a:off x="4179" y="887"/>
              <a:ext cx="48" cy="233"/>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S</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28" name="Freeform 151"/>
            <p:cNvSpPr>
              <a:spLocks/>
            </p:cNvSpPr>
            <p:nvPr/>
          </p:nvSpPr>
          <p:spPr bwMode="auto">
            <a:xfrm>
              <a:off x="3909" y="946"/>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FF"/>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endParaRPr>
            </a:p>
          </p:txBody>
        </p:sp>
      </p:grpSp>
      <p:graphicFrame>
        <p:nvGraphicFramePr>
          <p:cNvPr id="29" name="Group 152"/>
          <p:cNvGraphicFramePr>
            <a:graphicFrameLocks noGrp="1"/>
          </p:cNvGraphicFramePr>
          <p:nvPr/>
        </p:nvGraphicFramePr>
        <p:xfrm>
          <a:off x="8763329" y="3338945"/>
          <a:ext cx="2766852" cy="2034270"/>
        </p:xfrm>
        <a:graphic>
          <a:graphicData uri="http://schemas.openxmlformats.org/drawingml/2006/table">
            <a:tbl>
              <a:tblPr/>
              <a:tblGrid>
                <a:gridCol w="505600">
                  <a:extLst>
                    <a:ext uri="{9D8B030D-6E8A-4147-A177-3AD203B41FA5}">
                      <a16:colId xmlns:a16="http://schemas.microsoft.com/office/drawing/2014/main" val="20000"/>
                    </a:ext>
                  </a:extLst>
                </a:gridCol>
                <a:gridCol w="679944">
                  <a:extLst>
                    <a:ext uri="{9D8B030D-6E8A-4147-A177-3AD203B41FA5}">
                      <a16:colId xmlns:a16="http://schemas.microsoft.com/office/drawing/2014/main" val="20001"/>
                    </a:ext>
                  </a:extLst>
                </a:gridCol>
                <a:gridCol w="474218">
                  <a:extLst>
                    <a:ext uri="{9D8B030D-6E8A-4147-A177-3AD203B41FA5}">
                      <a16:colId xmlns:a16="http://schemas.microsoft.com/office/drawing/2014/main" val="20002"/>
                    </a:ext>
                  </a:extLst>
                </a:gridCol>
                <a:gridCol w="632872">
                  <a:extLst>
                    <a:ext uri="{9D8B030D-6E8A-4147-A177-3AD203B41FA5}">
                      <a16:colId xmlns:a16="http://schemas.microsoft.com/office/drawing/2014/main" val="20003"/>
                    </a:ext>
                  </a:extLst>
                </a:gridCol>
                <a:gridCol w="474218">
                  <a:extLst>
                    <a:ext uri="{9D8B030D-6E8A-4147-A177-3AD203B41FA5}">
                      <a16:colId xmlns:a16="http://schemas.microsoft.com/office/drawing/2014/main" val="20004"/>
                    </a:ext>
                  </a:extLst>
                </a:gridCol>
              </a:tblGrid>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R.B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S.B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3180459580"/>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782299656"/>
                  </a:ext>
                </a:extLst>
              </a:tr>
            </a:tbl>
          </a:graphicData>
        </a:graphic>
      </p:graphicFrame>
    </p:spTree>
    <p:extLst>
      <p:ext uri="{BB962C8B-B14F-4D97-AF65-F5344CB8AC3E}">
        <p14:creationId xmlns:p14="http://schemas.microsoft.com/office/powerpoint/2010/main" val="240035786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58438"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连接（</a:t>
            </a:r>
            <a:r>
              <a:rPr lang="en-US" altLang="zh-CN" b="1" u="sng" kern="1200" dirty="0">
                <a:solidFill>
                  <a:schemeClr val="folHlink"/>
                </a:solidFill>
                <a:effectLst>
                  <a:outerShdw blurRad="38100" dist="38100" dir="2700000" algn="tl">
                    <a:srgbClr val="000000"/>
                  </a:outerShdw>
                </a:effectLst>
                <a:cs typeface="+mn-cs"/>
              </a:rPr>
              <a:t>Join</a:t>
            </a:r>
            <a:r>
              <a:rPr lang="zh-CN" altLang="en-US" b="1" u="sng" kern="1200" dirty="0">
                <a:solidFill>
                  <a:schemeClr val="folHlink"/>
                </a:solidFill>
                <a:effectLst>
                  <a:outerShdw blurRad="38100" dist="38100" dir="2700000" algn="tl">
                    <a:srgbClr val="000000"/>
                  </a:outerShdw>
                </a:effectLst>
                <a:cs typeface="+mn-cs"/>
              </a:rPr>
              <a:t>）</a:t>
            </a:r>
            <a:endParaRPr lang="en-US" altLang="zh-CN" b="1" u="sng" kern="1200" dirty="0">
              <a:solidFill>
                <a:schemeClr val="folHlink"/>
              </a:solidFill>
              <a:effectLst>
                <a:outerShdw blurRad="38100" dist="38100" dir="2700000" algn="tl">
                  <a:srgbClr val="000000"/>
                </a:outerShdw>
              </a:effectLst>
              <a:cs typeface="+mn-cs"/>
            </a:endParaRPr>
          </a:p>
        </p:txBody>
      </p:sp>
      <p:grpSp>
        <p:nvGrpSpPr>
          <p:cNvPr id="2" name="组合 1"/>
          <p:cNvGrpSpPr/>
          <p:nvPr/>
        </p:nvGrpSpPr>
        <p:grpSpPr>
          <a:xfrm>
            <a:off x="119336" y="836712"/>
            <a:ext cx="11304968" cy="1755506"/>
            <a:chOff x="407368" y="1124744"/>
            <a:chExt cx="11304968" cy="1755506"/>
          </a:xfrm>
        </p:grpSpPr>
        <p:sp>
          <p:nvSpPr>
            <p:cNvPr id="31" name="Rectangle 5"/>
            <p:cNvSpPr>
              <a:spLocks noChangeArrowheads="1"/>
            </p:cNvSpPr>
            <p:nvPr/>
          </p:nvSpPr>
          <p:spPr bwMode="auto">
            <a:xfrm>
              <a:off x="407368" y="1124744"/>
              <a:ext cx="11304968" cy="427038"/>
            </a:xfrm>
            <a:prstGeom prst="rect">
              <a:avLst/>
            </a:prstGeom>
            <a:noFill/>
            <a:ln w="9525" algn="ctr">
              <a:noFill/>
              <a:miter lim="800000"/>
              <a:headEnd/>
              <a:tailEnd/>
            </a:ln>
            <a:effectLst/>
          </p:spPr>
          <p:txBody>
            <a:bodyPr/>
            <a:lstStyle/>
            <a:p>
              <a:pPr marL="342900" indent="-342900" fontAlgn="auto">
                <a:lnSpc>
                  <a:spcPct val="120000"/>
                </a:lnSpc>
                <a:spcBef>
                  <a:spcPts val="0"/>
                </a:spcBef>
                <a:buClr>
                  <a:srgbClr val="FF9900"/>
                </a:buClr>
                <a:buSzPct val="50000"/>
                <a:buFont typeface="Wingdings" pitchFamily="2" charset="2"/>
                <a:buChar char="n"/>
                <a:defRPr/>
              </a:pP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使用关系</a:t>
              </a:r>
              <a:r>
                <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rPr>
                <a:t>R</a:t>
              </a: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和关系</a:t>
              </a:r>
              <a:r>
                <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rPr>
                <a:t>S</a:t>
              </a: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中相同的属性集的</a:t>
              </a:r>
              <a:r>
                <a:rPr lang="zh-CN" altLang="en-US" sz="3200" baseline="0" dirty="0">
                  <a:effectLst>
                    <a:outerShdw blurRad="38100" dist="38100" dir="2700000" algn="tl">
                      <a:srgbClr val="000000"/>
                    </a:outerShdw>
                  </a:effectLst>
                  <a:latin typeface="Arial" charset="0"/>
                  <a:ea typeface="黑体" panose="02010609060101010101" pitchFamily="49" charset="-122"/>
                </a:rPr>
                <a:t>等值连接</a:t>
              </a: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称为</a:t>
              </a:r>
              <a:r>
                <a:rPr lang="zh-CN" altLang="en-US" sz="3200" baseline="0" dirty="0">
                  <a:solidFill>
                    <a:srgbClr val="FFFF00"/>
                  </a:solidFill>
                  <a:effectLst>
                    <a:outerShdw blurRad="38100" dist="38100" dir="2700000" algn="tl">
                      <a:srgbClr val="000000"/>
                    </a:outerShdw>
                  </a:effectLst>
                  <a:latin typeface="Arial" charset="0"/>
                  <a:ea typeface="黑体" panose="02010609060101010101" pitchFamily="49" charset="-122"/>
                </a:rPr>
                <a:t>自然连接</a:t>
              </a:r>
              <a:r>
                <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rPr>
                <a:t>(</a:t>
              </a:r>
              <a:r>
                <a:rPr lang="en-US" altLang="zh-CN" sz="3200" i="1" baseline="0" dirty="0">
                  <a:solidFill>
                    <a:srgbClr val="CCFFCC"/>
                  </a:solidFill>
                  <a:effectLst>
                    <a:outerShdw blurRad="38100" dist="38100" dir="2700000" algn="tl">
                      <a:srgbClr val="000000"/>
                    </a:outerShdw>
                  </a:effectLst>
                  <a:latin typeface="Arial" charset="0"/>
                  <a:ea typeface="黑体" panose="02010609060101010101" pitchFamily="49" charset="-122"/>
                </a:rPr>
                <a:t>natural-join</a:t>
              </a:r>
              <a:r>
                <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rPr>
                <a:t>)</a:t>
              </a: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，可记为：</a:t>
              </a:r>
              <a:endPar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endParaRPr>
            </a:p>
            <a:p>
              <a:pPr marL="342900" indent="-342900" fontAlgn="auto">
                <a:lnSpc>
                  <a:spcPct val="120000"/>
                </a:lnSpc>
                <a:spcBef>
                  <a:spcPts val="0"/>
                </a:spcBef>
                <a:buClr>
                  <a:srgbClr val="FF9900"/>
                </a:buClr>
                <a:buSzPct val="50000"/>
                <a:buFont typeface="Wingdings" pitchFamily="2" charset="2"/>
                <a:buChar char="n"/>
                <a:defRPr/>
              </a:pPr>
              <a:endPar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endParaRPr>
            </a:p>
            <a:p>
              <a:pPr marL="342900" indent="-342900" fontAlgn="auto">
                <a:lnSpc>
                  <a:spcPct val="120000"/>
                </a:lnSpc>
                <a:spcBef>
                  <a:spcPts val="600"/>
                </a:spcBef>
                <a:spcAft>
                  <a:spcPct val="30000"/>
                </a:spcAft>
                <a:buClr>
                  <a:srgbClr val="FF9900"/>
                </a:buClr>
                <a:buSzPct val="50000"/>
                <a:defRPr/>
              </a:pP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	注意自然连接的结果中要</a:t>
              </a:r>
              <a:r>
                <a:rPr lang="zh-CN" altLang="en-US" sz="3200" baseline="0" dirty="0">
                  <a:solidFill>
                    <a:srgbClr val="FF0000"/>
                  </a:solidFill>
                  <a:effectLst>
                    <a:outerShdw blurRad="38100" dist="38100" dir="2700000" algn="tl">
                      <a:srgbClr val="000000"/>
                    </a:outerShdw>
                  </a:effectLst>
                  <a:latin typeface="Arial" charset="0"/>
                  <a:ea typeface="黑体" panose="02010609060101010101" pitchFamily="49" charset="-122"/>
                </a:rPr>
                <a:t>消除重复的属性列</a:t>
              </a:r>
              <a:r>
                <a:rPr lang="zh-CN" altLang="en-US" sz="3200" baseline="0" dirty="0">
                  <a:solidFill>
                    <a:srgbClr val="CCFFCC"/>
                  </a:solidFill>
                  <a:effectLst>
                    <a:outerShdw blurRad="38100" dist="38100" dir="2700000" algn="tl">
                      <a:srgbClr val="000000"/>
                    </a:outerShdw>
                  </a:effectLst>
                  <a:latin typeface="Arial" charset="0"/>
                  <a:ea typeface="黑体" panose="02010609060101010101" pitchFamily="49" charset="-122"/>
                </a:rPr>
                <a:t>。</a:t>
              </a:r>
              <a:endParaRPr lang="en-US" altLang="zh-CN" sz="3200" baseline="0" dirty="0">
                <a:solidFill>
                  <a:srgbClr val="CCFFCC"/>
                </a:solidFill>
                <a:effectLst>
                  <a:outerShdw blurRad="38100" dist="38100" dir="2700000" algn="tl">
                    <a:srgbClr val="000000"/>
                  </a:outerShdw>
                </a:effectLst>
                <a:latin typeface="Arial" charset="0"/>
                <a:ea typeface="黑体" panose="02010609060101010101" pitchFamily="49" charset="-122"/>
              </a:endParaRPr>
            </a:p>
          </p:txBody>
        </p:sp>
        <p:grpSp>
          <p:nvGrpSpPr>
            <p:cNvPr id="39" name="Group 12"/>
            <p:cNvGrpSpPr>
              <a:grpSpLocks/>
            </p:cNvGrpSpPr>
            <p:nvPr/>
          </p:nvGrpSpPr>
          <p:grpSpPr bwMode="auto">
            <a:xfrm>
              <a:off x="4149475" y="2216675"/>
              <a:ext cx="7562861" cy="663575"/>
              <a:chOff x="-309" y="1825"/>
              <a:chExt cx="4764" cy="418"/>
            </a:xfrm>
          </p:grpSpPr>
          <p:sp>
            <p:nvSpPr>
              <p:cNvPr id="43" name="Rectangle 13"/>
              <p:cNvSpPr>
                <a:spLocks noChangeArrowheads="1"/>
              </p:cNvSpPr>
              <p:nvPr/>
            </p:nvSpPr>
            <p:spPr bwMode="auto">
              <a:xfrm>
                <a:off x="666" y="1825"/>
                <a:ext cx="622" cy="174"/>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endParaRPr kumimoji="0" lang="zh-CN" altLang="en-US" sz="1800" b="1" i="0" u="none" strike="noStrike" kern="0" cap="none" spc="0" normalizeH="0" baseline="0" noProof="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45" name="Rectangle 14"/>
              <p:cNvSpPr>
                <a:spLocks noChangeArrowheads="1"/>
              </p:cNvSpPr>
              <p:nvPr/>
            </p:nvSpPr>
            <p:spPr bwMode="auto">
              <a:xfrm>
                <a:off x="-309" y="1949"/>
                <a:ext cx="164" cy="271"/>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R</a:t>
                </a:r>
                <a:endParaRPr kumimoji="0" lang="zh-CN"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46" name="Rectangle 15"/>
              <p:cNvSpPr>
                <a:spLocks noChangeArrowheads="1"/>
              </p:cNvSpPr>
              <p:nvPr/>
            </p:nvSpPr>
            <p:spPr bwMode="auto">
              <a:xfrm flipH="1">
                <a:off x="231" y="1949"/>
                <a:ext cx="48" cy="271"/>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rPr>
                  <a:t>S</a:t>
                </a:r>
                <a:endParaRPr kumimoji="0" lang="zh-CN" altLang="en-US" sz="2800" b="1" i="0" u="none" strike="noStrike" kern="0" cap="none" spc="0" normalizeH="0" baseline="0" noProof="0" dirty="0">
                  <a:ln>
                    <a:noFill/>
                  </a:ln>
                  <a:solidFill>
                    <a:srgbClr val="FFFF00"/>
                  </a:solidFill>
                  <a:effectLst>
                    <a:outerShdw blurRad="38100" dist="38100" dir="2700000" algn="tl">
                      <a:srgbClr val="000000"/>
                    </a:outerShdw>
                  </a:effectLst>
                  <a:uLnTx/>
                  <a:uFillTx/>
                  <a:latin typeface="Times New Roman" pitchFamily="18" charset="0"/>
                  <a:ea typeface="宋体" pitchFamily="2" charset="-122"/>
                </a:endParaRPr>
              </a:p>
            </p:txBody>
          </p:sp>
          <p:sp>
            <p:nvSpPr>
              <p:cNvPr id="47" name="Rectangle 16"/>
              <p:cNvSpPr>
                <a:spLocks noChangeArrowheads="1"/>
              </p:cNvSpPr>
              <p:nvPr/>
            </p:nvSpPr>
            <p:spPr bwMode="auto">
              <a:xfrm>
                <a:off x="495" y="1894"/>
                <a:ext cx="3960" cy="349"/>
              </a:xfrm>
              <a:prstGeom prst="rect">
                <a:avLst/>
              </a:prstGeom>
              <a:noFill/>
              <a:ln w="12700" cap="sq">
                <a:noFill/>
                <a:miter lim="800000"/>
                <a:headEnd/>
                <a:tailEnd/>
              </a:ln>
              <a:effectLst/>
            </p:spPr>
            <p:txBody>
              <a:bodyPr wrap="none" lIns="0" tIns="0" rIns="0" bIns="0">
                <a:spAutoFit/>
              </a:bodyPr>
              <a:lstStyle/>
              <a:p>
                <a:pPr lvl="0" fontAlgn="auto">
                  <a:spcBef>
                    <a:spcPts val="0"/>
                  </a:spcBef>
                  <a:defRPr/>
                </a:pPr>
                <a:r>
                  <a:rPr kumimoji="0" lang="en-US" altLang="zh-CN" sz="3200" b="1" i="0" u="none" strike="noStrike" kern="0" cap="none" spc="0" normalizeH="0" baseline="0" noProof="0" dirty="0">
                    <a:ln>
                      <a:noFill/>
                    </a:ln>
                    <a:solidFill>
                      <a:srgbClr val="FFFF00"/>
                    </a:solidFill>
                    <a:effectLst/>
                    <a:uLnTx/>
                    <a:uFillTx/>
                    <a:latin typeface="Times New Roman" pitchFamily="18" charset="0"/>
                    <a:ea typeface="宋体" pitchFamily="2" charset="-122"/>
                  </a:rPr>
                  <a:t>= </a:t>
                </a:r>
                <a:r>
                  <a:rPr kumimoji="1" lang="zh-CN" altLang="en-US" sz="3600" baseline="0" dirty="0">
                    <a:solidFill>
                      <a:srgbClr val="FFFF00"/>
                    </a:solidFill>
                    <a:latin typeface="Times New Roman" pitchFamily="18" charset="0"/>
                    <a:cs typeface="Arial" pitchFamily="34" charset="0"/>
                  </a:rPr>
                  <a:t>∏</a:t>
                </a:r>
                <a:r>
                  <a:rPr kumimoji="1" lang="en-US" altLang="zh-CN" sz="4400" dirty="0">
                    <a:solidFill>
                      <a:srgbClr val="FFFF00"/>
                    </a:solidFill>
                    <a:latin typeface="Times New Roman" pitchFamily="18" charset="0"/>
                    <a:cs typeface="Arial" pitchFamily="34" charset="0"/>
                  </a:rPr>
                  <a:t>U</a:t>
                </a:r>
                <a:r>
                  <a:rPr kumimoji="1" lang="en-US" altLang="zh-CN" sz="3200" dirty="0">
                    <a:solidFill>
                      <a:srgbClr val="FFFF00"/>
                    </a:solidFill>
                    <a:latin typeface="Times New Roman" pitchFamily="18" charset="0"/>
                    <a:cs typeface="Arial" pitchFamily="34" charset="0"/>
                  </a:rPr>
                  <a:t>R</a:t>
                </a:r>
                <a:r>
                  <a:rPr kumimoji="1" lang="en-US" altLang="zh-CN" sz="3600" dirty="0">
                    <a:solidFill>
                      <a:srgbClr val="FFFF00"/>
                    </a:solidFill>
                    <a:latin typeface="Times New Roman" pitchFamily="18" charset="0"/>
                    <a:cs typeface="Arial" pitchFamily="34" charset="0"/>
                  </a:rPr>
                  <a:t> ∪ </a:t>
                </a:r>
                <a:r>
                  <a:rPr kumimoji="1" lang="en-US" altLang="zh-CN" sz="4400" dirty="0">
                    <a:solidFill>
                      <a:srgbClr val="FFFF00"/>
                    </a:solidFill>
                    <a:latin typeface="Times New Roman" pitchFamily="18" charset="0"/>
                    <a:cs typeface="Arial" pitchFamily="34" charset="0"/>
                  </a:rPr>
                  <a:t>U</a:t>
                </a:r>
                <a:r>
                  <a:rPr kumimoji="1" lang="en-US" altLang="zh-CN" sz="3200" dirty="0">
                    <a:solidFill>
                      <a:srgbClr val="FFFF00"/>
                    </a:solidFill>
                    <a:latin typeface="Times New Roman" pitchFamily="18" charset="0"/>
                    <a:cs typeface="Arial" pitchFamily="34" charset="0"/>
                  </a:rPr>
                  <a:t>S</a:t>
                </a:r>
                <a:r>
                  <a:rPr kumimoji="1" lang="zh-CN" altLang="en-US" sz="3600" baseline="0" dirty="0">
                    <a:solidFill>
                      <a:srgbClr val="FFFF00"/>
                    </a:solidFill>
                    <a:latin typeface="Times New Roman" pitchFamily="18" charset="0"/>
                    <a:cs typeface="Arial" pitchFamily="34" charset="0"/>
                  </a:rPr>
                  <a:t>（ </a:t>
                </a:r>
                <a:r>
                  <a:rPr kumimoji="0" lang="en-US" altLang="en-US" sz="3600" b="1" i="0" u="none" strike="noStrike" kern="0" cap="none" spc="0" normalizeH="0" baseline="0" noProof="0" dirty="0">
                    <a:ln>
                      <a:noFill/>
                    </a:ln>
                    <a:solidFill>
                      <a:srgbClr val="FFFF00"/>
                    </a:solidFill>
                    <a:effectLst/>
                    <a:uLnTx/>
                    <a:uFillTx/>
                    <a:latin typeface="Times New Roman" pitchFamily="18" charset="0"/>
                    <a:ea typeface="宋体" pitchFamily="2" charset="-122"/>
                  </a:rPr>
                  <a:t>σ </a:t>
                </a:r>
                <a:r>
                  <a:rPr kumimoji="0" lang="en-US" altLang="zh-CN" sz="3200" b="1" i="0" u="none" strike="noStrike" kern="0" cap="none" spc="0" normalizeH="0" baseline="-25000" noProof="0" dirty="0">
                    <a:ln>
                      <a:noFill/>
                    </a:ln>
                    <a:solidFill>
                      <a:srgbClr val="FFFF00"/>
                    </a:solidFill>
                    <a:effectLst>
                      <a:outerShdw blurRad="38100" dist="38100" dir="2700000" algn="tl">
                        <a:srgbClr val="000000"/>
                      </a:outerShdw>
                    </a:effectLst>
                    <a:uLnTx/>
                    <a:uFillTx/>
                    <a:latin typeface="Garamond" pitchFamily="18" charset="0"/>
                    <a:ea typeface="宋体" pitchFamily="2" charset="-122"/>
                  </a:rPr>
                  <a:t>R.A=S.A</a:t>
                </a:r>
                <a:r>
                  <a:rPr kumimoji="0" lang="en-US" altLang="zh-CN" sz="3200" b="1" i="0" u="none" strike="noStrike" kern="0" cap="none" spc="0" normalizeH="0" baseline="0" noProof="0" dirty="0">
                    <a:ln>
                      <a:noFill/>
                    </a:ln>
                    <a:solidFill>
                      <a:srgbClr val="FFFF00"/>
                    </a:solidFill>
                    <a:effectLst/>
                    <a:uLnTx/>
                    <a:uFillTx/>
                    <a:latin typeface="Times New Roman" pitchFamily="18" charset="0"/>
                    <a:ea typeface="宋体" pitchFamily="2" charset="-122"/>
                  </a:rPr>
                  <a:t>（</a:t>
                </a:r>
                <a:r>
                  <a:rPr kumimoji="0" lang="en-US" altLang="en-US" sz="3200" b="1" i="0" u="none" strike="noStrike" kern="0" cap="none" spc="0" normalizeH="0" baseline="0" noProof="0" dirty="0">
                    <a:ln>
                      <a:noFill/>
                    </a:ln>
                    <a:solidFill>
                      <a:srgbClr val="FFFF00"/>
                    </a:solidFill>
                    <a:effectLst/>
                    <a:uLnTx/>
                    <a:uFillTx/>
                    <a:latin typeface="Times New Roman" pitchFamily="18" charset="0"/>
                    <a:ea typeface="宋体" pitchFamily="2" charset="-122"/>
                  </a:rPr>
                  <a:t>R×S </a:t>
                </a:r>
                <a:r>
                  <a:rPr kumimoji="0" lang="en-US" altLang="zh-CN" sz="3200" b="1" i="0" u="none" strike="noStrike" kern="0" cap="none" spc="0" normalizeH="0" baseline="0" noProof="0" dirty="0">
                    <a:ln>
                      <a:noFill/>
                    </a:ln>
                    <a:solidFill>
                      <a:srgbClr val="FFFF00"/>
                    </a:solidFill>
                    <a:effectLst/>
                    <a:uLnTx/>
                    <a:uFillTx/>
                    <a:latin typeface="Times New Roman" pitchFamily="18" charset="0"/>
                    <a:ea typeface="宋体" pitchFamily="2" charset="-122"/>
                  </a:rPr>
                  <a:t>）</a:t>
                </a:r>
                <a:r>
                  <a:rPr kumimoji="0" lang="zh-CN" altLang="en-US" sz="3200" b="1" i="0" u="none" strike="noStrike" kern="0" cap="none" spc="0" normalizeH="0" baseline="0" noProof="0" dirty="0">
                    <a:ln>
                      <a:noFill/>
                    </a:ln>
                    <a:solidFill>
                      <a:srgbClr val="FFFF00"/>
                    </a:solidFill>
                    <a:effectLst/>
                    <a:uLnTx/>
                    <a:uFillTx/>
                    <a:latin typeface="Times New Roman" pitchFamily="18" charset="0"/>
                    <a:ea typeface="宋体" pitchFamily="2" charset="-122"/>
                  </a:rPr>
                  <a:t>）</a:t>
                </a:r>
              </a:p>
            </p:txBody>
          </p:sp>
          <p:sp>
            <p:nvSpPr>
              <p:cNvPr id="48" name="Freeform 17"/>
              <p:cNvSpPr>
                <a:spLocks/>
              </p:cNvSpPr>
              <p:nvPr/>
            </p:nvSpPr>
            <p:spPr bwMode="auto">
              <a:xfrm>
                <a:off x="-42" y="2007"/>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00"/>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a:ln>
                    <a:noFill/>
                  </a:ln>
                  <a:solidFill>
                    <a:sysClr val="windowText" lastClr="000000"/>
                  </a:solidFill>
                  <a:effectLst/>
                  <a:uLnTx/>
                  <a:uFillTx/>
                </a:endParaRPr>
              </a:p>
            </p:txBody>
          </p:sp>
        </p:grpSp>
      </p:grpSp>
      <p:sp>
        <p:nvSpPr>
          <p:cNvPr id="49" name="Rectangle 145"/>
          <p:cNvSpPr>
            <a:spLocks noChangeArrowheads="1"/>
          </p:cNvSpPr>
          <p:nvPr/>
        </p:nvSpPr>
        <p:spPr bwMode="auto">
          <a:xfrm>
            <a:off x="804106" y="3585552"/>
            <a:ext cx="205184"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baseline="0" dirty="0">
                <a:effectLst>
                  <a:outerShdw blurRad="38100" dist="38100" dir="2700000" algn="tl">
                    <a:srgbClr val="000000"/>
                  </a:outerShdw>
                </a:effectLst>
                <a:latin typeface="Times New Roman" pitchFamily="18" charset="0"/>
              </a:rPr>
              <a:t>R</a:t>
            </a:r>
          </a:p>
        </p:txBody>
      </p:sp>
      <p:sp>
        <p:nvSpPr>
          <p:cNvPr id="50" name="Rectangle 146"/>
          <p:cNvSpPr>
            <a:spLocks noChangeArrowheads="1"/>
          </p:cNvSpPr>
          <p:nvPr/>
        </p:nvSpPr>
        <p:spPr bwMode="auto">
          <a:xfrm>
            <a:off x="3474803" y="3554345"/>
            <a:ext cx="171522"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pPr>
            <a:r>
              <a:rPr lang="en-US" altLang="zh-CN" sz="2400" baseline="0" dirty="0">
                <a:effectLst>
                  <a:outerShdw blurRad="38100" dist="38100" dir="2700000" algn="tl">
                    <a:srgbClr val="000000"/>
                  </a:outerShdw>
                </a:effectLst>
                <a:latin typeface="Times New Roman" pitchFamily="18" charset="0"/>
              </a:rPr>
              <a:t>S</a:t>
            </a:r>
          </a:p>
        </p:txBody>
      </p:sp>
      <p:grpSp>
        <p:nvGrpSpPr>
          <p:cNvPr id="51" name="Group 147"/>
          <p:cNvGrpSpPr>
            <a:grpSpLocks/>
          </p:cNvGrpSpPr>
          <p:nvPr/>
        </p:nvGrpSpPr>
        <p:grpSpPr bwMode="auto">
          <a:xfrm>
            <a:off x="6014467" y="3563168"/>
            <a:ext cx="908051" cy="369888"/>
            <a:chOff x="3655" y="887"/>
            <a:chExt cx="572" cy="233"/>
          </a:xfrm>
        </p:grpSpPr>
        <p:sp>
          <p:nvSpPr>
            <p:cNvPr id="53" name="Rectangle 149"/>
            <p:cNvSpPr>
              <a:spLocks noChangeArrowheads="1"/>
            </p:cNvSpPr>
            <p:nvPr/>
          </p:nvSpPr>
          <p:spPr bwMode="auto">
            <a:xfrm>
              <a:off x="3655" y="887"/>
              <a:ext cx="129" cy="233"/>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R</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54" name="Rectangle 150"/>
            <p:cNvSpPr>
              <a:spLocks noChangeArrowheads="1"/>
            </p:cNvSpPr>
            <p:nvPr/>
          </p:nvSpPr>
          <p:spPr bwMode="auto">
            <a:xfrm flipH="1">
              <a:off x="4179" y="887"/>
              <a:ext cx="48" cy="233"/>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S</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65" name="Freeform 151"/>
            <p:cNvSpPr>
              <a:spLocks/>
            </p:cNvSpPr>
            <p:nvPr/>
          </p:nvSpPr>
          <p:spPr bwMode="auto">
            <a:xfrm>
              <a:off x="3909" y="946"/>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FF"/>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endParaRPr>
            </a:p>
          </p:txBody>
        </p:sp>
      </p:grpSp>
      <p:graphicFrame>
        <p:nvGraphicFramePr>
          <p:cNvPr id="66" name="Group 4"/>
          <p:cNvGraphicFramePr>
            <a:graphicFrameLocks noGrp="1"/>
          </p:cNvGraphicFramePr>
          <p:nvPr>
            <p:extLst>
              <p:ext uri="{D42A27DB-BD31-4B8C-83A1-F6EECF244321}">
                <p14:modId xmlns:p14="http://schemas.microsoft.com/office/powerpoint/2010/main" val="757567588"/>
              </p:ext>
            </p:extLst>
          </p:nvPr>
        </p:nvGraphicFramePr>
        <p:xfrm>
          <a:off x="623392" y="4042752"/>
          <a:ext cx="1960563" cy="1828800"/>
        </p:xfrm>
        <a:graphic>
          <a:graphicData uri="http://schemas.openxmlformats.org/drawingml/2006/table">
            <a:tbl>
              <a:tblPr/>
              <a:tblGrid>
                <a:gridCol w="758825">
                  <a:extLst>
                    <a:ext uri="{9D8B030D-6E8A-4147-A177-3AD203B41FA5}">
                      <a16:colId xmlns:a16="http://schemas.microsoft.com/office/drawing/2014/main" val="20000"/>
                    </a:ext>
                  </a:extLst>
                </a:gridCol>
                <a:gridCol w="569913">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bl>
          </a:graphicData>
        </a:graphic>
      </p:graphicFrame>
      <p:graphicFrame>
        <p:nvGraphicFramePr>
          <p:cNvPr id="67" name="Group 38"/>
          <p:cNvGraphicFramePr>
            <a:graphicFrameLocks noGrp="1"/>
          </p:cNvGraphicFramePr>
          <p:nvPr>
            <p:extLst>
              <p:ext uri="{D42A27DB-BD31-4B8C-83A1-F6EECF244321}">
                <p14:modId xmlns:p14="http://schemas.microsoft.com/office/powerpoint/2010/main" val="261203281"/>
              </p:ext>
            </p:extLst>
          </p:nvPr>
        </p:nvGraphicFramePr>
        <p:xfrm>
          <a:off x="3096149" y="4042752"/>
          <a:ext cx="1431619" cy="2194560"/>
        </p:xfrm>
        <a:graphic>
          <a:graphicData uri="http://schemas.openxmlformats.org/drawingml/2006/table">
            <a:tbl>
              <a:tblPr/>
              <a:tblGrid>
                <a:gridCol w="799794">
                  <a:extLst>
                    <a:ext uri="{9D8B030D-6E8A-4147-A177-3AD203B41FA5}">
                      <a16:colId xmlns:a16="http://schemas.microsoft.com/office/drawing/2014/main" val="20000"/>
                    </a:ext>
                  </a:extLst>
                </a:gridCol>
                <a:gridCol w="631825">
                  <a:extLst>
                    <a:ext uri="{9D8B030D-6E8A-4147-A177-3AD203B41FA5}">
                      <a16:colId xmlns:a16="http://schemas.microsoft.com/office/drawing/2014/main" val="20001"/>
                    </a:ext>
                  </a:extLst>
                </a:gridCol>
              </a:tblGrid>
              <a:tr h="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30956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bl>
          </a:graphicData>
        </a:graphic>
      </p:graphicFrame>
      <p:graphicFrame>
        <p:nvGraphicFramePr>
          <p:cNvPr id="68" name="Group 152"/>
          <p:cNvGraphicFramePr>
            <a:graphicFrameLocks noGrp="1"/>
          </p:cNvGraphicFramePr>
          <p:nvPr>
            <p:extLst>
              <p:ext uri="{D42A27DB-BD31-4B8C-83A1-F6EECF244321}">
                <p14:modId xmlns:p14="http://schemas.microsoft.com/office/powerpoint/2010/main" val="890421691"/>
              </p:ext>
            </p:extLst>
          </p:nvPr>
        </p:nvGraphicFramePr>
        <p:xfrm>
          <a:off x="5549114" y="4024705"/>
          <a:ext cx="2292634" cy="1828800"/>
        </p:xfrm>
        <a:graphic>
          <a:graphicData uri="http://schemas.openxmlformats.org/drawingml/2006/table">
            <a:tbl>
              <a:tblPr/>
              <a:tblGrid>
                <a:gridCol w="505600">
                  <a:extLst>
                    <a:ext uri="{9D8B030D-6E8A-4147-A177-3AD203B41FA5}">
                      <a16:colId xmlns:a16="http://schemas.microsoft.com/office/drawing/2014/main" val="20000"/>
                    </a:ext>
                  </a:extLst>
                </a:gridCol>
                <a:gridCol w="679944">
                  <a:extLst>
                    <a:ext uri="{9D8B030D-6E8A-4147-A177-3AD203B41FA5}">
                      <a16:colId xmlns:a16="http://schemas.microsoft.com/office/drawing/2014/main" val="20001"/>
                    </a:ext>
                  </a:extLst>
                </a:gridCol>
                <a:gridCol w="474218">
                  <a:extLst>
                    <a:ext uri="{9D8B030D-6E8A-4147-A177-3AD203B41FA5}">
                      <a16:colId xmlns:a16="http://schemas.microsoft.com/office/drawing/2014/main" val="20002"/>
                    </a:ext>
                  </a:extLst>
                </a:gridCol>
                <a:gridCol w="632872">
                  <a:extLst>
                    <a:ext uri="{9D8B030D-6E8A-4147-A177-3AD203B41FA5}">
                      <a16:colId xmlns:a16="http://schemas.microsoft.com/office/drawing/2014/main" val="20003"/>
                    </a:ext>
                  </a:extLst>
                </a:gridCol>
              </a:tblGrid>
              <a:tr h="2286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3250096907"/>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456325118"/>
                  </a:ext>
                </a:extLst>
              </a:tr>
            </a:tbl>
          </a:graphicData>
        </a:graphic>
      </p:graphicFrame>
      <p:grpSp>
        <p:nvGrpSpPr>
          <p:cNvPr id="86" name="Group 147"/>
          <p:cNvGrpSpPr>
            <a:grpSpLocks/>
          </p:cNvGrpSpPr>
          <p:nvPr/>
        </p:nvGrpSpPr>
        <p:grpSpPr bwMode="auto">
          <a:xfrm>
            <a:off x="8943603" y="3334099"/>
            <a:ext cx="1360489" cy="620713"/>
            <a:chOff x="3553" y="887"/>
            <a:chExt cx="857" cy="391"/>
          </a:xfrm>
        </p:grpSpPr>
        <p:sp>
          <p:nvSpPr>
            <p:cNvPr id="87" name="Rectangle 148"/>
            <p:cNvSpPr>
              <a:spLocks noChangeArrowheads="1"/>
            </p:cNvSpPr>
            <p:nvPr/>
          </p:nvSpPr>
          <p:spPr bwMode="auto">
            <a:xfrm>
              <a:off x="3553" y="1084"/>
              <a:ext cx="857" cy="194"/>
            </a:xfrm>
            <a:prstGeom prst="rect">
              <a:avLst/>
            </a:prstGeom>
            <a:noFill/>
            <a:ln w="12700" cap="sq">
              <a:noFill/>
              <a:miter lim="800000"/>
              <a:headEnd/>
              <a:tailEnd/>
            </a:ln>
            <a:effec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lang="en-US" altLang="zh-CN" sz="2000" kern="0" baseline="0" dirty="0">
                  <a:effectLst>
                    <a:outerShdw blurRad="38100" dist="38100" dir="2700000" algn="tl">
                      <a:srgbClr val="000000"/>
                    </a:outerShdw>
                  </a:effectLst>
                  <a:latin typeface="Times New Roman" pitchFamily="18" charset="0"/>
                </a:rPr>
                <a:t>R.B</a:t>
              </a:r>
              <a:r>
                <a:rPr kumimoji="0" lang="en-US" altLang="zh-CN"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rPr>
                <a:t> = S.B</a:t>
              </a:r>
              <a:endParaRPr kumimoji="0" lang="zh-CN" altLang="en-US" sz="2000" b="0" i="0" u="none" strike="noStrike" kern="0" cap="none" spc="0" normalizeH="0" baseline="0" noProof="0" dirty="0">
                <a:ln>
                  <a:noFill/>
                </a:ln>
                <a:effectLst>
                  <a:outerShdw blurRad="38100" dist="38100" dir="2700000" algn="tl">
                    <a:srgbClr val="000000"/>
                  </a:outerShdw>
                </a:effectLst>
                <a:uLnTx/>
                <a:uFillTx/>
                <a:latin typeface="Times New Roman" pitchFamily="18" charset="0"/>
              </a:endParaRPr>
            </a:p>
          </p:txBody>
        </p:sp>
        <p:sp>
          <p:nvSpPr>
            <p:cNvPr id="88" name="Rectangle 149"/>
            <p:cNvSpPr>
              <a:spLocks noChangeArrowheads="1"/>
            </p:cNvSpPr>
            <p:nvPr/>
          </p:nvSpPr>
          <p:spPr bwMode="auto">
            <a:xfrm>
              <a:off x="3655" y="887"/>
              <a:ext cx="129" cy="233"/>
            </a:xfrm>
            <a:prstGeom prst="rect">
              <a:avLst/>
            </a:prstGeom>
            <a:noFill/>
            <a:ln w="12700" cap="sq">
              <a:noFill/>
              <a:miter lim="800000"/>
              <a:headEnd/>
              <a:tailEnd/>
            </a:ln>
            <a:effectLst/>
          </p:spPr>
          <p:txBody>
            <a:bodyPr wrap="non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R</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89" name="Rectangle 150"/>
            <p:cNvSpPr>
              <a:spLocks noChangeArrowheads="1"/>
            </p:cNvSpPr>
            <p:nvPr/>
          </p:nvSpPr>
          <p:spPr bwMode="auto">
            <a:xfrm flipH="1">
              <a:off x="4179" y="887"/>
              <a:ext cx="48" cy="233"/>
            </a:xfrm>
            <a:prstGeom prst="rect">
              <a:avLst/>
            </a:prstGeom>
            <a:noFill/>
            <a:ln w="12700" cap="sq">
              <a:noFill/>
              <a:miter lim="800000"/>
              <a:headEnd/>
              <a:tailEnd/>
            </a:ln>
            <a:effec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rPr>
                <a:t>S</a:t>
              </a:r>
              <a:endParaRPr kumimoji="0" lang="zh-CN" altLang="en-US" sz="2400" b="0" i="0" u="none" strike="noStrike" kern="0" cap="none" spc="0" normalizeH="0" baseline="0" noProof="0">
                <a:ln>
                  <a:noFill/>
                </a:ln>
                <a:effectLst>
                  <a:outerShdw blurRad="38100" dist="38100" dir="2700000" algn="tl">
                    <a:srgbClr val="000000"/>
                  </a:outerShdw>
                </a:effectLst>
                <a:uLnTx/>
                <a:uFillTx/>
                <a:latin typeface="Times New Roman" pitchFamily="18" charset="0"/>
                <a:ea typeface="宋体" pitchFamily="2" charset="-122"/>
              </a:endParaRPr>
            </a:p>
          </p:txBody>
        </p:sp>
        <p:sp>
          <p:nvSpPr>
            <p:cNvPr id="90" name="Freeform 151"/>
            <p:cNvSpPr>
              <a:spLocks/>
            </p:cNvSpPr>
            <p:nvPr/>
          </p:nvSpPr>
          <p:spPr bwMode="auto">
            <a:xfrm>
              <a:off x="3909" y="946"/>
              <a:ext cx="136" cy="128"/>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FFFFFF"/>
              </a:solidFill>
              <a:prstDash val="solid"/>
              <a:round/>
              <a:headEnd type="none" w="med" len="med"/>
              <a:tailEnd type="none" w="med" len="med"/>
            </a:ln>
            <a:effectLst/>
          </p:spPr>
          <p:txBody>
            <a:bodyPr lIns="72000" tIns="72000" rIns="72000" b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endParaRPr>
            </a:p>
          </p:txBody>
        </p:sp>
      </p:grpSp>
      <p:graphicFrame>
        <p:nvGraphicFramePr>
          <p:cNvPr id="91" name="Group 152"/>
          <p:cNvGraphicFramePr>
            <a:graphicFrameLocks noGrp="1"/>
          </p:cNvGraphicFramePr>
          <p:nvPr>
            <p:extLst>
              <p:ext uri="{D42A27DB-BD31-4B8C-83A1-F6EECF244321}">
                <p14:modId xmlns:p14="http://schemas.microsoft.com/office/powerpoint/2010/main" val="3514121614"/>
              </p:ext>
            </p:extLst>
          </p:nvPr>
        </p:nvGraphicFramePr>
        <p:xfrm>
          <a:off x="8658098" y="4042752"/>
          <a:ext cx="2766852" cy="2034270"/>
        </p:xfrm>
        <a:graphic>
          <a:graphicData uri="http://schemas.openxmlformats.org/drawingml/2006/table">
            <a:tbl>
              <a:tblPr/>
              <a:tblGrid>
                <a:gridCol w="505600">
                  <a:extLst>
                    <a:ext uri="{9D8B030D-6E8A-4147-A177-3AD203B41FA5}">
                      <a16:colId xmlns:a16="http://schemas.microsoft.com/office/drawing/2014/main" val="20000"/>
                    </a:ext>
                  </a:extLst>
                </a:gridCol>
                <a:gridCol w="679944">
                  <a:extLst>
                    <a:ext uri="{9D8B030D-6E8A-4147-A177-3AD203B41FA5}">
                      <a16:colId xmlns:a16="http://schemas.microsoft.com/office/drawing/2014/main" val="20001"/>
                    </a:ext>
                  </a:extLst>
                </a:gridCol>
                <a:gridCol w="474218">
                  <a:extLst>
                    <a:ext uri="{9D8B030D-6E8A-4147-A177-3AD203B41FA5}">
                      <a16:colId xmlns:a16="http://schemas.microsoft.com/office/drawing/2014/main" val="20002"/>
                    </a:ext>
                  </a:extLst>
                </a:gridCol>
                <a:gridCol w="632872">
                  <a:extLst>
                    <a:ext uri="{9D8B030D-6E8A-4147-A177-3AD203B41FA5}">
                      <a16:colId xmlns:a16="http://schemas.microsoft.com/office/drawing/2014/main" val="20003"/>
                    </a:ext>
                  </a:extLst>
                </a:gridCol>
                <a:gridCol w="474218">
                  <a:extLst>
                    <a:ext uri="{9D8B030D-6E8A-4147-A177-3AD203B41FA5}">
                      <a16:colId xmlns:a16="http://schemas.microsoft.com/office/drawing/2014/main" val="20004"/>
                    </a:ext>
                  </a:extLst>
                </a:gridCol>
              </a:tblGrid>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R.B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S.B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3180459580"/>
                  </a:ext>
                </a:extLst>
              </a:tr>
              <a:tr h="40685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b3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782299656"/>
                  </a:ext>
                </a:extLst>
              </a:tr>
            </a:tbl>
          </a:graphicData>
        </a:graphic>
      </p:graphicFrame>
      <p:sp>
        <p:nvSpPr>
          <p:cNvPr id="92" name="圆角矩形标注 91"/>
          <p:cNvSpPr/>
          <p:nvPr/>
        </p:nvSpPr>
        <p:spPr bwMode="auto">
          <a:xfrm>
            <a:off x="5947576" y="6064875"/>
            <a:ext cx="1716658" cy="593499"/>
          </a:xfrm>
          <a:prstGeom prst="wedgeRoundRectCallout">
            <a:avLst>
              <a:gd name="adj1" fmla="val -27291"/>
              <a:gd name="adj2" fmla="val -84825"/>
              <a:gd name="adj3" fmla="val 16667"/>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wrap="square" lIns="36000" tIns="36000" rIns="36000" bIns="36000" anchor="ctr" anchorCtr="0">
            <a:noAutofit/>
          </a:bodyPr>
          <a:lstStyle/>
          <a:p>
            <a:pPr fontAlgn="auto">
              <a:spcBef>
                <a:spcPts val="0"/>
              </a:spcBef>
            </a:pPr>
            <a:r>
              <a:rPr lang="zh-CN" altLang="en-US" sz="2800" b="1" kern="0" baseline="0" dirty="0">
                <a:solidFill>
                  <a:srgbClr val="3333CC"/>
                </a:solidFill>
                <a:latin typeface="微软雅黑" panose="020B0503020204020204" pitchFamily="34" charset="-122"/>
                <a:ea typeface="微软雅黑" panose="020B0503020204020204" pitchFamily="34" charset="-122"/>
              </a:rPr>
              <a:t>自然连接</a:t>
            </a:r>
          </a:p>
        </p:txBody>
      </p:sp>
    </p:spTree>
    <p:extLst>
      <p:ext uri="{BB962C8B-B14F-4D97-AF65-F5344CB8AC3E}">
        <p14:creationId xmlns:p14="http://schemas.microsoft.com/office/powerpoint/2010/main" val="219463602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3000" fill="hold" grpId="0" nodeType="afterEffect">
                                  <p:stCondLst>
                                    <p:cond delay="0"/>
                                  </p:stCondLst>
                                  <p:childTnLst>
                                    <p:animEffect transition="out" filter="fade">
                                      <p:cBhvr>
                                        <p:cTn id="6" dur="500" tmFilter="0, 0; .2, .5; .8, .5; 1, 0"/>
                                        <p:tgtEl>
                                          <p:spTgt spid="92"/>
                                        </p:tgtEl>
                                      </p:cBhvr>
                                    </p:animEffect>
                                    <p:animScale>
                                      <p:cBhvr>
                                        <p:cTn id="7" dur="250" autoRev="1" fill="hold"/>
                                        <p:tgtEl>
                                          <p:spTgt spid="9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344" y="404664"/>
            <a:ext cx="10440000" cy="4320000"/>
          </a:xfrm>
        </p:spPr>
        <p:txBody>
          <a:bodyPr/>
          <a:lstStyle/>
          <a:p>
            <a:pPr marL="0" indent="0">
              <a:buNone/>
            </a:pPr>
            <a:r>
              <a:rPr lang="zh-CN" altLang="en-US" dirty="0" smtClean="0"/>
              <a:t>例 </a:t>
            </a:r>
            <a:r>
              <a:rPr lang="zh-CN" altLang="en-US" dirty="0"/>
              <a:t>设有如</a:t>
            </a:r>
            <a:r>
              <a:rPr lang="zh-CN" altLang="en-US" dirty="0" smtClean="0"/>
              <a:t>图的</a:t>
            </a:r>
            <a:r>
              <a:rPr lang="zh-CN" altLang="en-US" dirty="0"/>
              <a:t>两个关系R和S，求：</a:t>
            </a:r>
          </a:p>
          <a:p>
            <a:pPr marL="0" indent="0">
              <a:buNone/>
            </a:pPr>
            <a:r>
              <a:rPr lang="zh-CN" altLang="en-US" dirty="0"/>
              <a:t>（1）            的结果；</a:t>
            </a:r>
          </a:p>
          <a:p>
            <a:pPr marL="0" indent="0">
              <a:buNone/>
            </a:pPr>
            <a:endParaRPr lang="zh-CN" altLang="en-US" dirty="0"/>
          </a:p>
          <a:p>
            <a:pPr marL="0" indent="0">
              <a:buNone/>
            </a:pPr>
            <a:r>
              <a:rPr lang="zh-CN" altLang="en-US" dirty="0"/>
              <a:t>（2）             的结果；</a:t>
            </a:r>
          </a:p>
          <a:p>
            <a:pPr marL="0" indent="0">
              <a:buNone/>
            </a:pPr>
            <a:endParaRPr lang="zh-CN" altLang="en-US" dirty="0"/>
          </a:p>
          <a:p>
            <a:pPr marL="0" indent="0">
              <a:buNone/>
            </a:pPr>
            <a:r>
              <a:rPr lang="zh-CN" altLang="en-US" dirty="0"/>
              <a:t>（3）R</a:t>
            </a:r>
            <a:r>
              <a:rPr lang="zh-CN" altLang="en-US" sz="4000" dirty="0"/>
              <a:t> </a:t>
            </a:r>
            <a:r>
              <a:rPr lang="zh-CN" altLang="en-US" sz="4000" b="1" dirty="0"/>
              <a:t>⋈</a:t>
            </a:r>
            <a:r>
              <a:rPr lang="zh-CN" altLang="en-US" sz="4000" dirty="0"/>
              <a:t> </a:t>
            </a:r>
            <a:r>
              <a:rPr lang="zh-CN" altLang="en-US" dirty="0"/>
              <a:t>S   的结果。</a:t>
            </a:r>
          </a:p>
        </p:txBody>
      </p:sp>
      <p:pic>
        <p:nvPicPr>
          <p:cNvPr id="4" name="图片 3"/>
          <p:cNvPicPr>
            <a:picLocks noChangeAspect="1"/>
          </p:cNvPicPr>
          <p:nvPr/>
        </p:nvPicPr>
        <p:blipFill>
          <a:blip r:embed="rId3"/>
          <a:stretch>
            <a:fillRect/>
          </a:stretch>
        </p:blipFill>
        <p:spPr>
          <a:xfrm>
            <a:off x="1375587" y="1196752"/>
            <a:ext cx="1198880" cy="651510"/>
          </a:xfrm>
          <a:prstGeom prst="rect">
            <a:avLst/>
          </a:prstGeom>
        </p:spPr>
      </p:pic>
      <p:pic>
        <p:nvPicPr>
          <p:cNvPr id="5" name="图片 4"/>
          <p:cNvPicPr>
            <a:picLocks noChangeAspect="1"/>
          </p:cNvPicPr>
          <p:nvPr/>
        </p:nvPicPr>
        <p:blipFill>
          <a:blip r:embed="rId4"/>
          <a:stretch>
            <a:fillRect/>
          </a:stretch>
        </p:blipFill>
        <p:spPr>
          <a:xfrm>
            <a:off x="1375587" y="2407116"/>
            <a:ext cx="1294765" cy="624205"/>
          </a:xfrm>
          <a:prstGeom prst="rect">
            <a:avLst/>
          </a:prstGeom>
        </p:spPr>
      </p:pic>
      <p:pic>
        <p:nvPicPr>
          <p:cNvPr id="6" name="图片 5"/>
          <p:cNvPicPr>
            <a:picLocks noChangeAspect="1"/>
          </p:cNvPicPr>
          <p:nvPr/>
        </p:nvPicPr>
        <p:blipFill>
          <a:blip r:embed="rId5"/>
          <a:stretch>
            <a:fillRect/>
          </a:stretch>
        </p:blipFill>
        <p:spPr>
          <a:xfrm>
            <a:off x="4878070" y="2296795"/>
            <a:ext cx="3263265" cy="3950970"/>
          </a:xfrm>
          <a:prstGeom prst="rect">
            <a:avLst/>
          </a:prstGeom>
        </p:spPr>
      </p:pic>
      <p:pic>
        <p:nvPicPr>
          <p:cNvPr id="7" name="图片 6"/>
          <p:cNvPicPr>
            <a:picLocks noChangeAspect="1"/>
          </p:cNvPicPr>
          <p:nvPr/>
        </p:nvPicPr>
        <p:blipFill>
          <a:blip r:embed="rId6"/>
          <a:stretch>
            <a:fillRect/>
          </a:stretch>
        </p:blipFill>
        <p:spPr>
          <a:xfrm>
            <a:off x="8730615" y="1731645"/>
            <a:ext cx="2585720" cy="4594860"/>
          </a:xfrm>
          <a:prstGeom prst="rect">
            <a:avLst/>
          </a:prstGeom>
        </p:spPr>
      </p:pic>
    </p:spTree>
    <p:custDataLst>
      <p:tags r:id="rId1"/>
    </p:custDataLst>
    <p:extLst>
      <p:ext uri="{BB962C8B-B14F-4D97-AF65-F5344CB8AC3E}">
        <p14:creationId xmlns:p14="http://schemas.microsoft.com/office/powerpoint/2010/main" val="1260178546"/>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stretch>
            <a:fillRect/>
          </a:stretch>
        </p:blipFill>
        <p:spPr>
          <a:xfrm>
            <a:off x="593090" y="694055"/>
            <a:ext cx="3547745" cy="5469890"/>
          </a:xfrm>
          <a:prstGeom prst="rect">
            <a:avLst/>
          </a:prstGeom>
        </p:spPr>
      </p:pic>
      <p:pic>
        <p:nvPicPr>
          <p:cNvPr id="6" name="图片 5"/>
          <p:cNvPicPr>
            <a:picLocks noChangeAspect="1"/>
          </p:cNvPicPr>
          <p:nvPr/>
        </p:nvPicPr>
        <p:blipFill>
          <a:blip r:embed="rId4"/>
          <a:stretch>
            <a:fillRect/>
          </a:stretch>
        </p:blipFill>
        <p:spPr>
          <a:xfrm>
            <a:off x="4603115" y="1312545"/>
            <a:ext cx="3373755" cy="3636010"/>
          </a:xfrm>
          <a:prstGeom prst="rect">
            <a:avLst/>
          </a:prstGeom>
        </p:spPr>
      </p:pic>
      <p:pic>
        <p:nvPicPr>
          <p:cNvPr id="7" name="图片 6"/>
          <p:cNvPicPr>
            <a:picLocks noChangeAspect="1"/>
          </p:cNvPicPr>
          <p:nvPr/>
        </p:nvPicPr>
        <p:blipFill>
          <a:blip r:embed="rId5"/>
          <a:stretch>
            <a:fillRect/>
          </a:stretch>
        </p:blipFill>
        <p:spPr>
          <a:xfrm>
            <a:off x="8630285" y="1312545"/>
            <a:ext cx="2929890" cy="4093845"/>
          </a:xfrm>
          <a:prstGeom prst="rect">
            <a:avLst/>
          </a:prstGeom>
        </p:spPr>
      </p:pic>
    </p:spTree>
    <p:custDataLst>
      <p:tags r:id="rId1"/>
    </p:custDataLst>
    <p:extLst>
      <p:ext uri="{BB962C8B-B14F-4D97-AF65-F5344CB8AC3E}">
        <p14:creationId xmlns:p14="http://schemas.microsoft.com/office/powerpoint/2010/main" val="235379356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heel(1)">
                                      <p:cBhvr>
                                        <p:cTn id="1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4347" y="260648"/>
            <a:ext cx="8281933" cy="2592288"/>
          </a:xfrm>
        </p:spPr>
        <p:txBody>
          <a:bodyPr>
            <a:normAutofit fontScale="92500"/>
          </a:bodyPr>
          <a:lstStyle/>
          <a:p>
            <a:pPr marL="0" indent="0">
              <a:buNone/>
            </a:pPr>
            <a:r>
              <a:rPr lang="zh-CN" altLang="en-US" dirty="0" smtClean="0"/>
              <a:t>像</a:t>
            </a:r>
            <a:r>
              <a:rPr lang="zh-CN" altLang="en-US" dirty="0"/>
              <a:t>集</a:t>
            </a:r>
          </a:p>
          <a:p>
            <a:pPr marL="0" indent="0">
              <a:buNone/>
            </a:pPr>
            <a:r>
              <a:rPr lang="zh-CN" altLang="en-US" dirty="0"/>
              <a:t>      给定一个关系R（X，Z），X和Z为属性组。定义，当t[X]=x时，x在R中的像集为Zx={t[Z]| t∈R，t[X]=x}，它表示R中属性组X上值为x的诸元组在Z上对应分量（即t[Z]）的集合。</a:t>
            </a:r>
          </a:p>
        </p:txBody>
      </p:sp>
      <p:sp>
        <p:nvSpPr>
          <p:cNvPr id="100" name="文本框 99"/>
          <p:cNvSpPr txBox="1"/>
          <p:nvPr/>
        </p:nvSpPr>
        <p:spPr>
          <a:xfrm>
            <a:off x="479376" y="3140968"/>
            <a:ext cx="7632848" cy="2793072"/>
          </a:xfrm>
          <a:prstGeom prst="rect">
            <a:avLst/>
          </a:prstGeom>
          <a:noFill/>
          <a:ln w="9525">
            <a:noFill/>
          </a:ln>
        </p:spPr>
        <p:txBody>
          <a:bodyPr wrap="square">
            <a:spAutoFit/>
          </a:bodyPr>
          <a:lstStyle/>
          <a:p>
            <a:pPr indent="266700">
              <a:lnSpc>
                <a:spcPct val="150000"/>
              </a:lnSpc>
            </a:pPr>
            <a:r>
              <a:rPr lang="zh-CN" altLang="en-US" sz="3600" b="0" dirty="0">
                <a:solidFill>
                  <a:schemeClr val="tx1">
                    <a:lumMod val="85000"/>
                    <a:lumOff val="15000"/>
                  </a:schemeClr>
                </a:solidFill>
                <a:latin typeface="微软雅黑" panose="020B0503020204020204" charset="-122"/>
                <a:ea typeface="微软雅黑" panose="020B0503020204020204" charset="-122"/>
              </a:rPr>
              <a:t>例如，</a:t>
            </a:r>
            <a:r>
              <a:rPr lang="zh-CN" altLang="en-US" sz="3600" b="0" dirty="0" smtClean="0">
                <a:solidFill>
                  <a:schemeClr val="tx1">
                    <a:lumMod val="85000"/>
                    <a:lumOff val="15000"/>
                  </a:schemeClr>
                </a:solidFill>
                <a:latin typeface="微软雅黑" panose="020B0503020204020204" charset="-122"/>
                <a:ea typeface="微软雅黑" panose="020B0503020204020204" charset="-122"/>
              </a:rPr>
              <a:t>图中</a:t>
            </a:r>
            <a:r>
              <a:rPr lang="zh-CN" altLang="en-US" sz="3600" b="0" dirty="0">
                <a:solidFill>
                  <a:schemeClr val="tx1">
                    <a:lumMod val="85000"/>
                    <a:lumOff val="15000"/>
                  </a:schemeClr>
                </a:solidFill>
                <a:latin typeface="微软雅黑" panose="020B0503020204020204" charset="-122"/>
                <a:ea typeface="微软雅黑" panose="020B0503020204020204" charset="-122"/>
              </a:rPr>
              <a:t>有关系R（X，Z），则属性X上各属性值在R中的像集如下：</a:t>
            </a:r>
          </a:p>
          <a:p>
            <a:pPr indent="266700">
              <a:lnSpc>
                <a:spcPct val="150000"/>
              </a:lnSpc>
            </a:pPr>
            <a:r>
              <a:rPr lang="zh-CN" altLang="en-US" sz="3600" b="0" dirty="0">
                <a:solidFill>
                  <a:schemeClr val="tx1">
                    <a:lumMod val="85000"/>
                    <a:lumOff val="15000"/>
                  </a:schemeClr>
                </a:solidFill>
                <a:latin typeface="微软雅黑" panose="020B0503020204020204" charset="-122"/>
                <a:ea typeface="微软雅黑" panose="020B0503020204020204" charset="-122"/>
              </a:rPr>
              <a:t>x1在R中的像集Zx1={z1，z2}；</a:t>
            </a:r>
          </a:p>
          <a:p>
            <a:pPr indent="266700">
              <a:lnSpc>
                <a:spcPct val="150000"/>
              </a:lnSpc>
            </a:pPr>
            <a:r>
              <a:rPr lang="zh-CN" altLang="en-US" sz="3600" b="0" dirty="0">
                <a:solidFill>
                  <a:schemeClr val="tx1">
                    <a:lumMod val="85000"/>
                    <a:lumOff val="15000"/>
                  </a:schemeClr>
                </a:solidFill>
                <a:latin typeface="微软雅黑" panose="020B0503020204020204" charset="-122"/>
                <a:ea typeface="微软雅黑" panose="020B0503020204020204" charset="-122"/>
              </a:rPr>
              <a:t>x2在R中的像集Zx2={z1，z4}；</a:t>
            </a:r>
          </a:p>
          <a:p>
            <a:pPr indent="266700">
              <a:lnSpc>
                <a:spcPct val="150000"/>
              </a:lnSpc>
            </a:pPr>
            <a:r>
              <a:rPr lang="zh-CN" altLang="en-US" sz="3600" b="0" dirty="0">
                <a:solidFill>
                  <a:schemeClr val="tx1">
                    <a:lumMod val="85000"/>
                    <a:lumOff val="15000"/>
                  </a:schemeClr>
                </a:solidFill>
                <a:latin typeface="微软雅黑" panose="020B0503020204020204" charset="-122"/>
                <a:ea typeface="微软雅黑" panose="020B0503020204020204" charset="-122"/>
              </a:rPr>
              <a:t>x3在R中的像集Zx3={z3，z1，z2}</a:t>
            </a:r>
            <a:r>
              <a:rPr lang="zh-CN" sz="3600" b="0" dirty="0">
                <a:latin typeface="Times New Roman" panose="02020603050405020304" charset="0"/>
              </a:rPr>
              <a:t>；</a:t>
            </a:r>
            <a:endParaRPr lang="zh-CN" altLang="en-US" sz="3600" b="0" dirty="0">
              <a:latin typeface="Times New Roman" panose="02020603050405020304" charset="0"/>
            </a:endParaRPr>
          </a:p>
        </p:txBody>
      </p:sp>
      <p:pic>
        <p:nvPicPr>
          <p:cNvPr id="4" name="图片 3"/>
          <p:cNvPicPr>
            <a:picLocks noChangeAspect="1"/>
          </p:cNvPicPr>
          <p:nvPr/>
        </p:nvPicPr>
        <p:blipFill>
          <a:blip r:embed="rId3"/>
          <a:srcRect b="2236"/>
          <a:stretch>
            <a:fillRect/>
          </a:stretch>
        </p:blipFill>
        <p:spPr>
          <a:xfrm>
            <a:off x="8832304" y="582930"/>
            <a:ext cx="3020060" cy="5858510"/>
          </a:xfrm>
          <a:prstGeom prst="rect">
            <a:avLst/>
          </a:prstGeom>
        </p:spPr>
      </p:pic>
    </p:spTree>
    <p:custDataLst>
      <p:tags r:id="rId1"/>
    </p:custDataLst>
    <p:extLst>
      <p:ext uri="{BB962C8B-B14F-4D97-AF65-F5344CB8AC3E}">
        <p14:creationId xmlns:p14="http://schemas.microsoft.com/office/powerpoint/2010/main" val="357275461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blinds(horizontal)">
                                      <p:cBhvr>
                                        <p:cTn id="7" dur="500"/>
                                        <p:tgtEl>
                                          <p:spTgt spid="100"/>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92696"/>
            <a:ext cx="10440000" cy="4320000"/>
          </a:xfrm>
        </p:spPr>
        <p:txBody>
          <a:bodyPr/>
          <a:lstStyle/>
          <a:p>
            <a:pPr marL="0" indent="0">
              <a:buNone/>
            </a:pPr>
            <a:r>
              <a:rPr lang="zh-CN" altLang="en-US" dirty="0"/>
              <a:t>关系的除操作能用其它基本操作表示为：</a:t>
            </a:r>
          </a:p>
          <a:p>
            <a:pPr marL="0" indent="0">
              <a:buNone/>
            </a:pPr>
            <a:endParaRPr lang="zh-CN" altLang="en-US" dirty="0"/>
          </a:p>
          <a:p>
            <a:pPr marL="0" indent="0">
              <a:buNone/>
            </a:pPr>
            <a:endParaRPr lang="zh-CN" altLang="en-US" dirty="0"/>
          </a:p>
          <a:p>
            <a:pPr marL="0" indent="0">
              <a:buNone/>
            </a:pPr>
            <a:r>
              <a:rPr lang="zh-CN" altLang="en-US" dirty="0"/>
              <a:t>除操作运算过程如下：</a:t>
            </a:r>
          </a:p>
          <a:p>
            <a:pPr marL="0" indent="0">
              <a:buNone/>
            </a:pPr>
            <a:r>
              <a:rPr lang="zh-CN" altLang="en-US" dirty="0"/>
              <a:t>①　计算X分量值x的像集Yx；</a:t>
            </a:r>
          </a:p>
          <a:p>
            <a:pPr marL="0" indent="0">
              <a:buNone/>
            </a:pPr>
            <a:r>
              <a:rPr lang="zh-CN" altLang="en-US" dirty="0"/>
              <a:t>②　计算S在Y上的投影K；</a:t>
            </a:r>
          </a:p>
          <a:p>
            <a:pPr marL="0" indent="0">
              <a:buNone/>
            </a:pPr>
            <a:r>
              <a:rPr lang="zh-CN" altLang="en-US" dirty="0"/>
              <a:t>③　找出哪些分量值x的像集Yx包含K，该分量值x即为除运算的结果。</a:t>
            </a:r>
          </a:p>
        </p:txBody>
      </p:sp>
      <p:pic>
        <p:nvPicPr>
          <p:cNvPr id="4" name="图片 3"/>
          <p:cNvPicPr>
            <a:picLocks noChangeAspect="1"/>
          </p:cNvPicPr>
          <p:nvPr/>
        </p:nvPicPr>
        <p:blipFill>
          <a:blip r:embed="rId3"/>
          <a:stretch>
            <a:fillRect/>
          </a:stretch>
        </p:blipFill>
        <p:spPr>
          <a:xfrm>
            <a:off x="1775520" y="1700808"/>
            <a:ext cx="7030085" cy="462915"/>
          </a:xfrm>
          <a:prstGeom prst="rect">
            <a:avLst/>
          </a:prstGeom>
        </p:spPr>
      </p:pic>
    </p:spTree>
    <p:custDataLst>
      <p:tags r:id="rId1"/>
    </p:custDataLst>
    <p:extLst>
      <p:ext uri="{BB962C8B-B14F-4D97-AF65-F5344CB8AC3E}">
        <p14:creationId xmlns:p14="http://schemas.microsoft.com/office/powerpoint/2010/main" val="1355563918"/>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76300" y="621300"/>
            <a:ext cx="10440000" cy="4320000"/>
          </a:xfrm>
        </p:spPr>
        <p:txBody>
          <a:bodyPr/>
          <a:lstStyle/>
          <a:p>
            <a:pPr marL="0" indent="0">
              <a:buNone/>
            </a:pPr>
            <a:r>
              <a:rPr lang="zh-CN" altLang="en-US" dirty="0" smtClean="0"/>
              <a:t>例设</a:t>
            </a:r>
            <a:r>
              <a:rPr lang="zh-CN" altLang="en-US" dirty="0"/>
              <a:t>关系R、S分别为</a:t>
            </a:r>
            <a:r>
              <a:rPr lang="zh-CN" altLang="en-US" dirty="0" smtClean="0"/>
              <a:t>图 </a:t>
            </a:r>
            <a:r>
              <a:rPr lang="zh-CN" altLang="en-US" dirty="0"/>
              <a:t>所示，求R÷S的结果。</a:t>
            </a:r>
          </a:p>
        </p:txBody>
      </p:sp>
      <p:pic>
        <p:nvPicPr>
          <p:cNvPr id="4" name="图片 3"/>
          <p:cNvPicPr>
            <a:picLocks noChangeAspect="1"/>
          </p:cNvPicPr>
          <p:nvPr/>
        </p:nvPicPr>
        <p:blipFill>
          <a:blip r:embed="rId3"/>
          <a:stretch>
            <a:fillRect/>
          </a:stretch>
        </p:blipFill>
        <p:spPr>
          <a:xfrm>
            <a:off x="876300" y="2485390"/>
            <a:ext cx="3123565" cy="3686810"/>
          </a:xfrm>
          <a:prstGeom prst="rect">
            <a:avLst/>
          </a:prstGeom>
        </p:spPr>
      </p:pic>
      <p:pic>
        <p:nvPicPr>
          <p:cNvPr id="5" name="图片 4"/>
          <p:cNvPicPr>
            <a:picLocks noChangeAspect="1"/>
          </p:cNvPicPr>
          <p:nvPr/>
        </p:nvPicPr>
        <p:blipFill>
          <a:blip r:embed="rId4"/>
          <a:stretch>
            <a:fillRect/>
          </a:stretch>
        </p:blipFill>
        <p:spPr>
          <a:xfrm>
            <a:off x="4376420" y="2781300"/>
            <a:ext cx="3096895" cy="2327275"/>
          </a:xfrm>
          <a:prstGeom prst="rect">
            <a:avLst/>
          </a:prstGeom>
        </p:spPr>
      </p:pic>
      <p:pic>
        <p:nvPicPr>
          <p:cNvPr id="6" name="图片 5"/>
          <p:cNvPicPr>
            <a:picLocks noChangeAspect="1"/>
          </p:cNvPicPr>
          <p:nvPr/>
        </p:nvPicPr>
        <p:blipFill>
          <a:blip r:embed="rId5"/>
          <a:stretch>
            <a:fillRect/>
          </a:stretch>
        </p:blipFill>
        <p:spPr>
          <a:xfrm>
            <a:off x="8743315" y="3086100"/>
            <a:ext cx="1308735" cy="1717675"/>
          </a:xfrm>
          <a:prstGeom prst="rect">
            <a:avLst/>
          </a:prstGeom>
        </p:spPr>
      </p:pic>
    </p:spTree>
    <p:custDataLst>
      <p:tags r:id="rId1"/>
    </p:custDataLst>
    <p:extLst>
      <p:ext uri="{BB962C8B-B14F-4D97-AF65-F5344CB8AC3E}">
        <p14:creationId xmlns:p14="http://schemas.microsoft.com/office/powerpoint/2010/main" val="689899709"/>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836712"/>
            <a:ext cx="11123295" cy="4319905"/>
          </a:xfrm>
        </p:spPr>
        <p:txBody>
          <a:bodyPr>
            <a:normAutofit fontScale="92500" lnSpcReduction="20000"/>
          </a:bodyPr>
          <a:lstStyle/>
          <a:p>
            <a:pPr marL="0" indent="0">
              <a:buNone/>
            </a:pPr>
            <a:r>
              <a:rPr lang="en-US" altLang="zh-CN"/>
              <a:t>      </a:t>
            </a:r>
            <a:r>
              <a:rPr lang="zh-CN" altLang="en-US"/>
              <a:t>在本例中，关系R和关系S共有的属性是B、C，按照除运算的过程，首先确定A分量值在关系R中的像集：</a:t>
            </a:r>
          </a:p>
          <a:p>
            <a:pPr marL="0" indent="0">
              <a:buNone/>
            </a:pPr>
            <a:r>
              <a:rPr lang="zh-CN" altLang="en-US"/>
              <a:t>a1在R中的像集为{（b3，c7），（b4，c5），（b2，c3）}；</a:t>
            </a:r>
          </a:p>
          <a:p>
            <a:pPr marL="0" indent="0">
              <a:buNone/>
            </a:pPr>
            <a:r>
              <a:rPr lang="zh-CN" altLang="en-US"/>
              <a:t>a2在R中的像集为{（b9，c4），（b1，c2）}；</a:t>
            </a:r>
          </a:p>
          <a:p>
            <a:pPr marL="0" indent="0">
              <a:buNone/>
            </a:pPr>
            <a:r>
              <a:rPr lang="zh-CN" altLang="en-US"/>
              <a:t>a3在R中的像集为{（b5，c1）}。</a:t>
            </a:r>
          </a:p>
          <a:p>
            <a:pPr marL="0" indent="0">
              <a:buNone/>
            </a:pPr>
            <a:r>
              <a:rPr lang="zh-CN" altLang="en-US"/>
              <a:t>接着计算关系S在B、C属性上的投影：{（b3，c7），（b4，c5），（b2，c3）}。</a:t>
            </a:r>
          </a:p>
          <a:p>
            <a:pPr marL="0" indent="0">
              <a:buNone/>
            </a:pPr>
            <a:r>
              <a:rPr lang="zh-CN" altLang="en-US"/>
              <a:t>最后，找到关系R中A属性的哪个分量在R中的像集包含了这个投影的集合，所以R÷S={a1}。</a:t>
            </a:r>
          </a:p>
        </p:txBody>
      </p:sp>
    </p:spTree>
    <p:custDataLst>
      <p:tags r:id="rId1"/>
    </p:custDataLst>
    <p:extLst>
      <p:ext uri="{BB962C8B-B14F-4D97-AF65-F5344CB8AC3E}">
        <p14:creationId xmlns:p14="http://schemas.microsoft.com/office/powerpoint/2010/main" val="1621733321"/>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764987"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除（</a:t>
            </a:r>
            <a:r>
              <a:rPr lang="en-US" altLang="zh-CN" b="1" u="sng" kern="1200" dirty="0">
                <a:solidFill>
                  <a:schemeClr val="folHlink"/>
                </a:solidFill>
                <a:effectLst>
                  <a:outerShdw blurRad="38100" dist="38100" dir="2700000" algn="tl">
                    <a:srgbClr val="000000"/>
                  </a:outerShdw>
                </a:effectLst>
                <a:cs typeface="+mn-cs"/>
              </a:rPr>
              <a:t>Division</a:t>
            </a:r>
            <a:r>
              <a:rPr lang="zh-CN" altLang="en-US" b="1" u="sng" kern="1200" dirty="0">
                <a:solidFill>
                  <a:schemeClr val="folHlink"/>
                </a:solidFill>
                <a:effectLst>
                  <a:outerShdw blurRad="38100" dist="38100" dir="2700000" algn="tl">
                    <a:srgbClr val="000000"/>
                  </a:outerShdw>
                </a:effectLst>
                <a:cs typeface="+mn-cs"/>
              </a:rPr>
              <a:t>）</a:t>
            </a:r>
            <a:endParaRPr lang="en-US" altLang="zh-CN" b="1" u="sng" kern="1200" dirty="0">
              <a:solidFill>
                <a:schemeClr val="folHlink"/>
              </a:solidFill>
              <a:effectLst>
                <a:outerShdw blurRad="38100" dist="38100" dir="2700000" algn="tl">
                  <a:srgbClr val="000000"/>
                </a:outerShdw>
              </a:effectLst>
              <a:cs typeface="+mn-cs"/>
            </a:endParaRPr>
          </a:p>
        </p:txBody>
      </p:sp>
      <p:graphicFrame>
        <p:nvGraphicFramePr>
          <p:cNvPr id="22" name="Group 4"/>
          <p:cNvGraphicFramePr>
            <a:graphicFrameLocks noGrp="1"/>
          </p:cNvGraphicFramePr>
          <p:nvPr>
            <p:extLst>
              <p:ext uri="{D42A27DB-BD31-4B8C-83A1-F6EECF244321}">
                <p14:modId xmlns:p14="http://schemas.microsoft.com/office/powerpoint/2010/main" val="2329457074"/>
              </p:ext>
            </p:extLst>
          </p:nvPr>
        </p:nvGraphicFramePr>
        <p:xfrm>
          <a:off x="385067" y="1389526"/>
          <a:ext cx="1822501" cy="2133600"/>
        </p:xfrm>
        <a:graphic>
          <a:graphicData uri="http://schemas.openxmlformats.org/drawingml/2006/table">
            <a:tbl>
              <a:tblPr/>
              <a:tblGrid>
                <a:gridCol w="831787">
                  <a:extLst>
                    <a:ext uri="{9D8B030D-6E8A-4147-A177-3AD203B41FA5}">
                      <a16:colId xmlns:a16="http://schemas.microsoft.com/office/drawing/2014/main" val="20000"/>
                    </a:ext>
                  </a:extLst>
                </a:gridCol>
                <a:gridCol w="990714">
                  <a:extLst>
                    <a:ext uri="{9D8B030D-6E8A-4147-A177-3AD203B41FA5}">
                      <a16:colId xmlns:a16="http://schemas.microsoft.com/office/drawing/2014/main" val="20001"/>
                    </a:ext>
                  </a:extLst>
                </a:gridCol>
              </a:tblGrid>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27441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23" name="Rectangle 42"/>
          <p:cNvSpPr>
            <a:spLocks noChangeArrowheads="1"/>
          </p:cNvSpPr>
          <p:nvPr/>
        </p:nvSpPr>
        <p:spPr bwMode="auto">
          <a:xfrm>
            <a:off x="461267" y="933577"/>
            <a:ext cx="205184" cy="369332"/>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en-US" altLang="zh-CN" sz="2400" baseline="0" dirty="0">
                <a:solidFill>
                  <a:srgbClr val="99FF33"/>
                </a:solidFill>
                <a:effectLst>
                  <a:outerShdw blurRad="38100" dist="38100" dir="2700000" algn="tl">
                    <a:srgbClr val="000000"/>
                  </a:outerShdw>
                </a:effectLst>
                <a:latin typeface="Times New Roman" pitchFamily="18" charset="0"/>
                <a:cs typeface="Times New Roman" pitchFamily="18" charset="0"/>
              </a:rPr>
              <a:t>R</a:t>
            </a:r>
          </a:p>
        </p:txBody>
      </p:sp>
      <p:graphicFrame>
        <p:nvGraphicFramePr>
          <p:cNvPr id="24" name="Group 43"/>
          <p:cNvGraphicFramePr>
            <a:graphicFrameLocks noGrp="1"/>
          </p:cNvGraphicFramePr>
          <p:nvPr>
            <p:extLst>
              <p:ext uri="{D42A27DB-BD31-4B8C-83A1-F6EECF244321}">
                <p14:modId xmlns:p14="http://schemas.microsoft.com/office/powerpoint/2010/main" val="1258299060"/>
              </p:ext>
            </p:extLst>
          </p:nvPr>
        </p:nvGraphicFramePr>
        <p:xfrm>
          <a:off x="385067" y="5041975"/>
          <a:ext cx="2725069" cy="1219200"/>
        </p:xfrm>
        <a:graphic>
          <a:graphicData uri="http://schemas.openxmlformats.org/drawingml/2006/table">
            <a:tbl>
              <a:tblPr/>
              <a:tblGrid>
                <a:gridCol w="939679">
                  <a:extLst>
                    <a:ext uri="{9D8B030D-6E8A-4147-A177-3AD203B41FA5}">
                      <a16:colId xmlns:a16="http://schemas.microsoft.com/office/drawing/2014/main" val="20000"/>
                    </a:ext>
                  </a:extLst>
                </a:gridCol>
                <a:gridCol w="1127615">
                  <a:extLst>
                    <a:ext uri="{9D8B030D-6E8A-4147-A177-3AD203B41FA5}">
                      <a16:colId xmlns:a16="http://schemas.microsoft.com/office/drawing/2014/main" val="20001"/>
                    </a:ext>
                  </a:extLst>
                </a:gridCol>
                <a:gridCol w="657775">
                  <a:extLst>
                    <a:ext uri="{9D8B030D-6E8A-4147-A177-3AD203B41FA5}">
                      <a16:colId xmlns:a16="http://schemas.microsoft.com/office/drawing/2014/main" val="20002"/>
                    </a:ext>
                  </a:extLst>
                </a:gridCol>
              </a:tblGrid>
              <a:tr h="147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174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3017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软件工程</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381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25" name="Rectangle 71"/>
          <p:cNvSpPr>
            <a:spLocks noChangeArrowheads="1"/>
          </p:cNvSpPr>
          <p:nvPr/>
        </p:nvSpPr>
        <p:spPr bwMode="auto">
          <a:xfrm>
            <a:off x="475891" y="4526038"/>
            <a:ext cx="171522" cy="369332"/>
          </a:xfrm>
          <a:prstGeom prst="rect">
            <a:avLst/>
          </a:prstGeom>
          <a:noFill/>
          <a:ln w="12700" cap="sq">
            <a:noFill/>
            <a:miter lim="800000"/>
            <a:headEnd/>
            <a:tailEnd/>
          </a:ln>
          <a:effectLst/>
        </p:spPr>
        <p:txBody>
          <a:bodyPr wrap="none" lIns="0" tIns="0" rIns="0" bIns="0">
            <a:spAutoFit/>
          </a:bodyPr>
          <a:lstStyle/>
          <a:p>
            <a:pPr>
              <a:spcAft>
                <a:spcPct val="0"/>
              </a:spcAft>
              <a:defRPr/>
            </a:pPr>
            <a:r>
              <a:rPr lang="en-US" altLang="zh-CN" sz="2400" baseline="0" dirty="0">
                <a:solidFill>
                  <a:srgbClr val="99FF33"/>
                </a:solidFill>
                <a:effectLst>
                  <a:outerShdw blurRad="38100" dist="38100" dir="2700000" algn="tl">
                    <a:srgbClr val="000000"/>
                  </a:outerShdw>
                </a:effectLst>
                <a:latin typeface="Times New Roman" pitchFamily="18" charset="0"/>
                <a:cs typeface="Times New Roman" pitchFamily="18" charset="0"/>
              </a:rPr>
              <a:t>S</a:t>
            </a:r>
          </a:p>
        </p:txBody>
      </p:sp>
      <p:sp>
        <p:nvSpPr>
          <p:cNvPr id="45" name="任意多边形 44"/>
          <p:cNvSpPr/>
          <p:nvPr/>
        </p:nvSpPr>
        <p:spPr>
          <a:xfrm>
            <a:off x="5015880" y="131379"/>
            <a:ext cx="4608512" cy="518824"/>
          </a:xfrm>
          <a:custGeom>
            <a:avLst/>
            <a:gdLst>
              <a:gd name="connsiteX0" fmla="*/ 0 w 4608512"/>
              <a:gd name="connsiteY0" fmla="*/ 0 h 432000"/>
              <a:gd name="connsiteX1" fmla="*/ 4608512 w 4608512"/>
              <a:gd name="connsiteY1" fmla="*/ 0 h 432000"/>
              <a:gd name="connsiteX2" fmla="*/ 4608512 w 4608512"/>
              <a:gd name="connsiteY2" fmla="*/ 432000 h 432000"/>
              <a:gd name="connsiteX3" fmla="*/ 0 w 4608512"/>
              <a:gd name="connsiteY3" fmla="*/ 432000 h 432000"/>
              <a:gd name="connsiteX4" fmla="*/ 0 w 4608512"/>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512" h="432000">
                <a:moveTo>
                  <a:pt x="0" y="0"/>
                </a:moveTo>
                <a:lnTo>
                  <a:pt x="4608512" y="0"/>
                </a:lnTo>
                <a:lnTo>
                  <a:pt x="4608512" y="432000"/>
                </a:lnTo>
                <a:lnTo>
                  <a:pt x="0" y="432000"/>
                </a:lnTo>
                <a:lnTo>
                  <a:pt x="0" y="0"/>
                </a:lnTo>
                <a:close/>
              </a:path>
            </a:pathLst>
          </a:custGeom>
          <a:ln>
            <a:solidFill>
              <a:srgbClr val="FFFF00"/>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zh-CN" altLang="en-US" sz="2800" b="1" baseline="0" dirty="0">
                <a:latin typeface="微软雅黑" panose="020B0503020204020204" pitchFamily="34" charset="-122"/>
                <a:ea typeface="微软雅黑" panose="020B0503020204020204" pitchFamily="34" charset="-122"/>
              </a:rPr>
              <a:t>一般求解法</a:t>
            </a:r>
            <a:endParaRPr lang="zh-CN" sz="2800" kern="1200" dirty="0">
              <a:latin typeface="微软雅黑" panose="020B0503020204020204" pitchFamily="34" charset="-122"/>
              <a:ea typeface="微软雅黑" panose="020B0503020204020204" pitchFamily="34" charset="-122"/>
            </a:endParaRPr>
          </a:p>
        </p:txBody>
      </p:sp>
      <p:sp>
        <p:nvSpPr>
          <p:cNvPr id="47" name="Rectangle 76"/>
          <p:cNvSpPr>
            <a:spLocks noChangeArrowheads="1"/>
          </p:cNvSpPr>
          <p:nvPr/>
        </p:nvSpPr>
        <p:spPr bwMode="auto">
          <a:xfrm>
            <a:off x="4995168" y="872022"/>
            <a:ext cx="6830693" cy="430887"/>
          </a:xfrm>
          <a:prstGeom prst="rect">
            <a:avLst/>
          </a:prstGeom>
          <a:noFill/>
          <a:ln w="12700" cap="sq">
            <a:noFill/>
            <a:miter lim="800000"/>
            <a:headEnd/>
            <a:tailEnd/>
          </a:ln>
          <a:effectLst/>
        </p:spPr>
        <p:txBody>
          <a:bodyPr wrap="square" lIns="0" tIns="0" rIns="0" bIns="0">
            <a:spAutoFit/>
          </a:bodyPr>
          <a:lstStyle/>
          <a:p>
            <a:pPr>
              <a:spcAft>
                <a:spcPct val="0"/>
              </a:spcAft>
              <a:buSzTx/>
              <a:buFontTx/>
              <a:buNone/>
              <a:defRPr/>
            </a:pPr>
            <a:r>
              <a:rPr lang="en-US" altLang="zh-CN" sz="2800" baseline="0" dirty="0">
                <a:solidFill>
                  <a:srgbClr val="00FFFF"/>
                </a:solidFill>
                <a:effectLst>
                  <a:outerShdw blurRad="38100" dist="38100" dir="2700000" algn="tl">
                    <a:srgbClr val="000000"/>
                  </a:outerShdw>
                </a:effectLst>
                <a:latin typeface="Arial" charset="0"/>
              </a:rPr>
              <a:t>X={</a:t>
            </a:r>
            <a:r>
              <a:rPr lang="zh-CN" altLang="en-US" sz="2800" baseline="0" dirty="0">
                <a:solidFill>
                  <a:srgbClr val="00FFFF"/>
                </a:solidFill>
                <a:effectLst>
                  <a:outerShdw blurRad="38100" dist="38100" dir="2700000" algn="tl">
                    <a:srgbClr val="000000"/>
                  </a:outerShdw>
                </a:effectLst>
                <a:latin typeface="Arial" charset="0"/>
              </a:rPr>
              <a:t>姓名</a:t>
            </a:r>
            <a:r>
              <a:rPr lang="en-US" altLang="zh-CN" sz="2800" baseline="0" dirty="0">
                <a:solidFill>
                  <a:srgbClr val="00FFFF"/>
                </a:solidFill>
                <a:effectLst>
                  <a:outerShdw blurRad="38100" dist="38100" dir="2700000" algn="tl">
                    <a:srgbClr val="000000"/>
                  </a:outerShdw>
                </a:effectLst>
                <a:latin typeface="Arial" charset="0"/>
              </a:rPr>
              <a:t>}    </a:t>
            </a:r>
            <a:r>
              <a:rPr lang="zh-CN" altLang="en-US" sz="2800" baseline="0" dirty="0">
                <a:solidFill>
                  <a:srgbClr val="00FFFF"/>
                </a:solidFill>
                <a:effectLst>
                  <a:outerShdw blurRad="38100" dist="38100" dir="2700000" algn="tl">
                    <a:srgbClr val="000000"/>
                  </a:outerShdw>
                </a:effectLst>
                <a:latin typeface="Arial" charset="0"/>
              </a:rPr>
              <a:t>Y</a:t>
            </a:r>
            <a:r>
              <a:rPr lang="en-US" altLang="zh-CN" sz="2800" baseline="0" dirty="0">
                <a:solidFill>
                  <a:srgbClr val="00FFFF"/>
                </a:solidFill>
                <a:effectLst>
                  <a:outerShdw blurRad="38100" dist="38100" dir="2700000" algn="tl">
                    <a:srgbClr val="000000"/>
                  </a:outerShdw>
                </a:effectLst>
                <a:latin typeface="Arial" charset="0"/>
              </a:rPr>
              <a:t>={</a:t>
            </a:r>
            <a:r>
              <a:rPr lang="zh-CN" altLang="en-US" sz="2800" baseline="0" dirty="0">
                <a:solidFill>
                  <a:srgbClr val="00FFFF"/>
                </a:solidFill>
                <a:effectLst>
                  <a:outerShdw blurRad="38100" dist="38100" dir="2700000" algn="tl">
                    <a:srgbClr val="000000"/>
                  </a:outerShdw>
                </a:effectLst>
                <a:latin typeface="Arial" charset="0"/>
              </a:rPr>
              <a:t>课程号</a:t>
            </a:r>
            <a:r>
              <a:rPr lang="en-US" altLang="zh-CN" sz="2800" baseline="0" dirty="0">
                <a:solidFill>
                  <a:srgbClr val="00FFFF"/>
                </a:solidFill>
                <a:effectLst>
                  <a:outerShdw blurRad="38100" dist="38100" dir="2700000" algn="tl">
                    <a:srgbClr val="000000"/>
                  </a:outerShdw>
                </a:effectLst>
                <a:latin typeface="Arial" charset="0"/>
              </a:rPr>
              <a:t>}   </a:t>
            </a:r>
            <a:r>
              <a:rPr lang="zh-CN" altLang="en-US" sz="2800" baseline="0" dirty="0">
                <a:solidFill>
                  <a:srgbClr val="00FFFF"/>
                </a:solidFill>
                <a:effectLst>
                  <a:outerShdw blurRad="38100" dist="38100" dir="2700000" algn="tl">
                    <a:srgbClr val="000000"/>
                  </a:outerShdw>
                </a:effectLst>
                <a:latin typeface="Arial" charset="0"/>
              </a:rPr>
              <a:t>Z</a:t>
            </a:r>
            <a:r>
              <a:rPr lang="en-US" altLang="zh-CN" sz="2800" baseline="0" dirty="0">
                <a:solidFill>
                  <a:srgbClr val="00FFFF"/>
                </a:solidFill>
                <a:effectLst>
                  <a:outerShdw blurRad="38100" dist="38100" dir="2700000" algn="tl">
                    <a:srgbClr val="000000"/>
                  </a:outerShdw>
                </a:effectLst>
                <a:latin typeface="Arial" charset="0"/>
              </a:rPr>
              <a:t>={</a:t>
            </a:r>
            <a:r>
              <a:rPr lang="zh-CN" altLang="en-US" sz="2800" baseline="0" dirty="0">
                <a:solidFill>
                  <a:srgbClr val="00FFFF"/>
                </a:solidFill>
                <a:effectLst>
                  <a:outerShdw blurRad="38100" dist="38100" dir="2700000" algn="tl">
                    <a:srgbClr val="000000"/>
                  </a:outerShdw>
                </a:effectLst>
                <a:latin typeface="Arial" charset="0"/>
              </a:rPr>
              <a:t>课程名</a:t>
            </a:r>
            <a:r>
              <a:rPr lang="en-US" altLang="zh-CN" sz="2800" baseline="0" dirty="0">
                <a:solidFill>
                  <a:srgbClr val="00FFFF"/>
                </a:solidFill>
                <a:effectLst>
                  <a:outerShdw blurRad="38100" dist="38100" dir="2700000" algn="tl">
                    <a:srgbClr val="000000"/>
                  </a:outerShdw>
                </a:effectLst>
                <a:latin typeface="Arial" charset="0"/>
              </a:rPr>
              <a:t>,</a:t>
            </a:r>
            <a:r>
              <a:rPr lang="zh-CN" altLang="en-US" sz="2800" baseline="0" dirty="0">
                <a:solidFill>
                  <a:srgbClr val="00FFFF"/>
                </a:solidFill>
                <a:effectLst>
                  <a:outerShdw blurRad="38100" dist="38100" dir="2700000" algn="tl">
                    <a:srgbClr val="000000"/>
                  </a:outerShdw>
                </a:effectLst>
                <a:latin typeface="Arial" charset="0"/>
              </a:rPr>
              <a:t>学分</a:t>
            </a:r>
            <a:r>
              <a:rPr lang="en-US" altLang="zh-CN" sz="2800" baseline="0" dirty="0">
                <a:solidFill>
                  <a:srgbClr val="00FFFF"/>
                </a:solidFill>
                <a:effectLst>
                  <a:outerShdw blurRad="38100" dist="38100" dir="2700000" algn="tl">
                    <a:srgbClr val="000000"/>
                  </a:outerShdw>
                </a:effectLst>
                <a:latin typeface="Arial" charset="0"/>
              </a:rPr>
              <a:t>}</a:t>
            </a:r>
            <a:r>
              <a:rPr lang="zh-CN" altLang="zh-CN" sz="2800" baseline="0" dirty="0">
                <a:solidFill>
                  <a:srgbClr val="00FFFF"/>
                </a:solidFill>
                <a:effectLst>
                  <a:outerShdw blurRad="38100" dist="38100" dir="2700000" algn="tl">
                    <a:srgbClr val="000000"/>
                  </a:outerShdw>
                </a:effectLst>
                <a:latin typeface="Arial" charset="0"/>
              </a:rPr>
              <a:t> </a:t>
            </a:r>
            <a:endParaRPr lang="en-US" altLang="zh-CN" sz="2800" baseline="0" dirty="0">
              <a:solidFill>
                <a:srgbClr val="00FFFF"/>
              </a:solidFill>
              <a:effectLst>
                <a:outerShdw blurRad="38100" dist="38100" dir="2700000" algn="tl">
                  <a:srgbClr val="000000"/>
                </a:outerShdw>
              </a:effectLst>
              <a:latin typeface="Arial" charset="0"/>
            </a:endParaRPr>
          </a:p>
        </p:txBody>
      </p:sp>
      <p:sp>
        <p:nvSpPr>
          <p:cNvPr id="48" name="Rectangle 72"/>
          <p:cNvSpPr>
            <a:spLocks noChangeArrowheads="1"/>
          </p:cNvSpPr>
          <p:nvPr/>
        </p:nvSpPr>
        <p:spPr bwMode="auto">
          <a:xfrm>
            <a:off x="3110136" y="1736946"/>
            <a:ext cx="3121812" cy="861774"/>
          </a:xfrm>
          <a:prstGeom prst="rect">
            <a:avLst/>
          </a:prstGeom>
          <a:noFill/>
          <a:ln w="12700" cap="sq">
            <a:noFill/>
            <a:miter lim="800000"/>
            <a:headEnd/>
            <a:tailEnd/>
          </a:ln>
          <a:effectLst/>
        </p:spPr>
        <p:txBody>
          <a:bodyPr wrap="square" lIns="0" tIns="0" rIns="0" bIns="0">
            <a:spAutoFit/>
          </a:bodyPr>
          <a:lstStyle/>
          <a:p>
            <a:pPr>
              <a:defRPr/>
            </a:pP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⑴</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 </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en-US" altLang="zh-CN" sz="2800" dirty="0">
                <a:solidFill>
                  <a:srgbClr val="FFFF00"/>
                </a:solidFill>
                <a:effectLst>
                  <a:outerShdw blurRad="38100" dist="38100" dir="2700000" algn="tl">
                    <a:srgbClr val="000000"/>
                  </a:outerShdw>
                </a:effectLst>
                <a:latin typeface="Times New Roman" pitchFamily="18" charset="0"/>
                <a:cs typeface="Times New Roman" pitchFamily="18" charset="0"/>
              </a:rPr>
              <a:t>X</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R</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求出</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R</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中的全部</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X</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值</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 </a:t>
            </a:r>
            <a:endPar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endParaRPr>
          </a:p>
        </p:txBody>
      </p:sp>
      <p:graphicFrame>
        <p:nvGraphicFramePr>
          <p:cNvPr id="49" name="Group 77"/>
          <p:cNvGraphicFramePr>
            <a:graphicFrameLocks noGrp="1"/>
          </p:cNvGraphicFramePr>
          <p:nvPr>
            <p:extLst>
              <p:ext uri="{D42A27DB-BD31-4B8C-83A1-F6EECF244321}">
                <p14:modId xmlns:p14="http://schemas.microsoft.com/office/powerpoint/2010/main" val="2068972001"/>
              </p:ext>
            </p:extLst>
          </p:nvPr>
        </p:nvGraphicFramePr>
        <p:xfrm>
          <a:off x="4588186" y="2278896"/>
          <a:ext cx="863600" cy="1219200"/>
        </p:xfrm>
        <a:graphic>
          <a:graphicData uri="http://schemas.openxmlformats.org/drawingml/2006/table">
            <a:tbl>
              <a:tblPr/>
              <a:tblGrid>
                <a:gridCol w="863600">
                  <a:extLst>
                    <a:ext uri="{9D8B030D-6E8A-4147-A177-3AD203B41FA5}">
                      <a16:colId xmlns:a16="http://schemas.microsoft.com/office/drawing/2014/main" val="20000"/>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50" name="Rectangle 73"/>
          <p:cNvSpPr>
            <a:spLocks noChangeArrowheads="1"/>
          </p:cNvSpPr>
          <p:nvPr/>
        </p:nvSpPr>
        <p:spPr bwMode="auto">
          <a:xfrm>
            <a:off x="7464152" y="1712662"/>
            <a:ext cx="3751027" cy="430887"/>
          </a:xfrm>
          <a:prstGeom prst="rect">
            <a:avLst/>
          </a:prstGeom>
          <a:noFill/>
          <a:ln w="12700" cap="sq">
            <a:noFill/>
            <a:miter lim="800000"/>
            <a:headEnd/>
            <a:tailEnd/>
          </a:ln>
          <a:effectLst/>
        </p:spPr>
        <p:txBody>
          <a:bodyPr wrap="none" lIns="0" tIns="0" rIns="0" bIns="0">
            <a:spAutoFit/>
          </a:bodyPr>
          <a:lstStyle/>
          <a:p>
            <a:pPr>
              <a:spcAft>
                <a:spcPct val="0"/>
              </a:spcAft>
              <a:buSzTx/>
              <a:buFontTx/>
              <a:buNone/>
              <a:defRPr/>
            </a:pP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⑵ </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求出各</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X</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值的像集</a:t>
            </a:r>
            <a:r>
              <a:rPr lang="en-US" altLang="zh-CN" sz="2800" baseline="0" dirty="0" err="1">
                <a:solidFill>
                  <a:srgbClr val="FFFF00"/>
                </a:solidFill>
                <a:effectLst>
                  <a:outerShdw blurRad="38100" dist="38100" dir="2700000" algn="tl">
                    <a:srgbClr val="000000"/>
                  </a:outerShdw>
                </a:effectLst>
                <a:latin typeface="Times New Roman" pitchFamily="18" charset="0"/>
                <a:cs typeface="Times New Roman" pitchFamily="18" charset="0"/>
              </a:rPr>
              <a:t>Yx</a:t>
            </a:r>
            <a:endPar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endParaRPr>
          </a:p>
        </p:txBody>
      </p:sp>
      <p:graphicFrame>
        <p:nvGraphicFramePr>
          <p:cNvPr id="51" name="Group 146"/>
          <p:cNvGraphicFramePr>
            <a:graphicFrameLocks noGrp="1"/>
          </p:cNvGraphicFramePr>
          <p:nvPr>
            <p:extLst>
              <p:ext uri="{D42A27DB-BD31-4B8C-83A1-F6EECF244321}">
                <p14:modId xmlns:p14="http://schemas.microsoft.com/office/powerpoint/2010/main" val="37192455"/>
              </p:ext>
            </p:extLst>
          </p:nvPr>
        </p:nvGraphicFramePr>
        <p:xfrm>
          <a:off x="7911895" y="2684250"/>
          <a:ext cx="929423" cy="1219200"/>
        </p:xfrm>
        <a:graphic>
          <a:graphicData uri="http://schemas.openxmlformats.org/drawingml/2006/table">
            <a:tbl>
              <a:tblPr/>
              <a:tblGrid>
                <a:gridCol w="929423">
                  <a:extLst>
                    <a:ext uri="{9D8B030D-6E8A-4147-A177-3AD203B41FA5}">
                      <a16:colId xmlns:a16="http://schemas.microsoft.com/office/drawing/2014/main" val="20001"/>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52" name="Rectangle 71"/>
          <p:cNvSpPr>
            <a:spLocks noChangeArrowheads="1"/>
          </p:cNvSpPr>
          <p:nvPr/>
        </p:nvSpPr>
        <p:spPr bwMode="auto">
          <a:xfrm>
            <a:off x="7962182" y="2208254"/>
            <a:ext cx="633187" cy="369332"/>
          </a:xfrm>
          <a:prstGeom prst="rect">
            <a:avLst/>
          </a:prstGeom>
          <a:noFill/>
          <a:ln w="12700" cap="sq">
            <a:noFill/>
            <a:miter lim="800000"/>
            <a:headEnd/>
            <a:tailEnd/>
          </a:ln>
          <a:effectLst/>
        </p:spPr>
        <p:txBody>
          <a:bodyPr wrap="none" lIns="0" tIns="0" rIns="0" bIns="0">
            <a:spAutoFit/>
          </a:bodyPr>
          <a:lstStyle/>
          <a:p>
            <a:pPr>
              <a:spcAft>
                <a:spcPct val="0"/>
              </a:spcAft>
              <a:defRPr/>
            </a:pPr>
            <a:r>
              <a:rPr lang="en-US" altLang="zh-CN" sz="2400" baseline="0" dirty="0">
                <a:solidFill>
                  <a:srgbClr val="99FF33"/>
                </a:solidFill>
                <a:effectLst>
                  <a:outerShdw blurRad="38100" dist="38100" dir="2700000" algn="tl">
                    <a:srgbClr val="000000"/>
                  </a:outerShdw>
                </a:effectLst>
                <a:latin typeface="Times New Roman" pitchFamily="18" charset="0"/>
                <a:cs typeface="Times New Roman" pitchFamily="18" charset="0"/>
              </a:rPr>
              <a:t>Y</a:t>
            </a:r>
            <a:r>
              <a:rPr lang="zh-CN" altLang="en-US" sz="2400" dirty="0">
                <a:solidFill>
                  <a:srgbClr val="99FF33"/>
                </a:solidFill>
                <a:effectLst>
                  <a:outerShdw blurRad="38100" dist="38100" dir="2700000" algn="tl">
                    <a:srgbClr val="000000"/>
                  </a:outerShdw>
                </a:effectLst>
                <a:latin typeface="Times New Roman" pitchFamily="18" charset="0"/>
                <a:cs typeface="Times New Roman" pitchFamily="18" charset="0"/>
              </a:rPr>
              <a:t>张三</a:t>
            </a:r>
            <a:endParaRPr lang="en-US" altLang="zh-CN" sz="2400" dirty="0">
              <a:solidFill>
                <a:srgbClr val="99FF33"/>
              </a:solidFill>
              <a:effectLst>
                <a:outerShdw blurRad="38100" dist="38100" dir="2700000" algn="tl">
                  <a:srgbClr val="000000"/>
                </a:outerShdw>
              </a:effectLst>
              <a:latin typeface="Times New Roman" pitchFamily="18" charset="0"/>
              <a:cs typeface="Times New Roman" pitchFamily="18" charset="0"/>
            </a:endParaRPr>
          </a:p>
        </p:txBody>
      </p:sp>
      <p:graphicFrame>
        <p:nvGraphicFramePr>
          <p:cNvPr id="53" name="Group 146"/>
          <p:cNvGraphicFramePr>
            <a:graphicFrameLocks noGrp="1"/>
          </p:cNvGraphicFramePr>
          <p:nvPr>
            <p:extLst>
              <p:ext uri="{D42A27DB-BD31-4B8C-83A1-F6EECF244321}">
                <p14:modId xmlns:p14="http://schemas.microsoft.com/office/powerpoint/2010/main" val="970430401"/>
              </p:ext>
            </p:extLst>
          </p:nvPr>
        </p:nvGraphicFramePr>
        <p:xfrm>
          <a:off x="9091688" y="2635544"/>
          <a:ext cx="929423" cy="914400"/>
        </p:xfrm>
        <a:graphic>
          <a:graphicData uri="http://schemas.openxmlformats.org/drawingml/2006/table">
            <a:tbl>
              <a:tblPr/>
              <a:tblGrid>
                <a:gridCol w="929423">
                  <a:extLst>
                    <a:ext uri="{9D8B030D-6E8A-4147-A177-3AD203B41FA5}">
                      <a16:colId xmlns:a16="http://schemas.microsoft.com/office/drawing/2014/main" val="20001"/>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bl>
          </a:graphicData>
        </a:graphic>
      </p:graphicFrame>
      <p:sp>
        <p:nvSpPr>
          <p:cNvPr id="54" name="Rectangle 71"/>
          <p:cNvSpPr>
            <a:spLocks noChangeArrowheads="1"/>
          </p:cNvSpPr>
          <p:nvPr/>
        </p:nvSpPr>
        <p:spPr bwMode="auto">
          <a:xfrm>
            <a:off x="9141975" y="2159548"/>
            <a:ext cx="633187" cy="369332"/>
          </a:xfrm>
          <a:prstGeom prst="rect">
            <a:avLst/>
          </a:prstGeom>
          <a:noFill/>
          <a:ln w="12700" cap="sq">
            <a:noFill/>
            <a:miter lim="800000"/>
            <a:headEnd/>
            <a:tailEnd/>
          </a:ln>
          <a:effectLst/>
        </p:spPr>
        <p:txBody>
          <a:bodyPr wrap="none" lIns="0" tIns="0" rIns="0" bIns="0">
            <a:spAutoFit/>
          </a:bodyPr>
          <a:lstStyle/>
          <a:p>
            <a:pPr>
              <a:spcAft>
                <a:spcPct val="0"/>
              </a:spcAft>
              <a:defRPr/>
            </a:pPr>
            <a:r>
              <a:rPr lang="en-US" altLang="zh-CN" sz="2400" baseline="0" dirty="0">
                <a:solidFill>
                  <a:srgbClr val="99FF33"/>
                </a:solidFill>
                <a:effectLst>
                  <a:outerShdw blurRad="38100" dist="38100" dir="2700000" algn="tl">
                    <a:srgbClr val="000000"/>
                  </a:outerShdw>
                </a:effectLst>
                <a:latin typeface="Times New Roman" pitchFamily="18" charset="0"/>
                <a:cs typeface="Times New Roman" pitchFamily="18" charset="0"/>
              </a:rPr>
              <a:t>Y</a:t>
            </a:r>
            <a:r>
              <a:rPr lang="zh-CN" altLang="en-US" sz="2400" dirty="0">
                <a:solidFill>
                  <a:srgbClr val="99FF33"/>
                </a:solidFill>
                <a:effectLst>
                  <a:outerShdw blurRad="38100" dist="38100" dir="2700000" algn="tl">
                    <a:srgbClr val="000000"/>
                  </a:outerShdw>
                </a:effectLst>
                <a:latin typeface="Times New Roman" pitchFamily="18" charset="0"/>
                <a:cs typeface="Times New Roman" pitchFamily="18" charset="0"/>
              </a:rPr>
              <a:t>李四</a:t>
            </a:r>
            <a:endParaRPr lang="en-US" altLang="zh-CN" sz="2400" dirty="0">
              <a:solidFill>
                <a:srgbClr val="99FF33"/>
              </a:solidFill>
              <a:effectLst>
                <a:outerShdw blurRad="38100" dist="38100" dir="2700000" algn="tl">
                  <a:srgbClr val="000000"/>
                </a:outerShdw>
              </a:effectLst>
              <a:latin typeface="Times New Roman" pitchFamily="18" charset="0"/>
              <a:cs typeface="Times New Roman" pitchFamily="18" charset="0"/>
            </a:endParaRPr>
          </a:p>
        </p:txBody>
      </p:sp>
      <p:graphicFrame>
        <p:nvGraphicFramePr>
          <p:cNvPr id="55" name="Group 146"/>
          <p:cNvGraphicFramePr>
            <a:graphicFrameLocks noGrp="1"/>
          </p:cNvGraphicFramePr>
          <p:nvPr>
            <p:extLst>
              <p:ext uri="{D42A27DB-BD31-4B8C-83A1-F6EECF244321}">
                <p14:modId xmlns:p14="http://schemas.microsoft.com/office/powerpoint/2010/main" val="1073096107"/>
              </p:ext>
            </p:extLst>
          </p:nvPr>
        </p:nvGraphicFramePr>
        <p:xfrm>
          <a:off x="10271481" y="2635544"/>
          <a:ext cx="929423" cy="609600"/>
        </p:xfrm>
        <a:graphic>
          <a:graphicData uri="http://schemas.openxmlformats.org/drawingml/2006/table">
            <a:tbl>
              <a:tblPr/>
              <a:tblGrid>
                <a:gridCol w="929423">
                  <a:extLst>
                    <a:ext uri="{9D8B030D-6E8A-4147-A177-3AD203B41FA5}">
                      <a16:colId xmlns:a16="http://schemas.microsoft.com/office/drawing/2014/main" val="20001"/>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bl>
          </a:graphicData>
        </a:graphic>
      </p:graphicFrame>
      <p:sp>
        <p:nvSpPr>
          <p:cNvPr id="56" name="Rectangle 71"/>
          <p:cNvSpPr>
            <a:spLocks noChangeArrowheads="1"/>
          </p:cNvSpPr>
          <p:nvPr/>
        </p:nvSpPr>
        <p:spPr bwMode="auto">
          <a:xfrm>
            <a:off x="10321768" y="2159548"/>
            <a:ext cx="633187" cy="369332"/>
          </a:xfrm>
          <a:prstGeom prst="rect">
            <a:avLst/>
          </a:prstGeom>
          <a:noFill/>
          <a:ln w="12700" cap="sq">
            <a:noFill/>
            <a:miter lim="800000"/>
            <a:headEnd/>
            <a:tailEnd/>
          </a:ln>
          <a:effectLst/>
        </p:spPr>
        <p:txBody>
          <a:bodyPr wrap="none" lIns="0" tIns="0" rIns="0" bIns="0">
            <a:spAutoFit/>
          </a:bodyPr>
          <a:lstStyle/>
          <a:p>
            <a:pPr>
              <a:spcAft>
                <a:spcPct val="0"/>
              </a:spcAft>
              <a:defRPr/>
            </a:pPr>
            <a:r>
              <a:rPr lang="en-US" altLang="zh-CN" sz="2400" baseline="0" dirty="0">
                <a:solidFill>
                  <a:srgbClr val="99FF33"/>
                </a:solidFill>
                <a:effectLst>
                  <a:outerShdw blurRad="38100" dist="38100" dir="2700000" algn="tl">
                    <a:srgbClr val="000000"/>
                  </a:outerShdw>
                </a:effectLst>
                <a:latin typeface="Times New Roman" pitchFamily="18" charset="0"/>
                <a:cs typeface="Times New Roman" pitchFamily="18" charset="0"/>
              </a:rPr>
              <a:t>Y</a:t>
            </a:r>
            <a:r>
              <a:rPr lang="zh-CN" altLang="en-US" sz="2400" dirty="0">
                <a:solidFill>
                  <a:srgbClr val="99FF33"/>
                </a:solidFill>
                <a:effectLst>
                  <a:outerShdw blurRad="38100" dist="38100" dir="2700000" algn="tl">
                    <a:srgbClr val="000000"/>
                  </a:outerShdw>
                </a:effectLst>
                <a:latin typeface="Times New Roman" pitchFamily="18" charset="0"/>
                <a:cs typeface="Times New Roman" pitchFamily="18" charset="0"/>
              </a:rPr>
              <a:t>王五</a:t>
            </a:r>
            <a:endParaRPr lang="en-US" altLang="zh-CN" sz="2400" dirty="0">
              <a:solidFill>
                <a:srgbClr val="99FF33"/>
              </a:solidFill>
              <a:effectLst>
                <a:outerShdw blurRad="38100" dist="38100" dir="2700000" algn="tl">
                  <a:srgbClr val="000000"/>
                </a:outerShdw>
              </a:effectLst>
              <a:latin typeface="Times New Roman" pitchFamily="18" charset="0"/>
              <a:cs typeface="Times New Roman" pitchFamily="18" charset="0"/>
            </a:endParaRPr>
          </a:p>
        </p:txBody>
      </p:sp>
      <p:sp>
        <p:nvSpPr>
          <p:cNvPr id="57" name="Rectangle 72"/>
          <p:cNvSpPr>
            <a:spLocks noChangeArrowheads="1"/>
          </p:cNvSpPr>
          <p:nvPr/>
        </p:nvSpPr>
        <p:spPr bwMode="auto">
          <a:xfrm>
            <a:off x="3876018" y="4464483"/>
            <a:ext cx="3076747" cy="861774"/>
          </a:xfrm>
          <a:prstGeom prst="rect">
            <a:avLst/>
          </a:prstGeom>
          <a:noFill/>
          <a:ln w="12700" cap="sq">
            <a:noFill/>
            <a:miter lim="800000"/>
            <a:headEnd/>
            <a:tailEnd/>
          </a:ln>
          <a:effectLst/>
        </p:spPr>
        <p:txBody>
          <a:bodyPr wrap="square" lIns="0" tIns="0" rIns="0" bIns="0">
            <a:spAutoFit/>
          </a:bodyPr>
          <a:lstStyle/>
          <a:p>
            <a:pPr>
              <a:defRPr/>
            </a:pP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⑶ </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en-US" altLang="zh-CN" sz="2800" dirty="0">
                <a:solidFill>
                  <a:srgbClr val="FFFF00"/>
                </a:solidFill>
                <a:effectLst>
                  <a:outerShdw blurRad="38100" dist="38100" dir="2700000" algn="tl">
                    <a:srgbClr val="000000"/>
                  </a:outerShdw>
                </a:effectLst>
                <a:latin typeface="Times New Roman" pitchFamily="18" charset="0"/>
                <a:cs typeface="Times New Roman" pitchFamily="18" charset="0"/>
              </a:rPr>
              <a:t>Y</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S</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求出</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S</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中的全部</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Y</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值</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 </a:t>
            </a:r>
            <a:endPar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endParaRPr>
          </a:p>
        </p:txBody>
      </p:sp>
      <p:graphicFrame>
        <p:nvGraphicFramePr>
          <p:cNvPr id="58" name="Group 77"/>
          <p:cNvGraphicFramePr>
            <a:graphicFrameLocks noGrp="1"/>
          </p:cNvGraphicFramePr>
          <p:nvPr>
            <p:extLst>
              <p:ext uri="{D42A27DB-BD31-4B8C-83A1-F6EECF244321}">
                <p14:modId xmlns:p14="http://schemas.microsoft.com/office/powerpoint/2010/main" val="2214350196"/>
              </p:ext>
            </p:extLst>
          </p:nvPr>
        </p:nvGraphicFramePr>
        <p:xfrm>
          <a:off x="5582275" y="5099535"/>
          <a:ext cx="1012787" cy="1219200"/>
        </p:xfrm>
        <a:graphic>
          <a:graphicData uri="http://schemas.openxmlformats.org/drawingml/2006/table">
            <a:tbl>
              <a:tblPr/>
              <a:tblGrid>
                <a:gridCol w="1012787">
                  <a:extLst>
                    <a:ext uri="{9D8B030D-6E8A-4147-A177-3AD203B41FA5}">
                      <a16:colId xmlns:a16="http://schemas.microsoft.com/office/drawing/2014/main" val="20000"/>
                    </a:ext>
                  </a:extLst>
                </a:gridCol>
              </a:tblGrid>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课程</a:t>
                      </a: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K01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K02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274241">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K03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bl>
          </a:graphicData>
        </a:graphic>
      </p:graphicFrame>
      <p:sp>
        <p:nvSpPr>
          <p:cNvPr id="59" name="Rectangle 75"/>
          <p:cNvSpPr>
            <a:spLocks noChangeArrowheads="1"/>
          </p:cNvSpPr>
          <p:nvPr/>
        </p:nvSpPr>
        <p:spPr bwMode="auto">
          <a:xfrm>
            <a:off x="7739679" y="4895370"/>
            <a:ext cx="3476043" cy="861774"/>
          </a:xfrm>
          <a:prstGeom prst="rect">
            <a:avLst/>
          </a:prstGeom>
          <a:noFill/>
          <a:ln w="12700" cap="sq">
            <a:noFill/>
            <a:miter lim="800000"/>
            <a:headEnd/>
            <a:tailEnd/>
          </a:ln>
          <a:effectLst/>
        </p:spPr>
        <p:txBody>
          <a:bodyPr wrap="square" lIns="0" tIns="0" rIns="0" bIns="0">
            <a:spAutoFit/>
          </a:bodyPr>
          <a:lstStyle/>
          <a:p>
            <a:pPr marL="444500" indent="-444500">
              <a:buClr>
                <a:srgbClr val="66FF33"/>
              </a:buClr>
              <a:buSzPct val="85000"/>
              <a:defRPr/>
            </a:pP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⑷ 收集</a:t>
            </a:r>
            <a:r>
              <a:rPr lang="en-US" altLang="zh-CN" sz="2800" baseline="0" dirty="0" err="1">
                <a:solidFill>
                  <a:srgbClr val="FFFF00"/>
                </a:solidFill>
                <a:effectLst>
                  <a:outerShdw blurRad="38100" dist="38100" dir="2700000" algn="tl">
                    <a:srgbClr val="000000"/>
                  </a:outerShdw>
                </a:effectLst>
                <a:latin typeface="Times New Roman" pitchFamily="18" charset="0"/>
                <a:cs typeface="Times New Roman" pitchFamily="18" charset="0"/>
              </a:rPr>
              <a:t>Yx</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包含∏</a:t>
            </a:r>
            <a:r>
              <a:rPr lang="en-US" altLang="zh-CN" sz="2800" dirty="0">
                <a:solidFill>
                  <a:srgbClr val="FFFF00"/>
                </a:solidFill>
                <a:effectLst>
                  <a:outerShdw blurRad="38100" dist="38100" dir="2700000" algn="tl">
                    <a:srgbClr val="000000"/>
                  </a:outerShdw>
                </a:effectLst>
                <a:latin typeface="Times New Roman" pitchFamily="18" charset="0"/>
                <a:cs typeface="Times New Roman" pitchFamily="18" charset="0"/>
              </a:rPr>
              <a:t>Y</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S</a:t>
            </a:r>
            <a:r>
              <a:rPr lang="zh-CN"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a:t>
            </a:r>
            <a:r>
              <a:rPr lang="zh-CN" altLang="en-US"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的所有</a:t>
            </a:r>
            <a:r>
              <a:rPr lang="en-US" altLang="zh-CN" sz="2800" baseline="0" dirty="0">
                <a:solidFill>
                  <a:srgbClr val="FFFF00"/>
                </a:solidFill>
                <a:effectLst>
                  <a:outerShdw blurRad="38100" dist="38100" dir="2700000" algn="tl">
                    <a:srgbClr val="000000"/>
                  </a:outerShdw>
                </a:effectLst>
                <a:latin typeface="Times New Roman" pitchFamily="18" charset="0"/>
                <a:cs typeface="Times New Roman" pitchFamily="18" charset="0"/>
              </a:rPr>
              <a:t>x</a:t>
            </a:r>
          </a:p>
        </p:txBody>
      </p:sp>
      <p:graphicFrame>
        <p:nvGraphicFramePr>
          <p:cNvPr id="60" name="Group 176"/>
          <p:cNvGraphicFramePr>
            <a:graphicFrameLocks noGrp="1"/>
          </p:cNvGraphicFramePr>
          <p:nvPr>
            <p:extLst>
              <p:ext uri="{D42A27DB-BD31-4B8C-83A1-F6EECF244321}">
                <p14:modId xmlns:p14="http://schemas.microsoft.com/office/powerpoint/2010/main" val="65503630"/>
              </p:ext>
            </p:extLst>
          </p:nvPr>
        </p:nvGraphicFramePr>
        <p:xfrm>
          <a:off x="10043935" y="5553676"/>
          <a:ext cx="639763" cy="609600"/>
        </p:xfrm>
        <a:graphic>
          <a:graphicData uri="http://schemas.openxmlformats.org/drawingml/2006/table">
            <a:tbl>
              <a:tblPr/>
              <a:tblGrid>
                <a:gridCol w="639763">
                  <a:extLst>
                    <a:ext uri="{9D8B030D-6E8A-4147-A177-3AD203B41FA5}">
                      <a16:colId xmlns:a16="http://schemas.microsoft.com/office/drawing/2014/main" val="20000"/>
                    </a:ext>
                  </a:extLst>
                </a:gridCol>
              </a:tblGrid>
              <a:tr h="18659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2746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8520650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8"/>
                                        </p:tgtEl>
                                        <p:attrNameLst>
                                          <p:attrName>style.visibility</p:attrName>
                                        </p:attrNameLst>
                                      </p:cBhvr>
                                      <p:to>
                                        <p:strVal val="visible"/>
                                      </p:to>
                                    </p:set>
                                    <p:animEffect transition="in" filter="fade">
                                      <p:cBhvr>
                                        <p:cTn id="14" dur="1000"/>
                                        <p:tgtEl>
                                          <p:spTgt spid="48"/>
                                        </p:tgtEl>
                                      </p:cBhvr>
                                    </p:animEffect>
                                    <p:anim calcmode="lin" valueType="num">
                                      <p:cBhvr>
                                        <p:cTn id="15" dur="1000" fill="hold"/>
                                        <p:tgtEl>
                                          <p:spTgt spid="48"/>
                                        </p:tgtEl>
                                        <p:attrNameLst>
                                          <p:attrName>ppt_x</p:attrName>
                                        </p:attrNameLst>
                                      </p:cBhvr>
                                      <p:tavLst>
                                        <p:tav tm="0">
                                          <p:val>
                                            <p:strVal val="#ppt_x"/>
                                          </p:val>
                                        </p:tav>
                                        <p:tav tm="100000">
                                          <p:val>
                                            <p:strVal val="#ppt_x"/>
                                          </p:val>
                                        </p:tav>
                                      </p:tavLst>
                                    </p:anim>
                                    <p:anim calcmode="lin" valueType="num">
                                      <p:cBhvr>
                                        <p:cTn id="16" dur="1000" fill="hold"/>
                                        <p:tgtEl>
                                          <p:spTgt spid="4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1000"/>
                                        <p:tgtEl>
                                          <p:spTgt spid="49"/>
                                        </p:tgtEl>
                                      </p:cBhvr>
                                    </p:animEffect>
                                    <p:anim calcmode="lin" valueType="num">
                                      <p:cBhvr>
                                        <p:cTn id="20" dur="1000" fill="hold"/>
                                        <p:tgtEl>
                                          <p:spTgt spid="49"/>
                                        </p:tgtEl>
                                        <p:attrNameLst>
                                          <p:attrName>ppt_x</p:attrName>
                                        </p:attrNameLst>
                                      </p:cBhvr>
                                      <p:tavLst>
                                        <p:tav tm="0">
                                          <p:val>
                                            <p:strVal val="#ppt_x"/>
                                          </p:val>
                                        </p:tav>
                                        <p:tav tm="100000">
                                          <p:val>
                                            <p:strVal val="#ppt_x"/>
                                          </p:val>
                                        </p:tav>
                                      </p:tavLst>
                                    </p:anim>
                                    <p:anim calcmode="lin" valueType="num">
                                      <p:cBhvr>
                                        <p:cTn id="21"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up)">
                                      <p:cBhvr>
                                        <p:cTn id="26" dur="500"/>
                                        <p:tgtEl>
                                          <p:spTgt spid="50"/>
                                        </p:tgtEl>
                                      </p:cBhvr>
                                    </p:animEffect>
                                  </p:childTnLst>
                                </p:cTn>
                              </p:par>
                              <p:par>
                                <p:cTn id="27" presetID="22" presetClass="entr" presetSubtype="1"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wipe(up)">
                                      <p:cBhvr>
                                        <p:cTn id="29" dur="500"/>
                                        <p:tgtEl>
                                          <p:spTgt spid="51"/>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up)">
                                      <p:cBhvr>
                                        <p:cTn id="32" dur="500"/>
                                        <p:tgtEl>
                                          <p:spTgt spid="52"/>
                                        </p:tgtEl>
                                      </p:cBhvr>
                                    </p:animEffect>
                                  </p:childTnLst>
                                </p:cTn>
                              </p:par>
                              <p:par>
                                <p:cTn id="33" presetID="22" presetClass="entr" presetSubtype="1" fill="hold" nodeType="with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wipe(up)">
                                      <p:cBhvr>
                                        <p:cTn id="35" dur="500"/>
                                        <p:tgtEl>
                                          <p:spTgt spid="53"/>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wipe(up)">
                                      <p:cBhvr>
                                        <p:cTn id="38" dur="500"/>
                                        <p:tgtEl>
                                          <p:spTgt spid="54"/>
                                        </p:tgtEl>
                                      </p:cBhvr>
                                    </p:animEffect>
                                  </p:childTnLst>
                                </p:cTn>
                              </p:par>
                              <p:par>
                                <p:cTn id="39" presetID="22" presetClass="entr" presetSubtype="1" fill="hold" nodeType="with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wipe(up)">
                                      <p:cBhvr>
                                        <p:cTn id="41" dur="500"/>
                                        <p:tgtEl>
                                          <p:spTgt spid="55"/>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wipe(up)">
                                      <p:cBhvr>
                                        <p:cTn id="44" dur="500"/>
                                        <p:tgtEl>
                                          <p:spTgt spid="56"/>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1000"/>
                                        <p:tgtEl>
                                          <p:spTgt spid="57"/>
                                        </p:tgtEl>
                                      </p:cBhvr>
                                    </p:animEffect>
                                    <p:anim calcmode="lin" valueType="num">
                                      <p:cBhvr>
                                        <p:cTn id="50" dur="1000" fill="hold"/>
                                        <p:tgtEl>
                                          <p:spTgt spid="57"/>
                                        </p:tgtEl>
                                        <p:attrNameLst>
                                          <p:attrName>ppt_x</p:attrName>
                                        </p:attrNameLst>
                                      </p:cBhvr>
                                      <p:tavLst>
                                        <p:tav tm="0">
                                          <p:val>
                                            <p:strVal val="#ppt_x"/>
                                          </p:val>
                                        </p:tav>
                                        <p:tav tm="100000">
                                          <p:val>
                                            <p:strVal val="#ppt_x"/>
                                          </p:val>
                                        </p:tav>
                                      </p:tavLst>
                                    </p:anim>
                                    <p:anim calcmode="lin" valueType="num">
                                      <p:cBhvr>
                                        <p:cTn id="51" dur="1000" fill="hold"/>
                                        <p:tgtEl>
                                          <p:spTgt spid="57"/>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1000"/>
                                        <p:tgtEl>
                                          <p:spTgt spid="58"/>
                                        </p:tgtEl>
                                      </p:cBhvr>
                                    </p:animEffect>
                                    <p:anim calcmode="lin" valueType="num">
                                      <p:cBhvr>
                                        <p:cTn id="55" dur="1000" fill="hold"/>
                                        <p:tgtEl>
                                          <p:spTgt spid="58"/>
                                        </p:tgtEl>
                                        <p:attrNameLst>
                                          <p:attrName>ppt_x</p:attrName>
                                        </p:attrNameLst>
                                      </p:cBhvr>
                                      <p:tavLst>
                                        <p:tav tm="0">
                                          <p:val>
                                            <p:strVal val="#ppt_x"/>
                                          </p:val>
                                        </p:tav>
                                        <p:tav tm="100000">
                                          <p:val>
                                            <p:strVal val="#ppt_x"/>
                                          </p:val>
                                        </p:tav>
                                      </p:tavLst>
                                    </p:anim>
                                    <p:anim calcmode="lin" valueType="num">
                                      <p:cBhvr>
                                        <p:cTn id="56"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1000"/>
                                        <p:tgtEl>
                                          <p:spTgt spid="59"/>
                                        </p:tgtEl>
                                      </p:cBhvr>
                                    </p:animEffect>
                                    <p:anim calcmode="lin" valueType="num">
                                      <p:cBhvr>
                                        <p:cTn id="62" dur="1000" fill="hold"/>
                                        <p:tgtEl>
                                          <p:spTgt spid="59"/>
                                        </p:tgtEl>
                                        <p:attrNameLst>
                                          <p:attrName>ppt_x</p:attrName>
                                        </p:attrNameLst>
                                      </p:cBhvr>
                                      <p:tavLst>
                                        <p:tav tm="0">
                                          <p:val>
                                            <p:strVal val="#ppt_x"/>
                                          </p:val>
                                        </p:tav>
                                        <p:tav tm="100000">
                                          <p:val>
                                            <p:strVal val="#ppt_x"/>
                                          </p:val>
                                        </p:tav>
                                      </p:tavLst>
                                    </p:anim>
                                    <p:anim calcmode="lin" valueType="num">
                                      <p:cBhvr>
                                        <p:cTn id="63" dur="1000" fill="hold"/>
                                        <p:tgtEl>
                                          <p:spTgt spid="59"/>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fade">
                                      <p:cBhvr>
                                        <p:cTn id="66" dur="1000"/>
                                        <p:tgtEl>
                                          <p:spTgt spid="60"/>
                                        </p:tgtEl>
                                      </p:cBhvr>
                                    </p:animEffect>
                                    <p:anim calcmode="lin" valueType="num">
                                      <p:cBhvr>
                                        <p:cTn id="67" dur="1000" fill="hold"/>
                                        <p:tgtEl>
                                          <p:spTgt spid="60"/>
                                        </p:tgtEl>
                                        <p:attrNameLst>
                                          <p:attrName>ppt_x</p:attrName>
                                        </p:attrNameLst>
                                      </p:cBhvr>
                                      <p:tavLst>
                                        <p:tav tm="0">
                                          <p:val>
                                            <p:strVal val="#ppt_x"/>
                                          </p:val>
                                        </p:tav>
                                        <p:tav tm="100000">
                                          <p:val>
                                            <p:strVal val="#ppt_x"/>
                                          </p:val>
                                        </p:tav>
                                      </p:tavLst>
                                    </p:anim>
                                    <p:anim calcmode="lin" valueType="num">
                                      <p:cBhvr>
                                        <p:cTn id="68"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50" grpId="0"/>
      <p:bldP spid="52" grpId="0"/>
      <p:bldP spid="54" grpId="0"/>
      <p:bldP spid="56" grpId="0"/>
      <p:bldP spid="57" grpId="0"/>
      <p:bldP spid="59"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关系代数实例</a:t>
            </a:r>
            <a:endParaRPr lang="en-US" altLang="zh-CN" b="1" u="sng" kern="1200" dirty="0">
              <a:solidFill>
                <a:schemeClr val="folHlink"/>
              </a:solidFill>
              <a:effectLst>
                <a:outerShdw blurRad="38100" dist="38100" dir="2700000" algn="tl">
                  <a:srgbClr val="000000"/>
                </a:outerShdw>
              </a:effectLst>
              <a:cs typeface="+mn-cs"/>
            </a:endParaRPr>
          </a:p>
        </p:txBody>
      </p:sp>
      <p:graphicFrame>
        <p:nvGraphicFramePr>
          <p:cNvPr id="50" name="Group 4"/>
          <p:cNvGraphicFramePr>
            <a:graphicFrameLocks noGrp="1"/>
          </p:cNvGraphicFramePr>
          <p:nvPr>
            <p:extLst>
              <p:ext uri="{D42A27DB-BD31-4B8C-83A1-F6EECF244321}">
                <p14:modId xmlns:p14="http://schemas.microsoft.com/office/powerpoint/2010/main" val="3211600708"/>
              </p:ext>
            </p:extLst>
          </p:nvPr>
        </p:nvGraphicFramePr>
        <p:xfrm>
          <a:off x="7032104" y="903657"/>
          <a:ext cx="4267200" cy="1947862"/>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1"/>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2"/>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8003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3"/>
                  </a:ext>
                </a:extLst>
              </a:tr>
              <a:tr h="48434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00"/>
                    </a:solidFill>
                  </a:tcPr>
                </a:tc>
                <a:extLst>
                  <a:ext uri="{0D108BD9-81ED-4DB2-BD59-A6C34878D82A}">
                    <a16:rowId xmlns:a16="http://schemas.microsoft.com/office/drawing/2014/main" val="10004"/>
                  </a:ext>
                </a:extLst>
              </a:tr>
            </a:tbl>
          </a:graphicData>
        </a:graphic>
      </p:graphicFrame>
      <p:sp>
        <p:nvSpPr>
          <p:cNvPr id="51" name="Rectangle 50"/>
          <p:cNvSpPr>
            <a:spLocks noChangeArrowheads="1"/>
          </p:cNvSpPr>
          <p:nvPr/>
        </p:nvSpPr>
        <p:spPr bwMode="auto">
          <a:xfrm>
            <a:off x="6528866" y="903657"/>
            <a:ext cx="330219" cy="338554"/>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22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52" name="Rectangle 51"/>
          <p:cNvSpPr>
            <a:spLocks noChangeArrowheads="1"/>
          </p:cNvSpPr>
          <p:nvPr/>
        </p:nvSpPr>
        <p:spPr bwMode="auto">
          <a:xfrm>
            <a:off x="767408" y="1059268"/>
            <a:ext cx="7704137" cy="677108"/>
          </a:xfrm>
          <a:prstGeom prst="rect">
            <a:avLst/>
          </a:prstGeom>
          <a:noFill/>
          <a:ln w="12700" cap="sq">
            <a:noFill/>
            <a:miter lim="800000"/>
            <a:headEnd/>
            <a:tailEnd/>
          </a:ln>
          <a:effectLst/>
        </p:spPr>
        <p:txBody>
          <a:bodyPr lIns="0" tIns="0" rIns="0" bIns="0">
            <a:spAutoFit/>
          </a:bodyPr>
          <a:lstStyle/>
          <a:p>
            <a:pPr fontAlgn="auto">
              <a:spcBef>
                <a:spcPts val="0"/>
              </a:spcBef>
              <a:defRPr/>
            </a:pPr>
            <a:r>
              <a:rPr lang="zh-CN" altLang="en-US" sz="44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查询所有男同学</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a:t>
            </a:r>
          </a:p>
        </p:txBody>
      </p:sp>
      <p:sp>
        <p:nvSpPr>
          <p:cNvPr id="53" name="Rectangle 52"/>
          <p:cNvSpPr>
            <a:spLocks noChangeArrowheads="1"/>
          </p:cNvSpPr>
          <p:nvPr/>
        </p:nvSpPr>
        <p:spPr bwMode="auto">
          <a:xfrm>
            <a:off x="767408" y="2994011"/>
            <a:ext cx="7704137" cy="677108"/>
          </a:xfrm>
          <a:prstGeom prst="rect">
            <a:avLst/>
          </a:prstGeom>
          <a:noFill/>
          <a:ln w="12700" cap="sq">
            <a:noFill/>
            <a:miter lim="800000"/>
            <a:headEnd/>
            <a:tailEnd/>
          </a:ln>
          <a:effectLst/>
        </p:spPr>
        <p:txBody>
          <a:bodyPr lIns="0" tIns="0" rIns="0" bIns="0">
            <a:spAutoFit/>
          </a:bodyPr>
          <a:lstStyle/>
          <a:p>
            <a:pPr fontAlgn="auto">
              <a:spcBef>
                <a:spcPts val="0"/>
              </a:spcBef>
              <a:defRPr/>
            </a:pPr>
            <a:r>
              <a:rPr lang="zh-CN" altLang="en-US" sz="44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查询20岁以下的女同学</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a:t>
            </a:r>
          </a:p>
        </p:txBody>
      </p:sp>
      <p:sp>
        <p:nvSpPr>
          <p:cNvPr id="54" name="Rectangle 53"/>
          <p:cNvSpPr>
            <a:spLocks noChangeArrowheads="1"/>
          </p:cNvSpPr>
          <p:nvPr/>
        </p:nvSpPr>
        <p:spPr bwMode="auto">
          <a:xfrm>
            <a:off x="767408" y="5045160"/>
            <a:ext cx="7704137" cy="677108"/>
          </a:xfrm>
          <a:prstGeom prst="rect">
            <a:avLst/>
          </a:prstGeom>
          <a:noFill/>
          <a:ln w="12700" cap="sq">
            <a:noFill/>
            <a:miter lim="800000"/>
            <a:headEnd/>
            <a:tailEnd/>
          </a:ln>
          <a:effectLst/>
        </p:spPr>
        <p:txBody>
          <a:bodyPr lIns="0" tIns="0" rIns="0" bIns="0">
            <a:spAutoFit/>
          </a:bodyPr>
          <a:lstStyle/>
          <a:p>
            <a:pPr fontAlgn="auto">
              <a:spcBef>
                <a:spcPts val="0"/>
              </a:spcBef>
              <a:defRPr/>
            </a:pPr>
            <a:r>
              <a:rPr lang="zh-CN" altLang="en-US" sz="44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查询</a:t>
            </a:r>
            <a:r>
              <a:rPr lang="zh-CN" altLang="en-US" sz="44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en-US" altLang="zh-CN" sz="44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IS</a:t>
            </a:r>
            <a:r>
              <a:rPr lang="en-US" altLang="zh-CN" sz="44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zh-CN" altLang="en-US" sz="44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系同学的姓名和性别：</a:t>
            </a:r>
          </a:p>
        </p:txBody>
      </p:sp>
      <p:sp>
        <p:nvSpPr>
          <p:cNvPr id="55" name="Rectangle 54"/>
          <p:cNvSpPr>
            <a:spLocks noChangeArrowheads="1"/>
          </p:cNvSpPr>
          <p:nvPr/>
        </p:nvSpPr>
        <p:spPr bwMode="auto">
          <a:xfrm>
            <a:off x="754708" y="1681553"/>
            <a:ext cx="5125268" cy="738664"/>
          </a:xfrm>
          <a:prstGeom prst="rect">
            <a:avLst/>
          </a:prstGeom>
          <a:noFill/>
          <a:ln w="12700" cap="sq">
            <a:noFill/>
            <a:miter lim="800000"/>
            <a:headEnd/>
            <a:tailEnd/>
          </a:ln>
          <a:effectLst/>
        </p:spPr>
        <p:txBody>
          <a:bodyPr wrap="square" lIns="0" tIns="0" rIns="0" bIns="0">
            <a:spAutoFit/>
          </a:bodyPr>
          <a:lstStyle/>
          <a:p>
            <a:pPr fontAlgn="auto">
              <a:spcBef>
                <a:spcPts val="0"/>
              </a:spcBef>
              <a:defRPr/>
            </a:pP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性别</a:t>
            </a:r>
            <a:r>
              <a:rPr lang="en-US" altLang="zh-CN"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男'</a:t>
            </a:r>
            <a:r>
              <a:rPr lang="zh-CN" altLang="en-US"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a:t>
            </a:r>
            <a:endParaRPr lang="zh-CN" altLang="en-US"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endParaRPr>
          </a:p>
        </p:txBody>
      </p:sp>
      <p:sp>
        <p:nvSpPr>
          <p:cNvPr id="56" name="Rectangle 55"/>
          <p:cNvSpPr>
            <a:spLocks noChangeArrowheads="1"/>
          </p:cNvSpPr>
          <p:nvPr/>
        </p:nvSpPr>
        <p:spPr bwMode="auto">
          <a:xfrm>
            <a:off x="767408" y="3614074"/>
            <a:ext cx="7704137" cy="738664"/>
          </a:xfrm>
          <a:prstGeom prst="rect">
            <a:avLst/>
          </a:prstGeom>
          <a:noFill/>
          <a:ln w="12700" cap="sq">
            <a:noFill/>
            <a:miter lim="800000"/>
            <a:headEnd/>
            <a:tailEnd/>
          </a:ln>
          <a:effectLst/>
        </p:spPr>
        <p:txBody>
          <a:bodyPr lIns="0" tIns="0" rIns="0" bIns="0">
            <a:spAutoFit/>
          </a:bodyPr>
          <a:lstStyle/>
          <a:p>
            <a:pPr fontAlgn="auto">
              <a:spcBef>
                <a:spcPts val="0"/>
              </a:spcBef>
              <a:defRPr/>
            </a:pP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性别</a:t>
            </a:r>
            <a:r>
              <a:rPr lang="en-US" altLang="zh-CN"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女</a:t>
            </a:r>
            <a:r>
              <a:rPr lang="en-US" altLang="zh-CN"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年龄</a:t>
            </a:r>
            <a:r>
              <a:rPr lang="en-US" altLang="zh-CN"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&lt;20</a:t>
            </a: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a:t>
            </a:r>
            <a:r>
              <a:rPr lang="en-US" altLang="zh-CN" sz="4800" kern="0" baseline="0" dirty="0">
                <a:solidFill>
                  <a:srgbClr val="A886E0"/>
                </a:solidFill>
                <a:effectLst>
                  <a:outerShdw blurRad="38100" dist="38100" dir="2700000" algn="tl">
                    <a:srgbClr val="000000"/>
                  </a:outerShdw>
                </a:effectLst>
                <a:latin typeface="Franklin Gothic Book"/>
                <a:ea typeface="黑体" panose="02010609060101010101" pitchFamily="49" charset="-122"/>
              </a:rPr>
              <a:t> </a:t>
            </a:r>
            <a:r>
              <a:rPr lang="en-US" altLang="zh-CN" sz="4800" kern="0" baseline="0" dirty="0">
                <a:solidFill>
                  <a:sysClr val="windowText" lastClr="000000"/>
                </a:solidFill>
                <a:effectLst>
                  <a:outerShdw blurRad="38100" dist="38100" dir="2700000" algn="tl">
                    <a:srgbClr val="000000"/>
                  </a:outerShdw>
                </a:effectLst>
                <a:latin typeface="Franklin Gothic Book"/>
                <a:ea typeface="黑体" panose="02010609060101010101" pitchFamily="49" charset="-122"/>
              </a:rPr>
              <a:t>	</a:t>
            </a:r>
            <a:endParaRPr lang="zh-CN" altLang="en-US" sz="4800" kern="0" baseline="0" dirty="0">
              <a:solidFill>
                <a:sysClr val="windowText" lastClr="000000"/>
              </a:solidFill>
              <a:effectLst>
                <a:outerShdw blurRad="38100" dist="38100" dir="2700000" algn="tl">
                  <a:srgbClr val="000000"/>
                </a:outerShdw>
              </a:effectLst>
              <a:latin typeface="Franklin Gothic Book"/>
              <a:ea typeface="黑体" panose="02010609060101010101" pitchFamily="49" charset="-122"/>
            </a:endParaRPr>
          </a:p>
        </p:txBody>
      </p:sp>
      <p:sp>
        <p:nvSpPr>
          <p:cNvPr id="57" name="Rectangle 56"/>
          <p:cNvSpPr>
            <a:spLocks noChangeArrowheads="1"/>
          </p:cNvSpPr>
          <p:nvPr/>
        </p:nvSpPr>
        <p:spPr bwMode="auto">
          <a:xfrm>
            <a:off x="690740" y="5642664"/>
            <a:ext cx="7704137" cy="738664"/>
          </a:xfrm>
          <a:prstGeom prst="rect">
            <a:avLst/>
          </a:prstGeom>
          <a:noFill/>
          <a:ln w="12700" cap="sq">
            <a:noFill/>
            <a:miter lim="800000"/>
            <a:headEnd/>
            <a:tailEnd/>
          </a:ln>
          <a:effectLst/>
        </p:spPr>
        <p:txBody>
          <a:bodyPr lIns="0" tIns="0" rIns="0" bIns="0">
            <a:spAutoFit/>
          </a:bodyPr>
          <a:lstStyle/>
          <a:p>
            <a:pPr fontAlgn="auto">
              <a:spcBef>
                <a:spcPts val="0"/>
              </a:spcBef>
              <a:defRPr/>
            </a:pP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800" kern="0" dirty="0">
                <a:solidFill>
                  <a:srgbClr val="99FF33"/>
                </a:solidFill>
                <a:effectLst>
                  <a:outerShdw blurRad="38100" dist="38100" dir="2700000" algn="tl">
                    <a:srgbClr val="000000"/>
                  </a:outerShdw>
                </a:effectLst>
                <a:latin typeface="Franklin Gothic Book"/>
                <a:ea typeface="黑体" panose="02010609060101010101" pitchFamily="49" charset="-122"/>
              </a:rPr>
              <a:t>姓名</a:t>
            </a:r>
            <a:r>
              <a:rPr lang="en-US" altLang="zh-CN" sz="4800" kern="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800" kern="0" dirty="0">
                <a:solidFill>
                  <a:srgbClr val="99FF33"/>
                </a:solidFill>
                <a:effectLst>
                  <a:outerShdw blurRad="38100" dist="38100" dir="2700000" algn="tl">
                    <a:srgbClr val="000000"/>
                  </a:outerShdw>
                </a:effectLst>
                <a:latin typeface="Franklin Gothic Book"/>
                <a:ea typeface="黑体" panose="02010609060101010101" pitchFamily="49" charset="-122"/>
              </a:rPr>
              <a:t>性别</a:t>
            </a: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系</a:t>
            </a:r>
            <a:r>
              <a:rPr lang="en-US" altLang="zh-CN" sz="48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='IS'</a:t>
            </a:r>
            <a:r>
              <a:rPr lang="en-US" altLang="zh-CN"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a:t>
            </a:r>
            <a:endParaRPr lang="zh-CN" altLang="en-US" sz="4800" kern="0" baseline="0" dirty="0">
              <a:solidFill>
                <a:srgbClr val="99FF33"/>
              </a:solidFill>
              <a:effectLst>
                <a:outerShdw blurRad="38100" dist="38100" dir="2700000" algn="tl">
                  <a:srgbClr val="000000"/>
                </a:outerShdw>
              </a:effectLst>
              <a:latin typeface="Franklin Gothic Book"/>
              <a:ea typeface="黑体" panose="02010609060101010101" pitchFamily="49" charset="-122"/>
            </a:endParaRPr>
          </a:p>
        </p:txBody>
      </p:sp>
      <p:sp>
        <p:nvSpPr>
          <p:cNvPr id="58" name="AutoShape 57"/>
          <p:cNvSpPr>
            <a:spLocks noChangeArrowheads="1"/>
          </p:cNvSpPr>
          <p:nvPr/>
        </p:nvSpPr>
        <p:spPr bwMode="auto">
          <a:xfrm>
            <a:off x="8616280" y="3471691"/>
            <a:ext cx="3187080" cy="1780279"/>
          </a:xfrm>
          <a:prstGeom prst="star24">
            <a:avLst>
              <a:gd name="adj" fmla="val 4664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nchor="ctr" anchorCtr="1"/>
          <a:lstStyle/>
          <a:p>
            <a:pPr algn="ctr" fontAlgn="auto">
              <a:spcBef>
                <a:spcPts val="0"/>
              </a:spcBef>
              <a:defRPr/>
            </a:pPr>
            <a:r>
              <a:rPr lang="zh-CN" altLang="en-US" sz="3600" b="1" kern="0" baseline="0" dirty="0">
                <a:solidFill>
                  <a:srgbClr val="3333CC"/>
                </a:solidFill>
                <a:latin typeface="宋体" panose="02010600030101010101" pitchFamily="2" charset="-122"/>
              </a:rPr>
              <a:t>简单的单表查询</a:t>
            </a:r>
          </a:p>
        </p:txBody>
      </p:sp>
    </p:spTree>
    <p:extLst>
      <p:ext uri="{BB962C8B-B14F-4D97-AF65-F5344CB8AC3E}">
        <p14:creationId xmlns:p14="http://schemas.microsoft.com/office/powerpoint/2010/main" val="419532097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关系代数实例</a:t>
            </a:r>
            <a:endParaRPr lang="en-US" altLang="zh-CN" b="1" u="sng" kern="1200" dirty="0">
              <a:solidFill>
                <a:schemeClr val="folHlink"/>
              </a:solidFill>
              <a:effectLst>
                <a:outerShdw blurRad="38100" dist="38100" dir="2700000" algn="tl">
                  <a:srgbClr val="000000"/>
                </a:outerShdw>
              </a:effectLst>
              <a:cs typeface="+mn-cs"/>
            </a:endParaRPr>
          </a:p>
        </p:txBody>
      </p:sp>
      <p:sp>
        <p:nvSpPr>
          <p:cNvPr id="24" name="Rectangle 106"/>
          <p:cNvSpPr>
            <a:spLocks noChangeArrowheads="1"/>
          </p:cNvSpPr>
          <p:nvPr/>
        </p:nvSpPr>
        <p:spPr bwMode="auto">
          <a:xfrm>
            <a:off x="827088" y="5805485"/>
            <a:ext cx="7835478" cy="615553"/>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(Π</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学号</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(σ</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课号</a:t>
            </a:r>
            <a:r>
              <a:rPr lang="en-US" altLang="zh-CN"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=‘2’</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(SC))     (Π</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学号</a:t>
            </a:r>
            <a:r>
              <a:rPr lang="en-US" altLang="zh-CN"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姓名</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(ST))</a:t>
            </a:r>
            <a:endParaRPr lang="zh-CN" altLang="en-US"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endParaRPr>
          </a:p>
        </p:txBody>
      </p:sp>
      <p:graphicFrame>
        <p:nvGraphicFramePr>
          <p:cNvPr id="25" name="Group 4"/>
          <p:cNvGraphicFramePr>
            <a:graphicFrameLocks noGrp="1"/>
          </p:cNvGraphicFramePr>
          <p:nvPr>
            <p:extLst>
              <p:ext uri="{D42A27DB-BD31-4B8C-83A1-F6EECF244321}">
                <p14:modId xmlns:p14="http://schemas.microsoft.com/office/powerpoint/2010/main" val="949389766"/>
              </p:ext>
            </p:extLst>
          </p:nvPr>
        </p:nvGraphicFramePr>
        <p:xfrm>
          <a:off x="1291062" y="1120417"/>
          <a:ext cx="4105846" cy="1828800"/>
        </p:xfrm>
        <a:graphic>
          <a:graphicData uri="http://schemas.openxmlformats.org/drawingml/2006/table">
            <a:tbl>
              <a:tblPr/>
              <a:tblGrid>
                <a:gridCol w="937204">
                  <a:extLst>
                    <a:ext uri="{9D8B030D-6E8A-4147-A177-3AD203B41FA5}">
                      <a16:colId xmlns:a16="http://schemas.microsoft.com/office/drawing/2014/main" val="20000"/>
                    </a:ext>
                  </a:extLst>
                </a:gridCol>
                <a:gridCol w="937204">
                  <a:extLst>
                    <a:ext uri="{9D8B030D-6E8A-4147-A177-3AD203B41FA5}">
                      <a16:colId xmlns:a16="http://schemas.microsoft.com/office/drawing/2014/main" val="20001"/>
                    </a:ext>
                  </a:extLst>
                </a:gridCol>
                <a:gridCol w="702903">
                  <a:extLst>
                    <a:ext uri="{9D8B030D-6E8A-4147-A177-3AD203B41FA5}">
                      <a16:colId xmlns:a16="http://schemas.microsoft.com/office/drawing/2014/main" val="20002"/>
                    </a:ext>
                  </a:extLst>
                </a:gridCol>
                <a:gridCol w="725217">
                  <a:extLst>
                    <a:ext uri="{9D8B030D-6E8A-4147-A177-3AD203B41FA5}">
                      <a16:colId xmlns:a16="http://schemas.microsoft.com/office/drawing/2014/main" val="20003"/>
                    </a:ext>
                  </a:extLst>
                </a:gridCol>
                <a:gridCol w="803318">
                  <a:extLst>
                    <a:ext uri="{9D8B030D-6E8A-4147-A177-3AD203B41FA5}">
                      <a16:colId xmlns:a16="http://schemas.microsoft.com/office/drawing/2014/main" val="20004"/>
                    </a:ext>
                  </a:extLst>
                </a:gridCol>
              </a:tblGrid>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984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079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104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赵六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bl>
          </a:graphicData>
        </a:graphic>
      </p:graphicFrame>
      <p:sp>
        <p:nvSpPr>
          <p:cNvPr id="26" name="Rectangle 50"/>
          <p:cNvSpPr>
            <a:spLocks noChangeArrowheads="1"/>
          </p:cNvSpPr>
          <p:nvPr/>
        </p:nvSpPr>
        <p:spPr bwMode="auto">
          <a:xfrm>
            <a:off x="787826" y="1193442"/>
            <a:ext cx="419987" cy="430887"/>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28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graphicFrame>
        <p:nvGraphicFramePr>
          <p:cNvPr id="27" name="Group 51"/>
          <p:cNvGraphicFramePr>
            <a:graphicFrameLocks noGrp="1"/>
          </p:cNvGraphicFramePr>
          <p:nvPr>
            <p:extLst>
              <p:ext uri="{D42A27DB-BD31-4B8C-83A1-F6EECF244321}">
                <p14:modId xmlns:p14="http://schemas.microsoft.com/office/powerpoint/2010/main" val="558629044"/>
              </p:ext>
            </p:extLst>
          </p:nvPr>
        </p:nvGraphicFramePr>
        <p:xfrm>
          <a:off x="8112224" y="820698"/>
          <a:ext cx="3244282" cy="2597785"/>
        </p:xfrm>
        <a:graphic>
          <a:graphicData uri="http://schemas.openxmlformats.org/drawingml/2006/table">
            <a:tbl>
              <a:tblPr/>
              <a:tblGrid>
                <a:gridCol w="1179739">
                  <a:extLst>
                    <a:ext uri="{9D8B030D-6E8A-4147-A177-3AD203B41FA5}">
                      <a16:colId xmlns:a16="http://schemas.microsoft.com/office/drawing/2014/main" val="20000"/>
                    </a:ext>
                  </a:extLst>
                </a:gridCol>
                <a:gridCol w="844586">
                  <a:extLst>
                    <a:ext uri="{9D8B030D-6E8A-4147-A177-3AD203B41FA5}">
                      <a16:colId xmlns:a16="http://schemas.microsoft.com/office/drawing/2014/main" val="20001"/>
                    </a:ext>
                  </a:extLst>
                </a:gridCol>
                <a:gridCol w="1219957">
                  <a:extLst>
                    <a:ext uri="{9D8B030D-6E8A-4147-A177-3AD203B41FA5}">
                      <a16:colId xmlns:a16="http://schemas.microsoft.com/office/drawing/2014/main" val="20002"/>
                    </a:ext>
                  </a:extLst>
                </a:gridCol>
              </a:tblGrid>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984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079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002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002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03225">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28" name="Rectangle 97"/>
          <p:cNvSpPr>
            <a:spLocks noChangeArrowheads="1"/>
          </p:cNvSpPr>
          <p:nvPr/>
        </p:nvSpPr>
        <p:spPr bwMode="auto">
          <a:xfrm>
            <a:off x="7464152" y="820698"/>
            <a:ext cx="439223" cy="430887"/>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28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SC</a:t>
            </a:r>
          </a:p>
        </p:txBody>
      </p:sp>
      <p:sp>
        <p:nvSpPr>
          <p:cNvPr id="29" name="Rectangle 98"/>
          <p:cNvSpPr>
            <a:spLocks noChangeArrowheads="1"/>
          </p:cNvSpPr>
          <p:nvPr/>
        </p:nvSpPr>
        <p:spPr bwMode="auto">
          <a:xfrm>
            <a:off x="827088" y="3506788"/>
            <a:ext cx="7924800" cy="553998"/>
          </a:xfrm>
          <a:prstGeom prst="rect">
            <a:avLst/>
          </a:prstGeom>
          <a:noFill/>
          <a:ln w="12700" cap="sq">
            <a:noFill/>
            <a:miter lim="800000"/>
            <a:headEnd/>
            <a:tailEnd/>
          </a:ln>
          <a:effectLst/>
        </p:spPr>
        <p:txBody>
          <a:bodyPr lIns="0" tIns="0" rIns="0" bIns="0">
            <a:spAutoFit/>
          </a:bodyPr>
          <a:lstStyle/>
          <a:p>
            <a:pPr fontAlgn="auto">
              <a:spcBef>
                <a:spcPts val="0"/>
              </a:spcBef>
              <a:defRPr/>
            </a:pP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查询课程号为</a:t>
            </a:r>
            <a:r>
              <a:rPr lang="en-US" altLang="zh-CN"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"2"</a:t>
            </a: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的学生的学号和姓名：</a:t>
            </a:r>
          </a:p>
        </p:txBody>
      </p:sp>
      <p:sp>
        <p:nvSpPr>
          <p:cNvPr id="30" name="AutoShape 99"/>
          <p:cNvSpPr>
            <a:spLocks noChangeArrowheads="1"/>
          </p:cNvSpPr>
          <p:nvPr/>
        </p:nvSpPr>
        <p:spPr bwMode="auto">
          <a:xfrm>
            <a:off x="8486055" y="3883836"/>
            <a:ext cx="3163640" cy="1905755"/>
          </a:xfrm>
          <a:prstGeom prst="star24">
            <a:avLst>
              <a:gd name="adj" fmla="val 4664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nchor="ctr" anchorCtr="1"/>
          <a:lstStyle/>
          <a:p>
            <a:pPr algn="ctr" fontAlgn="auto">
              <a:spcBef>
                <a:spcPts val="0"/>
              </a:spcBef>
              <a:defRPr/>
            </a:pPr>
            <a:r>
              <a:rPr lang="zh-CN" altLang="en-US" sz="3200" b="1" kern="0" baseline="0" dirty="0">
                <a:solidFill>
                  <a:srgbClr val="3333CC"/>
                </a:solidFill>
                <a:latin typeface="Franklin Gothic Book"/>
                <a:ea typeface="黑体" panose="02010609060101010101" pitchFamily="49" charset="-122"/>
              </a:rPr>
              <a:t>三种方法</a:t>
            </a:r>
          </a:p>
          <a:p>
            <a:pPr algn="ctr" fontAlgn="auto">
              <a:spcBef>
                <a:spcPts val="0"/>
              </a:spcBef>
              <a:defRPr/>
            </a:pPr>
            <a:r>
              <a:rPr lang="zh-CN" altLang="en-US" sz="3200" b="1" kern="0" baseline="0" dirty="0">
                <a:solidFill>
                  <a:srgbClr val="3333CC"/>
                </a:solidFill>
                <a:latin typeface="Franklin Gothic Book"/>
                <a:ea typeface="黑体" panose="02010609060101010101" pitchFamily="49" charset="-122"/>
              </a:rPr>
              <a:t>效率不同</a:t>
            </a:r>
          </a:p>
        </p:txBody>
      </p:sp>
      <p:sp>
        <p:nvSpPr>
          <p:cNvPr id="31" name="Rectangle 101"/>
          <p:cNvSpPr>
            <a:spLocks noChangeArrowheads="1"/>
          </p:cNvSpPr>
          <p:nvPr/>
        </p:nvSpPr>
        <p:spPr bwMode="auto">
          <a:xfrm>
            <a:off x="827088" y="5013323"/>
            <a:ext cx="6009658" cy="615553"/>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Π</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学号</a:t>
            </a:r>
            <a:r>
              <a:rPr lang="en-US" altLang="zh-CN"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姓名</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(σ</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课号</a:t>
            </a:r>
            <a:r>
              <a:rPr lang="en-US" altLang="zh-CN"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=‘2’</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(SC</a:t>
            </a:r>
            <a:r>
              <a:rPr lang="zh-CN" altLang="en-US"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   </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ST)</a:t>
            </a:r>
            <a:endParaRPr lang="zh-CN" altLang="en-US"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endParaRPr>
          </a:p>
        </p:txBody>
      </p:sp>
      <p:sp>
        <p:nvSpPr>
          <p:cNvPr id="32" name="Rectangle 102"/>
          <p:cNvSpPr>
            <a:spLocks noChangeArrowheads="1"/>
          </p:cNvSpPr>
          <p:nvPr/>
        </p:nvSpPr>
        <p:spPr bwMode="auto">
          <a:xfrm>
            <a:off x="827088" y="4221161"/>
            <a:ext cx="5924699" cy="615553"/>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Π</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学号</a:t>
            </a:r>
            <a:r>
              <a:rPr lang="en-US" altLang="zh-CN"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姓名</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(σ</a:t>
            </a:r>
            <a:r>
              <a:rPr lang="zh-CN" altLang="en-US"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课号</a:t>
            </a:r>
            <a:r>
              <a:rPr lang="en-US" altLang="zh-CN" sz="4000" kern="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=‘2’</a:t>
            </a:r>
            <a:r>
              <a:rPr lang="en-US" altLang="zh-CN"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rPr>
              <a:t>(SC     ST))</a:t>
            </a:r>
            <a:endParaRPr lang="zh-CN" altLang="en-US" sz="4000" kern="0" baseline="0" dirty="0">
              <a:solidFill>
                <a:srgbClr val="99FF33"/>
              </a:solidFill>
              <a:effectLst>
                <a:outerShdw blurRad="38100" dist="38100" dir="2700000" algn="tl">
                  <a:srgbClr val="000000"/>
                </a:outerShdw>
              </a:effectLst>
              <a:latin typeface="Times New Roman" pitchFamily="18" charset="0"/>
              <a:ea typeface="黑体" panose="02010609060101010101" pitchFamily="49" charset="-122"/>
              <a:cs typeface="Times New Roman" pitchFamily="18" charset="0"/>
            </a:endParaRPr>
          </a:p>
        </p:txBody>
      </p:sp>
      <p:sp>
        <p:nvSpPr>
          <p:cNvPr id="33" name="Freeform 103"/>
          <p:cNvSpPr>
            <a:spLocks/>
          </p:cNvSpPr>
          <p:nvPr/>
        </p:nvSpPr>
        <p:spPr bwMode="auto">
          <a:xfrm>
            <a:off x="5303019" y="4456111"/>
            <a:ext cx="288925" cy="153987"/>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99FF33"/>
            </a:solidFill>
            <a:prstDash val="solid"/>
            <a:round/>
            <a:headEnd type="none" w="med" len="med"/>
            <a:tailEnd type="none" w="med" len="med"/>
          </a:ln>
          <a:effectLst/>
        </p:spPr>
        <p:txBody>
          <a:bodyPr lIns="72000" tIns="72000" rIns="72000" bIns="72000"/>
          <a:lstStyle/>
          <a:p>
            <a:pPr fontAlgn="auto">
              <a:spcBef>
                <a:spcPts val="0"/>
              </a:spcBef>
              <a:spcAft>
                <a:spcPts val="0"/>
              </a:spcAft>
              <a:defRPr/>
            </a:pPr>
            <a:endParaRPr lang="zh-CN" altLang="en-US" sz="2800" kern="0" baseline="0">
              <a:solidFill>
                <a:sysClr val="windowText" lastClr="000000"/>
              </a:solidFill>
              <a:latin typeface="Franklin Gothic Book"/>
              <a:ea typeface="黑体" panose="02010609060101010101" pitchFamily="49" charset="-122"/>
            </a:endParaRPr>
          </a:p>
        </p:txBody>
      </p:sp>
      <p:sp>
        <p:nvSpPr>
          <p:cNvPr id="34" name="Freeform 104"/>
          <p:cNvSpPr>
            <a:spLocks/>
          </p:cNvSpPr>
          <p:nvPr/>
        </p:nvSpPr>
        <p:spPr bwMode="auto">
          <a:xfrm>
            <a:off x="5086995" y="6083325"/>
            <a:ext cx="288925" cy="153987"/>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99FF33"/>
            </a:solidFill>
            <a:prstDash val="solid"/>
            <a:round/>
            <a:headEnd type="none" w="med" len="med"/>
            <a:tailEnd type="none" w="med" len="med"/>
          </a:ln>
          <a:effectLst/>
        </p:spPr>
        <p:txBody>
          <a:bodyPr lIns="72000" tIns="72000" rIns="72000" bIns="72000"/>
          <a:lstStyle/>
          <a:p>
            <a:pPr fontAlgn="auto">
              <a:spcBef>
                <a:spcPts val="0"/>
              </a:spcBef>
              <a:spcAft>
                <a:spcPts val="0"/>
              </a:spcAft>
              <a:defRPr/>
            </a:pPr>
            <a:endParaRPr lang="zh-CN" altLang="en-US" sz="2800" kern="0" baseline="0">
              <a:solidFill>
                <a:sysClr val="windowText" lastClr="000000"/>
              </a:solidFill>
              <a:latin typeface="Franklin Gothic Book"/>
              <a:ea typeface="黑体" panose="02010609060101010101" pitchFamily="49" charset="-122"/>
            </a:endParaRPr>
          </a:p>
        </p:txBody>
      </p:sp>
      <p:sp>
        <p:nvSpPr>
          <p:cNvPr id="35" name="Freeform 105"/>
          <p:cNvSpPr>
            <a:spLocks/>
          </p:cNvSpPr>
          <p:nvPr/>
        </p:nvSpPr>
        <p:spPr bwMode="auto">
          <a:xfrm>
            <a:off x="5519043" y="5229223"/>
            <a:ext cx="288925" cy="153987"/>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99FF33"/>
            </a:solidFill>
            <a:prstDash val="solid"/>
            <a:round/>
            <a:headEnd type="none" w="med" len="med"/>
            <a:tailEnd type="none" w="med" len="med"/>
          </a:ln>
          <a:effectLst/>
        </p:spPr>
        <p:txBody>
          <a:bodyPr lIns="72000" tIns="72000" rIns="72000" bIns="72000"/>
          <a:lstStyle/>
          <a:p>
            <a:pPr fontAlgn="auto">
              <a:spcBef>
                <a:spcPts val="0"/>
              </a:spcBef>
              <a:spcAft>
                <a:spcPts val="0"/>
              </a:spcAft>
              <a:defRPr/>
            </a:pPr>
            <a:endParaRPr lang="zh-CN" altLang="en-US" sz="2800" kern="0" baseline="0">
              <a:solidFill>
                <a:sysClr val="windowText" lastClr="000000"/>
              </a:solidFill>
              <a:latin typeface="Franklin Gothic Book"/>
              <a:ea typeface="黑体" panose="02010609060101010101" pitchFamily="49" charset="-122"/>
            </a:endParaRPr>
          </a:p>
        </p:txBody>
      </p:sp>
    </p:spTree>
    <p:extLst>
      <p:ext uri="{BB962C8B-B14F-4D97-AF65-F5344CB8AC3E}">
        <p14:creationId xmlns:p14="http://schemas.microsoft.com/office/powerpoint/2010/main" val="21013611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关系代数实例</a:t>
            </a:r>
            <a:endParaRPr lang="en-US" altLang="zh-CN" b="1" u="sng" kern="1200" dirty="0">
              <a:solidFill>
                <a:schemeClr val="folHlink"/>
              </a:solidFill>
              <a:effectLst>
                <a:outerShdw blurRad="38100" dist="38100" dir="2700000" algn="tl">
                  <a:srgbClr val="000000"/>
                </a:outerShdw>
              </a:effectLst>
              <a:cs typeface="+mn-cs"/>
            </a:endParaRPr>
          </a:p>
        </p:txBody>
      </p:sp>
      <p:sp>
        <p:nvSpPr>
          <p:cNvPr id="22" name="Rectangle 4"/>
          <p:cNvSpPr>
            <a:spLocks noChangeArrowheads="1"/>
          </p:cNvSpPr>
          <p:nvPr/>
        </p:nvSpPr>
        <p:spPr bwMode="auto">
          <a:xfrm>
            <a:off x="755650" y="4292947"/>
            <a:ext cx="6924526" cy="2369880"/>
          </a:xfrm>
          <a:prstGeom prst="rect">
            <a:avLst/>
          </a:prstGeom>
          <a:noFill/>
          <a:ln w="12700" cap="sq">
            <a:noFill/>
            <a:miter lim="800000"/>
            <a:headEnd/>
            <a:tailEnd/>
          </a:ln>
          <a:effectLst/>
        </p:spPr>
        <p:txBody>
          <a:bodyPr wrap="square" lIns="0" tIns="0" rIns="0" bIns="0">
            <a:spAutoFit/>
          </a:bodyPr>
          <a:lstStyle/>
          <a:p>
            <a:pPr fontAlgn="auto">
              <a:spcBef>
                <a:spcPts val="0"/>
              </a:spcBef>
              <a:spcAft>
                <a:spcPct val="50000"/>
              </a:spcAft>
              <a:defRPr/>
            </a:pP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查询选修了全部课程的学生学号：</a:t>
            </a:r>
          </a:p>
          <a:p>
            <a:pPr fontAlgn="auto">
              <a:spcBef>
                <a:spcPts val="0"/>
              </a:spcBef>
              <a:spcAft>
                <a:spcPct val="50000"/>
              </a:spcAft>
              <a:defRPr/>
            </a:pP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Π</a:t>
            </a:r>
            <a:r>
              <a:rPr lang="zh-CN" altLang="en-US"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学号</a:t>
            </a:r>
            <a:r>
              <a:rPr lang="en-US" altLang="zh-CN"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a:t>
            </a:r>
            <a:r>
              <a:rPr lang="zh-CN" altLang="en-US"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课号</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(SC) </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sym typeface="Symbol" pitchFamily="18" charset="2"/>
              </a:rPr>
              <a:t> </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Π</a:t>
            </a:r>
            <a:r>
              <a:rPr lang="zh-CN" altLang="en-US"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课号</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(C)</a:t>
            </a:r>
          </a:p>
          <a:p>
            <a:pPr fontAlgn="auto">
              <a:spcBef>
                <a:spcPts val="0"/>
              </a:spcBef>
              <a:spcAft>
                <a:spcPts val="0"/>
              </a:spcAft>
              <a:defRPr/>
            </a:pP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Π</a:t>
            </a:r>
            <a:r>
              <a:rPr lang="zh-CN" altLang="en-US"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学号</a:t>
            </a:r>
            <a:r>
              <a:rPr lang="en-US" altLang="zh-CN"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a:t>
            </a:r>
            <a:r>
              <a:rPr lang="zh-CN" altLang="en-US" sz="4000" kern="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课号</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(SC) </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sym typeface="Symbol" pitchFamily="18" charset="2"/>
              </a:rPr>
              <a:t> </a:t>
            </a:r>
            <a:r>
              <a:rPr lang="en-US" altLang="zh-CN" sz="4000" kern="0" baseline="0" dirty="0">
                <a:solidFill>
                  <a:srgbClr val="99FF33"/>
                </a:solidFill>
                <a:effectLst>
                  <a:outerShdw blurRad="38100" dist="38100" dir="2700000" algn="tl">
                    <a:srgbClr val="000000"/>
                  </a:outerShdw>
                </a:effectLst>
                <a:latin typeface="Times New Roman" pitchFamily="18" charset="0"/>
                <a:ea typeface="Arial Unicode MS" pitchFamily="34" charset="-122"/>
                <a:cs typeface="Times New Roman" pitchFamily="18" charset="0"/>
              </a:rPr>
              <a:t>C</a:t>
            </a:r>
          </a:p>
        </p:txBody>
      </p:sp>
      <p:graphicFrame>
        <p:nvGraphicFramePr>
          <p:cNvPr id="23" name="Group 5"/>
          <p:cNvGraphicFramePr>
            <a:graphicFrameLocks noGrp="1"/>
          </p:cNvGraphicFramePr>
          <p:nvPr>
            <p:extLst>
              <p:ext uri="{D42A27DB-BD31-4B8C-83A1-F6EECF244321}">
                <p14:modId xmlns:p14="http://schemas.microsoft.com/office/powerpoint/2010/main" val="1382426069"/>
              </p:ext>
            </p:extLst>
          </p:nvPr>
        </p:nvGraphicFramePr>
        <p:xfrm>
          <a:off x="4279640" y="1078984"/>
          <a:ext cx="2824472" cy="2926080"/>
        </p:xfrm>
        <a:graphic>
          <a:graphicData uri="http://schemas.openxmlformats.org/drawingml/2006/table">
            <a:tbl>
              <a:tblPr/>
              <a:tblGrid>
                <a:gridCol w="977425">
                  <a:extLst>
                    <a:ext uri="{9D8B030D-6E8A-4147-A177-3AD203B41FA5}">
                      <a16:colId xmlns:a16="http://schemas.microsoft.com/office/drawing/2014/main" val="20000"/>
                    </a:ext>
                  </a:extLst>
                </a:gridCol>
                <a:gridCol w="1847047">
                  <a:extLst>
                    <a:ext uri="{9D8B030D-6E8A-4147-A177-3AD203B41FA5}">
                      <a16:colId xmlns:a16="http://schemas.microsoft.com/office/drawing/2014/main" val="20001"/>
                    </a:ext>
                  </a:extLst>
                </a:gridCol>
              </a:tblGrid>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984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079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信息系统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操作系统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数据处理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PASCAL</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bl>
          </a:graphicData>
        </a:graphic>
      </p:graphicFrame>
      <p:sp>
        <p:nvSpPr>
          <p:cNvPr id="24" name="Rectangle 42"/>
          <p:cNvSpPr>
            <a:spLocks noChangeArrowheads="1"/>
          </p:cNvSpPr>
          <p:nvPr/>
        </p:nvSpPr>
        <p:spPr bwMode="auto">
          <a:xfrm>
            <a:off x="3990715" y="1077397"/>
            <a:ext cx="205184" cy="369332"/>
          </a:xfrm>
          <a:prstGeom prst="rect">
            <a:avLst/>
          </a:prstGeom>
          <a:noFill/>
          <a:ln w="12700" cap="sq">
            <a:noFill/>
            <a:miter lim="800000"/>
            <a:headEnd/>
            <a:tailEnd/>
          </a:ln>
          <a:effectLst/>
        </p:spPr>
        <p:txBody>
          <a:bodyPr wrap="none" lIns="0" tIns="0" rIns="0" bIns="0">
            <a:spAutoFit/>
          </a:bodyPr>
          <a:lstStyle/>
          <a:p>
            <a:pPr fontAlgn="auto">
              <a:spcBef>
                <a:spcPts val="0"/>
              </a:spcBef>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C</a:t>
            </a:r>
          </a:p>
        </p:txBody>
      </p:sp>
      <p:graphicFrame>
        <p:nvGraphicFramePr>
          <p:cNvPr id="25" name="Group 43"/>
          <p:cNvGraphicFramePr>
            <a:graphicFrameLocks noGrp="1"/>
          </p:cNvGraphicFramePr>
          <p:nvPr>
            <p:extLst>
              <p:ext uri="{D42A27DB-BD31-4B8C-83A1-F6EECF244321}">
                <p14:modId xmlns:p14="http://schemas.microsoft.com/office/powerpoint/2010/main" val="2494709128"/>
              </p:ext>
            </p:extLst>
          </p:nvPr>
        </p:nvGraphicFramePr>
        <p:xfrm>
          <a:off x="781050" y="1077397"/>
          <a:ext cx="2722661" cy="2670810"/>
        </p:xfrm>
        <a:graphic>
          <a:graphicData uri="http://schemas.openxmlformats.org/drawingml/2006/table">
            <a:tbl>
              <a:tblPr/>
              <a:tblGrid>
                <a:gridCol w="1041444">
                  <a:extLst>
                    <a:ext uri="{9D8B030D-6E8A-4147-A177-3AD203B41FA5}">
                      <a16:colId xmlns:a16="http://schemas.microsoft.com/office/drawing/2014/main" val="20000"/>
                    </a:ext>
                  </a:extLst>
                </a:gridCol>
                <a:gridCol w="743296">
                  <a:extLst>
                    <a:ext uri="{9D8B030D-6E8A-4147-A177-3AD203B41FA5}">
                      <a16:colId xmlns:a16="http://schemas.microsoft.com/office/drawing/2014/main" val="20001"/>
                    </a:ext>
                  </a:extLst>
                </a:gridCol>
                <a:gridCol w="937921">
                  <a:extLst>
                    <a:ext uri="{9D8B030D-6E8A-4147-A177-3AD203B41FA5}">
                      <a16:colId xmlns:a16="http://schemas.microsoft.com/office/drawing/2014/main" val="20002"/>
                    </a:ext>
                  </a:extLst>
                </a:gridCol>
              </a:tblGrid>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课号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成绩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1984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1079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r h="109538">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79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762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bl>
          </a:graphicData>
        </a:graphic>
      </p:graphicFrame>
      <p:sp>
        <p:nvSpPr>
          <p:cNvPr id="26" name="Rectangle 85"/>
          <p:cNvSpPr>
            <a:spLocks noChangeArrowheads="1"/>
          </p:cNvSpPr>
          <p:nvPr/>
        </p:nvSpPr>
        <p:spPr bwMode="auto">
          <a:xfrm>
            <a:off x="342900" y="1093272"/>
            <a:ext cx="376706" cy="369332"/>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SC</a:t>
            </a:r>
          </a:p>
        </p:txBody>
      </p:sp>
      <p:sp>
        <p:nvSpPr>
          <p:cNvPr id="27" name="AutoShape 86"/>
          <p:cNvSpPr>
            <a:spLocks noChangeArrowheads="1"/>
          </p:cNvSpPr>
          <p:nvPr/>
        </p:nvSpPr>
        <p:spPr bwMode="auto">
          <a:xfrm>
            <a:off x="7972261" y="760959"/>
            <a:ext cx="3092291" cy="2429589"/>
          </a:xfrm>
          <a:prstGeom prst="roundRect">
            <a:avLst>
              <a:gd name="adj" fmla="val 6426"/>
            </a:avLst>
          </a:prstGeom>
          <a:gradFill rotWithShape="1">
            <a:gsLst>
              <a:gs pos="0">
                <a:srgbClr val="003399"/>
              </a:gs>
              <a:gs pos="100000">
                <a:srgbClr val="003399">
                  <a:gamma/>
                  <a:shade val="78824"/>
                  <a:invGamma/>
                </a:srgbClr>
              </a:gs>
            </a:gsLst>
            <a:path path="shape">
              <a:fillToRect l="50000" t="50000" r="50000" b="50000"/>
            </a:path>
          </a:gradFill>
          <a:ln w="28575" cap="sq">
            <a:solidFill>
              <a:srgbClr val="FFFF00"/>
            </a:solidFill>
            <a:round/>
            <a:headEnd/>
            <a:tailEnd/>
          </a:ln>
          <a:effectLst>
            <a:outerShdw dist="35921" dir="2700000" algn="ctr" rotWithShape="0">
              <a:srgbClr val="000514"/>
            </a:outerShdw>
          </a:effectLst>
        </p:spPr>
        <p:txBody>
          <a:bodyPr wrap="square" lIns="0" tIns="0" rIns="0" bIns="0">
            <a:spAutoFit/>
          </a:bodyPr>
          <a:lstStyle/>
          <a:p>
            <a:pPr algn="just" fontAlgn="auto">
              <a:spcBef>
                <a:spcPct val="75000"/>
              </a:spcBef>
              <a:defRPr/>
            </a:pPr>
            <a:r>
              <a:rPr lang="zh-CN" altLang="en-US" sz="3200" kern="0" baseline="0">
                <a:solidFill>
                  <a:srgbClr val="FFFF00"/>
                </a:solidFill>
                <a:effectLst>
                  <a:outerShdw blurRad="38100" dist="38100" dir="2700000" algn="tl">
                    <a:srgbClr val="000000"/>
                  </a:outerShdw>
                </a:effectLst>
                <a:latin typeface="Franklin Gothic Book"/>
                <a:ea typeface="黑体" panose="02010609060101010101" pitchFamily="49" charset="-122"/>
              </a:rPr>
              <a:t>提示</a:t>
            </a:r>
            <a:r>
              <a:rPr lang="zh-CN" altLang="en-US" sz="3200" kern="0" baseline="0">
                <a:solidFill>
                  <a:srgbClr val="FFFFCC"/>
                </a:solidFill>
                <a:effectLst>
                  <a:outerShdw blurRad="38100" dist="38100" dir="2700000" algn="tl">
                    <a:srgbClr val="000000"/>
                  </a:outerShdw>
                </a:effectLst>
                <a:latin typeface="Franklin Gothic Book"/>
                <a:ea typeface="黑体" panose="02010609060101010101" pitchFamily="49" charset="-122"/>
              </a:rPr>
              <a:t>：</a:t>
            </a:r>
          </a:p>
          <a:p>
            <a:pPr algn="just" fontAlgn="auto">
              <a:spcBef>
                <a:spcPct val="75000"/>
              </a:spcBef>
              <a:defRPr/>
            </a:pPr>
            <a:r>
              <a:rPr lang="zh-CN" altLang="en-US" sz="3200" kern="0" baseline="0">
                <a:solidFill>
                  <a:srgbClr val="FFFFCC"/>
                </a:solidFill>
                <a:effectLst>
                  <a:outerShdw blurRad="38100" dist="38100" dir="2700000" algn="tl">
                    <a:srgbClr val="000000"/>
                  </a:outerShdw>
                </a:effectLst>
                <a:latin typeface="Franklin Gothic Book"/>
                <a:ea typeface="黑体" panose="02010609060101010101" pitchFamily="49" charset="-122"/>
              </a:rPr>
              <a:t>表达</a:t>
            </a:r>
            <a:r>
              <a:rPr lang="zh-CN" altLang="en-US" sz="3200" kern="0" baseline="0">
                <a:solidFill>
                  <a:srgbClr val="FFFFCC"/>
                </a:solidFill>
                <a:effectLst>
                  <a:outerShdw blurRad="38100" dist="38100" dir="2700000" algn="tl">
                    <a:srgbClr val="000000"/>
                  </a:outerShdw>
                </a:effectLst>
                <a:latin typeface="Times New Roman"/>
                <a:ea typeface="黑体" panose="02010609060101010101" pitchFamily="49" charset="-122"/>
              </a:rPr>
              <a:t>“</a:t>
            </a:r>
            <a:r>
              <a:rPr lang="zh-CN" altLang="en-US" sz="3200" kern="0" baseline="0">
                <a:solidFill>
                  <a:srgbClr val="FFCC00"/>
                </a:solidFill>
                <a:effectLst>
                  <a:outerShdw blurRad="38100" dist="38100" dir="2700000" algn="tl">
                    <a:srgbClr val="000000"/>
                  </a:outerShdw>
                </a:effectLst>
                <a:latin typeface="Franklin Gothic Book"/>
                <a:ea typeface="黑体" panose="02010609060101010101" pitchFamily="49" charset="-122"/>
              </a:rPr>
              <a:t>包含另一张的全部</a:t>
            </a:r>
            <a:r>
              <a:rPr lang="zh-CN" altLang="en-US" sz="3200" kern="0" baseline="0">
                <a:solidFill>
                  <a:srgbClr val="FFFFCC"/>
                </a:solidFill>
                <a:effectLst>
                  <a:outerShdw blurRad="38100" dist="38100" dir="2700000" algn="tl">
                    <a:srgbClr val="000000"/>
                  </a:outerShdw>
                </a:effectLst>
                <a:latin typeface="Times New Roman"/>
                <a:ea typeface="黑体" panose="02010609060101010101" pitchFamily="49" charset="-122"/>
              </a:rPr>
              <a:t>”</a:t>
            </a:r>
            <a:r>
              <a:rPr lang="zh-CN" altLang="en-US" sz="3200" kern="0" baseline="0">
                <a:solidFill>
                  <a:srgbClr val="FFFFCC"/>
                </a:solidFill>
                <a:effectLst>
                  <a:outerShdw blurRad="38100" dist="38100" dir="2700000" algn="tl">
                    <a:srgbClr val="000000"/>
                  </a:outerShdw>
                </a:effectLst>
                <a:latin typeface="Franklin Gothic Book"/>
                <a:ea typeface="黑体" panose="02010609060101010101" pitchFamily="49" charset="-122"/>
              </a:rPr>
              <a:t>逻辑可以用</a:t>
            </a:r>
            <a:r>
              <a:rPr lang="zh-CN" altLang="en-US" sz="3200" b="1" kern="0" baseline="0">
                <a:solidFill>
                  <a:srgbClr val="FFCC00"/>
                </a:solidFill>
                <a:effectLst>
                  <a:outerShdw blurRad="38100" dist="38100" dir="2700000" algn="tl">
                    <a:srgbClr val="000000"/>
                  </a:outerShdw>
                </a:effectLst>
                <a:latin typeface="Franklin Gothic Book"/>
                <a:ea typeface="黑体" panose="02010609060101010101" pitchFamily="49" charset="-122"/>
              </a:rPr>
              <a:t>除</a:t>
            </a:r>
            <a:r>
              <a:rPr lang="zh-CN" altLang="en-US" sz="3200" kern="0" baseline="0">
                <a:solidFill>
                  <a:srgbClr val="FFFFCC"/>
                </a:solidFill>
                <a:effectLst>
                  <a:outerShdw blurRad="38100" dist="38100" dir="2700000" algn="tl">
                    <a:srgbClr val="000000"/>
                  </a:outerShdw>
                </a:effectLst>
                <a:latin typeface="Franklin Gothic Book"/>
                <a:ea typeface="黑体" panose="02010609060101010101" pitchFamily="49" charset="-122"/>
              </a:rPr>
              <a:t>运算。</a:t>
            </a:r>
          </a:p>
        </p:txBody>
      </p:sp>
      <p:sp>
        <p:nvSpPr>
          <p:cNvPr id="28" name="AutoShape 87"/>
          <p:cNvSpPr>
            <a:spLocks noChangeArrowheads="1"/>
          </p:cNvSpPr>
          <p:nvPr/>
        </p:nvSpPr>
        <p:spPr bwMode="auto">
          <a:xfrm>
            <a:off x="8112224" y="4365104"/>
            <a:ext cx="3171702" cy="1584003"/>
          </a:xfrm>
          <a:prstGeom prst="star24">
            <a:avLst>
              <a:gd name="adj" fmla="val 4664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nchor="ctr" anchorCtr="1"/>
          <a:lstStyle/>
          <a:p>
            <a:pPr algn="ctr" fontAlgn="auto">
              <a:spcBef>
                <a:spcPts val="0"/>
              </a:spcBef>
              <a:defRPr/>
            </a:pPr>
            <a:r>
              <a:rPr lang="zh-CN" altLang="en-US" sz="3200" b="1" kern="0" baseline="0">
                <a:solidFill>
                  <a:srgbClr val="3333CC"/>
                </a:solidFill>
                <a:latin typeface="Franklin Gothic Book"/>
                <a:ea typeface="黑体" panose="02010609060101010101" pitchFamily="49" charset="-122"/>
              </a:rPr>
              <a:t>两种方法</a:t>
            </a:r>
          </a:p>
          <a:p>
            <a:pPr algn="ctr" fontAlgn="auto">
              <a:spcBef>
                <a:spcPts val="0"/>
              </a:spcBef>
              <a:defRPr/>
            </a:pPr>
            <a:r>
              <a:rPr lang="zh-CN" altLang="en-US" sz="3200" b="1" kern="0" baseline="0">
                <a:solidFill>
                  <a:srgbClr val="3333CC"/>
                </a:solidFill>
                <a:latin typeface="Franklin Gothic Book"/>
                <a:ea typeface="黑体" panose="02010609060101010101" pitchFamily="49" charset="-122"/>
              </a:rPr>
              <a:t>效率不同</a:t>
            </a:r>
          </a:p>
        </p:txBody>
      </p:sp>
    </p:spTree>
    <p:extLst>
      <p:ext uri="{BB962C8B-B14F-4D97-AF65-F5344CB8AC3E}">
        <p14:creationId xmlns:p14="http://schemas.microsoft.com/office/powerpoint/2010/main" val="298424864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关系代数实例</a:t>
            </a:r>
            <a:endParaRPr lang="en-US" altLang="zh-CN" b="1" u="sng" kern="1200" dirty="0">
              <a:solidFill>
                <a:schemeClr val="folHlink"/>
              </a:solidFill>
              <a:effectLst>
                <a:outerShdw blurRad="38100" dist="38100" dir="2700000" algn="tl">
                  <a:srgbClr val="000000"/>
                </a:outerShdw>
              </a:effectLst>
              <a:cs typeface="+mn-cs"/>
            </a:endParaRPr>
          </a:p>
        </p:txBody>
      </p:sp>
      <p:graphicFrame>
        <p:nvGraphicFramePr>
          <p:cNvPr id="18" name="Group 4"/>
          <p:cNvGraphicFramePr>
            <a:graphicFrameLocks noGrp="1"/>
          </p:cNvGraphicFramePr>
          <p:nvPr>
            <p:extLst>
              <p:ext uri="{D42A27DB-BD31-4B8C-83A1-F6EECF244321}">
                <p14:modId xmlns:p14="http://schemas.microsoft.com/office/powerpoint/2010/main" val="267196702"/>
              </p:ext>
            </p:extLst>
          </p:nvPr>
        </p:nvGraphicFramePr>
        <p:xfrm>
          <a:off x="1259260" y="1078739"/>
          <a:ext cx="4103688" cy="1947862"/>
        </p:xfrm>
        <a:graphic>
          <a:graphicData uri="http://schemas.openxmlformats.org/drawingml/2006/table">
            <a:tbl>
              <a:tblPr/>
              <a:tblGrid>
                <a:gridCol w="895350">
                  <a:extLst>
                    <a:ext uri="{9D8B030D-6E8A-4147-A177-3AD203B41FA5}">
                      <a16:colId xmlns:a16="http://schemas.microsoft.com/office/drawing/2014/main" val="20000"/>
                    </a:ext>
                  </a:extLst>
                </a:gridCol>
                <a:gridCol w="893763">
                  <a:extLst>
                    <a:ext uri="{9D8B030D-6E8A-4147-A177-3AD203B41FA5}">
                      <a16:colId xmlns:a16="http://schemas.microsoft.com/office/drawing/2014/main" val="20001"/>
                    </a:ext>
                  </a:extLst>
                </a:gridCol>
                <a:gridCol w="671512">
                  <a:extLst>
                    <a:ext uri="{9D8B030D-6E8A-4147-A177-3AD203B41FA5}">
                      <a16:colId xmlns:a16="http://schemas.microsoft.com/office/drawing/2014/main" val="20002"/>
                    </a:ext>
                  </a:extLst>
                </a:gridCol>
                <a:gridCol w="850900">
                  <a:extLst>
                    <a:ext uri="{9D8B030D-6E8A-4147-A177-3AD203B41FA5}">
                      <a16:colId xmlns:a16="http://schemas.microsoft.com/office/drawing/2014/main" val="20003"/>
                    </a:ext>
                  </a:extLst>
                </a:gridCol>
                <a:gridCol w="792163">
                  <a:extLst>
                    <a:ext uri="{9D8B030D-6E8A-4147-A177-3AD203B41FA5}">
                      <a16:colId xmlns:a16="http://schemas.microsoft.com/office/drawing/2014/main" val="20004"/>
                    </a:ext>
                  </a:extLst>
                </a:gridCol>
              </a:tblGrid>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8003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48434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bl>
          </a:graphicData>
        </a:graphic>
      </p:graphicFrame>
      <p:sp>
        <p:nvSpPr>
          <p:cNvPr id="19" name="Rectangle 50"/>
          <p:cNvSpPr>
            <a:spLocks noChangeArrowheads="1"/>
          </p:cNvSpPr>
          <p:nvPr/>
        </p:nvSpPr>
        <p:spPr bwMode="auto">
          <a:xfrm>
            <a:off x="611560" y="1151764"/>
            <a:ext cx="359073" cy="369332"/>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20" name="Rectangle 51"/>
          <p:cNvSpPr>
            <a:spLocks noChangeArrowheads="1"/>
          </p:cNvSpPr>
          <p:nvPr/>
        </p:nvSpPr>
        <p:spPr bwMode="auto">
          <a:xfrm>
            <a:off x="611560" y="3566646"/>
            <a:ext cx="9948936" cy="984885"/>
          </a:xfrm>
          <a:prstGeom prst="rect">
            <a:avLst/>
          </a:prstGeom>
          <a:noFill/>
          <a:ln w="12700" cap="sq">
            <a:noFill/>
            <a:miter lim="800000"/>
            <a:headEnd/>
            <a:tailEnd/>
          </a:ln>
          <a:effectLst/>
        </p:spPr>
        <p:txBody>
          <a:bodyPr wrap="square" lIns="0" tIns="0" rIns="0" bIns="0">
            <a:spAutoFit/>
          </a:bodyPr>
          <a:lstStyle/>
          <a:p>
            <a:pPr fontAlgn="auto">
              <a:spcBef>
                <a:spcPts val="0"/>
              </a:spcBef>
              <a:defRPr/>
            </a:pP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为</a:t>
            </a:r>
            <a:r>
              <a:rPr lang="zh-CN" altLang="en-US" sz="32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en-US" altLang="zh-CN"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MA</a:t>
            </a:r>
            <a:r>
              <a:rPr lang="en-US" altLang="zh-CN" sz="32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系增加一名叫</a:t>
            </a:r>
            <a:r>
              <a:rPr lang="zh-CN" altLang="en-US" sz="32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赵六</a:t>
            </a:r>
            <a:r>
              <a:rPr lang="zh-CN" altLang="en-US" sz="32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的男同学，</a:t>
            </a:r>
            <a:r>
              <a:rPr lang="en-US" altLang="zh-CN"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20</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岁，学号为</a:t>
            </a:r>
            <a:r>
              <a:rPr lang="zh-CN" altLang="en-US" sz="32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en-US" altLang="zh-CN"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99078</a:t>
            </a:r>
            <a:r>
              <a:rPr lang="en-US" altLang="zh-CN" sz="32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 ：</a:t>
            </a:r>
          </a:p>
        </p:txBody>
      </p:sp>
      <p:sp>
        <p:nvSpPr>
          <p:cNvPr id="21" name="Rectangle 52"/>
          <p:cNvSpPr>
            <a:spLocks noChangeArrowheads="1"/>
          </p:cNvSpPr>
          <p:nvPr/>
        </p:nvSpPr>
        <p:spPr bwMode="auto">
          <a:xfrm>
            <a:off x="659185" y="5412903"/>
            <a:ext cx="10042051" cy="492443"/>
          </a:xfrm>
          <a:prstGeom prst="rect">
            <a:avLst/>
          </a:prstGeom>
          <a:noFill/>
          <a:ln w="12700" cap="sq">
            <a:noFill/>
            <a:miter lim="800000"/>
            <a:headEnd/>
            <a:tailEnd/>
          </a:ln>
          <a:effectLst/>
        </p:spPr>
        <p:txBody>
          <a:bodyPr wrap="square" lIns="0" tIns="0" rIns="0" bIns="0">
            <a:spAutoFit/>
          </a:bodyPr>
          <a:lstStyle/>
          <a:p>
            <a:pPr fontAlgn="auto">
              <a:spcBef>
                <a:spcPts val="0"/>
              </a:spcBef>
              <a:defRPr/>
            </a:pPr>
            <a:r>
              <a:rPr lang="zh-CN" altLang="en-US" sz="32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删除所有的男同学：</a:t>
            </a:r>
          </a:p>
        </p:txBody>
      </p:sp>
      <p:sp>
        <p:nvSpPr>
          <p:cNvPr id="29" name="Rectangle 53"/>
          <p:cNvSpPr>
            <a:spLocks noChangeArrowheads="1"/>
          </p:cNvSpPr>
          <p:nvPr/>
        </p:nvSpPr>
        <p:spPr bwMode="auto">
          <a:xfrm>
            <a:off x="682996" y="4492159"/>
            <a:ext cx="10042053" cy="553998"/>
          </a:xfrm>
          <a:prstGeom prst="rect">
            <a:avLst/>
          </a:prstGeom>
          <a:noFill/>
          <a:ln w="12700" cap="sq">
            <a:noFill/>
            <a:miter lim="800000"/>
            <a:headEnd/>
            <a:tailEnd/>
          </a:ln>
          <a:effectLst/>
        </p:spPr>
        <p:txBody>
          <a:bodyPr wrap="square" lIns="0" tIns="0" rIns="0" bIns="0">
            <a:spAutoFit/>
          </a:bodyPr>
          <a:lstStyle/>
          <a:p>
            <a:pPr fontAlgn="auto">
              <a:spcBef>
                <a:spcPts val="0"/>
              </a:spcBef>
              <a:defRPr/>
            </a:pP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ST ∪ {</a:t>
            </a:r>
            <a:r>
              <a:rPr lang="en-US" altLang="zh-CN"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99078</a:t>
            </a:r>
            <a:r>
              <a:rPr lang="en-US" altLang="zh-CN"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zh-CN" altLang="en-US"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赵六</a:t>
            </a:r>
            <a:r>
              <a:rPr lang="zh-CN" altLang="en-US"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zh-CN" altLang="en-US"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男</a:t>
            </a:r>
            <a:r>
              <a:rPr lang="zh-CN" altLang="en-US"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,20,</a:t>
            </a:r>
            <a:r>
              <a:rPr lang="en-US" altLang="zh-CN"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MA</a:t>
            </a:r>
            <a:r>
              <a:rPr lang="en-US" altLang="zh-CN" sz="3600" kern="0" baseline="0">
                <a:solidFill>
                  <a:srgbClr val="99FF33"/>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a:solidFill>
                  <a:srgbClr val="99FF33"/>
                </a:solidFill>
                <a:effectLst>
                  <a:outerShdw blurRad="38100" dist="38100" dir="2700000" algn="tl">
                    <a:srgbClr val="000000"/>
                  </a:outerShdw>
                </a:effectLst>
                <a:latin typeface="Franklin Gothic Book"/>
                <a:ea typeface="黑体" panose="02010609060101010101" pitchFamily="49" charset="-122"/>
              </a:rPr>
              <a:t>}</a:t>
            </a:r>
            <a:endParaRPr lang="zh-CN" altLang="en-US" sz="3600" kern="0" baseline="0">
              <a:solidFill>
                <a:srgbClr val="99FF33"/>
              </a:solidFill>
              <a:effectLst>
                <a:outerShdw blurRad="38100" dist="38100" dir="2700000" algn="tl">
                  <a:srgbClr val="000000"/>
                </a:outerShdw>
              </a:effectLst>
              <a:latin typeface="Franklin Gothic Book"/>
              <a:ea typeface="黑体" panose="02010609060101010101" pitchFamily="49" charset="-122"/>
            </a:endParaRPr>
          </a:p>
        </p:txBody>
      </p:sp>
      <p:sp>
        <p:nvSpPr>
          <p:cNvPr id="30" name="AutoShape 54"/>
          <p:cNvSpPr>
            <a:spLocks noChangeArrowheads="1"/>
          </p:cNvSpPr>
          <p:nvPr/>
        </p:nvSpPr>
        <p:spPr bwMode="auto">
          <a:xfrm>
            <a:off x="6974222" y="1260582"/>
            <a:ext cx="2953568" cy="1584176"/>
          </a:xfrm>
          <a:prstGeom prst="star24">
            <a:avLst>
              <a:gd name="adj" fmla="val 4664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nchor="ctr" anchorCtr="1"/>
          <a:lstStyle/>
          <a:p>
            <a:pPr algn="ctr" fontAlgn="auto">
              <a:spcBef>
                <a:spcPts val="0"/>
              </a:spcBef>
              <a:defRPr/>
            </a:pPr>
            <a:r>
              <a:rPr lang="zh-CN" altLang="en-US" sz="3600" b="1" kern="0" baseline="0" dirty="0">
                <a:solidFill>
                  <a:srgbClr val="3333CC"/>
                </a:solidFill>
                <a:latin typeface="宋体" panose="02010600030101010101" pitchFamily="2" charset="-122"/>
              </a:rPr>
              <a:t>简单的</a:t>
            </a:r>
            <a:endParaRPr lang="en-US" altLang="zh-CN" sz="3600" b="1" kern="0" baseline="0" dirty="0">
              <a:solidFill>
                <a:srgbClr val="3333CC"/>
              </a:solidFill>
              <a:latin typeface="宋体" panose="02010600030101010101" pitchFamily="2" charset="-122"/>
            </a:endParaRPr>
          </a:p>
          <a:p>
            <a:pPr algn="ctr" fontAlgn="auto">
              <a:spcBef>
                <a:spcPts val="0"/>
              </a:spcBef>
              <a:defRPr/>
            </a:pPr>
            <a:r>
              <a:rPr lang="zh-CN" altLang="en-US" sz="3600" b="1" kern="0" baseline="0" dirty="0">
                <a:solidFill>
                  <a:srgbClr val="3333CC"/>
                </a:solidFill>
                <a:latin typeface="宋体" panose="02010600030101010101" pitchFamily="2" charset="-122"/>
              </a:rPr>
              <a:t>更新操作</a:t>
            </a:r>
          </a:p>
        </p:txBody>
      </p:sp>
      <p:sp>
        <p:nvSpPr>
          <p:cNvPr id="31" name="Rectangle 55"/>
          <p:cNvSpPr>
            <a:spLocks noChangeArrowheads="1"/>
          </p:cNvSpPr>
          <p:nvPr/>
        </p:nvSpPr>
        <p:spPr bwMode="auto">
          <a:xfrm>
            <a:off x="709985" y="5830415"/>
            <a:ext cx="10042051" cy="553998"/>
          </a:xfrm>
          <a:prstGeom prst="rect">
            <a:avLst/>
          </a:prstGeom>
          <a:noFill/>
          <a:ln w="12700" cap="sq">
            <a:noFill/>
            <a:miter lim="800000"/>
            <a:headEnd/>
            <a:tailEnd/>
          </a:ln>
          <a:effectLst/>
        </p:spPr>
        <p:txBody>
          <a:bodyPr wrap="square" lIns="0" tIns="0" rIns="0" bIns="0">
            <a:spAutoFit/>
          </a:bodyPr>
          <a:lstStyle/>
          <a:p>
            <a:pPr fontAlgn="auto">
              <a:spcBef>
                <a:spcPts val="0"/>
              </a:spcBef>
              <a:defRPr/>
            </a:pPr>
            <a:r>
              <a:rPr lang="en-US" altLang="zh-CN" sz="36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 </a:t>
            </a:r>
            <a:r>
              <a:rPr lang="zh-CN" altLang="en-US" sz="36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 </a:t>
            </a:r>
            <a:r>
              <a:rPr lang="en-US" altLang="zh-CN" sz="36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36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性别</a:t>
            </a:r>
            <a:r>
              <a:rPr lang="en-US" altLang="zh-CN" sz="36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36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男'</a:t>
            </a:r>
            <a:r>
              <a:rPr lang="zh-CN" altLang="en-US" sz="36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en-US" altLang="zh-CN" sz="36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a:t>
            </a:r>
            <a:endParaRPr lang="zh-CN" altLang="en-US" sz="3600" kern="0" baseline="0" dirty="0">
              <a:solidFill>
                <a:srgbClr val="99FF33"/>
              </a:solidFill>
              <a:effectLst>
                <a:outerShdw blurRad="38100" dist="38100" dir="2700000" algn="tl">
                  <a:srgbClr val="000000"/>
                </a:outerShdw>
              </a:effectLst>
              <a:latin typeface="Franklin Gothic Book"/>
              <a:ea typeface="黑体" panose="02010609060101010101" pitchFamily="49" charset="-122"/>
            </a:endParaRPr>
          </a:p>
        </p:txBody>
      </p:sp>
      <p:sp>
        <p:nvSpPr>
          <p:cNvPr id="11" name="WordArt 8">
            <a:extLst>
              <a:ext uri="{FF2B5EF4-FFF2-40B4-BE49-F238E27FC236}">
                <a16:creationId xmlns:a16="http://schemas.microsoft.com/office/drawing/2014/main" id="{CDAC7FBB-5A86-4C24-ACE6-8920E19BF0AE}"/>
              </a:ext>
            </a:extLst>
          </p:cNvPr>
          <p:cNvSpPr>
            <a:spLocks noChangeArrowheads="1" noChangeShapeType="1" noTextEdit="1"/>
          </p:cNvSpPr>
          <p:nvPr/>
        </p:nvSpPr>
        <p:spPr bwMode="auto">
          <a:xfrm>
            <a:off x="4979018" y="5579127"/>
            <a:ext cx="6552728" cy="672413"/>
          </a:xfrm>
          <a:prstGeom prst="rect">
            <a:avLst/>
          </a:prstGeom>
        </p:spPr>
        <p:txBody>
          <a:bodyPr wrap="none" fromWordArt="1">
            <a:prstTxWarp prst="textPlain">
              <a:avLst>
                <a:gd name="adj" fmla="val 50000"/>
              </a:avLst>
            </a:prstTxWarp>
          </a:bodyPr>
          <a:lstStyle/>
          <a:p>
            <a:pPr algn="ctr">
              <a:defRPr/>
            </a:pPr>
            <a:r>
              <a:rPr lang="zh-CN" altLang="en-US" sz="6000" b="1" kern="10" dirty="0">
                <a:ln w="9525">
                  <a:solidFill>
                    <a:schemeClr val="bg1"/>
                  </a:solidFill>
                  <a:prstDash val="solid"/>
                </a:ln>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如何实现修改操作</a:t>
            </a:r>
            <a:r>
              <a:rPr lang="en-US" altLang="zh-CN" sz="6000" b="1" kern="10" dirty="0">
                <a:ln w="9525">
                  <a:solidFill>
                    <a:schemeClr val="bg1"/>
                  </a:solidFill>
                  <a:prstDash val="solid"/>
                </a:ln>
                <a:effectLst>
                  <a:outerShdw blurRad="12700" dist="38100" dir="2700000" algn="tl" rotWithShape="0">
                    <a:schemeClr val="bg1">
                      <a:lumMod val="50000"/>
                    </a:schemeClr>
                  </a:outerShdw>
                </a:effectLst>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58488653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26" presetClass="emph" presetSubtype="0" repeatCount="5000" fill="hold" grpId="0" nodeType="afterEffect">
                                  <p:stCondLst>
                                    <p:cond delay="0"/>
                                  </p:stCondLst>
                                  <p:childTnLst>
                                    <p:animEffect transition="out" filter="fade">
                                      <p:cBhvr>
                                        <p:cTn id="9" dur="500" tmFilter="0, 0; .2, .5; .8, .5; 1, 0"/>
                                        <p:tgtEl>
                                          <p:spTgt spid="11"/>
                                        </p:tgtEl>
                                      </p:cBhvr>
                                    </p:animEffect>
                                    <p:animScale>
                                      <p:cBhvr>
                                        <p:cTn id="10"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zh-CN" altLang="en-US" b="1" u="sng" kern="1200" dirty="0">
                <a:solidFill>
                  <a:schemeClr val="folHlink"/>
                </a:solidFill>
                <a:effectLst>
                  <a:outerShdw blurRad="38100" dist="38100" dir="2700000" algn="tl">
                    <a:srgbClr val="000000"/>
                  </a:outerShdw>
                </a:effectLst>
                <a:cs typeface="+mn-cs"/>
              </a:rPr>
              <a:t>关系代数实例</a:t>
            </a:r>
            <a:endParaRPr lang="en-US" altLang="zh-CN" b="1" u="sng" kern="1200" dirty="0">
              <a:solidFill>
                <a:schemeClr val="folHlink"/>
              </a:solidFill>
              <a:effectLst>
                <a:outerShdw blurRad="38100" dist="38100" dir="2700000" algn="tl">
                  <a:srgbClr val="000000"/>
                </a:outerShdw>
              </a:effectLst>
              <a:cs typeface="+mn-cs"/>
            </a:endParaRPr>
          </a:p>
        </p:txBody>
      </p:sp>
      <p:graphicFrame>
        <p:nvGraphicFramePr>
          <p:cNvPr id="18" name="Group 4"/>
          <p:cNvGraphicFramePr>
            <a:graphicFrameLocks noGrp="1"/>
          </p:cNvGraphicFramePr>
          <p:nvPr>
            <p:extLst>
              <p:ext uri="{D42A27DB-BD31-4B8C-83A1-F6EECF244321}">
                <p14:modId xmlns:p14="http://schemas.microsoft.com/office/powerpoint/2010/main" val="1915610866"/>
              </p:ext>
            </p:extLst>
          </p:nvPr>
        </p:nvGraphicFramePr>
        <p:xfrm>
          <a:off x="1259260" y="1132901"/>
          <a:ext cx="4103688" cy="1947862"/>
        </p:xfrm>
        <a:graphic>
          <a:graphicData uri="http://schemas.openxmlformats.org/drawingml/2006/table">
            <a:tbl>
              <a:tblPr/>
              <a:tblGrid>
                <a:gridCol w="895350">
                  <a:extLst>
                    <a:ext uri="{9D8B030D-6E8A-4147-A177-3AD203B41FA5}">
                      <a16:colId xmlns:a16="http://schemas.microsoft.com/office/drawing/2014/main" val="20000"/>
                    </a:ext>
                  </a:extLst>
                </a:gridCol>
                <a:gridCol w="893763">
                  <a:extLst>
                    <a:ext uri="{9D8B030D-6E8A-4147-A177-3AD203B41FA5}">
                      <a16:colId xmlns:a16="http://schemas.microsoft.com/office/drawing/2014/main" val="20001"/>
                    </a:ext>
                  </a:extLst>
                </a:gridCol>
                <a:gridCol w="671512">
                  <a:extLst>
                    <a:ext uri="{9D8B030D-6E8A-4147-A177-3AD203B41FA5}">
                      <a16:colId xmlns:a16="http://schemas.microsoft.com/office/drawing/2014/main" val="20002"/>
                    </a:ext>
                  </a:extLst>
                </a:gridCol>
                <a:gridCol w="850900">
                  <a:extLst>
                    <a:ext uri="{9D8B030D-6E8A-4147-A177-3AD203B41FA5}">
                      <a16:colId xmlns:a16="http://schemas.microsoft.com/office/drawing/2014/main" val="20003"/>
                    </a:ext>
                  </a:extLst>
                </a:gridCol>
                <a:gridCol w="792163">
                  <a:extLst>
                    <a:ext uri="{9D8B030D-6E8A-4147-A177-3AD203B41FA5}">
                      <a16:colId xmlns:a16="http://schemas.microsoft.com/office/drawing/2014/main" val="20004"/>
                    </a:ext>
                  </a:extLst>
                </a:gridCol>
              </a:tblGrid>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学号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姓名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性别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年龄</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系</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50000"/>
                      </a:schemeClr>
                    </a:solidFill>
                  </a:tcPr>
                </a:tc>
                <a:extLst>
                  <a:ext uri="{0D108BD9-81ED-4DB2-BD59-A6C34878D82A}">
                    <a16:rowId xmlns:a16="http://schemas.microsoft.com/office/drawing/2014/main" val="10000"/>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张三</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CS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98002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李四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女</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19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2"/>
                  </a:ext>
                </a:extLst>
              </a:tr>
              <a:tr h="365879">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9</a:t>
                      </a: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8003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王五</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21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IS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48434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4"/>
                  </a:ext>
                </a:extLst>
              </a:tr>
            </a:tbl>
          </a:graphicData>
        </a:graphic>
      </p:graphicFrame>
      <p:sp>
        <p:nvSpPr>
          <p:cNvPr id="19" name="Rectangle 50"/>
          <p:cNvSpPr>
            <a:spLocks noChangeArrowheads="1"/>
          </p:cNvSpPr>
          <p:nvPr/>
        </p:nvSpPr>
        <p:spPr bwMode="auto">
          <a:xfrm>
            <a:off x="611560" y="1205926"/>
            <a:ext cx="359073" cy="369332"/>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2400" baseline="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33" name="Rectangle 51"/>
          <p:cNvSpPr>
            <a:spLocks noChangeArrowheads="1"/>
          </p:cNvSpPr>
          <p:nvPr/>
        </p:nvSpPr>
        <p:spPr bwMode="auto">
          <a:xfrm>
            <a:off x="827088" y="3717032"/>
            <a:ext cx="7632700" cy="553998"/>
          </a:xfrm>
          <a:prstGeom prst="rect">
            <a:avLst/>
          </a:prstGeom>
          <a:noFill/>
          <a:ln w="12700" cap="sq">
            <a:noFill/>
            <a:miter lim="800000"/>
            <a:headEnd/>
            <a:tailEnd/>
          </a:ln>
          <a:effectLst/>
        </p:spPr>
        <p:txBody>
          <a:bodyPr lIns="0" tIns="0" rIns="0" bIns="0">
            <a:spAutoFit/>
          </a:bodyPr>
          <a:lstStyle/>
          <a:p>
            <a:pPr fontAlgn="auto">
              <a:spcBef>
                <a:spcPts val="0"/>
              </a:spcBef>
              <a:defRPr/>
            </a:pP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查询</a:t>
            </a:r>
            <a:r>
              <a:rPr lang="zh-CN" altLang="en-US" sz="36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en-US" altLang="zh-CN"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IS</a:t>
            </a:r>
            <a:r>
              <a:rPr lang="en-US" altLang="zh-CN" sz="3600" kern="0" baseline="0" dirty="0">
                <a:solidFill>
                  <a:prstClr val="white"/>
                </a:solidFill>
                <a:effectLst>
                  <a:outerShdw blurRad="38100" dist="38100" dir="2700000" algn="tl">
                    <a:srgbClr val="000000"/>
                  </a:outerShdw>
                </a:effectLst>
                <a:latin typeface="Times New Roman"/>
                <a:ea typeface="黑体" panose="02010609060101010101" pitchFamily="49" charset="-122"/>
              </a:rPr>
              <a:t>’</a:t>
            </a: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系的学生的学号和姓名：</a:t>
            </a:r>
          </a:p>
        </p:txBody>
      </p:sp>
      <p:sp>
        <p:nvSpPr>
          <p:cNvPr id="34" name="Rectangle 52"/>
          <p:cNvSpPr>
            <a:spLocks noChangeArrowheads="1"/>
          </p:cNvSpPr>
          <p:nvPr/>
        </p:nvSpPr>
        <p:spPr bwMode="auto">
          <a:xfrm>
            <a:off x="827088" y="5157192"/>
            <a:ext cx="9949432" cy="1492909"/>
          </a:xfrm>
          <a:prstGeom prst="rect">
            <a:avLst/>
          </a:prstGeom>
          <a:noFill/>
          <a:ln w="12700" cap="sq">
            <a:noFill/>
            <a:miter lim="800000"/>
            <a:headEnd/>
            <a:tailEnd/>
          </a:ln>
          <a:effectLst/>
        </p:spPr>
        <p:txBody>
          <a:bodyPr wrap="square" lIns="0" tIns="0" rIns="0" bIns="0">
            <a:spAutoFit/>
          </a:bodyPr>
          <a:lstStyle/>
          <a:p>
            <a:pPr fontAlgn="auto">
              <a:lnSpc>
                <a:spcPct val="135000"/>
              </a:lnSpc>
              <a:spcBef>
                <a:spcPts val="0"/>
              </a:spcBef>
              <a:defRPr/>
            </a:pP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如果写</a:t>
            </a:r>
            <a:r>
              <a:rPr lang="zh-CN" altLang="en-US" sz="40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成 </a:t>
            </a:r>
            <a:r>
              <a:rPr lang="en-US" altLang="zh-CN"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40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系</a:t>
            </a:r>
            <a:r>
              <a:rPr lang="en-US" altLang="zh-CN" sz="40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='IS'</a:t>
            </a:r>
            <a:r>
              <a:rPr lang="en-US" altLang="zh-CN"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学号</a:t>
            </a:r>
            <a:r>
              <a:rPr lang="en-US" altLang="zh-CN"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姓名</a:t>
            </a:r>
            <a:r>
              <a:rPr lang="en-US" altLang="zh-CN"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 </a:t>
            </a: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则是错误的，因为投影的结果里不存在</a:t>
            </a:r>
            <a:r>
              <a:rPr lang="en-US" altLang="zh-CN"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a:t>
            </a: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系</a:t>
            </a:r>
            <a:r>
              <a:rPr lang="en-US" altLang="zh-CN"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a:t>
            </a:r>
            <a:r>
              <a:rPr lang="zh-CN" altLang="en-US" sz="3600" kern="0" baseline="0" dirty="0">
                <a:solidFill>
                  <a:prstClr val="white"/>
                </a:solidFill>
                <a:effectLst>
                  <a:outerShdw blurRad="38100" dist="38100" dir="2700000" algn="tl">
                    <a:srgbClr val="000000"/>
                  </a:outerShdw>
                </a:effectLst>
                <a:latin typeface="Franklin Gothic Book"/>
                <a:ea typeface="黑体" panose="02010609060101010101" pitchFamily="49" charset="-122"/>
              </a:rPr>
              <a:t>这个属性。</a:t>
            </a:r>
          </a:p>
        </p:txBody>
      </p:sp>
      <p:sp>
        <p:nvSpPr>
          <p:cNvPr id="35" name="AutoShape 53"/>
          <p:cNvSpPr>
            <a:spLocks noChangeArrowheads="1"/>
          </p:cNvSpPr>
          <p:nvPr/>
        </p:nvSpPr>
        <p:spPr bwMode="auto">
          <a:xfrm>
            <a:off x="6744072" y="806069"/>
            <a:ext cx="4535339" cy="2334899"/>
          </a:xfrm>
          <a:prstGeom prst="star24">
            <a:avLst>
              <a:gd name="adj" fmla="val 4664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type="none" w="sm" len="sm"/>
            <a:tailEnd type="none" w="sm" len="sm"/>
          </a:ln>
          <a:effectLst>
            <a:outerShdw dist="53882" dir="2700000" algn="ctr" rotWithShape="0">
              <a:srgbClr val="000514">
                <a:alpha val="50000"/>
              </a:srgbClr>
            </a:outerShdw>
          </a:effectLst>
        </p:spPr>
        <p:txBody>
          <a:bodyPr lIns="36000" tIns="36000" rIns="36000" bIns="36000" anchor="ctr" anchorCtr="1"/>
          <a:lstStyle/>
          <a:p>
            <a:pPr algn="ctr" fontAlgn="auto">
              <a:spcBef>
                <a:spcPts val="0"/>
              </a:spcBef>
              <a:defRPr/>
            </a:pPr>
            <a:r>
              <a:rPr lang="zh-CN" altLang="en-US" sz="4000" b="1" kern="0" baseline="0">
                <a:solidFill>
                  <a:srgbClr val="3333CC"/>
                </a:solidFill>
                <a:latin typeface="宋体" panose="02010600030101010101" pitchFamily="2" charset="-122"/>
              </a:rPr>
              <a:t>带有一点过程化的味道</a:t>
            </a:r>
          </a:p>
        </p:txBody>
      </p:sp>
      <p:sp>
        <p:nvSpPr>
          <p:cNvPr id="36" name="Rectangle 54"/>
          <p:cNvSpPr>
            <a:spLocks noChangeArrowheads="1"/>
          </p:cNvSpPr>
          <p:nvPr/>
        </p:nvSpPr>
        <p:spPr bwMode="auto">
          <a:xfrm>
            <a:off x="827088" y="4231382"/>
            <a:ext cx="4222310" cy="615553"/>
          </a:xfrm>
          <a:prstGeom prst="rect">
            <a:avLst/>
          </a:prstGeom>
          <a:noFill/>
          <a:ln w="12700" cap="sq">
            <a:noFill/>
            <a:miter lim="800000"/>
            <a:headEnd/>
            <a:tailEnd/>
          </a:ln>
          <a:effectLst/>
        </p:spPr>
        <p:txBody>
          <a:bodyPr wrap="none" lIns="0" tIns="0" rIns="0" bIns="0">
            <a:spAutoFit/>
          </a:bodyPr>
          <a:lstStyle/>
          <a:p>
            <a:pPr fontAlgn="auto">
              <a:spcBef>
                <a:spcPts val="0"/>
              </a:spcBef>
              <a:defRPr/>
            </a:pPr>
            <a:r>
              <a:rPr lang="en-US" altLang="zh-CN"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学号</a:t>
            </a:r>
            <a:r>
              <a:rPr lang="en-US" altLang="zh-CN"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lang="zh-CN" altLang="en-US"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姓名</a:t>
            </a:r>
            <a:r>
              <a:rPr lang="en-US" altLang="zh-CN"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(σ</a:t>
            </a:r>
            <a:r>
              <a:rPr lang="zh-CN" altLang="en-US" sz="40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系</a:t>
            </a:r>
            <a:r>
              <a:rPr lang="en-US" altLang="zh-CN" sz="4000" kern="0" baseline="-30000" dirty="0">
                <a:solidFill>
                  <a:srgbClr val="99FF33"/>
                </a:solidFill>
                <a:effectLst>
                  <a:outerShdw blurRad="38100" dist="38100" dir="2700000" algn="tl">
                    <a:srgbClr val="000000"/>
                  </a:outerShdw>
                </a:effectLst>
                <a:latin typeface="Franklin Gothic Book"/>
                <a:ea typeface="黑体" panose="02010609060101010101" pitchFamily="49" charset="-122"/>
              </a:rPr>
              <a:t>='IS'</a:t>
            </a:r>
            <a:r>
              <a:rPr lang="en-US" altLang="zh-CN"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rPr>
              <a:t>(ST))</a:t>
            </a:r>
            <a:endParaRPr lang="zh-CN" altLang="en-US" sz="4000" kern="0" baseline="0" dirty="0">
              <a:solidFill>
                <a:srgbClr val="99FF33"/>
              </a:solidFill>
              <a:effectLst>
                <a:outerShdw blurRad="38100" dist="38100" dir="2700000" algn="tl">
                  <a:srgbClr val="000000"/>
                </a:outerShdw>
              </a:effectLst>
              <a:latin typeface="Franklin Gothic Book"/>
              <a:ea typeface="黑体" panose="02010609060101010101" pitchFamily="49" charset="-122"/>
            </a:endParaRPr>
          </a:p>
        </p:txBody>
      </p:sp>
    </p:spTree>
    <p:extLst>
      <p:ext uri="{BB962C8B-B14F-4D97-AF65-F5344CB8AC3E}">
        <p14:creationId xmlns:p14="http://schemas.microsoft.com/office/powerpoint/2010/main" val="155537844"/>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767408" y="34076"/>
            <a:ext cx="10440035" cy="1035050"/>
          </a:xfrm>
        </p:spPr>
        <p:txBody>
          <a:bodyPr/>
          <a:lstStyle/>
          <a:p>
            <a:r>
              <a:rPr lang="zh-CN" altLang="en-US" b="1" dirty="0" smtClean="0">
                <a:sym typeface="+mn-ea"/>
              </a:rPr>
              <a:t>关系代数</a:t>
            </a:r>
            <a:r>
              <a:rPr lang="zh-CN" altLang="en-US" b="1" dirty="0">
                <a:sym typeface="+mn-ea"/>
              </a:rPr>
              <a:t>表达式的优化</a:t>
            </a:r>
            <a:endParaRPr lang="zh-CN" altLang="en-US" dirty="0"/>
          </a:p>
        </p:txBody>
      </p:sp>
      <p:sp>
        <p:nvSpPr>
          <p:cNvPr id="3" name="内容占位符 2"/>
          <p:cNvSpPr>
            <a:spLocks noGrp="1"/>
          </p:cNvSpPr>
          <p:nvPr>
            <p:ph idx="1"/>
          </p:nvPr>
        </p:nvSpPr>
        <p:spPr>
          <a:xfrm>
            <a:off x="911424" y="1196752"/>
            <a:ext cx="10868025" cy="5081905"/>
          </a:xfrm>
        </p:spPr>
        <p:txBody>
          <a:bodyPr>
            <a:normAutofit/>
          </a:bodyPr>
          <a:lstStyle/>
          <a:p>
            <a:pPr marL="0" indent="0">
              <a:buNone/>
            </a:pPr>
            <a:r>
              <a:rPr lang="zh-CN" altLang="en-US" sz="3200" b="1" dirty="0" smtClean="0"/>
              <a:t>优化</a:t>
            </a:r>
            <a:r>
              <a:rPr lang="zh-CN" altLang="en-US" sz="3200" b="1" dirty="0"/>
              <a:t>策略</a:t>
            </a:r>
          </a:p>
          <a:p>
            <a:pPr>
              <a:buFont typeface="Wingdings" panose="05000000000000000000" charset="0"/>
              <a:buChar char="Ø"/>
            </a:pPr>
            <a:r>
              <a:rPr lang="zh-CN" altLang="en-US" sz="2800" dirty="0"/>
              <a:t> 选择运算赢尽可能先做。</a:t>
            </a:r>
          </a:p>
          <a:p>
            <a:pPr>
              <a:buFont typeface="Wingdings" panose="05000000000000000000" charset="0"/>
              <a:buChar char="Ø"/>
            </a:pPr>
            <a:r>
              <a:rPr lang="zh-CN" altLang="en-US" sz="2800" dirty="0"/>
              <a:t> 在执行连接前对关系适当地预处理。</a:t>
            </a:r>
          </a:p>
          <a:p>
            <a:pPr>
              <a:buFont typeface="Wingdings" panose="05000000000000000000" charset="0"/>
              <a:buChar char="Ø"/>
            </a:pPr>
            <a:r>
              <a:rPr lang="zh-CN" altLang="en-US" sz="2800" dirty="0"/>
              <a:t> 将投影运算和选择运算同时进行。</a:t>
            </a:r>
          </a:p>
          <a:p>
            <a:pPr>
              <a:buFont typeface="Wingdings" panose="05000000000000000000" charset="0"/>
              <a:buChar char="Ø"/>
            </a:pPr>
            <a:r>
              <a:rPr lang="zh-CN" altLang="en-US" sz="2800" dirty="0"/>
              <a:t> 把投影同其前或其后的双目运算结合起来，没有必要为了去掉某些字段而扫描一遍关系。</a:t>
            </a:r>
          </a:p>
          <a:p>
            <a:pPr>
              <a:buFont typeface="Wingdings" panose="05000000000000000000" charset="0"/>
              <a:buChar char="Ø"/>
            </a:pPr>
            <a:r>
              <a:rPr lang="zh-CN" altLang="en-US" sz="2800" dirty="0"/>
              <a:t> 把某些选择同在它前面要执行的笛卡尔积结合起来称为一个连接运算，连接特别是自然连接运算要比同样关系上的笛卡尔积省很多时间。</a:t>
            </a:r>
          </a:p>
        </p:txBody>
      </p:sp>
    </p:spTree>
    <p:custDataLst>
      <p:tags r:id="rId1"/>
    </p:custDataLst>
    <p:extLst>
      <p:ext uri="{BB962C8B-B14F-4D97-AF65-F5344CB8AC3E}">
        <p14:creationId xmlns:p14="http://schemas.microsoft.com/office/powerpoint/2010/main" val="3136408084"/>
      </p:ext>
    </p:ext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14748</TotalTime>
  <Words>4572</Words>
  <Application>Microsoft Office PowerPoint</Application>
  <PresentationFormat>宽屏</PresentationFormat>
  <Paragraphs>1309</Paragraphs>
  <Slides>53</Slides>
  <Notes>0</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53</vt:i4>
      </vt:variant>
    </vt:vector>
  </HeadingPairs>
  <TitlesOfParts>
    <vt:vector size="73" baseType="lpstr">
      <vt:lpstr>Arial Unicode MS</vt:lpstr>
      <vt:lpstr>Franklin Gothic Book</vt:lpstr>
      <vt:lpstr>Microsoft Yahei</vt:lpstr>
      <vt:lpstr>方正姚体</vt:lpstr>
      <vt:lpstr>黑体</vt:lpstr>
      <vt:lpstr>华文楷体</vt:lpstr>
      <vt:lpstr>楷体_GB2312</vt:lpstr>
      <vt:lpstr>隶书</vt:lpstr>
      <vt:lpstr>宋体</vt:lpstr>
      <vt:lpstr>微软雅黑</vt:lpstr>
      <vt:lpstr>微软雅黑 Light</vt:lpstr>
      <vt:lpstr>Arial</vt:lpstr>
      <vt:lpstr>Garamond</vt:lpstr>
      <vt:lpstr>Symbol</vt:lpstr>
      <vt:lpstr>Times New Roman</vt:lpstr>
      <vt:lpstr>Wingdings</vt:lpstr>
      <vt:lpstr>带有标题的</vt:lpstr>
      <vt:lpstr>1_带有标题的</vt:lpstr>
      <vt:lpstr>2_带有标题的</vt:lpstr>
      <vt:lpstr>Equation</vt:lpstr>
      <vt:lpstr>关系数据模型</vt:lpstr>
      <vt:lpstr>PowerPoint 演示文稿</vt:lpstr>
      <vt:lpstr>关系模型的基本概念</vt:lpstr>
      <vt:lpstr>关系模型的基本概念</vt:lpstr>
      <vt:lpstr>关系模型的基本概念</vt:lpstr>
      <vt:lpstr>关系模型的基本概念</vt:lpstr>
      <vt:lpstr>PowerPoint 演示文稿</vt:lpstr>
      <vt:lpstr>关系模型的基本概念</vt:lpstr>
      <vt:lpstr>关系模型的基本概念</vt:lpstr>
      <vt:lpstr>PowerPoint 演示文稿</vt:lpstr>
      <vt:lpstr>PowerPoint 演示文稿</vt:lpstr>
      <vt:lpstr>PowerPoint 演示文稿</vt:lpstr>
      <vt:lpstr>PowerPoint 演示文稿</vt:lpstr>
      <vt:lpstr>PowerPoint 演示文稿</vt:lpstr>
      <vt:lpstr>PowerPoint 演示文稿</vt:lpstr>
      <vt:lpstr>关系模型的基本概念</vt:lpstr>
      <vt:lpstr>关系模型的基本概念</vt:lpstr>
      <vt:lpstr>关系的键与关系的完整性</vt:lpstr>
      <vt:lpstr>码的概念</vt:lpstr>
      <vt:lpstr>关系模型的完整性约束</vt:lpstr>
      <vt:lpstr>关系模型的完整性约束</vt:lpstr>
      <vt:lpstr>关系的键与关系的完整性</vt:lpstr>
      <vt:lpstr>关系模型的完整性约束</vt:lpstr>
      <vt:lpstr>PowerPoint 演示文稿</vt:lpstr>
      <vt:lpstr>关系操作</vt:lpstr>
      <vt:lpstr>关系代数</vt:lpstr>
      <vt:lpstr>关系操作</vt:lpstr>
      <vt:lpstr>并（Union）</vt:lpstr>
      <vt:lpstr>差（Difference ）</vt:lpstr>
      <vt:lpstr>交（Intersection）</vt:lpstr>
      <vt:lpstr>广义笛卡尔积（Extended Cartesian Product）</vt:lpstr>
      <vt:lpstr>广义笛卡尔积（Extended Cartesian Product）</vt:lpstr>
      <vt:lpstr>广义笛卡尔积（Extended Cartesian Product）</vt:lpstr>
      <vt:lpstr>PowerPoint 演示文稿</vt:lpstr>
      <vt:lpstr>PowerPoint 演示文稿</vt:lpstr>
      <vt:lpstr>选择（Selection）</vt:lpstr>
      <vt:lpstr>投影（Projection）</vt:lpstr>
      <vt:lpstr>连接（Join）</vt:lpstr>
      <vt:lpstr>连接（Join）</vt:lpstr>
      <vt:lpstr>连接（Join）</vt:lpstr>
      <vt:lpstr>PowerPoint 演示文稿</vt:lpstr>
      <vt:lpstr>PowerPoint 演示文稿</vt:lpstr>
      <vt:lpstr>PowerPoint 演示文稿</vt:lpstr>
      <vt:lpstr>PowerPoint 演示文稿</vt:lpstr>
      <vt:lpstr>PowerPoint 演示文稿</vt:lpstr>
      <vt:lpstr>PowerPoint 演示文稿</vt:lpstr>
      <vt:lpstr>除（Division）</vt:lpstr>
      <vt:lpstr>关系代数实例</vt:lpstr>
      <vt:lpstr>关系代数实例</vt:lpstr>
      <vt:lpstr>关系代数实例</vt:lpstr>
      <vt:lpstr>关系代数实例</vt:lpstr>
      <vt:lpstr>关系代数实例</vt:lpstr>
      <vt:lpstr>关系代数表达式的优化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Windows 用户</cp:lastModifiedBy>
  <cp:revision>1669</cp:revision>
  <dcterms:created xsi:type="dcterms:W3CDTF">1601-01-01T00:00:00Z</dcterms:created>
  <dcterms:modified xsi:type="dcterms:W3CDTF">2025-10-21T01:39:19Z</dcterms:modified>
</cp:coreProperties>
</file>