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1"/>
  </p:notesMasterIdLst>
  <p:sldIdLst>
    <p:sldId id="256" r:id="rId2"/>
    <p:sldId id="436" r:id="rId3"/>
    <p:sldId id="325" r:id="rId4"/>
    <p:sldId id="257" r:id="rId5"/>
    <p:sldId id="327" r:id="rId6"/>
    <p:sldId id="328" r:id="rId7"/>
    <p:sldId id="329" r:id="rId8"/>
    <p:sldId id="330" r:id="rId9"/>
    <p:sldId id="332" r:id="rId10"/>
    <p:sldId id="333" r:id="rId11"/>
    <p:sldId id="334" r:id="rId12"/>
    <p:sldId id="335" r:id="rId13"/>
    <p:sldId id="535" r:id="rId14"/>
    <p:sldId id="258" r:id="rId15"/>
    <p:sldId id="536" r:id="rId16"/>
    <p:sldId id="338" r:id="rId17"/>
    <p:sldId id="339" r:id="rId18"/>
    <p:sldId id="340" r:id="rId19"/>
    <p:sldId id="341" r:id="rId20"/>
    <p:sldId id="342" r:id="rId21"/>
    <p:sldId id="343" r:id="rId22"/>
    <p:sldId id="259" r:id="rId23"/>
    <p:sldId id="344" r:id="rId24"/>
    <p:sldId id="260" r:id="rId25"/>
    <p:sldId id="426" r:id="rId26"/>
    <p:sldId id="261" r:id="rId27"/>
    <p:sldId id="440" r:id="rId28"/>
    <p:sldId id="358" r:id="rId29"/>
    <p:sldId id="538" r:id="rId30"/>
    <p:sldId id="539" r:id="rId31"/>
    <p:sldId id="540" r:id="rId32"/>
    <p:sldId id="541" r:id="rId33"/>
    <p:sldId id="542" r:id="rId34"/>
    <p:sldId id="543" r:id="rId35"/>
    <p:sldId id="441" r:id="rId36"/>
    <p:sldId id="427" r:id="rId37"/>
    <p:sldId id="442" r:id="rId38"/>
    <p:sldId id="364" r:id="rId39"/>
    <p:sldId id="365" r:id="rId40"/>
    <p:sldId id="362" r:id="rId41"/>
    <p:sldId id="443" r:id="rId42"/>
    <p:sldId id="444" r:id="rId43"/>
    <p:sldId id="445" r:id="rId44"/>
    <p:sldId id="446" r:id="rId45"/>
    <p:sldId id="360" r:id="rId46"/>
    <p:sldId id="447" r:id="rId47"/>
    <p:sldId id="448" r:id="rId48"/>
    <p:sldId id="449" r:id="rId49"/>
    <p:sldId id="373" r:id="rId50"/>
    <p:sldId id="374" r:id="rId51"/>
    <p:sldId id="375" r:id="rId52"/>
    <p:sldId id="450" r:id="rId53"/>
    <p:sldId id="451" r:id="rId54"/>
    <p:sldId id="378" r:id="rId55"/>
    <p:sldId id="294" r:id="rId56"/>
    <p:sldId id="262" r:id="rId57"/>
    <p:sldId id="379" r:id="rId58"/>
    <p:sldId id="380" r:id="rId59"/>
    <p:sldId id="452" r:id="rId60"/>
    <p:sldId id="453" r:id="rId61"/>
    <p:sldId id="454" r:id="rId62"/>
    <p:sldId id="428" r:id="rId63"/>
    <p:sldId id="263" r:id="rId64"/>
    <p:sldId id="429" r:id="rId65"/>
    <p:sldId id="398" r:id="rId66"/>
    <p:sldId id="349" r:id="rId67"/>
    <p:sldId id="430" r:id="rId68"/>
    <p:sldId id="399" r:id="rId69"/>
    <p:sldId id="350" r:id="rId70"/>
    <p:sldId id="351" r:id="rId71"/>
    <p:sldId id="353" r:id="rId72"/>
    <p:sldId id="352" r:id="rId73"/>
    <p:sldId id="268" r:id="rId74"/>
    <p:sldId id="271" r:id="rId75"/>
    <p:sldId id="269" r:id="rId76"/>
    <p:sldId id="270" r:id="rId77"/>
    <p:sldId id="431" r:id="rId78"/>
    <p:sldId id="432" r:id="rId79"/>
    <p:sldId id="403" r:id="rId80"/>
    <p:sldId id="404" r:id="rId81"/>
    <p:sldId id="272" r:id="rId82"/>
    <p:sldId id="405" r:id="rId83"/>
    <p:sldId id="455" r:id="rId84"/>
    <p:sldId id="273" r:id="rId85"/>
    <p:sldId id="274" r:id="rId86"/>
    <p:sldId id="457" r:id="rId87"/>
    <p:sldId id="275" r:id="rId88"/>
    <p:sldId id="276" r:id="rId89"/>
    <p:sldId id="296" r:id="rId90"/>
    <p:sldId id="297" r:id="rId91"/>
    <p:sldId id="298" r:id="rId92"/>
    <p:sldId id="277" r:id="rId93"/>
    <p:sldId id="456" r:id="rId94"/>
    <p:sldId id="299" r:id="rId95"/>
    <p:sldId id="278" r:id="rId96"/>
    <p:sldId id="283" r:id="rId97"/>
    <p:sldId id="357" r:id="rId98"/>
    <p:sldId id="366" r:id="rId99"/>
    <p:sldId id="359" r:id="rId100"/>
    <p:sldId id="433" r:id="rId101"/>
    <p:sldId id="367" r:id="rId102"/>
    <p:sldId id="368" r:id="rId103"/>
    <p:sldId id="369" r:id="rId104"/>
    <p:sldId id="510" r:id="rId105"/>
    <p:sldId id="512" r:id="rId106"/>
    <p:sldId id="514" r:id="rId107"/>
    <p:sldId id="363" r:id="rId108"/>
    <p:sldId id="370" r:id="rId109"/>
    <p:sldId id="506" r:id="rId110"/>
    <p:sldId id="507" r:id="rId111"/>
    <p:sldId id="527" r:id="rId112"/>
    <p:sldId id="508" r:id="rId113"/>
    <p:sldId id="509" r:id="rId114"/>
    <p:sldId id="371" r:id="rId115"/>
    <p:sldId id="528" r:id="rId116"/>
    <p:sldId id="537" r:id="rId117"/>
    <p:sldId id="372" r:id="rId118"/>
    <p:sldId id="529" r:id="rId119"/>
    <p:sldId id="382" r:id="rId120"/>
    <p:sldId id="383" r:id="rId121"/>
    <p:sldId id="384" r:id="rId122"/>
    <p:sldId id="376" r:id="rId123"/>
    <p:sldId id="530" r:id="rId124"/>
    <p:sldId id="377" r:id="rId125"/>
    <p:sldId id="385" r:id="rId126"/>
    <p:sldId id="386" r:id="rId127"/>
    <p:sldId id="387" r:id="rId128"/>
    <p:sldId id="531" r:id="rId129"/>
    <p:sldId id="532" r:id="rId130"/>
    <p:sldId id="381" r:id="rId131"/>
    <p:sldId id="458" r:id="rId132"/>
    <p:sldId id="406" r:id="rId133"/>
    <p:sldId id="407" r:id="rId134"/>
    <p:sldId id="408" r:id="rId135"/>
    <p:sldId id="409" r:id="rId136"/>
    <p:sldId id="410" r:id="rId137"/>
    <p:sldId id="411" r:id="rId138"/>
    <p:sldId id="412" r:id="rId139"/>
    <p:sldId id="413" r:id="rId140"/>
    <p:sldId id="416" r:id="rId141"/>
    <p:sldId id="533" r:id="rId142"/>
    <p:sldId id="523" r:id="rId143"/>
    <p:sldId id="417" r:id="rId144"/>
    <p:sldId id="418" r:id="rId145"/>
    <p:sldId id="435" r:id="rId146"/>
    <p:sldId id="415" r:id="rId147"/>
    <p:sldId id="390" r:id="rId148"/>
    <p:sldId id="419" r:id="rId149"/>
    <p:sldId id="434" r:id="rId150"/>
    <p:sldId id="392" r:id="rId151"/>
    <p:sldId id="393" r:id="rId152"/>
    <p:sldId id="394" r:id="rId153"/>
    <p:sldId id="395" r:id="rId154"/>
    <p:sldId id="396" r:id="rId155"/>
    <p:sldId id="397" r:id="rId156"/>
    <p:sldId id="422" r:id="rId157"/>
    <p:sldId id="423" r:id="rId158"/>
    <p:sldId id="424" r:id="rId159"/>
    <p:sldId id="425" r:id="rId16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E8A5106-687A-450D-BB27-DB4A53806402}">
          <p14:sldIdLst>
            <p14:sldId id="256"/>
            <p14:sldId id="436"/>
            <p14:sldId id="325"/>
          </p14:sldIdLst>
        </p14:section>
        <p14:section name="无标题节" id="{5D17D565-BF3E-4E1C-8E50-BC818473CB61}">
          <p14:sldIdLst>
            <p14:sldId id="257"/>
            <p14:sldId id="327"/>
            <p14:sldId id="328"/>
            <p14:sldId id="329"/>
            <p14:sldId id="330"/>
            <p14:sldId id="332"/>
            <p14:sldId id="333"/>
            <p14:sldId id="334"/>
            <p14:sldId id="335"/>
            <p14:sldId id="535"/>
            <p14:sldId id="258"/>
            <p14:sldId id="536"/>
            <p14:sldId id="338"/>
            <p14:sldId id="339"/>
            <p14:sldId id="340"/>
            <p14:sldId id="341"/>
            <p14:sldId id="342"/>
            <p14:sldId id="343"/>
            <p14:sldId id="259"/>
            <p14:sldId id="344"/>
            <p14:sldId id="260"/>
            <p14:sldId id="426"/>
            <p14:sldId id="261"/>
            <p14:sldId id="440"/>
            <p14:sldId id="358"/>
            <p14:sldId id="538"/>
            <p14:sldId id="539"/>
            <p14:sldId id="540"/>
            <p14:sldId id="541"/>
            <p14:sldId id="542"/>
            <p14:sldId id="543"/>
            <p14:sldId id="441"/>
            <p14:sldId id="427"/>
            <p14:sldId id="442"/>
            <p14:sldId id="364"/>
            <p14:sldId id="365"/>
            <p14:sldId id="362"/>
            <p14:sldId id="443"/>
            <p14:sldId id="444"/>
            <p14:sldId id="445"/>
            <p14:sldId id="446"/>
            <p14:sldId id="360"/>
            <p14:sldId id="447"/>
            <p14:sldId id="448"/>
            <p14:sldId id="449"/>
            <p14:sldId id="373"/>
            <p14:sldId id="374"/>
            <p14:sldId id="375"/>
            <p14:sldId id="450"/>
            <p14:sldId id="451"/>
            <p14:sldId id="378"/>
            <p14:sldId id="294"/>
            <p14:sldId id="262"/>
            <p14:sldId id="379"/>
            <p14:sldId id="380"/>
            <p14:sldId id="452"/>
            <p14:sldId id="453"/>
            <p14:sldId id="454"/>
            <p14:sldId id="428"/>
            <p14:sldId id="263"/>
            <p14:sldId id="429"/>
          </p14:sldIdLst>
        </p14:section>
        <p14:section name="默认节" id="{1BEE69AB-DD72-49C7-9D27-3DE7967C4B5C}">
          <p14:sldIdLst/>
        </p14:section>
        <p14:section name="无标题节" id="{F40BDE25-56A0-4F42-A755-85D9FEE9BB27}">
          <p14:sldIdLst>
            <p14:sldId id="398"/>
            <p14:sldId id="349"/>
            <p14:sldId id="430"/>
            <p14:sldId id="399"/>
            <p14:sldId id="350"/>
            <p14:sldId id="351"/>
            <p14:sldId id="353"/>
            <p14:sldId id="352"/>
            <p14:sldId id="268"/>
            <p14:sldId id="271"/>
            <p14:sldId id="269"/>
            <p14:sldId id="270"/>
            <p14:sldId id="431"/>
            <p14:sldId id="432"/>
            <p14:sldId id="403"/>
            <p14:sldId id="404"/>
            <p14:sldId id="272"/>
            <p14:sldId id="405"/>
            <p14:sldId id="455"/>
            <p14:sldId id="273"/>
            <p14:sldId id="274"/>
            <p14:sldId id="457"/>
            <p14:sldId id="275"/>
            <p14:sldId id="276"/>
            <p14:sldId id="296"/>
            <p14:sldId id="297"/>
            <p14:sldId id="298"/>
            <p14:sldId id="277"/>
            <p14:sldId id="456"/>
            <p14:sldId id="299"/>
            <p14:sldId id="278"/>
            <p14:sldId id="283"/>
            <p14:sldId id="357"/>
            <p14:sldId id="366"/>
            <p14:sldId id="359"/>
            <p14:sldId id="433"/>
            <p14:sldId id="367"/>
            <p14:sldId id="368"/>
            <p14:sldId id="369"/>
            <p14:sldId id="510"/>
            <p14:sldId id="512"/>
            <p14:sldId id="514"/>
            <p14:sldId id="363"/>
            <p14:sldId id="370"/>
            <p14:sldId id="506"/>
            <p14:sldId id="507"/>
            <p14:sldId id="527"/>
            <p14:sldId id="508"/>
            <p14:sldId id="509"/>
            <p14:sldId id="371"/>
            <p14:sldId id="528"/>
            <p14:sldId id="537"/>
            <p14:sldId id="372"/>
            <p14:sldId id="529"/>
            <p14:sldId id="382"/>
            <p14:sldId id="383"/>
            <p14:sldId id="384"/>
            <p14:sldId id="376"/>
            <p14:sldId id="530"/>
            <p14:sldId id="377"/>
            <p14:sldId id="385"/>
            <p14:sldId id="386"/>
            <p14:sldId id="387"/>
            <p14:sldId id="531"/>
            <p14:sldId id="532"/>
            <p14:sldId id="381"/>
            <p14:sldId id="458"/>
          </p14:sldIdLst>
        </p14:section>
        <p14:section name="默认节" id="{CA90CE24-3E7E-4FBD-BBF7-A248EB3B364A}">
          <p14:sldIdLst/>
        </p14:section>
        <p14:section name="无标题节" id="{E92612EF-14D6-4880-8E6B-BB4AE3A6D281}">
          <p14:sldIdLst>
            <p14:sldId id="406"/>
            <p14:sldId id="407"/>
            <p14:sldId id="408"/>
            <p14:sldId id="409"/>
            <p14:sldId id="410"/>
            <p14:sldId id="411"/>
            <p14:sldId id="412"/>
            <p14:sldId id="413"/>
            <p14:sldId id="416"/>
            <p14:sldId id="533"/>
            <p14:sldId id="523"/>
            <p14:sldId id="417"/>
            <p14:sldId id="418"/>
            <p14:sldId id="435"/>
            <p14:sldId id="415"/>
            <p14:sldId id="390"/>
            <p14:sldId id="419"/>
            <p14:sldId id="434"/>
            <p14:sldId id="392"/>
            <p14:sldId id="393"/>
            <p14:sldId id="394"/>
            <p14:sldId id="395"/>
            <p14:sldId id="396"/>
            <p14:sldId id="397"/>
            <p14:sldId id="422"/>
            <p14:sldId id="423"/>
            <p14:sldId id="424"/>
            <p14:sldId id="42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CCFF"/>
    <a:srgbClr val="001B37"/>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88" autoAdjust="0"/>
    <p:restoredTop sz="86372" autoAdjust="0"/>
  </p:normalViewPr>
  <p:slideViewPr>
    <p:cSldViewPr>
      <p:cViewPr varScale="1">
        <p:scale>
          <a:sx n="115" d="100"/>
          <a:sy n="115" d="100"/>
        </p:scale>
        <p:origin x="396" y="114"/>
      </p:cViewPr>
      <p:guideLst>
        <p:guide orient="horz" pos="2160"/>
        <p:guide pos="3840"/>
      </p:guideLst>
    </p:cSldViewPr>
  </p:slideViewPr>
  <p:outlineViewPr>
    <p:cViewPr>
      <p:scale>
        <a:sx n="33" d="100"/>
        <a:sy n="33" d="100"/>
      </p:scale>
      <p:origin x="0" y="9150"/>
    </p:cViewPr>
  </p:outlineViewPr>
  <p:notesTextViewPr>
    <p:cViewPr>
      <p:scale>
        <a:sx n="1" d="1"/>
        <a:sy n="1" d="1"/>
      </p:scale>
      <p:origin x="0" y="0"/>
    </p:cViewPr>
  </p:notesTextViewPr>
  <p:notesViewPr>
    <p:cSldViewPr>
      <p:cViewPr varScale="1">
        <p:scale>
          <a:sx n="48" d="100"/>
          <a:sy n="48" d="100"/>
        </p:scale>
        <p:origin x="-2982"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152C9F-282F-4D39-A961-E95FC76E5254}" type="doc">
      <dgm:prSet loTypeId="urn:microsoft.com/office/officeart/2005/8/layout/radial4" loCatId="relationship" qsTypeId="urn:microsoft.com/office/officeart/2005/8/quickstyle/simple2" qsCatId="simple" csTypeId="urn:microsoft.com/office/officeart/2005/8/colors/accent3_2" csCatId="accent3" phldr="1"/>
      <dgm:spPr/>
      <dgm:t>
        <a:bodyPr/>
        <a:lstStyle/>
        <a:p>
          <a:endParaRPr lang="zh-CN" altLang="en-US"/>
        </a:p>
      </dgm:t>
    </dgm:pt>
    <dgm:pt modelId="{1069768D-5229-4350-89A8-82B1DF424B0E}">
      <dgm:prSet phldrT="[文本]" custT="1"/>
      <dgm:spPr/>
      <dgm:t>
        <a:bodyPr/>
        <a:lstStyle/>
        <a:p>
          <a:r>
            <a:rPr lang="zh-CN" altLang="en-US" sz="4000" dirty="0">
              <a:latin typeface="微软雅黑" panose="020B0503020204020204" pitchFamily="34" charset="-122"/>
              <a:ea typeface="微软雅黑" panose="020B0503020204020204" pitchFamily="34" charset="-122"/>
            </a:rPr>
            <a:t>表达式</a:t>
          </a:r>
        </a:p>
      </dgm:t>
    </dgm:pt>
    <dgm:pt modelId="{2CEDFE0E-C4D1-4C1D-B8B7-0CCF54A1B40C}" type="parTrans" cxnId="{3F734CCE-033E-4CC0-81F0-494D86E6BBBF}">
      <dgm:prSet/>
      <dgm:spPr/>
      <dgm:t>
        <a:bodyPr/>
        <a:lstStyle/>
        <a:p>
          <a:endParaRPr lang="zh-CN" altLang="en-US" sz="3200">
            <a:latin typeface="微软雅黑" panose="020B0503020204020204" pitchFamily="34" charset="-122"/>
            <a:ea typeface="微软雅黑" panose="020B0503020204020204" pitchFamily="34" charset="-122"/>
          </a:endParaRPr>
        </a:p>
      </dgm:t>
    </dgm:pt>
    <dgm:pt modelId="{4A49412B-CD17-4A11-AB29-5B4ABD7607ED}" type="sibTrans" cxnId="{3F734CCE-033E-4CC0-81F0-494D86E6BBBF}">
      <dgm:prSet/>
      <dgm:spPr/>
      <dgm:t>
        <a:bodyPr/>
        <a:lstStyle/>
        <a:p>
          <a:endParaRPr lang="zh-CN" altLang="en-US" sz="3200">
            <a:latin typeface="微软雅黑" panose="020B0503020204020204" pitchFamily="34" charset="-122"/>
            <a:ea typeface="微软雅黑" panose="020B0503020204020204" pitchFamily="34" charset="-122"/>
          </a:endParaRPr>
        </a:p>
      </dgm:t>
    </dgm:pt>
    <dgm:pt modelId="{61317D65-863F-415B-8014-C658724C194F}">
      <dgm:prSet phldrT="[文本]" custT="1"/>
      <dgm:spPr/>
      <dgm:t>
        <a:bodyPr/>
        <a:lstStyle/>
        <a:p>
          <a:r>
            <a:rPr lang="zh-CN" altLang="en-US" sz="4000" dirty="0">
              <a:latin typeface="微软雅黑" panose="020B0503020204020204" pitchFamily="34" charset="-122"/>
              <a:ea typeface="微软雅黑" panose="020B0503020204020204" pitchFamily="34" charset="-122"/>
            </a:rPr>
            <a:t>现有数据</a:t>
          </a:r>
        </a:p>
      </dgm:t>
    </dgm:pt>
    <dgm:pt modelId="{6FB5CB54-7FA8-4FDE-953E-79FB21D0AD67}" type="parTrans" cxnId="{6648400E-DC82-49D1-B9E7-1C3212F65D5B}">
      <dgm:prSet/>
      <dgm:spPr/>
      <dgm:t>
        <a:bodyPr/>
        <a:lstStyle/>
        <a:p>
          <a:endParaRPr lang="zh-CN" altLang="en-US" sz="3200">
            <a:latin typeface="微软雅黑" panose="020B0503020204020204" pitchFamily="34" charset="-122"/>
            <a:ea typeface="微软雅黑" panose="020B0503020204020204" pitchFamily="34" charset="-122"/>
          </a:endParaRPr>
        </a:p>
      </dgm:t>
    </dgm:pt>
    <dgm:pt modelId="{252B3C10-48F9-40DF-92CD-14A6B635714E}" type="sibTrans" cxnId="{6648400E-DC82-49D1-B9E7-1C3212F65D5B}">
      <dgm:prSet/>
      <dgm:spPr/>
      <dgm:t>
        <a:bodyPr/>
        <a:lstStyle/>
        <a:p>
          <a:endParaRPr lang="zh-CN" altLang="en-US" sz="3200">
            <a:latin typeface="微软雅黑" panose="020B0503020204020204" pitchFamily="34" charset="-122"/>
            <a:ea typeface="微软雅黑" panose="020B0503020204020204" pitchFamily="34" charset="-122"/>
          </a:endParaRPr>
        </a:p>
      </dgm:t>
    </dgm:pt>
    <dgm:pt modelId="{7A5F5A0F-71E1-47A6-B8A7-95C908135D5A}">
      <dgm:prSet phldrT="[文本]" custT="1"/>
      <dgm:spPr/>
      <dgm:t>
        <a:bodyPr/>
        <a:lstStyle/>
        <a:p>
          <a:r>
            <a:rPr lang="zh-CN" altLang="en-US" sz="4000" dirty="0">
              <a:latin typeface="微软雅黑" panose="020B0503020204020204" pitchFamily="34" charset="-122"/>
              <a:ea typeface="微软雅黑" panose="020B0503020204020204" pitchFamily="34" charset="-122"/>
            </a:rPr>
            <a:t>运算符</a:t>
          </a:r>
        </a:p>
      </dgm:t>
    </dgm:pt>
    <dgm:pt modelId="{87CDEE02-1131-47FF-9CCA-FDC8F5DFB067}" type="parTrans" cxnId="{9FAA4E02-95AA-47E4-8BFF-63FDE1CE6B87}">
      <dgm:prSet/>
      <dgm:spPr/>
      <dgm:t>
        <a:bodyPr/>
        <a:lstStyle/>
        <a:p>
          <a:endParaRPr lang="zh-CN" altLang="en-US" sz="3200">
            <a:latin typeface="微软雅黑" panose="020B0503020204020204" pitchFamily="34" charset="-122"/>
            <a:ea typeface="微软雅黑" panose="020B0503020204020204" pitchFamily="34" charset="-122"/>
          </a:endParaRPr>
        </a:p>
      </dgm:t>
    </dgm:pt>
    <dgm:pt modelId="{A3F6FF76-3B7B-4A4A-80F9-619A7D0E336F}" type="sibTrans" cxnId="{9FAA4E02-95AA-47E4-8BFF-63FDE1CE6B87}">
      <dgm:prSet/>
      <dgm:spPr/>
      <dgm:t>
        <a:bodyPr/>
        <a:lstStyle/>
        <a:p>
          <a:endParaRPr lang="zh-CN" altLang="en-US" sz="3200">
            <a:latin typeface="微软雅黑" panose="020B0503020204020204" pitchFamily="34" charset="-122"/>
            <a:ea typeface="微软雅黑" panose="020B0503020204020204" pitchFamily="34" charset="-122"/>
          </a:endParaRPr>
        </a:p>
      </dgm:t>
    </dgm:pt>
    <dgm:pt modelId="{6694E1CD-9235-4193-89FA-87D224DE4D1B}">
      <dgm:prSet phldrT="[文本]" custT="1"/>
      <dgm:spPr/>
      <dgm:t>
        <a:bodyPr/>
        <a:lstStyle/>
        <a:p>
          <a:r>
            <a:rPr lang="zh-CN" altLang="en-US" sz="4000" dirty="0">
              <a:latin typeface="微软雅黑" panose="020B0503020204020204" pitchFamily="34" charset="-122"/>
              <a:ea typeface="微软雅黑" panose="020B0503020204020204" pitchFamily="34" charset="-122"/>
            </a:rPr>
            <a:t>函数</a:t>
          </a:r>
        </a:p>
      </dgm:t>
    </dgm:pt>
    <dgm:pt modelId="{EE80D4A0-F184-4693-9CDF-8EB804CDF5E5}" type="parTrans" cxnId="{A59287E2-C249-43F4-88CB-6941855427AA}">
      <dgm:prSet/>
      <dgm:spPr/>
      <dgm:t>
        <a:bodyPr/>
        <a:lstStyle/>
        <a:p>
          <a:endParaRPr lang="zh-CN" altLang="en-US" sz="3200">
            <a:latin typeface="微软雅黑" panose="020B0503020204020204" pitchFamily="34" charset="-122"/>
            <a:ea typeface="微软雅黑" panose="020B0503020204020204" pitchFamily="34" charset="-122"/>
          </a:endParaRPr>
        </a:p>
      </dgm:t>
    </dgm:pt>
    <dgm:pt modelId="{61BDD308-4BEB-45A7-B020-108E22535200}" type="sibTrans" cxnId="{A59287E2-C249-43F4-88CB-6941855427AA}">
      <dgm:prSet/>
      <dgm:spPr/>
      <dgm:t>
        <a:bodyPr/>
        <a:lstStyle/>
        <a:p>
          <a:endParaRPr lang="zh-CN" altLang="en-US" sz="3200">
            <a:latin typeface="微软雅黑" panose="020B0503020204020204" pitchFamily="34" charset="-122"/>
            <a:ea typeface="微软雅黑" panose="020B0503020204020204" pitchFamily="34" charset="-122"/>
          </a:endParaRPr>
        </a:p>
      </dgm:t>
    </dgm:pt>
    <dgm:pt modelId="{8C8773B2-67E7-4573-9DDC-39ECD6454DF7}" type="pres">
      <dgm:prSet presAssocID="{23152C9F-282F-4D39-A961-E95FC76E5254}" presName="cycle" presStyleCnt="0">
        <dgm:presLayoutVars>
          <dgm:chMax val="1"/>
          <dgm:dir/>
          <dgm:animLvl val="ctr"/>
          <dgm:resizeHandles val="exact"/>
        </dgm:presLayoutVars>
      </dgm:prSet>
      <dgm:spPr/>
      <dgm:t>
        <a:bodyPr/>
        <a:lstStyle/>
        <a:p>
          <a:endParaRPr lang="zh-CN" altLang="en-US"/>
        </a:p>
      </dgm:t>
    </dgm:pt>
    <dgm:pt modelId="{D985E4AE-8589-4165-B751-42C95008A138}" type="pres">
      <dgm:prSet presAssocID="{1069768D-5229-4350-89A8-82B1DF424B0E}" presName="centerShape" presStyleLbl="node0" presStyleIdx="0" presStyleCnt="1" custScaleX="144760" custScaleY="69238" custLinFactNeighborX="640" custLinFactNeighborY="1892"/>
      <dgm:spPr/>
      <dgm:t>
        <a:bodyPr/>
        <a:lstStyle/>
        <a:p>
          <a:endParaRPr lang="zh-CN" altLang="en-US"/>
        </a:p>
      </dgm:t>
    </dgm:pt>
    <dgm:pt modelId="{7ECD54F1-B5A3-47F2-8798-098FDAEEF73F}" type="pres">
      <dgm:prSet presAssocID="{6FB5CB54-7FA8-4FDE-953E-79FB21D0AD67}" presName="parTrans" presStyleLbl="bgSibTrans2D1" presStyleIdx="0" presStyleCnt="3"/>
      <dgm:spPr/>
      <dgm:t>
        <a:bodyPr/>
        <a:lstStyle/>
        <a:p>
          <a:endParaRPr lang="zh-CN" altLang="en-US"/>
        </a:p>
      </dgm:t>
    </dgm:pt>
    <dgm:pt modelId="{8D7B674B-BD1D-4897-815B-86C32A48BCFD}" type="pres">
      <dgm:prSet presAssocID="{61317D65-863F-415B-8014-C658724C194F}" presName="node" presStyleLbl="node1" presStyleIdx="0" presStyleCnt="3" custScaleX="161129" custScaleY="63357" custRadScaleRad="139686" custRadScaleInc="-12752">
        <dgm:presLayoutVars>
          <dgm:bulletEnabled val="1"/>
        </dgm:presLayoutVars>
      </dgm:prSet>
      <dgm:spPr/>
      <dgm:t>
        <a:bodyPr/>
        <a:lstStyle/>
        <a:p>
          <a:endParaRPr lang="zh-CN" altLang="en-US"/>
        </a:p>
      </dgm:t>
    </dgm:pt>
    <dgm:pt modelId="{3DB64C4C-6103-4380-AE59-B0E88403D15F}" type="pres">
      <dgm:prSet presAssocID="{87CDEE02-1131-47FF-9CCA-FDC8F5DFB067}" presName="parTrans" presStyleLbl="bgSibTrans2D1" presStyleIdx="1" presStyleCnt="3"/>
      <dgm:spPr/>
      <dgm:t>
        <a:bodyPr/>
        <a:lstStyle/>
        <a:p>
          <a:endParaRPr lang="zh-CN" altLang="en-US"/>
        </a:p>
      </dgm:t>
    </dgm:pt>
    <dgm:pt modelId="{844D8639-2FAD-400B-870C-7AF16290D2CB}" type="pres">
      <dgm:prSet presAssocID="{7A5F5A0F-71E1-47A6-B8A7-95C908135D5A}" presName="node" presStyleLbl="node1" presStyleIdx="1" presStyleCnt="3" custScaleY="54558" custRadScaleRad="91311" custRadScaleInc="-8684">
        <dgm:presLayoutVars>
          <dgm:bulletEnabled val="1"/>
        </dgm:presLayoutVars>
      </dgm:prSet>
      <dgm:spPr/>
      <dgm:t>
        <a:bodyPr/>
        <a:lstStyle/>
        <a:p>
          <a:endParaRPr lang="zh-CN" altLang="en-US"/>
        </a:p>
      </dgm:t>
    </dgm:pt>
    <dgm:pt modelId="{110ADA97-68AC-493B-954B-E991DC5B027B}" type="pres">
      <dgm:prSet presAssocID="{EE80D4A0-F184-4693-9CDF-8EB804CDF5E5}" presName="parTrans" presStyleLbl="bgSibTrans2D1" presStyleIdx="2" presStyleCnt="3"/>
      <dgm:spPr/>
      <dgm:t>
        <a:bodyPr/>
        <a:lstStyle/>
        <a:p>
          <a:endParaRPr lang="zh-CN" altLang="en-US"/>
        </a:p>
      </dgm:t>
    </dgm:pt>
    <dgm:pt modelId="{6DA91540-0CB0-4C8A-98D2-11D2797FFDEE}" type="pres">
      <dgm:prSet presAssocID="{6694E1CD-9235-4193-89FA-87D224DE4D1B}" presName="node" presStyleLbl="node1" presStyleIdx="2" presStyleCnt="3" custScaleY="54756" custRadScaleRad="119492" custRadScaleInc="6007">
        <dgm:presLayoutVars>
          <dgm:bulletEnabled val="1"/>
        </dgm:presLayoutVars>
      </dgm:prSet>
      <dgm:spPr/>
      <dgm:t>
        <a:bodyPr/>
        <a:lstStyle/>
        <a:p>
          <a:endParaRPr lang="zh-CN" altLang="en-US"/>
        </a:p>
      </dgm:t>
    </dgm:pt>
  </dgm:ptLst>
  <dgm:cxnLst>
    <dgm:cxn modelId="{47A7B303-77F4-4ECB-88D3-8CD2231DD809}" type="presOf" srcId="{1069768D-5229-4350-89A8-82B1DF424B0E}" destId="{D985E4AE-8589-4165-B751-42C95008A138}" srcOrd="0" destOrd="0" presId="urn:microsoft.com/office/officeart/2005/8/layout/radial4"/>
    <dgm:cxn modelId="{6648400E-DC82-49D1-B9E7-1C3212F65D5B}" srcId="{1069768D-5229-4350-89A8-82B1DF424B0E}" destId="{61317D65-863F-415B-8014-C658724C194F}" srcOrd="0" destOrd="0" parTransId="{6FB5CB54-7FA8-4FDE-953E-79FB21D0AD67}" sibTransId="{252B3C10-48F9-40DF-92CD-14A6B635714E}"/>
    <dgm:cxn modelId="{32F1422F-7A80-4F85-A426-D27AEE92765E}" type="presOf" srcId="{6FB5CB54-7FA8-4FDE-953E-79FB21D0AD67}" destId="{7ECD54F1-B5A3-47F2-8798-098FDAEEF73F}" srcOrd="0" destOrd="0" presId="urn:microsoft.com/office/officeart/2005/8/layout/radial4"/>
    <dgm:cxn modelId="{3F734CCE-033E-4CC0-81F0-494D86E6BBBF}" srcId="{23152C9F-282F-4D39-A961-E95FC76E5254}" destId="{1069768D-5229-4350-89A8-82B1DF424B0E}" srcOrd="0" destOrd="0" parTransId="{2CEDFE0E-C4D1-4C1D-B8B7-0CCF54A1B40C}" sibTransId="{4A49412B-CD17-4A11-AB29-5B4ABD7607ED}"/>
    <dgm:cxn modelId="{59632084-16CF-429F-8F68-29C0FAFC6AB8}" type="presOf" srcId="{87CDEE02-1131-47FF-9CCA-FDC8F5DFB067}" destId="{3DB64C4C-6103-4380-AE59-B0E88403D15F}" srcOrd="0" destOrd="0" presId="urn:microsoft.com/office/officeart/2005/8/layout/radial4"/>
    <dgm:cxn modelId="{F44299A4-9B56-4845-85CA-041CD7B95E9A}" type="presOf" srcId="{EE80D4A0-F184-4693-9CDF-8EB804CDF5E5}" destId="{110ADA97-68AC-493B-954B-E991DC5B027B}" srcOrd="0" destOrd="0" presId="urn:microsoft.com/office/officeart/2005/8/layout/radial4"/>
    <dgm:cxn modelId="{9FAA4E02-95AA-47E4-8BFF-63FDE1CE6B87}" srcId="{1069768D-5229-4350-89A8-82B1DF424B0E}" destId="{7A5F5A0F-71E1-47A6-B8A7-95C908135D5A}" srcOrd="1" destOrd="0" parTransId="{87CDEE02-1131-47FF-9CCA-FDC8F5DFB067}" sibTransId="{A3F6FF76-3B7B-4A4A-80F9-619A7D0E336F}"/>
    <dgm:cxn modelId="{D007DB2C-3298-4D52-8111-C8608D49CAED}" type="presOf" srcId="{61317D65-863F-415B-8014-C658724C194F}" destId="{8D7B674B-BD1D-4897-815B-86C32A48BCFD}" srcOrd="0" destOrd="0" presId="urn:microsoft.com/office/officeart/2005/8/layout/radial4"/>
    <dgm:cxn modelId="{A59287E2-C249-43F4-88CB-6941855427AA}" srcId="{1069768D-5229-4350-89A8-82B1DF424B0E}" destId="{6694E1CD-9235-4193-89FA-87D224DE4D1B}" srcOrd="2" destOrd="0" parTransId="{EE80D4A0-F184-4693-9CDF-8EB804CDF5E5}" sibTransId="{61BDD308-4BEB-45A7-B020-108E22535200}"/>
    <dgm:cxn modelId="{F542DAEA-19A8-4C39-AD1A-F9DBD63CCED6}" type="presOf" srcId="{7A5F5A0F-71E1-47A6-B8A7-95C908135D5A}" destId="{844D8639-2FAD-400B-870C-7AF16290D2CB}" srcOrd="0" destOrd="0" presId="urn:microsoft.com/office/officeart/2005/8/layout/radial4"/>
    <dgm:cxn modelId="{F1F54E9B-AE1B-4B92-870A-70201F05BAF3}" type="presOf" srcId="{23152C9F-282F-4D39-A961-E95FC76E5254}" destId="{8C8773B2-67E7-4573-9DDC-39ECD6454DF7}" srcOrd="0" destOrd="0" presId="urn:microsoft.com/office/officeart/2005/8/layout/radial4"/>
    <dgm:cxn modelId="{3119BABD-9E1F-4F2B-808A-ECB1C74439CB}" type="presOf" srcId="{6694E1CD-9235-4193-89FA-87D224DE4D1B}" destId="{6DA91540-0CB0-4C8A-98D2-11D2797FFDEE}" srcOrd="0" destOrd="0" presId="urn:microsoft.com/office/officeart/2005/8/layout/radial4"/>
    <dgm:cxn modelId="{B28E6B0D-D25C-4D7B-A7B6-939562368305}" type="presParOf" srcId="{8C8773B2-67E7-4573-9DDC-39ECD6454DF7}" destId="{D985E4AE-8589-4165-B751-42C95008A138}" srcOrd="0" destOrd="0" presId="urn:microsoft.com/office/officeart/2005/8/layout/radial4"/>
    <dgm:cxn modelId="{AFCDEE8F-7061-40D4-A017-914D954FD449}" type="presParOf" srcId="{8C8773B2-67E7-4573-9DDC-39ECD6454DF7}" destId="{7ECD54F1-B5A3-47F2-8798-098FDAEEF73F}" srcOrd="1" destOrd="0" presId="urn:microsoft.com/office/officeart/2005/8/layout/radial4"/>
    <dgm:cxn modelId="{400BE92E-BD9D-466C-8FD3-680506CD587A}" type="presParOf" srcId="{8C8773B2-67E7-4573-9DDC-39ECD6454DF7}" destId="{8D7B674B-BD1D-4897-815B-86C32A48BCFD}" srcOrd="2" destOrd="0" presId="urn:microsoft.com/office/officeart/2005/8/layout/radial4"/>
    <dgm:cxn modelId="{DCFB0EB6-E0E3-483B-81B6-BAD9BB2E737E}" type="presParOf" srcId="{8C8773B2-67E7-4573-9DDC-39ECD6454DF7}" destId="{3DB64C4C-6103-4380-AE59-B0E88403D15F}" srcOrd="3" destOrd="0" presId="urn:microsoft.com/office/officeart/2005/8/layout/radial4"/>
    <dgm:cxn modelId="{4A972ECC-1D79-49B4-8E3D-A3434D03795F}" type="presParOf" srcId="{8C8773B2-67E7-4573-9DDC-39ECD6454DF7}" destId="{844D8639-2FAD-400B-870C-7AF16290D2CB}" srcOrd="4" destOrd="0" presId="urn:microsoft.com/office/officeart/2005/8/layout/radial4"/>
    <dgm:cxn modelId="{EDB55F5D-2D7F-4802-ACA6-A552ADDB04E4}" type="presParOf" srcId="{8C8773B2-67E7-4573-9DDC-39ECD6454DF7}" destId="{110ADA97-68AC-493B-954B-E991DC5B027B}" srcOrd="5" destOrd="0" presId="urn:microsoft.com/office/officeart/2005/8/layout/radial4"/>
    <dgm:cxn modelId="{492E5843-207A-4B41-B333-C1962F850B53}" type="presParOf" srcId="{8C8773B2-67E7-4573-9DDC-39ECD6454DF7}" destId="{6DA91540-0CB0-4C8A-98D2-11D2797FFDEE}" srcOrd="6" destOrd="0" presId="urn:microsoft.com/office/officeart/2005/8/layout/radial4"/>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85E4AE-8589-4165-B751-42C95008A138}">
      <dsp:nvSpPr>
        <dsp:cNvPr id="0" name=""/>
        <dsp:cNvSpPr/>
      </dsp:nvSpPr>
      <dsp:spPr>
        <a:xfrm>
          <a:off x="3109622" y="2568033"/>
          <a:ext cx="2684265" cy="1283871"/>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lvl="0" algn="ctr" defTabSz="1778000">
            <a:lnSpc>
              <a:spcPct val="90000"/>
            </a:lnSpc>
            <a:spcBef>
              <a:spcPct val="0"/>
            </a:spcBef>
            <a:spcAft>
              <a:spcPct val="35000"/>
            </a:spcAft>
          </a:pPr>
          <a:r>
            <a:rPr lang="zh-CN" altLang="en-US" sz="4000" kern="1200" dirty="0">
              <a:latin typeface="微软雅黑" panose="020B0503020204020204" pitchFamily="34" charset="-122"/>
              <a:ea typeface="微软雅黑" panose="020B0503020204020204" pitchFamily="34" charset="-122"/>
            </a:rPr>
            <a:t>表达式</a:t>
          </a:r>
        </a:p>
      </dsp:txBody>
      <dsp:txXfrm>
        <a:off x="3502724" y="2756052"/>
        <a:ext cx="1898061" cy="907833"/>
      </dsp:txXfrm>
    </dsp:sp>
    <dsp:sp modelId="{7ECD54F1-B5A3-47F2-8798-098FDAEEF73F}">
      <dsp:nvSpPr>
        <dsp:cNvPr id="0" name=""/>
        <dsp:cNvSpPr/>
      </dsp:nvSpPr>
      <dsp:spPr>
        <a:xfrm rot="12513949">
          <a:off x="1278610" y="1846930"/>
          <a:ext cx="2309866" cy="528471"/>
        </a:xfrm>
        <a:prstGeom prst="leftArrow">
          <a:avLst>
            <a:gd name="adj1" fmla="val 60000"/>
            <a:gd name="adj2" fmla="val 50000"/>
          </a:avLst>
        </a:prstGeom>
        <a:solidFill>
          <a:schemeClr val="accent3">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8D7B674B-BD1D-4897-815B-86C32A48BCFD}">
      <dsp:nvSpPr>
        <dsp:cNvPr id="0" name=""/>
        <dsp:cNvSpPr/>
      </dsp:nvSpPr>
      <dsp:spPr>
        <a:xfrm>
          <a:off x="0" y="1112482"/>
          <a:ext cx="2838404" cy="892863"/>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lvl="0" algn="ctr" defTabSz="1778000">
            <a:lnSpc>
              <a:spcPct val="90000"/>
            </a:lnSpc>
            <a:spcBef>
              <a:spcPct val="0"/>
            </a:spcBef>
            <a:spcAft>
              <a:spcPct val="35000"/>
            </a:spcAft>
          </a:pPr>
          <a:r>
            <a:rPr lang="zh-CN" altLang="en-US" sz="4000" kern="1200" dirty="0">
              <a:latin typeface="微软雅黑" panose="020B0503020204020204" pitchFamily="34" charset="-122"/>
              <a:ea typeface="微软雅黑" panose="020B0503020204020204" pitchFamily="34" charset="-122"/>
            </a:rPr>
            <a:t>现有数据</a:t>
          </a:r>
        </a:p>
      </dsp:txBody>
      <dsp:txXfrm>
        <a:off x="26151" y="1138633"/>
        <a:ext cx="2786102" cy="840561"/>
      </dsp:txXfrm>
    </dsp:sp>
    <dsp:sp modelId="{3DB64C4C-6103-4380-AE59-B0E88403D15F}">
      <dsp:nvSpPr>
        <dsp:cNvPr id="0" name=""/>
        <dsp:cNvSpPr/>
      </dsp:nvSpPr>
      <dsp:spPr>
        <a:xfrm rot="15853754">
          <a:off x="3510091" y="1428871"/>
          <a:ext cx="1576736" cy="528471"/>
        </a:xfrm>
        <a:prstGeom prst="leftArrow">
          <a:avLst>
            <a:gd name="adj1" fmla="val 60000"/>
            <a:gd name="adj2" fmla="val 50000"/>
          </a:avLst>
        </a:prstGeom>
        <a:solidFill>
          <a:schemeClr val="accent3">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844D8639-2FAD-400B-870C-7AF16290D2CB}">
      <dsp:nvSpPr>
        <dsp:cNvPr id="0" name=""/>
        <dsp:cNvSpPr/>
      </dsp:nvSpPr>
      <dsp:spPr>
        <a:xfrm>
          <a:off x="3338404" y="524302"/>
          <a:ext cx="1761572" cy="768862"/>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lvl="0" algn="ctr" defTabSz="1778000">
            <a:lnSpc>
              <a:spcPct val="90000"/>
            </a:lnSpc>
            <a:spcBef>
              <a:spcPct val="0"/>
            </a:spcBef>
            <a:spcAft>
              <a:spcPct val="35000"/>
            </a:spcAft>
          </a:pPr>
          <a:r>
            <a:rPr lang="zh-CN" altLang="en-US" sz="4000" kern="1200" dirty="0">
              <a:latin typeface="微软雅黑" panose="020B0503020204020204" pitchFamily="34" charset="-122"/>
              <a:ea typeface="微软雅黑" panose="020B0503020204020204" pitchFamily="34" charset="-122"/>
            </a:rPr>
            <a:t>运算符</a:t>
          </a:r>
        </a:p>
      </dsp:txBody>
      <dsp:txXfrm>
        <a:off x="3360923" y="546821"/>
        <a:ext cx="1716534" cy="723824"/>
      </dsp:txXfrm>
    </dsp:sp>
    <dsp:sp modelId="{110ADA97-68AC-493B-954B-E991DC5B027B}">
      <dsp:nvSpPr>
        <dsp:cNvPr id="0" name=""/>
        <dsp:cNvSpPr/>
      </dsp:nvSpPr>
      <dsp:spPr>
        <a:xfrm rot="19605000">
          <a:off x="5180657" y="1854415"/>
          <a:ext cx="1871268" cy="528471"/>
        </a:xfrm>
        <a:prstGeom prst="leftArrow">
          <a:avLst>
            <a:gd name="adj1" fmla="val 60000"/>
            <a:gd name="adj2" fmla="val 50000"/>
          </a:avLst>
        </a:prstGeom>
        <a:solidFill>
          <a:schemeClr val="accent3">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6DA91540-0CB0-4C8A-98D2-11D2797FFDEE}">
      <dsp:nvSpPr>
        <dsp:cNvPr id="0" name=""/>
        <dsp:cNvSpPr/>
      </dsp:nvSpPr>
      <dsp:spPr>
        <a:xfrm>
          <a:off x="6017963" y="1219822"/>
          <a:ext cx="1761572" cy="771653"/>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lvl="0" algn="ctr" defTabSz="1778000">
            <a:lnSpc>
              <a:spcPct val="90000"/>
            </a:lnSpc>
            <a:spcBef>
              <a:spcPct val="0"/>
            </a:spcBef>
            <a:spcAft>
              <a:spcPct val="35000"/>
            </a:spcAft>
          </a:pPr>
          <a:r>
            <a:rPr lang="zh-CN" altLang="en-US" sz="4000" kern="1200" dirty="0">
              <a:latin typeface="微软雅黑" panose="020B0503020204020204" pitchFamily="34" charset="-122"/>
              <a:ea typeface="微软雅黑" panose="020B0503020204020204" pitchFamily="34" charset="-122"/>
            </a:rPr>
            <a:t>函数</a:t>
          </a:r>
        </a:p>
      </dsp:txBody>
      <dsp:txXfrm>
        <a:off x="6040564" y="1242423"/>
        <a:ext cx="1716370" cy="726451"/>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9BBECC-95BD-44F0-9A5B-3A77644942D4}" type="datetimeFigureOut">
              <a:rPr lang="zh-CN" altLang="en-US" smtClean="0"/>
              <a:t>2025/10/21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A304DF-C1BA-40AE-A248-EE1FD47657DE}" type="slidenum">
              <a:rPr lang="zh-CN" altLang="en-US" smtClean="0"/>
              <a:t>‹#›</a:t>
            </a:fld>
            <a:endParaRPr lang="zh-CN" altLang="en-US"/>
          </a:p>
        </p:txBody>
      </p:sp>
    </p:spTree>
    <p:extLst>
      <p:ext uri="{BB962C8B-B14F-4D97-AF65-F5344CB8AC3E}">
        <p14:creationId xmlns:p14="http://schemas.microsoft.com/office/powerpoint/2010/main" val="1123407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BAF5393-1010-4CDE-8B73-EF1BE0FCDADE}"/>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9EF4BAFC-05B9-4AD7-82BE-8C7711B08357}"/>
              </a:ext>
            </a:extLst>
          </p:cNvPr>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8AA8E2A0-A1D2-480D-8967-67CE4D8C9A14}"/>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567E0DF4-410A-403B-84B5-3F516413A729}"/>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a:extLst>
              <a:ext uri="{FF2B5EF4-FFF2-40B4-BE49-F238E27FC236}">
                <a16:creationId xmlns:a16="http://schemas.microsoft.com/office/drawing/2014/main" id="{C9B13594-F78C-488E-9F66-AE761C2D15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备注占位符 2">
            <a:extLst>
              <a:ext uri="{FF2B5EF4-FFF2-40B4-BE49-F238E27FC236}">
                <a16:creationId xmlns:a16="http://schemas.microsoft.com/office/drawing/2014/main" id="{0B459351-9772-46E6-91C5-28A704AD2A0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6500" name="灯片编号占位符 3">
            <a:extLst>
              <a:ext uri="{FF2B5EF4-FFF2-40B4-BE49-F238E27FC236}">
                <a16:creationId xmlns:a16="http://schemas.microsoft.com/office/drawing/2014/main" id="{7D45A3DD-4564-4C90-AC28-F63E64D1D38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5070F80-A3E7-47F0-8E78-B93BCEA987F1}" type="slidenum">
              <a:rPr lang="zh-CN" altLang="en-US"/>
              <a:pPr/>
              <a:t>128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588112F-C8DE-4565-9560-374A7EEF5E0F}" type="datetime1">
              <a:rPr lang="zh-CN" altLang="en-US" smtClean="0"/>
              <a:t>2025/10/21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1528494217"/>
      </p:ext>
    </p:extLst>
  </p:cSld>
  <p:clrMapOvr>
    <a:masterClrMapping/>
  </p:clrMapOvr>
  <mc:AlternateContent xmlns:mc="http://schemas.openxmlformats.org/markup-compatibility/2006" xmlns:p14="http://schemas.microsoft.com/office/powerpoint/2010/main">
    <mc:Choice Requires="p14">
      <p:transition p14:dur="0">
        <p:sndAc>
          <p:stSnd>
            <p:snd r:embed="rId1" name="arrow.wav"/>
          </p:stSnd>
        </p:sndAc>
      </p:transition>
    </mc:Choice>
    <mc:Fallback xmlns="">
      <p:transition>
        <p:sndAc>
          <p:stSnd>
            <p:snd r:embed="rId3" name="arrow.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FFDF20E-BF80-49D6-8697-5DA4163E16B2}" type="datetime1">
              <a:rPr lang="zh-CN" altLang="en-US" smtClean="0"/>
              <a:t>2025/10/21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3480636031"/>
      </p:ext>
    </p:extLst>
  </p:cSld>
  <p:clrMapOvr>
    <a:masterClrMapping/>
  </p:clrMapOvr>
  <mc:AlternateContent xmlns:mc="http://schemas.openxmlformats.org/markup-compatibility/2006" xmlns:p14="http://schemas.microsoft.com/office/powerpoint/2010/main">
    <mc:Choice Requires="p14">
      <p:transition p14:dur="0">
        <p:sndAc>
          <p:stSnd>
            <p:snd r:embed="rId1" name="arrow.wav"/>
          </p:stSnd>
        </p:sndAc>
      </p:transition>
    </mc:Choice>
    <mc:Fallback xmlns="">
      <p:transition>
        <p:sndAc>
          <p:stSnd>
            <p:snd r:embed="rId3" name="arrow.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BE1D5F6-48A2-4C81-8818-70F8BA45163C}" type="datetime1">
              <a:rPr lang="zh-CN" altLang="en-US" smtClean="0"/>
              <a:t>2025/10/21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3955692531"/>
      </p:ext>
    </p:extLst>
  </p:cSld>
  <p:clrMapOvr>
    <a:masterClrMapping/>
  </p:clrMapOvr>
  <mc:AlternateContent xmlns:mc="http://schemas.openxmlformats.org/markup-compatibility/2006" xmlns:p14="http://schemas.microsoft.com/office/powerpoint/2010/main">
    <mc:Choice Requires="p14">
      <p:transition p14:dur="0">
        <p:sndAc>
          <p:stSnd>
            <p:snd r:embed="rId1" name="arrow.wav"/>
          </p:stSnd>
        </p:sndAc>
      </p:transition>
    </mc:Choice>
    <mc:Fallback xmlns="">
      <p:transition>
        <p:sndAc>
          <p:stSnd>
            <p:snd r:embed="rId3" name="arrow.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9721CC1-FB17-4DA3-BB14-63C974E9E396}" type="datetime1">
              <a:rPr lang="zh-CN" altLang="en-US" smtClean="0"/>
              <a:t>2025/10/21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1527613974"/>
      </p:ext>
    </p:extLst>
  </p:cSld>
  <p:clrMapOvr>
    <a:masterClrMapping/>
  </p:clrMapOvr>
  <mc:AlternateContent xmlns:mc="http://schemas.openxmlformats.org/markup-compatibility/2006" xmlns:p14="http://schemas.microsoft.com/office/powerpoint/2010/main">
    <mc:Choice Requires="p14">
      <p:transition p14:dur="0">
        <p:sndAc>
          <p:stSnd>
            <p:snd r:embed="rId1" name="arrow.wav"/>
          </p:stSnd>
        </p:sndAc>
      </p:transition>
    </mc:Choice>
    <mc:Fallback xmlns="">
      <p:transition>
        <p:sndAc>
          <p:stSnd>
            <p:snd r:embed="rId3" name="arrow.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C3F62180-BC1A-4B72-9729-82E9BB5F5727}" type="datetime1">
              <a:rPr lang="zh-CN" altLang="en-US" smtClean="0"/>
              <a:t>2025/10/21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1375138244"/>
      </p:ext>
    </p:extLst>
  </p:cSld>
  <p:clrMapOvr>
    <a:masterClrMapping/>
  </p:clrMapOvr>
  <mc:AlternateContent xmlns:mc="http://schemas.openxmlformats.org/markup-compatibility/2006" xmlns:p14="http://schemas.microsoft.com/office/powerpoint/2010/main">
    <mc:Choice Requires="p14">
      <p:transition p14:dur="0">
        <p:sndAc>
          <p:stSnd>
            <p:snd r:embed="rId1" name="arrow.wav"/>
          </p:stSnd>
        </p:sndAc>
      </p:transition>
    </mc:Choice>
    <mc:Fallback xmlns="">
      <p:transition>
        <p:sndAc>
          <p:stSnd>
            <p:snd r:embed="rId3" name="arrow.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D144A44-B069-453E-9F65-0EEDA5DC7A90}" type="datetime1">
              <a:rPr lang="zh-CN" altLang="en-US" smtClean="0"/>
              <a:t>2025/10/21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204638713"/>
      </p:ext>
    </p:extLst>
  </p:cSld>
  <p:clrMapOvr>
    <a:masterClrMapping/>
  </p:clrMapOvr>
  <mc:AlternateContent xmlns:mc="http://schemas.openxmlformats.org/markup-compatibility/2006" xmlns:p14="http://schemas.microsoft.com/office/powerpoint/2010/main">
    <mc:Choice Requires="p14">
      <p:transition p14:dur="0">
        <p:sndAc>
          <p:stSnd>
            <p:snd r:embed="rId1" name="arrow.wav"/>
          </p:stSnd>
        </p:sndAc>
      </p:transition>
    </mc:Choice>
    <mc:Fallback xmlns="">
      <p:transition>
        <p:sndAc>
          <p:stSnd>
            <p:snd r:embed="rId3" name="arrow.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89A2D15-7D11-4E52-8829-D8A24BADF0FB}" type="datetime1">
              <a:rPr lang="zh-CN" altLang="en-US" smtClean="0"/>
              <a:t>2025/10/21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3643391146"/>
      </p:ext>
    </p:extLst>
  </p:cSld>
  <p:clrMapOvr>
    <a:masterClrMapping/>
  </p:clrMapOvr>
  <mc:AlternateContent xmlns:mc="http://schemas.openxmlformats.org/markup-compatibility/2006" xmlns:p14="http://schemas.microsoft.com/office/powerpoint/2010/main">
    <mc:Choice Requires="p14">
      <p:transition p14:dur="0">
        <p:sndAc>
          <p:stSnd>
            <p:snd r:embed="rId1" name="arrow.wav"/>
          </p:stSnd>
        </p:sndAc>
      </p:transition>
    </mc:Choice>
    <mc:Fallback xmlns="">
      <p:transition>
        <p:sndAc>
          <p:stSnd>
            <p:snd r:embed="rId3" name="arrow.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7EDDDB9-28D4-4072-B0B0-6DE8FED9DA63}" type="datetime1">
              <a:rPr lang="zh-CN" altLang="en-US" smtClean="0"/>
              <a:t>2025/10/21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1105957631"/>
      </p:ext>
    </p:extLst>
  </p:cSld>
  <p:clrMapOvr>
    <a:masterClrMapping/>
  </p:clrMapOvr>
  <mc:AlternateContent xmlns:mc="http://schemas.openxmlformats.org/markup-compatibility/2006" xmlns:p14="http://schemas.microsoft.com/office/powerpoint/2010/main">
    <mc:Choice Requires="p14">
      <p:transition p14:dur="0">
        <p:sndAc>
          <p:stSnd>
            <p:snd r:embed="rId1" name="arrow.wav"/>
          </p:stSnd>
        </p:sndAc>
      </p:transition>
    </mc:Choice>
    <mc:Fallback xmlns="">
      <p:transition>
        <p:sndAc>
          <p:stSnd>
            <p:snd r:embed="rId3" name="arrow.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F567E2E-DBA6-4F2F-899A-7F78C89BCD4E}" type="datetime1">
              <a:rPr lang="zh-CN" altLang="en-US" smtClean="0"/>
              <a:t>2025/10/21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2784601604"/>
      </p:ext>
    </p:extLst>
  </p:cSld>
  <p:clrMapOvr>
    <a:masterClrMapping/>
  </p:clrMapOvr>
  <mc:AlternateContent xmlns:mc="http://schemas.openxmlformats.org/markup-compatibility/2006" xmlns:p14="http://schemas.microsoft.com/office/powerpoint/2010/main">
    <mc:Choice Requires="p14">
      <p:transition p14:dur="0">
        <p:sndAc>
          <p:stSnd>
            <p:snd r:embed="rId1" name="arrow.wav"/>
          </p:stSnd>
        </p:sndAc>
      </p:transition>
    </mc:Choice>
    <mc:Fallback xmlns="">
      <p:transition>
        <p:sndAc>
          <p:stSnd>
            <p:snd r:embed="rId3" name="arrow.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8E98CB7-CABA-42C4-A25E-3DB3E3399436}" type="datetime1">
              <a:rPr lang="zh-CN" altLang="en-US" smtClean="0"/>
              <a:t>2025/10/21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1207155770"/>
      </p:ext>
    </p:extLst>
  </p:cSld>
  <p:clrMapOvr>
    <a:masterClrMapping/>
  </p:clrMapOvr>
  <mc:AlternateContent xmlns:mc="http://schemas.openxmlformats.org/markup-compatibility/2006" xmlns:p14="http://schemas.microsoft.com/office/powerpoint/2010/main">
    <mc:Choice Requires="p14">
      <p:transition p14:dur="0">
        <p:sndAc>
          <p:stSnd>
            <p:snd r:embed="rId1" name="arrow.wav"/>
          </p:stSnd>
        </p:sndAc>
      </p:transition>
    </mc:Choice>
    <mc:Fallback xmlns="">
      <p:transition>
        <p:sndAc>
          <p:stSnd>
            <p:snd r:embed="rId3" name="arrow.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3AB2C89-0BF0-4945-AACB-065456D822A0}" type="datetime1">
              <a:rPr lang="zh-CN" altLang="en-US" smtClean="0"/>
              <a:t>2025/10/21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1624791346"/>
      </p:ext>
    </p:extLst>
  </p:cSld>
  <p:clrMapOvr>
    <a:masterClrMapping/>
  </p:clrMapOvr>
  <mc:AlternateContent xmlns:mc="http://schemas.openxmlformats.org/markup-compatibility/2006" xmlns:p14="http://schemas.microsoft.com/office/powerpoint/2010/main">
    <mc:Choice Requires="p14">
      <p:transition p14:dur="0">
        <p:sndAc>
          <p:stSnd>
            <p:snd r:embed="rId1" name="arrow.wav"/>
          </p:stSnd>
        </p:sndAc>
      </p:transition>
    </mc:Choice>
    <mc:Fallback xmlns="">
      <p:transition>
        <p:sndAc>
          <p:stSnd>
            <p:snd r:embed="rId3" name="arrow.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wav"/></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710903" y="89440"/>
            <a:ext cx="6340197" cy="707886"/>
          </a:xfrm>
          <a:prstGeom prst="rect">
            <a:avLst/>
          </a:prstGeom>
          <a:noFill/>
          <a:ln w="9525">
            <a:noFill/>
            <a:miter lim="800000"/>
            <a:headEnd/>
            <a:tailEnd/>
          </a:ln>
          <a:effectLst>
            <a:outerShdw dist="17961" dir="2700000" algn="ctr" rotWithShape="0">
              <a:schemeClr val="bg2"/>
            </a:outerShdw>
          </a:effectLst>
        </p:spPr>
        <p:txBody>
          <a:bodyPr vert="horz" wrap="none" lIns="91440" tIns="45720" rIns="91440" bIns="45720" numCol="1" anchor="ctr" anchorCtr="0" compatLnSpc="1">
            <a:prstTxWarp prst="textNoShape">
              <a:avLst/>
            </a:prstTxWarp>
            <a:spAutoFit/>
          </a:bodyPr>
          <a:lstStyle/>
          <a:p>
            <a:pPr lvl="0" algn="l" eaLnBrk="0" fontAlgn="base" hangingPunct="0">
              <a:spcAft>
                <a:spcPct val="0"/>
              </a:spcAft>
            </a:pPr>
            <a:r>
              <a:rPr lang="zh-CN" altLang="en-US" dirty="0"/>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baseline="0">
                <a:solidFill>
                  <a:schemeClr val="bg1"/>
                </a:solidFill>
                <a:latin typeface="Arial" pitchFamily="34" charset="0"/>
                <a:ea typeface="微软雅黑" pitchFamily="34" charset="-122"/>
              </a:defRPr>
            </a:lvl1pPr>
          </a:lstStyle>
          <a:p>
            <a:fld id="{0460D47D-72FB-407B-9F85-EF73EA896EEF}" type="datetime1">
              <a:rPr lang="zh-CN" altLang="en-US" smtClean="0"/>
              <a:t>2025/10/21</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baseline="0">
                <a:solidFill>
                  <a:schemeClr val="bg1"/>
                </a:solidFill>
                <a:latin typeface="Arial" pitchFamily="34" charset="0"/>
                <a:ea typeface="微软雅黑" pitchFamily="34" charset="-122"/>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baseline="0">
                <a:solidFill>
                  <a:schemeClr val="bg1"/>
                </a:solidFill>
                <a:latin typeface="Arial" pitchFamily="34" charset="0"/>
                <a:ea typeface="微软雅黑" pitchFamily="34" charset="-122"/>
              </a:defRPr>
            </a:lvl1pPr>
          </a:lstStyle>
          <a:p>
            <a:fld id="{0DAC636D-AD7D-4FC6-A0F9-DD2B0358BE85}" type="slidenum">
              <a:rPr lang="zh-CN" altLang="en-US" smtClean="0"/>
              <a:pPr/>
              <a:t>‹#›</a:t>
            </a:fld>
            <a:endParaRPr lang="zh-CN" altLang="en-US"/>
          </a:p>
        </p:txBody>
      </p:sp>
      <p:sp>
        <p:nvSpPr>
          <p:cNvPr id="10" name="椭圆 9"/>
          <p:cNvSpPr/>
          <p:nvPr userDrawn="1"/>
        </p:nvSpPr>
        <p:spPr>
          <a:xfrm rot="16200000">
            <a:off x="222576" y="244210"/>
            <a:ext cx="398347" cy="398346"/>
          </a:xfrm>
          <a:prstGeom prst="ellipse">
            <a:avLst/>
          </a:prstGeom>
          <a:noFill/>
          <a:ln>
            <a:solidFill>
              <a:srgbClr val="FCF873">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1DF97"/>
              </a:solidFill>
            </a:endParaRPr>
          </a:p>
        </p:txBody>
      </p:sp>
      <p:cxnSp>
        <p:nvCxnSpPr>
          <p:cNvPr id="11" name="直接连接符 10"/>
          <p:cNvCxnSpPr/>
          <p:nvPr userDrawn="1"/>
        </p:nvCxnSpPr>
        <p:spPr>
          <a:xfrm>
            <a:off x="-183148" y="445961"/>
            <a:ext cx="495705" cy="0"/>
          </a:xfrm>
          <a:prstGeom prst="line">
            <a:avLst/>
          </a:prstGeom>
          <a:ln>
            <a:solidFill>
              <a:srgbClr val="FCF873">
                <a:alpha val="70000"/>
              </a:srgbClr>
            </a:solidFill>
          </a:ln>
        </p:spPr>
        <p:style>
          <a:lnRef idx="1">
            <a:schemeClr val="accent1"/>
          </a:lnRef>
          <a:fillRef idx="0">
            <a:schemeClr val="accent1"/>
          </a:fillRef>
          <a:effectRef idx="0">
            <a:schemeClr val="accent1"/>
          </a:effectRef>
          <a:fontRef idx="minor">
            <a:schemeClr val="tx1"/>
          </a:fontRef>
        </p:style>
      </p:cxnSp>
      <p:sp>
        <p:nvSpPr>
          <p:cNvPr id="12" name="椭圆 11"/>
          <p:cNvSpPr>
            <a:spLocks noChangeAspect="1"/>
          </p:cNvSpPr>
          <p:nvPr userDrawn="1"/>
        </p:nvSpPr>
        <p:spPr>
          <a:xfrm rot="16200000">
            <a:off x="312557" y="334925"/>
            <a:ext cx="221871" cy="221871"/>
          </a:xfrm>
          <a:prstGeom prst="ellipse">
            <a:avLst/>
          </a:prstGeom>
          <a:gradFill>
            <a:gsLst>
              <a:gs pos="68000">
                <a:srgbClr val="C69135"/>
              </a:gs>
              <a:gs pos="31000">
                <a:srgbClr val="E6D38F"/>
              </a:gs>
              <a:gs pos="0">
                <a:srgbClr val="FCD860"/>
              </a:gs>
              <a:gs pos="100000">
                <a:srgbClr val="F1DF97"/>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1DF97"/>
              </a:solidFill>
            </a:endParaRPr>
          </a:p>
        </p:txBody>
      </p:sp>
    </p:spTree>
    <p:extLst>
      <p:ext uri="{BB962C8B-B14F-4D97-AF65-F5344CB8AC3E}">
        <p14:creationId xmlns:p14="http://schemas.microsoft.com/office/powerpoint/2010/main" val="42416647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0">
        <p:sndAc>
          <p:stSnd>
            <p:snd r:embed="rId13" name="arrow.wav"/>
          </p:stSnd>
        </p:sndAc>
      </p:transition>
    </mc:Choice>
    <mc:Fallback xmlns="">
      <p:transition>
        <p:sndAc>
          <p:stSnd>
            <p:snd r:embed="rId14" name="arrow.wav"/>
          </p:stSnd>
        </p:sndAc>
      </p:transition>
    </mc:Fallback>
  </mc:AlternateContent>
  <p:hf sldNum="0" hdr="0" ftr="0" dt="0"/>
  <p:txStyles>
    <p:titleStyle>
      <a:lvl1pPr algn="ctr" defTabSz="914400" rtl="0" eaLnBrk="1" latinLnBrk="0" hangingPunct="1">
        <a:spcBef>
          <a:spcPct val="0"/>
        </a:spcBef>
        <a:buNone/>
        <a:defRPr lang="zh-CN" altLang="en-US" sz="4000" b="1" kern="1200" baseline="0" dirty="0">
          <a:solidFill>
            <a:srgbClr val="FF9900"/>
          </a:solidFill>
          <a:effectLst/>
          <a:latin typeface="微软雅黑" pitchFamily="34" charset="-122"/>
          <a:ea typeface="微软雅黑"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bg1"/>
          </a:solidFill>
          <a:latin typeface="Arial" pitchFamily="34" charset="0"/>
          <a:ea typeface="微软雅黑" pitchFamily="34" charset="-122"/>
          <a:cs typeface="+mn-cs"/>
        </a:defRPr>
      </a:lvl1pPr>
      <a:lvl2pPr marL="742950" indent="-285750" algn="l" defTabSz="914400" rtl="0" eaLnBrk="1" latinLnBrk="0" hangingPunct="1">
        <a:spcBef>
          <a:spcPct val="20000"/>
        </a:spcBef>
        <a:buFont typeface="Arial" pitchFamily="34" charset="0"/>
        <a:buChar char="–"/>
        <a:defRPr sz="2800" kern="1200" baseline="0">
          <a:solidFill>
            <a:schemeClr val="bg1"/>
          </a:solidFill>
          <a:latin typeface="Arial" pitchFamily="34" charset="0"/>
          <a:ea typeface="微软雅黑" pitchFamily="34" charset="-122"/>
          <a:cs typeface="+mn-cs"/>
        </a:defRPr>
      </a:lvl2pPr>
      <a:lvl3pPr marL="1143000" indent="-228600" algn="l" defTabSz="914400" rtl="0" eaLnBrk="1" latinLnBrk="0" hangingPunct="1">
        <a:spcBef>
          <a:spcPct val="20000"/>
        </a:spcBef>
        <a:buFont typeface="Arial" pitchFamily="34" charset="0"/>
        <a:buChar char="•"/>
        <a:defRPr sz="2400" kern="1200" baseline="0">
          <a:solidFill>
            <a:schemeClr val="bg1"/>
          </a:solidFill>
          <a:latin typeface="Arial" pitchFamily="34" charset="0"/>
          <a:ea typeface="微软雅黑" pitchFamily="34" charset="-122"/>
          <a:cs typeface="+mn-cs"/>
        </a:defRPr>
      </a:lvl3pPr>
      <a:lvl4pPr marL="1600200" indent="-228600" algn="l" defTabSz="914400" rtl="0" eaLnBrk="1" latinLnBrk="0" hangingPunct="1">
        <a:spcBef>
          <a:spcPct val="20000"/>
        </a:spcBef>
        <a:buFont typeface="Arial" pitchFamily="34" charset="0"/>
        <a:buChar char="–"/>
        <a:defRPr sz="2000" kern="1200" baseline="0">
          <a:solidFill>
            <a:schemeClr val="bg1"/>
          </a:solidFill>
          <a:latin typeface="Arial" pitchFamily="34" charset="0"/>
          <a:ea typeface="微软雅黑" pitchFamily="34" charset="-122"/>
          <a:cs typeface="+mn-cs"/>
        </a:defRPr>
      </a:lvl4pPr>
      <a:lvl5pPr marL="2057400" indent="-228600" algn="l" defTabSz="914400" rtl="0" eaLnBrk="1" latinLnBrk="0" hangingPunct="1">
        <a:spcBef>
          <a:spcPct val="20000"/>
        </a:spcBef>
        <a:buFont typeface="Arial" pitchFamily="34" charset="0"/>
        <a:buChar char="»"/>
        <a:defRPr sz="2000" kern="1200" baseline="0">
          <a:solidFill>
            <a:schemeClr val="bg1"/>
          </a:solidFill>
          <a:latin typeface="Arial" pitchFamily="34"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audio" Target="../media/audio1.wav"/></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audio" Target="../media/audio1.wav"/></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audio" Target="../media/audio1.wav"/><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audio" Target="../media/audio1.wav"/><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image" Target="../media/image2.tmp"/><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audio" Target="../media/audio1.wav"/><Relationship Id="rId5" Type="http://schemas.openxmlformats.org/officeDocument/2006/relationships/tags" Target="../tags/tag7.xml"/><Relationship Id="rId10" Type="http://schemas.openxmlformats.org/officeDocument/2006/relationships/slideLayout" Target="../slideLayouts/slideLayout7.xml"/><Relationship Id="rId4" Type="http://schemas.openxmlformats.org/officeDocument/2006/relationships/tags" Target="../tags/tag6.xml"/><Relationship Id="rId9" Type="http://schemas.openxmlformats.org/officeDocument/2006/relationships/tags" Target="../tags/tag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5.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audio" Target="../media/audio1.wav"/><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image" Target="../media/image2.tmp"/><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audio" Target="../media/audio1.wav"/><Relationship Id="rId5" Type="http://schemas.openxmlformats.org/officeDocument/2006/relationships/tags" Target="../tags/tag16.xml"/><Relationship Id="rId10" Type="http://schemas.openxmlformats.org/officeDocument/2006/relationships/slideLayout" Target="../slideLayouts/slideLayout7.xml"/><Relationship Id="rId4" Type="http://schemas.openxmlformats.org/officeDocument/2006/relationships/tags" Target="../tags/tag15.xml"/><Relationship Id="rId9" Type="http://schemas.openxmlformats.org/officeDocument/2006/relationships/tags" Target="../tags/tag20.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2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ags" Target="../tags/tag21.xml"/><Relationship Id="rId6" Type="http://schemas.openxmlformats.org/officeDocument/2006/relationships/audio" Target="../media/audio1.wav"/><Relationship Id="rId5" Type="http://schemas.openxmlformats.org/officeDocument/2006/relationships/image" Target="../media/image1.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22.xml"/><Relationship Id="rId4" Type="http://schemas.openxmlformats.org/officeDocument/2006/relationships/audio" Target="../media/audio1.wav"/></Relationships>
</file>

<file path=ppt/slides/_rels/slide2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23.xml"/><Relationship Id="rId4" Type="http://schemas.openxmlformats.org/officeDocument/2006/relationships/audio" Target="../media/audio1.wav"/></Relationships>
</file>

<file path=ppt/slides/_rels/slide2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24.xml"/><Relationship Id="rId4" Type="http://schemas.openxmlformats.org/officeDocument/2006/relationships/audio" Target="../media/audio1.wav"/></Relationships>
</file>

<file path=ppt/slides/_rels/slide3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25.xml"/><Relationship Id="rId4" Type="http://schemas.openxmlformats.org/officeDocument/2006/relationships/audio" Target="../media/audio1.wav"/></Relationships>
</file>

<file path=ppt/slides/_rels/slide3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26.xml"/><Relationship Id="rId4" Type="http://schemas.openxmlformats.org/officeDocument/2006/relationships/audio" Target="../media/audio1.wav"/></Relationships>
</file>

<file path=ppt/slides/_rels/slide3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27.xml"/><Relationship Id="rId4" Type="http://schemas.openxmlformats.org/officeDocument/2006/relationships/audio" Target="../media/audio1.wav"/></Relationships>
</file>

<file path=ppt/slides/_rels/slide3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28.xml"/><Relationship Id="rId4" Type="http://schemas.openxmlformats.org/officeDocument/2006/relationships/audio" Target="../media/audio1.wav"/></Relationships>
</file>

<file path=ppt/slides/_rels/slide3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29.xml"/><Relationship Id="rId4" Type="http://schemas.openxmlformats.org/officeDocument/2006/relationships/audio" Target="../media/audio1.wav"/></Relationships>
</file>

<file path=ppt/slides/_rels/slide3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30.xml"/><Relationship Id="rId4" Type="http://schemas.openxmlformats.org/officeDocument/2006/relationships/audio" Target="../media/audio1.wav"/></Relationships>
</file>

<file path=ppt/slides/_rels/slide3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ags" Target="../tags/tag31.xml"/><Relationship Id="rId4" Type="http://schemas.openxmlformats.org/officeDocument/2006/relationships/audio" Target="../media/audio1.wav"/></Relationships>
</file>

<file path=ppt/slides/_rels/slide3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32.xml"/><Relationship Id="rId4" Type="http://schemas.openxmlformats.org/officeDocument/2006/relationships/audio" Target="../media/audio1.wav"/></Relationships>
</file>

<file path=ppt/slides/_rels/slide3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33.xml"/><Relationship Id="rId4" Type="http://schemas.openxmlformats.org/officeDocument/2006/relationships/audio" Target="../media/audio1.wav"/></Relationships>
</file>

<file path=ppt/slides/_rels/slide3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34.xml"/><Relationship Id="rId4" Type="http://schemas.openxmlformats.org/officeDocument/2006/relationships/audio" Target="../media/audio1.wav"/></Relationships>
</file>

<file path=ppt/slides/_rels/slide4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35.xml"/><Relationship Id="rId4" Type="http://schemas.openxmlformats.org/officeDocument/2006/relationships/audio" Target="../media/audio1.wav"/></Relationships>
</file>

<file path=ppt/slides/_rels/slide4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ags" Target="../tags/tag36.xml"/><Relationship Id="rId4" Type="http://schemas.openxmlformats.org/officeDocument/2006/relationships/audio" Target="../media/audio1.wav"/></Relationships>
</file>

<file path=ppt/slides/_rels/slide4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7.png"/></Relationships>
</file>

<file path=ppt/slides/_rels/slide5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8.png"/></Relationships>
</file>

<file path=ppt/slides/_rels/slide6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10.pn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6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12.png"/><Relationship Id="rId4" Type="http://schemas.openxmlformats.org/officeDocument/2006/relationships/image" Target="../media/image1.png"/></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13.png"/></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14.png"/><Relationship Id="rId4" Type="http://schemas.openxmlformats.org/officeDocument/2006/relationships/image" Target="../media/image11.png"/></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15.png"/></Relationships>
</file>

<file path=ppt/slides/_rels/slide7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1.png"/><Relationship Id="rId4" Type="http://schemas.openxmlformats.org/officeDocument/2006/relationships/image" Target="../media/image17.png"/></Relationships>
</file>

<file path=ppt/slides/_rels/slide7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17.png"/><Relationship Id="rId4" Type="http://schemas.openxmlformats.org/officeDocument/2006/relationships/image" Target="../media/image1.png"/></Relationships>
</file>

<file path=ppt/slides/_rels/slide7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1.png"/><Relationship Id="rId4" Type="http://schemas.openxmlformats.org/officeDocument/2006/relationships/image" Target="../media/image17.png"/></Relationships>
</file>

<file path=ppt/slides/_rels/slide7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17.png"/><Relationship Id="rId4" Type="http://schemas.openxmlformats.org/officeDocument/2006/relationships/image" Target="../media/image1.png"/></Relationships>
</file>

<file path=ppt/slides/_rels/slide77.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20.png"/><Relationship Id="rId7" Type="http://schemas.openxmlformats.org/officeDocument/2006/relationships/diagramLayout" Target="../diagrams/layout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diagramData" Target="../diagrams/data1.xml"/><Relationship Id="rId11" Type="http://schemas.openxmlformats.org/officeDocument/2006/relationships/audio" Target="../media/audio1.wav"/><Relationship Id="rId5" Type="http://schemas.openxmlformats.org/officeDocument/2006/relationships/image" Target="../media/image17.png"/><Relationship Id="rId10" Type="http://schemas.microsoft.com/office/2007/relationships/diagramDrawing" Target="../diagrams/drawing1.xml"/><Relationship Id="rId4" Type="http://schemas.openxmlformats.org/officeDocument/2006/relationships/image" Target="../media/image1.png"/><Relationship Id="rId9" Type="http://schemas.openxmlformats.org/officeDocument/2006/relationships/diagramColors" Target="../diagrams/colors1.xml"/></Relationships>
</file>

<file path=ppt/slides/_rels/slide7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7.png"/><Relationship Id="rId4" Type="http://schemas.openxmlformats.org/officeDocument/2006/relationships/image" Target="../media/image1.png"/></Relationships>
</file>

<file path=ppt/slides/_rels/slide7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1.wav"/></Relationships>
</file>

<file path=ppt/slides/_rels/slide8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1.wav"/></Relationships>
</file>

<file path=ppt/slides/_rels/slide8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23.png"/><Relationship Id="rId4" Type="http://schemas.openxmlformats.org/officeDocument/2006/relationships/image" Target="../media/image1.png"/></Relationships>
</file>

<file path=ppt/slides/_rels/slide8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24.png"/><Relationship Id="rId4" Type="http://schemas.openxmlformats.org/officeDocument/2006/relationships/image" Target="../media/image1.png"/></Relationships>
</file>

<file path=ppt/slides/_rels/slide8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25.png"/><Relationship Id="rId4" Type="http://schemas.openxmlformats.org/officeDocument/2006/relationships/image" Target="../media/image1.png"/></Relationships>
</file>

<file path=ppt/slides/_rels/slide8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26.png"/><Relationship Id="rId4" Type="http://schemas.openxmlformats.org/officeDocument/2006/relationships/image" Target="../media/image1.png"/></Relationships>
</file>

<file path=ppt/slides/_rels/slide89.xml.rels><?xml version="1.0" encoding="UTF-8" standalone="yes"?>
<Relationships xmlns="http://schemas.openxmlformats.org/package/2006/relationships"><Relationship Id="rId8" Type="http://schemas.openxmlformats.org/officeDocument/2006/relationships/audio" Target="../media/audio1.wav"/><Relationship Id="rId3" Type="http://schemas.openxmlformats.org/officeDocument/2006/relationships/image" Target="../media/image27.png"/><Relationship Id="rId7"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29.png"/><Relationship Id="rId4" Type="http://schemas.openxmlformats.org/officeDocument/2006/relationships/image" Target="../media/image28.png"/></Relationships>
</file>

<file path=ppt/slides/_rels/slide9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1.png"/><Relationship Id="rId4" Type="http://schemas.openxmlformats.org/officeDocument/2006/relationships/image" Target="../media/image17.png"/></Relationships>
</file>

<file path=ppt/slides/_rels/slide9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1.png"/></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17.png"/><Relationship Id="rId4" Type="http://schemas.openxmlformats.org/officeDocument/2006/relationships/image" Target="../media/image32.png"/></Relationships>
</file>

<file path=ppt/slides/_rels/slide9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1.wav"/></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34.png"/></Relationships>
</file>

<file path=ppt/slides/_rels/slide9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17.png"/><Relationship Id="rId4" Type="http://schemas.openxmlformats.org/officeDocument/2006/relationships/image" Target="../media/image1.png"/></Relationships>
</file>

<file path=ppt/slides/_rels/slide9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1.png"/></Relationships>
</file>

<file path=ppt/slides/_rels/slide9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17.png"/><Relationship Id="rId4" Type="http://schemas.openxmlformats.org/officeDocument/2006/relationships/image" Target="../media/image1.png"/></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38.png"/><Relationship Id="rId4" Type="http://schemas.openxmlformats.org/officeDocument/2006/relationships/image" Target="../media/image17.png"/></Relationships>
</file>

<file path=ppt/slides/_rels/slide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0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0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17.png"/><Relationship Id="rId4" Type="http://schemas.openxmlformats.org/officeDocument/2006/relationships/image" Target="../media/image1.png"/></Relationships>
</file>

<file path=ppt/slides/_rels/slide10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17.png"/></Relationships>
</file>

<file path=ppt/slides/_rels/slide10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42.png"/><Relationship Id="rId4" Type="http://schemas.openxmlformats.org/officeDocument/2006/relationships/image" Target="../media/image17.png"/></Relationships>
</file>

<file path=ppt/slides/_rels/slide10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0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45.png"/></Relationships>
</file>

<file path=ppt/slides/_rels/slide10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audio" Target="../media/audio1.wav"/></Relationships>
</file>

<file path=ppt/slides/_rels/slide1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0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47.png"/><Relationship Id="rId4" Type="http://schemas.openxmlformats.org/officeDocument/2006/relationships/image" Target="../media/image17.png"/></Relationships>
</file>

<file path=ppt/slides/_rels/slide10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audio" Target="../media/audio1.wav"/></Relationships>
</file>

<file path=ppt/slides/_rels/slide11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53.png"/><Relationship Id="rId4" Type="http://schemas.openxmlformats.org/officeDocument/2006/relationships/image" Target="../media/image1.png"/></Relationships>
</file>

<file path=ppt/slides/_rels/slide1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8" Type="http://schemas.openxmlformats.org/officeDocument/2006/relationships/tags" Target="../tags/tag44.xml"/><Relationship Id="rId13" Type="http://schemas.openxmlformats.org/officeDocument/2006/relationships/audio" Target="../media/audio1.wav"/><Relationship Id="rId3" Type="http://schemas.openxmlformats.org/officeDocument/2006/relationships/tags" Target="../tags/tag39.xml"/><Relationship Id="rId7" Type="http://schemas.openxmlformats.org/officeDocument/2006/relationships/tags" Target="../tags/tag43.xml"/><Relationship Id="rId12" Type="http://schemas.openxmlformats.org/officeDocument/2006/relationships/image" Target="../media/image2.tmp"/><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tags" Target="../tags/tag42.xml"/><Relationship Id="rId11" Type="http://schemas.openxmlformats.org/officeDocument/2006/relationships/audio" Target="../media/audio1.wav"/><Relationship Id="rId5" Type="http://schemas.openxmlformats.org/officeDocument/2006/relationships/tags" Target="../tags/tag41.xml"/><Relationship Id="rId10" Type="http://schemas.openxmlformats.org/officeDocument/2006/relationships/slideLayout" Target="../slideLayouts/slideLayout7.xml"/><Relationship Id="rId4" Type="http://schemas.openxmlformats.org/officeDocument/2006/relationships/tags" Target="../tags/tag40.xml"/><Relationship Id="rId9" Type="http://schemas.openxmlformats.org/officeDocument/2006/relationships/tags" Target="../tags/tag45.xml"/></Relationships>
</file>

<file path=ppt/slides/_rels/slide1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54.png"/></Relationships>
</file>

<file path=ppt/slides/_rels/slide12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2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2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3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3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3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5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WordArt 21"/>
          <p:cNvSpPr>
            <a:spLocks noChangeArrowheads="1" noChangeShapeType="1" noTextEdit="1"/>
          </p:cNvSpPr>
          <p:nvPr/>
        </p:nvSpPr>
        <p:spPr bwMode="auto">
          <a:xfrm>
            <a:off x="4439816" y="1268760"/>
            <a:ext cx="2802324" cy="860280"/>
          </a:xfrm>
          <a:prstGeom prst="rect">
            <a:avLst/>
          </a:prstGeom>
        </p:spPr>
        <p:txBody>
          <a:bodyPr wrap="none" fromWordArt="1">
            <a:prstTxWarp prst="textPlain">
              <a:avLst>
                <a:gd name="adj" fmla="val 50000"/>
              </a:avLst>
            </a:prstTxWarp>
          </a:bodyPr>
          <a:lstStyle/>
          <a:p>
            <a:pPr algn="dist">
              <a:defRPr/>
            </a:pPr>
            <a:r>
              <a:rPr lang="zh-CN" altLang="en-US" sz="2800" kern="10" dirty="0">
                <a:ln w="19050" cap="sq">
                  <a:solidFill>
                    <a:srgbClr val="FFCC00"/>
                  </a:solidFill>
                  <a:round/>
                  <a:headEnd/>
                  <a:tailEnd/>
                </a:ln>
                <a:gradFill rotWithShape="0">
                  <a:gsLst>
                    <a:gs pos="0">
                      <a:srgbClr val="50080D"/>
                    </a:gs>
                    <a:gs pos="100000">
                      <a:srgbClr val="FF0000"/>
                    </a:gs>
                  </a:gsLst>
                  <a:lin ang="2700000" scaled="1"/>
                </a:gradFill>
                <a:effectLst>
                  <a:outerShdw dist="35921" dir="2700000" algn="ctr" rotWithShape="0">
                    <a:srgbClr val="000514">
                      <a:alpha val="80000"/>
                    </a:srgbClr>
                  </a:outerShdw>
                </a:effectLst>
                <a:latin typeface="隶书"/>
                <a:ea typeface="隶书"/>
              </a:rPr>
              <a:t>第</a:t>
            </a:r>
            <a:r>
              <a:rPr lang="en-US" altLang="zh-CN" sz="2800" kern="10" dirty="0">
                <a:ln w="19050" cap="sq">
                  <a:solidFill>
                    <a:srgbClr val="FFCC00"/>
                  </a:solidFill>
                  <a:round/>
                  <a:headEnd/>
                  <a:tailEnd/>
                </a:ln>
                <a:gradFill rotWithShape="0">
                  <a:gsLst>
                    <a:gs pos="0">
                      <a:srgbClr val="50080D"/>
                    </a:gs>
                    <a:gs pos="100000">
                      <a:srgbClr val="FF0000"/>
                    </a:gs>
                  </a:gsLst>
                  <a:lin ang="2700000" scaled="1"/>
                </a:gradFill>
                <a:effectLst>
                  <a:outerShdw dist="35921" dir="2700000" algn="ctr" rotWithShape="0">
                    <a:srgbClr val="000514">
                      <a:alpha val="80000"/>
                    </a:srgbClr>
                  </a:outerShdw>
                </a:effectLst>
                <a:latin typeface="隶书"/>
                <a:ea typeface="隶书"/>
              </a:rPr>
              <a:t>4</a:t>
            </a:r>
            <a:r>
              <a:rPr lang="zh-CN" altLang="en-US" sz="2800" kern="10" dirty="0">
                <a:ln w="19050" cap="sq">
                  <a:solidFill>
                    <a:srgbClr val="FFCC00"/>
                  </a:solidFill>
                  <a:round/>
                  <a:headEnd/>
                  <a:tailEnd/>
                </a:ln>
                <a:gradFill rotWithShape="0">
                  <a:gsLst>
                    <a:gs pos="0">
                      <a:srgbClr val="50080D"/>
                    </a:gs>
                    <a:gs pos="100000">
                      <a:srgbClr val="FF0000"/>
                    </a:gs>
                  </a:gsLst>
                  <a:lin ang="2700000" scaled="1"/>
                </a:gradFill>
                <a:effectLst>
                  <a:outerShdw dist="35921" dir="2700000" algn="ctr" rotWithShape="0">
                    <a:srgbClr val="000514">
                      <a:alpha val="80000"/>
                    </a:srgbClr>
                  </a:outerShdw>
                </a:effectLst>
                <a:latin typeface="隶书"/>
                <a:ea typeface="隶书"/>
              </a:rPr>
              <a:t>章</a:t>
            </a:r>
          </a:p>
        </p:txBody>
      </p:sp>
      <p:sp>
        <p:nvSpPr>
          <p:cNvPr id="9" name="标题 1"/>
          <p:cNvSpPr txBox="1">
            <a:spLocks/>
          </p:cNvSpPr>
          <p:nvPr/>
        </p:nvSpPr>
        <p:spPr bwMode="auto">
          <a:xfrm>
            <a:off x="695400" y="2887032"/>
            <a:ext cx="10717584" cy="1368152"/>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48575"/>
              </a:avLst>
            </a:prstTxWarp>
            <a:spAutoFit/>
          </a:bodyPr>
          <a:lstStyle>
            <a:lvl1pPr algn="l" rtl="0" eaLnBrk="0" fontAlgn="base" hangingPunct="0">
              <a:spcBef>
                <a:spcPct val="0"/>
              </a:spcBef>
              <a:spcAft>
                <a:spcPct val="0"/>
              </a:spcAft>
              <a:defRPr sz="3600">
                <a:solidFill>
                  <a:srgbClr val="FF9900"/>
                </a:solidFill>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algn="dist">
              <a:defRPr/>
            </a:pPr>
            <a:r>
              <a:rPr lang="en-US" altLang="zh-CN" sz="2800" kern="10" spc="300" dirty="0">
                <a:ln w="19050" cap="sq">
                  <a:solidFill>
                    <a:srgbClr val="FFCC00"/>
                  </a:solidFill>
                  <a:round/>
                  <a:headEnd/>
                  <a:tailEnd/>
                </a:ln>
                <a:gradFill rotWithShape="1">
                  <a:gsLst>
                    <a:gs pos="0">
                      <a:srgbClr val="50080D"/>
                    </a:gs>
                    <a:gs pos="100000">
                      <a:srgbClr val="FF0000"/>
                    </a:gs>
                  </a:gsLst>
                  <a:lin ang="2700000" scaled="1"/>
                </a:gradFill>
                <a:effectLst>
                  <a:outerShdw dist="35921" dir="2700000" algn="ctr" rotWithShape="0">
                    <a:srgbClr val="000514">
                      <a:alpha val="79999"/>
                    </a:srgbClr>
                  </a:outerShdw>
                </a:effectLst>
                <a:latin typeface="Arial Black" pitchFamily="34" charset="0"/>
                <a:ea typeface="隶书"/>
              </a:rPr>
              <a:t>Structured Query Language</a:t>
            </a:r>
            <a:endParaRPr lang="zh-CN" altLang="en-US" sz="2800" kern="10" spc="300" baseline="-25000" dirty="0">
              <a:ln w="19050" cap="sq">
                <a:solidFill>
                  <a:srgbClr val="FFCC00"/>
                </a:solidFill>
                <a:round/>
                <a:headEnd/>
                <a:tailEnd/>
              </a:ln>
              <a:gradFill rotWithShape="1">
                <a:gsLst>
                  <a:gs pos="0">
                    <a:srgbClr val="50080D"/>
                  </a:gs>
                  <a:gs pos="100000">
                    <a:srgbClr val="FF0000"/>
                  </a:gs>
                </a:gsLst>
                <a:lin ang="2700000" scaled="1"/>
              </a:gradFill>
              <a:effectLst>
                <a:outerShdw dist="35921" dir="2700000" algn="ctr" rotWithShape="0">
                  <a:srgbClr val="000514">
                    <a:alpha val="79999"/>
                  </a:srgbClr>
                </a:outerShdw>
              </a:effectLst>
              <a:latin typeface="Arial Black" pitchFamily="34" charset="0"/>
              <a:ea typeface="隶书"/>
            </a:endParaRPr>
          </a:p>
        </p:txBody>
      </p:sp>
      <p:sp>
        <p:nvSpPr>
          <p:cNvPr id="4" name="标题 1"/>
          <p:cNvSpPr txBox="1">
            <a:spLocks/>
          </p:cNvSpPr>
          <p:nvPr/>
        </p:nvSpPr>
        <p:spPr bwMode="auto">
          <a:xfrm>
            <a:off x="4439816" y="5013176"/>
            <a:ext cx="3228752" cy="936104"/>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48575"/>
              </a:avLst>
            </a:prstTxWarp>
            <a:spAutoFit/>
          </a:bodyPr>
          <a:lstStyle>
            <a:lvl1pPr algn="l" rtl="0" eaLnBrk="0" fontAlgn="base" hangingPunct="0">
              <a:spcBef>
                <a:spcPct val="0"/>
              </a:spcBef>
              <a:spcAft>
                <a:spcPct val="0"/>
              </a:spcAft>
              <a:defRPr sz="3600">
                <a:solidFill>
                  <a:srgbClr val="FF9900"/>
                </a:solidFill>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algn="dist">
              <a:defRPr/>
            </a:pPr>
            <a:r>
              <a:rPr lang="en-US" altLang="zh-CN" sz="2800" b="1" kern="10" spc="300" dirty="0">
                <a:ln w="19050" cap="sq">
                  <a:solidFill>
                    <a:srgbClr val="FFCC00"/>
                  </a:solidFill>
                  <a:round/>
                  <a:headEnd/>
                  <a:tailEnd/>
                </a:ln>
                <a:gradFill rotWithShape="1">
                  <a:gsLst>
                    <a:gs pos="0">
                      <a:srgbClr val="50080D"/>
                    </a:gs>
                    <a:gs pos="100000">
                      <a:srgbClr val="FF0000"/>
                    </a:gs>
                  </a:gsLst>
                  <a:lin ang="2700000" scaled="1"/>
                </a:gradFill>
                <a:effectLst>
                  <a:outerShdw dist="35921" dir="2700000" algn="ctr" rotWithShape="0">
                    <a:srgbClr val="000514">
                      <a:alpha val="79999"/>
                    </a:srgbClr>
                  </a:outerShdw>
                </a:effectLst>
                <a:latin typeface="Times New Roman" pitchFamily="18" charset="0"/>
                <a:ea typeface="隶书"/>
                <a:cs typeface="Times New Roman" pitchFamily="18" charset="0"/>
              </a:rPr>
              <a:t>SQL</a:t>
            </a:r>
            <a:endParaRPr lang="zh-CN" altLang="en-US" sz="2800" b="1" kern="10" spc="300" baseline="-25000" dirty="0">
              <a:ln w="19050" cap="sq">
                <a:solidFill>
                  <a:srgbClr val="FFCC00"/>
                </a:solidFill>
                <a:round/>
                <a:headEnd/>
                <a:tailEnd/>
              </a:ln>
              <a:gradFill rotWithShape="1">
                <a:gsLst>
                  <a:gs pos="0">
                    <a:srgbClr val="50080D"/>
                  </a:gs>
                  <a:gs pos="100000">
                    <a:srgbClr val="FF0000"/>
                  </a:gs>
                </a:gsLst>
                <a:lin ang="2700000" scaled="1"/>
              </a:gradFill>
              <a:effectLst>
                <a:outerShdw dist="35921" dir="2700000" algn="ctr" rotWithShape="0">
                  <a:srgbClr val="000514">
                    <a:alpha val="79999"/>
                  </a:srgbClr>
                </a:outerShdw>
              </a:effectLst>
              <a:latin typeface="Times New Roman" pitchFamily="18" charset="0"/>
              <a:ea typeface="隶书"/>
              <a:cs typeface="Times New Roman" pitchFamily="18" charset="0"/>
            </a:endParaRPr>
          </a:p>
        </p:txBody>
      </p:sp>
    </p:spTree>
    <p:custDataLst>
      <p:tags r:id="rId1"/>
    </p:custDataLst>
    <p:extLst>
      <p:ext uri="{BB962C8B-B14F-4D97-AF65-F5344CB8AC3E}">
        <p14:creationId xmlns:p14="http://schemas.microsoft.com/office/powerpoint/2010/main" val="3511854362"/>
      </p:ext>
    </p:extLst>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4">
            <a:extLst>
              <a:ext uri="{FF2B5EF4-FFF2-40B4-BE49-F238E27FC236}">
                <a16:creationId xmlns:a16="http://schemas.microsoft.com/office/drawing/2014/main" id="{1EE5D00C-E21A-46EB-A49B-29E2F5647826}"/>
              </a:ext>
            </a:extLst>
          </p:cNvPr>
          <p:cNvSpPr txBox="1">
            <a:spLocks noGrp="1" noChangeArrowheads="1"/>
          </p:cNvSpPr>
          <p:nvPr/>
        </p:nvSpPr>
        <p:spPr bwMode="auto">
          <a:xfrm>
            <a:off x="2057400" y="624840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defRPr/>
            </a:pPr>
            <a:fld id="{A77A67EA-C697-4583-92B8-EFE1E60DC5E9}" type="datetime1">
              <a:rPr lang="zh-CN" altLang="en-US" sz="1400">
                <a:latin typeface="+mj-lt"/>
              </a:rPr>
              <a:pPr eaLnBrk="0" hangingPunct="0">
                <a:defRPr/>
              </a:pPr>
              <a:t>2025/10/21</a:t>
            </a:fld>
            <a:endParaRPr lang="en-US" altLang="zh-CN" sz="1400">
              <a:latin typeface="+mj-lt"/>
            </a:endParaRPr>
          </a:p>
        </p:txBody>
      </p:sp>
      <p:sp>
        <p:nvSpPr>
          <p:cNvPr id="6" name="Rectangle 96">
            <a:extLst>
              <a:ext uri="{FF2B5EF4-FFF2-40B4-BE49-F238E27FC236}">
                <a16:creationId xmlns:a16="http://schemas.microsoft.com/office/drawing/2014/main" id="{46888FB3-F707-4428-9BA1-1BEF2AB3F5D9}"/>
              </a:ext>
            </a:extLst>
          </p:cNvPr>
          <p:cNvSpPr txBox="1">
            <a:spLocks noGrp="1" noChangeArrowheads="1"/>
          </p:cNvSpPr>
          <p:nvPr/>
        </p:nvSpPr>
        <p:spPr bwMode="auto">
          <a:xfrm>
            <a:off x="8382000" y="624840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a:solidFill>
                  <a:schemeClr val="tx1"/>
                </a:solidFill>
                <a:latin typeface="Tahoma" panose="020B0604030504040204" pitchFamily="34" charset="0"/>
                <a:ea typeface="宋体" panose="02010600030101010101" pitchFamily="2" charset="-122"/>
              </a:defRPr>
            </a:lvl1pPr>
            <a:lvl2pPr marL="742950" indent="-285750" eaLnBrk="0" hangingPunct="0">
              <a:defRPr kumimoji="1">
                <a:solidFill>
                  <a:schemeClr val="tx1"/>
                </a:solidFill>
                <a:latin typeface="Tahoma" panose="020B0604030504040204" pitchFamily="34" charset="0"/>
                <a:ea typeface="宋体" panose="02010600030101010101" pitchFamily="2" charset="-122"/>
              </a:defRPr>
            </a:lvl2pPr>
            <a:lvl3pPr marL="1143000" indent="-228600" eaLnBrk="0" hangingPunct="0">
              <a:defRPr kumimoji="1">
                <a:solidFill>
                  <a:schemeClr val="tx1"/>
                </a:solidFill>
                <a:latin typeface="Tahoma" panose="020B0604030504040204" pitchFamily="34" charset="0"/>
                <a:ea typeface="宋体" panose="02010600030101010101" pitchFamily="2" charset="-122"/>
              </a:defRPr>
            </a:lvl3pPr>
            <a:lvl4pPr marL="1600200" indent="-228600" eaLnBrk="0" hangingPunct="0">
              <a:defRPr kumimoji="1">
                <a:solidFill>
                  <a:schemeClr val="tx1"/>
                </a:solidFill>
                <a:latin typeface="Tahoma" panose="020B0604030504040204" pitchFamily="34" charset="0"/>
                <a:ea typeface="宋体" panose="02010600030101010101" pitchFamily="2" charset="-122"/>
              </a:defRPr>
            </a:lvl4pPr>
            <a:lvl5pPr marL="2057400" indent="-228600" eaLnBrk="0" hangingPunct="0">
              <a:defRPr kumimoj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9pPr>
          </a:lstStyle>
          <a:p>
            <a:pPr algn="r"/>
            <a:fld id="{A86113B8-7229-453D-AB8B-1609E2F9D1FE}" type="slidenum">
              <a:rPr kumimoji="0" lang="en-US" altLang="zh-CN" sz="1400">
                <a:latin typeface="Times New Roman" panose="02020603050405020304" pitchFamily="18" charset="0"/>
              </a:rPr>
              <a:pPr algn="r"/>
              <a:t>2</a:t>
            </a:fld>
            <a:endParaRPr kumimoji="0" lang="en-US" altLang="zh-CN" sz="1400">
              <a:latin typeface="Times New Roman" panose="02020603050405020304" pitchFamily="18" charset="0"/>
            </a:endParaRPr>
          </a:p>
        </p:txBody>
      </p:sp>
      <p:sp>
        <p:nvSpPr>
          <p:cNvPr id="3076" name="Rectangle 2">
            <a:extLst>
              <a:ext uri="{FF2B5EF4-FFF2-40B4-BE49-F238E27FC236}">
                <a16:creationId xmlns:a16="http://schemas.microsoft.com/office/drawing/2014/main" id="{9298BF07-5F7E-4BB9-BF38-E502BBD65ED4}"/>
              </a:ext>
            </a:extLst>
          </p:cNvPr>
          <p:cNvSpPr>
            <a:spLocks noGrp="1" noChangeArrowheads="1"/>
          </p:cNvSpPr>
          <p:nvPr>
            <p:ph type="ctrTitle"/>
          </p:nvPr>
        </p:nvSpPr>
        <p:spPr>
          <a:xfrm>
            <a:off x="4314903" y="1268760"/>
            <a:ext cx="3562194" cy="707886"/>
          </a:xfrm>
        </p:spPr>
        <p:txBody>
          <a:bodyPr/>
          <a:lstStyle/>
          <a:p>
            <a:pPr eaLnBrk="1" hangingPunct="1"/>
            <a:r>
              <a:rPr lang="zh-CN" altLang="en-US" dirty="0"/>
              <a:t>第</a:t>
            </a:r>
            <a:r>
              <a:rPr lang="en-US" altLang="zh-CN" dirty="0"/>
              <a:t>4</a:t>
            </a:r>
            <a:r>
              <a:rPr lang="zh-CN" altLang="en-US" dirty="0"/>
              <a:t>章</a:t>
            </a:r>
            <a:r>
              <a:rPr lang="en-US" altLang="zh-CN" dirty="0"/>
              <a:t>SQL</a:t>
            </a:r>
            <a:r>
              <a:rPr lang="zh-CN" altLang="en-US" dirty="0"/>
              <a:t>语言</a:t>
            </a:r>
          </a:p>
        </p:txBody>
      </p:sp>
      <p:sp>
        <p:nvSpPr>
          <p:cNvPr id="3077" name="Rectangle 3">
            <a:extLst>
              <a:ext uri="{FF2B5EF4-FFF2-40B4-BE49-F238E27FC236}">
                <a16:creationId xmlns:a16="http://schemas.microsoft.com/office/drawing/2014/main" id="{352E22D2-EE46-44BB-A9EC-740FD4F4C6B8}"/>
              </a:ext>
            </a:extLst>
          </p:cNvPr>
          <p:cNvSpPr>
            <a:spLocks noGrp="1" noChangeArrowheads="1"/>
          </p:cNvSpPr>
          <p:nvPr>
            <p:ph type="subTitle" idx="1"/>
          </p:nvPr>
        </p:nvSpPr>
        <p:spPr>
          <a:xfrm>
            <a:off x="2056693" y="2348880"/>
            <a:ext cx="7010400" cy="3733800"/>
          </a:xfrm>
        </p:spPr>
        <p:txBody>
          <a:bodyPr/>
          <a:lstStyle/>
          <a:p>
            <a:pPr eaLnBrk="1" hangingPunct="1"/>
            <a:r>
              <a:rPr lang="en-US" altLang="zh-CN" dirty="0">
                <a:solidFill>
                  <a:schemeClr val="bg1"/>
                </a:solidFill>
              </a:rPr>
              <a:t>       4.1</a:t>
            </a:r>
            <a:r>
              <a:rPr lang="zh-CN" altLang="en-US" dirty="0">
                <a:solidFill>
                  <a:schemeClr val="bg1"/>
                </a:solidFill>
              </a:rPr>
              <a:t>、</a:t>
            </a:r>
            <a:r>
              <a:rPr lang="en-US" altLang="zh-CN" dirty="0">
                <a:solidFill>
                  <a:schemeClr val="bg1"/>
                </a:solidFill>
              </a:rPr>
              <a:t>SQL</a:t>
            </a:r>
            <a:r>
              <a:rPr lang="zh-CN" altLang="en-US" dirty="0">
                <a:solidFill>
                  <a:schemeClr val="bg1"/>
                </a:solidFill>
              </a:rPr>
              <a:t>语言简介</a:t>
            </a:r>
          </a:p>
          <a:p>
            <a:pPr eaLnBrk="1" hangingPunct="1"/>
            <a:r>
              <a:rPr lang="en-US" altLang="zh-CN" dirty="0">
                <a:solidFill>
                  <a:schemeClr val="bg1"/>
                </a:solidFill>
              </a:rPr>
              <a:t>4.2</a:t>
            </a:r>
            <a:r>
              <a:rPr lang="zh-CN" altLang="en-US" dirty="0">
                <a:solidFill>
                  <a:schemeClr val="bg1"/>
                </a:solidFill>
              </a:rPr>
              <a:t>、数据定义</a:t>
            </a:r>
          </a:p>
          <a:p>
            <a:pPr eaLnBrk="1" hangingPunct="1"/>
            <a:r>
              <a:rPr lang="en-US" altLang="zh-CN" dirty="0">
                <a:solidFill>
                  <a:schemeClr val="bg1"/>
                </a:solidFill>
              </a:rPr>
              <a:t>4.3</a:t>
            </a:r>
            <a:r>
              <a:rPr lang="zh-CN" altLang="en-US" dirty="0">
                <a:solidFill>
                  <a:schemeClr val="bg1"/>
                </a:solidFill>
              </a:rPr>
              <a:t>、数据更新</a:t>
            </a:r>
          </a:p>
          <a:p>
            <a:pPr eaLnBrk="1" hangingPunct="1"/>
            <a:r>
              <a:rPr lang="en-US" altLang="zh-CN" dirty="0">
                <a:solidFill>
                  <a:schemeClr val="bg1"/>
                </a:solidFill>
              </a:rPr>
              <a:t>4.4</a:t>
            </a:r>
            <a:r>
              <a:rPr lang="zh-CN" altLang="en-US" dirty="0">
                <a:solidFill>
                  <a:schemeClr val="bg1"/>
                </a:solidFill>
              </a:rPr>
              <a:t>、简单查询</a:t>
            </a:r>
          </a:p>
          <a:p>
            <a:pPr eaLnBrk="1" hangingPunct="1"/>
            <a:r>
              <a:rPr lang="en-US" altLang="zh-CN" dirty="0">
                <a:solidFill>
                  <a:schemeClr val="bg1"/>
                </a:solidFill>
              </a:rPr>
              <a:t>4.5</a:t>
            </a:r>
            <a:r>
              <a:rPr lang="zh-CN" altLang="en-US" dirty="0">
                <a:solidFill>
                  <a:schemeClr val="bg1"/>
                </a:solidFill>
              </a:rPr>
              <a:t>、</a:t>
            </a:r>
            <a:r>
              <a:rPr lang="en-US" altLang="en-US" dirty="0" err="1">
                <a:solidFill>
                  <a:schemeClr val="bg1"/>
                </a:solidFill>
              </a:rPr>
              <a:t>复杂查询</a:t>
            </a:r>
            <a:endParaRPr lang="zh-CN" altLang="en-US"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E85BAE8A-018A-4060-B41C-F728AE8F31E0}"/>
              </a:ext>
            </a:extLst>
          </p:cNvPr>
          <p:cNvSpPr>
            <a:spLocks noGrp="1" noChangeArrowheads="1"/>
          </p:cNvSpPr>
          <p:nvPr>
            <p:ph type="title" idx="4294967295"/>
          </p:nvPr>
        </p:nvSpPr>
        <p:spPr>
          <a:xfrm>
            <a:off x="4102834" y="838270"/>
            <a:ext cx="3262432" cy="707886"/>
          </a:xfrm>
        </p:spPr>
        <p:txBody>
          <a:bodyPr/>
          <a:lstStyle/>
          <a:p>
            <a:r>
              <a:rPr lang="zh-CN" altLang="en-US"/>
              <a:t>本章学习目标</a:t>
            </a:r>
          </a:p>
        </p:txBody>
      </p:sp>
      <p:sp>
        <p:nvSpPr>
          <p:cNvPr id="123907" name="Rectangle 3">
            <a:extLst>
              <a:ext uri="{FF2B5EF4-FFF2-40B4-BE49-F238E27FC236}">
                <a16:creationId xmlns:a16="http://schemas.microsoft.com/office/drawing/2014/main" id="{BBBF124E-BC3E-40DF-9922-F11FEEF3C8A4}"/>
              </a:ext>
            </a:extLst>
          </p:cNvPr>
          <p:cNvSpPr>
            <a:spLocks noGrp="1" noChangeArrowheads="1"/>
          </p:cNvSpPr>
          <p:nvPr>
            <p:ph type="body" idx="4294967295"/>
          </p:nvPr>
        </p:nvSpPr>
        <p:spPr>
          <a:xfrm>
            <a:off x="2927351" y="1773238"/>
            <a:ext cx="7489825" cy="4489450"/>
          </a:xfrm>
        </p:spPr>
        <p:txBody>
          <a:bodyPr/>
          <a:lstStyle/>
          <a:p>
            <a:pPr eaLnBrk="1" hangingPunct="1"/>
            <a:r>
              <a:rPr lang="en-US" altLang="zh-CN"/>
              <a:t>1</a:t>
            </a:r>
            <a:r>
              <a:rPr lang="zh-CN" altLang="en-US"/>
              <a:t>、了解</a:t>
            </a:r>
            <a:r>
              <a:rPr lang="en-US" altLang="zh-CN"/>
              <a:t>SQL</a:t>
            </a:r>
            <a:r>
              <a:rPr lang="zh-CN" altLang="en-US"/>
              <a:t>语言的发展</a:t>
            </a:r>
          </a:p>
          <a:p>
            <a:pPr eaLnBrk="1" hangingPunct="1"/>
            <a:r>
              <a:rPr lang="en-US" altLang="zh-CN"/>
              <a:t>2</a:t>
            </a:r>
            <a:r>
              <a:rPr lang="zh-CN" altLang="en-US"/>
              <a:t>、理解</a:t>
            </a:r>
            <a:r>
              <a:rPr lang="en-US" altLang="zh-CN"/>
              <a:t>SQL</a:t>
            </a:r>
            <a:r>
              <a:rPr lang="zh-CN" altLang="en-US"/>
              <a:t>的特点</a:t>
            </a:r>
          </a:p>
          <a:p>
            <a:pPr eaLnBrk="1" hangingPunct="1"/>
            <a:r>
              <a:rPr lang="en-US" altLang="zh-CN"/>
              <a:t>3</a:t>
            </a:r>
            <a:r>
              <a:rPr lang="zh-CN" altLang="en-US"/>
              <a:t>、掌握</a:t>
            </a:r>
            <a:r>
              <a:rPr lang="en-US" altLang="zh-CN"/>
              <a:t>SQL</a:t>
            </a:r>
            <a:r>
              <a:rPr lang="zh-CN" altLang="en-US"/>
              <a:t>中数据定义</a:t>
            </a:r>
          </a:p>
          <a:p>
            <a:pPr eaLnBrk="1" hangingPunct="1"/>
            <a:r>
              <a:rPr lang="en-US" altLang="zh-CN"/>
              <a:t>4</a:t>
            </a:r>
            <a:r>
              <a:rPr lang="zh-CN" altLang="en-US"/>
              <a:t>、掌握</a:t>
            </a:r>
            <a:r>
              <a:rPr lang="en-US" altLang="zh-CN"/>
              <a:t>SQL</a:t>
            </a:r>
            <a:r>
              <a:rPr lang="zh-CN" altLang="en-US"/>
              <a:t>中数据更新</a:t>
            </a:r>
          </a:p>
          <a:p>
            <a:pPr eaLnBrk="1" hangingPunct="1"/>
            <a:r>
              <a:rPr lang="en-US" altLang="zh-CN"/>
              <a:t>5</a:t>
            </a:r>
            <a:r>
              <a:rPr lang="zh-CN" altLang="en-US"/>
              <a:t>、掌握</a:t>
            </a:r>
            <a:r>
              <a:rPr lang="en-US" altLang="zh-CN"/>
              <a:t>SQL</a:t>
            </a:r>
            <a:r>
              <a:rPr lang="zh-CN" altLang="en-US"/>
              <a:t>中简单查询</a:t>
            </a:r>
          </a:p>
          <a:p>
            <a:pPr eaLnBrk="1" hangingPunct="1"/>
            <a:r>
              <a:rPr lang="en-US" altLang="zh-CN"/>
              <a:t>6</a:t>
            </a:r>
            <a:r>
              <a:rPr lang="zh-CN" altLang="en-US"/>
              <a:t>、掌握</a:t>
            </a:r>
            <a:r>
              <a:rPr lang="en-US" altLang="zh-CN"/>
              <a:t>SQL</a:t>
            </a:r>
            <a:r>
              <a:rPr lang="zh-CN" altLang="en-US"/>
              <a:t>中</a:t>
            </a:r>
            <a:r>
              <a:rPr lang="en-US" altLang="en-US"/>
              <a:t>复杂查询</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222450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en-US" altLang="zh-CN" sz="4000" b="1" dirty="0">
                <a:solidFill>
                  <a:srgbClr val="FFFFCC"/>
                </a:solidFill>
                <a:effectLst>
                  <a:outerShdw blurRad="38100" dist="38100" dir="2700000" algn="tl">
                    <a:srgbClr val="000000"/>
                  </a:outerShdw>
                </a:effectLst>
              </a:rPr>
              <a:t>SQL</a:t>
            </a:r>
            <a:r>
              <a:rPr lang="zh-CN" altLang="en-US" sz="4000" b="1" dirty="0">
                <a:solidFill>
                  <a:srgbClr val="FFFFCC"/>
                </a:solidFill>
                <a:effectLst>
                  <a:outerShdw blurRad="38100" dist="38100" dir="2700000" algn="tl">
                    <a:srgbClr val="000000"/>
                  </a:outerShdw>
                </a:effectLst>
              </a:rPr>
              <a:t>简介</a:t>
            </a:r>
            <a:endParaRPr lang="zh-CN" altLang="en-US" sz="4000" b="1" dirty="0">
              <a:solidFill>
                <a:srgbClr val="FFFFCC"/>
              </a:solidFill>
              <a:effectLst>
                <a:outerShdw blurRad="38100" dist="38100" dir="2700000" algn="tl">
                  <a:srgbClr val="000000"/>
                </a:outerShdw>
              </a:effectLst>
              <a:cs typeface="+mn-cs"/>
            </a:endParaRPr>
          </a:p>
        </p:txBody>
      </p:sp>
      <p:sp>
        <p:nvSpPr>
          <p:cNvPr id="10" name="Rectangle 4"/>
          <p:cNvSpPr txBox="1">
            <a:spLocks noChangeArrowheads="1"/>
          </p:cNvSpPr>
          <p:nvPr/>
        </p:nvSpPr>
        <p:spPr bwMode="auto">
          <a:xfrm>
            <a:off x="465450" y="1023937"/>
            <a:ext cx="11377264" cy="139720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ts val="2400"/>
              </a:spcAft>
              <a:defRPr/>
            </a:pPr>
            <a:r>
              <a:rPr lang="en-US" altLang="zh-CN" sz="3600" b="1" dirty="0">
                <a:solidFill>
                  <a:srgbClr val="FFC000"/>
                </a:solidFill>
                <a:latin typeface="Times New Roman" pitchFamily="18" charset="0"/>
                <a:cs typeface="Times New Roman" pitchFamily="18" charset="0"/>
              </a:rPr>
              <a:t>SQL</a:t>
            </a:r>
            <a:r>
              <a:rPr lang="zh-CN" altLang="en-US" sz="3600" dirty="0">
                <a:latin typeface="Times New Roman" pitchFamily="18" charset="0"/>
                <a:cs typeface="Times New Roman" pitchFamily="18" charset="0"/>
              </a:rPr>
              <a:t>（</a:t>
            </a:r>
            <a:r>
              <a:rPr lang="en-US" altLang="zh-CN" sz="3600" b="1" i="1" dirty="0">
                <a:solidFill>
                  <a:srgbClr val="FFC000"/>
                </a:solidFill>
                <a:latin typeface="Times New Roman" pitchFamily="18" charset="0"/>
                <a:cs typeface="Times New Roman" pitchFamily="18" charset="0"/>
              </a:rPr>
              <a:t>Structured Query Language</a:t>
            </a:r>
            <a:r>
              <a:rPr lang="zh-CN" altLang="en-US" sz="3600" dirty="0">
                <a:latin typeface="Times New Roman" pitchFamily="18" charset="0"/>
                <a:cs typeface="Times New Roman" pitchFamily="18" charset="0"/>
              </a:rPr>
              <a:t>）</a:t>
            </a:r>
            <a:r>
              <a:rPr lang="zh-CN" altLang="en-US" dirty="0">
                <a:latin typeface="Times New Roman" pitchFamily="18" charset="0"/>
                <a:cs typeface="Times New Roman" pitchFamily="18" charset="0"/>
              </a:rPr>
              <a:t>译为</a:t>
            </a:r>
            <a:r>
              <a:rPr lang="zh-CN" altLang="en-US" sz="3600" b="1" dirty="0">
                <a:solidFill>
                  <a:srgbClr val="00FFFF"/>
                </a:solidFill>
                <a:latin typeface="Times New Roman" pitchFamily="18" charset="0"/>
                <a:cs typeface="Times New Roman" pitchFamily="18" charset="0"/>
              </a:rPr>
              <a:t>结构化查询语言</a:t>
            </a:r>
            <a:r>
              <a:rPr lang="zh-CN" altLang="en-US" sz="3600" dirty="0">
                <a:latin typeface="Times New Roman" pitchFamily="18" charset="0"/>
                <a:cs typeface="Times New Roman" pitchFamily="18" charset="0"/>
              </a:rPr>
              <a:t>，</a:t>
            </a:r>
            <a:r>
              <a:rPr lang="zh-CN" altLang="en-US" dirty="0">
                <a:latin typeface="Times New Roman" pitchFamily="18" charset="0"/>
                <a:cs typeface="Times New Roman" pitchFamily="18" charset="0"/>
              </a:rPr>
              <a:t>是标准的关系数据操作语言</a:t>
            </a:r>
            <a:r>
              <a:rPr lang="zh-CN" altLang="en-US" sz="3600" dirty="0">
                <a:latin typeface="Times New Roman" pitchFamily="18" charset="0"/>
                <a:cs typeface="Times New Roman" pitchFamily="18" charset="0"/>
              </a:rPr>
              <a:t>。</a:t>
            </a:r>
          </a:p>
        </p:txBody>
      </p:sp>
      <p:grpSp>
        <p:nvGrpSpPr>
          <p:cNvPr id="2" name="组合 1">
            <a:extLst>
              <a:ext uri="{FF2B5EF4-FFF2-40B4-BE49-F238E27FC236}">
                <a16:creationId xmlns:a16="http://schemas.microsoft.com/office/drawing/2014/main" id="{8058EF0C-3DD5-42AF-8370-24D86DD2B246}"/>
              </a:ext>
            </a:extLst>
          </p:cNvPr>
          <p:cNvGrpSpPr/>
          <p:nvPr/>
        </p:nvGrpSpPr>
        <p:grpSpPr>
          <a:xfrm>
            <a:off x="878796" y="2656413"/>
            <a:ext cx="10550571" cy="1953133"/>
            <a:chOff x="1397941" y="4965033"/>
            <a:chExt cx="7145727" cy="1425782"/>
          </a:xfrm>
        </p:grpSpPr>
        <p:sp>
          <p:nvSpPr>
            <p:cNvPr id="5" name="矩形 14">
              <a:extLst>
                <a:ext uri="{FF2B5EF4-FFF2-40B4-BE49-F238E27FC236}">
                  <a16:creationId xmlns:a16="http://schemas.microsoft.com/office/drawing/2014/main" id="{AA7D8FEA-0555-4795-9A34-8942570F6CCB}"/>
                </a:ext>
              </a:extLst>
            </p:cNvPr>
            <p:cNvSpPr>
              <a:spLocks noChangeArrowheads="1"/>
            </p:cNvSpPr>
            <p:nvPr/>
          </p:nvSpPr>
          <p:spPr bwMode="auto">
            <a:xfrm>
              <a:off x="1476263" y="4965033"/>
              <a:ext cx="623898" cy="337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panose="020F0502020204030204" pitchFamily="34" charset="0"/>
                  <a:ea typeface="微软雅黑" panose="020B0503020204020204" pitchFamily="34" charset="-122"/>
                </a:defRPr>
              </a:lvl1pPr>
              <a:lvl2pPr marL="742950" indent="-285750">
                <a:defRPr sz="1300">
                  <a:solidFill>
                    <a:schemeClr val="tx1"/>
                  </a:solidFill>
                  <a:latin typeface="Calibri" panose="020F0502020204030204" pitchFamily="34" charset="0"/>
                  <a:ea typeface="微软雅黑" panose="020B0503020204020204" pitchFamily="34" charset="-122"/>
                </a:defRPr>
              </a:lvl2pPr>
              <a:lvl3pPr marL="1143000" indent="-228600">
                <a:defRPr sz="1300">
                  <a:solidFill>
                    <a:schemeClr val="tx1"/>
                  </a:solidFill>
                  <a:latin typeface="Calibri" panose="020F0502020204030204" pitchFamily="34" charset="0"/>
                  <a:ea typeface="微软雅黑" panose="020B0503020204020204" pitchFamily="34" charset="-122"/>
                </a:defRPr>
              </a:lvl3pPr>
              <a:lvl4pPr marL="1600200" indent="-228600">
                <a:defRPr sz="1300">
                  <a:solidFill>
                    <a:schemeClr val="tx1"/>
                  </a:solidFill>
                  <a:latin typeface="Calibri" panose="020F0502020204030204" pitchFamily="34" charset="0"/>
                  <a:ea typeface="微软雅黑" panose="020B0503020204020204" pitchFamily="34" charset="-122"/>
                </a:defRPr>
              </a:lvl4pPr>
              <a:lvl5pPr marL="2057400" indent="-228600">
                <a:defRPr sz="1300">
                  <a:solidFill>
                    <a:schemeClr val="tx1"/>
                  </a:solidFill>
                  <a:latin typeface="Calibri" panose="020F050202020403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9pPr>
            </a:lstStyle>
            <a:p>
              <a:pPr algn="ctr" fontAlgn="base">
                <a:spcBef>
                  <a:spcPct val="0"/>
                </a:spcBef>
                <a:spcAft>
                  <a:spcPct val="0"/>
                </a:spcAft>
              </a:pPr>
              <a:r>
                <a:rPr lang="en-US" altLang="zh-CN" sz="2400" dirty="0">
                  <a:solidFill>
                    <a:schemeClr val="accent6">
                      <a:lumMod val="75000"/>
                      <a:lumOff val="25000"/>
                    </a:schemeClr>
                  </a:solidFill>
                  <a:latin typeface="+mn-lt"/>
                  <a:ea typeface="+mn-ea"/>
                  <a:cs typeface="+mn-ea"/>
                  <a:sym typeface="+mn-lt"/>
                </a:rPr>
                <a:t>1974</a:t>
              </a:r>
              <a:endParaRPr lang="zh-CN" altLang="en-US" sz="2400" dirty="0">
                <a:solidFill>
                  <a:schemeClr val="accent6">
                    <a:lumMod val="75000"/>
                    <a:lumOff val="25000"/>
                  </a:schemeClr>
                </a:solidFill>
                <a:latin typeface="+mn-lt"/>
                <a:ea typeface="+mn-ea"/>
                <a:cs typeface="+mn-ea"/>
                <a:sym typeface="+mn-lt"/>
              </a:endParaRPr>
            </a:p>
          </p:txBody>
        </p:sp>
        <p:sp>
          <p:nvSpPr>
            <p:cNvPr id="6" name="矩形 5">
              <a:extLst>
                <a:ext uri="{FF2B5EF4-FFF2-40B4-BE49-F238E27FC236}">
                  <a16:creationId xmlns:a16="http://schemas.microsoft.com/office/drawing/2014/main" id="{4749EE6D-9DEB-4BFB-BBF4-FAB737220953}"/>
                </a:ext>
              </a:extLst>
            </p:cNvPr>
            <p:cNvSpPr/>
            <p:nvPr/>
          </p:nvSpPr>
          <p:spPr>
            <a:xfrm>
              <a:off x="1397941" y="6053801"/>
              <a:ext cx="780542" cy="337014"/>
            </a:xfrm>
            <a:prstGeom prst="rect">
              <a:avLst/>
            </a:prstGeom>
          </p:spPr>
          <p:txBody>
            <a:bodyPr wrap="square">
              <a:spAutoFit/>
            </a:bodyPr>
            <a:lstStyle/>
            <a:p>
              <a:pPr algn="ctr" defTabSz="914400"/>
              <a:r>
                <a:rPr lang="en-US" altLang="zh-CN" sz="2400" kern="0" dirty="0">
                  <a:solidFill>
                    <a:schemeClr val="accent6">
                      <a:lumMod val="75000"/>
                      <a:lumOff val="25000"/>
                    </a:schemeClr>
                  </a:solidFill>
                  <a:cs typeface="+mn-ea"/>
                  <a:sym typeface="+mn-lt"/>
                </a:rPr>
                <a:t>SQL</a:t>
              </a:r>
              <a:endParaRPr lang="zh-CN" altLang="en-US" sz="2400" kern="0" dirty="0">
                <a:solidFill>
                  <a:schemeClr val="accent6">
                    <a:lumMod val="75000"/>
                    <a:lumOff val="25000"/>
                  </a:schemeClr>
                </a:solidFill>
                <a:cs typeface="+mn-ea"/>
                <a:sym typeface="+mn-lt"/>
              </a:endParaRPr>
            </a:p>
          </p:txBody>
        </p:sp>
        <p:sp>
          <p:nvSpPr>
            <p:cNvPr id="8" name="矩形 14">
              <a:extLst>
                <a:ext uri="{FF2B5EF4-FFF2-40B4-BE49-F238E27FC236}">
                  <a16:creationId xmlns:a16="http://schemas.microsoft.com/office/drawing/2014/main" id="{1954CC99-3D8C-4881-8AD4-C533B03EEF6F}"/>
                </a:ext>
              </a:extLst>
            </p:cNvPr>
            <p:cNvSpPr>
              <a:spLocks noChangeArrowheads="1"/>
            </p:cNvSpPr>
            <p:nvPr/>
          </p:nvSpPr>
          <p:spPr bwMode="auto">
            <a:xfrm>
              <a:off x="3032994" y="4965033"/>
              <a:ext cx="660782" cy="337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panose="020F0502020204030204" pitchFamily="34" charset="0"/>
                  <a:ea typeface="微软雅黑" panose="020B0503020204020204" pitchFamily="34" charset="-122"/>
                </a:defRPr>
              </a:lvl1pPr>
              <a:lvl2pPr marL="742950" indent="-285750">
                <a:defRPr sz="1300">
                  <a:solidFill>
                    <a:schemeClr val="tx1"/>
                  </a:solidFill>
                  <a:latin typeface="Calibri" panose="020F0502020204030204" pitchFamily="34" charset="0"/>
                  <a:ea typeface="微软雅黑" panose="020B0503020204020204" pitchFamily="34" charset="-122"/>
                </a:defRPr>
              </a:lvl2pPr>
              <a:lvl3pPr marL="1143000" indent="-228600">
                <a:defRPr sz="1300">
                  <a:solidFill>
                    <a:schemeClr val="tx1"/>
                  </a:solidFill>
                  <a:latin typeface="Calibri" panose="020F0502020204030204" pitchFamily="34" charset="0"/>
                  <a:ea typeface="微软雅黑" panose="020B0503020204020204" pitchFamily="34" charset="-122"/>
                </a:defRPr>
              </a:lvl3pPr>
              <a:lvl4pPr marL="1600200" indent="-228600">
                <a:defRPr sz="1300">
                  <a:solidFill>
                    <a:schemeClr val="tx1"/>
                  </a:solidFill>
                  <a:latin typeface="Calibri" panose="020F0502020204030204" pitchFamily="34" charset="0"/>
                  <a:ea typeface="微软雅黑" panose="020B0503020204020204" pitchFamily="34" charset="-122"/>
                </a:defRPr>
              </a:lvl4pPr>
              <a:lvl5pPr marL="2057400" indent="-228600">
                <a:defRPr sz="1300">
                  <a:solidFill>
                    <a:schemeClr val="tx1"/>
                  </a:solidFill>
                  <a:latin typeface="Calibri" panose="020F050202020403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9pPr>
            </a:lstStyle>
            <a:p>
              <a:pPr algn="ctr" fontAlgn="base">
                <a:spcBef>
                  <a:spcPct val="0"/>
                </a:spcBef>
                <a:spcAft>
                  <a:spcPct val="0"/>
                </a:spcAft>
              </a:pPr>
              <a:r>
                <a:rPr lang="en-US" altLang="zh-CN" sz="2400" dirty="0">
                  <a:solidFill>
                    <a:schemeClr val="accent6">
                      <a:lumMod val="75000"/>
                      <a:lumOff val="25000"/>
                    </a:schemeClr>
                  </a:solidFill>
                  <a:latin typeface="+mn-lt"/>
                  <a:ea typeface="+mn-ea"/>
                  <a:cs typeface="+mn-ea"/>
                  <a:sym typeface="+mn-lt"/>
                </a:rPr>
                <a:t>1986</a:t>
              </a:r>
              <a:endParaRPr lang="zh-CN" altLang="en-US" sz="2400" dirty="0">
                <a:solidFill>
                  <a:schemeClr val="accent6">
                    <a:lumMod val="75000"/>
                    <a:lumOff val="25000"/>
                  </a:schemeClr>
                </a:solidFill>
                <a:latin typeface="+mn-lt"/>
                <a:ea typeface="+mn-ea"/>
                <a:cs typeface="+mn-ea"/>
                <a:sym typeface="+mn-lt"/>
              </a:endParaRPr>
            </a:p>
          </p:txBody>
        </p:sp>
        <p:sp>
          <p:nvSpPr>
            <p:cNvPr id="9" name="矩形 8">
              <a:extLst>
                <a:ext uri="{FF2B5EF4-FFF2-40B4-BE49-F238E27FC236}">
                  <a16:creationId xmlns:a16="http://schemas.microsoft.com/office/drawing/2014/main" id="{0D8E0CBA-FD8D-438B-A6D2-65F0D149B0C7}"/>
                </a:ext>
              </a:extLst>
            </p:cNvPr>
            <p:cNvSpPr/>
            <p:nvPr/>
          </p:nvSpPr>
          <p:spPr>
            <a:xfrm>
              <a:off x="2943882" y="6053801"/>
              <a:ext cx="894824" cy="337014"/>
            </a:xfrm>
            <a:prstGeom prst="rect">
              <a:avLst/>
            </a:prstGeom>
          </p:spPr>
          <p:txBody>
            <a:bodyPr wrap="square">
              <a:spAutoFit/>
            </a:bodyPr>
            <a:lstStyle/>
            <a:p>
              <a:pPr marL="0" marR="0" lvl="0" indent="0" algn="ctr" defTabSz="914400" eaLnBrk="1" fontAlgn="auto" latinLnBrk="0" hangingPunct="1">
                <a:spcBef>
                  <a:spcPts val="0"/>
                </a:spcBef>
                <a:spcAft>
                  <a:spcPts val="0"/>
                </a:spcAft>
                <a:buClrTx/>
                <a:buSzTx/>
                <a:buFontTx/>
                <a:buNone/>
                <a:defRPr/>
              </a:pPr>
              <a:r>
                <a:rPr kumimoji="0" lang="en-US" altLang="zh-CN" sz="2400" i="0" u="none" strike="noStrike" kern="0" cap="none" spc="0" normalizeH="0" baseline="0" noProof="0" dirty="0">
                  <a:ln>
                    <a:noFill/>
                  </a:ln>
                  <a:solidFill>
                    <a:schemeClr val="accent6">
                      <a:lumMod val="75000"/>
                      <a:lumOff val="25000"/>
                    </a:schemeClr>
                  </a:solidFill>
                  <a:effectLst/>
                  <a:uLnTx/>
                  <a:uFillTx/>
                  <a:cs typeface="+mn-ea"/>
                  <a:sym typeface="+mn-lt"/>
                </a:rPr>
                <a:t>SQL-86</a:t>
              </a:r>
              <a:endParaRPr kumimoji="0" lang="zh-CN" altLang="en-US" sz="2400" i="0" u="none" strike="noStrike" kern="0" cap="none" spc="0" normalizeH="0" baseline="0" noProof="0" dirty="0">
                <a:ln>
                  <a:noFill/>
                </a:ln>
                <a:solidFill>
                  <a:schemeClr val="accent6">
                    <a:lumMod val="75000"/>
                    <a:lumOff val="25000"/>
                  </a:schemeClr>
                </a:solidFill>
                <a:effectLst/>
                <a:uLnTx/>
                <a:uFillTx/>
                <a:cs typeface="+mn-ea"/>
                <a:sym typeface="+mn-lt"/>
              </a:endParaRPr>
            </a:p>
          </p:txBody>
        </p:sp>
        <p:sp>
          <p:nvSpPr>
            <p:cNvPr id="11" name="矩形 14">
              <a:extLst>
                <a:ext uri="{FF2B5EF4-FFF2-40B4-BE49-F238E27FC236}">
                  <a16:creationId xmlns:a16="http://schemas.microsoft.com/office/drawing/2014/main" id="{5447280B-AB57-45C7-8F73-26976827D4D7}"/>
                </a:ext>
              </a:extLst>
            </p:cNvPr>
            <p:cNvSpPr>
              <a:spLocks noChangeArrowheads="1"/>
            </p:cNvSpPr>
            <p:nvPr/>
          </p:nvSpPr>
          <p:spPr bwMode="auto">
            <a:xfrm>
              <a:off x="7615737" y="4965033"/>
              <a:ext cx="663730" cy="337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panose="020F0502020204030204" pitchFamily="34" charset="0"/>
                  <a:ea typeface="微软雅黑" panose="020B0503020204020204" pitchFamily="34" charset="-122"/>
                </a:defRPr>
              </a:lvl1pPr>
              <a:lvl2pPr marL="742950" indent="-285750">
                <a:defRPr sz="1300">
                  <a:solidFill>
                    <a:schemeClr val="tx1"/>
                  </a:solidFill>
                  <a:latin typeface="Calibri" panose="020F0502020204030204" pitchFamily="34" charset="0"/>
                  <a:ea typeface="微软雅黑" panose="020B0503020204020204" pitchFamily="34" charset="-122"/>
                </a:defRPr>
              </a:lvl2pPr>
              <a:lvl3pPr marL="1143000" indent="-228600">
                <a:defRPr sz="1300">
                  <a:solidFill>
                    <a:schemeClr val="tx1"/>
                  </a:solidFill>
                  <a:latin typeface="Calibri" panose="020F0502020204030204" pitchFamily="34" charset="0"/>
                  <a:ea typeface="微软雅黑" panose="020B0503020204020204" pitchFamily="34" charset="-122"/>
                </a:defRPr>
              </a:lvl3pPr>
              <a:lvl4pPr marL="1600200" indent="-228600">
                <a:defRPr sz="1300">
                  <a:solidFill>
                    <a:schemeClr val="tx1"/>
                  </a:solidFill>
                  <a:latin typeface="Calibri" panose="020F0502020204030204" pitchFamily="34" charset="0"/>
                  <a:ea typeface="微软雅黑" panose="020B0503020204020204" pitchFamily="34" charset="-122"/>
                </a:defRPr>
              </a:lvl4pPr>
              <a:lvl5pPr marL="2057400" indent="-228600">
                <a:defRPr sz="1300">
                  <a:solidFill>
                    <a:schemeClr val="tx1"/>
                  </a:solidFill>
                  <a:latin typeface="Calibri" panose="020F050202020403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9pPr>
            </a:lstStyle>
            <a:p>
              <a:pPr algn="ctr" fontAlgn="base">
                <a:spcBef>
                  <a:spcPct val="0"/>
                </a:spcBef>
                <a:spcAft>
                  <a:spcPct val="0"/>
                </a:spcAft>
              </a:pPr>
              <a:r>
                <a:rPr lang="en-US" altLang="zh-CN" sz="2400" dirty="0">
                  <a:solidFill>
                    <a:schemeClr val="accent6">
                      <a:lumMod val="75000"/>
                      <a:lumOff val="25000"/>
                    </a:schemeClr>
                  </a:solidFill>
                  <a:latin typeface="+mn-lt"/>
                  <a:ea typeface="+mn-ea"/>
                  <a:cs typeface="+mn-ea"/>
                  <a:sym typeface="+mn-lt"/>
                </a:rPr>
                <a:t>2023</a:t>
              </a:r>
              <a:endParaRPr lang="zh-CN" altLang="en-US" sz="2400" dirty="0">
                <a:solidFill>
                  <a:schemeClr val="accent6">
                    <a:lumMod val="75000"/>
                    <a:lumOff val="25000"/>
                  </a:schemeClr>
                </a:solidFill>
                <a:latin typeface="+mn-lt"/>
                <a:ea typeface="+mn-ea"/>
                <a:cs typeface="+mn-ea"/>
                <a:sym typeface="+mn-lt"/>
              </a:endParaRPr>
            </a:p>
          </p:txBody>
        </p:sp>
        <p:sp>
          <p:nvSpPr>
            <p:cNvPr id="12" name="矩形 11">
              <a:extLst>
                <a:ext uri="{FF2B5EF4-FFF2-40B4-BE49-F238E27FC236}">
                  <a16:creationId xmlns:a16="http://schemas.microsoft.com/office/drawing/2014/main" id="{34AB9EF8-EEA7-4391-970D-95F630C25CA1}"/>
                </a:ext>
              </a:extLst>
            </p:cNvPr>
            <p:cNvSpPr/>
            <p:nvPr/>
          </p:nvSpPr>
          <p:spPr>
            <a:xfrm>
              <a:off x="7351536" y="6023667"/>
              <a:ext cx="1192132" cy="337014"/>
            </a:xfrm>
            <a:prstGeom prst="rect">
              <a:avLst/>
            </a:prstGeom>
          </p:spPr>
          <p:txBody>
            <a:bodyPr wrap="square">
              <a:spAutoFit/>
            </a:bodyPr>
            <a:lstStyle/>
            <a:p>
              <a:pPr marL="0" marR="0" lvl="0" indent="0" algn="ctr" defTabSz="914400" eaLnBrk="1" fontAlgn="auto" latinLnBrk="0" hangingPunct="1">
                <a:spcBef>
                  <a:spcPts val="0"/>
                </a:spcBef>
                <a:spcAft>
                  <a:spcPts val="0"/>
                </a:spcAft>
                <a:buClrTx/>
                <a:buSzTx/>
                <a:buFontTx/>
                <a:buNone/>
                <a:defRPr/>
              </a:pPr>
              <a:r>
                <a:rPr lang="en-US" altLang="zh-CN" sz="2400" kern="0" dirty="0">
                  <a:solidFill>
                    <a:schemeClr val="accent6">
                      <a:lumMod val="75000"/>
                      <a:lumOff val="25000"/>
                    </a:schemeClr>
                  </a:solidFill>
                  <a:cs typeface="+mn-ea"/>
                  <a:sym typeface="+mn-lt"/>
                </a:rPr>
                <a:t>SQL:2023</a:t>
              </a:r>
              <a:endParaRPr kumimoji="0" lang="zh-CN" altLang="en-US" sz="2400" i="0" u="none" strike="noStrike" kern="0" cap="none" spc="0" normalizeH="0" baseline="0" noProof="0" dirty="0">
                <a:ln>
                  <a:noFill/>
                </a:ln>
                <a:solidFill>
                  <a:schemeClr val="accent6">
                    <a:lumMod val="75000"/>
                    <a:lumOff val="25000"/>
                  </a:schemeClr>
                </a:solidFill>
                <a:effectLst/>
                <a:uLnTx/>
                <a:uFillTx/>
                <a:cs typeface="+mn-ea"/>
                <a:sym typeface="+mn-lt"/>
              </a:endParaRPr>
            </a:p>
          </p:txBody>
        </p:sp>
        <p:grpSp>
          <p:nvGrpSpPr>
            <p:cNvPr id="13" name="组合 12">
              <a:extLst>
                <a:ext uri="{FF2B5EF4-FFF2-40B4-BE49-F238E27FC236}">
                  <a16:creationId xmlns:a16="http://schemas.microsoft.com/office/drawing/2014/main" id="{20531E04-60FC-4E44-BACA-1635EF8D58BD}"/>
                </a:ext>
              </a:extLst>
            </p:cNvPr>
            <p:cNvGrpSpPr/>
            <p:nvPr/>
          </p:nvGrpSpPr>
          <p:grpSpPr>
            <a:xfrm>
              <a:off x="1494611" y="5485084"/>
              <a:ext cx="6966152" cy="253510"/>
              <a:chOff x="291975" y="2408127"/>
              <a:chExt cx="5609565" cy="327245"/>
            </a:xfrm>
          </p:grpSpPr>
          <p:sp>
            <p:nvSpPr>
              <p:cNvPr id="14" name="圆角矩形 54">
                <a:extLst>
                  <a:ext uri="{FF2B5EF4-FFF2-40B4-BE49-F238E27FC236}">
                    <a16:creationId xmlns:a16="http://schemas.microsoft.com/office/drawing/2014/main" id="{1C286290-6A3B-4A50-A4B7-2FDBD6C43D2E}"/>
                  </a:ext>
                </a:extLst>
              </p:cNvPr>
              <p:cNvSpPr/>
              <p:nvPr/>
            </p:nvSpPr>
            <p:spPr>
              <a:xfrm>
                <a:off x="291975" y="2408127"/>
                <a:ext cx="2080727" cy="32724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5" name="圆角矩形 55">
                <a:extLst>
                  <a:ext uri="{FF2B5EF4-FFF2-40B4-BE49-F238E27FC236}">
                    <a16:creationId xmlns:a16="http://schemas.microsoft.com/office/drawing/2014/main" id="{7CE7DE3B-9E81-4631-930F-B5D211FE8DD6}"/>
                  </a:ext>
                </a:extLst>
              </p:cNvPr>
              <p:cNvSpPr/>
              <p:nvPr/>
            </p:nvSpPr>
            <p:spPr>
              <a:xfrm>
                <a:off x="1969606" y="2408127"/>
                <a:ext cx="2080727" cy="32724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6" name="圆角矩形 56">
                <a:extLst>
                  <a:ext uri="{FF2B5EF4-FFF2-40B4-BE49-F238E27FC236}">
                    <a16:creationId xmlns:a16="http://schemas.microsoft.com/office/drawing/2014/main" id="{25F997FE-436A-4A07-A5EC-02AE475F47A6}"/>
                  </a:ext>
                </a:extLst>
              </p:cNvPr>
              <p:cNvSpPr/>
              <p:nvPr/>
            </p:nvSpPr>
            <p:spPr>
              <a:xfrm>
                <a:off x="3820813" y="2408127"/>
                <a:ext cx="2080727" cy="32724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grpSp>
        <p:grpSp>
          <p:nvGrpSpPr>
            <p:cNvPr id="17" name="组合 16">
              <a:extLst>
                <a:ext uri="{FF2B5EF4-FFF2-40B4-BE49-F238E27FC236}">
                  <a16:creationId xmlns:a16="http://schemas.microsoft.com/office/drawing/2014/main" id="{519669CD-8F51-4780-A1FE-CF7D4247AF1C}"/>
                </a:ext>
              </a:extLst>
            </p:cNvPr>
            <p:cNvGrpSpPr/>
            <p:nvPr/>
          </p:nvGrpSpPr>
          <p:grpSpPr>
            <a:xfrm>
              <a:off x="1576177" y="5409059"/>
              <a:ext cx="424070" cy="424071"/>
              <a:chOff x="304800" y="673100"/>
              <a:chExt cx="4000500" cy="4000500"/>
            </a:xfrm>
            <a:effectLst>
              <a:outerShdw blurRad="444500" dist="254000" dir="8100000" algn="tr" rotWithShape="0">
                <a:prstClr val="black">
                  <a:alpha val="50000"/>
                </a:prstClr>
              </a:outerShdw>
            </a:effectLst>
          </p:grpSpPr>
          <p:sp>
            <p:nvSpPr>
              <p:cNvPr id="18" name="同心圆 59">
                <a:extLst>
                  <a:ext uri="{FF2B5EF4-FFF2-40B4-BE49-F238E27FC236}">
                    <a16:creationId xmlns:a16="http://schemas.microsoft.com/office/drawing/2014/main" id="{BA0F7FCE-FCE9-46C6-8368-A2343C858CDC}"/>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914400" fontAlgn="base">
                  <a:spcBef>
                    <a:spcPct val="0"/>
                  </a:spcBef>
                  <a:spcAft>
                    <a:spcPct val="0"/>
                  </a:spcAft>
                </a:pPr>
                <a:endParaRPr lang="zh-CN" altLang="en-US" sz="2400" kern="0">
                  <a:solidFill>
                    <a:schemeClr val="accent1"/>
                  </a:solidFill>
                  <a:cs typeface="+mn-ea"/>
                  <a:sym typeface="+mn-lt"/>
                </a:endParaRPr>
              </a:p>
            </p:txBody>
          </p:sp>
          <p:sp>
            <p:nvSpPr>
              <p:cNvPr id="19" name="椭圆 18">
                <a:extLst>
                  <a:ext uri="{FF2B5EF4-FFF2-40B4-BE49-F238E27FC236}">
                    <a16:creationId xmlns:a16="http://schemas.microsoft.com/office/drawing/2014/main" id="{2FBB7E90-BA56-4666-A1F4-C6FB2592D8DA}"/>
                  </a:ext>
                </a:extLst>
              </p:cNvPr>
              <p:cNvSpPr/>
              <p:nvPr/>
            </p:nvSpPr>
            <p:spPr>
              <a:xfrm>
                <a:off x="392111" y="760411"/>
                <a:ext cx="3825872" cy="3825872"/>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914400" fontAlgn="base">
                  <a:spcBef>
                    <a:spcPct val="0"/>
                  </a:spcBef>
                  <a:spcAft>
                    <a:spcPct val="0"/>
                  </a:spcAft>
                </a:pPr>
                <a:endParaRPr lang="zh-CN" altLang="en-US" sz="2400" kern="0" dirty="0">
                  <a:solidFill>
                    <a:schemeClr val="accent1"/>
                  </a:solidFill>
                  <a:cs typeface="+mn-ea"/>
                  <a:sym typeface="+mn-lt"/>
                </a:endParaRPr>
              </a:p>
            </p:txBody>
          </p:sp>
        </p:grpSp>
        <p:grpSp>
          <p:nvGrpSpPr>
            <p:cNvPr id="20" name="组合 19">
              <a:extLst>
                <a:ext uri="{FF2B5EF4-FFF2-40B4-BE49-F238E27FC236}">
                  <a16:creationId xmlns:a16="http://schemas.microsoft.com/office/drawing/2014/main" id="{A5667099-09AA-460F-8786-A9B058E3F530}"/>
                </a:ext>
              </a:extLst>
            </p:cNvPr>
            <p:cNvGrpSpPr/>
            <p:nvPr/>
          </p:nvGrpSpPr>
          <p:grpSpPr>
            <a:xfrm>
              <a:off x="4561647" y="5399804"/>
              <a:ext cx="424070" cy="424071"/>
              <a:chOff x="304800" y="673100"/>
              <a:chExt cx="4000500" cy="4000500"/>
            </a:xfrm>
            <a:effectLst>
              <a:outerShdw blurRad="444500" dist="254000" dir="8100000" algn="tr" rotWithShape="0">
                <a:prstClr val="black">
                  <a:alpha val="50000"/>
                </a:prstClr>
              </a:outerShdw>
            </a:effectLst>
          </p:grpSpPr>
          <p:sp>
            <p:nvSpPr>
              <p:cNvPr id="21" name="同心圆 65">
                <a:extLst>
                  <a:ext uri="{FF2B5EF4-FFF2-40B4-BE49-F238E27FC236}">
                    <a16:creationId xmlns:a16="http://schemas.microsoft.com/office/drawing/2014/main" id="{061FBCA3-D710-461E-9258-9B3F0CB988CB}"/>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914400" fontAlgn="base">
                  <a:spcBef>
                    <a:spcPct val="0"/>
                  </a:spcBef>
                  <a:spcAft>
                    <a:spcPct val="0"/>
                  </a:spcAft>
                </a:pPr>
                <a:endParaRPr lang="zh-CN" altLang="en-US" sz="2400" kern="0">
                  <a:solidFill>
                    <a:schemeClr val="accent1"/>
                  </a:solidFill>
                  <a:cs typeface="+mn-ea"/>
                  <a:sym typeface="+mn-lt"/>
                </a:endParaRPr>
              </a:p>
            </p:txBody>
          </p:sp>
          <p:sp>
            <p:nvSpPr>
              <p:cNvPr id="22" name="椭圆 21">
                <a:extLst>
                  <a:ext uri="{FF2B5EF4-FFF2-40B4-BE49-F238E27FC236}">
                    <a16:creationId xmlns:a16="http://schemas.microsoft.com/office/drawing/2014/main" id="{74AABAED-9AB4-4C42-9D0F-A184D295E713}"/>
                  </a:ext>
                </a:extLst>
              </p:cNvPr>
              <p:cNvSpPr/>
              <p:nvPr/>
            </p:nvSpPr>
            <p:spPr>
              <a:xfrm>
                <a:off x="392111" y="760411"/>
                <a:ext cx="3825872" cy="3825872"/>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914400" fontAlgn="base">
                  <a:spcBef>
                    <a:spcPct val="0"/>
                  </a:spcBef>
                  <a:spcAft>
                    <a:spcPct val="0"/>
                  </a:spcAft>
                </a:pPr>
                <a:endParaRPr lang="zh-CN" altLang="en-US" sz="2400" kern="0" dirty="0">
                  <a:solidFill>
                    <a:schemeClr val="accent1"/>
                  </a:solidFill>
                  <a:cs typeface="+mn-ea"/>
                  <a:sym typeface="+mn-lt"/>
                </a:endParaRPr>
              </a:p>
            </p:txBody>
          </p:sp>
        </p:grpSp>
        <p:grpSp>
          <p:nvGrpSpPr>
            <p:cNvPr id="23" name="组合 22">
              <a:extLst>
                <a:ext uri="{FF2B5EF4-FFF2-40B4-BE49-F238E27FC236}">
                  <a16:creationId xmlns:a16="http://schemas.microsoft.com/office/drawing/2014/main" id="{290E4704-C96D-47CC-845C-D41B46A879CC}"/>
                </a:ext>
              </a:extLst>
            </p:cNvPr>
            <p:cNvGrpSpPr/>
            <p:nvPr/>
          </p:nvGrpSpPr>
          <p:grpSpPr>
            <a:xfrm>
              <a:off x="3179259" y="5406758"/>
              <a:ext cx="424070" cy="424071"/>
              <a:chOff x="304800" y="673100"/>
              <a:chExt cx="4000500" cy="4000500"/>
            </a:xfrm>
            <a:effectLst>
              <a:outerShdw blurRad="444500" dist="254000" dir="8100000" algn="tr" rotWithShape="0">
                <a:prstClr val="black">
                  <a:alpha val="50000"/>
                </a:prstClr>
              </a:outerShdw>
            </a:effectLst>
          </p:grpSpPr>
          <p:sp>
            <p:nvSpPr>
              <p:cNvPr id="24" name="同心圆 65">
                <a:extLst>
                  <a:ext uri="{FF2B5EF4-FFF2-40B4-BE49-F238E27FC236}">
                    <a16:creationId xmlns:a16="http://schemas.microsoft.com/office/drawing/2014/main" id="{F4CA8254-A43C-47D9-8ED0-DACEDAE00C12}"/>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914400" fontAlgn="base">
                  <a:spcBef>
                    <a:spcPct val="0"/>
                  </a:spcBef>
                  <a:spcAft>
                    <a:spcPct val="0"/>
                  </a:spcAft>
                </a:pPr>
                <a:endParaRPr lang="zh-CN" altLang="en-US" sz="2400" kern="0">
                  <a:solidFill>
                    <a:schemeClr val="accent1"/>
                  </a:solidFill>
                  <a:cs typeface="+mn-ea"/>
                  <a:sym typeface="+mn-lt"/>
                </a:endParaRPr>
              </a:p>
            </p:txBody>
          </p:sp>
          <p:sp>
            <p:nvSpPr>
              <p:cNvPr id="25" name="椭圆 24">
                <a:extLst>
                  <a:ext uri="{FF2B5EF4-FFF2-40B4-BE49-F238E27FC236}">
                    <a16:creationId xmlns:a16="http://schemas.microsoft.com/office/drawing/2014/main" id="{58B26D90-4F82-43E3-8E3D-A1DF807817BE}"/>
                  </a:ext>
                </a:extLst>
              </p:cNvPr>
              <p:cNvSpPr/>
              <p:nvPr/>
            </p:nvSpPr>
            <p:spPr>
              <a:xfrm>
                <a:off x="392111" y="760411"/>
                <a:ext cx="3825872" cy="3825872"/>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914400" fontAlgn="base">
                  <a:spcBef>
                    <a:spcPct val="0"/>
                  </a:spcBef>
                  <a:spcAft>
                    <a:spcPct val="0"/>
                  </a:spcAft>
                </a:pPr>
                <a:endParaRPr lang="zh-CN" altLang="en-US" sz="2400" kern="0" dirty="0">
                  <a:solidFill>
                    <a:schemeClr val="accent1"/>
                  </a:solidFill>
                  <a:cs typeface="+mn-ea"/>
                  <a:sym typeface="+mn-lt"/>
                </a:endParaRPr>
              </a:p>
            </p:txBody>
          </p:sp>
        </p:grpSp>
        <p:sp>
          <p:nvSpPr>
            <p:cNvPr id="26" name="矩形 14">
              <a:extLst>
                <a:ext uri="{FF2B5EF4-FFF2-40B4-BE49-F238E27FC236}">
                  <a16:creationId xmlns:a16="http://schemas.microsoft.com/office/drawing/2014/main" id="{35E8628D-70E5-44C9-A50B-320DAF0D49C8}"/>
                </a:ext>
              </a:extLst>
            </p:cNvPr>
            <p:cNvSpPr>
              <a:spLocks noChangeArrowheads="1"/>
            </p:cNvSpPr>
            <p:nvPr/>
          </p:nvSpPr>
          <p:spPr bwMode="auto">
            <a:xfrm>
              <a:off x="4443291" y="4965033"/>
              <a:ext cx="660782" cy="337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panose="020F0502020204030204" pitchFamily="34" charset="0"/>
                  <a:ea typeface="微软雅黑" panose="020B0503020204020204" pitchFamily="34" charset="-122"/>
                </a:defRPr>
              </a:lvl1pPr>
              <a:lvl2pPr marL="742950" indent="-285750">
                <a:defRPr sz="1300">
                  <a:solidFill>
                    <a:schemeClr val="tx1"/>
                  </a:solidFill>
                  <a:latin typeface="Calibri" panose="020F0502020204030204" pitchFamily="34" charset="0"/>
                  <a:ea typeface="微软雅黑" panose="020B0503020204020204" pitchFamily="34" charset="-122"/>
                </a:defRPr>
              </a:lvl2pPr>
              <a:lvl3pPr marL="1143000" indent="-228600">
                <a:defRPr sz="1300">
                  <a:solidFill>
                    <a:schemeClr val="tx1"/>
                  </a:solidFill>
                  <a:latin typeface="Calibri" panose="020F0502020204030204" pitchFamily="34" charset="0"/>
                  <a:ea typeface="微软雅黑" panose="020B0503020204020204" pitchFamily="34" charset="-122"/>
                </a:defRPr>
              </a:lvl3pPr>
              <a:lvl4pPr marL="1600200" indent="-228600">
                <a:defRPr sz="1300">
                  <a:solidFill>
                    <a:schemeClr val="tx1"/>
                  </a:solidFill>
                  <a:latin typeface="Calibri" panose="020F0502020204030204" pitchFamily="34" charset="0"/>
                  <a:ea typeface="微软雅黑" panose="020B0503020204020204" pitchFamily="34" charset="-122"/>
                </a:defRPr>
              </a:lvl4pPr>
              <a:lvl5pPr marL="2057400" indent="-228600">
                <a:defRPr sz="1300">
                  <a:solidFill>
                    <a:schemeClr val="tx1"/>
                  </a:solidFill>
                  <a:latin typeface="Calibri" panose="020F050202020403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9pPr>
            </a:lstStyle>
            <a:p>
              <a:pPr algn="ctr" fontAlgn="base">
                <a:spcBef>
                  <a:spcPct val="0"/>
                </a:spcBef>
                <a:spcAft>
                  <a:spcPct val="0"/>
                </a:spcAft>
              </a:pPr>
              <a:r>
                <a:rPr lang="en-US" altLang="zh-CN" sz="2400" dirty="0">
                  <a:solidFill>
                    <a:schemeClr val="accent6">
                      <a:lumMod val="75000"/>
                      <a:lumOff val="25000"/>
                    </a:schemeClr>
                  </a:solidFill>
                  <a:latin typeface="+mn-lt"/>
                  <a:ea typeface="+mn-ea"/>
                  <a:cs typeface="+mn-ea"/>
                  <a:sym typeface="+mn-lt"/>
                </a:rPr>
                <a:t>1992</a:t>
              </a:r>
              <a:endParaRPr lang="zh-CN" altLang="en-US" sz="2400" dirty="0">
                <a:solidFill>
                  <a:schemeClr val="accent6">
                    <a:lumMod val="75000"/>
                    <a:lumOff val="25000"/>
                  </a:schemeClr>
                </a:solidFill>
                <a:latin typeface="+mn-lt"/>
                <a:ea typeface="+mn-ea"/>
                <a:cs typeface="+mn-ea"/>
                <a:sym typeface="+mn-lt"/>
              </a:endParaRPr>
            </a:p>
          </p:txBody>
        </p:sp>
        <p:sp>
          <p:nvSpPr>
            <p:cNvPr id="27" name="矩形 26">
              <a:extLst>
                <a:ext uri="{FF2B5EF4-FFF2-40B4-BE49-F238E27FC236}">
                  <a16:creationId xmlns:a16="http://schemas.microsoft.com/office/drawing/2014/main" id="{DA53B65A-F9D8-4DA4-8397-F51AD4023A3D}"/>
                </a:ext>
              </a:extLst>
            </p:cNvPr>
            <p:cNvSpPr/>
            <p:nvPr/>
          </p:nvSpPr>
          <p:spPr>
            <a:xfrm>
              <a:off x="4201302" y="6053801"/>
              <a:ext cx="1080590" cy="337014"/>
            </a:xfrm>
            <a:prstGeom prst="rect">
              <a:avLst/>
            </a:prstGeom>
          </p:spPr>
          <p:txBody>
            <a:bodyPr wrap="square">
              <a:spAutoFit/>
            </a:bodyPr>
            <a:lstStyle/>
            <a:p>
              <a:pPr marL="0" marR="0" lvl="0" indent="0" algn="ctr" defTabSz="914400" eaLnBrk="1" fontAlgn="auto" latinLnBrk="0" hangingPunct="1">
                <a:spcBef>
                  <a:spcPts val="0"/>
                </a:spcBef>
                <a:spcAft>
                  <a:spcPts val="0"/>
                </a:spcAft>
                <a:buClrTx/>
                <a:buSzTx/>
                <a:buFontTx/>
                <a:buNone/>
                <a:defRPr/>
              </a:pPr>
              <a:r>
                <a:rPr kumimoji="0" lang="en-US" altLang="zh-CN" sz="2400" i="0" u="none" strike="noStrike" kern="0" cap="none" spc="0" normalizeH="0" baseline="0" noProof="0" dirty="0">
                  <a:ln>
                    <a:noFill/>
                  </a:ln>
                  <a:solidFill>
                    <a:schemeClr val="accent6">
                      <a:lumMod val="75000"/>
                      <a:lumOff val="25000"/>
                    </a:schemeClr>
                  </a:solidFill>
                  <a:effectLst/>
                  <a:uLnTx/>
                  <a:uFillTx/>
                  <a:cs typeface="+mn-ea"/>
                  <a:sym typeface="+mn-lt"/>
                </a:rPr>
                <a:t>SQL2</a:t>
              </a:r>
              <a:endParaRPr kumimoji="0" lang="zh-CN" altLang="en-US" sz="2400" i="0" u="none" strike="noStrike" kern="0" cap="none" spc="0" normalizeH="0" baseline="0" noProof="0" dirty="0">
                <a:ln>
                  <a:noFill/>
                </a:ln>
                <a:solidFill>
                  <a:schemeClr val="accent6">
                    <a:lumMod val="75000"/>
                    <a:lumOff val="25000"/>
                  </a:schemeClr>
                </a:solidFill>
                <a:effectLst/>
                <a:uLnTx/>
                <a:uFillTx/>
                <a:cs typeface="+mn-ea"/>
                <a:sym typeface="+mn-lt"/>
              </a:endParaRPr>
            </a:p>
          </p:txBody>
        </p:sp>
        <p:grpSp>
          <p:nvGrpSpPr>
            <p:cNvPr id="28" name="组合 27">
              <a:extLst>
                <a:ext uri="{FF2B5EF4-FFF2-40B4-BE49-F238E27FC236}">
                  <a16:creationId xmlns:a16="http://schemas.microsoft.com/office/drawing/2014/main" id="{50D0FF0F-6C73-4315-8F87-69BAA90C91D3}"/>
                </a:ext>
              </a:extLst>
            </p:cNvPr>
            <p:cNvGrpSpPr/>
            <p:nvPr/>
          </p:nvGrpSpPr>
          <p:grpSpPr>
            <a:xfrm>
              <a:off x="5892813" y="5399804"/>
              <a:ext cx="424070" cy="424071"/>
              <a:chOff x="304800" y="673100"/>
              <a:chExt cx="4000500" cy="4000500"/>
            </a:xfrm>
            <a:effectLst>
              <a:outerShdw blurRad="444500" dist="254000" dir="8100000" algn="tr" rotWithShape="0">
                <a:prstClr val="black">
                  <a:alpha val="50000"/>
                </a:prstClr>
              </a:outerShdw>
            </a:effectLst>
          </p:grpSpPr>
          <p:sp>
            <p:nvSpPr>
              <p:cNvPr id="29" name="同心圆 65">
                <a:extLst>
                  <a:ext uri="{FF2B5EF4-FFF2-40B4-BE49-F238E27FC236}">
                    <a16:creationId xmlns:a16="http://schemas.microsoft.com/office/drawing/2014/main" id="{61B78DD9-614E-4EBE-A969-620EAD6A0222}"/>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914400" fontAlgn="base">
                  <a:spcBef>
                    <a:spcPct val="0"/>
                  </a:spcBef>
                  <a:spcAft>
                    <a:spcPct val="0"/>
                  </a:spcAft>
                </a:pPr>
                <a:endParaRPr lang="zh-CN" altLang="en-US" sz="2400" kern="0">
                  <a:solidFill>
                    <a:schemeClr val="accent1"/>
                  </a:solidFill>
                  <a:cs typeface="+mn-ea"/>
                  <a:sym typeface="+mn-lt"/>
                </a:endParaRPr>
              </a:p>
            </p:txBody>
          </p:sp>
          <p:sp>
            <p:nvSpPr>
              <p:cNvPr id="30" name="椭圆 29">
                <a:extLst>
                  <a:ext uri="{FF2B5EF4-FFF2-40B4-BE49-F238E27FC236}">
                    <a16:creationId xmlns:a16="http://schemas.microsoft.com/office/drawing/2014/main" id="{BF09F74E-BE51-4CB1-A759-EF162740D093}"/>
                  </a:ext>
                </a:extLst>
              </p:cNvPr>
              <p:cNvSpPr/>
              <p:nvPr/>
            </p:nvSpPr>
            <p:spPr>
              <a:xfrm>
                <a:off x="392111" y="760411"/>
                <a:ext cx="3825872" cy="3825872"/>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914400" fontAlgn="base">
                  <a:spcBef>
                    <a:spcPct val="0"/>
                  </a:spcBef>
                  <a:spcAft>
                    <a:spcPct val="0"/>
                  </a:spcAft>
                </a:pPr>
                <a:endParaRPr lang="zh-CN" altLang="en-US" sz="2400" kern="0" dirty="0">
                  <a:solidFill>
                    <a:schemeClr val="accent1"/>
                  </a:solidFill>
                  <a:cs typeface="+mn-ea"/>
                  <a:sym typeface="+mn-lt"/>
                </a:endParaRPr>
              </a:p>
            </p:txBody>
          </p:sp>
        </p:grpSp>
        <p:sp>
          <p:nvSpPr>
            <p:cNvPr id="31" name="矩形 14">
              <a:extLst>
                <a:ext uri="{FF2B5EF4-FFF2-40B4-BE49-F238E27FC236}">
                  <a16:creationId xmlns:a16="http://schemas.microsoft.com/office/drawing/2014/main" id="{B20373C8-5133-4648-B694-6984347A5921}"/>
                </a:ext>
              </a:extLst>
            </p:cNvPr>
            <p:cNvSpPr>
              <a:spLocks noChangeArrowheads="1"/>
            </p:cNvSpPr>
            <p:nvPr/>
          </p:nvSpPr>
          <p:spPr bwMode="auto">
            <a:xfrm>
              <a:off x="5774457" y="4965033"/>
              <a:ext cx="660782" cy="337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panose="020F0502020204030204" pitchFamily="34" charset="0"/>
                  <a:ea typeface="微软雅黑" panose="020B0503020204020204" pitchFamily="34" charset="-122"/>
                </a:defRPr>
              </a:lvl1pPr>
              <a:lvl2pPr marL="742950" indent="-285750">
                <a:defRPr sz="1300">
                  <a:solidFill>
                    <a:schemeClr val="tx1"/>
                  </a:solidFill>
                  <a:latin typeface="Calibri" panose="020F0502020204030204" pitchFamily="34" charset="0"/>
                  <a:ea typeface="微软雅黑" panose="020B0503020204020204" pitchFamily="34" charset="-122"/>
                </a:defRPr>
              </a:lvl2pPr>
              <a:lvl3pPr marL="1143000" indent="-228600">
                <a:defRPr sz="1300">
                  <a:solidFill>
                    <a:schemeClr val="tx1"/>
                  </a:solidFill>
                  <a:latin typeface="Calibri" panose="020F0502020204030204" pitchFamily="34" charset="0"/>
                  <a:ea typeface="微软雅黑" panose="020B0503020204020204" pitchFamily="34" charset="-122"/>
                </a:defRPr>
              </a:lvl3pPr>
              <a:lvl4pPr marL="1600200" indent="-228600">
                <a:defRPr sz="1300">
                  <a:solidFill>
                    <a:schemeClr val="tx1"/>
                  </a:solidFill>
                  <a:latin typeface="Calibri" panose="020F0502020204030204" pitchFamily="34" charset="0"/>
                  <a:ea typeface="微软雅黑" panose="020B0503020204020204" pitchFamily="34" charset="-122"/>
                </a:defRPr>
              </a:lvl4pPr>
              <a:lvl5pPr marL="2057400" indent="-228600">
                <a:defRPr sz="1300">
                  <a:solidFill>
                    <a:schemeClr val="tx1"/>
                  </a:solidFill>
                  <a:latin typeface="Calibri" panose="020F050202020403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Calibri" panose="020F0502020204030204" pitchFamily="34" charset="0"/>
                  <a:ea typeface="微软雅黑" panose="020B0503020204020204" pitchFamily="34" charset="-122"/>
                </a:defRPr>
              </a:lvl9pPr>
            </a:lstStyle>
            <a:p>
              <a:pPr algn="ctr" fontAlgn="base">
                <a:spcBef>
                  <a:spcPct val="0"/>
                </a:spcBef>
                <a:spcAft>
                  <a:spcPct val="0"/>
                </a:spcAft>
              </a:pPr>
              <a:r>
                <a:rPr lang="en-US" altLang="zh-CN" sz="2400" dirty="0">
                  <a:solidFill>
                    <a:schemeClr val="accent6">
                      <a:lumMod val="75000"/>
                      <a:lumOff val="25000"/>
                    </a:schemeClr>
                  </a:solidFill>
                  <a:latin typeface="+mn-lt"/>
                  <a:ea typeface="+mn-ea"/>
                  <a:cs typeface="+mn-ea"/>
                  <a:sym typeface="+mn-lt"/>
                </a:rPr>
                <a:t>1999</a:t>
              </a:r>
              <a:endParaRPr lang="zh-CN" altLang="en-US" sz="2400" dirty="0">
                <a:solidFill>
                  <a:schemeClr val="accent6">
                    <a:lumMod val="75000"/>
                    <a:lumOff val="25000"/>
                  </a:schemeClr>
                </a:solidFill>
                <a:latin typeface="+mn-lt"/>
                <a:ea typeface="+mn-ea"/>
                <a:cs typeface="+mn-ea"/>
                <a:sym typeface="+mn-lt"/>
              </a:endParaRPr>
            </a:p>
          </p:txBody>
        </p:sp>
        <p:sp>
          <p:nvSpPr>
            <p:cNvPr id="32" name="矩形 31">
              <a:extLst>
                <a:ext uri="{FF2B5EF4-FFF2-40B4-BE49-F238E27FC236}">
                  <a16:creationId xmlns:a16="http://schemas.microsoft.com/office/drawing/2014/main" id="{5C7C9DA9-6702-4B06-BF0E-9D77E69044C4}"/>
                </a:ext>
              </a:extLst>
            </p:cNvPr>
            <p:cNvSpPr/>
            <p:nvPr/>
          </p:nvSpPr>
          <p:spPr>
            <a:xfrm>
              <a:off x="5532468" y="6053801"/>
              <a:ext cx="1080590" cy="337014"/>
            </a:xfrm>
            <a:prstGeom prst="rect">
              <a:avLst/>
            </a:prstGeom>
          </p:spPr>
          <p:txBody>
            <a:bodyPr wrap="square">
              <a:spAutoFit/>
            </a:bodyPr>
            <a:lstStyle/>
            <a:p>
              <a:pPr marL="0" marR="0" lvl="0" indent="0" algn="ctr" defTabSz="914400" eaLnBrk="1" fontAlgn="auto" latinLnBrk="0" hangingPunct="1">
                <a:spcBef>
                  <a:spcPts val="0"/>
                </a:spcBef>
                <a:spcAft>
                  <a:spcPts val="0"/>
                </a:spcAft>
                <a:buClrTx/>
                <a:buSzTx/>
                <a:buFontTx/>
                <a:buNone/>
                <a:defRPr/>
              </a:pPr>
              <a:r>
                <a:rPr kumimoji="0" lang="en-US" altLang="zh-CN" sz="2400" i="0" u="none" strike="noStrike" kern="0" cap="none" spc="0" normalizeH="0" baseline="0" noProof="0" dirty="0">
                  <a:ln>
                    <a:noFill/>
                  </a:ln>
                  <a:solidFill>
                    <a:schemeClr val="accent6">
                      <a:lumMod val="75000"/>
                      <a:lumOff val="25000"/>
                    </a:schemeClr>
                  </a:solidFill>
                  <a:effectLst/>
                  <a:uLnTx/>
                  <a:uFillTx/>
                  <a:cs typeface="+mn-ea"/>
                  <a:sym typeface="+mn-lt"/>
                </a:rPr>
                <a:t>SQL3</a:t>
              </a:r>
              <a:endParaRPr kumimoji="0" lang="zh-CN" altLang="en-US" sz="2400" i="0" u="none" strike="noStrike" kern="0" cap="none" spc="0" normalizeH="0" baseline="0" noProof="0" dirty="0">
                <a:ln>
                  <a:noFill/>
                </a:ln>
                <a:solidFill>
                  <a:schemeClr val="accent6">
                    <a:lumMod val="75000"/>
                    <a:lumOff val="25000"/>
                  </a:schemeClr>
                </a:solidFill>
                <a:effectLst/>
                <a:uLnTx/>
                <a:uFillTx/>
                <a:cs typeface="+mn-ea"/>
                <a:sym typeface="+mn-lt"/>
              </a:endParaRPr>
            </a:p>
          </p:txBody>
        </p:sp>
        <p:grpSp>
          <p:nvGrpSpPr>
            <p:cNvPr id="33" name="组合 32">
              <a:extLst>
                <a:ext uri="{FF2B5EF4-FFF2-40B4-BE49-F238E27FC236}">
                  <a16:creationId xmlns:a16="http://schemas.microsoft.com/office/drawing/2014/main" id="{F1AEA2A4-0E23-45C5-9580-70AA506B7030}"/>
                </a:ext>
              </a:extLst>
            </p:cNvPr>
            <p:cNvGrpSpPr/>
            <p:nvPr/>
          </p:nvGrpSpPr>
          <p:grpSpPr>
            <a:xfrm>
              <a:off x="7735567" y="5399804"/>
              <a:ext cx="424070" cy="424071"/>
              <a:chOff x="304800" y="673100"/>
              <a:chExt cx="4000500" cy="4000500"/>
            </a:xfrm>
            <a:effectLst>
              <a:outerShdw blurRad="444500" dist="254000" dir="8100000" algn="tr" rotWithShape="0">
                <a:prstClr val="black">
                  <a:alpha val="50000"/>
                </a:prstClr>
              </a:outerShdw>
            </a:effectLst>
          </p:grpSpPr>
          <p:sp>
            <p:nvSpPr>
              <p:cNvPr id="34" name="同心圆 65">
                <a:extLst>
                  <a:ext uri="{FF2B5EF4-FFF2-40B4-BE49-F238E27FC236}">
                    <a16:creationId xmlns:a16="http://schemas.microsoft.com/office/drawing/2014/main" id="{F59AC0D6-693F-4DD0-8494-6B81E1735FA4}"/>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914400" fontAlgn="base">
                  <a:spcBef>
                    <a:spcPct val="0"/>
                  </a:spcBef>
                  <a:spcAft>
                    <a:spcPct val="0"/>
                  </a:spcAft>
                </a:pPr>
                <a:endParaRPr lang="zh-CN" altLang="en-US" sz="2400" kern="0">
                  <a:solidFill>
                    <a:schemeClr val="accent1"/>
                  </a:solidFill>
                  <a:cs typeface="+mn-ea"/>
                  <a:sym typeface="+mn-lt"/>
                </a:endParaRPr>
              </a:p>
            </p:txBody>
          </p:sp>
          <p:sp>
            <p:nvSpPr>
              <p:cNvPr id="35" name="椭圆 34">
                <a:extLst>
                  <a:ext uri="{FF2B5EF4-FFF2-40B4-BE49-F238E27FC236}">
                    <a16:creationId xmlns:a16="http://schemas.microsoft.com/office/drawing/2014/main" id="{6FEA204C-6A24-4382-83AD-56FF6C8FE864}"/>
                  </a:ext>
                </a:extLst>
              </p:cNvPr>
              <p:cNvSpPr/>
              <p:nvPr/>
            </p:nvSpPr>
            <p:spPr>
              <a:xfrm>
                <a:off x="392111" y="760411"/>
                <a:ext cx="3825872" cy="3825872"/>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914400" fontAlgn="base">
                  <a:spcBef>
                    <a:spcPct val="0"/>
                  </a:spcBef>
                  <a:spcAft>
                    <a:spcPct val="0"/>
                  </a:spcAft>
                </a:pPr>
                <a:endParaRPr lang="zh-CN" altLang="en-US" sz="2400" kern="0" dirty="0">
                  <a:solidFill>
                    <a:schemeClr val="accent1"/>
                  </a:solidFill>
                  <a:cs typeface="+mn-ea"/>
                  <a:sym typeface="+mn-lt"/>
                </a:endParaRPr>
              </a:p>
            </p:txBody>
          </p:sp>
        </p:grpSp>
      </p:grpSp>
      <p:sp>
        <p:nvSpPr>
          <p:cNvPr id="37" name="Rectangle 4">
            <a:extLst>
              <a:ext uri="{FF2B5EF4-FFF2-40B4-BE49-F238E27FC236}">
                <a16:creationId xmlns:a16="http://schemas.microsoft.com/office/drawing/2014/main" id="{89F4D40F-FA86-456B-A71A-12C37457ABEF}"/>
              </a:ext>
            </a:extLst>
          </p:cNvPr>
          <p:cNvSpPr txBox="1">
            <a:spLocks noChangeArrowheads="1"/>
          </p:cNvSpPr>
          <p:nvPr/>
        </p:nvSpPr>
        <p:spPr bwMode="auto">
          <a:xfrm>
            <a:off x="465450" y="5067080"/>
            <a:ext cx="11377264" cy="126920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a:lnSpc>
                <a:spcPct val="120000"/>
              </a:lnSpc>
              <a:spcAft>
                <a:spcPts val="2400"/>
              </a:spcAft>
              <a:buFont typeface="Arial" panose="020B0604020202020204" pitchFamily="34" charset="0"/>
              <a:buChar char="•"/>
            </a:pPr>
            <a:r>
              <a:rPr lang="en-US" altLang="zh-CN" dirty="0"/>
              <a:t>SQL </a:t>
            </a:r>
            <a:r>
              <a:rPr lang="zh-CN" altLang="en-US" dirty="0"/>
              <a:t>虽然是标准化的，但是存在着多种不同的版本（</a:t>
            </a:r>
            <a:r>
              <a:rPr lang="en-US" altLang="zh-CN" dirty="0"/>
              <a:t>MSSQL</a:t>
            </a:r>
            <a:r>
              <a:rPr lang="zh-CN" altLang="en-US" dirty="0"/>
              <a:t>，</a:t>
            </a:r>
            <a:r>
              <a:rPr lang="en-US" altLang="zh-CN" dirty="0"/>
              <a:t>Oracle</a:t>
            </a:r>
            <a:r>
              <a:rPr lang="zh-CN" altLang="en-US" dirty="0"/>
              <a:t>，</a:t>
            </a:r>
            <a:r>
              <a:rPr lang="en-US" altLang="zh-CN" dirty="0"/>
              <a:t>MySQL</a:t>
            </a:r>
            <a:r>
              <a:rPr lang="zh-CN" altLang="en-US" dirty="0"/>
              <a:t>等），具有一定的“</a:t>
            </a:r>
            <a:r>
              <a:rPr lang="zh-CN" altLang="en-US" dirty="0">
                <a:solidFill>
                  <a:srgbClr val="66CCFF"/>
                </a:solidFill>
              </a:rPr>
              <a:t>方言</a:t>
            </a:r>
            <a:r>
              <a:rPr lang="zh-CN" altLang="en-US" dirty="0"/>
              <a:t>”，这一点需要注意。</a:t>
            </a:r>
            <a:endParaRPr lang="zh-CN" altLang="en-US" dirty="0">
              <a:latin typeface="Times New Roman" panose="02020603050405020304" charset="0"/>
            </a:endParaRPr>
          </a:p>
        </p:txBody>
      </p:sp>
    </p:spTree>
    <p:custDataLst>
      <p:tags r:id="rId1"/>
    </p:custDataLst>
    <p:extLst>
      <p:ext uri="{BB962C8B-B14F-4D97-AF65-F5344CB8AC3E}">
        <p14:creationId xmlns:p14="http://schemas.microsoft.com/office/powerpoint/2010/main" val="3793064827"/>
      </p:ext>
    </p:extLst>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5" name="arrow.wav"/>
          </p:stSnd>
        </p:sndAc>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8" name="Rectangle 2">
            <a:extLst>
              <a:ext uri="{FF2B5EF4-FFF2-40B4-BE49-F238E27FC236}">
                <a16:creationId xmlns:a16="http://schemas.microsoft.com/office/drawing/2014/main" id="{230036DC-70B9-43E6-86AB-09B5312E2AC9}"/>
              </a:ext>
            </a:extLst>
          </p:cNvPr>
          <p:cNvSpPr>
            <a:spLocks noGrp="1" noChangeArrowheads="1"/>
          </p:cNvSpPr>
          <p:nvPr>
            <p:ph type="title" idx="4294967295"/>
          </p:nvPr>
        </p:nvSpPr>
        <p:spPr>
          <a:xfrm>
            <a:off x="1869073" y="89440"/>
            <a:ext cx="4023857" cy="707886"/>
          </a:xfrm>
        </p:spPr>
        <p:txBody>
          <a:bodyPr/>
          <a:lstStyle/>
          <a:p>
            <a:r>
              <a:rPr lang="en-US" altLang="zh-CN"/>
              <a:t>4.1SQL</a:t>
            </a:r>
            <a:r>
              <a:rPr lang="zh-CN" altLang="en-US"/>
              <a:t>语言简介</a:t>
            </a:r>
          </a:p>
        </p:txBody>
      </p:sp>
      <p:sp>
        <p:nvSpPr>
          <p:cNvPr id="628739" name="Rectangle 3">
            <a:extLst>
              <a:ext uri="{FF2B5EF4-FFF2-40B4-BE49-F238E27FC236}">
                <a16:creationId xmlns:a16="http://schemas.microsoft.com/office/drawing/2014/main" id="{24E709C9-0ECF-47A7-859C-6D3BA5289195}"/>
              </a:ext>
            </a:extLst>
          </p:cNvPr>
          <p:cNvSpPr>
            <a:spLocks noGrp="1" noChangeArrowheads="1"/>
          </p:cNvSpPr>
          <p:nvPr>
            <p:ph type="body" idx="4294967295"/>
          </p:nvPr>
        </p:nvSpPr>
        <p:spPr>
          <a:xfrm>
            <a:off x="1775520" y="1484784"/>
            <a:ext cx="8856983" cy="4114800"/>
          </a:xfrm>
        </p:spPr>
        <p:txBody>
          <a:bodyPr>
            <a:normAutofit fontScale="92500" lnSpcReduction="10000"/>
          </a:bodyPr>
          <a:lstStyle/>
          <a:p>
            <a:pPr>
              <a:lnSpc>
                <a:spcPct val="150000"/>
              </a:lnSpc>
            </a:pPr>
            <a:r>
              <a:rPr lang="en-US" altLang="zh-CN" dirty="0"/>
              <a:t>SQL</a:t>
            </a:r>
            <a:r>
              <a:rPr lang="zh-CN" altLang="en-US" dirty="0"/>
              <a:t>是</a:t>
            </a:r>
            <a:r>
              <a:rPr lang="en-US" altLang="zh-CN" dirty="0"/>
              <a:t>Structured  Query  Language </a:t>
            </a:r>
            <a:r>
              <a:rPr lang="zh-CN" altLang="en-US" dirty="0"/>
              <a:t>（结构化查询语言）的缩写。查询是</a:t>
            </a:r>
            <a:r>
              <a:rPr lang="en-US" altLang="zh-CN" dirty="0"/>
              <a:t>SQL</a:t>
            </a:r>
            <a:r>
              <a:rPr lang="zh-CN" altLang="en-US" dirty="0"/>
              <a:t>语言的重要组成部分，但不是全部，</a:t>
            </a:r>
            <a:r>
              <a:rPr lang="en-US" altLang="zh-CN" dirty="0"/>
              <a:t>SQL</a:t>
            </a:r>
            <a:r>
              <a:rPr lang="zh-CN" altLang="en-US" dirty="0"/>
              <a:t>还包含数据定义、 数据操纵和数据控制功能等部分。</a:t>
            </a:r>
          </a:p>
          <a:p>
            <a:pPr>
              <a:lnSpc>
                <a:spcPct val="150000"/>
              </a:lnSpc>
            </a:pPr>
            <a:r>
              <a:rPr lang="en-US" altLang="zh-CN" dirty="0"/>
              <a:t>SQL</a:t>
            </a:r>
            <a:r>
              <a:rPr lang="zh-CN" altLang="en-US" dirty="0"/>
              <a:t>已经成为关系数据库的标准数据语言， 所以现在所有的关系数据库管理系统都支持</a:t>
            </a:r>
            <a:r>
              <a:rPr lang="en-US" altLang="zh-CN" dirty="0"/>
              <a:t>SQL</a:t>
            </a:r>
            <a:r>
              <a:rPr lang="zh-CN" altLang="en-US" dirty="0"/>
              <a:t>。</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2">
            <a:extLst>
              <a:ext uri="{FF2B5EF4-FFF2-40B4-BE49-F238E27FC236}">
                <a16:creationId xmlns:a16="http://schemas.microsoft.com/office/drawing/2014/main" id="{935CC206-E087-4820-B59D-147CB5A8F5AD}"/>
              </a:ext>
            </a:extLst>
          </p:cNvPr>
          <p:cNvSpPr>
            <a:spLocks noGrp="1" noChangeArrowheads="1"/>
          </p:cNvSpPr>
          <p:nvPr>
            <p:ph type="title" idx="4294967295"/>
          </p:nvPr>
        </p:nvSpPr>
        <p:spPr>
          <a:xfrm>
            <a:off x="1381760" y="89440"/>
            <a:ext cx="4998483" cy="707886"/>
          </a:xfrm>
        </p:spPr>
        <p:txBody>
          <a:bodyPr/>
          <a:lstStyle/>
          <a:p>
            <a:r>
              <a:rPr lang="en-US" altLang="zh-CN"/>
              <a:t>4.1.1SQL</a:t>
            </a:r>
            <a:r>
              <a:rPr lang="zh-CN" altLang="en-US"/>
              <a:t>语言的发展</a:t>
            </a:r>
          </a:p>
        </p:txBody>
      </p:sp>
      <p:sp>
        <p:nvSpPr>
          <p:cNvPr id="652291" name="Rectangle 3">
            <a:extLst>
              <a:ext uri="{FF2B5EF4-FFF2-40B4-BE49-F238E27FC236}">
                <a16:creationId xmlns:a16="http://schemas.microsoft.com/office/drawing/2014/main" id="{88692D87-A2EC-400B-BE45-C9F8F7B8B3A1}"/>
              </a:ext>
            </a:extLst>
          </p:cNvPr>
          <p:cNvSpPr>
            <a:spLocks noGrp="1" noChangeArrowheads="1"/>
          </p:cNvSpPr>
          <p:nvPr>
            <p:ph type="body" idx="4294967295"/>
          </p:nvPr>
        </p:nvSpPr>
        <p:spPr/>
        <p:txBody>
          <a:bodyPr/>
          <a:lstStyle/>
          <a:p>
            <a:pPr>
              <a:lnSpc>
                <a:spcPct val="80000"/>
              </a:lnSpc>
            </a:pPr>
            <a:r>
              <a:rPr lang="en-US" altLang="zh-CN" dirty="0"/>
              <a:t>1974</a:t>
            </a:r>
            <a:r>
              <a:rPr lang="zh-CN" altLang="en-US" dirty="0"/>
              <a:t>年，</a:t>
            </a:r>
            <a:r>
              <a:rPr lang="en-US" altLang="zh-CN" dirty="0"/>
              <a:t>IBM</a:t>
            </a:r>
            <a:r>
              <a:rPr lang="zh-CN" altLang="en-US" dirty="0"/>
              <a:t>同一实验室的</a:t>
            </a:r>
            <a:r>
              <a:rPr lang="en-US" altLang="zh-CN" dirty="0" err="1"/>
              <a:t>D.D.Chamberlin</a:t>
            </a:r>
            <a:r>
              <a:rPr lang="zh-CN" altLang="en-US" dirty="0"/>
              <a:t>和</a:t>
            </a:r>
            <a:r>
              <a:rPr lang="en-US" altLang="zh-CN" dirty="0"/>
              <a:t>R.F. Boyce</a:t>
            </a:r>
            <a:r>
              <a:rPr lang="zh-CN" altLang="en-US" dirty="0"/>
              <a:t>对</a:t>
            </a:r>
            <a:r>
              <a:rPr lang="en-US" altLang="zh-CN" dirty="0"/>
              <a:t>Codd‘s Relational Algebra</a:t>
            </a:r>
            <a:r>
              <a:rPr lang="zh-CN" altLang="en-US" dirty="0"/>
              <a:t>在研制关系数据库管理系统</a:t>
            </a:r>
            <a:r>
              <a:rPr lang="en-US" altLang="zh-CN" dirty="0"/>
              <a:t>System R</a:t>
            </a:r>
            <a:r>
              <a:rPr lang="zh-CN" altLang="en-US" dirty="0"/>
              <a:t>中，研制出一套规范语言</a:t>
            </a:r>
            <a:r>
              <a:rPr lang="en-US" altLang="zh-CN" dirty="0"/>
              <a:t>-SEQUEL(Structured English </a:t>
            </a:r>
            <a:r>
              <a:rPr lang="en-US" altLang="zh-CN" dirty="0" err="1"/>
              <a:t>QUEry</a:t>
            </a:r>
            <a:r>
              <a:rPr lang="en-US" altLang="zh-CN" dirty="0"/>
              <a:t> Language)</a:t>
            </a:r>
            <a:r>
              <a:rPr lang="zh-CN" altLang="en-US" dirty="0"/>
              <a:t>。</a:t>
            </a:r>
          </a:p>
          <a:p>
            <a:pPr>
              <a:lnSpc>
                <a:spcPct val="80000"/>
              </a:lnSpc>
            </a:pPr>
            <a:r>
              <a:rPr lang="en-US" altLang="zh-CN" dirty="0"/>
              <a:t>1976</a:t>
            </a:r>
            <a:r>
              <a:rPr lang="zh-CN" altLang="en-US" dirty="0"/>
              <a:t>年</a:t>
            </a:r>
            <a:r>
              <a:rPr lang="en-US" altLang="zh-CN" dirty="0"/>
              <a:t>11</a:t>
            </a:r>
            <a:r>
              <a:rPr lang="zh-CN" altLang="en-US" dirty="0"/>
              <a:t>月的</a:t>
            </a:r>
            <a:r>
              <a:rPr lang="en-US" altLang="zh-CN" dirty="0"/>
              <a:t>IBM Journal of R&amp;D</a:t>
            </a:r>
            <a:r>
              <a:rPr lang="zh-CN" altLang="en-US" dirty="0"/>
              <a:t>上公布新版本的</a:t>
            </a:r>
            <a:r>
              <a:rPr lang="en-US" altLang="zh-CN" dirty="0"/>
              <a:t>SQL(</a:t>
            </a:r>
            <a:r>
              <a:rPr lang="zh-CN" altLang="en-US" dirty="0"/>
              <a:t>叫</a:t>
            </a:r>
            <a:r>
              <a:rPr lang="en-US" altLang="zh-CN" dirty="0"/>
              <a:t>SEQUEL/2)</a:t>
            </a:r>
            <a:r>
              <a:rPr lang="zh-CN" altLang="en-US" dirty="0"/>
              <a:t>。</a:t>
            </a:r>
          </a:p>
          <a:p>
            <a:pPr>
              <a:lnSpc>
                <a:spcPct val="80000"/>
              </a:lnSpc>
            </a:pPr>
            <a:r>
              <a:rPr lang="en-US" altLang="zh-CN" dirty="0"/>
              <a:t>1980</a:t>
            </a:r>
            <a:r>
              <a:rPr lang="zh-CN" altLang="en-US" dirty="0"/>
              <a:t>年改名为</a:t>
            </a:r>
            <a:r>
              <a:rPr lang="en-US" altLang="zh-CN" dirty="0"/>
              <a:t>SQL</a:t>
            </a:r>
            <a:r>
              <a:rPr lang="zh-CN" altLang="en-US" dirty="0"/>
              <a:t>。</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5" name="Rectangle 3">
            <a:extLst>
              <a:ext uri="{FF2B5EF4-FFF2-40B4-BE49-F238E27FC236}">
                <a16:creationId xmlns:a16="http://schemas.microsoft.com/office/drawing/2014/main" id="{560FE8C4-DB4A-4DF3-894F-E3A19A35708C}"/>
              </a:ext>
            </a:extLst>
          </p:cNvPr>
          <p:cNvSpPr>
            <a:spLocks noGrp="1" noChangeArrowheads="1"/>
          </p:cNvSpPr>
          <p:nvPr>
            <p:ph type="body" idx="4294967295"/>
          </p:nvPr>
        </p:nvSpPr>
        <p:spPr>
          <a:xfrm>
            <a:off x="609600" y="692696"/>
            <a:ext cx="10972800" cy="4525963"/>
          </a:xfrm>
        </p:spPr>
        <p:txBody>
          <a:bodyPr>
            <a:normAutofit fontScale="92500" lnSpcReduction="20000"/>
          </a:bodyPr>
          <a:lstStyle/>
          <a:p>
            <a:pPr>
              <a:lnSpc>
                <a:spcPct val="150000"/>
              </a:lnSpc>
            </a:pPr>
            <a:r>
              <a:rPr lang="zh-CN" altLang="en-US" sz="2800" dirty="0"/>
              <a:t>最早的</a:t>
            </a:r>
            <a:r>
              <a:rPr lang="en-US" altLang="zh-CN" sz="2800" dirty="0"/>
              <a:t>SQL</a:t>
            </a:r>
            <a:r>
              <a:rPr lang="zh-CN" altLang="en-US" sz="2800" dirty="0"/>
              <a:t>标准是于</a:t>
            </a:r>
            <a:r>
              <a:rPr lang="en-US" altLang="zh-CN" sz="2800" dirty="0"/>
              <a:t>1986</a:t>
            </a:r>
            <a:r>
              <a:rPr lang="zh-CN" altLang="en-US" sz="2800" dirty="0"/>
              <a:t>年</a:t>
            </a:r>
            <a:r>
              <a:rPr lang="en-US" altLang="zh-CN" sz="2800" dirty="0"/>
              <a:t>10</a:t>
            </a:r>
            <a:r>
              <a:rPr lang="zh-CN" altLang="en-US" sz="2800" dirty="0"/>
              <a:t>月由美国</a:t>
            </a:r>
            <a:r>
              <a:rPr lang="en-US" altLang="zh-CN" sz="2800" dirty="0"/>
              <a:t>ANSI</a:t>
            </a:r>
            <a:r>
              <a:rPr lang="zh-CN" altLang="en-US" sz="2800" dirty="0"/>
              <a:t>（ </a:t>
            </a:r>
            <a:r>
              <a:rPr lang="en-US" altLang="zh-CN" sz="2800" dirty="0"/>
              <a:t>American national Standards Institute</a:t>
            </a:r>
            <a:r>
              <a:rPr lang="zh-CN" altLang="en-US" sz="2800" dirty="0"/>
              <a:t>）公布的。随后，</a:t>
            </a:r>
            <a:r>
              <a:rPr lang="en-US" altLang="zh-CN" sz="2800" dirty="0"/>
              <a:t>ISO</a:t>
            </a:r>
            <a:r>
              <a:rPr lang="zh-CN" altLang="en-US" sz="2800" dirty="0"/>
              <a:t>（</a:t>
            </a:r>
            <a:r>
              <a:rPr lang="en-US" altLang="zh-CN" sz="2800" dirty="0"/>
              <a:t>International  Standards  Organization</a:t>
            </a:r>
            <a:r>
              <a:rPr lang="zh-CN" altLang="en-US" sz="2800" dirty="0"/>
              <a:t>）于</a:t>
            </a:r>
            <a:r>
              <a:rPr lang="en-US" altLang="zh-CN" sz="2800" dirty="0"/>
              <a:t>1989</a:t>
            </a:r>
            <a:r>
              <a:rPr lang="zh-CN" altLang="en-US" sz="2800" dirty="0"/>
              <a:t>年４月，提出了具有完整性特征的</a:t>
            </a:r>
            <a:r>
              <a:rPr lang="en-US" altLang="zh-CN" sz="2800" dirty="0"/>
              <a:t>SQL</a:t>
            </a:r>
            <a:r>
              <a:rPr lang="zh-CN" altLang="en-US" sz="2800" dirty="0"/>
              <a:t>， 并称之为</a:t>
            </a:r>
            <a:r>
              <a:rPr lang="en-US" altLang="zh-CN" sz="2800" dirty="0"/>
              <a:t>SQL89</a:t>
            </a:r>
            <a:r>
              <a:rPr lang="zh-CN" altLang="en-US" sz="2800" dirty="0"/>
              <a:t>。</a:t>
            </a:r>
          </a:p>
          <a:p>
            <a:pPr>
              <a:lnSpc>
                <a:spcPct val="150000"/>
              </a:lnSpc>
            </a:pPr>
            <a:r>
              <a:rPr lang="en-US" altLang="zh-CN" sz="2800" dirty="0"/>
              <a:t>ISO</a:t>
            </a:r>
            <a:r>
              <a:rPr lang="zh-CN" altLang="en-US" sz="2800" dirty="0"/>
              <a:t>于</a:t>
            </a:r>
            <a:r>
              <a:rPr lang="en-US" altLang="zh-CN" sz="2800" dirty="0"/>
              <a:t>1992</a:t>
            </a:r>
            <a:r>
              <a:rPr lang="zh-CN" altLang="en-US" sz="2800" dirty="0"/>
              <a:t>年</a:t>
            </a:r>
            <a:r>
              <a:rPr lang="en-US" altLang="zh-CN" sz="2800" dirty="0"/>
              <a:t>11</a:t>
            </a:r>
            <a:r>
              <a:rPr lang="zh-CN" altLang="en-US" sz="2800" dirty="0"/>
              <a:t>月又公布了</a:t>
            </a:r>
            <a:r>
              <a:rPr lang="en-US" altLang="zh-CN" sz="2800" dirty="0"/>
              <a:t>SQL</a:t>
            </a:r>
            <a:r>
              <a:rPr lang="zh-CN" altLang="en-US" sz="2800" dirty="0"/>
              <a:t>的新标准，即</a:t>
            </a:r>
            <a:r>
              <a:rPr lang="en-US" altLang="zh-CN" sz="2800" dirty="0"/>
              <a:t>SQL92</a:t>
            </a:r>
            <a:r>
              <a:rPr lang="zh-CN" altLang="en-US" sz="2800" dirty="0"/>
              <a:t>标准，也称为</a:t>
            </a:r>
            <a:r>
              <a:rPr lang="en-US" altLang="zh-CN" sz="2800" dirty="0"/>
              <a:t>SQL2</a:t>
            </a:r>
            <a:r>
              <a:rPr lang="zh-CN" altLang="en-US" sz="2800" dirty="0"/>
              <a:t>。</a:t>
            </a:r>
          </a:p>
          <a:p>
            <a:pPr>
              <a:lnSpc>
                <a:spcPct val="150000"/>
              </a:lnSpc>
            </a:pPr>
            <a:r>
              <a:rPr lang="zh-CN" altLang="en-US" sz="2800" dirty="0"/>
              <a:t>现在又发布了</a:t>
            </a:r>
            <a:r>
              <a:rPr lang="en-US" altLang="zh-CN" sz="2800" dirty="0"/>
              <a:t>SQL99</a:t>
            </a:r>
            <a:r>
              <a:rPr lang="zh-CN" altLang="en-US" sz="2800" dirty="0"/>
              <a:t>，也称为</a:t>
            </a:r>
            <a:r>
              <a:rPr lang="en-US" altLang="zh-CN" sz="2800" dirty="0"/>
              <a:t>SQL3</a:t>
            </a:r>
            <a:r>
              <a:rPr lang="zh-CN" altLang="en-US" sz="2800" dirty="0"/>
              <a:t>，它又增加了对象数据、递归、触发器等的支持能力。</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9" name="Rectangle 3">
            <a:extLst>
              <a:ext uri="{FF2B5EF4-FFF2-40B4-BE49-F238E27FC236}">
                <a16:creationId xmlns:a16="http://schemas.microsoft.com/office/drawing/2014/main" id="{483BC30B-2897-49D6-9D6A-7BD111D295E1}"/>
              </a:ext>
            </a:extLst>
          </p:cNvPr>
          <p:cNvSpPr>
            <a:spLocks noGrp="1" noChangeArrowheads="1"/>
          </p:cNvSpPr>
          <p:nvPr>
            <p:ph type="body" idx="4294967295"/>
          </p:nvPr>
        </p:nvSpPr>
        <p:spPr>
          <a:xfrm>
            <a:off x="609600" y="1412776"/>
            <a:ext cx="10972800" cy="4525963"/>
          </a:xfrm>
        </p:spPr>
        <p:txBody>
          <a:bodyPr/>
          <a:lstStyle/>
          <a:p>
            <a:pPr>
              <a:lnSpc>
                <a:spcPct val="150000"/>
              </a:lnSpc>
            </a:pPr>
            <a:r>
              <a:rPr lang="en-US" altLang="zh-CN" dirty="0"/>
              <a:t>SQL</a:t>
            </a:r>
            <a:r>
              <a:rPr lang="zh-CN" altLang="en-US" dirty="0"/>
              <a:t>标准只是一个建议标准，目前一些主流数据库产品也只达到了基本级的要求，并没有完全实现这些标准。</a:t>
            </a:r>
          </a:p>
          <a:p>
            <a:pPr>
              <a:lnSpc>
                <a:spcPct val="150000"/>
              </a:lnSpc>
            </a:pPr>
            <a:r>
              <a:rPr lang="en-US" altLang="zh-CN" dirty="0"/>
              <a:t>SQL</a:t>
            </a:r>
            <a:r>
              <a:rPr lang="zh-CN" altLang="en-US" dirty="0"/>
              <a:t>成为国际标准后，由于各种类型的计算机和</a:t>
            </a:r>
            <a:r>
              <a:rPr lang="en-US" altLang="zh-CN" dirty="0"/>
              <a:t>DBS</a:t>
            </a:r>
            <a:r>
              <a:rPr lang="zh-CN" altLang="en-US" dirty="0"/>
              <a:t>都采用</a:t>
            </a:r>
            <a:r>
              <a:rPr lang="en-US" altLang="zh-CN" dirty="0"/>
              <a:t>SQL</a:t>
            </a:r>
            <a:r>
              <a:rPr lang="zh-CN" altLang="en-US" dirty="0"/>
              <a:t>作为其存取语言和标准接口， 从而使数据库世界有可能链接为一个统一的整体， 这个前景意义十分重大。</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7" name="Rectangle 3">
            <a:extLst>
              <a:ext uri="{FF2B5EF4-FFF2-40B4-BE49-F238E27FC236}">
                <a16:creationId xmlns:a16="http://schemas.microsoft.com/office/drawing/2014/main" id="{FD12302D-61DC-47D5-B9F2-DE90B7D57434}"/>
              </a:ext>
            </a:extLst>
          </p:cNvPr>
          <p:cNvSpPr>
            <a:spLocks noGrp="1" noChangeArrowheads="1"/>
          </p:cNvSpPr>
          <p:nvPr>
            <p:ph type="body" idx="4294967295"/>
          </p:nvPr>
        </p:nvSpPr>
        <p:spPr>
          <a:xfrm>
            <a:off x="609600" y="1412776"/>
            <a:ext cx="10972800" cy="4525963"/>
          </a:xfrm>
        </p:spPr>
        <p:txBody>
          <a:bodyPr>
            <a:normAutofit fontScale="92500" lnSpcReduction="10000"/>
          </a:bodyPr>
          <a:lstStyle/>
          <a:p>
            <a:pPr>
              <a:lnSpc>
                <a:spcPct val="150000"/>
              </a:lnSpc>
              <a:buFontTx/>
              <a:buNone/>
            </a:pPr>
            <a:r>
              <a:rPr lang="zh-CN" altLang="en-US" dirty="0"/>
              <a:t>其主要特点包括：</a:t>
            </a:r>
          </a:p>
          <a:p>
            <a:pPr>
              <a:lnSpc>
                <a:spcPct val="150000"/>
              </a:lnSpc>
            </a:pPr>
            <a:r>
              <a:rPr lang="en-US" altLang="zh-CN" dirty="0"/>
              <a:t>1.</a:t>
            </a:r>
            <a:r>
              <a:rPr lang="zh-CN" altLang="en-US" dirty="0"/>
              <a:t>综合统一 </a:t>
            </a:r>
          </a:p>
          <a:p>
            <a:pPr lvl="1">
              <a:lnSpc>
                <a:spcPct val="150000"/>
              </a:lnSpc>
            </a:pPr>
            <a:r>
              <a:rPr lang="en-US" altLang="zh-CN" dirty="0"/>
              <a:t>SQL</a:t>
            </a:r>
            <a:r>
              <a:rPr lang="zh-CN" altLang="en-US" dirty="0"/>
              <a:t>语言集数据定义语言</a:t>
            </a:r>
            <a:r>
              <a:rPr lang="en-US" altLang="zh-CN" dirty="0"/>
              <a:t>DDL</a:t>
            </a:r>
            <a:r>
              <a:rPr lang="zh-CN" altLang="en-US" dirty="0"/>
              <a:t>、数据操纵语言</a:t>
            </a:r>
            <a:r>
              <a:rPr lang="en-US" altLang="zh-CN" dirty="0"/>
              <a:t>DML</a:t>
            </a:r>
            <a:r>
              <a:rPr lang="zh-CN" altLang="en-US" dirty="0"/>
              <a:t>、数据控制语言</a:t>
            </a:r>
            <a:r>
              <a:rPr lang="en-US" altLang="zh-CN" dirty="0"/>
              <a:t>DCL</a:t>
            </a:r>
            <a:r>
              <a:rPr lang="zh-CN" altLang="en-US" dirty="0"/>
              <a:t>的功能于一体。</a:t>
            </a:r>
          </a:p>
          <a:p>
            <a:pPr lvl="1">
              <a:lnSpc>
                <a:spcPct val="150000"/>
              </a:lnSpc>
            </a:pPr>
            <a:r>
              <a:rPr lang="en-US" altLang="zh-CN" dirty="0"/>
              <a:t>SQL</a:t>
            </a:r>
            <a:r>
              <a:rPr lang="zh-CN" altLang="en-US" dirty="0"/>
              <a:t>语言包括定义数据对象、定义关系模式、录入数据以建立数据库、查询、更新、维护、数据库重构、数据库安全性控制等一系列操作要求，这就为数据库应用系统开发提供了良好的环境。 </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1" name="Rectangle 3">
            <a:extLst>
              <a:ext uri="{FF2B5EF4-FFF2-40B4-BE49-F238E27FC236}">
                <a16:creationId xmlns:a16="http://schemas.microsoft.com/office/drawing/2014/main" id="{4473BD82-C384-41A1-908C-C3CD8EB91577}"/>
              </a:ext>
            </a:extLst>
          </p:cNvPr>
          <p:cNvSpPr>
            <a:spLocks noGrp="1" noChangeArrowheads="1"/>
          </p:cNvSpPr>
          <p:nvPr>
            <p:ph type="body" idx="4294967295"/>
          </p:nvPr>
        </p:nvSpPr>
        <p:spPr/>
        <p:txBody>
          <a:bodyPr/>
          <a:lstStyle/>
          <a:p>
            <a:pPr>
              <a:lnSpc>
                <a:spcPct val="150000"/>
              </a:lnSpc>
            </a:pPr>
            <a:r>
              <a:rPr lang="en-US" altLang="zh-CN" dirty="0"/>
              <a:t>2.</a:t>
            </a:r>
            <a:r>
              <a:rPr lang="zh-CN" altLang="en-US" dirty="0"/>
              <a:t>高度非过程化 </a:t>
            </a:r>
          </a:p>
          <a:p>
            <a:pPr lvl="1">
              <a:lnSpc>
                <a:spcPct val="150000"/>
              </a:lnSpc>
            </a:pPr>
            <a:r>
              <a:rPr lang="zh-CN" altLang="en-US" dirty="0"/>
              <a:t>用</a:t>
            </a:r>
            <a:r>
              <a:rPr lang="en-US" altLang="zh-CN" dirty="0"/>
              <a:t>SQL</a:t>
            </a:r>
            <a:r>
              <a:rPr lang="zh-CN" altLang="en-US" dirty="0"/>
              <a:t>语言进行数据操作，用户只需提出“做什么”，而不必指明“怎么做”，因此用户无需了解存取路径。</a:t>
            </a:r>
          </a:p>
          <a:p>
            <a:pPr lvl="1">
              <a:lnSpc>
                <a:spcPct val="150000"/>
              </a:lnSpc>
            </a:pPr>
            <a:r>
              <a:rPr lang="zh-CN" altLang="en-US" dirty="0"/>
              <a:t>这不但大大减轻了用户负担，而且有利于提高数据独立性。 </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5" name="Rectangle 3">
            <a:extLst>
              <a:ext uri="{FF2B5EF4-FFF2-40B4-BE49-F238E27FC236}">
                <a16:creationId xmlns:a16="http://schemas.microsoft.com/office/drawing/2014/main" id="{6580C466-B6E8-4BAE-A04D-74F1F6F1E040}"/>
              </a:ext>
            </a:extLst>
          </p:cNvPr>
          <p:cNvSpPr>
            <a:spLocks noGrp="1" noChangeArrowheads="1"/>
          </p:cNvSpPr>
          <p:nvPr>
            <p:ph type="body" idx="4294967295"/>
          </p:nvPr>
        </p:nvSpPr>
        <p:spPr/>
        <p:txBody>
          <a:bodyPr/>
          <a:lstStyle/>
          <a:p>
            <a:pPr>
              <a:lnSpc>
                <a:spcPct val="150000"/>
              </a:lnSpc>
            </a:pPr>
            <a:r>
              <a:rPr lang="en-US" altLang="zh-CN" dirty="0"/>
              <a:t>3.</a:t>
            </a:r>
            <a:r>
              <a:rPr lang="zh-CN" altLang="en-US" dirty="0"/>
              <a:t>面向集合的操作方式 </a:t>
            </a:r>
          </a:p>
          <a:p>
            <a:pPr lvl="1">
              <a:lnSpc>
                <a:spcPct val="150000"/>
              </a:lnSpc>
            </a:pPr>
            <a:r>
              <a:rPr lang="en-US" altLang="zh-CN" dirty="0"/>
              <a:t>SQL</a:t>
            </a:r>
            <a:r>
              <a:rPr lang="zh-CN" altLang="en-US" dirty="0"/>
              <a:t>语言采用集合操作方式，不仅查找结果可以是元组的集合，而且一次插入、删除、更新操作的对象也可以是元组的集合。 </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9" name="Rectangle 3">
            <a:extLst>
              <a:ext uri="{FF2B5EF4-FFF2-40B4-BE49-F238E27FC236}">
                <a16:creationId xmlns:a16="http://schemas.microsoft.com/office/drawing/2014/main" id="{63A2F57F-FFCB-48E8-8CEE-EAB76BC08EDA}"/>
              </a:ext>
            </a:extLst>
          </p:cNvPr>
          <p:cNvSpPr>
            <a:spLocks noGrp="1" noChangeArrowheads="1"/>
          </p:cNvSpPr>
          <p:nvPr>
            <p:ph type="body" idx="4294967295"/>
          </p:nvPr>
        </p:nvSpPr>
        <p:spPr>
          <a:xfrm>
            <a:off x="609600" y="764704"/>
            <a:ext cx="10972800" cy="4525963"/>
          </a:xfrm>
        </p:spPr>
        <p:txBody>
          <a:bodyPr/>
          <a:lstStyle/>
          <a:p>
            <a:pPr>
              <a:lnSpc>
                <a:spcPct val="150000"/>
              </a:lnSpc>
            </a:pPr>
            <a:r>
              <a:rPr lang="en-US" altLang="zh-CN" dirty="0"/>
              <a:t>4.</a:t>
            </a:r>
            <a:r>
              <a:rPr lang="zh-CN" altLang="en-US" dirty="0"/>
              <a:t>以同一种语法结构提供两种使用方式 </a:t>
            </a:r>
          </a:p>
          <a:p>
            <a:pPr lvl="1">
              <a:lnSpc>
                <a:spcPct val="150000"/>
              </a:lnSpc>
            </a:pPr>
            <a:r>
              <a:rPr lang="en-US" altLang="zh-CN" dirty="0"/>
              <a:t>SQL</a:t>
            </a:r>
            <a:r>
              <a:rPr lang="zh-CN" altLang="en-US" dirty="0"/>
              <a:t>语言既是自含式语言，又是嵌入式语言。 </a:t>
            </a:r>
          </a:p>
          <a:p>
            <a:pPr lvl="1">
              <a:lnSpc>
                <a:spcPct val="150000"/>
              </a:lnSpc>
            </a:pPr>
            <a:r>
              <a:rPr lang="zh-CN" altLang="en-US" dirty="0"/>
              <a:t>作为自含式语言，它能够独立地用于联机交互的使用方式，用户可以在终端键盘上直接键入</a:t>
            </a:r>
            <a:r>
              <a:rPr lang="en-US" altLang="zh-CN" dirty="0"/>
              <a:t>SQL</a:t>
            </a:r>
            <a:r>
              <a:rPr lang="zh-CN" altLang="en-US" dirty="0"/>
              <a:t>命令对数据库进行操作。</a:t>
            </a:r>
          </a:p>
          <a:p>
            <a:pPr lvl="1">
              <a:lnSpc>
                <a:spcPct val="150000"/>
              </a:lnSpc>
            </a:pPr>
            <a:r>
              <a:rPr lang="zh-CN" altLang="en-US" dirty="0"/>
              <a:t>作为嵌入式语言，</a:t>
            </a:r>
            <a:r>
              <a:rPr lang="en-US" altLang="zh-CN" dirty="0"/>
              <a:t>SQL</a:t>
            </a:r>
            <a:r>
              <a:rPr lang="zh-CN" altLang="en-US" dirty="0"/>
              <a:t>语句能够嵌入到高级语言（例如</a:t>
            </a:r>
            <a:r>
              <a:rPr lang="en-US" altLang="zh-CN" dirty="0"/>
              <a:t>C#</a:t>
            </a:r>
            <a:r>
              <a:rPr lang="zh-CN" altLang="en-US" dirty="0"/>
              <a:t>、</a:t>
            </a:r>
            <a:r>
              <a:rPr lang="en-US" altLang="zh-CN" dirty="0"/>
              <a:t>PB</a:t>
            </a:r>
            <a:r>
              <a:rPr lang="zh-CN" altLang="en-US" dirty="0"/>
              <a:t>、</a:t>
            </a:r>
            <a:r>
              <a:rPr lang="en-US" altLang="zh-CN" dirty="0"/>
              <a:t>Java</a:t>
            </a:r>
            <a:r>
              <a:rPr lang="zh-CN" altLang="en-US" dirty="0"/>
              <a:t>）程序中。</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A945DC74-70D9-4770-ABD9-789A58202812}"/>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的英文和中文全称是什么？</a:t>
            </a:r>
          </a:p>
        </p:txBody>
      </p:sp>
      <p:sp>
        <p:nvSpPr>
          <p:cNvPr id="7" name="矩形: 圆角 6">
            <a:extLst>
              <a:ext uri="{FF2B5EF4-FFF2-40B4-BE49-F238E27FC236}">
                <a16:creationId xmlns:a16="http://schemas.microsoft.com/office/drawing/2014/main" id="{68016142-0A23-4277-822C-80B6B5E8C878}"/>
              </a:ext>
            </a:extLst>
          </p:cNvPr>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958E6BCE-20E5-4BF6-80AC-0797BBEDA5EB}"/>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9B31C2E2-0A54-4330-AEB1-B5B3B56875BB}"/>
                </a:ext>
              </a:extLst>
            </p:cNvPr>
            <p:cNvSpPr/>
            <p:nvPr>
              <p:custDataLst>
                <p:tags r:id="rId6"/>
              </p:custDataLst>
            </p:nvPr>
          </p:nvSpPr>
          <p:spPr>
            <a:xfrm>
              <a:off x="0" y="0"/>
              <a:ext cx="12192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AF72ECDE-4E69-4856-AB0F-311A309CECC7}"/>
                </a:ext>
              </a:extLst>
            </p:cNvPr>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6BC08912-08DB-4D35-ABB3-03201C16008E}"/>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46D1445D-43F5-465C-A803-C3A992E99283}"/>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0DC153D7-9A18-4D60-B021-77245B771881}"/>
              </a:ext>
            </a:extLst>
          </p:cNvPr>
          <p:cNvPicPr>
            <a:picLocks/>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502177714"/>
      </p:ext>
    </p:extLst>
  </p:cSld>
  <p:clrMapOvr>
    <a:masterClrMapping/>
  </p:clrMapOvr>
  <mc:AlternateContent xmlns:mc="http://schemas.openxmlformats.org/markup-compatibility/2006" xmlns:p14="http://schemas.microsoft.com/office/powerpoint/2010/main">
    <mc:Choice Requires="p14">
      <p:transition p14:dur="0">
        <p:sndAc>
          <p:stSnd>
            <p:snd r:embed="rId11" name="arrow.wav"/>
          </p:stSnd>
        </p:sndAc>
      </p:transition>
    </mc:Choice>
    <mc:Fallback xmlns="">
      <p:transition>
        <p:sndAc>
          <p:stSnd>
            <p:snd r:embed="rId13" name="arrow.wav"/>
          </p:stSnd>
        </p:sndAc>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739092" y="38870"/>
            <a:ext cx="273746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spcBef>
                <a:spcPts val="0"/>
              </a:spcBef>
              <a:defRPr/>
            </a:pPr>
            <a:r>
              <a:rPr lang="en-US" altLang="zh-CN" sz="4000" b="1" dirty="0">
                <a:solidFill>
                  <a:srgbClr val="FFFFCC"/>
                </a:solidFill>
                <a:effectLst>
                  <a:outerShdw blurRad="38100" dist="38100" dir="2700000" algn="tl">
                    <a:srgbClr val="000000"/>
                  </a:outerShdw>
                </a:effectLst>
              </a:rPr>
              <a:t>SQL</a:t>
            </a:r>
            <a:r>
              <a:rPr lang="zh-CN" altLang="en-US" sz="4000" b="1" dirty="0">
                <a:solidFill>
                  <a:srgbClr val="FFFFCC"/>
                </a:solidFill>
                <a:effectLst>
                  <a:outerShdw blurRad="38100" dist="38100" dir="2700000" algn="tl">
                    <a:srgbClr val="000000"/>
                  </a:outerShdw>
                </a:effectLst>
              </a:rPr>
              <a:t>的特点</a:t>
            </a:r>
            <a:endParaRPr lang="zh-CN" altLang="en-US" sz="4000" b="1" dirty="0">
              <a:solidFill>
                <a:srgbClr val="FFFFCC"/>
              </a:solidFill>
              <a:effectLst>
                <a:outerShdw blurRad="38100" dist="38100" dir="2700000" algn="tl">
                  <a:srgbClr val="000000"/>
                </a:outerShdw>
              </a:effectLst>
              <a:cs typeface="+mn-cs"/>
            </a:endParaRPr>
          </a:p>
        </p:txBody>
      </p:sp>
      <p:sp>
        <p:nvSpPr>
          <p:cNvPr id="32" name="Rectangle 3"/>
          <p:cNvSpPr txBox="1">
            <a:spLocks noChangeArrowheads="1"/>
          </p:cNvSpPr>
          <p:nvPr/>
        </p:nvSpPr>
        <p:spPr bwMode="auto">
          <a:xfrm>
            <a:off x="335360" y="799829"/>
            <a:ext cx="11017224" cy="164260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ct val="50000"/>
              </a:spcAft>
              <a:defRPr/>
            </a:pPr>
            <a:r>
              <a:rPr lang="en-US" altLang="zh-CN" sz="4000" dirty="0">
                <a:latin typeface="Times New Roman" pitchFamily="18" charset="0"/>
                <a:cs typeface="Times New Roman" pitchFamily="18" charset="0"/>
              </a:rPr>
              <a:t>SQL</a:t>
            </a:r>
            <a:r>
              <a:rPr lang="zh-CN" altLang="en-US" sz="4000" dirty="0">
                <a:latin typeface="Times New Roman" pitchFamily="18" charset="0"/>
                <a:cs typeface="Times New Roman" pitchFamily="18" charset="0"/>
              </a:rPr>
              <a:t>集</a:t>
            </a:r>
            <a:r>
              <a:rPr lang="zh-CN" altLang="en-US" sz="4000" b="1" dirty="0">
                <a:solidFill>
                  <a:srgbClr val="FFFF00"/>
                </a:solidFill>
                <a:latin typeface="Times New Roman" pitchFamily="18" charset="0"/>
                <a:cs typeface="Times New Roman" pitchFamily="18" charset="0"/>
              </a:rPr>
              <a:t>数据定义</a:t>
            </a:r>
            <a:r>
              <a:rPr lang="en-US" altLang="zh-CN" sz="4000" dirty="0">
                <a:latin typeface="Times New Roman" pitchFamily="18" charset="0"/>
                <a:cs typeface="Times New Roman" pitchFamily="18" charset="0"/>
              </a:rPr>
              <a:t>(</a:t>
            </a:r>
            <a:r>
              <a:rPr lang="en-US" altLang="zh-CN" sz="4000" i="1" dirty="0">
                <a:latin typeface="Times New Roman" pitchFamily="18" charset="0"/>
                <a:cs typeface="Times New Roman" pitchFamily="18" charset="0"/>
              </a:rPr>
              <a:t>Definition</a:t>
            </a:r>
            <a:r>
              <a:rPr lang="en-US" altLang="zh-CN" sz="4000" dirty="0">
                <a:latin typeface="Times New Roman" pitchFamily="18" charset="0"/>
                <a:cs typeface="Times New Roman" pitchFamily="18" charset="0"/>
              </a:rPr>
              <a:t>)</a:t>
            </a:r>
            <a:r>
              <a:rPr lang="zh-CN" altLang="en-US" sz="4000" dirty="0">
                <a:latin typeface="Times New Roman" pitchFamily="18" charset="0"/>
                <a:cs typeface="Times New Roman" pitchFamily="18" charset="0"/>
              </a:rPr>
              <a:t>、</a:t>
            </a:r>
            <a:r>
              <a:rPr lang="zh-CN" altLang="en-US" sz="4000" b="1" dirty="0">
                <a:solidFill>
                  <a:srgbClr val="FFFF00"/>
                </a:solidFill>
                <a:latin typeface="Times New Roman" pitchFamily="18" charset="0"/>
                <a:cs typeface="Times New Roman" pitchFamily="18" charset="0"/>
              </a:rPr>
              <a:t>数据查询</a:t>
            </a:r>
            <a:r>
              <a:rPr lang="en-US" altLang="zh-CN" sz="4000" dirty="0">
                <a:latin typeface="Times New Roman" pitchFamily="18" charset="0"/>
                <a:cs typeface="Times New Roman" pitchFamily="18" charset="0"/>
              </a:rPr>
              <a:t>(</a:t>
            </a:r>
            <a:r>
              <a:rPr lang="en-US" altLang="zh-CN" sz="4000" i="1" dirty="0">
                <a:latin typeface="Times New Roman" pitchFamily="18" charset="0"/>
                <a:cs typeface="Times New Roman" pitchFamily="18" charset="0"/>
              </a:rPr>
              <a:t>Query</a:t>
            </a:r>
            <a:r>
              <a:rPr lang="en-US" altLang="zh-CN" sz="4000" dirty="0">
                <a:latin typeface="Times New Roman" pitchFamily="18" charset="0"/>
                <a:cs typeface="Times New Roman" pitchFamily="18" charset="0"/>
              </a:rPr>
              <a:t>)</a:t>
            </a:r>
            <a:r>
              <a:rPr lang="zh-CN" altLang="en-US" sz="4000" dirty="0">
                <a:latin typeface="Times New Roman" pitchFamily="18" charset="0"/>
                <a:cs typeface="Times New Roman" pitchFamily="18" charset="0"/>
              </a:rPr>
              <a:t>、</a:t>
            </a:r>
            <a:r>
              <a:rPr lang="zh-CN" altLang="en-US" sz="4000" b="1" dirty="0">
                <a:solidFill>
                  <a:srgbClr val="FFFF00"/>
                </a:solidFill>
                <a:latin typeface="Times New Roman" pitchFamily="18" charset="0"/>
                <a:cs typeface="Times New Roman" pitchFamily="18" charset="0"/>
              </a:rPr>
              <a:t>数据操纵</a:t>
            </a:r>
            <a:r>
              <a:rPr lang="en-US" altLang="zh-CN" sz="4000" dirty="0">
                <a:latin typeface="Times New Roman" pitchFamily="18" charset="0"/>
                <a:cs typeface="Times New Roman" pitchFamily="18" charset="0"/>
              </a:rPr>
              <a:t>(</a:t>
            </a:r>
            <a:r>
              <a:rPr lang="en-US" altLang="zh-CN" sz="4000" i="1" dirty="0">
                <a:latin typeface="Times New Roman" pitchFamily="18" charset="0"/>
                <a:cs typeface="Times New Roman" pitchFamily="18" charset="0"/>
              </a:rPr>
              <a:t>Manipulation</a:t>
            </a:r>
            <a:r>
              <a:rPr lang="en-US" altLang="zh-CN" sz="4000" dirty="0">
                <a:latin typeface="Times New Roman" pitchFamily="18" charset="0"/>
                <a:cs typeface="Times New Roman" pitchFamily="18" charset="0"/>
              </a:rPr>
              <a:t>) </a:t>
            </a:r>
            <a:r>
              <a:rPr lang="zh-CN" altLang="en-US" sz="4000" dirty="0">
                <a:latin typeface="Times New Roman" pitchFamily="18" charset="0"/>
                <a:cs typeface="Times New Roman" pitchFamily="18" charset="0"/>
              </a:rPr>
              <a:t>和</a:t>
            </a:r>
            <a:r>
              <a:rPr lang="zh-CN" altLang="en-US" sz="4000" b="1" dirty="0">
                <a:solidFill>
                  <a:srgbClr val="FFFF00"/>
                </a:solidFill>
                <a:latin typeface="Times New Roman" pitchFamily="18" charset="0"/>
                <a:cs typeface="Times New Roman" pitchFamily="18" charset="0"/>
              </a:rPr>
              <a:t>数据控制</a:t>
            </a:r>
            <a:r>
              <a:rPr lang="en-US" altLang="zh-CN" sz="4000" dirty="0">
                <a:latin typeface="Times New Roman" pitchFamily="18" charset="0"/>
                <a:cs typeface="Times New Roman" pitchFamily="18" charset="0"/>
              </a:rPr>
              <a:t>(</a:t>
            </a:r>
            <a:r>
              <a:rPr lang="en-US" altLang="zh-CN" sz="4000" i="1" dirty="0">
                <a:latin typeface="Times New Roman" pitchFamily="18" charset="0"/>
                <a:cs typeface="Times New Roman" pitchFamily="18" charset="0"/>
              </a:rPr>
              <a:t>Control</a:t>
            </a:r>
            <a:r>
              <a:rPr lang="en-US" altLang="zh-CN" sz="4000" dirty="0">
                <a:latin typeface="Times New Roman" pitchFamily="18" charset="0"/>
                <a:cs typeface="Times New Roman" pitchFamily="18" charset="0"/>
              </a:rPr>
              <a:t>)</a:t>
            </a:r>
            <a:r>
              <a:rPr lang="zh-CN" altLang="en-US" sz="4000" dirty="0">
                <a:latin typeface="Times New Roman" pitchFamily="18" charset="0"/>
                <a:cs typeface="Times New Roman" pitchFamily="18" charset="0"/>
              </a:rPr>
              <a:t>功能于一体，语言简捷自然，易学易用。</a:t>
            </a:r>
          </a:p>
        </p:txBody>
      </p:sp>
      <p:grpSp>
        <p:nvGrpSpPr>
          <p:cNvPr id="2" name="组合 1"/>
          <p:cNvGrpSpPr/>
          <p:nvPr/>
        </p:nvGrpSpPr>
        <p:grpSpPr>
          <a:xfrm>
            <a:off x="839416" y="2852936"/>
            <a:ext cx="2399812" cy="2952328"/>
            <a:chOff x="911424" y="3284984"/>
            <a:chExt cx="2399812" cy="2808312"/>
          </a:xfrm>
        </p:grpSpPr>
        <p:grpSp>
          <p:nvGrpSpPr>
            <p:cNvPr id="24" name="组合 23"/>
            <p:cNvGrpSpPr/>
            <p:nvPr/>
          </p:nvGrpSpPr>
          <p:grpSpPr>
            <a:xfrm>
              <a:off x="911424" y="3284984"/>
              <a:ext cx="2399812" cy="777600"/>
              <a:chOff x="5192" y="42274"/>
              <a:chExt cx="1990273" cy="777600"/>
            </a:xfrm>
            <a:effectLst>
              <a:outerShdw blurRad="50800" dist="38100" dir="2700000" algn="tl" rotWithShape="0">
                <a:prstClr val="black">
                  <a:alpha val="40000"/>
                </a:prstClr>
              </a:outerShdw>
            </a:effectLst>
          </p:grpSpPr>
          <p:sp>
            <p:nvSpPr>
              <p:cNvPr id="28" name="矩形 27"/>
              <p:cNvSpPr/>
              <p:nvPr/>
            </p:nvSpPr>
            <p:spPr>
              <a:xfrm>
                <a:off x="5192" y="42274"/>
                <a:ext cx="1990273" cy="777600"/>
              </a:xfrm>
              <a:prstGeom prst="rect">
                <a:avLst/>
              </a:prstGeom>
              <a:ln w="38100">
                <a:solidFill>
                  <a:schemeClr val="bg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9" name="文本框 28"/>
              <p:cNvSpPr txBox="1"/>
              <p:nvPr/>
            </p:nvSpPr>
            <p:spPr>
              <a:xfrm>
                <a:off x="5192" y="42274"/>
                <a:ext cx="1990273" cy="777600"/>
              </a:xfrm>
              <a:prstGeom prst="rect">
                <a:avLst/>
              </a:prstGeom>
              <a:ln w="38100">
                <a:solidFill>
                  <a:schemeClr val="bg1"/>
                </a:solidFill>
              </a:ln>
            </p:spPr>
            <p:style>
              <a:lnRef idx="0">
                <a:scrgbClr r="0" g="0" b="0"/>
              </a:lnRef>
              <a:fillRef idx="0">
                <a:scrgbClr r="0" g="0" b="0"/>
              </a:fillRef>
              <a:effectRef idx="0">
                <a:scrgbClr r="0" g="0" b="0"/>
              </a:effectRef>
              <a:fontRef idx="minor">
                <a:schemeClr val="lt1"/>
              </a:fontRef>
            </p:style>
            <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kumimoji="1" lang="zh-CN" altLang="en-US" sz="3600" i="0" kern="1200" baseline="0" dirty="0">
                    <a:latin typeface="微软雅黑" panose="020B0503020204020204" pitchFamily="34" charset="-122"/>
                    <a:ea typeface="微软雅黑" panose="020B0503020204020204" pitchFamily="34" charset="-122"/>
                  </a:rPr>
                  <a:t>数据定义</a:t>
                </a:r>
                <a:endParaRPr lang="zh-CN" altLang="en-US" sz="3600" kern="1200" dirty="0">
                  <a:latin typeface="微软雅黑" panose="020B0503020204020204" pitchFamily="34" charset="-122"/>
                  <a:ea typeface="微软雅黑" panose="020B0503020204020204" pitchFamily="34" charset="-122"/>
                </a:endParaRPr>
              </a:p>
            </p:txBody>
          </p:sp>
        </p:grpSp>
        <p:grpSp>
          <p:nvGrpSpPr>
            <p:cNvPr id="25" name="组合 24"/>
            <p:cNvGrpSpPr/>
            <p:nvPr/>
          </p:nvGrpSpPr>
          <p:grpSpPr>
            <a:xfrm>
              <a:off x="911424" y="4062584"/>
              <a:ext cx="2399812" cy="2030712"/>
              <a:chOff x="5192" y="819874"/>
              <a:chExt cx="1990273" cy="2522226"/>
            </a:xfrm>
            <a:effectLst>
              <a:outerShdw blurRad="50800" dist="38100" dir="2700000" algn="tl" rotWithShape="0">
                <a:prstClr val="black">
                  <a:alpha val="40000"/>
                </a:prstClr>
              </a:outerShdw>
            </a:effectLst>
          </p:grpSpPr>
          <p:sp>
            <p:nvSpPr>
              <p:cNvPr id="26" name="矩形 25"/>
              <p:cNvSpPr/>
              <p:nvPr/>
            </p:nvSpPr>
            <p:spPr>
              <a:xfrm>
                <a:off x="5192" y="819874"/>
                <a:ext cx="1990273" cy="2522226"/>
              </a:xfrm>
              <a:prstGeom prst="rect">
                <a:avLst/>
              </a:prstGeom>
              <a:ln w="38100">
                <a:solidFill>
                  <a:schemeClr val="bg1"/>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27" name="文本框 26"/>
              <p:cNvSpPr txBox="1"/>
              <p:nvPr/>
            </p:nvSpPr>
            <p:spPr>
              <a:xfrm>
                <a:off x="5192" y="819874"/>
                <a:ext cx="1990273" cy="2522226"/>
              </a:xfrm>
              <a:prstGeom prst="rect">
                <a:avLst/>
              </a:prstGeom>
              <a:ln w="38100">
                <a:solidFill>
                  <a:schemeClr val="bg1"/>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125000"/>
                  </a:lnSpc>
                  <a:spcBef>
                    <a:spcPct val="0"/>
                  </a:spcBef>
                  <a:spcAft>
                    <a:spcPts val="600"/>
                  </a:spcAft>
                  <a:buChar char="••"/>
                </a:pPr>
                <a:r>
                  <a:rPr lang="en-US" altLang="zh-CN" sz="3200" kern="1200" dirty="0">
                    <a:latin typeface="Arial Black" panose="020B0A04020102020204" pitchFamily="34" charset="0"/>
                  </a:rPr>
                  <a:t>CREATE</a:t>
                </a:r>
              </a:p>
              <a:p>
                <a:pPr marL="228600" lvl="1" indent="-228600" algn="l" defTabSz="1200150">
                  <a:lnSpc>
                    <a:spcPct val="125000"/>
                  </a:lnSpc>
                  <a:spcBef>
                    <a:spcPct val="0"/>
                  </a:spcBef>
                  <a:spcAft>
                    <a:spcPts val="600"/>
                  </a:spcAft>
                  <a:buChar char="••"/>
                </a:pPr>
                <a:r>
                  <a:rPr lang="en-US" altLang="zh-CN" sz="3200" kern="1200" dirty="0">
                    <a:latin typeface="Arial Black" panose="020B0A04020102020204" pitchFamily="34" charset="0"/>
                  </a:rPr>
                  <a:t>ALTER</a:t>
                </a:r>
              </a:p>
              <a:p>
                <a:pPr marL="228600" lvl="1" indent="-228600" algn="l" defTabSz="1200150">
                  <a:lnSpc>
                    <a:spcPct val="125000"/>
                  </a:lnSpc>
                  <a:spcBef>
                    <a:spcPct val="0"/>
                  </a:spcBef>
                  <a:spcAft>
                    <a:spcPts val="600"/>
                  </a:spcAft>
                  <a:buChar char="••"/>
                </a:pPr>
                <a:r>
                  <a:rPr lang="en-US" altLang="zh-CN" sz="3200" dirty="0">
                    <a:latin typeface="Arial Black" panose="020B0A04020102020204" pitchFamily="34" charset="0"/>
                  </a:rPr>
                  <a:t>DROP</a:t>
                </a:r>
                <a:endParaRPr lang="zh-CN" altLang="en-US" sz="3200" kern="1200" dirty="0">
                  <a:latin typeface="Arial Black" panose="020B0A04020102020204" pitchFamily="34" charset="0"/>
                </a:endParaRPr>
              </a:p>
            </p:txBody>
          </p:sp>
        </p:grpSp>
      </p:grpSp>
      <p:grpSp>
        <p:nvGrpSpPr>
          <p:cNvPr id="76" name="组合 75"/>
          <p:cNvGrpSpPr/>
          <p:nvPr/>
        </p:nvGrpSpPr>
        <p:grpSpPr>
          <a:xfrm>
            <a:off x="3551717" y="2852936"/>
            <a:ext cx="2399812" cy="2952328"/>
            <a:chOff x="911424" y="3284984"/>
            <a:chExt cx="2399812" cy="2808312"/>
          </a:xfrm>
        </p:grpSpPr>
        <p:grpSp>
          <p:nvGrpSpPr>
            <p:cNvPr id="77" name="组合 76"/>
            <p:cNvGrpSpPr/>
            <p:nvPr/>
          </p:nvGrpSpPr>
          <p:grpSpPr>
            <a:xfrm>
              <a:off x="911424" y="3284984"/>
              <a:ext cx="2399812" cy="777600"/>
              <a:chOff x="5192" y="42274"/>
              <a:chExt cx="1990273" cy="777600"/>
            </a:xfrm>
            <a:effectLst>
              <a:outerShdw blurRad="50800" dist="38100" dir="2700000" algn="tl" rotWithShape="0">
                <a:prstClr val="black">
                  <a:alpha val="40000"/>
                </a:prstClr>
              </a:outerShdw>
            </a:effectLst>
          </p:grpSpPr>
          <p:sp>
            <p:nvSpPr>
              <p:cNvPr id="81" name="矩形 80"/>
              <p:cNvSpPr/>
              <p:nvPr/>
            </p:nvSpPr>
            <p:spPr>
              <a:xfrm>
                <a:off x="5192" y="42274"/>
                <a:ext cx="1990273" cy="777600"/>
              </a:xfrm>
              <a:prstGeom prst="rect">
                <a:avLst/>
              </a:prstGeom>
              <a:ln w="38100">
                <a:solidFill>
                  <a:schemeClr val="bg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2" name="文本框 81"/>
              <p:cNvSpPr txBox="1"/>
              <p:nvPr/>
            </p:nvSpPr>
            <p:spPr>
              <a:xfrm>
                <a:off x="5192" y="42274"/>
                <a:ext cx="1990273" cy="777600"/>
              </a:xfrm>
              <a:prstGeom prst="rect">
                <a:avLst/>
              </a:prstGeom>
              <a:solidFill>
                <a:schemeClr val="accent2"/>
              </a:solidFill>
              <a:ln w="38100">
                <a:solidFill>
                  <a:schemeClr val="bg1"/>
                </a:solidFill>
              </a:ln>
            </p:spPr>
            <p:style>
              <a:lnRef idx="0">
                <a:scrgbClr r="0" g="0" b="0"/>
              </a:lnRef>
              <a:fillRef idx="0">
                <a:scrgbClr r="0" g="0" b="0"/>
              </a:fillRef>
              <a:effectRef idx="0">
                <a:scrgbClr r="0" g="0" b="0"/>
              </a:effectRef>
              <a:fontRef idx="minor">
                <a:schemeClr val="lt1"/>
              </a:fontRef>
            </p:style>
            <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kumimoji="1" lang="zh-CN" altLang="en-US" sz="3600" i="0" kern="1200" baseline="0" dirty="0">
                    <a:latin typeface="微软雅黑" panose="020B0503020204020204" pitchFamily="34" charset="-122"/>
                    <a:ea typeface="微软雅黑" panose="020B0503020204020204" pitchFamily="34" charset="-122"/>
                  </a:rPr>
                  <a:t>数据</a:t>
                </a:r>
                <a:r>
                  <a:rPr kumimoji="1" lang="zh-CN" altLang="en-US" sz="3600" dirty="0">
                    <a:latin typeface="微软雅黑" panose="020B0503020204020204" pitchFamily="34" charset="-122"/>
                    <a:ea typeface="微软雅黑" panose="020B0503020204020204" pitchFamily="34" charset="-122"/>
                  </a:rPr>
                  <a:t>查询</a:t>
                </a:r>
                <a:endParaRPr lang="zh-CN" altLang="en-US" sz="3600" kern="1200" dirty="0">
                  <a:latin typeface="微软雅黑" panose="020B0503020204020204" pitchFamily="34" charset="-122"/>
                  <a:ea typeface="微软雅黑" panose="020B0503020204020204" pitchFamily="34" charset="-122"/>
                </a:endParaRPr>
              </a:p>
            </p:txBody>
          </p:sp>
        </p:grpSp>
        <p:grpSp>
          <p:nvGrpSpPr>
            <p:cNvPr id="78" name="组合 77"/>
            <p:cNvGrpSpPr/>
            <p:nvPr/>
          </p:nvGrpSpPr>
          <p:grpSpPr>
            <a:xfrm>
              <a:off x="911424" y="4062584"/>
              <a:ext cx="2399812" cy="2030712"/>
              <a:chOff x="5192" y="819874"/>
              <a:chExt cx="1990273" cy="2522226"/>
            </a:xfrm>
            <a:effectLst>
              <a:outerShdw blurRad="50800" dist="38100" dir="2700000" algn="tl" rotWithShape="0">
                <a:prstClr val="black">
                  <a:alpha val="40000"/>
                </a:prstClr>
              </a:outerShdw>
            </a:effectLst>
          </p:grpSpPr>
          <p:sp>
            <p:nvSpPr>
              <p:cNvPr id="79" name="矩形 78"/>
              <p:cNvSpPr/>
              <p:nvPr/>
            </p:nvSpPr>
            <p:spPr>
              <a:xfrm>
                <a:off x="5192" y="819874"/>
                <a:ext cx="1990273" cy="2522226"/>
              </a:xfrm>
              <a:prstGeom prst="rect">
                <a:avLst/>
              </a:prstGeom>
              <a:ln w="38100">
                <a:solidFill>
                  <a:schemeClr val="bg1"/>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80" name="文本框 79"/>
              <p:cNvSpPr txBox="1"/>
              <p:nvPr/>
            </p:nvSpPr>
            <p:spPr>
              <a:xfrm>
                <a:off x="5192" y="819874"/>
                <a:ext cx="1990273" cy="2522226"/>
              </a:xfrm>
              <a:prstGeom prst="rect">
                <a:avLst/>
              </a:prstGeom>
              <a:ln w="38100">
                <a:solidFill>
                  <a:schemeClr val="bg1"/>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125000"/>
                  </a:lnSpc>
                  <a:spcBef>
                    <a:spcPct val="0"/>
                  </a:spcBef>
                  <a:spcAft>
                    <a:spcPts val="600"/>
                  </a:spcAft>
                  <a:buChar char="••"/>
                </a:pPr>
                <a:r>
                  <a:rPr lang="en-US" altLang="zh-CN" sz="3200" kern="1200" dirty="0">
                    <a:latin typeface="Arial Black" panose="020B0A04020102020204" pitchFamily="34" charset="0"/>
                  </a:rPr>
                  <a:t>SELECT</a:t>
                </a:r>
                <a:endParaRPr lang="zh-CN" altLang="en-US" sz="3200" kern="1200" dirty="0">
                  <a:latin typeface="Arial Black" panose="020B0A04020102020204" pitchFamily="34" charset="0"/>
                </a:endParaRPr>
              </a:p>
            </p:txBody>
          </p:sp>
        </p:grpSp>
      </p:grpSp>
      <p:grpSp>
        <p:nvGrpSpPr>
          <p:cNvPr id="83" name="组合 82"/>
          <p:cNvGrpSpPr/>
          <p:nvPr/>
        </p:nvGrpSpPr>
        <p:grpSpPr>
          <a:xfrm>
            <a:off x="6120002" y="2852936"/>
            <a:ext cx="2399812" cy="2952328"/>
            <a:chOff x="911424" y="3284984"/>
            <a:chExt cx="2399812" cy="2808312"/>
          </a:xfrm>
        </p:grpSpPr>
        <p:grpSp>
          <p:nvGrpSpPr>
            <p:cNvPr id="84" name="组合 83"/>
            <p:cNvGrpSpPr/>
            <p:nvPr/>
          </p:nvGrpSpPr>
          <p:grpSpPr>
            <a:xfrm>
              <a:off x="911424" y="3284984"/>
              <a:ext cx="2399812" cy="777600"/>
              <a:chOff x="5192" y="42274"/>
              <a:chExt cx="1990273" cy="777600"/>
            </a:xfrm>
            <a:effectLst>
              <a:outerShdw blurRad="50800" dist="38100" dir="2700000" algn="tl" rotWithShape="0">
                <a:prstClr val="black">
                  <a:alpha val="40000"/>
                </a:prstClr>
              </a:outerShdw>
            </a:effectLst>
          </p:grpSpPr>
          <p:sp>
            <p:nvSpPr>
              <p:cNvPr id="88" name="矩形 87"/>
              <p:cNvSpPr/>
              <p:nvPr/>
            </p:nvSpPr>
            <p:spPr>
              <a:xfrm>
                <a:off x="5192" y="42274"/>
                <a:ext cx="1990273" cy="777600"/>
              </a:xfrm>
              <a:prstGeom prst="rect">
                <a:avLst/>
              </a:prstGeom>
              <a:ln w="38100">
                <a:solidFill>
                  <a:schemeClr val="bg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9" name="文本框 88"/>
              <p:cNvSpPr txBox="1"/>
              <p:nvPr/>
            </p:nvSpPr>
            <p:spPr>
              <a:xfrm>
                <a:off x="5192" y="42274"/>
                <a:ext cx="1990273" cy="777600"/>
              </a:xfrm>
              <a:prstGeom prst="rect">
                <a:avLst/>
              </a:prstGeom>
              <a:solidFill>
                <a:schemeClr val="accent3">
                  <a:lumMod val="75000"/>
                </a:schemeClr>
              </a:solidFill>
              <a:ln w="38100">
                <a:solidFill>
                  <a:schemeClr val="bg1"/>
                </a:solidFill>
              </a:ln>
            </p:spPr>
            <p:style>
              <a:lnRef idx="0">
                <a:scrgbClr r="0" g="0" b="0"/>
              </a:lnRef>
              <a:fillRef idx="0">
                <a:scrgbClr r="0" g="0" b="0"/>
              </a:fillRef>
              <a:effectRef idx="0">
                <a:scrgbClr r="0" g="0" b="0"/>
              </a:effectRef>
              <a:fontRef idx="minor">
                <a:schemeClr val="lt1"/>
              </a:fontRef>
            </p:style>
            <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kumimoji="1" lang="zh-CN" altLang="en-US" sz="3600" i="0" kern="1200" baseline="0" dirty="0">
                    <a:latin typeface="微软雅黑" panose="020B0503020204020204" pitchFamily="34" charset="-122"/>
                    <a:ea typeface="微软雅黑" panose="020B0503020204020204" pitchFamily="34" charset="-122"/>
                  </a:rPr>
                  <a:t>数据操纵</a:t>
                </a:r>
                <a:endParaRPr lang="zh-CN" altLang="en-US" sz="3600" kern="1200" dirty="0">
                  <a:latin typeface="微软雅黑" panose="020B0503020204020204" pitchFamily="34" charset="-122"/>
                  <a:ea typeface="微软雅黑" panose="020B0503020204020204" pitchFamily="34" charset="-122"/>
                </a:endParaRPr>
              </a:p>
            </p:txBody>
          </p:sp>
        </p:grpSp>
        <p:grpSp>
          <p:nvGrpSpPr>
            <p:cNvPr id="85" name="组合 84"/>
            <p:cNvGrpSpPr/>
            <p:nvPr/>
          </p:nvGrpSpPr>
          <p:grpSpPr>
            <a:xfrm>
              <a:off x="911424" y="4062584"/>
              <a:ext cx="2399812" cy="2030712"/>
              <a:chOff x="5192" y="819874"/>
              <a:chExt cx="1990273" cy="2522226"/>
            </a:xfrm>
            <a:effectLst>
              <a:outerShdw blurRad="50800" dist="38100" dir="2700000" algn="tl" rotWithShape="0">
                <a:prstClr val="black">
                  <a:alpha val="40000"/>
                </a:prstClr>
              </a:outerShdw>
            </a:effectLst>
          </p:grpSpPr>
          <p:sp>
            <p:nvSpPr>
              <p:cNvPr id="86" name="矩形 85"/>
              <p:cNvSpPr/>
              <p:nvPr/>
            </p:nvSpPr>
            <p:spPr>
              <a:xfrm>
                <a:off x="5192" y="819874"/>
                <a:ext cx="1990273" cy="2522226"/>
              </a:xfrm>
              <a:prstGeom prst="rect">
                <a:avLst/>
              </a:prstGeom>
              <a:ln w="38100">
                <a:solidFill>
                  <a:schemeClr val="bg1"/>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87" name="文本框 86"/>
              <p:cNvSpPr txBox="1"/>
              <p:nvPr/>
            </p:nvSpPr>
            <p:spPr>
              <a:xfrm>
                <a:off x="5192" y="819874"/>
                <a:ext cx="1990273" cy="2522226"/>
              </a:xfrm>
              <a:prstGeom prst="rect">
                <a:avLst/>
              </a:prstGeom>
              <a:ln w="38100">
                <a:solidFill>
                  <a:schemeClr val="bg1"/>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125000"/>
                  </a:lnSpc>
                  <a:spcBef>
                    <a:spcPct val="0"/>
                  </a:spcBef>
                  <a:spcAft>
                    <a:spcPts val="600"/>
                  </a:spcAft>
                  <a:buChar char="••"/>
                </a:pPr>
                <a:r>
                  <a:rPr lang="en-US" altLang="zh-CN" sz="3200" kern="1200" dirty="0">
                    <a:latin typeface="Arial Black" panose="020B0A04020102020204" pitchFamily="34" charset="0"/>
                  </a:rPr>
                  <a:t>INSERT</a:t>
                </a:r>
              </a:p>
              <a:p>
                <a:pPr marL="228600" lvl="1" indent="-228600" algn="l" defTabSz="1200150">
                  <a:lnSpc>
                    <a:spcPct val="125000"/>
                  </a:lnSpc>
                  <a:spcBef>
                    <a:spcPct val="0"/>
                  </a:spcBef>
                  <a:spcAft>
                    <a:spcPts val="600"/>
                  </a:spcAft>
                  <a:buChar char="••"/>
                </a:pPr>
                <a:r>
                  <a:rPr lang="en-US" altLang="zh-CN" sz="3200" dirty="0">
                    <a:latin typeface="Arial Black" panose="020B0A04020102020204" pitchFamily="34" charset="0"/>
                  </a:rPr>
                  <a:t>UPDATE</a:t>
                </a:r>
              </a:p>
              <a:p>
                <a:pPr marL="228600" lvl="1" indent="-228600" algn="l" defTabSz="1200150">
                  <a:lnSpc>
                    <a:spcPct val="125000"/>
                  </a:lnSpc>
                  <a:spcBef>
                    <a:spcPct val="0"/>
                  </a:spcBef>
                  <a:spcAft>
                    <a:spcPts val="600"/>
                  </a:spcAft>
                  <a:buChar char="••"/>
                </a:pPr>
                <a:r>
                  <a:rPr lang="en-US" altLang="zh-CN" sz="3200" kern="1200" dirty="0">
                    <a:latin typeface="Arial Black" panose="020B0A04020102020204" pitchFamily="34" charset="0"/>
                  </a:rPr>
                  <a:t>DELETE</a:t>
                </a:r>
                <a:endParaRPr lang="zh-CN" altLang="en-US" sz="3200" kern="1200" dirty="0">
                  <a:latin typeface="Arial Black" panose="020B0A04020102020204" pitchFamily="34" charset="0"/>
                </a:endParaRPr>
              </a:p>
            </p:txBody>
          </p:sp>
        </p:grpSp>
      </p:grpSp>
      <p:grpSp>
        <p:nvGrpSpPr>
          <p:cNvPr id="90" name="组合 89"/>
          <p:cNvGrpSpPr/>
          <p:nvPr/>
        </p:nvGrpSpPr>
        <p:grpSpPr>
          <a:xfrm>
            <a:off x="8688288" y="2852936"/>
            <a:ext cx="2664296" cy="2952328"/>
            <a:chOff x="911424" y="3284984"/>
            <a:chExt cx="2399812" cy="2808312"/>
          </a:xfrm>
        </p:grpSpPr>
        <p:grpSp>
          <p:nvGrpSpPr>
            <p:cNvPr id="91" name="组合 90"/>
            <p:cNvGrpSpPr/>
            <p:nvPr/>
          </p:nvGrpSpPr>
          <p:grpSpPr>
            <a:xfrm>
              <a:off x="911424" y="3284984"/>
              <a:ext cx="2399812" cy="777600"/>
              <a:chOff x="5192" y="42274"/>
              <a:chExt cx="1990273" cy="777600"/>
            </a:xfrm>
            <a:effectLst>
              <a:outerShdw blurRad="50800" dist="38100" dir="2700000" algn="tl" rotWithShape="0">
                <a:prstClr val="black">
                  <a:alpha val="40000"/>
                </a:prstClr>
              </a:outerShdw>
            </a:effectLst>
          </p:grpSpPr>
          <p:sp>
            <p:nvSpPr>
              <p:cNvPr id="95" name="矩形 94"/>
              <p:cNvSpPr/>
              <p:nvPr/>
            </p:nvSpPr>
            <p:spPr>
              <a:xfrm>
                <a:off x="5192" y="42274"/>
                <a:ext cx="1990273" cy="777600"/>
              </a:xfrm>
              <a:prstGeom prst="rect">
                <a:avLst/>
              </a:prstGeom>
              <a:ln w="38100">
                <a:solidFill>
                  <a:schemeClr val="bg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96" name="文本框 95"/>
              <p:cNvSpPr txBox="1"/>
              <p:nvPr/>
            </p:nvSpPr>
            <p:spPr>
              <a:xfrm>
                <a:off x="5192" y="42274"/>
                <a:ext cx="1990273" cy="777600"/>
              </a:xfrm>
              <a:prstGeom prst="rect">
                <a:avLst/>
              </a:prstGeom>
              <a:solidFill>
                <a:schemeClr val="accent5">
                  <a:lumMod val="75000"/>
                </a:schemeClr>
              </a:solidFill>
              <a:ln w="38100">
                <a:solidFill>
                  <a:schemeClr val="bg1"/>
                </a:solidFill>
              </a:ln>
            </p:spPr>
            <p:style>
              <a:lnRef idx="0">
                <a:scrgbClr r="0" g="0" b="0"/>
              </a:lnRef>
              <a:fillRef idx="0">
                <a:scrgbClr r="0" g="0" b="0"/>
              </a:fillRef>
              <a:effectRef idx="0">
                <a:scrgbClr r="0" g="0" b="0"/>
              </a:effectRef>
              <a:fontRef idx="minor">
                <a:schemeClr val="lt1"/>
              </a:fontRef>
            </p:style>
            <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kumimoji="1" lang="zh-CN" altLang="en-US" sz="3600" i="0" kern="1200" baseline="0" dirty="0">
                    <a:latin typeface="微软雅黑" panose="020B0503020204020204" pitchFamily="34" charset="-122"/>
                    <a:ea typeface="微软雅黑" panose="020B0503020204020204" pitchFamily="34" charset="-122"/>
                  </a:rPr>
                  <a:t>数据控制 </a:t>
                </a:r>
                <a:endParaRPr lang="zh-CN" altLang="en-US" sz="3600" kern="1200" dirty="0">
                  <a:latin typeface="微软雅黑" panose="020B0503020204020204" pitchFamily="34" charset="-122"/>
                  <a:ea typeface="微软雅黑" panose="020B0503020204020204" pitchFamily="34" charset="-122"/>
                </a:endParaRPr>
              </a:p>
            </p:txBody>
          </p:sp>
        </p:grpSp>
        <p:grpSp>
          <p:nvGrpSpPr>
            <p:cNvPr id="92" name="组合 91"/>
            <p:cNvGrpSpPr/>
            <p:nvPr/>
          </p:nvGrpSpPr>
          <p:grpSpPr>
            <a:xfrm>
              <a:off x="911424" y="4062584"/>
              <a:ext cx="2399812" cy="2030712"/>
              <a:chOff x="5192" y="819874"/>
              <a:chExt cx="1990273" cy="2522226"/>
            </a:xfrm>
            <a:effectLst>
              <a:outerShdw blurRad="50800" dist="38100" dir="2700000" algn="tl" rotWithShape="0">
                <a:prstClr val="black">
                  <a:alpha val="40000"/>
                </a:prstClr>
              </a:outerShdw>
            </a:effectLst>
          </p:grpSpPr>
          <p:sp>
            <p:nvSpPr>
              <p:cNvPr id="93" name="矩形 92"/>
              <p:cNvSpPr/>
              <p:nvPr/>
            </p:nvSpPr>
            <p:spPr>
              <a:xfrm>
                <a:off x="5192" y="819874"/>
                <a:ext cx="1990273" cy="2522226"/>
              </a:xfrm>
              <a:prstGeom prst="rect">
                <a:avLst/>
              </a:prstGeom>
              <a:ln w="38100">
                <a:solidFill>
                  <a:schemeClr val="bg1"/>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94" name="文本框 93"/>
              <p:cNvSpPr txBox="1"/>
              <p:nvPr/>
            </p:nvSpPr>
            <p:spPr>
              <a:xfrm>
                <a:off x="5192" y="819874"/>
                <a:ext cx="1990273" cy="2522226"/>
              </a:xfrm>
              <a:prstGeom prst="rect">
                <a:avLst/>
              </a:prstGeom>
              <a:ln w="38100">
                <a:solidFill>
                  <a:schemeClr val="bg1"/>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228600" lvl="1" indent="-228600" algn="l" defTabSz="1200150">
                  <a:lnSpc>
                    <a:spcPct val="125000"/>
                  </a:lnSpc>
                  <a:spcBef>
                    <a:spcPct val="0"/>
                  </a:spcBef>
                  <a:spcAft>
                    <a:spcPts val="600"/>
                  </a:spcAft>
                  <a:buChar char="••"/>
                </a:pPr>
                <a:r>
                  <a:rPr lang="en-US" altLang="zh-CN" sz="3200" kern="1200" dirty="0">
                    <a:latin typeface="Arial Black" panose="020B0A04020102020204" pitchFamily="34" charset="0"/>
                  </a:rPr>
                  <a:t>GRANT</a:t>
                </a:r>
              </a:p>
              <a:p>
                <a:pPr marL="228600" lvl="1" indent="-228600" algn="l" defTabSz="1200150">
                  <a:lnSpc>
                    <a:spcPct val="125000"/>
                  </a:lnSpc>
                  <a:spcBef>
                    <a:spcPct val="0"/>
                  </a:spcBef>
                  <a:spcAft>
                    <a:spcPts val="600"/>
                  </a:spcAft>
                  <a:buChar char="••"/>
                </a:pPr>
                <a:r>
                  <a:rPr lang="en-US" altLang="zh-CN" sz="3200" dirty="0">
                    <a:latin typeface="Arial Black" panose="020B0A04020102020204" pitchFamily="34" charset="0"/>
                  </a:rPr>
                  <a:t>REVOKE</a:t>
                </a:r>
                <a:endParaRPr lang="zh-CN" altLang="en-US" sz="3200" kern="1200" dirty="0">
                  <a:latin typeface="Arial Black" panose="020B0A04020102020204" pitchFamily="34" charset="0"/>
                </a:endParaRPr>
              </a:p>
            </p:txBody>
          </p:sp>
        </p:grpSp>
      </p:grpSp>
      <p:sp>
        <p:nvSpPr>
          <p:cNvPr id="97" name="Rectangle 3"/>
          <p:cNvSpPr txBox="1">
            <a:spLocks noChangeArrowheads="1"/>
          </p:cNvSpPr>
          <p:nvPr/>
        </p:nvSpPr>
        <p:spPr bwMode="auto">
          <a:xfrm>
            <a:off x="442917" y="5989839"/>
            <a:ext cx="11017224" cy="126580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ct val="50000"/>
              </a:spcAft>
              <a:defRPr/>
            </a:pPr>
            <a:r>
              <a:rPr lang="en-US" altLang="zh-CN" sz="4000" dirty="0">
                <a:latin typeface="Times New Roman" pitchFamily="18" charset="0"/>
                <a:cs typeface="Times New Roman" pitchFamily="18" charset="0"/>
              </a:rPr>
              <a:t>SQL</a:t>
            </a:r>
            <a:r>
              <a:rPr lang="zh-CN" altLang="en-US" sz="4000" dirty="0">
                <a:latin typeface="Times New Roman" pitchFamily="18" charset="0"/>
                <a:cs typeface="Times New Roman" pitchFamily="18" charset="0"/>
              </a:rPr>
              <a:t>既是</a:t>
            </a:r>
            <a:r>
              <a:rPr lang="zh-CN" altLang="en-US" sz="4000" b="1" dirty="0">
                <a:solidFill>
                  <a:srgbClr val="FF9900"/>
                </a:solidFill>
                <a:latin typeface="Times New Roman" pitchFamily="18" charset="0"/>
                <a:cs typeface="Times New Roman" pitchFamily="18" charset="0"/>
              </a:rPr>
              <a:t>自主式</a:t>
            </a:r>
            <a:r>
              <a:rPr lang="zh-CN" altLang="en-US" sz="4000" dirty="0">
                <a:latin typeface="Times New Roman" pitchFamily="18" charset="0"/>
                <a:cs typeface="Times New Roman" pitchFamily="18" charset="0"/>
              </a:rPr>
              <a:t>语言，又是</a:t>
            </a:r>
            <a:r>
              <a:rPr lang="zh-CN" altLang="en-US" sz="4000" b="1" dirty="0">
                <a:solidFill>
                  <a:srgbClr val="FF9900"/>
                </a:solidFill>
                <a:latin typeface="Times New Roman" pitchFamily="18" charset="0"/>
                <a:cs typeface="Times New Roman" pitchFamily="18" charset="0"/>
              </a:rPr>
              <a:t>嵌入式</a:t>
            </a:r>
            <a:r>
              <a:rPr lang="zh-CN" altLang="en-US" sz="4000" dirty="0">
                <a:latin typeface="Times New Roman" pitchFamily="18" charset="0"/>
                <a:cs typeface="Times New Roman" pitchFamily="18" charset="0"/>
              </a:rPr>
              <a:t>语言。</a:t>
            </a:r>
          </a:p>
        </p:txBody>
      </p:sp>
    </p:spTree>
    <p:extLst>
      <p:ext uri="{BB962C8B-B14F-4D97-AF65-F5344CB8AC3E}">
        <p14:creationId xmlns:p14="http://schemas.microsoft.com/office/powerpoint/2010/main" val="110936092"/>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0AD0BE4-6015-4A8D-8BDF-62E87B45E1A7}"/>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集哪</a:t>
            </a:r>
            <a:r>
              <a:rPr lang="en-US" altLang="zh-CN" sz="2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4</a:t>
            </a:r>
            <a:r>
              <a:rPr lang="zh-CN" altLang="en-US" sz="2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种功能于一身？</a:t>
            </a:r>
          </a:p>
          <a:p>
            <a:r>
              <a:rPr lang="zh-CN" altLang="en-US" sz="2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标准</a:t>
            </a:r>
            <a:r>
              <a:rPr lang="en-US" altLang="zh-CN" sz="2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归结起来只有哪</a:t>
            </a:r>
            <a:r>
              <a:rPr lang="en-US" altLang="zh-CN" sz="2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9</a:t>
            </a:r>
            <a:r>
              <a:rPr lang="zh-CN" altLang="en-US" sz="2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条命令（每条命令用一个英文动词表示）？</a:t>
            </a:r>
          </a:p>
        </p:txBody>
      </p:sp>
      <p:sp>
        <p:nvSpPr>
          <p:cNvPr id="7" name="矩形: 圆角 6">
            <a:extLst>
              <a:ext uri="{FF2B5EF4-FFF2-40B4-BE49-F238E27FC236}">
                <a16:creationId xmlns:a16="http://schemas.microsoft.com/office/drawing/2014/main" id="{D36D7FB4-17A9-4270-87A1-A32C3C973B7A}"/>
              </a:ext>
            </a:extLst>
          </p:cNvPr>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9D3EADC3-0704-4C73-990C-0A461BB9FBB6}"/>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39C1C493-118F-4DA4-B1DF-99D65952F2DD}"/>
                </a:ext>
              </a:extLst>
            </p:cNvPr>
            <p:cNvSpPr/>
            <p:nvPr>
              <p:custDataLst>
                <p:tags r:id="rId6"/>
              </p:custDataLst>
            </p:nvPr>
          </p:nvSpPr>
          <p:spPr>
            <a:xfrm>
              <a:off x="0" y="0"/>
              <a:ext cx="12192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DC50B7EB-3C4D-4978-9C64-C096072FD28D}"/>
                </a:ext>
              </a:extLst>
            </p:cNvPr>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BA5DF8C1-0B78-41D4-A461-04F6C516EFB3}"/>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1FFF1A44-29D9-45E7-AD1D-F7BD0329C9E8}"/>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6A722A14-350F-4C98-A067-F700A7C8545D}"/>
              </a:ext>
            </a:extLst>
          </p:cNvPr>
          <p:cNvPicPr>
            <a:picLocks/>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166717984"/>
      </p:ext>
    </p:extLst>
  </p:cSld>
  <p:clrMapOvr>
    <a:masterClrMapping/>
  </p:clrMapOvr>
  <mc:AlternateContent xmlns:mc="http://schemas.openxmlformats.org/markup-compatibility/2006" xmlns:p14="http://schemas.microsoft.com/office/powerpoint/2010/main">
    <mc:Choice Requires="p14">
      <p:transition p14:dur="0">
        <p:sndAc>
          <p:stSnd>
            <p:snd r:embed="rId11" name="arrow.wav"/>
          </p:stSnd>
        </p:sndAc>
      </p:transition>
    </mc:Choice>
    <mc:Fallback xmlns="">
      <p:transition>
        <p:sndAc>
          <p:stSnd>
            <p:snd r:embed="rId13" name="arrow.wav"/>
          </p:stSnd>
        </p:sndAc>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30" name="Rectangle 2">
            <a:extLst>
              <a:ext uri="{FF2B5EF4-FFF2-40B4-BE49-F238E27FC236}">
                <a16:creationId xmlns:a16="http://schemas.microsoft.com/office/drawing/2014/main" id="{92D05983-80FA-4C04-93CD-A87F87D92383}"/>
              </a:ext>
            </a:extLst>
          </p:cNvPr>
          <p:cNvSpPr>
            <a:spLocks noGrp="1" noChangeArrowheads="1"/>
          </p:cNvSpPr>
          <p:nvPr>
            <p:ph type="title" idx="4294967295"/>
          </p:nvPr>
        </p:nvSpPr>
        <p:spPr>
          <a:xfrm>
            <a:off x="2374018" y="89440"/>
            <a:ext cx="3013967" cy="707886"/>
          </a:xfrm>
        </p:spPr>
        <p:txBody>
          <a:bodyPr/>
          <a:lstStyle/>
          <a:p>
            <a:r>
              <a:rPr lang="en-US" altLang="zh-CN"/>
              <a:t>4.2</a:t>
            </a:r>
            <a:r>
              <a:rPr lang="zh-CN" altLang="en-US"/>
              <a:t>数据定义</a:t>
            </a:r>
          </a:p>
        </p:txBody>
      </p:sp>
      <p:sp>
        <p:nvSpPr>
          <p:cNvPr id="662531" name="Rectangle 3">
            <a:extLst>
              <a:ext uri="{FF2B5EF4-FFF2-40B4-BE49-F238E27FC236}">
                <a16:creationId xmlns:a16="http://schemas.microsoft.com/office/drawing/2014/main" id="{32CA03AC-082A-40F5-8317-7BD3A71D0D48}"/>
              </a:ext>
            </a:extLst>
          </p:cNvPr>
          <p:cNvSpPr>
            <a:spLocks noGrp="1" noChangeArrowheads="1"/>
          </p:cNvSpPr>
          <p:nvPr>
            <p:ph type="body" idx="4294967295"/>
          </p:nvPr>
        </p:nvSpPr>
        <p:spPr/>
        <p:txBody>
          <a:bodyPr/>
          <a:lstStyle/>
          <a:p>
            <a:r>
              <a:rPr lang="en-US" altLang="zh-CN" dirty="0"/>
              <a:t>SQL</a:t>
            </a:r>
            <a:r>
              <a:rPr lang="zh-CN" altLang="en-US" dirty="0"/>
              <a:t>的数据定义功能包括</a:t>
            </a:r>
            <a:r>
              <a:rPr lang="zh-CN" altLang="en-US" dirty="0">
                <a:solidFill>
                  <a:srgbClr val="FFFF00"/>
                </a:solidFill>
              </a:rPr>
              <a:t>数据库（</a:t>
            </a:r>
            <a:r>
              <a:rPr lang="en-US" altLang="zh-CN" dirty="0">
                <a:solidFill>
                  <a:srgbClr val="FFFF00"/>
                </a:solidFill>
              </a:rPr>
              <a:t>DATABASE</a:t>
            </a:r>
            <a:r>
              <a:rPr lang="zh-CN" altLang="en-US" dirty="0">
                <a:solidFill>
                  <a:srgbClr val="FFFF00"/>
                </a:solidFill>
              </a:rPr>
              <a:t>）的定义、基本表（</a:t>
            </a:r>
            <a:r>
              <a:rPr lang="en-US" altLang="zh-CN" dirty="0">
                <a:solidFill>
                  <a:srgbClr val="FFFF00"/>
                </a:solidFill>
              </a:rPr>
              <a:t>TABLE</a:t>
            </a:r>
            <a:r>
              <a:rPr lang="zh-CN" altLang="en-US" dirty="0">
                <a:solidFill>
                  <a:srgbClr val="FFFF00"/>
                </a:solidFill>
              </a:rPr>
              <a:t>）的定义、 索引（</a:t>
            </a:r>
            <a:r>
              <a:rPr lang="en-US" altLang="zh-CN" dirty="0">
                <a:solidFill>
                  <a:srgbClr val="FFFF00"/>
                </a:solidFill>
              </a:rPr>
              <a:t>INDEX</a:t>
            </a:r>
            <a:r>
              <a:rPr lang="zh-CN" altLang="en-US" dirty="0">
                <a:solidFill>
                  <a:srgbClr val="FFFF00"/>
                </a:solidFill>
              </a:rPr>
              <a:t>） 的定义、 视图 （ </a:t>
            </a:r>
            <a:r>
              <a:rPr lang="en-US" altLang="zh-CN" dirty="0">
                <a:solidFill>
                  <a:srgbClr val="FFFF00"/>
                </a:solidFill>
              </a:rPr>
              <a:t>VIEW</a:t>
            </a:r>
            <a:r>
              <a:rPr lang="zh-CN" altLang="en-US" dirty="0">
                <a:solidFill>
                  <a:srgbClr val="FFFF00"/>
                </a:solidFill>
              </a:rPr>
              <a:t>）的定义</a:t>
            </a:r>
            <a:r>
              <a:rPr lang="zh-CN" altLang="en-US" dirty="0"/>
              <a:t>等若干部分。</a:t>
            </a:r>
          </a:p>
          <a:p>
            <a:r>
              <a:rPr lang="zh-CN" altLang="en-US" dirty="0"/>
              <a:t>在本节中，将创建一个含有教师表</a:t>
            </a:r>
            <a:r>
              <a:rPr lang="en-US" altLang="zh-CN" dirty="0"/>
              <a:t>T</a:t>
            </a:r>
            <a:r>
              <a:rPr lang="zh-CN" altLang="en-US" dirty="0"/>
              <a:t>（</a:t>
            </a:r>
            <a:r>
              <a:rPr lang="en-US" altLang="zh-CN" dirty="0"/>
              <a:t>teacher</a:t>
            </a:r>
            <a:r>
              <a:rPr lang="zh-CN" altLang="en-US" dirty="0"/>
              <a:t>）、学生表</a:t>
            </a:r>
            <a:r>
              <a:rPr lang="en-US" altLang="zh-CN" dirty="0"/>
              <a:t>S</a:t>
            </a:r>
            <a:r>
              <a:rPr lang="zh-CN" altLang="en-US" dirty="0"/>
              <a:t>（</a:t>
            </a:r>
            <a:r>
              <a:rPr lang="en-US" altLang="zh-CN" dirty="0"/>
              <a:t>student</a:t>
            </a:r>
            <a:r>
              <a:rPr lang="zh-CN" altLang="en-US" dirty="0"/>
              <a:t>）、课程表</a:t>
            </a:r>
            <a:r>
              <a:rPr lang="en-US" altLang="zh-CN" dirty="0"/>
              <a:t>C</a:t>
            </a:r>
            <a:r>
              <a:rPr lang="zh-CN" altLang="en-US" dirty="0"/>
              <a:t>（</a:t>
            </a:r>
            <a:r>
              <a:rPr lang="en-US" altLang="zh-CN" dirty="0"/>
              <a:t>course</a:t>
            </a:r>
            <a:r>
              <a:rPr lang="zh-CN" altLang="en-US" dirty="0"/>
              <a:t>），授课表（</a:t>
            </a:r>
            <a:r>
              <a:rPr lang="en-US" altLang="zh-CN" dirty="0" err="1"/>
              <a:t>tc</a:t>
            </a:r>
            <a:r>
              <a:rPr lang="zh-CN" altLang="en-US" dirty="0"/>
              <a:t>）和选课表（</a:t>
            </a:r>
            <a:r>
              <a:rPr lang="en-US" altLang="zh-CN" dirty="0" err="1"/>
              <a:t>sc</a:t>
            </a:r>
            <a:r>
              <a:rPr lang="zh-CN" altLang="en-US" dirty="0"/>
              <a:t>）的高校教学数据库</a:t>
            </a:r>
            <a:r>
              <a:rPr lang="en-US" altLang="zh-CN" dirty="0"/>
              <a:t>college</a:t>
            </a:r>
            <a:r>
              <a:rPr lang="zh-CN" altLang="en-US" dirty="0"/>
              <a:t>。</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555" name="Rectangle 3">
            <a:extLst>
              <a:ext uri="{FF2B5EF4-FFF2-40B4-BE49-F238E27FC236}">
                <a16:creationId xmlns:a16="http://schemas.microsoft.com/office/drawing/2014/main" id="{97FBAEED-5885-47EA-896B-559ACB526B98}"/>
              </a:ext>
            </a:extLst>
          </p:cNvPr>
          <p:cNvSpPr>
            <a:spLocks noGrp="1" noChangeArrowheads="1"/>
          </p:cNvSpPr>
          <p:nvPr>
            <p:ph type="body" sz="half" idx="4294967295"/>
          </p:nvPr>
        </p:nvSpPr>
        <p:spPr>
          <a:xfrm>
            <a:off x="2207568" y="1322718"/>
            <a:ext cx="3810000" cy="4114800"/>
          </a:xfrm>
        </p:spPr>
        <p:txBody>
          <a:bodyPr/>
          <a:lstStyle/>
          <a:p>
            <a:r>
              <a:rPr lang="zh-CN" altLang="en-US"/>
              <a:t>表的结构如下：</a:t>
            </a:r>
          </a:p>
        </p:txBody>
      </p:sp>
      <p:sp>
        <p:nvSpPr>
          <p:cNvPr id="663556" name="Rectangle 4">
            <a:extLst>
              <a:ext uri="{FF2B5EF4-FFF2-40B4-BE49-F238E27FC236}">
                <a16:creationId xmlns:a16="http://schemas.microsoft.com/office/drawing/2014/main" id="{0A0C485C-F097-41CF-B68D-36815FF5E12B}"/>
              </a:ext>
            </a:extLst>
          </p:cNvPr>
          <p:cNvSpPr>
            <a:spLocks noChangeArrowheads="1"/>
          </p:cNvSpPr>
          <p:nvPr/>
        </p:nvSpPr>
        <p:spPr bwMode="auto">
          <a:xfrm>
            <a:off x="4367213" y="6165851"/>
            <a:ext cx="2533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chemeClr val="bg1"/>
                </a:solidFill>
              </a:rPr>
              <a:t>4.1</a:t>
            </a:r>
            <a:r>
              <a:rPr lang="zh-CN" altLang="en-US" dirty="0">
                <a:solidFill>
                  <a:schemeClr val="bg1"/>
                </a:solidFill>
              </a:rPr>
              <a:t>教师表</a:t>
            </a:r>
            <a:r>
              <a:rPr lang="en-US" altLang="zh-CN" dirty="0">
                <a:solidFill>
                  <a:schemeClr val="bg1"/>
                </a:solidFill>
              </a:rPr>
              <a:t>T</a:t>
            </a:r>
            <a:r>
              <a:rPr lang="zh-CN" altLang="en-US" dirty="0">
                <a:solidFill>
                  <a:schemeClr val="bg1"/>
                </a:solidFill>
              </a:rPr>
              <a:t>（</a:t>
            </a:r>
            <a:r>
              <a:rPr lang="en-US" altLang="zh-CN" dirty="0">
                <a:solidFill>
                  <a:schemeClr val="bg1"/>
                </a:solidFill>
              </a:rPr>
              <a:t>teacher</a:t>
            </a:r>
            <a:r>
              <a:rPr lang="zh-CN" altLang="en-US" dirty="0">
                <a:solidFill>
                  <a:schemeClr val="bg1"/>
                </a:solidFill>
              </a:rPr>
              <a:t>）</a:t>
            </a:r>
          </a:p>
        </p:txBody>
      </p:sp>
      <p:graphicFrame>
        <p:nvGraphicFramePr>
          <p:cNvPr id="663793" name="Group 241">
            <a:extLst>
              <a:ext uri="{FF2B5EF4-FFF2-40B4-BE49-F238E27FC236}">
                <a16:creationId xmlns:a16="http://schemas.microsoft.com/office/drawing/2014/main" id="{02D03B93-F56D-421B-8B70-3353FF047723}"/>
              </a:ext>
            </a:extLst>
          </p:cNvPr>
          <p:cNvGraphicFramePr>
            <a:graphicFrameLocks noGrp="1"/>
          </p:cNvGraphicFramePr>
          <p:nvPr>
            <p:ph sz="half" idx="4294967295"/>
            <p:extLst>
              <p:ext uri="{D42A27DB-BD31-4B8C-83A1-F6EECF244321}">
                <p14:modId xmlns:p14="http://schemas.microsoft.com/office/powerpoint/2010/main" val="898050435"/>
              </p:ext>
            </p:extLst>
          </p:nvPr>
        </p:nvGraphicFramePr>
        <p:xfrm>
          <a:off x="1774825" y="2708275"/>
          <a:ext cx="8642350" cy="3091180"/>
        </p:xfrm>
        <a:graphic>
          <a:graphicData uri="http://schemas.openxmlformats.org/drawingml/2006/table">
            <a:tbl>
              <a:tblPr/>
              <a:tblGrid>
                <a:gridCol w="1033463">
                  <a:extLst>
                    <a:ext uri="{9D8B030D-6E8A-4147-A177-3AD203B41FA5}">
                      <a16:colId xmlns:a16="http://schemas.microsoft.com/office/drawing/2014/main" val="3510141803"/>
                    </a:ext>
                  </a:extLst>
                </a:gridCol>
                <a:gridCol w="885825">
                  <a:extLst>
                    <a:ext uri="{9D8B030D-6E8A-4147-A177-3AD203B41FA5}">
                      <a16:colId xmlns:a16="http://schemas.microsoft.com/office/drawing/2014/main" val="1347572582"/>
                    </a:ext>
                  </a:extLst>
                </a:gridCol>
                <a:gridCol w="960437">
                  <a:extLst>
                    <a:ext uri="{9D8B030D-6E8A-4147-A177-3AD203B41FA5}">
                      <a16:colId xmlns:a16="http://schemas.microsoft.com/office/drawing/2014/main" val="2094585268"/>
                    </a:ext>
                  </a:extLst>
                </a:gridCol>
                <a:gridCol w="960438">
                  <a:extLst>
                    <a:ext uri="{9D8B030D-6E8A-4147-A177-3AD203B41FA5}">
                      <a16:colId xmlns:a16="http://schemas.microsoft.com/office/drawing/2014/main" val="3312262841"/>
                    </a:ext>
                  </a:extLst>
                </a:gridCol>
                <a:gridCol w="960437">
                  <a:extLst>
                    <a:ext uri="{9D8B030D-6E8A-4147-A177-3AD203B41FA5}">
                      <a16:colId xmlns:a16="http://schemas.microsoft.com/office/drawing/2014/main" val="3405440890"/>
                    </a:ext>
                  </a:extLst>
                </a:gridCol>
                <a:gridCol w="958850">
                  <a:extLst>
                    <a:ext uri="{9D8B030D-6E8A-4147-A177-3AD203B41FA5}">
                      <a16:colId xmlns:a16="http://schemas.microsoft.com/office/drawing/2014/main" val="2420079336"/>
                    </a:ext>
                  </a:extLst>
                </a:gridCol>
                <a:gridCol w="960438">
                  <a:extLst>
                    <a:ext uri="{9D8B030D-6E8A-4147-A177-3AD203B41FA5}">
                      <a16:colId xmlns:a16="http://schemas.microsoft.com/office/drawing/2014/main" val="2235535739"/>
                    </a:ext>
                  </a:extLst>
                </a:gridCol>
                <a:gridCol w="1023937">
                  <a:extLst>
                    <a:ext uri="{9D8B030D-6E8A-4147-A177-3AD203B41FA5}">
                      <a16:colId xmlns:a16="http://schemas.microsoft.com/office/drawing/2014/main" val="4120981080"/>
                    </a:ext>
                  </a:extLst>
                </a:gridCol>
                <a:gridCol w="898525">
                  <a:extLst>
                    <a:ext uri="{9D8B030D-6E8A-4147-A177-3AD203B41FA5}">
                      <a16:colId xmlns:a16="http://schemas.microsoft.com/office/drawing/2014/main" val="1139743077"/>
                    </a:ext>
                  </a:extLst>
                </a:gridCol>
              </a:tblGrid>
              <a:tr h="804863">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tno</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教师号</a:t>
                      </a:r>
                      <a:endParaRPr kumimoji="1" lang="zh-CN" altLang="en-US"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tn</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姓名</a:t>
                      </a:r>
                      <a:endParaRPr kumimoji="1" lang="zh-CN" altLang="en-US"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sex</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性别</a:t>
                      </a:r>
                      <a:endParaRPr kumimoji="1" lang="zh-CN" altLang="en-US"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age</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年龄</a:t>
                      </a:r>
                      <a:endParaRPr kumimoji="1" lang="zh-CN" altLang="en-US"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prof</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职称</a:t>
                      </a:r>
                      <a:endParaRPr kumimoji="1" lang="zh-CN" altLang="en-US"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sal</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工资</a:t>
                      </a:r>
                      <a:endParaRPr kumimoji="1" lang="zh-CN" altLang="en-US"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1"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Comm</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岗位津贴</a:t>
                      </a:r>
                      <a:endParaRPr kumimoji="1" lang="zh-CN" altLang="en-US"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Dep</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系别</a:t>
                      </a:r>
                      <a:endParaRPr kumimoji="1" lang="zh-CN" altLang="en-US"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72110662"/>
                  </a:ext>
                </a:extLst>
              </a:tr>
              <a:tr h="69215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t1</a:t>
                      </a:r>
                      <a:endParaRPr kumimoji="1" lang="en-US" altLang="zh-CN"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刘伟</a:t>
                      </a:r>
                      <a:endParaRPr kumimoji="1" lang="zh-CN" altLang="en-US"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男</a:t>
                      </a:r>
                      <a:endParaRPr kumimoji="1" lang="zh-CN" altLang="en-US"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40</a:t>
                      </a:r>
                      <a:endParaRPr kumimoji="1" lang="en-US" altLang="zh-CN"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教授</a:t>
                      </a:r>
                      <a:endParaRPr kumimoji="1" lang="zh-CN" altLang="en-US"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2000</a:t>
                      </a:r>
                      <a:endParaRPr kumimoji="1" lang="en-US" altLang="zh-CN"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1"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4000</a:t>
                      </a:r>
                      <a:endParaRPr kumimoji="1" lang="en-US" altLang="zh-CN"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计算机</a:t>
                      </a:r>
                      <a:endParaRPr kumimoji="1" lang="zh-CN" altLang="en-US"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52832970"/>
                  </a:ext>
                </a:extLst>
              </a:tr>
              <a:tr h="69215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t2</a:t>
                      </a:r>
                      <a:endParaRPr kumimoji="1" lang="en-US" altLang="zh-CN"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张娟</a:t>
                      </a:r>
                      <a:endParaRPr kumimoji="1" lang="zh-CN" altLang="en-US"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女</a:t>
                      </a:r>
                      <a:endParaRPr kumimoji="1" lang="zh-CN" altLang="en-US"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35</a:t>
                      </a:r>
                      <a:endParaRPr kumimoji="1" lang="en-US" altLang="zh-CN"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副教授</a:t>
                      </a:r>
                      <a:endParaRPr kumimoji="1" lang="zh-CN" altLang="en-US"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1500</a:t>
                      </a:r>
                      <a:endParaRPr kumimoji="1" lang="en-US" altLang="zh-CN"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1"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3200</a:t>
                      </a:r>
                      <a:endParaRPr kumimoji="1" lang="en-US" altLang="zh-CN"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数学</a:t>
                      </a:r>
                      <a:endParaRPr kumimoji="1" lang="zh-CN" altLang="en-US"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3057935"/>
                  </a:ext>
                </a:extLst>
              </a:tr>
              <a:tr h="69215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1"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0" i="0" u="none" strike="noStrike" cap="none" normalizeH="0" baseline="0" dirty="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6052018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733" name="Rectangle 133">
            <a:extLst>
              <a:ext uri="{FF2B5EF4-FFF2-40B4-BE49-F238E27FC236}">
                <a16:creationId xmlns:a16="http://schemas.microsoft.com/office/drawing/2014/main" id="{0D46463E-8737-43A4-8C99-C2872A0BD47C}"/>
              </a:ext>
            </a:extLst>
          </p:cNvPr>
          <p:cNvSpPr>
            <a:spLocks noGrp="1" noChangeArrowheads="1"/>
          </p:cNvSpPr>
          <p:nvPr>
            <p:ph type="title" idx="4294967295"/>
          </p:nvPr>
        </p:nvSpPr>
        <p:spPr>
          <a:xfrm>
            <a:off x="3788636" y="89440"/>
            <a:ext cx="184730" cy="707886"/>
          </a:xfrm>
        </p:spPr>
        <p:txBody>
          <a:bodyPr/>
          <a:lstStyle/>
          <a:p>
            <a:endParaRPr lang="zh-CN" altLang="en-US">
              <a:solidFill>
                <a:schemeClr val="bg1"/>
              </a:solidFill>
            </a:endParaRPr>
          </a:p>
        </p:txBody>
      </p:sp>
      <p:sp>
        <p:nvSpPr>
          <p:cNvPr id="665604" name="Rectangle 4">
            <a:extLst>
              <a:ext uri="{FF2B5EF4-FFF2-40B4-BE49-F238E27FC236}">
                <a16:creationId xmlns:a16="http://schemas.microsoft.com/office/drawing/2014/main" id="{52D73273-DF00-4DB1-B31F-B0B66A72503F}"/>
              </a:ext>
            </a:extLst>
          </p:cNvPr>
          <p:cNvSpPr>
            <a:spLocks noChangeArrowheads="1"/>
          </p:cNvSpPr>
          <p:nvPr/>
        </p:nvSpPr>
        <p:spPr bwMode="auto">
          <a:xfrm>
            <a:off x="4656139" y="6308726"/>
            <a:ext cx="27590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zh-CN" altLang="en-US">
                <a:solidFill>
                  <a:schemeClr val="bg1"/>
                </a:solidFill>
              </a:rPr>
              <a:t>表</a:t>
            </a:r>
            <a:r>
              <a:rPr lang="en-US" altLang="zh-CN">
                <a:solidFill>
                  <a:schemeClr val="bg1"/>
                </a:solidFill>
              </a:rPr>
              <a:t>4.2</a:t>
            </a:r>
            <a:r>
              <a:rPr lang="zh-CN" altLang="en-US">
                <a:solidFill>
                  <a:schemeClr val="bg1"/>
                </a:solidFill>
              </a:rPr>
              <a:t>学生表</a:t>
            </a:r>
            <a:r>
              <a:rPr lang="en-US" altLang="zh-CN">
                <a:solidFill>
                  <a:schemeClr val="bg1"/>
                </a:solidFill>
              </a:rPr>
              <a:t>S</a:t>
            </a:r>
            <a:r>
              <a:rPr lang="zh-CN" altLang="en-US">
                <a:solidFill>
                  <a:schemeClr val="bg1"/>
                </a:solidFill>
              </a:rPr>
              <a:t>（</a:t>
            </a:r>
            <a:r>
              <a:rPr lang="en-US" altLang="zh-CN">
                <a:solidFill>
                  <a:schemeClr val="bg1"/>
                </a:solidFill>
              </a:rPr>
              <a:t>student</a:t>
            </a:r>
            <a:r>
              <a:rPr lang="zh-CN" altLang="en-US">
                <a:solidFill>
                  <a:schemeClr val="bg1"/>
                </a:solidFill>
              </a:rPr>
              <a:t>）</a:t>
            </a:r>
          </a:p>
        </p:txBody>
      </p:sp>
      <p:graphicFrame>
        <p:nvGraphicFramePr>
          <p:cNvPr id="665732" name="Group 132">
            <a:extLst>
              <a:ext uri="{FF2B5EF4-FFF2-40B4-BE49-F238E27FC236}">
                <a16:creationId xmlns:a16="http://schemas.microsoft.com/office/drawing/2014/main" id="{4CDCD33E-3DA9-4093-9AD4-EF8F2CC07462}"/>
              </a:ext>
            </a:extLst>
          </p:cNvPr>
          <p:cNvGraphicFramePr>
            <a:graphicFrameLocks noGrp="1"/>
          </p:cNvGraphicFramePr>
          <p:nvPr>
            <p:ph idx="4294967295"/>
            <p:extLst>
              <p:ext uri="{D42A27DB-BD31-4B8C-83A1-F6EECF244321}">
                <p14:modId xmlns:p14="http://schemas.microsoft.com/office/powerpoint/2010/main" val="3019366564"/>
              </p:ext>
            </p:extLst>
          </p:nvPr>
        </p:nvGraphicFramePr>
        <p:xfrm>
          <a:off x="2209800" y="2147888"/>
          <a:ext cx="7772400" cy="4114800"/>
        </p:xfrm>
        <a:graphic>
          <a:graphicData uri="http://schemas.openxmlformats.org/drawingml/2006/table">
            <a:tbl>
              <a:tblPr/>
              <a:tblGrid>
                <a:gridCol w="1554163">
                  <a:extLst>
                    <a:ext uri="{9D8B030D-6E8A-4147-A177-3AD203B41FA5}">
                      <a16:colId xmlns:a16="http://schemas.microsoft.com/office/drawing/2014/main" val="4191496107"/>
                    </a:ext>
                  </a:extLst>
                </a:gridCol>
                <a:gridCol w="1554162">
                  <a:extLst>
                    <a:ext uri="{9D8B030D-6E8A-4147-A177-3AD203B41FA5}">
                      <a16:colId xmlns:a16="http://schemas.microsoft.com/office/drawing/2014/main" val="514012668"/>
                    </a:ext>
                  </a:extLst>
                </a:gridCol>
                <a:gridCol w="1555750">
                  <a:extLst>
                    <a:ext uri="{9D8B030D-6E8A-4147-A177-3AD203B41FA5}">
                      <a16:colId xmlns:a16="http://schemas.microsoft.com/office/drawing/2014/main" val="2275877724"/>
                    </a:ext>
                  </a:extLst>
                </a:gridCol>
                <a:gridCol w="1554163">
                  <a:extLst>
                    <a:ext uri="{9D8B030D-6E8A-4147-A177-3AD203B41FA5}">
                      <a16:colId xmlns:a16="http://schemas.microsoft.com/office/drawing/2014/main" val="925651281"/>
                    </a:ext>
                  </a:extLst>
                </a:gridCol>
                <a:gridCol w="1554162">
                  <a:extLst>
                    <a:ext uri="{9D8B030D-6E8A-4147-A177-3AD203B41FA5}">
                      <a16:colId xmlns:a16="http://schemas.microsoft.com/office/drawing/2014/main" val="2498661138"/>
                    </a:ext>
                  </a:extLst>
                </a:gridCol>
              </a:tblGrid>
              <a:tr h="102870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sno   </a:t>
                      </a:r>
                      <a:r>
                        <a:rPr kumimoji="1" lang="zh-CN" altLang="en-US"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学号</a:t>
                      </a:r>
                      <a:endParaRPr kumimoji="1" lang="zh-CN" altLang="en-US"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sname</a:t>
                      </a:r>
                      <a:r>
                        <a:rPr kumimoji="1"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姓名</a:t>
                      </a:r>
                      <a:endParaRPr kumimoji="1" lang="zh-CN" altLang="en-US" sz="2400" b="0" i="0" u="none" strike="noStrike" cap="none" normalizeH="0" baseline="0" dirty="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ssex     </a:t>
                      </a:r>
                      <a:r>
                        <a:rPr kumimoji="1" lang="zh-CN" altLang="en-US"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性别</a:t>
                      </a:r>
                      <a:endParaRPr kumimoji="1" lang="zh-CN" altLang="en-US"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sage    </a:t>
                      </a:r>
                      <a:r>
                        <a:rPr kumimoji="1" lang="zh-CN" altLang="en-US"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年龄</a:t>
                      </a:r>
                      <a:endParaRPr kumimoji="1" lang="zh-CN" altLang="en-US" sz="2400" b="0" i="0" u="none" strike="noStrike" cap="none" normalizeH="0" baseline="0" dirty="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sdept   </a:t>
                      </a:r>
                      <a:r>
                        <a:rPr kumimoji="1" lang="zh-CN" altLang="en-US"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系别</a:t>
                      </a:r>
                      <a:endParaRPr kumimoji="1" lang="zh-CN" altLang="en-US"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263172"/>
                  </a:ext>
                </a:extLst>
              </a:tr>
              <a:tr h="102870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st1</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杨云</a:t>
                      </a:r>
                      <a:endParaRPr kumimoji="1" lang="zh-CN" altLang="en-US"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女</a:t>
                      </a:r>
                      <a:endParaRPr kumimoji="1" lang="zh-CN" altLang="en-US"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信息</a:t>
                      </a:r>
                      <a:endParaRPr kumimoji="1" lang="zh-CN" altLang="en-US"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91985362"/>
                  </a:ext>
                </a:extLst>
              </a:tr>
              <a:tr h="102870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st2</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李涛</a:t>
                      </a:r>
                      <a:endParaRPr kumimoji="1" lang="zh-CN" altLang="en-US"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男</a:t>
                      </a:r>
                      <a:endParaRPr kumimoji="1" lang="zh-CN" altLang="en-US"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19</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计算机</a:t>
                      </a:r>
                      <a:endParaRPr kumimoji="1" lang="zh-CN" altLang="en-US"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93953151"/>
                  </a:ext>
                </a:extLst>
              </a:tr>
              <a:tr h="102870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b="0" i="0" u="none" strike="noStrike" cap="none" normalizeH="0" baseline="0" dirty="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b="0" i="0" u="none" strike="noStrike" cap="none" normalizeH="0" baseline="0" dirty="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7298632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781" name="Rectangle 133">
            <a:extLst>
              <a:ext uri="{FF2B5EF4-FFF2-40B4-BE49-F238E27FC236}">
                <a16:creationId xmlns:a16="http://schemas.microsoft.com/office/drawing/2014/main" id="{0EF44009-C76E-4610-8E77-EB62B6B69452}"/>
              </a:ext>
            </a:extLst>
          </p:cNvPr>
          <p:cNvSpPr>
            <a:spLocks noGrp="1" noChangeArrowheads="1"/>
          </p:cNvSpPr>
          <p:nvPr>
            <p:ph type="title" idx="4294967295"/>
          </p:nvPr>
        </p:nvSpPr>
        <p:spPr>
          <a:xfrm>
            <a:off x="3788636" y="89440"/>
            <a:ext cx="184730" cy="707886"/>
          </a:xfrm>
        </p:spPr>
        <p:txBody>
          <a:bodyPr/>
          <a:lstStyle/>
          <a:p>
            <a:endParaRPr lang="zh-CN" altLang="en-US">
              <a:solidFill>
                <a:schemeClr val="bg1"/>
              </a:solidFill>
            </a:endParaRPr>
          </a:p>
        </p:txBody>
      </p:sp>
      <p:graphicFrame>
        <p:nvGraphicFramePr>
          <p:cNvPr id="667783" name="Group 135">
            <a:extLst>
              <a:ext uri="{FF2B5EF4-FFF2-40B4-BE49-F238E27FC236}">
                <a16:creationId xmlns:a16="http://schemas.microsoft.com/office/drawing/2014/main" id="{DBA25FBC-C42A-45C5-BBB5-665A10D42D2B}"/>
              </a:ext>
            </a:extLst>
          </p:cNvPr>
          <p:cNvGraphicFramePr>
            <a:graphicFrameLocks noGrp="1"/>
          </p:cNvGraphicFramePr>
          <p:nvPr>
            <p:ph idx="4294967295"/>
            <p:extLst>
              <p:ext uri="{D42A27DB-BD31-4B8C-83A1-F6EECF244321}">
                <p14:modId xmlns:p14="http://schemas.microsoft.com/office/powerpoint/2010/main" val="1274297816"/>
              </p:ext>
            </p:extLst>
          </p:nvPr>
        </p:nvGraphicFramePr>
        <p:xfrm>
          <a:off x="2351088" y="1628776"/>
          <a:ext cx="7772400" cy="4405949"/>
        </p:xfrm>
        <a:graphic>
          <a:graphicData uri="http://schemas.openxmlformats.org/drawingml/2006/table">
            <a:tbl>
              <a:tblPr/>
              <a:tblGrid>
                <a:gridCol w="1943100">
                  <a:extLst>
                    <a:ext uri="{9D8B030D-6E8A-4147-A177-3AD203B41FA5}">
                      <a16:colId xmlns:a16="http://schemas.microsoft.com/office/drawing/2014/main" val="1357182580"/>
                    </a:ext>
                  </a:extLst>
                </a:gridCol>
                <a:gridCol w="1943100">
                  <a:extLst>
                    <a:ext uri="{9D8B030D-6E8A-4147-A177-3AD203B41FA5}">
                      <a16:colId xmlns:a16="http://schemas.microsoft.com/office/drawing/2014/main" val="3630222969"/>
                    </a:ext>
                  </a:extLst>
                </a:gridCol>
                <a:gridCol w="1943100">
                  <a:extLst>
                    <a:ext uri="{9D8B030D-6E8A-4147-A177-3AD203B41FA5}">
                      <a16:colId xmlns:a16="http://schemas.microsoft.com/office/drawing/2014/main" val="2751702079"/>
                    </a:ext>
                  </a:extLst>
                </a:gridCol>
                <a:gridCol w="1943100">
                  <a:extLst>
                    <a:ext uri="{9D8B030D-6E8A-4147-A177-3AD203B41FA5}">
                      <a16:colId xmlns:a16="http://schemas.microsoft.com/office/drawing/2014/main" val="3356963738"/>
                    </a:ext>
                  </a:extLst>
                </a:gridCol>
              </a:tblGrid>
              <a:tr h="531813">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cno</a:t>
                      </a:r>
                      <a:r>
                        <a:rPr kumimoji="1"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课程号</a:t>
                      </a:r>
                      <a:endParaRPr kumimoji="1" lang="zh-CN" altLang="en-US" sz="2400" b="0" i="0" u="none" strike="noStrike" cap="none" normalizeH="0" baseline="0" dirty="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cname   </a:t>
                      </a:r>
                      <a:r>
                        <a:rPr kumimoji="1" lang="zh-CN" altLang="en-US"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课程名</a:t>
                      </a:r>
                      <a:endParaRPr kumimoji="1" lang="zh-CN" altLang="en-US"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ccredit      </a:t>
                      </a:r>
                      <a:r>
                        <a:rPr kumimoji="1" lang="zh-CN" altLang="en-US"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学分</a:t>
                      </a:r>
                      <a:endParaRPr kumimoji="1" lang="zh-CN" altLang="en-US"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cpno</a:t>
                      </a:r>
                      <a:r>
                        <a:rPr kumimoji="1" lang="zh-CN" altLang="en-US"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先选课程号</a:t>
                      </a:r>
                      <a:endParaRPr kumimoji="1" lang="zh-CN" altLang="en-US"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7842549"/>
                  </a:ext>
                </a:extLst>
              </a:tr>
              <a:tr h="1258888">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kc1</a:t>
                      </a:r>
                      <a:endParaRPr kumimoji="1" lang="en-US" altLang="zh-CN" sz="2400" b="0" i="0" u="none" strike="noStrike" cap="none" normalizeH="0" baseline="0" dirty="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数据库</a:t>
                      </a:r>
                      <a:endParaRPr kumimoji="1" lang="zh-CN" altLang="en-US"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400" b="1"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9582361"/>
                  </a:ext>
                </a:extLst>
              </a:tr>
              <a:tr h="1258888">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kc2</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英语</a:t>
                      </a:r>
                      <a:endParaRPr kumimoji="1" lang="zh-CN" altLang="en-US"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400" b="1"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48777336"/>
                  </a:ext>
                </a:extLst>
              </a:tr>
              <a:tr h="53340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kc3</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组成原理</a:t>
                      </a:r>
                      <a:endParaRPr kumimoji="1" lang="zh-CN" altLang="en-US"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kc1</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04750650"/>
                  </a:ext>
                </a:extLst>
              </a:tr>
              <a:tr h="531813">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b="0" i="0" u="none" strike="noStrike" cap="none" normalizeH="0" baseline="0" dirty="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18535665"/>
                  </a:ext>
                </a:extLst>
              </a:tr>
            </a:tbl>
          </a:graphicData>
        </a:graphic>
      </p:graphicFrame>
      <p:sp>
        <p:nvSpPr>
          <p:cNvPr id="667784" name="Rectangle 136">
            <a:extLst>
              <a:ext uri="{FF2B5EF4-FFF2-40B4-BE49-F238E27FC236}">
                <a16:creationId xmlns:a16="http://schemas.microsoft.com/office/drawing/2014/main" id="{62940587-ACF1-4A4B-BAC4-88545F478D75}"/>
              </a:ext>
            </a:extLst>
          </p:cNvPr>
          <p:cNvSpPr>
            <a:spLocks noChangeArrowheads="1"/>
          </p:cNvSpPr>
          <p:nvPr/>
        </p:nvSpPr>
        <p:spPr bwMode="auto">
          <a:xfrm>
            <a:off x="4727575" y="6165851"/>
            <a:ext cx="2673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zh-CN" altLang="en-US">
                <a:solidFill>
                  <a:schemeClr val="bg1"/>
                </a:solidFill>
              </a:rPr>
              <a:t>表</a:t>
            </a:r>
            <a:r>
              <a:rPr lang="en-US" altLang="zh-CN">
                <a:solidFill>
                  <a:schemeClr val="bg1"/>
                </a:solidFill>
              </a:rPr>
              <a:t>4.3</a:t>
            </a:r>
            <a:r>
              <a:rPr lang="zh-CN" altLang="en-US">
                <a:solidFill>
                  <a:schemeClr val="bg1"/>
                </a:solidFill>
              </a:rPr>
              <a:t>课程表</a:t>
            </a:r>
            <a:r>
              <a:rPr lang="en-US" altLang="zh-CN">
                <a:solidFill>
                  <a:schemeClr val="bg1"/>
                </a:solidFill>
              </a:rPr>
              <a:t>C</a:t>
            </a:r>
            <a:r>
              <a:rPr lang="zh-CN" altLang="en-US">
                <a:solidFill>
                  <a:schemeClr val="bg1"/>
                </a:solidFill>
              </a:rPr>
              <a:t>（</a:t>
            </a:r>
            <a:r>
              <a:rPr lang="en-US" altLang="zh-CN">
                <a:solidFill>
                  <a:schemeClr val="bg1"/>
                </a:solidFill>
              </a:rPr>
              <a:t>course</a:t>
            </a:r>
            <a:r>
              <a:rPr lang="zh-CN" altLang="en-US">
                <a:solidFill>
                  <a:schemeClr val="bg1"/>
                </a:solidFill>
              </a:rPr>
              <a:t>）</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871" name="Rectangle 175">
            <a:extLst>
              <a:ext uri="{FF2B5EF4-FFF2-40B4-BE49-F238E27FC236}">
                <a16:creationId xmlns:a16="http://schemas.microsoft.com/office/drawing/2014/main" id="{F43B5CBE-7A63-4E5E-BC9D-405769B41F50}"/>
              </a:ext>
            </a:extLst>
          </p:cNvPr>
          <p:cNvSpPr>
            <a:spLocks noGrp="1" noChangeArrowheads="1"/>
          </p:cNvSpPr>
          <p:nvPr>
            <p:ph type="title" idx="4294967295"/>
          </p:nvPr>
        </p:nvSpPr>
        <p:spPr>
          <a:xfrm>
            <a:off x="3788636" y="89440"/>
            <a:ext cx="184730" cy="707886"/>
          </a:xfrm>
        </p:spPr>
        <p:txBody>
          <a:bodyPr/>
          <a:lstStyle/>
          <a:p>
            <a:endParaRPr lang="zh-CN" altLang="en-US">
              <a:solidFill>
                <a:schemeClr val="bg1"/>
              </a:solidFill>
            </a:endParaRPr>
          </a:p>
        </p:txBody>
      </p:sp>
      <p:graphicFrame>
        <p:nvGraphicFramePr>
          <p:cNvPr id="669870" name="Group 174">
            <a:extLst>
              <a:ext uri="{FF2B5EF4-FFF2-40B4-BE49-F238E27FC236}">
                <a16:creationId xmlns:a16="http://schemas.microsoft.com/office/drawing/2014/main" id="{03451CFD-D7FB-41D2-AC29-14000F195895}"/>
              </a:ext>
            </a:extLst>
          </p:cNvPr>
          <p:cNvGraphicFramePr>
            <a:graphicFrameLocks noGrp="1"/>
          </p:cNvGraphicFramePr>
          <p:nvPr>
            <p:ph idx="4294967295"/>
            <p:extLst>
              <p:ext uri="{D42A27DB-BD31-4B8C-83A1-F6EECF244321}">
                <p14:modId xmlns:p14="http://schemas.microsoft.com/office/powerpoint/2010/main" val="3195337707"/>
              </p:ext>
            </p:extLst>
          </p:nvPr>
        </p:nvGraphicFramePr>
        <p:xfrm>
          <a:off x="3000376" y="1125538"/>
          <a:ext cx="6981825" cy="5137152"/>
        </p:xfrm>
        <a:graphic>
          <a:graphicData uri="http://schemas.openxmlformats.org/drawingml/2006/table">
            <a:tbl>
              <a:tblPr/>
              <a:tblGrid>
                <a:gridCol w="2066925">
                  <a:extLst>
                    <a:ext uri="{9D8B030D-6E8A-4147-A177-3AD203B41FA5}">
                      <a16:colId xmlns:a16="http://schemas.microsoft.com/office/drawing/2014/main" val="3727167410"/>
                    </a:ext>
                  </a:extLst>
                </a:gridCol>
                <a:gridCol w="2381250">
                  <a:extLst>
                    <a:ext uri="{9D8B030D-6E8A-4147-A177-3AD203B41FA5}">
                      <a16:colId xmlns:a16="http://schemas.microsoft.com/office/drawing/2014/main" val="3723159686"/>
                    </a:ext>
                  </a:extLst>
                </a:gridCol>
                <a:gridCol w="2533650">
                  <a:extLst>
                    <a:ext uri="{9D8B030D-6E8A-4147-A177-3AD203B41FA5}">
                      <a16:colId xmlns:a16="http://schemas.microsoft.com/office/drawing/2014/main" val="1205589507"/>
                    </a:ext>
                  </a:extLst>
                </a:gridCol>
              </a:tblGrid>
              <a:tr h="57150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sno</a:t>
                      </a:r>
                      <a:r>
                        <a:rPr kumimoji="1"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学号</a:t>
                      </a:r>
                      <a:endParaRPr kumimoji="1" lang="zh-CN" altLang="en-US" sz="2400" b="0" i="0" u="none" strike="noStrike" cap="none" normalizeH="0" baseline="0" dirty="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cno  </a:t>
                      </a:r>
                      <a:r>
                        <a:rPr kumimoji="1" lang="zh-CN" altLang="en-US"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课程号</a:t>
                      </a:r>
                      <a:endParaRPr kumimoji="1" lang="zh-CN" altLang="en-US"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grade</a:t>
                      </a:r>
                      <a:r>
                        <a:rPr kumimoji="1" lang="zh-CN" altLang="en-US"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成绩</a:t>
                      </a:r>
                      <a:endParaRPr kumimoji="1" lang="zh-CN" altLang="en-US"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14199615"/>
                  </a:ext>
                </a:extLst>
              </a:tr>
              <a:tr h="569913">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st1</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kc1</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75</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6135950"/>
                  </a:ext>
                </a:extLst>
              </a:tr>
              <a:tr h="57150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st1</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kc3</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55049051"/>
                  </a:ext>
                </a:extLst>
              </a:tr>
              <a:tr h="569913">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st2</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kc2</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88</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16336771"/>
                  </a:ext>
                </a:extLst>
              </a:tr>
              <a:tr h="57150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st2</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kc3</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92</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20280440"/>
                  </a:ext>
                </a:extLst>
              </a:tr>
              <a:tr h="569913">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st3</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kc1</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54</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09809411"/>
                  </a:ext>
                </a:extLst>
              </a:tr>
              <a:tr h="57150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st3</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kc2</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69</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71745309"/>
                  </a:ext>
                </a:extLst>
              </a:tr>
              <a:tr h="569913">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st3</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kc3</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81</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1274928"/>
                  </a:ext>
                </a:extLst>
              </a:tr>
              <a:tr h="57150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b="0" i="0" u="none" strike="noStrike" cap="none" normalizeH="0" baseline="0" dirty="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88603502"/>
                  </a:ext>
                </a:extLst>
              </a:tr>
            </a:tbl>
          </a:graphicData>
        </a:graphic>
      </p:graphicFrame>
      <p:sp>
        <p:nvSpPr>
          <p:cNvPr id="669873" name="Rectangle 177">
            <a:extLst>
              <a:ext uri="{FF2B5EF4-FFF2-40B4-BE49-F238E27FC236}">
                <a16:creationId xmlns:a16="http://schemas.microsoft.com/office/drawing/2014/main" id="{46D2E1E0-A285-41F8-A302-9AF782D600C2}"/>
              </a:ext>
            </a:extLst>
          </p:cNvPr>
          <p:cNvSpPr>
            <a:spLocks noChangeArrowheads="1"/>
          </p:cNvSpPr>
          <p:nvPr/>
        </p:nvSpPr>
        <p:spPr bwMode="auto">
          <a:xfrm>
            <a:off x="5218062" y="6235978"/>
            <a:ext cx="21114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zh-CN" altLang="en-US">
                <a:solidFill>
                  <a:schemeClr val="bg1"/>
                </a:solidFill>
              </a:rPr>
              <a:t>表</a:t>
            </a:r>
            <a:r>
              <a:rPr lang="en-US" altLang="zh-CN">
                <a:solidFill>
                  <a:schemeClr val="bg1"/>
                </a:solidFill>
              </a:rPr>
              <a:t>4.4</a:t>
            </a:r>
            <a:r>
              <a:rPr lang="zh-CN" altLang="en-US">
                <a:solidFill>
                  <a:schemeClr val="bg1"/>
                </a:solidFill>
              </a:rPr>
              <a:t>选课表（</a:t>
            </a:r>
            <a:r>
              <a:rPr lang="en-US" altLang="zh-CN">
                <a:solidFill>
                  <a:schemeClr val="bg1"/>
                </a:solidFill>
              </a:rPr>
              <a:t>sc</a:t>
            </a:r>
            <a:r>
              <a:rPr lang="zh-CN" altLang="en-US">
                <a:solidFill>
                  <a:schemeClr val="bg1"/>
                </a:solidFill>
              </a:rPr>
              <a:t>）</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870" name="Rectangle 126">
            <a:extLst>
              <a:ext uri="{FF2B5EF4-FFF2-40B4-BE49-F238E27FC236}">
                <a16:creationId xmlns:a16="http://schemas.microsoft.com/office/drawing/2014/main" id="{CD41523B-96EA-40E7-9636-69142874445A}"/>
              </a:ext>
            </a:extLst>
          </p:cNvPr>
          <p:cNvSpPr>
            <a:spLocks noGrp="1" noChangeArrowheads="1"/>
          </p:cNvSpPr>
          <p:nvPr>
            <p:ph type="title" idx="4294967295"/>
          </p:nvPr>
        </p:nvSpPr>
        <p:spPr>
          <a:xfrm>
            <a:off x="3788636" y="89440"/>
            <a:ext cx="184730" cy="707886"/>
          </a:xfrm>
        </p:spPr>
        <p:txBody>
          <a:bodyPr/>
          <a:lstStyle/>
          <a:p>
            <a:endParaRPr lang="zh-CN" altLang="en-US">
              <a:solidFill>
                <a:schemeClr val="bg1"/>
              </a:solidFill>
            </a:endParaRPr>
          </a:p>
        </p:txBody>
      </p:sp>
      <p:graphicFrame>
        <p:nvGraphicFramePr>
          <p:cNvPr id="671869" name="Group 125">
            <a:extLst>
              <a:ext uri="{FF2B5EF4-FFF2-40B4-BE49-F238E27FC236}">
                <a16:creationId xmlns:a16="http://schemas.microsoft.com/office/drawing/2014/main" id="{5B303A82-8D21-4F41-B6FB-B0CC56FA1D94}"/>
              </a:ext>
            </a:extLst>
          </p:cNvPr>
          <p:cNvGraphicFramePr>
            <a:graphicFrameLocks noGrp="1"/>
          </p:cNvGraphicFramePr>
          <p:nvPr>
            <p:ph idx="4294967295"/>
            <p:extLst>
              <p:ext uri="{D42A27DB-BD31-4B8C-83A1-F6EECF244321}">
                <p14:modId xmlns:p14="http://schemas.microsoft.com/office/powerpoint/2010/main" val="1304124852"/>
              </p:ext>
            </p:extLst>
          </p:nvPr>
        </p:nvGraphicFramePr>
        <p:xfrm>
          <a:off x="3000376" y="1125538"/>
          <a:ext cx="6981825" cy="5137152"/>
        </p:xfrm>
        <a:graphic>
          <a:graphicData uri="http://schemas.openxmlformats.org/drawingml/2006/table">
            <a:tbl>
              <a:tblPr/>
              <a:tblGrid>
                <a:gridCol w="3328988">
                  <a:extLst>
                    <a:ext uri="{9D8B030D-6E8A-4147-A177-3AD203B41FA5}">
                      <a16:colId xmlns:a16="http://schemas.microsoft.com/office/drawing/2014/main" val="256706854"/>
                    </a:ext>
                  </a:extLst>
                </a:gridCol>
                <a:gridCol w="3652837">
                  <a:extLst>
                    <a:ext uri="{9D8B030D-6E8A-4147-A177-3AD203B41FA5}">
                      <a16:colId xmlns:a16="http://schemas.microsoft.com/office/drawing/2014/main" val="81372013"/>
                    </a:ext>
                  </a:extLst>
                </a:gridCol>
              </a:tblGrid>
              <a:tr h="51435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tno</a:t>
                      </a:r>
                      <a:r>
                        <a:rPr kumimoji="1"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教师号</a:t>
                      </a:r>
                      <a:endParaRPr kumimoji="1" lang="zh-CN" altLang="en-US" sz="2400" b="0" i="0" u="none" strike="noStrike" cap="none" normalizeH="0" baseline="0" dirty="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cno  </a:t>
                      </a:r>
                      <a:r>
                        <a:rPr kumimoji="1" lang="zh-CN" altLang="en-US"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课程号</a:t>
                      </a:r>
                      <a:endParaRPr kumimoji="1" lang="zh-CN" altLang="en-US"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80696072"/>
                  </a:ext>
                </a:extLst>
              </a:tr>
              <a:tr h="512763">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t1</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kc2</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6878921"/>
                  </a:ext>
                </a:extLst>
              </a:tr>
              <a:tr h="51435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t2</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kc1</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36974884"/>
                  </a:ext>
                </a:extLst>
              </a:tr>
              <a:tr h="512763">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t2</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kc3</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92037913"/>
                  </a:ext>
                </a:extLst>
              </a:tr>
              <a:tr h="51435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t2</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kc2</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35116194"/>
                  </a:ext>
                </a:extLst>
              </a:tr>
              <a:tr h="51435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t3</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kc1</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58094811"/>
                  </a:ext>
                </a:extLst>
              </a:tr>
              <a:tr h="512763">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t3</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kc3</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90640401"/>
                  </a:ext>
                </a:extLst>
              </a:tr>
              <a:tr h="51435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t4</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kc3</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64513766"/>
                  </a:ext>
                </a:extLst>
              </a:tr>
              <a:tr h="512763">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t5</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kc1</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44288821"/>
                  </a:ext>
                </a:extLst>
              </a:tr>
              <a:tr h="514350">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b="0" i="0" u="none" strike="noStrike" cap="none" normalizeH="0" baseline="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b="0" i="0" u="none" strike="noStrike" cap="none" normalizeH="0" baseline="0" dirty="0">
                        <a:ln>
                          <a:noFill/>
                        </a:ln>
                        <a:solidFill>
                          <a:schemeClr val="bg1"/>
                        </a:solidFill>
                        <a:effectLst/>
                        <a:latin typeface="Tahom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67336963"/>
                  </a:ext>
                </a:extLst>
              </a:tr>
            </a:tbl>
          </a:graphicData>
        </a:graphic>
      </p:graphicFrame>
      <p:sp>
        <p:nvSpPr>
          <p:cNvPr id="671872" name="Rectangle 128">
            <a:extLst>
              <a:ext uri="{FF2B5EF4-FFF2-40B4-BE49-F238E27FC236}">
                <a16:creationId xmlns:a16="http://schemas.microsoft.com/office/drawing/2014/main" id="{95A7605A-CBFC-4D4B-B45F-9A6D7068A063}"/>
              </a:ext>
            </a:extLst>
          </p:cNvPr>
          <p:cNvSpPr>
            <a:spLocks noChangeArrowheads="1"/>
          </p:cNvSpPr>
          <p:nvPr/>
        </p:nvSpPr>
        <p:spPr bwMode="auto">
          <a:xfrm>
            <a:off x="5087939" y="6235978"/>
            <a:ext cx="20746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zh-CN" altLang="en-US">
                <a:solidFill>
                  <a:schemeClr val="bg1"/>
                </a:solidFill>
              </a:rPr>
              <a:t>表</a:t>
            </a:r>
            <a:r>
              <a:rPr lang="en-US" altLang="zh-CN">
                <a:solidFill>
                  <a:schemeClr val="bg1"/>
                </a:solidFill>
              </a:rPr>
              <a:t>4.5</a:t>
            </a:r>
            <a:r>
              <a:rPr lang="zh-CN" altLang="en-US">
                <a:solidFill>
                  <a:schemeClr val="bg1"/>
                </a:solidFill>
              </a:rPr>
              <a:t>授课表（</a:t>
            </a:r>
            <a:r>
              <a:rPr lang="en-US" altLang="zh-CN">
                <a:solidFill>
                  <a:schemeClr val="bg1"/>
                </a:solidFill>
              </a:rPr>
              <a:t>tc</a:t>
            </a:r>
            <a:r>
              <a:rPr lang="zh-CN" altLang="en-US">
                <a:solidFill>
                  <a:schemeClr val="bg1"/>
                </a:solidFill>
              </a:rPr>
              <a:t>）</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847915" y="43761"/>
            <a:ext cx="4276345"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sz="4000" b="1" dirty="0">
                <a:solidFill>
                  <a:srgbClr val="FFFFCC"/>
                </a:solidFill>
                <a:effectLst>
                  <a:outerShdw blurRad="38100" dist="38100" dir="2700000" algn="tl">
                    <a:srgbClr val="000000"/>
                  </a:outerShdw>
                </a:effectLst>
              </a:rPr>
              <a:t>数据定义（</a:t>
            </a:r>
            <a:r>
              <a:rPr lang="en-US" altLang="zh-CN" sz="4000" b="1" dirty="0">
                <a:solidFill>
                  <a:srgbClr val="FFFFCC"/>
                </a:solidFill>
                <a:effectLst>
                  <a:outerShdw blurRad="38100" dist="38100" dir="2700000" algn="tl">
                    <a:srgbClr val="000000"/>
                  </a:outerShdw>
                </a:effectLst>
              </a:rPr>
              <a:t>DDL</a:t>
            </a:r>
            <a:r>
              <a:rPr lang="zh-CN" altLang="en-US" sz="4000" b="1" dirty="0">
                <a:solidFill>
                  <a:srgbClr val="FFFFCC"/>
                </a:solidFill>
                <a:effectLst>
                  <a:outerShdw blurRad="38100" dist="38100" dir="2700000" algn="tl">
                    <a:srgbClr val="000000"/>
                  </a:outerShdw>
                </a:effectLst>
              </a:rPr>
              <a:t>）</a:t>
            </a:r>
            <a:endParaRPr lang="zh-CN" altLang="en-US" sz="4000" b="1" dirty="0">
              <a:solidFill>
                <a:srgbClr val="FFFFCC"/>
              </a:solidFill>
              <a:effectLst>
                <a:outerShdw blurRad="38100" dist="38100" dir="2700000" algn="tl">
                  <a:srgbClr val="000000"/>
                </a:outerShdw>
              </a:effectLst>
              <a:cs typeface="+mn-cs"/>
            </a:endParaRPr>
          </a:p>
        </p:txBody>
      </p:sp>
      <p:sp>
        <p:nvSpPr>
          <p:cNvPr id="23" name="Rectangle 9"/>
          <p:cNvSpPr txBox="1">
            <a:spLocks noChangeArrowheads="1"/>
          </p:cNvSpPr>
          <p:nvPr/>
        </p:nvSpPr>
        <p:spPr bwMode="auto">
          <a:xfrm>
            <a:off x="407281" y="916516"/>
            <a:ext cx="10700365" cy="769441"/>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55600" indent="-355600" eaLnBrk="1" hangingPunct="1">
              <a:defRPr/>
            </a:pPr>
            <a:r>
              <a:rPr lang="zh-CN" altLang="en-US" sz="4400" kern="0" dirty="0"/>
              <a:t>定义数据库结构、表结构、视图、索引等</a:t>
            </a:r>
          </a:p>
        </p:txBody>
      </p:sp>
      <p:sp>
        <p:nvSpPr>
          <p:cNvPr id="7" name="矩形 6"/>
          <p:cNvSpPr/>
          <p:nvPr/>
        </p:nvSpPr>
        <p:spPr>
          <a:xfrm>
            <a:off x="1423040" y="3465192"/>
            <a:ext cx="2262158" cy="923330"/>
          </a:xfrm>
          <a:prstGeom prst="rect">
            <a:avLst/>
          </a:prstGeom>
        </p:spPr>
        <p:txBody>
          <a:bodyPr wrap="none">
            <a:spAutoFit/>
          </a:bodyPr>
          <a:lstStyle/>
          <a:p>
            <a:pPr lvl="0"/>
            <a:r>
              <a:rPr kumimoji="1" lang="zh-CN" altLang="zh-CN" sz="5400" dirty="0">
                <a:solidFill>
                  <a:schemeClr val="bg1"/>
                </a:solidFill>
                <a:latin typeface="微软雅黑" panose="020B0503020204020204" pitchFamily="34" charset="-122"/>
                <a:ea typeface="微软雅黑" panose="020B0503020204020204" pitchFamily="34" charset="-122"/>
              </a:rPr>
              <a:t>没有</a:t>
            </a:r>
            <a:r>
              <a:rPr kumimoji="1" lang="zh-CN" altLang="en-US" sz="5400" dirty="0">
                <a:solidFill>
                  <a:schemeClr val="bg1"/>
                </a:solidFill>
                <a:latin typeface="微软雅黑" panose="020B0503020204020204" pitchFamily="34" charset="-122"/>
                <a:ea typeface="微软雅黑" panose="020B0503020204020204" pitchFamily="34" charset="-122"/>
              </a:rPr>
              <a:t>？</a:t>
            </a:r>
            <a:endParaRPr lang="zh-CN" altLang="en-US" sz="5400"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767408" y="5478366"/>
            <a:ext cx="3253198" cy="1053815"/>
          </a:xfrm>
          <a:prstGeom prst="rect">
            <a:avLst/>
          </a:prstGeom>
        </p:spPr>
        <p:txBody>
          <a:bodyPr wrap="none">
            <a:spAutoFit/>
          </a:bodyPr>
          <a:lstStyle/>
          <a:p>
            <a:pPr marL="0" lvl="1" defTabSz="1200150">
              <a:lnSpc>
                <a:spcPct val="125000"/>
              </a:lnSpc>
              <a:spcBef>
                <a:spcPct val="0"/>
              </a:spcBef>
              <a:spcAft>
                <a:spcPts val="600"/>
              </a:spcAft>
            </a:pPr>
            <a:r>
              <a:rPr lang="en-US" altLang="zh-CN" sz="5400" dirty="0">
                <a:solidFill>
                  <a:schemeClr val="accent6">
                    <a:lumMod val="40000"/>
                    <a:lumOff val="60000"/>
                  </a:schemeClr>
                </a:solidFill>
                <a:effectLst>
                  <a:outerShdw blurRad="38100" dist="38100" dir="2700000" algn="tl">
                    <a:srgbClr val="000000">
                      <a:alpha val="43137"/>
                    </a:srgbClr>
                  </a:outerShdw>
                </a:effectLst>
                <a:latin typeface="Arial Black" panose="020B0A04020102020204" pitchFamily="34" charset="0"/>
              </a:rPr>
              <a:t>CREATE</a:t>
            </a:r>
          </a:p>
        </p:txBody>
      </p:sp>
      <p:sp>
        <p:nvSpPr>
          <p:cNvPr id="30" name="矩形 29"/>
          <p:cNvSpPr/>
          <p:nvPr/>
        </p:nvSpPr>
        <p:spPr>
          <a:xfrm>
            <a:off x="4844217" y="3412969"/>
            <a:ext cx="2954655" cy="923330"/>
          </a:xfrm>
          <a:prstGeom prst="rect">
            <a:avLst/>
          </a:prstGeom>
        </p:spPr>
        <p:txBody>
          <a:bodyPr wrap="none">
            <a:spAutoFit/>
          </a:bodyPr>
          <a:lstStyle/>
          <a:p>
            <a:pPr lvl="0"/>
            <a:r>
              <a:rPr kumimoji="1" lang="zh-CN" altLang="en-US" sz="5400" dirty="0">
                <a:solidFill>
                  <a:schemeClr val="bg1"/>
                </a:solidFill>
                <a:latin typeface="微软雅黑" panose="020B0503020204020204" pitchFamily="34" charset="-122"/>
                <a:ea typeface="微软雅黑" panose="020B0503020204020204" pitchFamily="34" charset="-122"/>
              </a:rPr>
              <a:t>不如意？</a:t>
            </a:r>
            <a:endParaRPr lang="zh-CN" altLang="en-US" sz="5400" dirty="0">
              <a:solidFill>
                <a:schemeClr val="bg1"/>
              </a:solidFill>
              <a:latin typeface="微软雅黑" panose="020B0503020204020204" pitchFamily="34" charset="-122"/>
              <a:ea typeface="微软雅黑" panose="020B0503020204020204" pitchFamily="34" charset="-122"/>
            </a:endParaRPr>
          </a:p>
        </p:txBody>
      </p:sp>
      <p:sp>
        <p:nvSpPr>
          <p:cNvPr id="31" name="矩形 30"/>
          <p:cNvSpPr/>
          <p:nvPr/>
        </p:nvSpPr>
        <p:spPr>
          <a:xfrm>
            <a:off x="4917275" y="5478366"/>
            <a:ext cx="2688685" cy="1053815"/>
          </a:xfrm>
          <a:prstGeom prst="rect">
            <a:avLst/>
          </a:prstGeom>
        </p:spPr>
        <p:txBody>
          <a:bodyPr wrap="none">
            <a:spAutoFit/>
          </a:bodyPr>
          <a:lstStyle/>
          <a:p>
            <a:pPr marL="0" lvl="1" defTabSz="1200150">
              <a:lnSpc>
                <a:spcPct val="125000"/>
              </a:lnSpc>
              <a:spcBef>
                <a:spcPct val="0"/>
              </a:spcBef>
              <a:spcAft>
                <a:spcPts val="600"/>
              </a:spcAft>
            </a:pPr>
            <a:r>
              <a:rPr lang="en-US" altLang="zh-CN" sz="5400" dirty="0">
                <a:solidFill>
                  <a:schemeClr val="accent6">
                    <a:lumMod val="40000"/>
                    <a:lumOff val="60000"/>
                  </a:schemeClr>
                </a:solidFill>
                <a:effectLst>
                  <a:outerShdw blurRad="38100" dist="38100" dir="2700000" algn="tl">
                    <a:srgbClr val="000000">
                      <a:alpha val="43137"/>
                    </a:srgbClr>
                  </a:outerShdw>
                </a:effectLst>
                <a:latin typeface="Arial Black" panose="020B0A04020102020204" pitchFamily="34" charset="0"/>
              </a:rPr>
              <a:t>ALTER</a:t>
            </a:r>
          </a:p>
        </p:txBody>
      </p:sp>
      <p:sp>
        <p:nvSpPr>
          <p:cNvPr id="33" name="矩形 32"/>
          <p:cNvSpPr/>
          <p:nvPr/>
        </p:nvSpPr>
        <p:spPr>
          <a:xfrm>
            <a:off x="8552768" y="3408129"/>
            <a:ext cx="2262158" cy="923330"/>
          </a:xfrm>
          <a:prstGeom prst="rect">
            <a:avLst/>
          </a:prstGeom>
        </p:spPr>
        <p:txBody>
          <a:bodyPr wrap="none">
            <a:spAutoFit/>
          </a:bodyPr>
          <a:lstStyle/>
          <a:p>
            <a:pPr lvl="0"/>
            <a:r>
              <a:rPr kumimoji="1" lang="zh-CN" altLang="en-US" sz="5400" dirty="0">
                <a:solidFill>
                  <a:schemeClr val="bg1"/>
                </a:solidFill>
                <a:latin typeface="微软雅黑" panose="020B0503020204020204" pitchFamily="34" charset="-122"/>
                <a:ea typeface="微软雅黑" panose="020B0503020204020204" pitchFamily="34" charset="-122"/>
              </a:rPr>
              <a:t>无用？</a:t>
            </a:r>
            <a:endParaRPr lang="zh-CN" altLang="en-US" sz="5400" dirty="0">
              <a:solidFill>
                <a:schemeClr val="bg1"/>
              </a:solidFill>
              <a:latin typeface="微软雅黑" panose="020B0503020204020204" pitchFamily="34" charset="-122"/>
              <a:ea typeface="微软雅黑" panose="020B0503020204020204" pitchFamily="34" charset="-122"/>
            </a:endParaRPr>
          </a:p>
        </p:txBody>
      </p:sp>
      <p:sp>
        <p:nvSpPr>
          <p:cNvPr id="34" name="矩形 33"/>
          <p:cNvSpPr/>
          <p:nvPr/>
        </p:nvSpPr>
        <p:spPr>
          <a:xfrm>
            <a:off x="8539702" y="5529854"/>
            <a:ext cx="2327240" cy="1053815"/>
          </a:xfrm>
          <a:prstGeom prst="rect">
            <a:avLst/>
          </a:prstGeom>
        </p:spPr>
        <p:txBody>
          <a:bodyPr wrap="none">
            <a:spAutoFit/>
          </a:bodyPr>
          <a:lstStyle/>
          <a:p>
            <a:pPr marL="0" lvl="1" defTabSz="1200150">
              <a:lnSpc>
                <a:spcPct val="125000"/>
              </a:lnSpc>
              <a:spcBef>
                <a:spcPct val="0"/>
              </a:spcBef>
              <a:spcAft>
                <a:spcPts val="600"/>
              </a:spcAft>
            </a:pPr>
            <a:r>
              <a:rPr lang="en-US" altLang="zh-CN" sz="5400" dirty="0">
                <a:solidFill>
                  <a:schemeClr val="accent6">
                    <a:lumMod val="40000"/>
                    <a:lumOff val="60000"/>
                  </a:schemeClr>
                </a:solidFill>
                <a:effectLst>
                  <a:outerShdw blurRad="38100" dist="38100" dir="2700000" algn="tl">
                    <a:srgbClr val="000000">
                      <a:alpha val="43137"/>
                    </a:srgbClr>
                  </a:outerShdw>
                </a:effectLst>
                <a:latin typeface="Arial Black" panose="020B0A04020102020204" pitchFamily="34" charset="0"/>
              </a:rPr>
              <a:t>DROP</a:t>
            </a:r>
          </a:p>
        </p:txBody>
      </p:sp>
      <p:pic>
        <p:nvPicPr>
          <p:cNvPr id="1028" name="Picture 4" descr="face sad 3128PX PNG 图标下载"/>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4260" y="1951800"/>
            <a:ext cx="144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face devilish 2128PX PNG 图标下载"/>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12772" y="1951800"/>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9" name="下箭头 8"/>
          <p:cNvSpPr/>
          <p:nvPr/>
        </p:nvSpPr>
        <p:spPr>
          <a:xfrm>
            <a:off x="1966890" y="4579242"/>
            <a:ext cx="504056" cy="936922"/>
          </a:xfrm>
          <a:prstGeom prst="down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sz="2800"/>
          </a:p>
        </p:txBody>
      </p:sp>
      <p:sp>
        <p:nvSpPr>
          <p:cNvPr id="35" name="下箭头 34"/>
          <p:cNvSpPr/>
          <p:nvPr/>
        </p:nvSpPr>
        <p:spPr>
          <a:xfrm>
            <a:off x="5581004" y="4579242"/>
            <a:ext cx="504056" cy="936922"/>
          </a:xfrm>
          <a:prstGeom prst="down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sz="2800"/>
          </a:p>
        </p:txBody>
      </p:sp>
      <p:sp>
        <p:nvSpPr>
          <p:cNvPr id="36" name="下箭头 35"/>
          <p:cNvSpPr/>
          <p:nvPr/>
        </p:nvSpPr>
        <p:spPr>
          <a:xfrm>
            <a:off x="9120336" y="4579242"/>
            <a:ext cx="504056" cy="936922"/>
          </a:xfrm>
          <a:prstGeom prst="down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sz="2800"/>
          </a:p>
        </p:txBody>
      </p:sp>
      <p:pic>
        <p:nvPicPr>
          <p:cNvPr id="16" name="Picture 2" descr="face crying 2128PX PNG 图标下载"/>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6088" y="1961524"/>
            <a:ext cx="1439999" cy="14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3159789"/>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7" name="arrow.wav"/>
          </p:stSnd>
        </p:sndAc>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Rectangle 2">
            <a:extLst>
              <a:ext uri="{FF2B5EF4-FFF2-40B4-BE49-F238E27FC236}">
                <a16:creationId xmlns:a16="http://schemas.microsoft.com/office/drawing/2014/main" id="{4E878728-DDAF-40AB-8EC1-326EA8A4B204}"/>
              </a:ext>
            </a:extLst>
          </p:cNvPr>
          <p:cNvSpPr>
            <a:spLocks noGrp="1" noChangeArrowheads="1"/>
          </p:cNvSpPr>
          <p:nvPr>
            <p:ph type="title" idx="4294967295"/>
          </p:nvPr>
        </p:nvSpPr>
        <p:spPr>
          <a:xfrm>
            <a:off x="1736825" y="89440"/>
            <a:ext cx="4288353" cy="707886"/>
          </a:xfrm>
        </p:spPr>
        <p:txBody>
          <a:bodyPr/>
          <a:lstStyle/>
          <a:p>
            <a:r>
              <a:rPr lang="zh-CN" altLang="en-US"/>
              <a:t>一、数据库的创建</a:t>
            </a:r>
          </a:p>
        </p:txBody>
      </p:sp>
      <p:sp>
        <p:nvSpPr>
          <p:cNvPr id="673795" name="Rectangle 3">
            <a:extLst>
              <a:ext uri="{FF2B5EF4-FFF2-40B4-BE49-F238E27FC236}">
                <a16:creationId xmlns:a16="http://schemas.microsoft.com/office/drawing/2014/main" id="{8D4453F6-549F-42F4-B526-1F8B909AA1F0}"/>
              </a:ext>
            </a:extLst>
          </p:cNvPr>
          <p:cNvSpPr>
            <a:spLocks noGrp="1" noChangeArrowheads="1"/>
          </p:cNvSpPr>
          <p:nvPr>
            <p:ph type="body" idx="4294967295"/>
          </p:nvPr>
        </p:nvSpPr>
        <p:spPr>
          <a:xfrm>
            <a:off x="627731" y="1166018"/>
            <a:ext cx="10972800" cy="4525963"/>
          </a:xfrm>
        </p:spPr>
        <p:txBody>
          <a:bodyPr>
            <a:normAutofit fontScale="92500" lnSpcReduction="20000"/>
          </a:bodyPr>
          <a:lstStyle/>
          <a:p>
            <a:pPr>
              <a:lnSpc>
                <a:spcPct val="150000"/>
              </a:lnSpc>
            </a:pPr>
            <a:r>
              <a:rPr lang="en-US" altLang="zh-CN" sz="2800" dirty="0"/>
              <a:t>1</a:t>
            </a:r>
            <a:r>
              <a:rPr lang="zh-CN" altLang="en-US" sz="2800" dirty="0"/>
              <a:t>、使用</a:t>
            </a:r>
            <a:r>
              <a:rPr lang="en-US" altLang="zh-CN" sz="2800" dirty="0"/>
              <a:t>SHOW</a:t>
            </a:r>
            <a:r>
              <a:rPr lang="zh-CN" altLang="en-US" sz="2800" dirty="0"/>
              <a:t>语句找出在服务器上当前存在什么数据库：</a:t>
            </a:r>
          </a:p>
          <a:p>
            <a:pPr lvl="1">
              <a:lnSpc>
                <a:spcPct val="150000"/>
              </a:lnSpc>
              <a:buFontTx/>
              <a:buNone/>
            </a:pPr>
            <a:r>
              <a:rPr lang="en-US" altLang="zh-CN" sz="2400" dirty="0" err="1"/>
              <a:t>mysql</a:t>
            </a:r>
            <a:r>
              <a:rPr lang="en-US" altLang="zh-CN" sz="2400" dirty="0"/>
              <a:t>&gt; show databases;</a:t>
            </a:r>
          </a:p>
          <a:p>
            <a:pPr>
              <a:lnSpc>
                <a:spcPct val="150000"/>
              </a:lnSpc>
            </a:pPr>
            <a:r>
              <a:rPr lang="en-US" altLang="zh-CN" sz="2800" dirty="0"/>
              <a:t>2</a:t>
            </a:r>
            <a:r>
              <a:rPr lang="zh-CN" altLang="en-US" sz="2800" dirty="0"/>
              <a:t>、创建一个数据库</a:t>
            </a:r>
            <a:r>
              <a:rPr lang="en-US" altLang="zh-CN" sz="2800" dirty="0"/>
              <a:t>college</a:t>
            </a:r>
          </a:p>
          <a:p>
            <a:pPr lvl="1">
              <a:lnSpc>
                <a:spcPct val="150000"/>
              </a:lnSpc>
              <a:buFontTx/>
              <a:buNone/>
            </a:pPr>
            <a:r>
              <a:rPr lang="en-US" altLang="zh-CN" sz="2400" dirty="0" err="1"/>
              <a:t>mysql</a:t>
            </a:r>
            <a:r>
              <a:rPr lang="en-US" altLang="zh-CN" sz="2400" dirty="0"/>
              <a:t>&gt; CREATE DATABASE college;</a:t>
            </a:r>
          </a:p>
          <a:p>
            <a:pPr>
              <a:lnSpc>
                <a:spcPct val="150000"/>
              </a:lnSpc>
            </a:pPr>
            <a:r>
              <a:rPr lang="zh-CN" altLang="en-US" sz="2800" dirty="0"/>
              <a:t>注意：不同操作系统对大小写的敏感。 </a:t>
            </a:r>
          </a:p>
          <a:p>
            <a:pPr>
              <a:lnSpc>
                <a:spcPct val="150000"/>
              </a:lnSpc>
            </a:pPr>
            <a:r>
              <a:rPr lang="en-US" altLang="zh-CN" sz="2800" dirty="0"/>
              <a:t>3</a:t>
            </a:r>
            <a:r>
              <a:rPr lang="zh-CN" altLang="en-US" sz="2800" dirty="0"/>
              <a:t>、选择数据库 </a:t>
            </a:r>
          </a:p>
          <a:p>
            <a:pPr lvl="1">
              <a:lnSpc>
                <a:spcPct val="150000"/>
              </a:lnSpc>
              <a:buFontTx/>
              <a:buNone/>
            </a:pPr>
            <a:r>
              <a:rPr lang="en-US" altLang="zh-CN" sz="2400" dirty="0" err="1"/>
              <a:t>mysql</a:t>
            </a:r>
            <a:r>
              <a:rPr lang="en-US" altLang="zh-CN" sz="2400" dirty="0"/>
              <a:t>&gt; USE college;</a:t>
            </a:r>
          </a:p>
          <a:p>
            <a:pPr lvl="1">
              <a:lnSpc>
                <a:spcPct val="150000"/>
              </a:lnSpc>
            </a:pPr>
            <a:r>
              <a:rPr lang="zh-CN" altLang="en-US" sz="2400" dirty="0"/>
              <a:t>此时你已经进入你刚才所建立的数据库</a:t>
            </a:r>
            <a:r>
              <a:rPr lang="en-US" altLang="zh-CN" sz="2400" dirty="0"/>
              <a:t>college. </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67408" y="54148"/>
            <a:ext cx="4762056"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sz="4000" b="1" dirty="0">
                <a:solidFill>
                  <a:srgbClr val="FFFFCC"/>
                </a:solidFill>
                <a:effectLst>
                  <a:outerShdw blurRad="38100" dist="38100" dir="2700000" algn="tl">
                    <a:srgbClr val="000000"/>
                  </a:outerShdw>
                </a:effectLst>
                <a:cs typeface="+mn-cs"/>
              </a:rPr>
              <a:t>数据库的定义与删除</a:t>
            </a:r>
          </a:p>
        </p:txBody>
      </p:sp>
      <p:sp>
        <p:nvSpPr>
          <p:cNvPr id="10" name="Rectangle 3"/>
          <p:cNvSpPr txBox="1">
            <a:spLocks noChangeArrowheads="1"/>
          </p:cNvSpPr>
          <p:nvPr/>
        </p:nvSpPr>
        <p:spPr bwMode="auto">
          <a:xfrm>
            <a:off x="564027" y="2328256"/>
            <a:ext cx="11063946" cy="1244760"/>
          </a:xfrm>
          <a:prstGeom prst="roundRect">
            <a:avLst/>
          </a:prstGeom>
          <a:solidFill>
            <a:schemeClr val="tx2">
              <a:lumMod val="50000"/>
            </a:schemeClr>
          </a:solidFill>
          <a:ln>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lnSpc>
                <a:spcPct val="110000"/>
              </a:lnSpc>
              <a:spcAft>
                <a:spcPct val="0"/>
              </a:spcAft>
              <a:buNone/>
              <a:defRPr/>
            </a:pPr>
            <a:r>
              <a:rPr lang="en-US" altLang="zh-CN" sz="5400" b="1" kern="0" dirty="0">
                <a:solidFill>
                  <a:srgbClr val="FFFF00"/>
                </a:solidFill>
                <a:latin typeface="Arial" charset="0"/>
              </a:rPr>
              <a:t>CREATE  DATABASE</a:t>
            </a:r>
            <a:r>
              <a:rPr lang="en-US" altLang="zh-CN" sz="5400" kern="0" dirty="0">
                <a:latin typeface="Arial" charset="0"/>
              </a:rPr>
              <a:t>  </a:t>
            </a:r>
            <a:r>
              <a:rPr lang="en-US" altLang="zh-CN" sz="4800" b="1" kern="0" dirty="0">
                <a:solidFill>
                  <a:srgbClr val="FFCC00"/>
                </a:solidFill>
                <a:latin typeface="Arial" charset="0"/>
              </a:rPr>
              <a:t>&lt;</a:t>
            </a:r>
            <a:r>
              <a:rPr lang="zh-CN" altLang="en-US" sz="4800" b="1" i="1" kern="0" dirty="0">
                <a:solidFill>
                  <a:srgbClr val="FFCC00"/>
                </a:solidFill>
                <a:latin typeface="Arial" charset="0"/>
              </a:rPr>
              <a:t>数据库名</a:t>
            </a:r>
            <a:r>
              <a:rPr lang="en-US" altLang="zh-CN" sz="4800" b="1" kern="0" dirty="0">
                <a:solidFill>
                  <a:srgbClr val="FFCC00"/>
                </a:solidFill>
                <a:latin typeface="Arial" charset="0"/>
              </a:rPr>
              <a:t>&gt;</a:t>
            </a:r>
            <a:r>
              <a:rPr lang="zh-CN" altLang="en-US" sz="4800" kern="0" dirty="0">
                <a:solidFill>
                  <a:srgbClr val="FFCC00"/>
                </a:solidFill>
                <a:latin typeface="Arial" charset="0"/>
              </a:rPr>
              <a:t>；</a:t>
            </a:r>
            <a:r>
              <a:rPr lang="en-US" altLang="zh-CN" sz="4800" kern="0" dirty="0">
                <a:solidFill>
                  <a:srgbClr val="FFCC00"/>
                </a:solidFill>
                <a:latin typeface="Arial" charset="0"/>
              </a:rPr>
              <a:t> </a:t>
            </a:r>
            <a:endParaRPr lang="zh-CN" altLang="en-US" sz="5400" kern="0" dirty="0">
              <a:solidFill>
                <a:schemeClr val="tx2">
                  <a:lumMod val="20000"/>
                  <a:lumOff val="80000"/>
                </a:schemeClr>
              </a:solidFill>
              <a:latin typeface="Arial" charset="0"/>
            </a:endParaRPr>
          </a:p>
        </p:txBody>
      </p:sp>
      <p:sp>
        <p:nvSpPr>
          <p:cNvPr id="12" name="Rectangle 2"/>
          <p:cNvSpPr txBox="1">
            <a:spLocks noChangeArrowheads="1"/>
          </p:cNvSpPr>
          <p:nvPr/>
        </p:nvSpPr>
        <p:spPr bwMode="auto">
          <a:xfrm>
            <a:off x="738874" y="1065212"/>
            <a:ext cx="3982180" cy="830997"/>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3200">
                <a:solidFill>
                  <a:srgbClr val="FF9900"/>
                </a:solidFill>
                <a:effectLst>
                  <a:outerShdw blurRad="38100" dist="38100" dir="2700000" algn="tl">
                    <a:srgbClr val="000000"/>
                  </a:outerShdw>
                </a:effectLst>
                <a:latin typeface="Arial" pitchFamily="34" charset="0"/>
                <a:ea typeface="微软雅黑" pitchFamily="34" charset="-122"/>
                <a:cs typeface="+mj-cs"/>
              </a:defRPr>
            </a:lvl1pPr>
            <a:lvl2pPr algn="l" rtl="0" eaLnBrk="0" fontAlgn="base" hangingPunct="0">
              <a:spcBef>
                <a:spcPct val="0"/>
              </a:spcBef>
              <a:spcAft>
                <a:spcPct val="0"/>
              </a:spcAft>
              <a:defRPr sz="3200">
                <a:solidFill>
                  <a:srgbClr val="FF9900"/>
                </a:solidFill>
                <a:effectLst>
                  <a:outerShdw blurRad="38100" dist="38100" dir="2700000" algn="tl">
                    <a:srgbClr val="000000"/>
                  </a:outerShdw>
                </a:effectLst>
                <a:latin typeface="方正姚体" pitchFamily="2" charset="-122"/>
                <a:ea typeface="方正姚体" pitchFamily="2" charset="-122"/>
              </a:defRPr>
            </a:lvl2pPr>
            <a:lvl3pPr algn="l" rtl="0" eaLnBrk="0" fontAlgn="base" hangingPunct="0">
              <a:spcBef>
                <a:spcPct val="0"/>
              </a:spcBef>
              <a:spcAft>
                <a:spcPct val="0"/>
              </a:spcAft>
              <a:defRPr sz="3200">
                <a:solidFill>
                  <a:srgbClr val="FF9900"/>
                </a:solidFill>
                <a:effectLst>
                  <a:outerShdw blurRad="38100" dist="38100" dir="2700000" algn="tl">
                    <a:srgbClr val="000000"/>
                  </a:outerShdw>
                </a:effectLst>
                <a:latin typeface="方正姚体" pitchFamily="2" charset="-122"/>
                <a:ea typeface="方正姚体" pitchFamily="2" charset="-122"/>
              </a:defRPr>
            </a:lvl3pPr>
            <a:lvl4pPr algn="l" rtl="0" eaLnBrk="0" fontAlgn="base" hangingPunct="0">
              <a:spcBef>
                <a:spcPct val="0"/>
              </a:spcBef>
              <a:spcAft>
                <a:spcPct val="0"/>
              </a:spcAft>
              <a:defRPr sz="3200">
                <a:solidFill>
                  <a:srgbClr val="FF9900"/>
                </a:solidFill>
                <a:effectLst>
                  <a:outerShdw blurRad="38100" dist="38100" dir="2700000" algn="tl">
                    <a:srgbClr val="000000"/>
                  </a:outerShdw>
                </a:effectLst>
                <a:latin typeface="方正姚体" pitchFamily="2" charset="-122"/>
                <a:ea typeface="方正姚体" pitchFamily="2" charset="-122"/>
              </a:defRPr>
            </a:lvl4pPr>
            <a:lvl5pPr algn="l" rtl="0" eaLnBrk="0" fontAlgn="base" hangingPunct="0">
              <a:spcBef>
                <a:spcPct val="0"/>
              </a:spcBef>
              <a:spcAft>
                <a:spcPct val="0"/>
              </a:spcAft>
              <a:defRPr sz="3200">
                <a:solidFill>
                  <a:srgbClr val="FF9900"/>
                </a:solidFill>
                <a:effectLst>
                  <a:outerShdw blurRad="38100" dist="38100" dir="2700000" algn="tl">
                    <a:srgbClr val="000000"/>
                  </a:outerShdw>
                </a:effectLst>
                <a:latin typeface="方正姚体" pitchFamily="2" charset="-122"/>
                <a:ea typeface="方正姚体" pitchFamily="2" charset="-122"/>
              </a:defRPr>
            </a:lvl5pPr>
            <a:lvl6pPr marL="457200" algn="l" rtl="0" fontAlgn="base">
              <a:spcBef>
                <a:spcPct val="0"/>
              </a:spcBef>
              <a:spcAft>
                <a:spcPct val="0"/>
              </a:spcAft>
              <a:defRPr sz="3200">
                <a:solidFill>
                  <a:srgbClr val="FF9900"/>
                </a:solidFill>
                <a:effectLst>
                  <a:outerShdw blurRad="38100" dist="38100" dir="2700000" algn="tl">
                    <a:srgbClr val="000000"/>
                  </a:outerShdw>
                </a:effectLst>
                <a:latin typeface="方正姚体" pitchFamily="2" charset="-122"/>
                <a:ea typeface="方正姚体" pitchFamily="2" charset="-122"/>
              </a:defRPr>
            </a:lvl6pPr>
            <a:lvl7pPr marL="914400" algn="l" rtl="0" fontAlgn="base">
              <a:spcBef>
                <a:spcPct val="0"/>
              </a:spcBef>
              <a:spcAft>
                <a:spcPct val="0"/>
              </a:spcAft>
              <a:defRPr sz="3200">
                <a:solidFill>
                  <a:srgbClr val="FF9900"/>
                </a:solidFill>
                <a:effectLst>
                  <a:outerShdw blurRad="38100" dist="38100" dir="2700000" algn="tl">
                    <a:srgbClr val="000000"/>
                  </a:outerShdw>
                </a:effectLst>
                <a:latin typeface="方正姚体" pitchFamily="2" charset="-122"/>
                <a:ea typeface="方正姚体" pitchFamily="2" charset="-122"/>
              </a:defRPr>
            </a:lvl7pPr>
            <a:lvl8pPr marL="1371600" algn="l" rtl="0" fontAlgn="base">
              <a:spcBef>
                <a:spcPct val="0"/>
              </a:spcBef>
              <a:spcAft>
                <a:spcPct val="0"/>
              </a:spcAft>
              <a:defRPr sz="3200">
                <a:solidFill>
                  <a:srgbClr val="FF9900"/>
                </a:solidFill>
                <a:effectLst>
                  <a:outerShdw blurRad="38100" dist="38100" dir="2700000" algn="tl">
                    <a:srgbClr val="000000"/>
                  </a:outerShdw>
                </a:effectLst>
                <a:latin typeface="方正姚体" pitchFamily="2" charset="-122"/>
                <a:ea typeface="方正姚体" pitchFamily="2" charset="-122"/>
              </a:defRPr>
            </a:lvl8pPr>
            <a:lvl9pPr marL="1828800" algn="l" rtl="0" fontAlgn="base">
              <a:spcBef>
                <a:spcPct val="0"/>
              </a:spcBef>
              <a:spcAft>
                <a:spcPct val="0"/>
              </a:spcAft>
              <a:defRPr sz="3200">
                <a:solidFill>
                  <a:srgbClr val="FF9900"/>
                </a:solidFill>
                <a:effectLst>
                  <a:outerShdw blurRad="38100" dist="38100" dir="2700000" algn="tl">
                    <a:srgbClr val="000000"/>
                  </a:outerShdw>
                </a:effectLst>
                <a:latin typeface="方正姚体" pitchFamily="2" charset="-122"/>
                <a:ea typeface="方正姚体" pitchFamily="2" charset="-122"/>
              </a:defRPr>
            </a:lvl9pPr>
          </a:lstStyle>
          <a:p>
            <a:pPr eaLnBrk="1" hangingPunct="1">
              <a:buFont typeface="Wingdings" pitchFamily="2" charset="2"/>
              <a:buChar char="¯"/>
              <a:defRPr/>
            </a:pPr>
            <a:r>
              <a:rPr lang="zh-CN" altLang="en-US" sz="4800" kern="0" dirty="0">
                <a:effectLst/>
              </a:rPr>
              <a:t> 定义数据库</a:t>
            </a:r>
          </a:p>
        </p:txBody>
      </p:sp>
      <p:sp>
        <p:nvSpPr>
          <p:cNvPr id="19" name="Rectangle 4"/>
          <p:cNvSpPr>
            <a:spLocks noChangeArrowheads="1"/>
          </p:cNvSpPr>
          <p:nvPr/>
        </p:nvSpPr>
        <p:spPr bwMode="auto">
          <a:xfrm>
            <a:off x="1343472" y="4005063"/>
            <a:ext cx="9854800" cy="1222772"/>
          </a:xfrm>
          <a:prstGeom prst="rect">
            <a:avLst/>
          </a:prstGeom>
          <a:noFill/>
          <a:ln w="9525">
            <a:noFill/>
            <a:miter lim="800000"/>
            <a:headEnd/>
            <a:tailEnd/>
          </a:ln>
          <a:effectLst/>
        </p:spPr>
        <p:txBody>
          <a:bodyPr/>
          <a:lstStyle/>
          <a:p>
            <a:pPr>
              <a:spcAft>
                <a:spcPct val="15000"/>
              </a:spcAft>
              <a:buClr>
                <a:srgbClr val="66FF33"/>
              </a:buClr>
              <a:buSzPct val="85000"/>
              <a:defRPr/>
            </a:pPr>
            <a:r>
              <a:rPr lang="zh-CN" altLang="en-US" sz="4800" kern="0" dirty="0">
                <a:solidFill>
                  <a:srgbClr val="CCFFCC"/>
                </a:solidFill>
                <a:effectLst>
                  <a:outerShdw blurRad="38100" dist="38100" dir="2700000" algn="tl">
                    <a:srgbClr val="000000"/>
                  </a:outerShdw>
                </a:effectLst>
                <a:latin typeface="Times New Roman" pitchFamily="18" charset="0"/>
              </a:rPr>
              <a:t>例如命令：</a:t>
            </a:r>
            <a:endParaRPr lang="en-US" altLang="zh-CN" sz="4800" kern="0" dirty="0">
              <a:solidFill>
                <a:srgbClr val="CCFFCC"/>
              </a:solidFill>
              <a:effectLst>
                <a:outerShdw blurRad="38100" dist="38100" dir="2700000" algn="tl">
                  <a:srgbClr val="000000"/>
                </a:outerShdw>
              </a:effectLst>
              <a:latin typeface="Times New Roman" pitchFamily="18" charset="0"/>
            </a:endParaRPr>
          </a:p>
          <a:p>
            <a:pPr>
              <a:spcAft>
                <a:spcPct val="15000"/>
              </a:spcAft>
              <a:buClr>
                <a:srgbClr val="66FF33"/>
              </a:buClr>
              <a:buSzPct val="85000"/>
              <a:defRPr/>
            </a:pPr>
            <a:r>
              <a:rPr lang="en-US" altLang="zh-CN" sz="5400" b="1" kern="0" dirty="0">
                <a:solidFill>
                  <a:srgbClr val="92D050"/>
                </a:solidFill>
                <a:effectLst>
                  <a:outerShdw blurRad="38100" dist="38100" dir="2700000" algn="tl">
                    <a:srgbClr val="000000"/>
                  </a:outerShdw>
                </a:effectLst>
                <a:latin typeface="Arial" pitchFamily="34" charset="0"/>
                <a:cs typeface="Arial" pitchFamily="34" charset="0"/>
              </a:rPr>
              <a:t>Create  Database  tickets</a:t>
            </a:r>
            <a:r>
              <a:rPr lang="zh-CN" altLang="en-US" sz="5400" b="1" kern="0" dirty="0">
                <a:solidFill>
                  <a:srgbClr val="92D050"/>
                </a:solidFill>
                <a:effectLst>
                  <a:outerShdw blurRad="38100" dist="38100" dir="2700000" algn="tl">
                    <a:srgbClr val="000000"/>
                  </a:outerShdw>
                </a:effectLst>
                <a:latin typeface="Arial" pitchFamily="34" charset="0"/>
                <a:cs typeface="Arial" pitchFamily="34" charset="0"/>
              </a:rPr>
              <a:t>；</a:t>
            </a:r>
            <a:r>
              <a:rPr lang="en-US" altLang="zh-CN" sz="5400" b="1" kern="0" dirty="0">
                <a:solidFill>
                  <a:srgbClr val="CCFFCC"/>
                </a:solidFill>
                <a:effectLst>
                  <a:outerShdw blurRad="38100" dist="38100" dir="2700000" algn="tl">
                    <a:srgbClr val="000000"/>
                  </a:outerShdw>
                </a:effectLst>
                <a:latin typeface="Arial" pitchFamily="34" charset="0"/>
                <a:cs typeface="Arial" pitchFamily="34" charset="0"/>
              </a:rPr>
              <a:t> </a:t>
            </a:r>
          </a:p>
          <a:p>
            <a:pPr>
              <a:spcAft>
                <a:spcPct val="15000"/>
              </a:spcAft>
              <a:buClr>
                <a:srgbClr val="66FF33"/>
              </a:buClr>
              <a:buSzPct val="85000"/>
              <a:defRPr/>
            </a:pPr>
            <a:r>
              <a:rPr lang="zh-CN" altLang="en-US" sz="4800" kern="0" dirty="0">
                <a:solidFill>
                  <a:srgbClr val="CCFFCC"/>
                </a:solidFill>
                <a:effectLst>
                  <a:outerShdw blurRad="38100" dist="38100" dir="2700000" algn="tl">
                    <a:srgbClr val="000000"/>
                  </a:outerShdw>
                </a:effectLst>
                <a:latin typeface="Times New Roman" pitchFamily="18" charset="0"/>
              </a:rPr>
              <a:t>可建立一个名为“</a:t>
            </a:r>
            <a:r>
              <a:rPr lang="en-US" altLang="zh-CN" sz="4800" kern="0" dirty="0">
                <a:solidFill>
                  <a:srgbClr val="CCFFCC"/>
                </a:solidFill>
                <a:effectLst>
                  <a:outerShdw blurRad="38100" dist="38100" dir="2700000" algn="tl">
                    <a:srgbClr val="000000"/>
                  </a:outerShdw>
                </a:effectLst>
                <a:latin typeface="Times New Roman" pitchFamily="18" charset="0"/>
              </a:rPr>
              <a:t>tickets</a:t>
            </a:r>
            <a:r>
              <a:rPr lang="zh-CN" altLang="en-US" sz="4800" kern="0" dirty="0">
                <a:solidFill>
                  <a:srgbClr val="CCFFCC"/>
                </a:solidFill>
                <a:effectLst>
                  <a:outerShdw blurRad="38100" dist="38100" dir="2700000" algn="tl">
                    <a:srgbClr val="000000"/>
                  </a:outerShdw>
                </a:effectLst>
                <a:latin typeface="Times New Roman" pitchFamily="18" charset="0"/>
              </a:rPr>
              <a:t>”的数据库</a:t>
            </a:r>
            <a:endParaRPr lang="en-US" altLang="zh-CN" sz="4800" kern="0" dirty="0">
              <a:solidFill>
                <a:srgbClr val="CCFFCC"/>
              </a:solidFill>
              <a:effectLst>
                <a:outerShdw blurRad="38100" dist="38100" dir="2700000" algn="tl">
                  <a:srgbClr val="000000"/>
                </a:outerShdw>
              </a:effectLst>
              <a:latin typeface="Times New Roman" pitchFamily="18" charset="0"/>
            </a:endParaRPr>
          </a:p>
        </p:txBody>
      </p:sp>
    </p:spTree>
    <p:extLst>
      <p:ext uri="{BB962C8B-B14F-4D97-AF65-F5344CB8AC3E}">
        <p14:creationId xmlns:p14="http://schemas.microsoft.com/office/powerpoint/2010/main" val="290540237"/>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67408" y="54148"/>
            <a:ext cx="4762056"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sz="4000" b="1" dirty="0">
                <a:solidFill>
                  <a:srgbClr val="FFFFCC"/>
                </a:solidFill>
                <a:effectLst>
                  <a:outerShdw blurRad="38100" dist="38100" dir="2700000" algn="tl">
                    <a:srgbClr val="000000"/>
                  </a:outerShdw>
                </a:effectLst>
                <a:cs typeface="+mn-cs"/>
              </a:rPr>
              <a:t>数据库的定义与删除</a:t>
            </a:r>
          </a:p>
        </p:txBody>
      </p:sp>
      <p:sp>
        <p:nvSpPr>
          <p:cNvPr id="20" name="Rectangle 3"/>
          <p:cNvSpPr txBox="1">
            <a:spLocks noChangeArrowheads="1"/>
          </p:cNvSpPr>
          <p:nvPr/>
        </p:nvSpPr>
        <p:spPr bwMode="auto">
          <a:xfrm>
            <a:off x="875420" y="2564904"/>
            <a:ext cx="10621180" cy="1290753"/>
          </a:xfrm>
          <a:prstGeom prst="roundRect">
            <a:avLst/>
          </a:prstGeom>
          <a:solidFill>
            <a:schemeClr val="tx2">
              <a:lumMod val="50000"/>
            </a:schemeClr>
          </a:solidFill>
          <a:ln>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bodyPr>
          <a:lstStyle>
            <a:defPPr>
              <a:defRPr lang="zh-CN"/>
            </a:defPPr>
            <a:lvl1pPr marL="342900" indent="-342900" fontAlgn="base">
              <a:lnSpc>
                <a:spcPct val="110000"/>
              </a:lnSpc>
              <a:spcBef>
                <a:spcPct val="0"/>
              </a:spcBef>
              <a:spcAft>
                <a:spcPct val="0"/>
              </a:spcAft>
              <a:buClr>
                <a:srgbClr val="66FF33"/>
              </a:buClr>
              <a:buSzPct val="85000"/>
              <a:buFont typeface="Wingdings" pitchFamily="2" charset="2"/>
              <a:buNone/>
              <a:defRPr sz="4800" b="1" kern="0">
                <a:solidFill>
                  <a:srgbClr val="FFFF00"/>
                </a:solidFill>
                <a:effectLst>
                  <a:outerShdw blurRad="38100" dist="38100" dir="2700000" algn="tl">
                    <a:srgbClr val="000000"/>
                  </a:outerShdw>
                </a:effectLst>
                <a:latin typeface="Arial" charset="0"/>
                <a:ea typeface="微软雅黑" pitchFamily="34" charset="-122"/>
              </a:defRPr>
            </a:lvl1pPr>
            <a:lvl2pPr marL="742950" indent="-28575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defRPr>
            </a:lvl6pPr>
            <a:lvl7pPr marL="2971800" indent="-22860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defRPr>
            </a:lvl7pPr>
            <a:lvl8pPr marL="3429000" indent="-22860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defRPr>
            </a:lvl8pPr>
            <a:lvl9pPr marL="3886200" indent="-22860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defRPr>
            </a:lvl9pPr>
          </a:lstStyle>
          <a:p>
            <a:r>
              <a:rPr lang="en-US" altLang="zh-CN" sz="5400" dirty="0"/>
              <a:t>DROP  DATABASE  </a:t>
            </a:r>
            <a:r>
              <a:rPr lang="en-US" altLang="zh-CN" i="1" dirty="0">
                <a:solidFill>
                  <a:srgbClr val="FFCC00"/>
                </a:solidFill>
              </a:rPr>
              <a:t>&lt;</a:t>
            </a:r>
            <a:r>
              <a:rPr lang="zh-CN" altLang="en-US" i="1" dirty="0">
                <a:solidFill>
                  <a:srgbClr val="FFCC00"/>
                </a:solidFill>
              </a:rPr>
              <a:t>数据库名</a:t>
            </a:r>
            <a:r>
              <a:rPr lang="en-US" altLang="zh-CN" i="1" dirty="0">
                <a:solidFill>
                  <a:srgbClr val="FFCC00"/>
                </a:solidFill>
              </a:rPr>
              <a:t>&gt;</a:t>
            </a:r>
            <a:r>
              <a:rPr lang="zh-CN" altLang="en-US" sz="5400" dirty="0"/>
              <a:t>；</a:t>
            </a:r>
          </a:p>
        </p:txBody>
      </p:sp>
      <p:sp>
        <p:nvSpPr>
          <p:cNvPr id="21" name="Rectangle 2"/>
          <p:cNvSpPr txBox="1">
            <a:spLocks noChangeArrowheads="1"/>
          </p:cNvSpPr>
          <p:nvPr/>
        </p:nvSpPr>
        <p:spPr bwMode="auto">
          <a:xfrm>
            <a:off x="623392" y="1093966"/>
            <a:ext cx="3982180" cy="830997"/>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3200">
                <a:solidFill>
                  <a:srgbClr val="FF9900"/>
                </a:solidFill>
                <a:effectLst>
                  <a:outerShdw blurRad="38100" dist="38100" dir="2700000" algn="tl">
                    <a:srgbClr val="000000"/>
                  </a:outerShdw>
                </a:effectLst>
                <a:latin typeface="Arial" pitchFamily="34" charset="0"/>
                <a:ea typeface="微软雅黑" pitchFamily="34" charset="-122"/>
                <a:cs typeface="+mj-cs"/>
              </a:defRPr>
            </a:lvl1pPr>
            <a:lvl2pPr algn="l" rtl="0" eaLnBrk="0" fontAlgn="base" hangingPunct="0">
              <a:spcBef>
                <a:spcPct val="0"/>
              </a:spcBef>
              <a:spcAft>
                <a:spcPct val="0"/>
              </a:spcAft>
              <a:defRPr sz="3200">
                <a:solidFill>
                  <a:srgbClr val="FF9900"/>
                </a:solidFill>
                <a:effectLst>
                  <a:outerShdw blurRad="38100" dist="38100" dir="2700000" algn="tl">
                    <a:srgbClr val="000000"/>
                  </a:outerShdw>
                </a:effectLst>
                <a:latin typeface="方正姚体" pitchFamily="2" charset="-122"/>
                <a:ea typeface="方正姚体" pitchFamily="2" charset="-122"/>
              </a:defRPr>
            </a:lvl2pPr>
            <a:lvl3pPr algn="l" rtl="0" eaLnBrk="0" fontAlgn="base" hangingPunct="0">
              <a:spcBef>
                <a:spcPct val="0"/>
              </a:spcBef>
              <a:spcAft>
                <a:spcPct val="0"/>
              </a:spcAft>
              <a:defRPr sz="3200">
                <a:solidFill>
                  <a:srgbClr val="FF9900"/>
                </a:solidFill>
                <a:effectLst>
                  <a:outerShdw blurRad="38100" dist="38100" dir="2700000" algn="tl">
                    <a:srgbClr val="000000"/>
                  </a:outerShdw>
                </a:effectLst>
                <a:latin typeface="方正姚体" pitchFamily="2" charset="-122"/>
                <a:ea typeface="方正姚体" pitchFamily="2" charset="-122"/>
              </a:defRPr>
            </a:lvl3pPr>
            <a:lvl4pPr algn="l" rtl="0" eaLnBrk="0" fontAlgn="base" hangingPunct="0">
              <a:spcBef>
                <a:spcPct val="0"/>
              </a:spcBef>
              <a:spcAft>
                <a:spcPct val="0"/>
              </a:spcAft>
              <a:defRPr sz="3200">
                <a:solidFill>
                  <a:srgbClr val="FF9900"/>
                </a:solidFill>
                <a:effectLst>
                  <a:outerShdw blurRad="38100" dist="38100" dir="2700000" algn="tl">
                    <a:srgbClr val="000000"/>
                  </a:outerShdw>
                </a:effectLst>
                <a:latin typeface="方正姚体" pitchFamily="2" charset="-122"/>
                <a:ea typeface="方正姚体" pitchFamily="2" charset="-122"/>
              </a:defRPr>
            </a:lvl4pPr>
            <a:lvl5pPr algn="l" rtl="0" eaLnBrk="0" fontAlgn="base" hangingPunct="0">
              <a:spcBef>
                <a:spcPct val="0"/>
              </a:spcBef>
              <a:spcAft>
                <a:spcPct val="0"/>
              </a:spcAft>
              <a:defRPr sz="3200">
                <a:solidFill>
                  <a:srgbClr val="FF9900"/>
                </a:solidFill>
                <a:effectLst>
                  <a:outerShdw blurRad="38100" dist="38100" dir="2700000" algn="tl">
                    <a:srgbClr val="000000"/>
                  </a:outerShdw>
                </a:effectLst>
                <a:latin typeface="方正姚体" pitchFamily="2" charset="-122"/>
                <a:ea typeface="方正姚体" pitchFamily="2" charset="-122"/>
              </a:defRPr>
            </a:lvl5pPr>
            <a:lvl6pPr marL="457200" algn="l" rtl="0" fontAlgn="base">
              <a:spcBef>
                <a:spcPct val="0"/>
              </a:spcBef>
              <a:spcAft>
                <a:spcPct val="0"/>
              </a:spcAft>
              <a:defRPr sz="3200">
                <a:solidFill>
                  <a:srgbClr val="FF9900"/>
                </a:solidFill>
                <a:effectLst>
                  <a:outerShdw blurRad="38100" dist="38100" dir="2700000" algn="tl">
                    <a:srgbClr val="000000"/>
                  </a:outerShdw>
                </a:effectLst>
                <a:latin typeface="方正姚体" pitchFamily="2" charset="-122"/>
                <a:ea typeface="方正姚体" pitchFamily="2" charset="-122"/>
              </a:defRPr>
            </a:lvl6pPr>
            <a:lvl7pPr marL="914400" algn="l" rtl="0" fontAlgn="base">
              <a:spcBef>
                <a:spcPct val="0"/>
              </a:spcBef>
              <a:spcAft>
                <a:spcPct val="0"/>
              </a:spcAft>
              <a:defRPr sz="3200">
                <a:solidFill>
                  <a:srgbClr val="FF9900"/>
                </a:solidFill>
                <a:effectLst>
                  <a:outerShdw blurRad="38100" dist="38100" dir="2700000" algn="tl">
                    <a:srgbClr val="000000"/>
                  </a:outerShdw>
                </a:effectLst>
                <a:latin typeface="方正姚体" pitchFamily="2" charset="-122"/>
                <a:ea typeface="方正姚体" pitchFamily="2" charset="-122"/>
              </a:defRPr>
            </a:lvl7pPr>
            <a:lvl8pPr marL="1371600" algn="l" rtl="0" fontAlgn="base">
              <a:spcBef>
                <a:spcPct val="0"/>
              </a:spcBef>
              <a:spcAft>
                <a:spcPct val="0"/>
              </a:spcAft>
              <a:defRPr sz="3200">
                <a:solidFill>
                  <a:srgbClr val="FF9900"/>
                </a:solidFill>
                <a:effectLst>
                  <a:outerShdw blurRad="38100" dist="38100" dir="2700000" algn="tl">
                    <a:srgbClr val="000000"/>
                  </a:outerShdw>
                </a:effectLst>
                <a:latin typeface="方正姚体" pitchFamily="2" charset="-122"/>
                <a:ea typeface="方正姚体" pitchFamily="2" charset="-122"/>
              </a:defRPr>
            </a:lvl8pPr>
            <a:lvl9pPr marL="1828800" algn="l" rtl="0" fontAlgn="base">
              <a:spcBef>
                <a:spcPct val="0"/>
              </a:spcBef>
              <a:spcAft>
                <a:spcPct val="0"/>
              </a:spcAft>
              <a:defRPr sz="3200">
                <a:solidFill>
                  <a:srgbClr val="FF9900"/>
                </a:solidFill>
                <a:effectLst>
                  <a:outerShdw blurRad="38100" dist="38100" dir="2700000" algn="tl">
                    <a:srgbClr val="000000"/>
                  </a:outerShdw>
                </a:effectLst>
                <a:latin typeface="方正姚体" pitchFamily="2" charset="-122"/>
                <a:ea typeface="方正姚体" pitchFamily="2" charset="-122"/>
              </a:defRPr>
            </a:lvl9pPr>
          </a:lstStyle>
          <a:p>
            <a:pPr eaLnBrk="1" hangingPunct="1">
              <a:buFont typeface="Wingdings" pitchFamily="2" charset="2"/>
              <a:buChar char="¯"/>
              <a:defRPr/>
            </a:pPr>
            <a:r>
              <a:rPr lang="zh-CN" altLang="en-US" sz="4800" kern="0" dirty="0">
                <a:effectLst/>
              </a:rPr>
              <a:t> 删除数据库</a:t>
            </a:r>
          </a:p>
        </p:txBody>
      </p:sp>
      <p:sp>
        <p:nvSpPr>
          <p:cNvPr id="22" name="Rectangle 4"/>
          <p:cNvSpPr>
            <a:spLocks noChangeArrowheads="1"/>
          </p:cNvSpPr>
          <p:nvPr/>
        </p:nvSpPr>
        <p:spPr bwMode="auto">
          <a:xfrm>
            <a:off x="1163452" y="4653136"/>
            <a:ext cx="10153128" cy="502692"/>
          </a:xfrm>
          <a:prstGeom prst="rect">
            <a:avLst/>
          </a:prstGeom>
          <a:noFill/>
          <a:ln w="9525">
            <a:noFill/>
            <a:miter lim="800000"/>
            <a:headEnd/>
            <a:tailEnd/>
          </a:ln>
          <a:effectLst/>
        </p:spPr>
        <p:txBody>
          <a:bodyPr/>
          <a:lstStyle/>
          <a:p>
            <a:pPr>
              <a:spcAft>
                <a:spcPct val="15000"/>
              </a:spcAft>
              <a:buClr>
                <a:srgbClr val="66FF33"/>
              </a:buClr>
              <a:buSzPct val="85000"/>
              <a:defRPr/>
            </a:pPr>
            <a:r>
              <a:rPr lang="zh-CN" altLang="en-US" sz="5400" kern="0" dirty="0">
                <a:solidFill>
                  <a:srgbClr val="CCFFCC"/>
                </a:solidFill>
                <a:effectLst>
                  <a:outerShdw blurRad="38100" dist="38100" dir="2700000" algn="tl">
                    <a:srgbClr val="000000"/>
                  </a:outerShdw>
                </a:effectLst>
                <a:latin typeface="Times New Roman" pitchFamily="18" charset="0"/>
              </a:rPr>
              <a:t>例如：</a:t>
            </a:r>
            <a:r>
              <a:rPr lang="en-US" altLang="zh-CN" sz="5400" b="1" kern="0" dirty="0">
                <a:solidFill>
                  <a:srgbClr val="92D050"/>
                </a:solidFill>
                <a:effectLst>
                  <a:outerShdw blurRad="38100" dist="38100" dir="2700000" algn="tl">
                    <a:srgbClr val="000000"/>
                  </a:outerShdw>
                </a:effectLst>
                <a:latin typeface="Arial" pitchFamily="34" charset="0"/>
                <a:cs typeface="Arial" pitchFamily="34" charset="0"/>
              </a:rPr>
              <a:t>Drop  Database  tickets</a:t>
            </a:r>
            <a:r>
              <a:rPr lang="zh-CN" altLang="en-US" sz="5400" b="1" kern="0" dirty="0">
                <a:solidFill>
                  <a:srgbClr val="92D050"/>
                </a:solidFill>
                <a:effectLst>
                  <a:outerShdw blurRad="38100" dist="38100" dir="2700000" algn="tl">
                    <a:srgbClr val="000000"/>
                  </a:outerShdw>
                </a:effectLst>
                <a:latin typeface="Arial" pitchFamily="34" charset="0"/>
                <a:cs typeface="Arial" pitchFamily="34" charset="0"/>
              </a:rPr>
              <a:t>；</a:t>
            </a:r>
            <a:endParaRPr lang="en-US" altLang="zh-CN" sz="5400" b="1" kern="0" dirty="0">
              <a:solidFill>
                <a:srgbClr val="92D050"/>
              </a:solidFill>
              <a:effectLst>
                <a:outerShdw blurRad="38100" dist="38100" dir="2700000" algn="tl">
                  <a:srgbClr val="000000"/>
                </a:outerShdw>
              </a:effectLst>
              <a:latin typeface="Arial" pitchFamily="34" charset="0"/>
              <a:cs typeface="Arial" pitchFamily="34" charset="0"/>
            </a:endParaRPr>
          </a:p>
          <a:p>
            <a:pPr>
              <a:spcAft>
                <a:spcPct val="15000"/>
              </a:spcAft>
              <a:buClr>
                <a:srgbClr val="66FF33"/>
              </a:buClr>
              <a:buSzPct val="85000"/>
              <a:defRPr/>
            </a:pPr>
            <a:r>
              <a:rPr lang="zh-CN" altLang="en-US" sz="5400" kern="0" dirty="0">
                <a:solidFill>
                  <a:srgbClr val="CCFFCC"/>
                </a:solidFill>
                <a:effectLst>
                  <a:outerShdw blurRad="38100" dist="38100" dir="2700000" algn="tl">
                    <a:srgbClr val="000000"/>
                  </a:outerShdw>
                </a:effectLst>
                <a:latin typeface="Times New Roman" pitchFamily="18" charset="0"/>
              </a:rPr>
              <a:t>将名为“</a:t>
            </a:r>
            <a:r>
              <a:rPr lang="en-US" altLang="zh-CN" sz="5400" kern="0" dirty="0">
                <a:solidFill>
                  <a:srgbClr val="CCFFCC"/>
                </a:solidFill>
                <a:effectLst>
                  <a:outerShdw blurRad="38100" dist="38100" dir="2700000" algn="tl">
                    <a:srgbClr val="000000"/>
                  </a:outerShdw>
                </a:effectLst>
                <a:latin typeface="Times New Roman" pitchFamily="18" charset="0"/>
              </a:rPr>
              <a:t>tickets</a:t>
            </a:r>
            <a:r>
              <a:rPr lang="zh-CN" altLang="en-US" sz="5400" kern="0" dirty="0">
                <a:solidFill>
                  <a:srgbClr val="CCFFCC"/>
                </a:solidFill>
                <a:effectLst>
                  <a:outerShdw blurRad="38100" dist="38100" dir="2700000" algn="tl">
                    <a:srgbClr val="000000"/>
                  </a:outerShdw>
                </a:effectLst>
                <a:latin typeface="Times New Roman" pitchFamily="18" charset="0"/>
              </a:rPr>
              <a:t>”的数据库删除</a:t>
            </a:r>
            <a:endParaRPr lang="en-US" altLang="zh-CN" sz="5400" kern="0" dirty="0">
              <a:solidFill>
                <a:srgbClr val="CCFFCC"/>
              </a:solidFill>
              <a:effectLst>
                <a:outerShdw blurRad="38100" dist="38100" dir="2700000" algn="tl">
                  <a:srgbClr val="000000"/>
                </a:outerShdw>
              </a:effectLst>
              <a:latin typeface="Times New Roman" pitchFamily="18" charset="0"/>
            </a:endParaRPr>
          </a:p>
        </p:txBody>
      </p:sp>
    </p:spTree>
    <p:extLst>
      <p:ext uri="{BB962C8B-B14F-4D97-AF65-F5344CB8AC3E}">
        <p14:creationId xmlns:p14="http://schemas.microsoft.com/office/powerpoint/2010/main" val="2922931076"/>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3D22EC0B-B0DE-49A0-BBED-7EC9E4DAA819}"/>
              </a:ext>
            </a:extLst>
          </p:cNvPr>
          <p:cNvPicPr>
            <a:picLocks noChangeAspect="1"/>
          </p:cNvPicPr>
          <p:nvPr/>
        </p:nvPicPr>
        <p:blipFill>
          <a:blip r:embed="rId4"/>
          <a:stretch>
            <a:fillRect/>
          </a:stretch>
        </p:blipFill>
        <p:spPr>
          <a:xfrm>
            <a:off x="610356" y="2514884"/>
            <a:ext cx="11174276" cy="3888158"/>
          </a:xfrm>
          <a:prstGeom prst="rect">
            <a:avLst/>
          </a:prstGeom>
          <a:ln w="38100" cap="sq">
            <a:solidFill>
              <a:schemeClr val="accent5">
                <a:lumMod val="50000"/>
              </a:schemeClr>
            </a:solidFill>
            <a:prstDash val="solid"/>
            <a:miter lim="800000"/>
          </a:ln>
          <a:effectLst>
            <a:outerShdw blurRad="50800" dist="38100" dir="2700000" algn="tl" rotWithShape="0">
              <a:srgbClr val="000000">
                <a:alpha val="43000"/>
              </a:srgbClr>
            </a:outerShdw>
          </a:effectLst>
        </p:spPr>
      </p:pic>
      <p:sp>
        <p:nvSpPr>
          <p:cNvPr id="5" name="Rectangle 2"/>
          <p:cNvSpPr>
            <a:spLocks noGrp="1" noChangeArrowheads="1"/>
          </p:cNvSpPr>
          <p:nvPr>
            <p:ph type="title"/>
          </p:nvPr>
        </p:nvSpPr>
        <p:spPr>
          <a:xfrm>
            <a:off x="767408" y="0"/>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sz="4000" b="1" dirty="0">
                <a:solidFill>
                  <a:srgbClr val="FFFFCC"/>
                </a:solidFill>
                <a:effectLst>
                  <a:outerShdw blurRad="38100" dist="38100" dir="2700000" algn="tl">
                    <a:srgbClr val="000000"/>
                  </a:outerShdw>
                </a:effectLst>
              </a:rPr>
              <a:t>定义基本表</a:t>
            </a:r>
            <a:endParaRPr lang="zh-CN" altLang="en-US" sz="4000" b="1" dirty="0">
              <a:solidFill>
                <a:srgbClr val="FFFFCC"/>
              </a:solidFill>
              <a:effectLst>
                <a:outerShdw blurRad="38100" dist="38100" dir="2700000" algn="tl">
                  <a:srgbClr val="000000"/>
                </a:outerShdw>
              </a:effectLst>
              <a:cs typeface="+mn-cs"/>
            </a:endParaRPr>
          </a:p>
        </p:txBody>
      </p:sp>
      <p:sp>
        <p:nvSpPr>
          <p:cNvPr id="30" name="Rectangle 3"/>
          <p:cNvSpPr txBox="1">
            <a:spLocks noChangeArrowheads="1"/>
          </p:cNvSpPr>
          <p:nvPr/>
        </p:nvSpPr>
        <p:spPr bwMode="auto">
          <a:xfrm>
            <a:off x="751709" y="836711"/>
            <a:ext cx="10777939" cy="1131473"/>
          </a:xfrm>
          <a:prstGeom prst="roundRect">
            <a:avLst>
              <a:gd name="adj" fmla="val 10888"/>
            </a:avLst>
          </a:prstGeom>
          <a:solidFill>
            <a:schemeClr val="bg2">
              <a:lumMod val="10000"/>
            </a:schemeClr>
          </a:solidFill>
          <a:ln w="28575">
            <a:solidFill>
              <a:schemeClr val="accent1"/>
            </a:solid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5"/>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lnSpc>
                <a:spcPct val="120000"/>
              </a:lnSpc>
              <a:spcAft>
                <a:spcPct val="0"/>
              </a:spcAft>
              <a:buNone/>
              <a:defRPr/>
            </a:pPr>
            <a:r>
              <a:rPr lang="en-US" altLang="zh-CN" sz="5400" b="1" kern="0" dirty="0">
                <a:solidFill>
                  <a:srgbClr val="FFFF00"/>
                </a:solidFill>
                <a:latin typeface="Arial" charset="0"/>
              </a:rPr>
              <a:t>CREATE  TABLE …… </a:t>
            </a:r>
            <a:r>
              <a:rPr lang="en-US" altLang="zh-CN" sz="5400" b="1" kern="0" dirty="0">
                <a:solidFill>
                  <a:srgbClr val="FFFF66"/>
                </a:solidFill>
                <a:latin typeface="Arial" charset="0"/>
              </a:rPr>
              <a:t>;</a:t>
            </a:r>
            <a:endParaRPr lang="zh-CN" altLang="en-US" sz="5400" kern="0" dirty="0">
              <a:solidFill>
                <a:srgbClr val="FFFF00"/>
              </a:solidFill>
              <a:latin typeface="Arial" charset="0"/>
            </a:endParaRPr>
          </a:p>
        </p:txBody>
      </p:sp>
      <p:sp>
        <p:nvSpPr>
          <p:cNvPr id="8" name="Rectangle 2">
            <a:extLst>
              <a:ext uri="{FF2B5EF4-FFF2-40B4-BE49-F238E27FC236}">
                <a16:creationId xmlns:a16="http://schemas.microsoft.com/office/drawing/2014/main" id="{BF25BDD9-5F22-49A3-8036-A9342C49AF53}"/>
              </a:ext>
            </a:extLst>
          </p:cNvPr>
          <p:cNvSpPr txBox="1">
            <a:spLocks noChangeArrowheads="1"/>
          </p:cNvSpPr>
          <p:nvPr/>
        </p:nvSpPr>
        <p:spPr bwMode="auto">
          <a:xfrm>
            <a:off x="1302120" y="4166608"/>
            <a:ext cx="2386881" cy="1988106"/>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b="1" kern="0" dirty="0">
                <a:ln w="12700">
                  <a:solidFill>
                    <a:srgbClr val="A886E0"/>
                  </a:solidFill>
                  <a:prstDash val="solid"/>
                </a:ln>
                <a:solidFill>
                  <a:srgbClr val="003399"/>
                </a:solidFill>
                <a:effectLst/>
              </a:rPr>
              <a:t>表名</a:t>
            </a:r>
            <a:endParaRPr kumimoji="0" lang="en-US" altLang="zh-CN" sz="4000" b="1" i="0" u="none" strike="noStrike" kern="0" cap="none" spc="0" normalizeH="0" baseline="0" noProof="0" dirty="0">
              <a:ln w="12700">
                <a:solidFill>
                  <a:srgbClr val="A886E0"/>
                </a:solidFill>
                <a:prstDash val="solid"/>
              </a:ln>
              <a:solidFill>
                <a:srgbClr val="003399"/>
              </a:solidFill>
              <a:effectLst/>
              <a:uLnTx/>
              <a:uFillTx/>
              <a:latin typeface="微软雅黑" pitchFamily="34" charset="-122"/>
              <a:ea typeface="微软雅黑" pitchFamily="34" charset="-122"/>
              <a:cs typeface="+mj-cs"/>
            </a:endParaRPr>
          </a:p>
        </p:txBody>
      </p:sp>
      <p:sp>
        <p:nvSpPr>
          <p:cNvPr id="9" name="Rectangle 2">
            <a:extLst>
              <a:ext uri="{FF2B5EF4-FFF2-40B4-BE49-F238E27FC236}">
                <a16:creationId xmlns:a16="http://schemas.microsoft.com/office/drawing/2014/main" id="{AA34CB1F-34F2-429A-9D65-9A745DD2D269}"/>
              </a:ext>
            </a:extLst>
          </p:cNvPr>
          <p:cNvSpPr txBox="1">
            <a:spLocks noChangeArrowheads="1"/>
          </p:cNvSpPr>
          <p:nvPr/>
        </p:nvSpPr>
        <p:spPr bwMode="auto">
          <a:xfrm>
            <a:off x="2854522" y="2265151"/>
            <a:ext cx="3621852" cy="1988106"/>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b="1" kern="0" dirty="0">
                <a:ln w="12700">
                  <a:solidFill>
                    <a:srgbClr val="A886E0"/>
                  </a:solidFill>
                  <a:prstDash val="solid"/>
                </a:ln>
                <a:solidFill>
                  <a:srgbClr val="003399"/>
                </a:solidFill>
                <a:effectLst/>
              </a:rPr>
              <a:t>有几列</a:t>
            </a:r>
            <a:endParaRPr kumimoji="0" lang="en-US" altLang="zh-CN" sz="4000" b="1" i="0" u="none" strike="noStrike" kern="0" cap="none" spc="0" normalizeH="0" baseline="0" noProof="0" dirty="0">
              <a:ln w="12700">
                <a:solidFill>
                  <a:srgbClr val="A886E0"/>
                </a:solidFill>
                <a:prstDash val="solid"/>
              </a:ln>
              <a:solidFill>
                <a:srgbClr val="003399"/>
              </a:solidFill>
              <a:effectLst/>
              <a:uLnTx/>
              <a:uFillTx/>
              <a:latin typeface="微软雅黑" pitchFamily="34" charset="-122"/>
              <a:ea typeface="微软雅黑" pitchFamily="34" charset="-122"/>
              <a:cs typeface="+mj-cs"/>
            </a:endParaRPr>
          </a:p>
        </p:txBody>
      </p:sp>
      <p:sp>
        <p:nvSpPr>
          <p:cNvPr id="10" name="Rectangle 2">
            <a:extLst>
              <a:ext uri="{FF2B5EF4-FFF2-40B4-BE49-F238E27FC236}">
                <a16:creationId xmlns:a16="http://schemas.microsoft.com/office/drawing/2014/main" id="{D98AB0FF-F80E-4D87-A054-F43CD169C8D1}"/>
              </a:ext>
            </a:extLst>
          </p:cNvPr>
          <p:cNvSpPr txBox="1">
            <a:spLocks noChangeArrowheads="1"/>
          </p:cNvSpPr>
          <p:nvPr/>
        </p:nvSpPr>
        <p:spPr bwMode="auto">
          <a:xfrm>
            <a:off x="3271762" y="4423648"/>
            <a:ext cx="3621852" cy="1988106"/>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b="1" kern="0" dirty="0">
                <a:ln w="12700">
                  <a:solidFill>
                    <a:srgbClr val="A886E0"/>
                  </a:solidFill>
                  <a:prstDash val="solid"/>
                </a:ln>
                <a:solidFill>
                  <a:srgbClr val="003399"/>
                </a:solidFill>
                <a:effectLst/>
              </a:rPr>
              <a:t>列名</a:t>
            </a:r>
            <a:endParaRPr kumimoji="0" lang="en-US" altLang="zh-CN" sz="4000" b="1" i="0" u="none" strike="noStrike" kern="0" cap="none" spc="0" normalizeH="0" baseline="0" noProof="0" dirty="0">
              <a:ln w="12700">
                <a:solidFill>
                  <a:srgbClr val="A886E0"/>
                </a:solidFill>
                <a:prstDash val="solid"/>
              </a:ln>
              <a:solidFill>
                <a:srgbClr val="003399"/>
              </a:solidFill>
              <a:effectLst/>
              <a:uLnTx/>
              <a:uFillTx/>
              <a:latin typeface="微软雅黑" pitchFamily="34" charset="-122"/>
              <a:ea typeface="微软雅黑" pitchFamily="34" charset="-122"/>
              <a:cs typeface="+mj-cs"/>
            </a:endParaRPr>
          </a:p>
        </p:txBody>
      </p:sp>
      <p:sp>
        <p:nvSpPr>
          <p:cNvPr id="11" name="Rectangle 2">
            <a:extLst>
              <a:ext uri="{FF2B5EF4-FFF2-40B4-BE49-F238E27FC236}">
                <a16:creationId xmlns:a16="http://schemas.microsoft.com/office/drawing/2014/main" id="{B9C74FDB-E228-4A79-B6D0-73796954E6A4}"/>
              </a:ext>
            </a:extLst>
          </p:cNvPr>
          <p:cNvSpPr txBox="1">
            <a:spLocks noChangeArrowheads="1"/>
          </p:cNvSpPr>
          <p:nvPr/>
        </p:nvSpPr>
        <p:spPr bwMode="auto">
          <a:xfrm>
            <a:off x="5700391" y="2094760"/>
            <a:ext cx="3621852" cy="3716893"/>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b="1" kern="0" dirty="0">
                <a:ln w="12700">
                  <a:solidFill>
                    <a:srgbClr val="A886E0"/>
                  </a:solidFill>
                  <a:prstDash val="solid"/>
                </a:ln>
                <a:solidFill>
                  <a:srgbClr val="003399"/>
                </a:solidFill>
                <a:effectLst/>
              </a:rPr>
              <a:t>列数据类型</a:t>
            </a:r>
            <a:endParaRPr kumimoji="0" lang="en-US" altLang="zh-CN" sz="4000" b="1" i="0" u="none" strike="noStrike" kern="0" cap="none" spc="0" normalizeH="0" baseline="0" noProof="0" dirty="0">
              <a:ln w="12700">
                <a:solidFill>
                  <a:srgbClr val="A886E0"/>
                </a:solidFill>
                <a:prstDash val="solid"/>
              </a:ln>
              <a:solidFill>
                <a:srgbClr val="003399"/>
              </a:solidFill>
              <a:effectLst/>
              <a:uLnTx/>
              <a:uFillTx/>
              <a:latin typeface="微软雅黑" pitchFamily="34" charset="-122"/>
              <a:ea typeface="微软雅黑" pitchFamily="34" charset="-122"/>
              <a:cs typeface="+mj-cs"/>
            </a:endParaRPr>
          </a:p>
        </p:txBody>
      </p:sp>
      <p:sp>
        <p:nvSpPr>
          <p:cNvPr id="12" name="Rectangle 2">
            <a:extLst>
              <a:ext uri="{FF2B5EF4-FFF2-40B4-BE49-F238E27FC236}">
                <a16:creationId xmlns:a16="http://schemas.microsoft.com/office/drawing/2014/main" id="{942186B2-4C5B-4444-909E-2F2084436D7F}"/>
              </a:ext>
            </a:extLst>
          </p:cNvPr>
          <p:cNvSpPr txBox="1">
            <a:spLocks noChangeArrowheads="1"/>
          </p:cNvSpPr>
          <p:nvPr/>
        </p:nvSpPr>
        <p:spPr bwMode="auto">
          <a:xfrm>
            <a:off x="8487764" y="2386618"/>
            <a:ext cx="3621852" cy="1988106"/>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b="1" kern="0" dirty="0">
                <a:ln w="12700">
                  <a:solidFill>
                    <a:srgbClr val="A886E0"/>
                  </a:solidFill>
                  <a:prstDash val="solid"/>
                </a:ln>
                <a:solidFill>
                  <a:srgbClr val="003399"/>
                </a:solidFill>
                <a:effectLst/>
              </a:rPr>
              <a:t>列约束</a:t>
            </a:r>
            <a:endParaRPr kumimoji="0" lang="en-US" altLang="zh-CN" sz="4000" b="1" i="0" u="none" strike="noStrike" kern="0" cap="none" spc="0" normalizeH="0" baseline="0" noProof="0" dirty="0">
              <a:ln w="12700">
                <a:solidFill>
                  <a:srgbClr val="A886E0"/>
                </a:solidFill>
                <a:prstDash val="solid"/>
              </a:ln>
              <a:solidFill>
                <a:srgbClr val="003399"/>
              </a:solidFill>
              <a:effectLst/>
              <a:uLnTx/>
              <a:uFillTx/>
              <a:latin typeface="微软雅黑" pitchFamily="34" charset="-122"/>
              <a:ea typeface="微软雅黑" pitchFamily="34" charset="-122"/>
              <a:cs typeface="+mj-cs"/>
            </a:endParaRPr>
          </a:p>
        </p:txBody>
      </p:sp>
      <p:sp>
        <p:nvSpPr>
          <p:cNvPr id="13" name="Rectangle 2">
            <a:extLst>
              <a:ext uri="{FF2B5EF4-FFF2-40B4-BE49-F238E27FC236}">
                <a16:creationId xmlns:a16="http://schemas.microsoft.com/office/drawing/2014/main" id="{0C3BE9A2-478E-44EE-BACD-60C36DF57892}"/>
              </a:ext>
            </a:extLst>
          </p:cNvPr>
          <p:cNvSpPr txBox="1">
            <a:spLocks noChangeArrowheads="1"/>
          </p:cNvSpPr>
          <p:nvPr/>
        </p:nvSpPr>
        <p:spPr bwMode="auto">
          <a:xfrm>
            <a:off x="7907796" y="4644797"/>
            <a:ext cx="3621852" cy="1988106"/>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b="1" kern="0" dirty="0">
                <a:ln w="12700">
                  <a:solidFill>
                    <a:srgbClr val="A886E0"/>
                  </a:solidFill>
                  <a:prstDash val="solid"/>
                </a:ln>
                <a:solidFill>
                  <a:srgbClr val="003399"/>
                </a:solidFill>
                <a:effectLst/>
              </a:rPr>
              <a:t>表约束</a:t>
            </a:r>
            <a:endParaRPr kumimoji="0" lang="en-US" altLang="zh-CN" sz="4000" b="1" i="0" u="none" strike="noStrike" kern="0" cap="none" spc="0" normalizeH="0" baseline="0" noProof="0" dirty="0">
              <a:ln w="12700">
                <a:solidFill>
                  <a:srgbClr val="A886E0"/>
                </a:solidFill>
                <a:prstDash val="solid"/>
              </a:ln>
              <a:solidFill>
                <a:srgbClr val="003399"/>
              </a:solidFill>
              <a:effectLst/>
              <a:uLnTx/>
              <a:uFillTx/>
              <a:latin typeface="微软雅黑" pitchFamily="34" charset="-122"/>
              <a:ea typeface="微软雅黑" pitchFamily="34" charset="-122"/>
              <a:cs typeface="+mj-cs"/>
            </a:endParaRPr>
          </a:p>
        </p:txBody>
      </p:sp>
      <p:sp>
        <p:nvSpPr>
          <p:cNvPr id="14" name="Rectangle 2">
            <a:extLst>
              <a:ext uri="{FF2B5EF4-FFF2-40B4-BE49-F238E27FC236}">
                <a16:creationId xmlns:a16="http://schemas.microsoft.com/office/drawing/2014/main" id="{490A93DF-9AA0-491B-AEFB-6EFABBF1EBE2}"/>
              </a:ext>
            </a:extLst>
          </p:cNvPr>
          <p:cNvSpPr txBox="1">
            <a:spLocks noChangeArrowheads="1"/>
          </p:cNvSpPr>
          <p:nvPr/>
        </p:nvSpPr>
        <p:spPr bwMode="auto">
          <a:xfrm>
            <a:off x="767408" y="2391726"/>
            <a:ext cx="2386881" cy="1988106"/>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b="1" kern="0" dirty="0">
                <a:ln w="12700">
                  <a:solidFill>
                    <a:srgbClr val="A886E0"/>
                  </a:solidFill>
                  <a:prstDash val="solid"/>
                </a:ln>
                <a:solidFill>
                  <a:srgbClr val="003399"/>
                </a:solidFill>
                <a:effectLst/>
              </a:rPr>
              <a:t>语法</a:t>
            </a:r>
            <a:endParaRPr kumimoji="0" lang="en-US" altLang="zh-CN" sz="4000" b="1" i="0" u="none" strike="noStrike" kern="0" cap="none" spc="0" normalizeH="0" baseline="0" noProof="0" dirty="0">
              <a:ln w="12700">
                <a:solidFill>
                  <a:srgbClr val="A886E0"/>
                </a:solidFill>
                <a:prstDash val="solid"/>
              </a:ln>
              <a:solidFill>
                <a:srgbClr val="003399"/>
              </a:solidFill>
              <a:effectLst/>
              <a:uLnTx/>
              <a:uFillTx/>
              <a:latin typeface="微软雅黑" pitchFamily="34" charset="-122"/>
              <a:ea typeface="微软雅黑" pitchFamily="34" charset="-122"/>
              <a:cs typeface="+mj-cs"/>
            </a:endParaRPr>
          </a:p>
        </p:txBody>
      </p:sp>
    </p:spTree>
    <p:custDataLst>
      <p:tags r:id="rId1"/>
    </p:custDataLst>
    <p:extLst>
      <p:ext uri="{BB962C8B-B14F-4D97-AF65-F5344CB8AC3E}">
        <p14:creationId xmlns:p14="http://schemas.microsoft.com/office/powerpoint/2010/main" val="1259949158"/>
      </p:ext>
    </p:extLst>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6"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a:extLst>
              <a:ext uri="{FF2B5EF4-FFF2-40B4-BE49-F238E27FC236}">
                <a16:creationId xmlns:a16="http://schemas.microsoft.com/office/drawing/2014/main" id="{9C1068C0-4BA6-4496-A7B9-8B85D7BAC2A5}"/>
              </a:ext>
            </a:extLst>
          </p:cNvPr>
          <p:cNvSpPr>
            <a:spLocks noGrp="1" noChangeArrowheads="1"/>
          </p:cNvSpPr>
          <p:nvPr>
            <p:ph type="title" idx="4294967295"/>
          </p:nvPr>
        </p:nvSpPr>
        <p:spPr>
          <a:xfrm>
            <a:off x="2348370" y="89440"/>
            <a:ext cx="3065263" cy="707886"/>
          </a:xfrm>
        </p:spPr>
        <p:txBody>
          <a:bodyPr/>
          <a:lstStyle/>
          <a:p>
            <a:r>
              <a:rPr lang="en-US" altLang="zh-CN"/>
              <a:t>1</a:t>
            </a:r>
            <a:r>
              <a:rPr lang="zh-CN" altLang="en-US"/>
              <a:t>、表的创建</a:t>
            </a:r>
          </a:p>
        </p:txBody>
      </p:sp>
      <p:sp>
        <p:nvSpPr>
          <p:cNvPr id="687107" name="Rectangle 3">
            <a:extLst>
              <a:ext uri="{FF2B5EF4-FFF2-40B4-BE49-F238E27FC236}">
                <a16:creationId xmlns:a16="http://schemas.microsoft.com/office/drawing/2014/main" id="{415CD43A-FD8D-4BAD-8440-104BF18026F4}"/>
              </a:ext>
            </a:extLst>
          </p:cNvPr>
          <p:cNvSpPr>
            <a:spLocks noGrp="1" noChangeArrowheads="1"/>
          </p:cNvSpPr>
          <p:nvPr>
            <p:ph type="body" idx="4294967295"/>
          </p:nvPr>
        </p:nvSpPr>
        <p:spPr>
          <a:xfrm>
            <a:off x="609600" y="1348749"/>
            <a:ext cx="10972800" cy="4525963"/>
          </a:xfrm>
        </p:spPr>
        <p:txBody>
          <a:bodyPr>
            <a:normAutofit lnSpcReduction="10000"/>
          </a:bodyPr>
          <a:lstStyle/>
          <a:p>
            <a:pPr>
              <a:lnSpc>
                <a:spcPct val="150000"/>
              </a:lnSpc>
            </a:pPr>
            <a:r>
              <a:rPr lang="zh-CN" altLang="en-US" dirty="0"/>
              <a:t>数据表是关系数据库的</a:t>
            </a:r>
            <a:r>
              <a:rPr lang="zh-CN" altLang="en-US" dirty="0">
                <a:solidFill>
                  <a:srgbClr val="FFFF00"/>
                </a:solidFill>
              </a:rPr>
              <a:t>基本组成单位</a:t>
            </a:r>
            <a:r>
              <a:rPr lang="zh-CN" altLang="en-US" dirty="0"/>
              <a:t>。创建一个数据表时主要包括以下几个组成部分：</a:t>
            </a:r>
          </a:p>
          <a:p>
            <a:pPr>
              <a:lnSpc>
                <a:spcPct val="150000"/>
              </a:lnSpc>
            </a:pPr>
            <a:r>
              <a:rPr lang="zh-CN" altLang="en-US" dirty="0"/>
              <a:t>（</a:t>
            </a:r>
            <a:r>
              <a:rPr lang="en-US" altLang="zh-CN" dirty="0"/>
              <a:t>1</a:t>
            </a:r>
            <a:r>
              <a:rPr lang="zh-CN" altLang="en-US" dirty="0"/>
              <a:t>）字段名（列名）：字段名可包含中文、英文字母、下划线、</a:t>
            </a:r>
            <a:r>
              <a:rPr lang="en-US" altLang="zh-CN" dirty="0"/>
              <a:t>#</a:t>
            </a:r>
            <a:r>
              <a:rPr lang="zh-CN" altLang="en-US" dirty="0"/>
              <a:t>号、货币符号（￥）及</a:t>
            </a:r>
            <a:r>
              <a:rPr lang="en-US" altLang="zh-CN" dirty="0"/>
              <a:t>at</a:t>
            </a:r>
            <a:r>
              <a:rPr lang="zh-CN" altLang="en-US" dirty="0"/>
              <a:t>符号</a:t>
            </a:r>
            <a:r>
              <a:rPr lang="en-US" altLang="zh-CN" dirty="0"/>
              <a:t>@</a:t>
            </a:r>
            <a:r>
              <a:rPr lang="zh-CN" altLang="en-US" dirty="0"/>
              <a:t>。同一表中不许有重名列；</a:t>
            </a:r>
          </a:p>
          <a:p>
            <a:pPr>
              <a:lnSpc>
                <a:spcPct val="150000"/>
              </a:lnSpc>
            </a:pPr>
            <a:r>
              <a:rPr lang="zh-CN" altLang="en-US" dirty="0"/>
              <a:t>（</a:t>
            </a:r>
            <a:r>
              <a:rPr lang="en-US" altLang="zh-CN" dirty="0"/>
              <a:t>2</a:t>
            </a:r>
            <a:r>
              <a:rPr lang="zh-CN" altLang="en-US" dirty="0"/>
              <a:t>）字段数据类型：见前表；</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1" name="Rectangle 3">
            <a:extLst>
              <a:ext uri="{FF2B5EF4-FFF2-40B4-BE49-F238E27FC236}">
                <a16:creationId xmlns:a16="http://schemas.microsoft.com/office/drawing/2014/main" id="{85E40DBD-C351-4AAD-97F1-688BA63C0348}"/>
              </a:ext>
            </a:extLst>
          </p:cNvPr>
          <p:cNvSpPr>
            <a:spLocks noGrp="1" noChangeArrowheads="1"/>
          </p:cNvSpPr>
          <p:nvPr>
            <p:ph type="body" idx="4294967295"/>
          </p:nvPr>
        </p:nvSpPr>
        <p:spPr>
          <a:xfrm>
            <a:off x="551384" y="620688"/>
            <a:ext cx="10972800" cy="4525963"/>
          </a:xfrm>
        </p:spPr>
        <p:txBody>
          <a:bodyPr/>
          <a:lstStyle/>
          <a:p>
            <a:pPr>
              <a:lnSpc>
                <a:spcPct val="150000"/>
              </a:lnSpc>
            </a:pPr>
            <a:r>
              <a:rPr lang="zh-CN" altLang="en-US" dirty="0"/>
              <a:t>（</a:t>
            </a:r>
            <a:r>
              <a:rPr lang="en-US" altLang="zh-CN" dirty="0"/>
              <a:t>3</a:t>
            </a:r>
            <a:r>
              <a:rPr lang="zh-CN" altLang="en-US" dirty="0"/>
              <a:t>）字段的长度、精度和小数位数；</a:t>
            </a:r>
          </a:p>
          <a:p>
            <a:pPr lvl="1">
              <a:lnSpc>
                <a:spcPct val="150000"/>
              </a:lnSpc>
            </a:pPr>
            <a:r>
              <a:rPr lang="zh-CN" altLang="en-US" dirty="0"/>
              <a:t>①字段的长度：指字段所能容纳的最大数据量。</a:t>
            </a:r>
          </a:p>
          <a:p>
            <a:pPr lvl="1">
              <a:lnSpc>
                <a:spcPct val="150000"/>
              </a:lnSpc>
            </a:pPr>
            <a:r>
              <a:rPr lang="zh-CN" altLang="en-US" dirty="0"/>
              <a:t>②精度和小数位数：精度是指数中数字的位数，包括整数部分和小数部分；小数位数则是指数字小数点右侧的位数。</a:t>
            </a:r>
          </a:p>
          <a:p>
            <a:pPr lvl="1">
              <a:lnSpc>
                <a:spcPct val="150000"/>
              </a:lnSpc>
            </a:pPr>
            <a:r>
              <a:rPr lang="zh-CN" altLang="en-US" dirty="0"/>
              <a:t>例如：数字</a:t>
            </a:r>
            <a:r>
              <a:rPr lang="en-US" altLang="zh-CN" dirty="0"/>
              <a:t>12345.678</a:t>
            </a:r>
            <a:r>
              <a:rPr lang="zh-CN" altLang="en-US" dirty="0"/>
              <a:t>，其精度为</a:t>
            </a:r>
            <a:r>
              <a:rPr lang="en-US" altLang="zh-CN" dirty="0"/>
              <a:t>8</a:t>
            </a:r>
            <a:r>
              <a:rPr lang="zh-CN" altLang="en-US" dirty="0"/>
              <a:t>，小数位数为</a:t>
            </a:r>
            <a:r>
              <a:rPr lang="en-US" altLang="zh-CN" dirty="0"/>
              <a:t>3</a:t>
            </a:r>
            <a:r>
              <a:rPr lang="zh-CN" altLang="en-US" dirty="0"/>
              <a:t>；</a:t>
            </a:r>
          </a:p>
          <a:p>
            <a:pPr lvl="1">
              <a:lnSpc>
                <a:spcPct val="150000"/>
              </a:lnSpc>
            </a:pPr>
            <a:r>
              <a:rPr lang="zh-CN" altLang="en-US" dirty="0"/>
              <a:t>只有数值类的数据类型才有必要指定精度和小数位数。</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2" name="Rectangle 2">
            <a:extLst>
              <a:ext uri="{FF2B5EF4-FFF2-40B4-BE49-F238E27FC236}">
                <a16:creationId xmlns:a16="http://schemas.microsoft.com/office/drawing/2014/main" id="{3CC98579-CE10-4047-B85F-E3D942EBB28F}"/>
              </a:ext>
            </a:extLst>
          </p:cNvPr>
          <p:cNvSpPr>
            <a:spLocks noGrp="1" noChangeArrowheads="1"/>
          </p:cNvSpPr>
          <p:nvPr>
            <p:ph type="title" idx="4294967295"/>
          </p:nvPr>
        </p:nvSpPr>
        <p:spPr>
          <a:xfrm>
            <a:off x="1736825" y="89440"/>
            <a:ext cx="4288353" cy="707886"/>
          </a:xfrm>
        </p:spPr>
        <p:txBody>
          <a:bodyPr/>
          <a:lstStyle/>
          <a:p>
            <a:r>
              <a:rPr lang="zh-CN" altLang="en-US"/>
              <a:t>二、数据表的创建</a:t>
            </a:r>
          </a:p>
        </p:txBody>
      </p:sp>
      <p:sp>
        <p:nvSpPr>
          <p:cNvPr id="675843" name="Rectangle 3">
            <a:extLst>
              <a:ext uri="{FF2B5EF4-FFF2-40B4-BE49-F238E27FC236}">
                <a16:creationId xmlns:a16="http://schemas.microsoft.com/office/drawing/2014/main" id="{D6BD6E7C-874B-4FF7-8B3A-F0409E070081}"/>
              </a:ext>
            </a:extLst>
          </p:cNvPr>
          <p:cNvSpPr>
            <a:spLocks noGrp="1" noChangeArrowheads="1"/>
          </p:cNvSpPr>
          <p:nvPr>
            <p:ph type="body" idx="4294967295"/>
          </p:nvPr>
        </p:nvSpPr>
        <p:spPr/>
        <p:txBody>
          <a:bodyPr/>
          <a:lstStyle/>
          <a:p>
            <a:pPr>
              <a:lnSpc>
                <a:spcPct val="150000"/>
              </a:lnSpc>
              <a:buFontTx/>
              <a:buNone/>
            </a:pPr>
            <a:r>
              <a:rPr lang="zh-CN" altLang="en-US" dirty="0"/>
              <a:t>数据类型</a:t>
            </a:r>
          </a:p>
          <a:p>
            <a:pPr>
              <a:lnSpc>
                <a:spcPct val="150000"/>
              </a:lnSpc>
            </a:pPr>
            <a:r>
              <a:rPr lang="en-US" altLang="zh-CN" dirty="0"/>
              <a:t>MySQL</a:t>
            </a:r>
            <a:r>
              <a:rPr lang="zh-CN" altLang="en-US" dirty="0"/>
              <a:t>支持多种列类型：数值类型、日期</a:t>
            </a:r>
            <a:r>
              <a:rPr lang="en-US" altLang="zh-CN" dirty="0"/>
              <a:t>/</a:t>
            </a:r>
            <a:r>
              <a:rPr lang="zh-CN" altLang="en-US" dirty="0"/>
              <a:t>时间类型和字符串</a:t>
            </a:r>
            <a:r>
              <a:rPr lang="en-US" altLang="zh-CN" dirty="0"/>
              <a:t>(</a:t>
            </a:r>
            <a:r>
              <a:rPr lang="zh-CN" altLang="en-US" dirty="0"/>
              <a:t>字符</a:t>
            </a:r>
            <a:r>
              <a:rPr lang="en-US" altLang="zh-CN" dirty="0"/>
              <a:t>)</a:t>
            </a:r>
            <a:r>
              <a:rPr lang="zh-CN" altLang="en-US" dirty="0"/>
              <a:t>类型。</a:t>
            </a:r>
          </a:p>
        </p:txBody>
      </p:sp>
    </p:spTree>
    <p:custDataLst>
      <p:tags r:id="rId1"/>
    </p:custDataLst>
    <p:extLst>
      <p:ext uri="{BB962C8B-B14F-4D97-AF65-F5344CB8AC3E}">
        <p14:creationId xmlns:p14="http://schemas.microsoft.com/office/powerpoint/2010/main" val="2192779624"/>
      </p:ext>
    </p:extLst>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7" name="Rectangle 3">
            <a:extLst>
              <a:ext uri="{FF2B5EF4-FFF2-40B4-BE49-F238E27FC236}">
                <a16:creationId xmlns:a16="http://schemas.microsoft.com/office/drawing/2014/main" id="{EB82B1C8-446B-4FC4-8B8D-E488278737C3}"/>
              </a:ext>
            </a:extLst>
          </p:cNvPr>
          <p:cNvSpPr>
            <a:spLocks noGrp="1" noChangeArrowheads="1"/>
          </p:cNvSpPr>
          <p:nvPr>
            <p:ph type="body" idx="4294967295"/>
          </p:nvPr>
        </p:nvSpPr>
        <p:spPr>
          <a:xfrm>
            <a:off x="627671" y="1166018"/>
            <a:ext cx="10972800" cy="4525963"/>
          </a:xfrm>
        </p:spPr>
        <p:txBody>
          <a:bodyPr/>
          <a:lstStyle/>
          <a:p>
            <a:pPr>
              <a:buFontTx/>
              <a:buNone/>
            </a:pPr>
            <a:r>
              <a:rPr lang="zh-CN" altLang="en-US" dirty="0"/>
              <a:t>（</a:t>
            </a:r>
            <a:r>
              <a:rPr lang="en-US" altLang="zh-CN" dirty="0"/>
              <a:t>1</a:t>
            </a:r>
            <a:r>
              <a:rPr lang="zh-CN" altLang="en-US" dirty="0"/>
              <a:t>）数值类型</a:t>
            </a:r>
          </a:p>
          <a:p>
            <a:r>
              <a:rPr lang="en-US" altLang="zh-CN" dirty="0"/>
              <a:t>MySQL</a:t>
            </a:r>
            <a:r>
              <a:rPr lang="zh-CN" altLang="en-US" dirty="0"/>
              <a:t>支持所有标准</a:t>
            </a:r>
            <a:r>
              <a:rPr lang="en-US" altLang="zh-CN" dirty="0"/>
              <a:t>SQL</a:t>
            </a:r>
            <a:r>
              <a:rPr lang="zh-CN" altLang="en-US" dirty="0"/>
              <a:t>数值数据类型。这些类型包括严格数值数据类型</a:t>
            </a:r>
            <a:r>
              <a:rPr lang="en-US" altLang="zh-CN" dirty="0"/>
              <a:t>(INTEGER</a:t>
            </a:r>
            <a:r>
              <a:rPr lang="zh-CN" altLang="en-US" dirty="0"/>
              <a:t>、</a:t>
            </a:r>
            <a:r>
              <a:rPr lang="en-US" altLang="zh-CN" dirty="0"/>
              <a:t>SMALLINT</a:t>
            </a:r>
            <a:r>
              <a:rPr lang="zh-CN" altLang="en-US" dirty="0"/>
              <a:t>、</a:t>
            </a:r>
            <a:r>
              <a:rPr lang="en-US" altLang="zh-CN" dirty="0"/>
              <a:t>DECIMAL</a:t>
            </a:r>
            <a:r>
              <a:rPr lang="zh-CN" altLang="en-US" dirty="0"/>
              <a:t>和</a:t>
            </a:r>
            <a:r>
              <a:rPr lang="en-US" altLang="zh-CN" dirty="0"/>
              <a:t>NUMERIC)</a:t>
            </a:r>
            <a:r>
              <a:rPr lang="zh-CN" altLang="en-US" dirty="0"/>
              <a:t>，以及近似数值数据类型</a:t>
            </a:r>
            <a:r>
              <a:rPr lang="en-US" altLang="zh-CN" dirty="0"/>
              <a:t>(FLOAT</a:t>
            </a:r>
            <a:r>
              <a:rPr lang="zh-CN" altLang="en-US" dirty="0"/>
              <a:t>、</a:t>
            </a:r>
            <a:r>
              <a:rPr lang="en-US" altLang="zh-CN" dirty="0"/>
              <a:t>REAL</a:t>
            </a:r>
            <a:r>
              <a:rPr lang="zh-CN" altLang="en-US" dirty="0"/>
              <a:t>和</a:t>
            </a:r>
            <a:r>
              <a:rPr lang="en-US" altLang="zh-CN" dirty="0"/>
              <a:t>DOUBLE PRECISION)</a:t>
            </a:r>
            <a:r>
              <a:rPr lang="zh-CN" altLang="en-US" dirty="0"/>
              <a:t>。</a:t>
            </a:r>
          </a:p>
        </p:txBody>
      </p:sp>
    </p:spTree>
    <p:custDataLst>
      <p:tags r:id="rId1"/>
    </p:custDataLst>
    <p:extLst>
      <p:ext uri="{BB962C8B-B14F-4D97-AF65-F5344CB8AC3E}">
        <p14:creationId xmlns:p14="http://schemas.microsoft.com/office/powerpoint/2010/main" val="1044867956"/>
      </p:ext>
    </p:extLst>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1" name="Rectangle 3">
            <a:extLst>
              <a:ext uri="{FF2B5EF4-FFF2-40B4-BE49-F238E27FC236}">
                <a16:creationId xmlns:a16="http://schemas.microsoft.com/office/drawing/2014/main" id="{E84F5002-C110-4DE6-8385-1CE3BDD16250}"/>
              </a:ext>
            </a:extLst>
          </p:cNvPr>
          <p:cNvSpPr>
            <a:spLocks noGrp="1" noChangeArrowheads="1"/>
          </p:cNvSpPr>
          <p:nvPr>
            <p:ph type="body" idx="4294967295"/>
          </p:nvPr>
        </p:nvSpPr>
        <p:spPr>
          <a:xfrm>
            <a:off x="695400" y="836712"/>
            <a:ext cx="10972800" cy="4525963"/>
          </a:xfrm>
        </p:spPr>
        <p:txBody>
          <a:bodyPr>
            <a:normAutofit fontScale="92500" lnSpcReduction="20000"/>
          </a:bodyPr>
          <a:lstStyle/>
          <a:p>
            <a:pPr>
              <a:lnSpc>
                <a:spcPct val="150000"/>
              </a:lnSpc>
              <a:buFontTx/>
              <a:buNone/>
            </a:pPr>
            <a:r>
              <a:rPr lang="zh-CN" altLang="en-US" dirty="0"/>
              <a:t>（</a:t>
            </a:r>
            <a:r>
              <a:rPr lang="en-US" altLang="zh-CN" dirty="0"/>
              <a:t>2</a:t>
            </a:r>
            <a:r>
              <a:rPr lang="zh-CN" altLang="en-US" dirty="0"/>
              <a:t>）日期和时间类型概述</a:t>
            </a:r>
          </a:p>
          <a:p>
            <a:pPr>
              <a:lnSpc>
                <a:spcPct val="150000"/>
              </a:lnSpc>
            </a:pPr>
            <a:r>
              <a:rPr lang="en-US" altLang="zh-CN" dirty="0"/>
              <a:t>DATE</a:t>
            </a:r>
          </a:p>
          <a:p>
            <a:pPr lvl="1">
              <a:lnSpc>
                <a:spcPct val="150000"/>
              </a:lnSpc>
            </a:pPr>
            <a:r>
              <a:rPr lang="zh-CN" altLang="en-US" dirty="0"/>
              <a:t>日期。支持的范围为</a:t>
            </a:r>
            <a:r>
              <a:rPr lang="en-US" altLang="zh-CN" dirty="0"/>
              <a:t>'1000-01-01'</a:t>
            </a:r>
            <a:r>
              <a:rPr lang="zh-CN" altLang="en-US" dirty="0"/>
              <a:t>到</a:t>
            </a:r>
            <a:r>
              <a:rPr lang="en-US" altLang="zh-CN" dirty="0"/>
              <a:t>'9999-12-31'</a:t>
            </a:r>
            <a:r>
              <a:rPr lang="zh-CN" altLang="en-US" dirty="0"/>
              <a:t>。</a:t>
            </a:r>
          </a:p>
          <a:p>
            <a:pPr>
              <a:lnSpc>
                <a:spcPct val="150000"/>
              </a:lnSpc>
            </a:pPr>
            <a:r>
              <a:rPr lang="en-US" altLang="zh-CN" dirty="0"/>
              <a:t>DATETIME</a:t>
            </a:r>
          </a:p>
          <a:p>
            <a:pPr lvl="1">
              <a:lnSpc>
                <a:spcPct val="150000"/>
              </a:lnSpc>
            </a:pPr>
            <a:r>
              <a:rPr lang="zh-CN" altLang="en-US" dirty="0"/>
              <a:t>日期和时间的组合。支持的范围是</a:t>
            </a:r>
            <a:r>
              <a:rPr lang="en-US" altLang="zh-CN" dirty="0"/>
              <a:t>'1000-01-01 00:00:00'</a:t>
            </a:r>
            <a:r>
              <a:rPr lang="zh-CN" altLang="en-US" dirty="0"/>
              <a:t>到</a:t>
            </a:r>
            <a:r>
              <a:rPr lang="en-US" altLang="zh-CN" dirty="0"/>
              <a:t>'9999-12-31 23:59:59'</a:t>
            </a:r>
            <a:r>
              <a:rPr lang="zh-CN" altLang="en-US" dirty="0"/>
              <a:t>。</a:t>
            </a:r>
            <a:r>
              <a:rPr lang="en-US" altLang="zh-CN" dirty="0"/>
              <a:t>MySQL</a:t>
            </a:r>
            <a:r>
              <a:rPr lang="zh-CN" altLang="en-US" dirty="0"/>
              <a:t>以</a:t>
            </a:r>
            <a:r>
              <a:rPr lang="en-US" altLang="zh-CN" dirty="0"/>
              <a:t>'YYYY-MM-DD HH:MM:SS'</a:t>
            </a:r>
            <a:r>
              <a:rPr lang="zh-CN" altLang="en-US" dirty="0"/>
              <a:t>格式显示</a:t>
            </a:r>
            <a:r>
              <a:rPr lang="en-US" altLang="zh-CN" dirty="0"/>
              <a:t>DATETIME</a:t>
            </a:r>
            <a:r>
              <a:rPr lang="zh-CN" altLang="en-US" dirty="0"/>
              <a:t>值。</a:t>
            </a:r>
          </a:p>
        </p:txBody>
      </p:sp>
    </p:spTree>
    <p:custDataLst>
      <p:tags r:id="rId1"/>
    </p:custDataLst>
    <p:extLst>
      <p:ext uri="{BB962C8B-B14F-4D97-AF65-F5344CB8AC3E}">
        <p14:creationId xmlns:p14="http://schemas.microsoft.com/office/powerpoint/2010/main" val="1997305943"/>
      </p:ext>
    </p:extLst>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9" name="Rectangle 3">
            <a:extLst>
              <a:ext uri="{FF2B5EF4-FFF2-40B4-BE49-F238E27FC236}">
                <a16:creationId xmlns:a16="http://schemas.microsoft.com/office/drawing/2014/main" id="{4DE275F3-17A2-4A3B-A586-E19D705F8942}"/>
              </a:ext>
            </a:extLst>
          </p:cNvPr>
          <p:cNvSpPr>
            <a:spLocks noGrp="1" noChangeArrowheads="1"/>
          </p:cNvSpPr>
          <p:nvPr>
            <p:ph type="body" idx="4294967295"/>
          </p:nvPr>
        </p:nvSpPr>
        <p:spPr>
          <a:xfrm>
            <a:off x="695400" y="836712"/>
            <a:ext cx="10972800" cy="4525963"/>
          </a:xfrm>
        </p:spPr>
        <p:txBody>
          <a:bodyPr>
            <a:normAutofit fontScale="85000" lnSpcReduction="20000"/>
          </a:bodyPr>
          <a:lstStyle/>
          <a:p>
            <a:pPr>
              <a:lnSpc>
                <a:spcPct val="150000"/>
              </a:lnSpc>
            </a:pPr>
            <a:r>
              <a:rPr lang="en-US" altLang="zh-CN" dirty="0"/>
              <a:t>TIME</a:t>
            </a:r>
          </a:p>
          <a:p>
            <a:pPr lvl="1">
              <a:lnSpc>
                <a:spcPct val="150000"/>
              </a:lnSpc>
            </a:pPr>
            <a:r>
              <a:rPr lang="zh-CN" altLang="en-US" dirty="0"/>
              <a:t>时间。范围是</a:t>
            </a:r>
            <a:r>
              <a:rPr lang="en-US" altLang="zh-CN" dirty="0"/>
              <a:t>'-838:59:59'</a:t>
            </a:r>
            <a:r>
              <a:rPr lang="zh-CN" altLang="en-US" dirty="0"/>
              <a:t>到</a:t>
            </a:r>
            <a:r>
              <a:rPr lang="en-US" altLang="zh-CN" dirty="0"/>
              <a:t>'838:59:59'</a:t>
            </a:r>
            <a:r>
              <a:rPr lang="zh-CN" altLang="en-US" dirty="0"/>
              <a:t>。</a:t>
            </a:r>
            <a:r>
              <a:rPr lang="en-US" altLang="zh-CN" dirty="0"/>
              <a:t>MySQL</a:t>
            </a:r>
            <a:r>
              <a:rPr lang="zh-CN" altLang="en-US" dirty="0"/>
              <a:t>以</a:t>
            </a:r>
            <a:r>
              <a:rPr lang="en-US" altLang="zh-CN" dirty="0"/>
              <a:t>'HH:MM:SS'</a:t>
            </a:r>
            <a:r>
              <a:rPr lang="zh-CN" altLang="en-US" dirty="0"/>
              <a:t>格式显示</a:t>
            </a:r>
            <a:r>
              <a:rPr lang="en-US" altLang="zh-CN" dirty="0"/>
              <a:t>TIME</a:t>
            </a:r>
            <a:r>
              <a:rPr lang="zh-CN" altLang="en-US" dirty="0"/>
              <a:t>值。</a:t>
            </a:r>
          </a:p>
          <a:p>
            <a:pPr>
              <a:lnSpc>
                <a:spcPct val="150000"/>
              </a:lnSpc>
            </a:pPr>
            <a:r>
              <a:rPr lang="en-US" altLang="zh-CN" dirty="0"/>
              <a:t>YEAR[(2|4)]</a:t>
            </a:r>
          </a:p>
          <a:p>
            <a:pPr lvl="1">
              <a:lnSpc>
                <a:spcPct val="150000"/>
              </a:lnSpc>
            </a:pPr>
            <a:r>
              <a:rPr lang="zh-CN" altLang="en-US" dirty="0"/>
              <a:t>两位或四位格式的年。默认是四位格式。在四位格式中，允许的值是</a:t>
            </a:r>
            <a:r>
              <a:rPr lang="en-US" altLang="zh-CN" dirty="0"/>
              <a:t>1901</a:t>
            </a:r>
            <a:r>
              <a:rPr lang="zh-CN" altLang="en-US" dirty="0"/>
              <a:t>到</a:t>
            </a:r>
            <a:r>
              <a:rPr lang="en-US" altLang="zh-CN" dirty="0"/>
              <a:t>2155</a:t>
            </a:r>
            <a:r>
              <a:rPr lang="zh-CN" altLang="en-US" dirty="0"/>
              <a:t>和</a:t>
            </a:r>
            <a:r>
              <a:rPr lang="en-US" altLang="zh-CN" dirty="0"/>
              <a:t>0000</a:t>
            </a:r>
            <a:r>
              <a:rPr lang="zh-CN" altLang="en-US" dirty="0"/>
              <a:t>。在两位格式中，允许的值是</a:t>
            </a:r>
            <a:r>
              <a:rPr lang="en-US" altLang="zh-CN" dirty="0"/>
              <a:t>70</a:t>
            </a:r>
            <a:r>
              <a:rPr lang="zh-CN" altLang="en-US" dirty="0"/>
              <a:t>到</a:t>
            </a:r>
            <a:r>
              <a:rPr lang="en-US" altLang="zh-CN" dirty="0"/>
              <a:t>69</a:t>
            </a:r>
            <a:r>
              <a:rPr lang="zh-CN" altLang="en-US" dirty="0"/>
              <a:t>，表示从</a:t>
            </a:r>
            <a:r>
              <a:rPr lang="en-US" altLang="zh-CN" dirty="0"/>
              <a:t>1970</a:t>
            </a:r>
            <a:r>
              <a:rPr lang="zh-CN" altLang="en-US" dirty="0"/>
              <a:t>年到</a:t>
            </a:r>
            <a:r>
              <a:rPr lang="en-US" altLang="zh-CN" dirty="0"/>
              <a:t>2069</a:t>
            </a:r>
            <a:r>
              <a:rPr lang="zh-CN" altLang="en-US" dirty="0"/>
              <a:t>年。</a:t>
            </a:r>
            <a:r>
              <a:rPr lang="en-US" altLang="zh-CN" dirty="0"/>
              <a:t>MySQL</a:t>
            </a:r>
            <a:r>
              <a:rPr lang="zh-CN" altLang="en-US" dirty="0"/>
              <a:t>以</a:t>
            </a:r>
            <a:r>
              <a:rPr lang="en-US" altLang="zh-CN" dirty="0"/>
              <a:t>YYYY </a:t>
            </a:r>
            <a:r>
              <a:rPr lang="zh-CN" altLang="en-US" dirty="0"/>
              <a:t>格式显示</a:t>
            </a:r>
            <a:r>
              <a:rPr lang="en-US" altLang="zh-CN" dirty="0"/>
              <a:t>YEAR</a:t>
            </a:r>
            <a:r>
              <a:rPr lang="zh-CN" altLang="en-US" dirty="0"/>
              <a:t>值。</a:t>
            </a:r>
            <a:endParaRPr lang="en-US" altLang="zh-CN" dirty="0"/>
          </a:p>
          <a:p>
            <a:pPr lvl="1">
              <a:lnSpc>
                <a:spcPct val="150000"/>
              </a:lnSpc>
            </a:pPr>
            <a:r>
              <a:rPr lang="zh-CN" altLang="en-US" sz="3800" dirty="0">
                <a:solidFill>
                  <a:srgbClr val="FFFF00"/>
                </a:solidFill>
              </a:rPr>
              <a:t>思考：日期和时间数据类型如何比较大小？</a:t>
            </a:r>
          </a:p>
        </p:txBody>
      </p:sp>
    </p:spTree>
    <p:custDataLst>
      <p:tags r:id="rId1"/>
    </p:custDataLst>
    <p:extLst>
      <p:ext uri="{BB962C8B-B14F-4D97-AF65-F5344CB8AC3E}">
        <p14:creationId xmlns:p14="http://schemas.microsoft.com/office/powerpoint/2010/main" val="3912253838"/>
      </p:ext>
    </p:extLst>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a:extLst>
              <a:ext uri="{FF2B5EF4-FFF2-40B4-BE49-F238E27FC236}">
                <a16:creationId xmlns:a16="http://schemas.microsoft.com/office/drawing/2014/main" id="{2C9F6368-F2E0-46B0-9F06-0383F4D51AA7}"/>
              </a:ext>
            </a:extLst>
          </p:cNvPr>
          <p:cNvSpPr>
            <a:spLocks noGrp="1" noChangeArrowheads="1"/>
          </p:cNvSpPr>
          <p:nvPr>
            <p:ph type="title" idx="4294967295"/>
          </p:nvPr>
        </p:nvSpPr>
        <p:spPr>
          <a:xfrm>
            <a:off x="3788636" y="89440"/>
            <a:ext cx="184730" cy="707886"/>
          </a:xfrm>
        </p:spPr>
        <p:txBody>
          <a:bodyPr/>
          <a:lstStyle/>
          <a:p>
            <a:endParaRPr lang="zh-CN" altLang="en-US"/>
          </a:p>
        </p:txBody>
      </p:sp>
      <p:sp>
        <p:nvSpPr>
          <p:cNvPr id="680963" name="Rectangle 3">
            <a:extLst>
              <a:ext uri="{FF2B5EF4-FFF2-40B4-BE49-F238E27FC236}">
                <a16:creationId xmlns:a16="http://schemas.microsoft.com/office/drawing/2014/main" id="{788BF138-350C-49D9-9AF4-6762089F58D5}"/>
              </a:ext>
            </a:extLst>
          </p:cNvPr>
          <p:cNvSpPr>
            <a:spLocks noGrp="1" noChangeArrowheads="1"/>
          </p:cNvSpPr>
          <p:nvPr>
            <p:ph type="body" idx="4294967295"/>
          </p:nvPr>
        </p:nvSpPr>
        <p:spPr/>
        <p:txBody>
          <a:bodyPr/>
          <a:lstStyle/>
          <a:p>
            <a:pPr>
              <a:lnSpc>
                <a:spcPct val="150000"/>
              </a:lnSpc>
              <a:buFontTx/>
              <a:buNone/>
            </a:pPr>
            <a:r>
              <a:rPr lang="en-US" altLang="zh-CN" dirty="0"/>
              <a:t>(3)</a:t>
            </a:r>
            <a:r>
              <a:rPr lang="zh-CN" altLang="en-US" dirty="0"/>
              <a:t>字符串类型</a:t>
            </a:r>
          </a:p>
          <a:p>
            <a:pPr>
              <a:lnSpc>
                <a:spcPct val="150000"/>
              </a:lnSpc>
            </a:pPr>
            <a:r>
              <a:rPr lang="zh-CN" altLang="en-US" dirty="0"/>
              <a:t>字符串类型指</a:t>
            </a:r>
            <a:r>
              <a:rPr lang="en-US" altLang="zh-CN" dirty="0">
                <a:solidFill>
                  <a:srgbClr val="FFFF00"/>
                </a:solidFill>
              </a:rPr>
              <a:t>CHAR</a:t>
            </a:r>
            <a:r>
              <a:rPr lang="zh-CN" altLang="en-US" dirty="0">
                <a:solidFill>
                  <a:srgbClr val="FFFF00"/>
                </a:solidFill>
              </a:rPr>
              <a:t>、</a:t>
            </a:r>
            <a:r>
              <a:rPr lang="en-US" altLang="zh-CN" dirty="0">
                <a:solidFill>
                  <a:srgbClr val="FFFF00"/>
                </a:solidFill>
              </a:rPr>
              <a:t>VARCHAR</a:t>
            </a:r>
            <a:r>
              <a:rPr lang="zh-CN" altLang="en-US" dirty="0"/>
              <a:t>、</a:t>
            </a:r>
            <a:r>
              <a:rPr lang="en-US" altLang="zh-CN" dirty="0"/>
              <a:t>BINARY</a:t>
            </a:r>
            <a:r>
              <a:rPr lang="zh-CN" altLang="en-US" dirty="0"/>
              <a:t>、</a:t>
            </a:r>
            <a:r>
              <a:rPr lang="en-US" altLang="zh-CN" dirty="0"/>
              <a:t>VARBINARY</a:t>
            </a:r>
            <a:r>
              <a:rPr lang="zh-CN" altLang="en-US" dirty="0"/>
              <a:t>、</a:t>
            </a:r>
            <a:r>
              <a:rPr lang="en-US" altLang="zh-CN" dirty="0"/>
              <a:t>BLOB</a:t>
            </a:r>
            <a:r>
              <a:rPr lang="zh-CN" altLang="en-US" dirty="0"/>
              <a:t>、</a:t>
            </a:r>
            <a:r>
              <a:rPr lang="en-US" altLang="zh-CN" dirty="0"/>
              <a:t>TEXT</a:t>
            </a:r>
            <a:r>
              <a:rPr lang="zh-CN" altLang="en-US" dirty="0"/>
              <a:t>、</a:t>
            </a:r>
            <a:r>
              <a:rPr lang="en-US" altLang="zh-CN" dirty="0"/>
              <a:t>ENUM</a:t>
            </a:r>
            <a:r>
              <a:rPr lang="zh-CN" altLang="en-US" dirty="0"/>
              <a:t>和</a:t>
            </a:r>
            <a:r>
              <a:rPr lang="en-US" altLang="zh-CN" dirty="0"/>
              <a:t>SET</a:t>
            </a:r>
            <a:r>
              <a:rPr lang="zh-CN" altLang="en-US" dirty="0"/>
              <a:t>。</a:t>
            </a:r>
          </a:p>
        </p:txBody>
      </p:sp>
    </p:spTree>
    <p:custDataLst>
      <p:tags r:id="rId1"/>
    </p:custDataLst>
    <p:extLst>
      <p:ext uri="{BB962C8B-B14F-4D97-AF65-F5344CB8AC3E}">
        <p14:creationId xmlns:p14="http://schemas.microsoft.com/office/powerpoint/2010/main" val="3143579530"/>
      </p:ext>
    </p:extLst>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7" name="Rectangle 3">
            <a:extLst>
              <a:ext uri="{FF2B5EF4-FFF2-40B4-BE49-F238E27FC236}">
                <a16:creationId xmlns:a16="http://schemas.microsoft.com/office/drawing/2014/main" id="{EF708A0F-057B-448D-9213-36D49208B11E}"/>
              </a:ext>
            </a:extLst>
          </p:cNvPr>
          <p:cNvSpPr>
            <a:spLocks noGrp="1" noChangeArrowheads="1"/>
          </p:cNvSpPr>
          <p:nvPr>
            <p:ph type="body" idx="4294967295"/>
          </p:nvPr>
        </p:nvSpPr>
        <p:spPr>
          <a:xfrm>
            <a:off x="1127448" y="692696"/>
            <a:ext cx="9577064" cy="4633913"/>
          </a:xfrm>
        </p:spPr>
        <p:txBody>
          <a:bodyPr>
            <a:normAutofit fontScale="77500" lnSpcReduction="20000"/>
          </a:bodyPr>
          <a:lstStyle/>
          <a:p>
            <a:pPr>
              <a:lnSpc>
                <a:spcPct val="150000"/>
              </a:lnSpc>
            </a:pPr>
            <a:r>
              <a:rPr lang="en-US" altLang="zh-CN" dirty="0"/>
              <a:t>CHAR</a:t>
            </a:r>
            <a:r>
              <a:rPr lang="zh-CN" altLang="en-US" dirty="0"/>
              <a:t>和</a:t>
            </a:r>
            <a:r>
              <a:rPr lang="en-US" altLang="zh-CN" dirty="0"/>
              <a:t>VARCHAR</a:t>
            </a:r>
            <a:r>
              <a:rPr lang="zh-CN" altLang="en-US" dirty="0"/>
              <a:t>类型</a:t>
            </a:r>
          </a:p>
          <a:p>
            <a:pPr lvl="1">
              <a:lnSpc>
                <a:spcPct val="150000"/>
              </a:lnSpc>
            </a:pPr>
            <a:r>
              <a:rPr lang="en-US" altLang="zh-CN" dirty="0"/>
              <a:t>CHAR</a:t>
            </a:r>
            <a:r>
              <a:rPr lang="zh-CN" altLang="en-US" dirty="0"/>
              <a:t>和</a:t>
            </a:r>
            <a:r>
              <a:rPr lang="en-US" altLang="zh-CN" dirty="0"/>
              <a:t>VARCHAR</a:t>
            </a:r>
            <a:r>
              <a:rPr lang="zh-CN" altLang="en-US" dirty="0"/>
              <a:t>类型声明的长度表示你想要保存的最大字符数。例如，</a:t>
            </a:r>
            <a:r>
              <a:rPr lang="en-US" altLang="zh-CN" dirty="0"/>
              <a:t>CHAR(30)</a:t>
            </a:r>
            <a:r>
              <a:rPr lang="zh-CN" altLang="en-US" dirty="0"/>
              <a:t>可以占用</a:t>
            </a:r>
            <a:r>
              <a:rPr lang="en-US" altLang="zh-CN" dirty="0"/>
              <a:t>30</a:t>
            </a:r>
            <a:r>
              <a:rPr lang="zh-CN" altLang="en-US" dirty="0"/>
              <a:t>个字符。</a:t>
            </a:r>
          </a:p>
          <a:p>
            <a:pPr lvl="1">
              <a:lnSpc>
                <a:spcPct val="150000"/>
              </a:lnSpc>
            </a:pPr>
            <a:r>
              <a:rPr lang="en-US" altLang="zh-CN" dirty="0"/>
              <a:t>CHAR</a:t>
            </a:r>
            <a:r>
              <a:rPr lang="zh-CN" altLang="en-US" dirty="0"/>
              <a:t>列的长度固定为创建表时声明的长度。长度可以为从</a:t>
            </a:r>
            <a:r>
              <a:rPr lang="en-US" altLang="zh-CN" dirty="0"/>
              <a:t>0</a:t>
            </a:r>
            <a:r>
              <a:rPr lang="zh-CN" altLang="en-US" dirty="0"/>
              <a:t>到</a:t>
            </a:r>
            <a:r>
              <a:rPr lang="en-US" altLang="zh-CN" dirty="0"/>
              <a:t>255</a:t>
            </a:r>
            <a:r>
              <a:rPr lang="zh-CN" altLang="en-US" dirty="0"/>
              <a:t>的任何值。。</a:t>
            </a:r>
          </a:p>
          <a:p>
            <a:pPr lvl="1">
              <a:lnSpc>
                <a:spcPct val="150000"/>
              </a:lnSpc>
            </a:pPr>
            <a:r>
              <a:rPr lang="en-US" altLang="zh-CN" dirty="0"/>
              <a:t>VARCHAR</a:t>
            </a:r>
            <a:r>
              <a:rPr lang="zh-CN" altLang="en-US" dirty="0"/>
              <a:t>列中的值为</a:t>
            </a:r>
            <a:r>
              <a:rPr lang="zh-CN" altLang="en-US" dirty="0">
                <a:solidFill>
                  <a:srgbClr val="FFFF00"/>
                </a:solidFill>
              </a:rPr>
              <a:t>可变长字符串</a:t>
            </a:r>
            <a:r>
              <a:rPr lang="zh-CN" altLang="en-US" dirty="0"/>
              <a:t>。长度可以指定为</a:t>
            </a:r>
            <a:r>
              <a:rPr lang="en-US" altLang="zh-CN" dirty="0"/>
              <a:t>0</a:t>
            </a:r>
            <a:r>
              <a:rPr lang="zh-CN" altLang="en-US" dirty="0"/>
              <a:t>到</a:t>
            </a:r>
            <a:r>
              <a:rPr lang="en-US" altLang="zh-CN" dirty="0"/>
              <a:t>65,535</a:t>
            </a:r>
            <a:r>
              <a:rPr lang="zh-CN" altLang="en-US" dirty="0"/>
              <a:t>之间的值。</a:t>
            </a:r>
          </a:p>
          <a:p>
            <a:pPr lvl="1">
              <a:lnSpc>
                <a:spcPct val="150000"/>
              </a:lnSpc>
            </a:pPr>
            <a:r>
              <a:rPr lang="zh-CN" altLang="en-US" dirty="0"/>
              <a:t>如果分配给</a:t>
            </a:r>
            <a:r>
              <a:rPr lang="en-US" altLang="zh-CN" dirty="0"/>
              <a:t>CHAR</a:t>
            </a:r>
            <a:r>
              <a:rPr lang="zh-CN" altLang="en-US" dirty="0"/>
              <a:t>或</a:t>
            </a:r>
            <a:r>
              <a:rPr lang="en-US" altLang="zh-CN" dirty="0"/>
              <a:t>VARCHAR</a:t>
            </a:r>
            <a:r>
              <a:rPr lang="zh-CN" altLang="en-US" dirty="0"/>
              <a:t>列的值超过列的最大长度，则对值进行裁剪以使其适合。</a:t>
            </a:r>
          </a:p>
        </p:txBody>
      </p:sp>
    </p:spTree>
    <p:custDataLst>
      <p:tags r:id="rId1"/>
    </p:custDataLst>
    <p:extLst>
      <p:ext uri="{BB962C8B-B14F-4D97-AF65-F5344CB8AC3E}">
        <p14:creationId xmlns:p14="http://schemas.microsoft.com/office/powerpoint/2010/main" val="827671962"/>
      </p:ext>
    </p:extLst>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5" name="Rectangle 3">
            <a:extLst>
              <a:ext uri="{FF2B5EF4-FFF2-40B4-BE49-F238E27FC236}">
                <a16:creationId xmlns:a16="http://schemas.microsoft.com/office/drawing/2014/main" id="{36E2E4B1-758A-47AB-B67B-2F273CBA8AEB}"/>
              </a:ext>
            </a:extLst>
          </p:cNvPr>
          <p:cNvSpPr>
            <a:spLocks noGrp="1" noChangeArrowheads="1"/>
          </p:cNvSpPr>
          <p:nvPr>
            <p:ph type="body" idx="4294967295"/>
          </p:nvPr>
        </p:nvSpPr>
        <p:spPr>
          <a:xfrm>
            <a:off x="609600" y="908720"/>
            <a:ext cx="10972800" cy="4525963"/>
          </a:xfrm>
        </p:spPr>
        <p:txBody>
          <a:bodyPr/>
          <a:lstStyle/>
          <a:p>
            <a:r>
              <a:rPr lang="zh-CN" altLang="en-US" dirty="0"/>
              <a:t>创建表的一般格式如下：</a:t>
            </a:r>
          </a:p>
          <a:p>
            <a:pPr>
              <a:buFontTx/>
              <a:buNone/>
            </a:pPr>
            <a:r>
              <a:rPr lang="en-US" altLang="zh-CN" dirty="0"/>
              <a:t>CREATE TABLE </a:t>
            </a:r>
            <a:r>
              <a:rPr lang="zh-CN" altLang="en-US" dirty="0"/>
              <a:t>新的关系表名</a:t>
            </a:r>
          </a:p>
          <a:p>
            <a:pPr>
              <a:buFontTx/>
              <a:buNone/>
            </a:pPr>
            <a:r>
              <a:rPr lang="en-US" altLang="zh-CN" dirty="0"/>
              <a:t>( </a:t>
            </a:r>
            <a:r>
              <a:rPr lang="zh-CN" altLang="en-US" dirty="0"/>
              <a:t>列名</a:t>
            </a:r>
            <a:r>
              <a:rPr lang="en-US" altLang="zh-CN" dirty="0"/>
              <a:t>1   </a:t>
            </a:r>
            <a:r>
              <a:rPr lang="zh-CN" altLang="en-US" dirty="0"/>
              <a:t>类型</a:t>
            </a:r>
            <a:r>
              <a:rPr lang="en-US" altLang="zh-CN" dirty="0"/>
              <a:t>1   [</a:t>
            </a:r>
            <a:r>
              <a:rPr lang="zh-CN" altLang="en-US" dirty="0"/>
              <a:t>列约束</a:t>
            </a:r>
            <a:r>
              <a:rPr lang="en-US" altLang="zh-CN" dirty="0"/>
              <a:t>1] ,</a:t>
            </a:r>
          </a:p>
          <a:p>
            <a:pPr>
              <a:buFontTx/>
              <a:buNone/>
            </a:pPr>
            <a:r>
              <a:rPr lang="en-US" altLang="zh-CN" dirty="0"/>
              <a:t>  </a:t>
            </a:r>
            <a:r>
              <a:rPr lang="zh-CN" altLang="en-US" dirty="0"/>
              <a:t>列名</a:t>
            </a:r>
            <a:r>
              <a:rPr lang="en-US" altLang="zh-CN" dirty="0"/>
              <a:t>2   </a:t>
            </a:r>
            <a:r>
              <a:rPr lang="zh-CN" altLang="en-US" dirty="0"/>
              <a:t>类型</a:t>
            </a:r>
            <a:r>
              <a:rPr lang="en-US" altLang="zh-CN" dirty="0"/>
              <a:t>2   [</a:t>
            </a:r>
            <a:r>
              <a:rPr lang="zh-CN" altLang="en-US" dirty="0"/>
              <a:t>列约束</a:t>
            </a:r>
            <a:r>
              <a:rPr lang="en-US" altLang="zh-CN" dirty="0"/>
              <a:t>2],</a:t>
            </a:r>
          </a:p>
          <a:p>
            <a:pPr>
              <a:buFontTx/>
              <a:buNone/>
            </a:pPr>
            <a:r>
              <a:rPr lang="en-US" altLang="zh-CN" dirty="0"/>
              <a:t>……………… ,</a:t>
            </a:r>
          </a:p>
          <a:p>
            <a:pPr>
              <a:buFontTx/>
              <a:buNone/>
            </a:pPr>
            <a:r>
              <a:rPr lang="en-US" altLang="zh-CN" dirty="0"/>
              <a:t>  [</a:t>
            </a:r>
            <a:r>
              <a:rPr lang="zh-CN" altLang="en-US" dirty="0"/>
              <a:t>表约束</a:t>
            </a:r>
            <a:r>
              <a:rPr lang="en-US" altLang="zh-CN" dirty="0"/>
              <a:t>1],</a:t>
            </a:r>
          </a:p>
          <a:p>
            <a:pPr>
              <a:buFontTx/>
              <a:buNone/>
            </a:pPr>
            <a:r>
              <a:rPr lang="en-US" altLang="zh-CN" dirty="0"/>
              <a:t>  [</a:t>
            </a:r>
            <a:r>
              <a:rPr lang="zh-CN" altLang="en-US" dirty="0"/>
              <a:t>表约束</a:t>
            </a:r>
            <a:r>
              <a:rPr lang="en-US" altLang="zh-CN" dirty="0"/>
              <a:t>2]              );</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67408" y="0"/>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sz="4000" b="1" dirty="0">
                <a:solidFill>
                  <a:srgbClr val="FFFFCC"/>
                </a:solidFill>
                <a:effectLst>
                  <a:outerShdw blurRad="38100" dist="38100" dir="2700000" algn="tl">
                    <a:srgbClr val="000000"/>
                  </a:outerShdw>
                </a:effectLst>
              </a:rPr>
              <a:t>定义基本表</a:t>
            </a:r>
            <a:endParaRPr lang="zh-CN" altLang="en-US" sz="4000" b="1" dirty="0">
              <a:solidFill>
                <a:srgbClr val="FFFFCC"/>
              </a:solidFill>
              <a:effectLst>
                <a:outerShdw blurRad="38100" dist="38100" dir="2700000" algn="tl">
                  <a:srgbClr val="000000"/>
                </a:outerShdw>
              </a:effectLst>
              <a:cs typeface="+mn-cs"/>
            </a:endParaRPr>
          </a:p>
        </p:txBody>
      </p:sp>
      <p:sp>
        <p:nvSpPr>
          <p:cNvPr id="31" name="Rectangle 4"/>
          <p:cNvSpPr>
            <a:spLocks noChangeArrowheads="1"/>
          </p:cNvSpPr>
          <p:nvPr/>
        </p:nvSpPr>
        <p:spPr bwMode="auto">
          <a:xfrm>
            <a:off x="659395" y="2852936"/>
            <a:ext cx="8712968" cy="1970088"/>
          </a:xfrm>
          <a:prstGeom prst="rect">
            <a:avLst/>
          </a:prstGeom>
          <a:noFill/>
          <a:ln w="9525">
            <a:noFill/>
            <a:miter lim="800000"/>
            <a:headEnd/>
            <a:tailEnd/>
          </a:ln>
          <a:effectLst/>
        </p:spPr>
        <p:txBody>
          <a:bodyPr/>
          <a:lstStyle/>
          <a:p>
            <a:pPr marL="342900" indent="-342900">
              <a:spcAft>
                <a:spcPct val="0"/>
              </a:spcAft>
              <a:buClr>
                <a:srgbClr val="66FF33"/>
              </a:buClr>
              <a:buSzPct val="85000"/>
              <a:defRPr/>
            </a:pPr>
            <a:r>
              <a:rPr lang="en-US" altLang="en-US" sz="4800" b="1" kern="0" dirty="0">
                <a:solidFill>
                  <a:srgbClr val="FFCC00"/>
                </a:solidFill>
                <a:effectLst>
                  <a:outerShdw blurRad="38100" dist="38100" dir="2700000" algn="tl">
                    <a:srgbClr val="000000"/>
                  </a:outerShdw>
                </a:effectLst>
                <a:latin typeface="Arial" pitchFamily="34" charset="0"/>
                <a:cs typeface="Arial" pitchFamily="34" charset="0"/>
              </a:rPr>
              <a:t>CREATE TABLE </a:t>
            </a:r>
            <a:r>
              <a:rPr lang="en-US" altLang="en-US" sz="4800" b="1" kern="0" dirty="0">
                <a:solidFill>
                  <a:srgbClr val="FFFFCC"/>
                </a:solidFill>
                <a:effectLst>
                  <a:outerShdw blurRad="38100" dist="38100" dir="2700000" algn="tl">
                    <a:srgbClr val="000000"/>
                  </a:outerShdw>
                </a:effectLst>
                <a:latin typeface="Arial" pitchFamily="34" charset="0"/>
                <a:cs typeface="Arial" pitchFamily="34" charset="0"/>
              </a:rPr>
              <a:t>Teacher</a:t>
            </a:r>
            <a:r>
              <a:rPr lang="en-US" altLang="zh-CN" sz="4800" b="1" kern="0" dirty="0">
                <a:solidFill>
                  <a:srgbClr val="FFCC00"/>
                </a:solidFill>
                <a:effectLst>
                  <a:outerShdw blurRad="38100" dist="38100" dir="2700000" algn="tl">
                    <a:srgbClr val="000000"/>
                  </a:outerShdw>
                </a:effectLst>
                <a:latin typeface="Arial" pitchFamily="34" charset="0"/>
                <a:cs typeface="Arial" pitchFamily="34" charset="0"/>
              </a:rPr>
              <a:t> </a:t>
            </a:r>
            <a:r>
              <a:rPr lang="en-US" altLang="en-US" sz="4800" b="1" kern="0" dirty="0">
                <a:solidFill>
                  <a:srgbClr val="FFCC00"/>
                </a:solidFill>
                <a:effectLst>
                  <a:outerShdw blurRad="38100" dist="38100" dir="2700000" algn="tl">
                    <a:srgbClr val="000000"/>
                  </a:outerShdw>
                </a:effectLst>
                <a:latin typeface="Arial" pitchFamily="34" charset="0"/>
                <a:cs typeface="Arial" pitchFamily="34" charset="0"/>
              </a:rPr>
              <a:t>(</a:t>
            </a:r>
            <a:endParaRPr lang="en-US" altLang="zh-CN" sz="4800" b="1" kern="0" dirty="0">
              <a:solidFill>
                <a:srgbClr val="FFCC00"/>
              </a:solidFill>
              <a:effectLst>
                <a:outerShdw blurRad="38100" dist="38100" dir="2700000" algn="tl">
                  <a:srgbClr val="000000"/>
                </a:outerShdw>
              </a:effectLst>
              <a:latin typeface="Arial" pitchFamily="34" charset="0"/>
              <a:cs typeface="Arial" pitchFamily="34" charset="0"/>
            </a:endParaRPr>
          </a:p>
          <a:p>
            <a:pPr marL="342900" indent="-342900">
              <a:spcAft>
                <a:spcPct val="0"/>
              </a:spcAft>
              <a:buClr>
                <a:srgbClr val="66FF33"/>
              </a:buClr>
              <a:buSzPct val="85000"/>
              <a:defRPr/>
            </a:pPr>
            <a:r>
              <a:rPr lang="en-US" altLang="zh-CN" sz="4800" kern="0" dirty="0">
                <a:solidFill>
                  <a:srgbClr val="FFFFCC"/>
                </a:solidFill>
                <a:effectLst>
                  <a:outerShdw blurRad="38100" dist="38100" dir="2700000" algn="tl">
                    <a:srgbClr val="000000"/>
                  </a:outerShdw>
                </a:effectLst>
                <a:latin typeface="Arial" pitchFamily="34" charset="0"/>
                <a:cs typeface="Arial" pitchFamily="34" charset="0"/>
              </a:rPr>
              <a:t>  </a:t>
            </a:r>
            <a:r>
              <a:rPr lang="en-US" altLang="en-US" sz="4800" kern="0" dirty="0" err="1">
                <a:solidFill>
                  <a:srgbClr val="FFFFCC"/>
                </a:solidFill>
                <a:effectLst>
                  <a:outerShdw blurRad="38100" dist="38100" dir="2700000" algn="tl">
                    <a:srgbClr val="000000"/>
                  </a:outerShdw>
                </a:effectLst>
                <a:latin typeface="Arial" pitchFamily="34" charset="0"/>
                <a:cs typeface="Arial" pitchFamily="34" charset="0"/>
              </a:rPr>
              <a:t>工号</a:t>
            </a:r>
            <a:r>
              <a:rPr lang="en-US" altLang="en-US" sz="4800" kern="0" dirty="0">
                <a:solidFill>
                  <a:srgbClr val="FFFFCC"/>
                </a:solidFill>
                <a:effectLst>
                  <a:outerShdw blurRad="38100" dist="38100" dir="2700000" algn="tl">
                    <a:srgbClr val="000000"/>
                  </a:outerShdw>
                </a:effectLst>
                <a:latin typeface="Arial" pitchFamily="34" charset="0"/>
                <a:cs typeface="Arial" pitchFamily="34" charset="0"/>
              </a:rPr>
              <a:t> </a:t>
            </a:r>
            <a:r>
              <a:rPr lang="en-US" altLang="en-US" sz="4800" kern="0" dirty="0">
                <a:solidFill>
                  <a:srgbClr val="CCFF99"/>
                </a:solidFill>
                <a:effectLst>
                  <a:outerShdw blurRad="38100" dist="38100" dir="2700000" algn="tl">
                    <a:srgbClr val="000000"/>
                  </a:outerShdw>
                </a:effectLst>
                <a:latin typeface="Arial" pitchFamily="34" charset="0"/>
                <a:cs typeface="Arial" pitchFamily="34" charset="0"/>
              </a:rPr>
              <a:t>CHAR</a:t>
            </a:r>
            <a:r>
              <a:rPr lang="en-US" altLang="en-US" sz="4800" kern="0" dirty="0">
                <a:solidFill>
                  <a:srgbClr val="FFFFCC"/>
                </a:solidFill>
                <a:effectLst>
                  <a:outerShdw blurRad="38100" dist="38100" dir="2700000" algn="tl">
                    <a:srgbClr val="000000"/>
                  </a:outerShdw>
                </a:effectLst>
                <a:latin typeface="Arial" pitchFamily="34" charset="0"/>
                <a:cs typeface="Arial" pitchFamily="34" charset="0"/>
              </a:rPr>
              <a:t>(4),</a:t>
            </a:r>
          </a:p>
          <a:p>
            <a:pPr marL="342900" indent="-342900">
              <a:spcAft>
                <a:spcPct val="0"/>
              </a:spcAft>
              <a:buClr>
                <a:srgbClr val="66FF33"/>
              </a:buClr>
              <a:buSzPct val="85000"/>
              <a:defRPr/>
            </a:pPr>
            <a:r>
              <a:rPr lang="en-US" altLang="zh-CN" sz="4800" kern="0" dirty="0">
                <a:solidFill>
                  <a:srgbClr val="FFFFCC"/>
                </a:solidFill>
                <a:effectLst>
                  <a:outerShdw blurRad="38100" dist="38100" dir="2700000" algn="tl">
                    <a:srgbClr val="000000"/>
                  </a:outerShdw>
                </a:effectLst>
                <a:latin typeface="Arial" pitchFamily="34" charset="0"/>
                <a:cs typeface="Arial" pitchFamily="34" charset="0"/>
              </a:rPr>
              <a:t>  </a:t>
            </a:r>
            <a:r>
              <a:rPr lang="en-US" altLang="en-US" sz="4800" kern="0" dirty="0" err="1">
                <a:solidFill>
                  <a:srgbClr val="FFFFCC"/>
                </a:solidFill>
                <a:effectLst>
                  <a:outerShdw blurRad="38100" dist="38100" dir="2700000" algn="tl">
                    <a:srgbClr val="000000"/>
                  </a:outerShdw>
                </a:effectLst>
                <a:latin typeface="Arial" pitchFamily="34" charset="0"/>
                <a:cs typeface="Arial" pitchFamily="34" charset="0"/>
              </a:rPr>
              <a:t>姓名</a:t>
            </a:r>
            <a:r>
              <a:rPr lang="en-US" altLang="en-US" sz="4800" kern="0" dirty="0">
                <a:solidFill>
                  <a:srgbClr val="FFFFCC"/>
                </a:solidFill>
                <a:effectLst>
                  <a:outerShdw blurRad="38100" dist="38100" dir="2700000" algn="tl">
                    <a:srgbClr val="000000"/>
                  </a:outerShdw>
                </a:effectLst>
                <a:latin typeface="Arial" pitchFamily="34" charset="0"/>
                <a:cs typeface="Arial" pitchFamily="34" charset="0"/>
              </a:rPr>
              <a:t> </a:t>
            </a:r>
            <a:r>
              <a:rPr lang="en-US" altLang="en-US" sz="4800" kern="0" dirty="0">
                <a:solidFill>
                  <a:srgbClr val="CCFF99"/>
                </a:solidFill>
                <a:effectLst>
                  <a:outerShdw blurRad="38100" dist="38100" dir="2700000" algn="tl">
                    <a:srgbClr val="000000"/>
                  </a:outerShdw>
                </a:effectLst>
                <a:latin typeface="Arial" pitchFamily="34" charset="0"/>
                <a:cs typeface="Arial" pitchFamily="34" charset="0"/>
              </a:rPr>
              <a:t>CHAR</a:t>
            </a:r>
            <a:r>
              <a:rPr lang="en-US" altLang="en-US" sz="4800" kern="0" dirty="0">
                <a:solidFill>
                  <a:srgbClr val="FFFFCC"/>
                </a:solidFill>
                <a:effectLst>
                  <a:outerShdw blurRad="38100" dist="38100" dir="2700000" algn="tl">
                    <a:srgbClr val="000000"/>
                  </a:outerShdw>
                </a:effectLst>
                <a:latin typeface="Arial" pitchFamily="34" charset="0"/>
                <a:cs typeface="Arial" pitchFamily="34" charset="0"/>
              </a:rPr>
              <a:t>(20),</a:t>
            </a:r>
          </a:p>
          <a:p>
            <a:pPr marL="342900" indent="-342900">
              <a:spcAft>
                <a:spcPct val="0"/>
              </a:spcAft>
              <a:buClr>
                <a:srgbClr val="66FF33"/>
              </a:buClr>
              <a:buSzPct val="85000"/>
              <a:defRPr/>
            </a:pPr>
            <a:r>
              <a:rPr lang="en-US" altLang="zh-CN" sz="4800" kern="0" dirty="0">
                <a:solidFill>
                  <a:srgbClr val="FFFFCC"/>
                </a:solidFill>
                <a:effectLst>
                  <a:outerShdw blurRad="38100" dist="38100" dir="2700000" algn="tl">
                    <a:srgbClr val="000000"/>
                  </a:outerShdw>
                </a:effectLst>
                <a:latin typeface="Arial" pitchFamily="34" charset="0"/>
                <a:cs typeface="Arial" pitchFamily="34" charset="0"/>
              </a:rPr>
              <a:t>  </a:t>
            </a:r>
            <a:r>
              <a:rPr lang="en-US" altLang="en-US" sz="4800" kern="0" dirty="0" err="1">
                <a:solidFill>
                  <a:srgbClr val="FFFFCC"/>
                </a:solidFill>
                <a:effectLst>
                  <a:outerShdw blurRad="38100" dist="38100" dir="2700000" algn="tl">
                    <a:srgbClr val="000000"/>
                  </a:outerShdw>
                </a:effectLst>
                <a:latin typeface="Arial" pitchFamily="34" charset="0"/>
                <a:cs typeface="Arial" pitchFamily="34" charset="0"/>
              </a:rPr>
              <a:t>年龄</a:t>
            </a:r>
            <a:r>
              <a:rPr lang="en-US" altLang="en-US" sz="4800" kern="0" dirty="0">
                <a:solidFill>
                  <a:srgbClr val="FFFFCC"/>
                </a:solidFill>
                <a:effectLst>
                  <a:outerShdw blurRad="38100" dist="38100" dir="2700000" algn="tl">
                    <a:srgbClr val="000000"/>
                  </a:outerShdw>
                </a:effectLst>
                <a:latin typeface="Arial" pitchFamily="34" charset="0"/>
                <a:cs typeface="Arial" pitchFamily="34" charset="0"/>
              </a:rPr>
              <a:t> INT</a:t>
            </a:r>
            <a:r>
              <a:rPr lang="en-US" altLang="zh-CN" sz="4800" kern="0" dirty="0">
                <a:solidFill>
                  <a:srgbClr val="FFFFCC"/>
                </a:solidFill>
                <a:effectLst>
                  <a:outerShdw blurRad="38100" dist="38100" dir="2700000" algn="tl">
                    <a:srgbClr val="000000"/>
                  </a:outerShdw>
                </a:effectLst>
                <a:latin typeface="Arial" pitchFamily="34" charset="0"/>
                <a:cs typeface="Arial" pitchFamily="34" charset="0"/>
              </a:rPr>
              <a:t>,</a:t>
            </a:r>
          </a:p>
          <a:p>
            <a:pPr marL="342900" indent="-342900">
              <a:spcAft>
                <a:spcPct val="0"/>
              </a:spcAft>
              <a:buClr>
                <a:srgbClr val="66FF33"/>
              </a:buClr>
              <a:buSzPct val="85000"/>
              <a:defRPr/>
            </a:pPr>
            <a:r>
              <a:rPr lang="en-US" altLang="zh-CN" sz="4800" kern="0" dirty="0">
                <a:solidFill>
                  <a:srgbClr val="FFFFCC"/>
                </a:solidFill>
                <a:effectLst>
                  <a:outerShdw blurRad="38100" dist="38100" dir="2700000" algn="tl">
                    <a:srgbClr val="000000"/>
                  </a:outerShdw>
                </a:effectLst>
                <a:latin typeface="Arial" pitchFamily="34" charset="0"/>
                <a:cs typeface="Arial" pitchFamily="34" charset="0"/>
              </a:rPr>
              <a:t>  </a:t>
            </a:r>
            <a:r>
              <a:rPr lang="en-US" altLang="en-US" sz="4800" kern="0" dirty="0" err="1">
                <a:solidFill>
                  <a:srgbClr val="FFFFCC"/>
                </a:solidFill>
                <a:effectLst>
                  <a:outerShdw blurRad="38100" dist="38100" dir="2700000" algn="tl">
                    <a:srgbClr val="000000"/>
                  </a:outerShdw>
                </a:effectLst>
                <a:latin typeface="Arial" pitchFamily="34" charset="0"/>
                <a:cs typeface="Arial" pitchFamily="34" charset="0"/>
              </a:rPr>
              <a:t>性别</a:t>
            </a:r>
            <a:r>
              <a:rPr lang="en-US" altLang="en-US" sz="4800" kern="0" dirty="0">
                <a:solidFill>
                  <a:srgbClr val="FFFFCC"/>
                </a:solidFill>
                <a:effectLst>
                  <a:outerShdw blurRad="38100" dist="38100" dir="2700000" algn="tl">
                    <a:srgbClr val="000000"/>
                  </a:outerShdw>
                </a:effectLst>
                <a:latin typeface="Arial" pitchFamily="34" charset="0"/>
                <a:cs typeface="Arial" pitchFamily="34" charset="0"/>
              </a:rPr>
              <a:t> CHAR(2) </a:t>
            </a:r>
            <a:r>
              <a:rPr lang="en-US" altLang="en-US" sz="4800" b="1" kern="0" dirty="0">
                <a:solidFill>
                  <a:srgbClr val="FFCC00"/>
                </a:solidFill>
                <a:effectLst>
                  <a:outerShdw blurRad="38100" dist="38100" dir="2700000" algn="tl">
                    <a:srgbClr val="000000"/>
                  </a:outerShdw>
                </a:effectLst>
                <a:latin typeface="Arial" pitchFamily="34" charset="0"/>
                <a:cs typeface="Arial" pitchFamily="34" charset="0"/>
              </a:rPr>
              <a:t>)  </a:t>
            </a:r>
            <a:r>
              <a:rPr lang="zh-CN" altLang="en-US" sz="4800" b="1" kern="0" dirty="0">
                <a:solidFill>
                  <a:srgbClr val="FFCC00"/>
                </a:solidFill>
                <a:effectLst>
                  <a:outerShdw blurRad="38100" dist="38100" dir="2700000" algn="tl">
                    <a:srgbClr val="000000"/>
                  </a:outerShdw>
                </a:effectLst>
                <a:latin typeface="Arial" pitchFamily="34" charset="0"/>
                <a:cs typeface="Arial" pitchFamily="34" charset="0"/>
              </a:rPr>
              <a:t>；</a:t>
            </a:r>
            <a:endParaRPr lang="en-US" altLang="en-US" sz="4800" kern="0" dirty="0">
              <a:solidFill>
                <a:srgbClr val="CCFFCC"/>
              </a:solidFill>
              <a:effectLst>
                <a:outerShdw blurRad="38100" dist="38100" dir="2700000" algn="tl">
                  <a:srgbClr val="000000"/>
                </a:outerShdw>
              </a:effectLst>
              <a:latin typeface="Arial" pitchFamily="34" charset="0"/>
              <a:cs typeface="Arial" pitchFamily="34" charset="0"/>
            </a:endParaRPr>
          </a:p>
        </p:txBody>
      </p:sp>
      <p:sp>
        <p:nvSpPr>
          <p:cNvPr id="33" name="AutoShape 6"/>
          <p:cNvSpPr>
            <a:spLocks noChangeArrowheads="1"/>
          </p:cNvSpPr>
          <p:nvPr/>
        </p:nvSpPr>
        <p:spPr bwMode="auto">
          <a:xfrm rot="5400000">
            <a:off x="4945554" y="2062984"/>
            <a:ext cx="638549" cy="497900"/>
          </a:xfrm>
          <a:prstGeom prst="rightArrow">
            <a:avLst>
              <a:gd name="adj1" fmla="val 50000"/>
              <a:gd name="adj2" fmla="val 59955"/>
            </a:avLst>
          </a:prstGeom>
          <a:solidFill>
            <a:srgbClr val="0099CC"/>
          </a:solidFill>
          <a:ln w="38100"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a:defRPr/>
            </a:pPr>
            <a:endParaRPr lang="zh-CN" altLang="en-US" kern="0">
              <a:solidFill>
                <a:sysClr val="windowText" lastClr="000000"/>
              </a:solidFill>
            </a:endParaRPr>
          </a:p>
        </p:txBody>
      </p:sp>
      <p:sp>
        <p:nvSpPr>
          <p:cNvPr id="35" name="Rectangle 5"/>
          <p:cNvSpPr>
            <a:spLocks noChangeArrowheads="1"/>
          </p:cNvSpPr>
          <p:nvPr/>
        </p:nvSpPr>
        <p:spPr bwMode="auto">
          <a:xfrm>
            <a:off x="703880" y="978770"/>
            <a:ext cx="10153128" cy="792162"/>
          </a:xfrm>
          <a:prstGeom prst="rect">
            <a:avLst/>
          </a:prstGeom>
          <a:noFill/>
          <a:ln w="9525">
            <a:noFill/>
            <a:miter lim="800000"/>
            <a:headEnd/>
            <a:tailEnd/>
          </a:ln>
          <a:effectLst/>
        </p:spPr>
        <p:txBody>
          <a:bodyPr/>
          <a:lstStyle/>
          <a:p>
            <a:pPr>
              <a:lnSpc>
                <a:spcPct val="90000"/>
              </a:lnSpc>
              <a:spcAft>
                <a:spcPct val="0"/>
              </a:spcAft>
              <a:buClr>
                <a:srgbClr val="66FF33"/>
              </a:buClr>
              <a:buSzPct val="85000"/>
              <a:defRPr/>
            </a:pPr>
            <a:r>
              <a:rPr lang="zh-CN" altLang="en-US" sz="5400" kern="0" dirty="0">
                <a:solidFill>
                  <a:srgbClr val="92D050"/>
                </a:solidFill>
                <a:effectLst>
                  <a:outerShdw blurRad="38100" dist="38100" dir="2700000" algn="tl">
                    <a:srgbClr val="000000"/>
                  </a:outerShdw>
                </a:effectLst>
              </a:rPr>
              <a:t>创建一个没有任何约束的表</a:t>
            </a:r>
          </a:p>
        </p:txBody>
      </p:sp>
    </p:spTree>
    <p:custDataLst>
      <p:tags r:id="rId1"/>
    </p:custDataLst>
    <p:extLst>
      <p:ext uri="{BB962C8B-B14F-4D97-AF65-F5344CB8AC3E}">
        <p14:creationId xmlns:p14="http://schemas.microsoft.com/office/powerpoint/2010/main" val="1780381923"/>
      </p:ext>
    </p:extLst>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4" name="Rectangle 2">
            <a:extLst>
              <a:ext uri="{FF2B5EF4-FFF2-40B4-BE49-F238E27FC236}">
                <a16:creationId xmlns:a16="http://schemas.microsoft.com/office/drawing/2014/main" id="{0CEE6E74-10CD-4035-A932-BDCA0CFF100D}"/>
              </a:ext>
            </a:extLst>
          </p:cNvPr>
          <p:cNvSpPr>
            <a:spLocks noGrp="1" noChangeArrowheads="1"/>
          </p:cNvSpPr>
          <p:nvPr>
            <p:ph type="title" idx="4294967295"/>
          </p:nvPr>
        </p:nvSpPr>
        <p:spPr>
          <a:xfrm>
            <a:off x="1993305" y="89440"/>
            <a:ext cx="3775393" cy="707886"/>
          </a:xfrm>
        </p:spPr>
        <p:txBody>
          <a:bodyPr/>
          <a:lstStyle/>
          <a:p>
            <a:r>
              <a:rPr lang="zh-CN" altLang="en-US"/>
              <a:t>定义完整性约束</a:t>
            </a:r>
          </a:p>
        </p:txBody>
      </p:sp>
      <p:sp>
        <p:nvSpPr>
          <p:cNvPr id="694275" name="Rectangle 3">
            <a:extLst>
              <a:ext uri="{FF2B5EF4-FFF2-40B4-BE49-F238E27FC236}">
                <a16:creationId xmlns:a16="http://schemas.microsoft.com/office/drawing/2014/main" id="{269E44E8-F5F6-4A41-962B-E0E089A48D5C}"/>
              </a:ext>
            </a:extLst>
          </p:cNvPr>
          <p:cNvSpPr>
            <a:spLocks noGrp="1" noChangeArrowheads="1"/>
          </p:cNvSpPr>
          <p:nvPr>
            <p:ph type="body" idx="4294967295"/>
          </p:nvPr>
        </p:nvSpPr>
        <p:spPr/>
        <p:txBody>
          <a:bodyPr/>
          <a:lstStyle/>
          <a:p>
            <a:pPr>
              <a:lnSpc>
                <a:spcPct val="150000"/>
              </a:lnSpc>
            </a:pPr>
            <a:r>
              <a:rPr lang="zh-CN" altLang="en-US" dirty="0"/>
              <a:t>上列为创建基本表的最简单形式，还可以对表进一步定义，如主键、空值的设定，使数据库用户能够根据应用的需要对基本表的定义做出更为精确和详尽的规定。</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9" name="Rectangle 3">
            <a:extLst>
              <a:ext uri="{FF2B5EF4-FFF2-40B4-BE49-F238E27FC236}">
                <a16:creationId xmlns:a16="http://schemas.microsoft.com/office/drawing/2014/main" id="{7B2D80CD-D463-4C4D-B235-6C2CE6C5731B}"/>
              </a:ext>
            </a:extLst>
          </p:cNvPr>
          <p:cNvSpPr>
            <a:spLocks noGrp="1" noChangeArrowheads="1"/>
          </p:cNvSpPr>
          <p:nvPr>
            <p:ph type="body" idx="4294967295"/>
          </p:nvPr>
        </p:nvSpPr>
        <p:spPr/>
        <p:txBody>
          <a:bodyPr/>
          <a:lstStyle/>
          <a:p>
            <a:pPr>
              <a:lnSpc>
                <a:spcPct val="150000"/>
              </a:lnSpc>
            </a:pPr>
            <a:r>
              <a:rPr lang="zh-CN" altLang="en-US" dirty="0"/>
              <a:t>在</a:t>
            </a:r>
            <a:r>
              <a:rPr lang="en-US" altLang="zh-CN" dirty="0"/>
              <a:t>SQL </a:t>
            </a:r>
            <a:r>
              <a:rPr lang="zh-CN" altLang="en-US" dirty="0"/>
              <a:t>中，对于基本表的约束分为列约束和表约束。</a:t>
            </a:r>
          </a:p>
          <a:p>
            <a:pPr lvl="1">
              <a:lnSpc>
                <a:spcPct val="150000"/>
              </a:lnSpc>
            </a:pPr>
            <a:r>
              <a:rPr lang="zh-CN" altLang="en-US" dirty="0"/>
              <a:t>列约束，直接跟在该列的其他定义之后，用空格分隔，不必指定列名；</a:t>
            </a:r>
          </a:p>
          <a:p>
            <a:pPr lvl="1">
              <a:lnSpc>
                <a:spcPct val="150000"/>
              </a:lnSpc>
            </a:pPr>
            <a:r>
              <a:rPr lang="zh-CN" altLang="en-US" dirty="0"/>
              <a:t>表约束，通常用于对多个列一起进行约束，与列定义用’</a:t>
            </a:r>
            <a:r>
              <a:rPr lang="en-US" altLang="zh-CN" dirty="0"/>
              <a:t>,’</a:t>
            </a:r>
            <a:r>
              <a:rPr lang="zh-CN" altLang="en-US" dirty="0"/>
              <a:t>分隔，定义表约束时必须指出要约束的那些列的名称。</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2" name="Rectangle 2">
            <a:extLst>
              <a:ext uri="{FF2B5EF4-FFF2-40B4-BE49-F238E27FC236}">
                <a16:creationId xmlns:a16="http://schemas.microsoft.com/office/drawing/2014/main" id="{3B7B957A-E07B-4C04-88C7-55347C06602F}"/>
              </a:ext>
            </a:extLst>
          </p:cNvPr>
          <p:cNvSpPr>
            <a:spLocks noGrp="1" noChangeArrowheads="1"/>
          </p:cNvSpPr>
          <p:nvPr>
            <p:ph type="title" idx="4294967295"/>
          </p:nvPr>
        </p:nvSpPr>
        <p:spPr>
          <a:xfrm>
            <a:off x="3788636" y="89440"/>
            <a:ext cx="184730" cy="707886"/>
          </a:xfrm>
        </p:spPr>
        <p:txBody>
          <a:bodyPr/>
          <a:lstStyle/>
          <a:p>
            <a:endParaRPr lang="zh-CN" altLang="en-US"/>
          </a:p>
        </p:txBody>
      </p:sp>
      <p:sp>
        <p:nvSpPr>
          <p:cNvPr id="696323" name="Rectangle 3">
            <a:extLst>
              <a:ext uri="{FF2B5EF4-FFF2-40B4-BE49-F238E27FC236}">
                <a16:creationId xmlns:a16="http://schemas.microsoft.com/office/drawing/2014/main" id="{5D955258-9FB1-470B-A571-763B1F576B00}"/>
              </a:ext>
            </a:extLst>
          </p:cNvPr>
          <p:cNvSpPr>
            <a:spLocks noGrp="1" noChangeArrowheads="1"/>
          </p:cNvSpPr>
          <p:nvPr>
            <p:ph type="body" idx="4294967295"/>
          </p:nvPr>
        </p:nvSpPr>
        <p:spPr/>
        <p:txBody>
          <a:bodyPr/>
          <a:lstStyle/>
          <a:p>
            <a:pPr>
              <a:lnSpc>
                <a:spcPct val="150000"/>
              </a:lnSpc>
            </a:pPr>
            <a:r>
              <a:rPr lang="zh-CN" altLang="en-US" dirty="0"/>
              <a:t>完整性约束的基本语法格式为</a:t>
            </a:r>
          </a:p>
          <a:p>
            <a:pPr>
              <a:lnSpc>
                <a:spcPct val="150000"/>
              </a:lnSpc>
              <a:buFontTx/>
              <a:buNone/>
            </a:pPr>
            <a:r>
              <a:rPr lang="zh-CN" altLang="en-US" dirty="0"/>
              <a:t>		</a:t>
            </a:r>
            <a:r>
              <a:rPr lang="en-US" altLang="zh-CN" dirty="0"/>
              <a:t>[ Constraint &lt;</a:t>
            </a:r>
            <a:r>
              <a:rPr lang="zh-CN" altLang="en-US" dirty="0"/>
              <a:t>约束名</a:t>
            </a:r>
            <a:r>
              <a:rPr lang="en-US" altLang="zh-CN" dirty="0"/>
              <a:t>&gt; ] &lt;</a:t>
            </a:r>
            <a:r>
              <a:rPr lang="zh-CN" altLang="en-US" dirty="0"/>
              <a:t>约束类型</a:t>
            </a:r>
            <a:r>
              <a:rPr lang="en-US" altLang="zh-CN" dirty="0"/>
              <a:t>&gt;</a:t>
            </a:r>
          </a:p>
          <a:p>
            <a:pPr lvl="1">
              <a:lnSpc>
                <a:spcPct val="150000"/>
              </a:lnSpc>
            </a:pPr>
            <a:r>
              <a:rPr lang="zh-CN" altLang="en-US" dirty="0"/>
              <a:t>约束名。约束不指定名称时，系统会给定一个名称。</a:t>
            </a:r>
          </a:p>
          <a:p>
            <a:pPr lvl="1">
              <a:lnSpc>
                <a:spcPct val="150000"/>
              </a:lnSpc>
            </a:pPr>
            <a:r>
              <a:rPr lang="zh-CN" altLang="en-US" dirty="0"/>
              <a:t>约束类型。在定义完整性约束时必须指定完整性约束的类型。</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7" name="Rectangle 3">
            <a:extLst>
              <a:ext uri="{FF2B5EF4-FFF2-40B4-BE49-F238E27FC236}">
                <a16:creationId xmlns:a16="http://schemas.microsoft.com/office/drawing/2014/main" id="{37312BB6-7A40-40D1-BBD4-FE378E10B85A}"/>
              </a:ext>
            </a:extLst>
          </p:cNvPr>
          <p:cNvSpPr>
            <a:spLocks noGrp="1" noChangeArrowheads="1"/>
          </p:cNvSpPr>
          <p:nvPr>
            <p:ph type="body" idx="4294967295"/>
          </p:nvPr>
        </p:nvSpPr>
        <p:spPr/>
        <p:txBody>
          <a:bodyPr/>
          <a:lstStyle/>
          <a:p>
            <a:pPr>
              <a:lnSpc>
                <a:spcPct val="150000"/>
              </a:lnSpc>
            </a:pPr>
            <a:r>
              <a:rPr lang="zh-CN" altLang="en-US" sz="2800" dirty="0"/>
              <a:t>列级约束。紧接属性类型之后，用空格分隔。</a:t>
            </a:r>
          </a:p>
          <a:p>
            <a:pPr lvl="1">
              <a:lnSpc>
                <a:spcPct val="150000"/>
              </a:lnSpc>
              <a:buFontTx/>
              <a:buNone/>
            </a:pPr>
            <a:r>
              <a:rPr lang="zh-CN" altLang="en-US" sz="2400" dirty="0"/>
              <a:t>格式：列名  数据类型  </a:t>
            </a:r>
            <a:r>
              <a:rPr lang="en-US" altLang="zh-CN" sz="2400" dirty="0"/>
              <a:t>[constraint  </a:t>
            </a:r>
            <a:r>
              <a:rPr lang="zh-CN" altLang="en-US" sz="2400" dirty="0"/>
              <a:t>约束名</a:t>
            </a:r>
            <a:r>
              <a:rPr lang="en-US" altLang="zh-CN" sz="2400" dirty="0"/>
              <a:t>]   </a:t>
            </a:r>
            <a:r>
              <a:rPr lang="zh-CN" altLang="en-US" sz="2400" dirty="0"/>
              <a:t>约束类型</a:t>
            </a:r>
          </a:p>
          <a:p>
            <a:pPr lvl="1">
              <a:lnSpc>
                <a:spcPct val="150000"/>
              </a:lnSpc>
              <a:buFontTx/>
              <a:buNone/>
            </a:pPr>
            <a:r>
              <a:rPr lang="zh-CN" altLang="en-US" sz="2400" dirty="0"/>
              <a:t>如：</a:t>
            </a:r>
            <a:r>
              <a:rPr lang="en-US" altLang="zh-CN" sz="2400" dirty="0"/>
              <a:t>s  int  [constraint  </a:t>
            </a:r>
            <a:r>
              <a:rPr lang="en-US" altLang="zh-CN" sz="2400" dirty="0" err="1"/>
              <a:t>s_c</a:t>
            </a:r>
            <a:r>
              <a:rPr lang="en-US" altLang="zh-CN" sz="2400" dirty="0"/>
              <a:t>] not null</a:t>
            </a:r>
          </a:p>
          <a:p>
            <a:pPr>
              <a:lnSpc>
                <a:spcPct val="150000"/>
              </a:lnSpc>
            </a:pPr>
            <a:r>
              <a:rPr lang="zh-CN" altLang="en-US" sz="2800" dirty="0"/>
              <a:t>表级约束。在所有属性定义之后，用‘，’分隔。</a:t>
            </a:r>
          </a:p>
          <a:p>
            <a:pPr lvl="1">
              <a:lnSpc>
                <a:spcPct val="150000"/>
              </a:lnSpc>
              <a:buFontTx/>
              <a:buNone/>
            </a:pPr>
            <a:r>
              <a:rPr lang="zh-CN" altLang="en-US" sz="2400" dirty="0"/>
              <a:t>格式：</a:t>
            </a:r>
            <a:r>
              <a:rPr lang="en-US" altLang="zh-CN" sz="2400" dirty="0"/>
              <a:t>[constraint  </a:t>
            </a:r>
            <a:r>
              <a:rPr lang="zh-CN" altLang="en-US" sz="2400" dirty="0"/>
              <a:t>约束名</a:t>
            </a:r>
            <a:r>
              <a:rPr lang="en-US" altLang="zh-CN" sz="2400" dirty="0"/>
              <a:t>]   </a:t>
            </a:r>
            <a:r>
              <a:rPr lang="zh-CN" altLang="en-US" sz="2400" dirty="0"/>
              <a:t>约束类型 </a:t>
            </a:r>
            <a:r>
              <a:rPr lang="en-US" altLang="zh-CN" sz="2400" dirty="0"/>
              <a:t>(</a:t>
            </a:r>
            <a:r>
              <a:rPr lang="zh-CN" altLang="en-US" sz="2400" dirty="0"/>
              <a:t>列名，列名</a:t>
            </a:r>
            <a:r>
              <a:rPr lang="en-US" altLang="zh-CN" sz="2400" dirty="0"/>
              <a:t>…)</a:t>
            </a:r>
          </a:p>
          <a:p>
            <a:pPr lvl="1">
              <a:lnSpc>
                <a:spcPct val="150000"/>
              </a:lnSpc>
              <a:buFontTx/>
              <a:buNone/>
            </a:pPr>
            <a:r>
              <a:rPr lang="zh-CN" altLang="en-US" sz="2400" dirty="0"/>
              <a:t>如： </a:t>
            </a:r>
            <a:r>
              <a:rPr lang="en-US" altLang="zh-CN" sz="2400" dirty="0"/>
              <a:t>[constraint  </a:t>
            </a:r>
            <a:r>
              <a:rPr lang="en-US" altLang="zh-CN" sz="2400" dirty="0" err="1"/>
              <a:t>s_c</a:t>
            </a:r>
            <a:r>
              <a:rPr lang="en-US" altLang="zh-CN" sz="2400" dirty="0"/>
              <a:t>] unique (s)</a:t>
            </a:r>
            <a:endParaRPr lang="zh-CN" altLang="en-US" sz="24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7" name="Rectangle 3">
            <a:extLst>
              <a:ext uri="{FF2B5EF4-FFF2-40B4-BE49-F238E27FC236}">
                <a16:creationId xmlns:a16="http://schemas.microsoft.com/office/drawing/2014/main" id="{7AD932DB-A38D-418E-B067-89C656AE3772}"/>
              </a:ext>
            </a:extLst>
          </p:cNvPr>
          <p:cNvSpPr>
            <a:spLocks noGrp="1" noChangeArrowheads="1"/>
          </p:cNvSpPr>
          <p:nvPr>
            <p:ph type="body" idx="4294967295"/>
          </p:nvPr>
        </p:nvSpPr>
        <p:spPr>
          <a:xfrm>
            <a:off x="479376" y="692696"/>
            <a:ext cx="10972800" cy="4525963"/>
          </a:xfrm>
        </p:spPr>
        <p:txBody>
          <a:bodyPr>
            <a:normAutofit fontScale="85000" lnSpcReduction="10000"/>
          </a:bodyPr>
          <a:lstStyle/>
          <a:p>
            <a:pPr>
              <a:lnSpc>
                <a:spcPct val="150000"/>
              </a:lnSpc>
              <a:buFontTx/>
              <a:buNone/>
            </a:pPr>
            <a:r>
              <a:rPr lang="zh-CN" altLang="en-US" dirty="0"/>
              <a:t>（</a:t>
            </a:r>
            <a:r>
              <a:rPr lang="en-US" altLang="zh-CN" dirty="0"/>
              <a:t>1</a:t>
            </a:r>
            <a:r>
              <a:rPr lang="zh-CN" altLang="en-US" dirty="0"/>
              <a:t>）</a:t>
            </a:r>
            <a:r>
              <a:rPr lang="en-US" altLang="zh-CN" dirty="0"/>
              <a:t>NULL/NOT NULL</a:t>
            </a:r>
          </a:p>
          <a:p>
            <a:pPr>
              <a:lnSpc>
                <a:spcPct val="150000"/>
              </a:lnSpc>
            </a:pPr>
            <a:r>
              <a:rPr lang="zh-CN" altLang="en-US" dirty="0"/>
              <a:t>只能用于定义列约束，其语法格式如下</a:t>
            </a:r>
          </a:p>
          <a:p>
            <a:pPr>
              <a:lnSpc>
                <a:spcPct val="150000"/>
              </a:lnSpc>
            </a:pPr>
            <a:r>
              <a:rPr lang="en-US" altLang="zh-CN" dirty="0"/>
              <a:t>[Constraint    &lt;</a:t>
            </a:r>
            <a:r>
              <a:rPr lang="zh-CN" altLang="en-US" dirty="0"/>
              <a:t>约束名</a:t>
            </a:r>
            <a:r>
              <a:rPr lang="en-US" altLang="zh-CN" dirty="0"/>
              <a:t>&gt; ]     [</a:t>
            </a:r>
            <a:r>
              <a:rPr lang="en-US" altLang="zh-CN" dirty="0" err="1"/>
              <a:t>Null|not</a:t>
            </a:r>
            <a:r>
              <a:rPr lang="en-US" altLang="zh-CN" dirty="0"/>
              <a:t> Null] </a:t>
            </a:r>
          </a:p>
          <a:p>
            <a:pPr>
              <a:lnSpc>
                <a:spcPct val="150000"/>
              </a:lnSpc>
            </a:pPr>
            <a:r>
              <a:rPr lang="en-US" altLang="zh-CN" dirty="0"/>
              <a:t>Null</a:t>
            </a:r>
            <a:r>
              <a:rPr lang="zh-CN" altLang="en-US" dirty="0"/>
              <a:t>值不是</a:t>
            </a:r>
            <a:r>
              <a:rPr lang="en-US" altLang="zh-CN" dirty="0"/>
              <a:t>0</a:t>
            </a:r>
            <a:r>
              <a:rPr lang="zh-CN" altLang="en-US" dirty="0"/>
              <a:t>也不是空白，更不是填入字符串“</a:t>
            </a:r>
            <a:r>
              <a:rPr lang="en-US" altLang="zh-CN" dirty="0"/>
              <a:t>null”</a:t>
            </a:r>
            <a:r>
              <a:rPr lang="zh-CN" altLang="en-US" dirty="0"/>
              <a:t>，而是表示“不知道”、“不确定”或“没有数据”的意思。</a:t>
            </a:r>
          </a:p>
          <a:p>
            <a:pPr>
              <a:lnSpc>
                <a:spcPct val="150000"/>
              </a:lnSpc>
            </a:pPr>
            <a:r>
              <a:rPr lang="zh-CN" altLang="en-US" dirty="0"/>
              <a:t>主键列就不允许出现空值，否则就失去了唯一标识一条记录的作用。</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1" name="Rectangle 3">
            <a:extLst>
              <a:ext uri="{FF2B5EF4-FFF2-40B4-BE49-F238E27FC236}">
                <a16:creationId xmlns:a16="http://schemas.microsoft.com/office/drawing/2014/main" id="{962CF82C-A062-4AD8-9484-DF8A1C07B927}"/>
              </a:ext>
            </a:extLst>
          </p:cNvPr>
          <p:cNvSpPr>
            <a:spLocks noGrp="1" noChangeArrowheads="1"/>
          </p:cNvSpPr>
          <p:nvPr>
            <p:ph type="body" idx="4294967295"/>
          </p:nvPr>
        </p:nvSpPr>
        <p:spPr>
          <a:xfrm>
            <a:off x="1631504" y="764704"/>
            <a:ext cx="9950896" cy="5040560"/>
          </a:xfrm>
        </p:spPr>
        <p:txBody>
          <a:bodyPr>
            <a:normAutofit fontScale="92500" lnSpcReduction="20000"/>
          </a:bodyPr>
          <a:lstStyle/>
          <a:p>
            <a:pPr>
              <a:lnSpc>
                <a:spcPct val="150000"/>
              </a:lnSpc>
            </a:pPr>
            <a:r>
              <a:rPr lang="zh-CN" altLang="en-US" sz="2800" dirty="0"/>
              <a:t>例：  建立一个</a:t>
            </a:r>
            <a:r>
              <a:rPr lang="en-US" altLang="zh-CN" sz="2800" dirty="0"/>
              <a:t>S</a:t>
            </a:r>
            <a:r>
              <a:rPr lang="zh-CN" altLang="en-US" sz="2800" dirty="0"/>
              <a:t>表，对姓名</a:t>
            </a:r>
            <a:r>
              <a:rPr lang="en-US" altLang="zh-CN" sz="2800" dirty="0" err="1"/>
              <a:t>sn</a:t>
            </a:r>
            <a:r>
              <a:rPr lang="zh-CN" altLang="en-US" sz="2800" dirty="0"/>
              <a:t>字段进行</a:t>
            </a:r>
            <a:r>
              <a:rPr lang="en-US" altLang="zh-CN" sz="2800" dirty="0"/>
              <a:t>NOT NULL</a:t>
            </a:r>
            <a:r>
              <a:rPr lang="zh-CN" altLang="en-US" sz="2800" dirty="0"/>
              <a:t>约束。</a:t>
            </a:r>
          </a:p>
          <a:p>
            <a:pPr>
              <a:lnSpc>
                <a:spcPct val="150000"/>
              </a:lnSpc>
              <a:buFontTx/>
              <a:buNone/>
            </a:pPr>
            <a:r>
              <a:rPr lang="en-US" altLang="zh-CN" sz="2800" dirty="0"/>
              <a:t>CREATE TABLE S</a:t>
            </a:r>
          </a:p>
          <a:p>
            <a:pPr>
              <a:lnSpc>
                <a:spcPct val="150000"/>
              </a:lnSpc>
              <a:buFontTx/>
              <a:buNone/>
            </a:pPr>
            <a:r>
              <a:rPr lang="en-US" altLang="zh-CN" sz="2800" dirty="0"/>
              <a:t>(</a:t>
            </a:r>
            <a:r>
              <a:rPr lang="en-US" altLang="zh-CN" sz="2800" dirty="0" err="1"/>
              <a:t>sno</a:t>
            </a:r>
            <a:r>
              <a:rPr lang="en-US" altLang="zh-CN" sz="2800" dirty="0"/>
              <a:t>  CHAR(10) </a:t>
            </a:r>
            <a:r>
              <a:rPr lang="zh-CN" altLang="en-US" sz="2800" dirty="0"/>
              <a:t>，</a:t>
            </a:r>
          </a:p>
          <a:p>
            <a:pPr>
              <a:lnSpc>
                <a:spcPct val="150000"/>
              </a:lnSpc>
              <a:buFontTx/>
              <a:buNone/>
            </a:pPr>
            <a:r>
              <a:rPr lang="zh-CN" altLang="en-US" sz="2800" dirty="0"/>
              <a:t> </a:t>
            </a:r>
            <a:r>
              <a:rPr lang="en-US" altLang="zh-CN" sz="2800" dirty="0" err="1"/>
              <a:t>sn</a:t>
            </a:r>
            <a:r>
              <a:rPr lang="en-US" altLang="zh-CN" sz="2800" dirty="0"/>
              <a:t>   VARCHAR(20) CONSTRAINT  </a:t>
            </a:r>
            <a:r>
              <a:rPr lang="en-US" altLang="zh-CN" sz="2800" dirty="0" err="1"/>
              <a:t>s_cons</a:t>
            </a:r>
            <a:r>
              <a:rPr lang="en-US" altLang="zh-CN" sz="2800" dirty="0"/>
              <a:t>  NOT  NULL,</a:t>
            </a:r>
          </a:p>
          <a:p>
            <a:pPr>
              <a:lnSpc>
                <a:spcPct val="150000"/>
              </a:lnSpc>
              <a:buFontTx/>
              <a:buNone/>
            </a:pPr>
            <a:r>
              <a:rPr lang="en-US" altLang="zh-CN" sz="2800" dirty="0"/>
              <a:t> age   INT,</a:t>
            </a:r>
          </a:p>
          <a:p>
            <a:pPr>
              <a:lnSpc>
                <a:spcPct val="150000"/>
              </a:lnSpc>
              <a:buFontTx/>
              <a:buNone/>
            </a:pPr>
            <a:r>
              <a:rPr lang="en-US" altLang="zh-CN" sz="2800" dirty="0"/>
              <a:t> sex   CHAR(2) ,</a:t>
            </a:r>
          </a:p>
          <a:p>
            <a:pPr>
              <a:lnSpc>
                <a:spcPct val="150000"/>
              </a:lnSpc>
              <a:buFontTx/>
              <a:buNone/>
            </a:pPr>
            <a:r>
              <a:rPr lang="en-US" altLang="zh-CN" sz="2800" dirty="0"/>
              <a:t> dept  VARCHAR(20)</a:t>
            </a:r>
          </a:p>
          <a:p>
            <a:pPr>
              <a:lnSpc>
                <a:spcPct val="150000"/>
              </a:lnSpc>
              <a:buFontTx/>
              <a:buNone/>
            </a:pPr>
            <a:r>
              <a:rPr lang="en-US" altLang="zh-CN" sz="2800" dirty="0"/>
              <a:t>);</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5" name="Rectangle 3">
            <a:extLst>
              <a:ext uri="{FF2B5EF4-FFF2-40B4-BE49-F238E27FC236}">
                <a16:creationId xmlns:a16="http://schemas.microsoft.com/office/drawing/2014/main" id="{5816499B-98A5-4F1D-876F-B18CD664F837}"/>
              </a:ext>
            </a:extLst>
          </p:cNvPr>
          <p:cNvSpPr>
            <a:spLocks noGrp="1" noChangeArrowheads="1"/>
          </p:cNvSpPr>
          <p:nvPr>
            <p:ph type="body" idx="4294967295"/>
          </p:nvPr>
        </p:nvSpPr>
        <p:spPr>
          <a:xfrm>
            <a:off x="695400" y="836712"/>
            <a:ext cx="10972800" cy="4525963"/>
          </a:xfrm>
        </p:spPr>
        <p:txBody>
          <a:bodyPr>
            <a:normAutofit fontScale="85000" lnSpcReduction="10000"/>
          </a:bodyPr>
          <a:lstStyle/>
          <a:p>
            <a:pPr>
              <a:lnSpc>
                <a:spcPct val="150000"/>
              </a:lnSpc>
              <a:buFontTx/>
              <a:buNone/>
            </a:pPr>
            <a:r>
              <a:rPr lang="zh-CN" altLang="en-US" dirty="0"/>
              <a:t>（</a:t>
            </a:r>
            <a:r>
              <a:rPr lang="en-US" altLang="zh-CN" dirty="0"/>
              <a:t>2</a:t>
            </a:r>
            <a:r>
              <a:rPr lang="zh-CN" altLang="en-US" dirty="0"/>
              <a:t>）</a:t>
            </a:r>
            <a:r>
              <a:rPr lang="en-US" altLang="zh-CN" dirty="0"/>
              <a:t>UNIQUE</a:t>
            </a:r>
            <a:r>
              <a:rPr lang="zh-CN" altLang="en-US" dirty="0"/>
              <a:t>约束</a:t>
            </a:r>
          </a:p>
          <a:p>
            <a:pPr>
              <a:lnSpc>
                <a:spcPct val="150000"/>
              </a:lnSpc>
            </a:pPr>
            <a:r>
              <a:rPr lang="en-US" altLang="zh-CN" dirty="0"/>
              <a:t>UNIQUE</a:t>
            </a:r>
            <a:r>
              <a:rPr lang="zh-CN" altLang="en-US" dirty="0"/>
              <a:t>约束用于指明基本表在</a:t>
            </a:r>
            <a:r>
              <a:rPr lang="zh-CN" altLang="en-US" dirty="0">
                <a:solidFill>
                  <a:srgbClr val="FFFF00"/>
                </a:solidFill>
              </a:rPr>
              <a:t>某一列或多个列的组合</a:t>
            </a:r>
            <a:r>
              <a:rPr lang="zh-CN" altLang="en-US" dirty="0"/>
              <a:t>上的取值必须唯一。</a:t>
            </a:r>
          </a:p>
          <a:p>
            <a:pPr>
              <a:lnSpc>
                <a:spcPct val="150000"/>
              </a:lnSpc>
            </a:pPr>
            <a:r>
              <a:rPr lang="zh-CN" altLang="en-US" dirty="0"/>
              <a:t>定义了</a:t>
            </a:r>
            <a:r>
              <a:rPr lang="en-US" altLang="zh-CN" dirty="0"/>
              <a:t>UNIQUE</a:t>
            </a:r>
            <a:r>
              <a:rPr lang="zh-CN" altLang="en-US" dirty="0"/>
              <a:t>约束的那些列称为</a:t>
            </a:r>
            <a:r>
              <a:rPr lang="zh-CN" altLang="en-US" dirty="0">
                <a:solidFill>
                  <a:srgbClr val="FFFF00"/>
                </a:solidFill>
              </a:rPr>
              <a:t>唯一键</a:t>
            </a:r>
            <a:r>
              <a:rPr lang="zh-CN" altLang="en-US" dirty="0"/>
              <a:t>，系统自动为唯一键建立唯一索引，从而保证了唯一键的唯一性。</a:t>
            </a:r>
          </a:p>
          <a:p>
            <a:pPr>
              <a:lnSpc>
                <a:spcPct val="150000"/>
              </a:lnSpc>
            </a:pPr>
            <a:r>
              <a:rPr lang="zh-CN" altLang="en-US" dirty="0"/>
              <a:t>唯一键</a:t>
            </a:r>
            <a:r>
              <a:rPr lang="zh-CN" altLang="en-US" dirty="0">
                <a:solidFill>
                  <a:srgbClr val="FFFF00"/>
                </a:solidFill>
              </a:rPr>
              <a:t>允许为空</a:t>
            </a:r>
            <a:r>
              <a:rPr lang="zh-CN" altLang="en-US" dirty="0"/>
              <a:t>，但系统为保证其唯一性，最多只可以出现一个</a:t>
            </a:r>
            <a:r>
              <a:rPr lang="en-US" altLang="zh-CN" dirty="0"/>
              <a:t>NULL</a:t>
            </a:r>
            <a:r>
              <a:rPr lang="zh-CN" altLang="en-US" dirty="0"/>
              <a:t>值。</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419" name="Rectangle 3">
            <a:extLst>
              <a:ext uri="{FF2B5EF4-FFF2-40B4-BE49-F238E27FC236}">
                <a16:creationId xmlns:a16="http://schemas.microsoft.com/office/drawing/2014/main" id="{AE1E4791-4C89-4181-BE9F-5EBF3CB793C3}"/>
              </a:ext>
            </a:extLst>
          </p:cNvPr>
          <p:cNvSpPr>
            <a:spLocks noGrp="1" noChangeArrowheads="1"/>
          </p:cNvSpPr>
          <p:nvPr>
            <p:ph type="body" idx="4294967295"/>
          </p:nvPr>
        </p:nvSpPr>
        <p:spPr>
          <a:xfrm>
            <a:off x="695400" y="692696"/>
            <a:ext cx="10972800" cy="4525963"/>
          </a:xfrm>
        </p:spPr>
        <p:txBody>
          <a:bodyPr>
            <a:normAutofit fontScale="77500" lnSpcReduction="20000"/>
          </a:bodyPr>
          <a:lstStyle/>
          <a:p>
            <a:pPr>
              <a:lnSpc>
                <a:spcPct val="150000"/>
              </a:lnSpc>
            </a:pPr>
            <a:r>
              <a:rPr lang="en-US" altLang="zh-CN" sz="2400" dirty="0"/>
              <a:t>Unique</a:t>
            </a:r>
            <a:r>
              <a:rPr lang="zh-CN" altLang="en-US" sz="2400" dirty="0"/>
              <a:t>既可用于列约束，也可用于表约束。</a:t>
            </a:r>
          </a:p>
          <a:p>
            <a:pPr>
              <a:lnSpc>
                <a:spcPct val="150000"/>
              </a:lnSpc>
            </a:pPr>
            <a:r>
              <a:rPr lang="en-US" altLang="zh-CN" sz="2400" dirty="0"/>
              <a:t>Unique</a:t>
            </a:r>
            <a:r>
              <a:rPr lang="zh-CN" altLang="en-US" sz="2400" dirty="0"/>
              <a:t>用于定义列约束时，其语法格式如下</a:t>
            </a:r>
          </a:p>
          <a:p>
            <a:pPr>
              <a:lnSpc>
                <a:spcPct val="150000"/>
              </a:lnSpc>
              <a:buFontTx/>
              <a:buNone/>
            </a:pPr>
            <a:r>
              <a:rPr lang="en-US" altLang="zh-CN" sz="2400" dirty="0"/>
              <a:t>[Constraint &lt;</a:t>
            </a:r>
            <a:r>
              <a:rPr lang="zh-CN" altLang="en-US" sz="2400" dirty="0"/>
              <a:t>约束名</a:t>
            </a:r>
            <a:r>
              <a:rPr lang="en-US" altLang="zh-CN" sz="2400" dirty="0"/>
              <a:t>&gt;] Unique</a:t>
            </a:r>
          </a:p>
          <a:p>
            <a:pPr>
              <a:lnSpc>
                <a:spcPct val="150000"/>
              </a:lnSpc>
            </a:pPr>
            <a:r>
              <a:rPr lang="zh-CN" altLang="en-US" sz="2400" dirty="0"/>
              <a:t>例：建立一个</a:t>
            </a:r>
            <a:r>
              <a:rPr lang="en-US" altLang="zh-CN" sz="2400" dirty="0"/>
              <a:t>s</a:t>
            </a:r>
            <a:r>
              <a:rPr lang="zh-CN" altLang="en-US" sz="2400" dirty="0"/>
              <a:t>表，定义</a:t>
            </a:r>
            <a:r>
              <a:rPr lang="en-US" altLang="zh-CN" sz="2400" dirty="0" err="1"/>
              <a:t>sn</a:t>
            </a:r>
            <a:r>
              <a:rPr lang="zh-CN" altLang="en-US" sz="2400" dirty="0"/>
              <a:t>为唯一键。</a:t>
            </a:r>
          </a:p>
          <a:p>
            <a:pPr>
              <a:lnSpc>
                <a:spcPct val="150000"/>
              </a:lnSpc>
              <a:buFontTx/>
              <a:buNone/>
            </a:pPr>
            <a:r>
              <a:rPr lang="en-US" altLang="zh-CN" sz="2400" dirty="0"/>
              <a:t>CREATE  TABLE  S</a:t>
            </a:r>
          </a:p>
          <a:p>
            <a:pPr>
              <a:lnSpc>
                <a:spcPct val="150000"/>
              </a:lnSpc>
              <a:buFontTx/>
              <a:buNone/>
            </a:pPr>
            <a:r>
              <a:rPr lang="en-US" altLang="zh-CN" sz="2400" dirty="0"/>
              <a:t>(</a:t>
            </a:r>
            <a:r>
              <a:rPr lang="en-US" altLang="zh-CN" sz="2400" dirty="0" err="1"/>
              <a:t>sno</a:t>
            </a:r>
            <a:r>
              <a:rPr lang="en-US" altLang="zh-CN" sz="2400" dirty="0"/>
              <a:t>  CHAR(6),</a:t>
            </a:r>
          </a:p>
          <a:p>
            <a:pPr>
              <a:lnSpc>
                <a:spcPct val="150000"/>
              </a:lnSpc>
              <a:buFontTx/>
              <a:buNone/>
            </a:pPr>
            <a:r>
              <a:rPr lang="en-US" altLang="zh-CN" sz="2400" dirty="0"/>
              <a:t>  </a:t>
            </a:r>
            <a:r>
              <a:rPr lang="en-US" altLang="zh-CN" sz="2400" dirty="0" err="1"/>
              <a:t>sn</a:t>
            </a:r>
            <a:r>
              <a:rPr lang="en-US" altLang="zh-CN" sz="2400" dirty="0"/>
              <a:t>  CHAR(8)  CONSTRAINT  </a:t>
            </a:r>
            <a:r>
              <a:rPr lang="en-US" altLang="zh-CN" sz="2400" dirty="0" err="1"/>
              <a:t>sn_uniq</a:t>
            </a:r>
            <a:r>
              <a:rPr lang="en-US" altLang="zh-CN" sz="2400" dirty="0"/>
              <a:t>   UNIQUE,</a:t>
            </a:r>
          </a:p>
          <a:p>
            <a:pPr>
              <a:lnSpc>
                <a:spcPct val="150000"/>
              </a:lnSpc>
              <a:buFontTx/>
              <a:buNone/>
            </a:pPr>
            <a:r>
              <a:rPr lang="en-US" altLang="zh-CN" sz="2400" dirty="0"/>
              <a:t>  sex CHAR(2),</a:t>
            </a:r>
          </a:p>
          <a:p>
            <a:pPr>
              <a:lnSpc>
                <a:spcPct val="150000"/>
              </a:lnSpc>
              <a:buFontTx/>
              <a:buNone/>
            </a:pPr>
            <a:r>
              <a:rPr lang="en-US" altLang="zh-CN" sz="2400" dirty="0"/>
              <a:t>  age NUMERIC(2)</a:t>
            </a:r>
          </a:p>
          <a:p>
            <a:pPr>
              <a:lnSpc>
                <a:spcPct val="150000"/>
              </a:lnSpc>
              <a:buFontTx/>
              <a:buNone/>
            </a:pPr>
            <a:r>
              <a:rPr lang="en-US" altLang="zh-CN" sz="2400" dirty="0"/>
              <a:t>);</a:t>
            </a:r>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9" name="Rectangle 3">
            <a:extLst>
              <a:ext uri="{FF2B5EF4-FFF2-40B4-BE49-F238E27FC236}">
                <a16:creationId xmlns:a16="http://schemas.microsoft.com/office/drawing/2014/main" id="{35B60BBF-DEF6-4796-8C43-0BD464FCFEBE}"/>
              </a:ext>
            </a:extLst>
          </p:cNvPr>
          <p:cNvSpPr>
            <a:spLocks noGrp="1" noChangeArrowheads="1"/>
          </p:cNvSpPr>
          <p:nvPr>
            <p:ph type="body" idx="4294967295"/>
          </p:nvPr>
        </p:nvSpPr>
        <p:spPr>
          <a:xfrm>
            <a:off x="767408" y="692696"/>
            <a:ext cx="10972800" cy="4525963"/>
          </a:xfrm>
        </p:spPr>
        <p:txBody>
          <a:bodyPr>
            <a:normAutofit fontScale="85000" lnSpcReduction="10000"/>
          </a:bodyPr>
          <a:lstStyle/>
          <a:p>
            <a:pPr>
              <a:lnSpc>
                <a:spcPct val="150000"/>
              </a:lnSpc>
            </a:pPr>
            <a:r>
              <a:rPr lang="en-US" altLang="zh-CN" sz="2400" dirty="0"/>
              <a:t>UNIQUE</a:t>
            </a:r>
            <a:r>
              <a:rPr lang="zh-CN" altLang="en-US" sz="2400" dirty="0"/>
              <a:t>用于定义表约束时，其语法格式如下：</a:t>
            </a:r>
          </a:p>
          <a:p>
            <a:pPr>
              <a:lnSpc>
                <a:spcPct val="150000"/>
              </a:lnSpc>
              <a:buFontTx/>
              <a:buNone/>
            </a:pPr>
            <a:r>
              <a:rPr lang="zh-CN" altLang="en-US" sz="2400" dirty="0"/>
              <a:t>  </a:t>
            </a:r>
            <a:r>
              <a:rPr lang="en-US" altLang="zh-CN" sz="2400" dirty="0"/>
              <a:t>[CONSTRAINT &lt;</a:t>
            </a:r>
            <a:r>
              <a:rPr lang="zh-CN" altLang="en-US" sz="2400" dirty="0"/>
              <a:t>约束名</a:t>
            </a:r>
            <a:r>
              <a:rPr lang="en-US" altLang="zh-CN" sz="2400" dirty="0"/>
              <a:t>&gt;] UNIQUE</a:t>
            </a:r>
            <a:r>
              <a:rPr lang="zh-CN" altLang="en-US" sz="2400" dirty="0"/>
              <a:t>（</a:t>
            </a:r>
            <a:r>
              <a:rPr lang="en-US" altLang="zh-CN" sz="2400" dirty="0"/>
              <a:t>&lt;</a:t>
            </a:r>
            <a:r>
              <a:rPr lang="zh-CN" altLang="en-US" sz="2400" dirty="0"/>
              <a:t>列名</a:t>
            </a:r>
            <a:r>
              <a:rPr lang="en-US" altLang="zh-CN" sz="2400" dirty="0"/>
              <a:t>&gt;[{,&lt;</a:t>
            </a:r>
            <a:r>
              <a:rPr lang="zh-CN" altLang="en-US" sz="2400" dirty="0"/>
              <a:t>列名</a:t>
            </a:r>
            <a:r>
              <a:rPr lang="en-US" altLang="zh-CN" sz="2400" dirty="0"/>
              <a:t>&gt;}]</a:t>
            </a:r>
            <a:r>
              <a:rPr lang="zh-CN" altLang="en-US" sz="2400" dirty="0"/>
              <a:t>）</a:t>
            </a:r>
          </a:p>
          <a:p>
            <a:pPr>
              <a:lnSpc>
                <a:spcPct val="150000"/>
              </a:lnSpc>
            </a:pPr>
            <a:r>
              <a:rPr lang="zh-CN" altLang="en-US" sz="2400" dirty="0"/>
              <a:t>例：建立一个</a:t>
            </a:r>
            <a:r>
              <a:rPr lang="en-US" altLang="zh-CN" sz="2400" dirty="0"/>
              <a:t>S</a:t>
            </a:r>
            <a:r>
              <a:rPr lang="zh-CN" altLang="en-US" sz="2400" dirty="0"/>
              <a:t>表，定义</a:t>
            </a:r>
            <a:r>
              <a:rPr lang="en-US" altLang="zh-CN" sz="2400" dirty="0" err="1"/>
              <a:t>sn+sex</a:t>
            </a:r>
            <a:r>
              <a:rPr lang="zh-CN" altLang="en-US" sz="2400" dirty="0"/>
              <a:t>为唯一键。</a:t>
            </a:r>
          </a:p>
          <a:p>
            <a:pPr>
              <a:lnSpc>
                <a:spcPct val="150000"/>
              </a:lnSpc>
              <a:buFontTx/>
              <a:buNone/>
            </a:pPr>
            <a:r>
              <a:rPr lang="en-US" altLang="zh-CN" sz="2400" dirty="0"/>
              <a:t>CREATE TABLE S </a:t>
            </a:r>
          </a:p>
          <a:p>
            <a:pPr>
              <a:lnSpc>
                <a:spcPct val="150000"/>
              </a:lnSpc>
              <a:buFontTx/>
              <a:buNone/>
            </a:pPr>
            <a:r>
              <a:rPr lang="en-US" altLang="zh-CN" sz="2400" dirty="0"/>
              <a:t>( </a:t>
            </a:r>
            <a:r>
              <a:rPr lang="en-US" altLang="zh-CN" sz="2400" dirty="0" err="1"/>
              <a:t>sno</a:t>
            </a:r>
            <a:r>
              <a:rPr lang="en-US" altLang="zh-CN" sz="2400" dirty="0"/>
              <a:t> CHAR(5),</a:t>
            </a:r>
          </a:p>
          <a:p>
            <a:pPr>
              <a:lnSpc>
                <a:spcPct val="150000"/>
              </a:lnSpc>
              <a:buFontTx/>
              <a:buNone/>
            </a:pPr>
            <a:r>
              <a:rPr lang="en-US" altLang="zh-CN" sz="2400" dirty="0" err="1"/>
              <a:t>sn</a:t>
            </a:r>
            <a:r>
              <a:rPr lang="en-US" altLang="zh-CN" sz="2400" dirty="0"/>
              <a:t> CHAR(8),</a:t>
            </a:r>
          </a:p>
          <a:p>
            <a:pPr>
              <a:lnSpc>
                <a:spcPct val="150000"/>
              </a:lnSpc>
              <a:buFontTx/>
              <a:buNone/>
            </a:pPr>
            <a:r>
              <a:rPr lang="en-US" altLang="zh-CN" sz="2400" dirty="0"/>
              <a:t>sex CHAR(2),</a:t>
            </a:r>
          </a:p>
          <a:p>
            <a:pPr>
              <a:lnSpc>
                <a:spcPct val="150000"/>
              </a:lnSpc>
              <a:buFontTx/>
              <a:buNone/>
            </a:pPr>
            <a:r>
              <a:rPr lang="en-US" altLang="zh-CN" sz="2400" dirty="0"/>
              <a:t>CONSTRAINT  </a:t>
            </a:r>
            <a:r>
              <a:rPr lang="en-US" altLang="zh-CN" sz="2400" dirty="0" err="1"/>
              <a:t>s_uniq</a:t>
            </a:r>
            <a:r>
              <a:rPr lang="en-US" altLang="zh-CN" sz="2400" dirty="0"/>
              <a:t>  UNIQUE (</a:t>
            </a:r>
            <a:r>
              <a:rPr lang="en-US" altLang="zh-CN" sz="2400" dirty="0" err="1"/>
              <a:t>sn,sex</a:t>
            </a:r>
            <a:r>
              <a:rPr lang="en-US" altLang="zh-CN" sz="2400" dirty="0"/>
              <a:t>)</a:t>
            </a:r>
          </a:p>
          <a:p>
            <a:pPr>
              <a:lnSpc>
                <a:spcPct val="150000"/>
              </a:lnSpc>
              <a:buFontTx/>
              <a:buNone/>
            </a:pPr>
            <a:r>
              <a:rPr lang="en-US" altLang="zh-CN" sz="2400" dirty="0"/>
              <a:t>);</a:t>
            </a:r>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3" name="Rectangle 3">
            <a:extLst>
              <a:ext uri="{FF2B5EF4-FFF2-40B4-BE49-F238E27FC236}">
                <a16:creationId xmlns:a16="http://schemas.microsoft.com/office/drawing/2014/main" id="{230CF821-6FCF-402C-BB18-8BC0EE8EBE33}"/>
              </a:ext>
            </a:extLst>
          </p:cNvPr>
          <p:cNvSpPr>
            <a:spLocks noGrp="1" noChangeArrowheads="1"/>
          </p:cNvSpPr>
          <p:nvPr>
            <p:ph type="body" idx="4294967295"/>
          </p:nvPr>
        </p:nvSpPr>
        <p:spPr>
          <a:xfrm>
            <a:off x="636777" y="908720"/>
            <a:ext cx="10972800" cy="4525963"/>
          </a:xfrm>
        </p:spPr>
        <p:txBody>
          <a:bodyPr>
            <a:normAutofit fontScale="92500"/>
          </a:bodyPr>
          <a:lstStyle/>
          <a:p>
            <a:pPr>
              <a:lnSpc>
                <a:spcPct val="150000"/>
              </a:lnSpc>
              <a:buFontTx/>
              <a:buNone/>
            </a:pPr>
            <a:r>
              <a:rPr lang="zh-CN" altLang="en-US" sz="2400" dirty="0"/>
              <a:t>（</a:t>
            </a:r>
            <a:r>
              <a:rPr lang="en-US" altLang="zh-CN" sz="2400" dirty="0"/>
              <a:t>3</a:t>
            </a:r>
            <a:r>
              <a:rPr lang="zh-CN" altLang="en-US" sz="2400" dirty="0"/>
              <a:t>）</a:t>
            </a:r>
            <a:r>
              <a:rPr lang="en-US" altLang="zh-CN" sz="2400" dirty="0"/>
              <a:t>PRIMARY KEY</a:t>
            </a:r>
            <a:r>
              <a:rPr lang="zh-CN" altLang="en-US" sz="2400" dirty="0"/>
              <a:t>约束</a:t>
            </a:r>
          </a:p>
          <a:p>
            <a:pPr>
              <a:lnSpc>
                <a:spcPct val="150000"/>
              </a:lnSpc>
            </a:pPr>
            <a:r>
              <a:rPr lang="en-US" altLang="zh-CN" sz="2400" dirty="0"/>
              <a:t>PRIMARY KEY</a:t>
            </a:r>
            <a:r>
              <a:rPr lang="zh-CN" altLang="en-US" sz="2400" dirty="0"/>
              <a:t>约束用于定义基本表的</a:t>
            </a:r>
            <a:r>
              <a:rPr lang="zh-CN" altLang="en-US" sz="2400" dirty="0">
                <a:solidFill>
                  <a:srgbClr val="FFFF00"/>
                </a:solidFill>
              </a:rPr>
              <a:t>主键</a:t>
            </a:r>
            <a:r>
              <a:rPr lang="zh-CN" altLang="en-US" sz="2400" dirty="0"/>
              <a:t>，起唯一标识作用，其值不能为</a:t>
            </a:r>
            <a:r>
              <a:rPr lang="en-US" altLang="zh-CN" sz="2400" dirty="0"/>
              <a:t>NULL</a:t>
            </a:r>
            <a:r>
              <a:rPr lang="zh-CN" altLang="en-US" sz="2400" dirty="0"/>
              <a:t>，也不能重复，以此来保证实体的完整性。 </a:t>
            </a:r>
          </a:p>
          <a:p>
            <a:pPr>
              <a:lnSpc>
                <a:spcPct val="150000"/>
              </a:lnSpc>
            </a:pPr>
            <a:r>
              <a:rPr lang="en-US" altLang="zh-CN" sz="2400" dirty="0"/>
              <a:t>PRIMARY KEY</a:t>
            </a:r>
            <a:r>
              <a:rPr lang="zh-CN" altLang="en-US" sz="2400" dirty="0"/>
              <a:t>与</a:t>
            </a:r>
            <a:r>
              <a:rPr lang="en-US" altLang="zh-CN" sz="2400" dirty="0"/>
              <a:t>UNIQUE</a:t>
            </a:r>
            <a:r>
              <a:rPr lang="zh-CN" altLang="en-US" sz="2400" dirty="0"/>
              <a:t>的区别：</a:t>
            </a:r>
          </a:p>
          <a:p>
            <a:pPr>
              <a:lnSpc>
                <a:spcPct val="150000"/>
              </a:lnSpc>
            </a:pPr>
            <a:r>
              <a:rPr lang="zh-CN" altLang="en-US" sz="2400" dirty="0"/>
              <a:t>①在一个基本表中只能定义一个</a:t>
            </a:r>
            <a:r>
              <a:rPr lang="en-US" altLang="zh-CN" sz="2400" dirty="0"/>
              <a:t>primary Key</a:t>
            </a:r>
            <a:r>
              <a:rPr lang="zh-CN" altLang="en-US" sz="2400" dirty="0"/>
              <a:t>约束，但可定义多个</a:t>
            </a:r>
            <a:r>
              <a:rPr lang="en-US" altLang="zh-CN" sz="2400" dirty="0"/>
              <a:t>unique</a:t>
            </a:r>
            <a:r>
              <a:rPr lang="zh-CN" altLang="en-US" sz="2400" dirty="0"/>
              <a:t>约束；</a:t>
            </a:r>
          </a:p>
          <a:p>
            <a:pPr>
              <a:lnSpc>
                <a:spcPct val="150000"/>
              </a:lnSpc>
            </a:pPr>
            <a:r>
              <a:rPr lang="zh-CN" altLang="en-US" sz="2400" dirty="0"/>
              <a:t>②对于指定为</a:t>
            </a:r>
            <a:r>
              <a:rPr lang="en-US" altLang="zh-CN" sz="2400" dirty="0"/>
              <a:t>primary Key</a:t>
            </a:r>
            <a:r>
              <a:rPr lang="zh-CN" altLang="en-US" sz="2400" dirty="0"/>
              <a:t>的一个列或多个列的组合，其中任何一个列都不能出现空值，而对于</a:t>
            </a:r>
            <a:r>
              <a:rPr lang="en-US" altLang="zh-CN" sz="2400" dirty="0"/>
              <a:t>unique</a:t>
            </a:r>
            <a:r>
              <a:rPr lang="zh-CN" altLang="en-US" sz="2400" dirty="0"/>
              <a:t>所约束的唯一键，则允许有一个为空。</a:t>
            </a:r>
          </a:p>
          <a:p>
            <a:pPr>
              <a:lnSpc>
                <a:spcPct val="150000"/>
              </a:lnSpc>
            </a:pPr>
            <a:r>
              <a:rPr lang="zh-CN" altLang="en-US" sz="2400" dirty="0"/>
              <a:t>注意：不能为同一个列或一组列既定义</a:t>
            </a:r>
            <a:r>
              <a:rPr lang="en-US" altLang="zh-CN" sz="2400" dirty="0"/>
              <a:t>unique</a:t>
            </a:r>
            <a:r>
              <a:rPr lang="zh-CN" altLang="en-US" sz="2400" dirty="0"/>
              <a:t>约束，又定义</a:t>
            </a:r>
            <a:r>
              <a:rPr lang="en-US" altLang="zh-CN" sz="2400" dirty="0"/>
              <a:t>primary Key</a:t>
            </a:r>
            <a:r>
              <a:rPr lang="zh-CN" altLang="en-US" sz="2400" dirty="0"/>
              <a:t>约束。</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7" name="Rectangle 3">
            <a:extLst>
              <a:ext uri="{FF2B5EF4-FFF2-40B4-BE49-F238E27FC236}">
                <a16:creationId xmlns:a16="http://schemas.microsoft.com/office/drawing/2014/main" id="{AA950D4B-B09E-4D55-911D-3DAABD510291}"/>
              </a:ext>
            </a:extLst>
          </p:cNvPr>
          <p:cNvSpPr>
            <a:spLocks noGrp="1" noChangeArrowheads="1"/>
          </p:cNvSpPr>
          <p:nvPr>
            <p:ph type="body" idx="4294967295"/>
          </p:nvPr>
        </p:nvSpPr>
        <p:spPr>
          <a:xfrm>
            <a:off x="890588" y="548680"/>
            <a:ext cx="9813924" cy="4489450"/>
          </a:xfrm>
        </p:spPr>
        <p:txBody>
          <a:bodyPr>
            <a:normAutofit fontScale="85000" lnSpcReduction="10000"/>
          </a:bodyPr>
          <a:lstStyle/>
          <a:p>
            <a:pPr>
              <a:lnSpc>
                <a:spcPct val="150000"/>
              </a:lnSpc>
            </a:pPr>
            <a:r>
              <a:rPr lang="en-US" altLang="zh-CN" sz="2400" dirty="0"/>
              <a:t>Primary Key</a:t>
            </a:r>
            <a:r>
              <a:rPr lang="zh-CN" altLang="en-US" sz="2400" dirty="0"/>
              <a:t>既可用于列约束，也可用于表约束。</a:t>
            </a:r>
          </a:p>
          <a:p>
            <a:pPr>
              <a:lnSpc>
                <a:spcPct val="150000"/>
              </a:lnSpc>
            </a:pPr>
            <a:r>
              <a:rPr lang="en-US" altLang="zh-CN" sz="2400" dirty="0"/>
              <a:t>PRIMARY KEY</a:t>
            </a:r>
            <a:r>
              <a:rPr lang="zh-CN" altLang="en-US" sz="2400" dirty="0"/>
              <a:t>用于定义列约束时，其语法格式如下</a:t>
            </a:r>
          </a:p>
          <a:p>
            <a:pPr>
              <a:lnSpc>
                <a:spcPct val="150000"/>
              </a:lnSpc>
              <a:buFontTx/>
              <a:buNone/>
            </a:pPr>
            <a:r>
              <a:rPr lang="en-US" altLang="zh-CN" sz="2400" dirty="0"/>
              <a:t>CONSTRAINT &lt;</a:t>
            </a:r>
            <a:r>
              <a:rPr lang="zh-CN" altLang="en-US" sz="2400" dirty="0"/>
              <a:t>约束名</a:t>
            </a:r>
            <a:r>
              <a:rPr lang="en-US" altLang="zh-CN" sz="2400" dirty="0"/>
              <a:t>&gt; PRIMARY KEY</a:t>
            </a:r>
          </a:p>
          <a:p>
            <a:pPr>
              <a:lnSpc>
                <a:spcPct val="150000"/>
              </a:lnSpc>
            </a:pPr>
            <a:r>
              <a:rPr lang="zh-CN" altLang="en-US" sz="2400" dirty="0"/>
              <a:t>例：建立一个</a:t>
            </a:r>
            <a:r>
              <a:rPr lang="en-US" altLang="zh-CN" sz="2400" dirty="0"/>
              <a:t>S</a:t>
            </a:r>
            <a:r>
              <a:rPr lang="zh-CN" altLang="en-US" sz="2400" dirty="0"/>
              <a:t>表，定义</a:t>
            </a:r>
            <a:r>
              <a:rPr lang="en-US" altLang="zh-CN" sz="2400" dirty="0" err="1"/>
              <a:t>sno</a:t>
            </a:r>
            <a:r>
              <a:rPr lang="zh-CN" altLang="en-US" sz="2400" dirty="0"/>
              <a:t>为</a:t>
            </a:r>
            <a:r>
              <a:rPr lang="en-US" altLang="zh-CN" sz="2400" dirty="0"/>
              <a:t>S</a:t>
            </a:r>
            <a:r>
              <a:rPr lang="zh-CN" altLang="en-US" sz="2400" dirty="0"/>
              <a:t>的主键。</a:t>
            </a:r>
          </a:p>
          <a:p>
            <a:pPr>
              <a:lnSpc>
                <a:spcPct val="150000"/>
              </a:lnSpc>
              <a:buFontTx/>
              <a:buNone/>
            </a:pPr>
            <a:r>
              <a:rPr lang="en-US" altLang="zh-CN" sz="2400" dirty="0"/>
              <a:t>CREATE TABLE S</a:t>
            </a:r>
          </a:p>
          <a:p>
            <a:pPr>
              <a:lnSpc>
                <a:spcPct val="150000"/>
              </a:lnSpc>
              <a:buFontTx/>
              <a:buNone/>
            </a:pPr>
            <a:r>
              <a:rPr lang="en-US" altLang="zh-CN" sz="2400" dirty="0"/>
              <a:t>(</a:t>
            </a:r>
            <a:r>
              <a:rPr lang="en-US" altLang="zh-CN" sz="2400" dirty="0" err="1"/>
              <a:t>sno</a:t>
            </a:r>
            <a:r>
              <a:rPr lang="en-US" altLang="zh-CN" sz="2400" dirty="0"/>
              <a:t> CHAR(5)  CONSTRAINT  </a:t>
            </a:r>
            <a:r>
              <a:rPr lang="en-US" altLang="zh-CN" sz="2400" dirty="0" err="1"/>
              <a:t>s_prim</a:t>
            </a:r>
            <a:r>
              <a:rPr lang="en-US" altLang="zh-CN" sz="2400" dirty="0"/>
              <a:t>  PRIMARY KEY,</a:t>
            </a:r>
          </a:p>
          <a:p>
            <a:pPr>
              <a:lnSpc>
                <a:spcPct val="150000"/>
              </a:lnSpc>
              <a:buFontTx/>
              <a:buNone/>
            </a:pPr>
            <a:r>
              <a:rPr lang="en-US" altLang="zh-CN" sz="2400" dirty="0"/>
              <a:t> </a:t>
            </a:r>
            <a:r>
              <a:rPr lang="en-US" altLang="zh-CN" sz="2400" dirty="0" err="1"/>
              <a:t>sn</a:t>
            </a:r>
            <a:r>
              <a:rPr lang="en-US" altLang="zh-CN" sz="2400" dirty="0"/>
              <a:t> CHAR(8),</a:t>
            </a:r>
          </a:p>
          <a:p>
            <a:pPr>
              <a:lnSpc>
                <a:spcPct val="150000"/>
              </a:lnSpc>
              <a:buFontTx/>
              <a:buNone/>
            </a:pPr>
            <a:r>
              <a:rPr lang="en-US" altLang="zh-CN" sz="2400" dirty="0"/>
              <a:t> age NUMERIC(2)</a:t>
            </a:r>
          </a:p>
          <a:p>
            <a:pPr>
              <a:lnSpc>
                <a:spcPct val="150000"/>
              </a:lnSpc>
              <a:buFontTx/>
              <a:buNone/>
            </a:pPr>
            <a:r>
              <a:rPr lang="en-US" altLang="zh-CN" sz="2400" dirty="0"/>
              <a:t>);</a:t>
            </a:r>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1" name="Rectangle 3">
            <a:extLst>
              <a:ext uri="{FF2B5EF4-FFF2-40B4-BE49-F238E27FC236}">
                <a16:creationId xmlns:a16="http://schemas.microsoft.com/office/drawing/2014/main" id="{1594359A-BBE2-45A2-8AD9-7274AFD60051}"/>
              </a:ext>
            </a:extLst>
          </p:cNvPr>
          <p:cNvSpPr>
            <a:spLocks noGrp="1" noChangeArrowheads="1"/>
          </p:cNvSpPr>
          <p:nvPr>
            <p:ph type="body" idx="4294967295"/>
          </p:nvPr>
        </p:nvSpPr>
        <p:spPr>
          <a:xfrm>
            <a:off x="1163452" y="332656"/>
            <a:ext cx="9865096" cy="5400600"/>
          </a:xfrm>
        </p:spPr>
        <p:txBody>
          <a:bodyPr>
            <a:normAutofit fontScale="85000" lnSpcReduction="20000"/>
          </a:bodyPr>
          <a:lstStyle/>
          <a:p>
            <a:pPr>
              <a:lnSpc>
                <a:spcPct val="150000"/>
              </a:lnSpc>
            </a:pPr>
            <a:r>
              <a:rPr lang="en-US" altLang="zh-CN" sz="2400" dirty="0"/>
              <a:t>PRIMARY KEY</a:t>
            </a:r>
            <a:r>
              <a:rPr lang="zh-CN" altLang="en-US" sz="2400" dirty="0"/>
              <a:t>用于定义表约束时，其语法格式如下</a:t>
            </a:r>
          </a:p>
          <a:p>
            <a:pPr>
              <a:lnSpc>
                <a:spcPct val="150000"/>
              </a:lnSpc>
              <a:buFontTx/>
              <a:buNone/>
            </a:pPr>
            <a:r>
              <a:rPr lang="zh-CN" altLang="en-US" sz="2400" dirty="0"/>
              <a:t> </a:t>
            </a:r>
            <a:r>
              <a:rPr lang="en-US" altLang="zh-CN" sz="2400" dirty="0"/>
              <a:t>[CONSTRAINT &lt;</a:t>
            </a:r>
            <a:r>
              <a:rPr lang="zh-CN" altLang="en-US" sz="2400" dirty="0"/>
              <a:t>约束名</a:t>
            </a:r>
            <a:r>
              <a:rPr lang="en-US" altLang="zh-CN" sz="2400" dirty="0"/>
              <a:t>&gt;]   PRIMARY KEY (&lt;</a:t>
            </a:r>
            <a:r>
              <a:rPr lang="zh-CN" altLang="en-US" sz="2400" dirty="0"/>
              <a:t>列名</a:t>
            </a:r>
            <a:r>
              <a:rPr lang="en-US" altLang="zh-CN" sz="2400" dirty="0"/>
              <a:t>&gt;[{&lt;</a:t>
            </a:r>
            <a:r>
              <a:rPr lang="zh-CN" altLang="en-US" sz="2400" dirty="0"/>
              <a:t>列名</a:t>
            </a:r>
            <a:r>
              <a:rPr lang="en-US" altLang="zh-CN" sz="2400" dirty="0"/>
              <a:t>&gt;}])</a:t>
            </a:r>
          </a:p>
          <a:p>
            <a:pPr>
              <a:lnSpc>
                <a:spcPct val="150000"/>
              </a:lnSpc>
            </a:pPr>
            <a:r>
              <a:rPr lang="zh-CN" altLang="en-US" sz="2400" dirty="0"/>
              <a:t>例：建立一个</a:t>
            </a:r>
            <a:r>
              <a:rPr lang="en-US" altLang="zh-CN" sz="2400" dirty="0"/>
              <a:t>SC</a:t>
            </a:r>
            <a:r>
              <a:rPr lang="zh-CN" altLang="en-US" sz="2400" dirty="0"/>
              <a:t>表，定义</a:t>
            </a:r>
            <a:r>
              <a:rPr lang="en-US" altLang="zh-CN" sz="2400" dirty="0" err="1"/>
              <a:t>sno+cno</a:t>
            </a:r>
            <a:r>
              <a:rPr lang="zh-CN" altLang="en-US" sz="2400" dirty="0"/>
              <a:t>为</a:t>
            </a:r>
            <a:r>
              <a:rPr lang="en-US" altLang="zh-CN" sz="2400" dirty="0"/>
              <a:t>SC</a:t>
            </a:r>
            <a:r>
              <a:rPr lang="zh-CN" altLang="en-US" sz="2400" dirty="0"/>
              <a:t>的主键。</a:t>
            </a:r>
          </a:p>
          <a:p>
            <a:pPr lvl="1">
              <a:lnSpc>
                <a:spcPct val="150000"/>
              </a:lnSpc>
            </a:pPr>
            <a:r>
              <a:rPr lang="en-US" altLang="zh-CN" sz="2000" dirty="0" err="1"/>
              <a:t>sno</a:t>
            </a:r>
            <a:r>
              <a:rPr lang="en-US" altLang="zh-CN" sz="2000" dirty="0"/>
              <a:t> </a:t>
            </a:r>
            <a:r>
              <a:rPr lang="zh-CN" altLang="en-US" sz="2000" dirty="0"/>
              <a:t>含</a:t>
            </a:r>
            <a:r>
              <a:rPr lang="en-US" altLang="zh-CN" sz="2000" dirty="0"/>
              <a:t>5</a:t>
            </a:r>
            <a:r>
              <a:rPr lang="zh-CN" altLang="en-US" sz="2000" dirty="0"/>
              <a:t>个字符的定长串，非空；</a:t>
            </a:r>
          </a:p>
          <a:p>
            <a:pPr lvl="1">
              <a:lnSpc>
                <a:spcPct val="150000"/>
              </a:lnSpc>
            </a:pPr>
            <a:r>
              <a:rPr lang="en-US" altLang="zh-CN" sz="2000" dirty="0" err="1"/>
              <a:t>cno</a:t>
            </a:r>
            <a:r>
              <a:rPr lang="en-US" altLang="zh-CN" sz="2000" dirty="0"/>
              <a:t> </a:t>
            </a:r>
            <a:r>
              <a:rPr lang="zh-CN" altLang="en-US" sz="2000" dirty="0"/>
              <a:t>含</a:t>
            </a:r>
            <a:r>
              <a:rPr lang="en-US" altLang="zh-CN" sz="2000" dirty="0"/>
              <a:t>5</a:t>
            </a:r>
            <a:r>
              <a:rPr lang="zh-CN" altLang="en-US" sz="2000" dirty="0"/>
              <a:t>个字符的定长串，非空；</a:t>
            </a:r>
          </a:p>
          <a:p>
            <a:pPr lvl="1">
              <a:lnSpc>
                <a:spcPct val="150000"/>
              </a:lnSpc>
            </a:pPr>
            <a:r>
              <a:rPr lang="en-US" altLang="zh-CN" sz="2000" dirty="0"/>
              <a:t>grade </a:t>
            </a:r>
            <a:r>
              <a:rPr lang="zh-CN" altLang="en-US" sz="2000" dirty="0"/>
              <a:t>精度为</a:t>
            </a:r>
            <a:r>
              <a:rPr lang="en-US" altLang="zh-CN" sz="2000" dirty="0"/>
              <a:t>3</a:t>
            </a:r>
            <a:r>
              <a:rPr lang="zh-CN" altLang="en-US" sz="2000" dirty="0"/>
              <a:t>的数值型；</a:t>
            </a:r>
          </a:p>
          <a:p>
            <a:pPr>
              <a:lnSpc>
                <a:spcPct val="150000"/>
              </a:lnSpc>
              <a:buFontTx/>
              <a:buNone/>
            </a:pPr>
            <a:r>
              <a:rPr lang="en-US" altLang="zh-CN" sz="2400" dirty="0"/>
              <a:t>Create Table Sc</a:t>
            </a:r>
          </a:p>
          <a:p>
            <a:pPr>
              <a:lnSpc>
                <a:spcPct val="150000"/>
              </a:lnSpc>
              <a:buFontTx/>
              <a:buNone/>
            </a:pPr>
            <a:r>
              <a:rPr lang="en-US" altLang="zh-CN" sz="2400" dirty="0"/>
              <a:t>(</a:t>
            </a:r>
            <a:r>
              <a:rPr lang="en-US" altLang="zh-CN" sz="2400" dirty="0" err="1"/>
              <a:t>sno</a:t>
            </a:r>
            <a:r>
              <a:rPr lang="en-US" altLang="zh-CN" sz="2400" dirty="0"/>
              <a:t> Char(5) Not Null,</a:t>
            </a:r>
          </a:p>
          <a:p>
            <a:pPr>
              <a:lnSpc>
                <a:spcPct val="150000"/>
              </a:lnSpc>
              <a:buFontTx/>
              <a:buNone/>
            </a:pPr>
            <a:r>
              <a:rPr lang="en-US" altLang="zh-CN" sz="2400" dirty="0"/>
              <a:t>  </a:t>
            </a:r>
            <a:r>
              <a:rPr lang="en-US" altLang="zh-CN" sz="2400" dirty="0" err="1"/>
              <a:t>cno</a:t>
            </a:r>
            <a:r>
              <a:rPr lang="en-US" altLang="zh-CN" sz="2400" dirty="0"/>
              <a:t> Char(5) Not Null,</a:t>
            </a:r>
          </a:p>
          <a:p>
            <a:pPr>
              <a:lnSpc>
                <a:spcPct val="150000"/>
              </a:lnSpc>
              <a:buFontTx/>
              <a:buNone/>
            </a:pPr>
            <a:r>
              <a:rPr lang="en-US" altLang="zh-CN" sz="2400" dirty="0"/>
              <a:t>  grade Numeric(3),</a:t>
            </a:r>
          </a:p>
          <a:p>
            <a:pPr>
              <a:lnSpc>
                <a:spcPct val="150000"/>
              </a:lnSpc>
              <a:buFontTx/>
              <a:buNone/>
            </a:pPr>
            <a:r>
              <a:rPr lang="en-US" altLang="zh-CN" sz="2400" dirty="0"/>
              <a:t>Constraint  </a:t>
            </a:r>
            <a:r>
              <a:rPr lang="en-US" altLang="zh-CN" sz="2400" dirty="0" err="1"/>
              <a:t>sc_prim</a:t>
            </a:r>
            <a:r>
              <a:rPr lang="en-US" altLang="zh-CN" sz="2400" dirty="0"/>
              <a:t>  Primary  Key (</a:t>
            </a:r>
            <a:r>
              <a:rPr lang="en-US" altLang="zh-CN" sz="2400" dirty="0" err="1"/>
              <a:t>sno,cno</a:t>
            </a:r>
            <a:r>
              <a:rPr lang="en-US" altLang="zh-CN" sz="2400" dirty="0"/>
              <a:t>)</a:t>
            </a:r>
          </a:p>
          <a:p>
            <a:pPr>
              <a:lnSpc>
                <a:spcPct val="150000"/>
              </a:lnSpc>
              <a:buFontTx/>
              <a:buNone/>
            </a:pPr>
            <a:r>
              <a:rPr lang="en-US" altLang="zh-CN" sz="2400" dirty="0"/>
              <a:t>);</a:t>
            </a:r>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515" name="Rectangle 3">
            <a:extLst>
              <a:ext uri="{FF2B5EF4-FFF2-40B4-BE49-F238E27FC236}">
                <a16:creationId xmlns:a16="http://schemas.microsoft.com/office/drawing/2014/main" id="{0365A543-E6BF-4569-8583-B613C25FDD97}"/>
              </a:ext>
            </a:extLst>
          </p:cNvPr>
          <p:cNvSpPr>
            <a:spLocks noGrp="1" noChangeArrowheads="1"/>
          </p:cNvSpPr>
          <p:nvPr>
            <p:ph type="body" idx="4294967295"/>
          </p:nvPr>
        </p:nvSpPr>
        <p:spPr>
          <a:xfrm>
            <a:off x="695400" y="692696"/>
            <a:ext cx="10972800" cy="4525963"/>
          </a:xfrm>
        </p:spPr>
        <p:txBody>
          <a:bodyPr>
            <a:normAutofit fontScale="92500" lnSpcReduction="20000"/>
          </a:bodyPr>
          <a:lstStyle/>
          <a:p>
            <a:pPr>
              <a:lnSpc>
                <a:spcPct val="150000"/>
              </a:lnSpc>
              <a:buFontTx/>
              <a:buNone/>
            </a:pPr>
            <a:r>
              <a:rPr lang="zh-CN" altLang="en-US" dirty="0"/>
              <a:t>（</a:t>
            </a:r>
            <a:r>
              <a:rPr lang="en-US" altLang="zh-CN" dirty="0"/>
              <a:t>4</a:t>
            </a:r>
            <a:r>
              <a:rPr lang="zh-CN" altLang="en-US" dirty="0"/>
              <a:t>）</a:t>
            </a:r>
            <a:r>
              <a:rPr lang="en-US" altLang="zh-CN" dirty="0"/>
              <a:t>FOREIGN KEY</a:t>
            </a:r>
            <a:r>
              <a:rPr lang="zh-CN" altLang="en-US" dirty="0"/>
              <a:t>约束</a:t>
            </a:r>
          </a:p>
          <a:p>
            <a:pPr>
              <a:lnSpc>
                <a:spcPct val="150000"/>
              </a:lnSpc>
            </a:pPr>
            <a:r>
              <a:rPr lang="en-US" altLang="zh-CN" dirty="0"/>
              <a:t>FOREIGN KEY</a:t>
            </a:r>
            <a:r>
              <a:rPr lang="zh-CN" altLang="en-US" dirty="0"/>
              <a:t>约束指定某一个列或一组列作为外部键，其中，包含外部键的表称为从表，包含外部键所引用的主键或唯一键的表称</a:t>
            </a:r>
            <a:r>
              <a:rPr lang="zh-CN" altLang="en-US" dirty="0">
                <a:solidFill>
                  <a:srgbClr val="FFFF00"/>
                </a:solidFill>
              </a:rPr>
              <a:t>主表</a:t>
            </a:r>
            <a:r>
              <a:rPr lang="zh-CN" altLang="en-US" dirty="0"/>
              <a:t>。</a:t>
            </a:r>
          </a:p>
          <a:p>
            <a:pPr>
              <a:lnSpc>
                <a:spcPct val="150000"/>
              </a:lnSpc>
            </a:pPr>
            <a:r>
              <a:rPr lang="zh-CN" altLang="en-US" dirty="0"/>
              <a:t>系统保证从表在外部键上的取值要么是主表中某一个主键值或唯一键值，要么取空值。以此保证两个表之间的连接，确保了</a:t>
            </a:r>
            <a:r>
              <a:rPr lang="zh-CN" altLang="en-US" dirty="0">
                <a:solidFill>
                  <a:srgbClr val="FFFF00"/>
                </a:solidFill>
              </a:rPr>
              <a:t>实体的参照完整性</a:t>
            </a:r>
            <a:r>
              <a:rPr lang="zh-CN" altLang="en-US" dirty="0"/>
              <a:t>。</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9" name="Rectangle 3">
            <a:extLst>
              <a:ext uri="{FF2B5EF4-FFF2-40B4-BE49-F238E27FC236}">
                <a16:creationId xmlns:a16="http://schemas.microsoft.com/office/drawing/2014/main" id="{2C10174E-F226-44A7-9AE4-24F49236A2A2}"/>
              </a:ext>
            </a:extLst>
          </p:cNvPr>
          <p:cNvSpPr>
            <a:spLocks noGrp="1" noChangeArrowheads="1"/>
          </p:cNvSpPr>
          <p:nvPr>
            <p:ph type="body" idx="4294967295"/>
          </p:nvPr>
        </p:nvSpPr>
        <p:spPr>
          <a:xfrm>
            <a:off x="1343472" y="404664"/>
            <a:ext cx="10009112" cy="5544616"/>
          </a:xfrm>
        </p:spPr>
        <p:txBody>
          <a:bodyPr>
            <a:normAutofit fontScale="92500" lnSpcReduction="20000"/>
          </a:bodyPr>
          <a:lstStyle/>
          <a:p>
            <a:pPr>
              <a:lnSpc>
                <a:spcPct val="150000"/>
              </a:lnSpc>
            </a:pPr>
            <a:r>
              <a:rPr lang="en-US" altLang="zh-CN" sz="2000" dirty="0"/>
              <a:t>FOREIGN KEY</a:t>
            </a:r>
            <a:r>
              <a:rPr lang="zh-CN" altLang="en-US" sz="2000" dirty="0"/>
              <a:t>既可用于列约束，也可用于表约束，</a:t>
            </a:r>
          </a:p>
          <a:p>
            <a:pPr>
              <a:lnSpc>
                <a:spcPct val="150000"/>
              </a:lnSpc>
            </a:pPr>
            <a:r>
              <a:rPr lang="zh-CN" altLang="en-US" sz="2000" dirty="0"/>
              <a:t>用于列约束，其语法格式为</a:t>
            </a:r>
          </a:p>
          <a:p>
            <a:pPr>
              <a:lnSpc>
                <a:spcPct val="150000"/>
              </a:lnSpc>
              <a:buFontTx/>
              <a:buNone/>
            </a:pPr>
            <a:r>
              <a:rPr lang="en-US" altLang="zh-CN" sz="2000" dirty="0"/>
              <a:t>[Constraint &lt;</a:t>
            </a:r>
            <a:r>
              <a:rPr lang="zh-CN" altLang="en-US" sz="2000" dirty="0"/>
              <a:t>约束名</a:t>
            </a:r>
            <a:r>
              <a:rPr lang="en-US" altLang="zh-CN" sz="2000" dirty="0"/>
              <a:t>&gt;] FOREIGN  KEY  REFERENCES &lt;</a:t>
            </a:r>
            <a:r>
              <a:rPr lang="zh-CN" altLang="en-US" sz="2000" dirty="0"/>
              <a:t>主表名</a:t>
            </a:r>
            <a:r>
              <a:rPr lang="en-US" altLang="zh-CN" sz="2000" dirty="0"/>
              <a:t>&gt; (&lt;</a:t>
            </a:r>
            <a:r>
              <a:rPr lang="zh-CN" altLang="en-US" sz="2000" dirty="0"/>
              <a:t>列名</a:t>
            </a:r>
            <a:r>
              <a:rPr lang="en-US" altLang="zh-CN" sz="2000" dirty="0"/>
              <a:t>&gt;[{&lt;</a:t>
            </a:r>
            <a:r>
              <a:rPr lang="zh-CN" altLang="en-US" sz="2000" dirty="0"/>
              <a:t>列名</a:t>
            </a:r>
            <a:r>
              <a:rPr lang="en-US" altLang="zh-CN" sz="2000" dirty="0"/>
              <a:t>&gt;}])</a:t>
            </a:r>
          </a:p>
          <a:p>
            <a:pPr>
              <a:lnSpc>
                <a:spcPct val="150000"/>
              </a:lnSpc>
            </a:pPr>
            <a:r>
              <a:rPr lang="zh-CN" altLang="en-US" sz="2000" dirty="0"/>
              <a:t>例： 建立一个</a:t>
            </a:r>
            <a:r>
              <a:rPr lang="en-US" altLang="zh-CN" sz="2000" dirty="0"/>
              <a:t>SC</a:t>
            </a:r>
            <a:r>
              <a:rPr lang="zh-CN" altLang="en-US" sz="2000" dirty="0"/>
              <a:t>表，定义</a:t>
            </a:r>
            <a:r>
              <a:rPr lang="en-US" altLang="zh-CN" sz="2000" dirty="0" err="1"/>
              <a:t>sno+cno</a:t>
            </a:r>
            <a:r>
              <a:rPr lang="zh-CN" altLang="en-US" sz="2000" dirty="0"/>
              <a:t>为</a:t>
            </a:r>
            <a:r>
              <a:rPr lang="en-US" altLang="zh-CN" sz="2000" dirty="0"/>
              <a:t>SC</a:t>
            </a:r>
            <a:r>
              <a:rPr lang="zh-CN" altLang="en-US" sz="2000" dirty="0"/>
              <a:t>的主键。</a:t>
            </a:r>
          </a:p>
          <a:p>
            <a:pPr lvl="1">
              <a:lnSpc>
                <a:spcPct val="150000"/>
              </a:lnSpc>
            </a:pPr>
            <a:r>
              <a:rPr lang="zh-CN" altLang="en-US" sz="1800" dirty="0"/>
              <a:t>其中</a:t>
            </a:r>
            <a:r>
              <a:rPr lang="en-US" altLang="zh-CN" sz="1800" dirty="0" err="1"/>
              <a:t>sno</a:t>
            </a:r>
            <a:r>
              <a:rPr lang="zh-CN" altLang="en-US" sz="1800" dirty="0"/>
              <a:t>不能为空，是参考</a:t>
            </a:r>
            <a:r>
              <a:rPr lang="en-US" altLang="zh-CN" sz="1800" dirty="0"/>
              <a:t>S</a:t>
            </a:r>
            <a:r>
              <a:rPr lang="zh-CN" altLang="en-US" sz="1800" dirty="0"/>
              <a:t>表的</a:t>
            </a:r>
            <a:r>
              <a:rPr lang="en-US" altLang="zh-CN" sz="1800" dirty="0" err="1"/>
              <a:t>sno</a:t>
            </a:r>
            <a:r>
              <a:rPr lang="zh-CN" altLang="en-US" sz="1800" dirty="0"/>
              <a:t>的外键；</a:t>
            </a:r>
          </a:p>
          <a:p>
            <a:pPr lvl="1">
              <a:lnSpc>
                <a:spcPct val="150000"/>
              </a:lnSpc>
            </a:pPr>
            <a:r>
              <a:rPr lang="zh-CN" altLang="en-US" sz="1800" dirty="0"/>
              <a:t>其中</a:t>
            </a:r>
            <a:r>
              <a:rPr lang="en-US" altLang="zh-CN" sz="1800" dirty="0" err="1"/>
              <a:t>sno</a:t>
            </a:r>
            <a:r>
              <a:rPr lang="zh-CN" altLang="en-US" sz="1800" dirty="0"/>
              <a:t>不能为空，是参考</a:t>
            </a:r>
            <a:r>
              <a:rPr lang="en-US" altLang="zh-CN" sz="1800" dirty="0"/>
              <a:t>S</a:t>
            </a:r>
            <a:r>
              <a:rPr lang="zh-CN" altLang="en-US" sz="1800" dirty="0"/>
              <a:t>表的</a:t>
            </a:r>
            <a:r>
              <a:rPr lang="en-US" altLang="zh-CN" sz="1800" dirty="0" err="1"/>
              <a:t>sno</a:t>
            </a:r>
            <a:r>
              <a:rPr lang="zh-CN" altLang="en-US" sz="1800" dirty="0"/>
              <a:t>的外键；</a:t>
            </a:r>
          </a:p>
          <a:p>
            <a:pPr>
              <a:lnSpc>
                <a:spcPct val="150000"/>
              </a:lnSpc>
              <a:buFontTx/>
              <a:buNone/>
            </a:pPr>
            <a:r>
              <a:rPr lang="en-US" altLang="zh-CN" sz="2000" dirty="0"/>
              <a:t>CREATE  TABLE  SC</a:t>
            </a:r>
          </a:p>
          <a:p>
            <a:pPr>
              <a:lnSpc>
                <a:spcPct val="150000"/>
              </a:lnSpc>
              <a:buFontTx/>
              <a:buNone/>
            </a:pPr>
            <a:r>
              <a:rPr lang="en-US" altLang="zh-CN" sz="2000" dirty="0"/>
              <a:t>(</a:t>
            </a:r>
            <a:r>
              <a:rPr lang="en-US" altLang="zh-CN" sz="2000" dirty="0" err="1"/>
              <a:t>sno</a:t>
            </a:r>
            <a:r>
              <a:rPr lang="en-US" altLang="zh-CN" sz="2000" dirty="0"/>
              <a:t> CHAR(5)  NOT  NULL  CONSTRAINT  </a:t>
            </a:r>
            <a:r>
              <a:rPr lang="en-US" altLang="zh-CN" sz="2000" dirty="0" err="1"/>
              <a:t>s_fore</a:t>
            </a:r>
            <a:r>
              <a:rPr lang="en-US" altLang="zh-CN" sz="2000" dirty="0"/>
              <a:t>  FOREIGN  KEY  REFERENCES  S(</a:t>
            </a:r>
            <a:r>
              <a:rPr lang="en-US" altLang="zh-CN" sz="2000" dirty="0" err="1"/>
              <a:t>sno</a:t>
            </a:r>
            <a:r>
              <a:rPr lang="en-US" altLang="zh-CN" sz="2000" dirty="0"/>
              <a:t>),</a:t>
            </a:r>
          </a:p>
          <a:p>
            <a:pPr>
              <a:lnSpc>
                <a:spcPct val="150000"/>
              </a:lnSpc>
              <a:buFontTx/>
              <a:buNone/>
            </a:pPr>
            <a:r>
              <a:rPr lang="en-US" altLang="zh-CN" sz="2000" dirty="0"/>
              <a:t> </a:t>
            </a:r>
            <a:r>
              <a:rPr lang="en-US" altLang="zh-CN" sz="2000" dirty="0" err="1"/>
              <a:t>cno</a:t>
            </a:r>
            <a:r>
              <a:rPr lang="en-US" altLang="zh-CN" sz="2000" dirty="0"/>
              <a:t> CHAR(5) NOT  NULL  CONSTRAINT  </a:t>
            </a:r>
            <a:r>
              <a:rPr lang="en-US" altLang="zh-CN" sz="2000" dirty="0" err="1"/>
              <a:t>c_fore</a:t>
            </a:r>
            <a:r>
              <a:rPr lang="en-US" altLang="zh-CN" sz="2000" dirty="0"/>
              <a:t>  FOREIGN  KEY  REFERENCES  C(</a:t>
            </a:r>
            <a:r>
              <a:rPr lang="en-US" altLang="zh-CN" sz="2000" dirty="0" err="1"/>
              <a:t>cno</a:t>
            </a:r>
            <a:r>
              <a:rPr lang="en-US" altLang="zh-CN" sz="2000" dirty="0"/>
              <a:t>),</a:t>
            </a:r>
          </a:p>
          <a:p>
            <a:pPr>
              <a:lnSpc>
                <a:spcPct val="150000"/>
              </a:lnSpc>
              <a:buFontTx/>
              <a:buNone/>
            </a:pPr>
            <a:r>
              <a:rPr lang="en-US" altLang="zh-CN" sz="2000" dirty="0"/>
              <a:t> grade NUMERIC(3),</a:t>
            </a:r>
          </a:p>
          <a:p>
            <a:pPr>
              <a:lnSpc>
                <a:spcPct val="150000"/>
              </a:lnSpc>
              <a:buFontTx/>
              <a:buNone/>
            </a:pPr>
            <a:r>
              <a:rPr lang="en-US" altLang="zh-CN" sz="2000" dirty="0"/>
              <a:t>CONSTRAINT </a:t>
            </a:r>
            <a:r>
              <a:rPr lang="en-US" altLang="zh-CN" sz="2000" dirty="0" err="1"/>
              <a:t>s_c_prim</a:t>
            </a:r>
            <a:r>
              <a:rPr lang="en-US" altLang="zh-CN" sz="2000" dirty="0"/>
              <a:t> PRIMARY KEY (</a:t>
            </a:r>
            <a:r>
              <a:rPr lang="en-US" altLang="zh-CN" sz="2000" dirty="0" err="1"/>
              <a:t>sno,cno</a:t>
            </a:r>
            <a:r>
              <a:rPr lang="en-US" altLang="zh-CN" sz="2000" dirty="0"/>
              <a:t>)</a:t>
            </a:r>
          </a:p>
          <a:p>
            <a:pPr>
              <a:lnSpc>
                <a:spcPct val="150000"/>
              </a:lnSpc>
              <a:buFontTx/>
              <a:buNone/>
            </a:pPr>
            <a:r>
              <a:rPr lang="en-US" altLang="zh-CN" sz="2000" dirty="0"/>
              <a:t>);</a:t>
            </a:r>
            <a:endParaRPr lang="zh-CN" altLang="en-US" sz="2000" dirty="0"/>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3" name="Rectangle 3">
            <a:extLst>
              <a:ext uri="{FF2B5EF4-FFF2-40B4-BE49-F238E27FC236}">
                <a16:creationId xmlns:a16="http://schemas.microsoft.com/office/drawing/2014/main" id="{6F8487AC-9562-4ADE-A43B-8ACB20F7FEF4}"/>
              </a:ext>
            </a:extLst>
          </p:cNvPr>
          <p:cNvSpPr>
            <a:spLocks noGrp="1" noChangeArrowheads="1"/>
          </p:cNvSpPr>
          <p:nvPr>
            <p:ph type="body" idx="4294967295"/>
          </p:nvPr>
        </p:nvSpPr>
        <p:spPr>
          <a:xfrm>
            <a:off x="1415481" y="692696"/>
            <a:ext cx="9001696" cy="5569993"/>
          </a:xfrm>
        </p:spPr>
        <p:txBody>
          <a:bodyPr/>
          <a:lstStyle/>
          <a:p>
            <a:pPr>
              <a:lnSpc>
                <a:spcPct val="80000"/>
              </a:lnSpc>
            </a:pPr>
            <a:r>
              <a:rPr lang="zh-CN" altLang="en-US" sz="2400" dirty="0"/>
              <a:t>若是用于表约束，则改为</a:t>
            </a:r>
          </a:p>
          <a:p>
            <a:pPr>
              <a:lnSpc>
                <a:spcPct val="80000"/>
              </a:lnSpc>
              <a:buFontTx/>
              <a:buNone/>
            </a:pPr>
            <a:r>
              <a:rPr lang="en-US" altLang="zh-CN" sz="2400" dirty="0"/>
              <a:t>FOREIGN  KEY   (</a:t>
            </a:r>
            <a:r>
              <a:rPr lang="zh-CN" altLang="en-US" sz="2400" dirty="0"/>
              <a:t>列名</a:t>
            </a:r>
            <a:r>
              <a:rPr lang="en-US" altLang="zh-CN" sz="2400" dirty="0"/>
              <a:t>) REFERENCES &lt;</a:t>
            </a:r>
            <a:r>
              <a:rPr lang="zh-CN" altLang="en-US" sz="2400" dirty="0"/>
              <a:t>主表名</a:t>
            </a:r>
            <a:r>
              <a:rPr lang="en-US" altLang="zh-CN" sz="2400" dirty="0"/>
              <a:t>&gt; (&lt;</a:t>
            </a:r>
            <a:r>
              <a:rPr lang="zh-CN" altLang="en-US" sz="2400" dirty="0"/>
              <a:t>列名</a:t>
            </a:r>
            <a:r>
              <a:rPr lang="en-US" altLang="zh-CN" sz="2400" dirty="0"/>
              <a:t>&gt;[{&lt;</a:t>
            </a:r>
            <a:r>
              <a:rPr lang="zh-CN" altLang="en-US" sz="2400" dirty="0"/>
              <a:t>列名</a:t>
            </a:r>
            <a:r>
              <a:rPr lang="en-US" altLang="zh-CN" sz="2400" dirty="0"/>
              <a:t>&gt;}])</a:t>
            </a:r>
          </a:p>
          <a:p>
            <a:pPr>
              <a:lnSpc>
                <a:spcPct val="80000"/>
              </a:lnSpc>
            </a:pPr>
            <a:r>
              <a:rPr lang="zh-CN" altLang="en-US" sz="2400" dirty="0"/>
              <a:t>例：同例</a:t>
            </a:r>
            <a:r>
              <a:rPr lang="en-US" altLang="zh-CN" sz="2400" dirty="0"/>
              <a:t>8</a:t>
            </a:r>
            <a:r>
              <a:rPr lang="zh-CN" altLang="en-US" sz="2400" dirty="0"/>
              <a:t>。</a:t>
            </a:r>
          </a:p>
          <a:p>
            <a:pPr>
              <a:lnSpc>
                <a:spcPct val="80000"/>
              </a:lnSpc>
              <a:buFontTx/>
              <a:buNone/>
            </a:pPr>
            <a:r>
              <a:rPr lang="en-US" altLang="zh-CN" sz="2400" dirty="0"/>
              <a:t>Create Table Sc</a:t>
            </a:r>
          </a:p>
          <a:p>
            <a:pPr>
              <a:lnSpc>
                <a:spcPct val="80000"/>
              </a:lnSpc>
              <a:buFontTx/>
              <a:buNone/>
            </a:pPr>
            <a:r>
              <a:rPr lang="en-US" altLang="zh-CN" sz="2400" dirty="0"/>
              <a:t>(</a:t>
            </a:r>
            <a:r>
              <a:rPr lang="en-US" altLang="zh-CN" sz="2400" dirty="0" err="1"/>
              <a:t>sno</a:t>
            </a:r>
            <a:r>
              <a:rPr lang="en-US" altLang="zh-CN" sz="2400" dirty="0"/>
              <a:t> Char(5)  Not Null ,</a:t>
            </a:r>
          </a:p>
          <a:p>
            <a:pPr>
              <a:lnSpc>
                <a:spcPct val="80000"/>
              </a:lnSpc>
              <a:buFontTx/>
              <a:buNone/>
            </a:pPr>
            <a:r>
              <a:rPr lang="en-US" altLang="zh-CN" sz="2400" dirty="0"/>
              <a:t>  </a:t>
            </a:r>
            <a:r>
              <a:rPr lang="en-US" altLang="zh-CN" sz="2400" dirty="0" err="1"/>
              <a:t>cno</a:t>
            </a:r>
            <a:r>
              <a:rPr lang="en-US" altLang="zh-CN" sz="2400" dirty="0"/>
              <a:t>  Char(5) Not Null ,</a:t>
            </a:r>
          </a:p>
          <a:p>
            <a:pPr>
              <a:lnSpc>
                <a:spcPct val="80000"/>
              </a:lnSpc>
              <a:buFontTx/>
              <a:buNone/>
            </a:pPr>
            <a:r>
              <a:rPr lang="en-US" altLang="zh-CN" sz="2400" dirty="0"/>
              <a:t>  grade Numeric(3),</a:t>
            </a:r>
          </a:p>
          <a:p>
            <a:pPr>
              <a:lnSpc>
                <a:spcPct val="80000"/>
              </a:lnSpc>
              <a:buFontTx/>
              <a:buNone/>
            </a:pPr>
            <a:r>
              <a:rPr lang="en-US" altLang="zh-CN" sz="2400" dirty="0"/>
              <a:t> PRIMARY KEY (</a:t>
            </a:r>
            <a:r>
              <a:rPr lang="en-US" altLang="zh-CN" sz="2400" dirty="0" err="1"/>
              <a:t>Sno,cno</a:t>
            </a:r>
            <a:r>
              <a:rPr lang="en-US" altLang="zh-CN" sz="2400" dirty="0"/>
              <a:t>), </a:t>
            </a:r>
          </a:p>
          <a:p>
            <a:pPr>
              <a:lnSpc>
                <a:spcPct val="80000"/>
              </a:lnSpc>
              <a:buFontTx/>
              <a:buNone/>
            </a:pPr>
            <a:r>
              <a:rPr lang="en-US" altLang="zh-CN" sz="2400" dirty="0"/>
              <a:t> FOREIGN  KEY  (</a:t>
            </a:r>
            <a:r>
              <a:rPr lang="en-US" altLang="zh-CN" sz="2400" dirty="0" err="1"/>
              <a:t>cno</a:t>
            </a:r>
            <a:r>
              <a:rPr lang="en-US" altLang="zh-CN" sz="2400" dirty="0"/>
              <a:t>)  REFERENCES  C (</a:t>
            </a:r>
            <a:r>
              <a:rPr lang="en-US" altLang="zh-CN" sz="2400" dirty="0" err="1"/>
              <a:t>cno</a:t>
            </a:r>
            <a:r>
              <a:rPr lang="en-US" altLang="zh-CN" sz="2400" dirty="0"/>
              <a:t>),</a:t>
            </a:r>
          </a:p>
          <a:p>
            <a:pPr>
              <a:lnSpc>
                <a:spcPct val="80000"/>
              </a:lnSpc>
              <a:buFontTx/>
              <a:buNone/>
            </a:pPr>
            <a:r>
              <a:rPr lang="en-US" altLang="zh-CN" sz="2400" dirty="0"/>
              <a:t> FOREIGN  KEY  (</a:t>
            </a:r>
            <a:r>
              <a:rPr lang="en-US" altLang="zh-CN" sz="2400" dirty="0" err="1"/>
              <a:t>sno</a:t>
            </a:r>
            <a:r>
              <a:rPr lang="en-US" altLang="zh-CN" sz="2400" dirty="0"/>
              <a:t>)  REFERENCES  S(</a:t>
            </a:r>
            <a:r>
              <a:rPr lang="en-US" altLang="zh-CN" sz="2400" dirty="0" err="1"/>
              <a:t>sno</a:t>
            </a:r>
            <a:r>
              <a:rPr lang="en-US" altLang="zh-CN" sz="2400" dirty="0"/>
              <a:t>)</a:t>
            </a:r>
          </a:p>
          <a:p>
            <a:pPr>
              <a:lnSpc>
                <a:spcPct val="80000"/>
              </a:lnSpc>
              <a:buFontTx/>
              <a:buNone/>
            </a:pPr>
            <a:r>
              <a:rPr lang="en-US" altLang="zh-CN" sz="2400" dirty="0"/>
              <a:t>);</a:t>
            </a:r>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7" name="Rectangle 3">
            <a:extLst>
              <a:ext uri="{FF2B5EF4-FFF2-40B4-BE49-F238E27FC236}">
                <a16:creationId xmlns:a16="http://schemas.microsoft.com/office/drawing/2014/main" id="{8CD5FBA9-5C52-4FD9-B8DF-F97F140375CF}"/>
              </a:ext>
            </a:extLst>
          </p:cNvPr>
          <p:cNvSpPr>
            <a:spLocks noGrp="1" noChangeArrowheads="1"/>
          </p:cNvSpPr>
          <p:nvPr>
            <p:ph type="body" idx="4294967295"/>
          </p:nvPr>
        </p:nvSpPr>
        <p:spPr>
          <a:xfrm>
            <a:off x="767408" y="764704"/>
            <a:ext cx="10972800" cy="4525963"/>
          </a:xfrm>
        </p:spPr>
        <p:txBody>
          <a:bodyPr/>
          <a:lstStyle/>
          <a:p>
            <a:pPr>
              <a:lnSpc>
                <a:spcPct val="150000"/>
              </a:lnSpc>
              <a:buFontTx/>
              <a:buNone/>
            </a:pPr>
            <a:r>
              <a:rPr lang="en-US" altLang="zh-CN" sz="2800" dirty="0"/>
              <a:t>(5)CHECK</a:t>
            </a:r>
            <a:r>
              <a:rPr lang="zh-CN" altLang="en-US" sz="2800" dirty="0"/>
              <a:t>约束</a:t>
            </a:r>
          </a:p>
          <a:p>
            <a:pPr>
              <a:lnSpc>
                <a:spcPct val="150000"/>
              </a:lnSpc>
            </a:pPr>
            <a:r>
              <a:rPr lang="en-US" altLang="zh-CN" sz="2800" dirty="0"/>
              <a:t>CHECK</a:t>
            </a:r>
            <a:r>
              <a:rPr lang="zh-CN" altLang="en-US" sz="2800" dirty="0"/>
              <a:t>约束用来检查字段值所允许的范围，如，一个字段只能输入整数，而且限定在</a:t>
            </a:r>
            <a:r>
              <a:rPr lang="en-US" altLang="zh-CN" sz="2800" dirty="0"/>
              <a:t>0-100</a:t>
            </a:r>
            <a:r>
              <a:rPr lang="zh-CN" altLang="en-US" sz="2800" dirty="0"/>
              <a:t>的整数，以此来保证域的完整性。</a:t>
            </a:r>
          </a:p>
          <a:p>
            <a:pPr>
              <a:lnSpc>
                <a:spcPct val="150000"/>
              </a:lnSpc>
            </a:pPr>
            <a:r>
              <a:rPr lang="en-US" altLang="zh-CN" sz="2800" dirty="0"/>
              <a:t>CHECK</a:t>
            </a:r>
            <a:r>
              <a:rPr lang="zh-CN" altLang="en-US" sz="2800" dirty="0"/>
              <a:t>既可用于列约束，也可用于表约束，</a:t>
            </a:r>
          </a:p>
          <a:p>
            <a:pPr>
              <a:lnSpc>
                <a:spcPct val="150000"/>
              </a:lnSpc>
            </a:pPr>
            <a:r>
              <a:rPr lang="zh-CN" altLang="en-US" sz="2800" dirty="0"/>
              <a:t>其语法格式为</a:t>
            </a:r>
          </a:p>
          <a:p>
            <a:pPr>
              <a:lnSpc>
                <a:spcPct val="150000"/>
              </a:lnSpc>
              <a:buFontTx/>
              <a:buNone/>
            </a:pPr>
            <a:r>
              <a:rPr lang="zh-CN" altLang="en-US" sz="2800" dirty="0"/>
              <a:t>	</a:t>
            </a:r>
            <a:r>
              <a:rPr lang="en-US" altLang="zh-CN" sz="2800" dirty="0"/>
              <a:t>[CONSTRAINT &lt;</a:t>
            </a:r>
            <a:r>
              <a:rPr lang="zh-CN" altLang="en-US" sz="2800" dirty="0"/>
              <a:t>约束名</a:t>
            </a:r>
            <a:r>
              <a:rPr lang="en-US" altLang="zh-CN" sz="2800" dirty="0"/>
              <a:t>&gt;] CHECK (&lt;</a:t>
            </a:r>
            <a:r>
              <a:rPr lang="zh-CN" altLang="en-US" sz="2800" dirty="0"/>
              <a:t>条件</a:t>
            </a:r>
            <a:r>
              <a:rPr lang="en-US" altLang="zh-CN" sz="2800" dirty="0"/>
              <a:t>&gt;)</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11" name="Rectangle 3">
            <a:extLst>
              <a:ext uri="{FF2B5EF4-FFF2-40B4-BE49-F238E27FC236}">
                <a16:creationId xmlns:a16="http://schemas.microsoft.com/office/drawing/2014/main" id="{4531114B-7384-42F5-9A58-7A6A01CB72DB}"/>
              </a:ext>
            </a:extLst>
          </p:cNvPr>
          <p:cNvSpPr>
            <a:spLocks noGrp="1" noChangeArrowheads="1"/>
          </p:cNvSpPr>
          <p:nvPr>
            <p:ph type="body" idx="4294967295"/>
          </p:nvPr>
        </p:nvSpPr>
        <p:spPr>
          <a:xfrm>
            <a:off x="695400" y="980728"/>
            <a:ext cx="10972800" cy="4525963"/>
          </a:xfrm>
        </p:spPr>
        <p:txBody>
          <a:bodyPr>
            <a:normAutofit fontScale="85000" lnSpcReduction="20000"/>
          </a:bodyPr>
          <a:lstStyle/>
          <a:p>
            <a:pPr>
              <a:lnSpc>
                <a:spcPct val="150000"/>
              </a:lnSpc>
            </a:pPr>
            <a:r>
              <a:rPr lang="en-US" altLang="zh-CN" dirty="0"/>
              <a:t>CHECK ( &lt;</a:t>
            </a:r>
            <a:r>
              <a:rPr lang="zh-CN" altLang="en-US" dirty="0"/>
              <a:t>条件</a:t>
            </a:r>
            <a:r>
              <a:rPr lang="en-US" altLang="zh-CN" dirty="0"/>
              <a:t>&gt; )</a:t>
            </a:r>
            <a:r>
              <a:rPr lang="zh-CN" altLang="en-US" dirty="0"/>
              <a:t>的条件表达式：</a:t>
            </a:r>
          </a:p>
          <a:p>
            <a:pPr lvl="1">
              <a:lnSpc>
                <a:spcPct val="150000"/>
              </a:lnSpc>
            </a:pPr>
            <a:r>
              <a:rPr lang="zh-CN" altLang="en-US" dirty="0"/>
              <a:t>精确匹配大小。格式为 列名  关系运算符  常量，可使用逻辑运算符： </a:t>
            </a:r>
            <a:r>
              <a:rPr lang="en-US" altLang="zh-CN" dirty="0"/>
              <a:t>and/or/not</a:t>
            </a:r>
          </a:p>
          <a:p>
            <a:pPr lvl="1">
              <a:lnSpc>
                <a:spcPct val="150000"/>
              </a:lnSpc>
            </a:pPr>
            <a:r>
              <a:rPr lang="zh-CN" altLang="en-US" dirty="0"/>
              <a:t>例：</a:t>
            </a:r>
            <a:r>
              <a:rPr lang="en-US" altLang="zh-CN" dirty="0"/>
              <a:t>Age&gt;30</a:t>
            </a:r>
          </a:p>
          <a:p>
            <a:pPr lvl="1">
              <a:lnSpc>
                <a:spcPct val="150000"/>
              </a:lnSpc>
            </a:pPr>
            <a:r>
              <a:rPr lang="zh-CN" altLang="en-US" dirty="0"/>
              <a:t>指定所属范围。格式为 列名 </a:t>
            </a:r>
            <a:r>
              <a:rPr lang="en-US" altLang="zh-CN" dirty="0"/>
              <a:t>[not] between  </a:t>
            </a:r>
            <a:r>
              <a:rPr lang="zh-CN" altLang="en-US" dirty="0"/>
              <a:t>常量 </a:t>
            </a:r>
            <a:r>
              <a:rPr lang="en-US" altLang="zh-CN" dirty="0"/>
              <a:t>and  </a:t>
            </a:r>
            <a:r>
              <a:rPr lang="zh-CN" altLang="en-US" dirty="0"/>
              <a:t>常量 </a:t>
            </a:r>
          </a:p>
          <a:p>
            <a:pPr lvl="1">
              <a:lnSpc>
                <a:spcPct val="150000"/>
              </a:lnSpc>
            </a:pPr>
            <a:r>
              <a:rPr lang="zh-CN" altLang="en-US" dirty="0"/>
              <a:t>例：</a:t>
            </a:r>
            <a:r>
              <a:rPr lang="en-US" altLang="zh-CN" dirty="0"/>
              <a:t>Age between 10 and 30</a:t>
            </a:r>
          </a:p>
          <a:p>
            <a:pPr lvl="1">
              <a:lnSpc>
                <a:spcPct val="150000"/>
              </a:lnSpc>
            </a:pPr>
            <a:r>
              <a:rPr lang="zh-CN" altLang="en-US" dirty="0"/>
              <a:t>列出集合元素。格式为 列名 </a:t>
            </a:r>
            <a:r>
              <a:rPr lang="en-US" altLang="zh-CN" dirty="0"/>
              <a:t>in(</a:t>
            </a:r>
            <a:r>
              <a:rPr lang="zh-CN" altLang="en-US" dirty="0"/>
              <a:t>值</a:t>
            </a:r>
            <a:r>
              <a:rPr lang="en-US" altLang="zh-CN" dirty="0"/>
              <a:t>1</a:t>
            </a:r>
            <a:r>
              <a:rPr lang="zh-CN" altLang="en-US" dirty="0"/>
              <a:t>，值</a:t>
            </a:r>
            <a:r>
              <a:rPr lang="en-US" altLang="zh-CN" dirty="0"/>
              <a:t>2……)</a:t>
            </a:r>
          </a:p>
          <a:p>
            <a:pPr lvl="1">
              <a:lnSpc>
                <a:spcPct val="150000"/>
              </a:lnSpc>
            </a:pPr>
            <a:r>
              <a:rPr lang="zh-CN" altLang="en-US" dirty="0"/>
              <a:t>例：</a:t>
            </a:r>
            <a:r>
              <a:rPr lang="en-US" altLang="zh-CN" dirty="0"/>
              <a:t>Age in</a:t>
            </a:r>
            <a:r>
              <a:rPr lang="zh-CN" altLang="en-US" dirty="0"/>
              <a:t>（</a:t>
            </a:r>
            <a:r>
              <a:rPr lang="en-US" altLang="zh-CN" dirty="0"/>
              <a:t>15,17,19,21,23</a:t>
            </a:r>
            <a:r>
              <a:rPr lang="zh-CN" altLang="en-US" dirty="0"/>
              <a:t>）</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5" name="Rectangle 3">
            <a:extLst>
              <a:ext uri="{FF2B5EF4-FFF2-40B4-BE49-F238E27FC236}">
                <a16:creationId xmlns:a16="http://schemas.microsoft.com/office/drawing/2014/main" id="{C4B94A13-A768-4282-A002-CCA3AA584758}"/>
              </a:ext>
            </a:extLst>
          </p:cNvPr>
          <p:cNvSpPr>
            <a:spLocks noGrp="1" noChangeArrowheads="1"/>
          </p:cNvSpPr>
          <p:nvPr>
            <p:ph type="body" idx="4294967295"/>
          </p:nvPr>
        </p:nvSpPr>
        <p:spPr>
          <a:xfrm>
            <a:off x="609600" y="980728"/>
            <a:ext cx="10972800" cy="4525963"/>
          </a:xfrm>
        </p:spPr>
        <p:txBody>
          <a:bodyPr>
            <a:normAutofit fontScale="92500" lnSpcReduction="10000"/>
          </a:bodyPr>
          <a:lstStyle/>
          <a:p>
            <a:pPr>
              <a:lnSpc>
                <a:spcPct val="150000"/>
              </a:lnSpc>
            </a:pPr>
            <a:r>
              <a:rPr lang="zh-CN" altLang="en-US" dirty="0"/>
              <a:t>例：  建立一个</a:t>
            </a:r>
            <a:r>
              <a:rPr lang="en-US" altLang="zh-CN" dirty="0" err="1"/>
              <a:t>sc</a:t>
            </a:r>
            <a:r>
              <a:rPr lang="zh-CN" altLang="en-US" dirty="0"/>
              <a:t>表，定义</a:t>
            </a:r>
            <a:r>
              <a:rPr lang="en-US" altLang="zh-CN" dirty="0"/>
              <a:t>grade </a:t>
            </a:r>
            <a:r>
              <a:rPr lang="zh-CN" altLang="en-US" dirty="0"/>
              <a:t>的取值范围为</a:t>
            </a:r>
            <a:r>
              <a:rPr lang="en-US" altLang="zh-CN" dirty="0"/>
              <a:t>0</a:t>
            </a:r>
            <a:r>
              <a:rPr lang="zh-CN" altLang="en-US" dirty="0"/>
              <a:t>到</a:t>
            </a:r>
            <a:r>
              <a:rPr lang="en-US" altLang="zh-CN" dirty="0"/>
              <a:t>100</a:t>
            </a:r>
            <a:r>
              <a:rPr lang="zh-CN" altLang="en-US" dirty="0"/>
              <a:t>之间。</a:t>
            </a:r>
          </a:p>
          <a:p>
            <a:pPr>
              <a:lnSpc>
                <a:spcPct val="150000"/>
              </a:lnSpc>
              <a:buFontTx/>
              <a:buNone/>
            </a:pPr>
            <a:r>
              <a:rPr lang="en-US" altLang="zh-CN" dirty="0"/>
              <a:t>CREATE TABLE SC</a:t>
            </a:r>
          </a:p>
          <a:p>
            <a:pPr>
              <a:lnSpc>
                <a:spcPct val="150000"/>
              </a:lnSpc>
              <a:buFontTx/>
              <a:buNone/>
            </a:pPr>
            <a:r>
              <a:rPr lang="en-US" altLang="zh-CN" dirty="0"/>
              <a:t>( </a:t>
            </a:r>
            <a:r>
              <a:rPr lang="en-US" altLang="zh-CN" dirty="0" err="1"/>
              <a:t>sno</a:t>
            </a:r>
            <a:r>
              <a:rPr lang="en-US" altLang="zh-CN" dirty="0"/>
              <a:t> CHAR(5),</a:t>
            </a:r>
          </a:p>
          <a:p>
            <a:pPr>
              <a:lnSpc>
                <a:spcPct val="150000"/>
              </a:lnSpc>
              <a:buFontTx/>
              <a:buNone/>
            </a:pPr>
            <a:r>
              <a:rPr lang="en-US" altLang="zh-CN" dirty="0"/>
              <a:t>  </a:t>
            </a:r>
            <a:r>
              <a:rPr lang="en-US" altLang="zh-CN" dirty="0" err="1"/>
              <a:t>cno</a:t>
            </a:r>
            <a:r>
              <a:rPr lang="en-US" altLang="zh-CN" dirty="0"/>
              <a:t> CHAR(5),</a:t>
            </a:r>
          </a:p>
          <a:p>
            <a:pPr>
              <a:lnSpc>
                <a:spcPct val="150000"/>
              </a:lnSpc>
              <a:buFontTx/>
              <a:buNone/>
            </a:pPr>
            <a:r>
              <a:rPr lang="en-US" altLang="zh-CN" dirty="0"/>
              <a:t>  grade  NUMERIC(5,1)  CONSTRAINT  </a:t>
            </a:r>
            <a:r>
              <a:rPr lang="en-US" altLang="zh-CN" dirty="0" err="1"/>
              <a:t>grade_chk</a:t>
            </a:r>
            <a:r>
              <a:rPr lang="en-US" altLang="zh-CN" dirty="0"/>
              <a:t>  CHECK (grade&gt;=0 and grade &lt;=100);</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55475" y="0"/>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sz="4000" b="1" dirty="0">
                <a:solidFill>
                  <a:srgbClr val="FFFFCC"/>
                </a:solidFill>
                <a:effectLst>
                  <a:outerShdw blurRad="38100" dist="38100" dir="2700000" algn="tl">
                    <a:srgbClr val="000000"/>
                  </a:outerShdw>
                </a:effectLst>
              </a:rPr>
              <a:t>定义基本表</a:t>
            </a:r>
            <a:endParaRPr lang="zh-CN" altLang="en-US" sz="4000" b="1" dirty="0">
              <a:solidFill>
                <a:srgbClr val="FFFFCC"/>
              </a:solidFill>
              <a:effectLst>
                <a:outerShdw blurRad="38100" dist="38100" dir="2700000" algn="tl">
                  <a:srgbClr val="000000"/>
                </a:outerShdw>
              </a:effectLst>
              <a:cs typeface="+mn-cs"/>
            </a:endParaRPr>
          </a:p>
        </p:txBody>
      </p:sp>
      <p:sp>
        <p:nvSpPr>
          <p:cNvPr id="10" name="Rectangle 3"/>
          <p:cNvSpPr>
            <a:spLocks noChangeArrowheads="1"/>
          </p:cNvSpPr>
          <p:nvPr/>
        </p:nvSpPr>
        <p:spPr bwMode="auto">
          <a:xfrm>
            <a:off x="695497" y="2847917"/>
            <a:ext cx="11017127" cy="2374900"/>
          </a:xfrm>
          <a:prstGeom prst="rect">
            <a:avLst/>
          </a:prstGeom>
          <a:noFill/>
          <a:ln w="9525">
            <a:noFill/>
            <a:miter lim="800000"/>
            <a:headEnd/>
            <a:tailEnd/>
          </a:ln>
          <a:effectLst/>
        </p:spPr>
        <p:txBody>
          <a:bodyPr/>
          <a:lstStyle/>
          <a:p>
            <a:pPr marL="342900" indent="-342900">
              <a:lnSpc>
                <a:spcPct val="105000"/>
              </a:lnSpc>
              <a:spcAft>
                <a:spcPct val="0"/>
              </a:spcAft>
              <a:buClr>
                <a:srgbClr val="66FF33"/>
              </a:buClr>
              <a:buSzPct val="85000"/>
              <a:defRPr/>
            </a:pPr>
            <a:r>
              <a:rPr lang="en-US" altLang="en-US" sz="4000" b="1" kern="0" dirty="0">
                <a:solidFill>
                  <a:srgbClr val="FFCC00"/>
                </a:solidFill>
                <a:effectLst>
                  <a:outerShdw blurRad="38100" dist="38100" dir="2700000" algn="tl">
                    <a:srgbClr val="000000"/>
                  </a:outerShdw>
                </a:effectLst>
                <a:latin typeface="Arial" pitchFamily="34" charset="0"/>
                <a:cs typeface="Arial" pitchFamily="34" charset="0"/>
              </a:rPr>
              <a:t>CREATE TABLE </a:t>
            </a:r>
            <a:r>
              <a:rPr lang="en-US" altLang="en-US" sz="4000" b="1" kern="0" dirty="0">
                <a:solidFill>
                  <a:srgbClr val="FFFFCC"/>
                </a:solidFill>
                <a:effectLst>
                  <a:outerShdw blurRad="38100" dist="38100" dir="2700000" algn="tl">
                    <a:srgbClr val="000000"/>
                  </a:outerShdw>
                </a:effectLst>
                <a:latin typeface="Arial" pitchFamily="34" charset="0"/>
                <a:cs typeface="Arial" pitchFamily="34" charset="0"/>
              </a:rPr>
              <a:t>Teacher</a:t>
            </a:r>
            <a:r>
              <a:rPr lang="en-US" altLang="zh-CN" sz="4000" b="1" kern="0" dirty="0">
                <a:solidFill>
                  <a:srgbClr val="FFCC00"/>
                </a:solidFill>
                <a:effectLst>
                  <a:outerShdw blurRad="38100" dist="38100" dir="2700000" algn="tl">
                    <a:srgbClr val="000000"/>
                  </a:outerShdw>
                </a:effectLst>
                <a:latin typeface="Arial" pitchFamily="34" charset="0"/>
                <a:cs typeface="Arial" pitchFamily="34" charset="0"/>
              </a:rPr>
              <a:t> </a:t>
            </a:r>
            <a:r>
              <a:rPr lang="en-US" altLang="en-US" sz="4000" b="1" kern="0" dirty="0">
                <a:solidFill>
                  <a:srgbClr val="FFCC00"/>
                </a:solidFill>
                <a:effectLst>
                  <a:outerShdw blurRad="38100" dist="38100" dir="2700000" algn="tl">
                    <a:srgbClr val="000000"/>
                  </a:outerShdw>
                </a:effectLst>
                <a:latin typeface="Arial" pitchFamily="34" charset="0"/>
                <a:cs typeface="Arial" pitchFamily="34" charset="0"/>
              </a:rPr>
              <a:t>(</a:t>
            </a:r>
            <a:endParaRPr lang="en-US" altLang="zh-CN" sz="4000" b="1" kern="0" dirty="0">
              <a:solidFill>
                <a:srgbClr val="FFCC00"/>
              </a:solidFill>
              <a:effectLst>
                <a:outerShdw blurRad="38100" dist="38100" dir="2700000" algn="tl">
                  <a:srgbClr val="000000"/>
                </a:outerShdw>
              </a:effectLst>
              <a:latin typeface="Arial" pitchFamily="34" charset="0"/>
              <a:cs typeface="Arial" pitchFamily="34" charset="0"/>
            </a:endParaRPr>
          </a:p>
          <a:p>
            <a:pPr marL="342900" indent="-342900">
              <a:lnSpc>
                <a:spcPct val="105000"/>
              </a:lnSpc>
              <a:spcAft>
                <a:spcPct val="0"/>
              </a:spcAft>
              <a:buClr>
                <a:srgbClr val="66FF33"/>
              </a:buClr>
              <a:buSzPct val="85000"/>
              <a:defRPr/>
            </a:pPr>
            <a:r>
              <a:rPr lang="en-US" altLang="zh-CN" sz="4000" kern="0" dirty="0">
                <a:solidFill>
                  <a:srgbClr val="FFFFCC"/>
                </a:solidFill>
                <a:effectLst>
                  <a:outerShdw blurRad="38100" dist="38100" dir="2700000" algn="tl">
                    <a:srgbClr val="000000"/>
                  </a:outerShdw>
                </a:effectLst>
                <a:latin typeface="Arial" pitchFamily="34" charset="0"/>
                <a:cs typeface="Arial" pitchFamily="34" charset="0"/>
              </a:rPr>
              <a:t>   </a:t>
            </a:r>
            <a:r>
              <a:rPr lang="en-US" altLang="en-US" sz="4000" kern="0" dirty="0" err="1">
                <a:solidFill>
                  <a:srgbClr val="FFFFCC"/>
                </a:solidFill>
                <a:effectLst>
                  <a:outerShdw blurRad="38100" dist="38100" dir="2700000" algn="tl">
                    <a:srgbClr val="000000"/>
                  </a:outerShdw>
                </a:effectLst>
                <a:latin typeface="Arial" pitchFamily="34" charset="0"/>
                <a:cs typeface="Arial" pitchFamily="34" charset="0"/>
              </a:rPr>
              <a:t>工号</a:t>
            </a:r>
            <a:r>
              <a:rPr lang="en-US" altLang="en-US" sz="4000" kern="0" dirty="0">
                <a:solidFill>
                  <a:srgbClr val="FFFFCC"/>
                </a:solidFill>
                <a:effectLst>
                  <a:outerShdw blurRad="38100" dist="38100" dir="2700000" algn="tl">
                    <a:srgbClr val="000000"/>
                  </a:outerShdw>
                </a:effectLst>
                <a:latin typeface="Arial" pitchFamily="34" charset="0"/>
                <a:cs typeface="Arial" pitchFamily="34" charset="0"/>
              </a:rPr>
              <a:t> </a:t>
            </a:r>
            <a:r>
              <a:rPr lang="en-US" altLang="en-US" sz="4000" kern="0" dirty="0">
                <a:solidFill>
                  <a:srgbClr val="CCFF99"/>
                </a:solidFill>
                <a:effectLst>
                  <a:outerShdw blurRad="38100" dist="38100" dir="2700000" algn="tl">
                    <a:srgbClr val="000000"/>
                  </a:outerShdw>
                </a:effectLst>
                <a:latin typeface="Arial" pitchFamily="34" charset="0"/>
                <a:cs typeface="Arial" pitchFamily="34" charset="0"/>
              </a:rPr>
              <a:t>CHAR</a:t>
            </a:r>
            <a:r>
              <a:rPr lang="en-US" altLang="en-US" sz="4000" kern="0" dirty="0">
                <a:solidFill>
                  <a:srgbClr val="FFFFCC"/>
                </a:solidFill>
                <a:effectLst>
                  <a:outerShdw blurRad="38100" dist="38100" dir="2700000" algn="tl">
                    <a:srgbClr val="000000"/>
                  </a:outerShdw>
                </a:effectLst>
                <a:latin typeface="Arial" pitchFamily="34" charset="0"/>
                <a:cs typeface="Arial" pitchFamily="34" charset="0"/>
              </a:rPr>
              <a:t>(4) </a:t>
            </a:r>
            <a:r>
              <a:rPr lang="en-US" altLang="en-US" sz="4000" kern="0" dirty="0">
                <a:solidFill>
                  <a:srgbClr val="99FF33"/>
                </a:solidFill>
                <a:effectLst>
                  <a:outerShdw blurRad="38100" dist="38100" dir="2700000" algn="tl">
                    <a:srgbClr val="000000"/>
                  </a:outerShdw>
                </a:effectLst>
                <a:latin typeface="Arial" pitchFamily="34" charset="0"/>
                <a:cs typeface="Arial" pitchFamily="34" charset="0"/>
              </a:rPr>
              <a:t>PRIMARY KEY</a:t>
            </a:r>
            <a:r>
              <a:rPr lang="en-US" altLang="en-US" sz="4000" kern="0" dirty="0">
                <a:solidFill>
                  <a:srgbClr val="FFFFCC"/>
                </a:solidFill>
                <a:effectLst>
                  <a:outerShdw blurRad="38100" dist="38100" dir="2700000" algn="tl">
                    <a:srgbClr val="000000"/>
                  </a:outerShdw>
                </a:effectLst>
                <a:latin typeface="Arial" pitchFamily="34" charset="0"/>
                <a:cs typeface="Arial" pitchFamily="34" charset="0"/>
              </a:rPr>
              <a:t>,</a:t>
            </a:r>
          </a:p>
          <a:p>
            <a:pPr marL="342900" indent="-342900">
              <a:lnSpc>
                <a:spcPct val="105000"/>
              </a:lnSpc>
              <a:spcAft>
                <a:spcPct val="0"/>
              </a:spcAft>
              <a:buClr>
                <a:srgbClr val="66FF33"/>
              </a:buClr>
              <a:buSzPct val="85000"/>
              <a:defRPr/>
            </a:pPr>
            <a:r>
              <a:rPr lang="en-US" altLang="zh-CN" sz="4000" kern="0" dirty="0">
                <a:solidFill>
                  <a:srgbClr val="FFFFCC"/>
                </a:solidFill>
                <a:effectLst>
                  <a:outerShdw blurRad="38100" dist="38100" dir="2700000" algn="tl">
                    <a:srgbClr val="000000"/>
                  </a:outerShdw>
                </a:effectLst>
                <a:latin typeface="Arial" pitchFamily="34" charset="0"/>
                <a:cs typeface="Arial" pitchFamily="34" charset="0"/>
              </a:rPr>
              <a:t>   </a:t>
            </a:r>
            <a:r>
              <a:rPr lang="en-US" altLang="en-US" sz="4000" kern="0" dirty="0" err="1">
                <a:solidFill>
                  <a:srgbClr val="FFFFCC"/>
                </a:solidFill>
                <a:effectLst>
                  <a:outerShdw blurRad="38100" dist="38100" dir="2700000" algn="tl">
                    <a:srgbClr val="000000"/>
                  </a:outerShdw>
                </a:effectLst>
                <a:latin typeface="Arial" pitchFamily="34" charset="0"/>
                <a:cs typeface="Arial" pitchFamily="34" charset="0"/>
              </a:rPr>
              <a:t>姓名</a:t>
            </a:r>
            <a:r>
              <a:rPr lang="en-US" altLang="en-US" sz="4000" kern="0" dirty="0">
                <a:solidFill>
                  <a:srgbClr val="FFFFCC"/>
                </a:solidFill>
                <a:effectLst>
                  <a:outerShdw blurRad="38100" dist="38100" dir="2700000" algn="tl">
                    <a:srgbClr val="000000"/>
                  </a:outerShdw>
                </a:effectLst>
                <a:latin typeface="Arial" pitchFamily="34" charset="0"/>
                <a:cs typeface="Arial" pitchFamily="34" charset="0"/>
              </a:rPr>
              <a:t> </a:t>
            </a:r>
            <a:r>
              <a:rPr lang="en-US" altLang="en-US" sz="4000" kern="0" dirty="0">
                <a:solidFill>
                  <a:srgbClr val="CCFF99"/>
                </a:solidFill>
                <a:effectLst>
                  <a:outerShdw blurRad="38100" dist="38100" dir="2700000" algn="tl">
                    <a:srgbClr val="000000"/>
                  </a:outerShdw>
                </a:effectLst>
                <a:latin typeface="Arial" pitchFamily="34" charset="0"/>
                <a:cs typeface="Arial" pitchFamily="34" charset="0"/>
              </a:rPr>
              <a:t>CHAR</a:t>
            </a:r>
            <a:r>
              <a:rPr lang="en-US" altLang="en-US" sz="4000" kern="0" dirty="0">
                <a:solidFill>
                  <a:srgbClr val="FFFFCC"/>
                </a:solidFill>
                <a:effectLst>
                  <a:outerShdw blurRad="38100" dist="38100" dir="2700000" algn="tl">
                    <a:srgbClr val="000000"/>
                  </a:outerShdw>
                </a:effectLst>
                <a:latin typeface="Arial" pitchFamily="34" charset="0"/>
                <a:cs typeface="Arial" pitchFamily="34" charset="0"/>
              </a:rPr>
              <a:t>(20) </a:t>
            </a:r>
            <a:r>
              <a:rPr lang="en-US" altLang="en-US" sz="4000" kern="0" dirty="0">
                <a:solidFill>
                  <a:srgbClr val="99FF33"/>
                </a:solidFill>
                <a:effectLst>
                  <a:outerShdw blurRad="38100" dist="38100" dir="2700000" algn="tl">
                    <a:srgbClr val="000000"/>
                  </a:outerShdw>
                </a:effectLst>
                <a:latin typeface="Arial" pitchFamily="34" charset="0"/>
                <a:cs typeface="Arial" pitchFamily="34" charset="0"/>
              </a:rPr>
              <a:t>NOT NULL</a:t>
            </a:r>
            <a:r>
              <a:rPr lang="en-US" altLang="en-US" sz="4000" kern="0" dirty="0">
                <a:solidFill>
                  <a:srgbClr val="FFFFCC"/>
                </a:solidFill>
                <a:effectLst>
                  <a:outerShdw blurRad="38100" dist="38100" dir="2700000" algn="tl">
                    <a:srgbClr val="000000"/>
                  </a:outerShdw>
                </a:effectLst>
                <a:latin typeface="Arial" pitchFamily="34" charset="0"/>
                <a:cs typeface="Arial" pitchFamily="34" charset="0"/>
              </a:rPr>
              <a:t>,</a:t>
            </a:r>
          </a:p>
          <a:p>
            <a:pPr marL="342900" indent="-342900">
              <a:lnSpc>
                <a:spcPct val="105000"/>
              </a:lnSpc>
              <a:spcAft>
                <a:spcPct val="0"/>
              </a:spcAft>
              <a:buClr>
                <a:srgbClr val="66FF33"/>
              </a:buClr>
              <a:buSzPct val="85000"/>
              <a:defRPr/>
            </a:pPr>
            <a:r>
              <a:rPr lang="en-US" altLang="zh-CN" sz="4000" kern="0" dirty="0">
                <a:solidFill>
                  <a:srgbClr val="FFFFCC"/>
                </a:solidFill>
                <a:effectLst>
                  <a:outerShdw blurRad="38100" dist="38100" dir="2700000" algn="tl">
                    <a:srgbClr val="000000"/>
                  </a:outerShdw>
                </a:effectLst>
                <a:latin typeface="Arial" pitchFamily="34" charset="0"/>
                <a:cs typeface="Arial" pitchFamily="34" charset="0"/>
              </a:rPr>
              <a:t>   </a:t>
            </a:r>
            <a:r>
              <a:rPr lang="en-US" altLang="en-US" sz="4000" kern="0" dirty="0" err="1">
                <a:solidFill>
                  <a:srgbClr val="FFFFCC"/>
                </a:solidFill>
                <a:effectLst>
                  <a:outerShdw blurRad="38100" dist="38100" dir="2700000" algn="tl">
                    <a:srgbClr val="000000"/>
                  </a:outerShdw>
                </a:effectLst>
                <a:latin typeface="Arial" pitchFamily="34" charset="0"/>
                <a:cs typeface="Arial" pitchFamily="34" charset="0"/>
              </a:rPr>
              <a:t>年龄</a:t>
            </a:r>
            <a:r>
              <a:rPr lang="en-US" altLang="en-US" sz="4000" kern="0" dirty="0">
                <a:solidFill>
                  <a:srgbClr val="FFFFCC"/>
                </a:solidFill>
                <a:effectLst>
                  <a:outerShdw blurRad="38100" dist="38100" dir="2700000" algn="tl">
                    <a:srgbClr val="000000"/>
                  </a:outerShdw>
                </a:effectLst>
                <a:latin typeface="Arial" pitchFamily="34" charset="0"/>
                <a:cs typeface="Arial" pitchFamily="34" charset="0"/>
              </a:rPr>
              <a:t> </a:t>
            </a:r>
            <a:r>
              <a:rPr lang="en-US" altLang="en-US" sz="4000" kern="0" dirty="0">
                <a:solidFill>
                  <a:srgbClr val="CCFFCC"/>
                </a:solidFill>
                <a:effectLst>
                  <a:outerShdw blurRad="38100" dist="38100" dir="2700000" algn="tl">
                    <a:srgbClr val="000000"/>
                  </a:outerShdw>
                </a:effectLst>
                <a:latin typeface="Arial" pitchFamily="34" charset="0"/>
                <a:cs typeface="Arial" pitchFamily="34" charset="0"/>
              </a:rPr>
              <a:t>INT</a:t>
            </a:r>
            <a:r>
              <a:rPr lang="en-US" altLang="zh-CN" sz="4000" kern="0" dirty="0">
                <a:solidFill>
                  <a:srgbClr val="FFFFCC"/>
                </a:solidFill>
                <a:effectLst>
                  <a:outerShdw blurRad="38100" dist="38100" dir="2700000" algn="tl">
                    <a:srgbClr val="000000"/>
                  </a:outerShdw>
                </a:effectLst>
                <a:latin typeface="Arial" pitchFamily="34" charset="0"/>
                <a:cs typeface="Arial" pitchFamily="34" charset="0"/>
              </a:rPr>
              <a:t>,</a:t>
            </a:r>
          </a:p>
          <a:p>
            <a:pPr marL="342900" indent="-342900">
              <a:lnSpc>
                <a:spcPct val="105000"/>
              </a:lnSpc>
              <a:spcAft>
                <a:spcPct val="0"/>
              </a:spcAft>
              <a:buClr>
                <a:srgbClr val="66FF33"/>
              </a:buClr>
              <a:buSzPct val="85000"/>
              <a:defRPr/>
            </a:pPr>
            <a:r>
              <a:rPr lang="en-US" altLang="zh-CN" sz="4000" kern="0" dirty="0">
                <a:solidFill>
                  <a:srgbClr val="FFFFCC"/>
                </a:solidFill>
                <a:effectLst>
                  <a:outerShdw blurRad="38100" dist="38100" dir="2700000" algn="tl">
                    <a:srgbClr val="000000"/>
                  </a:outerShdw>
                </a:effectLst>
                <a:latin typeface="Arial" pitchFamily="34" charset="0"/>
                <a:cs typeface="Arial" pitchFamily="34" charset="0"/>
              </a:rPr>
              <a:t>   </a:t>
            </a:r>
            <a:r>
              <a:rPr lang="en-US" altLang="en-US" sz="4000" kern="0" dirty="0" err="1">
                <a:solidFill>
                  <a:srgbClr val="FFFFCC"/>
                </a:solidFill>
                <a:effectLst>
                  <a:outerShdw blurRad="38100" dist="38100" dir="2700000" algn="tl">
                    <a:srgbClr val="000000"/>
                  </a:outerShdw>
                </a:effectLst>
                <a:latin typeface="Arial" pitchFamily="34" charset="0"/>
                <a:cs typeface="Arial" pitchFamily="34" charset="0"/>
              </a:rPr>
              <a:t>性别</a:t>
            </a:r>
            <a:r>
              <a:rPr lang="en-US" altLang="en-US" sz="4000" kern="0" dirty="0">
                <a:solidFill>
                  <a:srgbClr val="FFFFCC"/>
                </a:solidFill>
                <a:effectLst>
                  <a:outerShdw blurRad="38100" dist="38100" dir="2700000" algn="tl">
                    <a:srgbClr val="000000"/>
                  </a:outerShdw>
                </a:effectLst>
                <a:latin typeface="Arial" pitchFamily="34" charset="0"/>
                <a:cs typeface="Arial" pitchFamily="34" charset="0"/>
              </a:rPr>
              <a:t> </a:t>
            </a:r>
            <a:r>
              <a:rPr lang="en-US" altLang="en-US" sz="4000" kern="0" dirty="0">
                <a:solidFill>
                  <a:srgbClr val="CCFFCC"/>
                </a:solidFill>
                <a:effectLst>
                  <a:outerShdw blurRad="38100" dist="38100" dir="2700000" algn="tl">
                    <a:srgbClr val="000000"/>
                  </a:outerShdw>
                </a:effectLst>
                <a:latin typeface="Arial" pitchFamily="34" charset="0"/>
                <a:cs typeface="Arial" pitchFamily="34" charset="0"/>
              </a:rPr>
              <a:t>CHAR</a:t>
            </a:r>
            <a:r>
              <a:rPr lang="en-US" altLang="en-US" sz="4000" kern="0" dirty="0">
                <a:solidFill>
                  <a:srgbClr val="FFFFCC"/>
                </a:solidFill>
                <a:effectLst>
                  <a:outerShdw blurRad="38100" dist="38100" dir="2700000" algn="tl">
                    <a:srgbClr val="000000"/>
                  </a:outerShdw>
                </a:effectLst>
                <a:latin typeface="Arial" pitchFamily="34" charset="0"/>
                <a:cs typeface="Arial" pitchFamily="34" charset="0"/>
              </a:rPr>
              <a:t>(2) </a:t>
            </a:r>
            <a:r>
              <a:rPr lang="en-US" altLang="en-US" sz="4000" kern="0" dirty="0">
                <a:solidFill>
                  <a:srgbClr val="99FF33"/>
                </a:solidFill>
                <a:effectLst>
                  <a:outerShdw blurRad="38100" dist="38100" dir="2700000" algn="tl">
                    <a:srgbClr val="000000"/>
                  </a:outerShdw>
                </a:effectLst>
                <a:latin typeface="Arial" pitchFamily="34" charset="0"/>
                <a:cs typeface="Arial" pitchFamily="34" charset="0"/>
              </a:rPr>
              <a:t>DEFAULT '男'</a:t>
            </a:r>
            <a:r>
              <a:rPr lang="en-US" altLang="en-US" sz="4000" kern="0" dirty="0">
                <a:solidFill>
                  <a:srgbClr val="FFFFCC"/>
                </a:solidFill>
                <a:effectLst>
                  <a:outerShdw blurRad="38100" dist="38100" dir="2700000" algn="tl">
                    <a:srgbClr val="000000"/>
                  </a:outerShdw>
                </a:effectLst>
                <a:latin typeface="Arial" pitchFamily="34" charset="0"/>
                <a:cs typeface="Arial" pitchFamily="34" charset="0"/>
              </a:rPr>
              <a:t>,</a:t>
            </a:r>
          </a:p>
          <a:p>
            <a:pPr marL="342900" indent="-342900">
              <a:lnSpc>
                <a:spcPct val="105000"/>
              </a:lnSpc>
              <a:spcAft>
                <a:spcPct val="0"/>
              </a:spcAft>
              <a:buClr>
                <a:srgbClr val="66FF33"/>
              </a:buClr>
              <a:buSzPct val="85000"/>
              <a:defRPr/>
            </a:pPr>
            <a:r>
              <a:rPr lang="en-US" altLang="zh-CN" sz="4000" kern="0" dirty="0">
                <a:solidFill>
                  <a:srgbClr val="FFFFCC"/>
                </a:solidFill>
                <a:effectLst>
                  <a:outerShdw blurRad="38100" dist="38100" dir="2700000" algn="tl">
                    <a:srgbClr val="000000"/>
                  </a:outerShdw>
                </a:effectLst>
                <a:latin typeface="Arial" pitchFamily="34" charset="0"/>
                <a:cs typeface="Arial" pitchFamily="34" charset="0"/>
              </a:rPr>
              <a:t>   </a:t>
            </a:r>
            <a:r>
              <a:rPr lang="en-US" altLang="zh-CN" sz="4000" kern="0" dirty="0">
                <a:solidFill>
                  <a:srgbClr val="99FF33"/>
                </a:solidFill>
                <a:effectLst>
                  <a:outerShdw blurRad="38100" dist="38100" dir="2700000" algn="tl">
                    <a:srgbClr val="000000"/>
                  </a:outerShdw>
                </a:effectLst>
                <a:latin typeface="Arial" pitchFamily="34" charset="0"/>
                <a:cs typeface="Arial" pitchFamily="34" charset="0"/>
              </a:rPr>
              <a:t>UNIQUE</a:t>
            </a:r>
            <a:r>
              <a:rPr lang="en-US" altLang="en-US" sz="4000" kern="0" dirty="0">
                <a:solidFill>
                  <a:srgbClr val="99FF33"/>
                </a:solidFill>
                <a:effectLst>
                  <a:outerShdw blurRad="38100" dist="38100" dir="2700000" algn="tl">
                    <a:srgbClr val="000000"/>
                  </a:outerShdw>
                </a:effectLst>
                <a:latin typeface="Arial" pitchFamily="34" charset="0"/>
                <a:cs typeface="Arial" pitchFamily="34" charset="0"/>
              </a:rPr>
              <a:t>(</a:t>
            </a:r>
            <a:r>
              <a:rPr lang="en-US" altLang="en-US" sz="4000" kern="0" dirty="0" err="1">
                <a:solidFill>
                  <a:srgbClr val="99FF33"/>
                </a:solidFill>
                <a:effectLst>
                  <a:outerShdw blurRad="38100" dist="38100" dir="2700000" algn="tl">
                    <a:srgbClr val="000000"/>
                  </a:outerShdw>
                </a:effectLst>
                <a:latin typeface="Arial" pitchFamily="34" charset="0"/>
                <a:cs typeface="Arial" pitchFamily="34" charset="0"/>
              </a:rPr>
              <a:t>姓名</a:t>
            </a:r>
            <a:r>
              <a:rPr lang="en-US" altLang="en-US" sz="4000" kern="0" dirty="0">
                <a:solidFill>
                  <a:srgbClr val="99FF33"/>
                </a:solidFill>
                <a:effectLst>
                  <a:outerShdw blurRad="38100" dist="38100" dir="2700000" algn="tl">
                    <a:srgbClr val="000000"/>
                  </a:outerShdw>
                </a:effectLst>
                <a:latin typeface="Arial" pitchFamily="34" charset="0"/>
                <a:cs typeface="Arial" pitchFamily="34" charset="0"/>
              </a:rPr>
              <a:t>)</a:t>
            </a:r>
            <a:r>
              <a:rPr lang="en-US" altLang="zh-CN" sz="4000" kern="0" dirty="0">
                <a:solidFill>
                  <a:srgbClr val="99FF33"/>
                </a:solidFill>
                <a:effectLst>
                  <a:outerShdw blurRad="38100" dist="38100" dir="2700000" algn="tl">
                    <a:srgbClr val="000000"/>
                  </a:outerShdw>
                </a:effectLst>
                <a:latin typeface="Arial" pitchFamily="34" charset="0"/>
                <a:cs typeface="Arial" pitchFamily="34" charset="0"/>
              </a:rPr>
              <a:t> </a:t>
            </a:r>
            <a:r>
              <a:rPr lang="en-US" altLang="en-US" sz="4000" b="1" kern="0" dirty="0">
                <a:solidFill>
                  <a:srgbClr val="FFCC00"/>
                </a:solidFill>
                <a:effectLst>
                  <a:outerShdw blurRad="38100" dist="38100" dir="2700000" algn="tl">
                    <a:srgbClr val="000000"/>
                  </a:outerShdw>
                </a:effectLst>
                <a:latin typeface="Arial" pitchFamily="34" charset="0"/>
                <a:cs typeface="Arial" pitchFamily="34" charset="0"/>
              </a:rPr>
              <a:t>)</a:t>
            </a:r>
            <a:r>
              <a:rPr lang="zh-CN" altLang="en-US" sz="4000" kern="0" dirty="0">
                <a:solidFill>
                  <a:srgbClr val="FFFFCC"/>
                </a:solidFill>
                <a:effectLst>
                  <a:outerShdw blurRad="38100" dist="38100" dir="2700000" algn="tl">
                    <a:srgbClr val="000000"/>
                  </a:outerShdw>
                </a:effectLst>
                <a:latin typeface="Arial" pitchFamily="34" charset="0"/>
                <a:cs typeface="Arial" pitchFamily="34" charset="0"/>
              </a:rPr>
              <a:t>；</a:t>
            </a:r>
            <a:endParaRPr lang="en-US" altLang="en-US" sz="4000" kern="0" dirty="0">
              <a:solidFill>
                <a:srgbClr val="FFFFCC"/>
              </a:solidFill>
              <a:effectLst>
                <a:outerShdw blurRad="38100" dist="38100" dir="2700000" algn="tl">
                  <a:srgbClr val="000000"/>
                </a:outerShdw>
              </a:effectLst>
              <a:latin typeface="Arial" pitchFamily="34" charset="0"/>
              <a:cs typeface="Arial" pitchFamily="34" charset="0"/>
            </a:endParaRPr>
          </a:p>
        </p:txBody>
      </p:sp>
      <p:sp>
        <p:nvSpPr>
          <p:cNvPr id="11" name="Rectangle 4"/>
          <p:cNvSpPr>
            <a:spLocks noChangeArrowheads="1"/>
          </p:cNvSpPr>
          <p:nvPr/>
        </p:nvSpPr>
        <p:spPr bwMode="auto">
          <a:xfrm>
            <a:off x="695497" y="872026"/>
            <a:ext cx="11089232" cy="792163"/>
          </a:xfrm>
          <a:prstGeom prst="rect">
            <a:avLst/>
          </a:prstGeom>
          <a:noFill/>
          <a:ln w="9525">
            <a:noFill/>
            <a:miter lim="800000"/>
            <a:headEnd/>
            <a:tailEnd/>
          </a:ln>
          <a:effectLst/>
        </p:spPr>
        <p:txBody>
          <a:bodyPr/>
          <a:lstStyle/>
          <a:p>
            <a:pPr>
              <a:lnSpc>
                <a:spcPct val="90000"/>
              </a:lnSpc>
              <a:spcAft>
                <a:spcPct val="0"/>
              </a:spcAft>
              <a:buClr>
                <a:srgbClr val="66FF33"/>
              </a:buClr>
              <a:buSzPct val="85000"/>
            </a:pPr>
            <a:r>
              <a:rPr lang="zh-CN" altLang="en-US" sz="4000" kern="0" dirty="0">
                <a:solidFill>
                  <a:schemeClr val="bg1"/>
                </a:solidFill>
              </a:rPr>
              <a:t>创建一个约束丰富的表</a:t>
            </a:r>
            <a:r>
              <a:rPr lang="en-US" altLang="zh-CN" sz="4000" kern="0" dirty="0">
                <a:solidFill>
                  <a:schemeClr val="bg1"/>
                </a:solidFill>
              </a:rPr>
              <a:t>:</a:t>
            </a:r>
            <a:r>
              <a:rPr lang="zh-CN" altLang="en-US" sz="4000" kern="0" dirty="0">
                <a:solidFill>
                  <a:schemeClr val="bg1"/>
                </a:solidFill>
              </a:rPr>
              <a:t>工号为主键，姓名不能为空，性别的默认值为</a:t>
            </a:r>
            <a:r>
              <a:rPr lang="en-US" altLang="zh-CN" sz="4000" kern="0" dirty="0">
                <a:solidFill>
                  <a:schemeClr val="bg1"/>
                </a:solidFill>
              </a:rPr>
              <a:t>‘</a:t>
            </a:r>
            <a:r>
              <a:rPr lang="zh-CN" altLang="en-US" sz="4000" kern="0" dirty="0">
                <a:solidFill>
                  <a:schemeClr val="bg1"/>
                </a:solidFill>
              </a:rPr>
              <a:t>男’，且姓名必须是唯一的。</a:t>
            </a:r>
          </a:p>
        </p:txBody>
      </p:sp>
      <p:sp>
        <p:nvSpPr>
          <p:cNvPr id="12" name="AutoShape 5"/>
          <p:cNvSpPr>
            <a:spLocks noChangeArrowheads="1"/>
          </p:cNvSpPr>
          <p:nvPr/>
        </p:nvSpPr>
        <p:spPr bwMode="auto">
          <a:xfrm>
            <a:off x="5745738" y="2276872"/>
            <a:ext cx="700524" cy="473754"/>
          </a:xfrm>
          <a:prstGeom prst="downArrow">
            <a:avLst>
              <a:gd name="adj1" fmla="val 50000"/>
              <a:gd name="adj2" fmla="val 49976"/>
            </a:avLst>
          </a:prstGeom>
          <a:solidFill>
            <a:srgbClr val="0099CC"/>
          </a:solidFill>
          <a:ln w="38100"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endParaRPr lang="zh-CN" altLang="en-US" kern="0">
              <a:solidFill>
                <a:sysClr val="windowText" lastClr="000000"/>
              </a:solidFill>
            </a:endParaRPr>
          </a:p>
        </p:txBody>
      </p:sp>
    </p:spTree>
    <p:extLst>
      <p:ext uri="{BB962C8B-B14F-4D97-AF65-F5344CB8AC3E}">
        <p14:creationId xmlns:p14="http://schemas.microsoft.com/office/powerpoint/2010/main" val="2161757532"/>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400" y="41564"/>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sz="4000" b="1" dirty="0">
                <a:solidFill>
                  <a:srgbClr val="FFFFCC"/>
                </a:solidFill>
                <a:effectLst>
                  <a:outerShdw blurRad="38100" dist="38100" dir="2700000" algn="tl">
                    <a:srgbClr val="000000"/>
                  </a:outerShdw>
                </a:effectLst>
                <a:cs typeface="+mn-cs"/>
              </a:rPr>
              <a:t>修改基本表</a:t>
            </a:r>
          </a:p>
        </p:txBody>
      </p:sp>
      <p:sp>
        <p:nvSpPr>
          <p:cNvPr id="2" name="Rectangle 3">
            <a:extLst>
              <a:ext uri="{FF2B5EF4-FFF2-40B4-BE49-F238E27FC236}">
                <a16:creationId xmlns:a16="http://schemas.microsoft.com/office/drawing/2014/main" id="{EC5229AC-95B1-41DD-8588-04F9A622B7B7}"/>
              </a:ext>
            </a:extLst>
          </p:cNvPr>
          <p:cNvSpPr txBox="1">
            <a:spLocks noChangeArrowheads="1"/>
          </p:cNvSpPr>
          <p:nvPr/>
        </p:nvSpPr>
        <p:spPr bwMode="auto">
          <a:xfrm>
            <a:off x="808568" y="980728"/>
            <a:ext cx="10777939" cy="1131473"/>
          </a:xfrm>
          <a:prstGeom prst="roundRect">
            <a:avLst>
              <a:gd name="adj" fmla="val 10888"/>
            </a:avLst>
          </a:prstGeom>
          <a:solidFill>
            <a:schemeClr val="bg2">
              <a:lumMod val="10000"/>
            </a:schemeClr>
          </a:solidFill>
          <a:ln w="28575">
            <a:solidFill>
              <a:schemeClr val="accent1"/>
            </a:solid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lnSpc>
                <a:spcPct val="120000"/>
              </a:lnSpc>
              <a:spcAft>
                <a:spcPct val="0"/>
              </a:spcAft>
              <a:buNone/>
              <a:defRPr/>
            </a:pPr>
            <a:r>
              <a:rPr lang="en-US" altLang="zh-CN" sz="5400" b="1" kern="0" dirty="0">
                <a:solidFill>
                  <a:srgbClr val="FFFF00"/>
                </a:solidFill>
                <a:latin typeface="Arial" charset="0"/>
              </a:rPr>
              <a:t>ALTER  TABLE …… </a:t>
            </a:r>
            <a:r>
              <a:rPr lang="en-US" altLang="zh-CN" sz="5400" b="1" kern="0" dirty="0">
                <a:solidFill>
                  <a:srgbClr val="FFFF66"/>
                </a:solidFill>
                <a:latin typeface="Arial" charset="0"/>
              </a:rPr>
              <a:t>;</a:t>
            </a:r>
            <a:endParaRPr lang="zh-CN" altLang="en-US" sz="5400" kern="0" dirty="0">
              <a:solidFill>
                <a:srgbClr val="FFFF00"/>
              </a:solidFill>
              <a:latin typeface="Arial" charset="0"/>
            </a:endParaRPr>
          </a:p>
        </p:txBody>
      </p:sp>
      <p:pic>
        <p:nvPicPr>
          <p:cNvPr id="4" name="图片 3">
            <a:extLst>
              <a:ext uri="{FF2B5EF4-FFF2-40B4-BE49-F238E27FC236}">
                <a16:creationId xmlns:a16="http://schemas.microsoft.com/office/drawing/2014/main" id="{B2E6AA1A-5335-4F69-9002-307BEBCD2D9E}"/>
              </a:ext>
            </a:extLst>
          </p:cNvPr>
          <p:cNvPicPr>
            <a:picLocks noChangeAspect="1"/>
          </p:cNvPicPr>
          <p:nvPr/>
        </p:nvPicPr>
        <p:blipFill>
          <a:blip r:embed="rId4"/>
          <a:stretch>
            <a:fillRect/>
          </a:stretch>
        </p:blipFill>
        <p:spPr>
          <a:xfrm>
            <a:off x="1033541" y="2459382"/>
            <a:ext cx="10327992" cy="3994670"/>
          </a:xfrm>
          <a:prstGeom prst="rect">
            <a:avLst/>
          </a:prstGeom>
          <a:ln w="38100" cap="sq">
            <a:solidFill>
              <a:schemeClr val="accent5">
                <a:lumMod val="50000"/>
              </a:schemeClr>
            </a:solidFill>
            <a:prstDash val="solid"/>
            <a:miter lim="800000"/>
          </a:ln>
          <a:effectLst>
            <a:outerShdw blurRad="50800" dist="38100" dir="2700000" algn="tl" rotWithShape="0">
              <a:srgbClr val="000000">
                <a:alpha val="43000"/>
              </a:srgbClr>
            </a:outerShdw>
          </a:effectLst>
        </p:spPr>
      </p:pic>
      <p:sp>
        <p:nvSpPr>
          <p:cNvPr id="10" name="Rectangle 2">
            <a:extLst>
              <a:ext uri="{FF2B5EF4-FFF2-40B4-BE49-F238E27FC236}">
                <a16:creationId xmlns:a16="http://schemas.microsoft.com/office/drawing/2014/main" id="{4E6B8BC9-9DA1-4147-8D93-A2962EAA4140}"/>
              </a:ext>
            </a:extLst>
          </p:cNvPr>
          <p:cNvSpPr txBox="1">
            <a:spLocks noChangeArrowheads="1"/>
          </p:cNvSpPr>
          <p:nvPr/>
        </p:nvSpPr>
        <p:spPr bwMode="auto">
          <a:xfrm>
            <a:off x="1724461" y="2338705"/>
            <a:ext cx="2386881" cy="1988106"/>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b="1" kern="0" dirty="0">
                <a:ln w="12700">
                  <a:solidFill>
                    <a:srgbClr val="A886E0"/>
                  </a:solidFill>
                  <a:prstDash val="solid"/>
                </a:ln>
                <a:solidFill>
                  <a:srgbClr val="003399"/>
                </a:solidFill>
                <a:effectLst/>
              </a:rPr>
              <a:t>语法</a:t>
            </a:r>
            <a:endParaRPr kumimoji="0" lang="en-US" altLang="zh-CN" sz="4000" b="1" i="0" u="none" strike="noStrike" kern="0" cap="none" spc="0" normalizeH="0" baseline="0" noProof="0" dirty="0">
              <a:ln w="12700">
                <a:solidFill>
                  <a:srgbClr val="A886E0"/>
                </a:solidFill>
                <a:prstDash val="solid"/>
              </a:ln>
              <a:solidFill>
                <a:srgbClr val="003399"/>
              </a:solidFill>
              <a:effectLst/>
              <a:uLnTx/>
              <a:uFillTx/>
              <a:latin typeface="微软雅黑" pitchFamily="34" charset="-122"/>
              <a:ea typeface="微软雅黑" pitchFamily="34" charset="-122"/>
              <a:cs typeface="+mj-cs"/>
            </a:endParaRPr>
          </a:p>
        </p:txBody>
      </p:sp>
      <p:sp>
        <p:nvSpPr>
          <p:cNvPr id="11" name="Rectangle 2">
            <a:extLst>
              <a:ext uri="{FF2B5EF4-FFF2-40B4-BE49-F238E27FC236}">
                <a16:creationId xmlns:a16="http://schemas.microsoft.com/office/drawing/2014/main" id="{C6983DC1-7B20-45BD-B0A0-F17A61268918}"/>
              </a:ext>
            </a:extLst>
          </p:cNvPr>
          <p:cNvSpPr txBox="1">
            <a:spLocks noChangeArrowheads="1"/>
          </p:cNvSpPr>
          <p:nvPr/>
        </p:nvSpPr>
        <p:spPr bwMode="auto">
          <a:xfrm>
            <a:off x="3709119" y="4513897"/>
            <a:ext cx="2386881" cy="1988106"/>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b="1" kern="0" noProof="0" dirty="0">
                <a:ln w="12700">
                  <a:solidFill>
                    <a:srgbClr val="A886E0"/>
                  </a:solidFill>
                  <a:prstDash val="solid"/>
                </a:ln>
                <a:solidFill>
                  <a:srgbClr val="003399"/>
                </a:solidFill>
                <a:effectLst/>
              </a:rPr>
              <a:t>表名</a:t>
            </a:r>
            <a:endParaRPr kumimoji="0" lang="en-US" altLang="zh-CN" sz="4000" b="1" i="0" u="none" strike="noStrike" kern="0" cap="none" spc="0" normalizeH="0" baseline="0" noProof="0" dirty="0">
              <a:ln w="12700">
                <a:solidFill>
                  <a:srgbClr val="A886E0"/>
                </a:solidFill>
                <a:prstDash val="solid"/>
              </a:ln>
              <a:solidFill>
                <a:srgbClr val="003399"/>
              </a:solidFill>
              <a:effectLst/>
              <a:uLnTx/>
              <a:uFillTx/>
              <a:latin typeface="微软雅黑" pitchFamily="34" charset="-122"/>
              <a:ea typeface="微软雅黑" pitchFamily="34" charset="-122"/>
              <a:cs typeface="+mj-cs"/>
            </a:endParaRPr>
          </a:p>
        </p:txBody>
      </p:sp>
      <p:sp>
        <p:nvSpPr>
          <p:cNvPr id="12" name="Rectangle 2">
            <a:extLst>
              <a:ext uri="{FF2B5EF4-FFF2-40B4-BE49-F238E27FC236}">
                <a16:creationId xmlns:a16="http://schemas.microsoft.com/office/drawing/2014/main" id="{1F3F20E8-F4B2-4CB8-8971-393D4169F85B}"/>
              </a:ext>
            </a:extLst>
          </p:cNvPr>
          <p:cNvSpPr txBox="1">
            <a:spLocks noChangeArrowheads="1"/>
          </p:cNvSpPr>
          <p:nvPr/>
        </p:nvSpPr>
        <p:spPr bwMode="auto">
          <a:xfrm>
            <a:off x="6124664" y="2376951"/>
            <a:ext cx="3240360" cy="1988106"/>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b="1" kern="0" noProof="0" dirty="0">
                <a:ln w="12700">
                  <a:solidFill>
                    <a:srgbClr val="A886E0"/>
                  </a:solidFill>
                  <a:prstDash val="solid"/>
                </a:ln>
                <a:solidFill>
                  <a:srgbClr val="003399"/>
                </a:solidFill>
                <a:effectLst/>
              </a:rPr>
              <a:t>改哪列</a:t>
            </a:r>
            <a:endParaRPr kumimoji="0" lang="en-US" altLang="zh-CN" sz="4000" b="1" i="0" u="none" strike="noStrike" kern="0" cap="none" spc="0" normalizeH="0" baseline="0" noProof="0" dirty="0">
              <a:ln w="12700">
                <a:solidFill>
                  <a:srgbClr val="A886E0"/>
                </a:solidFill>
                <a:prstDash val="solid"/>
              </a:ln>
              <a:solidFill>
                <a:srgbClr val="003399"/>
              </a:solidFill>
              <a:effectLst/>
              <a:uLnTx/>
              <a:uFillTx/>
              <a:latin typeface="微软雅黑" pitchFamily="34" charset="-122"/>
              <a:ea typeface="微软雅黑" pitchFamily="34" charset="-122"/>
              <a:cs typeface="+mj-cs"/>
            </a:endParaRPr>
          </a:p>
        </p:txBody>
      </p:sp>
      <p:sp>
        <p:nvSpPr>
          <p:cNvPr id="13" name="Rectangle 2">
            <a:extLst>
              <a:ext uri="{FF2B5EF4-FFF2-40B4-BE49-F238E27FC236}">
                <a16:creationId xmlns:a16="http://schemas.microsoft.com/office/drawing/2014/main" id="{48C9B24B-A27A-407A-908C-AAC85544627F}"/>
              </a:ext>
            </a:extLst>
          </p:cNvPr>
          <p:cNvSpPr txBox="1">
            <a:spLocks noChangeArrowheads="1"/>
          </p:cNvSpPr>
          <p:nvPr/>
        </p:nvSpPr>
        <p:spPr bwMode="auto">
          <a:xfrm>
            <a:off x="7744844" y="4615405"/>
            <a:ext cx="3240360" cy="1988106"/>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b="1" kern="0" dirty="0">
                <a:ln w="12700">
                  <a:solidFill>
                    <a:srgbClr val="A886E0"/>
                  </a:solidFill>
                  <a:prstDash val="solid"/>
                </a:ln>
                <a:solidFill>
                  <a:srgbClr val="003399"/>
                </a:solidFill>
                <a:effectLst/>
              </a:rPr>
              <a:t>如何改</a:t>
            </a:r>
            <a:endParaRPr kumimoji="0" lang="en-US" altLang="zh-CN" sz="4000" b="1" i="0" u="none" strike="noStrike" kern="0" cap="none" spc="0" normalizeH="0" baseline="0" noProof="0" dirty="0">
              <a:ln w="12700">
                <a:solidFill>
                  <a:srgbClr val="A886E0"/>
                </a:solidFill>
                <a:prstDash val="solid"/>
              </a:ln>
              <a:solidFill>
                <a:srgbClr val="003399"/>
              </a:solidFill>
              <a:effectLst/>
              <a:uLnTx/>
              <a:uFillTx/>
              <a:latin typeface="微软雅黑" pitchFamily="34" charset="-122"/>
              <a:ea typeface="微软雅黑" pitchFamily="34" charset="-122"/>
              <a:cs typeface="+mj-cs"/>
            </a:endParaRPr>
          </a:p>
        </p:txBody>
      </p:sp>
    </p:spTree>
    <p:extLst>
      <p:ext uri="{BB962C8B-B14F-4D97-AF65-F5344CB8AC3E}">
        <p14:creationId xmlns:p14="http://schemas.microsoft.com/office/powerpoint/2010/main" val="2367288788"/>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5"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8" name="Rectangle 2">
            <a:extLst>
              <a:ext uri="{FF2B5EF4-FFF2-40B4-BE49-F238E27FC236}">
                <a16:creationId xmlns:a16="http://schemas.microsoft.com/office/drawing/2014/main" id="{11B79EA5-CEAD-4CE1-B6F9-C8A538608EEC}"/>
              </a:ext>
            </a:extLst>
          </p:cNvPr>
          <p:cNvSpPr>
            <a:spLocks noGrp="1" noChangeArrowheads="1"/>
          </p:cNvSpPr>
          <p:nvPr>
            <p:ph type="title" idx="4294967295"/>
          </p:nvPr>
        </p:nvSpPr>
        <p:spPr>
          <a:xfrm>
            <a:off x="2091889" y="89440"/>
            <a:ext cx="3578224" cy="707886"/>
          </a:xfrm>
        </p:spPr>
        <p:txBody>
          <a:bodyPr/>
          <a:lstStyle/>
          <a:p>
            <a:r>
              <a:rPr lang="en-US" altLang="zh-CN"/>
              <a:t>4</a:t>
            </a:r>
            <a:r>
              <a:rPr lang="zh-CN" altLang="en-US"/>
              <a:t>、修改基本表</a:t>
            </a:r>
          </a:p>
        </p:txBody>
      </p:sp>
      <p:sp>
        <p:nvSpPr>
          <p:cNvPr id="710659" name="Rectangle 3">
            <a:extLst>
              <a:ext uri="{FF2B5EF4-FFF2-40B4-BE49-F238E27FC236}">
                <a16:creationId xmlns:a16="http://schemas.microsoft.com/office/drawing/2014/main" id="{E76A5900-DDA6-40CB-910A-9313EC8D6B44}"/>
              </a:ext>
            </a:extLst>
          </p:cNvPr>
          <p:cNvSpPr>
            <a:spLocks noGrp="1" noChangeArrowheads="1"/>
          </p:cNvSpPr>
          <p:nvPr>
            <p:ph type="body" idx="4294967295"/>
          </p:nvPr>
        </p:nvSpPr>
        <p:spPr>
          <a:xfrm>
            <a:off x="609600" y="1124744"/>
            <a:ext cx="10814992" cy="5328592"/>
          </a:xfrm>
        </p:spPr>
        <p:txBody>
          <a:bodyPr>
            <a:normAutofit fontScale="85000" lnSpcReduction="10000"/>
          </a:bodyPr>
          <a:lstStyle/>
          <a:p>
            <a:pPr>
              <a:lnSpc>
                <a:spcPct val="150000"/>
              </a:lnSpc>
            </a:pPr>
            <a:r>
              <a:rPr lang="zh-CN" altLang="en-US" sz="2000" dirty="0"/>
              <a:t>由于应用环境和应用需求的变化，经常需要修改基本表的结构，比如，增加新列和完整性约束、修改原有的列定义和完整性约束等。</a:t>
            </a:r>
          </a:p>
          <a:p>
            <a:pPr>
              <a:lnSpc>
                <a:spcPct val="150000"/>
              </a:lnSpc>
            </a:pPr>
            <a:r>
              <a:rPr lang="en-US" altLang="zh-CN" sz="2000" dirty="0"/>
              <a:t>SQL</a:t>
            </a:r>
            <a:r>
              <a:rPr lang="zh-CN" altLang="en-US" sz="2000" dirty="0"/>
              <a:t>语言使用</a:t>
            </a:r>
            <a:r>
              <a:rPr lang="en-US" altLang="zh-CN" sz="2000" dirty="0"/>
              <a:t>ALTER TABLE</a:t>
            </a:r>
            <a:r>
              <a:rPr lang="zh-CN" altLang="en-US" sz="2000" dirty="0"/>
              <a:t>命令来完成这一功能，有三种修改方式</a:t>
            </a:r>
          </a:p>
          <a:p>
            <a:pPr>
              <a:lnSpc>
                <a:spcPct val="150000"/>
              </a:lnSpc>
            </a:pPr>
            <a:r>
              <a:rPr lang="en-US" altLang="zh-CN" sz="2000" dirty="0"/>
              <a:t>·</a:t>
            </a:r>
            <a:r>
              <a:rPr lang="en-US" altLang="zh-CN" sz="2000" dirty="0">
                <a:solidFill>
                  <a:srgbClr val="FFFF00"/>
                </a:solidFill>
              </a:rPr>
              <a:t>ADD</a:t>
            </a:r>
          </a:p>
          <a:p>
            <a:pPr>
              <a:lnSpc>
                <a:spcPct val="150000"/>
              </a:lnSpc>
            </a:pPr>
            <a:r>
              <a:rPr lang="en-US" altLang="zh-CN" sz="2000" dirty="0">
                <a:solidFill>
                  <a:srgbClr val="FFFF00"/>
                </a:solidFill>
              </a:rPr>
              <a:t>·MODIFY  COLUMN</a:t>
            </a:r>
          </a:p>
          <a:p>
            <a:pPr>
              <a:lnSpc>
                <a:spcPct val="150000"/>
              </a:lnSpc>
            </a:pPr>
            <a:r>
              <a:rPr lang="en-US" altLang="zh-CN" sz="2000" dirty="0">
                <a:solidFill>
                  <a:srgbClr val="FFFF00"/>
                </a:solidFill>
              </a:rPr>
              <a:t>·DROP</a:t>
            </a:r>
          </a:p>
          <a:p>
            <a:pPr>
              <a:lnSpc>
                <a:spcPct val="150000"/>
              </a:lnSpc>
            </a:pPr>
            <a:r>
              <a:rPr lang="zh-CN" altLang="en-US" sz="2000" dirty="0"/>
              <a:t>基本语法格式如下</a:t>
            </a:r>
          </a:p>
          <a:p>
            <a:pPr>
              <a:lnSpc>
                <a:spcPct val="150000"/>
              </a:lnSpc>
              <a:buFontTx/>
              <a:buNone/>
            </a:pPr>
            <a:r>
              <a:rPr lang="en-US" altLang="zh-CN" sz="2000" dirty="0"/>
              <a:t>ALTER TABLE </a:t>
            </a:r>
            <a:r>
              <a:rPr lang="en-US" altLang="zh-CN" sz="2000" dirty="0" err="1"/>
              <a:t>table</a:t>
            </a:r>
            <a:r>
              <a:rPr lang="en-US" altLang="zh-CN" sz="2000" dirty="0"/>
              <a:t> </a:t>
            </a:r>
          </a:p>
          <a:p>
            <a:pPr>
              <a:lnSpc>
                <a:spcPct val="150000"/>
              </a:lnSpc>
              <a:buFontTx/>
              <a:buNone/>
            </a:pPr>
            <a:r>
              <a:rPr lang="en-US" altLang="zh-CN" sz="2000" dirty="0"/>
              <a:t>  ADD COLUMN field type[(size)] [NOT NULL] [CONSTRAINT cons]</a:t>
            </a:r>
          </a:p>
          <a:p>
            <a:pPr>
              <a:lnSpc>
                <a:spcPct val="150000"/>
              </a:lnSpc>
              <a:buFontTx/>
              <a:buNone/>
            </a:pPr>
            <a:r>
              <a:rPr lang="en-US" altLang="zh-CN" sz="2000" dirty="0"/>
              <a:t>  ADD CONSTRAINT cons</a:t>
            </a:r>
          </a:p>
          <a:p>
            <a:pPr>
              <a:lnSpc>
                <a:spcPct val="150000"/>
              </a:lnSpc>
              <a:buFontTx/>
              <a:buNone/>
            </a:pPr>
            <a:r>
              <a:rPr lang="en-US" altLang="zh-CN" sz="2000" dirty="0"/>
              <a:t>  DROP COLUMN field</a:t>
            </a:r>
          </a:p>
          <a:p>
            <a:pPr>
              <a:lnSpc>
                <a:spcPct val="150000"/>
              </a:lnSpc>
              <a:buFontTx/>
              <a:buNone/>
            </a:pPr>
            <a:r>
              <a:rPr lang="en-US" altLang="zh-CN" sz="2000" dirty="0"/>
              <a:t>  DROP CONSTRAINT cons </a:t>
            </a:r>
          </a:p>
          <a:p>
            <a:pPr lvl="1">
              <a:lnSpc>
                <a:spcPct val="150000"/>
              </a:lnSpc>
            </a:pPr>
            <a:r>
              <a:rPr lang="en-US" altLang="zh-CN" sz="1800" dirty="0"/>
              <a:t>table</a:t>
            </a:r>
            <a:r>
              <a:rPr lang="zh-CN" altLang="en-US" sz="1800" dirty="0"/>
              <a:t>参数用于指定要修改的表的名称。</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3" name="Rectangle 3">
            <a:extLst>
              <a:ext uri="{FF2B5EF4-FFF2-40B4-BE49-F238E27FC236}">
                <a16:creationId xmlns:a16="http://schemas.microsoft.com/office/drawing/2014/main" id="{11BDB19E-BE83-4A74-B568-9F97DAADDA5E}"/>
              </a:ext>
            </a:extLst>
          </p:cNvPr>
          <p:cNvSpPr>
            <a:spLocks noGrp="1" noChangeArrowheads="1"/>
          </p:cNvSpPr>
          <p:nvPr>
            <p:ph type="body" idx="4294967295"/>
          </p:nvPr>
        </p:nvSpPr>
        <p:spPr>
          <a:xfrm>
            <a:off x="695400" y="692696"/>
            <a:ext cx="10972800" cy="4525963"/>
          </a:xfrm>
        </p:spPr>
        <p:txBody>
          <a:bodyPr>
            <a:normAutofit fontScale="92500" lnSpcReduction="20000"/>
          </a:bodyPr>
          <a:lstStyle/>
          <a:p>
            <a:pPr>
              <a:lnSpc>
                <a:spcPct val="150000"/>
              </a:lnSpc>
            </a:pPr>
            <a:r>
              <a:rPr lang="en-US" altLang="zh-CN" sz="2400" dirty="0"/>
              <a:t>ADD</a:t>
            </a:r>
            <a:r>
              <a:rPr lang="zh-CN" altLang="en-US" sz="2400" dirty="0"/>
              <a:t>方式</a:t>
            </a:r>
          </a:p>
          <a:p>
            <a:pPr lvl="1">
              <a:lnSpc>
                <a:spcPct val="150000"/>
              </a:lnSpc>
            </a:pPr>
            <a:r>
              <a:rPr lang="zh-CN" altLang="en-US" sz="2000" dirty="0"/>
              <a:t>用于增加</a:t>
            </a:r>
            <a:r>
              <a:rPr lang="zh-CN" altLang="en-US" sz="2000" dirty="0">
                <a:solidFill>
                  <a:srgbClr val="FFFF00"/>
                </a:solidFill>
              </a:rPr>
              <a:t>新列和完整性约束</a:t>
            </a:r>
            <a:r>
              <a:rPr lang="zh-CN" altLang="en-US" sz="2000" dirty="0"/>
              <a:t>，定义方式同</a:t>
            </a:r>
            <a:r>
              <a:rPr lang="en-US" altLang="zh-CN" sz="2000" dirty="0"/>
              <a:t>create Table</a:t>
            </a:r>
            <a:r>
              <a:rPr lang="zh-CN" altLang="en-US" sz="2000" dirty="0"/>
              <a:t>语句中的定义方式相同，其语法格式为</a:t>
            </a:r>
          </a:p>
          <a:p>
            <a:pPr lvl="1">
              <a:lnSpc>
                <a:spcPct val="150000"/>
              </a:lnSpc>
              <a:buFontTx/>
              <a:buNone/>
            </a:pPr>
            <a:r>
              <a:rPr lang="zh-CN" altLang="en-US" sz="2000" dirty="0"/>
              <a:t>	</a:t>
            </a:r>
            <a:r>
              <a:rPr lang="en-US" altLang="zh-CN" sz="2000" dirty="0"/>
              <a:t>ALTER TABLE &lt;</a:t>
            </a:r>
            <a:r>
              <a:rPr lang="zh-CN" altLang="en-US" sz="2000" dirty="0"/>
              <a:t>表名</a:t>
            </a:r>
            <a:r>
              <a:rPr lang="en-US" altLang="zh-CN" sz="2000" dirty="0"/>
              <a:t>&gt; ADD &lt;</a:t>
            </a:r>
            <a:r>
              <a:rPr lang="zh-CN" altLang="en-US" sz="2000" dirty="0"/>
              <a:t>列定义</a:t>
            </a:r>
            <a:r>
              <a:rPr lang="en-US" altLang="zh-CN" sz="2000" dirty="0"/>
              <a:t>&gt; | &lt;</a:t>
            </a:r>
            <a:r>
              <a:rPr lang="zh-CN" altLang="en-US" sz="2000" dirty="0"/>
              <a:t>完整性约束定义</a:t>
            </a:r>
            <a:r>
              <a:rPr lang="en-US" altLang="zh-CN" sz="2000" dirty="0"/>
              <a:t>&gt;</a:t>
            </a:r>
          </a:p>
          <a:p>
            <a:pPr lvl="1">
              <a:lnSpc>
                <a:spcPct val="150000"/>
              </a:lnSpc>
            </a:pPr>
            <a:r>
              <a:rPr lang="zh-CN" altLang="en-US" sz="2000" dirty="0"/>
              <a:t>例</a:t>
            </a:r>
            <a:r>
              <a:rPr lang="en-US" altLang="zh-CN" sz="2000" dirty="0"/>
              <a:t>11</a:t>
            </a:r>
            <a:r>
              <a:rPr lang="zh-CN" altLang="en-US" sz="2000" dirty="0"/>
              <a:t>，在</a:t>
            </a:r>
            <a:r>
              <a:rPr lang="en-US" altLang="zh-CN" sz="2000" dirty="0"/>
              <a:t>s</a:t>
            </a:r>
            <a:r>
              <a:rPr lang="zh-CN" altLang="en-US" sz="2000" dirty="0"/>
              <a:t>表中增加一个班号列和住址列。</a:t>
            </a:r>
          </a:p>
          <a:p>
            <a:pPr lvl="1">
              <a:lnSpc>
                <a:spcPct val="150000"/>
              </a:lnSpc>
              <a:buFontTx/>
              <a:buNone/>
            </a:pPr>
            <a:r>
              <a:rPr lang="en-US" altLang="zh-CN" sz="2000" dirty="0"/>
              <a:t>ALTER TABLE  S </a:t>
            </a:r>
          </a:p>
          <a:p>
            <a:pPr lvl="1">
              <a:lnSpc>
                <a:spcPct val="150000"/>
              </a:lnSpc>
              <a:buFontTx/>
              <a:buNone/>
            </a:pPr>
            <a:r>
              <a:rPr lang="en-US" altLang="zh-CN" sz="2000" dirty="0"/>
              <a:t>ADD</a:t>
            </a:r>
          </a:p>
          <a:p>
            <a:pPr lvl="1">
              <a:lnSpc>
                <a:spcPct val="150000"/>
              </a:lnSpc>
              <a:buFontTx/>
              <a:buNone/>
            </a:pPr>
            <a:r>
              <a:rPr lang="en-US" altLang="zh-CN" sz="2000" dirty="0" err="1"/>
              <a:t>class_no</a:t>
            </a:r>
            <a:r>
              <a:rPr lang="en-US" altLang="zh-CN" sz="2000" dirty="0"/>
              <a:t> CHAR(6),</a:t>
            </a:r>
          </a:p>
          <a:p>
            <a:pPr lvl="1">
              <a:lnSpc>
                <a:spcPct val="150000"/>
              </a:lnSpc>
              <a:buFontTx/>
              <a:buNone/>
            </a:pPr>
            <a:r>
              <a:rPr lang="en-US" altLang="zh-CN" sz="2000" dirty="0"/>
              <a:t>address CHAR(40)</a:t>
            </a:r>
          </a:p>
          <a:p>
            <a:pPr lvl="1">
              <a:lnSpc>
                <a:spcPct val="150000"/>
              </a:lnSpc>
              <a:buFontTx/>
              <a:buNone/>
            </a:pPr>
            <a:r>
              <a:rPr lang="en-US" altLang="zh-CN" sz="2000" dirty="0"/>
              <a:t>;</a:t>
            </a:r>
          </a:p>
          <a:p>
            <a:pPr lvl="1">
              <a:lnSpc>
                <a:spcPct val="150000"/>
              </a:lnSpc>
            </a:pPr>
            <a:r>
              <a:rPr lang="zh-CN" altLang="en-US" sz="2000" dirty="0"/>
              <a:t>注意：使用此方式增加的新列自动填充</a:t>
            </a:r>
            <a:r>
              <a:rPr lang="en-US" altLang="zh-CN" sz="2000" dirty="0"/>
              <a:t>NULL</a:t>
            </a:r>
            <a:r>
              <a:rPr lang="zh-CN" altLang="en-US" sz="2000" dirty="0"/>
              <a:t>值，所以不能为增加的新列指定</a:t>
            </a:r>
            <a:r>
              <a:rPr lang="en-US" altLang="zh-CN" sz="2000" dirty="0"/>
              <a:t>NOT NULL</a:t>
            </a:r>
            <a:r>
              <a:rPr lang="zh-CN" altLang="en-US" sz="2000" dirty="0"/>
              <a:t>约束 。</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7" name="Rectangle 3">
            <a:extLst>
              <a:ext uri="{FF2B5EF4-FFF2-40B4-BE49-F238E27FC236}">
                <a16:creationId xmlns:a16="http://schemas.microsoft.com/office/drawing/2014/main" id="{55563DB6-F28B-40F0-998D-F79ABB2FDD10}"/>
              </a:ext>
            </a:extLst>
          </p:cNvPr>
          <p:cNvSpPr>
            <a:spLocks noGrp="1" noChangeArrowheads="1"/>
          </p:cNvSpPr>
          <p:nvPr>
            <p:ph type="body" idx="4294967295"/>
          </p:nvPr>
        </p:nvSpPr>
        <p:spPr>
          <a:xfrm>
            <a:off x="1487488" y="692696"/>
            <a:ext cx="9577064" cy="5184576"/>
          </a:xfrm>
        </p:spPr>
        <p:txBody>
          <a:bodyPr/>
          <a:lstStyle/>
          <a:p>
            <a:pPr>
              <a:lnSpc>
                <a:spcPct val="150000"/>
              </a:lnSpc>
            </a:pPr>
            <a:r>
              <a:rPr lang="zh-CN" altLang="en-US" dirty="0"/>
              <a:t>例，</a:t>
            </a:r>
            <a:r>
              <a:rPr lang="en-US" altLang="zh-CN" dirty="0"/>
              <a:t>SC</a:t>
            </a:r>
            <a:r>
              <a:rPr lang="zh-CN" altLang="en-US" dirty="0"/>
              <a:t>表中增加完整性约束定义，使</a:t>
            </a:r>
            <a:r>
              <a:rPr lang="en-US" altLang="zh-CN" dirty="0"/>
              <a:t>grade</a:t>
            </a:r>
            <a:r>
              <a:rPr lang="zh-CN" altLang="en-US" dirty="0"/>
              <a:t>在</a:t>
            </a:r>
            <a:r>
              <a:rPr lang="en-US" altLang="zh-CN" dirty="0"/>
              <a:t>0-100</a:t>
            </a:r>
            <a:r>
              <a:rPr lang="zh-CN" altLang="en-US" dirty="0"/>
              <a:t>之间。</a:t>
            </a:r>
          </a:p>
          <a:p>
            <a:pPr>
              <a:lnSpc>
                <a:spcPct val="150000"/>
              </a:lnSpc>
            </a:pPr>
            <a:r>
              <a:rPr lang="en-US" altLang="zh-CN" dirty="0"/>
              <a:t>ALTER TABLE SC </a:t>
            </a:r>
          </a:p>
          <a:p>
            <a:pPr>
              <a:lnSpc>
                <a:spcPct val="150000"/>
              </a:lnSpc>
            </a:pPr>
            <a:r>
              <a:rPr lang="en-US" altLang="zh-CN" dirty="0"/>
              <a:t>ADD  CONSTRAINT  </a:t>
            </a:r>
            <a:r>
              <a:rPr lang="en-US" altLang="zh-CN" dirty="0" err="1"/>
              <a:t>grade_chk</a:t>
            </a:r>
            <a:r>
              <a:rPr lang="en-US" altLang="zh-CN" dirty="0"/>
              <a:t>  CHECK(grade between  0  and  100);</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31" name="Rectangle 3">
            <a:extLst>
              <a:ext uri="{FF2B5EF4-FFF2-40B4-BE49-F238E27FC236}">
                <a16:creationId xmlns:a16="http://schemas.microsoft.com/office/drawing/2014/main" id="{860DE967-9793-4748-9519-113CC4BD9CFB}"/>
              </a:ext>
            </a:extLst>
          </p:cNvPr>
          <p:cNvSpPr>
            <a:spLocks noGrp="1" noChangeArrowheads="1"/>
          </p:cNvSpPr>
          <p:nvPr>
            <p:ph type="body" idx="4294967295"/>
          </p:nvPr>
        </p:nvSpPr>
        <p:spPr>
          <a:xfrm>
            <a:off x="767408" y="620688"/>
            <a:ext cx="10441160" cy="5400600"/>
          </a:xfrm>
        </p:spPr>
        <p:txBody>
          <a:bodyPr>
            <a:normAutofit fontScale="77500" lnSpcReduction="20000"/>
          </a:bodyPr>
          <a:lstStyle/>
          <a:p>
            <a:pPr>
              <a:lnSpc>
                <a:spcPct val="150000"/>
              </a:lnSpc>
              <a:buFontTx/>
              <a:buNone/>
            </a:pPr>
            <a:r>
              <a:rPr lang="en-US" altLang="zh-CN" sz="2400" dirty="0"/>
              <a:t>Modify Column </a:t>
            </a:r>
            <a:r>
              <a:rPr lang="zh-CN" altLang="en-US" sz="2400" dirty="0"/>
              <a:t>方式</a:t>
            </a:r>
          </a:p>
          <a:p>
            <a:pPr lvl="1">
              <a:lnSpc>
                <a:spcPct val="150000"/>
              </a:lnSpc>
            </a:pPr>
            <a:r>
              <a:rPr lang="zh-CN" altLang="en-US" sz="2000" dirty="0"/>
              <a:t>用于修改某些列，其语法格式为</a:t>
            </a:r>
          </a:p>
          <a:p>
            <a:pPr lvl="1">
              <a:lnSpc>
                <a:spcPct val="150000"/>
              </a:lnSpc>
              <a:buFontTx/>
              <a:buNone/>
            </a:pPr>
            <a:r>
              <a:rPr lang="zh-CN" altLang="en-US" sz="2000" dirty="0"/>
              <a:t>	</a:t>
            </a:r>
            <a:r>
              <a:rPr lang="en-US" altLang="zh-CN" sz="2000" dirty="0"/>
              <a:t>ALTER TABLE&lt;</a:t>
            </a:r>
            <a:r>
              <a:rPr lang="zh-CN" altLang="en-US" sz="2000" dirty="0"/>
              <a:t>表名</a:t>
            </a:r>
            <a:r>
              <a:rPr lang="en-US" altLang="zh-CN" sz="2000" dirty="0"/>
              <a:t>&gt;</a:t>
            </a:r>
          </a:p>
          <a:p>
            <a:pPr lvl="1">
              <a:lnSpc>
                <a:spcPct val="150000"/>
              </a:lnSpc>
              <a:buFontTx/>
              <a:buNone/>
            </a:pPr>
            <a:r>
              <a:rPr lang="en-US" altLang="zh-CN" sz="2000" dirty="0"/>
              <a:t>	MODIFY COLUMN &lt;</a:t>
            </a:r>
            <a:r>
              <a:rPr lang="zh-CN" altLang="en-US" sz="2000" dirty="0"/>
              <a:t>列名</a:t>
            </a:r>
            <a:r>
              <a:rPr lang="en-US" altLang="zh-CN" sz="2000" dirty="0"/>
              <a:t>&gt;&lt;</a:t>
            </a:r>
            <a:r>
              <a:rPr lang="zh-CN" altLang="en-US" sz="2000" dirty="0"/>
              <a:t>数据类型</a:t>
            </a:r>
            <a:r>
              <a:rPr lang="en-US" altLang="zh-CN" sz="2000" dirty="0"/>
              <a:t>&gt;[NULL|NOT NULL]</a:t>
            </a:r>
          </a:p>
          <a:p>
            <a:pPr lvl="1">
              <a:lnSpc>
                <a:spcPct val="150000"/>
              </a:lnSpc>
            </a:pPr>
            <a:r>
              <a:rPr lang="zh-CN" altLang="en-US" sz="2000" dirty="0"/>
              <a:t>例，把</a:t>
            </a:r>
            <a:r>
              <a:rPr lang="en-US" altLang="zh-CN" sz="2000" dirty="0"/>
              <a:t>S</a:t>
            </a:r>
            <a:r>
              <a:rPr lang="zh-CN" altLang="en-US" sz="2000" dirty="0"/>
              <a:t>表中的</a:t>
            </a:r>
            <a:r>
              <a:rPr lang="en-US" altLang="zh-CN" sz="2000" dirty="0"/>
              <a:t>SNO</a:t>
            </a:r>
            <a:r>
              <a:rPr lang="zh-CN" altLang="en-US" sz="2000" dirty="0"/>
              <a:t>列加宽到</a:t>
            </a:r>
            <a:r>
              <a:rPr lang="en-US" altLang="zh-CN" sz="2000" dirty="0"/>
              <a:t>8</a:t>
            </a:r>
            <a:r>
              <a:rPr lang="zh-CN" altLang="en-US" sz="2000" dirty="0"/>
              <a:t>位字符宽度。</a:t>
            </a:r>
          </a:p>
          <a:p>
            <a:pPr lvl="1">
              <a:lnSpc>
                <a:spcPct val="150000"/>
              </a:lnSpc>
              <a:buFontTx/>
              <a:buNone/>
            </a:pPr>
            <a:r>
              <a:rPr lang="en-US" altLang="zh-CN" sz="2000" dirty="0"/>
              <a:t>ALTER  TABLE  S </a:t>
            </a:r>
          </a:p>
          <a:p>
            <a:pPr lvl="1">
              <a:lnSpc>
                <a:spcPct val="150000"/>
              </a:lnSpc>
              <a:buFontTx/>
              <a:buNone/>
            </a:pPr>
            <a:r>
              <a:rPr lang="en-US" altLang="zh-CN" sz="2000" dirty="0"/>
              <a:t>MODIFY  COLUMN  </a:t>
            </a:r>
            <a:r>
              <a:rPr lang="en-US" altLang="zh-CN" sz="2000" dirty="0" err="1"/>
              <a:t>sno</a:t>
            </a:r>
            <a:r>
              <a:rPr lang="en-US" altLang="zh-CN" sz="2000" dirty="0"/>
              <a:t> CHAR(8);</a:t>
            </a:r>
          </a:p>
          <a:p>
            <a:pPr lvl="1">
              <a:lnSpc>
                <a:spcPct val="150000"/>
              </a:lnSpc>
            </a:pPr>
            <a:r>
              <a:rPr lang="zh-CN" altLang="en-US" sz="2000" dirty="0"/>
              <a:t>注意：使用此方式有如下</a:t>
            </a:r>
            <a:r>
              <a:rPr lang="zh-CN" altLang="en-US" sz="2000" dirty="0">
                <a:solidFill>
                  <a:srgbClr val="FFFF00"/>
                </a:solidFill>
              </a:rPr>
              <a:t>限制</a:t>
            </a:r>
          </a:p>
          <a:p>
            <a:pPr lvl="1">
              <a:lnSpc>
                <a:spcPct val="150000"/>
              </a:lnSpc>
            </a:pPr>
            <a:r>
              <a:rPr lang="zh-CN" altLang="en-US" sz="2000" dirty="0"/>
              <a:t>不能改变列名；</a:t>
            </a:r>
          </a:p>
          <a:p>
            <a:pPr lvl="1">
              <a:lnSpc>
                <a:spcPct val="150000"/>
              </a:lnSpc>
            </a:pPr>
            <a:r>
              <a:rPr lang="zh-CN" altLang="en-US" sz="2000" dirty="0"/>
              <a:t>不能将含有空值的列的定义修改为</a:t>
            </a:r>
            <a:r>
              <a:rPr lang="en-US" altLang="zh-CN" sz="2000" dirty="0"/>
              <a:t>NOT NULL</a:t>
            </a:r>
            <a:r>
              <a:rPr lang="zh-CN" altLang="en-US" sz="2000" dirty="0"/>
              <a:t>约束；</a:t>
            </a:r>
          </a:p>
          <a:p>
            <a:pPr lvl="1">
              <a:lnSpc>
                <a:spcPct val="150000"/>
              </a:lnSpc>
            </a:pPr>
            <a:r>
              <a:rPr lang="zh-CN" altLang="en-US" sz="2000" dirty="0"/>
              <a:t>不能修改已创建索引的列</a:t>
            </a:r>
          </a:p>
          <a:p>
            <a:pPr lvl="1">
              <a:lnSpc>
                <a:spcPct val="150000"/>
              </a:lnSpc>
            </a:pPr>
            <a:r>
              <a:rPr lang="zh-CN" altLang="en-US" sz="2000" dirty="0"/>
              <a:t>若列中已有数据，则不能减少该列的宽度，也不能改变其数据类型；</a:t>
            </a:r>
          </a:p>
          <a:p>
            <a:pPr lvl="1">
              <a:lnSpc>
                <a:spcPct val="150000"/>
              </a:lnSpc>
            </a:pPr>
            <a:r>
              <a:rPr lang="zh-CN" altLang="en-US" sz="2000" dirty="0"/>
              <a:t>只能修改</a:t>
            </a:r>
            <a:r>
              <a:rPr lang="en-US" altLang="zh-CN" sz="2000" dirty="0"/>
              <a:t>NULL|NOT NULL</a:t>
            </a:r>
            <a:r>
              <a:rPr lang="zh-CN" altLang="en-US" sz="2000" dirty="0"/>
              <a:t>约束，其它类型的约束在修改之前必须先删除，然后再重新添加修改过的约束定义。 </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5" name="Rectangle 3">
            <a:extLst>
              <a:ext uri="{FF2B5EF4-FFF2-40B4-BE49-F238E27FC236}">
                <a16:creationId xmlns:a16="http://schemas.microsoft.com/office/drawing/2014/main" id="{84CFEDA7-D746-421E-BF79-2A7DEAD15E5F}"/>
              </a:ext>
            </a:extLst>
          </p:cNvPr>
          <p:cNvSpPr>
            <a:spLocks noGrp="1" noChangeArrowheads="1"/>
          </p:cNvSpPr>
          <p:nvPr>
            <p:ph type="body" idx="4294967295"/>
          </p:nvPr>
        </p:nvSpPr>
        <p:spPr>
          <a:xfrm>
            <a:off x="695400" y="548680"/>
            <a:ext cx="10972800" cy="4525963"/>
          </a:xfrm>
        </p:spPr>
        <p:txBody>
          <a:bodyPr>
            <a:normAutofit fontScale="77500" lnSpcReduction="20000"/>
          </a:bodyPr>
          <a:lstStyle/>
          <a:p>
            <a:pPr>
              <a:lnSpc>
                <a:spcPct val="150000"/>
              </a:lnSpc>
              <a:buFontTx/>
              <a:buNone/>
            </a:pPr>
            <a:r>
              <a:rPr lang="en-US" altLang="zh-CN" dirty="0"/>
              <a:t>Drop</a:t>
            </a:r>
            <a:r>
              <a:rPr lang="zh-CN" altLang="en-US" dirty="0"/>
              <a:t>方式</a:t>
            </a:r>
          </a:p>
          <a:p>
            <a:pPr lvl="1">
              <a:lnSpc>
                <a:spcPct val="150000"/>
              </a:lnSpc>
            </a:pPr>
            <a:r>
              <a:rPr lang="zh-CN" altLang="en-US" dirty="0"/>
              <a:t>使用</a:t>
            </a:r>
            <a:r>
              <a:rPr lang="en-US" altLang="zh-CN" dirty="0"/>
              <a:t>Drop</a:t>
            </a:r>
            <a:r>
              <a:rPr lang="zh-CN" altLang="en-US" dirty="0"/>
              <a:t>可以删除表和约束</a:t>
            </a:r>
          </a:p>
          <a:p>
            <a:pPr lvl="1">
              <a:lnSpc>
                <a:spcPct val="150000"/>
              </a:lnSpc>
            </a:pPr>
            <a:r>
              <a:rPr lang="zh-CN" altLang="en-US" dirty="0"/>
              <a:t>删除完整性约束定义，其语法格式为</a:t>
            </a:r>
          </a:p>
          <a:p>
            <a:pPr lvl="1">
              <a:lnSpc>
                <a:spcPct val="150000"/>
              </a:lnSpc>
              <a:buFontTx/>
              <a:buNone/>
            </a:pPr>
            <a:r>
              <a:rPr lang="zh-CN" altLang="en-US" dirty="0"/>
              <a:t>	</a:t>
            </a:r>
            <a:r>
              <a:rPr lang="en-US" altLang="zh-CN" dirty="0"/>
              <a:t>ALTER TABLE&lt;</a:t>
            </a:r>
            <a:r>
              <a:rPr lang="zh-CN" altLang="en-US" dirty="0"/>
              <a:t>表名</a:t>
            </a:r>
            <a:r>
              <a:rPr lang="en-US" altLang="zh-CN" dirty="0"/>
              <a:t>&gt;</a:t>
            </a:r>
          </a:p>
          <a:p>
            <a:pPr lvl="1">
              <a:lnSpc>
                <a:spcPct val="150000"/>
              </a:lnSpc>
              <a:buFontTx/>
              <a:buNone/>
            </a:pPr>
            <a:r>
              <a:rPr lang="en-US" altLang="zh-CN" dirty="0"/>
              <a:t>	   DROP CONSTRAINT &lt;</a:t>
            </a:r>
            <a:r>
              <a:rPr lang="zh-CN" altLang="en-US" dirty="0"/>
              <a:t>约束名</a:t>
            </a:r>
            <a:r>
              <a:rPr lang="en-US" altLang="zh-CN" dirty="0"/>
              <a:t>&gt;</a:t>
            </a:r>
          </a:p>
          <a:p>
            <a:pPr>
              <a:lnSpc>
                <a:spcPct val="150000"/>
              </a:lnSpc>
            </a:pPr>
            <a:r>
              <a:rPr lang="zh-CN" altLang="en-US" dirty="0"/>
              <a:t>例，删除</a:t>
            </a:r>
            <a:r>
              <a:rPr lang="en-US" altLang="zh-CN" dirty="0"/>
              <a:t>S</a:t>
            </a:r>
            <a:r>
              <a:rPr lang="zh-CN" altLang="en-US" dirty="0"/>
              <a:t>表中的</a:t>
            </a:r>
            <a:r>
              <a:rPr lang="en-US" altLang="zh-CN" dirty="0"/>
              <a:t>AGE_CHK</a:t>
            </a:r>
            <a:r>
              <a:rPr lang="zh-CN" altLang="en-US" dirty="0"/>
              <a:t>约束</a:t>
            </a:r>
          </a:p>
          <a:p>
            <a:pPr>
              <a:lnSpc>
                <a:spcPct val="150000"/>
              </a:lnSpc>
              <a:buFontTx/>
              <a:buNone/>
            </a:pPr>
            <a:r>
              <a:rPr lang="en-US" altLang="zh-CN" dirty="0"/>
              <a:t>ALTER TABLE  S</a:t>
            </a:r>
          </a:p>
          <a:p>
            <a:pPr>
              <a:lnSpc>
                <a:spcPct val="150000"/>
              </a:lnSpc>
              <a:buFontTx/>
              <a:buNone/>
            </a:pPr>
            <a:r>
              <a:rPr lang="en-US" altLang="zh-CN" dirty="0"/>
              <a:t>DROP   CONSTRAINT </a:t>
            </a:r>
            <a:r>
              <a:rPr lang="en-US" altLang="zh-CN" dirty="0" err="1"/>
              <a:t>age_chk</a:t>
            </a:r>
            <a:r>
              <a:rPr lang="en-US" altLang="zh-CN" dirty="0"/>
              <a:t>;</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400" y="41564"/>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sz="4000" b="1" dirty="0">
                <a:solidFill>
                  <a:srgbClr val="FFFFCC"/>
                </a:solidFill>
                <a:effectLst>
                  <a:outerShdw blurRad="38100" dist="38100" dir="2700000" algn="tl">
                    <a:srgbClr val="000000"/>
                  </a:outerShdw>
                </a:effectLst>
                <a:cs typeface="+mn-cs"/>
              </a:rPr>
              <a:t>修改基本表</a:t>
            </a:r>
          </a:p>
        </p:txBody>
      </p:sp>
      <p:sp>
        <p:nvSpPr>
          <p:cNvPr id="9" name="Rectangle 4"/>
          <p:cNvSpPr>
            <a:spLocks noChangeArrowheads="1"/>
          </p:cNvSpPr>
          <p:nvPr/>
        </p:nvSpPr>
        <p:spPr bwMode="auto">
          <a:xfrm>
            <a:off x="695400" y="908720"/>
            <a:ext cx="10945216" cy="2374900"/>
          </a:xfrm>
          <a:prstGeom prst="rect">
            <a:avLst/>
          </a:prstGeom>
          <a:noFill/>
          <a:ln w="9525">
            <a:noFill/>
            <a:miter lim="800000"/>
            <a:headEnd/>
            <a:tailEnd/>
          </a:ln>
          <a:effectLst/>
        </p:spPr>
        <p:txBody>
          <a:bodyPr/>
          <a:lstStyle/>
          <a:p>
            <a:pPr>
              <a:spcAft>
                <a:spcPct val="15000"/>
              </a:spcAft>
              <a:buClr>
                <a:srgbClr val="66FF33"/>
              </a:buClr>
              <a:buSzPct val="85000"/>
              <a:defRPr/>
            </a:pPr>
            <a:r>
              <a:rPr lang="zh-CN" altLang="en-US" sz="4000" kern="0" dirty="0">
                <a:solidFill>
                  <a:srgbClr val="66FF66"/>
                </a:solidFill>
                <a:effectLst>
                  <a:outerShdw blurRad="38100" dist="38100" dir="2700000" algn="tl">
                    <a:srgbClr val="000000"/>
                  </a:outerShdw>
                </a:effectLst>
                <a:latin typeface="Times New Roman" pitchFamily="18" charset="0"/>
                <a:cs typeface="Times New Roman" pitchFamily="18" charset="0"/>
              </a:rPr>
              <a:t>为</a:t>
            </a:r>
            <a:r>
              <a:rPr lang="en-US" altLang="zh-CN" sz="4000" kern="0" dirty="0">
                <a:solidFill>
                  <a:srgbClr val="66FF66"/>
                </a:solidFill>
                <a:effectLst>
                  <a:outerShdw blurRad="38100" dist="38100" dir="2700000" algn="tl">
                    <a:srgbClr val="000000"/>
                  </a:outerShdw>
                </a:effectLst>
                <a:latin typeface="Times New Roman" pitchFamily="18" charset="0"/>
                <a:cs typeface="Times New Roman" pitchFamily="18" charset="0"/>
              </a:rPr>
              <a:t>Teacher</a:t>
            </a:r>
            <a:r>
              <a:rPr lang="zh-CN" altLang="en-US" sz="4000" kern="0" dirty="0">
                <a:solidFill>
                  <a:srgbClr val="66FF66"/>
                </a:solidFill>
                <a:effectLst>
                  <a:outerShdw blurRad="38100" dist="38100" dir="2700000" algn="tl">
                    <a:srgbClr val="000000"/>
                  </a:outerShdw>
                </a:effectLst>
                <a:latin typeface="Times New Roman" pitchFamily="18" charset="0"/>
                <a:cs typeface="Times New Roman" pitchFamily="18" charset="0"/>
              </a:rPr>
              <a:t>表增加一个工龄属性列，取值为整型：</a:t>
            </a:r>
          </a:p>
          <a:p>
            <a:pPr>
              <a:lnSpc>
                <a:spcPct val="80000"/>
              </a:lnSpc>
              <a:spcAft>
                <a:spcPct val="40000"/>
              </a:spcAft>
              <a:buClr>
                <a:srgbClr val="66FF33"/>
              </a:buClr>
              <a:buSzPct val="85000"/>
              <a:defRPr/>
            </a:pPr>
            <a:r>
              <a:rPr lang="en-US" altLang="zh-CN" sz="3600" b="1" kern="0" dirty="0">
                <a:solidFill>
                  <a:srgbClr val="FFCC00"/>
                </a:solidFill>
                <a:effectLst>
                  <a:outerShdw blurRad="38100" dist="38100" dir="2700000" algn="tl">
                    <a:srgbClr val="000000"/>
                  </a:outerShdw>
                </a:effectLst>
                <a:latin typeface="Times New Roman" pitchFamily="18" charset="0"/>
                <a:cs typeface="Times New Roman" pitchFamily="18" charset="0"/>
              </a:rPr>
              <a:t>ALTER TABLE</a:t>
            </a:r>
            <a:r>
              <a:rPr lang="en-US" altLang="zh-CN" sz="3600" kern="0" dirty="0">
                <a:solidFill>
                  <a:srgbClr val="FFFFCC"/>
                </a:solidFill>
                <a:effectLst>
                  <a:outerShdw blurRad="38100" dist="38100" dir="2700000" algn="tl">
                    <a:srgbClr val="000000"/>
                  </a:outerShdw>
                </a:effectLst>
                <a:latin typeface="Times New Roman" pitchFamily="18" charset="0"/>
                <a:cs typeface="Times New Roman" pitchFamily="18" charset="0"/>
              </a:rPr>
              <a:t> Teacher </a:t>
            </a:r>
            <a:r>
              <a:rPr lang="en-US" altLang="zh-CN" sz="3600" kern="0" dirty="0">
                <a:solidFill>
                  <a:srgbClr val="CCFF99"/>
                </a:solidFill>
                <a:effectLst>
                  <a:outerShdw blurRad="38100" dist="38100" dir="2700000" algn="tl">
                    <a:srgbClr val="000000"/>
                  </a:outerShdw>
                </a:effectLst>
                <a:latin typeface="Times New Roman" pitchFamily="18" charset="0"/>
                <a:cs typeface="Times New Roman" pitchFamily="18" charset="0"/>
              </a:rPr>
              <a:t>ADD</a:t>
            </a:r>
            <a:r>
              <a:rPr lang="en-US" altLang="zh-CN" sz="3600" kern="0" dirty="0">
                <a:solidFill>
                  <a:srgbClr val="FFFFCC"/>
                </a:solidFill>
                <a:effectLst>
                  <a:outerShdw blurRad="38100" dist="38100" dir="2700000" algn="tl">
                    <a:srgbClr val="000000"/>
                  </a:outerShdw>
                </a:effectLst>
                <a:latin typeface="Times New Roman" pitchFamily="18" charset="0"/>
                <a:cs typeface="Times New Roman" pitchFamily="18" charset="0"/>
              </a:rPr>
              <a:t> </a:t>
            </a:r>
            <a:r>
              <a:rPr lang="zh-CN" altLang="en-US" sz="3600" kern="0" dirty="0">
                <a:solidFill>
                  <a:srgbClr val="FFFFCC"/>
                </a:solidFill>
                <a:effectLst>
                  <a:outerShdw blurRad="38100" dist="38100" dir="2700000" algn="tl">
                    <a:srgbClr val="000000"/>
                  </a:outerShdw>
                </a:effectLst>
                <a:latin typeface="Times New Roman" pitchFamily="18" charset="0"/>
                <a:cs typeface="Times New Roman" pitchFamily="18" charset="0"/>
              </a:rPr>
              <a:t>工龄 </a:t>
            </a:r>
            <a:r>
              <a:rPr lang="en-US" altLang="zh-CN" sz="3600" kern="0" dirty="0">
                <a:solidFill>
                  <a:srgbClr val="FFFFCC"/>
                </a:solidFill>
                <a:effectLst>
                  <a:outerShdw blurRad="38100" dist="38100" dir="2700000" algn="tl">
                    <a:srgbClr val="000000"/>
                  </a:outerShdw>
                </a:effectLst>
                <a:latin typeface="Times New Roman" pitchFamily="18" charset="0"/>
                <a:cs typeface="Times New Roman" pitchFamily="18" charset="0"/>
              </a:rPr>
              <a:t>INT ;</a:t>
            </a:r>
            <a:endParaRPr lang="zh-CN" altLang="en-US" sz="3600" kern="0" dirty="0">
              <a:solidFill>
                <a:srgbClr val="FFFFCC"/>
              </a:solidFill>
              <a:effectLst>
                <a:outerShdw blurRad="38100" dist="38100" dir="2700000" algn="tl">
                  <a:srgbClr val="000000"/>
                </a:outerShdw>
              </a:effectLst>
              <a:latin typeface="Times New Roman" pitchFamily="18" charset="0"/>
              <a:cs typeface="Times New Roman" pitchFamily="18" charset="0"/>
            </a:endParaRPr>
          </a:p>
          <a:p>
            <a:pPr>
              <a:spcBef>
                <a:spcPts val="1800"/>
              </a:spcBef>
              <a:spcAft>
                <a:spcPct val="15000"/>
              </a:spcAft>
              <a:buClr>
                <a:srgbClr val="66FF33"/>
              </a:buClr>
              <a:buSzPct val="85000"/>
              <a:defRPr/>
            </a:pPr>
            <a:r>
              <a:rPr lang="zh-CN" altLang="en-US" sz="4000" kern="0" dirty="0">
                <a:solidFill>
                  <a:srgbClr val="66FF66"/>
                </a:solidFill>
                <a:effectLst>
                  <a:outerShdw blurRad="38100" dist="38100" dir="2700000" algn="tl">
                    <a:srgbClr val="000000"/>
                  </a:outerShdw>
                </a:effectLst>
                <a:latin typeface="Times New Roman" pitchFamily="18" charset="0"/>
                <a:cs typeface="Times New Roman" pitchFamily="18" charset="0"/>
              </a:rPr>
              <a:t>删除</a:t>
            </a:r>
            <a:r>
              <a:rPr lang="en-US" altLang="zh-CN" sz="4000" kern="0" dirty="0">
                <a:solidFill>
                  <a:srgbClr val="66FF66"/>
                </a:solidFill>
                <a:effectLst>
                  <a:outerShdw blurRad="38100" dist="38100" dir="2700000" algn="tl">
                    <a:srgbClr val="000000"/>
                  </a:outerShdw>
                </a:effectLst>
                <a:latin typeface="Times New Roman" pitchFamily="18" charset="0"/>
                <a:cs typeface="Times New Roman" pitchFamily="18" charset="0"/>
              </a:rPr>
              <a:t>Teacher</a:t>
            </a:r>
            <a:r>
              <a:rPr lang="zh-CN" altLang="en-US" sz="4000" kern="0" dirty="0">
                <a:solidFill>
                  <a:srgbClr val="66FF66"/>
                </a:solidFill>
                <a:effectLst>
                  <a:outerShdw blurRad="38100" dist="38100" dir="2700000" algn="tl">
                    <a:srgbClr val="000000"/>
                  </a:outerShdw>
                </a:effectLst>
                <a:latin typeface="Times New Roman" pitchFamily="18" charset="0"/>
                <a:cs typeface="Times New Roman" pitchFamily="18" charset="0"/>
              </a:rPr>
              <a:t>表的职称列：</a:t>
            </a:r>
          </a:p>
          <a:p>
            <a:pPr>
              <a:spcAft>
                <a:spcPct val="15000"/>
              </a:spcAft>
              <a:buClr>
                <a:srgbClr val="66FF33"/>
              </a:buClr>
              <a:buSzPct val="85000"/>
              <a:defRPr/>
            </a:pPr>
            <a:r>
              <a:rPr lang="en-US" altLang="zh-CN" sz="3600" b="1" kern="0" dirty="0">
                <a:solidFill>
                  <a:srgbClr val="FFCC00"/>
                </a:solidFill>
                <a:effectLst>
                  <a:outerShdw blurRad="38100" dist="38100" dir="2700000" algn="tl">
                    <a:srgbClr val="000000"/>
                  </a:outerShdw>
                </a:effectLst>
                <a:latin typeface="Times New Roman" pitchFamily="18" charset="0"/>
                <a:cs typeface="Times New Roman" pitchFamily="18" charset="0"/>
              </a:rPr>
              <a:t>A</a:t>
            </a:r>
            <a:r>
              <a:rPr lang="en-US" altLang="en-US" sz="3600" b="1" kern="0" dirty="0">
                <a:solidFill>
                  <a:srgbClr val="FFCC00"/>
                </a:solidFill>
                <a:effectLst>
                  <a:outerShdw blurRad="38100" dist="38100" dir="2700000" algn="tl">
                    <a:srgbClr val="000000"/>
                  </a:outerShdw>
                </a:effectLst>
                <a:latin typeface="Times New Roman" pitchFamily="18" charset="0"/>
                <a:cs typeface="Times New Roman" pitchFamily="18" charset="0"/>
              </a:rPr>
              <a:t>LTER TABLE</a:t>
            </a:r>
            <a:r>
              <a:rPr lang="en-US" altLang="en-US" sz="3600" kern="0" dirty="0">
                <a:solidFill>
                  <a:srgbClr val="FFFFCC"/>
                </a:solidFill>
                <a:effectLst>
                  <a:outerShdw blurRad="38100" dist="38100" dir="2700000" algn="tl">
                    <a:srgbClr val="000000"/>
                  </a:outerShdw>
                </a:effectLst>
                <a:latin typeface="Times New Roman" pitchFamily="18" charset="0"/>
                <a:cs typeface="Times New Roman" pitchFamily="18" charset="0"/>
              </a:rPr>
              <a:t> Teacher </a:t>
            </a:r>
            <a:r>
              <a:rPr lang="en-US" altLang="en-US" sz="3600" kern="0" dirty="0">
                <a:solidFill>
                  <a:srgbClr val="CCFF99"/>
                </a:solidFill>
                <a:effectLst>
                  <a:outerShdw blurRad="38100" dist="38100" dir="2700000" algn="tl">
                    <a:srgbClr val="000000"/>
                  </a:outerShdw>
                </a:effectLst>
                <a:latin typeface="Times New Roman" pitchFamily="18" charset="0"/>
                <a:cs typeface="Times New Roman" pitchFamily="18" charset="0"/>
              </a:rPr>
              <a:t>DROP  </a:t>
            </a:r>
            <a:r>
              <a:rPr lang="en-US" altLang="zh-CN" sz="3600" kern="0" dirty="0">
                <a:solidFill>
                  <a:srgbClr val="CCFF99"/>
                </a:solidFill>
                <a:effectLst>
                  <a:outerShdw blurRad="38100" dist="38100" dir="2700000" algn="tl">
                    <a:srgbClr val="000000"/>
                  </a:outerShdw>
                </a:effectLst>
                <a:latin typeface="Times New Roman" pitchFamily="18" charset="0"/>
                <a:cs typeface="Times New Roman" pitchFamily="18" charset="0"/>
              </a:rPr>
              <a:t>COLUMN</a:t>
            </a:r>
            <a:r>
              <a:rPr lang="en-US" altLang="zh-CN" sz="3600" kern="0" dirty="0">
                <a:solidFill>
                  <a:srgbClr val="FFFFCC"/>
                </a:solidFill>
                <a:effectLst>
                  <a:outerShdw blurRad="38100" dist="38100" dir="2700000" algn="tl">
                    <a:srgbClr val="000000"/>
                  </a:outerShdw>
                </a:effectLst>
                <a:latin typeface="Times New Roman" pitchFamily="18" charset="0"/>
                <a:cs typeface="Times New Roman" pitchFamily="18" charset="0"/>
              </a:rPr>
              <a:t> </a:t>
            </a:r>
            <a:r>
              <a:rPr lang="en-US" altLang="en-US" sz="3600" kern="0" dirty="0" err="1">
                <a:solidFill>
                  <a:srgbClr val="FFFFCC"/>
                </a:solidFill>
                <a:effectLst>
                  <a:outerShdw blurRad="38100" dist="38100" dir="2700000" algn="tl">
                    <a:srgbClr val="000000"/>
                  </a:outerShdw>
                </a:effectLst>
                <a:latin typeface="Times New Roman" pitchFamily="18" charset="0"/>
                <a:cs typeface="Times New Roman" pitchFamily="18" charset="0"/>
              </a:rPr>
              <a:t>职称</a:t>
            </a:r>
            <a:r>
              <a:rPr lang="en-US" altLang="en-US" sz="3600" kern="0" dirty="0">
                <a:solidFill>
                  <a:srgbClr val="FFFFCC"/>
                </a:solidFill>
                <a:effectLst>
                  <a:outerShdw blurRad="38100" dist="38100" dir="2700000" algn="tl">
                    <a:srgbClr val="000000"/>
                  </a:outerShdw>
                </a:effectLst>
                <a:latin typeface="Times New Roman" pitchFamily="18" charset="0"/>
                <a:cs typeface="Times New Roman" pitchFamily="18" charset="0"/>
              </a:rPr>
              <a:t> ;</a:t>
            </a:r>
          </a:p>
          <a:p>
            <a:pPr>
              <a:spcBef>
                <a:spcPct val="50000"/>
              </a:spcBef>
              <a:spcAft>
                <a:spcPct val="15000"/>
              </a:spcAft>
              <a:buClr>
                <a:srgbClr val="66FF33"/>
              </a:buClr>
              <a:buSzPct val="85000"/>
              <a:defRPr/>
            </a:pPr>
            <a:r>
              <a:rPr lang="zh-CN" altLang="en-US" sz="4000" kern="0" dirty="0">
                <a:solidFill>
                  <a:srgbClr val="66FF66"/>
                </a:solidFill>
                <a:effectLst>
                  <a:outerShdw blurRad="38100" dist="38100" dir="2700000" algn="tl">
                    <a:srgbClr val="000000"/>
                  </a:outerShdw>
                </a:effectLst>
                <a:latin typeface="Times New Roman" pitchFamily="18" charset="0"/>
                <a:cs typeface="Times New Roman" pitchFamily="18" charset="0"/>
              </a:rPr>
              <a:t>将</a:t>
            </a:r>
            <a:r>
              <a:rPr lang="en-US" altLang="zh-CN" sz="4000" kern="0" dirty="0">
                <a:solidFill>
                  <a:srgbClr val="66FF66"/>
                </a:solidFill>
                <a:effectLst>
                  <a:outerShdw blurRad="38100" dist="38100" dir="2700000" algn="tl">
                    <a:srgbClr val="000000"/>
                  </a:outerShdw>
                </a:effectLst>
                <a:latin typeface="Times New Roman" pitchFamily="18" charset="0"/>
                <a:cs typeface="Times New Roman" pitchFamily="18" charset="0"/>
              </a:rPr>
              <a:t>Teacher</a:t>
            </a:r>
            <a:r>
              <a:rPr lang="zh-CN" altLang="en-US" sz="4000" kern="0" dirty="0">
                <a:solidFill>
                  <a:srgbClr val="66FF66"/>
                </a:solidFill>
                <a:effectLst>
                  <a:outerShdw blurRad="38100" dist="38100" dir="2700000" algn="tl">
                    <a:srgbClr val="000000"/>
                  </a:outerShdw>
                </a:effectLst>
                <a:latin typeface="Times New Roman" pitchFamily="18" charset="0"/>
                <a:cs typeface="Times New Roman" pitchFamily="18" charset="0"/>
              </a:rPr>
              <a:t>表的职称列的数据类型从</a:t>
            </a:r>
            <a:r>
              <a:rPr lang="en-US" altLang="zh-CN" sz="4000" kern="0" dirty="0">
                <a:solidFill>
                  <a:srgbClr val="66FF66"/>
                </a:solidFill>
                <a:effectLst>
                  <a:outerShdw blurRad="38100" dist="38100" dir="2700000" algn="tl">
                    <a:srgbClr val="000000"/>
                  </a:outerShdw>
                </a:effectLst>
                <a:latin typeface="Times New Roman" pitchFamily="18" charset="0"/>
                <a:cs typeface="Times New Roman" pitchFamily="18" charset="0"/>
              </a:rPr>
              <a:t>char(6)</a:t>
            </a:r>
            <a:r>
              <a:rPr lang="zh-CN" altLang="en-US" sz="4000" kern="0" dirty="0">
                <a:solidFill>
                  <a:srgbClr val="66FF66"/>
                </a:solidFill>
                <a:effectLst>
                  <a:outerShdw blurRad="38100" dist="38100" dir="2700000" algn="tl">
                    <a:srgbClr val="000000"/>
                  </a:outerShdw>
                </a:effectLst>
                <a:latin typeface="Times New Roman" pitchFamily="18" charset="0"/>
                <a:cs typeface="Times New Roman" pitchFamily="18" charset="0"/>
              </a:rPr>
              <a:t>改成</a:t>
            </a:r>
            <a:r>
              <a:rPr lang="en-US" altLang="zh-CN" sz="4000" kern="0" dirty="0">
                <a:solidFill>
                  <a:srgbClr val="66FF66"/>
                </a:solidFill>
                <a:effectLst>
                  <a:outerShdw blurRad="38100" dist="38100" dir="2700000" algn="tl">
                    <a:srgbClr val="000000"/>
                  </a:outerShdw>
                </a:effectLst>
                <a:latin typeface="Times New Roman" pitchFamily="18" charset="0"/>
                <a:cs typeface="Times New Roman" pitchFamily="18" charset="0"/>
              </a:rPr>
              <a:t>char(8)</a:t>
            </a:r>
            <a:r>
              <a:rPr lang="zh-CN" altLang="en-US" sz="4000" kern="0" dirty="0">
                <a:solidFill>
                  <a:srgbClr val="66FF66"/>
                </a:solidFill>
                <a:effectLst>
                  <a:outerShdw blurRad="38100" dist="38100" dir="2700000" algn="tl">
                    <a:srgbClr val="000000"/>
                  </a:outerShdw>
                </a:effectLst>
                <a:latin typeface="Times New Roman" pitchFamily="18" charset="0"/>
                <a:cs typeface="Times New Roman" pitchFamily="18" charset="0"/>
              </a:rPr>
              <a:t>：</a:t>
            </a:r>
          </a:p>
          <a:p>
            <a:pPr>
              <a:buClr>
                <a:srgbClr val="66FF33"/>
              </a:buClr>
              <a:buSzPct val="85000"/>
              <a:defRPr/>
            </a:pPr>
            <a:r>
              <a:rPr lang="en-US" altLang="zh-CN" sz="3600" b="1" kern="0" dirty="0">
                <a:solidFill>
                  <a:srgbClr val="FFCC00"/>
                </a:solidFill>
                <a:effectLst>
                  <a:outerShdw blurRad="38100" dist="38100" dir="2700000" algn="tl">
                    <a:srgbClr val="000000"/>
                  </a:outerShdw>
                </a:effectLst>
                <a:latin typeface="Times New Roman" pitchFamily="18" charset="0"/>
                <a:cs typeface="Times New Roman" pitchFamily="18" charset="0"/>
              </a:rPr>
              <a:t>A</a:t>
            </a:r>
            <a:r>
              <a:rPr lang="en-US" altLang="en-US" sz="3600" b="1" kern="0" dirty="0">
                <a:solidFill>
                  <a:srgbClr val="FFCC00"/>
                </a:solidFill>
                <a:effectLst>
                  <a:outerShdw blurRad="38100" dist="38100" dir="2700000" algn="tl">
                    <a:srgbClr val="000000"/>
                  </a:outerShdw>
                </a:effectLst>
                <a:latin typeface="Times New Roman" pitchFamily="18" charset="0"/>
                <a:cs typeface="Times New Roman" pitchFamily="18" charset="0"/>
              </a:rPr>
              <a:t>LTER TABLE</a:t>
            </a:r>
            <a:r>
              <a:rPr lang="en-US" altLang="en-US" sz="3600" kern="0" dirty="0">
                <a:solidFill>
                  <a:srgbClr val="FFFFCC"/>
                </a:solidFill>
                <a:effectLst>
                  <a:outerShdw blurRad="38100" dist="38100" dir="2700000" algn="tl">
                    <a:srgbClr val="000000"/>
                  </a:outerShdw>
                </a:effectLst>
                <a:latin typeface="Times New Roman" pitchFamily="18" charset="0"/>
                <a:cs typeface="Times New Roman" pitchFamily="18" charset="0"/>
              </a:rPr>
              <a:t> Teacher  </a:t>
            </a:r>
          </a:p>
          <a:p>
            <a:pPr>
              <a:buClr>
                <a:srgbClr val="66FF33"/>
              </a:buClr>
              <a:buSzPct val="85000"/>
              <a:defRPr/>
            </a:pPr>
            <a:r>
              <a:rPr lang="en-US" altLang="en-US" sz="3600" kern="0" dirty="0">
                <a:solidFill>
                  <a:srgbClr val="CCFF99"/>
                </a:solidFill>
                <a:effectLst>
                  <a:outerShdw blurRad="38100" dist="38100" dir="2700000" algn="tl">
                    <a:srgbClr val="000000"/>
                  </a:outerShdw>
                </a:effectLst>
                <a:latin typeface="Times New Roman" pitchFamily="18" charset="0"/>
                <a:cs typeface="Times New Roman" pitchFamily="18" charset="0"/>
              </a:rPr>
              <a:t>MODIFY  </a:t>
            </a:r>
            <a:r>
              <a:rPr lang="en-US" altLang="zh-CN" sz="3600" kern="0" dirty="0">
                <a:solidFill>
                  <a:srgbClr val="CCFF99"/>
                </a:solidFill>
                <a:effectLst>
                  <a:outerShdw blurRad="38100" dist="38100" dir="2700000" algn="tl">
                    <a:srgbClr val="000000"/>
                  </a:outerShdw>
                </a:effectLst>
                <a:latin typeface="Times New Roman" pitchFamily="18" charset="0"/>
                <a:cs typeface="Times New Roman" pitchFamily="18" charset="0"/>
              </a:rPr>
              <a:t>COLUMN</a:t>
            </a:r>
            <a:r>
              <a:rPr lang="en-US" altLang="zh-CN" sz="3600" kern="0" dirty="0">
                <a:solidFill>
                  <a:srgbClr val="FFFFCC"/>
                </a:solidFill>
                <a:effectLst>
                  <a:outerShdw blurRad="38100" dist="38100" dir="2700000" algn="tl">
                    <a:srgbClr val="000000"/>
                  </a:outerShdw>
                </a:effectLst>
                <a:latin typeface="Times New Roman" pitchFamily="18" charset="0"/>
                <a:cs typeface="Times New Roman" pitchFamily="18" charset="0"/>
              </a:rPr>
              <a:t> </a:t>
            </a:r>
            <a:r>
              <a:rPr lang="en-US" altLang="en-US" sz="3600" kern="0" dirty="0" err="1">
                <a:solidFill>
                  <a:srgbClr val="FFFFCC"/>
                </a:solidFill>
                <a:effectLst>
                  <a:outerShdw blurRad="38100" dist="38100" dir="2700000" algn="tl">
                    <a:srgbClr val="000000"/>
                  </a:outerShdw>
                </a:effectLst>
                <a:latin typeface="Times New Roman" pitchFamily="18" charset="0"/>
                <a:cs typeface="Times New Roman" pitchFamily="18" charset="0"/>
              </a:rPr>
              <a:t>职称</a:t>
            </a:r>
            <a:r>
              <a:rPr lang="en-US" altLang="en-US" sz="3600" kern="0" dirty="0">
                <a:solidFill>
                  <a:srgbClr val="FFFFCC"/>
                </a:solidFill>
                <a:effectLst>
                  <a:outerShdw blurRad="38100" dist="38100" dir="2700000" algn="tl">
                    <a:srgbClr val="000000"/>
                  </a:outerShdw>
                </a:effectLst>
                <a:latin typeface="Times New Roman" pitchFamily="18" charset="0"/>
                <a:cs typeface="Times New Roman" pitchFamily="18" charset="0"/>
              </a:rPr>
              <a:t> char(8);</a:t>
            </a:r>
            <a:endParaRPr lang="en-US" altLang="zh-CN" sz="3600" kern="0" dirty="0">
              <a:solidFill>
                <a:srgbClr val="CCFFCC"/>
              </a:solidFill>
              <a:effectLst>
                <a:outerShdw blurRad="38100" dist="38100" dir="2700000" algn="tl">
                  <a:srgbClr val="000000"/>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1644896509"/>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82462" y="30413"/>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sz="4000" b="1" dirty="0">
                <a:solidFill>
                  <a:srgbClr val="FFFFCC"/>
                </a:solidFill>
                <a:effectLst>
                  <a:outerShdw blurRad="38100" dist="38100" dir="2700000" algn="tl">
                    <a:srgbClr val="000000"/>
                  </a:outerShdw>
                </a:effectLst>
                <a:cs typeface="+mn-cs"/>
              </a:rPr>
              <a:t>删除基本表</a:t>
            </a:r>
          </a:p>
        </p:txBody>
      </p:sp>
      <p:sp>
        <p:nvSpPr>
          <p:cNvPr id="2" name="Rectangle 3">
            <a:extLst>
              <a:ext uri="{FF2B5EF4-FFF2-40B4-BE49-F238E27FC236}">
                <a16:creationId xmlns:a16="http://schemas.microsoft.com/office/drawing/2014/main" id="{CB00319C-5586-4829-A3A4-ECDD71A2B598}"/>
              </a:ext>
            </a:extLst>
          </p:cNvPr>
          <p:cNvSpPr txBox="1">
            <a:spLocks noChangeArrowheads="1"/>
          </p:cNvSpPr>
          <p:nvPr/>
        </p:nvSpPr>
        <p:spPr bwMode="auto">
          <a:xfrm>
            <a:off x="808569" y="980728"/>
            <a:ext cx="10616024" cy="1131473"/>
          </a:xfrm>
          <a:prstGeom prst="roundRect">
            <a:avLst>
              <a:gd name="adj" fmla="val 10888"/>
            </a:avLst>
          </a:prstGeom>
          <a:solidFill>
            <a:schemeClr val="bg2">
              <a:lumMod val="10000"/>
            </a:schemeClr>
          </a:solidFill>
          <a:ln w="28575">
            <a:solidFill>
              <a:schemeClr val="accent1"/>
            </a:solid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lnSpc>
                <a:spcPct val="120000"/>
              </a:lnSpc>
              <a:spcAft>
                <a:spcPct val="0"/>
              </a:spcAft>
              <a:buNone/>
              <a:defRPr/>
            </a:pPr>
            <a:r>
              <a:rPr lang="en-US" altLang="zh-CN" sz="5400" b="1" kern="0" dirty="0">
                <a:solidFill>
                  <a:srgbClr val="FFFF00"/>
                </a:solidFill>
                <a:latin typeface="Arial" charset="0"/>
              </a:rPr>
              <a:t>DROP  TABLE …… </a:t>
            </a:r>
            <a:r>
              <a:rPr lang="en-US" altLang="zh-CN" sz="5400" b="1" kern="0" dirty="0">
                <a:solidFill>
                  <a:srgbClr val="FFFF66"/>
                </a:solidFill>
                <a:latin typeface="Arial" charset="0"/>
              </a:rPr>
              <a:t>;</a:t>
            </a:r>
            <a:endParaRPr lang="zh-CN" altLang="en-US" sz="5400" kern="0" dirty="0">
              <a:solidFill>
                <a:srgbClr val="FFFF00"/>
              </a:solidFill>
              <a:latin typeface="Arial" charset="0"/>
            </a:endParaRPr>
          </a:p>
        </p:txBody>
      </p:sp>
      <p:pic>
        <p:nvPicPr>
          <p:cNvPr id="4" name="图片 3">
            <a:extLst>
              <a:ext uri="{FF2B5EF4-FFF2-40B4-BE49-F238E27FC236}">
                <a16:creationId xmlns:a16="http://schemas.microsoft.com/office/drawing/2014/main" id="{08F69D83-4D35-410F-AFEA-AE27FAF7DF2E}"/>
              </a:ext>
            </a:extLst>
          </p:cNvPr>
          <p:cNvPicPr>
            <a:picLocks noChangeAspect="1"/>
          </p:cNvPicPr>
          <p:nvPr/>
        </p:nvPicPr>
        <p:blipFill>
          <a:blip r:embed="rId4"/>
          <a:stretch>
            <a:fillRect/>
          </a:stretch>
        </p:blipFill>
        <p:spPr>
          <a:xfrm>
            <a:off x="1364053" y="2420888"/>
            <a:ext cx="9505056" cy="4080975"/>
          </a:xfrm>
          <a:prstGeom prst="rect">
            <a:avLst/>
          </a:prstGeom>
          <a:ln w="38100" cap="sq">
            <a:solidFill>
              <a:schemeClr val="accent5">
                <a:lumMod val="50000"/>
              </a:schemeClr>
            </a:solidFill>
            <a:prstDash val="solid"/>
            <a:miter lim="800000"/>
          </a:ln>
          <a:effectLst>
            <a:outerShdw blurRad="50800" dist="38100" dir="2700000" algn="tl" rotWithShape="0">
              <a:srgbClr val="000000">
                <a:alpha val="43000"/>
              </a:srgbClr>
            </a:outerShdw>
          </a:effectLst>
        </p:spPr>
      </p:pic>
      <p:sp>
        <p:nvSpPr>
          <p:cNvPr id="11" name="Rectangle 2">
            <a:extLst>
              <a:ext uri="{FF2B5EF4-FFF2-40B4-BE49-F238E27FC236}">
                <a16:creationId xmlns:a16="http://schemas.microsoft.com/office/drawing/2014/main" id="{2B74E61E-9C80-4AE3-9B06-B1A2528F7BF2}"/>
              </a:ext>
            </a:extLst>
          </p:cNvPr>
          <p:cNvSpPr txBox="1">
            <a:spLocks noChangeArrowheads="1"/>
          </p:cNvSpPr>
          <p:nvPr/>
        </p:nvSpPr>
        <p:spPr bwMode="auto">
          <a:xfrm>
            <a:off x="6240016" y="2103747"/>
            <a:ext cx="2386881" cy="1988106"/>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b="1" kern="0" dirty="0">
                <a:ln w="12700">
                  <a:solidFill>
                    <a:srgbClr val="A886E0"/>
                  </a:solidFill>
                  <a:prstDash val="solid"/>
                </a:ln>
                <a:solidFill>
                  <a:srgbClr val="003399"/>
                </a:solidFill>
                <a:effectLst/>
              </a:rPr>
              <a:t>语法</a:t>
            </a:r>
            <a:endParaRPr kumimoji="0" lang="en-US" altLang="zh-CN" sz="4000" b="1" i="0" u="none" strike="noStrike" kern="0" cap="none" spc="0" normalizeH="0" baseline="0" noProof="0" dirty="0">
              <a:ln w="12700">
                <a:solidFill>
                  <a:srgbClr val="A886E0"/>
                </a:solidFill>
                <a:prstDash val="solid"/>
              </a:ln>
              <a:solidFill>
                <a:srgbClr val="003399"/>
              </a:solidFill>
              <a:effectLst/>
              <a:uLnTx/>
              <a:uFillTx/>
              <a:latin typeface="微软雅黑" pitchFamily="34" charset="-122"/>
              <a:ea typeface="微软雅黑" pitchFamily="34" charset="-122"/>
              <a:cs typeface="+mj-cs"/>
            </a:endParaRPr>
          </a:p>
        </p:txBody>
      </p:sp>
      <p:sp>
        <p:nvSpPr>
          <p:cNvPr id="14" name="Rectangle 2">
            <a:extLst>
              <a:ext uri="{FF2B5EF4-FFF2-40B4-BE49-F238E27FC236}">
                <a16:creationId xmlns:a16="http://schemas.microsoft.com/office/drawing/2014/main" id="{E55294AE-348B-4441-9697-C5E75119EC26}"/>
              </a:ext>
            </a:extLst>
          </p:cNvPr>
          <p:cNvSpPr txBox="1">
            <a:spLocks noChangeArrowheads="1"/>
          </p:cNvSpPr>
          <p:nvPr/>
        </p:nvSpPr>
        <p:spPr bwMode="auto">
          <a:xfrm>
            <a:off x="8112224" y="3912823"/>
            <a:ext cx="2386881" cy="1988106"/>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b="1" kern="0" noProof="0" dirty="0">
                <a:ln w="12700">
                  <a:solidFill>
                    <a:srgbClr val="A886E0"/>
                  </a:solidFill>
                  <a:prstDash val="solid"/>
                </a:ln>
                <a:solidFill>
                  <a:srgbClr val="003399"/>
                </a:solidFill>
                <a:effectLst/>
              </a:rPr>
              <a:t>表名</a:t>
            </a:r>
            <a:endParaRPr kumimoji="0" lang="en-US" altLang="zh-CN" sz="4000" b="1" i="0" u="none" strike="noStrike" kern="0" cap="none" spc="0" normalizeH="0" baseline="0" noProof="0" dirty="0">
              <a:ln w="12700">
                <a:solidFill>
                  <a:srgbClr val="A886E0"/>
                </a:solidFill>
                <a:prstDash val="solid"/>
              </a:ln>
              <a:solidFill>
                <a:srgbClr val="003399"/>
              </a:solidFill>
              <a:effectLst/>
              <a:uLnTx/>
              <a:uFillTx/>
              <a:latin typeface="微软雅黑" pitchFamily="34" charset="-122"/>
              <a:ea typeface="微软雅黑" pitchFamily="34" charset="-122"/>
              <a:cs typeface="+mj-cs"/>
            </a:endParaRPr>
          </a:p>
        </p:txBody>
      </p:sp>
    </p:spTree>
    <p:extLst>
      <p:ext uri="{BB962C8B-B14F-4D97-AF65-F5344CB8AC3E}">
        <p14:creationId xmlns:p14="http://schemas.microsoft.com/office/powerpoint/2010/main" val="3940362711"/>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5"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82462" y="30413"/>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sz="4000" b="1" dirty="0">
                <a:solidFill>
                  <a:srgbClr val="FFFFCC"/>
                </a:solidFill>
                <a:effectLst>
                  <a:outerShdw blurRad="38100" dist="38100" dir="2700000" algn="tl">
                    <a:srgbClr val="000000"/>
                  </a:outerShdw>
                </a:effectLst>
                <a:cs typeface="+mn-cs"/>
              </a:rPr>
              <a:t>删除基本表</a:t>
            </a:r>
          </a:p>
        </p:txBody>
      </p:sp>
      <p:sp>
        <p:nvSpPr>
          <p:cNvPr id="9" name="Rectangle 4"/>
          <p:cNvSpPr>
            <a:spLocks noChangeArrowheads="1"/>
          </p:cNvSpPr>
          <p:nvPr/>
        </p:nvSpPr>
        <p:spPr bwMode="auto">
          <a:xfrm>
            <a:off x="721260" y="908720"/>
            <a:ext cx="10749480" cy="2374900"/>
          </a:xfrm>
          <a:prstGeom prst="rect">
            <a:avLst/>
          </a:prstGeom>
          <a:noFill/>
          <a:ln w="9525">
            <a:noFill/>
            <a:miter lim="800000"/>
            <a:headEnd/>
            <a:tailEnd/>
          </a:ln>
          <a:effectLst/>
        </p:spPr>
        <p:txBody>
          <a:bodyPr/>
          <a:lstStyle/>
          <a:p>
            <a:pPr>
              <a:spcAft>
                <a:spcPct val="15000"/>
              </a:spcAft>
              <a:buClr>
                <a:srgbClr val="66FF33"/>
              </a:buClr>
              <a:buSzPct val="85000"/>
              <a:defRPr/>
            </a:pPr>
            <a:r>
              <a:rPr lang="zh-CN" altLang="en-US" sz="4800" kern="0" dirty="0">
                <a:solidFill>
                  <a:srgbClr val="66FF66"/>
                </a:solidFill>
                <a:effectLst>
                  <a:outerShdw blurRad="38100" dist="38100" dir="2700000" algn="tl">
                    <a:srgbClr val="000000"/>
                  </a:outerShdw>
                </a:effectLst>
              </a:rPr>
              <a:t>例如删除名称为</a:t>
            </a:r>
            <a:r>
              <a:rPr lang="zh-CN" altLang="en-US" sz="4800" kern="0" dirty="0">
                <a:solidFill>
                  <a:srgbClr val="66FF66"/>
                </a:solidFill>
                <a:effectLst>
                  <a:outerShdw blurRad="38100" dist="38100" dir="2700000" algn="tl">
                    <a:srgbClr val="000000"/>
                  </a:outerShdw>
                </a:effectLst>
                <a:latin typeface="Times New Roman"/>
              </a:rPr>
              <a:t>“</a:t>
            </a:r>
            <a:r>
              <a:rPr lang="en-US" altLang="zh-CN" sz="4800" kern="0" dirty="0">
                <a:solidFill>
                  <a:srgbClr val="66FF66"/>
                </a:solidFill>
                <a:effectLst>
                  <a:outerShdw blurRad="38100" dist="38100" dir="2700000" algn="tl">
                    <a:srgbClr val="000000"/>
                  </a:outerShdw>
                </a:effectLst>
              </a:rPr>
              <a:t>Teacher</a:t>
            </a:r>
            <a:r>
              <a:rPr lang="en-US" altLang="zh-CN" sz="4800" kern="0" dirty="0">
                <a:solidFill>
                  <a:srgbClr val="66FF66"/>
                </a:solidFill>
                <a:effectLst>
                  <a:outerShdw blurRad="38100" dist="38100" dir="2700000" algn="tl">
                    <a:srgbClr val="000000"/>
                  </a:outerShdw>
                </a:effectLst>
                <a:latin typeface="Times New Roman"/>
              </a:rPr>
              <a:t>”</a:t>
            </a:r>
            <a:r>
              <a:rPr lang="zh-CN" altLang="en-US" sz="4800" kern="0" dirty="0">
                <a:solidFill>
                  <a:srgbClr val="66FF66"/>
                </a:solidFill>
                <a:effectLst>
                  <a:outerShdw blurRad="38100" dist="38100" dir="2700000" algn="tl">
                    <a:srgbClr val="000000"/>
                  </a:outerShdw>
                </a:effectLst>
              </a:rPr>
              <a:t>的表：</a:t>
            </a:r>
          </a:p>
          <a:p>
            <a:pPr>
              <a:spcAft>
                <a:spcPct val="15000"/>
              </a:spcAft>
              <a:buClr>
                <a:srgbClr val="66FF33"/>
              </a:buClr>
              <a:buSzPct val="85000"/>
              <a:defRPr/>
            </a:pPr>
            <a:r>
              <a:rPr lang="en-US" altLang="en-US" sz="4800" b="1" kern="0" dirty="0">
                <a:solidFill>
                  <a:srgbClr val="FFCC00"/>
                </a:solidFill>
                <a:effectLst>
                  <a:outerShdw blurRad="38100" dist="38100" dir="2700000" algn="tl">
                    <a:srgbClr val="000000"/>
                  </a:outerShdw>
                </a:effectLst>
              </a:rPr>
              <a:t>DROP  TABLE </a:t>
            </a:r>
            <a:r>
              <a:rPr lang="en-US" altLang="en-US" sz="4800" kern="0" dirty="0">
                <a:solidFill>
                  <a:srgbClr val="FFFFCC"/>
                </a:solidFill>
                <a:effectLst>
                  <a:outerShdw blurRad="38100" dist="38100" dir="2700000" algn="tl">
                    <a:srgbClr val="000000"/>
                  </a:outerShdw>
                </a:effectLst>
              </a:rPr>
              <a:t> Teacher</a:t>
            </a:r>
            <a:r>
              <a:rPr lang="zh-CN" altLang="en-US" sz="4800" kern="0" dirty="0">
                <a:solidFill>
                  <a:srgbClr val="FFFFCC"/>
                </a:solidFill>
                <a:effectLst>
                  <a:outerShdw blurRad="38100" dist="38100" dir="2700000" algn="tl">
                    <a:srgbClr val="000000"/>
                  </a:outerShdw>
                </a:effectLst>
              </a:rPr>
              <a:t>；</a:t>
            </a:r>
            <a:endParaRPr lang="en-US" altLang="en-US" sz="4800" kern="0" dirty="0">
              <a:solidFill>
                <a:srgbClr val="CCFFCC"/>
              </a:solidFill>
              <a:effectLst>
                <a:outerShdw blurRad="38100" dist="38100" dir="2700000" algn="tl">
                  <a:srgbClr val="000000"/>
                </a:outerShdw>
              </a:effectLst>
              <a:latin typeface="Times New Roman" pitchFamily="18" charset="0"/>
            </a:endParaRPr>
          </a:p>
        </p:txBody>
      </p:sp>
      <p:sp>
        <p:nvSpPr>
          <p:cNvPr id="12" name="Rectangle 5"/>
          <p:cNvSpPr>
            <a:spLocks noChangeArrowheads="1"/>
          </p:cNvSpPr>
          <p:nvPr/>
        </p:nvSpPr>
        <p:spPr bwMode="auto">
          <a:xfrm>
            <a:off x="790249" y="3933056"/>
            <a:ext cx="10749480" cy="487363"/>
          </a:xfrm>
          <a:prstGeom prst="rect">
            <a:avLst/>
          </a:prstGeom>
          <a:noFill/>
          <a:ln w="12700" cap="sq">
            <a:noFill/>
            <a:miter lim="800000"/>
            <a:headEnd/>
            <a:tailEnd/>
          </a:ln>
          <a:effectLst/>
        </p:spPr>
        <p:txBody>
          <a:bodyPr lIns="0" tIns="0" rIns="0" bIns="0"/>
          <a:lstStyle/>
          <a:p>
            <a:pPr>
              <a:spcAft>
                <a:spcPts val="1200"/>
              </a:spcAft>
              <a:defRPr/>
            </a:pPr>
            <a:r>
              <a:rPr lang="zh-CN" altLang="en-US" sz="4000" dirty="0">
                <a:solidFill>
                  <a:srgbClr val="CCFFCC"/>
                </a:solidFill>
                <a:effectLst>
                  <a:outerShdw blurRad="38100" dist="38100" dir="2700000" algn="tl">
                    <a:srgbClr val="000000"/>
                  </a:outerShdw>
                </a:effectLst>
                <a:latin typeface="宋体" pitchFamily="2" charset="-122"/>
                <a:ea typeface="宋体" pitchFamily="2" charset="-122"/>
              </a:rPr>
              <a:t>基本表被删除后，该基本表的结构定义、表中数据、表的完整性约束以及表的索引，即一切与该基本表相关的元素都被会一并删除。</a:t>
            </a:r>
            <a:endParaRPr lang="en-US" altLang="zh-CN" sz="4000" dirty="0">
              <a:solidFill>
                <a:srgbClr val="CCFFCC"/>
              </a:solidFill>
              <a:effectLst>
                <a:outerShdw blurRad="38100" dist="38100" dir="2700000" algn="tl">
                  <a:srgbClr val="000000"/>
                </a:outerShdw>
              </a:effectLst>
              <a:latin typeface="宋体" pitchFamily="2" charset="-122"/>
              <a:ea typeface="宋体" pitchFamily="2" charset="-122"/>
            </a:endParaRPr>
          </a:p>
          <a:p>
            <a:pPr>
              <a:spcAft>
                <a:spcPts val="1200"/>
              </a:spcAft>
              <a:defRPr/>
            </a:pPr>
            <a:r>
              <a:rPr lang="zh-CN" altLang="en-US" sz="4000" dirty="0">
                <a:solidFill>
                  <a:srgbClr val="CCFFCC"/>
                </a:solidFill>
                <a:effectLst>
                  <a:outerShdw blurRad="38100" dist="38100" dir="2700000" algn="tl">
                    <a:srgbClr val="000000"/>
                  </a:outerShdw>
                </a:effectLst>
                <a:latin typeface="宋体" pitchFamily="2" charset="-122"/>
                <a:ea typeface="宋体" pitchFamily="2" charset="-122"/>
              </a:rPr>
              <a:t>当然，某些约束也会阻止表被删除。</a:t>
            </a:r>
          </a:p>
        </p:txBody>
      </p:sp>
      <p:sp>
        <p:nvSpPr>
          <p:cNvPr id="13" name="Oval 6"/>
          <p:cNvSpPr>
            <a:spLocks noChangeArrowheads="1"/>
          </p:cNvSpPr>
          <p:nvPr/>
        </p:nvSpPr>
        <p:spPr bwMode="auto">
          <a:xfrm>
            <a:off x="911424" y="2764269"/>
            <a:ext cx="1898135" cy="1038701"/>
          </a:xfrm>
          <a:prstGeom prst="ellipse">
            <a:avLst/>
          </a:prstGeom>
          <a:solidFill>
            <a:srgbClr val="FF0000"/>
          </a:solidFill>
          <a:ln w="28575" cap="sq">
            <a:solidFill>
              <a:srgbClr val="FFFFFF"/>
            </a:solidFill>
            <a:round/>
            <a:headEnd/>
            <a:tailEnd/>
          </a:ln>
          <a:effectLst>
            <a:outerShdw dist="35921" dir="2700000" algn="ctr" rotWithShape="0">
              <a:srgbClr val="000514"/>
            </a:outerShdw>
          </a:effectLst>
        </p:spPr>
        <p:txBody>
          <a:bodyPr wrap="square" lIns="0" tIns="0" rIns="0" bIns="0">
            <a:spAutoFit/>
          </a:bodyPr>
          <a:lstStyle/>
          <a:p>
            <a:pPr algn="ctr">
              <a:spcAft>
                <a:spcPct val="0"/>
              </a:spcAft>
              <a:defRPr/>
            </a:pPr>
            <a:r>
              <a:rPr lang="zh-CN" altLang="en-US" sz="4800" kern="0" dirty="0">
                <a:solidFill>
                  <a:srgbClr val="FFFF00"/>
                </a:solidFill>
                <a:effectLst>
                  <a:outerShdw blurRad="38100" dist="38100" dir="2700000" algn="tl">
                    <a:srgbClr val="000000"/>
                  </a:outerShdw>
                </a:effectLst>
                <a:latin typeface="Monotype Corsiva" pitchFamily="66" charset="0"/>
              </a:rPr>
              <a:t>警告</a:t>
            </a:r>
          </a:p>
        </p:txBody>
      </p:sp>
    </p:spTree>
    <p:extLst>
      <p:ext uri="{BB962C8B-B14F-4D97-AF65-F5344CB8AC3E}">
        <p14:creationId xmlns:p14="http://schemas.microsoft.com/office/powerpoint/2010/main" val="3452830050"/>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114" name="Rectangle 2">
            <a:extLst>
              <a:ext uri="{FF2B5EF4-FFF2-40B4-BE49-F238E27FC236}">
                <a16:creationId xmlns:a16="http://schemas.microsoft.com/office/drawing/2014/main" id="{5B0E30C5-6D7B-4979-8AFE-4E366AA31425}"/>
              </a:ext>
            </a:extLst>
          </p:cNvPr>
          <p:cNvSpPr>
            <a:spLocks noGrp="1" noChangeArrowheads="1"/>
          </p:cNvSpPr>
          <p:nvPr>
            <p:ph type="title" idx="4294967295"/>
          </p:nvPr>
        </p:nvSpPr>
        <p:spPr>
          <a:xfrm>
            <a:off x="2374018" y="89440"/>
            <a:ext cx="3013967" cy="707886"/>
          </a:xfrm>
        </p:spPr>
        <p:txBody>
          <a:bodyPr/>
          <a:lstStyle/>
          <a:p>
            <a:r>
              <a:rPr lang="en-US" altLang="zh-CN"/>
              <a:t>4.4</a:t>
            </a:r>
            <a:r>
              <a:rPr lang="zh-CN" altLang="en-US"/>
              <a:t>简单查询</a:t>
            </a:r>
          </a:p>
        </p:txBody>
      </p:sp>
      <p:sp>
        <p:nvSpPr>
          <p:cNvPr id="730115" name="Rectangle 3">
            <a:extLst>
              <a:ext uri="{FF2B5EF4-FFF2-40B4-BE49-F238E27FC236}">
                <a16:creationId xmlns:a16="http://schemas.microsoft.com/office/drawing/2014/main" id="{A62BC639-EBCE-4C52-8608-EE05055088BF}"/>
              </a:ext>
            </a:extLst>
          </p:cNvPr>
          <p:cNvSpPr>
            <a:spLocks noGrp="1" noChangeArrowheads="1"/>
          </p:cNvSpPr>
          <p:nvPr>
            <p:ph type="body" idx="4294967295"/>
          </p:nvPr>
        </p:nvSpPr>
        <p:spPr>
          <a:xfrm>
            <a:off x="609600" y="1052736"/>
            <a:ext cx="10972800" cy="4525963"/>
          </a:xfrm>
        </p:spPr>
        <p:txBody>
          <a:bodyPr>
            <a:normAutofit fontScale="92500"/>
          </a:bodyPr>
          <a:lstStyle/>
          <a:p>
            <a:pPr>
              <a:lnSpc>
                <a:spcPct val="150000"/>
              </a:lnSpc>
            </a:pPr>
            <a:r>
              <a:rPr lang="en-US" altLang="zh-CN" sz="2400" dirty="0"/>
              <a:t>SQL</a:t>
            </a:r>
            <a:r>
              <a:rPr lang="zh-CN" altLang="en-US" sz="2400" dirty="0"/>
              <a:t>语言提供</a:t>
            </a:r>
            <a:r>
              <a:rPr lang="en-US" altLang="zh-CN" sz="2400" dirty="0"/>
              <a:t>SELECT</a:t>
            </a:r>
            <a:r>
              <a:rPr lang="zh-CN" altLang="en-US" sz="2400" dirty="0"/>
              <a:t>语句，通过查询操作可得到所需的信息。</a:t>
            </a:r>
          </a:p>
          <a:p>
            <a:pPr>
              <a:lnSpc>
                <a:spcPct val="150000"/>
              </a:lnSpc>
            </a:pPr>
            <a:r>
              <a:rPr lang="en-US" altLang="zh-CN" sz="2400" dirty="0"/>
              <a:t>SELECT</a:t>
            </a:r>
            <a:r>
              <a:rPr lang="zh-CN" altLang="en-US" sz="2400" dirty="0"/>
              <a:t>语句的一般格式为</a:t>
            </a:r>
          </a:p>
          <a:p>
            <a:pPr>
              <a:lnSpc>
                <a:spcPct val="150000"/>
              </a:lnSpc>
              <a:buFontTx/>
              <a:buNone/>
            </a:pPr>
            <a:r>
              <a:rPr lang="en-US" altLang="zh-CN" sz="2400" dirty="0"/>
              <a:t>SELECT  TOP(N) PERCENT [</a:t>
            </a:r>
            <a:r>
              <a:rPr lang="zh-CN" altLang="en-US" sz="2400" dirty="0"/>
              <a:t>表达式</a:t>
            </a:r>
            <a:r>
              <a:rPr lang="en-US" altLang="zh-CN" sz="2400" dirty="0"/>
              <a:t>], [</a:t>
            </a:r>
            <a:r>
              <a:rPr lang="zh-CN" altLang="en-US" sz="2400" dirty="0"/>
              <a:t>常量</a:t>
            </a:r>
            <a:r>
              <a:rPr lang="en-US" altLang="zh-CN" sz="2400" dirty="0"/>
              <a:t>], &lt;</a:t>
            </a:r>
            <a:r>
              <a:rPr lang="zh-CN" altLang="en-US" sz="2400" dirty="0"/>
              <a:t>列名</a:t>
            </a:r>
            <a:r>
              <a:rPr lang="en-US" altLang="zh-CN" sz="2400" dirty="0"/>
              <a:t>&gt;[{, [</a:t>
            </a:r>
            <a:r>
              <a:rPr lang="zh-CN" altLang="en-US" sz="2400" dirty="0"/>
              <a:t>表名</a:t>
            </a:r>
            <a:r>
              <a:rPr lang="en-US" altLang="zh-CN" sz="2400" dirty="0"/>
              <a:t>.] &lt;</a:t>
            </a:r>
            <a:r>
              <a:rPr lang="zh-CN" altLang="en-US" sz="2400" dirty="0"/>
              <a:t>列名</a:t>
            </a:r>
            <a:r>
              <a:rPr lang="en-US" altLang="zh-CN" sz="2400" dirty="0"/>
              <a:t>&gt; [AS] &lt;</a:t>
            </a:r>
            <a:r>
              <a:rPr lang="zh-CN" altLang="en-US" sz="2400" dirty="0"/>
              <a:t>别名</a:t>
            </a:r>
            <a:r>
              <a:rPr lang="en-US" altLang="zh-CN" sz="2400" dirty="0"/>
              <a:t>&gt;}] </a:t>
            </a:r>
          </a:p>
          <a:p>
            <a:pPr>
              <a:lnSpc>
                <a:spcPct val="150000"/>
              </a:lnSpc>
              <a:buFontTx/>
              <a:buNone/>
            </a:pPr>
            <a:r>
              <a:rPr lang="en-US" altLang="zh-CN" sz="2400" dirty="0"/>
              <a:t>FROM〈</a:t>
            </a:r>
            <a:r>
              <a:rPr lang="zh-CN" altLang="en-US" sz="2400" dirty="0"/>
              <a:t>表名或视图名</a:t>
            </a:r>
            <a:r>
              <a:rPr lang="en-US" altLang="zh-CN" sz="2400" dirty="0"/>
              <a:t>〉[{,〈</a:t>
            </a:r>
            <a:r>
              <a:rPr lang="zh-CN" altLang="en-US" sz="2400" dirty="0"/>
              <a:t>表名或视图名</a:t>
            </a:r>
            <a:r>
              <a:rPr lang="en-US" altLang="zh-CN" sz="2400" dirty="0"/>
              <a:t>〉}……]</a:t>
            </a:r>
          </a:p>
          <a:p>
            <a:pPr>
              <a:lnSpc>
                <a:spcPct val="150000"/>
              </a:lnSpc>
              <a:buFontTx/>
              <a:buNone/>
            </a:pPr>
            <a:r>
              <a:rPr lang="en-US" altLang="zh-CN" sz="2400" dirty="0"/>
              <a:t>[WHERE〈</a:t>
            </a:r>
            <a:r>
              <a:rPr lang="zh-CN" altLang="en-US" sz="2400" dirty="0"/>
              <a:t>检索（选取）条件</a:t>
            </a:r>
            <a:r>
              <a:rPr lang="en-US" altLang="zh-CN" sz="2400" dirty="0"/>
              <a:t>〉]</a:t>
            </a:r>
          </a:p>
          <a:p>
            <a:pPr>
              <a:lnSpc>
                <a:spcPct val="150000"/>
              </a:lnSpc>
              <a:buFontTx/>
              <a:buNone/>
            </a:pPr>
            <a:r>
              <a:rPr lang="en-US" altLang="zh-CN" sz="2400" dirty="0"/>
              <a:t>[GROUP BY &lt;</a:t>
            </a:r>
            <a:r>
              <a:rPr lang="zh-CN" altLang="en-US" sz="2400" dirty="0"/>
              <a:t>列名</a:t>
            </a:r>
            <a:r>
              <a:rPr lang="en-US" altLang="zh-CN" sz="2400" dirty="0"/>
              <a:t>1&gt;[HAVING &lt;</a:t>
            </a:r>
            <a:r>
              <a:rPr lang="zh-CN" altLang="en-US" sz="2400" dirty="0"/>
              <a:t>条件表达式</a:t>
            </a:r>
            <a:r>
              <a:rPr lang="en-US" altLang="zh-CN" sz="2400" dirty="0"/>
              <a:t>&gt;]]</a:t>
            </a:r>
          </a:p>
          <a:p>
            <a:pPr>
              <a:lnSpc>
                <a:spcPct val="150000"/>
              </a:lnSpc>
              <a:buFontTx/>
              <a:buNone/>
            </a:pPr>
            <a:r>
              <a:rPr lang="en-US" altLang="zh-CN" sz="2400" dirty="0"/>
              <a:t>[ORDER BY &lt;</a:t>
            </a:r>
            <a:r>
              <a:rPr lang="zh-CN" altLang="en-US" sz="2400" dirty="0"/>
              <a:t>列名</a:t>
            </a:r>
            <a:r>
              <a:rPr lang="en-US" altLang="zh-CN" sz="2400" dirty="0"/>
              <a:t>2&gt;[ASC|DESC]];</a:t>
            </a:r>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839416" y="0"/>
            <a:ext cx="4329244"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dirty="0">
                <a:solidFill>
                  <a:srgbClr val="FFFFCC"/>
                </a:solidFill>
                <a:effectLst>
                  <a:outerShdw blurRad="38100" dist="38100" dir="2700000" algn="tl">
                    <a:srgbClr val="000000"/>
                  </a:outerShdw>
                </a:effectLst>
              </a:rPr>
              <a:t>数据</a:t>
            </a:r>
            <a:r>
              <a:rPr lang="zh-CN" altLang="en-US" sz="4000" b="1" dirty="0">
                <a:solidFill>
                  <a:srgbClr val="FFFFCC"/>
                </a:solidFill>
                <a:effectLst>
                  <a:outerShdw blurRad="38100" dist="38100" dir="2700000" algn="tl">
                    <a:srgbClr val="000000"/>
                  </a:outerShdw>
                </a:effectLst>
              </a:rPr>
              <a:t>查询（</a:t>
            </a:r>
            <a:r>
              <a:rPr lang="en-US" altLang="zh-CN" sz="4000" b="1" dirty="0">
                <a:solidFill>
                  <a:srgbClr val="FFFFCC"/>
                </a:solidFill>
                <a:effectLst>
                  <a:outerShdw blurRad="38100" dist="38100" dir="2700000" algn="tl">
                    <a:srgbClr val="000000"/>
                  </a:outerShdw>
                </a:effectLst>
              </a:rPr>
              <a:t>DQL</a:t>
            </a:r>
            <a:r>
              <a:rPr lang="zh-CN" altLang="en-US" sz="4000" b="1" dirty="0">
                <a:solidFill>
                  <a:srgbClr val="FFFFCC"/>
                </a:solidFill>
                <a:effectLst>
                  <a:outerShdw blurRad="38100" dist="38100" dir="2700000" algn="tl">
                    <a:srgbClr val="000000"/>
                  </a:outerShdw>
                </a:effectLst>
              </a:rPr>
              <a:t>）</a:t>
            </a:r>
          </a:p>
        </p:txBody>
      </p:sp>
      <p:grpSp>
        <p:nvGrpSpPr>
          <p:cNvPr id="13" name="组合 12"/>
          <p:cNvGrpSpPr/>
          <p:nvPr/>
        </p:nvGrpSpPr>
        <p:grpSpPr>
          <a:xfrm>
            <a:off x="983432" y="1422020"/>
            <a:ext cx="1828461" cy="2266403"/>
            <a:chOff x="1043608" y="2996952"/>
            <a:chExt cx="1700241" cy="2160240"/>
          </a:xfrm>
        </p:grpSpPr>
        <p:sp>
          <p:nvSpPr>
            <p:cNvPr id="14" name="AutoShape 12"/>
            <p:cNvSpPr>
              <a:spLocks noChangeArrowheads="1"/>
            </p:cNvSpPr>
            <p:nvPr/>
          </p:nvSpPr>
          <p:spPr bwMode="auto">
            <a:xfrm>
              <a:off x="1043608" y="2996952"/>
              <a:ext cx="1700241" cy="2160240"/>
            </a:xfrm>
            <a:prstGeom prst="can">
              <a:avLst>
                <a:gd name="adj" fmla="val 25000"/>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100000" b="100000"/>
              </a:path>
              <a:tileRect t="-100000" r="-100000"/>
            </a:gradFill>
            <a:ln w="19050" cap="sq">
              <a:solidFill>
                <a:srgbClr val="CCFFCC"/>
              </a:solidFill>
              <a:round/>
              <a:headEnd type="none" w="sm" len="sm"/>
              <a:tailEnd type="none" w="sm" len="sm"/>
            </a:ln>
            <a:effectLst>
              <a:outerShdw dist="35921" dir="2700000" algn="ctr" rotWithShape="0">
                <a:schemeClr val="bg2"/>
              </a:outerShdw>
            </a:effectLst>
          </p:spPr>
          <p:txBody>
            <a:bodyPr wrap="none" anchor="ctr"/>
            <a:lstStyle/>
            <a:p>
              <a:pPr algn="ctr">
                <a:defRPr/>
              </a:pPr>
              <a:endParaRPr lang="zh-CN" altLang="en-US" sz="2800" dirty="0">
                <a:solidFill>
                  <a:schemeClr val="bg1"/>
                </a:solidFill>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3"/>
            <a:stretch>
              <a:fillRect/>
            </a:stretch>
          </p:blipFill>
          <p:spPr>
            <a:xfrm>
              <a:off x="1187624" y="4149080"/>
              <a:ext cx="363171" cy="288032"/>
            </a:xfrm>
            <a:prstGeom prst="rect">
              <a:avLst/>
            </a:prstGeom>
          </p:spPr>
        </p:pic>
        <p:pic>
          <p:nvPicPr>
            <p:cNvPr id="16" name="图片 15"/>
            <p:cNvPicPr>
              <a:picLocks noChangeAspect="1"/>
            </p:cNvPicPr>
            <p:nvPr/>
          </p:nvPicPr>
          <p:blipFill>
            <a:blip r:embed="rId3"/>
            <a:stretch>
              <a:fillRect/>
            </a:stretch>
          </p:blipFill>
          <p:spPr>
            <a:xfrm>
              <a:off x="1739871" y="4280845"/>
              <a:ext cx="363171" cy="288032"/>
            </a:xfrm>
            <a:prstGeom prst="rect">
              <a:avLst/>
            </a:prstGeom>
          </p:spPr>
        </p:pic>
        <p:pic>
          <p:nvPicPr>
            <p:cNvPr id="17" name="图片 16"/>
            <p:cNvPicPr>
              <a:picLocks noChangeAspect="1"/>
            </p:cNvPicPr>
            <p:nvPr/>
          </p:nvPicPr>
          <p:blipFill>
            <a:blip r:embed="rId3"/>
            <a:stretch>
              <a:fillRect/>
            </a:stretch>
          </p:blipFill>
          <p:spPr>
            <a:xfrm>
              <a:off x="1462236" y="4653136"/>
              <a:ext cx="363171" cy="288032"/>
            </a:xfrm>
            <a:prstGeom prst="rect">
              <a:avLst/>
            </a:prstGeom>
          </p:spPr>
        </p:pic>
        <p:pic>
          <p:nvPicPr>
            <p:cNvPr id="18" name="图片 17"/>
            <p:cNvPicPr>
              <a:picLocks noChangeAspect="1"/>
            </p:cNvPicPr>
            <p:nvPr/>
          </p:nvPicPr>
          <p:blipFill>
            <a:blip r:embed="rId3"/>
            <a:stretch>
              <a:fillRect/>
            </a:stretch>
          </p:blipFill>
          <p:spPr>
            <a:xfrm>
              <a:off x="2277901" y="4120825"/>
              <a:ext cx="363171" cy="288032"/>
            </a:xfrm>
            <a:prstGeom prst="rect">
              <a:avLst/>
            </a:prstGeom>
          </p:spPr>
        </p:pic>
        <p:pic>
          <p:nvPicPr>
            <p:cNvPr id="20" name="图片 19"/>
            <p:cNvPicPr>
              <a:picLocks noChangeAspect="1"/>
            </p:cNvPicPr>
            <p:nvPr/>
          </p:nvPicPr>
          <p:blipFill>
            <a:blip r:embed="rId3"/>
            <a:stretch>
              <a:fillRect/>
            </a:stretch>
          </p:blipFill>
          <p:spPr>
            <a:xfrm>
              <a:off x="2103042" y="4653136"/>
              <a:ext cx="363171" cy="288032"/>
            </a:xfrm>
            <a:prstGeom prst="rect">
              <a:avLst/>
            </a:prstGeom>
          </p:spPr>
        </p:pic>
        <p:sp>
          <p:nvSpPr>
            <p:cNvPr id="21" name="矩形 20"/>
            <p:cNvSpPr/>
            <p:nvPr/>
          </p:nvSpPr>
          <p:spPr>
            <a:xfrm>
              <a:off x="1086118" y="3563887"/>
              <a:ext cx="1610139" cy="440040"/>
            </a:xfrm>
            <a:prstGeom prst="rect">
              <a:avLst/>
            </a:prstGeom>
          </p:spPr>
          <p:txBody>
            <a:bodyPr wrap="none">
              <a:spAutoFit/>
            </a:bodyPr>
            <a:lstStyle/>
            <a:p>
              <a:r>
                <a:rPr lang="zh-CN" altLang="en-US" sz="2400" b="1" dirty="0">
                  <a:solidFill>
                    <a:srgbClr val="FFFFCC"/>
                  </a:solidFill>
                </a:rPr>
                <a:t>教务数据库</a:t>
              </a:r>
              <a:endParaRPr lang="zh-CN" altLang="en-US" sz="2400" dirty="0"/>
            </a:p>
          </p:txBody>
        </p:sp>
      </p:grpSp>
      <p:pic>
        <p:nvPicPr>
          <p:cNvPr id="22" name="图片 21"/>
          <p:cNvPicPr>
            <a:picLocks noChangeAspect="1"/>
          </p:cNvPicPr>
          <p:nvPr/>
        </p:nvPicPr>
        <p:blipFill>
          <a:blip r:embed="rId4"/>
          <a:stretch>
            <a:fillRect/>
          </a:stretch>
        </p:blipFill>
        <p:spPr>
          <a:xfrm>
            <a:off x="4835216" y="1110782"/>
            <a:ext cx="5957074" cy="3254322"/>
          </a:xfrm>
          <a:prstGeom prst="rect">
            <a:avLst/>
          </a:prstGeom>
          <a:ln w="38100" cap="sq">
            <a:solidFill>
              <a:srgbClr val="92D050"/>
            </a:solidFill>
            <a:prstDash val="solid"/>
            <a:miter lim="800000"/>
          </a:ln>
          <a:effectLst>
            <a:outerShdw blurRad="50800" dist="38100" dir="2700000" algn="tl" rotWithShape="0">
              <a:srgbClr val="000000">
                <a:alpha val="43000"/>
              </a:srgbClr>
            </a:outerShdw>
          </a:effectLst>
        </p:spPr>
      </p:pic>
      <p:sp>
        <p:nvSpPr>
          <p:cNvPr id="23" name="Rectangle 51"/>
          <p:cNvSpPr>
            <a:spLocks noChangeArrowheads="1"/>
          </p:cNvSpPr>
          <p:nvPr/>
        </p:nvSpPr>
        <p:spPr bwMode="auto">
          <a:xfrm>
            <a:off x="983433" y="4714927"/>
            <a:ext cx="9808858" cy="1806076"/>
          </a:xfrm>
          <a:prstGeom prst="roundRect">
            <a:avLst/>
          </a:prstGeom>
          <a:ln>
            <a:headEnd/>
            <a:tailEnd/>
          </a:ln>
        </p:spPr>
        <p:style>
          <a:lnRef idx="0">
            <a:schemeClr val="accent6"/>
          </a:lnRef>
          <a:fillRef idx="3">
            <a:schemeClr val="accent6"/>
          </a:fillRef>
          <a:effectRef idx="3">
            <a:schemeClr val="accent6"/>
          </a:effectRef>
          <a:fontRef idx="minor">
            <a:schemeClr val="lt1"/>
          </a:fontRef>
        </p:style>
        <p:txBody>
          <a:bodyPr wrap="none" lIns="36000" tIns="36000" rIns="72000" bIns="72000" anchor="ctr" anchorCtr="0">
            <a:noAutofit/>
          </a:bodyPr>
          <a:lstStyle/>
          <a:p>
            <a:pPr marL="612000" indent="-571500">
              <a:lnSpc>
                <a:spcPct val="150000"/>
              </a:lnSpc>
              <a:spcAft>
                <a:spcPct val="0"/>
              </a:spcAft>
              <a:buFont typeface="Wingdings" panose="05000000000000000000" pitchFamily="2" charset="2"/>
              <a:buChar char="l"/>
            </a:pPr>
            <a:r>
              <a:rPr lang="zh-CN" altLang="en-US" sz="4000" kern="0" dirty="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从数据库读取数据</a:t>
            </a:r>
            <a:endParaRPr lang="en-US" altLang="zh-CN" sz="4000" kern="0" dirty="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a:p>
            <a:pPr marL="612000" indent="-571500">
              <a:lnSpc>
                <a:spcPct val="150000"/>
              </a:lnSpc>
              <a:spcAft>
                <a:spcPct val="0"/>
              </a:spcAft>
              <a:buFont typeface="Wingdings" panose="05000000000000000000" pitchFamily="2" charset="2"/>
              <a:buChar char="l"/>
            </a:pPr>
            <a:r>
              <a:rPr lang="zh-CN" altLang="en-US" sz="4000" kern="0" dirty="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最终就是执行一条数据查询命令     </a:t>
            </a:r>
            <a:r>
              <a:rPr lang="en-US" altLang="zh-CN" sz="4000" kern="0" dirty="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 </a:t>
            </a:r>
            <a:endParaRPr lang="zh-CN" altLang="en-US" sz="4000" kern="0" dirty="0">
              <a:solidFill>
                <a:schemeClr val="bg1"/>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sp>
        <p:nvSpPr>
          <p:cNvPr id="24" name="右箭头 23"/>
          <p:cNvSpPr/>
          <p:nvPr/>
        </p:nvSpPr>
        <p:spPr>
          <a:xfrm>
            <a:off x="3212844" y="2866747"/>
            <a:ext cx="1208726" cy="530610"/>
          </a:xfrm>
          <a:prstGeom prs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sz="2000"/>
          </a:p>
        </p:txBody>
      </p:sp>
      <p:sp>
        <p:nvSpPr>
          <p:cNvPr id="25" name="右箭头 24"/>
          <p:cNvSpPr/>
          <p:nvPr/>
        </p:nvSpPr>
        <p:spPr>
          <a:xfrm flipH="1">
            <a:off x="3185134" y="2135201"/>
            <a:ext cx="1208726" cy="502215"/>
          </a:xfrm>
          <a:prstGeom prs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sz="2000"/>
          </a:p>
        </p:txBody>
      </p:sp>
      <p:sp>
        <p:nvSpPr>
          <p:cNvPr id="26" name="矩形 25"/>
          <p:cNvSpPr/>
          <p:nvPr/>
        </p:nvSpPr>
        <p:spPr>
          <a:xfrm>
            <a:off x="2968207" y="1550426"/>
            <a:ext cx="1826141" cy="584775"/>
          </a:xfrm>
          <a:prstGeom prst="rect">
            <a:avLst/>
          </a:prstGeom>
        </p:spPr>
        <p:txBody>
          <a:bodyPr wrap="none">
            <a:spAutoFit/>
          </a:bodyPr>
          <a:lstStyle/>
          <a:p>
            <a:r>
              <a:rPr lang="zh-CN" altLang="en-US" sz="3200" dirty="0">
                <a:solidFill>
                  <a:srgbClr val="FFFF00"/>
                </a:solidFill>
              </a:rPr>
              <a:t>查询请求</a:t>
            </a:r>
          </a:p>
        </p:txBody>
      </p:sp>
      <p:sp>
        <p:nvSpPr>
          <p:cNvPr id="27" name="矩形 26"/>
          <p:cNvSpPr/>
          <p:nvPr/>
        </p:nvSpPr>
        <p:spPr>
          <a:xfrm>
            <a:off x="2816257" y="3342631"/>
            <a:ext cx="1826141" cy="584775"/>
          </a:xfrm>
          <a:prstGeom prst="rect">
            <a:avLst/>
          </a:prstGeom>
        </p:spPr>
        <p:txBody>
          <a:bodyPr wrap="none">
            <a:spAutoFit/>
          </a:bodyPr>
          <a:lstStyle/>
          <a:p>
            <a:r>
              <a:rPr lang="zh-CN" altLang="en-US" sz="3200" dirty="0">
                <a:solidFill>
                  <a:srgbClr val="FFFF00"/>
                </a:solidFill>
              </a:rPr>
              <a:t>返回结果</a:t>
            </a:r>
          </a:p>
        </p:txBody>
      </p:sp>
    </p:spTree>
    <p:extLst>
      <p:ext uri="{BB962C8B-B14F-4D97-AF65-F5344CB8AC3E}">
        <p14:creationId xmlns:p14="http://schemas.microsoft.com/office/powerpoint/2010/main" val="3220903712"/>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5" name="arrow.wav"/>
          </p:stSnd>
        </p:sndAc>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839416" y="0"/>
            <a:ext cx="4329244"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dirty="0">
                <a:solidFill>
                  <a:srgbClr val="FFFFCC"/>
                </a:solidFill>
                <a:effectLst>
                  <a:outerShdw blurRad="38100" dist="38100" dir="2700000" algn="tl">
                    <a:srgbClr val="000000"/>
                  </a:outerShdw>
                </a:effectLst>
              </a:rPr>
              <a:t>数据</a:t>
            </a:r>
            <a:r>
              <a:rPr lang="zh-CN" altLang="en-US" sz="4000" b="1" dirty="0">
                <a:solidFill>
                  <a:srgbClr val="FFFFCC"/>
                </a:solidFill>
                <a:effectLst>
                  <a:outerShdw blurRad="38100" dist="38100" dir="2700000" algn="tl">
                    <a:srgbClr val="000000"/>
                  </a:outerShdw>
                </a:effectLst>
              </a:rPr>
              <a:t>查询（</a:t>
            </a:r>
            <a:r>
              <a:rPr lang="en-US" altLang="zh-CN" sz="4000" b="1" dirty="0">
                <a:solidFill>
                  <a:srgbClr val="FFFFCC"/>
                </a:solidFill>
                <a:effectLst>
                  <a:outerShdw blurRad="38100" dist="38100" dir="2700000" algn="tl">
                    <a:srgbClr val="000000"/>
                  </a:outerShdw>
                </a:effectLst>
              </a:rPr>
              <a:t>DQL</a:t>
            </a:r>
            <a:r>
              <a:rPr lang="zh-CN" altLang="en-US" sz="4000" b="1" dirty="0">
                <a:solidFill>
                  <a:srgbClr val="FFFFCC"/>
                </a:solidFill>
                <a:effectLst>
                  <a:outerShdw blurRad="38100" dist="38100" dir="2700000" algn="tl">
                    <a:srgbClr val="000000"/>
                  </a:outerShdw>
                </a:effectLst>
              </a:rPr>
              <a:t>）</a:t>
            </a:r>
          </a:p>
        </p:txBody>
      </p:sp>
      <p:sp>
        <p:nvSpPr>
          <p:cNvPr id="19" name="Rectangle 3"/>
          <p:cNvSpPr txBox="1">
            <a:spLocks noChangeArrowheads="1"/>
          </p:cNvSpPr>
          <p:nvPr/>
        </p:nvSpPr>
        <p:spPr bwMode="auto">
          <a:xfrm>
            <a:off x="839416" y="820979"/>
            <a:ext cx="9939453" cy="2892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ts val="600"/>
              </a:spcAft>
              <a:buNone/>
              <a:defRPr/>
            </a:pPr>
            <a:r>
              <a:rPr lang="en-US" altLang="zh-CN" sz="3200" b="1" kern="0" dirty="0">
                <a:solidFill>
                  <a:srgbClr val="FFFF00"/>
                </a:solidFill>
                <a:latin typeface="Arial" charset="0"/>
              </a:rPr>
              <a:t>SELECT</a:t>
            </a:r>
            <a:r>
              <a:rPr kumimoji="1" lang="en-US" altLang="zh-CN" sz="3200" kern="0" dirty="0"/>
              <a:t>  &lt;</a:t>
            </a:r>
            <a:r>
              <a:rPr kumimoji="1" lang="zh-CN" altLang="en-US" sz="3200" i="1" kern="0" dirty="0"/>
              <a:t>目标列表达式列表</a:t>
            </a:r>
            <a:r>
              <a:rPr kumimoji="1" lang="en-US" altLang="zh-CN" sz="3200" kern="0" dirty="0"/>
              <a:t>&gt;</a:t>
            </a:r>
          </a:p>
          <a:p>
            <a:pPr eaLnBrk="1" hangingPunct="1">
              <a:spcAft>
                <a:spcPts val="600"/>
              </a:spcAft>
              <a:buNone/>
              <a:defRPr/>
            </a:pPr>
            <a:r>
              <a:rPr kumimoji="1" lang="en-US" altLang="zh-CN" sz="3200" kern="0" dirty="0">
                <a:solidFill>
                  <a:srgbClr val="FFFFFF"/>
                </a:solidFill>
              </a:rPr>
              <a:t>	</a:t>
            </a:r>
            <a:r>
              <a:rPr lang="en-US" altLang="zh-CN" sz="3200" b="1" kern="0" dirty="0">
                <a:solidFill>
                  <a:srgbClr val="FFFF00"/>
                </a:solidFill>
                <a:latin typeface="Arial" charset="0"/>
              </a:rPr>
              <a:t>FROM  </a:t>
            </a:r>
            <a:r>
              <a:rPr kumimoji="1" lang="en-US" altLang="zh-CN" sz="3200" kern="0" dirty="0"/>
              <a:t>&lt;</a:t>
            </a:r>
            <a:r>
              <a:rPr kumimoji="1" lang="zh-CN" altLang="en-US" sz="3200" i="1" kern="0" dirty="0"/>
              <a:t>表名或视图名列表</a:t>
            </a:r>
            <a:r>
              <a:rPr kumimoji="1" lang="en-US" altLang="zh-CN" sz="3200" kern="0" dirty="0"/>
              <a:t>&gt;</a:t>
            </a:r>
          </a:p>
          <a:p>
            <a:pPr eaLnBrk="1" hangingPunct="1">
              <a:spcAft>
                <a:spcPts val="600"/>
              </a:spcAft>
              <a:buNone/>
              <a:defRPr/>
            </a:pPr>
            <a:r>
              <a:rPr kumimoji="1" lang="zh-CN" altLang="en-US" sz="3200" kern="0" dirty="0"/>
              <a:t>[</a:t>
            </a:r>
            <a:r>
              <a:rPr lang="en-US" altLang="zh-CN" sz="3200" b="1" kern="0" dirty="0">
                <a:solidFill>
                  <a:srgbClr val="FFFF00"/>
                </a:solidFill>
                <a:latin typeface="Arial" charset="0"/>
              </a:rPr>
              <a:t>WHERE</a:t>
            </a:r>
            <a:r>
              <a:rPr kumimoji="1" lang="en-US" altLang="zh-CN" sz="3200" kern="0" dirty="0">
                <a:solidFill>
                  <a:srgbClr val="FFFFFF"/>
                </a:solidFill>
              </a:rPr>
              <a:t>  </a:t>
            </a:r>
            <a:r>
              <a:rPr kumimoji="1" lang="en-US" altLang="zh-CN" sz="3200" kern="0" dirty="0"/>
              <a:t>&lt;</a:t>
            </a:r>
            <a:r>
              <a:rPr kumimoji="1" lang="zh-CN" altLang="en-US" sz="3200" i="1" kern="0" dirty="0"/>
              <a:t>条件表达式</a:t>
            </a:r>
            <a:r>
              <a:rPr kumimoji="1" lang="en-US" altLang="zh-CN" sz="3200" kern="0" dirty="0"/>
              <a:t>&gt;]</a:t>
            </a:r>
          </a:p>
          <a:p>
            <a:pPr eaLnBrk="1" hangingPunct="1">
              <a:spcAft>
                <a:spcPts val="600"/>
              </a:spcAft>
              <a:buNone/>
              <a:defRPr/>
            </a:pPr>
            <a:r>
              <a:rPr kumimoji="1" lang="zh-CN" altLang="en-US" sz="3200" kern="0" dirty="0"/>
              <a:t>[</a:t>
            </a:r>
            <a:r>
              <a:rPr lang="en-US" altLang="zh-CN" sz="3200" b="1" kern="0" dirty="0">
                <a:solidFill>
                  <a:srgbClr val="FFFF00"/>
                </a:solidFill>
                <a:latin typeface="Arial" charset="0"/>
              </a:rPr>
              <a:t>GROUP BY</a:t>
            </a:r>
            <a:r>
              <a:rPr kumimoji="1" lang="en-US" altLang="zh-CN" sz="3200" kern="0" dirty="0">
                <a:solidFill>
                  <a:srgbClr val="FFFFFF"/>
                </a:solidFill>
              </a:rPr>
              <a:t> </a:t>
            </a:r>
            <a:r>
              <a:rPr kumimoji="1" lang="en-US" altLang="zh-CN" sz="3200" kern="0" dirty="0"/>
              <a:t>&lt;</a:t>
            </a:r>
            <a:r>
              <a:rPr kumimoji="1" lang="zh-CN" altLang="en-US" sz="3200" i="1" kern="0" dirty="0"/>
              <a:t>列名</a:t>
            </a:r>
            <a:r>
              <a:rPr kumimoji="1" lang="en-US" altLang="zh-CN" sz="3200" i="1" kern="0" dirty="0"/>
              <a:t>1[,…]</a:t>
            </a:r>
            <a:r>
              <a:rPr kumimoji="1" lang="en-US" altLang="zh-CN" sz="3200" kern="0" dirty="0"/>
              <a:t>&gt; [</a:t>
            </a:r>
            <a:r>
              <a:rPr lang="en-US" altLang="zh-CN" sz="3200" b="1" kern="0" dirty="0">
                <a:solidFill>
                  <a:srgbClr val="FFFF00"/>
                </a:solidFill>
                <a:latin typeface="Arial" charset="0"/>
              </a:rPr>
              <a:t>HAVING </a:t>
            </a:r>
            <a:r>
              <a:rPr kumimoji="1" lang="en-US" altLang="zh-CN" sz="3200" kern="0" dirty="0"/>
              <a:t>&lt;</a:t>
            </a:r>
            <a:r>
              <a:rPr kumimoji="1" lang="zh-CN" altLang="en-US" sz="3200" i="1" kern="0" dirty="0"/>
              <a:t>条件表达式</a:t>
            </a:r>
            <a:r>
              <a:rPr kumimoji="1" lang="en-US" altLang="zh-CN" sz="3200" kern="0" dirty="0"/>
              <a:t>&gt;]]</a:t>
            </a:r>
          </a:p>
          <a:p>
            <a:pPr eaLnBrk="1" hangingPunct="1">
              <a:spcAft>
                <a:spcPts val="600"/>
              </a:spcAft>
              <a:buNone/>
              <a:defRPr/>
            </a:pPr>
            <a:r>
              <a:rPr kumimoji="1" lang="zh-CN" altLang="en-US" sz="3200" kern="0" dirty="0"/>
              <a:t>[</a:t>
            </a:r>
            <a:r>
              <a:rPr lang="en-US" altLang="zh-CN" sz="3200" b="1" kern="0" dirty="0">
                <a:solidFill>
                  <a:srgbClr val="FFFF00"/>
                </a:solidFill>
                <a:latin typeface="Arial" charset="0"/>
              </a:rPr>
              <a:t>ORDER BY </a:t>
            </a:r>
            <a:r>
              <a:rPr kumimoji="1" lang="en-US" altLang="zh-CN" sz="3200" kern="0" dirty="0"/>
              <a:t>&lt;</a:t>
            </a:r>
            <a:r>
              <a:rPr kumimoji="1" lang="zh-CN" altLang="en-US" sz="3200" i="1" kern="0" dirty="0"/>
              <a:t>列名2</a:t>
            </a:r>
            <a:r>
              <a:rPr kumimoji="1" lang="en-US" altLang="zh-CN" sz="3200" kern="0" dirty="0"/>
              <a:t>&gt; [ASC/DESC][,…]] </a:t>
            </a:r>
          </a:p>
        </p:txBody>
      </p:sp>
      <p:sp>
        <p:nvSpPr>
          <p:cNvPr id="3" name="圆角矩形标注 2"/>
          <p:cNvSpPr/>
          <p:nvPr/>
        </p:nvSpPr>
        <p:spPr>
          <a:xfrm>
            <a:off x="8112224" y="747139"/>
            <a:ext cx="2956590" cy="953669"/>
          </a:xfrm>
          <a:prstGeom prst="wedgeRoundRectCallout">
            <a:avLst>
              <a:gd name="adj1" fmla="val -35737"/>
              <a:gd name="adj2" fmla="val 93429"/>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ctr">
              <a:spcAft>
                <a:spcPct val="40000"/>
              </a:spcAft>
              <a:buClr>
                <a:srgbClr val="66FF33"/>
              </a:buClr>
              <a:buSzPct val="85000"/>
            </a:pPr>
            <a:r>
              <a:rPr lang="zh-CN" altLang="en-US" sz="4400" kern="0" dirty="0">
                <a:solidFill>
                  <a:srgbClr val="FF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一般格式：</a:t>
            </a:r>
            <a:endParaRPr lang="en-US" altLang="zh-CN" sz="4400" kern="0" dirty="0">
              <a:solidFill>
                <a:srgbClr val="FFFFCC"/>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sp>
        <p:nvSpPr>
          <p:cNvPr id="8" name="Rectangle 2"/>
          <p:cNvSpPr txBox="1">
            <a:spLocks noChangeArrowheads="1"/>
          </p:cNvSpPr>
          <p:nvPr/>
        </p:nvSpPr>
        <p:spPr bwMode="auto">
          <a:xfrm>
            <a:off x="139886" y="3737101"/>
            <a:ext cx="3868085" cy="1295520"/>
          </a:xfrm>
          <a:prstGeom prst="irregularSeal2">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noAutofit/>
          </a:bodyPr>
          <a:lstStyle>
            <a:defPPr>
              <a:defRPr lang="zh-CN"/>
            </a:defPPr>
            <a:lvl1pPr marR="0" lvl="0" indent="0" algn="ctr" fontAlgn="base">
              <a:lnSpc>
                <a:spcPct val="100000"/>
              </a:lnSpc>
              <a:spcBef>
                <a:spcPct val="0"/>
              </a:spcBef>
              <a:spcAft>
                <a:spcPct val="0"/>
              </a:spcAft>
              <a:buClrTx/>
              <a:buSzTx/>
              <a:buFontTx/>
              <a:buNone/>
              <a:tabLst/>
              <a:defRPr kumimoji="0" sz="3200" b="1" i="0" u="none" strike="noStrike" kern="0" cap="none" spc="0" normalizeH="0" baseline="0">
                <a:ln w="12700">
                  <a:solidFill>
                    <a:srgbClr val="A886E0"/>
                  </a:solidFill>
                  <a:prstDash val="solid"/>
                </a:ln>
                <a:solidFill>
                  <a:srgbClr val="003399"/>
                </a:solidFill>
                <a:effectLst/>
                <a:uLnTx/>
                <a:uFillTx/>
                <a:latin typeface="微软雅黑" pitchFamily="34" charset="-122"/>
                <a:ea typeface="微软雅黑" pitchFamily="34" charset="-122"/>
                <a:cs typeface="+mj-cs"/>
              </a:defRPr>
            </a:lvl1pPr>
            <a:lvl2pPr eaLnBrk="0" fontAlgn="base" hangingPunct="0">
              <a:spcBef>
                <a:spcPct val="0"/>
              </a:spcBef>
              <a:spcAft>
                <a:spcPct val="0"/>
              </a:spcAft>
              <a:defRPr sz="3000">
                <a:solidFill>
                  <a:srgbClr val="FF9900"/>
                </a:solidFill>
                <a:latin typeface="方正姚体" pitchFamily="2" charset="-122"/>
                <a:ea typeface="方正姚体" pitchFamily="2" charset="-122"/>
              </a:defRPr>
            </a:lvl2pPr>
            <a:lvl3pPr eaLnBrk="0" fontAlgn="base" hangingPunct="0">
              <a:spcBef>
                <a:spcPct val="0"/>
              </a:spcBef>
              <a:spcAft>
                <a:spcPct val="0"/>
              </a:spcAft>
              <a:defRPr sz="3000">
                <a:solidFill>
                  <a:srgbClr val="FF9900"/>
                </a:solidFill>
                <a:latin typeface="方正姚体" pitchFamily="2" charset="-122"/>
                <a:ea typeface="方正姚体" pitchFamily="2" charset="-122"/>
              </a:defRPr>
            </a:lvl3pPr>
            <a:lvl4pPr eaLnBrk="0" fontAlgn="base" hangingPunct="0">
              <a:spcBef>
                <a:spcPct val="0"/>
              </a:spcBef>
              <a:spcAft>
                <a:spcPct val="0"/>
              </a:spcAft>
              <a:defRPr sz="3000">
                <a:solidFill>
                  <a:srgbClr val="FF9900"/>
                </a:solidFill>
                <a:latin typeface="方正姚体" pitchFamily="2" charset="-122"/>
                <a:ea typeface="方正姚体" pitchFamily="2" charset="-122"/>
              </a:defRPr>
            </a:lvl4pPr>
            <a:lvl5pPr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fontAlgn="base">
              <a:spcBef>
                <a:spcPct val="0"/>
              </a:spcBef>
              <a:spcAft>
                <a:spcPct val="0"/>
              </a:spcAft>
              <a:defRPr sz="3000">
                <a:solidFill>
                  <a:srgbClr val="FF9900"/>
                </a:solidFill>
                <a:latin typeface="方正姚体" pitchFamily="2" charset="-122"/>
                <a:ea typeface="方正姚体" pitchFamily="2" charset="-122"/>
              </a:defRPr>
            </a:lvl6pPr>
            <a:lvl7pPr marL="914400" fontAlgn="base">
              <a:spcBef>
                <a:spcPct val="0"/>
              </a:spcBef>
              <a:spcAft>
                <a:spcPct val="0"/>
              </a:spcAft>
              <a:defRPr sz="3000">
                <a:solidFill>
                  <a:srgbClr val="FF9900"/>
                </a:solidFill>
                <a:latin typeface="方正姚体" pitchFamily="2" charset="-122"/>
                <a:ea typeface="方正姚体" pitchFamily="2" charset="-122"/>
              </a:defRPr>
            </a:lvl7pPr>
            <a:lvl8pPr marL="1371600" fontAlgn="base">
              <a:spcBef>
                <a:spcPct val="0"/>
              </a:spcBef>
              <a:spcAft>
                <a:spcPct val="0"/>
              </a:spcAft>
              <a:defRPr sz="3000">
                <a:solidFill>
                  <a:srgbClr val="FF9900"/>
                </a:solidFill>
                <a:latin typeface="方正姚体" pitchFamily="2" charset="-122"/>
                <a:ea typeface="方正姚体" pitchFamily="2" charset="-122"/>
              </a:defRPr>
            </a:lvl8pPr>
            <a:lvl9pPr marL="1828800" fontAlgn="base">
              <a:spcBef>
                <a:spcPct val="0"/>
              </a:spcBef>
              <a:spcAft>
                <a:spcPct val="0"/>
              </a:spcAft>
              <a:defRPr sz="3000">
                <a:solidFill>
                  <a:srgbClr val="FF9900"/>
                </a:solidFill>
                <a:latin typeface="方正姚体" pitchFamily="2" charset="-122"/>
                <a:ea typeface="方正姚体" pitchFamily="2" charset="-122"/>
              </a:defRPr>
            </a:lvl9pPr>
          </a:lstStyle>
          <a:p>
            <a:r>
              <a:rPr lang="zh-CN" altLang="en-US" sz="2800" dirty="0"/>
              <a:t>去哪儿查？</a:t>
            </a:r>
            <a:endParaRPr lang="en-US" altLang="zh-CN" sz="2800" dirty="0"/>
          </a:p>
        </p:txBody>
      </p:sp>
      <p:sp>
        <p:nvSpPr>
          <p:cNvPr id="9" name="Rectangle 2"/>
          <p:cNvSpPr txBox="1">
            <a:spLocks noChangeArrowheads="1"/>
          </p:cNvSpPr>
          <p:nvPr/>
        </p:nvSpPr>
        <p:spPr bwMode="auto">
          <a:xfrm>
            <a:off x="864955" y="5187075"/>
            <a:ext cx="2572419" cy="1079138"/>
          </a:xfrm>
          <a:custGeom>
            <a:avLst/>
            <a:gdLst>
              <a:gd name="connsiteX0" fmla="*/ 11462 w 21600"/>
              <a:gd name="connsiteY0" fmla="*/ 4342 h 21600"/>
              <a:gd name="connsiteX1" fmla="*/ 14790 w 21600"/>
              <a:gd name="connsiteY1" fmla="*/ 0 h 21600"/>
              <a:gd name="connsiteX2" fmla="*/ 14525 w 21600"/>
              <a:gd name="connsiteY2" fmla="*/ 5777 h 21600"/>
              <a:gd name="connsiteX3" fmla="*/ 18007 w 21600"/>
              <a:gd name="connsiteY3" fmla="*/ 3172 h 21600"/>
              <a:gd name="connsiteX4" fmla="*/ 16380 w 21600"/>
              <a:gd name="connsiteY4" fmla="*/ 6532 h 21600"/>
              <a:gd name="connsiteX5" fmla="*/ 21600 w 21600"/>
              <a:gd name="connsiteY5" fmla="*/ 6645 h 21600"/>
              <a:gd name="connsiteX6" fmla="*/ 16985 w 21600"/>
              <a:gd name="connsiteY6" fmla="*/ 9402 h 21600"/>
              <a:gd name="connsiteX7" fmla="*/ 18270 w 21600"/>
              <a:gd name="connsiteY7" fmla="*/ 11290 h 21600"/>
              <a:gd name="connsiteX8" fmla="*/ 16380 w 21600"/>
              <a:gd name="connsiteY8" fmla="*/ 12310 h 21600"/>
              <a:gd name="connsiteX9" fmla="*/ 18877 w 21600"/>
              <a:gd name="connsiteY9" fmla="*/ 15632 h 21600"/>
              <a:gd name="connsiteX10" fmla="*/ 14640 w 21600"/>
              <a:gd name="connsiteY10" fmla="*/ 14350 h 21600"/>
              <a:gd name="connsiteX11" fmla="*/ 14942 w 21600"/>
              <a:gd name="connsiteY11" fmla="*/ 17370 h 21600"/>
              <a:gd name="connsiteX12" fmla="*/ 12180 w 21600"/>
              <a:gd name="connsiteY12" fmla="*/ 15935 h 21600"/>
              <a:gd name="connsiteX13" fmla="*/ 11612 w 21600"/>
              <a:gd name="connsiteY13" fmla="*/ 18842 h 21600"/>
              <a:gd name="connsiteX14" fmla="*/ 9872 w 21600"/>
              <a:gd name="connsiteY14" fmla="*/ 17370 h 21600"/>
              <a:gd name="connsiteX15" fmla="*/ 8700 w 21600"/>
              <a:gd name="connsiteY15" fmla="*/ 19712 h 21600"/>
              <a:gd name="connsiteX16" fmla="*/ 7527 w 21600"/>
              <a:gd name="connsiteY16" fmla="*/ 18125 h 21600"/>
              <a:gd name="connsiteX17" fmla="*/ 4917 w 21600"/>
              <a:gd name="connsiteY17" fmla="*/ 21600 h 21600"/>
              <a:gd name="connsiteX18" fmla="*/ 4805 w 21600"/>
              <a:gd name="connsiteY18" fmla="*/ 18240 h 21600"/>
              <a:gd name="connsiteX19" fmla="*/ 1285 w 21600"/>
              <a:gd name="connsiteY19" fmla="*/ 17825 h 21600"/>
              <a:gd name="connsiteX20" fmla="*/ 3330 w 21600"/>
              <a:gd name="connsiteY20" fmla="*/ 15370 h 21600"/>
              <a:gd name="connsiteX21" fmla="*/ 0 w 21600"/>
              <a:gd name="connsiteY21" fmla="*/ 12877 h 21600"/>
              <a:gd name="connsiteX22" fmla="*/ 3935 w 21600"/>
              <a:gd name="connsiteY22" fmla="*/ 11592 h 21600"/>
              <a:gd name="connsiteX23" fmla="*/ 1172 w 21600"/>
              <a:gd name="connsiteY23" fmla="*/ 8270 h 21600"/>
              <a:gd name="connsiteX24" fmla="*/ 5372 w 21600"/>
              <a:gd name="connsiteY24" fmla="*/ 7817 h 21600"/>
              <a:gd name="connsiteX25" fmla="*/ 4502 w 21600"/>
              <a:gd name="connsiteY25" fmla="*/ 3625 h 21600"/>
              <a:gd name="connsiteX26" fmla="*/ 8550 w 21600"/>
              <a:gd name="connsiteY26" fmla="*/ 6382 h 21600"/>
              <a:gd name="connsiteX27" fmla="*/ 9722 w 21600"/>
              <a:gd name="connsiteY27" fmla="*/ 1887 h 21600"/>
              <a:gd name="connsiteX28" fmla="*/ 11462 w 21600"/>
              <a:gd name="connsiteY28" fmla="*/ 4342 h 21600"/>
              <a:gd name="connsiteX0" fmla="*/ 11462 w 21600"/>
              <a:gd name="connsiteY0" fmla="*/ 4342 h 21600"/>
              <a:gd name="connsiteX1" fmla="*/ 14790 w 21600"/>
              <a:gd name="connsiteY1" fmla="*/ 0 h 21600"/>
              <a:gd name="connsiteX2" fmla="*/ 14525 w 21600"/>
              <a:gd name="connsiteY2" fmla="*/ 5777 h 21600"/>
              <a:gd name="connsiteX3" fmla="*/ 18007 w 21600"/>
              <a:gd name="connsiteY3" fmla="*/ 3172 h 21600"/>
              <a:gd name="connsiteX4" fmla="*/ 16380 w 21600"/>
              <a:gd name="connsiteY4" fmla="*/ 6532 h 21600"/>
              <a:gd name="connsiteX5" fmla="*/ 21600 w 21600"/>
              <a:gd name="connsiteY5" fmla="*/ 6645 h 21600"/>
              <a:gd name="connsiteX6" fmla="*/ 16985 w 21600"/>
              <a:gd name="connsiteY6" fmla="*/ 9402 h 21600"/>
              <a:gd name="connsiteX7" fmla="*/ 18270 w 21600"/>
              <a:gd name="connsiteY7" fmla="*/ 11290 h 21600"/>
              <a:gd name="connsiteX8" fmla="*/ 16380 w 21600"/>
              <a:gd name="connsiteY8" fmla="*/ 12310 h 21600"/>
              <a:gd name="connsiteX9" fmla="*/ 18877 w 21600"/>
              <a:gd name="connsiteY9" fmla="*/ 15632 h 21600"/>
              <a:gd name="connsiteX10" fmla="*/ 14640 w 21600"/>
              <a:gd name="connsiteY10" fmla="*/ 14350 h 21600"/>
              <a:gd name="connsiteX11" fmla="*/ 16800 w 21600"/>
              <a:gd name="connsiteY11" fmla="*/ 19842 h 21600"/>
              <a:gd name="connsiteX12" fmla="*/ 12180 w 21600"/>
              <a:gd name="connsiteY12" fmla="*/ 15935 h 21600"/>
              <a:gd name="connsiteX13" fmla="*/ 11612 w 21600"/>
              <a:gd name="connsiteY13" fmla="*/ 18842 h 21600"/>
              <a:gd name="connsiteX14" fmla="*/ 9872 w 21600"/>
              <a:gd name="connsiteY14" fmla="*/ 17370 h 21600"/>
              <a:gd name="connsiteX15" fmla="*/ 8700 w 21600"/>
              <a:gd name="connsiteY15" fmla="*/ 19712 h 21600"/>
              <a:gd name="connsiteX16" fmla="*/ 7527 w 21600"/>
              <a:gd name="connsiteY16" fmla="*/ 18125 h 21600"/>
              <a:gd name="connsiteX17" fmla="*/ 4917 w 21600"/>
              <a:gd name="connsiteY17" fmla="*/ 21600 h 21600"/>
              <a:gd name="connsiteX18" fmla="*/ 4805 w 21600"/>
              <a:gd name="connsiteY18" fmla="*/ 18240 h 21600"/>
              <a:gd name="connsiteX19" fmla="*/ 1285 w 21600"/>
              <a:gd name="connsiteY19" fmla="*/ 17825 h 21600"/>
              <a:gd name="connsiteX20" fmla="*/ 3330 w 21600"/>
              <a:gd name="connsiteY20" fmla="*/ 15370 h 21600"/>
              <a:gd name="connsiteX21" fmla="*/ 0 w 21600"/>
              <a:gd name="connsiteY21" fmla="*/ 12877 h 21600"/>
              <a:gd name="connsiteX22" fmla="*/ 3935 w 21600"/>
              <a:gd name="connsiteY22" fmla="*/ 11592 h 21600"/>
              <a:gd name="connsiteX23" fmla="*/ 1172 w 21600"/>
              <a:gd name="connsiteY23" fmla="*/ 8270 h 21600"/>
              <a:gd name="connsiteX24" fmla="*/ 5372 w 21600"/>
              <a:gd name="connsiteY24" fmla="*/ 7817 h 21600"/>
              <a:gd name="connsiteX25" fmla="*/ 4502 w 21600"/>
              <a:gd name="connsiteY25" fmla="*/ 3625 h 21600"/>
              <a:gd name="connsiteX26" fmla="*/ 8550 w 21600"/>
              <a:gd name="connsiteY26" fmla="*/ 6382 h 21600"/>
              <a:gd name="connsiteX27" fmla="*/ 9722 w 21600"/>
              <a:gd name="connsiteY27" fmla="*/ 1887 h 21600"/>
              <a:gd name="connsiteX28" fmla="*/ 11462 w 21600"/>
              <a:gd name="connsiteY28" fmla="*/ 4342 h 21600"/>
              <a:gd name="connsiteX0" fmla="*/ 11462 w 21600"/>
              <a:gd name="connsiteY0" fmla="*/ 4342 h 21600"/>
              <a:gd name="connsiteX1" fmla="*/ 14790 w 21600"/>
              <a:gd name="connsiteY1" fmla="*/ 0 h 21600"/>
              <a:gd name="connsiteX2" fmla="*/ 14525 w 21600"/>
              <a:gd name="connsiteY2" fmla="*/ 5777 h 21600"/>
              <a:gd name="connsiteX3" fmla="*/ 18007 w 21600"/>
              <a:gd name="connsiteY3" fmla="*/ 3172 h 21600"/>
              <a:gd name="connsiteX4" fmla="*/ 16380 w 21600"/>
              <a:gd name="connsiteY4" fmla="*/ 6532 h 21600"/>
              <a:gd name="connsiteX5" fmla="*/ 21600 w 21600"/>
              <a:gd name="connsiteY5" fmla="*/ 6645 h 21600"/>
              <a:gd name="connsiteX6" fmla="*/ 16985 w 21600"/>
              <a:gd name="connsiteY6" fmla="*/ 9402 h 21600"/>
              <a:gd name="connsiteX7" fmla="*/ 18270 w 21600"/>
              <a:gd name="connsiteY7" fmla="*/ 11290 h 21600"/>
              <a:gd name="connsiteX8" fmla="*/ 16380 w 21600"/>
              <a:gd name="connsiteY8" fmla="*/ 12310 h 21600"/>
              <a:gd name="connsiteX9" fmla="*/ 18877 w 21600"/>
              <a:gd name="connsiteY9" fmla="*/ 15632 h 21600"/>
              <a:gd name="connsiteX10" fmla="*/ 14640 w 21600"/>
              <a:gd name="connsiteY10" fmla="*/ 14350 h 21600"/>
              <a:gd name="connsiteX11" fmla="*/ 16800 w 21600"/>
              <a:gd name="connsiteY11" fmla="*/ 19842 h 21600"/>
              <a:gd name="connsiteX12" fmla="*/ 12799 w 21600"/>
              <a:gd name="connsiteY12" fmla="*/ 17665 h 21600"/>
              <a:gd name="connsiteX13" fmla="*/ 11612 w 21600"/>
              <a:gd name="connsiteY13" fmla="*/ 18842 h 21600"/>
              <a:gd name="connsiteX14" fmla="*/ 9872 w 21600"/>
              <a:gd name="connsiteY14" fmla="*/ 17370 h 21600"/>
              <a:gd name="connsiteX15" fmla="*/ 8700 w 21600"/>
              <a:gd name="connsiteY15" fmla="*/ 19712 h 21600"/>
              <a:gd name="connsiteX16" fmla="*/ 7527 w 21600"/>
              <a:gd name="connsiteY16" fmla="*/ 18125 h 21600"/>
              <a:gd name="connsiteX17" fmla="*/ 4917 w 21600"/>
              <a:gd name="connsiteY17" fmla="*/ 21600 h 21600"/>
              <a:gd name="connsiteX18" fmla="*/ 4805 w 21600"/>
              <a:gd name="connsiteY18" fmla="*/ 18240 h 21600"/>
              <a:gd name="connsiteX19" fmla="*/ 1285 w 21600"/>
              <a:gd name="connsiteY19" fmla="*/ 17825 h 21600"/>
              <a:gd name="connsiteX20" fmla="*/ 3330 w 21600"/>
              <a:gd name="connsiteY20" fmla="*/ 15370 h 21600"/>
              <a:gd name="connsiteX21" fmla="*/ 0 w 21600"/>
              <a:gd name="connsiteY21" fmla="*/ 12877 h 21600"/>
              <a:gd name="connsiteX22" fmla="*/ 3935 w 21600"/>
              <a:gd name="connsiteY22" fmla="*/ 11592 h 21600"/>
              <a:gd name="connsiteX23" fmla="*/ 1172 w 21600"/>
              <a:gd name="connsiteY23" fmla="*/ 8270 h 21600"/>
              <a:gd name="connsiteX24" fmla="*/ 5372 w 21600"/>
              <a:gd name="connsiteY24" fmla="*/ 7817 h 21600"/>
              <a:gd name="connsiteX25" fmla="*/ 4502 w 21600"/>
              <a:gd name="connsiteY25" fmla="*/ 3625 h 21600"/>
              <a:gd name="connsiteX26" fmla="*/ 8550 w 21600"/>
              <a:gd name="connsiteY26" fmla="*/ 6382 h 21600"/>
              <a:gd name="connsiteX27" fmla="*/ 9722 w 21600"/>
              <a:gd name="connsiteY27" fmla="*/ 1887 h 21600"/>
              <a:gd name="connsiteX28" fmla="*/ 11462 w 21600"/>
              <a:gd name="connsiteY28" fmla="*/ 4342 h 21600"/>
              <a:gd name="connsiteX0" fmla="*/ 11462 w 21600"/>
              <a:gd name="connsiteY0" fmla="*/ 4342 h 21600"/>
              <a:gd name="connsiteX1" fmla="*/ 14790 w 21600"/>
              <a:gd name="connsiteY1" fmla="*/ 0 h 21600"/>
              <a:gd name="connsiteX2" fmla="*/ 14525 w 21600"/>
              <a:gd name="connsiteY2" fmla="*/ 5777 h 21600"/>
              <a:gd name="connsiteX3" fmla="*/ 18007 w 21600"/>
              <a:gd name="connsiteY3" fmla="*/ 3172 h 21600"/>
              <a:gd name="connsiteX4" fmla="*/ 16380 w 21600"/>
              <a:gd name="connsiteY4" fmla="*/ 6532 h 21600"/>
              <a:gd name="connsiteX5" fmla="*/ 21600 w 21600"/>
              <a:gd name="connsiteY5" fmla="*/ 6645 h 21600"/>
              <a:gd name="connsiteX6" fmla="*/ 16985 w 21600"/>
              <a:gd name="connsiteY6" fmla="*/ 9402 h 21600"/>
              <a:gd name="connsiteX7" fmla="*/ 18270 w 21600"/>
              <a:gd name="connsiteY7" fmla="*/ 11290 h 21600"/>
              <a:gd name="connsiteX8" fmla="*/ 17495 w 21600"/>
              <a:gd name="connsiteY8" fmla="*/ 12928 h 21600"/>
              <a:gd name="connsiteX9" fmla="*/ 18877 w 21600"/>
              <a:gd name="connsiteY9" fmla="*/ 15632 h 21600"/>
              <a:gd name="connsiteX10" fmla="*/ 14640 w 21600"/>
              <a:gd name="connsiteY10" fmla="*/ 14350 h 21600"/>
              <a:gd name="connsiteX11" fmla="*/ 16800 w 21600"/>
              <a:gd name="connsiteY11" fmla="*/ 19842 h 21600"/>
              <a:gd name="connsiteX12" fmla="*/ 12799 w 21600"/>
              <a:gd name="connsiteY12" fmla="*/ 17665 h 21600"/>
              <a:gd name="connsiteX13" fmla="*/ 11612 w 21600"/>
              <a:gd name="connsiteY13" fmla="*/ 18842 h 21600"/>
              <a:gd name="connsiteX14" fmla="*/ 9872 w 21600"/>
              <a:gd name="connsiteY14" fmla="*/ 17370 h 21600"/>
              <a:gd name="connsiteX15" fmla="*/ 8700 w 21600"/>
              <a:gd name="connsiteY15" fmla="*/ 19712 h 21600"/>
              <a:gd name="connsiteX16" fmla="*/ 7527 w 21600"/>
              <a:gd name="connsiteY16" fmla="*/ 18125 h 21600"/>
              <a:gd name="connsiteX17" fmla="*/ 4917 w 21600"/>
              <a:gd name="connsiteY17" fmla="*/ 21600 h 21600"/>
              <a:gd name="connsiteX18" fmla="*/ 4805 w 21600"/>
              <a:gd name="connsiteY18" fmla="*/ 18240 h 21600"/>
              <a:gd name="connsiteX19" fmla="*/ 1285 w 21600"/>
              <a:gd name="connsiteY19" fmla="*/ 17825 h 21600"/>
              <a:gd name="connsiteX20" fmla="*/ 3330 w 21600"/>
              <a:gd name="connsiteY20" fmla="*/ 15370 h 21600"/>
              <a:gd name="connsiteX21" fmla="*/ 0 w 21600"/>
              <a:gd name="connsiteY21" fmla="*/ 12877 h 21600"/>
              <a:gd name="connsiteX22" fmla="*/ 3935 w 21600"/>
              <a:gd name="connsiteY22" fmla="*/ 11592 h 21600"/>
              <a:gd name="connsiteX23" fmla="*/ 1172 w 21600"/>
              <a:gd name="connsiteY23" fmla="*/ 8270 h 21600"/>
              <a:gd name="connsiteX24" fmla="*/ 5372 w 21600"/>
              <a:gd name="connsiteY24" fmla="*/ 7817 h 21600"/>
              <a:gd name="connsiteX25" fmla="*/ 4502 w 21600"/>
              <a:gd name="connsiteY25" fmla="*/ 3625 h 21600"/>
              <a:gd name="connsiteX26" fmla="*/ 8550 w 21600"/>
              <a:gd name="connsiteY26" fmla="*/ 6382 h 21600"/>
              <a:gd name="connsiteX27" fmla="*/ 9722 w 21600"/>
              <a:gd name="connsiteY27" fmla="*/ 1887 h 21600"/>
              <a:gd name="connsiteX28" fmla="*/ 11462 w 21600"/>
              <a:gd name="connsiteY28" fmla="*/ 4342 h 21600"/>
              <a:gd name="connsiteX0" fmla="*/ 11462 w 21600"/>
              <a:gd name="connsiteY0" fmla="*/ 4342 h 21600"/>
              <a:gd name="connsiteX1" fmla="*/ 14790 w 21600"/>
              <a:gd name="connsiteY1" fmla="*/ 0 h 21600"/>
              <a:gd name="connsiteX2" fmla="*/ 14525 w 21600"/>
              <a:gd name="connsiteY2" fmla="*/ 5777 h 21600"/>
              <a:gd name="connsiteX3" fmla="*/ 18007 w 21600"/>
              <a:gd name="connsiteY3" fmla="*/ 3172 h 21600"/>
              <a:gd name="connsiteX4" fmla="*/ 16380 w 21600"/>
              <a:gd name="connsiteY4" fmla="*/ 6532 h 21600"/>
              <a:gd name="connsiteX5" fmla="*/ 21600 w 21600"/>
              <a:gd name="connsiteY5" fmla="*/ 6645 h 21600"/>
              <a:gd name="connsiteX6" fmla="*/ 16985 w 21600"/>
              <a:gd name="connsiteY6" fmla="*/ 9402 h 21600"/>
              <a:gd name="connsiteX7" fmla="*/ 20128 w 21600"/>
              <a:gd name="connsiteY7" fmla="*/ 10672 h 21600"/>
              <a:gd name="connsiteX8" fmla="*/ 17495 w 21600"/>
              <a:gd name="connsiteY8" fmla="*/ 12928 h 21600"/>
              <a:gd name="connsiteX9" fmla="*/ 18877 w 21600"/>
              <a:gd name="connsiteY9" fmla="*/ 15632 h 21600"/>
              <a:gd name="connsiteX10" fmla="*/ 14640 w 21600"/>
              <a:gd name="connsiteY10" fmla="*/ 14350 h 21600"/>
              <a:gd name="connsiteX11" fmla="*/ 16800 w 21600"/>
              <a:gd name="connsiteY11" fmla="*/ 19842 h 21600"/>
              <a:gd name="connsiteX12" fmla="*/ 12799 w 21600"/>
              <a:gd name="connsiteY12" fmla="*/ 17665 h 21600"/>
              <a:gd name="connsiteX13" fmla="*/ 11612 w 21600"/>
              <a:gd name="connsiteY13" fmla="*/ 18842 h 21600"/>
              <a:gd name="connsiteX14" fmla="*/ 9872 w 21600"/>
              <a:gd name="connsiteY14" fmla="*/ 17370 h 21600"/>
              <a:gd name="connsiteX15" fmla="*/ 8700 w 21600"/>
              <a:gd name="connsiteY15" fmla="*/ 19712 h 21600"/>
              <a:gd name="connsiteX16" fmla="*/ 7527 w 21600"/>
              <a:gd name="connsiteY16" fmla="*/ 18125 h 21600"/>
              <a:gd name="connsiteX17" fmla="*/ 4917 w 21600"/>
              <a:gd name="connsiteY17" fmla="*/ 21600 h 21600"/>
              <a:gd name="connsiteX18" fmla="*/ 4805 w 21600"/>
              <a:gd name="connsiteY18" fmla="*/ 18240 h 21600"/>
              <a:gd name="connsiteX19" fmla="*/ 1285 w 21600"/>
              <a:gd name="connsiteY19" fmla="*/ 17825 h 21600"/>
              <a:gd name="connsiteX20" fmla="*/ 3330 w 21600"/>
              <a:gd name="connsiteY20" fmla="*/ 15370 h 21600"/>
              <a:gd name="connsiteX21" fmla="*/ 0 w 21600"/>
              <a:gd name="connsiteY21" fmla="*/ 12877 h 21600"/>
              <a:gd name="connsiteX22" fmla="*/ 3935 w 21600"/>
              <a:gd name="connsiteY22" fmla="*/ 11592 h 21600"/>
              <a:gd name="connsiteX23" fmla="*/ 1172 w 21600"/>
              <a:gd name="connsiteY23" fmla="*/ 8270 h 21600"/>
              <a:gd name="connsiteX24" fmla="*/ 5372 w 21600"/>
              <a:gd name="connsiteY24" fmla="*/ 7817 h 21600"/>
              <a:gd name="connsiteX25" fmla="*/ 4502 w 21600"/>
              <a:gd name="connsiteY25" fmla="*/ 3625 h 21600"/>
              <a:gd name="connsiteX26" fmla="*/ 8550 w 21600"/>
              <a:gd name="connsiteY26" fmla="*/ 6382 h 21600"/>
              <a:gd name="connsiteX27" fmla="*/ 9722 w 21600"/>
              <a:gd name="connsiteY27" fmla="*/ 1887 h 21600"/>
              <a:gd name="connsiteX28" fmla="*/ 11462 w 21600"/>
              <a:gd name="connsiteY28" fmla="*/ 4342 h 21600"/>
              <a:gd name="connsiteX0" fmla="*/ 11462 w 21600"/>
              <a:gd name="connsiteY0" fmla="*/ 4342 h 21600"/>
              <a:gd name="connsiteX1" fmla="*/ 14790 w 21600"/>
              <a:gd name="connsiteY1" fmla="*/ 0 h 21600"/>
              <a:gd name="connsiteX2" fmla="*/ 14525 w 21600"/>
              <a:gd name="connsiteY2" fmla="*/ 5777 h 21600"/>
              <a:gd name="connsiteX3" fmla="*/ 18007 w 21600"/>
              <a:gd name="connsiteY3" fmla="*/ 3172 h 21600"/>
              <a:gd name="connsiteX4" fmla="*/ 16380 w 21600"/>
              <a:gd name="connsiteY4" fmla="*/ 6532 h 21600"/>
              <a:gd name="connsiteX5" fmla="*/ 21600 w 21600"/>
              <a:gd name="connsiteY5" fmla="*/ 6645 h 21600"/>
              <a:gd name="connsiteX6" fmla="*/ 18471 w 21600"/>
              <a:gd name="connsiteY6" fmla="*/ 8784 h 21600"/>
              <a:gd name="connsiteX7" fmla="*/ 20128 w 21600"/>
              <a:gd name="connsiteY7" fmla="*/ 10672 h 21600"/>
              <a:gd name="connsiteX8" fmla="*/ 17495 w 21600"/>
              <a:gd name="connsiteY8" fmla="*/ 12928 h 21600"/>
              <a:gd name="connsiteX9" fmla="*/ 18877 w 21600"/>
              <a:gd name="connsiteY9" fmla="*/ 15632 h 21600"/>
              <a:gd name="connsiteX10" fmla="*/ 14640 w 21600"/>
              <a:gd name="connsiteY10" fmla="*/ 14350 h 21600"/>
              <a:gd name="connsiteX11" fmla="*/ 16800 w 21600"/>
              <a:gd name="connsiteY11" fmla="*/ 19842 h 21600"/>
              <a:gd name="connsiteX12" fmla="*/ 12799 w 21600"/>
              <a:gd name="connsiteY12" fmla="*/ 17665 h 21600"/>
              <a:gd name="connsiteX13" fmla="*/ 11612 w 21600"/>
              <a:gd name="connsiteY13" fmla="*/ 18842 h 21600"/>
              <a:gd name="connsiteX14" fmla="*/ 9872 w 21600"/>
              <a:gd name="connsiteY14" fmla="*/ 17370 h 21600"/>
              <a:gd name="connsiteX15" fmla="*/ 8700 w 21600"/>
              <a:gd name="connsiteY15" fmla="*/ 19712 h 21600"/>
              <a:gd name="connsiteX16" fmla="*/ 7527 w 21600"/>
              <a:gd name="connsiteY16" fmla="*/ 18125 h 21600"/>
              <a:gd name="connsiteX17" fmla="*/ 4917 w 21600"/>
              <a:gd name="connsiteY17" fmla="*/ 21600 h 21600"/>
              <a:gd name="connsiteX18" fmla="*/ 4805 w 21600"/>
              <a:gd name="connsiteY18" fmla="*/ 18240 h 21600"/>
              <a:gd name="connsiteX19" fmla="*/ 1285 w 21600"/>
              <a:gd name="connsiteY19" fmla="*/ 17825 h 21600"/>
              <a:gd name="connsiteX20" fmla="*/ 3330 w 21600"/>
              <a:gd name="connsiteY20" fmla="*/ 15370 h 21600"/>
              <a:gd name="connsiteX21" fmla="*/ 0 w 21600"/>
              <a:gd name="connsiteY21" fmla="*/ 12877 h 21600"/>
              <a:gd name="connsiteX22" fmla="*/ 3935 w 21600"/>
              <a:gd name="connsiteY22" fmla="*/ 11592 h 21600"/>
              <a:gd name="connsiteX23" fmla="*/ 1172 w 21600"/>
              <a:gd name="connsiteY23" fmla="*/ 8270 h 21600"/>
              <a:gd name="connsiteX24" fmla="*/ 5372 w 21600"/>
              <a:gd name="connsiteY24" fmla="*/ 7817 h 21600"/>
              <a:gd name="connsiteX25" fmla="*/ 4502 w 21600"/>
              <a:gd name="connsiteY25" fmla="*/ 3625 h 21600"/>
              <a:gd name="connsiteX26" fmla="*/ 8550 w 21600"/>
              <a:gd name="connsiteY26" fmla="*/ 6382 h 21600"/>
              <a:gd name="connsiteX27" fmla="*/ 9722 w 21600"/>
              <a:gd name="connsiteY27" fmla="*/ 1887 h 21600"/>
              <a:gd name="connsiteX28" fmla="*/ 11462 w 21600"/>
              <a:gd name="connsiteY28" fmla="*/ 4342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600" h="21600">
                <a:moveTo>
                  <a:pt x="11462" y="4342"/>
                </a:moveTo>
                <a:lnTo>
                  <a:pt x="14790" y="0"/>
                </a:lnTo>
                <a:cubicBezTo>
                  <a:pt x="14702" y="1926"/>
                  <a:pt x="14613" y="3851"/>
                  <a:pt x="14525" y="5777"/>
                </a:cubicBezTo>
                <a:lnTo>
                  <a:pt x="18007" y="3172"/>
                </a:lnTo>
                <a:lnTo>
                  <a:pt x="16380" y="6532"/>
                </a:lnTo>
                <a:lnTo>
                  <a:pt x="21600" y="6645"/>
                </a:lnTo>
                <a:lnTo>
                  <a:pt x="18471" y="8784"/>
                </a:lnTo>
                <a:lnTo>
                  <a:pt x="20128" y="10672"/>
                </a:lnTo>
                <a:lnTo>
                  <a:pt x="17495" y="12928"/>
                </a:lnTo>
                <a:lnTo>
                  <a:pt x="18877" y="15632"/>
                </a:lnTo>
                <a:lnTo>
                  <a:pt x="14640" y="14350"/>
                </a:lnTo>
                <a:cubicBezTo>
                  <a:pt x="14741" y="15357"/>
                  <a:pt x="16699" y="18835"/>
                  <a:pt x="16800" y="19842"/>
                </a:cubicBezTo>
                <a:lnTo>
                  <a:pt x="12799" y="17665"/>
                </a:lnTo>
                <a:lnTo>
                  <a:pt x="11612" y="18842"/>
                </a:lnTo>
                <a:lnTo>
                  <a:pt x="9872" y="17370"/>
                </a:lnTo>
                <a:lnTo>
                  <a:pt x="8700" y="19712"/>
                </a:lnTo>
                <a:lnTo>
                  <a:pt x="7527" y="18125"/>
                </a:lnTo>
                <a:lnTo>
                  <a:pt x="4917" y="21600"/>
                </a:lnTo>
                <a:cubicBezTo>
                  <a:pt x="4880" y="20480"/>
                  <a:pt x="4842" y="19360"/>
                  <a:pt x="4805" y="18240"/>
                </a:cubicBezTo>
                <a:lnTo>
                  <a:pt x="1285" y="17825"/>
                </a:lnTo>
                <a:lnTo>
                  <a:pt x="3330" y="15370"/>
                </a:lnTo>
                <a:lnTo>
                  <a:pt x="0" y="12877"/>
                </a:lnTo>
                <a:lnTo>
                  <a:pt x="3935" y="11592"/>
                </a:lnTo>
                <a:lnTo>
                  <a:pt x="1172" y="8270"/>
                </a:lnTo>
                <a:lnTo>
                  <a:pt x="5372" y="7817"/>
                </a:lnTo>
                <a:lnTo>
                  <a:pt x="4502" y="3625"/>
                </a:lnTo>
                <a:lnTo>
                  <a:pt x="8550" y="6382"/>
                </a:lnTo>
                <a:lnTo>
                  <a:pt x="9722" y="1887"/>
                </a:lnTo>
                <a:lnTo>
                  <a:pt x="11462" y="4342"/>
                </a:lnTo>
                <a:close/>
              </a:path>
            </a:pathLst>
          </a:cu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no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0" cap="none" spc="0" normalizeH="0" baseline="0" noProof="0" dirty="0">
                <a:ln w="12700">
                  <a:solidFill>
                    <a:srgbClr val="A886E0"/>
                  </a:solidFill>
                  <a:prstDash val="solid"/>
                </a:ln>
                <a:solidFill>
                  <a:srgbClr val="003399"/>
                </a:solidFill>
                <a:effectLst/>
                <a:uLnTx/>
                <a:uFillTx/>
                <a:latin typeface="微软雅黑" pitchFamily="34" charset="-122"/>
                <a:ea typeface="微软雅黑" pitchFamily="34" charset="-122"/>
                <a:cs typeface="+mj-cs"/>
              </a:rPr>
              <a:t>列结构？</a:t>
            </a:r>
            <a:endParaRPr kumimoji="0" lang="en-US" altLang="zh-CN" sz="2800" b="1" i="0" u="none" strike="noStrike" kern="0" cap="none" spc="0" normalizeH="0" baseline="0" noProof="0" dirty="0">
              <a:ln w="12700">
                <a:solidFill>
                  <a:srgbClr val="A886E0"/>
                </a:solidFill>
                <a:prstDash val="solid"/>
              </a:ln>
              <a:solidFill>
                <a:srgbClr val="003399"/>
              </a:solidFill>
              <a:effectLst/>
              <a:uLnTx/>
              <a:uFillTx/>
              <a:latin typeface="微软雅黑" pitchFamily="34" charset="-122"/>
              <a:ea typeface="微软雅黑" pitchFamily="34" charset="-122"/>
              <a:cs typeface="+mj-cs"/>
            </a:endParaRPr>
          </a:p>
        </p:txBody>
      </p:sp>
      <p:sp>
        <p:nvSpPr>
          <p:cNvPr id="10" name="Rectangle 2"/>
          <p:cNvSpPr txBox="1">
            <a:spLocks noChangeArrowheads="1"/>
          </p:cNvSpPr>
          <p:nvPr/>
        </p:nvSpPr>
        <p:spPr bwMode="auto">
          <a:xfrm>
            <a:off x="3047293" y="4412669"/>
            <a:ext cx="1842000" cy="1469469"/>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sz="2800" b="1" kern="0" noProof="0" dirty="0">
                <a:ln w="12700">
                  <a:solidFill>
                    <a:srgbClr val="A886E0"/>
                  </a:solidFill>
                  <a:prstDash val="solid"/>
                </a:ln>
                <a:solidFill>
                  <a:srgbClr val="003399"/>
                </a:solidFill>
                <a:effectLst/>
              </a:rPr>
              <a:t>选行？</a:t>
            </a:r>
            <a:endParaRPr kumimoji="0" lang="en-US" altLang="zh-CN" sz="2800" b="1" i="0" u="none" strike="noStrike" kern="0" cap="none" spc="0" normalizeH="0" baseline="0" noProof="0" dirty="0">
              <a:ln w="12700">
                <a:solidFill>
                  <a:srgbClr val="A886E0"/>
                </a:solidFill>
                <a:prstDash val="solid"/>
              </a:ln>
              <a:solidFill>
                <a:srgbClr val="003399"/>
              </a:solidFill>
              <a:effectLst/>
              <a:uLnTx/>
              <a:uFillTx/>
            </a:endParaRPr>
          </a:p>
        </p:txBody>
      </p:sp>
      <p:sp>
        <p:nvSpPr>
          <p:cNvPr id="11" name="Rectangle 2"/>
          <p:cNvSpPr txBox="1">
            <a:spLocks noChangeArrowheads="1"/>
          </p:cNvSpPr>
          <p:nvPr/>
        </p:nvSpPr>
        <p:spPr bwMode="auto">
          <a:xfrm>
            <a:off x="6526572" y="4480793"/>
            <a:ext cx="1827680" cy="2179952"/>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noAutofit/>
          </a:bodyPr>
          <a:lstStyle>
            <a:defPPr>
              <a:defRPr lang="zh-CN"/>
            </a:defPPr>
            <a:lvl1pPr marR="0" lvl="0" indent="0" algn="ctr" fontAlgn="base">
              <a:lnSpc>
                <a:spcPct val="100000"/>
              </a:lnSpc>
              <a:spcBef>
                <a:spcPct val="0"/>
              </a:spcBef>
              <a:spcAft>
                <a:spcPct val="0"/>
              </a:spcAft>
              <a:buClrTx/>
              <a:buSzTx/>
              <a:buFontTx/>
              <a:buNone/>
              <a:tabLst/>
              <a:defRPr kumimoji="0" sz="3200" b="1" i="0" u="none" strike="noStrike" kern="0" cap="none" spc="0" normalizeH="0" baseline="0">
                <a:ln w="12700">
                  <a:solidFill>
                    <a:srgbClr val="A886E0"/>
                  </a:solidFill>
                  <a:prstDash val="solid"/>
                </a:ln>
                <a:solidFill>
                  <a:srgbClr val="003399"/>
                </a:solidFill>
                <a:effectLst/>
                <a:uLnTx/>
                <a:uFillTx/>
                <a:latin typeface="微软雅黑" pitchFamily="34" charset="-122"/>
                <a:ea typeface="微软雅黑" pitchFamily="34" charset="-122"/>
                <a:cs typeface="+mj-cs"/>
              </a:defRPr>
            </a:lvl1pPr>
            <a:lvl2pPr eaLnBrk="0" fontAlgn="base" hangingPunct="0">
              <a:spcBef>
                <a:spcPct val="0"/>
              </a:spcBef>
              <a:spcAft>
                <a:spcPct val="0"/>
              </a:spcAft>
              <a:defRPr sz="3000">
                <a:solidFill>
                  <a:srgbClr val="FF9900"/>
                </a:solidFill>
                <a:latin typeface="方正姚体" pitchFamily="2" charset="-122"/>
                <a:ea typeface="方正姚体" pitchFamily="2" charset="-122"/>
              </a:defRPr>
            </a:lvl2pPr>
            <a:lvl3pPr eaLnBrk="0" fontAlgn="base" hangingPunct="0">
              <a:spcBef>
                <a:spcPct val="0"/>
              </a:spcBef>
              <a:spcAft>
                <a:spcPct val="0"/>
              </a:spcAft>
              <a:defRPr sz="3000">
                <a:solidFill>
                  <a:srgbClr val="FF9900"/>
                </a:solidFill>
                <a:latin typeface="方正姚体" pitchFamily="2" charset="-122"/>
                <a:ea typeface="方正姚体" pitchFamily="2" charset="-122"/>
              </a:defRPr>
            </a:lvl3pPr>
            <a:lvl4pPr eaLnBrk="0" fontAlgn="base" hangingPunct="0">
              <a:spcBef>
                <a:spcPct val="0"/>
              </a:spcBef>
              <a:spcAft>
                <a:spcPct val="0"/>
              </a:spcAft>
              <a:defRPr sz="3000">
                <a:solidFill>
                  <a:srgbClr val="FF9900"/>
                </a:solidFill>
                <a:latin typeface="方正姚体" pitchFamily="2" charset="-122"/>
                <a:ea typeface="方正姚体" pitchFamily="2" charset="-122"/>
              </a:defRPr>
            </a:lvl4pPr>
            <a:lvl5pPr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fontAlgn="base">
              <a:spcBef>
                <a:spcPct val="0"/>
              </a:spcBef>
              <a:spcAft>
                <a:spcPct val="0"/>
              </a:spcAft>
              <a:defRPr sz="3000">
                <a:solidFill>
                  <a:srgbClr val="FF9900"/>
                </a:solidFill>
                <a:latin typeface="方正姚体" pitchFamily="2" charset="-122"/>
                <a:ea typeface="方正姚体" pitchFamily="2" charset="-122"/>
              </a:defRPr>
            </a:lvl6pPr>
            <a:lvl7pPr marL="914400" fontAlgn="base">
              <a:spcBef>
                <a:spcPct val="0"/>
              </a:spcBef>
              <a:spcAft>
                <a:spcPct val="0"/>
              </a:spcAft>
              <a:defRPr sz="3000">
                <a:solidFill>
                  <a:srgbClr val="FF9900"/>
                </a:solidFill>
                <a:latin typeface="方正姚体" pitchFamily="2" charset="-122"/>
                <a:ea typeface="方正姚体" pitchFamily="2" charset="-122"/>
              </a:defRPr>
            </a:lvl7pPr>
            <a:lvl8pPr marL="1371600" fontAlgn="base">
              <a:spcBef>
                <a:spcPct val="0"/>
              </a:spcBef>
              <a:spcAft>
                <a:spcPct val="0"/>
              </a:spcAft>
              <a:defRPr sz="3000">
                <a:solidFill>
                  <a:srgbClr val="FF9900"/>
                </a:solidFill>
                <a:latin typeface="方正姚体" pitchFamily="2" charset="-122"/>
                <a:ea typeface="方正姚体" pitchFamily="2" charset="-122"/>
              </a:defRPr>
            </a:lvl8pPr>
            <a:lvl9pPr marL="1828800" fontAlgn="base">
              <a:spcBef>
                <a:spcPct val="0"/>
              </a:spcBef>
              <a:spcAft>
                <a:spcPct val="0"/>
              </a:spcAft>
              <a:defRPr sz="3000">
                <a:solidFill>
                  <a:srgbClr val="FF9900"/>
                </a:solidFill>
                <a:latin typeface="方正姚体" pitchFamily="2" charset="-122"/>
                <a:ea typeface="方正姚体" pitchFamily="2" charset="-122"/>
              </a:defRPr>
            </a:lvl9pPr>
          </a:lstStyle>
          <a:p>
            <a:pPr algn="l"/>
            <a:r>
              <a:rPr lang="zh-CN" altLang="en-US" sz="2800" dirty="0"/>
              <a:t>结果</a:t>
            </a:r>
            <a:endParaRPr lang="en-US" altLang="zh-CN" sz="2800" dirty="0"/>
          </a:p>
          <a:p>
            <a:pPr algn="l"/>
            <a:r>
              <a:rPr lang="zh-CN" altLang="en-US" sz="2800" dirty="0"/>
              <a:t>排序</a:t>
            </a:r>
            <a:endParaRPr lang="en-US" altLang="zh-CN" sz="2800" dirty="0"/>
          </a:p>
        </p:txBody>
      </p:sp>
      <p:sp>
        <p:nvSpPr>
          <p:cNvPr id="12" name="Rectangle 2"/>
          <p:cNvSpPr txBox="1">
            <a:spLocks noChangeArrowheads="1"/>
          </p:cNvSpPr>
          <p:nvPr/>
        </p:nvSpPr>
        <p:spPr bwMode="auto">
          <a:xfrm>
            <a:off x="4848615" y="3847264"/>
            <a:ext cx="1677957" cy="2679621"/>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sz="2800" b="1" kern="0" dirty="0">
                <a:ln w="12700">
                  <a:solidFill>
                    <a:srgbClr val="A886E0"/>
                  </a:solidFill>
                  <a:prstDash val="solid"/>
                </a:ln>
                <a:solidFill>
                  <a:srgbClr val="003399"/>
                </a:solidFill>
                <a:effectLst/>
              </a:rPr>
              <a:t>统计查询</a:t>
            </a:r>
            <a:endParaRPr kumimoji="0" lang="en-US" altLang="zh-CN" sz="2800" b="1" i="0" u="none" strike="noStrike" kern="0" cap="none" spc="0" normalizeH="0" baseline="0" noProof="0" dirty="0">
              <a:ln w="12700">
                <a:solidFill>
                  <a:srgbClr val="A886E0"/>
                </a:solidFill>
                <a:prstDash val="solid"/>
              </a:ln>
              <a:solidFill>
                <a:srgbClr val="003399"/>
              </a:solidFill>
              <a:effectLst/>
              <a:uLnTx/>
              <a:uFillTx/>
            </a:endParaRPr>
          </a:p>
        </p:txBody>
      </p:sp>
      <p:sp>
        <p:nvSpPr>
          <p:cNvPr id="13" name="Rectangle 2">
            <a:extLst>
              <a:ext uri="{FF2B5EF4-FFF2-40B4-BE49-F238E27FC236}">
                <a16:creationId xmlns:a16="http://schemas.microsoft.com/office/drawing/2014/main" id="{02E089B1-9661-44FB-8417-84385DC1298A}"/>
              </a:ext>
            </a:extLst>
          </p:cNvPr>
          <p:cNvSpPr txBox="1">
            <a:spLocks noChangeArrowheads="1"/>
          </p:cNvSpPr>
          <p:nvPr/>
        </p:nvSpPr>
        <p:spPr bwMode="auto">
          <a:xfrm>
            <a:off x="7876331" y="3544689"/>
            <a:ext cx="2043259" cy="1872208"/>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noAutofit/>
          </a:bodyPr>
          <a:lstStyle>
            <a:defPPr>
              <a:defRPr lang="zh-CN"/>
            </a:defPPr>
            <a:lvl1pPr marR="0" lvl="0" indent="0" algn="ctr" fontAlgn="base">
              <a:lnSpc>
                <a:spcPct val="100000"/>
              </a:lnSpc>
              <a:spcBef>
                <a:spcPct val="0"/>
              </a:spcBef>
              <a:spcAft>
                <a:spcPct val="0"/>
              </a:spcAft>
              <a:buClrTx/>
              <a:buSzTx/>
              <a:buFontTx/>
              <a:buNone/>
              <a:tabLst/>
              <a:defRPr kumimoji="0" sz="3200" b="1" i="0" u="none" strike="noStrike" kern="0" cap="none" spc="0" normalizeH="0" baseline="0">
                <a:ln w="12700">
                  <a:solidFill>
                    <a:srgbClr val="A886E0"/>
                  </a:solidFill>
                  <a:prstDash val="solid"/>
                </a:ln>
                <a:solidFill>
                  <a:srgbClr val="003399"/>
                </a:solidFill>
                <a:effectLst/>
                <a:uLnTx/>
                <a:uFillTx/>
                <a:latin typeface="微软雅黑" pitchFamily="34" charset="-122"/>
                <a:ea typeface="微软雅黑" pitchFamily="34" charset="-122"/>
                <a:cs typeface="+mj-cs"/>
              </a:defRPr>
            </a:lvl1pPr>
            <a:lvl2pPr eaLnBrk="0" fontAlgn="base" hangingPunct="0">
              <a:spcBef>
                <a:spcPct val="0"/>
              </a:spcBef>
              <a:spcAft>
                <a:spcPct val="0"/>
              </a:spcAft>
              <a:defRPr sz="3000">
                <a:solidFill>
                  <a:srgbClr val="FF9900"/>
                </a:solidFill>
                <a:latin typeface="方正姚体" pitchFamily="2" charset="-122"/>
                <a:ea typeface="方正姚体" pitchFamily="2" charset="-122"/>
              </a:defRPr>
            </a:lvl2pPr>
            <a:lvl3pPr eaLnBrk="0" fontAlgn="base" hangingPunct="0">
              <a:spcBef>
                <a:spcPct val="0"/>
              </a:spcBef>
              <a:spcAft>
                <a:spcPct val="0"/>
              </a:spcAft>
              <a:defRPr sz="3000">
                <a:solidFill>
                  <a:srgbClr val="FF9900"/>
                </a:solidFill>
                <a:latin typeface="方正姚体" pitchFamily="2" charset="-122"/>
                <a:ea typeface="方正姚体" pitchFamily="2" charset="-122"/>
              </a:defRPr>
            </a:lvl3pPr>
            <a:lvl4pPr eaLnBrk="0" fontAlgn="base" hangingPunct="0">
              <a:spcBef>
                <a:spcPct val="0"/>
              </a:spcBef>
              <a:spcAft>
                <a:spcPct val="0"/>
              </a:spcAft>
              <a:defRPr sz="3000">
                <a:solidFill>
                  <a:srgbClr val="FF9900"/>
                </a:solidFill>
                <a:latin typeface="方正姚体" pitchFamily="2" charset="-122"/>
                <a:ea typeface="方正姚体" pitchFamily="2" charset="-122"/>
              </a:defRPr>
            </a:lvl4pPr>
            <a:lvl5pPr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fontAlgn="base">
              <a:spcBef>
                <a:spcPct val="0"/>
              </a:spcBef>
              <a:spcAft>
                <a:spcPct val="0"/>
              </a:spcAft>
              <a:defRPr sz="3000">
                <a:solidFill>
                  <a:srgbClr val="FF9900"/>
                </a:solidFill>
                <a:latin typeface="方正姚体" pitchFamily="2" charset="-122"/>
                <a:ea typeface="方正姚体" pitchFamily="2" charset="-122"/>
              </a:defRPr>
            </a:lvl6pPr>
            <a:lvl7pPr marL="914400" fontAlgn="base">
              <a:spcBef>
                <a:spcPct val="0"/>
              </a:spcBef>
              <a:spcAft>
                <a:spcPct val="0"/>
              </a:spcAft>
              <a:defRPr sz="3000">
                <a:solidFill>
                  <a:srgbClr val="FF9900"/>
                </a:solidFill>
                <a:latin typeface="方正姚体" pitchFamily="2" charset="-122"/>
                <a:ea typeface="方正姚体" pitchFamily="2" charset="-122"/>
              </a:defRPr>
            </a:lvl7pPr>
            <a:lvl8pPr marL="1371600" fontAlgn="base">
              <a:spcBef>
                <a:spcPct val="0"/>
              </a:spcBef>
              <a:spcAft>
                <a:spcPct val="0"/>
              </a:spcAft>
              <a:defRPr sz="3000">
                <a:solidFill>
                  <a:srgbClr val="FF9900"/>
                </a:solidFill>
                <a:latin typeface="方正姚体" pitchFamily="2" charset="-122"/>
                <a:ea typeface="方正姚体" pitchFamily="2" charset="-122"/>
              </a:defRPr>
            </a:lvl8pPr>
            <a:lvl9pPr marL="1828800" fontAlgn="base">
              <a:spcBef>
                <a:spcPct val="0"/>
              </a:spcBef>
              <a:spcAft>
                <a:spcPct val="0"/>
              </a:spcAft>
              <a:defRPr sz="3000">
                <a:solidFill>
                  <a:srgbClr val="FF9900"/>
                </a:solidFill>
                <a:latin typeface="方正姚体" pitchFamily="2" charset="-122"/>
                <a:ea typeface="方正姚体" pitchFamily="2" charset="-122"/>
              </a:defRPr>
            </a:lvl9pPr>
          </a:lstStyle>
          <a:p>
            <a:pPr algn="l"/>
            <a:r>
              <a:rPr lang="zh-CN" altLang="en-US" sz="2800" dirty="0"/>
              <a:t>连接查询</a:t>
            </a:r>
            <a:endParaRPr lang="en-US" altLang="zh-CN" sz="2800" dirty="0"/>
          </a:p>
        </p:txBody>
      </p:sp>
      <p:sp>
        <p:nvSpPr>
          <p:cNvPr id="14" name="Rectangle 2">
            <a:extLst>
              <a:ext uri="{FF2B5EF4-FFF2-40B4-BE49-F238E27FC236}">
                <a16:creationId xmlns:a16="http://schemas.microsoft.com/office/drawing/2014/main" id="{5C43A547-4B29-4586-A559-77EEFDFFF1AE}"/>
              </a:ext>
            </a:extLst>
          </p:cNvPr>
          <p:cNvSpPr txBox="1">
            <a:spLocks noChangeArrowheads="1"/>
          </p:cNvSpPr>
          <p:nvPr/>
        </p:nvSpPr>
        <p:spPr bwMode="auto">
          <a:xfrm>
            <a:off x="8759227" y="4919309"/>
            <a:ext cx="1827681" cy="1741436"/>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noAutofit/>
          </a:bodyPr>
          <a:lstStyle>
            <a:defPPr>
              <a:defRPr lang="zh-CN"/>
            </a:defPPr>
            <a:lvl1pPr marR="0" lvl="0" indent="0" algn="ctr" fontAlgn="base">
              <a:lnSpc>
                <a:spcPct val="100000"/>
              </a:lnSpc>
              <a:spcBef>
                <a:spcPct val="0"/>
              </a:spcBef>
              <a:spcAft>
                <a:spcPct val="0"/>
              </a:spcAft>
              <a:buClrTx/>
              <a:buSzTx/>
              <a:buFontTx/>
              <a:buNone/>
              <a:tabLst/>
              <a:defRPr kumimoji="0" sz="3200" b="1" i="0" u="none" strike="noStrike" kern="0" cap="none" spc="0" normalizeH="0" baseline="0">
                <a:ln w="12700">
                  <a:solidFill>
                    <a:srgbClr val="A886E0"/>
                  </a:solidFill>
                  <a:prstDash val="solid"/>
                </a:ln>
                <a:solidFill>
                  <a:srgbClr val="003399"/>
                </a:solidFill>
                <a:effectLst/>
                <a:uLnTx/>
                <a:uFillTx/>
                <a:latin typeface="微软雅黑" pitchFamily="34" charset="-122"/>
                <a:ea typeface="微软雅黑" pitchFamily="34" charset="-122"/>
                <a:cs typeface="+mj-cs"/>
              </a:defRPr>
            </a:lvl1pPr>
            <a:lvl2pPr eaLnBrk="0" fontAlgn="base" hangingPunct="0">
              <a:spcBef>
                <a:spcPct val="0"/>
              </a:spcBef>
              <a:spcAft>
                <a:spcPct val="0"/>
              </a:spcAft>
              <a:defRPr sz="3000">
                <a:solidFill>
                  <a:srgbClr val="FF9900"/>
                </a:solidFill>
                <a:latin typeface="方正姚体" pitchFamily="2" charset="-122"/>
                <a:ea typeface="方正姚体" pitchFamily="2" charset="-122"/>
              </a:defRPr>
            </a:lvl2pPr>
            <a:lvl3pPr eaLnBrk="0" fontAlgn="base" hangingPunct="0">
              <a:spcBef>
                <a:spcPct val="0"/>
              </a:spcBef>
              <a:spcAft>
                <a:spcPct val="0"/>
              </a:spcAft>
              <a:defRPr sz="3000">
                <a:solidFill>
                  <a:srgbClr val="FF9900"/>
                </a:solidFill>
                <a:latin typeface="方正姚体" pitchFamily="2" charset="-122"/>
                <a:ea typeface="方正姚体" pitchFamily="2" charset="-122"/>
              </a:defRPr>
            </a:lvl3pPr>
            <a:lvl4pPr eaLnBrk="0" fontAlgn="base" hangingPunct="0">
              <a:spcBef>
                <a:spcPct val="0"/>
              </a:spcBef>
              <a:spcAft>
                <a:spcPct val="0"/>
              </a:spcAft>
              <a:defRPr sz="3000">
                <a:solidFill>
                  <a:srgbClr val="FF9900"/>
                </a:solidFill>
                <a:latin typeface="方正姚体" pitchFamily="2" charset="-122"/>
                <a:ea typeface="方正姚体" pitchFamily="2" charset="-122"/>
              </a:defRPr>
            </a:lvl4pPr>
            <a:lvl5pPr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fontAlgn="base">
              <a:spcBef>
                <a:spcPct val="0"/>
              </a:spcBef>
              <a:spcAft>
                <a:spcPct val="0"/>
              </a:spcAft>
              <a:defRPr sz="3000">
                <a:solidFill>
                  <a:srgbClr val="FF9900"/>
                </a:solidFill>
                <a:latin typeface="方正姚体" pitchFamily="2" charset="-122"/>
                <a:ea typeface="方正姚体" pitchFamily="2" charset="-122"/>
              </a:defRPr>
            </a:lvl6pPr>
            <a:lvl7pPr marL="914400" fontAlgn="base">
              <a:spcBef>
                <a:spcPct val="0"/>
              </a:spcBef>
              <a:spcAft>
                <a:spcPct val="0"/>
              </a:spcAft>
              <a:defRPr sz="3000">
                <a:solidFill>
                  <a:srgbClr val="FF9900"/>
                </a:solidFill>
                <a:latin typeface="方正姚体" pitchFamily="2" charset="-122"/>
                <a:ea typeface="方正姚体" pitchFamily="2" charset="-122"/>
              </a:defRPr>
            </a:lvl7pPr>
            <a:lvl8pPr marL="1371600" fontAlgn="base">
              <a:spcBef>
                <a:spcPct val="0"/>
              </a:spcBef>
              <a:spcAft>
                <a:spcPct val="0"/>
              </a:spcAft>
              <a:defRPr sz="3000">
                <a:solidFill>
                  <a:srgbClr val="FF9900"/>
                </a:solidFill>
                <a:latin typeface="方正姚体" pitchFamily="2" charset="-122"/>
                <a:ea typeface="方正姚体" pitchFamily="2" charset="-122"/>
              </a:defRPr>
            </a:lvl8pPr>
            <a:lvl9pPr marL="1828800" fontAlgn="base">
              <a:spcBef>
                <a:spcPct val="0"/>
              </a:spcBef>
              <a:spcAft>
                <a:spcPct val="0"/>
              </a:spcAft>
              <a:defRPr sz="3000">
                <a:solidFill>
                  <a:srgbClr val="FF9900"/>
                </a:solidFill>
                <a:latin typeface="方正姚体" pitchFamily="2" charset="-122"/>
                <a:ea typeface="方正姚体" pitchFamily="2" charset="-122"/>
              </a:defRPr>
            </a:lvl9pPr>
          </a:lstStyle>
          <a:p>
            <a:pPr algn="l"/>
            <a:r>
              <a:rPr lang="zh-CN" altLang="en-US" sz="2800" dirty="0"/>
              <a:t>嵌套查询</a:t>
            </a:r>
            <a:endParaRPr lang="en-US" altLang="zh-CN" sz="2800" dirty="0"/>
          </a:p>
        </p:txBody>
      </p:sp>
      <p:sp>
        <p:nvSpPr>
          <p:cNvPr id="15" name="Rectangle 2">
            <a:extLst>
              <a:ext uri="{FF2B5EF4-FFF2-40B4-BE49-F238E27FC236}">
                <a16:creationId xmlns:a16="http://schemas.microsoft.com/office/drawing/2014/main" id="{0AAB7680-1CEE-4F78-800A-2237D8146EEE}"/>
              </a:ext>
            </a:extLst>
          </p:cNvPr>
          <p:cNvSpPr txBox="1">
            <a:spLocks noChangeArrowheads="1"/>
          </p:cNvSpPr>
          <p:nvPr/>
        </p:nvSpPr>
        <p:spPr bwMode="auto">
          <a:xfrm>
            <a:off x="9919590" y="3744346"/>
            <a:ext cx="2043259" cy="1872208"/>
          </a:xfrm>
          <a:prstGeom prst="irregularSeal1">
            <a:avLst/>
          </a:prstGeom>
          <a:solidFill>
            <a:srgbClr val="FFFFFF"/>
          </a:solidFill>
          <a:ln w="25400" cap="flat" cmpd="sng" algn="ctr">
            <a:solidFill>
              <a:srgbClr val="0099CC"/>
            </a:solidFill>
            <a:prstDash val="solid"/>
            <a:headEnd/>
            <a:tailEnd/>
          </a:ln>
          <a:effectLst/>
        </p:spPr>
        <p:txBody>
          <a:bodyPr vert="horz" wrap="square" lIns="91440" tIns="45720" rIns="91440" bIns="45720" numCol="1" anchor="ctr" anchorCtr="0" compatLnSpc="1">
            <a:prstTxWarp prst="textNoShape">
              <a:avLst/>
            </a:prstTxWarp>
            <a:noAutofit/>
          </a:bodyPr>
          <a:lstStyle>
            <a:defPPr>
              <a:defRPr lang="zh-CN"/>
            </a:defPPr>
            <a:lvl1pPr marR="0" lvl="0" indent="0" algn="ctr" fontAlgn="base">
              <a:lnSpc>
                <a:spcPct val="100000"/>
              </a:lnSpc>
              <a:spcBef>
                <a:spcPct val="0"/>
              </a:spcBef>
              <a:spcAft>
                <a:spcPct val="0"/>
              </a:spcAft>
              <a:buClrTx/>
              <a:buSzTx/>
              <a:buFontTx/>
              <a:buNone/>
              <a:tabLst/>
              <a:defRPr kumimoji="0" sz="3200" b="1" i="0" u="none" strike="noStrike" kern="0" cap="none" spc="0" normalizeH="0" baseline="0">
                <a:ln w="12700">
                  <a:solidFill>
                    <a:srgbClr val="A886E0"/>
                  </a:solidFill>
                  <a:prstDash val="solid"/>
                </a:ln>
                <a:solidFill>
                  <a:srgbClr val="003399"/>
                </a:solidFill>
                <a:effectLst/>
                <a:uLnTx/>
                <a:uFillTx/>
                <a:latin typeface="微软雅黑" pitchFamily="34" charset="-122"/>
                <a:ea typeface="微软雅黑" pitchFamily="34" charset="-122"/>
                <a:cs typeface="+mj-cs"/>
              </a:defRPr>
            </a:lvl1pPr>
            <a:lvl2pPr eaLnBrk="0" fontAlgn="base" hangingPunct="0">
              <a:spcBef>
                <a:spcPct val="0"/>
              </a:spcBef>
              <a:spcAft>
                <a:spcPct val="0"/>
              </a:spcAft>
              <a:defRPr sz="3000">
                <a:solidFill>
                  <a:srgbClr val="FF9900"/>
                </a:solidFill>
                <a:latin typeface="方正姚体" pitchFamily="2" charset="-122"/>
                <a:ea typeface="方正姚体" pitchFamily="2" charset="-122"/>
              </a:defRPr>
            </a:lvl2pPr>
            <a:lvl3pPr eaLnBrk="0" fontAlgn="base" hangingPunct="0">
              <a:spcBef>
                <a:spcPct val="0"/>
              </a:spcBef>
              <a:spcAft>
                <a:spcPct val="0"/>
              </a:spcAft>
              <a:defRPr sz="3000">
                <a:solidFill>
                  <a:srgbClr val="FF9900"/>
                </a:solidFill>
                <a:latin typeface="方正姚体" pitchFamily="2" charset="-122"/>
                <a:ea typeface="方正姚体" pitchFamily="2" charset="-122"/>
              </a:defRPr>
            </a:lvl3pPr>
            <a:lvl4pPr eaLnBrk="0" fontAlgn="base" hangingPunct="0">
              <a:spcBef>
                <a:spcPct val="0"/>
              </a:spcBef>
              <a:spcAft>
                <a:spcPct val="0"/>
              </a:spcAft>
              <a:defRPr sz="3000">
                <a:solidFill>
                  <a:srgbClr val="FF9900"/>
                </a:solidFill>
                <a:latin typeface="方正姚体" pitchFamily="2" charset="-122"/>
                <a:ea typeface="方正姚体" pitchFamily="2" charset="-122"/>
              </a:defRPr>
            </a:lvl4pPr>
            <a:lvl5pPr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fontAlgn="base">
              <a:spcBef>
                <a:spcPct val="0"/>
              </a:spcBef>
              <a:spcAft>
                <a:spcPct val="0"/>
              </a:spcAft>
              <a:defRPr sz="3000">
                <a:solidFill>
                  <a:srgbClr val="FF9900"/>
                </a:solidFill>
                <a:latin typeface="方正姚体" pitchFamily="2" charset="-122"/>
                <a:ea typeface="方正姚体" pitchFamily="2" charset="-122"/>
              </a:defRPr>
            </a:lvl6pPr>
            <a:lvl7pPr marL="914400" fontAlgn="base">
              <a:spcBef>
                <a:spcPct val="0"/>
              </a:spcBef>
              <a:spcAft>
                <a:spcPct val="0"/>
              </a:spcAft>
              <a:defRPr sz="3000">
                <a:solidFill>
                  <a:srgbClr val="FF9900"/>
                </a:solidFill>
                <a:latin typeface="方正姚体" pitchFamily="2" charset="-122"/>
                <a:ea typeface="方正姚体" pitchFamily="2" charset="-122"/>
              </a:defRPr>
            </a:lvl7pPr>
            <a:lvl8pPr marL="1371600" fontAlgn="base">
              <a:spcBef>
                <a:spcPct val="0"/>
              </a:spcBef>
              <a:spcAft>
                <a:spcPct val="0"/>
              </a:spcAft>
              <a:defRPr sz="3000">
                <a:solidFill>
                  <a:srgbClr val="FF9900"/>
                </a:solidFill>
                <a:latin typeface="方正姚体" pitchFamily="2" charset="-122"/>
                <a:ea typeface="方正姚体" pitchFamily="2" charset="-122"/>
              </a:defRPr>
            </a:lvl8pPr>
            <a:lvl9pPr marL="1828800" fontAlgn="base">
              <a:spcBef>
                <a:spcPct val="0"/>
              </a:spcBef>
              <a:spcAft>
                <a:spcPct val="0"/>
              </a:spcAft>
              <a:defRPr sz="3000">
                <a:solidFill>
                  <a:srgbClr val="FF9900"/>
                </a:solidFill>
                <a:latin typeface="方正姚体" pitchFamily="2" charset="-122"/>
                <a:ea typeface="方正姚体" pitchFamily="2" charset="-122"/>
              </a:defRPr>
            </a:lvl9pPr>
          </a:lstStyle>
          <a:p>
            <a:pPr algn="l"/>
            <a:r>
              <a:rPr lang="zh-CN" altLang="en-US" sz="2800" dirty="0"/>
              <a:t>集合查询</a:t>
            </a:r>
            <a:endParaRPr lang="en-US" altLang="zh-CN" sz="2800" dirty="0"/>
          </a:p>
        </p:txBody>
      </p:sp>
    </p:spTree>
    <p:extLst>
      <p:ext uri="{BB962C8B-B14F-4D97-AF65-F5344CB8AC3E}">
        <p14:creationId xmlns:p14="http://schemas.microsoft.com/office/powerpoint/2010/main" val="2143888901"/>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400"/>
                                  </p:stCondLst>
                                  <p:childTnLst>
                                    <p:set>
                                      <p:cBhvr>
                                        <p:cTn id="9" dur="1" fill="hold">
                                          <p:stCondLst>
                                            <p:cond delay="0"/>
                                          </p:stCondLst>
                                        </p:cTn>
                                        <p:tgtEl>
                                          <p:spTgt spid="9"/>
                                        </p:tgtEl>
                                        <p:attrNameLst>
                                          <p:attrName>style.visibility</p:attrName>
                                        </p:attrNameLst>
                                      </p:cBhvr>
                                      <p:to>
                                        <p:strVal val="visible"/>
                                      </p:to>
                                    </p:set>
                                  </p:childTnLst>
                                </p:cTn>
                              </p:par>
                            </p:childTnLst>
                          </p:cTn>
                        </p:par>
                        <p:par>
                          <p:cTn id="10" fill="hold">
                            <p:stCondLst>
                              <p:cond delay="400"/>
                            </p:stCondLst>
                            <p:childTnLst>
                              <p:par>
                                <p:cTn id="11" presetID="1" presetClass="entr" presetSubtype="0" fill="hold" grpId="0" nodeType="afterEffect">
                                  <p:stCondLst>
                                    <p:cond delay="500"/>
                                  </p:stCondLst>
                                  <p:childTnLst>
                                    <p:set>
                                      <p:cBhvr>
                                        <p:cTn id="12" dur="1" fill="hold">
                                          <p:stCondLst>
                                            <p:cond delay="0"/>
                                          </p:stCondLst>
                                        </p:cTn>
                                        <p:tgtEl>
                                          <p:spTgt spid="10"/>
                                        </p:tgtEl>
                                        <p:attrNameLst>
                                          <p:attrName>style.visibility</p:attrName>
                                        </p:attrNameLst>
                                      </p:cBhvr>
                                      <p:to>
                                        <p:strVal val="visible"/>
                                      </p:to>
                                    </p:set>
                                  </p:childTnLst>
                                </p:cTn>
                              </p:par>
                            </p:childTnLst>
                          </p:cTn>
                        </p:par>
                        <p:par>
                          <p:cTn id="13" fill="hold">
                            <p:stCondLst>
                              <p:cond delay="900"/>
                            </p:stCondLst>
                            <p:childTnLst>
                              <p:par>
                                <p:cTn id="14" presetID="1" presetClass="entr" presetSubtype="0" fill="hold" grpId="0" nodeType="afterEffect">
                                  <p:stCondLst>
                                    <p:cond delay="500"/>
                                  </p:stCondLst>
                                  <p:childTnLst>
                                    <p:set>
                                      <p:cBhvr>
                                        <p:cTn id="15" dur="1" fill="hold">
                                          <p:stCondLst>
                                            <p:cond delay="0"/>
                                          </p:stCondLst>
                                        </p:cTn>
                                        <p:tgtEl>
                                          <p:spTgt spid="12"/>
                                        </p:tgtEl>
                                        <p:attrNameLst>
                                          <p:attrName>style.visibility</p:attrName>
                                        </p:attrNameLst>
                                      </p:cBhvr>
                                      <p:to>
                                        <p:strVal val="visible"/>
                                      </p:to>
                                    </p:set>
                                  </p:childTnLst>
                                </p:cTn>
                              </p:par>
                            </p:childTnLst>
                          </p:cTn>
                        </p:par>
                        <p:par>
                          <p:cTn id="16" fill="hold">
                            <p:stCondLst>
                              <p:cond delay="1400"/>
                            </p:stCondLst>
                            <p:childTnLst>
                              <p:par>
                                <p:cTn id="17" presetID="1" presetClass="entr" presetSubtype="0" fill="hold" grpId="0" nodeType="afterEffect">
                                  <p:stCondLst>
                                    <p:cond delay="400"/>
                                  </p:stCondLst>
                                  <p:childTnLst>
                                    <p:set>
                                      <p:cBhvr>
                                        <p:cTn id="18" dur="1" fill="hold">
                                          <p:stCondLst>
                                            <p:cond delay="0"/>
                                          </p:stCondLst>
                                        </p:cTn>
                                        <p:tgtEl>
                                          <p:spTgt spid="11"/>
                                        </p:tgtEl>
                                        <p:attrNameLst>
                                          <p:attrName>style.visibility</p:attrName>
                                        </p:attrNameLst>
                                      </p:cBhvr>
                                      <p:to>
                                        <p:strVal val="visible"/>
                                      </p:to>
                                    </p:set>
                                  </p:childTnLst>
                                </p:cTn>
                              </p:par>
                            </p:childTnLst>
                          </p:cTn>
                        </p:par>
                        <p:par>
                          <p:cTn id="19" fill="hold">
                            <p:stCondLst>
                              <p:cond delay="1800"/>
                            </p:stCondLst>
                            <p:childTnLst>
                              <p:par>
                                <p:cTn id="20" presetID="1" presetClass="entr" presetSubtype="0" fill="hold" grpId="0" nodeType="afterEffect">
                                  <p:stCondLst>
                                    <p:cond delay="400"/>
                                  </p:stCondLst>
                                  <p:childTnLst>
                                    <p:set>
                                      <p:cBhvr>
                                        <p:cTn id="21" dur="1" fill="hold">
                                          <p:stCondLst>
                                            <p:cond delay="0"/>
                                          </p:stCondLst>
                                        </p:cTn>
                                        <p:tgtEl>
                                          <p:spTgt spid="13"/>
                                        </p:tgtEl>
                                        <p:attrNameLst>
                                          <p:attrName>style.visibility</p:attrName>
                                        </p:attrNameLst>
                                      </p:cBhvr>
                                      <p:to>
                                        <p:strVal val="visible"/>
                                      </p:to>
                                    </p:set>
                                  </p:childTnLst>
                                </p:cTn>
                              </p:par>
                            </p:childTnLst>
                          </p:cTn>
                        </p:par>
                        <p:par>
                          <p:cTn id="22" fill="hold">
                            <p:stCondLst>
                              <p:cond delay="2200"/>
                            </p:stCondLst>
                            <p:childTnLst>
                              <p:par>
                                <p:cTn id="23" presetID="1" presetClass="entr" presetSubtype="0" fill="hold" grpId="0" nodeType="afterEffect">
                                  <p:stCondLst>
                                    <p:cond delay="400"/>
                                  </p:stCondLst>
                                  <p:childTnLst>
                                    <p:set>
                                      <p:cBhvr>
                                        <p:cTn id="24" dur="1" fill="hold">
                                          <p:stCondLst>
                                            <p:cond delay="0"/>
                                          </p:stCondLst>
                                        </p:cTn>
                                        <p:tgtEl>
                                          <p:spTgt spid="14"/>
                                        </p:tgtEl>
                                        <p:attrNameLst>
                                          <p:attrName>style.visibility</p:attrName>
                                        </p:attrNameLst>
                                      </p:cBhvr>
                                      <p:to>
                                        <p:strVal val="visible"/>
                                      </p:to>
                                    </p:set>
                                  </p:childTnLst>
                                </p:cTn>
                              </p:par>
                            </p:childTnLst>
                          </p:cTn>
                        </p:par>
                        <p:par>
                          <p:cTn id="25" fill="hold">
                            <p:stCondLst>
                              <p:cond delay="2600"/>
                            </p:stCondLst>
                            <p:childTnLst>
                              <p:par>
                                <p:cTn id="26" presetID="1" presetClass="entr" presetSubtype="0" fill="hold" grpId="0" nodeType="afterEffect">
                                  <p:stCondLst>
                                    <p:cond delay="400"/>
                                  </p:stCondLst>
                                  <p:childTnLst>
                                    <p:set>
                                      <p:cBhvr>
                                        <p:cTn id="27"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9" name="Rectangle 3">
            <a:extLst>
              <a:ext uri="{FF2B5EF4-FFF2-40B4-BE49-F238E27FC236}">
                <a16:creationId xmlns:a16="http://schemas.microsoft.com/office/drawing/2014/main" id="{21E9E2A5-733C-482A-A86F-7D07F14BFB1D}"/>
              </a:ext>
            </a:extLst>
          </p:cNvPr>
          <p:cNvSpPr>
            <a:spLocks noGrp="1" noChangeArrowheads="1"/>
          </p:cNvSpPr>
          <p:nvPr>
            <p:ph type="body" idx="4294967295"/>
          </p:nvPr>
        </p:nvSpPr>
        <p:spPr>
          <a:xfrm>
            <a:off x="573874" y="764704"/>
            <a:ext cx="10972800" cy="4525963"/>
          </a:xfrm>
        </p:spPr>
        <p:txBody>
          <a:bodyPr/>
          <a:lstStyle/>
          <a:p>
            <a:pPr>
              <a:lnSpc>
                <a:spcPct val="150000"/>
              </a:lnSpc>
            </a:pPr>
            <a:r>
              <a:rPr lang="zh-CN" altLang="en-US" sz="2800" dirty="0"/>
              <a:t>查询的结果是仍是一个表。是一个</a:t>
            </a:r>
            <a:r>
              <a:rPr lang="zh-CN" altLang="en-US" sz="2800" dirty="0">
                <a:solidFill>
                  <a:srgbClr val="FFFF00"/>
                </a:solidFill>
              </a:rPr>
              <a:t>逆序过程</a:t>
            </a:r>
          </a:p>
          <a:p>
            <a:pPr lvl="1">
              <a:lnSpc>
                <a:spcPct val="150000"/>
              </a:lnSpc>
            </a:pPr>
            <a:r>
              <a:rPr lang="zh-CN" altLang="en-US" sz="2400" dirty="0"/>
              <a:t>根据</a:t>
            </a:r>
            <a:r>
              <a:rPr lang="en-US" altLang="zh-CN" sz="2400" dirty="0">
                <a:solidFill>
                  <a:srgbClr val="FFFF00"/>
                </a:solidFill>
              </a:rPr>
              <a:t>WHERE</a:t>
            </a:r>
            <a:r>
              <a:rPr lang="zh-CN" altLang="en-US" sz="2400" dirty="0">
                <a:solidFill>
                  <a:srgbClr val="FFFF00"/>
                </a:solidFill>
              </a:rPr>
              <a:t>子句</a:t>
            </a:r>
            <a:r>
              <a:rPr lang="zh-CN" altLang="en-US" sz="2400" dirty="0"/>
              <a:t>的</a:t>
            </a:r>
            <a:r>
              <a:rPr lang="zh-CN" altLang="en-US" sz="2400" dirty="0">
                <a:solidFill>
                  <a:srgbClr val="FFFF00"/>
                </a:solidFill>
              </a:rPr>
              <a:t>检索条件</a:t>
            </a:r>
            <a:r>
              <a:rPr lang="zh-CN" altLang="en-US" sz="2400" dirty="0"/>
              <a:t>，从</a:t>
            </a:r>
            <a:r>
              <a:rPr lang="en-US" altLang="zh-CN" sz="2400" dirty="0">
                <a:solidFill>
                  <a:srgbClr val="FFFF00"/>
                </a:solidFill>
              </a:rPr>
              <a:t>FROM</a:t>
            </a:r>
            <a:r>
              <a:rPr lang="zh-CN" altLang="en-US" sz="2400" dirty="0">
                <a:solidFill>
                  <a:srgbClr val="FFFF00"/>
                </a:solidFill>
              </a:rPr>
              <a:t>子句</a:t>
            </a:r>
            <a:r>
              <a:rPr lang="zh-CN" altLang="en-US" sz="2400" dirty="0"/>
              <a:t>指定的</a:t>
            </a:r>
            <a:r>
              <a:rPr lang="zh-CN" altLang="en-US" sz="2400" dirty="0">
                <a:solidFill>
                  <a:srgbClr val="FFFF00"/>
                </a:solidFill>
              </a:rPr>
              <a:t>基本表或视图</a:t>
            </a:r>
            <a:r>
              <a:rPr lang="zh-CN" altLang="en-US" sz="2400" dirty="0"/>
              <a:t>中选取满足条件的</a:t>
            </a:r>
            <a:r>
              <a:rPr lang="zh-CN" altLang="en-US" sz="2400" dirty="0">
                <a:solidFill>
                  <a:srgbClr val="FFFF00"/>
                </a:solidFill>
              </a:rPr>
              <a:t>元组</a:t>
            </a:r>
            <a:r>
              <a:rPr lang="zh-CN" altLang="en-US" sz="2400" dirty="0"/>
              <a:t>，</a:t>
            </a:r>
          </a:p>
          <a:p>
            <a:pPr lvl="1">
              <a:lnSpc>
                <a:spcPct val="150000"/>
              </a:lnSpc>
            </a:pPr>
            <a:r>
              <a:rPr lang="zh-CN" altLang="en-US" sz="2400" dirty="0"/>
              <a:t>再按照</a:t>
            </a:r>
            <a:r>
              <a:rPr lang="en-US" altLang="zh-CN" sz="2400" dirty="0">
                <a:solidFill>
                  <a:srgbClr val="FFFF00"/>
                </a:solidFill>
              </a:rPr>
              <a:t>SELECT</a:t>
            </a:r>
            <a:r>
              <a:rPr lang="zh-CN" altLang="en-US" sz="2400" dirty="0">
                <a:solidFill>
                  <a:srgbClr val="FFFF00"/>
                </a:solidFill>
              </a:rPr>
              <a:t>子句</a:t>
            </a:r>
            <a:r>
              <a:rPr lang="zh-CN" altLang="en-US" sz="2400" dirty="0"/>
              <a:t>中指定的</a:t>
            </a:r>
            <a:r>
              <a:rPr lang="zh-CN" altLang="en-US" sz="2400" dirty="0">
                <a:solidFill>
                  <a:srgbClr val="FFFF00"/>
                </a:solidFill>
              </a:rPr>
              <a:t>列</a:t>
            </a:r>
            <a:r>
              <a:rPr lang="zh-CN" altLang="en-US" sz="2400" dirty="0"/>
              <a:t>，投影得到结果表。</a:t>
            </a:r>
          </a:p>
          <a:p>
            <a:pPr lvl="1">
              <a:lnSpc>
                <a:spcPct val="150000"/>
              </a:lnSpc>
            </a:pPr>
            <a:r>
              <a:rPr lang="zh-CN" altLang="en-US" sz="2400" dirty="0"/>
              <a:t>如果有</a:t>
            </a:r>
            <a:r>
              <a:rPr lang="en-US" altLang="zh-CN" sz="2400" dirty="0">
                <a:solidFill>
                  <a:srgbClr val="FFFF00"/>
                </a:solidFill>
              </a:rPr>
              <a:t>GROUP</a:t>
            </a:r>
            <a:r>
              <a:rPr lang="zh-CN" altLang="en-US" sz="2400" dirty="0">
                <a:solidFill>
                  <a:srgbClr val="FFFF00"/>
                </a:solidFill>
              </a:rPr>
              <a:t>子句</a:t>
            </a:r>
            <a:r>
              <a:rPr lang="zh-CN" altLang="en-US" sz="2400" dirty="0"/>
              <a:t>，则将查询结果按照</a:t>
            </a:r>
            <a:r>
              <a:rPr lang="en-US" altLang="zh-CN" sz="2400" dirty="0"/>
              <a:t>&lt;</a:t>
            </a:r>
            <a:r>
              <a:rPr lang="zh-CN" altLang="en-US" sz="2400" dirty="0"/>
              <a:t>列名</a:t>
            </a:r>
            <a:r>
              <a:rPr lang="en-US" altLang="zh-CN" sz="2400" dirty="0"/>
              <a:t>1&gt;</a:t>
            </a:r>
            <a:r>
              <a:rPr lang="zh-CN" altLang="en-US" sz="2400" dirty="0"/>
              <a:t>相同的值进行</a:t>
            </a:r>
            <a:r>
              <a:rPr lang="zh-CN" altLang="en-US" sz="2400" dirty="0">
                <a:solidFill>
                  <a:srgbClr val="FFFF00"/>
                </a:solidFill>
              </a:rPr>
              <a:t>分组</a:t>
            </a:r>
            <a:r>
              <a:rPr lang="zh-CN" altLang="en-US" sz="2400" dirty="0"/>
              <a:t>。</a:t>
            </a:r>
          </a:p>
          <a:p>
            <a:pPr lvl="1">
              <a:lnSpc>
                <a:spcPct val="150000"/>
              </a:lnSpc>
            </a:pPr>
            <a:r>
              <a:rPr lang="zh-CN" altLang="en-US" sz="2400" dirty="0"/>
              <a:t>如果</a:t>
            </a:r>
            <a:r>
              <a:rPr lang="en-US" altLang="zh-CN" sz="2400" dirty="0"/>
              <a:t>GROUP</a:t>
            </a:r>
            <a:r>
              <a:rPr lang="zh-CN" altLang="en-US" sz="2400" dirty="0"/>
              <a:t>子句后有</a:t>
            </a:r>
            <a:r>
              <a:rPr lang="en-US" altLang="zh-CN" sz="2400" dirty="0">
                <a:solidFill>
                  <a:srgbClr val="FFFF00"/>
                </a:solidFill>
              </a:rPr>
              <a:t>HAVING</a:t>
            </a:r>
            <a:r>
              <a:rPr lang="zh-CN" altLang="en-US" sz="2400" dirty="0">
                <a:solidFill>
                  <a:srgbClr val="FFFF00"/>
                </a:solidFill>
              </a:rPr>
              <a:t>短语</a:t>
            </a:r>
            <a:r>
              <a:rPr lang="zh-CN" altLang="en-US" sz="2400" dirty="0"/>
              <a:t>，则只输出满足</a:t>
            </a:r>
            <a:r>
              <a:rPr lang="en-US" altLang="zh-CN" sz="2400" dirty="0"/>
              <a:t>HAVING</a:t>
            </a:r>
            <a:r>
              <a:rPr lang="zh-CN" altLang="en-US" sz="2400" dirty="0"/>
              <a:t>条件的</a:t>
            </a:r>
            <a:r>
              <a:rPr lang="zh-CN" altLang="en-US" sz="2400" dirty="0">
                <a:solidFill>
                  <a:srgbClr val="FFFF00"/>
                </a:solidFill>
              </a:rPr>
              <a:t>元组</a:t>
            </a:r>
            <a:r>
              <a:rPr lang="zh-CN" altLang="en-US" sz="2400" dirty="0"/>
              <a:t>。</a:t>
            </a:r>
          </a:p>
          <a:p>
            <a:pPr lvl="1">
              <a:lnSpc>
                <a:spcPct val="150000"/>
              </a:lnSpc>
            </a:pPr>
            <a:r>
              <a:rPr lang="zh-CN" altLang="en-US" sz="2400" dirty="0"/>
              <a:t>如果有</a:t>
            </a:r>
            <a:r>
              <a:rPr lang="en-US" altLang="zh-CN" sz="2400" dirty="0">
                <a:solidFill>
                  <a:srgbClr val="FFFF00"/>
                </a:solidFill>
              </a:rPr>
              <a:t>ORDER</a:t>
            </a:r>
            <a:r>
              <a:rPr lang="zh-CN" altLang="en-US" sz="2400" dirty="0">
                <a:solidFill>
                  <a:srgbClr val="FFFF00"/>
                </a:solidFill>
              </a:rPr>
              <a:t>子句</a:t>
            </a:r>
            <a:r>
              <a:rPr lang="zh-CN" altLang="en-US" sz="2400" dirty="0"/>
              <a:t>，查询结果还要按照</a:t>
            </a:r>
            <a:r>
              <a:rPr lang="en-US" altLang="zh-CN" sz="2400" dirty="0"/>
              <a:t>&lt;</a:t>
            </a:r>
            <a:r>
              <a:rPr lang="zh-CN" altLang="en-US" sz="2400" dirty="0"/>
              <a:t>列名</a:t>
            </a:r>
            <a:r>
              <a:rPr lang="en-US" altLang="zh-CN" sz="2400" dirty="0"/>
              <a:t>2&gt;</a:t>
            </a:r>
            <a:r>
              <a:rPr lang="zh-CN" altLang="en-US" sz="2400" dirty="0"/>
              <a:t>的值进行</a:t>
            </a:r>
            <a:r>
              <a:rPr lang="zh-CN" altLang="en-US" sz="2400" dirty="0">
                <a:solidFill>
                  <a:srgbClr val="FFFF00"/>
                </a:solidFill>
              </a:rPr>
              <a:t>排序</a:t>
            </a:r>
            <a:r>
              <a:rPr lang="zh-CN" altLang="en-US" sz="2400" dirty="0"/>
              <a:t>。</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911424" y="1844824"/>
            <a:ext cx="10369152" cy="4680520"/>
          </a:xfrm>
          <a:prstGeom prst="rect">
            <a:avLst/>
          </a:prstGeom>
          <a:ln w="38100" cap="sq">
            <a:solidFill>
              <a:srgbClr val="92D050"/>
            </a:solidFill>
            <a:prstDash val="solid"/>
            <a:miter lim="800000"/>
          </a:ln>
          <a:effectLst>
            <a:outerShdw blurRad="50800" dist="38100" dir="2700000" algn="tl" rotWithShape="0">
              <a:srgbClr val="000000">
                <a:alpha val="43000"/>
              </a:srgbClr>
            </a:outerShdw>
          </a:effectLst>
        </p:spPr>
      </p:pic>
      <p:sp>
        <p:nvSpPr>
          <p:cNvPr id="5" name="Rectangle 2"/>
          <p:cNvSpPr>
            <a:spLocks noGrp="1" noChangeArrowheads="1"/>
          </p:cNvSpPr>
          <p:nvPr>
            <p:ph type="title"/>
          </p:nvPr>
        </p:nvSpPr>
        <p:spPr>
          <a:xfrm>
            <a:off x="839416" y="30413"/>
            <a:ext cx="275734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dirty="0">
                <a:solidFill>
                  <a:srgbClr val="FFFFCC"/>
                </a:solidFill>
                <a:effectLst>
                  <a:outerShdw blurRad="38100" dist="38100" dir="2700000" algn="tl">
                    <a:srgbClr val="000000"/>
                  </a:outerShdw>
                </a:effectLst>
              </a:rPr>
              <a:t>FROM</a:t>
            </a:r>
            <a:r>
              <a:rPr lang="zh-CN" altLang="en-US" sz="4000" b="1" dirty="0">
                <a:solidFill>
                  <a:srgbClr val="FFFFCC"/>
                </a:solidFill>
                <a:effectLst>
                  <a:outerShdw blurRad="38100" dist="38100" dir="2700000" algn="tl">
                    <a:srgbClr val="000000"/>
                  </a:outerShdw>
                </a:effectLst>
              </a:rPr>
              <a:t>子句</a:t>
            </a:r>
          </a:p>
        </p:txBody>
      </p:sp>
      <p:sp>
        <p:nvSpPr>
          <p:cNvPr id="23" name="Rectangle 10"/>
          <p:cNvSpPr txBox="1">
            <a:spLocks noChangeArrowheads="1"/>
          </p:cNvSpPr>
          <p:nvPr/>
        </p:nvSpPr>
        <p:spPr bwMode="auto">
          <a:xfrm>
            <a:off x="551384" y="522225"/>
            <a:ext cx="11075468" cy="1027204"/>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eaLnBrk="1" hangingPunct="1">
              <a:lnSpc>
                <a:spcPct val="200000"/>
              </a:lnSpc>
              <a:spcBef>
                <a:spcPct val="60000"/>
              </a:spcBef>
              <a:spcAft>
                <a:spcPct val="0"/>
              </a:spcAft>
              <a:buClr>
                <a:srgbClr val="FFFFFF"/>
              </a:buClr>
              <a:buFont typeface="Wingdings" pitchFamily="2" charset="2"/>
              <a:buChar char="§"/>
              <a:defRPr/>
            </a:pPr>
            <a:r>
              <a:rPr kumimoji="1" lang="zh-CN" altLang="en-US" sz="3600" kern="0" dirty="0">
                <a:solidFill>
                  <a:srgbClr val="FFFFFF"/>
                </a:solidFill>
                <a:latin typeface="楷体_GB2312" pitchFamily="49" charset="-122"/>
              </a:rPr>
              <a:t>指定查询数据的来源，即从哪张（些）表里提取数据</a:t>
            </a:r>
            <a:endParaRPr kumimoji="1" lang="en-US" altLang="zh-CN" sz="3600" kern="0" dirty="0">
              <a:solidFill>
                <a:srgbClr val="FFFFFF"/>
              </a:solidFill>
              <a:latin typeface="楷体_GB2312" pitchFamily="49" charset="-122"/>
            </a:endParaRPr>
          </a:p>
        </p:txBody>
      </p:sp>
      <p:grpSp>
        <p:nvGrpSpPr>
          <p:cNvPr id="11" name="组合 10"/>
          <p:cNvGrpSpPr/>
          <p:nvPr/>
        </p:nvGrpSpPr>
        <p:grpSpPr>
          <a:xfrm>
            <a:off x="4223792" y="2996954"/>
            <a:ext cx="4759292" cy="3051157"/>
            <a:chOff x="4075730" y="2730689"/>
            <a:chExt cx="3698113" cy="2973833"/>
          </a:xfrm>
        </p:grpSpPr>
        <p:pic>
          <p:nvPicPr>
            <p:cNvPr id="12" name="图片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84168" y="4014847"/>
              <a:ext cx="1689675" cy="1689675"/>
            </a:xfrm>
            <a:prstGeom prst="rect">
              <a:avLst/>
            </a:prstGeom>
          </p:spPr>
        </p:pic>
        <p:sp>
          <p:nvSpPr>
            <p:cNvPr id="13" name="椭圆形标注 12"/>
            <p:cNvSpPr/>
            <p:nvPr/>
          </p:nvSpPr>
          <p:spPr>
            <a:xfrm>
              <a:off x="4075730" y="2730689"/>
              <a:ext cx="2497859" cy="1353055"/>
            </a:xfrm>
            <a:prstGeom prst="wedgeEllipseCallout">
              <a:avLst>
                <a:gd name="adj1" fmla="val 50611"/>
                <a:gd name="adj2" fmla="val 55857"/>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en-US" sz="3200" dirty="0">
                  <a:latin typeface="微软雅黑" panose="020B0503020204020204" pitchFamily="34" charset="-122"/>
                  <a:ea typeface="微软雅黑" panose="020B0503020204020204" pitchFamily="34" charset="-122"/>
                </a:rPr>
                <a:t>我想看看</a:t>
              </a:r>
              <a:endParaRPr lang="en-US" altLang="zh-CN" sz="3200" dirty="0">
                <a:latin typeface="微软雅黑" panose="020B0503020204020204" pitchFamily="34" charset="-122"/>
                <a:ea typeface="微软雅黑" panose="020B0503020204020204" pitchFamily="34" charset="-122"/>
              </a:endParaRPr>
            </a:p>
            <a:p>
              <a:pPr algn="ctr"/>
              <a:r>
                <a:rPr lang="zh-CN" altLang="en-US" sz="3200" dirty="0">
                  <a:latin typeface="微软雅黑" panose="020B0503020204020204" pitchFamily="34" charset="-122"/>
                  <a:ea typeface="微软雅黑" panose="020B0503020204020204" pitchFamily="34" charset="-122"/>
                </a:rPr>
                <a:t>学生的数据</a:t>
              </a:r>
            </a:p>
          </p:txBody>
        </p:sp>
      </p:grpSp>
    </p:spTree>
    <p:extLst>
      <p:ext uri="{BB962C8B-B14F-4D97-AF65-F5344CB8AC3E}">
        <p14:creationId xmlns:p14="http://schemas.microsoft.com/office/powerpoint/2010/main" val="2380484056"/>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839416" y="30413"/>
            <a:ext cx="275734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dirty="0">
                <a:solidFill>
                  <a:srgbClr val="FFFFCC"/>
                </a:solidFill>
                <a:effectLst>
                  <a:outerShdw blurRad="38100" dist="38100" dir="2700000" algn="tl">
                    <a:srgbClr val="000000"/>
                  </a:outerShdw>
                </a:effectLst>
              </a:rPr>
              <a:t>FROM</a:t>
            </a:r>
            <a:r>
              <a:rPr lang="zh-CN" altLang="en-US" sz="4000" b="1" dirty="0">
                <a:solidFill>
                  <a:srgbClr val="FFFFCC"/>
                </a:solidFill>
                <a:effectLst>
                  <a:outerShdw blurRad="38100" dist="38100" dir="2700000" algn="tl">
                    <a:srgbClr val="000000"/>
                  </a:outerShdw>
                </a:effectLst>
              </a:rPr>
              <a:t>子句</a:t>
            </a:r>
          </a:p>
        </p:txBody>
      </p:sp>
      <p:sp>
        <p:nvSpPr>
          <p:cNvPr id="23" name="Rectangle 10"/>
          <p:cNvSpPr txBox="1">
            <a:spLocks noChangeArrowheads="1"/>
          </p:cNvSpPr>
          <p:nvPr/>
        </p:nvSpPr>
        <p:spPr bwMode="auto">
          <a:xfrm>
            <a:off x="551384" y="522225"/>
            <a:ext cx="11075468" cy="1027204"/>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eaLnBrk="1" hangingPunct="1">
              <a:lnSpc>
                <a:spcPct val="200000"/>
              </a:lnSpc>
              <a:spcBef>
                <a:spcPct val="60000"/>
              </a:spcBef>
              <a:spcAft>
                <a:spcPct val="0"/>
              </a:spcAft>
              <a:buClr>
                <a:srgbClr val="FFFFFF"/>
              </a:buClr>
              <a:buFont typeface="Wingdings" pitchFamily="2" charset="2"/>
              <a:buChar char="§"/>
              <a:defRPr/>
            </a:pPr>
            <a:r>
              <a:rPr kumimoji="1" lang="zh-CN" altLang="en-US" sz="3600" kern="0" dirty="0">
                <a:solidFill>
                  <a:srgbClr val="FFFFFF"/>
                </a:solidFill>
                <a:latin typeface="楷体_GB2312" pitchFamily="49" charset="-122"/>
              </a:rPr>
              <a:t>指定查询数据的来源，即从哪张（些）表里提取数据</a:t>
            </a:r>
            <a:endParaRPr kumimoji="1" lang="en-US" altLang="zh-CN" sz="3600" kern="0" dirty="0">
              <a:solidFill>
                <a:srgbClr val="FFFFFF"/>
              </a:solidFill>
              <a:latin typeface="楷体_GB2312" pitchFamily="49" charset="-122"/>
            </a:endParaRPr>
          </a:p>
        </p:txBody>
      </p:sp>
      <p:grpSp>
        <p:nvGrpSpPr>
          <p:cNvPr id="4" name="组合 3">
            <a:extLst>
              <a:ext uri="{FF2B5EF4-FFF2-40B4-BE49-F238E27FC236}">
                <a16:creationId xmlns:a16="http://schemas.microsoft.com/office/drawing/2014/main" id="{45BD6800-8939-43B6-82C3-926870B222DC}"/>
              </a:ext>
            </a:extLst>
          </p:cNvPr>
          <p:cNvGrpSpPr/>
          <p:nvPr/>
        </p:nvGrpSpPr>
        <p:grpSpPr>
          <a:xfrm>
            <a:off x="911424" y="1700808"/>
            <a:ext cx="9987652" cy="4855623"/>
            <a:chOff x="1559496" y="1916832"/>
            <a:chExt cx="8403476" cy="4639599"/>
          </a:xfrm>
        </p:grpSpPr>
        <p:pic>
          <p:nvPicPr>
            <p:cNvPr id="2" name="图片 1"/>
            <p:cNvPicPr>
              <a:picLocks noChangeAspect="1"/>
            </p:cNvPicPr>
            <p:nvPr/>
          </p:nvPicPr>
          <p:blipFill>
            <a:blip r:embed="rId4"/>
            <a:stretch>
              <a:fillRect/>
            </a:stretch>
          </p:blipFill>
          <p:spPr>
            <a:xfrm>
              <a:off x="1991544" y="1916832"/>
              <a:ext cx="7971428" cy="4533333"/>
            </a:xfrm>
            <a:prstGeom prst="rect">
              <a:avLst/>
            </a:prstGeom>
            <a:ln w="38100" cap="sq">
              <a:solidFill>
                <a:srgbClr val="92D050"/>
              </a:solidFill>
              <a:prstDash val="solid"/>
              <a:miter lim="800000"/>
            </a:ln>
            <a:effectLst>
              <a:outerShdw blurRad="50800" dist="38100" dir="2700000" algn="tl" rotWithShape="0">
                <a:srgbClr val="000000">
                  <a:alpha val="43000"/>
                </a:srgbClr>
              </a:outerShdw>
            </a:effectLst>
          </p:spPr>
        </p:pic>
        <p:sp>
          <p:nvSpPr>
            <p:cNvPr id="9" name="AutoShape 15"/>
            <p:cNvSpPr>
              <a:spLocks noChangeArrowheads="1"/>
            </p:cNvSpPr>
            <p:nvPr/>
          </p:nvSpPr>
          <p:spPr bwMode="auto">
            <a:xfrm>
              <a:off x="7031911" y="2398466"/>
              <a:ext cx="2436633" cy="746493"/>
            </a:xfrm>
            <a:prstGeom prst="wedgeRoundRectCallout">
              <a:avLst>
                <a:gd name="adj1" fmla="val -32059"/>
                <a:gd name="adj2" fmla="val 109483"/>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3600" b="0" i="0" u="none" strike="noStrike" kern="0" cap="none" spc="0" normalizeH="0" baseline="0" noProof="0" dirty="0">
                  <a:ln>
                    <a:noFill/>
                  </a:ln>
                  <a:solidFill>
                    <a:srgbClr val="FFFFCC"/>
                  </a:solidFill>
                  <a:effectLst>
                    <a:outerShdw blurRad="38100" dist="38100" dir="2700000" algn="tl">
                      <a:srgbClr val="000000"/>
                    </a:outerShdw>
                  </a:effectLst>
                  <a:uLnTx/>
                  <a:uFillTx/>
                  <a:latin typeface="Times New Roman" pitchFamily="18" charset="0"/>
                </a:rPr>
                <a:t>查询命令</a:t>
              </a:r>
            </a:p>
          </p:txBody>
        </p:sp>
        <p:sp>
          <p:nvSpPr>
            <p:cNvPr id="10" name="AutoShape 15"/>
            <p:cNvSpPr>
              <a:spLocks noChangeArrowheads="1"/>
            </p:cNvSpPr>
            <p:nvPr/>
          </p:nvSpPr>
          <p:spPr bwMode="auto">
            <a:xfrm>
              <a:off x="6167815" y="5907490"/>
              <a:ext cx="1995617" cy="648941"/>
            </a:xfrm>
            <a:prstGeom prst="wedgeRoundRectCallout">
              <a:avLst>
                <a:gd name="adj1" fmla="val -30227"/>
                <a:gd name="adj2" fmla="val -74522"/>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3600" b="0" i="0" u="none" strike="noStrike" kern="0" cap="none" spc="0" normalizeH="0" baseline="0" noProof="0" dirty="0">
                  <a:ln>
                    <a:noFill/>
                  </a:ln>
                  <a:solidFill>
                    <a:srgbClr val="FFFFCC"/>
                  </a:solidFill>
                  <a:effectLst>
                    <a:outerShdw blurRad="38100" dist="38100" dir="2700000" algn="tl">
                      <a:srgbClr val="000000"/>
                    </a:outerShdw>
                  </a:effectLst>
                  <a:uLnTx/>
                  <a:uFillTx/>
                  <a:latin typeface="Times New Roman" pitchFamily="18" charset="0"/>
                </a:rPr>
                <a:t>查询结果</a:t>
              </a:r>
            </a:p>
          </p:txBody>
        </p:sp>
        <p:sp>
          <p:nvSpPr>
            <p:cNvPr id="14" name="圆角矩形 13"/>
            <p:cNvSpPr/>
            <p:nvPr/>
          </p:nvSpPr>
          <p:spPr>
            <a:xfrm>
              <a:off x="2783632" y="4892020"/>
              <a:ext cx="576064" cy="21602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15" name="直接连接符 14"/>
            <p:cNvCxnSpPr>
              <a:cxnSpLocks/>
            </p:cNvCxnSpPr>
            <p:nvPr/>
          </p:nvCxnSpPr>
          <p:spPr>
            <a:xfrm>
              <a:off x="5807968" y="3933056"/>
              <a:ext cx="172819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AutoShape 15"/>
            <p:cNvSpPr>
              <a:spLocks noChangeArrowheads="1"/>
            </p:cNvSpPr>
            <p:nvPr/>
          </p:nvSpPr>
          <p:spPr bwMode="auto">
            <a:xfrm>
              <a:off x="1559496" y="3116270"/>
              <a:ext cx="2316752" cy="906770"/>
            </a:xfrm>
            <a:prstGeom prst="wedgeRoundRectCallout">
              <a:avLst>
                <a:gd name="adj1" fmla="val 17449"/>
                <a:gd name="adj2" fmla="val 141302"/>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3600" b="0" i="0" u="none" strike="noStrike" kern="0" cap="none" spc="0" normalizeH="0" baseline="0" noProof="0" dirty="0">
                  <a:ln>
                    <a:noFill/>
                  </a:ln>
                  <a:solidFill>
                    <a:srgbClr val="FFFFCC"/>
                  </a:solidFill>
                  <a:effectLst>
                    <a:outerShdw blurRad="38100" dist="38100" dir="2700000" algn="tl">
                      <a:srgbClr val="000000"/>
                    </a:outerShdw>
                  </a:effectLst>
                  <a:uLnTx/>
                  <a:uFillTx/>
                  <a:latin typeface="Times New Roman" pitchFamily="18" charset="0"/>
                </a:rPr>
                <a:t>从这里读取</a:t>
              </a:r>
            </a:p>
          </p:txBody>
        </p:sp>
      </p:grpSp>
    </p:spTree>
    <p:extLst>
      <p:ext uri="{BB962C8B-B14F-4D97-AF65-F5344CB8AC3E}">
        <p14:creationId xmlns:p14="http://schemas.microsoft.com/office/powerpoint/2010/main" val="1463345046"/>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5" name="arrow.wav"/>
          </p:stSnd>
        </p:sndAc>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839416" y="30413"/>
            <a:ext cx="275734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dirty="0">
                <a:solidFill>
                  <a:srgbClr val="FFFFCC"/>
                </a:solidFill>
                <a:effectLst>
                  <a:outerShdw blurRad="38100" dist="38100" dir="2700000" algn="tl">
                    <a:srgbClr val="000000"/>
                  </a:outerShdw>
                </a:effectLst>
              </a:rPr>
              <a:t>FROM</a:t>
            </a:r>
            <a:r>
              <a:rPr lang="zh-CN" altLang="en-US" sz="4000" b="1" dirty="0">
                <a:solidFill>
                  <a:srgbClr val="FFFFCC"/>
                </a:solidFill>
                <a:effectLst>
                  <a:outerShdw blurRad="38100" dist="38100" dir="2700000" algn="tl">
                    <a:srgbClr val="000000"/>
                  </a:outerShdw>
                </a:effectLst>
              </a:rPr>
              <a:t>子句</a:t>
            </a:r>
          </a:p>
        </p:txBody>
      </p:sp>
      <p:sp>
        <p:nvSpPr>
          <p:cNvPr id="23" name="Rectangle 10"/>
          <p:cNvSpPr txBox="1">
            <a:spLocks noChangeArrowheads="1"/>
          </p:cNvSpPr>
          <p:nvPr/>
        </p:nvSpPr>
        <p:spPr bwMode="auto">
          <a:xfrm>
            <a:off x="551384" y="522225"/>
            <a:ext cx="11075468" cy="1027204"/>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eaLnBrk="1" hangingPunct="1">
              <a:lnSpc>
                <a:spcPct val="200000"/>
              </a:lnSpc>
              <a:spcBef>
                <a:spcPct val="60000"/>
              </a:spcBef>
              <a:spcAft>
                <a:spcPct val="0"/>
              </a:spcAft>
              <a:buClr>
                <a:srgbClr val="FFFFFF"/>
              </a:buClr>
              <a:buFont typeface="Wingdings" pitchFamily="2" charset="2"/>
              <a:buChar char="§"/>
              <a:defRPr/>
            </a:pPr>
            <a:r>
              <a:rPr kumimoji="1" lang="zh-CN" altLang="en-US" sz="3600" kern="0" dirty="0">
                <a:solidFill>
                  <a:srgbClr val="FFFFFF"/>
                </a:solidFill>
                <a:latin typeface="楷体_GB2312" pitchFamily="49" charset="-122"/>
              </a:rPr>
              <a:t>指定查询数据的来源，即从哪张（些）表里提取数据</a:t>
            </a:r>
            <a:endParaRPr kumimoji="1" lang="en-US" altLang="zh-CN" sz="3600" kern="0" dirty="0">
              <a:solidFill>
                <a:srgbClr val="FFFFFF"/>
              </a:solidFill>
              <a:latin typeface="楷体_GB2312" pitchFamily="49" charset="-122"/>
            </a:endParaRPr>
          </a:p>
        </p:txBody>
      </p:sp>
      <p:grpSp>
        <p:nvGrpSpPr>
          <p:cNvPr id="2" name="组合 1">
            <a:extLst>
              <a:ext uri="{FF2B5EF4-FFF2-40B4-BE49-F238E27FC236}">
                <a16:creationId xmlns:a16="http://schemas.microsoft.com/office/drawing/2014/main" id="{67CDC47E-0B39-472E-BACD-B22A33E3034F}"/>
              </a:ext>
            </a:extLst>
          </p:cNvPr>
          <p:cNvGrpSpPr/>
          <p:nvPr/>
        </p:nvGrpSpPr>
        <p:grpSpPr>
          <a:xfrm>
            <a:off x="983432" y="1688107"/>
            <a:ext cx="10153128" cy="4909245"/>
            <a:chOff x="983432" y="1688107"/>
            <a:chExt cx="8057143" cy="4561905"/>
          </a:xfrm>
        </p:grpSpPr>
        <p:pic>
          <p:nvPicPr>
            <p:cNvPr id="6" name="图片 5"/>
            <p:cNvPicPr>
              <a:picLocks noChangeAspect="1"/>
            </p:cNvPicPr>
            <p:nvPr/>
          </p:nvPicPr>
          <p:blipFill>
            <a:blip r:embed="rId4"/>
            <a:stretch>
              <a:fillRect/>
            </a:stretch>
          </p:blipFill>
          <p:spPr>
            <a:xfrm>
              <a:off x="983432" y="1688107"/>
              <a:ext cx="8057143" cy="4561905"/>
            </a:xfrm>
            <a:prstGeom prst="rect">
              <a:avLst/>
            </a:prstGeom>
            <a:ln w="38100" cap="sq">
              <a:solidFill>
                <a:srgbClr val="92D050"/>
              </a:solidFill>
              <a:prstDash val="solid"/>
              <a:miter lim="800000"/>
            </a:ln>
            <a:effectLst>
              <a:outerShdw blurRad="50800" dist="38100" dir="2700000" algn="tl" rotWithShape="0">
                <a:srgbClr val="000000">
                  <a:alpha val="43000"/>
                </a:srgbClr>
              </a:outerShdw>
            </a:effectLst>
          </p:spPr>
        </p:pic>
        <p:sp>
          <p:nvSpPr>
            <p:cNvPr id="13" name="椭圆形标注 12"/>
            <p:cNvSpPr/>
            <p:nvPr/>
          </p:nvSpPr>
          <p:spPr>
            <a:xfrm>
              <a:off x="4007768" y="3272283"/>
              <a:ext cx="2497859" cy="1142504"/>
            </a:xfrm>
            <a:prstGeom prst="wedgeEllipseCallout">
              <a:avLst>
                <a:gd name="adj1" fmla="val 50611"/>
                <a:gd name="adj2" fmla="val 55857"/>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en-US" sz="3200" dirty="0">
                  <a:latin typeface="微软雅黑" panose="020B0503020204020204" pitchFamily="34" charset="-122"/>
                  <a:ea typeface="微软雅黑" panose="020B0503020204020204" pitchFamily="34" charset="-122"/>
                </a:rPr>
                <a:t>我想看看</a:t>
              </a:r>
              <a:endParaRPr lang="en-US" altLang="zh-CN" sz="3200" dirty="0">
                <a:latin typeface="微软雅黑" panose="020B0503020204020204" pitchFamily="34" charset="-122"/>
                <a:ea typeface="微软雅黑" panose="020B0503020204020204" pitchFamily="34" charset="-122"/>
              </a:endParaRPr>
            </a:p>
            <a:p>
              <a:pPr algn="ctr"/>
              <a:r>
                <a:rPr lang="zh-CN" altLang="en-US" sz="3200" dirty="0">
                  <a:latin typeface="微软雅黑" panose="020B0503020204020204" pitchFamily="34" charset="-122"/>
                  <a:ea typeface="微软雅黑" panose="020B0503020204020204" pitchFamily="34" charset="-122"/>
                </a:rPr>
                <a:t>课程信息</a:t>
              </a:r>
            </a:p>
          </p:txBody>
        </p:sp>
        <p:pic>
          <p:nvPicPr>
            <p:cNvPr id="8" name="图片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58527" y="3861048"/>
              <a:ext cx="2090936" cy="2090936"/>
            </a:xfrm>
            <a:prstGeom prst="rect">
              <a:avLst/>
            </a:prstGeom>
          </p:spPr>
        </p:pic>
      </p:grpSp>
    </p:spTree>
    <p:extLst>
      <p:ext uri="{BB962C8B-B14F-4D97-AF65-F5344CB8AC3E}">
        <p14:creationId xmlns:p14="http://schemas.microsoft.com/office/powerpoint/2010/main" val="3065375960"/>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839416" y="30413"/>
            <a:ext cx="275734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dirty="0">
                <a:solidFill>
                  <a:srgbClr val="FFFFCC"/>
                </a:solidFill>
                <a:effectLst>
                  <a:outerShdw blurRad="38100" dist="38100" dir="2700000" algn="tl">
                    <a:srgbClr val="000000"/>
                  </a:outerShdw>
                </a:effectLst>
              </a:rPr>
              <a:t>FROM</a:t>
            </a:r>
            <a:r>
              <a:rPr lang="zh-CN" altLang="en-US" sz="4000" b="1" dirty="0">
                <a:solidFill>
                  <a:srgbClr val="FFFFCC"/>
                </a:solidFill>
                <a:effectLst>
                  <a:outerShdw blurRad="38100" dist="38100" dir="2700000" algn="tl">
                    <a:srgbClr val="000000"/>
                  </a:outerShdw>
                </a:effectLst>
              </a:rPr>
              <a:t>子句</a:t>
            </a:r>
          </a:p>
        </p:txBody>
      </p:sp>
      <p:sp>
        <p:nvSpPr>
          <p:cNvPr id="23" name="Rectangle 10"/>
          <p:cNvSpPr txBox="1">
            <a:spLocks noChangeArrowheads="1"/>
          </p:cNvSpPr>
          <p:nvPr/>
        </p:nvSpPr>
        <p:spPr bwMode="auto">
          <a:xfrm>
            <a:off x="551384" y="522225"/>
            <a:ext cx="11075468" cy="1027204"/>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eaLnBrk="1" hangingPunct="1">
              <a:lnSpc>
                <a:spcPct val="200000"/>
              </a:lnSpc>
              <a:spcBef>
                <a:spcPct val="60000"/>
              </a:spcBef>
              <a:spcAft>
                <a:spcPct val="0"/>
              </a:spcAft>
              <a:buClr>
                <a:srgbClr val="FFFFFF"/>
              </a:buClr>
              <a:buFont typeface="Wingdings" pitchFamily="2" charset="2"/>
              <a:buChar char="§"/>
              <a:defRPr/>
            </a:pPr>
            <a:r>
              <a:rPr kumimoji="1" lang="zh-CN" altLang="en-US" sz="3600" kern="0" dirty="0">
                <a:solidFill>
                  <a:srgbClr val="FFFFFF"/>
                </a:solidFill>
                <a:latin typeface="楷体_GB2312" pitchFamily="49" charset="-122"/>
              </a:rPr>
              <a:t>指定查询数据的来源，即从哪张（些）表里提取数据</a:t>
            </a:r>
            <a:endParaRPr kumimoji="1" lang="en-US" altLang="zh-CN" sz="3600" kern="0" dirty="0">
              <a:solidFill>
                <a:srgbClr val="FFFFFF"/>
              </a:solidFill>
              <a:latin typeface="楷体_GB2312" pitchFamily="49" charset="-122"/>
            </a:endParaRPr>
          </a:p>
        </p:txBody>
      </p:sp>
      <p:grpSp>
        <p:nvGrpSpPr>
          <p:cNvPr id="2" name="组合 1">
            <a:extLst>
              <a:ext uri="{FF2B5EF4-FFF2-40B4-BE49-F238E27FC236}">
                <a16:creationId xmlns:a16="http://schemas.microsoft.com/office/drawing/2014/main" id="{A4C1C19C-6CAC-410F-9A2D-7E2DB05B5DB6}"/>
              </a:ext>
            </a:extLst>
          </p:cNvPr>
          <p:cNvGrpSpPr/>
          <p:nvPr/>
        </p:nvGrpSpPr>
        <p:grpSpPr>
          <a:xfrm>
            <a:off x="695400" y="1715966"/>
            <a:ext cx="9937104" cy="4881386"/>
            <a:chOff x="234766" y="1669722"/>
            <a:chExt cx="8738675" cy="4639599"/>
          </a:xfrm>
        </p:grpSpPr>
        <p:pic>
          <p:nvPicPr>
            <p:cNvPr id="3" name="图片 2"/>
            <p:cNvPicPr>
              <a:picLocks noChangeAspect="1"/>
            </p:cNvPicPr>
            <p:nvPr/>
          </p:nvPicPr>
          <p:blipFill>
            <a:blip r:embed="rId4"/>
            <a:stretch>
              <a:fillRect/>
            </a:stretch>
          </p:blipFill>
          <p:spPr>
            <a:xfrm>
              <a:off x="1011536" y="1669722"/>
              <a:ext cx="7961905" cy="4561905"/>
            </a:xfrm>
            <a:prstGeom prst="rect">
              <a:avLst/>
            </a:prstGeom>
            <a:ln w="38100" cap="sq">
              <a:solidFill>
                <a:srgbClr val="92D050"/>
              </a:solidFill>
              <a:prstDash val="solid"/>
              <a:miter lim="800000"/>
            </a:ln>
            <a:effectLst>
              <a:outerShdw blurRad="50800" dist="38100" dir="2700000" algn="tl" rotWithShape="0">
                <a:srgbClr val="000000">
                  <a:alpha val="43000"/>
                </a:srgbClr>
              </a:outerShdw>
            </a:effectLst>
          </p:spPr>
        </p:pic>
        <p:sp>
          <p:nvSpPr>
            <p:cNvPr id="9" name="AutoShape 15"/>
            <p:cNvSpPr>
              <a:spLocks noChangeArrowheads="1"/>
            </p:cNvSpPr>
            <p:nvPr/>
          </p:nvSpPr>
          <p:spPr bwMode="auto">
            <a:xfrm>
              <a:off x="6023799" y="2213439"/>
              <a:ext cx="2436633" cy="684409"/>
            </a:xfrm>
            <a:prstGeom prst="wedgeRoundRectCallout">
              <a:avLst>
                <a:gd name="adj1" fmla="val -32059"/>
                <a:gd name="adj2" fmla="val 109483"/>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4000" b="0" i="0" u="none" strike="noStrike" kern="0" cap="none" spc="0" normalizeH="0" baseline="0" noProof="0" dirty="0">
                  <a:ln>
                    <a:noFill/>
                  </a:ln>
                  <a:solidFill>
                    <a:srgbClr val="FFFFCC"/>
                  </a:solidFill>
                  <a:effectLst>
                    <a:outerShdw blurRad="38100" dist="38100" dir="2700000" algn="tl">
                      <a:srgbClr val="000000"/>
                    </a:outerShdw>
                  </a:effectLst>
                  <a:uLnTx/>
                  <a:uFillTx/>
                  <a:latin typeface="Times New Roman" pitchFamily="18" charset="0"/>
                </a:rPr>
                <a:t>查询命令</a:t>
              </a:r>
            </a:p>
          </p:txBody>
        </p:sp>
        <p:sp>
          <p:nvSpPr>
            <p:cNvPr id="10" name="AutoShape 15"/>
            <p:cNvSpPr>
              <a:spLocks noChangeArrowheads="1"/>
            </p:cNvSpPr>
            <p:nvPr/>
          </p:nvSpPr>
          <p:spPr bwMode="auto">
            <a:xfrm>
              <a:off x="5159702" y="5624912"/>
              <a:ext cx="2293969" cy="684409"/>
            </a:xfrm>
            <a:prstGeom prst="wedgeRoundRectCallout">
              <a:avLst>
                <a:gd name="adj1" fmla="val -30227"/>
                <a:gd name="adj2" fmla="val -74522"/>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4000" b="0" i="0" u="none" strike="noStrike" kern="0" cap="none" spc="0" normalizeH="0" baseline="0" noProof="0" dirty="0">
                  <a:ln>
                    <a:noFill/>
                  </a:ln>
                  <a:solidFill>
                    <a:srgbClr val="FFFFCC"/>
                  </a:solidFill>
                  <a:effectLst>
                    <a:outerShdw blurRad="38100" dist="38100" dir="2700000" algn="tl">
                      <a:srgbClr val="000000"/>
                    </a:outerShdw>
                  </a:effectLst>
                  <a:uLnTx/>
                  <a:uFillTx/>
                  <a:latin typeface="Times New Roman" pitchFamily="18" charset="0"/>
                </a:rPr>
                <a:t>查询结果</a:t>
              </a:r>
            </a:p>
          </p:txBody>
        </p:sp>
        <p:sp>
          <p:nvSpPr>
            <p:cNvPr id="14" name="圆角矩形 13"/>
            <p:cNvSpPr/>
            <p:nvPr/>
          </p:nvSpPr>
          <p:spPr>
            <a:xfrm>
              <a:off x="1756146" y="4314304"/>
              <a:ext cx="576064" cy="21602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15" name="直接连接符 14"/>
            <p:cNvCxnSpPr/>
            <p:nvPr/>
          </p:nvCxnSpPr>
          <p:spPr>
            <a:xfrm>
              <a:off x="4799856" y="3685946"/>
              <a:ext cx="172819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AutoShape 15"/>
            <p:cNvSpPr>
              <a:spLocks noChangeArrowheads="1"/>
            </p:cNvSpPr>
            <p:nvPr/>
          </p:nvSpPr>
          <p:spPr bwMode="auto">
            <a:xfrm>
              <a:off x="234766" y="2869160"/>
              <a:ext cx="2633371" cy="816778"/>
            </a:xfrm>
            <a:prstGeom prst="wedgeRoundRectCallout">
              <a:avLst>
                <a:gd name="adj1" fmla="val 19218"/>
                <a:gd name="adj2" fmla="val 114586"/>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4000" b="0" i="0" u="none" strike="noStrike" kern="0" cap="none" spc="0" normalizeH="0" baseline="0" noProof="0" dirty="0">
                  <a:ln>
                    <a:noFill/>
                  </a:ln>
                  <a:solidFill>
                    <a:srgbClr val="FFFFCC"/>
                  </a:solidFill>
                  <a:effectLst>
                    <a:outerShdw blurRad="38100" dist="38100" dir="2700000" algn="tl">
                      <a:srgbClr val="000000"/>
                    </a:outerShdw>
                  </a:effectLst>
                  <a:uLnTx/>
                  <a:uFillTx/>
                  <a:latin typeface="Times New Roman" pitchFamily="18" charset="0"/>
                </a:rPr>
                <a:t>从这里读取</a:t>
              </a:r>
            </a:p>
          </p:txBody>
        </p:sp>
      </p:grpSp>
    </p:spTree>
    <p:extLst>
      <p:ext uri="{BB962C8B-B14F-4D97-AF65-F5344CB8AC3E}">
        <p14:creationId xmlns:p14="http://schemas.microsoft.com/office/powerpoint/2010/main" val="2571738586"/>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5" name="arrow.wav"/>
          </p:stSnd>
        </p:sndAc>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859988" y="3884527"/>
            <a:ext cx="5987438" cy="2252960"/>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pic>
        <p:nvPicPr>
          <p:cNvPr id="3" name="图片 2"/>
          <p:cNvPicPr>
            <a:picLocks noChangeAspect="1"/>
          </p:cNvPicPr>
          <p:nvPr/>
        </p:nvPicPr>
        <p:blipFill>
          <a:blip r:embed="rId4"/>
          <a:stretch>
            <a:fillRect/>
          </a:stretch>
        </p:blipFill>
        <p:spPr>
          <a:xfrm>
            <a:off x="859988" y="1874422"/>
            <a:ext cx="5724406"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5" name="Rectangle 2"/>
          <p:cNvSpPr>
            <a:spLocks noGrp="1" noChangeArrowheads="1"/>
          </p:cNvSpPr>
          <p:nvPr>
            <p:ph type="title"/>
          </p:nvPr>
        </p:nvSpPr>
        <p:spPr>
          <a:xfrm>
            <a:off x="839416" y="30413"/>
            <a:ext cx="319111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SELECT</a:t>
            </a:r>
            <a:r>
              <a:rPr lang="zh-CN" altLang="en-US" sz="4000" b="1" dirty="0">
                <a:solidFill>
                  <a:srgbClr val="FFFFCC"/>
                </a:solidFill>
                <a:effectLst>
                  <a:outerShdw blurRad="38100" dist="38100" dir="2700000" algn="tl">
                    <a:srgbClr val="000000"/>
                  </a:outerShdw>
                </a:effectLst>
              </a:rPr>
              <a:t>子句</a:t>
            </a:r>
          </a:p>
        </p:txBody>
      </p:sp>
      <p:sp>
        <p:nvSpPr>
          <p:cNvPr id="18" name="AutoShape 13"/>
          <p:cNvSpPr>
            <a:spLocks noChangeArrowheads="1"/>
          </p:cNvSpPr>
          <p:nvPr/>
        </p:nvSpPr>
        <p:spPr bwMode="auto">
          <a:xfrm>
            <a:off x="7715450" y="2348880"/>
            <a:ext cx="2279225" cy="698043"/>
          </a:xfrm>
          <a:prstGeom prst="wedgeRoundRectCallout">
            <a:avLst>
              <a:gd name="adj1" fmla="val -85121"/>
              <a:gd name="adj2" fmla="val 4701"/>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原始数据</a:t>
            </a:r>
          </a:p>
        </p:txBody>
      </p:sp>
      <p:sp>
        <p:nvSpPr>
          <p:cNvPr id="20" name="AutoShape 15"/>
          <p:cNvSpPr>
            <a:spLocks noChangeArrowheads="1"/>
          </p:cNvSpPr>
          <p:nvPr/>
        </p:nvSpPr>
        <p:spPr bwMode="auto">
          <a:xfrm>
            <a:off x="4090723" y="5345399"/>
            <a:ext cx="3301421" cy="1225550"/>
          </a:xfrm>
          <a:prstGeom prst="wedgeRoundRectCallout">
            <a:avLst>
              <a:gd name="adj1" fmla="val -93082"/>
              <a:gd name="adj2" fmla="val -25519"/>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查询结果只有指定的这几列</a:t>
            </a:r>
          </a:p>
        </p:txBody>
      </p:sp>
      <p:sp>
        <p:nvSpPr>
          <p:cNvPr id="21" name="Line 16"/>
          <p:cNvSpPr>
            <a:spLocks noChangeShapeType="1"/>
          </p:cNvSpPr>
          <p:nvPr/>
        </p:nvSpPr>
        <p:spPr bwMode="auto">
          <a:xfrm>
            <a:off x="2043235" y="4409295"/>
            <a:ext cx="1782762" cy="0"/>
          </a:xfrm>
          <a:prstGeom prst="line">
            <a:avLst/>
          </a:prstGeom>
          <a:noFill/>
          <a:ln w="28575" cap="sq">
            <a:solidFill>
              <a:srgbClr val="FF0000"/>
            </a:solidFill>
            <a:round/>
            <a:headEnd/>
            <a:tailEnd/>
          </a:ln>
          <a:effectLst/>
        </p:spPr>
        <p:txBody>
          <a:bodyPr lIns="72000" tIns="72000" rIns="72000" bIns="72000"/>
          <a:lstStyle/>
          <a:p>
            <a:pPr>
              <a:defRPr/>
            </a:pPr>
            <a:endParaRPr lang="zh-CN" altLang="en-US" kern="0">
              <a:solidFill>
                <a:sysClr val="windowText" lastClr="000000"/>
              </a:solidFill>
            </a:endParaRPr>
          </a:p>
        </p:txBody>
      </p:sp>
      <p:sp>
        <p:nvSpPr>
          <p:cNvPr id="23" name="Rectangle 10"/>
          <p:cNvSpPr txBox="1">
            <a:spLocks noChangeArrowheads="1"/>
          </p:cNvSpPr>
          <p:nvPr/>
        </p:nvSpPr>
        <p:spPr bwMode="auto">
          <a:xfrm>
            <a:off x="554334" y="389878"/>
            <a:ext cx="8151590" cy="1131079"/>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5"/>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algn="just" eaLnBrk="1" hangingPunct="1">
              <a:lnSpc>
                <a:spcPct val="200000"/>
              </a:lnSpc>
              <a:spcBef>
                <a:spcPct val="60000"/>
              </a:spcBef>
              <a:spcAft>
                <a:spcPct val="0"/>
              </a:spcAft>
              <a:buClr>
                <a:srgbClr val="FFFFFF"/>
              </a:buClr>
              <a:buFont typeface="Wingdings" pitchFamily="2" charset="2"/>
              <a:buChar char="§"/>
              <a:defRPr/>
            </a:pPr>
            <a:r>
              <a:rPr kumimoji="1" lang="zh-CN" altLang="en-US" sz="4000" kern="0" dirty="0">
                <a:solidFill>
                  <a:srgbClr val="FFFFFF"/>
                </a:solidFill>
                <a:latin typeface="楷体_GB2312" pitchFamily="49" charset="-122"/>
              </a:rPr>
              <a:t>指定查询结果的列，或者说表结构</a:t>
            </a:r>
            <a:endParaRPr kumimoji="1" lang="en-US" altLang="zh-CN" sz="4000" kern="0" dirty="0">
              <a:solidFill>
                <a:srgbClr val="FFFFFF"/>
              </a:solidFill>
              <a:latin typeface="楷体_GB2312" pitchFamily="49" charset="-122"/>
            </a:endParaRPr>
          </a:p>
        </p:txBody>
      </p:sp>
      <p:sp>
        <p:nvSpPr>
          <p:cNvPr id="33" name="Rectangle 51"/>
          <p:cNvSpPr>
            <a:spLocks noChangeArrowheads="1"/>
          </p:cNvSpPr>
          <p:nvPr/>
        </p:nvSpPr>
        <p:spPr bwMode="auto">
          <a:xfrm>
            <a:off x="8768181" y="4433308"/>
            <a:ext cx="2452987" cy="1584176"/>
          </a:xfrm>
          <a:prstGeom prst="snip2SameRect">
            <a:avLst/>
          </a:prstGeom>
          <a:ln>
            <a:headEnd/>
            <a:tailEnd/>
          </a:ln>
        </p:spPr>
        <p:style>
          <a:lnRef idx="0">
            <a:schemeClr val="accent6"/>
          </a:lnRef>
          <a:fillRef idx="3">
            <a:schemeClr val="accent6"/>
          </a:fillRef>
          <a:effectRef idx="3">
            <a:schemeClr val="accent6"/>
          </a:effectRef>
          <a:fontRef idx="minor">
            <a:schemeClr val="lt1"/>
          </a:fontRef>
        </p:style>
        <p:txBody>
          <a:bodyPr wrap="square" lIns="72000" tIns="72000" rIns="72000" bIns="72000" anchor="ctr" anchorCtr="1">
            <a:noAutofit/>
          </a:bodyPr>
          <a:lstStyle/>
          <a:p>
            <a:pPr>
              <a:spcAft>
                <a:spcPct val="0"/>
              </a:spcAft>
              <a:defRPr/>
            </a:pPr>
            <a:r>
              <a:rPr lang="en-US" altLang="zh-CN" sz="5400" b="1" kern="0" dirty="0">
                <a:solidFill>
                  <a:srgbClr val="99FF33"/>
                </a:solidFill>
                <a:effectLst>
                  <a:outerShdw blurRad="38100" dist="38100" dir="2700000" algn="tl">
                    <a:srgbClr val="000000"/>
                  </a:outerShdw>
                </a:effectLst>
              </a:rPr>
              <a:t>∏</a:t>
            </a:r>
            <a:r>
              <a:rPr lang="en-US" altLang="zh-CN" sz="6600" b="1" kern="0" baseline="-30000" dirty="0">
                <a:solidFill>
                  <a:srgbClr val="99FF33"/>
                </a:solidFill>
                <a:effectLst>
                  <a:outerShdw blurRad="38100" dist="38100" dir="2700000" algn="tl">
                    <a:srgbClr val="000000"/>
                  </a:outerShdw>
                </a:effectLst>
              </a:rPr>
              <a:t>A</a:t>
            </a:r>
            <a:r>
              <a:rPr lang="en-US" altLang="zh-CN" sz="6000" b="1" kern="0" dirty="0">
                <a:solidFill>
                  <a:srgbClr val="99FF33"/>
                </a:solidFill>
                <a:effectLst>
                  <a:outerShdw blurRad="38100" dist="38100" dir="2700000" algn="tl">
                    <a:srgbClr val="000000"/>
                  </a:outerShdw>
                </a:effectLst>
              </a:rPr>
              <a:t>(</a:t>
            </a:r>
            <a:r>
              <a:rPr lang="en-US" altLang="zh-CN" sz="6000" kern="0" dirty="0">
                <a:solidFill>
                  <a:srgbClr val="99FF33"/>
                </a:solidFill>
                <a:effectLst>
                  <a:outerShdw blurRad="38100" dist="38100" dir="2700000" algn="tl">
                    <a:srgbClr val="000000"/>
                  </a:outerShdw>
                </a:effectLst>
              </a:rPr>
              <a:t>R</a:t>
            </a:r>
            <a:r>
              <a:rPr lang="zh-CN" altLang="en-US" sz="6000" b="1" kern="0" dirty="0">
                <a:solidFill>
                  <a:srgbClr val="99FF33"/>
                </a:solidFill>
                <a:effectLst>
                  <a:outerShdw blurRad="38100" dist="38100" dir="2700000" algn="tl">
                    <a:srgbClr val="000000"/>
                  </a:outerShdw>
                </a:effectLst>
              </a:rPr>
              <a:t>)</a:t>
            </a:r>
            <a:endParaRPr lang="zh-CN" altLang="en-US" sz="7200" b="1" kern="0" dirty="0">
              <a:solidFill>
                <a:srgbClr val="FFFFCC"/>
              </a:solidFill>
              <a:effectLst>
                <a:outerShdw blurRad="38100" dist="38100" dir="2700000" algn="tl">
                  <a:srgbClr val="000000"/>
                </a:outerShdw>
              </a:effectLst>
            </a:endParaRPr>
          </a:p>
        </p:txBody>
      </p:sp>
    </p:spTree>
    <p:extLst>
      <p:ext uri="{BB962C8B-B14F-4D97-AF65-F5344CB8AC3E}">
        <p14:creationId xmlns:p14="http://schemas.microsoft.com/office/powerpoint/2010/main" val="877200892"/>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83432" y="3676906"/>
            <a:ext cx="6241394" cy="2734584"/>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5" name="Rectangle 2"/>
          <p:cNvSpPr>
            <a:spLocks noGrp="1" noChangeArrowheads="1"/>
          </p:cNvSpPr>
          <p:nvPr>
            <p:ph type="title"/>
          </p:nvPr>
        </p:nvSpPr>
        <p:spPr>
          <a:xfrm>
            <a:off x="816656" y="36450"/>
            <a:ext cx="319111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SELECT</a:t>
            </a:r>
            <a:r>
              <a:rPr lang="zh-CN" altLang="en-US" sz="4000" b="1" dirty="0">
                <a:solidFill>
                  <a:srgbClr val="FFFFCC"/>
                </a:solidFill>
                <a:effectLst>
                  <a:outerShdw blurRad="38100" dist="38100" dir="2700000" algn="tl">
                    <a:srgbClr val="000000"/>
                  </a:outerShdw>
                </a:effectLst>
              </a:rPr>
              <a:t>子句</a:t>
            </a:r>
          </a:p>
        </p:txBody>
      </p:sp>
      <p:sp>
        <p:nvSpPr>
          <p:cNvPr id="24" name="Rectangle 5"/>
          <p:cNvSpPr txBox="1">
            <a:spLocks noChangeArrowheads="1"/>
          </p:cNvSpPr>
          <p:nvPr/>
        </p:nvSpPr>
        <p:spPr bwMode="auto">
          <a:xfrm>
            <a:off x="528470" y="838883"/>
            <a:ext cx="7895110" cy="707886"/>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eaLnBrk="1" hangingPunct="1">
              <a:spcBef>
                <a:spcPct val="60000"/>
              </a:spcBef>
              <a:spcAft>
                <a:spcPct val="0"/>
              </a:spcAft>
              <a:buClr>
                <a:srgbClr val="FFFFFF"/>
              </a:buClr>
              <a:buFont typeface="Wingdings" pitchFamily="2" charset="2"/>
              <a:buChar char="§"/>
              <a:defRPr/>
            </a:pPr>
            <a:r>
              <a:rPr kumimoji="1" lang="zh-CN" altLang="en-US" sz="4000" kern="0" dirty="0">
                <a:solidFill>
                  <a:srgbClr val="FFFFFF"/>
                </a:solidFill>
                <a:latin typeface="楷体_GB2312" pitchFamily="49" charset="-122"/>
              </a:rPr>
              <a:t>可以用</a:t>
            </a:r>
            <a:r>
              <a:rPr kumimoji="1" lang="zh-CN" altLang="en-US" sz="4000" kern="0" dirty="0">
                <a:solidFill>
                  <a:srgbClr val="FFFFFF"/>
                </a:solidFill>
              </a:rPr>
              <a:t>“</a:t>
            </a:r>
            <a:r>
              <a:rPr kumimoji="1" lang="zh-CN" altLang="en-US" sz="4000" kern="0" dirty="0">
                <a:solidFill>
                  <a:srgbClr val="FFFFFF"/>
                </a:solidFill>
                <a:latin typeface="楷体_GB2312" pitchFamily="49" charset="-122"/>
              </a:rPr>
              <a:t>*</a:t>
            </a:r>
            <a:r>
              <a:rPr kumimoji="1" lang="zh-CN" altLang="en-US" sz="4000" kern="0" dirty="0">
                <a:solidFill>
                  <a:srgbClr val="FFFFFF"/>
                </a:solidFill>
              </a:rPr>
              <a:t>”</a:t>
            </a:r>
            <a:r>
              <a:rPr kumimoji="1" lang="zh-CN" altLang="en-US" sz="4000" kern="0" dirty="0">
                <a:solidFill>
                  <a:srgbClr val="FFFFFF"/>
                </a:solidFill>
                <a:latin typeface="楷体_GB2312" pitchFamily="49" charset="-122"/>
              </a:rPr>
              <a:t>选择所有列，更简单</a:t>
            </a:r>
            <a:endParaRPr kumimoji="1" lang="en-US" altLang="zh-CN" sz="4000" kern="0" dirty="0">
              <a:solidFill>
                <a:srgbClr val="99FF66"/>
              </a:solidFill>
              <a:latin typeface="楷体_GB2312" pitchFamily="49" charset="-122"/>
            </a:endParaRPr>
          </a:p>
        </p:txBody>
      </p:sp>
      <p:sp>
        <p:nvSpPr>
          <p:cNvPr id="28" name="AutoShape 16"/>
          <p:cNvSpPr>
            <a:spLocks noChangeArrowheads="1"/>
          </p:cNvSpPr>
          <p:nvPr/>
        </p:nvSpPr>
        <p:spPr bwMode="auto">
          <a:xfrm>
            <a:off x="8548061" y="5160252"/>
            <a:ext cx="2732515" cy="1251238"/>
          </a:xfrm>
          <a:prstGeom prst="wedgeRoundRectCallout">
            <a:avLst>
              <a:gd name="adj1" fmla="val -115021"/>
              <a:gd name="adj2" fmla="val 2288"/>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查询结果有所有的列</a:t>
            </a:r>
          </a:p>
        </p:txBody>
      </p:sp>
      <p:sp>
        <p:nvSpPr>
          <p:cNvPr id="29" name="Line 17"/>
          <p:cNvSpPr>
            <a:spLocks noChangeShapeType="1"/>
          </p:cNvSpPr>
          <p:nvPr/>
        </p:nvSpPr>
        <p:spPr bwMode="auto">
          <a:xfrm>
            <a:off x="2242419" y="4252110"/>
            <a:ext cx="215900" cy="0"/>
          </a:xfrm>
          <a:prstGeom prst="line">
            <a:avLst/>
          </a:prstGeom>
          <a:noFill/>
          <a:ln w="28575" cap="sq">
            <a:solidFill>
              <a:srgbClr val="FF0000"/>
            </a:solidFill>
            <a:round/>
            <a:headEnd/>
            <a:tailEnd/>
          </a:ln>
          <a:effectLst/>
        </p:spPr>
        <p:txBody>
          <a:bodyPr lIns="72000" tIns="72000" rIns="72000" bIns="72000"/>
          <a:lstStyle/>
          <a:p>
            <a:pPr>
              <a:defRPr/>
            </a:pPr>
            <a:endParaRPr lang="zh-CN" altLang="en-US" kern="0">
              <a:solidFill>
                <a:sysClr val="windowText" lastClr="000000"/>
              </a:solidFill>
            </a:endParaRPr>
          </a:p>
        </p:txBody>
      </p:sp>
      <p:pic>
        <p:nvPicPr>
          <p:cNvPr id="9" name="图片 8"/>
          <p:cNvPicPr>
            <a:picLocks noChangeAspect="1"/>
          </p:cNvPicPr>
          <p:nvPr/>
        </p:nvPicPr>
        <p:blipFill>
          <a:blip r:embed="rId5"/>
          <a:stretch>
            <a:fillRect/>
          </a:stretch>
        </p:blipFill>
        <p:spPr>
          <a:xfrm>
            <a:off x="983432" y="1772816"/>
            <a:ext cx="5724406"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10" name="AutoShape 18"/>
          <p:cNvSpPr>
            <a:spLocks noChangeArrowheads="1"/>
          </p:cNvSpPr>
          <p:nvPr/>
        </p:nvSpPr>
        <p:spPr bwMode="auto">
          <a:xfrm>
            <a:off x="8800140" y="2132856"/>
            <a:ext cx="1472324" cy="1251238"/>
          </a:xfrm>
          <a:prstGeom prst="wedgeRoundRectCallout">
            <a:avLst>
              <a:gd name="adj1" fmla="val -196571"/>
              <a:gd name="adj2" fmla="val 5813"/>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原始数据</a:t>
            </a:r>
            <a:endParaRPr lang="zh-CN" altLang="en-US" sz="3200" kern="0" dirty="0">
              <a:solidFill>
                <a:srgbClr val="FFFFCC"/>
              </a:solidFill>
              <a:effectLst>
                <a:outerShdw blurRad="38100" dist="38100" dir="2700000" algn="tl">
                  <a:srgbClr val="000000"/>
                </a:outerShdw>
              </a:effectLst>
              <a:latin typeface="Times New Roman" pitchFamily="18" charset="0"/>
            </a:endParaRPr>
          </a:p>
        </p:txBody>
      </p:sp>
    </p:spTree>
    <p:extLst>
      <p:ext uri="{BB962C8B-B14F-4D97-AF65-F5344CB8AC3E}">
        <p14:creationId xmlns:p14="http://schemas.microsoft.com/office/powerpoint/2010/main" val="2538583126"/>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911425" y="3781092"/>
            <a:ext cx="5867499" cy="2468527"/>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pic>
        <p:nvPicPr>
          <p:cNvPr id="11" name="图片 10"/>
          <p:cNvPicPr>
            <a:picLocks noChangeAspect="1"/>
          </p:cNvPicPr>
          <p:nvPr/>
        </p:nvPicPr>
        <p:blipFill>
          <a:blip r:embed="rId4"/>
          <a:stretch>
            <a:fillRect/>
          </a:stretch>
        </p:blipFill>
        <p:spPr>
          <a:xfrm>
            <a:off x="911424" y="1844824"/>
            <a:ext cx="5867499"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5" name="Rectangle 2"/>
          <p:cNvSpPr>
            <a:spLocks noGrp="1" noChangeArrowheads="1"/>
          </p:cNvSpPr>
          <p:nvPr>
            <p:ph type="title"/>
          </p:nvPr>
        </p:nvSpPr>
        <p:spPr>
          <a:xfrm>
            <a:off x="767408" y="63154"/>
            <a:ext cx="319111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SELECT</a:t>
            </a:r>
            <a:r>
              <a:rPr lang="zh-CN" altLang="en-US" sz="4000" b="1" dirty="0">
                <a:solidFill>
                  <a:srgbClr val="FFFFCC"/>
                </a:solidFill>
                <a:effectLst>
                  <a:outerShdw blurRad="38100" dist="38100" dir="2700000" algn="tl">
                    <a:srgbClr val="000000"/>
                  </a:outerShdw>
                </a:effectLst>
              </a:rPr>
              <a:t>子句</a:t>
            </a:r>
          </a:p>
        </p:txBody>
      </p:sp>
      <p:sp>
        <p:nvSpPr>
          <p:cNvPr id="19" name="Rectangle 5"/>
          <p:cNvSpPr txBox="1">
            <a:spLocks noChangeArrowheads="1"/>
          </p:cNvSpPr>
          <p:nvPr/>
        </p:nvSpPr>
        <p:spPr bwMode="auto">
          <a:xfrm>
            <a:off x="469835" y="895731"/>
            <a:ext cx="5997155" cy="646331"/>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5"/>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eaLnBrk="1" hangingPunct="1">
              <a:spcBef>
                <a:spcPct val="60000"/>
              </a:spcBef>
              <a:spcAft>
                <a:spcPct val="0"/>
              </a:spcAft>
              <a:buClr>
                <a:srgbClr val="FFFFFF"/>
              </a:buClr>
              <a:buFont typeface="Wingdings" pitchFamily="2" charset="2"/>
              <a:buChar char="§"/>
              <a:defRPr/>
            </a:pPr>
            <a:r>
              <a:rPr kumimoji="1" lang="zh-CN" altLang="en-US" sz="3600" kern="0" dirty="0">
                <a:solidFill>
                  <a:srgbClr val="FFFFFF"/>
                </a:solidFill>
                <a:latin typeface="楷体_GB2312" pitchFamily="49" charset="-122"/>
              </a:rPr>
              <a:t>可以给结果中的列另取列名</a:t>
            </a:r>
          </a:p>
        </p:txBody>
      </p:sp>
      <p:sp>
        <p:nvSpPr>
          <p:cNvPr id="22" name="AutoShape 18"/>
          <p:cNvSpPr>
            <a:spLocks noChangeArrowheads="1"/>
          </p:cNvSpPr>
          <p:nvPr/>
        </p:nvSpPr>
        <p:spPr bwMode="auto">
          <a:xfrm>
            <a:off x="7302021" y="1763200"/>
            <a:ext cx="1296144" cy="1233751"/>
          </a:xfrm>
          <a:prstGeom prst="wedgeRoundRectCallout">
            <a:avLst>
              <a:gd name="adj1" fmla="val -84686"/>
              <a:gd name="adj2" fmla="val 5813"/>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原始数据</a:t>
            </a:r>
          </a:p>
        </p:txBody>
      </p:sp>
      <p:sp>
        <p:nvSpPr>
          <p:cNvPr id="23" name="Line 19"/>
          <p:cNvSpPr>
            <a:spLocks noChangeShapeType="1"/>
          </p:cNvSpPr>
          <p:nvPr/>
        </p:nvSpPr>
        <p:spPr bwMode="auto">
          <a:xfrm>
            <a:off x="2242420" y="4352056"/>
            <a:ext cx="1224136" cy="0"/>
          </a:xfrm>
          <a:prstGeom prst="line">
            <a:avLst/>
          </a:prstGeom>
          <a:noFill/>
          <a:ln w="28575" cap="sq">
            <a:solidFill>
              <a:srgbClr val="FF0000"/>
            </a:solidFill>
            <a:round/>
            <a:headEnd/>
            <a:tailEnd/>
          </a:ln>
          <a:effectLst/>
        </p:spPr>
        <p:txBody>
          <a:bodyPr lIns="72000" tIns="72000" rIns="72000" bIns="72000"/>
          <a:lstStyle/>
          <a:p>
            <a:pPr>
              <a:defRPr/>
            </a:pPr>
            <a:endParaRPr lang="zh-CN" altLang="en-US" kern="0">
              <a:solidFill>
                <a:sysClr val="windowText" lastClr="000000"/>
              </a:solidFill>
            </a:endParaRPr>
          </a:p>
        </p:txBody>
      </p:sp>
      <p:sp>
        <p:nvSpPr>
          <p:cNvPr id="24" name="Line 20"/>
          <p:cNvSpPr>
            <a:spLocks noChangeShapeType="1"/>
          </p:cNvSpPr>
          <p:nvPr/>
        </p:nvSpPr>
        <p:spPr bwMode="auto">
          <a:xfrm>
            <a:off x="3754589" y="4368294"/>
            <a:ext cx="1150937" cy="0"/>
          </a:xfrm>
          <a:prstGeom prst="line">
            <a:avLst/>
          </a:prstGeom>
          <a:noFill/>
          <a:ln w="28575" cap="sq">
            <a:solidFill>
              <a:srgbClr val="FF0000"/>
            </a:solidFill>
            <a:round/>
            <a:headEnd/>
            <a:tailEnd/>
          </a:ln>
          <a:effectLst/>
        </p:spPr>
        <p:txBody>
          <a:bodyPr lIns="72000" tIns="72000" rIns="72000" bIns="72000"/>
          <a:lstStyle/>
          <a:p>
            <a:pPr>
              <a:defRPr/>
            </a:pPr>
            <a:endParaRPr lang="zh-CN" altLang="en-US" sz="2000" kern="0">
              <a:solidFill>
                <a:sysClr val="windowText" lastClr="000000"/>
              </a:solidFill>
            </a:endParaRPr>
          </a:p>
        </p:txBody>
      </p:sp>
      <p:sp>
        <p:nvSpPr>
          <p:cNvPr id="26" name="AutoShape 22"/>
          <p:cNvSpPr>
            <a:spLocks noChangeArrowheads="1"/>
          </p:cNvSpPr>
          <p:nvPr/>
        </p:nvSpPr>
        <p:spPr bwMode="auto">
          <a:xfrm>
            <a:off x="3860898" y="5288160"/>
            <a:ext cx="4379676" cy="858177"/>
          </a:xfrm>
          <a:prstGeom prst="wedgeRoundRectCallout">
            <a:avLst>
              <a:gd name="adj1" fmla="val -42712"/>
              <a:gd name="adj2" fmla="val -162175"/>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常用两种表达方式</a:t>
            </a:r>
          </a:p>
        </p:txBody>
      </p:sp>
      <p:sp>
        <p:nvSpPr>
          <p:cNvPr id="10" name="圆角矩形 9"/>
          <p:cNvSpPr/>
          <p:nvPr/>
        </p:nvSpPr>
        <p:spPr>
          <a:xfrm>
            <a:off x="1109333" y="1842258"/>
            <a:ext cx="1296144" cy="22083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1147493" y="5364770"/>
            <a:ext cx="1296144" cy="22083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44887447"/>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901610" y="3409198"/>
            <a:ext cx="6520688" cy="2976248"/>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5" name="Rectangle 2"/>
          <p:cNvSpPr>
            <a:spLocks noGrp="1" noChangeArrowheads="1"/>
          </p:cNvSpPr>
          <p:nvPr>
            <p:ph type="title"/>
          </p:nvPr>
        </p:nvSpPr>
        <p:spPr>
          <a:xfrm>
            <a:off x="767408" y="65480"/>
            <a:ext cx="319111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SELECT</a:t>
            </a:r>
            <a:r>
              <a:rPr lang="zh-CN" altLang="en-US" sz="4000" b="1" dirty="0">
                <a:solidFill>
                  <a:srgbClr val="FFFFCC"/>
                </a:solidFill>
                <a:effectLst>
                  <a:outerShdw blurRad="38100" dist="38100" dir="2700000" algn="tl">
                    <a:srgbClr val="000000"/>
                  </a:outerShdw>
                </a:effectLst>
              </a:rPr>
              <a:t>子句</a:t>
            </a:r>
          </a:p>
        </p:txBody>
      </p:sp>
      <p:sp>
        <p:nvSpPr>
          <p:cNvPr id="38" name="Rectangle 4"/>
          <p:cNvSpPr txBox="1">
            <a:spLocks noChangeArrowheads="1"/>
          </p:cNvSpPr>
          <p:nvPr/>
        </p:nvSpPr>
        <p:spPr bwMode="auto">
          <a:xfrm>
            <a:off x="465051" y="819725"/>
            <a:ext cx="4150495" cy="646331"/>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algn="just" eaLnBrk="1" hangingPunct="1">
              <a:spcBef>
                <a:spcPct val="60000"/>
              </a:spcBef>
              <a:spcAft>
                <a:spcPct val="0"/>
              </a:spcAft>
              <a:buClr>
                <a:srgbClr val="FFFFFF"/>
              </a:buClr>
              <a:buFont typeface="Wingdings" pitchFamily="2" charset="2"/>
              <a:buChar char="§"/>
              <a:defRPr/>
            </a:pPr>
            <a:r>
              <a:rPr kumimoji="1" lang="zh-CN" altLang="en-US" sz="3600" kern="0" dirty="0">
                <a:solidFill>
                  <a:srgbClr val="FFFFFF"/>
                </a:solidFill>
                <a:latin typeface="楷体_GB2312" pitchFamily="49" charset="-122"/>
              </a:rPr>
              <a:t>列可为任意表达式</a:t>
            </a:r>
          </a:p>
        </p:txBody>
      </p:sp>
      <p:sp>
        <p:nvSpPr>
          <p:cNvPr id="42" name="Line 17"/>
          <p:cNvSpPr>
            <a:spLocks noChangeShapeType="1"/>
          </p:cNvSpPr>
          <p:nvPr/>
        </p:nvSpPr>
        <p:spPr bwMode="auto">
          <a:xfrm>
            <a:off x="2131270" y="4219525"/>
            <a:ext cx="4968552" cy="0"/>
          </a:xfrm>
          <a:prstGeom prst="line">
            <a:avLst/>
          </a:prstGeom>
          <a:noFill/>
          <a:ln w="28575" cap="sq">
            <a:solidFill>
              <a:srgbClr val="FF0000"/>
            </a:solidFill>
            <a:round/>
            <a:headEnd/>
            <a:tailEnd/>
          </a:ln>
          <a:effectLst/>
        </p:spPr>
        <p:txBody>
          <a:bodyPr lIns="72000" tIns="72000" rIns="72000" bIns="72000"/>
          <a:lstStyle/>
          <a:p>
            <a:pPr>
              <a:defRPr/>
            </a:pPr>
            <a:endParaRPr lang="zh-CN" altLang="en-US" kern="0">
              <a:solidFill>
                <a:sysClr val="windowText" lastClr="000000"/>
              </a:solidFill>
            </a:endParaRPr>
          </a:p>
        </p:txBody>
      </p:sp>
      <p:sp>
        <p:nvSpPr>
          <p:cNvPr id="43" name="AutoShape 18"/>
          <p:cNvSpPr>
            <a:spLocks noChangeArrowheads="1"/>
          </p:cNvSpPr>
          <p:nvPr/>
        </p:nvSpPr>
        <p:spPr bwMode="auto">
          <a:xfrm>
            <a:off x="1847528" y="4581129"/>
            <a:ext cx="2110991" cy="564458"/>
          </a:xfrm>
          <a:prstGeom prst="wedgeRoundRectCallout">
            <a:avLst>
              <a:gd name="adj1" fmla="val 17830"/>
              <a:gd name="adj2" fmla="val 71811"/>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200" kern="0" dirty="0">
                <a:solidFill>
                  <a:srgbClr val="FFFFCC"/>
                </a:solidFill>
                <a:effectLst>
                  <a:outerShdw blurRad="38100" dist="38100" dir="2700000" algn="tl">
                    <a:srgbClr val="000000"/>
                  </a:outerShdw>
                </a:effectLst>
                <a:latin typeface="Times New Roman" pitchFamily="18" charset="0"/>
              </a:rPr>
              <a:t>查询结果</a:t>
            </a:r>
          </a:p>
        </p:txBody>
      </p:sp>
      <p:sp>
        <p:nvSpPr>
          <p:cNvPr id="44" name="AutoShape 19"/>
          <p:cNvSpPr>
            <a:spLocks noChangeArrowheads="1"/>
          </p:cNvSpPr>
          <p:nvPr/>
        </p:nvSpPr>
        <p:spPr bwMode="auto">
          <a:xfrm>
            <a:off x="4658797" y="4481493"/>
            <a:ext cx="6837803" cy="1827823"/>
          </a:xfrm>
          <a:prstGeom prst="wedgeRoundRectCallout">
            <a:avLst>
              <a:gd name="adj1" fmla="val -26575"/>
              <a:gd name="adj2" fmla="val -60271"/>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spcAft>
                <a:spcPct val="40000"/>
              </a:spcAft>
              <a:buClr>
                <a:srgbClr val="66FF33"/>
              </a:buClr>
              <a:buSzPct val="85000"/>
              <a:defRPr/>
            </a:pPr>
            <a:r>
              <a:rPr lang="en-US" altLang="zh-CN" sz="3200" kern="0" dirty="0" err="1">
                <a:solidFill>
                  <a:srgbClr val="FFFFCC"/>
                </a:solidFill>
                <a:effectLst>
                  <a:outerShdw blurRad="38100" dist="38100" dir="2700000" algn="tl">
                    <a:srgbClr val="000000"/>
                  </a:outerShdw>
                </a:effectLst>
                <a:latin typeface="Times New Roman" pitchFamily="18" charset="0"/>
              </a:rPr>
              <a:t>curdate</a:t>
            </a:r>
            <a:r>
              <a:rPr lang="en-US" altLang="zh-CN" sz="3200" kern="0" dirty="0">
                <a:solidFill>
                  <a:srgbClr val="FFFFCC"/>
                </a:solidFill>
                <a:effectLst>
                  <a:outerShdw blurRad="38100" dist="38100" dir="2700000" algn="tl">
                    <a:srgbClr val="000000"/>
                  </a:outerShdw>
                </a:effectLst>
                <a:latin typeface="Times New Roman" pitchFamily="18" charset="0"/>
              </a:rPr>
              <a:t>( )</a:t>
            </a:r>
            <a:r>
              <a:rPr lang="zh-CN" altLang="en-US" sz="3200" kern="0" dirty="0">
                <a:solidFill>
                  <a:srgbClr val="FFFFCC"/>
                </a:solidFill>
                <a:effectLst>
                  <a:outerShdw blurRad="38100" dist="38100" dir="2700000" algn="tl">
                    <a:srgbClr val="000000"/>
                  </a:outerShdw>
                </a:effectLst>
                <a:latin typeface="Times New Roman" pitchFamily="18" charset="0"/>
              </a:rPr>
              <a:t>得出当前日期</a:t>
            </a:r>
          </a:p>
          <a:p>
            <a:pPr>
              <a:spcAft>
                <a:spcPct val="40000"/>
              </a:spcAft>
              <a:buClr>
                <a:srgbClr val="66FF33"/>
              </a:buClr>
              <a:buSzPct val="85000"/>
              <a:defRPr/>
            </a:pPr>
            <a:r>
              <a:rPr lang="en-US" altLang="zh-CN" sz="3200" kern="0" dirty="0" err="1">
                <a:solidFill>
                  <a:srgbClr val="FFFFCC"/>
                </a:solidFill>
                <a:effectLst>
                  <a:outerShdw blurRad="38100" dist="38100" dir="2700000" algn="tl">
                    <a:srgbClr val="000000"/>
                  </a:outerShdw>
                </a:effectLst>
                <a:latin typeface="Times New Roman" pitchFamily="18" charset="0"/>
              </a:rPr>
              <a:t>timestampdiff</a:t>
            </a:r>
            <a:r>
              <a:rPr lang="en-US" altLang="zh-CN" sz="3200" kern="0" dirty="0">
                <a:solidFill>
                  <a:srgbClr val="FFFFCC"/>
                </a:solidFill>
                <a:effectLst>
                  <a:outerShdw blurRad="38100" dist="38100" dir="2700000" algn="tl">
                    <a:srgbClr val="000000"/>
                  </a:outerShdw>
                </a:effectLst>
                <a:latin typeface="Times New Roman" pitchFamily="18" charset="0"/>
              </a:rPr>
              <a:t>( )</a:t>
            </a:r>
            <a:r>
              <a:rPr lang="zh-CN" altLang="en-US" sz="3200" kern="0" dirty="0">
                <a:solidFill>
                  <a:srgbClr val="FFFFCC"/>
                </a:solidFill>
                <a:effectLst>
                  <a:outerShdw blurRad="38100" dist="38100" dir="2700000" algn="tl">
                    <a:srgbClr val="000000"/>
                  </a:outerShdw>
                </a:effectLst>
                <a:latin typeface="Times New Roman" pitchFamily="18" charset="0"/>
              </a:rPr>
              <a:t>求两个时间之间的时间差（年</a:t>
            </a:r>
            <a:r>
              <a:rPr lang="en-US" altLang="zh-CN" sz="3200" kern="0" dirty="0">
                <a:solidFill>
                  <a:srgbClr val="FFFFCC"/>
                </a:solidFill>
                <a:effectLst>
                  <a:outerShdw blurRad="38100" dist="38100" dir="2700000" algn="tl">
                    <a:srgbClr val="000000"/>
                  </a:outerShdw>
                </a:effectLst>
                <a:latin typeface="Times New Roman" pitchFamily="18" charset="0"/>
              </a:rPr>
              <a:t>/</a:t>
            </a:r>
            <a:r>
              <a:rPr lang="zh-CN" altLang="en-US" sz="3200" kern="0" dirty="0">
                <a:solidFill>
                  <a:srgbClr val="FFFFCC"/>
                </a:solidFill>
                <a:effectLst>
                  <a:outerShdw blurRad="38100" dist="38100" dir="2700000" algn="tl">
                    <a:srgbClr val="000000"/>
                  </a:outerShdw>
                </a:effectLst>
                <a:latin typeface="Times New Roman" pitchFamily="18" charset="0"/>
              </a:rPr>
              <a:t>秒等）</a:t>
            </a:r>
          </a:p>
        </p:txBody>
      </p:sp>
      <p:pic>
        <p:nvPicPr>
          <p:cNvPr id="11" name="图片 10"/>
          <p:cNvPicPr>
            <a:picLocks noChangeAspect="1"/>
          </p:cNvPicPr>
          <p:nvPr/>
        </p:nvPicPr>
        <p:blipFill>
          <a:blip r:embed="rId5"/>
          <a:stretch>
            <a:fillRect/>
          </a:stretch>
        </p:blipFill>
        <p:spPr>
          <a:xfrm>
            <a:off x="912195" y="1646858"/>
            <a:ext cx="5724406"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12" name="AutoShape 18"/>
          <p:cNvSpPr>
            <a:spLocks noChangeArrowheads="1"/>
          </p:cNvSpPr>
          <p:nvPr/>
        </p:nvSpPr>
        <p:spPr bwMode="auto">
          <a:xfrm>
            <a:off x="7283751" y="1646858"/>
            <a:ext cx="1151607" cy="1007666"/>
          </a:xfrm>
          <a:prstGeom prst="wedgeRoundRectCallout">
            <a:avLst>
              <a:gd name="adj1" fmla="val -84686"/>
              <a:gd name="adj2" fmla="val 5813"/>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200" kern="0" dirty="0">
                <a:solidFill>
                  <a:srgbClr val="FFFFCC"/>
                </a:solidFill>
                <a:effectLst>
                  <a:outerShdw blurRad="38100" dist="38100" dir="2700000" algn="tl">
                    <a:srgbClr val="000000"/>
                  </a:outerShdw>
                </a:effectLst>
                <a:latin typeface="Times New Roman" pitchFamily="18" charset="0"/>
              </a:rPr>
              <a:t>原始数据</a:t>
            </a:r>
          </a:p>
        </p:txBody>
      </p:sp>
      <p:sp>
        <p:nvSpPr>
          <p:cNvPr id="10" name="Rectangle 85"/>
          <p:cNvSpPr>
            <a:spLocks noChangeArrowheads="1"/>
          </p:cNvSpPr>
          <p:nvPr/>
        </p:nvSpPr>
        <p:spPr bwMode="auto">
          <a:xfrm>
            <a:off x="8904312" y="1558824"/>
            <a:ext cx="2844316" cy="1598947"/>
          </a:xfrm>
          <a:prstGeom prst="rect">
            <a:avLst/>
          </a:prstGeom>
          <a:solidFill>
            <a:srgbClr val="0000CC"/>
          </a:solidFill>
          <a:ln w="28575" cap="sq">
            <a:noFill/>
            <a:miter lim="800000"/>
            <a:headEnd/>
            <a:tailEnd/>
          </a:ln>
          <a:effectLst>
            <a:glow rad="101600">
              <a:schemeClr val="accent2">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3600" b="1" i="0" u="none" strike="noStrike" kern="0" cap="none" spc="0" normalizeH="0" baseline="0" noProof="0" dirty="0">
                <a:ln>
                  <a:noFill/>
                </a:ln>
                <a:solidFill>
                  <a:schemeClr val="bg1"/>
                </a:solidFill>
                <a:uLnTx/>
                <a:uFillTx/>
                <a:latin typeface="宋体" panose="02010600030101010101" pitchFamily="2" charset="-122"/>
                <a:ea typeface="宋体" panose="02010600030101010101" pitchFamily="2" charset="-122"/>
              </a:rPr>
              <a:t>用表达式构造更多的信息</a:t>
            </a:r>
          </a:p>
        </p:txBody>
      </p:sp>
    </p:spTree>
    <p:extLst>
      <p:ext uri="{BB962C8B-B14F-4D97-AF65-F5344CB8AC3E}">
        <p14:creationId xmlns:p14="http://schemas.microsoft.com/office/powerpoint/2010/main" val="2098411173"/>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901610" y="3409198"/>
            <a:ext cx="6520688" cy="2976248"/>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5" name="Rectangle 2"/>
          <p:cNvSpPr>
            <a:spLocks noGrp="1" noChangeArrowheads="1"/>
          </p:cNvSpPr>
          <p:nvPr>
            <p:ph type="title"/>
          </p:nvPr>
        </p:nvSpPr>
        <p:spPr>
          <a:xfrm>
            <a:off x="767408" y="65480"/>
            <a:ext cx="319111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SELECT</a:t>
            </a:r>
            <a:r>
              <a:rPr lang="zh-CN" altLang="en-US" sz="4000" b="1" dirty="0">
                <a:solidFill>
                  <a:srgbClr val="FFFFCC"/>
                </a:solidFill>
                <a:effectLst>
                  <a:outerShdw blurRad="38100" dist="38100" dir="2700000" algn="tl">
                    <a:srgbClr val="000000"/>
                  </a:outerShdw>
                </a:effectLst>
              </a:rPr>
              <a:t>子句</a:t>
            </a:r>
          </a:p>
        </p:txBody>
      </p:sp>
      <p:sp>
        <p:nvSpPr>
          <p:cNvPr id="38" name="Rectangle 4"/>
          <p:cNvSpPr txBox="1">
            <a:spLocks noChangeArrowheads="1"/>
          </p:cNvSpPr>
          <p:nvPr/>
        </p:nvSpPr>
        <p:spPr bwMode="auto">
          <a:xfrm>
            <a:off x="465051" y="819725"/>
            <a:ext cx="4150495" cy="646331"/>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algn="just" eaLnBrk="1" hangingPunct="1">
              <a:spcBef>
                <a:spcPct val="60000"/>
              </a:spcBef>
              <a:spcAft>
                <a:spcPct val="0"/>
              </a:spcAft>
              <a:buClr>
                <a:srgbClr val="FFFFFF"/>
              </a:buClr>
              <a:buFont typeface="Wingdings" pitchFamily="2" charset="2"/>
              <a:buChar char="§"/>
              <a:defRPr/>
            </a:pPr>
            <a:r>
              <a:rPr kumimoji="1" lang="zh-CN" altLang="en-US" sz="3600" kern="0" dirty="0">
                <a:solidFill>
                  <a:srgbClr val="FFFFFF"/>
                </a:solidFill>
                <a:latin typeface="楷体_GB2312" pitchFamily="49" charset="-122"/>
              </a:rPr>
              <a:t>列可为任意表达式</a:t>
            </a:r>
          </a:p>
        </p:txBody>
      </p:sp>
      <p:sp>
        <p:nvSpPr>
          <p:cNvPr id="42" name="Line 17"/>
          <p:cNvSpPr>
            <a:spLocks noChangeShapeType="1"/>
          </p:cNvSpPr>
          <p:nvPr/>
        </p:nvSpPr>
        <p:spPr bwMode="auto">
          <a:xfrm>
            <a:off x="2131270" y="4219525"/>
            <a:ext cx="4968552" cy="0"/>
          </a:xfrm>
          <a:prstGeom prst="line">
            <a:avLst/>
          </a:prstGeom>
          <a:noFill/>
          <a:ln w="28575" cap="sq">
            <a:solidFill>
              <a:srgbClr val="FF0000"/>
            </a:solidFill>
            <a:round/>
            <a:headEnd/>
            <a:tailEnd/>
          </a:ln>
          <a:effectLst/>
        </p:spPr>
        <p:txBody>
          <a:bodyPr lIns="72000" tIns="72000" rIns="72000" bIns="72000"/>
          <a:lstStyle/>
          <a:p>
            <a:pPr>
              <a:defRPr/>
            </a:pPr>
            <a:endParaRPr lang="zh-CN" altLang="en-US" kern="0">
              <a:solidFill>
                <a:sysClr val="windowText" lastClr="000000"/>
              </a:solidFill>
            </a:endParaRPr>
          </a:p>
        </p:txBody>
      </p:sp>
      <p:sp>
        <p:nvSpPr>
          <p:cNvPr id="43" name="AutoShape 18"/>
          <p:cNvSpPr>
            <a:spLocks noChangeArrowheads="1"/>
          </p:cNvSpPr>
          <p:nvPr/>
        </p:nvSpPr>
        <p:spPr bwMode="auto">
          <a:xfrm>
            <a:off x="1847528" y="4581129"/>
            <a:ext cx="2110991" cy="564458"/>
          </a:xfrm>
          <a:prstGeom prst="wedgeRoundRectCallout">
            <a:avLst>
              <a:gd name="adj1" fmla="val 17830"/>
              <a:gd name="adj2" fmla="val 71811"/>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200" kern="0" dirty="0">
                <a:solidFill>
                  <a:srgbClr val="FFFFCC"/>
                </a:solidFill>
                <a:effectLst>
                  <a:outerShdw blurRad="38100" dist="38100" dir="2700000" algn="tl">
                    <a:srgbClr val="000000"/>
                  </a:outerShdw>
                </a:effectLst>
                <a:latin typeface="Times New Roman" pitchFamily="18" charset="0"/>
              </a:rPr>
              <a:t>查询结果</a:t>
            </a:r>
          </a:p>
        </p:txBody>
      </p:sp>
      <p:sp>
        <p:nvSpPr>
          <p:cNvPr id="44" name="AutoShape 19"/>
          <p:cNvSpPr>
            <a:spLocks noChangeArrowheads="1"/>
          </p:cNvSpPr>
          <p:nvPr/>
        </p:nvSpPr>
        <p:spPr bwMode="auto">
          <a:xfrm>
            <a:off x="4658797" y="4481493"/>
            <a:ext cx="6837803" cy="1827823"/>
          </a:xfrm>
          <a:prstGeom prst="wedgeRoundRectCallout">
            <a:avLst>
              <a:gd name="adj1" fmla="val -26575"/>
              <a:gd name="adj2" fmla="val -60271"/>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spcAft>
                <a:spcPct val="40000"/>
              </a:spcAft>
              <a:buClr>
                <a:srgbClr val="66FF33"/>
              </a:buClr>
              <a:buSzPct val="85000"/>
              <a:defRPr/>
            </a:pPr>
            <a:r>
              <a:rPr lang="en-US" altLang="zh-CN" sz="3200" kern="0" dirty="0" err="1">
                <a:solidFill>
                  <a:srgbClr val="FFFFCC"/>
                </a:solidFill>
                <a:effectLst>
                  <a:outerShdw blurRad="38100" dist="38100" dir="2700000" algn="tl">
                    <a:srgbClr val="000000"/>
                  </a:outerShdw>
                </a:effectLst>
                <a:latin typeface="Times New Roman" pitchFamily="18" charset="0"/>
              </a:rPr>
              <a:t>curdate</a:t>
            </a:r>
            <a:r>
              <a:rPr lang="en-US" altLang="zh-CN" sz="3200" kern="0" dirty="0">
                <a:solidFill>
                  <a:srgbClr val="FFFFCC"/>
                </a:solidFill>
                <a:effectLst>
                  <a:outerShdw blurRad="38100" dist="38100" dir="2700000" algn="tl">
                    <a:srgbClr val="000000"/>
                  </a:outerShdw>
                </a:effectLst>
                <a:latin typeface="Times New Roman" pitchFamily="18" charset="0"/>
              </a:rPr>
              <a:t>( )</a:t>
            </a:r>
            <a:r>
              <a:rPr lang="zh-CN" altLang="en-US" sz="3200" kern="0" dirty="0">
                <a:solidFill>
                  <a:srgbClr val="FFFFCC"/>
                </a:solidFill>
                <a:effectLst>
                  <a:outerShdw blurRad="38100" dist="38100" dir="2700000" algn="tl">
                    <a:srgbClr val="000000"/>
                  </a:outerShdw>
                </a:effectLst>
                <a:latin typeface="Times New Roman" pitchFamily="18" charset="0"/>
              </a:rPr>
              <a:t>得出当前日期</a:t>
            </a:r>
          </a:p>
          <a:p>
            <a:pPr>
              <a:spcAft>
                <a:spcPct val="40000"/>
              </a:spcAft>
              <a:buClr>
                <a:srgbClr val="66FF33"/>
              </a:buClr>
              <a:buSzPct val="85000"/>
              <a:defRPr/>
            </a:pPr>
            <a:r>
              <a:rPr lang="en-US" altLang="zh-CN" sz="3200" kern="0" dirty="0" err="1">
                <a:solidFill>
                  <a:srgbClr val="FFFFCC"/>
                </a:solidFill>
                <a:effectLst>
                  <a:outerShdw blurRad="38100" dist="38100" dir="2700000" algn="tl">
                    <a:srgbClr val="000000"/>
                  </a:outerShdw>
                </a:effectLst>
                <a:latin typeface="Times New Roman" pitchFamily="18" charset="0"/>
              </a:rPr>
              <a:t>timestampdiff</a:t>
            </a:r>
            <a:r>
              <a:rPr lang="en-US" altLang="zh-CN" sz="3200" kern="0" dirty="0">
                <a:solidFill>
                  <a:srgbClr val="FFFFCC"/>
                </a:solidFill>
                <a:effectLst>
                  <a:outerShdw blurRad="38100" dist="38100" dir="2700000" algn="tl">
                    <a:srgbClr val="000000"/>
                  </a:outerShdw>
                </a:effectLst>
                <a:latin typeface="Times New Roman" pitchFamily="18" charset="0"/>
              </a:rPr>
              <a:t>( )</a:t>
            </a:r>
            <a:r>
              <a:rPr lang="zh-CN" altLang="en-US" sz="3200" kern="0" dirty="0">
                <a:solidFill>
                  <a:srgbClr val="FFFFCC"/>
                </a:solidFill>
                <a:effectLst>
                  <a:outerShdw blurRad="38100" dist="38100" dir="2700000" algn="tl">
                    <a:srgbClr val="000000"/>
                  </a:outerShdw>
                </a:effectLst>
                <a:latin typeface="Times New Roman" pitchFamily="18" charset="0"/>
              </a:rPr>
              <a:t>求两个时间之间的时间差（年</a:t>
            </a:r>
            <a:r>
              <a:rPr lang="en-US" altLang="zh-CN" sz="3200" kern="0" dirty="0">
                <a:solidFill>
                  <a:srgbClr val="FFFFCC"/>
                </a:solidFill>
                <a:effectLst>
                  <a:outerShdw blurRad="38100" dist="38100" dir="2700000" algn="tl">
                    <a:srgbClr val="000000"/>
                  </a:outerShdw>
                </a:effectLst>
                <a:latin typeface="Times New Roman" pitchFamily="18" charset="0"/>
              </a:rPr>
              <a:t>/</a:t>
            </a:r>
            <a:r>
              <a:rPr lang="zh-CN" altLang="en-US" sz="3200" kern="0" dirty="0">
                <a:solidFill>
                  <a:srgbClr val="FFFFCC"/>
                </a:solidFill>
                <a:effectLst>
                  <a:outerShdw blurRad="38100" dist="38100" dir="2700000" algn="tl">
                    <a:srgbClr val="000000"/>
                  </a:outerShdw>
                </a:effectLst>
                <a:latin typeface="Times New Roman" pitchFamily="18" charset="0"/>
              </a:rPr>
              <a:t>秒等）</a:t>
            </a:r>
          </a:p>
        </p:txBody>
      </p:sp>
      <p:pic>
        <p:nvPicPr>
          <p:cNvPr id="11" name="图片 10"/>
          <p:cNvPicPr>
            <a:picLocks noChangeAspect="1"/>
          </p:cNvPicPr>
          <p:nvPr/>
        </p:nvPicPr>
        <p:blipFill>
          <a:blip r:embed="rId5"/>
          <a:stretch>
            <a:fillRect/>
          </a:stretch>
        </p:blipFill>
        <p:spPr>
          <a:xfrm>
            <a:off x="912195" y="1646858"/>
            <a:ext cx="5724406"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12" name="AutoShape 18"/>
          <p:cNvSpPr>
            <a:spLocks noChangeArrowheads="1"/>
          </p:cNvSpPr>
          <p:nvPr/>
        </p:nvSpPr>
        <p:spPr bwMode="auto">
          <a:xfrm>
            <a:off x="7283751" y="1646858"/>
            <a:ext cx="1151607" cy="1007666"/>
          </a:xfrm>
          <a:prstGeom prst="wedgeRoundRectCallout">
            <a:avLst>
              <a:gd name="adj1" fmla="val -84686"/>
              <a:gd name="adj2" fmla="val 5813"/>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200" kern="0" dirty="0">
                <a:solidFill>
                  <a:srgbClr val="FFFFCC"/>
                </a:solidFill>
                <a:effectLst>
                  <a:outerShdw blurRad="38100" dist="38100" dir="2700000" algn="tl">
                    <a:srgbClr val="000000"/>
                  </a:outerShdw>
                </a:effectLst>
                <a:latin typeface="Times New Roman" pitchFamily="18" charset="0"/>
              </a:rPr>
              <a:t>原始数据</a:t>
            </a:r>
          </a:p>
        </p:txBody>
      </p:sp>
      <p:sp>
        <p:nvSpPr>
          <p:cNvPr id="10" name="Rectangle 85"/>
          <p:cNvSpPr>
            <a:spLocks noChangeArrowheads="1"/>
          </p:cNvSpPr>
          <p:nvPr/>
        </p:nvSpPr>
        <p:spPr bwMode="auto">
          <a:xfrm>
            <a:off x="8904312" y="1558824"/>
            <a:ext cx="2844316" cy="1598947"/>
          </a:xfrm>
          <a:prstGeom prst="rect">
            <a:avLst/>
          </a:prstGeom>
          <a:solidFill>
            <a:srgbClr val="0000CC"/>
          </a:solidFill>
          <a:ln w="28575" cap="sq">
            <a:noFill/>
            <a:miter lim="800000"/>
            <a:headEnd/>
            <a:tailEnd/>
          </a:ln>
          <a:effectLst>
            <a:glow rad="101600">
              <a:schemeClr val="accent2">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3600" b="1" i="0" u="none" strike="noStrike" kern="0" cap="none" spc="0" normalizeH="0" baseline="0" noProof="0" dirty="0">
                <a:ln>
                  <a:noFill/>
                </a:ln>
                <a:solidFill>
                  <a:schemeClr val="bg1"/>
                </a:solidFill>
                <a:uLnTx/>
                <a:uFillTx/>
                <a:latin typeface="宋体" panose="02010600030101010101" pitchFamily="2" charset="-122"/>
                <a:ea typeface="宋体" panose="02010600030101010101" pitchFamily="2" charset="-122"/>
              </a:rPr>
              <a:t>用表达式构造更多的信息</a:t>
            </a:r>
          </a:p>
        </p:txBody>
      </p:sp>
      <p:sp>
        <p:nvSpPr>
          <p:cNvPr id="13" name="矩形 12">
            <a:extLst>
              <a:ext uri="{FF2B5EF4-FFF2-40B4-BE49-F238E27FC236}">
                <a16:creationId xmlns:a16="http://schemas.microsoft.com/office/drawing/2014/main" id="{E07421BE-C61F-4823-9B01-77E3FDD31A63}"/>
              </a:ext>
            </a:extLst>
          </p:cNvPr>
          <p:cNvSpPr/>
          <p:nvPr/>
        </p:nvSpPr>
        <p:spPr>
          <a:xfrm>
            <a:off x="0" y="1496132"/>
            <a:ext cx="12192000" cy="5446786"/>
          </a:xfrm>
          <a:prstGeom prst="rect">
            <a:avLst/>
          </a:prstGeom>
          <a:solidFill>
            <a:srgbClr val="000066">
              <a:alpha val="8313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54BF2C92-5923-450B-AD2D-0D4DF1F561A6}"/>
              </a:ext>
            </a:extLst>
          </p:cNvPr>
          <p:cNvGrpSpPr/>
          <p:nvPr/>
        </p:nvGrpSpPr>
        <p:grpSpPr>
          <a:xfrm>
            <a:off x="1178673" y="1492960"/>
            <a:ext cx="9741864" cy="4922562"/>
            <a:chOff x="582005" y="3930936"/>
            <a:chExt cx="7746096" cy="4922562"/>
          </a:xfrm>
        </p:grpSpPr>
        <p:graphicFrame>
          <p:nvGraphicFramePr>
            <p:cNvPr id="15" name="图示 14">
              <a:extLst>
                <a:ext uri="{FF2B5EF4-FFF2-40B4-BE49-F238E27FC236}">
                  <a16:creationId xmlns:a16="http://schemas.microsoft.com/office/drawing/2014/main" id="{F4332991-A3EF-4E7F-B603-607055F10035}"/>
                </a:ext>
              </a:extLst>
            </p:cNvPr>
            <p:cNvGraphicFramePr/>
            <p:nvPr>
              <p:extLst>
                <p:ext uri="{D42A27DB-BD31-4B8C-83A1-F6EECF244321}">
                  <p14:modId xmlns:p14="http://schemas.microsoft.com/office/powerpoint/2010/main" val="1561753705"/>
                </p:ext>
              </p:extLst>
            </p:nvPr>
          </p:nvGraphicFramePr>
          <p:xfrm>
            <a:off x="1253814" y="3930936"/>
            <a:ext cx="6601924" cy="4064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6" name="Rectangle 85">
              <a:extLst>
                <a:ext uri="{FF2B5EF4-FFF2-40B4-BE49-F238E27FC236}">
                  <a16:creationId xmlns:a16="http://schemas.microsoft.com/office/drawing/2014/main" id="{F012E4E6-1CB7-478A-9DB9-C47C6F65567C}"/>
                </a:ext>
              </a:extLst>
            </p:cNvPr>
            <p:cNvSpPr>
              <a:spLocks noChangeArrowheads="1"/>
            </p:cNvSpPr>
            <p:nvPr/>
          </p:nvSpPr>
          <p:spPr bwMode="auto">
            <a:xfrm>
              <a:off x="582005" y="8067760"/>
              <a:ext cx="7746096" cy="785738"/>
            </a:xfrm>
            <a:prstGeom prst="rect">
              <a:avLst/>
            </a:prstGeom>
            <a:solidFill>
              <a:srgbClr val="0000CC"/>
            </a:solidFill>
            <a:ln w="28575" cap="sq">
              <a:noFill/>
              <a:miter lim="800000"/>
              <a:headEnd/>
              <a:tailEnd/>
            </a:ln>
            <a:effectLst>
              <a:glow rad="101600">
                <a:schemeClr val="accent2">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4400" b="1" i="0" u="none" strike="noStrike" kern="0" cap="none" spc="0" normalizeH="0" baseline="0" noProof="0" dirty="0">
                  <a:ln>
                    <a:noFill/>
                  </a:ln>
                  <a:solidFill>
                    <a:schemeClr val="bg1"/>
                  </a:solidFill>
                  <a:uLnTx/>
                  <a:uFillTx/>
                  <a:latin typeface="微软雅黑" panose="020B0503020204020204" pitchFamily="34" charset="-122"/>
                  <a:ea typeface="微软雅黑" panose="020B0503020204020204" pitchFamily="34" charset="-122"/>
                </a:rPr>
                <a:t>这是计算机语言和编程的基本功！</a:t>
              </a:r>
            </a:p>
          </p:txBody>
        </p:sp>
      </p:grpSp>
    </p:spTree>
    <p:extLst>
      <p:ext uri="{BB962C8B-B14F-4D97-AF65-F5344CB8AC3E}">
        <p14:creationId xmlns:p14="http://schemas.microsoft.com/office/powerpoint/2010/main" val="1505694201"/>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11"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25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901610" y="3409198"/>
            <a:ext cx="6520688" cy="2976248"/>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5" name="Rectangle 2"/>
          <p:cNvSpPr>
            <a:spLocks noGrp="1" noChangeArrowheads="1"/>
          </p:cNvSpPr>
          <p:nvPr>
            <p:ph type="title"/>
          </p:nvPr>
        </p:nvSpPr>
        <p:spPr>
          <a:xfrm>
            <a:off x="767408" y="65480"/>
            <a:ext cx="319111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SELECT</a:t>
            </a:r>
            <a:r>
              <a:rPr lang="zh-CN" altLang="en-US" sz="4000" b="1" dirty="0">
                <a:solidFill>
                  <a:srgbClr val="FFFFCC"/>
                </a:solidFill>
                <a:effectLst>
                  <a:outerShdw blurRad="38100" dist="38100" dir="2700000" algn="tl">
                    <a:srgbClr val="000000"/>
                  </a:outerShdw>
                </a:effectLst>
              </a:rPr>
              <a:t>子句</a:t>
            </a:r>
          </a:p>
        </p:txBody>
      </p:sp>
      <p:sp>
        <p:nvSpPr>
          <p:cNvPr id="38" name="Rectangle 4"/>
          <p:cNvSpPr txBox="1">
            <a:spLocks noChangeArrowheads="1"/>
          </p:cNvSpPr>
          <p:nvPr/>
        </p:nvSpPr>
        <p:spPr bwMode="auto">
          <a:xfrm>
            <a:off x="465051" y="819725"/>
            <a:ext cx="4150495" cy="646331"/>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algn="just" eaLnBrk="1" hangingPunct="1">
              <a:spcBef>
                <a:spcPct val="60000"/>
              </a:spcBef>
              <a:spcAft>
                <a:spcPct val="0"/>
              </a:spcAft>
              <a:buClr>
                <a:srgbClr val="FFFFFF"/>
              </a:buClr>
              <a:buFont typeface="Wingdings" pitchFamily="2" charset="2"/>
              <a:buChar char="§"/>
              <a:defRPr/>
            </a:pPr>
            <a:r>
              <a:rPr kumimoji="1" lang="zh-CN" altLang="en-US" sz="3600" kern="0" dirty="0">
                <a:solidFill>
                  <a:srgbClr val="FFFFFF"/>
                </a:solidFill>
                <a:latin typeface="楷体_GB2312" pitchFamily="49" charset="-122"/>
              </a:rPr>
              <a:t>列可为任意表达式</a:t>
            </a:r>
          </a:p>
        </p:txBody>
      </p:sp>
      <p:sp>
        <p:nvSpPr>
          <p:cNvPr id="42" name="Line 17"/>
          <p:cNvSpPr>
            <a:spLocks noChangeShapeType="1"/>
          </p:cNvSpPr>
          <p:nvPr/>
        </p:nvSpPr>
        <p:spPr bwMode="auto">
          <a:xfrm>
            <a:off x="2131270" y="4219525"/>
            <a:ext cx="4968552" cy="0"/>
          </a:xfrm>
          <a:prstGeom prst="line">
            <a:avLst/>
          </a:prstGeom>
          <a:noFill/>
          <a:ln w="28575" cap="sq">
            <a:solidFill>
              <a:srgbClr val="FF0000"/>
            </a:solidFill>
            <a:round/>
            <a:headEnd/>
            <a:tailEnd/>
          </a:ln>
          <a:effectLst/>
        </p:spPr>
        <p:txBody>
          <a:bodyPr lIns="72000" tIns="72000" rIns="72000" bIns="72000"/>
          <a:lstStyle/>
          <a:p>
            <a:pPr>
              <a:defRPr/>
            </a:pPr>
            <a:endParaRPr lang="zh-CN" altLang="en-US" kern="0">
              <a:solidFill>
                <a:sysClr val="windowText" lastClr="000000"/>
              </a:solidFill>
            </a:endParaRPr>
          </a:p>
        </p:txBody>
      </p:sp>
      <p:sp>
        <p:nvSpPr>
          <p:cNvPr id="43" name="AutoShape 18"/>
          <p:cNvSpPr>
            <a:spLocks noChangeArrowheads="1"/>
          </p:cNvSpPr>
          <p:nvPr/>
        </p:nvSpPr>
        <p:spPr bwMode="auto">
          <a:xfrm>
            <a:off x="1847528" y="4581129"/>
            <a:ext cx="2110991" cy="564458"/>
          </a:xfrm>
          <a:prstGeom prst="wedgeRoundRectCallout">
            <a:avLst>
              <a:gd name="adj1" fmla="val 17830"/>
              <a:gd name="adj2" fmla="val 71811"/>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200" kern="0" dirty="0">
                <a:solidFill>
                  <a:srgbClr val="FFFFCC"/>
                </a:solidFill>
                <a:effectLst>
                  <a:outerShdw blurRad="38100" dist="38100" dir="2700000" algn="tl">
                    <a:srgbClr val="000000"/>
                  </a:outerShdw>
                </a:effectLst>
                <a:latin typeface="Times New Roman" pitchFamily="18" charset="0"/>
              </a:rPr>
              <a:t>查询结果</a:t>
            </a:r>
          </a:p>
        </p:txBody>
      </p:sp>
      <p:sp>
        <p:nvSpPr>
          <p:cNvPr id="44" name="AutoShape 19"/>
          <p:cNvSpPr>
            <a:spLocks noChangeArrowheads="1"/>
          </p:cNvSpPr>
          <p:nvPr/>
        </p:nvSpPr>
        <p:spPr bwMode="auto">
          <a:xfrm>
            <a:off x="4658797" y="4481493"/>
            <a:ext cx="6837803" cy="1827823"/>
          </a:xfrm>
          <a:prstGeom prst="wedgeRoundRectCallout">
            <a:avLst>
              <a:gd name="adj1" fmla="val -26575"/>
              <a:gd name="adj2" fmla="val -60271"/>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spcAft>
                <a:spcPct val="40000"/>
              </a:spcAft>
              <a:buClr>
                <a:srgbClr val="66FF33"/>
              </a:buClr>
              <a:buSzPct val="85000"/>
              <a:defRPr/>
            </a:pPr>
            <a:r>
              <a:rPr lang="en-US" altLang="zh-CN" sz="3200" kern="0" dirty="0" err="1">
                <a:solidFill>
                  <a:srgbClr val="FFFFCC"/>
                </a:solidFill>
                <a:effectLst>
                  <a:outerShdw blurRad="38100" dist="38100" dir="2700000" algn="tl">
                    <a:srgbClr val="000000"/>
                  </a:outerShdw>
                </a:effectLst>
                <a:latin typeface="Times New Roman" pitchFamily="18" charset="0"/>
              </a:rPr>
              <a:t>curdate</a:t>
            </a:r>
            <a:r>
              <a:rPr lang="en-US" altLang="zh-CN" sz="3200" kern="0" dirty="0">
                <a:solidFill>
                  <a:srgbClr val="FFFFCC"/>
                </a:solidFill>
                <a:effectLst>
                  <a:outerShdw blurRad="38100" dist="38100" dir="2700000" algn="tl">
                    <a:srgbClr val="000000"/>
                  </a:outerShdw>
                </a:effectLst>
                <a:latin typeface="Times New Roman" pitchFamily="18" charset="0"/>
              </a:rPr>
              <a:t>( )</a:t>
            </a:r>
            <a:r>
              <a:rPr lang="zh-CN" altLang="en-US" sz="3200" kern="0" dirty="0">
                <a:solidFill>
                  <a:srgbClr val="FFFFCC"/>
                </a:solidFill>
                <a:effectLst>
                  <a:outerShdw blurRad="38100" dist="38100" dir="2700000" algn="tl">
                    <a:srgbClr val="000000"/>
                  </a:outerShdw>
                </a:effectLst>
                <a:latin typeface="Times New Roman" pitchFamily="18" charset="0"/>
              </a:rPr>
              <a:t>得出当前日期</a:t>
            </a:r>
          </a:p>
          <a:p>
            <a:pPr>
              <a:spcAft>
                <a:spcPct val="40000"/>
              </a:spcAft>
              <a:buClr>
                <a:srgbClr val="66FF33"/>
              </a:buClr>
              <a:buSzPct val="85000"/>
              <a:defRPr/>
            </a:pPr>
            <a:r>
              <a:rPr lang="en-US" altLang="zh-CN" sz="3200" kern="0" dirty="0" err="1">
                <a:solidFill>
                  <a:srgbClr val="FFFFCC"/>
                </a:solidFill>
                <a:effectLst>
                  <a:outerShdw blurRad="38100" dist="38100" dir="2700000" algn="tl">
                    <a:srgbClr val="000000"/>
                  </a:outerShdw>
                </a:effectLst>
                <a:latin typeface="Times New Roman" pitchFamily="18" charset="0"/>
              </a:rPr>
              <a:t>timestampdiff</a:t>
            </a:r>
            <a:r>
              <a:rPr lang="en-US" altLang="zh-CN" sz="3200" kern="0" dirty="0">
                <a:solidFill>
                  <a:srgbClr val="FFFFCC"/>
                </a:solidFill>
                <a:effectLst>
                  <a:outerShdw blurRad="38100" dist="38100" dir="2700000" algn="tl">
                    <a:srgbClr val="000000"/>
                  </a:outerShdw>
                </a:effectLst>
                <a:latin typeface="Times New Roman" pitchFamily="18" charset="0"/>
              </a:rPr>
              <a:t>( )</a:t>
            </a:r>
            <a:r>
              <a:rPr lang="zh-CN" altLang="en-US" sz="3200" kern="0" dirty="0">
                <a:solidFill>
                  <a:srgbClr val="FFFFCC"/>
                </a:solidFill>
                <a:effectLst>
                  <a:outerShdw blurRad="38100" dist="38100" dir="2700000" algn="tl">
                    <a:srgbClr val="000000"/>
                  </a:outerShdw>
                </a:effectLst>
                <a:latin typeface="Times New Roman" pitchFamily="18" charset="0"/>
              </a:rPr>
              <a:t>求两个时间之间的时间差（年</a:t>
            </a:r>
            <a:r>
              <a:rPr lang="en-US" altLang="zh-CN" sz="3200" kern="0" dirty="0">
                <a:solidFill>
                  <a:srgbClr val="FFFFCC"/>
                </a:solidFill>
                <a:effectLst>
                  <a:outerShdw blurRad="38100" dist="38100" dir="2700000" algn="tl">
                    <a:srgbClr val="000000"/>
                  </a:outerShdw>
                </a:effectLst>
                <a:latin typeface="Times New Roman" pitchFamily="18" charset="0"/>
              </a:rPr>
              <a:t>/</a:t>
            </a:r>
            <a:r>
              <a:rPr lang="zh-CN" altLang="en-US" sz="3200" kern="0" dirty="0">
                <a:solidFill>
                  <a:srgbClr val="FFFFCC"/>
                </a:solidFill>
                <a:effectLst>
                  <a:outerShdw blurRad="38100" dist="38100" dir="2700000" algn="tl">
                    <a:srgbClr val="000000"/>
                  </a:outerShdw>
                </a:effectLst>
                <a:latin typeface="Times New Roman" pitchFamily="18" charset="0"/>
              </a:rPr>
              <a:t>秒等）</a:t>
            </a:r>
          </a:p>
        </p:txBody>
      </p:sp>
      <p:pic>
        <p:nvPicPr>
          <p:cNvPr id="11" name="图片 10"/>
          <p:cNvPicPr>
            <a:picLocks noChangeAspect="1"/>
          </p:cNvPicPr>
          <p:nvPr/>
        </p:nvPicPr>
        <p:blipFill>
          <a:blip r:embed="rId5"/>
          <a:stretch>
            <a:fillRect/>
          </a:stretch>
        </p:blipFill>
        <p:spPr>
          <a:xfrm>
            <a:off x="912195" y="1646858"/>
            <a:ext cx="5724406"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12" name="AutoShape 18"/>
          <p:cNvSpPr>
            <a:spLocks noChangeArrowheads="1"/>
          </p:cNvSpPr>
          <p:nvPr/>
        </p:nvSpPr>
        <p:spPr bwMode="auto">
          <a:xfrm>
            <a:off x="7283751" y="1646858"/>
            <a:ext cx="1151607" cy="1007666"/>
          </a:xfrm>
          <a:prstGeom prst="wedgeRoundRectCallout">
            <a:avLst>
              <a:gd name="adj1" fmla="val -84686"/>
              <a:gd name="adj2" fmla="val 5813"/>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200" kern="0" dirty="0">
                <a:solidFill>
                  <a:srgbClr val="FFFFCC"/>
                </a:solidFill>
                <a:effectLst>
                  <a:outerShdw blurRad="38100" dist="38100" dir="2700000" algn="tl">
                    <a:srgbClr val="000000"/>
                  </a:outerShdw>
                </a:effectLst>
                <a:latin typeface="Times New Roman" pitchFamily="18" charset="0"/>
              </a:rPr>
              <a:t>原始数据</a:t>
            </a:r>
          </a:p>
        </p:txBody>
      </p:sp>
      <p:sp>
        <p:nvSpPr>
          <p:cNvPr id="10" name="Rectangle 85"/>
          <p:cNvSpPr>
            <a:spLocks noChangeArrowheads="1"/>
          </p:cNvSpPr>
          <p:nvPr/>
        </p:nvSpPr>
        <p:spPr bwMode="auto">
          <a:xfrm>
            <a:off x="8904312" y="1558824"/>
            <a:ext cx="2844316" cy="1598947"/>
          </a:xfrm>
          <a:prstGeom prst="rect">
            <a:avLst/>
          </a:prstGeom>
          <a:solidFill>
            <a:srgbClr val="0000CC"/>
          </a:solidFill>
          <a:ln w="28575" cap="sq">
            <a:noFill/>
            <a:miter lim="800000"/>
            <a:headEnd/>
            <a:tailEnd/>
          </a:ln>
          <a:effectLst>
            <a:glow rad="101600">
              <a:schemeClr val="accent2">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3600" b="1" i="0" u="none" strike="noStrike" kern="0" cap="none" spc="0" normalizeH="0" baseline="0" noProof="0" dirty="0">
                <a:ln>
                  <a:noFill/>
                </a:ln>
                <a:solidFill>
                  <a:schemeClr val="bg1"/>
                </a:solidFill>
                <a:uLnTx/>
                <a:uFillTx/>
                <a:latin typeface="宋体" panose="02010600030101010101" pitchFamily="2" charset="-122"/>
                <a:ea typeface="宋体" panose="02010600030101010101" pitchFamily="2" charset="-122"/>
              </a:rPr>
              <a:t>用表达式构造更多的信息</a:t>
            </a:r>
          </a:p>
        </p:txBody>
      </p:sp>
      <p:sp>
        <p:nvSpPr>
          <p:cNvPr id="13" name="矩形 12">
            <a:extLst>
              <a:ext uri="{FF2B5EF4-FFF2-40B4-BE49-F238E27FC236}">
                <a16:creationId xmlns:a16="http://schemas.microsoft.com/office/drawing/2014/main" id="{85C36D39-7681-4B31-B243-9D6B5B5A2962}"/>
              </a:ext>
            </a:extLst>
          </p:cNvPr>
          <p:cNvSpPr/>
          <p:nvPr/>
        </p:nvSpPr>
        <p:spPr>
          <a:xfrm>
            <a:off x="0" y="1411214"/>
            <a:ext cx="12192000" cy="5446786"/>
          </a:xfrm>
          <a:prstGeom prst="rect">
            <a:avLst/>
          </a:prstGeom>
          <a:solidFill>
            <a:srgbClr val="000066">
              <a:alpha val="8313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DA7395E8-9151-4AD4-889D-7AF23B1D7F6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73999" y="3545527"/>
            <a:ext cx="2090936" cy="2090936"/>
          </a:xfrm>
          <a:prstGeom prst="rect">
            <a:avLst/>
          </a:prstGeom>
        </p:spPr>
      </p:pic>
      <p:grpSp>
        <p:nvGrpSpPr>
          <p:cNvPr id="15" name="组合 14">
            <a:extLst>
              <a:ext uri="{FF2B5EF4-FFF2-40B4-BE49-F238E27FC236}">
                <a16:creationId xmlns:a16="http://schemas.microsoft.com/office/drawing/2014/main" id="{58181B5C-A52B-49A9-9284-077B15188C0A}"/>
              </a:ext>
            </a:extLst>
          </p:cNvPr>
          <p:cNvGrpSpPr/>
          <p:nvPr/>
        </p:nvGrpSpPr>
        <p:grpSpPr>
          <a:xfrm>
            <a:off x="1959438" y="2569003"/>
            <a:ext cx="2241360" cy="1288919"/>
            <a:chOff x="1787904" y="2629547"/>
            <a:chExt cx="2583944" cy="1235887"/>
          </a:xfrm>
        </p:grpSpPr>
        <p:sp>
          <p:nvSpPr>
            <p:cNvPr id="16" name="椭圆 15">
              <a:extLst>
                <a:ext uri="{FF2B5EF4-FFF2-40B4-BE49-F238E27FC236}">
                  <a16:creationId xmlns:a16="http://schemas.microsoft.com/office/drawing/2014/main" id="{FA8D7F4D-24D1-4FB3-A24D-FF6B503EACDD}"/>
                </a:ext>
              </a:extLst>
            </p:cNvPr>
            <p:cNvSpPr/>
            <p:nvPr/>
          </p:nvSpPr>
          <p:spPr>
            <a:xfrm>
              <a:off x="1787904" y="2629547"/>
              <a:ext cx="2583944" cy="1235887"/>
            </a:xfrm>
            <a:prstGeom prst="ellipse">
              <a:avLst/>
            </a:prstGeom>
          </p:spPr>
          <p:style>
            <a:lnRef idx="3">
              <a:schemeClr val="lt1">
                <a:hueOff val="0"/>
                <a:satOff val="0"/>
                <a:lumOff val="0"/>
                <a:alphaOff val="0"/>
              </a:schemeClr>
            </a:lnRef>
            <a:fillRef idx="1">
              <a:schemeClr val="accent3">
                <a:hueOff val="0"/>
                <a:satOff val="0"/>
                <a:lumOff val="0"/>
                <a:alphaOff val="0"/>
              </a:schemeClr>
            </a:fillRef>
            <a:effectRef idx="1">
              <a:schemeClr val="accent3">
                <a:hueOff val="0"/>
                <a:satOff val="0"/>
                <a:lumOff val="0"/>
                <a:alphaOff val="0"/>
              </a:schemeClr>
            </a:effectRef>
            <a:fontRef idx="minor">
              <a:schemeClr val="lt1"/>
            </a:fontRef>
          </p:style>
        </p:sp>
        <p:sp>
          <p:nvSpPr>
            <p:cNvPr id="17" name="椭圆 4">
              <a:extLst>
                <a:ext uri="{FF2B5EF4-FFF2-40B4-BE49-F238E27FC236}">
                  <a16:creationId xmlns:a16="http://schemas.microsoft.com/office/drawing/2014/main" id="{51666478-A624-44D3-A853-DF580A485DC2}"/>
                </a:ext>
              </a:extLst>
            </p:cNvPr>
            <p:cNvSpPr txBox="1"/>
            <p:nvPr/>
          </p:nvSpPr>
          <p:spPr>
            <a:xfrm>
              <a:off x="2166314" y="2810538"/>
              <a:ext cx="1827124" cy="8739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zh-CN" altLang="en-US" sz="4800" kern="1200" dirty="0">
                  <a:latin typeface="+mj-ea"/>
                  <a:ea typeface="+mj-ea"/>
                </a:rPr>
                <a:t>多看</a:t>
              </a:r>
            </a:p>
          </p:txBody>
        </p:sp>
      </p:grpSp>
      <p:grpSp>
        <p:nvGrpSpPr>
          <p:cNvPr id="18" name="组合 17">
            <a:extLst>
              <a:ext uri="{FF2B5EF4-FFF2-40B4-BE49-F238E27FC236}">
                <a16:creationId xmlns:a16="http://schemas.microsoft.com/office/drawing/2014/main" id="{0697975D-AAA7-4747-A308-22344FCFCF0D}"/>
              </a:ext>
            </a:extLst>
          </p:cNvPr>
          <p:cNvGrpSpPr/>
          <p:nvPr/>
        </p:nvGrpSpPr>
        <p:grpSpPr>
          <a:xfrm>
            <a:off x="4766925" y="1642301"/>
            <a:ext cx="2241360" cy="1288919"/>
            <a:chOff x="1787904" y="2629547"/>
            <a:chExt cx="2583944" cy="1235887"/>
          </a:xfrm>
        </p:grpSpPr>
        <p:sp>
          <p:nvSpPr>
            <p:cNvPr id="19" name="椭圆 18">
              <a:extLst>
                <a:ext uri="{FF2B5EF4-FFF2-40B4-BE49-F238E27FC236}">
                  <a16:creationId xmlns:a16="http://schemas.microsoft.com/office/drawing/2014/main" id="{71CCDDC4-14E0-435E-9F59-E643A019C434}"/>
                </a:ext>
              </a:extLst>
            </p:cNvPr>
            <p:cNvSpPr/>
            <p:nvPr/>
          </p:nvSpPr>
          <p:spPr>
            <a:xfrm>
              <a:off x="1787904" y="2629547"/>
              <a:ext cx="2583944" cy="1235887"/>
            </a:xfrm>
            <a:prstGeom prst="ellipse">
              <a:avLst/>
            </a:prstGeom>
          </p:spPr>
          <p:style>
            <a:lnRef idx="3">
              <a:schemeClr val="lt1">
                <a:hueOff val="0"/>
                <a:satOff val="0"/>
                <a:lumOff val="0"/>
                <a:alphaOff val="0"/>
              </a:schemeClr>
            </a:lnRef>
            <a:fillRef idx="1">
              <a:schemeClr val="accent3">
                <a:hueOff val="0"/>
                <a:satOff val="0"/>
                <a:lumOff val="0"/>
                <a:alphaOff val="0"/>
              </a:schemeClr>
            </a:fillRef>
            <a:effectRef idx="1">
              <a:schemeClr val="accent3">
                <a:hueOff val="0"/>
                <a:satOff val="0"/>
                <a:lumOff val="0"/>
                <a:alphaOff val="0"/>
              </a:schemeClr>
            </a:effectRef>
            <a:fontRef idx="minor">
              <a:schemeClr val="lt1"/>
            </a:fontRef>
          </p:style>
        </p:sp>
        <p:sp>
          <p:nvSpPr>
            <p:cNvPr id="20" name="椭圆 4">
              <a:extLst>
                <a:ext uri="{FF2B5EF4-FFF2-40B4-BE49-F238E27FC236}">
                  <a16:creationId xmlns:a16="http://schemas.microsoft.com/office/drawing/2014/main" id="{697E2BEF-3CFE-4E9F-B27A-3663FE5D1CAF}"/>
                </a:ext>
              </a:extLst>
            </p:cNvPr>
            <p:cNvSpPr txBox="1"/>
            <p:nvPr/>
          </p:nvSpPr>
          <p:spPr>
            <a:xfrm>
              <a:off x="2166314" y="2810538"/>
              <a:ext cx="1827124" cy="8739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zh-CN" altLang="en-US" sz="4800" kern="1200" dirty="0">
                  <a:latin typeface="+mj-ea"/>
                  <a:ea typeface="+mj-ea"/>
                </a:rPr>
                <a:t>多练</a:t>
              </a:r>
            </a:p>
          </p:txBody>
        </p:sp>
      </p:grpSp>
      <p:grpSp>
        <p:nvGrpSpPr>
          <p:cNvPr id="21" name="组合 20">
            <a:extLst>
              <a:ext uri="{FF2B5EF4-FFF2-40B4-BE49-F238E27FC236}">
                <a16:creationId xmlns:a16="http://schemas.microsoft.com/office/drawing/2014/main" id="{84FC26FA-EE4B-4B31-85A6-EB7AC650773D}"/>
              </a:ext>
            </a:extLst>
          </p:cNvPr>
          <p:cNvGrpSpPr/>
          <p:nvPr/>
        </p:nvGrpSpPr>
        <p:grpSpPr>
          <a:xfrm>
            <a:off x="7624181" y="2923549"/>
            <a:ext cx="2241360" cy="1288919"/>
            <a:chOff x="1787904" y="2629547"/>
            <a:chExt cx="2583944" cy="1235887"/>
          </a:xfrm>
        </p:grpSpPr>
        <p:sp>
          <p:nvSpPr>
            <p:cNvPr id="22" name="椭圆 21">
              <a:extLst>
                <a:ext uri="{FF2B5EF4-FFF2-40B4-BE49-F238E27FC236}">
                  <a16:creationId xmlns:a16="http://schemas.microsoft.com/office/drawing/2014/main" id="{8D111BB2-0C7B-4233-9961-42C0C2DEFCD1}"/>
                </a:ext>
              </a:extLst>
            </p:cNvPr>
            <p:cNvSpPr/>
            <p:nvPr/>
          </p:nvSpPr>
          <p:spPr>
            <a:xfrm>
              <a:off x="1787904" y="2629547"/>
              <a:ext cx="2583944" cy="1235887"/>
            </a:xfrm>
            <a:prstGeom prst="ellipse">
              <a:avLst/>
            </a:prstGeom>
          </p:spPr>
          <p:style>
            <a:lnRef idx="3">
              <a:schemeClr val="lt1">
                <a:hueOff val="0"/>
                <a:satOff val="0"/>
                <a:lumOff val="0"/>
                <a:alphaOff val="0"/>
              </a:schemeClr>
            </a:lnRef>
            <a:fillRef idx="1">
              <a:schemeClr val="accent3">
                <a:hueOff val="0"/>
                <a:satOff val="0"/>
                <a:lumOff val="0"/>
                <a:alphaOff val="0"/>
              </a:schemeClr>
            </a:fillRef>
            <a:effectRef idx="1">
              <a:schemeClr val="accent3">
                <a:hueOff val="0"/>
                <a:satOff val="0"/>
                <a:lumOff val="0"/>
                <a:alphaOff val="0"/>
              </a:schemeClr>
            </a:effectRef>
            <a:fontRef idx="minor">
              <a:schemeClr val="lt1"/>
            </a:fontRef>
          </p:style>
        </p:sp>
        <p:sp>
          <p:nvSpPr>
            <p:cNvPr id="23" name="椭圆 4">
              <a:extLst>
                <a:ext uri="{FF2B5EF4-FFF2-40B4-BE49-F238E27FC236}">
                  <a16:creationId xmlns:a16="http://schemas.microsoft.com/office/drawing/2014/main" id="{46A8C221-EEE8-4743-8429-AD94E8209B92}"/>
                </a:ext>
              </a:extLst>
            </p:cNvPr>
            <p:cNvSpPr txBox="1"/>
            <p:nvPr/>
          </p:nvSpPr>
          <p:spPr>
            <a:xfrm>
              <a:off x="2166314" y="2810538"/>
              <a:ext cx="1827124" cy="8739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zh-CN" altLang="en-US" sz="4800" kern="1200" dirty="0">
                  <a:latin typeface="+mj-ea"/>
                  <a:ea typeface="+mj-ea"/>
                </a:rPr>
                <a:t>多想</a:t>
              </a:r>
            </a:p>
          </p:txBody>
        </p:sp>
      </p:grpSp>
      <p:cxnSp>
        <p:nvCxnSpPr>
          <p:cNvPr id="24" name="直接连接符 23">
            <a:extLst>
              <a:ext uri="{FF2B5EF4-FFF2-40B4-BE49-F238E27FC236}">
                <a16:creationId xmlns:a16="http://schemas.microsoft.com/office/drawing/2014/main" id="{E8285CEA-FEE8-4337-BB07-F21B190AB2CB}"/>
              </a:ext>
            </a:extLst>
          </p:cNvPr>
          <p:cNvCxnSpPr>
            <a:cxnSpLocks/>
            <a:stCxn id="16" idx="5"/>
          </p:cNvCxnSpPr>
          <p:nvPr/>
        </p:nvCxnSpPr>
        <p:spPr>
          <a:xfrm>
            <a:off x="3872558" y="3669164"/>
            <a:ext cx="1375483" cy="911965"/>
          </a:xfrm>
          <a:prstGeom prst="line">
            <a:avLst/>
          </a:prstGeom>
          <a:ln w="57150"/>
        </p:spPr>
        <p:style>
          <a:lnRef idx="1">
            <a:schemeClr val="accent3"/>
          </a:lnRef>
          <a:fillRef idx="0">
            <a:schemeClr val="accent3"/>
          </a:fillRef>
          <a:effectRef idx="0">
            <a:schemeClr val="accent3"/>
          </a:effectRef>
          <a:fontRef idx="minor">
            <a:schemeClr val="tx1"/>
          </a:fontRef>
        </p:style>
      </p:cxnSp>
      <p:cxnSp>
        <p:nvCxnSpPr>
          <p:cNvPr id="25" name="直接连接符 24">
            <a:extLst>
              <a:ext uri="{FF2B5EF4-FFF2-40B4-BE49-F238E27FC236}">
                <a16:creationId xmlns:a16="http://schemas.microsoft.com/office/drawing/2014/main" id="{B3E2179C-DCBE-4CD7-847A-DB62B4A289C1}"/>
              </a:ext>
            </a:extLst>
          </p:cNvPr>
          <p:cNvCxnSpPr>
            <a:cxnSpLocks/>
          </p:cNvCxnSpPr>
          <p:nvPr/>
        </p:nvCxnSpPr>
        <p:spPr>
          <a:xfrm>
            <a:off x="5863937" y="2921074"/>
            <a:ext cx="0" cy="828559"/>
          </a:xfrm>
          <a:prstGeom prst="line">
            <a:avLst/>
          </a:prstGeom>
          <a:ln w="57150"/>
        </p:spPr>
        <p:style>
          <a:lnRef idx="1">
            <a:schemeClr val="accent3"/>
          </a:lnRef>
          <a:fillRef idx="0">
            <a:schemeClr val="accent3"/>
          </a:fillRef>
          <a:effectRef idx="0">
            <a:schemeClr val="accent3"/>
          </a:effectRef>
          <a:fontRef idx="minor">
            <a:schemeClr val="tx1"/>
          </a:fontRef>
        </p:style>
      </p:cxnSp>
      <p:cxnSp>
        <p:nvCxnSpPr>
          <p:cNvPr id="26" name="直接连接符 25">
            <a:extLst>
              <a:ext uri="{FF2B5EF4-FFF2-40B4-BE49-F238E27FC236}">
                <a16:creationId xmlns:a16="http://schemas.microsoft.com/office/drawing/2014/main" id="{66D5BEC8-56F8-4115-89A6-891518F785D4}"/>
              </a:ext>
            </a:extLst>
          </p:cNvPr>
          <p:cNvCxnSpPr>
            <a:cxnSpLocks/>
            <a:stCxn id="22" idx="3"/>
          </p:cNvCxnSpPr>
          <p:nvPr/>
        </p:nvCxnSpPr>
        <p:spPr>
          <a:xfrm flipH="1">
            <a:off x="6479549" y="4023710"/>
            <a:ext cx="1472872" cy="635718"/>
          </a:xfrm>
          <a:prstGeom prst="line">
            <a:avLst/>
          </a:prstGeom>
          <a:ln w="57150"/>
        </p:spPr>
        <p:style>
          <a:lnRef idx="1">
            <a:schemeClr val="accent3"/>
          </a:lnRef>
          <a:fillRef idx="0">
            <a:schemeClr val="accent3"/>
          </a:fillRef>
          <a:effectRef idx="0">
            <a:schemeClr val="accent3"/>
          </a:effectRef>
          <a:fontRef idx="minor">
            <a:schemeClr val="tx1"/>
          </a:fontRef>
        </p:style>
      </p:cxnSp>
      <p:sp>
        <p:nvSpPr>
          <p:cNvPr id="27" name="Rectangle 85">
            <a:extLst>
              <a:ext uri="{FF2B5EF4-FFF2-40B4-BE49-F238E27FC236}">
                <a16:creationId xmlns:a16="http://schemas.microsoft.com/office/drawing/2014/main" id="{92E3196E-B60D-40CD-83BD-6DC69EF6C0EE}"/>
              </a:ext>
            </a:extLst>
          </p:cNvPr>
          <p:cNvSpPr>
            <a:spLocks noChangeArrowheads="1"/>
          </p:cNvSpPr>
          <p:nvPr/>
        </p:nvSpPr>
        <p:spPr bwMode="auto">
          <a:xfrm>
            <a:off x="940507" y="5524611"/>
            <a:ext cx="10238978" cy="785738"/>
          </a:xfrm>
          <a:prstGeom prst="rect">
            <a:avLst/>
          </a:prstGeom>
          <a:solidFill>
            <a:srgbClr val="0000CC"/>
          </a:solidFill>
          <a:ln w="28575" cap="sq">
            <a:noFill/>
            <a:miter lim="800000"/>
            <a:headEnd/>
            <a:tailEnd/>
          </a:ln>
          <a:effectLst>
            <a:glow rad="101600">
              <a:schemeClr val="accent2">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4800" b="1" i="0" u="none" strike="noStrike" kern="0" cap="none" spc="0" normalizeH="0" baseline="0" noProof="0" dirty="0">
                <a:ln>
                  <a:noFill/>
                </a:ln>
                <a:solidFill>
                  <a:schemeClr val="bg1"/>
                </a:solidFill>
                <a:uLnTx/>
                <a:uFillTx/>
                <a:latin typeface="+mj-ea"/>
                <a:ea typeface="+mj-ea"/>
              </a:rPr>
              <a:t>如何提高自己的 </a:t>
            </a:r>
            <a:r>
              <a:rPr kumimoji="0" lang="en-US" altLang="zh-CN" sz="4800" b="1" i="0" u="none" strike="noStrike" kern="0" cap="none" spc="0" normalizeH="0" baseline="0" noProof="0" dirty="0">
                <a:ln>
                  <a:noFill/>
                </a:ln>
                <a:solidFill>
                  <a:schemeClr val="bg1"/>
                </a:solidFill>
                <a:uLnTx/>
                <a:uFillTx/>
                <a:latin typeface="+mj-ea"/>
                <a:ea typeface="+mj-ea"/>
              </a:rPr>
              <a:t>SELECT </a:t>
            </a:r>
            <a:r>
              <a:rPr kumimoji="0" lang="zh-CN" altLang="en-US" sz="4800" b="1" i="0" u="none" strike="noStrike" kern="0" cap="none" spc="0" normalizeH="0" baseline="0" noProof="0" dirty="0">
                <a:ln>
                  <a:noFill/>
                </a:ln>
                <a:solidFill>
                  <a:schemeClr val="bg1"/>
                </a:solidFill>
                <a:uLnTx/>
                <a:uFillTx/>
                <a:latin typeface="+mj-ea"/>
                <a:ea typeface="+mj-ea"/>
              </a:rPr>
              <a:t>表达能力？</a:t>
            </a:r>
          </a:p>
        </p:txBody>
      </p:sp>
    </p:spTree>
    <p:extLst>
      <p:ext uri="{BB962C8B-B14F-4D97-AF65-F5344CB8AC3E}">
        <p14:creationId xmlns:p14="http://schemas.microsoft.com/office/powerpoint/2010/main" val="2190445680"/>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7" name="arrow.wav"/>
          </p:stSnd>
        </p:sndAc>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235" name="Rectangle 3">
            <a:extLst>
              <a:ext uri="{FF2B5EF4-FFF2-40B4-BE49-F238E27FC236}">
                <a16:creationId xmlns:a16="http://schemas.microsoft.com/office/drawing/2014/main" id="{55661E17-639F-493C-A4DB-D06E26E39254}"/>
              </a:ext>
            </a:extLst>
          </p:cNvPr>
          <p:cNvSpPr>
            <a:spLocks noGrp="1" noChangeArrowheads="1"/>
          </p:cNvSpPr>
          <p:nvPr>
            <p:ph type="body" idx="4294967295"/>
          </p:nvPr>
        </p:nvSpPr>
        <p:spPr>
          <a:xfrm>
            <a:off x="695400" y="692696"/>
            <a:ext cx="10972800" cy="4525963"/>
          </a:xfrm>
        </p:spPr>
        <p:txBody>
          <a:bodyPr/>
          <a:lstStyle/>
          <a:p>
            <a:pPr>
              <a:lnSpc>
                <a:spcPct val="150000"/>
              </a:lnSpc>
              <a:buFontTx/>
              <a:buNone/>
            </a:pPr>
            <a:r>
              <a:rPr lang="zh-CN" altLang="en-US" dirty="0"/>
              <a:t>带别名的查询</a:t>
            </a:r>
          </a:p>
          <a:p>
            <a:pPr>
              <a:lnSpc>
                <a:spcPct val="150000"/>
              </a:lnSpc>
            </a:pPr>
            <a:r>
              <a:rPr lang="zh-CN" altLang="en-US" dirty="0"/>
              <a:t>投影查询可控制列名的顺序，并可通过指定别名改变查询结果的列标题</a:t>
            </a:r>
            <a:r>
              <a:rPr lang="en-US" altLang="zh-CN" dirty="0"/>
              <a:t>(</a:t>
            </a:r>
            <a:r>
              <a:rPr lang="zh-CN" altLang="en-US" dirty="0"/>
              <a:t>使用</a:t>
            </a:r>
            <a:r>
              <a:rPr lang="en-US" altLang="zh-CN" dirty="0"/>
              <a:t>as</a:t>
            </a:r>
            <a:r>
              <a:rPr lang="zh-CN" altLang="en-US" dirty="0"/>
              <a:t>子句</a:t>
            </a:r>
            <a:r>
              <a:rPr lang="en-US" altLang="zh-CN" dirty="0"/>
              <a:t>)</a:t>
            </a:r>
            <a:r>
              <a:rPr lang="zh-CN" altLang="en-US" dirty="0"/>
              <a:t>。</a:t>
            </a:r>
          </a:p>
          <a:p>
            <a:pPr>
              <a:lnSpc>
                <a:spcPct val="150000"/>
              </a:lnSpc>
              <a:buFontTx/>
              <a:buNone/>
            </a:pPr>
            <a:r>
              <a:rPr lang="en-US" altLang="zh-CN" dirty="0"/>
              <a:t>SELECT </a:t>
            </a:r>
            <a:r>
              <a:rPr lang="en-US" altLang="zh-CN" dirty="0" err="1"/>
              <a:t>cno</a:t>
            </a:r>
            <a:r>
              <a:rPr lang="en-US" altLang="zh-CN" dirty="0"/>
              <a:t>  as   </a:t>
            </a:r>
            <a:r>
              <a:rPr lang="zh-CN" altLang="en-US" dirty="0"/>
              <a:t>课程名</a:t>
            </a:r>
          </a:p>
          <a:p>
            <a:pPr>
              <a:lnSpc>
                <a:spcPct val="150000"/>
              </a:lnSpc>
              <a:buFontTx/>
              <a:buNone/>
            </a:pPr>
            <a:r>
              <a:rPr lang="en-US" altLang="zh-CN" dirty="0"/>
              <a:t>FROM course;</a:t>
            </a:r>
            <a:endParaRPr lang="zh-CN" altLang="en-US" dirty="0"/>
          </a:p>
        </p:txBody>
      </p:sp>
      <p:pic>
        <p:nvPicPr>
          <p:cNvPr id="735236" name="Picture 4">
            <a:extLst>
              <a:ext uri="{FF2B5EF4-FFF2-40B4-BE49-F238E27FC236}">
                <a16:creationId xmlns:a16="http://schemas.microsoft.com/office/drawing/2014/main" id="{56D7E80C-8FE8-4D43-97E7-45F0E9A43E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6226" y="4149726"/>
            <a:ext cx="2200275" cy="187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259" name="Rectangle 3">
            <a:extLst>
              <a:ext uri="{FF2B5EF4-FFF2-40B4-BE49-F238E27FC236}">
                <a16:creationId xmlns:a16="http://schemas.microsoft.com/office/drawing/2014/main" id="{56F8F218-A9B6-466D-A3EC-E3A833B15918}"/>
              </a:ext>
            </a:extLst>
          </p:cNvPr>
          <p:cNvSpPr>
            <a:spLocks noGrp="1" noChangeArrowheads="1"/>
          </p:cNvSpPr>
          <p:nvPr>
            <p:ph type="body" idx="4294967295"/>
          </p:nvPr>
        </p:nvSpPr>
        <p:spPr>
          <a:xfrm>
            <a:off x="625582" y="804862"/>
            <a:ext cx="10972800" cy="4525963"/>
          </a:xfrm>
        </p:spPr>
        <p:txBody>
          <a:bodyPr>
            <a:normAutofit fontScale="92500" lnSpcReduction="10000"/>
          </a:bodyPr>
          <a:lstStyle/>
          <a:p>
            <a:pPr>
              <a:lnSpc>
                <a:spcPct val="150000"/>
              </a:lnSpc>
              <a:buFontTx/>
              <a:buNone/>
            </a:pPr>
            <a:r>
              <a:rPr lang="zh-CN" altLang="en-US" sz="2800"/>
              <a:t>带表达式的查询</a:t>
            </a:r>
          </a:p>
          <a:p>
            <a:pPr>
              <a:lnSpc>
                <a:spcPct val="150000"/>
              </a:lnSpc>
            </a:pPr>
            <a:r>
              <a:rPr lang="en-US" altLang="zh-CN" sz="2800"/>
              <a:t>SELECT</a:t>
            </a:r>
            <a:r>
              <a:rPr lang="zh-CN" altLang="en-US" sz="2800"/>
              <a:t>投影目标列：不仅可以是表中的列名，也可以是一表达式。</a:t>
            </a:r>
          </a:p>
          <a:p>
            <a:pPr>
              <a:lnSpc>
                <a:spcPct val="150000"/>
              </a:lnSpc>
            </a:pPr>
            <a:r>
              <a:rPr lang="zh-CN" altLang="en-US" sz="2800"/>
              <a:t>例</a:t>
            </a:r>
            <a:r>
              <a:rPr lang="en-US" altLang="zh-CN" sz="2800"/>
              <a:t>28</a:t>
            </a:r>
            <a:r>
              <a:rPr lang="zh-CN" altLang="en-US" sz="2800"/>
              <a:t>，查询学生的姓名和出生年份，结果如下。</a:t>
            </a:r>
          </a:p>
          <a:p>
            <a:pPr>
              <a:lnSpc>
                <a:spcPct val="150000"/>
              </a:lnSpc>
              <a:buFontTx/>
              <a:buNone/>
            </a:pPr>
            <a:r>
              <a:rPr lang="en-US" altLang="zh-CN" sz="2800"/>
              <a:t>SELECT sname as </a:t>
            </a:r>
            <a:r>
              <a:rPr lang="zh-CN" altLang="en-US" sz="2800"/>
              <a:t>姓名</a:t>
            </a:r>
            <a:r>
              <a:rPr lang="en-US" altLang="zh-CN" sz="2800"/>
              <a:t>,</a:t>
            </a:r>
          </a:p>
          <a:p>
            <a:pPr>
              <a:lnSpc>
                <a:spcPct val="150000"/>
              </a:lnSpc>
              <a:buFontTx/>
              <a:buNone/>
            </a:pPr>
            <a:r>
              <a:rPr lang="en-US" altLang="zh-CN" sz="2800"/>
              <a:t>           2017-sage </a:t>
            </a:r>
          </a:p>
          <a:p>
            <a:pPr>
              <a:lnSpc>
                <a:spcPct val="150000"/>
              </a:lnSpc>
              <a:buFontTx/>
              <a:buNone/>
            </a:pPr>
            <a:r>
              <a:rPr lang="en-US" altLang="zh-CN" sz="2800"/>
              <a:t>                as </a:t>
            </a:r>
            <a:r>
              <a:rPr lang="zh-CN" altLang="en-US" sz="2800"/>
              <a:t>出生日期</a:t>
            </a:r>
          </a:p>
          <a:p>
            <a:pPr>
              <a:lnSpc>
                <a:spcPct val="150000"/>
              </a:lnSpc>
              <a:buFontTx/>
              <a:buNone/>
            </a:pPr>
            <a:r>
              <a:rPr lang="en-US" altLang="zh-CN" sz="2800"/>
              <a:t>FROM student;</a:t>
            </a:r>
            <a:endParaRPr lang="zh-CN" altLang="en-US" sz="2800"/>
          </a:p>
        </p:txBody>
      </p:sp>
      <p:pic>
        <p:nvPicPr>
          <p:cNvPr id="736260" name="Picture 4">
            <a:extLst>
              <a:ext uri="{FF2B5EF4-FFF2-40B4-BE49-F238E27FC236}">
                <a16:creationId xmlns:a16="http://schemas.microsoft.com/office/drawing/2014/main" id="{2958E1BB-4379-4CA4-B34C-FC1F0D86ED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4425" y="4149725"/>
            <a:ext cx="219075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a:fillRect/>
          </a:stretch>
        </p:blipFill>
        <p:spPr>
          <a:xfrm>
            <a:off x="940691" y="2483320"/>
            <a:ext cx="5724406"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5" name="Rectangle 2"/>
          <p:cNvSpPr>
            <a:spLocks noGrp="1" noChangeArrowheads="1"/>
          </p:cNvSpPr>
          <p:nvPr>
            <p:ph type="title"/>
          </p:nvPr>
        </p:nvSpPr>
        <p:spPr>
          <a:xfrm>
            <a:off x="767333" y="67685"/>
            <a:ext cx="307890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WHERE</a:t>
            </a:r>
            <a:r>
              <a:rPr lang="zh-CN" altLang="en-US" sz="4000" b="1" dirty="0">
                <a:solidFill>
                  <a:srgbClr val="FFFFCC"/>
                </a:solidFill>
                <a:effectLst>
                  <a:outerShdw blurRad="38100" dist="38100" dir="2700000" algn="tl">
                    <a:srgbClr val="000000"/>
                  </a:outerShdw>
                </a:effectLst>
              </a:rPr>
              <a:t>子句</a:t>
            </a:r>
          </a:p>
        </p:txBody>
      </p:sp>
      <p:sp>
        <p:nvSpPr>
          <p:cNvPr id="64" name="Rectangle 10"/>
          <p:cNvSpPr txBox="1">
            <a:spLocks noChangeArrowheads="1"/>
          </p:cNvSpPr>
          <p:nvPr/>
        </p:nvSpPr>
        <p:spPr bwMode="auto">
          <a:xfrm>
            <a:off x="487316" y="554550"/>
            <a:ext cx="10721252" cy="24735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eaLnBrk="1" hangingPunct="1">
              <a:lnSpc>
                <a:spcPct val="200000"/>
              </a:lnSpc>
              <a:spcBef>
                <a:spcPct val="60000"/>
              </a:spcBef>
              <a:spcAft>
                <a:spcPct val="0"/>
              </a:spcAft>
              <a:buClr>
                <a:srgbClr val="FFFFFF"/>
              </a:buClr>
              <a:buFont typeface="Wingdings" pitchFamily="2" charset="2"/>
              <a:buChar char="§"/>
              <a:defRPr/>
            </a:pPr>
            <a:r>
              <a:rPr kumimoji="1" lang="zh-CN" altLang="en-US" sz="3600" kern="0" dirty="0">
                <a:solidFill>
                  <a:srgbClr val="FFFFFF"/>
                </a:solidFill>
                <a:latin typeface="楷体_GB2312" pitchFamily="49" charset="-122"/>
              </a:rPr>
              <a:t>选择满足条件的行</a:t>
            </a:r>
            <a:r>
              <a:rPr kumimoji="1" lang="en-US" altLang="zh-CN" sz="3600" kern="0" dirty="0">
                <a:solidFill>
                  <a:srgbClr val="FFFFFF"/>
                </a:solidFill>
                <a:latin typeface="楷体_GB2312" pitchFamily="49" charset="-122"/>
              </a:rPr>
              <a:t>,</a:t>
            </a:r>
            <a:r>
              <a:rPr kumimoji="1" lang="zh-CN" altLang="en-US" sz="3600" kern="0" dirty="0">
                <a:solidFill>
                  <a:srgbClr val="FFFFFF"/>
                </a:solidFill>
                <a:latin typeface="楷体_GB2312" pitchFamily="49" charset="-122"/>
              </a:rPr>
              <a:t>条件一般是</a:t>
            </a:r>
            <a:r>
              <a:rPr kumimoji="1" lang="en-US" altLang="zh-CN" sz="3600" kern="0" dirty="0">
                <a:solidFill>
                  <a:srgbClr val="FFFFFF"/>
                </a:solidFill>
                <a:latin typeface="楷体_GB2312" pitchFamily="49" charset="-122"/>
              </a:rPr>
              <a:t>: </a:t>
            </a:r>
            <a:r>
              <a:rPr kumimoji="1" lang="en-US" altLang="zh-CN" sz="3600" b="1" kern="0" dirty="0">
                <a:solidFill>
                  <a:srgbClr val="FFFF66"/>
                </a:solidFill>
                <a:latin typeface="楷体_GB2312" pitchFamily="49" charset="-122"/>
              </a:rPr>
              <a:t>[NOT]θ</a:t>
            </a:r>
            <a:r>
              <a:rPr kumimoji="1" lang="zh-CN" altLang="en-US" sz="3600" kern="0" dirty="0">
                <a:solidFill>
                  <a:srgbClr val="FFFF66"/>
                </a:solidFill>
                <a:latin typeface="楷体_GB2312" pitchFamily="49" charset="-122"/>
              </a:rPr>
              <a:t>表达式</a:t>
            </a:r>
            <a:endParaRPr kumimoji="1" lang="en-US" altLang="zh-CN" sz="3600" kern="0" dirty="0">
              <a:solidFill>
                <a:srgbClr val="FFFFFF"/>
              </a:solidFill>
              <a:latin typeface="楷体_GB2312" pitchFamily="49" charset="-122"/>
            </a:endParaRPr>
          </a:p>
          <a:p>
            <a:pPr marL="269875" indent="-269875" eaLnBrk="1" hangingPunct="1">
              <a:lnSpc>
                <a:spcPct val="200000"/>
              </a:lnSpc>
              <a:spcBef>
                <a:spcPct val="60000"/>
              </a:spcBef>
              <a:spcAft>
                <a:spcPct val="0"/>
              </a:spcAft>
              <a:buClr>
                <a:srgbClr val="FFFFFF"/>
              </a:buClr>
              <a:buFont typeface="Wingdings" pitchFamily="2" charset="2"/>
              <a:buChar char="§"/>
              <a:defRPr/>
            </a:pPr>
            <a:endParaRPr kumimoji="1" lang="en-US" altLang="zh-CN" sz="3600" kern="0" dirty="0">
              <a:solidFill>
                <a:srgbClr val="FFFFFF"/>
              </a:solidFill>
              <a:latin typeface="楷体_GB2312" pitchFamily="49" charset="-122"/>
            </a:endParaRPr>
          </a:p>
        </p:txBody>
      </p:sp>
      <p:sp>
        <p:nvSpPr>
          <p:cNvPr id="71" name="AutoShape 15"/>
          <p:cNvSpPr>
            <a:spLocks noChangeArrowheads="1"/>
          </p:cNvSpPr>
          <p:nvPr/>
        </p:nvSpPr>
        <p:spPr bwMode="auto">
          <a:xfrm>
            <a:off x="988278" y="4365104"/>
            <a:ext cx="1410893" cy="1126337"/>
          </a:xfrm>
          <a:prstGeom prst="wedgeRoundRectCallout">
            <a:avLst>
              <a:gd name="adj1" fmla="val -6180"/>
              <a:gd name="adj2" fmla="val -80030"/>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原始数据</a:t>
            </a:r>
          </a:p>
        </p:txBody>
      </p:sp>
      <p:sp>
        <p:nvSpPr>
          <p:cNvPr id="3" name="矩形 2"/>
          <p:cNvSpPr/>
          <p:nvPr/>
        </p:nvSpPr>
        <p:spPr>
          <a:xfrm>
            <a:off x="792627" y="1526306"/>
            <a:ext cx="8280920" cy="646331"/>
          </a:xfrm>
          <a:prstGeom prst="rect">
            <a:avLst/>
          </a:prstGeom>
        </p:spPr>
        <p:txBody>
          <a:bodyPr wrap="square">
            <a:spAutoFit/>
          </a:bodyPr>
          <a:lstStyle/>
          <a:p>
            <a:pPr marL="269875" indent="-269875" algn="just" fontAlgn="base">
              <a:spcBef>
                <a:spcPct val="0"/>
              </a:spcBef>
              <a:spcAft>
                <a:spcPct val="10000"/>
              </a:spcAft>
              <a:buClr>
                <a:srgbClr val="FFFFFF"/>
              </a:buClr>
              <a:buSzPct val="85000"/>
              <a:defRPr/>
            </a:pPr>
            <a:r>
              <a:rPr kumimoji="1" lang="zh-CN" altLang="en-US" sz="3600" kern="0" dirty="0">
                <a:solidFill>
                  <a:srgbClr val="FFFFFF"/>
                </a:solidFill>
                <a:effectLst>
                  <a:outerShdw blurRad="38100" dist="38100" dir="2700000" algn="tl">
                    <a:srgbClr val="000000"/>
                  </a:outerShdw>
                </a:effectLst>
                <a:latin typeface="楷体_GB2312" pitchFamily="49" charset="-122"/>
                <a:ea typeface="微软雅黑" pitchFamily="34" charset="-122"/>
              </a:rPr>
              <a:t>其中</a:t>
            </a:r>
            <a:r>
              <a:rPr kumimoji="1" lang="en-US" altLang="zh-CN" sz="3600" kern="0" dirty="0">
                <a:solidFill>
                  <a:srgbClr val="FFFFFF"/>
                </a:solidFill>
                <a:effectLst>
                  <a:outerShdw blurRad="38100" dist="38100" dir="2700000" algn="tl">
                    <a:srgbClr val="000000"/>
                  </a:outerShdw>
                </a:effectLst>
                <a:latin typeface="楷体_GB2312" pitchFamily="49" charset="-122"/>
                <a:ea typeface="微软雅黑" pitchFamily="34" charset="-122"/>
              </a:rPr>
              <a:t>θ</a:t>
            </a:r>
            <a:r>
              <a:rPr kumimoji="1" lang="zh-CN" altLang="en-US" sz="3600" kern="0" dirty="0">
                <a:solidFill>
                  <a:srgbClr val="FFFFFF"/>
                </a:solidFill>
                <a:effectLst>
                  <a:outerShdw blurRad="38100" dist="38100" dir="2700000" algn="tl">
                    <a:srgbClr val="000000"/>
                  </a:outerShdw>
                </a:effectLst>
                <a:latin typeface="楷体_GB2312" pitchFamily="49" charset="-122"/>
                <a:ea typeface="微软雅黑" pitchFamily="34" charset="-122"/>
              </a:rPr>
              <a:t>可以是：</a:t>
            </a:r>
            <a:r>
              <a:rPr kumimoji="1" lang="en-US" altLang="zh-CN" sz="3600" b="1" kern="0" dirty="0">
                <a:solidFill>
                  <a:srgbClr val="66FFFF"/>
                </a:solidFill>
                <a:effectLst>
                  <a:outerShdw blurRad="38100" dist="38100" dir="2700000" algn="tl">
                    <a:srgbClr val="000000"/>
                  </a:outerShdw>
                </a:effectLst>
                <a:latin typeface="楷体_GB2312" pitchFamily="49" charset="-122"/>
                <a:ea typeface="微软雅黑" pitchFamily="34" charset="-122"/>
              </a:rPr>
              <a:t>=,&gt;,&lt;,&gt;=,&lt;=,!=,!&gt;,!&lt;</a:t>
            </a:r>
          </a:p>
        </p:txBody>
      </p:sp>
      <p:pic>
        <p:nvPicPr>
          <p:cNvPr id="12" name="图片 11"/>
          <p:cNvPicPr>
            <a:picLocks noChangeAspect="1"/>
          </p:cNvPicPr>
          <p:nvPr/>
        </p:nvPicPr>
        <p:blipFill>
          <a:blip r:embed="rId5"/>
          <a:stretch>
            <a:fillRect/>
          </a:stretch>
        </p:blipFill>
        <p:spPr>
          <a:xfrm>
            <a:off x="5115494" y="3568592"/>
            <a:ext cx="6088228" cy="2923775"/>
          </a:xfrm>
          <a:prstGeom prst="rect">
            <a:avLst/>
          </a:prstGeom>
          <a:solidFill>
            <a:srgbClr val="FFFFFF">
              <a:shade val="85000"/>
            </a:srgbClr>
          </a:solidFill>
          <a:ln w="38100" cap="sq">
            <a:solidFill>
              <a:srgbClr val="FFC000"/>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Line 17"/>
          <p:cNvSpPr>
            <a:spLocks noChangeShapeType="1"/>
          </p:cNvSpPr>
          <p:nvPr/>
        </p:nvSpPr>
        <p:spPr bwMode="auto">
          <a:xfrm>
            <a:off x="5529172" y="4743616"/>
            <a:ext cx="2058252" cy="0"/>
          </a:xfrm>
          <a:prstGeom prst="line">
            <a:avLst/>
          </a:prstGeom>
          <a:noFill/>
          <a:ln w="28575" cap="sq">
            <a:solidFill>
              <a:srgbClr val="FF0000"/>
            </a:solidFill>
            <a:round/>
            <a:headEnd/>
            <a:tailEnd/>
          </a:ln>
          <a:effectLst/>
        </p:spPr>
        <p:txBody>
          <a:bodyPr lIns="72000" tIns="72000" rIns="72000" bIns="72000"/>
          <a:lstStyle/>
          <a:p>
            <a:pPr>
              <a:defRPr/>
            </a:pPr>
            <a:endParaRPr lang="zh-CN" altLang="en-US" kern="0">
              <a:solidFill>
                <a:sysClr val="windowText" lastClr="000000"/>
              </a:solidFill>
            </a:endParaRPr>
          </a:p>
        </p:txBody>
      </p:sp>
      <p:sp>
        <p:nvSpPr>
          <p:cNvPr id="73" name="AutoShape 17"/>
          <p:cNvSpPr>
            <a:spLocks noChangeArrowheads="1"/>
          </p:cNvSpPr>
          <p:nvPr/>
        </p:nvSpPr>
        <p:spPr bwMode="auto">
          <a:xfrm>
            <a:off x="3528035" y="5229200"/>
            <a:ext cx="1277302" cy="1186421"/>
          </a:xfrm>
          <a:prstGeom prst="wedgeRoundRectCallout">
            <a:avLst>
              <a:gd name="adj1" fmla="val 68748"/>
              <a:gd name="adj2" fmla="val -14079"/>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a:solidFill>
                  <a:srgbClr val="FFFFCC"/>
                </a:solidFill>
                <a:effectLst>
                  <a:outerShdw blurRad="38100" dist="38100" dir="2700000" algn="tl">
                    <a:srgbClr val="000000"/>
                  </a:outerShdw>
                </a:effectLst>
                <a:latin typeface="Times New Roman" pitchFamily="18" charset="0"/>
              </a:rPr>
              <a:t>查询结果</a:t>
            </a:r>
          </a:p>
        </p:txBody>
      </p:sp>
      <p:sp>
        <p:nvSpPr>
          <p:cNvPr id="65" name="Rectangle 51"/>
          <p:cNvSpPr>
            <a:spLocks noChangeArrowheads="1"/>
          </p:cNvSpPr>
          <p:nvPr/>
        </p:nvSpPr>
        <p:spPr bwMode="auto">
          <a:xfrm>
            <a:off x="9532810" y="1872670"/>
            <a:ext cx="1872208" cy="1395955"/>
          </a:xfrm>
          <a:prstGeom prst="snip2SameRect">
            <a:avLst/>
          </a:prstGeom>
          <a:ln>
            <a:headEnd/>
            <a:tailEnd/>
          </a:ln>
        </p:spPr>
        <p:style>
          <a:lnRef idx="0">
            <a:schemeClr val="accent6"/>
          </a:lnRef>
          <a:fillRef idx="3">
            <a:schemeClr val="accent6"/>
          </a:fillRef>
          <a:effectRef idx="3">
            <a:schemeClr val="accent6"/>
          </a:effectRef>
          <a:fontRef idx="minor">
            <a:schemeClr val="lt1"/>
          </a:fontRef>
        </p:style>
        <p:txBody>
          <a:bodyPr wrap="square" lIns="72000" tIns="72000" rIns="72000" bIns="72000" anchor="ctr" anchorCtr="1">
            <a:noAutofit/>
          </a:bodyPr>
          <a:lstStyle/>
          <a:p>
            <a:pPr lvl="0">
              <a:spcAft>
                <a:spcPct val="0"/>
              </a:spcAft>
              <a:defRPr/>
            </a:pPr>
            <a:r>
              <a:rPr lang="el-GR" altLang="zh-CN" sz="6600" kern="0" dirty="0">
                <a:solidFill>
                  <a:srgbClr val="99FF33"/>
                </a:solidFill>
                <a:effectLst>
                  <a:outerShdw blurRad="38100" dist="38100" dir="2700000" algn="tl">
                    <a:srgbClr val="000000"/>
                  </a:outerShdw>
                </a:effectLst>
                <a:latin typeface="Arial" pitchFamily="34" charset="0"/>
                <a:cs typeface="Arial" pitchFamily="34" charset="0"/>
              </a:rPr>
              <a:t>σ</a:t>
            </a:r>
            <a:r>
              <a:rPr lang="en-US" altLang="zh-CN" sz="6600" b="1" kern="0" baseline="-30000" dirty="0">
                <a:solidFill>
                  <a:srgbClr val="99FF33"/>
                </a:solidFill>
                <a:effectLst>
                  <a:outerShdw blurRad="38100" dist="38100" dir="2700000" algn="tl">
                    <a:srgbClr val="000000"/>
                  </a:outerShdw>
                </a:effectLst>
              </a:rPr>
              <a:t>F</a:t>
            </a:r>
            <a:r>
              <a:rPr lang="en-US" altLang="zh-CN" sz="6000" b="1" kern="0" dirty="0">
                <a:solidFill>
                  <a:srgbClr val="99FF33"/>
                </a:solidFill>
                <a:effectLst>
                  <a:outerShdw blurRad="38100" dist="38100" dir="2700000" algn="tl">
                    <a:srgbClr val="000000"/>
                  </a:outerShdw>
                </a:effectLst>
              </a:rPr>
              <a:t>(</a:t>
            </a:r>
            <a:r>
              <a:rPr lang="en-US" altLang="zh-CN" sz="6000" kern="0" dirty="0">
                <a:solidFill>
                  <a:srgbClr val="99FF33"/>
                </a:solidFill>
                <a:effectLst>
                  <a:outerShdw blurRad="38100" dist="38100" dir="2700000" algn="tl">
                    <a:srgbClr val="000000"/>
                  </a:outerShdw>
                </a:effectLst>
              </a:rPr>
              <a:t>R</a:t>
            </a:r>
            <a:r>
              <a:rPr lang="zh-CN" altLang="en-US" sz="6000" b="1" kern="0" dirty="0">
                <a:solidFill>
                  <a:srgbClr val="99FF33"/>
                </a:solidFill>
                <a:effectLst>
                  <a:outerShdw blurRad="38100" dist="38100" dir="2700000" algn="tl">
                    <a:srgbClr val="000000"/>
                  </a:outerShdw>
                </a:effectLst>
              </a:rPr>
              <a:t>)</a:t>
            </a:r>
            <a:endParaRPr lang="zh-CN" altLang="en-US" sz="7200" b="1" kern="0" dirty="0">
              <a:solidFill>
                <a:srgbClr val="FFFFCC"/>
              </a:solidFill>
              <a:effectLst>
                <a:outerShdw blurRad="38100" dist="38100" dir="2700000" algn="tl">
                  <a:srgbClr val="000000"/>
                </a:outerShdw>
              </a:effectLst>
            </a:endParaRPr>
          </a:p>
        </p:txBody>
      </p:sp>
    </p:spTree>
    <p:extLst>
      <p:ext uri="{BB962C8B-B14F-4D97-AF65-F5344CB8AC3E}">
        <p14:creationId xmlns:p14="http://schemas.microsoft.com/office/powerpoint/2010/main" val="1859927269"/>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Rectangle 2">
            <a:extLst>
              <a:ext uri="{FF2B5EF4-FFF2-40B4-BE49-F238E27FC236}">
                <a16:creationId xmlns:a16="http://schemas.microsoft.com/office/drawing/2014/main" id="{386CADA5-5F9E-4A74-8CE6-D33E3DC25DB0}"/>
              </a:ext>
            </a:extLst>
          </p:cNvPr>
          <p:cNvSpPr>
            <a:spLocks noGrp="1" noChangeArrowheads="1"/>
          </p:cNvSpPr>
          <p:nvPr>
            <p:ph type="title" idx="4294967295"/>
          </p:nvPr>
        </p:nvSpPr>
        <p:spPr>
          <a:xfrm>
            <a:off x="1554082" y="89440"/>
            <a:ext cx="4653838" cy="707886"/>
          </a:xfrm>
        </p:spPr>
        <p:txBody>
          <a:bodyPr/>
          <a:lstStyle/>
          <a:p>
            <a:r>
              <a:rPr lang="en-US" altLang="zh-CN" dirty="0"/>
              <a:t>4.4.2 </a:t>
            </a:r>
            <a:r>
              <a:rPr lang="zh-CN" altLang="en-US" dirty="0"/>
              <a:t>带条件的查询</a:t>
            </a:r>
          </a:p>
        </p:txBody>
      </p:sp>
      <p:sp>
        <p:nvSpPr>
          <p:cNvPr id="737283" name="Rectangle 3">
            <a:extLst>
              <a:ext uri="{FF2B5EF4-FFF2-40B4-BE49-F238E27FC236}">
                <a16:creationId xmlns:a16="http://schemas.microsoft.com/office/drawing/2014/main" id="{400279C3-7391-4F9F-AEAD-23B80A228AEE}"/>
              </a:ext>
            </a:extLst>
          </p:cNvPr>
          <p:cNvSpPr>
            <a:spLocks noGrp="1" noChangeArrowheads="1"/>
          </p:cNvSpPr>
          <p:nvPr>
            <p:ph type="body" idx="4294967295"/>
          </p:nvPr>
        </p:nvSpPr>
        <p:spPr>
          <a:xfrm>
            <a:off x="721520" y="1166018"/>
            <a:ext cx="10972800" cy="4525963"/>
          </a:xfrm>
        </p:spPr>
        <p:txBody>
          <a:bodyPr>
            <a:noAutofit/>
          </a:bodyPr>
          <a:lstStyle/>
          <a:p>
            <a:pPr>
              <a:lnSpc>
                <a:spcPct val="150000"/>
              </a:lnSpc>
            </a:pPr>
            <a:r>
              <a:rPr lang="zh-CN" altLang="en-US" sz="1800" dirty="0"/>
              <a:t>当要在表中找出满足某些条件的行时，则需使用</a:t>
            </a:r>
            <a:r>
              <a:rPr lang="en-US" altLang="zh-CN" sz="1800" dirty="0"/>
              <a:t>WHERE</a:t>
            </a:r>
            <a:r>
              <a:rPr lang="zh-CN" altLang="en-US" sz="1800" dirty="0"/>
              <a:t>子句指定查询条件。</a:t>
            </a:r>
            <a:r>
              <a:rPr lang="en-US" altLang="zh-CN" sz="1800" dirty="0"/>
              <a:t>WHERE</a:t>
            </a:r>
            <a:r>
              <a:rPr lang="zh-CN" altLang="en-US" sz="1800" dirty="0"/>
              <a:t>子句中，条件通常通过三部分来描述：</a:t>
            </a:r>
          </a:p>
          <a:p>
            <a:pPr lvl="1">
              <a:lnSpc>
                <a:spcPct val="150000"/>
              </a:lnSpc>
            </a:pPr>
            <a:r>
              <a:rPr lang="en-US" altLang="zh-CN" sz="1600" dirty="0"/>
              <a:t>1</a:t>
            </a:r>
            <a:r>
              <a:rPr lang="zh-CN" altLang="en-US" sz="1600" dirty="0"/>
              <a:t>．     列名；</a:t>
            </a:r>
          </a:p>
          <a:p>
            <a:pPr lvl="1">
              <a:lnSpc>
                <a:spcPct val="150000"/>
              </a:lnSpc>
            </a:pPr>
            <a:r>
              <a:rPr lang="en-US" altLang="zh-CN" sz="1600" dirty="0"/>
              <a:t>2</a:t>
            </a:r>
            <a:r>
              <a:rPr lang="zh-CN" altLang="en-US" sz="1600" dirty="0"/>
              <a:t>．     比较运算符；</a:t>
            </a:r>
          </a:p>
          <a:p>
            <a:pPr lvl="1">
              <a:lnSpc>
                <a:spcPct val="150000"/>
              </a:lnSpc>
            </a:pPr>
            <a:r>
              <a:rPr lang="en-US" altLang="zh-CN" sz="1600" dirty="0"/>
              <a:t>3</a:t>
            </a:r>
            <a:r>
              <a:rPr lang="zh-CN" altLang="en-US" sz="1600" dirty="0"/>
              <a:t>．     列名、常数。</a:t>
            </a:r>
          </a:p>
          <a:p>
            <a:pPr>
              <a:lnSpc>
                <a:spcPct val="150000"/>
              </a:lnSpc>
            </a:pPr>
            <a:r>
              <a:rPr lang="zh-CN" altLang="en-US" sz="1800" dirty="0"/>
              <a:t>即：利用</a:t>
            </a:r>
            <a:r>
              <a:rPr lang="en-US" altLang="zh-CN" sz="1800" dirty="0"/>
              <a:t>Where</a:t>
            </a:r>
            <a:r>
              <a:rPr lang="zh-CN" altLang="en-US" sz="1800" dirty="0"/>
              <a:t>子句指定选取操作。比较运算符如下</a:t>
            </a:r>
          </a:p>
          <a:p>
            <a:pPr lvl="1">
              <a:lnSpc>
                <a:spcPct val="150000"/>
              </a:lnSpc>
            </a:pPr>
            <a:r>
              <a:rPr lang="en-US" altLang="zh-CN" sz="1600" dirty="0"/>
              <a:t>=, &gt;, &lt;, &gt;=, &lt;=, …… </a:t>
            </a:r>
            <a:r>
              <a:rPr lang="zh-CN" altLang="en-US" sz="1600" dirty="0"/>
              <a:t>。精确匹配大小</a:t>
            </a:r>
          </a:p>
          <a:p>
            <a:pPr lvl="1">
              <a:lnSpc>
                <a:spcPct val="150000"/>
              </a:lnSpc>
            </a:pPr>
            <a:r>
              <a:rPr lang="en-US" altLang="zh-CN" sz="1600" dirty="0"/>
              <a:t>AND</a:t>
            </a:r>
            <a:r>
              <a:rPr lang="zh-CN" altLang="en-US" sz="1600" dirty="0"/>
              <a:t>，</a:t>
            </a:r>
            <a:r>
              <a:rPr lang="en-US" altLang="zh-CN" sz="1600" dirty="0"/>
              <a:t>OR</a:t>
            </a:r>
            <a:r>
              <a:rPr lang="zh-CN" altLang="en-US" sz="1600" dirty="0"/>
              <a:t>，</a:t>
            </a:r>
            <a:r>
              <a:rPr lang="en-US" altLang="zh-CN" sz="1600" dirty="0"/>
              <a:t>NOT</a:t>
            </a:r>
            <a:r>
              <a:rPr lang="zh-CN" altLang="en-US" sz="1600" dirty="0"/>
              <a:t>。多重条件</a:t>
            </a:r>
          </a:p>
          <a:p>
            <a:pPr lvl="1">
              <a:lnSpc>
                <a:spcPct val="150000"/>
              </a:lnSpc>
            </a:pPr>
            <a:r>
              <a:rPr lang="en-US" altLang="zh-CN" sz="1600" dirty="0"/>
              <a:t>BETWEEN  AND</a:t>
            </a:r>
            <a:r>
              <a:rPr lang="zh-CN" altLang="en-US" sz="1600" dirty="0"/>
              <a:t>。确定范围</a:t>
            </a:r>
          </a:p>
          <a:p>
            <a:pPr lvl="1">
              <a:lnSpc>
                <a:spcPct val="150000"/>
              </a:lnSpc>
            </a:pPr>
            <a:r>
              <a:rPr lang="en-US" altLang="zh-CN" sz="1600" dirty="0"/>
              <a:t>IN</a:t>
            </a:r>
            <a:r>
              <a:rPr lang="zh-CN" altLang="en-US" sz="1600" dirty="0"/>
              <a:t>。确定所在集合</a:t>
            </a:r>
          </a:p>
          <a:p>
            <a:pPr lvl="1">
              <a:lnSpc>
                <a:spcPct val="150000"/>
              </a:lnSpc>
            </a:pPr>
            <a:r>
              <a:rPr lang="en-US" altLang="zh-CN" sz="1600" dirty="0"/>
              <a:t>LIKE</a:t>
            </a:r>
            <a:r>
              <a:rPr lang="zh-CN" altLang="en-US" sz="1600" dirty="0"/>
              <a:t>。模糊匹配</a:t>
            </a:r>
          </a:p>
          <a:p>
            <a:pPr lvl="1">
              <a:lnSpc>
                <a:spcPct val="150000"/>
              </a:lnSpc>
            </a:pPr>
            <a:r>
              <a:rPr lang="en-US" altLang="zh-CN" sz="1600" dirty="0"/>
              <a:t> IS  NULL</a:t>
            </a:r>
            <a:r>
              <a:rPr lang="zh-CN" altLang="en-US" sz="1600" dirty="0"/>
              <a:t>。空值查询</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7" name="Rectangle 3">
            <a:extLst>
              <a:ext uri="{FF2B5EF4-FFF2-40B4-BE49-F238E27FC236}">
                <a16:creationId xmlns:a16="http://schemas.microsoft.com/office/drawing/2014/main" id="{5DA1D045-B730-4337-B961-78231E9EEFFB}"/>
              </a:ext>
            </a:extLst>
          </p:cNvPr>
          <p:cNvSpPr>
            <a:spLocks noGrp="1" noChangeArrowheads="1"/>
          </p:cNvSpPr>
          <p:nvPr>
            <p:ph type="body" idx="4294967295"/>
          </p:nvPr>
        </p:nvSpPr>
        <p:spPr>
          <a:xfrm>
            <a:off x="609600" y="764704"/>
            <a:ext cx="10972800" cy="4525963"/>
          </a:xfrm>
        </p:spPr>
        <p:txBody>
          <a:bodyPr/>
          <a:lstStyle/>
          <a:p>
            <a:pPr>
              <a:lnSpc>
                <a:spcPct val="150000"/>
              </a:lnSpc>
              <a:buFontTx/>
              <a:buNone/>
            </a:pPr>
            <a:r>
              <a:rPr lang="zh-CN" altLang="en-US" dirty="0"/>
              <a:t>精确匹配大小</a:t>
            </a:r>
          </a:p>
          <a:p>
            <a:pPr>
              <a:lnSpc>
                <a:spcPct val="150000"/>
              </a:lnSpc>
            </a:pPr>
            <a:r>
              <a:rPr lang="zh-CN" altLang="en-US" dirty="0"/>
              <a:t>例</a:t>
            </a:r>
            <a:r>
              <a:rPr lang="en-US" altLang="zh-CN" dirty="0"/>
              <a:t>29</a:t>
            </a:r>
            <a:r>
              <a:rPr lang="zh-CN" altLang="en-US" dirty="0"/>
              <a:t>， 查询成绩高于</a:t>
            </a:r>
            <a:r>
              <a:rPr lang="en-US" altLang="zh-CN" dirty="0"/>
              <a:t>85</a:t>
            </a:r>
            <a:r>
              <a:rPr lang="zh-CN" altLang="en-US" dirty="0"/>
              <a:t>分的学生的学号、课程号和成绩。</a:t>
            </a:r>
          </a:p>
          <a:p>
            <a:pPr>
              <a:lnSpc>
                <a:spcPct val="150000"/>
              </a:lnSpc>
              <a:buFontTx/>
              <a:buNone/>
            </a:pPr>
            <a:r>
              <a:rPr lang="en-US" altLang="zh-CN" dirty="0"/>
              <a:t>SELECT </a:t>
            </a:r>
            <a:r>
              <a:rPr lang="en-US" altLang="zh-CN" dirty="0" err="1"/>
              <a:t>sno,cno,grade</a:t>
            </a:r>
            <a:endParaRPr lang="en-US" altLang="zh-CN" dirty="0"/>
          </a:p>
          <a:p>
            <a:pPr>
              <a:lnSpc>
                <a:spcPct val="150000"/>
              </a:lnSpc>
              <a:buFontTx/>
              <a:buNone/>
            </a:pPr>
            <a:r>
              <a:rPr lang="en-US" altLang="zh-CN" dirty="0"/>
              <a:t>FROM </a:t>
            </a:r>
            <a:r>
              <a:rPr lang="en-US" altLang="zh-CN" dirty="0" err="1"/>
              <a:t>sc</a:t>
            </a:r>
            <a:endParaRPr lang="en-US" altLang="zh-CN" dirty="0"/>
          </a:p>
          <a:p>
            <a:pPr>
              <a:lnSpc>
                <a:spcPct val="150000"/>
              </a:lnSpc>
              <a:buFontTx/>
              <a:buNone/>
            </a:pPr>
            <a:r>
              <a:rPr lang="en-US" altLang="zh-CN" dirty="0"/>
              <a:t>WHERE grade&gt;85;</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983329" y="2538150"/>
            <a:ext cx="5724406"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5" name="Rectangle 2"/>
          <p:cNvSpPr>
            <a:spLocks noGrp="1" noChangeArrowheads="1"/>
          </p:cNvSpPr>
          <p:nvPr>
            <p:ph type="title"/>
          </p:nvPr>
        </p:nvSpPr>
        <p:spPr>
          <a:xfrm>
            <a:off x="766630" y="57063"/>
            <a:ext cx="307890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WHERE</a:t>
            </a:r>
            <a:r>
              <a:rPr lang="zh-CN" altLang="en-US" sz="4000" b="1" dirty="0">
                <a:solidFill>
                  <a:srgbClr val="FFFFCC"/>
                </a:solidFill>
                <a:effectLst>
                  <a:outerShdw blurRad="38100" dist="38100" dir="2700000" algn="tl">
                    <a:srgbClr val="000000"/>
                  </a:outerShdw>
                </a:effectLst>
              </a:rPr>
              <a:t>子句</a:t>
            </a:r>
          </a:p>
        </p:txBody>
      </p:sp>
      <p:sp>
        <p:nvSpPr>
          <p:cNvPr id="24" name="Rectangle 4"/>
          <p:cNvSpPr txBox="1">
            <a:spLocks noChangeArrowheads="1"/>
          </p:cNvSpPr>
          <p:nvPr/>
        </p:nvSpPr>
        <p:spPr bwMode="auto">
          <a:xfrm>
            <a:off x="479376" y="455786"/>
            <a:ext cx="9577064" cy="180972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algn="just" eaLnBrk="1" hangingPunct="1">
              <a:lnSpc>
                <a:spcPct val="200000"/>
              </a:lnSpc>
              <a:spcAft>
                <a:spcPct val="10000"/>
              </a:spcAft>
              <a:buClr>
                <a:srgbClr val="FFFFFF"/>
              </a:buClr>
              <a:buFont typeface="Wingdings" pitchFamily="2" charset="2"/>
              <a:buChar char="§"/>
              <a:defRPr/>
            </a:pPr>
            <a:r>
              <a:rPr kumimoji="1" lang="zh-CN" altLang="en-US" sz="3600" kern="0" dirty="0">
                <a:solidFill>
                  <a:srgbClr val="FFFFFF"/>
                </a:solidFill>
                <a:latin typeface="楷体_GB2312" pitchFamily="49" charset="-122"/>
              </a:rPr>
              <a:t>选择条件为限定范围，格式为：</a:t>
            </a:r>
          </a:p>
          <a:p>
            <a:pPr marL="269875" indent="-269875" algn="just" eaLnBrk="1" hangingPunct="1">
              <a:spcAft>
                <a:spcPct val="10000"/>
              </a:spcAft>
              <a:buClr>
                <a:srgbClr val="FFFFFF"/>
              </a:buClr>
              <a:buNone/>
              <a:defRPr/>
            </a:pPr>
            <a:r>
              <a:rPr kumimoji="1" lang="en-US" altLang="zh-CN" sz="3600" b="1" kern="0" dirty="0">
                <a:solidFill>
                  <a:srgbClr val="FFFF66"/>
                </a:solidFill>
                <a:latin typeface="楷体_GB2312" pitchFamily="49" charset="-122"/>
              </a:rPr>
              <a:t>	[NOT] BETWEEN &lt;</a:t>
            </a:r>
            <a:r>
              <a:rPr kumimoji="1" lang="zh-CN" altLang="en-US" sz="3600" i="1" kern="0" dirty="0">
                <a:solidFill>
                  <a:srgbClr val="FFFF66"/>
                </a:solidFill>
                <a:latin typeface="楷体_GB2312" pitchFamily="49" charset="-122"/>
              </a:rPr>
              <a:t>下限</a:t>
            </a:r>
            <a:r>
              <a:rPr kumimoji="1" lang="en-US" altLang="zh-CN" sz="3600" b="1" kern="0" dirty="0">
                <a:solidFill>
                  <a:srgbClr val="FFFF66"/>
                </a:solidFill>
                <a:latin typeface="楷体_GB2312" pitchFamily="49" charset="-122"/>
              </a:rPr>
              <a:t>&gt; AND &lt;</a:t>
            </a:r>
            <a:r>
              <a:rPr kumimoji="1" lang="zh-CN" altLang="en-US" sz="3600" i="1" kern="0" dirty="0">
                <a:solidFill>
                  <a:srgbClr val="FFFF66"/>
                </a:solidFill>
                <a:latin typeface="楷体_GB2312" pitchFamily="49" charset="-122"/>
              </a:rPr>
              <a:t>上限</a:t>
            </a:r>
            <a:r>
              <a:rPr kumimoji="1" lang="en-US" altLang="zh-CN" sz="3600" b="1" kern="0" dirty="0">
                <a:solidFill>
                  <a:srgbClr val="FFFF66"/>
                </a:solidFill>
                <a:latin typeface="楷体_GB2312" pitchFamily="49" charset="-122"/>
              </a:rPr>
              <a:t>&gt;</a:t>
            </a:r>
          </a:p>
        </p:txBody>
      </p:sp>
      <p:sp>
        <p:nvSpPr>
          <p:cNvPr id="26" name="AutoShape 14"/>
          <p:cNvSpPr>
            <a:spLocks noChangeArrowheads="1"/>
          </p:cNvSpPr>
          <p:nvPr/>
        </p:nvSpPr>
        <p:spPr bwMode="auto">
          <a:xfrm>
            <a:off x="7752184" y="2335567"/>
            <a:ext cx="1296144" cy="1296144"/>
          </a:xfrm>
          <a:prstGeom prst="wedgeRoundRectCallout">
            <a:avLst>
              <a:gd name="adj1" fmla="val -105777"/>
              <a:gd name="adj2" fmla="val 11012"/>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a:solidFill>
                  <a:srgbClr val="FFFFCC"/>
                </a:solidFill>
                <a:effectLst>
                  <a:outerShdw blurRad="38100" dist="38100" dir="2700000" algn="tl">
                    <a:srgbClr val="000000"/>
                  </a:outerShdw>
                </a:effectLst>
                <a:latin typeface="Times New Roman" pitchFamily="18" charset="0"/>
              </a:rPr>
              <a:t>原始数据</a:t>
            </a:r>
          </a:p>
        </p:txBody>
      </p:sp>
      <p:pic>
        <p:nvPicPr>
          <p:cNvPr id="27" name="Picture 15"/>
          <p:cNvPicPr>
            <a:picLocks noChangeAspect="1" noChangeArrowheads="1"/>
          </p:cNvPicPr>
          <p:nvPr/>
        </p:nvPicPr>
        <p:blipFill rotWithShape="1">
          <a:blip r:embed="rId5">
            <a:extLst>
              <a:ext uri="{28A0092B-C50C-407E-A947-70E740481C1C}">
                <a14:useLocalDpi xmlns:a14="http://schemas.microsoft.com/office/drawing/2010/main" val="0"/>
              </a:ext>
            </a:extLst>
          </a:blip>
          <a:srcRect l="4269" t="7215" b="10011"/>
          <a:stretch/>
        </p:blipFill>
        <p:spPr bwMode="auto">
          <a:xfrm>
            <a:off x="983329" y="4322644"/>
            <a:ext cx="5724406" cy="2263183"/>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28" name="AutoShape 16"/>
          <p:cNvSpPr>
            <a:spLocks noChangeArrowheads="1"/>
          </p:cNvSpPr>
          <p:nvPr/>
        </p:nvSpPr>
        <p:spPr bwMode="auto">
          <a:xfrm>
            <a:off x="7404910" y="3874361"/>
            <a:ext cx="3803761" cy="2760202"/>
          </a:xfrm>
          <a:prstGeom prst="wedgeRoundRectCallout">
            <a:avLst>
              <a:gd name="adj1" fmla="val -114632"/>
              <a:gd name="adj2" fmla="val -12024"/>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lIns="36000" rIns="36000" anchor="ctr"/>
          <a:lstStyle/>
          <a:p>
            <a:pPr>
              <a:spcAft>
                <a:spcPct val="0"/>
              </a:spcAft>
              <a:buClr>
                <a:srgbClr val="66FF33"/>
              </a:buClr>
              <a:buSzPct val="85000"/>
              <a:tabLst>
                <a:tab pos="901700" algn="l"/>
              </a:tabLst>
              <a:defRPr/>
            </a:pPr>
            <a:r>
              <a:rPr lang="zh-CN" altLang="en-US" sz="3600" kern="0" dirty="0">
                <a:solidFill>
                  <a:srgbClr val="FFFFCC"/>
                </a:solidFill>
                <a:effectLst>
                  <a:outerShdw blurRad="38100" dist="38100" dir="2700000" algn="tl">
                    <a:srgbClr val="000000"/>
                  </a:outerShdw>
                </a:effectLst>
                <a:latin typeface="Times New Roman" pitchFamily="18" charset="0"/>
              </a:rPr>
              <a:t>其实条件就是：</a:t>
            </a:r>
          </a:p>
          <a:p>
            <a:pPr>
              <a:spcAft>
                <a:spcPct val="0"/>
              </a:spcAft>
              <a:buClr>
                <a:srgbClr val="66FF33"/>
              </a:buClr>
              <a:buSzPct val="85000"/>
              <a:tabLst>
                <a:tab pos="901700" algn="l"/>
              </a:tabLst>
              <a:defRPr/>
            </a:pPr>
            <a:r>
              <a:rPr lang="en-US" altLang="zh-CN" sz="3600" kern="0" dirty="0">
                <a:solidFill>
                  <a:srgbClr val="66FFFF"/>
                </a:solidFill>
                <a:effectLst>
                  <a:outerShdw blurRad="38100" dist="38100" dir="2700000" algn="tl">
                    <a:srgbClr val="000000"/>
                  </a:outerShdw>
                </a:effectLst>
                <a:latin typeface="Times New Roman" pitchFamily="18" charset="0"/>
              </a:rPr>
              <a:t>1200≤</a:t>
            </a:r>
            <a:r>
              <a:rPr lang="zh-CN" altLang="en-US" sz="3600" kern="0" dirty="0">
                <a:solidFill>
                  <a:srgbClr val="66FFFF"/>
                </a:solidFill>
                <a:effectLst>
                  <a:outerShdw blurRad="38100" dist="38100" dir="2700000" algn="tl">
                    <a:srgbClr val="000000"/>
                  </a:outerShdw>
                </a:effectLst>
                <a:latin typeface="Times New Roman" pitchFamily="18" charset="0"/>
              </a:rPr>
              <a:t>工资≤</a:t>
            </a:r>
            <a:r>
              <a:rPr lang="en-US" altLang="zh-CN" sz="3600" kern="0" dirty="0">
                <a:solidFill>
                  <a:srgbClr val="66FFFF"/>
                </a:solidFill>
                <a:effectLst>
                  <a:outerShdw blurRad="38100" dist="38100" dir="2700000" algn="tl">
                    <a:srgbClr val="000000"/>
                  </a:outerShdw>
                </a:effectLst>
                <a:latin typeface="Times New Roman" pitchFamily="18" charset="0"/>
              </a:rPr>
              <a:t>2000</a:t>
            </a:r>
          </a:p>
          <a:p>
            <a:pPr>
              <a:spcBef>
                <a:spcPct val="40000"/>
              </a:spcBef>
              <a:spcAft>
                <a:spcPct val="0"/>
              </a:spcAft>
              <a:buClr>
                <a:srgbClr val="66FF33"/>
              </a:buClr>
              <a:buSzPct val="85000"/>
              <a:tabLst>
                <a:tab pos="901700" algn="l"/>
              </a:tabLst>
              <a:defRPr/>
            </a:pPr>
            <a:r>
              <a:rPr lang="zh-CN" altLang="en-US" sz="3600" kern="0" dirty="0">
                <a:solidFill>
                  <a:srgbClr val="FFFFCC"/>
                </a:solidFill>
                <a:effectLst>
                  <a:outerShdw blurRad="38100" dist="38100" dir="2700000" algn="tl">
                    <a:srgbClr val="000000"/>
                  </a:outerShdw>
                </a:effectLst>
                <a:latin typeface="Times New Roman" pitchFamily="18" charset="0"/>
              </a:rPr>
              <a:t>否定时只需写成：</a:t>
            </a:r>
          </a:p>
          <a:p>
            <a:pPr>
              <a:spcAft>
                <a:spcPct val="0"/>
              </a:spcAft>
              <a:buClr>
                <a:srgbClr val="66FF33"/>
              </a:buClr>
              <a:buSzPct val="85000"/>
              <a:tabLst>
                <a:tab pos="901700" algn="l"/>
              </a:tabLst>
              <a:defRPr/>
            </a:pPr>
            <a:r>
              <a:rPr lang="zh-CN" altLang="en-US" sz="3600" kern="0" dirty="0">
                <a:solidFill>
                  <a:srgbClr val="66FFFF"/>
                </a:solidFill>
                <a:effectLst>
                  <a:outerShdw blurRad="38100" dist="38100" dir="2700000" algn="tl">
                    <a:srgbClr val="000000"/>
                  </a:outerShdw>
                </a:effectLst>
                <a:latin typeface="Times New Roman" pitchFamily="18" charset="0"/>
              </a:rPr>
              <a:t>工资 </a:t>
            </a:r>
            <a:r>
              <a:rPr lang="en-US" altLang="zh-CN" sz="3600" kern="0" dirty="0">
                <a:solidFill>
                  <a:srgbClr val="66FFFF"/>
                </a:solidFill>
                <a:effectLst>
                  <a:outerShdw blurRad="38100" dist="38100" dir="2700000" algn="tl">
                    <a:srgbClr val="000000"/>
                  </a:outerShdw>
                </a:effectLst>
                <a:latin typeface="Times New Roman" pitchFamily="18" charset="0"/>
              </a:rPr>
              <a:t>Not Between</a:t>
            </a:r>
          </a:p>
        </p:txBody>
      </p:sp>
      <p:sp>
        <p:nvSpPr>
          <p:cNvPr id="8" name="Line 17"/>
          <p:cNvSpPr>
            <a:spLocks noChangeShapeType="1"/>
          </p:cNvSpPr>
          <p:nvPr/>
        </p:nvSpPr>
        <p:spPr bwMode="auto">
          <a:xfrm>
            <a:off x="1127272" y="5186739"/>
            <a:ext cx="3527425" cy="0"/>
          </a:xfrm>
          <a:prstGeom prst="line">
            <a:avLst/>
          </a:prstGeom>
          <a:noFill/>
          <a:ln w="28575" cap="sq">
            <a:solidFill>
              <a:srgbClr val="FF0000"/>
            </a:solidFill>
            <a:round/>
            <a:headEnd/>
            <a:tailEnd/>
          </a:ln>
          <a:effectLst/>
        </p:spPr>
        <p:txBody>
          <a:bodyPr lIns="72000" tIns="72000" rIns="72000" bIns="72000"/>
          <a:lstStyle/>
          <a:p>
            <a:pPr>
              <a:defRPr/>
            </a:pPr>
            <a:endParaRPr lang="zh-CN" altLang="en-US" kern="0">
              <a:solidFill>
                <a:sysClr val="windowText" lastClr="000000"/>
              </a:solidFill>
            </a:endParaRPr>
          </a:p>
        </p:txBody>
      </p:sp>
    </p:spTree>
    <p:extLst>
      <p:ext uri="{BB962C8B-B14F-4D97-AF65-F5344CB8AC3E}">
        <p14:creationId xmlns:p14="http://schemas.microsoft.com/office/powerpoint/2010/main" val="2801558982"/>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911424" y="2455036"/>
            <a:ext cx="5724406"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5" name="Rectangle 2"/>
          <p:cNvSpPr>
            <a:spLocks noGrp="1" noChangeArrowheads="1"/>
          </p:cNvSpPr>
          <p:nvPr>
            <p:ph type="title"/>
          </p:nvPr>
        </p:nvSpPr>
        <p:spPr>
          <a:xfrm>
            <a:off x="781764" y="70697"/>
            <a:ext cx="307890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WHERE</a:t>
            </a:r>
            <a:r>
              <a:rPr lang="zh-CN" altLang="en-US" sz="4000" b="1" dirty="0">
                <a:solidFill>
                  <a:srgbClr val="FFFFCC"/>
                </a:solidFill>
                <a:effectLst>
                  <a:outerShdw blurRad="38100" dist="38100" dir="2700000" algn="tl">
                    <a:srgbClr val="000000"/>
                  </a:outerShdw>
                </a:effectLst>
              </a:rPr>
              <a:t>子句</a:t>
            </a:r>
          </a:p>
        </p:txBody>
      </p:sp>
      <p:sp>
        <p:nvSpPr>
          <p:cNvPr id="28" name="Rectangle 4"/>
          <p:cNvSpPr txBox="1">
            <a:spLocks noChangeArrowheads="1"/>
          </p:cNvSpPr>
          <p:nvPr/>
        </p:nvSpPr>
        <p:spPr bwMode="auto">
          <a:xfrm>
            <a:off x="479376" y="865406"/>
            <a:ext cx="8496300" cy="125572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algn="just" eaLnBrk="1" hangingPunct="1">
              <a:spcAft>
                <a:spcPct val="10000"/>
              </a:spcAft>
              <a:buClr>
                <a:srgbClr val="FFFFFF"/>
              </a:buClr>
              <a:buFont typeface="Wingdings" pitchFamily="2" charset="2"/>
              <a:buChar char="§"/>
              <a:defRPr/>
            </a:pPr>
            <a:r>
              <a:rPr kumimoji="1" lang="zh-CN" altLang="en-US" sz="3600" kern="0" dirty="0">
                <a:solidFill>
                  <a:srgbClr val="FFFFFF"/>
                </a:solidFill>
                <a:latin typeface="楷体_GB2312" pitchFamily="49" charset="-122"/>
              </a:rPr>
              <a:t>集合检查，格式为： </a:t>
            </a:r>
            <a:r>
              <a:rPr kumimoji="1" lang="en-US" altLang="zh-CN" sz="3600" b="1" kern="0" dirty="0">
                <a:solidFill>
                  <a:srgbClr val="FFFF66"/>
                </a:solidFill>
                <a:latin typeface="楷体_GB2312" pitchFamily="49" charset="-122"/>
              </a:rPr>
              <a:t>[NOT] IN (</a:t>
            </a:r>
            <a:r>
              <a:rPr kumimoji="1" lang="zh-CN" altLang="en-US" sz="3600" b="1" i="1" kern="0" dirty="0">
                <a:solidFill>
                  <a:srgbClr val="FFFF66"/>
                </a:solidFill>
                <a:latin typeface="楷体_GB2312" pitchFamily="49" charset="-122"/>
              </a:rPr>
              <a:t>值列表</a:t>
            </a:r>
            <a:r>
              <a:rPr kumimoji="1" lang="en-US" altLang="zh-CN" sz="3600" b="1" kern="0" dirty="0">
                <a:solidFill>
                  <a:srgbClr val="FFFF66"/>
                </a:solidFill>
                <a:latin typeface="楷体_GB2312" pitchFamily="49" charset="-122"/>
              </a:rPr>
              <a:t>) </a:t>
            </a:r>
          </a:p>
          <a:p>
            <a:pPr marL="269875" indent="-269875" algn="just" eaLnBrk="1" hangingPunct="1">
              <a:spcAft>
                <a:spcPct val="10000"/>
              </a:spcAft>
              <a:buClr>
                <a:srgbClr val="FFFFFF"/>
              </a:buClr>
              <a:buNone/>
              <a:defRPr/>
            </a:pPr>
            <a:r>
              <a:rPr kumimoji="1" lang="en-US" altLang="zh-CN" sz="3600" b="1" kern="0" dirty="0">
                <a:solidFill>
                  <a:srgbClr val="FFFF66"/>
                </a:solidFill>
                <a:latin typeface="楷体_GB2312" pitchFamily="49" charset="-122"/>
              </a:rPr>
              <a:t>	</a:t>
            </a:r>
            <a:r>
              <a:rPr kumimoji="1" lang="zh-CN" altLang="en-US" sz="3600" kern="0" dirty="0">
                <a:solidFill>
                  <a:srgbClr val="FFFFFF"/>
                </a:solidFill>
                <a:latin typeface="楷体_GB2312" pitchFamily="49" charset="-122"/>
              </a:rPr>
              <a:t>其中各个值之间用逗号分隔</a:t>
            </a:r>
            <a:endParaRPr kumimoji="1" lang="en-US" altLang="zh-CN" sz="3600" kern="0" dirty="0">
              <a:solidFill>
                <a:srgbClr val="FFFFFF"/>
              </a:solidFill>
              <a:latin typeface="楷体_GB2312" pitchFamily="49" charset="-122"/>
            </a:endParaRPr>
          </a:p>
        </p:txBody>
      </p:sp>
      <p:sp>
        <p:nvSpPr>
          <p:cNvPr id="30" name="AutoShape 14"/>
          <p:cNvSpPr>
            <a:spLocks noChangeArrowheads="1"/>
          </p:cNvSpPr>
          <p:nvPr/>
        </p:nvSpPr>
        <p:spPr bwMode="auto">
          <a:xfrm>
            <a:off x="8760296" y="2416254"/>
            <a:ext cx="1296144" cy="1255728"/>
          </a:xfrm>
          <a:prstGeom prst="wedgeRoundRectCallout">
            <a:avLst>
              <a:gd name="adj1" fmla="val -201336"/>
              <a:gd name="adj2" fmla="val -2892"/>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原始数据</a:t>
            </a:r>
          </a:p>
        </p:txBody>
      </p:sp>
      <p:pic>
        <p:nvPicPr>
          <p:cNvPr id="31" name="Picture 15"/>
          <p:cNvPicPr>
            <a:picLocks noChangeAspect="1" noChangeArrowheads="1"/>
          </p:cNvPicPr>
          <p:nvPr/>
        </p:nvPicPr>
        <p:blipFill rotWithShape="1">
          <a:blip r:embed="rId5">
            <a:extLst>
              <a:ext uri="{28A0092B-C50C-407E-A947-70E740481C1C}">
                <a14:useLocalDpi xmlns:a14="http://schemas.microsoft.com/office/drawing/2010/main" val="0"/>
              </a:ext>
            </a:extLst>
          </a:blip>
          <a:srcRect l="6176" t="6544" b="16201"/>
          <a:stretch/>
        </p:blipFill>
        <p:spPr bwMode="auto">
          <a:xfrm>
            <a:off x="911424" y="4311537"/>
            <a:ext cx="5724406" cy="2176676"/>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32" name="AutoShape 16"/>
          <p:cNvSpPr>
            <a:spLocks noChangeArrowheads="1"/>
          </p:cNvSpPr>
          <p:nvPr/>
        </p:nvSpPr>
        <p:spPr bwMode="auto">
          <a:xfrm>
            <a:off x="5160170" y="4549496"/>
            <a:ext cx="6768478" cy="1471179"/>
          </a:xfrm>
          <a:prstGeom prst="wedgeRoundRectCallout">
            <a:avLst>
              <a:gd name="adj1" fmla="val -62726"/>
              <a:gd name="adj2" fmla="val 353"/>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lIns="36000" rIns="36000" anchor="ctr"/>
          <a:lstStyle/>
          <a:p>
            <a:pPr>
              <a:spcAft>
                <a:spcPct val="0"/>
              </a:spcAft>
              <a:buClr>
                <a:srgbClr val="66FF33"/>
              </a:buClr>
              <a:buSzPct val="85000"/>
              <a:tabLst>
                <a:tab pos="901700" algn="l"/>
              </a:tabLst>
              <a:defRPr/>
            </a:pPr>
            <a:r>
              <a:rPr lang="zh-CN" altLang="en-US" sz="3200" kern="0">
                <a:solidFill>
                  <a:srgbClr val="FFFFCC"/>
                </a:solidFill>
                <a:effectLst>
                  <a:outerShdw blurRad="38100" dist="38100" dir="2700000" algn="tl">
                    <a:srgbClr val="000000"/>
                  </a:outerShdw>
                </a:effectLst>
                <a:latin typeface="Times New Roman" pitchFamily="18" charset="0"/>
              </a:rPr>
              <a:t>其实条件就是：</a:t>
            </a:r>
          </a:p>
          <a:p>
            <a:pPr>
              <a:spcAft>
                <a:spcPct val="0"/>
              </a:spcAft>
              <a:buClr>
                <a:srgbClr val="66FF33"/>
              </a:buClr>
              <a:buSzPct val="85000"/>
              <a:tabLst>
                <a:tab pos="901700" algn="l"/>
              </a:tabLst>
              <a:defRPr/>
            </a:pPr>
            <a:r>
              <a:rPr lang="zh-CN" altLang="en-US" sz="3200" kern="0">
                <a:solidFill>
                  <a:srgbClr val="66FFFF"/>
                </a:solidFill>
                <a:effectLst>
                  <a:outerShdw blurRad="38100" dist="38100" dir="2700000" algn="tl">
                    <a:srgbClr val="000000"/>
                  </a:outerShdw>
                </a:effectLst>
                <a:latin typeface="Times New Roman" pitchFamily="18" charset="0"/>
              </a:rPr>
              <a:t>工资</a:t>
            </a:r>
            <a:r>
              <a:rPr lang="en-US" altLang="zh-CN" sz="3200" kern="0">
                <a:solidFill>
                  <a:srgbClr val="66FFFF"/>
                </a:solidFill>
                <a:effectLst>
                  <a:outerShdw blurRad="38100" dist="38100" dir="2700000" algn="tl">
                    <a:srgbClr val="000000"/>
                  </a:outerShdw>
                </a:effectLst>
                <a:latin typeface="Times New Roman" pitchFamily="18" charset="0"/>
              </a:rPr>
              <a:t>=800  or </a:t>
            </a:r>
            <a:r>
              <a:rPr lang="zh-CN" altLang="en-US" sz="3200" kern="0">
                <a:solidFill>
                  <a:srgbClr val="66FFFF"/>
                </a:solidFill>
                <a:effectLst>
                  <a:outerShdw blurRad="38100" dist="38100" dir="2700000" algn="tl">
                    <a:srgbClr val="000000"/>
                  </a:outerShdw>
                </a:effectLst>
                <a:latin typeface="Times New Roman" pitchFamily="18" charset="0"/>
              </a:rPr>
              <a:t>工资</a:t>
            </a:r>
            <a:r>
              <a:rPr lang="en-US" altLang="zh-CN" sz="3200" kern="0">
                <a:solidFill>
                  <a:srgbClr val="66FFFF"/>
                </a:solidFill>
                <a:effectLst>
                  <a:outerShdw blurRad="38100" dist="38100" dir="2700000" algn="tl">
                    <a:srgbClr val="000000"/>
                  </a:outerShdw>
                </a:effectLst>
                <a:latin typeface="Times New Roman" pitchFamily="18" charset="0"/>
              </a:rPr>
              <a:t>=1200 or </a:t>
            </a:r>
            <a:r>
              <a:rPr lang="zh-CN" altLang="en-US" sz="3200" kern="0">
                <a:solidFill>
                  <a:srgbClr val="66FFFF"/>
                </a:solidFill>
                <a:effectLst>
                  <a:outerShdw blurRad="38100" dist="38100" dir="2700000" algn="tl">
                    <a:srgbClr val="000000"/>
                  </a:outerShdw>
                </a:effectLst>
                <a:latin typeface="Times New Roman" pitchFamily="18" charset="0"/>
              </a:rPr>
              <a:t>工资</a:t>
            </a:r>
            <a:r>
              <a:rPr lang="en-US" altLang="zh-CN" sz="3200" kern="0">
                <a:solidFill>
                  <a:srgbClr val="66FFFF"/>
                </a:solidFill>
                <a:effectLst>
                  <a:outerShdw blurRad="38100" dist="38100" dir="2700000" algn="tl">
                    <a:srgbClr val="000000"/>
                  </a:outerShdw>
                </a:effectLst>
                <a:latin typeface="Times New Roman" pitchFamily="18" charset="0"/>
              </a:rPr>
              <a:t>=1500</a:t>
            </a:r>
          </a:p>
        </p:txBody>
      </p:sp>
      <p:sp>
        <p:nvSpPr>
          <p:cNvPr id="8" name="Line 17"/>
          <p:cNvSpPr>
            <a:spLocks noChangeShapeType="1"/>
          </p:cNvSpPr>
          <p:nvPr/>
        </p:nvSpPr>
        <p:spPr bwMode="auto">
          <a:xfrm>
            <a:off x="1055366" y="5294249"/>
            <a:ext cx="3024336" cy="0"/>
          </a:xfrm>
          <a:prstGeom prst="line">
            <a:avLst/>
          </a:prstGeom>
          <a:noFill/>
          <a:ln w="28575" cap="sq">
            <a:solidFill>
              <a:srgbClr val="FF0000"/>
            </a:solidFill>
            <a:round/>
            <a:headEnd/>
            <a:tailEnd/>
          </a:ln>
          <a:effectLst/>
        </p:spPr>
        <p:txBody>
          <a:bodyPr lIns="72000" tIns="72000" rIns="72000" bIns="72000"/>
          <a:lstStyle/>
          <a:p>
            <a:pPr>
              <a:defRPr/>
            </a:pPr>
            <a:endParaRPr lang="zh-CN" altLang="en-US" kern="0">
              <a:solidFill>
                <a:sysClr val="windowText" lastClr="000000"/>
              </a:solidFill>
            </a:endParaRPr>
          </a:p>
        </p:txBody>
      </p:sp>
    </p:spTree>
    <p:extLst>
      <p:ext uri="{BB962C8B-B14F-4D97-AF65-F5344CB8AC3E}">
        <p14:creationId xmlns:p14="http://schemas.microsoft.com/office/powerpoint/2010/main" val="2993459873"/>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403" name="Rectangle 3">
            <a:extLst>
              <a:ext uri="{FF2B5EF4-FFF2-40B4-BE49-F238E27FC236}">
                <a16:creationId xmlns:a16="http://schemas.microsoft.com/office/drawing/2014/main" id="{70257907-7696-4F2A-B2F2-D08A8D453B43}"/>
              </a:ext>
            </a:extLst>
          </p:cNvPr>
          <p:cNvSpPr>
            <a:spLocks noGrp="1" noChangeArrowheads="1"/>
          </p:cNvSpPr>
          <p:nvPr>
            <p:ph type="body" idx="4294967295"/>
          </p:nvPr>
        </p:nvSpPr>
        <p:spPr>
          <a:xfrm>
            <a:off x="1055440" y="692696"/>
            <a:ext cx="10441160" cy="4679950"/>
          </a:xfrm>
        </p:spPr>
        <p:txBody>
          <a:bodyPr>
            <a:noAutofit/>
          </a:bodyPr>
          <a:lstStyle/>
          <a:p>
            <a:pPr>
              <a:lnSpc>
                <a:spcPct val="150000"/>
              </a:lnSpc>
              <a:buFontTx/>
              <a:buNone/>
            </a:pPr>
            <a:r>
              <a:rPr lang="zh-CN" altLang="en-US" sz="2400" dirty="0">
                <a:solidFill>
                  <a:srgbClr val="FFFF00"/>
                </a:solidFill>
              </a:rPr>
              <a:t>部分匹配查询</a:t>
            </a:r>
          </a:p>
          <a:p>
            <a:pPr>
              <a:lnSpc>
                <a:spcPct val="150000"/>
              </a:lnSpc>
            </a:pPr>
            <a:r>
              <a:rPr lang="zh-CN" altLang="en-US" sz="2400" dirty="0"/>
              <a:t>当不知道精确的值时，用户还可以使用字符串比较运算符</a:t>
            </a:r>
            <a:r>
              <a:rPr lang="en-US" altLang="zh-CN" sz="2400" dirty="0"/>
              <a:t>LIKE</a:t>
            </a:r>
            <a:r>
              <a:rPr lang="zh-CN" altLang="en-US" sz="2400" dirty="0"/>
              <a:t>进行部分匹配查询（也称模糊查询）。</a:t>
            </a:r>
          </a:p>
          <a:p>
            <a:pPr>
              <a:lnSpc>
                <a:spcPct val="150000"/>
              </a:lnSpc>
            </a:pPr>
            <a:r>
              <a:rPr lang="en-US" altLang="zh-CN" sz="2400" dirty="0"/>
              <a:t>LIKE</a:t>
            </a:r>
            <a:r>
              <a:rPr lang="zh-CN" altLang="en-US" sz="2400" dirty="0"/>
              <a:t>定义的一般格式为：</a:t>
            </a:r>
            <a:r>
              <a:rPr lang="en-US" altLang="zh-CN" sz="2400" dirty="0"/>
              <a:t>s  [NOT] LIKE  p</a:t>
            </a:r>
          </a:p>
          <a:p>
            <a:pPr lvl="1">
              <a:lnSpc>
                <a:spcPct val="150000"/>
              </a:lnSpc>
            </a:pPr>
            <a:r>
              <a:rPr lang="zh-CN" altLang="en-US" sz="2000" dirty="0"/>
              <a:t>参与</a:t>
            </a:r>
            <a:r>
              <a:rPr lang="en-US" altLang="zh-CN" sz="2000" dirty="0"/>
              <a:t>like</a:t>
            </a:r>
            <a:r>
              <a:rPr lang="zh-CN" altLang="en-US" sz="2000" dirty="0"/>
              <a:t>运算的左右两端必须都是字符型数据； </a:t>
            </a:r>
          </a:p>
          <a:p>
            <a:pPr lvl="1">
              <a:lnSpc>
                <a:spcPct val="150000"/>
              </a:lnSpc>
            </a:pPr>
            <a:r>
              <a:rPr lang="en-US" altLang="zh-CN" sz="2000" dirty="0"/>
              <a:t>S</a:t>
            </a:r>
            <a:r>
              <a:rPr lang="zh-CN" altLang="en-US" sz="2000" dirty="0"/>
              <a:t>，可以是字符型的列名或字符表达式。</a:t>
            </a:r>
          </a:p>
          <a:p>
            <a:pPr lvl="1">
              <a:lnSpc>
                <a:spcPct val="150000"/>
              </a:lnSpc>
            </a:pPr>
            <a:r>
              <a:rPr lang="en-US" altLang="zh-CN" sz="2000" dirty="0"/>
              <a:t>P</a:t>
            </a:r>
            <a:r>
              <a:rPr lang="zh-CN" altLang="en-US" sz="2000" dirty="0"/>
              <a:t>，可以是字符型的列名、字符表达式或字符串常量。</a:t>
            </a:r>
          </a:p>
          <a:p>
            <a:pPr lvl="1">
              <a:lnSpc>
                <a:spcPct val="150000"/>
              </a:lnSpc>
            </a:pPr>
            <a:r>
              <a:rPr lang="en-US" altLang="zh-CN" sz="2000" dirty="0"/>
              <a:t>s  </a:t>
            </a:r>
            <a:r>
              <a:rPr lang="zh-CN" altLang="en-US" sz="2000" dirty="0"/>
              <a:t>和  </a:t>
            </a:r>
            <a:r>
              <a:rPr lang="en-US" altLang="zh-CN" sz="2000" dirty="0"/>
              <a:t>p</a:t>
            </a:r>
            <a:r>
              <a:rPr lang="zh-CN" altLang="en-US" sz="2000" dirty="0"/>
              <a:t>都可以出现通配符。</a:t>
            </a:r>
          </a:p>
          <a:p>
            <a:pPr>
              <a:lnSpc>
                <a:spcPct val="150000"/>
              </a:lnSpc>
            </a:pPr>
            <a:r>
              <a:rPr lang="zh-CN" altLang="en-US" sz="2400" dirty="0"/>
              <a:t>通配符。</a:t>
            </a:r>
            <a:r>
              <a:rPr lang="zh-CN" altLang="en-US" sz="2400" dirty="0">
                <a:solidFill>
                  <a:srgbClr val="FF0000"/>
                </a:solidFill>
              </a:rPr>
              <a:t>用来匹配原字符串的特定字符模式。</a:t>
            </a:r>
            <a:r>
              <a:rPr lang="en-US" altLang="zh-CN" sz="2400" dirty="0">
                <a:solidFill>
                  <a:srgbClr val="FF0000"/>
                </a:solidFill>
              </a:rPr>
              <a:t>%</a:t>
            </a:r>
            <a:r>
              <a:rPr lang="zh-CN" altLang="en-US" sz="2400" dirty="0">
                <a:solidFill>
                  <a:srgbClr val="FF0000"/>
                </a:solidFill>
              </a:rPr>
              <a:t>：匹配零个及多个任意字符； </a:t>
            </a:r>
            <a:r>
              <a:rPr lang="en-US" altLang="zh-CN" sz="2400" dirty="0">
                <a:solidFill>
                  <a:srgbClr val="FF0000"/>
                </a:solidFill>
              </a:rPr>
              <a:t>_</a:t>
            </a:r>
            <a:r>
              <a:rPr lang="zh-CN" altLang="en-US" sz="2400" dirty="0">
                <a:solidFill>
                  <a:srgbClr val="FF0000"/>
                </a:solidFill>
              </a:rPr>
              <a:t>：与任意单字符匹配。</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67333" y="67685"/>
            <a:ext cx="307890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WHERE</a:t>
            </a:r>
            <a:r>
              <a:rPr lang="zh-CN" altLang="en-US" sz="4000" b="1" dirty="0">
                <a:solidFill>
                  <a:srgbClr val="FFFFCC"/>
                </a:solidFill>
                <a:effectLst>
                  <a:outerShdw blurRad="38100" dist="38100" dir="2700000" algn="tl">
                    <a:srgbClr val="000000"/>
                  </a:outerShdw>
                </a:effectLst>
              </a:rPr>
              <a:t>子句</a:t>
            </a:r>
          </a:p>
        </p:txBody>
      </p:sp>
      <p:sp>
        <p:nvSpPr>
          <p:cNvPr id="27" name="Rectangle 9"/>
          <p:cNvSpPr txBox="1">
            <a:spLocks noChangeArrowheads="1"/>
          </p:cNvSpPr>
          <p:nvPr/>
        </p:nvSpPr>
        <p:spPr bwMode="auto">
          <a:xfrm>
            <a:off x="407368" y="980728"/>
            <a:ext cx="10225136" cy="1752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0" indent="0" algn="ctr" rtl="0" eaLnBrk="0" fontAlgn="base" hangingPunct="0">
              <a:spcBef>
                <a:spcPct val="0"/>
              </a:spcBef>
              <a:spcAft>
                <a:spcPct val="40000"/>
              </a:spcAft>
              <a:buClr>
                <a:srgbClr val="66FF33"/>
              </a:buClr>
              <a:buSzPct val="85000"/>
              <a:buFont typeface="Wingdings" pitchFamily="2" charset="2"/>
              <a:buNone/>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457200" indent="0" algn="ctr" rtl="0" eaLnBrk="0" fontAlgn="base" hangingPunct="0">
              <a:spcBef>
                <a:spcPct val="0"/>
              </a:spcBef>
              <a:spcAft>
                <a:spcPct val="50000"/>
              </a:spcAft>
              <a:buClr>
                <a:schemeClr val="accent2"/>
              </a:buClr>
              <a:buSzPct val="50000"/>
              <a:buFont typeface="Wingdings" pitchFamily="2" charset="2"/>
              <a:buNone/>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914400" indent="0" algn="ctr" rtl="0" eaLnBrk="0" fontAlgn="base" hangingPunct="0">
              <a:spcBef>
                <a:spcPct val="0"/>
              </a:spcBef>
              <a:spcAft>
                <a:spcPct val="15000"/>
              </a:spcAft>
              <a:buClr>
                <a:schemeClr val="tx2"/>
              </a:buClr>
              <a:buSzPct val="45000"/>
              <a:buFont typeface="Wingdings" pitchFamily="2" charset="2"/>
              <a:buNone/>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371600" indent="0" algn="ctr" rtl="0" eaLnBrk="0" fontAlgn="base" hangingPunct="0">
              <a:spcBef>
                <a:spcPct val="0"/>
              </a:spcBef>
              <a:spcAft>
                <a:spcPct val="15000"/>
              </a:spcAft>
              <a:buClr>
                <a:schemeClr val="accent2"/>
              </a:buClr>
              <a:buSzPct val="70000"/>
              <a:buFont typeface="Wingdings" pitchFamily="2" charset="2"/>
              <a:buNone/>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1828800" indent="0" algn="ctr" rtl="0" eaLnBrk="0" fontAlgn="base" hangingPunct="0">
              <a:spcBef>
                <a:spcPct val="0"/>
              </a:spcBef>
              <a:spcAft>
                <a:spcPct val="15000"/>
              </a:spcAft>
              <a:buClr>
                <a:schemeClr val="hlink"/>
              </a:buClr>
              <a:buSzPct val="70000"/>
              <a:buFont typeface="Wingdings" pitchFamily="2" charset="2"/>
              <a:buNone/>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286000" indent="0" algn="ctr" rtl="0" fontAlgn="base">
              <a:spcBef>
                <a:spcPct val="0"/>
              </a:spcBef>
              <a:spcAft>
                <a:spcPct val="15000"/>
              </a:spcAft>
              <a:buClr>
                <a:schemeClr val="hlink"/>
              </a:buClr>
              <a:buSzPct val="70000"/>
              <a:buFont typeface="Wingdings" pitchFamily="2" charset="2"/>
              <a:buNone/>
              <a:defRPr sz="2000">
                <a:solidFill>
                  <a:srgbClr val="CCFFCC"/>
                </a:solidFill>
                <a:effectLst>
                  <a:outerShdw blurRad="38100" dist="38100" dir="2700000" algn="tl">
                    <a:srgbClr val="000000"/>
                  </a:outerShdw>
                </a:effectLst>
                <a:latin typeface="+mn-lt"/>
                <a:ea typeface="+mn-ea"/>
              </a:defRPr>
            </a:lvl6pPr>
            <a:lvl7pPr marL="2743200" indent="0" algn="ctr" rtl="0" fontAlgn="base">
              <a:spcBef>
                <a:spcPct val="0"/>
              </a:spcBef>
              <a:spcAft>
                <a:spcPct val="15000"/>
              </a:spcAft>
              <a:buClr>
                <a:schemeClr val="hlink"/>
              </a:buClr>
              <a:buSzPct val="70000"/>
              <a:buFont typeface="Wingdings" pitchFamily="2" charset="2"/>
              <a:buNone/>
              <a:defRPr sz="2000">
                <a:solidFill>
                  <a:srgbClr val="CCFFCC"/>
                </a:solidFill>
                <a:effectLst>
                  <a:outerShdw blurRad="38100" dist="38100" dir="2700000" algn="tl">
                    <a:srgbClr val="000000"/>
                  </a:outerShdw>
                </a:effectLst>
                <a:latin typeface="+mn-lt"/>
                <a:ea typeface="+mn-ea"/>
              </a:defRPr>
            </a:lvl7pPr>
            <a:lvl8pPr marL="3200400" indent="0" algn="ctr" rtl="0" fontAlgn="base">
              <a:spcBef>
                <a:spcPct val="0"/>
              </a:spcBef>
              <a:spcAft>
                <a:spcPct val="15000"/>
              </a:spcAft>
              <a:buClr>
                <a:schemeClr val="hlink"/>
              </a:buClr>
              <a:buSzPct val="70000"/>
              <a:buFont typeface="Wingdings" pitchFamily="2" charset="2"/>
              <a:buNone/>
              <a:defRPr sz="2000">
                <a:solidFill>
                  <a:srgbClr val="CCFFCC"/>
                </a:solidFill>
                <a:effectLst>
                  <a:outerShdw blurRad="38100" dist="38100" dir="2700000" algn="tl">
                    <a:srgbClr val="000000"/>
                  </a:outerShdw>
                </a:effectLst>
                <a:latin typeface="+mn-lt"/>
                <a:ea typeface="+mn-ea"/>
              </a:defRPr>
            </a:lvl8pPr>
            <a:lvl9pPr marL="3657600" indent="0" algn="ctr" rtl="0" fontAlgn="base">
              <a:spcBef>
                <a:spcPct val="0"/>
              </a:spcBef>
              <a:spcAft>
                <a:spcPct val="15000"/>
              </a:spcAft>
              <a:buClr>
                <a:schemeClr val="hlink"/>
              </a:buClr>
              <a:buSzPct val="70000"/>
              <a:buFont typeface="Wingdings" pitchFamily="2" charset="2"/>
              <a:buNone/>
              <a:defRPr sz="2000">
                <a:solidFill>
                  <a:srgbClr val="CCFFCC"/>
                </a:solidFill>
                <a:effectLst>
                  <a:outerShdw blurRad="38100" dist="38100" dir="2700000" algn="tl">
                    <a:srgbClr val="000000"/>
                  </a:outerShdw>
                </a:effectLst>
                <a:latin typeface="+mn-lt"/>
                <a:ea typeface="+mn-ea"/>
              </a:defRPr>
            </a:lvl9pPr>
          </a:lstStyle>
          <a:p>
            <a:pPr marL="358775" indent="-358775" algn="just" eaLnBrk="1" hangingPunct="1">
              <a:spcAft>
                <a:spcPct val="25000"/>
              </a:spcAft>
              <a:buClr>
                <a:srgbClr val="FFFFFF"/>
              </a:buClr>
              <a:buFont typeface="Wingdings" pitchFamily="2" charset="2"/>
              <a:buChar char="§"/>
              <a:defRPr/>
            </a:pPr>
            <a:r>
              <a:rPr kumimoji="1" lang="zh-CN" altLang="en-US" sz="3600" kern="0" dirty="0">
                <a:solidFill>
                  <a:srgbClr val="FFFFFF"/>
                </a:solidFill>
                <a:latin typeface="楷体_GB2312" pitchFamily="49" charset="-122"/>
              </a:rPr>
              <a:t>字符串匹配，用于匹配字符、日期，格式为：</a:t>
            </a:r>
            <a:endParaRPr kumimoji="1" lang="en-US" altLang="zh-CN" sz="3600" b="1" kern="0" dirty="0">
              <a:solidFill>
                <a:srgbClr val="FFFF66"/>
              </a:solidFill>
              <a:latin typeface="楷体_GB2312" pitchFamily="49" charset="-122"/>
            </a:endParaRPr>
          </a:p>
          <a:p>
            <a:pPr marL="358775" indent="-358775" algn="just" eaLnBrk="1" hangingPunct="1">
              <a:spcAft>
                <a:spcPct val="25000"/>
              </a:spcAft>
              <a:buClr>
                <a:srgbClr val="FFFFFF"/>
              </a:buClr>
              <a:defRPr/>
            </a:pPr>
            <a:r>
              <a:rPr kumimoji="1" lang="en-US" altLang="zh-CN" sz="3600" kern="0" dirty="0">
                <a:solidFill>
                  <a:srgbClr val="99FF33"/>
                </a:solidFill>
                <a:latin typeface="楷体_GB2312" pitchFamily="49" charset="-122"/>
              </a:rPr>
              <a:t>	</a:t>
            </a:r>
            <a:r>
              <a:rPr kumimoji="1" lang="en-US" altLang="zh-CN" sz="3600" b="1" kern="0" dirty="0">
                <a:solidFill>
                  <a:srgbClr val="FFFF66"/>
                </a:solidFill>
                <a:latin typeface="楷体_GB2312" pitchFamily="49" charset="-122"/>
              </a:rPr>
              <a:t>[NOT] LIKE &lt;</a:t>
            </a:r>
            <a:r>
              <a:rPr kumimoji="1" lang="zh-CN" altLang="en-US" sz="3600" b="1" i="1" kern="0" dirty="0">
                <a:solidFill>
                  <a:srgbClr val="FFFF66"/>
                </a:solidFill>
                <a:latin typeface="楷体_GB2312" pitchFamily="49" charset="-122"/>
              </a:rPr>
              <a:t>串模式</a:t>
            </a:r>
            <a:r>
              <a:rPr kumimoji="1" lang="en-US" altLang="zh-CN" sz="3600" b="1" kern="0" dirty="0">
                <a:solidFill>
                  <a:srgbClr val="FFFF66"/>
                </a:solidFill>
                <a:latin typeface="楷体_GB2312" pitchFamily="49" charset="-122"/>
              </a:rPr>
              <a:t>&gt; [ESCAPE '</a:t>
            </a:r>
            <a:r>
              <a:rPr kumimoji="1" lang="zh-CN" altLang="en-US" sz="3600" b="1" i="1" kern="0" dirty="0">
                <a:solidFill>
                  <a:srgbClr val="FFFF66"/>
                </a:solidFill>
                <a:latin typeface="楷体_GB2312" pitchFamily="49" charset="-122"/>
              </a:rPr>
              <a:t>转义符</a:t>
            </a:r>
            <a:r>
              <a:rPr kumimoji="1" lang="en-US" altLang="zh-CN" sz="3600" b="1" kern="0" dirty="0">
                <a:solidFill>
                  <a:srgbClr val="FFFF66"/>
                </a:solidFill>
                <a:latin typeface="楷体_GB2312" pitchFamily="49" charset="-122"/>
              </a:rPr>
              <a:t>'] </a:t>
            </a:r>
          </a:p>
          <a:p>
            <a:pPr marL="358775" indent="-358775" algn="just" eaLnBrk="1" hangingPunct="1">
              <a:spcBef>
                <a:spcPts val="2400"/>
              </a:spcBef>
              <a:spcAft>
                <a:spcPts val="1800"/>
              </a:spcAft>
              <a:buClr>
                <a:srgbClr val="FFFFFF"/>
              </a:buClr>
              <a:defRPr/>
            </a:pPr>
            <a:r>
              <a:rPr kumimoji="1" lang="zh-CN" altLang="en-US" sz="3600" kern="0" dirty="0">
                <a:latin typeface="楷体_GB2312" pitchFamily="49" charset="-122"/>
              </a:rPr>
              <a:t>	串模式中可出现以下</a:t>
            </a:r>
            <a:r>
              <a:rPr kumimoji="1" lang="zh-CN" altLang="en-US" sz="3600" b="1" kern="0" dirty="0">
                <a:solidFill>
                  <a:schemeClr val="accent1">
                    <a:lumMod val="40000"/>
                    <a:lumOff val="60000"/>
                  </a:schemeClr>
                </a:solidFill>
                <a:latin typeface="楷体_GB2312" pitchFamily="49" charset="-122"/>
              </a:rPr>
              <a:t>通配符</a:t>
            </a:r>
            <a:r>
              <a:rPr kumimoji="1" lang="zh-CN" altLang="en-US" sz="3600" kern="0" dirty="0">
                <a:latin typeface="楷体_GB2312" pitchFamily="49" charset="-122"/>
              </a:rPr>
              <a:t>：</a:t>
            </a:r>
          </a:p>
          <a:p>
            <a:pPr marL="358775" indent="-358775" algn="l" eaLnBrk="1" hangingPunct="1">
              <a:spcAft>
                <a:spcPct val="25000"/>
              </a:spcAft>
              <a:buClr>
                <a:srgbClr val="FFFFFF"/>
              </a:buClr>
              <a:defRPr/>
            </a:pPr>
            <a:r>
              <a:rPr kumimoji="1" lang="en-US" altLang="zh-CN" sz="3600" kern="0" dirty="0">
                <a:latin typeface="楷体_GB2312" pitchFamily="49" charset="-122"/>
              </a:rPr>
              <a:t>	</a:t>
            </a:r>
            <a:r>
              <a:rPr kumimoji="1" lang="en-US" altLang="zh-CN" sz="3600" kern="0" dirty="0">
                <a:cs typeface="Arial" pitchFamily="34" charset="0"/>
              </a:rPr>
              <a:t>“</a:t>
            </a:r>
            <a:r>
              <a:rPr kumimoji="1" lang="en-US" altLang="zh-CN" sz="3600" b="1" kern="0" dirty="0">
                <a:solidFill>
                  <a:srgbClr val="FFFF00"/>
                </a:solidFill>
                <a:latin typeface="Arial" charset="0"/>
              </a:rPr>
              <a:t>%</a:t>
            </a:r>
            <a:r>
              <a:rPr kumimoji="1" lang="en-US" altLang="zh-CN" sz="3600" kern="0" dirty="0">
                <a:latin typeface="Arial" charset="0"/>
              </a:rPr>
              <a:t>”</a:t>
            </a:r>
            <a:r>
              <a:rPr kumimoji="1" lang="zh-CN" altLang="en-US" sz="3600" kern="0" dirty="0">
                <a:latin typeface="Arial" charset="0"/>
              </a:rPr>
              <a:t>匹配任意多个任意字符</a:t>
            </a:r>
            <a:r>
              <a:rPr kumimoji="1" lang="en-US" altLang="zh-CN" sz="3600" kern="0" dirty="0">
                <a:latin typeface="Arial" charset="0"/>
              </a:rPr>
              <a:t>(</a:t>
            </a:r>
            <a:r>
              <a:rPr kumimoji="1" lang="zh-CN" altLang="en-US" sz="3600" kern="0" dirty="0">
                <a:latin typeface="Arial" charset="0"/>
              </a:rPr>
              <a:t>包括空字符</a:t>
            </a:r>
            <a:r>
              <a:rPr kumimoji="1" lang="en-US" altLang="zh-CN" sz="3600" kern="0" dirty="0">
                <a:latin typeface="Arial" charset="0"/>
              </a:rPr>
              <a:t>)</a:t>
            </a:r>
            <a:r>
              <a:rPr kumimoji="1" lang="zh-CN" altLang="en-US" sz="3600" kern="0" dirty="0">
                <a:latin typeface="Arial" charset="0"/>
              </a:rPr>
              <a:t>；</a:t>
            </a:r>
          </a:p>
          <a:p>
            <a:pPr marL="358775" indent="-358775" algn="l" eaLnBrk="1" hangingPunct="1">
              <a:spcAft>
                <a:spcPct val="25000"/>
              </a:spcAft>
              <a:buClr>
                <a:srgbClr val="FFFFFF"/>
              </a:buClr>
              <a:defRPr/>
            </a:pPr>
            <a:r>
              <a:rPr kumimoji="1" lang="en-US" altLang="zh-CN" sz="3600" kern="0" dirty="0">
                <a:latin typeface="Arial" charset="0"/>
              </a:rPr>
              <a:t>	“</a:t>
            </a:r>
            <a:r>
              <a:rPr kumimoji="1" lang="en-US" altLang="zh-CN" sz="3600" b="1" kern="0" dirty="0">
                <a:solidFill>
                  <a:srgbClr val="FFFF00"/>
                </a:solidFill>
                <a:latin typeface="Arial" charset="0"/>
              </a:rPr>
              <a:t>_</a:t>
            </a:r>
            <a:r>
              <a:rPr kumimoji="1" lang="en-US" altLang="zh-CN" sz="3600" kern="0" dirty="0">
                <a:latin typeface="Arial" charset="0"/>
              </a:rPr>
              <a:t>”</a:t>
            </a:r>
            <a:r>
              <a:rPr kumimoji="1" lang="zh-CN" altLang="en-US" sz="3600" kern="0" dirty="0">
                <a:latin typeface="Arial" charset="0"/>
              </a:rPr>
              <a:t>匹配一个任意字符（不能是空字符）；</a:t>
            </a:r>
          </a:p>
        </p:txBody>
      </p:sp>
      <p:sp>
        <p:nvSpPr>
          <p:cNvPr id="28" name="Rectangle 13"/>
          <p:cNvSpPr>
            <a:spLocks noChangeArrowheads="1"/>
          </p:cNvSpPr>
          <p:nvPr/>
        </p:nvSpPr>
        <p:spPr bwMode="auto">
          <a:xfrm>
            <a:off x="479376" y="4941168"/>
            <a:ext cx="11424667" cy="1296987"/>
          </a:xfrm>
          <a:prstGeom prst="rect">
            <a:avLst/>
          </a:prstGeom>
          <a:noFill/>
          <a:ln w="9525">
            <a:noFill/>
            <a:miter lim="800000"/>
            <a:headEnd/>
            <a:tailEnd/>
          </a:ln>
          <a:effectLst/>
        </p:spPr>
        <p:txBody>
          <a:bodyPr/>
          <a:lstStyle/>
          <a:p>
            <a:pPr algn="just">
              <a:spcAft>
                <a:spcPct val="0"/>
              </a:spcAft>
              <a:buClr>
                <a:srgbClr val="FFFFFF"/>
              </a:buClr>
              <a:buSzPct val="85000"/>
              <a:defRPr/>
            </a:pPr>
            <a:r>
              <a:rPr lang="zh-CN" altLang="en-US" sz="3600" kern="0" dirty="0">
                <a:solidFill>
                  <a:srgbClr val="99FF33"/>
                </a:solidFill>
                <a:effectLst>
                  <a:outerShdw blurRad="38100" dist="38100" dir="2700000" algn="tl">
                    <a:srgbClr val="000000"/>
                  </a:outerShdw>
                </a:effectLst>
              </a:rPr>
              <a:t>例如</a:t>
            </a:r>
            <a:r>
              <a:rPr lang="en-US" altLang="zh-CN" sz="3600" kern="0" dirty="0">
                <a:solidFill>
                  <a:srgbClr val="99FF33"/>
                </a:solidFill>
                <a:effectLst>
                  <a:outerShdw blurRad="38100" dist="38100" dir="2700000" algn="tl">
                    <a:srgbClr val="000000"/>
                  </a:outerShdw>
                </a:effectLst>
                <a:latin typeface="Arial"/>
              </a:rPr>
              <a:t>‘</a:t>
            </a:r>
            <a:r>
              <a:rPr lang="en-US" altLang="zh-CN" sz="3600" kern="0" dirty="0">
                <a:solidFill>
                  <a:srgbClr val="99FF33"/>
                </a:solidFill>
                <a:effectLst>
                  <a:outerShdw blurRad="38100" dist="38100" dir="2700000" algn="tl">
                    <a:srgbClr val="000000"/>
                  </a:outerShdw>
                </a:effectLst>
              </a:rPr>
              <a:t>To%</a:t>
            </a:r>
            <a:r>
              <a:rPr lang="en-US" altLang="zh-CN" sz="3600" kern="0" dirty="0">
                <a:solidFill>
                  <a:srgbClr val="99FF33"/>
                </a:solidFill>
                <a:effectLst>
                  <a:outerShdw blurRad="38100" dist="38100" dir="2700000" algn="tl">
                    <a:srgbClr val="000000"/>
                  </a:outerShdw>
                </a:effectLst>
                <a:latin typeface="Arial"/>
              </a:rPr>
              <a:t>’</a:t>
            </a:r>
            <a:r>
              <a:rPr lang="zh-CN" altLang="en-US" sz="3600" kern="0" dirty="0">
                <a:solidFill>
                  <a:srgbClr val="99FF33"/>
                </a:solidFill>
                <a:effectLst>
                  <a:outerShdw blurRad="38100" dist="38100" dir="2700000" algn="tl">
                    <a:srgbClr val="000000"/>
                  </a:outerShdw>
                </a:effectLst>
              </a:rPr>
              <a:t>代表</a:t>
            </a:r>
            <a:r>
              <a:rPr lang="en-US" altLang="zh-CN" sz="3600" kern="0" dirty="0">
                <a:solidFill>
                  <a:srgbClr val="99FF33"/>
                </a:solidFill>
                <a:effectLst>
                  <a:outerShdw blurRad="38100" dist="38100" dir="2700000" algn="tl">
                    <a:srgbClr val="000000"/>
                  </a:outerShdw>
                </a:effectLst>
                <a:latin typeface="Arial"/>
              </a:rPr>
              <a:t>‘</a:t>
            </a:r>
            <a:r>
              <a:rPr lang="en-US" altLang="zh-CN" sz="3600" kern="0" dirty="0">
                <a:solidFill>
                  <a:srgbClr val="99FF33"/>
                </a:solidFill>
                <a:effectLst>
                  <a:outerShdw blurRad="38100" dist="38100" dir="2700000" algn="tl">
                    <a:srgbClr val="000000"/>
                  </a:outerShdw>
                </a:effectLst>
              </a:rPr>
              <a:t>Tool</a:t>
            </a:r>
            <a:r>
              <a:rPr lang="en-US" altLang="zh-CN" sz="3600" kern="0" dirty="0">
                <a:solidFill>
                  <a:srgbClr val="99FF33"/>
                </a:solidFill>
                <a:effectLst>
                  <a:outerShdw blurRad="38100" dist="38100" dir="2700000" algn="tl">
                    <a:srgbClr val="000000"/>
                  </a:outerShdw>
                </a:effectLst>
                <a:latin typeface="Arial"/>
              </a:rPr>
              <a:t>’</a:t>
            </a:r>
            <a:r>
              <a:rPr lang="zh-CN" altLang="en-US" sz="3600" kern="0" dirty="0">
                <a:solidFill>
                  <a:srgbClr val="99FF33"/>
                </a:solidFill>
                <a:effectLst>
                  <a:outerShdw blurRad="38100" dist="38100" dir="2700000" algn="tl">
                    <a:srgbClr val="000000"/>
                  </a:outerShdw>
                </a:effectLst>
              </a:rPr>
              <a:t>、</a:t>
            </a:r>
            <a:r>
              <a:rPr lang="en-US" altLang="zh-CN" sz="3600" kern="0" dirty="0">
                <a:solidFill>
                  <a:srgbClr val="99FF33"/>
                </a:solidFill>
                <a:effectLst>
                  <a:outerShdw blurRad="38100" dist="38100" dir="2700000" algn="tl">
                    <a:srgbClr val="000000"/>
                  </a:outerShdw>
                </a:effectLst>
                <a:latin typeface="Arial"/>
              </a:rPr>
              <a:t>‘</a:t>
            </a:r>
            <a:r>
              <a:rPr lang="en-US" altLang="zh-CN" sz="3600" kern="0" dirty="0">
                <a:solidFill>
                  <a:srgbClr val="99FF33"/>
                </a:solidFill>
                <a:effectLst>
                  <a:outerShdw blurRad="38100" dist="38100" dir="2700000" algn="tl">
                    <a:srgbClr val="000000"/>
                  </a:outerShdw>
                </a:effectLst>
              </a:rPr>
              <a:t>Toy</a:t>
            </a:r>
            <a:r>
              <a:rPr lang="en-US" altLang="zh-CN" sz="3600" kern="0" dirty="0">
                <a:solidFill>
                  <a:srgbClr val="99FF33"/>
                </a:solidFill>
                <a:effectLst>
                  <a:outerShdw blurRad="38100" dist="38100" dir="2700000" algn="tl">
                    <a:srgbClr val="000000"/>
                  </a:outerShdw>
                </a:effectLst>
                <a:latin typeface="Arial"/>
              </a:rPr>
              <a:t>’</a:t>
            </a:r>
            <a:r>
              <a:rPr lang="zh-CN" altLang="en-US" sz="3600" kern="0" dirty="0">
                <a:solidFill>
                  <a:srgbClr val="99FF33"/>
                </a:solidFill>
                <a:effectLst>
                  <a:outerShdw blurRad="38100" dist="38100" dir="2700000" algn="tl">
                    <a:srgbClr val="000000"/>
                  </a:outerShdw>
                </a:effectLst>
              </a:rPr>
              <a:t>、</a:t>
            </a:r>
            <a:r>
              <a:rPr lang="en-US" altLang="zh-CN" sz="3600" kern="0" dirty="0">
                <a:solidFill>
                  <a:srgbClr val="99FF33"/>
                </a:solidFill>
                <a:effectLst>
                  <a:outerShdw blurRad="38100" dist="38100" dir="2700000" algn="tl">
                    <a:srgbClr val="000000"/>
                  </a:outerShdw>
                </a:effectLst>
                <a:latin typeface="Arial"/>
              </a:rPr>
              <a:t>‘</a:t>
            </a:r>
            <a:r>
              <a:rPr lang="en-US" altLang="zh-CN" sz="3600" kern="0" dirty="0">
                <a:solidFill>
                  <a:srgbClr val="99FF33"/>
                </a:solidFill>
                <a:effectLst>
                  <a:outerShdw blurRad="38100" dist="38100" dir="2700000" algn="tl">
                    <a:srgbClr val="000000"/>
                  </a:outerShdw>
                </a:effectLst>
              </a:rPr>
              <a:t>To</a:t>
            </a:r>
            <a:r>
              <a:rPr lang="en-US" altLang="zh-CN" sz="3600" kern="0" dirty="0">
                <a:solidFill>
                  <a:srgbClr val="99FF33"/>
                </a:solidFill>
                <a:effectLst>
                  <a:outerShdw blurRad="38100" dist="38100" dir="2700000" algn="tl">
                    <a:srgbClr val="000000"/>
                  </a:outerShdw>
                </a:effectLst>
                <a:latin typeface="Arial"/>
              </a:rPr>
              <a:t>’</a:t>
            </a:r>
            <a:r>
              <a:rPr lang="zh-CN" altLang="en-US" sz="3600" kern="0" dirty="0">
                <a:solidFill>
                  <a:srgbClr val="99FF33"/>
                </a:solidFill>
                <a:effectLst>
                  <a:outerShdw blurRad="38100" dist="38100" dir="2700000" algn="tl">
                    <a:srgbClr val="000000"/>
                  </a:outerShdw>
                </a:effectLst>
              </a:rPr>
              <a:t>等以</a:t>
            </a:r>
            <a:r>
              <a:rPr lang="en-US" altLang="zh-CN" sz="3600" kern="0" dirty="0">
                <a:solidFill>
                  <a:srgbClr val="99FF33"/>
                </a:solidFill>
                <a:effectLst>
                  <a:outerShdw blurRad="38100" dist="38100" dir="2700000" algn="tl">
                    <a:srgbClr val="000000"/>
                  </a:outerShdw>
                </a:effectLst>
                <a:latin typeface="Arial"/>
              </a:rPr>
              <a:t>“</a:t>
            </a:r>
            <a:r>
              <a:rPr lang="en-US" altLang="zh-CN" sz="3600" kern="0" dirty="0">
                <a:solidFill>
                  <a:srgbClr val="99FF33"/>
                </a:solidFill>
                <a:effectLst>
                  <a:outerShdw blurRad="38100" dist="38100" dir="2700000" algn="tl">
                    <a:srgbClr val="000000"/>
                  </a:outerShdw>
                </a:effectLst>
              </a:rPr>
              <a:t>To</a:t>
            </a:r>
            <a:r>
              <a:rPr lang="en-US" altLang="zh-CN" sz="3600" kern="0" dirty="0">
                <a:solidFill>
                  <a:srgbClr val="99FF33"/>
                </a:solidFill>
                <a:effectLst>
                  <a:outerShdw blurRad="38100" dist="38100" dir="2700000" algn="tl">
                    <a:srgbClr val="000000"/>
                  </a:outerShdw>
                </a:effectLst>
                <a:latin typeface="Arial"/>
              </a:rPr>
              <a:t>”</a:t>
            </a:r>
            <a:r>
              <a:rPr lang="zh-CN" altLang="en-US" sz="3600" kern="0" dirty="0">
                <a:solidFill>
                  <a:srgbClr val="99FF33"/>
                </a:solidFill>
                <a:effectLst>
                  <a:outerShdw blurRad="38100" dist="38100" dir="2700000" algn="tl">
                    <a:srgbClr val="000000"/>
                  </a:outerShdw>
                </a:effectLst>
              </a:rPr>
              <a:t>开头的任意字符串；又如</a:t>
            </a:r>
            <a:r>
              <a:rPr lang="en-US" altLang="zh-CN" sz="3600" kern="0" dirty="0">
                <a:solidFill>
                  <a:srgbClr val="99FF33"/>
                </a:solidFill>
                <a:effectLst>
                  <a:outerShdw blurRad="38100" dist="38100" dir="2700000" algn="tl">
                    <a:srgbClr val="000000"/>
                  </a:outerShdw>
                </a:effectLst>
                <a:latin typeface="Arial"/>
              </a:rPr>
              <a:t>‘</a:t>
            </a:r>
            <a:r>
              <a:rPr lang="en-US" altLang="zh-CN" sz="3600" kern="0" dirty="0">
                <a:solidFill>
                  <a:srgbClr val="99FF33"/>
                </a:solidFill>
                <a:effectLst>
                  <a:outerShdw blurRad="38100" dist="38100" dir="2700000" algn="tl">
                    <a:srgbClr val="000000"/>
                  </a:outerShdw>
                </a:effectLst>
              </a:rPr>
              <a:t>B_T</a:t>
            </a:r>
            <a:r>
              <a:rPr lang="en-US" altLang="zh-CN" sz="3600" kern="0" dirty="0">
                <a:solidFill>
                  <a:srgbClr val="99FF33"/>
                </a:solidFill>
                <a:effectLst>
                  <a:outerShdw blurRad="38100" dist="38100" dir="2700000" algn="tl">
                    <a:srgbClr val="000000"/>
                  </a:outerShdw>
                </a:effectLst>
                <a:latin typeface="Arial"/>
              </a:rPr>
              <a:t>’</a:t>
            </a:r>
            <a:r>
              <a:rPr lang="zh-CN" altLang="en-US" sz="3600" kern="0" dirty="0">
                <a:solidFill>
                  <a:srgbClr val="99FF33"/>
                </a:solidFill>
                <a:effectLst>
                  <a:outerShdw blurRad="38100" dist="38100" dir="2700000" algn="tl">
                    <a:srgbClr val="000000"/>
                  </a:outerShdw>
                </a:effectLst>
              </a:rPr>
              <a:t>可代表</a:t>
            </a:r>
            <a:r>
              <a:rPr lang="en-US" altLang="zh-CN" sz="3600" kern="0" dirty="0">
                <a:solidFill>
                  <a:srgbClr val="99FF33"/>
                </a:solidFill>
                <a:effectLst>
                  <a:outerShdw blurRad="38100" dist="38100" dir="2700000" algn="tl">
                    <a:srgbClr val="000000"/>
                  </a:outerShdw>
                </a:effectLst>
                <a:latin typeface="Arial"/>
              </a:rPr>
              <a:t>‘</a:t>
            </a:r>
            <a:r>
              <a:rPr lang="en-US" altLang="zh-CN" sz="3600" kern="0" dirty="0">
                <a:solidFill>
                  <a:srgbClr val="99FF33"/>
                </a:solidFill>
                <a:effectLst>
                  <a:outerShdw blurRad="38100" dist="38100" dir="2700000" algn="tl">
                    <a:srgbClr val="000000"/>
                  </a:outerShdw>
                </a:effectLst>
              </a:rPr>
              <a:t>BIT</a:t>
            </a:r>
            <a:r>
              <a:rPr lang="en-US" altLang="zh-CN" sz="3600" kern="0" dirty="0">
                <a:solidFill>
                  <a:srgbClr val="99FF33"/>
                </a:solidFill>
                <a:effectLst>
                  <a:outerShdw blurRad="38100" dist="38100" dir="2700000" algn="tl">
                    <a:srgbClr val="000000"/>
                  </a:outerShdw>
                </a:effectLst>
                <a:latin typeface="Arial"/>
              </a:rPr>
              <a:t>’</a:t>
            </a:r>
            <a:r>
              <a:rPr lang="zh-CN" altLang="en-US" sz="3600" kern="0" dirty="0">
                <a:solidFill>
                  <a:srgbClr val="99FF33"/>
                </a:solidFill>
                <a:effectLst>
                  <a:outerShdw blurRad="38100" dist="38100" dir="2700000" algn="tl">
                    <a:srgbClr val="000000"/>
                  </a:outerShdw>
                </a:effectLst>
              </a:rPr>
              <a:t>、</a:t>
            </a:r>
            <a:r>
              <a:rPr lang="en-US" altLang="zh-CN" sz="3600" kern="0" dirty="0">
                <a:solidFill>
                  <a:srgbClr val="99FF33"/>
                </a:solidFill>
                <a:effectLst>
                  <a:outerShdw blurRad="38100" dist="38100" dir="2700000" algn="tl">
                    <a:srgbClr val="000000"/>
                  </a:outerShdw>
                </a:effectLst>
                <a:latin typeface="Arial"/>
              </a:rPr>
              <a:t>‘</a:t>
            </a:r>
            <a:r>
              <a:rPr lang="en-US" altLang="zh-CN" sz="3600" kern="0" dirty="0" err="1">
                <a:solidFill>
                  <a:srgbClr val="99FF33"/>
                </a:solidFill>
                <a:effectLst>
                  <a:outerShdw blurRad="38100" dist="38100" dir="2700000" algn="tl">
                    <a:srgbClr val="000000"/>
                  </a:outerShdw>
                </a:effectLst>
              </a:rPr>
              <a:t>BaT</a:t>
            </a:r>
            <a:r>
              <a:rPr lang="en-US" altLang="zh-CN" sz="3600" kern="0" dirty="0">
                <a:solidFill>
                  <a:srgbClr val="99FF33"/>
                </a:solidFill>
                <a:effectLst>
                  <a:outerShdw blurRad="38100" dist="38100" dir="2700000" algn="tl">
                    <a:srgbClr val="000000"/>
                  </a:outerShdw>
                </a:effectLst>
                <a:latin typeface="Arial"/>
              </a:rPr>
              <a:t>’</a:t>
            </a:r>
            <a:r>
              <a:rPr lang="zh-CN" altLang="en-US" sz="3600" kern="0" dirty="0">
                <a:solidFill>
                  <a:srgbClr val="99FF33"/>
                </a:solidFill>
                <a:effectLst>
                  <a:outerShdw blurRad="38100" dist="38100" dir="2700000" algn="tl">
                    <a:srgbClr val="000000"/>
                  </a:outerShdw>
                </a:effectLst>
              </a:rPr>
              <a:t>等头为</a:t>
            </a:r>
            <a:r>
              <a:rPr lang="en-US" altLang="zh-CN" sz="3600" kern="0" dirty="0">
                <a:solidFill>
                  <a:srgbClr val="99FF33"/>
                </a:solidFill>
                <a:effectLst>
                  <a:outerShdw blurRad="38100" dist="38100" dir="2700000" algn="tl">
                    <a:srgbClr val="000000"/>
                  </a:outerShdw>
                </a:effectLst>
                <a:latin typeface="Arial"/>
              </a:rPr>
              <a:t>‘</a:t>
            </a:r>
            <a:r>
              <a:rPr lang="en-US" altLang="zh-CN" sz="3600" kern="0" dirty="0">
                <a:solidFill>
                  <a:srgbClr val="99FF33"/>
                </a:solidFill>
                <a:effectLst>
                  <a:outerShdw blurRad="38100" dist="38100" dir="2700000" algn="tl">
                    <a:srgbClr val="000000"/>
                  </a:outerShdw>
                </a:effectLst>
              </a:rPr>
              <a:t>B</a:t>
            </a:r>
            <a:r>
              <a:rPr lang="en-US" altLang="zh-CN" sz="3600" kern="0" dirty="0">
                <a:solidFill>
                  <a:srgbClr val="99FF33"/>
                </a:solidFill>
                <a:effectLst>
                  <a:outerShdw blurRad="38100" dist="38100" dir="2700000" algn="tl">
                    <a:srgbClr val="000000"/>
                  </a:outerShdw>
                </a:effectLst>
                <a:latin typeface="Arial"/>
              </a:rPr>
              <a:t>’</a:t>
            </a:r>
            <a:r>
              <a:rPr lang="zh-CN" altLang="en-US" sz="3600" kern="0" dirty="0">
                <a:solidFill>
                  <a:srgbClr val="99FF33"/>
                </a:solidFill>
                <a:effectLst>
                  <a:outerShdw blurRad="38100" dist="38100" dir="2700000" algn="tl">
                    <a:srgbClr val="000000"/>
                  </a:outerShdw>
                </a:effectLst>
              </a:rPr>
              <a:t>尾为</a:t>
            </a:r>
            <a:r>
              <a:rPr lang="en-US" altLang="zh-CN" sz="3600" kern="0" dirty="0">
                <a:solidFill>
                  <a:srgbClr val="99FF33"/>
                </a:solidFill>
                <a:effectLst>
                  <a:outerShdw blurRad="38100" dist="38100" dir="2700000" algn="tl">
                    <a:srgbClr val="000000"/>
                  </a:outerShdw>
                </a:effectLst>
                <a:latin typeface="Arial"/>
              </a:rPr>
              <a:t>‘</a:t>
            </a:r>
            <a:r>
              <a:rPr lang="en-US" altLang="zh-CN" sz="3600" kern="0" dirty="0">
                <a:solidFill>
                  <a:srgbClr val="99FF33"/>
                </a:solidFill>
                <a:effectLst>
                  <a:outerShdw blurRad="38100" dist="38100" dir="2700000" algn="tl">
                    <a:srgbClr val="000000"/>
                  </a:outerShdw>
                </a:effectLst>
              </a:rPr>
              <a:t>T</a:t>
            </a:r>
            <a:r>
              <a:rPr lang="en-US" altLang="zh-CN" sz="3600" kern="0" dirty="0">
                <a:solidFill>
                  <a:srgbClr val="99FF33"/>
                </a:solidFill>
                <a:effectLst>
                  <a:outerShdw blurRad="38100" dist="38100" dir="2700000" algn="tl">
                    <a:srgbClr val="000000"/>
                  </a:outerShdw>
                </a:effectLst>
                <a:latin typeface="Arial"/>
              </a:rPr>
              <a:t>’</a:t>
            </a:r>
            <a:r>
              <a:rPr lang="zh-CN" altLang="en-US" sz="3600" kern="0" dirty="0">
                <a:solidFill>
                  <a:srgbClr val="99FF33"/>
                </a:solidFill>
                <a:effectLst>
                  <a:outerShdw blurRad="38100" dist="38100" dir="2700000" algn="tl">
                    <a:srgbClr val="000000"/>
                  </a:outerShdw>
                </a:effectLst>
              </a:rPr>
              <a:t>的只有</a:t>
            </a:r>
            <a:r>
              <a:rPr lang="en-US" altLang="zh-CN" sz="3600" kern="0" dirty="0">
                <a:solidFill>
                  <a:srgbClr val="99FF33"/>
                </a:solidFill>
                <a:effectLst>
                  <a:outerShdw blurRad="38100" dist="38100" dir="2700000" algn="tl">
                    <a:srgbClr val="000000"/>
                  </a:outerShdw>
                </a:effectLst>
              </a:rPr>
              <a:t>3</a:t>
            </a:r>
            <a:r>
              <a:rPr lang="zh-CN" altLang="en-US" sz="3600" kern="0" dirty="0">
                <a:solidFill>
                  <a:srgbClr val="99FF33"/>
                </a:solidFill>
                <a:effectLst>
                  <a:outerShdw blurRad="38100" dist="38100" dir="2700000" algn="tl">
                    <a:srgbClr val="000000"/>
                  </a:outerShdw>
                </a:effectLst>
              </a:rPr>
              <a:t>个字符的任意串，但不能代表</a:t>
            </a:r>
            <a:r>
              <a:rPr lang="en-US" altLang="zh-CN" sz="3600" kern="0" dirty="0">
                <a:solidFill>
                  <a:srgbClr val="99FF33"/>
                </a:solidFill>
                <a:effectLst>
                  <a:outerShdw blurRad="38100" dist="38100" dir="2700000" algn="tl">
                    <a:srgbClr val="000000"/>
                  </a:outerShdw>
                </a:effectLst>
              </a:rPr>
              <a:t>'</a:t>
            </a:r>
            <a:r>
              <a:rPr lang="en-US" altLang="zh-CN" sz="3600" kern="0" dirty="0" err="1">
                <a:solidFill>
                  <a:srgbClr val="99FF33"/>
                </a:solidFill>
                <a:effectLst>
                  <a:outerShdw blurRad="38100" dist="38100" dir="2700000" algn="tl">
                    <a:srgbClr val="000000"/>
                  </a:outerShdw>
                </a:effectLst>
              </a:rPr>
              <a:t>BoaT</a:t>
            </a:r>
            <a:r>
              <a:rPr lang="en-US" altLang="zh-CN" sz="3600" kern="0" dirty="0">
                <a:solidFill>
                  <a:srgbClr val="99FF33"/>
                </a:solidFill>
                <a:effectLst>
                  <a:outerShdw blurRad="38100" dist="38100" dir="2700000" algn="tl">
                    <a:srgbClr val="000000"/>
                  </a:outerShdw>
                </a:effectLst>
              </a:rPr>
              <a:t>'</a:t>
            </a:r>
            <a:r>
              <a:rPr lang="zh-CN" altLang="en-US" sz="3600" kern="0" dirty="0">
                <a:solidFill>
                  <a:srgbClr val="99FF33"/>
                </a:solidFill>
                <a:effectLst>
                  <a:outerShdw blurRad="38100" dist="38100" dir="2700000" algn="tl">
                    <a:srgbClr val="000000"/>
                  </a:outerShdw>
                </a:effectLst>
              </a:rPr>
              <a:t>与</a:t>
            </a:r>
            <a:r>
              <a:rPr lang="en-US" altLang="zh-CN" sz="3600" kern="0" dirty="0">
                <a:solidFill>
                  <a:srgbClr val="99FF33"/>
                </a:solidFill>
                <a:effectLst>
                  <a:outerShdw blurRad="38100" dist="38100" dir="2700000" algn="tl">
                    <a:srgbClr val="000000"/>
                  </a:outerShdw>
                </a:effectLst>
              </a:rPr>
              <a:t>'BT'</a:t>
            </a:r>
            <a:r>
              <a:rPr lang="zh-CN" altLang="en-US" sz="3600" kern="0" dirty="0">
                <a:solidFill>
                  <a:srgbClr val="99FF33"/>
                </a:solidFill>
                <a:effectLst>
                  <a:outerShdw blurRad="38100" dist="38100" dir="2700000" algn="tl">
                    <a:srgbClr val="000000"/>
                  </a:outerShdw>
                </a:effectLst>
              </a:rPr>
              <a:t>等。</a:t>
            </a:r>
          </a:p>
        </p:txBody>
      </p:sp>
    </p:spTree>
    <p:extLst>
      <p:ext uri="{BB962C8B-B14F-4D97-AF65-F5344CB8AC3E}">
        <p14:creationId xmlns:p14="http://schemas.microsoft.com/office/powerpoint/2010/main" val="777264071"/>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984032" y="1772816"/>
            <a:ext cx="5724406"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5" name="Rectangle 2"/>
          <p:cNvSpPr>
            <a:spLocks noGrp="1" noChangeArrowheads="1"/>
          </p:cNvSpPr>
          <p:nvPr>
            <p:ph type="title"/>
          </p:nvPr>
        </p:nvSpPr>
        <p:spPr>
          <a:xfrm>
            <a:off x="767333" y="69273"/>
            <a:ext cx="307890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WHERE</a:t>
            </a:r>
            <a:r>
              <a:rPr lang="zh-CN" altLang="en-US" sz="4000" b="1" dirty="0">
                <a:solidFill>
                  <a:srgbClr val="FFFFCC"/>
                </a:solidFill>
                <a:effectLst>
                  <a:outerShdw blurRad="38100" dist="38100" dir="2700000" algn="tl">
                    <a:srgbClr val="000000"/>
                  </a:outerShdw>
                </a:effectLst>
              </a:rPr>
              <a:t>子句</a:t>
            </a:r>
          </a:p>
        </p:txBody>
      </p:sp>
      <p:sp>
        <p:nvSpPr>
          <p:cNvPr id="38" name="Rectangle 4"/>
          <p:cNvSpPr txBox="1">
            <a:spLocks noChangeArrowheads="1"/>
          </p:cNvSpPr>
          <p:nvPr/>
        </p:nvSpPr>
        <p:spPr bwMode="auto">
          <a:xfrm>
            <a:off x="551384" y="830232"/>
            <a:ext cx="3227165" cy="646331"/>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eaLnBrk="1" hangingPunct="1">
              <a:spcAft>
                <a:spcPct val="30000"/>
              </a:spcAft>
              <a:buClr>
                <a:srgbClr val="FFFFFF"/>
              </a:buClr>
              <a:buFont typeface="Wingdings" pitchFamily="2" charset="2"/>
              <a:buChar char="§"/>
              <a:defRPr/>
            </a:pPr>
            <a:r>
              <a:rPr kumimoji="1" lang="zh-CN" altLang="en-US" sz="3600" kern="0" dirty="0">
                <a:solidFill>
                  <a:srgbClr val="FFFFFF"/>
                </a:solidFill>
                <a:latin typeface="楷体_GB2312" pitchFamily="49" charset="-122"/>
              </a:rPr>
              <a:t>字符匹配示例</a:t>
            </a:r>
            <a:endParaRPr kumimoji="1" lang="en-US" altLang="zh-CN" sz="3600" b="1" kern="0" dirty="0">
              <a:solidFill>
                <a:srgbClr val="FFFF66"/>
              </a:solidFill>
              <a:latin typeface="楷体_GB2312" pitchFamily="49" charset="-122"/>
            </a:endParaRPr>
          </a:p>
        </p:txBody>
      </p:sp>
      <p:pic>
        <p:nvPicPr>
          <p:cNvPr id="39" name="Picture 12"/>
          <p:cNvPicPr>
            <a:picLocks noChangeAspect="1" noChangeArrowheads="1"/>
          </p:cNvPicPr>
          <p:nvPr/>
        </p:nvPicPr>
        <p:blipFill rotWithShape="1">
          <a:blip r:embed="rId5">
            <a:extLst>
              <a:ext uri="{28A0092B-C50C-407E-A947-70E740481C1C}">
                <a14:useLocalDpi xmlns:a14="http://schemas.microsoft.com/office/drawing/2010/main" val="0"/>
              </a:ext>
            </a:extLst>
          </a:blip>
          <a:srcRect l="6175" t="7433" r="762" b="14491"/>
          <a:stretch/>
        </p:blipFill>
        <p:spPr bwMode="auto">
          <a:xfrm>
            <a:off x="984031" y="3640963"/>
            <a:ext cx="6955692" cy="2612678"/>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41" name="AutoShape 14"/>
          <p:cNvSpPr>
            <a:spLocks noChangeArrowheads="1"/>
          </p:cNvSpPr>
          <p:nvPr/>
        </p:nvSpPr>
        <p:spPr bwMode="auto">
          <a:xfrm>
            <a:off x="8544272" y="1916832"/>
            <a:ext cx="1224136" cy="1471182"/>
          </a:xfrm>
          <a:prstGeom prst="wedgeRoundRectCallout">
            <a:avLst>
              <a:gd name="adj1" fmla="val -185689"/>
              <a:gd name="adj2" fmla="val 622"/>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a:solidFill>
                  <a:srgbClr val="FFFFCC"/>
                </a:solidFill>
                <a:effectLst>
                  <a:outerShdw blurRad="38100" dist="38100" dir="2700000" algn="tl">
                    <a:srgbClr val="000000"/>
                  </a:outerShdw>
                </a:effectLst>
                <a:latin typeface="Times New Roman" pitchFamily="18" charset="0"/>
              </a:rPr>
              <a:t>原始数据</a:t>
            </a:r>
          </a:p>
        </p:txBody>
      </p:sp>
      <p:sp>
        <p:nvSpPr>
          <p:cNvPr id="42" name="AutoShape 15"/>
          <p:cNvSpPr>
            <a:spLocks noChangeArrowheads="1"/>
          </p:cNvSpPr>
          <p:nvPr/>
        </p:nvSpPr>
        <p:spPr bwMode="auto">
          <a:xfrm>
            <a:off x="6888087" y="4754936"/>
            <a:ext cx="4319882" cy="1709622"/>
          </a:xfrm>
          <a:prstGeom prst="wedgeRoundRectCallout">
            <a:avLst>
              <a:gd name="adj1" fmla="val -119220"/>
              <a:gd name="adj2" fmla="val -53751"/>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姓刘不就是以“刘”字开头的姓名吗</a:t>
            </a:r>
            <a:endParaRPr lang="en-US" altLang="zh-CN" sz="3600" kern="0" dirty="0">
              <a:solidFill>
                <a:srgbClr val="FFFFCC"/>
              </a:solidFill>
              <a:effectLst>
                <a:outerShdw blurRad="38100" dist="38100" dir="2700000" algn="tl">
                  <a:srgbClr val="000000"/>
                </a:outerShdw>
              </a:effectLst>
              <a:latin typeface="Times New Roman" pitchFamily="18" charset="0"/>
            </a:endParaRPr>
          </a:p>
        </p:txBody>
      </p:sp>
      <p:sp>
        <p:nvSpPr>
          <p:cNvPr id="8" name="Line 17"/>
          <p:cNvSpPr>
            <a:spLocks noChangeShapeType="1"/>
          </p:cNvSpPr>
          <p:nvPr/>
        </p:nvSpPr>
        <p:spPr bwMode="auto">
          <a:xfrm>
            <a:off x="1127974" y="4754936"/>
            <a:ext cx="2736304" cy="0"/>
          </a:xfrm>
          <a:prstGeom prst="line">
            <a:avLst/>
          </a:prstGeom>
          <a:noFill/>
          <a:ln w="28575" cap="sq">
            <a:solidFill>
              <a:srgbClr val="FF0000"/>
            </a:solidFill>
            <a:round/>
            <a:headEnd/>
            <a:tailEnd/>
          </a:ln>
          <a:effectLst/>
        </p:spPr>
        <p:txBody>
          <a:bodyPr lIns="72000" tIns="72000" rIns="72000" bIns="72000"/>
          <a:lstStyle/>
          <a:p>
            <a:pPr>
              <a:defRPr/>
            </a:pPr>
            <a:endParaRPr lang="zh-CN" altLang="en-US" kern="0">
              <a:solidFill>
                <a:sysClr val="windowText" lastClr="000000"/>
              </a:solidFill>
            </a:endParaRPr>
          </a:p>
        </p:txBody>
      </p:sp>
    </p:spTree>
    <p:extLst>
      <p:ext uri="{BB962C8B-B14F-4D97-AF65-F5344CB8AC3E}">
        <p14:creationId xmlns:p14="http://schemas.microsoft.com/office/powerpoint/2010/main" val="4127625061"/>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67333" y="67685"/>
            <a:ext cx="307890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WHERE</a:t>
            </a:r>
            <a:r>
              <a:rPr lang="zh-CN" altLang="en-US" sz="4000" b="1" dirty="0">
                <a:solidFill>
                  <a:srgbClr val="FFFFCC"/>
                </a:solidFill>
                <a:effectLst>
                  <a:outerShdw blurRad="38100" dist="38100" dir="2700000" algn="tl">
                    <a:srgbClr val="000000"/>
                  </a:outerShdw>
                </a:effectLst>
              </a:rPr>
              <a:t>子句</a:t>
            </a:r>
          </a:p>
        </p:txBody>
      </p:sp>
      <p:pic>
        <p:nvPicPr>
          <p:cNvPr id="16" name="Picture 16"/>
          <p:cNvPicPr>
            <a:picLocks noChangeAspect="1" noChangeArrowheads="1"/>
          </p:cNvPicPr>
          <p:nvPr/>
        </p:nvPicPr>
        <p:blipFill rotWithShape="1">
          <a:blip r:embed="rId3">
            <a:extLst>
              <a:ext uri="{28A0092B-C50C-407E-A947-70E740481C1C}">
                <a14:useLocalDpi xmlns:a14="http://schemas.microsoft.com/office/drawing/2010/main" val="0"/>
              </a:ext>
            </a:extLst>
          </a:blip>
          <a:srcRect l="6175" t="6144" r="1179" b="11010"/>
          <a:stretch/>
        </p:blipFill>
        <p:spPr bwMode="auto">
          <a:xfrm>
            <a:off x="967076" y="3690734"/>
            <a:ext cx="6294254" cy="2519958"/>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7" name="AutoShape 17"/>
          <p:cNvSpPr>
            <a:spLocks noChangeArrowheads="1"/>
          </p:cNvSpPr>
          <p:nvPr/>
        </p:nvSpPr>
        <p:spPr bwMode="auto">
          <a:xfrm>
            <a:off x="4295800" y="5903040"/>
            <a:ext cx="3312368" cy="630719"/>
          </a:xfrm>
          <a:prstGeom prst="wedgeRoundRectCallout">
            <a:avLst>
              <a:gd name="adj1" fmla="val -32614"/>
              <a:gd name="adj2" fmla="val -76980"/>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查询出只有</a:t>
            </a:r>
            <a:r>
              <a:rPr lang="en-US" altLang="zh-CN" sz="3600" kern="0" dirty="0">
                <a:solidFill>
                  <a:srgbClr val="FFFFCC"/>
                </a:solidFill>
                <a:effectLst>
                  <a:outerShdw blurRad="38100" dist="38100" dir="2700000" algn="tl">
                    <a:srgbClr val="000000"/>
                  </a:outerShdw>
                </a:effectLst>
                <a:latin typeface="Times New Roman" pitchFamily="18" charset="0"/>
              </a:rPr>
              <a:t>1</a:t>
            </a:r>
            <a:r>
              <a:rPr lang="zh-CN" altLang="en-US" sz="3600" kern="0" dirty="0">
                <a:solidFill>
                  <a:srgbClr val="FFFFCC"/>
                </a:solidFill>
                <a:effectLst>
                  <a:outerShdw blurRad="38100" dist="38100" dir="2700000" algn="tl">
                    <a:srgbClr val="000000"/>
                  </a:outerShdw>
                </a:effectLst>
                <a:latin typeface="Times New Roman" pitchFamily="18" charset="0"/>
              </a:rPr>
              <a:t>人</a:t>
            </a:r>
          </a:p>
        </p:txBody>
      </p:sp>
      <p:sp>
        <p:nvSpPr>
          <p:cNvPr id="19" name="AutoShape 19"/>
          <p:cNvSpPr>
            <a:spLocks noChangeArrowheads="1"/>
          </p:cNvSpPr>
          <p:nvPr/>
        </p:nvSpPr>
        <p:spPr bwMode="auto">
          <a:xfrm>
            <a:off x="8112224" y="5315585"/>
            <a:ext cx="3528392" cy="1174910"/>
          </a:xfrm>
          <a:prstGeom prst="wedgeRoundRectCallout">
            <a:avLst>
              <a:gd name="adj1" fmla="val -22572"/>
              <a:gd name="adj2" fmla="val -73897"/>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这</a:t>
            </a:r>
            <a:r>
              <a:rPr lang="en-US" altLang="zh-CN" sz="3600" kern="0" dirty="0">
                <a:solidFill>
                  <a:srgbClr val="FFFFCC"/>
                </a:solidFill>
                <a:effectLst>
                  <a:outerShdw blurRad="38100" dist="38100" dir="2700000" algn="tl">
                    <a:srgbClr val="000000"/>
                  </a:outerShdw>
                </a:effectLst>
                <a:latin typeface="Times New Roman" pitchFamily="18" charset="0"/>
              </a:rPr>
              <a:t>4</a:t>
            </a:r>
            <a:r>
              <a:rPr lang="zh-CN" altLang="en-US" sz="3600" kern="0" dirty="0">
                <a:solidFill>
                  <a:srgbClr val="FFFFCC"/>
                </a:solidFill>
                <a:effectLst>
                  <a:outerShdw blurRad="38100" dist="38100" dir="2700000" algn="tl">
                    <a:srgbClr val="000000"/>
                  </a:outerShdw>
                </a:effectLst>
                <a:latin typeface="Times New Roman" pitchFamily="18" charset="0"/>
              </a:rPr>
              <a:t>个人名字最后一字为“明”</a:t>
            </a:r>
          </a:p>
        </p:txBody>
      </p:sp>
      <p:grpSp>
        <p:nvGrpSpPr>
          <p:cNvPr id="2" name="组合 1"/>
          <p:cNvGrpSpPr/>
          <p:nvPr/>
        </p:nvGrpSpPr>
        <p:grpSpPr>
          <a:xfrm>
            <a:off x="8623431" y="3690734"/>
            <a:ext cx="928953" cy="1231522"/>
            <a:chOff x="7582694" y="3716338"/>
            <a:chExt cx="693738" cy="935037"/>
          </a:xfrm>
        </p:grpSpPr>
        <p:pic>
          <p:nvPicPr>
            <p:cNvPr id="18"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82694" y="3716338"/>
              <a:ext cx="693738" cy="935037"/>
            </a:xfrm>
            <a:prstGeom prst="rect">
              <a:avLst/>
            </a:prstGeom>
            <a:noFill/>
            <a:ln w="38100" cap="sq"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9311" t="16079" r="7340" b="15839"/>
            <a:stretch/>
          </p:blipFill>
          <p:spPr bwMode="auto">
            <a:xfrm>
              <a:off x="7605861" y="3762374"/>
              <a:ext cx="430783" cy="191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4" name="图片 13"/>
          <p:cNvPicPr>
            <a:picLocks noChangeAspect="1"/>
          </p:cNvPicPr>
          <p:nvPr/>
        </p:nvPicPr>
        <p:blipFill>
          <a:blip r:embed="rId6"/>
          <a:stretch>
            <a:fillRect/>
          </a:stretch>
        </p:blipFill>
        <p:spPr>
          <a:xfrm>
            <a:off x="984032" y="1772816"/>
            <a:ext cx="5724406"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15" name="AutoShape 14"/>
          <p:cNvSpPr>
            <a:spLocks noChangeArrowheads="1"/>
          </p:cNvSpPr>
          <p:nvPr/>
        </p:nvSpPr>
        <p:spPr bwMode="auto">
          <a:xfrm>
            <a:off x="8472432" y="1516624"/>
            <a:ext cx="1224136" cy="991783"/>
          </a:xfrm>
          <a:prstGeom prst="wedgeRoundRectCallout">
            <a:avLst>
              <a:gd name="adj1" fmla="val -178144"/>
              <a:gd name="adj2" fmla="val 2485"/>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原始数据</a:t>
            </a:r>
          </a:p>
        </p:txBody>
      </p:sp>
      <p:sp>
        <p:nvSpPr>
          <p:cNvPr id="20" name="Rectangle 4"/>
          <p:cNvSpPr txBox="1">
            <a:spLocks noChangeArrowheads="1"/>
          </p:cNvSpPr>
          <p:nvPr/>
        </p:nvSpPr>
        <p:spPr bwMode="auto">
          <a:xfrm>
            <a:off x="551384" y="830232"/>
            <a:ext cx="3227165" cy="646331"/>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7"/>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eaLnBrk="1" hangingPunct="1">
              <a:spcAft>
                <a:spcPct val="30000"/>
              </a:spcAft>
              <a:buClr>
                <a:srgbClr val="FFFFFF"/>
              </a:buClr>
              <a:buFont typeface="Wingdings" pitchFamily="2" charset="2"/>
              <a:buChar char="§"/>
              <a:defRPr/>
            </a:pPr>
            <a:r>
              <a:rPr kumimoji="1" lang="zh-CN" altLang="en-US" sz="3600" kern="0" dirty="0">
                <a:solidFill>
                  <a:srgbClr val="FFFFFF"/>
                </a:solidFill>
                <a:latin typeface="楷体_GB2312" pitchFamily="49" charset="-122"/>
              </a:rPr>
              <a:t>字符匹配示例</a:t>
            </a:r>
            <a:endParaRPr kumimoji="1" lang="en-US" altLang="zh-CN" sz="3600" b="1" kern="0" dirty="0">
              <a:solidFill>
                <a:srgbClr val="FFFF66"/>
              </a:solidFill>
              <a:latin typeface="楷体_GB2312" pitchFamily="49" charset="-122"/>
            </a:endParaRPr>
          </a:p>
        </p:txBody>
      </p:sp>
    </p:spTree>
    <p:extLst>
      <p:ext uri="{BB962C8B-B14F-4D97-AF65-F5344CB8AC3E}">
        <p14:creationId xmlns:p14="http://schemas.microsoft.com/office/powerpoint/2010/main" val="3531129573"/>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8" name="arrow.wav"/>
          </p:stSnd>
        </p:sndAc>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67333" y="67685"/>
            <a:ext cx="307890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WHERE</a:t>
            </a:r>
            <a:r>
              <a:rPr lang="zh-CN" altLang="en-US" sz="4000" b="1" dirty="0">
                <a:solidFill>
                  <a:srgbClr val="FFFFCC"/>
                </a:solidFill>
                <a:effectLst>
                  <a:outerShdw blurRad="38100" dist="38100" dir="2700000" algn="tl">
                    <a:srgbClr val="000000"/>
                  </a:outerShdw>
                </a:effectLst>
              </a:rPr>
              <a:t>子句</a:t>
            </a:r>
          </a:p>
        </p:txBody>
      </p:sp>
      <p:pic>
        <p:nvPicPr>
          <p:cNvPr id="14" name="Picture 17"/>
          <p:cNvPicPr>
            <a:picLocks noChangeAspect="1" noChangeArrowheads="1"/>
          </p:cNvPicPr>
          <p:nvPr/>
        </p:nvPicPr>
        <p:blipFill rotWithShape="1">
          <a:blip r:embed="rId3">
            <a:extLst>
              <a:ext uri="{28A0092B-C50C-407E-A947-70E740481C1C}">
                <a14:useLocalDpi xmlns:a14="http://schemas.microsoft.com/office/drawing/2010/main" val="0"/>
              </a:ext>
            </a:extLst>
          </a:blip>
          <a:srcRect l="4939" t="6339" r="1180" b="10450"/>
          <a:stretch/>
        </p:blipFill>
        <p:spPr bwMode="auto">
          <a:xfrm>
            <a:off x="984032" y="3679709"/>
            <a:ext cx="6486218" cy="2573933"/>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5" name="AutoShape 18"/>
          <p:cNvSpPr>
            <a:spLocks noChangeArrowheads="1"/>
          </p:cNvSpPr>
          <p:nvPr/>
        </p:nvSpPr>
        <p:spPr bwMode="auto">
          <a:xfrm>
            <a:off x="5663983" y="4238508"/>
            <a:ext cx="2267886" cy="889255"/>
          </a:xfrm>
          <a:prstGeom prst="wedgeRoundRectCallout">
            <a:avLst>
              <a:gd name="adj1" fmla="val -37537"/>
              <a:gd name="adj2" fmla="val 108435"/>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a:solidFill>
                  <a:srgbClr val="FFFFCC"/>
                </a:solidFill>
                <a:effectLst>
                  <a:outerShdw blurRad="38100" dist="38100" dir="2700000" algn="tl">
                    <a:srgbClr val="000000"/>
                  </a:outerShdw>
                </a:effectLst>
                <a:latin typeface="Times New Roman" pitchFamily="18" charset="0"/>
              </a:rPr>
              <a:t>查询结果</a:t>
            </a:r>
          </a:p>
        </p:txBody>
      </p:sp>
      <p:pic>
        <p:nvPicPr>
          <p:cNvPr id="8" name="图片 7"/>
          <p:cNvPicPr>
            <a:picLocks noChangeAspect="1"/>
          </p:cNvPicPr>
          <p:nvPr/>
        </p:nvPicPr>
        <p:blipFill>
          <a:blip r:embed="rId4"/>
          <a:stretch>
            <a:fillRect/>
          </a:stretch>
        </p:blipFill>
        <p:spPr>
          <a:xfrm>
            <a:off x="984032" y="1700808"/>
            <a:ext cx="5724406"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10" name="Rectangle 4"/>
          <p:cNvSpPr txBox="1">
            <a:spLocks noChangeArrowheads="1"/>
          </p:cNvSpPr>
          <p:nvPr/>
        </p:nvSpPr>
        <p:spPr bwMode="auto">
          <a:xfrm>
            <a:off x="551384" y="830232"/>
            <a:ext cx="3227165" cy="646331"/>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5"/>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eaLnBrk="1" hangingPunct="1">
              <a:spcAft>
                <a:spcPct val="30000"/>
              </a:spcAft>
              <a:buClr>
                <a:srgbClr val="FFFFFF"/>
              </a:buClr>
              <a:buFont typeface="Wingdings" pitchFamily="2" charset="2"/>
              <a:buChar char="§"/>
              <a:defRPr/>
            </a:pPr>
            <a:r>
              <a:rPr kumimoji="1" lang="zh-CN" altLang="en-US" sz="3600" kern="0" dirty="0">
                <a:solidFill>
                  <a:srgbClr val="FFFFFF"/>
                </a:solidFill>
                <a:latin typeface="楷体_GB2312" pitchFamily="49" charset="-122"/>
              </a:rPr>
              <a:t>字符匹配示例</a:t>
            </a:r>
            <a:endParaRPr kumimoji="1" lang="en-US" altLang="zh-CN" sz="3600" b="1" kern="0" dirty="0">
              <a:solidFill>
                <a:srgbClr val="FFFF66"/>
              </a:solidFill>
              <a:latin typeface="楷体_GB2312" pitchFamily="49" charset="-122"/>
            </a:endParaRPr>
          </a:p>
        </p:txBody>
      </p:sp>
      <p:sp>
        <p:nvSpPr>
          <p:cNvPr id="12" name="AutoShape 14"/>
          <p:cNvSpPr>
            <a:spLocks noChangeArrowheads="1"/>
          </p:cNvSpPr>
          <p:nvPr/>
        </p:nvSpPr>
        <p:spPr bwMode="auto">
          <a:xfrm>
            <a:off x="8544272" y="1916832"/>
            <a:ext cx="1296144" cy="1255158"/>
          </a:xfrm>
          <a:prstGeom prst="wedgeRoundRectCallout">
            <a:avLst>
              <a:gd name="adj1" fmla="val -185689"/>
              <a:gd name="adj2" fmla="val 622"/>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原始数据</a:t>
            </a:r>
          </a:p>
        </p:txBody>
      </p:sp>
    </p:spTree>
    <p:extLst>
      <p:ext uri="{BB962C8B-B14F-4D97-AF65-F5344CB8AC3E}">
        <p14:creationId xmlns:p14="http://schemas.microsoft.com/office/powerpoint/2010/main" val="1310103383"/>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43766" y="2716462"/>
            <a:ext cx="5832648" cy="2840180"/>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5" name="Rectangle 2"/>
          <p:cNvSpPr>
            <a:spLocks noGrp="1" noChangeArrowheads="1"/>
          </p:cNvSpPr>
          <p:nvPr>
            <p:ph type="title"/>
          </p:nvPr>
        </p:nvSpPr>
        <p:spPr>
          <a:xfrm>
            <a:off x="781188" y="81540"/>
            <a:ext cx="307890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WHERE</a:t>
            </a:r>
            <a:r>
              <a:rPr lang="zh-CN" altLang="en-US" sz="4000" b="1" dirty="0">
                <a:solidFill>
                  <a:srgbClr val="FFFFCC"/>
                </a:solidFill>
                <a:effectLst>
                  <a:outerShdw blurRad="38100" dist="38100" dir="2700000" algn="tl">
                    <a:srgbClr val="000000"/>
                  </a:outerShdw>
                </a:effectLst>
              </a:rPr>
              <a:t>子句</a:t>
            </a:r>
          </a:p>
        </p:txBody>
      </p:sp>
      <p:sp>
        <p:nvSpPr>
          <p:cNvPr id="12" name="Rectangle 4"/>
          <p:cNvSpPr txBox="1">
            <a:spLocks noChangeArrowheads="1"/>
          </p:cNvSpPr>
          <p:nvPr/>
        </p:nvSpPr>
        <p:spPr bwMode="auto">
          <a:xfrm>
            <a:off x="551384" y="811810"/>
            <a:ext cx="10859428" cy="179741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eaLnBrk="1" hangingPunct="1">
              <a:spcAft>
                <a:spcPct val="30000"/>
              </a:spcAft>
              <a:buClr>
                <a:srgbClr val="FFFFFF"/>
              </a:buClr>
              <a:buFont typeface="Wingdings" pitchFamily="2" charset="2"/>
              <a:buChar char="§"/>
              <a:defRPr/>
            </a:pPr>
            <a:r>
              <a:rPr kumimoji="1" lang="zh-CN" altLang="en-US" sz="3600" kern="0" dirty="0">
                <a:solidFill>
                  <a:srgbClr val="FFFFFF"/>
                </a:solidFill>
                <a:latin typeface="楷体_GB2312" pitchFamily="49" charset="-122"/>
              </a:rPr>
              <a:t>字符匹配中转义符的用法</a:t>
            </a:r>
            <a:endParaRPr kumimoji="1" lang="en-US" altLang="zh-CN" sz="3600" b="1" kern="0" dirty="0">
              <a:solidFill>
                <a:srgbClr val="FFFF66"/>
              </a:solidFill>
              <a:latin typeface="楷体_GB2312" pitchFamily="49" charset="-122"/>
            </a:endParaRPr>
          </a:p>
          <a:p>
            <a:pPr marL="269875" indent="-269875" algn="just" eaLnBrk="1" hangingPunct="1">
              <a:buClr>
                <a:srgbClr val="FFFFFF"/>
              </a:buClr>
              <a:buNone/>
              <a:defRPr/>
            </a:pPr>
            <a:r>
              <a:rPr kumimoji="1" lang="en-US" altLang="zh-CN" sz="3200" kern="0" dirty="0">
                <a:solidFill>
                  <a:srgbClr val="99FF33"/>
                </a:solidFill>
                <a:latin typeface="楷体_GB2312" pitchFamily="49" charset="-122"/>
              </a:rPr>
              <a:t>	</a:t>
            </a:r>
            <a:r>
              <a:rPr kumimoji="1" lang="zh-CN" altLang="en-US" sz="3200" kern="0" dirty="0">
                <a:latin typeface="楷体_GB2312" pitchFamily="49" charset="-122"/>
              </a:rPr>
              <a:t>如果查询的串中要包含</a:t>
            </a:r>
            <a:r>
              <a:rPr kumimoji="1" lang="zh-CN" altLang="en-US" sz="3200" kern="0" dirty="0"/>
              <a:t>“</a:t>
            </a:r>
            <a:r>
              <a:rPr kumimoji="1" lang="en-US" altLang="zh-CN" sz="3200" kern="0" dirty="0">
                <a:latin typeface="楷体_GB2312" pitchFamily="49" charset="-122"/>
              </a:rPr>
              <a:t>%</a:t>
            </a:r>
            <a:r>
              <a:rPr kumimoji="1" lang="en-US" altLang="zh-CN" sz="3200" kern="0" dirty="0"/>
              <a:t>”</a:t>
            </a:r>
            <a:r>
              <a:rPr kumimoji="1" lang="zh-CN" altLang="en-US" sz="3200" kern="0" dirty="0">
                <a:latin typeface="楷体_GB2312" pitchFamily="49" charset="-122"/>
              </a:rPr>
              <a:t>等通配符，则必须用转义符告诉</a:t>
            </a:r>
            <a:r>
              <a:rPr kumimoji="1" lang="en-US" altLang="zh-CN" sz="3200" kern="0" dirty="0">
                <a:latin typeface="楷体_GB2312" pitchFamily="49" charset="-122"/>
              </a:rPr>
              <a:t>SQL</a:t>
            </a:r>
            <a:r>
              <a:rPr kumimoji="1" lang="zh-CN" altLang="en-US" sz="3200" kern="0" dirty="0">
                <a:latin typeface="楷体_GB2312" pitchFamily="49" charset="-122"/>
              </a:rPr>
              <a:t>解释器将通配符转义为实实在在的字符</a:t>
            </a:r>
            <a:endParaRPr kumimoji="1" lang="en-US" altLang="zh-CN" sz="3200" kern="0" dirty="0">
              <a:latin typeface="楷体_GB2312" pitchFamily="49" charset="-122"/>
            </a:endParaRPr>
          </a:p>
        </p:txBody>
      </p:sp>
      <p:sp>
        <p:nvSpPr>
          <p:cNvPr id="14" name="Line 10"/>
          <p:cNvSpPr>
            <a:spLocks noChangeShapeType="1"/>
          </p:cNvSpPr>
          <p:nvPr/>
        </p:nvSpPr>
        <p:spPr bwMode="auto">
          <a:xfrm>
            <a:off x="1991544" y="4005064"/>
            <a:ext cx="3384376" cy="0"/>
          </a:xfrm>
          <a:prstGeom prst="line">
            <a:avLst/>
          </a:prstGeom>
          <a:noFill/>
          <a:ln w="12700" cap="sq">
            <a:solidFill>
              <a:srgbClr val="FF0000"/>
            </a:solidFill>
            <a:round/>
            <a:headEnd/>
            <a:tailEnd/>
          </a:ln>
          <a:effectLst/>
        </p:spPr>
        <p:txBody>
          <a:bodyPr lIns="72000" tIns="72000" rIns="72000" bIns="72000"/>
          <a:lstStyle/>
          <a:p>
            <a:pPr>
              <a:defRPr/>
            </a:pPr>
            <a:endParaRPr lang="zh-CN" altLang="en-US" kern="0">
              <a:solidFill>
                <a:sysClr val="windowText" lastClr="000000"/>
              </a:solidFill>
            </a:endParaRPr>
          </a:p>
        </p:txBody>
      </p:sp>
      <p:sp>
        <p:nvSpPr>
          <p:cNvPr id="15" name="AutoShape 11"/>
          <p:cNvSpPr>
            <a:spLocks noChangeArrowheads="1"/>
          </p:cNvSpPr>
          <p:nvPr/>
        </p:nvSpPr>
        <p:spPr bwMode="auto">
          <a:xfrm>
            <a:off x="5977968" y="3429000"/>
            <a:ext cx="5598043" cy="1385711"/>
          </a:xfrm>
          <a:prstGeom prst="wedgeRoundRectCallout">
            <a:avLst>
              <a:gd name="adj1" fmla="val -57596"/>
              <a:gd name="adj2" fmla="val -15884"/>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spcAft>
                <a:spcPct val="20000"/>
              </a:spcAft>
              <a:buClr>
                <a:srgbClr val="66FF33"/>
              </a:buClr>
              <a:buSzPct val="85000"/>
              <a:defRPr/>
            </a:pPr>
            <a:r>
              <a:rPr lang="zh-CN" altLang="en-US" sz="3600" kern="0">
                <a:solidFill>
                  <a:srgbClr val="FFFFCC"/>
                </a:solidFill>
                <a:effectLst>
                  <a:outerShdw blurRad="38100" dist="38100" dir="2700000" algn="tl">
                    <a:srgbClr val="000000"/>
                  </a:outerShdw>
                </a:effectLst>
                <a:latin typeface="Times New Roman" pitchFamily="18" charset="0"/>
              </a:rPr>
              <a:t>这里的下划线是要匹配的实际字符所以要转义</a:t>
            </a:r>
          </a:p>
        </p:txBody>
      </p:sp>
      <p:sp>
        <p:nvSpPr>
          <p:cNvPr id="17" name="Rectangle 8"/>
          <p:cNvSpPr>
            <a:spLocks noChangeArrowheads="1"/>
          </p:cNvSpPr>
          <p:nvPr/>
        </p:nvSpPr>
        <p:spPr bwMode="auto">
          <a:xfrm>
            <a:off x="802531" y="5662314"/>
            <a:ext cx="8605837" cy="935038"/>
          </a:xfrm>
          <a:prstGeom prst="rect">
            <a:avLst/>
          </a:prstGeom>
          <a:noFill/>
          <a:ln w="9525">
            <a:noFill/>
            <a:miter lim="800000"/>
            <a:headEnd/>
            <a:tailEnd/>
          </a:ln>
          <a:effectLst/>
        </p:spPr>
        <p:txBody>
          <a:bodyPr/>
          <a:lstStyle/>
          <a:p>
            <a:pPr marL="342900" indent="-342900" algn="just">
              <a:spcBef>
                <a:spcPct val="65000"/>
              </a:spcBef>
              <a:spcAft>
                <a:spcPct val="10000"/>
              </a:spcAft>
              <a:buClr>
                <a:srgbClr val="FFFFFF"/>
              </a:buClr>
              <a:buSzPct val="85000"/>
              <a:defRPr/>
            </a:pPr>
            <a:r>
              <a:rPr lang="zh-CN" altLang="en-US" sz="3200" kern="0" dirty="0">
                <a:solidFill>
                  <a:srgbClr val="CCFFCC"/>
                </a:solidFill>
                <a:effectLst>
                  <a:outerShdw blurRad="38100" dist="38100" dir="2700000" algn="tl">
                    <a:srgbClr val="000000"/>
                  </a:outerShdw>
                </a:effectLst>
              </a:rPr>
              <a:t>转义符可以为除通配符以外的任意字符</a:t>
            </a:r>
          </a:p>
          <a:p>
            <a:pPr marL="342900" indent="-342900" algn="just">
              <a:spcAft>
                <a:spcPct val="10000"/>
              </a:spcAft>
              <a:buClr>
                <a:srgbClr val="FFFFFF"/>
              </a:buClr>
              <a:buSzPct val="85000"/>
              <a:defRPr/>
            </a:pPr>
            <a:r>
              <a:rPr lang="zh-CN" altLang="en-US" sz="3200" kern="0" dirty="0">
                <a:solidFill>
                  <a:srgbClr val="99FF33"/>
                </a:solidFill>
                <a:effectLst>
                  <a:outerShdw blurRad="38100" dist="38100" dir="2700000" algn="tl">
                    <a:srgbClr val="000000"/>
                  </a:outerShdw>
                </a:effectLst>
              </a:rPr>
              <a:t>如上例条件亦可为</a:t>
            </a:r>
            <a:r>
              <a:rPr lang="en-US" altLang="zh-CN" sz="3200" kern="0" dirty="0">
                <a:solidFill>
                  <a:srgbClr val="99FF33"/>
                </a:solidFill>
                <a:effectLst>
                  <a:outerShdw blurRad="38100" dist="38100" dir="2700000" algn="tl">
                    <a:srgbClr val="000000"/>
                  </a:outerShdw>
                </a:effectLst>
              </a:rPr>
              <a:t>: </a:t>
            </a:r>
            <a:r>
              <a:rPr lang="en-US" altLang="zh-CN" sz="3200" kern="0" dirty="0">
                <a:solidFill>
                  <a:srgbClr val="66FFFF"/>
                </a:solidFill>
                <a:effectLst>
                  <a:outerShdw blurRad="38100" dist="38100" dir="2700000" algn="tl">
                    <a:srgbClr val="000000"/>
                  </a:outerShdw>
                </a:effectLst>
              </a:rPr>
              <a:t> </a:t>
            </a:r>
            <a:r>
              <a:rPr lang="zh-CN" altLang="en-US" sz="3200" kern="0" dirty="0">
                <a:solidFill>
                  <a:srgbClr val="66FFFF"/>
                </a:solidFill>
                <a:effectLst>
                  <a:outerShdw blurRad="38100" dist="38100" dir="2700000" algn="tl">
                    <a:srgbClr val="000000"/>
                  </a:outerShdw>
                </a:effectLst>
              </a:rPr>
              <a:t>姓名</a:t>
            </a:r>
            <a:r>
              <a:rPr lang="en-US" altLang="zh-CN" sz="3200" kern="0" dirty="0">
                <a:solidFill>
                  <a:srgbClr val="66FFFF"/>
                </a:solidFill>
                <a:effectLst>
                  <a:outerShdw blurRad="38100" dist="38100" dir="2700000" algn="tl">
                    <a:srgbClr val="000000"/>
                  </a:outerShdw>
                </a:effectLst>
              </a:rPr>
              <a:t> LIKE </a:t>
            </a:r>
            <a:r>
              <a:rPr lang="en-US" altLang="zh-CN" sz="3200" kern="0" dirty="0">
                <a:solidFill>
                  <a:srgbClr val="66FFFF"/>
                </a:solidFill>
                <a:effectLst>
                  <a:outerShdw blurRad="38100" dist="38100" dir="2700000" algn="tl">
                    <a:srgbClr val="000000"/>
                  </a:outerShdw>
                </a:effectLst>
                <a:latin typeface="Arial"/>
              </a:rPr>
              <a:t>‘</a:t>
            </a:r>
            <a:r>
              <a:rPr lang="en-US" altLang="zh-CN" sz="3200" kern="0" dirty="0">
                <a:solidFill>
                  <a:srgbClr val="66FFFF"/>
                </a:solidFill>
                <a:effectLst>
                  <a:outerShdw blurRad="38100" dist="38100" dir="2700000" algn="tl">
                    <a:srgbClr val="000000"/>
                  </a:outerShdw>
                </a:effectLst>
              </a:rPr>
              <a:t>%</a:t>
            </a:r>
            <a:r>
              <a:rPr lang="en-US" altLang="zh-CN" sz="3200" b="1" kern="0" dirty="0">
                <a:solidFill>
                  <a:srgbClr val="FFFF00"/>
                </a:solidFill>
                <a:effectLst>
                  <a:outerShdw blurRad="38100" dist="38100" dir="2700000" algn="tl">
                    <a:srgbClr val="000000"/>
                  </a:outerShdw>
                </a:effectLst>
              </a:rPr>
              <a:t>^</a:t>
            </a:r>
            <a:r>
              <a:rPr lang="en-US" altLang="zh-CN" sz="3200" kern="0" dirty="0">
                <a:solidFill>
                  <a:srgbClr val="66FFFF"/>
                </a:solidFill>
                <a:effectLst>
                  <a:outerShdw blurRad="38100" dist="38100" dir="2700000" algn="tl">
                    <a:srgbClr val="000000"/>
                  </a:outerShdw>
                </a:effectLst>
              </a:rPr>
              <a:t>_%</a:t>
            </a:r>
            <a:r>
              <a:rPr lang="en-US" altLang="zh-CN" sz="3200" kern="0" dirty="0">
                <a:solidFill>
                  <a:srgbClr val="66FFFF"/>
                </a:solidFill>
                <a:effectLst>
                  <a:outerShdw blurRad="38100" dist="38100" dir="2700000" algn="tl">
                    <a:srgbClr val="000000"/>
                  </a:outerShdw>
                </a:effectLst>
                <a:latin typeface="Arial"/>
              </a:rPr>
              <a:t>’</a:t>
            </a:r>
            <a:r>
              <a:rPr lang="en-US" altLang="zh-CN" sz="3200" kern="0" dirty="0">
                <a:solidFill>
                  <a:srgbClr val="66FFFF"/>
                </a:solidFill>
                <a:effectLst>
                  <a:outerShdw blurRad="38100" dist="38100" dir="2700000" algn="tl">
                    <a:srgbClr val="000000"/>
                  </a:outerShdw>
                </a:effectLst>
              </a:rPr>
              <a:t> ESCAPE </a:t>
            </a:r>
            <a:r>
              <a:rPr lang="en-US" altLang="zh-CN" sz="3200" kern="0" dirty="0">
                <a:solidFill>
                  <a:srgbClr val="66FFFF"/>
                </a:solidFill>
                <a:effectLst>
                  <a:outerShdw blurRad="38100" dist="38100" dir="2700000" algn="tl">
                    <a:srgbClr val="000000"/>
                  </a:outerShdw>
                </a:effectLst>
                <a:latin typeface="Arial"/>
              </a:rPr>
              <a:t>‘</a:t>
            </a:r>
            <a:r>
              <a:rPr lang="en-US" altLang="zh-CN" sz="3200" b="1" kern="0" dirty="0">
                <a:solidFill>
                  <a:srgbClr val="FFFF00"/>
                </a:solidFill>
                <a:effectLst>
                  <a:outerShdw blurRad="38100" dist="38100" dir="2700000" algn="tl">
                    <a:srgbClr val="000000"/>
                  </a:outerShdw>
                </a:effectLst>
              </a:rPr>
              <a:t>^</a:t>
            </a:r>
            <a:r>
              <a:rPr lang="en-US" altLang="zh-CN" sz="3200" kern="0" dirty="0">
                <a:solidFill>
                  <a:srgbClr val="66FFFF"/>
                </a:solidFill>
                <a:effectLst>
                  <a:outerShdw blurRad="38100" dist="38100" dir="2700000" algn="tl">
                    <a:srgbClr val="000000"/>
                  </a:outerShdw>
                </a:effectLst>
                <a:latin typeface="Arial"/>
              </a:rPr>
              <a:t>’</a:t>
            </a:r>
            <a:endParaRPr lang="zh-CN" altLang="en-US" sz="3200" kern="0" dirty="0">
              <a:solidFill>
                <a:srgbClr val="66FFFF"/>
              </a:solidFill>
              <a:effectLst>
                <a:outerShdw blurRad="38100" dist="38100" dir="2700000" algn="tl">
                  <a:srgbClr val="000000"/>
                </a:outerShdw>
              </a:effectLst>
            </a:endParaRPr>
          </a:p>
        </p:txBody>
      </p:sp>
    </p:spTree>
    <p:extLst>
      <p:ext uri="{BB962C8B-B14F-4D97-AF65-F5344CB8AC3E}">
        <p14:creationId xmlns:p14="http://schemas.microsoft.com/office/powerpoint/2010/main" val="3439492460"/>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5" name="arrow.wav"/>
          </p:stSnd>
        </p:sndAc>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95118" y="100796"/>
            <a:ext cx="307890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WHERE</a:t>
            </a:r>
            <a:r>
              <a:rPr lang="zh-CN" altLang="en-US" sz="4000" b="1" dirty="0">
                <a:solidFill>
                  <a:srgbClr val="FFFFCC"/>
                </a:solidFill>
                <a:effectLst>
                  <a:outerShdw blurRad="38100" dist="38100" dir="2700000" algn="tl">
                    <a:srgbClr val="000000"/>
                  </a:outerShdw>
                </a:effectLst>
              </a:rPr>
              <a:t>子句</a:t>
            </a:r>
          </a:p>
        </p:txBody>
      </p:sp>
      <p:sp>
        <p:nvSpPr>
          <p:cNvPr id="32" name="Rectangle 4"/>
          <p:cNvSpPr txBox="1">
            <a:spLocks noChangeArrowheads="1"/>
          </p:cNvSpPr>
          <p:nvPr/>
        </p:nvSpPr>
        <p:spPr bwMode="auto">
          <a:xfrm>
            <a:off x="551384" y="861755"/>
            <a:ext cx="8496300" cy="6463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algn="just" eaLnBrk="1" hangingPunct="1">
              <a:spcAft>
                <a:spcPct val="10000"/>
              </a:spcAft>
              <a:buClr>
                <a:srgbClr val="FFFFFF"/>
              </a:buClr>
              <a:buFont typeface="Wingdings" pitchFamily="2" charset="2"/>
              <a:buChar char="§"/>
              <a:defRPr/>
            </a:pPr>
            <a:r>
              <a:rPr kumimoji="1" lang="zh-CN" altLang="en-US" sz="3600" kern="0" dirty="0">
                <a:solidFill>
                  <a:srgbClr val="FFFFFF"/>
                </a:solidFill>
                <a:latin typeface="楷体_GB2312" pitchFamily="49" charset="-122"/>
              </a:rPr>
              <a:t>空值检查，格式为： </a:t>
            </a:r>
            <a:r>
              <a:rPr kumimoji="1" lang="en-US" altLang="zh-CN" sz="3600" b="1" kern="0" dirty="0">
                <a:solidFill>
                  <a:srgbClr val="FFFF66"/>
                </a:solidFill>
                <a:latin typeface="楷体_GB2312" pitchFamily="49" charset="-122"/>
              </a:rPr>
              <a:t>IS [NOT] NULL</a:t>
            </a:r>
          </a:p>
        </p:txBody>
      </p:sp>
      <p:pic>
        <p:nvPicPr>
          <p:cNvPr id="35" name="Picture 17"/>
          <p:cNvPicPr>
            <a:picLocks noChangeAspect="1" noChangeArrowheads="1"/>
          </p:cNvPicPr>
          <p:nvPr/>
        </p:nvPicPr>
        <p:blipFill rotWithShape="1">
          <a:blip r:embed="rId4">
            <a:extLst>
              <a:ext uri="{28A0092B-C50C-407E-A947-70E740481C1C}">
                <a14:useLocalDpi xmlns:a14="http://schemas.microsoft.com/office/drawing/2010/main" val="0"/>
              </a:ext>
            </a:extLst>
          </a:blip>
          <a:srcRect l="3882" t="8297" r="325" b="13150"/>
          <a:stretch/>
        </p:blipFill>
        <p:spPr bwMode="auto">
          <a:xfrm>
            <a:off x="955990" y="3769540"/>
            <a:ext cx="7687089" cy="278310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36" name="Rectangle 18"/>
          <p:cNvSpPr>
            <a:spLocks noChangeArrowheads="1"/>
          </p:cNvSpPr>
          <p:nvPr/>
        </p:nvSpPr>
        <p:spPr bwMode="auto">
          <a:xfrm>
            <a:off x="9029216" y="5298364"/>
            <a:ext cx="2630512" cy="1254278"/>
          </a:xfrm>
          <a:prstGeom prst="rect">
            <a:avLst/>
          </a:prstGeom>
          <a:solidFill>
            <a:srgbClr val="0000CC"/>
          </a:solidFill>
          <a:ln w="28575" cap="sq">
            <a:solidFill>
              <a:srgbClr val="FFFFCC"/>
            </a:solidFill>
            <a:miter lim="800000"/>
            <a:headEnd/>
            <a:tailEnd/>
          </a:ln>
          <a:effectLst>
            <a:outerShdw dist="107763" dir="2700000" algn="ctr" rotWithShape="0">
              <a:srgbClr val="000514">
                <a:alpha val="50000"/>
              </a:srgbClr>
            </a:outerShdw>
          </a:effectLst>
        </p:spPr>
        <p:txBody>
          <a:bodyPr lIns="0" tIns="0" rIns="0" bIns="0" anchor="ctr"/>
          <a:lstStyle/>
          <a:p>
            <a:pPr algn="ctr">
              <a:spcAft>
                <a:spcPct val="0"/>
              </a:spcAft>
            </a:pPr>
            <a:r>
              <a:rPr lang="zh-CN" altLang="en-US" sz="3600" kern="0" dirty="0">
                <a:solidFill>
                  <a:schemeClr val="bg1"/>
                </a:solidFill>
                <a:effectLst>
                  <a:outerShdw blurRad="38100" dist="38100" dir="2700000" algn="tl">
                    <a:srgbClr val="000000"/>
                  </a:outerShdw>
                </a:effectLst>
                <a:latin typeface="Times New Roman" pitchFamily="18" charset="0"/>
              </a:rPr>
              <a:t>注意空值和空白的区别</a:t>
            </a:r>
          </a:p>
        </p:txBody>
      </p:sp>
      <p:sp>
        <p:nvSpPr>
          <p:cNvPr id="37" name="Rectangle 19"/>
          <p:cNvSpPr>
            <a:spLocks noChangeArrowheads="1"/>
          </p:cNvSpPr>
          <p:nvPr/>
        </p:nvSpPr>
        <p:spPr bwMode="auto">
          <a:xfrm>
            <a:off x="8866088" y="3717032"/>
            <a:ext cx="2990551" cy="1321745"/>
          </a:xfrm>
          <a:prstGeom prst="rect">
            <a:avLst/>
          </a:prstGeom>
          <a:solidFill>
            <a:srgbClr val="0000CC"/>
          </a:solidFill>
          <a:ln w="28575" cap="sq">
            <a:solidFill>
              <a:srgbClr val="FFFFCC"/>
            </a:solidFill>
            <a:miter lim="800000"/>
            <a:headEnd/>
            <a:tailEnd/>
          </a:ln>
          <a:effectLst>
            <a:outerShdw dist="107763" dir="2700000" algn="ctr" rotWithShape="0">
              <a:srgbClr val="000514">
                <a:alpha val="50000"/>
              </a:srgbClr>
            </a:outerShdw>
          </a:effectLst>
        </p:spPr>
        <p:txBody>
          <a:bodyPr lIns="0" tIns="0" rIns="0" bIns="0" anchor="ctr"/>
          <a:lstStyle/>
          <a:p>
            <a:pPr algn="ctr">
              <a:spcAft>
                <a:spcPct val="0"/>
              </a:spcAft>
            </a:pPr>
            <a:r>
              <a:rPr lang="zh-CN" altLang="en-US" sz="3600" kern="0" dirty="0">
                <a:solidFill>
                  <a:schemeClr val="bg1"/>
                </a:solidFill>
                <a:effectLst>
                  <a:outerShdw blurRad="38100" dist="38100" dir="2700000" algn="tl">
                    <a:srgbClr val="000000"/>
                  </a:outerShdw>
                </a:effectLst>
                <a:latin typeface="Times New Roman" pitchFamily="18" charset="0"/>
              </a:rPr>
              <a:t>对允许为空的列才有意义！</a:t>
            </a:r>
            <a:endParaRPr lang="en-US" altLang="zh-CN" sz="3600" kern="0" dirty="0">
              <a:solidFill>
                <a:schemeClr val="bg1"/>
              </a:solidFill>
              <a:effectLst>
                <a:outerShdw blurRad="38100" dist="38100" dir="2700000" algn="tl">
                  <a:srgbClr val="000000"/>
                </a:outerShdw>
              </a:effectLst>
              <a:latin typeface="Times New Roman" pitchFamily="18" charset="0"/>
            </a:endParaRPr>
          </a:p>
        </p:txBody>
      </p:sp>
      <p:pic>
        <p:nvPicPr>
          <p:cNvPr id="9" name="图片 8"/>
          <p:cNvPicPr>
            <a:picLocks noChangeAspect="1"/>
          </p:cNvPicPr>
          <p:nvPr/>
        </p:nvPicPr>
        <p:blipFill>
          <a:blip r:embed="rId5"/>
          <a:stretch>
            <a:fillRect/>
          </a:stretch>
        </p:blipFill>
        <p:spPr>
          <a:xfrm>
            <a:off x="968443" y="1750128"/>
            <a:ext cx="5724406"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10" name="AutoShape 14"/>
          <p:cNvSpPr>
            <a:spLocks noChangeArrowheads="1"/>
          </p:cNvSpPr>
          <p:nvPr/>
        </p:nvSpPr>
        <p:spPr bwMode="auto">
          <a:xfrm>
            <a:off x="9047684" y="1941874"/>
            <a:ext cx="1296788" cy="1279436"/>
          </a:xfrm>
          <a:prstGeom prst="wedgeRoundRectCallout">
            <a:avLst>
              <a:gd name="adj1" fmla="val -212081"/>
              <a:gd name="adj2" fmla="val 830"/>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原始数据</a:t>
            </a:r>
          </a:p>
        </p:txBody>
      </p:sp>
    </p:spTree>
    <p:extLst>
      <p:ext uri="{BB962C8B-B14F-4D97-AF65-F5344CB8AC3E}">
        <p14:creationId xmlns:p14="http://schemas.microsoft.com/office/powerpoint/2010/main" val="4225323361"/>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331" name="Rectangle 3">
            <a:extLst>
              <a:ext uri="{FF2B5EF4-FFF2-40B4-BE49-F238E27FC236}">
                <a16:creationId xmlns:a16="http://schemas.microsoft.com/office/drawing/2014/main" id="{1D41478E-73DA-42BF-91D7-5E887CD74E7F}"/>
              </a:ext>
            </a:extLst>
          </p:cNvPr>
          <p:cNvSpPr>
            <a:spLocks noGrp="1" noChangeArrowheads="1"/>
          </p:cNvSpPr>
          <p:nvPr>
            <p:ph type="body" idx="4294967295"/>
          </p:nvPr>
        </p:nvSpPr>
        <p:spPr>
          <a:xfrm>
            <a:off x="609600" y="620688"/>
            <a:ext cx="10972800" cy="4525963"/>
          </a:xfrm>
        </p:spPr>
        <p:txBody>
          <a:bodyPr>
            <a:noAutofit/>
          </a:bodyPr>
          <a:lstStyle/>
          <a:p>
            <a:pPr>
              <a:lnSpc>
                <a:spcPct val="150000"/>
              </a:lnSpc>
              <a:buFontTx/>
              <a:buNone/>
            </a:pPr>
            <a:r>
              <a:rPr lang="zh-CN" altLang="en-US" sz="2400" dirty="0">
                <a:solidFill>
                  <a:srgbClr val="FFFF00"/>
                </a:solidFill>
              </a:rPr>
              <a:t>多重条件</a:t>
            </a:r>
          </a:p>
          <a:p>
            <a:pPr>
              <a:lnSpc>
                <a:spcPct val="150000"/>
              </a:lnSpc>
            </a:pPr>
            <a:r>
              <a:rPr lang="zh-CN" altLang="en-US" sz="2400" dirty="0"/>
              <a:t>当</a:t>
            </a:r>
            <a:r>
              <a:rPr lang="en-US" altLang="zh-CN" sz="2400" dirty="0"/>
              <a:t>WHERE</a:t>
            </a:r>
            <a:r>
              <a:rPr lang="zh-CN" altLang="en-US" sz="2400" dirty="0"/>
              <a:t>子句需要指定一个以上的查询条件时，则需要使用逻辑运算符</a:t>
            </a:r>
            <a:r>
              <a:rPr lang="en-US" altLang="zh-CN" sz="2400" dirty="0"/>
              <a:t>AND</a:t>
            </a:r>
            <a:r>
              <a:rPr lang="zh-CN" altLang="en-US" sz="2400" dirty="0"/>
              <a:t>、</a:t>
            </a:r>
            <a:r>
              <a:rPr lang="en-US" altLang="zh-CN" sz="2400" dirty="0"/>
              <a:t>OR</a:t>
            </a:r>
            <a:r>
              <a:rPr lang="zh-CN" altLang="en-US" sz="2400" dirty="0"/>
              <a:t>和</a:t>
            </a:r>
            <a:r>
              <a:rPr lang="en-US" altLang="zh-CN" sz="2400" dirty="0"/>
              <a:t>NOT</a:t>
            </a:r>
            <a:r>
              <a:rPr lang="zh-CN" altLang="en-US" sz="2400" dirty="0"/>
              <a:t>将其连结成复合的逻辑表达式。</a:t>
            </a:r>
          </a:p>
          <a:p>
            <a:pPr>
              <a:lnSpc>
                <a:spcPct val="150000"/>
              </a:lnSpc>
            </a:pPr>
            <a:r>
              <a:rPr lang="zh-CN" altLang="en-US" sz="2400" dirty="0"/>
              <a:t>例，查询选修</a:t>
            </a:r>
            <a:r>
              <a:rPr lang="en-US" altLang="zh-CN" sz="2400" dirty="0"/>
              <a:t>kc001</a:t>
            </a:r>
            <a:r>
              <a:rPr lang="zh-CN" altLang="en-US" sz="2400" dirty="0"/>
              <a:t>或</a:t>
            </a:r>
            <a:r>
              <a:rPr lang="en-US" altLang="zh-CN" sz="2400" dirty="0"/>
              <a:t>kc007</a:t>
            </a:r>
            <a:r>
              <a:rPr lang="zh-CN" altLang="en-US" sz="2400" dirty="0"/>
              <a:t>且此两科分数大于等于</a:t>
            </a:r>
            <a:r>
              <a:rPr lang="en-US" altLang="zh-CN" sz="2400" dirty="0"/>
              <a:t>85</a:t>
            </a:r>
            <a:r>
              <a:rPr lang="zh-CN" altLang="en-US" sz="2400" dirty="0"/>
              <a:t>分学生的的学号、课程号和成绩。</a:t>
            </a:r>
          </a:p>
          <a:p>
            <a:pPr>
              <a:lnSpc>
                <a:spcPct val="150000"/>
              </a:lnSpc>
              <a:buFontTx/>
              <a:buNone/>
            </a:pPr>
            <a:r>
              <a:rPr lang="en-US" altLang="zh-CN" sz="2400" dirty="0"/>
              <a:t>SELECT   </a:t>
            </a:r>
            <a:r>
              <a:rPr lang="en-US" altLang="zh-CN" sz="2400" dirty="0" err="1"/>
              <a:t>sno,cno,grade</a:t>
            </a:r>
            <a:endParaRPr lang="en-US" altLang="zh-CN" sz="2400" dirty="0"/>
          </a:p>
          <a:p>
            <a:pPr>
              <a:lnSpc>
                <a:spcPct val="150000"/>
              </a:lnSpc>
              <a:buFontTx/>
              <a:buNone/>
            </a:pPr>
            <a:r>
              <a:rPr lang="en-US" altLang="zh-CN" sz="2400" dirty="0"/>
              <a:t>FROM  </a:t>
            </a:r>
            <a:r>
              <a:rPr lang="en-US" altLang="zh-CN" sz="2400" dirty="0" err="1"/>
              <a:t>sc</a:t>
            </a:r>
            <a:endParaRPr lang="en-US" altLang="zh-CN" sz="2400" dirty="0"/>
          </a:p>
          <a:p>
            <a:pPr>
              <a:lnSpc>
                <a:spcPct val="150000"/>
              </a:lnSpc>
              <a:buFontTx/>
              <a:buNone/>
            </a:pPr>
            <a:r>
              <a:rPr lang="en-US" altLang="zh-CN" sz="2400" dirty="0"/>
              <a:t>WHERE  ( </a:t>
            </a:r>
            <a:r>
              <a:rPr lang="en-US" altLang="zh-CN" sz="2400" dirty="0" err="1"/>
              <a:t>cno</a:t>
            </a:r>
            <a:r>
              <a:rPr lang="en-US" altLang="zh-CN" sz="2400" dirty="0"/>
              <a:t>='kc001' or  </a:t>
            </a:r>
          </a:p>
          <a:p>
            <a:pPr>
              <a:lnSpc>
                <a:spcPct val="150000"/>
              </a:lnSpc>
              <a:buFontTx/>
              <a:buNone/>
            </a:pPr>
            <a:r>
              <a:rPr lang="en-US" altLang="zh-CN" sz="2400" dirty="0"/>
              <a:t>                 </a:t>
            </a:r>
            <a:r>
              <a:rPr lang="en-US" altLang="zh-CN" sz="2400" dirty="0" err="1"/>
              <a:t>cno</a:t>
            </a:r>
            <a:r>
              <a:rPr lang="en-US" altLang="zh-CN" sz="2400" dirty="0"/>
              <a:t>='kc007') </a:t>
            </a:r>
          </a:p>
          <a:p>
            <a:pPr>
              <a:lnSpc>
                <a:spcPct val="150000"/>
              </a:lnSpc>
              <a:buFontTx/>
              <a:buNone/>
            </a:pPr>
            <a:r>
              <a:rPr lang="en-US" altLang="zh-CN" sz="2400" dirty="0"/>
              <a:t>     and grade&gt;=85;</a:t>
            </a:r>
            <a:endParaRPr lang="zh-CN" altLang="en-US" sz="2400" dirty="0"/>
          </a:p>
        </p:txBody>
      </p:sp>
      <p:pic>
        <p:nvPicPr>
          <p:cNvPr id="739332" name="Picture 4">
            <a:extLst>
              <a:ext uri="{FF2B5EF4-FFF2-40B4-BE49-F238E27FC236}">
                <a16:creationId xmlns:a16="http://schemas.microsoft.com/office/drawing/2014/main" id="{527B43D7-4667-4C2C-8D4A-7836250F5E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4072" y="3789040"/>
            <a:ext cx="2447925"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7497421"/>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95043" y="103463"/>
            <a:ext cx="307890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WHERE</a:t>
            </a:r>
            <a:r>
              <a:rPr lang="zh-CN" altLang="en-US" sz="4000" b="1" dirty="0">
                <a:solidFill>
                  <a:srgbClr val="FFFFCC"/>
                </a:solidFill>
                <a:effectLst>
                  <a:outerShdw blurRad="38100" dist="38100" dir="2700000" algn="tl">
                    <a:srgbClr val="000000"/>
                  </a:outerShdw>
                </a:effectLst>
              </a:rPr>
              <a:t>子句</a:t>
            </a:r>
          </a:p>
        </p:txBody>
      </p:sp>
      <p:sp>
        <p:nvSpPr>
          <p:cNvPr id="12" name="Rectangle 4"/>
          <p:cNvSpPr txBox="1">
            <a:spLocks noChangeArrowheads="1"/>
          </p:cNvSpPr>
          <p:nvPr/>
        </p:nvSpPr>
        <p:spPr bwMode="auto">
          <a:xfrm>
            <a:off x="551384" y="864422"/>
            <a:ext cx="9793088" cy="12334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eaLnBrk="1" hangingPunct="1">
              <a:spcAft>
                <a:spcPct val="25000"/>
              </a:spcAft>
              <a:buClr>
                <a:srgbClr val="FFFFFF"/>
              </a:buClr>
              <a:buFont typeface="Wingdings" pitchFamily="2" charset="2"/>
              <a:buChar char="§"/>
              <a:defRPr/>
            </a:pPr>
            <a:r>
              <a:rPr kumimoji="1" lang="zh-CN" altLang="en-US" sz="3600" kern="0" dirty="0">
                <a:solidFill>
                  <a:srgbClr val="FFFFFF"/>
                </a:solidFill>
                <a:latin typeface="楷体_GB2312" pitchFamily="49" charset="-122"/>
              </a:rPr>
              <a:t>复合条件</a:t>
            </a:r>
          </a:p>
          <a:p>
            <a:pPr marL="269875" indent="-269875" eaLnBrk="1" hangingPunct="1">
              <a:spcBef>
                <a:spcPct val="15000"/>
              </a:spcBef>
              <a:spcAft>
                <a:spcPct val="25000"/>
              </a:spcAft>
              <a:buClr>
                <a:srgbClr val="FFFFFF"/>
              </a:buClr>
              <a:buNone/>
              <a:defRPr/>
            </a:pPr>
            <a:r>
              <a:rPr kumimoji="1" lang="zh-CN" altLang="en-US" sz="3600" kern="0" dirty="0">
                <a:solidFill>
                  <a:srgbClr val="99FF33"/>
                </a:solidFill>
                <a:latin typeface="楷体_GB2312" pitchFamily="49" charset="-122"/>
              </a:rPr>
              <a:t>	</a:t>
            </a:r>
            <a:r>
              <a:rPr kumimoji="1" lang="zh-CN" altLang="en-US" sz="3600" kern="0" dirty="0">
                <a:latin typeface="楷体_GB2312" pitchFamily="49" charset="-122"/>
              </a:rPr>
              <a:t>用</a:t>
            </a:r>
            <a:r>
              <a:rPr kumimoji="1" lang="en-US" altLang="zh-CN" sz="3600" b="1" kern="0" dirty="0">
                <a:solidFill>
                  <a:srgbClr val="FFFF66"/>
                </a:solidFill>
                <a:latin typeface="楷体_GB2312" pitchFamily="49" charset="-122"/>
              </a:rPr>
              <a:t>AND,OR</a:t>
            </a:r>
            <a:r>
              <a:rPr kumimoji="1" lang="zh-CN" altLang="en-US" sz="3600" kern="0" dirty="0">
                <a:latin typeface="楷体_GB2312" pitchFamily="49" charset="-122"/>
              </a:rPr>
              <a:t>联接多个条件组成逻辑表达式</a:t>
            </a:r>
            <a:endParaRPr kumimoji="1" lang="en-US" altLang="zh-CN" sz="3600" kern="0" dirty="0">
              <a:latin typeface="楷体_GB2312" pitchFamily="49" charset="-122"/>
            </a:endParaRPr>
          </a:p>
        </p:txBody>
      </p:sp>
      <p:pic>
        <p:nvPicPr>
          <p:cNvPr id="13" name="Picture 7"/>
          <p:cNvPicPr>
            <a:picLocks noChangeAspect="1" noChangeArrowheads="1"/>
          </p:cNvPicPr>
          <p:nvPr/>
        </p:nvPicPr>
        <p:blipFill rotWithShape="1">
          <a:blip r:embed="rId4">
            <a:extLst>
              <a:ext uri="{28A0092B-C50C-407E-A947-70E740481C1C}">
                <a14:useLocalDpi xmlns:a14="http://schemas.microsoft.com/office/drawing/2010/main" val="0"/>
              </a:ext>
            </a:extLst>
          </a:blip>
          <a:srcRect l="6175" t="6983" r="806" b="9513"/>
          <a:stretch/>
        </p:blipFill>
        <p:spPr bwMode="auto">
          <a:xfrm>
            <a:off x="983432" y="2636912"/>
            <a:ext cx="7524817" cy="3024336"/>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4" name="AutoShape 8"/>
          <p:cNvSpPr>
            <a:spLocks noChangeArrowheads="1"/>
          </p:cNvSpPr>
          <p:nvPr/>
        </p:nvSpPr>
        <p:spPr bwMode="auto">
          <a:xfrm>
            <a:off x="6623438" y="4437112"/>
            <a:ext cx="4752528" cy="1940957"/>
          </a:xfrm>
          <a:prstGeom prst="wedgeRoundRectCallout">
            <a:avLst>
              <a:gd name="adj1" fmla="val -58506"/>
              <a:gd name="adj2" fmla="val -81269"/>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wrap="square" anchor="ctr">
            <a:spAutoFit/>
          </a:bodyPr>
          <a:lstStyle/>
          <a:p>
            <a:pPr algn="dist">
              <a:spcAft>
                <a:spcPct val="2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即性别为男且职称为讲师，或者性别为女且职称为助教的教师</a:t>
            </a:r>
          </a:p>
        </p:txBody>
      </p:sp>
    </p:spTree>
    <p:extLst>
      <p:ext uri="{BB962C8B-B14F-4D97-AF65-F5344CB8AC3E}">
        <p14:creationId xmlns:p14="http://schemas.microsoft.com/office/powerpoint/2010/main" val="955306550"/>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5" name="arrow.wav"/>
          </p:stSnd>
        </p:sndAc>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4486698" y="3861048"/>
            <a:ext cx="6397604" cy="2675876"/>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5" name="Rectangle 2"/>
          <p:cNvSpPr>
            <a:spLocks noGrp="1" noChangeArrowheads="1"/>
          </p:cNvSpPr>
          <p:nvPr>
            <p:ph type="title"/>
          </p:nvPr>
        </p:nvSpPr>
        <p:spPr>
          <a:xfrm>
            <a:off x="695400" y="50458"/>
            <a:ext cx="3534154"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DISTINCT</a:t>
            </a:r>
            <a:r>
              <a:rPr lang="zh-CN" altLang="en-US" sz="4000" b="1" dirty="0">
                <a:solidFill>
                  <a:srgbClr val="FFFFCC"/>
                </a:solidFill>
                <a:effectLst>
                  <a:outerShdw blurRad="38100" dist="38100" dir="2700000" algn="tl">
                    <a:srgbClr val="000000"/>
                  </a:outerShdw>
                </a:effectLst>
              </a:rPr>
              <a:t>短语</a:t>
            </a:r>
          </a:p>
        </p:txBody>
      </p:sp>
      <p:sp>
        <p:nvSpPr>
          <p:cNvPr id="14" name="Rectangle 4"/>
          <p:cNvSpPr txBox="1">
            <a:spLocks noChangeArrowheads="1"/>
          </p:cNvSpPr>
          <p:nvPr/>
        </p:nvSpPr>
        <p:spPr bwMode="auto">
          <a:xfrm>
            <a:off x="695401" y="841877"/>
            <a:ext cx="10729192" cy="132343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eaLnBrk="1" hangingPunct="1">
              <a:spcBef>
                <a:spcPct val="80000"/>
              </a:spcBef>
              <a:spcAft>
                <a:spcPct val="0"/>
              </a:spcAft>
              <a:buClr>
                <a:srgbClr val="FFFFFF"/>
              </a:buClr>
              <a:buNone/>
              <a:defRPr/>
            </a:pPr>
            <a:r>
              <a:rPr kumimoji="1" lang="zh-CN" altLang="en-US" sz="4000" kern="0" dirty="0">
                <a:solidFill>
                  <a:srgbClr val="FFFFFF"/>
                </a:solidFill>
                <a:latin typeface="楷体_GB2312" pitchFamily="49" charset="-122"/>
              </a:rPr>
              <a:t>用</a:t>
            </a:r>
            <a:r>
              <a:rPr kumimoji="1" lang="en-US" altLang="zh-CN" sz="4000" b="1" kern="0" dirty="0">
                <a:solidFill>
                  <a:srgbClr val="66FFFF"/>
                </a:solidFill>
                <a:latin typeface="楷体_GB2312" pitchFamily="49" charset="-122"/>
              </a:rPr>
              <a:t>DISTINCT</a:t>
            </a:r>
            <a:r>
              <a:rPr kumimoji="1" lang="zh-CN" altLang="en-US" sz="4000" kern="0" dirty="0">
                <a:solidFill>
                  <a:srgbClr val="FFFFFF"/>
                </a:solidFill>
                <a:latin typeface="楷体_GB2312" pitchFamily="49" charset="-122"/>
              </a:rPr>
              <a:t>可消除查询结果中</a:t>
            </a:r>
            <a:r>
              <a:rPr kumimoji="1" lang="zh-CN" altLang="en-US" sz="4000" kern="0" dirty="0">
                <a:solidFill>
                  <a:srgbClr val="FFCC00"/>
                </a:solidFill>
                <a:latin typeface="楷体_GB2312" pitchFamily="49" charset="-122"/>
              </a:rPr>
              <a:t>重复的行</a:t>
            </a:r>
            <a:r>
              <a:rPr kumimoji="1" lang="zh-CN" altLang="en-US" sz="4000" kern="0" dirty="0">
                <a:solidFill>
                  <a:srgbClr val="FFFFFF"/>
                </a:solidFill>
                <a:latin typeface="楷体_GB2312" pitchFamily="49" charset="-122"/>
              </a:rPr>
              <a:t>，即让结果无重复行。</a:t>
            </a:r>
            <a:endParaRPr kumimoji="1" lang="zh-CN" altLang="en-US" sz="4000" kern="0" dirty="0">
              <a:solidFill>
                <a:srgbClr val="FFCC00"/>
              </a:solidFill>
              <a:latin typeface="楷体_GB2312" pitchFamily="49" charset="-122"/>
            </a:endParaRPr>
          </a:p>
        </p:txBody>
      </p:sp>
      <p:sp>
        <p:nvSpPr>
          <p:cNvPr id="18" name="Line 15"/>
          <p:cNvSpPr>
            <a:spLocks noChangeShapeType="1"/>
          </p:cNvSpPr>
          <p:nvPr/>
        </p:nvSpPr>
        <p:spPr bwMode="auto">
          <a:xfrm>
            <a:off x="5736795" y="4448692"/>
            <a:ext cx="1882215" cy="0"/>
          </a:xfrm>
          <a:prstGeom prst="line">
            <a:avLst/>
          </a:prstGeom>
          <a:noFill/>
          <a:ln w="28575" cap="sq">
            <a:solidFill>
              <a:srgbClr val="FF0000"/>
            </a:solidFill>
            <a:round/>
            <a:headEnd/>
            <a:tailEnd/>
          </a:ln>
          <a:effectLst/>
        </p:spPr>
        <p:txBody>
          <a:bodyPr lIns="72000" tIns="72000" rIns="72000" bIns="72000"/>
          <a:lstStyle/>
          <a:p>
            <a:pPr>
              <a:defRPr/>
            </a:pPr>
            <a:endParaRPr lang="zh-CN" altLang="en-US" kern="0">
              <a:solidFill>
                <a:sysClr val="windowText" lastClr="000000"/>
              </a:solidFill>
            </a:endParaRPr>
          </a:p>
        </p:txBody>
      </p:sp>
      <p:sp>
        <p:nvSpPr>
          <p:cNvPr id="19" name="AutoShape 16"/>
          <p:cNvSpPr>
            <a:spLocks noChangeArrowheads="1"/>
          </p:cNvSpPr>
          <p:nvPr/>
        </p:nvSpPr>
        <p:spPr bwMode="auto">
          <a:xfrm>
            <a:off x="6089145" y="5301208"/>
            <a:ext cx="3192709" cy="1080115"/>
          </a:xfrm>
          <a:prstGeom prst="wedgeRoundRectCallout">
            <a:avLst>
              <a:gd name="adj1" fmla="val -57282"/>
              <a:gd name="adj2" fmla="val -19139"/>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ju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只有这</a:t>
            </a:r>
            <a:r>
              <a:rPr lang="en-US" altLang="zh-CN" sz="3600" kern="0" dirty="0">
                <a:solidFill>
                  <a:srgbClr val="FFFFCC"/>
                </a:solidFill>
                <a:effectLst>
                  <a:outerShdw blurRad="38100" dist="38100" dir="2700000" algn="tl">
                    <a:srgbClr val="000000"/>
                  </a:outerShdw>
                </a:effectLst>
                <a:latin typeface="Times New Roman" pitchFamily="18" charset="0"/>
              </a:rPr>
              <a:t>4</a:t>
            </a:r>
            <a:r>
              <a:rPr lang="zh-CN" altLang="en-US" sz="3600" kern="0" dirty="0">
                <a:solidFill>
                  <a:srgbClr val="FFFFCC"/>
                </a:solidFill>
                <a:effectLst>
                  <a:outerShdw blurRad="38100" dist="38100" dir="2700000" algn="tl">
                    <a:srgbClr val="000000"/>
                  </a:outerShdw>
                </a:effectLst>
                <a:latin typeface="Times New Roman" pitchFamily="18" charset="0"/>
              </a:rPr>
              <a:t>种不同的职称取值</a:t>
            </a:r>
          </a:p>
        </p:txBody>
      </p:sp>
      <p:pic>
        <p:nvPicPr>
          <p:cNvPr id="9" name="图片 8"/>
          <p:cNvPicPr>
            <a:picLocks noChangeAspect="1"/>
          </p:cNvPicPr>
          <p:nvPr/>
        </p:nvPicPr>
        <p:blipFill>
          <a:blip r:embed="rId5"/>
          <a:stretch>
            <a:fillRect/>
          </a:stretch>
        </p:blipFill>
        <p:spPr>
          <a:xfrm>
            <a:off x="5159896" y="1815662"/>
            <a:ext cx="5724406"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10" name="AutoShape 14"/>
          <p:cNvSpPr>
            <a:spLocks noChangeArrowheads="1"/>
          </p:cNvSpPr>
          <p:nvPr/>
        </p:nvSpPr>
        <p:spPr bwMode="auto">
          <a:xfrm>
            <a:off x="2351584" y="2809585"/>
            <a:ext cx="1296144" cy="1238829"/>
          </a:xfrm>
          <a:prstGeom prst="wedgeRoundRectCallout">
            <a:avLst>
              <a:gd name="adj1" fmla="val 127027"/>
              <a:gd name="adj2" fmla="val -50622"/>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a:solidFill>
                  <a:srgbClr val="FFFFCC"/>
                </a:solidFill>
                <a:effectLst>
                  <a:outerShdw blurRad="38100" dist="38100" dir="2700000" algn="tl">
                    <a:srgbClr val="000000"/>
                  </a:outerShdw>
                </a:effectLst>
                <a:latin typeface="Times New Roman" pitchFamily="18" charset="0"/>
              </a:rPr>
              <a:t>原始数据</a:t>
            </a:r>
          </a:p>
        </p:txBody>
      </p:sp>
    </p:spTree>
    <p:extLst>
      <p:ext uri="{BB962C8B-B14F-4D97-AF65-F5344CB8AC3E}">
        <p14:creationId xmlns:p14="http://schemas.microsoft.com/office/powerpoint/2010/main" val="320439256"/>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687768" y="2924944"/>
            <a:ext cx="7029154" cy="3545680"/>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5" name="Rectangle 2"/>
          <p:cNvSpPr>
            <a:spLocks noGrp="1" noChangeArrowheads="1"/>
          </p:cNvSpPr>
          <p:nvPr>
            <p:ph type="title"/>
          </p:nvPr>
        </p:nvSpPr>
        <p:spPr>
          <a:xfrm>
            <a:off x="712444" y="44624"/>
            <a:ext cx="2215204"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TOP</a:t>
            </a:r>
            <a:r>
              <a:rPr lang="zh-CN" altLang="en-US" sz="4000" b="1" dirty="0">
                <a:solidFill>
                  <a:srgbClr val="FFFFCC"/>
                </a:solidFill>
                <a:effectLst>
                  <a:outerShdw blurRad="38100" dist="38100" dir="2700000" algn="tl">
                    <a:srgbClr val="000000"/>
                  </a:outerShdw>
                </a:effectLst>
              </a:rPr>
              <a:t>短语</a:t>
            </a:r>
          </a:p>
        </p:txBody>
      </p:sp>
      <p:sp>
        <p:nvSpPr>
          <p:cNvPr id="21" name="Rectangle 4"/>
          <p:cNvSpPr txBox="1">
            <a:spLocks noChangeArrowheads="1"/>
          </p:cNvSpPr>
          <p:nvPr/>
        </p:nvSpPr>
        <p:spPr bwMode="auto">
          <a:xfrm>
            <a:off x="712444" y="859335"/>
            <a:ext cx="8332730" cy="707886"/>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lvl="0" indent="0" eaLnBrk="1" hangingPunct="1">
              <a:buNone/>
            </a:pPr>
            <a:r>
              <a:rPr kumimoji="1" lang="zh-CN" altLang="en-US" sz="4000" kern="0" dirty="0">
                <a:solidFill>
                  <a:srgbClr val="FFFFFF"/>
                </a:solidFill>
                <a:latin typeface="微软雅黑" pitchFamily="34" charset="-122"/>
              </a:rPr>
              <a:t>用 </a:t>
            </a:r>
            <a:r>
              <a:rPr kumimoji="1" lang="en-US" altLang="zh-CN" sz="4000" kern="0" dirty="0">
                <a:solidFill>
                  <a:srgbClr val="FFFF00"/>
                </a:solidFill>
                <a:latin typeface="微软雅黑" pitchFamily="34" charset="-122"/>
              </a:rPr>
              <a:t>TOP n [percent]</a:t>
            </a:r>
            <a:r>
              <a:rPr kumimoji="1" lang="zh-CN" altLang="en-US" sz="4000" kern="0" dirty="0">
                <a:solidFill>
                  <a:srgbClr val="FFFFFF"/>
                </a:solidFill>
                <a:latin typeface="微软雅黑" pitchFamily="34" charset="-122"/>
              </a:rPr>
              <a:t> 查询前 </a:t>
            </a:r>
            <a:r>
              <a:rPr kumimoji="1" lang="en-US" altLang="zh-CN" sz="4000" kern="0" dirty="0">
                <a:solidFill>
                  <a:srgbClr val="FFFFFF"/>
                </a:solidFill>
                <a:latin typeface="微软雅黑" pitchFamily="34" charset="-122"/>
              </a:rPr>
              <a:t>n[%] </a:t>
            </a:r>
            <a:r>
              <a:rPr kumimoji="1" lang="zh-CN" altLang="en-US" sz="4000" kern="0" dirty="0">
                <a:solidFill>
                  <a:srgbClr val="FFFFFF"/>
                </a:solidFill>
                <a:latin typeface="微软雅黑" pitchFamily="34" charset="-122"/>
              </a:rPr>
              <a:t>行</a:t>
            </a:r>
          </a:p>
        </p:txBody>
      </p:sp>
      <p:sp>
        <p:nvSpPr>
          <p:cNvPr id="26" name="AutoShape 14"/>
          <p:cNvSpPr>
            <a:spLocks noChangeArrowheads="1"/>
          </p:cNvSpPr>
          <p:nvPr/>
        </p:nvSpPr>
        <p:spPr bwMode="auto">
          <a:xfrm>
            <a:off x="7857302" y="4373996"/>
            <a:ext cx="2375743" cy="647576"/>
          </a:xfrm>
          <a:prstGeom prst="wedgeRoundRectCallout">
            <a:avLst>
              <a:gd name="adj1" fmla="val -53135"/>
              <a:gd name="adj2" fmla="val -99731"/>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只要前</a:t>
            </a:r>
            <a:r>
              <a:rPr lang="en-US" altLang="zh-CN" sz="3600" kern="0" dirty="0">
                <a:solidFill>
                  <a:srgbClr val="FFFFCC"/>
                </a:solidFill>
                <a:effectLst>
                  <a:outerShdw blurRad="38100" dist="38100" dir="2700000" algn="tl">
                    <a:srgbClr val="000000"/>
                  </a:outerShdw>
                </a:effectLst>
                <a:latin typeface="Times New Roman" pitchFamily="18" charset="0"/>
              </a:rPr>
              <a:t>5</a:t>
            </a:r>
            <a:r>
              <a:rPr lang="zh-CN" altLang="en-US" sz="3600" kern="0" dirty="0">
                <a:solidFill>
                  <a:srgbClr val="FFFFCC"/>
                </a:solidFill>
                <a:effectLst>
                  <a:outerShdw blurRad="38100" dist="38100" dir="2700000" algn="tl">
                    <a:srgbClr val="000000"/>
                  </a:outerShdw>
                </a:effectLst>
                <a:latin typeface="Times New Roman" pitchFamily="18" charset="0"/>
              </a:rPr>
              <a:t>行</a:t>
            </a:r>
          </a:p>
        </p:txBody>
      </p:sp>
      <p:sp>
        <p:nvSpPr>
          <p:cNvPr id="11" name="Rectangle 85"/>
          <p:cNvSpPr>
            <a:spLocks noChangeArrowheads="1"/>
          </p:cNvSpPr>
          <p:nvPr/>
        </p:nvSpPr>
        <p:spPr bwMode="auto">
          <a:xfrm>
            <a:off x="1631504" y="1805481"/>
            <a:ext cx="7141682" cy="647452"/>
          </a:xfrm>
          <a:prstGeom prst="rect">
            <a:avLst/>
          </a:prstGeom>
          <a:solidFill>
            <a:srgbClr val="0000CC"/>
          </a:solidFill>
          <a:ln w="28575" cap="sq">
            <a:solidFill>
              <a:srgbClr val="FFFFCC"/>
            </a:solidFill>
            <a:miter lim="800000"/>
            <a:headEnd/>
            <a:tailEnd/>
          </a:ln>
          <a:effectLst>
            <a:outerShdw dist="107763" dir="2700000" algn="ctr" rotWithShape="0">
              <a:srgbClr val="000514">
                <a:alpha val="50000"/>
              </a:srgbClr>
            </a:outerShdw>
          </a:effectLst>
        </p:spPr>
        <p:txBody>
          <a:bodyPr lIns="0" tIns="0" rIns="0" bIns="0" anchor="ctr"/>
          <a:lstStyle/>
          <a:p>
            <a:pPr algn="ctr">
              <a:spcAft>
                <a:spcPct val="0"/>
              </a:spcAft>
              <a:defRPr/>
            </a:pPr>
            <a:r>
              <a:rPr lang="en-US" altLang="zh-CN" sz="4000" kern="0" dirty="0" err="1">
                <a:solidFill>
                  <a:schemeClr val="bg1"/>
                </a:solidFill>
                <a:effectLst>
                  <a:outerShdw blurRad="38100" dist="38100" dir="2700000" algn="tl">
                    <a:srgbClr val="000000"/>
                  </a:outerShdw>
                </a:effectLst>
                <a:latin typeface="Times New Roman" pitchFamily="18" charset="0"/>
              </a:rPr>
              <a:t>Mysql</a:t>
            </a:r>
            <a:r>
              <a:rPr lang="en-US" altLang="zh-CN" sz="4000" kern="0" dirty="0">
                <a:solidFill>
                  <a:schemeClr val="bg1"/>
                </a:solidFill>
                <a:effectLst>
                  <a:outerShdw blurRad="38100" dist="38100" dir="2700000" algn="tl">
                    <a:srgbClr val="000000"/>
                  </a:outerShdw>
                </a:effectLst>
                <a:latin typeface="Times New Roman" pitchFamily="18" charset="0"/>
              </a:rPr>
              <a:t> </a:t>
            </a:r>
            <a:r>
              <a:rPr lang="zh-CN" altLang="en-US" sz="4000" kern="0" dirty="0">
                <a:solidFill>
                  <a:schemeClr val="bg1"/>
                </a:solidFill>
                <a:effectLst>
                  <a:outerShdw blurRad="38100" dist="38100" dir="2700000" algn="tl">
                    <a:srgbClr val="000000"/>
                  </a:outerShdw>
                </a:effectLst>
                <a:latin typeface="Times New Roman" pitchFamily="18" charset="0"/>
              </a:rPr>
              <a:t>用 </a:t>
            </a:r>
            <a:r>
              <a:rPr lang="en-US" altLang="zh-CN" sz="4000" kern="0" dirty="0">
                <a:solidFill>
                  <a:schemeClr val="bg1"/>
                </a:solidFill>
                <a:effectLst>
                  <a:outerShdw blurRad="38100" dist="38100" dir="2700000" algn="tl">
                    <a:srgbClr val="000000"/>
                  </a:outerShdw>
                </a:effectLst>
                <a:latin typeface="Times New Roman" pitchFamily="18" charset="0"/>
              </a:rPr>
              <a:t>Limit </a:t>
            </a:r>
            <a:r>
              <a:rPr lang="zh-CN" altLang="en-US" sz="4000" kern="0" dirty="0">
                <a:solidFill>
                  <a:schemeClr val="bg1"/>
                </a:solidFill>
                <a:effectLst>
                  <a:outerShdw blurRad="38100" dist="38100" dir="2700000" algn="tl">
                    <a:srgbClr val="000000"/>
                  </a:outerShdw>
                </a:effectLst>
                <a:latin typeface="Times New Roman" pitchFamily="18" charset="0"/>
              </a:rPr>
              <a:t>子句实现 </a:t>
            </a:r>
          </a:p>
        </p:txBody>
      </p:sp>
      <p:sp>
        <p:nvSpPr>
          <p:cNvPr id="7" name="Line 15"/>
          <p:cNvSpPr>
            <a:spLocks noChangeShapeType="1"/>
          </p:cNvSpPr>
          <p:nvPr/>
        </p:nvSpPr>
        <p:spPr bwMode="auto">
          <a:xfrm>
            <a:off x="2322951" y="4051746"/>
            <a:ext cx="1309033" cy="0"/>
          </a:xfrm>
          <a:prstGeom prst="line">
            <a:avLst/>
          </a:prstGeom>
          <a:noFill/>
          <a:ln w="28575" cap="sq">
            <a:solidFill>
              <a:srgbClr val="FF0000"/>
            </a:solidFill>
            <a:round/>
            <a:headEnd/>
            <a:tailEnd/>
          </a:ln>
          <a:effectLst/>
        </p:spPr>
        <p:txBody>
          <a:bodyPr lIns="72000" tIns="72000" rIns="72000" bIns="72000"/>
          <a:lstStyle/>
          <a:p>
            <a:pPr>
              <a:defRPr/>
            </a:pPr>
            <a:endParaRPr lang="zh-CN" altLang="en-US" kern="0">
              <a:solidFill>
                <a:sysClr val="windowText" lastClr="000000"/>
              </a:solidFill>
            </a:endParaRPr>
          </a:p>
        </p:txBody>
      </p:sp>
      <p:sp>
        <p:nvSpPr>
          <p:cNvPr id="9" name="文本框 8">
            <a:extLst>
              <a:ext uri="{FF2B5EF4-FFF2-40B4-BE49-F238E27FC236}">
                <a16:creationId xmlns:a16="http://schemas.microsoft.com/office/drawing/2014/main" id="{726D8754-392B-4841-8AEF-341473713852}"/>
              </a:ext>
            </a:extLst>
          </p:cNvPr>
          <p:cNvSpPr txBox="1"/>
          <p:nvPr/>
        </p:nvSpPr>
        <p:spPr>
          <a:xfrm>
            <a:off x="9045173" y="1789566"/>
            <a:ext cx="2746290" cy="1015663"/>
          </a:xfrm>
          <a:prstGeom prst="rect">
            <a:avLst/>
          </a:prstGeom>
          <a:noFill/>
        </p:spPr>
        <p:txBody>
          <a:bodyPr wrap="square">
            <a:spAutoFit/>
          </a:bodyPr>
          <a:lstStyle/>
          <a:p>
            <a:r>
              <a:rPr lang="en-US" altLang="zh-CN" sz="2000" dirty="0">
                <a:solidFill>
                  <a:srgbClr val="FFFF00"/>
                </a:solidFill>
              </a:rPr>
              <a:t>SELECT * FROM products ORDER BY price DESC LIMIT 5, 5;</a:t>
            </a:r>
            <a:endParaRPr lang="zh-CN" altLang="en-US" sz="2000" dirty="0">
              <a:solidFill>
                <a:srgbClr val="FFFF00"/>
              </a:solidFill>
            </a:endParaRPr>
          </a:p>
        </p:txBody>
      </p:sp>
    </p:spTree>
    <p:extLst>
      <p:ext uri="{BB962C8B-B14F-4D97-AF65-F5344CB8AC3E}">
        <p14:creationId xmlns:p14="http://schemas.microsoft.com/office/powerpoint/2010/main" val="1958197990"/>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5" name="arrow.wav"/>
          </p:stSnd>
        </p:sndAc>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11424" y="3684365"/>
            <a:ext cx="5724406" cy="2638205"/>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5" name="Rectangle 2"/>
          <p:cNvSpPr>
            <a:spLocks noGrp="1" noChangeArrowheads="1"/>
          </p:cNvSpPr>
          <p:nvPr>
            <p:ph type="title"/>
          </p:nvPr>
        </p:nvSpPr>
        <p:spPr>
          <a:xfrm>
            <a:off x="767408" y="54852"/>
            <a:ext cx="4019865"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ORDER  BY</a:t>
            </a:r>
            <a:r>
              <a:rPr lang="zh-CN" altLang="en-US" sz="4000" b="1" dirty="0">
                <a:solidFill>
                  <a:srgbClr val="FFFFCC"/>
                </a:solidFill>
                <a:effectLst>
                  <a:outerShdw blurRad="38100" dist="38100" dir="2700000" algn="tl">
                    <a:srgbClr val="000000"/>
                  </a:outerShdw>
                </a:effectLst>
              </a:rPr>
              <a:t>子句</a:t>
            </a:r>
          </a:p>
        </p:txBody>
      </p:sp>
      <p:sp>
        <p:nvSpPr>
          <p:cNvPr id="28" name="Rectangle 4"/>
          <p:cNvSpPr txBox="1">
            <a:spLocks noChangeArrowheads="1"/>
          </p:cNvSpPr>
          <p:nvPr/>
        </p:nvSpPr>
        <p:spPr bwMode="auto">
          <a:xfrm>
            <a:off x="7566829" y="459421"/>
            <a:ext cx="4625171" cy="147732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eaLnBrk="1" hangingPunct="1">
              <a:spcBef>
                <a:spcPts val="0"/>
              </a:spcBef>
              <a:spcAft>
                <a:spcPct val="25000"/>
              </a:spcAft>
              <a:buClr>
                <a:schemeClr val="tx1"/>
              </a:buClr>
              <a:buNone/>
              <a:defRPr/>
            </a:pPr>
            <a:r>
              <a:rPr kumimoji="1" lang="en-US" altLang="zh-CN" sz="4000" b="1" dirty="0">
                <a:solidFill>
                  <a:srgbClr val="FFFF66"/>
                </a:solidFill>
                <a:latin typeface="楷体_GB2312" pitchFamily="49" charset="-122"/>
              </a:rPr>
              <a:t>ASC</a:t>
            </a:r>
            <a:r>
              <a:rPr kumimoji="1" lang="en-US" altLang="zh-CN" sz="4000" dirty="0">
                <a:latin typeface="楷体_GB2312" pitchFamily="49" charset="-122"/>
              </a:rPr>
              <a:t>(</a:t>
            </a:r>
            <a:r>
              <a:rPr kumimoji="1" lang="zh-CN" altLang="en-US" sz="4000" dirty="0">
                <a:latin typeface="楷体_GB2312" pitchFamily="49" charset="-122"/>
              </a:rPr>
              <a:t>缺省</a:t>
            </a:r>
            <a:r>
              <a:rPr kumimoji="1" lang="en-US" altLang="zh-CN" sz="4000" dirty="0">
                <a:latin typeface="楷体_GB2312" pitchFamily="49" charset="-122"/>
              </a:rPr>
              <a:t>)</a:t>
            </a:r>
            <a:r>
              <a:rPr kumimoji="1" lang="zh-CN" altLang="en-US" sz="4000" dirty="0">
                <a:latin typeface="楷体_GB2312" pitchFamily="49" charset="-122"/>
              </a:rPr>
              <a:t>表示升序  </a:t>
            </a:r>
            <a:endParaRPr kumimoji="1" lang="en-US" altLang="zh-CN" sz="4000" dirty="0">
              <a:latin typeface="楷体_GB2312" pitchFamily="49" charset="-122"/>
            </a:endParaRPr>
          </a:p>
          <a:p>
            <a:pPr marL="0" indent="0" eaLnBrk="1" hangingPunct="1">
              <a:spcBef>
                <a:spcPts val="0"/>
              </a:spcBef>
              <a:spcAft>
                <a:spcPct val="25000"/>
              </a:spcAft>
              <a:buClr>
                <a:schemeClr val="tx1"/>
              </a:buClr>
              <a:buNone/>
              <a:defRPr/>
            </a:pPr>
            <a:r>
              <a:rPr kumimoji="1" lang="en-US" altLang="zh-CN" sz="4000" b="1" dirty="0">
                <a:solidFill>
                  <a:srgbClr val="FFFF66"/>
                </a:solidFill>
                <a:latin typeface="楷体_GB2312" pitchFamily="49" charset="-122"/>
              </a:rPr>
              <a:t>DESC </a:t>
            </a:r>
            <a:r>
              <a:rPr kumimoji="1" lang="zh-CN" altLang="en-US" sz="4000" dirty="0">
                <a:latin typeface="楷体_GB2312" pitchFamily="49" charset="-122"/>
              </a:rPr>
              <a:t>表示降序。</a:t>
            </a:r>
          </a:p>
        </p:txBody>
      </p:sp>
      <p:sp>
        <p:nvSpPr>
          <p:cNvPr id="32" name="AutoShape 17"/>
          <p:cNvSpPr>
            <a:spLocks noChangeArrowheads="1"/>
          </p:cNvSpPr>
          <p:nvPr/>
        </p:nvSpPr>
        <p:spPr bwMode="auto">
          <a:xfrm>
            <a:off x="6751626" y="5488578"/>
            <a:ext cx="2185884" cy="1206240"/>
          </a:xfrm>
          <a:prstGeom prst="wedgeRoundRectCallout">
            <a:avLst>
              <a:gd name="adj1" fmla="val -90369"/>
              <a:gd name="adj2" fmla="val 4226"/>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工资从小到大排列</a:t>
            </a:r>
          </a:p>
        </p:txBody>
      </p:sp>
      <p:sp>
        <p:nvSpPr>
          <p:cNvPr id="33" name="AutoShape 18"/>
          <p:cNvSpPr>
            <a:spLocks noChangeArrowheads="1"/>
          </p:cNvSpPr>
          <p:nvPr/>
        </p:nvSpPr>
        <p:spPr bwMode="auto">
          <a:xfrm>
            <a:off x="5322156" y="3907270"/>
            <a:ext cx="5526371" cy="1266127"/>
          </a:xfrm>
          <a:prstGeom prst="wedgeRoundRectCallout">
            <a:avLst>
              <a:gd name="adj1" fmla="val -86234"/>
              <a:gd name="adj2" fmla="val -15628"/>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just">
              <a:spcAft>
                <a:spcPct val="40000"/>
              </a:spcAft>
              <a:buClr>
                <a:srgbClr val="66FF33"/>
              </a:buClr>
              <a:buSzPct val="85000"/>
              <a:defRPr/>
            </a:pPr>
            <a:r>
              <a:rPr lang="en-US" altLang="zh-CN" sz="3600" kern="0" dirty="0">
                <a:solidFill>
                  <a:srgbClr val="00FFFF"/>
                </a:solidFill>
                <a:effectLst>
                  <a:outerShdw blurRad="38100" dist="38100" dir="2700000" algn="tl">
                    <a:srgbClr val="000000"/>
                  </a:outerShdw>
                </a:effectLst>
                <a:latin typeface="Times New Roman" pitchFamily="18" charset="0"/>
              </a:rPr>
              <a:t>Order by </a:t>
            </a:r>
            <a:r>
              <a:rPr lang="zh-CN" altLang="en-US" sz="3600" kern="0" dirty="0">
                <a:solidFill>
                  <a:srgbClr val="00FFFF"/>
                </a:solidFill>
                <a:effectLst>
                  <a:outerShdw blurRad="38100" dist="38100" dir="2700000" algn="tl">
                    <a:srgbClr val="000000"/>
                  </a:outerShdw>
                </a:effectLst>
                <a:latin typeface="Times New Roman" pitchFamily="18" charset="0"/>
              </a:rPr>
              <a:t>工资</a:t>
            </a:r>
            <a:r>
              <a:rPr lang="en-US" altLang="zh-CN" sz="3600" kern="0" dirty="0">
                <a:solidFill>
                  <a:srgbClr val="00FFFF"/>
                </a:solidFill>
                <a:effectLst>
                  <a:outerShdw blurRad="38100" dist="38100" dir="2700000" algn="tl">
                    <a:srgbClr val="000000"/>
                  </a:outerShdw>
                </a:effectLst>
                <a:latin typeface="Times New Roman" pitchFamily="18" charset="0"/>
              </a:rPr>
              <a:t> DESC</a:t>
            </a:r>
            <a:r>
              <a:rPr lang="zh-CN" altLang="en-US" sz="3600" kern="0" dirty="0">
                <a:solidFill>
                  <a:srgbClr val="FFFFCC"/>
                </a:solidFill>
                <a:effectLst>
                  <a:outerShdw blurRad="38100" dist="38100" dir="2700000" algn="tl">
                    <a:srgbClr val="000000"/>
                  </a:outerShdw>
                </a:effectLst>
                <a:latin typeface="Times New Roman" pitchFamily="18" charset="0"/>
              </a:rPr>
              <a:t>就可实现降序排列</a:t>
            </a:r>
          </a:p>
        </p:txBody>
      </p:sp>
      <p:sp>
        <p:nvSpPr>
          <p:cNvPr id="34" name="AutoShape 19"/>
          <p:cNvSpPr>
            <a:spLocks noChangeArrowheads="1"/>
          </p:cNvSpPr>
          <p:nvPr/>
        </p:nvSpPr>
        <p:spPr bwMode="auto">
          <a:xfrm>
            <a:off x="5052542" y="5347443"/>
            <a:ext cx="539229" cy="1034693"/>
          </a:xfrm>
          <a:prstGeom prst="roundRect">
            <a:avLst>
              <a:gd name="adj" fmla="val 2940"/>
            </a:avLst>
          </a:prstGeom>
          <a:solidFill>
            <a:srgbClr val="008000">
              <a:alpha val="20000"/>
            </a:srgbClr>
          </a:solidFill>
          <a:ln w="9525" cap="sq">
            <a:solidFill>
              <a:srgbClr val="0000CC"/>
            </a:solidFill>
            <a:round/>
            <a:headEnd/>
            <a:tailEnd/>
          </a:ln>
        </p:spPr>
        <p:txBody>
          <a:bodyPr lIns="72000" tIns="72000" rIns="72000" bIns="72000" anchor="ctr"/>
          <a:lstStyle/>
          <a:p>
            <a:pPr>
              <a:buSzTx/>
              <a:buFontTx/>
              <a:buNone/>
            </a:pPr>
            <a:endParaRPr lang="zh-CN" altLang="en-US" sz="2400">
              <a:solidFill>
                <a:srgbClr val="CCFFCC"/>
              </a:solidFill>
              <a:latin typeface="Times New Roman" pitchFamily="18" charset="0"/>
            </a:endParaRPr>
          </a:p>
        </p:txBody>
      </p:sp>
      <p:sp>
        <p:nvSpPr>
          <p:cNvPr id="35" name="Rectangle 4"/>
          <p:cNvSpPr txBox="1">
            <a:spLocks noChangeArrowheads="1"/>
          </p:cNvSpPr>
          <p:nvPr/>
        </p:nvSpPr>
        <p:spPr bwMode="auto">
          <a:xfrm>
            <a:off x="407368" y="913686"/>
            <a:ext cx="6686446" cy="707886"/>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lvl="0" eaLnBrk="1" hangingPunct="1"/>
            <a:r>
              <a:rPr kumimoji="1" lang="zh-CN" altLang="en-US" sz="4000" kern="0" dirty="0">
                <a:solidFill>
                  <a:srgbClr val="FFFFFF"/>
                </a:solidFill>
                <a:latin typeface="微软雅黑" pitchFamily="34" charset="-122"/>
              </a:rPr>
              <a:t>控制结果中元组的排序方式</a:t>
            </a:r>
          </a:p>
        </p:txBody>
      </p:sp>
      <p:pic>
        <p:nvPicPr>
          <p:cNvPr id="11" name="图片 10"/>
          <p:cNvPicPr>
            <a:picLocks noChangeAspect="1"/>
          </p:cNvPicPr>
          <p:nvPr/>
        </p:nvPicPr>
        <p:blipFill>
          <a:blip r:embed="rId5"/>
          <a:stretch>
            <a:fillRect/>
          </a:stretch>
        </p:blipFill>
        <p:spPr>
          <a:xfrm>
            <a:off x="911424" y="1914225"/>
            <a:ext cx="5724406"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12" name="AutoShape 14"/>
          <p:cNvSpPr>
            <a:spLocks noChangeArrowheads="1"/>
          </p:cNvSpPr>
          <p:nvPr/>
        </p:nvSpPr>
        <p:spPr bwMode="auto">
          <a:xfrm>
            <a:off x="7844568" y="2276872"/>
            <a:ext cx="1275768" cy="1214502"/>
          </a:xfrm>
          <a:prstGeom prst="wedgeRoundRectCallout">
            <a:avLst>
              <a:gd name="adj1" fmla="val -133996"/>
              <a:gd name="adj2" fmla="val -42999"/>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原始数据</a:t>
            </a:r>
            <a:endParaRPr lang="zh-CN" altLang="en-US" sz="3200" kern="0" dirty="0">
              <a:solidFill>
                <a:srgbClr val="FFFFCC"/>
              </a:solidFill>
              <a:effectLst>
                <a:outerShdw blurRad="38100" dist="38100" dir="2700000" algn="tl">
                  <a:srgbClr val="000000"/>
                </a:outerShdw>
              </a:effectLst>
              <a:latin typeface="Times New Roman" pitchFamily="18" charset="0"/>
            </a:endParaRPr>
          </a:p>
        </p:txBody>
      </p:sp>
      <p:sp>
        <p:nvSpPr>
          <p:cNvPr id="13" name="Line 15"/>
          <p:cNvSpPr>
            <a:spLocks noChangeShapeType="1"/>
          </p:cNvSpPr>
          <p:nvPr/>
        </p:nvSpPr>
        <p:spPr bwMode="auto">
          <a:xfrm>
            <a:off x="1343473" y="4437112"/>
            <a:ext cx="1296144" cy="0"/>
          </a:xfrm>
          <a:prstGeom prst="line">
            <a:avLst/>
          </a:prstGeom>
          <a:noFill/>
          <a:ln w="28575" cap="sq">
            <a:solidFill>
              <a:srgbClr val="FF0000"/>
            </a:solidFill>
            <a:round/>
            <a:headEnd/>
            <a:tailEnd/>
          </a:ln>
          <a:effectLst/>
        </p:spPr>
        <p:txBody>
          <a:bodyPr lIns="72000" tIns="72000" rIns="72000" bIns="72000"/>
          <a:lstStyle/>
          <a:p>
            <a:pPr>
              <a:defRPr/>
            </a:pPr>
            <a:endParaRPr lang="zh-CN" altLang="en-US" kern="0">
              <a:solidFill>
                <a:sysClr val="windowText" lastClr="000000"/>
              </a:solidFill>
            </a:endParaRPr>
          </a:p>
        </p:txBody>
      </p:sp>
    </p:spTree>
    <p:extLst>
      <p:ext uri="{BB962C8B-B14F-4D97-AF65-F5344CB8AC3E}">
        <p14:creationId xmlns:p14="http://schemas.microsoft.com/office/powerpoint/2010/main" val="4010800354"/>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67408" y="54852"/>
            <a:ext cx="4019865"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a:solidFill>
                  <a:srgbClr val="FFFFCC"/>
                </a:solidFill>
                <a:effectLst>
                  <a:outerShdw blurRad="38100" dist="38100" dir="2700000" algn="tl">
                    <a:srgbClr val="000000"/>
                  </a:outerShdw>
                </a:effectLst>
              </a:rPr>
              <a:t>ORDER  BY</a:t>
            </a:r>
            <a:r>
              <a:rPr lang="zh-CN" altLang="en-US" sz="4000" b="1" dirty="0">
                <a:solidFill>
                  <a:srgbClr val="FFFFCC"/>
                </a:solidFill>
                <a:effectLst>
                  <a:outerShdw blurRad="38100" dist="38100" dir="2700000" algn="tl">
                    <a:srgbClr val="000000"/>
                  </a:outerShdw>
                </a:effectLst>
              </a:rPr>
              <a:t>子句</a:t>
            </a:r>
          </a:p>
        </p:txBody>
      </p:sp>
      <p:sp>
        <p:nvSpPr>
          <p:cNvPr id="35" name="Rectangle 4"/>
          <p:cNvSpPr txBox="1">
            <a:spLocks noChangeArrowheads="1"/>
          </p:cNvSpPr>
          <p:nvPr/>
        </p:nvSpPr>
        <p:spPr bwMode="auto">
          <a:xfrm>
            <a:off x="407368" y="913686"/>
            <a:ext cx="3608680" cy="707886"/>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lvl="0" eaLnBrk="1" hangingPunct="1"/>
            <a:r>
              <a:rPr kumimoji="1" lang="zh-CN" altLang="en-US" sz="4000" kern="0" dirty="0">
                <a:solidFill>
                  <a:srgbClr val="FFFFFF"/>
                </a:solidFill>
                <a:latin typeface="微软雅黑" pitchFamily="34" charset="-122"/>
              </a:rPr>
              <a:t>支持多级排序</a:t>
            </a:r>
          </a:p>
        </p:txBody>
      </p:sp>
      <p:pic>
        <p:nvPicPr>
          <p:cNvPr id="11" name="图片 10"/>
          <p:cNvPicPr>
            <a:picLocks noChangeAspect="1"/>
          </p:cNvPicPr>
          <p:nvPr/>
        </p:nvPicPr>
        <p:blipFill>
          <a:blip r:embed="rId4"/>
          <a:stretch>
            <a:fillRect/>
          </a:stretch>
        </p:blipFill>
        <p:spPr>
          <a:xfrm>
            <a:off x="911423" y="1752786"/>
            <a:ext cx="5865041"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12" name="AutoShape 14"/>
          <p:cNvSpPr>
            <a:spLocks noChangeArrowheads="1"/>
          </p:cNvSpPr>
          <p:nvPr/>
        </p:nvSpPr>
        <p:spPr bwMode="auto">
          <a:xfrm>
            <a:off x="8040216" y="1320986"/>
            <a:ext cx="1296144" cy="1315926"/>
          </a:xfrm>
          <a:prstGeom prst="wedgeRoundRectCallout">
            <a:avLst>
              <a:gd name="adj1" fmla="val -150489"/>
              <a:gd name="adj2" fmla="val 42028"/>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原始数据</a:t>
            </a:r>
          </a:p>
        </p:txBody>
      </p:sp>
      <p:pic>
        <p:nvPicPr>
          <p:cNvPr id="13" name="图片 12"/>
          <p:cNvPicPr>
            <a:picLocks noChangeAspect="1"/>
          </p:cNvPicPr>
          <p:nvPr/>
        </p:nvPicPr>
        <p:blipFill>
          <a:blip r:embed="rId5"/>
          <a:stretch>
            <a:fillRect/>
          </a:stretch>
        </p:blipFill>
        <p:spPr>
          <a:xfrm>
            <a:off x="911424" y="3645024"/>
            <a:ext cx="5865041" cy="286495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14" name="AutoShape 14"/>
          <p:cNvSpPr>
            <a:spLocks noChangeArrowheads="1"/>
          </p:cNvSpPr>
          <p:nvPr/>
        </p:nvSpPr>
        <p:spPr bwMode="auto">
          <a:xfrm>
            <a:off x="7084305" y="3899349"/>
            <a:ext cx="4504110" cy="2409972"/>
          </a:xfrm>
          <a:prstGeom prst="wedgeRoundRectCallout">
            <a:avLst>
              <a:gd name="adj1" fmla="val -108302"/>
              <a:gd name="adj2" fmla="val -32502"/>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ju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每个排序字段都有独立的排序方式</a:t>
            </a:r>
          </a:p>
          <a:p>
            <a:pPr algn="ju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不要误解成按工资和生日的降序排列</a:t>
            </a:r>
          </a:p>
        </p:txBody>
      </p:sp>
      <p:sp>
        <p:nvSpPr>
          <p:cNvPr id="15" name="AutoShape 19"/>
          <p:cNvSpPr>
            <a:spLocks noChangeArrowheads="1"/>
          </p:cNvSpPr>
          <p:nvPr/>
        </p:nvSpPr>
        <p:spPr bwMode="auto">
          <a:xfrm>
            <a:off x="1106883" y="5661249"/>
            <a:ext cx="4896544" cy="648072"/>
          </a:xfrm>
          <a:prstGeom prst="roundRect">
            <a:avLst>
              <a:gd name="adj" fmla="val 2940"/>
            </a:avLst>
          </a:prstGeom>
          <a:solidFill>
            <a:srgbClr val="FF0000">
              <a:alpha val="20000"/>
            </a:srgbClr>
          </a:solidFill>
          <a:ln w="9525" cap="sq">
            <a:solidFill>
              <a:srgbClr val="0000CC"/>
            </a:solidFill>
            <a:round/>
            <a:headEnd/>
            <a:tailEnd/>
          </a:ln>
        </p:spPr>
        <p:txBody>
          <a:bodyPr lIns="72000" tIns="72000" rIns="72000" bIns="72000" anchor="ctr"/>
          <a:lstStyle/>
          <a:p>
            <a:pPr>
              <a:buSzTx/>
              <a:buFontTx/>
              <a:buNone/>
            </a:pPr>
            <a:endParaRPr lang="zh-CN" altLang="en-US" sz="2400">
              <a:solidFill>
                <a:srgbClr val="CCFFCC"/>
              </a:solidFill>
              <a:latin typeface="Times New Roman" pitchFamily="18" charset="0"/>
            </a:endParaRPr>
          </a:p>
        </p:txBody>
      </p:sp>
      <p:sp>
        <p:nvSpPr>
          <p:cNvPr id="9" name="Line 15"/>
          <p:cNvSpPr>
            <a:spLocks noChangeShapeType="1"/>
          </p:cNvSpPr>
          <p:nvPr/>
        </p:nvSpPr>
        <p:spPr bwMode="auto">
          <a:xfrm>
            <a:off x="1343472" y="4437112"/>
            <a:ext cx="2736304" cy="0"/>
          </a:xfrm>
          <a:prstGeom prst="line">
            <a:avLst/>
          </a:prstGeom>
          <a:noFill/>
          <a:ln w="28575" cap="sq">
            <a:solidFill>
              <a:srgbClr val="FF0000"/>
            </a:solidFill>
            <a:round/>
            <a:headEnd/>
            <a:tailEnd/>
          </a:ln>
          <a:effectLst/>
        </p:spPr>
        <p:txBody>
          <a:bodyPr lIns="72000" tIns="72000" rIns="72000" bIns="72000"/>
          <a:lstStyle/>
          <a:p>
            <a:pPr>
              <a:defRPr/>
            </a:pPr>
            <a:endParaRPr lang="zh-CN" altLang="en-US" kern="0">
              <a:solidFill>
                <a:sysClr val="windowText" lastClr="000000"/>
              </a:solidFill>
            </a:endParaRPr>
          </a:p>
        </p:txBody>
      </p:sp>
    </p:spTree>
    <p:extLst>
      <p:ext uri="{BB962C8B-B14F-4D97-AF65-F5344CB8AC3E}">
        <p14:creationId xmlns:p14="http://schemas.microsoft.com/office/powerpoint/2010/main" val="1108675421"/>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72058" y="17356"/>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统计查询</a:t>
            </a:r>
          </a:p>
        </p:txBody>
      </p:sp>
      <p:sp>
        <p:nvSpPr>
          <p:cNvPr id="55" name="Rectangle 86"/>
          <p:cNvSpPr txBox="1">
            <a:spLocks noChangeArrowheads="1"/>
          </p:cNvSpPr>
          <p:nvPr/>
        </p:nvSpPr>
        <p:spPr bwMode="auto">
          <a:xfrm>
            <a:off x="479376" y="951581"/>
            <a:ext cx="2714205" cy="769441"/>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eaLnBrk="1" hangingPunct="1">
              <a:spcAft>
                <a:spcPct val="0"/>
              </a:spcAft>
              <a:buClr>
                <a:srgbClr val="FFFFFF"/>
              </a:buClr>
              <a:buFont typeface="Wingdings" pitchFamily="2" charset="2"/>
              <a:buChar char="§"/>
              <a:defRPr/>
            </a:pPr>
            <a:r>
              <a:rPr kumimoji="1" lang="zh-CN" altLang="en-US" sz="4400" kern="0" dirty="0">
                <a:solidFill>
                  <a:srgbClr val="FFFFFF"/>
                </a:solidFill>
                <a:latin typeface="楷体_GB2312" pitchFamily="49" charset="-122"/>
              </a:rPr>
              <a:t>聚合函数</a:t>
            </a:r>
          </a:p>
        </p:txBody>
      </p:sp>
      <p:grpSp>
        <p:nvGrpSpPr>
          <p:cNvPr id="2" name="组合 1">
            <a:extLst>
              <a:ext uri="{FF2B5EF4-FFF2-40B4-BE49-F238E27FC236}">
                <a16:creationId xmlns:a16="http://schemas.microsoft.com/office/drawing/2014/main" id="{213B3BBB-BFE1-47CB-B213-0FA05A04F750}"/>
              </a:ext>
            </a:extLst>
          </p:cNvPr>
          <p:cNvGrpSpPr/>
          <p:nvPr/>
        </p:nvGrpSpPr>
        <p:grpSpPr>
          <a:xfrm>
            <a:off x="911424" y="2492896"/>
            <a:ext cx="10585176" cy="3647196"/>
            <a:chOff x="3476317" y="1124744"/>
            <a:chExt cx="6733381" cy="2578943"/>
          </a:xfrm>
        </p:grpSpPr>
        <p:grpSp>
          <p:nvGrpSpPr>
            <p:cNvPr id="57" name="Group 88"/>
            <p:cNvGrpSpPr>
              <a:grpSpLocks/>
            </p:cNvGrpSpPr>
            <p:nvPr/>
          </p:nvGrpSpPr>
          <p:grpSpPr bwMode="auto">
            <a:xfrm>
              <a:off x="3476317" y="1124744"/>
              <a:ext cx="1972621" cy="517210"/>
              <a:chOff x="0" y="384"/>
              <a:chExt cx="620" cy="384"/>
            </a:xfrm>
          </p:grpSpPr>
          <p:sp>
            <p:nvSpPr>
              <p:cNvPr id="85" name="Rectangle 89"/>
              <p:cNvSpPr>
                <a:spLocks noChangeArrowheads="1"/>
              </p:cNvSpPr>
              <p:nvPr/>
            </p:nvSpPr>
            <p:spPr bwMode="auto">
              <a:xfrm>
                <a:off x="72" y="384"/>
                <a:ext cx="486" cy="384"/>
              </a:xfrm>
              <a:prstGeom prst="rect">
                <a:avLst/>
              </a:prstGeom>
              <a:noFill/>
              <a:ln w="9525">
                <a:noFill/>
                <a:miter lim="800000"/>
                <a:headEnd/>
                <a:tailEnd/>
              </a:ln>
              <a:effectLst/>
            </p:spPr>
            <p:txBody>
              <a:bodyPr lIns="0" tIns="0" rIns="0" bIns="0" anchor="ctr" anchorCtr="1"/>
              <a:lstStyle/>
              <a:p>
                <a:pPr algn="ctr">
                  <a:spcAft>
                    <a:spcPct val="0"/>
                  </a:spcAft>
                  <a:defRPr/>
                </a:pPr>
                <a:r>
                  <a:rPr lang="en-US" altLang="zh-CN" sz="4000" b="1" kern="0" dirty="0">
                    <a:solidFill>
                      <a:srgbClr val="66FFFF"/>
                    </a:solidFill>
                    <a:effectLst>
                      <a:outerShdw blurRad="38100" dist="38100" dir="2700000" algn="tl">
                        <a:srgbClr val="000000"/>
                      </a:outerShdw>
                    </a:effectLst>
                    <a:latin typeface="Arial" charset="0"/>
                  </a:rPr>
                  <a:t>AVG</a:t>
                </a:r>
                <a:endParaRPr lang="zh-CN" altLang="en-US" sz="4000" b="1" kern="0" dirty="0">
                  <a:solidFill>
                    <a:srgbClr val="66FFFF"/>
                  </a:solidFill>
                  <a:effectLst>
                    <a:outerShdw blurRad="38100" dist="38100" dir="2700000" algn="tl">
                      <a:srgbClr val="000000"/>
                    </a:outerShdw>
                  </a:effectLst>
                  <a:latin typeface="Arial" charset="0"/>
                </a:endParaRPr>
              </a:p>
            </p:txBody>
          </p:sp>
          <p:sp>
            <p:nvSpPr>
              <p:cNvPr id="86" name="Rectangle 90"/>
              <p:cNvSpPr>
                <a:spLocks noChangeArrowheads="1"/>
              </p:cNvSpPr>
              <p:nvPr/>
            </p:nvSpPr>
            <p:spPr bwMode="auto">
              <a:xfrm>
                <a:off x="0" y="384"/>
                <a:ext cx="620" cy="384"/>
              </a:xfrm>
              <a:prstGeom prst="rect">
                <a:avLst/>
              </a:prstGeom>
              <a:noFill/>
              <a:ln w="7">
                <a:solidFill>
                  <a:srgbClr val="A0A0A0"/>
                </a:solidFill>
                <a:miter lim="800000"/>
                <a:headEnd/>
                <a:tailEnd/>
              </a:ln>
              <a:effectLst/>
            </p:spPr>
            <p:txBody>
              <a:bodyPr lIns="0" tIns="0" rIns="0" bIns="0" anchor="ctr" anchorCtr="1"/>
              <a:lstStyle/>
              <a:p>
                <a:pPr>
                  <a:defRPr/>
                </a:pPr>
                <a:endParaRPr lang="zh-CN" altLang="en-US" sz="3200" kern="0">
                  <a:solidFill>
                    <a:sysClr val="windowText" lastClr="000000"/>
                  </a:solidFill>
                </a:endParaRPr>
              </a:p>
            </p:txBody>
          </p:sp>
        </p:grpSp>
        <p:grpSp>
          <p:nvGrpSpPr>
            <p:cNvPr id="58" name="Group 91"/>
            <p:cNvGrpSpPr>
              <a:grpSpLocks/>
            </p:cNvGrpSpPr>
            <p:nvPr/>
          </p:nvGrpSpPr>
          <p:grpSpPr bwMode="auto">
            <a:xfrm>
              <a:off x="5448938" y="1124744"/>
              <a:ext cx="4760760" cy="517210"/>
              <a:chOff x="620" y="384"/>
              <a:chExt cx="1496" cy="384"/>
            </a:xfrm>
          </p:grpSpPr>
          <p:sp>
            <p:nvSpPr>
              <p:cNvPr id="83" name="Rectangle 92"/>
              <p:cNvSpPr>
                <a:spLocks noChangeArrowheads="1"/>
              </p:cNvSpPr>
              <p:nvPr/>
            </p:nvSpPr>
            <p:spPr bwMode="auto">
              <a:xfrm>
                <a:off x="620" y="384"/>
                <a:ext cx="1453" cy="384"/>
              </a:xfrm>
              <a:prstGeom prst="rect">
                <a:avLst/>
              </a:prstGeom>
              <a:noFill/>
              <a:ln w="9525">
                <a:noFill/>
                <a:miter lim="800000"/>
                <a:headEnd/>
                <a:tailEnd/>
              </a:ln>
              <a:effectLst/>
            </p:spPr>
            <p:txBody>
              <a:bodyPr lIns="0" tIns="0" rIns="0" bIns="0" anchor="ctr" anchorCtr="1"/>
              <a:lstStyle/>
              <a:p>
                <a:pPr algn="just">
                  <a:spcAft>
                    <a:spcPct val="0"/>
                  </a:spcAft>
                  <a:defRPr/>
                </a:pPr>
                <a:r>
                  <a:rPr lang="zh-CN" altLang="en-US" sz="4000" kern="0" dirty="0">
                    <a:solidFill>
                      <a:schemeClr val="accent3">
                        <a:lumMod val="60000"/>
                        <a:lumOff val="40000"/>
                      </a:schemeClr>
                    </a:solidFill>
                    <a:effectLst>
                      <a:outerShdw blurRad="38100" dist="38100" dir="2700000" algn="tl">
                        <a:srgbClr val="000000"/>
                      </a:outerShdw>
                    </a:effectLst>
                    <a:latin typeface="Arial" charset="0"/>
                  </a:rPr>
                  <a:t>按列计算平均值</a:t>
                </a:r>
              </a:p>
            </p:txBody>
          </p:sp>
          <p:sp>
            <p:nvSpPr>
              <p:cNvPr id="84" name="Rectangle 93"/>
              <p:cNvSpPr>
                <a:spLocks noChangeArrowheads="1"/>
              </p:cNvSpPr>
              <p:nvPr/>
            </p:nvSpPr>
            <p:spPr bwMode="auto">
              <a:xfrm>
                <a:off x="620" y="384"/>
                <a:ext cx="1496" cy="384"/>
              </a:xfrm>
              <a:prstGeom prst="rect">
                <a:avLst/>
              </a:prstGeom>
              <a:noFill/>
              <a:ln w="7">
                <a:solidFill>
                  <a:srgbClr val="A0A0A0"/>
                </a:solidFill>
                <a:miter lim="800000"/>
                <a:headEnd/>
                <a:tailEnd/>
              </a:ln>
              <a:effectLst/>
            </p:spPr>
            <p:txBody>
              <a:bodyPr lIns="0" tIns="0" rIns="0" bIns="0" anchor="ctr" anchorCtr="1"/>
              <a:lstStyle/>
              <a:p>
                <a:pPr>
                  <a:spcAft>
                    <a:spcPct val="0"/>
                  </a:spcAft>
                  <a:defRPr/>
                </a:pPr>
                <a:endParaRPr lang="zh-CN" altLang="en-US" sz="5400" kern="0" baseline="-25000">
                  <a:solidFill>
                    <a:sysClr val="windowText" lastClr="000000"/>
                  </a:solidFill>
                  <a:effectLst>
                    <a:outerShdw blurRad="38100" dist="38100" dir="2700000" algn="tl">
                      <a:srgbClr val="000000"/>
                    </a:outerShdw>
                  </a:effectLst>
                  <a:latin typeface="Garamond" pitchFamily="18" charset="0"/>
                  <a:ea typeface="宋体" pitchFamily="2" charset="-122"/>
                </a:endParaRPr>
              </a:p>
            </p:txBody>
          </p:sp>
        </p:grpSp>
        <p:grpSp>
          <p:nvGrpSpPr>
            <p:cNvPr id="59" name="Group 94"/>
            <p:cNvGrpSpPr>
              <a:grpSpLocks/>
            </p:cNvGrpSpPr>
            <p:nvPr/>
          </p:nvGrpSpPr>
          <p:grpSpPr bwMode="auto">
            <a:xfrm>
              <a:off x="3476317" y="1641954"/>
              <a:ext cx="1972621" cy="515433"/>
              <a:chOff x="0" y="768"/>
              <a:chExt cx="620" cy="384"/>
            </a:xfrm>
          </p:grpSpPr>
          <p:sp>
            <p:nvSpPr>
              <p:cNvPr id="81" name="Rectangle 95"/>
              <p:cNvSpPr>
                <a:spLocks noChangeArrowheads="1"/>
              </p:cNvSpPr>
              <p:nvPr/>
            </p:nvSpPr>
            <p:spPr bwMode="auto">
              <a:xfrm>
                <a:off x="72" y="768"/>
                <a:ext cx="486" cy="384"/>
              </a:xfrm>
              <a:prstGeom prst="rect">
                <a:avLst/>
              </a:prstGeom>
              <a:noFill/>
              <a:ln w="9525">
                <a:noFill/>
                <a:miter lim="800000"/>
                <a:headEnd/>
                <a:tailEnd/>
              </a:ln>
              <a:effectLst/>
            </p:spPr>
            <p:txBody>
              <a:bodyPr lIns="0" tIns="0" rIns="0" bIns="0" anchor="ctr" anchorCtr="1"/>
              <a:lstStyle/>
              <a:p>
                <a:pPr algn="ctr">
                  <a:spcAft>
                    <a:spcPct val="0"/>
                  </a:spcAft>
                  <a:defRPr/>
                </a:pPr>
                <a:r>
                  <a:rPr lang="en-US" altLang="zh-CN" sz="4000" b="1" kern="0" dirty="0">
                    <a:solidFill>
                      <a:srgbClr val="66FFFF"/>
                    </a:solidFill>
                    <a:effectLst>
                      <a:outerShdw blurRad="38100" dist="38100" dir="2700000" algn="tl">
                        <a:srgbClr val="000000"/>
                      </a:outerShdw>
                    </a:effectLst>
                    <a:latin typeface="Arial" charset="0"/>
                  </a:rPr>
                  <a:t>SUM</a:t>
                </a:r>
                <a:endParaRPr lang="zh-CN" altLang="en-US" sz="4000" b="1" kern="0" dirty="0">
                  <a:solidFill>
                    <a:srgbClr val="66FFFF"/>
                  </a:solidFill>
                  <a:effectLst>
                    <a:outerShdw blurRad="38100" dist="38100" dir="2700000" algn="tl">
                      <a:srgbClr val="000000"/>
                    </a:outerShdw>
                  </a:effectLst>
                  <a:latin typeface="Arial" charset="0"/>
                </a:endParaRPr>
              </a:p>
            </p:txBody>
          </p:sp>
          <p:sp>
            <p:nvSpPr>
              <p:cNvPr id="82" name="Rectangle 96"/>
              <p:cNvSpPr>
                <a:spLocks noChangeArrowheads="1"/>
              </p:cNvSpPr>
              <p:nvPr/>
            </p:nvSpPr>
            <p:spPr bwMode="auto">
              <a:xfrm>
                <a:off x="0" y="768"/>
                <a:ext cx="620" cy="384"/>
              </a:xfrm>
              <a:prstGeom prst="rect">
                <a:avLst/>
              </a:prstGeom>
              <a:noFill/>
              <a:ln w="7">
                <a:solidFill>
                  <a:srgbClr val="A0A0A0"/>
                </a:solidFill>
                <a:miter lim="800000"/>
                <a:headEnd/>
                <a:tailEnd/>
              </a:ln>
              <a:effectLst/>
            </p:spPr>
            <p:txBody>
              <a:bodyPr lIns="0" tIns="0" rIns="0" bIns="0" anchor="ctr" anchorCtr="1"/>
              <a:lstStyle/>
              <a:p>
                <a:pPr>
                  <a:defRPr/>
                </a:pPr>
                <a:endParaRPr lang="zh-CN" altLang="en-US" sz="3200" kern="0">
                  <a:solidFill>
                    <a:sysClr val="windowText" lastClr="000000"/>
                  </a:solidFill>
                </a:endParaRPr>
              </a:p>
            </p:txBody>
          </p:sp>
        </p:grpSp>
        <p:grpSp>
          <p:nvGrpSpPr>
            <p:cNvPr id="60" name="Group 97"/>
            <p:cNvGrpSpPr>
              <a:grpSpLocks/>
            </p:cNvGrpSpPr>
            <p:nvPr/>
          </p:nvGrpSpPr>
          <p:grpSpPr bwMode="auto">
            <a:xfrm>
              <a:off x="5448938" y="1641954"/>
              <a:ext cx="4760760" cy="515433"/>
              <a:chOff x="620" y="768"/>
              <a:chExt cx="1496" cy="384"/>
            </a:xfrm>
          </p:grpSpPr>
          <p:sp>
            <p:nvSpPr>
              <p:cNvPr id="79" name="Rectangle 98"/>
              <p:cNvSpPr>
                <a:spLocks noChangeArrowheads="1"/>
              </p:cNvSpPr>
              <p:nvPr/>
            </p:nvSpPr>
            <p:spPr bwMode="auto">
              <a:xfrm>
                <a:off x="620" y="768"/>
                <a:ext cx="1453" cy="384"/>
              </a:xfrm>
              <a:prstGeom prst="rect">
                <a:avLst/>
              </a:prstGeom>
              <a:noFill/>
              <a:ln w="9525">
                <a:noFill/>
                <a:miter lim="800000"/>
                <a:headEnd/>
                <a:tailEnd/>
              </a:ln>
              <a:effectLst/>
            </p:spPr>
            <p:txBody>
              <a:bodyPr lIns="0" tIns="0" rIns="0" bIns="0" anchor="ctr" anchorCtr="1"/>
              <a:lstStyle/>
              <a:p>
                <a:pPr algn="just">
                  <a:spcAft>
                    <a:spcPct val="0"/>
                  </a:spcAft>
                  <a:defRPr/>
                </a:pPr>
                <a:r>
                  <a:rPr lang="zh-CN" altLang="en-US" sz="4000" kern="0" dirty="0">
                    <a:solidFill>
                      <a:schemeClr val="accent3">
                        <a:lumMod val="60000"/>
                        <a:lumOff val="40000"/>
                      </a:schemeClr>
                    </a:solidFill>
                    <a:effectLst>
                      <a:outerShdw blurRad="38100" dist="38100" dir="2700000" algn="tl">
                        <a:srgbClr val="000000"/>
                      </a:outerShdw>
                    </a:effectLst>
                    <a:latin typeface="Arial" charset="0"/>
                  </a:rPr>
                  <a:t>按列计算值的总和</a:t>
                </a:r>
              </a:p>
            </p:txBody>
          </p:sp>
          <p:sp>
            <p:nvSpPr>
              <p:cNvPr id="80" name="Rectangle 99"/>
              <p:cNvSpPr>
                <a:spLocks noChangeArrowheads="1"/>
              </p:cNvSpPr>
              <p:nvPr/>
            </p:nvSpPr>
            <p:spPr bwMode="auto">
              <a:xfrm>
                <a:off x="620" y="768"/>
                <a:ext cx="1496" cy="384"/>
              </a:xfrm>
              <a:prstGeom prst="rect">
                <a:avLst/>
              </a:prstGeom>
              <a:noFill/>
              <a:ln w="7">
                <a:solidFill>
                  <a:srgbClr val="A0A0A0"/>
                </a:solidFill>
                <a:miter lim="800000"/>
                <a:headEnd/>
                <a:tailEnd/>
              </a:ln>
              <a:effectLst/>
            </p:spPr>
            <p:txBody>
              <a:bodyPr lIns="0" tIns="0" rIns="0" bIns="0" anchor="ctr" anchorCtr="1"/>
              <a:lstStyle/>
              <a:p>
                <a:pPr>
                  <a:defRPr/>
                </a:pPr>
                <a:endParaRPr lang="zh-CN" altLang="en-US" sz="3200" kern="0">
                  <a:solidFill>
                    <a:sysClr val="windowText" lastClr="000000"/>
                  </a:solidFill>
                </a:endParaRPr>
              </a:p>
            </p:txBody>
          </p:sp>
        </p:grpSp>
        <p:grpSp>
          <p:nvGrpSpPr>
            <p:cNvPr id="61" name="Group 100"/>
            <p:cNvGrpSpPr>
              <a:grpSpLocks/>
            </p:cNvGrpSpPr>
            <p:nvPr/>
          </p:nvGrpSpPr>
          <p:grpSpPr bwMode="auto">
            <a:xfrm>
              <a:off x="3476317" y="2159165"/>
              <a:ext cx="1972621" cy="517210"/>
              <a:chOff x="0" y="1152"/>
              <a:chExt cx="620" cy="386"/>
            </a:xfrm>
          </p:grpSpPr>
          <p:sp>
            <p:nvSpPr>
              <p:cNvPr id="77" name="Rectangle 101"/>
              <p:cNvSpPr>
                <a:spLocks noChangeArrowheads="1"/>
              </p:cNvSpPr>
              <p:nvPr/>
            </p:nvSpPr>
            <p:spPr bwMode="auto">
              <a:xfrm>
                <a:off x="72" y="1152"/>
                <a:ext cx="486" cy="386"/>
              </a:xfrm>
              <a:prstGeom prst="rect">
                <a:avLst/>
              </a:prstGeom>
              <a:noFill/>
              <a:ln w="9525">
                <a:noFill/>
                <a:miter lim="800000"/>
                <a:headEnd/>
                <a:tailEnd/>
              </a:ln>
              <a:effectLst/>
            </p:spPr>
            <p:txBody>
              <a:bodyPr lIns="0" tIns="0" rIns="0" bIns="0" anchor="ctr" anchorCtr="1"/>
              <a:lstStyle/>
              <a:p>
                <a:pPr algn="ctr">
                  <a:spcAft>
                    <a:spcPct val="0"/>
                  </a:spcAft>
                  <a:defRPr/>
                </a:pPr>
                <a:r>
                  <a:rPr lang="en-US" altLang="zh-CN" sz="4000" b="1" kern="0">
                    <a:solidFill>
                      <a:srgbClr val="66FFFF"/>
                    </a:solidFill>
                    <a:effectLst>
                      <a:outerShdw blurRad="38100" dist="38100" dir="2700000" algn="tl">
                        <a:srgbClr val="000000"/>
                      </a:outerShdw>
                    </a:effectLst>
                    <a:latin typeface="Arial" charset="0"/>
                  </a:rPr>
                  <a:t>MAX</a:t>
                </a:r>
                <a:endParaRPr lang="zh-CN" altLang="en-US" sz="4000" b="1" kern="0">
                  <a:solidFill>
                    <a:srgbClr val="66FFFF"/>
                  </a:solidFill>
                  <a:effectLst>
                    <a:outerShdw blurRad="38100" dist="38100" dir="2700000" algn="tl">
                      <a:srgbClr val="000000"/>
                    </a:outerShdw>
                  </a:effectLst>
                  <a:latin typeface="Arial" charset="0"/>
                </a:endParaRPr>
              </a:p>
            </p:txBody>
          </p:sp>
          <p:sp>
            <p:nvSpPr>
              <p:cNvPr id="78" name="Rectangle 102"/>
              <p:cNvSpPr>
                <a:spLocks noChangeArrowheads="1"/>
              </p:cNvSpPr>
              <p:nvPr/>
            </p:nvSpPr>
            <p:spPr bwMode="auto">
              <a:xfrm>
                <a:off x="0" y="1152"/>
                <a:ext cx="620" cy="386"/>
              </a:xfrm>
              <a:prstGeom prst="rect">
                <a:avLst/>
              </a:prstGeom>
              <a:noFill/>
              <a:ln w="7">
                <a:solidFill>
                  <a:srgbClr val="A0A0A0"/>
                </a:solidFill>
                <a:miter lim="800000"/>
                <a:headEnd/>
                <a:tailEnd/>
              </a:ln>
              <a:effectLst/>
            </p:spPr>
            <p:txBody>
              <a:bodyPr lIns="0" tIns="0" rIns="0" bIns="0" anchor="ctr" anchorCtr="1"/>
              <a:lstStyle/>
              <a:p>
                <a:pPr>
                  <a:defRPr/>
                </a:pPr>
                <a:endParaRPr lang="zh-CN" altLang="en-US" sz="3200" kern="0">
                  <a:solidFill>
                    <a:sysClr val="windowText" lastClr="000000"/>
                  </a:solidFill>
                </a:endParaRPr>
              </a:p>
            </p:txBody>
          </p:sp>
        </p:grpSp>
        <p:grpSp>
          <p:nvGrpSpPr>
            <p:cNvPr id="62" name="Group 103"/>
            <p:cNvGrpSpPr>
              <a:grpSpLocks/>
            </p:cNvGrpSpPr>
            <p:nvPr/>
          </p:nvGrpSpPr>
          <p:grpSpPr bwMode="auto">
            <a:xfrm>
              <a:off x="5448938" y="2159165"/>
              <a:ext cx="4760760" cy="517210"/>
              <a:chOff x="620" y="1152"/>
              <a:chExt cx="1496" cy="386"/>
            </a:xfrm>
          </p:grpSpPr>
          <p:sp>
            <p:nvSpPr>
              <p:cNvPr id="75" name="Rectangle 104"/>
              <p:cNvSpPr>
                <a:spLocks noChangeArrowheads="1"/>
              </p:cNvSpPr>
              <p:nvPr/>
            </p:nvSpPr>
            <p:spPr bwMode="auto">
              <a:xfrm>
                <a:off x="620" y="1152"/>
                <a:ext cx="1453" cy="386"/>
              </a:xfrm>
              <a:prstGeom prst="rect">
                <a:avLst/>
              </a:prstGeom>
              <a:noFill/>
              <a:ln w="9525">
                <a:noFill/>
                <a:miter lim="800000"/>
                <a:headEnd/>
                <a:tailEnd/>
              </a:ln>
              <a:effectLst/>
            </p:spPr>
            <p:txBody>
              <a:bodyPr lIns="0" tIns="0" rIns="0" bIns="0" anchor="ctr" anchorCtr="1"/>
              <a:lstStyle/>
              <a:p>
                <a:pPr algn="just">
                  <a:spcAft>
                    <a:spcPct val="0"/>
                  </a:spcAft>
                  <a:defRPr/>
                </a:pPr>
                <a:r>
                  <a:rPr lang="zh-CN" altLang="en-US" sz="4000" kern="0" dirty="0">
                    <a:solidFill>
                      <a:schemeClr val="accent3">
                        <a:lumMod val="60000"/>
                        <a:lumOff val="40000"/>
                      </a:schemeClr>
                    </a:solidFill>
                    <a:effectLst>
                      <a:outerShdw blurRad="38100" dist="38100" dir="2700000" algn="tl">
                        <a:srgbClr val="000000"/>
                      </a:outerShdw>
                    </a:effectLst>
                    <a:latin typeface="Arial" charset="0"/>
                  </a:rPr>
                  <a:t>求一列中的最大值</a:t>
                </a:r>
              </a:p>
            </p:txBody>
          </p:sp>
          <p:sp>
            <p:nvSpPr>
              <p:cNvPr id="76" name="Rectangle 105"/>
              <p:cNvSpPr>
                <a:spLocks noChangeArrowheads="1"/>
              </p:cNvSpPr>
              <p:nvPr/>
            </p:nvSpPr>
            <p:spPr bwMode="auto">
              <a:xfrm>
                <a:off x="620" y="1152"/>
                <a:ext cx="1496" cy="386"/>
              </a:xfrm>
              <a:prstGeom prst="rect">
                <a:avLst/>
              </a:prstGeom>
              <a:noFill/>
              <a:ln w="7">
                <a:solidFill>
                  <a:srgbClr val="A0A0A0"/>
                </a:solidFill>
                <a:miter lim="800000"/>
                <a:headEnd/>
                <a:tailEnd/>
              </a:ln>
              <a:effectLst/>
            </p:spPr>
            <p:txBody>
              <a:bodyPr lIns="0" tIns="0" rIns="0" bIns="0" anchor="ctr" anchorCtr="1"/>
              <a:lstStyle/>
              <a:p>
                <a:pPr>
                  <a:defRPr/>
                </a:pPr>
                <a:endParaRPr lang="zh-CN" altLang="en-US" sz="3200" kern="0">
                  <a:solidFill>
                    <a:sysClr val="windowText" lastClr="000000"/>
                  </a:solidFill>
                </a:endParaRPr>
              </a:p>
            </p:txBody>
          </p:sp>
        </p:grpSp>
        <p:grpSp>
          <p:nvGrpSpPr>
            <p:cNvPr id="63" name="Group 106"/>
            <p:cNvGrpSpPr>
              <a:grpSpLocks/>
            </p:cNvGrpSpPr>
            <p:nvPr/>
          </p:nvGrpSpPr>
          <p:grpSpPr bwMode="auto">
            <a:xfrm>
              <a:off x="3476317" y="2671043"/>
              <a:ext cx="1972621" cy="517210"/>
              <a:chOff x="0" y="1536"/>
              <a:chExt cx="620" cy="384"/>
            </a:xfrm>
          </p:grpSpPr>
          <p:sp>
            <p:nvSpPr>
              <p:cNvPr id="73" name="Rectangle 107"/>
              <p:cNvSpPr>
                <a:spLocks noChangeArrowheads="1"/>
              </p:cNvSpPr>
              <p:nvPr/>
            </p:nvSpPr>
            <p:spPr bwMode="auto">
              <a:xfrm>
                <a:off x="72" y="1536"/>
                <a:ext cx="486" cy="384"/>
              </a:xfrm>
              <a:prstGeom prst="rect">
                <a:avLst/>
              </a:prstGeom>
              <a:noFill/>
              <a:ln w="9525">
                <a:noFill/>
                <a:miter lim="800000"/>
                <a:headEnd/>
                <a:tailEnd/>
              </a:ln>
              <a:effectLst/>
            </p:spPr>
            <p:txBody>
              <a:bodyPr lIns="0" tIns="0" rIns="0" bIns="0" anchor="ctr" anchorCtr="1"/>
              <a:lstStyle/>
              <a:p>
                <a:pPr algn="ctr">
                  <a:spcAft>
                    <a:spcPct val="0"/>
                  </a:spcAft>
                  <a:defRPr/>
                </a:pPr>
                <a:r>
                  <a:rPr lang="en-US" altLang="zh-CN" sz="4000" b="1" kern="0">
                    <a:solidFill>
                      <a:srgbClr val="66FFFF"/>
                    </a:solidFill>
                    <a:effectLst>
                      <a:outerShdw blurRad="38100" dist="38100" dir="2700000" algn="tl">
                        <a:srgbClr val="000000"/>
                      </a:outerShdw>
                    </a:effectLst>
                    <a:latin typeface="Arial" charset="0"/>
                  </a:rPr>
                  <a:t>MIN</a:t>
                </a:r>
                <a:endParaRPr lang="zh-CN" altLang="en-US" sz="4000" b="1" kern="0">
                  <a:solidFill>
                    <a:srgbClr val="66FFFF"/>
                  </a:solidFill>
                  <a:effectLst>
                    <a:outerShdw blurRad="38100" dist="38100" dir="2700000" algn="tl">
                      <a:srgbClr val="000000"/>
                    </a:outerShdw>
                  </a:effectLst>
                  <a:latin typeface="Arial" charset="0"/>
                </a:endParaRPr>
              </a:p>
            </p:txBody>
          </p:sp>
          <p:sp>
            <p:nvSpPr>
              <p:cNvPr id="74" name="Rectangle 108"/>
              <p:cNvSpPr>
                <a:spLocks noChangeArrowheads="1"/>
              </p:cNvSpPr>
              <p:nvPr/>
            </p:nvSpPr>
            <p:spPr bwMode="auto">
              <a:xfrm>
                <a:off x="0" y="1536"/>
                <a:ext cx="620" cy="384"/>
              </a:xfrm>
              <a:prstGeom prst="rect">
                <a:avLst/>
              </a:prstGeom>
              <a:noFill/>
              <a:ln w="7">
                <a:solidFill>
                  <a:srgbClr val="A0A0A0"/>
                </a:solidFill>
                <a:miter lim="800000"/>
                <a:headEnd/>
                <a:tailEnd/>
              </a:ln>
              <a:effectLst/>
            </p:spPr>
            <p:txBody>
              <a:bodyPr lIns="0" tIns="0" rIns="0" bIns="0" anchor="ctr" anchorCtr="1"/>
              <a:lstStyle/>
              <a:p>
                <a:pPr>
                  <a:defRPr/>
                </a:pPr>
                <a:endParaRPr lang="zh-CN" altLang="en-US" sz="3200" kern="0">
                  <a:solidFill>
                    <a:sysClr val="windowText" lastClr="000000"/>
                  </a:solidFill>
                </a:endParaRPr>
              </a:p>
            </p:txBody>
          </p:sp>
        </p:grpSp>
        <p:grpSp>
          <p:nvGrpSpPr>
            <p:cNvPr id="64" name="Group 109"/>
            <p:cNvGrpSpPr>
              <a:grpSpLocks/>
            </p:cNvGrpSpPr>
            <p:nvPr/>
          </p:nvGrpSpPr>
          <p:grpSpPr bwMode="auto">
            <a:xfrm>
              <a:off x="5448938" y="2671043"/>
              <a:ext cx="4760760" cy="517210"/>
              <a:chOff x="620" y="1536"/>
              <a:chExt cx="1496" cy="384"/>
            </a:xfrm>
          </p:grpSpPr>
          <p:sp>
            <p:nvSpPr>
              <p:cNvPr id="71" name="Rectangle 110"/>
              <p:cNvSpPr>
                <a:spLocks noChangeArrowheads="1"/>
              </p:cNvSpPr>
              <p:nvPr/>
            </p:nvSpPr>
            <p:spPr bwMode="auto">
              <a:xfrm>
                <a:off x="620" y="1536"/>
                <a:ext cx="1453" cy="384"/>
              </a:xfrm>
              <a:prstGeom prst="rect">
                <a:avLst/>
              </a:prstGeom>
              <a:noFill/>
              <a:ln w="9525">
                <a:noFill/>
                <a:miter lim="800000"/>
                <a:headEnd/>
                <a:tailEnd/>
              </a:ln>
              <a:effectLst/>
            </p:spPr>
            <p:txBody>
              <a:bodyPr lIns="0" tIns="0" rIns="0" bIns="0" anchor="ctr" anchorCtr="1"/>
              <a:lstStyle/>
              <a:p>
                <a:pPr algn="just">
                  <a:spcAft>
                    <a:spcPct val="0"/>
                  </a:spcAft>
                  <a:defRPr/>
                </a:pPr>
                <a:r>
                  <a:rPr lang="zh-CN" altLang="en-US" sz="4000" kern="0">
                    <a:solidFill>
                      <a:schemeClr val="accent3">
                        <a:lumMod val="60000"/>
                        <a:lumOff val="40000"/>
                      </a:schemeClr>
                    </a:solidFill>
                    <a:effectLst>
                      <a:outerShdw blurRad="38100" dist="38100" dir="2700000" algn="tl">
                        <a:srgbClr val="000000"/>
                      </a:outerShdw>
                    </a:effectLst>
                    <a:latin typeface="Arial" charset="0"/>
                  </a:rPr>
                  <a:t>求一列中的最小值</a:t>
                </a:r>
              </a:p>
            </p:txBody>
          </p:sp>
          <p:sp>
            <p:nvSpPr>
              <p:cNvPr id="72" name="Rectangle 111"/>
              <p:cNvSpPr>
                <a:spLocks noChangeArrowheads="1"/>
              </p:cNvSpPr>
              <p:nvPr/>
            </p:nvSpPr>
            <p:spPr bwMode="auto">
              <a:xfrm>
                <a:off x="620" y="1536"/>
                <a:ext cx="1496" cy="384"/>
              </a:xfrm>
              <a:prstGeom prst="rect">
                <a:avLst/>
              </a:prstGeom>
              <a:noFill/>
              <a:ln w="7">
                <a:solidFill>
                  <a:srgbClr val="A0A0A0"/>
                </a:solidFill>
                <a:miter lim="800000"/>
                <a:headEnd/>
                <a:tailEnd/>
              </a:ln>
              <a:effectLst/>
            </p:spPr>
            <p:txBody>
              <a:bodyPr lIns="0" tIns="0" rIns="0" bIns="0" anchor="ctr" anchorCtr="1"/>
              <a:lstStyle/>
              <a:p>
                <a:pPr>
                  <a:defRPr/>
                </a:pPr>
                <a:endParaRPr lang="zh-CN" altLang="en-US" sz="3200" kern="0">
                  <a:solidFill>
                    <a:sysClr val="windowText" lastClr="000000"/>
                  </a:solidFill>
                </a:endParaRPr>
              </a:p>
            </p:txBody>
          </p:sp>
        </p:grpSp>
        <p:grpSp>
          <p:nvGrpSpPr>
            <p:cNvPr id="65" name="Group 112"/>
            <p:cNvGrpSpPr>
              <a:grpSpLocks/>
            </p:cNvGrpSpPr>
            <p:nvPr/>
          </p:nvGrpSpPr>
          <p:grpSpPr bwMode="auto">
            <a:xfrm>
              <a:off x="3476317" y="3188254"/>
              <a:ext cx="1972621" cy="515433"/>
              <a:chOff x="0" y="1920"/>
              <a:chExt cx="620" cy="384"/>
            </a:xfrm>
          </p:grpSpPr>
          <p:sp>
            <p:nvSpPr>
              <p:cNvPr id="69" name="Rectangle 113"/>
              <p:cNvSpPr>
                <a:spLocks noChangeArrowheads="1"/>
              </p:cNvSpPr>
              <p:nvPr/>
            </p:nvSpPr>
            <p:spPr bwMode="auto">
              <a:xfrm>
                <a:off x="72" y="1920"/>
                <a:ext cx="486" cy="384"/>
              </a:xfrm>
              <a:prstGeom prst="rect">
                <a:avLst/>
              </a:prstGeom>
              <a:noFill/>
              <a:ln w="9525">
                <a:noFill/>
                <a:miter lim="800000"/>
                <a:headEnd/>
                <a:tailEnd/>
              </a:ln>
              <a:effectLst/>
            </p:spPr>
            <p:txBody>
              <a:bodyPr lIns="0" tIns="0" rIns="0" bIns="0" anchor="ctr" anchorCtr="1"/>
              <a:lstStyle/>
              <a:p>
                <a:pPr algn="ctr">
                  <a:spcAft>
                    <a:spcPct val="0"/>
                  </a:spcAft>
                  <a:defRPr/>
                </a:pPr>
                <a:r>
                  <a:rPr lang="en-US" altLang="zh-CN" sz="4000" b="1" kern="0" dirty="0">
                    <a:solidFill>
                      <a:srgbClr val="66FFFF"/>
                    </a:solidFill>
                    <a:effectLst>
                      <a:outerShdw blurRad="38100" dist="38100" dir="2700000" algn="tl">
                        <a:srgbClr val="000000"/>
                      </a:outerShdw>
                    </a:effectLst>
                    <a:latin typeface="Arial" charset="0"/>
                  </a:rPr>
                  <a:t>COUNT</a:t>
                </a:r>
                <a:endParaRPr lang="zh-CN" altLang="en-US" sz="4000" b="1" kern="0" dirty="0">
                  <a:solidFill>
                    <a:srgbClr val="66FFFF"/>
                  </a:solidFill>
                  <a:effectLst>
                    <a:outerShdw blurRad="38100" dist="38100" dir="2700000" algn="tl">
                      <a:srgbClr val="000000"/>
                    </a:outerShdw>
                  </a:effectLst>
                  <a:latin typeface="Arial" charset="0"/>
                </a:endParaRPr>
              </a:p>
            </p:txBody>
          </p:sp>
          <p:sp>
            <p:nvSpPr>
              <p:cNvPr id="70" name="Rectangle 114"/>
              <p:cNvSpPr>
                <a:spLocks noChangeArrowheads="1"/>
              </p:cNvSpPr>
              <p:nvPr/>
            </p:nvSpPr>
            <p:spPr bwMode="auto">
              <a:xfrm>
                <a:off x="0" y="1920"/>
                <a:ext cx="620" cy="384"/>
              </a:xfrm>
              <a:prstGeom prst="rect">
                <a:avLst/>
              </a:prstGeom>
              <a:noFill/>
              <a:ln w="7">
                <a:solidFill>
                  <a:srgbClr val="A0A0A0"/>
                </a:solidFill>
                <a:miter lim="800000"/>
                <a:headEnd/>
                <a:tailEnd/>
              </a:ln>
              <a:effectLst/>
            </p:spPr>
            <p:txBody>
              <a:bodyPr lIns="0" tIns="0" rIns="0" bIns="0" anchor="ctr" anchorCtr="1"/>
              <a:lstStyle/>
              <a:p>
                <a:pPr>
                  <a:defRPr/>
                </a:pPr>
                <a:endParaRPr lang="zh-CN" altLang="en-US" sz="3200" kern="0">
                  <a:solidFill>
                    <a:sysClr val="windowText" lastClr="000000"/>
                  </a:solidFill>
                </a:endParaRPr>
              </a:p>
            </p:txBody>
          </p:sp>
        </p:grpSp>
        <p:grpSp>
          <p:nvGrpSpPr>
            <p:cNvPr id="66" name="Group 115"/>
            <p:cNvGrpSpPr>
              <a:grpSpLocks/>
            </p:cNvGrpSpPr>
            <p:nvPr/>
          </p:nvGrpSpPr>
          <p:grpSpPr bwMode="auto">
            <a:xfrm>
              <a:off x="5448938" y="3188254"/>
              <a:ext cx="4760760" cy="515433"/>
              <a:chOff x="620" y="1920"/>
              <a:chExt cx="1496" cy="384"/>
            </a:xfrm>
          </p:grpSpPr>
          <p:sp>
            <p:nvSpPr>
              <p:cNvPr id="67" name="Rectangle 116"/>
              <p:cNvSpPr>
                <a:spLocks noChangeArrowheads="1"/>
              </p:cNvSpPr>
              <p:nvPr/>
            </p:nvSpPr>
            <p:spPr bwMode="auto">
              <a:xfrm>
                <a:off x="620" y="1920"/>
                <a:ext cx="1453" cy="384"/>
              </a:xfrm>
              <a:prstGeom prst="rect">
                <a:avLst/>
              </a:prstGeom>
              <a:noFill/>
              <a:ln w="9525">
                <a:noFill/>
                <a:miter lim="800000"/>
                <a:headEnd/>
                <a:tailEnd/>
              </a:ln>
              <a:effectLst/>
            </p:spPr>
            <p:txBody>
              <a:bodyPr lIns="0" tIns="0" rIns="0" bIns="0" anchor="ctr" anchorCtr="1"/>
              <a:lstStyle/>
              <a:p>
                <a:pPr algn="just">
                  <a:spcAft>
                    <a:spcPct val="0"/>
                  </a:spcAft>
                  <a:defRPr/>
                </a:pPr>
                <a:r>
                  <a:rPr lang="zh-CN" altLang="en-US" sz="4000" kern="0" dirty="0">
                    <a:solidFill>
                      <a:schemeClr val="accent3">
                        <a:lumMod val="60000"/>
                        <a:lumOff val="40000"/>
                      </a:schemeClr>
                    </a:solidFill>
                    <a:effectLst>
                      <a:outerShdw blurRad="38100" dist="38100" dir="2700000" algn="tl">
                        <a:srgbClr val="000000"/>
                      </a:outerShdw>
                    </a:effectLst>
                    <a:latin typeface="Arial" charset="0"/>
                  </a:rPr>
                  <a:t>按行或某</a:t>
                </a:r>
                <a:r>
                  <a:rPr lang="en-US" altLang="zh-CN" sz="4000" kern="0" dirty="0">
                    <a:solidFill>
                      <a:schemeClr val="accent3">
                        <a:lumMod val="60000"/>
                        <a:lumOff val="40000"/>
                      </a:schemeClr>
                    </a:solidFill>
                    <a:effectLst>
                      <a:outerShdw blurRad="38100" dist="38100" dir="2700000" algn="tl">
                        <a:srgbClr val="000000"/>
                      </a:outerShdw>
                    </a:effectLst>
                    <a:latin typeface="Arial" charset="0"/>
                  </a:rPr>
                  <a:t>1</a:t>
                </a:r>
                <a:r>
                  <a:rPr lang="zh-CN" altLang="en-US" sz="4000" kern="0" dirty="0">
                    <a:solidFill>
                      <a:schemeClr val="accent3">
                        <a:lumMod val="60000"/>
                        <a:lumOff val="40000"/>
                      </a:schemeClr>
                    </a:solidFill>
                    <a:effectLst>
                      <a:outerShdw blurRad="38100" dist="38100" dir="2700000" algn="tl">
                        <a:srgbClr val="000000"/>
                      </a:outerShdw>
                    </a:effectLst>
                    <a:latin typeface="Arial" charset="0"/>
                  </a:rPr>
                  <a:t>列值进行计数</a:t>
                </a:r>
              </a:p>
            </p:txBody>
          </p:sp>
          <p:sp>
            <p:nvSpPr>
              <p:cNvPr id="68" name="Rectangle 117"/>
              <p:cNvSpPr>
                <a:spLocks noChangeArrowheads="1"/>
              </p:cNvSpPr>
              <p:nvPr/>
            </p:nvSpPr>
            <p:spPr bwMode="auto">
              <a:xfrm>
                <a:off x="620" y="1920"/>
                <a:ext cx="1496" cy="384"/>
              </a:xfrm>
              <a:prstGeom prst="rect">
                <a:avLst/>
              </a:prstGeom>
              <a:noFill/>
              <a:ln w="7">
                <a:solidFill>
                  <a:srgbClr val="A0A0A0"/>
                </a:solidFill>
                <a:miter lim="800000"/>
                <a:headEnd/>
                <a:tailEnd/>
              </a:ln>
              <a:effectLst/>
            </p:spPr>
            <p:txBody>
              <a:bodyPr lIns="0" tIns="0" rIns="0" bIns="0" anchor="ctr" anchorCtr="1"/>
              <a:lstStyle/>
              <a:p>
                <a:pPr>
                  <a:defRPr/>
                </a:pPr>
                <a:endParaRPr lang="zh-CN" altLang="en-US" sz="3200" kern="0">
                  <a:solidFill>
                    <a:sysClr val="windowText" lastClr="000000"/>
                  </a:solidFill>
                </a:endParaRPr>
              </a:p>
            </p:txBody>
          </p:sp>
        </p:grpSp>
      </p:grpSp>
      <p:sp>
        <p:nvSpPr>
          <p:cNvPr id="37" name="文本框 36">
            <a:extLst>
              <a:ext uri="{FF2B5EF4-FFF2-40B4-BE49-F238E27FC236}">
                <a16:creationId xmlns:a16="http://schemas.microsoft.com/office/drawing/2014/main" id="{9A28DA5F-8995-4576-B863-542369296C36}"/>
              </a:ext>
            </a:extLst>
          </p:cNvPr>
          <p:cNvSpPr txBox="1"/>
          <p:nvPr/>
        </p:nvSpPr>
        <p:spPr>
          <a:xfrm>
            <a:off x="6096000" y="258452"/>
            <a:ext cx="3744416" cy="1900952"/>
          </a:xfrm>
          <a:prstGeom prst="star32">
            <a:avLst>
              <a:gd name="adj" fmla="val 40825"/>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16200000" scaled="1"/>
            <a:tileRect/>
          </a:gradFill>
          <a:effectLst>
            <a:outerShdw blurRad="50800" dist="38100" dir="5400000" algn="t" rotWithShape="0">
              <a:prstClr val="black">
                <a:alpha val="40000"/>
              </a:prstClr>
            </a:outerShdw>
          </a:effectLst>
        </p:spPr>
        <p:txBody>
          <a:bodyPr wrap="square" rtlCol="0">
            <a:spAutoFit/>
          </a:bodyPr>
          <a:lstStyle/>
          <a:p>
            <a:pPr algn="ctr" fontAlgn="base">
              <a:spcBef>
                <a:spcPct val="0"/>
              </a:spcBef>
              <a:spcAft>
                <a:spcPct val="0"/>
              </a:spcAft>
            </a:pPr>
            <a:r>
              <a:rPr lang="zh-CN" altLang="en-US" sz="6600" b="1" dirty="0">
                <a:ln>
                  <a:solidFill>
                    <a:schemeClr val="bg1"/>
                  </a:solidFill>
                </a:ln>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纵向</a:t>
            </a:r>
          </a:p>
        </p:txBody>
      </p:sp>
    </p:spTree>
    <p:extLst>
      <p:ext uri="{BB962C8B-B14F-4D97-AF65-F5344CB8AC3E}">
        <p14:creationId xmlns:p14="http://schemas.microsoft.com/office/powerpoint/2010/main" val="2789832069"/>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72058" y="17356"/>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统计查询</a:t>
            </a:r>
          </a:p>
        </p:txBody>
      </p:sp>
      <p:sp>
        <p:nvSpPr>
          <p:cNvPr id="55" name="Rectangle 86"/>
          <p:cNvSpPr txBox="1">
            <a:spLocks noChangeArrowheads="1"/>
          </p:cNvSpPr>
          <p:nvPr/>
        </p:nvSpPr>
        <p:spPr bwMode="auto">
          <a:xfrm>
            <a:off x="479376" y="951581"/>
            <a:ext cx="2714205" cy="769441"/>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eaLnBrk="1" hangingPunct="1">
              <a:spcAft>
                <a:spcPct val="0"/>
              </a:spcAft>
              <a:buClr>
                <a:srgbClr val="FFFFFF"/>
              </a:buClr>
              <a:buFont typeface="Wingdings" pitchFamily="2" charset="2"/>
              <a:buChar char="§"/>
              <a:defRPr/>
            </a:pPr>
            <a:r>
              <a:rPr kumimoji="1" lang="zh-CN" altLang="en-US" sz="4400" kern="0" dirty="0">
                <a:solidFill>
                  <a:srgbClr val="FFFFFF"/>
                </a:solidFill>
                <a:latin typeface="楷体_GB2312" pitchFamily="49" charset="-122"/>
              </a:rPr>
              <a:t>聚合函数</a:t>
            </a:r>
          </a:p>
        </p:txBody>
      </p:sp>
      <p:sp>
        <p:nvSpPr>
          <p:cNvPr id="87" name="Rectangle 118"/>
          <p:cNvSpPr>
            <a:spLocks noChangeArrowheads="1"/>
          </p:cNvSpPr>
          <p:nvPr/>
        </p:nvSpPr>
        <p:spPr bwMode="auto">
          <a:xfrm>
            <a:off x="3503712" y="5424086"/>
            <a:ext cx="6549001" cy="487362"/>
          </a:xfrm>
          <a:prstGeom prst="rect">
            <a:avLst/>
          </a:prstGeom>
          <a:noFill/>
          <a:ln w="12700" cap="sq">
            <a:noFill/>
            <a:miter lim="800000"/>
            <a:headEnd/>
            <a:tailEnd/>
          </a:ln>
          <a:effectLst/>
        </p:spPr>
        <p:txBody>
          <a:bodyPr lIns="0" tIns="0" rIns="0" bIns="0"/>
          <a:lstStyle/>
          <a:p>
            <a:pPr marL="96838" indent="-96838">
              <a:spcAft>
                <a:spcPct val="20000"/>
              </a:spcAft>
              <a:defRPr/>
            </a:pPr>
            <a:r>
              <a:rPr lang="en-US" altLang="zh-CN" sz="4800" kern="0" dirty="0">
                <a:solidFill>
                  <a:srgbClr val="FFCC00"/>
                </a:solidFill>
                <a:effectLst>
                  <a:outerShdw blurRad="38100" dist="38100" dir="2700000" algn="tl">
                    <a:srgbClr val="000000"/>
                  </a:outerShdw>
                </a:effectLst>
                <a:latin typeface="Times New Roman" pitchFamily="18" charset="0"/>
              </a:rPr>
              <a:t>COUNT(*)</a:t>
            </a:r>
          </a:p>
        </p:txBody>
      </p:sp>
      <p:sp>
        <p:nvSpPr>
          <p:cNvPr id="88" name="Rectangle 119"/>
          <p:cNvSpPr>
            <a:spLocks noChangeArrowheads="1"/>
          </p:cNvSpPr>
          <p:nvPr/>
        </p:nvSpPr>
        <p:spPr bwMode="auto">
          <a:xfrm>
            <a:off x="695400" y="2531197"/>
            <a:ext cx="11161240" cy="677108"/>
          </a:xfrm>
          <a:prstGeom prst="rect">
            <a:avLst/>
          </a:prstGeom>
          <a:noFill/>
          <a:ln w="12700" cap="sq">
            <a:noFill/>
            <a:miter lim="800000"/>
            <a:headEnd/>
            <a:tailEnd/>
          </a:ln>
          <a:effectLst/>
        </p:spPr>
        <p:txBody>
          <a:bodyPr wrap="square" lIns="0" tIns="0" rIns="0" bIns="0" anchor="ctr">
            <a:spAutoFit/>
          </a:bodyPr>
          <a:lstStyle/>
          <a:p>
            <a:pPr>
              <a:spcAft>
                <a:spcPct val="0"/>
              </a:spcAft>
              <a:defRPr/>
            </a:pPr>
            <a:r>
              <a:rPr lang="zh-CN" altLang="en-US" sz="4400" kern="0" dirty="0">
                <a:solidFill>
                  <a:schemeClr val="bg1"/>
                </a:solidFill>
                <a:latin typeface="Times New Roman" pitchFamily="18" charset="0"/>
              </a:rPr>
              <a:t>一般格式： </a:t>
            </a:r>
            <a:endParaRPr lang="zh-CN" altLang="en-US" sz="4400" kern="0" dirty="0">
              <a:solidFill>
                <a:sysClr val="windowText" lastClr="000000"/>
              </a:solidFill>
              <a:latin typeface="Times New Roman" pitchFamily="18" charset="0"/>
            </a:endParaRPr>
          </a:p>
        </p:txBody>
      </p:sp>
      <p:sp>
        <p:nvSpPr>
          <p:cNvPr id="89" name="Rectangle 120"/>
          <p:cNvSpPr>
            <a:spLocks noChangeArrowheads="1"/>
          </p:cNvSpPr>
          <p:nvPr/>
        </p:nvSpPr>
        <p:spPr bwMode="auto">
          <a:xfrm>
            <a:off x="695400" y="4280921"/>
            <a:ext cx="5768095"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lIns="0" tIns="0" rIns="0" bIns="0" anchor="ctr">
            <a:spAutoFit/>
          </a:bodyPr>
          <a:lstStyle/>
          <a:p>
            <a:pPr>
              <a:spcAft>
                <a:spcPct val="0"/>
              </a:spcAft>
              <a:buSzTx/>
              <a:buFontTx/>
              <a:buNone/>
            </a:pPr>
            <a:r>
              <a:rPr lang="en-US" altLang="zh-CN" sz="4400" dirty="0">
                <a:solidFill>
                  <a:schemeClr val="bg1"/>
                </a:solidFill>
                <a:latin typeface="Times New Roman" pitchFamily="18" charset="0"/>
              </a:rPr>
              <a:t>COUNT</a:t>
            </a:r>
            <a:r>
              <a:rPr lang="zh-CN" altLang="en-US" sz="4400" dirty="0">
                <a:solidFill>
                  <a:schemeClr val="bg1"/>
                </a:solidFill>
                <a:latin typeface="Times New Roman" pitchFamily="18" charset="0"/>
              </a:rPr>
              <a:t>函数还可以为：</a:t>
            </a:r>
          </a:p>
        </p:txBody>
      </p:sp>
      <p:sp>
        <p:nvSpPr>
          <p:cNvPr id="90" name="AutoShape 121"/>
          <p:cNvSpPr>
            <a:spLocks noChangeArrowheads="1"/>
          </p:cNvSpPr>
          <p:nvPr/>
        </p:nvSpPr>
        <p:spPr bwMode="auto">
          <a:xfrm>
            <a:off x="4862295" y="1052736"/>
            <a:ext cx="5711551" cy="772355"/>
          </a:xfrm>
          <a:prstGeom prst="wedgeRoundRectCallout">
            <a:avLst>
              <a:gd name="adj1" fmla="val 22256"/>
              <a:gd name="adj2" fmla="val 94681"/>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4000" kern="0" dirty="0">
                <a:solidFill>
                  <a:srgbClr val="FFFFCC"/>
                </a:solidFill>
                <a:effectLst>
                  <a:outerShdw blurRad="38100" dist="38100" dir="2700000" algn="tl">
                    <a:srgbClr val="000000"/>
                  </a:outerShdw>
                </a:effectLst>
                <a:latin typeface="Times New Roman" pitchFamily="18" charset="0"/>
              </a:rPr>
              <a:t>按列统计，空值不参与</a:t>
            </a:r>
          </a:p>
        </p:txBody>
      </p:sp>
      <p:sp>
        <p:nvSpPr>
          <p:cNvPr id="91" name="AutoShape 122"/>
          <p:cNvSpPr>
            <a:spLocks noChangeArrowheads="1"/>
          </p:cNvSpPr>
          <p:nvPr/>
        </p:nvSpPr>
        <p:spPr bwMode="auto">
          <a:xfrm>
            <a:off x="7243646" y="4280921"/>
            <a:ext cx="2776701" cy="716897"/>
          </a:xfrm>
          <a:prstGeom prst="wedgeRoundRectCallout">
            <a:avLst>
              <a:gd name="adj1" fmla="val -36710"/>
              <a:gd name="adj2" fmla="val 97419"/>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just">
              <a:spcAft>
                <a:spcPct val="40000"/>
              </a:spcAft>
              <a:buClr>
                <a:srgbClr val="66FF33"/>
              </a:buClr>
              <a:buSzPct val="85000"/>
              <a:defRPr/>
            </a:pPr>
            <a:r>
              <a:rPr lang="zh-CN" altLang="en-US" sz="4000" kern="0" dirty="0">
                <a:solidFill>
                  <a:srgbClr val="FFFFCC"/>
                </a:solidFill>
                <a:effectLst>
                  <a:outerShdw blurRad="38100" dist="38100" dir="2700000" algn="tl">
                    <a:srgbClr val="000000"/>
                  </a:outerShdw>
                </a:effectLst>
                <a:latin typeface="Times New Roman" pitchFamily="18" charset="0"/>
              </a:rPr>
              <a:t>按行计数</a:t>
            </a:r>
          </a:p>
        </p:txBody>
      </p:sp>
      <p:sp>
        <p:nvSpPr>
          <p:cNvPr id="42" name="文本框 41">
            <a:extLst>
              <a:ext uri="{FF2B5EF4-FFF2-40B4-BE49-F238E27FC236}">
                <a16:creationId xmlns:a16="http://schemas.microsoft.com/office/drawing/2014/main" id="{8BECB202-72D3-4B96-81F7-670DA6FB86B0}"/>
              </a:ext>
            </a:extLst>
          </p:cNvPr>
          <p:cNvSpPr txBox="1"/>
          <p:nvPr/>
        </p:nvSpPr>
        <p:spPr>
          <a:xfrm>
            <a:off x="3503712" y="2461373"/>
            <a:ext cx="8136904" cy="677108"/>
          </a:xfrm>
          <a:prstGeom prst="rect">
            <a:avLst/>
          </a:prstGeom>
          <a:noFill/>
          <a:ln w="12700" cap="sq">
            <a:noFill/>
            <a:miter lim="800000"/>
            <a:headEnd/>
            <a:tailEnd/>
          </a:ln>
          <a:effectLst/>
        </p:spPr>
        <p:txBody>
          <a:bodyPr lIns="0" tIns="0" rIns="0" bIns="0"/>
          <a:lstStyle>
            <a:defPPr>
              <a:defRPr lang="zh-CN"/>
            </a:defPPr>
            <a:lvl1pPr marL="96838" indent="-96838">
              <a:spcAft>
                <a:spcPct val="20000"/>
              </a:spcAft>
              <a:defRPr sz="4800" kern="0">
                <a:solidFill>
                  <a:srgbClr val="FFCC00"/>
                </a:solidFill>
                <a:effectLst>
                  <a:outerShdw blurRad="38100" dist="38100" dir="2700000" algn="tl">
                    <a:srgbClr val="000000"/>
                  </a:outerShdw>
                </a:effectLst>
                <a:latin typeface="Times New Roman" pitchFamily="18" charset="0"/>
              </a:defRPr>
            </a:lvl1pPr>
          </a:lstStyle>
          <a:p>
            <a:r>
              <a:rPr lang="zh-CN" altLang="en-US" dirty="0"/>
              <a:t>聚合函数名([</a:t>
            </a:r>
            <a:r>
              <a:rPr lang="en-US" altLang="zh-CN" dirty="0"/>
              <a:t>DISTINCT] </a:t>
            </a:r>
            <a:r>
              <a:rPr lang="zh-CN" altLang="en-US" dirty="0"/>
              <a:t>列名)</a:t>
            </a:r>
          </a:p>
        </p:txBody>
      </p:sp>
    </p:spTree>
    <p:extLst>
      <p:ext uri="{BB962C8B-B14F-4D97-AF65-F5344CB8AC3E}">
        <p14:creationId xmlns:p14="http://schemas.microsoft.com/office/powerpoint/2010/main" val="66282986"/>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72058" y="17356"/>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统计查询</a:t>
            </a:r>
          </a:p>
        </p:txBody>
      </p:sp>
      <p:pic>
        <p:nvPicPr>
          <p:cNvPr id="41" name="图片 40"/>
          <p:cNvPicPr>
            <a:picLocks noChangeAspect="1"/>
          </p:cNvPicPr>
          <p:nvPr/>
        </p:nvPicPr>
        <p:blipFill>
          <a:blip r:embed="rId3"/>
          <a:stretch>
            <a:fillRect/>
          </a:stretch>
        </p:blipFill>
        <p:spPr>
          <a:xfrm>
            <a:off x="1229576" y="3933056"/>
            <a:ext cx="6243641" cy="2361198"/>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42" name="Line 46"/>
          <p:cNvSpPr>
            <a:spLocks noChangeShapeType="1"/>
          </p:cNvSpPr>
          <p:nvPr/>
        </p:nvSpPr>
        <p:spPr bwMode="auto">
          <a:xfrm>
            <a:off x="2562820" y="4550685"/>
            <a:ext cx="936104" cy="0"/>
          </a:xfrm>
          <a:prstGeom prst="line">
            <a:avLst/>
          </a:prstGeom>
          <a:noFill/>
          <a:ln w="12700" cap="sq">
            <a:solidFill>
              <a:srgbClr val="FF0000"/>
            </a:solidFill>
            <a:round/>
            <a:headEnd/>
            <a:tailEnd/>
          </a:ln>
          <a:effectLst/>
        </p:spPr>
        <p:txBody>
          <a:bodyPr lIns="72000" tIns="72000" rIns="72000" bIns="72000"/>
          <a:lstStyle/>
          <a:p>
            <a:pPr>
              <a:defRPr/>
            </a:pPr>
            <a:endParaRPr lang="zh-CN" altLang="en-US" kern="0">
              <a:solidFill>
                <a:sysClr val="windowText" lastClr="000000"/>
              </a:solidFill>
            </a:endParaRPr>
          </a:p>
        </p:txBody>
      </p:sp>
      <p:sp>
        <p:nvSpPr>
          <p:cNvPr id="43" name="AutoShape 47"/>
          <p:cNvSpPr>
            <a:spLocks noChangeArrowheads="1"/>
          </p:cNvSpPr>
          <p:nvPr/>
        </p:nvSpPr>
        <p:spPr bwMode="auto">
          <a:xfrm>
            <a:off x="3512779" y="5251815"/>
            <a:ext cx="2727237" cy="1273529"/>
          </a:xfrm>
          <a:prstGeom prst="wedgeRoundRectCallout">
            <a:avLst>
              <a:gd name="adj1" fmla="val -45001"/>
              <a:gd name="adj2" fmla="val -96992"/>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just">
              <a:spcAft>
                <a:spcPct val="40000"/>
              </a:spcAft>
              <a:buClr>
                <a:srgbClr val="66FF33"/>
              </a:buClr>
              <a:buSzPct val="85000"/>
              <a:defRPr/>
            </a:pPr>
            <a:r>
              <a:rPr lang="zh-CN" altLang="en-US" sz="4000" kern="0" dirty="0">
                <a:solidFill>
                  <a:srgbClr val="FFFFCC"/>
                </a:solidFill>
                <a:effectLst>
                  <a:outerShdw blurRad="38100" dist="38100" dir="2700000" algn="tl">
                    <a:srgbClr val="000000"/>
                  </a:outerShdw>
                </a:effectLst>
                <a:latin typeface="Times New Roman" pitchFamily="18" charset="0"/>
              </a:rPr>
              <a:t>“*”即整行的意思</a:t>
            </a:r>
          </a:p>
        </p:txBody>
      </p:sp>
      <p:sp>
        <p:nvSpPr>
          <p:cNvPr id="44" name="Rectangle 48"/>
          <p:cNvSpPr>
            <a:spLocks noChangeArrowheads="1"/>
          </p:cNvSpPr>
          <p:nvPr/>
        </p:nvSpPr>
        <p:spPr bwMode="auto">
          <a:xfrm>
            <a:off x="8163120" y="4360230"/>
            <a:ext cx="3117456" cy="1805074"/>
          </a:xfrm>
          <a:prstGeom prst="rect">
            <a:avLst/>
          </a:prstGeom>
          <a:solidFill>
            <a:srgbClr val="0000CC"/>
          </a:solidFill>
          <a:ln w="57150" cap="sq">
            <a:solidFill>
              <a:srgbClr val="0070C0"/>
            </a:solidFill>
            <a:miter lim="800000"/>
            <a:headEnd/>
            <a:tailEnd/>
          </a:ln>
          <a:effectLst>
            <a:outerShdw dist="107763" dir="2700000" algn="ctr" rotWithShape="0">
              <a:srgbClr val="000514">
                <a:alpha val="50000"/>
              </a:srgbClr>
            </a:outerShdw>
          </a:effectLst>
        </p:spPr>
        <p:txBody>
          <a:bodyPr lIns="108000" tIns="0" rIns="108000" bIns="0" anchor="ctr"/>
          <a:lstStyle/>
          <a:p>
            <a:pPr>
              <a:spcAft>
                <a:spcPct val="0"/>
              </a:spcAft>
              <a:defRPr/>
            </a:pPr>
            <a:r>
              <a:rPr lang="zh-CN" altLang="en-US" sz="4000" kern="0" dirty="0">
                <a:solidFill>
                  <a:schemeClr val="bg1"/>
                </a:solidFill>
                <a:effectLst>
                  <a:outerShdw blurRad="38100" dist="38100" dir="2700000" algn="tl">
                    <a:srgbClr val="000000"/>
                  </a:outerShdw>
                </a:effectLst>
                <a:latin typeface="Times New Roman" pitchFamily="18" charset="0"/>
              </a:rPr>
              <a:t>只有</a:t>
            </a:r>
            <a:r>
              <a:rPr lang="en-US" altLang="zh-CN" sz="4000" b="1" kern="0" dirty="0">
                <a:solidFill>
                  <a:schemeClr val="bg1"/>
                </a:solidFill>
                <a:effectLst>
                  <a:outerShdw blurRad="38100" dist="38100" dir="2700000" algn="tl">
                    <a:srgbClr val="000000"/>
                  </a:outerShdw>
                </a:effectLst>
                <a:latin typeface="Times New Roman" pitchFamily="18" charset="0"/>
              </a:rPr>
              <a:t>Count</a:t>
            </a:r>
            <a:r>
              <a:rPr lang="zh-CN" altLang="en-US" sz="4000" kern="0" dirty="0">
                <a:solidFill>
                  <a:schemeClr val="bg1"/>
                </a:solidFill>
                <a:effectLst>
                  <a:outerShdw blurRad="38100" dist="38100" dir="2700000" algn="tl">
                    <a:srgbClr val="000000"/>
                  </a:outerShdw>
                </a:effectLst>
                <a:latin typeface="Times New Roman" pitchFamily="18" charset="0"/>
              </a:rPr>
              <a:t>才能用“*”</a:t>
            </a:r>
          </a:p>
        </p:txBody>
      </p:sp>
      <p:sp>
        <p:nvSpPr>
          <p:cNvPr id="45" name="Rectangle 50"/>
          <p:cNvSpPr txBox="1">
            <a:spLocks noChangeArrowheads="1"/>
          </p:cNvSpPr>
          <p:nvPr/>
        </p:nvSpPr>
        <p:spPr bwMode="auto">
          <a:xfrm>
            <a:off x="479376" y="908720"/>
            <a:ext cx="7228261" cy="769441"/>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eaLnBrk="1" hangingPunct="1">
              <a:spcAft>
                <a:spcPct val="0"/>
              </a:spcAft>
              <a:buClr>
                <a:srgbClr val="FFFFFF"/>
              </a:buClr>
              <a:buFont typeface="Wingdings" pitchFamily="2" charset="2"/>
              <a:buChar char="§"/>
              <a:defRPr/>
            </a:pPr>
            <a:r>
              <a:rPr kumimoji="1" lang="zh-CN" altLang="en-US" sz="4400" kern="0" dirty="0">
                <a:solidFill>
                  <a:srgbClr val="FFFFFF"/>
                </a:solidFill>
                <a:latin typeface="楷体_GB2312" pitchFamily="49" charset="-122"/>
              </a:rPr>
              <a:t>使用聚合函数进行简单统计</a:t>
            </a:r>
          </a:p>
        </p:txBody>
      </p:sp>
      <p:pic>
        <p:nvPicPr>
          <p:cNvPr id="46" name="图片 45"/>
          <p:cNvPicPr>
            <a:picLocks noChangeAspect="1"/>
          </p:cNvPicPr>
          <p:nvPr/>
        </p:nvPicPr>
        <p:blipFill>
          <a:blip r:embed="rId5"/>
          <a:stretch>
            <a:fillRect/>
          </a:stretch>
        </p:blipFill>
        <p:spPr>
          <a:xfrm>
            <a:off x="1229576" y="1881971"/>
            <a:ext cx="5724406"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47" name="AutoShape 14"/>
          <p:cNvSpPr>
            <a:spLocks noChangeArrowheads="1"/>
          </p:cNvSpPr>
          <p:nvPr/>
        </p:nvSpPr>
        <p:spPr bwMode="auto">
          <a:xfrm>
            <a:off x="8163120" y="1777690"/>
            <a:ext cx="1389264" cy="1440160"/>
          </a:xfrm>
          <a:prstGeom prst="wedgeRoundRectCallout">
            <a:avLst>
              <a:gd name="adj1" fmla="val -129529"/>
              <a:gd name="adj2" fmla="val -10136"/>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4000" kern="0" dirty="0">
                <a:solidFill>
                  <a:srgbClr val="FFFFCC"/>
                </a:solidFill>
                <a:effectLst>
                  <a:outerShdw blurRad="38100" dist="38100" dir="2700000" algn="tl">
                    <a:srgbClr val="000000"/>
                  </a:outerShdw>
                </a:effectLst>
                <a:latin typeface="Times New Roman" pitchFamily="18" charset="0"/>
              </a:rPr>
              <a:t>原始数据</a:t>
            </a:r>
          </a:p>
        </p:txBody>
      </p:sp>
    </p:spTree>
    <p:extLst>
      <p:ext uri="{BB962C8B-B14F-4D97-AF65-F5344CB8AC3E}">
        <p14:creationId xmlns:p14="http://schemas.microsoft.com/office/powerpoint/2010/main" val="1706160559"/>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72058" y="17356"/>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统计查询</a:t>
            </a:r>
          </a:p>
        </p:txBody>
      </p:sp>
      <p:sp>
        <p:nvSpPr>
          <p:cNvPr id="45" name="Rectangle 50"/>
          <p:cNvSpPr txBox="1">
            <a:spLocks noChangeArrowheads="1"/>
          </p:cNvSpPr>
          <p:nvPr/>
        </p:nvSpPr>
        <p:spPr bwMode="auto">
          <a:xfrm>
            <a:off x="479376" y="908720"/>
            <a:ext cx="7228261" cy="769441"/>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eaLnBrk="1" hangingPunct="1">
              <a:spcAft>
                <a:spcPct val="0"/>
              </a:spcAft>
              <a:buClr>
                <a:srgbClr val="FFFFFF"/>
              </a:buClr>
              <a:buFont typeface="Wingdings" pitchFamily="2" charset="2"/>
              <a:buChar char="§"/>
              <a:defRPr/>
            </a:pPr>
            <a:r>
              <a:rPr kumimoji="1" lang="zh-CN" altLang="en-US" sz="4400" kern="0" dirty="0">
                <a:solidFill>
                  <a:srgbClr val="FFFFFF"/>
                </a:solidFill>
                <a:latin typeface="楷体_GB2312" pitchFamily="49" charset="-122"/>
              </a:rPr>
              <a:t>使用聚合函数进行简单统计</a:t>
            </a:r>
          </a:p>
        </p:txBody>
      </p:sp>
      <p:pic>
        <p:nvPicPr>
          <p:cNvPr id="46" name="图片 45"/>
          <p:cNvPicPr>
            <a:picLocks noChangeAspect="1"/>
          </p:cNvPicPr>
          <p:nvPr/>
        </p:nvPicPr>
        <p:blipFill>
          <a:blip r:embed="rId4"/>
          <a:stretch>
            <a:fillRect/>
          </a:stretch>
        </p:blipFill>
        <p:spPr>
          <a:xfrm>
            <a:off x="1229576" y="1881971"/>
            <a:ext cx="5724406"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47" name="AutoShape 14"/>
          <p:cNvSpPr>
            <a:spLocks noChangeArrowheads="1"/>
          </p:cNvSpPr>
          <p:nvPr/>
        </p:nvSpPr>
        <p:spPr bwMode="auto">
          <a:xfrm>
            <a:off x="7564449" y="2615801"/>
            <a:ext cx="1440160" cy="1282061"/>
          </a:xfrm>
          <a:prstGeom prst="wedgeRoundRectCallout">
            <a:avLst>
              <a:gd name="adj1" fmla="val -82371"/>
              <a:gd name="adj2" fmla="val -36046"/>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4000" kern="0" dirty="0">
                <a:solidFill>
                  <a:srgbClr val="FFFFCC"/>
                </a:solidFill>
                <a:effectLst>
                  <a:outerShdw blurRad="38100" dist="38100" dir="2700000" algn="tl">
                    <a:srgbClr val="000000"/>
                  </a:outerShdw>
                </a:effectLst>
                <a:latin typeface="Times New Roman" pitchFamily="18" charset="0"/>
              </a:rPr>
              <a:t>原始数据</a:t>
            </a:r>
          </a:p>
        </p:txBody>
      </p:sp>
      <p:pic>
        <p:nvPicPr>
          <p:cNvPr id="10" name="Picture 13"/>
          <p:cNvPicPr>
            <a:picLocks noChangeAspect="1" noChangeArrowheads="1"/>
          </p:cNvPicPr>
          <p:nvPr/>
        </p:nvPicPr>
        <p:blipFill rotWithShape="1">
          <a:blip r:embed="rId5">
            <a:extLst>
              <a:ext uri="{28A0092B-C50C-407E-A947-70E740481C1C}">
                <a14:useLocalDpi xmlns:a14="http://schemas.microsoft.com/office/drawing/2010/main" val="0"/>
              </a:ext>
            </a:extLst>
          </a:blip>
          <a:srcRect l="6186" t="7995" r="519" b="7839"/>
          <a:stretch/>
        </p:blipFill>
        <p:spPr bwMode="auto">
          <a:xfrm>
            <a:off x="1211253" y="4077072"/>
            <a:ext cx="5737790" cy="208751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1" name="Line 14"/>
          <p:cNvSpPr>
            <a:spLocks noChangeShapeType="1"/>
          </p:cNvSpPr>
          <p:nvPr/>
        </p:nvSpPr>
        <p:spPr bwMode="auto">
          <a:xfrm>
            <a:off x="2027902" y="4542308"/>
            <a:ext cx="2186632" cy="0"/>
          </a:xfrm>
          <a:prstGeom prst="line">
            <a:avLst/>
          </a:prstGeom>
          <a:noFill/>
          <a:ln w="28575" cap="sq">
            <a:solidFill>
              <a:srgbClr val="FF0000"/>
            </a:solidFill>
            <a:round/>
            <a:headEnd/>
            <a:tailEnd/>
          </a:ln>
          <a:effectLst/>
        </p:spPr>
        <p:txBody>
          <a:bodyPr lIns="72000" tIns="72000" rIns="72000" bIns="72000"/>
          <a:lstStyle/>
          <a:p>
            <a:pPr>
              <a:defRPr/>
            </a:pPr>
            <a:endParaRPr lang="zh-CN" altLang="en-US" kern="0">
              <a:solidFill>
                <a:sysClr val="windowText" lastClr="000000"/>
              </a:solidFill>
            </a:endParaRPr>
          </a:p>
        </p:txBody>
      </p:sp>
      <p:sp>
        <p:nvSpPr>
          <p:cNvPr id="12" name="AutoShape 15"/>
          <p:cNvSpPr>
            <a:spLocks noChangeArrowheads="1"/>
          </p:cNvSpPr>
          <p:nvPr/>
        </p:nvSpPr>
        <p:spPr bwMode="auto">
          <a:xfrm>
            <a:off x="2631153" y="5085183"/>
            <a:ext cx="5625087" cy="1426071"/>
          </a:xfrm>
          <a:prstGeom prst="wedgeRoundRectCallout">
            <a:avLst>
              <a:gd name="adj1" fmla="val -27146"/>
              <a:gd name="adj2" fmla="val -82510"/>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4000" kern="0" dirty="0">
                <a:solidFill>
                  <a:srgbClr val="FFFFCC"/>
                </a:solidFill>
                <a:effectLst>
                  <a:outerShdw blurRad="38100" dist="38100" dir="2700000" algn="tl">
                    <a:srgbClr val="000000"/>
                  </a:outerShdw>
                </a:effectLst>
                <a:latin typeface="Times New Roman" pitchFamily="18" charset="0"/>
              </a:rPr>
              <a:t>按不重复的职称列的值计数，注意空值不计数</a:t>
            </a:r>
          </a:p>
        </p:txBody>
      </p:sp>
      <p:sp>
        <p:nvSpPr>
          <p:cNvPr id="13" name="AutoShape 16"/>
          <p:cNvSpPr>
            <a:spLocks noChangeArrowheads="1"/>
          </p:cNvSpPr>
          <p:nvPr/>
        </p:nvSpPr>
        <p:spPr bwMode="auto">
          <a:xfrm>
            <a:off x="8775680" y="5229200"/>
            <a:ext cx="2776836" cy="1282060"/>
          </a:xfrm>
          <a:prstGeom prst="wedgeRoundRectCallout">
            <a:avLst>
              <a:gd name="adj1" fmla="val 19563"/>
              <a:gd name="adj2" fmla="val -73757"/>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4000" kern="0">
                <a:solidFill>
                  <a:srgbClr val="FFFFCC"/>
                </a:solidFill>
                <a:effectLst>
                  <a:outerShdw blurRad="38100" dist="38100" dir="2700000" algn="tl">
                    <a:srgbClr val="000000"/>
                  </a:outerShdw>
                </a:effectLst>
                <a:latin typeface="Times New Roman" pitchFamily="18" charset="0"/>
              </a:rPr>
              <a:t>实际有这</a:t>
            </a:r>
            <a:r>
              <a:rPr lang="en-US" altLang="zh-CN" sz="4000" kern="0" dirty="0">
                <a:solidFill>
                  <a:srgbClr val="FFFFCC"/>
                </a:solidFill>
                <a:effectLst>
                  <a:outerShdw blurRad="38100" dist="38100" dir="2700000" algn="tl">
                    <a:srgbClr val="000000"/>
                  </a:outerShdw>
                </a:effectLst>
                <a:latin typeface="Times New Roman" pitchFamily="18" charset="0"/>
              </a:rPr>
              <a:t>5</a:t>
            </a:r>
            <a:r>
              <a:rPr lang="zh-CN" altLang="en-US" sz="4000" kern="0" dirty="0">
                <a:solidFill>
                  <a:srgbClr val="FFFFCC"/>
                </a:solidFill>
                <a:effectLst>
                  <a:outerShdw blurRad="38100" dist="38100" dir="2700000" algn="tl">
                    <a:srgbClr val="000000"/>
                  </a:outerShdw>
                </a:effectLst>
                <a:latin typeface="Times New Roman" pitchFamily="18" charset="0"/>
              </a:rPr>
              <a:t>种职称值</a:t>
            </a:r>
          </a:p>
        </p:txBody>
      </p:sp>
      <p:pic>
        <p:nvPicPr>
          <p:cNvPr id="14"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52384" y="2171210"/>
            <a:ext cx="1831518" cy="2515580"/>
          </a:xfrm>
          <a:prstGeom prst="rect">
            <a:avLst/>
          </a:prstGeom>
          <a:noFill/>
          <a:ln w="38100" cap="sq"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8221515"/>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7" name="arrow.wav"/>
          </p:stSnd>
        </p:sndAc>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72058" y="17356"/>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统计查询</a:t>
            </a:r>
          </a:p>
        </p:txBody>
      </p:sp>
      <p:sp>
        <p:nvSpPr>
          <p:cNvPr id="45" name="Rectangle 50"/>
          <p:cNvSpPr txBox="1">
            <a:spLocks noChangeArrowheads="1"/>
          </p:cNvSpPr>
          <p:nvPr/>
        </p:nvSpPr>
        <p:spPr bwMode="auto">
          <a:xfrm>
            <a:off x="479376" y="908720"/>
            <a:ext cx="7228261" cy="769441"/>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eaLnBrk="1" hangingPunct="1">
              <a:spcAft>
                <a:spcPct val="0"/>
              </a:spcAft>
              <a:buClr>
                <a:srgbClr val="FFFFFF"/>
              </a:buClr>
              <a:buFont typeface="Wingdings" pitchFamily="2" charset="2"/>
              <a:buChar char="§"/>
              <a:defRPr/>
            </a:pPr>
            <a:r>
              <a:rPr kumimoji="1" lang="zh-CN" altLang="en-US" sz="4400" kern="0" dirty="0">
                <a:solidFill>
                  <a:srgbClr val="FFFFFF"/>
                </a:solidFill>
                <a:latin typeface="楷体_GB2312" pitchFamily="49" charset="-122"/>
              </a:rPr>
              <a:t>使用聚合函数进行简单统计</a:t>
            </a:r>
          </a:p>
        </p:txBody>
      </p:sp>
      <p:pic>
        <p:nvPicPr>
          <p:cNvPr id="46" name="图片 45"/>
          <p:cNvPicPr>
            <a:picLocks noChangeAspect="1"/>
          </p:cNvPicPr>
          <p:nvPr/>
        </p:nvPicPr>
        <p:blipFill>
          <a:blip r:embed="rId4"/>
          <a:stretch>
            <a:fillRect/>
          </a:stretch>
        </p:blipFill>
        <p:spPr>
          <a:xfrm>
            <a:off x="983432" y="1881971"/>
            <a:ext cx="5724406"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47" name="AutoShape 14"/>
          <p:cNvSpPr>
            <a:spLocks noChangeArrowheads="1"/>
          </p:cNvSpPr>
          <p:nvPr/>
        </p:nvSpPr>
        <p:spPr bwMode="auto">
          <a:xfrm>
            <a:off x="8256240" y="908720"/>
            <a:ext cx="1440160" cy="1282061"/>
          </a:xfrm>
          <a:prstGeom prst="wedgeRoundRectCallout">
            <a:avLst>
              <a:gd name="adj1" fmla="val -131114"/>
              <a:gd name="adj2" fmla="val 47524"/>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4000" kern="0">
                <a:solidFill>
                  <a:srgbClr val="FFFFCC"/>
                </a:solidFill>
                <a:effectLst>
                  <a:outerShdw blurRad="38100" dist="38100" dir="2700000" algn="tl">
                    <a:srgbClr val="000000"/>
                  </a:outerShdw>
                </a:effectLst>
                <a:latin typeface="Times New Roman" pitchFamily="18" charset="0"/>
              </a:rPr>
              <a:t>原始数据</a:t>
            </a:r>
          </a:p>
        </p:txBody>
      </p:sp>
      <p:pic>
        <p:nvPicPr>
          <p:cNvPr id="15" name="Picture 14"/>
          <p:cNvPicPr>
            <a:picLocks noChangeAspect="1" noChangeArrowheads="1"/>
          </p:cNvPicPr>
          <p:nvPr/>
        </p:nvPicPr>
        <p:blipFill rotWithShape="1">
          <a:blip r:embed="rId5">
            <a:extLst>
              <a:ext uri="{28A0092B-C50C-407E-A947-70E740481C1C}">
                <a14:useLocalDpi xmlns:a14="http://schemas.microsoft.com/office/drawing/2010/main" val="0"/>
              </a:ext>
            </a:extLst>
          </a:blip>
          <a:srcRect l="6553" t="5999" r="5684" b="9250"/>
          <a:stretch/>
        </p:blipFill>
        <p:spPr bwMode="auto">
          <a:xfrm>
            <a:off x="983432" y="3614033"/>
            <a:ext cx="5724406" cy="2863215"/>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6" name="AutoShape 15"/>
          <p:cNvSpPr>
            <a:spLocks noChangeArrowheads="1"/>
          </p:cNvSpPr>
          <p:nvPr/>
        </p:nvSpPr>
        <p:spPr bwMode="auto">
          <a:xfrm>
            <a:off x="7176120" y="2969533"/>
            <a:ext cx="4608512" cy="3507715"/>
          </a:xfrm>
          <a:prstGeom prst="wedgeRoundRectCallout">
            <a:avLst>
              <a:gd name="adj1" fmla="val -82289"/>
              <a:gd name="adj2" fmla="val -14746"/>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just">
              <a:spcAft>
                <a:spcPct val="40000"/>
              </a:spcAft>
              <a:buClr>
                <a:srgbClr val="66FF33"/>
              </a:buClr>
              <a:buSzPct val="85000"/>
              <a:defRPr/>
            </a:pPr>
            <a:r>
              <a:rPr lang="zh-CN" altLang="en-US" sz="4000" kern="0" dirty="0">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rPr>
              <a:t>多项统计可以在一条命令中实现。</a:t>
            </a:r>
          </a:p>
          <a:p>
            <a:pPr>
              <a:spcAft>
                <a:spcPct val="40000"/>
              </a:spcAft>
              <a:buClr>
                <a:srgbClr val="66FF33"/>
              </a:buClr>
              <a:buSzPct val="85000"/>
              <a:defRPr/>
            </a:pPr>
            <a:r>
              <a:rPr lang="zh-CN" altLang="en-US" sz="4000" kern="0" dirty="0">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rPr>
              <a:t>Ｒ</a:t>
            </a:r>
            <a:r>
              <a:rPr lang="en-US" altLang="zh-CN" sz="4000" kern="0" dirty="0" err="1">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rPr>
              <a:t>ound</a:t>
            </a:r>
            <a:r>
              <a:rPr lang="zh-CN" altLang="en-US" sz="4000" kern="0" dirty="0">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rPr>
              <a:t>（Ｍ</a:t>
            </a:r>
            <a:r>
              <a:rPr lang="en-US" altLang="zh-CN" sz="4000" kern="0" dirty="0">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rPr>
              <a:t>,N</a:t>
            </a:r>
            <a:r>
              <a:rPr lang="zh-CN" altLang="en-US" sz="4000" kern="0" dirty="0">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rPr>
              <a:t>）表示对数值</a:t>
            </a:r>
            <a:r>
              <a:rPr lang="en-US" altLang="zh-CN" sz="4000" kern="0" dirty="0">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rPr>
              <a:t>M</a:t>
            </a:r>
            <a:r>
              <a:rPr lang="zh-CN" altLang="en-US" sz="4000" kern="0" dirty="0">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rPr>
              <a:t>四舍五入到</a:t>
            </a:r>
            <a:r>
              <a:rPr lang="en-US" altLang="zh-CN" sz="4000" kern="0" dirty="0">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rPr>
              <a:t>N</a:t>
            </a:r>
            <a:r>
              <a:rPr lang="zh-CN" altLang="en-US" sz="4000" kern="0" dirty="0">
                <a:solidFill>
                  <a:srgbClr val="FFFFCC"/>
                </a:solidFill>
                <a:effectLst>
                  <a:outerShdw blurRad="38100" dist="38100" dir="2700000" algn="tl">
                    <a:srgbClr val="000000"/>
                  </a:outerShdw>
                </a:effectLst>
                <a:latin typeface="Arial" panose="020B0604020202020204" pitchFamily="34" charset="0"/>
                <a:cs typeface="Arial" panose="020B0604020202020204" pitchFamily="34" charset="0"/>
              </a:rPr>
              <a:t>位小数</a:t>
            </a:r>
          </a:p>
        </p:txBody>
      </p:sp>
      <p:sp>
        <p:nvSpPr>
          <p:cNvPr id="17" name="AutoShape 16"/>
          <p:cNvSpPr>
            <a:spLocks noChangeArrowheads="1"/>
          </p:cNvSpPr>
          <p:nvPr/>
        </p:nvSpPr>
        <p:spPr bwMode="auto">
          <a:xfrm>
            <a:off x="1776782" y="3861048"/>
            <a:ext cx="3744416" cy="1176040"/>
          </a:xfrm>
          <a:prstGeom prst="roundRect">
            <a:avLst>
              <a:gd name="adj" fmla="val 4847"/>
            </a:avLst>
          </a:prstGeom>
          <a:solidFill>
            <a:srgbClr val="009900">
              <a:alpha val="17999"/>
            </a:srgbClr>
          </a:solidFill>
          <a:ln w="12700" cap="sq" algn="ctr">
            <a:noFill/>
            <a:round/>
            <a:headEnd/>
            <a:tailEnd/>
          </a:ln>
          <a:effectLst/>
        </p:spPr>
        <p:txBody>
          <a:bodyPr wrap="none" lIns="72000" tIns="72000" rIns="72000" bIns="72000" anchor="ctr"/>
          <a:lstStyle/>
          <a:p>
            <a:pPr>
              <a:defRPr/>
            </a:pPr>
            <a:endParaRPr lang="zh-CN" altLang="en-US" kern="0">
              <a:solidFill>
                <a:sysClr val="windowText" lastClr="000000"/>
              </a:solidFill>
            </a:endParaRPr>
          </a:p>
        </p:txBody>
      </p:sp>
    </p:spTree>
    <p:extLst>
      <p:ext uri="{BB962C8B-B14F-4D97-AF65-F5344CB8AC3E}">
        <p14:creationId xmlns:p14="http://schemas.microsoft.com/office/powerpoint/2010/main" val="1222916335"/>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5F9375-AB47-4E51-9F53-721BDD3EA103}"/>
              </a:ext>
            </a:extLst>
          </p:cNvPr>
          <p:cNvSpPr>
            <a:spLocks noGrp="1"/>
          </p:cNvSpPr>
          <p:nvPr>
            <p:ph type="title"/>
          </p:nvPr>
        </p:nvSpPr>
        <p:spPr>
          <a:xfrm>
            <a:off x="2496648" y="89440"/>
            <a:ext cx="2768707" cy="707886"/>
          </a:xfrm>
        </p:spPr>
        <p:txBody>
          <a:bodyPr/>
          <a:lstStyle/>
          <a:p>
            <a:pPr eaLnBrk="1" hangingPunct="1">
              <a:defRPr/>
            </a:pPr>
            <a:r>
              <a:rPr lang="en-US" altLang="zh-CN">
                <a:solidFill>
                  <a:schemeClr val="bg2"/>
                </a:solidFill>
              </a:rPr>
              <a:t>Count</a:t>
            </a:r>
            <a:r>
              <a:rPr lang="zh-CN" altLang="en-US">
                <a:solidFill>
                  <a:schemeClr val="bg2"/>
                </a:solidFill>
              </a:rPr>
              <a:t>用法</a:t>
            </a:r>
          </a:p>
        </p:txBody>
      </p:sp>
      <p:sp>
        <p:nvSpPr>
          <p:cNvPr id="44035" name="内容占位符 2">
            <a:extLst>
              <a:ext uri="{FF2B5EF4-FFF2-40B4-BE49-F238E27FC236}">
                <a16:creationId xmlns:a16="http://schemas.microsoft.com/office/drawing/2014/main" id="{834C378E-EE74-47C2-980E-B498A16F5DAD}"/>
              </a:ext>
            </a:extLst>
          </p:cNvPr>
          <p:cNvSpPr>
            <a:spLocks noGrp="1" noChangeArrowheads="1"/>
          </p:cNvSpPr>
          <p:nvPr>
            <p:ph idx="1"/>
          </p:nvPr>
        </p:nvSpPr>
        <p:spPr/>
        <p:txBody>
          <a:bodyPr/>
          <a:lstStyle/>
          <a:p>
            <a:pPr eaLnBrk="1" hangingPunct="1"/>
            <a:r>
              <a:rPr lang="en-US" altLang="zh-CN" dirty="0">
                <a:solidFill>
                  <a:schemeClr val="bg2"/>
                </a:solidFill>
              </a:rPr>
              <a:t>1</a:t>
            </a:r>
            <a:r>
              <a:rPr lang="zh-CN" altLang="en-US" dirty="0">
                <a:solidFill>
                  <a:schemeClr val="bg2"/>
                </a:solidFill>
              </a:rPr>
              <a:t>、语法</a:t>
            </a:r>
            <a:r>
              <a:rPr lang="en-US" altLang="zh-CN" dirty="0">
                <a:solidFill>
                  <a:schemeClr val="bg2"/>
                </a:solidFill>
              </a:rPr>
              <a:t>SQL COUNT(</a:t>
            </a:r>
            <a:r>
              <a:rPr lang="en-US" altLang="zh-CN" dirty="0" err="1">
                <a:solidFill>
                  <a:schemeClr val="bg2"/>
                </a:solidFill>
              </a:rPr>
              <a:t>column_name</a:t>
            </a:r>
            <a:r>
              <a:rPr lang="en-US" altLang="zh-CN" dirty="0">
                <a:solidFill>
                  <a:schemeClr val="bg2"/>
                </a:solidFill>
              </a:rPr>
              <a:t>)</a:t>
            </a:r>
          </a:p>
          <a:p>
            <a:pPr eaLnBrk="1" hangingPunct="1"/>
            <a:r>
              <a:rPr lang="en-US" altLang="zh-CN" dirty="0">
                <a:solidFill>
                  <a:schemeClr val="bg2"/>
                </a:solidFill>
              </a:rPr>
              <a:t>COUNT(</a:t>
            </a:r>
            <a:r>
              <a:rPr lang="en-US" altLang="zh-CN" dirty="0" err="1">
                <a:solidFill>
                  <a:schemeClr val="bg2"/>
                </a:solidFill>
              </a:rPr>
              <a:t>column_name</a:t>
            </a:r>
            <a:r>
              <a:rPr lang="en-US" altLang="zh-CN" dirty="0">
                <a:solidFill>
                  <a:schemeClr val="bg2"/>
                </a:solidFill>
              </a:rPr>
              <a:t>) </a:t>
            </a:r>
            <a:r>
              <a:rPr lang="zh-CN" altLang="en-US" dirty="0">
                <a:solidFill>
                  <a:schemeClr val="bg2"/>
                </a:solidFill>
              </a:rPr>
              <a:t>函数返回指定列的值的数目（</a:t>
            </a:r>
            <a:r>
              <a:rPr lang="en-US" altLang="zh-CN" dirty="0">
                <a:solidFill>
                  <a:schemeClr val="bg2"/>
                </a:solidFill>
              </a:rPr>
              <a:t>NULL </a:t>
            </a:r>
            <a:r>
              <a:rPr lang="zh-CN" altLang="en-US" dirty="0">
                <a:solidFill>
                  <a:schemeClr val="bg2"/>
                </a:solidFill>
              </a:rPr>
              <a:t>不计入）。</a:t>
            </a:r>
          </a:p>
        </p:txBody>
      </p:sp>
      <p:pic>
        <p:nvPicPr>
          <p:cNvPr id="504834" name="Picture 2">
            <a:extLst>
              <a:ext uri="{FF2B5EF4-FFF2-40B4-BE49-F238E27FC236}">
                <a16:creationId xmlns:a16="http://schemas.microsoft.com/office/drawing/2014/main" id="{08B66339-2872-4070-85B9-F7EFDAE9D22F}"/>
              </a:ext>
            </a:extLst>
          </p:cNvPr>
          <p:cNvPicPr>
            <a:picLocks noChangeAspect="1" noChangeArrowheads="1"/>
          </p:cNvPicPr>
          <p:nvPr/>
        </p:nvPicPr>
        <p:blipFill>
          <a:blip r:embed="rId3" cstate="print"/>
          <a:srcRect/>
          <a:stretch>
            <a:fillRect/>
          </a:stretch>
        </p:blipFill>
        <p:spPr bwMode="auto">
          <a:xfrm>
            <a:off x="2534886" y="3733801"/>
            <a:ext cx="7075487" cy="19716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内容占位符 2">
            <a:extLst>
              <a:ext uri="{FF2B5EF4-FFF2-40B4-BE49-F238E27FC236}">
                <a16:creationId xmlns:a16="http://schemas.microsoft.com/office/drawing/2014/main" id="{0ACB4828-4C3B-4D0C-9324-1B7B6D2E2A83}"/>
              </a:ext>
            </a:extLst>
          </p:cNvPr>
          <p:cNvSpPr>
            <a:spLocks noGrp="1" noChangeArrowheads="1"/>
          </p:cNvSpPr>
          <p:nvPr>
            <p:ph idx="1"/>
          </p:nvPr>
        </p:nvSpPr>
        <p:spPr>
          <a:xfrm>
            <a:off x="1828800" y="381000"/>
            <a:ext cx="8229600" cy="4495800"/>
          </a:xfrm>
        </p:spPr>
        <p:txBody>
          <a:bodyPr/>
          <a:lstStyle/>
          <a:p>
            <a:pPr eaLnBrk="1" hangingPunct="1"/>
            <a:r>
              <a:rPr lang="en-US" altLang="zh-CN" sz="2800">
                <a:solidFill>
                  <a:schemeClr val="bg2"/>
                </a:solidFill>
                <a:latin typeface="微软雅黑" panose="020B0503020204020204" pitchFamily="34" charset="-122"/>
              </a:rPr>
              <a:t>2</a:t>
            </a:r>
            <a:r>
              <a:rPr lang="zh-CN" altLang="en-US" sz="2800">
                <a:solidFill>
                  <a:schemeClr val="bg2"/>
                </a:solidFill>
                <a:latin typeface="微软雅黑" panose="020B0503020204020204" pitchFamily="34" charset="-122"/>
              </a:rPr>
              <a:t>、语法：</a:t>
            </a:r>
            <a:r>
              <a:rPr lang="en-US" altLang="zh-CN" sz="2800">
                <a:solidFill>
                  <a:schemeClr val="bg2"/>
                </a:solidFill>
                <a:latin typeface="微软雅黑" panose="020B0503020204020204" pitchFamily="34" charset="-122"/>
              </a:rPr>
              <a:t>SQL COUNT(*)</a:t>
            </a:r>
          </a:p>
          <a:p>
            <a:pPr eaLnBrk="1" hangingPunct="1"/>
            <a:r>
              <a:rPr lang="en-US" altLang="zh-CN" sz="2800">
                <a:solidFill>
                  <a:schemeClr val="bg2"/>
                </a:solidFill>
                <a:latin typeface="微软雅黑" panose="020B0503020204020204" pitchFamily="34" charset="-122"/>
              </a:rPr>
              <a:t>COUNT(*) </a:t>
            </a:r>
            <a:r>
              <a:rPr lang="zh-CN" altLang="en-US" sz="2800">
                <a:solidFill>
                  <a:schemeClr val="bg2"/>
                </a:solidFill>
                <a:latin typeface="微软雅黑" panose="020B0503020204020204" pitchFamily="34" charset="-122"/>
              </a:rPr>
              <a:t>函数返回符合查询条件的表的记录数。</a:t>
            </a:r>
            <a:endParaRPr lang="zh-CN" altLang="en-US" sz="2800">
              <a:solidFill>
                <a:srgbClr val="FF0000"/>
              </a:solidFill>
              <a:latin typeface="微软雅黑" panose="020B0503020204020204" pitchFamily="34" charset="-122"/>
            </a:endParaRPr>
          </a:p>
        </p:txBody>
      </p:sp>
      <p:pic>
        <p:nvPicPr>
          <p:cNvPr id="505858" name="Picture 2">
            <a:extLst>
              <a:ext uri="{FF2B5EF4-FFF2-40B4-BE49-F238E27FC236}">
                <a16:creationId xmlns:a16="http://schemas.microsoft.com/office/drawing/2014/main" id="{3E3BFB9E-BD28-40F5-90B1-953791BDEFA0}"/>
              </a:ext>
            </a:extLst>
          </p:cNvPr>
          <p:cNvPicPr>
            <a:picLocks noChangeAspect="1" noChangeArrowheads="1"/>
          </p:cNvPicPr>
          <p:nvPr/>
        </p:nvPicPr>
        <p:blipFill>
          <a:blip r:embed="rId3" cstate="print"/>
          <a:srcRect/>
          <a:stretch>
            <a:fillRect/>
          </a:stretch>
        </p:blipFill>
        <p:spPr bwMode="auto">
          <a:xfrm>
            <a:off x="3657600" y="2133600"/>
            <a:ext cx="5317588" cy="2133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05859" name="Picture 3">
            <a:extLst>
              <a:ext uri="{FF2B5EF4-FFF2-40B4-BE49-F238E27FC236}">
                <a16:creationId xmlns:a16="http://schemas.microsoft.com/office/drawing/2014/main" id="{C75B4A96-56F9-4665-9FBA-8AFACF67BB38}"/>
              </a:ext>
            </a:extLst>
          </p:cNvPr>
          <p:cNvPicPr>
            <a:picLocks noChangeAspect="1" noChangeArrowheads="1"/>
          </p:cNvPicPr>
          <p:nvPr/>
        </p:nvPicPr>
        <p:blipFill>
          <a:blip r:embed="rId4" cstate="print"/>
          <a:srcRect/>
          <a:stretch>
            <a:fillRect/>
          </a:stretch>
        </p:blipFill>
        <p:spPr bwMode="auto">
          <a:xfrm>
            <a:off x="3048001" y="4800601"/>
            <a:ext cx="6856413" cy="18383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5" name="arrow.wav"/>
          </p:stSnd>
        </p:sndAc>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AEFDBBB0-8003-4A11-9DC1-E4CE83169B1D}"/>
              </a:ext>
            </a:extLst>
          </p:cNvPr>
          <p:cNvSpPr txBox="1">
            <a:spLocks/>
          </p:cNvSpPr>
          <p:nvPr/>
        </p:nvSpPr>
        <p:spPr bwMode="auto">
          <a:xfrm>
            <a:off x="1828800" y="381000"/>
            <a:ext cx="7924800" cy="4495800"/>
          </a:xfrm>
          <a:prstGeom prst="rect">
            <a:avLst/>
          </a:prstGeom>
          <a:noFill/>
          <a:ln>
            <a:noFill/>
          </a:ln>
          <a:effectLst/>
        </p:spPr>
        <p:txBody>
          <a:bodyPr/>
          <a:lstStyle>
            <a:lvl1pPr marL="342900" indent="-342900" algn="l" rtl="0" fontAlgn="base">
              <a:spcBef>
                <a:spcPct val="20000"/>
              </a:spcBef>
              <a:spcAft>
                <a:spcPct val="0"/>
              </a:spcAft>
              <a:buClr>
                <a:schemeClr val="tx2"/>
              </a:buClr>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lr>
                <a:schemeClr val="tx2"/>
              </a:buClr>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lr>
                <a:schemeClr val="tx2"/>
              </a:buClr>
              <a:buChar char="•"/>
              <a:defRPr sz="2000">
                <a:solidFill>
                  <a:schemeClr val="tx1"/>
                </a:solidFill>
                <a:latin typeface="+mn-lt"/>
                <a:ea typeface="+mn-ea"/>
              </a:defRPr>
            </a:lvl5pPr>
            <a:lvl6pPr marL="2514600" indent="-228600" algn="l" rtl="0" fontAlgn="base">
              <a:spcBef>
                <a:spcPct val="20000"/>
              </a:spcBef>
              <a:spcAft>
                <a:spcPct val="0"/>
              </a:spcAft>
              <a:buClr>
                <a:schemeClr val="tx2"/>
              </a:buClr>
              <a:buChar char="•"/>
              <a:defRPr sz="2000">
                <a:solidFill>
                  <a:schemeClr val="tx1"/>
                </a:solidFill>
                <a:latin typeface="+mn-lt"/>
                <a:ea typeface="+mn-ea"/>
              </a:defRPr>
            </a:lvl6pPr>
            <a:lvl7pPr marL="2971800" indent="-228600" algn="l" rtl="0" fontAlgn="base">
              <a:spcBef>
                <a:spcPct val="20000"/>
              </a:spcBef>
              <a:spcAft>
                <a:spcPct val="0"/>
              </a:spcAft>
              <a:buClr>
                <a:schemeClr val="tx2"/>
              </a:buClr>
              <a:buChar char="•"/>
              <a:defRPr sz="2000">
                <a:solidFill>
                  <a:schemeClr val="tx1"/>
                </a:solidFill>
                <a:latin typeface="+mn-lt"/>
                <a:ea typeface="+mn-ea"/>
              </a:defRPr>
            </a:lvl7pPr>
            <a:lvl8pPr marL="3429000" indent="-228600" algn="l" rtl="0" fontAlgn="base">
              <a:spcBef>
                <a:spcPct val="20000"/>
              </a:spcBef>
              <a:spcAft>
                <a:spcPct val="0"/>
              </a:spcAft>
              <a:buClr>
                <a:schemeClr val="tx2"/>
              </a:buClr>
              <a:buChar char="•"/>
              <a:defRPr sz="2000">
                <a:solidFill>
                  <a:schemeClr val="tx1"/>
                </a:solidFill>
                <a:latin typeface="+mn-lt"/>
                <a:ea typeface="+mn-ea"/>
              </a:defRPr>
            </a:lvl8pPr>
            <a:lvl9pPr marL="3886200" indent="-228600" algn="l" rtl="0" fontAlgn="base">
              <a:spcBef>
                <a:spcPct val="20000"/>
              </a:spcBef>
              <a:spcAft>
                <a:spcPct val="0"/>
              </a:spcAft>
              <a:buClr>
                <a:schemeClr val="tx2"/>
              </a:buClr>
              <a:buChar char="•"/>
              <a:defRPr sz="2000">
                <a:solidFill>
                  <a:schemeClr val="tx1"/>
                </a:solidFill>
                <a:latin typeface="+mn-lt"/>
                <a:ea typeface="+mn-ea"/>
              </a:defRPr>
            </a:lvl9pPr>
          </a:lstStyle>
          <a:p>
            <a:pPr eaLnBrk="1" hangingPunct="1">
              <a:buClr>
                <a:srgbClr val="E3E3FF"/>
              </a:buClr>
              <a:defRPr/>
            </a:pPr>
            <a:r>
              <a:rPr lang="en-US" altLang="zh-CN" kern="0" dirty="0">
                <a:solidFill>
                  <a:schemeClr val="bg1"/>
                </a:solidFill>
                <a:latin typeface="微软雅黑" pitchFamily="34" charset="-122"/>
                <a:ea typeface="微软雅黑" pitchFamily="34" charset="-122"/>
              </a:rPr>
              <a:t>1</a:t>
            </a:r>
            <a:r>
              <a:rPr lang="zh-CN" altLang="en-US" kern="0" dirty="0">
                <a:solidFill>
                  <a:schemeClr val="bg1"/>
                </a:solidFill>
                <a:latin typeface="微软雅黑" pitchFamily="34" charset="-122"/>
                <a:ea typeface="微软雅黑" pitchFamily="34" charset="-122"/>
              </a:rPr>
              <a:t>、</a:t>
            </a:r>
            <a:r>
              <a:rPr lang="en-US" altLang="zh-CN" kern="0" dirty="0">
                <a:solidFill>
                  <a:schemeClr val="bg1"/>
                </a:solidFill>
                <a:latin typeface="微软雅黑" pitchFamily="34" charset="-122"/>
                <a:ea typeface="微软雅黑" pitchFamily="34" charset="-122"/>
              </a:rPr>
              <a:t>COUNT(expr) </a:t>
            </a:r>
            <a:r>
              <a:rPr lang="zh-CN" altLang="en-US" kern="0" dirty="0">
                <a:solidFill>
                  <a:schemeClr val="bg1"/>
                </a:solidFill>
                <a:latin typeface="微软雅黑" pitchFamily="34" charset="-122"/>
                <a:ea typeface="微软雅黑" pitchFamily="34" charset="-122"/>
              </a:rPr>
              <a:t>，返回</a:t>
            </a:r>
            <a:r>
              <a:rPr lang="en-US" altLang="zh-CN" kern="0" dirty="0">
                <a:solidFill>
                  <a:schemeClr val="bg1"/>
                </a:solidFill>
                <a:latin typeface="微软雅黑" pitchFamily="34" charset="-122"/>
                <a:ea typeface="微软雅黑" pitchFamily="34" charset="-122"/>
              </a:rPr>
              <a:t>SELECT</a:t>
            </a:r>
            <a:r>
              <a:rPr lang="zh-CN" altLang="en-US" kern="0" dirty="0">
                <a:solidFill>
                  <a:schemeClr val="bg1"/>
                </a:solidFill>
                <a:latin typeface="微软雅黑" pitchFamily="34" charset="-122"/>
                <a:ea typeface="微软雅黑" pitchFamily="34" charset="-122"/>
              </a:rPr>
              <a:t>语句检索的行中</a:t>
            </a:r>
            <a:r>
              <a:rPr lang="en-US" altLang="zh-CN" kern="0" dirty="0">
                <a:solidFill>
                  <a:schemeClr val="bg1"/>
                </a:solidFill>
                <a:latin typeface="微软雅黑" pitchFamily="34" charset="-122"/>
                <a:ea typeface="微软雅黑" pitchFamily="34" charset="-122"/>
              </a:rPr>
              <a:t>expr</a:t>
            </a:r>
            <a:r>
              <a:rPr lang="zh-CN" altLang="en-US" kern="0" dirty="0">
                <a:solidFill>
                  <a:schemeClr val="bg1"/>
                </a:solidFill>
                <a:latin typeface="微软雅黑" pitchFamily="34" charset="-122"/>
                <a:ea typeface="微软雅黑" pitchFamily="34" charset="-122"/>
              </a:rPr>
              <a:t>的值不为</a:t>
            </a:r>
            <a:r>
              <a:rPr lang="en-US" altLang="zh-CN" kern="0" dirty="0">
                <a:solidFill>
                  <a:schemeClr val="bg1"/>
                </a:solidFill>
                <a:latin typeface="微软雅黑" pitchFamily="34" charset="-122"/>
                <a:ea typeface="微软雅黑" pitchFamily="34" charset="-122"/>
              </a:rPr>
              <a:t>NULL</a:t>
            </a:r>
            <a:r>
              <a:rPr lang="zh-CN" altLang="en-US" kern="0" dirty="0">
                <a:solidFill>
                  <a:schemeClr val="bg1"/>
                </a:solidFill>
                <a:latin typeface="微软雅黑" pitchFamily="34" charset="-122"/>
                <a:ea typeface="微软雅黑" pitchFamily="34" charset="-122"/>
              </a:rPr>
              <a:t>的数量。结果是一个</a:t>
            </a:r>
            <a:r>
              <a:rPr lang="en-US" altLang="zh-CN" kern="0" dirty="0">
                <a:solidFill>
                  <a:schemeClr val="bg1"/>
                </a:solidFill>
                <a:latin typeface="微软雅黑" pitchFamily="34" charset="-122"/>
                <a:ea typeface="微软雅黑" pitchFamily="34" charset="-122"/>
              </a:rPr>
              <a:t>BIGINT</a:t>
            </a:r>
            <a:r>
              <a:rPr lang="zh-CN" altLang="en-US" kern="0" dirty="0">
                <a:solidFill>
                  <a:schemeClr val="bg1"/>
                </a:solidFill>
                <a:latin typeface="微软雅黑" pitchFamily="34" charset="-122"/>
                <a:ea typeface="微软雅黑" pitchFamily="34" charset="-122"/>
              </a:rPr>
              <a:t>值，</a:t>
            </a:r>
            <a:r>
              <a:rPr lang="en-US" altLang="zh-CN" kern="0" dirty="0">
                <a:solidFill>
                  <a:schemeClr val="bg1"/>
                </a:solidFill>
                <a:latin typeface="微软雅黑" pitchFamily="34" charset="-122"/>
                <a:ea typeface="微软雅黑" pitchFamily="34" charset="-122"/>
              </a:rPr>
              <a:t>expr</a:t>
            </a:r>
            <a:r>
              <a:rPr lang="zh-CN" altLang="en-US" kern="0" dirty="0">
                <a:solidFill>
                  <a:schemeClr val="bg1"/>
                </a:solidFill>
                <a:latin typeface="微软雅黑" pitchFamily="34" charset="-122"/>
                <a:ea typeface="微软雅黑" pitchFamily="34" charset="-122"/>
              </a:rPr>
              <a:t>分别是</a:t>
            </a:r>
            <a:r>
              <a:rPr lang="zh-CN" altLang="en-US" kern="0" dirty="0">
                <a:solidFill>
                  <a:srgbClr val="FFFF00"/>
                </a:solidFill>
                <a:latin typeface="微软雅黑" pitchFamily="34" charset="-122"/>
                <a:ea typeface="微软雅黑" pitchFamily="34" charset="-122"/>
              </a:rPr>
              <a:t>列名、 常量 和 *</a:t>
            </a:r>
            <a:r>
              <a:rPr lang="zh-CN" altLang="en-US" kern="0" dirty="0">
                <a:solidFill>
                  <a:schemeClr val="bg1"/>
                </a:solidFill>
                <a:latin typeface="微软雅黑" pitchFamily="34" charset="-122"/>
                <a:ea typeface="微软雅黑" pitchFamily="34" charset="-122"/>
              </a:rPr>
              <a:t>。</a:t>
            </a:r>
            <a:endParaRPr lang="en-US" altLang="zh-CN" kern="0" dirty="0">
              <a:solidFill>
                <a:schemeClr val="bg1"/>
              </a:solidFill>
              <a:latin typeface="微软雅黑" pitchFamily="34" charset="-122"/>
              <a:ea typeface="微软雅黑" pitchFamily="34" charset="-122"/>
            </a:endParaRPr>
          </a:p>
          <a:p>
            <a:pPr eaLnBrk="1" hangingPunct="1">
              <a:buClr>
                <a:srgbClr val="E3E3FF"/>
              </a:buClr>
              <a:defRPr/>
            </a:pPr>
            <a:r>
              <a:rPr lang="en-US" altLang="zh-CN" kern="0" dirty="0">
                <a:solidFill>
                  <a:schemeClr val="bg1"/>
                </a:solidFill>
                <a:latin typeface="微软雅黑" pitchFamily="34" charset="-122"/>
                <a:ea typeface="微软雅黑" pitchFamily="34" charset="-122"/>
              </a:rPr>
              <a:t>2</a:t>
            </a:r>
            <a:r>
              <a:rPr lang="zh-CN" altLang="en-US" kern="0" dirty="0">
                <a:solidFill>
                  <a:schemeClr val="bg1"/>
                </a:solidFill>
                <a:latin typeface="微软雅黑" pitchFamily="34" charset="-122"/>
                <a:ea typeface="微软雅黑" pitchFamily="34" charset="-122"/>
              </a:rPr>
              <a:t>、</a:t>
            </a:r>
            <a:r>
              <a:rPr lang="en-US" altLang="zh-CN" kern="0" dirty="0">
                <a:solidFill>
                  <a:schemeClr val="bg1"/>
                </a:solidFill>
                <a:latin typeface="微软雅黑" pitchFamily="34" charset="-122"/>
                <a:ea typeface="微软雅黑" pitchFamily="34" charset="-122"/>
              </a:rPr>
              <a:t> COUNT(</a:t>
            </a:r>
            <a:r>
              <a:rPr lang="zh-CN" altLang="en-US" kern="0" dirty="0">
                <a:solidFill>
                  <a:schemeClr val="bg1"/>
                </a:solidFill>
                <a:latin typeface="微软雅黑" pitchFamily="34" charset="-122"/>
                <a:ea typeface="微软雅黑" pitchFamily="34" charset="-122"/>
              </a:rPr>
              <a:t>常量</a:t>
            </a:r>
            <a:r>
              <a:rPr lang="en-US" altLang="zh-CN" kern="0" dirty="0">
                <a:solidFill>
                  <a:schemeClr val="bg1"/>
                </a:solidFill>
                <a:latin typeface="微软雅黑" pitchFamily="34" charset="-122"/>
                <a:ea typeface="微软雅黑" pitchFamily="34" charset="-122"/>
              </a:rPr>
              <a:t>) </a:t>
            </a:r>
            <a:r>
              <a:rPr lang="zh-CN" altLang="en-US" kern="0" dirty="0">
                <a:solidFill>
                  <a:schemeClr val="bg1"/>
                </a:solidFill>
                <a:latin typeface="微软雅黑" pitchFamily="34" charset="-122"/>
                <a:ea typeface="微软雅黑" pitchFamily="34" charset="-122"/>
              </a:rPr>
              <a:t>和 </a:t>
            </a:r>
            <a:r>
              <a:rPr lang="en-US" altLang="zh-CN" kern="0" dirty="0">
                <a:solidFill>
                  <a:schemeClr val="bg1"/>
                </a:solidFill>
                <a:latin typeface="微软雅黑" pitchFamily="34" charset="-122"/>
                <a:ea typeface="微软雅黑" pitchFamily="34" charset="-122"/>
              </a:rPr>
              <a:t>COUNT(*)</a:t>
            </a:r>
            <a:r>
              <a:rPr lang="zh-CN" altLang="en-US" kern="0" dirty="0">
                <a:solidFill>
                  <a:schemeClr val="bg1"/>
                </a:solidFill>
                <a:latin typeface="微软雅黑" pitchFamily="34" charset="-122"/>
                <a:ea typeface="微软雅黑" pitchFamily="34" charset="-122"/>
              </a:rPr>
              <a:t>表示的是直接查询符合条件的数据库表的行数。而</a:t>
            </a:r>
            <a:r>
              <a:rPr lang="en-US" altLang="zh-CN" kern="0" dirty="0">
                <a:solidFill>
                  <a:srgbClr val="FFFF00"/>
                </a:solidFill>
                <a:latin typeface="微软雅黑" pitchFamily="34" charset="-122"/>
                <a:ea typeface="微软雅黑" pitchFamily="34" charset="-122"/>
              </a:rPr>
              <a:t>COUNT(</a:t>
            </a:r>
            <a:r>
              <a:rPr lang="zh-CN" altLang="en-US" kern="0" dirty="0">
                <a:solidFill>
                  <a:srgbClr val="FFFF00"/>
                </a:solidFill>
                <a:latin typeface="微软雅黑" pitchFamily="34" charset="-122"/>
                <a:ea typeface="微软雅黑" pitchFamily="34" charset="-122"/>
              </a:rPr>
              <a:t>列名</a:t>
            </a:r>
            <a:r>
              <a:rPr lang="en-US" altLang="zh-CN" kern="0" dirty="0">
                <a:solidFill>
                  <a:srgbClr val="FFFF00"/>
                </a:solidFill>
                <a:latin typeface="微软雅黑" pitchFamily="34" charset="-122"/>
                <a:ea typeface="微软雅黑" pitchFamily="34" charset="-122"/>
              </a:rPr>
              <a:t>)</a:t>
            </a:r>
            <a:r>
              <a:rPr lang="zh-CN" altLang="en-US" kern="0" dirty="0">
                <a:solidFill>
                  <a:schemeClr val="bg1"/>
                </a:solidFill>
                <a:latin typeface="微软雅黑" pitchFamily="34" charset="-122"/>
                <a:ea typeface="微软雅黑" pitchFamily="34" charset="-122"/>
              </a:rPr>
              <a:t>表示的是查询符合条件的列的值</a:t>
            </a:r>
            <a:r>
              <a:rPr lang="zh-CN" altLang="en-US" kern="0" dirty="0">
                <a:solidFill>
                  <a:srgbClr val="FFFF00"/>
                </a:solidFill>
                <a:latin typeface="微软雅黑" pitchFamily="34" charset="-122"/>
                <a:ea typeface="微软雅黑" pitchFamily="34" charset="-122"/>
              </a:rPr>
              <a:t>不为</a:t>
            </a:r>
            <a:r>
              <a:rPr lang="en-US" altLang="zh-CN" kern="0" dirty="0">
                <a:solidFill>
                  <a:srgbClr val="FFFF00"/>
                </a:solidFill>
                <a:latin typeface="微软雅黑" pitchFamily="34" charset="-122"/>
                <a:ea typeface="微软雅黑" pitchFamily="34" charset="-122"/>
              </a:rPr>
              <a:t>NULL</a:t>
            </a:r>
            <a:r>
              <a:rPr lang="zh-CN" altLang="en-US" kern="0" dirty="0">
                <a:solidFill>
                  <a:schemeClr val="bg1"/>
                </a:solidFill>
                <a:latin typeface="微软雅黑" pitchFamily="34" charset="-122"/>
                <a:ea typeface="微软雅黑" pitchFamily="34" charset="-122"/>
              </a:rPr>
              <a:t>的行数。</a:t>
            </a:r>
          </a:p>
          <a:p>
            <a:pPr eaLnBrk="1" hangingPunct="1">
              <a:buClr>
                <a:srgbClr val="E3E3FF"/>
              </a:buClr>
              <a:defRPr/>
            </a:pPr>
            <a:r>
              <a:rPr lang="en-US" altLang="zh-CN" kern="0" dirty="0">
                <a:solidFill>
                  <a:schemeClr val="bg1"/>
                </a:solidFill>
                <a:latin typeface="微软雅黑" pitchFamily="34" charset="-122"/>
                <a:ea typeface="微软雅黑" pitchFamily="34" charset="-122"/>
              </a:rPr>
              <a:t>3</a:t>
            </a:r>
            <a:r>
              <a:rPr lang="zh-CN" altLang="en-US" kern="0" dirty="0">
                <a:solidFill>
                  <a:schemeClr val="bg1"/>
                </a:solidFill>
                <a:latin typeface="微软雅黑" pitchFamily="34" charset="-122"/>
                <a:ea typeface="微软雅黑" pitchFamily="34" charset="-122"/>
              </a:rPr>
              <a:t>、如果查询结果没有命中任何记录，则返回</a:t>
            </a:r>
            <a:r>
              <a:rPr lang="en-US" altLang="zh-CN" kern="0" dirty="0">
                <a:solidFill>
                  <a:schemeClr val="bg1"/>
                </a:solidFill>
                <a:latin typeface="微软雅黑" pitchFamily="34" charset="-122"/>
                <a:ea typeface="微软雅黑" pitchFamily="34" charset="-122"/>
              </a:rPr>
              <a:t>0</a:t>
            </a:r>
          </a:p>
          <a:p>
            <a:pPr eaLnBrk="1" hangingPunct="1">
              <a:buClr>
                <a:srgbClr val="E3E3FF"/>
              </a:buClr>
              <a:defRPr/>
            </a:pPr>
            <a:r>
              <a:rPr lang="en-US" altLang="zh-CN" kern="0" dirty="0">
                <a:solidFill>
                  <a:schemeClr val="bg1"/>
                </a:solidFill>
                <a:latin typeface="微软雅黑" pitchFamily="34" charset="-122"/>
                <a:ea typeface="微软雅黑" pitchFamily="34" charset="-122"/>
              </a:rPr>
              <a:t>4</a:t>
            </a:r>
            <a:r>
              <a:rPr lang="zh-CN" altLang="en-US" kern="0" dirty="0">
                <a:solidFill>
                  <a:schemeClr val="bg1"/>
                </a:solidFill>
                <a:latin typeface="微软雅黑" pitchFamily="34" charset="-122"/>
                <a:ea typeface="微软雅黑" pitchFamily="34" charset="-122"/>
              </a:rPr>
              <a:t>、但是，值得注意的是，</a:t>
            </a:r>
            <a:r>
              <a:rPr lang="en-US" altLang="zh-CN" kern="0" dirty="0">
                <a:solidFill>
                  <a:srgbClr val="FFFF00"/>
                </a:solidFill>
                <a:latin typeface="微软雅黑" pitchFamily="34" charset="-122"/>
                <a:ea typeface="微软雅黑" pitchFamily="34" charset="-122"/>
              </a:rPr>
              <a:t>COUNT(*) </a:t>
            </a:r>
            <a:r>
              <a:rPr lang="zh-CN" altLang="en-US" kern="0" dirty="0">
                <a:solidFill>
                  <a:schemeClr val="bg1"/>
                </a:solidFill>
                <a:latin typeface="微软雅黑" pitchFamily="34" charset="-122"/>
                <a:ea typeface="微软雅黑" pitchFamily="34" charset="-122"/>
              </a:rPr>
              <a:t>的统计结果中，会包含值为</a:t>
            </a:r>
            <a:r>
              <a:rPr lang="en-US" altLang="zh-CN" kern="0" dirty="0">
                <a:solidFill>
                  <a:srgbClr val="FFFF00"/>
                </a:solidFill>
                <a:latin typeface="微软雅黑" pitchFamily="34" charset="-122"/>
                <a:ea typeface="微软雅黑" pitchFamily="34" charset="-122"/>
              </a:rPr>
              <a:t>NULL</a:t>
            </a:r>
            <a:r>
              <a:rPr lang="zh-CN" altLang="en-US" kern="0" dirty="0">
                <a:solidFill>
                  <a:schemeClr val="bg1"/>
                </a:solidFill>
                <a:latin typeface="微软雅黑" pitchFamily="34" charset="-122"/>
                <a:ea typeface="微软雅黑" pitchFamily="34" charset="-122"/>
              </a:rPr>
              <a:t>的行数。</a:t>
            </a:r>
          </a:p>
        </p:txBody>
      </p:sp>
    </p:spTree>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400" y="20091"/>
            <a:ext cx="322317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分组统计查询</a:t>
            </a:r>
          </a:p>
        </p:txBody>
      </p:sp>
      <p:sp>
        <p:nvSpPr>
          <p:cNvPr id="18" name="Rectangle 4"/>
          <p:cNvSpPr>
            <a:spLocks noChangeArrowheads="1"/>
          </p:cNvSpPr>
          <p:nvPr/>
        </p:nvSpPr>
        <p:spPr bwMode="auto">
          <a:xfrm>
            <a:off x="7390806" y="821871"/>
            <a:ext cx="359073" cy="369332"/>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400" dirty="0">
                <a:solidFill>
                  <a:schemeClr val="bg1"/>
                </a:solidFill>
                <a:effectLst>
                  <a:outerShdw blurRad="38100" dist="38100" dir="2700000" algn="tl">
                    <a:srgbClr val="000000"/>
                  </a:outerShdw>
                </a:effectLst>
                <a:latin typeface="Times New Roman" pitchFamily="18" charset="0"/>
              </a:rPr>
              <a:t>ST</a:t>
            </a:r>
          </a:p>
        </p:txBody>
      </p:sp>
      <p:graphicFrame>
        <p:nvGraphicFramePr>
          <p:cNvPr id="19" name="Group 5"/>
          <p:cNvGraphicFramePr>
            <a:graphicFrameLocks noGrp="1"/>
          </p:cNvGraphicFramePr>
          <p:nvPr>
            <p:extLst>
              <p:ext uri="{D42A27DB-BD31-4B8C-83A1-F6EECF244321}">
                <p14:modId xmlns:p14="http://schemas.microsoft.com/office/powerpoint/2010/main" val="1898404848"/>
              </p:ext>
            </p:extLst>
          </p:nvPr>
        </p:nvGraphicFramePr>
        <p:xfrm>
          <a:off x="7824192" y="821871"/>
          <a:ext cx="3816424" cy="1524000"/>
        </p:xfrm>
        <a:graphic>
          <a:graphicData uri="http://schemas.openxmlformats.org/drawingml/2006/table">
            <a:tbl>
              <a:tblPr/>
              <a:tblGrid>
                <a:gridCol w="890499">
                  <a:extLst>
                    <a:ext uri="{9D8B030D-6E8A-4147-A177-3AD203B41FA5}">
                      <a16:colId xmlns:a16="http://schemas.microsoft.com/office/drawing/2014/main" val="20000"/>
                    </a:ext>
                  </a:extLst>
                </a:gridCol>
                <a:gridCol w="890499">
                  <a:extLst>
                    <a:ext uri="{9D8B030D-6E8A-4147-A177-3AD203B41FA5}">
                      <a16:colId xmlns:a16="http://schemas.microsoft.com/office/drawing/2014/main" val="20001"/>
                    </a:ext>
                  </a:extLst>
                </a:gridCol>
                <a:gridCol w="667874">
                  <a:extLst>
                    <a:ext uri="{9D8B030D-6E8A-4147-A177-3AD203B41FA5}">
                      <a16:colId xmlns:a16="http://schemas.microsoft.com/office/drawing/2014/main" val="20002"/>
                    </a:ext>
                  </a:extLst>
                </a:gridCol>
                <a:gridCol w="604267">
                  <a:extLst>
                    <a:ext uri="{9D8B030D-6E8A-4147-A177-3AD203B41FA5}">
                      <a16:colId xmlns:a16="http://schemas.microsoft.com/office/drawing/2014/main" val="20003"/>
                    </a:ext>
                  </a:extLst>
                </a:gridCol>
                <a:gridCol w="763285">
                  <a:extLst>
                    <a:ext uri="{9D8B030D-6E8A-4147-A177-3AD203B41FA5}">
                      <a16:colId xmlns:a16="http://schemas.microsoft.com/office/drawing/2014/main" val="20004"/>
                    </a:ext>
                  </a:extLst>
                </a:gridCol>
              </a:tblGrid>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系名</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1984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795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0" name="Rectangle 49"/>
          <p:cNvSpPr txBox="1">
            <a:spLocks noChangeArrowheads="1"/>
          </p:cNvSpPr>
          <p:nvPr/>
        </p:nvSpPr>
        <p:spPr bwMode="auto">
          <a:xfrm>
            <a:off x="335360" y="1061245"/>
            <a:ext cx="6768752" cy="51673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eaLnBrk="1" hangingPunct="1">
              <a:spcBef>
                <a:spcPct val="45000"/>
              </a:spcBef>
              <a:spcAft>
                <a:spcPct val="0"/>
              </a:spcAft>
              <a:buNone/>
              <a:defRPr/>
            </a:pPr>
            <a:r>
              <a:rPr kumimoji="1" lang="zh-CN" altLang="en-US" sz="3600" kern="0" dirty="0">
                <a:latin typeface="楷体_GB2312" pitchFamily="49" charset="-122"/>
              </a:rPr>
              <a:t>所谓分组就是查询时将</a:t>
            </a:r>
            <a:r>
              <a:rPr kumimoji="1" lang="zh-CN" altLang="en-US" sz="3600" kern="0" dirty="0">
                <a:solidFill>
                  <a:schemeClr val="accent6">
                    <a:lumMod val="20000"/>
                    <a:lumOff val="80000"/>
                  </a:schemeClr>
                </a:solidFill>
                <a:latin typeface="楷体_GB2312" pitchFamily="49" charset="-122"/>
              </a:rPr>
              <a:t>分组列值相同的元组</a:t>
            </a:r>
            <a:r>
              <a:rPr kumimoji="1" lang="zh-CN" altLang="en-US" sz="3600" kern="0" dirty="0">
                <a:latin typeface="楷体_GB2312" pitchFamily="49" charset="-122"/>
              </a:rPr>
              <a:t>归为一组。</a:t>
            </a:r>
          </a:p>
          <a:p>
            <a:pPr marL="0" indent="0" eaLnBrk="1" hangingPunct="1">
              <a:spcBef>
                <a:spcPts val="2400"/>
              </a:spcBef>
              <a:spcAft>
                <a:spcPct val="0"/>
              </a:spcAft>
              <a:buNone/>
              <a:defRPr/>
            </a:pPr>
            <a:r>
              <a:rPr kumimoji="1" lang="zh-CN" altLang="en-US" sz="3600" kern="0" dirty="0">
                <a:latin typeface="楷体_GB2312" pitchFamily="49" charset="-122"/>
              </a:rPr>
              <a:t>分组后查询的单位是</a:t>
            </a:r>
            <a:r>
              <a:rPr kumimoji="1" lang="zh-CN" altLang="en-US" sz="3600" b="1" kern="0" dirty="0">
                <a:solidFill>
                  <a:srgbClr val="FFCC00"/>
                </a:solidFill>
                <a:latin typeface="楷体_GB2312" pitchFamily="49" charset="-122"/>
              </a:rPr>
              <a:t>组</a:t>
            </a:r>
            <a:r>
              <a:rPr kumimoji="1" lang="zh-CN" altLang="en-US" sz="3600" kern="0" dirty="0">
                <a:latin typeface="楷体_GB2312" pitchFamily="49" charset="-122"/>
              </a:rPr>
              <a:t>而非元组，对各组只能投影其分组列，而非分组列只能用聚合函数进行统计。</a:t>
            </a:r>
          </a:p>
          <a:p>
            <a:pPr marL="0" indent="0" eaLnBrk="1" hangingPunct="1">
              <a:spcBef>
                <a:spcPts val="2400"/>
              </a:spcBef>
              <a:spcAft>
                <a:spcPct val="0"/>
              </a:spcAft>
              <a:buNone/>
              <a:defRPr/>
            </a:pPr>
            <a:r>
              <a:rPr kumimoji="1" lang="zh-CN" altLang="en-US" sz="3600" kern="0" dirty="0">
                <a:solidFill>
                  <a:srgbClr val="FFFFFF"/>
                </a:solidFill>
                <a:latin typeface="楷体_GB2312" pitchFamily="49" charset="-122"/>
              </a:rPr>
              <a:t>查询各个系的人数：</a:t>
            </a:r>
          </a:p>
          <a:p>
            <a:pPr marL="0" indent="0" algn="just" eaLnBrk="1" hangingPunct="1">
              <a:lnSpc>
                <a:spcPct val="90000"/>
              </a:lnSpc>
              <a:spcBef>
                <a:spcPts val="1200"/>
              </a:spcBef>
              <a:spcAft>
                <a:spcPct val="0"/>
              </a:spcAft>
              <a:buClr>
                <a:srgbClr val="FFFFFF"/>
              </a:buClr>
              <a:buNone/>
              <a:defRPr/>
            </a:pPr>
            <a:r>
              <a:rPr kumimoji="1" lang="en-US" altLang="zh-CN" sz="3600" kern="0" dirty="0">
                <a:solidFill>
                  <a:srgbClr val="99FF33"/>
                </a:solidFill>
                <a:latin typeface="楷体_GB2312" pitchFamily="49" charset="-122"/>
              </a:rPr>
              <a:t>SELECT </a:t>
            </a:r>
            <a:r>
              <a:rPr kumimoji="1" lang="zh-CN" altLang="en-US" sz="3600" kern="0" dirty="0">
                <a:solidFill>
                  <a:srgbClr val="66FFFF"/>
                </a:solidFill>
                <a:latin typeface="楷体_GB2312" pitchFamily="49" charset="-122"/>
              </a:rPr>
              <a:t>系名</a:t>
            </a:r>
            <a:r>
              <a:rPr kumimoji="1" lang="en-US" altLang="zh-CN" sz="3600" kern="0" dirty="0">
                <a:solidFill>
                  <a:srgbClr val="66FFFF"/>
                </a:solidFill>
                <a:latin typeface="楷体_GB2312" pitchFamily="49" charset="-122"/>
              </a:rPr>
              <a:t>,Count(*)</a:t>
            </a:r>
          </a:p>
          <a:p>
            <a:pPr marL="0" indent="0" algn="just" eaLnBrk="1" hangingPunct="1">
              <a:lnSpc>
                <a:spcPct val="90000"/>
              </a:lnSpc>
              <a:spcAft>
                <a:spcPct val="0"/>
              </a:spcAft>
              <a:buClr>
                <a:srgbClr val="FFFFFF"/>
              </a:buClr>
              <a:buNone/>
              <a:defRPr/>
            </a:pPr>
            <a:r>
              <a:rPr kumimoji="1" lang="en-US" altLang="zh-CN" sz="3600" kern="0" dirty="0">
                <a:solidFill>
                  <a:srgbClr val="99FF33"/>
                </a:solidFill>
                <a:latin typeface="楷体_GB2312" pitchFamily="49" charset="-122"/>
              </a:rPr>
              <a:t>  FROM ST</a:t>
            </a:r>
          </a:p>
          <a:p>
            <a:pPr marL="0" indent="0" algn="just" eaLnBrk="1" hangingPunct="1">
              <a:lnSpc>
                <a:spcPct val="90000"/>
              </a:lnSpc>
              <a:spcAft>
                <a:spcPct val="0"/>
              </a:spcAft>
              <a:buClr>
                <a:srgbClr val="FFFFFF"/>
              </a:buClr>
              <a:buNone/>
              <a:defRPr/>
            </a:pPr>
            <a:r>
              <a:rPr kumimoji="1" lang="en-US" altLang="zh-CN" sz="3600" kern="0" dirty="0">
                <a:solidFill>
                  <a:srgbClr val="99FF33"/>
                </a:solidFill>
                <a:latin typeface="楷体_GB2312" pitchFamily="49" charset="-122"/>
              </a:rPr>
              <a:t> </a:t>
            </a:r>
            <a:r>
              <a:rPr kumimoji="1" lang="en-US" altLang="zh-CN" sz="3600" kern="0" dirty="0">
                <a:solidFill>
                  <a:srgbClr val="FFCC00"/>
                </a:solidFill>
                <a:latin typeface="楷体_GB2312" pitchFamily="49" charset="-122"/>
              </a:rPr>
              <a:t>GROUP BY</a:t>
            </a:r>
            <a:r>
              <a:rPr kumimoji="1" lang="en-US" altLang="zh-CN" sz="3600" kern="0" dirty="0">
                <a:solidFill>
                  <a:srgbClr val="66FFFF"/>
                </a:solidFill>
                <a:latin typeface="楷体_GB2312" pitchFamily="49" charset="-122"/>
              </a:rPr>
              <a:t> </a:t>
            </a:r>
            <a:r>
              <a:rPr kumimoji="1" lang="zh-CN" altLang="en-US" sz="3600" kern="0" dirty="0">
                <a:solidFill>
                  <a:srgbClr val="66FFFF"/>
                </a:solidFill>
                <a:latin typeface="楷体_GB2312" pitchFamily="49" charset="-122"/>
              </a:rPr>
              <a:t>系名</a:t>
            </a:r>
            <a:endParaRPr kumimoji="1" lang="zh-CN" altLang="en-US" sz="3600" kern="0" dirty="0"/>
          </a:p>
        </p:txBody>
      </p:sp>
      <p:graphicFrame>
        <p:nvGraphicFramePr>
          <p:cNvPr id="21" name="Group 50"/>
          <p:cNvGraphicFramePr>
            <a:graphicFrameLocks noGrp="1"/>
          </p:cNvGraphicFramePr>
          <p:nvPr>
            <p:extLst>
              <p:ext uri="{D42A27DB-BD31-4B8C-83A1-F6EECF244321}">
                <p14:modId xmlns:p14="http://schemas.microsoft.com/office/powerpoint/2010/main" val="3418340909"/>
              </p:ext>
            </p:extLst>
          </p:nvPr>
        </p:nvGraphicFramePr>
        <p:xfrm>
          <a:off x="7752629" y="3789115"/>
          <a:ext cx="3943425" cy="2625725"/>
        </p:xfrm>
        <a:graphic>
          <a:graphicData uri="http://schemas.openxmlformats.org/drawingml/2006/table">
            <a:tbl>
              <a:tblPr/>
              <a:tblGrid>
                <a:gridCol w="890451">
                  <a:extLst>
                    <a:ext uri="{9D8B030D-6E8A-4147-A177-3AD203B41FA5}">
                      <a16:colId xmlns:a16="http://schemas.microsoft.com/office/drawing/2014/main" val="20000"/>
                    </a:ext>
                  </a:extLst>
                </a:gridCol>
                <a:gridCol w="890451">
                  <a:extLst>
                    <a:ext uri="{9D8B030D-6E8A-4147-A177-3AD203B41FA5}">
                      <a16:colId xmlns:a16="http://schemas.microsoft.com/office/drawing/2014/main" val="20001"/>
                    </a:ext>
                  </a:extLst>
                </a:gridCol>
                <a:gridCol w="890451">
                  <a:extLst>
                    <a:ext uri="{9D8B030D-6E8A-4147-A177-3AD203B41FA5}">
                      <a16:colId xmlns:a16="http://schemas.microsoft.com/office/drawing/2014/main" val="20002"/>
                    </a:ext>
                  </a:extLst>
                </a:gridCol>
                <a:gridCol w="667838">
                  <a:extLst>
                    <a:ext uri="{9D8B030D-6E8A-4147-A177-3AD203B41FA5}">
                      <a16:colId xmlns:a16="http://schemas.microsoft.com/office/drawing/2014/main" val="20003"/>
                    </a:ext>
                  </a:extLst>
                </a:gridCol>
                <a:gridCol w="604234">
                  <a:extLst>
                    <a:ext uri="{9D8B030D-6E8A-4147-A177-3AD203B41FA5}">
                      <a16:colId xmlns:a16="http://schemas.microsoft.com/office/drawing/2014/main" val="20004"/>
                    </a:ext>
                  </a:extLst>
                </a:gridCol>
              </a:tblGrid>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系名</a:t>
                      </a:r>
                    </a:p>
                  </a:txBody>
                  <a:tcPr marL="0" marR="0" marT="0" marB="0" horzOverflow="overflow">
                    <a:lnL cap="flat">
                      <a:noFill/>
                    </a:lnL>
                    <a:lnR w="381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198438">
                <a:tc rowSpan="2">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99FF66"/>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anchor="ctr" anchorCtr="1" horzOverflow="overflow">
                    <a:lnL cap="flat">
                      <a:noFill/>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99FF66"/>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99FF66"/>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99FF66"/>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99FF66"/>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extLst>
                  <a:ext uri="{0D108BD9-81ED-4DB2-BD59-A6C34878D82A}">
                    <a16:rowId xmlns:a16="http://schemas.microsoft.com/office/drawing/2014/main" val="10001"/>
                  </a:ext>
                </a:extLst>
              </a:tr>
              <a:tr h="109538">
                <a:tc vMerge="1">
                  <a:txBody>
                    <a:bodyPr/>
                    <a:lstStyle/>
                    <a:p>
                      <a:endParaRPr lang="zh-CN" altLang="en-US"/>
                    </a:p>
                  </a:txBody>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99FF66"/>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99FF66"/>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99FF66"/>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99FF66"/>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extLst>
                  <a:ext uri="{0D108BD9-81ED-4DB2-BD59-A6C34878D82A}">
                    <a16:rowId xmlns:a16="http://schemas.microsoft.com/office/drawing/2014/main" val="10002"/>
                  </a:ext>
                </a:extLst>
              </a:tr>
              <a:tr h="109538">
                <a:tc rowSpan="2">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anchor="ctr" anchorCtr="1" horzOverflow="overflow">
                    <a:lnL cap="flat">
                      <a:noFill/>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660066"/>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660066"/>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660066"/>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660066"/>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660066"/>
                    </a:solidFill>
                  </a:tcPr>
                </a:tc>
                <a:extLst>
                  <a:ext uri="{0D108BD9-81ED-4DB2-BD59-A6C34878D82A}">
                    <a16:rowId xmlns:a16="http://schemas.microsoft.com/office/drawing/2014/main" val="10003"/>
                  </a:ext>
                </a:extLst>
              </a:tr>
              <a:tr h="109538">
                <a:tc vMerge="1">
                  <a:txBody>
                    <a:bodyPr/>
                    <a:lstStyle/>
                    <a:p>
                      <a:endParaRPr lang="zh-CN" altLang="en-US"/>
                    </a:p>
                  </a:txBody>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660066"/>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660066"/>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660066"/>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660066"/>
                    </a:solidFill>
                  </a:tcPr>
                </a:tc>
                <a:extLst>
                  <a:ext uri="{0D108BD9-81ED-4DB2-BD59-A6C34878D82A}">
                    <a16:rowId xmlns:a16="http://schemas.microsoft.com/office/drawing/2014/main" val="10004"/>
                  </a:ext>
                </a:extLst>
              </a:tr>
              <a:tr h="49212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dirty="0">
                          <a:ln>
                            <a:noFill/>
                          </a:ln>
                          <a:solidFill>
                            <a:srgbClr val="FFC000"/>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anchorCtr="1" horzOverflow="overflow">
                    <a:lnL cap="flat">
                      <a:noFill/>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FFC000"/>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anchorCtr="1" horzOverflow="overflow">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FFC000"/>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anchorCtr="1"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FFC000"/>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anchorCtr="1"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dirty="0">
                          <a:ln>
                            <a:noFill/>
                          </a:ln>
                          <a:solidFill>
                            <a:srgbClr val="FFC000"/>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anchorCtr="1"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07950">
                <a:tc rowSpan="2">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anchor="ctr" anchorCtr="1" horzOverflow="overflow">
                    <a:lnL cap="flat">
                      <a:noFill/>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66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66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66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66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17</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6600"/>
                    </a:solidFill>
                  </a:tcPr>
                </a:tc>
                <a:extLst>
                  <a:ext uri="{0D108BD9-81ED-4DB2-BD59-A6C34878D82A}">
                    <a16:rowId xmlns:a16="http://schemas.microsoft.com/office/drawing/2014/main" val="10006"/>
                  </a:ext>
                </a:extLst>
              </a:tr>
              <a:tr h="109538">
                <a:tc vMerge="1">
                  <a:txBody>
                    <a:bodyPr/>
                    <a:lstStyle/>
                    <a:p>
                      <a:endParaRPr lang="zh-CN" altLang="en-US"/>
                    </a:p>
                  </a:txBody>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66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66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66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6600"/>
                    </a:solidFill>
                  </a:tcPr>
                </a:tc>
                <a:extLst>
                  <a:ext uri="{0D108BD9-81ED-4DB2-BD59-A6C34878D82A}">
                    <a16:rowId xmlns:a16="http://schemas.microsoft.com/office/drawing/2014/main" val="10007"/>
                  </a:ext>
                </a:extLst>
              </a:tr>
            </a:tbl>
          </a:graphicData>
        </a:graphic>
      </p:graphicFrame>
      <p:sp>
        <p:nvSpPr>
          <p:cNvPr id="22" name="Rectangle 121"/>
          <p:cNvSpPr>
            <a:spLocks noChangeArrowheads="1"/>
          </p:cNvSpPr>
          <p:nvPr/>
        </p:nvSpPr>
        <p:spPr bwMode="auto">
          <a:xfrm>
            <a:off x="7608168" y="2996952"/>
            <a:ext cx="1073545" cy="514738"/>
          </a:xfrm>
          <a:prstGeom prst="rect">
            <a:avLst/>
          </a:prstGeom>
          <a:noFill/>
          <a:ln w="12700" cap="sq">
            <a:noFill/>
            <a:miter lim="800000"/>
            <a:headEnd/>
            <a:tailEnd/>
          </a:ln>
          <a:effectLst/>
        </p:spPr>
        <p:txBody>
          <a:bodyPr wrap="none" lIns="72000" tIns="72000" rIns="72000" bIns="72000">
            <a:spAutoFit/>
          </a:bodyPr>
          <a:lstStyle/>
          <a:p>
            <a:pPr>
              <a:spcAft>
                <a:spcPct val="0"/>
              </a:spcAft>
              <a:defRPr/>
            </a:pPr>
            <a:r>
              <a:rPr lang="zh-CN" altLang="en-US" sz="2400" b="1" kern="0">
                <a:solidFill>
                  <a:srgbClr val="99FF66"/>
                </a:solidFill>
                <a:effectLst>
                  <a:outerShdw blurRad="38100" dist="38100" dir="2700000" algn="tl">
                    <a:srgbClr val="000000"/>
                  </a:outerShdw>
                </a:effectLst>
              </a:rPr>
              <a:t>分组列</a:t>
            </a:r>
          </a:p>
        </p:txBody>
      </p:sp>
      <p:sp>
        <p:nvSpPr>
          <p:cNvPr id="23" name="Rectangle 122"/>
          <p:cNvSpPr>
            <a:spLocks noChangeArrowheads="1"/>
          </p:cNvSpPr>
          <p:nvPr/>
        </p:nvSpPr>
        <p:spPr bwMode="auto">
          <a:xfrm>
            <a:off x="9230593" y="2996952"/>
            <a:ext cx="1382925" cy="514738"/>
          </a:xfrm>
          <a:prstGeom prst="rect">
            <a:avLst/>
          </a:prstGeom>
          <a:noFill/>
          <a:ln w="12700" cap="sq">
            <a:noFill/>
            <a:miter lim="800000"/>
            <a:headEnd/>
            <a:tailEnd/>
          </a:ln>
          <a:effectLst/>
        </p:spPr>
        <p:txBody>
          <a:bodyPr wrap="none" lIns="72000" tIns="72000" rIns="72000" bIns="72000">
            <a:spAutoFit/>
          </a:bodyPr>
          <a:lstStyle/>
          <a:p>
            <a:pPr>
              <a:spcAft>
                <a:spcPct val="0"/>
              </a:spcAft>
              <a:defRPr/>
            </a:pPr>
            <a:r>
              <a:rPr lang="zh-CN" altLang="en-US" sz="2400" b="1" kern="0">
                <a:solidFill>
                  <a:srgbClr val="99FF66"/>
                </a:solidFill>
                <a:effectLst>
                  <a:outerShdw blurRad="38100" dist="38100" dir="2700000" algn="tl">
                    <a:srgbClr val="000000"/>
                  </a:outerShdw>
                </a:effectLst>
              </a:rPr>
              <a:t>非分组列</a:t>
            </a:r>
          </a:p>
        </p:txBody>
      </p:sp>
      <p:sp>
        <p:nvSpPr>
          <p:cNvPr id="28" name="AutoShape 123"/>
          <p:cNvSpPr>
            <a:spLocks/>
          </p:cNvSpPr>
          <p:nvPr/>
        </p:nvSpPr>
        <p:spPr bwMode="auto">
          <a:xfrm rot="-5400000">
            <a:off x="8117754" y="3284289"/>
            <a:ext cx="71438" cy="649288"/>
          </a:xfrm>
          <a:prstGeom prst="rightBrace">
            <a:avLst>
              <a:gd name="adj1" fmla="val 75740"/>
              <a:gd name="adj2" fmla="val 50000"/>
            </a:avLst>
          </a:prstGeom>
          <a:noFill/>
          <a:ln w="28575" cap="sq">
            <a:solidFill>
              <a:srgbClr val="99FF66"/>
            </a:solidFill>
            <a:round/>
            <a:headEnd/>
            <a:tailEnd/>
          </a:ln>
          <a:effectLst/>
        </p:spPr>
        <p:txBody>
          <a:bodyPr wrap="none" lIns="72000" tIns="72000" rIns="72000" bIns="72000" anchor="ctr"/>
          <a:lstStyle/>
          <a:p>
            <a:pPr>
              <a:defRPr/>
            </a:pPr>
            <a:endParaRPr lang="zh-CN" altLang="en-US" kern="0">
              <a:solidFill>
                <a:sysClr val="windowText" lastClr="000000"/>
              </a:solidFill>
            </a:endParaRPr>
          </a:p>
        </p:txBody>
      </p:sp>
      <p:sp>
        <p:nvSpPr>
          <p:cNvPr id="29" name="AutoShape 124"/>
          <p:cNvSpPr>
            <a:spLocks/>
          </p:cNvSpPr>
          <p:nvPr/>
        </p:nvSpPr>
        <p:spPr bwMode="auto">
          <a:xfrm rot="-5400000">
            <a:off x="9875910" y="2313533"/>
            <a:ext cx="71438" cy="2590800"/>
          </a:xfrm>
          <a:prstGeom prst="rightBrace">
            <a:avLst>
              <a:gd name="adj1" fmla="val 302220"/>
              <a:gd name="adj2" fmla="val 50000"/>
            </a:avLst>
          </a:prstGeom>
          <a:noFill/>
          <a:ln w="28575" cap="sq">
            <a:solidFill>
              <a:srgbClr val="99FF66"/>
            </a:solidFill>
            <a:round/>
            <a:headEnd/>
            <a:tailEnd/>
          </a:ln>
          <a:effectLst/>
        </p:spPr>
        <p:txBody>
          <a:bodyPr wrap="none" lIns="72000" tIns="72000" rIns="72000" bIns="72000" anchor="ctr"/>
          <a:lstStyle/>
          <a:p>
            <a:pPr>
              <a:defRPr/>
            </a:pPr>
            <a:endParaRPr lang="zh-CN" altLang="en-US" kern="0">
              <a:solidFill>
                <a:sysClr val="windowText" lastClr="000000"/>
              </a:solidFill>
            </a:endParaRPr>
          </a:p>
        </p:txBody>
      </p:sp>
    </p:spTree>
    <p:extLst>
      <p:ext uri="{BB962C8B-B14F-4D97-AF65-F5344CB8AC3E}">
        <p14:creationId xmlns:p14="http://schemas.microsoft.com/office/powerpoint/2010/main" val="942959237"/>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400" y="20091"/>
            <a:ext cx="322317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分组统计查询</a:t>
            </a:r>
          </a:p>
        </p:txBody>
      </p:sp>
      <p:pic>
        <p:nvPicPr>
          <p:cNvPr id="27" name="图片 26"/>
          <p:cNvPicPr>
            <a:picLocks noChangeAspect="1"/>
          </p:cNvPicPr>
          <p:nvPr/>
        </p:nvPicPr>
        <p:blipFill>
          <a:blip r:embed="rId3"/>
          <a:stretch>
            <a:fillRect/>
          </a:stretch>
        </p:blipFill>
        <p:spPr>
          <a:xfrm>
            <a:off x="856909" y="2601235"/>
            <a:ext cx="6156302" cy="2852020"/>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30" name="AutoShape 76"/>
          <p:cNvSpPr>
            <a:spLocks noChangeArrowheads="1"/>
          </p:cNvSpPr>
          <p:nvPr/>
        </p:nvSpPr>
        <p:spPr bwMode="auto">
          <a:xfrm>
            <a:off x="8203549" y="2854671"/>
            <a:ext cx="3549297" cy="2725389"/>
          </a:xfrm>
          <a:prstGeom prst="roundRect">
            <a:avLst>
              <a:gd name="adj" fmla="val 6829"/>
            </a:avLst>
          </a:prstGeom>
          <a:gradFill rotWithShape="1">
            <a:gsLst>
              <a:gs pos="0">
                <a:srgbClr val="003399">
                  <a:gamma/>
                  <a:shade val="46275"/>
                  <a:invGamma/>
                </a:srgbClr>
              </a:gs>
              <a:gs pos="50000">
                <a:srgbClr val="003399"/>
              </a:gs>
              <a:gs pos="100000">
                <a:srgbClr val="003399">
                  <a:gamma/>
                  <a:shade val="46275"/>
                  <a:invGamma/>
                </a:srgbClr>
              </a:gs>
            </a:gsLst>
            <a:lin ang="18900000" scaled="1"/>
          </a:gradFill>
          <a:ln w="28575" cap="sq" algn="ctr">
            <a:solidFill>
              <a:srgbClr val="CC3300"/>
            </a:solidFill>
            <a:round/>
            <a:headEnd/>
            <a:tailEnd/>
          </a:ln>
          <a:effectLst>
            <a:outerShdw dist="35921" dir="2700000" algn="ctr" rotWithShape="0">
              <a:srgbClr val="000514"/>
            </a:outerShdw>
          </a:effectLst>
        </p:spPr>
        <p:txBody>
          <a:bodyPr wrap="square" lIns="72000" tIns="72000" rIns="72000" bIns="7200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1" name="AutoShape 77"/>
          <p:cNvSpPr>
            <a:spLocks noChangeArrowheads="1"/>
          </p:cNvSpPr>
          <p:nvPr/>
        </p:nvSpPr>
        <p:spPr bwMode="auto">
          <a:xfrm>
            <a:off x="2783632" y="4747590"/>
            <a:ext cx="2376264" cy="1077322"/>
          </a:xfrm>
          <a:prstGeom prst="wedgeRoundRectCallout">
            <a:avLst>
              <a:gd name="adj1" fmla="val -62329"/>
              <a:gd name="adj2" fmla="val -30095"/>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marL="0" marR="0" lvl="0" indent="0" algn="dist"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3600" b="0" i="0" u="none" strike="noStrike" kern="0" cap="none" spc="0" normalizeH="0" baseline="0" noProof="0" dirty="0">
                <a:ln>
                  <a:noFill/>
                </a:ln>
                <a:solidFill>
                  <a:srgbClr val="FFFFCC"/>
                </a:solidFill>
                <a:effectLst>
                  <a:outerShdw blurRad="38100" dist="38100" dir="2700000" algn="tl">
                    <a:srgbClr val="000000"/>
                  </a:outerShdw>
                </a:effectLst>
                <a:uLnTx/>
                <a:uFillTx/>
                <a:latin typeface="Times New Roman" pitchFamily="18" charset="0"/>
              </a:rPr>
              <a:t>所以只有这</a:t>
            </a:r>
            <a:r>
              <a:rPr kumimoji="0" lang="en-US" altLang="zh-CN" sz="3600" b="0" i="0" u="none" strike="noStrike" kern="0" cap="none" spc="0" normalizeH="0" baseline="0" noProof="0" dirty="0">
                <a:ln>
                  <a:noFill/>
                </a:ln>
                <a:solidFill>
                  <a:srgbClr val="FFFFCC"/>
                </a:solidFill>
                <a:effectLst>
                  <a:outerShdw blurRad="38100" dist="38100" dir="2700000" algn="tl">
                    <a:srgbClr val="000000"/>
                  </a:outerShdw>
                </a:effectLst>
                <a:uLnTx/>
                <a:uFillTx/>
                <a:latin typeface="Times New Roman" pitchFamily="18" charset="0"/>
              </a:rPr>
              <a:t>4</a:t>
            </a:r>
            <a:r>
              <a:rPr kumimoji="0" lang="zh-CN" altLang="en-US" sz="3600" b="0" i="0" u="none" strike="noStrike" kern="0" cap="none" spc="0" normalizeH="0" baseline="0" noProof="0" dirty="0">
                <a:ln>
                  <a:noFill/>
                </a:ln>
                <a:solidFill>
                  <a:srgbClr val="FFFFCC"/>
                </a:solidFill>
                <a:effectLst>
                  <a:outerShdw blurRad="38100" dist="38100" dir="2700000" algn="tl">
                    <a:srgbClr val="000000"/>
                  </a:outerShdw>
                </a:effectLst>
                <a:uLnTx/>
                <a:uFillTx/>
                <a:latin typeface="Times New Roman" pitchFamily="18" charset="0"/>
              </a:rPr>
              <a:t>组结果</a:t>
            </a:r>
          </a:p>
        </p:txBody>
      </p:sp>
      <p:graphicFrame>
        <p:nvGraphicFramePr>
          <p:cNvPr id="32" name="Group 78"/>
          <p:cNvGraphicFramePr>
            <a:graphicFrameLocks noGrp="1"/>
          </p:cNvGraphicFramePr>
          <p:nvPr>
            <p:extLst>
              <p:ext uri="{D42A27DB-BD31-4B8C-83A1-F6EECF244321}">
                <p14:modId xmlns:p14="http://schemas.microsoft.com/office/powerpoint/2010/main" val="155131721"/>
              </p:ext>
            </p:extLst>
          </p:nvPr>
        </p:nvGraphicFramePr>
        <p:xfrm>
          <a:off x="8373700" y="2970734"/>
          <a:ext cx="3201511" cy="2438400"/>
        </p:xfrm>
        <a:graphic>
          <a:graphicData uri="http://schemas.openxmlformats.org/drawingml/2006/table">
            <a:tbl>
              <a:tblPr/>
              <a:tblGrid>
                <a:gridCol w="1006649">
                  <a:extLst>
                    <a:ext uri="{9D8B030D-6E8A-4147-A177-3AD203B41FA5}">
                      <a16:colId xmlns:a16="http://schemas.microsoft.com/office/drawing/2014/main" val="20000"/>
                    </a:ext>
                  </a:extLst>
                </a:gridCol>
                <a:gridCol w="774657">
                  <a:extLst>
                    <a:ext uri="{9D8B030D-6E8A-4147-A177-3AD203B41FA5}">
                      <a16:colId xmlns:a16="http://schemas.microsoft.com/office/drawing/2014/main" val="20001"/>
                    </a:ext>
                  </a:extLst>
                </a:gridCol>
                <a:gridCol w="962270">
                  <a:extLst>
                    <a:ext uri="{9D8B030D-6E8A-4147-A177-3AD203B41FA5}">
                      <a16:colId xmlns:a16="http://schemas.microsoft.com/office/drawing/2014/main" val="20002"/>
                    </a:ext>
                  </a:extLst>
                </a:gridCol>
                <a:gridCol w="457935">
                  <a:extLst>
                    <a:ext uri="{9D8B030D-6E8A-4147-A177-3AD203B41FA5}">
                      <a16:colId xmlns:a16="http://schemas.microsoft.com/office/drawing/2014/main" val="20003"/>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职称</a:t>
                      </a:r>
                    </a:p>
                  </a:txBody>
                  <a:tcPr marL="0" marR="0" marT="0" marB="0" horzOverflow="overflow">
                    <a:lnL cap="flat">
                      <a:noFill/>
                    </a:lnL>
                    <a:lnR w="381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工号</a:t>
                      </a:r>
                    </a:p>
                  </a:txBody>
                  <a:tcPr marL="0" marR="0" marT="0" marB="0" horzOverflow="overflow">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rowSpan="2">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99FF66"/>
                          </a:solidFill>
                          <a:effectLst>
                            <a:outerShdw blurRad="38100" dist="38100" dir="2700000" algn="tl">
                              <a:srgbClr val="000000"/>
                            </a:outerShdw>
                          </a:effectLst>
                          <a:latin typeface="宋体" panose="02010600030101010101" pitchFamily="2" charset="-122"/>
                          <a:ea typeface="宋体" panose="02010600030101010101" pitchFamily="2" charset="-122"/>
                        </a:rPr>
                        <a:t>讲师</a:t>
                      </a:r>
                      <a:endParaRPr kumimoji="0" lang="en-US" altLang="zh-CN" sz="2000" b="0" i="0" u="none" strike="noStrike" cap="none" normalizeH="0" baseline="0" dirty="0">
                        <a:ln>
                          <a:noFill/>
                        </a:ln>
                        <a:solidFill>
                          <a:srgbClr val="99FF66"/>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anchorCtr="1" horzOverflow="overflow">
                    <a:lnL cap="flat">
                      <a:noFill/>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99FF66"/>
                          </a:solidFill>
                          <a:effectLst>
                            <a:outerShdw blurRad="38100" dist="38100" dir="2700000" algn="tl">
                              <a:srgbClr val="000000"/>
                            </a:outerShdw>
                          </a:effectLst>
                          <a:latin typeface="宋体" panose="02010600030101010101" pitchFamily="2" charset="-122"/>
                          <a:ea typeface="宋体" panose="02010600030101010101" pitchFamily="2" charset="-122"/>
                        </a:rPr>
                        <a:t>T01</a:t>
                      </a:r>
                    </a:p>
                  </a:txBody>
                  <a:tcPr marL="0" marR="0" marT="0" marB="0" horzOverflow="overflow">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99FF66"/>
                          </a:solidFill>
                          <a:effectLst>
                            <a:outerShdw blurRad="38100" dist="38100" dir="2700000" algn="tl">
                              <a:srgbClr val="000000"/>
                            </a:outerShdw>
                          </a:effectLst>
                          <a:latin typeface="宋体" panose="02010600030101010101" pitchFamily="2" charset="-122"/>
                          <a:ea typeface="宋体" panose="02010600030101010101" pitchFamily="2" charset="-122"/>
                        </a:rPr>
                        <a:t>李民</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endParaRPr kumimoji="0" lang="zh-CN" altLang="en-US" sz="2000" b="0" i="0" u="none" strike="noStrike" cap="none" normalizeH="0" baseline="0" dirty="0">
                        <a:ln>
                          <a:noFill/>
                        </a:ln>
                        <a:solidFill>
                          <a:srgbClr val="99FF66"/>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extLst>
                  <a:ext uri="{0D108BD9-81ED-4DB2-BD59-A6C34878D82A}">
                    <a16:rowId xmlns:a16="http://schemas.microsoft.com/office/drawing/2014/main" val="10001"/>
                  </a:ext>
                </a:extLst>
              </a:tr>
              <a:tr h="274638">
                <a:tc vMerge="1">
                  <a:txBody>
                    <a:bodyPr/>
                    <a:lstStyle/>
                    <a:p>
                      <a:endParaRPr lang="zh-CN" altLang="en-US"/>
                    </a:p>
                  </a:txBody>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99FF66"/>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99FF66"/>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extLst>
                  <a:ext uri="{0D108BD9-81ED-4DB2-BD59-A6C34878D82A}">
                    <a16:rowId xmlns:a16="http://schemas.microsoft.com/office/drawing/2014/main" val="10002"/>
                  </a:ext>
                </a:extLst>
              </a:tr>
              <a:tr h="274638">
                <a:tc rowSpan="2">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rPr>
                        <a:t>副教授</a:t>
                      </a:r>
                    </a:p>
                  </a:txBody>
                  <a:tcPr marL="0" marR="0" marT="0" marB="0" anchor="ctr" anchorCtr="1" horzOverflow="overflow">
                    <a:lnL cap="flat">
                      <a:noFill/>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660066"/>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rPr>
                        <a:t>T05</a:t>
                      </a:r>
                      <a:endParaRPr kumimoji="0" lang="zh-CN" altLang="en-US" sz="20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660066"/>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rPr>
                        <a:t>潘强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660066"/>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rPr>
                        <a:t>┄</a:t>
                      </a:r>
                      <a:endParaRPr kumimoji="0" lang="zh-CN" altLang="en-US" sz="2000" b="1" i="0" u="none" strike="noStrike" cap="none" normalizeH="0" baseline="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660066"/>
                    </a:solidFill>
                  </a:tcPr>
                </a:tc>
                <a:extLst>
                  <a:ext uri="{0D108BD9-81ED-4DB2-BD59-A6C34878D82A}">
                    <a16:rowId xmlns:a16="http://schemas.microsoft.com/office/drawing/2014/main" val="10003"/>
                  </a:ext>
                </a:extLst>
              </a:tr>
              <a:tr h="274638">
                <a:tc vMerge="1">
                  <a:txBody>
                    <a:bodyPr/>
                    <a:lstStyle/>
                    <a:p>
                      <a:endParaRPr lang="zh-CN" altLang="en-US"/>
                    </a:p>
                  </a:txBody>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660066"/>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660066"/>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660066"/>
                    </a:solidFill>
                  </a:tcPr>
                </a:tc>
                <a:extLst>
                  <a:ext uri="{0D108BD9-81ED-4DB2-BD59-A6C34878D82A}">
                    <a16:rowId xmlns:a16="http://schemas.microsoft.com/office/drawing/2014/main" val="10004"/>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dirty="0">
                          <a:ln>
                            <a:noFill/>
                          </a:ln>
                          <a:solidFill>
                            <a:srgbClr val="FFC000"/>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anchorCtr="1" horzOverflow="overflow">
                    <a:lnL cap="flat">
                      <a:noFill/>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FFC000"/>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anchorCtr="1" horzOverflow="overflow">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FFC000"/>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anchorCtr="1"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dirty="0">
                          <a:ln>
                            <a:noFill/>
                          </a:ln>
                          <a:solidFill>
                            <a:srgbClr val="FFC000"/>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anchorCtr="1"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638">
                <a:tc rowSpan="2">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助教</a:t>
                      </a:r>
                    </a:p>
                  </a:txBody>
                  <a:tcPr marL="0" marR="0" marT="0" marB="0" anchor="ctr" anchorCtr="1" horzOverflow="overflow">
                    <a:lnL cap="flat">
                      <a:noFill/>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3366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T02</a:t>
                      </a:r>
                      <a:endPar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66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刘军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66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endParaRPr kumimoji="0" lang="zh-CN" altLang="en-US" sz="20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6600"/>
                    </a:solidFill>
                  </a:tcPr>
                </a:tc>
                <a:extLst>
                  <a:ext uri="{0D108BD9-81ED-4DB2-BD59-A6C34878D82A}">
                    <a16:rowId xmlns:a16="http://schemas.microsoft.com/office/drawing/2014/main" val="10006"/>
                  </a:ext>
                </a:extLst>
              </a:tr>
              <a:tr h="274638">
                <a:tc vMerge="1">
                  <a:txBody>
                    <a:bodyPr/>
                    <a:lstStyle/>
                    <a:p>
                      <a:endParaRPr lang="zh-CN" altLang="en-US"/>
                    </a:p>
                  </a:txBody>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3366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3366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336600"/>
                    </a:solidFill>
                  </a:tcPr>
                </a:tc>
                <a:extLst>
                  <a:ext uri="{0D108BD9-81ED-4DB2-BD59-A6C34878D82A}">
                    <a16:rowId xmlns:a16="http://schemas.microsoft.com/office/drawing/2014/main" val="10007"/>
                  </a:ext>
                </a:extLst>
              </a:tr>
            </a:tbl>
          </a:graphicData>
        </a:graphic>
      </p:graphicFrame>
      <p:sp>
        <p:nvSpPr>
          <p:cNvPr id="33" name="AutoShape 137"/>
          <p:cNvSpPr>
            <a:spLocks noChangeArrowheads="1"/>
          </p:cNvSpPr>
          <p:nvPr/>
        </p:nvSpPr>
        <p:spPr bwMode="auto">
          <a:xfrm>
            <a:off x="9274002" y="1310910"/>
            <a:ext cx="2478844" cy="753375"/>
          </a:xfrm>
          <a:prstGeom prst="wedgeRoundRectCallout">
            <a:avLst>
              <a:gd name="adj1" fmla="val -29029"/>
              <a:gd name="adj2" fmla="val 122599"/>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marL="0" marR="0" lvl="0" indent="0" algn="dist"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3600" b="0" i="0" u="none" strike="noStrike" kern="0" cap="none" spc="0" normalizeH="0" baseline="0" noProof="0" dirty="0">
                <a:ln>
                  <a:noFill/>
                </a:ln>
                <a:solidFill>
                  <a:srgbClr val="FFFFCC"/>
                </a:solidFill>
                <a:effectLst>
                  <a:outerShdw blurRad="38100" dist="38100" dir="2700000" algn="tl">
                    <a:srgbClr val="000000"/>
                  </a:outerShdw>
                </a:effectLst>
                <a:uLnTx/>
                <a:uFillTx/>
                <a:latin typeface="Times New Roman" pitchFamily="18" charset="0"/>
              </a:rPr>
              <a:t>分组示意</a:t>
            </a:r>
          </a:p>
        </p:txBody>
      </p:sp>
      <p:sp>
        <p:nvSpPr>
          <p:cNvPr id="35" name="Rectangle 140"/>
          <p:cNvSpPr>
            <a:spLocks noChangeArrowheads="1"/>
          </p:cNvSpPr>
          <p:nvPr/>
        </p:nvSpPr>
        <p:spPr bwMode="auto">
          <a:xfrm>
            <a:off x="832788" y="6015981"/>
            <a:ext cx="9612209" cy="678159"/>
          </a:xfrm>
          <a:prstGeom prst="rect">
            <a:avLst/>
          </a:prstGeom>
          <a:solidFill>
            <a:srgbClr val="0000CC"/>
          </a:solidFill>
          <a:ln w="28575" cap="sq">
            <a:solidFill>
              <a:srgbClr val="FFFFCC"/>
            </a:solidFill>
            <a:miter lim="800000"/>
            <a:headEnd/>
            <a:tailEnd/>
          </a:ln>
          <a:effectLst>
            <a:outerShdw dist="107763" dir="2700000" algn="ctr" rotWithShape="0">
              <a:srgbClr val="000514">
                <a:alpha val="50000"/>
              </a:srgbClr>
            </a:outerShdw>
          </a:effectLst>
        </p:spPr>
        <p:txBody>
          <a:bodyPr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3600" b="0" i="0" u="none" strike="noStrike" kern="0" cap="none" spc="0" normalizeH="0" baseline="0" noProof="0">
                <a:ln>
                  <a:noFill/>
                </a:ln>
                <a:solidFill>
                  <a:schemeClr val="bg1"/>
                </a:solidFill>
                <a:effectLst>
                  <a:outerShdw blurRad="38100" dist="38100" dir="2700000" algn="tl">
                    <a:srgbClr val="000000"/>
                  </a:outerShdw>
                </a:effectLst>
                <a:uLnTx/>
                <a:uFillTx/>
                <a:latin typeface="Times New Roman" pitchFamily="18" charset="0"/>
              </a:rPr>
              <a:t>可以</a:t>
            </a:r>
            <a:r>
              <a:rPr kumimoji="0" lang="en-US" altLang="zh-CN" sz="3600" b="0" i="0" u="none" strike="noStrike" kern="0" cap="none" spc="0" normalizeH="0" baseline="0" noProof="0">
                <a:ln>
                  <a:noFill/>
                </a:ln>
                <a:solidFill>
                  <a:schemeClr val="bg1"/>
                </a:solidFill>
                <a:effectLst>
                  <a:outerShdw blurRad="38100" dist="38100" dir="2700000" algn="tl">
                    <a:srgbClr val="000000"/>
                  </a:outerShdw>
                </a:effectLst>
                <a:uLnTx/>
                <a:uFillTx/>
                <a:latin typeface="Times New Roman" pitchFamily="18" charset="0"/>
              </a:rPr>
              <a:t>By</a:t>
            </a:r>
            <a:r>
              <a:rPr kumimoji="0" lang="zh-CN" altLang="en-US" sz="3600" b="0" i="0" u="none" strike="noStrike" kern="0" cap="none" spc="0" normalizeH="0" baseline="0" noProof="0">
                <a:ln>
                  <a:noFill/>
                </a:ln>
                <a:solidFill>
                  <a:schemeClr val="bg1"/>
                </a:solidFill>
                <a:effectLst>
                  <a:outerShdw blurRad="38100" dist="38100" dir="2700000" algn="tl">
                    <a:srgbClr val="000000"/>
                  </a:outerShdw>
                </a:effectLst>
                <a:uLnTx/>
                <a:uFillTx/>
                <a:latin typeface="Times New Roman" pitchFamily="18" charset="0"/>
              </a:rPr>
              <a:t>多个列名来实现多级分组</a:t>
            </a:r>
          </a:p>
        </p:txBody>
      </p:sp>
      <p:pic>
        <p:nvPicPr>
          <p:cNvPr id="36" name="图片 35"/>
          <p:cNvPicPr>
            <a:picLocks noChangeAspect="1"/>
          </p:cNvPicPr>
          <p:nvPr/>
        </p:nvPicPr>
        <p:blipFill>
          <a:blip r:embed="rId4"/>
          <a:stretch>
            <a:fillRect/>
          </a:stretch>
        </p:blipFill>
        <p:spPr>
          <a:xfrm>
            <a:off x="856909" y="842019"/>
            <a:ext cx="5724406" cy="1471182"/>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37" name="AutoShape 14"/>
          <p:cNvSpPr>
            <a:spLocks noChangeArrowheads="1"/>
          </p:cNvSpPr>
          <p:nvPr/>
        </p:nvSpPr>
        <p:spPr bwMode="auto">
          <a:xfrm>
            <a:off x="7079157" y="468239"/>
            <a:ext cx="1294543" cy="1405875"/>
          </a:xfrm>
          <a:prstGeom prst="wedgeRoundRectCallout">
            <a:avLst>
              <a:gd name="adj1" fmla="val -101935"/>
              <a:gd name="adj2" fmla="val -11051"/>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marL="0" marR="0" lvl="0" indent="0" algn="dist"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3600" b="0" i="0" u="none" strike="noStrike" kern="0" cap="none" spc="0" normalizeH="0" baseline="0" noProof="0" dirty="0">
                <a:ln>
                  <a:noFill/>
                </a:ln>
                <a:solidFill>
                  <a:srgbClr val="FFFFCC"/>
                </a:solidFill>
                <a:effectLst>
                  <a:outerShdw blurRad="38100" dist="38100" dir="2700000" algn="tl">
                    <a:srgbClr val="000000"/>
                  </a:outerShdw>
                </a:effectLst>
                <a:uLnTx/>
                <a:uFillTx/>
                <a:latin typeface="Times New Roman" pitchFamily="18" charset="0"/>
              </a:rPr>
              <a:t>原始数据</a:t>
            </a:r>
          </a:p>
        </p:txBody>
      </p:sp>
      <p:pic>
        <p:nvPicPr>
          <p:cNvPr id="38" name="图片 37"/>
          <p:cNvPicPr>
            <a:picLocks noChangeAspect="1"/>
          </p:cNvPicPr>
          <p:nvPr/>
        </p:nvPicPr>
        <p:blipFill>
          <a:blip r:embed="rId5"/>
          <a:stretch>
            <a:fillRect/>
          </a:stretch>
        </p:blipFill>
        <p:spPr>
          <a:xfrm>
            <a:off x="3954004" y="3338459"/>
            <a:ext cx="1105142" cy="1270396"/>
          </a:xfrm>
          <a:prstGeom prst="rect">
            <a:avLst/>
          </a:prstGeom>
          <a:noFill/>
          <a:ln w="38100" cap="sq" algn="ctr">
            <a:solidFill>
              <a:srgbClr val="FF0000"/>
            </a:solidFill>
            <a:miter lim="800000"/>
            <a:headEnd/>
            <a:tailEnd/>
          </a:ln>
        </p:spPr>
      </p:pic>
      <p:sp>
        <p:nvSpPr>
          <p:cNvPr id="34" name="AutoShape 139"/>
          <p:cNvSpPr>
            <a:spLocks noChangeArrowheads="1"/>
          </p:cNvSpPr>
          <p:nvPr/>
        </p:nvSpPr>
        <p:spPr bwMode="auto">
          <a:xfrm>
            <a:off x="5393183" y="3115289"/>
            <a:ext cx="2376264" cy="1144902"/>
          </a:xfrm>
          <a:prstGeom prst="wedgeRoundRectCallout">
            <a:avLst>
              <a:gd name="adj1" fmla="val -66089"/>
              <a:gd name="adj2" fmla="val -3795"/>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marL="0" marR="0" lvl="0" indent="0" algn="just"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3600" b="0" i="0" u="none" strike="noStrike" kern="0" cap="none" spc="0" normalizeH="0" baseline="0" noProof="0" dirty="0">
                <a:ln>
                  <a:noFill/>
                </a:ln>
                <a:solidFill>
                  <a:srgbClr val="FFFFCC"/>
                </a:solidFill>
                <a:effectLst>
                  <a:outerShdw blurRad="38100" dist="38100" dir="2700000" algn="tl">
                    <a:srgbClr val="000000"/>
                  </a:outerShdw>
                </a:effectLst>
                <a:uLnTx/>
                <a:uFillTx/>
                <a:latin typeface="Times New Roman" pitchFamily="18" charset="0"/>
              </a:rPr>
              <a:t>因为只有这</a:t>
            </a:r>
            <a:r>
              <a:rPr kumimoji="0" lang="en-US" altLang="zh-CN" sz="3600" b="0" i="0" u="none" strike="noStrike" kern="0" cap="none" spc="0" normalizeH="0" baseline="0" noProof="0" dirty="0">
                <a:ln>
                  <a:noFill/>
                </a:ln>
                <a:solidFill>
                  <a:srgbClr val="FFFFCC"/>
                </a:solidFill>
                <a:effectLst>
                  <a:outerShdw blurRad="38100" dist="38100" dir="2700000" algn="tl">
                    <a:srgbClr val="000000"/>
                  </a:outerShdw>
                </a:effectLst>
                <a:uLnTx/>
                <a:uFillTx/>
                <a:latin typeface="Times New Roman" pitchFamily="18" charset="0"/>
              </a:rPr>
              <a:t>4</a:t>
            </a:r>
            <a:r>
              <a:rPr kumimoji="0" lang="zh-CN" altLang="en-US" sz="3600" b="0" i="0" u="none" strike="noStrike" kern="0" cap="none" spc="0" normalizeH="0" baseline="0" noProof="0" dirty="0">
                <a:ln>
                  <a:noFill/>
                </a:ln>
                <a:solidFill>
                  <a:srgbClr val="FFFFCC"/>
                </a:solidFill>
                <a:effectLst>
                  <a:outerShdw blurRad="38100" dist="38100" dir="2700000" algn="tl">
                    <a:srgbClr val="000000"/>
                  </a:outerShdw>
                </a:effectLst>
                <a:uLnTx/>
                <a:uFillTx/>
                <a:latin typeface="Times New Roman" pitchFamily="18" charset="0"/>
              </a:rPr>
              <a:t>种职称</a:t>
            </a:r>
          </a:p>
        </p:txBody>
      </p:sp>
    </p:spTree>
    <p:extLst>
      <p:ext uri="{BB962C8B-B14F-4D97-AF65-F5344CB8AC3E}">
        <p14:creationId xmlns:p14="http://schemas.microsoft.com/office/powerpoint/2010/main" val="3945721411"/>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2363CB-5F1C-443F-B6F8-B5987C97CF71}"/>
              </a:ext>
            </a:extLst>
          </p:cNvPr>
          <p:cNvSpPr>
            <a:spLocks noGrp="1"/>
          </p:cNvSpPr>
          <p:nvPr>
            <p:ph type="title"/>
          </p:nvPr>
        </p:nvSpPr>
        <p:spPr>
          <a:xfrm>
            <a:off x="567082" y="89440"/>
            <a:ext cx="6627840" cy="707886"/>
          </a:xfrm>
        </p:spPr>
        <p:txBody>
          <a:bodyPr/>
          <a:lstStyle/>
          <a:p>
            <a:pPr eaLnBrk="1" hangingPunct="1">
              <a:defRPr/>
            </a:pPr>
            <a:r>
              <a:rPr lang="en-US" altLang="zh-CN">
                <a:solidFill>
                  <a:srgbClr val="FF0000"/>
                </a:solidFill>
              </a:rPr>
              <a:t>SQL</a:t>
            </a:r>
            <a:r>
              <a:rPr lang="zh-CN" altLang="en-US">
                <a:solidFill>
                  <a:srgbClr val="FF0000"/>
                </a:solidFill>
              </a:rPr>
              <a:t>中</a:t>
            </a:r>
            <a:r>
              <a:rPr lang="en-US" altLang="zh-CN">
                <a:solidFill>
                  <a:srgbClr val="FF0000"/>
                </a:solidFill>
              </a:rPr>
              <a:t>group by</a:t>
            </a:r>
            <a:r>
              <a:rPr lang="zh-CN" altLang="en-US">
                <a:solidFill>
                  <a:srgbClr val="FF0000"/>
                </a:solidFill>
              </a:rPr>
              <a:t>的注意事项</a:t>
            </a:r>
          </a:p>
        </p:txBody>
      </p:sp>
      <p:sp>
        <p:nvSpPr>
          <p:cNvPr id="54275" name="内容占位符 3">
            <a:extLst>
              <a:ext uri="{FF2B5EF4-FFF2-40B4-BE49-F238E27FC236}">
                <a16:creationId xmlns:a16="http://schemas.microsoft.com/office/drawing/2014/main" id="{C21DA99E-C741-4E6F-A20C-962422B8FA3B}"/>
              </a:ext>
            </a:extLst>
          </p:cNvPr>
          <p:cNvSpPr>
            <a:spLocks noGrp="1" noChangeArrowheads="1"/>
          </p:cNvSpPr>
          <p:nvPr>
            <p:ph idx="1"/>
          </p:nvPr>
        </p:nvSpPr>
        <p:spPr>
          <a:xfrm>
            <a:off x="983432" y="1600200"/>
            <a:ext cx="11305256" cy="4495800"/>
          </a:xfrm>
        </p:spPr>
        <p:txBody>
          <a:bodyPr>
            <a:noAutofit/>
          </a:bodyPr>
          <a:lstStyle/>
          <a:p>
            <a:pPr eaLnBrk="1" hangingPunct="1"/>
            <a:r>
              <a:rPr lang="en-US" altLang="zh-CN" sz="2400" b="1" dirty="0">
                <a:solidFill>
                  <a:schemeClr val="bg2"/>
                </a:solidFill>
                <a:latin typeface="微软雅黑" panose="020B0503020204020204" pitchFamily="34" charset="-122"/>
              </a:rPr>
              <a:t>1</a:t>
            </a:r>
            <a:r>
              <a:rPr lang="zh-CN" altLang="en-US" sz="2400" b="1" dirty="0">
                <a:solidFill>
                  <a:schemeClr val="bg2"/>
                </a:solidFill>
                <a:latin typeface="微软雅黑" panose="020B0503020204020204" pitchFamily="34" charset="-122"/>
              </a:rPr>
              <a:t>、</a:t>
            </a:r>
            <a:endParaRPr lang="en-US" altLang="zh-CN" sz="2400" b="1" dirty="0">
              <a:solidFill>
                <a:schemeClr val="bg2"/>
              </a:solidFill>
              <a:latin typeface="微软雅黑" panose="020B0503020204020204" pitchFamily="34" charset="-122"/>
            </a:endParaRPr>
          </a:p>
          <a:p>
            <a:pPr eaLnBrk="1" hangingPunct="1"/>
            <a:r>
              <a:rPr lang="zh-CN" altLang="en-US" sz="2400" b="1" dirty="0">
                <a:solidFill>
                  <a:schemeClr val="bg2"/>
                </a:solidFill>
                <a:latin typeface="微软雅黑" panose="020B0503020204020204" pitchFamily="34" charset="-122"/>
              </a:rPr>
              <a:t>使用聚合函数时，</a:t>
            </a:r>
            <a:r>
              <a:rPr lang="en-US" altLang="zh-CN" sz="2400" b="1" dirty="0">
                <a:solidFill>
                  <a:schemeClr val="bg2"/>
                </a:solidFill>
                <a:latin typeface="微软雅黑" panose="020B0503020204020204" pitchFamily="34" charset="-122"/>
              </a:rPr>
              <a:t>SELECT</a:t>
            </a:r>
            <a:r>
              <a:rPr lang="zh-CN" altLang="en-US" sz="2400" b="1" dirty="0">
                <a:solidFill>
                  <a:schemeClr val="bg2"/>
                </a:solidFill>
                <a:latin typeface="微软雅黑" panose="020B0503020204020204" pitchFamily="34" charset="-122"/>
              </a:rPr>
              <a:t>子句中只能存在以下</a:t>
            </a:r>
            <a:r>
              <a:rPr lang="en-US" altLang="zh-CN" sz="2400" b="1" dirty="0">
                <a:solidFill>
                  <a:schemeClr val="bg2"/>
                </a:solidFill>
                <a:latin typeface="微软雅黑" panose="020B0503020204020204" pitchFamily="34" charset="-122"/>
              </a:rPr>
              <a:t>3</a:t>
            </a:r>
            <a:r>
              <a:rPr lang="zh-CN" altLang="en-US" sz="2400" b="1" dirty="0">
                <a:solidFill>
                  <a:schemeClr val="bg2"/>
                </a:solidFill>
                <a:latin typeface="微软雅黑" panose="020B0503020204020204" pitchFamily="34" charset="-122"/>
              </a:rPr>
              <a:t>中元素</a:t>
            </a:r>
          </a:p>
          <a:p>
            <a:pPr eaLnBrk="1" hangingPunct="1">
              <a:buClr>
                <a:srgbClr val="FF0000"/>
              </a:buClr>
              <a:buFont typeface="Wingdings" panose="05000000000000000000" pitchFamily="2" charset="2"/>
              <a:buChar char="Ø"/>
            </a:pPr>
            <a:r>
              <a:rPr lang="zh-CN" altLang="en-US" sz="2400" b="1" dirty="0">
                <a:solidFill>
                  <a:schemeClr val="bg2"/>
                </a:solidFill>
                <a:latin typeface="微软雅黑" panose="020B0503020204020204" pitchFamily="34" charset="-122"/>
              </a:rPr>
              <a:t>常数</a:t>
            </a:r>
          </a:p>
          <a:p>
            <a:pPr eaLnBrk="1" hangingPunct="1">
              <a:buClr>
                <a:srgbClr val="FF0000"/>
              </a:buClr>
              <a:buFont typeface="Wingdings" panose="05000000000000000000" pitchFamily="2" charset="2"/>
              <a:buChar char="Ø"/>
            </a:pPr>
            <a:r>
              <a:rPr lang="zh-CN" altLang="en-US" sz="2400" b="1" dirty="0">
                <a:solidFill>
                  <a:schemeClr val="bg2"/>
                </a:solidFill>
                <a:latin typeface="微软雅黑" panose="020B0503020204020204" pitchFamily="34" charset="-122"/>
              </a:rPr>
              <a:t>聚合函数</a:t>
            </a:r>
          </a:p>
          <a:p>
            <a:pPr eaLnBrk="1" hangingPunct="1">
              <a:buClr>
                <a:srgbClr val="FF0000"/>
              </a:buClr>
              <a:buFont typeface="Wingdings" panose="05000000000000000000" pitchFamily="2" charset="2"/>
              <a:buChar char="Ø"/>
            </a:pPr>
            <a:r>
              <a:rPr lang="en-US" altLang="zh-CN" sz="2400" b="1" dirty="0">
                <a:solidFill>
                  <a:schemeClr val="bg2"/>
                </a:solidFill>
                <a:latin typeface="微软雅黑" panose="020B0503020204020204" pitchFamily="34" charset="-122"/>
              </a:rPr>
              <a:t>GROUP BY</a:t>
            </a:r>
            <a:r>
              <a:rPr lang="zh-CN" altLang="en-US" sz="2400" b="1" dirty="0">
                <a:solidFill>
                  <a:schemeClr val="bg2"/>
                </a:solidFill>
                <a:latin typeface="微软雅黑" panose="020B0503020204020204" pitchFamily="34" charset="-122"/>
              </a:rPr>
              <a:t>指定的列名</a:t>
            </a:r>
          </a:p>
          <a:p>
            <a:pPr eaLnBrk="1" hangingPunct="1"/>
            <a:r>
              <a:rPr lang="en-US" altLang="zh-CN" sz="2400" b="1" dirty="0">
                <a:solidFill>
                  <a:schemeClr val="bg2"/>
                </a:solidFill>
                <a:latin typeface="微软雅黑" panose="020B0503020204020204" pitchFamily="34" charset="-122"/>
              </a:rPr>
              <a:t>--</a:t>
            </a:r>
            <a:r>
              <a:rPr lang="en-US" altLang="zh-CN" sz="2400" b="1" dirty="0">
                <a:solidFill>
                  <a:srgbClr val="FF0000"/>
                </a:solidFill>
                <a:latin typeface="微软雅黑" panose="020B0503020204020204" pitchFamily="34" charset="-122"/>
              </a:rPr>
              <a:t> </a:t>
            </a:r>
            <a:r>
              <a:rPr lang="zh-CN" altLang="en-US" sz="2400" b="1" dirty="0">
                <a:solidFill>
                  <a:srgbClr val="FF0000"/>
                </a:solidFill>
                <a:latin typeface="微软雅黑" panose="020B0503020204020204" pitchFamily="34" charset="-122"/>
              </a:rPr>
              <a:t>以下</a:t>
            </a:r>
            <a:r>
              <a:rPr lang="en-US" altLang="zh-CN" sz="2400" b="1" dirty="0" err="1">
                <a:solidFill>
                  <a:srgbClr val="FF0000"/>
                </a:solidFill>
                <a:latin typeface="微软雅黑" panose="020B0503020204020204" pitchFamily="34" charset="-122"/>
              </a:rPr>
              <a:t>sql</a:t>
            </a:r>
            <a:r>
              <a:rPr lang="zh-CN" altLang="en-US" sz="2400" b="1" dirty="0">
                <a:solidFill>
                  <a:srgbClr val="FF0000"/>
                </a:solidFill>
                <a:latin typeface="微软雅黑" panose="020B0503020204020204" pitchFamily="34" charset="-122"/>
              </a:rPr>
              <a:t>会报错</a:t>
            </a:r>
          </a:p>
          <a:p>
            <a:pPr eaLnBrk="1" hangingPunct="1"/>
            <a:r>
              <a:rPr lang="en-US" altLang="zh-CN" sz="1800" b="1" dirty="0">
                <a:solidFill>
                  <a:schemeClr val="bg2"/>
                </a:solidFill>
                <a:latin typeface="微软雅黑" panose="020B0503020204020204" pitchFamily="34" charset="-122"/>
              </a:rPr>
              <a:t>SELECT </a:t>
            </a:r>
            <a:r>
              <a:rPr lang="en-US" altLang="zh-CN" sz="1800" b="1" dirty="0" err="1">
                <a:solidFill>
                  <a:schemeClr val="bg2"/>
                </a:solidFill>
                <a:latin typeface="微软雅黑" panose="020B0503020204020204" pitchFamily="34" charset="-122"/>
              </a:rPr>
              <a:t>product_name</a:t>
            </a:r>
            <a:r>
              <a:rPr lang="en-US" altLang="zh-CN" sz="1800" b="1" dirty="0">
                <a:solidFill>
                  <a:schemeClr val="bg2"/>
                </a:solidFill>
                <a:latin typeface="微软雅黑" panose="020B0503020204020204" pitchFamily="34" charset="-122"/>
              </a:rPr>
              <a:t>, </a:t>
            </a:r>
            <a:r>
              <a:rPr lang="en-US" altLang="zh-CN" sz="1800" b="1" dirty="0" err="1">
                <a:solidFill>
                  <a:schemeClr val="bg2"/>
                </a:solidFill>
                <a:latin typeface="微软雅黑" panose="020B0503020204020204" pitchFamily="34" charset="-122"/>
              </a:rPr>
              <a:t>purchase_price</a:t>
            </a:r>
            <a:r>
              <a:rPr lang="en-US" altLang="zh-CN" sz="1800" b="1" dirty="0">
                <a:solidFill>
                  <a:schemeClr val="bg2"/>
                </a:solidFill>
                <a:latin typeface="微软雅黑" panose="020B0503020204020204" pitchFamily="34" charset="-122"/>
              </a:rPr>
              <a:t>, COUNT(*)</a:t>
            </a:r>
          </a:p>
          <a:p>
            <a:pPr eaLnBrk="1" hangingPunct="1"/>
            <a:r>
              <a:rPr lang="en-US" altLang="zh-CN" sz="1800" b="1" dirty="0">
                <a:solidFill>
                  <a:schemeClr val="bg2"/>
                </a:solidFill>
                <a:latin typeface="微软雅黑" panose="020B0503020204020204" pitchFamily="34" charset="-122"/>
              </a:rPr>
              <a:t>FROM Product</a:t>
            </a:r>
          </a:p>
          <a:p>
            <a:pPr eaLnBrk="1" hangingPunct="1"/>
            <a:r>
              <a:rPr lang="en-US" altLang="zh-CN" sz="1800" b="1" dirty="0">
                <a:solidFill>
                  <a:schemeClr val="bg2"/>
                </a:solidFill>
                <a:latin typeface="微软雅黑" panose="020B0503020204020204" pitchFamily="34" charset="-122"/>
              </a:rPr>
              <a:t>GROUP BY </a:t>
            </a:r>
            <a:r>
              <a:rPr lang="en-US" altLang="zh-CN" sz="1800" b="1" dirty="0" err="1">
                <a:solidFill>
                  <a:schemeClr val="bg2"/>
                </a:solidFill>
                <a:latin typeface="微软雅黑" panose="020B0503020204020204" pitchFamily="34" charset="-122"/>
              </a:rPr>
              <a:t>purchase_price</a:t>
            </a:r>
            <a:r>
              <a:rPr lang="en-US" altLang="zh-CN" sz="1800" b="1" dirty="0">
                <a:solidFill>
                  <a:schemeClr val="bg2"/>
                </a:solidFill>
                <a:latin typeface="微软雅黑" panose="020B0503020204020204" pitchFamily="34" charset="-122"/>
              </a:rPr>
              <a:t>;</a:t>
            </a:r>
          </a:p>
          <a:p>
            <a:pPr eaLnBrk="1" hangingPunct="1"/>
            <a:endParaRPr lang="en-US" altLang="zh-CN" sz="1800" b="1" dirty="0">
              <a:solidFill>
                <a:schemeClr val="bg2"/>
              </a:solidFill>
              <a:latin typeface="微软雅黑" panose="020B0503020204020204" pitchFamily="34" charset="-122"/>
            </a:endParaRPr>
          </a:p>
          <a:p>
            <a:pPr eaLnBrk="1" hangingPunct="1"/>
            <a:r>
              <a:rPr lang="en-US" altLang="zh-CN" sz="1800" b="1" dirty="0">
                <a:solidFill>
                  <a:schemeClr val="bg2"/>
                </a:solidFill>
                <a:latin typeface="微软雅黑" panose="020B0503020204020204" pitchFamily="34" charset="-122"/>
              </a:rPr>
              <a:t>-- </a:t>
            </a:r>
            <a:r>
              <a:rPr lang="zh-CN" altLang="en-US" sz="1800" b="1" dirty="0">
                <a:solidFill>
                  <a:schemeClr val="bg2"/>
                </a:solidFill>
                <a:latin typeface="微软雅黑" panose="020B0503020204020204" pitchFamily="34" charset="-122"/>
              </a:rPr>
              <a:t>正确写法</a:t>
            </a:r>
          </a:p>
          <a:p>
            <a:pPr eaLnBrk="1" hangingPunct="1"/>
            <a:r>
              <a:rPr lang="en-US" altLang="zh-CN" sz="1800" b="1" dirty="0">
                <a:solidFill>
                  <a:schemeClr val="bg2"/>
                </a:solidFill>
                <a:latin typeface="微软雅黑" panose="020B0503020204020204" pitchFamily="34" charset="-122"/>
              </a:rPr>
              <a:t>SELECT </a:t>
            </a:r>
            <a:r>
              <a:rPr lang="en-US" altLang="zh-CN" sz="1800" b="1" dirty="0" err="1">
                <a:solidFill>
                  <a:schemeClr val="bg2"/>
                </a:solidFill>
                <a:latin typeface="微软雅黑" panose="020B0503020204020204" pitchFamily="34" charset="-122"/>
              </a:rPr>
              <a:t>purchase_price</a:t>
            </a:r>
            <a:r>
              <a:rPr lang="en-US" altLang="zh-CN" sz="1800" b="1" dirty="0">
                <a:solidFill>
                  <a:schemeClr val="bg2"/>
                </a:solidFill>
                <a:latin typeface="微软雅黑" panose="020B0503020204020204" pitchFamily="34" charset="-122"/>
              </a:rPr>
              <a:t>, COUNT(*)</a:t>
            </a:r>
          </a:p>
          <a:p>
            <a:pPr eaLnBrk="1" hangingPunct="1"/>
            <a:r>
              <a:rPr lang="en-US" altLang="zh-CN" sz="1800" b="1" dirty="0">
                <a:solidFill>
                  <a:schemeClr val="bg2"/>
                </a:solidFill>
                <a:latin typeface="微软雅黑" panose="020B0503020204020204" pitchFamily="34" charset="-122"/>
              </a:rPr>
              <a:t>FROM Product</a:t>
            </a:r>
          </a:p>
          <a:p>
            <a:pPr eaLnBrk="1" hangingPunct="1"/>
            <a:r>
              <a:rPr lang="en-US" altLang="zh-CN" sz="1800" b="1" dirty="0">
                <a:solidFill>
                  <a:schemeClr val="bg2"/>
                </a:solidFill>
                <a:latin typeface="微软雅黑" panose="020B0503020204020204" pitchFamily="34" charset="-122"/>
              </a:rPr>
              <a:t>GROUP BY </a:t>
            </a:r>
            <a:r>
              <a:rPr lang="en-US" altLang="zh-CN" sz="1800" b="1" dirty="0" err="1">
                <a:solidFill>
                  <a:schemeClr val="bg2"/>
                </a:solidFill>
                <a:latin typeface="微软雅黑" panose="020B0503020204020204" pitchFamily="34" charset="-122"/>
              </a:rPr>
              <a:t>purchase_price</a:t>
            </a:r>
            <a:r>
              <a:rPr lang="en-US" altLang="zh-CN" sz="1800" b="1" dirty="0">
                <a:solidFill>
                  <a:schemeClr val="bg2"/>
                </a:solidFill>
                <a:latin typeface="微软雅黑" panose="020B0503020204020204" pitchFamily="34" charset="-122"/>
              </a:rPr>
              <a:t>;</a:t>
            </a:r>
            <a:endParaRPr lang="zh-CN" altLang="en-US" sz="1800" b="1" dirty="0">
              <a:solidFill>
                <a:schemeClr val="bg2"/>
              </a:solidFill>
              <a:latin typeface="微软雅黑" panose="020B0503020204020204" pitchFamily="34" charset="-122"/>
            </a:endParaRPr>
          </a:p>
        </p:txBody>
      </p:sp>
      <p:pic>
        <p:nvPicPr>
          <p:cNvPr id="54276" name="Picture 12">
            <a:extLst>
              <a:ext uri="{FF2B5EF4-FFF2-40B4-BE49-F238E27FC236}">
                <a16:creationId xmlns:a16="http://schemas.microsoft.com/office/drawing/2014/main" id="{325D6B58-24FE-4A36-85A5-80FE2EC784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7688" y="1063625"/>
            <a:ext cx="5407025" cy="536575"/>
          </a:xfrm>
          <a:prstGeom prst="rect">
            <a:avLst/>
          </a:prstGeom>
          <a:noFill/>
          <a:ln>
            <a:noFill/>
          </a:ln>
          <a:effectLst>
            <a:outerShdw dist="35921" dir="2700000" sy="50000" kx="2115830" algn="bl"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内容占位符 3">
            <a:extLst>
              <a:ext uri="{FF2B5EF4-FFF2-40B4-BE49-F238E27FC236}">
                <a16:creationId xmlns:a16="http://schemas.microsoft.com/office/drawing/2014/main" id="{C4FC3492-4DF8-4B52-9B32-E5F7C20935D3}"/>
              </a:ext>
            </a:extLst>
          </p:cNvPr>
          <p:cNvSpPr>
            <a:spLocks noGrp="1" noChangeArrowheads="1"/>
          </p:cNvSpPr>
          <p:nvPr>
            <p:ph idx="1"/>
          </p:nvPr>
        </p:nvSpPr>
        <p:spPr>
          <a:xfrm>
            <a:off x="1127448" y="1052736"/>
            <a:ext cx="9937104" cy="5328592"/>
          </a:xfrm>
        </p:spPr>
        <p:txBody>
          <a:bodyPr>
            <a:normAutofit lnSpcReduction="10000"/>
          </a:bodyPr>
          <a:lstStyle/>
          <a:p>
            <a:pPr eaLnBrk="1" hangingPunct="1"/>
            <a:r>
              <a:rPr lang="en-US" altLang="zh-CN" sz="2400" b="1" dirty="0">
                <a:solidFill>
                  <a:schemeClr val="bg2"/>
                </a:solidFill>
                <a:latin typeface="微软雅黑" panose="020B0503020204020204" pitchFamily="34" charset="-122"/>
              </a:rPr>
              <a:t>2</a:t>
            </a:r>
            <a:r>
              <a:rPr lang="zh-CN" altLang="en-US" sz="2400" b="1" dirty="0">
                <a:solidFill>
                  <a:schemeClr val="bg2"/>
                </a:solidFill>
                <a:latin typeface="微软雅黑" panose="020B0503020204020204" pitchFamily="34" charset="-122"/>
              </a:rPr>
              <a:t>、</a:t>
            </a:r>
            <a:endParaRPr lang="en-US" altLang="zh-CN" sz="2400" b="1" dirty="0">
              <a:solidFill>
                <a:schemeClr val="bg2"/>
              </a:solidFill>
              <a:latin typeface="微软雅黑" panose="020B0503020204020204" pitchFamily="34" charset="-122"/>
            </a:endParaRPr>
          </a:p>
          <a:p>
            <a:pPr eaLnBrk="1" hangingPunct="1"/>
            <a:endParaRPr lang="en-US" altLang="zh-CN" sz="2400" b="1" dirty="0">
              <a:solidFill>
                <a:schemeClr val="bg2"/>
              </a:solidFill>
              <a:latin typeface="微软雅黑" panose="020B0503020204020204" pitchFamily="34" charset="-122"/>
            </a:endParaRPr>
          </a:p>
          <a:p>
            <a:pPr eaLnBrk="1" hangingPunct="1"/>
            <a:r>
              <a:rPr lang="zh-CN" altLang="en-US" sz="2400" b="1" dirty="0">
                <a:solidFill>
                  <a:schemeClr val="bg2"/>
                </a:solidFill>
                <a:latin typeface="微软雅黑" panose="020B0503020204020204" pitchFamily="34" charset="-122"/>
              </a:rPr>
              <a:t>可能会报错的写法</a:t>
            </a:r>
          </a:p>
          <a:p>
            <a:pPr eaLnBrk="1" hangingPunct="1"/>
            <a:r>
              <a:rPr lang="en-US" altLang="zh-CN" sz="2400" b="1" dirty="0">
                <a:solidFill>
                  <a:schemeClr val="bg2"/>
                </a:solidFill>
                <a:latin typeface="微软雅黑" panose="020B0503020204020204" pitchFamily="34" charset="-122"/>
              </a:rPr>
              <a:t>SELECT </a:t>
            </a:r>
            <a:r>
              <a:rPr lang="en-US" altLang="zh-CN" sz="2400" b="1" dirty="0" err="1">
                <a:solidFill>
                  <a:schemeClr val="bg2"/>
                </a:solidFill>
                <a:latin typeface="微软雅黑" panose="020B0503020204020204" pitchFamily="34" charset="-122"/>
              </a:rPr>
              <a:t>product_type</a:t>
            </a:r>
            <a:r>
              <a:rPr lang="en-US" altLang="zh-CN" sz="2400" b="1" dirty="0">
                <a:solidFill>
                  <a:schemeClr val="bg2"/>
                </a:solidFill>
                <a:latin typeface="微软雅黑" panose="020B0503020204020204" pitchFamily="34" charset="-122"/>
              </a:rPr>
              <a:t> AS </a:t>
            </a:r>
            <a:r>
              <a:rPr lang="en-US" altLang="zh-CN" sz="2400" b="1" dirty="0" err="1">
                <a:solidFill>
                  <a:schemeClr val="bg2"/>
                </a:solidFill>
                <a:latin typeface="微软雅黑" panose="020B0503020204020204" pitchFamily="34" charset="-122"/>
              </a:rPr>
              <a:t>pt</a:t>
            </a:r>
            <a:r>
              <a:rPr lang="en-US" altLang="zh-CN" sz="2400" b="1" dirty="0">
                <a:solidFill>
                  <a:schemeClr val="bg2"/>
                </a:solidFill>
                <a:latin typeface="微软雅黑" panose="020B0503020204020204" pitchFamily="34" charset="-122"/>
              </a:rPr>
              <a:t>, COUNT(*)</a:t>
            </a:r>
          </a:p>
          <a:p>
            <a:pPr eaLnBrk="1" hangingPunct="1"/>
            <a:r>
              <a:rPr lang="en-US" altLang="zh-CN" sz="2400" b="1" dirty="0">
                <a:solidFill>
                  <a:schemeClr val="bg2"/>
                </a:solidFill>
                <a:latin typeface="微软雅黑" panose="020B0503020204020204" pitchFamily="34" charset="-122"/>
              </a:rPr>
              <a:t>FROM Product</a:t>
            </a:r>
          </a:p>
          <a:p>
            <a:pPr eaLnBrk="1" hangingPunct="1"/>
            <a:r>
              <a:rPr lang="en-US" altLang="zh-CN" sz="2400" b="1" dirty="0">
                <a:solidFill>
                  <a:schemeClr val="bg2"/>
                </a:solidFill>
                <a:latin typeface="微软雅黑" panose="020B0503020204020204" pitchFamily="34" charset="-122"/>
              </a:rPr>
              <a:t>GROUP BY </a:t>
            </a:r>
            <a:r>
              <a:rPr lang="en-US" altLang="zh-CN" sz="2400" b="1" dirty="0" err="1">
                <a:solidFill>
                  <a:schemeClr val="bg2"/>
                </a:solidFill>
                <a:latin typeface="微软雅黑" panose="020B0503020204020204" pitchFamily="34" charset="-122"/>
              </a:rPr>
              <a:t>pt</a:t>
            </a:r>
            <a:r>
              <a:rPr lang="en-US" altLang="zh-CN" sz="2400" b="1" dirty="0">
                <a:solidFill>
                  <a:schemeClr val="bg2"/>
                </a:solidFill>
                <a:latin typeface="微软雅黑" panose="020B0503020204020204" pitchFamily="34" charset="-122"/>
              </a:rPr>
              <a:t>;</a:t>
            </a:r>
          </a:p>
          <a:p>
            <a:pPr eaLnBrk="1" hangingPunct="1"/>
            <a:endParaRPr lang="en-US" altLang="zh-CN" sz="2400" b="1" dirty="0">
              <a:solidFill>
                <a:schemeClr val="bg2"/>
              </a:solidFill>
              <a:latin typeface="微软雅黑" panose="020B0503020204020204" pitchFamily="34" charset="-122"/>
            </a:endParaRPr>
          </a:p>
          <a:p>
            <a:pPr eaLnBrk="1" hangingPunct="1"/>
            <a:r>
              <a:rPr lang="en-US" altLang="zh-CN" sz="2400" b="1" dirty="0">
                <a:solidFill>
                  <a:schemeClr val="bg2"/>
                </a:solidFill>
                <a:latin typeface="微软雅黑" panose="020B0503020204020204" pitchFamily="34" charset="-122"/>
              </a:rPr>
              <a:t>-- </a:t>
            </a:r>
            <a:r>
              <a:rPr lang="zh-CN" altLang="en-US" sz="2400" b="1" dirty="0">
                <a:solidFill>
                  <a:schemeClr val="bg2"/>
                </a:solidFill>
                <a:latin typeface="微软雅黑" panose="020B0503020204020204" pitchFamily="34" charset="-122"/>
              </a:rPr>
              <a:t>正确写法</a:t>
            </a:r>
          </a:p>
          <a:p>
            <a:pPr eaLnBrk="1" hangingPunct="1"/>
            <a:r>
              <a:rPr lang="en-US" altLang="zh-CN" sz="2400" b="1" dirty="0">
                <a:solidFill>
                  <a:schemeClr val="bg2"/>
                </a:solidFill>
                <a:latin typeface="微软雅黑" panose="020B0503020204020204" pitchFamily="34" charset="-122"/>
              </a:rPr>
              <a:t>SELECT </a:t>
            </a:r>
            <a:r>
              <a:rPr lang="en-US" altLang="zh-CN" sz="2400" b="1" dirty="0" err="1">
                <a:solidFill>
                  <a:schemeClr val="bg2"/>
                </a:solidFill>
                <a:latin typeface="微软雅黑" panose="020B0503020204020204" pitchFamily="34" charset="-122"/>
              </a:rPr>
              <a:t>product_type</a:t>
            </a:r>
            <a:r>
              <a:rPr lang="en-US" altLang="zh-CN" sz="2400" b="1" dirty="0">
                <a:solidFill>
                  <a:schemeClr val="bg2"/>
                </a:solidFill>
                <a:latin typeface="微软雅黑" panose="020B0503020204020204" pitchFamily="34" charset="-122"/>
              </a:rPr>
              <a:t> AS </a:t>
            </a:r>
            <a:r>
              <a:rPr lang="en-US" altLang="zh-CN" sz="2400" b="1" dirty="0" err="1">
                <a:solidFill>
                  <a:schemeClr val="bg2"/>
                </a:solidFill>
                <a:latin typeface="微软雅黑" panose="020B0503020204020204" pitchFamily="34" charset="-122"/>
              </a:rPr>
              <a:t>pt</a:t>
            </a:r>
            <a:r>
              <a:rPr lang="en-US" altLang="zh-CN" sz="2400" b="1" dirty="0">
                <a:solidFill>
                  <a:schemeClr val="bg2"/>
                </a:solidFill>
                <a:latin typeface="微软雅黑" panose="020B0503020204020204" pitchFamily="34" charset="-122"/>
              </a:rPr>
              <a:t>, COUNT(*)</a:t>
            </a:r>
          </a:p>
          <a:p>
            <a:pPr eaLnBrk="1" hangingPunct="1"/>
            <a:r>
              <a:rPr lang="en-US" altLang="zh-CN" sz="2400" b="1" dirty="0">
                <a:solidFill>
                  <a:schemeClr val="bg2"/>
                </a:solidFill>
                <a:latin typeface="微软雅黑" panose="020B0503020204020204" pitchFamily="34" charset="-122"/>
              </a:rPr>
              <a:t>FROM Product</a:t>
            </a:r>
          </a:p>
          <a:p>
            <a:pPr eaLnBrk="1" hangingPunct="1"/>
            <a:r>
              <a:rPr lang="en-US" altLang="zh-CN" sz="2400" b="1" dirty="0">
                <a:solidFill>
                  <a:schemeClr val="bg2"/>
                </a:solidFill>
                <a:latin typeface="微软雅黑" panose="020B0503020204020204" pitchFamily="34" charset="-122"/>
              </a:rPr>
              <a:t>GROUP BY </a:t>
            </a:r>
            <a:r>
              <a:rPr lang="en-US" altLang="zh-CN" sz="2400" b="1" dirty="0" err="1">
                <a:solidFill>
                  <a:schemeClr val="bg2"/>
                </a:solidFill>
                <a:latin typeface="微软雅黑" panose="020B0503020204020204" pitchFamily="34" charset="-122"/>
              </a:rPr>
              <a:t>product_type</a:t>
            </a:r>
            <a:r>
              <a:rPr lang="en-US" altLang="zh-CN" sz="2400" b="1" dirty="0">
                <a:solidFill>
                  <a:schemeClr val="bg2"/>
                </a:solidFill>
                <a:latin typeface="微软雅黑" panose="020B0503020204020204" pitchFamily="34" charset="-122"/>
              </a:rPr>
              <a:t>;</a:t>
            </a:r>
          </a:p>
          <a:p>
            <a:pPr eaLnBrk="1" hangingPunct="1"/>
            <a:r>
              <a:rPr lang="zh-CN" altLang="en-US" sz="2400" b="1" dirty="0">
                <a:solidFill>
                  <a:schemeClr val="bg2"/>
                </a:solidFill>
                <a:latin typeface="微软雅黑" panose="020B0503020204020204" pitchFamily="34" charset="-122"/>
              </a:rPr>
              <a:t>这个是有</a:t>
            </a:r>
            <a:r>
              <a:rPr lang="en-US" altLang="zh-CN" sz="2400" b="1" dirty="0" err="1">
                <a:solidFill>
                  <a:srgbClr val="FF0000"/>
                </a:solidFill>
                <a:latin typeface="微软雅黑" panose="020B0503020204020204" pitchFamily="34" charset="-122"/>
              </a:rPr>
              <a:t>sql</a:t>
            </a:r>
            <a:r>
              <a:rPr lang="zh-CN" altLang="en-US" sz="2400" b="1" dirty="0">
                <a:solidFill>
                  <a:srgbClr val="FF0000"/>
                </a:solidFill>
                <a:latin typeface="微软雅黑" panose="020B0503020204020204" pitchFamily="34" charset="-122"/>
              </a:rPr>
              <a:t>语句的执行顺序决定</a:t>
            </a:r>
            <a:r>
              <a:rPr lang="zh-CN" altLang="en-US" sz="2400" b="1" dirty="0">
                <a:solidFill>
                  <a:schemeClr val="bg2"/>
                </a:solidFill>
                <a:latin typeface="微软雅黑" panose="020B0503020204020204" pitchFamily="34" charset="-122"/>
              </a:rPr>
              <a:t>的，因为是先执行的</a:t>
            </a:r>
            <a:r>
              <a:rPr lang="en-US" altLang="zh-CN" sz="2400" b="1" dirty="0">
                <a:solidFill>
                  <a:srgbClr val="FF0000"/>
                </a:solidFill>
                <a:latin typeface="微软雅黑" panose="020B0503020204020204" pitchFamily="34" charset="-122"/>
              </a:rPr>
              <a:t>GROUP BY</a:t>
            </a:r>
            <a:r>
              <a:rPr lang="zh-CN" altLang="en-US" sz="2400" b="1" dirty="0">
                <a:solidFill>
                  <a:srgbClr val="FF0000"/>
                </a:solidFill>
                <a:latin typeface="微软雅黑" panose="020B0503020204020204" pitchFamily="34" charset="-122"/>
              </a:rPr>
              <a:t>语句</a:t>
            </a:r>
            <a:r>
              <a:rPr lang="zh-CN" altLang="en-US" sz="2400" b="1" dirty="0">
                <a:solidFill>
                  <a:schemeClr val="bg2"/>
                </a:solidFill>
                <a:latin typeface="微软雅黑" panose="020B0503020204020204" pitchFamily="34" charset="-122"/>
              </a:rPr>
              <a:t>，再执行的</a:t>
            </a:r>
            <a:r>
              <a:rPr lang="en-US" altLang="zh-CN" sz="2400" b="1" dirty="0">
                <a:solidFill>
                  <a:srgbClr val="FF0000"/>
                </a:solidFill>
                <a:latin typeface="微软雅黑" panose="020B0503020204020204" pitchFamily="34" charset="-122"/>
              </a:rPr>
              <a:t>SELECT</a:t>
            </a:r>
            <a:r>
              <a:rPr lang="zh-CN" altLang="en-US" sz="2400" b="1" dirty="0">
                <a:solidFill>
                  <a:srgbClr val="FF0000"/>
                </a:solidFill>
                <a:latin typeface="微软雅黑" panose="020B0503020204020204" pitchFamily="34" charset="-122"/>
              </a:rPr>
              <a:t>语句</a:t>
            </a:r>
            <a:endParaRPr lang="zh-CN" altLang="en-US" sz="1800" b="1" dirty="0">
              <a:solidFill>
                <a:srgbClr val="FF0000"/>
              </a:solidFill>
              <a:latin typeface="微软雅黑" panose="020B0503020204020204" pitchFamily="34" charset="-122"/>
            </a:endParaRPr>
          </a:p>
        </p:txBody>
      </p:sp>
      <p:pic>
        <p:nvPicPr>
          <p:cNvPr id="55299" name="Picture 2">
            <a:extLst>
              <a:ext uri="{FF2B5EF4-FFF2-40B4-BE49-F238E27FC236}">
                <a16:creationId xmlns:a16="http://schemas.microsoft.com/office/drawing/2014/main" id="{095813CB-9878-43B0-A982-333E3C8863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5680" y="332656"/>
            <a:ext cx="7620000" cy="533400"/>
          </a:xfrm>
          <a:prstGeom prst="rect">
            <a:avLst/>
          </a:prstGeom>
          <a:noFill/>
          <a:ln>
            <a:noFill/>
          </a:ln>
          <a:effectLst>
            <a:outerShdw dist="35921" dir="2700000" sy="50000" kx="2115830" algn="bl"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图片 3">
            <a:extLst>
              <a:ext uri="{FF2B5EF4-FFF2-40B4-BE49-F238E27FC236}">
                <a16:creationId xmlns:a16="http://schemas.microsoft.com/office/drawing/2014/main" id="{723949F7-AB3F-42A7-AC05-DA13127E6F5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762000"/>
            <a:ext cx="6604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内容占位符 3">
            <a:extLst>
              <a:ext uri="{FF2B5EF4-FFF2-40B4-BE49-F238E27FC236}">
                <a16:creationId xmlns:a16="http://schemas.microsoft.com/office/drawing/2014/main" id="{8B2E5C37-F164-463A-8972-4C25833E6E5D}"/>
              </a:ext>
            </a:extLst>
          </p:cNvPr>
          <p:cNvSpPr>
            <a:spLocks noGrp="1" noChangeArrowheads="1"/>
          </p:cNvSpPr>
          <p:nvPr>
            <p:ph idx="1"/>
          </p:nvPr>
        </p:nvSpPr>
        <p:spPr>
          <a:xfrm>
            <a:off x="1415480" y="1556792"/>
            <a:ext cx="8458200" cy="4495800"/>
          </a:xfrm>
        </p:spPr>
        <p:txBody>
          <a:bodyPr>
            <a:normAutofit fontScale="92500" lnSpcReduction="20000"/>
          </a:bodyPr>
          <a:lstStyle/>
          <a:p>
            <a:pPr eaLnBrk="1" hangingPunct="1"/>
            <a:r>
              <a:rPr lang="en-US" altLang="zh-CN" sz="2400" b="1" dirty="0">
                <a:solidFill>
                  <a:schemeClr val="bg2"/>
                </a:solidFill>
                <a:latin typeface="微软雅黑" panose="020B0503020204020204" pitchFamily="34" charset="-122"/>
              </a:rPr>
              <a:t>3</a:t>
            </a:r>
            <a:r>
              <a:rPr lang="zh-CN" altLang="en-US" sz="2400" b="1" dirty="0">
                <a:solidFill>
                  <a:schemeClr val="bg2"/>
                </a:solidFill>
                <a:latin typeface="微软雅黑" panose="020B0503020204020204" pitchFamily="34" charset="-122"/>
              </a:rPr>
              <a:t>、</a:t>
            </a:r>
            <a:endParaRPr lang="en-US" altLang="zh-CN" sz="2400" b="1" dirty="0">
              <a:solidFill>
                <a:schemeClr val="bg2"/>
              </a:solidFill>
              <a:latin typeface="微软雅黑" panose="020B0503020204020204" pitchFamily="34" charset="-122"/>
            </a:endParaRPr>
          </a:p>
          <a:p>
            <a:pPr eaLnBrk="1" hangingPunct="1"/>
            <a:endParaRPr lang="en-US" altLang="zh-CN" sz="2400" b="1" dirty="0">
              <a:solidFill>
                <a:schemeClr val="bg2"/>
              </a:solidFill>
              <a:latin typeface="微软雅黑" panose="020B0503020204020204" pitchFamily="34" charset="-122"/>
            </a:endParaRPr>
          </a:p>
          <a:p>
            <a:pPr eaLnBrk="1" hangingPunct="1"/>
            <a:r>
              <a:rPr lang="en-US" altLang="zh-CN" sz="2400" b="1" dirty="0">
                <a:solidFill>
                  <a:schemeClr val="bg2"/>
                </a:solidFill>
                <a:latin typeface="微软雅黑" panose="020B0503020204020204" pitchFamily="34" charset="-122"/>
              </a:rPr>
              <a:t>-- </a:t>
            </a:r>
            <a:r>
              <a:rPr lang="zh-CN" altLang="en-US" sz="2400" b="1" dirty="0">
                <a:solidFill>
                  <a:schemeClr val="bg2"/>
                </a:solidFill>
                <a:latin typeface="微软雅黑" panose="020B0503020204020204" pitchFamily="34" charset="-122"/>
              </a:rPr>
              <a:t>错误写法</a:t>
            </a:r>
          </a:p>
          <a:p>
            <a:pPr eaLnBrk="1" hangingPunct="1"/>
            <a:r>
              <a:rPr lang="en-US" altLang="zh-CN" sz="2400" b="1" dirty="0">
                <a:solidFill>
                  <a:schemeClr val="bg2"/>
                </a:solidFill>
                <a:latin typeface="微软雅黑" panose="020B0503020204020204" pitchFamily="34" charset="-122"/>
              </a:rPr>
              <a:t>SELECT </a:t>
            </a:r>
            <a:r>
              <a:rPr lang="en-US" altLang="zh-CN" sz="2400" b="1" dirty="0" err="1">
                <a:solidFill>
                  <a:schemeClr val="bg2"/>
                </a:solidFill>
                <a:latin typeface="微软雅黑" panose="020B0503020204020204" pitchFamily="34" charset="-122"/>
              </a:rPr>
              <a:t>product_type</a:t>
            </a:r>
            <a:r>
              <a:rPr lang="en-US" altLang="zh-CN" sz="2400" b="1" dirty="0">
                <a:solidFill>
                  <a:schemeClr val="bg2"/>
                </a:solidFill>
                <a:latin typeface="微软雅黑" panose="020B0503020204020204" pitchFamily="34" charset="-122"/>
              </a:rPr>
              <a:t>, COUNT(*)</a:t>
            </a:r>
          </a:p>
          <a:p>
            <a:pPr eaLnBrk="1" hangingPunct="1"/>
            <a:r>
              <a:rPr lang="en-US" altLang="zh-CN" sz="2400" b="1" dirty="0">
                <a:solidFill>
                  <a:schemeClr val="bg2"/>
                </a:solidFill>
                <a:latin typeface="微软雅黑" panose="020B0503020204020204" pitchFamily="34" charset="-122"/>
              </a:rPr>
              <a:t>FROM Product</a:t>
            </a:r>
          </a:p>
          <a:p>
            <a:pPr eaLnBrk="1" hangingPunct="1"/>
            <a:r>
              <a:rPr lang="en-US" altLang="zh-CN" sz="2400" b="1" dirty="0">
                <a:solidFill>
                  <a:schemeClr val="bg2"/>
                </a:solidFill>
                <a:latin typeface="微软雅黑" panose="020B0503020204020204" pitchFamily="34" charset="-122"/>
              </a:rPr>
              <a:t>WHERE COUNT(*) = 2</a:t>
            </a:r>
          </a:p>
          <a:p>
            <a:pPr eaLnBrk="1" hangingPunct="1"/>
            <a:r>
              <a:rPr lang="en-US" altLang="zh-CN" sz="2400" b="1" dirty="0">
                <a:solidFill>
                  <a:schemeClr val="bg2"/>
                </a:solidFill>
                <a:latin typeface="微软雅黑" panose="020B0503020204020204" pitchFamily="34" charset="-122"/>
              </a:rPr>
              <a:t>GROUP BY </a:t>
            </a:r>
            <a:r>
              <a:rPr lang="en-US" altLang="zh-CN" sz="2400" b="1" dirty="0" err="1">
                <a:solidFill>
                  <a:schemeClr val="bg2"/>
                </a:solidFill>
                <a:latin typeface="微软雅黑" panose="020B0503020204020204" pitchFamily="34" charset="-122"/>
              </a:rPr>
              <a:t>product_type</a:t>
            </a:r>
            <a:r>
              <a:rPr lang="en-US" altLang="zh-CN" sz="2400" b="1" dirty="0">
                <a:solidFill>
                  <a:schemeClr val="bg2"/>
                </a:solidFill>
                <a:latin typeface="微软雅黑" panose="020B0503020204020204" pitchFamily="34" charset="-122"/>
              </a:rPr>
              <a:t>;</a:t>
            </a:r>
          </a:p>
          <a:p>
            <a:pPr eaLnBrk="1" hangingPunct="1"/>
            <a:endParaRPr lang="en-US" altLang="zh-CN" sz="2400" b="1" dirty="0">
              <a:solidFill>
                <a:schemeClr val="bg2"/>
              </a:solidFill>
              <a:latin typeface="微软雅黑" panose="020B0503020204020204" pitchFamily="34" charset="-122"/>
            </a:endParaRPr>
          </a:p>
          <a:p>
            <a:pPr eaLnBrk="1" hangingPunct="1"/>
            <a:r>
              <a:rPr lang="en-US" altLang="zh-CN" sz="2400" b="1" dirty="0">
                <a:solidFill>
                  <a:schemeClr val="bg2"/>
                </a:solidFill>
                <a:latin typeface="微软雅黑" panose="020B0503020204020204" pitchFamily="34" charset="-122"/>
              </a:rPr>
              <a:t>-- </a:t>
            </a:r>
            <a:r>
              <a:rPr lang="zh-CN" altLang="en-US" sz="2400" b="1" dirty="0">
                <a:solidFill>
                  <a:schemeClr val="bg2"/>
                </a:solidFill>
                <a:latin typeface="微软雅黑" panose="020B0503020204020204" pitchFamily="34" charset="-122"/>
              </a:rPr>
              <a:t>正确写法</a:t>
            </a:r>
          </a:p>
          <a:p>
            <a:pPr eaLnBrk="1" hangingPunct="1"/>
            <a:r>
              <a:rPr lang="en-US" altLang="zh-CN" sz="2400" b="1" dirty="0">
                <a:solidFill>
                  <a:schemeClr val="bg2"/>
                </a:solidFill>
                <a:latin typeface="微软雅黑" panose="020B0503020204020204" pitchFamily="34" charset="-122"/>
              </a:rPr>
              <a:t>SELECT </a:t>
            </a:r>
            <a:r>
              <a:rPr lang="en-US" altLang="zh-CN" sz="2400" b="1" dirty="0" err="1">
                <a:solidFill>
                  <a:schemeClr val="bg2"/>
                </a:solidFill>
                <a:latin typeface="微软雅黑" panose="020B0503020204020204" pitchFamily="34" charset="-122"/>
              </a:rPr>
              <a:t>product_type</a:t>
            </a:r>
            <a:r>
              <a:rPr lang="en-US" altLang="zh-CN" sz="2400" b="1" dirty="0">
                <a:solidFill>
                  <a:schemeClr val="bg2"/>
                </a:solidFill>
                <a:latin typeface="微软雅黑" panose="020B0503020204020204" pitchFamily="34" charset="-122"/>
              </a:rPr>
              <a:t>, COUNT(*)</a:t>
            </a:r>
          </a:p>
          <a:p>
            <a:pPr eaLnBrk="1" hangingPunct="1"/>
            <a:r>
              <a:rPr lang="en-US" altLang="zh-CN" sz="2400" b="1" dirty="0">
                <a:solidFill>
                  <a:schemeClr val="bg2"/>
                </a:solidFill>
                <a:latin typeface="微软雅黑" panose="020B0503020204020204" pitchFamily="34" charset="-122"/>
              </a:rPr>
              <a:t>FROM Product</a:t>
            </a:r>
          </a:p>
          <a:p>
            <a:pPr eaLnBrk="1" hangingPunct="1"/>
            <a:r>
              <a:rPr lang="en-US" altLang="zh-CN" sz="2400" b="1" dirty="0">
                <a:solidFill>
                  <a:schemeClr val="bg2"/>
                </a:solidFill>
                <a:latin typeface="微软雅黑" panose="020B0503020204020204" pitchFamily="34" charset="-122"/>
              </a:rPr>
              <a:t>GROUP BY </a:t>
            </a:r>
            <a:r>
              <a:rPr lang="en-US" altLang="zh-CN" sz="2400" b="1" dirty="0" err="1">
                <a:solidFill>
                  <a:schemeClr val="bg2"/>
                </a:solidFill>
                <a:latin typeface="微软雅黑" panose="020B0503020204020204" pitchFamily="34" charset="-122"/>
              </a:rPr>
              <a:t>product_type</a:t>
            </a:r>
            <a:endParaRPr lang="en-US" altLang="zh-CN" sz="2400" b="1" dirty="0">
              <a:solidFill>
                <a:schemeClr val="bg2"/>
              </a:solidFill>
              <a:latin typeface="微软雅黑" panose="020B0503020204020204" pitchFamily="34" charset="-122"/>
            </a:endParaRPr>
          </a:p>
          <a:p>
            <a:pPr eaLnBrk="1" hangingPunct="1"/>
            <a:r>
              <a:rPr lang="en-US" altLang="zh-CN" sz="2400" b="1" dirty="0">
                <a:solidFill>
                  <a:schemeClr val="bg2"/>
                </a:solidFill>
                <a:latin typeface="微软雅黑" panose="020B0503020204020204" pitchFamily="34" charset="-122"/>
              </a:rPr>
              <a:t>HAVING COUNT(*) = 4;</a:t>
            </a:r>
            <a:endParaRPr lang="zh-CN" altLang="en-US" sz="1800" b="1" dirty="0">
              <a:solidFill>
                <a:srgbClr val="FF0000"/>
              </a:solidFill>
              <a:latin typeface="微软雅黑" panose="020B0503020204020204" pitchFamily="34" charset="-122"/>
            </a:endParaRPr>
          </a:p>
        </p:txBody>
      </p:sp>
      <p:pic>
        <p:nvPicPr>
          <p:cNvPr id="57347" name="Picture 2">
            <a:extLst>
              <a:ext uri="{FF2B5EF4-FFF2-40B4-BE49-F238E27FC236}">
                <a16:creationId xmlns:a16="http://schemas.microsoft.com/office/drawing/2014/main" id="{48C93076-97A5-46AB-B5B6-6351996C22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7688" y="1061492"/>
            <a:ext cx="6281738" cy="990600"/>
          </a:xfrm>
          <a:prstGeom prst="rect">
            <a:avLst/>
          </a:prstGeom>
          <a:noFill/>
          <a:ln>
            <a:noFill/>
          </a:ln>
          <a:effectLst>
            <a:outerShdw dist="35921" dir="2700000" sy="50000" kx="2115830" algn="bl"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F6CC19E-0BC0-4EAB-8E5A-D0BC5865379A}"/>
              </a:ext>
            </a:extLst>
          </p:cNvPr>
          <p:cNvSpPr/>
          <p:nvPr/>
        </p:nvSpPr>
        <p:spPr>
          <a:xfrm>
            <a:off x="1905000" y="609601"/>
            <a:ext cx="8153400" cy="5832475"/>
          </a:xfrm>
          <a:prstGeom prst="rect">
            <a:avLst/>
          </a:prstGeom>
        </p:spPr>
        <p:txBody>
          <a:bodyPr>
            <a:spAutoFit/>
          </a:bodyPr>
          <a:lstStyle/>
          <a:p>
            <a:pPr eaLnBrk="1" hangingPunct="1">
              <a:lnSpc>
                <a:spcPct val="150000"/>
              </a:lnSpc>
              <a:defRPr/>
            </a:pPr>
            <a:r>
              <a:rPr lang="zh-CN" altLang="en-US" sz="2800" b="1" dirty="0">
                <a:solidFill>
                  <a:schemeClr val="bg2"/>
                </a:solidFill>
                <a:latin typeface="微软雅黑" pitchFamily="34" charset="-122"/>
                <a:ea typeface="微软雅黑" pitchFamily="34" charset="-122"/>
              </a:rPr>
              <a:t>原因：</a:t>
            </a:r>
            <a:endParaRPr lang="en-US" altLang="zh-CN" sz="2800" b="1" dirty="0">
              <a:solidFill>
                <a:schemeClr val="bg2"/>
              </a:solidFill>
              <a:latin typeface="微软雅黑" pitchFamily="34" charset="-122"/>
              <a:ea typeface="微软雅黑" pitchFamily="34" charset="-122"/>
            </a:endParaRPr>
          </a:p>
          <a:p>
            <a:pPr marL="457200" indent="-457200">
              <a:lnSpc>
                <a:spcPct val="150000"/>
              </a:lnSpc>
              <a:buFont typeface="Wingdings" pitchFamily="2" charset="2"/>
              <a:buChar char="Ø"/>
              <a:defRPr/>
            </a:pPr>
            <a:r>
              <a:rPr lang="zh-CN" altLang="en-US" sz="2800" b="1" dirty="0">
                <a:solidFill>
                  <a:schemeClr val="bg2"/>
                </a:solidFill>
                <a:latin typeface="微软雅黑" pitchFamily="34" charset="-122"/>
                <a:ea typeface="微软雅黑" pitchFamily="34" charset="-122"/>
              </a:rPr>
              <a:t>聚合函数是针对</a:t>
            </a:r>
            <a:r>
              <a:rPr lang="zh-CN" altLang="en-US" sz="2800" b="1" dirty="0">
                <a:solidFill>
                  <a:srgbClr val="FF0000"/>
                </a:solidFill>
                <a:latin typeface="微软雅黑" pitchFamily="34" charset="-122"/>
                <a:ea typeface="微软雅黑" pitchFamily="34" charset="-122"/>
              </a:rPr>
              <a:t>结果</a:t>
            </a:r>
            <a:r>
              <a:rPr lang="zh-CN" altLang="en-US" sz="2800" b="1" dirty="0">
                <a:solidFill>
                  <a:schemeClr val="bg2"/>
                </a:solidFill>
                <a:latin typeface="微软雅黑" pitchFamily="34" charset="-122"/>
                <a:ea typeface="微软雅黑" pitchFamily="34" charset="-122"/>
              </a:rPr>
              <a:t>集进行的，但是</a:t>
            </a:r>
            <a:r>
              <a:rPr lang="en-US" altLang="zh-CN" sz="2800" b="1" dirty="0">
                <a:solidFill>
                  <a:schemeClr val="bg2"/>
                </a:solidFill>
                <a:latin typeface="微软雅黑" pitchFamily="34" charset="-122"/>
                <a:ea typeface="微软雅黑" pitchFamily="34" charset="-122"/>
              </a:rPr>
              <a:t>where</a:t>
            </a:r>
            <a:r>
              <a:rPr lang="zh-CN" altLang="en-US" sz="2800" b="1" dirty="0">
                <a:solidFill>
                  <a:schemeClr val="bg2"/>
                </a:solidFill>
                <a:latin typeface="微软雅黑" pitchFamily="34" charset="-122"/>
                <a:ea typeface="微软雅黑" pitchFamily="34" charset="-122"/>
              </a:rPr>
              <a:t>条件</a:t>
            </a:r>
            <a:r>
              <a:rPr lang="zh-CN" altLang="en-US" sz="2800" b="1" dirty="0">
                <a:solidFill>
                  <a:srgbClr val="FF0000"/>
                </a:solidFill>
                <a:latin typeface="微软雅黑" pitchFamily="34" charset="-122"/>
                <a:ea typeface="微软雅黑" pitchFamily="34" charset="-122"/>
              </a:rPr>
              <a:t>并不是在查询出结果集之后运行</a:t>
            </a:r>
            <a:r>
              <a:rPr lang="zh-CN" altLang="en-US" sz="2800" b="1" dirty="0">
                <a:solidFill>
                  <a:schemeClr val="bg2"/>
                </a:solidFill>
                <a:latin typeface="微软雅黑" pitchFamily="34" charset="-122"/>
                <a:ea typeface="微软雅黑" pitchFamily="34" charset="-122"/>
              </a:rPr>
              <a:t>，所以主函数放在</a:t>
            </a:r>
            <a:r>
              <a:rPr lang="en-US" altLang="zh-CN" sz="2800" b="1" dirty="0">
                <a:solidFill>
                  <a:schemeClr val="bg2"/>
                </a:solidFill>
                <a:latin typeface="微软雅黑" pitchFamily="34" charset="-122"/>
                <a:ea typeface="微软雅黑" pitchFamily="34" charset="-122"/>
              </a:rPr>
              <a:t>where</a:t>
            </a:r>
            <a:r>
              <a:rPr lang="zh-CN" altLang="en-US" sz="2800" b="1" dirty="0">
                <a:solidFill>
                  <a:schemeClr val="bg2"/>
                </a:solidFill>
                <a:latin typeface="微软雅黑" pitchFamily="34" charset="-122"/>
                <a:ea typeface="微软雅黑" pitchFamily="34" charset="-122"/>
              </a:rPr>
              <a:t>语句中，会出现错误。</a:t>
            </a:r>
          </a:p>
          <a:p>
            <a:pPr eaLnBrk="1" hangingPunct="1">
              <a:lnSpc>
                <a:spcPct val="150000"/>
              </a:lnSpc>
              <a:defRPr/>
            </a:pPr>
            <a:endParaRPr lang="zh-CN" altLang="en-US" sz="2800" b="1" dirty="0">
              <a:solidFill>
                <a:schemeClr val="bg2"/>
              </a:solidFill>
              <a:latin typeface="微软雅黑" pitchFamily="34" charset="-122"/>
              <a:ea typeface="微软雅黑" pitchFamily="34" charset="-122"/>
            </a:endParaRPr>
          </a:p>
          <a:p>
            <a:pPr marL="457200" indent="-457200">
              <a:lnSpc>
                <a:spcPct val="150000"/>
              </a:lnSpc>
              <a:buFont typeface="Wingdings" pitchFamily="2" charset="2"/>
              <a:buChar char="Ø"/>
              <a:defRPr/>
            </a:pPr>
            <a:r>
              <a:rPr lang="zh-CN" altLang="en-US" sz="2800" b="1" dirty="0">
                <a:solidFill>
                  <a:schemeClr val="bg2"/>
                </a:solidFill>
                <a:latin typeface="微软雅黑" pitchFamily="34" charset="-122"/>
                <a:ea typeface="微软雅黑" pitchFamily="34" charset="-122"/>
              </a:rPr>
              <a:t>而</a:t>
            </a:r>
            <a:r>
              <a:rPr lang="en-US" altLang="zh-CN" sz="2800" b="1" dirty="0">
                <a:solidFill>
                  <a:schemeClr val="bg2"/>
                </a:solidFill>
                <a:latin typeface="微软雅黑" pitchFamily="34" charset="-122"/>
                <a:ea typeface="微软雅黑" pitchFamily="34" charset="-122"/>
              </a:rPr>
              <a:t>having</a:t>
            </a:r>
            <a:r>
              <a:rPr lang="zh-CN" altLang="en-US" sz="2800" b="1" dirty="0">
                <a:solidFill>
                  <a:schemeClr val="bg2"/>
                </a:solidFill>
                <a:latin typeface="微软雅黑" pitchFamily="34" charset="-122"/>
                <a:ea typeface="微软雅黑" pitchFamily="34" charset="-122"/>
              </a:rPr>
              <a:t>不一样，</a:t>
            </a:r>
            <a:r>
              <a:rPr lang="en-US" altLang="zh-CN" sz="2800" b="1" dirty="0">
                <a:solidFill>
                  <a:schemeClr val="bg2"/>
                </a:solidFill>
                <a:latin typeface="微软雅黑" pitchFamily="34" charset="-122"/>
                <a:ea typeface="微软雅黑" pitchFamily="34" charset="-122"/>
              </a:rPr>
              <a:t>having</a:t>
            </a:r>
            <a:r>
              <a:rPr lang="zh-CN" altLang="en-US" sz="2800" b="1" dirty="0">
                <a:solidFill>
                  <a:schemeClr val="bg2"/>
                </a:solidFill>
                <a:latin typeface="微软雅黑" pitchFamily="34" charset="-122"/>
                <a:ea typeface="微软雅黑" pitchFamily="34" charset="-122"/>
              </a:rPr>
              <a:t>是针对</a:t>
            </a:r>
            <a:r>
              <a:rPr lang="zh-CN" altLang="en-US" sz="2800" b="1" dirty="0">
                <a:solidFill>
                  <a:srgbClr val="FF0000"/>
                </a:solidFill>
                <a:latin typeface="微软雅黑" pitchFamily="34" charset="-122"/>
                <a:ea typeface="微软雅黑" pitchFamily="34" charset="-122"/>
              </a:rPr>
              <a:t>结果集做筛选</a:t>
            </a:r>
            <a:r>
              <a:rPr lang="zh-CN" altLang="en-US" sz="2800" b="1" dirty="0">
                <a:solidFill>
                  <a:schemeClr val="bg2"/>
                </a:solidFill>
                <a:latin typeface="微软雅黑" pitchFamily="34" charset="-122"/>
                <a:ea typeface="微软雅黑" pitchFamily="34" charset="-122"/>
              </a:rPr>
              <a:t>的，所以我门一般吧组函数放在</a:t>
            </a:r>
            <a:r>
              <a:rPr lang="en-US" altLang="zh-CN" sz="2800" b="1" dirty="0">
                <a:solidFill>
                  <a:schemeClr val="bg2"/>
                </a:solidFill>
                <a:latin typeface="微软雅黑" pitchFamily="34" charset="-122"/>
                <a:ea typeface="微软雅黑" pitchFamily="34" charset="-122"/>
              </a:rPr>
              <a:t>having</a:t>
            </a:r>
            <a:r>
              <a:rPr lang="zh-CN" altLang="en-US" sz="2800" b="1" dirty="0">
                <a:solidFill>
                  <a:schemeClr val="bg2"/>
                </a:solidFill>
                <a:latin typeface="微软雅黑" pitchFamily="34" charset="-122"/>
                <a:ea typeface="微软雅黑" pitchFamily="34" charset="-122"/>
              </a:rPr>
              <a:t>中，用</a:t>
            </a:r>
            <a:r>
              <a:rPr lang="en-US" altLang="zh-CN" sz="2800" b="1" dirty="0">
                <a:solidFill>
                  <a:schemeClr val="bg2"/>
                </a:solidFill>
                <a:latin typeface="微软雅黑" pitchFamily="34" charset="-122"/>
                <a:ea typeface="微软雅黑" pitchFamily="34" charset="-122"/>
              </a:rPr>
              <a:t>having</a:t>
            </a:r>
            <a:r>
              <a:rPr lang="zh-CN" altLang="en-US" sz="2800" b="1" dirty="0">
                <a:solidFill>
                  <a:schemeClr val="bg2"/>
                </a:solidFill>
                <a:latin typeface="微软雅黑" pitchFamily="34" charset="-122"/>
                <a:ea typeface="微软雅黑" pitchFamily="34" charset="-122"/>
              </a:rPr>
              <a:t>来代替</a:t>
            </a:r>
            <a:r>
              <a:rPr lang="en-US" altLang="zh-CN" sz="2800" b="1" dirty="0">
                <a:solidFill>
                  <a:schemeClr val="bg2"/>
                </a:solidFill>
                <a:latin typeface="微软雅黑" pitchFamily="34" charset="-122"/>
                <a:ea typeface="微软雅黑" pitchFamily="34" charset="-122"/>
              </a:rPr>
              <a:t>where</a:t>
            </a:r>
            <a:r>
              <a:rPr lang="zh-CN" altLang="en-US" sz="2800" b="1" dirty="0">
                <a:solidFill>
                  <a:schemeClr val="bg2"/>
                </a:solidFill>
                <a:latin typeface="微软雅黑" pitchFamily="34" charset="-122"/>
                <a:ea typeface="微软雅黑" pitchFamily="34" charset="-122"/>
              </a:rPr>
              <a:t>，</a:t>
            </a:r>
            <a:r>
              <a:rPr lang="en-US" altLang="zh-CN" sz="2800" b="1" dirty="0">
                <a:solidFill>
                  <a:schemeClr val="bg2"/>
                </a:solidFill>
                <a:latin typeface="微软雅黑" pitchFamily="34" charset="-122"/>
                <a:ea typeface="微软雅黑" pitchFamily="34" charset="-122"/>
              </a:rPr>
              <a:t>having</a:t>
            </a:r>
            <a:r>
              <a:rPr lang="zh-CN" altLang="en-US" sz="2800" b="1" dirty="0">
                <a:solidFill>
                  <a:schemeClr val="bg2"/>
                </a:solidFill>
                <a:latin typeface="微软雅黑" pitchFamily="34" charset="-122"/>
                <a:ea typeface="微软雅黑" pitchFamily="34" charset="-122"/>
              </a:rPr>
              <a:t>一般跟在</a:t>
            </a:r>
            <a:r>
              <a:rPr lang="en-US" altLang="zh-CN" sz="2800" b="1" dirty="0">
                <a:solidFill>
                  <a:schemeClr val="bg2"/>
                </a:solidFill>
                <a:latin typeface="微软雅黑" pitchFamily="34" charset="-122"/>
                <a:ea typeface="微软雅黑" pitchFamily="34" charset="-122"/>
              </a:rPr>
              <a:t>group by</a:t>
            </a:r>
            <a:r>
              <a:rPr lang="zh-CN" altLang="en-US" sz="2800" b="1" dirty="0">
                <a:solidFill>
                  <a:schemeClr val="bg2"/>
                </a:solidFill>
                <a:latin typeface="微软雅黑" pitchFamily="34" charset="-122"/>
                <a:ea typeface="微软雅黑" pitchFamily="34" charset="-122"/>
              </a:rPr>
              <a:t>后。</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400" y="20091"/>
            <a:ext cx="322317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分组统计查询</a:t>
            </a:r>
          </a:p>
        </p:txBody>
      </p:sp>
      <p:pic>
        <p:nvPicPr>
          <p:cNvPr id="3" name="图片 2"/>
          <p:cNvPicPr>
            <a:picLocks noChangeAspect="1"/>
          </p:cNvPicPr>
          <p:nvPr/>
        </p:nvPicPr>
        <p:blipFill>
          <a:blip r:embed="rId3"/>
          <a:stretch>
            <a:fillRect/>
          </a:stretch>
        </p:blipFill>
        <p:spPr>
          <a:xfrm>
            <a:off x="7930661" y="3359637"/>
            <a:ext cx="1804087" cy="1278324"/>
          </a:xfrm>
          <a:prstGeom prst="rect">
            <a:avLst/>
          </a:prstGeom>
          <a:noFill/>
          <a:ln w="38100" cap="sq" algn="ctr">
            <a:solidFill>
              <a:srgbClr val="FF0000"/>
            </a:solidFill>
            <a:miter lim="800000"/>
            <a:headEnd/>
            <a:tailEnd/>
          </a:ln>
          <a:effectLst>
            <a:outerShdw dist="35921" dir="2700000" algn="ctr" rotWithShape="0">
              <a:srgbClr val="000514">
                <a:alpha val="50000"/>
              </a:srgbClr>
            </a:outerShdw>
          </a:effectLst>
        </p:spPr>
      </p:pic>
      <p:sp>
        <p:nvSpPr>
          <p:cNvPr id="4" name="Rectangle 71"/>
          <p:cNvSpPr txBox="1">
            <a:spLocks noChangeArrowheads="1"/>
          </p:cNvSpPr>
          <p:nvPr/>
        </p:nvSpPr>
        <p:spPr bwMode="auto">
          <a:xfrm>
            <a:off x="367007" y="842275"/>
            <a:ext cx="10737565" cy="132343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4"/>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algn="just" eaLnBrk="1" hangingPunct="1">
              <a:spcAft>
                <a:spcPct val="0"/>
              </a:spcAft>
              <a:buClr>
                <a:srgbClr val="FFFFFF"/>
              </a:buClr>
              <a:buFont typeface="Wingdings" pitchFamily="2" charset="2"/>
              <a:buChar char="§"/>
              <a:defRPr/>
            </a:pPr>
            <a:r>
              <a:rPr kumimoji="1" lang="zh-CN" altLang="en-US" sz="4000" kern="0" dirty="0">
                <a:solidFill>
                  <a:srgbClr val="FFFFFF"/>
                </a:solidFill>
                <a:cs typeface="Arial" pitchFamily="34" charset="0"/>
              </a:rPr>
              <a:t>用</a:t>
            </a:r>
            <a:r>
              <a:rPr kumimoji="1" lang="en-US" altLang="zh-CN" sz="4000" kern="0" dirty="0">
                <a:solidFill>
                  <a:srgbClr val="FFFFFF"/>
                </a:solidFill>
                <a:cs typeface="Arial" pitchFamily="34" charset="0"/>
              </a:rPr>
              <a:t>Having</a:t>
            </a:r>
            <a:r>
              <a:rPr kumimoji="1" lang="zh-CN" altLang="en-US" sz="4000" kern="0" dirty="0">
                <a:solidFill>
                  <a:srgbClr val="FFFFFF"/>
                </a:solidFill>
                <a:cs typeface="Arial" pitchFamily="34" charset="0"/>
              </a:rPr>
              <a:t>子句限定只查询满足条件的</a:t>
            </a:r>
            <a:r>
              <a:rPr kumimoji="1" lang="en-US" altLang="zh-CN" sz="4000" kern="0" dirty="0">
                <a:solidFill>
                  <a:srgbClr val="FFFFFF"/>
                </a:solidFill>
                <a:cs typeface="Arial" pitchFamily="34" charset="0"/>
              </a:rPr>
              <a:t>Group by</a:t>
            </a:r>
            <a:r>
              <a:rPr kumimoji="1" lang="zh-CN" altLang="en-US" sz="4000" kern="0" dirty="0">
                <a:solidFill>
                  <a:srgbClr val="FFFFFF"/>
                </a:solidFill>
                <a:cs typeface="Arial" pitchFamily="34" charset="0"/>
              </a:rPr>
              <a:t>分组</a:t>
            </a:r>
          </a:p>
        </p:txBody>
      </p:sp>
      <p:pic>
        <p:nvPicPr>
          <p:cNvPr id="6" name="Picture 8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9456" y="3356992"/>
            <a:ext cx="5810250" cy="2781300"/>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7" name="Line 81"/>
          <p:cNvSpPr>
            <a:spLocks noChangeShapeType="1"/>
          </p:cNvSpPr>
          <p:nvPr/>
        </p:nvSpPr>
        <p:spPr bwMode="auto">
          <a:xfrm>
            <a:off x="1593156" y="4403154"/>
            <a:ext cx="3384550" cy="0"/>
          </a:xfrm>
          <a:prstGeom prst="line">
            <a:avLst/>
          </a:prstGeom>
          <a:noFill/>
          <a:ln w="12700" cap="sq">
            <a:solidFill>
              <a:srgbClr val="FF0000"/>
            </a:solidFill>
            <a:round/>
            <a:headEnd/>
            <a:tailEnd/>
          </a:ln>
          <a:effectLst/>
        </p:spPr>
        <p:txBody>
          <a:bodyPr lIns="72000" tIns="72000" rIns="72000" bIns="72000"/>
          <a:lstStyle/>
          <a:p>
            <a:pPr>
              <a:defRPr/>
            </a:pPr>
            <a:endParaRPr lang="zh-CN" altLang="en-US" sz="2800" kern="0">
              <a:solidFill>
                <a:sysClr val="windowText" lastClr="000000"/>
              </a:solidFill>
            </a:endParaRPr>
          </a:p>
        </p:txBody>
      </p:sp>
      <p:sp>
        <p:nvSpPr>
          <p:cNvPr id="8" name="AutoShape 82"/>
          <p:cNvSpPr>
            <a:spLocks noChangeArrowheads="1"/>
          </p:cNvSpPr>
          <p:nvPr/>
        </p:nvSpPr>
        <p:spPr bwMode="auto">
          <a:xfrm>
            <a:off x="3486524" y="4960953"/>
            <a:ext cx="3185540" cy="1656174"/>
          </a:xfrm>
          <a:prstGeom prst="wedgeRoundRectCallout">
            <a:avLst>
              <a:gd name="adj1" fmla="val -26186"/>
              <a:gd name="adj2" fmla="val -77624"/>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ju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条件是分组中的行 </a:t>
            </a:r>
            <a:r>
              <a:rPr lang="en-US" altLang="zh-CN" sz="3600" kern="0" dirty="0">
                <a:solidFill>
                  <a:srgbClr val="FFFFCC"/>
                </a:solidFill>
                <a:effectLst>
                  <a:outerShdw blurRad="38100" dist="38100" dir="2700000" algn="tl">
                    <a:srgbClr val="000000"/>
                  </a:outerShdw>
                </a:effectLst>
                <a:latin typeface="Times New Roman" pitchFamily="18" charset="0"/>
              </a:rPr>
              <a:t>(</a:t>
            </a:r>
            <a:r>
              <a:rPr lang="zh-CN" altLang="en-US" sz="3600" kern="0" dirty="0">
                <a:solidFill>
                  <a:srgbClr val="FFFFCC"/>
                </a:solidFill>
                <a:effectLst>
                  <a:outerShdw blurRad="38100" dist="38100" dir="2700000" algn="tl">
                    <a:srgbClr val="000000"/>
                  </a:outerShdw>
                </a:effectLst>
                <a:latin typeface="Times New Roman" pitchFamily="18" charset="0"/>
              </a:rPr>
              <a:t>即人</a:t>
            </a:r>
            <a:r>
              <a:rPr lang="en-US" altLang="zh-CN" sz="3600" kern="0" dirty="0">
                <a:solidFill>
                  <a:srgbClr val="FFFFCC"/>
                </a:solidFill>
                <a:effectLst>
                  <a:outerShdw blurRad="38100" dist="38100" dir="2700000" algn="tl">
                    <a:srgbClr val="000000"/>
                  </a:outerShdw>
                </a:effectLst>
                <a:latin typeface="Times New Roman" pitchFamily="18" charset="0"/>
              </a:rPr>
              <a:t>)</a:t>
            </a:r>
            <a:r>
              <a:rPr lang="zh-CN" altLang="en-US" sz="3600" kern="0" dirty="0">
                <a:solidFill>
                  <a:srgbClr val="FFFFCC"/>
                </a:solidFill>
                <a:effectLst>
                  <a:outerShdw blurRad="38100" dist="38100" dir="2700000" algn="tl">
                    <a:srgbClr val="000000"/>
                  </a:outerShdw>
                </a:effectLst>
                <a:latin typeface="Times New Roman" pitchFamily="18" charset="0"/>
              </a:rPr>
              <a:t>数不小于</a:t>
            </a:r>
            <a:r>
              <a:rPr lang="en-US" altLang="zh-CN" sz="3600" kern="0" dirty="0">
                <a:solidFill>
                  <a:srgbClr val="FFFFCC"/>
                </a:solidFill>
                <a:effectLst>
                  <a:outerShdw blurRad="38100" dist="38100" dir="2700000" algn="tl">
                    <a:srgbClr val="000000"/>
                  </a:outerShdw>
                </a:effectLst>
                <a:latin typeface="Times New Roman" pitchFamily="18" charset="0"/>
              </a:rPr>
              <a:t>5</a:t>
            </a:r>
          </a:p>
        </p:txBody>
      </p:sp>
      <p:sp>
        <p:nvSpPr>
          <p:cNvPr id="9" name="AutoShape 83"/>
          <p:cNvSpPr>
            <a:spLocks noChangeArrowheads="1"/>
          </p:cNvSpPr>
          <p:nvPr/>
        </p:nvSpPr>
        <p:spPr bwMode="auto">
          <a:xfrm>
            <a:off x="7697441" y="5301208"/>
            <a:ext cx="2917131" cy="1186583"/>
          </a:xfrm>
          <a:prstGeom prst="wedgeRoundRectCallout">
            <a:avLst>
              <a:gd name="adj1" fmla="val -21180"/>
              <a:gd name="adj2" fmla="val -95945"/>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ju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按职称分组统计的人数</a:t>
            </a:r>
          </a:p>
        </p:txBody>
      </p:sp>
      <p:sp>
        <p:nvSpPr>
          <p:cNvPr id="10" name="Rectangle 85"/>
          <p:cNvSpPr>
            <a:spLocks noChangeArrowheads="1"/>
          </p:cNvSpPr>
          <p:nvPr/>
        </p:nvSpPr>
        <p:spPr bwMode="auto">
          <a:xfrm>
            <a:off x="750818" y="2344291"/>
            <a:ext cx="10353754" cy="647452"/>
          </a:xfrm>
          <a:prstGeom prst="rect">
            <a:avLst/>
          </a:prstGeom>
          <a:solidFill>
            <a:srgbClr val="0000CC"/>
          </a:solidFill>
          <a:ln w="28575" cap="sq">
            <a:solidFill>
              <a:srgbClr val="FFFFCC"/>
            </a:solidFill>
            <a:miter lim="800000"/>
            <a:headEnd/>
            <a:tailEnd/>
          </a:ln>
          <a:effectLst>
            <a:outerShdw dist="107763" dir="2700000" algn="ctr" rotWithShape="0">
              <a:srgbClr val="000514">
                <a:alpha val="50000"/>
              </a:srgbClr>
            </a:outerShdw>
          </a:effectLst>
        </p:spPr>
        <p:txBody>
          <a:bodyPr lIns="0" tIns="0" rIns="0" bIns="0" anchor="ctr"/>
          <a:lstStyle/>
          <a:p>
            <a:pPr algn="ctr">
              <a:spcAft>
                <a:spcPct val="0"/>
              </a:spcAft>
              <a:defRPr/>
            </a:pPr>
            <a:r>
              <a:rPr lang="en-US" altLang="zh-CN" sz="4000" kern="0" dirty="0">
                <a:solidFill>
                  <a:schemeClr val="bg1"/>
                </a:solidFill>
                <a:effectLst>
                  <a:outerShdw blurRad="38100" dist="38100" dir="2700000" algn="tl">
                    <a:srgbClr val="000000"/>
                  </a:outerShdw>
                </a:effectLst>
                <a:latin typeface="Times New Roman" pitchFamily="18" charset="0"/>
              </a:rPr>
              <a:t>HAVING</a:t>
            </a:r>
            <a:r>
              <a:rPr lang="zh-CN" altLang="en-US" sz="4000" kern="0" dirty="0">
                <a:solidFill>
                  <a:schemeClr val="bg1"/>
                </a:solidFill>
                <a:effectLst>
                  <a:outerShdw blurRad="38100" dist="38100" dir="2700000" algn="tl">
                    <a:srgbClr val="000000"/>
                  </a:outerShdw>
                </a:effectLst>
                <a:latin typeface="Times New Roman" pitchFamily="18" charset="0"/>
              </a:rPr>
              <a:t>后跟的条件必须是跟分组有关的条件</a:t>
            </a:r>
          </a:p>
        </p:txBody>
      </p:sp>
    </p:spTree>
    <p:extLst>
      <p:ext uri="{BB962C8B-B14F-4D97-AF65-F5344CB8AC3E}">
        <p14:creationId xmlns:p14="http://schemas.microsoft.com/office/powerpoint/2010/main" val="1565727805"/>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6" name="arrow.wav"/>
          </p:stSnd>
        </p:sndAc>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9" name="Rectangle 3">
            <a:extLst>
              <a:ext uri="{FF2B5EF4-FFF2-40B4-BE49-F238E27FC236}">
                <a16:creationId xmlns:a16="http://schemas.microsoft.com/office/drawing/2014/main" id="{D0B03A0D-F285-443F-986E-5751FEBE6323}"/>
              </a:ext>
            </a:extLst>
          </p:cNvPr>
          <p:cNvSpPr>
            <a:spLocks noGrp="1" noChangeArrowheads="1"/>
          </p:cNvSpPr>
          <p:nvPr>
            <p:ph type="body" idx="4294967295"/>
          </p:nvPr>
        </p:nvSpPr>
        <p:spPr>
          <a:xfrm>
            <a:off x="595578" y="836712"/>
            <a:ext cx="10972800" cy="4525963"/>
          </a:xfrm>
        </p:spPr>
        <p:txBody>
          <a:bodyPr/>
          <a:lstStyle/>
          <a:p>
            <a:pPr>
              <a:lnSpc>
                <a:spcPct val="150000"/>
              </a:lnSpc>
            </a:pPr>
            <a:r>
              <a:rPr lang="zh-CN" altLang="en-US" sz="2800" dirty="0"/>
              <a:t>当在一个</a:t>
            </a:r>
            <a:r>
              <a:rPr lang="en-US" altLang="zh-CN" sz="2800" dirty="0"/>
              <a:t>SQL</a:t>
            </a:r>
            <a:r>
              <a:rPr lang="zh-CN" altLang="en-US" sz="2800" dirty="0"/>
              <a:t>查询中同时使用</a:t>
            </a:r>
            <a:r>
              <a:rPr lang="en-US" altLang="zh-CN" sz="2800" dirty="0"/>
              <a:t>WHERE</a:t>
            </a:r>
            <a:r>
              <a:rPr lang="zh-CN" altLang="en-US" sz="2800" dirty="0"/>
              <a:t>子句，</a:t>
            </a:r>
            <a:r>
              <a:rPr lang="en-US" altLang="zh-CN" sz="2800" dirty="0"/>
              <a:t>GROUP  BY </a:t>
            </a:r>
            <a:r>
              <a:rPr lang="zh-CN" altLang="en-US" sz="2800" dirty="0"/>
              <a:t>子句和</a:t>
            </a:r>
            <a:r>
              <a:rPr lang="en-US" altLang="zh-CN" sz="2800" dirty="0"/>
              <a:t>HAVING</a:t>
            </a:r>
            <a:r>
              <a:rPr lang="zh-CN" altLang="en-US" sz="2800" dirty="0"/>
              <a:t>子句时，其顺序是</a:t>
            </a:r>
            <a:r>
              <a:rPr lang="en-US" altLang="zh-CN" sz="2800" dirty="0"/>
              <a:t>WHERE</a:t>
            </a:r>
            <a:r>
              <a:rPr lang="zh-CN" altLang="en-US" sz="2800" dirty="0"/>
              <a:t>－</a:t>
            </a:r>
            <a:r>
              <a:rPr lang="en-US" altLang="zh-CN" sz="2800" dirty="0"/>
              <a:t>GROUP  BY</a:t>
            </a:r>
            <a:r>
              <a:rPr lang="zh-CN" altLang="en-US" sz="2800" dirty="0"/>
              <a:t>－ </a:t>
            </a:r>
            <a:r>
              <a:rPr lang="en-US" altLang="zh-CN" sz="2800" dirty="0"/>
              <a:t>HAVING</a:t>
            </a:r>
            <a:r>
              <a:rPr lang="zh-CN" altLang="en-US" sz="2800" dirty="0"/>
              <a:t>。</a:t>
            </a:r>
          </a:p>
          <a:p>
            <a:pPr>
              <a:lnSpc>
                <a:spcPct val="150000"/>
              </a:lnSpc>
            </a:pPr>
            <a:r>
              <a:rPr lang="en-US" altLang="zh-CN" sz="2800" dirty="0"/>
              <a:t>WHERE</a:t>
            </a:r>
            <a:r>
              <a:rPr lang="zh-CN" altLang="en-US" sz="2800" dirty="0"/>
              <a:t>与</a:t>
            </a:r>
            <a:r>
              <a:rPr lang="en-US" altLang="zh-CN" sz="2800" dirty="0"/>
              <a:t>HAVING</a:t>
            </a:r>
            <a:r>
              <a:rPr lang="zh-CN" altLang="en-US" sz="2800" dirty="0"/>
              <a:t>子句的根本区别在于作用</a:t>
            </a:r>
            <a:r>
              <a:rPr lang="zh-CN" altLang="en-US" sz="2800" dirty="0">
                <a:solidFill>
                  <a:srgbClr val="FFFF00"/>
                </a:solidFill>
              </a:rPr>
              <a:t>对象不同</a:t>
            </a:r>
            <a:r>
              <a:rPr lang="zh-CN" altLang="en-US" sz="2800" dirty="0"/>
              <a:t>。</a:t>
            </a:r>
          </a:p>
          <a:p>
            <a:pPr lvl="1">
              <a:lnSpc>
                <a:spcPct val="150000"/>
              </a:lnSpc>
            </a:pPr>
            <a:r>
              <a:rPr lang="en-US" altLang="zh-CN" sz="2400" dirty="0"/>
              <a:t>WHERE</a:t>
            </a:r>
            <a:r>
              <a:rPr lang="zh-CN" altLang="en-US" sz="2400" dirty="0"/>
              <a:t>子句作用于</a:t>
            </a:r>
            <a:r>
              <a:rPr lang="zh-CN" altLang="en-US" sz="2400" dirty="0">
                <a:solidFill>
                  <a:srgbClr val="FF0000"/>
                </a:solidFill>
              </a:rPr>
              <a:t>基本表或视图</a:t>
            </a:r>
            <a:r>
              <a:rPr lang="zh-CN" altLang="en-US" sz="2400" dirty="0"/>
              <a:t>，从中选择满足条件的</a:t>
            </a:r>
            <a:r>
              <a:rPr lang="zh-CN" altLang="en-US" sz="2400" dirty="0">
                <a:solidFill>
                  <a:srgbClr val="FF0000"/>
                </a:solidFill>
              </a:rPr>
              <a:t>元组</a:t>
            </a:r>
            <a:r>
              <a:rPr lang="zh-CN" altLang="en-US" sz="2400" dirty="0"/>
              <a:t>；</a:t>
            </a:r>
          </a:p>
          <a:p>
            <a:pPr lvl="1">
              <a:lnSpc>
                <a:spcPct val="150000"/>
              </a:lnSpc>
            </a:pPr>
            <a:r>
              <a:rPr lang="en-US" altLang="zh-CN" sz="2400" dirty="0"/>
              <a:t>HAVING</a:t>
            </a:r>
            <a:r>
              <a:rPr lang="zh-CN" altLang="en-US" sz="2400" dirty="0"/>
              <a:t>子句作用于</a:t>
            </a:r>
            <a:r>
              <a:rPr lang="zh-CN" altLang="en-US" sz="2400" dirty="0">
                <a:solidFill>
                  <a:srgbClr val="FF0000"/>
                </a:solidFill>
              </a:rPr>
              <a:t>组</a:t>
            </a:r>
            <a:r>
              <a:rPr lang="zh-CN" altLang="en-US" sz="2400" dirty="0"/>
              <a:t>，选择满足条件的组，必须用于</a:t>
            </a:r>
            <a:r>
              <a:rPr lang="en-US" altLang="zh-CN" sz="2400" dirty="0"/>
              <a:t>GROUP BY</a:t>
            </a:r>
            <a:r>
              <a:rPr lang="zh-CN" altLang="en-US" sz="2400" dirty="0"/>
              <a:t>子句之后，但</a:t>
            </a:r>
            <a:r>
              <a:rPr lang="en-US" altLang="zh-CN" sz="2400" dirty="0"/>
              <a:t>GROUP BY</a:t>
            </a:r>
            <a:r>
              <a:rPr lang="zh-CN" altLang="en-US" sz="2400" dirty="0"/>
              <a:t>子句可没有</a:t>
            </a:r>
            <a:r>
              <a:rPr lang="en-US" altLang="zh-CN" sz="2400" dirty="0"/>
              <a:t>HAVING</a:t>
            </a:r>
            <a:r>
              <a:rPr lang="zh-CN" altLang="en-US" sz="2400" dirty="0"/>
              <a:t>子句。</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1A7F4BD-E2E9-4B29-ADFB-9A4739A28356}"/>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FFFF00"/>
                </a:solidFill>
                <a:latin typeface="Microsoft Yahei" panose="020B0503020204020204" pitchFamily="34" charset="-122"/>
                <a:ea typeface="Microsoft Yahei" panose="020B0503020204020204" pitchFamily="34" charset="-122"/>
                <a:sym typeface="Microsoft Yahei" panose="020B0503020204020204" pitchFamily="34" charset="-122"/>
              </a:rPr>
              <a:t>在查询时，如何判定什么情况下用</a:t>
            </a:r>
            <a:r>
              <a:rPr lang="en-US" altLang="zh-CN" sz="2600" dirty="0">
                <a:solidFill>
                  <a:srgbClr val="FFFF00"/>
                </a:solidFill>
                <a:latin typeface="Microsoft Yahei" panose="020B0503020204020204" pitchFamily="34" charset="-122"/>
                <a:ea typeface="Microsoft Yahei" panose="020B0503020204020204" pitchFamily="34" charset="-122"/>
                <a:sym typeface="Microsoft Yahei" panose="020B0503020204020204" pitchFamily="34" charset="-122"/>
              </a:rPr>
              <a:t>Where</a:t>
            </a:r>
            <a:r>
              <a:rPr lang="zh-CN" altLang="en-US" sz="2600" dirty="0">
                <a:solidFill>
                  <a:srgbClr val="FFFF00"/>
                </a:solidFill>
                <a:latin typeface="Microsoft Yahei" panose="020B0503020204020204" pitchFamily="34" charset="-122"/>
                <a:ea typeface="Microsoft Yahei" panose="020B0503020204020204" pitchFamily="34" charset="-122"/>
                <a:sym typeface="Microsoft Yahei" panose="020B0503020204020204" pitchFamily="34" charset="-122"/>
              </a:rPr>
              <a:t>条件，什么情况下用</a:t>
            </a:r>
            <a:r>
              <a:rPr lang="en-US" altLang="zh-CN" sz="2600" dirty="0">
                <a:solidFill>
                  <a:srgbClr val="FFFF00"/>
                </a:solidFill>
                <a:latin typeface="Microsoft Yahei" panose="020B0503020204020204" pitchFamily="34" charset="-122"/>
                <a:ea typeface="Microsoft Yahei" panose="020B0503020204020204" pitchFamily="34" charset="-122"/>
                <a:sym typeface="Microsoft Yahei" panose="020B0503020204020204" pitchFamily="34" charset="-122"/>
              </a:rPr>
              <a:t>Having</a:t>
            </a:r>
            <a:r>
              <a:rPr lang="zh-CN" altLang="en-US" sz="2600" dirty="0">
                <a:solidFill>
                  <a:srgbClr val="FFFF00"/>
                </a:solidFill>
                <a:latin typeface="Microsoft Yahei" panose="020B0503020204020204" pitchFamily="34" charset="-122"/>
                <a:ea typeface="Microsoft Yahei" panose="020B0503020204020204" pitchFamily="34" charset="-122"/>
                <a:sym typeface="Microsoft Yahei" panose="020B0503020204020204" pitchFamily="34" charset="-122"/>
              </a:rPr>
              <a:t>条件？</a:t>
            </a:r>
          </a:p>
        </p:txBody>
      </p:sp>
      <p:sp>
        <p:nvSpPr>
          <p:cNvPr id="7" name="矩形: 圆角 6">
            <a:extLst>
              <a:ext uri="{FF2B5EF4-FFF2-40B4-BE49-F238E27FC236}">
                <a16:creationId xmlns:a16="http://schemas.microsoft.com/office/drawing/2014/main" id="{AE765558-A5E3-4DDD-87B3-0B1863EBB86E}"/>
              </a:ext>
            </a:extLst>
          </p:cNvPr>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E555980F-0453-427B-99F1-D8EF686D2AAB}"/>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D701044F-84AB-438B-B662-BB8BB1C4B452}"/>
                </a:ext>
              </a:extLst>
            </p:cNvPr>
            <p:cNvSpPr/>
            <p:nvPr>
              <p:custDataLst>
                <p:tags r:id="rId6"/>
              </p:custDataLst>
            </p:nvPr>
          </p:nvSpPr>
          <p:spPr>
            <a:xfrm>
              <a:off x="0" y="0"/>
              <a:ext cx="12192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59F21872-0367-4C90-8AF2-03F787B148E9}"/>
                </a:ext>
              </a:extLst>
            </p:cNvPr>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B77CE412-C130-4060-A759-134EC276A016}"/>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867C29C3-6838-4592-ADC2-8487F4435F73}"/>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E5EEF407-7AEA-4F7E-8784-C85B12DE8C80}"/>
              </a:ext>
            </a:extLst>
          </p:cNvPr>
          <p:cNvPicPr>
            <a:picLocks/>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341758661"/>
      </p:ext>
    </p:extLst>
  </p:cSld>
  <p:clrMapOvr>
    <a:masterClrMapping/>
  </p:clrMapOvr>
  <mc:AlternateContent xmlns:mc="http://schemas.openxmlformats.org/markup-compatibility/2006" xmlns:p14="http://schemas.microsoft.com/office/powerpoint/2010/main">
    <mc:Choice Requires="p14">
      <p:transition p14:dur="0">
        <p:sndAc>
          <p:stSnd>
            <p:snd r:embed="rId11" name="arrow.wav"/>
          </p:stSnd>
        </p:sndAc>
      </p:transition>
    </mc:Choice>
    <mc:Fallback xmlns="">
      <p:transition>
        <p:sndAc>
          <p:stSnd>
            <p:snd r:embed="rId13" name="arrow.wav"/>
          </p:stSnd>
        </p:sndAc>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31688" y="0"/>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连接查询</a:t>
            </a:r>
          </a:p>
        </p:txBody>
      </p:sp>
      <p:sp>
        <p:nvSpPr>
          <p:cNvPr id="17" name="Rectangle 4"/>
          <p:cNvSpPr txBox="1">
            <a:spLocks noChangeArrowheads="1"/>
          </p:cNvSpPr>
          <p:nvPr/>
        </p:nvSpPr>
        <p:spPr bwMode="auto">
          <a:xfrm>
            <a:off x="407368" y="808537"/>
            <a:ext cx="11377264" cy="214866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algn="just" eaLnBrk="1" hangingPunct="1">
              <a:spcAft>
                <a:spcPct val="50000"/>
              </a:spcAft>
              <a:buClr>
                <a:srgbClr val="FFC000"/>
              </a:buClr>
              <a:buFont typeface="Wingdings" pitchFamily="2" charset="2"/>
              <a:buChar char="§"/>
              <a:defRPr/>
            </a:pPr>
            <a:r>
              <a:rPr kumimoji="1" lang="zh-CN" altLang="en-US" sz="3600" dirty="0">
                <a:latin typeface="楷体_GB2312" pitchFamily="49" charset="-122"/>
              </a:rPr>
              <a:t>指在两张及以上的相关表中进行查询，从而实现将存储于不同表中的数据连接成完整的查询信息。</a:t>
            </a:r>
          </a:p>
          <a:p>
            <a:pPr marL="269875" indent="-269875" algn="just" eaLnBrk="1" hangingPunct="1">
              <a:lnSpc>
                <a:spcPts val="2700"/>
              </a:lnSpc>
              <a:spcBef>
                <a:spcPts val="2400"/>
              </a:spcBef>
              <a:spcAft>
                <a:spcPct val="50000"/>
              </a:spcAft>
              <a:buClr>
                <a:srgbClr val="FFC000"/>
              </a:buClr>
              <a:buFont typeface="Wingdings" pitchFamily="2" charset="2"/>
              <a:buChar char="§"/>
              <a:defRPr/>
            </a:pPr>
            <a:r>
              <a:rPr kumimoji="1" lang="zh-CN" altLang="en-US" sz="3600" dirty="0">
                <a:latin typeface="楷体_GB2312" pitchFamily="49" charset="-122"/>
              </a:rPr>
              <a:t>最基础的连接是交叉连接，即</a:t>
            </a:r>
            <a:r>
              <a:rPr kumimoji="1" lang="zh-CN" altLang="en-US" sz="3600" dirty="0">
                <a:solidFill>
                  <a:srgbClr val="FFFF00"/>
                </a:solidFill>
                <a:latin typeface="楷体_GB2312" pitchFamily="49" charset="-122"/>
              </a:rPr>
              <a:t>广义笛卡尔积</a:t>
            </a:r>
            <a:r>
              <a:rPr kumimoji="1" lang="zh-CN" altLang="en-US" sz="3600" dirty="0">
                <a:latin typeface="楷体_GB2312" pitchFamily="49" charset="-122"/>
              </a:rPr>
              <a:t>。</a:t>
            </a:r>
            <a:endParaRPr kumimoji="1" lang="en-US" altLang="zh-CN" sz="3600" dirty="0">
              <a:latin typeface="楷体_GB2312" pitchFamily="49" charset="-122"/>
            </a:endParaRPr>
          </a:p>
        </p:txBody>
      </p:sp>
      <p:sp>
        <p:nvSpPr>
          <p:cNvPr id="18" name="Rectangle 5"/>
          <p:cNvSpPr>
            <a:spLocks noChangeArrowheads="1"/>
          </p:cNvSpPr>
          <p:nvPr/>
        </p:nvSpPr>
        <p:spPr bwMode="auto">
          <a:xfrm>
            <a:off x="1404924" y="3178025"/>
            <a:ext cx="4621212" cy="1008063"/>
          </a:xfrm>
          <a:prstGeom prst="rect">
            <a:avLst/>
          </a:prstGeom>
          <a:noFill/>
          <a:ln w="9525">
            <a:noFill/>
            <a:miter lim="800000"/>
            <a:headEnd/>
            <a:tailEnd/>
          </a:ln>
          <a:effectLst/>
        </p:spPr>
        <p:txBody>
          <a:bodyPr/>
          <a:lstStyle/>
          <a:p>
            <a:pPr algn="just">
              <a:spcAft>
                <a:spcPct val="0"/>
              </a:spcAft>
              <a:buClr>
                <a:srgbClr val="FFFFFF"/>
              </a:buClr>
              <a:buSzPct val="85000"/>
              <a:defRPr/>
            </a:pPr>
            <a:r>
              <a:rPr lang="en-US" altLang="zh-CN" sz="4400" kern="0" dirty="0">
                <a:solidFill>
                  <a:srgbClr val="99FF33"/>
                </a:solidFill>
                <a:effectLst>
                  <a:outerShdw blurRad="38100" dist="38100" dir="2700000" algn="tl">
                    <a:srgbClr val="000000"/>
                  </a:outerShdw>
                </a:effectLst>
              </a:rPr>
              <a:t>SELECT ST.*, C.*</a:t>
            </a:r>
          </a:p>
          <a:p>
            <a:pPr algn="just">
              <a:spcAft>
                <a:spcPct val="0"/>
              </a:spcAft>
              <a:buClr>
                <a:srgbClr val="FFFFFF"/>
              </a:buClr>
              <a:buSzPct val="85000"/>
              <a:defRPr/>
            </a:pPr>
            <a:r>
              <a:rPr lang="en-US" altLang="zh-CN" sz="4400" kern="0" dirty="0">
                <a:solidFill>
                  <a:srgbClr val="99FF33"/>
                </a:solidFill>
                <a:effectLst>
                  <a:outerShdw blurRad="38100" dist="38100" dir="2700000" algn="tl">
                    <a:srgbClr val="000000"/>
                  </a:outerShdw>
                </a:effectLst>
              </a:rPr>
              <a:t>  FROM </a:t>
            </a:r>
            <a:r>
              <a:rPr lang="en-US" altLang="zh-CN" sz="4400" kern="0" dirty="0">
                <a:solidFill>
                  <a:srgbClr val="FFFF00"/>
                </a:solidFill>
                <a:effectLst>
                  <a:outerShdw blurRad="38100" dist="38100" dir="2700000" algn="tl">
                    <a:srgbClr val="000000"/>
                  </a:outerShdw>
                </a:effectLst>
              </a:rPr>
              <a:t>ST,C</a:t>
            </a:r>
            <a:endParaRPr lang="zh-CN" altLang="en-US" sz="4400" kern="0" dirty="0">
              <a:solidFill>
                <a:srgbClr val="CCFFCC"/>
              </a:solidFill>
              <a:effectLst>
                <a:outerShdw blurRad="38100" dist="38100" dir="2700000" algn="tl">
                  <a:srgbClr val="000000"/>
                </a:outerShdw>
              </a:effectLst>
              <a:latin typeface="Times New Roman" pitchFamily="18" charset="0"/>
            </a:endParaRPr>
          </a:p>
        </p:txBody>
      </p:sp>
      <p:sp>
        <p:nvSpPr>
          <p:cNvPr id="19" name="AutoShape 6"/>
          <p:cNvSpPr>
            <a:spLocks noChangeArrowheads="1"/>
          </p:cNvSpPr>
          <p:nvPr/>
        </p:nvSpPr>
        <p:spPr bwMode="auto">
          <a:xfrm rot="2060252">
            <a:off x="5232400" y="4058368"/>
            <a:ext cx="719138" cy="360363"/>
          </a:xfrm>
          <a:prstGeom prst="rightArrow">
            <a:avLst>
              <a:gd name="adj1" fmla="val 50000"/>
              <a:gd name="adj2" fmla="val 49890"/>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a:defRPr/>
            </a:pPr>
            <a:endParaRPr lang="zh-CN" altLang="en-US" kern="0">
              <a:solidFill>
                <a:sysClr val="windowText" lastClr="000000"/>
              </a:solidFill>
            </a:endParaRPr>
          </a:p>
        </p:txBody>
      </p:sp>
      <p:graphicFrame>
        <p:nvGraphicFramePr>
          <p:cNvPr id="20" name="Group 7"/>
          <p:cNvGraphicFramePr>
            <a:graphicFrameLocks noGrp="1"/>
          </p:cNvGraphicFramePr>
          <p:nvPr>
            <p:extLst>
              <p:ext uri="{D42A27DB-BD31-4B8C-83A1-F6EECF244321}">
                <p14:modId xmlns:p14="http://schemas.microsoft.com/office/powerpoint/2010/main" val="4047345530"/>
              </p:ext>
            </p:extLst>
          </p:nvPr>
        </p:nvGraphicFramePr>
        <p:xfrm>
          <a:off x="6533734" y="4447590"/>
          <a:ext cx="4967794" cy="2133600"/>
        </p:xfrm>
        <a:graphic>
          <a:graphicData uri="http://schemas.openxmlformats.org/drawingml/2006/table">
            <a:tbl>
              <a:tblPr/>
              <a:tblGrid>
                <a:gridCol w="957452">
                  <a:extLst>
                    <a:ext uri="{9D8B030D-6E8A-4147-A177-3AD203B41FA5}">
                      <a16:colId xmlns:a16="http://schemas.microsoft.com/office/drawing/2014/main" val="20000"/>
                    </a:ext>
                  </a:extLst>
                </a:gridCol>
                <a:gridCol w="760688">
                  <a:extLst>
                    <a:ext uri="{9D8B030D-6E8A-4147-A177-3AD203B41FA5}">
                      <a16:colId xmlns:a16="http://schemas.microsoft.com/office/drawing/2014/main" val="20001"/>
                    </a:ext>
                  </a:extLst>
                </a:gridCol>
                <a:gridCol w="1133930">
                  <a:extLst>
                    <a:ext uri="{9D8B030D-6E8A-4147-A177-3AD203B41FA5}">
                      <a16:colId xmlns:a16="http://schemas.microsoft.com/office/drawing/2014/main" val="20002"/>
                    </a:ext>
                  </a:extLst>
                </a:gridCol>
                <a:gridCol w="884425">
                  <a:extLst>
                    <a:ext uri="{9D8B030D-6E8A-4147-A177-3AD203B41FA5}">
                      <a16:colId xmlns:a16="http://schemas.microsoft.com/office/drawing/2014/main" val="20003"/>
                    </a:ext>
                  </a:extLst>
                </a:gridCol>
                <a:gridCol w="1231299">
                  <a:extLst>
                    <a:ext uri="{9D8B030D-6E8A-4147-A177-3AD203B41FA5}">
                      <a16:colId xmlns:a16="http://schemas.microsoft.com/office/drawing/2014/main" val="20004"/>
                    </a:ext>
                  </a:extLst>
                </a:gridCol>
              </a:tblGrid>
              <a:tr h="27441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ST.</a:t>
                      </a: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a:t>
                      </a: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41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41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41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a:t>
                      </a: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41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a:t>
                      </a: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41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a:t>
                      </a: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41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a:t>
                      </a: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1" name="Rectangle 69"/>
          <p:cNvSpPr>
            <a:spLocks noChangeArrowheads="1"/>
          </p:cNvSpPr>
          <p:nvPr/>
        </p:nvSpPr>
        <p:spPr bwMode="auto">
          <a:xfrm>
            <a:off x="6985281" y="3086831"/>
            <a:ext cx="297517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spcAft>
                <a:spcPct val="0"/>
              </a:spcAft>
              <a:buSzTx/>
              <a:buFontTx/>
              <a:buNone/>
            </a:pPr>
            <a:r>
              <a:rPr lang="zh-CN" altLang="en-US" sz="3200" dirty="0">
                <a:solidFill>
                  <a:schemeClr val="bg1"/>
                </a:solidFill>
                <a:latin typeface="Arial" charset="0"/>
              </a:rPr>
              <a:t>结果有</a:t>
            </a:r>
            <a:r>
              <a:rPr lang="en-US" altLang="zh-CN" sz="3200" dirty="0">
                <a:solidFill>
                  <a:schemeClr val="bg1"/>
                </a:solidFill>
                <a:latin typeface="Arial" charset="0"/>
              </a:rPr>
              <a:t>3×2=6</a:t>
            </a:r>
            <a:r>
              <a:rPr lang="zh-CN" altLang="en-US" sz="3200" dirty="0">
                <a:solidFill>
                  <a:schemeClr val="bg1"/>
                </a:solidFill>
                <a:latin typeface="Arial" charset="0"/>
              </a:rPr>
              <a:t>行</a:t>
            </a:r>
          </a:p>
        </p:txBody>
      </p:sp>
      <p:sp>
        <p:nvSpPr>
          <p:cNvPr id="22" name="AutoShape 70"/>
          <p:cNvSpPr>
            <a:spLocks/>
          </p:cNvSpPr>
          <p:nvPr/>
        </p:nvSpPr>
        <p:spPr bwMode="auto">
          <a:xfrm rot="5400000" flipV="1">
            <a:off x="7747733" y="3332641"/>
            <a:ext cx="215899" cy="1910662"/>
          </a:xfrm>
          <a:prstGeom prst="leftBrace">
            <a:avLst>
              <a:gd name="adj1" fmla="val 63909"/>
              <a:gd name="adj2" fmla="val 50000"/>
            </a:avLst>
          </a:prstGeom>
          <a:noFill/>
          <a:ln w="28575" cap="sq">
            <a:solidFill>
              <a:srgbClr val="FFFFFF"/>
            </a:solidFill>
            <a:round/>
            <a:headEnd/>
            <a:tailEnd/>
          </a:ln>
          <a:effectLst/>
        </p:spPr>
        <p:txBody>
          <a:bodyPr wrap="square" lIns="72000" tIns="72000" rIns="72000" bIns="72000" anchor="ctr">
            <a:spAutoFit/>
          </a:bodyPr>
          <a:lstStyle/>
          <a:p>
            <a:pPr>
              <a:defRPr/>
            </a:pPr>
            <a:endParaRPr lang="zh-CN" altLang="en-US" kern="0">
              <a:solidFill>
                <a:sysClr val="windowText" lastClr="000000"/>
              </a:solidFill>
            </a:endParaRPr>
          </a:p>
        </p:txBody>
      </p:sp>
      <p:sp>
        <p:nvSpPr>
          <p:cNvPr id="23" name="Rectangle 71"/>
          <p:cNvSpPr>
            <a:spLocks noChangeArrowheads="1"/>
          </p:cNvSpPr>
          <p:nvPr/>
        </p:nvSpPr>
        <p:spPr bwMode="auto">
          <a:xfrm>
            <a:off x="7267379" y="3755201"/>
            <a:ext cx="117660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spcAft>
                <a:spcPct val="0"/>
              </a:spcAft>
              <a:buSzTx/>
              <a:buFontTx/>
              <a:buNone/>
            </a:pPr>
            <a:r>
              <a:rPr lang="en-US" altLang="zh-CN" sz="2800" dirty="0">
                <a:solidFill>
                  <a:schemeClr val="bg1"/>
                </a:solidFill>
                <a:latin typeface="Arial" charset="0"/>
              </a:rPr>
              <a:t>ST</a:t>
            </a:r>
            <a:r>
              <a:rPr lang="zh-CN" altLang="en-US" sz="2800" dirty="0">
                <a:solidFill>
                  <a:schemeClr val="bg1"/>
                </a:solidFill>
                <a:latin typeface="Arial" charset="0"/>
              </a:rPr>
              <a:t>的列</a:t>
            </a:r>
          </a:p>
        </p:txBody>
      </p:sp>
      <p:sp>
        <p:nvSpPr>
          <p:cNvPr id="24" name="AutoShape 72"/>
          <p:cNvSpPr>
            <a:spLocks/>
          </p:cNvSpPr>
          <p:nvPr/>
        </p:nvSpPr>
        <p:spPr bwMode="auto">
          <a:xfrm rot="5400000" flipV="1">
            <a:off x="10153934" y="3776432"/>
            <a:ext cx="215900" cy="971550"/>
          </a:xfrm>
          <a:prstGeom prst="leftBrace">
            <a:avLst>
              <a:gd name="adj1" fmla="val 37500"/>
              <a:gd name="adj2" fmla="val 50000"/>
            </a:avLst>
          </a:prstGeom>
          <a:noFill/>
          <a:ln w="28575" cap="sq">
            <a:solidFill>
              <a:srgbClr val="FFFFFF"/>
            </a:solidFill>
            <a:round/>
            <a:headEnd/>
            <a:tailEnd/>
          </a:ln>
          <a:effectLst/>
        </p:spPr>
        <p:txBody>
          <a:bodyPr vert="eaVert" wrap="none" lIns="72000" tIns="72000" rIns="72000" bIns="72000" anchor="ctr"/>
          <a:lstStyle/>
          <a:p>
            <a:pPr algn="ctr">
              <a:spcAft>
                <a:spcPct val="0"/>
              </a:spcAft>
              <a:defRPr/>
            </a:pPr>
            <a:endParaRPr lang="zh-CN" altLang="en-US" sz="3600" kern="0">
              <a:solidFill>
                <a:sysClr val="windowText" lastClr="000000"/>
              </a:solidFill>
              <a:effectLst>
                <a:outerShdw blurRad="38100" dist="38100" dir="2700000" algn="tl">
                  <a:srgbClr val="000000"/>
                </a:outerShdw>
              </a:effectLst>
              <a:latin typeface="Garamond" pitchFamily="18" charset="0"/>
              <a:ea typeface="宋体" pitchFamily="2" charset="-122"/>
            </a:endParaRPr>
          </a:p>
        </p:txBody>
      </p:sp>
      <p:sp>
        <p:nvSpPr>
          <p:cNvPr id="25" name="Rectangle 73"/>
          <p:cNvSpPr>
            <a:spLocks noChangeArrowheads="1"/>
          </p:cNvSpPr>
          <p:nvPr/>
        </p:nvSpPr>
        <p:spPr bwMode="auto">
          <a:xfrm>
            <a:off x="9754774" y="3763861"/>
            <a:ext cx="97783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spcAft>
                <a:spcPct val="0"/>
              </a:spcAft>
              <a:buSzTx/>
              <a:buFontTx/>
              <a:buNone/>
            </a:pPr>
            <a:r>
              <a:rPr lang="en-US" altLang="zh-CN" sz="2800" dirty="0">
                <a:solidFill>
                  <a:schemeClr val="bg1"/>
                </a:solidFill>
                <a:latin typeface="Arial" charset="0"/>
              </a:rPr>
              <a:t>C</a:t>
            </a:r>
            <a:r>
              <a:rPr lang="zh-CN" altLang="en-US" sz="2800" dirty="0">
                <a:solidFill>
                  <a:schemeClr val="bg1"/>
                </a:solidFill>
                <a:latin typeface="Arial" charset="0"/>
              </a:rPr>
              <a:t>的列</a:t>
            </a:r>
          </a:p>
        </p:txBody>
      </p:sp>
      <p:graphicFrame>
        <p:nvGraphicFramePr>
          <p:cNvPr id="26" name="Group 74"/>
          <p:cNvGraphicFramePr>
            <a:graphicFrameLocks noGrp="1"/>
          </p:cNvGraphicFramePr>
          <p:nvPr>
            <p:extLst>
              <p:ext uri="{D42A27DB-BD31-4B8C-83A1-F6EECF244321}">
                <p14:modId xmlns:p14="http://schemas.microsoft.com/office/powerpoint/2010/main" val="3283586549"/>
              </p:ext>
            </p:extLst>
          </p:nvPr>
        </p:nvGraphicFramePr>
        <p:xfrm>
          <a:off x="752973" y="5260106"/>
          <a:ext cx="2522092" cy="1219200"/>
        </p:xfrm>
        <a:graphic>
          <a:graphicData uri="http://schemas.openxmlformats.org/drawingml/2006/table">
            <a:tbl>
              <a:tblPr/>
              <a:tblGrid>
                <a:gridCol w="863496">
                  <a:extLst>
                    <a:ext uri="{9D8B030D-6E8A-4147-A177-3AD203B41FA5}">
                      <a16:colId xmlns:a16="http://schemas.microsoft.com/office/drawing/2014/main" val="20000"/>
                    </a:ext>
                  </a:extLst>
                </a:gridCol>
                <a:gridCol w="844259">
                  <a:extLst>
                    <a:ext uri="{9D8B030D-6E8A-4147-A177-3AD203B41FA5}">
                      <a16:colId xmlns:a16="http://schemas.microsoft.com/office/drawing/2014/main" val="20001"/>
                    </a:ext>
                  </a:extLst>
                </a:gridCol>
                <a:gridCol w="814337">
                  <a:extLst>
                    <a:ext uri="{9D8B030D-6E8A-4147-A177-3AD203B41FA5}">
                      <a16:colId xmlns:a16="http://schemas.microsoft.com/office/drawing/2014/main" val="20002"/>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7" name="Rectangle 102"/>
          <p:cNvSpPr>
            <a:spLocks noChangeArrowheads="1"/>
          </p:cNvSpPr>
          <p:nvPr/>
        </p:nvSpPr>
        <p:spPr bwMode="auto">
          <a:xfrm>
            <a:off x="1074705" y="4890094"/>
            <a:ext cx="330219"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200">
                <a:solidFill>
                  <a:schemeClr val="bg1"/>
                </a:solidFill>
                <a:effectLst>
                  <a:outerShdw blurRad="38100" dist="38100" dir="2700000" algn="tl">
                    <a:srgbClr val="000000"/>
                  </a:outerShdw>
                </a:effectLst>
                <a:latin typeface="Times New Roman" pitchFamily="18" charset="0"/>
              </a:rPr>
              <a:t>ST</a:t>
            </a:r>
          </a:p>
        </p:txBody>
      </p:sp>
      <p:sp>
        <p:nvSpPr>
          <p:cNvPr id="28" name="Rectangle 103"/>
          <p:cNvSpPr>
            <a:spLocks noChangeArrowheads="1"/>
          </p:cNvSpPr>
          <p:nvPr/>
        </p:nvSpPr>
        <p:spPr bwMode="auto">
          <a:xfrm>
            <a:off x="3786240" y="5188668"/>
            <a:ext cx="187552"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pPr>
            <a:r>
              <a:rPr lang="en-US" altLang="zh-CN" sz="2200">
                <a:solidFill>
                  <a:schemeClr val="bg1"/>
                </a:solidFill>
                <a:effectLst>
                  <a:outerShdw blurRad="38100" dist="38100" dir="2700000" algn="tl">
                    <a:srgbClr val="000000"/>
                  </a:outerShdw>
                </a:effectLst>
                <a:latin typeface="Times New Roman" pitchFamily="18" charset="0"/>
              </a:rPr>
              <a:t>C</a:t>
            </a:r>
          </a:p>
        </p:txBody>
      </p:sp>
      <p:graphicFrame>
        <p:nvGraphicFramePr>
          <p:cNvPr id="29" name="Group 104"/>
          <p:cNvGraphicFramePr>
            <a:graphicFrameLocks noGrp="1"/>
          </p:cNvGraphicFramePr>
          <p:nvPr>
            <p:extLst>
              <p:ext uri="{D42A27DB-BD31-4B8C-83A1-F6EECF244321}">
                <p14:modId xmlns:p14="http://schemas.microsoft.com/office/powerpoint/2010/main" val="3098940019"/>
              </p:ext>
            </p:extLst>
          </p:nvPr>
        </p:nvGraphicFramePr>
        <p:xfrm>
          <a:off x="3641776" y="5536332"/>
          <a:ext cx="2007741" cy="914400"/>
        </p:xfrm>
        <a:graphic>
          <a:graphicData uri="http://schemas.openxmlformats.org/drawingml/2006/table">
            <a:tbl>
              <a:tblPr/>
              <a:tblGrid>
                <a:gridCol w="912610">
                  <a:extLst>
                    <a:ext uri="{9D8B030D-6E8A-4147-A177-3AD203B41FA5}">
                      <a16:colId xmlns:a16="http://schemas.microsoft.com/office/drawing/2014/main" val="20000"/>
                    </a:ext>
                  </a:extLst>
                </a:gridCol>
                <a:gridCol w="1095131">
                  <a:extLst>
                    <a:ext uri="{9D8B030D-6E8A-4147-A177-3AD203B41FA5}">
                      <a16:colId xmlns:a16="http://schemas.microsoft.com/office/drawing/2014/main" val="20001"/>
                    </a:ext>
                  </a:extLst>
                </a:gridCol>
              </a:tblGrid>
              <a:tr h="27463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0" name="Rectangle 51"/>
          <p:cNvSpPr>
            <a:spLocks noChangeArrowheads="1"/>
          </p:cNvSpPr>
          <p:nvPr/>
        </p:nvSpPr>
        <p:spPr bwMode="auto">
          <a:xfrm>
            <a:off x="10340146" y="2261665"/>
            <a:ext cx="1372478" cy="789935"/>
          </a:xfrm>
          <a:prstGeom prst="snip2SameRect">
            <a:avLst/>
          </a:prstGeom>
          <a:ln>
            <a:headEnd/>
            <a:tailEnd/>
          </a:ln>
        </p:spPr>
        <p:style>
          <a:lnRef idx="0">
            <a:schemeClr val="accent6"/>
          </a:lnRef>
          <a:fillRef idx="3">
            <a:schemeClr val="accent6"/>
          </a:fillRef>
          <a:effectRef idx="3">
            <a:schemeClr val="accent6"/>
          </a:effectRef>
          <a:fontRef idx="minor">
            <a:schemeClr val="lt1"/>
          </a:fontRef>
        </p:style>
        <p:txBody>
          <a:bodyPr wrap="square" lIns="72000" tIns="72000" rIns="72000" bIns="72000" anchor="ctr" anchorCtr="1">
            <a:noAutofit/>
          </a:bodyPr>
          <a:lstStyle/>
          <a:p>
            <a:pPr lvl="0">
              <a:spcAft>
                <a:spcPct val="0"/>
              </a:spcAft>
              <a:defRPr/>
            </a:pPr>
            <a:r>
              <a:rPr lang="en-US" altLang="zh-CN" sz="4800" b="1" kern="0" dirty="0">
                <a:solidFill>
                  <a:srgbClr val="99FF33"/>
                </a:solidFill>
                <a:effectLst>
                  <a:outerShdw blurRad="38100" dist="38100" dir="2700000" algn="tl">
                    <a:srgbClr val="000000"/>
                  </a:outerShdw>
                </a:effectLst>
              </a:rPr>
              <a:t>×</a:t>
            </a:r>
            <a:endParaRPr lang="zh-CN" altLang="en-US" sz="4800" b="1" kern="0" dirty="0">
              <a:solidFill>
                <a:srgbClr val="99FF33"/>
              </a:solidFill>
              <a:effectLst>
                <a:outerShdw blurRad="38100" dist="38100" dir="2700000" algn="tl">
                  <a:srgbClr val="000000"/>
                </a:outerShdw>
              </a:effectLst>
            </a:endParaRPr>
          </a:p>
        </p:txBody>
      </p:sp>
    </p:spTree>
    <p:extLst>
      <p:ext uri="{BB962C8B-B14F-4D97-AF65-F5344CB8AC3E}">
        <p14:creationId xmlns:p14="http://schemas.microsoft.com/office/powerpoint/2010/main" val="1073330540"/>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666" name="Rectangle 2">
            <a:extLst>
              <a:ext uri="{FF2B5EF4-FFF2-40B4-BE49-F238E27FC236}">
                <a16:creationId xmlns:a16="http://schemas.microsoft.com/office/drawing/2014/main" id="{17E27F6E-72D2-4BF6-9359-52795D9FB583}"/>
              </a:ext>
            </a:extLst>
          </p:cNvPr>
          <p:cNvSpPr>
            <a:spLocks noGrp="1" noChangeArrowheads="1"/>
          </p:cNvSpPr>
          <p:nvPr>
            <p:ph type="title" idx="4294967295"/>
          </p:nvPr>
        </p:nvSpPr>
        <p:spPr>
          <a:xfrm>
            <a:off x="2143186" y="89440"/>
            <a:ext cx="3475631" cy="707886"/>
          </a:xfrm>
        </p:spPr>
        <p:txBody>
          <a:bodyPr/>
          <a:lstStyle/>
          <a:p>
            <a:r>
              <a:rPr lang="en-US" altLang="zh-CN"/>
              <a:t>4.4.4</a:t>
            </a:r>
            <a:r>
              <a:rPr lang="zh-CN" altLang="en-US"/>
              <a:t>连接查询</a:t>
            </a:r>
          </a:p>
        </p:txBody>
      </p:sp>
      <p:sp>
        <p:nvSpPr>
          <p:cNvPr id="753667" name="Rectangle 3">
            <a:extLst>
              <a:ext uri="{FF2B5EF4-FFF2-40B4-BE49-F238E27FC236}">
                <a16:creationId xmlns:a16="http://schemas.microsoft.com/office/drawing/2014/main" id="{60828E17-B3DE-4749-803C-8AE1F4185A7B}"/>
              </a:ext>
            </a:extLst>
          </p:cNvPr>
          <p:cNvSpPr>
            <a:spLocks noGrp="1" noChangeArrowheads="1"/>
          </p:cNvSpPr>
          <p:nvPr>
            <p:ph type="body" idx="4294967295"/>
          </p:nvPr>
        </p:nvSpPr>
        <p:spPr>
          <a:xfrm>
            <a:off x="609600" y="1166018"/>
            <a:ext cx="10972800" cy="4525963"/>
          </a:xfrm>
        </p:spPr>
        <p:txBody>
          <a:bodyPr>
            <a:normAutofit fontScale="92500" lnSpcReduction="10000"/>
          </a:bodyPr>
          <a:lstStyle/>
          <a:p>
            <a:pPr>
              <a:lnSpc>
                <a:spcPct val="150000"/>
              </a:lnSpc>
            </a:pPr>
            <a:r>
              <a:rPr lang="zh-CN" altLang="en-US" sz="2800" dirty="0"/>
              <a:t>当查询同时涉及两个以上的表时，称为连接查询。数据表之间的联系是通过表的</a:t>
            </a:r>
            <a:r>
              <a:rPr lang="zh-CN" altLang="en-US" sz="2800" dirty="0">
                <a:solidFill>
                  <a:srgbClr val="FFFF00"/>
                </a:solidFill>
              </a:rPr>
              <a:t>字段值</a:t>
            </a:r>
            <a:r>
              <a:rPr lang="zh-CN" altLang="en-US" sz="2800" dirty="0"/>
              <a:t>来体现的，这种字段称为</a:t>
            </a:r>
            <a:r>
              <a:rPr lang="zh-CN" altLang="en-US" sz="2800" dirty="0">
                <a:solidFill>
                  <a:srgbClr val="FFFF00"/>
                </a:solidFill>
              </a:rPr>
              <a:t>连接字段</a:t>
            </a:r>
            <a:r>
              <a:rPr lang="zh-CN" altLang="en-US" sz="2800" dirty="0"/>
              <a:t>。</a:t>
            </a:r>
          </a:p>
          <a:p>
            <a:pPr>
              <a:lnSpc>
                <a:spcPct val="150000"/>
              </a:lnSpc>
            </a:pPr>
            <a:r>
              <a:rPr lang="zh-CN" altLang="en-US" sz="2800" dirty="0"/>
              <a:t>表的连接有两种方法：</a:t>
            </a:r>
          </a:p>
          <a:p>
            <a:pPr lvl="1">
              <a:lnSpc>
                <a:spcPct val="150000"/>
              </a:lnSpc>
            </a:pPr>
            <a:r>
              <a:rPr lang="en-US" altLang="zh-CN" sz="2400" dirty="0"/>
              <a:t>1</a:t>
            </a:r>
            <a:r>
              <a:rPr lang="zh-CN" altLang="en-US" sz="2400" dirty="0"/>
              <a:t>、在</a:t>
            </a:r>
            <a:r>
              <a:rPr lang="en-US" altLang="zh-CN" sz="2400" dirty="0">
                <a:solidFill>
                  <a:srgbClr val="FFFF00"/>
                </a:solidFill>
              </a:rPr>
              <a:t>FROM</a:t>
            </a:r>
            <a:r>
              <a:rPr lang="zh-CN" altLang="en-US" sz="2400" dirty="0">
                <a:solidFill>
                  <a:srgbClr val="FFFF00"/>
                </a:solidFill>
              </a:rPr>
              <a:t>子句</a:t>
            </a:r>
            <a:r>
              <a:rPr lang="zh-CN" altLang="en-US" sz="2400" dirty="0"/>
              <a:t>中指明进行连接的表名，表与表之间用逗号分隔；并由</a:t>
            </a:r>
            <a:r>
              <a:rPr lang="en-US" altLang="zh-CN" sz="2400" dirty="0">
                <a:solidFill>
                  <a:srgbClr val="FFFF00"/>
                </a:solidFill>
              </a:rPr>
              <a:t>WHERE</a:t>
            </a:r>
            <a:r>
              <a:rPr lang="zh-CN" altLang="en-US" sz="2400" dirty="0">
                <a:solidFill>
                  <a:srgbClr val="FFFF00"/>
                </a:solidFill>
              </a:rPr>
              <a:t>子句</a:t>
            </a:r>
            <a:r>
              <a:rPr lang="zh-CN" altLang="en-US" sz="2400" dirty="0"/>
              <a:t>指明连接的列名及其连接条件；</a:t>
            </a:r>
          </a:p>
          <a:p>
            <a:pPr lvl="1">
              <a:lnSpc>
                <a:spcPct val="150000"/>
              </a:lnSpc>
            </a:pPr>
            <a:r>
              <a:rPr lang="en-US" altLang="zh-CN" sz="2400" dirty="0"/>
              <a:t>2</a:t>
            </a:r>
            <a:r>
              <a:rPr lang="zh-CN" altLang="en-US" sz="2400" dirty="0"/>
              <a:t>、在</a:t>
            </a:r>
            <a:r>
              <a:rPr lang="en-US" altLang="zh-CN" sz="2400" dirty="0"/>
              <a:t>FROM</a:t>
            </a:r>
            <a:r>
              <a:rPr lang="zh-CN" altLang="en-US" sz="2400" dirty="0"/>
              <a:t>子句中通过</a:t>
            </a:r>
            <a:r>
              <a:rPr lang="en-US" altLang="zh-CN" sz="2400" dirty="0">
                <a:solidFill>
                  <a:srgbClr val="FFFF00"/>
                </a:solidFill>
              </a:rPr>
              <a:t>JOIN…ON</a:t>
            </a:r>
            <a:r>
              <a:rPr lang="zh-CN" altLang="en-US" sz="2400" dirty="0"/>
              <a:t>子句进行表的连接。</a:t>
            </a:r>
          </a:p>
          <a:p>
            <a:pPr lvl="2">
              <a:lnSpc>
                <a:spcPct val="150000"/>
              </a:lnSpc>
            </a:pPr>
            <a:r>
              <a:rPr lang="en-US" altLang="zh-CN" sz="2000" dirty="0"/>
              <a:t>JOIN</a:t>
            </a:r>
            <a:r>
              <a:rPr lang="zh-CN" altLang="en-US" sz="2000" dirty="0"/>
              <a:t>子句：指定要连接的表；</a:t>
            </a:r>
            <a:r>
              <a:rPr lang="en-US" altLang="zh-CN" sz="2000" dirty="0"/>
              <a:t>ON</a:t>
            </a:r>
            <a:r>
              <a:rPr lang="zh-CN" altLang="en-US" sz="2000" dirty="0"/>
              <a:t>子句：指定连接条件。</a:t>
            </a:r>
          </a:p>
          <a:p>
            <a:pPr lvl="2">
              <a:lnSpc>
                <a:spcPct val="150000"/>
              </a:lnSpc>
            </a:pPr>
            <a:r>
              <a:rPr lang="en-US" altLang="zh-CN" sz="2000" dirty="0"/>
              <a:t>JOIN…ON</a:t>
            </a:r>
            <a:r>
              <a:rPr lang="zh-CN" altLang="en-US" sz="2000" dirty="0"/>
              <a:t>连接又分为：</a:t>
            </a:r>
            <a:r>
              <a:rPr lang="zh-CN" altLang="en-US" sz="2000" dirty="0">
                <a:solidFill>
                  <a:srgbClr val="FFFF00"/>
                </a:solidFill>
              </a:rPr>
              <a:t>交叉连接、内连接、外连接</a:t>
            </a:r>
            <a:r>
              <a:rPr lang="zh-CN" altLang="en-US" sz="2000" dirty="0"/>
              <a:t>。</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31688" y="0"/>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连接查询</a:t>
            </a:r>
          </a:p>
        </p:txBody>
      </p:sp>
      <p:sp>
        <p:nvSpPr>
          <p:cNvPr id="31" name="Rectangle 5"/>
          <p:cNvSpPr>
            <a:spLocks noChangeArrowheads="1"/>
          </p:cNvSpPr>
          <p:nvPr/>
        </p:nvSpPr>
        <p:spPr bwMode="auto">
          <a:xfrm>
            <a:off x="697561" y="2004436"/>
            <a:ext cx="6008455" cy="1008062"/>
          </a:xfrm>
          <a:prstGeom prst="rect">
            <a:avLst/>
          </a:prstGeom>
          <a:noFill/>
          <a:ln w="9525">
            <a:noFill/>
            <a:miter lim="800000"/>
            <a:headEnd/>
            <a:tailEnd/>
          </a:ln>
          <a:effectLst/>
        </p:spPr>
        <p:txBody>
          <a:bodyPr/>
          <a:lstStyle/>
          <a:p>
            <a:pPr algn="just">
              <a:spcAft>
                <a:spcPct val="0"/>
              </a:spcAft>
              <a:buClr>
                <a:srgbClr val="FFFFFF"/>
              </a:buClr>
              <a:buSzPct val="85000"/>
              <a:defRPr/>
            </a:pPr>
            <a:r>
              <a:rPr lang="en-US" altLang="zh-CN" sz="4000" kern="0" dirty="0">
                <a:solidFill>
                  <a:srgbClr val="99FF33"/>
                </a:solidFill>
                <a:effectLst>
                  <a:outerShdw blurRad="38100" dist="38100" dir="2700000" algn="tl">
                    <a:srgbClr val="000000"/>
                  </a:outerShdw>
                </a:effectLst>
              </a:rPr>
              <a:t>SELECT ST.</a:t>
            </a:r>
            <a:r>
              <a:rPr lang="zh-CN" altLang="en-US" sz="4000" kern="0" dirty="0">
                <a:solidFill>
                  <a:srgbClr val="99FF33"/>
                </a:solidFill>
                <a:effectLst>
                  <a:outerShdw blurRad="38100" dist="38100" dir="2700000" algn="tl">
                    <a:srgbClr val="000000"/>
                  </a:outerShdw>
                </a:effectLst>
              </a:rPr>
              <a:t>姓名</a:t>
            </a:r>
            <a:r>
              <a:rPr lang="en-US" altLang="zh-CN" sz="4000" kern="0" dirty="0">
                <a:solidFill>
                  <a:srgbClr val="99FF33"/>
                </a:solidFill>
                <a:effectLst>
                  <a:outerShdw blurRad="38100" dist="38100" dir="2700000" algn="tl">
                    <a:srgbClr val="000000"/>
                  </a:outerShdw>
                </a:effectLst>
              </a:rPr>
              <a:t>, C.</a:t>
            </a:r>
            <a:r>
              <a:rPr lang="zh-CN" altLang="en-US" sz="4000" kern="0" dirty="0">
                <a:solidFill>
                  <a:srgbClr val="99FF33"/>
                </a:solidFill>
                <a:effectLst>
                  <a:outerShdw blurRad="38100" dist="38100" dir="2700000" algn="tl">
                    <a:srgbClr val="000000"/>
                  </a:outerShdw>
                </a:effectLst>
              </a:rPr>
              <a:t>课名</a:t>
            </a:r>
          </a:p>
          <a:p>
            <a:pPr algn="just">
              <a:spcAft>
                <a:spcPct val="0"/>
              </a:spcAft>
              <a:buClr>
                <a:srgbClr val="FFFFFF"/>
              </a:buClr>
              <a:buSzPct val="85000"/>
              <a:defRPr/>
            </a:pPr>
            <a:r>
              <a:rPr lang="en-US" altLang="zh-CN" sz="4000" kern="0" dirty="0">
                <a:solidFill>
                  <a:srgbClr val="99FF33"/>
                </a:solidFill>
                <a:effectLst>
                  <a:outerShdw blurRad="38100" dist="38100" dir="2700000" algn="tl">
                    <a:srgbClr val="000000"/>
                  </a:outerShdw>
                </a:effectLst>
              </a:rPr>
              <a:t>  FROM </a:t>
            </a:r>
            <a:r>
              <a:rPr lang="en-US" altLang="zh-CN" sz="4000" kern="0" dirty="0">
                <a:solidFill>
                  <a:srgbClr val="FFFF00"/>
                </a:solidFill>
                <a:effectLst>
                  <a:outerShdw blurRad="38100" dist="38100" dir="2700000" algn="tl">
                    <a:srgbClr val="000000"/>
                  </a:outerShdw>
                </a:effectLst>
              </a:rPr>
              <a:t>ST,C</a:t>
            </a:r>
          </a:p>
          <a:p>
            <a:pPr algn="just">
              <a:spcAft>
                <a:spcPct val="0"/>
              </a:spcAft>
              <a:buClr>
                <a:srgbClr val="FFFFFF"/>
              </a:buClr>
              <a:buSzPct val="85000"/>
              <a:defRPr/>
            </a:pPr>
            <a:r>
              <a:rPr lang="en-US" altLang="zh-CN" sz="4000" kern="0" dirty="0">
                <a:solidFill>
                  <a:srgbClr val="99FF33"/>
                </a:solidFill>
                <a:effectLst>
                  <a:outerShdw blurRad="38100" dist="38100" dir="2700000" algn="tl">
                    <a:srgbClr val="000000"/>
                  </a:outerShdw>
                </a:effectLst>
              </a:rPr>
              <a:t> WHERE </a:t>
            </a:r>
            <a:r>
              <a:rPr lang="en-US" altLang="zh-CN" sz="4000" kern="0" dirty="0">
                <a:solidFill>
                  <a:srgbClr val="66FFFF"/>
                </a:solidFill>
                <a:effectLst>
                  <a:outerShdw blurRad="38100" dist="38100" dir="2700000" algn="tl">
                    <a:srgbClr val="000000"/>
                  </a:outerShdw>
                </a:effectLst>
              </a:rPr>
              <a:t>ST.</a:t>
            </a:r>
            <a:r>
              <a:rPr lang="zh-CN" altLang="en-US" sz="4000" kern="0" dirty="0">
                <a:solidFill>
                  <a:srgbClr val="66FFFF"/>
                </a:solidFill>
                <a:effectLst>
                  <a:outerShdw blurRad="38100" dist="38100" dir="2700000" algn="tl">
                    <a:srgbClr val="000000"/>
                  </a:outerShdw>
                </a:effectLst>
              </a:rPr>
              <a:t>课号 </a:t>
            </a:r>
            <a:r>
              <a:rPr lang="en-US" altLang="zh-CN" sz="4000" kern="0" dirty="0">
                <a:solidFill>
                  <a:srgbClr val="66FFFF"/>
                </a:solidFill>
                <a:effectLst>
                  <a:outerShdw blurRad="38100" dist="38100" dir="2700000" algn="tl">
                    <a:srgbClr val="000000"/>
                  </a:outerShdw>
                </a:effectLst>
              </a:rPr>
              <a:t>= C.</a:t>
            </a:r>
            <a:r>
              <a:rPr lang="zh-CN" altLang="en-US" sz="4000" kern="0" dirty="0">
                <a:solidFill>
                  <a:srgbClr val="66FFFF"/>
                </a:solidFill>
                <a:effectLst>
                  <a:outerShdw blurRad="38100" dist="38100" dir="2700000" algn="tl">
                    <a:srgbClr val="000000"/>
                  </a:outerShdw>
                </a:effectLst>
              </a:rPr>
              <a:t>课号</a:t>
            </a:r>
            <a:r>
              <a:rPr lang="zh-CN" altLang="en-US" sz="4000" kern="0" dirty="0">
                <a:solidFill>
                  <a:srgbClr val="99FF33"/>
                </a:solidFill>
                <a:effectLst>
                  <a:outerShdw blurRad="38100" dist="38100" dir="2700000" algn="tl">
                    <a:srgbClr val="000000"/>
                  </a:outerShdw>
                </a:effectLst>
              </a:rPr>
              <a:t> </a:t>
            </a:r>
          </a:p>
        </p:txBody>
      </p:sp>
      <p:graphicFrame>
        <p:nvGraphicFramePr>
          <p:cNvPr id="32" name="Group 6"/>
          <p:cNvGraphicFramePr>
            <a:graphicFrameLocks noGrp="1"/>
          </p:cNvGraphicFramePr>
          <p:nvPr>
            <p:extLst>
              <p:ext uri="{D42A27DB-BD31-4B8C-83A1-F6EECF244321}">
                <p14:modId xmlns:p14="http://schemas.microsoft.com/office/powerpoint/2010/main" val="1575639342"/>
              </p:ext>
            </p:extLst>
          </p:nvPr>
        </p:nvGraphicFramePr>
        <p:xfrm>
          <a:off x="839416" y="4942931"/>
          <a:ext cx="2520279" cy="1366388"/>
        </p:xfrm>
        <a:graphic>
          <a:graphicData uri="http://schemas.openxmlformats.org/drawingml/2006/table">
            <a:tbl>
              <a:tblPr/>
              <a:tblGrid>
                <a:gridCol w="1008112">
                  <a:extLst>
                    <a:ext uri="{9D8B030D-6E8A-4147-A177-3AD203B41FA5}">
                      <a16:colId xmlns:a16="http://schemas.microsoft.com/office/drawing/2014/main" val="20000"/>
                    </a:ext>
                  </a:extLst>
                </a:gridCol>
                <a:gridCol w="1512167">
                  <a:extLst>
                    <a:ext uri="{9D8B030D-6E8A-4147-A177-3AD203B41FA5}">
                      <a16:colId xmlns:a16="http://schemas.microsoft.com/office/drawing/2014/main" val="20001"/>
                    </a:ext>
                  </a:extLst>
                </a:gridCol>
              </a:tblGrid>
              <a:tr h="34159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4159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159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159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33" name="Group 29"/>
          <p:cNvGraphicFramePr>
            <a:graphicFrameLocks noGrp="1"/>
          </p:cNvGraphicFramePr>
          <p:nvPr>
            <p:extLst>
              <p:ext uri="{D42A27DB-BD31-4B8C-83A1-F6EECF244321}">
                <p14:modId xmlns:p14="http://schemas.microsoft.com/office/powerpoint/2010/main" val="3322255065"/>
              </p:ext>
            </p:extLst>
          </p:nvPr>
        </p:nvGraphicFramePr>
        <p:xfrm>
          <a:off x="8822237" y="785237"/>
          <a:ext cx="2325462" cy="1219200"/>
        </p:xfrm>
        <a:graphic>
          <a:graphicData uri="http://schemas.openxmlformats.org/drawingml/2006/table">
            <a:tbl>
              <a:tblPr/>
              <a:tblGrid>
                <a:gridCol w="796175">
                  <a:extLst>
                    <a:ext uri="{9D8B030D-6E8A-4147-A177-3AD203B41FA5}">
                      <a16:colId xmlns:a16="http://schemas.microsoft.com/office/drawing/2014/main" val="20000"/>
                    </a:ext>
                  </a:extLst>
                </a:gridCol>
                <a:gridCol w="778438">
                  <a:extLst>
                    <a:ext uri="{9D8B030D-6E8A-4147-A177-3AD203B41FA5}">
                      <a16:colId xmlns:a16="http://schemas.microsoft.com/office/drawing/2014/main" val="20001"/>
                    </a:ext>
                  </a:extLst>
                </a:gridCol>
                <a:gridCol w="750849">
                  <a:extLst>
                    <a:ext uri="{9D8B030D-6E8A-4147-A177-3AD203B41FA5}">
                      <a16:colId xmlns:a16="http://schemas.microsoft.com/office/drawing/2014/main" val="20002"/>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4" name="Rectangle 57"/>
          <p:cNvSpPr>
            <a:spLocks noChangeArrowheads="1"/>
          </p:cNvSpPr>
          <p:nvPr/>
        </p:nvSpPr>
        <p:spPr bwMode="auto">
          <a:xfrm>
            <a:off x="8398243" y="785237"/>
            <a:ext cx="330219"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200">
                <a:solidFill>
                  <a:schemeClr val="bg1"/>
                </a:solidFill>
                <a:effectLst>
                  <a:outerShdw blurRad="38100" dist="38100" dir="2700000" algn="tl">
                    <a:srgbClr val="000000"/>
                  </a:outerShdw>
                </a:effectLst>
                <a:latin typeface="Times New Roman" pitchFamily="18" charset="0"/>
              </a:rPr>
              <a:t>ST</a:t>
            </a:r>
          </a:p>
        </p:txBody>
      </p:sp>
      <p:graphicFrame>
        <p:nvGraphicFramePr>
          <p:cNvPr id="35" name="Group 58"/>
          <p:cNvGraphicFramePr>
            <a:graphicFrameLocks noGrp="1"/>
          </p:cNvGraphicFramePr>
          <p:nvPr>
            <p:extLst>
              <p:ext uri="{D42A27DB-BD31-4B8C-83A1-F6EECF244321}">
                <p14:modId xmlns:p14="http://schemas.microsoft.com/office/powerpoint/2010/main" val="1810156713"/>
              </p:ext>
            </p:extLst>
          </p:nvPr>
        </p:nvGraphicFramePr>
        <p:xfrm>
          <a:off x="8654429" y="2416473"/>
          <a:ext cx="2497137" cy="884238"/>
        </p:xfrm>
        <a:graphic>
          <a:graphicData uri="http://schemas.openxmlformats.org/drawingml/2006/table">
            <a:tbl>
              <a:tblPr/>
              <a:tblGrid>
                <a:gridCol w="861082">
                  <a:extLst>
                    <a:ext uri="{9D8B030D-6E8A-4147-A177-3AD203B41FA5}">
                      <a16:colId xmlns:a16="http://schemas.microsoft.com/office/drawing/2014/main" val="20000"/>
                    </a:ext>
                  </a:extLst>
                </a:gridCol>
                <a:gridCol w="1033298">
                  <a:extLst>
                    <a:ext uri="{9D8B030D-6E8A-4147-A177-3AD203B41FA5}">
                      <a16:colId xmlns:a16="http://schemas.microsoft.com/office/drawing/2014/main" val="20001"/>
                    </a:ext>
                  </a:extLst>
                </a:gridCol>
                <a:gridCol w="602757">
                  <a:extLst>
                    <a:ext uri="{9D8B030D-6E8A-4147-A177-3AD203B41FA5}">
                      <a16:colId xmlns:a16="http://schemas.microsoft.com/office/drawing/2014/main" val="20002"/>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学分</a:t>
                      </a:r>
                    </a:p>
                  </a:txBody>
                  <a:tcPr marL="0" marR="0" marT="0" marB="0" horzOverflow="overflow">
                    <a:lnL w="12700" cap="flat" cmpd="sng" algn="ctr">
                      <a:solidFill>
                        <a:srgbClr val="FFFFFF"/>
                      </a:solidFill>
                      <a:prstDash val="solid"/>
                      <a:round/>
                      <a:headEnd type="none" w="med" len="med"/>
                      <a:tailEnd type="none" w="med" len="med"/>
                    </a:lnL>
                    <a:lnR>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558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4</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6" name="Rectangle 86"/>
          <p:cNvSpPr>
            <a:spLocks noChangeArrowheads="1"/>
          </p:cNvSpPr>
          <p:nvPr/>
        </p:nvSpPr>
        <p:spPr bwMode="auto">
          <a:xfrm>
            <a:off x="8417985" y="2416473"/>
            <a:ext cx="187552"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pPr>
            <a:r>
              <a:rPr lang="en-US" altLang="zh-CN" sz="2200" dirty="0">
                <a:solidFill>
                  <a:schemeClr val="bg1"/>
                </a:solidFill>
                <a:effectLst>
                  <a:outerShdw blurRad="38100" dist="38100" dir="2700000" algn="tl">
                    <a:srgbClr val="000000"/>
                  </a:outerShdw>
                </a:effectLst>
                <a:latin typeface="Times New Roman" pitchFamily="18" charset="0"/>
              </a:rPr>
              <a:t>C</a:t>
            </a:r>
          </a:p>
        </p:txBody>
      </p:sp>
      <p:sp>
        <p:nvSpPr>
          <p:cNvPr id="37" name="AutoShape 149"/>
          <p:cNvSpPr>
            <a:spLocks noChangeArrowheads="1"/>
          </p:cNvSpPr>
          <p:nvPr/>
        </p:nvSpPr>
        <p:spPr bwMode="auto">
          <a:xfrm rot="5400000">
            <a:off x="1777131" y="4190300"/>
            <a:ext cx="466725" cy="360362"/>
          </a:xfrm>
          <a:prstGeom prst="rightArrow">
            <a:avLst>
              <a:gd name="adj1" fmla="val 50000"/>
              <a:gd name="adj2" fmla="val 32379"/>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a:defRPr/>
            </a:pPr>
            <a:endParaRPr lang="zh-CN" altLang="en-US" kern="0" dirty="0">
              <a:solidFill>
                <a:sysClr val="windowText" lastClr="000000"/>
              </a:solidFill>
            </a:endParaRPr>
          </a:p>
        </p:txBody>
      </p:sp>
      <p:sp>
        <p:nvSpPr>
          <p:cNvPr id="38" name="Rectangle 150"/>
          <p:cNvSpPr>
            <a:spLocks noChangeArrowheads="1"/>
          </p:cNvSpPr>
          <p:nvPr/>
        </p:nvSpPr>
        <p:spPr bwMode="auto">
          <a:xfrm>
            <a:off x="7556176" y="3885877"/>
            <a:ext cx="2305118"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200" dirty="0">
                <a:solidFill>
                  <a:schemeClr val="bg1"/>
                </a:solidFill>
                <a:effectLst>
                  <a:outerShdw blurRad="38100" dist="38100" dir="2700000" algn="tl">
                    <a:srgbClr val="000000"/>
                  </a:outerShdw>
                </a:effectLst>
                <a:latin typeface="Times New Roman" pitchFamily="18" charset="0"/>
              </a:rPr>
              <a:t>ST</a:t>
            </a:r>
            <a:r>
              <a:rPr lang="zh-CN" altLang="en-US" sz="2200" dirty="0">
                <a:solidFill>
                  <a:schemeClr val="bg1"/>
                </a:solidFill>
                <a:effectLst>
                  <a:outerShdw blurRad="38100" dist="38100" dir="2700000" algn="tl">
                    <a:srgbClr val="000000"/>
                  </a:outerShdw>
                </a:effectLst>
                <a:latin typeface="Times New Roman" pitchFamily="18" charset="0"/>
              </a:rPr>
              <a:t>与Ｃ的交叉连接</a:t>
            </a:r>
          </a:p>
        </p:txBody>
      </p:sp>
      <p:sp>
        <p:nvSpPr>
          <p:cNvPr id="39" name="AutoShape 153"/>
          <p:cNvSpPr>
            <a:spLocks noChangeArrowheads="1"/>
          </p:cNvSpPr>
          <p:nvPr/>
        </p:nvSpPr>
        <p:spPr bwMode="auto">
          <a:xfrm>
            <a:off x="4655840" y="4657820"/>
            <a:ext cx="1707275" cy="1723508"/>
          </a:xfrm>
          <a:prstGeom prst="wedgeRoundRectCallout">
            <a:avLst>
              <a:gd name="adj1" fmla="val 71403"/>
              <a:gd name="adj2" fmla="val -27824"/>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200" kern="0" dirty="0">
                <a:solidFill>
                  <a:srgbClr val="FFFFCC"/>
                </a:solidFill>
                <a:effectLst>
                  <a:outerShdw blurRad="38100" dist="38100" dir="2700000" algn="tl">
                    <a:srgbClr val="000000"/>
                  </a:outerShdw>
                </a:effectLst>
                <a:latin typeface="Times New Roman" pitchFamily="18" charset="0"/>
              </a:rPr>
              <a:t>课号相等才有意义吧</a:t>
            </a:r>
          </a:p>
        </p:txBody>
      </p:sp>
      <p:graphicFrame>
        <p:nvGraphicFramePr>
          <p:cNvPr id="40" name="Group 219"/>
          <p:cNvGraphicFramePr>
            <a:graphicFrameLocks noGrp="1"/>
          </p:cNvGraphicFramePr>
          <p:nvPr>
            <p:extLst>
              <p:ext uri="{D42A27DB-BD31-4B8C-83A1-F6EECF244321}">
                <p14:modId xmlns:p14="http://schemas.microsoft.com/office/powerpoint/2010/main" val="3362133382"/>
              </p:ext>
            </p:extLst>
          </p:nvPr>
        </p:nvGraphicFramePr>
        <p:xfrm>
          <a:off x="6723479" y="4370481"/>
          <a:ext cx="4573586" cy="2133600"/>
        </p:xfrm>
        <a:graphic>
          <a:graphicData uri="http://schemas.openxmlformats.org/drawingml/2006/table">
            <a:tbl>
              <a:tblPr/>
              <a:tblGrid>
                <a:gridCol w="881475">
                  <a:extLst>
                    <a:ext uri="{9D8B030D-6E8A-4147-A177-3AD203B41FA5}">
                      <a16:colId xmlns:a16="http://schemas.microsoft.com/office/drawing/2014/main" val="20000"/>
                    </a:ext>
                  </a:extLst>
                </a:gridCol>
                <a:gridCol w="700324">
                  <a:extLst>
                    <a:ext uri="{9D8B030D-6E8A-4147-A177-3AD203B41FA5}">
                      <a16:colId xmlns:a16="http://schemas.microsoft.com/office/drawing/2014/main" val="20001"/>
                    </a:ext>
                  </a:extLst>
                </a:gridCol>
                <a:gridCol w="1043951">
                  <a:extLst>
                    <a:ext uri="{9D8B030D-6E8A-4147-A177-3AD203B41FA5}">
                      <a16:colId xmlns:a16="http://schemas.microsoft.com/office/drawing/2014/main" val="20002"/>
                    </a:ext>
                  </a:extLst>
                </a:gridCol>
                <a:gridCol w="814244">
                  <a:extLst>
                    <a:ext uri="{9D8B030D-6E8A-4147-A177-3AD203B41FA5}">
                      <a16:colId xmlns:a16="http://schemas.microsoft.com/office/drawing/2014/main" val="20003"/>
                    </a:ext>
                  </a:extLst>
                </a:gridCol>
                <a:gridCol w="1133592">
                  <a:extLst>
                    <a:ext uri="{9D8B030D-6E8A-4147-A177-3AD203B41FA5}">
                      <a16:colId xmlns:a16="http://schemas.microsoft.com/office/drawing/2014/main" val="20004"/>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75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75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ST.</a:t>
                      </a: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75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a:t>
                      </a: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75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75000"/>
                      </a:schemeClr>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66FF"/>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66FF"/>
                    </a:solid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a:t>
                      </a: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a:t>
                      </a: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66FF"/>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66FF"/>
                    </a:solidFill>
                  </a:tcPr>
                </a:tc>
                <a:extLst>
                  <a:ext uri="{0D108BD9-81ED-4DB2-BD59-A6C34878D82A}">
                    <a16:rowId xmlns:a16="http://schemas.microsoft.com/office/drawing/2014/main" val="10004"/>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a:t>
                      </a: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66FF"/>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3366FF"/>
                    </a:solidFill>
                  </a:tcPr>
                </a:tc>
                <a:extLst>
                  <a:ext uri="{0D108BD9-81ED-4DB2-BD59-A6C34878D82A}">
                    <a16:rowId xmlns:a16="http://schemas.microsoft.com/office/drawing/2014/main" val="10005"/>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a:t>
                      </a: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1" name="AutoShape 281"/>
          <p:cNvSpPr>
            <a:spLocks noChangeArrowheads="1"/>
          </p:cNvSpPr>
          <p:nvPr/>
        </p:nvSpPr>
        <p:spPr bwMode="auto">
          <a:xfrm>
            <a:off x="6706016" y="4662581"/>
            <a:ext cx="3935413" cy="326820"/>
          </a:xfrm>
          <a:prstGeom prst="roundRect">
            <a:avLst>
              <a:gd name="adj" fmla="val 2940"/>
            </a:avLst>
          </a:prstGeom>
          <a:solidFill>
            <a:srgbClr val="008000">
              <a:alpha val="20000"/>
            </a:srgbClr>
          </a:solidFill>
          <a:ln>
            <a:noFill/>
          </a:ln>
          <a:extLst>
            <a:ext uri="{91240B29-F687-4F45-9708-019B960494DF}">
              <a14:hiddenLine xmlns:a14="http://schemas.microsoft.com/office/drawing/2010/main" w="9525" cap="sq">
                <a:solidFill>
                  <a:srgbClr val="000000"/>
                </a:solidFill>
                <a:round/>
                <a:headEnd/>
                <a:tailEnd/>
              </a14:hiddenLine>
            </a:ext>
          </a:extLst>
        </p:spPr>
        <p:txBody>
          <a:bodyPr lIns="72000" tIns="72000" rIns="72000" bIns="72000" anchor="ctr"/>
          <a:lstStyle/>
          <a:p>
            <a:pPr>
              <a:buSzTx/>
              <a:buFontTx/>
              <a:buNone/>
            </a:pPr>
            <a:endParaRPr lang="zh-CN" altLang="en-US" sz="2400">
              <a:solidFill>
                <a:srgbClr val="CCFFCC"/>
              </a:solidFill>
              <a:latin typeface="Times New Roman" pitchFamily="18" charset="0"/>
            </a:endParaRPr>
          </a:p>
        </p:txBody>
      </p:sp>
      <p:sp>
        <p:nvSpPr>
          <p:cNvPr id="42" name="AutoShape 282"/>
          <p:cNvSpPr>
            <a:spLocks noChangeArrowheads="1"/>
          </p:cNvSpPr>
          <p:nvPr/>
        </p:nvSpPr>
        <p:spPr bwMode="auto">
          <a:xfrm>
            <a:off x="6723479" y="5602635"/>
            <a:ext cx="3935413" cy="582265"/>
          </a:xfrm>
          <a:prstGeom prst="roundRect">
            <a:avLst>
              <a:gd name="adj" fmla="val 2940"/>
            </a:avLst>
          </a:prstGeom>
          <a:solidFill>
            <a:srgbClr val="008000">
              <a:alpha val="20000"/>
            </a:srgbClr>
          </a:solidFill>
          <a:ln>
            <a:noFill/>
          </a:ln>
          <a:extLst>
            <a:ext uri="{91240B29-F687-4F45-9708-019B960494DF}">
              <a14:hiddenLine xmlns:a14="http://schemas.microsoft.com/office/drawing/2010/main" w="9525" cap="sq">
                <a:solidFill>
                  <a:srgbClr val="000000"/>
                </a:solidFill>
                <a:round/>
                <a:headEnd/>
                <a:tailEnd/>
              </a14:hiddenLine>
            </a:ext>
          </a:extLst>
        </p:spPr>
        <p:txBody>
          <a:bodyPr lIns="72000" tIns="72000" rIns="72000" bIns="72000" anchor="ctr"/>
          <a:lstStyle/>
          <a:p>
            <a:pPr>
              <a:buSzTx/>
              <a:buFontTx/>
              <a:buNone/>
            </a:pPr>
            <a:endParaRPr lang="zh-CN" altLang="en-US" sz="2400">
              <a:solidFill>
                <a:srgbClr val="CCFFCC"/>
              </a:solidFill>
              <a:latin typeface="Times New Roman" pitchFamily="18" charset="0"/>
            </a:endParaRPr>
          </a:p>
        </p:txBody>
      </p:sp>
      <p:sp>
        <p:nvSpPr>
          <p:cNvPr id="43" name="Rectangle 4"/>
          <p:cNvSpPr txBox="1">
            <a:spLocks noChangeArrowheads="1"/>
          </p:cNvSpPr>
          <p:nvPr/>
        </p:nvSpPr>
        <p:spPr bwMode="auto">
          <a:xfrm>
            <a:off x="488823" y="979765"/>
            <a:ext cx="4688280" cy="6463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algn="just" eaLnBrk="1" hangingPunct="1">
              <a:spcAft>
                <a:spcPct val="50000"/>
              </a:spcAft>
              <a:buClr>
                <a:srgbClr val="FFC000"/>
              </a:buClr>
              <a:buFont typeface="Wingdings" pitchFamily="2" charset="2"/>
              <a:buChar char="§"/>
              <a:tabLst>
                <a:tab pos="715963" algn="l"/>
              </a:tabLst>
              <a:defRPr/>
            </a:pPr>
            <a:r>
              <a:rPr kumimoji="1" lang="zh-CN" altLang="en-US" sz="3600" dirty="0">
                <a:latin typeface="楷体_GB2312" pitchFamily="49" charset="-122"/>
              </a:rPr>
              <a:t>真正有意义的连接</a:t>
            </a:r>
            <a:endParaRPr kumimoji="1" lang="zh-CN" altLang="en-US" sz="3600" dirty="0">
              <a:solidFill>
                <a:srgbClr val="99FF33"/>
              </a:solidFill>
              <a:latin typeface="楷体_GB2312" pitchFamily="49" charset="-122"/>
            </a:endParaRPr>
          </a:p>
        </p:txBody>
      </p:sp>
      <p:grpSp>
        <p:nvGrpSpPr>
          <p:cNvPr id="44" name="组合 43"/>
          <p:cNvGrpSpPr/>
          <p:nvPr/>
        </p:nvGrpSpPr>
        <p:grpSpPr>
          <a:xfrm>
            <a:off x="5543285" y="412471"/>
            <a:ext cx="2325462" cy="1533848"/>
            <a:chOff x="4685715" y="768019"/>
            <a:chExt cx="1686485" cy="1533848"/>
          </a:xfrm>
        </p:grpSpPr>
        <p:sp>
          <p:nvSpPr>
            <p:cNvPr id="45" name="Rectangle 51"/>
            <p:cNvSpPr>
              <a:spLocks noChangeArrowheads="1"/>
            </p:cNvSpPr>
            <p:nvPr/>
          </p:nvSpPr>
          <p:spPr bwMode="auto">
            <a:xfrm>
              <a:off x="4685715" y="768019"/>
              <a:ext cx="1686485" cy="1243477"/>
            </a:xfrm>
            <a:prstGeom prst="snip2SameRect">
              <a:avLst/>
            </a:prstGeom>
            <a:ln>
              <a:headEnd/>
              <a:tailEnd/>
            </a:ln>
          </p:spPr>
          <p:style>
            <a:lnRef idx="0">
              <a:schemeClr val="accent6"/>
            </a:lnRef>
            <a:fillRef idx="3">
              <a:schemeClr val="accent6"/>
            </a:fillRef>
            <a:effectRef idx="3">
              <a:schemeClr val="accent6"/>
            </a:effectRef>
            <a:fontRef idx="minor">
              <a:schemeClr val="lt1"/>
            </a:fontRef>
          </p:style>
          <p:txBody>
            <a:bodyPr wrap="square" lIns="72000" tIns="72000" rIns="72000" bIns="72000" anchor="ctr" anchorCtr="1">
              <a:noAutofit/>
            </a:bodyPr>
            <a:lstStyle/>
            <a:p>
              <a:pPr lvl="0">
                <a:spcAft>
                  <a:spcPct val="0"/>
                </a:spcAft>
                <a:defRPr/>
              </a:pPr>
              <a:endParaRPr lang="zh-CN" altLang="en-US" sz="6000" b="1" kern="0" dirty="0">
                <a:solidFill>
                  <a:srgbClr val="99FF33"/>
                </a:solidFill>
                <a:effectLst>
                  <a:outerShdw blurRad="38100" dist="38100" dir="2700000" algn="tl">
                    <a:srgbClr val="000000"/>
                  </a:outerShdw>
                </a:effectLst>
              </a:endParaRPr>
            </a:p>
          </p:txBody>
        </p:sp>
        <p:sp>
          <p:nvSpPr>
            <p:cNvPr id="46" name="Rectangle 7"/>
            <p:cNvSpPr>
              <a:spLocks noChangeArrowheads="1"/>
            </p:cNvSpPr>
            <p:nvPr/>
          </p:nvSpPr>
          <p:spPr bwMode="auto">
            <a:xfrm>
              <a:off x="4929440" y="1440093"/>
              <a:ext cx="1312098" cy="861774"/>
            </a:xfrm>
            <a:prstGeom prst="rect">
              <a:avLst/>
            </a:prstGeom>
            <a:noFill/>
            <a:ln w="12700" cap="sq">
              <a:noFill/>
              <a:miter lim="800000"/>
              <a:headEnd/>
              <a:tailEnd/>
            </a:ln>
            <a:effectLst/>
          </p:spPr>
          <p:txBody>
            <a:bodyPr lIns="0" tIns="0" rIns="0" bIns="0">
              <a:spAutoFit/>
            </a:bodyPr>
            <a:lstStyle/>
            <a:p>
              <a:pPr algn="ctr">
                <a:spcAft>
                  <a:spcPct val="0"/>
                </a:spcAft>
                <a:defRPr/>
              </a:pPr>
              <a:r>
                <a:rPr lang="en-US" altLang="zh-CN" sz="2800" b="1" kern="0" dirty="0">
                  <a:solidFill>
                    <a:srgbClr val="66FF33"/>
                  </a:solidFill>
                  <a:effectLst>
                    <a:outerShdw blurRad="38100" dist="38100" dir="2700000" algn="tl">
                      <a:srgbClr val="000000"/>
                    </a:outerShdw>
                  </a:effectLst>
                  <a:latin typeface="Times New Roman" pitchFamily="18" charset="0"/>
                  <a:ea typeface="宋体" pitchFamily="2" charset="-122"/>
                </a:rPr>
                <a:t>R.A θ S.B</a:t>
              </a:r>
              <a:endParaRPr lang="zh-CN" altLang="en-US" sz="2800" b="1" kern="0" dirty="0">
                <a:solidFill>
                  <a:srgbClr val="66FF33"/>
                </a:solidFill>
                <a:effectLst>
                  <a:outerShdw blurRad="38100" dist="38100" dir="2700000" algn="tl">
                    <a:srgbClr val="000000"/>
                  </a:outerShdw>
                </a:effectLst>
                <a:latin typeface="Times New Roman" pitchFamily="18" charset="0"/>
                <a:ea typeface="宋体" pitchFamily="2" charset="-122"/>
              </a:endParaRPr>
            </a:p>
          </p:txBody>
        </p:sp>
        <p:sp>
          <p:nvSpPr>
            <p:cNvPr id="47" name="Rectangle 8"/>
            <p:cNvSpPr>
              <a:spLocks noChangeArrowheads="1"/>
            </p:cNvSpPr>
            <p:nvPr/>
          </p:nvSpPr>
          <p:spPr bwMode="auto">
            <a:xfrm>
              <a:off x="4968400" y="987788"/>
              <a:ext cx="314189" cy="615553"/>
            </a:xfrm>
            <a:prstGeom prst="rect">
              <a:avLst/>
            </a:prstGeom>
            <a:noFill/>
            <a:ln w="12700" cap="sq">
              <a:noFill/>
              <a:miter lim="800000"/>
              <a:headEnd/>
              <a:tailEnd/>
            </a:ln>
            <a:effectLst/>
          </p:spPr>
          <p:txBody>
            <a:bodyPr wrap="none" lIns="0" tIns="0" rIns="0" bIns="0">
              <a:spAutoFit/>
            </a:bodyPr>
            <a:lstStyle/>
            <a:p>
              <a:pPr>
                <a:spcAft>
                  <a:spcPct val="0"/>
                </a:spcAft>
                <a:defRPr/>
              </a:pPr>
              <a:r>
                <a:rPr lang="en-US" altLang="zh-CN" sz="4000" b="1" kern="0" dirty="0">
                  <a:solidFill>
                    <a:srgbClr val="99FF33"/>
                  </a:solidFill>
                  <a:effectLst>
                    <a:outerShdw blurRad="38100" dist="38100" dir="2700000" algn="tl">
                      <a:srgbClr val="000000"/>
                    </a:outerShdw>
                  </a:effectLst>
                </a:rPr>
                <a:t>R</a:t>
              </a:r>
              <a:endParaRPr lang="zh-CN" altLang="en-US" sz="4000" b="1" kern="0" dirty="0">
                <a:solidFill>
                  <a:srgbClr val="99FF33"/>
                </a:solidFill>
                <a:effectLst>
                  <a:outerShdw blurRad="38100" dist="38100" dir="2700000" algn="tl">
                    <a:srgbClr val="000000"/>
                  </a:outerShdw>
                </a:effectLst>
              </a:endParaRPr>
            </a:p>
          </p:txBody>
        </p:sp>
        <p:sp>
          <p:nvSpPr>
            <p:cNvPr id="48" name="Rectangle 9"/>
            <p:cNvSpPr>
              <a:spLocks noChangeArrowheads="1"/>
            </p:cNvSpPr>
            <p:nvPr/>
          </p:nvSpPr>
          <p:spPr bwMode="auto">
            <a:xfrm flipH="1">
              <a:off x="5982913" y="999836"/>
              <a:ext cx="101255" cy="615553"/>
            </a:xfrm>
            <a:prstGeom prst="rect">
              <a:avLst/>
            </a:prstGeom>
            <a:noFill/>
            <a:ln w="12700" cap="sq">
              <a:noFill/>
              <a:miter lim="800000"/>
              <a:headEnd/>
              <a:tailEnd/>
            </a:ln>
            <a:effectLst/>
          </p:spPr>
          <p:txBody>
            <a:bodyPr lIns="0" tIns="0" rIns="0" bIns="0">
              <a:spAutoFit/>
            </a:bodyPr>
            <a:lstStyle/>
            <a:p>
              <a:pPr lvl="0">
                <a:spcAft>
                  <a:spcPct val="0"/>
                </a:spcAft>
                <a:defRPr/>
              </a:pPr>
              <a:r>
                <a:rPr lang="en-US" altLang="zh-CN" sz="4000" b="1" kern="0" dirty="0">
                  <a:solidFill>
                    <a:srgbClr val="99FF33"/>
                  </a:solidFill>
                  <a:effectLst>
                    <a:outerShdw blurRad="38100" dist="38100" dir="2700000" algn="tl">
                      <a:srgbClr val="000000"/>
                    </a:outerShdw>
                  </a:effectLst>
                </a:rPr>
                <a:t>S</a:t>
              </a:r>
              <a:endParaRPr lang="zh-CN" altLang="en-US" sz="4000" b="1" kern="0" dirty="0">
                <a:solidFill>
                  <a:srgbClr val="99FF33"/>
                </a:solidFill>
                <a:effectLst>
                  <a:outerShdw blurRad="38100" dist="38100" dir="2700000" algn="tl">
                    <a:srgbClr val="000000"/>
                  </a:outerShdw>
                </a:effectLst>
              </a:endParaRPr>
            </a:p>
          </p:txBody>
        </p:sp>
        <p:sp>
          <p:nvSpPr>
            <p:cNvPr id="49" name="Freeform 11"/>
            <p:cNvSpPr>
              <a:spLocks/>
            </p:cNvSpPr>
            <p:nvPr/>
          </p:nvSpPr>
          <p:spPr bwMode="auto">
            <a:xfrm>
              <a:off x="5448372" y="1136881"/>
              <a:ext cx="286890" cy="203200"/>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28575" cap="sq" cmpd="sng">
              <a:solidFill>
                <a:srgbClr val="66FF33"/>
              </a:solidFill>
              <a:prstDash val="solid"/>
              <a:round/>
              <a:headEnd type="none" w="med" len="med"/>
              <a:tailEnd type="none" w="med" len="med"/>
            </a:ln>
            <a:effectLst>
              <a:outerShdw blurRad="50800" dist="38100" dir="2700000" algn="tl" rotWithShape="0">
                <a:prstClr val="black">
                  <a:alpha val="40000"/>
                </a:prstClr>
              </a:outerShdw>
            </a:effectLst>
          </p:spPr>
          <p:txBody>
            <a:bodyPr lIns="72000" tIns="72000" rIns="72000" bIns="72000"/>
            <a:lstStyle/>
            <a:p>
              <a:pPr>
                <a:defRPr/>
              </a:pPr>
              <a:endParaRPr lang="zh-CN" altLang="en-US" sz="3200" kern="0">
                <a:solidFill>
                  <a:srgbClr val="92D050"/>
                </a:solidFill>
              </a:endParaRPr>
            </a:p>
          </p:txBody>
        </p:sp>
      </p:grpSp>
    </p:spTree>
    <p:extLst>
      <p:ext uri="{BB962C8B-B14F-4D97-AF65-F5344CB8AC3E}">
        <p14:creationId xmlns:p14="http://schemas.microsoft.com/office/powerpoint/2010/main" val="3939029630"/>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31688" y="0"/>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连接查询</a:t>
            </a:r>
          </a:p>
        </p:txBody>
      </p:sp>
      <p:sp>
        <p:nvSpPr>
          <p:cNvPr id="3" name="Rectangle 158"/>
          <p:cNvSpPr txBox="1">
            <a:spLocks noChangeArrowheads="1"/>
          </p:cNvSpPr>
          <p:nvPr/>
        </p:nvSpPr>
        <p:spPr bwMode="auto">
          <a:xfrm>
            <a:off x="479376" y="836712"/>
            <a:ext cx="11017224" cy="610320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algn="just" eaLnBrk="1" hangingPunct="1">
              <a:spcAft>
                <a:spcPct val="25000"/>
              </a:spcAft>
              <a:buClr>
                <a:srgbClr val="FFFFFF"/>
              </a:buClr>
              <a:buFont typeface="Wingdings" pitchFamily="2" charset="2"/>
              <a:buChar char="§"/>
              <a:defRPr/>
            </a:pPr>
            <a:r>
              <a:rPr kumimoji="1" lang="en-US" altLang="zh-CN" sz="3200" kern="0" dirty="0">
                <a:latin typeface="楷体_GB2312" pitchFamily="49" charset="-122"/>
              </a:rPr>
              <a:t>SQL</a:t>
            </a:r>
            <a:r>
              <a:rPr kumimoji="1" lang="zh-CN" altLang="en-US" sz="3200" kern="0" dirty="0">
                <a:latin typeface="楷体_GB2312" pitchFamily="49" charset="-122"/>
              </a:rPr>
              <a:t>多表连接查询的一般格式</a:t>
            </a:r>
            <a:r>
              <a:rPr kumimoji="1" lang="en-US" altLang="zh-CN" sz="3200" kern="0" dirty="0">
                <a:latin typeface="楷体_GB2312" pitchFamily="49" charset="-122"/>
              </a:rPr>
              <a:t>:</a:t>
            </a:r>
          </a:p>
          <a:p>
            <a:pPr marL="269875" indent="-269875" algn="just" eaLnBrk="1" hangingPunct="1">
              <a:spcAft>
                <a:spcPct val="0"/>
              </a:spcAft>
              <a:buClr>
                <a:srgbClr val="FFFFFF"/>
              </a:buClr>
              <a:buNone/>
              <a:defRPr/>
            </a:pPr>
            <a:r>
              <a:rPr kumimoji="1" lang="en-US" altLang="zh-CN" sz="3200" kern="0" dirty="0">
                <a:solidFill>
                  <a:srgbClr val="99FF33"/>
                </a:solidFill>
                <a:latin typeface="楷体_GB2312" pitchFamily="49" charset="-122"/>
              </a:rPr>
              <a:t>	SELECT &lt;</a:t>
            </a:r>
            <a:r>
              <a:rPr kumimoji="1" lang="zh-CN" altLang="en-US" sz="3200" kern="0" dirty="0">
                <a:solidFill>
                  <a:srgbClr val="99FF33"/>
                </a:solidFill>
                <a:latin typeface="楷体_GB2312" pitchFamily="49" charset="-122"/>
              </a:rPr>
              <a:t>目标列表达式列表</a:t>
            </a:r>
            <a:r>
              <a:rPr kumimoji="1" lang="en-US" altLang="zh-CN" sz="3200" kern="0" dirty="0">
                <a:solidFill>
                  <a:srgbClr val="99FF33"/>
                </a:solidFill>
                <a:latin typeface="楷体_GB2312" pitchFamily="49" charset="-122"/>
              </a:rPr>
              <a:t>&gt;</a:t>
            </a:r>
          </a:p>
          <a:p>
            <a:pPr marL="269875" indent="-269875" algn="just" eaLnBrk="1" hangingPunct="1">
              <a:spcAft>
                <a:spcPct val="0"/>
              </a:spcAft>
              <a:buClr>
                <a:srgbClr val="FFFFFF"/>
              </a:buClr>
              <a:buNone/>
              <a:defRPr/>
            </a:pPr>
            <a:r>
              <a:rPr kumimoji="1" lang="en-US" altLang="zh-CN" sz="3200" kern="0" dirty="0">
                <a:solidFill>
                  <a:srgbClr val="99FF33"/>
                </a:solidFill>
                <a:latin typeface="楷体_GB2312" pitchFamily="49" charset="-122"/>
              </a:rPr>
              <a:t>	  FROM </a:t>
            </a:r>
            <a:r>
              <a:rPr kumimoji="1" lang="zh-CN" altLang="en-US" sz="3200" kern="0" dirty="0">
                <a:solidFill>
                  <a:srgbClr val="FFFF00"/>
                </a:solidFill>
                <a:latin typeface="楷体_GB2312" pitchFamily="49" charset="-122"/>
              </a:rPr>
              <a:t>表</a:t>
            </a:r>
            <a:r>
              <a:rPr kumimoji="1" lang="en-US" altLang="zh-CN" sz="3200" kern="0" dirty="0">
                <a:solidFill>
                  <a:srgbClr val="FFFF00"/>
                </a:solidFill>
                <a:latin typeface="楷体_GB2312" pitchFamily="49" charset="-122"/>
              </a:rPr>
              <a:t>1,</a:t>
            </a:r>
            <a:r>
              <a:rPr kumimoji="1" lang="zh-CN" altLang="en-US" sz="3200" kern="0" dirty="0">
                <a:solidFill>
                  <a:srgbClr val="FFFF00"/>
                </a:solidFill>
                <a:latin typeface="楷体_GB2312" pitchFamily="49" charset="-122"/>
              </a:rPr>
              <a:t>表</a:t>
            </a:r>
            <a:r>
              <a:rPr kumimoji="1" lang="en-US" altLang="zh-CN" sz="3200" kern="0" dirty="0">
                <a:solidFill>
                  <a:srgbClr val="FFFF00"/>
                </a:solidFill>
                <a:latin typeface="楷体_GB2312" pitchFamily="49" charset="-122"/>
              </a:rPr>
              <a:t>2,</a:t>
            </a:r>
            <a:r>
              <a:rPr kumimoji="1" lang="en-US" altLang="zh-CN" sz="3200" kern="0" dirty="0">
                <a:solidFill>
                  <a:srgbClr val="FFFF00"/>
                </a:solidFill>
                <a:latin typeface="Arial"/>
              </a:rPr>
              <a:t>···</a:t>
            </a:r>
            <a:endParaRPr kumimoji="1" lang="zh-CN" altLang="en-US" sz="3200" kern="0" dirty="0">
              <a:solidFill>
                <a:srgbClr val="FFFF00"/>
              </a:solidFill>
              <a:latin typeface="楷体_GB2312" pitchFamily="49" charset="-122"/>
            </a:endParaRPr>
          </a:p>
          <a:p>
            <a:pPr marL="269875" indent="-269875" algn="just" eaLnBrk="1" hangingPunct="1">
              <a:spcAft>
                <a:spcPct val="0"/>
              </a:spcAft>
              <a:buClr>
                <a:srgbClr val="FFFFFF"/>
              </a:buClr>
              <a:buNone/>
              <a:defRPr/>
            </a:pPr>
            <a:r>
              <a:rPr kumimoji="1" lang="en-US" altLang="zh-CN" sz="3200" kern="0" dirty="0">
                <a:solidFill>
                  <a:srgbClr val="99FF33"/>
                </a:solidFill>
                <a:latin typeface="楷体_GB2312" pitchFamily="49" charset="-122"/>
              </a:rPr>
              <a:t>	 WHERE </a:t>
            </a:r>
            <a:r>
              <a:rPr kumimoji="1" lang="zh-CN" altLang="en-US" sz="3200" kern="0" dirty="0">
                <a:solidFill>
                  <a:srgbClr val="FFFF00"/>
                </a:solidFill>
                <a:latin typeface="楷体_GB2312" pitchFamily="49" charset="-122"/>
              </a:rPr>
              <a:t>连接条件</a:t>
            </a:r>
          </a:p>
          <a:p>
            <a:pPr marL="269875" indent="-269875" algn="just" eaLnBrk="1" hangingPunct="1">
              <a:spcBef>
                <a:spcPts val="4200"/>
              </a:spcBef>
              <a:spcAft>
                <a:spcPct val="25000"/>
              </a:spcAft>
              <a:buClr>
                <a:srgbClr val="FFFFFF"/>
              </a:buClr>
              <a:buFont typeface="Wingdings" pitchFamily="2" charset="2"/>
              <a:buChar char="§"/>
              <a:defRPr/>
            </a:pPr>
            <a:r>
              <a:rPr kumimoji="1" lang="en-US" altLang="zh-CN" sz="3200" kern="0" dirty="0">
                <a:latin typeface="楷体_GB2312" pitchFamily="49" charset="-122"/>
              </a:rPr>
              <a:t>ANSI</a:t>
            </a:r>
            <a:r>
              <a:rPr kumimoji="1" lang="zh-CN" altLang="en-US" sz="3200" kern="0" dirty="0">
                <a:latin typeface="楷体_GB2312" pitchFamily="49" charset="-122"/>
              </a:rPr>
              <a:t>多表连接查询的一般格式</a:t>
            </a:r>
            <a:r>
              <a:rPr kumimoji="1" lang="en-US" altLang="zh-CN" sz="3200" kern="0" dirty="0">
                <a:latin typeface="楷体_GB2312" pitchFamily="49" charset="-122"/>
              </a:rPr>
              <a:t>:</a:t>
            </a:r>
            <a:endParaRPr kumimoji="1" lang="zh-CN" altLang="en-US" sz="3200" kern="0" dirty="0">
              <a:solidFill>
                <a:srgbClr val="FFFF00"/>
              </a:solidFill>
              <a:latin typeface="楷体_GB2312" pitchFamily="49" charset="-122"/>
            </a:endParaRPr>
          </a:p>
          <a:p>
            <a:pPr marL="269875" indent="-269875" algn="just" eaLnBrk="1" hangingPunct="1">
              <a:spcAft>
                <a:spcPct val="0"/>
              </a:spcAft>
              <a:buClr>
                <a:srgbClr val="FFFFFF"/>
              </a:buClr>
              <a:buNone/>
              <a:defRPr/>
            </a:pPr>
            <a:r>
              <a:rPr kumimoji="1" lang="en-US" altLang="zh-CN" sz="3200" kern="0" dirty="0">
                <a:solidFill>
                  <a:srgbClr val="99FF33"/>
                </a:solidFill>
                <a:latin typeface="楷体_GB2312" pitchFamily="49" charset="-122"/>
              </a:rPr>
              <a:t>	SELECT &lt;</a:t>
            </a:r>
            <a:r>
              <a:rPr kumimoji="1" lang="zh-CN" altLang="en-US" sz="3200" kern="0" dirty="0">
                <a:solidFill>
                  <a:srgbClr val="99FF33"/>
                </a:solidFill>
                <a:latin typeface="楷体_GB2312" pitchFamily="49" charset="-122"/>
              </a:rPr>
              <a:t>目标列表达式列表</a:t>
            </a:r>
            <a:r>
              <a:rPr kumimoji="1" lang="en-US" altLang="zh-CN" sz="3200" kern="0" dirty="0">
                <a:solidFill>
                  <a:srgbClr val="99FF33"/>
                </a:solidFill>
                <a:latin typeface="楷体_GB2312" pitchFamily="49" charset="-122"/>
              </a:rPr>
              <a:t>&gt;</a:t>
            </a:r>
          </a:p>
          <a:p>
            <a:pPr marL="269875" indent="-269875" algn="just" eaLnBrk="1" hangingPunct="1">
              <a:spcAft>
                <a:spcPct val="0"/>
              </a:spcAft>
              <a:buClr>
                <a:srgbClr val="FFFFFF"/>
              </a:buClr>
              <a:buNone/>
              <a:defRPr/>
            </a:pPr>
            <a:r>
              <a:rPr kumimoji="1" lang="en-US" altLang="zh-CN" sz="3200" kern="0" dirty="0">
                <a:solidFill>
                  <a:srgbClr val="99FF33"/>
                </a:solidFill>
                <a:latin typeface="楷体_GB2312" pitchFamily="49" charset="-122"/>
              </a:rPr>
              <a:t>	  FROM </a:t>
            </a:r>
            <a:r>
              <a:rPr kumimoji="1" lang="zh-CN" altLang="en-US" sz="3200" kern="0" dirty="0">
                <a:solidFill>
                  <a:srgbClr val="00FFFF"/>
                </a:solidFill>
                <a:latin typeface="楷体_GB2312" pitchFamily="49" charset="-122"/>
              </a:rPr>
              <a:t>表</a:t>
            </a:r>
            <a:r>
              <a:rPr kumimoji="1" lang="en-US" altLang="zh-CN" sz="3200" kern="0" dirty="0">
                <a:solidFill>
                  <a:srgbClr val="00FFFF"/>
                </a:solidFill>
                <a:latin typeface="楷体_GB2312" pitchFamily="49" charset="-122"/>
              </a:rPr>
              <a:t>1</a:t>
            </a:r>
            <a:r>
              <a:rPr kumimoji="1" lang="en-US" altLang="zh-CN" sz="3200" kern="0" dirty="0">
                <a:solidFill>
                  <a:srgbClr val="FFFF00"/>
                </a:solidFill>
                <a:latin typeface="楷体_GB2312" pitchFamily="49" charset="-122"/>
              </a:rPr>
              <a:t> </a:t>
            </a:r>
            <a:r>
              <a:rPr kumimoji="1" lang="zh-CN" altLang="en-US" sz="3200" kern="0" dirty="0">
                <a:solidFill>
                  <a:srgbClr val="66FF66"/>
                </a:solidFill>
                <a:latin typeface="楷体_GB2312" pitchFamily="49" charset="-122"/>
              </a:rPr>
              <a:t>连接方式</a:t>
            </a:r>
            <a:r>
              <a:rPr kumimoji="1" lang="zh-CN" altLang="en-US" sz="3200" kern="0" dirty="0">
                <a:solidFill>
                  <a:srgbClr val="FFFF00"/>
                </a:solidFill>
                <a:latin typeface="楷体_GB2312" pitchFamily="49" charset="-122"/>
              </a:rPr>
              <a:t> </a:t>
            </a:r>
            <a:r>
              <a:rPr kumimoji="1" lang="en-US" altLang="zh-CN" sz="3200" kern="0" dirty="0">
                <a:solidFill>
                  <a:srgbClr val="FFFF00"/>
                </a:solidFill>
                <a:latin typeface="楷体_GB2312" pitchFamily="49" charset="-122"/>
              </a:rPr>
              <a:t>JOIN </a:t>
            </a:r>
            <a:r>
              <a:rPr kumimoji="1" lang="zh-CN" altLang="en-US" sz="3200" kern="0" dirty="0">
                <a:solidFill>
                  <a:srgbClr val="00FFFF"/>
                </a:solidFill>
                <a:latin typeface="楷体_GB2312" pitchFamily="49" charset="-122"/>
              </a:rPr>
              <a:t>表</a:t>
            </a:r>
            <a:r>
              <a:rPr kumimoji="1" lang="en-US" altLang="zh-CN" sz="3200" kern="0" dirty="0">
                <a:solidFill>
                  <a:srgbClr val="00FFFF"/>
                </a:solidFill>
                <a:latin typeface="楷体_GB2312" pitchFamily="49" charset="-122"/>
              </a:rPr>
              <a:t>2</a:t>
            </a:r>
            <a:r>
              <a:rPr kumimoji="1" lang="en-US" altLang="zh-CN" sz="3200" kern="0" dirty="0">
                <a:solidFill>
                  <a:srgbClr val="FFFF00"/>
                </a:solidFill>
                <a:latin typeface="楷体_GB2312" pitchFamily="49" charset="-122"/>
              </a:rPr>
              <a:t> ON </a:t>
            </a:r>
            <a:r>
              <a:rPr kumimoji="1" lang="zh-CN" altLang="en-US" sz="3200" kern="0" dirty="0">
                <a:solidFill>
                  <a:srgbClr val="00FFFF"/>
                </a:solidFill>
                <a:latin typeface="楷体_GB2312" pitchFamily="49" charset="-122"/>
              </a:rPr>
              <a:t>连接条件</a:t>
            </a:r>
          </a:p>
          <a:p>
            <a:pPr marL="269875" indent="-269875" algn="just" eaLnBrk="1" hangingPunct="1">
              <a:spcBef>
                <a:spcPct val="30000"/>
              </a:spcBef>
              <a:spcAft>
                <a:spcPct val="0"/>
              </a:spcAft>
              <a:buClr>
                <a:srgbClr val="FFFFFF"/>
              </a:buClr>
              <a:buNone/>
              <a:defRPr/>
            </a:pPr>
            <a:r>
              <a:rPr kumimoji="1" lang="zh-CN" altLang="en-US" sz="3200" kern="0" dirty="0">
                <a:solidFill>
                  <a:srgbClr val="00FFFF"/>
                </a:solidFill>
                <a:latin typeface="楷体_GB2312" pitchFamily="49" charset="-122"/>
              </a:rPr>
              <a:t>	</a:t>
            </a:r>
            <a:r>
              <a:rPr kumimoji="1" lang="zh-CN" altLang="en-US" sz="3200" kern="0" dirty="0">
                <a:latin typeface="楷体_GB2312" pitchFamily="49" charset="-122"/>
              </a:rPr>
              <a:t>其中连接方式可以为内连接</a:t>
            </a:r>
            <a:r>
              <a:rPr kumimoji="1" lang="en-US" altLang="zh-CN" sz="3200" kern="0" dirty="0">
                <a:latin typeface="楷体_GB2312" pitchFamily="49" charset="-122"/>
              </a:rPr>
              <a:t>(</a:t>
            </a:r>
            <a:r>
              <a:rPr kumimoji="1" lang="en-US" altLang="zh-CN" sz="3200" kern="0" dirty="0">
                <a:solidFill>
                  <a:srgbClr val="66FF66"/>
                </a:solidFill>
                <a:latin typeface="楷体_GB2312" pitchFamily="49" charset="-122"/>
              </a:rPr>
              <a:t>INNER</a:t>
            </a:r>
            <a:r>
              <a:rPr kumimoji="1" lang="en-US" altLang="zh-CN" sz="3200" kern="0" dirty="0">
                <a:latin typeface="楷体_GB2312" pitchFamily="49" charset="-122"/>
              </a:rPr>
              <a:t>)</a:t>
            </a:r>
            <a:r>
              <a:rPr kumimoji="1" lang="zh-CN" altLang="en-US" sz="3200" kern="0" dirty="0">
                <a:latin typeface="楷体_GB2312" pitchFamily="49" charset="-122"/>
              </a:rPr>
              <a:t>、左外连接</a:t>
            </a:r>
            <a:r>
              <a:rPr kumimoji="1" lang="en-US" altLang="zh-CN" sz="3200" kern="0" dirty="0">
                <a:latin typeface="楷体_GB2312" pitchFamily="49" charset="-122"/>
              </a:rPr>
              <a:t>(</a:t>
            </a:r>
            <a:r>
              <a:rPr kumimoji="1" lang="en-US" altLang="zh-CN" sz="3200" kern="0" dirty="0">
                <a:solidFill>
                  <a:srgbClr val="66FF66"/>
                </a:solidFill>
                <a:latin typeface="楷体_GB2312" pitchFamily="49" charset="-122"/>
              </a:rPr>
              <a:t>LEFT OUTER</a:t>
            </a:r>
            <a:r>
              <a:rPr kumimoji="1" lang="en-US" altLang="zh-CN" sz="3200" kern="0" dirty="0">
                <a:latin typeface="楷体_GB2312" pitchFamily="49" charset="-122"/>
              </a:rPr>
              <a:t>)</a:t>
            </a:r>
            <a:r>
              <a:rPr kumimoji="1" lang="zh-CN" altLang="en-US" sz="3200" kern="0" dirty="0">
                <a:latin typeface="楷体_GB2312" pitchFamily="49" charset="-122"/>
              </a:rPr>
              <a:t>、右外连接</a:t>
            </a:r>
            <a:r>
              <a:rPr kumimoji="1" lang="en-US" altLang="zh-CN" sz="3200" kern="0" dirty="0">
                <a:latin typeface="楷体_GB2312" pitchFamily="49" charset="-122"/>
              </a:rPr>
              <a:t>(</a:t>
            </a:r>
            <a:r>
              <a:rPr kumimoji="1" lang="en-US" altLang="zh-CN" sz="3200" kern="0" dirty="0">
                <a:solidFill>
                  <a:srgbClr val="66FF66"/>
                </a:solidFill>
                <a:latin typeface="楷体_GB2312" pitchFamily="49" charset="-122"/>
              </a:rPr>
              <a:t>RIGHT OUTER</a:t>
            </a:r>
            <a:r>
              <a:rPr kumimoji="1" lang="en-US" altLang="zh-CN" sz="3200" kern="0" dirty="0">
                <a:latin typeface="楷体_GB2312" pitchFamily="49" charset="-122"/>
              </a:rPr>
              <a:t>)</a:t>
            </a:r>
            <a:r>
              <a:rPr kumimoji="1" lang="zh-CN" altLang="en-US" sz="3200" kern="0" dirty="0">
                <a:latin typeface="楷体_GB2312" pitchFamily="49" charset="-122"/>
              </a:rPr>
              <a:t>、全外连接</a:t>
            </a:r>
            <a:r>
              <a:rPr kumimoji="1" lang="en-US" altLang="zh-CN" sz="3200" kern="0" dirty="0">
                <a:latin typeface="楷体_GB2312" pitchFamily="49" charset="-122"/>
              </a:rPr>
              <a:t>(</a:t>
            </a:r>
            <a:r>
              <a:rPr kumimoji="1" lang="en-US" altLang="zh-CN" sz="3200" kern="0" dirty="0">
                <a:solidFill>
                  <a:srgbClr val="66FF66"/>
                </a:solidFill>
                <a:latin typeface="楷体_GB2312" pitchFamily="49" charset="-122"/>
              </a:rPr>
              <a:t>FULL OUTER</a:t>
            </a:r>
            <a:r>
              <a:rPr kumimoji="1" lang="en-US" altLang="zh-CN" sz="3200" kern="0" dirty="0">
                <a:latin typeface="楷体_GB2312" pitchFamily="49" charset="-122"/>
              </a:rPr>
              <a:t>)</a:t>
            </a:r>
            <a:r>
              <a:rPr kumimoji="1" lang="zh-CN" altLang="en-US" sz="3200" kern="0" dirty="0">
                <a:latin typeface="楷体_GB2312" pitchFamily="49" charset="-122"/>
              </a:rPr>
              <a:t>和交叉连接</a:t>
            </a:r>
            <a:r>
              <a:rPr kumimoji="1" lang="en-US" altLang="zh-CN" sz="3200" kern="0" dirty="0">
                <a:latin typeface="楷体_GB2312" pitchFamily="49" charset="-122"/>
              </a:rPr>
              <a:t>(</a:t>
            </a:r>
            <a:r>
              <a:rPr kumimoji="1" lang="en-US" altLang="zh-CN" sz="3200" kern="0" dirty="0">
                <a:solidFill>
                  <a:srgbClr val="66FF66"/>
                </a:solidFill>
                <a:latin typeface="楷体_GB2312" pitchFamily="49" charset="-122"/>
              </a:rPr>
              <a:t>CROSS</a:t>
            </a:r>
            <a:r>
              <a:rPr kumimoji="1" lang="zh-CN" altLang="en-US" sz="3200" kern="0" dirty="0">
                <a:solidFill>
                  <a:srgbClr val="66FF66"/>
                </a:solidFill>
                <a:latin typeface="楷体_GB2312" pitchFamily="49" charset="-122"/>
              </a:rPr>
              <a:t>，无需</a:t>
            </a:r>
            <a:r>
              <a:rPr kumimoji="1" lang="en-US" altLang="zh-CN" sz="3200" kern="0" dirty="0">
                <a:solidFill>
                  <a:srgbClr val="66FF66"/>
                </a:solidFill>
                <a:latin typeface="楷体_GB2312" pitchFamily="49" charset="-122"/>
              </a:rPr>
              <a:t>ON</a:t>
            </a:r>
            <a:r>
              <a:rPr kumimoji="1" lang="en-US" altLang="zh-CN" sz="3200" kern="0" dirty="0">
                <a:latin typeface="楷体_GB2312" pitchFamily="49" charset="-122"/>
              </a:rPr>
              <a:t>)</a:t>
            </a:r>
          </a:p>
        </p:txBody>
      </p:sp>
      <p:sp>
        <p:nvSpPr>
          <p:cNvPr id="4" name="AutoShape 159"/>
          <p:cNvSpPr>
            <a:spLocks noChangeArrowheads="1"/>
          </p:cNvSpPr>
          <p:nvPr/>
        </p:nvSpPr>
        <p:spPr bwMode="auto">
          <a:xfrm>
            <a:off x="7995948" y="620688"/>
            <a:ext cx="2390119" cy="1184840"/>
          </a:xfrm>
          <a:prstGeom prst="wedgeRoundRectCallout">
            <a:avLst>
              <a:gd name="adj1" fmla="val -91644"/>
              <a:gd name="adj2" fmla="val -5179"/>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ju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一般只用于内连接</a:t>
            </a:r>
          </a:p>
        </p:txBody>
      </p:sp>
      <p:sp>
        <p:nvSpPr>
          <p:cNvPr id="6" name="AutoShape 160"/>
          <p:cNvSpPr>
            <a:spLocks noChangeArrowheads="1"/>
          </p:cNvSpPr>
          <p:nvPr/>
        </p:nvSpPr>
        <p:spPr bwMode="auto">
          <a:xfrm>
            <a:off x="8321471" y="2684780"/>
            <a:ext cx="3391153" cy="1434687"/>
          </a:xfrm>
          <a:prstGeom prst="wedgeRoundRectCallout">
            <a:avLst>
              <a:gd name="adj1" fmla="val -61310"/>
              <a:gd name="adj2" fmla="val 31319"/>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ju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Times New Roman" pitchFamily="18" charset="0"/>
              </a:rPr>
              <a:t>可以实现各种方式的连接</a:t>
            </a:r>
          </a:p>
        </p:txBody>
      </p:sp>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12024" y="2852936"/>
            <a:ext cx="1646206" cy="164620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418289690"/>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5"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6" presetClass="emph" presetSubtype="0" repeatCount="4000" fill="hold" nodeType="afterEffect">
                                  <p:stCondLst>
                                    <p:cond delay="0"/>
                                  </p:stCondLst>
                                  <p:childTnLst>
                                    <p:animEffect transition="out" filter="fade">
                                      <p:cBhvr>
                                        <p:cTn id="12" dur="500" tmFilter="0, 0; .2, .5; .8, .5; 1, 0"/>
                                        <p:tgtEl>
                                          <p:spTgt spid="7"/>
                                        </p:tgtEl>
                                      </p:cBhvr>
                                    </p:animEffect>
                                    <p:animScale>
                                      <p:cBhvr>
                                        <p:cTn id="13"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31688" y="0"/>
            <a:ext cx="3242088"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dirty="0">
                <a:solidFill>
                  <a:srgbClr val="FFFFCC"/>
                </a:solidFill>
                <a:effectLst>
                  <a:outerShdw blurRad="38100" dist="38100" dir="2700000" algn="tl">
                    <a:srgbClr val="000000"/>
                  </a:outerShdw>
                </a:effectLst>
              </a:rPr>
              <a:t>交叉连接查询</a:t>
            </a:r>
            <a:endParaRPr lang="zh-CN" altLang="en-US" sz="4000" b="1" dirty="0">
              <a:solidFill>
                <a:srgbClr val="FFFFCC"/>
              </a:solidFill>
              <a:effectLst>
                <a:outerShdw blurRad="38100" dist="38100" dir="2700000" algn="tl">
                  <a:srgbClr val="000000"/>
                </a:outerShdw>
              </a:effectLst>
            </a:endParaRPr>
          </a:p>
        </p:txBody>
      </p:sp>
      <p:sp>
        <p:nvSpPr>
          <p:cNvPr id="3" name="Rectangle 597"/>
          <p:cNvSpPr txBox="1">
            <a:spLocks noChangeArrowheads="1"/>
          </p:cNvSpPr>
          <p:nvPr/>
        </p:nvSpPr>
        <p:spPr bwMode="auto">
          <a:xfrm>
            <a:off x="461963" y="874249"/>
            <a:ext cx="10818613" cy="6463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defPPr>
              <a:defRPr lang="zh-CN"/>
            </a:defPPr>
            <a:lvl1pPr marL="269875" indent="-269875" algn="just" fontAlgn="base">
              <a:spcBef>
                <a:spcPct val="0"/>
              </a:spcBef>
              <a:spcAft>
                <a:spcPct val="50000"/>
              </a:spcAft>
              <a:buClr>
                <a:srgbClr val="FFC000"/>
              </a:buClr>
              <a:buSzPct val="85000"/>
              <a:buFont typeface="Wingdings" pitchFamily="2" charset="2"/>
              <a:buChar char="§"/>
              <a:defRPr kumimoji="1" sz="2800">
                <a:solidFill>
                  <a:srgbClr val="CCFFCC"/>
                </a:solidFill>
                <a:effectLst>
                  <a:outerShdw blurRad="38100" dist="38100" dir="2700000" algn="tl">
                    <a:srgbClr val="000000"/>
                  </a:outerShdw>
                </a:effectLst>
                <a:latin typeface="楷体_GB2312" pitchFamily="49" charset="-122"/>
                <a:ea typeface="微软雅黑" pitchFamily="34" charset="-122"/>
              </a:defRPr>
            </a:lvl1pPr>
            <a:lvl2pPr marL="742950" indent="-28575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defRPr>
            </a:lvl6pPr>
            <a:lvl7pPr marL="2971800" indent="-22860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defRPr>
            </a:lvl7pPr>
            <a:lvl8pPr marL="3429000" indent="-22860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defRPr>
            </a:lvl8pPr>
            <a:lvl9pPr marL="3886200" indent="-22860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defRPr>
            </a:lvl9pPr>
          </a:lstStyle>
          <a:p>
            <a:r>
              <a:rPr lang="zh-CN" altLang="en-US" sz="3600" dirty="0"/>
              <a:t>无条件将两表的行联接，其实就是笛卡儿积</a:t>
            </a:r>
          </a:p>
        </p:txBody>
      </p:sp>
      <p:graphicFrame>
        <p:nvGraphicFramePr>
          <p:cNvPr id="4" name="Group 598"/>
          <p:cNvGraphicFramePr>
            <a:graphicFrameLocks noGrp="1"/>
          </p:cNvGraphicFramePr>
          <p:nvPr>
            <p:extLst>
              <p:ext uri="{D42A27DB-BD31-4B8C-83A1-F6EECF244321}">
                <p14:modId xmlns:p14="http://schemas.microsoft.com/office/powerpoint/2010/main" val="2058232535"/>
              </p:ext>
            </p:extLst>
          </p:nvPr>
        </p:nvGraphicFramePr>
        <p:xfrm>
          <a:off x="6287338" y="4154372"/>
          <a:ext cx="4697115" cy="2268161"/>
        </p:xfrm>
        <a:graphic>
          <a:graphicData uri="http://schemas.openxmlformats.org/drawingml/2006/table">
            <a:tbl>
              <a:tblPr/>
              <a:tblGrid>
                <a:gridCol w="905283">
                  <a:extLst>
                    <a:ext uri="{9D8B030D-6E8A-4147-A177-3AD203B41FA5}">
                      <a16:colId xmlns:a16="http://schemas.microsoft.com/office/drawing/2014/main" val="20000"/>
                    </a:ext>
                  </a:extLst>
                </a:gridCol>
                <a:gridCol w="719240">
                  <a:extLst>
                    <a:ext uri="{9D8B030D-6E8A-4147-A177-3AD203B41FA5}">
                      <a16:colId xmlns:a16="http://schemas.microsoft.com/office/drawing/2014/main" val="20001"/>
                    </a:ext>
                  </a:extLst>
                </a:gridCol>
                <a:gridCol w="1072146">
                  <a:extLst>
                    <a:ext uri="{9D8B030D-6E8A-4147-A177-3AD203B41FA5}">
                      <a16:colId xmlns:a16="http://schemas.microsoft.com/office/drawing/2014/main" val="20002"/>
                    </a:ext>
                  </a:extLst>
                </a:gridCol>
                <a:gridCol w="836236">
                  <a:extLst>
                    <a:ext uri="{9D8B030D-6E8A-4147-A177-3AD203B41FA5}">
                      <a16:colId xmlns:a16="http://schemas.microsoft.com/office/drawing/2014/main" val="20003"/>
                    </a:ext>
                  </a:extLst>
                </a:gridCol>
                <a:gridCol w="1164210">
                  <a:extLst>
                    <a:ext uri="{9D8B030D-6E8A-4147-A177-3AD203B41FA5}">
                      <a16:colId xmlns:a16="http://schemas.microsoft.com/office/drawing/2014/main" val="20004"/>
                    </a:ext>
                  </a:extLst>
                </a:gridCol>
              </a:tblGrid>
              <a:tr h="32402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ST.</a:t>
                      </a:r>
                      <a:r>
                        <a:rPr kumimoji="0" lang="zh-CN" altLang="en-US" sz="20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a:t>
                      </a:r>
                      <a:r>
                        <a:rPr kumimoji="0" lang="zh-CN" altLang="en-US" sz="20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2402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402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402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a:t>
                      </a: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402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a:t>
                      </a: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402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a:t>
                      </a: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402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a:t>
                      </a: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6" name="Group 660"/>
          <p:cNvGraphicFramePr>
            <a:graphicFrameLocks noGrp="1"/>
          </p:cNvGraphicFramePr>
          <p:nvPr>
            <p:extLst>
              <p:ext uri="{D42A27DB-BD31-4B8C-83A1-F6EECF244321}">
                <p14:modId xmlns:p14="http://schemas.microsoft.com/office/powerpoint/2010/main" val="2426989641"/>
              </p:ext>
            </p:extLst>
          </p:nvPr>
        </p:nvGraphicFramePr>
        <p:xfrm>
          <a:off x="983432" y="5035313"/>
          <a:ext cx="2098443" cy="1219200"/>
        </p:xfrm>
        <a:graphic>
          <a:graphicData uri="http://schemas.openxmlformats.org/drawingml/2006/table">
            <a:tbl>
              <a:tblPr/>
              <a:tblGrid>
                <a:gridCol w="718450">
                  <a:extLst>
                    <a:ext uri="{9D8B030D-6E8A-4147-A177-3AD203B41FA5}">
                      <a16:colId xmlns:a16="http://schemas.microsoft.com/office/drawing/2014/main" val="20000"/>
                    </a:ext>
                  </a:extLst>
                </a:gridCol>
                <a:gridCol w="702444">
                  <a:extLst>
                    <a:ext uri="{9D8B030D-6E8A-4147-A177-3AD203B41FA5}">
                      <a16:colId xmlns:a16="http://schemas.microsoft.com/office/drawing/2014/main" val="20001"/>
                    </a:ext>
                  </a:extLst>
                </a:gridCol>
                <a:gridCol w="677549">
                  <a:extLst>
                    <a:ext uri="{9D8B030D-6E8A-4147-A177-3AD203B41FA5}">
                      <a16:colId xmlns:a16="http://schemas.microsoft.com/office/drawing/2014/main" val="20002"/>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 name="Rectangle 688"/>
          <p:cNvSpPr>
            <a:spLocks noChangeArrowheads="1"/>
          </p:cNvSpPr>
          <p:nvPr/>
        </p:nvSpPr>
        <p:spPr bwMode="auto">
          <a:xfrm>
            <a:off x="1089707" y="4660147"/>
            <a:ext cx="35907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fontAlgn="base">
              <a:spcBef>
                <a:spcPct val="0"/>
              </a:spcBef>
              <a:spcAft>
                <a:spcPct val="0"/>
              </a:spcAft>
            </a:pPr>
            <a:r>
              <a:rPr kumimoji="1" lang="en-US" altLang="zh-CN" sz="2400" dirty="0">
                <a:solidFill>
                  <a:srgbClr val="FFFFFF"/>
                </a:solidFill>
                <a:effectLst>
                  <a:outerShdw blurRad="38100" dist="38100" dir="2700000" algn="tl">
                    <a:srgbClr val="000000"/>
                  </a:outerShdw>
                </a:effectLst>
                <a:latin typeface="Times New Roman" pitchFamily="18" charset="0"/>
                <a:ea typeface="楷体_GB2312" pitchFamily="49" charset="-122"/>
              </a:rPr>
              <a:t>ST</a:t>
            </a:r>
          </a:p>
        </p:txBody>
      </p:sp>
      <p:sp>
        <p:nvSpPr>
          <p:cNvPr id="8" name="Rectangle 689"/>
          <p:cNvSpPr>
            <a:spLocks noChangeArrowheads="1"/>
          </p:cNvSpPr>
          <p:nvPr/>
        </p:nvSpPr>
        <p:spPr bwMode="auto">
          <a:xfrm>
            <a:off x="3593050" y="4622334"/>
            <a:ext cx="205184"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fontAlgn="base">
              <a:spcBef>
                <a:spcPct val="0"/>
              </a:spcBef>
              <a:spcAft>
                <a:spcPct val="0"/>
              </a:spcAft>
            </a:pPr>
            <a:r>
              <a:rPr kumimoji="1" lang="en-US" altLang="zh-CN" sz="2400" dirty="0">
                <a:solidFill>
                  <a:srgbClr val="FFFFFF"/>
                </a:solidFill>
                <a:effectLst>
                  <a:outerShdw blurRad="38100" dist="38100" dir="2700000" algn="tl">
                    <a:srgbClr val="000000"/>
                  </a:outerShdw>
                </a:effectLst>
                <a:latin typeface="Times New Roman" pitchFamily="18" charset="0"/>
                <a:ea typeface="楷体_GB2312" pitchFamily="49" charset="-122"/>
              </a:rPr>
              <a:t>C</a:t>
            </a:r>
          </a:p>
        </p:txBody>
      </p:sp>
      <p:graphicFrame>
        <p:nvGraphicFramePr>
          <p:cNvPr id="9" name="Group 690"/>
          <p:cNvGraphicFramePr>
            <a:graphicFrameLocks noGrp="1"/>
          </p:cNvGraphicFramePr>
          <p:nvPr>
            <p:extLst>
              <p:ext uri="{D42A27DB-BD31-4B8C-83A1-F6EECF244321}">
                <p14:modId xmlns:p14="http://schemas.microsoft.com/office/powerpoint/2010/main" val="298252375"/>
              </p:ext>
            </p:extLst>
          </p:nvPr>
        </p:nvGraphicFramePr>
        <p:xfrm>
          <a:off x="3535770" y="5018182"/>
          <a:ext cx="2120089" cy="966381"/>
        </p:xfrm>
        <a:graphic>
          <a:graphicData uri="http://schemas.openxmlformats.org/drawingml/2006/table">
            <a:tbl>
              <a:tblPr/>
              <a:tblGrid>
                <a:gridCol w="823946">
                  <a:extLst>
                    <a:ext uri="{9D8B030D-6E8A-4147-A177-3AD203B41FA5}">
                      <a16:colId xmlns:a16="http://schemas.microsoft.com/office/drawing/2014/main" val="20000"/>
                    </a:ext>
                  </a:extLst>
                </a:gridCol>
                <a:gridCol w="1296143">
                  <a:extLst>
                    <a:ext uri="{9D8B030D-6E8A-4147-A177-3AD203B41FA5}">
                      <a16:colId xmlns:a16="http://schemas.microsoft.com/office/drawing/2014/main" val="20001"/>
                    </a:ext>
                  </a:extLst>
                </a:gridCol>
              </a:tblGrid>
              <a:tr h="32212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2212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12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 name="Rectangle 708"/>
          <p:cNvSpPr>
            <a:spLocks noChangeArrowheads="1"/>
          </p:cNvSpPr>
          <p:nvPr/>
        </p:nvSpPr>
        <p:spPr bwMode="auto">
          <a:xfrm>
            <a:off x="5807968" y="1970298"/>
            <a:ext cx="6124288" cy="100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fontAlgn="base">
              <a:lnSpc>
                <a:spcPct val="90000"/>
              </a:lnSpc>
              <a:spcBef>
                <a:spcPct val="0"/>
              </a:spcBef>
              <a:spcAft>
                <a:spcPct val="0"/>
              </a:spcAft>
              <a:buClr>
                <a:srgbClr val="FFFFFF"/>
              </a:buClr>
              <a:buSzPct val="85000"/>
              <a:buFont typeface="Wingdings" pitchFamily="2" charset="2"/>
              <a:buNone/>
            </a:pPr>
            <a:r>
              <a:rPr kumimoji="1" lang="en-US" altLang="zh-CN" sz="4000" dirty="0">
                <a:solidFill>
                  <a:srgbClr val="99FF33"/>
                </a:solidFill>
                <a:effectLst>
                  <a:outerShdw blurRad="38100" dist="38100" dir="2700000" algn="tl">
                    <a:srgbClr val="000000"/>
                  </a:outerShdw>
                </a:effectLst>
                <a:latin typeface="楷体_GB2312" pitchFamily="49" charset="-122"/>
                <a:ea typeface="楷体_GB2312" pitchFamily="49" charset="-122"/>
              </a:rPr>
              <a:t>SELECT *</a:t>
            </a:r>
          </a:p>
          <a:p>
            <a:pPr algn="just" fontAlgn="base">
              <a:lnSpc>
                <a:spcPct val="90000"/>
              </a:lnSpc>
              <a:spcBef>
                <a:spcPct val="0"/>
              </a:spcBef>
              <a:spcAft>
                <a:spcPct val="0"/>
              </a:spcAft>
              <a:buClr>
                <a:srgbClr val="FFFFFF"/>
              </a:buClr>
              <a:buSzPct val="85000"/>
              <a:buFont typeface="Wingdings" pitchFamily="2" charset="2"/>
              <a:buNone/>
            </a:pPr>
            <a:r>
              <a:rPr kumimoji="1" lang="en-US" altLang="zh-CN" sz="4000" dirty="0">
                <a:solidFill>
                  <a:srgbClr val="99FF33"/>
                </a:solidFill>
                <a:effectLst>
                  <a:outerShdw blurRad="38100" dist="38100" dir="2700000" algn="tl">
                    <a:srgbClr val="000000"/>
                  </a:outerShdw>
                </a:effectLst>
                <a:latin typeface="楷体_GB2312" pitchFamily="49" charset="-122"/>
                <a:ea typeface="楷体_GB2312" pitchFamily="49" charset="-122"/>
              </a:rPr>
              <a:t>FROM ST </a:t>
            </a:r>
            <a:r>
              <a:rPr kumimoji="1" lang="en-US" altLang="zh-CN" sz="4000" dirty="0">
                <a:solidFill>
                  <a:srgbClr val="66FFFF"/>
                </a:solidFill>
                <a:effectLst>
                  <a:outerShdw blurRad="38100" dist="38100" dir="2700000" algn="tl">
                    <a:srgbClr val="000000"/>
                  </a:outerShdw>
                </a:effectLst>
                <a:latin typeface="楷体_GB2312" pitchFamily="49" charset="-122"/>
                <a:ea typeface="楷体_GB2312" pitchFamily="49" charset="-122"/>
              </a:rPr>
              <a:t>CROSS JOIN</a:t>
            </a:r>
            <a:r>
              <a:rPr kumimoji="1" lang="en-US" altLang="zh-CN" sz="4000" dirty="0">
                <a:solidFill>
                  <a:srgbClr val="99FF33"/>
                </a:solidFill>
                <a:effectLst>
                  <a:outerShdw blurRad="38100" dist="38100" dir="2700000" algn="tl">
                    <a:srgbClr val="000000"/>
                  </a:outerShdw>
                </a:effectLst>
                <a:latin typeface="楷体_GB2312" pitchFamily="49" charset="-122"/>
                <a:ea typeface="楷体_GB2312" pitchFamily="49" charset="-122"/>
              </a:rPr>
              <a:t> C</a:t>
            </a:r>
          </a:p>
        </p:txBody>
      </p:sp>
      <p:sp>
        <p:nvSpPr>
          <p:cNvPr id="11" name="Rectangle 709"/>
          <p:cNvSpPr>
            <a:spLocks noChangeArrowheads="1"/>
          </p:cNvSpPr>
          <p:nvPr/>
        </p:nvSpPr>
        <p:spPr bwMode="auto">
          <a:xfrm>
            <a:off x="438178" y="1970298"/>
            <a:ext cx="3424411" cy="100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fontAlgn="base">
              <a:lnSpc>
                <a:spcPct val="90000"/>
              </a:lnSpc>
              <a:spcBef>
                <a:spcPct val="0"/>
              </a:spcBef>
              <a:spcAft>
                <a:spcPct val="0"/>
              </a:spcAft>
              <a:buClr>
                <a:srgbClr val="FFFFFF"/>
              </a:buClr>
              <a:buSzPct val="85000"/>
              <a:buFont typeface="Wingdings" pitchFamily="2" charset="2"/>
              <a:buNone/>
            </a:pPr>
            <a:r>
              <a:rPr kumimoji="1" lang="en-US" altLang="zh-CN" sz="4000" dirty="0">
                <a:solidFill>
                  <a:srgbClr val="99FF33"/>
                </a:solidFill>
                <a:effectLst>
                  <a:outerShdw blurRad="38100" dist="38100" dir="2700000" algn="tl">
                    <a:srgbClr val="000000"/>
                  </a:outerShdw>
                </a:effectLst>
                <a:latin typeface="楷体_GB2312" pitchFamily="49" charset="-122"/>
                <a:ea typeface="楷体_GB2312" pitchFamily="49" charset="-122"/>
              </a:rPr>
              <a:t>SELECT *</a:t>
            </a:r>
          </a:p>
          <a:p>
            <a:pPr algn="just" fontAlgn="base">
              <a:lnSpc>
                <a:spcPct val="90000"/>
              </a:lnSpc>
              <a:spcBef>
                <a:spcPct val="0"/>
              </a:spcBef>
              <a:spcAft>
                <a:spcPct val="0"/>
              </a:spcAft>
              <a:buClr>
                <a:srgbClr val="FFFFFF"/>
              </a:buClr>
              <a:buSzPct val="85000"/>
              <a:buFont typeface="Wingdings" pitchFamily="2" charset="2"/>
              <a:buNone/>
            </a:pPr>
            <a:r>
              <a:rPr kumimoji="1" lang="en-US" altLang="zh-CN" sz="4000" dirty="0">
                <a:solidFill>
                  <a:srgbClr val="99FF33"/>
                </a:solidFill>
                <a:effectLst>
                  <a:outerShdw blurRad="38100" dist="38100" dir="2700000" algn="tl">
                    <a:srgbClr val="000000"/>
                  </a:outerShdw>
                </a:effectLst>
                <a:latin typeface="楷体_GB2312" pitchFamily="49" charset="-122"/>
                <a:ea typeface="楷体_GB2312" pitchFamily="49" charset="-122"/>
              </a:rPr>
              <a:t>FROM ST,</a:t>
            </a:r>
            <a:r>
              <a:rPr kumimoji="1" lang="zh-CN" altLang="en-US" sz="4000" dirty="0">
                <a:solidFill>
                  <a:srgbClr val="99FF33"/>
                </a:solidFill>
                <a:effectLst>
                  <a:outerShdw blurRad="38100" dist="38100" dir="2700000" algn="tl">
                    <a:srgbClr val="000000"/>
                  </a:outerShdw>
                </a:effectLst>
                <a:latin typeface="楷体_GB2312" pitchFamily="49" charset="-122"/>
                <a:ea typeface="楷体_GB2312" pitchFamily="49" charset="-122"/>
              </a:rPr>
              <a:t> </a:t>
            </a:r>
            <a:r>
              <a:rPr kumimoji="1" lang="en-US" altLang="zh-CN" sz="4000" dirty="0">
                <a:solidFill>
                  <a:srgbClr val="99FF33"/>
                </a:solidFill>
                <a:effectLst>
                  <a:outerShdw blurRad="38100" dist="38100" dir="2700000" algn="tl">
                    <a:srgbClr val="000000"/>
                  </a:outerShdw>
                </a:effectLst>
                <a:latin typeface="楷体_GB2312" pitchFamily="49" charset="-122"/>
                <a:ea typeface="楷体_GB2312" pitchFamily="49" charset="-122"/>
              </a:rPr>
              <a:t>C</a:t>
            </a:r>
          </a:p>
        </p:txBody>
      </p:sp>
      <p:sp>
        <p:nvSpPr>
          <p:cNvPr id="12" name="Rectangle 710"/>
          <p:cNvSpPr>
            <a:spLocks noChangeArrowheads="1"/>
          </p:cNvSpPr>
          <p:nvPr/>
        </p:nvSpPr>
        <p:spPr bwMode="auto">
          <a:xfrm>
            <a:off x="4132021" y="1916832"/>
            <a:ext cx="100806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30000"/>
              </a:spcAft>
              <a:buClr>
                <a:srgbClr val="66FF33"/>
              </a:buClr>
              <a:buSzPct val="85000"/>
              <a:buFont typeface="Wingdings" pitchFamily="2" charset="2"/>
              <a:buNone/>
            </a:pPr>
            <a:r>
              <a:rPr kumimoji="1" lang="zh-CN" altLang="en-US" sz="3200" b="1" dirty="0">
                <a:solidFill>
                  <a:srgbClr val="FFFFFF"/>
                </a:solidFill>
                <a:effectLst>
                  <a:outerShdw blurRad="38100" dist="38100" dir="2700000" algn="tl">
                    <a:srgbClr val="000000"/>
                  </a:outerShdw>
                </a:effectLst>
                <a:latin typeface="楷体_GB2312" pitchFamily="49" charset="-122"/>
                <a:ea typeface="楷体_GB2312" pitchFamily="49" charset="-122"/>
              </a:rPr>
              <a:t>等价</a:t>
            </a:r>
          </a:p>
        </p:txBody>
      </p:sp>
      <p:sp>
        <p:nvSpPr>
          <p:cNvPr id="13" name="AutoShape 711"/>
          <p:cNvSpPr>
            <a:spLocks noChangeArrowheads="1"/>
          </p:cNvSpPr>
          <p:nvPr/>
        </p:nvSpPr>
        <p:spPr bwMode="auto">
          <a:xfrm rot="-5400000">
            <a:off x="4433511" y="1970635"/>
            <a:ext cx="431800" cy="1546923"/>
          </a:xfrm>
          <a:prstGeom prst="upDownArrow">
            <a:avLst>
              <a:gd name="adj1" fmla="val 50000"/>
              <a:gd name="adj2" fmla="val 46618"/>
            </a:avLst>
          </a:prstGeom>
          <a:solidFill>
            <a:schemeClr val="accent6">
              <a:lumMod val="50000"/>
            </a:schemeClr>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fontAlgn="base">
              <a:spcBef>
                <a:spcPct val="0"/>
              </a:spcBef>
              <a:spcAft>
                <a:spcPct val="0"/>
              </a:spcAft>
              <a:defRPr/>
            </a:pPr>
            <a:endParaRPr lang="zh-CN" altLang="en-US" sz="3200" kern="0">
              <a:solidFill>
                <a:srgbClr val="FFFFFF"/>
              </a:solidFill>
              <a:latin typeface="Garamond" pitchFamily="18" charset="0"/>
              <a:ea typeface="宋体" pitchFamily="2" charset="-122"/>
            </a:endParaRPr>
          </a:p>
        </p:txBody>
      </p:sp>
      <p:sp>
        <p:nvSpPr>
          <p:cNvPr id="14" name="AutoShape 712"/>
          <p:cNvSpPr>
            <a:spLocks noChangeArrowheads="1"/>
          </p:cNvSpPr>
          <p:nvPr/>
        </p:nvSpPr>
        <p:spPr bwMode="auto">
          <a:xfrm rot="1018803">
            <a:off x="3106890" y="3649097"/>
            <a:ext cx="2589122" cy="361076"/>
          </a:xfrm>
          <a:prstGeom prst="rightArrow">
            <a:avLst>
              <a:gd name="adj1" fmla="val 50000"/>
              <a:gd name="adj2" fmla="val 87891"/>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algn="ctr" fontAlgn="base">
              <a:spcBef>
                <a:spcPct val="0"/>
              </a:spcBef>
              <a:spcAft>
                <a:spcPct val="0"/>
              </a:spcAft>
              <a:defRPr/>
            </a:pPr>
            <a:endParaRPr lang="zh-CN" altLang="en-US" sz="3200" kern="0">
              <a:solidFill>
                <a:srgbClr val="FFFFFF"/>
              </a:solidFill>
              <a:effectLst>
                <a:outerShdw blurRad="38100" dist="38100" dir="2700000" algn="tl">
                  <a:srgbClr val="000000"/>
                </a:outerShdw>
              </a:effectLst>
              <a:latin typeface="Garamond" pitchFamily="18" charset="0"/>
              <a:ea typeface="宋体" pitchFamily="2" charset="-122"/>
            </a:endParaRPr>
          </a:p>
        </p:txBody>
      </p:sp>
      <p:sp>
        <p:nvSpPr>
          <p:cNvPr id="15" name="AutoShape 713"/>
          <p:cNvSpPr>
            <a:spLocks noChangeArrowheads="1"/>
          </p:cNvSpPr>
          <p:nvPr/>
        </p:nvSpPr>
        <p:spPr bwMode="auto">
          <a:xfrm rot="5400000">
            <a:off x="7876772" y="3516738"/>
            <a:ext cx="503237" cy="336550"/>
          </a:xfrm>
          <a:prstGeom prst="rightArrow">
            <a:avLst>
              <a:gd name="adj1" fmla="val 50000"/>
              <a:gd name="adj2" fmla="val 37382"/>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fontAlgn="base">
              <a:spcBef>
                <a:spcPct val="0"/>
              </a:spcBef>
              <a:spcAft>
                <a:spcPct val="0"/>
              </a:spcAft>
              <a:defRPr/>
            </a:pPr>
            <a:endParaRPr lang="zh-CN" altLang="en-US" sz="3200" kern="0">
              <a:solidFill>
                <a:srgbClr val="FFFFFF"/>
              </a:solidFill>
              <a:latin typeface="Garamond" pitchFamily="18" charset="0"/>
              <a:ea typeface="宋体" pitchFamily="2" charset="-122"/>
            </a:endParaRPr>
          </a:p>
        </p:txBody>
      </p:sp>
    </p:spTree>
    <p:extLst>
      <p:ext uri="{BB962C8B-B14F-4D97-AF65-F5344CB8AC3E}">
        <p14:creationId xmlns:p14="http://schemas.microsoft.com/office/powerpoint/2010/main" val="3006594417"/>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67408" y="28576"/>
            <a:ext cx="1684289"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内连接</a:t>
            </a:r>
          </a:p>
        </p:txBody>
      </p:sp>
      <p:sp>
        <p:nvSpPr>
          <p:cNvPr id="27" name="Rectangle 4"/>
          <p:cNvSpPr txBox="1">
            <a:spLocks noChangeArrowheads="1"/>
          </p:cNvSpPr>
          <p:nvPr/>
        </p:nvSpPr>
        <p:spPr bwMode="auto">
          <a:xfrm>
            <a:off x="551384" y="909253"/>
            <a:ext cx="7056784" cy="120032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algn="just" eaLnBrk="1" hangingPunct="1">
              <a:spcAft>
                <a:spcPct val="50000"/>
              </a:spcAft>
              <a:buClr>
                <a:srgbClr val="FFC000"/>
              </a:buClr>
              <a:buFont typeface="Wingdings" pitchFamily="2" charset="2"/>
              <a:buChar char="§"/>
              <a:defRPr/>
            </a:pPr>
            <a:r>
              <a:rPr kumimoji="1" lang="zh-CN" altLang="en-US" sz="3600" dirty="0">
                <a:latin typeface="楷体_GB2312" pitchFamily="49" charset="-122"/>
              </a:rPr>
              <a:t>一般情况下的连接都是内连接，即只连接符合条件的行</a:t>
            </a:r>
            <a:endParaRPr kumimoji="1" lang="en-US" altLang="zh-CN" sz="3600" dirty="0">
              <a:latin typeface="楷体_GB2312" pitchFamily="49" charset="-122"/>
            </a:endParaRPr>
          </a:p>
        </p:txBody>
      </p:sp>
      <p:sp>
        <p:nvSpPr>
          <p:cNvPr id="28" name="Rectangle 5"/>
          <p:cNvSpPr>
            <a:spLocks noChangeArrowheads="1"/>
          </p:cNvSpPr>
          <p:nvPr/>
        </p:nvSpPr>
        <p:spPr bwMode="auto">
          <a:xfrm>
            <a:off x="767406" y="2796100"/>
            <a:ext cx="5801799" cy="1008062"/>
          </a:xfrm>
          <a:prstGeom prst="rect">
            <a:avLst/>
          </a:prstGeom>
          <a:noFill/>
          <a:ln w="9525">
            <a:noFill/>
            <a:miter lim="800000"/>
            <a:headEnd/>
            <a:tailEnd/>
          </a:ln>
          <a:effectLst/>
        </p:spPr>
        <p:txBody>
          <a:bodyPr/>
          <a:lstStyle/>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SELECT ST.</a:t>
            </a:r>
            <a:r>
              <a:rPr lang="zh-CN" altLang="en-US" sz="3200" kern="0" dirty="0">
                <a:solidFill>
                  <a:srgbClr val="99FF33"/>
                </a:solidFill>
                <a:effectLst>
                  <a:outerShdw blurRad="38100" dist="38100" dir="2700000" algn="tl">
                    <a:srgbClr val="000000"/>
                  </a:outerShdw>
                </a:effectLst>
              </a:rPr>
              <a:t>姓名</a:t>
            </a:r>
            <a:r>
              <a:rPr lang="en-US" altLang="zh-CN" sz="3200" kern="0" dirty="0">
                <a:solidFill>
                  <a:srgbClr val="99FF33"/>
                </a:solidFill>
                <a:effectLst>
                  <a:outerShdw blurRad="38100" dist="38100" dir="2700000" algn="tl">
                    <a:srgbClr val="000000"/>
                  </a:outerShdw>
                </a:effectLst>
              </a:rPr>
              <a:t>, C.</a:t>
            </a:r>
            <a:r>
              <a:rPr lang="zh-CN" altLang="en-US" sz="3200" kern="0" dirty="0">
                <a:solidFill>
                  <a:srgbClr val="99FF33"/>
                </a:solidFill>
                <a:effectLst>
                  <a:outerShdw blurRad="38100" dist="38100" dir="2700000" algn="tl">
                    <a:srgbClr val="000000"/>
                  </a:outerShdw>
                </a:effectLst>
              </a:rPr>
              <a:t>课名</a:t>
            </a:r>
          </a:p>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FROM </a:t>
            </a:r>
            <a:r>
              <a:rPr lang="en-US" altLang="zh-CN" sz="3200" kern="0" dirty="0">
                <a:solidFill>
                  <a:srgbClr val="FFFF00"/>
                </a:solidFill>
                <a:effectLst>
                  <a:outerShdw blurRad="38100" dist="38100" dir="2700000" algn="tl">
                    <a:srgbClr val="000000"/>
                  </a:outerShdw>
                </a:effectLst>
              </a:rPr>
              <a:t>ST,C</a:t>
            </a:r>
          </a:p>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WHERE </a:t>
            </a:r>
            <a:r>
              <a:rPr lang="en-US" altLang="zh-CN" sz="3200" kern="0" dirty="0">
                <a:solidFill>
                  <a:srgbClr val="66FFFF"/>
                </a:solidFill>
                <a:effectLst>
                  <a:outerShdw blurRad="38100" dist="38100" dir="2700000" algn="tl">
                    <a:srgbClr val="000000"/>
                  </a:outerShdw>
                </a:effectLst>
              </a:rPr>
              <a:t>ST.</a:t>
            </a:r>
            <a:r>
              <a:rPr lang="zh-CN" altLang="en-US" sz="3200" kern="0" dirty="0">
                <a:solidFill>
                  <a:srgbClr val="66FFFF"/>
                </a:solidFill>
                <a:effectLst>
                  <a:outerShdw blurRad="38100" dist="38100" dir="2700000" algn="tl">
                    <a:srgbClr val="000000"/>
                  </a:outerShdw>
                </a:effectLst>
              </a:rPr>
              <a:t>课号 </a:t>
            </a:r>
            <a:r>
              <a:rPr lang="en-US" altLang="zh-CN" sz="3200" kern="0" dirty="0">
                <a:solidFill>
                  <a:srgbClr val="66FFFF"/>
                </a:solidFill>
                <a:effectLst>
                  <a:outerShdw blurRad="38100" dist="38100" dir="2700000" algn="tl">
                    <a:srgbClr val="000000"/>
                  </a:outerShdw>
                </a:effectLst>
              </a:rPr>
              <a:t>= C.</a:t>
            </a:r>
            <a:r>
              <a:rPr lang="zh-CN" altLang="en-US" sz="3200" kern="0" dirty="0">
                <a:solidFill>
                  <a:srgbClr val="66FFFF"/>
                </a:solidFill>
                <a:effectLst>
                  <a:outerShdw blurRad="38100" dist="38100" dir="2700000" algn="tl">
                    <a:srgbClr val="000000"/>
                  </a:outerShdw>
                </a:effectLst>
              </a:rPr>
              <a:t>课号 </a:t>
            </a:r>
          </a:p>
        </p:txBody>
      </p:sp>
      <p:sp>
        <p:nvSpPr>
          <p:cNvPr id="29" name="Rectangle 6"/>
          <p:cNvSpPr>
            <a:spLocks noChangeArrowheads="1"/>
          </p:cNvSpPr>
          <p:nvPr/>
        </p:nvSpPr>
        <p:spPr bwMode="auto">
          <a:xfrm>
            <a:off x="810736" y="5156994"/>
            <a:ext cx="5913515" cy="1008062"/>
          </a:xfrm>
          <a:prstGeom prst="rect">
            <a:avLst/>
          </a:prstGeom>
          <a:noFill/>
          <a:ln w="9525">
            <a:noFill/>
            <a:miter lim="800000"/>
            <a:headEnd/>
            <a:tailEnd/>
          </a:ln>
          <a:effectLst/>
        </p:spPr>
        <p:txBody>
          <a:bodyPr/>
          <a:lstStyle/>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SELECT </a:t>
            </a:r>
            <a:r>
              <a:rPr lang="zh-CN" altLang="en-US" sz="3200" kern="0" dirty="0">
                <a:solidFill>
                  <a:srgbClr val="99FF33"/>
                </a:solidFill>
                <a:effectLst>
                  <a:outerShdw blurRad="38100" dist="38100" dir="2700000" algn="tl">
                    <a:srgbClr val="000000"/>
                  </a:outerShdw>
                </a:effectLst>
              </a:rPr>
              <a:t>姓名</a:t>
            </a:r>
            <a:r>
              <a:rPr lang="en-US" altLang="zh-CN" sz="3200" kern="0" dirty="0">
                <a:solidFill>
                  <a:srgbClr val="99FF33"/>
                </a:solidFill>
                <a:effectLst>
                  <a:outerShdw blurRad="38100" dist="38100" dir="2700000" algn="tl">
                    <a:srgbClr val="000000"/>
                  </a:outerShdw>
                </a:effectLst>
              </a:rPr>
              <a:t>,</a:t>
            </a:r>
            <a:r>
              <a:rPr lang="zh-CN" altLang="en-US" sz="3200" kern="0" dirty="0">
                <a:solidFill>
                  <a:srgbClr val="99FF33"/>
                </a:solidFill>
                <a:effectLst>
                  <a:outerShdw blurRad="38100" dist="38100" dir="2700000" algn="tl">
                    <a:srgbClr val="000000"/>
                  </a:outerShdw>
                </a:effectLst>
              </a:rPr>
              <a:t>课名</a:t>
            </a:r>
          </a:p>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FROM ST </a:t>
            </a:r>
            <a:r>
              <a:rPr lang="en-US" altLang="zh-CN" sz="3200" kern="0" dirty="0">
                <a:solidFill>
                  <a:srgbClr val="66FFFF"/>
                </a:solidFill>
                <a:effectLst>
                  <a:outerShdw blurRad="38100" dist="38100" dir="2700000" algn="tl">
                    <a:srgbClr val="000000"/>
                  </a:outerShdw>
                </a:effectLst>
              </a:rPr>
              <a:t>INNER</a:t>
            </a:r>
            <a:r>
              <a:rPr lang="en-US" altLang="zh-CN" sz="3200" kern="0" dirty="0">
                <a:solidFill>
                  <a:srgbClr val="99FF33"/>
                </a:solidFill>
                <a:effectLst>
                  <a:outerShdw blurRad="38100" dist="38100" dir="2700000" algn="tl">
                    <a:srgbClr val="000000"/>
                  </a:outerShdw>
                </a:effectLst>
              </a:rPr>
              <a:t> </a:t>
            </a:r>
            <a:r>
              <a:rPr lang="en-US" altLang="zh-CN" sz="3200" kern="0" dirty="0">
                <a:solidFill>
                  <a:srgbClr val="66FFFF"/>
                </a:solidFill>
                <a:effectLst>
                  <a:outerShdw blurRad="38100" dist="38100" dir="2700000" algn="tl">
                    <a:srgbClr val="000000"/>
                  </a:outerShdw>
                </a:effectLst>
              </a:rPr>
              <a:t>JOIN</a:t>
            </a:r>
            <a:r>
              <a:rPr lang="en-US" altLang="zh-CN" sz="3200" kern="0" dirty="0">
                <a:solidFill>
                  <a:srgbClr val="99FF33"/>
                </a:solidFill>
                <a:effectLst>
                  <a:outerShdw blurRad="38100" dist="38100" dir="2700000" algn="tl">
                    <a:srgbClr val="000000"/>
                  </a:outerShdw>
                </a:effectLst>
              </a:rPr>
              <a:t> C</a:t>
            </a:r>
          </a:p>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a:t>
            </a:r>
            <a:r>
              <a:rPr lang="en-US" altLang="zh-CN" sz="3200" kern="0" dirty="0">
                <a:solidFill>
                  <a:srgbClr val="66FFFF"/>
                </a:solidFill>
                <a:effectLst>
                  <a:outerShdw blurRad="38100" dist="38100" dir="2700000" algn="tl">
                    <a:srgbClr val="000000"/>
                  </a:outerShdw>
                </a:effectLst>
              </a:rPr>
              <a:t>ON</a:t>
            </a:r>
            <a:r>
              <a:rPr lang="en-US" altLang="zh-CN" sz="3200" kern="0" dirty="0">
                <a:solidFill>
                  <a:srgbClr val="99FF33"/>
                </a:solidFill>
                <a:effectLst>
                  <a:outerShdw blurRad="38100" dist="38100" dir="2700000" algn="tl">
                    <a:srgbClr val="000000"/>
                  </a:outerShdw>
                </a:effectLst>
              </a:rPr>
              <a:t> ST.</a:t>
            </a:r>
            <a:r>
              <a:rPr lang="zh-CN" altLang="en-US" sz="3200" kern="0" dirty="0">
                <a:solidFill>
                  <a:srgbClr val="99FF33"/>
                </a:solidFill>
                <a:effectLst>
                  <a:outerShdw blurRad="38100" dist="38100" dir="2700000" algn="tl">
                    <a:srgbClr val="000000"/>
                  </a:outerShdw>
                </a:effectLst>
              </a:rPr>
              <a:t>课号 </a:t>
            </a:r>
            <a:r>
              <a:rPr lang="en-US" altLang="zh-CN" sz="3200" kern="0" dirty="0">
                <a:solidFill>
                  <a:srgbClr val="99FF33"/>
                </a:solidFill>
                <a:effectLst>
                  <a:outerShdw blurRad="38100" dist="38100" dir="2700000" algn="tl">
                    <a:srgbClr val="000000"/>
                  </a:outerShdw>
                </a:effectLst>
              </a:rPr>
              <a:t>= C.</a:t>
            </a:r>
            <a:r>
              <a:rPr lang="zh-CN" altLang="en-US" sz="3200" kern="0" dirty="0">
                <a:solidFill>
                  <a:srgbClr val="99FF33"/>
                </a:solidFill>
                <a:effectLst>
                  <a:outerShdw blurRad="38100" dist="38100" dir="2700000" algn="tl">
                    <a:srgbClr val="000000"/>
                  </a:outerShdw>
                </a:effectLst>
              </a:rPr>
              <a:t>课号</a:t>
            </a:r>
            <a:endParaRPr lang="zh-CN" altLang="en-US" sz="3200" kern="0" dirty="0">
              <a:solidFill>
                <a:srgbClr val="CCFFCC"/>
              </a:solidFill>
              <a:effectLst>
                <a:outerShdw blurRad="38100" dist="38100" dir="2700000" algn="tl">
                  <a:srgbClr val="000000"/>
                </a:outerShdw>
              </a:effectLst>
              <a:latin typeface="Times New Roman" pitchFamily="18" charset="0"/>
            </a:endParaRPr>
          </a:p>
        </p:txBody>
      </p:sp>
      <p:sp>
        <p:nvSpPr>
          <p:cNvPr id="30" name="Rectangle 7"/>
          <p:cNvSpPr>
            <a:spLocks noChangeArrowheads="1"/>
          </p:cNvSpPr>
          <p:nvPr/>
        </p:nvSpPr>
        <p:spPr bwMode="auto">
          <a:xfrm>
            <a:off x="2640658" y="4498185"/>
            <a:ext cx="1008063" cy="523220"/>
          </a:xfrm>
          <a:prstGeom prst="rect">
            <a:avLst/>
          </a:prstGeom>
          <a:noFill/>
          <a:ln w="9525">
            <a:noFill/>
            <a:miter lim="800000"/>
            <a:headEnd/>
            <a:tailEnd/>
          </a:ln>
          <a:effectLst/>
        </p:spPr>
        <p:txBody>
          <a:bodyPr>
            <a:spAutoFit/>
          </a:bodyPr>
          <a:lstStyle/>
          <a:p>
            <a:pPr>
              <a:spcAft>
                <a:spcPct val="30000"/>
              </a:spcAft>
              <a:buClr>
                <a:srgbClr val="66FF33"/>
              </a:buClr>
              <a:buSzPct val="85000"/>
              <a:defRPr/>
            </a:pPr>
            <a:r>
              <a:rPr lang="zh-CN" altLang="en-US" sz="2800" kern="0">
                <a:solidFill>
                  <a:schemeClr val="bg1"/>
                </a:solidFill>
                <a:effectLst>
                  <a:outerShdw blurRad="38100" dist="38100" dir="2700000" algn="tl">
                    <a:srgbClr val="000000"/>
                  </a:outerShdw>
                </a:effectLst>
              </a:rPr>
              <a:t>等价</a:t>
            </a:r>
          </a:p>
        </p:txBody>
      </p:sp>
      <p:sp>
        <p:nvSpPr>
          <p:cNvPr id="31" name="AutoShape 8"/>
          <p:cNvSpPr>
            <a:spLocks noChangeArrowheads="1"/>
          </p:cNvSpPr>
          <p:nvPr/>
        </p:nvSpPr>
        <p:spPr bwMode="auto">
          <a:xfrm>
            <a:off x="2019897" y="4449905"/>
            <a:ext cx="431800" cy="571500"/>
          </a:xfrm>
          <a:prstGeom prst="upDownArrow">
            <a:avLst>
              <a:gd name="adj1" fmla="val 50000"/>
              <a:gd name="adj2" fmla="val 26471"/>
            </a:avLst>
          </a:prstGeom>
          <a:solidFill>
            <a:schemeClr val="accent6">
              <a:lumMod val="50000"/>
            </a:schemeClr>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a:defRPr/>
            </a:pPr>
            <a:endParaRPr lang="zh-CN" altLang="en-US" kern="0">
              <a:solidFill>
                <a:sysClr val="windowText" lastClr="000000"/>
              </a:solidFill>
            </a:endParaRPr>
          </a:p>
        </p:txBody>
      </p:sp>
      <p:graphicFrame>
        <p:nvGraphicFramePr>
          <p:cNvPr id="32" name="Group 9"/>
          <p:cNvGraphicFramePr>
            <a:graphicFrameLocks noGrp="1"/>
          </p:cNvGraphicFramePr>
          <p:nvPr>
            <p:extLst>
              <p:ext uri="{D42A27DB-BD31-4B8C-83A1-F6EECF244321}">
                <p14:modId xmlns:p14="http://schemas.microsoft.com/office/powerpoint/2010/main" val="145870647"/>
              </p:ext>
            </p:extLst>
          </p:nvPr>
        </p:nvGraphicFramePr>
        <p:xfrm>
          <a:off x="8115059" y="613081"/>
          <a:ext cx="3685710" cy="1828800"/>
        </p:xfrm>
        <a:graphic>
          <a:graphicData uri="http://schemas.openxmlformats.org/drawingml/2006/table">
            <a:tbl>
              <a:tblPr/>
              <a:tblGrid>
                <a:gridCol w="1260769">
                  <a:extLst>
                    <a:ext uri="{9D8B030D-6E8A-4147-A177-3AD203B41FA5}">
                      <a16:colId xmlns:a16="http://schemas.microsoft.com/office/drawing/2014/main" val="20000"/>
                    </a:ext>
                  </a:extLst>
                </a:gridCol>
                <a:gridCol w="1236002">
                  <a:extLst>
                    <a:ext uri="{9D8B030D-6E8A-4147-A177-3AD203B41FA5}">
                      <a16:colId xmlns:a16="http://schemas.microsoft.com/office/drawing/2014/main" val="20001"/>
                    </a:ext>
                  </a:extLst>
                </a:gridCol>
                <a:gridCol w="1188939">
                  <a:extLst>
                    <a:ext uri="{9D8B030D-6E8A-4147-A177-3AD203B41FA5}">
                      <a16:colId xmlns:a16="http://schemas.microsoft.com/office/drawing/2014/main" val="20002"/>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孙七</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3" name="Rectangle 49"/>
          <p:cNvSpPr>
            <a:spLocks noChangeArrowheads="1"/>
          </p:cNvSpPr>
          <p:nvPr/>
        </p:nvSpPr>
        <p:spPr bwMode="auto">
          <a:xfrm>
            <a:off x="8171225" y="173601"/>
            <a:ext cx="330219"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200" dirty="0">
                <a:solidFill>
                  <a:schemeClr val="bg1"/>
                </a:solidFill>
                <a:effectLst>
                  <a:outerShdw blurRad="38100" dist="38100" dir="2700000" algn="tl">
                    <a:srgbClr val="000000"/>
                  </a:outerShdw>
                </a:effectLst>
                <a:latin typeface="Times New Roman" pitchFamily="18" charset="0"/>
              </a:rPr>
              <a:t>ST</a:t>
            </a:r>
          </a:p>
        </p:txBody>
      </p:sp>
      <p:graphicFrame>
        <p:nvGraphicFramePr>
          <p:cNvPr id="34" name="Group 50"/>
          <p:cNvGraphicFramePr>
            <a:graphicFrameLocks noGrp="1"/>
          </p:cNvGraphicFramePr>
          <p:nvPr>
            <p:extLst>
              <p:ext uri="{D42A27DB-BD31-4B8C-83A1-F6EECF244321}">
                <p14:modId xmlns:p14="http://schemas.microsoft.com/office/powerpoint/2010/main" val="497203829"/>
              </p:ext>
            </p:extLst>
          </p:nvPr>
        </p:nvGraphicFramePr>
        <p:xfrm>
          <a:off x="8612235" y="2724663"/>
          <a:ext cx="3188534" cy="1524000"/>
        </p:xfrm>
        <a:graphic>
          <a:graphicData uri="http://schemas.openxmlformats.org/drawingml/2006/table">
            <a:tbl>
              <a:tblPr/>
              <a:tblGrid>
                <a:gridCol w="934570">
                  <a:extLst>
                    <a:ext uri="{9D8B030D-6E8A-4147-A177-3AD203B41FA5}">
                      <a16:colId xmlns:a16="http://schemas.microsoft.com/office/drawing/2014/main" val="20000"/>
                    </a:ext>
                  </a:extLst>
                </a:gridCol>
                <a:gridCol w="1484318">
                  <a:extLst>
                    <a:ext uri="{9D8B030D-6E8A-4147-A177-3AD203B41FA5}">
                      <a16:colId xmlns:a16="http://schemas.microsoft.com/office/drawing/2014/main" val="20001"/>
                    </a:ext>
                  </a:extLst>
                </a:gridCol>
                <a:gridCol w="769646">
                  <a:extLst>
                    <a:ext uri="{9D8B030D-6E8A-4147-A177-3AD203B41FA5}">
                      <a16:colId xmlns:a16="http://schemas.microsoft.com/office/drawing/2014/main" val="20002"/>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学分</a:t>
                      </a:r>
                    </a:p>
                  </a:txBody>
                  <a:tcPr marL="0" marR="0" marT="0" marB="0" horzOverflow="overflow">
                    <a:lnL w="12700" cap="flat" cmpd="sng" algn="ctr">
                      <a:solidFill>
                        <a:srgbClr val="FFFFFF"/>
                      </a:solidFill>
                      <a:prstDash val="solid"/>
                      <a:round/>
                      <a:headEnd type="none" w="med" len="med"/>
                      <a:tailEnd type="none" w="med" len="med"/>
                    </a:lnL>
                    <a:lnR>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4</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K03</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数据库</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K04</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a:t>
                      </a: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语言</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5" name="Rectangle 82"/>
          <p:cNvSpPr>
            <a:spLocks noChangeArrowheads="1"/>
          </p:cNvSpPr>
          <p:nvPr/>
        </p:nvSpPr>
        <p:spPr bwMode="auto">
          <a:xfrm>
            <a:off x="8135052" y="2724663"/>
            <a:ext cx="187552"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pPr>
            <a:r>
              <a:rPr lang="en-US" altLang="zh-CN" sz="2200">
                <a:solidFill>
                  <a:schemeClr val="bg1"/>
                </a:solidFill>
                <a:effectLst>
                  <a:outerShdw blurRad="38100" dist="38100" dir="2700000" algn="tl">
                    <a:srgbClr val="000000"/>
                  </a:outerShdw>
                </a:effectLst>
                <a:latin typeface="Times New Roman" pitchFamily="18" charset="0"/>
              </a:rPr>
              <a:t>C</a:t>
            </a:r>
          </a:p>
        </p:txBody>
      </p:sp>
      <p:graphicFrame>
        <p:nvGraphicFramePr>
          <p:cNvPr id="36" name="Group 83"/>
          <p:cNvGraphicFramePr>
            <a:graphicFrameLocks noGrp="1"/>
          </p:cNvGraphicFramePr>
          <p:nvPr>
            <p:extLst>
              <p:ext uri="{D42A27DB-BD31-4B8C-83A1-F6EECF244321}">
                <p14:modId xmlns:p14="http://schemas.microsoft.com/office/powerpoint/2010/main" val="253723682"/>
              </p:ext>
            </p:extLst>
          </p:nvPr>
        </p:nvGraphicFramePr>
        <p:xfrm>
          <a:off x="6776655" y="4759795"/>
          <a:ext cx="2755252" cy="1828800"/>
        </p:xfrm>
        <a:graphic>
          <a:graphicData uri="http://schemas.openxmlformats.org/drawingml/2006/table">
            <a:tbl>
              <a:tblPr/>
              <a:tblGrid>
                <a:gridCol w="1102101">
                  <a:extLst>
                    <a:ext uri="{9D8B030D-6E8A-4147-A177-3AD203B41FA5}">
                      <a16:colId xmlns:a16="http://schemas.microsoft.com/office/drawing/2014/main" val="20000"/>
                    </a:ext>
                  </a:extLst>
                </a:gridCol>
                <a:gridCol w="1653151">
                  <a:extLst>
                    <a:ext uri="{9D8B030D-6E8A-4147-A177-3AD203B41FA5}">
                      <a16:colId xmlns:a16="http://schemas.microsoft.com/office/drawing/2014/main" val="20001"/>
                    </a:ext>
                  </a:extLst>
                </a:gridCol>
              </a:tblGrid>
              <a:tr h="36576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anchor="ctr"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anchor="ctr"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6576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anchor="ctr"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anchor="ctr"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6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anchor="ctr"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anchor="ctr"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6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anchor="ctr"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anchor="ctr"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6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孙七</a:t>
                      </a:r>
                    </a:p>
                  </a:txBody>
                  <a:tcPr marL="0" marR="0" marT="0" marB="0" anchor="ctr"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anchor="ctr"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7" name="Rectangle 109"/>
          <p:cNvSpPr>
            <a:spLocks noChangeArrowheads="1"/>
          </p:cNvSpPr>
          <p:nvPr/>
        </p:nvSpPr>
        <p:spPr bwMode="auto">
          <a:xfrm>
            <a:off x="767408" y="2292862"/>
            <a:ext cx="6840760" cy="584775"/>
          </a:xfrm>
          <a:prstGeom prst="rect">
            <a:avLst/>
          </a:prstGeom>
          <a:noFill/>
          <a:ln w="9525">
            <a:noFill/>
            <a:miter lim="800000"/>
            <a:headEnd/>
            <a:tailEnd/>
          </a:ln>
          <a:effectLst/>
        </p:spPr>
        <p:txBody>
          <a:bodyPr wrap="square">
            <a:spAutoFit/>
          </a:bodyPr>
          <a:lstStyle/>
          <a:p>
            <a:pPr>
              <a:spcAft>
                <a:spcPct val="0"/>
              </a:spcAft>
              <a:buClr>
                <a:srgbClr val="66FF33"/>
              </a:buClr>
              <a:buSzPct val="85000"/>
              <a:defRPr/>
            </a:pPr>
            <a:r>
              <a:rPr lang="zh-CN" altLang="en-US" sz="3200" kern="0" dirty="0">
                <a:solidFill>
                  <a:schemeClr val="bg1"/>
                </a:solidFill>
                <a:effectLst>
                  <a:outerShdw blurRad="38100" dist="38100" dir="2700000" algn="tl">
                    <a:srgbClr val="000000"/>
                  </a:outerShdw>
                </a:effectLst>
              </a:rPr>
              <a:t>查询学生姓名及其所学课程的名称</a:t>
            </a:r>
            <a:endParaRPr lang="en-US" altLang="zh-CN" sz="3200" kern="0" dirty="0">
              <a:solidFill>
                <a:schemeClr val="bg1"/>
              </a:solidFill>
              <a:effectLst>
                <a:outerShdw blurRad="38100" dist="38100" dir="2700000" algn="tl">
                  <a:srgbClr val="000000"/>
                </a:outerShdw>
              </a:effectLst>
            </a:endParaRPr>
          </a:p>
        </p:txBody>
      </p:sp>
      <p:sp>
        <p:nvSpPr>
          <p:cNvPr id="38" name="AutoShape 110"/>
          <p:cNvSpPr>
            <a:spLocks noChangeArrowheads="1"/>
          </p:cNvSpPr>
          <p:nvPr/>
        </p:nvSpPr>
        <p:spPr bwMode="auto">
          <a:xfrm>
            <a:off x="9940093" y="4805057"/>
            <a:ext cx="1982552" cy="1439862"/>
          </a:xfrm>
          <a:prstGeom prst="wedgeRoundRectCallout">
            <a:avLst>
              <a:gd name="adj1" fmla="val -70354"/>
              <a:gd name="adj2" fmla="val -14150"/>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spcAft>
                <a:spcPct val="40000"/>
              </a:spcAft>
              <a:buClr>
                <a:srgbClr val="66FF33"/>
              </a:buClr>
              <a:buSzPct val="85000"/>
              <a:defRPr/>
            </a:pPr>
            <a:r>
              <a:rPr lang="zh-CN" altLang="en-US" sz="2800" kern="0">
                <a:solidFill>
                  <a:srgbClr val="FFFFCC"/>
                </a:solidFill>
                <a:effectLst>
                  <a:outerShdw blurRad="38100" dist="38100" dir="2700000" algn="tl">
                    <a:srgbClr val="000000"/>
                  </a:outerShdw>
                </a:effectLst>
                <a:latin typeface="Times New Roman" pitchFamily="18" charset="0"/>
              </a:rPr>
              <a:t>赵六呢？</a:t>
            </a:r>
          </a:p>
          <a:p>
            <a:pPr>
              <a:spcAft>
                <a:spcPct val="40000"/>
              </a:spcAft>
              <a:buClr>
                <a:srgbClr val="66FF33"/>
              </a:buClr>
              <a:buSzPct val="85000"/>
              <a:defRPr/>
            </a:pPr>
            <a:r>
              <a:rPr lang="en-US" altLang="zh-CN" sz="2800" kern="0">
                <a:solidFill>
                  <a:srgbClr val="FFFFCC"/>
                </a:solidFill>
                <a:effectLst>
                  <a:outerShdw blurRad="38100" dist="38100" dir="2700000" algn="tl">
                    <a:srgbClr val="000000"/>
                  </a:outerShdw>
                </a:effectLst>
                <a:latin typeface="Times New Roman" pitchFamily="18" charset="0"/>
              </a:rPr>
              <a:t>C</a:t>
            </a:r>
            <a:r>
              <a:rPr lang="zh-CN" altLang="en-US" sz="2800" kern="0">
                <a:solidFill>
                  <a:srgbClr val="FFFFCC"/>
                </a:solidFill>
                <a:effectLst>
                  <a:outerShdw blurRad="38100" dist="38100" dir="2700000" algn="tl">
                    <a:srgbClr val="000000"/>
                  </a:outerShdw>
                </a:effectLst>
                <a:latin typeface="Times New Roman" pitchFamily="18" charset="0"/>
              </a:rPr>
              <a:t>语言和数据库课呢？</a:t>
            </a:r>
          </a:p>
        </p:txBody>
      </p:sp>
      <p:sp>
        <p:nvSpPr>
          <p:cNvPr id="15" name="AutoShape 712"/>
          <p:cNvSpPr>
            <a:spLocks noChangeArrowheads="1"/>
          </p:cNvSpPr>
          <p:nvPr/>
        </p:nvSpPr>
        <p:spPr bwMode="auto">
          <a:xfrm rot="2127635">
            <a:off x="5287312" y="3766063"/>
            <a:ext cx="1633162" cy="361076"/>
          </a:xfrm>
          <a:prstGeom prst="rightArrow">
            <a:avLst>
              <a:gd name="adj1" fmla="val 50000"/>
              <a:gd name="adj2" fmla="val 87891"/>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algn="ctr" fontAlgn="base">
              <a:spcBef>
                <a:spcPct val="0"/>
              </a:spcBef>
              <a:spcAft>
                <a:spcPct val="0"/>
              </a:spcAft>
              <a:defRPr/>
            </a:pPr>
            <a:endParaRPr lang="zh-CN" altLang="en-US" sz="3200" kern="0">
              <a:solidFill>
                <a:srgbClr val="FFFFFF"/>
              </a:solidFill>
              <a:effectLst>
                <a:outerShdw blurRad="38100" dist="38100" dir="2700000" algn="tl">
                  <a:srgbClr val="000000"/>
                </a:outerShdw>
              </a:effectLst>
              <a:latin typeface="Garamond" pitchFamily="18" charset="0"/>
              <a:ea typeface="宋体" pitchFamily="2" charset="-122"/>
            </a:endParaRPr>
          </a:p>
        </p:txBody>
      </p:sp>
      <p:sp>
        <p:nvSpPr>
          <p:cNvPr id="16" name="AutoShape 712"/>
          <p:cNvSpPr>
            <a:spLocks noChangeArrowheads="1"/>
          </p:cNvSpPr>
          <p:nvPr/>
        </p:nvSpPr>
        <p:spPr bwMode="auto">
          <a:xfrm>
            <a:off x="5601373" y="5854563"/>
            <a:ext cx="1005038" cy="361076"/>
          </a:xfrm>
          <a:prstGeom prst="rightArrow">
            <a:avLst>
              <a:gd name="adj1" fmla="val 50000"/>
              <a:gd name="adj2" fmla="val 87891"/>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algn="ctr" fontAlgn="base">
              <a:spcBef>
                <a:spcPct val="0"/>
              </a:spcBef>
              <a:spcAft>
                <a:spcPct val="0"/>
              </a:spcAft>
              <a:defRPr/>
            </a:pPr>
            <a:endParaRPr lang="zh-CN" altLang="en-US" sz="3200" kern="0">
              <a:solidFill>
                <a:srgbClr val="FFFFFF"/>
              </a:solidFill>
              <a:effectLst>
                <a:outerShdw blurRad="38100" dist="38100" dir="2700000" algn="tl">
                  <a:srgbClr val="000000"/>
                </a:outerShdw>
              </a:effectLst>
              <a:latin typeface="Garamond" pitchFamily="18" charset="0"/>
              <a:ea typeface="宋体" pitchFamily="2" charset="-122"/>
            </a:endParaRPr>
          </a:p>
        </p:txBody>
      </p:sp>
    </p:spTree>
    <p:extLst>
      <p:ext uri="{BB962C8B-B14F-4D97-AF65-F5344CB8AC3E}">
        <p14:creationId xmlns:p14="http://schemas.microsoft.com/office/powerpoint/2010/main" val="2423940027"/>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3">
            <a:extLst>
              <a:ext uri="{FF2B5EF4-FFF2-40B4-BE49-F238E27FC236}">
                <a16:creationId xmlns:a16="http://schemas.microsoft.com/office/drawing/2014/main" id="{3614AC0D-DAE4-4F4E-9A4A-215F57135860}"/>
              </a:ext>
            </a:extLst>
          </p:cNvPr>
          <p:cNvSpPr>
            <a:spLocks noGrp="1" noChangeArrowheads="1"/>
          </p:cNvSpPr>
          <p:nvPr>
            <p:ph type="body" idx="1"/>
          </p:nvPr>
        </p:nvSpPr>
        <p:spPr>
          <a:xfrm>
            <a:off x="1828800" y="381000"/>
            <a:ext cx="8305800" cy="6172200"/>
          </a:xfrm>
        </p:spPr>
        <p:txBody>
          <a:bodyPr/>
          <a:lstStyle/>
          <a:p>
            <a:pPr eaLnBrk="1" hangingPunct="1">
              <a:lnSpc>
                <a:spcPct val="90000"/>
              </a:lnSpc>
            </a:pPr>
            <a:r>
              <a:rPr lang="zh-CN" altLang="en-US" b="1">
                <a:solidFill>
                  <a:schemeClr val="bg2"/>
                </a:solidFill>
                <a:latin typeface="微软雅黑" panose="020B0503020204020204" pitchFamily="34" charset="-122"/>
                <a:ea typeface="微软雅黑" panose="020B0503020204020204" pitchFamily="34" charset="-122"/>
              </a:rPr>
              <a:t>查询选修了</a:t>
            </a:r>
            <a:r>
              <a:rPr lang="en-US" altLang="zh-CN" b="1">
                <a:solidFill>
                  <a:schemeClr val="bg2"/>
                </a:solidFill>
                <a:latin typeface="微软雅黑" panose="020B0503020204020204" pitchFamily="34" charset="-122"/>
                <a:ea typeface="微软雅黑" panose="020B0503020204020204" pitchFamily="34" charset="-122"/>
              </a:rPr>
              <a:t>C01</a:t>
            </a:r>
            <a:r>
              <a:rPr lang="zh-CN" altLang="en-US" b="1">
                <a:solidFill>
                  <a:schemeClr val="bg2"/>
                </a:solidFill>
                <a:latin typeface="微软雅黑" panose="020B0503020204020204" pitchFamily="34" charset="-122"/>
                <a:ea typeface="微软雅黑" panose="020B0503020204020204" pitchFamily="34" charset="-122"/>
              </a:rPr>
              <a:t>号课程的学生学号和姓名。</a:t>
            </a:r>
          </a:p>
          <a:p>
            <a:pPr eaLnBrk="1" hangingPunct="1">
              <a:lnSpc>
                <a:spcPct val="150000"/>
              </a:lnSpc>
            </a:pPr>
            <a:r>
              <a:rPr lang="en-US" altLang="zh-CN" noProof="1">
                <a:solidFill>
                  <a:schemeClr val="bg2"/>
                </a:solidFill>
                <a:latin typeface="微软雅黑" panose="020B0503020204020204" pitchFamily="34" charset="-122"/>
                <a:ea typeface="微软雅黑" panose="020B0503020204020204" pitchFamily="34" charset="-122"/>
              </a:rPr>
              <a:t>Select S.sno, sname From S Join SC on S.sno=SC.sno Where SC.cno='C01‘</a:t>
            </a:r>
            <a:endParaRPr lang="en-US" altLang="zh-CN">
              <a:solidFill>
                <a:schemeClr val="bg2"/>
              </a:solidFill>
              <a:latin typeface="微软雅黑" panose="020B0503020204020204" pitchFamily="34" charset="-122"/>
              <a:ea typeface="微软雅黑" panose="020B0503020204020204" pitchFamily="34" charset="-122"/>
            </a:endParaRPr>
          </a:p>
          <a:p>
            <a:pPr eaLnBrk="1" hangingPunct="1">
              <a:lnSpc>
                <a:spcPct val="90000"/>
              </a:lnSpc>
            </a:pPr>
            <a:r>
              <a:rPr lang="zh-CN" altLang="en-US" b="1">
                <a:solidFill>
                  <a:schemeClr val="bg2"/>
                </a:solidFill>
                <a:latin typeface="微软雅黑" panose="020B0503020204020204" pitchFamily="34" charset="-122"/>
                <a:ea typeface="微软雅黑" panose="020B0503020204020204" pitchFamily="34" charset="-122"/>
              </a:rPr>
              <a:t>等同于</a:t>
            </a:r>
          </a:p>
          <a:p>
            <a:pPr eaLnBrk="1" hangingPunct="1">
              <a:lnSpc>
                <a:spcPct val="150000"/>
              </a:lnSpc>
            </a:pPr>
            <a:r>
              <a:rPr lang="en-US" altLang="zh-CN" noProof="1">
                <a:solidFill>
                  <a:schemeClr val="bg2"/>
                </a:solidFill>
                <a:latin typeface="微软雅黑" panose="020B0503020204020204" pitchFamily="34" charset="-122"/>
                <a:ea typeface="微软雅黑" panose="020B0503020204020204" pitchFamily="34" charset="-122"/>
              </a:rPr>
              <a:t>Select S.sno, sname From S, SC Where S.sno=SC.sno and SC.cno='C01‘</a:t>
            </a:r>
            <a:endParaRPr lang="en-US" altLang="zh-CN">
              <a:solidFill>
                <a:schemeClr val="bg2"/>
              </a:solidFill>
              <a:latin typeface="微软雅黑" panose="020B0503020204020204" pitchFamily="34" charset="-122"/>
              <a:ea typeface="微软雅黑" panose="020B0503020204020204" pitchFamily="34" charset="-122"/>
            </a:endParaRPr>
          </a:p>
          <a:p>
            <a:pPr eaLnBrk="1" hangingPunct="1">
              <a:lnSpc>
                <a:spcPct val="90000"/>
              </a:lnSpc>
            </a:pPr>
            <a:r>
              <a:rPr lang="en-US" altLang="zh-CN" b="1">
                <a:solidFill>
                  <a:schemeClr val="bg2"/>
                </a:solidFill>
                <a:latin typeface="微软雅黑" panose="020B0503020204020204" pitchFamily="34" charset="-122"/>
                <a:ea typeface="微软雅黑" panose="020B0503020204020204" pitchFamily="34" charset="-122"/>
              </a:rPr>
              <a:t>WHERE</a:t>
            </a:r>
            <a:r>
              <a:rPr lang="zh-CN" altLang="en-US" b="1">
                <a:solidFill>
                  <a:schemeClr val="bg2"/>
                </a:solidFill>
                <a:latin typeface="微软雅黑" panose="020B0503020204020204" pitchFamily="34" charset="-122"/>
                <a:ea typeface="微软雅黑" panose="020B0503020204020204" pitchFamily="34" charset="-122"/>
              </a:rPr>
              <a:t>子句中使用的连接语句，被称为</a:t>
            </a:r>
            <a:r>
              <a:rPr lang="zh-CN" altLang="en-US" b="1">
                <a:solidFill>
                  <a:srgbClr val="FF0000"/>
                </a:solidFill>
                <a:latin typeface="微软雅黑" panose="020B0503020204020204" pitchFamily="34" charset="-122"/>
                <a:ea typeface="微软雅黑" panose="020B0503020204020204" pitchFamily="34" charset="-122"/>
              </a:rPr>
              <a:t>隐性连接</a:t>
            </a:r>
            <a:r>
              <a:rPr lang="zh-CN" altLang="en-US" b="1">
                <a:solidFill>
                  <a:schemeClr val="bg2"/>
                </a:solidFill>
                <a:latin typeface="微软雅黑" panose="020B0503020204020204" pitchFamily="34" charset="-122"/>
                <a:ea typeface="微软雅黑" panose="020B0503020204020204" pitchFamily="34" charset="-122"/>
              </a:rPr>
              <a:t>，</a:t>
            </a:r>
            <a:r>
              <a:rPr lang="en-US" altLang="zh-CN" b="1">
                <a:solidFill>
                  <a:schemeClr val="bg2"/>
                </a:solidFill>
                <a:latin typeface="微软雅黑" panose="020B0503020204020204" pitchFamily="34" charset="-122"/>
                <a:ea typeface="微软雅黑" panose="020B0503020204020204" pitchFamily="34" charset="-122"/>
              </a:rPr>
              <a:t>INNER JOIN</a:t>
            </a:r>
            <a:r>
              <a:rPr lang="zh-CN" altLang="en-US" b="1">
                <a:solidFill>
                  <a:schemeClr val="bg2"/>
                </a:solidFill>
                <a:latin typeface="微软雅黑" panose="020B0503020204020204" pitchFamily="34" charset="-122"/>
                <a:ea typeface="微软雅黑" panose="020B0503020204020204" pitchFamily="34" charset="-122"/>
              </a:rPr>
              <a:t>子句产生的连接称为</a:t>
            </a:r>
            <a:r>
              <a:rPr lang="zh-CN" altLang="en-US" b="1">
                <a:solidFill>
                  <a:srgbClr val="FF0000"/>
                </a:solidFill>
                <a:latin typeface="微软雅黑" panose="020B0503020204020204" pitchFamily="34" charset="-122"/>
                <a:ea typeface="微软雅黑" panose="020B0503020204020204" pitchFamily="34" charset="-122"/>
              </a:rPr>
              <a:t>显性连接</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67408" y="0"/>
            <a:ext cx="1684289"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外连接</a:t>
            </a:r>
          </a:p>
        </p:txBody>
      </p:sp>
      <p:sp>
        <p:nvSpPr>
          <p:cNvPr id="19" name="Rectangle 4"/>
          <p:cNvSpPr txBox="1">
            <a:spLocks noChangeArrowheads="1"/>
          </p:cNvSpPr>
          <p:nvPr/>
        </p:nvSpPr>
        <p:spPr bwMode="auto">
          <a:xfrm>
            <a:off x="479376" y="783848"/>
            <a:ext cx="11012838" cy="126188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algn="just" eaLnBrk="1" hangingPunct="1">
              <a:spcAft>
                <a:spcPct val="50000"/>
              </a:spcAft>
              <a:buClr>
                <a:srgbClr val="FFC000"/>
              </a:buClr>
              <a:buFont typeface="Wingdings" pitchFamily="2" charset="2"/>
              <a:buChar char="§"/>
              <a:defRPr/>
            </a:pPr>
            <a:r>
              <a:rPr kumimoji="1" lang="zh-CN" altLang="en-US" sz="3600" dirty="0">
                <a:latin typeface="楷体_GB2312" pitchFamily="49" charset="-122"/>
              </a:rPr>
              <a:t>要查询其中一张连接表的所有行时就需要用</a:t>
            </a:r>
            <a:r>
              <a:rPr kumimoji="1" lang="zh-CN" altLang="en-US" sz="4000" b="1" dirty="0">
                <a:solidFill>
                  <a:srgbClr val="FFFF00"/>
                </a:solidFill>
                <a:latin typeface="楷体_GB2312" pitchFamily="49" charset="-122"/>
              </a:rPr>
              <a:t>外连接</a:t>
            </a:r>
            <a:r>
              <a:rPr kumimoji="1" lang="zh-CN" altLang="en-US" sz="3600" dirty="0">
                <a:latin typeface="楷体_GB2312" pitchFamily="49" charset="-122"/>
              </a:rPr>
              <a:t>，结果中用空值</a:t>
            </a:r>
            <a:r>
              <a:rPr kumimoji="1" lang="en-US" altLang="zh-CN" sz="3600" dirty="0">
                <a:latin typeface="楷体_GB2312" pitchFamily="49" charset="-122"/>
              </a:rPr>
              <a:t>(NULL)</a:t>
            </a:r>
            <a:r>
              <a:rPr kumimoji="1" lang="zh-CN" altLang="en-US" sz="3600" dirty="0">
                <a:latin typeface="楷体_GB2312" pitchFamily="49" charset="-122"/>
              </a:rPr>
              <a:t>来填充无法连接的数据</a:t>
            </a:r>
            <a:endParaRPr kumimoji="1" lang="zh-CN" altLang="en-US" sz="3600" dirty="0">
              <a:solidFill>
                <a:srgbClr val="66FFFF"/>
              </a:solidFill>
              <a:latin typeface="楷体_GB2312" pitchFamily="49" charset="-122"/>
            </a:endParaRPr>
          </a:p>
        </p:txBody>
      </p:sp>
      <p:graphicFrame>
        <p:nvGraphicFramePr>
          <p:cNvPr id="20" name="Group 5"/>
          <p:cNvGraphicFramePr>
            <a:graphicFrameLocks noGrp="1"/>
          </p:cNvGraphicFramePr>
          <p:nvPr>
            <p:extLst>
              <p:ext uri="{D42A27DB-BD31-4B8C-83A1-F6EECF244321}">
                <p14:modId xmlns:p14="http://schemas.microsoft.com/office/powerpoint/2010/main" val="4013163203"/>
              </p:ext>
            </p:extLst>
          </p:nvPr>
        </p:nvGraphicFramePr>
        <p:xfrm>
          <a:off x="8807523" y="4815260"/>
          <a:ext cx="2543920" cy="1828800"/>
        </p:xfrm>
        <a:graphic>
          <a:graphicData uri="http://schemas.openxmlformats.org/drawingml/2006/table">
            <a:tbl>
              <a:tblPr/>
              <a:tblGrid>
                <a:gridCol w="870198">
                  <a:extLst>
                    <a:ext uri="{9D8B030D-6E8A-4147-A177-3AD203B41FA5}">
                      <a16:colId xmlns:a16="http://schemas.microsoft.com/office/drawing/2014/main" val="20000"/>
                    </a:ext>
                  </a:extLst>
                </a:gridCol>
                <a:gridCol w="853103">
                  <a:extLst>
                    <a:ext uri="{9D8B030D-6E8A-4147-A177-3AD203B41FA5}">
                      <a16:colId xmlns:a16="http://schemas.microsoft.com/office/drawing/2014/main" val="20001"/>
                    </a:ext>
                  </a:extLst>
                </a:gridCol>
                <a:gridCol w="820619">
                  <a:extLst>
                    <a:ext uri="{9D8B030D-6E8A-4147-A177-3AD203B41FA5}">
                      <a16:colId xmlns:a16="http://schemas.microsoft.com/office/drawing/2014/main" val="20002"/>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孙七</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21" name="Group 45"/>
          <p:cNvGraphicFramePr>
            <a:graphicFrameLocks noGrp="1"/>
          </p:cNvGraphicFramePr>
          <p:nvPr>
            <p:extLst>
              <p:ext uri="{D42A27DB-BD31-4B8C-83A1-F6EECF244321}">
                <p14:modId xmlns:p14="http://schemas.microsoft.com/office/powerpoint/2010/main" val="4009056273"/>
              </p:ext>
            </p:extLst>
          </p:nvPr>
        </p:nvGraphicFramePr>
        <p:xfrm>
          <a:off x="8807523" y="2981165"/>
          <a:ext cx="2209800" cy="1524000"/>
        </p:xfrm>
        <a:graphic>
          <a:graphicData uri="http://schemas.openxmlformats.org/drawingml/2006/table">
            <a:tbl>
              <a:tblPr/>
              <a:tblGrid>
                <a:gridCol w="647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学分</a:t>
                      </a:r>
                    </a:p>
                  </a:txBody>
                  <a:tcPr marL="0" marR="0" marT="0" marB="0" horzOverflow="overflow">
                    <a:lnL w="12700" cap="flat" cmpd="sng" algn="ctr">
                      <a:solidFill>
                        <a:srgbClr val="FFFFFF"/>
                      </a:solidFill>
                      <a:prstDash val="solid"/>
                      <a:round/>
                      <a:headEnd type="none" w="med" len="med"/>
                      <a:tailEnd type="none" w="med" len="med"/>
                    </a:lnL>
                    <a:lnR>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4</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K03</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数据库</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K04</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a:t>
                      </a: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语言</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9" name="Rectangle 77"/>
          <p:cNvSpPr>
            <a:spLocks noChangeArrowheads="1"/>
          </p:cNvSpPr>
          <p:nvPr/>
        </p:nvSpPr>
        <p:spPr bwMode="auto">
          <a:xfrm>
            <a:off x="8353521" y="4815260"/>
            <a:ext cx="330219"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200" dirty="0">
                <a:solidFill>
                  <a:schemeClr val="bg1"/>
                </a:solidFill>
                <a:effectLst>
                  <a:outerShdw blurRad="38100" dist="38100" dir="2700000" algn="tl">
                    <a:srgbClr val="000000"/>
                  </a:outerShdw>
                </a:effectLst>
                <a:latin typeface="Times New Roman" pitchFamily="18" charset="0"/>
              </a:rPr>
              <a:t>ST</a:t>
            </a:r>
          </a:p>
        </p:txBody>
      </p:sp>
      <p:sp>
        <p:nvSpPr>
          <p:cNvPr id="30" name="Rectangle 78"/>
          <p:cNvSpPr>
            <a:spLocks noChangeArrowheads="1"/>
          </p:cNvSpPr>
          <p:nvPr/>
        </p:nvSpPr>
        <p:spPr bwMode="auto">
          <a:xfrm>
            <a:off x="8470037" y="2974479"/>
            <a:ext cx="187552"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pPr>
            <a:r>
              <a:rPr lang="en-US" altLang="zh-CN" sz="2200">
                <a:solidFill>
                  <a:schemeClr val="bg1"/>
                </a:solidFill>
                <a:effectLst>
                  <a:outerShdw blurRad="38100" dist="38100" dir="2700000" algn="tl">
                    <a:srgbClr val="000000"/>
                  </a:outerShdw>
                </a:effectLst>
                <a:latin typeface="Times New Roman" pitchFamily="18" charset="0"/>
              </a:rPr>
              <a:t>C</a:t>
            </a:r>
          </a:p>
        </p:txBody>
      </p:sp>
      <p:sp>
        <p:nvSpPr>
          <p:cNvPr id="31" name="Rectangle 79"/>
          <p:cNvSpPr>
            <a:spLocks noChangeArrowheads="1"/>
          </p:cNvSpPr>
          <p:nvPr/>
        </p:nvSpPr>
        <p:spPr bwMode="auto">
          <a:xfrm>
            <a:off x="1842242" y="2870391"/>
            <a:ext cx="5823443" cy="1008063"/>
          </a:xfrm>
          <a:prstGeom prst="rect">
            <a:avLst/>
          </a:prstGeom>
          <a:noFill/>
          <a:ln w="9525">
            <a:noFill/>
            <a:miter lim="800000"/>
            <a:headEnd/>
            <a:tailEnd/>
          </a:ln>
          <a:effectLst/>
        </p:spPr>
        <p:txBody>
          <a:bodyPr/>
          <a:lstStyle/>
          <a:p>
            <a:pPr algn="just">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SELECT </a:t>
            </a:r>
            <a:r>
              <a:rPr lang="zh-CN" altLang="en-US" sz="3600" kern="0" dirty="0">
                <a:solidFill>
                  <a:srgbClr val="99FF33"/>
                </a:solidFill>
                <a:effectLst>
                  <a:outerShdw blurRad="38100" dist="38100" dir="2700000" algn="tl">
                    <a:srgbClr val="000000"/>
                  </a:outerShdw>
                </a:effectLst>
              </a:rPr>
              <a:t>姓名</a:t>
            </a:r>
            <a:r>
              <a:rPr lang="en-US" altLang="zh-CN" sz="3600" kern="0" dirty="0">
                <a:solidFill>
                  <a:srgbClr val="99FF33"/>
                </a:solidFill>
                <a:effectLst>
                  <a:outerShdw blurRad="38100" dist="38100" dir="2700000" algn="tl">
                    <a:srgbClr val="000000"/>
                  </a:outerShdw>
                </a:effectLst>
              </a:rPr>
              <a:t>,</a:t>
            </a:r>
            <a:r>
              <a:rPr lang="zh-CN" altLang="en-US" sz="3600" kern="0" dirty="0">
                <a:solidFill>
                  <a:srgbClr val="99FF33"/>
                </a:solidFill>
                <a:effectLst>
                  <a:outerShdw blurRad="38100" dist="38100" dir="2700000" algn="tl">
                    <a:srgbClr val="000000"/>
                  </a:outerShdw>
                </a:effectLst>
              </a:rPr>
              <a:t>课名</a:t>
            </a:r>
          </a:p>
          <a:p>
            <a:pPr algn="just">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FROM ST </a:t>
            </a:r>
            <a:r>
              <a:rPr lang="en-US" altLang="zh-CN" sz="3600" kern="0" dirty="0">
                <a:solidFill>
                  <a:srgbClr val="66FFFF"/>
                </a:solidFill>
                <a:effectLst>
                  <a:outerShdw blurRad="38100" dist="38100" dir="2700000" algn="tl">
                    <a:srgbClr val="000000"/>
                  </a:outerShdw>
                </a:effectLst>
              </a:rPr>
              <a:t>LEFT OUTER JOIN</a:t>
            </a:r>
            <a:r>
              <a:rPr lang="en-US" altLang="zh-CN" sz="3600" kern="0" dirty="0">
                <a:solidFill>
                  <a:srgbClr val="99FF33"/>
                </a:solidFill>
                <a:effectLst>
                  <a:outerShdw blurRad="38100" dist="38100" dir="2700000" algn="tl">
                    <a:srgbClr val="000000"/>
                  </a:outerShdw>
                </a:effectLst>
              </a:rPr>
              <a:t> C</a:t>
            </a:r>
          </a:p>
          <a:p>
            <a:pPr algn="just">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     </a:t>
            </a:r>
            <a:r>
              <a:rPr lang="en-US" altLang="zh-CN" sz="3600" kern="0" dirty="0">
                <a:solidFill>
                  <a:srgbClr val="66FFFF"/>
                </a:solidFill>
                <a:effectLst>
                  <a:outerShdw blurRad="38100" dist="38100" dir="2700000" algn="tl">
                    <a:srgbClr val="000000"/>
                  </a:outerShdw>
                </a:effectLst>
              </a:rPr>
              <a:t>ON</a:t>
            </a:r>
            <a:r>
              <a:rPr lang="en-US" altLang="zh-CN" sz="3600" kern="0" dirty="0">
                <a:solidFill>
                  <a:srgbClr val="99FF33"/>
                </a:solidFill>
                <a:effectLst>
                  <a:outerShdw blurRad="38100" dist="38100" dir="2700000" algn="tl">
                    <a:srgbClr val="000000"/>
                  </a:outerShdw>
                </a:effectLst>
              </a:rPr>
              <a:t> ST.</a:t>
            </a:r>
            <a:r>
              <a:rPr lang="zh-CN" altLang="en-US" sz="3600" kern="0" dirty="0">
                <a:solidFill>
                  <a:srgbClr val="99FF33"/>
                </a:solidFill>
                <a:effectLst>
                  <a:outerShdw blurRad="38100" dist="38100" dir="2700000" algn="tl">
                    <a:srgbClr val="000000"/>
                  </a:outerShdw>
                </a:effectLst>
              </a:rPr>
              <a:t>课号 </a:t>
            </a:r>
            <a:r>
              <a:rPr lang="en-US" altLang="zh-CN" sz="3600" kern="0" dirty="0">
                <a:solidFill>
                  <a:srgbClr val="99FF33"/>
                </a:solidFill>
                <a:effectLst>
                  <a:outerShdw blurRad="38100" dist="38100" dir="2700000" algn="tl">
                    <a:srgbClr val="000000"/>
                  </a:outerShdw>
                </a:effectLst>
              </a:rPr>
              <a:t>= C.</a:t>
            </a:r>
            <a:r>
              <a:rPr lang="zh-CN" altLang="en-US" sz="3600" kern="0" dirty="0">
                <a:solidFill>
                  <a:srgbClr val="99FF33"/>
                </a:solidFill>
                <a:effectLst>
                  <a:outerShdw blurRad="38100" dist="38100" dir="2700000" algn="tl">
                    <a:srgbClr val="000000"/>
                  </a:outerShdw>
                </a:effectLst>
              </a:rPr>
              <a:t>课号</a:t>
            </a:r>
            <a:endParaRPr lang="zh-CN" altLang="en-US" sz="3600" kern="0" dirty="0">
              <a:solidFill>
                <a:srgbClr val="CCFFCC"/>
              </a:solidFill>
              <a:effectLst>
                <a:outerShdw blurRad="38100" dist="38100" dir="2700000" algn="tl">
                  <a:srgbClr val="000000"/>
                </a:outerShdw>
              </a:effectLst>
              <a:latin typeface="Times New Roman" pitchFamily="18" charset="0"/>
            </a:endParaRPr>
          </a:p>
        </p:txBody>
      </p:sp>
      <p:graphicFrame>
        <p:nvGraphicFramePr>
          <p:cNvPr id="32" name="Group 80"/>
          <p:cNvGraphicFramePr>
            <a:graphicFrameLocks noGrp="1"/>
          </p:cNvGraphicFramePr>
          <p:nvPr>
            <p:extLst>
              <p:ext uri="{D42A27DB-BD31-4B8C-83A1-F6EECF244321}">
                <p14:modId xmlns:p14="http://schemas.microsoft.com/office/powerpoint/2010/main" val="3934400798"/>
              </p:ext>
            </p:extLst>
          </p:nvPr>
        </p:nvGraphicFramePr>
        <p:xfrm>
          <a:off x="1982685" y="4725523"/>
          <a:ext cx="1905000" cy="1828800"/>
        </p:xfrm>
        <a:graphic>
          <a:graphicData uri="http://schemas.openxmlformats.org/drawingml/2006/table">
            <a:tbl>
              <a:tblPr/>
              <a:tblGrid>
                <a:gridCol w="762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tblGrid>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FF9966"/>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FF9966"/>
                          </a:solidFill>
                          <a:effectLst>
                            <a:outerShdw blurRad="38100" dist="38100" dir="2700000" algn="tl">
                              <a:srgbClr val="000000"/>
                            </a:outerShdw>
                          </a:effectLst>
                          <a:latin typeface="宋体" panose="02010600030101010101" pitchFamily="2" charset="-122"/>
                          <a:ea typeface="宋体" panose="02010600030101010101" pitchFamily="2" charset="-122"/>
                        </a:rPr>
                        <a:t>NULL</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孙七</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endPar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3" name="Rectangle 113"/>
          <p:cNvSpPr>
            <a:spLocks noChangeArrowheads="1"/>
          </p:cNvSpPr>
          <p:nvPr/>
        </p:nvSpPr>
        <p:spPr bwMode="auto">
          <a:xfrm>
            <a:off x="752976" y="2064486"/>
            <a:ext cx="10167560" cy="707886"/>
          </a:xfrm>
          <a:prstGeom prst="rect">
            <a:avLst/>
          </a:prstGeom>
          <a:noFill/>
          <a:ln w="9525">
            <a:noFill/>
            <a:miter lim="800000"/>
            <a:headEnd/>
            <a:tailEnd/>
          </a:ln>
          <a:effectLst/>
        </p:spPr>
        <p:txBody>
          <a:bodyPr wrap="square">
            <a:spAutoFit/>
          </a:bodyPr>
          <a:lstStyle/>
          <a:p>
            <a:pPr>
              <a:spcAft>
                <a:spcPct val="30000"/>
              </a:spcAft>
              <a:buClr>
                <a:srgbClr val="66FF33"/>
              </a:buClr>
              <a:buSzPct val="85000"/>
              <a:defRPr/>
            </a:pPr>
            <a:r>
              <a:rPr lang="zh-CN" altLang="en-US" sz="3600" kern="0" dirty="0">
                <a:solidFill>
                  <a:srgbClr val="CCFFCC"/>
                </a:solidFill>
                <a:effectLst>
                  <a:outerShdw blurRad="38100" dist="38100" dir="2700000" algn="tl">
                    <a:srgbClr val="000000"/>
                  </a:outerShdw>
                </a:effectLst>
              </a:rPr>
              <a:t>结果包含了左表的所有行的连接称为</a:t>
            </a:r>
            <a:r>
              <a:rPr lang="zh-CN" altLang="en-US" sz="4000" b="1" kern="0" dirty="0">
                <a:solidFill>
                  <a:srgbClr val="66FFFF"/>
                </a:solidFill>
                <a:effectLst>
                  <a:outerShdw blurRad="38100" dist="38100" dir="2700000" algn="tl">
                    <a:srgbClr val="000000"/>
                  </a:outerShdw>
                </a:effectLst>
              </a:rPr>
              <a:t>左外连接</a:t>
            </a:r>
            <a:endParaRPr lang="zh-CN" altLang="en-US" sz="4000" b="1" kern="0" dirty="0">
              <a:solidFill>
                <a:srgbClr val="FFFF66"/>
              </a:solidFill>
              <a:effectLst>
                <a:outerShdw blurRad="38100" dist="38100" dir="2700000" algn="tl">
                  <a:srgbClr val="000000"/>
                </a:outerShdw>
              </a:effectLst>
            </a:endParaRPr>
          </a:p>
        </p:txBody>
      </p:sp>
      <p:sp>
        <p:nvSpPr>
          <p:cNvPr id="34" name="AutoShape 114"/>
          <p:cNvSpPr>
            <a:spLocks noChangeArrowheads="1"/>
          </p:cNvSpPr>
          <p:nvPr/>
        </p:nvSpPr>
        <p:spPr bwMode="auto">
          <a:xfrm>
            <a:off x="4501960" y="4984537"/>
            <a:ext cx="3312368" cy="1657350"/>
          </a:xfrm>
          <a:prstGeom prst="wedgeRoundRectCallout">
            <a:avLst>
              <a:gd name="adj1" fmla="val -64611"/>
              <a:gd name="adj2" fmla="val -20116"/>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spcAft>
                <a:spcPct val="40000"/>
              </a:spcAft>
              <a:buClr>
                <a:srgbClr val="66FF33"/>
              </a:buClr>
              <a:buSzPct val="85000"/>
              <a:defRPr/>
            </a:pPr>
            <a:r>
              <a:rPr lang="zh-CN" altLang="en-US" sz="3200" kern="0">
                <a:solidFill>
                  <a:srgbClr val="FFFFCC"/>
                </a:solidFill>
                <a:effectLst>
                  <a:outerShdw blurRad="38100" dist="38100" dir="2700000" algn="tl">
                    <a:srgbClr val="000000"/>
                  </a:outerShdw>
                </a:effectLst>
                <a:latin typeface="Arial" charset="0"/>
              </a:rPr>
              <a:t>查询出所有学生的选课情况，不管他是否有课</a:t>
            </a:r>
          </a:p>
        </p:txBody>
      </p:sp>
      <p:sp>
        <p:nvSpPr>
          <p:cNvPr id="2" name="手杖形箭头 1"/>
          <p:cNvSpPr/>
          <p:nvPr/>
        </p:nvSpPr>
        <p:spPr>
          <a:xfrm rot="16200000" flipH="1">
            <a:off x="1782" y="4211437"/>
            <a:ext cx="2352879" cy="1028172"/>
          </a:xfrm>
          <a:prstGeom prst="uturnArrow">
            <a:avLst>
              <a:gd name="adj1" fmla="val 14869"/>
              <a:gd name="adj2" fmla="val 25000"/>
              <a:gd name="adj3" fmla="val 23811"/>
              <a:gd name="adj4" fmla="val 10057"/>
              <a:gd name="adj5" fmla="val 89183"/>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algn="ctr" fontAlgn="base">
              <a:spcBef>
                <a:spcPct val="0"/>
              </a:spcBef>
              <a:spcAft>
                <a:spcPct val="0"/>
              </a:spcAft>
            </a:pPr>
            <a:endParaRPr lang="zh-CN" altLang="en-US" sz="3200" kern="0">
              <a:solidFill>
                <a:srgbClr val="FFFFFF"/>
              </a:solidFill>
              <a:effectLst>
                <a:outerShdw blurRad="38100" dist="38100" dir="2700000" algn="tl">
                  <a:srgbClr val="000000"/>
                </a:outerShdw>
              </a:effectLst>
              <a:latin typeface="Garamond" pitchFamily="18" charset="0"/>
              <a:ea typeface="宋体" pitchFamily="2" charset="-122"/>
            </a:endParaRPr>
          </a:p>
        </p:txBody>
      </p:sp>
    </p:spTree>
    <p:extLst>
      <p:ext uri="{BB962C8B-B14F-4D97-AF65-F5344CB8AC3E}">
        <p14:creationId xmlns:p14="http://schemas.microsoft.com/office/powerpoint/2010/main" val="237610022"/>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67408" y="0"/>
            <a:ext cx="1684289"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外连接</a:t>
            </a:r>
          </a:p>
        </p:txBody>
      </p:sp>
      <p:sp>
        <p:nvSpPr>
          <p:cNvPr id="19" name="Rectangle 4"/>
          <p:cNvSpPr txBox="1">
            <a:spLocks noChangeArrowheads="1"/>
          </p:cNvSpPr>
          <p:nvPr/>
        </p:nvSpPr>
        <p:spPr bwMode="auto">
          <a:xfrm>
            <a:off x="479376" y="783848"/>
            <a:ext cx="11012838" cy="126188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algn="just" eaLnBrk="1" hangingPunct="1">
              <a:spcAft>
                <a:spcPct val="50000"/>
              </a:spcAft>
              <a:buClr>
                <a:srgbClr val="FFC000"/>
              </a:buClr>
              <a:buFont typeface="Wingdings" pitchFamily="2" charset="2"/>
              <a:buChar char="§"/>
              <a:defRPr/>
            </a:pPr>
            <a:r>
              <a:rPr kumimoji="1" lang="zh-CN" altLang="en-US" sz="3600" dirty="0">
                <a:latin typeface="楷体_GB2312" pitchFamily="49" charset="-122"/>
              </a:rPr>
              <a:t>要查询其中一张连接表的所有行时就需要用</a:t>
            </a:r>
            <a:r>
              <a:rPr kumimoji="1" lang="zh-CN" altLang="en-US" sz="4000" b="1" dirty="0">
                <a:solidFill>
                  <a:srgbClr val="FFFF00"/>
                </a:solidFill>
                <a:latin typeface="楷体_GB2312" pitchFamily="49" charset="-122"/>
              </a:rPr>
              <a:t>外连接</a:t>
            </a:r>
            <a:r>
              <a:rPr kumimoji="1" lang="zh-CN" altLang="en-US" sz="3600" dirty="0">
                <a:latin typeface="楷体_GB2312" pitchFamily="49" charset="-122"/>
              </a:rPr>
              <a:t>，结果中用空值</a:t>
            </a:r>
            <a:r>
              <a:rPr kumimoji="1" lang="en-US" altLang="zh-CN" sz="3600" dirty="0">
                <a:latin typeface="楷体_GB2312" pitchFamily="49" charset="-122"/>
              </a:rPr>
              <a:t>(NULL)</a:t>
            </a:r>
            <a:r>
              <a:rPr kumimoji="1" lang="zh-CN" altLang="en-US" sz="3600" dirty="0">
                <a:latin typeface="楷体_GB2312" pitchFamily="49" charset="-122"/>
              </a:rPr>
              <a:t>来填充无法连接的数据</a:t>
            </a:r>
            <a:endParaRPr kumimoji="1" lang="zh-CN" altLang="en-US" sz="3600" dirty="0">
              <a:solidFill>
                <a:srgbClr val="66FFFF"/>
              </a:solidFill>
              <a:latin typeface="楷体_GB2312" pitchFamily="49" charset="-122"/>
            </a:endParaRPr>
          </a:p>
        </p:txBody>
      </p:sp>
      <p:sp>
        <p:nvSpPr>
          <p:cNvPr id="33" name="Rectangle 113"/>
          <p:cNvSpPr>
            <a:spLocks noChangeArrowheads="1"/>
          </p:cNvSpPr>
          <p:nvPr/>
        </p:nvSpPr>
        <p:spPr bwMode="auto">
          <a:xfrm>
            <a:off x="752976" y="2064486"/>
            <a:ext cx="10383584" cy="707886"/>
          </a:xfrm>
          <a:prstGeom prst="rect">
            <a:avLst/>
          </a:prstGeom>
          <a:noFill/>
          <a:ln w="9525">
            <a:noFill/>
            <a:miter lim="800000"/>
            <a:headEnd/>
            <a:tailEnd/>
          </a:ln>
          <a:effectLst/>
        </p:spPr>
        <p:txBody>
          <a:bodyPr wrap="square">
            <a:spAutoFit/>
          </a:bodyPr>
          <a:lstStyle/>
          <a:p>
            <a:pPr>
              <a:spcAft>
                <a:spcPct val="30000"/>
              </a:spcAft>
              <a:buClr>
                <a:srgbClr val="66FF33"/>
              </a:buClr>
              <a:buSzPct val="85000"/>
              <a:defRPr/>
            </a:pPr>
            <a:r>
              <a:rPr lang="zh-CN" altLang="en-US" sz="3600" kern="0" dirty="0">
                <a:solidFill>
                  <a:srgbClr val="CCFFCC"/>
                </a:solidFill>
                <a:effectLst>
                  <a:outerShdw blurRad="38100" dist="38100" dir="2700000" algn="tl">
                    <a:srgbClr val="000000"/>
                  </a:outerShdw>
                </a:effectLst>
              </a:rPr>
              <a:t>结果包含了右表的所有行的连接称为</a:t>
            </a:r>
            <a:r>
              <a:rPr lang="zh-CN" altLang="en-US" sz="4000" b="1" kern="0" dirty="0">
                <a:solidFill>
                  <a:srgbClr val="66FFFF"/>
                </a:solidFill>
                <a:effectLst>
                  <a:outerShdw blurRad="38100" dist="38100" dir="2700000" algn="tl">
                    <a:srgbClr val="000000"/>
                  </a:outerShdw>
                </a:effectLst>
              </a:rPr>
              <a:t>右外连接</a:t>
            </a:r>
            <a:endParaRPr lang="zh-CN" altLang="en-US" sz="4000" b="1" kern="0" dirty="0">
              <a:solidFill>
                <a:srgbClr val="FFFF66"/>
              </a:solidFill>
              <a:effectLst>
                <a:outerShdw blurRad="38100" dist="38100" dir="2700000" algn="tl">
                  <a:srgbClr val="000000"/>
                </a:outerShdw>
              </a:effectLst>
            </a:endParaRPr>
          </a:p>
        </p:txBody>
      </p:sp>
      <p:sp>
        <p:nvSpPr>
          <p:cNvPr id="2" name="手杖形箭头 1"/>
          <p:cNvSpPr/>
          <p:nvPr/>
        </p:nvSpPr>
        <p:spPr>
          <a:xfrm rot="16200000" flipH="1">
            <a:off x="-135658" y="4269953"/>
            <a:ext cx="2228570" cy="727954"/>
          </a:xfrm>
          <a:prstGeom prst="uturnArrow">
            <a:avLst>
              <a:gd name="adj1" fmla="val 22482"/>
              <a:gd name="adj2" fmla="val 25000"/>
              <a:gd name="adj3" fmla="val 23811"/>
              <a:gd name="adj4" fmla="val 10057"/>
              <a:gd name="adj5" fmla="val 89183"/>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algn="ctr" fontAlgn="base">
              <a:spcBef>
                <a:spcPct val="0"/>
              </a:spcBef>
              <a:spcAft>
                <a:spcPct val="0"/>
              </a:spcAft>
            </a:pPr>
            <a:endParaRPr lang="zh-CN" altLang="en-US" sz="3200" kern="0">
              <a:solidFill>
                <a:srgbClr val="FFFFFF"/>
              </a:solidFill>
              <a:effectLst>
                <a:outerShdw blurRad="38100" dist="38100" dir="2700000" algn="tl">
                  <a:srgbClr val="000000"/>
                </a:outerShdw>
              </a:effectLst>
              <a:latin typeface="Garamond" pitchFamily="18" charset="0"/>
              <a:ea typeface="宋体" pitchFamily="2" charset="-122"/>
            </a:endParaRPr>
          </a:p>
        </p:txBody>
      </p:sp>
      <p:sp>
        <p:nvSpPr>
          <p:cNvPr id="13" name="Rectangle 79"/>
          <p:cNvSpPr>
            <a:spLocks noChangeArrowheads="1"/>
          </p:cNvSpPr>
          <p:nvPr/>
        </p:nvSpPr>
        <p:spPr bwMode="auto">
          <a:xfrm>
            <a:off x="1483107" y="2791279"/>
            <a:ext cx="6468270" cy="1008063"/>
          </a:xfrm>
          <a:prstGeom prst="rect">
            <a:avLst/>
          </a:prstGeom>
          <a:noFill/>
          <a:ln w="9525">
            <a:noFill/>
            <a:miter lim="800000"/>
            <a:headEnd/>
            <a:tailEnd/>
          </a:ln>
          <a:effectLst/>
        </p:spPr>
        <p:txBody>
          <a:bodyPr/>
          <a:lstStyle/>
          <a:p>
            <a:pPr algn="just">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SELECT </a:t>
            </a:r>
            <a:r>
              <a:rPr lang="zh-CN" altLang="en-US" sz="3600" kern="0" dirty="0">
                <a:solidFill>
                  <a:srgbClr val="99FF33"/>
                </a:solidFill>
                <a:effectLst>
                  <a:outerShdw blurRad="38100" dist="38100" dir="2700000" algn="tl">
                    <a:srgbClr val="000000"/>
                  </a:outerShdw>
                </a:effectLst>
              </a:rPr>
              <a:t>姓名</a:t>
            </a:r>
            <a:r>
              <a:rPr lang="en-US" altLang="zh-CN" sz="3600" kern="0" dirty="0">
                <a:solidFill>
                  <a:srgbClr val="99FF33"/>
                </a:solidFill>
                <a:effectLst>
                  <a:outerShdw blurRad="38100" dist="38100" dir="2700000" algn="tl">
                    <a:srgbClr val="000000"/>
                  </a:outerShdw>
                </a:effectLst>
              </a:rPr>
              <a:t>,</a:t>
            </a:r>
            <a:r>
              <a:rPr lang="zh-CN" altLang="en-US" sz="3600" kern="0" dirty="0">
                <a:solidFill>
                  <a:srgbClr val="99FF33"/>
                </a:solidFill>
                <a:effectLst>
                  <a:outerShdw blurRad="38100" dist="38100" dir="2700000" algn="tl">
                    <a:srgbClr val="000000"/>
                  </a:outerShdw>
                </a:effectLst>
              </a:rPr>
              <a:t>课名</a:t>
            </a:r>
          </a:p>
          <a:p>
            <a:pPr algn="just">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FROM ST </a:t>
            </a:r>
            <a:r>
              <a:rPr lang="en-US" altLang="zh-CN" sz="3600" kern="0" dirty="0">
                <a:solidFill>
                  <a:srgbClr val="66FFFF"/>
                </a:solidFill>
                <a:effectLst>
                  <a:outerShdw blurRad="38100" dist="38100" dir="2700000" algn="tl">
                    <a:srgbClr val="000000"/>
                  </a:outerShdw>
                </a:effectLst>
              </a:rPr>
              <a:t>RIGHT OUTER JOIN</a:t>
            </a:r>
            <a:r>
              <a:rPr lang="en-US" altLang="zh-CN" sz="3600" kern="0" dirty="0">
                <a:solidFill>
                  <a:srgbClr val="99FF33"/>
                </a:solidFill>
                <a:effectLst>
                  <a:outerShdw blurRad="38100" dist="38100" dir="2700000" algn="tl">
                    <a:srgbClr val="000000"/>
                  </a:outerShdw>
                </a:effectLst>
              </a:rPr>
              <a:t> C</a:t>
            </a:r>
          </a:p>
          <a:p>
            <a:pPr algn="just">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     </a:t>
            </a:r>
            <a:r>
              <a:rPr lang="en-US" altLang="zh-CN" sz="3600" kern="0" dirty="0">
                <a:solidFill>
                  <a:srgbClr val="66FFFF"/>
                </a:solidFill>
                <a:effectLst>
                  <a:outerShdw blurRad="38100" dist="38100" dir="2700000" algn="tl">
                    <a:srgbClr val="000000"/>
                  </a:outerShdw>
                </a:effectLst>
              </a:rPr>
              <a:t>ON</a:t>
            </a:r>
            <a:r>
              <a:rPr lang="en-US" altLang="zh-CN" sz="3600" kern="0" dirty="0">
                <a:solidFill>
                  <a:srgbClr val="99FF33"/>
                </a:solidFill>
                <a:effectLst>
                  <a:outerShdw blurRad="38100" dist="38100" dir="2700000" algn="tl">
                    <a:srgbClr val="000000"/>
                  </a:outerShdw>
                </a:effectLst>
              </a:rPr>
              <a:t> ST.</a:t>
            </a:r>
            <a:r>
              <a:rPr lang="zh-CN" altLang="en-US" sz="3600" kern="0" dirty="0">
                <a:solidFill>
                  <a:srgbClr val="99FF33"/>
                </a:solidFill>
                <a:effectLst>
                  <a:outerShdw blurRad="38100" dist="38100" dir="2700000" algn="tl">
                    <a:srgbClr val="000000"/>
                  </a:outerShdw>
                </a:effectLst>
              </a:rPr>
              <a:t>课号 </a:t>
            </a:r>
            <a:r>
              <a:rPr lang="en-US" altLang="zh-CN" sz="3600" kern="0" dirty="0">
                <a:solidFill>
                  <a:srgbClr val="99FF33"/>
                </a:solidFill>
                <a:effectLst>
                  <a:outerShdw blurRad="38100" dist="38100" dir="2700000" algn="tl">
                    <a:srgbClr val="000000"/>
                  </a:outerShdw>
                </a:effectLst>
              </a:rPr>
              <a:t>= C.</a:t>
            </a:r>
            <a:r>
              <a:rPr lang="zh-CN" altLang="en-US" sz="3600" kern="0" dirty="0">
                <a:solidFill>
                  <a:srgbClr val="99FF33"/>
                </a:solidFill>
                <a:effectLst>
                  <a:outerShdw blurRad="38100" dist="38100" dir="2700000" algn="tl">
                    <a:srgbClr val="000000"/>
                  </a:outerShdw>
                </a:effectLst>
              </a:rPr>
              <a:t>课号</a:t>
            </a:r>
            <a:endParaRPr lang="zh-CN" altLang="en-US" sz="3600" kern="0" dirty="0">
              <a:solidFill>
                <a:srgbClr val="CCFFCC"/>
              </a:solidFill>
              <a:effectLst>
                <a:outerShdw blurRad="38100" dist="38100" dir="2700000" algn="tl">
                  <a:srgbClr val="000000"/>
                </a:outerShdw>
              </a:effectLst>
              <a:latin typeface="Times New Roman" pitchFamily="18" charset="0"/>
            </a:endParaRPr>
          </a:p>
        </p:txBody>
      </p:sp>
      <p:sp>
        <p:nvSpPr>
          <p:cNvPr id="14" name="AutoShape 81"/>
          <p:cNvSpPr>
            <a:spLocks noChangeArrowheads="1"/>
          </p:cNvSpPr>
          <p:nvPr/>
        </p:nvSpPr>
        <p:spPr bwMode="auto">
          <a:xfrm>
            <a:off x="3955977" y="4775514"/>
            <a:ext cx="3758107" cy="1584325"/>
          </a:xfrm>
          <a:prstGeom prst="wedgeRoundRectCallout">
            <a:avLst>
              <a:gd name="adj1" fmla="val -61088"/>
              <a:gd name="adj2" fmla="val -8616"/>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spcAft>
                <a:spcPct val="40000"/>
              </a:spcAft>
              <a:buClr>
                <a:srgbClr val="66FF33"/>
              </a:buClr>
              <a:buSzPct val="85000"/>
              <a:defRPr/>
            </a:pPr>
            <a:r>
              <a:rPr lang="zh-CN" altLang="en-US" sz="3200" kern="0" dirty="0">
                <a:solidFill>
                  <a:srgbClr val="FFFFCC"/>
                </a:solidFill>
                <a:effectLst>
                  <a:outerShdw blurRad="38100" dist="38100" dir="2700000" algn="tl">
                    <a:srgbClr val="000000"/>
                  </a:outerShdw>
                </a:effectLst>
                <a:latin typeface="Arial" charset="0"/>
              </a:rPr>
              <a:t>查询出所有课程与学生的关系，不管它是否有学生选</a:t>
            </a:r>
          </a:p>
        </p:txBody>
      </p:sp>
      <p:graphicFrame>
        <p:nvGraphicFramePr>
          <p:cNvPr id="15" name="Group 82"/>
          <p:cNvGraphicFramePr>
            <a:graphicFrameLocks noGrp="1"/>
          </p:cNvGraphicFramePr>
          <p:nvPr>
            <p:extLst>
              <p:ext uri="{D42A27DB-BD31-4B8C-83A1-F6EECF244321}">
                <p14:modId xmlns:p14="http://schemas.microsoft.com/office/powerpoint/2010/main" val="180723813"/>
              </p:ext>
            </p:extLst>
          </p:nvPr>
        </p:nvGraphicFramePr>
        <p:xfrm>
          <a:off x="1698006" y="4583428"/>
          <a:ext cx="1905000" cy="2133600"/>
        </p:xfrm>
        <a:graphic>
          <a:graphicData uri="http://schemas.openxmlformats.org/drawingml/2006/table">
            <a:tbl>
              <a:tblPr/>
              <a:tblGrid>
                <a:gridCol w="762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孙七</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endPar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FF9933"/>
                          </a:solidFill>
                          <a:effectLst>
                            <a:outerShdw blurRad="38100" dist="38100" dir="2700000" algn="tl">
                              <a:srgbClr val="000000"/>
                            </a:outerShdw>
                          </a:effectLst>
                          <a:latin typeface="宋体" panose="02010600030101010101" pitchFamily="2" charset="-122"/>
                          <a:ea typeface="宋体" panose="02010600030101010101" pitchFamily="2" charset="-122"/>
                        </a:rPr>
                        <a:t>NULL</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FF9933"/>
                          </a:solidFill>
                          <a:effectLst>
                            <a:outerShdw blurRad="38100" dist="38100" dir="2700000" algn="tl">
                              <a:srgbClr val="000000"/>
                            </a:outerShdw>
                          </a:effectLst>
                          <a:latin typeface="宋体" panose="02010600030101010101" pitchFamily="2" charset="-122"/>
                          <a:ea typeface="宋体" panose="02010600030101010101" pitchFamily="2" charset="-122"/>
                        </a:rPr>
                        <a:t>数据库</a:t>
                      </a:r>
                      <a:endParaRPr kumimoji="0" lang="en-US" altLang="zh-CN" sz="2000" b="0" i="0" u="none" strike="noStrike" cap="none" normalizeH="0" baseline="0">
                        <a:ln>
                          <a:noFill/>
                        </a:ln>
                        <a:solidFill>
                          <a:srgbClr val="FF9933"/>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FF9933"/>
                          </a:solidFill>
                          <a:effectLst>
                            <a:outerShdw blurRad="38100" dist="38100" dir="2700000" algn="tl">
                              <a:srgbClr val="000000"/>
                            </a:outerShdw>
                          </a:effectLst>
                          <a:latin typeface="宋体" panose="02010600030101010101" pitchFamily="2" charset="-122"/>
                          <a:ea typeface="宋体" panose="02010600030101010101" pitchFamily="2" charset="-122"/>
                        </a:rPr>
                        <a:t>NULL</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FF9933"/>
                          </a:solidFill>
                          <a:effectLst>
                            <a:outerShdw blurRad="38100" dist="38100" dir="2700000" algn="tl">
                              <a:srgbClr val="000000"/>
                            </a:outerShdw>
                          </a:effectLst>
                          <a:latin typeface="宋体" panose="02010600030101010101" pitchFamily="2" charset="-122"/>
                          <a:ea typeface="宋体" panose="02010600030101010101" pitchFamily="2" charset="-122"/>
                        </a:rPr>
                        <a:t>C</a:t>
                      </a:r>
                      <a:r>
                        <a:rPr kumimoji="0" lang="zh-CN" altLang="en-US" sz="2000" b="0" i="0" u="none" strike="noStrike" cap="none" normalizeH="0" baseline="0" dirty="0">
                          <a:ln>
                            <a:noFill/>
                          </a:ln>
                          <a:solidFill>
                            <a:srgbClr val="FF9933"/>
                          </a:solidFill>
                          <a:effectLst>
                            <a:outerShdw blurRad="38100" dist="38100" dir="2700000" algn="tl">
                              <a:srgbClr val="000000"/>
                            </a:outerShdw>
                          </a:effectLst>
                          <a:latin typeface="宋体" panose="02010600030101010101" pitchFamily="2" charset="-122"/>
                          <a:ea typeface="宋体" panose="02010600030101010101" pitchFamily="2" charset="-122"/>
                        </a:rPr>
                        <a:t>语言</a:t>
                      </a:r>
                      <a:endParaRPr kumimoji="0" lang="en-US" altLang="zh-CN" sz="2000" b="0" i="0" u="none" strike="noStrike" cap="none" normalizeH="0" baseline="0" dirty="0">
                        <a:ln>
                          <a:noFill/>
                        </a:ln>
                        <a:solidFill>
                          <a:srgbClr val="FF9933"/>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3" name="Group 5">
            <a:extLst>
              <a:ext uri="{FF2B5EF4-FFF2-40B4-BE49-F238E27FC236}">
                <a16:creationId xmlns:a16="http://schemas.microsoft.com/office/drawing/2014/main" id="{B40D2A2F-E983-4616-9AC0-EDCCF2CBE7E6}"/>
              </a:ext>
            </a:extLst>
          </p:cNvPr>
          <p:cNvGraphicFramePr>
            <a:graphicFrameLocks noGrp="1"/>
          </p:cNvGraphicFramePr>
          <p:nvPr>
            <p:extLst>
              <p:ext uri="{D42A27DB-BD31-4B8C-83A1-F6EECF244321}">
                <p14:modId xmlns:p14="http://schemas.microsoft.com/office/powerpoint/2010/main" val="3392571058"/>
              </p:ext>
            </p:extLst>
          </p:nvPr>
        </p:nvGraphicFramePr>
        <p:xfrm>
          <a:off x="8807523" y="4815260"/>
          <a:ext cx="2543920" cy="1828800"/>
        </p:xfrm>
        <a:graphic>
          <a:graphicData uri="http://schemas.openxmlformats.org/drawingml/2006/table">
            <a:tbl>
              <a:tblPr/>
              <a:tblGrid>
                <a:gridCol w="870198">
                  <a:extLst>
                    <a:ext uri="{9D8B030D-6E8A-4147-A177-3AD203B41FA5}">
                      <a16:colId xmlns:a16="http://schemas.microsoft.com/office/drawing/2014/main" val="20000"/>
                    </a:ext>
                  </a:extLst>
                </a:gridCol>
                <a:gridCol w="853103">
                  <a:extLst>
                    <a:ext uri="{9D8B030D-6E8A-4147-A177-3AD203B41FA5}">
                      <a16:colId xmlns:a16="http://schemas.microsoft.com/office/drawing/2014/main" val="20001"/>
                    </a:ext>
                  </a:extLst>
                </a:gridCol>
                <a:gridCol w="820619">
                  <a:extLst>
                    <a:ext uri="{9D8B030D-6E8A-4147-A177-3AD203B41FA5}">
                      <a16:colId xmlns:a16="http://schemas.microsoft.com/office/drawing/2014/main" val="20002"/>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孙七</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4" name="Group 45">
            <a:extLst>
              <a:ext uri="{FF2B5EF4-FFF2-40B4-BE49-F238E27FC236}">
                <a16:creationId xmlns:a16="http://schemas.microsoft.com/office/drawing/2014/main" id="{36CFE9D1-5E30-43CC-A9A5-C3C3E58E498C}"/>
              </a:ext>
            </a:extLst>
          </p:cNvPr>
          <p:cNvGraphicFramePr>
            <a:graphicFrameLocks noGrp="1"/>
          </p:cNvGraphicFramePr>
          <p:nvPr>
            <p:extLst>
              <p:ext uri="{D42A27DB-BD31-4B8C-83A1-F6EECF244321}">
                <p14:modId xmlns:p14="http://schemas.microsoft.com/office/powerpoint/2010/main" val="3755055796"/>
              </p:ext>
            </p:extLst>
          </p:nvPr>
        </p:nvGraphicFramePr>
        <p:xfrm>
          <a:off x="8807523" y="2981165"/>
          <a:ext cx="2209800" cy="1524000"/>
        </p:xfrm>
        <a:graphic>
          <a:graphicData uri="http://schemas.openxmlformats.org/drawingml/2006/table">
            <a:tbl>
              <a:tblPr/>
              <a:tblGrid>
                <a:gridCol w="647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学分</a:t>
                      </a:r>
                    </a:p>
                  </a:txBody>
                  <a:tcPr marL="0" marR="0" marT="0" marB="0" horzOverflow="overflow">
                    <a:lnL w="12700" cap="flat" cmpd="sng" algn="ctr">
                      <a:solidFill>
                        <a:srgbClr val="FFFFFF"/>
                      </a:solidFill>
                      <a:prstDash val="solid"/>
                      <a:round/>
                      <a:headEnd type="none" w="med" len="med"/>
                      <a:tailEnd type="none" w="med" len="med"/>
                    </a:lnL>
                    <a:lnR>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4</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K03</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数据库</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K04</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a:t>
                      </a: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语言</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Rectangle 77">
            <a:extLst>
              <a:ext uri="{FF2B5EF4-FFF2-40B4-BE49-F238E27FC236}">
                <a16:creationId xmlns:a16="http://schemas.microsoft.com/office/drawing/2014/main" id="{A2F81041-8A89-4A7B-9029-225D5B1B3D57}"/>
              </a:ext>
            </a:extLst>
          </p:cNvPr>
          <p:cNvSpPr>
            <a:spLocks noChangeArrowheads="1"/>
          </p:cNvSpPr>
          <p:nvPr/>
        </p:nvSpPr>
        <p:spPr bwMode="auto">
          <a:xfrm>
            <a:off x="8353521" y="4815260"/>
            <a:ext cx="330219"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200" dirty="0">
                <a:solidFill>
                  <a:schemeClr val="bg1"/>
                </a:solidFill>
                <a:effectLst>
                  <a:outerShdw blurRad="38100" dist="38100" dir="2700000" algn="tl">
                    <a:srgbClr val="000000"/>
                  </a:outerShdw>
                </a:effectLst>
                <a:latin typeface="Times New Roman" pitchFamily="18" charset="0"/>
              </a:rPr>
              <a:t>ST</a:t>
            </a:r>
          </a:p>
        </p:txBody>
      </p:sp>
      <p:sp>
        <p:nvSpPr>
          <p:cNvPr id="7" name="Rectangle 78">
            <a:extLst>
              <a:ext uri="{FF2B5EF4-FFF2-40B4-BE49-F238E27FC236}">
                <a16:creationId xmlns:a16="http://schemas.microsoft.com/office/drawing/2014/main" id="{A1381957-1C47-4CDF-9748-1AACA463E016}"/>
              </a:ext>
            </a:extLst>
          </p:cNvPr>
          <p:cNvSpPr>
            <a:spLocks noChangeArrowheads="1"/>
          </p:cNvSpPr>
          <p:nvPr/>
        </p:nvSpPr>
        <p:spPr bwMode="auto">
          <a:xfrm>
            <a:off x="8470037" y="2974479"/>
            <a:ext cx="187552"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pPr>
            <a:r>
              <a:rPr lang="en-US" altLang="zh-CN" sz="2200">
                <a:solidFill>
                  <a:schemeClr val="bg1"/>
                </a:solidFill>
                <a:effectLst>
                  <a:outerShdw blurRad="38100" dist="38100" dir="2700000" algn="tl">
                    <a:srgbClr val="000000"/>
                  </a:outerShdw>
                </a:effectLst>
                <a:latin typeface="Times New Roman" pitchFamily="18" charset="0"/>
              </a:rPr>
              <a:t>C</a:t>
            </a:r>
          </a:p>
        </p:txBody>
      </p:sp>
    </p:spTree>
    <p:extLst>
      <p:ext uri="{BB962C8B-B14F-4D97-AF65-F5344CB8AC3E}">
        <p14:creationId xmlns:p14="http://schemas.microsoft.com/office/powerpoint/2010/main" val="1243832292"/>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67408" y="0"/>
            <a:ext cx="1684289"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外连接</a:t>
            </a:r>
          </a:p>
        </p:txBody>
      </p:sp>
      <p:sp>
        <p:nvSpPr>
          <p:cNvPr id="16" name="Rectangle 4"/>
          <p:cNvSpPr txBox="1">
            <a:spLocks noChangeArrowheads="1"/>
          </p:cNvSpPr>
          <p:nvPr/>
        </p:nvSpPr>
        <p:spPr bwMode="auto">
          <a:xfrm>
            <a:off x="479376" y="908720"/>
            <a:ext cx="7093990" cy="120032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algn="just" eaLnBrk="1" hangingPunct="1">
              <a:spcAft>
                <a:spcPct val="50000"/>
              </a:spcAft>
              <a:buClr>
                <a:srgbClr val="FFC000"/>
              </a:buClr>
              <a:buFont typeface="Wingdings" pitchFamily="2" charset="2"/>
              <a:buChar char="§"/>
              <a:defRPr/>
            </a:pPr>
            <a:r>
              <a:rPr kumimoji="1" lang="zh-CN" altLang="en-US" sz="3600" dirty="0">
                <a:latin typeface="楷体_GB2312" pitchFamily="49" charset="-122"/>
              </a:rPr>
              <a:t>左</a:t>
            </a:r>
            <a:r>
              <a:rPr kumimoji="1" lang="en-US" altLang="zh-CN" sz="3600" dirty="0">
                <a:latin typeface="楷体_GB2312" pitchFamily="49" charset="-122"/>
              </a:rPr>
              <a:t>/</a:t>
            </a:r>
            <a:r>
              <a:rPr kumimoji="1" lang="zh-CN" altLang="en-US" sz="3600" dirty="0">
                <a:latin typeface="楷体_GB2312" pitchFamily="49" charset="-122"/>
              </a:rPr>
              <a:t>右外连接是相对而言的，是可以相互转换的</a:t>
            </a:r>
            <a:r>
              <a:rPr kumimoji="1" lang="en-US" altLang="zh-CN" sz="3600" dirty="0">
                <a:latin typeface="楷体_GB2312" pitchFamily="49" charset="-122"/>
              </a:rPr>
              <a:t>!</a:t>
            </a:r>
            <a:endParaRPr kumimoji="1" lang="zh-CN" altLang="en-US" sz="3600" dirty="0">
              <a:latin typeface="楷体_GB2312" pitchFamily="49" charset="-122"/>
            </a:endParaRPr>
          </a:p>
        </p:txBody>
      </p:sp>
      <p:graphicFrame>
        <p:nvGraphicFramePr>
          <p:cNvPr id="17" name="Group 5"/>
          <p:cNvGraphicFramePr>
            <a:graphicFrameLocks noGrp="1"/>
          </p:cNvGraphicFramePr>
          <p:nvPr>
            <p:extLst>
              <p:ext uri="{D42A27DB-BD31-4B8C-83A1-F6EECF244321}">
                <p14:modId xmlns:p14="http://schemas.microsoft.com/office/powerpoint/2010/main" val="1620995632"/>
              </p:ext>
            </p:extLst>
          </p:nvPr>
        </p:nvGraphicFramePr>
        <p:xfrm>
          <a:off x="8616280" y="778548"/>
          <a:ext cx="2362200" cy="1828800"/>
        </p:xfrm>
        <a:graphic>
          <a:graphicData uri="http://schemas.openxmlformats.org/drawingml/2006/table">
            <a:tbl>
              <a:tblPr/>
              <a:tblGrid>
                <a:gridCol w="808037">
                  <a:extLst>
                    <a:ext uri="{9D8B030D-6E8A-4147-A177-3AD203B41FA5}">
                      <a16:colId xmlns:a16="http://schemas.microsoft.com/office/drawing/2014/main" val="20000"/>
                    </a:ext>
                  </a:extLst>
                </a:gridCol>
                <a:gridCol w="792163">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孙七</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8" name="Group 45"/>
          <p:cNvGraphicFramePr>
            <a:graphicFrameLocks noGrp="1"/>
          </p:cNvGraphicFramePr>
          <p:nvPr>
            <p:extLst>
              <p:ext uri="{D42A27DB-BD31-4B8C-83A1-F6EECF244321}">
                <p14:modId xmlns:p14="http://schemas.microsoft.com/office/powerpoint/2010/main" val="3244713125"/>
              </p:ext>
            </p:extLst>
          </p:nvPr>
        </p:nvGraphicFramePr>
        <p:xfrm>
          <a:off x="8759155" y="2937548"/>
          <a:ext cx="2209800" cy="1524000"/>
        </p:xfrm>
        <a:graphic>
          <a:graphicData uri="http://schemas.openxmlformats.org/drawingml/2006/table">
            <a:tbl>
              <a:tblPr/>
              <a:tblGrid>
                <a:gridCol w="647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学分</a:t>
                      </a:r>
                    </a:p>
                  </a:txBody>
                  <a:tcPr marL="0" marR="0" marT="0" marB="0" horzOverflow="overflow">
                    <a:lnL w="12700" cap="flat" cmpd="sng" algn="ctr">
                      <a:solidFill>
                        <a:srgbClr val="FFFFFF"/>
                      </a:solidFill>
                      <a:prstDash val="solid"/>
                      <a:round/>
                      <a:headEnd type="none" w="med" len="med"/>
                      <a:tailEnd type="none" w="med" len="med"/>
                    </a:lnL>
                    <a:lnR>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4</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K03</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数据库</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K04</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a:t>
                      </a: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语言</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2" name="Rectangle 77"/>
          <p:cNvSpPr>
            <a:spLocks noChangeArrowheads="1"/>
          </p:cNvSpPr>
          <p:nvPr/>
        </p:nvSpPr>
        <p:spPr bwMode="auto">
          <a:xfrm>
            <a:off x="8187656" y="727748"/>
            <a:ext cx="330219"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200">
                <a:solidFill>
                  <a:schemeClr val="bg1"/>
                </a:solidFill>
                <a:effectLst>
                  <a:outerShdw blurRad="38100" dist="38100" dir="2700000" algn="tl">
                    <a:srgbClr val="000000"/>
                  </a:outerShdw>
                </a:effectLst>
                <a:latin typeface="Times New Roman" pitchFamily="18" charset="0"/>
              </a:rPr>
              <a:t>ST</a:t>
            </a:r>
          </a:p>
        </p:txBody>
      </p:sp>
      <p:sp>
        <p:nvSpPr>
          <p:cNvPr id="23" name="Rectangle 78"/>
          <p:cNvSpPr>
            <a:spLocks noChangeArrowheads="1"/>
          </p:cNvSpPr>
          <p:nvPr/>
        </p:nvSpPr>
        <p:spPr bwMode="auto">
          <a:xfrm>
            <a:off x="8486105" y="2907386"/>
            <a:ext cx="187552"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pPr>
            <a:r>
              <a:rPr lang="en-US" altLang="zh-CN" sz="2200">
                <a:solidFill>
                  <a:schemeClr val="bg1"/>
                </a:solidFill>
                <a:effectLst>
                  <a:outerShdw blurRad="38100" dist="38100" dir="2700000" algn="tl">
                    <a:srgbClr val="000000"/>
                  </a:outerShdw>
                </a:effectLst>
                <a:latin typeface="Times New Roman" pitchFamily="18" charset="0"/>
              </a:rPr>
              <a:t>C</a:t>
            </a:r>
          </a:p>
        </p:txBody>
      </p:sp>
      <p:sp>
        <p:nvSpPr>
          <p:cNvPr id="24" name="Rectangle 79"/>
          <p:cNvSpPr>
            <a:spLocks noChangeArrowheads="1"/>
          </p:cNvSpPr>
          <p:nvPr/>
        </p:nvSpPr>
        <p:spPr bwMode="auto">
          <a:xfrm>
            <a:off x="730202" y="2236601"/>
            <a:ext cx="7093990" cy="1008063"/>
          </a:xfrm>
          <a:prstGeom prst="rect">
            <a:avLst/>
          </a:prstGeom>
          <a:noFill/>
          <a:ln w="9525">
            <a:noFill/>
            <a:miter lim="800000"/>
            <a:headEnd/>
            <a:tailEnd/>
          </a:ln>
          <a:effectLst/>
        </p:spPr>
        <p:txBody>
          <a:bodyPr/>
          <a:lstStyle/>
          <a:p>
            <a:pPr algn="just">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SELECT </a:t>
            </a:r>
            <a:r>
              <a:rPr lang="zh-CN" altLang="en-US" sz="3600" kern="0" dirty="0">
                <a:solidFill>
                  <a:srgbClr val="99FF33"/>
                </a:solidFill>
                <a:effectLst>
                  <a:outerShdw blurRad="38100" dist="38100" dir="2700000" algn="tl">
                    <a:srgbClr val="000000"/>
                  </a:outerShdw>
                </a:effectLst>
              </a:rPr>
              <a:t>姓名</a:t>
            </a:r>
            <a:r>
              <a:rPr lang="en-US" altLang="zh-CN" sz="3600" kern="0" dirty="0">
                <a:solidFill>
                  <a:srgbClr val="99FF33"/>
                </a:solidFill>
                <a:effectLst>
                  <a:outerShdw blurRad="38100" dist="38100" dir="2700000" algn="tl">
                    <a:srgbClr val="000000"/>
                  </a:outerShdw>
                </a:effectLst>
              </a:rPr>
              <a:t>,</a:t>
            </a:r>
            <a:r>
              <a:rPr lang="zh-CN" altLang="en-US" sz="3600" kern="0" dirty="0">
                <a:solidFill>
                  <a:srgbClr val="99FF33"/>
                </a:solidFill>
                <a:effectLst>
                  <a:outerShdw blurRad="38100" dist="38100" dir="2700000" algn="tl">
                    <a:srgbClr val="000000"/>
                  </a:outerShdw>
                </a:effectLst>
              </a:rPr>
              <a:t>课名</a:t>
            </a:r>
          </a:p>
          <a:p>
            <a:pPr algn="just">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FROM ST </a:t>
            </a:r>
            <a:r>
              <a:rPr lang="en-US" altLang="zh-CN" sz="3600" kern="0" dirty="0">
                <a:solidFill>
                  <a:srgbClr val="66FFFF"/>
                </a:solidFill>
                <a:effectLst>
                  <a:outerShdw blurRad="38100" dist="38100" dir="2700000" algn="tl">
                    <a:srgbClr val="000000"/>
                  </a:outerShdw>
                </a:effectLst>
              </a:rPr>
              <a:t>LEFT OUTER JOIN</a:t>
            </a:r>
            <a:r>
              <a:rPr lang="en-US" altLang="zh-CN" sz="3600" kern="0" dirty="0">
                <a:solidFill>
                  <a:srgbClr val="99FF33"/>
                </a:solidFill>
                <a:effectLst>
                  <a:outerShdw blurRad="38100" dist="38100" dir="2700000" algn="tl">
                    <a:srgbClr val="000000"/>
                  </a:outerShdw>
                </a:effectLst>
              </a:rPr>
              <a:t> C</a:t>
            </a:r>
          </a:p>
          <a:p>
            <a:pPr algn="just">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     </a:t>
            </a:r>
            <a:r>
              <a:rPr lang="en-US" altLang="zh-CN" sz="3600" kern="0" dirty="0">
                <a:solidFill>
                  <a:srgbClr val="66FFFF"/>
                </a:solidFill>
                <a:effectLst>
                  <a:outerShdw blurRad="38100" dist="38100" dir="2700000" algn="tl">
                    <a:srgbClr val="000000"/>
                  </a:outerShdw>
                </a:effectLst>
              </a:rPr>
              <a:t>ON</a:t>
            </a:r>
            <a:r>
              <a:rPr lang="en-US" altLang="zh-CN" sz="3600" kern="0" dirty="0">
                <a:solidFill>
                  <a:srgbClr val="99FF33"/>
                </a:solidFill>
                <a:effectLst>
                  <a:outerShdw blurRad="38100" dist="38100" dir="2700000" algn="tl">
                    <a:srgbClr val="000000"/>
                  </a:outerShdw>
                </a:effectLst>
              </a:rPr>
              <a:t> ST.</a:t>
            </a:r>
            <a:r>
              <a:rPr lang="zh-CN" altLang="en-US" sz="3600" kern="0" dirty="0">
                <a:solidFill>
                  <a:srgbClr val="99FF33"/>
                </a:solidFill>
                <a:effectLst>
                  <a:outerShdw blurRad="38100" dist="38100" dir="2700000" algn="tl">
                    <a:srgbClr val="000000"/>
                  </a:outerShdw>
                </a:effectLst>
              </a:rPr>
              <a:t>课号 </a:t>
            </a:r>
            <a:r>
              <a:rPr lang="en-US" altLang="zh-CN" sz="3600" kern="0" dirty="0">
                <a:solidFill>
                  <a:srgbClr val="99FF33"/>
                </a:solidFill>
                <a:effectLst>
                  <a:outerShdw blurRad="38100" dist="38100" dir="2700000" algn="tl">
                    <a:srgbClr val="000000"/>
                  </a:outerShdw>
                </a:effectLst>
              </a:rPr>
              <a:t>= C.</a:t>
            </a:r>
            <a:r>
              <a:rPr lang="zh-CN" altLang="en-US" sz="3600" kern="0" dirty="0">
                <a:solidFill>
                  <a:srgbClr val="99FF33"/>
                </a:solidFill>
                <a:effectLst>
                  <a:outerShdw blurRad="38100" dist="38100" dir="2700000" algn="tl">
                    <a:srgbClr val="000000"/>
                  </a:outerShdw>
                </a:effectLst>
              </a:rPr>
              <a:t>课号</a:t>
            </a:r>
            <a:endParaRPr lang="zh-CN" altLang="en-US" sz="3600" kern="0" dirty="0">
              <a:solidFill>
                <a:srgbClr val="CCFFCC"/>
              </a:solidFill>
              <a:effectLst>
                <a:outerShdw blurRad="38100" dist="38100" dir="2700000" algn="tl">
                  <a:srgbClr val="000000"/>
                </a:outerShdw>
              </a:effectLst>
              <a:latin typeface="Times New Roman" pitchFamily="18" charset="0"/>
            </a:endParaRPr>
          </a:p>
        </p:txBody>
      </p:sp>
      <p:sp>
        <p:nvSpPr>
          <p:cNvPr id="25" name="Rectangle 80"/>
          <p:cNvSpPr>
            <a:spLocks noChangeArrowheads="1"/>
          </p:cNvSpPr>
          <p:nvPr/>
        </p:nvSpPr>
        <p:spPr bwMode="auto">
          <a:xfrm>
            <a:off x="730202" y="4869117"/>
            <a:ext cx="7093990" cy="1008063"/>
          </a:xfrm>
          <a:prstGeom prst="rect">
            <a:avLst/>
          </a:prstGeom>
          <a:noFill/>
          <a:ln w="9525">
            <a:noFill/>
            <a:miter lim="800000"/>
            <a:headEnd/>
            <a:tailEnd/>
          </a:ln>
          <a:effectLst/>
        </p:spPr>
        <p:txBody>
          <a:bodyPr/>
          <a:lstStyle/>
          <a:p>
            <a:pPr algn="just">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SELECT </a:t>
            </a:r>
            <a:r>
              <a:rPr lang="zh-CN" altLang="en-US" sz="3600" kern="0" dirty="0">
                <a:solidFill>
                  <a:srgbClr val="99FF33"/>
                </a:solidFill>
                <a:effectLst>
                  <a:outerShdw blurRad="38100" dist="38100" dir="2700000" algn="tl">
                    <a:srgbClr val="000000"/>
                  </a:outerShdw>
                </a:effectLst>
              </a:rPr>
              <a:t>姓名</a:t>
            </a:r>
            <a:r>
              <a:rPr lang="en-US" altLang="zh-CN" sz="3600" kern="0" dirty="0">
                <a:solidFill>
                  <a:srgbClr val="99FF33"/>
                </a:solidFill>
                <a:effectLst>
                  <a:outerShdw blurRad="38100" dist="38100" dir="2700000" algn="tl">
                    <a:srgbClr val="000000"/>
                  </a:outerShdw>
                </a:effectLst>
              </a:rPr>
              <a:t>,</a:t>
            </a:r>
            <a:r>
              <a:rPr lang="zh-CN" altLang="en-US" sz="3600" kern="0" dirty="0">
                <a:solidFill>
                  <a:srgbClr val="99FF33"/>
                </a:solidFill>
                <a:effectLst>
                  <a:outerShdw blurRad="38100" dist="38100" dir="2700000" algn="tl">
                    <a:srgbClr val="000000"/>
                  </a:outerShdw>
                </a:effectLst>
              </a:rPr>
              <a:t>课名</a:t>
            </a:r>
          </a:p>
          <a:p>
            <a:pPr algn="just">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FROM C</a:t>
            </a:r>
            <a:r>
              <a:rPr lang="zh-CN" altLang="en-US" sz="3600" kern="0" dirty="0">
                <a:solidFill>
                  <a:srgbClr val="99FF33"/>
                </a:solidFill>
                <a:effectLst>
                  <a:outerShdw blurRad="38100" dist="38100" dir="2700000" algn="tl">
                    <a:srgbClr val="000000"/>
                  </a:outerShdw>
                </a:effectLst>
              </a:rPr>
              <a:t> </a:t>
            </a:r>
            <a:r>
              <a:rPr lang="en-US" altLang="zh-CN" sz="3600" kern="0" dirty="0">
                <a:solidFill>
                  <a:srgbClr val="66FFFF"/>
                </a:solidFill>
                <a:effectLst>
                  <a:outerShdw blurRad="38100" dist="38100" dir="2700000" algn="tl">
                    <a:srgbClr val="000000"/>
                  </a:outerShdw>
                </a:effectLst>
              </a:rPr>
              <a:t>RIGHT OUTER JOIN</a:t>
            </a:r>
            <a:r>
              <a:rPr lang="en-US" altLang="zh-CN" sz="3600" kern="0" dirty="0">
                <a:solidFill>
                  <a:srgbClr val="99FF33"/>
                </a:solidFill>
                <a:effectLst>
                  <a:outerShdw blurRad="38100" dist="38100" dir="2700000" algn="tl">
                    <a:srgbClr val="000000"/>
                  </a:outerShdw>
                </a:effectLst>
              </a:rPr>
              <a:t> ST</a:t>
            </a:r>
          </a:p>
          <a:p>
            <a:pPr algn="just">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     </a:t>
            </a:r>
            <a:r>
              <a:rPr lang="en-US" altLang="zh-CN" sz="3600" kern="0" dirty="0">
                <a:solidFill>
                  <a:srgbClr val="66FFFF"/>
                </a:solidFill>
                <a:effectLst>
                  <a:outerShdw blurRad="38100" dist="38100" dir="2700000" algn="tl">
                    <a:srgbClr val="000000"/>
                  </a:outerShdw>
                </a:effectLst>
              </a:rPr>
              <a:t>ON</a:t>
            </a:r>
            <a:r>
              <a:rPr lang="en-US" altLang="zh-CN" sz="3600" kern="0" dirty="0">
                <a:solidFill>
                  <a:srgbClr val="99FF33"/>
                </a:solidFill>
                <a:effectLst>
                  <a:outerShdw blurRad="38100" dist="38100" dir="2700000" algn="tl">
                    <a:srgbClr val="000000"/>
                  </a:outerShdw>
                </a:effectLst>
              </a:rPr>
              <a:t> C.</a:t>
            </a:r>
            <a:r>
              <a:rPr lang="zh-CN" altLang="en-US" sz="3600" kern="0" dirty="0">
                <a:solidFill>
                  <a:srgbClr val="99FF33"/>
                </a:solidFill>
                <a:effectLst>
                  <a:outerShdw blurRad="38100" dist="38100" dir="2700000" algn="tl">
                    <a:srgbClr val="000000"/>
                  </a:outerShdw>
                </a:effectLst>
              </a:rPr>
              <a:t>课号 </a:t>
            </a:r>
            <a:r>
              <a:rPr lang="en-US" altLang="zh-CN" sz="3600" kern="0" dirty="0">
                <a:solidFill>
                  <a:srgbClr val="99FF33"/>
                </a:solidFill>
                <a:effectLst>
                  <a:outerShdw blurRad="38100" dist="38100" dir="2700000" algn="tl">
                    <a:srgbClr val="000000"/>
                  </a:outerShdw>
                </a:effectLst>
              </a:rPr>
              <a:t>= ST.</a:t>
            </a:r>
            <a:r>
              <a:rPr lang="zh-CN" altLang="en-US" sz="3600" kern="0" dirty="0">
                <a:solidFill>
                  <a:srgbClr val="99FF33"/>
                </a:solidFill>
                <a:effectLst>
                  <a:outerShdw blurRad="38100" dist="38100" dir="2700000" algn="tl">
                    <a:srgbClr val="000000"/>
                  </a:outerShdw>
                </a:effectLst>
              </a:rPr>
              <a:t>课号</a:t>
            </a:r>
            <a:endParaRPr lang="zh-CN" altLang="en-US" sz="3600" kern="0" dirty="0">
              <a:solidFill>
                <a:srgbClr val="CCFFCC"/>
              </a:solidFill>
              <a:effectLst>
                <a:outerShdw blurRad="38100" dist="38100" dir="2700000" algn="tl">
                  <a:srgbClr val="000000"/>
                </a:outerShdw>
              </a:effectLst>
              <a:latin typeface="Times New Roman" pitchFamily="18" charset="0"/>
            </a:endParaRPr>
          </a:p>
        </p:txBody>
      </p:sp>
      <p:sp>
        <p:nvSpPr>
          <p:cNvPr id="26" name="Rectangle 81"/>
          <p:cNvSpPr>
            <a:spLocks noChangeArrowheads="1"/>
          </p:cNvSpPr>
          <p:nvPr/>
        </p:nvSpPr>
        <p:spPr bwMode="auto">
          <a:xfrm>
            <a:off x="2314527" y="4148604"/>
            <a:ext cx="1008063" cy="523220"/>
          </a:xfrm>
          <a:prstGeom prst="rect">
            <a:avLst/>
          </a:prstGeom>
          <a:noFill/>
          <a:ln w="9525">
            <a:noFill/>
            <a:miter lim="800000"/>
            <a:headEnd/>
            <a:tailEnd/>
          </a:ln>
          <a:effectLst/>
        </p:spPr>
        <p:txBody>
          <a:bodyPr>
            <a:spAutoFit/>
          </a:bodyPr>
          <a:lstStyle/>
          <a:p>
            <a:pPr>
              <a:spcAft>
                <a:spcPct val="30000"/>
              </a:spcAft>
              <a:buClr>
                <a:srgbClr val="66FF33"/>
              </a:buClr>
              <a:buSzPct val="85000"/>
              <a:defRPr/>
            </a:pPr>
            <a:r>
              <a:rPr lang="zh-CN" altLang="en-US" sz="2800" kern="0" dirty="0">
                <a:solidFill>
                  <a:schemeClr val="bg1"/>
                </a:solidFill>
                <a:effectLst>
                  <a:outerShdw blurRad="38100" dist="38100" dir="2700000" algn="tl">
                    <a:srgbClr val="000000"/>
                  </a:outerShdw>
                </a:effectLst>
              </a:rPr>
              <a:t>等价</a:t>
            </a:r>
          </a:p>
        </p:txBody>
      </p:sp>
      <p:sp>
        <p:nvSpPr>
          <p:cNvPr id="27" name="AutoShape 82"/>
          <p:cNvSpPr>
            <a:spLocks noChangeArrowheads="1"/>
          </p:cNvSpPr>
          <p:nvPr/>
        </p:nvSpPr>
        <p:spPr bwMode="auto">
          <a:xfrm>
            <a:off x="1700454" y="4161879"/>
            <a:ext cx="431800" cy="571500"/>
          </a:xfrm>
          <a:prstGeom prst="upDownArrow">
            <a:avLst>
              <a:gd name="adj1" fmla="val 50000"/>
              <a:gd name="adj2" fmla="val 26471"/>
            </a:avLst>
          </a:prstGeom>
          <a:solidFill>
            <a:schemeClr val="accent6">
              <a:lumMod val="50000"/>
            </a:schemeClr>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a:defRPr/>
            </a:pPr>
            <a:endParaRPr lang="zh-CN" altLang="en-US" kern="0">
              <a:solidFill>
                <a:sysClr val="windowText" lastClr="000000"/>
              </a:solidFill>
            </a:endParaRPr>
          </a:p>
        </p:txBody>
      </p:sp>
      <p:sp>
        <p:nvSpPr>
          <p:cNvPr id="28" name="AutoShape 83"/>
          <p:cNvSpPr>
            <a:spLocks noChangeArrowheads="1"/>
          </p:cNvSpPr>
          <p:nvPr/>
        </p:nvSpPr>
        <p:spPr bwMode="auto">
          <a:xfrm rot="1595588">
            <a:off x="6260196" y="4123167"/>
            <a:ext cx="2368514" cy="328186"/>
          </a:xfrm>
          <a:prstGeom prst="rightArrow">
            <a:avLst>
              <a:gd name="adj1" fmla="val 50000"/>
              <a:gd name="adj2" fmla="val 68544"/>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a:defRPr/>
            </a:pPr>
            <a:endParaRPr lang="zh-CN" altLang="en-US" kern="0">
              <a:solidFill>
                <a:sysClr val="windowText" lastClr="000000"/>
              </a:solidFill>
            </a:endParaRPr>
          </a:p>
        </p:txBody>
      </p:sp>
      <p:sp>
        <p:nvSpPr>
          <p:cNvPr id="31" name="AutoShape 84"/>
          <p:cNvSpPr>
            <a:spLocks noChangeArrowheads="1"/>
          </p:cNvSpPr>
          <p:nvPr/>
        </p:nvSpPr>
        <p:spPr bwMode="auto">
          <a:xfrm>
            <a:off x="7330135" y="5610181"/>
            <a:ext cx="1155552" cy="359696"/>
          </a:xfrm>
          <a:prstGeom prst="rightArrow">
            <a:avLst>
              <a:gd name="adj1" fmla="val 50000"/>
              <a:gd name="adj2" fmla="val 62225"/>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a:defRPr/>
            </a:pPr>
            <a:endParaRPr lang="zh-CN" altLang="en-US" kern="0">
              <a:solidFill>
                <a:schemeClr val="bg1"/>
              </a:solidFill>
            </a:endParaRPr>
          </a:p>
        </p:txBody>
      </p:sp>
      <p:graphicFrame>
        <p:nvGraphicFramePr>
          <p:cNvPr id="32" name="Group 85"/>
          <p:cNvGraphicFramePr>
            <a:graphicFrameLocks noGrp="1"/>
          </p:cNvGraphicFramePr>
          <p:nvPr>
            <p:extLst>
              <p:ext uri="{D42A27DB-BD31-4B8C-83A1-F6EECF244321}">
                <p14:modId xmlns:p14="http://schemas.microsoft.com/office/powerpoint/2010/main" val="3674822626"/>
              </p:ext>
            </p:extLst>
          </p:nvPr>
        </p:nvGraphicFramePr>
        <p:xfrm>
          <a:off x="8903617" y="4810798"/>
          <a:ext cx="1905000" cy="1828800"/>
        </p:xfrm>
        <a:graphic>
          <a:graphicData uri="http://schemas.openxmlformats.org/drawingml/2006/table">
            <a:tbl>
              <a:tblPr/>
              <a:tblGrid>
                <a:gridCol w="762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tblGrid>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FF9966"/>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FF9966"/>
                          </a:solidFill>
                          <a:effectLst>
                            <a:outerShdw blurRad="38100" dist="38100" dir="2700000" algn="tl">
                              <a:srgbClr val="000000"/>
                            </a:outerShdw>
                          </a:effectLst>
                          <a:latin typeface="宋体" panose="02010600030101010101" pitchFamily="2" charset="-122"/>
                          <a:ea typeface="宋体" panose="02010600030101010101" pitchFamily="2" charset="-122"/>
                        </a:rPr>
                        <a:t>NULL</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孙七</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endPar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67552807"/>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67408" y="0"/>
            <a:ext cx="1684289"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外连接</a:t>
            </a:r>
          </a:p>
        </p:txBody>
      </p:sp>
      <p:sp>
        <p:nvSpPr>
          <p:cNvPr id="15" name="Rectangle 4"/>
          <p:cNvSpPr txBox="1">
            <a:spLocks noChangeArrowheads="1"/>
          </p:cNvSpPr>
          <p:nvPr/>
        </p:nvSpPr>
        <p:spPr bwMode="auto">
          <a:xfrm>
            <a:off x="512140" y="823915"/>
            <a:ext cx="10192372" cy="76944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algn="just" eaLnBrk="1" hangingPunct="1">
              <a:spcAft>
                <a:spcPct val="50000"/>
              </a:spcAft>
              <a:buClr>
                <a:srgbClr val="FFC000"/>
              </a:buClr>
              <a:buFont typeface="Wingdings" pitchFamily="2" charset="2"/>
              <a:buChar char="§"/>
              <a:defRPr/>
            </a:pPr>
            <a:r>
              <a:rPr kumimoji="1" lang="zh-CN" altLang="en-US" sz="4000" dirty="0">
                <a:latin typeface="楷体_GB2312" pitchFamily="49" charset="-122"/>
              </a:rPr>
              <a:t>左</a:t>
            </a:r>
            <a:r>
              <a:rPr kumimoji="1" lang="en-US" altLang="zh-CN" sz="4000" dirty="0">
                <a:latin typeface="楷体_GB2312" pitchFamily="49" charset="-122"/>
              </a:rPr>
              <a:t>/</a:t>
            </a:r>
            <a:r>
              <a:rPr kumimoji="1" lang="zh-CN" altLang="en-US" sz="4000" dirty="0">
                <a:latin typeface="楷体_GB2312" pitchFamily="49" charset="-122"/>
              </a:rPr>
              <a:t>右外连接的并集就是</a:t>
            </a:r>
            <a:r>
              <a:rPr kumimoji="1" lang="zh-CN" altLang="en-US" sz="4400" b="1" dirty="0">
                <a:solidFill>
                  <a:srgbClr val="FFFF00"/>
                </a:solidFill>
                <a:latin typeface="楷体_GB2312" pitchFamily="49" charset="-122"/>
              </a:rPr>
              <a:t>全外连接</a:t>
            </a:r>
            <a:r>
              <a:rPr kumimoji="1" lang="en-US" altLang="zh-CN" sz="4000" dirty="0">
                <a:latin typeface="楷体_GB2312" pitchFamily="49" charset="-122"/>
              </a:rPr>
              <a:t>!</a:t>
            </a:r>
            <a:endParaRPr kumimoji="1" lang="zh-CN" altLang="en-US" sz="4000" dirty="0">
              <a:latin typeface="楷体_GB2312" pitchFamily="49" charset="-122"/>
            </a:endParaRPr>
          </a:p>
        </p:txBody>
      </p:sp>
      <p:sp>
        <p:nvSpPr>
          <p:cNvPr id="19" name="Rectangle 5"/>
          <p:cNvSpPr>
            <a:spLocks noChangeArrowheads="1"/>
          </p:cNvSpPr>
          <p:nvPr/>
        </p:nvSpPr>
        <p:spPr bwMode="auto">
          <a:xfrm>
            <a:off x="767408" y="1858342"/>
            <a:ext cx="6499498" cy="1008063"/>
          </a:xfrm>
          <a:prstGeom prst="rect">
            <a:avLst/>
          </a:prstGeom>
          <a:noFill/>
          <a:ln w="9525">
            <a:noFill/>
            <a:miter lim="800000"/>
            <a:headEnd/>
            <a:tailEnd/>
          </a:ln>
          <a:effectLst/>
        </p:spPr>
        <p:txBody>
          <a:bodyPr/>
          <a:lstStyle/>
          <a:p>
            <a:pPr algn="just">
              <a:lnSpc>
                <a:spcPct val="90000"/>
              </a:lnSpc>
              <a:spcAft>
                <a:spcPct val="0"/>
              </a:spcAft>
              <a:buClr>
                <a:srgbClr val="FFFFFF"/>
              </a:buClr>
              <a:buSzPct val="85000"/>
              <a:defRPr/>
            </a:pPr>
            <a:r>
              <a:rPr lang="en-US" altLang="zh-CN" sz="4000" kern="0" dirty="0">
                <a:solidFill>
                  <a:srgbClr val="99FF33"/>
                </a:solidFill>
                <a:effectLst>
                  <a:outerShdw blurRad="38100" dist="38100" dir="2700000" algn="tl">
                    <a:srgbClr val="000000"/>
                  </a:outerShdw>
                </a:effectLst>
              </a:rPr>
              <a:t>SELECT </a:t>
            </a:r>
            <a:r>
              <a:rPr lang="zh-CN" altLang="en-US" sz="4000" kern="0" dirty="0">
                <a:solidFill>
                  <a:srgbClr val="99FF33"/>
                </a:solidFill>
                <a:effectLst>
                  <a:outerShdw blurRad="38100" dist="38100" dir="2700000" algn="tl">
                    <a:srgbClr val="000000"/>
                  </a:outerShdw>
                </a:effectLst>
              </a:rPr>
              <a:t>姓名</a:t>
            </a:r>
            <a:r>
              <a:rPr lang="en-US" altLang="zh-CN" sz="4000" kern="0" dirty="0">
                <a:solidFill>
                  <a:srgbClr val="99FF33"/>
                </a:solidFill>
                <a:effectLst>
                  <a:outerShdw blurRad="38100" dist="38100" dir="2700000" algn="tl">
                    <a:srgbClr val="000000"/>
                  </a:outerShdw>
                </a:effectLst>
              </a:rPr>
              <a:t>,</a:t>
            </a:r>
            <a:r>
              <a:rPr lang="zh-CN" altLang="en-US" sz="4000" kern="0" dirty="0">
                <a:solidFill>
                  <a:srgbClr val="99FF33"/>
                </a:solidFill>
                <a:effectLst>
                  <a:outerShdw blurRad="38100" dist="38100" dir="2700000" algn="tl">
                    <a:srgbClr val="000000"/>
                  </a:outerShdw>
                </a:effectLst>
              </a:rPr>
              <a:t>课名</a:t>
            </a:r>
          </a:p>
          <a:p>
            <a:pPr algn="just">
              <a:lnSpc>
                <a:spcPct val="90000"/>
              </a:lnSpc>
              <a:spcAft>
                <a:spcPct val="0"/>
              </a:spcAft>
              <a:buClr>
                <a:srgbClr val="FFFFFF"/>
              </a:buClr>
              <a:buSzPct val="85000"/>
              <a:defRPr/>
            </a:pPr>
            <a:r>
              <a:rPr lang="en-US" altLang="zh-CN" sz="4000" kern="0" dirty="0">
                <a:solidFill>
                  <a:srgbClr val="99FF33"/>
                </a:solidFill>
                <a:effectLst>
                  <a:outerShdw blurRad="38100" dist="38100" dir="2700000" algn="tl">
                    <a:srgbClr val="000000"/>
                  </a:outerShdw>
                </a:effectLst>
              </a:rPr>
              <a:t>FROM ST </a:t>
            </a:r>
            <a:r>
              <a:rPr lang="en-US" altLang="zh-CN" sz="4000" kern="0" dirty="0">
                <a:solidFill>
                  <a:srgbClr val="66FFFF"/>
                </a:solidFill>
                <a:effectLst>
                  <a:outerShdw blurRad="38100" dist="38100" dir="2700000" algn="tl">
                    <a:srgbClr val="000000"/>
                  </a:outerShdw>
                </a:effectLst>
              </a:rPr>
              <a:t>FULL OUTER JOIN</a:t>
            </a:r>
            <a:r>
              <a:rPr lang="en-US" altLang="zh-CN" sz="4000" kern="0" dirty="0">
                <a:solidFill>
                  <a:srgbClr val="99FF33"/>
                </a:solidFill>
                <a:effectLst>
                  <a:outerShdw blurRad="38100" dist="38100" dir="2700000" algn="tl">
                    <a:srgbClr val="000000"/>
                  </a:outerShdw>
                </a:effectLst>
              </a:rPr>
              <a:t> C</a:t>
            </a:r>
          </a:p>
          <a:p>
            <a:pPr algn="just">
              <a:lnSpc>
                <a:spcPct val="90000"/>
              </a:lnSpc>
              <a:spcAft>
                <a:spcPct val="0"/>
              </a:spcAft>
              <a:buClr>
                <a:srgbClr val="FFFFFF"/>
              </a:buClr>
              <a:buSzPct val="85000"/>
              <a:defRPr/>
            </a:pPr>
            <a:r>
              <a:rPr lang="en-US" altLang="zh-CN" sz="4000" kern="0" dirty="0">
                <a:solidFill>
                  <a:srgbClr val="99FF33"/>
                </a:solidFill>
                <a:effectLst>
                  <a:outerShdw blurRad="38100" dist="38100" dir="2700000" algn="tl">
                    <a:srgbClr val="000000"/>
                  </a:outerShdw>
                </a:effectLst>
              </a:rPr>
              <a:t>  </a:t>
            </a:r>
            <a:r>
              <a:rPr lang="en-US" altLang="zh-CN" sz="4000" kern="0" dirty="0">
                <a:solidFill>
                  <a:srgbClr val="66FFFF"/>
                </a:solidFill>
                <a:effectLst>
                  <a:outerShdw blurRad="38100" dist="38100" dir="2700000" algn="tl">
                    <a:srgbClr val="000000"/>
                  </a:outerShdw>
                </a:effectLst>
              </a:rPr>
              <a:t>   ON</a:t>
            </a:r>
            <a:r>
              <a:rPr lang="en-US" altLang="zh-CN" sz="4000" kern="0" dirty="0">
                <a:solidFill>
                  <a:srgbClr val="99FF33"/>
                </a:solidFill>
                <a:effectLst>
                  <a:outerShdw blurRad="38100" dist="38100" dir="2700000" algn="tl">
                    <a:srgbClr val="000000"/>
                  </a:outerShdw>
                </a:effectLst>
              </a:rPr>
              <a:t> ST.</a:t>
            </a:r>
            <a:r>
              <a:rPr lang="zh-CN" altLang="en-US" sz="4000" kern="0" dirty="0">
                <a:solidFill>
                  <a:srgbClr val="99FF33"/>
                </a:solidFill>
                <a:effectLst>
                  <a:outerShdw blurRad="38100" dist="38100" dir="2700000" algn="tl">
                    <a:srgbClr val="000000"/>
                  </a:outerShdw>
                </a:effectLst>
              </a:rPr>
              <a:t>课号 </a:t>
            </a:r>
            <a:r>
              <a:rPr lang="en-US" altLang="zh-CN" sz="4000" kern="0" dirty="0">
                <a:solidFill>
                  <a:srgbClr val="99FF33"/>
                </a:solidFill>
                <a:effectLst>
                  <a:outerShdw blurRad="38100" dist="38100" dir="2700000" algn="tl">
                    <a:srgbClr val="000000"/>
                  </a:outerShdw>
                </a:effectLst>
              </a:rPr>
              <a:t>= C.</a:t>
            </a:r>
            <a:r>
              <a:rPr lang="zh-CN" altLang="en-US" sz="4000" kern="0" dirty="0">
                <a:solidFill>
                  <a:srgbClr val="99FF33"/>
                </a:solidFill>
                <a:effectLst>
                  <a:outerShdw blurRad="38100" dist="38100" dir="2700000" algn="tl">
                    <a:srgbClr val="000000"/>
                  </a:outerShdw>
                </a:effectLst>
              </a:rPr>
              <a:t>课号</a:t>
            </a:r>
            <a:endParaRPr lang="zh-CN" altLang="en-US" sz="4000" kern="0" dirty="0">
              <a:solidFill>
                <a:srgbClr val="CCFFCC"/>
              </a:solidFill>
              <a:effectLst>
                <a:outerShdw blurRad="38100" dist="38100" dir="2700000" algn="tl">
                  <a:srgbClr val="000000"/>
                </a:outerShdw>
              </a:effectLst>
              <a:latin typeface="Times New Roman" pitchFamily="18" charset="0"/>
            </a:endParaRPr>
          </a:p>
        </p:txBody>
      </p:sp>
      <p:graphicFrame>
        <p:nvGraphicFramePr>
          <p:cNvPr id="20" name="Group 6"/>
          <p:cNvGraphicFramePr>
            <a:graphicFrameLocks noGrp="1"/>
          </p:cNvGraphicFramePr>
          <p:nvPr>
            <p:extLst>
              <p:ext uri="{D42A27DB-BD31-4B8C-83A1-F6EECF244321}">
                <p14:modId xmlns:p14="http://schemas.microsoft.com/office/powerpoint/2010/main" val="1817281277"/>
              </p:ext>
            </p:extLst>
          </p:nvPr>
        </p:nvGraphicFramePr>
        <p:xfrm>
          <a:off x="1180689" y="4437112"/>
          <a:ext cx="2362200" cy="1828800"/>
        </p:xfrm>
        <a:graphic>
          <a:graphicData uri="http://schemas.openxmlformats.org/drawingml/2006/table">
            <a:tbl>
              <a:tblPr/>
              <a:tblGrid>
                <a:gridCol w="808038">
                  <a:extLst>
                    <a:ext uri="{9D8B030D-6E8A-4147-A177-3AD203B41FA5}">
                      <a16:colId xmlns:a16="http://schemas.microsoft.com/office/drawing/2014/main" val="20000"/>
                    </a:ext>
                  </a:extLst>
                </a:gridCol>
                <a:gridCol w="792162">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孙七</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21" name="Group 46"/>
          <p:cNvGraphicFramePr>
            <a:graphicFrameLocks noGrp="1"/>
          </p:cNvGraphicFramePr>
          <p:nvPr>
            <p:extLst>
              <p:ext uri="{D42A27DB-BD31-4B8C-83A1-F6EECF244321}">
                <p14:modId xmlns:p14="http://schemas.microsoft.com/office/powerpoint/2010/main" val="1141588841"/>
              </p:ext>
            </p:extLst>
          </p:nvPr>
        </p:nvGraphicFramePr>
        <p:xfrm>
          <a:off x="4208051" y="4454574"/>
          <a:ext cx="2362199" cy="1524000"/>
        </p:xfrm>
        <a:graphic>
          <a:graphicData uri="http://schemas.openxmlformats.org/drawingml/2006/table">
            <a:tbl>
              <a:tblPr/>
              <a:tblGrid>
                <a:gridCol w="692369">
                  <a:extLst>
                    <a:ext uri="{9D8B030D-6E8A-4147-A177-3AD203B41FA5}">
                      <a16:colId xmlns:a16="http://schemas.microsoft.com/office/drawing/2014/main" val="20000"/>
                    </a:ext>
                  </a:extLst>
                </a:gridCol>
                <a:gridCol w="1099644">
                  <a:extLst>
                    <a:ext uri="{9D8B030D-6E8A-4147-A177-3AD203B41FA5}">
                      <a16:colId xmlns:a16="http://schemas.microsoft.com/office/drawing/2014/main" val="20001"/>
                    </a:ext>
                  </a:extLst>
                </a:gridCol>
                <a:gridCol w="570186">
                  <a:extLst>
                    <a:ext uri="{9D8B030D-6E8A-4147-A177-3AD203B41FA5}">
                      <a16:colId xmlns:a16="http://schemas.microsoft.com/office/drawing/2014/main" val="20002"/>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学分</a:t>
                      </a:r>
                    </a:p>
                  </a:txBody>
                  <a:tcPr marL="0" marR="0" marT="0" marB="0" horzOverflow="overflow">
                    <a:lnL w="12700" cap="flat" cmpd="sng" algn="ctr">
                      <a:solidFill>
                        <a:srgbClr val="FFFFFF"/>
                      </a:solidFill>
                      <a:prstDash val="solid"/>
                      <a:round/>
                      <a:headEnd type="none" w="med" len="med"/>
                      <a:tailEnd type="none" w="med" len="med"/>
                    </a:lnL>
                    <a:lnR>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4</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K03</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数据库</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K04</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a:t>
                      </a: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语言</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9" name="Rectangle 78"/>
          <p:cNvSpPr>
            <a:spLocks noChangeArrowheads="1"/>
          </p:cNvSpPr>
          <p:nvPr/>
        </p:nvSpPr>
        <p:spPr bwMode="auto">
          <a:xfrm>
            <a:off x="752065" y="4386312"/>
            <a:ext cx="330219"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200" dirty="0">
                <a:solidFill>
                  <a:schemeClr val="bg1"/>
                </a:solidFill>
                <a:effectLst>
                  <a:outerShdw blurRad="38100" dist="38100" dir="2700000" algn="tl">
                    <a:srgbClr val="000000"/>
                  </a:outerShdw>
                </a:effectLst>
                <a:latin typeface="Times New Roman" pitchFamily="18" charset="0"/>
              </a:rPr>
              <a:t>ST</a:t>
            </a:r>
          </a:p>
        </p:txBody>
      </p:sp>
      <p:sp>
        <p:nvSpPr>
          <p:cNvPr id="30" name="Rectangle 79"/>
          <p:cNvSpPr>
            <a:spLocks noChangeArrowheads="1"/>
          </p:cNvSpPr>
          <p:nvPr/>
        </p:nvSpPr>
        <p:spPr bwMode="auto">
          <a:xfrm>
            <a:off x="3935002" y="4424412"/>
            <a:ext cx="187552"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pPr>
            <a:r>
              <a:rPr lang="en-US" altLang="zh-CN" sz="2200">
                <a:solidFill>
                  <a:schemeClr val="bg1"/>
                </a:solidFill>
                <a:effectLst>
                  <a:outerShdw blurRad="38100" dist="38100" dir="2700000" algn="tl">
                    <a:srgbClr val="000000"/>
                  </a:outerShdw>
                </a:effectLst>
                <a:latin typeface="Times New Roman" pitchFamily="18" charset="0"/>
              </a:rPr>
              <a:t>C</a:t>
            </a:r>
          </a:p>
        </p:txBody>
      </p:sp>
      <p:graphicFrame>
        <p:nvGraphicFramePr>
          <p:cNvPr id="33" name="Group 80"/>
          <p:cNvGraphicFramePr>
            <a:graphicFrameLocks noGrp="1"/>
          </p:cNvGraphicFramePr>
          <p:nvPr>
            <p:extLst>
              <p:ext uri="{D42A27DB-BD31-4B8C-83A1-F6EECF244321}">
                <p14:modId xmlns:p14="http://schemas.microsoft.com/office/powerpoint/2010/main" val="1415116303"/>
              </p:ext>
            </p:extLst>
          </p:nvPr>
        </p:nvGraphicFramePr>
        <p:xfrm>
          <a:off x="8041381" y="3717032"/>
          <a:ext cx="2362199" cy="2670896"/>
        </p:xfrm>
        <a:graphic>
          <a:graphicData uri="http://schemas.openxmlformats.org/drawingml/2006/table">
            <a:tbl>
              <a:tblPr/>
              <a:tblGrid>
                <a:gridCol w="944880">
                  <a:extLst>
                    <a:ext uri="{9D8B030D-6E8A-4147-A177-3AD203B41FA5}">
                      <a16:colId xmlns:a16="http://schemas.microsoft.com/office/drawing/2014/main" val="20000"/>
                    </a:ext>
                  </a:extLst>
                </a:gridCol>
                <a:gridCol w="1417319">
                  <a:extLst>
                    <a:ext uri="{9D8B030D-6E8A-4147-A177-3AD203B41FA5}">
                      <a16:colId xmlns:a16="http://schemas.microsoft.com/office/drawing/2014/main" val="20001"/>
                    </a:ext>
                  </a:extLst>
                </a:gridCol>
              </a:tblGrid>
              <a:tr h="33386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3386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386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386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FF9933"/>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FF9933"/>
                          </a:solidFill>
                          <a:effectLst>
                            <a:outerShdw blurRad="38100" dist="38100" dir="2700000" algn="tl">
                              <a:srgbClr val="000000"/>
                            </a:outerShdw>
                          </a:effectLst>
                          <a:latin typeface="宋体" panose="02010600030101010101" pitchFamily="2" charset="-122"/>
                          <a:ea typeface="宋体" panose="02010600030101010101" pitchFamily="2" charset="-122"/>
                        </a:rPr>
                        <a:t>NULL</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386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孙七</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endPar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386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386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FF9933"/>
                          </a:solidFill>
                          <a:effectLst>
                            <a:outerShdw blurRad="38100" dist="38100" dir="2700000" algn="tl">
                              <a:srgbClr val="000000"/>
                            </a:outerShdw>
                          </a:effectLst>
                          <a:latin typeface="宋体" panose="02010600030101010101" pitchFamily="2" charset="-122"/>
                          <a:ea typeface="宋体" panose="02010600030101010101" pitchFamily="2" charset="-122"/>
                        </a:rPr>
                        <a:t>NULL</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FF9933"/>
                          </a:solidFill>
                          <a:effectLst>
                            <a:outerShdw blurRad="38100" dist="38100" dir="2700000" algn="tl">
                              <a:srgbClr val="000000"/>
                            </a:outerShdw>
                          </a:effectLst>
                          <a:latin typeface="宋体" panose="02010600030101010101" pitchFamily="2" charset="-122"/>
                          <a:ea typeface="宋体" panose="02010600030101010101" pitchFamily="2" charset="-122"/>
                        </a:rPr>
                        <a:t>数据库</a:t>
                      </a:r>
                      <a:endParaRPr kumimoji="0" lang="en-US" altLang="zh-CN" sz="2000" b="0" i="0" u="none" strike="noStrike" cap="none" normalizeH="0" baseline="0">
                        <a:ln>
                          <a:noFill/>
                        </a:ln>
                        <a:solidFill>
                          <a:srgbClr val="FF9933"/>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386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FF9933"/>
                          </a:solidFill>
                          <a:effectLst>
                            <a:outerShdw blurRad="38100" dist="38100" dir="2700000" algn="tl">
                              <a:srgbClr val="000000"/>
                            </a:outerShdw>
                          </a:effectLst>
                          <a:latin typeface="宋体" panose="02010600030101010101" pitchFamily="2" charset="-122"/>
                          <a:ea typeface="宋体" panose="02010600030101010101" pitchFamily="2" charset="-122"/>
                        </a:rPr>
                        <a:t>NULL</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FF9933"/>
                          </a:solidFill>
                          <a:effectLst>
                            <a:outerShdw blurRad="38100" dist="38100" dir="2700000" algn="tl">
                              <a:srgbClr val="000000"/>
                            </a:outerShdw>
                          </a:effectLst>
                          <a:latin typeface="宋体" panose="02010600030101010101" pitchFamily="2" charset="-122"/>
                          <a:ea typeface="宋体" panose="02010600030101010101" pitchFamily="2" charset="-122"/>
                        </a:rPr>
                        <a:t>C</a:t>
                      </a:r>
                      <a:r>
                        <a:rPr kumimoji="0" lang="zh-CN" altLang="en-US" sz="2000" b="0" i="0" u="none" strike="noStrike" cap="none" normalizeH="0" baseline="0" dirty="0">
                          <a:ln>
                            <a:noFill/>
                          </a:ln>
                          <a:solidFill>
                            <a:srgbClr val="FF9933"/>
                          </a:solidFill>
                          <a:effectLst>
                            <a:outerShdw blurRad="38100" dist="38100" dir="2700000" algn="tl">
                              <a:srgbClr val="000000"/>
                            </a:outerShdw>
                          </a:effectLst>
                          <a:latin typeface="宋体" panose="02010600030101010101" pitchFamily="2" charset="-122"/>
                          <a:ea typeface="宋体" panose="02010600030101010101" pitchFamily="2" charset="-122"/>
                        </a:rPr>
                        <a:t>语言</a:t>
                      </a:r>
                      <a:endParaRPr kumimoji="0" lang="en-US" altLang="zh-CN" sz="2000" b="0" i="0" u="none" strike="noStrike" cap="none" normalizeH="0" baseline="0" dirty="0">
                        <a:ln>
                          <a:noFill/>
                        </a:ln>
                        <a:solidFill>
                          <a:srgbClr val="FF9933"/>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4" name="AutoShape 119"/>
          <p:cNvSpPr>
            <a:spLocks noChangeArrowheads="1"/>
          </p:cNvSpPr>
          <p:nvPr/>
        </p:nvSpPr>
        <p:spPr bwMode="auto">
          <a:xfrm rot="2013040">
            <a:off x="6672958" y="3428827"/>
            <a:ext cx="1008063" cy="288925"/>
          </a:xfrm>
          <a:prstGeom prst="rightArrow">
            <a:avLst>
              <a:gd name="adj1" fmla="val 50000"/>
              <a:gd name="adj2" fmla="val 87225"/>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a:defRPr/>
            </a:pPr>
            <a:endParaRPr lang="zh-CN" altLang="en-US" kern="0">
              <a:solidFill>
                <a:sysClr val="windowText" lastClr="000000"/>
              </a:solidFill>
            </a:endParaRPr>
          </a:p>
        </p:txBody>
      </p:sp>
      <p:sp>
        <p:nvSpPr>
          <p:cNvPr id="35" name="AutoShape 120"/>
          <p:cNvSpPr>
            <a:spLocks noChangeArrowheads="1"/>
          </p:cNvSpPr>
          <p:nvPr/>
        </p:nvSpPr>
        <p:spPr bwMode="auto">
          <a:xfrm>
            <a:off x="8256240" y="1772816"/>
            <a:ext cx="2827436" cy="1580972"/>
          </a:xfrm>
          <a:prstGeom prst="wedgeRoundRectCallout">
            <a:avLst>
              <a:gd name="adj1" fmla="val -21041"/>
              <a:gd name="adj2" fmla="val 77473"/>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spcAft>
                <a:spcPct val="40000"/>
              </a:spcAft>
              <a:buClr>
                <a:srgbClr val="66FF33"/>
              </a:buClr>
              <a:buSzPct val="85000"/>
              <a:defRPr/>
            </a:pPr>
            <a:r>
              <a:rPr lang="zh-CN" altLang="en-US" sz="3200" kern="0" dirty="0">
                <a:solidFill>
                  <a:srgbClr val="FFFFCC"/>
                </a:solidFill>
                <a:effectLst>
                  <a:outerShdw blurRad="38100" dist="38100" dir="2700000" algn="tl">
                    <a:srgbClr val="000000"/>
                  </a:outerShdw>
                </a:effectLst>
                <a:latin typeface="Arial" charset="0"/>
              </a:rPr>
              <a:t>查询出所有课程与所有学生的选课关系</a:t>
            </a:r>
          </a:p>
        </p:txBody>
      </p:sp>
    </p:spTree>
    <p:extLst>
      <p:ext uri="{BB962C8B-B14F-4D97-AF65-F5344CB8AC3E}">
        <p14:creationId xmlns:p14="http://schemas.microsoft.com/office/powerpoint/2010/main" val="1084669485"/>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2">
            <a:extLst>
              <a:ext uri="{FF2B5EF4-FFF2-40B4-BE49-F238E27FC236}">
                <a16:creationId xmlns:a16="http://schemas.microsoft.com/office/drawing/2014/main" id="{C197123D-82E6-4242-93AB-28B6D919B725}"/>
              </a:ext>
            </a:extLst>
          </p:cNvPr>
          <p:cNvSpPr>
            <a:spLocks noGrp="1" noChangeArrowheads="1"/>
          </p:cNvSpPr>
          <p:nvPr>
            <p:ph type="title"/>
          </p:nvPr>
        </p:nvSpPr>
        <p:spPr>
          <a:xfrm>
            <a:off x="2762746" y="89440"/>
            <a:ext cx="2236510" cy="707886"/>
          </a:xfrm>
        </p:spPr>
        <p:txBody>
          <a:bodyPr/>
          <a:lstStyle/>
          <a:p>
            <a:pPr eaLnBrk="1" hangingPunct="1">
              <a:defRPr/>
            </a:pPr>
            <a:r>
              <a:rPr lang="zh-CN" altLang="en-US" b="1">
                <a:solidFill>
                  <a:schemeClr val="bg2"/>
                </a:solidFill>
                <a:latin typeface="微软雅黑" pitchFamily="34" charset="-122"/>
                <a:ea typeface="微软雅黑" pitchFamily="34" charset="-122"/>
              </a:rPr>
              <a:t>全外连接</a:t>
            </a:r>
          </a:p>
        </p:txBody>
      </p:sp>
      <p:sp>
        <p:nvSpPr>
          <p:cNvPr id="105475" name="Rectangle 3">
            <a:extLst>
              <a:ext uri="{FF2B5EF4-FFF2-40B4-BE49-F238E27FC236}">
                <a16:creationId xmlns:a16="http://schemas.microsoft.com/office/drawing/2014/main" id="{EED85239-4667-4F6E-AF3E-9C8E33CF2194}"/>
              </a:ext>
            </a:extLst>
          </p:cNvPr>
          <p:cNvSpPr>
            <a:spLocks noGrp="1" noChangeArrowheads="1"/>
          </p:cNvSpPr>
          <p:nvPr>
            <p:ph type="body" idx="1"/>
          </p:nvPr>
        </p:nvSpPr>
        <p:spPr/>
        <p:txBody>
          <a:bodyPr/>
          <a:lstStyle/>
          <a:p>
            <a:pPr eaLnBrk="1" hangingPunct="1"/>
            <a:r>
              <a:rPr lang="zh-CN" altLang="en-US" b="1" dirty="0">
                <a:solidFill>
                  <a:schemeClr val="bg2"/>
                </a:solidFill>
                <a:latin typeface="微软雅黑" panose="020B0503020204020204" pitchFamily="34" charset="-122"/>
                <a:ea typeface="微软雅黑" panose="020B0503020204020204" pitchFamily="34" charset="-122"/>
              </a:rPr>
              <a:t>返回两个表中的匹配和不匹配的所有记录。</a:t>
            </a:r>
          </a:p>
          <a:p>
            <a:pPr eaLnBrk="1" hangingPunct="1"/>
            <a:r>
              <a:rPr lang="en-US" altLang="zh-CN" dirty="0">
                <a:solidFill>
                  <a:schemeClr val="bg2"/>
                </a:solidFill>
                <a:latin typeface="微软雅黑" panose="020B0503020204020204" pitchFamily="34" charset="-122"/>
                <a:ea typeface="微软雅黑" panose="020B0503020204020204" pitchFamily="34" charset="-122"/>
              </a:rPr>
              <a:t>Select </a:t>
            </a:r>
            <a:r>
              <a:rPr lang="en-US" altLang="zh-CN" dirty="0" err="1">
                <a:solidFill>
                  <a:schemeClr val="bg2"/>
                </a:solidFill>
                <a:latin typeface="微软雅黑" panose="020B0503020204020204" pitchFamily="34" charset="-122"/>
                <a:ea typeface="微软雅黑" panose="020B0503020204020204" pitchFamily="34" charset="-122"/>
              </a:rPr>
              <a:t>column_name</a:t>
            </a:r>
            <a:r>
              <a:rPr lang="en-US" altLang="zh-CN" dirty="0">
                <a:solidFill>
                  <a:schemeClr val="bg2"/>
                </a:solidFill>
                <a:latin typeface="微软雅黑" panose="020B0503020204020204" pitchFamily="34" charset="-122"/>
                <a:ea typeface="微软雅黑" panose="020B0503020204020204" pitchFamily="34" charset="-122"/>
              </a:rPr>
              <a:t>[,…n]</a:t>
            </a:r>
          </a:p>
          <a:p>
            <a:pPr eaLnBrk="1" hangingPunct="1">
              <a:buFontTx/>
              <a:buNone/>
            </a:pPr>
            <a:r>
              <a:rPr lang="en-US" altLang="zh-CN" dirty="0">
                <a:solidFill>
                  <a:schemeClr val="bg2"/>
                </a:solidFill>
                <a:latin typeface="微软雅黑" panose="020B0503020204020204" pitchFamily="34" charset="-122"/>
                <a:ea typeface="微软雅黑" panose="020B0503020204020204" pitchFamily="34" charset="-122"/>
              </a:rPr>
              <a:t>   [From </a:t>
            </a:r>
            <a:r>
              <a:rPr lang="en-US" altLang="zh-CN" dirty="0" err="1">
                <a:solidFill>
                  <a:schemeClr val="bg2"/>
                </a:solidFill>
                <a:latin typeface="微软雅黑" panose="020B0503020204020204" pitchFamily="34" charset="-122"/>
                <a:ea typeface="微软雅黑" panose="020B0503020204020204" pitchFamily="34" charset="-122"/>
              </a:rPr>
              <a:t>tablenameA</a:t>
            </a:r>
            <a:r>
              <a:rPr lang="en-US" altLang="zh-CN" dirty="0">
                <a:solidFill>
                  <a:schemeClr val="bg2"/>
                </a:solidFill>
                <a:latin typeface="微软雅黑" panose="020B0503020204020204" pitchFamily="34" charset="-122"/>
                <a:ea typeface="微软雅黑" panose="020B0503020204020204" pitchFamily="34" charset="-122"/>
              </a:rPr>
              <a:t> </a:t>
            </a:r>
            <a:r>
              <a:rPr lang="en-US" altLang="zh-CN" dirty="0">
                <a:solidFill>
                  <a:srgbClr val="FF0000"/>
                </a:solidFill>
                <a:latin typeface="微软雅黑" panose="020B0503020204020204" pitchFamily="34" charset="-122"/>
                <a:ea typeface="微软雅黑" panose="020B0503020204020204" pitchFamily="34" charset="-122"/>
              </a:rPr>
              <a:t>FULL Outer JOIN </a:t>
            </a:r>
            <a:r>
              <a:rPr lang="en-US" altLang="zh-CN" dirty="0" err="1">
                <a:solidFill>
                  <a:schemeClr val="bg2"/>
                </a:solidFill>
                <a:latin typeface="微软雅黑" panose="020B0503020204020204" pitchFamily="34" charset="-122"/>
                <a:ea typeface="微软雅黑" panose="020B0503020204020204" pitchFamily="34" charset="-122"/>
              </a:rPr>
              <a:t>tablenameB</a:t>
            </a:r>
            <a:r>
              <a:rPr lang="en-US" altLang="zh-CN" dirty="0">
                <a:solidFill>
                  <a:schemeClr val="bg2"/>
                </a:solidFill>
                <a:latin typeface="微软雅黑" panose="020B0503020204020204" pitchFamily="34" charset="-122"/>
                <a:ea typeface="微软雅黑" panose="020B0503020204020204" pitchFamily="34" charset="-122"/>
              </a:rPr>
              <a:t> […]]</a:t>
            </a:r>
          </a:p>
          <a:p>
            <a:pPr eaLnBrk="1" hangingPunct="1">
              <a:buFontTx/>
              <a:buNone/>
            </a:pPr>
            <a:r>
              <a:rPr lang="en-US" altLang="zh-CN" dirty="0">
                <a:solidFill>
                  <a:schemeClr val="bg2"/>
                </a:solidFill>
                <a:latin typeface="微软雅黑" panose="020B0503020204020204" pitchFamily="34" charset="-122"/>
                <a:ea typeface="微软雅黑" panose="020B0503020204020204" pitchFamily="34" charset="-122"/>
              </a:rPr>
              <a:t>   [ON &lt;</a:t>
            </a:r>
            <a:r>
              <a:rPr lang="en-US" altLang="zh-CN" dirty="0" err="1">
                <a:solidFill>
                  <a:schemeClr val="bg2"/>
                </a:solidFill>
                <a:latin typeface="微软雅黑" panose="020B0503020204020204" pitchFamily="34" charset="-122"/>
                <a:ea typeface="微软雅黑" panose="020B0503020204020204" pitchFamily="34" charset="-122"/>
              </a:rPr>
              <a:t>join_condition</a:t>
            </a:r>
            <a:r>
              <a:rPr lang="en-US" altLang="zh-CN" dirty="0">
                <a:solidFill>
                  <a:schemeClr val="bg2"/>
                </a:solidFill>
                <a:latin typeface="微软雅黑" panose="020B0503020204020204" pitchFamily="34" charset="-122"/>
                <a:ea typeface="微软雅黑" panose="020B0503020204020204" pitchFamily="34" charset="-122"/>
              </a:rPr>
              <a:t>&gt;]</a:t>
            </a:r>
          </a:p>
          <a:p>
            <a:pPr eaLnBrk="1" hangingPunct="1"/>
            <a:r>
              <a:rPr lang="en-US" altLang="zh-CN" b="1" dirty="0">
                <a:solidFill>
                  <a:schemeClr val="bg2"/>
                </a:solidFill>
                <a:latin typeface="微软雅黑" panose="020B0503020204020204" pitchFamily="34" charset="-122"/>
                <a:ea typeface="微软雅黑" panose="020B0503020204020204" pitchFamily="34" charset="-122"/>
              </a:rPr>
              <a:t>mysql </a:t>
            </a:r>
            <a:r>
              <a:rPr lang="zh-CN" altLang="en-US" b="1" dirty="0">
                <a:solidFill>
                  <a:schemeClr val="bg2"/>
                </a:solidFill>
                <a:latin typeface="微软雅黑" panose="020B0503020204020204" pitchFamily="34" charset="-122"/>
                <a:ea typeface="微软雅黑" panose="020B0503020204020204" pitchFamily="34" charset="-122"/>
              </a:rPr>
              <a:t>不支持</a:t>
            </a:r>
            <a:r>
              <a:rPr lang="en-US" altLang="zh-CN" b="1" dirty="0">
                <a:solidFill>
                  <a:schemeClr val="bg2"/>
                </a:solidFill>
                <a:latin typeface="微软雅黑" panose="020B0503020204020204" pitchFamily="34" charset="-122"/>
                <a:ea typeface="微软雅黑" panose="020B0503020204020204" pitchFamily="34" charset="-122"/>
              </a:rPr>
              <a:t>full join</a:t>
            </a:r>
          </a:p>
          <a:p>
            <a:pPr eaLnBrk="1" hangingPunct="1"/>
            <a:r>
              <a:rPr lang="en-US" altLang="zh-CN" sz="2000" dirty="0">
                <a:solidFill>
                  <a:schemeClr val="bg2"/>
                </a:solidFill>
                <a:latin typeface="微软雅黑" panose="020B0503020204020204" pitchFamily="34" charset="-122"/>
              </a:rPr>
              <a:t>mysql&gt; select * from person </a:t>
            </a:r>
            <a:r>
              <a:rPr lang="en-US" altLang="zh-CN" sz="2000" dirty="0">
                <a:solidFill>
                  <a:srgbClr val="FF0000"/>
                </a:solidFill>
                <a:latin typeface="微软雅黑" panose="020B0503020204020204" pitchFamily="34" charset="-122"/>
              </a:rPr>
              <a:t>full  join </a:t>
            </a:r>
            <a:r>
              <a:rPr lang="en-US" altLang="zh-CN" sz="2000" dirty="0">
                <a:solidFill>
                  <a:schemeClr val="bg2"/>
                </a:solidFill>
                <a:latin typeface="微软雅黑" panose="020B0503020204020204" pitchFamily="34" charset="-122"/>
              </a:rPr>
              <a:t>card on </a:t>
            </a:r>
            <a:r>
              <a:rPr lang="en-US" altLang="zh-CN" sz="2000" dirty="0" err="1">
                <a:solidFill>
                  <a:schemeClr val="bg2"/>
                </a:solidFill>
                <a:latin typeface="微软雅黑" panose="020B0503020204020204" pitchFamily="34" charset="-122"/>
              </a:rPr>
              <a:t>person.cardid</a:t>
            </a:r>
            <a:r>
              <a:rPr lang="en-US" altLang="zh-CN" sz="2000" dirty="0">
                <a:solidFill>
                  <a:schemeClr val="bg2"/>
                </a:solidFill>
                <a:latin typeface="微软雅黑" panose="020B0503020204020204" pitchFamily="34" charset="-122"/>
              </a:rPr>
              <a:t>=card.id;</a:t>
            </a:r>
          </a:p>
          <a:p>
            <a:pPr eaLnBrk="1" hangingPunct="1"/>
            <a:r>
              <a:rPr lang="en-US" altLang="zh-CN" sz="2000" dirty="0">
                <a:solidFill>
                  <a:srgbClr val="FF0000"/>
                </a:solidFill>
                <a:latin typeface="微软雅黑" panose="020B0503020204020204" pitchFamily="34" charset="-122"/>
              </a:rPr>
              <a:t>ERROR 1054 (42S22): </a:t>
            </a:r>
            <a:r>
              <a:rPr lang="en-US" altLang="zh-CN" sz="2000" dirty="0">
                <a:solidFill>
                  <a:schemeClr val="bg2"/>
                </a:solidFill>
                <a:latin typeface="微软雅黑" panose="020B0503020204020204" pitchFamily="34" charset="-122"/>
              </a:rPr>
              <a:t>Unknown column '</a:t>
            </a:r>
            <a:r>
              <a:rPr lang="en-US" altLang="zh-CN" sz="2000" dirty="0" err="1">
                <a:solidFill>
                  <a:schemeClr val="bg2"/>
                </a:solidFill>
                <a:latin typeface="微软雅黑" panose="020B0503020204020204" pitchFamily="34" charset="-122"/>
              </a:rPr>
              <a:t>person.cardid</a:t>
            </a:r>
            <a:r>
              <a:rPr lang="en-US" altLang="zh-CN" sz="2000" dirty="0">
                <a:solidFill>
                  <a:schemeClr val="bg2"/>
                </a:solidFill>
                <a:latin typeface="微软雅黑" panose="020B0503020204020204" pitchFamily="34" charset="-122"/>
              </a:rPr>
              <a:t>' in 'on clause'</a:t>
            </a:r>
          </a:p>
        </p:txBody>
      </p:sp>
    </p:spTree>
  </p:cSld>
  <p:clrMapOvr>
    <a:masterClrMapping/>
  </p:clrMapOvr>
  <mc:AlternateContent xmlns:mc="http://schemas.openxmlformats.org/markup-compatibility/2006" xmlns:p14="http://schemas.microsoft.com/office/powerpoint/2010/main">
    <mc:Choice Requires="p14">
      <p:transition p14:dur="0">
        <p:sndAc>
          <p:stSnd>
            <p:snd r:embed="rId3" name="arrow.wav"/>
          </p:stSnd>
        </p:sndAc>
      </p:transition>
    </mc:Choice>
    <mc:Fallback xmlns="">
      <p:transition>
        <p:sndAc>
          <p:stSnd>
            <p:snd r:embed="rId4" name="arrow.wav"/>
          </p:stSnd>
        </p:sndAc>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矩形 2">
            <a:extLst>
              <a:ext uri="{FF2B5EF4-FFF2-40B4-BE49-F238E27FC236}">
                <a16:creationId xmlns:a16="http://schemas.microsoft.com/office/drawing/2014/main" id="{24FA9105-D885-407F-9AE3-ADA6C913E409}"/>
              </a:ext>
            </a:extLst>
          </p:cNvPr>
          <p:cNvSpPr>
            <a:spLocks noChangeArrowheads="1"/>
          </p:cNvSpPr>
          <p:nvPr/>
        </p:nvSpPr>
        <p:spPr bwMode="auto">
          <a:xfrm>
            <a:off x="1981200" y="533400"/>
            <a:ext cx="8077200" cy="1308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2800" b="1" dirty="0">
                <a:solidFill>
                  <a:schemeClr val="bg2"/>
                </a:solidFill>
                <a:latin typeface="微软雅黑" panose="020B0503020204020204" pitchFamily="34" charset="-122"/>
                <a:ea typeface="微软雅黑" panose="020B0503020204020204" pitchFamily="34" charset="-122"/>
              </a:rPr>
              <a:t>mysql</a:t>
            </a:r>
            <a:r>
              <a:rPr lang="zh-CN" altLang="en-US" sz="2800" b="1" dirty="0">
                <a:solidFill>
                  <a:schemeClr val="bg2"/>
                </a:solidFill>
                <a:latin typeface="微软雅黑" panose="020B0503020204020204" pitchFamily="34" charset="-122"/>
                <a:ea typeface="微软雅黑" panose="020B0503020204020204" pitchFamily="34" charset="-122"/>
              </a:rPr>
              <a:t>要想实现全连接，可以使用左外连接和右外连接的并集</a:t>
            </a:r>
            <a:r>
              <a:rPr lang="en-US" altLang="zh-CN" sz="2800" b="1" dirty="0">
                <a:solidFill>
                  <a:schemeClr val="bg2"/>
                </a:solidFill>
                <a:latin typeface="微软雅黑" panose="020B0503020204020204" pitchFamily="34" charset="-122"/>
                <a:ea typeface="微软雅黑" panose="020B0503020204020204" pitchFamily="34" charset="-122"/>
              </a:rPr>
              <a:t>union</a:t>
            </a:r>
            <a:r>
              <a:rPr lang="zh-CN" altLang="en-US" sz="2800" b="1" dirty="0">
                <a:solidFill>
                  <a:schemeClr val="bg2"/>
                </a:solidFill>
                <a:latin typeface="微软雅黑" panose="020B0503020204020204" pitchFamily="34" charset="-122"/>
                <a:ea typeface="微软雅黑" panose="020B0503020204020204" pitchFamily="34" charset="-122"/>
              </a:rPr>
              <a:t>进行连接</a:t>
            </a:r>
          </a:p>
        </p:txBody>
      </p:sp>
      <p:sp>
        <p:nvSpPr>
          <p:cNvPr id="107523" name="矩形 3">
            <a:extLst>
              <a:ext uri="{FF2B5EF4-FFF2-40B4-BE49-F238E27FC236}">
                <a16:creationId xmlns:a16="http://schemas.microsoft.com/office/drawing/2014/main" id="{F26527F8-0068-4A2F-854E-1A87BFFC807C}"/>
              </a:ext>
            </a:extLst>
          </p:cNvPr>
          <p:cNvSpPr>
            <a:spLocks noChangeArrowheads="1"/>
          </p:cNvSpPr>
          <p:nvPr/>
        </p:nvSpPr>
        <p:spPr bwMode="auto">
          <a:xfrm>
            <a:off x="1981200" y="2057401"/>
            <a:ext cx="7696200"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dirty="0">
                <a:solidFill>
                  <a:schemeClr val="bg2"/>
                </a:solidFill>
              </a:rPr>
              <a:t>mysql&gt; select * from person right  join card on person.cardid=card.id</a:t>
            </a:r>
          </a:p>
          <a:p>
            <a:r>
              <a:rPr lang="en-US" altLang="zh-CN" dirty="0">
                <a:solidFill>
                  <a:srgbClr val="FF0000"/>
                </a:solidFill>
              </a:rPr>
              <a:t> union </a:t>
            </a:r>
          </a:p>
          <a:p>
            <a:r>
              <a:rPr lang="en-US" altLang="zh-CN" dirty="0">
                <a:solidFill>
                  <a:schemeClr val="bg2"/>
                </a:solidFill>
              </a:rPr>
              <a:t>select * from person left join card on </a:t>
            </a:r>
            <a:r>
              <a:rPr lang="en-US" altLang="zh-CN" dirty="0" err="1">
                <a:solidFill>
                  <a:schemeClr val="bg2"/>
                </a:solidFill>
              </a:rPr>
              <a:t>person.cardid</a:t>
            </a:r>
            <a:r>
              <a:rPr lang="en-US" altLang="zh-CN" dirty="0">
                <a:solidFill>
                  <a:schemeClr val="bg2"/>
                </a:solidFill>
              </a:rPr>
              <a:t>=card.id;</a:t>
            </a:r>
          </a:p>
          <a:p>
            <a:r>
              <a:rPr lang="en-US" altLang="zh-CN" dirty="0">
                <a:solidFill>
                  <a:schemeClr val="bg2"/>
                </a:solidFill>
              </a:rPr>
              <a:t>+------+------+--------+------+--------+</a:t>
            </a:r>
          </a:p>
          <a:p>
            <a:r>
              <a:rPr lang="en-US" altLang="zh-CN" dirty="0">
                <a:solidFill>
                  <a:schemeClr val="bg2"/>
                </a:solidFill>
              </a:rPr>
              <a:t>| id   | name | </a:t>
            </a:r>
            <a:r>
              <a:rPr lang="en-US" altLang="zh-CN" dirty="0" err="1">
                <a:solidFill>
                  <a:schemeClr val="bg2"/>
                </a:solidFill>
              </a:rPr>
              <a:t>cardid</a:t>
            </a:r>
            <a:r>
              <a:rPr lang="en-US" altLang="zh-CN" dirty="0">
                <a:solidFill>
                  <a:schemeClr val="bg2"/>
                </a:solidFill>
              </a:rPr>
              <a:t> | id   | name   |</a:t>
            </a:r>
          </a:p>
          <a:p>
            <a:r>
              <a:rPr lang="en-US" altLang="zh-CN" dirty="0">
                <a:solidFill>
                  <a:schemeClr val="bg2"/>
                </a:solidFill>
              </a:rPr>
              <a:t>+------+------+--------+------+--------+</a:t>
            </a:r>
          </a:p>
          <a:p>
            <a:r>
              <a:rPr lang="en-US" altLang="zh-CN" dirty="0">
                <a:solidFill>
                  <a:schemeClr val="bg2"/>
                </a:solidFill>
              </a:rPr>
              <a:t>|    1     | </a:t>
            </a:r>
            <a:r>
              <a:rPr lang="zh-CN" altLang="en-US" dirty="0">
                <a:solidFill>
                  <a:schemeClr val="bg2"/>
                </a:solidFill>
              </a:rPr>
              <a:t>张三   </a:t>
            </a:r>
            <a:r>
              <a:rPr lang="en-US" altLang="zh-CN" dirty="0">
                <a:solidFill>
                  <a:schemeClr val="bg2"/>
                </a:solidFill>
              </a:rPr>
              <a:t>|      1     |    1     | </a:t>
            </a:r>
            <a:r>
              <a:rPr lang="zh-CN" altLang="en-US" dirty="0">
                <a:solidFill>
                  <a:schemeClr val="bg2"/>
                </a:solidFill>
              </a:rPr>
              <a:t>饭卡     </a:t>
            </a:r>
            <a:r>
              <a:rPr lang="en-US" altLang="zh-CN" dirty="0">
                <a:solidFill>
                  <a:schemeClr val="bg2"/>
                </a:solidFill>
              </a:rPr>
              <a:t>|</a:t>
            </a:r>
          </a:p>
          <a:p>
            <a:r>
              <a:rPr lang="en-US" altLang="zh-CN" dirty="0">
                <a:solidFill>
                  <a:schemeClr val="bg2"/>
                </a:solidFill>
              </a:rPr>
              <a:t>|    2     | </a:t>
            </a:r>
            <a:r>
              <a:rPr lang="zh-CN" altLang="en-US" dirty="0">
                <a:solidFill>
                  <a:schemeClr val="bg2"/>
                </a:solidFill>
              </a:rPr>
              <a:t>李四   </a:t>
            </a:r>
            <a:r>
              <a:rPr lang="en-US" altLang="zh-CN" dirty="0">
                <a:solidFill>
                  <a:schemeClr val="bg2"/>
                </a:solidFill>
              </a:rPr>
              <a:t>|      3     |    3     | </a:t>
            </a:r>
            <a:r>
              <a:rPr lang="zh-CN" altLang="en-US" dirty="0">
                <a:solidFill>
                  <a:schemeClr val="bg2"/>
                </a:solidFill>
              </a:rPr>
              <a:t>农行卡 </a:t>
            </a:r>
            <a:r>
              <a:rPr lang="en-US" altLang="zh-CN" dirty="0">
                <a:solidFill>
                  <a:schemeClr val="bg2"/>
                </a:solidFill>
              </a:rPr>
              <a:t>|</a:t>
            </a:r>
          </a:p>
          <a:p>
            <a:r>
              <a:rPr lang="en-US" altLang="zh-CN" dirty="0">
                <a:solidFill>
                  <a:schemeClr val="bg2"/>
                </a:solidFill>
              </a:rPr>
              <a:t>| NULL | NULL |   NULL |    2     | </a:t>
            </a:r>
            <a:r>
              <a:rPr lang="zh-CN" altLang="en-US" dirty="0">
                <a:solidFill>
                  <a:schemeClr val="bg2"/>
                </a:solidFill>
              </a:rPr>
              <a:t>建行卡 </a:t>
            </a:r>
            <a:r>
              <a:rPr lang="en-US" altLang="zh-CN" dirty="0">
                <a:solidFill>
                  <a:schemeClr val="bg2"/>
                </a:solidFill>
              </a:rPr>
              <a:t>|</a:t>
            </a:r>
          </a:p>
          <a:p>
            <a:r>
              <a:rPr lang="en-US" altLang="zh-CN" dirty="0">
                <a:solidFill>
                  <a:schemeClr val="bg2"/>
                </a:solidFill>
              </a:rPr>
              <a:t>| NULL | NULL |   NULL |    4     | </a:t>
            </a:r>
            <a:r>
              <a:rPr lang="zh-CN" altLang="en-US" dirty="0">
                <a:solidFill>
                  <a:schemeClr val="bg2"/>
                </a:solidFill>
              </a:rPr>
              <a:t>工商卡 </a:t>
            </a:r>
            <a:r>
              <a:rPr lang="en-US" altLang="zh-CN" dirty="0">
                <a:solidFill>
                  <a:schemeClr val="bg2"/>
                </a:solidFill>
              </a:rPr>
              <a:t>|</a:t>
            </a:r>
          </a:p>
          <a:p>
            <a:r>
              <a:rPr lang="en-US" altLang="zh-CN" dirty="0">
                <a:solidFill>
                  <a:schemeClr val="bg2"/>
                </a:solidFill>
              </a:rPr>
              <a:t>| NULL | NULL |   NULL |    5     | </a:t>
            </a:r>
            <a:r>
              <a:rPr lang="zh-CN" altLang="en-US" dirty="0">
                <a:solidFill>
                  <a:schemeClr val="bg2"/>
                </a:solidFill>
              </a:rPr>
              <a:t>邮政卡 </a:t>
            </a:r>
            <a:r>
              <a:rPr lang="en-US" altLang="zh-CN" dirty="0">
                <a:solidFill>
                  <a:schemeClr val="bg2"/>
                </a:solidFill>
              </a:rPr>
              <a:t>|</a:t>
            </a:r>
          </a:p>
          <a:p>
            <a:r>
              <a:rPr lang="en-US" altLang="zh-CN" dirty="0">
                <a:solidFill>
                  <a:schemeClr val="bg2"/>
                </a:solidFill>
              </a:rPr>
              <a:t>|    3     | </a:t>
            </a:r>
            <a:r>
              <a:rPr lang="zh-CN" altLang="en-US" dirty="0">
                <a:solidFill>
                  <a:schemeClr val="bg2"/>
                </a:solidFill>
              </a:rPr>
              <a:t>王五   </a:t>
            </a:r>
            <a:r>
              <a:rPr lang="en-US" altLang="zh-CN" dirty="0">
                <a:solidFill>
                  <a:schemeClr val="bg2"/>
                </a:solidFill>
              </a:rPr>
              <a:t>|      6     | NULL | NULL   |</a:t>
            </a:r>
          </a:p>
          <a:p>
            <a:r>
              <a:rPr lang="en-US" altLang="zh-CN" dirty="0">
                <a:solidFill>
                  <a:schemeClr val="bg2"/>
                </a:solidFill>
              </a:rPr>
              <a:t>+------+------+--------+------+--------+</a:t>
            </a:r>
            <a:endParaRPr lang="zh-CN" altLang="en-US" dirty="0">
              <a:solidFill>
                <a:schemeClr val="bg2"/>
              </a:solidFill>
            </a:endParaRP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67408" y="1835"/>
            <a:ext cx="1684289"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自连接</a:t>
            </a:r>
          </a:p>
        </p:txBody>
      </p:sp>
      <p:sp>
        <p:nvSpPr>
          <p:cNvPr id="25" name="Rectangle 257"/>
          <p:cNvSpPr txBox="1">
            <a:spLocks noChangeArrowheads="1"/>
          </p:cNvSpPr>
          <p:nvPr/>
        </p:nvSpPr>
        <p:spPr bwMode="auto">
          <a:xfrm>
            <a:off x="552451" y="835531"/>
            <a:ext cx="853122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marL="342900" indent="-342900" algn="l" rtl="0" fontAlgn="base">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fontAlgn="base">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fontAlgn="base">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fontAlgn="base">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269875" indent="-269875" algn="just">
              <a:spcAft>
                <a:spcPct val="50000"/>
              </a:spcAft>
              <a:buClr>
                <a:srgbClr val="FFC000"/>
              </a:buClr>
              <a:buFont typeface="Wingdings" pitchFamily="2" charset="2"/>
              <a:buChar char="§"/>
            </a:pPr>
            <a:r>
              <a:rPr kumimoji="1" lang="zh-CN" altLang="en-US" sz="4000" dirty="0">
                <a:latin typeface="+mj-ea"/>
                <a:ea typeface="+mj-ea"/>
              </a:rPr>
              <a:t>表自己和自己联接</a:t>
            </a:r>
          </a:p>
        </p:txBody>
      </p:sp>
      <p:graphicFrame>
        <p:nvGraphicFramePr>
          <p:cNvPr id="26" name="Group 258"/>
          <p:cNvGraphicFramePr>
            <a:graphicFrameLocks noGrp="1"/>
          </p:cNvGraphicFramePr>
          <p:nvPr>
            <p:extLst>
              <p:ext uri="{D42A27DB-BD31-4B8C-83A1-F6EECF244321}">
                <p14:modId xmlns:p14="http://schemas.microsoft.com/office/powerpoint/2010/main" val="2813391723"/>
              </p:ext>
            </p:extLst>
          </p:nvPr>
        </p:nvGraphicFramePr>
        <p:xfrm>
          <a:off x="8400256" y="835531"/>
          <a:ext cx="3096344" cy="2438400"/>
        </p:xfrm>
        <a:graphic>
          <a:graphicData uri="http://schemas.openxmlformats.org/drawingml/2006/table">
            <a:tbl>
              <a:tblPr/>
              <a:tblGrid>
                <a:gridCol w="602962">
                  <a:extLst>
                    <a:ext uri="{9D8B030D-6E8A-4147-A177-3AD203B41FA5}">
                      <a16:colId xmlns:a16="http://schemas.microsoft.com/office/drawing/2014/main" val="20000"/>
                    </a:ext>
                  </a:extLst>
                </a:gridCol>
                <a:gridCol w="1308314">
                  <a:extLst>
                    <a:ext uri="{9D8B030D-6E8A-4147-A177-3AD203B41FA5}">
                      <a16:colId xmlns:a16="http://schemas.microsoft.com/office/drawing/2014/main" val="20001"/>
                    </a:ext>
                  </a:extLst>
                </a:gridCol>
                <a:gridCol w="1185068">
                  <a:extLst>
                    <a:ext uri="{9D8B030D-6E8A-4147-A177-3AD203B41FA5}">
                      <a16:colId xmlns:a16="http://schemas.microsoft.com/office/drawing/2014/main" val="20002"/>
                    </a:ext>
                  </a:extLst>
                </a:gridCol>
              </a:tblGrid>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先修课号</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数据库</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5</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数学</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信息系统</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操作系统</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6</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7</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6</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数据处理</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7</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a:t>
                      </a: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语言</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6</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7" name="Rectangle 304"/>
          <p:cNvSpPr>
            <a:spLocks noChangeArrowheads="1"/>
          </p:cNvSpPr>
          <p:nvPr/>
        </p:nvSpPr>
        <p:spPr bwMode="auto">
          <a:xfrm>
            <a:off x="8112919" y="860932"/>
            <a:ext cx="171522"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dirty="0">
                <a:solidFill>
                  <a:schemeClr val="bg1"/>
                </a:solidFill>
                <a:effectLst>
                  <a:outerShdw blurRad="38100" dist="38100" dir="2700000" algn="tl">
                    <a:srgbClr val="000000"/>
                  </a:outerShdw>
                </a:effectLst>
                <a:latin typeface="Times New Roman" pitchFamily="18" charset="0"/>
                <a:ea typeface="楷体_GB2312" pitchFamily="49" charset="-122"/>
              </a:rPr>
              <a:t>C</a:t>
            </a:r>
          </a:p>
        </p:txBody>
      </p:sp>
      <p:sp>
        <p:nvSpPr>
          <p:cNvPr id="28" name="Rectangle 305"/>
          <p:cNvSpPr>
            <a:spLocks noChangeArrowheads="1"/>
          </p:cNvSpPr>
          <p:nvPr/>
        </p:nvSpPr>
        <p:spPr bwMode="auto">
          <a:xfrm>
            <a:off x="7823995" y="3958143"/>
            <a:ext cx="466725"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kumimoji="1" lang="en-US" altLang="zh-CN" sz="2000">
                <a:solidFill>
                  <a:srgbClr val="66FF66"/>
                </a:solidFill>
                <a:effectLst>
                  <a:outerShdw blurRad="38100" dist="38100" dir="2700000" algn="tl">
                    <a:srgbClr val="000000"/>
                  </a:outerShdw>
                </a:effectLst>
                <a:latin typeface="Times New Roman" pitchFamily="18" charset="0"/>
                <a:ea typeface="楷体_GB2312" pitchFamily="49" charset="-122"/>
              </a:rPr>
              <a:t>PRE</a:t>
            </a:r>
            <a:endParaRPr kumimoji="1" lang="zh-CN" altLang="en-US" sz="2000">
              <a:solidFill>
                <a:srgbClr val="66FF66"/>
              </a:solidFill>
              <a:effectLst>
                <a:outerShdw blurRad="38100" dist="38100" dir="2700000" algn="tl">
                  <a:srgbClr val="000000"/>
                </a:outerShdw>
              </a:effectLst>
              <a:latin typeface="Times New Roman" pitchFamily="18" charset="0"/>
              <a:ea typeface="楷体_GB2312" pitchFamily="49" charset="-122"/>
            </a:endParaRPr>
          </a:p>
        </p:txBody>
      </p:sp>
      <p:sp>
        <p:nvSpPr>
          <p:cNvPr id="33" name="Rectangle 306"/>
          <p:cNvSpPr>
            <a:spLocks noChangeArrowheads="1"/>
          </p:cNvSpPr>
          <p:nvPr/>
        </p:nvSpPr>
        <p:spPr bwMode="auto">
          <a:xfrm>
            <a:off x="822620" y="1616154"/>
            <a:ext cx="7019925" cy="100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buClr>
                <a:srgbClr val="FFFFFF"/>
              </a:buClr>
              <a:buSzPct val="85000"/>
              <a:defRPr/>
            </a:pPr>
            <a:r>
              <a:rPr kumimoji="1" lang="en-US" altLang="zh-CN" sz="3600" kern="0" dirty="0">
                <a:solidFill>
                  <a:srgbClr val="99FF33"/>
                </a:solidFill>
                <a:effectLst>
                  <a:outerShdw blurRad="38100" dist="38100" dir="2700000" algn="tl">
                    <a:srgbClr val="000000"/>
                  </a:outerShdw>
                </a:effectLst>
                <a:ea typeface="宋体" panose="02010600030101010101" pitchFamily="2" charset="-122"/>
                <a:cs typeface="Times New Roman" panose="02020603050405020304" pitchFamily="18" charset="0"/>
              </a:rPr>
              <a:t>SELECT C.</a:t>
            </a:r>
            <a:r>
              <a:rPr kumimoji="1" lang="zh-CN" altLang="en-US" sz="3600" kern="0" dirty="0">
                <a:solidFill>
                  <a:srgbClr val="99FF33"/>
                </a:solidFill>
                <a:effectLst>
                  <a:outerShdw blurRad="38100" dist="38100" dir="2700000" algn="tl">
                    <a:srgbClr val="000000"/>
                  </a:outerShdw>
                </a:effectLst>
                <a:ea typeface="宋体" panose="02010600030101010101" pitchFamily="2" charset="-122"/>
                <a:cs typeface="Times New Roman" panose="02020603050405020304" pitchFamily="18" charset="0"/>
              </a:rPr>
              <a:t>课名</a:t>
            </a:r>
            <a:r>
              <a:rPr kumimoji="1" lang="en-US" altLang="zh-CN" sz="3600" kern="0" dirty="0">
                <a:solidFill>
                  <a:srgbClr val="99FF33"/>
                </a:solidFill>
                <a:effectLst>
                  <a:outerShdw blurRad="38100" dist="38100" dir="2700000" algn="tl">
                    <a:srgbClr val="000000"/>
                  </a:outerShdw>
                </a:effectLst>
                <a:ea typeface="宋体" panose="02010600030101010101" pitchFamily="2" charset="-122"/>
                <a:cs typeface="Times New Roman" panose="02020603050405020304" pitchFamily="18" charset="0"/>
              </a:rPr>
              <a:t>,</a:t>
            </a:r>
          </a:p>
          <a:p>
            <a:pPr algn="just">
              <a:buClr>
                <a:srgbClr val="FFFFFF"/>
              </a:buClr>
              <a:buSzPct val="85000"/>
              <a:defRPr/>
            </a:pPr>
            <a:r>
              <a:rPr kumimoji="1" lang="en-US" altLang="zh-CN" sz="3600" kern="0" dirty="0">
                <a:solidFill>
                  <a:srgbClr val="99FF33"/>
                </a:solidFill>
                <a:effectLst>
                  <a:outerShdw blurRad="38100" dist="38100" dir="2700000" algn="tl">
                    <a:srgbClr val="000000"/>
                  </a:outerShdw>
                </a:effectLst>
                <a:ea typeface="宋体" panose="02010600030101010101" pitchFamily="2" charset="-122"/>
                <a:cs typeface="Times New Roman" panose="02020603050405020304" pitchFamily="18" charset="0"/>
              </a:rPr>
              <a:t>       PRE.</a:t>
            </a:r>
            <a:r>
              <a:rPr kumimoji="1" lang="zh-CN" altLang="en-US" sz="3600" kern="0" dirty="0">
                <a:solidFill>
                  <a:srgbClr val="99FF33"/>
                </a:solidFill>
                <a:effectLst>
                  <a:outerShdw blurRad="38100" dist="38100" dir="2700000" algn="tl">
                    <a:srgbClr val="000000"/>
                  </a:outerShdw>
                </a:effectLst>
                <a:ea typeface="宋体" panose="02010600030101010101" pitchFamily="2" charset="-122"/>
                <a:cs typeface="Times New Roman" panose="02020603050405020304" pitchFamily="18" charset="0"/>
              </a:rPr>
              <a:t>课名 </a:t>
            </a:r>
            <a:r>
              <a:rPr kumimoji="1" lang="en-US" altLang="zh-CN" sz="3600" kern="0" dirty="0">
                <a:solidFill>
                  <a:srgbClr val="99FF33"/>
                </a:solidFill>
                <a:effectLst>
                  <a:outerShdw blurRad="38100" dist="38100" dir="2700000" algn="tl">
                    <a:srgbClr val="000000"/>
                  </a:outerShdw>
                </a:effectLst>
                <a:ea typeface="宋体" panose="02010600030101010101" pitchFamily="2" charset="-122"/>
                <a:cs typeface="Times New Roman" panose="02020603050405020304" pitchFamily="18" charset="0"/>
              </a:rPr>
              <a:t>AS </a:t>
            </a:r>
            <a:r>
              <a:rPr kumimoji="1" lang="zh-CN" altLang="en-US" sz="3600" kern="0" dirty="0">
                <a:solidFill>
                  <a:srgbClr val="99FF33"/>
                </a:solidFill>
                <a:effectLst>
                  <a:outerShdw blurRad="38100" dist="38100" dir="2700000" algn="tl">
                    <a:srgbClr val="000000"/>
                  </a:outerShdw>
                </a:effectLst>
                <a:ea typeface="宋体" panose="02010600030101010101" pitchFamily="2" charset="-122"/>
                <a:cs typeface="Times New Roman" panose="02020603050405020304" pitchFamily="18" charset="0"/>
              </a:rPr>
              <a:t>先修课</a:t>
            </a:r>
          </a:p>
          <a:p>
            <a:pPr algn="just">
              <a:buClr>
                <a:srgbClr val="FFFFFF"/>
              </a:buClr>
              <a:buSzPct val="85000"/>
              <a:defRPr/>
            </a:pPr>
            <a:r>
              <a:rPr kumimoji="1" lang="en-US" altLang="zh-CN" sz="3600" kern="0" dirty="0">
                <a:solidFill>
                  <a:srgbClr val="99FF33"/>
                </a:solidFill>
                <a:effectLst>
                  <a:outerShdw blurRad="38100" dist="38100" dir="2700000" algn="tl">
                    <a:srgbClr val="000000"/>
                  </a:outerShdw>
                </a:effectLst>
                <a:ea typeface="宋体" panose="02010600030101010101" pitchFamily="2" charset="-122"/>
                <a:cs typeface="Times New Roman" panose="02020603050405020304" pitchFamily="18" charset="0"/>
              </a:rPr>
              <a:t>  FROM C, </a:t>
            </a:r>
            <a:r>
              <a:rPr kumimoji="1" lang="en-US" altLang="zh-CN" sz="3600" b="1" kern="0" dirty="0">
                <a:solidFill>
                  <a:srgbClr val="FFCC00"/>
                </a:solidFill>
                <a:effectLst>
                  <a:outerShdw blurRad="38100" dist="38100" dir="2700000" algn="tl">
                    <a:srgbClr val="000000"/>
                  </a:outerShdw>
                </a:effectLst>
                <a:ea typeface="宋体" panose="02010600030101010101" pitchFamily="2" charset="-122"/>
                <a:cs typeface="Times New Roman" panose="02020603050405020304" pitchFamily="18" charset="0"/>
              </a:rPr>
              <a:t>C as PRE</a:t>
            </a:r>
          </a:p>
          <a:p>
            <a:pPr algn="just">
              <a:buClr>
                <a:srgbClr val="FFFFFF"/>
              </a:buClr>
              <a:buSzPct val="85000"/>
              <a:defRPr/>
            </a:pPr>
            <a:r>
              <a:rPr kumimoji="1" lang="en-US" altLang="zh-CN" sz="3600" kern="0" dirty="0">
                <a:solidFill>
                  <a:srgbClr val="99FF33"/>
                </a:solidFill>
                <a:effectLst>
                  <a:outerShdw blurRad="38100" dist="38100" dir="2700000" algn="tl">
                    <a:srgbClr val="000000"/>
                  </a:outerShdw>
                </a:effectLst>
                <a:ea typeface="宋体" panose="02010600030101010101" pitchFamily="2" charset="-122"/>
                <a:cs typeface="Times New Roman" panose="02020603050405020304" pitchFamily="18" charset="0"/>
              </a:rPr>
              <a:t> WHERE C.</a:t>
            </a:r>
            <a:r>
              <a:rPr kumimoji="1" lang="zh-CN" altLang="en-US" sz="3600" kern="0" dirty="0">
                <a:solidFill>
                  <a:srgbClr val="99FF33"/>
                </a:solidFill>
                <a:effectLst>
                  <a:outerShdw blurRad="38100" dist="38100" dir="2700000" algn="tl">
                    <a:srgbClr val="000000"/>
                  </a:outerShdw>
                </a:effectLst>
                <a:ea typeface="宋体" panose="02010600030101010101" pitchFamily="2" charset="-122"/>
                <a:cs typeface="Times New Roman" panose="02020603050405020304" pitchFamily="18" charset="0"/>
              </a:rPr>
              <a:t>先修课号 </a:t>
            </a:r>
            <a:r>
              <a:rPr kumimoji="1" lang="en-US" altLang="zh-CN" sz="3600" kern="0" dirty="0">
                <a:solidFill>
                  <a:srgbClr val="99FF33"/>
                </a:solidFill>
                <a:effectLst>
                  <a:outerShdw blurRad="38100" dist="38100" dir="2700000" algn="tl">
                    <a:srgbClr val="000000"/>
                  </a:outerShdw>
                </a:effectLst>
                <a:ea typeface="宋体" panose="02010600030101010101" pitchFamily="2" charset="-122"/>
                <a:cs typeface="Times New Roman" panose="02020603050405020304" pitchFamily="18" charset="0"/>
              </a:rPr>
              <a:t>= </a:t>
            </a:r>
            <a:r>
              <a:rPr kumimoji="1" lang="en-US" altLang="zh-CN" sz="3600" b="1" kern="0" dirty="0">
                <a:solidFill>
                  <a:srgbClr val="FFCC00"/>
                </a:solidFill>
                <a:effectLst>
                  <a:outerShdw blurRad="38100" dist="38100" dir="2700000" algn="tl">
                    <a:srgbClr val="000000"/>
                  </a:outerShdw>
                </a:effectLst>
                <a:ea typeface="宋体" panose="02010600030101010101" pitchFamily="2" charset="-122"/>
                <a:cs typeface="Times New Roman" panose="02020603050405020304" pitchFamily="18" charset="0"/>
              </a:rPr>
              <a:t>PRE</a:t>
            </a:r>
            <a:r>
              <a:rPr kumimoji="1" lang="en-US" altLang="zh-CN" sz="3600" kern="0" dirty="0">
                <a:solidFill>
                  <a:srgbClr val="99FF33"/>
                </a:solidFill>
                <a:effectLst>
                  <a:outerShdw blurRad="38100" dist="38100" dir="2700000" algn="tl">
                    <a:srgbClr val="000000"/>
                  </a:outerShdw>
                </a:effectLst>
                <a:ea typeface="宋体" panose="02010600030101010101" pitchFamily="2" charset="-122"/>
                <a:cs typeface="Times New Roman" panose="02020603050405020304" pitchFamily="18" charset="0"/>
              </a:rPr>
              <a:t>.</a:t>
            </a:r>
            <a:r>
              <a:rPr kumimoji="1" lang="zh-CN" altLang="en-US" sz="3600" kern="0" dirty="0">
                <a:solidFill>
                  <a:srgbClr val="99FF33"/>
                </a:solidFill>
                <a:effectLst>
                  <a:outerShdw blurRad="38100" dist="38100" dir="2700000" algn="tl">
                    <a:srgbClr val="000000"/>
                  </a:outerShdw>
                </a:effectLst>
                <a:ea typeface="宋体" panose="02010600030101010101" pitchFamily="2" charset="-122"/>
                <a:cs typeface="Times New Roman" panose="02020603050405020304" pitchFamily="18" charset="0"/>
              </a:rPr>
              <a:t>课号</a:t>
            </a:r>
          </a:p>
        </p:txBody>
      </p:sp>
      <p:graphicFrame>
        <p:nvGraphicFramePr>
          <p:cNvPr id="34" name="Group 307"/>
          <p:cNvGraphicFramePr>
            <a:graphicFrameLocks noGrp="1"/>
          </p:cNvGraphicFramePr>
          <p:nvPr>
            <p:extLst>
              <p:ext uri="{D42A27DB-BD31-4B8C-83A1-F6EECF244321}">
                <p14:modId xmlns:p14="http://schemas.microsoft.com/office/powerpoint/2010/main" val="674812944"/>
              </p:ext>
            </p:extLst>
          </p:nvPr>
        </p:nvGraphicFramePr>
        <p:xfrm>
          <a:off x="1127448" y="4579692"/>
          <a:ext cx="3090664" cy="2017662"/>
        </p:xfrm>
        <a:graphic>
          <a:graphicData uri="http://schemas.openxmlformats.org/drawingml/2006/table">
            <a:tbl>
              <a:tblPr/>
              <a:tblGrid>
                <a:gridCol w="1404847">
                  <a:extLst>
                    <a:ext uri="{9D8B030D-6E8A-4147-A177-3AD203B41FA5}">
                      <a16:colId xmlns:a16="http://schemas.microsoft.com/office/drawing/2014/main" val="20000"/>
                    </a:ext>
                  </a:extLst>
                </a:gridCol>
                <a:gridCol w="1685817">
                  <a:extLst>
                    <a:ext uri="{9D8B030D-6E8A-4147-A177-3AD203B41FA5}">
                      <a16:colId xmlns:a16="http://schemas.microsoft.com/office/drawing/2014/main" val="20001"/>
                    </a:ext>
                  </a:extLst>
                </a:gridCol>
              </a:tblGrid>
              <a:tr h="33627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先修课</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3627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数据库</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627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信息系统</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数据库</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627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操作系统</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数据处理</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627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a:t>
                      </a: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语言</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27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a:t>
                      </a: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语言</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数据处理</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5" name="AutoShape 334"/>
          <p:cNvSpPr>
            <a:spLocks noChangeArrowheads="1"/>
          </p:cNvSpPr>
          <p:nvPr/>
        </p:nvSpPr>
        <p:spPr bwMode="auto">
          <a:xfrm>
            <a:off x="5808367" y="1028986"/>
            <a:ext cx="2015579" cy="1241287"/>
          </a:xfrm>
          <a:prstGeom prst="wedgeRoundRectCallout">
            <a:avLst>
              <a:gd name="adj1" fmla="val 58245"/>
              <a:gd name="adj2" fmla="val -25736"/>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just">
              <a:spcAft>
                <a:spcPct val="40000"/>
              </a:spcAft>
              <a:buClr>
                <a:srgbClr val="66FF33"/>
              </a:buClr>
              <a:buSzPct val="85000"/>
              <a:defRPr/>
            </a:pPr>
            <a:r>
              <a:rPr lang="zh-CN" altLang="en-US" sz="3200" kern="0" dirty="0">
                <a:solidFill>
                  <a:srgbClr val="FFFFCC"/>
                </a:solidFill>
                <a:effectLst>
                  <a:outerShdw blurRad="38100" dist="38100" dir="2700000" algn="tl">
                    <a:srgbClr val="000000"/>
                  </a:outerShdw>
                </a:effectLst>
                <a:latin typeface="+mj-ea"/>
                <a:ea typeface="+mj-ea"/>
              </a:rPr>
              <a:t>信息都在此表中</a:t>
            </a:r>
          </a:p>
        </p:txBody>
      </p:sp>
      <p:sp>
        <p:nvSpPr>
          <p:cNvPr id="36" name="AutoShape 335"/>
          <p:cNvSpPr>
            <a:spLocks noChangeArrowheads="1"/>
          </p:cNvSpPr>
          <p:nvPr/>
        </p:nvSpPr>
        <p:spPr bwMode="auto">
          <a:xfrm>
            <a:off x="5879976" y="4796343"/>
            <a:ext cx="2231355" cy="1646238"/>
          </a:xfrm>
          <a:prstGeom prst="wedgeRoundRectCallout">
            <a:avLst>
              <a:gd name="adj1" fmla="val 43671"/>
              <a:gd name="adj2" fmla="val -67750"/>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just">
              <a:spcAft>
                <a:spcPct val="40000"/>
              </a:spcAft>
              <a:buClr>
                <a:srgbClr val="66FF33"/>
              </a:buClr>
              <a:buSzPct val="85000"/>
              <a:defRPr/>
            </a:pPr>
            <a:r>
              <a:rPr lang="zh-CN" altLang="en-US" sz="3200" kern="0" dirty="0">
                <a:solidFill>
                  <a:srgbClr val="FFFFCC"/>
                </a:solidFill>
                <a:effectLst>
                  <a:outerShdw blurRad="38100" dist="38100" dir="2700000" algn="tl">
                    <a:srgbClr val="000000"/>
                  </a:outerShdw>
                </a:effectLst>
                <a:latin typeface="+mj-ea"/>
                <a:ea typeface="+mj-ea"/>
              </a:rPr>
              <a:t>相当于另一张与</a:t>
            </a:r>
            <a:r>
              <a:rPr lang="en-US" altLang="zh-CN" sz="3200" kern="0" dirty="0">
                <a:solidFill>
                  <a:srgbClr val="FFFFCC"/>
                </a:solidFill>
                <a:effectLst>
                  <a:outerShdw blurRad="38100" dist="38100" dir="2700000" algn="tl">
                    <a:srgbClr val="000000"/>
                  </a:outerShdw>
                </a:effectLst>
                <a:latin typeface="+mj-ea"/>
                <a:ea typeface="+mj-ea"/>
              </a:rPr>
              <a:t>C</a:t>
            </a:r>
            <a:r>
              <a:rPr lang="zh-CN" altLang="en-US" sz="3200" kern="0" dirty="0">
                <a:solidFill>
                  <a:srgbClr val="FFFFCC"/>
                </a:solidFill>
                <a:effectLst>
                  <a:outerShdw blurRad="38100" dist="38100" dir="2700000" algn="tl">
                    <a:srgbClr val="000000"/>
                  </a:outerShdw>
                </a:effectLst>
                <a:latin typeface="+mj-ea"/>
                <a:ea typeface="+mj-ea"/>
              </a:rPr>
              <a:t>相同的表</a:t>
            </a:r>
          </a:p>
        </p:txBody>
      </p:sp>
      <p:sp>
        <p:nvSpPr>
          <p:cNvPr id="37" name="AutoShape 336"/>
          <p:cNvSpPr>
            <a:spLocks noChangeArrowheads="1"/>
          </p:cNvSpPr>
          <p:nvPr/>
        </p:nvSpPr>
        <p:spPr bwMode="auto">
          <a:xfrm rot="5400000">
            <a:off x="2555205" y="4015336"/>
            <a:ext cx="503238" cy="336550"/>
          </a:xfrm>
          <a:prstGeom prst="rightArrow">
            <a:avLst>
              <a:gd name="adj1" fmla="val 50000"/>
              <a:gd name="adj2" fmla="val 37382"/>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a:defRPr/>
            </a:pPr>
            <a:endParaRPr lang="zh-CN" altLang="en-US" kern="0">
              <a:solidFill>
                <a:sysClr val="windowText" lastClr="000000"/>
              </a:solidFill>
            </a:endParaRPr>
          </a:p>
        </p:txBody>
      </p:sp>
      <p:graphicFrame>
        <p:nvGraphicFramePr>
          <p:cNvPr id="38" name="Group 337"/>
          <p:cNvGraphicFramePr>
            <a:graphicFrameLocks noGrp="1"/>
          </p:cNvGraphicFramePr>
          <p:nvPr>
            <p:extLst>
              <p:ext uri="{D42A27DB-BD31-4B8C-83A1-F6EECF244321}">
                <p14:modId xmlns:p14="http://schemas.microsoft.com/office/powerpoint/2010/main" val="3456661764"/>
              </p:ext>
            </p:extLst>
          </p:nvPr>
        </p:nvGraphicFramePr>
        <p:xfrm>
          <a:off x="8471694" y="4149080"/>
          <a:ext cx="2969125" cy="2438400"/>
        </p:xfrm>
        <a:graphic>
          <a:graphicData uri="http://schemas.openxmlformats.org/drawingml/2006/table">
            <a:tbl>
              <a:tblPr/>
              <a:tblGrid>
                <a:gridCol w="678710">
                  <a:extLst>
                    <a:ext uri="{9D8B030D-6E8A-4147-A177-3AD203B41FA5}">
                      <a16:colId xmlns:a16="http://schemas.microsoft.com/office/drawing/2014/main" val="20000"/>
                    </a:ext>
                  </a:extLst>
                </a:gridCol>
                <a:gridCol w="1205974">
                  <a:extLst>
                    <a:ext uri="{9D8B030D-6E8A-4147-A177-3AD203B41FA5}">
                      <a16:colId xmlns:a16="http://schemas.microsoft.com/office/drawing/2014/main" val="20001"/>
                    </a:ext>
                  </a:extLst>
                </a:gridCol>
                <a:gridCol w="1084441">
                  <a:extLst>
                    <a:ext uri="{9D8B030D-6E8A-4147-A177-3AD203B41FA5}">
                      <a16:colId xmlns:a16="http://schemas.microsoft.com/office/drawing/2014/main" val="20002"/>
                    </a:ext>
                  </a:extLst>
                </a:gridCol>
              </a:tblGrid>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cap="flat">
                      <a:noFill/>
                    </a:lnL>
                    <a:lnR w="12700" cap="flat" cmpd="sng" algn="ctr">
                      <a:solidFill>
                        <a:srgbClr val="66FF66"/>
                      </a:solidFill>
                      <a:prstDash val="solid"/>
                      <a:round/>
                      <a:headEnd type="none" w="med" len="med"/>
                      <a:tailEnd type="none" w="med" len="med"/>
                    </a:lnR>
                    <a:lnT w="28575"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rgbClr val="66FF66"/>
                      </a:solidFill>
                      <a:prstDash val="solid"/>
                      <a:round/>
                      <a:headEnd type="none" w="med" len="med"/>
                      <a:tailEnd type="none" w="med" len="med"/>
                    </a:lnL>
                    <a:lnR w="12700" cap="flat" cmpd="sng" algn="ctr">
                      <a:solidFill>
                        <a:srgbClr val="66FF66"/>
                      </a:solidFill>
                      <a:prstDash val="solid"/>
                      <a:round/>
                      <a:headEnd type="none" w="med" len="med"/>
                      <a:tailEnd type="none" w="med" len="med"/>
                    </a:lnR>
                    <a:lnT w="28575"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先修课号</a:t>
                      </a:r>
                    </a:p>
                  </a:txBody>
                  <a:tcPr marL="0" marR="0" marT="0" marB="0" horzOverflow="overflow">
                    <a:lnL w="12700" cap="flat" cmpd="sng" algn="ctr">
                      <a:solidFill>
                        <a:srgbClr val="66FF66"/>
                      </a:solidFill>
                      <a:prstDash val="solid"/>
                      <a:round/>
                      <a:headEnd type="none" w="med" len="med"/>
                      <a:tailEnd type="none" w="med" len="med"/>
                    </a:lnL>
                    <a:lnR cap="flat">
                      <a:noFill/>
                    </a:lnR>
                    <a:lnT w="28575"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1</a:t>
                      </a:r>
                    </a:p>
                  </a:txBody>
                  <a:tcPr marL="0" marR="0" marT="0" marB="0" horzOverflow="overflow">
                    <a:lnL cap="flat">
                      <a:noFill/>
                    </a:lnL>
                    <a:lnR w="12700" cap="flat" cmpd="sng" algn="ctr">
                      <a:solidFill>
                        <a:srgbClr val="66FF66"/>
                      </a:solidFill>
                      <a:prstDash val="solid"/>
                      <a:round/>
                      <a:headEnd type="none" w="med" len="med"/>
                      <a:tailEnd type="none" w="med" len="med"/>
                    </a:lnR>
                    <a:lnT w="12700"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数据库</a:t>
                      </a:r>
                    </a:p>
                  </a:txBody>
                  <a:tcPr marL="0" marR="0" marT="0" marB="0" horzOverflow="overflow">
                    <a:lnL w="12700" cap="flat" cmpd="sng" algn="ctr">
                      <a:solidFill>
                        <a:srgbClr val="66FF66"/>
                      </a:solidFill>
                      <a:prstDash val="solid"/>
                      <a:round/>
                      <a:headEnd type="none" w="med" len="med"/>
                      <a:tailEnd type="none" w="med" len="med"/>
                    </a:lnL>
                    <a:lnR w="12700" cap="flat" cmpd="sng" algn="ctr">
                      <a:solidFill>
                        <a:srgbClr val="66FF66"/>
                      </a:solidFill>
                      <a:prstDash val="solid"/>
                      <a:round/>
                      <a:headEnd type="none" w="med" len="med"/>
                      <a:tailEnd type="none" w="med" len="med"/>
                    </a:lnR>
                    <a:lnT w="12700"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5</a:t>
                      </a:r>
                    </a:p>
                  </a:txBody>
                  <a:tcPr marL="0" marR="0" marT="0" marB="0" horzOverflow="overflow">
                    <a:lnL w="12700" cap="flat" cmpd="sng" algn="ctr">
                      <a:solidFill>
                        <a:srgbClr val="66FF66"/>
                      </a:solidFill>
                      <a:prstDash val="solid"/>
                      <a:round/>
                      <a:headEnd type="none" w="med" len="med"/>
                      <a:tailEnd type="none" w="med" len="med"/>
                    </a:lnL>
                    <a:lnR cap="flat">
                      <a:noFill/>
                    </a:lnR>
                    <a:lnT w="12700"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cap="flat">
                      <a:noFill/>
                    </a:lnL>
                    <a:lnR w="12700" cap="flat" cmpd="sng" algn="ctr">
                      <a:solidFill>
                        <a:srgbClr val="66FF66"/>
                      </a:solidFill>
                      <a:prstDash val="solid"/>
                      <a:round/>
                      <a:headEnd type="none" w="med" len="med"/>
                      <a:tailEnd type="none" w="med" len="med"/>
                    </a:lnR>
                    <a:lnT w="12700"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数学</a:t>
                      </a:r>
                    </a:p>
                  </a:txBody>
                  <a:tcPr marL="0" marR="0" marT="0" marB="0" horzOverflow="overflow">
                    <a:lnL w="12700" cap="flat" cmpd="sng" algn="ctr">
                      <a:solidFill>
                        <a:srgbClr val="66FF66"/>
                      </a:solidFill>
                      <a:prstDash val="solid"/>
                      <a:round/>
                      <a:headEnd type="none" w="med" len="med"/>
                      <a:tailEnd type="none" w="med" len="med"/>
                    </a:lnL>
                    <a:lnR w="12700" cap="flat" cmpd="sng" algn="ctr">
                      <a:solidFill>
                        <a:srgbClr val="66FF66"/>
                      </a:solidFill>
                      <a:prstDash val="solid"/>
                      <a:round/>
                      <a:headEnd type="none" w="med" len="med"/>
                      <a:tailEnd type="none" w="med" len="med"/>
                    </a:lnR>
                    <a:lnT w="12700"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66FF66"/>
                      </a:solidFill>
                      <a:prstDash val="solid"/>
                      <a:round/>
                      <a:headEnd type="none" w="med" len="med"/>
                      <a:tailEnd type="none" w="med" len="med"/>
                    </a:lnL>
                    <a:lnR cap="flat">
                      <a:noFill/>
                    </a:lnR>
                    <a:lnT w="12700"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cap="flat">
                      <a:noFill/>
                    </a:lnL>
                    <a:lnR w="12700" cap="flat" cmpd="sng" algn="ctr">
                      <a:solidFill>
                        <a:srgbClr val="66FF66"/>
                      </a:solidFill>
                      <a:prstDash val="solid"/>
                      <a:round/>
                      <a:headEnd type="none" w="med" len="med"/>
                      <a:tailEnd type="none" w="med" len="med"/>
                    </a:lnR>
                    <a:lnT w="12700"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信息系统</a:t>
                      </a:r>
                    </a:p>
                  </a:txBody>
                  <a:tcPr marL="0" marR="0" marT="0" marB="0" horzOverflow="overflow">
                    <a:lnL w="12700" cap="flat" cmpd="sng" algn="ctr">
                      <a:solidFill>
                        <a:srgbClr val="66FF66"/>
                      </a:solidFill>
                      <a:prstDash val="solid"/>
                      <a:round/>
                      <a:headEnd type="none" w="med" len="med"/>
                      <a:tailEnd type="none" w="med" len="med"/>
                    </a:lnL>
                    <a:lnR w="12700" cap="flat" cmpd="sng" algn="ctr">
                      <a:solidFill>
                        <a:srgbClr val="66FF66"/>
                      </a:solidFill>
                      <a:prstDash val="solid"/>
                      <a:round/>
                      <a:headEnd type="none" w="med" len="med"/>
                      <a:tailEnd type="none" w="med" len="med"/>
                    </a:lnR>
                    <a:lnT w="12700"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1</a:t>
                      </a:r>
                    </a:p>
                  </a:txBody>
                  <a:tcPr marL="0" marR="0" marT="0" marB="0" horzOverflow="overflow">
                    <a:lnL w="12700" cap="flat" cmpd="sng" algn="ctr">
                      <a:solidFill>
                        <a:srgbClr val="66FF66"/>
                      </a:solidFill>
                      <a:prstDash val="solid"/>
                      <a:round/>
                      <a:headEnd type="none" w="med" len="med"/>
                      <a:tailEnd type="none" w="med" len="med"/>
                    </a:lnL>
                    <a:lnR cap="flat">
                      <a:noFill/>
                    </a:lnR>
                    <a:lnT w="12700"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4</a:t>
                      </a:r>
                    </a:p>
                  </a:txBody>
                  <a:tcPr marL="0" marR="0" marT="0" marB="0" horzOverflow="overflow">
                    <a:lnL cap="flat">
                      <a:noFill/>
                    </a:lnL>
                    <a:lnR w="12700" cap="flat" cmpd="sng" algn="ctr">
                      <a:solidFill>
                        <a:srgbClr val="66FF66"/>
                      </a:solidFill>
                      <a:prstDash val="solid"/>
                      <a:round/>
                      <a:headEnd type="none" w="med" len="med"/>
                      <a:tailEnd type="none" w="med" len="med"/>
                    </a:lnR>
                    <a:lnT w="12700"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操作系统</a:t>
                      </a:r>
                    </a:p>
                  </a:txBody>
                  <a:tcPr marL="0" marR="0" marT="0" marB="0" horzOverflow="overflow">
                    <a:lnL w="12700" cap="flat" cmpd="sng" algn="ctr">
                      <a:solidFill>
                        <a:srgbClr val="66FF66"/>
                      </a:solidFill>
                      <a:prstDash val="solid"/>
                      <a:round/>
                      <a:headEnd type="none" w="med" len="med"/>
                      <a:tailEnd type="none" w="med" len="med"/>
                    </a:lnL>
                    <a:lnR w="12700" cap="flat" cmpd="sng" algn="ctr">
                      <a:solidFill>
                        <a:srgbClr val="66FF66"/>
                      </a:solidFill>
                      <a:prstDash val="solid"/>
                      <a:round/>
                      <a:headEnd type="none" w="med" len="med"/>
                      <a:tailEnd type="none" w="med" len="med"/>
                    </a:lnR>
                    <a:lnT w="12700"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6</a:t>
                      </a:r>
                    </a:p>
                  </a:txBody>
                  <a:tcPr marL="0" marR="0" marT="0" marB="0" horzOverflow="overflow">
                    <a:lnL w="12700" cap="flat" cmpd="sng" algn="ctr">
                      <a:solidFill>
                        <a:srgbClr val="66FF66"/>
                      </a:solidFill>
                      <a:prstDash val="solid"/>
                      <a:round/>
                      <a:headEnd type="none" w="med" len="med"/>
                      <a:tailEnd type="none" w="med" len="med"/>
                    </a:lnL>
                    <a:lnR cap="flat">
                      <a:noFill/>
                    </a:lnR>
                    <a:lnT w="12700"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5</a:t>
                      </a:r>
                    </a:p>
                  </a:txBody>
                  <a:tcPr marL="0" marR="0" marT="0" marB="0" horzOverflow="overflow">
                    <a:lnL cap="flat">
                      <a:noFill/>
                    </a:lnL>
                    <a:lnR w="12700" cap="flat" cmpd="sng" algn="ctr">
                      <a:solidFill>
                        <a:srgbClr val="66FF66"/>
                      </a:solidFill>
                      <a:prstDash val="solid"/>
                      <a:round/>
                      <a:headEnd type="none" w="med" len="med"/>
                      <a:tailEnd type="none" w="med" len="med"/>
                    </a:lnR>
                    <a:lnT w="12700"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66FF66"/>
                      </a:solidFill>
                      <a:prstDash val="solid"/>
                      <a:round/>
                      <a:headEnd type="none" w="med" len="med"/>
                      <a:tailEnd type="none" w="med" len="med"/>
                    </a:lnL>
                    <a:lnR w="12700" cap="flat" cmpd="sng" algn="ctr">
                      <a:solidFill>
                        <a:srgbClr val="66FF66"/>
                      </a:solidFill>
                      <a:prstDash val="solid"/>
                      <a:round/>
                      <a:headEnd type="none" w="med" len="med"/>
                      <a:tailEnd type="none" w="med" len="med"/>
                    </a:lnR>
                    <a:lnT w="12700"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7</a:t>
                      </a:r>
                    </a:p>
                  </a:txBody>
                  <a:tcPr marL="0" marR="0" marT="0" marB="0" horzOverflow="overflow">
                    <a:lnL w="12700" cap="flat" cmpd="sng" algn="ctr">
                      <a:solidFill>
                        <a:srgbClr val="66FF66"/>
                      </a:solidFill>
                      <a:prstDash val="solid"/>
                      <a:round/>
                      <a:headEnd type="none" w="med" len="med"/>
                      <a:tailEnd type="none" w="med" len="med"/>
                    </a:lnL>
                    <a:lnR cap="flat">
                      <a:noFill/>
                    </a:lnR>
                    <a:lnT w="12700"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6</a:t>
                      </a:r>
                    </a:p>
                  </a:txBody>
                  <a:tcPr marL="0" marR="0" marT="0" marB="0" horzOverflow="overflow">
                    <a:lnL cap="flat">
                      <a:noFill/>
                    </a:lnL>
                    <a:lnR w="12700" cap="flat" cmpd="sng" algn="ctr">
                      <a:solidFill>
                        <a:srgbClr val="66FF66"/>
                      </a:solidFill>
                      <a:prstDash val="solid"/>
                      <a:round/>
                      <a:headEnd type="none" w="med" len="med"/>
                      <a:tailEnd type="none" w="med" len="med"/>
                    </a:lnR>
                    <a:lnT w="12700"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数据处理</a:t>
                      </a:r>
                    </a:p>
                  </a:txBody>
                  <a:tcPr marL="0" marR="0" marT="0" marB="0" horzOverflow="overflow">
                    <a:lnL w="12700" cap="flat" cmpd="sng" algn="ctr">
                      <a:solidFill>
                        <a:srgbClr val="66FF66"/>
                      </a:solidFill>
                      <a:prstDash val="solid"/>
                      <a:round/>
                      <a:headEnd type="none" w="med" len="med"/>
                      <a:tailEnd type="none" w="med" len="med"/>
                    </a:lnL>
                    <a:lnR w="12700" cap="flat" cmpd="sng" algn="ctr">
                      <a:solidFill>
                        <a:srgbClr val="66FF66"/>
                      </a:solidFill>
                      <a:prstDash val="solid"/>
                      <a:round/>
                      <a:headEnd type="none" w="med" len="med"/>
                      <a:tailEnd type="none" w="med" len="med"/>
                    </a:lnR>
                    <a:lnT w="12700"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66FF66"/>
                      </a:solidFill>
                      <a:prstDash val="solid"/>
                      <a:round/>
                      <a:headEnd type="none" w="med" len="med"/>
                      <a:tailEnd type="none" w="med" len="med"/>
                    </a:lnL>
                    <a:lnR cap="flat">
                      <a:noFill/>
                    </a:lnR>
                    <a:lnT w="12700" cap="flat" cmpd="sng" algn="ctr">
                      <a:solidFill>
                        <a:srgbClr val="66FF66"/>
                      </a:solidFill>
                      <a:prstDash val="solid"/>
                      <a:round/>
                      <a:headEnd type="none" w="med" len="med"/>
                      <a:tailEnd type="none" w="med" len="med"/>
                    </a:lnT>
                    <a:lnB w="12700" cap="flat" cmpd="sng" algn="ctr">
                      <a:solidFill>
                        <a:srgbClr val="66FF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7</a:t>
                      </a:r>
                    </a:p>
                  </a:txBody>
                  <a:tcPr marL="0" marR="0" marT="0" marB="0" horzOverflow="overflow">
                    <a:lnL cap="flat">
                      <a:noFill/>
                    </a:lnL>
                    <a:lnR w="12700" cap="flat" cmpd="sng" algn="ctr">
                      <a:solidFill>
                        <a:srgbClr val="66FF66"/>
                      </a:solidFill>
                      <a:prstDash val="solid"/>
                      <a:round/>
                      <a:headEnd type="none" w="med" len="med"/>
                      <a:tailEnd type="none" w="med" len="med"/>
                    </a:lnR>
                    <a:lnT w="12700" cap="flat" cmpd="sng" algn="ctr">
                      <a:solidFill>
                        <a:srgbClr val="66FF66"/>
                      </a:solidFill>
                      <a:prstDash val="solid"/>
                      <a:round/>
                      <a:headEnd type="none" w="med" len="med"/>
                      <a:tailEnd type="none" w="med" len="med"/>
                    </a:lnT>
                    <a:lnB w="28575" cap="flat" cmpd="sng" algn="ctr">
                      <a:solidFill>
                        <a:srgbClr val="66FF6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C</a:t>
                      </a:r>
                      <a:r>
                        <a:rPr kumimoji="0" lang="zh-CN" altLang="en-US" sz="2000" b="0" i="0" u="none" strike="noStrike" cap="none" normalizeH="0" baseline="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语言</a:t>
                      </a:r>
                    </a:p>
                  </a:txBody>
                  <a:tcPr marL="0" marR="0" marT="0" marB="0" horzOverflow="overflow">
                    <a:lnL w="12700" cap="flat" cmpd="sng" algn="ctr">
                      <a:solidFill>
                        <a:srgbClr val="66FF66"/>
                      </a:solidFill>
                      <a:prstDash val="solid"/>
                      <a:round/>
                      <a:headEnd type="none" w="med" len="med"/>
                      <a:tailEnd type="none" w="med" len="med"/>
                    </a:lnL>
                    <a:lnR w="12700" cap="flat" cmpd="sng" algn="ctr">
                      <a:solidFill>
                        <a:srgbClr val="66FF66"/>
                      </a:solidFill>
                      <a:prstDash val="solid"/>
                      <a:round/>
                      <a:headEnd type="none" w="med" len="med"/>
                      <a:tailEnd type="none" w="med" len="med"/>
                    </a:lnR>
                    <a:lnT w="12700" cap="flat" cmpd="sng" algn="ctr">
                      <a:solidFill>
                        <a:srgbClr val="66FF66"/>
                      </a:solidFill>
                      <a:prstDash val="solid"/>
                      <a:round/>
                      <a:headEnd type="none" w="med" len="med"/>
                      <a:tailEnd type="none" w="med" len="med"/>
                    </a:lnT>
                    <a:lnB w="28575" cap="flat" cmpd="sng" algn="ctr">
                      <a:solidFill>
                        <a:srgbClr val="66FF6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66FF66"/>
                          </a:solidFill>
                          <a:effectLst>
                            <a:outerShdw blurRad="38100" dist="38100" dir="2700000" algn="tl">
                              <a:srgbClr val="000000"/>
                            </a:outerShdw>
                          </a:effectLst>
                          <a:latin typeface="宋体" panose="02010600030101010101" pitchFamily="2" charset="-122"/>
                          <a:ea typeface="宋体" panose="02010600030101010101" pitchFamily="2" charset="-122"/>
                        </a:rPr>
                        <a:t>6</a:t>
                      </a:r>
                    </a:p>
                  </a:txBody>
                  <a:tcPr marL="0" marR="0" marT="0" marB="0" horzOverflow="overflow">
                    <a:lnL w="12700" cap="flat" cmpd="sng" algn="ctr">
                      <a:solidFill>
                        <a:srgbClr val="66FF66"/>
                      </a:solidFill>
                      <a:prstDash val="solid"/>
                      <a:round/>
                      <a:headEnd type="none" w="med" len="med"/>
                      <a:tailEnd type="none" w="med" len="med"/>
                    </a:lnL>
                    <a:lnR cap="flat">
                      <a:noFill/>
                    </a:lnR>
                    <a:lnT w="12700" cap="flat" cmpd="sng" algn="ctr">
                      <a:solidFill>
                        <a:srgbClr val="66FF66"/>
                      </a:solidFill>
                      <a:prstDash val="solid"/>
                      <a:round/>
                      <a:headEnd type="none" w="med" len="med"/>
                      <a:tailEnd type="none" w="med" len="med"/>
                    </a:lnT>
                    <a:lnB w="28575" cap="flat" cmpd="sng" algn="ctr">
                      <a:solidFill>
                        <a:srgbClr val="66FF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38996402"/>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3">
            <a:extLst>
              <a:ext uri="{FF2B5EF4-FFF2-40B4-BE49-F238E27FC236}">
                <a16:creationId xmlns:a16="http://schemas.microsoft.com/office/drawing/2014/main" id="{328E293F-D2DF-46D0-A4BB-983DA6BE2CBA}"/>
              </a:ext>
            </a:extLst>
          </p:cNvPr>
          <p:cNvSpPr>
            <a:spLocks noGrp="1" noChangeArrowheads="1"/>
          </p:cNvSpPr>
          <p:nvPr>
            <p:ph type="body" idx="1"/>
          </p:nvPr>
        </p:nvSpPr>
        <p:spPr/>
        <p:txBody>
          <a:bodyPr/>
          <a:lstStyle/>
          <a:p>
            <a:pPr eaLnBrk="1" hangingPunct="1"/>
            <a:r>
              <a:rPr lang="zh-CN" altLang="en-US" b="1" dirty="0">
                <a:solidFill>
                  <a:schemeClr val="bg2"/>
                </a:solidFill>
                <a:latin typeface="微软雅黑" panose="020B0503020204020204" pitchFamily="34" charset="-122"/>
                <a:ea typeface="微软雅黑" panose="020B0503020204020204" pitchFamily="34" charset="-122"/>
              </a:rPr>
              <a:t>查询与“管丹萍”在同一个系学习的学生。</a:t>
            </a:r>
          </a:p>
          <a:p>
            <a:pPr eaLnBrk="1" hangingPunct="1"/>
            <a:r>
              <a:rPr lang="en-US" altLang="zh-CN" noProof="1">
                <a:solidFill>
                  <a:schemeClr val="bg2"/>
                </a:solidFill>
                <a:latin typeface="微软雅黑" panose="020B0503020204020204" pitchFamily="34" charset="-122"/>
                <a:ea typeface="微软雅黑" panose="020B0503020204020204" pitchFamily="34" charset="-122"/>
              </a:rPr>
              <a:t>Select A.*</a:t>
            </a:r>
          </a:p>
          <a:p>
            <a:pPr eaLnBrk="1" hangingPunct="1"/>
            <a:r>
              <a:rPr lang="en-US" altLang="zh-CN" noProof="1">
                <a:solidFill>
                  <a:schemeClr val="bg2"/>
                </a:solidFill>
                <a:latin typeface="微软雅黑" panose="020B0503020204020204" pitchFamily="34" charset="-122"/>
                <a:ea typeface="微软雅黑" panose="020B0503020204020204" pitchFamily="34" charset="-122"/>
              </a:rPr>
              <a:t> From S as A, S as B</a:t>
            </a:r>
          </a:p>
          <a:p>
            <a:pPr eaLnBrk="1" hangingPunct="1"/>
            <a:r>
              <a:rPr lang="en-US" altLang="zh-CN" noProof="1">
                <a:solidFill>
                  <a:schemeClr val="bg2"/>
                </a:solidFill>
                <a:latin typeface="微软雅黑" panose="020B0503020204020204" pitchFamily="34" charset="-122"/>
                <a:ea typeface="微软雅黑" panose="020B0503020204020204" pitchFamily="34" charset="-122"/>
              </a:rPr>
              <a:t>Where A.sdeptartment=B.sdeptartment </a:t>
            </a:r>
          </a:p>
          <a:p>
            <a:pPr eaLnBrk="1" hangingPunct="1"/>
            <a:r>
              <a:rPr lang="en-US" altLang="zh-CN" noProof="1">
                <a:solidFill>
                  <a:schemeClr val="bg2"/>
                </a:solidFill>
                <a:latin typeface="微软雅黑" panose="020B0503020204020204" pitchFamily="34" charset="-122"/>
                <a:ea typeface="微软雅黑" panose="020B0503020204020204" pitchFamily="34" charset="-122"/>
              </a:rPr>
              <a:t>and B.sname='</a:t>
            </a:r>
            <a:r>
              <a:rPr lang="zh-CN" altLang="en-US" noProof="1">
                <a:solidFill>
                  <a:schemeClr val="bg2"/>
                </a:solidFill>
                <a:latin typeface="微软雅黑" panose="020B0503020204020204" pitchFamily="34" charset="-122"/>
                <a:ea typeface="微软雅黑" panose="020B0503020204020204" pitchFamily="34" charset="-122"/>
              </a:rPr>
              <a:t>管丹萍</a:t>
            </a:r>
            <a:r>
              <a:rPr lang="zh-CN" altLang="zh-CN" noProof="1">
                <a:solidFill>
                  <a:schemeClr val="bg2"/>
                </a:solidFill>
                <a:latin typeface="微软雅黑" panose="020B0503020204020204" pitchFamily="34" charset="-122"/>
                <a:ea typeface="微软雅黑" panose="020B0503020204020204" pitchFamily="34" charset="-122"/>
              </a:rPr>
              <a:t>'</a:t>
            </a:r>
            <a:endParaRPr lang="en-US" altLang="zh-CN" dirty="0">
              <a:solidFill>
                <a:schemeClr val="bg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176" y="64067"/>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嵌套查询</a:t>
            </a:r>
          </a:p>
        </p:txBody>
      </p:sp>
      <p:sp>
        <p:nvSpPr>
          <p:cNvPr id="17" name="Rectangle 4"/>
          <p:cNvSpPr txBox="1">
            <a:spLocks noChangeArrowheads="1"/>
          </p:cNvSpPr>
          <p:nvPr/>
        </p:nvSpPr>
        <p:spPr bwMode="auto">
          <a:xfrm>
            <a:off x="335360" y="937900"/>
            <a:ext cx="11161240" cy="405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ct val="25000"/>
              </a:spcAft>
              <a:defRPr/>
            </a:pPr>
            <a:r>
              <a:rPr kumimoji="1" lang="zh-CN" altLang="en-US" sz="3600" dirty="0">
                <a:latin typeface="Arial Narrow" pitchFamily="34" charset="0"/>
              </a:rPr>
              <a:t>在一条查询语句的某一个子句（多数为</a:t>
            </a:r>
            <a:r>
              <a:rPr kumimoji="1" lang="en-US" altLang="zh-CN" sz="3600" dirty="0">
                <a:latin typeface="Arial Narrow" pitchFamily="34" charset="0"/>
              </a:rPr>
              <a:t>WHERE</a:t>
            </a:r>
            <a:r>
              <a:rPr kumimoji="1" lang="zh-CN" altLang="en-US" sz="3600" dirty="0">
                <a:latin typeface="Arial Narrow" pitchFamily="34" charset="0"/>
              </a:rPr>
              <a:t>）中又包含有一个查询语句的查询称为</a:t>
            </a:r>
            <a:r>
              <a:rPr kumimoji="1" lang="zh-CN" altLang="en-US" sz="3600" b="1" dirty="0">
                <a:solidFill>
                  <a:srgbClr val="FFFF00"/>
                </a:solidFill>
                <a:latin typeface="微软雅黑" panose="020B0503020204020204" pitchFamily="34" charset="-122"/>
              </a:rPr>
              <a:t>嵌套查询</a:t>
            </a:r>
            <a:r>
              <a:rPr kumimoji="1" lang="zh-CN" altLang="en-US" sz="3600" dirty="0">
                <a:latin typeface="Arial Narrow" pitchFamily="34" charset="0"/>
              </a:rPr>
              <a:t>。</a:t>
            </a:r>
          </a:p>
          <a:p>
            <a:pPr eaLnBrk="1" hangingPunct="1">
              <a:spcAft>
                <a:spcPct val="25000"/>
              </a:spcAft>
              <a:defRPr/>
            </a:pPr>
            <a:r>
              <a:rPr kumimoji="1" lang="zh-CN" altLang="en-US" sz="3600" dirty="0">
                <a:latin typeface="Arial Narrow" pitchFamily="34" charset="0"/>
              </a:rPr>
              <a:t>被包含的查询称为</a:t>
            </a:r>
            <a:r>
              <a:rPr kumimoji="1" lang="zh-CN" altLang="en-US" sz="3600" dirty="0">
                <a:solidFill>
                  <a:srgbClr val="FFFF00"/>
                </a:solidFill>
                <a:latin typeface="Arial Narrow" pitchFamily="34" charset="0"/>
              </a:rPr>
              <a:t>子查询</a:t>
            </a:r>
            <a:r>
              <a:rPr kumimoji="1" lang="zh-CN" altLang="en-US" sz="3600" dirty="0">
                <a:latin typeface="Arial Narrow" pitchFamily="34" charset="0"/>
              </a:rPr>
              <a:t>或内层查询。</a:t>
            </a:r>
          </a:p>
          <a:p>
            <a:pPr eaLnBrk="1" hangingPunct="1">
              <a:spcAft>
                <a:spcPct val="25000"/>
              </a:spcAft>
              <a:defRPr/>
            </a:pPr>
            <a:r>
              <a:rPr kumimoji="1" lang="zh-CN" altLang="en-US" sz="3600" dirty="0">
                <a:latin typeface="Arial Narrow" pitchFamily="34" charset="0"/>
              </a:rPr>
              <a:t>包含子查询的查询称为外层查询或父查询。</a:t>
            </a:r>
            <a:endParaRPr kumimoji="1" lang="en-US" altLang="zh-CN" sz="3600" dirty="0">
              <a:latin typeface="Arial Narrow" pitchFamily="34" charset="0"/>
            </a:endParaRPr>
          </a:p>
          <a:p>
            <a:pPr eaLnBrk="1" hangingPunct="1">
              <a:spcAft>
                <a:spcPct val="25000"/>
              </a:spcAft>
              <a:defRPr/>
            </a:pPr>
            <a:r>
              <a:rPr kumimoji="1" lang="zh-CN" altLang="en-US" sz="3600" dirty="0">
                <a:latin typeface="Arial Narrow" pitchFamily="34" charset="0"/>
              </a:rPr>
              <a:t>子查询必须写在一对</a:t>
            </a:r>
            <a:r>
              <a:rPr kumimoji="1" lang="zh-CN" altLang="en-US" sz="3600" dirty="0">
                <a:solidFill>
                  <a:srgbClr val="FFFF00"/>
                </a:solidFill>
                <a:latin typeface="Arial Narrow" pitchFamily="34" charset="0"/>
              </a:rPr>
              <a:t>圆括号</a:t>
            </a:r>
            <a:r>
              <a:rPr kumimoji="1" lang="zh-CN" altLang="en-US" sz="3600" dirty="0">
                <a:latin typeface="Arial Narrow" pitchFamily="34" charset="0"/>
              </a:rPr>
              <a:t>中。</a:t>
            </a:r>
          </a:p>
        </p:txBody>
      </p:sp>
      <p:sp>
        <p:nvSpPr>
          <p:cNvPr id="18" name="Rectangle 5"/>
          <p:cNvSpPr>
            <a:spLocks noChangeArrowheads="1"/>
          </p:cNvSpPr>
          <p:nvPr/>
        </p:nvSpPr>
        <p:spPr bwMode="auto">
          <a:xfrm>
            <a:off x="1991544" y="4403007"/>
            <a:ext cx="9217024" cy="1661993"/>
          </a:xfrm>
          <a:prstGeom prst="rect">
            <a:avLst/>
          </a:prstGeom>
          <a:noFill/>
          <a:ln w="12700" cap="sq">
            <a:noFill/>
            <a:miter lim="800000"/>
            <a:headEnd/>
            <a:tailEnd/>
          </a:ln>
          <a:effectLst/>
        </p:spPr>
        <p:txBody>
          <a:bodyPr wrap="square" lIns="0" tIns="0" rIns="0" bIns="0">
            <a:spAutoFit/>
          </a:bodyPr>
          <a:lstStyle/>
          <a:p>
            <a:pPr>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SELECT </a:t>
            </a:r>
            <a:r>
              <a:rPr lang="zh-CN" altLang="en-US" sz="3600" kern="0" dirty="0">
                <a:solidFill>
                  <a:srgbClr val="99FF33"/>
                </a:solidFill>
                <a:effectLst>
                  <a:outerShdw blurRad="38100" dist="38100" dir="2700000" algn="tl">
                    <a:srgbClr val="000000"/>
                  </a:outerShdw>
                </a:effectLst>
              </a:rPr>
              <a:t>姓名 </a:t>
            </a:r>
            <a:r>
              <a:rPr lang="en-US" altLang="zh-CN" sz="3600" kern="0" dirty="0">
                <a:solidFill>
                  <a:srgbClr val="99FF33"/>
                </a:solidFill>
                <a:effectLst>
                  <a:outerShdw blurRad="38100" dist="38100" dir="2700000" algn="tl">
                    <a:srgbClr val="000000"/>
                  </a:outerShdw>
                </a:effectLst>
              </a:rPr>
              <a:t>FROM </a:t>
            </a:r>
            <a:r>
              <a:rPr lang="zh-CN" altLang="en-US" sz="3600" kern="0" dirty="0">
                <a:solidFill>
                  <a:srgbClr val="99FF33"/>
                </a:solidFill>
                <a:effectLst>
                  <a:outerShdw blurRad="38100" dist="38100" dir="2700000" algn="tl">
                    <a:srgbClr val="000000"/>
                  </a:outerShdw>
                </a:effectLst>
              </a:rPr>
              <a:t>学生表</a:t>
            </a:r>
          </a:p>
          <a:p>
            <a:pPr>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 WHERE </a:t>
            </a:r>
            <a:r>
              <a:rPr lang="zh-CN" altLang="en-US" sz="3600" kern="0" dirty="0">
                <a:solidFill>
                  <a:srgbClr val="99FF33"/>
                </a:solidFill>
                <a:effectLst>
                  <a:outerShdw blurRad="38100" dist="38100" dir="2700000" algn="tl">
                    <a:srgbClr val="000000"/>
                  </a:outerShdw>
                </a:effectLst>
              </a:rPr>
              <a:t>系名 </a:t>
            </a:r>
            <a:r>
              <a:rPr lang="en-US" altLang="zh-CN" sz="3600" kern="0" dirty="0">
                <a:solidFill>
                  <a:srgbClr val="99FF33"/>
                </a:solidFill>
                <a:effectLst>
                  <a:outerShdw blurRad="38100" dist="38100" dir="2700000" algn="tl">
                    <a:srgbClr val="000000"/>
                  </a:outerShdw>
                </a:effectLst>
              </a:rPr>
              <a:t>= </a:t>
            </a:r>
            <a:r>
              <a:rPr lang="en-US" altLang="zh-CN" sz="3600" kern="0" dirty="0">
                <a:solidFill>
                  <a:srgbClr val="FFCC00"/>
                </a:solidFill>
                <a:effectLst>
                  <a:outerShdw blurRad="38100" dist="38100" dir="2700000" algn="tl">
                    <a:srgbClr val="000000"/>
                  </a:outerShdw>
                </a:effectLst>
              </a:rPr>
              <a:t>( SELECT </a:t>
            </a:r>
            <a:r>
              <a:rPr lang="zh-CN" altLang="en-US" sz="3600" kern="0" dirty="0">
                <a:solidFill>
                  <a:srgbClr val="FFCC00"/>
                </a:solidFill>
                <a:effectLst>
                  <a:outerShdw blurRad="38100" dist="38100" dir="2700000" algn="tl">
                    <a:srgbClr val="000000"/>
                  </a:outerShdw>
                </a:effectLst>
              </a:rPr>
              <a:t>系名 </a:t>
            </a:r>
            <a:r>
              <a:rPr lang="en-US" altLang="zh-CN" sz="3600" kern="0" dirty="0">
                <a:solidFill>
                  <a:srgbClr val="FFCC00"/>
                </a:solidFill>
                <a:effectLst>
                  <a:outerShdw blurRad="38100" dist="38100" dir="2700000" algn="tl">
                    <a:srgbClr val="000000"/>
                  </a:outerShdw>
                </a:effectLst>
              </a:rPr>
              <a:t>FROM </a:t>
            </a:r>
            <a:r>
              <a:rPr lang="zh-CN" altLang="en-US" sz="3600" kern="0" dirty="0">
                <a:solidFill>
                  <a:srgbClr val="FFCC00"/>
                </a:solidFill>
                <a:effectLst>
                  <a:outerShdw blurRad="38100" dist="38100" dir="2700000" algn="tl">
                    <a:srgbClr val="000000"/>
                  </a:outerShdw>
                </a:effectLst>
              </a:rPr>
              <a:t>学生表</a:t>
            </a:r>
          </a:p>
          <a:p>
            <a:pPr>
              <a:spcAft>
                <a:spcPct val="0"/>
              </a:spcAft>
              <a:buClr>
                <a:srgbClr val="FFFFFF"/>
              </a:buClr>
              <a:buSzPct val="85000"/>
              <a:defRPr/>
            </a:pPr>
            <a:r>
              <a:rPr lang="en-US" altLang="zh-CN" sz="3600" kern="0" dirty="0">
                <a:solidFill>
                  <a:srgbClr val="FFCC00"/>
                </a:solidFill>
                <a:effectLst>
                  <a:outerShdw blurRad="38100" dist="38100" dir="2700000" algn="tl">
                    <a:srgbClr val="000000"/>
                  </a:outerShdw>
                </a:effectLst>
              </a:rPr>
              <a:t>	             WHERE </a:t>
            </a:r>
            <a:r>
              <a:rPr lang="zh-CN" altLang="en-US" sz="3600" kern="0" dirty="0">
                <a:solidFill>
                  <a:srgbClr val="FFCC00"/>
                </a:solidFill>
                <a:effectLst>
                  <a:outerShdw blurRad="38100" dist="38100" dir="2700000" algn="tl">
                    <a:srgbClr val="000000"/>
                  </a:outerShdw>
                </a:effectLst>
              </a:rPr>
              <a:t>姓名</a:t>
            </a:r>
            <a:r>
              <a:rPr lang="en-US" altLang="zh-CN" sz="3600" kern="0" dirty="0">
                <a:solidFill>
                  <a:srgbClr val="FFCC00"/>
                </a:solidFill>
                <a:effectLst>
                  <a:outerShdw blurRad="38100" dist="38100" dir="2700000" algn="tl">
                    <a:srgbClr val="000000"/>
                  </a:outerShdw>
                </a:effectLst>
              </a:rPr>
              <a:t>='</a:t>
            </a:r>
            <a:r>
              <a:rPr lang="zh-CN" altLang="en-US" sz="3600" kern="0" dirty="0">
                <a:solidFill>
                  <a:srgbClr val="FFCC00"/>
                </a:solidFill>
                <a:effectLst>
                  <a:outerShdw blurRad="38100" dist="38100" dir="2700000" algn="tl">
                    <a:srgbClr val="000000"/>
                  </a:outerShdw>
                </a:effectLst>
              </a:rPr>
              <a:t>刘安邦</a:t>
            </a:r>
            <a:r>
              <a:rPr lang="en-US" altLang="zh-CN" sz="3600" kern="0" dirty="0">
                <a:solidFill>
                  <a:srgbClr val="FFCC00"/>
                </a:solidFill>
                <a:effectLst>
                  <a:outerShdw blurRad="38100" dist="38100" dir="2700000" algn="tl">
                    <a:srgbClr val="000000"/>
                  </a:outerShdw>
                </a:effectLst>
              </a:rPr>
              <a:t>'  ) </a:t>
            </a:r>
          </a:p>
        </p:txBody>
      </p:sp>
      <p:sp>
        <p:nvSpPr>
          <p:cNvPr id="19" name="AutoShape 6"/>
          <p:cNvSpPr>
            <a:spLocks noChangeArrowheads="1"/>
          </p:cNvSpPr>
          <p:nvPr/>
        </p:nvSpPr>
        <p:spPr bwMode="auto">
          <a:xfrm>
            <a:off x="8832304" y="3861049"/>
            <a:ext cx="1728192" cy="680772"/>
          </a:xfrm>
          <a:prstGeom prst="wedgeRoundRectCallout">
            <a:avLst>
              <a:gd name="adj1" fmla="val -39485"/>
              <a:gd name="adj2" fmla="val 114094"/>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Arial" charset="0"/>
              </a:rPr>
              <a:t>子查询</a:t>
            </a:r>
          </a:p>
        </p:txBody>
      </p:sp>
      <p:sp>
        <p:nvSpPr>
          <p:cNvPr id="20" name="AutoShape 7"/>
          <p:cNvSpPr>
            <a:spLocks noChangeArrowheads="1"/>
          </p:cNvSpPr>
          <p:nvPr/>
        </p:nvSpPr>
        <p:spPr bwMode="auto">
          <a:xfrm>
            <a:off x="983432" y="6021288"/>
            <a:ext cx="1764332" cy="680120"/>
          </a:xfrm>
          <a:prstGeom prst="wedgeRoundRectCallout">
            <a:avLst>
              <a:gd name="adj1" fmla="val 31671"/>
              <a:gd name="adj2" fmla="val -107787"/>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600" kern="0" dirty="0">
                <a:solidFill>
                  <a:srgbClr val="FFFFCC"/>
                </a:solidFill>
                <a:effectLst>
                  <a:outerShdw blurRad="38100" dist="38100" dir="2700000" algn="tl">
                    <a:srgbClr val="000000"/>
                  </a:outerShdw>
                </a:effectLst>
                <a:latin typeface="Arial" charset="0"/>
              </a:rPr>
              <a:t>外查询</a:t>
            </a:r>
          </a:p>
        </p:txBody>
      </p:sp>
    </p:spTree>
    <p:extLst>
      <p:ext uri="{BB962C8B-B14F-4D97-AF65-F5344CB8AC3E}">
        <p14:creationId xmlns:p14="http://schemas.microsoft.com/office/powerpoint/2010/main" val="1440710541"/>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176" y="64067"/>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嵌套查询</a:t>
            </a:r>
          </a:p>
        </p:txBody>
      </p:sp>
      <p:sp>
        <p:nvSpPr>
          <p:cNvPr id="7" name="Rectangle 4"/>
          <p:cNvSpPr txBox="1">
            <a:spLocks noChangeArrowheads="1"/>
          </p:cNvSpPr>
          <p:nvPr/>
        </p:nvSpPr>
        <p:spPr bwMode="auto">
          <a:xfrm>
            <a:off x="690775" y="977504"/>
            <a:ext cx="6917393" cy="1373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eaLnBrk="1" hangingPunct="1">
              <a:spcAft>
                <a:spcPct val="20000"/>
              </a:spcAft>
              <a:buNone/>
              <a:defRPr/>
            </a:pPr>
            <a:r>
              <a:rPr kumimoji="1" lang="zh-CN" altLang="en-US" sz="3600" kern="0" dirty="0"/>
              <a:t>子查询的结果是单值（</a:t>
            </a:r>
            <a:r>
              <a:rPr kumimoji="1" lang="en-US" altLang="zh-CN" sz="3600" kern="0" dirty="0"/>
              <a:t>1</a:t>
            </a:r>
            <a:r>
              <a:rPr kumimoji="1" lang="zh-CN" altLang="en-US" sz="3600" kern="0" dirty="0"/>
              <a:t>行</a:t>
            </a:r>
            <a:r>
              <a:rPr kumimoji="1" lang="en-US" altLang="zh-CN" sz="3600" kern="0" dirty="0"/>
              <a:t>1</a:t>
            </a:r>
            <a:r>
              <a:rPr kumimoji="1" lang="zh-CN" altLang="en-US" sz="3600" kern="0" dirty="0"/>
              <a:t>列）时，可用</a:t>
            </a:r>
            <a:r>
              <a:rPr kumimoji="1" lang="en-US" altLang="zh-CN" sz="3600" b="1" kern="0" dirty="0">
                <a:solidFill>
                  <a:srgbClr val="FFFF00"/>
                </a:solidFill>
              </a:rPr>
              <a:t>=,&gt;,&lt;,&gt;=,&lt;=,!=</a:t>
            </a:r>
            <a:r>
              <a:rPr kumimoji="1" lang="zh-CN" altLang="en-US" sz="3600" kern="0" dirty="0"/>
              <a:t>等比较运算符来构造条件表达式。</a:t>
            </a:r>
          </a:p>
        </p:txBody>
      </p:sp>
      <p:graphicFrame>
        <p:nvGraphicFramePr>
          <p:cNvPr id="8" name="Group 5"/>
          <p:cNvGraphicFramePr>
            <a:graphicFrameLocks noGrp="1"/>
          </p:cNvGraphicFramePr>
          <p:nvPr>
            <p:extLst>
              <p:ext uri="{D42A27DB-BD31-4B8C-83A1-F6EECF244321}">
                <p14:modId xmlns:p14="http://schemas.microsoft.com/office/powerpoint/2010/main" val="742320334"/>
              </p:ext>
            </p:extLst>
          </p:nvPr>
        </p:nvGraphicFramePr>
        <p:xfrm>
          <a:off x="8642118" y="625551"/>
          <a:ext cx="3240360" cy="1914525"/>
        </p:xfrm>
        <a:graphic>
          <a:graphicData uri="http://schemas.openxmlformats.org/drawingml/2006/table">
            <a:tbl>
              <a:tblPr/>
              <a:tblGrid>
                <a:gridCol w="794304">
                  <a:extLst>
                    <a:ext uri="{9D8B030D-6E8A-4147-A177-3AD203B41FA5}">
                      <a16:colId xmlns:a16="http://schemas.microsoft.com/office/drawing/2014/main" val="20000"/>
                    </a:ext>
                  </a:extLst>
                </a:gridCol>
                <a:gridCol w="732820">
                  <a:extLst>
                    <a:ext uri="{9D8B030D-6E8A-4147-A177-3AD203B41FA5}">
                      <a16:colId xmlns:a16="http://schemas.microsoft.com/office/drawing/2014/main" val="20001"/>
                    </a:ext>
                  </a:extLst>
                </a:gridCol>
                <a:gridCol w="551692">
                  <a:extLst>
                    <a:ext uri="{9D8B030D-6E8A-4147-A177-3AD203B41FA5}">
                      <a16:colId xmlns:a16="http://schemas.microsoft.com/office/drawing/2014/main" val="20002"/>
                    </a:ext>
                  </a:extLst>
                </a:gridCol>
                <a:gridCol w="550030">
                  <a:extLst>
                    <a:ext uri="{9D8B030D-6E8A-4147-A177-3AD203B41FA5}">
                      <a16:colId xmlns:a16="http://schemas.microsoft.com/office/drawing/2014/main" val="20003"/>
                    </a:ext>
                  </a:extLst>
                </a:gridCol>
                <a:gridCol w="611514">
                  <a:extLst>
                    <a:ext uri="{9D8B030D-6E8A-4147-A177-3AD203B41FA5}">
                      <a16:colId xmlns:a16="http://schemas.microsoft.com/office/drawing/2014/main" val="20004"/>
                    </a:ext>
                  </a:extLst>
                </a:gridCol>
              </a:tblGrid>
              <a:tr h="2651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系名</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651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51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51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51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052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anchorCtr="1"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anchorCtr="1"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anchorCtr="1"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anchorCtr="1"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anchorCtr="1"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9" name="Rectangle 49"/>
          <p:cNvSpPr>
            <a:spLocks noChangeArrowheads="1"/>
          </p:cNvSpPr>
          <p:nvPr/>
        </p:nvSpPr>
        <p:spPr bwMode="auto">
          <a:xfrm>
            <a:off x="8164137" y="625551"/>
            <a:ext cx="359073" cy="369332"/>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400" dirty="0">
                <a:solidFill>
                  <a:schemeClr val="bg1"/>
                </a:solidFill>
                <a:effectLst>
                  <a:outerShdw blurRad="38100" dist="38100" dir="2700000" algn="tl">
                    <a:srgbClr val="000000"/>
                  </a:outerShdw>
                </a:effectLst>
                <a:latin typeface="Times New Roman" pitchFamily="18" charset="0"/>
              </a:rPr>
              <a:t>ST</a:t>
            </a:r>
          </a:p>
        </p:txBody>
      </p:sp>
      <p:sp>
        <p:nvSpPr>
          <p:cNvPr id="10" name="Rectangle 50"/>
          <p:cNvSpPr>
            <a:spLocks noChangeArrowheads="1"/>
          </p:cNvSpPr>
          <p:nvPr/>
        </p:nvSpPr>
        <p:spPr bwMode="auto">
          <a:xfrm>
            <a:off x="660540" y="2858092"/>
            <a:ext cx="10157753" cy="1676400"/>
          </a:xfrm>
          <a:prstGeom prst="rect">
            <a:avLst/>
          </a:prstGeom>
          <a:noFill/>
          <a:ln w="9525">
            <a:noFill/>
            <a:miter lim="800000"/>
            <a:headEnd/>
            <a:tailEnd/>
          </a:ln>
          <a:effectLst/>
        </p:spPr>
        <p:txBody>
          <a:bodyPr/>
          <a:lstStyle/>
          <a:p>
            <a:pPr algn="just">
              <a:spcAft>
                <a:spcPts val="1200"/>
              </a:spcAft>
              <a:buClr>
                <a:srgbClr val="FFFFFF"/>
              </a:buClr>
              <a:buSzPct val="85000"/>
              <a:defRPr/>
            </a:pPr>
            <a:r>
              <a:rPr lang="zh-CN" altLang="en-US" sz="3200" kern="0" dirty="0">
                <a:solidFill>
                  <a:schemeClr val="bg1"/>
                </a:solidFill>
                <a:effectLst>
                  <a:outerShdw blurRad="38100" dist="38100" dir="2700000" algn="tl">
                    <a:srgbClr val="000000"/>
                  </a:outerShdw>
                </a:effectLst>
              </a:rPr>
              <a:t>设不允许学生重名，查询与王军同一个系的学生姓名</a:t>
            </a:r>
          </a:p>
          <a:p>
            <a:pPr algn="just">
              <a:buClr>
                <a:schemeClr val="tx1"/>
              </a:buClr>
              <a:buSzPct val="85000"/>
              <a:defRPr/>
            </a:pPr>
            <a:r>
              <a:rPr lang="en-US" altLang="zh-CN" sz="3600" dirty="0">
                <a:solidFill>
                  <a:srgbClr val="99FF33"/>
                </a:solidFill>
                <a:effectLst>
                  <a:outerShdw blurRad="38100" dist="38100" dir="2700000" algn="tl">
                    <a:srgbClr val="000000"/>
                  </a:outerShdw>
                </a:effectLst>
              </a:rPr>
              <a:t>SELECT </a:t>
            </a:r>
            <a:r>
              <a:rPr lang="zh-CN" altLang="en-US" sz="3600" dirty="0">
                <a:solidFill>
                  <a:srgbClr val="99FF33"/>
                </a:solidFill>
                <a:effectLst>
                  <a:outerShdw blurRad="38100" dist="38100" dir="2700000" algn="tl">
                    <a:srgbClr val="000000"/>
                  </a:outerShdw>
                </a:effectLst>
              </a:rPr>
              <a:t>姓名 </a:t>
            </a:r>
            <a:r>
              <a:rPr lang="en-US" altLang="zh-CN" sz="3600" dirty="0">
                <a:solidFill>
                  <a:srgbClr val="99FF33"/>
                </a:solidFill>
                <a:effectLst>
                  <a:outerShdw blurRad="38100" dist="38100" dir="2700000" algn="tl">
                    <a:srgbClr val="000000"/>
                  </a:outerShdw>
                </a:effectLst>
              </a:rPr>
              <a:t>FROM ST</a:t>
            </a:r>
          </a:p>
          <a:p>
            <a:pPr algn="just">
              <a:buClr>
                <a:schemeClr val="tx1"/>
              </a:buClr>
              <a:buSzPct val="85000"/>
              <a:defRPr/>
            </a:pPr>
            <a:r>
              <a:rPr lang="en-US" altLang="zh-CN" sz="3600" dirty="0">
                <a:solidFill>
                  <a:srgbClr val="99FF33"/>
                </a:solidFill>
                <a:effectLst>
                  <a:outerShdw blurRad="38100" dist="38100" dir="2700000" algn="tl">
                    <a:srgbClr val="000000"/>
                  </a:outerShdw>
                </a:effectLst>
              </a:rPr>
              <a:t> WHERE </a:t>
            </a:r>
            <a:r>
              <a:rPr lang="zh-CN" altLang="en-US" sz="3600" dirty="0">
                <a:solidFill>
                  <a:srgbClr val="00FFFF"/>
                </a:solidFill>
                <a:effectLst>
                  <a:outerShdw blurRad="38100" dist="38100" dir="2700000" algn="tl">
                    <a:srgbClr val="000000"/>
                  </a:outerShdw>
                </a:effectLst>
              </a:rPr>
              <a:t>系名</a:t>
            </a:r>
            <a:r>
              <a:rPr lang="zh-CN" altLang="en-US" sz="3600" dirty="0">
                <a:solidFill>
                  <a:srgbClr val="99FF33"/>
                </a:solidFill>
                <a:effectLst>
                  <a:outerShdw blurRad="38100" dist="38100" dir="2700000" algn="tl">
                    <a:srgbClr val="000000"/>
                  </a:outerShdw>
                </a:effectLst>
              </a:rPr>
              <a:t> </a:t>
            </a:r>
            <a:r>
              <a:rPr lang="en-US" altLang="zh-CN" sz="3600" b="1" dirty="0">
                <a:solidFill>
                  <a:srgbClr val="00FFFF"/>
                </a:solidFill>
                <a:effectLst>
                  <a:outerShdw blurRad="38100" dist="38100" dir="2700000" algn="tl">
                    <a:srgbClr val="000000"/>
                  </a:outerShdw>
                </a:effectLst>
              </a:rPr>
              <a:t>=</a:t>
            </a:r>
            <a:r>
              <a:rPr lang="en-US" altLang="zh-CN" sz="3600" dirty="0">
                <a:solidFill>
                  <a:srgbClr val="99FF33"/>
                </a:solidFill>
                <a:effectLst>
                  <a:outerShdw blurRad="38100" dist="38100" dir="2700000" algn="tl">
                    <a:srgbClr val="000000"/>
                  </a:outerShdw>
                </a:effectLst>
              </a:rPr>
              <a:t> (</a:t>
            </a:r>
          </a:p>
          <a:p>
            <a:pPr algn="just">
              <a:buClr>
                <a:schemeClr val="tx1"/>
              </a:buClr>
              <a:buSzPct val="85000"/>
              <a:defRPr/>
            </a:pPr>
            <a:r>
              <a:rPr lang="en-US" altLang="zh-CN" sz="3600" dirty="0">
                <a:solidFill>
                  <a:srgbClr val="99FF33"/>
                </a:solidFill>
                <a:effectLst>
                  <a:outerShdw blurRad="38100" dist="38100" dir="2700000" algn="tl">
                    <a:srgbClr val="000000"/>
                  </a:outerShdw>
                </a:effectLst>
              </a:rPr>
              <a:t>       SELECT </a:t>
            </a:r>
            <a:r>
              <a:rPr lang="zh-CN" altLang="en-US" sz="3600" dirty="0">
                <a:solidFill>
                  <a:srgbClr val="00FFFF"/>
                </a:solidFill>
                <a:effectLst>
                  <a:outerShdw blurRad="38100" dist="38100" dir="2700000" algn="tl">
                    <a:srgbClr val="000000"/>
                  </a:outerShdw>
                </a:effectLst>
              </a:rPr>
              <a:t>系名</a:t>
            </a:r>
            <a:r>
              <a:rPr lang="zh-CN" altLang="en-US" sz="3600" dirty="0">
                <a:solidFill>
                  <a:srgbClr val="99FF33"/>
                </a:solidFill>
                <a:effectLst>
                  <a:outerShdw blurRad="38100" dist="38100" dir="2700000" algn="tl">
                    <a:srgbClr val="000000"/>
                  </a:outerShdw>
                </a:effectLst>
              </a:rPr>
              <a:t> </a:t>
            </a:r>
            <a:r>
              <a:rPr lang="en-US" altLang="zh-CN" sz="3600" dirty="0">
                <a:solidFill>
                  <a:srgbClr val="99FF33"/>
                </a:solidFill>
                <a:effectLst>
                  <a:outerShdw blurRad="38100" dist="38100" dir="2700000" algn="tl">
                    <a:srgbClr val="000000"/>
                  </a:outerShdw>
                </a:effectLst>
              </a:rPr>
              <a:t>FROM ST</a:t>
            </a:r>
          </a:p>
          <a:p>
            <a:pPr algn="just">
              <a:buClr>
                <a:schemeClr val="tx1"/>
              </a:buClr>
              <a:buSzPct val="85000"/>
              <a:defRPr/>
            </a:pPr>
            <a:r>
              <a:rPr lang="en-US" altLang="zh-CN" sz="3600" dirty="0">
                <a:solidFill>
                  <a:srgbClr val="99FF33"/>
                </a:solidFill>
                <a:effectLst>
                  <a:outerShdw blurRad="38100" dist="38100" dir="2700000" algn="tl">
                    <a:srgbClr val="000000"/>
                  </a:outerShdw>
                </a:effectLst>
              </a:rPr>
              <a:t>        WHERE </a:t>
            </a:r>
            <a:r>
              <a:rPr lang="zh-CN" altLang="en-US" sz="3600" dirty="0">
                <a:solidFill>
                  <a:srgbClr val="99FF33"/>
                </a:solidFill>
                <a:effectLst>
                  <a:outerShdw blurRad="38100" dist="38100" dir="2700000" algn="tl">
                    <a:srgbClr val="000000"/>
                  </a:outerShdw>
                </a:effectLst>
              </a:rPr>
              <a:t>姓名 </a:t>
            </a:r>
            <a:r>
              <a:rPr lang="en-US" altLang="zh-CN" sz="3600" dirty="0">
                <a:solidFill>
                  <a:srgbClr val="99FF33"/>
                </a:solidFill>
                <a:effectLst>
                  <a:outerShdw blurRad="38100" dist="38100" dir="2700000" algn="tl">
                    <a:srgbClr val="000000"/>
                  </a:outerShdw>
                </a:effectLst>
              </a:rPr>
              <a:t>= '</a:t>
            </a:r>
            <a:r>
              <a:rPr lang="zh-CN" altLang="en-US" sz="3600" dirty="0">
                <a:solidFill>
                  <a:srgbClr val="99FF33"/>
                </a:solidFill>
                <a:effectLst>
                  <a:outerShdw blurRad="38100" dist="38100" dir="2700000" algn="tl">
                    <a:srgbClr val="000000"/>
                  </a:outerShdw>
                </a:effectLst>
              </a:rPr>
              <a:t>王军</a:t>
            </a:r>
            <a:r>
              <a:rPr lang="en-US" altLang="zh-CN" sz="3600" dirty="0">
                <a:solidFill>
                  <a:srgbClr val="99FF33"/>
                </a:solidFill>
                <a:effectLst>
                  <a:outerShdw blurRad="38100" dist="38100" dir="2700000" algn="tl">
                    <a:srgbClr val="000000"/>
                  </a:outerShdw>
                </a:effectLst>
              </a:rPr>
              <a:t>' )</a:t>
            </a:r>
            <a:endParaRPr lang="zh-CN" altLang="en-US" sz="3600" kern="0" dirty="0">
              <a:solidFill>
                <a:schemeClr val="bg1"/>
              </a:solidFill>
              <a:effectLst>
                <a:outerShdw blurRad="38100" dist="38100" dir="2700000" algn="tl">
                  <a:srgbClr val="000000"/>
                </a:outerShdw>
              </a:effectLst>
            </a:endParaRPr>
          </a:p>
        </p:txBody>
      </p:sp>
      <p:sp>
        <p:nvSpPr>
          <p:cNvPr id="11" name="AutoShape 51"/>
          <p:cNvSpPr>
            <a:spLocks noChangeArrowheads="1"/>
          </p:cNvSpPr>
          <p:nvPr/>
        </p:nvSpPr>
        <p:spPr bwMode="auto">
          <a:xfrm rot="9615332">
            <a:off x="6444971" y="4480454"/>
            <a:ext cx="2085852" cy="317925"/>
          </a:xfrm>
          <a:prstGeom prst="leftArrow">
            <a:avLst>
              <a:gd name="adj1" fmla="val 42274"/>
              <a:gd name="adj2" fmla="val 69922"/>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endParaRPr lang="zh-CN" altLang="en-US" kern="0">
              <a:solidFill>
                <a:sysClr val="windowText" lastClr="000000"/>
              </a:solidFill>
            </a:endParaRPr>
          </a:p>
        </p:txBody>
      </p:sp>
      <p:graphicFrame>
        <p:nvGraphicFramePr>
          <p:cNvPr id="12" name="Group 52"/>
          <p:cNvGraphicFramePr>
            <a:graphicFrameLocks noGrp="1"/>
          </p:cNvGraphicFramePr>
          <p:nvPr>
            <p:extLst>
              <p:ext uri="{D42A27DB-BD31-4B8C-83A1-F6EECF244321}">
                <p14:modId xmlns:p14="http://schemas.microsoft.com/office/powerpoint/2010/main" val="52991101"/>
              </p:ext>
            </p:extLst>
          </p:nvPr>
        </p:nvGraphicFramePr>
        <p:xfrm>
          <a:off x="8760296" y="3724683"/>
          <a:ext cx="1440160" cy="853440"/>
        </p:xfrm>
        <a:graphic>
          <a:graphicData uri="http://schemas.openxmlformats.org/drawingml/2006/table">
            <a:tbl>
              <a:tblPr/>
              <a:tblGrid>
                <a:gridCol w="1440160">
                  <a:extLst>
                    <a:ext uri="{9D8B030D-6E8A-4147-A177-3AD203B41FA5}">
                      <a16:colId xmlns:a16="http://schemas.microsoft.com/office/drawing/2014/main" val="20000"/>
                    </a:ext>
                  </a:extLst>
                </a:gridCol>
              </a:tblGrid>
              <a:tr h="39687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1" i="0" u="none" strike="noStrike" cap="none" normalizeH="0" baseline="0" dirty="0">
                          <a:ln>
                            <a:noFill/>
                          </a:ln>
                          <a:solidFill>
                            <a:srgbClr val="66FFFF"/>
                          </a:solidFill>
                          <a:effectLst>
                            <a:outerShdw blurRad="38100" dist="38100" dir="2700000" algn="tl">
                              <a:srgbClr val="000000"/>
                            </a:outerShdw>
                          </a:effectLst>
                          <a:latin typeface="楷体" panose="02010609060101010101" pitchFamily="49" charset="-122"/>
                          <a:ea typeface="楷体" panose="02010609060101010101" pitchFamily="49" charset="-122"/>
                        </a:rPr>
                        <a:t>系名</a:t>
                      </a:r>
                    </a:p>
                  </a:txBody>
                  <a:tcPr marL="0" marR="0" marT="0" marB="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528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66FFFF"/>
                          </a:solidFill>
                          <a:effectLst>
                            <a:outerShdw blurRad="38100" dist="38100" dir="2700000" algn="tl">
                              <a:srgbClr val="000000"/>
                            </a:outerShdw>
                          </a:effectLst>
                          <a:latin typeface="楷体" panose="02010609060101010101" pitchFamily="49" charset="-122"/>
                          <a:ea typeface="楷体" panose="02010609060101010101" pitchFamily="49" charset="-122"/>
                        </a:rPr>
                        <a:t>IS</a:t>
                      </a:r>
                    </a:p>
                  </a:txBody>
                  <a:tcPr marL="0" marR="0" marT="0" marB="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3" name="AutoShape 60"/>
          <p:cNvSpPr>
            <a:spLocks noChangeArrowheads="1"/>
          </p:cNvSpPr>
          <p:nvPr/>
        </p:nvSpPr>
        <p:spPr bwMode="auto">
          <a:xfrm>
            <a:off x="8620905" y="5157192"/>
            <a:ext cx="2880320" cy="1075257"/>
          </a:xfrm>
          <a:prstGeom prst="wedgeRoundRectCallout">
            <a:avLst>
              <a:gd name="adj1" fmla="val -21909"/>
              <a:gd name="adj2" fmla="val -83273"/>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dist">
              <a:spcAft>
                <a:spcPct val="40000"/>
              </a:spcAft>
              <a:buClr>
                <a:srgbClr val="66FF33"/>
              </a:buClr>
              <a:buSzPct val="85000"/>
              <a:defRPr/>
            </a:pPr>
            <a:r>
              <a:rPr lang="zh-CN" altLang="en-US" sz="3200" kern="0">
                <a:solidFill>
                  <a:srgbClr val="FFFFCC"/>
                </a:solidFill>
                <a:effectLst>
                  <a:outerShdw blurRad="38100" dist="38100" dir="2700000" algn="tl">
                    <a:srgbClr val="000000"/>
                  </a:outerShdw>
                </a:effectLst>
                <a:latin typeface="Arial" charset="0"/>
              </a:rPr>
              <a:t>子查询得到王军所在的系名</a:t>
            </a:r>
          </a:p>
        </p:txBody>
      </p:sp>
      <p:sp>
        <p:nvSpPr>
          <p:cNvPr id="14" name="Rectangle 61"/>
          <p:cNvSpPr>
            <a:spLocks noChangeArrowheads="1"/>
          </p:cNvSpPr>
          <p:nvPr/>
        </p:nvSpPr>
        <p:spPr bwMode="auto">
          <a:xfrm>
            <a:off x="690775" y="6007952"/>
            <a:ext cx="6557354" cy="661407"/>
          </a:xfrm>
          <a:prstGeom prst="rect">
            <a:avLst/>
          </a:prstGeom>
          <a:solidFill>
            <a:srgbClr val="0000CC"/>
          </a:solidFill>
          <a:ln w="12700" cap="sq">
            <a:solidFill>
              <a:srgbClr val="FFFFCC"/>
            </a:solidFill>
            <a:miter lim="800000"/>
            <a:headEnd/>
            <a:tailEnd/>
          </a:ln>
          <a:effectLst>
            <a:outerShdw dist="107763" dir="2700000" algn="ctr" rotWithShape="0">
              <a:srgbClr val="000514">
                <a:alpha val="50000"/>
              </a:srgbClr>
            </a:outerShdw>
          </a:effectLst>
        </p:spPr>
        <p:txBody>
          <a:bodyPr lIns="0" tIns="0" rIns="0" bIns="0" anchor="ctr"/>
          <a:lstStyle/>
          <a:p>
            <a:pPr algn="ctr">
              <a:spcAft>
                <a:spcPct val="0"/>
              </a:spcAft>
              <a:defRPr/>
            </a:pPr>
            <a:r>
              <a:rPr lang="zh-CN" altLang="zh-CN" sz="3200" kern="0" dirty="0">
                <a:solidFill>
                  <a:schemeClr val="bg1"/>
                </a:solidFill>
                <a:effectLst>
                  <a:outerShdw blurRad="38100" dist="38100" dir="2700000" algn="tl">
                    <a:srgbClr val="000000"/>
                  </a:outerShdw>
                </a:effectLst>
                <a:latin typeface="+mj-ea"/>
                <a:ea typeface="+mj-ea"/>
              </a:rPr>
              <a:t>想一想为什么要不准学生重名?</a:t>
            </a:r>
            <a:endParaRPr lang="en-US" altLang="zh-CN" sz="3200" kern="0" dirty="0">
              <a:solidFill>
                <a:schemeClr val="bg1"/>
              </a:solidFill>
              <a:effectLst>
                <a:outerShdw blurRad="38100" dist="38100" dir="2700000" algn="tl">
                  <a:srgbClr val="000000"/>
                </a:outerShdw>
              </a:effectLst>
              <a:latin typeface="+mj-ea"/>
              <a:ea typeface="+mj-ea"/>
            </a:endParaRPr>
          </a:p>
        </p:txBody>
      </p:sp>
    </p:spTree>
    <p:extLst>
      <p:ext uri="{BB962C8B-B14F-4D97-AF65-F5344CB8AC3E}">
        <p14:creationId xmlns:p14="http://schemas.microsoft.com/office/powerpoint/2010/main" val="2251947549"/>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6" presetClass="emph" presetSubtype="0" repeatCount="5000" fill="hold" grpId="1" nodeType="afterEffect">
                                  <p:stCondLst>
                                    <p:cond delay="0"/>
                                  </p:stCondLst>
                                  <p:childTnLst>
                                    <p:animEffect transition="out" filter="fade">
                                      <p:cBhvr>
                                        <p:cTn id="12" dur="500" tmFilter="0, 0; .2, .5; .8, .5; 1, 0"/>
                                        <p:tgtEl>
                                          <p:spTgt spid="14"/>
                                        </p:tgtEl>
                                      </p:cBhvr>
                                    </p:animEffect>
                                    <p:animScale>
                                      <p:cBhvr>
                                        <p:cTn id="13"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176" y="64067"/>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嵌套查询</a:t>
            </a:r>
          </a:p>
        </p:txBody>
      </p:sp>
      <p:graphicFrame>
        <p:nvGraphicFramePr>
          <p:cNvPr id="3" name="Group 4"/>
          <p:cNvGraphicFramePr>
            <a:graphicFrameLocks noGrp="1"/>
          </p:cNvGraphicFramePr>
          <p:nvPr>
            <p:extLst>
              <p:ext uri="{D42A27DB-BD31-4B8C-83A1-F6EECF244321}">
                <p14:modId xmlns:p14="http://schemas.microsoft.com/office/powerpoint/2010/main" val="3055667092"/>
              </p:ext>
            </p:extLst>
          </p:nvPr>
        </p:nvGraphicFramePr>
        <p:xfrm>
          <a:off x="8239249" y="825026"/>
          <a:ext cx="3617391" cy="2219325"/>
        </p:xfrm>
        <a:graphic>
          <a:graphicData uri="http://schemas.openxmlformats.org/drawingml/2006/table">
            <a:tbl>
              <a:tblPr/>
              <a:tblGrid>
                <a:gridCol w="886725">
                  <a:extLst>
                    <a:ext uri="{9D8B030D-6E8A-4147-A177-3AD203B41FA5}">
                      <a16:colId xmlns:a16="http://schemas.microsoft.com/office/drawing/2014/main" val="20000"/>
                    </a:ext>
                  </a:extLst>
                </a:gridCol>
                <a:gridCol w="818087">
                  <a:extLst>
                    <a:ext uri="{9D8B030D-6E8A-4147-A177-3AD203B41FA5}">
                      <a16:colId xmlns:a16="http://schemas.microsoft.com/office/drawing/2014/main" val="20001"/>
                    </a:ext>
                  </a:extLst>
                </a:gridCol>
                <a:gridCol w="615884">
                  <a:extLst>
                    <a:ext uri="{9D8B030D-6E8A-4147-A177-3AD203B41FA5}">
                      <a16:colId xmlns:a16="http://schemas.microsoft.com/office/drawing/2014/main" val="20002"/>
                    </a:ext>
                  </a:extLst>
                </a:gridCol>
                <a:gridCol w="614028">
                  <a:extLst>
                    <a:ext uri="{9D8B030D-6E8A-4147-A177-3AD203B41FA5}">
                      <a16:colId xmlns:a16="http://schemas.microsoft.com/office/drawing/2014/main" val="20003"/>
                    </a:ext>
                  </a:extLst>
                </a:gridCol>
                <a:gridCol w="682667">
                  <a:extLst>
                    <a:ext uri="{9D8B030D-6E8A-4147-A177-3AD203B41FA5}">
                      <a16:colId xmlns:a16="http://schemas.microsoft.com/office/drawing/2014/main" val="20004"/>
                    </a:ext>
                  </a:extLst>
                </a:gridCol>
              </a:tblGrid>
              <a:tr h="2651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系名</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651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51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51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51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052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anchorCtr="1"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anchorCtr="1"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anchorCtr="1"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anchorCtr="1"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anchorCtr="1"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 name="Rectangle 48"/>
          <p:cNvSpPr>
            <a:spLocks noChangeArrowheads="1"/>
          </p:cNvSpPr>
          <p:nvPr/>
        </p:nvSpPr>
        <p:spPr bwMode="auto">
          <a:xfrm>
            <a:off x="7807449" y="825025"/>
            <a:ext cx="359073" cy="369332"/>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400" dirty="0">
                <a:solidFill>
                  <a:schemeClr val="bg1"/>
                </a:solidFill>
                <a:effectLst>
                  <a:outerShdw blurRad="38100" dist="38100" dir="2700000" algn="tl">
                    <a:srgbClr val="000000"/>
                  </a:outerShdw>
                </a:effectLst>
                <a:latin typeface="Times New Roman" pitchFamily="18" charset="0"/>
              </a:rPr>
              <a:t>ST</a:t>
            </a:r>
          </a:p>
        </p:txBody>
      </p:sp>
      <p:sp>
        <p:nvSpPr>
          <p:cNvPr id="6" name="Rectangle 49"/>
          <p:cNvSpPr>
            <a:spLocks noChangeArrowheads="1"/>
          </p:cNvSpPr>
          <p:nvPr/>
        </p:nvSpPr>
        <p:spPr bwMode="auto">
          <a:xfrm>
            <a:off x="677664" y="2677855"/>
            <a:ext cx="8066088" cy="1676400"/>
          </a:xfrm>
          <a:prstGeom prst="rect">
            <a:avLst/>
          </a:prstGeom>
          <a:noFill/>
          <a:ln w="9525">
            <a:noFill/>
            <a:miter lim="800000"/>
            <a:headEnd/>
            <a:tailEnd/>
          </a:ln>
          <a:effectLst/>
        </p:spPr>
        <p:txBody>
          <a:bodyPr/>
          <a:lstStyle/>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SELECT </a:t>
            </a:r>
            <a:r>
              <a:rPr lang="zh-CN" altLang="en-US" sz="3200" kern="0" dirty="0">
                <a:solidFill>
                  <a:srgbClr val="99FF33"/>
                </a:solidFill>
                <a:effectLst>
                  <a:outerShdw blurRad="38100" dist="38100" dir="2700000" algn="tl">
                    <a:srgbClr val="000000"/>
                  </a:outerShdw>
                </a:effectLst>
              </a:rPr>
              <a:t>姓名</a:t>
            </a:r>
            <a:r>
              <a:rPr lang="en-US" altLang="zh-CN" sz="3200" kern="0" dirty="0">
                <a:solidFill>
                  <a:srgbClr val="99FF33"/>
                </a:solidFill>
                <a:effectLst>
                  <a:outerShdw blurRad="38100" dist="38100" dir="2700000" algn="tl">
                    <a:srgbClr val="000000"/>
                  </a:outerShdw>
                </a:effectLst>
              </a:rPr>
              <a:t>,</a:t>
            </a:r>
            <a:r>
              <a:rPr lang="zh-CN" altLang="en-US" sz="3200" kern="0" dirty="0">
                <a:solidFill>
                  <a:srgbClr val="99FF33"/>
                </a:solidFill>
                <a:effectLst>
                  <a:outerShdw blurRad="38100" dist="38100" dir="2700000" algn="tl">
                    <a:srgbClr val="000000"/>
                  </a:outerShdw>
                </a:effectLst>
              </a:rPr>
              <a:t>年龄 </a:t>
            </a:r>
            <a:r>
              <a:rPr lang="en-US" altLang="zh-CN" sz="3200" kern="0" dirty="0">
                <a:solidFill>
                  <a:srgbClr val="99FF33"/>
                </a:solidFill>
                <a:effectLst>
                  <a:outerShdw blurRad="38100" dist="38100" dir="2700000" algn="tl">
                    <a:srgbClr val="000000"/>
                  </a:outerShdw>
                </a:effectLst>
              </a:rPr>
              <a:t>FROM ST</a:t>
            </a:r>
          </a:p>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WHERE </a:t>
            </a:r>
            <a:r>
              <a:rPr lang="zh-CN" altLang="en-US" sz="3200" kern="0" dirty="0">
                <a:solidFill>
                  <a:srgbClr val="00FFFF"/>
                </a:solidFill>
                <a:effectLst>
                  <a:outerShdw blurRad="38100" dist="38100" dir="2700000" algn="tl">
                    <a:srgbClr val="000000"/>
                  </a:outerShdw>
                </a:effectLst>
              </a:rPr>
              <a:t>年龄</a:t>
            </a:r>
            <a:r>
              <a:rPr lang="zh-CN" altLang="en-US" sz="3200" kern="0" dirty="0">
                <a:solidFill>
                  <a:srgbClr val="99FF33"/>
                </a:solidFill>
                <a:effectLst>
                  <a:outerShdw blurRad="38100" dist="38100" dir="2700000" algn="tl">
                    <a:srgbClr val="000000"/>
                  </a:outerShdw>
                </a:effectLst>
              </a:rPr>
              <a:t> </a:t>
            </a:r>
            <a:r>
              <a:rPr lang="en-US" altLang="zh-CN" sz="3200" b="1" kern="0" dirty="0">
                <a:solidFill>
                  <a:srgbClr val="00FFFF"/>
                </a:solidFill>
                <a:effectLst>
                  <a:outerShdw blurRad="38100" dist="38100" dir="2700000" algn="tl">
                    <a:srgbClr val="000000"/>
                  </a:outerShdw>
                </a:effectLst>
              </a:rPr>
              <a:t>&lt;</a:t>
            </a:r>
            <a:r>
              <a:rPr lang="en-US" altLang="zh-CN" sz="3200" kern="0" dirty="0">
                <a:solidFill>
                  <a:srgbClr val="99FF33"/>
                </a:solidFill>
                <a:effectLst>
                  <a:outerShdw blurRad="38100" dist="38100" dir="2700000" algn="tl">
                    <a:srgbClr val="000000"/>
                  </a:outerShdw>
                </a:effectLst>
              </a:rPr>
              <a:t> (  SELECT </a:t>
            </a:r>
            <a:r>
              <a:rPr lang="zh-CN" altLang="en-US" sz="3200" kern="0" dirty="0">
                <a:solidFill>
                  <a:srgbClr val="00FFFF"/>
                </a:solidFill>
                <a:effectLst>
                  <a:outerShdw blurRad="38100" dist="38100" dir="2700000" algn="tl">
                    <a:srgbClr val="000000"/>
                  </a:outerShdw>
                </a:effectLst>
              </a:rPr>
              <a:t>年龄</a:t>
            </a:r>
            <a:r>
              <a:rPr lang="zh-CN" altLang="en-US" sz="3200" kern="0" dirty="0">
                <a:solidFill>
                  <a:srgbClr val="99FF33"/>
                </a:solidFill>
                <a:effectLst>
                  <a:outerShdw blurRad="38100" dist="38100" dir="2700000" algn="tl">
                    <a:srgbClr val="000000"/>
                  </a:outerShdw>
                </a:effectLst>
              </a:rPr>
              <a:t> </a:t>
            </a:r>
            <a:r>
              <a:rPr lang="en-US" altLang="zh-CN" sz="3200" kern="0" dirty="0">
                <a:solidFill>
                  <a:srgbClr val="99FF33"/>
                </a:solidFill>
                <a:effectLst>
                  <a:outerShdw blurRad="38100" dist="38100" dir="2700000" algn="tl">
                    <a:srgbClr val="000000"/>
                  </a:outerShdw>
                </a:effectLst>
              </a:rPr>
              <a:t>FROM ST</a:t>
            </a:r>
          </a:p>
          <a:p>
            <a:pPr algn="just">
              <a:spcAft>
                <a:spcPct val="30000"/>
              </a:spcAft>
              <a:buClr>
                <a:srgbClr val="FFFFFF"/>
              </a:buClr>
              <a:buSzPct val="85000"/>
              <a:defRPr/>
            </a:pPr>
            <a:r>
              <a:rPr lang="en-US" altLang="zh-CN" sz="3200" kern="0" dirty="0">
                <a:solidFill>
                  <a:srgbClr val="99FF33"/>
                </a:solidFill>
                <a:effectLst>
                  <a:outerShdw blurRad="38100" dist="38100" dir="2700000" algn="tl">
                    <a:srgbClr val="000000"/>
                  </a:outerShdw>
                </a:effectLst>
              </a:rPr>
              <a:t> 	             WHERE </a:t>
            </a:r>
            <a:r>
              <a:rPr lang="zh-CN" altLang="en-US" sz="3200" kern="0" dirty="0">
                <a:solidFill>
                  <a:srgbClr val="99FF33"/>
                </a:solidFill>
                <a:effectLst>
                  <a:outerShdw blurRad="38100" dist="38100" dir="2700000" algn="tl">
                    <a:srgbClr val="000000"/>
                  </a:outerShdw>
                </a:effectLst>
              </a:rPr>
              <a:t>姓名 </a:t>
            </a:r>
            <a:r>
              <a:rPr lang="en-US" altLang="zh-CN" sz="3200" kern="0" dirty="0">
                <a:solidFill>
                  <a:srgbClr val="99FF33"/>
                </a:solidFill>
                <a:effectLst>
                  <a:outerShdw blurRad="38100" dist="38100" dir="2700000" algn="tl">
                    <a:srgbClr val="000000"/>
                  </a:outerShdw>
                </a:effectLst>
              </a:rPr>
              <a:t>= '</a:t>
            </a:r>
            <a:r>
              <a:rPr lang="zh-CN" altLang="en-US" sz="3200" kern="0" dirty="0">
                <a:solidFill>
                  <a:srgbClr val="99FF33"/>
                </a:solidFill>
                <a:effectLst>
                  <a:outerShdw blurRad="38100" dist="38100" dir="2700000" algn="tl">
                    <a:srgbClr val="000000"/>
                  </a:outerShdw>
                </a:effectLst>
              </a:rPr>
              <a:t>李华</a:t>
            </a:r>
            <a:r>
              <a:rPr lang="en-US" altLang="zh-CN" sz="3200" kern="0" dirty="0">
                <a:solidFill>
                  <a:srgbClr val="99FF33"/>
                </a:solidFill>
                <a:effectLst>
                  <a:outerShdw blurRad="38100" dist="38100" dir="2700000" algn="tl">
                    <a:srgbClr val="000000"/>
                  </a:outerShdw>
                </a:effectLst>
              </a:rPr>
              <a:t>' )</a:t>
            </a:r>
          </a:p>
          <a:p>
            <a:pPr algn="just">
              <a:spcAft>
                <a:spcPct val="0"/>
              </a:spcAft>
              <a:buClr>
                <a:srgbClr val="FFFFFF"/>
              </a:buClr>
              <a:buSzPct val="85000"/>
              <a:defRPr/>
            </a:pPr>
            <a:r>
              <a:rPr lang="zh-CN" altLang="en-US" sz="3200" kern="0" dirty="0">
                <a:solidFill>
                  <a:srgbClr val="FFCC00"/>
                </a:solidFill>
                <a:effectLst>
                  <a:outerShdw blurRad="38100" dist="38100" dir="2700000" algn="tl">
                    <a:srgbClr val="000000"/>
                  </a:outerShdw>
                </a:effectLst>
              </a:rPr>
              <a:t>   </a:t>
            </a:r>
            <a:r>
              <a:rPr lang="en-US" altLang="zh-CN" sz="3200" kern="0" dirty="0">
                <a:solidFill>
                  <a:srgbClr val="99FF33"/>
                </a:solidFill>
                <a:effectLst>
                  <a:outerShdw blurRad="38100" dist="38100" dir="2700000" algn="tl">
                    <a:srgbClr val="000000"/>
                  </a:outerShdw>
                </a:effectLst>
              </a:rPr>
              <a:t>AND </a:t>
            </a:r>
            <a:r>
              <a:rPr lang="zh-CN" altLang="en-US" sz="3200" kern="0" dirty="0">
                <a:solidFill>
                  <a:srgbClr val="FFFF00"/>
                </a:solidFill>
                <a:effectLst>
                  <a:outerShdw blurRad="38100" dist="38100" dir="2700000" algn="tl">
                    <a:srgbClr val="000000"/>
                  </a:outerShdw>
                </a:effectLst>
              </a:rPr>
              <a:t>年龄 </a:t>
            </a:r>
            <a:r>
              <a:rPr lang="en-US" altLang="zh-CN" sz="3200" b="1" kern="0" dirty="0">
                <a:solidFill>
                  <a:srgbClr val="FFFF00"/>
                </a:solidFill>
                <a:effectLst>
                  <a:outerShdw blurRad="38100" dist="38100" dir="2700000" algn="tl">
                    <a:srgbClr val="000000"/>
                  </a:outerShdw>
                </a:effectLst>
              </a:rPr>
              <a:t>&gt;</a:t>
            </a:r>
            <a:r>
              <a:rPr lang="en-US" altLang="zh-CN" sz="3200" kern="0" dirty="0">
                <a:solidFill>
                  <a:srgbClr val="99FF33"/>
                </a:solidFill>
                <a:effectLst>
                  <a:outerShdw blurRad="38100" dist="38100" dir="2700000" algn="tl">
                    <a:srgbClr val="000000"/>
                  </a:outerShdw>
                </a:effectLst>
              </a:rPr>
              <a:t> (  SELECT </a:t>
            </a:r>
            <a:r>
              <a:rPr lang="zh-CN" altLang="en-US" sz="3200" kern="0" dirty="0">
                <a:solidFill>
                  <a:srgbClr val="FFFF00"/>
                </a:solidFill>
                <a:effectLst>
                  <a:outerShdw blurRad="38100" dist="38100" dir="2700000" algn="tl">
                    <a:srgbClr val="000000"/>
                  </a:outerShdw>
                </a:effectLst>
              </a:rPr>
              <a:t>年龄</a:t>
            </a:r>
            <a:r>
              <a:rPr lang="zh-CN" altLang="en-US" sz="3200" kern="0" dirty="0">
                <a:solidFill>
                  <a:srgbClr val="99FF33"/>
                </a:solidFill>
                <a:effectLst>
                  <a:outerShdw blurRad="38100" dist="38100" dir="2700000" algn="tl">
                    <a:srgbClr val="000000"/>
                  </a:outerShdw>
                </a:effectLst>
              </a:rPr>
              <a:t> </a:t>
            </a:r>
            <a:r>
              <a:rPr lang="en-US" altLang="zh-CN" sz="3200" kern="0" dirty="0">
                <a:solidFill>
                  <a:srgbClr val="99FF33"/>
                </a:solidFill>
                <a:effectLst>
                  <a:outerShdw blurRad="38100" dist="38100" dir="2700000" algn="tl">
                    <a:srgbClr val="000000"/>
                  </a:outerShdw>
                </a:effectLst>
              </a:rPr>
              <a:t>FROM ST</a:t>
            </a:r>
          </a:p>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WHERE </a:t>
            </a:r>
            <a:r>
              <a:rPr lang="zh-CN" altLang="en-US" sz="3200" kern="0" dirty="0">
                <a:solidFill>
                  <a:srgbClr val="99FF33"/>
                </a:solidFill>
                <a:effectLst>
                  <a:outerShdw blurRad="38100" dist="38100" dir="2700000" algn="tl">
                    <a:srgbClr val="000000"/>
                  </a:outerShdw>
                </a:effectLst>
              </a:rPr>
              <a:t>姓名 </a:t>
            </a:r>
            <a:r>
              <a:rPr lang="en-US" altLang="zh-CN" sz="3200" kern="0" dirty="0">
                <a:solidFill>
                  <a:srgbClr val="99FF33"/>
                </a:solidFill>
                <a:effectLst>
                  <a:outerShdw blurRad="38100" dist="38100" dir="2700000" algn="tl">
                    <a:srgbClr val="000000"/>
                  </a:outerShdw>
                </a:effectLst>
              </a:rPr>
              <a:t>= '</a:t>
            </a:r>
            <a:r>
              <a:rPr lang="zh-CN" altLang="en-US" sz="3200" kern="0" dirty="0">
                <a:solidFill>
                  <a:srgbClr val="99FF33"/>
                </a:solidFill>
                <a:effectLst>
                  <a:outerShdw blurRad="38100" dist="38100" dir="2700000" algn="tl">
                    <a:srgbClr val="000000"/>
                  </a:outerShdw>
                </a:effectLst>
              </a:rPr>
              <a:t>陈东</a:t>
            </a:r>
            <a:r>
              <a:rPr lang="en-US" altLang="zh-CN" sz="3200" kern="0" dirty="0">
                <a:solidFill>
                  <a:srgbClr val="99FF33"/>
                </a:solidFill>
                <a:effectLst>
                  <a:outerShdw blurRad="38100" dist="38100" dir="2700000" algn="tl">
                    <a:srgbClr val="000000"/>
                  </a:outerShdw>
                </a:effectLst>
              </a:rPr>
              <a:t>' ) </a:t>
            </a:r>
            <a:endParaRPr lang="en-US" altLang="zh-CN" sz="3200" kern="0" dirty="0">
              <a:solidFill>
                <a:srgbClr val="CCFFCC"/>
              </a:solidFill>
              <a:effectLst>
                <a:outerShdw blurRad="38100" dist="38100" dir="2700000" algn="tl">
                  <a:srgbClr val="000000"/>
                </a:outerShdw>
              </a:effectLst>
              <a:latin typeface="Times New Roman" pitchFamily="18" charset="0"/>
            </a:endParaRPr>
          </a:p>
        </p:txBody>
      </p:sp>
      <p:graphicFrame>
        <p:nvGraphicFramePr>
          <p:cNvPr id="7" name="Group 50"/>
          <p:cNvGraphicFramePr>
            <a:graphicFrameLocks noGrp="1"/>
          </p:cNvGraphicFramePr>
          <p:nvPr>
            <p:extLst>
              <p:ext uri="{D42A27DB-BD31-4B8C-83A1-F6EECF244321}">
                <p14:modId xmlns:p14="http://schemas.microsoft.com/office/powerpoint/2010/main" val="1600756007"/>
              </p:ext>
            </p:extLst>
          </p:nvPr>
        </p:nvGraphicFramePr>
        <p:xfrm>
          <a:off x="9556516" y="3538151"/>
          <a:ext cx="1003980" cy="853440"/>
        </p:xfrm>
        <a:graphic>
          <a:graphicData uri="http://schemas.openxmlformats.org/drawingml/2006/table">
            <a:tbl>
              <a:tblPr/>
              <a:tblGrid>
                <a:gridCol w="1003980">
                  <a:extLst>
                    <a:ext uri="{9D8B030D-6E8A-4147-A177-3AD203B41FA5}">
                      <a16:colId xmlns:a16="http://schemas.microsoft.com/office/drawing/2014/main" val="20000"/>
                    </a:ext>
                  </a:extLst>
                </a:gridCol>
              </a:tblGrid>
              <a:tr h="39687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1" i="0" u="none" strike="noStrike" cap="none" normalizeH="0" baseline="0" dirty="0">
                          <a:ln>
                            <a:noFill/>
                          </a:ln>
                          <a:solidFill>
                            <a:srgbClr val="66FFFF"/>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528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66FFFF"/>
                          </a:solidFill>
                          <a:effectLst>
                            <a:outerShdw blurRad="38100" dist="38100" dir="2700000" algn="tl">
                              <a:srgbClr val="000000"/>
                            </a:outerShdw>
                          </a:effectLst>
                          <a:latin typeface="Times New Roman" pitchFamily="18" charset="0"/>
                          <a:ea typeface="楷体_GB2312" pitchFamily="49" charset="-122"/>
                        </a:rPr>
                        <a:t>30</a:t>
                      </a:r>
                    </a:p>
                  </a:txBody>
                  <a:tcPr marL="0" marR="0" marT="0" marB="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 name="AutoShape 58"/>
          <p:cNvSpPr>
            <a:spLocks noChangeArrowheads="1"/>
          </p:cNvSpPr>
          <p:nvPr/>
        </p:nvSpPr>
        <p:spPr bwMode="auto">
          <a:xfrm>
            <a:off x="9631856" y="5387711"/>
            <a:ext cx="1508036" cy="1006656"/>
          </a:xfrm>
          <a:prstGeom prst="wedgeRoundRectCallout">
            <a:avLst>
              <a:gd name="adj1" fmla="val -19546"/>
              <a:gd name="adj2" fmla="val -115538"/>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lIns="0" tIns="36000" rIns="0" bIns="36000" anchor="ctr"/>
          <a:lstStyle/>
          <a:p>
            <a:pPr algn="ctr">
              <a:spcAft>
                <a:spcPct val="40000"/>
              </a:spcAft>
              <a:buClr>
                <a:srgbClr val="66FF33"/>
              </a:buClr>
              <a:buSzPct val="85000"/>
              <a:defRPr/>
            </a:pPr>
            <a:r>
              <a:rPr lang="zh-CN" altLang="en-US" sz="3200" kern="0" dirty="0">
                <a:solidFill>
                  <a:srgbClr val="FFFFCC"/>
                </a:solidFill>
                <a:effectLst>
                  <a:outerShdw blurRad="38100" dist="38100" dir="2700000" algn="tl">
                    <a:srgbClr val="000000"/>
                  </a:outerShdw>
                </a:effectLst>
                <a:latin typeface="Arial" charset="0"/>
              </a:rPr>
              <a:t>李华的年龄</a:t>
            </a:r>
          </a:p>
        </p:txBody>
      </p:sp>
      <p:sp>
        <p:nvSpPr>
          <p:cNvPr id="9" name="AutoShape 67"/>
          <p:cNvSpPr>
            <a:spLocks noChangeArrowheads="1"/>
          </p:cNvSpPr>
          <p:nvPr/>
        </p:nvSpPr>
        <p:spPr bwMode="auto">
          <a:xfrm>
            <a:off x="551384" y="5498573"/>
            <a:ext cx="1352027" cy="981296"/>
          </a:xfrm>
          <a:prstGeom prst="wedgeRoundRectCallout">
            <a:avLst>
              <a:gd name="adj1" fmla="val 90102"/>
              <a:gd name="adj2" fmla="val -12472"/>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lIns="0" tIns="36000" rIns="0" bIns="36000" anchor="ctr"/>
          <a:lstStyle/>
          <a:p>
            <a:pPr algn="ctr">
              <a:spcAft>
                <a:spcPct val="40000"/>
              </a:spcAft>
              <a:buClr>
                <a:srgbClr val="66FF33"/>
              </a:buClr>
              <a:buSzPct val="85000"/>
              <a:defRPr/>
            </a:pPr>
            <a:r>
              <a:rPr lang="zh-CN" altLang="en-US" sz="3200" kern="0" dirty="0">
                <a:solidFill>
                  <a:srgbClr val="FFFFCC"/>
                </a:solidFill>
                <a:effectLst>
                  <a:outerShdw blurRad="38100" dist="38100" dir="2700000" algn="tl">
                    <a:srgbClr val="000000"/>
                  </a:outerShdw>
                </a:effectLst>
                <a:latin typeface="Arial" charset="0"/>
              </a:rPr>
              <a:t>陈东的年龄</a:t>
            </a:r>
          </a:p>
        </p:txBody>
      </p:sp>
      <p:sp>
        <p:nvSpPr>
          <p:cNvPr id="10" name="AutoShape 68"/>
          <p:cNvSpPr>
            <a:spLocks noChangeArrowheads="1"/>
          </p:cNvSpPr>
          <p:nvPr/>
        </p:nvSpPr>
        <p:spPr bwMode="auto">
          <a:xfrm rot="11443627">
            <a:off x="8150490" y="3645170"/>
            <a:ext cx="1186524" cy="389742"/>
          </a:xfrm>
          <a:prstGeom prst="leftArrow">
            <a:avLst>
              <a:gd name="adj1" fmla="val 50000"/>
              <a:gd name="adj2" fmla="val 66728"/>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endParaRPr lang="zh-CN" altLang="en-US" kern="0">
              <a:solidFill>
                <a:sysClr val="windowText" lastClr="000000"/>
              </a:solidFill>
            </a:endParaRPr>
          </a:p>
        </p:txBody>
      </p:sp>
      <p:sp>
        <p:nvSpPr>
          <p:cNvPr id="11" name="AutoShape 69"/>
          <p:cNvSpPr>
            <a:spLocks noChangeArrowheads="1"/>
          </p:cNvSpPr>
          <p:nvPr/>
        </p:nvSpPr>
        <p:spPr bwMode="auto">
          <a:xfrm rot="10800000">
            <a:off x="3885952" y="5498572"/>
            <a:ext cx="769888" cy="708512"/>
          </a:xfrm>
          <a:prstGeom prst="bentArrow">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endParaRPr lang="zh-CN" altLang="en-US" kern="0">
              <a:solidFill>
                <a:sysClr val="windowText" lastClr="000000"/>
              </a:solidFill>
            </a:endParaRPr>
          </a:p>
        </p:txBody>
      </p:sp>
      <p:sp>
        <p:nvSpPr>
          <p:cNvPr id="12" name="Rectangle 70"/>
          <p:cNvSpPr>
            <a:spLocks noChangeArrowheads="1"/>
          </p:cNvSpPr>
          <p:nvPr/>
        </p:nvSpPr>
        <p:spPr bwMode="auto">
          <a:xfrm>
            <a:off x="677664" y="1007228"/>
            <a:ext cx="6426448" cy="1296987"/>
          </a:xfrm>
          <a:prstGeom prst="rect">
            <a:avLst/>
          </a:prstGeom>
          <a:noFill/>
          <a:ln w="9525">
            <a:noFill/>
            <a:miter lim="800000"/>
            <a:headEnd/>
            <a:tailEnd/>
          </a:ln>
          <a:effectLst/>
        </p:spPr>
        <p:txBody>
          <a:bodyPr/>
          <a:lstStyle/>
          <a:p>
            <a:pPr algn="just">
              <a:spcAft>
                <a:spcPct val="55000"/>
              </a:spcAft>
              <a:buClr>
                <a:srgbClr val="FFFFFF"/>
              </a:buClr>
              <a:buSzPct val="85000"/>
              <a:defRPr/>
            </a:pPr>
            <a:r>
              <a:rPr lang="zh-CN" altLang="en-US" sz="3200" kern="0" dirty="0">
                <a:solidFill>
                  <a:schemeClr val="bg1"/>
                </a:solidFill>
                <a:effectLst>
                  <a:outerShdw blurRad="38100" dist="38100" dir="2700000" algn="tl">
                    <a:srgbClr val="000000"/>
                  </a:outerShdw>
                </a:effectLst>
              </a:rPr>
              <a:t>设不允许学生重名，查询比李华年龄小但比陈东年龄大的学生的姓名和年龄</a:t>
            </a:r>
          </a:p>
        </p:txBody>
      </p:sp>
      <p:graphicFrame>
        <p:nvGraphicFramePr>
          <p:cNvPr id="13" name="Group 71"/>
          <p:cNvGraphicFramePr>
            <a:graphicFrameLocks noGrp="1"/>
          </p:cNvGraphicFramePr>
          <p:nvPr>
            <p:extLst>
              <p:ext uri="{D42A27DB-BD31-4B8C-83A1-F6EECF244321}">
                <p14:modId xmlns:p14="http://schemas.microsoft.com/office/powerpoint/2010/main" val="2626299268"/>
              </p:ext>
            </p:extLst>
          </p:nvPr>
        </p:nvGraphicFramePr>
        <p:xfrm>
          <a:off x="2639616" y="5741736"/>
          <a:ext cx="879198" cy="853440"/>
        </p:xfrm>
        <a:graphic>
          <a:graphicData uri="http://schemas.openxmlformats.org/drawingml/2006/table">
            <a:tbl>
              <a:tblPr/>
              <a:tblGrid>
                <a:gridCol w="879198">
                  <a:extLst>
                    <a:ext uri="{9D8B030D-6E8A-4147-A177-3AD203B41FA5}">
                      <a16:colId xmlns:a16="http://schemas.microsoft.com/office/drawing/2014/main" val="20000"/>
                    </a:ext>
                  </a:extLst>
                </a:gridCol>
              </a:tblGrid>
              <a:tr h="36591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1" i="0" u="none" strike="noStrike" cap="none" normalizeH="0" baseline="0" dirty="0">
                          <a:ln>
                            <a:noFill/>
                          </a:ln>
                          <a:solidFill>
                            <a:srgbClr val="FFFF00"/>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91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FFFF00"/>
                          </a:solidFill>
                          <a:effectLst>
                            <a:outerShdw blurRad="38100" dist="38100" dir="2700000" algn="tl">
                              <a:srgbClr val="000000"/>
                            </a:outerShdw>
                          </a:effectLst>
                          <a:latin typeface="Times New Roman" pitchFamily="18" charset="0"/>
                          <a:ea typeface="楷体_GB2312" pitchFamily="49" charset="-122"/>
                        </a:rPr>
                        <a:t>22</a:t>
                      </a:r>
                    </a:p>
                  </a:txBody>
                  <a:tcPr marL="0" marR="0" marT="0" marB="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72796745"/>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176" y="64067"/>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嵌套查询</a:t>
            </a:r>
          </a:p>
        </p:txBody>
      </p:sp>
      <p:sp>
        <p:nvSpPr>
          <p:cNvPr id="4" name="Rectangle 4"/>
          <p:cNvSpPr txBox="1">
            <a:spLocks noChangeArrowheads="1"/>
          </p:cNvSpPr>
          <p:nvPr/>
        </p:nvSpPr>
        <p:spPr bwMode="auto">
          <a:xfrm>
            <a:off x="695176" y="937354"/>
            <a:ext cx="7921104" cy="1373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eaLnBrk="1" hangingPunct="1">
              <a:spcAft>
                <a:spcPct val="20000"/>
              </a:spcAft>
              <a:buNone/>
              <a:defRPr/>
            </a:pPr>
            <a:r>
              <a:rPr kumimoji="1" lang="zh-CN" altLang="en-US" sz="3200" kern="0" dirty="0"/>
              <a:t>用</a:t>
            </a:r>
            <a:r>
              <a:rPr kumimoji="1" lang="en-US" altLang="zh-CN" sz="3200" kern="0" dirty="0">
                <a:solidFill>
                  <a:srgbClr val="FFCC00"/>
                </a:solidFill>
              </a:rPr>
              <a:t>θ ANY/ALL</a:t>
            </a:r>
            <a:r>
              <a:rPr kumimoji="1" lang="zh-CN" altLang="en-US" sz="3200" kern="0" dirty="0"/>
              <a:t>构造多值（多行</a:t>
            </a:r>
            <a:r>
              <a:rPr kumimoji="1" lang="en-US" altLang="zh-CN" sz="3200" kern="0" dirty="0"/>
              <a:t>1</a:t>
            </a:r>
            <a:r>
              <a:rPr kumimoji="1" lang="zh-CN" altLang="en-US" sz="3200" kern="0" dirty="0"/>
              <a:t>列）条件，其中</a:t>
            </a:r>
            <a:r>
              <a:rPr kumimoji="1" lang="en-US" altLang="zh-CN" sz="3200" kern="0" dirty="0">
                <a:solidFill>
                  <a:srgbClr val="FFCC00"/>
                </a:solidFill>
              </a:rPr>
              <a:t>θ</a:t>
            </a:r>
            <a:r>
              <a:rPr kumimoji="1" lang="zh-CN" altLang="en-US" sz="3200" kern="0" dirty="0"/>
              <a:t>为</a:t>
            </a:r>
            <a:r>
              <a:rPr kumimoji="1" lang="en-US" altLang="zh-CN" sz="3200" b="1" kern="0" dirty="0">
                <a:solidFill>
                  <a:srgbClr val="FFFF00"/>
                </a:solidFill>
              </a:rPr>
              <a:t>=,&gt;,&lt;,&gt;=,&lt;=,!=</a:t>
            </a:r>
            <a:r>
              <a:rPr kumimoji="1" lang="zh-CN" altLang="en-US" sz="3200" kern="0" dirty="0"/>
              <a:t>等比较运算符。</a:t>
            </a:r>
          </a:p>
        </p:txBody>
      </p:sp>
      <p:graphicFrame>
        <p:nvGraphicFramePr>
          <p:cNvPr id="6" name="Group 58"/>
          <p:cNvGraphicFramePr>
            <a:graphicFrameLocks noGrp="1"/>
          </p:cNvGraphicFramePr>
          <p:nvPr>
            <p:extLst>
              <p:ext uri="{D42A27DB-BD31-4B8C-83A1-F6EECF244321}">
                <p14:modId xmlns:p14="http://schemas.microsoft.com/office/powerpoint/2010/main" val="4043768351"/>
              </p:ext>
            </p:extLst>
          </p:nvPr>
        </p:nvGraphicFramePr>
        <p:xfrm>
          <a:off x="9408368" y="825026"/>
          <a:ext cx="1800200" cy="3180042"/>
        </p:xfrm>
        <a:graphic>
          <a:graphicData uri="http://schemas.openxmlformats.org/drawingml/2006/table">
            <a:tbl>
              <a:tblPr/>
              <a:tblGrid>
                <a:gridCol w="917569">
                  <a:extLst>
                    <a:ext uri="{9D8B030D-6E8A-4147-A177-3AD203B41FA5}">
                      <a16:colId xmlns:a16="http://schemas.microsoft.com/office/drawing/2014/main" val="20000"/>
                    </a:ext>
                  </a:extLst>
                </a:gridCol>
                <a:gridCol w="882631">
                  <a:extLst>
                    <a:ext uri="{9D8B030D-6E8A-4147-A177-3AD203B41FA5}">
                      <a16:colId xmlns:a16="http://schemas.microsoft.com/office/drawing/2014/main" val="20001"/>
                    </a:ext>
                  </a:extLst>
                </a:gridCol>
              </a:tblGrid>
              <a:tr h="3533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选修</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533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33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33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33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33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K03</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33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K03</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33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孙七</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K03</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33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吴八</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K04</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7" name="Rectangle 43"/>
          <p:cNvSpPr>
            <a:spLocks noChangeArrowheads="1"/>
          </p:cNvSpPr>
          <p:nvPr/>
        </p:nvSpPr>
        <p:spPr bwMode="auto">
          <a:xfrm>
            <a:off x="8976568" y="753589"/>
            <a:ext cx="415917" cy="369332"/>
          </a:xfrm>
          <a:prstGeom prst="rect">
            <a:avLst/>
          </a:prstGeom>
          <a:noFill/>
          <a:ln w="12700" cap="sq">
            <a:noFill/>
            <a:miter lim="800000"/>
            <a:headEnd/>
            <a:tailEnd/>
          </a:ln>
          <a:effectLst/>
        </p:spPr>
        <p:txBody>
          <a:bodyPr wrap="square" lIns="0" tIns="0" rIns="0" bIns="0">
            <a:spAutoFit/>
          </a:bodyPr>
          <a:lstStyle/>
          <a:p>
            <a:pPr>
              <a:spcAft>
                <a:spcPct val="0"/>
              </a:spcAft>
              <a:buSzTx/>
              <a:buFontTx/>
              <a:buNone/>
              <a:defRPr/>
            </a:pPr>
            <a:r>
              <a:rPr lang="en-US" altLang="zh-CN" sz="2400" dirty="0">
                <a:solidFill>
                  <a:schemeClr val="bg1"/>
                </a:solidFill>
                <a:effectLst>
                  <a:outerShdw blurRad="38100" dist="38100" dir="2700000" algn="tl">
                    <a:srgbClr val="000000"/>
                  </a:outerShdw>
                </a:effectLst>
                <a:latin typeface="Times New Roman" pitchFamily="18" charset="0"/>
              </a:rPr>
              <a:t>ST</a:t>
            </a:r>
          </a:p>
        </p:txBody>
      </p:sp>
      <p:sp>
        <p:nvSpPr>
          <p:cNvPr id="8" name="Rectangle 44"/>
          <p:cNvSpPr>
            <a:spLocks noChangeArrowheads="1"/>
          </p:cNvSpPr>
          <p:nvPr/>
        </p:nvSpPr>
        <p:spPr bwMode="auto">
          <a:xfrm>
            <a:off x="693265" y="2490723"/>
            <a:ext cx="6912991" cy="1676400"/>
          </a:xfrm>
          <a:prstGeom prst="rect">
            <a:avLst/>
          </a:prstGeom>
          <a:noFill/>
          <a:ln w="9525">
            <a:noFill/>
            <a:miter lim="800000"/>
            <a:headEnd/>
            <a:tailEnd/>
          </a:ln>
          <a:effectLst/>
        </p:spPr>
        <p:txBody>
          <a:bodyPr/>
          <a:lstStyle/>
          <a:p>
            <a:pPr algn="just">
              <a:spcAft>
                <a:spcPct val="80000"/>
              </a:spcAft>
              <a:buClr>
                <a:srgbClr val="FFFFFF"/>
              </a:buClr>
              <a:buSzPct val="85000"/>
              <a:defRPr/>
            </a:pPr>
            <a:r>
              <a:rPr lang="zh-CN" altLang="en-US" sz="3200" kern="0" dirty="0">
                <a:solidFill>
                  <a:schemeClr val="bg1"/>
                </a:solidFill>
                <a:effectLst>
                  <a:outerShdw blurRad="38100" dist="38100" dir="2700000" algn="tl">
                    <a:srgbClr val="000000"/>
                  </a:outerShdw>
                </a:effectLst>
              </a:rPr>
              <a:t>查询至少有一门课和张三相同的学生姓名</a:t>
            </a:r>
            <a:r>
              <a:rPr lang="en-US" altLang="zh-CN" sz="3200" kern="0" dirty="0">
                <a:solidFill>
                  <a:schemeClr val="bg1"/>
                </a:solidFill>
                <a:effectLst>
                  <a:outerShdw blurRad="38100" dist="38100" dir="2700000" algn="tl">
                    <a:srgbClr val="000000"/>
                  </a:outerShdw>
                </a:effectLst>
              </a:rPr>
              <a:t>,</a:t>
            </a:r>
            <a:r>
              <a:rPr lang="zh-CN" altLang="en-US" sz="3200" kern="0" dirty="0">
                <a:solidFill>
                  <a:schemeClr val="bg1"/>
                </a:solidFill>
                <a:effectLst>
                  <a:outerShdw blurRad="38100" dist="38100" dir="2700000" algn="tl">
                    <a:srgbClr val="000000"/>
                  </a:outerShdw>
                </a:effectLst>
              </a:rPr>
              <a:t>且结果中不能有张三</a:t>
            </a:r>
            <a:endParaRPr lang="en-US" altLang="zh-CN" sz="2400" kern="0" dirty="0">
              <a:solidFill>
                <a:schemeClr val="bg1"/>
              </a:solidFill>
              <a:effectLst>
                <a:outerShdw blurRad="38100" dist="38100" dir="2700000" algn="tl">
                  <a:srgbClr val="000000"/>
                </a:outerShdw>
              </a:effectLst>
            </a:endParaRPr>
          </a:p>
        </p:txBody>
      </p:sp>
      <p:sp>
        <p:nvSpPr>
          <p:cNvPr id="9" name="Rectangle 45"/>
          <p:cNvSpPr>
            <a:spLocks noChangeArrowheads="1"/>
          </p:cNvSpPr>
          <p:nvPr/>
        </p:nvSpPr>
        <p:spPr bwMode="auto">
          <a:xfrm>
            <a:off x="697087" y="3797767"/>
            <a:ext cx="7416800" cy="1676400"/>
          </a:xfrm>
          <a:prstGeom prst="rect">
            <a:avLst/>
          </a:prstGeom>
          <a:noFill/>
          <a:ln w="9525">
            <a:noFill/>
            <a:miter lim="800000"/>
            <a:headEnd/>
            <a:tailEnd/>
          </a:ln>
          <a:effectLst/>
        </p:spPr>
        <p:txBody>
          <a:bodyPr/>
          <a:lstStyle/>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SELECT DINSTINCT </a:t>
            </a:r>
            <a:r>
              <a:rPr lang="zh-CN" altLang="en-US" sz="3200" kern="0" dirty="0">
                <a:solidFill>
                  <a:srgbClr val="99FF33"/>
                </a:solidFill>
                <a:effectLst>
                  <a:outerShdw blurRad="38100" dist="38100" dir="2700000" algn="tl">
                    <a:srgbClr val="000000"/>
                  </a:outerShdw>
                </a:effectLst>
              </a:rPr>
              <a:t>姓名 </a:t>
            </a:r>
            <a:r>
              <a:rPr lang="en-US" altLang="zh-CN" sz="3200" kern="0" dirty="0">
                <a:solidFill>
                  <a:srgbClr val="99FF33"/>
                </a:solidFill>
                <a:effectLst>
                  <a:outerShdw blurRad="38100" dist="38100" dir="2700000" algn="tl">
                    <a:srgbClr val="000000"/>
                  </a:outerShdw>
                </a:effectLst>
              </a:rPr>
              <a:t>FROM ST</a:t>
            </a:r>
          </a:p>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WHERE </a:t>
            </a:r>
            <a:r>
              <a:rPr lang="zh-CN" altLang="en-US" sz="3200" kern="0" dirty="0">
                <a:solidFill>
                  <a:srgbClr val="FFCC00"/>
                </a:solidFill>
                <a:effectLst>
                  <a:outerShdw blurRad="38100" dist="38100" dir="2700000" algn="tl">
                    <a:srgbClr val="000000"/>
                  </a:outerShdw>
                </a:effectLst>
              </a:rPr>
              <a:t>选修 </a:t>
            </a:r>
            <a:r>
              <a:rPr lang="en-US" altLang="zh-CN" sz="3200" kern="0" dirty="0">
                <a:solidFill>
                  <a:srgbClr val="FFCC00"/>
                </a:solidFill>
                <a:effectLst>
                  <a:outerShdw blurRad="38100" dist="38100" dir="2700000" algn="tl">
                    <a:srgbClr val="000000"/>
                  </a:outerShdw>
                </a:effectLst>
              </a:rPr>
              <a:t>= ANY</a:t>
            </a:r>
            <a:r>
              <a:rPr lang="en-US" altLang="zh-CN" sz="3200" kern="0" dirty="0">
                <a:solidFill>
                  <a:srgbClr val="99FF33"/>
                </a:solidFill>
                <a:effectLst>
                  <a:outerShdw blurRad="38100" dist="38100" dir="2700000" algn="tl">
                    <a:srgbClr val="000000"/>
                  </a:outerShdw>
                </a:effectLst>
              </a:rPr>
              <a:t> </a:t>
            </a:r>
          </a:p>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a:t>
            </a:r>
            <a:r>
              <a:rPr lang="zh-CN" altLang="en-US" sz="3200" kern="0" dirty="0">
                <a:solidFill>
                  <a:srgbClr val="99FF33"/>
                </a:solidFill>
                <a:effectLst>
                  <a:outerShdw blurRad="38100" dist="38100" dir="2700000" algn="tl">
                    <a:srgbClr val="000000"/>
                  </a:outerShdw>
                </a:effectLst>
              </a:rPr>
              <a:t> </a:t>
            </a:r>
            <a:r>
              <a:rPr lang="en-US" altLang="zh-CN" sz="3200" kern="0" dirty="0">
                <a:solidFill>
                  <a:srgbClr val="99FF33"/>
                </a:solidFill>
                <a:effectLst>
                  <a:outerShdw blurRad="38100" dist="38100" dir="2700000" algn="tl">
                    <a:srgbClr val="000000"/>
                  </a:outerShdw>
                </a:effectLst>
              </a:rPr>
              <a:t>( SELECT </a:t>
            </a:r>
            <a:r>
              <a:rPr lang="zh-CN" altLang="en-US" sz="3200" kern="0" dirty="0">
                <a:solidFill>
                  <a:srgbClr val="FFCC00"/>
                </a:solidFill>
                <a:effectLst>
                  <a:outerShdw blurRad="38100" dist="38100" dir="2700000" algn="tl">
                    <a:srgbClr val="000000"/>
                  </a:outerShdw>
                </a:effectLst>
              </a:rPr>
              <a:t>选修</a:t>
            </a:r>
            <a:r>
              <a:rPr lang="zh-CN" altLang="en-US" sz="3200" kern="0" dirty="0">
                <a:solidFill>
                  <a:srgbClr val="99FF33"/>
                </a:solidFill>
                <a:effectLst>
                  <a:outerShdw blurRad="38100" dist="38100" dir="2700000" algn="tl">
                    <a:srgbClr val="000000"/>
                  </a:outerShdw>
                </a:effectLst>
              </a:rPr>
              <a:t> </a:t>
            </a:r>
            <a:r>
              <a:rPr lang="en-US" altLang="zh-CN" sz="3200" kern="0" dirty="0">
                <a:solidFill>
                  <a:srgbClr val="99FF33"/>
                </a:solidFill>
                <a:effectLst>
                  <a:outerShdw blurRad="38100" dist="38100" dir="2700000" algn="tl">
                    <a:srgbClr val="000000"/>
                  </a:outerShdw>
                </a:effectLst>
              </a:rPr>
              <a:t>FROM ST</a:t>
            </a:r>
          </a:p>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WHERE </a:t>
            </a:r>
            <a:r>
              <a:rPr lang="zh-CN" altLang="en-US" sz="3200" kern="0" dirty="0">
                <a:solidFill>
                  <a:srgbClr val="99FF33"/>
                </a:solidFill>
                <a:effectLst>
                  <a:outerShdw blurRad="38100" dist="38100" dir="2700000" algn="tl">
                    <a:srgbClr val="000000"/>
                  </a:outerShdw>
                </a:effectLst>
              </a:rPr>
              <a:t>姓名</a:t>
            </a:r>
            <a:r>
              <a:rPr lang="en-US" altLang="zh-CN" sz="3200" kern="0" dirty="0">
                <a:solidFill>
                  <a:srgbClr val="99FF33"/>
                </a:solidFill>
                <a:effectLst>
                  <a:outerShdw blurRad="38100" dist="38100" dir="2700000" algn="tl">
                    <a:srgbClr val="000000"/>
                  </a:outerShdw>
                </a:effectLst>
              </a:rPr>
              <a:t>='</a:t>
            </a:r>
            <a:r>
              <a:rPr lang="zh-CN" altLang="en-US" sz="3200" kern="0" dirty="0">
                <a:solidFill>
                  <a:srgbClr val="99FF33"/>
                </a:solidFill>
                <a:effectLst>
                  <a:outerShdw blurRad="38100" dist="38100" dir="2700000" algn="tl">
                    <a:srgbClr val="000000"/>
                  </a:outerShdw>
                </a:effectLst>
              </a:rPr>
              <a:t>张三</a:t>
            </a:r>
            <a:r>
              <a:rPr lang="en-US" altLang="zh-CN" sz="3200" kern="0" dirty="0">
                <a:solidFill>
                  <a:srgbClr val="99FF33"/>
                </a:solidFill>
                <a:effectLst>
                  <a:outerShdw blurRad="38100" dist="38100" dir="2700000" algn="tl">
                    <a:srgbClr val="000000"/>
                  </a:outerShdw>
                </a:effectLst>
              </a:rPr>
              <a:t>' )</a:t>
            </a:r>
          </a:p>
          <a:p>
            <a:pPr algn="just">
              <a:spcAft>
                <a:spcPct val="0"/>
              </a:spcAft>
              <a:buClr>
                <a:srgbClr val="FFFFFF"/>
              </a:buClr>
              <a:buSzPct val="85000"/>
              <a:defRPr/>
            </a:pPr>
            <a:r>
              <a:rPr lang="zh-CN" altLang="en-US" sz="3200" kern="0" dirty="0">
                <a:solidFill>
                  <a:srgbClr val="99FF33"/>
                </a:solidFill>
                <a:effectLst>
                  <a:outerShdw blurRad="38100" dist="38100" dir="2700000" algn="tl">
                    <a:srgbClr val="000000"/>
                  </a:outerShdw>
                </a:effectLst>
              </a:rPr>
              <a:t>   </a:t>
            </a:r>
            <a:r>
              <a:rPr lang="en-US" altLang="zh-CN" sz="3200" kern="0" dirty="0">
                <a:solidFill>
                  <a:srgbClr val="99FF33"/>
                </a:solidFill>
                <a:effectLst>
                  <a:outerShdw blurRad="38100" dist="38100" dir="2700000" algn="tl">
                    <a:srgbClr val="000000"/>
                  </a:outerShdw>
                </a:effectLst>
              </a:rPr>
              <a:t>AND </a:t>
            </a:r>
            <a:r>
              <a:rPr lang="zh-CN" altLang="en-US" sz="3200" kern="0" dirty="0">
                <a:solidFill>
                  <a:srgbClr val="99FF33"/>
                </a:solidFill>
                <a:effectLst>
                  <a:outerShdw blurRad="38100" dist="38100" dir="2700000" algn="tl">
                    <a:srgbClr val="000000"/>
                  </a:outerShdw>
                </a:effectLst>
              </a:rPr>
              <a:t>姓名 </a:t>
            </a:r>
            <a:r>
              <a:rPr lang="en-US" altLang="zh-CN" sz="3200" kern="0" dirty="0">
                <a:solidFill>
                  <a:srgbClr val="99FF33"/>
                </a:solidFill>
                <a:effectLst>
                  <a:outerShdw blurRad="38100" dist="38100" dir="2700000" algn="tl">
                    <a:srgbClr val="000000"/>
                  </a:outerShdw>
                </a:effectLst>
              </a:rPr>
              <a:t>!= </a:t>
            </a:r>
            <a:r>
              <a:rPr lang="en-US" altLang="zh-CN" sz="3200" kern="0" dirty="0">
                <a:solidFill>
                  <a:srgbClr val="99FF33"/>
                </a:solidFill>
                <a:effectLst>
                  <a:outerShdw blurRad="38100" dist="38100" dir="2700000" algn="tl">
                    <a:srgbClr val="000000"/>
                  </a:outerShdw>
                </a:effectLst>
                <a:latin typeface="Arial"/>
              </a:rPr>
              <a:t>‘</a:t>
            </a:r>
            <a:r>
              <a:rPr lang="zh-CN" altLang="en-US" sz="3200" kern="0" dirty="0">
                <a:solidFill>
                  <a:srgbClr val="99FF33"/>
                </a:solidFill>
                <a:effectLst>
                  <a:outerShdw blurRad="38100" dist="38100" dir="2700000" algn="tl">
                    <a:srgbClr val="000000"/>
                  </a:outerShdw>
                </a:effectLst>
              </a:rPr>
              <a:t>张三</a:t>
            </a:r>
            <a:r>
              <a:rPr lang="en-US" altLang="zh-CN" sz="3200" kern="0" dirty="0">
                <a:solidFill>
                  <a:srgbClr val="99FF33"/>
                </a:solidFill>
                <a:effectLst>
                  <a:outerShdw blurRad="38100" dist="38100" dir="2700000" algn="tl">
                    <a:srgbClr val="000000"/>
                  </a:outerShdw>
                </a:effectLst>
                <a:latin typeface="Arial"/>
              </a:rPr>
              <a:t>’</a:t>
            </a:r>
            <a:r>
              <a:rPr lang="zh-CN" altLang="en-US" sz="3200" kern="0" dirty="0">
                <a:solidFill>
                  <a:srgbClr val="99FF33"/>
                </a:solidFill>
                <a:effectLst>
                  <a:outerShdw blurRad="38100" dist="38100" dir="2700000" algn="tl">
                    <a:srgbClr val="000000"/>
                  </a:outerShdw>
                </a:effectLst>
              </a:rPr>
              <a:t> </a:t>
            </a:r>
            <a:endParaRPr lang="zh-CN" altLang="en-US" sz="3200" kern="0" dirty="0">
              <a:solidFill>
                <a:srgbClr val="CCFFCC"/>
              </a:solidFill>
              <a:effectLst>
                <a:outerShdw blurRad="38100" dist="38100" dir="2700000" algn="tl">
                  <a:srgbClr val="000000"/>
                </a:outerShdw>
              </a:effectLst>
              <a:latin typeface="Times New Roman" pitchFamily="18" charset="0"/>
            </a:endParaRPr>
          </a:p>
        </p:txBody>
      </p:sp>
      <p:graphicFrame>
        <p:nvGraphicFramePr>
          <p:cNvPr id="10" name="Group 59"/>
          <p:cNvGraphicFramePr>
            <a:graphicFrameLocks noGrp="1"/>
          </p:cNvGraphicFramePr>
          <p:nvPr>
            <p:extLst>
              <p:ext uri="{D42A27DB-BD31-4B8C-83A1-F6EECF244321}">
                <p14:modId xmlns:p14="http://schemas.microsoft.com/office/powerpoint/2010/main" val="546823471"/>
              </p:ext>
            </p:extLst>
          </p:nvPr>
        </p:nvGraphicFramePr>
        <p:xfrm>
          <a:off x="7753524" y="5372006"/>
          <a:ext cx="720725" cy="1097280"/>
        </p:xfrm>
        <a:graphic>
          <a:graphicData uri="http://schemas.openxmlformats.org/drawingml/2006/table">
            <a:tbl>
              <a:tblPr/>
              <a:tblGrid>
                <a:gridCol w="720725">
                  <a:extLst>
                    <a:ext uri="{9D8B030D-6E8A-4147-A177-3AD203B41FA5}">
                      <a16:colId xmlns:a16="http://schemas.microsoft.com/office/drawing/2014/main" val="20000"/>
                    </a:ext>
                  </a:extLst>
                </a:gridCol>
              </a:tblGrid>
              <a:tr h="3656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kern="1200" cap="none" normalizeH="0" baseline="0" dirty="0">
                          <a:ln>
                            <a:noFill/>
                          </a:ln>
                          <a:solidFill>
                            <a:srgbClr val="FFC000"/>
                          </a:solidFill>
                          <a:effectLst>
                            <a:outerShdw blurRad="38100" dist="38100" dir="2700000" algn="tl">
                              <a:srgbClr val="000000"/>
                            </a:outerShdw>
                          </a:effectLst>
                          <a:latin typeface="Times New Roman" pitchFamily="18" charset="0"/>
                          <a:ea typeface="楷体_GB2312" pitchFamily="49" charset="-122"/>
                          <a:cs typeface="+mn-cs"/>
                        </a:rPr>
                        <a:t>选修</a:t>
                      </a:r>
                    </a:p>
                  </a:txBody>
                  <a:tcPr marL="0" marR="0" marT="0" marB="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6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kern="1200" cap="none" normalizeH="0" baseline="0" dirty="0">
                          <a:ln>
                            <a:noFill/>
                          </a:ln>
                          <a:solidFill>
                            <a:srgbClr val="FFC000"/>
                          </a:solidFill>
                          <a:effectLst>
                            <a:outerShdw blurRad="38100" dist="38100" dir="2700000" algn="tl">
                              <a:srgbClr val="000000"/>
                            </a:outerShdw>
                          </a:effectLst>
                          <a:latin typeface="Times New Roman" pitchFamily="18" charset="0"/>
                          <a:ea typeface="楷体_GB2312" pitchFamily="49" charset="-122"/>
                          <a:cs typeface="+mn-cs"/>
                        </a:rPr>
                        <a:t>K01</a:t>
                      </a:r>
                    </a:p>
                  </a:txBody>
                  <a:tcPr marL="0" marR="0" marT="0" marB="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6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kern="1200" cap="none" normalizeH="0" baseline="0" dirty="0">
                          <a:ln>
                            <a:noFill/>
                          </a:ln>
                          <a:solidFill>
                            <a:srgbClr val="FFC000"/>
                          </a:solidFill>
                          <a:effectLst>
                            <a:outerShdw blurRad="38100" dist="38100" dir="2700000" algn="tl">
                              <a:srgbClr val="000000"/>
                            </a:outerShdw>
                          </a:effectLst>
                          <a:latin typeface="Times New Roman" pitchFamily="18" charset="0"/>
                          <a:ea typeface="楷体_GB2312" pitchFamily="49" charset="-122"/>
                          <a:cs typeface="+mn-cs"/>
                        </a:rPr>
                        <a:t>K02</a:t>
                      </a:r>
                    </a:p>
                  </a:txBody>
                  <a:tcPr marL="0" marR="0" marT="0" marB="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1" name="AutoShape 56"/>
          <p:cNvSpPr>
            <a:spLocks noChangeArrowheads="1"/>
          </p:cNvSpPr>
          <p:nvPr/>
        </p:nvSpPr>
        <p:spPr bwMode="auto">
          <a:xfrm rot="10800000">
            <a:off x="5990966" y="5279470"/>
            <a:ext cx="935212" cy="454674"/>
          </a:xfrm>
          <a:prstGeom prst="leftArrow">
            <a:avLst>
              <a:gd name="adj1" fmla="val 50000"/>
              <a:gd name="adj2" fmla="val 46323"/>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endParaRPr lang="zh-CN" altLang="en-US" kern="0">
              <a:solidFill>
                <a:sysClr val="windowText" lastClr="000000"/>
              </a:solidFill>
            </a:endParaRPr>
          </a:p>
        </p:txBody>
      </p:sp>
      <p:sp>
        <p:nvSpPr>
          <p:cNvPr id="12" name="AutoShape 57"/>
          <p:cNvSpPr>
            <a:spLocks noChangeArrowheads="1"/>
          </p:cNvSpPr>
          <p:nvPr/>
        </p:nvSpPr>
        <p:spPr bwMode="auto">
          <a:xfrm>
            <a:off x="7465369" y="3797767"/>
            <a:ext cx="1511200" cy="1027374"/>
          </a:xfrm>
          <a:prstGeom prst="wedgeRoundRectCallout">
            <a:avLst>
              <a:gd name="adj1" fmla="val -19500"/>
              <a:gd name="adj2" fmla="val 74815"/>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lIns="0" tIns="36000" rIns="0" bIns="36000" anchor="ctr"/>
          <a:lstStyle/>
          <a:p>
            <a:pPr algn="ctr">
              <a:spcAft>
                <a:spcPct val="40000"/>
              </a:spcAft>
              <a:buClr>
                <a:srgbClr val="66FF33"/>
              </a:buClr>
              <a:buSzPct val="85000"/>
              <a:defRPr/>
            </a:pPr>
            <a:r>
              <a:rPr lang="zh-CN" altLang="en-US" sz="3200" kern="0" dirty="0">
                <a:solidFill>
                  <a:srgbClr val="FFFFCC"/>
                </a:solidFill>
                <a:effectLst>
                  <a:outerShdw blurRad="38100" dist="38100" dir="2700000" algn="tl">
                    <a:srgbClr val="000000"/>
                  </a:outerShdw>
                </a:effectLst>
                <a:latin typeface="Arial" charset="0"/>
              </a:rPr>
              <a:t>张三选修的课</a:t>
            </a:r>
          </a:p>
        </p:txBody>
      </p:sp>
    </p:spTree>
    <p:extLst>
      <p:ext uri="{BB962C8B-B14F-4D97-AF65-F5344CB8AC3E}">
        <p14:creationId xmlns:p14="http://schemas.microsoft.com/office/powerpoint/2010/main" val="1656218296"/>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176" y="64067"/>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嵌套查询</a:t>
            </a:r>
          </a:p>
        </p:txBody>
      </p:sp>
      <p:sp>
        <p:nvSpPr>
          <p:cNvPr id="4" name="Rectangle 4"/>
          <p:cNvSpPr>
            <a:spLocks noChangeArrowheads="1"/>
          </p:cNvSpPr>
          <p:nvPr/>
        </p:nvSpPr>
        <p:spPr bwMode="auto">
          <a:xfrm>
            <a:off x="695176" y="2514425"/>
            <a:ext cx="7416824" cy="1676400"/>
          </a:xfrm>
          <a:prstGeom prst="rect">
            <a:avLst/>
          </a:prstGeom>
          <a:noFill/>
          <a:ln w="9525">
            <a:noFill/>
            <a:miter lim="800000"/>
            <a:headEnd/>
            <a:tailEnd/>
          </a:ln>
          <a:effectLst/>
        </p:spPr>
        <p:txBody>
          <a:bodyPr/>
          <a:lstStyle/>
          <a:p>
            <a:pPr algn="just">
              <a:spcAft>
                <a:spcPct val="80000"/>
              </a:spcAft>
              <a:buClr>
                <a:srgbClr val="FFFFFF"/>
              </a:buClr>
              <a:buSzPct val="85000"/>
              <a:defRPr/>
            </a:pPr>
            <a:r>
              <a:rPr lang="zh-CN" altLang="zh-CN" sz="3200" kern="0" dirty="0">
                <a:solidFill>
                  <a:schemeClr val="bg1"/>
                </a:solidFill>
                <a:effectLst>
                  <a:outerShdw blurRad="38100" dist="38100" dir="2700000" algn="tl">
                    <a:srgbClr val="000000"/>
                  </a:outerShdw>
                </a:effectLst>
              </a:rPr>
              <a:t>查询其它系中年龄比CS系全体教师年龄都小的教师姓名</a:t>
            </a:r>
            <a:endParaRPr lang="en-US" altLang="zh-CN" sz="3200" kern="0" dirty="0">
              <a:solidFill>
                <a:schemeClr val="bg1"/>
              </a:solidFill>
              <a:effectLst>
                <a:outerShdw blurRad="38100" dist="38100" dir="2700000" algn="tl">
                  <a:srgbClr val="000000"/>
                </a:outerShdw>
              </a:effectLst>
            </a:endParaRPr>
          </a:p>
        </p:txBody>
      </p:sp>
      <p:sp>
        <p:nvSpPr>
          <p:cNvPr id="6" name="Rectangle 5"/>
          <p:cNvSpPr>
            <a:spLocks noChangeArrowheads="1"/>
          </p:cNvSpPr>
          <p:nvPr/>
        </p:nvSpPr>
        <p:spPr bwMode="auto">
          <a:xfrm>
            <a:off x="695200" y="3932461"/>
            <a:ext cx="7416800" cy="1676400"/>
          </a:xfrm>
          <a:prstGeom prst="rect">
            <a:avLst/>
          </a:prstGeom>
          <a:noFill/>
          <a:ln w="9525">
            <a:noFill/>
            <a:miter lim="800000"/>
            <a:headEnd/>
            <a:tailEnd/>
          </a:ln>
          <a:effectLst/>
        </p:spPr>
        <p:txBody>
          <a:bodyPr/>
          <a:lstStyle/>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SELECT </a:t>
            </a:r>
            <a:r>
              <a:rPr lang="zh-CN" altLang="en-US" sz="3200" kern="0" dirty="0">
                <a:solidFill>
                  <a:srgbClr val="99FF33"/>
                </a:solidFill>
                <a:effectLst>
                  <a:outerShdw blurRad="38100" dist="38100" dir="2700000" algn="tl">
                    <a:srgbClr val="000000"/>
                  </a:outerShdw>
                </a:effectLst>
              </a:rPr>
              <a:t>姓名 </a:t>
            </a:r>
            <a:r>
              <a:rPr lang="en-US" altLang="zh-CN" sz="3200" kern="0" dirty="0">
                <a:solidFill>
                  <a:srgbClr val="99FF33"/>
                </a:solidFill>
                <a:effectLst>
                  <a:outerShdw blurRad="38100" dist="38100" dir="2700000" algn="tl">
                    <a:srgbClr val="000000"/>
                  </a:outerShdw>
                </a:effectLst>
              </a:rPr>
              <a:t>FROM T</a:t>
            </a:r>
          </a:p>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WHERE </a:t>
            </a:r>
            <a:r>
              <a:rPr lang="zh-CN" altLang="en-US" sz="3200" kern="0" dirty="0">
                <a:solidFill>
                  <a:srgbClr val="FFCC00"/>
                </a:solidFill>
                <a:effectLst>
                  <a:outerShdw blurRad="38100" dist="38100" dir="2700000" algn="tl">
                    <a:srgbClr val="000000"/>
                  </a:outerShdw>
                </a:effectLst>
              </a:rPr>
              <a:t>年龄 </a:t>
            </a:r>
            <a:r>
              <a:rPr lang="en-US" altLang="zh-CN" sz="3200" kern="0" dirty="0">
                <a:solidFill>
                  <a:srgbClr val="FFCC00"/>
                </a:solidFill>
                <a:effectLst>
                  <a:outerShdw blurRad="38100" dist="38100" dir="2700000" algn="tl">
                    <a:srgbClr val="000000"/>
                  </a:outerShdw>
                </a:effectLst>
              </a:rPr>
              <a:t>&lt; ALL</a:t>
            </a:r>
          </a:p>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 SELECT </a:t>
            </a:r>
            <a:r>
              <a:rPr lang="zh-CN" altLang="en-US" sz="3200" kern="0" dirty="0">
                <a:solidFill>
                  <a:srgbClr val="FFCC00"/>
                </a:solidFill>
                <a:effectLst>
                  <a:outerShdw blurRad="38100" dist="38100" dir="2700000" algn="tl">
                    <a:srgbClr val="000000"/>
                  </a:outerShdw>
                </a:effectLst>
              </a:rPr>
              <a:t>年龄</a:t>
            </a:r>
            <a:r>
              <a:rPr lang="zh-CN" altLang="en-US" sz="3200" kern="0" dirty="0">
                <a:solidFill>
                  <a:srgbClr val="99FF33"/>
                </a:solidFill>
                <a:effectLst>
                  <a:outerShdw blurRad="38100" dist="38100" dir="2700000" algn="tl">
                    <a:srgbClr val="000000"/>
                  </a:outerShdw>
                </a:effectLst>
              </a:rPr>
              <a:t> </a:t>
            </a:r>
            <a:r>
              <a:rPr lang="en-US" altLang="zh-CN" sz="3200" kern="0" dirty="0">
                <a:solidFill>
                  <a:srgbClr val="99FF33"/>
                </a:solidFill>
                <a:effectLst>
                  <a:outerShdw blurRad="38100" dist="38100" dir="2700000" algn="tl">
                    <a:srgbClr val="000000"/>
                  </a:outerShdw>
                </a:effectLst>
              </a:rPr>
              <a:t>FROM T</a:t>
            </a:r>
          </a:p>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WHERE </a:t>
            </a:r>
            <a:r>
              <a:rPr lang="zh-CN" altLang="en-US" sz="3200" kern="0" dirty="0">
                <a:solidFill>
                  <a:srgbClr val="99FF33"/>
                </a:solidFill>
                <a:effectLst>
                  <a:outerShdw blurRad="38100" dist="38100" dir="2700000" algn="tl">
                    <a:srgbClr val="000000"/>
                  </a:outerShdw>
                </a:effectLst>
              </a:rPr>
              <a:t>系 </a:t>
            </a:r>
            <a:r>
              <a:rPr lang="en-US" altLang="zh-CN" sz="3200" kern="0" dirty="0">
                <a:solidFill>
                  <a:srgbClr val="99FF33"/>
                </a:solidFill>
                <a:effectLst>
                  <a:outerShdw blurRad="38100" dist="38100" dir="2700000" algn="tl">
                    <a:srgbClr val="000000"/>
                  </a:outerShdw>
                </a:effectLst>
              </a:rPr>
              <a:t>= 'CS')</a:t>
            </a:r>
          </a:p>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AND </a:t>
            </a:r>
            <a:r>
              <a:rPr lang="zh-CN" altLang="en-US" sz="3200" kern="0" dirty="0">
                <a:solidFill>
                  <a:srgbClr val="99FF33"/>
                </a:solidFill>
                <a:effectLst>
                  <a:outerShdw blurRad="38100" dist="38100" dir="2700000" algn="tl">
                    <a:srgbClr val="000000"/>
                  </a:outerShdw>
                </a:effectLst>
              </a:rPr>
              <a:t>系 </a:t>
            </a:r>
            <a:r>
              <a:rPr lang="en-US" altLang="zh-CN" sz="3200" kern="0" dirty="0">
                <a:solidFill>
                  <a:srgbClr val="99FF33"/>
                </a:solidFill>
                <a:effectLst>
                  <a:outerShdw blurRad="38100" dist="38100" dir="2700000" algn="tl">
                    <a:srgbClr val="000000"/>
                  </a:outerShdw>
                </a:effectLst>
              </a:rPr>
              <a:t>!= 'CS'</a:t>
            </a:r>
            <a:endParaRPr lang="en-US" altLang="zh-CN" sz="3200" kern="0" dirty="0">
              <a:solidFill>
                <a:srgbClr val="CCFFCC"/>
              </a:solidFill>
              <a:effectLst>
                <a:outerShdw blurRad="38100" dist="38100" dir="2700000" algn="tl">
                  <a:srgbClr val="000000"/>
                </a:outerShdw>
              </a:effectLst>
              <a:latin typeface="Times New Roman" pitchFamily="18" charset="0"/>
            </a:endParaRPr>
          </a:p>
        </p:txBody>
      </p:sp>
      <p:graphicFrame>
        <p:nvGraphicFramePr>
          <p:cNvPr id="7" name="Group 64"/>
          <p:cNvGraphicFramePr>
            <a:graphicFrameLocks noGrp="1"/>
          </p:cNvGraphicFramePr>
          <p:nvPr/>
        </p:nvGraphicFramePr>
        <p:xfrm>
          <a:off x="7175674" y="5156423"/>
          <a:ext cx="720725" cy="1463676"/>
        </p:xfrm>
        <a:graphic>
          <a:graphicData uri="http://schemas.openxmlformats.org/drawingml/2006/table">
            <a:tbl>
              <a:tblPr/>
              <a:tblGrid>
                <a:gridCol w="720725">
                  <a:extLst>
                    <a:ext uri="{9D8B030D-6E8A-4147-A177-3AD203B41FA5}">
                      <a16:colId xmlns:a16="http://schemas.microsoft.com/office/drawing/2014/main" val="20000"/>
                    </a:ext>
                  </a:extLst>
                </a:gridCol>
              </a:tblGrid>
              <a:tr h="36591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FFC000"/>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91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FFC000"/>
                          </a:solidFill>
                          <a:effectLst>
                            <a:outerShdw blurRad="38100" dist="38100" dir="2700000" algn="tl">
                              <a:srgbClr val="000000"/>
                            </a:outerShdw>
                          </a:effectLst>
                          <a:latin typeface="Times New Roman" pitchFamily="18" charset="0"/>
                          <a:ea typeface="楷体_GB2312" pitchFamily="49" charset="-122"/>
                        </a:rPr>
                        <a:t>29</a:t>
                      </a:r>
                    </a:p>
                  </a:txBody>
                  <a:tcPr marL="0" marR="0" marT="0" marB="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91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FFC000"/>
                          </a:solidFill>
                          <a:effectLst>
                            <a:outerShdw blurRad="38100" dist="38100" dir="2700000" algn="tl">
                              <a:srgbClr val="000000"/>
                            </a:outerShdw>
                          </a:effectLst>
                          <a:latin typeface="Times New Roman" pitchFamily="18" charset="0"/>
                          <a:ea typeface="楷体_GB2312" pitchFamily="49" charset="-122"/>
                        </a:rPr>
                        <a:t>28</a:t>
                      </a:r>
                    </a:p>
                  </a:txBody>
                  <a:tcPr marL="0" marR="0" marT="0" marB="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91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FFC000"/>
                          </a:solidFill>
                          <a:effectLst>
                            <a:outerShdw blurRad="38100" dist="38100" dir="2700000" algn="tl">
                              <a:srgbClr val="000000"/>
                            </a:outerShdw>
                          </a:effectLst>
                          <a:latin typeface="Times New Roman" pitchFamily="18" charset="0"/>
                          <a:ea typeface="楷体_GB2312" pitchFamily="49" charset="-122"/>
                        </a:rPr>
                        <a:t>26</a:t>
                      </a:r>
                    </a:p>
                  </a:txBody>
                  <a:tcPr marL="0" marR="0" marT="0" marB="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 name="AutoShape 23"/>
          <p:cNvSpPr>
            <a:spLocks noChangeArrowheads="1"/>
          </p:cNvSpPr>
          <p:nvPr/>
        </p:nvSpPr>
        <p:spPr bwMode="auto">
          <a:xfrm>
            <a:off x="7031210" y="3705123"/>
            <a:ext cx="1585069" cy="1090938"/>
          </a:xfrm>
          <a:prstGeom prst="wedgeRoundRectCallout">
            <a:avLst>
              <a:gd name="adj1" fmla="val -27093"/>
              <a:gd name="adj2" fmla="val 74815"/>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lIns="0" tIns="36000" rIns="0" bIns="36000" anchor="ctr"/>
          <a:lstStyle/>
          <a:p>
            <a:pPr algn="just">
              <a:spcAft>
                <a:spcPct val="40000"/>
              </a:spcAft>
              <a:buClr>
                <a:srgbClr val="66FF33"/>
              </a:buClr>
              <a:buSzPct val="85000"/>
              <a:defRPr/>
            </a:pPr>
            <a:r>
              <a:rPr lang="en-US" altLang="en-US" sz="2800" kern="0" dirty="0" err="1">
                <a:solidFill>
                  <a:srgbClr val="FFFFCC"/>
                </a:solidFill>
                <a:effectLst>
                  <a:outerShdw blurRad="38100" dist="38100" dir="2700000" algn="tl">
                    <a:srgbClr val="000000"/>
                  </a:outerShdw>
                </a:effectLst>
                <a:latin typeface="Arial" charset="0"/>
              </a:rPr>
              <a:t>CS系老师的年龄</a:t>
            </a:r>
            <a:endParaRPr lang="zh-CN" altLang="en-US" sz="2800" kern="0" dirty="0">
              <a:solidFill>
                <a:srgbClr val="FFFFCC"/>
              </a:solidFill>
              <a:effectLst>
                <a:outerShdw blurRad="38100" dist="38100" dir="2700000" algn="tl">
                  <a:srgbClr val="000000"/>
                </a:outerShdw>
              </a:effectLst>
              <a:latin typeface="Arial" charset="0"/>
            </a:endParaRPr>
          </a:p>
        </p:txBody>
      </p:sp>
      <p:graphicFrame>
        <p:nvGraphicFramePr>
          <p:cNvPr id="10" name="Group 24"/>
          <p:cNvGraphicFramePr>
            <a:graphicFrameLocks noGrp="1"/>
          </p:cNvGraphicFramePr>
          <p:nvPr>
            <p:extLst>
              <p:ext uri="{D42A27DB-BD31-4B8C-83A1-F6EECF244321}">
                <p14:modId xmlns:p14="http://schemas.microsoft.com/office/powerpoint/2010/main" val="3697921754"/>
              </p:ext>
            </p:extLst>
          </p:nvPr>
        </p:nvGraphicFramePr>
        <p:xfrm>
          <a:off x="9552384" y="1052736"/>
          <a:ext cx="2036763" cy="2736304"/>
        </p:xfrm>
        <a:graphic>
          <a:graphicData uri="http://schemas.openxmlformats.org/drawingml/2006/table">
            <a:tbl>
              <a:tblPr/>
              <a:tblGrid>
                <a:gridCol w="835025">
                  <a:extLst>
                    <a:ext uri="{9D8B030D-6E8A-4147-A177-3AD203B41FA5}">
                      <a16:colId xmlns:a16="http://schemas.microsoft.com/office/drawing/2014/main" val="20000"/>
                    </a:ext>
                  </a:extLst>
                </a:gridCol>
                <a:gridCol w="569913">
                  <a:extLst>
                    <a:ext uri="{9D8B030D-6E8A-4147-A177-3AD203B41FA5}">
                      <a16:colId xmlns:a16="http://schemas.microsoft.com/office/drawing/2014/main" val="20001"/>
                    </a:ext>
                  </a:extLst>
                </a:gridCol>
                <a:gridCol w="631825">
                  <a:extLst>
                    <a:ext uri="{9D8B030D-6E8A-4147-A177-3AD203B41FA5}">
                      <a16:colId xmlns:a16="http://schemas.microsoft.com/office/drawing/2014/main" val="20002"/>
                    </a:ext>
                  </a:extLst>
                </a:gridCol>
              </a:tblGrid>
              <a:tr h="3420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系</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420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20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20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20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20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20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20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26</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1" name="Rectangle 62"/>
          <p:cNvSpPr>
            <a:spLocks noChangeArrowheads="1"/>
          </p:cNvSpPr>
          <p:nvPr/>
        </p:nvSpPr>
        <p:spPr bwMode="auto">
          <a:xfrm>
            <a:off x="9192021" y="981299"/>
            <a:ext cx="187552" cy="369332"/>
          </a:xfrm>
          <a:prstGeom prst="rect">
            <a:avLst/>
          </a:prstGeom>
          <a:noFill/>
          <a:ln w="12700" cap="sq">
            <a:noFill/>
            <a:miter lim="800000"/>
            <a:headEnd/>
            <a:tailEnd/>
          </a:ln>
          <a:effectLst/>
        </p:spPr>
        <p:txBody>
          <a:bodyPr wrap="none" lIns="0" tIns="0" rIns="0" bIns="0">
            <a:spAutoFit/>
          </a:bodyPr>
          <a:lstStyle/>
          <a:p>
            <a:pPr>
              <a:spcAft>
                <a:spcPct val="0"/>
              </a:spcAft>
              <a:buSzTx/>
              <a:buFontTx/>
              <a:buNone/>
            </a:pPr>
            <a:r>
              <a:rPr lang="en-US" altLang="zh-CN" sz="2400" dirty="0">
                <a:solidFill>
                  <a:schemeClr val="bg1"/>
                </a:solidFill>
                <a:effectLst>
                  <a:outerShdw blurRad="38100" dist="38100" dir="2700000" algn="tl">
                    <a:srgbClr val="000000"/>
                  </a:outerShdw>
                </a:effectLst>
                <a:latin typeface="Times New Roman" pitchFamily="18" charset="0"/>
              </a:rPr>
              <a:t>T</a:t>
            </a:r>
          </a:p>
        </p:txBody>
      </p:sp>
      <p:sp>
        <p:nvSpPr>
          <p:cNvPr id="12" name="Rectangle 4"/>
          <p:cNvSpPr txBox="1">
            <a:spLocks noChangeArrowheads="1"/>
          </p:cNvSpPr>
          <p:nvPr/>
        </p:nvSpPr>
        <p:spPr bwMode="auto">
          <a:xfrm>
            <a:off x="695176" y="937354"/>
            <a:ext cx="7921104" cy="1373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eaLnBrk="1" hangingPunct="1">
              <a:spcAft>
                <a:spcPct val="20000"/>
              </a:spcAft>
              <a:buNone/>
              <a:defRPr/>
            </a:pPr>
            <a:r>
              <a:rPr kumimoji="1" lang="zh-CN" altLang="en-US" sz="3200" kern="0" dirty="0"/>
              <a:t>用</a:t>
            </a:r>
            <a:r>
              <a:rPr kumimoji="1" lang="en-US" altLang="zh-CN" sz="3200" kern="0" dirty="0">
                <a:solidFill>
                  <a:srgbClr val="FFCC00"/>
                </a:solidFill>
              </a:rPr>
              <a:t>θ ANY/ALL</a:t>
            </a:r>
            <a:r>
              <a:rPr kumimoji="1" lang="zh-CN" altLang="en-US" sz="3200" kern="0" dirty="0"/>
              <a:t>构造多值（多行</a:t>
            </a:r>
            <a:r>
              <a:rPr kumimoji="1" lang="en-US" altLang="zh-CN" sz="3200" kern="0" dirty="0"/>
              <a:t>1</a:t>
            </a:r>
            <a:r>
              <a:rPr kumimoji="1" lang="zh-CN" altLang="en-US" sz="3200" kern="0" dirty="0"/>
              <a:t>列）条件，其中</a:t>
            </a:r>
            <a:r>
              <a:rPr kumimoji="1" lang="en-US" altLang="zh-CN" sz="3200" kern="0" dirty="0">
                <a:solidFill>
                  <a:srgbClr val="FFCC00"/>
                </a:solidFill>
              </a:rPr>
              <a:t>θ</a:t>
            </a:r>
            <a:r>
              <a:rPr kumimoji="1" lang="zh-CN" altLang="en-US" sz="3200" kern="0" dirty="0"/>
              <a:t>为</a:t>
            </a:r>
            <a:r>
              <a:rPr kumimoji="1" lang="en-US" altLang="zh-CN" sz="3200" b="1" kern="0" dirty="0">
                <a:solidFill>
                  <a:srgbClr val="FFFF00"/>
                </a:solidFill>
              </a:rPr>
              <a:t>=,&gt;,&lt;,&gt;=,&lt;=,!=</a:t>
            </a:r>
            <a:r>
              <a:rPr kumimoji="1" lang="zh-CN" altLang="en-US" sz="3200" kern="0" dirty="0"/>
              <a:t>等比较运算符。</a:t>
            </a:r>
          </a:p>
        </p:txBody>
      </p:sp>
      <p:sp>
        <p:nvSpPr>
          <p:cNvPr id="13" name="AutoShape 56"/>
          <p:cNvSpPr>
            <a:spLocks noChangeArrowheads="1"/>
          </p:cNvSpPr>
          <p:nvPr/>
        </p:nvSpPr>
        <p:spPr bwMode="auto">
          <a:xfrm rot="10800000">
            <a:off x="5738172" y="5381524"/>
            <a:ext cx="935212" cy="454674"/>
          </a:xfrm>
          <a:prstGeom prst="leftArrow">
            <a:avLst>
              <a:gd name="adj1" fmla="val 50000"/>
              <a:gd name="adj2" fmla="val 46323"/>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endParaRPr lang="zh-CN" altLang="en-US" kern="0">
              <a:solidFill>
                <a:sysClr val="windowText" lastClr="000000"/>
              </a:solidFill>
            </a:endParaRPr>
          </a:p>
        </p:txBody>
      </p:sp>
    </p:spTree>
    <p:extLst>
      <p:ext uri="{BB962C8B-B14F-4D97-AF65-F5344CB8AC3E}">
        <p14:creationId xmlns:p14="http://schemas.microsoft.com/office/powerpoint/2010/main" val="659275505"/>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176" y="64067"/>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嵌套查询</a:t>
            </a:r>
          </a:p>
        </p:txBody>
      </p:sp>
      <p:sp>
        <p:nvSpPr>
          <p:cNvPr id="3" name="Rectangle 4"/>
          <p:cNvSpPr txBox="1">
            <a:spLocks noChangeArrowheads="1"/>
          </p:cNvSpPr>
          <p:nvPr/>
        </p:nvSpPr>
        <p:spPr bwMode="auto">
          <a:xfrm>
            <a:off x="695176" y="980728"/>
            <a:ext cx="5040313" cy="5191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eaLnBrk="1" hangingPunct="1">
              <a:spcAft>
                <a:spcPct val="20000"/>
              </a:spcAft>
              <a:buNone/>
              <a:defRPr/>
            </a:pPr>
            <a:r>
              <a:rPr kumimoji="1" lang="en-US" altLang="zh-CN" sz="3600" kern="0" dirty="0">
                <a:solidFill>
                  <a:srgbClr val="FFFFCC"/>
                </a:solidFill>
                <a:latin typeface="Arial" charset="0"/>
              </a:rPr>
              <a:t>IN</a:t>
            </a:r>
            <a:r>
              <a:rPr kumimoji="1" lang="en-US" altLang="zh-CN" sz="3600" kern="0" dirty="0">
                <a:latin typeface="Arial" charset="0"/>
              </a:rPr>
              <a:t>  </a:t>
            </a:r>
            <a:r>
              <a:rPr kumimoji="1" lang="zh-CN" altLang="en-US" sz="3600" kern="0" dirty="0">
                <a:latin typeface="Arial" charset="0"/>
              </a:rPr>
              <a:t>等价于 </a:t>
            </a:r>
            <a:r>
              <a:rPr kumimoji="1" lang="en-US" altLang="zh-CN" sz="3600" kern="0" dirty="0">
                <a:solidFill>
                  <a:srgbClr val="FFFFCC"/>
                </a:solidFill>
                <a:latin typeface="Arial" charset="0"/>
              </a:rPr>
              <a:t>= ANY</a:t>
            </a:r>
            <a:endParaRPr kumimoji="1" lang="zh-CN" altLang="en-US" sz="3600" kern="0" dirty="0">
              <a:solidFill>
                <a:srgbClr val="FFFFCC"/>
              </a:solidFill>
              <a:latin typeface="Arial" charset="0"/>
            </a:endParaRPr>
          </a:p>
        </p:txBody>
      </p:sp>
      <p:sp>
        <p:nvSpPr>
          <p:cNvPr id="4" name="Rectangle 5"/>
          <p:cNvSpPr>
            <a:spLocks noChangeArrowheads="1"/>
          </p:cNvSpPr>
          <p:nvPr/>
        </p:nvSpPr>
        <p:spPr bwMode="auto">
          <a:xfrm>
            <a:off x="696763" y="3717577"/>
            <a:ext cx="7416800" cy="1676400"/>
          </a:xfrm>
          <a:prstGeom prst="rect">
            <a:avLst/>
          </a:prstGeom>
          <a:noFill/>
          <a:ln w="9525">
            <a:noFill/>
            <a:miter lim="800000"/>
            <a:headEnd/>
            <a:tailEnd/>
          </a:ln>
          <a:effectLst/>
        </p:spPr>
        <p:txBody>
          <a:bodyPr/>
          <a:lstStyle/>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SELECT </a:t>
            </a:r>
            <a:r>
              <a:rPr lang="zh-CN" altLang="en-US" sz="3200" kern="0" dirty="0">
                <a:solidFill>
                  <a:srgbClr val="99FF33"/>
                </a:solidFill>
                <a:effectLst>
                  <a:outerShdw blurRad="38100" dist="38100" dir="2700000" algn="tl">
                    <a:srgbClr val="000000"/>
                  </a:outerShdw>
                </a:effectLst>
              </a:rPr>
              <a:t>姓名 </a:t>
            </a:r>
            <a:r>
              <a:rPr lang="en-US" altLang="zh-CN" sz="3200" kern="0" dirty="0">
                <a:solidFill>
                  <a:srgbClr val="99FF33"/>
                </a:solidFill>
                <a:effectLst>
                  <a:outerShdw blurRad="38100" dist="38100" dir="2700000" algn="tl">
                    <a:srgbClr val="000000"/>
                  </a:outerShdw>
                </a:effectLst>
              </a:rPr>
              <a:t>FROM ST</a:t>
            </a:r>
          </a:p>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WHERE </a:t>
            </a:r>
            <a:r>
              <a:rPr lang="zh-CN" altLang="en-US" sz="3200" kern="0" dirty="0">
                <a:solidFill>
                  <a:srgbClr val="FFCC00"/>
                </a:solidFill>
                <a:effectLst>
                  <a:outerShdw blurRad="38100" dist="38100" dir="2700000" algn="tl">
                    <a:srgbClr val="000000"/>
                  </a:outerShdw>
                </a:effectLst>
              </a:rPr>
              <a:t>选修 </a:t>
            </a:r>
            <a:r>
              <a:rPr lang="en-US" altLang="zh-CN" sz="3200" kern="0" dirty="0">
                <a:solidFill>
                  <a:srgbClr val="FFCC00"/>
                </a:solidFill>
                <a:effectLst>
                  <a:outerShdw blurRad="38100" dist="38100" dir="2700000" algn="tl">
                    <a:srgbClr val="000000"/>
                  </a:outerShdw>
                </a:effectLst>
              </a:rPr>
              <a:t>IN</a:t>
            </a:r>
            <a:r>
              <a:rPr lang="en-US" altLang="zh-CN" sz="3200" kern="0" dirty="0">
                <a:solidFill>
                  <a:srgbClr val="99FF33"/>
                </a:solidFill>
                <a:effectLst>
                  <a:outerShdw blurRad="38100" dist="38100" dir="2700000" algn="tl">
                    <a:srgbClr val="000000"/>
                  </a:outerShdw>
                </a:effectLst>
              </a:rPr>
              <a:t> (</a:t>
            </a:r>
          </a:p>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SELECT </a:t>
            </a:r>
            <a:r>
              <a:rPr lang="zh-CN" altLang="en-US" sz="3200" kern="0" dirty="0">
                <a:solidFill>
                  <a:srgbClr val="FFCC00"/>
                </a:solidFill>
                <a:effectLst>
                  <a:outerShdw blurRad="38100" dist="38100" dir="2700000" algn="tl">
                    <a:srgbClr val="000000"/>
                  </a:outerShdw>
                </a:effectLst>
              </a:rPr>
              <a:t>选修</a:t>
            </a:r>
            <a:r>
              <a:rPr lang="zh-CN" altLang="en-US" sz="3200" kern="0" dirty="0">
                <a:solidFill>
                  <a:srgbClr val="99FF33"/>
                </a:solidFill>
                <a:effectLst>
                  <a:outerShdw blurRad="38100" dist="38100" dir="2700000" algn="tl">
                    <a:srgbClr val="000000"/>
                  </a:outerShdw>
                </a:effectLst>
              </a:rPr>
              <a:t> </a:t>
            </a:r>
            <a:r>
              <a:rPr lang="en-US" altLang="zh-CN" sz="3200" kern="0" dirty="0">
                <a:solidFill>
                  <a:srgbClr val="99FF33"/>
                </a:solidFill>
                <a:effectLst>
                  <a:outerShdw blurRad="38100" dist="38100" dir="2700000" algn="tl">
                    <a:srgbClr val="000000"/>
                  </a:outerShdw>
                </a:effectLst>
              </a:rPr>
              <a:t>FROM ST</a:t>
            </a:r>
          </a:p>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WHERE </a:t>
            </a:r>
            <a:r>
              <a:rPr lang="zh-CN" altLang="en-US" sz="3200" kern="0" dirty="0">
                <a:solidFill>
                  <a:srgbClr val="99FF33"/>
                </a:solidFill>
                <a:effectLst>
                  <a:outerShdw blurRad="38100" dist="38100" dir="2700000" algn="tl">
                    <a:srgbClr val="000000"/>
                  </a:outerShdw>
                </a:effectLst>
              </a:rPr>
              <a:t>姓名 </a:t>
            </a:r>
            <a:r>
              <a:rPr lang="en-US" altLang="zh-CN" sz="3200" kern="0" dirty="0">
                <a:solidFill>
                  <a:srgbClr val="99FF33"/>
                </a:solidFill>
                <a:effectLst>
                  <a:outerShdw blurRad="38100" dist="38100" dir="2700000" algn="tl">
                    <a:srgbClr val="000000"/>
                  </a:outerShdw>
                </a:effectLst>
              </a:rPr>
              <a:t>= '</a:t>
            </a:r>
            <a:r>
              <a:rPr lang="zh-CN" altLang="en-US" sz="3200" kern="0" dirty="0">
                <a:solidFill>
                  <a:srgbClr val="99FF33"/>
                </a:solidFill>
                <a:effectLst>
                  <a:outerShdw blurRad="38100" dist="38100" dir="2700000" algn="tl">
                    <a:srgbClr val="000000"/>
                  </a:outerShdw>
                </a:effectLst>
              </a:rPr>
              <a:t>张三</a:t>
            </a:r>
            <a:r>
              <a:rPr lang="en-US" altLang="zh-CN" sz="3200" kern="0" dirty="0">
                <a:solidFill>
                  <a:srgbClr val="99FF33"/>
                </a:solidFill>
                <a:effectLst>
                  <a:outerShdw blurRad="38100" dist="38100" dir="2700000" algn="tl">
                    <a:srgbClr val="000000"/>
                  </a:outerShdw>
                </a:effectLst>
              </a:rPr>
              <a:t>' )</a:t>
            </a:r>
          </a:p>
          <a:p>
            <a:pPr algn="just">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AND </a:t>
            </a:r>
            <a:r>
              <a:rPr lang="zh-CN" altLang="en-US" sz="3200" kern="0" dirty="0">
                <a:solidFill>
                  <a:srgbClr val="99FF33"/>
                </a:solidFill>
                <a:effectLst>
                  <a:outerShdw blurRad="38100" dist="38100" dir="2700000" algn="tl">
                    <a:srgbClr val="000000"/>
                  </a:outerShdw>
                </a:effectLst>
              </a:rPr>
              <a:t>姓名 </a:t>
            </a:r>
            <a:r>
              <a:rPr lang="en-US" altLang="zh-CN" sz="3200" kern="0" dirty="0">
                <a:solidFill>
                  <a:srgbClr val="99FF33"/>
                </a:solidFill>
                <a:effectLst>
                  <a:outerShdw blurRad="38100" dist="38100" dir="2700000" algn="tl">
                    <a:srgbClr val="000000"/>
                  </a:outerShdw>
                </a:effectLst>
              </a:rPr>
              <a:t>!= '</a:t>
            </a:r>
            <a:r>
              <a:rPr lang="zh-CN" altLang="en-US" sz="3200" kern="0" dirty="0">
                <a:solidFill>
                  <a:srgbClr val="99FF33"/>
                </a:solidFill>
                <a:effectLst>
                  <a:outerShdw blurRad="38100" dist="38100" dir="2700000" algn="tl">
                    <a:srgbClr val="000000"/>
                  </a:outerShdw>
                </a:effectLst>
              </a:rPr>
              <a:t>张三</a:t>
            </a:r>
            <a:r>
              <a:rPr lang="en-US" altLang="zh-CN" sz="3200" kern="0" dirty="0">
                <a:solidFill>
                  <a:srgbClr val="99FF33"/>
                </a:solidFill>
                <a:effectLst>
                  <a:outerShdw blurRad="38100" dist="38100" dir="2700000" algn="tl">
                    <a:srgbClr val="000000"/>
                  </a:outerShdw>
                </a:effectLst>
              </a:rPr>
              <a:t>' </a:t>
            </a:r>
            <a:endParaRPr lang="en-US" altLang="zh-CN" sz="3200" kern="0" dirty="0">
              <a:solidFill>
                <a:srgbClr val="CCFFCC"/>
              </a:solidFill>
              <a:effectLst>
                <a:outerShdw blurRad="38100" dist="38100" dir="2700000" algn="tl">
                  <a:srgbClr val="000000"/>
                </a:outerShdw>
              </a:effectLst>
              <a:latin typeface="Times New Roman" pitchFamily="18" charset="0"/>
            </a:endParaRPr>
          </a:p>
        </p:txBody>
      </p:sp>
      <p:graphicFrame>
        <p:nvGraphicFramePr>
          <p:cNvPr id="6" name="Group 71"/>
          <p:cNvGraphicFramePr>
            <a:graphicFrameLocks noGrp="1"/>
          </p:cNvGraphicFramePr>
          <p:nvPr>
            <p:extLst>
              <p:ext uri="{D42A27DB-BD31-4B8C-83A1-F6EECF244321}">
                <p14:modId xmlns:p14="http://schemas.microsoft.com/office/powerpoint/2010/main" val="1528838199"/>
              </p:ext>
            </p:extLst>
          </p:nvPr>
        </p:nvGraphicFramePr>
        <p:xfrm>
          <a:off x="9624392" y="1008584"/>
          <a:ext cx="1978176" cy="3352800"/>
        </p:xfrm>
        <a:graphic>
          <a:graphicData uri="http://schemas.openxmlformats.org/drawingml/2006/table">
            <a:tbl>
              <a:tblPr/>
              <a:tblGrid>
                <a:gridCol w="1008284">
                  <a:extLst>
                    <a:ext uri="{9D8B030D-6E8A-4147-A177-3AD203B41FA5}">
                      <a16:colId xmlns:a16="http://schemas.microsoft.com/office/drawing/2014/main" val="20000"/>
                    </a:ext>
                  </a:extLst>
                </a:gridCol>
                <a:gridCol w="969892">
                  <a:extLst>
                    <a:ext uri="{9D8B030D-6E8A-4147-A177-3AD203B41FA5}">
                      <a16:colId xmlns:a16="http://schemas.microsoft.com/office/drawing/2014/main" val="20001"/>
                    </a:ext>
                  </a:extLst>
                </a:gridCol>
              </a:tblGrid>
              <a:tr h="27434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选修</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34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4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34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4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4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K03</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4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4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K03</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4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K03</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4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孙七</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K03</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4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吴八</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K04</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7" name="Rectangle 54"/>
          <p:cNvSpPr>
            <a:spLocks noChangeArrowheads="1"/>
          </p:cNvSpPr>
          <p:nvPr/>
        </p:nvSpPr>
        <p:spPr bwMode="auto">
          <a:xfrm>
            <a:off x="9119567" y="1080021"/>
            <a:ext cx="330219"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200">
                <a:solidFill>
                  <a:schemeClr val="bg1"/>
                </a:solidFill>
                <a:effectLst>
                  <a:outerShdw blurRad="38100" dist="38100" dir="2700000" algn="tl">
                    <a:srgbClr val="000000"/>
                  </a:outerShdw>
                </a:effectLst>
                <a:latin typeface="Times New Roman" pitchFamily="18" charset="0"/>
              </a:rPr>
              <a:t>ST</a:t>
            </a:r>
          </a:p>
        </p:txBody>
      </p:sp>
      <p:sp>
        <p:nvSpPr>
          <p:cNvPr id="8" name="Rectangle 55"/>
          <p:cNvSpPr>
            <a:spLocks noChangeArrowheads="1"/>
          </p:cNvSpPr>
          <p:nvPr/>
        </p:nvSpPr>
        <p:spPr bwMode="auto">
          <a:xfrm>
            <a:off x="635644" y="2348780"/>
            <a:ext cx="7620596" cy="1008062"/>
          </a:xfrm>
          <a:prstGeom prst="rect">
            <a:avLst/>
          </a:prstGeom>
          <a:noFill/>
          <a:ln w="9525">
            <a:noFill/>
            <a:miter lim="800000"/>
            <a:headEnd/>
            <a:tailEnd/>
          </a:ln>
          <a:effectLst/>
        </p:spPr>
        <p:txBody>
          <a:bodyPr/>
          <a:lstStyle/>
          <a:p>
            <a:pPr algn="just">
              <a:spcAft>
                <a:spcPct val="80000"/>
              </a:spcAft>
              <a:buClr>
                <a:srgbClr val="FFFFFF"/>
              </a:buClr>
              <a:buSzPct val="85000"/>
              <a:defRPr/>
            </a:pPr>
            <a:r>
              <a:rPr lang="zh-CN" altLang="en-US" sz="3200" kern="0" dirty="0">
                <a:solidFill>
                  <a:schemeClr val="bg1"/>
                </a:solidFill>
                <a:effectLst>
                  <a:outerShdw blurRad="38100" dist="38100" dir="2700000" algn="tl">
                    <a:srgbClr val="000000"/>
                  </a:outerShdw>
                </a:effectLst>
              </a:rPr>
              <a:t>查询至少有一门课和张三相同的学生姓名</a:t>
            </a:r>
            <a:r>
              <a:rPr lang="en-US" altLang="zh-CN" sz="3200" kern="0" dirty="0">
                <a:solidFill>
                  <a:schemeClr val="bg1"/>
                </a:solidFill>
                <a:effectLst>
                  <a:outerShdw blurRad="38100" dist="38100" dir="2700000" algn="tl">
                    <a:srgbClr val="000000"/>
                  </a:outerShdw>
                </a:effectLst>
              </a:rPr>
              <a:t>,</a:t>
            </a:r>
            <a:r>
              <a:rPr lang="zh-CN" altLang="en-US" sz="3200" kern="0" dirty="0">
                <a:solidFill>
                  <a:schemeClr val="bg1"/>
                </a:solidFill>
                <a:effectLst>
                  <a:outerShdw blurRad="38100" dist="38100" dir="2700000" algn="tl">
                    <a:srgbClr val="000000"/>
                  </a:outerShdw>
                </a:effectLst>
              </a:rPr>
              <a:t>且结果中不能有张三</a:t>
            </a:r>
            <a:endParaRPr lang="en-US" altLang="zh-CN" sz="2400" kern="0" dirty="0">
              <a:solidFill>
                <a:schemeClr val="bg1"/>
              </a:solidFill>
              <a:effectLst>
                <a:outerShdw blurRad="38100" dist="38100" dir="2700000" algn="tl">
                  <a:srgbClr val="000000"/>
                </a:outerShdw>
              </a:effectLst>
            </a:endParaRPr>
          </a:p>
        </p:txBody>
      </p:sp>
      <p:sp>
        <p:nvSpPr>
          <p:cNvPr id="12" name="AutoShape 56"/>
          <p:cNvSpPr>
            <a:spLocks noChangeArrowheads="1"/>
          </p:cNvSpPr>
          <p:nvPr/>
        </p:nvSpPr>
        <p:spPr bwMode="auto">
          <a:xfrm rot="10800000">
            <a:off x="5992172" y="4996987"/>
            <a:ext cx="935212" cy="454674"/>
          </a:xfrm>
          <a:prstGeom prst="leftArrow">
            <a:avLst>
              <a:gd name="adj1" fmla="val 50000"/>
              <a:gd name="adj2" fmla="val 46323"/>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endParaRPr lang="zh-CN" altLang="en-US" kern="0">
              <a:solidFill>
                <a:sysClr val="windowText" lastClr="000000"/>
              </a:solidFill>
            </a:endParaRPr>
          </a:p>
        </p:txBody>
      </p:sp>
      <p:graphicFrame>
        <p:nvGraphicFramePr>
          <p:cNvPr id="2" name="Group 59">
            <a:extLst>
              <a:ext uri="{FF2B5EF4-FFF2-40B4-BE49-F238E27FC236}">
                <a16:creationId xmlns:a16="http://schemas.microsoft.com/office/drawing/2014/main" id="{010A6ED4-D601-4266-83F8-F6FE8AC12116}"/>
              </a:ext>
            </a:extLst>
          </p:cNvPr>
          <p:cNvGraphicFramePr>
            <a:graphicFrameLocks noGrp="1"/>
          </p:cNvGraphicFramePr>
          <p:nvPr>
            <p:extLst>
              <p:ext uri="{D42A27DB-BD31-4B8C-83A1-F6EECF244321}">
                <p14:modId xmlns:p14="http://schemas.microsoft.com/office/powerpoint/2010/main" val="4228008093"/>
              </p:ext>
            </p:extLst>
          </p:nvPr>
        </p:nvGraphicFramePr>
        <p:xfrm>
          <a:off x="7753524" y="5372006"/>
          <a:ext cx="720725" cy="1097280"/>
        </p:xfrm>
        <a:graphic>
          <a:graphicData uri="http://schemas.openxmlformats.org/drawingml/2006/table">
            <a:tbl>
              <a:tblPr/>
              <a:tblGrid>
                <a:gridCol w="720725">
                  <a:extLst>
                    <a:ext uri="{9D8B030D-6E8A-4147-A177-3AD203B41FA5}">
                      <a16:colId xmlns:a16="http://schemas.microsoft.com/office/drawing/2014/main" val="20000"/>
                    </a:ext>
                  </a:extLst>
                </a:gridCol>
              </a:tblGrid>
              <a:tr h="3656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kern="1200" cap="none" normalizeH="0" baseline="0" dirty="0">
                          <a:ln>
                            <a:noFill/>
                          </a:ln>
                          <a:solidFill>
                            <a:srgbClr val="FFC000"/>
                          </a:solidFill>
                          <a:effectLst>
                            <a:outerShdw blurRad="38100" dist="38100" dir="2700000" algn="tl">
                              <a:srgbClr val="000000"/>
                            </a:outerShdw>
                          </a:effectLst>
                          <a:latin typeface="Times New Roman" pitchFamily="18" charset="0"/>
                          <a:ea typeface="楷体_GB2312" pitchFamily="49" charset="-122"/>
                          <a:cs typeface="+mn-cs"/>
                        </a:rPr>
                        <a:t>选修</a:t>
                      </a:r>
                    </a:p>
                  </a:txBody>
                  <a:tcPr marL="0" marR="0" marT="0" marB="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6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kern="1200" cap="none" normalizeH="0" baseline="0" dirty="0">
                          <a:ln>
                            <a:noFill/>
                          </a:ln>
                          <a:solidFill>
                            <a:srgbClr val="FFC000"/>
                          </a:solidFill>
                          <a:effectLst>
                            <a:outerShdw blurRad="38100" dist="38100" dir="2700000" algn="tl">
                              <a:srgbClr val="000000"/>
                            </a:outerShdw>
                          </a:effectLst>
                          <a:latin typeface="Times New Roman" pitchFamily="18" charset="0"/>
                          <a:ea typeface="楷体_GB2312" pitchFamily="49" charset="-122"/>
                          <a:cs typeface="+mn-cs"/>
                        </a:rPr>
                        <a:t>K01</a:t>
                      </a:r>
                    </a:p>
                  </a:txBody>
                  <a:tcPr marL="0" marR="0" marT="0" marB="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6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kern="1200" cap="none" normalizeH="0" baseline="0" dirty="0">
                          <a:ln>
                            <a:noFill/>
                          </a:ln>
                          <a:solidFill>
                            <a:srgbClr val="FFC000"/>
                          </a:solidFill>
                          <a:effectLst>
                            <a:outerShdw blurRad="38100" dist="38100" dir="2700000" algn="tl">
                              <a:srgbClr val="000000"/>
                            </a:outerShdw>
                          </a:effectLst>
                          <a:latin typeface="Times New Roman" pitchFamily="18" charset="0"/>
                          <a:ea typeface="楷体_GB2312" pitchFamily="49" charset="-122"/>
                          <a:cs typeface="+mn-cs"/>
                        </a:rPr>
                        <a:t>K02</a:t>
                      </a:r>
                    </a:p>
                  </a:txBody>
                  <a:tcPr marL="0" marR="0" marT="0" marB="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 name="AutoShape 57">
            <a:extLst>
              <a:ext uri="{FF2B5EF4-FFF2-40B4-BE49-F238E27FC236}">
                <a16:creationId xmlns:a16="http://schemas.microsoft.com/office/drawing/2014/main" id="{009C39A4-A046-4142-B309-7227308FE7A0}"/>
              </a:ext>
            </a:extLst>
          </p:cNvPr>
          <p:cNvSpPr>
            <a:spLocks noChangeArrowheads="1"/>
          </p:cNvSpPr>
          <p:nvPr/>
        </p:nvSpPr>
        <p:spPr bwMode="auto">
          <a:xfrm>
            <a:off x="7465369" y="3797767"/>
            <a:ext cx="1511200" cy="1027374"/>
          </a:xfrm>
          <a:prstGeom prst="wedgeRoundRectCallout">
            <a:avLst>
              <a:gd name="adj1" fmla="val -19500"/>
              <a:gd name="adj2" fmla="val 74815"/>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lIns="0" tIns="36000" rIns="0" bIns="36000" anchor="ctr"/>
          <a:lstStyle/>
          <a:p>
            <a:pPr algn="ctr">
              <a:spcAft>
                <a:spcPct val="40000"/>
              </a:spcAft>
              <a:buClr>
                <a:srgbClr val="66FF33"/>
              </a:buClr>
              <a:buSzPct val="85000"/>
              <a:defRPr/>
            </a:pPr>
            <a:r>
              <a:rPr lang="zh-CN" altLang="en-US" sz="3200" kern="0" dirty="0">
                <a:solidFill>
                  <a:srgbClr val="FFFFCC"/>
                </a:solidFill>
                <a:effectLst>
                  <a:outerShdw blurRad="38100" dist="38100" dir="2700000" algn="tl">
                    <a:srgbClr val="000000"/>
                  </a:outerShdw>
                </a:effectLst>
                <a:latin typeface="Arial" charset="0"/>
              </a:rPr>
              <a:t>张三选修的课</a:t>
            </a:r>
          </a:p>
        </p:txBody>
      </p:sp>
    </p:spTree>
    <p:extLst>
      <p:ext uri="{BB962C8B-B14F-4D97-AF65-F5344CB8AC3E}">
        <p14:creationId xmlns:p14="http://schemas.microsoft.com/office/powerpoint/2010/main" val="2437668685"/>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176" y="64067"/>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嵌套查询</a:t>
            </a:r>
          </a:p>
        </p:txBody>
      </p:sp>
      <p:sp>
        <p:nvSpPr>
          <p:cNvPr id="3" name="Rectangle 4"/>
          <p:cNvSpPr txBox="1">
            <a:spLocks noChangeArrowheads="1"/>
          </p:cNvSpPr>
          <p:nvPr/>
        </p:nvSpPr>
        <p:spPr bwMode="auto">
          <a:xfrm>
            <a:off x="335360" y="991393"/>
            <a:ext cx="11521280" cy="48752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ct val="55000"/>
              </a:spcAft>
              <a:buFont typeface="Arial" pitchFamily="34" charset="0"/>
              <a:buChar char="•"/>
              <a:defRPr/>
            </a:pPr>
            <a:r>
              <a:rPr kumimoji="1" lang="zh-CN" altLang="en-US" sz="3200" kern="0" dirty="0">
                <a:latin typeface="楷体_GB2312" pitchFamily="49" charset="-122"/>
              </a:rPr>
              <a:t>前面的子查询都是可独立执行的，不依赖父查询表，称为</a:t>
            </a:r>
            <a:r>
              <a:rPr kumimoji="1" lang="zh-CN" altLang="en-US" sz="3200" b="1" kern="0" dirty="0">
                <a:solidFill>
                  <a:srgbClr val="00FFFF"/>
                </a:solidFill>
                <a:latin typeface="楷体_GB2312" pitchFamily="49" charset="-122"/>
              </a:rPr>
              <a:t>不相关子查询</a:t>
            </a:r>
            <a:endParaRPr kumimoji="1" lang="en-US" altLang="zh-CN" sz="3200" b="1" kern="0" dirty="0">
              <a:solidFill>
                <a:srgbClr val="00FFFF"/>
              </a:solidFill>
              <a:latin typeface="楷体_GB2312" pitchFamily="49" charset="-122"/>
            </a:endParaRPr>
          </a:p>
          <a:p>
            <a:pPr eaLnBrk="1" hangingPunct="1">
              <a:spcAft>
                <a:spcPct val="55000"/>
              </a:spcAft>
              <a:buFont typeface="Arial" pitchFamily="34" charset="0"/>
              <a:buChar char="•"/>
              <a:defRPr/>
            </a:pPr>
            <a:r>
              <a:rPr kumimoji="1" lang="zh-CN" altLang="en-US" sz="3200" kern="0" dirty="0">
                <a:latin typeface="楷体_GB2312" pitchFamily="49" charset="-122"/>
              </a:rPr>
              <a:t>构造子查询的查询条件时要引用父查询表的某个属性列，这种查询称为</a:t>
            </a:r>
            <a:r>
              <a:rPr kumimoji="1" lang="zh-CN" altLang="en-US" sz="3200" b="1" kern="0" dirty="0">
                <a:solidFill>
                  <a:srgbClr val="00FFFF"/>
                </a:solidFill>
                <a:latin typeface="楷体_GB2312" pitchFamily="49" charset="-122"/>
              </a:rPr>
              <a:t>相关子查询</a:t>
            </a:r>
            <a:r>
              <a:rPr kumimoji="1" lang="zh-CN" altLang="en-US" sz="3200" kern="0" dirty="0">
                <a:latin typeface="楷体_GB2312" pitchFamily="49" charset="-122"/>
              </a:rPr>
              <a:t>。</a:t>
            </a:r>
            <a:endParaRPr kumimoji="1" lang="en-US" altLang="zh-CN" sz="3200" b="1" kern="0" dirty="0">
              <a:solidFill>
                <a:srgbClr val="FFFF00"/>
              </a:solidFill>
              <a:latin typeface="Times New Roman" pitchFamily="18" charset="0"/>
              <a:cs typeface="Times New Roman" pitchFamily="18" charset="0"/>
            </a:endParaRPr>
          </a:p>
          <a:p>
            <a:pPr eaLnBrk="1" hangingPunct="1">
              <a:spcAft>
                <a:spcPct val="55000"/>
              </a:spcAft>
              <a:buFont typeface="Arial" pitchFamily="34" charset="0"/>
              <a:buChar char="•"/>
              <a:defRPr/>
            </a:pPr>
            <a:r>
              <a:rPr kumimoji="1" lang="zh-CN" altLang="en-US" sz="3200" kern="0" dirty="0">
                <a:latin typeface="楷体_GB2312" pitchFamily="49" charset="-122"/>
              </a:rPr>
              <a:t>相关子查询是无法独立执行时，因为它必然含有对父查询表中元组分量的引用</a:t>
            </a:r>
            <a:endParaRPr kumimoji="1" lang="en-US" altLang="zh-CN" sz="3200" kern="0" dirty="0">
              <a:latin typeface="楷体_GB2312" pitchFamily="49" charset="-122"/>
            </a:endParaRPr>
          </a:p>
          <a:p>
            <a:pPr eaLnBrk="1" hangingPunct="1">
              <a:spcAft>
                <a:spcPct val="55000"/>
              </a:spcAft>
              <a:buFont typeface="Arial" pitchFamily="34" charset="0"/>
              <a:buChar char="•"/>
              <a:defRPr/>
            </a:pPr>
            <a:r>
              <a:rPr kumimoji="1" lang="zh-CN" altLang="en-US" sz="3200" kern="0" dirty="0">
                <a:latin typeface="楷体_GB2312" pitchFamily="49" charset="-122"/>
              </a:rPr>
              <a:t>最常见的相关子查询是</a:t>
            </a:r>
            <a:r>
              <a:rPr kumimoji="1" lang="en-US" altLang="zh-CN" sz="3200" b="1" kern="0" dirty="0">
                <a:solidFill>
                  <a:srgbClr val="FFFF00"/>
                </a:solidFill>
                <a:latin typeface="Times New Roman" pitchFamily="18" charset="0"/>
                <a:cs typeface="Times New Roman" pitchFamily="18" charset="0"/>
              </a:rPr>
              <a:t>EXISTS</a:t>
            </a:r>
            <a:r>
              <a:rPr kumimoji="1" lang="zh-CN" altLang="en-US" sz="3200" kern="0" dirty="0">
                <a:latin typeface="楷体_GB2312" pitchFamily="49" charset="-122"/>
              </a:rPr>
              <a:t>引导的子查询</a:t>
            </a:r>
            <a:endParaRPr kumimoji="1" lang="en-US" altLang="zh-CN" sz="3200" kern="0" dirty="0">
              <a:latin typeface="楷体_GB2312" pitchFamily="49" charset="-122"/>
            </a:endParaRPr>
          </a:p>
          <a:p>
            <a:pPr eaLnBrk="1" hangingPunct="1">
              <a:spcAft>
                <a:spcPct val="55000"/>
              </a:spcAft>
              <a:buFont typeface="Arial" pitchFamily="34" charset="0"/>
              <a:buChar char="•"/>
              <a:defRPr/>
            </a:pPr>
            <a:r>
              <a:rPr kumimoji="1" lang="en-US" altLang="zh-CN" sz="3200" b="1" kern="0" dirty="0">
                <a:solidFill>
                  <a:srgbClr val="FFFF00"/>
                </a:solidFill>
                <a:latin typeface="Times New Roman" pitchFamily="18" charset="0"/>
                <a:cs typeface="Times New Roman" pitchFamily="18" charset="0"/>
              </a:rPr>
              <a:t>EXISTS</a:t>
            </a:r>
            <a:r>
              <a:rPr kumimoji="1" lang="en-US" altLang="zh-CN" sz="3200" b="1" kern="0" dirty="0">
                <a:latin typeface="楷体_GB2312" pitchFamily="49" charset="-122"/>
              </a:rPr>
              <a:t> </a:t>
            </a:r>
            <a:r>
              <a:rPr kumimoji="1" lang="zh-CN" altLang="en-US" sz="3200" kern="0" dirty="0">
                <a:latin typeface="楷体_GB2312" pitchFamily="49" charset="-122"/>
                <a:sym typeface="Symbol" pitchFamily="18" charset="2"/>
              </a:rPr>
              <a:t>引导的子查询不返回数据，而是</a:t>
            </a:r>
            <a:r>
              <a:rPr kumimoji="1" lang="zh-CN" altLang="en-US" sz="3200" kern="0" dirty="0">
                <a:solidFill>
                  <a:srgbClr val="FFCC00"/>
                </a:solidFill>
                <a:latin typeface="楷体_GB2312" pitchFamily="49" charset="-122"/>
                <a:sym typeface="Symbol" pitchFamily="18" charset="2"/>
              </a:rPr>
              <a:t>返回</a:t>
            </a:r>
            <a:r>
              <a:rPr kumimoji="1" lang="zh-CN" altLang="en-US" sz="3200" kern="0" dirty="0">
                <a:solidFill>
                  <a:srgbClr val="FFCC00"/>
                </a:solidFill>
                <a:latin typeface="楷体_GB2312" pitchFamily="49" charset="-122"/>
              </a:rPr>
              <a:t>是否存在子查询元组的判断</a:t>
            </a:r>
            <a:r>
              <a:rPr kumimoji="1" lang="en-US" altLang="zh-CN" sz="3200" kern="0" dirty="0">
                <a:solidFill>
                  <a:srgbClr val="FFCC00"/>
                </a:solidFill>
                <a:latin typeface="楷体_GB2312" pitchFamily="49" charset="-122"/>
              </a:rPr>
              <a:t>(</a:t>
            </a:r>
            <a:r>
              <a:rPr kumimoji="1" lang="zh-CN" altLang="en-US" sz="3200" kern="0" dirty="0">
                <a:solidFill>
                  <a:srgbClr val="FFCC00"/>
                </a:solidFill>
                <a:latin typeface="楷体_GB2312" pitchFamily="49" charset="-122"/>
              </a:rPr>
              <a:t>真</a:t>
            </a:r>
            <a:r>
              <a:rPr kumimoji="1" lang="en-US" altLang="zh-CN" sz="3200" kern="0" dirty="0">
                <a:solidFill>
                  <a:srgbClr val="FFCC00"/>
                </a:solidFill>
                <a:latin typeface="楷体_GB2312" pitchFamily="49" charset="-122"/>
              </a:rPr>
              <a:t>/</a:t>
            </a:r>
            <a:r>
              <a:rPr kumimoji="1" lang="zh-CN" altLang="en-US" sz="3200" kern="0" dirty="0">
                <a:solidFill>
                  <a:srgbClr val="FFCC00"/>
                </a:solidFill>
                <a:latin typeface="楷体_GB2312" pitchFamily="49" charset="-122"/>
              </a:rPr>
              <a:t>假</a:t>
            </a:r>
            <a:r>
              <a:rPr kumimoji="1" lang="en-US" altLang="zh-CN" sz="3200" kern="0" dirty="0">
                <a:solidFill>
                  <a:srgbClr val="FFCC00"/>
                </a:solidFill>
                <a:latin typeface="楷体_GB2312" pitchFamily="49" charset="-122"/>
              </a:rPr>
              <a:t>)</a:t>
            </a:r>
            <a:r>
              <a:rPr kumimoji="1" lang="zh-CN" altLang="en-US" sz="3200" kern="0" dirty="0">
                <a:latin typeface="楷体_GB2312" pitchFamily="49" charset="-122"/>
              </a:rPr>
              <a:t>，主查询根据该判断来</a:t>
            </a:r>
            <a:r>
              <a:rPr kumimoji="1" lang="zh-CN" altLang="en-US" sz="3200" kern="0" dirty="0">
                <a:solidFill>
                  <a:srgbClr val="FFCC00"/>
                </a:solidFill>
                <a:latin typeface="楷体_GB2312" pitchFamily="49" charset="-122"/>
              </a:rPr>
              <a:t>逐条取舍元组</a:t>
            </a:r>
            <a:r>
              <a:rPr kumimoji="1" lang="zh-CN" altLang="en-US" sz="3200" kern="0" dirty="0">
                <a:latin typeface="楷体_GB2312" pitchFamily="49" charset="-122"/>
              </a:rPr>
              <a:t>。</a:t>
            </a:r>
          </a:p>
        </p:txBody>
      </p:sp>
    </p:spTree>
    <p:extLst>
      <p:ext uri="{BB962C8B-B14F-4D97-AF65-F5344CB8AC3E}">
        <p14:creationId xmlns:p14="http://schemas.microsoft.com/office/powerpoint/2010/main" val="3397715716"/>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176" y="64067"/>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嵌套查询</a:t>
            </a:r>
          </a:p>
        </p:txBody>
      </p:sp>
      <p:sp>
        <p:nvSpPr>
          <p:cNvPr id="3" name="Rectangle 4"/>
          <p:cNvSpPr>
            <a:spLocks noChangeArrowheads="1"/>
          </p:cNvSpPr>
          <p:nvPr/>
        </p:nvSpPr>
        <p:spPr bwMode="auto">
          <a:xfrm>
            <a:off x="695176" y="1096295"/>
            <a:ext cx="7632700" cy="503238"/>
          </a:xfrm>
          <a:prstGeom prst="rect">
            <a:avLst/>
          </a:prstGeom>
          <a:noFill/>
          <a:ln w="9525">
            <a:noFill/>
            <a:miter lim="800000"/>
            <a:headEnd/>
            <a:tailEnd/>
          </a:ln>
          <a:effectLst/>
        </p:spPr>
        <p:txBody>
          <a:bodyPr/>
          <a:lstStyle/>
          <a:p>
            <a:pPr algn="just">
              <a:spcAft>
                <a:spcPct val="80000"/>
              </a:spcAft>
              <a:buClr>
                <a:schemeClr val="tx1"/>
              </a:buClr>
              <a:buSzPct val="85000"/>
              <a:defRPr/>
            </a:pPr>
            <a:r>
              <a:rPr lang="zh-CN" altLang="en-US" sz="3200" dirty="0">
                <a:solidFill>
                  <a:schemeClr val="bg1"/>
                </a:solidFill>
                <a:effectLst>
                  <a:outerShdw blurRad="38100" dist="38100" dir="2700000" algn="tl">
                    <a:srgbClr val="000000"/>
                  </a:outerShdw>
                </a:effectLst>
                <a:latin typeface="Times New Roman" pitchFamily="18" charset="0"/>
              </a:rPr>
              <a:t>查询至少有一门课不及格的学生姓名</a:t>
            </a:r>
            <a:endParaRPr lang="en-US" altLang="zh-CN" sz="3200" dirty="0">
              <a:solidFill>
                <a:schemeClr val="bg1"/>
              </a:solidFill>
              <a:effectLst>
                <a:outerShdw blurRad="38100" dist="38100" dir="2700000" algn="tl">
                  <a:srgbClr val="000000"/>
                </a:outerShdw>
              </a:effectLst>
              <a:latin typeface="Times New Roman" pitchFamily="18" charset="0"/>
            </a:endParaRPr>
          </a:p>
        </p:txBody>
      </p:sp>
      <p:graphicFrame>
        <p:nvGraphicFramePr>
          <p:cNvPr id="4" name="Group 96"/>
          <p:cNvGraphicFramePr>
            <a:graphicFrameLocks noGrp="1"/>
          </p:cNvGraphicFramePr>
          <p:nvPr>
            <p:extLst>
              <p:ext uri="{D42A27DB-BD31-4B8C-83A1-F6EECF244321}">
                <p14:modId xmlns:p14="http://schemas.microsoft.com/office/powerpoint/2010/main" val="1304002823"/>
              </p:ext>
            </p:extLst>
          </p:nvPr>
        </p:nvGraphicFramePr>
        <p:xfrm>
          <a:off x="8542338" y="1019869"/>
          <a:ext cx="3124200" cy="1708770"/>
        </p:xfrm>
        <a:graphic>
          <a:graphicData uri="http://schemas.openxmlformats.org/drawingml/2006/table">
            <a:tbl>
              <a:tblPr/>
              <a:tblGrid>
                <a:gridCol w="712788">
                  <a:extLst>
                    <a:ext uri="{9D8B030D-6E8A-4147-A177-3AD203B41FA5}">
                      <a16:colId xmlns:a16="http://schemas.microsoft.com/office/drawing/2014/main" val="20000"/>
                    </a:ext>
                  </a:extLst>
                </a:gridCol>
                <a:gridCol w="712787">
                  <a:extLst>
                    <a:ext uri="{9D8B030D-6E8A-4147-A177-3AD203B41FA5}">
                      <a16:colId xmlns:a16="http://schemas.microsoft.com/office/drawing/2014/main" val="20001"/>
                    </a:ext>
                  </a:extLst>
                </a:gridCol>
                <a:gridCol w="534988">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gridCol w="611187">
                  <a:extLst>
                    <a:ext uri="{9D8B030D-6E8A-4147-A177-3AD203B41FA5}">
                      <a16:colId xmlns:a16="http://schemas.microsoft.com/office/drawing/2014/main" val="20004"/>
                    </a:ext>
                  </a:extLst>
                </a:gridCol>
              </a:tblGrid>
              <a:tr h="3417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417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17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17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17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Rectangle 51"/>
          <p:cNvSpPr>
            <a:spLocks noChangeArrowheads="1"/>
          </p:cNvSpPr>
          <p:nvPr/>
        </p:nvSpPr>
        <p:spPr bwMode="auto">
          <a:xfrm>
            <a:off x="8039102" y="1019870"/>
            <a:ext cx="330219"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200">
                <a:solidFill>
                  <a:schemeClr val="bg1"/>
                </a:solidFill>
                <a:effectLst>
                  <a:outerShdw blurRad="38100" dist="38100" dir="2700000" algn="tl">
                    <a:srgbClr val="000000"/>
                  </a:outerShdw>
                </a:effectLst>
                <a:latin typeface="Times New Roman" pitchFamily="18" charset="0"/>
              </a:rPr>
              <a:t>ST</a:t>
            </a:r>
          </a:p>
        </p:txBody>
      </p:sp>
      <p:graphicFrame>
        <p:nvGraphicFramePr>
          <p:cNvPr id="7" name="Group 95"/>
          <p:cNvGraphicFramePr>
            <a:graphicFrameLocks noGrp="1"/>
          </p:cNvGraphicFramePr>
          <p:nvPr>
            <p:extLst>
              <p:ext uri="{D42A27DB-BD31-4B8C-83A1-F6EECF244321}">
                <p14:modId xmlns:p14="http://schemas.microsoft.com/office/powerpoint/2010/main" val="544264393"/>
              </p:ext>
            </p:extLst>
          </p:nvPr>
        </p:nvGraphicFramePr>
        <p:xfrm>
          <a:off x="9264352" y="4149080"/>
          <a:ext cx="2305050" cy="2031426"/>
        </p:xfrm>
        <a:graphic>
          <a:graphicData uri="http://schemas.openxmlformats.org/drawingml/2006/table">
            <a:tbl>
              <a:tblPr/>
              <a:tblGrid>
                <a:gridCol w="7620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1009650">
                  <a:extLst>
                    <a:ext uri="{9D8B030D-6E8A-4147-A177-3AD203B41FA5}">
                      <a16:colId xmlns:a16="http://schemas.microsoft.com/office/drawing/2014/main" val="20002"/>
                    </a:ext>
                  </a:extLst>
                </a:gridCol>
              </a:tblGrid>
              <a:tr h="33857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成绩</a:t>
                      </a:r>
                    </a:p>
                  </a:txBody>
                  <a:tcPr marL="0" marR="0" marT="0" marB="0" horzOverflow="overflow">
                    <a:lnL w="12700" cap="flat" cmpd="sng" algn="ctr">
                      <a:solidFill>
                        <a:srgbClr val="FFFFFF"/>
                      </a:solidFill>
                      <a:prstDash val="solid"/>
                      <a:round/>
                      <a:headEnd type="none" w="med" len="med"/>
                      <a:tailEnd type="none" w="med" len="med"/>
                    </a:lnL>
                    <a:lnR>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3857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92</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857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47</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857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88</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57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90</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857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80</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8" name="Rectangle 90"/>
          <p:cNvSpPr>
            <a:spLocks noChangeArrowheads="1"/>
          </p:cNvSpPr>
          <p:nvPr/>
        </p:nvSpPr>
        <p:spPr bwMode="auto">
          <a:xfrm>
            <a:off x="8791277" y="4380280"/>
            <a:ext cx="344646"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200" dirty="0">
                <a:solidFill>
                  <a:schemeClr val="bg1"/>
                </a:solidFill>
                <a:effectLst>
                  <a:outerShdw blurRad="38100" dist="38100" dir="2700000" algn="tl">
                    <a:srgbClr val="000000"/>
                  </a:outerShdw>
                </a:effectLst>
                <a:latin typeface="Times New Roman" pitchFamily="18" charset="0"/>
              </a:rPr>
              <a:t>SC</a:t>
            </a:r>
          </a:p>
        </p:txBody>
      </p:sp>
      <p:sp>
        <p:nvSpPr>
          <p:cNvPr id="9" name="Rectangle 91"/>
          <p:cNvSpPr>
            <a:spLocks noChangeArrowheads="1"/>
          </p:cNvSpPr>
          <p:nvPr/>
        </p:nvSpPr>
        <p:spPr bwMode="auto">
          <a:xfrm>
            <a:off x="717632" y="3363532"/>
            <a:ext cx="7416800" cy="1676400"/>
          </a:xfrm>
          <a:prstGeom prst="rect">
            <a:avLst/>
          </a:prstGeom>
          <a:noFill/>
          <a:ln w="9525">
            <a:noFill/>
            <a:miter lim="800000"/>
            <a:headEnd/>
            <a:tailEnd/>
          </a:ln>
          <a:effectLst/>
        </p:spPr>
        <p:txBody>
          <a:bodyPr/>
          <a:lstStyle/>
          <a:p>
            <a:pPr algn="just">
              <a:spcAft>
                <a:spcPts val="300"/>
              </a:spcAft>
              <a:buClr>
                <a:srgbClr val="FFFFFF"/>
              </a:buClr>
              <a:buSzPct val="85000"/>
              <a:defRPr/>
            </a:pPr>
            <a:r>
              <a:rPr lang="en-US" altLang="zh-CN" sz="3600" kern="0" dirty="0">
                <a:solidFill>
                  <a:srgbClr val="99FF33"/>
                </a:solidFill>
                <a:effectLst>
                  <a:outerShdw blurRad="38100" dist="38100" dir="2700000" algn="tl">
                    <a:srgbClr val="000000"/>
                  </a:outerShdw>
                </a:effectLst>
              </a:rPr>
              <a:t>SELECT </a:t>
            </a:r>
            <a:r>
              <a:rPr lang="zh-CN" altLang="en-US" sz="3600" kern="0" dirty="0">
                <a:solidFill>
                  <a:srgbClr val="99FF33"/>
                </a:solidFill>
                <a:effectLst>
                  <a:outerShdw blurRad="38100" dist="38100" dir="2700000" algn="tl">
                    <a:srgbClr val="000000"/>
                  </a:outerShdw>
                </a:effectLst>
              </a:rPr>
              <a:t>姓名 </a:t>
            </a:r>
            <a:r>
              <a:rPr lang="en-US" altLang="zh-CN" sz="3600" kern="0" dirty="0">
                <a:solidFill>
                  <a:srgbClr val="99FF33"/>
                </a:solidFill>
                <a:effectLst>
                  <a:outerShdw blurRad="38100" dist="38100" dir="2700000" algn="tl">
                    <a:srgbClr val="000000"/>
                  </a:outerShdw>
                </a:effectLst>
              </a:rPr>
              <a:t>FROM ST</a:t>
            </a:r>
          </a:p>
          <a:p>
            <a:pPr algn="just">
              <a:spcAft>
                <a:spcPts val="300"/>
              </a:spcAft>
              <a:buClr>
                <a:srgbClr val="FFFFFF"/>
              </a:buClr>
              <a:buSzPct val="85000"/>
              <a:defRPr/>
            </a:pPr>
            <a:r>
              <a:rPr lang="en-US" altLang="zh-CN" sz="3600" kern="0" dirty="0">
                <a:solidFill>
                  <a:srgbClr val="99FF33"/>
                </a:solidFill>
                <a:effectLst>
                  <a:outerShdw blurRad="38100" dist="38100" dir="2700000" algn="tl">
                    <a:srgbClr val="000000"/>
                  </a:outerShdw>
                </a:effectLst>
              </a:rPr>
              <a:t>WHERE </a:t>
            </a:r>
            <a:r>
              <a:rPr lang="en-US" altLang="zh-CN" sz="3600" kern="0" dirty="0">
                <a:solidFill>
                  <a:srgbClr val="00FFFF"/>
                </a:solidFill>
                <a:effectLst>
                  <a:outerShdw blurRad="38100" dist="38100" dir="2700000" algn="tl">
                    <a:srgbClr val="000000"/>
                  </a:outerShdw>
                </a:effectLst>
              </a:rPr>
              <a:t>EXISTS</a:t>
            </a:r>
          </a:p>
          <a:p>
            <a:pPr algn="just">
              <a:spcAft>
                <a:spcPts val="300"/>
              </a:spcAft>
              <a:buClr>
                <a:srgbClr val="FFFFFF"/>
              </a:buClr>
              <a:buSzPct val="85000"/>
              <a:defRPr/>
            </a:pPr>
            <a:r>
              <a:rPr lang="en-US" altLang="zh-CN" sz="3600" kern="0" dirty="0">
                <a:solidFill>
                  <a:srgbClr val="99FF33"/>
                </a:solidFill>
                <a:effectLst>
                  <a:outerShdw blurRad="38100" dist="38100" dir="2700000" algn="tl">
                    <a:srgbClr val="000000"/>
                  </a:outerShdw>
                </a:effectLst>
              </a:rPr>
              <a:t>  </a:t>
            </a:r>
            <a:r>
              <a:rPr lang="en-US" altLang="zh-CN" sz="3600" kern="0" dirty="0">
                <a:solidFill>
                  <a:srgbClr val="FFCC00"/>
                </a:solidFill>
                <a:effectLst>
                  <a:outerShdw blurRad="38100" dist="38100" dir="2700000" algn="tl">
                    <a:srgbClr val="000000"/>
                  </a:outerShdw>
                </a:effectLst>
              </a:rPr>
              <a:t>(SELECT * FROM SC</a:t>
            </a:r>
          </a:p>
          <a:p>
            <a:pPr algn="just">
              <a:spcAft>
                <a:spcPts val="300"/>
              </a:spcAft>
              <a:buClr>
                <a:srgbClr val="FFFFFF"/>
              </a:buClr>
              <a:buSzPct val="85000"/>
              <a:defRPr/>
            </a:pPr>
            <a:r>
              <a:rPr lang="en-US" altLang="zh-CN" sz="3600" kern="0" dirty="0">
                <a:solidFill>
                  <a:srgbClr val="FFCC00"/>
                </a:solidFill>
                <a:effectLst>
                  <a:outerShdw blurRad="38100" dist="38100" dir="2700000" algn="tl">
                    <a:srgbClr val="000000"/>
                  </a:outerShdw>
                </a:effectLst>
              </a:rPr>
              <a:t>    WHERE SC.</a:t>
            </a:r>
            <a:r>
              <a:rPr lang="zh-CN" altLang="en-US" sz="3600" kern="0" dirty="0">
                <a:solidFill>
                  <a:srgbClr val="FFCC00"/>
                </a:solidFill>
                <a:effectLst>
                  <a:outerShdw blurRad="38100" dist="38100" dir="2700000" algn="tl">
                    <a:srgbClr val="000000"/>
                  </a:outerShdw>
                </a:effectLst>
              </a:rPr>
              <a:t>学号 </a:t>
            </a:r>
            <a:r>
              <a:rPr lang="en-US" altLang="zh-CN" sz="3600" kern="0" dirty="0">
                <a:solidFill>
                  <a:srgbClr val="FFCC00"/>
                </a:solidFill>
                <a:effectLst>
                  <a:outerShdw blurRad="38100" dist="38100" dir="2700000" algn="tl">
                    <a:srgbClr val="000000"/>
                  </a:outerShdw>
                </a:effectLst>
              </a:rPr>
              <a:t>= ST.</a:t>
            </a:r>
            <a:r>
              <a:rPr lang="zh-CN" altLang="en-US" sz="3600" kern="0" dirty="0">
                <a:solidFill>
                  <a:srgbClr val="FFCC00"/>
                </a:solidFill>
                <a:effectLst>
                  <a:outerShdw blurRad="38100" dist="38100" dir="2700000" algn="tl">
                    <a:srgbClr val="000000"/>
                  </a:outerShdw>
                </a:effectLst>
              </a:rPr>
              <a:t>学号</a:t>
            </a:r>
          </a:p>
          <a:p>
            <a:pPr algn="just">
              <a:spcAft>
                <a:spcPts val="300"/>
              </a:spcAft>
              <a:buClr>
                <a:srgbClr val="FFFFFF"/>
              </a:buClr>
              <a:buSzPct val="85000"/>
              <a:defRPr/>
            </a:pPr>
            <a:r>
              <a:rPr lang="en-US" altLang="zh-CN" sz="3600" kern="0" dirty="0">
                <a:solidFill>
                  <a:srgbClr val="FFCC00"/>
                </a:solidFill>
                <a:effectLst>
                  <a:outerShdw blurRad="38100" dist="38100" dir="2700000" algn="tl">
                    <a:srgbClr val="000000"/>
                  </a:outerShdw>
                </a:effectLst>
              </a:rPr>
              <a:t>      AND SC.</a:t>
            </a:r>
            <a:r>
              <a:rPr lang="zh-CN" altLang="en-US" sz="3600" kern="0" dirty="0">
                <a:solidFill>
                  <a:srgbClr val="FFCC00"/>
                </a:solidFill>
                <a:effectLst>
                  <a:outerShdw blurRad="38100" dist="38100" dir="2700000" algn="tl">
                    <a:srgbClr val="000000"/>
                  </a:outerShdw>
                </a:effectLst>
              </a:rPr>
              <a:t>成绩 </a:t>
            </a:r>
            <a:r>
              <a:rPr lang="en-US" altLang="zh-CN" sz="3600" kern="0" dirty="0">
                <a:solidFill>
                  <a:srgbClr val="FFCC00"/>
                </a:solidFill>
                <a:effectLst>
                  <a:outerShdw blurRad="38100" dist="38100" dir="2700000" algn="tl">
                    <a:srgbClr val="000000"/>
                  </a:outerShdw>
                </a:effectLst>
              </a:rPr>
              <a:t>&lt; 60 ) </a:t>
            </a:r>
            <a:endParaRPr lang="zh-CN" altLang="en-US" sz="3600" kern="0" dirty="0">
              <a:solidFill>
                <a:srgbClr val="CCFFCC"/>
              </a:solidFill>
              <a:effectLst>
                <a:outerShdw blurRad="38100" dist="38100" dir="2700000" algn="tl">
                  <a:srgbClr val="000000"/>
                </a:outerShdw>
              </a:effectLst>
              <a:latin typeface="Times New Roman" pitchFamily="18" charset="0"/>
            </a:endParaRPr>
          </a:p>
        </p:txBody>
      </p:sp>
      <p:sp>
        <p:nvSpPr>
          <p:cNvPr id="10" name="AutoShape 92"/>
          <p:cNvSpPr>
            <a:spLocks noChangeArrowheads="1"/>
          </p:cNvSpPr>
          <p:nvPr/>
        </p:nvSpPr>
        <p:spPr bwMode="auto">
          <a:xfrm>
            <a:off x="3124660" y="2149312"/>
            <a:ext cx="3743325" cy="536967"/>
          </a:xfrm>
          <a:prstGeom prst="roundRect">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lIns="0" tIns="36000" rIns="0" bIns="36000" anchor="ctr"/>
          <a:lstStyle/>
          <a:p>
            <a:pPr algn="dist">
              <a:spcAft>
                <a:spcPct val="40000"/>
              </a:spcAft>
              <a:buClr>
                <a:srgbClr val="66FF33"/>
              </a:buClr>
              <a:buSzPct val="85000"/>
              <a:defRPr/>
            </a:pPr>
            <a:r>
              <a:rPr lang="zh-CN" altLang="en-US" sz="2800" kern="0" dirty="0">
                <a:solidFill>
                  <a:srgbClr val="FFFFCC"/>
                </a:solidFill>
                <a:effectLst>
                  <a:outerShdw blurRad="38100" dist="38100" dir="2700000" algn="tl">
                    <a:srgbClr val="000000"/>
                  </a:outerShdw>
                </a:effectLst>
                <a:latin typeface="Arial" charset="0"/>
              </a:rPr>
              <a:t>每一个学生都要做判断</a:t>
            </a:r>
          </a:p>
        </p:txBody>
      </p:sp>
      <p:sp>
        <p:nvSpPr>
          <p:cNvPr id="11" name="AutoShape 93"/>
          <p:cNvSpPr>
            <a:spLocks noChangeArrowheads="1"/>
          </p:cNvSpPr>
          <p:nvPr/>
        </p:nvSpPr>
        <p:spPr bwMode="auto">
          <a:xfrm rot="5400000" flipH="1">
            <a:off x="4228761" y="2843193"/>
            <a:ext cx="541631" cy="312527"/>
          </a:xfrm>
          <a:prstGeom prst="leftArrow">
            <a:avLst>
              <a:gd name="adj1" fmla="val 50000"/>
              <a:gd name="adj2" fmla="val 50278"/>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a:tailEnd/>
          </a:ln>
          <a:effectLst>
            <a:outerShdw dist="53882" dir="2700000" algn="ctr" rotWithShape="0">
              <a:srgbClr val="000514">
                <a:alpha val="50000"/>
              </a:srgbClr>
            </a:outerShdw>
          </a:effectLst>
        </p:spPr>
        <p:txBody>
          <a:bodyPr wrap="square" lIns="36000" tIns="36000" rIns="36000" bIns="36000">
            <a:spAutoFit/>
          </a:bodyPr>
          <a:lstStyle/>
          <a:p>
            <a:pPr>
              <a:defRPr/>
            </a:pPr>
            <a:endParaRPr lang="zh-CN" altLang="en-US" kern="0">
              <a:solidFill>
                <a:sysClr val="windowText" lastClr="000000"/>
              </a:solidFill>
            </a:endParaRPr>
          </a:p>
        </p:txBody>
      </p:sp>
      <p:sp>
        <p:nvSpPr>
          <p:cNvPr id="12" name="AutoShape 94"/>
          <p:cNvSpPr>
            <a:spLocks noChangeArrowheads="1"/>
          </p:cNvSpPr>
          <p:nvPr/>
        </p:nvSpPr>
        <p:spPr bwMode="auto">
          <a:xfrm>
            <a:off x="6524365" y="3900122"/>
            <a:ext cx="1728192" cy="1296987"/>
          </a:xfrm>
          <a:prstGeom prst="wedgeRoundRectCallout">
            <a:avLst>
              <a:gd name="adj1" fmla="val -96555"/>
              <a:gd name="adj2" fmla="val 23050"/>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lIns="0" tIns="36000" rIns="0" bIns="36000" anchor="ctr"/>
          <a:lstStyle/>
          <a:p>
            <a:pPr algn="dist">
              <a:spcAft>
                <a:spcPct val="40000"/>
              </a:spcAft>
              <a:buClr>
                <a:srgbClr val="66FF33"/>
              </a:buClr>
              <a:buSzPct val="85000"/>
              <a:defRPr/>
            </a:pPr>
            <a:r>
              <a:rPr lang="zh-CN" altLang="en-US" sz="2800" kern="0" dirty="0">
                <a:solidFill>
                  <a:srgbClr val="FFFFCC"/>
                </a:solidFill>
                <a:effectLst>
                  <a:outerShdw blurRad="38100" dist="38100" dir="2700000" algn="tl">
                    <a:srgbClr val="000000"/>
                  </a:outerShdw>
                </a:effectLst>
                <a:latin typeface="Arial" charset="0"/>
              </a:rPr>
              <a:t>查询该学生的不及格的课程</a:t>
            </a:r>
          </a:p>
        </p:txBody>
      </p:sp>
    </p:spTree>
    <p:extLst>
      <p:ext uri="{BB962C8B-B14F-4D97-AF65-F5344CB8AC3E}">
        <p14:creationId xmlns:p14="http://schemas.microsoft.com/office/powerpoint/2010/main" val="2485902210"/>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176" y="64067"/>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嵌套查询</a:t>
            </a:r>
          </a:p>
        </p:txBody>
      </p:sp>
      <p:sp>
        <p:nvSpPr>
          <p:cNvPr id="3" name="Rectangle 4"/>
          <p:cNvSpPr>
            <a:spLocks noChangeArrowheads="1"/>
          </p:cNvSpPr>
          <p:nvPr/>
        </p:nvSpPr>
        <p:spPr bwMode="auto">
          <a:xfrm>
            <a:off x="695176" y="1123451"/>
            <a:ext cx="7632700" cy="503238"/>
          </a:xfrm>
          <a:prstGeom prst="rect">
            <a:avLst/>
          </a:prstGeom>
          <a:noFill/>
          <a:ln w="9525">
            <a:noFill/>
            <a:miter lim="800000"/>
            <a:headEnd/>
            <a:tailEnd/>
          </a:ln>
          <a:effectLst/>
        </p:spPr>
        <p:txBody>
          <a:bodyPr/>
          <a:lstStyle/>
          <a:p>
            <a:pPr algn="just">
              <a:spcAft>
                <a:spcPct val="80000"/>
              </a:spcAft>
              <a:buClr>
                <a:schemeClr val="tx1"/>
              </a:buClr>
              <a:buSzPct val="85000"/>
              <a:defRPr/>
            </a:pPr>
            <a:r>
              <a:rPr lang="zh-CN" altLang="en-US" sz="3200" dirty="0">
                <a:solidFill>
                  <a:schemeClr val="bg1"/>
                </a:solidFill>
                <a:effectLst>
                  <a:outerShdw blurRad="38100" dist="38100" dir="2700000" algn="tl">
                    <a:srgbClr val="000000"/>
                  </a:outerShdw>
                </a:effectLst>
                <a:latin typeface="Times New Roman" pitchFamily="18" charset="0"/>
              </a:rPr>
              <a:t>查询所有课程都及格了的学生姓名</a:t>
            </a:r>
          </a:p>
        </p:txBody>
      </p:sp>
      <p:graphicFrame>
        <p:nvGraphicFramePr>
          <p:cNvPr id="4" name="Group 96"/>
          <p:cNvGraphicFramePr>
            <a:graphicFrameLocks noGrp="1"/>
          </p:cNvGraphicFramePr>
          <p:nvPr>
            <p:extLst>
              <p:ext uri="{D42A27DB-BD31-4B8C-83A1-F6EECF244321}">
                <p14:modId xmlns:p14="http://schemas.microsoft.com/office/powerpoint/2010/main" val="1349691362"/>
              </p:ext>
            </p:extLst>
          </p:nvPr>
        </p:nvGraphicFramePr>
        <p:xfrm>
          <a:off x="8542338" y="1019870"/>
          <a:ext cx="3124200" cy="1524000"/>
        </p:xfrm>
        <a:graphic>
          <a:graphicData uri="http://schemas.openxmlformats.org/drawingml/2006/table">
            <a:tbl>
              <a:tblPr/>
              <a:tblGrid>
                <a:gridCol w="712788">
                  <a:extLst>
                    <a:ext uri="{9D8B030D-6E8A-4147-A177-3AD203B41FA5}">
                      <a16:colId xmlns:a16="http://schemas.microsoft.com/office/drawing/2014/main" val="20000"/>
                    </a:ext>
                  </a:extLst>
                </a:gridCol>
                <a:gridCol w="712787">
                  <a:extLst>
                    <a:ext uri="{9D8B030D-6E8A-4147-A177-3AD203B41FA5}">
                      <a16:colId xmlns:a16="http://schemas.microsoft.com/office/drawing/2014/main" val="20001"/>
                    </a:ext>
                  </a:extLst>
                </a:gridCol>
                <a:gridCol w="534988">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gridCol w="611187">
                  <a:extLst>
                    <a:ext uri="{9D8B030D-6E8A-4147-A177-3AD203B41FA5}">
                      <a16:colId xmlns:a16="http://schemas.microsoft.com/office/drawing/2014/main" val="20004"/>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Rectangle 51"/>
          <p:cNvSpPr>
            <a:spLocks noChangeArrowheads="1"/>
          </p:cNvSpPr>
          <p:nvPr/>
        </p:nvSpPr>
        <p:spPr bwMode="auto">
          <a:xfrm>
            <a:off x="8039102" y="1019870"/>
            <a:ext cx="330219"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200" dirty="0">
                <a:solidFill>
                  <a:schemeClr val="bg1"/>
                </a:solidFill>
                <a:effectLst>
                  <a:outerShdw blurRad="38100" dist="38100" dir="2700000" algn="tl">
                    <a:srgbClr val="000000"/>
                  </a:outerShdw>
                </a:effectLst>
                <a:latin typeface="Times New Roman" pitchFamily="18" charset="0"/>
              </a:rPr>
              <a:t>ST</a:t>
            </a:r>
          </a:p>
        </p:txBody>
      </p:sp>
      <p:graphicFrame>
        <p:nvGraphicFramePr>
          <p:cNvPr id="7" name="Group 95"/>
          <p:cNvGraphicFramePr>
            <a:graphicFrameLocks noGrp="1"/>
          </p:cNvGraphicFramePr>
          <p:nvPr>
            <p:extLst>
              <p:ext uri="{D42A27DB-BD31-4B8C-83A1-F6EECF244321}">
                <p14:modId xmlns:p14="http://schemas.microsoft.com/office/powerpoint/2010/main" val="70657582"/>
              </p:ext>
            </p:extLst>
          </p:nvPr>
        </p:nvGraphicFramePr>
        <p:xfrm>
          <a:off x="9264352" y="4351705"/>
          <a:ext cx="2305050" cy="1828800"/>
        </p:xfrm>
        <a:graphic>
          <a:graphicData uri="http://schemas.openxmlformats.org/drawingml/2006/table">
            <a:tbl>
              <a:tblPr/>
              <a:tblGrid>
                <a:gridCol w="7620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1009650">
                  <a:extLst>
                    <a:ext uri="{9D8B030D-6E8A-4147-A177-3AD203B41FA5}">
                      <a16:colId xmlns:a16="http://schemas.microsoft.com/office/drawing/2014/main" val="20002"/>
                    </a:ext>
                  </a:extLst>
                </a:gridCol>
              </a:tblGrid>
              <a:tr h="26828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成绩</a:t>
                      </a:r>
                    </a:p>
                  </a:txBody>
                  <a:tcPr marL="0" marR="0" marT="0" marB="0" horzOverflow="overflow">
                    <a:lnL w="12700" cap="flat" cmpd="sng" algn="ctr">
                      <a:solidFill>
                        <a:srgbClr val="FFFFFF"/>
                      </a:solidFill>
                      <a:prstDash val="solid"/>
                      <a:round/>
                      <a:headEnd type="none" w="med" len="med"/>
                      <a:tailEnd type="none" w="med" len="med"/>
                    </a:lnL>
                    <a:lnR>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987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92</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828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47</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828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88</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987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90</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828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80</a:t>
                      </a:r>
                    </a:p>
                  </a:txBody>
                  <a:tcPr marL="0" marR="0" marT="0" marB="0" horzOverflow="overflow">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8" name="Rectangle 90"/>
          <p:cNvSpPr>
            <a:spLocks noChangeArrowheads="1"/>
          </p:cNvSpPr>
          <p:nvPr/>
        </p:nvSpPr>
        <p:spPr bwMode="auto">
          <a:xfrm>
            <a:off x="8791277" y="4380280"/>
            <a:ext cx="344646"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200" dirty="0">
                <a:solidFill>
                  <a:schemeClr val="bg1"/>
                </a:solidFill>
                <a:effectLst>
                  <a:outerShdw blurRad="38100" dist="38100" dir="2700000" algn="tl">
                    <a:srgbClr val="000000"/>
                  </a:outerShdw>
                </a:effectLst>
                <a:latin typeface="Times New Roman" pitchFamily="18" charset="0"/>
              </a:rPr>
              <a:t>SC</a:t>
            </a:r>
          </a:p>
        </p:txBody>
      </p:sp>
      <p:sp>
        <p:nvSpPr>
          <p:cNvPr id="13" name="Rectangle 91"/>
          <p:cNvSpPr>
            <a:spLocks noChangeArrowheads="1"/>
          </p:cNvSpPr>
          <p:nvPr/>
        </p:nvSpPr>
        <p:spPr bwMode="auto">
          <a:xfrm>
            <a:off x="695176" y="3284984"/>
            <a:ext cx="7416800" cy="1676400"/>
          </a:xfrm>
          <a:prstGeom prst="rect">
            <a:avLst/>
          </a:prstGeom>
          <a:noFill/>
          <a:ln w="9525">
            <a:noFill/>
            <a:miter lim="800000"/>
            <a:headEnd/>
            <a:tailEnd/>
          </a:ln>
          <a:effectLst/>
        </p:spPr>
        <p:txBody>
          <a:bodyPr/>
          <a:lstStyle/>
          <a:p>
            <a:pPr algn="just">
              <a:spcAft>
                <a:spcPct val="10000"/>
              </a:spcAft>
              <a:buClr>
                <a:srgbClr val="FFFFFF"/>
              </a:buClr>
              <a:buSzPct val="85000"/>
              <a:defRPr/>
            </a:pPr>
            <a:r>
              <a:rPr lang="en-US" altLang="zh-CN" sz="3600" kern="0" dirty="0">
                <a:solidFill>
                  <a:srgbClr val="99FF33"/>
                </a:solidFill>
                <a:effectLst>
                  <a:outerShdw blurRad="38100" dist="38100" dir="2700000" algn="tl">
                    <a:srgbClr val="000000"/>
                  </a:outerShdw>
                </a:effectLst>
              </a:rPr>
              <a:t>SELECT </a:t>
            </a:r>
            <a:r>
              <a:rPr lang="zh-CN" altLang="en-US" sz="3600" kern="0" dirty="0">
                <a:solidFill>
                  <a:srgbClr val="99FF33"/>
                </a:solidFill>
                <a:effectLst>
                  <a:outerShdw blurRad="38100" dist="38100" dir="2700000" algn="tl">
                    <a:srgbClr val="000000"/>
                  </a:outerShdw>
                </a:effectLst>
              </a:rPr>
              <a:t>姓名 </a:t>
            </a:r>
            <a:r>
              <a:rPr lang="en-US" altLang="zh-CN" sz="3600" kern="0" dirty="0">
                <a:solidFill>
                  <a:srgbClr val="99FF33"/>
                </a:solidFill>
                <a:effectLst>
                  <a:outerShdw blurRad="38100" dist="38100" dir="2700000" algn="tl">
                    <a:srgbClr val="000000"/>
                  </a:outerShdw>
                </a:effectLst>
              </a:rPr>
              <a:t>FROM ST</a:t>
            </a:r>
          </a:p>
          <a:p>
            <a:pPr algn="just">
              <a:spcAft>
                <a:spcPct val="10000"/>
              </a:spcAft>
              <a:buClr>
                <a:srgbClr val="FFFFFF"/>
              </a:buClr>
              <a:buSzPct val="85000"/>
              <a:defRPr/>
            </a:pPr>
            <a:r>
              <a:rPr lang="en-US" altLang="zh-CN" sz="3600" kern="0" dirty="0">
                <a:solidFill>
                  <a:srgbClr val="99FF33"/>
                </a:solidFill>
                <a:effectLst>
                  <a:outerShdw blurRad="38100" dist="38100" dir="2700000" algn="tl">
                    <a:srgbClr val="000000"/>
                  </a:outerShdw>
                </a:effectLst>
              </a:rPr>
              <a:t>WHERE </a:t>
            </a:r>
            <a:r>
              <a:rPr lang="en-US" altLang="zh-CN" sz="3600" kern="0" dirty="0">
                <a:solidFill>
                  <a:srgbClr val="00FFFF"/>
                </a:solidFill>
                <a:effectLst>
                  <a:outerShdw blurRad="38100" dist="38100" dir="2700000" algn="tl">
                    <a:srgbClr val="000000"/>
                  </a:outerShdw>
                </a:effectLst>
              </a:rPr>
              <a:t>NOT EXISTS</a:t>
            </a:r>
          </a:p>
          <a:p>
            <a:pPr algn="just">
              <a:spcAft>
                <a:spcPct val="10000"/>
              </a:spcAft>
              <a:buClr>
                <a:srgbClr val="FFFFFF"/>
              </a:buClr>
              <a:buSzPct val="85000"/>
              <a:defRPr/>
            </a:pPr>
            <a:r>
              <a:rPr lang="en-US" altLang="zh-CN" sz="3600" kern="0" dirty="0">
                <a:solidFill>
                  <a:srgbClr val="99FF33"/>
                </a:solidFill>
                <a:effectLst>
                  <a:outerShdw blurRad="38100" dist="38100" dir="2700000" algn="tl">
                    <a:srgbClr val="000000"/>
                  </a:outerShdw>
                </a:effectLst>
              </a:rPr>
              <a:t>  </a:t>
            </a:r>
            <a:r>
              <a:rPr lang="en-US" altLang="zh-CN" sz="3600" kern="0" dirty="0">
                <a:solidFill>
                  <a:srgbClr val="FFCC00"/>
                </a:solidFill>
                <a:effectLst>
                  <a:outerShdw blurRad="38100" dist="38100" dir="2700000" algn="tl">
                    <a:srgbClr val="000000"/>
                  </a:outerShdw>
                </a:effectLst>
              </a:rPr>
              <a:t>(SELECT * FROM SC</a:t>
            </a:r>
          </a:p>
          <a:p>
            <a:pPr algn="just">
              <a:spcAft>
                <a:spcPct val="10000"/>
              </a:spcAft>
              <a:buClr>
                <a:srgbClr val="FFFFFF"/>
              </a:buClr>
              <a:buSzPct val="85000"/>
              <a:defRPr/>
            </a:pPr>
            <a:r>
              <a:rPr lang="en-US" altLang="zh-CN" sz="3600" kern="0" dirty="0">
                <a:solidFill>
                  <a:srgbClr val="FFCC00"/>
                </a:solidFill>
                <a:effectLst>
                  <a:outerShdw blurRad="38100" dist="38100" dir="2700000" algn="tl">
                    <a:srgbClr val="000000"/>
                  </a:outerShdw>
                </a:effectLst>
              </a:rPr>
              <a:t>   WHERE SC.</a:t>
            </a:r>
            <a:r>
              <a:rPr lang="zh-CN" altLang="en-US" sz="3600" kern="0" dirty="0">
                <a:solidFill>
                  <a:srgbClr val="FFCC00"/>
                </a:solidFill>
                <a:effectLst>
                  <a:outerShdw blurRad="38100" dist="38100" dir="2700000" algn="tl">
                    <a:srgbClr val="000000"/>
                  </a:outerShdw>
                </a:effectLst>
              </a:rPr>
              <a:t>学号 </a:t>
            </a:r>
            <a:r>
              <a:rPr lang="en-US" altLang="zh-CN" sz="3600" kern="0" dirty="0">
                <a:solidFill>
                  <a:srgbClr val="FFCC00"/>
                </a:solidFill>
                <a:effectLst>
                  <a:outerShdw blurRad="38100" dist="38100" dir="2700000" algn="tl">
                    <a:srgbClr val="000000"/>
                  </a:outerShdw>
                </a:effectLst>
              </a:rPr>
              <a:t>= ST.</a:t>
            </a:r>
            <a:r>
              <a:rPr lang="zh-CN" altLang="en-US" sz="3600" kern="0" dirty="0">
                <a:solidFill>
                  <a:srgbClr val="FFCC00"/>
                </a:solidFill>
                <a:effectLst>
                  <a:outerShdw blurRad="38100" dist="38100" dir="2700000" algn="tl">
                    <a:srgbClr val="000000"/>
                  </a:outerShdw>
                </a:effectLst>
              </a:rPr>
              <a:t>学号</a:t>
            </a:r>
          </a:p>
          <a:p>
            <a:pPr algn="just">
              <a:spcAft>
                <a:spcPct val="10000"/>
              </a:spcAft>
              <a:buClr>
                <a:srgbClr val="FFFFFF"/>
              </a:buClr>
              <a:buSzPct val="85000"/>
              <a:defRPr/>
            </a:pPr>
            <a:r>
              <a:rPr lang="en-US" altLang="zh-CN" sz="3600" kern="0" dirty="0">
                <a:solidFill>
                  <a:srgbClr val="FFCC00"/>
                </a:solidFill>
                <a:effectLst>
                  <a:outerShdw blurRad="38100" dist="38100" dir="2700000" algn="tl">
                    <a:srgbClr val="000000"/>
                  </a:outerShdw>
                </a:effectLst>
              </a:rPr>
              <a:t>     AND SC.</a:t>
            </a:r>
            <a:r>
              <a:rPr lang="zh-CN" altLang="en-US" sz="3600" kern="0" dirty="0">
                <a:solidFill>
                  <a:srgbClr val="FFCC00"/>
                </a:solidFill>
                <a:effectLst>
                  <a:outerShdw blurRad="38100" dist="38100" dir="2700000" algn="tl">
                    <a:srgbClr val="000000"/>
                  </a:outerShdw>
                </a:effectLst>
              </a:rPr>
              <a:t>成绩 </a:t>
            </a:r>
            <a:r>
              <a:rPr lang="en-US" altLang="zh-CN" sz="3600" kern="0" dirty="0">
                <a:solidFill>
                  <a:srgbClr val="FFCC00"/>
                </a:solidFill>
                <a:effectLst>
                  <a:outerShdw blurRad="38100" dist="38100" dir="2700000" algn="tl">
                    <a:srgbClr val="000000"/>
                  </a:outerShdw>
                </a:effectLst>
              </a:rPr>
              <a:t>&lt; 60) </a:t>
            </a:r>
            <a:endParaRPr lang="zh-CN" altLang="en-US" sz="3600" kern="0" dirty="0">
              <a:solidFill>
                <a:srgbClr val="CCFFCC"/>
              </a:solidFill>
              <a:effectLst>
                <a:outerShdw blurRad="38100" dist="38100" dir="2700000" algn="tl">
                  <a:srgbClr val="000000"/>
                </a:outerShdw>
              </a:effectLst>
              <a:latin typeface="Times New Roman" pitchFamily="18" charset="0"/>
            </a:endParaRPr>
          </a:p>
        </p:txBody>
      </p:sp>
      <p:sp>
        <p:nvSpPr>
          <p:cNvPr id="14" name="AutoShape 92"/>
          <p:cNvSpPr>
            <a:spLocks noChangeArrowheads="1"/>
          </p:cNvSpPr>
          <p:nvPr/>
        </p:nvSpPr>
        <p:spPr bwMode="auto">
          <a:xfrm>
            <a:off x="5375920" y="2132856"/>
            <a:ext cx="2374378" cy="1728439"/>
          </a:xfrm>
          <a:prstGeom prst="wedgeRoundRectCallout">
            <a:avLst>
              <a:gd name="adj1" fmla="val -55805"/>
              <a:gd name="adj2" fmla="val 81755"/>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lIns="0" tIns="36000" rIns="0" bIns="36000" anchor="ctr"/>
          <a:lstStyle/>
          <a:p>
            <a:pPr algn="dist">
              <a:spcAft>
                <a:spcPct val="40000"/>
              </a:spcAft>
              <a:buClr>
                <a:srgbClr val="66FF33"/>
              </a:buClr>
              <a:buSzPct val="85000"/>
              <a:defRPr/>
            </a:pPr>
            <a:r>
              <a:rPr lang="zh-CN" altLang="en-US" sz="2800" kern="0" dirty="0">
                <a:solidFill>
                  <a:srgbClr val="FFFFCC"/>
                </a:solidFill>
                <a:effectLst>
                  <a:outerShdw blurRad="38100" dist="38100" dir="2700000" algn="tl">
                    <a:srgbClr val="000000"/>
                  </a:outerShdw>
                </a:effectLst>
                <a:latin typeface="Arial" charset="0"/>
              </a:rPr>
              <a:t>其实就是不存在该学生的不及格的课程</a:t>
            </a:r>
          </a:p>
        </p:txBody>
      </p:sp>
    </p:spTree>
    <p:extLst>
      <p:ext uri="{BB962C8B-B14F-4D97-AF65-F5344CB8AC3E}">
        <p14:creationId xmlns:p14="http://schemas.microsoft.com/office/powerpoint/2010/main" val="3622749554"/>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3123" name="Rectangle 3">
            <a:extLst>
              <a:ext uri="{FF2B5EF4-FFF2-40B4-BE49-F238E27FC236}">
                <a16:creationId xmlns:a16="http://schemas.microsoft.com/office/drawing/2014/main" id="{E9BAD82A-E218-45F9-AA0D-F59E658EF9F6}"/>
              </a:ext>
            </a:extLst>
          </p:cNvPr>
          <p:cNvSpPr>
            <a:spLocks noGrp="1" noChangeArrowheads="1"/>
          </p:cNvSpPr>
          <p:nvPr>
            <p:ph type="body" idx="4294967295"/>
          </p:nvPr>
        </p:nvSpPr>
        <p:spPr>
          <a:xfrm>
            <a:off x="1343472" y="404664"/>
            <a:ext cx="10009112" cy="5760640"/>
          </a:xfrm>
        </p:spPr>
        <p:txBody>
          <a:bodyPr>
            <a:normAutofit fontScale="92500"/>
          </a:bodyPr>
          <a:lstStyle/>
          <a:p>
            <a:pPr>
              <a:lnSpc>
                <a:spcPct val="150000"/>
              </a:lnSpc>
            </a:pPr>
            <a:r>
              <a:rPr lang="zh-CN" altLang="en-US" sz="2400" dirty="0"/>
              <a:t>例查询讲授课程号为</a:t>
            </a:r>
            <a:r>
              <a:rPr lang="en-US" altLang="zh-CN" sz="2400" dirty="0"/>
              <a:t>c5</a:t>
            </a:r>
            <a:r>
              <a:rPr lang="zh-CN" altLang="en-US" sz="2400" dirty="0"/>
              <a:t>的教师姓名。 </a:t>
            </a:r>
          </a:p>
          <a:p>
            <a:pPr>
              <a:lnSpc>
                <a:spcPct val="150000"/>
              </a:lnSpc>
              <a:buFontTx/>
              <a:buNone/>
            </a:pPr>
            <a:r>
              <a:rPr lang="en-US" altLang="zh-CN" sz="2400" dirty="0"/>
              <a:t>SELECT </a:t>
            </a:r>
            <a:r>
              <a:rPr lang="en-US" altLang="zh-CN" sz="2400" dirty="0" err="1"/>
              <a:t>tn</a:t>
            </a:r>
            <a:endParaRPr lang="en-US" altLang="zh-CN" sz="2400" dirty="0"/>
          </a:p>
          <a:p>
            <a:pPr>
              <a:lnSpc>
                <a:spcPct val="150000"/>
              </a:lnSpc>
              <a:buFontTx/>
              <a:buNone/>
            </a:pPr>
            <a:r>
              <a:rPr lang="en-US" altLang="zh-CN" sz="2400" dirty="0"/>
              <a:t>FROM teacher</a:t>
            </a:r>
          </a:p>
          <a:p>
            <a:pPr>
              <a:lnSpc>
                <a:spcPct val="150000"/>
              </a:lnSpc>
              <a:buFontTx/>
              <a:buNone/>
            </a:pPr>
            <a:r>
              <a:rPr lang="en-US" altLang="zh-CN" sz="2400" dirty="0"/>
              <a:t>WHERE EXISTS</a:t>
            </a:r>
          </a:p>
          <a:p>
            <a:pPr>
              <a:lnSpc>
                <a:spcPct val="150000"/>
              </a:lnSpc>
              <a:buFontTx/>
              <a:buNone/>
            </a:pPr>
            <a:r>
              <a:rPr lang="en-US" altLang="zh-CN" sz="2400" dirty="0"/>
              <a:t>         (SELECT * </a:t>
            </a:r>
          </a:p>
          <a:p>
            <a:pPr>
              <a:lnSpc>
                <a:spcPct val="150000"/>
              </a:lnSpc>
              <a:buFontTx/>
              <a:buNone/>
            </a:pPr>
            <a:r>
              <a:rPr lang="en-US" altLang="zh-CN" sz="2400" dirty="0"/>
              <a:t>           FROM </a:t>
            </a:r>
            <a:r>
              <a:rPr lang="en-US" altLang="zh-CN" sz="2400" dirty="0" err="1"/>
              <a:t>tc</a:t>
            </a:r>
            <a:endParaRPr lang="en-US" altLang="zh-CN" sz="2400" dirty="0"/>
          </a:p>
          <a:p>
            <a:pPr>
              <a:lnSpc>
                <a:spcPct val="150000"/>
              </a:lnSpc>
              <a:buFontTx/>
              <a:buNone/>
            </a:pPr>
            <a:r>
              <a:rPr lang="en-US" altLang="zh-CN" sz="2400" dirty="0"/>
              <a:t>          WHERE </a:t>
            </a:r>
            <a:r>
              <a:rPr lang="en-US" altLang="zh-CN" sz="2400" dirty="0" err="1"/>
              <a:t>tno</a:t>
            </a:r>
            <a:r>
              <a:rPr lang="en-US" altLang="zh-CN" sz="2400" dirty="0"/>
              <a:t>=</a:t>
            </a:r>
            <a:r>
              <a:rPr lang="en-US" altLang="zh-CN" sz="2400" dirty="0" err="1"/>
              <a:t>teacher.tno</a:t>
            </a:r>
            <a:endParaRPr lang="en-US" altLang="zh-CN" sz="2400" dirty="0"/>
          </a:p>
          <a:p>
            <a:pPr>
              <a:lnSpc>
                <a:spcPct val="150000"/>
              </a:lnSpc>
              <a:buFontTx/>
              <a:buNone/>
            </a:pPr>
            <a:r>
              <a:rPr lang="en-US" altLang="zh-CN" sz="2400" dirty="0"/>
              <a:t>and </a:t>
            </a:r>
            <a:r>
              <a:rPr lang="en-US" altLang="zh-CN" sz="2400" dirty="0" err="1"/>
              <a:t>cno</a:t>
            </a:r>
            <a:r>
              <a:rPr lang="en-US" altLang="zh-CN" sz="2400" dirty="0"/>
              <a:t>='c5');</a:t>
            </a:r>
          </a:p>
          <a:p>
            <a:pPr>
              <a:lnSpc>
                <a:spcPct val="150000"/>
              </a:lnSpc>
            </a:pPr>
            <a:r>
              <a:rPr lang="zh-CN" altLang="en-US" sz="2400" dirty="0"/>
              <a:t>当子查询</a:t>
            </a:r>
            <a:r>
              <a:rPr lang="en-US" altLang="zh-CN" sz="2400" dirty="0" err="1"/>
              <a:t>tc</a:t>
            </a:r>
            <a:r>
              <a:rPr lang="zh-CN" altLang="en-US" sz="2400" dirty="0"/>
              <a:t>表存在一行记录满足其</a:t>
            </a:r>
            <a:r>
              <a:rPr lang="en-US" altLang="zh-CN" sz="2400" dirty="0"/>
              <a:t>WHERE</a:t>
            </a:r>
            <a:r>
              <a:rPr lang="zh-CN" altLang="en-US" sz="2400" dirty="0"/>
              <a:t>子句中的条件时，则父查询便得到一个</a:t>
            </a:r>
            <a:r>
              <a:rPr lang="en-US" altLang="zh-CN" sz="2400" dirty="0" err="1"/>
              <a:t>tn</a:t>
            </a:r>
            <a:r>
              <a:rPr lang="zh-CN" altLang="en-US" sz="2400" dirty="0"/>
              <a:t>值，重复执行以上过程，直到得出最后结果。</a:t>
            </a:r>
          </a:p>
          <a:p>
            <a:pPr>
              <a:lnSpc>
                <a:spcPct val="150000"/>
              </a:lnSpc>
            </a:pPr>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内容占位符 2">
            <a:extLst>
              <a:ext uri="{FF2B5EF4-FFF2-40B4-BE49-F238E27FC236}">
                <a16:creationId xmlns:a16="http://schemas.microsoft.com/office/drawing/2014/main" id="{5B471F3B-F24A-467E-A8F2-CC27C8F80689}"/>
              </a:ext>
            </a:extLst>
          </p:cNvPr>
          <p:cNvSpPr>
            <a:spLocks noGrp="1" noChangeArrowheads="1"/>
          </p:cNvSpPr>
          <p:nvPr>
            <p:ph idx="1"/>
          </p:nvPr>
        </p:nvSpPr>
        <p:spPr>
          <a:xfrm>
            <a:off x="1199456" y="908720"/>
            <a:ext cx="9451776" cy="4495800"/>
          </a:xfrm>
        </p:spPr>
        <p:txBody>
          <a:bodyPr>
            <a:normAutofit fontScale="77500" lnSpcReduction="20000"/>
          </a:bodyPr>
          <a:lstStyle/>
          <a:p>
            <a:pPr marL="0" indent="0">
              <a:lnSpc>
                <a:spcPct val="160000"/>
              </a:lnSpc>
              <a:buNone/>
            </a:pPr>
            <a:r>
              <a:rPr lang="zh-CN" altLang="en-US" dirty="0">
                <a:solidFill>
                  <a:schemeClr val="bg2"/>
                </a:solidFill>
                <a:latin typeface="微软雅黑" panose="020B0503020204020204" pitchFamily="34" charset="-122"/>
                <a:ea typeface="微软雅黑" panose="020B0503020204020204" pitchFamily="34" charset="-122"/>
              </a:rPr>
              <a:t>结论：</a:t>
            </a:r>
          </a:p>
          <a:p>
            <a:pPr marL="0" indent="0">
              <a:lnSpc>
                <a:spcPct val="160000"/>
              </a:lnSpc>
              <a:buNone/>
            </a:pPr>
            <a:r>
              <a:rPr lang="en-US" altLang="zh-CN" dirty="0">
                <a:solidFill>
                  <a:schemeClr val="bg2"/>
                </a:solidFill>
                <a:latin typeface="微软雅黑" panose="020B0503020204020204" pitchFamily="34" charset="-122"/>
                <a:ea typeface="微软雅黑" panose="020B0503020204020204" pitchFamily="34" charset="-122"/>
              </a:rPr>
              <a:t>EXISTS(</a:t>
            </a:r>
            <a:r>
              <a:rPr lang="zh-CN" altLang="en-US" dirty="0">
                <a:solidFill>
                  <a:schemeClr val="bg2"/>
                </a:solidFill>
                <a:latin typeface="微软雅黑" panose="020B0503020204020204" pitchFamily="34" charset="-122"/>
                <a:ea typeface="微软雅黑" panose="020B0503020204020204" pitchFamily="34" charset="-122"/>
              </a:rPr>
              <a:t>包括 </a:t>
            </a:r>
            <a:r>
              <a:rPr lang="en-US" altLang="zh-CN" dirty="0">
                <a:solidFill>
                  <a:schemeClr val="bg2"/>
                </a:solidFill>
                <a:latin typeface="微软雅黑" panose="020B0503020204020204" pitchFamily="34" charset="-122"/>
                <a:ea typeface="微软雅黑" panose="020B0503020204020204" pitchFamily="34" charset="-122"/>
              </a:rPr>
              <a:t>NOT EXISTS )</a:t>
            </a:r>
            <a:r>
              <a:rPr lang="zh-CN" altLang="en-US" dirty="0">
                <a:solidFill>
                  <a:schemeClr val="bg2"/>
                </a:solidFill>
                <a:latin typeface="微软雅黑" panose="020B0503020204020204" pitchFamily="34" charset="-122"/>
                <a:ea typeface="微软雅黑" panose="020B0503020204020204" pitchFamily="34" charset="-122"/>
              </a:rPr>
              <a:t>子句的返回值是一个</a:t>
            </a:r>
            <a:r>
              <a:rPr lang="en-US" altLang="zh-CN" dirty="0">
                <a:solidFill>
                  <a:schemeClr val="bg2"/>
                </a:solidFill>
                <a:latin typeface="微软雅黑" panose="020B0503020204020204" pitchFamily="34" charset="-122"/>
                <a:ea typeface="微软雅黑" panose="020B0503020204020204" pitchFamily="34" charset="-122"/>
              </a:rPr>
              <a:t>BOOL</a:t>
            </a:r>
            <a:r>
              <a:rPr lang="zh-CN" altLang="en-US" dirty="0">
                <a:solidFill>
                  <a:schemeClr val="bg2"/>
                </a:solidFill>
                <a:latin typeface="微软雅黑" panose="020B0503020204020204" pitchFamily="34" charset="-122"/>
                <a:ea typeface="微软雅黑" panose="020B0503020204020204" pitchFamily="34" charset="-122"/>
              </a:rPr>
              <a:t>值。 </a:t>
            </a:r>
            <a:r>
              <a:rPr lang="en-US" altLang="zh-CN" dirty="0">
                <a:solidFill>
                  <a:schemeClr val="bg2"/>
                </a:solidFill>
                <a:latin typeface="微软雅黑" panose="020B0503020204020204" pitchFamily="34" charset="-122"/>
                <a:ea typeface="微软雅黑" panose="020B0503020204020204" pitchFamily="34" charset="-122"/>
              </a:rPr>
              <a:t>EXISTS</a:t>
            </a:r>
            <a:r>
              <a:rPr lang="zh-CN" altLang="en-US" dirty="0">
                <a:solidFill>
                  <a:schemeClr val="bg2"/>
                </a:solidFill>
                <a:latin typeface="微软雅黑" panose="020B0503020204020204" pitchFamily="34" charset="-122"/>
                <a:ea typeface="微软雅黑" panose="020B0503020204020204" pitchFamily="34" charset="-122"/>
              </a:rPr>
              <a:t>内部有一个子查询语句</a:t>
            </a:r>
            <a:r>
              <a:rPr lang="en-US" altLang="zh-CN" dirty="0">
                <a:solidFill>
                  <a:schemeClr val="bg2"/>
                </a:solidFill>
                <a:latin typeface="微软雅黑" panose="020B0503020204020204" pitchFamily="34" charset="-122"/>
                <a:ea typeface="微软雅黑" panose="020B0503020204020204" pitchFamily="34" charset="-122"/>
              </a:rPr>
              <a:t>(SELECT ... FROM...)</a:t>
            </a:r>
            <a:r>
              <a:rPr lang="zh-CN" altLang="en-US" dirty="0">
                <a:solidFill>
                  <a:schemeClr val="bg2"/>
                </a:solidFill>
                <a:latin typeface="微软雅黑" panose="020B0503020204020204" pitchFamily="34" charset="-122"/>
                <a:ea typeface="微软雅黑" panose="020B0503020204020204" pitchFamily="34" charset="-122"/>
              </a:rPr>
              <a:t>， 我将其称为</a:t>
            </a:r>
            <a:r>
              <a:rPr lang="en-US" altLang="zh-CN" dirty="0">
                <a:solidFill>
                  <a:schemeClr val="bg2"/>
                </a:solidFill>
                <a:latin typeface="微软雅黑" panose="020B0503020204020204" pitchFamily="34" charset="-122"/>
                <a:ea typeface="微软雅黑" panose="020B0503020204020204" pitchFamily="34" charset="-122"/>
              </a:rPr>
              <a:t>EXIST</a:t>
            </a:r>
            <a:r>
              <a:rPr lang="zh-CN" altLang="en-US" dirty="0">
                <a:solidFill>
                  <a:schemeClr val="bg2"/>
                </a:solidFill>
                <a:latin typeface="微软雅黑" panose="020B0503020204020204" pitchFamily="34" charset="-122"/>
                <a:ea typeface="微软雅黑" panose="020B0503020204020204" pitchFamily="34" charset="-122"/>
              </a:rPr>
              <a:t>的</a:t>
            </a:r>
            <a:r>
              <a:rPr lang="zh-CN" altLang="en-US" dirty="0">
                <a:solidFill>
                  <a:srgbClr val="FF0000"/>
                </a:solidFill>
                <a:latin typeface="微软雅黑" panose="020B0503020204020204" pitchFamily="34" charset="-122"/>
                <a:ea typeface="微软雅黑" panose="020B0503020204020204" pitchFamily="34" charset="-122"/>
              </a:rPr>
              <a:t>内查询语</a:t>
            </a:r>
            <a:r>
              <a:rPr lang="zh-CN" altLang="en-US" dirty="0">
                <a:solidFill>
                  <a:schemeClr val="bg2"/>
                </a:solidFill>
                <a:latin typeface="微软雅黑" panose="020B0503020204020204" pitchFamily="34" charset="-122"/>
                <a:ea typeface="微软雅黑" panose="020B0503020204020204" pitchFamily="34" charset="-122"/>
              </a:rPr>
              <a:t>句。其内查询语句返回一个结果集。 </a:t>
            </a:r>
            <a:r>
              <a:rPr lang="en-US" altLang="zh-CN" dirty="0">
                <a:solidFill>
                  <a:schemeClr val="bg2"/>
                </a:solidFill>
                <a:latin typeface="微软雅黑" panose="020B0503020204020204" pitchFamily="34" charset="-122"/>
                <a:ea typeface="微软雅黑" panose="020B0503020204020204" pitchFamily="34" charset="-122"/>
              </a:rPr>
              <a:t>EXISTS</a:t>
            </a:r>
            <a:r>
              <a:rPr lang="zh-CN" altLang="en-US" dirty="0">
                <a:solidFill>
                  <a:schemeClr val="bg2"/>
                </a:solidFill>
                <a:latin typeface="微软雅黑" panose="020B0503020204020204" pitchFamily="34" charset="-122"/>
                <a:ea typeface="微软雅黑" panose="020B0503020204020204" pitchFamily="34" charset="-122"/>
              </a:rPr>
              <a:t>子句根据其内查询语句的</a:t>
            </a:r>
            <a:r>
              <a:rPr lang="zh-CN" altLang="en-US" dirty="0">
                <a:solidFill>
                  <a:srgbClr val="FF0000"/>
                </a:solidFill>
                <a:latin typeface="微软雅黑" panose="020B0503020204020204" pitchFamily="34" charset="-122"/>
                <a:ea typeface="微软雅黑" panose="020B0503020204020204" pitchFamily="34" charset="-122"/>
              </a:rPr>
              <a:t>结果集空或者非空，返回一个布尔值</a:t>
            </a:r>
            <a:r>
              <a:rPr lang="zh-CN" altLang="en-US" dirty="0">
                <a:solidFill>
                  <a:schemeClr val="bg2"/>
                </a:solidFill>
                <a:latin typeface="微软雅黑" panose="020B0503020204020204" pitchFamily="34" charset="-122"/>
                <a:ea typeface="微软雅黑" panose="020B0503020204020204" pitchFamily="34" charset="-122"/>
              </a:rPr>
              <a:t>。</a:t>
            </a:r>
            <a:endParaRPr lang="en-US" altLang="zh-CN" dirty="0">
              <a:solidFill>
                <a:schemeClr val="bg2"/>
              </a:solidFill>
              <a:latin typeface="微软雅黑" panose="020B0503020204020204" pitchFamily="34" charset="-122"/>
              <a:ea typeface="微软雅黑" panose="020B0503020204020204" pitchFamily="34" charset="-122"/>
            </a:endParaRPr>
          </a:p>
          <a:p>
            <a:pPr marL="0" indent="0">
              <a:lnSpc>
                <a:spcPct val="160000"/>
              </a:lnSpc>
              <a:buNone/>
            </a:pPr>
            <a:r>
              <a:rPr lang="en-US" altLang="zh-CN" dirty="0">
                <a:solidFill>
                  <a:schemeClr val="bg2"/>
                </a:solidFill>
                <a:latin typeface="微软雅黑" panose="020B0503020204020204" pitchFamily="34" charset="-122"/>
                <a:ea typeface="微软雅黑" panose="020B0503020204020204" pitchFamily="34" charset="-122"/>
              </a:rPr>
              <a:t>IN</a:t>
            </a:r>
            <a:r>
              <a:rPr lang="zh-CN" altLang="en-US" dirty="0">
                <a:solidFill>
                  <a:schemeClr val="bg2"/>
                </a:solidFill>
                <a:latin typeface="微软雅黑" panose="020B0503020204020204" pitchFamily="34" charset="-122"/>
                <a:ea typeface="微软雅黑" panose="020B0503020204020204" pitchFamily="34" charset="-122"/>
              </a:rPr>
              <a:t>适合于</a:t>
            </a:r>
            <a:r>
              <a:rPr lang="zh-CN" altLang="en-US" dirty="0">
                <a:solidFill>
                  <a:srgbClr val="FF0000"/>
                </a:solidFill>
                <a:latin typeface="微软雅黑" panose="020B0503020204020204" pitchFamily="34" charset="-122"/>
                <a:ea typeface="微软雅黑" panose="020B0503020204020204" pitchFamily="34" charset="-122"/>
              </a:rPr>
              <a:t>外表大而内表小</a:t>
            </a:r>
            <a:r>
              <a:rPr lang="zh-CN" altLang="en-US" dirty="0">
                <a:solidFill>
                  <a:schemeClr val="bg2"/>
                </a:solidFill>
                <a:latin typeface="微软雅黑" panose="020B0503020204020204" pitchFamily="34" charset="-122"/>
                <a:ea typeface="微软雅黑" panose="020B0503020204020204" pitchFamily="34" charset="-122"/>
              </a:rPr>
              <a:t>的情况；</a:t>
            </a:r>
            <a:r>
              <a:rPr lang="en-US" altLang="zh-CN" dirty="0">
                <a:solidFill>
                  <a:schemeClr val="bg2"/>
                </a:solidFill>
                <a:latin typeface="微软雅黑" panose="020B0503020204020204" pitchFamily="34" charset="-122"/>
                <a:ea typeface="微软雅黑" panose="020B0503020204020204" pitchFamily="34" charset="-122"/>
              </a:rPr>
              <a:t>EXISTS</a:t>
            </a:r>
            <a:r>
              <a:rPr lang="zh-CN" altLang="en-US" dirty="0">
                <a:solidFill>
                  <a:schemeClr val="bg2"/>
                </a:solidFill>
                <a:latin typeface="微软雅黑" panose="020B0503020204020204" pitchFamily="34" charset="-122"/>
                <a:ea typeface="微软雅黑" panose="020B0503020204020204" pitchFamily="34" charset="-122"/>
              </a:rPr>
              <a:t>适合于</a:t>
            </a:r>
            <a:r>
              <a:rPr lang="zh-CN" altLang="en-US" dirty="0">
                <a:solidFill>
                  <a:srgbClr val="FF0000"/>
                </a:solidFill>
                <a:latin typeface="微软雅黑" panose="020B0503020204020204" pitchFamily="34" charset="-122"/>
                <a:ea typeface="微软雅黑" panose="020B0503020204020204" pitchFamily="34" charset="-122"/>
              </a:rPr>
              <a:t>外表小而内表大</a:t>
            </a:r>
            <a:r>
              <a:rPr lang="zh-CN" altLang="en-US" dirty="0">
                <a:solidFill>
                  <a:schemeClr val="bg2"/>
                </a:solidFill>
                <a:latin typeface="微软雅黑" panose="020B0503020204020204" pitchFamily="34" charset="-122"/>
                <a:ea typeface="微软雅黑" panose="020B0503020204020204" pitchFamily="34" charset="-122"/>
              </a:rPr>
              <a:t>的情况。</a:t>
            </a:r>
          </a:p>
        </p:txBody>
      </p:sp>
    </p:spTree>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176" y="64067"/>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嵌套查询</a:t>
            </a:r>
          </a:p>
        </p:txBody>
      </p:sp>
      <p:sp>
        <p:nvSpPr>
          <p:cNvPr id="3" name="Rectangle 4"/>
          <p:cNvSpPr>
            <a:spLocks noChangeArrowheads="1"/>
          </p:cNvSpPr>
          <p:nvPr/>
        </p:nvSpPr>
        <p:spPr bwMode="auto">
          <a:xfrm>
            <a:off x="679895" y="1345677"/>
            <a:ext cx="6840984"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fontAlgn="base">
              <a:spcBef>
                <a:spcPct val="0"/>
              </a:spcBef>
              <a:spcAft>
                <a:spcPct val="80000"/>
              </a:spcAft>
              <a:buClr>
                <a:srgbClr val="FFFFFF"/>
              </a:buClr>
              <a:buSzPct val="85000"/>
              <a:buFont typeface="Wingdings" pitchFamily="2" charset="2"/>
              <a:buNone/>
            </a:pPr>
            <a:r>
              <a:rPr lang="zh-CN" altLang="zh-CN" sz="3200" dirty="0">
                <a:solidFill>
                  <a:srgbClr val="FFFFFF"/>
                </a:solidFill>
                <a:effectLst>
                  <a:outerShdw blurRad="38100" dist="38100" dir="2700000" algn="tl">
                    <a:srgbClr val="000000"/>
                  </a:outerShdw>
                </a:effectLst>
                <a:latin typeface="Times New Roman" pitchFamily="18" charset="0"/>
                <a:ea typeface="楷体_GB2312" pitchFamily="49" charset="-122"/>
              </a:rPr>
              <a:t>查询学生的姓名及其所选课程的数量</a:t>
            </a:r>
            <a:endParaRPr lang="en-US" altLang="zh-CN" sz="3200" dirty="0">
              <a:solidFill>
                <a:srgbClr val="FFFFFF"/>
              </a:solidFill>
              <a:effectLst>
                <a:outerShdw blurRad="38100" dist="38100" dir="2700000" algn="tl">
                  <a:srgbClr val="000000"/>
                </a:outerShdw>
              </a:effectLst>
              <a:latin typeface="Times New Roman" pitchFamily="18" charset="0"/>
              <a:ea typeface="楷体_GB2312" pitchFamily="49" charset="-122"/>
            </a:endParaRPr>
          </a:p>
        </p:txBody>
      </p:sp>
      <p:graphicFrame>
        <p:nvGraphicFramePr>
          <p:cNvPr id="4" name="Group 5"/>
          <p:cNvGraphicFramePr>
            <a:graphicFrameLocks noGrp="1"/>
          </p:cNvGraphicFramePr>
          <p:nvPr>
            <p:extLst>
              <p:ext uri="{D42A27DB-BD31-4B8C-83A1-F6EECF244321}">
                <p14:modId xmlns:p14="http://schemas.microsoft.com/office/powerpoint/2010/main" val="3316089662"/>
              </p:ext>
            </p:extLst>
          </p:nvPr>
        </p:nvGraphicFramePr>
        <p:xfrm>
          <a:off x="8400256" y="859737"/>
          <a:ext cx="3124200" cy="1676400"/>
        </p:xfrm>
        <a:graphic>
          <a:graphicData uri="http://schemas.openxmlformats.org/drawingml/2006/table">
            <a:tbl>
              <a:tblPr/>
              <a:tblGrid>
                <a:gridCol w="712787">
                  <a:extLst>
                    <a:ext uri="{9D8B030D-6E8A-4147-A177-3AD203B41FA5}">
                      <a16:colId xmlns:a16="http://schemas.microsoft.com/office/drawing/2014/main" val="20000"/>
                    </a:ext>
                  </a:extLst>
                </a:gridCol>
                <a:gridCol w="712788">
                  <a:extLst>
                    <a:ext uri="{9D8B030D-6E8A-4147-A177-3AD203B41FA5}">
                      <a16:colId xmlns:a16="http://schemas.microsoft.com/office/drawing/2014/main" val="20001"/>
                    </a:ext>
                  </a:extLst>
                </a:gridCol>
                <a:gridCol w="534987">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gridCol w="611188">
                  <a:extLst>
                    <a:ext uri="{9D8B030D-6E8A-4147-A177-3AD203B41FA5}">
                      <a16:colId xmlns:a16="http://schemas.microsoft.com/office/drawing/2014/main" val="20004"/>
                    </a:ext>
                  </a:extLst>
                </a:gridCol>
              </a:tblGrid>
              <a:tr h="33528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3528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28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28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28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Rectangle 51"/>
          <p:cNvSpPr>
            <a:spLocks noChangeArrowheads="1"/>
          </p:cNvSpPr>
          <p:nvPr/>
        </p:nvSpPr>
        <p:spPr bwMode="auto">
          <a:xfrm>
            <a:off x="8508751" y="444546"/>
            <a:ext cx="35907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fontAlgn="base">
              <a:spcBef>
                <a:spcPct val="0"/>
              </a:spcBef>
              <a:spcAft>
                <a:spcPct val="0"/>
              </a:spcAft>
            </a:pPr>
            <a:r>
              <a:rPr kumimoji="1" lang="en-US" altLang="zh-CN" sz="2400" dirty="0">
                <a:solidFill>
                  <a:srgbClr val="FFFFFF"/>
                </a:solidFill>
                <a:effectLst>
                  <a:outerShdw blurRad="38100" dist="38100" dir="2700000" algn="tl">
                    <a:srgbClr val="000000"/>
                  </a:outerShdw>
                </a:effectLst>
                <a:latin typeface="Times New Roman" pitchFamily="18" charset="0"/>
                <a:ea typeface="楷体_GB2312" pitchFamily="49" charset="-122"/>
              </a:rPr>
              <a:t>ST</a:t>
            </a:r>
          </a:p>
        </p:txBody>
      </p:sp>
      <p:graphicFrame>
        <p:nvGraphicFramePr>
          <p:cNvPr id="7" name="Group 52"/>
          <p:cNvGraphicFramePr>
            <a:graphicFrameLocks noGrp="1"/>
          </p:cNvGraphicFramePr>
          <p:nvPr>
            <p:extLst>
              <p:ext uri="{D42A27DB-BD31-4B8C-83A1-F6EECF244321}">
                <p14:modId xmlns:p14="http://schemas.microsoft.com/office/powerpoint/2010/main" val="472295090"/>
              </p:ext>
            </p:extLst>
          </p:nvPr>
        </p:nvGraphicFramePr>
        <p:xfrm>
          <a:off x="9219406" y="3356992"/>
          <a:ext cx="2305050" cy="2169642"/>
        </p:xfrm>
        <a:graphic>
          <a:graphicData uri="http://schemas.openxmlformats.org/drawingml/2006/table">
            <a:tbl>
              <a:tblPr/>
              <a:tblGrid>
                <a:gridCol w="7620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1009650">
                  <a:extLst>
                    <a:ext uri="{9D8B030D-6E8A-4147-A177-3AD203B41FA5}">
                      <a16:colId xmlns:a16="http://schemas.microsoft.com/office/drawing/2014/main" val="20002"/>
                    </a:ext>
                  </a:extLst>
                </a:gridCol>
              </a:tblGrid>
              <a:tr h="36160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成绩</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6160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160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47</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160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88</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160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160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80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8" name="Rectangle 90"/>
          <p:cNvSpPr>
            <a:spLocks noChangeArrowheads="1"/>
          </p:cNvSpPr>
          <p:nvPr/>
        </p:nvSpPr>
        <p:spPr bwMode="auto">
          <a:xfrm>
            <a:off x="9362281" y="2996631"/>
            <a:ext cx="376706"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fontAlgn="base">
              <a:spcBef>
                <a:spcPct val="0"/>
              </a:spcBef>
              <a:spcAft>
                <a:spcPct val="0"/>
              </a:spcAft>
            </a:pPr>
            <a:r>
              <a:rPr kumimoji="1" lang="en-US" altLang="zh-CN" sz="2400">
                <a:solidFill>
                  <a:srgbClr val="FFFFFF"/>
                </a:solidFill>
                <a:effectLst>
                  <a:outerShdw blurRad="38100" dist="38100" dir="2700000" algn="tl">
                    <a:srgbClr val="000000"/>
                  </a:outerShdw>
                </a:effectLst>
                <a:latin typeface="Times New Roman" pitchFamily="18" charset="0"/>
                <a:ea typeface="楷体_GB2312" pitchFamily="49" charset="-122"/>
              </a:rPr>
              <a:t>SC</a:t>
            </a:r>
          </a:p>
        </p:txBody>
      </p:sp>
      <p:sp>
        <p:nvSpPr>
          <p:cNvPr id="9" name="AutoShape 91"/>
          <p:cNvSpPr>
            <a:spLocks noChangeArrowheads="1"/>
          </p:cNvSpPr>
          <p:nvPr/>
        </p:nvSpPr>
        <p:spPr bwMode="auto">
          <a:xfrm>
            <a:off x="4871864" y="5805264"/>
            <a:ext cx="3744417" cy="718816"/>
          </a:xfrm>
          <a:prstGeom prst="wedgeRoundRectCallout">
            <a:avLst>
              <a:gd name="adj1" fmla="val -36111"/>
              <a:gd name="adj2" fmla="val -91194"/>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lIns="0" tIns="36000" rIns="0" bIns="36000" anchor="ctr"/>
          <a:lstStyle/>
          <a:p>
            <a:pPr algn="ctr" fontAlgn="base">
              <a:spcBef>
                <a:spcPct val="0"/>
              </a:spcBef>
              <a:spcAft>
                <a:spcPct val="40000"/>
              </a:spcAft>
              <a:buClr>
                <a:srgbClr val="66FF33"/>
              </a:buClr>
              <a:buSzPct val="85000"/>
              <a:defRPr/>
            </a:pPr>
            <a:r>
              <a:rPr lang="zh-CN" altLang="en-US" sz="2800" kern="0" dirty="0">
                <a:solidFill>
                  <a:srgbClr val="FFFFCC"/>
                </a:solidFill>
                <a:effectLst>
                  <a:outerShdw blurRad="38100" dist="38100" dir="2700000" algn="tl">
                    <a:srgbClr val="000000"/>
                  </a:outerShdw>
                </a:effectLst>
                <a:latin typeface="Arial" charset="0"/>
                <a:ea typeface="楷体_GB2312" pitchFamily="49" charset="-122"/>
              </a:rPr>
              <a:t>嵌在</a:t>
            </a:r>
            <a:r>
              <a:rPr lang="en-US" altLang="zh-CN" sz="2800" kern="0" dirty="0">
                <a:solidFill>
                  <a:srgbClr val="FFFFCC"/>
                </a:solidFill>
                <a:effectLst>
                  <a:outerShdw blurRad="38100" dist="38100" dir="2700000" algn="tl">
                    <a:srgbClr val="000000"/>
                  </a:outerShdw>
                </a:effectLst>
                <a:latin typeface="Arial" charset="0"/>
                <a:ea typeface="楷体_GB2312" pitchFamily="49" charset="-122"/>
              </a:rPr>
              <a:t>SELECT</a:t>
            </a:r>
            <a:r>
              <a:rPr lang="zh-CN" altLang="en-US" sz="2800" kern="0" dirty="0">
                <a:solidFill>
                  <a:srgbClr val="FFFFCC"/>
                </a:solidFill>
                <a:effectLst>
                  <a:outerShdw blurRad="38100" dist="38100" dir="2700000" algn="tl">
                    <a:srgbClr val="000000"/>
                  </a:outerShdw>
                </a:effectLst>
                <a:latin typeface="Arial" charset="0"/>
                <a:ea typeface="楷体_GB2312" pitchFamily="49" charset="-122"/>
              </a:rPr>
              <a:t>子句中</a:t>
            </a:r>
          </a:p>
        </p:txBody>
      </p:sp>
      <p:sp>
        <p:nvSpPr>
          <p:cNvPr id="10" name="Rectangle 92"/>
          <p:cNvSpPr>
            <a:spLocks noChangeArrowheads="1"/>
          </p:cNvSpPr>
          <p:nvPr/>
        </p:nvSpPr>
        <p:spPr bwMode="auto">
          <a:xfrm>
            <a:off x="717670" y="2060848"/>
            <a:ext cx="74168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fontAlgn="base">
              <a:spcBef>
                <a:spcPct val="0"/>
              </a:spcBef>
              <a:spcAft>
                <a:spcPct val="15000"/>
              </a:spcAft>
              <a:buClr>
                <a:srgbClr val="FFFFFF"/>
              </a:buClr>
              <a:buSzPct val="85000"/>
              <a:buFont typeface="Wingdings" pitchFamily="2" charset="2"/>
              <a:buNone/>
            </a:pPr>
            <a:r>
              <a:rPr kumimoji="1" lang="en-US" altLang="zh-CN"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SELECT </a:t>
            </a:r>
            <a:r>
              <a:rPr kumimoji="1" lang="zh-CN" altLang="en-US"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姓名</a:t>
            </a:r>
            <a:r>
              <a:rPr kumimoji="1" lang="en-US" altLang="zh-CN"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a:t>
            </a:r>
          </a:p>
          <a:p>
            <a:pPr algn="just" fontAlgn="base">
              <a:spcBef>
                <a:spcPct val="0"/>
              </a:spcBef>
              <a:spcAft>
                <a:spcPct val="15000"/>
              </a:spcAft>
              <a:buClr>
                <a:srgbClr val="FFFFFF"/>
              </a:buClr>
              <a:buSzPct val="85000"/>
              <a:buFont typeface="Wingdings" pitchFamily="2" charset="2"/>
              <a:buNone/>
            </a:pPr>
            <a:r>
              <a:rPr kumimoji="1" lang="en-US" altLang="zh-CN"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     </a:t>
            </a:r>
            <a:r>
              <a:rPr kumimoji="1" lang="en-US" altLang="zh-CN"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a:t>
            </a:r>
          </a:p>
          <a:p>
            <a:pPr algn="just" fontAlgn="base">
              <a:spcBef>
                <a:spcPct val="0"/>
              </a:spcBef>
              <a:spcAft>
                <a:spcPct val="15000"/>
              </a:spcAft>
              <a:buClr>
                <a:srgbClr val="FFFFFF"/>
              </a:buClr>
              <a:buSzPct val="85000"/>
              <a:buFont typeface="Wingdings" pitchFamily="2" charset="2"/>
              <a:buNone/>
            </a:pPr>
            <a:r>
              <a:rPr kumimoji="1" lang="en-US" altLang="zh-CN"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       SELECT COUNT(*) </a:t>
            </a:r>
          </a:p>
          <a:p>
            <a:pPr algn="just" fontAlgn="base">
              <a:spcBef>
                <a:spcPct val="0"/>
              </a:spcBef>
              <a:spcAft>
                <a:spcPct val="15000"/>
              </a:spcAft>
              <a:buClr>
                <a:srgbClr val="FFFFFF"/>
              </a:buClr>
              <a:buSzPct val="85000"/>
              <a:buFont typeface="Wingdings" pitchFamily="2" charset="2"/>
              <a:buNone/>
            </a:pPr>
            <a:r>
              <a:rPr kumimoji="1" lang="en-US" altLang="zh-CN"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       FROM SC</a:t>
            </a:r>
          </a:p>
          <a:p>
            <a:pPr algn="just" fontAlgn="base">
              <a:spcBef>
                <a:spcPct val="0"/>
              </a:spcBef>
              <a:spcAft>
                <a:spcPct val="15000"/>
              </a:spcAft>
              <a:buClr>
                <a:srgbClr val="FFFFFF"/>
              </a:buClr>
              <a:buSzPct val="85000"/>
              <a:buFont typeface="Wingdings" pitchFamily="2" charset="2"/>
              <a:buNone/>
            </a:pPr>
            <a:r>
              <a:rPr kumimoji="1" lang="en-US" altLang="zh-CN"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       WHERE SC.</a:t>
            </a:r>
            <a:r>
              <a:rPr kumimoji="1" lang="zh-CN" altLang="en-US"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学号</a:t>
            </a:r>
            <a:r>
              <a:rPr kumimoji="1" lang="en-US" altLang="zh-CN"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=ST.</a:t>
            </a:r>
            <a:r>
              <a:rPr kumimoji="1" lang="zh-CN" altLang="en-US"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p>
            <a:pPr algn="just" fontAlgn="base">
              <a:spcBef>
                <a:spcPct val="0"/>
              </a:spcBef>
              <a:spcAft>
                <a:spcPct val="15000"/>
              </a:spcAft>
              <a:buClr>
                <a:srgbClr val="FFFFFF"/>
              </a:buClr>
              <a:buSzPct val="85000"/>
              <a:buFont typeface="Wingdings" pitchFamily="2" charset="2"/>
              <a:buNone/>
            </a:pPr>
            <a:r>
              <a:rPr kumimoji="1" lang="en-US" altLang="zh-CN"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     )</a:t>
            </a:r>
            <a:r>
              <a:rPr kumimoji="1" lang="en-US" altLang="zh-CN"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 AS </a:t>
            </a:r>
            <a:r>
              <a:rPr kumimoji="1" lang="zh-CN" altLang="en-US"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课程数</a:t>
            </a:r>
          </a:p>
          <a:p>
            <a:pPr algn="just" fontAlgn="base">
              <a:spcBef>
                <a:spcPct val="0"/>
              </a:spcBef>
              <a:spcAft>
                <a:spcPct val="15000"/>
              </a:spcAft>
              <a:buClr>
                <a:srgbClr val="FFFFFF"/>
              </a:buClr>
              <a:buSzPct val="85000"/>
              <a:buFont typeface="Wingdings" pitchFamily="2" charset="2"/>
              <a:buNone/>
            </a:pPr>
            <a:r>
              <a:rPr kumimoji="1" lang="en-US" altLang="zh-CN"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FROM ST</a:t>
            </a:r>
          </a:p>
        </p:txBody>
      </p:sp>
    </p:spTree>
    <p:extLst>
      <p:ext uri="{BB962C8B-B14F-4D97-AF65-F5344CB8AC3E}">
        <p14:creationId xmlns:p14="http://schemas.microsoft.com/office/powerpoint/2010/main" val="204371898"/>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176" y="64067"/>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嵌套查询</a:t>
            </a:r>
          </a:p>
        </p:txBody>
      </p:sp>
      <p:graphicFrame>
        <p:nvGraphicFramePr>
          <p:cNvPr id="4" name="Group 5"/>
          <p:cNvGraphicFramePr>
            <a:graphicFrameLocks noGrp="1"/>
          </p:cNvGraphicFramePr>
          <p:nvPr>
            <p:extLst>
              <p:ext uri="{D42A27DB-BD31-4B8C-83A1-F6EECF244321}">
                <p14:modId xmlns:p14="http://schemas.microsoft.com/office/powerpoint/2010/main" val="1916467658"/>
              </p:ext>
            </p:extLst>
          </p:nvPr>
        </p:nvGraphicFramePr>
        <p:xfrm>
          <a:off x="8400256" y="859738"/>
          <a:ext cx="3124200" cy="1524000"/>
        </p:xfrm>
        <a:graphic>
          <a:graphicData uri="http://schemas.openxmlformats.org/drawingml/2006/table">
            <a:tbl>
              <a:tblPr/>
              <a:tblGrid>
                <a:gridCol w="712787">
                  <a:extLst>
                    <a:ext uri="{9D8B030D-6E8A-4147-A177-3AD203B41FA5}">
                      <a16:colId xmlns:a16="http://schemas.microsoft.com/office/drawing/2014/main" val="20000"/>
                    </a:ext>
                  </a:extLst>
                </a:gridCol>
                <a:gridCol w="712788">
                  <a:extLst>
                    <a:ext uri="{9D8B030D-6E8A-4147-A177-3AD203B41FA5}">
                      <a16:colId xmlns:a16="http://schemas.microsoft.com/office/drawing/2014/main" val="20001"/>
                    </a:ext>
                  </a:extLst>
                </a:gridCol>
                <a:gridCol w="534987">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gridCol w="611188">
                  <a:extLst>
                    <a:ext uri="{9D8B030D-6E8A-4147-A177-3AD203B41FA5}">
                      <a16:colId xmlns:a16="http://schemas.microsoft.com/office/drawing/2014/main" val="20004"/>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7" name="Group 52"/>
          <p:cNvGraphicFramePr>
            <a:graphicFrameLocks noGrp="1"/>
          </p:cNvGraphicFramePr>
          <p:nvPr>
            <p:extLst>
              <p:ext uri="{D42A27DB-BD31-4B8C-83A1-F6EECF244321}">
                <p14:modId xmlns:p14="http://schemas.microsoft.com/office/powerpoint/2010/main" val="1408042514"/>
              </p:ext>
            </p:extLst>
          </p:nvPr>
        </p:nvGraphicFramePr>
        <p:xfrm>
          <a:off x="9120981" y="2947300"/>
          <a:ext cx="2305050" cy="1828800"/>
        </p:xfrm>
        <a:graphic>
          <a:graphicData uri="http://schemas.openxmlformats.org/drawingml/2006/table">
            <a:tbl>
              <a:tblPr/>
              <a:tblGrid>
                <a:gridCol w="7620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1009650">
                  <a:extLst>
                    <a:ext uri="{9D8B030D-6E8A-4147-A177-3AD203B41FA5}">
                      <a16:colId xmlns:a16="http://schemas.microsoft.com/office/drawing/2014/main" val="20002"/>
                    </a:ext>
                  </a:extLst>
                </a:gridCol>
              </a:tblGrid>
              <a:tr h="26828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成绩</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6987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828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47</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828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88</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987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828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80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8" name="Rectangle 90"/>
          <p:cNvSpPr>
            <a:spLocks noChangeArrowheads="1"/>
          </p:cNvSpPr>
          <p:nvPr/>
        </p:nvSpPr>
        <p:spPr bwMode="auto">
          <a:xfrm>
            <a:off x="9263856" y="2586938"/>
            <a:ext cx="376706"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fontAlgn="base">
              <a:spcBef>
                <a:spcPct val="0"/>
              </a:spcBef>
              <a:spcAft>
                <a:spcPct val="0"/>
              </a:spcAft>
            </a:pPr>
            <a:r>
              <a:rPr kumimoji="1" lang="en-US" altLang="zh-CN" sz="2400">
                <a:solidFill>
                  <a:srgbClr val="FFFFFF"/>
                </a:solidFill>
                <a:effectLst>
                  <a:outerShdw blurRad="38100" dist="38100" dir="2700000" algn="tl">
                    <a:srgbClr val="000000"/>
                  </a:outerShdw>
                </a:effectLst>
                <a:latin typeface="Times New Roman" pitchFamily="18" charset="0"/>
                <a:ea typeface="楷体_GB2312" pitchFamily="49" charset="-122"/>
              </a:rPr>
              <a:t>SC</a:t>
            </a:r>
          </a:p>
        </p:txBody>
      </p:sp>
      <p:sp>
        <p:nvSpPr>
          <p:cNvPr id="11" name="Rectangle 91"/>
          <p:cNvSpPr>
            <a:spLocks noChangeArrowheads="1"/>
          </p:cNvSpPr>
          <p:nvPr/>
        </p:nvSpPr>
        <p:spPr bwMode="auto">
          <a:xfrm>
            <a:off x="765969" y="1933404"/>
            <a:ext cx="74168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fontAlgn="base">
              <a:spcBef>
                <a:spcPct val="0"/>
              </a:spcBef>
              <a:spcAft>
                <a:spcPct val="0"/>
              </a:spcAft>
              <a:buClr>
                <a:srgbClr val="FFFFFF"/>
              </a:buClr>
              <a:buSzPct val="85000"/>
              <a:buFont typeface="Wingdings" pitchFamily="2" charset="2"/>
              <a:buNone/>
            </a:pPr>
            <a:r>
              <a:rPr kumimoji="1" lang="en-US" altLang="zh-CN"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SELECT </a:t>
            </a:r>
            <a:r>
              <a:rPr kumimoji="1" lang="en-US" altLang="zh-CN" sz="3600" dirty="0" err="1">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Tmp</a:t>
            </a:r>
            <a:r>
              <a:rPr kumimoji="1" lang="en-US" altLang="zh-CN"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a:t>
            </a:r>
            <a:r>
              <a:rPr kumimoji="1" lang="zh-CN" altLang="en-US"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姓名</a:t>
            </a:r>
            <a:r>
              <a:rPr kumimoji="1" lang="en-US" altLang="zh-CN"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a:t>
            </a:r>
          </a:p>
          <a:p>
            <a:pPr algn="just" fontAlgn="base">
              <a:spcBef>
                <a:spcPct val="0"/>
              </a:spcBef>
              <a:spcAft>
                <a:spcPct val="0"/>
              </a:spcAft>
              <a:buClr>
                <a:srgbClr val="FFFFFF"/>
              </a:buClr>
              <a:buSzPct val="85000"/>
              <a:buFont typeface="Wingdings" pitchFamily="2" charset="2"/>
              <a:buNone/>
            </a:pPr>
            <a:r>
              <a:rPr kumimoji="1" lang="en-US" altLang="zh-CN"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       COUNT(</a:t>
            </a:r>
            <a:r>
              <a:rPr kumimoji="1" lang="zh-CN" altLang="en-US"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课号</a:t>
            </a:r>
            <a:r>
              <a:rPr kumimoji="1" lang="en-US" altLang="zh-CN"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 AS </a:t>
            </a:r>
            <a:r>
              <a:rPr kumimoji="1" lang="zh-CN" altLang="en-US"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课程数</a:t>
            </a:r>
          </a:p>
          <a:p>
            <a:pPr algn="just" fontAlgn="base">
              <a:spcBef>
                <a:spcPct val="0"/>
              </a:spcBef>
              <a:spcAft>
                <a:spcPct val="0"/>
              </a:spcAft>
              <a:buClr>
                <a:srgbClr val="FFFFFF"/>
              </a:buClr>
              <a:buSzPct val="85000"/>
              <a:buFont typeface="Wingdings" pitchFamily="2" charset="2"/>
              <a:buNone/>
            </a:pPr>
            <a:r>
              <a:rPr kumimoji="1" lang="en-US" altLang="zh-CN"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FROM </a:t>
            </a:r>
            <a:r>
              <a:rPr kumimoji="1" lang="en-US" altLang="zh-CN"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a:t>
            </a:r>
          </a:p>
          <a:p>
            <a:pPr algn="just" fontAlgn="base">
              <a:spcBef>
                <a:spcPct val="0"/>
              </a:spcBef>
              <a:spcAft>
                <a:spcPct val="0"/>
              </a:spcAft>
              <a:buClr>
                <a:srgbClr val="FFFFFF"/>
              </a:buClr>
              <a:buSzPct val="85000"/>
              <a:buFont typeface="Wingdings" pitchFamily="2" charset="2"/>
              <a:buNone/>
            </a:pPr>
            <a:r>
              <a:rPr kumimoji="1" lang="en-US" altLang="zh-CN"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        SELECT </a:t>
            </a:r>
            <a:r>
              <a:rPr kumimoji="1" lang="zh-CN" altLang="en-US"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姓名</a:t>
            </a:r>
            <a:r>
              <a:rPr kumimoji="1" lang="en-US" altLang="zh-CN"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a:t>
            </a:r>
            <a:r>
              <a:rPr kumimoji="1" lang="zh-CN" altLang="en-US"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课号 </a:t>
            </a:r>
          </a:p>
          <a:p>
            <a:pPr algn="just" fontAlgn="base">
              <a:spcBef>
                <a:spcPct val="0"/>
              </a:spcBef>
              <a:spcAft>
                <a:spcPct val="0"/>
              </a:spcAft>
              <a:buClr>
                <a:srgbClr val="FFFFFF"/>
              </a:buClr>
              <a:buSzPct val="85000"/>
              <a:buFont typeface="Wingdings" pitchFamily="2" charset="2"/>
              <a:buNone/>
            </a:pPr>
            <a:r>
              <a:rPr kumimoji="1" lang="en-US" altLang="zh-CN"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        FROM ST LEFT JOIN SC</a:t>
            </a:r>
          </a:p>
          <a:p>
            <a:pPr algn="just" fontAlgn="base">
              <a:spcBef>
                <a:spcPct val="0"/>
              </a:spcBef>
              <a:spcAft>
                <a:spcPct val="0"/>
              </a:spcAft>
              <a:buClr>
                <a:srgbClr val="FFFFFF"/>
              </a:buClr>
              <a:buSzPct val="85000"/>
              <a:buFont typeface="Wingdings" pitchFamily="2" charset="2"/>
              <a:buNone/>
            </a:pPr>
            <a:r>
              <a:rPr kumimoji="1" lang="en-US" altLang="zh-CN"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             On SC.</a:t>
            </a:r>
            <a:r>
              <a:rPr kumimoji="1" lang="zh-CN" altLang="en-US"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学号</a:t>
            </a:r>
            <a:r>
              <a:rPr kumimoji="1" lang="en-US" altLang="zh-CN"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=ST.</a:t>
            </a:r>
            <a:r>
              <a:rPr kumimoji="1" lang="zh-CN" altLang="en-US"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p>
            <a:pPr algn="just" fontAlgn="base">
              <a:spcBef>
                <a:spcPct val="0"/>
              </a:spcBef>
              <a:spcAft>
                <a:spcPct val="0"/>
              </a:spcAft>
              <a:buClr>
                <a:srgbClr val="FFFFFF"/>
              </a:buClr>
              <a:buSzPct val="85000"/>
              <a:buFont typeface="Wingdings" pitchFamily="2" charset="2"/>
              <a:buNone/>
            </a:pPr>
            <a:r>
              <a:rPr kumimoji="1" lang="en-US" altLang="zh-CN" sz="3600" dirty="0">
                <a:solidFill>
                  <a:srgbClr val="66FFFF"/>
                </a:solidFill>
                <a:effectLst>
                  <a:outerShdw blurRad="38100" dist="38100" dir="2700000" algn="tl">
                    <a:srgbClr val="000000"/>
                  </a:outerShdw>
                </a:effectLst>
                <a:latin typeface="宋体" panose="02010600030101010101" pitchFamily="2" charset="-122"/>
                <a:ea typeface="宋体" panose="02010600030101010101" pitchFamily="2" charset="-122"/>
              </a:rPr>
              <a:t>     )</a:t>
            </a:r>
            <a:r>
              <a:rPr kumimoji="1" lang="en-US" altLang="zh-CN"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 AS </a:t>
            </a:r>
            <a:r>
              <a:rPr kumimoji="1" lang="en-US" altLang="zh-CN" sz="3600" dirty="0" err="1">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Tmp</a:t>
            </a:r>
            <a:endParaRPr kumimoji="1" lang="en-US" altLang="zh-CN"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endParaRPr>
          </a:p>
          <a:p>
            <a:pPr algn="just" fontAlgn="base">
              <a:spcBef>
                <a:spcPct val="0"/>
              </a:spcBef>
              <a:spcAft>
                <a:spcPct val="0"/>
              </a:spcAft>
              <a:buClr>
                <a:srgbClr val="FFFFFF"/>
              </a:buClr>
              <a:buSzPct val="85000"/>
              <a:buFont typeface="Wingdings" pitchFamily="2" charset="2"/>
              <a:buNone/>
            </a:pPr>
            <a:r>
              <a:rPr kumimoji="1" lang="en-US" altLang="zh-CN"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GROUP By </a:t>
            </a:r>
            <a:r>
              <a:rPr kumimoji="1" lang="en-US" altLang="zh-CN" sz="3600" dirty="0" err="1">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Tmp</a:t>
            </a:r>
            <a:r>
              <a:rPr kumimoji="1" lang="en-US" altLang="zh-CN"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a:t>
            </a:r>
            <a:r>
              <a:rPr kumimoji="1" lang="zh-CN" altLang="en-US"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rPr>
              <a:t>姓名</a:t>
            </a:r>
            <a:endParaRPr kumimoji="1" lang="en-US" altLang="zh-CN" sz="3600" dirty="0">
              <a:solidFill>
                <a:srgbClr val="99FF33"/>
              </a:solidFill>
              <a:effectLst>
                <a:outerShdw blurRad="38100" dist="38100" dir="2700000" algn="tl">
                  <a:srgbClr val="000000"/>
                </a:outerShdw>
              </a:effectLst>
              <a:latin typeface="宋体" panose="02010600030101010101" pitchFamily="2" charset="-122"/>
              <a:ea typeface="宋体" panose="02010600030101010101" pitchFamily="2" charset="-122"/>
            </a:endParaRPr>
          </a:p>
        </p:txBody>
      </p:sp>
      <p:sp>
        <p:nvSpPr>
          <p:cNvPr id="12" name="AutoShape 92"/>
          <p:cNvSpPr>
            <a:spLocks noChangeArrowheads="1"/>
          </p:cNvSpPr>
          <p:nvPr/>
        </p:nvSpPr>
        <p:spPr bwMode="auto">
          <a:xfrm>
            <a:off x="7026108" y="5877272"/>
            <a:ext cx="3247398" cy="648072"/>
          </a:xfrm>
          <a:prstGeom prst="wedgeRoundRectCallout">
            <a:avLst>
              <a:gd name="adj1" fmla="val -41251"/>
              <a:gd name="adj2" fmla="val -119189"/>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lIns="0" tIns="36000" rIns="0" bIns="36000" anchor="ctr"/>
          <a:lstStyle/>
          <a:p>
            <a:pPr algn="ctr" fontAlgn="base">
              <a:spcBef>
                <a:spcPct val="0"/>
              </a:spcBef>
              <a:spcAft>
                <a:spcPct val="40000"/>
              </a:spcAft>
              <a:buClr>
                <a:srgbClr val="66FF33"/>
              </a:buClr>
              <a:buSzPct val="85000"/>
              <a:defRPr/>
            </a:pPr>
            <a:r>
              <a:rPr lang="zh-CN" altLang="en-US" sz="2800" kern="0" dirty="0">
                <a:solidFill>
                  <a:srgbClr val="FFFFCC"/>
                </a:solidFill>
                <a:effectLst>
                  <a:outerShdw blurRad="38100" dist="38100" dir="2700000" algn="tl">
                    <a:srgbClr val="000000"/>
                  </a:outerShdw>
                </a:effectLst>
                <a:latin typeface="Arial" charset="0"/>
                <a:ea typeface="楷体_GB2312" pitchFamily="49" charset="-122"/>
              </a:rPr>
              <a:t>嵌在</a:t>
            </a:r>
            <a:r>
              <a:rPr lang="en-US" altLang="zh-CN" sz="2800" kern="0" dirty="0">
                <a:solidFill>
                  <a:srgbClr val="FFFFCC"/>
                </a:solidFill>
                <a:effectLst>
                  <a:outerShdw blurRad="38100" dist="38100" dir="2700000" algn="tl">
                    <a:srgbClr val="000000"/>
                  </a:outerShdw>
                </a:effectLst>
                <a:latin typeface="Arial" charset="0"/>
                <a:ea typeface="楷体_GB2312" pitchFamily="49" charset="-122"/>
              </a:rPr>
              <a:t>FROM</a:t>
            </a:r>
            <a:r>
              <a:rPr lang="zh-CN" altLang="en-US" sz="2800" kern="0" dirty="0">
                <a:solidFill>
                  <a:srgbClr val="FFFFCC"/>
                </a:solidFill>
                <a:effectLst>
                  <a:outerShdw blurRad="38100" dist="38100" dir="2700000" algn="tl">
                    <a:srgbClr val="000000"/>
                  </a:outerShdw>
                </a:effectLst>
                <a:latin typeface="Arial" charset="0"/>
                <a:ea typeface="楷体_GB2312" pitchFamily="49" charset="-122"/>
              </a:rPr>
              <a:t>子句中</a:t>
            </a:r>
          </a:p>
        </p:txBody>
      </p:sp>
      <p:sp>
        <p:nvSpPr>
          <p:cNvPr id="13" name="Rectangle 4"/>
          <p:cNvSpPr>
            <a:spLocks noChangeArrowheads="1"/>
          </p:cNvSpPr>
          <p:nvPr/>
        </p:nvSpPr>
        <p:spPr bwMode="auto">
          <a:xfrm>
            <a:off x="695176" y="1118501"/>
            <a:ext cx="6840984"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fontAlgn="base">
              <a:spcBef>
                <a:spcPct val="0"/>
              </a:spcBef>
              <a:spcAft>
                <a:spcPct val="80000"/>
              </a:spcAft>
              <a:buClr>
                <a:srgbClr val="FFFFFF"/>
              </a:buClr>
              <a:buSzPct val="85000"/>
              <a:buFont typeface="Wingdings" pitchFamily="2" charset="2"/>
              <a:buNone/>
            </a:pPr>
            <a:r>
              <a:rPr lang="zh-CN" altLang="zh-CN" sz="3200" dirty="0">
                <a:solidFill>
                  <a:srgbClr val="FFFFFF"/>
                </a:solidFill>
                <a:effectLst>
                  <a:outerShdw blurRad="38100" dist="38100" dir="2700000" algn="tl">
                    <a:srgbClr val="000000"/>
                  </a:outerShdw>
                </a:effectLst>
                <a:latin typeface="楷体" panose="02010609060101010101" pitchFamily="49" charset="-122"/>
                <a:ea typeface="楷体" panose="02010609060101010101" pitchFamily="49" charset="-122"/>
              </a:rPr>
              <a:t>查询学生的姓名及其所选课程的数量</a:t>
            </a:r>
            <a:endParaRPr lang="en-US" altLang="zh-CN" sz="3200" dirty="0">
              <a:solidFill>
                <a:srgbClr val="FFFFFF"/>
              </a:solidFill>
              <a:effectLst>
                <a:outerShdw blurRad="38100" dist="38100" dir="2700000" algn="tl">
                  <a:srgbClr val="000000"/>
                </a:outerShdw>
              </a:effectLst>
              <a:latin typeface="楷体" panose="02010609060101010101" pitchFamily="49" charset="-122"/>
              <a:ea typeface="楷体" panose="02010609060101010101" pitchFamily="49" charset="-122"/>
            </a:endParaRPr>
          </a:p>
        </p:txBody>
      </p:sp>
      <p:sp>
        <p:nvSpPr>
          <p:cNvPr id="14" name="Rectangle 51"/>
          <p:cNvSpPr>
            <a:spLocks noChangeArrowheads="1"/>
          </p:cNvSpPr>
          <p:nvPr/>
        </p:nvSpPr>
        <p:spPr bwMode="auto">
          <a:xfrm>
            <a:off x="8508751" y="444546"/>
            <a:ext cx="35907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fontAlgn="base">
              <a:spcBef>
                <a:spcPct val="0"/>
              </a:spcBef>
              <a:spcAft>
                <a:spcPct val="0"/>
              </a:spcAft>
            </a:pPr>
            <a:r>
              <a:rPr kumimoji="1" lang="en-US" altLang="zh-CN" sz="2400" dirty="0">
                <a:solidFill>
                  <a:srgbClr val="FFFFFF"/>
                </a:solidFill>
                <a:effectLst>
                  <a:outerShdw blurRad="38100" dist="38100" dir="2700000" algn="tl">
                    <a:srgbClr val="000000"/>
                  </a:outerShdw>
                </a:effectLst>
                <a:latin typeface="Times New Roman" pitchFamily="18" charset="0"/>
                <a:ea typeface="楷体_GB2312" pitchFamily="49" charset="-122"/>
              </a:rPr>
              <a:t>ST</a:t>
            </a:r>
          </a:p>
        </p:txBody>
      </p:sp>
    </p:spTree>
    <p:extLst>
      <p:ext uri="{BB962C8B-B14F-4D97-AF65-F5344CB8AC3E}">
        <p14:creationId xmlns:p14="http://schemas.microsoft.com/office/powerpoint/2010/main" val="3384923873"/>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176" y="64067"/>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集合查询</a:t>
            </a:r>
          </a:p>
        </p:txBody>
      </p:sp>
      <p:sp>
        <p:nvSpPr>
          <p:cNvPr id="16" name="Rectangle 51">
            <a:extLst>
              <a:ext uri="{FF2B5EF4-FFF2-40B4-BE49-F238E27FC236}">
                <a16:creationId xmlns:a16="http://schemas.microsoft.com/office/drawing/2014/main" id="{0B4A3CB3-727E-4EF0-9175-B3F5FDBD955E}"/>
              </a:ext>
            </a:extLst>
          </p:cNvPr>
          <p:cNvSpPr txBox="1">
            <a:spLocks noChangeArrowheads="1"/>
          </p:cNvSpPr>
          <p:nvPr/>
        </p:nvSpPr>
        <p:spPr>
          <a:xfrm>
            <a:off x="695176" y="945448"/>
            <a:ext cx="11101436" cy="14835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zh-CN"/>
            </a:defPPr>
            <a:lvl1pPr marL="342900" indent="-342900" fontAlgn="base">
              <a:spcBef>
                <a:spcPct val="0"/>
              </a:spcBef>
              <a:spcAft>
                <a:spcPct val="55000"/>
              </a:spcAft>
              <a:buClr>
                <a:srgbClr val="66FF33"/>
              </a:buClr>
              <a:buSzPct val="85000"/>
              <a:buFont typeface="Arial" pitchFamily="34" charset="0"/>
              <a:buChar char="•"/>
              <a:defRPr kumimoji="1" sz="3200" kern="0">
                <a:solidFill>
                  <a:srgbClr val="CCFFCC"/>
                </a:solidFill>
                <a:effectLst>
                  <a:outerShdw blurRad="38100" dist="38100" dir="2700000" algn="tl">
                    <a:srgbClr val="000000"/>
                  </a:outerShdw>
                </a:effectLst>
                <a:latin typeface="楷体_GB2312" pitchFamily="49" charset="-122"/>
                <a:ea typeface="微软雅黑" pitchFamily="34" charset="-122"/>
              </a:defRPr>
            </a:lvl1pPr>
            <a:lvl2pPr marL="742950" indent="-28575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defRPr>
            </a:lvl6pPr>
            <a:lvl7pPr marL="2971800" indent="-22860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defRPr>
            </a:lvl7pPr>
            <a:lvl8pPr marL="3429000" indent="-22860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defRPr>
            </a:lvl8pPr>
            <a:lvl9pPr marL="3886200" indent="-22860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defRPr>
            </a:lvl9pPr>
          </a:lstStyle>
          <a:p>
            <a:pPr marL="0" indent="0">
              <a:buNone/>
            </a:pPr>
            <a:r>
              <a:rPr lang="zh-CN" altLang="en-US" dirty="0"/>
              <a:t>一般</a:t>
            </a:r>
            <a:r>
              <a:rPr lang="en-US" altLang="zh-CN" dirty="0"/>
              <a:t>DBMS</a:t>
            </a:r>
            <a:r>
              <a:rPr lang="zh-CN" altLang="en-US" dirty="0"/>
              <a:t>都提供了集合并</a:t>
            </a:r>
            <a:r>
              <a:rPr lang="en-US" altLang="zh-CN" dirty="0"/>
              <a:t>(</a:t>
            </a:r>
            <a:r>
              <a:rPr lang="en-US" altLang="zh-CN" b="1" dirty="0">
                <a:solidFill>
                  <a:srgbClr val="FFFF00"/>
                </a:solidFill>
              </a:rPr>
              <a:t>UNION</a:t>
            </a:r>
            <a:r>
              <a:rPr lang="en-US" altLang="zh-CN" dirty="0"/>
              <a:t>)</a:t>
            </a:r>
            <a:r>
              <a:rPr lang="zh-CN" altLang="en-US" dirty="0"/>
              <a:t>运算，至于差</a:t>
            </a:r>
            <a:r>
              <a:rPr lang="en-US" altLang="zh-CN" dirty="0"/>
              <a:t>(EXCEPT)</a:t>
            </a:r>
            <a:r>
              <a:rPr lang="zh-CN" altLang="en-US" dirty="0"/>
              <a:t>和交</a:t>
            </a:r>
            <a:r>
              <a:rPr lang="en-US" altLang="zh-CN" dirty="0"/>
              <a:t>(INTERSECT)</a:t>
            </a:r>
            <a:r>
              <a:rPr lang="zh-CN" altLang="en-US" dirty="0"/>
              <a:t>，不同的</a:t>
            </a:r>
            <a:r>
              <a:rPr lang="en-US" altLang="zh-CN" dirty="0"/>
              <a:t>DBMS</a:t>
            </a:r>
            <a:r>
              <a:rPr lang="zh-CN" altLang="en-US" dirty="0"/>
              <a:t>有不同的方式。</a:t>
            </a:r>
          </a:p>
        </p:txBody>
      </p:sp>
      <p:sp>
        <p:nvSpPr>
          <p:cNvPr id="17" name="Rectangle 52">
            <a:extLst>
              <a:ext uri="{FF2B5EF4-FFF2-40B4-BE49-F238E27FC236}">
                <a16:creationId xmlns:a16="http://schemas.microsoft.com/office/drawing/2014/main" id="{9A440E57-A762-4576-92EA-349206D52FE5}"/>
              </a:ext>
            </a:extLst>
          </p:cNvPr>
          <p:cNvSpPr>
            <a:spLocks noChangeArrowheads="1"/>
          </p:cNvSpPr>
          <p:nvPr/>
        </p:nvSpPr>
        <p:spPr bwMode="auto">
          <a:xfrm>
            <a:off x="1095372" y="3658748"/>
            <a:ext cx="4824412"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spcAft>
                <a:spcPct val="15000"/>
              </a:spcAft>
              <a:buClr>
                <a:schemeClr val="tx1"/>
              </a:buClr>
              <a:buSzPct val="85000"/>
              <a:buFont typeface="Wingdings" pitchFamily="2" charset="2"/>
              <a:buNone/>
            </a:pPr>
            <a:r>
              <a:rPr lang="zh-CN" altLang="en-US" sz="3200" dirty="0">
                <a:solidFill>
                  <a:srgbClr val="FFFFFF"/>
                </a:solidFill>
                <a:effectLst>
                  <a:outerShdw blurRad="38100" dist="38100" dir="2700000" algn="tl">
                    <a:srgbClr val="000000"/>
                  </a:outerShdw>
                </a:effectLst>
                <a:latin typeface="楷体" panose="02010609060101010101" pitchFamily="49" charset="-122"/>
                <a:ea typeface="楷体" panose="02010609060101010101" pitchFamily="49" charset="-122"/>
              </a:rPr>
              <a:t>查询</a:t>
            </a:r>
            <a:r>
              <a:rPr lang="en-US" altLang="zh-CN" sz="3200" dirty="0">
                <a:solidFill>
                  <a:srgbClr val="FFFFFF"/>
                </a:solidFill>
                <a:effectLst>
                  <a:outerShdw blurRad="38100" dist="38100" dir="2700000" algn="tl">
                    <a:srgbClr val="000000"/>
                  </a:outerShdw>
                </a:effectLst>
                <a:latin typeface="楷体" panose="02010609060101010101" pitchFamily="49" charset="-122"/>
                <a:ea typeface="楷体" panose="02010609060101010101" pitchFamily="49" charset="-122"/>
              </a:rPr>
              <a:t>CS</a:t>
            </a:r>
            <a:r>
              <a:rPr lang="zh-CN" altLang="en-US" sz="3200" dirty="0">
                <a:solidFill>
                  <a:srgbClr val="FFFFFF"/>
                </a:solidFill>
                <a:effectLst>
                  <a:outerShdw blurRad="38100" dist="38100" dir="2700000" algn="tl">
                    <a:srgbClr val="000000"/>
                  </a:outerShdw>
                </a:effectLst>
                <a:latin typeface="楷体" panose="02010609060101010101" pitchFamily="49" charset="-122"/>
                <a:ea typeface="楷体" panose="02010609060101010101" pitchFamily="49" charset="-122"/>
              </a:rPr>
              <a:t>系及</a:t>
            </a:r>
            <a:r>
              <a:rPr lang="en-US" altLang="zh-CN" sz="3200" dirty="0">
                <a:solidFill>
                  <a:srgbClr val="FFFFFF"/>
                </a:solidFill>
                <a:effectLst>
                  <a:outerShdw blurRad="38100" dist="38100" dir="2700000" algn="tl">
                    <a:srgbClr val="000000"/>
                  </a:outerShdw>
                </a:effectLst>
                <a:latin typeface="楷体" panose="02010609060101010101" pitchFamily="49" charset="-122"/>
                <a:ea typeface="楷体" panose="02010609060101010101" pitchFamily="49" charset="-122"/>
              </a:rPr>
              <a:t>MA</a:t>
            </a:r>
            <a:r>
              <a:rPr lang="zh-CN" altLang="en-US" sz="3200" dirty="0">
                <a:solidFill>
                  <a:srgbClr val="FFFFFF"/>
                </a:solidFill>
                <a:effectLst>
                  <a:outerShdw blurRad="38100" dist="38100" dir="2700000" algn="tl">
                    <a:srgbClr val="000000"/>
                  </a:outerShdw>
                </a:effectLst>
                <a:latin typeface="楷体" panose="02010609060101010101" pitchFamily="49" charset="-122"/>
                <a:ea typeface="楷体" panose="02010609060101010101" pitchFamily="49" charset="-122"/>
              </a:rPr>
              <a:t>系的学生</a:t>
            </a:r>
          </a:p>
        </p:txBody>
      </p:sp>
      <p:sp>
        <p:nvSpPr>
          <p:cNvPr id="18" name="Rectangle 53">
            <a:extLst>
              <a:ext uri="{FF2B5EF4-FFF2-40B4-BE49-F238E27FC236}">
                <a16:creationId xmlns:a16="http://schemas.microsoft.com/office/drawing/2014/main" id="{41027861-BC8B-4A47-8F4C-4D93CB0C2FC3}"/>
              </a:ext>
            </a:extLst>
          </p:cNvPr>
          <p:cNvSpPr>
            <a:spLocks noChangeArrowheads="1"/>
          </p:cNvSpPr>
          <p:nvPr/>
        </p:nvSpPr>
        <p:spPr bwMode="auto">
          <a:xfrm>
            <a:off x="1095372" y="4260366"/>
            <a:ext cx="5268788"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buClr>
                <a:schemeClr val="tx1"/>
              </a:buClr>
              <a:buSzPct val="85000"/>
              <a:buFont typeface="Wingdings" pitchFamily="2" charset="2"/>
              <a:buNone/>
            </a:pPr>
            <a:r>
              <a:rPr kumimoji="1" lang="en-US" altLang="zh-CN" sz="3000" dirty="0">
                <a:solidFill>
                  <a:srgbClr val="99FF33"/>
                </a:solidFill>
                <a:effectLst>
                  <a:outerShdw blurRad="38100" dist="38100" dir="2700000" algn="tl">
                    <a:srgbClr val="000000"/>
                  </a:outerShdw>
                </a:effectLst>
                <a:latin typeface="楷体_GB2312" pitchFamily="49" charset="-122"/>
                <a:ea typeface="楷体_GB2312" pitchFamily="49" charset="-122"/>
              </a:rPr>
              <a:t>SELECT </a:t>
            </a:r>
            <a:r>
              <a:rPr kumimoji="1" lang="zh-CN" altLang="en-US" sz="3000" dirty="0">
                <a:solidFill>
                  <a:srgbClr val="99FF33"/>
                </a:solidFill>
                <a:effectLst>
                  <a:outerShdw blurRad="38100" dist="38100" dir="2700000" algn="tl">
                    <a:srgbClr val="000000"/>
                  </a:outerShdw>
                </a:effectLst>
                <a:latin typeface="楷体_GB2312" pitchFamily="49" charset="-122"/>
                <a:ea typeface="楷体_GB2312" pitchFamily="49" charset="-122"/>
              </a:rPr>
              <a:t>* </a:t>
            </a:r>
            <a:r>
              <a:rPr kumimoji="1" lang="en-US" altLang="zh-CN" sz="3000" dirty="0">
                <a:solidFill>
                  <a:srgbClr val="99FF33"/>
                </a:solidFill>
                <a:effectLst>
                  <a:outerShdw blurRad="38100" dist="38100" dir="2700000" algn="tl">
                    <a:srgbClr val="000000"/>
                  </a:outerShdw>
                </a:effectLst>
                <a:latin typeface="楷体_GB2312" pitchFamily="49" charset="-122"/>
                <a:ea typeface="楷体_GB2312" pitchFamily="49" charset="-122"/>
              </a:rPr>
              <a:t>FROM ST</a:t>
            </a:r>
          </a:p>
          <a:p>
            <a:pPr algn="just">
              <a:buClr>
                <a:schemeClr val="tx1"/>
              </a:buClr>
              <a:buSzPct val="85000"/>
              <a:buFont typeface="Wingdings" pitchFamily="2" charset="2"/>
              <a:buNone/>
            </a:pPr>
            <a:r>
              <a:rPr kumimoji="1" lang="en-US" altLang="zh-CN" sz="3000" dirty="0">
                <a:solidFill>
                  <a:srgbClr val="99FF33"/>
                </a:solidFill>
                <a:effectLst>
                  <a:outerShdw blurRad="38100" dist="38100" dir="2700000" algn="tl">
                    <a:srgbClr val="000000"/>
                  </a:outerShdw>
                </a:effectLst>
                <a:latin typeface="楷体_GB2312" pitchFamily="49" charset="-122"/>
                <a:ea typeface="楷体_GB2312" pitchFamily="49" charset="-122"/>
              </a:rPr>
              <a:t>WHERE </a:t>
            </a:r>
            <a:r>
              <a:rPr kumimoji="1" lang="zh-CN" altLang="en-US" sz="3000" dirty="0">
                <a:solidFill>
                  <a:srgbClr val="99FF33"/>
                </a:solidFill>
                <a:effectLst>
                  <a:outerShdw blurRad="38100" dist="38100" dir="2700000" algn="tl">
                    <a:srgbClr val="000000"/>
                  </a:outerShdw>
                </a:effectLst>
                <a:latin typeface="楷体_GB2312" pitchFamily="49" charset="-122"/>
                <a:ea typeface="楷体_GB2312" pitchFamily="49" charset="-122"/>
              </a:rPr>
              <a:t>系 </a:t>
            </a:r>
            <a:r>
              <a:rPr kumimoji="1" lang="en-US" altLang="zh-CN" sz="3000" dirty="0">
                <a:solidFill>
                  <a:srgbClr val="99FF33"/>
                </a:solidFill>
                <a:effectLst>
                  <a:outerShdw blurRad="38100" dist="38100" dir="2700000" algn="tl">
                    <a:srgbClr val="000000"/>
                  </a:outerShdw>
                </a:effectLst>
                <a:latin typeface="楷体_GB2312" pitchFamily="49" charset="-122"/>
                <a:ea typeface="楷体_GB2312" pitchFamily="49" charset="-122"/>
              </a:rPr>
              <a:t>= 'CS'</a:t>
            </a:r>
          </a:p>
          <a:p>
            <a:pPr algn="just">
              <a:buClr>
                <a:schemeClr val="tx1"/>
              </a:buClr>
              <a:buSzPct val="85000"/>
              <a:buFont typeface="Wingdings" pitchFamily="2" charset="2"/>
              <a:buNone/>
            </a:pPr>
            <a:r>
              <a:rPr kumimoji="1" lang="en-US" altLang="zh-CN" sz="3000" dirty="0">
                <a:solidFill>
                  <a:srgbClr val="00FFFF"/>
                </a:solidFill>
                <a:effectLst>
                  <a:outerShdw blurRad="38100" dist="38100" dir="2700000" algn="tl">
                    <a:srgbClr val="000000"/>
                  </a:outerShdw>
                </a:effectLst>
                <a:latin typeface="楷体_GB2312" pitchFamily="49" charset="-122"/>
                <a:ea typeface="楷体_GB2312" pitchFamily="49" charset="-122"/>
              </a:rPr>
              <a:t>UNION</a:t>
            </a:r>
          </a:p>
          <a:p>
            <a:pPr algn="just">
              <a:buClr>
                <a:schemeClr val="tx1"/>
              </a:buClr>
              <a:buSzPct val="85000"/>
              <a:buFont typeface="Wingdings" pitchFamily="2" charset="2"/>
              <a:buNone/>
            </a:pPr>
            <a:r>
              <a:rPr kumimoji="1" lang="en-US" altLang="zh-CN" sz="3000" dirty="0">
                <a:solidFill>
                  <a:srgbClr val="99FF33"/>
                </a:solidFill>
                <a:effectLst>
                  <a:outerShdw blurRad="38100" dist="38100" dir="2700000" algn="tl">
                    <a:srgbClr val="000000"/>
                  </a:outerShdw>
                </a:effectLst>
                <a:latin typeface="楷体_GB2312" pitchFamily="49" charset="-122"/>
                <a:ea typeface="楷体_GB2312" pitchFamily="49" charset="-122"/>
              </a:rPr>
              <a:t>SELECT </a:t>
            </a:r>
            <a:r>
              <a:rPr kumimoji="1" lang="zh-CN" altLang="en-US" sz="3000" dirty="0">
                <a:solidFill>
                  <a:srgbClr val="99FF33"/>
                </a:solidFill>
                <a:effectLst>
                  <a:outerShdw blurRad="38100" dist="38100" dir="2700000" algn="tl">
                    <a:srgbClr val="000000"/>
                  </a:outerShdw>
                </a:effectLst>
                <a:latin typeface="楷体_GB2312" pitchFamily="49" charset="-122"/>
                <a:ea typeface="楷体_GB2312" pitchFamily="49" charset="-122"/>
              </a:rPr>
              <a:t>* </a:t>
            </a:r>
            <a:r>
              <a:rPr kumimoji="1" lang="en-US" altLang="zh-CN" sz="3000" dirty="0">
                <a:solidFill>
                  <a:srgbClr val="99FF33"/>
                </a:solidFill>
                <a:effectLst>
                  <a:outerShdw blurRad="38100" dist="38100" dir="2700000" algn="tl">
                    <a:srgbClr val="000000"/>
                  </a:outerShdw>
                </a:effectLst>
                <a:latin typeface="楷体_GB2312" pitchFamily="49" charset="-122"/>
                <a:ea typeface="楷体_GB2312" pitchFamily="49" charset="-122"/>
              </a:rPr>
              <a:t>FROM ST</a:t>
            </a:r>
          </a:p>
          <a:p>
            <a:pPr algn="just">
              <a:buClr>
                <a:schemeClr val="tx1"/>
              </a:buClr>
              <a:buSzPct val="85000"/>
              <a:buFont typeface="Wingdings" pitchFamily="2" charset="2"/>
              <a:buNone/>
            </a:pPr>
            <a:r>
              <a:rPr kumimoji="1" lang="en-US" altLang="zh-CN" sz="3000" dirty="0">
                <a:solidFill>
                  <a:srgbClr val="99FF33"/>
                </a:solidFill>
                <a:effectLst>
                  <a:outerShdw blurRad="38100" dist="38100" dir="2700000" algn="tl">
                    <a:srgbClr val="000000"/>
                  </a:outerShdw>
                </a:effectLst>
                <a:latin typeface="楷体_GB2312" pitchFamily="49" charset="-122"/>
                <a:ea typeface="楷体_GB2312" pitchFamily="49" charset="-122"/>
              </a:rPr>
              <a:t>WHERE </a:t>
            </a:r>
            <a:r>
              <a:rPr kumimoji="1" lang="zh-CN" altLang="en-US" sz="3000" dirty="0">
                <a:solidFill>
                  <a:srgbClr val="99FF33"/>
                </a:solidFill>
                <a:effectLst>
                  <a:outerShdw blurRad="38100" dist="38100" dir="2700000" algn="tl">
                    <a:srgbClr val="000000"/>
                  </a:outerShdw>
                </a:effectLst>
                <a:latin typeface="楷体_GB2312" pitchFamily="49" charset="-122"/>
                <a:ea typeface="楷体_GB2312" pitchFamily="49" charset="-122"/>
              </a:rPr>
              <a:t>系 </a:t>
            </a:r>
            <a:r>
              <a:rPr kumimoji="1" lang="en-US" altLang="zh-CN" sz="3000" dirty="0">
                <a:solidFill>
                  <a:srgbClr val="99FF33"/>
                </a:solidFill>
                <a:effectLst>
                  <a:outerShdw blurRad="38100" dist="38100" dir="2700000" algn="tl">
                    <a:srgbClr val="000000"/>
                  </a:outerShdw>
                </a:effectLst>
                <a:latin typeface="楷体_GB2312" pitchFamily="49" charset="-122"/>
                <a:ea typeface="楷体_GB2312" pitchFamily="49" charset="-122"/>
              </a:rPr>
              <a:t>= 'MA'</a:t>
            </a:r>
            <a:endParaRPr kumimoji="1" lang="zh-CN" altLang="en-US" sz="3000" dirty="0">
              <a:solidFill>
                <a:srgbClr val="99FF33"/>
              </a:solidFill>
              <a:effectLst>
                <a:outerShdw blurRad="38100" dist="38100" dir="2700000" algn="tl">
                  <a:srgbClr val="000000"/>
                </a:outerShdw>
              </a:effectLst>
              <a:latin typeface="楷体_GB2312" pitchFamily="49" charset="-122"/>
              <a:ea typeface="楷体_GB2312" pitchFamily="49" charset="-122"/>
            </a:endParaRPr>
          </a:p>
        </p:txBody>
      </p:sp>
      <p:sp>
        <p:nvSpPr>
          <p:cNvPr id="19" name="AutoShape 54">
            <a:extLst>
              <a:ext uri="{FF2B5EF4-FFF2-40B4-BE49-F238E27FC236}">
                <a16:creationId xmlns:a16="http://schemas.microsoft.com/office/drawing/2014/main" id="{3A79F21F-2355-4AA9-BBCF-CCE3220622EC}"/>
              </a:ext>
            </a:extLst>
          </p:cNvPr>
          <p:cNvSpPr>
            <a:spLocks noChangeArrowheads="1"/>
          </p:cNvSpPr>
          <p:nvPr/>
        </p:nvSpPr>
        <p:spPr bwMode="auto">
          <a:xfrm>
            <a:off x="5451000" y="5686062"/>
            <a:ext cx="936625" cy="360362"/>
          </a:xfrm>
          <a:prstGeom prst="leftRightArrow">
            <a:avLst>
              <a:gd name="adj1" fmla="val 50000"/>
              <a:gd name="adj2" fmla="val 51982"/>
            </a:avLst>
          </a:prstGeom>
          <a:solidFill>
            <a:schemeClr val="accent6">
              <a:lumMod val="50000"/>
            </a:schemeClr>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endParaRPr lang="zh-CN" altLang="en-US" kern="0">
              <a:solidFill>
                <a:sysClr val="windowText" lastClr="000000"/>
              </a:solidFill>
            </a:endParaRPr>
          </a:p>
        </p:txBody>
      </p:sp>
      <p:sp>
        <p:nvSpPr>
          <p:cNvPr id="20" name="Rectangle 55">
            <a:extLst>
              <a:ext uri="{FF2B5EF4-FFF2-40B4-BE49-F238E27FC236}">
                <a16:creationId xmlns:a16="http://schemas.microsoft.com/office/drawing/2014/main" id="{04AAF08E-19AC-4270-83E2-9FC161048A3B}"/>
              </a:ext>
            </a:extLst>
          </p:cNvPr>
          <p:cNvSpPr>
            <a:spLocks noChangeArrowheads="1"/>
          </p:cNvSpPr>
          <p:nvPr/>
        </p:nvSpPr>
        <p:spPr bwMode="auto">
          <a:xfrm>
            <a:off x="5451000" y="5062632"/>
            <a:ext cx="1019696" cy="52322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Aft>
                <a:spcPct val="30000"/>
              </a:spcAft>
              <a:buClr>
                <a:srgbClr val="66FF33"/>
              </a:buClr>
              <a:buSzPct val="85000"/>
            </a:pPr>
            <a:r>
              <a:rPr lang="zh-CN" altLang="en-US" sz="2800" kern="0" dirty="0">
                <a:solidFill>
                  <a:schemeClr val="bg1"/>
                </a:solidFill>
                <a:effectLst>
                  <a:outerShdw blurRad="38100" dist="38100" dir="2700000" algn="tl">
                    <a:srgbClr val="000000"/>
                  </a:outerShdw>
                </a:effectLst>
              </a:rPr>
              <a:t>等价</a:t>
            </a:r>
          </a:p>
        </p:txBody>
      </p:sp>
      <p:sp>
        <p:nvSpPr>
          <p:cNvPr id="21" name="Rectangle 56">
            <a:extLst>
              <a:ext uri="{FF2B5EF4-FFF2-40B4-BE49-F238E27FC236}">
                <a16:creationId xmlns:a16="http://schemas.microsoft.com/office/drawing/2014/main" id="{53A5A6A8-BD41-4DCC-9D6C-333C7AC66960}"/>
              </a:ext>
            </a:extLst>
          </p:cNvPr>
          <p:cNvSpPr>
            <a:spLocks noChangeArrowheads="1"/>
          </p:cNvSpPr>
          <p:nvPr/>
        </p:nvSpPr>
        <p:spPr bwMode="auto">
          <a:xfrm>
            <a:off x="7153070" y="4971445"/>
            <a:ext cx="4465141"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buClr>
                <a:schemeClr val="tx1"/>
              </a:buClr>
              <a:buSzPct val="85000"/>
              <a:buFont typeface="Wingdings" pitchFamily="2" charset="2"/>
              <a:buNone/>
            </a:pPr>
            <a:r>
              <a:rPr kumimoji="1" lang="en-US" altLang="zh-CN" sz="3000" dirty="0">
                <a:solidFill>
                  <a:srgbClr val="99FF33"/>
                </a:solidFill>
                <a:effectLst>
                  <a:outerShdw blurRad="38100" dist="38100" dir="2700000" algn="tl">
                    <a:srgbClr val="000000"/>
                  </a:outerShdw>
                </a:effectLst>
                <a:latin typeface="楷体_GB2312" pitchFamily="49" charset="-122"/>
                <a:ea typeface="楷体_GB2312" pitchFamily="49" charset="-122"/>
              </a:rPr>
              <a:t>SELECT * FROM ST</a:t>
            </a:r>
          </a:p>
          <a:p>
            <a:pPr algn="just">
              <a:buClr>
                <a:schemeClr val="tx1"/>
              </a:buClr>
              <a:buSzPct val="85000"/>
              <a:buFont typeface="Wingdings" pitchFamily="2" charset="2"/>
              <a:buNone/>
            </a:pPr>
            <a:r>
              <a:rPr kumimoji="1" lang="en-US" altLang="zh-CN" sz="3000" dirty="0">
                <a:solidFill>
                  <a:srgbClr val="99FF33"/>
                </a:solidFill>
                <a:effectLst>
                  <a:outerShdw blurRad="38100" dist="38100" dir="2700000" algn="tl">
                    <a:srgbClr val="000000"/>
                  </a:outerShdw>
                </a:effectLst>
                <a:latin typeface="楷体_GB2312" pitchFamily="49" charset="-122"/>
                <a:ea typeface="楷体_GB2312" pitchFamily="49" charset="-122"/>
              </a:rPr>
              <a:t> WHERE </a:t>
            </a:r>
            <a:r>
              <a:rPr kumimoji="1" lang="zh-CN" altLang="en-US" sz="3000" dirty="0">
                <a:solidFill>
                  <a:srgbClr val="99FF33"/>
                </a:solidFill>
                <a:effectLst>
                  <a:outerShdw blurRad="38100" dist="38100" dir="2700000" algn="tl">
                    <a:srgbClr val="000000"/>
                  </a:outerShdw>
                </a:effectLst>
                <a:latin typeface="楷体_GB2312" pitchFamily="49" charset="-122"/>
                <a:ea typeface="楷体_GB2312" pitchFamily="49" charset="-122"/>
              </a:rPr>
              <a:t>系 </a:t>
            </a:r>
            <a:r>
              <a:rPr kumimoji="1" lang="en-US" altLang="zh-CN" sz="3000" dirty="0">
                <a:solidFill>
                  <a:srgbClr val="99FF33"/>
                </a:solidFill>
                <a:effectLst>
                  <a:outerShdw blurRad="38100" dist="38100" dir="2700000" algn="tl">
                    <a:srgbClr val="000000"/>
                  </a:outerShdw>
                </a:effectLst>
                <a:latin typeface="楷体_GB2312" pitchFamily="49" charset="-122"/>
                <a:ea typeface="楷体_GB2312" pitchFamily="49" charset="-122"/>
              </a:rPr>
              <a:t>= 'CS'</a:t>
            </a:r>
          </a:p>
          <a:p>
            <a:pPr algn="just">
              <a:buClr>
                <a:schemeClr val="tx1"/>
              </a:buClr>
              <a:buSzPct val="85000"/>
              <a:buFont typeface="Wingdings" pitchFamily="2" charset="2"/>
              <a:buNone/>
            </a:pPr>
            <a:r>
              <a:rPr kumimoji="1" lang="zh-CN" altLang="en-US" sz="3000" dirty="0">
                <a:solidFill>
                  <a:srgbClr val="99FF33"/>
                </a:solidFill>
                <a:effectLst>
                  <a:outerShdw blurRad="38100" dist="38100" dir="2700000" algn="tl">
                    <a:srgbClr val="000000"/>
                  </a:outerShdw>
                </a:effectLst>
                <a:latin typeface="楷体_GB2312" pitchFamily="49" charset="-122"/>
                <a:ea typeface="楷体_GB2312" pitchFamily="49" charset="-122"/>
              </a:rPr>
              <a:t>    </a:t>
            </a:r>
            <a:r>
              <a:rPr kumimoji="1" lang="en-US" altLang="zh-CN" sz="3000" dirty="0">
                <a:solidFill>
                  <a:srgbClr val="00FFFF"/>
                </a:solidFill>
                <a:effectLst>
                  <a:outerShdw blurRad="38100" dist="38100" dir="2700000" algn="tl">
                    <a:srgbClr val="000000"/>
                  </a:outerShdw>
                </a:effectLst>
                <a:latin typeface="楷体_GB2312" pitchFamily="49" charset="-122"/>
                <a:ea typeface="楷体_GB2312" pitchFamily="49" charset="-122"/>
              </a:rPr>
              <a:t>OR</a:t>
            </a:r>
            <a:r>
              <a:rPr kumimoji="1" lang="en-US" altLang="zh-CN" sz="3000" dirty="0">
                <a:solidFill>
                  <a:srgbClr val="99FF33"/>
                </a:solidFill>
                <a:effectLst>
                  <a:outerShdw blurRad="38100" dist="38100" dir="2700000" algn="tl">
                    <a:srgbClr val="000000"/>
                  </a:outerShdw>
                </a:effectLst>
                <a:latin typeface="楷体_GB2312" pitchFamily="49" charset="-122"/>
                <a:ea typeface="楷体_GB2312" pitchFamily="49" charset="-122"/>
              </a:rPr>
              <a:t> </a:t>
            </a:r>
            <a:r>
              <a:rPr kumimoji="1" lang="zh-CN" altLang="en-US" sz="3000" dirty="0">
                <a:solidFill>
                  <a:srgbClr val="99FF33"/>
                </a:solidFill>
                <a:effectLst>
                  <a:outerShdw blurRad="38100" dist="38100" dir="2700000" algn="tl">
                    <a:srgbClr val="000000"/>
                  </a:outerShdw>
                </a:effectLst>
                <a:latin typeface="楷体_GB2312" pitchFamily="49" charset="-122"/>
                <a:ea typeface="楷体_GB2312" pitchFamily="49" charset="-122"/>
              </a:rPr>
              <a:t>系 </a:t>
            </a:r>
            <a:r>
              <a:rPr kumimoji="1" lang="en-US" altLang="zh-CN" sz="3000" dirty="0">
                <a:solidFill>
                  <a:srgbClr val="99FF33"/>
                </a:solidFill>
                <a:effectLst>
                  <a:outerShdw blurRad="38100" dist="38100" dir="2700000" algn="tl">
                    <a:srgbClr val="000000"/>
                  </a:outerShdw>
                </a:effectLst>
                <a:latin typeface="楷体_GB2312" pitchFamily="49" charset="-122"/>
                <a:ea typeface="楷体_GB2312" pitchFamily="49" charset="-122"/>
              </a:rPr>
              <a:t>= 'MA'</a:t>
            </a:r>
            <a:endParaRPr kumimoji="1" lang="zh-CN" altLang="en-US" sz="3000" dirty="0">
              <a:solidFill>
                <a:srgbClr val="99FF33"/>
              </a:solidFill>
              <a:effectLst>
                <a:outerShdw blurRad="38100" dist="38100" dir="2700000" algn="tl">
                  <a:srgbClr val="000000"/>
                </a:outerShdw>
              </a:effectLst>
              <a:latin typeface="楷体_GB2312" pitchFamily="49" charset="-122"/>
              <a:ea typeface="楷体_GB2312" pitchFamily="49" charset="-122"/>
            </a:endParaRPr>
          </a:p>
        </p:txBody>
      </p:sp>
      <p:graphicFrame>
        <p:nvGraphicFramePr>
          <p:cNvPr id="22" name="Group 5">
            <a:extLst>
              <a:ext uri="{FF2B5EF4-FFF2-40B4-BE49-F238E27FC236}">
                <a16:creationId xmlns:a16="http://schemas.microsoft.com/office/drawing/2014/main" id="{7422BDE7-EEF4-4985-972E-B0AD701E7240}"/>
              </a:ext>
            </a:extLst>
          </p:cNvPr>
          <p:cNvGraphicFramePr>
            <a:graphicFrameLocks noGrp="1"/>
          </p:cNvGraphicFramePr>
          <p:nvPr>
            <p:extLst>
              <p:ext uri="{D42A27DB-BD31-4B8C-83A1-F6EECF244321}">
                <p14:modId xmlns:p14="http://schemas.microsoft.com/office/powerpoint/2010/main" val="3945709215"/>
              </p:ext>
            </p:extLst>
          </p:nvPr>
        </p:nvGraphicFramePr>
        <p:xfrm>
          <a:off x="8494011" y="2655126"/>
          <a:ext cx="3124200" cy="1524000"/>
        </p:xfrm>
        <a:graphic>
          <a:graphicData uri="http://schemas.openxmlformats.org/drawingml/2006/table">
            <a:tbl>
              <a:tblPr/>
              <a:tblGrid>
                <a:gridCol w="712787">
                  <a:extLst>
                    <a:ext uri="{9D8B030D-6E8A-4147-A177-3AD203B41FA5}">
                      <a16:colId xmlns:a16="http://schemas.microsoft.com/office/drawing/2014/main" val="20000"/>
                    </a:ext>
                  </a:extLst>
                </a:gridCol>
                <a:gridCol w="712788">
                  <a:extLst>
                    <a:ext uri="{9D8B030D-6E8A-4147-A177-3AD203B41FA5}">
                      <a16:colId xmlns:a16="http://schemas.microsoft.com/office/drawing/2014/main" val="20001"/>
                    </a:ext>
                  </a:extLst>
                </a:gridCol>
                <a:gridCol w="534987">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gridCol w="611188">
                  <a:extLst>
                    <a:ext uri="{9D8B030D-6E8A-4147-A177-3AD203B41FA5}">
                      <a16:colId xmlns:a16="http://schemas.microsoft.com/office/drawing/2014/main" val="20004"/>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3" name="Rectangle 51">
            <a:extLst>
              <a:ext uri="{FF2B5EF4-FFF2-40B4-BE49-F238E27FC236}">
                <a16:creationId xmlns:a16="http://schemas.microsoft.com/office/drawing/2014/main" id="{8EE0E225-1557-4EAF-AB92-424125DEAFE5}"/>
              </a:ext>
            </a:extLst>
          </p:cNvPr>
          <p:cNvSpPr>
            <a:spLocks noChangeArrowheads="1"/>
          </p:cNvSpPr>
          <p:nvPr/>
        </p:nvSpPr>
        <p:spPr bwMode="auto">
          <a:xfrm>
            <a:off x="8602506" y="2239934"/>
            <a:ext cx="35907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fontAlgn="base">
              <a:spcBef>
                <a:spcPct val="0"/>
              </a:spcBef>
              <a:spcAft>
                <a:spcPct val="0"/>
              </a:spcAft>
            </a:pPr>
            <a:r>
              <a:rPr kumimoji="1" lang="en-US" altLang="zh-CN" sz="2400" dirty="0">
                <a:solidFill>
                  <a:srgbClr val="FFFFFF"/>
                </a:solidFill>
                <a:effectLst>
                  <a:outerShdw blurRad="38100" dist="38100" dir="2700000" algn="tl">
                    <a:srgbClr val="000000"/>
                  </a:outerShdw>
                </a:effectLst>
                <a:latin typeface="Times New Roman" pitchFamily="18" charset="0"/>
                <a:ea typeface="楷体_GB2312" pitchFamily="49" charset="-122"/>
              </a:rPr>
              <a:t>ST</a:t>
            </a:r>
          </a:p>
        </p:txBody>
      </p:sp>
      <p:sp>
        <p:nvSpPr>
          <p:cNvPr id="26" name="Rectangle 51">
            <a:extLst>
              <a:ext uri="{FF2B5EF4-FFF2-40B4-BE49-F238E27FC236}">
                <a16:creationId xmlns:a16="http://schemas.microsoft.com/office/drawing/2014/main" id="{801E54C7-8A9F-47B2-A769-02438EC26EE8}"/>
              </a:ext>
            </a:extLst>
          </p:cNvPr>
          <p:cNvSpPr txBox="1">
            <a:spLocks noChangeArrowheads="1"/>
          </p:cNvSpPr>
          <p:nvPr/>
        </p:nvSpPr>
        <p:spPr>
          <a:xfrm>
            <a:off x="695176" y="2193440"/>
            <a:ext cx="6768330" cy="14835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zh-CN"/>
            </a:defPPr>
            <a:lvl1pPr marL="342900" indent="-342900" fontAlgn="base">
              <a:spcBef>
                <a:spcPct val="0"/>
              </a:spcBef>
              <a:spcAft>
                <a:spcPct val="55000"/>
              </a:spcAft>
              <a:buClr>
                <a:srgbClr val="66FF33"/>
              </a:buClr>
              <a:buSzPct val="85000"/>
              <a:buFont typeface="Arial" pitchFamily="34" charset="0"/>
              <a:buChar char="•"/>
              <a:defRPr kumimoji="1" sz="3200" kern="0">
                <a:solidFill>
                  <a:srgbClr val="CCFFCC"/>
                </a:solidFill>
                <a:effectLst>
                  <a:outerShdw blurRad="38100" dist="38100" dir="2700000" algn="tl">
                    <a:srgbClr val="000000"/>
                  </a:outerShdw>
                </a:effectLst>
                <a:latin typeface="楷体_GB2312" pitchFamily="49" charset="-122"/>
                <a:ea typeface="微软雅黑" pitchFamily="34" charset="-122"/>
              </a:defRPr>
            </a:lvl1pPr>
            <a:lvl2pPr marL="742950" indent="-28575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defRPr>
            </a:lvl6pPr>
            <a:lvl7pPr marL="2971800" indent="-22860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defRPr>
            </a:lvl7pPr>
            <a:lvl8pPr marL="3429000" indent="-22860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defRPr>
            </a:lvl8pPr>
            <a:lvl9pPr marL="3886200" indent="-22860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defRPr>
            </a:lvl9pPr>
          </a:lstStyle>
          <a:p>
            <a:pPr marL="0" indent="0">
              <a:buNone/>
            </a:pPr>
            <a:r>
              <a:rPr lang="en-US" altLang="zh-CN" b="1" dirty="0">
                <a:solidFill>
                  <a:srgbClr val="FFFF00"/>
                </a:solidFill>
              </a:rPr>
              <a:t>UNION</a:t>
            </a:r>
            <a:r>
              <a:rPr lang="zh-CN" altLang="en-US" dirty="0"/>
              <a:t>运算的结果是无重复元组的，如果允许重复则需要用</a:t>
            </a:r>
            <a:r>
              <a:rPr lang="en-US" altLang="zh-CN" b="1" dirty="0">
                <a:solidFill>
                  <a:srgbClr val="FFFF00"/>
                </a:solidFill>
              </a:rPr>
              <a:t>UNION ALL</a:t>
            </a:r>
            <a:r>
              <a:rPr lang="zh-CN" altLang="en-US" dirty="0"/>
              <a:t>。</a:t>
            </a:r>
          </a:p>
        </p:txBody>
      </p:sp>
    </p:spTree>
    <p:extLst>
      <p:ext uri="{BB962C8B-B14F-4D97-AF65-F5344CB8AC3E}">
        <p14:creationId xmlns:p14="http://schemas.microsoft.com/office/powerpoint/2010/main" val="2353440054"/>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bwMode="auto">
          <a:xfrm>
            <a:off x="4717590" y="1412776"/>
            <a:ext cx="2458530" cy="854968"/>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第三节</a:t>
            </a:r>
          </a:p>
        </p:txBody>
      </p:sp>
      <p:sp>
        <p:nvSpPr>
          <p:cNvPr id="2" name="标题 1"/>
          <p:cNvSpPr>
            <a:spLocks noGrp="1"/>
          </p:cNvSpPr>
          <p:nvPr>
            <p:ph type="title"/>
          </p:nvPr>
        </p:nvSpPr>
        <p:spPr>
          <a:xfrm>
            <a:off x="1271464" y="3356992"/>
            <a:ext cx="9649072" cy="1256758"/>
          </a:xfrm>
          <a:effectLst>
            <a:outerShdw blurRad="63500" sx="102000" sy="102000" algn="ctr" rotWithShape="0">
              <a:prstClr val="black">
                <a:alpha val="40000"/>
              </a:prstClr>
            </a:outerShdw>
          </a:effectLst>
        </p:spPr>
        <p:txBody>
          <a:bodyPr wrap="none" numCol="1" fromWordArt="1">
            <a:prstTxWarp prst="textPlain">
              <a:avLst>
                <a:gd name="adj" fmla="val 50000"/>
              </a:avLst>
            </a:prstTxWarp>
          </a:bodyPr>
          <a:lstStyle/>
          <a:p>
            <a:pPr fontAlgn="base">
              <a:spcAft>
                <a:spcPct val="0"/>
              </a:spcAft>
            </a:pPr>
            <a:r>
              <a:rPr lang="en-US" altLang="zh-CN" sz="6000" kern="10" baseline="-25000" dirty="0">
                <a:ln w="9525">
                  <a:solidFill>
                    <a:srgbClr val="003399"/>
                  </a:solidFill>
                  <a:prstDash val="solid"/>
                </a:ln>
                <a:solidFill>
                  <a:srgbClr val="FFFFFF"/>
                </a:solidFill>
                <a:cs typeface="+mn-cs"/>
              </a:rPr>
              <a:t>SQL</a:t>
            </a:r>
            <a:r>
              <a:rPr lang="zh-CN" altLang="en-US" sz="6000" kern="10" baseline="-25000" dirty="0">
                <a:ln w="9525">
                  <a:solidFill>
                    <a:srgbClr val="003399"/>
                  </a:solidFill>
                  <a:prstDash val="solid"/>
                </a:ln>
                <a:solidFill>
                  <a:srgbClr val="FFFFFF"/>
                </a:solidFill>
                <a:cs typeface="+mn-cs"/>
              </a:rPr>
              <a:t>数据更新命令</a:t>
            </a:r>
          </a:p>
        </p:txBody>
      </p:sp>
    </p:spTree>
    <p:extLst>
      <p:ext uri="{BB962C8B-B14F-4D97-AF65-F5344CB8AC3E}">
        <p14:creationId xmlns:p14="http://schemas.microsoft.com/office/powerpoint/2010/main" val="2083072372"/>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922" name="Rectangle 2">
            <a:extLst>
              <a:ext uri="{FF2B5EF4-FFF2-40B4-BE49-F238E27FC236}">
                <a16:creationId xmlns:a16="http://schemas.microsoft.com/office/drawing/2014/main" id="{3059B85D-1EAB-4ECD-87F2-11319C1C94DE}"/>
              </a:ext>
            </a:extLst>
          </p:cNvPr>
          <p:cNvSpPr>
            <a:spLocks noGrp="1" noChangeArrowheads="1"/>
          </p:cNvSpPr>
          <p:nvPr>
            <p:ph type="title" idx="4294967295"/>
          </p:nvPr>
        </p:nvSpPr>
        <p:spPr>
          <a:xfrm>
            <a:off x="2762746" y="89440"/>
            <a:ext cx="2236510" cy="707886"/>
          </a:xfrm>
        </p:spPr>
        <p:txBody>
          <a:bodyPr/>
          <a:lstStyle/>
          <a:p>
            <a:r>
              <a:rPr lang="zh-CN" altLang="en-US" dirty="0"/>
              <a:t>数据更新</a:t>
            </a:r>
          </a:p>
        </p:txBody>
      </p:sp>
      <p:sp>
        <p:nvSpPr>
          <p:cNvPr id="721923" name="Rectangle 3">
            <a:extLst>
              <a:ext uri="{FF2B5EF4-FFF2-40B4-BE49-F238E27FC236}">
                <a16:creationId xmlns:a16="http://schemas.microsoft.com/office/drawing/2014/main" id="{26C8707A-FF22-45A5-B14B-1DE4BD7BDC9A}"/>
              </a:ext>
            </a:extLst>
          </p:cNvPr>
          <p:cNvSpPr>
            <a:spLocks noGrp="1" noChangeArrowheads="1"/>
          </p:cNvSpPr>
          <p:nvPr>
            <p:ph type="body" idx="4294967295"/>
          </p:nvPr>
        </p:nvSpPr>
        <p:spPr/>
        <p:txBody>
          <a:bodyPr/>
          <a:lstStyle/>
          <a:p>
            <a:pPr>
              <a:lnSpc>
                <a:spcPct val="150000"/>
              </a:lnSpc>
            </a:pPr>
            <a:r>
              <a:rPr lang="en-US" altLang="zh-CN" dirty="0" err="1"/>
              <a:t>Sql</a:t>
            </a:r>
            <a:r>
              <a:rPr lang="zh-CN" altLang="en-US" dirty="0"/>
              <a:t>语言的数据更新语句</a:t>
            </a:r>
            <a:r>
              <a:rPr lang="en-US" altLang="zh-CN" dirty="0"/>
              <a:t>DML</a:t>
            </a:r>
            <a:r>
              <a:rPr lang="zh-CN" altLang="en-US" dirty="0"/>
              <a:t>主要包括三种语句</a:t>
            </a:r>
            <a:r>
              <a:rPr lang="en-US" altLang="zh-CN" dirty="0"/>
              <a:t>:</a:t>
            </a:r>
          </a:p>
          <a:p>
            <a:pPr lvl="1">
              <a:lnSpc>
                <a:spcPct val="150000"/>
              </a:lnSpc>
            </a:pPr>
            <a:r>
              <a:rPr lang="zh-CN" altLang="en-US" dirty="0"/>
              <a:t>插入数据、</a:t>
            </a:r>
          </a:p>
          <a:p>
            <a:pPr lvl="1">
              <a:lnSpc>
                <a:spcPct val="150000"/>
              </a:lnSpc>
            </a:pPr>
            <a:r>
              <a:rPr lang="zh-CN" altLang="en-US" dirty="0"/>
              <a:t>修改数据、</a:t>
            </a:r>
          </a:p>
          <a:p>
            <a:pPr lvl="1">
              <a:lnSpc>
                <a:spcPct val="150000"/>
              </a:lnSpc>
            </a:pPr>
            <a:r>
              <a:rPr lang="zh-CN" altLang="en-US" dirty="0"/>
              <a:t>删除数据</a:t>
            </a:r>
          </a:p>
        </p:txBody>
      </p:sp>
    </p:spTree>
    <p:extLst>
      <p:ext uri="{BB962C8B-B14F-4D97-AF65-F5344CB8AC3E}">
        <p14:creationId xmlns:p14="http://schemas.microsoft.com/office/powerpoint/2010/main" val="1768747847"/>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9069" y="565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插入数据</a:t>
            </a:r>
          </a:p>
        </p:txBody>
      </p:sp>
      <p:sp>
        <p:nvSpPr>
          <p:cNvPr id="16" name="Text Box 4"/>
          <p:cNvSpPr txBox="1">
            <a:spLocks noChangeArrowheads="1"/>
          </p:cNvSpPr>
          <p:nvPr/>
        </p:nvSpPr>
        <p:spPr bwMode="auto">
          <a:xfrm>
            <a:off x="271984" y="871368"/>
            <a:ext cx="10081120" cy="685800"/>
          </a:xfrm>
          <a:prstGeom prst="rect">
            <a:avLst/>
          </a:prstGeom>
          <a:noFill/>
          <a:ln w="12700" cap="sq">
            <a:noFill/>
            <a:miter lim="800000"/>
            <a:headEnd type="none" w="sm" len="sm"/>
            <a:tailEnd type="none" w="sm" len="sm"/>
          </a:ln>
          <a:effectLst/>
        </p:spPr>
        <p:txBody>
          <a:bodyPr/>
          <a:lstStyle/>
          <a:p>
            <a:pPr marL="358775" marR="0" lvl="0" indent="-358775" algn="l" defTabSz="914400" rtl="0" eaLnBrk="1" fontAlgn="auto" latinLnBrk="0" hangingPunct="1">
              <a:lnSpc>
                <a:spcPct val="100000"/>
              </a:lnSpc>
              <a:spcBef>
                <a:spcPts val="0"/>
              </a:spcBef>
              <a:spcAft>
                <a:spcPct val="30000"/>
              </a:spcAft>
              <a:buClr>
                <a:srgbClr val="66FF33"/>
              </a:buClr>
              <a:buSzPct val="85000"/>
              <a:buFontTx/>
              <a:buBlip>
                <a:blip r:embed="rId3"/>
              </a:buBlip>
              <a:tabLst>
                <a:tab pos="381000" algn="l"/>
              </a:tabLst>
              <a:defRPr/>
            </a:pPr>
            <a:r>
              <a:rPr kumimoji="0" lang="zh-CN" altLang="en-US" sz="3600" b="0" i="0" u="none" strike="noStrike" kern="0" cap="none" spc="0" normalizeH="0" baseline="0" noProof="0" dirty="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插入单个元组</a:t>
            </a:r>
          </a:p>
          <a:p>
            <a:pPr marL="358775" marR="0" lvl="0" indent="-358775" algn="l" defTabSz="914400" rtl="0" eaLnBrk="1" fontAlgn="auto" latinLnBrk="0" hangingPunct="1">
              <a:lnSpc>
                <a:spcPct val="100000"/>
              </a:lnSpc>
              <a:spcBef>
                <a:spcPct val="35000"/>
              </a:spcBef>
              <a:spcAft>
                <a:spcPct val="0"/>
              </a:spcAft>
              <a:buClr>
                <a:srgbClr val="FFFFCC"/>
              </a:buClr>
              <a:buSzPct val="60000"/>
              <a:buFontTx/>
              <a:buNone/>
              <a:tabLst>
                <a:tab pos="381000" algn="l"/>
              </a:tabLst>
              <a:defRPr/>
            </a:pPr>
            <a:r>
              <a:rPr kumimoji="0" lang="en-US" altLang="zh-CN" sz="3600" b="1" i="0" u="none" strike="noStrike" kern="0" cap="none" spc="0" normalizeH="0" baseline="0" noProof="0" dirty="0">
                <a:ln>
                  <a:noFill/>
                </a:ln>
                <a:solidFill>
                  <a:srgbClr val="FFFF00"/>
                </a:solidFill>
                <a:effectLst>
                  <a:outerShdw blurRad="38100" dist="38100" dir="2700000" algn="tl">
                    <a:srgbClr val="000000"/>
                  </a:outerShdw>
                </a:effectLst>
                <a:uLnTx/>
                <a:uFillTx/>
                <a:latin typeface="Arial" charset="0"/>
                <a:ea typeface="黑体" panose="02010609060101010101" pitchFamily="49" charset="-122"/>
                <a:cs typeface="+mn-cs"/>
              </a:rPr>
              <a:t>	INSERT</a:t>
            </a:r>
            <a:r>
              <a:rPr kumimoji="0" lang="en-US" altLang="zh-CN" sz="3600" b="0" i="0" u="none" strike="noStrike" kern="0" cap="none" spc="0" normalizeH="0" baseline="0" noProof="0" dirty="0">
                <a:ln>
                  <a:noFill/>
                </a:ln>
                <a:solidFill>
                  <a:srgbClr val="FFFF00"/>
                </a:solidFill>
                <a:effectLst>
                  <a:outerShdw blurRad="38100" dist="38100" dir="2700000" algn="tl">
                    <a:srgbClr val="000000"/>
                  </a:outerShdw>
                </a:effectLst>
                <a:uLnTx/>
                <a:uFillTx/>
                <a:latin typeface="Arial" charset="0"/>
                <a:ea typeface="黑体" panose="02010609060101010101" pitchFamily="49" charset="-122"/>
                <a:cs typeface="+mn-cs"/>
              </a:rPr>
              <a:t> </a:t>
            </a:r>
            <a:r>
              <a:rPr kumimoji="0" lang="en-US" altLang="zh-CN" sz="3600" b="1" i="0" u="none" strike="noStrike" kern="0" cap="none" spc="0" normalizeH="0" baseline="0" noProof="0" dirty="0">
                <a:ln>
                  <a:noFill/>
                </a:ln>
                <a:solidFill>
                  <a:srgbClr val="FFFF00"/>
                </a:solidFill>
                <a:effectLst>
                  <a:outerShdw blurRad="38100" dist="38100" dir="2700000" algn="tl">
                    <a:srgbClr val="000000"/>
                  </a:outerShdw>
                </a:effectLst>
                <a:uLnTx/>
                <a:uFillTx/>
                <a:latin typeface="Arial" charset="0"/>
                <a:ea typeface="黑体" panose="02010609060101010101" pitchFamily="49" charset="-122"/>
                <a:cs typeface="+mn-cs"/>
              </a:rPr>
              <a:t>INTO</a:t>
            </a:r>
            <a:r>
              <a:rPr kumimoji="0" lang="en-US" altLang="zh-CN" sz="3600" b="0" i="0" u="none" strike="noStrike" kern="0" cap="none" spc="0" normalizeH="0" baseline="0" noProof="0" dirty="0">
                <a:ln>
                  <a:noFill/>
                </a:ln>
                <a:solidFill>
                  <a:sysClr val="windowText" lastClr="000000"/>
                </a:solidFill>
                <a:effectLst>
                  <a:outerShdw blurRad="38100" dist="38100" dir="2700000" algn="tl">
                    <a:srgbClr val="000000"/>
                  </a:outerShdw>
                </a:effectLst>
                <a:uLnTx/>
                <a:uFillTx/>
                <a:latin typeface="Arial" charset="0"/>
                <a:ea typeface="黑体" panose="02010609060101010101" pitchFamily="49" charset="-122"/>
                <a:cs typeface="+mn-cs"/>
              </a:rPr>
              <a:t>  </a:t>
            </a:r>
            <a:r>
              <a:rPr kumimoji="0" lang="en-US" altLang="zh-CN"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&lt;</a:t>
            </a:r>
            <a:r>
              <a:rPr kumimoji="0" lang="zh-CN" altLang="en-US" sz="3600" b="0" i="1"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表名</a:t>
            </a:r>
            <a:r>
              <a:rPr kumimoji="0"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&gt;  [(&lt;</a:t>
            </a:r>
            <a:r>
              <a:rPr kumimoji="0" lang="zh-CN" altLang="en-US" sz="3600" b="0" i="1"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列名1</a:t>
            </a:r>
            <a:r>
              <a:rPr kumimoji="0"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&gt;[,&lt;</a:t>
            </a:r>
            <a:r>
              <a:rPr kumimoji="0" lang="zh-CN" altLang="en-US" sz="3600" b="0" i="1"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列名2</a:t>
            </a:r>
            <a:r>
              <a:rPr kumimoji="0"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&gt;]...)]</a:t>
            </a:r>
          </a:p>
          <a:p>
            <a:pPr marL="358775" marR="0" lvl="0" indent="-358775" algn="l" defTabSz="914400" rtl="0" eaLnBrk="1" fontAlgn="auto" latinLnBrk="0" hangingPunct="1">
              <a:lnSpc>
                <a:spcPct val="100000"/>
              </a:lnSpc>
              <a:spcBef>
                <a:spcPts val="0"/>
              </a:spcBef>
              <a:spcAft>
                <a:spcPct val="0"/>
              </a:spcAft>
              <a:buClr>
                <a:srgbClr val="FFFFCC"/>
              </a:buClr>
              <a:buSzPct val="60000"/>
              <a:buFontTx/>
              <a:buNone/>
              <a:tabLst>
                <a:tab pos="381000" algn="l"/>
              </a:tabLst>
              <a:defRPr/>
            </a:pPr>
            <a:r>
              <a:rPr kumimoji="0" lang="en-US" altLang="zh-CN" sz="3600" b="1" i="0" u="none" strike="noStrike" kern="0" cap="none" spc="0" normalizeH="0" baseline="0" noProof="0" dirty="0">
                <a:ln>
                  <a:noFill/>
                </a:ln>
                <a:solidFill>
                  <a:srgbClr val="FFFF00"/>
                </a:solidFill>
                <a:effectLst>
                  <a:outerShdw blurRad="38100" dist="38100" dir="2700000" algn="tl">
                    <a:srgbClr val="000000"/>
                  </a:outerShdw>
                </a:effectLst>
                <a:uLnTx/>
                <a:uFillTx/>
                <a:latin typeface="Arial" charset="0"/>
                <a:ea typeface="黑体" panose="02010609060101010101" pitchFamily="49" charset="-122"/>
                <a:cs typeface="+mn-cs"/>
              </a:rPr>
              <a:t>	VALUES</a:t>
            </a:r>
            <a:r>
              <a:rPr kumimoji="0" lang="en-US" altLang="zh-CN" sz="3600" b="0" i="0" u="none" strike="noStrike" kern="0" cap="none" spc="0" normalizeH="0" baseline="0" noProof="0" dirty="0">
                <a:ln>
                  <a:noFill/>
                </a:ln>
                <a:solidFill>
                  <a:sysClr val="windowText" lastClr="000000"/>
                </a:solidFill>
                <a:effectLst>
                  <a:outerShdw blurRad="38100" dist="38100" dir="2700000" algn="tl">
                    <a:srgbClr val="000000"/>
                  </a:outerShdw>
                </a:effectLst>
                <a:uLnTx/>
                <a:uFillTx/>
                <a:latin typeface="Arial" charset="0"/>
                <a:ea typeface="黑体" panose="02010609060101010101" pitchFamily="49" charset="-122"/>
                <a:cs typeface="+mn-cs"/>
              </a:rPr>
              <a:t>  </a:t>
            </a:r>
            <a:r>
              <a:rPr kumimoji="0" lang="en-US" altLang="zh-CN"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(&lt;</a:t>
            </a:r>
            <a:r>
              <a:rPr kumimoji="0" lang="zh-CN" altLang="en-US" sz="3600" b="0" i="1"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常量1</a:t>
            </a:r>
            <a:r>
              <a:rPr kumimoji="0"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&gt; [,&lt;</a:t>
            </a:r>
            <a:r>
              <a:rPr kumimoji="0" lang="zh-CN" altLang="en-US" sz="3600" b="0" i="1"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常量2</a:t>
            </a:r>
            <a:r>
              <a:rPr kumimoji="0"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&gt;]...)</a:t>
            </a:r>
            <a:r>
              <a:rPr kumimoji="0" lang="zh-CN" altLang="en-US" sz="3600" b="0" i="0" u="none" strike="noStrike" kern="0" cap="none" spc="0" normalizeH="0" baseline="0" noProof="0" dirty="0">
                <a:ln>
                  <a:noFill/>
                </a:ln>
                <a:solidFill>
                  <a:sysClr val="windowText" lastClr="000000"/>
                </a:solidFill>
                <a:effectLst>
                  <a:outerShdw blurRad="38100" dist="38100" dir="2700000" algn="tl">
                    <a:srgbClr val="000000"/>
                  </a:outerShdw>
                </a:effectLst>
                <a:uLnTx/>
                <a:uFillTx/>
                <a:latin typeface="Arial" charset="0"/>
                <a:ea typeface="黑体" panose="02010609060101010101" pitchFamily="49" charset="-122"/>
                <a:cs typeface="+mn-cs"/>
              </a:rPr>
              <a:t> </a:t>
            </a:r>
            <a:endParaRPr kumimoji="0"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graphicFrame>
        <p:nvGraphicFramePr>
          <p:cNvPr id="17" name="Group 5"/>
          <p:cNvGraphicFramePr>
            <a:graphicFrameLocks noGrp="1"/>
          </p:cNvGraphicFramePr>
          <p:nvPr/>
        </p:nvGraphicFramePr>
        <p:xfrm>
          <a:off x="4953551" y="189888"/>
          <a:ext cx="4824535" cy="1219200"/>
        </p:xfrm>
        <a:graphic>
          <a:graphicData uri="http://schemas.openxmlformats.org/drawingml/2006/table">
            <a:tbl>
              <a:tblPr/>
              <a:tblGrid>
                <a:gridCol w="863576">
                  <a:extLst>
                    <a:ext uri="{9D8B030D-6E8A-4147-A177-3AD203B41FA5}">
                      <a16:colId xmlns:a16="http://schemas.microsoft.com/office/drawing/2014/main" val="20000"/>
                    </a:ext>
                  </a:extLst>
                </a:gridCol>
                <a:gridCol w="980497">
                  <a:extLst>
                    <a:ext uri="{9D8B030D-6E8A-4147-A177-3AD203B41FA5}">
                      <a16:colId xmlns:a16="http://schemas.microsoft.com/office/drawing/2014/main" val="20001"/>
                    </a:ext>
                  </a:extLst>
                </a:gridCol>
                <a:gridCol w="715885">
                  <a:extLst>
                    <a:ext uri="{9D8B030D-6E8A-4147-A177-3AD203B41FA5}">
                      <a16:colId xmlns:a16="http://schemas.microsoft.com/office/drawing/2014/main" val="20002"/>
                    </a:ext>
                  </a:extLst>
                </a:gridCol>
                <a:gridCol w="756911">
                  <a:extLst>
                    <a:ext uri="{9D8B030D-6E8A-4147-A177-3AD203B41FA5}">
                      <a16:colId xmlns:a16="http://schemas.microsoft.com/office/drawing/2014/main" val="20003"/>
                    </a:ext>
                  </a:extLst>
                </a:gridCol>
                <a:gridCol w="719987">
                  <a:extLst>
                    <a:ext uri="{9D8B030D-6E8A-4147-A177-3AD203B41FA5}">
                      <a16:colId xmlns:a16="http://schemas.microsoft.com/office/drawing/2014/main" val="20004"/>
                    </a:ext>
                  </a:extLst>
                </a:gridCol>
                <a:gridCol w="787679">
                  <a:extLst>
                    <a:ext uri="{9D8B030D-6E8A-4147-A177-3AD203B41FA5}">
                      <a16:colId xmlns:a16="http://schemas.microsoft.com/office/drawing/2014/main" val="20005"/>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系</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籍贯</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张军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21</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成都</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刘华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重庆</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伍松</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雅安</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0" name="Rectangle 49"/>
          <p:cNvSpPr>
            <a:spLocks noChangeArrowheads="1"/>
          </p:cNvSpPr>
          <p:nvPr/>
        </p:nvSpPr>
        <p:spPr bwMode="auto">
          <a:xfrm>
            <a:off x="661814" y="3429000"/>
            <a:ext cx="11122818" cy="936625"/>
          </a:xfrm>
          <a:prstGeom prst="rect">
            <a:avLst/>
          </a:prstGeom>
          <a:noFill/>
          <a:ln w="12700" cap="sq">
            <a:noFill/>
            <a:miter lim="800000"/>
            <a:headEnd/>
            <a:tailEnd/>
          </a:ln>
          <a:effectLst/>
        </p:spPr>
        <p:txBody>
          <a:bodyPr lIns="0" tIns="0" rIns="0" bIns="0"/>
          <a:lstStyle/>
          <a:p>
            <a:pPr marL="0" marR="0" lvl="0" indent="0" algn="just" defTabSz="914400" rtl="0" eaLnBrk="1" fontAlgn="auto" latinLnBrk="0" hangingPunct="1">
              <a:lnSpc>
                <a:spcPct val="100000"/>
              </a:lnSpc>
              <a:spcBef>
                <a:spcPct val="15000"/>
              </a:spcBef>
              <a:spcAft>
                <a:spcPct val="0"/>
              </a:spcAft>
              <a:buClr>
                <a:srgbClr val="FFFFFF"/>
              </a:buClr>
              <a:buSzTx/>
              <a:buFontTx/>
              <a:buNone/>
              <a:tabLst/>
              <a:defRPr/>
            </a:pPr>
            <a:r>
              <a:rPr kumimoji="0" lang="zh-CN" altLang="en-US" sz="3600" b="0" i="0" u="none" strike="noStrike" kern="0" cap="none" spc="0" normalizeH="0" baseline="0" noProof="0" dirty="0">
                <a:ln>
                  <a:noFill/>
                </a:ln>
                <a:solidFill>
                  <a:prstClr val="white"/>
                </a:solidFill>
                <a:effectLst>
                  <a:outerShdw blurRad="38100" dist="38100" dir="2700000" algn="tl">
                    <a:srgbClr val="000000"/>
                  </a:outerShdw>
                </a:effectLst>
                <a:uLnTx/>
                <a:uFillTx/>
                <a:latin typeface="Franklin Gothic Book"/>
                <a:ea typeface="黑体" panose="02010609060101010101" pitchFamily="49" charset="-122"/>
                <a:cs typeface="+mn-cs"/>
              </a:rPr>
              <a:t>如果表名后不指明任何列名，那么必须在</a:t>
            </a:r>
            <a:r>
              <a:rPr kumimoji="0" lang="en-US" altLang="zh-CN" sz="3600" b="0" i="0" u="none" strike="noStrike" kern="0" cap="none" spc="0" normalizeH="0" baseline="0" noProof="0" dirty="0">
                <a:ln>
                  <a:noFill/>
                </a:ln>
                <a:solidFill>
                  <a:prstClr val="white"/>
                </a:solidFill>
                <a:effectLst>
                  <a:outerShdw blurRad="38100" dist="38100" dir="2700000" algn="tl">
                    <a:srgbClr val="000000"/>
                  </a:outerShdw>
                </a:effectLst>
                <a:uLnTx/>
                <a:uFillTx/>
                <a:latin typeface="Franklin Gothic Book"/>
                <a:ea typeface="黑体" panose="02010609060101010101" pitchFamily="49" charset="-122"/>
                <a:cs typeface="+mn-cs"/>
              </a:rPr>
              <a:t>VALUES</a:t>
            </a:r>
            <a:r>
              <a:rPr kumimoji="0" lang="zh-CN" altLang="en-US" sz="3600" b="0" i="0" u="none" strike="noStrike" kern="0" cap="none" spc="0" normalizeH="0" baseline="0" noProof="0" dirty="0">
                <a:ln>
                  <a:noFill/>
                </a:ln>
                <a:solidFill>
                  <a:prstClr val="white"/>
                </a:solidFill>
                <a:effectLst>
                  <a:outerShdw blurRad="38100" dist="38100" dir="2700000" algn="tl">
                    <a:srgbClr val="000000"/>
                  </a:outerShdw>
                </a:effectLst>
                <a:uLnTx/>
                <a:uFillTx/>
                <a:latin typeface="Franklin Gothic Book"/>
                <a:ea typeface="黑体" panose="02010609060101010101" pitchFamily="49" charset="-122"/>
                <a:cs typeface="+mn-cs"/>
              </a:rPr>
              <a:t>子句中</a:t>
            </a:r>
            <a:r>
              <a:rPr kumimoji="0" lang="zh-CN" altLang="en-US" sz="3600" b="0" i="0" u="none" strike="noStrike" kern="0" cap="none" spc="0" normalizeH="0" baseline="0" noProof="0" dirty="0">
                <a:ln>
                  <a:noFill/>
                </a:ln>
                <a:solidFill>
                  <a:srgbClr val="FFFF00"/>
                </a:solidFill>
                <a:effectLst>
                  <a:outerShdw blurRad="38100" dist="38100" dir="2700000" algn="tl">
                    <a:srgbClr val="000000"/>
                  </a:outerShdw>
                </a:effectLst>
                <a:uLnTx/>
                <a:uFillTx/>
                <a:latin typeface="Franklin Gothic Book"/>
                <a:ea typeface="黑体" panose="02010609060101010101" pitchFamily="49" charset="-122"/>
                <a:cs typeface="+mn-cs"/>
              </a:rPr>
              <a:t>依次</a:t>
            </a:r>
            <a:r>
              <a:rPr kumimoji="0" lang="zh-CN" altLang="en-US" sz="3600" b="0" i="0" u="none" strike="noStrike" kern="0" cap="none" spc="0" normalizeH="0" baseline="0" noProof="0" dirty="0">
                <a:ln>
                  <a:noFill/>
                </a:ln>
                <a:solidFill>
                  <a:prstClr val="white"/>
                </a:solidFill>
                <a:effectLst>
                  <a:outerShdw blurRad="38100" dist="38100" dir="2700000" algn="tl">
                    <a:srgbClr val="000000"/>
                  </a:outerShdw>
                </a:effectLst>
                <a:uLnTx/>
                <a:uFillTx/>
                <a:latin typeface="Franklin Gothic Book"/>
                <a:ea typeface="黑体" panose="02010609060101010101" pitchFamily="49" charset="-122"/>
                <a:cs typeface="+mn-cs"/>
              </a:rPr>
              <a:t>给出</a:t>
            </a:r>
            <a:r>
              <a:rPr kumimoji="0" lang="zh-CN" altLang="en-US" sz="3600" b="0" i="0" u="none" strike="noStrike" kern="0" cap="none" spc="0" normalizeH="0" baseline="0" noProof="0" dirty="0">
                <a:ln>
                  <a:noFill/>
                </a:ln>
                <a:solidFill>
                  <a:srgbClr val="FFFF00"/>
                </a:solidFill>
                <a:effectLst>
                  <a:outerShdw blurRad="38100" dist="38100" dir="2700000" algn="tl">
                    <a:srgbClr val="000000"/>
                  </a:outerShdw>
                </a:effectLst>
                <a:uLnTx/>
                <a:uFillTx/>
                <a:latin typeface="Franklin Gothic Book"/>
                <a:ea typeface="黑体" panose="02010609060101010101" pitchFamily="49" charset="-122"/>
                <a:cs typeface="+mn-cs"/>
              </a:rPr>
              <a:t>全部</a:t>
            </a:r>
            <a:r>
              <a:rPr kumimoji="0" lang="zh-CN" altLang="en-US" sz="3600" b="0" i="0" u="none" strike="noStrike" kern="0" cap="none" spc="0" normalizeH="0" baseline="0" noProof="0" dirty="0">
                <a:ln>
                  <a:noFill/>
                </a:ln>
                <a:solidFill>
                  <a:prstClr val="white"/>
                </a:solidFill>
                <a:effectLst>
                  <a:outerShdw blurRad="38100" dist="38100" dir="2700000" algn="tl">
                    <a:srgbClr val="000000"/>
                  </a:outerShdw>
                </a:effectLst>
                <a:uLnTx/>
                <a:uFillTx/>
                <a:latin typeface="Franklin Gothic Book"/>
                <a:ea typeface="黑体" panose="02010609060101010101" pitchFamily="49" charset="-122"/>
                <a:cs typeface="+mn-cs"/>
              </a:rPr>
              <a:t>列值。</a:t>
            </a:r>
          </a:p>
        </p:txBody>
      </p:sp>
      <p:sp>
        <p:nvSpPr>
          <p:cNvPr id="21" name="Rectangle 50"/>
          <p:cNvSpPr>
            <a:spLocks noChangeArrowheads="1"/>
          </p:cNvSpPr>
          <p:nvPr/>
        </p:nvSpPr>
        <p:spPr bwMode="auto">
          <a:xfrm>
            <a:off x="793577" y="4869160"/>
            <a:ext cx="10775031" cy="430887"/>
          </a:xfrm>
          <a:prstGeom prst="rect">
            <a:avLst/>
          </a:prstGeom>
          <a:noFill/>
          <a:ln w="12700" cap="sq">
            <a:noFill/>
            <a:miter lim="800000"/>
            <a:headEnd/>
            <a:tailEnd/>
          </a:ln>
          <a:effectLst/>
        </p:spPr>
        <p:txBody>
          <a:bodyPr wrap="square" lIns="0" tIns="0" rIns="0" bIns="0">
            <a:spAutoFit/>
          </a:bodyPr>
          <a:lstStyle/>
          <a:p>
            <a:pPr marL="0" marR="0" lvl="0" indent="0" algn="l" defTabSz="914400" rtl="0" eaLnBrk="1" fontAlgn="auto" latinLnBrk="0" hangingPunct="1">
              <a:lnSpc>
                <a:spcPct val="100000"/>
              </a:lnSpc>
              <a:spcBef>
                <a:spcPts val="0"/>
              </a:spcBef>
              <a:spcAft>
                <a:spcPct val="20000"/>
              </a:spcAft>
              <a:buClr>
                <a:srgbClr val="FFFFFF"/>
              </a:buClr>
              <a:buSzPct val="85000"/>
              <a:buFontTx/>
              <a:buNone/>
              <a:tabLst/>
              <a:defRPr/>
            </a:pPr>
            <a:r>
              <a:rPr kumimoji="0" lang="zh-CN" altLang="en-US" sz="2800" b="0" i="0" u="none" strike="noStrike" kern="0" cap="none" spc="0" normalizeH="0" baseline="0" noProof="0" dirty="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为</a:t>
            </a:r>
            <a:r>
              <a:rPr kumimoji="0" lang="en-US" altLang="zh-CN" sz="2800" b="0" i="0" u="none" strike="noStrike" kern="0" cap="none" spc="0" normalizeH="0" baseline="0" noProof="0" dirty="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IS</a:t>
            </a:r>
            <a:r>
              <a:rPr kumimoji="0" lang="zh-CN" altLang="en-US" sz="2800" b="0" i="0" u="none" strike="noStrike" kern="0" cap="none" spc="0" normalizeH="0" baseline="0" noProof="0" dirty="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系增加一名学号为</a:t>
            </a:r>
            <a:r>
              <a:rPr kumimoji="0" lang="en-US" altLang="zh-CN" sz="2800" b="0" i="0" u="none" strike="noStrike" kern="0" cap="none" spc="0" normalizeH="0" baseline="0" noProof="0" dirty="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98004</a:t>
            </a:r>
            <a:r>
              <a:rPr kumimoji="0" lang="zh-CN" altLang="en-US" sz="2800" b="0" i="0" u="none" strike="noStrike" kern="0" cap="none" spc="0" normalizeH="0" baseline="0" noProof="0" dirty="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，来自成都的名叫陈宇的</a:t>
            </a:r>
            <a:r>
              <a:rPr kumimoji="0" lang="en-US" altLang="zh-CN" sz="2800" b="0" i="0" u="none" strike="noStrike" kern="0" cap="none" spc="0" normalizeH="0" baseline="0" noProof="0" dirty="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19</a:t>
            </a:r>
            <a:r>
              <a:rPr kumimoji="0" lang="zh-CN" altLang="en-US" sz="2800" b="0" i="0" u="none" strike="noStrike" kern="0" cap="none" spc="0" normalizeH="0" baseline="0" noProof="0" dirty="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岁女学生</a:t>
            </a:r>
            <a:r>
              <a:rPr kumimoji="0" lang="en-US" altLang="zh-CN" sz="2800" b="0" i="0" u="none" strike="noStrike" kern="0" cap="none" spc="0" normalizeH="0" baseline="0" noProof="0" dirty="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a:t>
            </a:r>
            <a:endParaRPr kumimoji="0" lang="en-US" altLang="zh-CN"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
        <p:nvSpPr>
          <p:cNvPr id="22" name="Rectangle 51"/>
          <p:cNvSpPr>
            <a:spLocks noChangeArrowheads="1"/>
          </p:cNvSpPr>
          <p:nvPr/>
        </p:nvSpPr>
        <p:spPr bwMode="auto">
          <a:xfrm>
            <a:off x="4669089" y="189888"/>
            <a:ext cx="157094" cy="338554"/>
          </a:xfrm>
          <a:prstGeom prst="rect">
            <a:avLst/>
          </a:prstGeom>
          <a:noFill/>
          <a:ln w="12700" cap="sq">
            <a:noFill/>
            <a:miter lim="800000"/>
            <a:headEnd/>
            <a:tailEnd/>
          </a:ln>
          <a:effectLst/>
        </p:spPr>
        <p:txBody>
          <a:bodyPr wrap="none" lIns="0" tIns="0" rIns="0" bIns="0">
            <a:spAutoFit/>
          </a:bodyPr>
          <a:lstStyle/>
          <a:p>
            <a:pPr marL="0" marR="0" lvl="0" indent="0" algn="l" defTabSz="914400" rtl="0" eaLnBrk="1" fontAlgn="auto" latinLnBrk="0" hangingPunct="1">
              <a:lnSpc>
                <a:spcPct val="100000"/>
              </a:lnSpc>
              <a:spcBef>
                <a:spcPts val="0"/>
              </a:spcBef>
              <a:spcAft>
                <a:spcPct val="0"/>
              </a:spcAft>
              <a:buClrTx/>
              <a:buSzTx/>
              <a:buFontTx/>
              <a:buNone/>
              <a:tabLst/>
              <a:defRPr/>
            </a:pPr>
            <a:r>
              <a:rPr kumimoji="0" lang="en-US" altLang="zh-CN" sz="22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Times New Roman" pitchFamily="18" charset="0"/>
                <a:ea typeface="黑体" panose="02010609060101010101" pitchFamily="49" charset="-122"/>
                <a:cs typeface="+mn-cs"/>
              </a:rPr>
              <a:t>S</a:t>
            </a:r>
          </a:p>
        </p:txBody>
      </p:sp>
      <p:sp>
        <p:nvSpPr>
          <p:cNvPr id="24" name="Rectangle 48"/>
          <p:cNvSpPr>
            <a:spLocks noChangeArrowheads="1"/>
          </p:cNvSpPr>
          <p:nvPr/>
        </p:nvSpPr>
        <p:spPr bwMode="auto">
          <a:xfrm>
            <a:off x="790354" y="5432634"/>
            <a:ext cx="10250186" cy="1107996"/>
          </a:xfrm>
          <a:prstGeom prst="rect">
            <a:avLst/>
          </a:prstGeom>
          <a:noFill/>
          <a:ln w="12700" cap="sq">
            <a:noFill/>
            <a:miter lim="800000"/>
            <a:headEnd/>
            <a:tailEnd/>
          </a:ln>
          <a:effectLst/>
        </p:spPr>
        <p:txBody>
          <a:bodyPr wrap="square" lIns="0" tIns="0" rIns="0" bIns="0">
            <a:spAutoFit/>
          </a:bodyPr>
          <a:lstStyle/>
          <a:p>
            <a:pPr marL="0" marR="0" lvl="0" indent="0" algn="l" defTabSz="914400" rtl="0" eaLnBrk="1" fontAlgn="auto" latinLnBrk="0" hangingPunct="1">
              <a:lnSpc>
                <a:spcPct val="100000"/>
              </a:lnSpc>
              <a:spcBef>
                <a:spcPts val="0"/>
              </a:spcBef>
              <a:spcAft>
                <a:spcPct val="0"/>
              </a:spcAft>
              <a:buClr>
                <a:srgbClr val="FFFFFF"/>
              </a:buClr>
              <a:buSzPct val="85000"/>
              <a:buFontTx/>
              <a:buNone/>
              <a:tabLst/>
              <a:defRPr/>
            </a:pPr>
            <a:r>
              <a:rPr kumimoji="0" lang="en-US" altLang="zh-CN" sz="36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INSERT INTO S </a:t>
            </a:r>
            <a:endParaRPr kumimoji="0" lang="zh-CN" altLang="en-US" sz="36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ct val="0"/>
              </a:spcAft>
              <a:buClr>
                <a:srgbClr val="FFFFFF"/>
              </a:buClr>
              <a:buSzPct val="85000"/>
              <a:buFontTx/>
              <a:buNone/>
              <a:tabLst/>
              <a:defRPr/>
            </a:pPr>
            <a:r>
              <a:rPr kumimoji="0" lang="en-US" altLang="zh-CN" sz="36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VALUES('98004','</a:t>
            </a:r>
            <a:r>
              <a:rPr kumimoji="0" lang="zh-CN" altLang="en-US" sz="36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陈宇','女',19,'</a:t>
            </a:r>
            <a:r>
              <a:rPr kumimoji="0" lang="en-US" altLang="zh-CN" sz="36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IS','</a:t>
            </a:r>
            <a:r>
              <a:rPr kumimoji="0" lang="zh-CN" altLang="en-US" sz="36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成都') </a:t>
            </a:r>
            <a:endParaRPr kumimoji="0" lang="en-US" altLang="zh-CN"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Tree>
    <p:extLst>
      <p:ext uri="{BB962C8B-B14F-4D97-AF65-F5344CB8AC3E}">
        <p14:creationId xmlns:p14="http://schemas.microsoft.com/office/powerpoint/2010/main" val="1563646811"/>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9069" y="565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插入数据</a:t>
            </a:r>
          </a:p>
        </p:txBody>
      </p:sp>
      <p:sp>
        <p:nvSpPr>
          <p:cNvPr id="16" name="Text Box 4"/>
          <p:cNvSpPr txBox="1">
            <a:spLocks noChangeArrowheads="1"/>
          </p:cNvSpPr>
          <p:nvPr/>
        </p:nvSpPr>
        <p:spPr bwMode="auto">
          <a:xfrm>
            <a:off x="271984" y="871368"/>
            <a:ext cx="10081120" cy="685800"/>
          </a:xfrm>
          <a:prstGeom prst="rect">
            <a:avLst/>
          </a:prstGeom>
          <a:noFill/>
          <a:ln w="12700" cap="sq">
            <a:noFill/>
            <a:miter lim="800000"/>
            <a:headEnd type="none" w="sm" len="sm"/>
            <a:tailEnd type="none" w="sm" len="sm"/>
          </a:ln>
          <a:effectLst/>
        </p:spPr>
        <p:txBody>
          <a:bodyPr/>
          <a:lstStyle/>
          <a:p>
            <a:pPr marL="358775" marR="0" lvl="0" indent="-358775" algn="l" defTabSz="914400" rtl="0" eaLnBrk="1" fontAlgn="auto" latinLnBrk="0" hangingPunct="1">
              <a:lnSpc>
                <a:spcPct val="100000"/>
              </a:lnSpc>
              <a:spcBef>
                <a:spcPts val="0"/>
              </a:spcBef>
              <a:spcAft>
                <a:spcPct val="30000"/>
              </a:spcAft>
              <a:buClr>
                <a:srgbClr val="66FF33"/>
              </a:buClr>
              <a:buSzPct val="85000"/>
              <a:buFontTx/>
              <a:buBlip>
                <a:blip r:embed="rId3"/>
              </a:buBlip>
              <a:tabLst>
                <a:tab pos="381000" algn="l"/>
              </a:tabLst>
              <a:defRPr/>
            </a:pPr>
            <a:r>
              <a:rPr kumimoji="0" lang="zh-CN" altLang="en-US" sz="3600" b="0" i="0" u="none" strike="noStrike" kern="0" cap="none" spc="0" normalizeH="0" baseline="0" noProof="0" dirty="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插入单个元组</a:t>
            </a:r>
          </a:p>
          <a:p>
            <a:pPr marL="358775" marR="0" lvl="0" indent="-358775" algn="l" defTabSz="914400" rtl="0" eaLnBrk="1" fontAlgn="auto" latinLnBrk="0" hangingPunct="1">
              <a:lnSpc>
                <a:spcPct val="100000"/>
              </a:lnSpc>
              <a:spcBef>
                <a:spcPct val="35000"/>
              </a:spcBef>
              <a:spcAft>
                <a:spcPct val="0"/>
              </a:spcAft>
              <a:buClr>
                <a:srgbClr val="FFFFCC"/>
              </a:buClr>
              <a:buSzPct val="60000"/>
              <a:buFontTx/>
              <a:buNone/>
              <a:tabLst>
                <a:tab pos="381000" algn="l"/>
              </a:tabLst>
              <a:defRPr/>
            </a:pPr>
            <a:r>
              <a:rPr kumimoji="0" lang="en-US" altLang="zh-CN" sz="3600" b="1" i="0" u="none" strike="noStrike" kern="0" cap="none" spc="0" normalizeH="0" baseline="0" noProof="0" dirty="0">
                <a:ln>
                  <a:noFill/>
                </a:ln>
                <a:solidFill>
                  <a:srgbClr val="FFFF00"/>
                </a:solidFill>
                <a:effectLst>
                  <a:outerShdw blurRad="38100" dist="38100" dir="2700000" algn="tl">
                    <a:srgbClr val="000000"/>
                  </a:outerShdw>
                </a:effectLst>
                <a:uLnTx/>
                <a:uFillTx/>
                <a:latin typeface="Arial" charset="0"/>
                <a:ea typeface="黑体" panose="02010609060101010101" pitchFamily="49" charset="-122"/>
                <a:cs typeface="+mn-cs"/>
              </a:rPr>
              <a:t>	INSERT</a:t>
            </a:r>
            <a:r>
              <a:rPr kumimoji="0" lang="en-US" altLang="zh-CN" sz="3600" b="0" i="0" u="none" strike="noStrike" kern="0" cap="none" spc="0" normalizeH="0" baseline="0" noProof="0" dirty="0">
                <a:ln>
                  <a:noFill/>
                </a:ln>
                <a:solidFill>
                  <a:srgbClr val="FFFF00"/>
                </a:solidFill>
                <a:effectLst>
                  <a:outerShdw blurRad="38100" dist="38100" dir="2700000" algn="tl">
                    <a:srgbClr val="000000"/>
                  </a:outerShdw>
                </a:effectLst>
                <a:uLnTx/>
                <a:uFillTx/>
                <a:latin typeface="Arial" charset="0"/>
                <a:ea typeface="黑体" panose="02010609060101010101" pitchFamily="49" charset="-122"/>
                <a:cs typeface="+mn-cs"/>
              </a:rPr>
              <a:t> </a:t>
            </a:r>
            <a:r>
              <a:rPr kumimoji="0" lang="en-US" altLang="zh-CN" sz="3600" b="1" i="0" u="none" strike="noStrike" kern="0" cap="none" spc="0" normalizeH="0" baseline="0" noProof="0" dirty="0">
                <a:ln>
                  <a:noFill/>
                </a:ln>
                <a:solidFill>
                  <a:srgbClr val="FFFF00"/>
                </a:solidFill>
                <a:effectLst>
                  <a:outerShdw blurRad="38100" dist="38100" dir="2700000" algn="tl">
                    <a:srgbClr val="000000"/>
                  </a:outerShdw>
                </a:effectLst>
                <a:uLnTx/>
                <a:uFillTx/>
                <a:latin typeface="Arial" charset="0"/>
                <a:ea typeface="黑体" panose="02010609060101010101" pitchFamily="49" charset="-122"/>
                <a:cs typeface="+mn-cs"/>
              </a:rPr>
              <a:t>INTO</a:t>
            </a:r>
            <a:r>
              <a:rPr kumimoji="0" lang="en-US" altLang="zh-CN" sz="3600" b="0" i="0" u="none" strike="noStrike" kern="0" cap="none" spc="0" normalizeH="0" baseline="0" noProof="0" dirty="0">
                <a:ln>
                  <a:noFill/>
                </a:ln>
                <a:solidFill>
                  <a:sysClr val="windowText" lastClr="000000"/>
                </a:solidFill>
                <a:effectLst>
                  <a:outerShdw blurRad="38100" dist="38100" dir="2700000" algn="tl">
                    <a:srgbClr val="000000"/>
                  </a:outerShdw>
                </a:effectLst>
                <a:uLnTx/>
                <a:uFillTx/>
                <a:latin typeface="Arial" charset="0"/>
                <a:ea typeface="黑体" panose="02010609060101010101" pitchFamily="49" charset="-122"/>
                <a:cs typeface="+mn-cs"/>
              </a:rPr>
              <a:t>  </a:t>
            </a:r>
            <a:r>
              <a:rPr kumimoji="0" lang="en-US" altLang="zh-CN"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&lt;</a:t>
            </a:r>
            <a:r>
              <a:rPr kumimoji="0" lang="zh-CN" altLang="en-US" sz="3600" b="0" i="1"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表名</a:t>
            </a:r>
            <a:r>
              <a:rPr kumimoji="0"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&gt;  [(&lt;</a:t>
            </a:r>
            <a:r>
              <a:rPr kumimoji="0" lang="zh-CN" altLang="en-US" sz="3600" b="0" i="1"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列名1</a:t>
            </a:r>
            <a:r>
              <a:rPr kumimoji="0"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&gt;[,&lt;</a:t>
            </a:r>
            <a:r>
              <a:rPr kumimoji="0" lang="zh-CN" altLang="en-US" sz="3600" b="0" i="1"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列名2</a:t>
            </a:r>
            <a:r>
              <a:rPr kumimoji="0"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&gt;]...)]</a:t>
            </a:r>
          </a:p>
          <a:p>
            <a:pPr marL="358775" marR="0" lvl="0" indent="-358775" algn="l" defTabSz="914400" rtl="0" eaLnBrk="1" fontAlgn="auto" latinLnBrk="0" hangingPunct="1">
              <a:lnSpc>
                <a:spcPct val="100000"/>
              </a:lnSpc>
              <a:spcBef>
                <a:spcPts val="0"/>
              </a:spcBef>
              <a:spcAft>
                <a:spcPct val="0"/>
              </a:spcAft>
              <a:buClr>
                <a:srgbClr val="FFFFCC"/>
              </a:buClr>
              <a:buSzPct val="60000"/>
              <a:buFontTx/>
              <a:buNone/>
              <a:tabLst>
                <a:tab pos="381000" algn="l"/>
              </a:tabLst>
              <a:defRPr/>
            </a:pPr>
            <a:r>
              <a:rPr kumimoji="0" lang="en-US" altLang="zh-CN" sz="3600" b="1" i="0" u="none" strike="noStrike" kern="0" cap="none" spc="0" normalizeH="0" baseline="0" noProof="0" dirty="0">
                <a:ln>
                  <a:noFill/>
                </a:ln>
                <a:solidFill>
                  <a:srgbClr val="FFFF00"/>
                </a:solidFill>
                <a:effectLst>
                  <a:outerShdw blurRad="38100" dist="38100" dir="2700000" algn="tl">
                    <a:srgbClr val="000000"/>
                  </a:outerShdw>
                </a:effectLst>
                <a:uLnTx/>
                <a:uFillTx/>
                <a:latin typeface="Arial" charset="0"/>
                <a:ea typeface="黑体" panose="02010609060101010101" pitchFamily="49" charset="-122"/>
                <a:cs typeface="+mn-cs"/>
              </a:rPr>
              <a:t>	VALUES</a:t>
            </a:r>
            <a:r>
              <a:rPr kumimoji="0" lang="en-US" altLang="zh-CN" sz="3600" b="0" i="0" u="none" strike="noStrike" kern="0" cap="none" spc="0" normalizeH="0" baseline="0" noProof="0" dirty="0">
                <a:ln>
                  <a:noFill/>
                </a:ln>
                <a:solidFill>
                  <a:sysClr val="windowText" lastClr="000000"/>
                </a:solidFill>
                <a:effectLst>
                  <a:outerShdw blurRad="38100" dist="38100" dir="2700000" algn="tl">
                    <a:srgbClr val="000000"/>
                  </a:outerShdw>
                </a:effectLst>
                <a:uLnTx/>
                <a:uFillTx/>
                <a:latin typeface="Arial" charset="0"/>
                <a:ea typeface="黑体" panose="02010609060101010101" pitchFamily="49" charset="-122"/>
                <a:cs typeface="+mn-cs"/>
              </a:rPr>
              <a:t>  </a:t>
            </a:r>
            <a:r>
              <a:rPr kumimoji="0" lang="en-US" altLang="zh-CN"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(&lt;</a:t>
            </a:r>
            <a:r>
              <a:rPr kumimoji="0" lang="zh-CN" altLang="en-US" sz="3600" b="0" i="1"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常量1</a:t>
            </a:r>
            <a:r>
              <a:rPr kumimoji="0"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&gt; [,&lt;</a:t>
            </a:r>
            <a:r>
              <a:rPr kumimoji="0" lang="zh-CN" altLang="en-US" sz="3600" b="0" i="1"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常量2</a:t>
            </a:r>
            <a:r>
              <a:rPr kumimoji="0"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&gt;]...)</a:t>
            </a:r>
            <a:r>
              <a:rPr kumimoji="0" lang="zh-CN" altLang="en-US" sz="3600" b="0" i="0" u="none" strike="noStrike" kern="0" cap="none" spc="0" normalizeH="0" baseline="0" noProof="0" dirty="0">
                <a:ln>
                  <a:noFill/>
                </a:ln>
                <a:solidFill>
                  <a:sysClr val="windowText" lastClr="000000"/>
                </a:solidFill>
                <a:effectLst>
                  <a:outerShdw blurRad="38100" dist="38100" dir="2700000" algn="tl">
                    <a:srgbClr val="000000"/>
                  </a:outerShdw>
                </a:effectLst>
                <a:uLnTx/>
                <a:uFillTx/>
                <a:latin typeface="Arial" charset="0"/>
                <a:ea typeface="黑体" panose="02010609060101010101" pitchFamily="49" charset="-122"/>
                <a:cs typeface="+mn-cs"/>
              </a:rPr>
              <a:t> </a:t>
            </a:r>
            <a:endParaRPr kumimoji="0"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graphicFrame>
        <p:nvGraphicFramePr>
          <p:cNvPr id="17" name="Group 5"/>
          <p:cNvGraphicFramePr>
            <a:graphicFrameLocks noGrp="1"/>
          </p:cNvGraphicFramePr>
          <p:nvPr/>
        </p:nvGraphicFramePr>
        <p:xfrm>
          <a:off x="4953551" y="189888"/>
          <a:ext cx="4824535" cy="1219200"/>
        </p:xfrm>
        <a:graphic>
          <a:graphicData uri="http://schemas.openxmlformats.org/drawingml/2006/table">
            <a:tbl>
              <a:tblPr/>
              <a:tblGrid>
                <a:gridCol w="863576">
                  <a:extLst>
                    <a:ext uri="{9D8B030D-6E8A-4147-A177-3AD203B41FA5}">
                      <a16:colId xmlns:a16="http://schemas.microsoft.com/office/drawing/2014/main" val="20000"/>
                    </a:ext>
                  </a:extLst>
                </a:gridCol>
                <a:gridCol w="980497">
                  <a:extLst>
                    <a:ext uri="{9D8B030D-6E8A-4147-A177-3AD203B41FA5}">
                      <a16:colId xmlns:a16="http://schemas.microsoft.com/office/drawing/2014/main" val="20001"/>
                    </a:ext>
                  </a:extLst>
                </a:gridCol>
                <a:gridCol w="715885">
                  <a:extLst>
                    <a:ext uri="{9D8B030D-6E8A-4147-A177-3AD203B41FA5}">
                      <a16:colId xmlns:a16="http://schemas.microsoft.com/office/drawing/2014/main" val="20002"/>
                    </a:ext>
                  </a:extLst>
                </a:gridCol>
                <a:gridCol w="756911">
                  <a:extLst>
                    <a:ext uri="{9D8B030D-6E8A-4147-A177-3AD203B41FA5}">
                      <a16:colId xmlns:a16="http://schemas.microsoft.com/office/drawing/2014/main" val="20003"/>
                    </a:ext>
                  </a:extLst>
                </a:gridCol>
                <a:gridCol w="719987">
                  <a:extLst>
                    <a:ext uri="{9D8B030D-6E8A-4147-A177-3AD203B41FA5}">
                      <a16:colId xmlns:a16="http://schemas.microsoft.com/office/drawing/2014/main" val="20004"/>
                    </a:ext>
                  </a:extLst>
                </a:gridCol>
                <a:gridCol w="787679">
                  <a:extLst>
                    <a:ext uri="{9D8B030D-6E8A-4147-A177-3AD203B41FA5}">
                      <a16:colId xmlns:a16="http://schemas.microsoft.com/office/drawing/2014/main" val="20005"/>
                    </a:ext>
                  </a:extLst>
                </a:gridCol>
              </a:tblGrid>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系</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籍贯</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张军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21</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成都</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刘华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重庆</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伍松</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雅安</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2" name="Rectangle 51"/>
          <p:cNvSpPr>
            <a:spLocks noChangeArrowheads="1"/>
          </p:cNvSpPr>
          <p:nvPr/>
        </p:nvSpPr>
        <p:spPr bwMode="auto">
          <a:xfrm>
            <a:off x="4669089" y="189888"/>
            <a:ext cx="157094" cy="338554"/>
          </a:xfrm>
          <a:prstGeom prst="rect">
            <a:avLst/>
          </a:prstGeom>
          <a:noFill/>
          <a:ln w="12700" cap="sq">
            <a:noFill/>
            <a:miter lim="800000"/>
            <a:headEnd/>
            <a:tailEnd/>
          </a:ln>
          <a:effectLst/>
        </p:spPr>
        <p:txBody>
          <a:bodyPr wrap="none" lIns="0" tIns="0" rIns="0" bIns="0">
            <a:spAutoFit/>
          </a:bodyPr>
          <a:lstStyle/>
          <a:p>
            <a:pPr marL="0" marR="0" lvl="0" indent="0" algn="l" defTabSz="914400" rtl="0" eaLnBrk="1" fontAlgn="auto" latinLnBrk="0" hangingPunct="1">
              <a:lnSpc>
                <a:spcPct val="100000"/>
              </a:lnSpc>
              <a:spcBef>
                <a:spcPts val="0"/>
              </a:spcBef>
              <a:spcAft>
                <a:spcPct val="0"/>
              </a:spcAft>
              <a:buClrTx/>
              <a:buSzTx/>
              <a:buFontTx/>
              <a:buNone/>
              <a:tabLst/>
              <a:defRPr/>
            </a:pPr>
            <a:r>
              <a:rPr kumimoji="0" lang="en-US" altLang="zh-CN" sz="22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Times New Roman" pitchFamily="18" charset="0"/>
                <a:ea typeface="黑体" panose="02010609060101010101" pitchFamily="49" charset="-122"/>
                <a:cs typeface="+mn-cs"/>
              </a:rPr>
              <a:t>S</a:t>
            </a:r>
          </a:p>
        </p:txBody>
      </p:sp>
      <p:sp>
        <p:nvSpPr>
          <p:cNvPr id="2" name="Rectangle 4">
            <a:extLst>
              <a:ext uri="{FF2B5EF4-FFF2-40B4-BE49-F238E27FC236}">
                <a16:creationId xmlns:a16="http://schemas.microsoft.com/office/drawing/2014/main" id="{D4D9F1C5-22E5-4C74-BAA8-3A72395658C8}"/>
              </a:ext>
            </a:extLst>
          </p:cNvPr>
          <p:cNvSpPr>
            <a:spLocks noChangeArrowheads="1"/>
          </p:cNvSpPr>
          <p:nvPr/>
        </p:nvSpPr>
        <p:spPr bwMode="auto">
          <a:xfrm>
            <a:off x="763088" y="5971346"/>
            <a:ext cx="10589496" cy="553998"/>
          </a:xfrm>
          <a:prstGeom prst="rect">
            <a:avLst/>
          </a:prstGeom>
          <a:noFill/>
          <a:ln w="12700" cap="sq">
            <a:noFill/>
            <a:miter lim="800000"/>
            <a:headEnd/>
            <a:tailEnd/>
          </a:ln>
          <a:effectLst/>
        </p:spPr>
        <p:txBody>
          <a:bodyPr wrap="square" lIns="0" tIns="0" rIns="0" bIns="0">
            <a:spAutoFit/>
          </a:bodyPr>
          <a:lstStyle/>
          <a:p>
            <a:pPr marL="0" marR="0" lvl="0" indent="0" algn="l" defTabSz="914400" rtl="0" eaLnBrk="1" fontAlgn="base" latinLnBrk="0" hangingPunct="1">
              <a:lnSpc>
                <a:spcPct val="100000"/>
              </a:lnSpc>
              <a:spcBef>
                <a:spcPct val="0"/>
              </a:spcBef>
              <a:spcAft>
                <a:spcPct val="0"/>
              </a:spcAft>
              <a:buClr>
                <a:srgbClr val="FFFFFF"/>
              </a:buClr>
              <a:buSzPct val="85000"/>
              <a:buFont typeface="Wingdings" pitchFamily="2" charset="2"/>
              <a:buNone/>
              <a:tabLst/>
              <a:defRPr/>
            </a:pPr>
            <a:r>
              <a:rPr kumimoji="1" lang="en-US" altLang="zh-CN" sz="36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楷体_GB2312" pitchFamily="49" charset="-122"/>
                <a:cs typeface="+mn-cs"/>
              </a:rPr>
              <a:t>INSERT INTO S(</a:t>
            </a:r>
            <a:r>
              <a:rPr kumimoji="1" lang="zh-CN" altLang="en-US" sz="3600" b="0" i="0" u="none" strike="noStrike" kern="1200" cap="none" spc="0" normalizeH="0" baseline="0" noProof="0" dirty="0">
                <a:ln>
                  <a:noFill/>
                </a:ln>
                <a:solidFill>
                  <a:srgbClr val="66FFFF"/>
                </a:solidFill>
                <a:effectLst>
                  <a:outerShdw blurRad="38100" dist="38100" dir="2700000" algn="tl">
                    <a:srgbClr val="000000"/>
                  </a:outerShdw>
                </a:effectLst>
                <a:uLnTx/>
                <a:uFillTx/>
                <a:latin typeface="Franklin Gothic Book"/>
                <a:ea typeface="楷体_GB2312" pitchFamily="49" charset="-122"/>
                <a:cs typeface="+mn-cs"/>
              </a:rPr>
              <a:t>姓名</a:t>
            </a:r>
            <a:r>
              <a:rPr kumimoji="1" lang="en-US" altLang="zh-CN" sz="36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楷体_GB2312" pitchFamily="49" charset="-122"/>
                <a:cs typeface="+mn-cs"/>
              </a:rPr>
              <a:t>,</a:t>
            </a:r>
            <a:r>
              <a:rPr kumimoji="1" lang="zh-CN" altLang="en-US" sz="36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Franklin Gothic Book"/>
                <a:ea typeface="楷体_GB2312" pitchFamily="49" charset="-122"/>
                <a:cs typeface="+mn-cs"/>
              </a:rPr>
              <a:t>学号</a:t>
            </a:r>
            <a:r>
              <a:rPr kumimoji="1" lang="en-US" altLang="zh-CN" sz="36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楷体_GB2312" pitchFamily="49" charset="-122"/>
                <a:cs typeface="+mn-cs"/>
              </a:rPr>
              <a:t>)   VALUES</a:t>
            </a:r>
            <a:r>
              <a:rPr kumimoji="1" lang="en-US" altLang="zh-CN"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Franklin Gothic Book"/>
                <a:ea typeface="楷体_GB2312" pitchFamily="49" charset="-122"/>
                <a:cs typeface="+mn-cs"/>
              </a:rPr>
              <a:t>('</a:t>
            </a:r>
            <a:r>
              <a:rPr kumimoji="1" lang="zh-CN" altLang="en-US" sz="36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Franklin Gothic Book"/>
                <a:ea typeface="楷体_GB2312" pitchFamily="49" charset="-122"/>
                <a:cs typeface="+mn-cs"/>
              </a:rPr>
              <a:t>邓红'</a:t>
            </a:r>
            <a:r>
              <a:rPr kumimoji="1" lang="zh-CN" altLang="en-US" sz="36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楷体_GB2312" pitchFamily="49" charset="-122"/>
                <a:cs typeface="+mn-cs"/>
              </a:rPr>
              <a:t>,</a:t>
            </a:r>
            <a:r>
              <a:rPr kumimoji="1" lang="en-US" altLang="zh-CN" sz="3600"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Franklin Gothic Book"/>
                <a:ea typeface="楷体_GB2312" pitchFamily="49" charset="-122"/>
                <a:cs typeface="+mn-cs"/>
              </a:rPr>
              <a:t>'98005'</a:t>
            </a:r>
            <a:r>
              <a:rPr kumimoji="1" lang="zh-CN" altLang="en-US" sz="36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楷体_GB2312" pitchFamily="49" charset="-122"/>
                <a:cs typeface="+mn-cs"/>
              </a:rPr>
              <a:t>) </a:t>
            </a:r>
            <a:r>
              <a:rPr kumimoji="1" lang="en-US" altLang="zh-CN" sz="36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Franklin Gothic Book"/>
                <a:ea typeface="楷体_GB2312" pitchFamily="49" charset="-122"/>
                <a:cs typeface="+mn-cs"/>
              </a:rPr>
              <a:t>;</a:t>
            </a:r>
          </a:p>
        </p:txBody>
      </p:sp>
      <p:sp>
        <p:nvSpPr>
          <p:cNvPr id="3" name="Rectangle 5">
            <a:extLst>
              <a:ext uri="{FF2B5EF4-FFF2-40B4-BE49-F238E27FC236}">
                <a16:creationId xmlns:a16="http://schemas.microsoft.com/office/drawing/2014/main" id="{B337502B-C89D-4A50-A1A1-6214888F1F73}"/>
              </a:ext>
            </a:extLst>
          </p:cNvPr>
          <p:cNvSpPr>
            <a:spLocks noChangeArrowheads="1"/>
          </p:cNvSpPr>
          <p:nvPr/>
        </p:nvSpPr>
        <p:spPr bwMode="auto">
          <a:xfrm>
            <a:off x="673676" y="3140968"/>
            <a:ext cx="10894932" cy="1676400"/>
          </a:xfrm>
          <a:prstGeom prst="rect">
            <a:avLst/>
          </a:prstGeom>
          <a:noFill/>
          <a:ln w="12700" cap="sq" algn="ctr">
            <a:noFill/>
            <a:miter lim="800000"/>
            <a:headEnd/>
            <a:tailEnd/>
          </a:ln>
          <a:effectLst/>
        </p:spPr>
        <p:txBody>
          <a:bodyPr lIns="0" tIns="0" rIns="0" bIns="0"/>
          <a:lstStyle/>
          <a:p>
            <a:pPr marL="0" marR="0" lvl="0" indent="0" algn="just" defTabSz="914400" rtl="0" eaLnBrk="1" fontAlgn="base" latinLnBrk="0" hangingPunct="1">
              <a:lnSpc>
                <a:spcPct val="100000"/>
              </a:lnSpc>
              <a:spcBef>
                <a:spcPct val="15000"/>
              </a:spcBef>
              <a:spcAft>
                <a:spcPct val="0"/>
              </a:spcAft>
              <a:buClr>
                <a:srgbClr val="FFFFFF"/>
              </a:buClr>
              <a:buSzTx/>
              <a:buFontTx/>
              <a:buNone/>
              <a:tabLst/>
              <a:defRPr/>
            </a:pP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如果为表指明了某几个列名</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不必按表中的顺序</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，则需在</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VALUES</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子句中依次给出与这些列名对应的列值，而未指明的列将会根据表的结构定义被置为默认值或空值</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注意某些列可能被定义为不能取空值</a:t>
            </a:r>
            <a:r>
              <a:rPr kumimoji="1" lang="en-US" altLang="zh-CN"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a:t>
            </a:r>
            <a:r>
              <a:rPr kumimoji="1" lang="zh-CN" altLang="en-US" sz="32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a:t>
            </a:r>
          </a:p>
        </p:txBody>
      </p:sp>
      <p:sp>
        <p:nvSpPr>
          <p:cNvPr id="4" name="Rectangle 6">
            <a:extLst>
              <a:ext uri="{FF2B5EF4-FFF2-40B4-BE49-F238E27FC236}">
                <a16:creationId xmlns:a16="http://schemas.microsoft.com/office/drawing/2014/main" id="{A76E0B35-F2DD-4530-8FD4-CDB069116BE8}"/>
              </a:ext>
            </a:extLst>
          </p:cNvPr>
          <p:cNvSpPr>
            <a:spLocks noChangeArrowheads="1"/>
          </p:cNvSpPr>
          <p:nvPr/>
        </p:nvSpPr>
        <p:spPr bwMode="auto">
          <a:xfrm>
            <a:off x="741919" y="5414102"/>
            <a:ext cx="8064500" cy="430887"/>
          </a:xfrm>
          <a:prstGeom prst="rect">
            <a:avLst/>
          </a:prstGeom>
          <a:noFill/>
          <a:ln w="12700" cap="sq">
            <a:noFill/>
            <a:miter lim="800000"/>
            <a:headEnd/>
            <a:tailEnd/>
          </a:ln>
          <a:effectLst/>
        </p:spPr>
        <p:txBody>
          <a:bodyPr lIns="0" tIns="0" rIns="0" bIns="0">
            <a:spAutoFit/>
          </a:bodyPr>
          <a:lstStyle/>
          <a:p>
            <a:pPr marL="0" marR="0" lvl="0" indent="0" algn="l" defTabSz="914400" rtl="0" eaLnBrk="1" fontAlgn="base" latinLnBrk="0" hangingPunct="1">
              <a:lnSpc>
                <a:spcPct val="100000"/>
              </a:lnSpc>
              <a:spcBef>
                <a:spcPct val="0"/>
              </a:spcBef>
              <a:spcAft>
                <a:spcPct val="20000"/>
              </a:spcAft>
              <a:buClr>
                <a:srgbClr val="FFFFFF"/>
              </a:buClr>
              <a:buSzPct val="85000"/>
              <a:buFont typeface="Wingdings" pitchFamily="2" charset="2"/>
              <a:buNone/>
              <a:tabLst/>
              <a:defRPr/>
            </a:pPr>
            <a:r>
              <a:rPr kumimoji="1" lang="zh-CN" altLang="en-US" sz="2800" b="0" i="0" u="none" strike="noStrike" kern="1200" cap="none" spc="0" normalizeH="0" baseline="0" noProof="0" dirty="0">
                <a:ln>
                  <a:noFill/>
                </a:ln>
                <a:solidFill>
                  <a:srgbClr val="FFFFCC"/>
                </a:solidFill>
                <a:effectLst>
                  <a:outerShdw blurRad="38100" dist="38100" dir="2700000" algn="tl">
                    <a:srgbClr val="000000"/>
                  </a:outerShdw>
                </a:effectLst>
                <a:uLnTx/>
                <a:uFillTx/>
                <a:latin typeface="Franklin Gothic Book"/>
                <a:ea typeface="楷体_GB2312" pitchFamily="49" charset="-122"/>
                <a:cs typeface="+mn-cs"/>
              </a:rPr>
              <a:t>增加一名学号为</a:t>
            </a:r>
            <a:r>
              <a:rPr kumimoji="1" lang="en-US" altLang="zh-CN" sz="2800" b="0" i="0" u="none" strike="noStrike" kern="1200" cap="none" spc="0" normalizeH="0" baseline="0" noProof="0" dirty="0">
                <a:ln>
                  <a:noFill/>
                </a:ln>
                <a:solidFill>
                  <a:srgbClr val="FFFFCC"/>
                </a:solidFill>
                <a:effectLst>
                  <a:outerShdw blurRad="38100" dist="38100" dir="2700000" algn="tl">
                    <a:srgbClr val="000000"/>
                  </a:outerShdw>
                </a:effectLst>
                <a:uLnTx/>
                <a:uFillTx/>
                <a:latin typeface="Franklin Gothic Book"/>
                <a:ea typeface="楷体_GB2312" pitchFamily="49" charset="-122"/>
                <a:cs typeface="+mn-cs"/>
              </a:rPr>
              <a:t>98005</a:t>
            </a:r>
            <a:r>
              <a:rPr kumimoji="1" lang="zh-CN" altLang="en-US" sz="2800" b="0" i="0" u="none" strike="noStrike" kern="1200" cap="none" spc="0" normalizeH="0" baseline="0" noProof="0" dirty="0">
                <a:ln>
                  <a:noFill/>
                </a:ln>
                <a:solidFill>
                  <a:srgbClr val="FFFFCC"/>
                </a:solidFill>
                <a:effectLst>
                  <a:outerShdw blurRad="38100" dist="38100" dir="2700000" algn="tl">
                    <a:srgbClr val="000000"/>
                  </a:outerShdw>
                </a:effectLst>
                <a:uLnTx/>
                <a:uFillTx/>
                <a:latin typeface="Franklin Gothic Book"/>
                <a:ea typeface="楷体_GB2312" pitchFamily="49" charset="-122"/>
                <a:cs typeface="+mn-cs"/>
              </a:rPr>
              <a:t>，名叫邓红的学生</a:t>
            </a:r>
            <a:r>
              <a:rPr kumimoji="1" lang="en-US" altLang="zh-CN" sz="2800" b="0" i="0" u="none" strike="noStrike" kern="1200" cap="none" spc="0" normalizeH="0" baseline="0" noProof="0" dirty="0">
                <a:ln>
                  <a:noFill/>
                </a:ln>
                <a:solidFill>
                  <a:srgbClr val="FFFFCC"/>
                </a:solidFill>
                <a:effectLst>
                  <a:outerShdw blurRad="38100" dist="38100" dir="2700000" algn="tl">
                    <a:srgbClr val="000000"/>
                  </a:outerShdw>
                </a:effectLst>
                <a:uLnTx/>
                <a:uFillTx/>
                <a:latin typeface="Franklin Gothic Book"/>
                <a:ea typeface="楷体_GB2312" pitchFamily="49" charset="-122"/>
                <a:cs typeface="+mn-cs"/>
              </a:rPr>
              <a:t>:</a:t>
            </a:r>
            <a:endParaRPr kumimoji="1" lang="en-US" altLang="zh-CN" sz="28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楷体_GB2312" pitchFamily="49" charset="-122"/>
              <a:cs typeface="+mn-cs"/>
            </a:endParaRPr>
          </a:p>
        </p:txBody>
      </p:sp>
    </p:spTree>
    <p:extLst>
      <p:ext uri="{BB962C8B-B14F-4D97-AF65-F5344CB8AC3E}">
        <p14:creationId xmlns:p14="http://schemas.microsoft.com/office/powerpoint/2010/main" val="629404841"/>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4" name="arrow.wav"/>
          </p:stSnd>
        </p:sndAc>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71" name="Rectangle 3">
            <a:extLst>
              <a:ext uri="{FF2B5EF4-FFF2-40B4-BE49-F238E27FC236}">
                <a16:creationId xmlns:a16="http://schemas.microsoft.com/office/drawing/2014/main" id="{00A4393A-B8FB-4C89-9F6D-08E7CD06CF07}"/>
              </a:ext>
            </a:extLst>
          </p:cNvPr>
          <p:cNvSpPr>
            <a:spLocks noGrp="1" noChangeArrowheads="1"/>
          </p:cNvSpPr>
          <p:nvPr>
            <p:ph type="body" idx="4294967295"/>
          </p:nvPr>
        </p:nvSpPr>
        <p:spPr>
          <a:xfrm>
            <a:off x="1127448" y="548680"/>
            <a:ext cx="10225136" cy="4273550"/>
          </a:xfrm>
        </p:spPr>
        <p:txBody>
          <a:bodyPr>
            <a:normAutofit fontScale="85000" lnSpcReduction="10000"/>
          </a:bodyPr>
          <a:lstStyle/>
          <a:p>
            <a:pPr>
              <a:lnSpc>
                <a:spcPct val="150000"/>
              </a:lnSpc>
            </a:pPr>
            <a:r>
              <a:rPr lang="zh-CN" altLang="en-US" sz="2800" dirty="0"/>
              <a:t>例，在</a:t>
            </a:r>
            <a:r>
              <a:rPr lang="en-US" altLang="zh-CN" sz="2800" dirty="0"/>
              <a:t>student</a:t>
            </a:r>
            <a:r>
              <a:rPr lang="zh-CN" altLang="en-US" sz="2800" dirty="0"/>
              <a:t>表中插入一条学生记录（学号：</a:t>
            </a:r>
            <a:r>
              <a:rPr lang="en-US" altLang="zh-CN" sz="2800" dirty="0"/>
              <a:t>s7</a:t>
            </a:r>
            <a:r>
              <a:rPr lang="zh-CN" altLang="en-US" sz="2800" dirty="0"/>
              <a:t>；姓名：郑冬；性别：女；年龄：</a:t>
            </a:r>
            <a:r>
              <a:rPr lang="en-US" altLang="zh-CN" sz="2800" dirty="0"/>
              <a:t>21</a:t>
            </a:r>
            <a:r>
              <a:rPr lang="zh-CN" altLang="en-US" sz="2800" dirty="0"/>
              <a:t>；系别：计算机）。 </a:t>
            </a:r>
          </a:p>
          <a:p>
            <a:pPr>
              <a:lnSpc>
                <a:spcPct val="150000"/>
              </a:lnSpc>
              <a:buFontTx/>
              <a:buNone/>
            </a:pPr>
            <a:r>
              <a:rPr lang="en-US" altLang="zh-CN" sz="2800" dirty="0"/>
              <a:t>INSERT  INTO   student</a:t>
            </a:r>
          </a:p>
          <a:p>
            <a:pPr>
              <a:lnSpc>
                <a:spcPct val="150000"/>
              </a:lnSpc>
              <a:buFontTx/>
              <a:buNone/>
            </a:pPr>
            <a:r>
              <a:rPr lang="en-US" altLang="zh-CN" sz="2800" dirty="0"/>
              <a:t>VALUES ('S7','</a:t>
            </a:r>
            <a:r>
              <a:rPr lang="zh-CN" altLang="en-US" sz="2800" dirty="0"/>
              <a:t>郑冬</a:t>
            </a:r>
            <a:r>
              <a:rPr lang="en-US" altLang="zh-CN" sz="2800" dirty="0"/>
              <a:t>','</a:t>
            </a:r>
            <a:r>
              <a:rPr lang="zh-CN" altLang="en-US" sz="2800" dirty="0"/>
              <a:t>女</a:t>
            </a:r>
            <a:r>
              <a:rPr lang="en-US" altLang="zh-CN" sz="2800" dirty="0"/>
              <a:t>',21,'</a:t>
            </a:r>
            <a:r>
              <a:rPr lang="zh-CN" altLang="en-US" sz="2800" dirty="0"/>
              <a:t>计算机</a:t>
            </a:r>
            <a:r>
              <a:rPr lang="en-US" altLang="zh-CN" sz="2800" dirty="0"/>
              <a:t>');</a:t>
            </a:r>
          </a:p>
          <a:p>
            <a:pPr>
              <a:lnSpc>
                <a:spcPct val="150000"/>
              </a:lnSpc>
            </a:pPr>
            <a:r>
              <a:rPr lang="zh-CN" altLang="en-US" sz="2800" dirty="0"/>
              <a:t>注意：</a:t>
            </a:r>
          </a:p>
          <a:p>
            <a:pPr lvl="1">
              <a:lnSpc>
                <a:spcPct val="150000"/>
              </a:lnSpc>
            </a:pPr>
            <a:r>
              <a:rPr lang="zh-CN" altLang="en-US" sz="2400" dirty="0"/>
              <a:t>必须用逗号将各个数据分开，</a:t>
            </a:r>
            <a:r>
              <a:rPr lang="zh-CN" altLang="en-US" sz="2400" dirty="0">
                <a:solidFill>
                  <a:srgbClr val="FFFF00"/>
                </a:solidFill>
              </a:rPr>
              <a:t>字符型数据要用单引号</a:t>
            </a:r>
            <a:r>
              <a:rPr lang="zh-CN" altLang="en-US" sz="2400" dirty="0"/>
              <a:t>括起来。</a:t>
            </a:r>
          </a:p>
          <a:p>
            <a:pPr lvl="1">
              <a:lnSpc>
                <a:spcPct val="150000"/>
              </a:lnSpc>
            </a:pPr>
            <a:r>
              <a:rPr lang="en-US" altLang="zh-CN" sz="2400" dirty="0"/>
              <a:t>Into</a:t>
            </a:r>
            <a:r>
              <a:rPr lang="zh-CN" altLang="en-US" sz="2400" dirty="0"/>
              <a:t>子句中没有指定列名，则新插入的记录必须在每个属性列上均有值，且</a:t>
            </a:r>
            <a:r>
              <a:rPr lang="en-US" altLang="zh-CN" sz="2400" dirty="0"/>
              <a:t>values</a:t>
            </a:r>
            <a:r>
              <a:rPr lang="zh-CN" altLang="en-US" sz="2400" dirty="0"/>
              <a:t>子句中值的排列顺序要和表中各属性列的排列顺序一致。 </a:t>
            </a:r>
          </a:p>
        </p:txBody>
      </p:sp>
    </p:spTree>
    <p:extLst>
      <p:ext uri="{BB962C8B-B14F-4D97-AF65-F5344CB8AC3E}">
        <p14:creationId xmlns:p14="http://schemas.microsoft.com/office/powerpoint/2010/main" val="3583677231"/>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995" name="Rectangle 3">
            <a:extLst>
              <a:ext uri="{FF2B5EF4-FFF2-40B4-BE49-F238E27FC236}">
                <a16:creationId xmlns:a16="http://schemas.microsoft.com/office/drawing/2014/main" id="{F64C21FB-994C-40A0-88F8-53489EF11528}"/>
              </a:ext>
            </a:extLst>
          </p:cNvPr>
          <p:cNvSpPr>
            <a:spLocks noGrp="1" noChangeArrowheads="1"/>
          </p:cNvSpPr>
          <p:nvPr>
            <p:ph type="body" idx="4294967295"/>
          </p:nvPr>
        </p:nvSpPr>
        <p:spPr>
          <a:xfrm>
            <a:off x="479376" y="692696"/>
            <a:ext cx="10972800" cy="4525963"/>
          </a:xfrm>
        </p:spPr>
        <p:txBody>
          <a:bodyPr>
            <a:normAutofit fontScale="92500"/>
          </a:bodyPr>
          <a:lstStyle/>
          <a:p>
            <a:pPr>
              <a:lnSpc>
                <a:spcPct val="150000"/>
              </a:lnSpc>
            </a:pPr>
            <a:r>
              <a:rPr lang="zh-CN" altLang="en-US" dirty="0"/>
              <a:t>例， 在</a:t>
            </a:r>
            <a:r>
              <a:rPr lang="en-US" altLang="zh-CN" dirty="0" err="1"/>
              <a:t>sc</a:t>
            </a:r>
            <a:r>
              <a:rPr lang="en-US" altLang="zh-CN" dirty="0"/>
              <a:t>(</a:t>
            </a:r>
            <a:r>
              <a:rPr lang="en-US" altLang="zh-CN" dirty="0" err="1"/>
              <a:t>sno,cno,grade</a:t>
            </a:r>
            <a:r>
              <a:rPr lang="en-US" altLang="zh-CN" dirty="0"/>
              <a:t>)</a:t>
            </a:r>
            <a:r>
              <a:rPr lang="zh-CN" altLang="en-US" dirty="0"/>
              <a:t>表中插入一条选课记录（‘</a:t>
            </a:r>
            <a:r>
              <a:rPr lang="en-US" altLang="zh-CN" dirty="0"/>
              <a:t>s7’,‘c1’</a:t>
            </a:r>
            <a:r>
              <a:rPr lang="zh-CN" altLang="en-US" dirty="0"/>
              <a:t>）。</a:t>
            </a:r>
          </a:p>
          <a:p>
            <a:pPr>
              <a:lnSpc>
                <a:spcPct val="150000"/>
              </a:lnSpc>
              <a:buFontTx/>
              <a:buNone/>
            </a:pPr>
            <a:r>
              <a:rPr lang="en-US" altLang="zh-CN" dirty="0"/>
              <a:t>INSERT INTO </a:t>
            </a:r>
            <a:r>
              <a:rPr lang="en-US" altLang="zh-CN" dirty="0" err="1"/>
              <a:t>sc</a:t>
            </a:r>
            <a:r>
              <a:rPr lang="en-US" altLang="zh-CN" dirty="0"/>
              <a:t> (</a:t>
            </a:r>
            <a:r>
              <a:rPr lang="en-US" altLang="zh-CN" dirty="0" err="1"/>
              <a:t>sno,cno</a:t>
            </a:r>
            <a:r>
              <a:rPr lang="en-US" altLang="zh-CN" dirty="0"/>
              <a:t>)</a:t>
            </a:r>
          </a:p>
          <a:p>
            <a:pPr>
              <a:lnSpc>
                <a:spcPct val="150000"/>
              </a:lnSpc>
              <a:buFontTx/>
              <a:buNone/>
            </a:pPr>
            <a:r>
              <a:rPr lang="en-US" altLang="zh-CN" dirty="0"/>
              <a:t>VALUES ('S7',‘c1');</a:t>
            </a:r>
          </a:p>
          <a:p>
            <a:pPr>
              <a:lnSpc>
                <a:spcPct val="150000"/>
              </a:lnSpc>
            </a:pPr>
            <a:r>
              <a:rPr lang="zh-CN" altLang="en-US" dirty="0"/>
              <a:t>对于</a:t>
            </a:r>
            <a:r>
              <a:rPr lang="en-US" altLang="zh-CN" dirty="0"/>
              <a:t>into</a:t>
            </a:r>
            <a:r>
              <a:rPr lang="zh-CN" altLang="en-US" dirty="0"/>
              <a:t>子句中没有出现的列，则新插入的记录在这些列上将</a:t>
            </a:r>
            <a:r>
              <a:rPr lang="zh-CN" altLang="en-US" dirty="0">
                <a:solidFill>
                  <a:srgbClr val="FFFF00"/>
                </a:solidFill>
              </a:rPr>
              <a:t>取空值</a:t>
            </a:r>
            <a:r>
              <a:rPr lang="zh-CN" altLang="en-US" dirty="0"/>
              <a:t>，如上例的</a:t>
            </a:r>
            <a:r>
              <a:rPr lang="en-US" altLang="zh-CN" dirty="0"/>
              <a:t>grade</a:t>
            </a:r>
            <a:r>
              <a:rPr lang="zh-CN" altLang="en-US" dirty="0"/>
              <a:t>即赋空值。但在表定义时有</a:t>
            </a:r>
            <a:r>
              <a:rPr lang="en-US" altLang="zh-CN" dirty="0"/>
              <a:t>not Null</a:t>
            </a:r>
            <a:r>
              <a:rPr lang="zh-CN" altLang="en-US" dirty="0"/>
              <a:t>约束的属性列不能取空值。</a:t>
            </a:r>
          </a:p>
        </p:txBody>
      </p:sp>
    </p:spTree>
    <p:extLst>
      <p:ext uri="{BB962C8B-B14F-4D97-AF65-F5344CB8AC3E}">
        <p14:creationId xmlns:p14="http://schemas.microsoft.com/office/powerpoint/2010/main" val="1690414155"/>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18" name="Rectangle 2">
            <a:extLst>
              <a:ext uri="{FF2B5EF4-FFF2-40B4-BE49-F238E27FC236}">
                <a16:creationId xmlns:a16="http://schemas.microsoft.com/office/drawing/2014/main" id="{07698EFC-A3FE-4155-8452-75BA480CF2CC}"/>
              </a:ext>
            </a:extLst>
          </p:cNvPr>
          <p:cNvSpPr>
            <a:spLocks noGrp="1" noChangeArrowheads="1"/>
          </p:cNvSpPr>
          <p:nvPr>
            <p:ph type="title" idx="4294967295"/>
          </p:nvPr>
        </p:nvSpPr>
        <p:spPr>
          <a:xfrm>
            <a:off x="2173643" y="89440"/>
            <a:ext cx="3414717" cy="707886"/>
          </a:xfrm>
        </p:spPr>
        <p:txBody>
          <a:bodyPr/>
          <a:lstStyle/>
          <a:p>
            <a:r>
              <a:rPr lang="en-US" altLang="zh-CN" dirty="0"/>
              <a:t> </a:t>
            </a:r>
            <a:r>
              <a:rPr lang="zh-CN" altLang="en-US" dirty="0"/>
              <a:t>修改数据记录</a:t>
            </a:r>
          </a:p>
        </p:txBody>
      </p:sp>
      <p:sp>
        <p:nvSpPr>
          <p:cNvPr id="726019" name="Rectangle 3">
            <a:extLst>
              <a:ext uri="{FF2B5EF4-FFF2-40B4-BE49-F238E27FC236}">
                <a16:creationId xmlns:a16="http://schemas.microsoft.com/office/drawing/2014/main" id="{31E9EFDB-EC2F-4F76-BC63-74E0D71BC3FF}"/>
              </a:ext>
            </a:extLst>
          </p:cNvPr>
          <p:cNvSpPr>
            <a:spLocks noGrp="1" noChangeArrowheads="1"/>
          </p:cNvSpPr>
          <p:nvPr>
            <p:ph type="body" idx="4294967295"/>
          </p:nvPr>
        </p:nvSpPr>
        <p:spPr>
          <a:xfrm>
            <a:off x="603191" y="1166018"/>
            <a:ext cx="10972800" cy="4525963"/>
          </a:xfrm>
        </p:spPr>
        <p:txBody>
          <a:bodyPr>
            <a:normAutofit fontScale="92500" lnSpcReduction="20000"/>
          </a:bodyPr>
          <a:lstStyle/>
          <a:p>
            <a:pPr>
              <a:lnSpc>
                <a:spcPct val="150000"/>
              </a:lnSpc>
            </a:pPr>
            <a:r>
              <a:rPr lang="en-US" altLang="zh-CN" sz="2400" dirty="0" err="1"/>
              <a:t>Sql</a:t>
            </a:r>
            <a:r>
              <a:rPr lang="zh-CN" altLang="en-US" sz="2400" dirty="0"/>
              <a:t>语言可以使用</a:t>
            </a:r>
            <a:r>
              <a:rPr lang="en-US" altLang="zh-CN" sz="2400" dirty="0"/>
              <a:t>update</a:t>
            </a:r>
            <a:r>
              <a:rPr lang="zh-CN" altLang="en-US" sz="2400" dirty="0"/>
              <a:t>语句对表中的一行或多行记录的某些列值进行修改，其语法格式为</a:t>
            </a:r>
          </a:p>
          <a:p>
            <a:pPr>
              <a:lnSpc>
                <a:spcPct val="150000"/>
              </a:lnSpc>
              <a:buFontTx/>
              <a:buNone/>
            </a:pPr>
            <a:r>
              <a:rPr lang="en-US" altLang="zh-CN" sz="2400" dirty="0"/>
              <a:t>UPDATE &lt;</a:t>
            </a:r>
            <a:r>
              <a:rPr lang="zh-CN" altLang="en-US" sz="2400" dirty="0"/>
              <a:t>表名</a:t>
            </a:r>
            <a:r>
              <a:rPr lang="en-US" altLang="zh-CN" sz="2400" dirty="0"/>
              <a:t>&gt;</a:t>
            </a:r>
          </a:p>
          <a:p>
            <a:pPr>
              <a:lnSpc>
                <a:spcPct val="150000"/>
              </a:lnSpc>
              <a:buFontTx/>
              <a:buNone/>
            </a:pPr>
            <a:r>
              <a:rPr lang="en-US" altLang="zh-CN" sz="2400" dirty="0"/>
              <a:t>SET &lt;</a:t>
            </a:r>
            <a:r>
              <a:rPr lang="zh-CN" altLang="en-US" sz="2400" dirty="0"/>
              <a:t>列名</a:t>
            </a:r>
            <a:r>
              <a:rPr lang="en-US" altLang="zh-CN" sz="2400" dirty="0"/>
              <a:t>&gt;=&lt;</a:t>
            </a:r>
            <a:r>
              <a:rPr lang="zh-CN" altLang="en-US" sz="2400" dirty="0"/>
              <a:t>表达式</a:t>
            </a:r>
            <a:r>
              <a:rPr lang="en-US" altLang="zh-CN" sz="2400" dirty="0"/>
              <a:t>&gt; [,&lt;</a:t>
            </a:r>
            <a:r>
              <a:rPr lang="zh-CN" altLang="en-US" sz="2400" dirty="0"/>
              <a:t>列名</a:t>
            </a:r>
            <a:r>
              <a:rPr lang="en-US" altLang="zh-CN" sz="2400" dirty="0"/>
              <a:t>&gt;=&lt;</a:t>
            </a:r>
            <a:r>
              <a:rPr lang="zh-CN" altLang="en-US" sz="2400" dirty="0"/>
              <a:t>表达式</a:t>
            </a:r>
            <a:r>
              <a:rPr lang="en-US" altLang="zh-CN" sz="2400" dirty="0"/>
              <a:t>&gt;]…</a:t>
            </a:r>
          </a:p>
          <a:p>
            <a:pPr>
              <a:lnSpc>
                <a:spcPct val="150000"/>
              </a:lnSpc>
              <a:buFontTx/>
              <a:buNone/>
            </a:pPr>
            <a:r>
              <a:rPr lang="en-US" altLang="zh-CN" sz="2400" dirty="0"/>
              <a:t>[WHERE &lt;</a:t>
            </a:r>
            <a:r>
              <a:rPr lang="zh-CN" altLang="en-US" sz="2400" dirty="0"/>
              <a:t>条件</a:t>
            </a:r>
            <a:r>
              <a:rPr lang="en-US" altLang="zh-CN" sz="2400" dirty="0"/>
              <a:t>&gt;|AND/OR/NOT| &lt;</a:t>
            </a:r>
            <a:r>
              <a:rPr lang="zh-CN" altLang="en-US" sz="2400" dirty="0"/>
              <a:t>条件</a:t>
            </a:r>
            <a:r>
              <a:rPr lang="en-US" altLang="zh-CN" sz="2400" dirty="0"/>
              <a:t>&gt;]</a:t>
            </a:r>
          </a:p>
          <a:p>
            <a:pPr>
              <a:lnSpc>
                <a:spcPct val="150000"/>
              </a:lnSpc>
            </a:pPr>
            <a:r>
              <a:rPr lang="zh-CN" altLang="en-US" sz="2400" dirty="0"/>
              <a:t>其中：</a:t>
            </a:r>
          </a:p>
          <a:p>
            <a:pPr lvl="1">
              <a:lnSpc>
                <a:spcPct val="150000"/>
              </a:lnSpc>
            </a:pPr>
            <a:r>
              <a:rPr lang="en-US" altLang="zh-CN" sz="2000" dirty="0"/>
              <a:t>&lt;</a:t>
            </a:r>
            <a:r>
              <a:rPr lang="zh-CN" altLang="en-US" sz="2000" dirty="0"/>
              <a:t>表名</a:t>
            </a:r>
            <a:r>
              <a:rPr lang="en-US" altLang="zh-CN" sz="2000" dirty="0"/>
              <a:t>&gt;</a:t>
            </a:r>
            <a:r>
              <a:rPr lang="zh-CN" altLang="en-US" sz="2000" dirty="0"/>
              <a:t>是指要修改的表</a:t>
            </a:r>
          </a:p>
          <a:p>
            <a:pPr lvl="1">
              <a:lnSpc>
                <a:spcPct val="150000"/>
              </a:lnSpc>
            </a:pPr>
            <a:r>
              <a:rPr lang="en-US" altLang="zh-CN" sz="2000" dirty="0"/>
              <a:t>SET</a:t>
            </a:r>
            <a:r>
              <a:rPr lang="zh-CN" altLang="en-US" sz="2000" dirty="0"/>
              <a:t>子句给出要修改的列及其修改后的值</a:t>
            </a:r>
          </a:p>
          <a:p>
            <a:pPr lvl="1">
              <a:lnSpc>
                <a:spcPct val="150000"/>
              </a:lnSpc>
            </a:pPr>
            <a:r>
              <a:rPr lang="en-US" altLang="zh-CN" sz="2000" dirty="0"/>
              <a:t>WHERE</a:t>
            </a:r>
            <a:r>
              <a:rPr lang="zh-CN" altLang="en-US" sz="2000" dirty="0"/>
              <a:t>子句指定待修改的记录应当满足的条件，</a:t>
            </a:r>
            <a:r>
              <a:rPr lang="en-US" altLang="zh-CN" sz="2000" dirty="0"/>
              <a:t>WHERE</a:t>
            </a:r>
            <a:r>
              <a:rPr lang="zh-CN" altLang="en-US" sz="2000" dirty="0"/>
              <a:t>子句省略时，则修改表中的所有记录。</a:t>
            </a:r>
          </a:p>
        </p:txBody>
      </p:sp>
    </p:spTree>
    <p:extLst>
      <p:ext uri="{BB962C8B-B14F-4D97-AF65-F5344CB8AC3E}">
        <p14:creationId xmlns:p14="http://schemas.microsoft.com/office/powerpoint/2010/main" val="1962182151"/>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43" name="Rectangle 3">
            <a:extLst>
              <a:ext uri="{FF2B5EF4-FFF2-40B4-BE49-F238E27FC236}">
                <a16:creationId xmlns:a16="http://schemas.microsoft.com/office/drawing/2014/main" id="{A9C56F92-40AE-48FE-96D5-A982ABF88D52}"/>
              </a:ext>
            </a:extLst>
          </p:cNvPr>
          <p:cNvSpPr>
            <a:spLocks noGrp="1" noChangeArrowheads="1"/>
          </p:cNvSpPr>
          <p:nvPr>
            <p:ph type="body" idx="4294967295"/>
          </p:nvPr>
        </p:nvSpPr>
        <p:spPr>
          <a:xfrm>
            <a:off x="609600" y="548680"/>
            <a:ext cx="10972800" cy="4525963"/>
          </a:xfrm>
        </p:spPr>
        <p:txBody>
          <a:bodyPr>
            <a:noAutofit/>
          </a:bodyPr>
          <a:lstStyle/>
          <a:p>
            <a:pPr>
              <a:lnSpc>
                <a:spcPct val="150000"/>
              </a:lnSpc>
            </a:pPr>
            <a:r>
              <a:rPr lang="en-US" altLang="zh-CN" sz="2400" dirty="0"/>
              <a:t>1 </a:t>
            </a:r>
            <a:r>
              <a:rPr lang="zh-CN" altLang="en-US" sz="2400" dirty="0"/>
              <a:t>修改一行</a:t>
            </a:r>
          </a:p>
          <a:p>
            <a:pPr>
              <a:lnSpc>
                <a:spcPct val="150000"/>
              </a:lnSpc>
            </a:pPr>
            <a:r>
              <a:rPr lang="zh-CN" altLang="en-US" sz="2400" dirty="0"/>
              <a:t>例，把刘伟教师转到信息系。</a:t>
            </a:r>
          </a:p>
          <a:p>
            <a:pPr>
              <a:lnSpc>
                <a:spcPct val="150000"/>
              </a:lnSpc>
              <a:buFontTx/>
              <a:buNone/>
            </a:pPr>
            <a:r>
              <a:rPr lang="en-US" altLang="zh-CN" sz="2400" dirty="0"/>
              <a:t>UPDATE teacher </a:t>
            </a:r>
          </a:p>
          <a:p>
            <a:pPr>
              <a:lnSpc>
                <a:spcPct val="150000"/>
              </a:lnSpc>
              <a:buFontTx/>
              <a:buNone/>
            </a:pPr>
            <a:r>
              <a:rPr lang="en-US" altLang="zh-CN" sz="2400" dirty="0"/>
              <a:t>SET dept='</a:t>
            </a:r>
            <a:r>
              <a:rPr lang="zh-CN" altLang="en-US" sz="2400" dirty="0"/>
              <a:t>信息</a:t>
            </a:r>
            <a:r>
              <a:rPr lang="en-US" altLang="zh-CN" sz="2400" dirty="0"/>
              <a:t>' </a:t>
            </a:r>
          </a:p>
          <a:p>
            <a:pPr>
              <a:lnSpc>
                <a:spcPct val="150000"/>
              </a:lnSpc>
              <a:buFontTx/>
              <a:buNone/>
            </a:pPr>
            <a:r>
              <a:rPr lang="en-US" altLang="zh-CN" sz="2400" dirty="0"/>
              <a:t>WHERE </a:t>
            </a:r>
            <a:r>
              <a:rPr lang="en-US" altLang="zh-CN" sz="2400" dirty="0" err="1"/>
              <a:t>tno</a:t>
            </a:r>
            <a:r>
              <a:rPr lang="en-US" altLang="zh-CN" sz="2400" dirty="0"/>
              <a:t>='</a:t>
            </a:r>
            <a:r>
              <a:rPr lang="zh-CN" altLang="en-US" sz="2400" dirty="0"/>
              <a:t>刘伟</a:t>
            </a:r>
            <a:r>
              <a:rPr lang="en-US" altLang="zh-CN" sz="2400" dirty="0"/>
              <a:t>';</a:t>
            </a:r>
          </a:p>
          <a:p>
            <a:pPr>
              <a:lnSpc>
                <a:spcPct val="150000"/>
              </a:lnSpc>
            </a:pPr>
            <a:r>
              <a:rPr lang="en-US" altLang="zh-CN" sz="2400" dirty="0"/>
              <a:t>2 </a:t>
            </a:r>
            <a:r>
              <a:rPr lang="zh-CN" altLang="en-US" sz="2400" dirty="0"/>
              <a:t>修改多行</a:t>
            </a:r>
          </a:p>
          <a:p>
            <a:pPr>
              <a:lnSpc>
                <a:spcPct val="150000"/>
              </a:lnSpc>
            </a:pPr>
            <a:r>
              <a:rPr lang="zh-CN" altLang="en-US" sz="2400" dirty="0"/>
              <a:t>例，将所有学生年龄增加</a:t>
            </a:r>
            <a:r>
              <a:rPr lang="en-US" altLang="zh-CN" sz="2400" dirty="0"/>
              <a:t>1</a:t>
            </a:r>
            <a:r>
              <a:rPr lang="zh-CN" altLang="en-US" sz="2400" dirty="0"/>
              <a:t>岁</a:t>
            </a:r>
          </a:p>
          <a:p>
            <a:pPr>
              <a:lnSpc>
                <a:spcPct val="150000"/>
              </a:lnSpc>
              <a:buFontTx/>
              <a:buNone/>
            </a:pPr>
            <a:r>
              <a:rPr lang="en-US" altLang="zh-CN" sz="2400" dirty="0"/>
              <a:t>UPDATE student </a:t>
            </a:r>
          </a:p>
          <a:p>
            <a:pPr>
              <a:lnSpc>
                <a:spcPct val="150000"/>
              </a:lnSpc>
              <a:buFontTx/>
              <a:buNone/>
            </a:pPr>
            <a:r>
              <a:rPr lang="en-US" altLang="zh-CN" sz="2400" dirty="0"/>
              <a:t>SET   age=age+1;</a:t>
            </a:r>
            <a:endParaRPr lang="zh-CN" altLang="en-US" sz="2400" dirty="0"/>
          </a:p>
        </p:txBody>
      </p:sp>
    </p:spTree>
    <p:extLst>
      <p:ext uri="{BB962C8B-B14F-4D97-AF65-F5344CB8AC3E}">
        <p14:creationId xmlns:p14="http://schemas.microsoft.com/office/powerpoint/2010/main" val="1073880611"/>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066" name="Rectangle 2">
            <a:extLst>
              <a:ext uri="{FF2B5EF4-FFF2-40B4-BE49-F238E27FC236}">
                <a16:creationId xmlns:a16="http://schemas.microsoft.com/office/drawing/2014/main" id="{39460F6D-F688-46E0-8CD1-9EE024AAEB1E}"/>
              </a:ext>
            </a:extLst>
          </p:cNvPr>
          <p:cNvSpPr>
            <a:spLocks noGrp="1" noChangeArrowheads="1"/>
          </p:cNvSpPr>
          <p:nvPr>
            <p:ph type="title" idx="4294967295"/>
          </p:nvPr>
        </p:nvSpPr>
        <p:spPr>
          <a:xfrm>
            <a:off x="1630225" y="89440"/>
            <a:ext cx="4501553" cy="707886"/>
          </a:xfrm>
        </p:spPr>
        <p:txBody>
          <a:bodyPr/>
          <a:lstStyle/>
          <a:p>
            <a:r>
              <a:rPr lang="en-US" altLang="zh-CN"/>
              <a:t>4.3.3</a:t>
            </a:r>
            <a:r>
              <a:rPr lang="zh-CN" altLang="en-US"/>
              <a:t>删除数据记录</a:t>
            </a:r>
          </a:p>
        </p:txBody>
      </p:sp>
      <p:sp>
        <p:nvSpPr>
          <p:cNvPr id="728067" name="Rectangle 3">
            <a:extLst>
              <a:ext uri="{FF2B5EF4-FFF2-40B4-BE49-F238E27FC236}">
                <a16:creationId xmlns:a16="http://schemas.microsoft.com/office/drawing/2014/main" id="{8A122172-EABC-4E8D-8FDB-348549896260}"/>
              </a:ext>
            </a:extLst>
          </p:cNvPr>
          <p:cNvSpPr>
            <a:spLocks noGrp="1" noChangeArrowheads="1"/>
          </p:cNvSpPr>
          <p:nvPr>
            <p:ph type="body" idx="4294967295"/>
          </p:nvPr>
        </p:nvSpPr>
        <p:spPr>
          <a:xfrm>
            <a:off x="609600" y="1313857"/>
            <a:ext cx="10972800" cy="4525963"/>
          </a:xfrm>
        </p:spPr>
        <p:txBody>
          <a:bodyPr>
            <a:normAutofit fontScale="85000" lnSpcReduction="20000"/>
          </a:bodyPr>
          <a:lstStyle/>
          <a:p>
            <a:pPr>
              <a:lnSpc>
                <a:spcPct val="150000"/>
              </a:lnSpc>
            </a:pPr>
            <a:r>
              <a:rPr lang="zh-CN" altLang="en-US" sz="2800" dirty="0"/>
              <a:t>使用</a:t>
            </a:r>
            <a:r>
              <a:rPr lang="en-US" altLang="zh-CN" sz="2800" dirty="0"/>
              <a:t>DELETE</a:t>
            </a:r>
            <a:r>
              <a:rPr lang="zh-CN" altLang="en-US" sz="2800" dirty="0"/>
              <a:t>语句可以删除表中的一行或多行记录，其语法格式为</a:t>
            </a:r>
          </a:p>
          <a:p>
            <a:pPr>
              <a:lnSpc>
                <a:spcPct val="150000"/>
              </a:lnSpc>
              <a:buFontTx/>
              <a:buNone/>
            </a:pPr>
            <a:r>
              <a:rPr lang="en-US" altLang="zh-CN" sz="2800" dirty="0"/>
              <a:t>DELETE </a:t>
            </a:r>
          </a:p>
          <a:p>
            <a:pPr>
              <a:lnSpc>
                <a:spcPct val="150000"/>
              </a:lnSpc>
              <a:buFontTx/>
              <a:buNone/>
            </a:pPr>
            <a:r>
              <a:rPr lang="en-US" altLang="zh-CN" sz="2800" dirty="0"/>
              <a:t>FROM &lt;</a:t>
            </a:r>
            <a:r>
              <a:rPr lang="zh-CN" altLang="en-US" sz="2800" dirty="0"/>
              <a:t>表名</a:t>
            </a:r>
            <a:r>
              <a:rPr lang="en-US" altLang="zh-CN" sz="2800" dirty="0"/>
              <a:t>&gt;</a:t>
            </a:r>
          </a:p>
          <a:p>
            <a:pPr>
              <a:lnSpc>
                <a:spcPct val="150000"/>
              </a:lnSpc>
              <a:buFontTx/>
              <a:buNone/>
            </a:pPr>
            <a:r>
              <a:rPr lang="en-US" altLang="zh-CN" sz="2800" dirty="0"/>
              <a:t>[WHERE &lt;</a:t>
            </a:r>
            <a:r>
              <a:rPr lang="zh-CN" altLang="en-US" sz="2800" dirty="0"/>
              <a:t>条件</a:t>
            </a:r>
            <a:r>
              <a:rPr lang="en-US" altLang="zh-CN" sz="2800" dirty="0"/>
              <a:t>&gt;]</a:t>
            </a:r>
          </a:p>
          <a:p>
            <a:pPr>
              <a:lnSpc>
                <a:spcPct val="150000"/>
              </a:lnSpc>
            </a:pPr>
            <a:r>
              <a:rPr lang="zh-CN" altLang="en-US" sz="2800" dirty="0"/>
              <a:t>其中，</a:t>
            </a:r>
          </a:p>
          <a:p>
            <a:pPr>
              <a:lnSpc>
                <a:spcPct val="150000"/>
              </a:lnSpc>
            </a:pPr>
            <a:r>
              <a:rPr lang="en-US" altLang="zh-CN" sz="2800" dirty="0"/>
              <a:t>&lt;</a:t>
            </a:r>
            <a:r>
              <a:rPr lang="zh-CN" altLang="en-US" sz="2800" dirty="0"/>
              <a:t>表名</a:t>
            </a:r>
            <a:r>
              <a:rPr lang="en-US" altLang="zh-CN" sz="2800" dirty="0"/>
              <a:t>&gt;</a:t>
            </a:r>
            <a:r>
              <a:rPr lang="zh-CN" altLang="en-US" sz="2800" dirty="0"/>
              <a:t>是指要删除数据的表。</a:t>
            </a:r>
          </a:p>
          <a:p>
            <a:pPr>
              <a:lnSpc>
                <a:spcPct val="150000"/>
              </a:lnSpc>
            </a:pPr>
            <a:r>
              <a:rPr lang="en-US" altLang="zh-CN" sz="2800" dirty="0"/>
              <a:t>WHERE</a:t>
            </a:r>
            <a:r>
              <a:rPr lang="zh-CN" altLang="en-US" sz="2800" dirty="0"/>
              <a:t>子句指定待删除的记录应当满足的条件，</a:t>
            </a:r>
            <a:r>
              <a:rPr lang="en-US" altLang="zh-CN" sz="2800" dirty="0"/>
              <a:t>WHERE</a:t>
            </a:r>
            <a:r>
              <a:rPr lang="zh-CN" altLang="en-US" sz="2800" dirty="0"/>
              <a:t>子句省略时，则删除表中的所有记录。</a:t>
            </a:r>
          </a:p>
        </p:txBody>
      </p:sp>
    </p:spTree>
    <p:extLst>
      <p:ext uri="{BB962C8B-B14F-4D97-AF65-F5344CB8AC3E}">
        <p14:creationId xmlns:p14="http://schemas.microsoft.com/office/powerpoint/2010/main" val="1463694351"/>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91" name="Rectangle 3">
            <a:extLst>
              <a:ext uri="{FF2B5EF4-FFF2-40B4-BE49-F238E27FC236}">
                <a16:creationId xmlns:a16="http://schemas.microsoft.com/office/drawing/2014/main" id="{BB3BDC02-281F-4EC8-BE10-F1BF6586A4DE}"/>
              </a:ext>
            </a:extLst>
          </p:cNvPr>
          <p:cNvSpPr>
            <a:spLocks noGrp="1" noChangeArrowheads="1"/>
          </p:cNvSpPr>
          <p:nvPr>
            <p:ph type="body" idx="4294967295"/>
          </p:nvPr>
        </p:nvSpPr>
        <p:spPr>
          <a:xfrm>
            <a:off x="609600" y="620688"/>
            <a:ext cx="10972800" cy="4525963"/>
          </a:xfrm>
        </p:spPr>
        <p:txBody>
          <a:bodyPr>
            <a:normAutofit fontScale="70000" lnSpcReduction="20000"/>
          </a:bodyPr>
          <a:lstStyle/>
          <a:p>
            <a:pPr>
              <a:lnSpc>
                <a:spcPct val="150000"/>
              </a:lnSpc>
            </a:pPr>
            <a:r>
              <a:rPr lang="en-US" altLang="zh-CN" sz="2800" dirty="0"/>
              <a:t>1</a:t>
            </a:r>
            <a:r>
              <a:rPr lang="zh-CN" altLang="en-US" sz="2800" dirty="0"/>
              <a:t>．删除一行记录</a:t>
            </a:r>
          </a:p>
          <a:p>
            <a:pPr>
              <a:lnSpc>
                <a:spcPct val="150000"/>
              </a:lnSpc>
            </a:pPr>
            <a:r>
              <a:rPr lang="zh-CN" altLang="en-US" sz="2800" dirty="0"/>
              <a:t>例， 删除刘伟教师的记录。</a:t>
            </a:r>
          </a:p>
          <a:p>
            <a:pPr>
              <a:lnSpc>
                <a:spcPct val="150000"/>
              </a:lnSpc>
              <a:buFontTx/>
              <a:buNone/>
            </a:pPr>
            <a:r>
              <a:rPr lang="en-US" altLang="zh-CN" sz="2800" dirty="0"/>
              <a:t>DELETE </a:t>
            </a:r>
          </a:p>
          <a:p>
            <a:pPr>
              <a:lnSpc>
                <a:spcPct val="150000"/>
              </a:lnSpc>
              <a:buFontTx/>
              <a:buNone/>
            </a:pPr>
            <a:r>
              <a:rPr lang="en-US" altLang="zh-CN" sz="2800" dirty="0"/>
              <a:t>FROM teacher </a:t>
            </a:r>
          </a:p>
          <a:p>
            <a:pPr>
              <a:lnSpc>
                <a:spcPct val="150000"/>
              </a:lnSpc>
              <a:buFontTx/>
              <a:buNone/>
            </a:pPr>
            <a:r>
              <a:rPr lang="en-US" altLang="zh-CN" sz="2800" dirty="0"/>
              <a:t>WHERE </a:t>
            </a:r>
            <a:r>
              <a:rPr lang="en-US" altLang="zh-CN" sz="2800" dirty="0" err="1"/>
              <a:t>tn</a:t>
            </a:r>
            <a:r>
              <a:rPr lang="en-US" altLang="zh-CN" sz="2800" dirty="0"/>
              <a:t>=’</a:t>
            </a:r>
            <a:r>
              <a:rPr lang="zh-CN" altLang="en-US" sz="2800" dirty="0"/>
              <a:t>刘伟’</a:t>
            </a:r>
            <a:r>
              <a:rPr lang="en-US" altLang="zh-CN" sz="2800" dirty="0"/>
              <a:t>;</a:t>
            </a:r>
          </a:p>
          <a:p>
            <a:pPr>
              <a:lnSpc>
                <a:spcPct val="150000"/>
              </a:lnSpc>
            </a:pPr>
            <a:r>
              <a:rPr lang="en-US" altLang="zh-CN" sz="2800" dirty="0"/>
              <a:t>2</a:t>
            </a:r>
            <a:r>
              <a:rPr lang="zh-CN" altLang="en-US" sz="2800" dirty="0"/>
              <a:t>． 删除多行记录</a:t>
            </a:r>
          </a:p>
          <a:p>
            <a:pPr>
              <a:lnSpc>
                <a:spcPct val="150000"/>
              </a:lnSpc>
            </a:pPr>
            <a:r>
              <a:rPr lang="zh-CN" altLang="en-US" sz="2800" dirty="0"/>
              <a:t>例，删除所有教师的授课记录</a:t>
            </a:r>
          </a:p>
          <a:p>
            <a:pPr>
              <a:lnSpc>
                <a:spcPct val="150000"/>
              </a:lnSpc>
              <a:buFontTx/>
              <a:buNone/>
            </a:pPr>
            <a:r>
              <a:rPr lang="en-US" altLang="zh-CN" sz="2800" dirty="0"/>
              <a:t>DELETE </a:t>
            </a:r>
          </a:p>
          <a:p>
            <a:pPr>
              <a:lnSpc>
                <a:spcPct val="150000"/>
              </a:lnSpc>
              <a:buFontTx/>
              <a:buNone/>
            </a:pPr>
            <a:r>
              <a:rPr lang="en-US" altLang="zh-CN" sz="2800" dirty="0"/>
              <a:t>FROM </a:t>
            </a:r>
            <a:r>
              <a:rPr lang="en-US" altLang="zh-CN" sz="2800" dirty="0" err="1"/>
              <a:t>tc</a:t>
            </a:r>
            <a:r>
              <a:rPr lang="en-US" altLang="zh-CN" sz="2800" dirty="0"/>
              <a:t>;</a:t>
            </a:r>
            <a:endParaRPr lang="zh-CN" altLang="en-US" sz="2800" dirty="0"/>
          </a:p>
        </p:txBody>
      </p:sp>
    </p:spTree>
    <p:extLst>
      <p:ext uri="{BB962C8B-B14F-4D97-AF65-F5344CB8AC3E}">
        <p14:creationId xmlns:p14="http://schemas.microsoft.com/office/powerpoint/2010/main" val="1446284564"/>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12316" y="13250"/>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修改数据</a:t>
            </a:r>
          </a:p>
        </p:txBody>
      </p:sp>
      <p:sp>
        <p:nvSpPr>
          <p:cNvPr id="25" name="Text Box 4"/>
          <p:cNvSpPr txBox="1">
            <a:spLocks noChangeArrowheads="1"/>
          </p:cNvSpPr>
          <p:nvPr/>
        </p:nvSpPr>
        <p:spPr bwMode="auto">
          <a:xfrm>
            <a:off x="712316" y="907870"/>
            <a:ext cx="11072164" cy="685800"/>
          </a:xfrm>
          <a:prstGeom prst="rect">
            <a:avLst/>
          </a:prstGeom>
          <a:noFill/>
          <a:ln w="12700" cap="sq">
            <a:noFill/>
            <a:miter lim="800000"/>
            <a:headEnd type="none" w="sm" len="sm"/>
            <a:tailEnd type="none" w="sm" len="sm"/>
          </a:ln>
          <a:effectLst/>
        </p:spPr>
        <p:txBody>
          <a:bodyPr/>
          <a:lstStyle/>
          <a:p>
            <a:pPr marL="358775" indent="-358775">
              <a:spcAft>
                <a:spcPct val="0"/>
              </a:spcAft>
              <a:tabLst>
                <a:tab pos="381000" algn="l"/>
              </a:tabLst>
              <a:defRPr/>
            </a:pPr>
            <a:r>
              <a:rPr lang="en-US" altLang="zh-CN" sz="3600" b="1" kern="0" dirty="0">
                <a:solidFill>
                  <a:srgbClr val="FFFF00"/>
                </a:solidFill>
                <a:effectLst>
                  <a:outerShdw blurRad="38100" dist="38100" dir="2700000" algn="tl">
                    <a:srgbClr val="000000"/>
                  </a:outerShdw>
                </a:effectLst>
                <a:latin typeface="Arial" charset="0"/>
              </a:rPr>
              <a:t>UPDATE</a:t>
            </a:r>
            <a:r>
              <a:rPr lang="en-US" altLang="zh-CN" sz="3600" kern="0" dirty="0">
                <a:solidFill>
                  <a:sysClr val="windowText" lastClr="000000"/>
                </a:solidFill>
                <a:effectLst>
                  <a:outerShdw blurRad="38100" dist="38100" dir="2700000" algn="tl">
                    <a:srgbClr val="000000"/>
                  </a:outerShdw>
                </a:effectLst>
                <a:latin typeface="Arial" charset="0"/>
              </a:rPr>
              <a:t> </a:t>
            </a:r>
            <a:r>
              <a:rPr lang="en-US" altLang="zh-CN" sz="3600" kern="0" dirty="0">
                <a:solidFill>
                  <a:srgbClr val="CCFFCC"/>
                </a:solidFill>
                <a:effectLst>
                  <a:outerShdw blurRad="38100" dist="38100" dir="2700000" algn="tl">
                    <a:srgbClr val="000000"/>
                  </a:outerShdw>
                </a:effectLst>
                <a:latin typeface="Arial" charset="0"/>
              </a:rPr>
              <a:t>&lt;</a:t>
            </a:r>
            <a:r>
              <a:rPr lang="zh-CN" altLang="en-US" sz="3600" i="1" kern="0" dirty="0">
                <a:solidFill>
                  <a:srgbClr val="CCFFCC"/>
                </a:solidFill>
                <a:effectLst>
                  <a:outerShdw blurRad="38100" dist="38100" dir="2700000" algn="tl">
                    <a:srgbClr val="000000"/>
                  </a:outerShdw>
                </a:effectLst>
                <a:latin typeface="Arial" charset="0"/>
              </a:rPr>
              <a:t>表名</a:t>
            </a:r>
            <a:r>
              <a:rPr lang="zh-CN" altLang="en-US" sz="3600" kern="0" dirty="0">
                <a:solidFill>
                  <a:srgbClr val="CCFFCC"/>
                </a:solidFill>
                <a:effectLst>
                  <a:outerShdw blurRad="38100" dist="38100" dir="2700000" algn="tl">
                    <a:srgbClr val="000000"/>
                  </a:outerShdw>
                </a:effectLst>
                <a:latin typeface="Arial" charset="0"/>
              </a:rPr>
              <a:t>&gt;</a:t>
            </a:r>
          </a:p>
          <a:p>
            <a:pPr marL="358775" indent="-358775">
              <a:spcAft>
                <a:spcPct val="0"/>
              </a:spcAft>
              <a:buClr>
                <a:srgbClr val="FFFFCC"/>
              </a:buClr>
              <a:buSzPct val="60000"/>
              <a:tabLst>
                <a:tab pos="381000" algn="l"/>
              </a:tabLst>
              <a:defRPr/>
            </a:pPr>
            <a:r>
              <a:rPr lang="en-US" altLang="zh-CN" sz="3600" b="1" kern="0" dirty="0">
                <a:solidFill>
                  <a:srgbClr val="FFFF00"/>
                </a:solidFill>
                <a:effectLst>
                  <a:outerShdw blurRad="38100" dist="38100" dir="2700000" algn="tl">
                    <a:srgbClr val="000000"/>
                  </a:outerShdw>
                </a:effectLst>
                <a:latin typeface="Arial" charset="0"/>
              </a:rPr>
              <a:t>SET</a:t>
            </a:r>
            <a:r>
              <a:rPr lang="zh-CN" altLang="en-US" sz="3600" kern="0" dirty="0">
                <a:solidFill>
                  <a:sysClr val="windowText" lastClr="000000"/>
                </a:solidFill>
                <a:effectLst>
                  <a:outerShdw blurRad="38100" dist="38100" dir="2700000" algn="tl">
                    <a:srgbClr val="000000"/>
                  </a:outerShdw>
                </a:effectLst>
                <a:latin typeface="Arial" charset="0"/>
              </a:rPr>
              <a:t> </a:t>
            </a:r>
            <a:r>
              <a:rPr lang="zh-CN" altLang="en-US" sz="3600" kern="0" dirty="0">
                <a:solidFill>
                  <a:srgbClr val="CCFFCC"/>
                </a:solidFill>
                <a:effectLst>
                  <a:outerShdw blurRad="38100" dist="38100" dir="2700000" algn="tl">
                    <a:srgbClr val="000000"/>
                  </a:outerShdw>
                </a:effectLst>
                <a:latin typeface="Arial" charset="0"/>
              </a:rPr>
              <a:t>&lt;</a:t>
            </a:r>
            <a:r>
              <a:rPr lang="zh-CN" altLang="en-US" sz="3600" i="1" kern="0" dirty="0">
                <a:solidFill>
                  <a:srgbClr val="CCFFCC"/>
                </a:solidFill>
                <a:effectLst>
                  <a:outerShdw blurRad="38100" dist="38100" dir="2700000" algn="tl">
                    <a:srgbClr val="000000"/>
                  </a:outerShdw>
                </a:effectLst>
                <a:latin typeface="Arial" charset="0"/>
              </a:rPr>
              <a:t>列名1</a:t>
            </a:r>
            <a:r>
              <a:rPr lang="zh-CN" altLang="en-US" sz="3600" kern="0" dirty="0">
                <a:solidFill>
                  <a:srgbClr val="CCFFCC"/>
                </a:solidFill>
                <a:effectLst>
                  <a:outerShdw blurRad="38100" dist="38100" dir="2700000" algn="tl">
                    <a:srgbClr val="000000"/>
                  </a:outerShdw>
                </a:effectLst>
                <a:latin typeface="Arial" charset="0"/>
              </a:rPr>
              <a:t>&gt;=&lt;</a:t>
            </a:r>
            <a:r>
              <a:rPr lang="zh-CN" altLang="en-US" sz="3600" i="1" kern="0" dirty="0">
                <a:solidFill>
                  <a:srgbClr val="CCFFCC"/>
                </a:solidFill>
                <a:effectLst>
                  <a:outerShdw blurRad="38100" dist="38100" dir="2700000" algn="tl">
                    <a:srgbClr val="000000"/>
                  </a:outerShdw>
                </a:effectLst>
                <a:latin typeface="Arial" charset="0"/>
              </a:rPr>
              <a:t>表达式1</a:t>
            </a:r>
            <a:r>
              <a:rPr lang="zh-CN" altLang="en-US" sz="3600" kern="0" dirty="0">
                <a:solidFill>
                  <a:srgbClr val="CCFFCC"/>
                </a:solidFill>
                <a:effectLst>
                  <a:outerShdw blurRad="38100" dist="38100" dir="2700000" algn="tl">
                    <a:srgbClr val="000000"/>
                  </a:outerShdw>
                </a:effectLst>
                <a:latin typeface="Arial" charset="0"/>
              </a:rPr>
              <a:t>&gt;[,&lt;</a:t>
            </a:r>
            <a:r>
              <a:rPr lang="zh-CN" altLang="en-US" sz="3600" i="1" kern="0" dirty="0">
                <a:solidFill>
                  <a:srgbClr val="CCFFCC"/>
                </a:solidFill>
                <a:effectLst>
                  <a:outerShdw blurRad="38100" dist="38100" dir="2700000" algn="tl">
                    <a:srgbClr val="000000"/>
                  </a:outerShdw>
                </a:effectLst>
                <a:latin typeface="Arial" charset="0"/>
              </a:rPr>
              <a:t>列名2</a:t>
            </a:r>
            <a:r>
              <a:rPr lang="zh-CN" altLang="en-US" sz="3600" kern="0" dirty="0">
                <a:solidFill>
                  <a:srgbClr val="CCFFCC"/>
                </a:solidFill>
                <a:effectLst>
                  <a:outerShdw blurRad="38100" dist="38100" dir="2700000" algn="tl">
                    <a:srgbClr val="000000"/>
                  </a:outerShdw>
                </a:effectLst>
                <a:latin typeface="Arial" charset="0"/>
              </a:rPr>
              <a:t>&gt;=&lt;</a:t>
            </a:r>
            <a:r>
              <a:rPr lang="zh-CN" altLang="en-US" sz="3600" i="1" kern="0" dirty="0">
                <a:solidFill>
                  <a:srgbClr val="CCFFCC"/>
                </a:solidFill>
                <a:effectLst>
                  <a:outerShdw blurRad="38100" dist="38100" dir="2700000" algn="tl">
                    <a:srgbClr val="000000"/>
                  </a:outerShdw>
                </a:effectLst>
                <a:latin typeface="Arial" charset="0"/>
              </a:rPr>
              <a:t>表达式2</a:t>
            </a:r>
            <a:r>
              <a:rPr lang="zh-CN" altLang="en-US" sz="3600" kern="0" dirty="0">
                <a:solidFill>
                  <a:srgbClr val="CCFFCC"/>
                </a:solidFill>
                <a:effectLst>
                  <a:outerShdw blurRad="38100" dist="38100" dir="2700000" algn="tl">
                    <a:srgbClr val="000000"/>
                  </a:outerShdw>
                </a:effectLst>
                <a:latin typeface="Arial" charset="0"/>
              </a:rPr>
              <a:t>&gt;]...</a:t>
            </a:r>
          </a:p>
          <a:p>
            <a:pPr marL="358775" indent="-358775">
              <a:spcAft>
                <a:spcPct val="0"/>
              </a:spcAft>
              <a:buClr>
                <a:srgbClr val="FFFFCC"/>
              </a:buClr>
              <a:buSzPct val="60000"/>
              <a:tabLst>
                <a:tab pos="381000" algn="l"/>
              </a:tabLst>
              <a:defRPr/>
            </a:pPr>
            <a:r>
              <a:rPr lang="zh-CN" altLang="en-US" sz="3600" kern="0" dirty="0">
                <a:solidFill>
                  <a:srgbClr val="CCFFCC"/>
                </a:solidFill>
                <a:effectLst>
                  <a:outerShdw blurRad="38100" dist="38100" dir="2700000" algn="tl">
                    <a:srgbClr val="000000"/>
                  </a:outerShdw>
                </a:effectLst>
                <a:latin typeface="Arial" charset="0"/>
              </a:rPr>
              <a:t>[</a:t>
            </a:r>
            <a:r>
              <a:rPr lang="en-US" altLang="zh-CN" sz="3600" b="1" kern="0" dirty="0">
                <a:solidFill>
                  <a:srgbClr val="FFFF00"/>
                </a:solidFill>
                <a:effectLst>
                  <a:outerShdw blurRad="38100" dist="38100" dir="2700000" algn="tl">
                    <a:srgbClr val="000000"/>
                  </a:outerShdw>
                </a:effectLst>
                <a:latin typeface="Arial" charset="0"/>
              </a:rPr>
              <a:t>WHERE</a:t>
            </a:r>
            <a:r>
              <a:rPr lang="en-US" altLang="zh-CN" sz="3600" kern="0" dirty="0">
                <a:solidFill>
                  <a:sysClr val="windowText" lastClr="000000"/>
                </a:solidFill>
                <a:effectLst>
                  <a:outerShdw blurRad="38100" dist="38100" dir="2700000" algn="tl">
                    <a:srgbClr val="000000"/>
                  </a:outerShdw>
                </a:effectLst>
                <a:latin typeface="Arial" charset="0"/>
              </a:rPr>
              <a:t> </a:t>
            </a:r>
            <a:r>
              <a:rPr lang="en-US" altLang="zh-CN" sz="3600" kern="0" dirty="0">
                <a:solidFill>
                  <a:srgbClr val="CCFFCC"/>
                </a:solidFill>
                <a:effectLst>
                  <a:outerShdw blurRad="38100" dist="38100" dir="2700000" algn="tl">
                    <a:srgbClr val="000000"/>
                  </a:outerShdw>
                </a:effectLst>
                <a:latin typeface="Arial" charset="0"/>
              </a:rPr>
              <a:t>&lt;</a:t>
            </a:r>
            <a:r>
              <a:rPr lang="zh-CN" altLang="en-US" sz="3600" i="1" kern="0" dirty="0">
                <a:solidFill>
                  <a:srgbClr val="CCFFCC"/>
                </a:solidFill>
                <a:effectLst>
                  <a:outerShdw blurRad="38100" dist="38100" dir="2700000" algn="tl">
                    <a:srgbClr val="000000"/>
                  </a:outerShdw>
                </a:effectLst>
                <a:latin typeface="Arial" charset="0"/>
              </a:rPr>
              <a:t>条件</a:t>
            </a:r>
            <a:r>
              <a:rPr lang="zh-CN" altLang="en-US" sz="3600" kern="0" dirty="0">
                <a:solidFill>
                  <a:srgbClr val="CCFFCC"/>
                </a:solidFill>
                <a:effectLst>
                  <a:outerShdw blurRad="38100" dist="38100" dir="2700000" algn="tl">
                    <a:srgbClr val="000000"/>
                  </a:outerShdw>
                </a:effectLst>
                <a:latin typeface="Arial" charset="0"/>
              </a:rPr>
              <a:t>&gt;]</a:t>
            </a:r>
            <a:r>
              <a:rPr lang="zh-CN" altLang="en-US" sz="3600" kern="0" dirty="0">
                <a:solidFill>
                  <a:sysClr val="windowText" lastClr="000000"/>
                </a:solidFill>
                <a:effectLst>
                  <a:outerShdw blurRad="38100" dist="38100" dir="2700000" algn="tl">
                    <a:srgbClr val="000000"/>
                  </a:outerShdw>
                </a:effectLst>
                <a:latin typeface="Arial" charset="0"/>
              </a:rPr>
              <a:t> </a:t>
            </a:r>
            <a:endParaRPr lang="zh-CN" altLang="en-US" sz="3600" kern="0" dirty="0">
              <a:solidFill>
                <a:srgbClr val="CCFFCC"/>
              </a:solidFill>
              <a:effectLst>
                <a:outerShdw blurRad="38100" dist="38100" dir="2700000" algn="tl">
                  <a:srgbClr val="000000"/>
                </a:outerShdw>
              </a:effectLst>
            </a:endParaRPr>
          </a:p>
        </p:txBody>
      </p:sp>
      <p:sp>
        <p:nvSpPr>
          <p:cNvPr id="26" name="Rectangle 5"/>
          <p:cNvSpPr>
            <a:spLocks noChangeArrowheads="1"/>
          </p:cNvSpPr>
          <p:nvPr/>
        </p:nvSpPr>
        <p:spPr bwMode="auto">
          <a:xfrm>
            <a:off x="8328248" y="3111406"/>
            <a:ext cx="711139" cy="338554"/>
          </a:xfrm>
          <a:prstGeom prst="rect">
            <a:avLst/>
          </a:prstGeom>
          <a:noFill/>
          <a:ln w="12700" cap="sq">
            <a:noFill/>
            <a:miter lim="800000"/>
            <a:headEnd/>
            <a:tailEnd/>
          </a:ln>
          <a:effectLst/>
        </p:spPr>
        <p:txBody>
          <a:bodyPr wrap="square" lIns="0" tIns="0" rIns="0" bIns="0">
            <a:spAutoFit/>
          </a:bodyPr>
          <a:lstStyle/>
          <a:p>
            <a:pPr>
              <a:spcAft>
                <a:spcPct val="0"/>
              </a:spcAft>
              <a:buSzTx/>
              <a:buFontTx/>
              <a:buNone/>
            </a:pPr>
            <a:r>
              <a:rPr lang="en-US" altLang="zh-CN" sz="2200" dirty="0">
                <a:solidFill>
                  <a:schemeClr val="bg1"/>
                </a:solidFill>
                <a:effectLst>
                  <a:outerShdw blurRad="38100" dist="38100" dir="2700000" algn="tl">
                    <a:srgbClr val="000000"/>
                  </a:outerShdw>
                </a:effectLst>
                <a:latin typeface="Times New Roman" pitchFamily="18" charset="0"/>
              </a:rPr>
              <a:t>S</a:t>
            </a:r>
          </a:p>
        </p:txBody>
      </p:sp>
      <p:sp>
        <p:nvSpPr>
          <p:cNvPr id="27" name="Rectangle 6"/>
          <p:cNvSpPr>
            <a:spLocks noChangeArrowheads="1"/>
          </p:cNvSpPr>
          <p:nvPr/>
        </p:nvSpPr>
        <p:spPr bwMode="auto">
          <a:xfrm>
            <a:off x="767408" y="3590763"/>
            <a:ext cx="9331468" cy="1378839"/>
          </a:xfrm>
          <a:prstGeom prst="rect">
            <a:avLst/>
          </a:prstGeom>
          <a:noFill/>
          <a:ln w="12700" cap="sq">
            <a:noFill/>
            <a:miter lim="800000"/>
            <a:headEnd/>
            <a:tailEnd/>
          </a:ln>
          <a:effectLst/>
        </p:spPr>
        <p:txBody>
          <a:bodyPr wrap="square" lIns="0" tIns="0" rIns="0" bIns="0">
            <a:spAutoFit/>
          </a:bodyPr>
          <a:lstStyle/>
          <a:p>
            <a:pPr>
              <a:spcBef>
                <a:spcPct val="50000"/>
              </a:spcBef>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UPDATE S </a:t>
            </a:r>
            <a:endParaRPr lang="zh-CN" altLang="en-US" sz="3200" kern="0" dirty="0">
              <a:solidFill>
                <a:srgbClr val="99FF33"/>
              </a:solidFill>
              <a:effectLst>
                <a:outerShdw blurRad="38100" dist="38100" dir="2700000" algn="tl">
                  <a:srgbClr val="000000"/>
                </a:outerShdw>
              </a:effectLst>
            </a:endParaRPr>
          </a:p>
          <a:p>
            <a:pPr>
              <a:lnSpc>
                <a:spcPct val="90000"/>
              </a:lnSpc>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SET </a:t>
            </a:r>
            <a:r>
              <a:rPr lang="zh-CN" altLang="en-US" sz="3200" kern="0" dirty="0">
                <a:solidFill>
                  <a:srgbClr val="99FF33"/>
                </a:solidFill>
                <a:effectLst>
                  <a:outerShdw blurRad="38100" dist="38100" dir="2700000" algn="tl">
                    <a:srgbClr val="000000"/>
                  </a:outerShdw>
                </a:effectLst>
              </a:rPr>
              <a:t>姓名</a:t>
            </a:r>
            <a:r>
              <a:rPr lang="en-US" altLang="zh-CN" sz="3200" kern="0" dirty="0">
                <a:solidFill>
                  <a:srgbClr val="99FF33"/>
                </a:solidFill>
                <a:effectLst>
                  <a:outerShdw blurRad="38100" dist="38100" dir="2700000" algn="tl">
                    <a:srgbClr val="000000"/>
                  </a:outerShdw>
                </a:effectLst>
              </a:rPr>
              <a:t>='</a:t>
            </a:r>
            <a:r>
              <a:rPr lang="zh-CN" altLang="en-US" sz="3200" kern="0" dirty="0">
                <a:solidFill>
                  <a:srgbClr val="99FF33"/>
                </a:solidFill>
                <a:effectLst>
                  <a:outerShdw blurRad="38100" dist="38100" dir="2700000" algn="tl">
                    <a:srgbClr val="000000"/>
                  </a:outerShdw>
                </a:effectLst>
              </a:rPr>
              <a:t>王浩'</a:t>
            </a:r>
            <a:r>
              <a:rPr lang="en-US" altLang="zh-CN" sz="3200" kern="0" dirty="0">
                <a:solidFill>
                  <a:srgbClr val="99FF33"/>
                </a:solidFill>
                <a:effectLst>
                  <a:outerShdw blurRad="38100" dist="38100" dir="2700000" algn="tl">
                    <a:srgbClr val="000000"/>
                  </a:outerShdw>
                </a:effectLst>
              </a:rPr>
              <a:t>,</a:t>
            </a:r>
            <a:r>
              <a:rPr lang="zh-CN" altLang="en-US" sz="3200" kern="0" dirty="0">
                <a:solidFill>
                  <a:srgbClr val="99FF33"/>
                </a:solidFill>
                <a:effectLst>
                  <a:outerShdw blurRad="38100" dist="38100" dir="2700000" algn="tl">
                    <a:srgbClr val="000000"/>
                  </a:outerShdw>
                </a:effectLst>
              </a:rPr>
              <a:t>年龄</a:t>
            </a:r>
            <a:r>
              <a:rPr lang="en-US" altLang="zh-CN" sz="3200" kern="0" dirty="0">
                <a:solidFill>
                  <a:srgbClr val="99FF33"/>
                </a:solidFill>
                <a:effectLst>
                  <a:outerShdw blurRad="38100" dist="38100" dir="2700000" algn="tl">
                    <a:srgbClr val="000000"/>
                  </a:outerShdw>
                </a:effectLst>
              </a:rPr>
              <a:t>=22 </a:t>
            </a:r>
          </a:p>
          <a:p>
            <a:pPr>
              <a:lnSpc>
                <a:spcPct val="90000"/>
              </a:lnSpc>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WHERE </a:t>
            </a:r>
            <a:r>
              <a:rPr lang="zh-CN" altLang="en-US" sz="3200" kern="0" dirty="0">
                <a:solidFill>
                  <a:srgbClr val="99FF33"/>
                </a:solidFill>
                <a:effectLst>
                  <a:outerShdw blurRad="38100" dist="38100" dir="2700000" algn="tl">
                    <a:srgbClr val="000000"/>
                  </a:outerShdw>
                </a:effectLst>
              </a:rPr>
              <a:t>学号</a:t>
            </a:r>
            <a:r>
              <a:rPr lang="en-US" altLang="zh-CN" sz="3200" kern="0" dirty="0">
                <a:solidFill>
                  <a:srgbClr val="99FF33"/>
                </a:solidFill>
                <a:effectLst>
                  <a:outerShdw blurRad="38100" dist="38100" dir="2700000" algn="tl">
                    <a:srgbClr val="000000"/>
                  </a:outerShdw>
                </a:effectLst>
              </a:rPr>
              <a:t>='99002'</a:t>
            </a:r>
            <a:endParaRPr lang="en-US" altLang="zh-CN" sz="2400" kern="0" dirty="0">
              <a:solidFill>
                <a:srgbClr val="CCFFCC"/>
              </a:solidFill>
              <a:effectLst>
                <a:outerShdw blurRad="38100" dist="38100" dir="2700000" algn="tl">
                  <a:srgbClr val="000000"/>
                </a:outerShdw>
              </a:effectLst>
            </a:endParaRPr>
          </a:p>
        </p:txBody>
      </p:sp>
      <p:sp>
        <p:nvSpPr>
          <p:cNvPr id="28" name="Rectangle 7"/>
          <p:cNvSpPr>
            <a:spLocks noChangeArrowheads="1"/>
          </p:cNvSpPr>
          <p:nvPr/>
        </p:nvSpPr>
        <p:spPr bwMode="auto">
          <a:xfrm>
            <a:off x="767408" y="3130907"/>
            <a:ext cx="6586740" cy="430887"/>
          </a:xfrm>
          <a:prstGeom prst="rect">
            <a:avLst/>
          </a:prstGeom>
          <a:noFill/>
          <a:ln w="12700" cap="sq">
            <a:noFill/>
            <a:miter lim="800000"/>
            <a:headEnd/>
            <a:tailEnd/>
          </a:ln>
          <a:effectLst/>
        </p:spPr>
        <p:txBody>
          <a:bodyPr wrap="none" lIns="0" tIns="0" rIns="0" bIns="0">
            <a:spAutoFit/>
          </a:bodyPr>
          <a:lstStyle/>
          <a:p>
            <a:pPr>
              <a:spcAft>
                <a:spcPct val="20000"/>
              </a:spcAft>
              <a:buClr>
                <a:srgbClr val="FFFFFF"/>
              </a:buClr>
              <a:buSzPct val="85000"/>
              <a:defRPr/>
            </a:pPr>
            <a:r>
              <a:rPr lang="zh-CN" altLang="en-US" sz="2800" kern="0" dirty="0">
                <a:solidFill>
                  <a:srgbClr val="FFFFCC"/>
                </a:solidFill>
                <a:effectLst>
                  <a:outerShdw blurRad="38100" dist="38100" dir="2700000" algn="tl">
                    <a:srgbClr val="000000"/>
                  </a:outerShdw>
                </a:effectLst>
              </a:rPr>
              <a:t>将</a:t>
            </a:r>
            <a:r>
              <a:rPr lang="en-US" altLang="zh-CN" sz="2800" kern="0" dirty="0">
                <a:solidFill>
                  <a:srgbClr val="FFFFCC"/>
                </a:solidFill>
                <a:effectLst>
                  <a:outerShdw blurRad="38100" dist="38100" dir="2700000" algn="tl">
                    <a:srgbClr val="000000"/>
                  </a:outerShdw>
                </a:effectLst>
              </a:rPr>
              <a:t>99002</a:t>
            </a:r>
            <a:r>
              <a:rPr lang="zh-CN" altLang="en-US" sz="2800" kern="0" dirty="0">
                <a:solidFill>
                  <a:srgbClr val="FFFFCC"/>
                </a:solidFill>
                <a:effectLst>
                  <a:outerShdw blurRad="38100" dist="38100" dir="2700000" algn="tl">
                    <a:srgbClr val="000000"/>
                  </a:outerShdw>
                </a:effectLst>
              </a:rPr>
              <a:t>号学生改名为王浩</a:t>
            </a:r>
            <a:r>
              <a:rPr lang="en-US" altLang="zh-CN" sz="2800" kern="0" dirty="0">
                <a:solidFill>
                  <a:srgbClr val="FFFFCC"/>
                </a:solidFill>
                <a:effectLst>
                  <a:outerShdw blurRad="38100" dist="38100" dir="2700000" algn="tl">
                    <a:srgbClr val="000000"/>
                  </a:outerShdw>
                </a:effectLst>
              </a:rPr>
              <a:t>,</a:t>
            </a:r>
            <a:r>
              <a:rPr lang="zh-CN" altLang="en-US" sz="2800" kern="0" dirty="0">
                <a:solidFill>
                  <a:srgbClr val="FFFFCC"/>
                </a:solidFill>
                <a:effectLst>
                  <a:outerShdw blurRad="38100" dist="38100" dir="2700000" algn="tl">
                    <a:srgbClr val="000000"/>
                  </a:outerShdw>
                </a:effectLst>
              </a:rPr>
              <a:t>年龄改为</a:t>
            </a:r>
            <a:r>
              <a:rPr lang="en-US" altLang="zh-CN" sz="2800" kern="0" dirty="0">
                <a:solidFill>
                  <a:srgbClr val="FFFFCC"/>
                </a:solidFill>
                <a:effectLst>
                  <a:outerShdw blurRad="38100" dist="38100" dir="2700000" algn="tl">
                    <a:srgbClr val="000000"/>
                  </a:outerShdw>
                </a:effectLst>
              </a:rPr>
              <a:t>22</a:t>
            </a:r>
            <a:r>
              <a:rPr lang="zh-CN" altLang="en-US" sz="2800" kern="0" dirty="0">
                <a:solidFill>
                  <a:srgbClr val="FFFFCC"/>
                </a:solidFill>
                <a:effectLst>
                  <a:outerShdw blurRad="38100" dist="38100" dir="2700000" algn="tl">
                    <a:srgbClr val="000000"/>
                  </a:outerShdw>
                </a:effectLst>
              </a:rPr>
              <a:t>岁</a:t>
            </a:r>
            <a:endParaRPr lang="en-US" altLang="zh-CN" sz="2800" kern="0" dirty="0">
              <a:solidFill>
                <a:srgbClr val="FFFFCC"/>
              </a:solidFill>
              <a:effectLst>
                <a:outerShdw blurRad="38100" dist="38100" dir="2700000" algn="tl">
                  <a:srgbClr val="000000"/>
                </a:outerShdw>
              </a:effectLst>
            </a:endParaRPr>
          </a:p>
        </p:txBody>
      </p:sp>
      <p:sp>
        <p:nvSpPr>
          <p:cNvPr id="29" name="Rectangle 8"/>
          <p:cNvSpPr>
            <a:spLocks noChangeArrowheads="1"/>
          </p:cNvSpPr>
          <p:nvPr/>
        </p:nvSpPr>
        <p:spPr bwMode="auto">
          <a:xfrm>
            <a:off x="3719736" y="199958"/>
            <a:ext cx="6048672" cy="544139"/>
          </a:xfrm>
          <a:prstGeom prst="rect">
            <a:avLst/>
          </a:prstGeom>
          <a:solidFill>
            <a:srgbClr val="0000CC"/>
          </a:solidFill>
          <a:ln w="28575" cap="sq" algn="ctr">
            <a:solidFill>
              <a:srgbClr val="FFFFCC"/>
            </a:solidFill>
            <a:miter lim="800000"/>
            <a:headEnd/>
            <a:tailEnd/>
          </a:ln>
          <a:effectLst>
            <a:outerShdw dist="107763" dir="2700000" algn="ctr" rotWithShape="0">
              <a:srgbClr val="000514">
                <a:alpha val="50000"/>
              </a:srgbClr>
            </a:outerShdw>
          </a:effectLst>
        </p:spPr>
        <p:txBody>
          <a:bodyPr lIns="0" tIns="0" rIns="0" bIns="0" anchor="ctr"/>
          <a:lstStyle/>
          <a:p>
            <a:pPr algn="ctr">
              <a:spcAft>
                <a:spcPct val="0"/>
              </a:spcAft>
              <a:defRPr/>
            </a:pPr>
            <a:r>
              <a:rPr lang="zh-CN" altLang="en-US" sz="3200" kern="0">
                <a:solidFill>
                  <a:schemeClr val="bg1"/>
                </a:solidFill>
                <a:effectLst>
                  <a:outerShdw blurRad="38100" dist="38100" dir="2700000" algn="tl">
                    <a:srgbClr val="000000"/>
                  </a:outerShdw>
                </a:effectLst>
              </a:rPr>
              <a:t>无</a:t>
            </a:r>
            <a:r>
              <a:rPr lang="en-US" altLang="zh-CN" sz="3200" kern="0">
                <a:solidFill>
                  <a:schemeClr val="bg1"/>
                </a:solidFill>
                <a:effectLst>
                  <a:outerShdw blurRad="38100" dist="38100" dir="2700000" algn="tl">
                    <a:srgbClr val="000000"/>
                  </a:outerShdw>
                </a:effectLst>
              </a:rPr>
              <a:t>WHERE</a:t>
            </a:r>
            <a:r>
              <a:rPr lang="zh-CN" altLang="en-US" sz="3200" kern="0">
                <a:solidFill>
                  <a:schemeClr val="bg1"/>
                </a:solidFill>
                <a:effectLst>
                  <a:outerShdw blurRad="38100" dist="38100" dir="2700000" algn="tl">
                    <a:srgbClr val="000000"/>
                  </a:outerShdw>
                </a:effectLst>
              </a:rPr>
              <a:t>时修改范围为全部行</a:t>
            </a:r>
          </a:p>
        </p:txBody>
      </p:sp>
      <p:graphicFrame>
        <p:nvGraphicFramePr>
          <p:cNvPr id="46" name="Group 13"/>
          <p:cNvGraphicFramePr>
            <a:graphicFrameLocks noGrp="1"/>
          </p:cNvGraphicFramePr>
          <p:nvPr>
            <p:extLst>
              <p:ext uri="{D42A27DB-BD31-4B8C-83A1-F6EECF244321}">
                <p14:modId xmlns:p14="http://schemas.microsoft.com/office/powerpoint/2010/main" val="3731836007"/>
              </p:ext>
            </p:extLst>
          </p:nvPr>
        </p:nvGraphicFramePr>
        <p:xfrm>
          <a:off x="8184232" y="3561794"/>
          <a:ext cx="3600248" cy="1547192"/>
        </p:xfrm>
        <a:graphic>
          <a:graphicData uri="http://schemas.openxmlformats.org/drawingml/2006/table">
            <a:tbl>
              <a:tblPr/>
              <a:tblGrid>
                <a:gridCol w="795446">
                  <a:extLst>
                    <a:ext uri="{9D8B030D-6E8A-4147-A177-3AD203B41FA5}">
                      <a16:colId xmlns:a16="http://schemas.microsoft.com/office/drawing/2014/main" val="20000"/>
                    </a:ext>
                  </a:extLst>
                </a:gridCol>
                <a:gridCol w="748548">
                  <a:extLst>
                    <a:ext uri="{9D8B030D-6E8A-4147-A177-3AD203B41FA5}">
                      <a16:colId xmlns:a16="http://schemas.microsoft.com/office/drawing/2014/main" val="20001"/>
                    </a:ext>
                  </a:extLst>
                </a:gridCol>
                <a:gridCol w="683614">
                  <a:extLst>
                    <a:ext uri="{9D8B030D-6E8A-4147-A177-3AD203B41FA5}">
                      <a16:colId xmlns:a16="http://schemas.microsoft.com/office/drawing/2014/main" val="20002"/>
                    </a:ext>
                  </a:extLst>
                </a:gridCol>
                <a:gridCol w="602447">
                  <a:extLst>
                    <a:ext uri="{9D8B030D-6E8A-4147-A177-3AD203B41FA5}">
                      <a16:colId xmlns:a16="http://schemas.microsoft.com/office/drawing/2014/main" val="20003"/>
                    </a:ext>
                  </a:extLst>
                </a:gridCol>
                <a:gridCol w="770193">
                  <a:extLst>
                    <a:ext uri="{9D8B030D-6E8A-4147-A177-3AD203B41FA5}">
                      <a16:colId xmlns:a16="http://schemas.microsoft.com/office/drawing/2014/main" val="20004"/>
                    </a:ext>
                  </a:extLst>
                </a:gridCol>
              </a:tblGrid>
              <a:tr h="38679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系</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籍贯</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8679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张军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21</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成都</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679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刘华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重庆</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679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伍松</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雅安</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2974197"/>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12316" y="13250"/>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修改数据</a:t>
            </a:r>
          </a:p>
        </p:txBody>
      </p:sp>
      <p:graphicFrame>
        <p:nvGraphicFramePr>
          <p:cNvPr id="13" name="Group 77"/>
          <p:cNvGraphicFramePr>
            <a:graphicFrameLocks noGrp="1"/>
          </p:cNvGraphicFramePr>
          <p:nvPr>
            <p:extLst>
              <p:ext uri="{D42A27DB-BD31-4B8C-83A1-F6EECF244321}">
                <p14:modId xmlns:p14="http://schemas.microsoft.com/office/powerpoint/2010/main" val="2842955374"/>
              </p:ext>
            </p:extLst>
          </p:nvPr>
        </p:nvGraphicFramePr>
        <p:xfrm>
          <a:off x="7513793" y="848031"/>
          <a:ext cx="4126823" cy="1463040"/>
        </p:xfrm>
        <a:graphic>
          <a:graphicData uri="http://schemas.openxmlformats.org/drawingml/2006/table">
            <a:tbl>
              <a:tblPr/>
              <a:tblGrid>
                <a:gridCol w="981698">
                  <a:extLst>
                    <a:ext uri="{9D8B030D-6E8A-4147-A177-3AD203B41FA5}">
                      <a16:colId xmlns:a16="http://schemas.microsoft.com/office/drawing/2014/main" val="20000"/>
                    </a:ext>
                  </a:extLst>
                </a:gridCol>
                <a:gridCol w="89051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720080">
                  <a:extLst>
                    <a:ext uri="{9D8B030D-6E8A-4147-A177-3AD203B41FA5}">
                      <a16:colId xmlns:a16="http://schemas.microsoft.com/office/drawing/2014/main" val="20003"/>
                    </a:ext>
                  </a:extLst>
                </a:gridCol>
                <a:gridCol w="814455">
                  <a:extLst>
                    <a:ext uri="{9D8B030D-6E8A-4147-A177-3AD203B41FA5}">
                      <a16:colId xmlns:a16="http://schemas.microsoft.com/office/drawing/2014/main" val="20004"/>
                    </a:ext>
                  </a:extLst>
                </a:gridCol>
              </a:tblGrid>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系</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籍贯</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张军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21</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成都</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刘华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重庆</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伍松</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雅安</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4" name="Rectangle 115"/>
          <p:cNvSpPr>
            <a:spLocks noChangeArrowheads="1"/>
          </p:cNvSpPr>
          <p:nvPr/>
        </p:nvSpPr>
        <p:spPr bwMode="auto">
          <a:xfrm>
            <a:off x="7752184" y="381058"/>
            <a:ext cx="171522" cy="369332"/>
          </a:xfrm>
          <a:prstGeom prst="rect">
            <a:avLst/>
          </a:prstGeom>
          <a:noFill/>
          <a:ln w="12700" cap="sq">
            <a:noFill/>
            <a:miter lim="800000"/>
            <a:headEnd/>
            <a:tailEnd/>
          </a:ln>
          <a:effectLst/>
        </p:spPr>
        <p:txBody>
          <a:bodyPr wrap="none" lIns="0" tIns="0" rIns="0" bIns="0">
            <a:spAutoFit/>
          </a:bodyPr>
          <a:lstStyle/>
          <a:p>
            <a:pPr>
              <a:spcAft>
                <a:spcPct val="0"/>
              </a:spcAft>
              <a:buSzTx/>
              <a:buFontTx/>
              <a:buNone/>
            </a:pPr>
            <a:r>
              <a:rPr lang="en-US" altLang="zh-CN" sz="2400" dirty="0">
                <a:solidFill>
                  <a:schemeClr val="bg1"/>
                </a:solidFill>
                <a:effectLst>
                  <a:outerShdw blurRad="38100" dist="38100" dir="2700000" algn="tl">
                    <a:srgbClr val="000000"/>
                  </a:outerShdw>
                </a:effectLst>
                <a:latin typeface="Times New Roman" pitchFamily="18" charset="0"/>
              </a:rPr>
              <a:t>S</a:t>
            </a:r>
          </a:p>
        </p:txBody>
      </p:sp>
      <p:graphicFrame>
        <p:nvGraphicFramePr>
          <p:cNvPr id="15" name="Group 116"/>
          <p:cNvGraphicFramePr>
            <a:graphicFrameLocks noGrp="1"/>
          </p:cNvGraphicFramePr>
          <p:nvPr>
            <p:extLst>
              <p:ext uri="{D42A27DB-BD31-4B8C-83A1-F6EECF244321}">
                <p14:modId xmlns:p14="http://schemas.microsoft.com/office/powerpoint/2010/main" val="3944940313"/>
              </p:ext>
            </p:extLst>
          </p:nvPr>
        </p:nvGraphicFramePr>
        <p:xfrm>
          <a:off x="9912424" y="3518151"/>
          <a:ext cx="1633817" cy="2194560"/>
        </p:xfrm>
        <a:graphic>
          <a:graphicData uri="http://schemas.openxmlformats.org/drawingml/2006/table">
            <a:tbl>
              <a:tblPr/>
              <a:tblGrid>
                <a:gridCol w="870680">
                  <a:extLst>
                    <a:ext uri="{9D8B030D-6E8A-4147-A177-3AD203B41FA5}">
                      <a16:colId xmlns:a16="http://schemas.microsoft.com/office/drawing/2014/main" val="20000"/>
                    </a:ext>
                  </a:extLst>
                </a:gridCol>
                <a:gridCol w="763137">
                  <a:extLst>
                    <a:ext uri="{9D8B030D-6E8A-4147-A177-3AD203B41FA5}">
                      <a16:colId xmlns:a16="http://schemas.microsoft.com/office/drawing/2014/main" val="20001"/>
                    </a:ext>
                  </a:extLst>
                </a:gridCol>
              </a:tblGrid>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学号</a:t>
                      </a:r>
                      <a:endParaRPr kumimoji="0" lang="en-US" altLang="zh-CN"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补助</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120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120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140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6" name="Rectangle 145"/>
          <p:cNvSpPr>
            <a:spLocks noChangeArrowheads="1"/>
          </p:cNvSpPr>
          <p:nvPr/>
        </p:nvSpPr>
        <p:spPr bwMode="auto">
          <a:xfrm>
            <a:off x="10011187" y="2992365"/>
            <a:ext cx="718145" cy="369332"/>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400" dirty="0">
                <a:solidFill>
                  <a:schemeClr val="bg1"/>
                </a:solidFill>
                <a:effectLst>
                  <a:outerShdw blurRad="38100" dist="38100" dir="2700000" algn="tl">
                    <a:srgbClr val="000000"/>
                  </a:outerShdw>
                </a:effectLst>
                <a:latin typeface="Times New Roman" pitchFamily="18" charset="0"/>
              </a:rPr>
              <a:t>S_BZ</a:t>
            </a:r>
          </a:p>
        </p:txBody>
      </p:sp>
      <p:sp>
        <p:nvSpPr>
          <p:cNvPr id="17" name="Rectangle 146"/>
          <p:cNvSpPr>
            <a:spLocks noChangeArrowheads="1"/>
          </p:cNvSpPr>
          <p:nvPr/>
        </p:nvSpPr>
        <p:spPr bwMode="auto">
          <a:xfrm>
            <a:off x="853708" y="2209366"/>
            <a:ext cx="5568950" cy="2831544"/>
          </a:xfrm>
          <a:prstGeom prst="rect">
            <a:avLst/>
          </a:prstGeom>
          <a:noFill/>
          <a:ln w="12700" cap="sq">
            <a:noFill/>
            <a:miter lim="800000"/>
            <a:headEnd/>
            <a:tailEnd/>
          </a:ln>
          <a:effectLst/>
        </p:spPr>
        <p:txBody>
          <a:bodyPr lIns="0" tIns="0" rIns="0" bIns="0">
            <a:spAutoFit/>
          </a:bodyPr>
          <a:lstStyle/>
          <a:p>
            <a:pPr>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UPDATE S_BZ inner join S</a:t>
            </a:r>
          </a:p>
          <a:p>
            <a:pPr>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ON S_BZ.</a:t>
            </a:r>
            <a:r>
              <a:rPr lang="zh-CN" altLang="en-US" sz="3200" kern="0" dirty="0">
                <a:solidFill>
                  <a:srgbClr val="99FF33"/>
                </a:solidFill>
                <a:effectLst>
                  <a:outerShdw blurRad="38100" dist="38100" dir="2700000" algn="tl">
                    <a:srgbClr val="000000"/>
                  </a:outerShdw>
                </a:effectLst>
              </a:rPr>
              <a:t>学号 </a:t>
            </a:r>
            <a:r>
              <a:rPr lang="en-US" altLang="zh-CN" sz="3200" kern="0" dirty="0">
                <a:solidFill>
                  <a:srgbClr val="99FF33"/>
                </a:solidFill>
                <a:effectLst>
                  <a:outerShdw blurRad="38100" dist="38100" dir="2700000" algn="tl">
                    <a:srgbClr val="000000"/>
                  </a:outerShdw>
                </a:effectLst>
              </a:rPr>
              <a:t>= S.</a:t>
            </a:r>
            <a:r>
              <a:rPr lang="zh-CN" altLang="en-US" sz="3200" kern="0" dirty="0">
                <a:solidFill>
                  <a:srgbClr val="99FF33"/>
                </a:solidFill>
                <a:effectLst>
                  <a:outerShdw blurRad="38100" dist="38100" dir="2700000" algn="tl">
                    <a:srgbClr val="000000"/>
                  </a:outerShdw>
                </a:effectLst>
              </a:rPr>
              <a:t>学号</a:t>
            </a:r>
          </a:p>
          <a:p>
            <a:pPr>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AND S.</a:t>
            </a:r>
            <a:r>
              <a:rPr lang="zh-CN" altLang="en-US" sz="3200" kern="0" dirty="0">
                <a:solidFill>
                  <a:srgbClr val="99FF33"/>
                </a:solidFill>
                <a:effectLst>
                  <a:outerShdw blurRad="38100" dist="38100" dir="2700000" algn="tl">
                    <a:srgbClr val="000000"/>
                  </a:outerShdw>
                </a:effectLst>
              </a:rPr>
              <a:t>籍贯</a:t>
            </a:r>
            <a:r>
              <a:rPr lang="en-US" altLang="zh-CN" sz="3200" kern="0" dirty="0">
                <a:solidFill>
                  <a:srgbClr val="99FF33"/>
                </a:solidFill>
                <a:effectLst>
                  <a:outerShdw blurRad="38100" dist="38100" dir="2700000" algn="tl">
                    <a:srgbClr val="000000"/>
                  </a:outerShdw>
                </a:effectLst>
              </a:rPr>
              <a:t>=‘</a:t>
            </a:r>
            <a:r>
              <a:rPr lang="zh-CN" altLang="en-US" sz="3200" kern="0" dirty="0">
                <a:solidFill>
                  <a:srgbClr val="99FF33"/>
                </a:solidFill>
                <a:effectLst>
                  <a:outerShdw blurRad="38100" dist="38100" dir="2700000" algn="tl">
                    <a:srgbClr val="000000"/>
                  </a:outerShdw>
                </a:effectLst>
              </a:rPr>
              <a:t>成都' </a:t>
            </a:r>
            <a:endParaRPr lang="en-US" altLang="zh-CN" sz="3200" kern="0" dirty="0">
              <a:solidFill>
                <a:srgbClr val="99FF33"/>
              </a:solidFill>
              <a:effectLst>
                <a:outerShdw blurRad="38100" dist="38100" dir="2700000" algn="tl">
                  <a:srgbClr val="000000"/>
                </a:outerShdw>
              </a:effectLst>
            </a:endParaRPr>
          </a:p>
          <a:p>
            <a:pPr>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SET </a:t>
            </a:r>
            <a:r>
              <a:rPr lang="zh-CN" altLang="en-US" sz="3200" kern="0" dirty="0">
                <a:solidFill>
                  <a:srgbClr val="99FF33"/>
                </a:solidFill>
                <a:effectLst>
                  <a:outerShdw blurRad="38100" dist="38100" dir="2700000" algn="tl">
                    <a:srgbClr val="000000"/>
                  </a:outerShdw>
                </a:effectLst>
              </a:rPr>
              <a:t>补助</a:t>
            </a:r>
            <a:r>
              <a:rPr lang="en-US" altLang="zh-CN" sz="3200" kern="0" dirty="0">
                <a:solidFill>
                  <a:srgbClr val="99FF33"/>
                </a:solidFill>
                <a:effectLst>
                  <a:outerShdw blurRad="38100" dist="38100" dir="2700000" algn="tl">
                    <a:srgbClr val="000000"/>
                  </a:outerShdw>
                </a:effectLst>
              </a:rPr>
              <a:t>=</a:t>
            </a:r>
            <a:r>
              <a:rPr lang="zh-CN" altLang="en-US" sz="3200" kern="0" dirty="0">
                <a:solidFill>
                  <a:srgbClr val="99FF33"/>
                </a:solidFill>
                <a:effectLst>
                  <a:outerShdw blurRad="38100" dist="38100" dir="2700000" algn="tl">
                    <a:srgbClr val="000000"/>
                  </a:outerShdw>
                </a:effectLst>
              </a:rPr>
              <a:t>补助</a:t>
            </a:r>
            <a:r>
              <a:rPr lang="en-US" altLang="zh-CN" sz="3200" kern="0" dirty="0">
                <a:solidFill>
                  <a:srgbClr val="99FF33"/>
                </a:solidFill>
                <a:effectLst>
                  <a:outerShdw blurRad="38100" dist="38100" dir="2700000" algn="tl">
                    <a:srgbClr val="000000"/>
                  </a:outerShdw>
                </a:effectLst>
              </a:rPr>
              <a:t>+50;</a:t>
            </a:r>
          </a:p>
          <a:p>
            <a:pPr>
              <a:spcAft>
                <a:spcPct val="0"/>
              </a:spcAft>
              <a:buClr>
                <a:srgbClr val="FFFFFF"/>
              </a:buClr>
              <a:buSzPct val="85000"/>
              <a:defRPr/>
            </a:pPr>
            <a:endParaRPr lang="en-US" altLang="zh-CN" sz="3200" kern="0" dirty="0">
              <a:solidFill>
                <a:srgbClr val="99FF33"/>
              </a:solidFill>
              <a:effectLst>
                <a:outerShdw blurRad="38100" dist="38100" dir="2700000" algn="tl">
                  <a:srgbClr val="000000"/>
                </a:outerShdw>
              </a:effectLst>
            </a:endParaRPr>
          </a:p>
          <a:p>
            <a:pPr>
              <a:spcAft>
                <a:spcPct val="0"/>
              </a:spcAft>
              <a:buClr>
                <a:srgbClr val="FFFFFF"/>
              </a:buClr>
              <a:buSzPct val="85000"/>
              <a:defRPr/>
            </a:pPr>
            <a:endParaRPr lang="zh-CN" altLang="en-US" sz="2400" kern="0" dirty="0">
              <a:solidFill>
                <a:srgbClr val="CCFFCC"/>
              </a:solidFill>
              <a:effectLst>
                <a:outerShdw blurRad="38100" dist="38100" dir="2700000" algn="tl">
                  <a:srgbClr val="000000"/>
                </a:outerShdw>
              </a:effectLst>
            </a:endParaRPr>
          </a:p>
        </p:txBody>
      </p:sp>
      <p:sp>
        <p:nvSpPr>
          <p:cNvPr id="18" name="Rectangle 147"/>
          <p:cNvSpPr>
            <a:spLocks noChangeArrowheads="1"/>
          </p:cNvSpPr>
          <p:nvPr/>
        </p:nvSpPr>
        <p:spPr bwMode="auto">
          <a:xfrm>
            <a:off x="814780" y="1008264"/>
            <a:ext cx="5904656" cy="861774"/>
          </a:xfrm>
          <a:prstGeom prst="rect">
            <a:avLst/>
          </a:prstGeom>
          <a:noFill/>
          <a:ln w="12700" cap="sq">
            <a:noFill/>
            <a:miter lim="800000"/>
            <a:headEnd/>
            <a:tailEnd/>
          </a:ln>
          <a:effectLst/>
        </p:spPr>
        <p:txBody>
          <a:bodyPr wrap="square" lIns="0" tIns="0" rIns="0" bIns="0">
            <a:spAutoFit/>
          </a:bodyPr>
          <a:lstStyle/>
          <a:p>
            <a:pPr>
              <a:spcAft>
                <a:spcPct val="20000"/>
              </a:spcAft>
              <a:buClr>
                <a:srgbClr val="FFFFFF"/>
              </a:buClr>
              <a:buSzPct val="85000"/>
              <a:defRPr/>
            </a:pPr>
            <a:r>
              <a:rPr lang="zh-CN" altLang="en-US" sz="2800" kern="0" dirty="0">
                <a:solidFill>
                  <a:srgbClr val="FFFFCC"/>
                </a:solidFill>
                <a:effectLst>
                  <a:outerShdw blurRad="38100" dist="38100" dir="2700000" algn="tl">
                    <a:srgbClr val="000000"/>
                  </a:outerShdw>
                </a:effectLst>
              </a:rPr>
              <a:t>将补助表</a:t>
            </a:r>
            <a:r>
              <a:rPr lang="en-US" altLang="zh-CN" sz="2800" kern="0" dirty="0">
                <a:solidFill>
                  <a:srgbClr val="FFFFCC"/>
                </a:solidFill>
                <a:effectLst>
                  <a:outerShdw blurRad="38100" dist="38100" dir="2700000" algn="tl">
                    <a:srgbClr val="000000"/>
                  </a:outerShdw>
                </a:effectLst>
              </a:rPr>
              <a:t>(S_BZ)</a:t>
            </a:r>
            <a:r>
              <a:rPr lang="zh-CN" altLang="en-US" sz="2800" kern="0" dirty="0">
                <a:solidFill>
                  <a:srgbClr val="FFFFCC"/>
                </a:solidFill>
                <a:effectLst>
                  <a:outerShdw blurRad="38100" dist="38100" dir="2700000" algn="tl">
                    <a:srgbClr val="000000"/>
                  </a:outerShdw>
                </a:effectLst>
              </a:rPr>
              <a:t>中来自成都的所有学生的补助</a:t>
            </a:r>
            <a:r>
              <a:rPr lang="en-US" altLang="zh-CN" sz="2800" kern="0" dirty="0">
                <a:solidFill>
                  <a:srgbClr val="FFFFCC"/>
                </a:solidFill>
                <a:effectLst>
                  <a:outerShdw blurRad="38100" dist="38100" dir="2700000" algn="tl">
                    <a:srgbClr val="000000"/>
                  </a:outerShdw>
                </a:effectLst>
              </a:rPr>
              <a:t>(</a:t>
            </a:r>
            <a:r>
              <a:rPr lang="en-US" altLang="zh-CN" sz="2800" kern="0" dirty="0" err="1">
                <a:solidFill>
                  <a:srgbClr val="FFFFCC"/>
                </a:solidFill>
                <a:effectLst>
                  <a:outerShdw blurRad="38100" dist="38100" dir="2700000" algn="tl">
                    <a:srgbClr val="000000"/>
                  </a:outerShdw>
                </a:effectLst>
              </a:rPr>
              <a:t>Bz</a:t>
            </a:r>
            <a:r>
              <a:rPr lang="en-US" altLang="zh-CN" sz="2800" kern="0" dirty="0">
                <a:solidFill>
                  <a:srgbClr val="FFFFCC"/>
                </a:solidFill>
                <a:effectLst>
                  <a:outerShdw blurRad="38100" dist="38100" dir="2700000" algn="tl">
                    <a:srgbClr val="000000"/>
                  </a:outerShdw>
                </a:effectLst>
              </a:rPr>
              <a:t>)</a:t>
            </a:r>
            <a:r>
              <a:rPr lang="zh-CN" altLang="en-US" sz="2800" kern="0" dirty="0">
                <a:solidFill>
                  <a:srgbClr val="FFFFCC"/>
                </a:solidFill>
                <a:effectLst>
                  <a:outerShdw blurRad="38100" dist="38100" dir="2700000" algn="tl">
                    <a:srgbClr val="000000"/>
                  </a:outerShdw>
                </a:effectLst>
              </a:rPr>
              <a:t>值增加</a:t>
            </a:r>
            <a:r>
              <a:rPr lang="en-US" altLang="zh-CN" sz="2800" kern="0" dirty="0">
                <a:solidFill>
                  <a:srgbClr val="FFFFCC"/>
                </a:solidFill>
                <a:effectLst>
                  <a:outerShdw blurRad="38100" dist="38100" dir="2700000" algn="tl">
                    <a:srgbClr val="000000"/>
                  </a:outerShdw>
                </a:effectLst>
              </a:rPr>
              <a:t>50</a:t>
            </a:r>
            <a:endParaRPr lang="zh-CN" altLang="en-US" sz="2800" kern="0" dirty="0">
              <a:solidFill>
                <a:srgbClr val="FFFFCC"/>
              </a:solidFill>
              <a:effectLst>
                <a:outerShdw blurRad="38100" dist="38100" dir="2700000" algn="tl">
                  <a:srgbClr val="000000"/>
                </a:outerShdw>
              </a:effectLst>
            </a:endParaRPr>
          </a:p>
        </p:txBody>
      </p:sp>
      <p:sp>
        <p:nvSpPr>
          <p:cNvPr id="19" name="Rectangle 148"/>
          <p:cNvSpPr>
            <a:spLocks noChangeArrowheads="1"/>
          </p:cNvSpPr>
          <p:nvPr/>
        </p:nvSpPr>
        <p:spPr bwMode="auto">
          <a:xfrm>
            <a:off x="876723" y="5204870"/>
            <a:ext cx="9134464" cy="1477328"/>
          </a:xfrm>
          <a:prstGeom prst="rect">
            <a:avLst/>
          </a:prstGeom>
          <a:noFill/>
          <a:ln w="12700" cap="sq">
            <a:noFill/>
            <a:miter lim="800000"/>
            <a:headEnd/>
            <a:tailEnd/>
          </a:ln>
          <a:effectLst/>
        </p:spPr>
        <p:txBody>
          <a:bodyPr wrap="square" lIns="0" tIns="0" rIns="0" bIns="0">
            <a:spAutoFit/>
          </a:bodyPr>
          <a:lstStyle/>
          <a:p>
            <a:pPr>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UPDATE S_BZ SET </a:t>
            </a:r>
            <a:r>
              <a:rPr lang="zh-CN" altLang="en-US" sz="3200" kern="0" dirty="0">
                <a:solidFill>
                  <a:srgbClr val="99FF33"/>
                </a:solidFill>
                <a:effectLst>
                  <a:outerShdw blurRad="38100" dist="38100" dir="2700000" algn="tl">
                    <a:srgbClr val="000000"/>
                  </a:outerShdw>
                </a:effectLst>
              </a:rPr>
              <a:t>补助</a:t>
            </a:r>
            <a:r>
              <a:rPr lang="en-US" altLang="zh-CN" sz="3200" kern="0" dirty="0">
                <a:solidFill>
                  <a:srgbClr val="99FF33"/>
                </a:solidFill>
                <a:effectLst>
                  <a:outerShdw blurRad="38100" dist="38100" dir="2700000" algn="tl">
                    <a:srgbClr val="000000"/>
                  </a:outerShdw>
                </a:effectLst>
              </a:rPr>
              <a:t>=</a:t>
            </a:r>
            <a:r>
              <a:rPr lang="zh-CN" altLang="en-US" sz="3200" kern="0" dirty="0">
                <a:solidFill>
                  <a:srgbClr val="99FF33"/>
                </a:solidFill>
                <a:effectLst>
                  <a:outerShdw blurRad="38100" dist="38100" dir="2700000" algn="tl">
                    <a:srgbClr val="000000"/>
                  </a:outerShdw>
                </a:effectLst>
              </a:rPr>
              <a:t>补助</a:t>
            </a:r>
            <a:r>
              <a:rPr lang="en-US" altLang="zh-CN" sz="3200" kern="0" dirty="0">
                <a:solidFill>
                  <a:srgbClr val="99FF33"/>
                </a:solidFill>
                <a:effectLst>
                  <a:outerShdw blurRad="38100" dist="38100" dir="2700000" algn="tl">
                    <a:srgbClr val="000000"/>
                  </a:outerShdw>
                </a:effectLst>
              </a:rPr>
              <a:t>+50</a:t>
            </a:r>
          </a:p>
          <a:p>
            <a:pPr>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WHERE </a:t>
            </a:r>
            <a:r>
              <a:rPr lang="zh-CN" altLang="en-US" sz="3200" kern="0" dirty="0">
                <a:solidFill>
                  <a:srgbClr val="99FF33"/>
                </a:solidFill>
                <a:effectLst>
                  <a:outerShdw blurRad="38100" dist="38100" dir="2700000" algn="tl">
                    <a:srgbClr val="000000"/>
                  </a:outerShdw>
                </a:effectLst>
              </a:rPr>
              <a:t>学号 </a:t>
            </a:r>
            <a:r>
              <a:rPr lang="en-US" altLang="zh-CN" sz="3200" kern="0" dirty="0">
                <a:solidFill>
                  <a:srgbClr val="99FF33"/>
                </a:solidFill>
                <a:effectLst>
                  <a:outerShdw blurRad="38100" dist="38100" dir="2700000" algn="tl">
                    <a:srgbClr val="000000"/>
                  </a:outerShdw>
                </a:effectLst>
              </a:rPr>
              <a:t>IN ( </a:t>
            </a:r>
          </a:p>
          <a:p>
            <a:pPr>
              <a:spcAft>
                <a:spcPct val="0"/>
              </a:spcAft>
              <a:buClr>
                <a:srgbClr val="FFFFFF"/>
              </a:buClr>
              <a:buSzPct val="85000"/>
              <a:defRPr/>
            </a:pPr>
            <a:r>
              <a:rPr lang="en-US" altLang="zh-CN" sz="3200" kern="0" dirty="0">
                <a:solidFill>
                  <a:srgbClr val="99FF33"/>
                </a:solidFill>
                <a:effectLst>
                  <a:outerShdw blurRad="38100" dist="38100" dir="2700000" algn="tl">
                    <a:srgbClr val="000000"/>
                  </a:outerShdw>
                </a:effectLst>
              </a:rPr>
              <a:t>       SELECT </a:t>
            </a:r>
            <a:r>
              <a:rPr lang="zh-CN" altLang="en-US" sz="3200" kern="0" dirty="0">
                <a:solidFill>
                  <a:srgbClr val="99FF33"/>
                </a:solidFill>
                <a:effectLst>
                  <a:outerShdw blurRad="38100" dist="38100" dir="2700000" algn="tl">
                    <a:srgbClr val="000000"/>
                  </a:outerShdw>
                </a:effectLst>
              </a:rPr>
              <a:t>学号 </a:t>
            </a:r>
            <a:r>
              <a:rPr lang="en-US" altLang="zh-CN" sz="3200" kern="0" dirty="0">
                <a:solidFill>
                  <a:srgbClr val="99FF33"/>
                </a:solidFill>
                <a:effectLst>
                  <a:outerShdw blurRad="38100" dist="38100" dir="2700000" algn="tl">
                    <a:srgbClr val="000000"/>
                  </a:outerShdw>
                </a:effectLst>
              </a:rPr>
              <a:t>FROM S WHERE </a:t>
            </a:r>
            <a:r>
              <a:rPr lang="zh-CN" altLang="en-US" sz="3200" kern="0" dirty="0">
                <a:solidFill>
                  <a:srgbClr val="99FF33"/>
                </a:solidFill>
                <a:effectLst>
                  <a:outerShdw blurRad="38100" dist="38100" dir="2700000" algn="tl">
                    <a:srgbClr val="000000"/>
                  </a:outerShdw>
                </a:effectLst>
              </a:rPr>
              <a:t>籍贯</a:t>
            </a:r>
            <a:r>
              <a:rPr lang="en-US" altLang="zh-CN" sz="3200" kern="0" dirty="0">
                <a:solidFill>
                  <a:srgbClr val="99FF33"/>
                </a:solidFill>
                <a:effectLst>
                  <a:outerShdw blurRad="38100" dist="38100" dir="2700000" algn="tl">
                    <a:srgbClr val="000000"/>
                  </a:outerShdw>
                </a:effectLst>
              </a:rPr>
              <a:t>='</a:t>
            </a:r>
            <a:r>
              <a:rPr lang="zh-CN" altLang="en-US" sz="3200" kern="0" dirty="0">
                <a:solidFill>
                  <a:srgbClr val="99FF33"/>
                </a:solidFill>
                <a:effectLst>
                  <a:outerShdw blurRad="38100" dist="38100" dir="2700000" algn="tl">
                    <a:srgbClr val="000000"/>
                  </a:outerShdw>
                </a:effectLst>
              </a:rPr>
              <a:t>成都' ) </a:t>
            </a:r>
            <a:endParaRPr lang="zh-CN" altLang="en-US" sz="2400" kern="0" dirty="0">
              <a:solidFill>
                <a:srgbClr val="CCFFCC"/>
              </a:solidFill>
              <a:effectLst>
                <a:outerShdw blurRad="38100" dist="38100" dir="2700000" algn="tl">
                  <a:srgbClr val="000000"/>
                </a:outerShdw>
              </a:effectLst>
            </a:endParaRPr>
          </a:p>
        </p:txBody>
      </p:sp>
      <p:sp>
        <p:nvSpPr>
          <p:cNvPr id="20" name="Rectangle 149"/>
          <p:cNvSpPr>
            <a:spLocks noChangeArrowheads="1"/>
          </p:cNvSpPr>
          <p:nvPr/>
        </p:nvSpPr>
        <p:spPr bwMode="auto">
          <a:xfrm>
            <a:off x="3196926" y="4592037"/>
            <a:ext cx="1008063" cy="523220"/>
          </a:xfrm>
          <a:prstGeom prst="rect">
            <a:avLst/>
          </a:prstGeom>
          <a:noFill/>
          <a:ln w="9525">
            <a:noFill/>
            <a:miter lim="800000"/>
            <a:headEnd/>
            <a:tailEnd/>
          </a:ln>
          <a:effectLst/>
        </p:spPr>
        <p:txBody>
          <a:bodyPr>
            <a:spAutoFit/>
          </a:bodyPr>
          <a:lstStyle/>
          <a:p>
            <a:pPr>
              <a:spcAft>
                <a:spcPct val="30000"/>
              </a:spcAft>
              <a:buClr>
                <a:srgbClr val="66FF33"/>
              </a:buClr>
              <a:buSzPct val="85000"/>
              <a:defRPr/>
            </a:pPr>
            <a:r>
              <a:rPr lang="zh-CN" altLang="en-US" sz="2800" kern="0" dirty="0">
                <a:solidFill>
                  <a:schemeClr val="bg1"/>
                </a:solidFill>
                <a:effectLst>
                  <a:outerShdw blurRad="38100" dist="38100" dir="2700000" algn="tl">
                    <a:srgbClr val="000000"/>
                  </a:outerShdw>
                </a:effectLst>
              </a:rPr>
              <a:t>等价</a:t>
            </a:r>
          </a:p>
        </p:txBody>
      </p:sp>
      <p:sp>
        <p:nvSpPr>
          <p:cNvPr id="21" name="AutoShape 150"/>
          <p:cNvSpPr>
            <a:spLocks noChangeArrowheads="1"/>
          </p:cNvSpPr>
          <p:nvPr/>
        </p:nvSpPr>
        <p:spPr bwMode="auto">
          <a:xfrm>
            <a:off x="2534226" y="4633370"/>
            <a:ext cx="431800" cy="571500"/>
          </a:xfrm>
          <a:prstGeom prst="upDownArrow">
            <a:avLst>
              <a:gd name="adj1" fmla="val 50000"/>
              <a:gd name="adj2" fmla="val 26471"/>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a:defRPr/>
            </a:pPr>
            <a:endParaRPr lang="zh-CN" altLang="en-US" kern="0">
              <a:solidFill>
                <a:sysClr val="windowText" lastClr="000000"/>
              </a:solidFill>
            </a:endParaRPr>
          </a:p>
        </p:txBody>
      </p:sp>
      <p:sp>
        <p:nvSpPr>
          <p:cNvPr id="22" name="AutoShape 100"/>
          <p:cNvSpPr>
            <a:spLocks noChangeArrowheads="1"/>
          </p:cNvSpPr>
          <p:nvPr/>
        </p:nvSpPr>
        <p:spPr bwMode="auto">
          <a:xfrm>
            <a:off x="6446684" y="3084801"/>
            <a:ext cx="1899714" cy="1346339"/>
          </a:xfrm>
          <a:prstGeom prst="wedgeRoundRectCallout">
            <a:avLst>
              <a:gd name="adj1" fmla="val -65867"/>
              <a:gd name="adj2" fmla="val -35595"/>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lIns="0" tIns="36000" rIns="0" bIns="36000" anchor="ctr"/>
          <a:lstStyle/>
          <a:p>
            <a:pPr algn="ctr">
              <a:spcAft>
                <a:spcPct val="40000"/>
              </a:spcAft>
              <a:buClr>
                <a:srgbClr val="66FF33"/>
              </a:buClr>
              <a:buSzPct val="85000"/>
              <a:defRPr/>
            </a:pPr>
            <a:r>
              <a:rPr lang="en-US" altLang="zh-CN" sz="3200" kern="0" dirty="0">
                <a:solidFill>
                  <a:srgbClr val="FFFFCC"/>
                </a:solidFill>
                <a:effectLst>
                  <a:outerShdw blurRad="38100" dist="38100" dir="2700000" algn="tl">
                    <a:srgbClr val="000000"/>
                  </a:outerShdw>
                </a:effectLst>
                <a:latin typeface="Arial" charset="0"/>
              </a:rPr>
              <a:t>My</a:t>
            </a:r>
            <a:r>
              <a:rPr lang="en-US" altLang="zh-CN" sz="3200" kern="0" dirty="0" err="1">
                <a:solidFill>
                  <a:srgbClr val="FFFFCC"/>
                </a:solidFill>
                <a:effectLst>
                  <a:outerShdw blurRad="38100" dist="38100" dir="2700000" algn="tl">
                    <a:srgbClr val="000000"/>
                  </a:outerShdw>
                </a:effectLst>
                <a:latin typeface="Arial" charset="0"/>
              </a:rPr>
              <a:t>sql</a:t>
            </a:r>
            <a:endParaRPr lang="en-US" altLang="zh-CN" sz="3200" kern="0" dirty="0">
              <a:solidFill>
                <a:srgbClr val="FFFFCC"/>
              </a:solidFill>
              <a:effectLst>
                <a:outerShdw blurRad="38100" dist="38100" dir="2700000" algn="tl">
                  <a:srgbClr val="000000"/>
                </a:outerShdw>
              </a:effectLst>
              <a:latin typeface="Arial" charset="0"/>
            </a:endParaRPr>
          </a:p>
          <a:p>
            <a:pPr algn="ctr">
              <a:spcAft>
                <a:spcPct val="40000"/>
              </a:spcAft>
              <a:buClr>
                <a:srgbClr val="66FF33"/>
              </a:buClr>
              <a:buSzPct val="85000"/>
              <a:defRPr/>
            </a:pPr>
            <a:r>
              <a:rPr lang="zh-CN" altLang="en-US" sz="3200" kern="0" dirty="0">
                <a:solidFill>
                  <a:srgbClr val="FFFFCC"/>
                </a:solidFill>
                <a:effectLst>
                  <a:outerShdw blurRad="38100" dist="38100" dir="2700000" algn="tl">
                    <a:srgbClr val="000000"/>
                  </a:outerShdw>
                </a:effectLst>
                <a:latin typeface="Arial" charset="0"/>
              </a:rPr>
              <a:t>用法</a:t>
            </a:r>
          </a:p>
        </p:txBody>
      </p:sp>
    </p:spTree>
    <p:extLst>
      <p:ext uri="{BB962C8B-B14F-4D97-AF65-F5344CB8AC3E}">
        <p14:creationId xmlns:p14="http://schemas.microsoft.com/office/powerpoint/2010/main" val="632708516"/>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400" y="35631"/>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删除数据</a:t>
            </a:r>
          </a:p>
        </p:txBody>
      </p:sp>
      <p:sp>
        <p:nvSpPr>
          <p:cNvPr id="23" name="Text Box 4"/>
          <p:cNvSpPr txBox="1">
            <a:spLocks noChangeArrowheads="1"/>
          </p:cNvSpPr>
          <p:nvPr/>
        </p:nvSpPr>
        <p:spPr bwMode="auto">
          <a:xfrm>
            <a:off x="663720" y="910969"/>
            <a:ext cx="8534400" cy="685800"/>
          </a:xfrm>
          <a:prstGeom prst="rect">
            <a:avLst/>
          </a:prstGeom>
          <a:noFill/>
          <a:ln w="12700" cap="sq">
            <a:noFill/>
            <a:miter lim="800000"/>
            <a:headEnd type="none" w="sm" len="sm"/>
            <a:tailEnd type="none" w="sm" len="sm"/>
          </a:ln>
          <a:effectLst/>
        </p:spPr>
        <p:txBody>
          <a:bodyPr/>
          <a:lstStyle/>
          <a:p>
            <a:pPr marL="358775" indent="-358775">
              <a:spcAft>
                <a:spcPct val="0"/>
              </a:spcAft>
              <a:tabLst>
                <a:tab pos="381000" algn="l"/>
              </a:tabLst>
              <a:defRPr/>
            </a:pPr>
            <a:r>
              <a:rPr lang="en-US" altLang="zh-CN" sz="4000" b="1" kern="0" dirty="0">
                <a:solidFill>
                  <a:srgbClr val="FFFF00"/>
                </a:solidFill>
                <a:effectLst>
                  <a:outerShdw blurRad="38100" dist="38100" dir="2700000" algn="tl">
                    <a:srgbClr val="000000"/>
                  </a:outerShdw>
                </a:effectLst>
                <a:latin typeface="Arial" charset="0"/>
              </a:rPr>
              <a:t>DELETE  FROM </a:t>
            </a:r>
            <a:r>
              <a:rPr lang="en-US" altLang="zh-CN" sz="4000" kern="0" dirty="0">
                <a:solidFill>
                  <a:sysClr val="windowText" lastClr="000000"/>
                </a:solidFill>
                <a:effectLst>
                  <a:outerShdw blurRad="38100" dist="38100" dir="2700000" algn="tl">
                    <a:srgbClr val="000000"/>
                  </a:outerShdw>
                </a:effectLst>
                <a:latin typeface="Arial" charset="0"/>
              </a:rPr>
              <a:t> </a:t>
            </a:r>
            <a:r>
              <a:rPr lang="en-US" altLang="zh-CN" sz="4000" kern="0" dirty="0">
                <a:solidFill>
                  <a:srgbClr val="CCFFCC"/>
                </a:solidFill>
                <a:effectLst>
                  <a:outerShdw blurRad="38100" dist="38100" dir="2700000" algn="tl">
                    <a:srgbClr val="000000"/>
                  </a:outerShdw>
                </a:effectLst>
                <a:latin typeface="Arial" charset="0"/>
              </a:rPr>
              <a:t>&lt;</a:t>
            </a:r>
            <a:r>
              <a:rPr lang="zh-CN" altLang="en-US" sz="4000" i="1" kern="0" dirty="0">
                <a:solidFill>
                  <a:srgbClr val="CCFFCC"/>
                </a:solidFill>
                <a:effectLst>
                  <a:outerShdw blurRad="38100" dist="38100" dir="2700000" algn="tl">
                    <a:srgbClr val="000000"/>
                  </a:outerShdw>
                </a:effectLst>
                <a:latin typeface="Arial" charset="0"/>
              </a:rPr>
              <a:t>表名</a:t>
            </a:r>
            <a:r>
              <a:rPr lang="zh-CN" altLang="en-US" sz="4000" kern="0" dirty="0">
                <a:solidFill>
                  <a:srgbClr val="CCFFCC"/>
                </a:solidFill>
                <a:effectLst>
                  <a:outerShdw blurRad="38100" dist="38100" dir="2700000" algn="tl">
                    <a:srgbClr val="000000"/>
                  </a:outerShdw>
                </a:effectLst>
                <a:latin typeface="Arial" charset="0"/>
              </a:rPr>
              <a:t>&gt;</a:t>
            </a:r>
          </a:p>
          <a:p>
            <a:pPr marL="358775" indent="-358775">
              <a:spcAft>
                <a:spcPct val="0"/>
              </a:spcAft>
              <a:buClr>
                <a:srgbClr val="FFFFCC"/>
              </a:buClr>
              <a:buSzPct val="60000"/>
              <a:tabLst>
                <a:tab pos="381000" algn="l"/>
              </a:tabLst>
              <a:defRPr/>
            </a:pPr>
            <a:r>
              <a:rPr lang="zh-CN" altLang="en-US" sz="4000" kern="0" dirty="0">
                <a:solidFill>
                  <a:srgbClr val="CCFFCC"/>
                </a:solidFill>
                <a:effectLst>
                  <a:outerShdw blurRad="38100" dist="38100" dir="2700000" algn="tl">
                    <a:srgbClr val="000000"/>
                  </a:outerShdw>
                </a:effectLst>
                <a:latin typeface="Arial" charset="0"/>
              </a:rPr>
              <a:t>[</a:t>
            </a:r>
            <a:r>
              <a:rPr lang="en-US" altLang="zh-CN" sz="4000" b="1" kern="0" dirty="0">
                <a:solidFill>
                  <a:srgbClr val="FFFF00"/>
                </a:solidFill>
                <a:effectLst>
                  <a:outerShdw blurRad="38100" dist="38100" dir="2700000" algn="tl">
                    <a:srgbClr val="000000"/>
                  </a:outerShdw>
                </a:effectLst>
                <a:latin typeface="Arial" charset="0"/>
              </a:rPr>
              <a:t>WHERE</a:t>
            </a:r>
            <a:r>
              <a:rPr lang="en-US" altLang="zh-CN" sz="4000" kern="0" dirty="0">
                <a:solidFill>
                  <a:sysClr val="windowText" lastClr="000000"/>
                </a:solidFill>
                <a:effectLst>
                  <a:outerShdw blurRad="38100" dist="38100" dir="2700000" algn="tl">
                    <a:srgbClr val="000000"/>
                  </a:outerShdw>
                </a:effectLst>
                <a:latin typeface="Arial" charset="0"/>
              </a:rPr>
              <a:t> </a:t>
            </a:r>
            <a:r>
              <a:rPr lang="en-US" altLang="zh-CN" sz="4000" kern="0" dirty="0">
                <a:solidFill>
                  <a:srgbClr val="CCFFCC"/>
                </a:solidFill>
                <a:effectLst>
                  <a:outerShdw blurRad="38100" dist="38100" dir="2700000" algn="tl">
                    <a:srgbClr val="000000"/>
                  </a:outerShdw>
                </a:effectLst>
                <a:latin typeface="Arial" charset="0"/>
              </a:rPr>
              <a:t>&lt;</a:t>
            </a:r>
            <a:r>
              <a:rPr lang="zh-CN" altLang="en-US" sz="4000" i="1" kern="0" dirty="0">
                <a:solidFill>
                  <a:srgbClr val="CCFFCC"/>
                </a:solidFill>
                <a:effectLst>
                  <a:outerShdw blurRad="38100" dist="38100" dir="2700000" algn="tl">
                    <a:srgbClr val="000000"/>
                  </a:outerShdw>
                </a:effectLst>
                <a:latin typeface="Arial" charset="0"/>
              </a:rPr>
              <a:t>条件</a:t>
            </a:r>
            <a:r>
              <a:rPr lang="zh-CN" altLang="en-US" sz="4000" kern="0" dirty="0">
                <a:solidFill>
                  <a:srgbClr val="CCFFCC"/>
                </a:solidFill>
                <a:effectLst>
                  <a:outerShdw blurRad="38100" dist="38100" dir="2700000" algn="tl">
                    <a:srgbClr val="000000"/>
                  </a:outerShdw>
                </a:effectLst>
                <a:latin typeface="Arial" charset="0"/>
              </a:rPr>
              <a:t>&gt;]</a:t>
            </a:r>
            <a:r>
              <a:rPr lang="zh-CN" altLang="en-US" sz="4000" kern="0" dirty="0">
                <a:solidFill>
                  <a:sysClr val="windowText" lastClr="000000"/>
                </a:solidFill>
                <a:effectLst>
                  <a:outerShdw blurRad="38100" dist="38100" dir="2700000" algn="tl">
                    <a:srgbClr val="000000"/>
                  </a:outerShdw>
                </a:effectLst>
                <a:latin typeface="Arial" charset="0"/>
              </a:rPr>
              <a:t> </a:t>
            </a:r>
            <a:r>
              <a:rPr lang="en-US" altLang="zh-CN" sz="4000" kern="0" dirty="0">
                <a:solidFill>
                  <a:srgbClr val="CCFFCC"/>
                </a:solidFill>
                <a:effectLst>
                  <a:outerShdw blurRad="38100" dist="38100" dir="2700000" algn="tl">
                    <a:srgbClr val="000000"/>
                  </a:outerShdw>
                </a:effectLst>
              </a:rPr>
              <a:t>;</a:t>
            </a:r>
            <a:endParaRPr lang="zh-CN" altLang="en-US" sz="4000" kern="0" dirty="0">
              <a:solidFill>
                <a:srgbClr val="CCFFCC"/>
              </a:solidFill>
              <a:effectLst>
                <a:outerShdw blurRad="38100" dist="38100" dir="2700000" algn="tl">
                  <a:srgbClr val="000000"/>
                </a:outerShdw>
              </a:effectLst>
            </a:endParaRPr>
          </a:p>
        </p:txBody>
      </p:sp>
      <p:sp>
        <p:nvSpPr>
          <p:cNvPr id="34" name="Rectangle 44"/>
          <p:cNvSpPr>
            <a:spLocks noChangeArrowheads="1"/>
          </p:cNvSpPr>
          <p:nvPr/>
        </p:nvSpPr>
        <p:spPr bwMode="auto">
          <a:xfrm>
            <a:off x="9048328" y="3435278"/>
            <a:ext cx="2666082" cy="1201055"/>
          </a:xfrm>
          <a:prstGeom prst="rect">
            <a:avLst/>
          </a:prstGeom>
          <a:solidFill>
            <a:srgbClr val="0000CC"/>
          </a:solidFill>
          <a:ln w="28575" cap="sq" algn="ctr">
            <a:solidFill>
              <a:srgbClr val="FFFFCC"/>
            </a:solidFill>
            <a:miter lim="800000"/>
            <a:headEnd/>
            <a:tailEnd/>
          </a:ln>
          <a:effectLst>
            <a:outerShdw dist="107763" dir="2700000" algn="ctr" rotWithShape="0">
              <a:srgbClr val="000514">
                <a:alpha val="50000"/>
              </a:srgbClr>
            </a:outerShdw>
          </a:effectLst>
        </p:spPr>
        <p:txBody>
          <a:bodyPr lIns="0" tIns="0" rIns="0" bIns="0" anchor="ctr"/>
          <a:lstStyle/>
          <a:p>
            <a:pPr algn="ctr">
              <a:spcAft>
                <a:spcPct val="0"/>
              </a:spcAft>
              <a:defRPr/>
            </a:pPr>
            <a:r>
              <a:rPr lang="zh-CN" altLang="en-US" sz="3600" kern="0">
                <a:solidFill>
                  <a:schemeClr val="bg1"/>
                </a:solidFill>
                <a:effectLst>
                  <a:outerShdw blurRad="38100" dist="38100" dir="2700000" algn="tl">
                    <a:srgbClr val="000000"/>
                  </a:outerShdw>
                </a:effectLst>
              </a:rPr>
              <a:t>无</a:t>
            </a:r>
            <a:r>
              <a:rPr lang="en-US" altLang="zh-CN" sz="3600" kern="0">
                <a:solidFill>
                  <a:schemeClr val="bg1"/>
                </a:solidFill>
                <a:effectLst>
                  <a:outerShdw blurRad="38100" dist="38100" dir="2700000" algn="tl">
                    <a:srgbClr val="000000"/>
                  </a:outerShdw>
                </a:effectLst>
              </a:rPr>
              <a:t>WHERE</a:t>
            </a:r>
            <a:r>
              <a:rPr lang="zh-CN" altLang="en-US" sz="3600" kern="0">
                <a:solidFill>
                  <a:schemeClr val="bg1"/>
                </a:solidFill>
                <a:effectLst>
                  <a:outerShdw blurRad="38100" dist="38100" dir="2700000" algn="tl">
                    <a:srgbClr val="000000"/>
                  </a:outerShdw>
                </a:effectLst>
              </a:rPr>
              <a:t>时删除全部行</a:t>
            </a:r>
          </a:p>
        </p:txBody>
      </p:sp>
      <p:sp>
        <p:nvSpPr>
          <p:cNvPr id="35" name="Rectangle 45"/>
          <p:cNvSpPr>
            <a:spLocks noChangeArrowheads="1"/>
          </p:cNvSpPr>
          <p:nvPr/>
        </p:nvSpPr>
        <p:spPr bwMode="auto">
          <a:xfrm>
            <a:off x="715615" y="3017140"/>
            <a:ext cx="8388921" cy="553998"/>
          </a:xfrm>
          <a:prstGeom prst="rect">
            <a:avLst/>
          </a:prstGeom>
          <a:noFill/>
          <a:ln w="12700" cap="sq">
            <a:noFill/>
            <a:miter lim="800000"/>
            <a:headEnd/>
            <a:tailEnd/>
          </a:ln>
          <a:effectLst/>
        </p:spPr>
        <p:txBody>
          <a:bodyPr wrap="square" lIns="0" tIns="0" rIns="0" bIns="0">
            <a:spAutoFit/>
          </a:bodyPr>
          <a:lstStyle/>
          <a:p>
            <a:pPr>
              <a:spcBef>
                <a:spcPct val="50000"/>
              </a:spcBef>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DELETE FROM S WHERE </a:t>
            </a:r>
            <a:r>
              <a:rPr lang="zh-CN" altLang="en-US" sz="3600" kern="0" dirty="0">
                <a:solidFill>
                  <a:srgbClr val="99FF33"/>
                </a:solidFill>
                <a:effectLst>
                  <a:outerShdw blurRad="38100" dist="38100" dir="2700000" algn="tl">
                    <a:srgbClr val="000000"/>
                  </a:outerShdw>
                </a:effectLst>
              </a:rPr>
              <a:t>学号</a:t>
            </a:r>
            <a:r>
              <a:rPr lang="en-US" altLang="zh-CN" sz="3600" kern="0" dirty="0">
                <a:solidFill>
                  <a:srgbClr val="99FF33"/>
                </a:solidFill>
                <a:effectLst>
                  <a:outerShdw blurRad="38100" dist="38100" dir="2700000" algn="tl">
                    <a:srgbClr val="000000"/>
                  </a:outerShdw>
                </a:effectLst>
              </a:rPr>
              <a:t>='99002'</a:t>
            </a:r>
            <a:endParaRPr lang="en-US" altLang="zh-CN" sz="3600" kern="0" dirty="0">
              <a:solidFill>
                <a:srgbClr val="CCFFCC"/>
              </a:solidFill>
              <a:effectLst>
                <a:outerShdw blurRad="38100" dist="38100" dir="2700000" algn="tl">
                  <a:srgbClr val="000000"/>
                </a:outerShdw>
              </a:effectLst>
            </a:endParaRPr>
          </a:p>
        </p:txBody>
      </p:sp>
      <p:sp>
        <p:nvSpPr>
          <p:cNvPr id="36" name="Rectangle 46"/>
          <p:cNvSpPr>
            <a:spLocks noChangeArrowheads="1"/>
          </p:cNvSpPr>
          <p:nvPr/>
        </p:nvSpPr>
        <p:spPr bwMode="auto">
          <a:xfrm>
            <a:off x="715615" y="2531376"/>
            <a:ext cx="3922549" cy="430887"/>
          </a:xfrm>
          <a:prstGeom prst="rect">
            <a:avLst/>
          </a:prstGeom>
          <a:noFill/>
          <a:ln w="12700" cap="sq">
            <a:noFill/>
            <a:miter lim="800000"/>
            <a:headEnd/>
            <a:tailEnd/>
          </a:ln>
          <a:effectLst/>
        </p:spPr>
        <p:txBody>
          <a:bodyPr wrap="none" lIns="0" tIns="0" rIns="0" bIns="0">
            <a:spAutoFit/>
          </a:bodyPr>
          <a:lstStyle/>
          <a:p>
            <a:pPr>
              <a:spcAft>
                <a:spcPct val="20000"/>
              </a:spcAft>
              <a:buClr>
                <a:srgbClr val="FFFFFF"/>
              </a:buClr>
              <a:buSzPct val="85000"/>
              <a:defRPr/>
            </a:pPr>
            <a:r>
              <a:rPr lang="zh-CN" altLang="en-US" sz="2800" kern="0" dirty="0">
                <a:solidFill>
                  <a:srgbClr val="FFFFCC"/>
                </a:solidFill>
                <a:effectLst>
                  <a:outerShdw blurRad="38100" dist="38100" dir="2700000" algn="tl">
                    <a:srgbClr val="000000"/>
                  </a:outerShdw>
                </a:effectLst>
              </a:rPr>
              <a:t>删除学号为</a:t>
            </a:r>
            <a:r>
              <a:rPr lang="en-US" altLang="zh-CN" sz="2800" kern="0" dirty="0">
                <a:solidFill>
                  <a:srgbClr val="FFFFCC"/>
                </a:solidFill>
                <a:effectLst>
                  <a:outerShdw blurRad="38100" dist="38100" dir="2700000" algn="tl">
                    <a:srgbClr val="000000"/>
                  </a:outerShdw>
                </a:effectLst>
              </a:rPr>
              <a:t>99002</a:t>
            </a:r>
            <a:r>
              <a:rPr lang="zh-CN" altLang="en-US" sz="2800" kern="0" dirty="0">
                <a:solidFill>
                  <a:srgbClr val="FFFFCC"/>
                </a:solidFill>
                <a:effectLst>
                  <a:outerShdw blurRad="38100" dist="38100" dir="2700000" algn="tl">
                    <a:srgbClr val="000000"/>
                  </a:outerShdw>
                </a:effectLst>
              </a:rPr>
              <a:t>的学生</a:t>
            </a:r>
          </a:p>
        </p:txBody>
      </p:sp>
      <p:sp>
        <p:nvSpPr>
          <p:cNvPr id="37" name="Rectangle 47"/>
          <p:cNvSpPr>
            <a:spLocks noChangeArrowheads="1"/>
          </p:cNvSpPr>
          <p:nvPr/>
        </p:nvSpPr>
        <p:spPr bwMode="auto">
          <a:xfrm>
            <a:off x="715616" y="4337228"/>
            <a:ext cx="9412832" cy="1107996"/>
          </a:xfrm>
          <a:prstGeom prst="rect">
            <a:avLst/>
          </a:prstGeom>
          <a:noFill/>
          <a:ln w="12700" cap="sq">
            <a:noFill/>
            <a:miter lim="800000"/>
            <a:headEnd/>
            <a:tailEnd/>
          </a:ln>
          <a:effectLst/>
        </p:spPr>
        <p:txBody>
          <a:bodyPr wrap="square" lIns="0" tIns="0" rIns="0" bIns="0">
            <a:spAutoFit/>
          </a:bodyPr>
          <a:lstStyle/>
          <a:p>
            <a:pPr>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DELETE FROM S</a:t>
            </a:r>
          </a:p>
          <a:p>
            <a:pPr>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 WHERE </a:t>
            </a:r>
            <a:r>
              <a:rPr lang="zh-CN" altLang="en-US" sz="3600" kern="0" dirty="0">
                <a:solidFill>
                  <a:srgbClr val="99FF33"/>
                </a:solidFill>
                <a:effectLst>
                  <a:outerShdw blurRad="38100" dist="38100" dir="2700000" algn="tl">
                    <a:srgbClr val="000000"/>
                  </a:outerShdw>
                </a:effectLst>
              </a:rPr>
              <a:t>籍贯</a:t>
            </a:r>
            <a:r>
              <a:rPr lang="en-US" altLang="zh-CN" sz="3600" kern="0" dirty="0">
                <a:solidFill>
                  <a:srgbClr val="99FF33"/>
                </a:solidFill>
                <a:effectLst>
                  <a:outerShdw blurRad="38100" dist="38100" dir="2700000" algn="tl">
                    <a:srgbClr val="000000"/>
                  </a:outerShdw>
                </a:effectLst>
              </a:rPr>
              <a:t>='</a:t>
            </a:r>
            <a:r>
              <a:rPr lang="zh-CN" altLang="en-US" sz="3600" kern="0" dirty="0">
                <a:solidFill>
                  <a:srgbClr val="99FF33"/>
                </a:solidFill>
                <a:effectLst>
                  <a:outerShdw blurRad="38100" dist="38100" dir="2700000" algn="tl">
                    <a:srgbClr val="000000"/>
                  </a:outerShdw>
                </a:effectLst>
              </a:rPr>
              <a:t>重庆</a:t>
            </a:r>
            <a:r>
              <a:rPr lang="en-US" altLang="zh-CN" sz="3600" kern="0" dirty="0">
                <a:solidFill>
                  <a:srgbClr val="99FF33"/>
                </a:solidFill>
                <a:effectLst>
                  <a:outerShdw blurRad="38100" dist="38100" dir="2700000" algn="tl">
                    <a:srgbClr val="000000"/>
                  </a:outerShdw>
                </a:effectLst>
              </a:rPr>
              <a:t>' AND </a:t>
            </a:r>
            <a:r>
              <a:rPr lang="zh-CN" altLang="en-US" sz="3600" kern="0" dirty="0">
                <a:solidFill>
                  <a:srgbClr val="99FF33"/>
                </a:solidFill>
                <a:effectLst>
                  <a:outerShdw blurRad="38100" dist="38100" dir="2700000" algn="tl">
                    <a:srgbClr val="000000"/>
                  </a:outerShdw>
                </a:effectLst>
              </a:rPr>
              <a:t>姓名 </a:t>
            </a:r>
            <a:r>
              <a:rPr lang="en-US" altLang="zh-CN" sz="3600" kern="0" dirty="0">
                <a:solidFill>
                  <a:srgbClr val="99FF33"/>
                </a:solidFill>
                <a:effectLst>
                  <a:outerShdw blurRad="38100" dist="38100" dir="2700000" algn="tl">
                    <a:srgbClr val="000000"/>
                  </a:outerShdw>
                </a:effectLst>
              </a:rPr>
              <a:t>Like '</a:t>
            </a:r>
            <a:r>
              <a:rPr lang="zh-CN" altLang="en-US" sz="3600" kern="0" dirty="0">
                <a:solidFill>
                  <a:srgbClr val="99FF33"/>
                </a:solidFill>
                <a:effectLst>
                  <a:outerShdw blurRad="38100" dist="38100" dir="2700000" algn="tl">
                    <a:srgbClr val="000000"/>
                  </a:outerShdw>
                </a:effectLst>
              </a:rPr>
              <a:t>张</a:t>
            </a:r>
            <a:r>
              <a:rPr lang="en-US" altLang="zh-CN" sz="3600" kern="0" dirty="0">
                <a:solidFill>
                  <a:srgbClr val="99FF33"/>
                </a:solidFill>
                <a:effectLst>
                  <a:outerShdw blurRad="38100" dist="38100" dir="2700000" algn="tl">
                    <a:srgbClr val="000000"/>
                  </a:outerShdw>
                </a:effectLst>
              </a:rPr>
              <a:t>%'</a:t>
            </a:r>
            <a:endParaRPr lang="zh-CN" altLang="en-US" sz="3600" kern="0" dirty="0">
              <a:solidFill>
                <a:srgbClr val="CCFFCC"/>
              </a:solidFill>
              <a:effectLst>
                <a:outerShdw blurRad="38100" dist="38100" dir="2700000" algn="tl">
                  <a:srgbClr val="000000"/>
                </a:outerShdw>
              </a:effectLst>
            </a:endParaRPr>
          </a:p>
        </p:txBody>
      </p:sp>
      <p:sp>
        <p:nvSpPr>
          <p:cNvPr id="38" name="Rectangle 48"/>
          <p:cNvSpPr>
            <a:spLocks noChangeArrowheads="1"/>
          </p:cNvSpPr>
          <p:nvPr/>
        </p:nvSpPr>
        <p:spPr bwMode="auto">
          <a:xfrm>
            <a:off x="715615" y="3838903"/>
            <a:ext cx="3949799" cy="430887"/>
          </a:xfrm>
          <a:prstGeom prst="rect">
            <a:avLst/>
          </a:prstGeom>
          <a:noFill/>
          <a:ln w="12700" cap="sq" algn="ctr">
            <a:noFill/>
            <a:miter lim="800000"/>
            <a:headEnd/>
            <a:tailEnd/>
          </a:ln>
          <a:effectLst/>
        </p:spPr>
        <p:txBody>
          <a:bodyPr wrap="none" lIns="0" tIns="0" rIns="0" bIns="0">
            <a:spAutoFit/>
          </a:bodyPr>
          <a:lstStyle/>
          <a:p>
            <a:pPr>
              <a:spcAft>
                <a:spcPct val="20000"/>
              </a:spcAft>
              <a:buClr>
                <a:srgbClr val="FFFFFF"/>
              </a:buClr>
              <a:buSzPct val="85000"/>
              <a:defRPr/>
            </a:pPr>
            <a:r>
              <a:rPr lang="zh-CN" altLang="en-US" sz="2800" kern="0" dirty="0">
                <a:solidFill>
                  <a:srgbClr val="FFFFCC"/>
                </a:solidFill>
                <a:effectLst>
                  <a:outerShdw blurRad="38100" dist="38100" dir="2700000" algn="tl">
                    <a:srgbClr val="000000"/>
                  </a:outerShdw>
                </a:effectLst>
              </a:rPr>
              <a:t>删除重庆来的姓张的学生</a:t>
            </a:r>
          </a:p>
        </p:txBody>
      </p:sp>
      <p:sp>
        <p:nvSpPr>
          <p:cNvPr id="39" name="Rectangle 49"/>
          <p:cNvSpPr>
            <a:spLocks noChangeArrowheads="1"/>
          </p:cNvSpPr>
          <p:nvPr/>
        </p:nvSpPr>
        <p:spPr bwMode="auto">
          <a:xfrm>
            <a:off x="715616" y="6115362"/>
            <a:ext cx="6143468" cy="553998"/>
          </a:xfrm>
          <a:prstGeom prst="rect">
            <a:avLst/>
          </a:prstGeom>
          <a:noFill/>
          <a:ln w="12700" cap="sq">
            <a:noFill/>
            <a:miter lim="800000"/>
            <a:headEnd/>
            <a:tailEnd/>
          </a:ln>
          <a:effectLst/>
        </p:spPr>
        <p:txBody>
          <a:bodyPr wrap="square" lIns="0" tIns="0" rIns="0" bIns="0">
            <a:spAutoFit/>
          </a:bodyPr>
          <a:lstStyle/>
          <a:p>
            <a:pPr>
              <a:spcBef>
                <a:spcPct val="50000"/>
              </a:spcBef>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DELETE FROM S</a:t>
            </a:r>
            <a:endParaRPr lang="en-US" altLang="zh-CN" sz="3600" kern="0" dirty="0">
              <a:solidFill>
                <a:srgbClr val="CCFFCC"/>
              </a:solidFill>
              <a:effectLst>
                <a:outerShdw blurRad="38100" dist="38100" dir="2700000" algn="tl">
                  <a:srgbClr val="000000"/>
                </a:outerShdw>
              </a:effectLst>
            </a:endParaRPr>
          </a:p>
        </p:txBody>
      </p:sp>
      <p:sp>
        <p:nvSpPr>
          <p:cNvPr id="40" name="Rectangle 50"/>
          <p:cNvSpPr>
            <a:spLocks noChangeArrowheads="1"/>
          </p:cNvSpPr>
          <p:nvPr/>
        </p:nvSpPr>
        <p:spPr bwMode="auto">
          <a:xfrm>
            <a:off x="715615" y="5632910"/>
            <a:ext cx="2154436" cy="430887"/>
          </a:xfrm>
          <a:prstGeom prst="rect">
            <a:avLst/>
          </a:prstGeom>
          <a:noFill/>
          <a:ln w="12700" cap="sq" algn="ctr">
            <a:noFill/>
            <a:miter lim="800000"/>
            <a:headEnd/>
            <a:tailEnd/>
          </a:ln>
          <a:effectLst/>
        </p:spPr>
        <p:txBody>
          <a:bodyPr wrap="none" lIns="0" tIns="0" rIns="0" bIns="0">
            <a:spAutoFit/>
          </a:bodyPr>
          <a:lstStyle/>
          <a:p>
            <a:pPr>
              <a:spcAft>
                <a:spcPct val="20000"/>
              </a:spcAft>
              <a:buClr>
                <a:srgbClr val="FFFFFF"/>
              </a:buClr>
              <a:buSzPct val="85000"/>
              <a:defRPr/>
            </a:pPr>
            <a:r>
              <a:rPr lang="zh-CN" altLang="en-US" sz="2800" kern="0" dirty="0">
                <a:solidFill>
                  <a:srgbClr val="FFFFCC"/>
                </a:solidFill>
                <a:effectLst>
                  <a:outerShdw blurRad="38100" dist="38100" dir="2700000" algn="tl">
                    <a:srgbClr val="000000"/>
                  </a:outerShdw>
                </a:effectLst>
              </a:rPr>
              <a:t>删除所有学生</a:t>
            </a:r>
          </a:p>
        </p:txBody>
      </p:sp>
      <p:graphicFrame>
        <p:nvGraphicFramePr>
          <p:cNvPr id="2" name="Group 77">
            <a:extLst>
              <a:ext uri="{FF2B5EF4-FFF2-40B4-BE49-F238E27FC236}">
                <a16:creationId xmlns:a16="http://schemas.microsoft.com/office/drawing/2014/main" id="{79506E46-8435-41BD-BACC-D5761BF6374E}"/>
              </a:ext>
            </a:extLst>
          </p:cNvPr>
          <p:cNvGraphicFramePr>
            <a:graphicFrameLocks noGrp="1"/>
          </p:cNvGraphicFramePr>
          <p:nvPr>
            <p:extLst>
              <p:ext uri="{D42A27DB-BD31-4B8C-83A1-F6EECF244321}">
                <p14:modId xmlns:p14="http://schemas.microsoft.com/office/powerpoint/2010/main" val="3406208959"/>
              </p:ext>
            </p:extLst>
          </p:nvPr>
        </p:nvGraphicFramePr>
        <p:xfrm>
          <a:off x="7680176" y="910969"/>
          <a:ext cx="4126823" cy="1463040"/>
        </p:xfrm>
        <a:graphic>
          <a:graphicData uri="http://schemas.openxmlformats.org/drawingml/2006/table">
            <a:tbl>
              <a:tblPr/>
              <a:tblGrid>
                <a:gridCol w="981698">
                  <a:extLst>
                    <a:ext uri="{9D8B030D-6E8A-4147-A177-3AD203B41FA5}">
                      <a16:colId xmlns:a16="http://schemas.microsoft.com/office/drawing/2014/main" val="20000"/>
                    </a:ext>
                  </a:extLst>
                </a:gridCol>
                <a:gridCol w="89051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720080">
                  <a:extLst>
                    <a:ext uri="{9D8B030D-6E8A-4147-A177-3AD203B41FA5}">
                      <a16:colId xmlns:a16="http://schemas.microsoft.com/office/drawing/2014/main" val="20003"/>
                    </a:ext>
                  </a:extLst>
                </a:gridCol>
                <a:gridCol w="814455">
                  <a:extLst>
                    <a:ext uri="{9D8B030D-6E8A-4147-A177-3AD203B41FA5}">
                      <a16:colId xmlns:a16="http://schemas.microsoft.com/office/drawing/2014/main" val="20004"/>
                    </a:ext>
                  </a:extLst>
                </a:gridCol>
              </a:tblGrid>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系</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籍贯</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张军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21</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成都</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刘华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重庆</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伍松</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雅安</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 name="Rectangle 115">
            <a:extLst>
              <a:ext uri="{FF2B5EF4-FFF2-40B4-BE49-F238E27FC236}">
                <a16:creationId xmlns:a16="http://schemas.microsoft.com/office/drawing/2014/main" id="{55A092AD-7DC7-46C5-8FD4-86BF2D8877F7}"/>
              </a:ext>
            </a:extLst>
          </p:cNvPr>
          <p:cNvSpPr>
            <a:spLocks noChangeArrowheads="1"/>
          </p:cNvSpPr>
          <p:nvPr/>
        </p:nvSpPr>
        <p:spPr bwMode="auto">
          <a:xfrm>
            <a:off x="7929288" y="464672"/>
            <a:ext cx="171522" cy="369332"/>
          </a:xfrm>
          <a:prstGeom prst="rect">
            <a:avLst/>
          </a:prstGeom>
          <a:noFill/>
          <a:ln w="12700" cap="sq">
            <a:noFill/>
            <a:miter lim="800000"/>
            <a:headEnd/>
            <a:tailEnd/>
          </a:ln>
          <a:effectLst/>
        </p:spPr>
        <p:txBody>
          <a:bodyPr wrap="none" lIns="0" tIns="0" rIns="0" bIns="0">
            <a:spAutoFit/>
          </a:bodyPr>
          <a:lstStyle/>
          <a:p>
            <a:pPr>
              <a:spcAft>
                <a:spcPct val="0"/>
              </a:spcAft>
              <a:buSzTx/>
              <a:buFontTx/>
              <a:buNone/>
            </a:pPr>
            <a:r>
              <a:rPr lang="en-US" altLang="zh-CN" sz="2400" dirty="0">
                <a:solidFill>
                  <a:schemeClr val="bg1"/>
                </a:solidFill>
                <a:effectLst>
                  <a:outerShdw blurRad="38100" dist="38100" dir="2700000" algn="tl">
                    <a:srgbClr val="000000"/>
                  </a:outerShdw>
                </a:effectLst>
                <a:latin typeface="Times New Roman" pitchFamily="18" charset="0"/>
              </a:rPr>
              <a:t>S</a:t>
            </a:r>
          </a:p>
        </p:txBody>
      </p:sp>
    </p:spTree>
    <p:extLst>
      <p:ext uri="{BB962C8B-B14F-4D97-AF65-F5344CB8AC3E}">
        <p14:creationId xmlns:p14="http://schemas.microsoft.com/office/powerpoint/2010/main" val="1450809908"/>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95400" y="35631"/>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删除数据</a:t>
            </a:r>
          </a:p>
        </p:txBody>
      </p:sp>
      <p:sp>
        <p:nvSpPr>
          <p:cNvPr id="17" name="Rectangle 78"/>
          <p:cNvSpPr>
            <a:spLocks noChangeArrowheads="1"/>
          </p:cNvSpPr>
          <p:nvPr/>
        </p:nvSpPr>
        <p:spPr bwMode="auto">
          <a:xfrm>
            <a:off x="712703" y="1095022"/>
            <a:ext cx="4573587" cy="861774"/>
          </a:xfrm>
          <a:prstGeom prst="rect">
            <a:avLst/>
          </a:prstGeom>
          <a:noFill/>
          <a:ln w="12700" cap="sq">
            <a:noFill/>
            <a:miter lim="800000"/>
            <a:headEnd/>
            <a:tailEnd/>
          </a:ln>
          <a:effectLst/>
        </p:spPr>
        <p:txBody>
          <a:bodyPr lIns="0" tIns="0" rIns="0" bIns="0">
            <a:spAutoFit/>
          </a:bodyPr>
          <a:lstStyle/>
          <a:p>
            <a:pPr>
              <a:spcAft>
                <a:spcPct val="20000"/>
              </a:spcAft>
              <a:buClr>
                <a:srgbClr val="FFFFFF"/>
              </a:buClr>
              <a:buSzPct val="85000"/>
              <a:defRPr/>
            </a:pPr>
            <a:r>
              <a:rPr lang="zh-CN" altLang="zh-CN" sz="2800" kern="0" dirty="0">
                <a:solidFill>
                  <a:srgbClr val="FFFFCC"/>
                </a:solidFill>
                <a:effectLst>
                  <a:outerShdw blurRad="38100" dist="38100" dir="2700000" algn="tl">
                    <a:srgbClr val="000000"/>
                  </a:outerShdw>
                </a:effectLst>
              </a:rPr>
              <a:t>从补助表(S_BZ)中删除年龄大于25岁的学生</a:t>
            </a:r>
            <a:r>
              <a:rPr lang="zh-CN" altLang="en-US" sz="2800" kern="0" dirty="0">
                <a:solidFill>
                  <a:srgbClr val="FFFFCC"/>
                </a:solidFill>
                <a:effectLst>
                  <a:outerShdw blurRad="38100" dist="38100" dir="2700000" algn="tl">
                    <a:srgbClr val="000000"/>
                  </a:outerShdw>
                </a:effectLst>
              </a:rPr>
              <a:t>的</a:t>
            </a:r>
            <a:r>
              <a:rPr lang="zh-CN" altLang="zh-CN" sz="2800" kern="0" dirty="0">
                <a:solidFill>
                  <a:srgbClr val="FFFFCC"/>
                </a:solidFill>
                <a:effectLst>
                  <a:outerShdw blurRad="38100" dist="38100" dir="2700000" algn="tl">
                    <a:srgbClr val="000000"/>
                  </a:outerShdw>
                </a:effectLst>
              </a:rPr>
              <a:t>补助</a:t>
            </a:r>
          </a:p>
        </p:txBody>
      </p:sp>
      <p:sp>
        <p:nvSpPr>
          <p:cNvPr id="18" name="Rectangle 77"/>
          <p:cNvSpPr>
            <a:spLocks noChangeArrowheads="1"/>
          </p:cNvSpPr>
          <p:nvPr/>
        </p:nvSpPr>
        <p:spPr bwMode="auto">
          <a:xfrm>
            <a:off x="685958" y="4869537"/>
            <a:ext cx="10043374" cy="1661993"/>
          </a:xfrm>
          <a:prstGeom prst="rect">
            <a:avLst/>
          </a:prstGeom>
          <a:noFill/>
          <a:ln w="12700" cap="sq">
            <a:noFill/>
            <a:miter lim="800000"/>
            <a:headEnd/>
            <a:tailEnd/>
          </a:ln>
          <a:effectLst/>
        </p:spPr>
        <p:txBody>
          <a:bodyPr wrap="square" lIns="0" tIns="0" rIns="0" bIns="0">
            <a:spAutoFit/>
          </a:bodyPr>
          <a:lstStyle/>
          <a:p>
            <a:pPr>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DELETE FROM S_BZ </a:t>
            </a:r>
          </a:p>
          <a:p>
            <a:pPr>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 WHERE </a:t>
            </a:r>
            <a:r>
              <a:rPr lang="zh-CN" altLang="en-US" sz="3600" kern="0" dirty="0">
                <a:solidFill>
                  <a:srgbClr val="99FF33"/>
                </a:solidFill>
                <a:effectLst>
                  <a:outerShdw blurRad="38100" dist="38100" dir="2700000" algn="tl">
                    <a:srgbClr val="000000"/>
                  </a:outerShdw>
                </a:effectLst>
              </a:rPr>
              <a:t>学号</a:t>
            </a:r>
            <a:r>
              <a:rPr lang="en-US" altLang="zh-CN" sz="3600" kern="0" dirty="0">
                <a:solidFill>
                  <a:srgbClr val="99FF33"/>
                </a:solidFill>
                <a:effectLst>
                  <a:outerShdw blurRad="38100" dist="38100" dir="2700000" algn="tl">
                    <a:srgbClr val="000000"/>
                  </a:outerShdw>
                </a:effectLst>
              </a:rPr>
              <a:t> = ANY (</a:t>
            </a:r>
          </a:p>
          <a:p>
            <a:pPr>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       SELECT </a:t>
            </a:r>
            <a:r>
              <a:rPr lang="zh-CN" altLang="en-US" sz="3600" kern="0" dirty="0">
                <a:solidFill>
                  <a:srgbClr val="99FF33"/>
                </a:solidFill>
                <a:effectLst>
                  <a:outerShdw blurRad="38100" dist="38100" dir="2700000" algn="tl">
                    <a:srgbClr val="000000"/>
                  </a:outerShdw>
                </a:effectLst>
              </a:rPr>
              <a:t>学号 </a:t>
            </a:r>
            <a:r>
              <a:rPr lang="en-US" altLang="zh-CN" sz="3600" kern="0" dirty="0">
                <a:solidFill>
                  <a:srgbClr val="99FF33"/>
                </a:solidFill>
                <a:effectLst>
                  <a:outerShdw blurRad="38100" dist="38100" dir="2700000" algn="tl">
                    <a:srgbClr val="000000"/>
                  </a:outerShdw>
                </a:effectLst>
              </a:rPr>
              <a:t>FROM S WHERE </a:t>
            </a:r>
            <a:r>
              <a:rPr lang="zh-CN" altLang="en-US" sz="3600" kern="0" dirty="0">
                <a:solidFill>
                  <a:srgbClr val="99FF33"/>
                </a:solidFill>
                <a:effectLst>
                  <a:outerShdw blurRad="38100" dist="38100" dir="2700000" algn="tl">
                    <a:srgbClr val="000000"/>
                  </a:outerShdw>
                </a:effectLst>
              </a:rPr>
              <a:t>年龄</a:t>
            </a:r>
            <a:r>
              <a:rPr lang="en-US" altLang="zh-CN" sz="3600" kern="0" dirty="0">
                <a:solidFill>
                  <a:srgbClr val="99FF33"/>
                </a:solidFill>
                <a:effectLst>
                  <a:outerShdw blurRad="38100" dist="38100" dir="2700000" algn="tl">
                    <a:srgbClr val="000000"/>
                  </a:outerShdw>
                </a:effectLst>
              </a:rPr>
              <a:t>&gt;25</a:t>
            </a:r>
            <a:r>
              <a:rPr lang="zh-CN" altLang="en-US" sz="3600" kern="0" dirty="0">
                <a:solidFill>
                  <a:srgbClr val="99FF33"/>
                </a:solidFill>
                <a:effectLst>
                  <a:outerShdw blurRad="38100" dist="38100" dir="2700000" algn="tl">
                    <a:srgbClr val="000000"/>
                  </a:outerShdw>
                </a:effectLst>
              </a:rPr>
              <a:t>) </a:t>
            </a:r>
            <a:endParaRPr lang="zh-CN" altLang="en-US" sz="3600" kern="0" dirty="0">
              <a:solidFill>
                <a:srgbClr val="CCFFCC"/>
              </a:solidFill>
              <a:effectLst>
                <a:outerShdw blurRad="38100" dist="38100" dir="2700000" algn="tl">
                  <a:srgbClr val="000000"/>
                </a:outerShdw>
              </a:effectLst>
            </a:endParaRPr>
          </a:p>
        </p:txBody>
      </p:sp>
      <p:sp>
        <p:nvSpPr>
          <p:cNvPr id="19" name="Rectangle 79"/>
          <p:cNvSpPr>
            <a:spLocks noChangeArrowheads="1"/>
          </p:cNvSpPr>
          <p:nvPr/>
        </p:nvSpPr>
        <p:spPr bwMode="auto">
          <a:xfrm>
            <a:off x="724058" y="2227959"/>
            <a:ext cx="8841569" cy="1661993"/>
          </a:xfrm>
          <a:prstGeom prst="rect">
            <a:avLst/>
          </a:prstGeom>
          <a:noFill/>
          <a:ln w="12700" cap="sq">
            <a:noFill/>
            <a:miter lim="800000"/>
            <a:headEnd/>
            <a:tailEnd/>
          </a:ln>
          <a:effectLst/>
        </p:spPr>
        <p:txBody>
          <a:bodyPr wrap="square" lIns="0" tIns="0" rIns="0" bIns="0">
            <a:spAutoFit/>
          </a:bodyPr>
          <a:lstStyle/>
          <a:p>
            <a:pPr>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DELETE S_BZ FROM S_BZ  JOIN  S</a:t>
            </a:r>
          </a:p>
          <a:p>
            <a:pPr>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   ON S.</a:t>
            </a:r>
            <a:r>
              <a:rPr lang="zh-CN" altLang="en-US" sz="3600" kern="0" dirty="0">
                <a:solidFill>
                  <a:srgbClr val="99FF33"/>
                </a:solidFill>
                <a:effectLst>
                  <a:outerShdw blurRad="38100" dist="38100" dir="2700000" algn="tl">
                    <a:srgbClr val="000000"/>
                  </a:outerShdw>
                </a:effectLst>
              </a:rPr>
              <a:t>学号</a:t>
            </a:r>
            <a:r>
              <a:rPr lang="en-US" altLang="zh-CN" sz="3600" kern="0" dirty="0">
                <a:solidFill>
                  <a:srgbClr val="99FF33"/>
                </a:solidFill>
                <a:effectLst>
                  <a:outerShdw blurRad="38100" dist="38100" dir="2700000" algn="tl">
                    <a:srgbClr val="000000"/>
                  </a:outerShdw>
                </a:effectLst>
              </a:rPr>
              <a:t>=S_BZ.</a:t>
            </a:r>
            <a:r>
              <a:rPr lang="zh-CN" altLang="en-US" sz="3600" kern="0" dirty="0">
                <a:solidFill>
                  <a:srgbClr val="99FF33"/>
                </a:solidFill>
                <a:effectLst>
                  <a:outerShdw blurRad="38100" dist="38100" dir="2700000" algn="tl">
                    <a:srgbClr val="000000"/>
                  </a:outerShdw>
                </a:effectLst>
              </a:rPr>
              <a:t>学号 </a:t>
            </a:r>
          </a:p>
          <a:p>
            <a:pPr>
              <a:spcAft>
                <a:spcPct val="0"/>
              </a:spcAft>
              <a:buClr>
                <a:srgbClr val="FFFFFF"/>
              </a:buClr>
              <a:buSzPct val="85000"/>
              <a:defRPr/>
            </a:pPr>
            <a:r>
              <a:rPr lang="en-US" altLang="zh-CN" sz="3600" kern="0" dirty="0">
                <a:solidFill>
                  <a:srgbClr val="99FF33"/>
                </a:solidFill>
                <a:effectLst>
                  <a:outerShdw blurRad="38100" dist="38100" dir="2700000" algn="tl">
                    <a:srgbClr val="000000"/>
                  </a:outerShdw>
                </a:effectLst>
              </a:rPr>
              <a:t>   AND S.</a:t>
            </a:r>
            <a:r>
              <a:rPr lang="zh-CN" altLang="en-US" sz="3600" kern="0" dirty="0">
                <a:solidFill>
                  <a:srgbClr val="99FF33"/>
                </a:solidFill>
                <a:effectLst>
                  <a:outerShdw blurRad="38100" dist="38100" dir="2700000" algn="tl">
                    <a:srgbClr val="000000"/>
                  </a:outerShdw>
                </a:effectLst>
              </a:rPr>
              <a:t>年龄</a:t>
            </a:r>
            <a:r>
              <a:rPr lang="en-US" altLang="zh-CN" sz="3600" kern="0" dirty="0">
                <a:solidFill>
                  <a:srgbClr val="99FF33"/>
                </a:solidFill>
                <a:effectLst>
                  <a:outerShdw blurRad="38100" dist="38100" dir="2700000" algn="tl">
                    <a:srgbClr val="000000"/>
                  </a:outerShdw>
                </a:effectLst>
              </a:rPr>
              <a:t>&gt;25</a:t>
            </a:r>
            <a:endParaRPr lang="zh-CN" altLang="en-US" sz="3600" kern="0" dirty="0">
              <a:solidFill>
                <a:srgbClr val="CCFFCC"/>
              </a:solidFill>
              <a:effectLst>
                <a:outerShdw blurRad="38100" dist="38100" dir="2700000" algn="tl">
                  <a:srgbClr val="000000"/>
                </a:outerShdw>
              </a:effectLst>
            </a:endParaRPr>
          </a:p>
        </p:txBody>
      </p:sp>
      <p:sp>
        <p:nvSpPr>
          <p:cNvPr id="20" name="Rectangle 149"/>
          <p:cNvSpPr>
            <a:spLocks noChangeArrowheads="1"/>
          </p:cNvSpPr>
          <p:nvPr/>
        </p:nvSpPr>
        <p:spPr bwMode="auto">
          <a:xfrm>
            <a:off x="2999497" y="4118296"/>
            <a:ext cx="1008063" cy="523220"/>
          </a:xfrm>
          <a:prstGeom prst="rect">
            <a:avLst/>
          </a:prstGeom>
          <a:noFill/>
          <a:ln w="9525">
            <a:noFill/>
            <a:miter lim="800000"/>
            <a:headEnd/>
            <a:tailEnd/>
          </a:ln>
          <a:effectLst/>
        </p:spPr>
        <p:txBody>
          <a:bodyPr>
            <a:spAutoFit/>
          </a:bodyPr>
          <a:lstStyle/>
          <a:p>
            <a:pPr>
              <a:spcAft>
                <a:spcPct val="30000"/>
              </a:spcAft>
              <a:buClr>
                <a:srgbClr val="66FF33"/>
              </a:buClr>
              <a:buSzPct val="85000"/>
              <a:defRPr/>
            </a:pPr>
            <a:r>
              <a:rPr lang="zh-CN" altLang="en-US" sz="2800" kern="0" dirty="0">
                <a:solidFill>
                  <a:schemeClr val="bg1"/>
                </a:solidFill>
                <a:effectLst>
                  <a:outerShdw blurRad="38100" dist="38100" dir="2700000" algn="tl">
                    <a:srgbClr val="000000"/>
                  </a:outerShdw>
                </a:effectLst>
              </a:rPr>
              <a:t>等价</a:t>
            </a:r>
          </a:p>
        </p:txBody>
      </p:sp>
      <p:sp>
        <p:nvSpPr>
          <p:cNvPr id="21" name="AutoShape 150"/>
          <p:cNvSpPr>
            <a:spLocks noChangeArrowheads="1"/>
          </p:cNvSpPr>
          <p:nvPr/>
        </p:nvSpPr>
        <p:spPr bwMode="auto">
          <a:xfrm>
            <a:off x="2423234" y="4118296"/>
            <a:ext cx="431800" cy="571500"/>
          </a:xfrm>
          <a:prstGeom prst="upDownArrow">
            <a:avLst>
              <a:gd name="adj1" fmla="val 50000"/>
              <a:gd name="adj2" fmla="val 26471"/>
            </a:avLst>
          </a:prstGeom>
          <a:solidFill>
            <a:srgbClr val="0099CC"/>
          </a:solidFill>
          <a:ln w="28575"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a:defRPr/>
            </a:pPr>
            <a:endParaRPr lang="zh-CN" altLang="en-US" kern="0">
              <a:solidFill>
                <a:sysClr val="windowText" lastClr="000000"/>
              </a:solidFill>
            </a:endParaRPr>
          </a:p>
        </p:txBody>
      </p:sp>
      <p:graphicFrame>
        <p:nvGraphicFramePr>
          <p:cNvPr id="2" name="Group 77">
            <a:extLst>
              <a:ext uri="{FF2B5EF4-FFF2-40B4-BE49-F238E27FC236}">
                <a16:creationId xmlns:a16="http://schemas.microsoft.com/office/drawing/2014/main" id="{F1FF9408-BB68-46BA-BD68-93739C77168F}"/>
              </a:ext>
            </a:extLst>
          </p:cNvPr>
          <p:cNvGraphicFramePr>
            <a:graphicFrameLocks noGrp="1"/>
          </p:cNvGraphicFramePr>
          <p:nvPr>
            <p:extLst>
              <p:ext uri="{D42A27DB-BD31-4B8C-83A1-F6EECF244321}">
                <p14:modId xmlns:p14="http://schemas.microsoft.com/office/powerpoint/2010/main" val="1650732643"/>
              </p:ext>
            </p:extLst>
          </p:nvPr>
        </p:nvGraphicFramePr>
        <p:xfrm>
          <a:off x="7724996" y="721245"/>
          <a:ext cx="4126823" cy="1463040"/>
        </p:xfrm>
        <a:graphic>
          <a:graphicData uri="http://schemas.openxmlformats.org/drawingml/2006/table">
            <a:tbl>
              <a:tblPr/>
              <a:tblGrid>
                <a:gridCol w="981698">
                  <a:extLst>
                    <a:ext uri="{9D8B030D-6E8A-4147-A177-3AD203B41FA5}">
                      <a16:colId xmlns:a16="http://schemas.microsoft.com/office/drawing/2014/main" val="20000"/>
                    </a:ext>
                  </a:extLst>
                </a:gridCol>
                <a:gridCol w="89051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720080">
                  <a:extLst>
                    <a:ext uri="{9D8B030D-6E8A-4147-A177-3AD203B41FA5}">
                      <a16:colId xmlns:a16="http://schemas.microsoft.com/office/drawing/2014/main" val="20003"/>
                    </a:ext>
                  </a:extLst>
                </a:gridCol>
                <a:gridCol w="814455">
                  <a:extLst>
                    <a:ext uri="{9D8B030D-6E8A-4147-A177-3AD203B41FA5}">
                      <a16:colId xmlns:a16="http://schemas.microsoft.com/office/drawing/2014/main" val="20004"/>
                    </a:ext>
                  </a:extLst>
                </a:gridCol>
              </a:tblGrid>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系</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kern="1200"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cs typeface="+mn-cs"/>
                        </a:rPr>
                        <a:t>籍贯</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张军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21</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成都</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刘华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重庆</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伍松</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雅安</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 name="Rectangle 115">
            <a:extLst>
              <a:ext uri="{FF2B5EF4-FFF2-40B4-BE49-F238E27FC236}">
                <a16:creationId xmlns:a16="http://schemas.microsoft.com/office/drawing/2014/main" id="{AFF877C4-3306-40AE-AFBF-08FFF71C59AA}"/>
              </a:ext>
            </a:extLst>
          </p:cNvPr>
          <p:cNvSpPr>
            <a:spLocks noChangeArrowheads="1"/>
          </p:cNvSpPr>
          <p:nvPr/>
        </p:nvSpPr>
        <p:spPr bwMode="auto">
          <a:xfrm>
            <a:off x="7963387" y="254272"/>
            <a:ext cx="171522" cy="369332"/>
          </a:xfrm>
          <a:prstGeom prst="rect">
            <a:avLst/>
          </a:prstGeom>
          <a:noFill/>
          <a:ln w="12700" cap="sq">
            <a:noFill/>
            <a:miter lim="800000"/>
            <a:headEnd/>
            <a:tailEnd/>
          </a:ln>
          <a:effectLst/>
        </p:spPr>
        <p:txBody>
          <a:bodyPr wrap="none" lIns="0" tIns="0" rIns="0" bIns="0">
            <a:spAutoFit/>
          </a:bodyPr>
          <a:lstStyle/>
          <a:p>
            <a:pPr>
              <a:spcAft>
                <a:spcPct val="0"/>
              </a:spcAft>
              <a:buSzTx/>
              <a:buFontTx/>
              <a:buNone/>
            </a:pPr>
            <a:r>
              <a:rPr lang="en-US" altLang="zh-CN" sz="2400" dirty="0">
                <a:solidFill>
                  <a:schemeClr val="bg1"/>
                </a:solidFill>
                <a:effectLst>
                  <a:outerShdw blurRad="38100" dist="38100" dir="2700000" algn="tl">
                    <a:srgbClr val="000000"/>
                  </a:outerShdw>
                </a:effectLst>
                <a:latin typeface="Times New Roman" pitchFamily="18" charset="0"/>
              </a:rPr>
              <a:t>S</a:t>
            </a:r>
          </a:p>
        </p:txBody>
      </p:sp>
      <p:graphicFrame>
        <p:nvGraphicFramePr>
          <p:cNvPr id="4" name="Group 116">
            <a:extLst>
              <a:ext uri="{FF2B5EF4-FFF2-40B4-BE49-F238E27FC236}">
                <a16:creationId xmlns:a16="http://schemas.microsoft.com/office/drawing/2014/main" id="{0771884E-7696-4F77-82DB-340C73B2CD31}"/>
              </a:ext>
            </a:extLst>
          </p:cNvPr>
          <p:cNvGraphicFramePr>
            <a:graphicFrameLocks noGrp="1"/>
          </p:cNvGraphicFramePr>
          <p:nvPr>
            <p:extLst>
              <p:ext uri="{D42A27DB-BD31-4B8C-83A1-F6EECF244321}">
                <p14:modId xmlns:p14="http://schemas.microsoft.com/office/powerpoint/2010/main" val="1753788043"/>
              </p:ext>
            </p:extLst>
          </p:nvPr>
        </p:nvGraphicFramePr>
        <p:xfrm>
          <a:off x="9912424" y="3518151"/>
          <a:ext cx="1633817" cy="2194560"/>
        </p:xfrm>
        <a:graphic>
          <a:graphicData uri="http://schemas.openxmlformats.org/drawingml/2006/table">
            <a:tbl>
              <a:tblPr/>
              <a:tblGrid>
                <a:gridCol w="870680">
                  <a:extLst>
                    <a:ext uri="{9D8B030D-6E8A-4147-A177-3AD203B41FA5}">
                      <a16:colId xmlns:a16="http://schemas.microsoft.com/office/drawing/2014/main" val="20000"/>
                    </a:ext>
                  </a:extLst>
                </a:gridCol>
                <a:gridCol w="763137">
                  <a:extLst>
                    <a:ext uri="{9D8B030D-6E8A-4147-A177-3AD203B41FA5}">
                      <a16:colId xmlns:a16="http://schemas.microsoft.com/office/drawing/2014/main" val="20001"/>
                    </a:ext>
                  </a:extLst>
                </a:gridCol>
              </a:tblGrid>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学号</a:t>
                      </a:r>
                      <a:endParaRPr kumimoji="0" lang="en-US" altLang="zh-CN"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补助</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120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120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200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7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99003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99"/>
                          </a:solidFill>
                          <a:effectLst>
                            <a:outerShdw blurRad="38100" dist="38100" dir="2700000" algn="tl">
                              <a:srgbClr val="000000"/>
                            </a:outerShdw>
                          </a:effectLst>
                          <a:latin typeface="宋体" panose="02010600030101010101" pitchFamily="2" charset="-122"/>
                          <a:ea typeface="宋体" panose="02010600030101010101" pitchFamily="2" charset="-122"/>
                        </a:rPr>
                        <a:t>140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 name="Rectangle 145">
            <a:extLst>
              <a:ext uri="{FF2B5EF4-FFF2-40B4-BE49-F238E27FC236}">
                <a16:creationId xmlns:a16="http://schemas.microsoft.com/office/drawing/2014/main" id="{F5522435-16DC-4884-9305-77BB79634BB8}"/>
              </a:ext>
            </a:extLst>
          </p:cNvPr>
          <p:cNvSpPr>
            <a:spLocks noChangeArrowheads="1"/>
          </p:cNvSpPr>
          <p:nvPr/>
        </p:nvSpPr>
        <p:spPr bwMode="auto">
          <a:xfrm>
            <a:off x="10011187" y="2992365"/>
            <a:ext cx="718145" cy="369332"/>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400" dirty="0">
                <a:solidFill>
                  <a:schemeClr val="bg1"/>
                </a:solidFill>
                <a:effectLst>
                  <a:outerShdw blurRad="38100" dist="38100" dir="2700000" algn="tl">
                    <a:srgbClr val="000000"/>
                  </a:outerShdw>
                </a:effectLst>
                <a:latin typeface="Times New Roman" pitchFamily="18" charset="0"/>
              </a:rPr>
              <a:t>S_BZ</a:t>
            </a:r>
          </a:p>
        </p:txBody>
      </p:sp>
      <p:sp>
        <p:nvSpPr>
          <p:cNvPr id="7" name="AutoShape 100">
            <a:extLst>
              <a:ext uri="{FF2B5EF4-FFF2-40B4-BE49-F238E27FC236}">
                <a16:creationId xmlns:a16="http://schemas.microsoft.com/office/drawing/2014/main" id="{7D3B4CFF-4819-4562-857B-90909411D3AA}"/>
              </a:ext>
            </a:extLst>
          </p:cNvPr>
          <p:cNvSpPr>
            <a:spLocks noChangeArrowheads="1"/>
          </p:cNvSpPr>
          <p:nvPr/>
        </p:nvSpPr>
        <p:spPr bwMode="auto">
          <a:xfrm>
            <a:off x="6146752" y="3466877"/>
            <a:ext cx="1368425" cy="1402660"/>
          </a:xfrm>
          <a:prstGeom prst="wedgeRoundRectCallout">
            <a:avLst>
              <a:gd name="adj1" fmla="val -65867"/>
              <a:gd name="adj2" fmla="val -35595"/>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lIns="0" tIns="36000" rIns="0" bIns="36000" anchor="ctr"/>
          <a:lstStyle/>
          <a:p>
            <a:pPr algn="ctr">
              <a:spcAft>
                <a:spcPct val="40000"/>
              </a:spcAft>
              <a:buClr>
                <a:srgbClr val="66FF33"/>
              </a:buClr>
              <a:buSzPct val="85000"/>
              <a:defRPr/>
            </a:pPr>
            <a:r>
              <a:rPr lang="en-US" altLang="zh-CN" sz="3200" kern="0" dirty="0">
                <a:solidFill>
                  <a:srgbClr val="FFFFCC"/>
                </a:solidFill>
                <a:effectLst>
                  <a:outerShdw blurRad="38100" dist="38100" dir="2700000" algn="tl">
                    <a:srgbClr val="000000"/>
                  </a:outerShdw>
                </a:effectLst>
                <a:latin typeface="Arial" charset="0"/>
              </a:rPr>
              <a:t>My</a:t>
            </a:r>
            <a:r>
              <a:rPr lang="en-US" altLang="zh-CN" sz="3200" kern="0" dirty="0" err="1">
                <a:solidFill>
                  <a:srgbClr val="FFFFCC"/>
                </a:solidFill>
                <a:effectLst>
                  <a:outerShdw blurRad="38100" dist="38100" dir="2700000" algn="tl">
                    <a:srgbClr val="000000"/>
                  </a:outerShdw>
                </a:effectLst>
                <a:latin typeface="Arial" charset="0"/>
              </a:rPr>
              <a:t>sql</a:t>
            </a:r>
            <a:endParaRPr lang="en-US" altLang="zh-CN" sz="3200" kern="0" dirty="0">
              <a:solidFill>
                <a:srgbClr val="FFFFCC"/>
              </a:solidFill>
              <a:effectLst>
                <a:outerShdw blurRad="38100" dist="38100" dir="2700000" algn="tl">
                  <a:srgbClr val="000000"/>
                </a:outerShdw>
              </a:effectLst>
              <a:latin typeface="Arial" charset="0"/>
            </a:endParaRPr>
          </a:p>
          <a:p>
            <a:pPr algn="ctr">
              <a:spcAft>
                <a:spcPct val="40000"/>
              </a:spcAft>
              <a:buClr>
                <a:srgbClr val="66FF33"/>
              </a:buClr>
              <a:buSzPct val="85000"/>
              <a:defRPr/>
            </a:pPr>
            <a:r>
              <a:rPr lang="zh-CN" altLang="en-US" sz="3200" kern="0" dirty="0">
                <a:solidFill>
                  <a:srgbClr val="FFFFCC"/>
                </a:solidFill>
                <a:effectLst>
                  <a:outerShdw blurRad="38100" dist="38100" dir="2700000" algn="tl">
                    <a:srgbClr val="000000"/>
                  </a:outerShdw>
                </a:effectLst>
                <a:latin typeface="Arial" charset="0"/>
              </a:rPr>
              <a:t>用法</a:t>
            </a:r>
          </a:p>
        </p:txBody>
      </p:sp>
    </p:spTree>
    <p:extLst>
      <p:ext uri="{BB962C8B-B14F-4D97-AF65-F5344CB8AC3E}">
        <p14:creationId xmlns:p14="http://schemas.microsoft.com/office/powerpoint/2010/main" val="2111001262"/>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SLIDETAGS" val="[]"/>
</p:tagLst>
</file>

<file path=ppt/tags/tag2.xml><?xml version="1.0" encoding="utf-8"?>
<p:tagLst xmlns:a="http://schemas.openxmlformats.org/drawingml/2006/main" xmlns:r="http://schemas.openxmlformats.org/officeDocument/2006/relationships" xmlns:p="http://schemas.openxmlformats.org/presentationml/2006/main">
  <p:tag name="SLIDETAGS" val="[]"/>
</p:tagLst>
</file>

<file path=ppt/tags/tag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SLIDETAGS" val="[]"/>
</p:tagLst>
</file>

<file path=ppt/tags/tag22.xml><?xml version="1.0" encoding="utf-8"?>
<p:tagLst xmlns:a="http://schemas.openxmlformats.org/drawingml/2006/main" xmlns:r="http://schemas.openxmlformats.org/officeDocument/2006/relationships" xmlns:p="http://schemas.openxmlformats.org/presentationml/2006/main">
  <p:tag name="SLIDETAGS" val="[]"/>
</p:tagLst>
</file>

<file path=ppt/tags/tag23.xml><?xml version="1.0" encoding="utf-8"?>
<p:tagLst xmlns:a="http://schemas.openxmlformats.org/drawingml/2006/main" xmlns:r="http://schemas.openxmlformats.org/officeDocument/2006/relationships" xmlns:p="http://schemas.openxmlformats.org/presentationml/2006/main">
  <p:tag name="SLIDETAGS" val="[]"/>
</p:tagLst>
</file>

<file path=ppt/tags/tag24.xml><?xml version="1.0" encoding="utf-8"?>
<p:tagLst xmlns:a="http://schemas.openxmlformats.org/drawingml/2006/main" xmlns:r="http://schemas.openxmlformats.org/officeDocument/2006/relationships" xmlns:p="http://schemas.openxmlformats.org/presentationml/2006/main">
  <p:tag name="SLIDETAGS" val="[]"/>
</p:tagLst>
</file>

<file path=ppt/tags/tag25.xml><?xml version="1.0" encoding="utf-8"?>
<p:tagLst xmlns:a="http://schemas.openxmlformats.org/drawingml/2006/main" xmlns:r="http://schemas.openxmlformats.org/officeDocument/2006/relationships" xmlns:p="http://schemas.openxmlformats.org/presentationml/2006/main">
  <p:tag name="SLIDETAGS" val="[]"/>
</p:tagLst>
</file>

<file path=ppt/tags/tag26.xml><?xml version="1.0" encoding="utf-8"?>
<p:tagLst xmlns:a="http://schemas.openxmlformats.org/drawingml/2006/main" xmlns:r="http://schemas.openxmlformats.org/officeDocument/2006/relationships" xmlns:p="http://schemas.openxmlformats.org/presentationml/2006/main">
  <p:tag name="SLIDETAGS" val="[]"/>
</p:tagLst>
</file>

<file path=ppt/tags/tag27.xml><?xml version="1.0" encoding="utf-8"?>
<p:tagLst xmlns:a="http://schemas.openxmlformats.org/drawingml/2006/main" xmlns:r="http://schemas.openxmlformats.org/officeDocument/2006/relationships" xmlns:p="http://schemas.openxmlformats.org/presentationml/2006/main">
  <p:tag name="SLIDETAGS" val="[]"/>
</p:tagLst>
</file>

<file path=ppt/tags/tag28.xml><?xml version="1.0" encoding="utf-8"?>
<p:tagLst xmlns:a="http://schemas.openxmlformats.org/drawingml/2006/main" xmlns:r="http://schemas.openxmlformats.org/officeDocument/2006/relationships" xmlns:p="http://schemas.openxmlformats.org/presentationml/2006/main">
  <p:tag name="SLIDETAGS" val="[]"/>
</p:tagLst>
</file>

<file path=ppt/tags/tag29.xml><?xml version="1.0" encoding="utf-8"?>
<p:tagLst xmlns:a="http://schemas.openxmlformats.org/drawingml/2006/main" xmlns:r="http://schemas.openxmlformats.org/officeDocument/2006/relationships" xmlns:p="http://schemas.openxmlformats.org/presentationml/2006/main">
  <p:tag name="SLIDETAGS" val="[]"/>
</p:tagLst>
</file>

<file path=ppt/tags/tag30.xml><?xml version="1.0" encoding="utf-8"?>
<p:tagLst xmlns:a="http://schemas.openxmlformats.org/drawingml/2006/main" xmlns:r="http://schemas.openxmlformats.org/officeDocument/2006/relationships" xmlns:p="http://schemas.openxmlformats.org/presentationml/2006/main">
  <p:tag name="SLIDETAGS" val="[]"/>
</p:tagLst>
</file>

<file path=ppt/tags/tag31.xml><?xml version="1.0" encoding="utf-8"?>
<p:tagLst xmlns:a="http://schemas.openxmlformats.org/drawingml/2006/main" xmlns:r="http://schemas.openxmlformats.org/officeDocument/2006/relationships" xmlns:p="http://schemas.openxmlformats.org/presentationml/2006/main">
  <p:tag name="SLIDETAGS" val="[]"/>
</p:tagLst>
</file>

<file path=ppt/tags/tag32.xml><?xml version="1.0" encoding="utf-8"?>
<p:tagLst xmlns:a="http://schemas.openxmlformats.org/drawingml/2006/main" xmlns:r="http://schemas.openxmlformats.org/officeDocument/2006/relationships" xmlns:p="http://schemas.openxmlformats.org/presentationml/2006/main">
  <p:tag name="SLIDETAGS" val="[]"/>
</p:tagLst>
</file>

<file path=ppt/tags/tag33.xml><?xml version="1.0" encoding="utf-8"?>
<p:tagLst xmlns:a="http://schemas.openxmlformats.org/drawingml/2006/main" xmlns:r="http://schemas.openxmlformats.org/officeDocument/2006/relationships" xmlns:p="http://schemas.openxmlformats.org/presentationml/2006/main">
  <p:tag name="SLIDETAGS" val="[]"/>
</p:tagLst>
</file>

<file path=ppt/tags/tag34.xml><?xml version="1.0" encoding="utf-8"?>
<p:tagLst xmlns:a="http://schemas.openxmlformats.org/drawingml/2006/main" xmlns:r="http://schemas.openxmlformats.org/officeDocument/2006/relationships" xmlns:p="http://schemas.openxmlformats.org/presentationml/2006/main">
  <p:tag name="SLIDETAGS" val="[]"/>
</p:tagLst>
</file>

<file path=ppt/tags/tag35.xml><?xml version="1.0" encoding="utf-8"?>
<p:tagLst xmlns:a="http://schemas.openxmlformats.org/drawingml/2006/main" xmlns:r="http://schemas.openxmlformats.org/officeDocument/2006/relationships" xmlns:p="http://schemas.openxmlformats.org/presentationml/2006/main">
  <p:tag name="SLIDETAGS" val="[]"/>
</p:tagLst>
</file>

<file path=ppt/tags/tag36.xml><?xml version="1.0" encoding="utf-8"?>
<p:tagLst xmlns:a="http://schemas.openxmlformats.org/drawingml/2006/main" xmlns:r="http://schemas.openxmlformats.org/officeDocument/2006/relationships" xmlns:p="http://schemas.openxmlformats.org/presentationml/2006/main">
  <p:tag name="SLIDETAGS" val="[]"/>
</p:tagLst>
</file>

<file path=ppt/tags/tag37.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4016</TotalTime>
  <Words>10039</Words>
  <Application>Microsoft Office PowerPoint</Application>
  <PresentationFormat>宽屏</PresentationFormat>
  <Paragraphs>2262</Paragraphs>
  <Slides>159</Slides>
  <Notes>3</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159</vt:i4>
      </vt:variant>
    </vt:vector>
  </HeadingPairs>
  <TitlesOfParts>
    <vt:vector size="179" baseType="lpstr">
      <vt:lpstr>Franklin Gothic Book</vt:lpstr>
      <vt:lpstr>Microsoft Yahei</vt:lpstr>
      <vt:lpstr>黑体</vt:lpstr>
      <vt:lpstr>楷体</vt:lpstr>
      <vt:lpstr>楷体_GB2312</vt:lpstr>
      <vt:lpstr>隶书</vt:lpstr>
      <vt:lpstr>宋体</vt:lpstr>
      <vt:lpstr>微软雅黑</vt:lpstr>
      <vt:lpstr>Arial</vt:lpstr>
      <vt:lpstr>Arial Black</vt:lpstr>
      <vt:lpstr>Arial Narrow</vt:lpstr>
      <vt:lpstr>Calibri</vt:lpstr>
      <vt:lpstr>Franklin Gothic Medium</vt:lpstr>
      <vt:lpstr>Garamond</vt:lpstr>
      <vt:lpstr>Monotype Corsiva</vt:lpstr>
      <vt:lpstr>Symbol</vt:lpstr>
      <vt:lpstr>Tahoma</vt:lpstr>
      <vt:lpstr>Times New Roman</vt:lpstr>
      <vt:lpstr>Wingdings</vt:lpstr>
      <vt:lpstr>Office 主题​​</vt:lpstr>
      <vt:lpstr>PowerPoint 演示文稿</vt:lpstr>
      <vt:lpstr>第4章SQL语言</vt:lpstr>
      <vt:lpstr>本章学习目标</vt:lpstr>
      <vt:lpstr>SQL简介</vt:lpstr>
      <vt:lpstr>4.1SQL语言简介</vt:lpstr>
      <vt:lpstr>4.1.1SQL语言的发展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SQL的特点</vt:lpstr>
      <vt:lpstr>PowerPoint 演示文稿</vt:lpstr>
      <vt:lpstr>4.2数据定义</vt:lpstr>
      <vt:lpstr>PowerPoint 演示文稿</vt:lpstr>
      <vt:lpstr>PowerPoint 演示文稿</vt:lpstr>
      <vt:lpstr>PowerPoint 演示文稿</vt:lpstr>
      <vt:lpstr>PowerPoint 演示文稿</vt:lpstr>
      <vt:lpstr>PowerPoint 演示文稿</vt:lpstr>
      <vt:lpstr>数据定义（DDL）</vt:lpstr>
      <vt:lpstr>一、数据库的创建</vt:lpstr>
      <vt:lpstr>数据库的定义与删除</vt:lpstr>
      <vt:lpstr>数据库的定义与删除</vt:lpstr>
      <vt:lpstr>定义基本表</vt:lpstr>
      <vt:lpstr>1、表的创建</vt:lpstr>
      <vt:lpstr>PowerPoint 演示文稿</vt:lpstr>
      <vt:lpstr>二、数据表的创建</vt:lpstr>
      <vt:lpstr>PowerPoint 演示文稿</vt:lpstr>
      <vt:lpstr>PowerPoint 演示文稿</vt:lpstr>
      <vt:lpstr>PowerPoint 演示文稿</vt:lpstr>
      <vt:lpstr>PowerPoint 演示文稿</vt:lpstr>
      <vt:lpstr>PowerPoint 演示文稿</vt:lpstr>
      <vt:lpstr>PowerPoint 演示文稿</vt:lpstr>
      <vt:lpstr>定义基本表</vt:lpstr>
      <vt:lpstr>定义完整性约束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定义基本表</vt:lpstr>
      <vt:lpstr>修改基本表</vt:lpstr>
      <vt:lpstr>4、修改基本表</vt:lpstr>
      <vt:lpstr>PowerPoint 演示文稿</vt:lpstr>
      <vt:lpstr>PowerPoint 演示文稿</vt:lpstr>
      <vt:lpstr>PowerPoint 演示文稿</vt:lpstr>
      <vt:lpstr>PowerPoint 演示文稿</vt:lpstr>
      <vt:lpstr>修改基本表</vt:lpstr>
      <vt:lpstr>删除基本表</vt:lpstr>
      <vt:lpstr>删除基本表</vt:lpstr>
      <vt:lpstr>4.4简单查询</vt:lpstr>
      <vt:lpstr>数据查询（DQL）</vt:lpstr>
      <vt:lpstr>数据查询（DQL）</vt:lpstr>
      <vt:lpstr>PowerPoint 演示文稿</vt:lpstr>
      <vt:lpstr>FROM子句</vt:lpstr>
      <vt:lpstr>FROM子句</vt:lpstr>
      <vt:lpstr>FROM子句</vt:lpstr>
      <vt:lpstr>FROM子句</vt:lpstr>
      <vt:lpstr>SELECT子句</vt:lpstr>
      <vt:lpstr>SELECT子句</vt:lpstr>
      <vt:lpstr>SELECT子句</vt:lpstr>
      <vt:lpstr>SELECT子句</vt:lpstr>
      <vt:lpstr>SELECT子句</vt:lpstr>
      <vt:lpstr>SELECT子句</vt:lpstr>
      <vt:lpstr>PowerPoint 演示文稿</vt:lpstr>
      <vt:lpstr>PowerPoint 演示文稿</vt:lpstr>
      <vt:lpstr>WHERE子句</vt:lpstr>
      <vt:lpstr>4.4.2 带条件的查询</vt:lpstr>
      <vt:lpstr>PowerPoint 演示文稿</vt:lpstr>
      <vt:lpstr>WHERE子句</vt:lpstr>
      <vt:lpstr>WHERE子句</vt:lpstr>
      <vt:lpstr>PowerPoint 演示文稿</vt:lpstr>
      <vt:lpstr>WHERE子句</vt:lpstr>
      <vt:lpstr>WHERE子句</vt:lpstr>
      <vt:lpstr>WHERE子句</vt:lpstr>
      <vt:lpstr>WHERE子句</vt:lpstr>
      <vt:lpstr>WHERE子句</vt:lpstr>
      <vt:lpstr>WHERE子句</vt:lpstr>
      <vt:lpstr>PowerPoint 演示文稿</vt:lpstr>
      <vt:lpstr>WHERE子句</vt:lpstr>
      <vt:lpstr>DISTINCT短语</vt:lpstr>
      <vt:lpstr>TOP短语</vt:lpstr>
      <vt:lpstr>ORDER  BY子句</vt:lpstr>
      <vt:lpstr>ORDER  BY子句</vt:lpstr>
      <vt:lpstr>统计查询</vt:lpstr>
      <vt:lpstr>统计查询</vt:lpstr>
      <vt:lpstr>统计查询</vt:lpstr>
      <vt:lpstr>统计查询</vt:lpstr>
      <vt:lpstr>统计查询</vt:lpstr>
      <vt:lpstr>Count用法</vt:lpstr>
      <vt:lpstr>PowerPoint 演示文稿</vt:lpstr>
      <vt:lpstr>PowerPoint 演示文稿</vt:lpstr>
      <vt:lpstr>分组统计查询</vt:lpstr>
      <vt:lpstr>分组统计查询</vt:lpstr>
      <vt:lpstr>SQL中group by的注意事项</vt:lpstr>
      <vt:lpstr>PowerPoint 演示文稿</vt:lpstr>
      <vt:lpstr>PowerPoint 演示文稿</vt:lpstr>
      <vt:lpstr>PowerPoint 演示文稿</vt:lpstr>
      <vt:lpstr>PowerPoint 演示文稿</vt:lpstr>
      <vt:lpstr>分组统计查询</vt:lpstr>
      <vt:lpstr>PowerPoint 演示文稿</vt:lpstr>
      <vt:lpstr>PowerPoint 演示文稿</vt:lpstr>
      <vt:lpstr>连接查询</vt:lpstr>
      <vt:lpstr>4.4.4连接查询</vt:lpstr>
      <vt:lpstr>连接查询</vt:lpstr>
      <vt:lpstr>连接查询</vt:lpstr>
      <vt:lpstr>交叉连接查询</vt:lpstr>
      <vt:lpstr>内连接</vt:lpstr>
      <vt:lpstr>PowerPoint 演示文稿</vt:lpstr>
      <vt:lpstr>外连接</vt:lpstr>
      <vt:lpstr>外连接</vt:lpstr>
      <vt:lpstr>外连接</vt:lpstr>
      <vt:lpstr>外连接</vt:lpstr>
      <vt:lpstr>全外连接</vt:lpstr>
      <vt:lpstr>PowerPoint 演示文稿</vt:lpstr>
      <vt:lpstr>自连接</vt:lpstr>
      <vt:lpstr>PowerPoint 演示文稿</vt:lpstr>
      <vt:lpstr>嵌套查询</vt:lpstr>
      <vt:lpstr>嵌套查询</vt:lpstr>
      <vt:lpstr>嵌套查询</vt:lpstr>
      <vt:lpstr>嵌套查询</vt:lpstr>
      <vt:lpstr>嵌套查询</vt:lpstr>
      <vt:lpstr>嵌套查询</vt:lpstr>
      <vt:lpstr>嵌套查询</vt:lpstr>
      <vt:lpstr>嵌套查询</vt:lpstr>
      <vt:lpstr>嵌套查询</vt:lpstr>
      <vt:lpstr>PowerPoint 演示文稿</vt:lpstr>
      <vt:lpstr>PowerPoint 演示文稿</vt:lpstr>
      <vt:lpstr>嵌套查询</vt:lpstr>
      <vt:lpstr>嵌套查询</vt:lpstr>
      <vt:lpstr>集合查询</vt:lpstr>
      <vt:lpstr>SQL数据更新命令</vt:lpstr>
      <vt:lpstr>数据更新</vt:lpstr>
      <vt:lpstr>插入数据</vt:lpstr>
      <vt:lpstr>插入数据</vt:lpstr>
      <vt:lpstr>PowerPoint 演示文稿</vt:lpstr>
      <vt:lpstr>PowerPoint 演示文稿</vt:lpstr>
      <vt:lpstr> 修改数据记录</vt:lpstr>
      <vt:lpstr>PowerPoint 演示文稿</vt:lpstr>
      <vt:lpstr>4.3.3删除数据记录</vt:lpstr>
      <vt:lpstr>PowerPoint 演示文稿</vt:lpstr>
      <vt:lpstr>修改数据</vt:lpstr>
      <vt:lpstr>修改数据</vt:lpstr>
      <vt:lpstr>删除数据</vt:lpstr>
      <vt:lpstr>删除数据</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pansir</dc:creator>
  <cp:lastModifiedBy>Windows 用户</cp:lastModifiedBy>
  <cp:revision>511</cp:revision>
  <dcterms:created xsi:type="dcterms:W3CDTF">2016-09-04T04:12:03Z</dcterms:created>
  <dcterms:modified xsi:type="dcterms:W3CDTF">2025-10-21T01:27:43Z</dcterms:modified>
</cp:coreProperties>
</file>