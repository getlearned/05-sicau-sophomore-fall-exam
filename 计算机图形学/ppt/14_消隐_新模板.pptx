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5"/>
  </p:handoutMasterIdLst>
  <p:sldIdLst>
    <p:sldId id="317" r:id="rId3"/>
    <p:sldId id="799" r:id="rId5"/>
    <p:sldId id="796" r:id="rId6"/>
    <p:sldId id="797" r:id="rId7"/>
    <p:sldId id="798" r:id="rId8"/>
    <p:sldId id="803" r:id="rId9"/>
    <p:sldId id="800" r:id="rId10"/>
    <p:sldId id="801" r:id="rId11"/>
    <p:sldId id="802" r:id="rId12"/>
    <p:sldId id="804" r:id="rId13"/>
    <p:sldId id="805" r:id="rId14"/>
    <p:sldId id="806" r:id="rId15"/>
    <p:sldId id="807" r:id="rId16"/>
    <p:sldId id="813" r:id="rId17"/>
    <p:sldId id="808" r:id="rId18"/>
    <p:sldId id="815" r:id="rId19"/>
    <p:sldId id="816" r:id="rId20"/>
    <p:sldId id="814" r:id="rId21"/>
    <p:sldId id="817" r:id="rId22"/>
    <p:sldId id="809" r:id="rId23"/>
    <p:sldId id="810" r:id="rId24"/>
    <p:sldId id="811" r:id="rId25"/>
    <p:sldId id="812" r:id="rId26"/>
    <p:sldId id="823" r:id="rId27"/>
    <p:sldId id="824" r:id="rId28"/>
    <p:sldId id="825" r:id="rId29"/>
    <p:sldId id="826" r:id="rId30"/>
    <p:sldId id="835" r:id="rId31"/>
    <p:sldId id="827" r:id="rId32"/>
    <p:sldId id="828" r:id="rId33"/>
    <p:sldId id="829" r:id="rId34"/>
    <p:sldId id="830" r:id="rId35"/>
    <p:sldId id="836" r:id="rId36"/>
    <p:sldId id="837" r:id="rId37"/>
    <p:sldId id="838" r:id="rId38"/>
    <p:sldId id="839" r:id="rId39"/>
    <p:sldId id="840" r:id="rId40"/>
    <p:sldId id="841" r:id="rId41"/>
    <p:sldId id="842" r:id="rId42"/>
    <p:sldId id="844" r:id="rId43"/>
    <p:sldId id="845" r:id="rId44"/>
  </p:sldIdLst>
  <p:sldSz cx="9144000" cy="5143500" type="screen16x9"/>
  <p:notesSz cx="6858000" cy="9144000"/>
  <p:custDataLst>
    <p:tags r:id="rId4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02" userDrawn="1">
          <p15:clr>
            <a:srgbClr val="A4A3A4"/>
          </p15:clr>
        </p15:guide>
        <p15:guide id="2" pos="28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92DB"/>
    <a:srgbClr val="FF3300"/>
    <a:srgbClr val="FAFAFA"/>
    <a:srgbClr val="005DA2"/>
    <a:srgbClr val="990033"/>
    <a:srgbClr val="F79600"/>
    <a:srgbClr val="74C4FF"/>
    <a:srgbClr val="FF5050"/>
    <a:srgbClr val="0F1836"/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30" autoAdjust="0"/>
    <p:restoredTop sz="75793" autoAdjust="0"/>
  </p:normalViewPr>
  <p:slideViewPr>
    <p:cSldViewPr showGuides="1">
      <p:cViewPr varScale="1">
        <p:scale>
          <a:sx n="114" d="100"/>
          <a:sy n="114" d="100"/>
        </p:scale>
        <p:origin x="1416" y="-54"/>
      </p:cViewPr>
      <p:guideLst>
        <p:guide orient="horz" pos="1502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670"/>
        <p:guide pos="215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9" Type="http://schemas.openxmlformats.org/officeDocument/2006/relationships/tags" Target="tags/tag1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handoutMaster" Target="handoutMasters/handoutMaster1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image" Target="../media/image27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image" Target="../media/image29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BDC7532-99AB-4A27-9239-36B5FA277B57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D65621B-A3DC-4A6D-8063-788C595E78AD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D6AB8A1-C497-46E0-BA7F-C7E292B60FC3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DA0C6DC-2F4C-4491-A9F9-E3F8AD06530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1F9FE4A-F1B9-42B6-95D0-1A8AD6D3A1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en-US" altLang="zh-CN" dirty="0"/>
              <a:t>K*(K-1)</a:t>
            </a:r>
            <a:r>
              <a:rPr lang="zh-CN" altLang="en-US" dirty="0"/>
              <a:t>每个面都要与其他面</a:t>
            </a:r>
            <a:r>
              <a:rPr lang="zh-CN" altLang="en-US" dirty="0"/>
              <a:t>比较</a:t>
            </a: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en-US" altLang="zh-CN" dirty="0"/>
              <a:t>K*M*n</a:t>
            </a: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zh-CN" altLang="en-US" dirty="0"/>
              <a:t>立方体掏了一个凹形孔</a:t>
            </a: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zh-CN" altLang="en-US" dirty="0"/>
              <a:t>注意：这里的深度值是</a:t>
            </a:r>
            <a:r>
              <a:rPr lang="zh-CN" altLang="en-US" dirty="0"/>
              <a:t>复数</a:t>
            </a: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zh-CN" altLang="en-US" dirty="0"/>
              <a:t>最小值</a:t>
            </a:r>
            <a:r>
              <a:rPr lang="en-US" altLang="zh-CN" dirty="0"/>
              <a:t>=</a:t>
            </a:r>
            <a:r>
              <a:rPr lang="zh-CN" altLang="en-US" dirty="0"/>
              <a:t>负无穷</a:t>
            </a: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zh-CN" altLang="en-US" dirty="0"/>
              <a:t>趋于</a:t>
            </a:r>
            <a:r>
              <a:rPr lang="en-US" altLang="zh-CN" dirty="0"/>
              <a:t>-d</a:t>
            </a:r>
            <a:endParaRPr lang="en-US" altLang="zh-CN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zh-CN" altLang="en-US" dirty="0"/>
              <a:t>结合上一页</a:t>
            </a:r>
            <a:r>
              <a:rPr lang="en-US" altLang="zh-CN" dirty="0"/>
              <a:t>ppt</a:t>
            </a:r>
            <a:r>
              <a:rPr lang="zh-CN" altLang="en-US" dirty="0"/>
              <a:t>，视点无穷远</a:t>
            </a:r>
            <a:r>
              <a:rPr lang="en-US" altLang="zh-CN" dirty="0"/>
              <a:t>=z</a:t>
            </a:r>
            <a:r>
              <a:rPr lang="zh-CN" altLang="en-US" dirty="0"/>
              <a:t>无穷小。</a:t>
            </a:r>
            <a:r>
              <a:rPr lang="en-US" altLang="zh-CN" dirty="0"/>
              <a:t>z’</a:t>
            </a:r>
            <a:r>
              <a:rPr lang="zh-CN" altLang="en-US" dirty="0"/>
              <a:t>趋于</a:t>
            </a:r>
            <a:r>
              <a:rPr lang="en-US" altLang="zh-CN" dirty="0"/>
              <a:t>-d</a:t>
            </a:r>
            <a:endParaRPr lang="en-US" altLang="zh-CN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zh-CN" altLang="en-US" dirty="0"/>
              <a:t>趋于</a:t>
            </a:r>
            <a:r>
              <a:rPr lang="en-US" altLang="zh-CN" dirty="0"/>
              <a:t>-d</a:t>
            </a:r>
            <a:endParaRPr lang="en-US" altLang="zh-CN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zh-CN" altLang="en-US" dirty="0"/>
              <a:t>趋于</a:t>
            </a:r>
            <a:r>
              <a:rPr lang="en-US" altLang="zh-CN" dirty="0"/>
              <a:t>-d</a:t>
            </a:r>
            <a:endParaRPr lang="en-US" altLang="zh-CN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US" altLang="zh-CN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US" altLang="zh-CN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zh-CN" altLang="en-US" dirty="0"/>
              <a:t>编号</a:t>
            </a:r>
            <a:r>
              <a:rPr lang="en-US" altLang="zh-CN" dirty="0"/>
              <a:t>1</a:t>
            </a:r>
            <a:r>
              <a:rPr lang="zh-CN" altLang="en-US" dirty="0"/>
              <a:t>对应</a:t>
            </a:r>
            <a:r>
              <a:rPr lang="zh-CN" altLang="en-US" dirty="0"/>
              <a:t>地面？</a:t>
            </a: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zh-CN" altLang="en-US" dirty="0"/>
              <a:t>趋于</a:t>
            </a:r>
            <a:r>
              <a:rPr lang="en-US" altLang="zh-CN" dirty="0"/>
              <a:t>-d</a:t>
            </a:r>
            <a:endParaRPr lang="en-US" altLang="zh-CN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zh-CN" altLang="en-US" dirty="0"/>
              <a:t>趋于</a:t>
            </a:r>
            <a:r>
              <a:rPr lang="en-US" altLang="zh-CN" dirty="0"/>
              <a:t>-d</a:t>
            </a:r>
            <a:endParaRPr lang="en-US" altLang="zh-CN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zh-CN" altLang="en-US" dirty="0"/>
              <a:t>因为包围盒不相交，说明</a:t>
            </a:r>
            <a:r>
              <a:rPr lang="en-US" altLang="zh-CN" dirty="0"/>
              <a:t>Z</a:t>
            </a:r>
            <a:r>
              <a:rPr lang="zh-CN" altLang="en-US" dirty="0"/>
              <a:t>的重叠不会导致空间位置的重叠，所以两个物体在表中的顺序</a:t>
            </a:r>
            <a:r>
              <a:rPr lang="zh-CN" altLang="en-US" dirty="0"/>
              <a:t>不重要</a:t>
            </a: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zh-CN" altLang="en-US" dirty="0"/>
              <a:t>注意</a:t>
            </a:r>
            <a:r>
              <a:rPr lang="zh-CN" altLang="en-US" dirty="0"/>
              <a:t>坐标轴</a:t>
            </a: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US" altLang="zh-CN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zh-CN" altLang="en-US" dirty="0"/>
              <a:t>趋于</a:t>
            </a:r>
            <a:r>
              <a:rPr lang="en-US" altLang="zh-CN" dirty="0"/>
              <a:t>-d</a:t>
            </a:r>
            <a:endParaRPr lang="en-US" altLang="zh-CN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zh-CN" altLang="en-US" dirty="0"/>
              <a:t>趋于</a:t>
            </a:r>
            <a:r>
              <a:rPr lang="en-US" altLang="zh-CN" dirty="0"/>
              <a:t>-d</a:t>
            </a:r>
            <a:endParaRPr lang="en-US" altLang="zh-CN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zh-CN" altLang="en-US" dirty="0"/>
              <a:t>趋于</a:t>
            </a:r>
            <a:r>
              <a:rPr lang="en-US" altLang="zh-CN" dirty="0"/>
              <a:t>-d</a:t>
            </a:r>
            <a:endParaRPr lang="en-US" altLang="zh-CN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zh-CN" altLang="en-US" dirty="0"/>
              <a:t>趋于</a:t>
            </a:r>
            <a:r>
              <a:rPr lang="en-US" altLang="zh-CN" dirty="0"/>
              <a:t>-d</a:t>
            </a:r>
            <a:endParaRPr lang="en-US" altLang="zh-CN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US" altLang="zh-CN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2DC173-665B-4A26-91FC-4A9F67B20565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E23A92-3574-469A-9CC7-E6DE8C54450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6"/>
          <p:cNvCxnSpPr/>
          <p:nvPr userDrawn="1"/>
        </p:nvCxnSpPr>
        <p:spPr>
          <a:xfrm>
            <a:off x="755650" y="625475"/>
            <a:ext cx="7848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7"/>
          <p:cNvGrpSpPr/>
          <p:nvPr userDrawn="1"/>
        </p:nvGrpSpPr>
        <p:grpSpPr bwMode="auto">
          <a:xfrm>
            <a:off x="323850" y="293688"/>
            <a:ext cx="390525" cy="204787"/>
            <a:chOff x="0" y="0"/>
            <a:chExt cx="1041399" cy="549275"/>
          </a:xfrm>
        </p:grpSpPr>
        <p:sp>
          <p:nvSpPr>
            <p:cNvPr id="4" name="Freeform 16"/>
            <p:cNvSpPr/>
            <p:nvPr/>
          </p:nvSpPr>
          <p:spPr bwMode="auto">
            <a:xfrm>
              <a:off x="0" y="0"/>
              <a:ext cx="364066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5" name="Freeform 17"/>
            <p:cNvSpPr/>
            <p:nvPr/>
          </p:nvSpPr>
          <p:spPr bwMode="auto">
            <a:xfrm>
              <a:off x="338666" y="0"/>
              <a:ext cx="359834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" name="Freeform 18"/>
            <p:cNvSpPr/>
            <p:nvPr/>
          </p:nvSpPr>
          <p:spPr bwMode="auto">
            <a:xfrm>
              <a:off x="681567" y="0"/>
              <a:ext cx="35983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</p:grpSp>
      <p:sp>
        <p:nvSpPr>
          <p:cNvPr id="7" name="TextBox 15"/>
          <p:cNvSpPr txBox="1"/>
          <p:nvPr userDrawn="1"/>
        </p:nvSpPr>
        <p:spPr>
          <a:xfrm>
            <a:off x="8101013" y="241300"/>
            <a:ext cx="671512" cy="3667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accent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endParaRPr lang="zh-CN" altLang="en-US" dirty="0">
              <a:solidFill>
                <a:schemeClr val="accent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09D11F-E716-44B8-8FA2-B23B49EABBA6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6D5A9B-347D-4579-B22F-8DCBB002A6F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C38B1D-1BC3-426A-A310-4624521F40EF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8E634B-DC27-4ACA-834C-DF698BE00BC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2A3881-ADD1-4450-8C90-00F07505A66E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1D3073-AF49-4419-8D5E-CEEE6BB1507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F4DD16-33DD-47FC-893D-DF51A2EDB843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54AD5F-69AD-4271-9648-DA70AC05B56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563A42-19F0-40F1-A6DD-6B142903B286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89407-44AC-418D-B556-BE41A0BAAF9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0C214F-32FD-440C-B92C-F006DA56BA3E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481203-2A17-4E80-BEE9-EDD8BC1647D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36843A-020A-462F-8B6B-6D1363F54C58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AC6CE6-AF45-4367-97BA-3D96EC06756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7FF310-10A4-4D6A-8284-069B6ECCE9A4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0A9BDA-5D35-42B6-8E29-FCA66843DBA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319451-2499-45BE-AFDB-DE7D03AEF668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F37C2A-AA4B-4897-BFF7-45A5072FED9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15860AD-FAF2-4382-B98A-FFD2EB969518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43B11AB-A67D-49E2-9A24-FC472F570968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wmf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wmf"/><Relationship Id="rId3" Type="http://schemas.openxmlformats.org/officeDocument/2006/relationships/oleObject" Target="../embeddings/oleObject1.bin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e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9.xml"/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0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9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3.emf"/><Relationship Id="rId7" Type="http://schemas.openxmlformats.org/officeDocument/2006/relationships/oleObject" Target="../embeddings/oleObject8.bin"/><Relationship Id="rId6" Type="http://schemas.openxmlformats.org/officeDocument/2006/relationships/image" Target="../media/image22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21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7.png"/><Relationship Id="rId11" Type="http://schemas.openxmlformats.org/officeDocument/2006/relationships/notesSlide" Target="../notesSlides/notesSlide20.xml"/><Relationship Id="rId10" Type="http://schemas.openxmlformats.org/officeDocument/2006/relationships/vmlDrawing" Target="../drawings/vmlDrawing5.vml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6.wmf"/><Relationship Id="rId7" Type="http://schemas.openxmlformats.org/officeDocument/2006/relationships/oleObject" Target="../embeddings/oleObject11.bin"/><Relationship Id="rId6" Type="http://schemas.openxmlformats.org/officeDocument/2006/relationships/image" Target="../media/image25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4.e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7.png"/><Relationship Id="rId11" Type="http://schemas.openxmlformats.org/officeDocument/2006/relationships/notesSlide" Target="../notesSlides/notesSlide21.xml"/><Relationship Id="rId10" Type="http://schemas.openxmlformats.org/officeDocument/2006/relationships/vmlDrawing" Target="../drawings/vmlDrawing6.vml"/><Relationship Id="rId1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2.xml"/><Relationship Id="rId8" Type="http://schemas.openxmlformats.org/officeDocument/2006/relationships/vmlDrawing" Target="../drawings/vmlDrawing7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8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7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3.xml"/><Relationship Id="rId8" Type="http://schemas.openxmlformats.org/officeDocument/2006/relationships/vmlDrawing" Target="../drawings/vmlDrawing8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8.e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9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4.xml"/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0.e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1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2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3.wmf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6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7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9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0.xml"/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w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4.wmf"/><Relationship Id="rId3" Type="http://schemas.openxmlformats.org/officeDocument/2006/relationships/image" Target="../media/image12.wmf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4356100" y="14288"/>
            <a:ext cx="774700" cy="231775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PPT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模板下载：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www.1ppt.com/moban/     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行业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PPT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模板：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www.1ppt.com/hangye/ </a:t>
            </a:r>
            <a:endParaRPr lang="en-US" altLang="zh-CN" sz="100" kern="0" dirty="0">
              <a:solidFill>
                <a:sysClr val="window" lastClr="FFFFFF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节日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PPT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模板：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www.1ppt.com/jieri/           PPT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素材下载：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www.1ppt.com/sucai/</a:t>
            </a:r>
            <a:endParaRPr lang="en-US" altLang="zh-CN" sz="100" kern="0" dirty="0">
              <a:solidFill>
                <a:sysClr val="window" lastClr="FFFFFF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PPT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背景图片：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www.1ppt.com/beijing/      PPT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图表下载：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www.1ppt.com/tubiao/      </a:t>
            </a:r>
            <a:endParaRPr lang="en-US" altLang="zh-CN" sz="100" kern="0" dirty="0">
              <a:solidFill>
                <a:sysClr val="window" lastClr="FFFFFF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优秀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PPT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下载：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www.1ppt.com/xiazai/        PPT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教程： 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www.1ppt.com/powerpoint/      </a:t>
            </a:r>
            <a:endParaRPr lang="en-US" altLang="zh-CN" sz="100" kern="0" dirty="0">
              <a:solidFill>
                <a:sysClr val="window" lastClr="FFFFFF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Word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教程： 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www.1ppt.com/word/              Excel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教程：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www.1ppt.com/excel/  </a:t>
            </a:r>
            <a:endParaRPr lang="en-US" altLang="zh-CN" sz="100" kern="0" dirty="0">
              <a:solidFill>
                <a:sysClr val="window" lastClr="FFFFFF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资料下载：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www.1ppt.com/ziliao/                PPT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课件下载：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www.1ppt.com/kejian/ </a:t>
            </a:r>
            <a:endParaRPr lang="en-US" altLang="zh-CN" sz="100" kern="0" dirty="0">
              <a:solidFill>
                <a:sysClr val="window" lastClr="FFFFFF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范文下载：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www.1ppt.com/fanwen/             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试卷下载：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www.1ppt.com/shiti/  </a:t>
            </a:r>
            <a:endParaRPr lang="en-US" altLang="zh-CN" sz="100" kern="0" dirty="0">
              <a:solidFill>
                <a:sysClr val="window" lastClr="FFFFFF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教案下载：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www.1ppt.com/jiaoan/        PPT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论坛：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www.1ppt.cn</a:t>
            </a:r>
            <a:endParaRPr lang="en-US" altLang="zh-CN" sz="100" kern="0" dirty="0">
              <a:solidFill>
                <a:sysClr val="window" lastClr="FFFFFF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 </a:t>
            </a:r>
            <a:endParaRPr lang="zh-CN" altLang="en-US" sz="100" kern="0" dirty="0">
              <a:solidFill>
                <a:sysClr val="window" lastClr="FFFFFF"/>
              </a:solidFill>
              <a:latin typeface="+mn-lt"/>
              <a:ea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9050" y="7938"/>
            <a:ext cx="9144000" cy="3175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7411" name="图片 1"/>
          <p:cNvPicPr>
            <a:picLocks noChangeAspect="1"/>
          </p:cNvPicPr>
          <p:nvPr/>
        </p:nvPicPr>
        <p:blipFill>
          <a:blip r:embed="rId1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Blur/>
                    </a14:imgEffect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5438776" y="130175"/>
            <a:ext cx="3103562" cy="304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2" name="Rectangle 3"/>
          <p:cNvSpPr txBox="1">
            <a:spLocks noChangeArrowheads="1"/>
          </p:cNvSpPr>
          <p:nvPr/>
        </p:nvSpPr>
        <p:spPr bwMode="auto">
          <a:xfrm>
            <a:off x="200671" y="1089025"/>
            <a:ext cx="4685085" cy="5016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华文隶书" panose="02010800040101010101" charset="-122"/>
              </a:rPr>
              <a:t>计算机图形学</a:t>
            </a:r>
            <a:r>
              <a:rPr lang="en-US" altLang="zh-C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华文隶书" panose="02010800040101010101" charset="-122"/>
              </a:rPr>
              <a:t>——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华文隶书" panose="02010800040101010101" charset="-122"/>
            </a:endParaRPr>
          </a:p>
        </p:txBody>
      </p:sp>
      <p:sp>
        <p:nvSpPr>
          <p:cNvPr id="17413" name="Rectangle 4"/>
          <p:cNvSpPr txBox="1">
            <a:spLocks noChangeArrowheads="1"/>
          </p:cNvSpPr>
          <p:nvPr/>
        </p:nvSpPr>
        <p:spPr bwMode="auto">
          <a:xfrm>
            <a:off x="5364088" y="3363838"/>
            <a:ext cx="3779912" cy="3222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开课学院：信息工程学院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415" name="图片 3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3388" y="246063"/>
            <a:ext cx="765175" cy="74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6" name="图片 4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77938" y="414338"/>
            <a:ext cx="1871662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922337" y="1862931"/>
            <a:ext cx="7642225" cy="5016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华文隶书" panose="02010800040101010101" charset="-122"/>
              </a:rPr>
              <a:t>7.2 </a:t>
            </a:r>
            <a:r>
              <a:rPr lang="zh-CN" alt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华文隶书" panose="02010800040101010101" charset="-122"/>
              </a:rPr>
              <a:t>消隐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华文隶书" panose="0201080004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74C4FF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4"/>
          <p:cNvSpPr txBox="1">
            <a:spLocks noChangeArrowheads="1"/>
          </p:cNvSpPr>
          <p:nvPr/>
        </p:nvSpPr>
        <p:spPr bwMode="auto">
          <a:xfrm>
            <a:off x="5345038" y="3867894"/>
            <a:ext cx="3779912" cy="3222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授课教师：彭昌猛（博士）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4"/>
          <p:cNvSpPr txBox="1">
            <a:spLocks noChangeArrowheads="1"/>
          </p:cNvSpPr>
          <p:nvPr/>
        </p:nvSpPr>
        <p:spPr bwMode="auto">
          <a:xfrm>
            <a:off x="5364088" y="4337720"/>
            <a:ext cx="3779912" cy="3222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授课时间：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2024.11.04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日期占位符 3"/>
          <p:cNvSpPr>
            <a:spLocks noGrp="1" noChangeArrowheads="1"/>
          </p:cNvSpPr>
          <p:nvPr>
            <p:ph type="dt" sz="quarter" idx="10"/>
          </p:nvPr>
        </p:nvSpPr>
        <p:spPr>
          <a:xfrm>
            <a:off x="122238" y="4811869"/>
            <a:ext cx="2311400" cy="3206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</p:spTree>
  </p:cSld>
  <p:clrMapOvr>
    <a:masterClrMapping/>
  </p:clrMapOvr>
  <p:transition spd="med" advClick="0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问题提出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96478" y="692017"/>
            <a:ext cx="8625284" cy="4405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消隐前后的多边形网格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382565"/>
            <a:ext cx="3197733" cy="3262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1797" y="1382566"/>
            <a:ext cx="3070603" cy="3268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问题提出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611372" y="700088"/>
            <a:ext cx="6033426" cy="3350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消隐后的网格才能填色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609" y="1580307"/>
            <a:ext cx="2708058" cy="28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864" y="1533076"/>
            <a:ext cx="2782997" cy="28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问题提出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内容占位符 35"/>
          <p:cNvSpPr txBox="1">
            <a:spLocks noChangeArrowheads="1"/>
          </p:cNvSpPr>
          <p:nvPr/>
        </p:nvSpPr>
        <p:spPr bwMode="auto">
          <a:xfrm>
            <a:off x="272847" y="636945"/>
            <a:ext cx="8691641" cy="3001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当将三维场景投影到二维平面的时候，需要确定哪些多边形是可见的，哪些是不可见的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消隐：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消除被遮挡的不可见的线或面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未经消隐的图形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杂乱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二义性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" name="组合 7"/>
          <p:cNvGrpSpPr/>
          <p:nvPr/>
        </p:nvGrpSpPr>
        <p:grpSpPr bwMode="auto">
          <a:xfrm>
            <a:off x="323528" y="3507939"/>
            <a:ext cx="1433513" cy="865188"/>
            <a:chOff x="625383" y="4557713"/>
            <a:chExt cx="1434379" cy="865187"/>
          </a:xfrm>
        </p:grpSpPr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981985" y="4557713"/>
              <a:ext cx="1075784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 flipH="1">
              <a:off x="625383" y="4557713"/>
              <a:ext cx="358595" cy="287934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625383" y="4845647"/>
              <a:ext cx="1075784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13" name="Line 8"/>
            <p:cNvSpPr>
              <a:spLocks noChangeShapeType="1"/>
            </p:cNvSpPr>
            <p:nvPr/>
          </p:nvSpPr>
          <p:spPr bwMode="auto">
            <a:xfrm flipV="1">
              <a:off x="1701167" y="4557713"/>
              <a:ext cx="358595" cy="287934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15" name="Line 9"/>
            <p:cNvSpPr>
              <a:spLocks noChangeShapeType="1"/>
            </p:cNvSpPr>
            <p:nvPr/>
          </p:nvSpPr>
          <p:spPr bwMode="auto">
            <a:xfrm>
              <a:off x="625383" y="4845647"/>
              <a:ext cx="0" cy="57586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16" name="Line 10"/>
            <p:cNvSpPr>
              <a:spLocks noChangeShapeType="1"/>
            </p:cNvSpPr>
            <p:nvPr/>
          </p:nvSpPr>
          <p:spPr bwMode="auto">
            <a:xfrm>
              <a:off x="625383" y="5421516"/>
              <a:ext cx="1075784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17" name="Line 11"/>
            <p:cNvSpPr>
              <a:spLocks noChangeShapeType="1"/>
            </p:cNvSpPr>
            <p:nvPr/>
          </p:nvSpPr>
          <p:spPr bwMode="auto">
            <a:xfrm flipV="1">
              <a:off x="1701167" y="4845647"/>
              <a:ext cx="0" cy="57586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18" name="Line 12"/>
            <p:cNvSpPr>
              <a:spLocks noChangeShapeType="1"/>
            </p:cNvSpPr>
            <p:nvPr/>
          </p:nvSpPr>
          <p:spPr bwMode="auto">
            <a:xfrm>
              <a:off x="2059762" y="4557713"/>
              <a:ext cx="0" cy="647852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19" name="Line 13"/>
            <p:cNvSpPr>
              <a:spLocks noChangeShapeType="1"/>
            </p:cNvSpPr>
            <p:nvPr/>
          </p:nvSpPr>
          <p:spPr bwMode="auto">
            <a:xfrm flipH="1">
              <a:off x="1701167" y="5206949"/>
              <a:ext cx="358595" cy="215951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20" name="Line 14"/>
            <p:cNvSpPr>
              <a:spLocks noChangeShapeType="1"/>
            </p:cNvSpPr>
            <p:nvPr/>
          </p:nvSpPr>
          <p:spPr bwMode="auto">
            <a:xfrm>
              <a:off x="981985" y="4557713"/>
              <a:ext cx="0" cy="647852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21" name="Line 15"/>
            <p:cNvSpPr>
              <a:spLocks noChangeShapeType="1"/>
            </p:cNvSpPr>
            <p:nvPr/>
          </p:nvSpPr>
          <p:spPr bwMode="auto">
            <a:xfrm>
              <a:off x="981985" y="5206949"/>
              <a:ext cx="1075784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22" name="Line 16"/>
            <p:cNvSpPr>
              <a:spLocks noChangeShapeType="1"/>
            </p:cNvSpPr>
            <p:nvPr/>
          </p:nvSpPr>
          <p:spPr bwMode="auto">
            <a:xfrm flipH="1">
              <a:off x="625383" y="5206949"/>
              <a:ext cx="358595" cy="215951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</p:grpSp>
      <p:grpSp>
        <p:nvGrpSpPr>
          <p:cNvPr id="23" name="组合 22"/>
          <p:cNvGrpSpPr/>
          <p:nvPr/>
        </p:nvGrpSpPr>
        <p:grpSpPr bwMode="auto">
          <a:xfrm>
            <a:off x="2225353" y="3492064"/>
            <a:ext cx="1435100" cy="865188"/>
            <a:chOff x="2418356" y="4557713"/>
            <a:chExt cx="1434379" cy="865187"/>
          </a:xfrm>
        </p:grpSpPr>
        <p:sp>
          <p:nvSpPr>
            <p:cNvPr id="24" name="Line 17"/>
            <p:cNvSpPr>
              <a:spLocks noChangeShapeType="1"/>
            </p:cNvSpPr>
            <p:nvPr/>
          </p:nvSpPr>
          <p:spPr bwMode="auto">
            <a:xfrm>
              <a:off x="2776951" y="4557713"/>
              <a:ext cx="1075784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25" name="Line 18"/>
            <p:cNvSpPr>
              <a:spLocks noChangeShapeType="1"/>
            </p:cNvSpPr>
            <p:nvPr/>
          </p:nvSpPr>
          <p:spPr bwMode="auto">
            <a:xfrm flipH="1">
              <a:off x="2418356" y="4557713"/>
              <a:ext cx="358595" cy="287934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26" name="Line 19"/>
            <p:cNvSpPr>
              <a:spLocks noChangeShapeType="1"/>
            </p:cNvSpPr>
            <p:nvPr/>
          </p:nvSpPr>
          <p:spPr bwMode="auto">
            <a:xfrm>
              <a:off x="2418356" y="4845647"/>
              <a:ext cx="0" cy="57586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27" name="Line 20"/>
            <p:cNvSpPr>
              <a:spLocks noChangeShapeType="1"/>
            </p:cNvSpPr>
            <p:nvPr/>
          </p:nvSpPr>
          <p:spPr bwMode="auto">
            <a:xfrm>
              <a:off x="2418356" y="4845647"/>
              <a:ext cx="1195315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28" name="Line 21"/>
            <p:cNvSpPr>
              <a:spLocks noChangeShapeType="1"/>
            </p:cNvSpPr>
            <p:nvPr/>
          </p:nvSpPr>
          <p:spPr bwMode="auto">
            <a:xfrm flipH="1">
              <a:off x="3613672" y="4557713"/>
              <a:ext cx="239063" cy="287934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29" name="Line 22"/>
            <p:cNvSpPr>
              <a:spLocks noChangeShapeType="1"/>
            </p:cNvSpPr>
            <p:nvPr/>
          </p:nvSpPr>
          <p:spPr bwMode="auto">
            <a:xfrm>
              <a:off x="3613672" y="4845647"/>
              <a:ext cx="0" cy="57586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30" name="Line 23"/>
            <p:cNvSpPr>
              <a:spLocks noChangeShapeType="1"/>
            </p:cNvSpPr>
            <p:nvPr/>
          </p:nvSpPr>
          <p:spPr bwMode="auto">
            <a:xfrm>
              <a:off x="2418356" y="5421516"/>
              <a:ext cx="1195315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32" name="Line 24"/>
            <p:cNvSpPr>
              <a:spLocks noChangeShapeType="1"/>
            </p:cNvSpPr>
            <p:nvPr/>
          </p:nvSpPr>
          <p:spPr bwMode="auto">
            <a:xfrm>
              <a:off x="3852735" y="4557713"/>
              <a:ext cx="0" cy="647852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33" name="Line 25"/>
            <p:cNvSpPr>
              <a:spLocks noChangeShapeType="1"/>
            </p:cNvSpPr>
            <p:nvPr/>
          </p:nvSpPr>
          <p:spPr bwMode="auto">
            <a:xfrm flipH="1">
              <a:off x="3613672" y="5206949"/>
              <a:ext cx="239063" cy="215951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</p:grpSp>
      <p:grpSp>
        <p:nvGrpSpPr>
          <p:cNvPr id="34" name="组合 33"/>
          <p:cNvGrpSpPr/>
          <p:nvPr/>
        </p:nvGrpSpPr>
        <p:grpSpPr bwMode="auto">
          <a:xfrm>
            <a:off x="4117653" y="3469839"/>
            <a:ext cx="1435100" cy="865188"/>
            <a:chOff x="4450392" y="4557713"/>
            <a:chExt cx="1434379" cy="865187"/>
          </a:xfrm>
        </p:grpSpPr>
        <p:sp>
          <p:nvSpPr>
            <p:cNvPr id="35" name="Line 26"/>
            <p:cNvSpPr>
              <a:spLocks noChangeShapeType="1"/>
            </p:cNvSpPr>
            <p:nvPr/>
          </p:nvSpPr>
          <p:spPr bwMode="auto">
            <a:xfrm>
              <a:off x="4808987" y="4557713"/>
              <a:ext cx="1075784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36" name="Line 27"/>
            <p:cNvSpPr>
              <a:spLocks noChangeShapeType="1"/>
            </p:cNvSpPr>
            <p:nvPr/>
          </p:nvSpPr>
          <p:spPr bwMode="auto">
            <a:xfrm flipH="1">
              <a:off x="4450392" y="4557713"/>
              <a:ext cx="358595" cy="287934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37" name="Line 28"/>
            <p:cNvSpPr>
              <a:spLocks noChangeShapeType="1"/>
            </p:cNvSpPr>
            <p:nvPr/>
          </p:nvSpPr>
          <p:spPr bwMode="auto">
            <a:xfrm>
              <a:off x="4808987" y="4557713"/>
              <a:ext cx="0" cy="647852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38" name="Line 29"/>
            <p:cNvSpPr>
              <a:spLocks noChangeShapeType="1"/>
            </p:cNvSpPr>
            <p:nvPr/>
          </p:nvSpPr>
          <p:spPr bwMode="auto">
            <a:xfrm flipH="1">
              <a:off x="4450392" y="5206949"/>
              <a:ext cx="358595" cy="215951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39" name="Line 30"/>
            <p:cNvSpPr>
              <a:spLocks noChangeShapeType="1"/>
            </p:cNvSpPr>
            <p:nvPr/>
          </p:nvSpPr>
          <p:spPr bwMode="auto">
            <a:xfrm>
              <a:off x="4450392" y="4845647"/>
              <a:ext cx="0" cy="57586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40" name="Line 31"/>
            <p:cNvSpPr>
              <a:spLocks noChangeShapeType="1"/>
            </p:cNvSpPr>
            <p:nvPr/>
          </p:nvSpPr>
          <p:spPr bwMode="auto">
            <a:xfrm>
              <a:off x="4808987" y="5206949"/>
              <a:ext cx="1075784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41" name="Line 32"/>
            <p:cNvSpPr>
              <a:spLocks noChangeShapeType="1"/>
            </p:cNvSpPr>
            <p:nvPr/>
          </p:nvSpPr>
          <p:spPr bwMode="auto">
            <a:xfrm flipV="1">
              <a:off x="5884771" y="4557713"/>
              <a:ext cx="0" cy="647852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42" name="Line 33"/>
            <p:cNvSpPr>
              <a:spLocks noChangeShapeType="1"/>
            </p:cNvSpPr>
            <p:nvPr/>
          </p:nvSpPr>
          <p:spPr bwMode="auto">
            <a:xfrm flipH="1">
              <a:off x="5526176" y="5206949"/>
              <a:ext cx="358595" cy="215951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43" name="Line 34"/>
            <p:cNvSpPr>
              <a:spLocks noChangeShapeType="1"/>
            </p:cNvSpPr>
            <p:nvPr/>
          </p:nvSpPr>
          <p:spPr bwMode="auto">
            <a:xfrm>
              <a:off x="4450392" y="5421516"/>
              <a:ext cx="1075784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</p:grpSp>
      <p:sp>
        <p:nvSpPr>
          <p:cNvPr id="44" name="AutoShape 4"/>
          <p:cNvSpPr>
            <a:spLocks noChangeArrowheads="1"/>
          </p:cNvSpPr>
          <p:nvPr/>
        </p:nvSpPr>
        <p:spPr bwMode="auto">
          <a:xfrm>
            <a:off x="7155879" y="1372601"/>
            <a:ext cx="1520577" cy="446333"/>
          </a:xfrm>
          <a:prstGeom prst="wedgeRoundRectCallout">
            <a:avLst>
              <a:gd name="adj1" fmla="val -5693"/>
              <a:gd name="adj2" fmla="val 92572"/>
              <a:gd name="adj3" fmla="val 16667"/>
            </a:avLst>
          </a:prstGeom>
          <a:gradFill rotWithShape="1">
            <a:gsLst>
              <a:gs pos="0">
                <a:srgbClr val="333399">
                  <a:tint val="50000"/>
                  <a:satMod val="300000"/>
                </a:srgbClr>
              </a:gs>
              <a:gs pos="35000">
                <a:srgbClr val="333399">
                  <a:tint val="37000"/>
                  <a:satMod val="300000"/>
                </a:srgbClr>
              </a:gs>
              <a:gs pos="100000">
                <a:srgbClr val="33339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rPr>
              <a:t>问题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rPr>
              <a:t>?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宋体" panose="02010600040101010101" pitchFamily="2" charset="-122"/>
              <a:ea typeface="华文宋体" panose="02010600040101010101" pitchFamily="2" charset="-122"/>
              <a:cs typeface="+mn-cs"/>
            </a:endParaRPr>
          </a:p>
        </p:txBody>
      </p:sp>
      <p:pic>
        <p:nvPicPr>
          <p:cNvPr id="4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7635" y="2067694"/>
            <a:ext cx="2970869" cy="3031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问题提出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内容占位符 35"/>
          <p:cNvSpPr txBox="1">
            <a:spLocks noChangeArrowheads="1"/>
          </p:cNvSpPr>
          <p:nvPr/>
        </p:nvSpPr>
        <p:spPr bwMode="auto">
          <a:xfrm>
            <a:off x="400050" y="600075"/>
            <a:ext cx="8248650" cy="398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输入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: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三维多边形集合及其二维投影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输出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: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确定可见多边形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约束条件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: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高效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AutoShape 4"/>
          <p:cNvSpPr>
            <a:spLocks noChangeArrowheads="1"/>
          </p:cNvSpPr>
          <p:nvPr/>
        </p:nvSpPr>
        <p:spPr bwMode="auto">
          <a:xfrm>
            <a:off x="6775449" y="1327937"/>
            <a:ext cx="2151063" cy="790575"/>
          </a:xfrm>
          <a:prstGeom prst="wedgeRoundRectCallout">
            <a:avLst>
              <a:gd name="adj1" fmla="val -44711"/>
              <a:gd name="adj2" fmla="val 85426"/>
              <a:gd name="adj3" fmla="val 16667"/>
            </a:avLst>
          </a:prstGeom>
          <a:gradFill rotWithShape="1">
            <a:gsLst>
              <a:gs pos="0">
                <a:srgbClr val="333399">
                  <a:tint val="50000"/>
                  <a:satMod val="300000"/>
                </a:srgbClr>
              </a:gs>
              <a:gs pos="35000">
                <a:srgbClr val="333399">
                  <a:tint val="37000"/>
                  <a:satMod val="300000"/>
                </a:srgbClr>
              </a:gs>
              <a:gs pos="100000">
                <a:srgbClr val="33339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rPr>
              <a:t>如何解决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rPr>
              <a:t>?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宋体" panose="02010600040101010101" pitchFamily="2" charset="-122"/>
              <a:ea typeface="华文宋体" panose="02010600040101010101" pitchFamily="2" charset="-122"/>
              <a:cs typeface="+mn-cs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892" y="2418550"/>
            <a:ext cx="2659492" cy="2713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2001" y="2418550"/>
            <a:ext cx="2550258" cy="2713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23267" y="893205"/>
            <a:ext cx="7924750" cy="3224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zh-CN" altLang="en-US" kern="0" dirty="0">
                <a:solidFill>
                  <a:srgbClr val="FF0000"/>
                </a:solidFill>
                <a:latin typeface="Arial" panose="020B0604020202020204" pitchFamily="34" charset="0"/>
              </a:rPr>
              <a:t>消隐问题分析</a:t>
            </a:r>
            <a:endParaRPr lang="zh-CN" altLang="en-US" kern="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kern="0" dirty="0">
                <a:latin typeface="Arial" panose="020B0604020202020204" pitchFamily="34" charset="0"/>
              </a:rPr>
              <a:t>后向面消除</a:t>
            </a:r>
            <a:endParaRPr lang="zh-CN" altLang="en-US" kern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kern="0" dirty="0">
                <a:latin typeface="Arial" panose="020B0604020202020204" pitchFamily="34" charset="0"/>
              </a:rPr>
              <a:t>Z-Buffer</a:t>
            </a:r>
            <a:r>
              <a:rPr lang="zh-CN" altLang="en-US" kern="0" dirty="0">
                <a:latin typeface="Arial" panose="020B0604020202020204" pitchFamily="34" charset="0"/>
              </a:rPr>
              <a:t>算法</a:t>
            </a:r>
            <a:endParaRPr lang="zh-CN" altLang="en-US" kern="0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kern="0" dirty="0">
                <a:latin typeface="Arial" panose="020B0604020202020204" pitchFamily="34" charset="0"/>
              </a:rPr>
              <a:t>画家算法</a:t>
            </a:r>
            <a:endParaRPr lang="zh-CN" altLang="en-US" kern="0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kern="0" dirty="0">
                <a:latin typeface="Arial" panose="020B0604020202020204" pitchFamily="34" charset="0"/>
              </a:rPr>
              <a:t>光线跟踪算法</a:t>
            </a:r>
            <a:endParaRPr lang="zh-CN" altLang="en-US" kern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 advClick="0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消隐问题分析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内容占位符 12"/>
          <p:cNvSpPr txBox="1">
            <a:spLocks noChangeArrowheads="1"/>
          </p:cNvSpPr>
          <p:nvPr/>
        </p:nvSpPr>
        <p:spPr bwMode="auto">
          <a:xfrm>
            <a:off x="435988" y="631416"/>
            <a:ext cx="8280920" cy="3686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与观察对象有关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: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消隐目标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与视点有关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: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消隐判断标准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消隐依据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: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三维坐标，视点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消隐结果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: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二维坐标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以视点为标准将对象按空间位置远近进行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排序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AutoShape 4"/>
          <p:cNvSpPr>
            <a:spLocks noChangeArrowheads="1"/>
          </p:cNvSpPr>
          <p:nvPr/>
        </p:nvSpPr>
        <p:spPr bwMode="auto">
          <a:xfrm>
            <a:off x="5937824" y="3437424"/>
            <a:ext cx="2151063" cy="790575"/>
          </a:xfrm>
          <a:prstGeom prst="wedgeRoundRectCallout">
            <a:avLst>
              <a:gd name="adj1" fmla="val -62423"/>
              <a:gd name="adj2" fmla="val 88639"/>
              <a:gd name="adj3" fmla="val 16667"/>
            </a:avLst>
          </a:prstGeom>
          <a:gradFill rotWithShape="1">
            <a:gsLst>
              <a:gs pos="0">
                <a:srgbClr val="333399">
                  <a:tint val="50000"/>
                  <a:satMod val="300000"/>
                </a:srgbClr>
              </a:gs>
              <a:gs pos="35000">
                <a:srgbClr val="333399">
                  <a:tint val="37000"/>
                  <a:satMod val="300000"/>
                </a:srgbClr>
              </a:gs>
              <a:gs pos="100000">
                <a:srgbClr val="33339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rPr>
              <a:t>两种方案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rPr>
              <a:t>?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宋体" panose="02010600040101010101" pitchFamily="2" charset="-122"/>
              <a:ea typeface="华文宋体" panose="02010600040101010101" pitchFamily="2" charset="-122"/>
              <a:cs typeface="+mn-cs"/>
            </a:endParaRPr>
          </a:p>
        </p:txBody>
      </p:sp>
      <p:sp>
        <p:nvSpPr>
          <p:cNvPr id="10" name="AutoShape 4"/>
          <p:cNvSpPr>
            <a:spLocks noChangeArrowheads="1"/>
          </p:cNvSpPr>
          <p:nvPr/>
        </p:nvSpPr>
        <p:spPr bwMode="auto">
          <a:xfrm>
            <a:off x="6555362" y="689462"/>
            <a:ext cx="2152650" cy="790575"/>
          </a:xfrm>
          <a:prstGeom prst="wedgeRoundRectCallout">
            <a:avLst>
              <a:gd name="adj1" fmla="val -62423"/>
              <a:gd name="adj2" fmla="val 88639"/>
              <a:gd name="adj3" fmla="val 16667"/>
            </a:avLst>
          </a:prstGeom>
          <a:gradFill rotWithShape="1">
            <a:gsLst>
              <a:gs pos="0">
                <a:srgbClr val="333399">
                  <a:tint val="50000"/>
                  <a:satMod val="300000"/>
                </a:srgbClr>
              </a:gs>
              <a:gs pos="35000">
                <a:srgbClr val="333399">
                  <a:tint val="37000"/>
                  <a:satMod val="300000"/>
                </a:srgbClr>
              </a:gs>
              <a:gs pos="100000">
                <a:srgbClr val="33339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rPr>
              <a:t>问题实质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rPr>
              <a:t>?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宋体" panose="02010600040101010101" pitchFamily="2" charset="-122"/>
              <a:ea typeface="华文宋体" panose="0201060004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3173493"/>
            <a:ext cx="2702600" cy="1959051"/>
          </a:xfrm>
          <a:prstGeom prst="rect">
            <a:avLst/>
          </a:prstGeom>
        </p:spPr>
      </p:pic>
    </p:spTree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消隐解决方案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538437"/>
            <a:ext cx="6054080" cy="2337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内容占位符 6"/>
          <p:cNvSpPr txBox="1">
            <a:spLocks noChangeArrowheads="1"/>
          </p:cNvSpPr>
          <p:nvPr/>
        </p:nvSpPr>
        <p:spPr bwMode="auto">
          <a:xfrm>
            <a:off x="440654" y="631416"/>
            <a:ext cx="8457234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物体空间消隐：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以场景物体各个面为处理单元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将场景物体各个面与其它面比较，确定其可见性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设场景中有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k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个多边形面，显示区域为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m* n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个像素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则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物体空间消隐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运算量与什么有关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?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内容占位符 6"/>
          <p:cNvSpPr txBox="1">
            <a:spLocks noChangeArrowheads="1"/>
          </p:cNvSpPr>
          <p:nvPr/>
        </p:nvSpPr>
        <p:spPr bwMode="auto">
          <a:xfrm>
            <a:off x="132777" y="699164"/>
            <a:ext cx="8831711" cy="2612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图像空间消隐：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以投影平面上各像素为处理单元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对投影平面上各像素，确定距视点最近物体，以该物体表面颜色来显示像素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设场景中有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k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个多边形，显示区域为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m* n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个像素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则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图像空间消隐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运算量与什么有关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?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4548632" y="2356914"/>
          <a:ext cx="4181872" cy="25865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0" name="" r:id="rId3" imgW="2960370" imgH="1988820" progId="Visio.Drawing.11">
                  <p:embed/>
                </p:oleObj>
              </mc:Choice>
              <mc:Fallback>
                <p:oleObj name="" r:id="rId3" imgW="2960370" imgH="198882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8632" y="2356914"/>
                        <a:ext cx="4181872" cy="25865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23267" y="893205"/>
            <a:ext cx="7924750" cy="3224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zh-CN" altLang="en-US" kern="0" dirty="0">
                <a:latin typeface="Arial" panose="020B0604020202020204" pitchFamily="34" charset="0"/>
              </a:rPr>
              <a:t>消隐问题分析</a:t>
            </a:r>
            <a:endParaRPr lang="zh-CN" altLang="en-US" kern="0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kern="0" dirty="0">
                <a:solidFill>
                  <a:srgbClr val="FF0000"/>
                </a:solidFill>
                <a:latin typeface="Arial" panose="020B0604020202020204" pitchFamily="34" charset="0"/>
              </a:rPr>
              <a:t>后向面消除</a:t>
            </a:r>
            <a:endParaRPr lang="zh-CN" altLang="en-US" kern="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kern="0" dirty="0">
                <a:latin typeface="Arial" panose="020B0604020202020204" pitchFamily="34" charset="0"/>
              </a:rPr>
              <a:t>Z-Buffer</a:t>
            </a:r>
            <a:r>
              <a:rPr lang="zh-CN" altLang="en-US" kern="0" dirty="0">
                <a:latin typeface="Arial" panose="020B0604020202020204" pitchFamily="34" charset="0"/>
              </a:rPr>
              <a:t>算法</a:t>
            </a:r>
            <a:endParaRPr lang="zh-CN" altLang="en-US" kern="0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kern="0" dirty="0">
                <a:latin typeface="Arial" panose="020B0604020202020204" pitchFamily="34" charset="0"/>
              </a:rPr>
              <a:t>画家算法</a:t>
            </a:r>
            <a:endParaRPr lang="zh-CN" altLang="en-US" kern="0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kern="0" dirty="0">
                <a:latin typeface="Arial" panose="020B0604020202020204" pitchFamily="34" charset="0"/>
              </a:rPr>
              <a:t>光线跟踪算法</a:t>
            </a:r>
            <a:endParaRPr lang="zh-CN" altLang="en-US" kern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 advClick="0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后向面消除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395536" y="700088"/>
            <a:ext cx="8496944" cy="3088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外法向：每个多边形指向物体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外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部的法向量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前向面：外法向与视线方向夹角为钝角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后向面：外法向与视线方向夹角为锐角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右侧哪个图是后向面？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580" y="3034188"/>
            <a:ext cx="5372376" cy="1746340"/>
          </a:xfrm>
          <a:prstGeom prst="rect">
            <a:avLst/>
          </a:prstGeom>
        </p:spPr>
      </p:pic>
    </p:spTree>
  </p:cSld>
  <p:clrMapOvr>
    <a:masterClrMapping/>
  </p:clrMapOvr>
  <p:transition spd="med" advClick="0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后向面消除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95536" y="600075"/>
            <a:ext cx="8378489" cy="4366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               前向面      后向面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图中的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JEAF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HCBG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和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JFGHI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所在的面均为后向面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其它为前向面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后向面一定不可见！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前向面一定可见？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4390" y="608287"/>
            <a:ext cx="4939017" cy="161333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509" y="692208"/>
            <a:ext cx="1836259" cy="1952607"/>
          </a:xfrm>
          <a:prstGeom prst="rect">
            <a:avLst/>
          </a:prstGeom>
        </p:spPr>
      </p:pic>
    </p:spTree>
  </p:cSld>
  <p:clrMapOvr>
    <a:masterClrMapping/>
  </p:clrMapOvr>
  <p:transition spd="med" advClick="0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后向面消除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grpSp>
        <p:nvGrpSpPr>
          <p:cNvPr id="7" name="组合 6"/>
          <p:cNvGrpSpPr/>
          <p:nvPr/>
        </p:nvGrpSpPr>
        <p:grpSpPr bwMode="auto">
          <a:xfrm>
            <a:off x="4211960" y="1923678"/>
            <a:ext cx="4201790" cy="2772544"/>
            <a:chOff x="2286000" y="2133600"/>
            <a:chExt cx="4902200" cy="3276600"/>
          </a:xfrm>
        </p:grpSpPr>
        <p:sp>
          <p:nvSpPr>
            <p:cNvPr id="8" name="Line 2"/>
            <p:cNvSpPr>
              <a:spLocks noChangeShapeType="1"/>
            </p:cNvSpPr>
            <p:nvPr/>
          </p:nvSpPr>
          <p:spPr bwMode="auto">
            <a:xfrm>
              <a:off x="2286000" y="2286000"/>
              <a:ext cx="35814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9" name="Line 3"/>
            <p:cNvSpPr>
              <a:spLocks noChangeShapeType="1"/>
            </p:cNvSpPr>
            <p:nvPr/>
          </p:nvSpPr>
          <p:spPr bwMode="auto">
            <a:xfrm>
              <a:off x="3276600" y="4343400"/>
              <a:ext cx="35814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10" name="Line 4"/>
            <p:cNvSpPr>
              <a:spLocks noChangeShapeType="1"/>
            </p:cNvSpPr>
            <p:nvPr/>
          </p:nvSpPr>
          <p:spPr bwMode="auto">
            <a:xfrm flipH="1" flipV="1">
              <a:off x="2286000" y="2286000"/>
              <a:ext cx="990600" cy="2057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12" name="Line 5"/>
            <p:cNvSpPr>
              <a:spLocks noChangeShapeType="1"/>
            </p:cNvSpPr>
            <p:nvPr/>
          </p:nvSpPr>
          <p:spPr bwMode="auto">
            <a:xfrm flipH="1" flipV="1">
              <a:off x="5867400" y="2286000"/>
              <a:ext cx="990600" cy="2057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13" name="Line 6"/>
            <p:cNvSpPr>
              <a:spLocks noChangeShapeType="1"/>
            </p:cNvSpPr>
            <p:nvPr/>
          </p:nvSpPr>
          <p:spPr bwMode="auto">
            <a:xfrm flipH="1" flipV="1">
              <a:off x="5867400" y="3200400"/>
              <a:ext cx="990600" cy="2057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15" name="Line 7"/>
            <p:cNvSpPr>
              <a:spLocks noChangeShapeType="1"/>
            </p:cNvSpPr>
            <p:nvPr/>
          </p:nvSpPr>
          <p:spPr bwMode="auto">
            <a:xfrm flipV="1">
              <a:off x="6858000" y="4343400"/>
              <a:ext cx="0" cy="914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16" name="Line 8"/>
            <p:cNvSpPr>
              <a:spLocks noChangeShapeType="1"/>
            </p:cNvSpPr>
            <p:nvPr/>
          </p:nvSpPr>
          <p:spPr bwMode="auto">
            <a:xfrm flipV="1">
              <a:off x="5867400" y="2286000"/>
              <a:ext cx="0" cy="914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17" name="Line 9"/>
            <p:cNvSpPr>
              <a:spLocks noChangeShapeType="1"/>
            </p:cNvSpPr>
            <p:nvPr/>
          </p:nvSpPr>
          <p:spPr bwMode="auto">
            <a:xfrm flipV="1">
              <a:off x="2286000" y="2286000"/>
              <a:ext cx="0" cy="914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18" name="Line 10"/>
            <p:cNvSpPr>
              <a:spLocks noChangeShapeType="1"/>
            </p:cNvSpPr>
            <p:nvPr/>
          </p:nvSpPr>
          <p:spPr bwMode="auto">
            <a:xfrm flipV="1">
              <a:off x="3276600" y="4343400"/>
              <a:ext cx="0" cy="914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19" name="Line 12"/>
            <p:cNvSpPr>
              <a:spLocks noChangeShapeType="1"/>
            </p:cNvSpPr>
            <p:nvPr/>
          </p:nvSpPr>
          <p:spPr bwMode="auto">
            <a:xfrm flipH="1" flipV="1">
              <a:off x="2286000" y="3200400"/>
              <a:ext cx="990600" cy="2057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20" name="Line 13"/>
            <p:cNvSpPr>
              <a:spLocks noChangeShapeType="1"/>
            </p:cNvSpPr>
            <p:nvPr/>
          </p:nvSpPr>
          <p:spPr bwMode="auto">
            <a:xfrm>
              <a:off x="3886200" y="3810000"/>
              <a:ext cx="16764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21" name="Line 14"/>
            <p:cNvSpPr>
              <a:spLocks noChangeShapeType="1"/>
            </p:cNvSpPr>
            <p:nvPr/>
          </p:nvSpPr>
          <p:spPr bwMode="auto">
            <a:xfrm>
              <a:off x="3886200" y="4724400"/>
              <a:ext cx="16764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22" name="Line 15"/>
            <p:cNvSpPr>
              <a:spLocks noChangeShapeType="1"/>
            </p:cNvSpPr>
            <p:nvPr/>
          </p:nvSpPr>
          <p:spPr bwMode="auto">
            <a:xfrm>
              <a:off x="3276600" y="5257800"/>
              <a:ext cx="35814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23" name="Line 16"/>
            <p:cNvSpPr>
              <a:spLocks noChangeShapeType="1"/>
            </p:cNvSpPr>
            <p:nvPr/>
          </p:nvSpPr>
          <p:spPr bwMode="auto">
            <a:xfrm flipV="1">
              <a:off x="3886200" y="3810000"/>
              <a:ext cx="0" cy="914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24" name="Line 17"/>
            <p:cNvSpPr>
              <a:spLocks noChangeShapeType="1"/>
            </p:cNvSpPr>
            <p:nvPr/>
          </p:nvSpPr>
          <p:spPr bwMode="auto">
            <a:xfrm flipV="1">
              <a:off x="5562600" y="3810000"/>
              <a:ext cx="0" cy="914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25" name="Line 19"/>
            <p:cNvSpPr>
              <a:spLocks noChangeShapeType="1"/>
            </p:cNvSpPr>
            <p:nvPr/>
          </p:nvSpPr>
          <p:spPr bwMode="auto">
            <a:xfrm flipH="1" flipV="1">
              <a:off x="3352800" y="2743200"/>
              <a:ext cx="533400" cy="10668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26" name="Line 20"/>
            <p:cNvSpPr>
              <a:spLocks noChangeShapeType="1"/>
            </p:cNvSpPr>
            <p:nvPr/>
          </p:nvSpPr>
          <p:spPr bwMode="auto">
            <a:xfrm flipH="1" flipV="1">
              <a:off x="5029200" y="2743200"/>
              <a:ext cx="533400" cy="10668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 flipH="1" flipV="1">
              <a:off x="5029200" y="3657600"/>
              <a:ext cx="533400" cy="10668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28" name="Line 22"/>
            <p:cNvSpPr>
              <a:spLocks noChangeShapeType="1"/>
            </p:cNvSpPr>
            <p:nvPr/>
          </p:nvSpPr>
          <p:spPr bwMode="auto">
            <a:xfrm flipH="1" flipV="1">
              <a:off x="3352800" y="3657600"/>
              <a:ext cx="533400" cy="10668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29" name="Line 23"/>
            <p:cNvSpPr>
              <a:spLocks noChangeShapeType="1"/>
            </p:cNvSpPr>
            <p:nvPr/>
          </p:nvSpPr>
          <p:spPr bwMode="auto">
            <a:xfrm flipV="1">
              <a:off x="3352800" y="2743200"/>
              <a:ext cx="0" cy="914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30" name="Line 24"/>
            <p:cNvSpPr>
              <a:spLocks noChangeShapeType="1"/>
            </p:cNvSpPr>
            <p:nvPr/>
          </p:nvSpPr>
          <p:spPr bwMode="auto">
            <a:xfrm flipV="1">
              <a:off x="5029200" y="2743200"/>
              <a:ext cx="0" cy="914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32" name="Line 25"/>
            <p:cNvSpPr>
              <a:spLocks noChangeShapeType="1"/>
            </p:cNvSpPr>
            <p:nvPr/>
          </p:nvSpPr>
          <p:spPr bwMode="auto">
            <a:xfrm flipH="1">
              <a:off x="4572000" y="2743200"/>
              <a:ext cx="457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33" name="Line 26"/>
            <p:cNvSpPr>
              <a:spLocks noChangeShapeType="1"/>
            </p:cNvSpPr>
            <p:nvPr/>
          </p:nvSpPr>
          <p:spPr bwMode="auto">
            <a:xfrm flipH="1">
              <a:off x="3352800" y="2743200"/>
              <a:ext cx="457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34" name="Line 27"/>
            <p:cNvSpPr>
              <a:spLocks noChangeShapeType="1"/>
            </p:cNvSpPr>
            <p:nvPr/>
          </p:nvSpPr>
          <p:spPr bwMode="auto">
            <a:xfrm>
              <a:off x="3810000" y="2743200"/>
              <a:ext cx="304800" cy="6096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35" name="Line 28"/>
            <p:cNvSpPr>
              <a:spLocks noChangeShapeType="1"/>
            </p:cNvSpPr>
            <p:nvPr/>
          </p:nvSpPr>
          <p:spPr bwMode="auto">
            <a:xfrm>
              <a:off x="4572000" y="2743200"/>
              <a:ext cx="304800" cy="6096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36" name="Line 29"/>
            <p:cNvSpPr>
              <a:spLocks noChangeShapeType="1"/>
            </p:cNvSpPr>
            <p:nvPr/>
          </p:nvSpPr>
          <p:spPr bwMode="auto">
            <a:xfrm flipH="1">
              <a:off x="4114800" y="3352800"/>
              <a:ext cx="7620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37" name="Line 30"/>
            <p:cNvSpPr>
              <a:spLocks noChangeShapeType="1"/>
            </p:cNvSpPr>
            <p:nvPr/>
          </p:nvSpPr>
          <p:spPr bwMode="auto">
            <a:xfrm flipH="1">
              <a:off x="4114800" y="4267200"/>
              <a:ext cx="7620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38" name="Line 31"/>
            <p:cNvSpPr>
              <a:spLocks noChangeShapeType="1"/>
            </p:cNvSpPr>
            <p:nvPr/>
          </p:nvSpPr>
          <p:spPr bwMode="auto">
            <a:xfrm flipV="1">
              <a:off x="4572000" y="2743200"/>
              <a:ext cx="0" cy="914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39" name="Line 32"/>
            <p:cNvSpPr>
              <a:spLocks noChangeShapeType="1"/>
            </p:cNvSpPr>
            <p:nvPr/>
          </p:nvSpPr>
          <p:spPr bwMode="auto">
            <a:xfrm flipV="1">
              <a:off x="3810000" y="2743200"/>
              <a:ext cx="0" cy="914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40" name="Line 34"/>
            <p:cNvSpPr>
              <a:spLocks noChangeShapeType="1"/>
            </p:cNvSpPr>
            <p:nvPr/>
          </p:nvSpPr>
          <p:spPr bwMode="auto">
            <a:xfrm flipV="1">
              <a:off x="4114800" y="3352800"/>
              <a:ext cx="0" cy="914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41" name="Line 35"/>
            <p:cNvSpPr>
              <a:spLocks noChangeShapeType="1"/>
            </p:cNvSpPr>
            <p:nvPr/>
          </p:nvSpPr>
          <p:spPr bwMode="auto">
            <a:xfrm flipV="1">
              <a:off x="4876800" y="3352800"/>
              <a:ext cx="0" cy="914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42" name="Line 36"/>
            <p:cNvSpPr>
              <a:spLocks noChangeShapeType="1"/>
            </p:cNvSpPr>
            <p:nvPr/>
          </p:nvSpPr>
          <p:spPr bwMode="auto">
            <a:xfrm flipH="1" flipV="1">
              <a:off x="4572000" y="3657600"/>
              <a:ext cx="304800" cy="6096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43" name="Line 37"/>
            <p:cNvSpPr>
              <a:spLocks noChangeShapeType="1"/>
            </p:cNvSpPr>
            <p:nvPr/>
          </p:nvSpPr>
          <p:spPr bwMode="auto">
            <a:xfrm flipH="1" flipV="1">
              <a:off x="3810000" y="3657600"/>
              <a:ext cx="304800" cy="6096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44" name="Line 38"/>
            <p:cNvSpPr>
              <a:spLocks noChangeShapeType="1"/>
            </p:cNvSpPr>
            <p:nvPr/>
          </p:nvSpPr>
          <p:spPr bwMode="auto">
            <a:xfrm flipH="1">
              <a:off x="3352800" y="3657600"/>
              <a:ext cx="457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45" name="Line 39"/>
            <p:cNvSpPr>
              <a:spLocks noChangeShapeType="1"/>
            </p:cNvSpPr>
            <p:nvPr/>
          </p:nvSpPr>
          <p:spPr bwMode="auto">
            <a:xfrm flipH="1">
              <a:off x="4572000" y="3657600"/>
              <a:ext cx="457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46" name="Line 40"/>
            <p:cNvSpPr>
              <a:spLocks noChangeShapeType="1"/>
            </p:cNvSpPr>
            <p:nvPr/>
          </p:nvSpPr>
          <p:spPr bwMode="auto">
            <a:xfrm>
              <a:off x="4114800" y="3352800"/>
              <a:ext cx="0" cy="4572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47" name="Line 41"/>
            <p:cNvSpPr>
              <a:spLocks noChangeShapeType="1"/>
            </p:cNvSpPr>
            <p:nvPr/>
          </p:nvSpPr>
          <p:spPr bwMode="auto">
            <a:xfrm>
              <a:off x="4876800" y="3352800"/>
              <a:ext cx="0" cy="4572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48" name="Line 43"/>
            <p:cNvSpPr>
              <a:spLocks noChangeShapeType="1"/>
            </p:cNvSpPr>
            <p:nvPr/>
          </p:nvSpPr>
          <p:spPr bwMode="auto">
            <a:xfrm>
              <a:off x="2286000" y="3200400"/>
              <a:ext cx="35814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49" name="Text Box 44"/>
            <p:cNvSpPr txBox="1">
              <a:spLocks noChangeArrowheads="1"/>
            </p:cNvSpPr>
            <p:nvPr/>
          </p:nvSpPr>
          <p:spPr bwMode="auto">
            <a:xfrm>
              <a:off x="5003800" y="2482850"/>
              <a:ext cx="3302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0" name="Text Box 45"/>
            <p:cNvSpPr txBox="1">
              <a:spLocks noChangeArrowheads="1"/>
            </p:cNvSpPr>
            <p:nvPr/>
          </p:nvSpPr>
          <p:spPr bwMode="auto">
            <a:xfrm>
              <a:off x="5014913" y="3429000"/>
              <a:ext cx="319087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charset="0"/>
                  <a:ea typeface="宋体" panose="02010600030101010101" pitchFamily="2" charset="-122"/>
                </a:rPr>
                <a:t>B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1" name="Text Box 46"/>
            <p:cNvSpPr txBox="1">
              <a:spLocks noChangeArrowheads="1"/>
            </p:cNvSpPr>
            <p:nvPr/>
          </p:nvSpPr>
          <p:spPr bwMode="auto">
            <a:xfrm>
              <a:off x="5867400" y="2133600"/>
              <a:ext cx="3190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" name="Text Box 47"/>
            <p:cNvSpPr txBox="1">
              <a:spLocks noChangeArrowheads="1"/>
            </p:cNvSpPr>
            <p:nvPr/>
          </p:nvSpPr>
          <p:spPr bwMode="auto">
            <a:xfrm>
              <a:off x="5842000" y="3016250"/>
              <a:ext cx="3302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charset="0"/>
                  <a:ea typeface="宋体" panose="02010600030101010101" pitchFamily="2" charset="-122"/>
                </a:rPr>
                <a:t>D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3" name="Text Box 48"/>
            <p:cNvSpPr txBox="1">
              <a:spLocks noChangeArrowheads="1"/>
            </p:cNvSpPr>
            <p:nvPr/>
          </p:nvSpPr>
          <p:spPr bwMode="auto">
            <a:xfrm>
              <a:off x="3124200" y="2590800"/>
              <a:ext cx="30797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4" name="Text Box 49"/>
            <p:cNvSpPr txBox="1">
              <a:spLocks noChangeArrowheads="1"/>
            </p:cNvSpPr>
            <p:nvPr/>
          </p:nvSpPr>
          <p:spPr bwMode="auto">
            <a:xfrm>
              <a:off x="6832600" y="4159250"/>
              <a:ext cx="3302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charset="0"/>
                  <a:ea typeface="宋体" panose="02010600030101010101" pitchFamily="2" charset="-122"/>
                </a:rPr>
                <a:t>G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5" name="Text Box 51"/>
            <p:cNvSpPr txBox="1">
              <a:spLocks noChangeArrowheads="1"/>
            </p:cNvSpPr>
            <p:nvPr/>
          </p:nvSpPr>
          <p:spPr bwMode="auto">
            <a:xfrm>
              <a:off x="3124200" y="3473450"/>
              <a:ext cx="296863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charset="0"/>
                  <a:ea typeface="宋体" panose="02010600030101010101" pitchFamily="2" charset="-122"/>
                </a:rPr>
                <a:t>F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6" name="Text Box 52"/>
            <p:cNvSpPr txBox="1">
              <a:spLocks noChangeArrowheads="1"/>
            </p:cNvSpPr>
            <p:nvPr/>
          </p:nvSpPr>
          <p:spPr bwMode="auto">
            <a:xfrm>
              <a:off x="6858000" y="5073650"/>
              <a:ext cx="3302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charset="0"/>
                  <a:ea typeface="宋体" panose="02010600030101010101" pitchFamily="2" charset="-122"/>
                </a:rPr>
                <a:t>H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7" name="Line 53"/>
            <p:cNvSpPr>
              <a:spLocks noChangeShapeType="1"/>
            </p:cNvSpPr>
            <p:nvPr/>
          </p:nvSpPr>
          <p:spPr bwMode="auto">
            <a:xfrm>
              <a:off x="5029200" y="3657600"/>
              <a:ext cx="7620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  <p:sp>
          <p:nvSpPr>
            <p:cNvPr id="58" name="Line 54"/>
            <p:cNvSpPr>
              <a:spLocks noChangeShapeType="1"/>
            </p:cNvSpPr>
            <p:nvPr/>
          </p:nvSpPr>
          <p:spPr bwMode="auto">
            <a:xfrm flipH="1">
              <a:off x="4876800" y="3657600"/>
              <a:ext cx="1524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</a:endParaRPr>
            </a:p>
          </p:txBody>
        </p:sp>
      </p:grpSp>
      <p:sp>
        <p:nvSpPr>
          <p:cNvPr id="59" name="Rectangle 56"/>
          <p:cNvSpPr>
            <a:spLocks noGrp="1" noChangeArrowheads="1"/>
          </p:cNvSpPr>
          <p:nvPr/>
        </p:nvSpPr>
        <p:spPr bwMode="auto">
          <a:xfrm>
            <a:off x="390525" y="681990"/>
            <a:ext cx="83439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后向面消除 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Backface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Culling</a:t>
            </a:r>
            <a:endParaRPr kumimoji="1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</a:rPr>
              <a:t>后向面判别法的局限性 </a:t>
            </a:r>
            <a:endParaRPr kumimoji="1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</a:rPr>
              <a:t>怎么办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</a:rPr>
              <a:t>?</a:t>
            </a:r>
            <a:endParaRPr kumimoji="1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 advClick="0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23267" y="893205"/>
            <a:ext cx="7924750" cy="3224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zh-CN" altLang="en-US" kern="0" dirty="0">
                <a:latin typeface="Arial" panose="020B0604020202020204" pitchFamily="34" charset="0"/>
              </a:rPr>
              <a:t>消隐问题分析</a:t>
            </a:r>
            <a:endParaRPr lang="zh-CN" altLang="en-US" kern="0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kern="0" dirty="0">
                <a:latin typeface="Arial" panose="020B0604020202020204" pitchFamily="34" charset="0"/>
              </a:rPr>
              <a:t>后向面消除</a:t>
            </a:r>
            <a:endParaRPr lang="zh-CN" altLang="en-US" kern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kern="0" dirty="0">
                <a:solidFill>
                  <a:srgbClr val="FF0000"/>
                </a:solidFill>
                <a:latin typeface="Arial" panose="020B0604020202020204" pitchFamily="34" charset="0"/>
              </a:rPr>
              <a:t>Z-Buffer</a:t>
            </a:r>
            <a:r>
              <a:rPr lang="zh-CN" altLang="en-US" kern="0" dirty="0">
                <a:solidFill>
                  <a:srgbClr val="FF0000"/>
                </a:solidFill>
                <a:latin typeface="Arial" panose="020B0604020202020204" pitchFamily="34" charset="0"/>
              </a:rPr>
              <a:t>算法</a:t>
            </a:r>
            <a:endParaRPr lang="zh-CN" altLang="en-US" kern="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kern="0" dirty="0">
                <a:latin typeface="Arial" panose="020B0604020202020204" pitchFamily="34" charset="0"/>
              </a:rPr>
              <a:t>画家算法</a:t>
            </a:r>
            <a:endParaRPr lang="zh-CN" altLang="en-US" kern="0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kern="0" dirty="0">
                <a:latin typeface="Arial" panose="020B0604020202020204" pitchFamily="34" charset="0"/>
              </a:rPr>
              <a:t>光线跟踪算法</a:t>
            </a:r>
            <a:endParaRPr lang="zh-CN" altLang="en-US" kern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 advClick="0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——Z-Buffer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文本占位符 6"/>
          <p:cNvSpPr txBox="1">
            <a:spLocks noChangeArrowheads="1"/>
          </p:cNvSpPr>
          <p:nvPr/>
        </p:nvSpPr>
        <p:spPr bwMode="auto">
          <a:xfrm>
            <a:off x="323528" y="707553"/>
            <a:ext cx="8712968" cy="3877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绘制物体时，每一个所生成像素的深度即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z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坐标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保存在一个缓冲区中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称为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z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缓冲区或深度缓冲区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Z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缓冲区中的单元与屏幕像素单元一一对应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如果场景中另外一个物体也在同一个像素生成渲染结果，绘制系统就会比较二者的深度，保留距离视点较近的物体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。然后将这个所保留的深度保存到深度缓冲区中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根据深度缓冲区可正确地实现较近的物体遮挡较远的物体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——Z-Buffer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28676" name="Rectangle 3"/>
          <p:cNvSpPr>
            <a:spLocks noGrp="1" noChangeArrowheads="1"/>
          </p:cNvSpPr>
          <p:nvPr/>
        </p:nvSpPr>
        <p:spPr>
          <a:xfrm>
            <a:off x="395605" y="699135"/>
            <a:ext cx="8507095" cy="24276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9pPr>
          </a:lstStyle>
          <a:p>
            <a:pPr eaLnBrk="1" hangingPunct="1"/>
            <a:r>
              <a:rPr lang="zh-CN" altLang="en-US" sz="2800"/>
              <a:t>帧缓冲器 </a:t>
            </a:r>
            <a:r>
              <a:rPr lang="en-US" altLang="zh-CN" sz="2800"/>
              <a:t>– </a:t>
            </a:r>
            <a:r>
              <a:rPr lang="zh-CN" altLang="en-US" sz="2800"/>
              <a:t>保存各像素颜色值</a:t>
            </a:r>
            <a:endParaRPr lang="zh-CN" altLang="en-US" sz="2800"/>
          </a:p>
          <a:p>
            <a:pPr eaLnBrk="1" hangingPunct="1">
              <a:buFontTx/>
              <a:buNone/>
            </a:pPr>
            <a:r>
              <a:rPr lang="zh-CN" altLang="en-US" sz="2800"/>
              <a:t>  </a:t>
            </a:r>
            <a:r>
              <a:rPr lang="en-US" altLang="zh-CN" sz="2800"/>
              <a:t>Z</a:t>
            </a:r>
            <a:r>
              <a:rPr lang="zh-CN" altLang="en-US" sz="2800"/>
              <a:t>缓冲器 </a:t>
            </a:r>
            <a:r>
              <a:rPr lang="en-US" altLang="zh-CN" sz="2800"/>
              <a:t>- </a:t>
            </a:r>
            <a:r>
              <a:rPr lang="zh-CN" altLang="en-US" sz="2800"/>
              <a:t>保存各像素处物体深度值</a:t>
            </a:r>
            <a:endParaRPr lang="zh-CN" altLang="en-US" sz="2800"/>
          </a:p>
          <a:p>
            <a:pPr eaLnBrk="1" hangingPunct="1">
              <a:buFontTx/>
              <a:buNone/>
            </a:pPr>
            <a:r>
              <a:rPr lang="zh-CN" altLang="en-US" sz="2800"/>
              <a:t> 	</a:t>
            </a:r>
            <a:r>
              <a:rPr lang="en-US" altLang="zh-CN" sz="2800">
                <a:solidFill>
                  <a:srgbClr val="333399"/>
                </a:solidFill>
              </a:rPr>
              <a:t>Z</a:t>
            </a:r>
            <a:r>
              <a:rPr lang="zh-CN" altLang="en-US" sz="2800">
                <a:solidFill>
                  <a:srgbClr val="333399"/>
                </a:solidFill>
              </a:rPr>
              <a:t>缓冲器中的单元与帧缓冲器中的单元一一对应</a:t>
            </a:r>
            <a:endParaRPr lang="zh-CN" altLang="en-US" sz="2800">
              <a:solidFill>
                <a:srgbClr val="333399"/>
              </a:solidFill>
            </a:endParaRPr>
          </a:p>
          <a:p>
            <a:pPr eaLnBrk="1" hangingPunct="1">
              <a:buFontTx/>
              <a:buNone/>
            </a:pPr>
            <a:r>
              <a:rPr lang="zh-CN" altLang="en-US" sz="2800"/>
              <a:t>	</a:t>
            </a:r>
            <a:endParaRPr lang="zh-CN" altLang="en-US" sz="28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05" y="2682240"/>
            <a:ext cx="6441440" cy="2058035"/>
          </a:xfrm>
          <a:prstGeom prst="rect">
            <a:avLst/>
          </a:prstGeom>
        </p:spPr>
      </p:pic>
    </p:spTree>
  </p:cSld>
  <p:clrMapOvr>
    <a:masterClrMapping/>
  </p:clrMapOvr>
  <p:transition spd="med" advClick="0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——Z-Buffer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graphicFrame>
        <p:nvGraphicFramePr>
          <p:cNvPr id="29698" name="Object 5"/>
          <p:cNvGraphicFramePr>
            <a:graphicFrameLocks noChangeAspect="1"/>
          </p:cNvGraphicFramePr>
          <p:nvPr/>
        </p:nvGraphicFramePr>
        <p:xfrm>
          <a:off x="7164070" y="3363595"/>
          <a:ext cx="1894205" cy="1341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48" name="Visio" r:id="rId3" imgW="3394075" imgH="2405380" progId="Visio.Drawing.11">
                  <p:embed/>
                </p:oleObj>
              </mc:Choice>
              <mc:Fallback>
                <p:oleObj name="Visio" r:id="rId3" imgW="3394075" imgH="2405380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070" y="3363595"/>
                        <a:ext cx="1894205" cy="1341120"/>
                      </a:xfrm>
                      <a:prstGeom prst="rect">
                        <a:avLst/>
                      </a:prstGeom>
                      <a:solidFill>
                        <a:srgbClr val="CCFFFF">
                          <a:alpha val="30196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内容占位符 2"/>
          <p:cNvSpPr>
            <a:spLocks noGrp="1" noChangeArrowheads="1"/>
          </p:cNvSpPr>
          <p:nvPr/>
        </p:nvSpPr>
        <p:spPr>
          <a:xfrm>
            <a:off x="395605" y="761365"/>
            <a:ext cx="7851775" cy="24409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9pPr>
          </a:lstStyle>
          <a:p>
            <a:r>
              <a:rPr lang="zh-CN" altLang="en-US" sz="2800"/>
              <a:t>当要显示某个点时，首先检查该点处的深度值是否大于该像素对应的深度值</a:t>
            </a:r>
            <a:endParaRPr lang="en-US" altLang="zh-CN" sz="2800"/>
          </a:p>
          <a:p>
            <a:r>
              <a:rPr lang="zh-CN" altLang="en-US" sz="2800"/>
              <a:t>如果大于，说明当前点更靠近视点，用它的颜色替换像素原来的颜色</a:t>
            </a:r>
            <a:endParaRPr lang="en-US" altLang="zh-CN" sz="2800"/>
          </a:p>
          <a:p>
            <a:r>
              <a:rPr lang="zh-CN" altLang="en-US" sz="2800"/>
              <a:t>否则说明当前像素处，当前点被前面所绘制的点遮挡，不可见，像素颜色值不改变</a:t>
            </a:r>
            <a:endParaRPr lang="en-US" altLang="zh-CN" sz="2800"/>
          </a:p>
          <a:p>
            <a:endParaRPr lang="zh-CN" altLang="en-US" sz="2800"/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7332980" y="505460"/>
            <a:ext cx="1405255" cy="339090"/>
          </a:xfrm>
          <a:prstGeom prst="wedgeRoundRectCallout">
            <a:avLst>
              <a:gd name="adj1" fmla="val 2048"/>
              <a:gd name="adj2" fmla="val 83113"/>
              <a:gd name="adj3" fmla="val 16667"/>
            </a:avLst>
          </a:prstGeom>
          <a:gradFill rotWithShape="1">
            <a:gsLst>
              <a:gs pos="0">
                <a:srgbClr val="333399">
                  <a:tint val="50000"/>
                  <a:satMod val="300000"/>
                </a:srgbClr>
              </a:gs>
              <a:gs pos="35000">
                <a:srgbClr val="333399">
                  <a:tint val="37000"/>
                  <a:satMod val="300000"/>
                </a:srgbClr>
              </a:gs>
              <a:gs pos="100000">
                <a:srgbClr val="33339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33399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2075" tIns="46038" rIns="92075" bIns="46038"/>
          <a:lstStyle/>
          <a:p>
            <a:pPr algn="ctr" eaLnBrk="1" hangingPunct="1">
              <a:spcBef>
                <a:spcPct val="50000"/>
              </a:spcBef>
              <a:buClr>
                <a:srgbClr val="333399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zh-CN" altLang="en-US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算法步骤？</a:t>
            </a:r>
            <a:endParaRPr kumimoji="1" lang="zh-CN" altLang="en-US" dirty="0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——Z-Buffer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55523" y="600075"/>
            <a:ext cx="9099550" cy="4280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781050" marR="0" lvl="1" indent="-5143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arenBoth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初始化：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marR="0" lvl="1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kumimoji="1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depthBuffer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x,y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)=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最小值 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最远深度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frameBuffer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x,y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)=I</a:t>
            </a:r>
            <a:r>
              <a:rPr kumimoji="1" lang="zh-CN" alt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背景</a:t>
            </a:r>
            <a:endParaRPr kumimoji="1" lang="zh-CN" altLang="en-US" sz="2400" b="0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marR="0" lvl="0" indent="-2667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(2)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消隐绘制：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66700" marR="0" lvl="0" indent="-2667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		for(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每一个多边形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	        for(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该多边形所覆盖的每个像素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x,y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 )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	           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计算该多边形在该像素的深度值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Z(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x,y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		     if(Z(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x,y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)&gt;</a:t>
            </a:r>
            <a:r>
              <a:rPr kumimoji="1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depthBuffer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x,y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		     {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depthBuffer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x,y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)=z, 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		   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frameBuffer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x,y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)=I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0" lang="en-US" altLang="zh-CN" sz="24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x,y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kumimoji="0" lang="en-US" altLang="zh-CN" sz="2400" b="0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       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}	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6660232" y="700088"/>
          <a:ext cx="2496220" cy="17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2" name="Visio" r:id="rId3" imgW="3394075" imgH="2405380" progId="Visio.Drawing.11">
                  <p:embed/>
                </p:oleObj>
              </mc:Choice>
              <mc:Fallback>
                <p:oleObj name="Visio" r:id="rId3" imgW="3394075" imgH="2405380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0232" y="700088"/>
                        <a:ext cx="2496220" cy="1766813"/>
                      </a:xfrm>
                      <a:prstGeom prst="rect">
                        <a:avLst/>
                      </a:prstGeom>
                      <a:solidFill>
                        <a:srgbClr val="CCFFFF">
                          <a:alpha val="30196"/>
                        </a:srgb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 advClick="0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——Z-Buffer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962563" name="Rectangle 3"/>
          <p:cNvSpPr>
            <a:spLocks noGrp="1" noChangeArrowheads="1"/>
          </p:cNvSpPr>
          <p:nvPr/>
        </p:nvSpPr>
        <p:spPr>
          <a:xfrm>
            <a:off x="467360" y="483235"/>
            <a:ext cx="7773035" cy="170751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9pPr>
          </a:lstStyle>
          <a:p>
            <a:pPr algn="just" eaLnBrk="1" hangingPunct="1">
              <a:lnSpc>
                <a:spcPct val="180000"/>
              </a:lnSpc>
              <a:buFontTx/>
              <a:buNone/>
            </a:pPr>
            <a:r>
              <a:rPr lang="zh-CN" altLang="en-US" sz="2800"/>
              <a:t>问题：</a:t>
            </a:r>
            <a:r>
              <a:rPr lang="zh-CN" altLang="en-US" sz="2800" b="1"/>
              <a:t>计算采样点(</a:t>
            </a:r>
            <a:r>
              <a:rPr lang="en-US" altLang="zh-CN" sz="2800" b="1"/>
              <a:t>x,y)</a:t>
            </a:r>
            <a:r>
              <a:rPr lang="zh-CN" altLang="en-US" sz="2800" b="1"/>
              <a:t>的深度</a:t>
            </a:r>
            <a:r>
              <a:rPr lang="en-US" altLang="zh-CN" sz="2800" b="1"/>
              <a:t>z(x,y)</a:t>
            </a:r>
            <a:r>
              <a:rPr lang="zh-CN" altLang="en-US" sz="2800"/>
              <a:t>？</a:t>
            </a:r>
            <a:endParaRPr lang="zh-CN" altLang="en-US" sz="2800"/>
          </a:p>
          <a:p>
            <a:pPr algn="just" eaLnBrk="1" hangingPunct="1">
              <a:lnSpc>
                <a:spcPct val="180000"/>
              </a:lnSpc>
              <a:buFontTx/>
              <a:buNone/>
            </a:pPr>
            <a:r>
              <a:rPr lang="zh-CN" altLang="en-US" sz="2800"/>
              <a:t>假定多边形的平面方程为：</a:t>
            </a:r>
            <a:r>
              <a:rPr lang="en-US" altLang="zh-CN" sz="2800"/>
              <a:t>Ax+By+Cz+D=0。</a:t>
            </a:r>
            <a:endParaRPr lang="en-US" altLang="zh-CN" sz="2800"/>
          </a:p>
        </p:txBody>
      </p:sp>
      <p:graphicFrame>
        <p:nvGraphicFramePr>
          <p:cNvPr id="962564" name="Object 4"/>
          <p:cNvGraphicFramePr>
            <a:graphicFrameLocks noChangeAspect="1"/>
          </p:cNvGraphicFramePr>
          <p:nvPr/>
        </p:nvGraphicFramePr>
        <p:xfrm>
          <a:off x="549275" y="2643505"/>
          <a:ext cx="3341370" cy="817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9" name="Equation" r:id="rId3" imgW="1473200" imgH="393700" progId="Equation.DSMT4">
                  <p:embed/>
                </p:oleObj>
              </mc:Choice>
              <mc:Fallback>
                <p:oleObj name="Equation" r:id="rId3" imgW="1473200" imgH="3937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275" y="2643505"/>
                        <a:ext cx="3341370" cy="8172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1" name="Object 4"/>
          <p:cNvGraphicFramePr>
            <a:graphicFrameLocks noChangeAspect="1"/>
          </p:cNvGraphicFramePr>
          <p:nvPr/>
        </p:nvGraphicFramePr>
        <p:xfrm>
          <a:off x="5507355" y="2240280"/>
          <a:ext cx="3627120" cy="2489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0" name="Visio" r:id="rId5" imgW="3237230" imgH="2092325" progId="Visio.Drawing.11">
                  <p:embed/>
                </p:oleObj>
              </mc:Choice>
              <mc:Fallback>
                <p:oleObj name="Visio" r:id="rId5" imgW="3237230" imgH="2092325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7355" y="2240280"/>
                        <a:ext cx="3627120" cy="24898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62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6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32772" name="Rectangle 3"/>
          <p:cNvSpPr>
            <a:spLocks noGrp="1" noChangeArrowheads="1"/>
          </p:cNvSpPr>
          <p:nvPr/>
        </p:nvSpPr>
        <p:spPr>
          <a:xfrm>
            <a:off x="179070" y="649605"/>
            <a:ext cx="8420100" cy="609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9pPr>
          </a:lstStyle>
          <a:p>
            <a:pPr algn="just" eaLnBrk="1" hangingPunct="1"/>
            <a:r>
              <a:rPr lang="zh-CN" altLang="en-US" sz="2800"/>
              <a:t>扫描线上所有后继点的深度值：</a:t>
            </a:r>
            <a:endParaRPr lang="zh-CN" altLang="en-US" sz="2800"/>
          </a:p>
        </p:txBody>
      </p:sp>
      <p:sp>
        <p:nvSpPr>
          <p:cNvPr id="32773" name="Rectangle 4"/>
          <p:cNvSpPr>
            <a:spLocks noChangeArrowheads="1"/>
          </p:cNvSpPr>
          <p:nvPr/>
        </p:nvSpPr>
        <p:spPr bwMode="auto">
          <a:xfrm>
            <a:off x="35560" y="1635125"/>
            <a:ext cx="893445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</a:pPr>
            <a:r>
              <a:rPr kumimoji="1" lang="zh-CN" altLang="en-US" sz="2800">
                <a:latin typeface="Times New Roman" panose="02020603050405020304" charset="0"/>
              </a:rPr>
              <a:t>当处理下一条扫描线</a:t>
            </a:r>
            <a:r>
              <a:rPr kumimoji="1" lang="en-US" altLang="zh-CN" sz="2800">
                <a:latin typeface="Times New Roman" panose="02020603050405020304" charset="0"/>
              </a:rPr>
              <a:t>y=y-1</a:t>
            </a:r>
            <a:r>
              <a:rPr kumimoji="1" lang="zh-CN" altLang="en-US" sz="2800">
                <a:latin typeface="Times New Roman" panose="02020603050405020304" charset="0"/>
              </a:rPr>
              <a:t>时，该扫描线上与多边形相交的最左边（</a:t>
            </a:r>
            <a:r>
              <a:rPr kumimoji="1" lang="en-US" altLang="zh-CN" sz="2800">
                <a:latin typeface="Times New Roman" panose="02020603050405020304" charset="0"/>
              </a:rPr>
              <a:t>x</a:t>
            </a:r>
            <a:r>
              <a:rPr kumimoji="1" lang="zh-CN" altLang="en-US" sz="2800">
                <a:latin typeface="Times New Roman" panose="02020603050405020304" charset="0"/>
              </a:rPr>
              <a:t>最小）交点的</a:t>
            </a:r>
            <a:r>
              <a:rPr kumimoji="1" lang="en-US" altLang="zh-CN" sz="2800">
                <a:latin typeface="Times New Roman" panose="02020603050405020304" charset="0"/>
              </a:rPr>
              <a:t>x</a:t>
            </a:r>
            <a:r>
              <a:rPr kumimoji="1" lang="zh-CN" altLang="en-US" sz="2800">
                <a:latin typeface="Times New Roman" panose="02020603050405020304" charset="0"/>
              </a:rPr>
              <a:t>值可以利用上一条扫描线上的最左边的</a:t>
            </a:r>
            <a:r>
              <a:rPr kumimoji="1" lang="en-US" altLang="zh-CN" sz="2800">
                <a:latin typeface="Times New Roman" panose="02020603050405020304" charset="0"/>
              </a:rPr>
              <a:t>x</a:t>
            </a:r>
            <a:r>
              <a:rPr kumimoji="1" lang="zh-CN" altLang="en-US" sz="2800">
                <a:latin typeface="Times New Roman" panose="02020603050405020304" charset="0"/>
              </a:rPr>
              <a:t>值计算：</a:t>
            </a:r>
            <a:endParaRPr kumimoji="1" lang="zh-CN" altLang="en-US" sz="2800">
              <a:latin typeface="Times New Roman" panose="02020603050405020304" charset="0"/>
            </a:endParaRPr>
          </a:p>
        </p:txBody>
      </p:sp>
      <p:graphicFrame>
        <p:nvGraphicFramePr>
          <p:cNvPr id="32774" name="Object 5"/>
          <p:cNvGraphicFramePr>
            <a:graphicFrameLocks noChangeAspect="1"/>
          </p:cNvGraphicFramePr>
          <p:nvPr/>
        </p:nvGraphicFramePr>
        <p:xfrm>
          <a:off x="1781810" y="1131570"/>
          <a:ext cx="5580380" cy="716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7" name="Equation" r:id="rId3" imgW="2806700" imgH="393700" progId="Equation.3">
                  <p:embed/>
                </p:oleObj>
              </mc:Choice>
              <mc:Fallback>
                <p:oleObj name="Equation" r:id="rId3" imgW="2806700" imgH="393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1810" y="1131570"/>
                        <a:ext cx="5580380" cy="7162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5" name="Object 6"/>
          <p:cNvGraphicFramePr>
            <a:graphicFrameLocks noChangeAspect="1"/>
          </p:cNvGraphicFramePr>
          <p:nvPr/>
        </p:nvGraphicFramePr>
        <p:xfrm>
          <a:off x="827405" y="3540125"/>
          <a:ext cx="3576955" cy="1004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8" name="Equation" r:id="rId5" imgW="1282700" imgH="393700" progId="Equation.3">
                  <p:embed/>
                </p:oleObj>
              </mc:Choice>
              <mc:Fallback>
                <p:oleObj name="Equation" r:id="rId5" imgW="1282700" imgH="393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405" y="3540125"/>
                        <a:ext cx="3576955" cy="10045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7" name="Object 4"/>
          <p:cNvGraphicFramePr>
            <a:graphicFrameLocks noChangeAspect="1"/>
          </p:cNvGraphicFramePr>
          <p:nvPr/>
        </p:nvGraphicFramePr>
        <p:xfrm>
          <a:off x="6027420" y="2763520"/>
          <a:ext cx="3085465" cy="199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9" name="Visio" r:id="rId7" imgW="3237230" imgH="2092325" progId="Visio.Drawing.11">
                  <p:embed/>
                </p:oleObj>
              </mc:Choice>
              <mc:Fallback>
                <p:oleObj name="Visio" r:id="rId7" imgW="3237230" imgH="2092325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7420" y="2763520"/>
                        <a:ext cx="3085465" cy="199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 advClick="0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——深度信息</a:t>
            </a:r>
            <a:endParaRPr lang="en-US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36" name="内容占位符 35"/>
          <p:cNvSpPr>
            <a:spLocks noGrp="1" noChangeArrowheads="1"/>
          </p:cNvSpPr>
          <p:nvPr/>
        </p:nvSpPr>
        <p:spPr>
          <a:xfrm>
            <a:off x="467360" y="728980"/>
            <a:ext cx="7334250" cy="19538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9pPr>
          </a:lstStyle>
          <a:p>
            <a:r>
              <a:rPr lang="zh-CN" altLang="en-US" dirty="0"/>
              <a:t>投影变换中</a:t>
            </a:r>
            <a:r>
              <a:rPr lang="en-US" altLang="zh-CN" dirty="0"/>
              <a:t>,</a:t>
            </a:r>
            <a:r>
              <a:rPr lang="zh-CN" altLang="en-US" dirty="0"/>
              <a:t>一个点到视点的距离是</a:t>
            </a:r>
            <a:endParaRPr lang="en-US" altLang="zh-CN" dirty="0"/>
          </a:p>
          <a:p>
            <a:r>
              <a:rPr lang="zh-CN" altLang="en-US" dirty="0"/>
              <a:t>伪深度</a:t>
            </a:r>
            <a:r>
              <a:rPr lang="en-US" altLang="zh-CN" dirty="0"/>
              <a:t>:</a:t>
            </a:r>
            <a:r>
              <a:rPr lang="zh-CN" altLang="en-US" dirty="0"/>
              <a:t>提供深度的一个适当度量</a:t>
            </a:r>
            <a:endParaRPr lang="zh-CN" altLang="en-US" dirty="0"/>
          </a:p>
        </p:txBody>
      </p:sp>
      <p:graphicFrame>
        <p:nvGraphicFramePr>
          <p:cNvPr id="12295" name="Object 7"/>
          <p:cNvGraphicFramePr>
            <a:graphicFrameLocks noChangeAspect="1"/>
          </p:cNvGraphicFramePr>
          <p:nvPr/>
        </p:nvGraphicFramePr>
        <p:xfrm>
          <a:off x="5868035" y="2292350"/>
          <a:ext cx="3059430" cy="2421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40" name="Visio" r:id="rId3" imgW="1746250" imgH="1383665" progId="Visio.Drawing.11">
                  <p:embed/>
                </p:oleObj>
              </mc:Choice>
              <mc:Fallback>
                <p:oleObj name="Visio" r:id="rId3" imgW="1746250" imgH="1383665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035" y="2292350"/>
                        <a:ext cx="3059430" cy="2421255"/>
                      </a:xfrm>
                      <a:prstGeom prst="rect">
                        <a:avLst/>
                      </a:prstGeom>
                      <a:solidFill>
                        <a:srgbClr val="CCFFFF">
                          <a:alpha val="30196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7218680" y="728980"/>
          <a:ext cx="1880870" cy="521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1016000" imgH="241300" progId="Equation.DSMT4">
                  <p:embed/>
                </p:oleObj>
              </mc:Choice>
              <mc:Fallback>
                <p:oleObj name="Equation" r:id="rId5" imgW="1016000" imgH="2413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8680" y="728980"/>
                        <a:ext cx="1880870" cy="52133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1"/>
          <p:cNvGraphicFramePr>
            <a:graphicFrameLocks noChangeAspect="1"/>
          </p:cNvGraphicFramePr>
          <p:nvPr/>
        </p:nvGraphicFramePr>
        <p:xfrm>
          <a:off x="1036955" y="1923415"/>
          <a:ext cx="3427095" cy="744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1841500" imgH="317500" progId="Equation.DSMT4">
                  <p:embed/>
                </p:oleObj>
              </mc:Choice>
              <mc:Fallback>
                <p:oleObj name="Equation" r:id="rId7" imgW="1841500" imgH="3175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6955" y="1923415"/>
                        <a:ext cx="3427095" cy="7448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——深度信息</a:t>
            </a:r>
            <a:endParaRPr lang="en-US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3" name="内容占位符 2"/>
          <p:cNvSpPr>
            <a:spLocks noGrp="1" noChangeArrowheads="1"/>
          </p:cNvSpPr>
          <p:nvPr/>
        </p:nvSpPr>
        <p:spPr>
          <a:xfrm>
            <a:off x="617855" y="3637280"/>
            <a:ext cx="5688330" cy="9061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9pPr>
          </a:lstStyle>
          <a:p>
            <a:r>
              <a:rPr lang="en-US" altLang="zh-CN"/>
              <a:t>z</a:t>
            </a:r>
            <a:r>
              <a:rPr lang="zh-CN" altLang="en-US"/>
              <a:t>逐渐减小时</a:t>
            </a:r>
            <a:r>
              <a:rPr lang="en-US" altLang="zh-CN"/>
              <a:t>z’</a:t>
            </a:r>
            <a:r>
              <a:rPr lang="zh-CN" altLang="en-US"/>
              <a:t>如何变化？</a:t>
            </a:r>
            <a:endParaRPr lang="en-US" altLang="zh-CN"/>
          </a:p>
        </p:txBody>
      </p:sp>
      <p:graphicFrame>
        <p:nvGraphicFramePr>
          <p:cNvPr id="35845" name="Object 4"/>
          <p:cNvGraphicFramePr>
            <a:graphicFrameLocks noChangeAspect="1"/>
          </p:cNvGraphicFramePr>
          <p:nvPr/>
        </p:nvGraphicFramePr>
        <p:xfrm>
          <a:off x="754698" y="699135"/>
          <a:ext cx="1852612" cy="256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35" name="Equation" r:id="rId3" imgW="762000" imgH="1054100" progId="Equation.DSMT4">
                  <p:embed/>
                </p:oleObj>
              </mc:Choice>
              <mc:Fallback>
                <p:oleObj name="Equation" r:id="rId3" imgW="762000" imgH="1054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698" y="699135"/>
                        <a:ext cx="1852612" cy="25622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5868035" y="1713865"/>
          <a:ext cx="3178810" cy="298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36" name="Visio" r:id="rId5" imgW="1474470" imgH="1383665" progId="Visio.Drawing.11">
                  <p:embed/>
                </p:oleObj>
              </mc:Choice>
              <mc:Fallback>
                <p:oleObj name="Visio" r:id="rId5" imgW="1474470" imgH="1383665" progId="Visio.Drawing.11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035" y="1713865"/>
                        <a:ext cx="3178810" cy="2987675"/>
                      </a:xfrm>
                      <a:prstGeom prst="rect">
                        <a:avLst/>
                      </a:prstGeom>
                      <a:solidFill>
                        <a:srgbClr val="CCFFFF">
                          <a:alpha val="30196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AutoShape 6"/>
          <p:cNvSpPr>
            <a:spLocks noChangeArrowheads="1"/>
          </p:cNvSpPr>
          <p:nvPr/>
        </p:nvSpPr>
        <p:spPr bwMode="auto">
          <a:xfrm>
            <a:off x="3240405" y="1332230"/>
            <a:ext cx="2340610" cy="518795"/>
          </a:xfrm>
          <a:prstGeom prst="wedgeRoundRectCallout">
            <a:avLst>
              <a:gd name="adj1" fmla="val -50272"/>
              <a:gd name="adj2" fmla="val 119369"/>
              <a:gd name="adj3" fmla="val 16667"/>
            </a:avLst>
          </a:prstGeom>
          <a:gradFill rotWithShape="1">
            <a:gsLst>
              <a:gs pos="0">
                <a:srgbClr val="333399">
                  <a:tint val="50000"/>
                  <a:satMod val="300000"/>
                </a:srgbClr>
              </a:gs>
              <a:gs pos="35000">
                <a:srgbClr val="333399">
                  <a:tint val="37000"/>
                  <a:satMod val="300000"/>
                </a:srgbClr>
              </a:gs>
              <a:gs pos="100000">
                <a:srgbClr val="33339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33399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2075" tIns="46038" rIns="92075" bIns="46038"/>
          <a:lstStyle/>
          <a:p>
            <a:pPr algn="ctr" eaLnBrk="1" hangingPunct="1">
              <a:spcBef>
                <a:spcPct val="50000"/>
              </a:spcBef>
              <a:buClr>
                <a:srgbClr val="333399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en-US" altLang="zh-CN" sz="28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</a:t>
            </a:r>
            <a:r>
              <a:rPr lang="en-US" altLang="zh-CN" sz="2800" kern="0" dirty="0">
                <a:solidFill>
                  <a:srgbClr val="00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 ' </a:t>
            </a:r>
            <a:r>
              <a:rPr lang="zh-CN" altLang="en-US" sz="2800" kern="0" dirty="0">
                <a:solidFill>
                  <a:srgbClr val="00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与</a:t>
            </a:r>
            <a:r>
              <a:rPr lang="en-US" altLang="zh-CN" sz="2800" kern="0" dirty="0">
                <a:solidFill>
                  <a:srgbClr val="00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z</a:t>
            </a:r>
            <a:r>
              <a:rPr lang="zh-CN" altLang="en-US" sz="2800" kern="0" dirty="0">
                <a:solidFill>
                  <a:srgbClr val="00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关系</a:t>
            </a:r>
            <a:r>
              <a:rPr kumimoji="1" lang="zh-CN" altLang="en-US" sz="28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kumimoji="1" lang="zh-CN" altLang="en-US" sz="2800" dirty="0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——Z-Buffer算法</a:t>
            </a:r>
            <a:endParaRPr lang="en-US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3" name="内容占位符 2"/>
          <p:cNvSpPr>
            <a:spLocks noGrp="1" noChangeArrowheads="1"/>
          </p:cNvSpPr>
          <p:nvPr/>
        </p:nvSpPr>
        <p:spPr>
          <a:xfrm>
            <a:off x="251460" y="627380"/>
            <a:ext cx="8709660" cy="30264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9pPr>
          </a:lstStyle>
          <a:p>
            <a:r>
              <a:rPr lang="zh-CN" altLang="en-US" sz="2800"/>
              <a:t>当深度值比较小时，深度比较常会产生错误</a:t>
            </a:r>
            <a:endParaRPr lang="en-US" altLang="zh-CN" sz="2800"/>
          </a:p>
          <a:p>
            <a:r>
              <a:rPr lang="zh-CN" altLang="en-US" sz="2800"/>
              <a:t>当深度值比较小时</a:t>
            </a:r>
            <a:r>
              <a:rPr lang="en-US" altLang="zh-CN" sz="2800"/>
              <a:t>,</a:t>
            </a:r>
            <a:r>
              <a:rPr lang="zh-CN" altLang="en-US" sz="2800"/>
              <a:t>真实深度值上的一个</a:t>
            </a:r>
            <a:r>
              <a:rPr lang="zh-CN" altLang="en-US" sz="2800">
                <a:solidFill>
                  <a:srgbClr val="FF0000"/>
                </a:solidFill>
              </a:rPr>
              <a:t>小</a:t>
            </a:r>
            <a:r>
              <a:rPr lang="zh-CN" altLang="en-US" sz="2800"/>
              <a:t>变化映射到伪深度值后变为</a:t>
            </a:r>
            <a:r>
              <a:rPr lang="zh-CN" altLang="en-US" sz="2800">
                <a:solidFill>
                  <a:srgbClr val="FF0000"/>
                </a:solidFill>
              </a:rPr>
              <a:t>极小</a:t>
            </a:r>
            <a:r>
              <a:rPr lang="zh-CN" altLang="en-US" sz="2800"/>
              <a:t>的变化</a:t>
            </a:r>
            <a:endParaRPr lang="en-US" altLang="zh-CN" sz="2800"/>
          </a:p>
          <a:p>
            <a:r>
              <a:rPr lang="zh-CN" altLang="en-US" sz="2800"/>
              <a:t>两个接近的深度值有可能会被映射为相同的伪深度值</a:t>
            </a:r>
            <a:r>
              <a:rPr lang="en-US" altLang="zh-CN" sz="2800"/>
              <a:t>,</a:t>
            </a:r>
            <a:r>
              <a:rPr lang="zh-CN" altLang="en-US" sz="2800"/>
              <a:t>这可能会在深度比较时导致错误</a:t>
            </a:r>
            <a:endParaRPr lang="en-US" altLang="zh-CN" sz="2800"/>
          </a:p>
          <a:p>
            <a:r>
              <a:rPr lang="zh-CN" altLang="en-US" sz="2800"/>
              <a:t>使用更多的位来表示伪深度值</a:t>
            </a:r>
            <a:r>
              <a:rPr lang="en-US" altLang="zh-CN" sz="2800"/>
              <a:t>!</a:t>
            </a:r>
            <a:endParaRPr lang="en-US" altLang="zh-CN" sz="2800"/>
          </a:p>
          <a:p>
            <a:r>
              <a:rPr lang="en-US" altLang="zh-CN" sz="2800"/>
              <a:t>24</a:t>
            </a:r>
            <a:r>
              <a:rPr lang="zh-CN" altLang="en-US" sz="2800"/>
              <a:t>位或</a:t>
            </a:r>
            <a:r>
              <a:rPr lang="en-US" altLang="zh-CN" sz="2800"/>
              <a:t>32</a:t>
            </a:r>
            <a:r>
              <a:rPr lang="zh-CN" altLang="en-US" sz="2800"/>
              <a:t>位</a:t>
            </a:r>
            <a:endParaRPr lang="en-US" altLang="zh-CN" sz="2800"/>
          </a:p>
          <a:p>
            <a:endParaRPr lang="en-US" altLang="zh-CN" sz="2800"/>
          </a:p>
          <a:p>
            <a:endParaRPr lang="en-US" altLang="zh-CN" sz="2800"/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2627313" y="3435350"/>
          <a:ext cx="2298700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59" name="Equation" r:id="rId3" imgW="673100" imgH="355600" progId="Equation.DSMT4">
                  <p:embed/>
                </p:oleObj>
              </mc:Choice>
              <mc:Fallback>
                <p:oleObj name="Equation" r:id="rId3" imgW="673100" imgH="355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3435350"/>
                        <a:ext cx="2298700" cy="121285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6745605" y="2536190"/>
          <a:ext cx="2388870" cy="2244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60" name="Visio" r:id="rId5" imgW="1474470" imgH="1383665" progId="Visio.Drawing.11">
                  <p:embed/>
                </p:oleObj>
              </mc:Choice>
              <mc:Fallback>
                <p:oleObj name="Visio" r:id="rId5" imgW="1474470" imgH="1383665" progId="Visio.Drawing.11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5605" y="2536190"/>
                        <a:ext cx="2388870" cy="2244090"/>
                      </a:xfrm>
                      <a:prstGeom prst="rect">
                        <a:avLst/>
                      </a:prstGeom>
                      <a:solidFill>
                        <a:srgbClr val="CCFFFF">
                          <a:alpha val="30196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7452360" y="771208"/>
            <a:ext cx="731838" cy="600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altLang="zh-CN" kern="0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??</a:t>
            </a:r>
            <a:endParaRPr lang="en-US" altLang="zh-CN" kern="0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endParaRPr lang="en-US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37892" name="Rectangle 3"/>
          <p:cNvSpPr>
            <a:spLocks noGrp="1" noChangeArrowheads="1"/>
          </p:cNvSpPr>
          <p:nvPr/>
        </p:nvSpPr>
        <p:spPr>
          <a:xfrm>
            <a:off x="391160" y="700405"/>
            <a:ext cx="8341995" cy="7670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9pPr>
          </a:lstStyle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zh-CN" altLang="en-US" sz="2400" b="1"/>
              <a:t>例</a:t>
            </a:r>
            <a:r>
              <a:rPr lang="zh-CN" altLang="en-US" sz="2400"/>
              <a:t>：已知矩形四顶点坐标</a:t>
            </a:r>
            <a:r>
              <a:rPr lang="en-US" altLang="zh-CN" sz="2400"/>
              <a:t>P</a:t>
            </a:r>
            <a:r>
              <a:rPr lang="en-US" altLang="zh-CN" sz="1200"/>
              <a:t>1</a:t>
            </a:r>
            <a:r>
              <a:rPr lang="en-US" altLang="zh-CN" sz="2400"/>
              <a:t>(10,5,10), P</a:t>
            </a:r>
            <a:r>
              <a:rPr lang="en-US" altLang="zh-CN" sz="1200"/>
              <a:t>2</a:t>
            </a:r>
            <a:r>
              <a:rPr lang="en-US" altLang="zh-CN" sz="2400"/>
              <a:t>(10,25,10), P</a:t>
            </a:r>
            <a:r>
              <a:rPr lang="en-US" altLang="zh-CN" sz="1200"/>
              <a:t>3</a:t>
            </a:r>
            <a:r>
              <a:rPr lang="en-US" altLang="zh-CN" sz="2400"/>
              <a:t>(25,25,10), P</a:t>
            </a:r>
            <a:r>
              <a:rPr lang="en-US" altLang="zh-CN" sz="1200"/>
              <a:t>4</a:t>
            </a:r>
            <a:r>
              <a:rPr lang="en-US" altLang="zh-CN" sz="2400"/>
              <a:t>(25,5,10)</a:t>
            </a:r>
            <a:r>
              <a:rPr lang="zh-CN" altLang="en-US" sz="2400"/>
              <a:t>及一个三角形</a:t>
            </a:r>
            <a:r>
              <a:rPr lang="en-US" altLang="zh-CN" sz="2400"/>
              <a:t>,</a:t>
            </a:r>
            <a:r>
              <a:rPr lang="zh-CN" altLang="en-US" sz="2400"/>
              <a:t>其顶点坐标为</a:t>
            </a:r>
            <a:r>
              <a:rPr lang="en-US" altLang="zh-CN" sz="2400"/>
              <a:t>P</a:t>
            </a:r>
            <a:r>
              <a:rPr lang="en-US" altLang="zh-CN" sz="1200"/>
              <a:t>5</a:t>
            </a:r>
            <a:r>
              <a:rPr lang="en-US" altLang="zh-CN" sz="2400"/>
              <a:t>(15,15,15) ,P</a:t>
            </a:r>
            <a:r>
              <a:rPr lang="en-US" altLang="zh-CN" sz="1200"/>
              <a:t>6</a:t>
            </a:r>
            <a:r>
              <a:rPr lang="en-US" altLang="zh-CN" sz="2400"/>
              <a:t>(25,25,5) ,P</a:t>
            </a:r>
            <a:r>
              <a:rPr lang="en-US" altLang="zh-CN" sz="1200"/>
              <a:t>7</a:t>
            </a:r>
            <a:r>
              <a:rPr lang="en-US" altLang="zh-CN" sz="2400"/>
              <a:t>(30,10,5),</a:t>
            </a:r>
            <a:r>
              <a:rPr lang="zh-CN" altLang="en-US" sz="2400"/>
              <a:t>设视点位于</a:t>
            </a:r>
            <a:r>
              <a:rPr lang="en-US" altLang="zh-CN" sz="2400"/>
              <a:t>z</a:t>
            </a:r>
            <a:r>
              <a:rPr lang="zh-CN" altLang="en-US" sz="2400"/>
              <a:t>轴正向无穷远处</a:t>
            </a:r>
            <a:r>
              <a:rPr lang="en-US" altLang="zh-CN" sz="2400"/>
              <a:t>.</a:t>
            </a:r>
            <a:r>
              <a:rPr lang="zh-CN" altLang="en-US" sz="2400"/>
              <a:t>求</a:t>
            </a:r>
            <a:r>
              <a:rPr lang="zh-CN" altLang="en-US" sz="2400"/>
              <a:t>伪深度</a:t>
            </a:r>
            <a:endParaRPr lang="zh-CN" altLang="en-US" sz="2400"/>
          </a:p>
        </p:txBody>
      </p:sp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2627630" y="810895"/>
          <a:ext cx="5146675" cy="4288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Visio" r:id="rId3" imgW="4242435" imgH="3657600" progId="Visio.Drawing.11">
                  <p:embed/>
                </p:oleObj>
              </mc:Choice>
              <mc:Fallback>
                <p:oleObj name="Visio" r:id="rId3" imgW="4242435" imgH="365760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630" y="810895"/>
                        <a:ext cx="5146675" cy="42881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 advClick="0">
    <p:pull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endParaRPr lang="en-US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37892" name="Rectangle 3"/>
          <p:cNvSpPr>
            <a:spLocks noGrp="1" noChangeArrowheads="1"/>
          </p:cNvSpPr>
          <p:nvPr/>
        </p:nvSpPr>
        <p:spPr>
          <a:xfrm>
            <a:off x="467360" y="771525"/>
            <a:ext cx="8407400" cy="33915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9pPr>
          </a:lstStyle>
          <a:p>
            <a:pPr eaLnBrk="1" hangingPunct="1"/>
            <a:r>
              <a:rPr lang="en-US" altLang="zh-CN" sz="2800"/>
              <a:t>Z</a:t>
            </a:r>
            <a:r>
              <a:rPr lang="zh-CN" altLang="en-US" sz="2800"/>
              <a:t>缓冲器算法在像素级上以近物取代远物，与形体在屏幕上的出现顺序无关</a:t>
            </a:r>
            <a:endParaRPr lang="zh-CN" altLang="en-US" sz="2800"/>
          </a:p>
          <a:p>
            <a:pPr eaLnBrk="1" hangingPunct="1"/>
            <a:r>
              <a:rPr lang="zh-CN" altLang="en-US" sz="2800"/>
              <a:t>优点：</a:t>
            </a:r>
            <a:r>
              <a:rPr lang="en-US" altLang="zh-CN" sz="2800"/>
              <a:t>1</a:t>
            </a:r>
            <a:r>
              <a:rPr lang="zh-CN" altLang="en-US" sz="2800"/>
              <a:t>）简单稳定，利于硬件实现</a:t>
            </a:r>
            <a:endParaRPr lang="zh-CN" altLang="en-US" sz="2800"/>
          </a:p>
          <a:p>
            <a:pPr eaLnBrk="1" hangingPunct="1">
              <a:buFontTx/>
              <a:buNone/>
            </a:pPr>
            <a:r>
              <a:rPr lang="zh-CN" altLang="en-US" sz="2800"/>
              <a:t>        </a:t>
            </a:r>
            <a:r>
              <a:rPr lang="en-US" altLang="zh-CN" sz="2800"/>
              <a:t>2</a:t>
            </a:r>
            <a:r>
              <a:rPr lang="zh-CN" altLang="en-US" sz="2800"/>
              <a:t>）不需要整个场景的几何数据</a:t>
            </a:r>
            <a:endParaRPr lang="zh-CN" altLang="en-US" sz="2800"/>
          </a:p>
          <a:p>
            <a:pPr eaLnBrk="1" hangingPunct="1"/>
            <a:r>
              <a:rPr lang="zh-CN" altLang="en-US" sz="2800"/>
              <a:t>缺点</a:t>
            </a:r>
            <a:r>
              <a:rPr lang="en-US" altLang="zh-CN" sz="2800"/>
              <a:t>: 1</a:t>
            </a:r>
            <a:r>
              <a:rPr lang="zh-CN" altLang="en-US" sz="2800"/>
              <a:t>）需要一个额外的</a:t>
            </a:r>
            <a:r>
              <a:rPr lang="en-US" altLang="zh-CN" sz="2800"/>
              <a:t>Z</a:t>
            </a:r>
            <a:r>
              <a:rPr lang="zh-CN" altLang="en-US" sz="2800"/>
              <a:t>缓冲器</a:t>
            </a:r>
            <a:endParaRPr lang="zh-CN" altLang="en-US" sz="2800"/>
          </a:p>
          <a:p>
            <a:pPr eaLnBrk="1" hangingPunct="1">
              <a:buFontTx/>
              <a:buNone/>
            </a:pPr>
            <a:r>
              <a:rPr lang="zh-CN" altLang="en-US" sz="2800"/>
              <a:t>		   </a:t>
            </a:r>
            <a:r>
              <a:rPr lang="en-US" altLang="zh-CN" sz="2800"/>
              <a:t>2</a:t>
            </a:r>
            <a:r>
              <a:rPr lang="zh-CN" altLang="en-US" sz="2800"/>
              <a:t>）在每个多边形占据的每个像素处都要计算深度值，计算量大</a:t>
            </a:r>
            <a:endParaRPr lang="zh-CN" altLang="en-US" sz="2800"/>
          </a:p>
        </p:txBody>
      </p:sp>
    </p:spTree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78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78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78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——扫描线Z-buffer算法</a:t>
            </a:r>
            <a:endParaRPr lang="en-US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39940" name="Rectangle 3"/>
          <p:cNvSpPr>
            <a:spLocks noGrp="1" noChangeArrowheads="1"/>
          </p:cNvSpPr>
          <p:nvPr/>
        </p:nvSpPr>
        <p:spPr>
          <a:xfrm>
            <a:off x="395605" y="915035"/>
            <a:ext cx="8298815" cy="31737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9pPr>
          </a:lstStyle>
          <a:p>
            <a:pPr eaLnBrk="1" hangingPunct="1"/>
            <a:r>
              <a:rPr lang="en-US" altLang="zh-CN" sz="2800"/>
              <a:t>Z</a:t>
            </a:r>
            <a:r>
              <a:rPr lang="zh-CN" altLang="en-US" sz="2800"/>
              <a:t>缓冲器算法中所需要的</a:t>
            </a:r>
            <a:r>
              <a:rPr lang="en-US" altLang="zh-CN" sz="2800"/>
              <a:t>Z</a:t>
            </a:r>
            <a:r>
              <a:rPr lang="zh-CN" altLang="en-US" sz="2800"/>
              <a:t>缓冲器容量较大，为克服这个缺点可以将整个绘图区域</a:t>
            </a:r>
            <a:r>
              <a:rPr lang="zh-CN" altLang="en-US" sz="2800">
                <a:solidFill>
                  <a:srgbClr val="FF0000"/>
                </a:solidFill>
              </a:rPr>
              <a:t>分割</a:t>
            </a:r>
            <a:r>
              <a:rPr lang="zh-CN" altLang="en-US" sz="2800"/>
              <a:t>成若干个小区域</a:t>
            </a:r>
            <a:endParaRPr lang="en-US" altLang="zh-CN" sz="2800"/>
          </a:p>
          <a:p>
            <a:pPr eaLnBrk="1" hangingPunct="1"/>
            <a:r>
              <a:rPr lang="zh-CN" altLang="en-US" sz="2800"/>
              <a:t>按区域显示，这样</a:t>
            </a:r>
            <a:r>
              <a:rPr lang="en-US" altLang="zh-CN" sz="2800"/>
              <a:t>Z</a:t>
            </a:r>
            <a:r>
              <a:rPr lang="zh-CN" altLang="en-US" sz="2800"/>
              <a:t>缓冲器的单元数只要等于一个区域内像素的个数就可以</a:t>
            </a:r>
            <a:endParaRPr lang="en-US" altLang="zh-CN" sz="2800"/>
          </a:p>
          <a:p>
            <a:pPr eaLnBrk="1" hangingPunct="1"/>
            <a:r>
              <a:rPr lang="zh-CN" altLang="en-US" sz="2800"/>
              <a:t>如果将小区域取成屏幕上的扫描线，就得到扫描线</a:t>
            </a:r>
            <a:r>
              <a:rPr lang="en-US" altLang="zh-CN" sz="2800"/>
              <a:t>Z</a:t>
            </a:r>
            <a:r>
              <a:rPr lang="zh-CN" altLang="en-US" sz="2800"/>
              <a:t>缓冲器算法</a:t>
            </a:r>
            <a:endParaRPr lang="zh-CN" altLang="en-US" sz="2800"/>
          </a:p>
        </p:txBody>
      </p:sp>
    </p:spTree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——扫描线Z-buffer算法</a:t>
            </a:r>
            <a:endParaRPr lang="en-US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43012" name="Rectangle 3"/>
          <p:cNvSpPr>
            <a:spLocks noGrp="1" noChangeArrowheads="1"/>
          </p:cNvSpPr>
          <p:nvPr/>
        </p:nvSpPr>
        <p:spPr>
          <a:xfrm>
            <a:off x="539750" y="771525"/>
            <a:ext cx="7796530" cy="21710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/>
              <a:t>将窗口分割成扫描线</a:t>
            </a:r>
            <a:endParaRPr lang="zh-CN" altLang="en-US"/>
          </a:p>
          <a:p>
            <a:pPr eaLnBrk="1" hangingPunct="1">
              <a:lnSpc>
                <a:spcPct val="90000"/>
              </a:lnSpc>
            </a:pPr>
            <a:endParaRPr lang="zh-CN" altLang="en-US" sz="2400"/>
          </a:p>
          <a:p>
            <a:pPr eaLnBrk="1" hangingPunct="1">
              <a:lnSpc>
                <a:spcPct val="90000"/>
              </a:lnSpc>
            </a:pPr>
            <a:endParaRPr lang="zh-CN" altLang="en-US" sz="2400"/>
          </a:p>
          <a:p>
            <a:pPr marL="0" indent="0" eaLnBrk="1" hangingPunct="1">
              <a:lnSpc>
                <a:spcPct val="90000"/>
              </a:lnSpc>
              <a:buNone/>
            </a:pPr>
            <a:endParaRPr lang="zh-CN" altLang="en-US" sz="2400"/>
          </a:p>
          <a:p>
            <a:pPr eaLnBrk="1" hangingPunct="1">
              <a:lnSpc>
                <a:spcPct val="90000"/>
              </a:lnSpc>
            </a:pPr>
            <a:endParaRPr lang="zh-CN" altLang="en-US" sz="2400"/>
          </a:p>
          <a:p>
            <a:pPr eaLnBrk="1" hangingPunct="1">
              <a:lnSpc>
                <a:spcPct val="90000"/>
              </a:lnSpc>
            </a:pPr>
            <a:endParaRPr lang="zh-CN" altLang="en-US" sz="2400"/>
          </a:p>
          <a:p>
            <a:pPr eaLnBrk="1" hangingPunct="1">
              <a:lnSpc>
                <a:spcPct val="90000"/>
              </a:lnSpc>
            </a:pPr>
            <a:endParaRPr lang="zh-CN" altLang="en-US" sz="2400"/>
          </a:p>
          <a:p>
            <a:pPr eaLnBrk="1" hangingPunct="1">
              <a:lnSpc>
                <a:spcPct val="90000"/>
              </a:lnSpc>
            </a:pPr>
            <a:endParaRPr lang="zh-CN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zh-CN" sz="2400"/>
              <a:t>Z</a:t>
            </a:r>
            <a:r>
              <a:rPr lang="zh-CN" altLang="en-US" sz="2400"/>
              <a:t>缓冲器的单元数 </a:t>
            </a:r>
            <a:r>
              <a:rPr lang="en-US" altLang="zh-CN" sz="2400"/>
              <a:t>= </a:t>
            </a:r>
            <a:r>
              <a:rPr lang="zh-CN" altLang="en-US" sz="2400"/>
              <a:t>一条扫描线内像素的个数</a:t>
            </a:r>
            <a:endParaRPr lang="zh-CN" altLang="en-US" sz="2400"/>
          </a:p>
        </p:txBody>
      </p:sp>
      <p:pic>
        <p:nvPicPr>
          <p:cNvPr id="894980" name="Picture 4" descr="12P12"/>
          <p:cNvPicPr>
            <a:picLocks noChangeAspect="1" noChangeArrowheads="1"/>
          </p:cNvPicPr>
          <p:nvPr/>
        </p:nvPicPr>
        <p:blipFill>
          <a:blip r:embed="rId3">
            <a:lum contras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1362075"/>
            <a:ext cx="8337550" cy="2684463"/>
          </a:xfrm>
          <a:prstGeom prst="rect">
            <a:avLst/>
          </a:prstGeom>
          <a:noFill/>
          <a:ln w="9525">
            <a:solidFill>
              <a:srgbClr val="33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4981" name="Line 5"/>
          <p:cNvSpPr>
            <a:spLocks noChangeShapeType="1"/>
          </p:cNvSpPr>
          <p:nvPr/>
        </p:nvSpPr>
        <p:spPr bwMode="auto">
          <a:xfrm>
            <a:off x="1073150" y="2886075"/>
            <a:ext cx="2146300" cy="0"/>
          </a:xfrm>
          <a:prstGeom prst="line">
            <a:avLst/>
          </a:prstGeom>
          <a:noFill/>
          <a:ln w="177800">
            <a:solidFill>
              <a:srgbClr val="FF66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4982" name="Line 6"/>
          <p:cNvSpPr>
            <a:spLocks noChangeShapeType="1"/>
          </p:cNvSpPr>
          <p:nvPr/>
        </p:nvSpPr>
        <p:spPr bwMode="auto">
          <a:xfrm>
            <a:off x="1073150" y="2657475"/>
            <a:ext cx="2146300" cy="0"/>
          </a:xfrm>
          <a:prstGeom prst="line">
            <a:avLst/>
          </a:prstGeom>
          <a:noFill/>
          <a:ln w="177800">
            <a:solidFill>
              <a:srgbClr val="FF66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4983" name="Line 7"/>
          <p:cNvSpPr>
            <a:spLocks noChangeShapeType="1"/>
          </p:cNvSpPr>
          <p:nvPr/>
        </p:nvSpPr>
        <p:spPr bwMode="auto">
          <a:xfrm>
            <a:off x="1073150" y="2428875"/>
            <a:ext cx="2146300" cy="0"/>
          </a:xfrm>
          <a:prstGeom prst="line">
            <a:avLst/>
          </a:prstGeom>
          <a:noFill/>
          <a:ln w="177800">
            <a:solidFill>
              <a:srgbClr val="FF66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4988" name="Line 12"/>
          <p:cNvSpPr>
            <a:spLocks noChangeShapeType="1"/>
          </p:cNvSpPr>
          <p:nvPr/>
        </p:nvSpPr>
        <p:spPr bwMode="auto">
          <a:xfrm>
            <a:off x="3797300" y="2886075"/>
            <a:ext cx="2146300" cy="0"/>
          </a:xfrm>
          <a:prstGeom prst="line">
            <a:avLst/>
          </a:prstGeom>
          <a:noFill/>
          <a:ln w="177800">
            <a:solidFill>
              <a:srgbClr val="FF66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4989" name="Line 13"/>
          <p:cNvSpPr>
            <a:spLocks noChangeShapeType="1"/>
          </p:cNvSpPr>
          <p:nvPr/>
        </p:nvSpPr>
        <p:spPr bwMode="auto">
          <a:xfrm>
            <a:off x="3797300" y="2657475"/>
            <a:ext cx="2146300" cy="0"/>
          </a:xfrm>
          <a:prstGeom prst="line">
            <a:avLst/>
          </a:prstGeom>
          <a:noFill/>
          <a:ln w="177800">
            <a:solidFill>
              <a:srgbClr val="FF66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4990" name="Line 14"/>
          <p:cNvSpPr>
            <a:spLocks noChangeShapeType="1"/>
          </p:cNvSpPr>
          <p:nvPr/>
        </p:nvSpPr>
        <p:spPr bwMode="auto">
          <a:xfrm>
            <a:off x="3797300" y="2428875"/>
            <a:ext cx="2146300" cy="0"/>
          </a:xfrm>
          <a:prstGeom prst="line">
            <a:avLst/>
          </a:prstGeom>
          <a:noFill/>
          <a:ln w="177800">
            <a:solidFill>
              <a:srgbClr val="FF66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4995" name="Line 19"/>
          <p:cNvSpPr>
            <a:spLocks noChangeShapeType="1"/>
          </p:cNvSpPr>
          <p:nvPr/>
        </p:nvSpPr>
        <p:spPr bwMode="auto">
          <a:xfrm>
            <a:off x="6438900" y="2886075"/>
            <a:ext cx="2146300" cy="0"/>
          </a:xfrm>
          <a:prstGeom prst="line">
            <a:avLst/>
          </a:prstGeom>
          <a:noFill/>
          <a:ln w="177800">
            <a:solidFill>
              <a:srgbClr val="FF66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4996" name="Line 20"/>
          <p:cNvSpPr>
            <a:spLocks noChangeShapeType="1"/>
          </p:cNvSpPr>
          <p:nvPr/>
        </p:nvSpPr>
        <p:spPr bwMode="auto">
          <a:xfrm>
            <a:off x="6438900" y="2657475"/>
            <a:ext cx="2146300" cy="0"/>
          </a:xfrm>
          <a:prstGeom prst="line">
            <a:avLst/>
          </a:prstGeom>
          <a:noFill/>
          <a:ln w="177800">
            <a:solidFill>
              <a:srgbClr val="FF66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4997" name="Line 21"/>
          <p:cNvSpPr>
            <a:spLocks noChangeShapeType="1"/>
          </p:cNvSpPr>
          <p:nvPr/>
        </p:nvSpPr>
        <p:spPr bwMode="auto">
          <a:xfrm>
            <a:off x="6438900" y="2428875"/>
            <a:ext cx="2146300" cy="0"/>
          </a:xfrm>
          <a:prstGeom prst="line">
            <a:avLst/>
          </a:prstGeom>
          <a:noFill/>
          <a:ln w="177800">
            <a:solidFill>
              <a:srgbClr val="FF66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94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949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94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949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94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949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9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949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94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949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94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949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9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949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9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949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94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949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9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23267" y="893205"/>
            <a:ext cx="7924750" cy="3224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zh-CN" altLang="en-US" kern="0" dirty="0">
                <a:latin typeface="Arial" panose="020B0604020202020204" pitchFamily="34" charset="0"/>
              </a:rPr>
              <a:t>消隐问题分析</a:t>
            </a:r>
            <a:endParaRPr lang="zh-CN" altLang="en-US" kern="0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kern="0" dirty="0">
                <a:latin typeface="Arial" panose="020B0604020202020204" pitchFamily="34" charset="0"/>
              </a:rPr>
              <a:t>后向面消除</a:t>
            </a:r>
            <a:endParaRPr lang="zh-CN" altLang="en-US" kern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kern="0" dirty="0">
                <a:solidFill>
                  <a:schemeClr val="tx1"/>
                </a:solidFill>
                <a:latin typeface="Arial" panose="020B0604020202020204" pitchFamily="34" charset="0"/>
              </a:rPr>
              <a:t>Z-Buffer</a:t>
            </a:r>
            <a:r>
              <a:rPr lang="zh-CN" altLang="en-US" kern="0" dirty="0">
                <a:solidFill>
                  <a:schemeClr val="tx1"/>
                </a:solidFill>
                <a:latin typeface="Arial" panose="020B0604020202020204" pitchFamily="34" charset="0"/>
              </a:rPr>
              <a:t>算法</a:t>
            </a:r>
            <a:endParaRPr lang="zh-CN" altLang="en-US" kern="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kern="0" dirty="0">
                <a:solidFill>
                  <a:srgbClr val="FF0000"/>
                </a:solidFill>
                <a:latin typeface="Arial" panose="020B0604020202020204" pitchFamily="34" charset="0"/>
              </a:rPr>
              <a:t>画家算法</a:t>
            </a:r>
            <a:endParaRPr lang="zh-CN" altLang="en-US" kern="0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kern="0" dirty="0">
                <a:latin typeface="Arial" panose="020B0604020202020204" pitchFamily="34" charset="0"/>
              </a:rPr>
              <a:t>光线跟踪算法</a:t>
            </a:r>
            <a:endParaRPr lang="zh-CN" altLang="en-US" kern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 advClick="0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画家算法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34820" name="Rectangle 3"/>
          <p:cNvSpPr>
            <a:spLocks noGrp="1" noChangeArrowheads="1"/>
          </p:cNvSpPr>
          <p:nvPr/>
        </p:nvSpPr>
        <p:spPr>
          <a:xfrm>
            <a:off x="323850" y="627380"/>
            <a:ext cx="8520430" cy="31800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9pPr>
          </a:lstStyle>
          <a:p>
            <a:pPr eaLnBrk="1" hangingPunct="1"/>
            <a:r>
              <a:rPr lang="zh-CN" altLang="en-US" sz="2800"/>
              <a:t>画家首先绘制距离较远的场景，然后用绘制距离较近的场景覆盖较远的部分</a:t>
            </a:r>
            <a:endParaRPr lang="en-US" altLang="zh-CN" sz="2800"/>
          </a:p>
          <a:p>
            <a:pPr eaLnBrk="1" hangingPunct="1"/>
            <a:r>
              <a:rPr lang="zh-CN" altLang="en-US" sz="2800"/>
              <a:t>首先将场景中的多边形根据深度进行排序，然后按照顺序进行绘制</a:t>
            </a:r>
            <a:endParaRPr lang="en-US" altLang="zh-CN" sz="2800"/>
          </a:p>
          <a:p>
            <a:pPr eaLnBrk="1" hangingPunct="1"/>
            <a:r>
              <a:rPr lang="zh-CN" altLang="en-US" sz="2800"/>
              <a:t>这样可自然解决可见性问题</a:t>
            </a:r>
            <a:endParaRPr lang="zh-CN" altLang="en-US" sz="2800"/>
          </a:p>
        </p:txBody>
      </p:sp>
      <p:pic>
        <p:nvPicPr>
          <p:cNvPr id="7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39"/>
          <a:stretch>
            <a:fillRect/>
          </a:stretch>
        </p:blipFill>
        <p:spPr bwMode="auto">
          <a:xfrm>
            <a:off x="755650" y="3003550"/>
            <a:ext cx="2223135" cy="1696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AutoShape 4"/>
          <p:cNvSpPr>
            <a:spLocks noChangeArrowheads="1"/>
          </p:cNvSpPr>
          <p:nvPr/>
        </p:nvSpPr>
        <p:spPr bwMode="auto">
          <a:xfrm>
            <a:off x="4356100" y="3507740"/>
            <a:ext cx="2066290" cy="485775"/>
          </a:xfrm>
          <a:prstGeom prst="wedgeRoundRectCallout">
            <a:avLst>
              <a:gd name="adj1" fmla="val -62423"/>
              <a:gd name="adj2" fmla="val 88639"/>
              <a:gd name="adj3" fmla="val 16667"/>
            </a:avLst>
          </a:prstGeom>
          <a:gradFill rotWithShape="1">
            <a:gsLst>
              <a:gs pos="0">
                <a:srgbClr val="333399">
                  <a:tint val="50000"/>
                  <a:satMod val="300000"/>
                </a:srgbClr>
              </a:gs>
              <a:gs pos="35000">
                <a:srgbClr val="333399">
                  <a:tint val="37000"/>
                  <a:satMod val="300000"/>
                </a:srgbClr>
              </a:gs>
              <a:gs pos="100000">
                <a:srgbClr val="33339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33399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algn="ctr" eaLnBrk="1" hangingPunct="1">
              <a:spcBef>
                <a:spcPct val="50000"/>
              </a:spcBef>
              <a:buClr>
                <a:srgbClr val="333399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2800">
                <a:solidFill>
                  <a:srgbClr val="00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有何问题</a:t>
            </a:r>
            <a:r>
              <a:rPr lang="en-US" altLang="zh-CN" sz="2800" dirty="0">
                <a:solidFill>
                  <a:srgbClr val="00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?</a:t>
            </a:r>
            <a:endParaRPr lang="en-US" altLang="zh-CN" sz="2800" dirty="0">
              <a:solidFill>
                <a:srgbClr val="000000"/>
              </a:solidFill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</p:spTree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8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8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画家算法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34820" name="Rectangle 3"/>
          <p:cNvSpPr>
            <a:spLocks noGrp="1" noChangeArrowheads="1"/>
          </p:cNvSpPr>
          <p:nvPr/>
        </p:nvSpPr>
        <p:spPr>
          <a:xfrm>
            <a:off x="706120" y="752475"/>
            <a:ext cx="7527925" cy="406971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9pPr>
          </a:lstStyle>
          <a:p>
            <a:pPr eaLnBrk="1" hangingPunct="1"/>
            <a:r>
              <a:rPr lang="zh-CN" altLang="en-US"/>
              <a:t>是否总是能够将物体按深度排序</a:t>
            </a:r>
            <a:r>
              <a:rPr lang="en-US" altLang="zh-CN"/>
              <a:t>?</a:t>
            </a:r>
            <a:endParaRPr lang="en-US" altLang="zh-CN"/>
          </a:p>
          <a:p>
            <a:pPr eaLnBrk="1" hangingPunct="1"/>
            <a:r>
              <a:rPr lang="zh-CN" altLang="en-US"/>
              <a:t>是的话</a:t>
            </a:r>
            <a:r>
              <a:rPr lang="en-US" altLang="zh-CN"/>
              <a:t>,</a:t>
            </a:r>
            <a:r>
              <a:rPr lang="zh-CN" altLang="en-US"/>
              <a:t>如何排序</a:t>
            </a:r>
            <a:r>
              <a:rPr lang="en-US" altLang="zh-CN"/>
              <a:t>?</a:t>
            </a:r>
            <a:endParaRPr lang="en-US" altLang="zh-CN"/>
          </a:p>
        </p:txBody>
      </p:sp>
      <p:grpSp>
        <p:nvGrpSpPr>
          <p:cNvPr id="45061" name="组合 12"/>
          <p:cNvGrpSpPr/>
          <p:nvPr/>
        </p:nvGrpSpPr>
        <p:grpSpPr bwMode="auto">
          <a:xfrm>
            <a:off x="1835785" y="2211705"/>
            <a:ext cx="6153150" cy="2495266"/>
            <a:chOff x="1304351" y="3096505"/>
            <a:chExt cx="8337550" cy="3678102"/>
          </a:xfrm>
        </p:grpSpPr>
        <p:pic>
          <p:nvPicPr>
            <p:cNvPr id="45063" name="Picture 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4351" y="3096505"/>
              <a:ext cx="8337550" cy="3416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064" name="Rectangle 5"/>
            <p:cNvSpPr>
              <a:spLocks noChangeArrowheads="1"/>
            </p:cNvSpPr>
            <p:nvPr/>
          </p:nvSpPr>
          <p:spPr bwMode="auto">
            <a:xfrm>
              <a:off x="2952750" y="6096000"/>
              <a:ext cx="365125" cy="678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CC0000"/>
                  </a:solidFill>
                  <a:latin typeface="Times New Roman" panose="02020603050405020304" charset="0"/>
                </a:rPr>
                <a:t>1</a:t>
              </a:r>
              <a:endParaRPr lang="en-US" altLang="zh-CN" sz="2400">
                <a:solidFill>
                  <a:srgbClr val="CC0000"/>
                </a:solidFill>
                <a:latin typeface="Times New Roman" panose="02020603050405020304" charset="0"/>
              </a:endParaRPr>
            </a:p>
          </p:txBody>
        </p:sp>
        <p:sp>
          <p:nvSpPr>
            <p:cNvPr id="45065" name="Rectangle 6"/>
            <p:cNvSpPr>
              <a:spLocks noChangeArrowheads="1"/>
            </p:cNvSpPr>
            <p:nvPr/>
          </p:nvSpPr>
          <p:spPr bwMode="auto">
            <a:xfrm>
              <a:off x="2952750" y="5181600"/>
              <a:ext cx="365125" cy="678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CC0000"/>
                  </a:solidFill>
                  <a:latin typeface="Times New Roman" panose="02020603050405020304" charset="0"/>
                </a:rPr>
                <a:t>2</a:t>
              </a:r>
              <a:endParaRPr lang="en-US" altLang="zh-CN" sz="2400">
                <a:solidFill>
                  <a:srgbClr val="CC0000"/>
                </a:solidFill>
                <a:latin typeface="Times New Roman" panose="02020603050405020304" charset="0"/>
              </a:endParaRPr>
            </a:p>
          </p:txBody>
        </p:sp>
        <p:sp>
          <p:nvSpPr>
            <p:cNvPr id="45066" name="Rectangle 7"/>
            <p:cNvSpPr>
              <a:spLocks noChangeArrowheads="1"/>
            </p:cNvSpPr>
            <p:nvPr/>
          </p:nvSpPr>
          <p:spPr bwMode="auto">
            <a:xfrm>
              <a:off x="4953000" y="3429000"/>
              <a:ext cx="365125" cy="678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CC0000"/>
                  </a:solidFill>
                  <a:latin typeface="Times New Roman" panose="02020603050405020304" charset="0"/>
                </a:rPr>
                <a:t>5</a:t>
              </a:r>
              <a:endParaRPr lang="en-US" altLang="zh-CN" sz="2400">
                <a:solidFill>
                  <a:srgbClr val="CC0000"/>
                </a:solidFill>
                <a:latin typeface="Times New Roman" panose="02020603050405020304" charset="0"/>
              </a:endParaRPr>
            </a:p>
          </p:txBody>
        </p:sp>
        <p:sp>
          <p:nvSpPr>
            <p:cNvPr id="45067" name="Rectangle 8"/>
            <p:cNvSpPr>
              <a:spLocks noChangeArrowheads="1"/>
            </p:cNvSpPr>
            <p:nvPr/>
          </p:nvSpPr>
          <p:spPr bwMode="auto">
            <a:xfrm>
              <a:off x="3714750" y="4114800"/>
              <a:ext cx="365125" cy="678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CC0000"/>
                  </a:solidFill>
                  <a:latin typeface="Times New Roman" panose="02020603050405020304" charset="0"/>
                </a:rPr>
                <a:t>4</a:t>
              </a:r>
              <a:endParaRPr lang="en-US" altLang="zh-CN" sz="2400">
                <a:solidFill>
                  <a:srgbClr val="CC0000"/>
                </a:solidFill>
                <a:latin typeface="Times New Roman" panose="02020603050405020304" charset="0"/>
              </a:endParaRPr>
            </a:p>
          </p:txBody>
        </p:sp>
        <p:sp>
          <p:nvSpPr>
            <p:cNvPr id="45068" name="Rectangle 9"/>
            <p:cNvSpPr>
              <a:spLocks noChangeArrowheads="1"/>
            </p:cNvSpPr>
            <p:nvPr/>
          </p:nvSpPr>
          <p:spPr bwMode="auto">
            <a:xfrm>
              <a:off x="2870200" y="3657600"/>
              <a:ext cx="365125" cy="678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CC0000"/>
                  </a:solidFill>
                  <a:latin typeface="Times New Roman" panose="02020603050405020304" charset="0"/>
                </a:rPr>
                <a:t>3</a:t>
              </a:r>
              <a:endParaRPr lang="en-US" altLang="zh-CN" sz="2400">
                <a:solidFill>
                  <a:srgbClr val="CC0000"/>
                </a:solidFill>
                <a:latin typeface="Times New Roman" panose="02020603050405020304" charset="0"/>
              </a:endParaRPr>
            </a:p>
          </p:txBody>
        </p:sp>
        <p:sp>
          <p:nvSpPr>
            <p:cNvPr id="45069" name="Rectangle 10"/>
            <p:cNvSpPr>
              <a:spLocks noChangeArrowheads="1"/>
            </p:cNvSpPr>
            <p:nvPr/>
          </p:nvSpPr>
          <p:spPr bwMode="auto">
            <a:xfrm>
              <a:off x="6172200" y="4724400"/>
              <a:ext cx="365125" cy="678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CC0000"/>
                  </a:solidFill>
                  <a:latin typeface="Times New Roman" panose="02020603050405020304" charset="0"/>
                </a:rPr>
                <a:t>6</a:t>
              </a:r>
              <a:endParaRPr lang="en-US" altLang="zh-CN" sz="2400">
                <a:solidFill>
                  <a:srgbClr val="CC0000"/>
                </a:solidFill>
                <a:latin typeface="Times New Roman" panose="02020603050405020304" charset="0"/>
              </a:endParaRPr>
            </a:p>
          </p:txBody>
        </p:sp>
        <p:sp>
          <p:nvSpPr>
            <p:cNvPr id="45070" name="Rectangle 11"/>
            <p:cNvSpPr>
              <a:spLocks noChangeArrowheads="1"/>
            </p:cNvSpPr>
            <p:nvPr/>
          </p:nvSpPr>
          <p:spPr bwMode="auto">
            <a:xfrm>
              <a:off x="6832600" y="3429000"/>
              <a:ext cx="365125" cy="678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CC0000"/>
                  </a:solidFill>
                  <a:latin typeface="Times New Roman" panose="02020603050405020304" charset="0"/>
                </a:rPr>
                <a:t>7</a:t>
              </a:r>
              <a:endParaRPr lang="en-US" altLang="zh-CN" sz="2400">
                <a:solidFill>
                  <a:srgbClr val="CC0000"/>
                </a:solidFill>
                <a:latin typeface="Times New Roman" panose="02020603050405020304" charset="0"/>
              </a:endParaRPr>
            </a:p>
          </p:txBody>
        </p:sp>
      </p:grpSp>
    </p:spTree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48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画家算法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44036" name="Rectangle 3"/>
          <p:cNvSpPr>
            <a:spLocks noGrp="1" noChangeArrowheads="1"/>
          </p:cNvSpPr>
          <p:nvPr/>
        </p:nvSpPr>
        <p:spPr>
          <a:xfrm>
            <a:off x="323850" y="700405"/>
            <a:ext cx="8152130" cy="36918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9pPr>
          </a:lstStyle>
          <a:p>
            <a:pPr eaLnBrk="1" hangingPunct="1"/>
            <a:r>
              <a:rPr lang="zh-CN" altLang="en-US"/>
              <a:t>下列情况无法正确排序：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		多边形循环遮挡   多边形相互穿透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 </a:t>
            </a:r>
            <a:endParaRPr lang="zh-CN" altLang="en-US"/>
          </a:p>
          <a:p>
            <a:pPr eaLnBrk="1" hangingPunct="1">
              <a:buFontTx/>
              <a:buNone/>
            </a:pPr>
            <a:endParaRPr lang="zh-CN" altLang="en-US"/>
          </a:p>
          <a:p>
            <a:pPr eaLnBrk="1" hangingPunct="1">
              <a:buFontTx/>
              <a:buNone/>
            </a:pPr>
            <a:endParaRPr lang="zh-CN" altLang="en-US"/>
          </a:p>
          <a:p>
            <a:pPr eaLnBrk="1" hangingPunct="1">
              <a:buFontTx/>
              <a:buNone/>
            </a:pP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解决办法：分割成两个</a:t>
            </a:r>
            <a:endParaRPr lang="zh-CN" altLang="en-US"/>
          </a:p>
        </p:txBody>
      </p:sp>
      <p:pic>
        <p:nvPicPr>
          <p:cNvPr id="46085" name="Picture 4" descr="12P10"/>
          <p:cNvPicPr>
            <a:picLocks noChangeAspect="1" noChangeArrowheads="1"/>
          </p:cNvPicPr>
          <p:nvPr/>
        </p:nvPicPr>
        <p:blipFill>
          <a:blip r:embed="rId3">
            <a:lum contras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893888"/>
            <a:ext cx="3116263" cy="2333625"/>
          </a:xfrm>
          <a:prstGeom prst="rect">
            <a:avLst/>
          </a:prstGeom>
          <a:noFill/>
          <a:ln w="12700" algn="ctr">
            <a:solidFill>
              <a:srgbClr val="33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086" name="Picture 5" descr="12P11"/>
          <p:cNvPicPr>
            <a:picLocks noChangeAspect="1" noChangeArrowheads="1"/>
          </p:cNvPicPr>
          <p:nvPr/>
        </p:nvPicPr>
        <p:blipFill>
          <a:blip r:embed="rId4">
            <a:lum contras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450" y="1882775"/>
            <a:ext cx="3714750" cy="2360613"/>
          </a:xfrm>
          <a:prstGeom prst="rect">
            <a:avLst/>
          </a:prstGeom>
          <a:noFill/>
          <a:ln w="12700" algn="ctr">
            <a:solidFill>
              <a:srgbClr val="33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40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——画家算法（列表优先算法）</a:t>
            </a:r>
            <a:endParaRPr lang="en-US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48132" name="Rectangle 3"/>
          <p:cNvSpPr>
            <a:spLocks noGrp="1" noChangeArrowheads="1"/>
          </p:cNvSpPr>
          <p:nvPr/>
        </p:nvSpPr>
        <p:spPr>
          <a:xfrm>
            <a:off x="323215" y="700405"/>
            <a:ext cx="8517255" cy="31248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一种针对多边形的排序算法如下：</a:t>
            </a:r>
            <a:endParaRPr lang="en-US" altLang="zh-CN" sz="2000">
              <a:solidFill>
                <a:srgbClr val="000000"/>
              </a:solidFill>
              <a:uFillTx/>
              <a:latin typeface="Times New Roman" panose="0202060305040502030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Step 1:</a:t>
            </a:r>
            <a:r>
              <a:rPr lang="zh-CN" altLang="en-US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根据多边形顶点的最小</a:t>
            </a:r>
            <a:r>
              <a:rPr lang="en-US" altLang="zh-CN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Z</a:t>
            </a:r>
            <a:r>
              <a:rPr lang="zh-CN" altLang="en-US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排序，</a:t>
            </a:r>
            <a:r>
              <a:rPr lang="zh-CN" altLang="en-US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形成一个线性表，记为</a:t>
            </a:r>
            <a:r>
              <a:rPr lang="en-US" altLang="zh-CN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L</a:t>
            </a:r>
            <a:r>
              <a:rPr lang="zh-CN" altLang="en-US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；</a:t>
            </a:r>
            <a:endParaRPr lang="zh-CN" altLang="en-US" sz="2000">
              <a:solidFill>
                <a:srgbClr val="000000"/>
              </a:solidFill>
              <a:uFillTx/>
              <a:latin typeface="Times New Roman" panose="02020603050405020304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Step 2: </a:t>
            </a:r>
            <a:r>
              <a:rPr lang="zh-CN" altLang="en-US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如果</a:t>
            </a:r>
            <a:r>
              <a:rPr lang="en-US" altLang="zh-CN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L</a:t>
            </a:r>
            <a:r>
              <a:rPr lang="zh-CN" altLang="en-US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中仅有一个多边形，算法结束；否则根据多边形的</a:t>
            </a:r>
            <a:r>
              <a:rPr lang="en-US" altLang="zh-CN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Zmin</a:t>
            </a:r>
            <a:r>
              <a:rPr lang="zh-CN" altLang="en-US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对它们预排序。假定多边形</a:t>
            </a:r>
            <a:r>
              <a:rPr lang="en-US" altLang="zh-CN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P</a:t>
            </a:r>
            <a:r>
              <a:rPr lang="zh-CN" altLang="en-US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落在表首，即</a:t>
            </a:r>
            <a:r>
              <a:rPr lang="en-US" altLang="zh-CN" sz="2000">
                <a:solidFill>
                  <a:srgbClr val="FF0000"/>
                </a:solidFill>
                <a:uFillTx/>
                <a:latin typeface="Times New Roman" panose="02020603050405020304" charset="0"/>
              </a:rPr>
              <a:t>Zmin(P)</a:t>
            </a:r>
            <a:r>
              <a:rPr lang="zh-CN" altLang="en-US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为最小。再记</a:t>
            </a:r>
            <a:r>
              <a:rPr lang="en-US" altLang="zh-CN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Q</a:t>
            </a:r>
            <a:r>
              <a:rPr lang="zh-CN" altLang="en-US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为</a:t>
            </a:r>
            <a:r>
              <a:rPr lang="en-US" altLang="zh-CN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L – {P}(</a:t>
            </a:r>
            <a:r>
              <a:rPr lang="zh-CN" altLang="en-US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表中其余多边形）中任意一个；</a:t>
            </a:r>
            <a:endParaRPr lang="zh-CN" altLang="en-US" sz="2000">
              <a:solidFill>
                <a:srgbClr val="000000"/>
              </a:solidFill>
              <a:uFillTx/>
              <a:latin typeface="Times New Roman" panose="02020603050405020304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Step 3: </a:t>
            </a:r>
            <a:r>
              <a:rPr lang="zh-CN" altLang="en-US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判别</a:t>
            </a:r>
            <a:r>
              <a:rPr lang="en-US" altLang="zh-CN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P, Q</a:t>
            </a:r>
            <a:r>
              <a:rPr lang="zh-CN" altLang="en-US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之间的关系，有如下二种：</a:t>
            </a:r>
            <a:endParaRPr lang="zh-CN" altLang="en-US" sz="2000">
              <a:solidFill>
                <a:srgbClr val="000000"/>
              </a:solidFill>
              <a:uFillTx/>
              <a:latin typeface="Times New Roman" panose="02020603050405020304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(1)</a:t>
            </a:r>
            <a:r>
              <a:rPr lang="en-US" altLang="zh-CN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: </a:t>
            </a:r>
            <a:r>
              <a:rPr lang="zh-CN" altLang="en-US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对</a:t>
            </a:r>
            <a:r>
              <a:rPr lang="zh-CN" altLang="en-US" sz="2000">
                <a:solidFill>
                  <a:srgbClr val="FF0000"/>
                </a:solidFill>
                <a:uFillTx/>
                <a:latin typeface="Times New Roman" panose="02020603050405020304" charset="0"/>
              </a:rPr>
              <a:t>所有</a:t>
            </a:r>
            <a:r>
              <a:rPr lang="zh-CN" altLang="en-US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的</a:t>
            </a:r>
            <a:r>
              <a:rPr lang="en-US" altLang="zh-CN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Q</a:t>
            </a:r>
            <a:r>
              <a:rPr lang="zh-CN" altLang="en-US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，有</a:t>
            </a:r>
            <a:r>
              <a:rPr lang="en-US" altLang="zh-CN" sz="2000">
                <a:solidFill>
                  <a:srgbClr val="FF0000"/>
                </a:solidFill>
                <a:uFillTx/>
                <a:latin typeface="Times New Roman" panose="02020603050405020304" charset="0"/>
              </a:rPr>
              <a:t>Zmax(P)&lt; Zmin (Q)</a:t>
            </a:r>
            <a:r>
              <a:rPr lang="en-US" altLang="zh-CN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, </a:t>
            </a:r>
            <a:r>
              <a:rPr lang="zh-CN" altLang="en-US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则多边形</a:t>
            </a:r>
            <a:r>
              <a:rPr lang="en-US" altLang="zh-CN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P</a:t>
            </a:r>
            <a:r>
              <a:rPr lang="zh-CN" altLang="en-US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的确距观察点最远，它不可能遮挡别的多边形。令</a:t>
            </a:r>
            <a:r>
              <a:rPr lang="en-US" altLang="zh-CN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L = L – {P}, </a:t>
            </a:r>
            <a:r>
              <a:rPr lang="zh-CN" altLang="en-US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返回第二步</a:t>
            </a:r>
            <a:r>
              <a:rPr lang="en-US" altLang="zh-CN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;</a:t>
            </a:r>
            <a:endParaRPr lang="en-US" altLang="zh-CN" sz="2000">
              <a:solidFill>
                <a:srgbClr val="000000"/>
              </a:solidFill>
              <a:uFillTx/>
              <a:latin typeface="Times New Roman" panose="02020603050405020304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(2)</a:t>
            </a:r>
            <a:r>
              <a:rPr lang="en-US" altLang="zh-CN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:  </a:t>
            </a:r>
            <a:r>
              <a:rPr lang="zh-CN" altLang="en-US" sz="2000">
                <a:solidFill>
                  <a:srgbClr val="FF0000"/>
                </a:solidFill>
                <a:uFillTx/>
                <a:latin typeface="Times New Roman" panose="02020603050405020304" charset="0"/>
              </a:rPr>
              <a:t>存在</a:t>
            </a:r>
            <a:r>
              <a:rPr lang="zh-CN" altLang="en-US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某一个多边形</a:t>
            </a:r>
            <a:r>
              <a:rPr lang="en-US" altLang="zh-CN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Q</a:t>
            </a:r>
            <a:r>
              <a:rPr lang="zh-CN" altLang="en-US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，使</a:t>
            </a:r>
            <a:r>
              <a:rPr lang="en-US" altLang="zh-CN" sz="2000">
                <a:solidFill>
                  <a:srgbClr val="FF0000"/>
                </a:solidFill>
                <a:uFillTx/>
                <a:latin typeface="Times New Roman" panose="02020603050405020304" charset="0"/>
              </a:rPr>
              <a:t>Zmax(P) &gt; Zmin (Q)</a:t>
            </a:r>
            <a:r>
              <a:rPr lang="en-US" altLang="zh-CN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,</a:t>
            </a:r>
            <a:r>
              <a:rPr lang="zh-CN" altLang="en-US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需进一步判别： </a:t>
            </a:r>
            <a:endParaRPr lang="zh-CN" altLang="en-US" sz="2000">
              <a:solidFill>
                <a:srgbClr val="000000"/>
              </a:solidFill>
              <a:uFillTx/>
              <a:latin typeface="Times New Roman" panose="02020603050405020304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uFillTx/>
                <a:latin typeface="Times New Roman" panose="02020603050405020304" charset="0"/>
              </a:rPr>
              <a:t>     </a:t>
            </a:r>
            <a:endParaRPr lang="zh-CN" altLang="en-US" sz="2000">
              <a:solidFill>
                <a:srgbClr val="000000"/>
              </a:solidFill>
              <a:uFillTx/>
              <a:latin typeface="Times New Roman" panose="02020603050405020304" charset="0"/>
            </a:endParaRPr>
          </a:p>
        </p:txBody>
      </p:sp>
      <p:pic>
        <p:nvPicPr>
          <p:cNvPr id="4813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7370" y="3429000"/>
            <a:ext cx="2216785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 advClick="0">
    <p:pull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——画家算法（列表优先算法）</a:t>
            </a:r>
            <a:endParaRPr lang="en-US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49156" name="Rectangle 3"/>
          <p:cNvSpPr>
            <a:spLocks noGrp="1" noChangeArrowheads="1"/>
          </p:cNvSpPr>
          <p:nvPr/>
        </p:nvSpPr>
        <p:spPr>
          <a:xfrm>
            <a:off x="323215" y="700405"/>
            <a:ext cx="8651240" cy="21463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A</a:t>
            </a: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）若</a:t>
            </a:r>
            <a:r>
              <a:rPr lang="en-US" altLang="zh-CN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P,Q</a:t>
            </a: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在</a:t>
            </a:r>
            <a:r>
              <a:rPr lang="en-US" altLang="zh-CN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xy</a:t>
            </a: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平面的投影</a:t>
            </a:r>
            <a:r>
              <a:rPr lang="en-US" altLang="zh-CN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P’,Q’</a:t>
            </a: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的包围盒在</a:t>
            </a:r>
            <a:r>
              <a:rPr lang="en-US" altLang="zh-CN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x</a:t>
            </a: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或</a:t>
            </a:r>
            <a:r>
              <a:rPr lang="en-US" altLang="zh-CN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y</a:t>
            </a: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方向不相交，则</a:t>
            </a:r>
            <a:r>
              <a:rPr lang="en-US" altLang="zh-CN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P,Q</a:t>
            </a: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在表中的次序不重要，令</a:t>
            </a:r>
            <a:r>
              <a:rPr lang="en-US" altLang="zh-CN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L = L – {P}, </a:t>
            </a: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返回</a:t>
            </a:r>
            <a:r>
              <a:rPr lang="en-US" altLang="zh-CN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step 2;</a:t>
            </a: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否则进行下一步。</a:t>
            </a:r>
            <a:endParaRPr lang="zh-CN" altLang="en-US" sz="2400">
              <a:solidFill>
                <a:srgbClr val="000000"/>
              </a:solidFill>
              <a:uFillTx/>
              <a:latin typeface="Times New Roman" panose="02020603050405020304" charset="0"/>
            </a:endParaRPr>
          </a:p>
          <a:p>
            <a:pPr eaLnBrk="1" hangingPunct="1"/>
            <a:endParaRPr lang="zh-CN" altLang="en-US" sz="2400">
              <a:solidFill>
                <a:srgbClr val="000000"/>
              </a:solidFill>
              <a:uFillTx/>
              <a:latin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930" y="2211705"/>
            <a:ext cx="4876800" cy="2000250"/>
          </a:xfrm>
          <a:prstGeom prst="rect">
            <a:avLst/>
          </a:prstGeom>
        </p:spPr>
      </p:pic>
    </p:spTree>
  </p:cSld>
  <p:clrMapOvr>
    <a:masterClrMapping/>
  </p:clrMapOvr>
  <p:transition spd="med" advClick="0">
    <p:pull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——画家算法（列表优先算法）</a:t>
            </a:r>
            <a:endParaRPr lang="en-US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50180" name="Rectangle 3"/>
          <p:cNvSpPr>
            <a:spLocks noGrp="1" noChangeArrowheads="1"/>
          </p:cNvSpPr>
          <p:nvPr/>
        </p:nvSpPr>
        <p:spPr>
          <a:xfrm>
            <a:off x="539750" y="771525"/>
            <a:ext cx="8356600" cy="293941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800"/>
              <a:t>B</a:t>
            </a:r>
            <a:r>
              <a:rPr lang="zh-CN" altLang="en-US" sz="2800"/>
              <a:t>）若</a:t>
            </a:r>
            <a:r>
              <a:rPr lang="en-US" altLang="zh-CN" sz="2800"/>
              <a:t>P</a:t>
            </a:r>
            <a:r>
              <a:rPr lang="zh-CN" altLang="en-US" sz="2800"/>
              <a:t>的所有顶点位于</a:t>
            </a:r>
            <a:r>
              <a:rPr lang="en-US" altLang="zh-CN" sz="2800"/>
              <a:t>Q</a:t>
            </a:r>
            <a:r>
              <a:rPr lang="zh-CN" altLang="en-US" sz="2800"/>
              <a:t>所在平面的不可见的一侧</a:t>
            </a:r>
            <a:r>
              <a:rPr lang="en-US" altLang="zh-CN" sz="2800"/>
              <a:t>(</a:t>
            </a:r>
            <a:r>
              <a:rPr lang="zh-CN" altLang="en-US" sz="2800"/>
              <a:t>图</a:t>
            </a:r>
            <a:r>
              <a:rPr lang="en-US" altLang="zh-CN" sz="2800"/>
              <a:t>b)</a:t>
            </a:r>
            <a:r>
              <a:rPr lang="zh-CN" altLang="en-US" sz="2800"/>
              <a:t>，则</a:t>
            </a:r>
            <a:r>
              <a:rPr lang="en-US" altLang="zh-CN" sz="2800"/>
              <a:t>P,Q</a:t>
            </a:r>
            <a:r>
              <a:rPr lang="zh-CN" altLang="en-US" sz="2800"/>
              <a:t>关系正确，令</a:t>
            </a:r>
            <a:r>
              <a:rPr lang="en-US" altLang="zh-CN" sz="2800"/>
              <a:t>L = L </a:t>
            </a:r>
            <a:r>
              <a:rPr lang="en-US" altLang="zh-CN" sz="2800">
                <a:latin typeface="Arial" panose="020B0604020202020204" pitchFamily="34" charset="0"/>
              </a:rPr>
              <a:t>–</a:t>
            </a:r>
            <a:r>
              <a:rPr lang="en-US" altLang="zh-CN" sz="2800"/>
              <a:t> {P}, </a:t>
            </a:r>
            <a:r>
              <a:rPr lang="zh-CN" altLang="en-US" sz="2800"/>
              <a:t>返回</a:t>
            </a:r>
            <a:r>
              <a:rPr lang="en-US" altLang="zh-CN" sz="2800"/>
              <a:t>step 2;</a:t>
            </a:r>
            <a:r>
              <a:rPr lang="zh-CN" altLang="en-US" sz="2800"/>
              <a:t>否则进行下一步。</a:t>
            </a:r>
            <a:endParaRPr lang="zh-CN" altLang="en-US" sz="2800"/>
          </a:p>
          <a:p>
            <a:pPr eaLnBrk="1" hangingPunct="1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20" y="2499360"/>
            <a:ext cx="2190750" cy="1847850"/>
          </a:xfrm>
          <a:prstGeom prst="rect">
            <a:avLst/>
          </a:prstGeom>
        </p:spPr>
      </p:pic>
    </p:spTree>
  </p:cSld>
  <p:clrMapOvr>
    <a:masterClrMapping/>
  </p:clrMapOvr>
  <p:transition spd="med" advClick="0">
    <p:pull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——画家算法（列表优先算法）</a:t>
            </a:r>
            <a:endParaRPr lang="en-US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51204" name="Rectangle 3"/>
          <p:cNvSpPr>
            <a:spLocks noGrp="1" noChangeArrowheads="1"/>
          </p:cNvSpPr>
          <p:nvPr/>
        </p:nvSpPr>
        <p:spPr>
          <a:xfrm>
            <a:off x="323850" y="700405"/>
            <a:ext cx="8322945" cy="19278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800"/>
              <a:t>C</a:t>
            </a:r>
            <a:r>
              <a:rPr lang="zh-CN" altLang="en-US" sz="2800"/>
              <a:t>）若</a:t>
            </a:r>
            <a:r>
              <a:rPr lang="en-US" altLang="zh-CN" sz="2800"/>
              <a:t>Q</a:t>
            </a:r>
            <a:r>
              <a:rPr lang="zh-CN" altLang="en-US" sz="2800"/>
              <a:t>的所有顶点位于</a:t>
            </a:r>
            <a:r>
              <a:rPr lang="en-US" altLang="zh-CN" sz="2800"/>
              <a:t>P</a:t>
            </a:r>
            <a:r>
              <a:rPr lang="zh-CN" altLang="en-US" sz="2800"/>
              <a:t>所在平面的可见的一侧</a:t>
            </a:r>
            <a:r>
              <a:rPr lang="en-US" altLang="zh-CN" sz="2800"/>
              <a:t>(</a:t>
            </a:r>
            <a:r>
              <a:rPr lang="zh-CN" altLang="en-US" sz="2800"/>
              <a:t>图</a:t>
            </a:r>
            <a:r>
              <a:rPr lang="en-US" altLang="zh-CN" sz="2800"/>
              <a:t>c)</a:t>
            </a:r>
            <a:r>
              <a:rPr lang="zh-CN" altLang="en-US" sz="2800"/>
              <a:t>，则</a:t>
            </a:r>
            <a:r>
              <a:rPr lang="en-US" altLang="zh-CN" sz="2800"/>
              <a:t>P,Q</a:t>
            </a:r>
            <a:r>
              <a:rPr lang="zh-CN" altLang="en-US" sz="2800"/>
              <a:t>关系正确，令</a:t>
            </a:r>
            <a:r>
              <a:rPr lang="en-US" altLang="zh-CN" sz="2800"/>
              <a:t>L = L </a:t>
            </a:r>
            <a:r>
              <a:rPr lang="en-US" altLang="zh-CN" sz="2800">
                <a:latin typeface="Arial" panose="020B0604020202020204" pitchFamily="34" charset="0"/>
              </a:rPr>
              <a:t>–</a:t>
            </a:r>
            <a:r>
              <a:rPr lang="en-US" altLang="zh-CN" sz="2800"/>
              <a:t> {P}, </a:t>
            </a:r>
            <a:r>
              <a:rPr lang="zh-CN" altLang="en-US" sz="2800"/>
              <a:t>返回</a:t>
            </a:r>
            <a:r>
              <a:rPr lang="en-US" altLang="zh-CN" sz="2800"/>
              <a:t>step 2;</a:t>
            </a:r>
            <a:r>
              <a:rPr lang="zh-CN" altLang="en-US" sz="2800"/>
              <a:t>否则进行下一步。</a:t>
            </a:r>
            <a:endParaRPr lang="zh-CN" altLang="en-US" sz="2800"/>
          </a:p>
          <a:p>
            <a:pPr eaLnBrk="1" hangingPunct="1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620" y="2355215"/>
            <a:ext cx="2152650" cy="1885950"/>
          </a:xfrm>
          <a:prstGeom prst="rect">
            <a:avLst/>
          </a:prstGeom>
        </p:spPr>
      </p:pic>
    </p:spTree>
  </p:cSld>
  <p:clrMapOvr>
    <a:masterClrMapping/>
  </p:clrMapOvr>
  <p:transition spd="med" advClick="0">
    <p:pull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——画家算法（列表优先算法）</a:t>
            </a:r>
            <a:endParaRPr lang="en-US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52228" name="Rectangle 3"/>
          <p:cNvSpPr>
            <a:spLocks noGrp="1" noChangeArrowheads="1"/>
          </p:cNvSpPr>
          <p:nvPr/>
        </p:nvSpPr>
        <p:spPr>
          <a:xfrm>
            <a:off x="539750" y="700405"/>
            <a:ext cx="7832725" cy="21786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800">
                <a:solidFill>
                  <a:srgbClr val="000000"/>
                </a:solidFill>
                <a:uFillTx/>
                <a:latin typeface="Times New Roman" panose="02020603050405020304" charset="0"/>
              </a:rPr>
              <a:t>D</a:t>
            </a:r>
            <a:r>
              <a:rPr lang="zh-CN" altLang="en-US" sz="2800">
                <a:solidFill>
                  <a:srgbClr val="000000"/>
                </a:solidFill>
                <a:uFillTx/>
                <a:latin typeface="Times New Roman" panose="02020603050405020304" charset="0"/>
              </a:rPr>
              <a:t>）</a:t>
            </a: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对</a:t>
            </a:r>
            <a:r>
              <a:rPr lang="en-US" altLang="zh-CN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P,Q</a:t>
            </a: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投影</a:t>
            </a:r>
            <a:r>
              <a:rPr lang="en-US" altLang="zh-CN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P’,Q’</a:t>
            </a: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求交，若</a:t>
            </a:r>
            <a:r>
              <a:rPr lang="en-US" altLang="zh-CN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P’,Q’</a:t>
            </a: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不相交</a:t>
            </a:r>
            <a:r>
              <a:rPr lang="en-US" altLang="zh-CN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(</a:t>
            </a: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图左</a:t>
            </a:r>
            <a:r>
              <a:rPr lang="en-US" altLang="zh-CN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)</a:t>
            </a: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，则</a:t>
            </a:r>
            <a:r>
              <a:rPr lang="en-US" altLang="zh-CN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P,Q</a:t>
            </a: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在表中的次序不重要，令</a:t>
            </a:r>
            <a:r>
              <a:rPr lang="en-US" altLang="zh-CN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L = L – {P}, </a:t>
            </a: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返回</a:t>
            </a:r>
            <a:r>
              <a:rPr lang="en-US" altLang="zh-CN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step 2;</a:t>
            </a: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否则在它们所相交的区域中任取一点，计算</a:t>
            </a:r>
            <a:r>
              <a:rPr lang="en-US" altLang="zh-CN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P,Q</a:t>
            </a: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在该点的深度值，如果</a:t>
            </a:r>
            <a:r>
              <a:rPr lang="en-US" altLang="zh-CN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P</a:t>
            </a: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的深度小，则</a:t>
            </a:r>
            <a:r>
              <a:rPr lang="en-US" altLang="zh-CN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P,Q</a:t>
            </a: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关系正确，令</a:t>
            </a:r>
            <a:r>
              <a:rPr lang="en-US" altLang="zh-CN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L = L – {P}, </a:t>
            </a: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返回</a:t>
            </a:r>
            <a:r>
              <a:rPr lang="en-US" altLang="zh-CN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step 2;</a:t>
            </a: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否则交换</a:t>
            </a:r>
            <a:r>
              <a:rPr lang="en-US" altLang="zh-CN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P,Q,</a:t>
            </a: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返回</a:t>
            </a:r>
            <a:r>
              <a:rPr lang="en-US" altLang="zh-CN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step 3.</a:t>
            </a:r>
            <a:endParaRPr lang="en-US" altLang="zh-CN" sz="2400">
              <a:solidFill>
                <a:srgbClr val="000000"/>
              </a:solidFill>
              <a:uFillTx/>
              <a:latin typeface="Times New Roman" panose="02020603050405020304" charset="0"/>
            </a:endParaRPr>
          </a:p>
          <a:p>
            <a:pPr eaLnBrk="1" hangingPunct="1"/>
            <a:endParaRPr lang="en-US" altLang="zh-CN" sz="2400">
              <a:solidFill>
                <a:srgbClr val="000000"/>
              </a:solidFill>
              <a:uFillTx/>
              <a:latin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260" y="2859405"/>
            <a:ext cx="2471420" cy="18808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8465" y="2715260"/>
            <a:ext cx="2124075" cy="2028825"/>
          </a:xfrm>
          <a:prstGeom prst="rect">
            <a:avLst/>
          </a:prstGeom>
        </p:spPr>
      </p:pic>
    </p:spTree>
  </p:cSld>
  <p:clrMapOvr>
    <a:masterClrMapping/>
  </p:clrMapOvr>
  <p:transition spd="med" advClick="0">
    <p:pull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——包围盒技术</a:t>
            </a:r>
            <a:endParaRPr lang="en-US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53252" name="Rectangle 3"/>
          <p:cNvSpPr>
            <a:spLocks noGrp="1" noChangeArrowheads="1"/>
          </p:cNvSpPr>
          <p:nvPr/>
        </p:nvSpPr>
        <p:spPr>
          <a:xfrm>
            <a:off x="122555" y="601980"/>
            <a:ext cx="8633460" cy="23520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9pPr>
          </a:lstStyle>
          <a:p>
            <a:pPr lvl="1" eaLnBrk="1" hangingPunct="1"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应用</a:t>
            </a:r>
            <a:r>
              <a:rPr lang="en-US" altLang="zh-CN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—</a:t>
            </a: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避免盲目求交</a:t>
            </a:r>
            <a:endParaRPr lang="zh-CN" altLang="en-US" sz="2400">
              <a:solidFill>
                <a:srgbClr val="000000"/>
              </a:solidFill>
              <a:uFillTx/>
              <a:latin typeface="Times New Roman" panose="02020603050405020304" charset="0"/>
            </a:endParaRPr>
          </a:p>
          <a:p>
            <a:pPr lvl="1" eaLnBrk="1" hangingPunct="1"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例一：两个空间多边形</a:t>
            </a:r>
            <a:r>
              <a:rPr lang="en-US" altLang="zh-CN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A</a:t>
            </a: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、</a:t>
            </a:r>
            <a:r>
              <a:rPr lang="en-US" altLang="zh-CN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B</a:t>
            </a: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在投影平面上的投影分别为</a:t>
            </a:r>
            <a:r>
              <a:rPr lang="en-US" altLang="zh-CN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A’</a:t>
            </a: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，</a:t>
            </a:r>
            <a:r>
              <a:rPr lang="en-US" altLang="zh-CN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B’ </a:t>
            </a: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，因为</a:t>
            </a:r>
            <a:r>
              <a:rPr lang="en-US" altLang="zh-CN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A’ </a:t>
            </a: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、</a:t>
            </a:r>
            <a:r>
              <a:rPr lang="en-US" altLang="zh-CN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B’</a:t>
            </a: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的矩形包围盒不相交，则</a:t>
            </a:r>
            <a:r>
              <a:rPr lang="en-US" altLang="zh-CN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A’</a:t>
            </a: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、</a:t>
            </a:r>
            <a:r>
              <a:rPr lang="en-US" altLang="zh-CN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B’</a:t>
            </a: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不相交，无须进行遮挡测试。</a:t>
            </a:r>
            <a:endParaRPr lang="zh-CN" altLang="en-US" sz="2400">
              <a:solidFill>
                <a:srgbClr val="000000"/>
              </a:solidFill>
              <a:uFillTx/>
              <a:latin typeface="Times New Roman" panose="02020603050405020304" charset="0"/>
            </a:endParaRPr>
          </a:p>
          <a:p>
            <a:pPr lvl="1" eaLnBrk="1" hangingPunct="1"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例二：</a:t>
            </a:r>
            <a:r>
              <a:rPr lang="zh-CN" altLang="en-US" sz="2400">
                <a:uFillTx/>
                <a:latin typeface="Times New Roman" panose="02020603050405020304" charset="0"/>
                <a:sym typeface="+mn-ea"/>
              </a:rPr>
              <a:t>右下图</a:t>
            </a:r>
            <a:r>
              <a:rPr lang="zh-CN" altLang="en-US" sz="2400">
                <a:solidFill>
                  <a:srgbClr val="000000"/>
                </a:solidFill>
                <a:uFillTx/>
                <a:latin typeface="Times New Roman" panose="02020603050405020304" charset="0"/>
              </a:rPr>
              <a:t>包围盒相交，投影也相交；包围盒相交，投影不相交。</a:t>
            </a:r>
            <a:endParaRPr lang="zh-CN" altLang="en-US" sz="2400">
              <a:solidFill>
                <a:srgbClr val="000000"/>
              </a:solidFill>
              <a:uFillTx/>
              <a:latin typeface="Times New Roman" panose="02020603050405020304" charset="0"/>
            </a:endParaRPr>
          </a:p>
          <a:p>
            <a:pPr eaLnBrk="1" hangingPunct="1"/>
            <a:endParaRPr lang="zh-CN" altLang="en-US" sz="2400">
              <a:solidFill>
                <a:srgbClr val="000000"/>
              </a:solidFill>
              <a:uFillTx/>
              <a:latin typeface="Times New Roman" panose="02020603050405020304" charset="0"/>
            </a:endParaRPr>
          </a:p>
        </p:txBody>
      </p:sp>
      <p:pic>
        <p:nvPicPr>
          <p:cNvPr id="53253" name="Picture 4" descr="12P6"/>
          <p:cNvPicPr>
            <a:picLocks noChangeAspect="1" noChangeArrowheads="1"/>
          </p:cNvPicPr>
          <p:nvPr/>
        </p:nvPicPr>
        <p:blipFill>
          <a:blip r:embed="rId3">
            <a:lum contras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855" y="2955925"/>
            <a:ext cx="3291205" cy="1761490"/>
          </a:xfrm>
          <a:prstGeom prst="rect">
            <a:avLst/>
          </a:prstGeom>
          <a:noFill/>
          <a:ln w="12700" algn="ctr">
            <a:solidFill>
              <a:srgbClr val="33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4" name="Picture 5" descr="12P5"/>
          <p:cNvPicPr>
            <a:picLocks noChangeAspect="1" noChangeArrowheads="1"/>
          </p:cNvPicPr>
          <p:nvPr/>
        </p:nvPicPr>
        <p:blipFill>
          <a:blip r:embed="rId4">
            <a:lum contras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595" y="2955925"/>
            <a:ext cx="2644775" cy="1761490"/>
          </a:xfrm>
          <a:prstGeom prst="rect">
            <a:avLst/>
          </a:prstGeom>
          <a:noFill/>
          <a:ln w="12700" algn="ctr">
            <a:solidFill>
              <a:srgbClr val="33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 advClick="0">
    <p:pull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——画家算法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3" name="内容占位符 2"/>
          <p:cNvSpPr>
            <a:spLocks noGrp="1" noChangeArrowheads="1"/>
          </p:cNvSpPr>
          <p:nvPr/>
        </p:nvSpPr>
        <p:spPr>
          <a:xfrm>
            <a:off x="122555" y="771525"/>
            <a:ext cx="8348980" cy="30899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9pPr>
          </a:lstStyle>
          <a:p>
            <a:r>
              <a:rPr lang="zh-CN" altLang="en-US"/>
              <a:t>深度排序计算量大</a:t>
            </a:r>
            <a:endParaRPr lang="en-US" altLang="zh-CN"/>
          </a:p>
          <a:p>
            <a:r>
              <a:rPr lang="zh-CN" altLang="en-US"/>
              <a:t>遇到多边形相交，或多边形循环重叠的情形，还必须分割多边形</a:t>
            </a:r>
            <a:endParaRPr lang="en-US" altLang="zh-CN"/>
          </a:p>
          <a:p>
            <a:r>
              <a:rPr lang="zh-CN" altLang="en-US"/>
              <a:t>画家算法的这些缺陷导致了深度缓冲技术的发展</a:t>
            </a:r>
            <a:endParaRPr lang="zh-CN" altLang="en-US"/>
          </a:p>
        </p:txBody>
      </p:sp>
    </p:spTree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23267" y="893205"/>
            <a:ext cx="7924750" cy="3224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zh-CN" altLang="en-US" kern="0" dirty="0">
                <a:latin typeface="Arial" panose="020B0604020202020204" pitchFamily="34" charset="0"/>
              </a:rPr>
              <a:t>消隐问题分析</a:t>
            </a:r>
            <a:endParaRPr lang="zh-CN" altLang="en-US" kern="0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kern="0" dirty="0">
                <a:latin typeface="Arial" panose="020B0604020202020204" pitchFamily="34" charset="0"/>
              </a:rPr>
              <a:t>后向面消除</a:t>
            </a:r>
            <a:endParaRPr lang="zh-CN" altLang="en-US" kern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kern="0" dirty="0">
                <a:solidFill>
                  <a:schemeClr val="tx1"/>
                </a:solidFill>
                <a:latin typeface="Arial" panose="020B0604020202020204" pitchFamily="34" charset="0"/>
              </a:rPr>
              <a:t>Z-Buffer</a:t>
            </a:r>
            <a:r>
              <a:rPr lang="zh-CN" altLang="en-US" kern="0" dirty="0">
                <a:solidFill>
                  <a:schemeClr val="tx1"/>
                </a:solidFill>
                <a:latin typeface="Arial" panose="020B0604020202020204" pitchFamily="34" charset="0"/>
              </a:rPr>
              <a:t>算法</a:t>
            </a:r>
            <a:endParaRPr lang="zh-CN" altLang="en-US" kern="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kern="0" dirty="0">
                <a:solidFill>
                  <a:schemeClr val="tx1"/>
                </a:solidFill>
                <a:latin typeface="Arial" panose="020B0604020202020204" pitchFamily="34" charset="0"/>
              </a:rPr>
              <a:t>画家算法</a:t>
            </a:r>
            <a:endParaRPr lang="zh-CN" altLang="en-US" kern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kern="0" dirty="0">
                <a:solidFill>
                  <a:srgbClr val="FF0000"/>
                </a:solidFill>
                <a:latin typeface="Arial" panose="020B0604020202020204" pitchFamily="34" charset="0"/>
              </a:rPr>
              <a:t>光线跟踪算法</a:t>
            </a:r>
            <a:endParaRPr lang="zh-CN" altLang="en-US" kern="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 advClick="0">
    <p:pull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——光线跟踪算法</a:t>
            </a:r>
            <a:endParaRPr lang="en-US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60420" name="Rectangle 3"/>
          <p:cNvSpPr>
            <a:spLocks noGrp="1" noChangeArrowheads="1"/>
          </p:cNvSpPr>
          <p:nvPr/>
        </p:nvSpPr>
        <p:spPr>
          <a:xfrm>
            <a:off x="179070" y="627380"/>
            <a:ext cx="8651875" cy="3633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9pPr>
          </a:lstStyle>
          <a:p>
            <a:pPr algn="just" eaLnBrk="1" latinLnBrk="0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2400" b="1"/>
              <a:t>算法简单描述：</a:t>
            </a:r>
            <a:endParaRPr lang="zh-CN" altLang="en-US" sz="2400" b="1"/>
          </a:p>
          <a:p>
            <a:pPr algn="just" eaLnBrk="1" latinLnBrk="0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2400"/>
              <a:t>1. 通过视点和投影平面（显示屏幕）上的所有像素点作一入射线，形成</a:t>
            </a:r>
            <a:r>
              <a:rPr lang="zh-CN" altLang="en-US" sz="2400">
                <a:solidFill>
                  <a:srgbClr val="FF0000"/>
                </a:solidFill>
              </a:rPr>
              <a:t>投影线</a:t>
            </a:r>
            <a:r>
              <a:rPr lang="zh-CN" altLang="en-US" sz="2400"/>
              <a:t>。</a:t>
            </a:r>
            <a:endParaRPr lang="zh-CN" altLang="en-US" sz="2400"/>
          </a:p>
          <a:p>
            <a:pPr algn="just" eaLnBrk="1" latinLnBrk="0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2400"/>
              <a:t>2. 将任一投影线与场景中的所有多边形</a:t>
            </a:r>
            <a:r>
              <a:rPr lang="zh-CN" altLang="en-US" sz="2400">
                <a:solidFill>
                  <a:srgbClr val="FF0000"/>
                </a:solidFill>
              </a:rPr>
              <a:t>求交</a:t>
            </a:r>
            <a:r>
              <a:rPr lang="zh-CN" altLang="en-US" sz="2400"/>
              <a:t>。</a:t>
            </a:r>
            <a:endParaRPr lang="zh-CN" altLang="en-US" sz="2400"/>
          </a:p>
          <a:p>
            <a:pPr algn="just" eaLnBrk="1" latinLnBrk="0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2400"/>
              <a:t>3. 若有交点，则将所有交点按</a:t>
            </a:r>
            <a:r>
              <a:rPr lang="en-US" altLang="zh-CN" sz="2400"/>
              <a:t>z</a:t>
            </a:r>
            <a:r>
              <a:rPr lang="zh-CN" altLang="en-US" sz="2400"/>
              <a:t>值的大小进行排序，取出最近交点所属多边形的颜色；若没有交点，则取出背景的颜色。</a:t>
            </a:r>
            <a:endParaRPr lang="zh-CN" altLang="en-US" sz="2400"/>
          </a:p>
          <a:p>
            <a:pPr algn="just" eaLnBrk="1" latinLnBrk="0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2400"/>
              <a:t>4. 将该射线穿过的像素点置为取出的颜色。</a:t>
            </a:r>
            <a:endParaRPr lang="zh-CN" altLang="en-US" sz="2400"/>
          </a:p>
        </p:txBody>
      </p:sp>
      <p:graphicFrame>
        <p:nvGraphicFramePr>
          <p:cNvPr id="59396" name="Object 4"/>
          <p:cNvGraphicFramePr>
            <a:graphicFrameLocks noChangeAspect="1"/>
          </p:cNvGraphicFramePr>
          <p:nvPr/>
        </p:nvGraphicFramePr>
        <p:xfrm>
          <a:off x="6155690" y="3291840"/>
          <a:ext cx="2971800" cy="183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3" name="" r:id="rId3" imgW="2960370" imgH="1988820" progId="Visio.Drawing.11">
                  <p:embed/>
                </p:oleObj>
              </mc:Choice>
              <mc:Fallback>
                <p:oleObj name="" r:id="rId3" imgW="2960370" imgH="198882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5690" y="3291840"/>
                        <a:ext cx="2971800" cy="1838325"/>
                      </a:xfrm>
                      <a:prstGeom prst="rect">
                        <a:avLst/>
                      </a:prstGeom>
                      <a:solidFill>
                        <a:srgbClr val="FDFDFD"/>
                      </a:solidFill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 advClick="0">
    <p:pull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消隐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——光线跟踪算法</a:t>
            </a:r>
            <a:endParaRPr lang="en-US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  <a:endParaRPr lang="zh-CN" altLang="en-US" sz="1705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13" name="内容占位符 12"/>
          <p:cNvSpPr>
            <a:spLocks noGrp="1" noChangeArrowheads="1"/>
          </p:cNvSpPr>
          <p:nvPr/>
        </p:nvSpPr>
        <p:spPr>
          <a:xfrm>
            <a:off x="247650" y="699770"/>
            <a:ext cx="8180705" cy="33699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Times New Roman" panose="02020603050405020304" charset="0"/>
              </a:defRPr>
            </a:lvl9pPr>
          </a:lstStyle>
          <a:p>
            <a:r>
              <a:rPr lang="zh-CN" altLang="en-US" sz="2800" dirty="0"/>
              <a:t>先三维排序</a:t>
            </a:r>
            <a:r>
              <a:rPr lang="en-US" altLang="zh-CN" sz="2800" dirty="0"/>
              <a:t>,</a:t>
            </a:r>
            <a:r>
              <a:rPr lang="zh-CN" altLang="en-US" sz="2800" dirty="0"/>
              <a:t>再绘制二维：画家算法</a:t>
            </a:r>
            <a:endParaRPr lang="en-US" altLang="zh-CN" sz="2800" dirty="0"/>
          </a:p>
          <a:p>
            <a:r>
              <a:rPr lang="zh-CN" altLang="en-US" sz="2800" dirty="0"/>
              <a:t>二维绘制</a:t>
            </a:r>
            <a:r>
              <a:rPr lang="en-US" altLang="zh-CN" sz="2800" dirty="0"/>
              <a:t>,</a:t>
            </a:r>
            <a:r>
              <a:rPr lang="zh-CN" altLang="en-US" sz="2800" dirty="0"/>
              <a:t>同时依据三维判定可见性</a:t>
            </a:r>
            <a:endParaRPr lang="en-US" altLang="zh-CN" sz="2800" dirty="0"/>
          </a:p>
          <a:p>
            <a:pPr lvl="1"/>
            <a:r>
              <a:rPr lang="zh-CN" altLang="en-US" sz="2400" dirty="0"/>
              <a:t>根据二维对象：</a:t>
            </a:r>
            <a:r>
              <a:rPr lang="en-US" altLang="zh-CN" sz="2400" b="1" dirty="0"/>
              <a:t>Z-Buffer</a:t>
            </a:r>
            <a:endParaRPr lang="en-US" altLang="zh-CN" sz="2400" b="1" dirty="0"/>
          </a:p>
          <a:p>
            <a:pPr lvl="1"/>
            <a:r>
              <a:rPr lang="zh-CN" altLang="en-US" sz="2400" dirty="0"/>
              <a:t>根据像素：</a:t>
            </a:r>
            <a:r>
              <a:rPr lang="zh-CN" altLang="en-US" sz="2400" b="1" dirty="0"/>
              <a:t>光线跟踪</a:t>
            </a:r>
            <a:endParaRPr lang="zh-CN" altLang="en-US" sz="2400" b="1" dirty="0"/>
          </a:p>
        </p:txBody>
      </p:sp>
      <p:pic>
        <p:nvPicPr>
          <p:cNvPr id="66567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80" y="2571750"/>
            <a:ext cx="5337810" cy="206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8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849" y="1711167"/>
            <a:ext cx="2560637" cy="172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 advClick="0">
    <p:pull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ISPRING_PRESENTATION_TITLE" val="Write Your Title Here"/>
  <p:tag name="KSO_WPP_MARK_KEY" val="dd899e31-5ec7-490e-8739-e130eb65ea66"/>
  <p:tag name="COMMONDATA" val="eyJoZGlkIjoiOGFmMDVkMWI3NWMxYzJlMzU4ZjlmZTJlYWJkNmJiNDQifQ=="/>
  <p:tag name="commondata" val="eyJoZGlkIjoiOGI5ZWRjMmFlNjYxNmNkMGYwMDIwMTE5MDU5ZWI1MDAifQ=="/>
</p:tagLst>
</file>

<file path=ppt/theme/theme1.xml><?xml version="1.0" encoding="utf-8"?>
<a:theme xmlns:a="http://schemas.openxmlformats.org/drawingml/2006/main" name="第一PPT，www.1ppt.com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4578</Words>
  <Application>WPS 演示</Application>
  <PresentationFormat>全屏显示(16:9)</PresentationFormat>
  <Paragraphs>513</Paragraphs>
  <Slides>41</Slides>
  <Notes>23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17</vt:i4>
      </vt:variant>
      <vt:variant>
        <vt:lpstr>幻灯片标题</vt:lpstr>
      </vt:variant>
      <vt:variant>
        <vt:i4>41</vt:i4>
      </vt:variant>
    </vt:vector>
  </HeadingPairs>
  <TitlesOfParts>
    <vt:vector size="74" baseType="lpstr">
      <vt:lpstr>Arial</vt:lpstr>
      <vt:lpstr>宋体</vt:lpstr>
      <vt:lpstr>Wingdings</vt:lpstr>
      <vt:lpstr>微软雅黑</vt:lpstr>
      <vt:lpstr>Calibri</vt:lpstr>
      <vt:lpstr>微软雅黑 Light</vt:lpstr>
      <vt:lpstr>华文隶书</vt:lpstr>
      <vt:lpstr>华文宋体</vt:lpstr>
      <vt:lpstr>U.S. 101</vt:lpstr>
      <vt:lpstr>Segoe Print</vt:lpstr>
      <vt:lpstr>Roboto</vt:lpstr>
      <vt:lpstr>Times New Roman</vt:lpstr>
      <vt:lpstr>Open Sans Light</vt:lpstr>
      <vt:lpstr>Arial Unicode MS</vt:lpstr>
      <vt:lpstr>华文中宋</vt:lpstr>
      <vt:lpstr>第一PPT，www.1ppt.com</vt:lpstr>
      <vt:lpstr>Visio.Drawing.11</vt:lpstr>
      <vt:lpstr>Equation.DSMT4</vt:lpstr>
      <vt:lpstr>Equation.DSMT4</vt:lpstr>
      <vt:lpstr>Equation.DSMT4</vt:lpstr>
      <vt:lpstr>Visio.Drawing.11</vt:lpstr>
      <vt:lpstr>Equation.DSMT4</vt:lpstr>
      <vt:lpstr>Visio.Drawing.11</vt:lpstr>
      <vt:lpstr>Visio.Drawing.11</vt:lpstr>
      <vt:lpstr>Visio.Drawing.11</vt:lpstr>
      <vt:lpstr>Visio.Drawing.11</vt:lpstr>
      <vt:lpstr>Visio.Drawing.11</vt:lpstr>
      <vt:lpstr>Equation.DSMT4</vt:lpstr>
      <vt:lpstr>Visio.Drawing.11</vt:lpstr>
      <vt:lpstr>Equation.3</vt:lpstr>
      <vt:lpstr>Equation.3</vt:lpstr>
      <vt:lpstr>Visio.Drawing.11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第一PPT模板网-WWW.1PPT.COM</dc:title>
  <dc:creator>user</dc:creator>
  <cp:keywords>第一PPT模板网-WWW.1PPT.COM</cp:keywords>
  <cp:lastModifiedBy>槑棍</cp:lastModifiedBy>
  <cp:revision>525</cp:revision>
  <dcterms:created xsi:type="dcterms:W3CDTF">2015-12-11T17:46:00Z</dcterms:created>
  <dcterms:modified xsi:type="dcterms:W3CDTF">2024-11-24T12:20:33Z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ECACA3F7043547B6B35B2DD86E8C4ABF_12</vt:lpwstr>
  </property>
  <property fmtid="{D5CDD505-2E9C-101B-9397-08002B2CF9AE}" pid="3" name="KSOProductBuildVer">
    <vt:lpwstr>2052-12.1.0.18608</vt:lpwstr>
  </property>
</Properties>
</file>