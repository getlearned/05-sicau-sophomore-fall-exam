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481" r:id="rId2"/>
    <p:sldId id="439" r:id="rId3"/>
    <p:sldId id="473" r:id="rId4"/>
    <p:sldId id="418" r:id="rId5"/>
    <p:sldId id="419" r:id="rId6"/>
    <p:sldId id="420" r:id="rId7"/>
    <p:sldId id="474" r:id="rId8"/>
    <p:sldId id="422" r:id="rId9"/>
    <p:sldId id="423" r:id="rId10"/>
    <p:sldId id="424" r:id="rId11"/>
    <p:sldId id="425" r:id="rId12"/>
    <p:sldId id="426" r:id="rId13"/>
    <p:sldId id="485" r:id="rId14"/>
    <p:sldId id="427" r:id="rId15"/>
    <p:sldId id="428" r:id="rId16"/>
    <p:sldId id="429" r:id="rId17"/>
    <p:sldId id="430" r:id="rId18"/>
    <p:sldId id="431" r:id="rId19"/>
    <p:sldId id="432" r:id="rId20"/>
    <p:sldId id="433" r:id="rId21"/>
    <p:sldId id="438" r:id="rId22"/>
    <p:sldId id="482" r:id="rId23"/>
    <p:sldId id="440" r:id="rId24"/>
    <p:sldId id="441" r:id="rId25"/>
    <p:sldId id="442" r:id="rId26"/>
    <p:sldId id="446" r:id="rId27"/>
    <p:sldId id="444" r:id="rId28"/>
    <p:sldId id="445" r:id="rId29"/>
    <p:sldId id="447" r:id="rId30"/>
    <p:sldId id="483" r:id="rId31"/>
    <p:sldId id="448" r:id="rId32"/>
    <p:sldId id="472" r:id="rId33"/>
    <p:sldId id="449" r:id="rId34"/>
    <p:sldId id="450" r:id="rId35"/>
    <p:sldId id="451" r:id="rId36"/>
    <p:sldId id="452" r:id="rId37"/>
    <p:sldId id="453" r:id="rId38"/>
    <p:sldId id="454" r:id="rId39"/>
    <p:sldId id="455" r:id="rId40"/>
    <p:sldId id="457" r:id="rId41"/>
    <p:sldId id="458" r:id="rId42"/>
    <p:sldId id="475" r:id="rId43"/>
    <p:sldId id="463" r:id="rId44"/>
    <p:sldId id="465" r:id="rId45"/>
    <p:sldId id="476" r:id="rId46"/>
    <p:sldId id="462" r:id="rId47"/>
    <p:sldId id="466" r:id="rId48"/>
    <p:sldId id="484" r:id="rId49"/>
  </p:sldIdLst>
  <p:sldSz cx="9906000" cy="6858000" type="A4"/>
  <p:notesSz cx="6934200" cy="9396413"/>
  <p:custDataLst>
    <p:tags r:id="rId52"/>
  </p:custDataLst>
  <p:kinsoku lang="zh-CN"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112" userDrawn="1">
          <p15:clr>
            <a:srgbClr val="A4A3A4"/>
          </p15:clr>
        </p15:guide>
      </p15:sldGuideLst>
    </p:ext>
    <p:ext uri="{2D200454-40CA-4A62-9FC3-DE9A4176ACB9}">
      <p15:notesGuideLst xmlns:p15="http://schemas.microsoft.com/office/powerpoint/2012/main">
        <p15:guide id="1" orient="horz" pos="2959">
          <p15:clr>
            <a:srgbClr val="A4A3A4"/>
          </p15:clr>
        </p15:guide>
        <p15:guide id="2" pos="217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47" autoAdjust="0"/>
    <p:restoredTop sz="82021" autoAdjust="0"/>
  </p:normalViewPr>
  <p:slideViewPr>
    <p:cSldViewPr snapToGrid="0" showGuides="1">
      <p:cViewPr varScale="1">
        <p:scale>
          <a:sx n="93" d="100"/>
          <a:sy n="93" d="100"/>
        </p:scale>
        <p:origin x="1926" y="90"/>
      </p:cViewPr>
      <p:guideLst>
        <p:guide orient="horz" pos="2160"/>
        <p:guide pos="3112"/>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7" d="100"/>
          <a:sy n="57" d="100"/>
        </p:scale>
        <p:origin x="-1806" y="-90"/>
      </p:cViewPr>
      <p:guideLst>
        <p:guide orient="horz" pos="2959"/>
        <p:guide pos="217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_rels/viewProps.xml.rels><?xml version="1.0" encoding="UTF-8" standalone="yes"?>
<Relationships xmlns="http://schemas.openxmlformats.org/package/2006/relationships"><Relationship Id="rId8" Type="http://schemas.openxmlformats.org/officeDocument/2006/relationships/slide" Target="slides/slide38.xml"/><Relationship Id="rId13" Type="http://schemas.openxmlformats.org/officeDocument/2006/relationships/slide" Target="slides/slide45.xml"/><Relationship Id="rId3" Type="http://schemas.openxmlformats.org/officeDocument/2006/relationships/slide" Target="slides/slide33.xml"/><Relationship Id="rId7" Type="http://schemas.openxmlformats.org/officeDocument/2006/relationships/slide" Target="slides/slide37.xml"/><Relationship Id="rId12" Type="http://schemas.openxmlformats.org/officeDocument/2006/relationships/slide" Target="slides/slide42.xml"/><Relationship Id="rId2" Type="http://schemas.openxmlformats.org/officeDocument/2006/relationships/slide" Target="slides/slide32.xml"/><Relationship Id="rId1" Type="http://schemas.openxmlformats.org/officeDocument/2006/relationships/slide" Target="slides/slide31.xml"/><Relationship Id="rId6" Type="http://schemas.openxmlformats.org/officeDocument/2006/relationships/slide" Target="slides/slide36.xml"/><Relationship Id="rId11" Type="http://schemas.openxmlformats.org/officeDocument/2006/relationships/slide" Target="slides/slide41.xml"/><Relationship Id="rId5" Type="http://schemas.openxmlformats.org/officeDocument/2006/relationships/slide" Target="slides/slide35.xml"/><Relationship Id="rId15" Type="http://schemas.openxmlformats.org/officeDocument/2006/relationships/slide" Target="slides/slide47.xml"/><Relationship Id="rId10" Type="http://schemas.openxmlformats.org/officeDocument/2006/relationships/slide" Target="slides/slide40.xml"/><Relationship Id="rId4" Type="http://schemas.openxmlformats.org/officeDocument/2006/relationships/slide" Target="slides/slide34.xml"/><Relationship Id="rId9" Type="http://schemas.openxmlformats.org/officeDocument/2006/relationships/slide" Target="slides/slide39.xml"/><Relationship Id="rId14"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2.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body" sz="quarter" idx="3"/>
          </p:nvPr>
        </p:nvSpPr>
        <p:spPr bwMode="auto">
          <a:xfrm>
            <a:off x="923925" y="4467225"/>
            <a:ext cx="5086350" cy="3956050"/>
          </a:xfrm>
          <a:prstGeom prst="rect">
            <a:avLst/>
          </a:prstGeom>
          <a:noFill/>
          <a:ln w="12700">
            <a:noFill/>
            <a:miter lim="800000"/>
          </a:ln>
          <a:effectLst/>
        </p:spPr>
        <p:txBody>
          <a:bodyPr vert="horz" wrap="square" lIns="89343" tIns="43888" rIns="89343" bIns="43888" numCol="1" anchor="t" anchorCtr="0" compatLnSpc="1"/>
          <a:lstStyle/>
          <a:p>
            <a:pPr lvl="0"/>
            <a:r>
              <a:rPr lang="en-US" altLang="zh-CN" noProof="0"/>
              <a:t>Click to edit Master notes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2051" name="Rectangle 3"/>
          <p:cNvSpPr>
            <a:spLocks noGrp="1" noRot="1" noChangeAspect="1" noChangeArrowheads="1" noTextEdit="1"/>
          </p:cNvSpPr>
          <p:nvPr>
            <p:ph type="sldImg" idx="2"/>
          </p:nvPr>
        </p:nvSpPr>
        <p:spPr bwMode="auto">
          <a:xfrm>
            <a:off x="1089025" y="819150"/>
            <a:ext cx="4757738" cy="3294063"/>
          </a:xfrm>
          <a:prstGeom prst="rect">
            <a:avLst/>
          </a:prstGeom>
          <a:noFill/>
          <a:ln w="12700">
            <a:solidFill>
              <a:schemeClr val="tx1"/>
            </a:solidFill>
            <a:miter lim="800000"/>
          </a:ln>
          <a:extLst>
            <a:ext uri="{909E8E84-426E-40DD-AFC4-6F175D3DCCD1}">
              <a14:hiddenFill xmlns:a14="http://schemas.microsoft.com/office/drawing/2010/main">
                <a:solidFill>
                  <a:srgbClr val="FFFFFF"/>
                </a:solidFill>
              </a14:hiddenFill>
            </a:ext>
          </a:extLst>
        </p:spPr>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p:sp>
      <p:sp>
        <p:nvSpPr>
          <p:cNvPr id="614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614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2AFB96B0-DE56-4B91-A879-ED2F9CB6A5AD}" type="slidenum">
              <a:rPr lang="zh-CN" altLang="en-US" sz="1300"/>
              <a:t>1</a:t>
            </a:fld>
            <a:endParaRPr lang="en-US" altLang="zh-CN" sz="13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Rot="1" noChangeAspect="1" noChangeArrowheads="1" noTextEdit="1"/>
          </p:cNvSpPr>
          <p:nvPr>
            <p:ph type="sldImg"/>
          </p:nvPr>
        </p:nvSpPr>
        <p:spPr>
          <a:xfrm>
            <a:off x="922338" y="704850"/>
            <a:ext cx="5089525" cy="3524250"/>
          </a:xfrm>
        </p:spPr>
      </p:sp>
      <p:sp>
        <p:nvSpPr>
          <p:cNvPr id="614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计</a:t>
            </a:r>
            <a:r>
              <a:rPr lang="en-US" altLang="zh-CN">
                <a:latin typeface="Arial" panose="020B0604020202020204" pitchFamily="34" charset="0"/>
              </a:rPr>
              <a:t>06</a:t>
            </a:r>
            <a:endParaRPr lang="zh-CN"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spect="1" noChangeArrowheads="1" noTextEdit="1"/>
          </p:cNvSpPr>
          <p:nvPr>
            <p:ph type="sldImg"/>
          </p:nvPr>
        </p:nvSpPr>
        <p:spPr>
          <a:xfrm>
            <a:off x="922338" y="704850"/>
            <a:ext cx="5089525" cy="3524250"/>
          </a:xfrm>
        </p:spPr>
      </p:sp>
      <p:sp>
        <p:nvSpPr>
          <p:cNvPr id="8195"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计</a:t>
            </a:r>
            <a:r>
              <a:rPr lang="en-US" altLang="zh-CN">
                <a:latin typeface="Arial" panose="020B0604020202020204" pitchFamily="34" charset="0"/>
              </a:rPr>
              <a:t>06</a:t>
            </a:r>
            <a:endParaRPr lang="zh-CN"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xfrm>
            <a:off x="922338" y="704850"/>
            <a:ext cx="5089525" cy="3524250"/>
          </a:xfrm>
        </p:spPr>
      </p:sp>
      <p:sp>
        <p:nvSpPr>
          <p:cNvPr id="16387"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计</a:t>
            </a:r>
            <a:r>
              <a:rPr lang="en-US" altLang="zh-CN">
                <a:latin typeface="Arial" panose="020B0604020202020204" pitchFamily="34" charset="0"/>
              </a:rPr>
              <a:t>06</a:t>
            </a:r>
            <a:endParaRPr lang="zh-CN"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922338" y="704850"/>
            <a:ext cx="5089525" cy="3524250"/>
          </a:xfrm>
        </p:spPr>
      </p:sp>
      <p:sp>
        <p:nvSpPr>
          <p:cNvPr id="2" name="文本占位符 1"/>
          <p:cNvSpPr>
            <a:spLocks noGrp="1"/>
          </p:cNvSpPr>
          <p:nvPr>
            <p:ph type="body" idx="3"/>
          </p:nvPr>
        </p:nvSpPr>
        <p:spPr/>
        <p:txBody>
          <a:bodyPr/>
          <a:lstStyle/>
          <a:p>
            <a:r>
              <a:rPr lang="zh-CN" altLang="en-US" dirty="0"/>
              <a:t>区域表示默认为内点表示（内定义区域），用</a:t>
            </a:r>
            <a:r>
              <a:rPr lang="en-US" altLang="zh-CN" dirty="0" err="1"/>
              <a:t>oldColor</a:t>
            </a:r>
            <a:r>
              <a:rPr lang="zh-CN" altLang="en-US" dirty="0"/>
              <a:t>来标识其处在区域内且未着色</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922338" y="704850"/>
            <a:ext cx="5089525" cy="3524250"/>
          </a:xfrm>
        </p:spPr>
      </p:sp>
      <p:sp>
        <p:nvSpPr>
          <p:cNvPr id="2" name="文本占位符 1"/>
          <p:cNvSpPr>
            <a:spLocks noGrp="1"/>
          </p:cNvSpPr>
          <p:nvPr>
            <p:ph type="body" idx="3"/>
          </p:nvPr>
        </p:nvSpPr>
        <p:spPr/>
        <p:txBody>
          <a:bodyPr/>
          <a:lstStyle/>
          <a:p>
            <a:pPr>
              <a:buNone/>
            </a:pPr>
            <a:r>
              <a:rPr lang="en-US" altLang="zh-CN" dirty="0">
                <a:sym typeface="+mn-ea"/>
              </a:rPr>
              <a:t>BoundaryFill4(x,y+1, </a:t>
            </a:r>
            <a:r>
              <a:rPr lang="en-US" altLang="zh-CN" dirty="0" err="1">
                <a:sym typeface="+mn-ea"/>
              </a:rPr>
              <a:t>boundaryColor</a:t>
            </a:r>
            <a:r>
              <a:rPr lang="en-US" altLang="zh-CN" dirty="0">
                <a:sym typeface="+mn-ea"/>
              </a:rPr>
              <a:t>, </a:t>
            </a:r>
            <a:r>
              <a:rPr lang="en-US" altLang="zh-CN" dirty="0" err="1">
                <a:sym typeface="+mn-ea"/>
              </a:rPr>
              <a:t>newColor</a:t>
            </a:r>
            <a:r>
              <a:rPr lang="en-US" altLang="zh-CN" dirty="0">
                <a:sym typeface="+mn-ea"/>
              </a:rPr>
              <a:t>);</a:t>
            </a:r>
            <a:endParaRPr lang="zh-CN" altLang="zh-CN" dirty="0"/>
          </a:p>
          <a:p>
            <a:pPr>
              <a:buNone/>
            </a:pPr>
            <a:r>
              <a:rPr lang="en-US" altLang="zh-CN" dirty="0">
                <a:sym typeface="+mn-ea"/>
              </a:rPr>
              <a:t>BoundaryFill4(x,y-1,fill, </a:t>
            </a:r>
            <a:r>
              <a:rPr lang="en-US" altLang="zh-CN" dirty="0" err="1">
                <a:sym typeface="+mn-ea"/>
              </a:rPr>
              <a:t>boundaryColor</a:t>
            </a:r>
            <a:r>
              <a:rPr lang="en-US" altLang="zh-CN" dirty="0">
                <a:sym typeface="+mn-ea"/>
              </a:rPr>
              <a:t>, </a:t>
            </a:r>
            <a:r>
              <a:rPr lang="en-US" altLang="zh-CN" dirty="0" err="1">
                <a:sym typeface="+mn-ea"/>
              </a:rPr>
              <a:t>newColor</a:t>
            </a:r>
            <a:r>
              <a:rPr lang="en-US" altLang="zh-CN" dirty="0">
                <a:sym typeface="+mn-ea"/>
              </a:rPr>
              <a:t>);</a:t>
            </a:r>
            <a:endParaRPr lang="zh-CN" altLang="zh-CN" dirty="0"/>
          </a:p>
          <a:p>
            <a:pPr>
              <a:buNone/>
            </a:pPr>
            <a:r>
              <a:rPr lang="en-US" altLang="zh-CN" dirty="0">
                <a:sym typeface="+mn-ea"/>
              </a:rPr>
              <a:t>BoundaryFill4(x-1,y,fill, </a:t>
            </a:r>
            <a:r>
              <a:rPr lang="en-US" altLang="zh-CN" dirty="0" err="1">
                <a:sym typeface="+mn-ea"/>
              </a:rPr>
              <a:t>boundaryColor</a:t>
            </a:r>
            <a:r>
              <a:rPr lang="en-US" altLang="zh-CN" dirty="0">
                <a:sym typeface="+mn-ea"/>
              </a:rPr>
              <a:t>, </a:t>
            </a:r>
            <a:r>
              <a:rPr lang="en-US" altLang="zh-CN" dirty="0" err="1">
                <a:sym typeface="+mn-ea"/>
              </a:rPr>
              <a:t>newColor</a:t>
            </a:r>
            <a:r>
              <a:rPr lang="en-US" altLang="zh-CN" dirty="0">
                <a:sym typeface="+mn-ea"/>
              </a:rPr>
              <a:t>);</a:t>
            </a:r>
            <a:endParaRPr lang="zh-CN" altLang="zh-CN" dirty="0"/>
          </a:p>
          <a:p>
            <a:pPr>
              <a:buNone/>
            </a:pPr>
            <a:r>
              <a:rPr lang="en-US" altLang="zh-CN" dirty="0">
                <a:sym typeface="+mn-ea"/>
              </a:rPr>
              <a:t>BoundaryFill4(x+1,y,fill, </a:t>
            </a:r>
            <a:r>
              <a:rPr lang="en-US" altLang="zh-CN" dirty="0" err="1">
                <a:sym typeface="+mn-ea"/>
              </a:rPr>
              <a:t>boundaryColor</a:t>
            </a:r>
            <a:r>
              <a:rPr lang="en-US" altLang="zh-CN" dirty="0">
                <a:sym typeface="+mn-ea"/>
              </a:rPr>
              <a:t>, </a:t>
            </a:r>
            <a:r>
              <a:rPr lang="en-US" altLang="zh-CN" dirty="0" err="1">
                <a:sym typeface="+mn-ea"/>
              </a:rPr>
              <a:t>newColor</a:t>
            </a:r>
            <a:r>
              <a:rPr lang="en-US" altLang="zh-CN" dirty="0">
                <a:sym typeface="+mn-ea"/>
              </a:rPr>
              <a:t>);</a:t>
            </a:r>
          </a:p>
          <a:p>
            <a:pPr>
              <a:buNone/>
            </a:pPr>
            <a:r>
              <a:rPr lang="zh-CN" altLang="en-US"/>
              <a:t>原版为何有个</a:t>
            </a:r>
            <a:r>
              <a:rPr lang="en-US" altLang="zh-CN"/>
              <a:t>fill</a:t>
            </a:r>
            <a:r>
              <a:rPr lang="zh-CN" altLang="en-US"/>
              <a:t>且不是每个邻域都有</a:t>
            </a:r>
            <a:r>
              <a:rPr lang="en-US" altLang="zh-CN"/>
              <a:t>fill?</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922338" y="704850"/>
            <a:ext cx="5089525" cy="3524250"/>
          </a:xfrm>
        </p:spPr>
      </p:sp>
      <p:sp>
        <p:nvSpPr>
          <p:cNvPr id="2" name="文本占位符 1"/>
          <p:cNvSpPr>
            <a:spLocks noGrp="1"/>
          </p:cNvSpPr>
          <p:nvPr>
            <p:ph type="body" idx="3"/>
          </p:nvPr>
        </p:nvSpPr>
        <p:spPr/>
        <p:txBody>
          <a:bodyPr/>
          <a:lstStyle/>
          <a:p>
            <a:r>
              <a:rPr lang="zh-CN" altLang="en-US"/>
              <a:t>为何有些像素会入栈多次？</a:t>
            </a:r>
            <a:r>
              <a:rPr lang="en-US" altLang="zh-CN"/>
              <a:t> </a:t>
            </a:r>
            <a:r>
              <a:rPr lang="zh-CN" altLang="en-US"/>
              <a:t>因为某个像素可能是多个内点的邻域。</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922338" y="704850"/>
            <a:ext cx="5089525" cy="3524250"/>
          </a:xfrm>
        </p:spPr>
      </p:sp>
      <p:sp>
        <p:nvSpPr>
          <p:cNvPr id="2" name="文本占位符 1"/>
          <p:cNvSpPr>
            <a:spLocks noGrp="1"/>
          </p:cNvSpPr>
          <p:nvPr>
            <p:ph type="body" idx="3"/>
          </p:nvPr>
        </p:nvSpPr>
        <p:spPr/>
        <p:txBody>
          <a:bodyPr/>
          <a:lstStyle/>
          <a:p>
            <a:r>
              <a:rPr lang="zh-CN" altLang="en-US"/>
              <a:t>有关像素指的是上下扫描线中，与种子像素所在区段的最左和最右的位置所确定的区间</a:t>
            </a:r>
            <a:r>
              <a:rPr lang="en-US" altLang="zh-CN"/>
              <a:t>[xl, xr]</a:t>
            </a:r>
            <a:r>
              <a:rPr lang="zh-CN" altLang="en-US"/>
              <a:t>有交集的区段像素</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922338" y="704850"/>
            <a:ext cx="5089525" cy="3524250"/>
          </a:xfrm>
        </p:spPr>
      </p:sp>
      <p:sp>
        <p:nvSpPr>
          <p:cNvPr id="2" name="文本占位符 1"/>
          <p:cNvSpPr>
            <a:spLocks noGrp="1"/>
          </p:cNvSpPr>
          <p:nvPr>
            <p:ph type="body" idx="3"/>
          </p:nvPr>
        </p:nvSpPr>
        <p:spPr/>
        <p:txBody>
          <a:bodyPr/>
          <a:lstStyle/>
          <a:p>
            <a:r>
              <a:rPr lang="zh-CN" altLang="en-US"/>
              <a:t>目的是为了避免区段的重复入栈。若没有这个规定，以</a:t>
            </a:r>
            <a:r>
              <a:rPr lang="en-US" altLang="zh-CN"/>
              <a:t>2</a:t>
            </a:r>
            <a:r>
              <a:rPr lang="zh-CN" altLang="en-US"/>
              <a:t>和</a:t>
            </a:r>
            <a:r>
              <a:rPr lang="en-US" altLang="zh-CN"/>
              <a:t>3</a:t>
            </a:r>
            <a:r>
              <a:rPr lang="zh-CN" altLang="en-US"/>
              <a:t>为种子时，他们所在的扫描线下面的那条扫描线上的两段都会入栈，导致重复。</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xfrm>
            <a:off x="922338" y="704850"/>
            <a:ext cx="5089525" cy="3524250"/>
          </a:xfr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p:sp>
      <p:sp>
        <p:nvSpPr>
          <p:cNvPr id="49155"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01000001=65 ASCII</a:t>
            </a:r>
            <a:r>
              <a:rPr lang="zh-CN" altLang="en-US" dirty="0">
                <a:latin typeface="Arial" panose="020B0604020202020204" pitchFamily="34" charset="0"/>
              </a:rPr>
              <a:t>用</a:t>
            </a:r>
            <a:r>
              <a:rPr lang="en-US" altLang="zh-CN" dirty="0">
                <a:latin typeface="Arial" panose="020B0604020202020204" pitchFamily="34" charset="0"/>
              </a:rPr>
              <a:t>7</a:t>
            </a:r>
            <a:r>
              <a:rPr lang="zh-CN" altLang="en-US" dirty="0">
                <a:latin typeface="Arial" panose="020B0604020202020204" pitchFamily="34" charset="0"/>
              </a:rPr>
              <a:t>位表示一个字符</a:t>
            </a:r>
            <a:endParaRPr lang="en-US"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a:t>位代码中</a:t>
            </a:r>
            <a:r>
              <a:rPr lang="en-US" altLang="zh-CN"/>
              <a:t>4</a:t>
            </a:r>
            <a:r>
              <a:rPr lang="zh-CN" altLang="en-US"/>
              <a:t>个比特位为一组。</a:t>
            </a:r>
            <a:r>
              <a:rPr lang="en-US" altLang="zh-CN"/>
              <a:t>8</a:t>
            </a:r>
            <a:r>
              <a:rPr lang="zh-CN" altLang="en-US"/>
              <a:t>个比特位为一个字节</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p:sp>
      <p:sp>
        <p:nvSpPr>
          <p:cNvPr id="53251" name="备注占位符 2"/>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latin typeface="Arial" panose="020B0604020202020204" pitchFamily="34" charset="0"/>
              </a:rPr>
              <a:t>72X72X6763=35059392</a:t>
            </a:r>
          </a:p>
          <a:p>
            <a:r>
              <a:rPr lang="en-US" altLang="zh-CN" dirty="0">
                <a:latin typeface="Arial" panose="020B0604020202020204" pitchFamily="34" charset="0"/>
              </a:rPr>
              <a:t>35059392/8=4382424byte</a:t>
            </a:r>
          </a:p>
          <a:p>
            <a:r>
              <a:rPr lang="en-US" altLang="zh-CN" dirty="0">
                <a:latin typeface="Arial" panose="020B0604020202020204" pitchFamily="34" charset="0"/>
              </a:rPr>
              <a:t>4382424/1024/1024=4.18M</a:t>
            </a:r>
          </a:p>
          <a:p>
            <a:r>
              <a:rPr lang="en-US" altLang="zh-CN" dirty="0">
                <a:latin typeface="Arial" panose="020B0604020202020204" pitchFamily="34" charset="0"/>
              </a:rPr>
              <a:t>4.18*10*10=418MB</a:t>
            </a:r>
            <a:endParaRPr lang="zh-CN" altLang="en-US" dirty="0">
              <a:latin typeface="Arial" panose="020B0604020202020204" pitchFamily="34" charset="0"/>
            </a:endParaRPr>
          </a:p>
          <a:p>
            <a:r>
              <a:rPr lang="zh-CN" altLang="en-US" dirty="0">
                <a:latin typeface="Arial" panose="020B0604020202020204" pitchFamily="34" charset="0"/>
              </a:rPr>
              <a:t>二值图像编码。霍夫曼编码</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polyline:</a:t>
            </a:r>
            <a:r>
              <a:rPr lang="zh-CN" altLang="en-US" dirty="0"/>
              <a:t>多折线，可缩放矢量图</a:t>
            </a:r>
          </a:p>
        </p:txBody>
      </p:sp>
    </p:spTree>
    <p:extLst>
      <p:ext uri="{BB962C8B-B14F-4D97-AF65-F5344CB8AC3E}">
        <p14:creationId xmlns:p14="http://schemas.microsoft.com/office/powerpoint/2010/main" val="33368153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a:t>MAC版画图软件 paintbrush 推荐，类似 windows 上系统自带的画图软件</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a:t>忽明忽暗叫闪烁</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D/m</a:t>
            </a:r>
            <a:r>
              <a:rPr lang="zh-CN" altLang="en-US" dirty="0"/>
              <a:t>指的是</a:t>
            </a:r>
            <a:r>
              <a:rPr lang="en-US" altLang="zh-CN" dirty="0"/>
              <a:t>D</a:t>
            </a:r>
            <a:r>
              <a:rPr lang="zh-CN" altLang="en-US" dirty="0"/>
              <a:t>减去</a:t>
            </a:r>
            <a:r>
              <a:rPr lang="en-US" altLang="zh-CN" dirty="0"/>
              <a:t>m</a:t>
            </a:r>
            <a:endParaRPr lang="zh-CN" altLang="en-US" dirty="0"/>
          </a:p>
        </p:txBody>
      </p:sp>
    </p:spTree>
    <p:extLst>
      <p:ext uri="{BB962C8B-B14F-4D97-AF65-F5344CB8AC3E}">
        <p14:creationId xmlns:p14="http://schemas.microsoft.com/office/powerpoint/2010/main" val="2680488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锯齿产生的原因是某个方向的像素颜色</a:t>
            </a:r>
            <a:r>
              <a:rPr lang="en-US" altLang="zh-CN" dirty="0"/>
              <a:t>/</a:t>
            </a:r>
            <a:r>
              <a:rPr lang="zh-CN" altLang="en-US" dirty="0"/>
              <a:t>亮度不一致</a:t>
            </a:r>
          </a:p>
        </p:txBody>
      </p:sp>
    </p:spTree>
    <p:extLst>
      <p:ext uri="{BB962C8B-B14F-4D97-AF65-F5344CB8AC3E}">
        <p14:creationId xmlns:p14="http://schemas.microsoft.com/office/powerpoint/2010/main" val="19345618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3"/>
          </p:nvPr>
        </p:nvSpPr>
        <p:spPr/>
        <p:txBody>
          <a:bodyPr/>
          <a:lstStyle/>
          <a:p>
            <a:r>
              <a:rPr lang="zh-CN" altLang="en-US" dirty="0"/>
              <a:t>这里的滤波器中心是待考察的像素，而非直线所在像素。</a:t>
            </a:r>
            <a:endParaRPr lang="en-US" altLang="zh-CN" dirty="0"/>
          </a:p>
          <a:p>
            <a:endParaRPr lang="en-US" altLang="zh-CN" dirty="0"/>
          </a:p>
          <a:p>
            <a:r>
              <a:rPr lang="zh-CN" altLang="en-US" dirty="0"/>
              <a:t>以正方形顶点讨论：处在正方形顶点位置距离很大，但是权重和边上的位置一样，不合理。</a:t>
            </a:r>
          </a:p>
        </p:txBody>
      </p:sp>
      <p:sp>
        <p:nvSpPr>
          <p:cNvPr id="3" name="幻灯片图像占位符 2"/>
          <p:cNvSpPr>
            <a:spLocks noGrp="1" noRot="1" noChangeAspect="1"/>
          </p:cNvSpPr>
          <p:nvPr>
            <p:ph type="sldImg" idx="2"/>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162798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42950" y="2130425"/>
            <a:ext cx="8420100" cy="1470025"/>
          </a:xfrm>
        </p:spPr>
        <p:txBody>
          <a:bodyPr/>
          <a:lstStyle/>
          <a:p>
            <a:r>
              <a:rPr lang="zh-CN" altLang="en-US"/>
              <a:t>单击此处编辑母版标题样式</a:t>
            </a:r>
          </a:p>
        </p:txBody>
      </p:sp>
      <p:sp>
        <p:nvSpPr>
          <p:cNvPr id="3" name="副标题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4551216-363E-492B-A97C-9A81C07579E3}" type="slidenum">
              <a:rPr lang="zh-CN" altLang="en-US"/>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5A3E2A1-09CA-41CA-99F4-E19725283771}" type="slidenum">
              <a:rPr lang="zh-CN" altLang="en-US"/>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1403F711-4F48-498E-B319-89A627256652}" type="slidenum">
              <a:rPr lang="zh-CN" altLang="en-US"/>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65100" y="76200"/>
            <a:ext cx="9493250" cy="914400"/>
          </a:xfrm>
        </p:spPr>
        <p:txBody>
          <a:bodyPr/>
          <a:lstStyle/>
          <a:p>
            <a:r>
              <a:rPr lang="zh-CN" altLang="en-US"/>
              <a:t>单击此处编辑母版标题样式</a:t>
            </a:r>
          </a:p>
        </p:txBody>
      </p:sp>
      <p:sp>
        <p:nvSpPr>
          <p:cNvPr id="3" name="文本占位符 2"/>
          <p:cNvSpPr>
            <a:spLocks noGrp="1"/>
          </p:cNvSpPr>
          <p:nvPr>
            <p:ph type="body" sz="half" idx="1"/>
          </p:nvPr>
        </p:nvSpPr>
        <p:spPr>
          <a:xfrm>
            <a:off x="247650"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70475" y="1219200"/>
            <a:ext cx="4670425" cy="51816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F0313E34-A083-4923-B296-6BB8A6064026}" type="slidenum">
              <a:rPr lang="zh-CN" altLang="en-US"/>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5100" y="76200"/>
            <a:ext cx="94932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Rectangle 3"/>
          <p:cNvSpPr>
            <a:spLocks noGrp="1" noChangeArrowheads="1"/>
          </p:cNvSpPr>
          <p:nvPr>
            <p:ph type="body" idx="1"/>
          </p:nvPr>
        </p:nvSpPr>
        <p:spPr bwMode="auto">
          <a:xfrm>
            <a:off x="247650" y="1219200"/>
            <a:ext cx="949325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43364" name="Rectangle 4"/>
          <p:cNvSpPr>
            <a:spLocks noGrp="1" noChangeArrowheads="1"/>
          </p:cNvSpPr>
          <p:nvPr>
            <p:ph type="dt" sz="half" idx="2"/>
          </p:nvPr>
        </p:nvSpPr>
        <p:spPr bwMode="auto">
          <a:xfrm>
            <a:off x="495300" y="6461125"/>
            <a:ext cx="2311400" cy="320675"/>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143365" name="Rectangle 5"/>
          <p:cNvSpPr>
            <a:spLocks noGrp="1" noChangeArrowheads="1"/>
          </p:cNvSpPr>
          <p:nvPr>
            <p:ph type="ftr" sz="quarter" idx="3"/>
          </p:nvPr>
        </p:nvSpPr>
        <p:spPr bwMode="auto">
          <a:xfrm>
            <a:off x="3384550" y="6461125"/>
            <a:ext cx="3136900" cy="3206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atin typeface="Arial" panose="020B0604020202020204" pitchFamily="34" charset="0"/>
                <a:ea typeface="宋体" panose="02010600030101010101" pitchFamily="2" charset="-122"/>
              </a:defRPr>
            </a:lvl1pPr>
          </a:lstStyle>
          <a:p>
            <a:pPr>
              <a:defRPr/>
            </a:pPr>
            <a:endParaRPr lang="en-US" altLang="zh-CN"/>
          </a:p>
        </p:txBody>
      </p:sp>
      <p:sp>
        <p:nvSpPr>
          <p:cNvPr id="143366" name="Rectangle 6"/>
          <p:cNvSpPr>
            <a:spLocks noGrp="1" noChangeArrowheads="1"/>
          </p:cNvSpPr>
          <p:nvPr>
            <p:ph type="sldNum" sz="quarter" idx="4"/>
          </p:nvPr>
        </p:nvSpPr>
        <p:spPr bwMode="auto">
          <a:xfrm>
            <a:off x="7099300" y="6461125"/>
            <a:ext cx="2311400" cy="320675"/>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ea typeface="宋体" panose="02010600030101010101" pitchFamily="2" charset="-122"/>
              </a:defRPr>
            </a:lvl1pPr>
          </a:lstStyle>
          <a:p>
            <a:pPr>
              <a:defRPr/>
            </a:pPr>
            <a:fld id="{AA15DED2-9896-48D2-95AE-98006003998D}" type="slidenum">
              <a:rPr lang="zh-CN" altLang="en-US"/>
              <a:t>‹#›</a:t>
            </a:fld>
            <a:endParaRPr lang="en-US" altLang="zh-CN"/>
          </a:p>
        </p:txBody>
      </p:sp>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100" y="152400"/>
            <a:ext cx="11557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Line 8"/>
          <p:cNvSpPr>
            <a:spLocks noChangeShapeType="1"/>
          </p:cNvSpPr>
          <p:nvPr/>
        </p:nvSpPr>
        <p:spPr bwMode="auto">
          <a:xfrm>
            <a:off x="660400" y="990600"/>
            <a:ext cx="6686550" cy="0"/>
          </a:xfrm>
          <a:prstGeom prst="line">
            <a:avLst/>
          </a:prstGeom>
          <a:noFill/>
          <a:ln w="50800">
            <a:solidFill>
              <a:srgbClr val="FF0000"/>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sz="4400">
          <a:solidFill>
            <a:schemeClr val="accent2"/>
          </a:solidFill>
          <a:latin typeface="+mj-lt"/>
          <a:ea typeface="+mj-ea"/>
          <a:cs typeface="+mj-cs"/>
        </a:defRPr>
      </a:lvl1pPr>
      <a:lvl2pPr algn="ctr" rtl="0" eaLnBrk="0" fontAlgn="base" hangingPunct="0">
        <a:spcBef>
          <a:spcPct val="0"/>
        </a:spcBef>
        <a:spcAft>
          <a:spcPct val="0"/>
        </a:spcAft>
        <a:defRPr sz="4400">
          <a:solidFill>
            <a:schemeClr val="accent2"/>
          </a:solidFill>
          <a:latin typeface="Arial" panose="020B0604020202020204" pitchFamily="34" charset="0"/>
        </a:defRPr>
      </a:lvl2pPr>
      <a:lvl3pPr algn="ctr" rtl="0" eaLnBrk="0" fontAlgn="base" hangingPunct="0">
        <a:spcBef>
          <a:spcPct val="0"/>
        </a:spcBef>
        <a:spcAft>
          <a:spcPct val="0"/>
        </a:spcAft>
        <a:defRPr sz="4400">
          <a:solidFill>
            <a:schemeClr val="accent2"/>
          </a:solidFill>
          <a:latin typeface="Arial" panose="020B0604020202020204" pitchFamily="34" charset="0"/>
        </a:defRPr>
      </a:lvl3pPr>
      <a:lvl4pPr algn="ctr" rtl="0" eaLnBrk="0" fontAlgn="base" hangingPunct="0">
        <a:spcBef>
          <a:spcPct val="0"/>
        </a:spcBef>
        <a:spcAft>
          <a:spcPct val="0"/>
        </a:spcAft>
        <a:defRPr sz="4400">
          <a:solidFill>
            <a:schemeClr val="accent2"/>
          </a:solidFill>
          <a:latin typeface="Arial" panose="020B0604020202020204" pitchFamily="34" charset="0"/>
        </a:defRPr>
      </a:lvl4pPr>
      <a:lvl5pPr algn="ctr" rtl="0" eaLnBrk="0" fontAlgn="base" hangingPunct="0">
        <a:spcBef>
          <a:spcPct val="0"/>
        </a:spcBef>
        <a:spcAft>
          <a:spcPct val="0"/>
        </a:spcAft>
        <a:defRPr sz="4400">
          <a:solidFill>
            <a:schemeClr val="accent2"/>
          </a:solidFill>
          <a:latin typeface="Arial" panose="020B0604020202020204" pitchFamily="34" charset="0"/>
        </a:defRPr>
      </a:lvl5pPr>
      <a:lvl6pPr marL="457200" algn="ctr" rtl="0" fontAlgn="base">
        <a:spcBef>
          <a:spcPct val="0"/>
        </a:spcBef>
        <a:spcAft>
          <a:spcPct val="0"/>
        </a:spcAft>
        <a:defRPr sz="4400">
          <a:solidFill>
            <a:schemeClr val="accent2"/>
          </a:solidFill>
          <a:latin typeface="Arial" panose="020B0604020202020204" pitchFamily="34" charset="0"/>
        </a:defRPr>
      </a:lvl6pPr>
      <a:lvl7pPr marL="914400" algn="ctr" rtl="0" fontAlgn="base">
        <a:spcBef>
          <a:spcPct val="0"/>
        </a:spcBef>
        <a:spcAft>
          <a:spcPct val="0"/>
        </a:spcAft>
        <a:defRPr sz="4400">
          <a:solidFill>
            <a:schemeClr val="accent2"/>
          </a:solidFill>
          <a:latin typeface="Arial" panose="020B0604020202020204" pitchFamily="34" charset="0"/>
        </a:defRPr>
      </a:lvl7pPr>
      <a:lvl8pPr marL="1371600" algn="ctr" rtl="0" fontAlgn="base">
        <a:spcBef>
          <a:spcPct val="0"/>
        </a:spcBef>
        <a:spcAft>
          <a:spcPct val="0"/>
        </a:spcAft>
        <a:defRPr sz="4400">
          <a:solidFill>
            <a:schemeClr val="accent2"/>
          </a:solidFill>
          <a:latin typeface="Arial" panose="020B0604020202020204" pitchFamily="34" charset="0"/>
        </a:defRPr>
      </a:lvl8pPr>
      <a:lvl9pPr marL="1828800" algn="ctr" rtl="0" fontAlgn="base">
        <a:spcBef>
          <a:spcPct val="0"/>
        </a:spcBef>
        <a:spcAft>
          <a:spcPct val="0"/>
        </a:spcAft>
        <a:defRPr sz="4400">
          <a:solidFill>
            <a:schemeClr val="accent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4.png"/><Relationship Id="rId7" Type="http://schemas.openxmlformats.org/officeDocument/2006/relationships/image" Target="../media/image6.emf"/><Relationship Id="rId2" Type="http://schemas.openxmlformats.org/officeDocument/2006/relationships/slideLayout" Target="../slideLayouts/slideLayout4.xml"/><Relationship Id="rId1" Type="http://schemas.openxmlformats.org/officeDocument/2006/relationships/vmlDrawing" Target="../drawings/vmlDrawing2.v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1.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5" Type="http://schemas.openxmlformats.org/officeDocument/2006/relationships/image" Target="../media/image8.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9.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image" Target="../media/image22.png"/><Relationship Id="rId5" Type="http://schemas.openxmlformats.org/officeDocument/2006/relationships/image" Target="../media/image4.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2.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8.png"/><Relationship Id="rId7" Type="http://schemas.openxmlformats.org/officeDocument/2006/relationships/image" Target="../media/image6.emf"/><Relationship Id="rId2" Type="http://schemas.openxmlformats.org/officeDocument/2006/relationships/slideLayout" Target="../slideLayouts/slideLayout4.xml"/><Relationship Id="rId1" Type="http://schemas.openxmlformats.org/officeDocument/2006/relationships/vmlDrawing" Target="../drawings/vmlDrawing3.v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image" Target="../media/image24.jpeg"/><Relationship Id="rId5" Type="http://schemas.openxmlformats.org/officeDocument/2006/relationships/image" Target="../media/image23.wmf"/><Relationship Id="rId4"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4.xml"/><Relationship Id="rId1" Type="http://schemas.openxmlformats.org/officeDocument/2006/relationships/vmlDrawing" Target="../drawings/vmlDrawing5.vml"/><Relationship Id="rId4" Type="http://schemas.openxmlformats.org/officeDocument/2006/relationships/image" Target="../media/image3.wmf"/></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8.png"/><Relationship Id="rId7" Type="http://schemas.openxmlformats.org/officeDocument/2006/relationships/image" Target="../media/image6.emf"/><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image" Target="../media/image3.wmf"/><Relationship Id="rId5" Type="http://schemas.openxmlformats.org/officeDocument/2006/relationships/oleObject" Target="../embeddings/oleObject6.bin"/><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file:///C:\Program%20Files\Accessories\MSPAINT.EXE"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7.emf"/><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38.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8.bin"/><Relationship Id="rId5" Type="http://schemas.openxmlformats.org/officeDocument/2006/relationships/image" Target="../media/image37.emf"/><Relationship Id="rId4" Type="http://schemas.openxmlformats.org/officeDocument/2006/relationships/oleObject" Target="../embeddings/oleObject7.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40.emf"/><Relationship Id="rId4" Type="http://schemas.openxmlformats.org/officeDocument/2006/relationships/image" Target="../media/image39.emf"/></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1.wmf"/><Relationship Id="rId4" Type="http://schemas.openxmlformats.org/officeDocument/2006/relationships/oleObject" Target="../embeddings/oleObject10.bin"/></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42.emf"/></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43.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3.bin"/><Relationship Id="rId5" Type="http://schemas.openxmlformats.org/officeDocument/2006/relationships/image" Target="../media/image42.emf"/><Relationship Id="rId4" Type="http://schemas.openxmlformats.org/officeDocument/2006/relationships/oleObject" Target="../embeddings/oleObject12.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4.xml"/><Relationship Id="rId1" Type="http://schemas.openxmlformats.org/officeDocument/2006/relationships/vmlDrawing" Target="../drawings/vmlDrawing12.vml"/><Relationship Id="rId6" Type="http://schemas.openxmlformats.org/officeDocument/2006/relationships/image" Target="../media/image44.emf"/><Relationship Id="rId5" Type="http://schemas.openxmlformats.org/officeDocument/2006/relationships/image" Target="../media/image3.wmf"/><Relationship Id="rId4" Type="http://schemas.openxmlformats.org/officeDocument/2006/relationships/oleObject" Target="../embeddings/oleObject1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3"/>
          <p:cNvGraphicFramePr>
            <a:graphicFrameLocks noChangeAspect="1"/>
          </p:cNvGraphicFramePr>
          <p:nvPr/>
        </p:nvGraphicFramePr>
        <p:xfrm>
          <a:off x="2062163" y="1600200"/>
          <a:ext cx="5861050" cy="3581400"/>
        </p:xfrm>
        <a:graphic>
          <a:graphicData uri="http://schemas.openxmlformats.org/presentationml/2006/ole">
            <mc:AlternateContent xmlns:mc="http://schemas.openxmlformats.org/markup-compatibility/2006">
              <mc:Choice xmlns:v="urn:schemas-microsoft-com:vml" Requires="v">
                <p:oleObj spid="_x0000_s76863" name="Image" r:id="rId4" imgW="7048500" imgH="3975100" progId="Photoshop.Image.7">
                  <p:embed/>
                </p:oleObj>
              </mc:Choice>
              <mc:Fallback>
                <p:oleObj name="Image" r:id="rId4" imgW="7048500" imgH="3975100" progId="Photoshop.Image.7">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62163" y="1600200"/>
                        <a:ext cx="586105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3" name="Rectangle 4"/>
          <p:cNvSpPr>
            <a:spLocks noGrp="1" noChangeArrowheads="1"/>
          </p:cNvSpPr>
          <p:nvPr>
            <p:ph type="ctrTitle"/>
          </p:nvPr>
        </p:nvSpPr>
        <p:spPr>
          <a:xfrm>
            <a:off x="1624263" y="152400"/>
            <a:ext cx="6446585" cy="762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区域填充、字符与走样</a:t>
            </a:r>
          </a:p>
        </p:txBody>
      </p:sp>
      <p:sp>
        <p:nvSpPr>
          <p:cNvPr id="5124" name="Rectangle 5"/>
          <p:cNvSpPr>
            <a:spLocks noChangeArrowheads="1"/>
          </p:cNvSpPr>
          <p:nvPr/>
        </p:nvSpPr>
        <p:spPr bwMode="auto">
          <a:xfrm>
            <a:off x="4191000" y="1066801"/>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r" eaLnBrk="1" hangingPunct="1">
              <a:spcBef>
                <a:spcPct val="0"/>
              </a:spcBef>
              <a:buFontTx/>
              <a:buNone/>
            </a:pPr>
            <a:r>
              <a:rPr lang="zh-CN" altLang="en-US" sz="2800" dirty="0">
                <a:solidFill>
                  <a:schemeClr val="accent2"/>
                </a:solidFill>
                <a:latin typeface="微软雅黑" panose="020B0503020204020204" pitchFamily="34" charset="-122"/>
                <a:ea typeface="微软雅黑" panose="020B0503020204020204" pitchFamily="34" charset="-122"/>
              </a:rPr>
              <a:t>计算机图形学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8F8B4D-5E58-4B46-8AC9-FC676262A543}" type="slidenum">
              <a:rPr lang="zh-CN" altLang="en-US" sz="1400" smtClean="0">
                <a:latin typeface="Arial" panose="020B0604020202020204" pitchFamily="34" charset="0"/>
              </a:rPr>
              <a:t>2</a:t>
            </a:fld>
            <a:endParaRPr lang="en-US" altLang="zh-CN" sz="1400">
              <a:latin typeface="Arial" panose="020B0604020202020204" pitchFamily="34" charset="0"/>
            </a:endParaRPr>
          </a:p>
        </p:txBody>
      </p:sp>
      <p:sp>
        <p:nvSpPr>
          <p:cNvPr id="409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区域填充、字符与走样</a:t>
            </a:r>
            <a:endParaRPr lang="en-US" altLang="zh-CN" dirty="0">
              <a:ea typeface="宋体" panose="02010600030101010101" pitchFamily="2" charset="-122"/>
            </a:endParaRPr>
          </a:p>
        </p:txBody>
      </p:sp>
      <p:sp>
        <p:nvSpPr>
          <p:cNvPr id="4100" name="Rectangle 3"/>
          <p:cNvSpPr>
            <a:spLocks noGrp="1" noChangeArrowheads="1"/>
          </p:cNvSpPr>
          <p:nvPr>
            <p:ph type="body" sz="half" idx="1"/>
          </p:nvPr>
        </p:nvSpPr>
        <p:spPr/>
        <p:txBody>
          <a:bodyPr/>
          <a:lstStyle/>
          <a:p>
            <a:pPr eaLnBrk="1" hangingPunct="1"/>
            <a:r>
              <a:rPr lang="zh-CN" altLang="en-US" dirty="0">
                <a:ea typeface="宋体" panose="02010600030101010101" pitchFamily="2" charset="-122"/>
              </a:rPr>
              <a:t>区域填充</a:t>
            </a:r>
            <a:endParaRPr lang="en-US" altLang="zh-CN" dirty="0">
              <a:ea typeface="宋体" panose="02010600030101010101" pitchFamily="2" charset="-122"/>
            </a:endParaRPr>
          </a:p>
          <a:p>
            <a:pPr eaLnBrk="1" hangingPunct="1"/>
            <a:r>
              <a:rPr lang="zh-CN" altLang="en-US" dirty="0">
                <a:ea typeface="宋体" panose="02010600030101010101" pitchFamily="2" charset="-122"/>
              </a:rPr>
              <a:t>字符</a:t>
            </a:r>
            <a:endParaRPr lang="en-US" altLang="zh-CN" dirty="0">
              <a:ea typeface="宋体" panose="02010600030101010101" pitchFamily="2" charset="-122"/>
            </a:endParaRPr>
          </a:p>
          <a:p>
            <a:pPr eaLnBrk="1" hangingPunct="1"/>
            <a:r>
              <a:rPr lang="zh-CN" altLang="en-US" dirty="0">
                <a:ea typeface="宋体" panose="02010600030101010101" pitchFamily="2" charset="-122"/>
              </a:rPr>
              <a:t>走样与反走样</a:t>
            </a:r>
            <a:endParaRPr lang="en-US" altLang="zh-CN" dirty="0">
              <a:ea typeface="宋体" panose="02010600030101010101" pitchFamily="2" charset="-122"/>
            </a:endParaRPr>
          </a:p>
        </p:txBody>
      </p:sp>
      <p:pic>
        <p:nvPicPr>
          <p:cNvPr id="4102" name="Picture 5" descr="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2488" y="2813050"/>
            <a:ext cx="252888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3"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3781" y="4740275"/>
            <a:ext cx="2146300" cy="172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04" name="Object 8"/>
          <p:cNvGraphicFramePr>
            <a:graphicFrameLocks noGrp="1" noChangeAspect="1"/>
          </p:cNvGraphicFramePr>
          <p:nvPr>
            <p:ph sz="half" idx="2"/>
          </p:nvPr>
        </p:nvGraphicFramePr>
        <p:xfrm>
          <a:off x="8042275" y="434975"/>
          <a:ext cx="1470025" cy="1608138"/>
        </p:xfrm>
        <a:graphic>
          <a:graphicData uri="http://schemas.openxmlformats.org/presentationml/2006/ole">
            <mc:AlternateContent xmlns:mc="http://schemas.openxmlformats.org/markup-compatibility/2006">
              <mc:Choice xmlns:v="urn:schemas-microsoft-com:vml" Requires="v">
                <p:oleObj spid="_x0000_s4168" name="VISIO" r:id="rId5" imgW="577215" imgH="630555" progId="Visio.Drawing.5">
                  <p:embed/>
                </p:oleObj>
              </mc:Choice>
              <mc:Fallback>
                <p:oleObj name="VISIO" r:id="rId5" imgW="577215" imgH="630555" progId="Visio.Drawing.5">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2275" y="434975"/>
                        <a:ext cx="1470025" cy="1608138"/>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7"/>
          <a:stretch>
            <a:fillRect/>
          </a:stretch>
        </p:blipFill>
        <p:spPr>
          <a:xfrm>
            <a:off x="440862" y="4440238"/>
            <a:ext cx="2142000" cy="1805400"/>
          </a:xfrm>
          <a:prstGeom prst="rect">
            <a:avLst/>
          </a:prstGeom>
        </p:spPr>
      </p:pic>
      <p:pic>
        <p:nvPicPr>
          <p:cNvPr id="3" name="图片 2"/>
          <p:cNvPicPr>
            <a:picLocks noChangeAspect="1"/>
          </p:cNvPicPr>
          <p:nvPr/>
        </p:nvPicPr>
        <p:blipFill>
          <a:blip r:embed="rId8"/>
          <a:stretch>
            <a:fillRect/>
          </a:stretch>
        </p:blipFill>
        <p:spPr>
          <a:xfrm>
            <a:off x="3384000" y="4464301"/>
            <a:ext cx="2223600" cy="1754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3"/>
          <p:cNvSpPr txBox="1">
            <a:spLocks noChangeArrowheads="1"/>
          </p:cNvSpPr>
          <p:nvPr/>
        </p:nvSpPr>
        <p:spPr bwMode="auto">
          <a:xfrm>
            <a:off x="87313" y="1125538"/>
            <a:ext cx="9644062" cy="3217862"/>
          </a:xfrm>
          <a:prstGeom prst="rect">
            <a:avLst/>
          </a:prstGeom>
          <a:noFill/>
          <a:ln w="9525">
            <a:noFill/>
            <a:miter lim="800000"/>
          </a:ln>
        </p:spPr>
        <p:txBody>
          <a:bodyPr/>
          <a:lstStyle/>
          <a:p>
            <a:pPr marL="342900" indent="-342900" eaLnBrk="1" hangingPunct="1">
              <a:spcBef>
                <a:spcPct val="20000"/>
              </a:spcBef>
              <a:buFontTx/>
              <a:buChar char="•"/>
              <a:defRPr/>
            </a:pPr>
            <a:r>
              <a:rPr kumimoji="1" lang="zh-CN" altLang="en-US" sz="3200" b="1" kern="0" dirty="0">
                <a:solidFill>
                  <a:schemeClr val="accent2"/>
                </a:solidFill>
                <a:latin typeface="+mn-lt"/>
                <a:ea typeface="宋体" panose="02010600030101010101" pitchFamily="2" charset="-122"/>
              </a:rPr>
              <a:t>区域填充</a:t>
            </a:r>
            <a:r>
              <a:rPr lang="zh-CN" altLang="en-US" sz="3200" kern="0" dirty="0">
                <a:latin typeface="宋体" panose="02010600030101010101" pitchFamily="2" charset="-122"/>
                <a:ea typeface="宋体" panose="02010600030101010101" pitchFamily="2" charset="-122"/>
              </a:rPr>
              <a:t>指先将区域的一点赋予指定的颜色，然后将该颜色扩展到整个区域的过程</a:t>
            </a:r>
            <a:endParaRPr lang="en-US" altLang="zh-CN" sz="3200" kern="0" dirty="0">
              <a:latin typeface="宋体" panose="02010600030101010101" pitchFamily="2" charset="-122"/>
              <a:ea typeface="宋体" panose="02010600030101010101" pitchFamily="2" charset="-122"/>
            </a:endParaRPr>
          </a:p>
          <a:p>
            <a:pPr marL="342900" indent="-342900" eaLnBrk="1" hangingPunct="1">
              <a:spcBef>
                <a:spcPct val="20000"/>
              </a:spcBef>
              <a:buFontTx/>
              <a:buChar char="•"/>
              <a:defRPr/>
            </a:pPr>
            <a:r>
              <a:rPr lang="zh-CN" altLang="en-US" sz="3200" b="1" kern="0" dirty="0">
                <a:solidFill>
                  <a:srgbClr val="333399"/>
                </a:solidFill>
                <a:latin typeface="宋体" panose="02010600030101010101" pitchFamily="2" charset="-122"/>
                <a:ea typeface="宋体" panose="02010600030101010101" pitchFamily="2" charset="-122"/>
              </a:rPr>
              <a:t>输入</a:t>
            </a:r>
            <a:r>
              <a:rPr lang="en-US" altLang="zh-CN" sz="3200" b="1" kern="0" dirty="0">
                <a:solidFill>
                  <a:srgbClr val="333399"/>
                </a:solidFill>
                <a:latin typeface="宋体" panose="02010600030101010101" pitchFamily="2" charset="-122"/>
                <a:ea typeface="宋体" panose="02010600030101010101" pitchFamily="2" charset="-122"/>
              </a:rPr>
              <a:t>:</a:t>
            </a:r>
            <a:r>
              <a:rPr lang="zh-CN" altLang="en-US" sz="3200" kern="0" dirty="0">
                <a:solidFill>
                  <a:srgbClr val="000000"/>
                </a:solidFill>
                <a:latin typeface="宋体" panose="02010600030101010101" pitchFamily="2" charset="-122"/>
                <a:ea typeface="宋体" panose="02010600030101010101" pitchFamily="2" charset="-122"/>
              </a:rPr>
              <a:t>区域</a:t>
            </a:r>
            <a:r>
              <a:rPr lang="en-US" altLang="zh-CN" sz="3200" kern="0" dirty="0">
                <a:solidFill>
                  <a:srgbClr val="000000"/>
                </a:solidFill>
                <a:latin typeface="宋体" panose="02010600030101010101" pitchFamily="2" charset="-122"/>
                <a:ea typeface="宋体" panose="02010600030101010101" pitchFamily="2" charset="-122"/>
              </a:rPr>
              <a:t>,</a:t>
            </a:r>
            <a:r>
              <a:rPr lang="zh-CN" altLang="en-US" sz="3200" kern="0" dirty="0">
                <a:solidFill>
                  <a:srgbClr val="000000"/>
                </a:solidFill>
                <a:latin typeface="宋体" panose="02010600030101010101" pitchFamily="2" charset="-122"/>
                <a:ea typeface="宋体" panose="02010600030101010101" pitchFamily="2" charset="-122"/>
              </a:rPr>
              <a:t>区域内一点</a:t>
            </a:r>
            <a:r>
              <a:rPr lang="en-US" altLang="zh-CN" sz="3200" kern="0" dirty="0">
                <a:solidFill>
                  <a:srgbClr val="000000"/>
                </a:solidFill>
                <a:latin typeface="宋体" panose="02010600030101010101" pitchFamily="2" charset="-122"/>
                <a:ea typeface="宋体" panose="02010600030101010101" pitchFamily="2" charset="-122"/>
              </a:rPr>
              <a:t>,</a:t>
            </a:r>
            <a:r>
              <a:rPr lang="zh-CN" altLang="en-US" sz="3200" kern="0" dirty="0">
                <a:solidFill>
                  <a:srgbClr val="000000"/>
                </a:solidFill>
                <a:latin typeface="宋体" panose="02010600030101010101" pitchFamily="2" charset="-122"/>
                <a:ea typeface="宋体" panose="02010600030101010101" pitchFamily="2" charset="-122"/>
              </a:rPr>
              <a:t>颜色</a:t>
            </a:r>
            <a:endParaRPr lang="en-US" altLang="zh-CN" sz="3200" kern="0" dirty="0">
              <a:solidFill>
                <a:srgbClr val="000000"/>
              </a:solidFill>
              <a:latin typeface="宋体" panose="02010600030101010101" pitchFamily="2" charset="-122"/>
              <a:ea typeface="宋体" panose="02010600030101010101" pitchFamily="2" charset="-122"/>
            </a:endParaRPr>
          </a:p>
          <a:p>
            <a:pPr marL="342900" indent="-342900" eaLnBrk="1" hangingPunct="1">
              <a:spcBef>
                <a:spcPct val="20000"/>
              </a:spcBef>
              <a:buFontTx/>
              <a:buChar char="•"/>
              <a:defRPr/>
            </a:pPr>
            <a:r>
              <a:rPr lang="zh-CN" altLang="en-US" sz="3200" b="1" kern="0" dirty="0">
                <a:solidFill>
                  <a:srgbClr val="333399"/>
                </a:solidFill>
                <a:latin typeface="宋体" panose="02010600030101010101" pitchFamily="2" charset="-122"/>
                <a:ea typeface="宋体" panose="02010600030101010101" pitchFamily="2" charset="-122"/>
              </a:rPr>
              <a:t>输出</a:t>
            </a:r>
            <a:r>
              <a:rPr lang="en-US" altLang="zh-CN" sz="3200" b="1" kern="0" dirty="0">
                <a:solidFill>
                  <a:srgbClr val="333399"/>
                </a:solidFill>
                <a:latin typeface="宋体" panose="02010600030101010101" pitchFamily="2" charset="-122"/>
                <a:ea typeface="宋体" panose="02010600030101010101" pitchFamily="2" charset="-122"/>
              </a:rPr>
              <a:t>:</a:t>
            </a:r>
            <a:r>
              <a:rPr lang="zh-CN" altLang="en-US" sz="3200" kern="0" dirty="0">
                <a:solidFill>
                  <a:srgbClr val="000000"/>
                </a:solidFill>
                <a:latin typeface="宋体" panose="02010600030101010101" pitchFamily="2" charset="-122"/>
                <a:ea typeface="宋体" panose="02010600030101010101" pitchFamily="2" charset="-122"/>
              </a:rPr>
              <a:t>将区域内所有其它点赋上指定颜色</a:t>
            </a:r>
            <a:endParaRPr lang="en-US" altLang="zh-CN" sz="3200" kern="0" dirty="0">
              <a:solidFill>
                <a:srgbClr val="000000"/>
              </a:solidFill>
              <a:latin typeface="宋体" panose="02010600030101010101" pitchFamily="2" charset="-122"/>
              <a:ea typeface="宋体" panose="02010600030101010101" pitchFamily="2" charset="-122"/>
            </a:endParaRPr>
          </a:p>
          <a:p>
            <a:pPr marL="342900" indent="-342900" eaLnBrk="1" hangingPunct="1">
              <a:spcBef>
                <a:spcPct val="20000"/>
              </a:spcBef>
              <a:buFontTx/>
              <a:buChar char="•"/>
              <a:defRPr/>
            </a:pPr>
            <a:endParaRPr kumimoji="1" lang="zh-CN" altLang="en-US" sz="3200" kern="0" dirty="0">
              <a:latin typeface="+mn-lt"/>
              <a:ea typeface="宋体" panose="02010600030101010101" pitchFamily="2" charset="-122"/>
            </a:endParaRPr>
          </a:p>
          <a:p>
            <a:pPr marL="342900" indent="-342900" eaLnBrk="1" hangingPunct="1">
              <a:spcBef>
                <a:spcPct val="20000"/>
              </a:spcBef>
              <a:defRPr/>
            </a:pPr>
            <a:r>
              <a:rPr lang="zh-CN" altLang="en-US" sz="4400" kern="0" dirty="0">
                <a:solidFill>
                  <a:schemeClr val="accent2"/>
                </a:solidFill>
                <a:effectLst>
                  <a:outerShdw blurRad="38100" dist="38100" dir="2700000" algn="tl">
                    <a:srgbClr val="C0C0C0"/>
                  </a:outerShdw>
                </a:effectLst>
                <a:latin typeface="+mn-lt"/>
                <a:ea typeface="宋体" panose="02010600030101010101" pitchFamily="2" charset="-122"/>
              </a:rPr>
              <a:t>　　　　</a:t>
            </a:r>
            <a:r>
              <a:rPr lang="zh-CN" altLang="en-US" sz="3200" kern="0" dirty="0">
                <a:solidFill>
                  <a:schemeClr val="accent2"/>
                </a:solidFill>
                <a:effectLst>
                  <a:outerShdw blurRad="38100" dist="38100" dir="2700000" algn="tl">
                    <a:srgbClr val="C0C0C0"/>
                  </a:outerShdw>
                </a:effectLst>
                <a:latin typeface="+mn-lt"/>
                <a:ea typeface="宋体" panose="02010600030101010101" pitchFamily="2" charset="-122"/>
              </a:rPr>
              <a:t>　　　　　　</a:t>
            </a:r>
          </a:p>
        </p:txBody>
      </p:sp>
      <p:sp>
        <p:nvSpPr>
          <p:cNvPr id="5123"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3A220D3-3563-47B1-BB16-A1FC45CF8DA8}" type="slidenum">
              <a:rPr lang="zh-CN" altLang="en-US" sz="1400" smtClean="0">
                <a:latin typeface="Arial" panose="020B0604020202020204" pitchFamily="34" charset="0"/>
              </a:rPr>
              <a:t>3</a:t>
            </a:fld>
            <a:endParaRPr lang="en-US" altLang="zh-CN" sz="1400">
              <a:latin typeface="Arial" panose="020B0604020202020204" pitchFamily="34" charset="0"/>
            </a:endParaRPr>
          </a:p>
        </p:txBody>
      </p:sp>
      <p:sp>
        <p:nvSpPr>
          <p:cNvPr id="5124" name="Rectangle 2"/>
          <p:cNvSpPr>
            <a:spLocks noGrp="1" noChangeArrowheads="1"/>
          </p:cNvSpPr>
          <p:nvPr>
            <p:ph type="title"/>
          </p:nvPr>
        </p:nvSpPr>
        <p:spPr>
          <a:xfrm>
            <a:off x="189163" y="150813"/>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问题提出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 name="组合 17"/>
          <p:cNvGrpSpPr/>
          <p:nvPr/>
        </p:nvGrpSpPr>
        <p:grpSpPr bwMode="auto">
          <a:xfrm>
            <a:off x="4465638" y="4605338"/>
            <a:ext cx="4041775" cy="1627187"/>
            <a:chOff x="4465638" y="4605792"/>
            <a:chExt cx="4042001" cy="1627187"/>
          </a:xfrm>
        </p:grpSpPr>
        <p:pic>
          <p:nvPicPr>
            <p:cNvPr id="5131" name="Picture 11" descr="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8752" y="4605792"/>
              <a:ext cx="2528887"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2" name="Line 12"/>
            <p:cNvSpPr>
              <a:spLocks noChangeShapeType="1"/>
            </p:cNvSpPr>
            <p:nvPr/>
          </p:nvSpPr>
          <p:spPr bwMode="auto">
            <a:xfrm>
              <a:off x="4465638" y="5397046"/>
              <a:ext cx="781050"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3" name="AutoShape 4"/>
          <p:cNvSpPr>
            <a:spLocks noChangeArrowheads="1"/>
          </p:cNvSpPr>
          <p:nvPr/>
        </p:nvSpPr>
        <p:spPr bwMode="auto">
          <a:xfrm>
            <a:off x="6973888" y="1708150"/>
            <a:ext cx="2414587" cy="563563"/>
          </a:xfrm>
          <a:prstGeom prst="wedgeRoundRectCallout">
            <a:avLst>
              <a:gd name="adj1" fmla="val -83969"/>
              <a:gd name="adj2" fmla="val 705"/>
              <a:gd name="adj3" fmla="val 16667"/>
            </a:avLst>
          </a:prstGeom>
        </p:spPr>
        <p:style>
          <a:lnRef idx="1">
            <a:schemeClr val="accent6"/>
          </a:lnRef>
          <a:fillRef idx="2">
            <a:schemeClr val="accent6"/>
          </a:fillRef>
          <a:effectRef idx="1">
            <a:schemeClr val="accent6"/>
          </a:effectRef>
          <a:fontRef idx="minor">
            <a:schemeClr val="dk1"/>
          </a:fontRef>
        </p:style>
        <p:txBody>
          <a:bodyPr/>
          <a:lstStyle/>
          <a:p>
            <a:pPr algn="ctr" eaLnBrk="1" hangingPunct="1">
              <a:defRPr/>
            </a:pPr>
            <a:r>
              <a:rPr lang="zh-CN" altLang="en-US" sz="2800" dirty="0">
                <a:solidFill>
                  <a:schemeClr val="accent2"/>
                </a:solidFill>
                <a:ea typeface="宋体" panose="02010600030101010101" pitchFamily="2" charset="-122"/>
              </a:rPr>
              <a:t>问题是什么</a:t>
            </a:r>
          </a:p>
        </p:txBody>
      </p:sp>
      <p:grpSp>
        <p:nvGrpSpPr>
          <p:cNvPr id="3" name="组合 16"/>
          <p:cNvGrpSpPr/>
          <p:nvPr/>
        </p:nvGrpSpPr>
        <p:grpSpPr bwMode="auto">
          <a:xfrm>
            <a:off x="1408113" y="4483100"/>
            <a:ext cx="2559050" cy="1647825"/>
            <a:chOff x="1407659" y="4483553"/>
            <a:chExt cx="2559050" cy="1647825"/>
          </a:xfrm>
        </p:grpSpPr>
        <p:pic>
          <p:nvPicPr>
            <p:cNvPr id="5129" name="Picture 10" descr="0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7659" y="4483553"/>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30" name="椭圆 15"/>
            <p:cNvSpPr>
              <a:spLocks noChangeArrowheads="1"/>
            </p:cNvSpPr>
            <p:nvPr/>
          </p:nvSpPr>
          <p:spPr bwMode="auto">
            <a:xfrm>
              <a:off x="2449287" y="5312228"/>
              <a:ext cx="108856" cy="97971"/>
            </a:xfrm>
            <a:prstGeom prst="ellipse">
              <a:avLst/>
            </a:prstGeom>
            <a:solidFill>
              <a:schemeClr val="tx1"/>
            </a:solidFill>
            <a:ln w="12700" algn="ctr">
              <a:solidFill>
                <a:schemeClr val="tx1"/>
              </a:solidFill>
              <a:miter lim="800000"/>
            </a:ln>
          </p:spPr>
          <p:txBody>
            <a:bodyPr wrap="none"/>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grpSp>
      <p:sp>
        <p:nvSpPr>
          <p:cNvPr id="20" name="AutoShape 4"/>
          <p:cNvSpPr>
            <a:spLocks noChangeArrowheads="1"/>
          </p:cNvSpPr>
          <p:nvPr/>
        </p:nvSpPr>
        <p:spPr bwMode="auto">
          <a:xfrm>
            <a:off x="7065963" y="3911600"/>
            <a:ext cx="2322512" cy="563563"/>
          </a:xfrm>
          <a:prstGeom prst="wedgeRoundRectCallout">
            <a:avLst>
              <a:gd name="adj1" fmla="val -49409"/>
              <a:gd name="adj2" fmla="val 117382"/>
              <a:gd name="adj3" fmla="val 16667"/>
            </a:avLst>
          </a:prstGeom>
        </p:spPr>
        <p:style>
          <a:lnRef idx="1">
            <a:schemeClr val="accent6"/>
          </a:lnRef>
          <a:fillRef idx="2">
            <a:schemeClr val="accent6"/>
          </a:fillRef>
          <a:effectRef idx="1">
            <a:schemeClr val="accent6"/>
          </a:effectRef>
          <a:fontRef idx="minor">
            <a:schemeClr val="dk1"/>
          </a:fontRef>
        </p:style>
        <p:txBody>
          <a:bodyPr/>
          <a:lstStyle/>
          <a:p>
            <a:pPr algn="ctr" eaLnBrk="1" hangingPunct="1">
              <a:defRPr/>
            </a:pPr>
            <a:r>
              <a:rPr lang="zh-CN" altLang="en-US" sz="2800" dirty="0">
                <a:solidFill>
                  <a:schemeClr val="accent2"/>
                </a:solidFill>
                <a:ea typeface="宋体" panose="02010600030101010101" pitchFamily="2" charset="-122"/>
              </a:rPr>
              <a:t>如何解决</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blinds(horizontal)">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linds(horizontal)">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8">
                                            <p:txEl>
                                              <p:pRg st="1" end="1"/>
                                            </p:txEl>
                                          </p:spTgt>
                                        </p:tgtEl>
                                        <p:attrNameLst>
                                          <p:attrName>style.visibility</p:attrName>
                                        </p:attrNameLst>
                                      </p:cBhvr>
                                      <p:to>
                                        <p:strVal val="visible"/>
                                      </p:to>
                                    </p:set>
                                    <p:animEffect transition="in" filter="blinds(horizontal)">
                                      <p:cBhvr>
                                        <p:cTn id="17" dur="500"/>
                                        <p:tgtEl>
                                          <p:spTgt spid="1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checkerboard(across)">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8">
                                            <p:txEl>
                                              <p:pRg st="2" end="2"/>
                                            </p:txEl>
                                          </p:spTgt>
                                        </p:tgtEl>
                                        <p:attrNameLst>
                                          <p:attrName>style.visibility</p:attrName>
                                        </p:attrNameLst>
                                      </p:cBhvr>
                                      <p:to>
                                        <p:strVal val="visible"/>
                                      </p:to>
                                    </p:set>
                                    <p:animEffect transition="in" filter="blinds(horizontal)">
                                      <p:cBhvr>
                                        <p:cTn id="27" dur="500"/>
                                        <p:tgtEl>
                                          <p:spTgt spid="1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linds(horizontal)">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checkerboard(across)">
                                      <p:cBhvr>
                                        <p:cTn id="3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C792833-2445-4FEB-8C10-FD7B80632042}" type="slidenum">
              <a:rPr lang="zh-CN" altLang="en-US" sz="1400" smtClean="0">
                <a:latin typeface="Arial" panose="020B0604020202020204" pitchFamily="34" charset="0"/>
              </a:rPr>
              <a:t>4</a:t>
            </a:fld>
            <a:endParaRPr lang="en-US" altLang="zh-CN" sz="1400">
              <a:latin typeface="Arial" panose="020B0604020202020204" pitchFamily="34" charset="0"/>
            </a:endParaRPr>
          </a:p>
        </p:txBody>
      </p:sp>
      <p:pic>
        <p:nvPicPr>
          <p:cNvPr id="7171" name="Picture 11" descr="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25888" y="3983038"/>
            <a:ext cx="2528887"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Rectangle 2"/>
          <p:cNvSpPr>
            <a:spLocks noGrp="1" noChangeArrowheads="1"/>
          </p:cNvSpPr>
          <p:nvPr>
            <p:ph type="title"/>
          </p:nvPr>
        </p:nvSpPr>
        <p:spPr>
          <a:xfrm>
            <a:off x="146050" y="127001"/>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区域填充</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7173" name="Picture 10" descr="0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538" y="3937000"/>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4" name="Line 12"/>
          <p:cNvSpPr>
            <a:spLocks noChangeShapeType="1"/>
          </p:cNvSpPr>
          <p:nvPr/>
        </p:nvSpPr>
        <p:spPr bwMode="auto">
          <a:xfrm>
            <a:off x="3163888" y="4959350"/>
            <a:ext cx="781050"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27" name="TextBox 10"/>
          <p:cNvSpPr txBox="1">
            <a:spLocks noChangeArrowheads="1"/>
          </p:cNvSpPr>
          <p:nvPr/>
        </p:nvSpPr>
        <p:spPr bwMode="auto">
          <a:xfrm>
            <a:off x="146050" y="1133475"/>
            <a:ext cx="9586913"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FontTx/>
              <a:buChar char="•"/>
              <a:defRPr/>
            </a:pPr>
            <a:r>
              <a:rPr lang="zh-CN" altLang="en-US" sz="3200" b="1" dirty="0">
                <a:solidFill>
                  <a:srgbClr val="333399"/>
                </a:solidFill>
                <a:latin typeface="宋体" panose="02010600030101010101" pitchFamily="2" charset="-122"/>
                <a:ea typeface="宋体" panose="02010600030101010101" pitchFamily="2" charset="-122"/>
              </a:rPr>
              <a:t>区域？</a:t>
            </a:r>
            <a:endParaRPr lang="en-US" altLang="zh-CN" sz="3200" b="1" dirty="0">
              <a:solidFill>
                <a:srgbClr val="333399"/>
              </a:solidFill>
              <a:latin typeface="宋体" panose="02010600030101010101" pitchFamily="2" charset="-122"/>
              <a:ea typeface="宋体" panose="02010600030101010101" pitchFamily="2" charset="-122"/>
            </a:endParaRPr>
          </a:p>
          <a:p>
            <a:pPr eaLnBrk="1" hangingPunct="1">
              <a:spcBef>
                <a:spcPct val="20000"/>
              </a:spcBef>
              <a:buFontTx/>
              <a:buChar char="•"/>
              <a:defRPr/>
            </a:pPr>
            <a:r>
              <a:rPr lang="zh-CN" altLang="en-US" sz="3200" dirty="0">
                <a:solidFill>
                  <a:srgbClr val="000000"/>
                </a:solidFill>
                <a:latin typeface="宋体" panose="02010600030101010101" pitchFamily="2" charset="-122"/>
                <a:ea typeface="宋体" panose="02010600030101010101" pitchFamily="2" charset="-122"/>
              </a:rPr>
              <a:t>已经表示成点阵形式的填充图形，它是像素的集合</a:t>
            </a:r>
            <a:endParaRPr lang="en-US" altLang="zh-CN" sz="3200" dirty="0">
              <a:solidFill>
                <a:srgbClr val="000000"/>
              </a:solidFill>
              <a:latin typeface="宋体" panose="02010600030101010101" pitchFamily="2" charset="-122"/>
              <a:ea typeface="宋体" panose="02010600030101010101" pitchFamily="2" charset="-122"/>
            </a:endParaRPr>
          </a:p>
          <a:p>
            <a:pPr eaLnBrk="1" hangingPunct="1">
              <a:spcBef>
                <a:spcPct val="20000"/>
              </a:spcBef>
              <a:buFontTx/>
              <a:buChar char="•"/>
              <a:defRPr/>
            </a:pPr>
            <a:r>
              <a:rPr lang="zh-CN" altLang="en-US" sz="3200" kern="0" dirty="0">
                <a:latin typeface="宋体" panose="02010600030101010101" pitchFamily="2" charset="-122"/>
                <a:ea typeface="宋体" panose="02010600030101010101" pitchFamily="2" charset="-122"/>
              </a:rPr>
              <a:t>如何由区域一点找到区域内其它所有点</a:t>
            </a:r>
            <a:r>
              <a:rPr lang="en-US" altLang="zh-CN" sz="3200" kern="0" dirty="0">
                <a:latin typeface="宋体" panose="02010600030101010101" pitchFamily="2" charset="-122"/>
                <a:ea typeface="宋体" panose="02010600030101010101" pitchFamily="2" charset="-122"/>
              </a:rPr>
              <a:t>?</a:t>
            </a:r>
            <a:endParaRPr lang="zh-CN" altLang="en-US" sz="3200" dirty="0">
              <a:solidFill>
                <a:srgbClr val="000000"/>
              </a:solidFill>
              <a:latin typeface="宋体" panose="02010600030101010101" pitchFamily="2" charset="-122"/>
              <a:ea typeface="宋体" panose="02010600030101010101" pitchFamily="2" charset="-122"/>
            </a:endParaRPr>
          </a:p>
          <a:p>
            <a:pPr eaLnBrk="1" hangingPunct="1">
              <a:defRPr/>
            </a:pPr>
            <a:endParaRPr lang="zh-CN" altLang="en-US" dirty="0">
              <a:ea typeface="宋体" panose="02010600030101010101" pitchFamily="2"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3FC78D5-02B2-4C32-A04A-C6F800991D70}" type="slidenum">
              <a:rPr lang="zh-CN" altLang="en-US" sz="1400" smtClean="0">
                <a:latin typeface="Arial" panose="020B0604020202020204" pitchFamily="34" charset="0"/>
              </a:rPr>
              <a:t>5</a:t>
            </a:fld>
            <a:endParaRPr lang="en-US" altLang="zh-CN" sz="1400">
              <a:latin typeface="Arial" panose="020B0604020202020204" pitchFamily="34" charset="0"/>
            </a:endParaRPr>
          </a:p>
        </p:txBody>
      </p:sp>
      <p:sp>
        <p:nvSpPr>
          <p:cNvPr id="271362" name="Rectangle 2"/>
          <p:cNvSpPr>
            <a:spLocks noGrp="1" noChangeArrowheads="1"/>
          </p:cNvSpPr>
          <p:nvPr>
            <p:ph type="body" idx="1"/>
          </p:nvPr>
        </p:nvSpPr>
        <p:spPr>
          <a:xfrm>
            <a:off x="165100" y="1295400"/>
            <a:ext cx="9493250" cy="5334000"/>
          </a:xfrm>
        </p:spPr>
        <p:txBody>
          <a:bodyPr/>
          <a:lstStyle/>
          <a:p>
            <a:pPr eaLnBrk="1" hangingPunct="1">
              <a:defRPr/>
            </a:pPr>
            <a:r>
              <a:rPr lang="zh-CN" altLang="en-US" b="1" dirty="0">
                <a:solidFill>
                  <a:schemeClr val="accent2"/>
                </a:solidFill>
                <a:latin typeface="宋体" panose="02010600030101010101" pitchFamily="2" charset="-122"/>
                <a:ea typeface="宋体" panose="02010600030101010101" pitchFamily="2" charset="-122"/>
              </a:rPr>
              <a:t>内点表示</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枚举区域内部的所有像素</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内部的所有像素着同一个颜色</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边界像素着与内部像素不同的颜色</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泛填充算法</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漫水法</a:t>
            </a:r>
            <a:r>
              <a:rPr lang="en-US" altLang="zh-CN" sz="2400" dirty="0">
                <a:latin typeface="宋体" panose="02010600030101010101" pitchFamily="2" charset="-122"/>
                <a:ea typeface="宋体" panose="02010600030101010101" pitchFamily="2" charset="-122"/>
              </a:rPr>
              <a:t>(</a:t>
            </a:r>
            <a:r>
              <a:rPr lang="en-US" altLang="zh-CN" sz="2400" dirty="0">
                <a:latin typeface="Times New Roman" panose="02020603050405020304" pitchFamily="18" charset="0"/>
                <a:ea typeface="宋体" panose="02010600030101010101" pitchFamily="2" charset="-122"/>
                <a:cs typeface="Times New Roman" panose="02020603050405020304" pitchFamily="18" charset="0"/>
              </a:rPr>
              <a:t>flood fill algorithm</a:t>
            </a:r>
            <a:r>
              <a:rPr lang="en-US" altLang="zh-CN" sz="2400" dirty="0">
                <a:latin typeface="宋体" panose="02010600030101010101" pitchFamily="2" charset="-122"/>
                <a:ea typeface="宋体" panose="02010600030101010101" pitchFamily="2" charset="-122"/>
              </a:rPr>
              <a:t>)</a:t>
            </a:r>
            <a:endParaRPr lang="zh-CN" altLang="en-US" sz="2400" dirty="0">
              <a:latin typeface="宋体" panose="02010600030101010101" pitchFamily="2" charset="-122"/>
              <a:ea typeface="宋体" panose="02010600030101010101" pitchFamily="2" charset="-122"/>
            </a:endParaRPr>
          </a:p>
          <a:p>
            <a:pPr eaLnBrk="1" hangingPunct="1">
              <a:defRPr/>
            </a:pPr>
            <a:r>
              <a:rPr lang="zh-CN" altLang="en-US" b="1" dirty="0">
                <a:solidFill>
                  <a:schemeClr val="accent2"/>
                </a:solidFill>
                <a:latin typeface="宋体" panose="02010600030101010101" pitchFamily="2" charset="-122"/>
                <a:ea typeface="宋体" panose="02010600030101010101" pitchFamily="2" charset="-122"/>
              </a:rPr>
              <a:t>边界表示</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枚举边界上所有的像素</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边界上的所有像素着同一颜色</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内部像素着与边界像素不同的颜色</a:t>
            </a:r>
          </a:p>
          <a:p>
            <a:pPr lvl="1" eaLnBrk="1" hangingPunct="1">
              <a:buFont typeface="Wingdings" panose="05000000000000000000" pitchFamily="2" charset="2"/>
              <a:buChar char="Ø"/>
              <a:defRPr/>
            </a:pPr>
            <a:r>
              <a:rPr lang="zh-CN" altLang="en-US" sz="2400" dirty="0">
                <a:latin typeface="宋体" panose="02010600030101010101" pitchFamily="2" charset="-122"/>
                <a:ea typeface="宋体" panose="02010600030101010101" pitchFamily="2" charset="-122"/>
              </a:rPr>
              <a:t>边界填充算法</a:t>
            </a:r>
            <a:endParaRPr kumimoji="1" lang="zh-CN" altLang="en-US" sz="2400" dirty="0">
              <a:ea typeface="宋体" panose="02010600030101010101" pitchFamily="2" charset="-122"/>
            </a:endParaRPr>
          </a:p>
          <a:p>
            <a:pPr eaLnBrk="1" hangingPunct="1">
              <a:buFontTx/>
              <a:buNone/>
              <a:defRPr/>
            </a:pPr>
            <a:r>
              <a:rPr lang="zh-CN" altLang="en-US" sz="4000" dirty="0">
                <a:solidFill>
                  <a:schemeClr val="accent2"/>
                </a:solidFill>
                <a:effectLst>
                  <a:outerShdw blurRad="38100" dist="38100" dir="2700000" algn="tl">
                    <a:srgbClr val="C0C0C0"/>
                  </a:outerShdw>
                </a:effectLst>
                <a:ea typeface="宋体" panose="02010600030101010101" pitchFamily="2" charset="-122"/>
              </a:rPr>
              <a:t>　　　　</a:t>
            </a:r>
          </a:p>
        </p:txBody>
      </p:sp>
      <p:pic>
        <p:nvPicPr>
          <p:cNvPr id="922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6550" y="3886200"/>
            <a:ext cx="27241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1"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86550" y="1371600"/>
            <a:ext cx="26733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2" name="Rectangle 5"/>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区域表示方法</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B5D27BB8-0BB3-4DBB-A816-BE9D9A45562B}" type="slidenum">
              <a:rPr lang="zh-CN" altLang="en-US" sz="1400" smtClean="0">
                <a:latin typeface="Arial" panose="020B0604020202020204" pitchFamily="34" charset="0"/>
              </a:rPr>
              <a:t>6</a:t>
            </a:fld>
            <a:endParaRPr lang="en-US" altLang="zh-CN" sz="1400">
              <a:latin typeface="Arial" panose="020B0604020202020204" pitchFamily="34" charset="0"/>
            </a:endParaRPr>
          </a:p>
        </p:txBody>
      </p:sp>
      <p:sp>
        <p:nvSpPr>
          <p:cNvPr id="11267"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区域连通性</a:t>
            </a:r>
          </a:p>
        </p:txBody>
      </p:sp>
      <p:sp>
        <p:nvSpPr>
          <p:cNvPr id="273411" name="Rectangle 3"/>
          <p:cNvSpPr>
            <a:spLocks noGrp="1" noChangeArrowheads="1"/>
          </p:cNvSpPr>
          <p:nvPr>
            <p:ph type="body" idx="1"/>
          </p:nvPr>
        </p:nvSpPr>
        <p:spPr>
          <a:xfrm>
            <a:off x="165100" y="1133475"/>
            <a:ext cx="9493250" cy="4483100"/>
          </a:xfrm>
        </p:spPr>
        <p:txBody>
          <a:bodyPr/>
          <a:lstStyle/>
          <a:p>
            <a:pPr eaLnBrk="1" hangingPunct="1"/>
            <a:r>
              <a:rPr lang="zh-CN" altLang="en-US" dirty="0">
                <a:latin typeface="宋体" panose="02010600030101010101" pitchFamily="2" charset="-122"/>
                <a:ea typeface="宋体" panose="02010600030101010101" pitchFamily="2" charset="-122"/>
              </a:rPr>
              <a:t>要实现区域填充必须为区域添加连通性</a:t>
            </a:r>
          </a:p>
          <a:p>
            <a:pPr eaLnBrk="1" hangingPunct="1"/>
            <a:r>
              <a:rPr lang="zh-CN" altLang="en-US" dirty="0">
                <a:latin typeface="宋体" panose="02010600030101010101" pitchFamily="2" charset="-122"/>
                <a:ea typeface="宋体" panose="02010600030101010101" pitchFamily="2" charset="-122"/>
              </a:rPr>
              <a:t>加上连通性后区域分为四连通或八连通区域</a:t>
            </a:r>
          </a:p>
          <a:p>
            <a:pPr eaLnBrk="1" hangingPunct="1"/>
            <a:r>
              <a:rPr lang="zh-CN" altLang="en-US" dirty="0">
                <a:latin typeface="宋体" panose="02010600030101010101" pitchFamily="2" charset="-122"/>
                <a:ea typeface="宋体" panose="02010600030101010101" pitchFamily="2" charset="-122"/>
              </a:rPr>
              <a:t>四连通区域：取区域内任意两点</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若从其中一点出发只需通过上、下、左、右四种运动可到达另一点</a:t>
            </a:r>
          </a:p>
          <a:p>
            <a:pPr eaLnBrk="1" hangingPunct="1"/>
            <a:r>
              <a:rPr lang="zh-CN" altLang="en-US" dirty="0">
                <a:latin typeface="宋体" panose="02010600030101010101" pitchFamily="2" charset="-122"/>
                <a:ea typeface="宋体" panose="02010600030101010101" pitchFamily="2" charset="-122"/>
              </a:rPr>
              <a:t>八连通区域</a:t>
            </a:r>
            <a:endParaRPr kumimoji="1" lang="zh-CN" altLang="en-US" dirty="0">
              <a:ea typeface="宋体" panose="02010600030101010101" pitchFamily="2" charset="-122"/>
            </a:endParaRPr>
          </a:p>
        </p:txBody>
      </p:sp>
      <p:pic>
        <p:nvPicPr>
          <p:cNvPr id="1127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27675" y="3384550"/>
            <a:ext cx="3951288" cy="342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p:cNvPicPr/>
          <p:nvPr/>
        </p:nvPicPr>
        <p:blipFill rotWithShape="1">
          <a:blip r:embed="rId5">
            <a:extLst>
              <a:ext uri="{28A0092B-C50C-407E-A947-70E740481C1C}">
                <a14:useLocalDpi xmlns:a14="http://schemas.microsoft.com/office/drawing/2010/main" val="0"/>
              </a:ext>
            </a:extLst>
          </a:blip>
          <a:srcRect l="1234" r="39816" b="5795"/>
          <a:stretch>
            <a:fillRect/>
          </a:stretch>
        </p:blipFill>
        <p:spPr bwMode="auto">
          <a:xfrm>
            <a:off x="831013" y="4884822"/>
            <a:ext cx="3139408" cy="1295792"/>
          </a:xfrm>
          <a:prstGeom prst="rect">
            <a:avLst/>
          </a:prstGeom>
          <a:noFill/>
          <a:ln>
            <a:noFill/>
          </a:ln>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3411">
                                            <p:txEl>
                                              <p:pRg st="0" end="0"/>
                                            </p:txEl>
                                          </p:spTgt>
                                        </p:tgtEl>
                                        <p:attrNameLst>
                                          <p:attrName>style.visibility</p:attrName>
                                        </p:attrNameLst>
                                      </p:cBhvr>
                                      <p:to>
                                        <p:strVal val="visible"/>
                                      </p:to>
                                    </p:set>
                                    <p:animEffect transition="in" filter="fade">
                                      <p:cBhvr>
                                        <p:cTn id="7" dur="500"/>
                                        <p:tgtEl>
                                          <p:spTgt spid="2734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3411">
                                            <p:txEl>
                                              <p:pRg st="1" end="1"/>
                                            </p:txEl>
                                          </p:spTgt>
                                        </p:tgtEl>
                                        <p:attrNameLst>
                                          <p:attrName>style.visibility</p:attrName>
                                        </p:attrNameLst>
                                      </p:cBhvr>
                                      <p:to>
                                        <p:strVal val="visible"/>
                                      </p:to>
                                    </p:set>
                                    <p:animEffect transition="in" filter="fade">
                                      <p:cBhvr>
                                        <p:cTn id="12" dur="500"/>
                                        <p:tgtEl>
                                          <p:spTgt spid="2734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3411">
                                            <p:txEl>
                                              <p:pRg st="2" end="2"/>
                                            </p:txEl>
                                          </p:spTgt>
                                        </p:tgtEl>
                                        <p:attrNameLst>
                                          <p:attrName>style.visibility</p:attrName>
                                        </p:attrNameLst>
                                      </p:cBhvr>
                                      <p:to>
                                        <p:strVal val="visible"/>
                                      </p:to>
                                    </p:set>
                                    <p:animEffect transition="in" filter="fade">
                                      <p:cBhvr>
                                        <p:cTn id="17" dur="500"/>
                                        <p:tgtEl>
                                          <p:spTgt spid="2734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3411">
                                            <p:txEl>
                                              <p:pRg st="3" end="3"/>
                                            </p:txEl>
                                          </p:spTgt>
                                        </p:tgtEl>
                                        <p:attrNameLst>
                                          <p:attrName>style.visibility</p:attrName>
                                        </p:attrNameLst>
                                      </p:cBhvr>
                                      <p:to>
                                        <p:strVal val="visible"/>
                                      </p:to>
                                    </p:set>
                                    <p:animEffect transition="in" filter="fade">
                                      <p:cBhvr>
                                        <p:cTn id="22" dur="500"/>
                                        <p:tgtEl>
                                          <p:spTgt spid="2734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6FE57F-C486-430A-A80E-D65B38E2D814}" type="slidenum">
              <a:rPr lang="zh-CN" altLang="en-US" sz="1400" smtClean="0">
                <a:latin typeface="Arial" panose="020B0604020202020204" pitchFamily="34" charset="0"/>
              </a:rPr>
              <a:t>7</a:t>
            </a:fld>
            <a:endParaRPr lang="en-US" altLang="zh-CN" sz="1400">
              <a:latin typeface="Arial" panose="020B0604020202020204" pitchFamily="34" charset="0"/>
            </a:endParaRPr>
          </a:p>
        </p:txBody>
      </p:sp>
      <p:sp>
        <p:nvSpPr>
          <p:cNvPr id="15363" name="Rectangle 2"/>
          <p:cNvSpPr>
            <a:spLocks noGrp="1" noChangeArrowheads="1"/>
          </p:cNvSpPr>
          <p:nvPr>
            <p:ph type="title"/>
          </p:nvPr>
        </p:nvSpPr>
        <p:spPr>
          <a:xfrm>
            <a:off x="176213" y="206375"/>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回到问题</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69315" name="Rectangle 3"/>
          <p:cNvSpPr>
            <a:spLocks noGrp="1" noChangeArrowheads="1"/>
          </p:cNvSpPr>
          <p:nvPr>
            <p:ph type="body" idx="1"/>
          </p:nvPr>
        </p:nvSpPr>
        <p:spPr>
          <a:xfrm>
            <a:off x="0" y="1125538"/>
            <a:ext cx="9644063" cy="3217862"/>
          </a:xfrm>
        </p:spPr>
        <p:txBody>
          <a:bodyPr/>
          <a:lstStyle/>
          <a:p>
            <a:pPr eaLnBrk="1" hangingPunct="1">
              <a:defRPr/>
            </a:pPr>
            <a:r>
              <a:rPr kumimoji="1" lang="zh-CN" altLang="en-US" b="1" dirty="0">
                <a:solidFill>
                  <a:schemeClr val="accent2"/>
                </a:solidFill>
                <a:ea typeface="宋体" panose="02010600030101010101" pitchFamily="2" charset="-122"/>
              </a:rPr>
              <a:t>区域填充</a:t>
            </a:r>
            <a:r>
              <a:rPr lang="zh-CN" altLang="en-US" dirty="0">
                <a:latin typeface="宋体" panose="02010600030101010101" pitchFamily="2" charset="-122"/>
                <a:ea typeface="宋体" panose="02010600030101010101" pitchFamily="2" charset="-122"/>
              </a:rPr>
              <a:t>指先将区域的一点赋予指定的颜色，然后将该颜色扩展到整个区域的过程。</a:t>
            </a:r>
            <a:endParaRPr lang="en-US" altLang="zh-CN" dirty="0">
              <a:latin typeface="宋体" panose="02010600030101010101" pitchFamily="2" charset="-122"/>
              <a:ea typeface="宋体" panose="02010600030101010101" pitchFamily="2" charset="-122"/>
            </a:endParaRPr>
          </a:p>
          <a:p>
            <a:pPr>
              <a:defRPr/>
            </a:pPr>
            <a:r>
              <a:rPr lang="zh-CN" altLang="en-US" b="1" dirty="0">
                <a:solidFill>
                  <a:srgbClr val="333399"/>
                </a:solidFill>
                <a:latin typeface="宋体" panose="02010600030101010101" pitchFamily="2" charset="-122"/>
                <a:ea typeface="宋体" panose="02010600030101010101" pitchFamily="2" charset="-122"/>
              </a:rPr>
              <a:t>输入</a:t>
            </a:r>
            <a:r>
              <a:rPr lang="en-US" altLang="zh-CN" b="1" dirty="0">
                <a:solidFill>
                  <a:srgbClr val="333399"/>
                </a:solidFill>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区域</a:t>
            </a:r>
            <a:r>
              <a:rPr lang="en-US" altLang="zh-CN" dirty="0">
                <a:solidFill>
                  <a:srgbClr val="000000"/>
                </a:solidFill>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区域内一点</a:t>
            </a:r>
            <a:r>
              <a:rPr lang="en-US" altLang="zh-CN" dirty="0">
                <a:solidFill>
                  <a:srgbClr val="000000"/>
                </a:solidFill>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颜色</a:t>
            </a:r>
            <a:endParaRPr lang="en-US" altLang="zh-CN" dirty="0">
              <a:solidFill>
                <a:srgbClr val="000000"/>
              </a:solidFill>
              <a:latin typeface="宋体" panose="02010600030101010101" pitchFamily="2" charset="-122"/>
              <a:ea typeface="宋体" panose="02010600030101010101" pitchFamily="2" charset="-122"/>
            </a:endParaRPr>
          </a:p>
          <a:p>
            <a:pPr>
              <a:defRPr/>
            </a:pPr>
            <a:r>
              <a:rPr lang="zh-CN" altLang="en-US" b="1" dirty="0">
                <a:solidFill>
                  <a:srgbClr val="333399"/>
                </a:solidFill>
                <a:latin typeface="宋体" panose="02010600030101010101" pitchFamily="2" charset="-122"/>
                <a:ea typeface="宋体" panose="02010600030101010101" pitchFamily="2" charset="-122"/>
              </a:rPr>
              <a:t>输出</a:t>
            </a:r>
            <a:r>
              <a:rPr lang="en-US" altLang="zh-CN" b="1" dirty="0">
                <a:solidFill>
                  <a:srgbClr val="333399"/>
                </a:solidFill>
                <a:latin typeface="宋体" panose="02010600030101010101" pitchFamily="2" charset="-122"/>
                <a:ea typeface="宋体" panose="02010600030101010101" pitchFamily="2" charset="-122"/>
              </a:rPr>
              <a:t>:</a:t>
            </a:r>
            <a:r>
              <a:rPr lang="zh-CN" altLang="en-US" dirty="0">
                <a:solidFill>
                  <a:srgbClr val="000000"/>
                </a:solidFill>
                <a:latin typeface="宋体" panose="02010600030101010101" pitchFamily="2" charset="-122"/>
                <a:ea typeface="宋体" panose="02010600030101010101" pitchFamily="2" charset="-122"/>
              </a:rPr>
              <a:t>将区域内所有其它点赋上指定颜色</a:t>
            </a:r>
            <a:endParaRPr lang="en-US" altLang="zh-CN" dirty="0">
              <a:solidFill>
                <a:srgbClr val="000000"/>
              </a:solidFill>
              <a:latin typeface="宋体" panose="02010600030101010101" pitchFamily="2" charset="-122"/>
              <a:ea typeface="宋体" panose="02010600030101010101" pitchFamily="2" charset="-122"/>
            </a:endParaRPr>
          </a:p>
          <a:p>
            <a:pPr eaLnBrk="1" hangingPunct="1">
              <a:defRPr/>
            </a:pPr>
            <a:endParaRPr lang="zh-CN" altLang="en-US" dirty="0">
              <a:ea typeface="宋体" panose="02010600030101010101" pitchFamily="2" charset="-122"/>
            </a:endParaRPr>
          </a:p>
          <a:p>
            <a:pPr eaLnBrk="1" hangingPunct="1">
              <a:defRPr/>
            </a:pPr>
            <a:endParaRPr lang="zh-CN" altLang="en-US" dirty="0">
              <a:ea typeface="宋体" panose="02010600030101010101" pitchFamily="2" charset="-122"/>
            </a:endParaRPr>
          </a:p>
          <a:p>
            <a:pPr eaLnBrk="1" hangingPunct="1">
              <a:defRPr/>
            </a:pPr>
            <a:endParaRPr lang="en-US" altLang="zh-CN" dirty="0">
              <a:latin typeface="宋体" panose="02010600030101010101" pitchFamily="2" charset="-122"/>
              <a:ea typeface="宋体" panose="02010600030101010101" pitchFamily="2" charset="-122"/>
            </a:endParaRPr>
          </a:p>
          <a:p>
            <a:pPr eaLnBrk="1" hangingPunct="1">
              <a:defRPr/>
            </a:pPr>
            <a:endParaRPr kumimoji="1" lang="zh-CN" altLang="en-US" dirty="0">
              <a:ea typeface="宋体" panose="02010600030101010101" pitchFamily="2" charset="-122"/>
            </a:endParaRPr>
          </a:p>
          <a:p>
            <a:pPr eaLnBrk="1" hangingPunct="1">
              <a:buFontTx/>
              <a:buNone/>
              <a:defRPr/>
            </a:pPr>
            <a:r>
              <a:rPr lang="zh-CN" altLang="en-US" sz="4400" dirty="0">
                <a:solidFill>
                  <a:schemeClr val="accent2"/>
                </a:solidFill>
                <a:effectLst>
                  <a:outerShdw blurRad="38100" dist="38100" dir="2700000" algn="tl">
                    <a:srgbClr val="C0C0C0"/>
                  </a:outerShdw>
                </a:effectLst>
                <a:ea typeface="宋体" panose="02010600030101010101" pitchFamily="2" charset="-122"/>
              </a:rPr>
              <a:t>　　　　</a:t>
            </a:r>
            <a:r>
              <a:rPr lang="zh-CN" altLang="en-US" dirty="0">
                <a:solidFill>
                  <a:schemeClr val="accent2"/>
                </a:solidFill>
                <a:effectLst>
                  <a:outerShdw blurRad="38100" dist="38100" dir="2700000" algn="tl">
                    <a:srgbClr val="C0C0C0"/>
                  </a:outerShdw>
                </a:effectLst>
                <a:ea typeface="宋体" panose="02010600030101010101" pitchFamily="2" charset="-122"/>
              </a:rPr>
              <a:t>　　　　　　</a:t>
            </a:r>
          </a:p>
        </p:txBody>
      </p:sp>
      <p:grpSp>
        <p:nvGrpSpPr>
          <p:cNvPr id="15365" name="组合 17"/>
          <p:cNvGrpSpPr/>
          <p:nvPr/>
        </p:nvGrpSpPr>
        <p:grpSpPr bwMode="auto">
          <a:xfrm>
            <a:off x="4465638" y="4605338"/>
            <a:ext cx="4041775" cy="1627187"/>
            <a:chOff x="4465638" y="4605792"/>
            <a:chExt cx="4042001" cy="1627187"/>
          </a:xfrm>
        </p:grpSpPr>
        <p:pic>
          <p:nvPicPr>
            <p:cNvPr id="15369" name="Picture 11" descr="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8752" y="4605792"/>
              <a:ext cx="2528887"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0" name="Line 12"/>
            <p:cNvSpPr>
              <a:spLocks noChangeShapeType="1"/>
            </p:cNvSpPr>
            <p:nvPr/>
          </p:nvSpPr>
          <p:spPr bwMode="auto">
            <a:xfrm>
              <a:off x="4465638" y="5397046"/>
              <a:ext cx="781050"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5366" name="组合 16"/>
          <p:cNvGrpSpPr/>
          <p:nvPr/>
        </p:nvGrpSpPr>
        <p:grpSpPr bwMode="auto">
          <a:xfrm>
            <a:off x="1408113" y="4483100"/>
            <a:ext cx="2559050" cy="1647825"/>
            <a:chOff x="1407659" y="4483553"/>
            <a:chExt cx="2559050" cy="1647825"/>
          </a:xfrm>
        </p:grpSpPr>
        <p:pic>
          <p:nvPicPr>
            <p:cNvPr id="15367" name="Picture 10" descr="00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7659" y="4483553"/>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8" name="椭圆 15"/>
            <p:cNvSpPr>
              <a:spLocks noChangeArrowheads="1"/>
            </p:cNvSpPr>
            <p:nvPr/>
          </p:nvSpPr>
          <p:spPr bwMode="auto">
            <a:xfrm>
              <a:off x="2449287" y="5312228"/>
              <a:ext cx="108856" cy="97971"/>
            </a:xfrm>
            <a:prstGeom prst="ellipse">
              <a:avLst/>
            </a:prstGeom>
            <a:solidFill>
              <a:schemeClr val="tx1"/>
            </a:solidFill>
            <a:ln w="12700" algn="ctr">
              <a:solidFill>
                <a:schemeClr val="tx1"/>
              </a:solidFill>
              <a:miter lim="800000"/>
            </a:ln>
          </p:spPr>
          <p:txBody>
            <a:bodyPr wrap="none"/>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gr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69315">
                                            <p:txEl>
                                              <p:pRg st="0" end="0"/>
                                            </p:txEl>
                                          </p:spTgt>
                                        </p:tgtEl>
                                        <p:attrNameLst>
                                          <p:attrName>style.visibility</p:attrName>
                                        </p:attrNameLst>
                                      </p:cBhvr>
                                      <p:to>
                                        <p:strVal val="visible"/>
                                      </p:to>
                                    </p:set>
                                    <p:animEffect transition="in" filter="blinds(horizontal)">
                                      <p:cBhvr>
                                        <p:cTn id="7" dur="500"/>
                                        <p:tgtEl>
                                          <p:spTgt spid="26931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69315">
                                            <p:txEl>
                                              <p:pRg st="1" end="1"/>
                                            </p:txEl>
                                          </p:spTgt>
                                        </p:tgtEl>
                                        <p:attrNameLst>
                                          <p:attrName>style.visibility</p:attrName>
                                        </p:attrNameLst>
                                      </p:cBhvr>
                                      <p:to>
                                        <p:strVal val="visible"/>
                                      </p:to>
                                    </p:set>
                                    <p:animEffect transition="in" filter="blinds(horizontal)">
                                      <p:cBhvr>
                                        <p:cTn id="12" dur="500"/>
                                        <p:tgtEl>
                                          <p:spTgt spid="26931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69315">
                                            <p:txEl>
                                              <p:pRg st="2" end="2"/>
                                            </p:txEl>
                                          </p:spTgt>
                                        </p:tgtEl>
                                        <p:attrNameLst>
                                          <p:attrName>style.visibility</p:attrName>
                                        </p:attrNameLst>
                                      </p:cBhvr>
                                      <p:to>
                                        <p:strVal val="visible"/>
                                      </p:to>
                                    </p:set>
                                    <p:animEffect transition="in" filter="blinds(horizontal)">
                                      <p:cBhvr>
                                        <p:cTn id="17" dur="500"/>
                                        <p:tgtEl>
                                          <p:spTgt spid="269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5BA5E65-9C1C-4A91-A8AD-4580F4887AC3}" type="slidenum">
              <a:rPr lang="zh-CN" altLang="en-US" sz="1400" smtClean="0">
                <a:latin typeface="Arial" panose="020B0604020202020204" pitchFamily="34" charset="0"/>
              </a:rPr>
              <a:t>8</a:t>
            </a:fld>
            <a:endParaRPr lang="en-US" altLang="zh-CN" sz="1400">
              <a:latin typeface="Arial" panose="020B0604020202020204" pitchFamily="34" charset="0"/>
            </a:endParaRPr>
          </a:p>
        </p:txBody>
      </p:sp>
      <p:sp>
        <p:nvSpPr>
          <p:cNvPr id="17411" name="Rectangle 2"/>
          <p:cNvSpPr>
            <a:spLocks noGrp="1" noChangeArrowheads="1"/>
          </p:cNvSpPr>
          <p:nvPr>
            <p:ph type="title"/>
          </p:nvPr>
        </p:nvSpPr>
        <p:spPr>
          <a:xfrm>
            <a:off x="165100" y="304800"/>
            <a:ext cx="8915400" cy="76835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漫水法</a:t>
            </a:r>
          </a:p>
        </p:txBody>
      </p:sp>
      <p:sp>
        <p:nvSpPr>
          <p:cNvPr id="277507" name="Rectangle 3"/>
          <p:cNvSpPr>
            <a:spLocks noGrp="1" noChangeArrowheads="1"/>
          </p:cNvSpPr>
          <p:nvPr>
            <p:ph type="body" idx="1"/>
          </p:nvPr>
        </p:nvSpPr>
        <p:spPr>
          <a:xfrm>
            <a:off x="146050" y="1190625"/>
            <a:ext cx="9493250" cy="5181600"/>
          </a:xfrm>
        </p:spPr>
        <p:txBody>
          <a:bodyPr/>
          <a:lstStyle/>
          <a:p>
            <a:pPr eaLnBrk="1" hangingPunct="1">
              <a:defRPr/>
            </a:pPr>
            <a:r>
              <a:rPr lang="en-US" altLang="zh-CN" dirty="0">
                <a:solidFill>
                  <a:schemeClr val="accent2"/>
                </a:solidFill>
                <a:ea typeface="宋体" panose="02010600030101010101" pitchFamily="2" charset="-122"/>
              </a:rPr>
              <a:t>1. </a:t>
            </a:r>
            <a:r>
              <a:rPr lang="zh-CN" altLang="en-US" dirty="0">
                <a:solidFill>
                  <a:schemeClr val="accent2"/>
                </a:solidFill>
                <a:ea typeface="宋体" panose="02010600030101010101" pitchFamily="2" charset="-122"/>
              </a:rPr>
              <a:t>算法原理：</a:t>
            </a:r>
          </a:p>
          <a:p>
            <a:pPr lvl="1" eaLnBrk="1" hangingPunct="1">
              <a:buFontTx/>
              <a:buNone/>
              <a:defRPr/>
            </a:pPr>
            <a:r>
              <a:rPr lang="zh-CN" altLang="en-US" dirty="0">
                <a:ea typeface="宋体" panose="02010600030101010101" pitchFamily="2" charset="-122"/>
              </a:rPr>
              <a:t>已知像素点：种子点</a:t>
            </a:r>
            <a:endParaRPr lang="en-US" altLang="zh-CN" dirty="0">
              <a:ea typeface="宋体" panose="02010600030101010101" pitchFamily="2" charset="-122"/>
            </a:endParaRPr>
          </a:p>
          <a:p>
            <a:pPr lvl="1" eaLnBrk="1" hangingPunct="1">
              <a:buFontTx/>
              <a:buNone/>
              <a:defRPr/>
            </a:pPr>
            <a:r>
              <a:rPr lang="zh-CN" altLang="en-US" dirty="0">
                <a:ea typeface="宋体" panose="02010600030101010101" pitchFamily="2" charset="-122"/>
              </a:rPr>
              <a:t>连通性：种子点扩散到所有其它点</a:t>
            </a:r>
            <a:endParaRPr kumimoji="1" lang="zh-CN" altLang="en-US" dirty="0">
              <a:ea typeface="宋体" panose="02010600030101010101" pitchFamily="2" charset="-122"/>
            </a:endParaRPr>
          </a:p>
          <a:p>
            <a:pPr eaLnBrk="1" hangingPunct="1">
              <a:buFontTx/>
              <a:buNone/>
              <a:defRPr/>
            </a:pPr>
            <a:r>
              <a:rPr lang="zh-CN" altLang="en-US" sz="4400" dirty="0">
                <a:solidFill>
                  <a:schemeClr val="accent2"/>
                </a:solidFill>
                <a:effectLst>
                  <a:outerShdw blurRad="38100" dist="38100" dir="2700000" algn="tl">
                    <a:srgbClr val="C0C0C0"/>
                  </a:outerShdw>
                </a:effectLst>
                <a:ea typeface="宋体" panose="02010600030101010101" pitchFamily="2" charset="-122"/>
              </a:rPr>
              <a:t>　　　　</a:t>
            </a:r>
          </a:p>
        </p:txBody>
      </p:sp>
      <p:pic>
        <p:nvPicPr>
          <p:cNvPr id="10245" name="Picture 4" descr="4P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7550" y="4367213"/>
            <a:ext cx="1816100" cy="144621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9224" name="AutoShape 4"/>
          <p:cNvSpPr>
            <a:spLocks noChangeArrowheads="1"/>
          </p:cNvSpPr>
          <p:nvPr/>
        </p:nvSpPr>
        <p:spPr bwMode="auto">
          <a:xfrm>
            <a:off x="7069138" y="2185988"/>
            <a:ext cx="1865312" cy="612775"/>
          </a:xfrm>
          <a:prstGeom prst="wedgeRoundRectCallout">
            <a:avLst>
              <a:gd name="adj1" fmla="val 4405"/>
              <a:gd name="adj2" fmla="val 87087"/>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eaLnBrk="1" hangingPunct="1">
              <a:defRPr/>
            </a:pPr>
            <a:r>
              <a:rPr lang="zh-CN" altLang="en-US" sz="2800" dirty="0">
                <a:solidFill>
                  <a:schemeClr val="accent2"/>
                </a:solidFill>
                <a:ea typeface="宋体" panose="02010600030101010101" pitchFamily="2" charset="-122"/>
              </a:rPr>
              <a:t>如何实现</a:t>
            </a:r>
            <a:endParaRPr lang="en-US" altLang="zh-CN" sz="2800" dirty="0">
              <a:solidFill>
                <a:schemeClr val="accent2"/>
              </a:solidFill>
              <a:ea typeface="宋体" panose="02010600030101010101" pitchFamily="2" charset="-122"/>
            </a:endParaRPr>
          </a:p>
        </p:txBody>
      </p:sp>
      <p:pic>
        <p:nvPicPr>
          <p:cNvPr id="51" name="Picture 4"/>
          <p:cNvPicPr>
            <a:picLocks noChangeAspect="1" noChangeArrowheads="1"/>
          </p:cNvPicPr>
          <p:nvPr/>
        </p:nvPicPr>
        <p:blipFill>
          <a:blip r:embed="rId5">
            <a:extLst>
              <a:ext uri="{28A0092B-C50C-407E-A947-70E740481C1C}">
                <a14:useLocalDpi xmlns:a14="http://schemas.microsoft.com/office/drawing/2010/main" val="0"/>
              </a:ext>
            </a:extLst>
          </a:blip>
          <a:srcRect l="15799"/>
          <a:stretch>
            <a:fillRect/>
          </a:stretch>
        </p:blipFill>
        <p:spPr bwMode="auto">
          <a:xfrm>
            <a:off x="6096000" y="3322638"/>
            <a:ext cx="3810000" cy="353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7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75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750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4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224"/>
                                        </p:tgtEl>
                                        <p:attrNameLst>
                                          <p:attrName>style.visibility</p:attrName>
                                        </p:attrNameLst>
                                      </p:cBhvr>
                                      <p:to>
                                        <p:strVal val="visible"/>
                                      </p:to>
                                    </p:set>
                                    <p:animEffect transition="in" filter="fade">
                                      <p:cBhvr>
                                        <p:cTn id="27" dur="5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A90C18A-C8D8-4FCA-8DBA-3FE177CD96DE}" type="slidenum">
              <a:rPr lang="zh-CN" altLang="en-US" sz="1400" smtClean="0">
                <a:latin typeface="Arial" panose="020B0604020202020204" pitchFamily="34" charset="0"/>
              </a:rPr>
              <a:t>9</a:t>
            </a:fld>
            <a:endParaRPr lang="en-US" altLang="zh-CN" sz="1400">
              <a:latin typeface="Arial" panose="020B0604020202020204" pitchFamily="34" charset="0"/>
            </a:endParaRPr>
          </a:p>
        </p:txBody>
      </p:sp>
      <p:sp>
        <p:nvSpPr>
          <p:cNvPr id="19459"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p>
        </p:txBody>
      </p:sp>
      <p:sp>
        <p:nvSpPr>
          <p:cNvPr id="279555" name="Rectangle 3"/>
          <p:cNvSpPr>
            <a:spLocks noGrp="1" noChangeArrowheads="1"/>
          </p:cNvSpPr>
          <p:nvPr>
            <p:ph type="body" idx="1"/>
          </p:nvPr>
        </p:nvSpPr>
        <p:spPr>
          <a:xfrm>
            <a:off x="155575" y="1181100"/>
            <a:ext cx="9493250" cy="5257800"/>
          </a:xfrm>
        </p:spPr>
        <p:txBody>
          <a:bodyPr/>
          <a:lstStyle/>
          <a:p>
            <a:pPr eaLnBrk="1" hangingPunct="1">
              <a:defRPr/>
            </a:pPr>
            <a:r>
              <a:rPr lang="en-US" altLang="zh-CN" dirty="0">
                <a:solidFill>
                  <a:schemeClr val="accent2"/>
                </a:solidFill>
                <a:ea typeface="宋体" panose="02010600030101010101" pitchFamily="2" charset="-122"/>
              </a:rPr>
              <a:t>2</a:t>
            </a:r>
            <a:r>
              <a:rPr lang="en-US" altLang="zh-CN" b="1" dirty="0">
                <a:solidFill>
                  <a:schemeClr val="accent2"/>
                </a:solidFill>
                <a:ea typeface="宋体" panose="02010600030101010101" pitchFamily="2" charset="-122"/>
              </a:rPr>
              <a:t>.  </a:t>
            </a:r>
            <a:r>
              <a:rPr lang="zh-CN" altLang="en-US" dirty="0">
                <a:solidFill>
                  <a:schemeClr val="accent2"/>
                </a:solidFill>
                <a:ea typeface="宋体" panose="02010600030101010101" pitchFamily="2" charset="-122"/>
              </a:rPr>
              <a:t>算法的栈结构实现：</a:t>
            </a:r>
          </a:p>
          <a:p>
            <a:pPr lvl="1" eaLnBrk="1" hangingPunct="1">
              <a:buFontTx/>
              <a:buNone/>
              <a:defRPr/>
            </a:pPr>
            <a:r>
              <a:rPr lang="en-US" altLang="zh-CN" dirty="0">
                <a:ea typeface="宋体" panose="02010600030101010101" pitchFamily="2" charset="-122"/>
              </a:rPr>
              <a:t>(1) </a:t>
            </a:r>
            <a:r>
              <a:rPr lang="zh-CN" altLang="en-US" dirty="0">
                <a:ea typeface="宋体" panose="02010600030101010101" pitchFamily="2" charset="-122"/>
              </a:rPr>
              <a:t>种子像素入栈</a:t>
            </a:r>
            <a:endParaRPr lang="en-US" altLang="zh-CN" dirty="0">
              <a:ea typeface="宋体" panose="02010600030101010101" pitchFamily="2" charset="-122"/>
            </a:endParaRPr>
          </a:p>
          <a:p>
            <a:pPr lvl="1" eaLnBrk="1" hangingPunct="1">
              <a:buFontTx/>
              <a:buNone/>
              <a:defRPr/>
            </a:pPr>
            <a:r>
              <a:rPr lang="en-US" altLang="zh-CN" dirty="0">
                <a:ea typeface="宋体" panose="02010600030101010101" pitchFamily="2" charset="-122"/>
              </a:rPr>
              <a:t>(2) </a:t>
            </a:r>
            <a:r>
              <a:rPr lang="zh-CN" altLang="en-US" dirty="0">
                <a:ea typeface="宋体" panose="02010600030101010101" pitchFamily="2" charset="-122"/>
              </a:rPr>
              <a:t>当栈非空时，重复执行下述三步：</a:t>
            </a:r>
          </a:p>
          <a:p>
            <a:pPr lvl="1" eaLnBrk="1" hangingPunct="1">
              <a:buFontTx/>
              <a:buNone/>
              <a:defRPr/>
            </a:pPr>
            <a:r>
              <a:rPr lang="zh-CN" altLang="en-US" dirty="0">
                <a:ea typeface="宋体" panose="02010600030101010101" pitchFamily="2" charset="-122"/>
              </a:rPr>
              <a:t>１）栈顶像素</a:t>
            </a:r>
            <a:r>
              <a:rPr lang="zh-CN" altLang="en-US" dirty="0">
                <a:solidFill>
                  <a:schemeClr val="accent2"/>
                </a:solidFill>
                <a:ea typeface="宋体" panose="02010600030101010101" pitchFamily="2" charset="-122"/>
              </a:rPr>
              <a:t>出栈</a:t>
            </a:r>
            <a:endParaRPr lang="zh-CN" altLang="en-US" dirty="0">
              <a:ea typeface="宋体" panose="02010600030101010101" pitchFamily="2" charset="-122"/>
            </a:endParaRPr>
          </a:p>
          <a:p>
            <a:pPr lvl="1" eaLnBrk="1" hangingPunct="1">
              <a:buFontTx/>
              <a:buNone/>
              <a:defRPr/>
            </a:pPr>
            <a:r>
              <a:rPr lang="zh-CN" altLang="en-US" dirty="0">
                <a:ea typeface="宋体" panose="02010600030101010101" pitchFamily="2" charset="-122"/>
              </a:rPr>
              <a:t>２）将出栈像素置成多边形色</a:t>
            </a:r>
          </a:p>
          <a:p>
            <a:pPr marL="446405" lvl="1" indent="11430" eaLnBrk="1" hangingPunct="1">
              <a:buFontTx/>
              <a:buNone/>
              <a:defRPr/>
            </a:pPr>
            <a:r>
              <a:rPr lang="zh-CN" altLang="en-US" dirty="0">
                <a:ea typeface="宋体" panose="02010600030101010101" pitchFamily="2" charset="-122"/>
              </a:rPr>
              <a:t>３）按四向或八向检查相邻像素，若某个像素不在边界且未置成多边形色，则把该像素入栈</a:t>
            </a:r>
            <a:endParaRPr lang="zh-CN" altLang="en-US" sz="2400" dirty="0">
              <a:ea typeface="宋体" panose="02010600030101010101" pitchFamily="2" charset="-122"/>
            </a:endParaRPr>
          </a:p>
          <a:p>
            <a:pPr lvl="1" eaLnBrk="1" hangingPunct="1">
              <a:buFontTx/>
              <a:buNone/>
              <a:defRPr/>
            </a:pPr>
            <a:r>
              <a:rPr lang="zh-CN" altLang="en-US" sz="3600" dirty="0">
                <a:solidFill>
                  <a:schemeClr val="accent2"/>
                </a:solidFill>
                <a:effectLst>
                  <a:outerShdw blurRad="38100" dist="38100" dir="2700000" algn="tl">
                    <a:srgbClr val="C0C0C0"/>
                  </a:outerShdw>
                </a:effectLst>
                <a:ea typeface="宋体" panose="02010600030101010101" pitchFamily="2" charset="-122"/>
              </a:rPr>
              <a:t>　　　</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9555">
                                            <p:txEl>
                                              <p:pRg st="0" end="0"/>
                                            </p:txEl>
                                          </p:spTgt>
                                        </p:tgtEl>
                                        <p:attrNameLst>
                                          <p:attrName>style.visibility</p:attrName>
                                        </p:attrNameLst>
                                      </p:cBhvr>
                                      <p:to>
                                        <p:strVal val="visible"/>
                                      </p:to>
                                    </p:set>
                                    <p:animEffect transition="in" filter="blinds(horizontal)">
                                      <p:cBhvr>
                                        <p:cTn id="7" dur="500"/>
                                        <p:tgtEl>
                                          <p:spTgt spid="2795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9555">
                                            <p:txEl>
                                              <p:pRg st="1" end="1"/>
                                            </p:txEl>
                                          </p:spTgt>
                                        </p:tgtEl>
                                        <p:attrNameLst>
                                          <p:attrName>style.visibility</p:attrName>
                                        </p:attrNameLst>
                                      </p:cBhvr>
                                      <p:to>
                                        <p:strVal val="visible"/>
                                      </p:to>
                                    </p:set>
                                    <p:animEffect transition="in" filter="blinds(horizontal)">
                                      <p:cBhvr>
                                        <p:cTn id="12" dur="500"/>
                                        <p:tgtEl>
                                          <p:spTgt spid="27955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9555">
                                            <p:txEl>
                                              <p:pRg st="2" end="2"/>
                                            </p:txEl>
                                          </p:spTgt>
                                        </p:tgtEl>
                                        <p:attrNameLst>
                                          <p:attrName>style.visibility</p:attrName>
                                        </p:attrNameLst>
                                      </p:cBhvr>
                                      <p:to>
                                        <p:strVal val="visible"/>
                                      </p:to>
                                    </p:set>
                                    <p:animEffect transition="in" filter="blinds(horizontal)">
                                      <p:cBhvr>
                                        <p:cTn id="17" dur="500"/>
                                        <p:tgtEl>
                                          <p:spTgt spid="27955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9555">
                                            <p:txEl>
                                              <p:pRg st="3" end="3"/>
                                            </p:txEl>
                                          </p:spTgt>
                                        </p:tgtEl>
                                        <p:attrNameLst>
                                          <p:attrName>style.visibility</p:attrName>
                                        </p:attrNameLst>
                                      </p:cBhvr>
                                      <p:to>
                                        <p:strVal val="visible"/>
                                      </p:to>
                                    </p:set>
                                    <p:animEffect transition="in" filter="blinds(horizontal)">
                                      <p:cBhvr>
                                        <p:cTn id="22" dur="500"/>
                                        <p:tgtEl>
                                          <p:spTgt spid="27955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79555">
                                            <p:txEl>
                                              <p:pRg st="4" end="4"/>
                                            </p:txEl>
                                          </p:spTgt>
                                        </p:tgtEl>
                                        <p:attrNameLst>
                                          <p:attrName>style.visibility</p:attrName>
                                        </p:attrNameLst>
                                      </p:cBhvr>
                                      <p:to>
                                        <p:strVal val="visible"/>
                                      </p:to>
                                    </p:set>
                                    <p:animEffect transition="in" filter="blinds(horizontal)">
                                      <p:cBhvr>
                                        <p:cTn id="27" dur="500"/>
                                        <p:tgtEl>
                                          <p:spTgt spid="27955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9555">
                                            <p:txEl>
                                              <p:pRg st="5" end="5"/>
                                            </p:txEl>
                                          </p:spTgt>
                                        </p:tgtEl>
                                        <p:attrNameLst>
                                          <p:attrName>style.visibility</p:attrName>
                                        </p:attrNameLst>
                                      </p:cBhvr>
                                      <p:to>
                                        <p:strVal val="visible"/>
                                      </p:to>
                                    </p:set>
                                    <p:animEffect transition="in" filter="blinds(horizontal)">
                                      <p:cBhvr>
                                        <p:cTn id="32" dur="500"/>
                                        <p:tgtEl>
                                          <p:spTgt spid="27955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5AB1A7-87A6-4BBA-BE57-95F321AEB0AB}" type="slidenum">
              <a:rPr lang="zh-CN" altLang="en-US" sz="1400" smtClean="0">
                <a:latin typeface="Arial" panose="020B0604020202020204" pitchFamily="34" charset="0"/>
              </a:rPr>
              <a:t>10</a:t>
            </a:fld>
            <a:endParaRPr lang="en-US" altLang="zh-CN" sz="1400">
              <a:latin typeface="Arial" panose="020B0604020202020204" pitchFamily="34" charset="0"/>
            </a:endParaRPr>
          </a:p>
        </p:txBody>
      </p:sp>
      <p:sp>
        <p:nvSpPr>
          <p:cNvPr id="21507"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p>
        </p:txBody>
      </p:sp>
      <p:sp>
        <p:nvSpPr>
          <p:cNvPr id="281603" name="Rectangle 3"/>
          <p:cNvSpPr>
            <a:spLocks noGrp="1" noChangeArrowheads="1"/>
          </p:cNvSpPr>
          <p:nvPr>
            <p:ph type="body" idx="1"/>
          </p:nvPr>
        </p:nvSpPr>
        <p:spPr>
          <a:xfrm>
            <a:off x="165100" y="1141413"/>
            <a:ext cx="9493250" cy="5487987"/>
          </a:xfrm>
        </p:spPr>
        <p:txBody>
          <a:bodyPr/>
          <a:lstStyle/>
          <a:p>
            <a:pPr eaLnBrk="1" hangingPunct="1">
              <a:lnSpc>
                <a:spcPct val="75000"/>
              </a:lnSpc>
              <a:defRPr/>
            </a:pPr>
            <a:r>
              <a:rPr lang="en-US" altLang="zh-CN" dirty="0">
                <a:ea typeface="宋体" panose="02010600030101010101" pitchFamily="2" charset="-122"/>
                <a:cs typeface="Times New Roman" panose="02020603050405020304" pitchFamily="18" charset="0"/>
              </a:rPr>
              <a:t>3. </a:t>
            </a:r>
            <a:r>
              <a:rPr lang="zh-CN" altLang="en-US" dirty="0">
                <a:ea typeface="宋体" panose="02010600030101010101" pitchFamily="2" charset="-122"/>
                <a:cs typeface="Times New Roman" panose="02020603050405020304" pitchFamily="18" charset="0"/>
              </a:rPr>
              <a:t>内点表示</a:t>
            </a:r>
            <a:r>
              <a:rPr lang="zh-CN" altLang="en-US" dirty="0">
                <a:latin typeface="宋体" panose="02010600030101010101" pitchFamily="2" charset="-122"/>
                <a:ea typeface="宋体" panose="02010600030101010101" pitchFamily="2" charset="-122"/>
                <a:cs typeface="Times New Roman" panose="02020603050405020304" pitchFamily="18" charset="0"/>
              </a:rPr>
              <a:t>递归算法实现</a:t>
            </a:r>
            <a:r>
              <a:rPr lang="zh-CN" altLang="en-US" dirty="0">
                <a:ea typeface="宋体" panose="02010600030101010101" pitchFamily="2" charset="-122"/>
                <a:cs typeface="Times New Roman" panose="02020603050405020304" pitchFamily="18" charset="0"/>
              </a:rPr>
              <a:t>：</a:t>
            </a:r>
          </a:p>
          <a:p>
            <a:pPr marL="0" indent="0">
              <a:buNone/>
            </a:pPr>
            <a:r>
              <a:rPr lang="en-US" altLang="zh-CN" sz="2400" dirty="0"/>
              <a:t>void FloodFill4 (int x, int y, int </a:t>
            </a:r>
            <a:r>
              <a:rPr lang="en-US" altLang="zh-CN" sz="2400" dirty="0" err="1"/>
              <a:t>oldColor</a:t>
            </a:r>
            <a:r>
              <a:rPr lang="en-US" altLang="zh-CN" sz="2400" dirty="0"/>
              <a:t>, int </a:t>
            </a:r>
            <a:r>
              <a:rPr lang="en-US" altLang="zh-CN" sz="2400" dirty="0" err="1"/>
              <a:t>newColor</a:t>
            </a:r>
            <a:r>
              <a:rPr lang="en-US" altLang="zh-CN" sz="2400" dirty="0"/>
              <a:t>)</a:t>
            </a:r>
            <a:endParaRPr lang="zh-CN" altLang="zh-CN" sz="2400" dirty="0"/>
          </a:p>
          <a:p>
            <a:pPr marL="0" indent="0">
              <a:buNone/>
            </a:pPr>
            <a:r>
              <a:rPr lang="en-US" altLang="zh-CN" sz="2400" dirty="0"/>
              <a:t>{</a:t>
            </a:r>
            <a:endParaRPr lang="zh-CN" altLang="zh-CN" sz="2400" dirty="0"/>
          </a:p>
          <a:p>
            <a:pPr marL="0" indent="0">
              <a:buNone/>
            </a:pPr>
            <a:r>
              <a:rPr lang="en-US" altLang="zh-CN" sz="2400" dirty="0"/>
              <a:t>    if (</a:t>
            </a:r>
            <a:r>
              <a:rPr lang="en-US" altLang="zh-CN" sz="2400" dirty="0" err="1"/>
              <a:t>getpixel</a:t>
            </a:r>
            <a:r>
              <a:rPr lang="en-US" altLang="zh-CN" sz="2400" dirty="0"/>
              <a:t>(x, y)==</a:t>
            </a:r>
            <a:r>
              <a:rPr lang="en-US" altLang="zh-CN" sz="2400" dirty="0" err="1"/>
              <a:t>oldColor</a:t>
            </a:r>
            <a:r>
              <a:rPr lang="en-US" altLang="zh-CN" sz="2400" dirty="0"/>
              <a:t>) /*</a:t>
            </a:r>
            <a:r>
              <a:rPr lang="zh-CN" altLang="en-US" sz="2400" dirty="0"/>
              <a:t>内点且未着色标识</a:t>
            </a:r>
            <a:endParaRPr lang="zh-CN" altLang="zh-CN" sz="2400" dirty="0"/>
          </a:p>
          <a:p>
            <a:pPr marL="0" indent="0">
              <a:buNone/>
            </a:pPr>
            <a:r>
              <a:rPr lang="en-US" altLang="zh-CN" sz="2400" dirty="0"/>
              <a:t>    {</a:t>
            </a:r>
            <a:endParaRPr lang="zh-CN" altLang="zh-CN" sz="2400" dirty="0"/>
          </a:p>
          <a:p>
            <a:pPr marL="0" indent="0">
              <a:buNone/>
            </a:pPr>
            <a:r>
              <a:rPr lang="en-US" altLang="zh-CN" sz="2400" dirty="0"/>
              <a:t>        </a:t>
            </a:r>
            <a:r>
              <a:rPr lang="en-US" altLang="zh-CN" sz="2400" dirty="0" err="1"/>
              <a:t>setpixel</a:t>
            </a:r>
            <a:r>
              <a:rPr lang="en-US" altLang="zh-CN" sz="2400" dirty="0"/>
              <a:t>(x, y, </a:t>
            </a:r>
            <a:r>
              <a:rPr lang="en-US" altLang="zh-CN" sz="2400" dirty="0" err="1"/>
              <a:t>newColor</a:t>
            </a:r>
            <a:r>
              <a:rPr lang="en-US" altLang="zh-CN" sz="2400" dirty="0"/>
              <a:t>);</a:t>
            </a:r>
            <a:endParaRPr lang="zh-CN" altLang="zh-CN" sz="2400" dirty="0"/>
          </a:p>
          <a:p>
            <a:pPr marL="0" indent="0">
              <a:buNone/>
            </a:pPr>
            <a:r>
              <a:rPr lang="en-US" altLang="zh-CN" sz="2400" dirty="0"/>
              <a:t>        FloodFill4(x-1, y, </a:t>
            </a:r>
            <a:r>
              <a:rPr lang="en-US" altLang="zh-CN" sz="2400" dirty="0" err="1"/>
              <a:t>oldColor</a:t>
            </a:r>
            <a:r>
              <a:rPr lang="en-US" altLang="zh-CN" sz="2400" dirty="0"/>
              <a:t>, </a:t>
            </a:r>
            <a:r>
              <a:rPr lang="en-US" altLang="zh-CN" sz="2400" dirty="0" err="1"/>
              <a:t>newColor</a:t>
            </a:r>
            <a:r>
              <a:rPr lang="en-US" altLang="zh-CN" sz="2400" dirty="0"/>
              <a:t>);</a:t>
            </a:r>
            <a:endParaRPr lang="zh-CN" altLang="zh-CN" sz="2400" dirty="0"/>
          </a:p>
          <a:p>
            <a:pPr marL="0" indent="0">
              <a:buNone/>
            </a:pPr>
            <a:r>
              <a:rPr lang="en-US" altLang="zh-CN" sz="2400" dirty="0"/>
              <a:t>        FloodFill4(x, y+1, </a:t>
            </a:r>
            <a:r>
              <a:rPr lang="en-US" altLang="zh-CN" sz="2400" dirty="0" err="1"/>
              <a:t>oldColor</a:t>
            </a:r>
            <a:r>
              <a:rPr lang="en-US" altLang="zh-CN" sz="2400" dirty="0"/>
              <a:t>, </a:t>
            </a:r>
            <a:r>
              <a:rPr lang="en-US" altLang="zh-CN" sz="2400" dirty="0" err="1"/>
              <a:t>newColor</a:t>
            </a:r>
            <a:r>
              <a:rPr lang="en-US" altLang="zh-CN" sz="2400" dirty="0"/>
              <a:t>); </a:t>
            </a:r>
            <a:endParaRPr lang="zh-CN" altLang="zh-CN" sz="2400" dirty="0"/>
          </a:p>
          <a:p>
            <a:pPr marL="0" indent="0">
              <a:buNone/>
            </a:pPr>
            <a:r>
              <a:rPr lang="en-US" altLang="zh-CN" sz="2400" dirty="0"/>
              <a:t>        FloodFill4(x+1, y, </a:t>
            </a:r>
            <a:r>
              <a:rPr lang="en-US" altLang="zh-CN" sz="2400" dirty="0" err="1"/>
              <a:t>oldColor</a:t>
            </a:r>
            <a:r>
              <a:rPr lang="en-US" altLang="zh-CN" sz="2400" dirty="0"/>
              <a:t>, </a:t>
            </a:r>
            <a:r>
              <a:rPr lang="en-US" altLang="zh-CN" sz="2400" dirty="0" err="1"/>
              <a:t>newColor</a:t>
            </a:r>
            <a:r>
              <a:rPr lang="en-US" altLang="zh-CN" sz="2400" dirty="0"/>
              <a:t>); </a:t>
            </a:r>
            <a:endParaRPr lang="zh-CN" altLang="zh-CN" sz="2400" dirty="0"/>
          </a:p>
          <a:p>
            <a:pPr marL="0" indent="0">
              <a:buNone/>
            </a:pPr>
            <a:r>
              <a:rPr lang="en-US" altLang="zh-CN" sz="2400" dirty="0"/>
              <a:t>        FloodFill4(x, y-1, </a:t>
            </a:r>
            <a:r>
              <a:rPr lang="en-US" altLang="zh-CN" sz="2400" dirty="0" err="1"/>
              <a:t>oldColor</a:t>
            </a:r>
            <a:r>
              <a:rPr lang="en-US" altLang="zh-CN" sz="2400" dirty="0"/>
              <a:t>, </a:t>
            </a:r>
            <a:r>
              <a:rPr lang="en-US" altLang="zh-CN" sz="2400" dirty="0" err="1"/>
              <a:t>newColor</a:t>
            </a:r>
            <a:r>
              <a:rPr lang="en-US" altLang="zh-CN" sz="2400" dirty="0"/>
              <a:t>);</a:t>
            </a:r>
            <a:endParaRPr lang="zh-CN" altLang="zh-CN" sz="2400" dirty="0"/>
          </a:p>
          <a:p>
            <a:pPr marL="0" indent="0">
              <a:buNone/>
            </a:pPr>
            <a:r>
              <a:rPr lang="en-US" altLang="zh-CN" sz="2400" dirty="0"/>
              <a:t>    }</a:t>
            </a:r>
            <a:endParaRPr lang="zh-CN" altLang="zh-CN" sz="2400" dirty="0"/>
          </a:p>
          <a:p>
            <a:pPr marL="0" indent="0">
              <a:buNone/>
            </a:pPr>
            <a:r>
              <a:rPr lang="en-US" altLang="zh-CN" sz="2400" dirty="0"/>
              <a:t>}</a:t>
            </a:r>
            <a:r>
              <a:rPr lang="zh-CN" altLang="en-US" sz="2400" dirty="0">
                <a:solidFill>
                  <a:schemeClr val="accent2"/>
                </a:solidFill>
                <a:effectLst>
                  <a:outerShdw blurRad="38100" dist="38100" dir="2700000" algn="tl">
                    <a:srgbClr val="C0C0C0"/>
                  </a:outerShdw>
                </a:effectLst>
                <a:ea typeface="宋体" panose="02010600030101010101" pitchFamily="2" charset="-122"/>
                <a:cs typeface="Times New Roman" panose="02020603050405020304" pitchFamily="18" charset="0"/>
              </a:rPr>
              <a:t>　　　</a:t>
            </a:r>
          </a:p>
        </p:txBody>
      </p:sp>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13D9BF-E495-47EB-88B4-1800280CCBE4}" type="slidenum">
              <a:rPr lang="zh-CN" altLang="en-US" sz="1400" smtClean="0">
                <a:latin typeface="Arial" panose="020B0604020202020204" pitchFamily="34" charset="0"/>
              </a:rPr>
              <a:t>11</a:t>
            </a:fld>
            <a:endParaRPr lang="en-US" altLang="zh-CN" sz="1400">
              <a:latin typeface="Arial" panose="020B0604020202020204" pitchFamily="34" charset="0"/>
            </a:endParaRPr>
          </a:p>
        </p:txBody>
      </p:sp>
      <p:sp>
        <p:nvSpPr>
          <p:cNvPr id="23555"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p>
        </p:txBody>
      </p:sp>
      <p:sp>
        <p:nvSpPr>
          <p:cNvPr id="283651" name="Rectangle 3"/>
          <p:cNvSpPr>
            <a:spLocks noGrp="1" noChangeArrowheads="1"/>
          </p:cNvSpPr>
          <p:nvPr>
            <p:ph type="body" idx="1"/>
          </p:nvPr>
        </p:nvSpPr>
        <p:spPr>
          <a:xfrm>
            <a:off x="165100" y="1066800"/>
            <a:ext cx="9493250" cy="5562600"/>
          </a:xfrm>
        </p:spPr>
        <p:txBody>
          <a:bodyPr/>
          <a:lstStyle/>
          <a:p>
            <a:pPr eaLnBrk="1" hangingPunct="1">
              <a:defRPr/>
            </a:pPr>
            <a:r>
              <a:rPr lang="zh-CN" altLang="en-US" dirty="0">
                <a:solidFill>
                  <a:schemeClr val="accent2"/>
                </a:solidFill>
                <a:latin typeface="宋体" panose="02010600030101010101" pitchFamily="2" charset="-122"/>
                <a:ea typeface="宋体" panose="02010600030101010101" pitchFamily="2" charset="-122"/>
              </a:rPr>
              <a:t>边界表示的四连通区域</a:t>
            </a:r>
            <a:endParaRPr lang="zh-CN" altLang="en-US" dirty="0">
              <a:solidFill>
                <a:schemeClr val="accent2"/>
              </a:solidFill>
              <a:ea typeface="宋体" panose="02010600030101010101" pitchFamily="2" charset="-122"/>
            </a:endParaRPr>
          </a:p>
          <a:p>
            <a:pPr lvl="1" eaLnBrk="1" hangingPunct="1">
              <a:buFontTx/>
              <a:buNone/>
              <a:defRPr/>
            </a:pPr>
            <a:endParaRPr lang="zh-CN" altLang="en-US" sz="2400" dirty="0">
              <a:solidFill>
                <a:schemeClr val="accent1"/>
              </a:solidFill>
              <a:ea typeface="宋体" panose="02010600030101010101" pitchFamily="2" charset="-122"/>
            </a:endParaRPr>
          </a:p>
          <a:p>
            <a:pPr lvl="1" eaLnBrk="1" hangingPunct="1">
              <a:buFontTx/>
              <a:buNone/>
              <a:defRPr/>
            </a:pPr>
            <a:r>
              <a:rPr lang="zh-CN" altLang="en-US" sz="3600" dirty="0">
                <a:solidFill>
                  <a:schemeClr val="accent2"/>
                </a:solidFill>
                <a:effectLst>
                  <a:outerShdw blurRad="38100" dist="38100" dir="2700000" algn="tl">
                    <a:srgbClr val="C0C0C0"/>
                  </a:outerShdw>
                </a:effectLst>
                <a:ea typeface="宋体" panose="02010600030101010101" pitchFamily="2" charset="-122"/>
              </a:rPr>
              <a:t>　　　</a:t>
            </a:r>
          </a:p>
        </p:txBody>
      </p:sp>
      <p:sp>
        <p:nvSpPr>
          <p:cNvPr id="23557" name="Text Box 4"/>
          <p:cNvSpPr txBox="1">
            <a:spLocks noChangeArrowheads="1"/>
          </p:cNvSpPr>
          <p:nvPr/>
        </p:nvSpPr>
        <p:spPr bwMode="auto">
          <a:xfrm>
            <a:off x="566753" y="1521154"/>
            <a:ext cx="8210550" cy="5334635"/>
          </a:xfrm>
          <a:prstGeom prst="rect">
            <a:avLst/>
          </a:prstGeom>
          <a:solidFill>
            <a:schemeClr val="bg1">
              <a:alpha val="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buNone/>
            </a:pPr>
            <a:r>
              <a:rPr lang="en-US" altLang="zh-CN" sz="2400" dirty="0"/>
              <a:t>void BoundaryFill4(int x, int y, int </a:t>
            </a:r>
            <a:r>
              <a:rPr lang="en-US" altLang="zh-CN" sz="2400" dirty="0" err="1"/>
              <a:t>boundaryColor</a:t>
            </a:r>
            <a:r>
              <a:rPr lang="en-US" altLang="zh-CN" sz="2400" dirty="0"/>
              <a:t>, int </a:t>
            </a:r>
            <a:r>
              <a:rPr lang="en-US" altLang="zh-CN" sz="2400" dirty="0" err="1"/>
              <a:t>newColor</a:t>
            </a:r>
            <a:r>
              <a:rPr lang="en-US" altLang="zh-CN" sz="2400" dirty="0"/>
              <a:t>)</a:t>
            </a:r>
            <a:endParaRPr lang="zh-CN" altLang="zh-CN" sz="2400" dirty="0"/>
          </a:p>
          <a:p>
            <a:pPr>
              <a:buNone/>
            </a:pPr>
            <a:r>
              <a:rPr lang="en-US" altLang="zh-CN" sz="2400" dirty="0"/>
              <a:t>{	</a:t>
            </a:r>
            <a:endParaRPr lang="zh-CN" altLang="zh-CN" sz="2400" dirty="0"/>
          </a:p>
          <a:p>
            <a:pPr>
              <a:buNone/>
            </a:pPr>
            <a:r>
              <a:rPr lang="en-US" altLang="zh-CN" sz="2400" dirty="0"/>
              <a:t>	int color = </a:t>
            </a:r>
            <a:r>
              <a:rPr lang="en-US" altLang="zh-CN" sz="2400" dirty="0" err="1"/>
              <a:t>GetPixel</a:t>
            </a:r>
            <a:r>
              <a:rPr lang="en-US" altLang="zh-CN" sz="2400" dirty="0"/>
              <a:t>(</a:t>
            </a:r>
            <a:r>
              <a:rPr lang="en-US" altLang="zh-CN" sz="2400" dirty="0" err="1"/>
              <a:t>x,y</a:t>
            </a:r>
            <a:r>
              <a:rPr lang="en-US" altLang="zh-CN" sz="2400" dirty="0"/>
              <a:t>);</a:t>
            </a:r>
            <a:endParaRPr lang="zh-CN" altLang="zh-CN" sz="2400" dirty="0"/>
          </a:p>
          <a:p>
            <a:pPr>
              <a:buNone/>
            </a:pPr>
            <a:r>
              <a:rPr lang="en-US" altLang="zh-CN" sz="2400" dirty="0"/>
              <a:t>	 if(color!= </a:t>
            </a:r>
            <a:r>
              <a:rPr lang="en-US" altLang="zh-CN" sz="2400" dirty="0" err="1"/>
              <a:t>newColor</a:t>
            </a:r>
            <a:r>
              <a:rPr lang="en-US" altLang="zh-CN" sz="2400" dirty="0"/>
              <a:t> &amp;&amp; color!= </a:t>
            </a:r>
            <a:r>
              <a:rPr lang="en-US" altLang="zh-CN" sz="2400" dirty="0" err="1"/>
              <a:t>boundaryColor</a:t>
            </a:r>
            <a:r>
              <a:rPr lang="en-US" altLang="zh-CN" sz="2400" dirty="0"/>
              <a:t>)</a:t>
            </a:r>
            <a:endParaRPr lang="zh-CN" altLang="zh-CN" sz="2400" dirty="0"/>
          </a:p>
          <a:p>
            <a:pPr>
              <a:buNone/>
            </a:pPr>
            <a:r>
              <a:rPr lang="en-US" altLang="zh-CN" sz="2400" dirty="0"/>
              <a:t>	{	</a:t>
            </a:r>
            <a:endParaRPr lang="zh-CN" altLang="zh-CN" sz="2400" dirty="0"/>
          </a:p>
          <a:p>
            <a:pPr>
              <a:buNone/>
            </a:pPr>
            <a:r>
              <a:rPr lang="en-US" altLang="zh-CN" sz="2400" dirty="0"/>
              <a:t>		</a:t>
            </a:r>
            <a:r>
              <a:rPr lang="en-US" altLang="zh-CN" sz="2400" dirty="0" err="1"/>
              <a:t>setpixel</a:t>
            </a:r>
            <a:r>
              <a:rPr lang="en-US" altLang="zh-CN" sz="2400" dirty="0"/>
              <a:t> (x, y, </a:t>
            </a:r>
            <a:r>
              <a:rPr lang="en-US" altLang="zh-CN" sz="2400" dirty="0" err="1"/>
              <a:t>newColor</a:t>
            </a:r>
            <a:r>
              <a:rPr lang="en-US" altLang="zh-CN" sz="2400" dirty="0"/>
              <a:t>);</a:t>
            </a:r>
            <a:endParaRPr lang="zh-CN" altLang="zh-CN" sz="2400" dirty="0"/>
          </a:p>
          <a:p>
            <a:pPr>
              <a:buNone/>
            </a:pPr>
            <a:r>
              <a:rPr lang="en-US" altLang="zh-CN" sz="2400" dirty="0"/>
              <a:t>		 BoundaryFill4(x,y+1, </a:t>
            </a:r>
            <a:r>
              <a:rPr lang="en-US" altLang="zh-CN" sz="2400" dirty="0" err="1"/>
              <a:t>boundaryColor</a:t>
            </a:r>
            <a:r>
              <a:rPr lang="en-US" altLang="zh-CN" sz="2400" dirty="0"/>
              <a:t>, </a:t>
            </a:r>
            <a:r>
              <a:rPr lang="en-US" altLang="zh-CN" sz="2400" dirty="0" err="1"/>
              <a:t>newColor</a:t>
            </a:r>
            <a:r>
              <a:rPr lang="en-US" altLang="zh-CN" sz="2400" dirty="0"/>
              <a:t>);</a:t>
            </a:r>
            <a:endParaRPr lang="zh-CN" altLang="zh-CN" sz="2400" dirty="0"/>
          </a:p>
          <a:p>
            <a:pPr>
              <a:buNone/>
            </a:pPr>
            <a:r>
              <a:rPr lang="en-US" altLang="zh-CN" sz="2400" dirty="0"/>
              <a:t>		 BoundaryFill4(x,y-1, </a:t>
            </a:r>
            <a:r>
              <a:rPr lang="en-US" altLang="zh-CN" sz="2400" dirty="0" err="1"/>
              <a:t>boundaryColor</a:t>
            </a:r>
            <a:r>
              <a:rPr lang="en-US" altLang="zh-CN" sz="2400" dirty="0"/>
              <a:t>, </a:t>
            </a:r>
            <a:r>
              <a:rPr lang="en-US" altLang="zh-CN" sz="2400" dirty="0" err="1"/>
              <a:t>newColor</a:t>
            </a:r>
            <a:r>
              <a:rPr lang="en-US" altLang="zh-CN" sz="2400" dirty="0"/>
              <a:t>);</a:t>
            </a:r>
            <a:endParaRPr lang="zh-CN" altLang="zh-CN" sz="2400" dirty="0"/>
          </a:p>
          <a:p>
            <a:pPr>
              <a:buNone/>
            </a:pPr>
            <a:r>
              <a:rPr lang="en-US" altLang="zh-CN" sz="2400" dirty="0"/>
              <a:t>		 BoundaryFill4(x-1,y, </a:t>
            </a:r>
            <a:r>
              <a:rPr lang="en-US" altLang="zh-CN" sz="2400" dirty="0" err="1"/>
              <a:t>boundaryColor</a:t>
            </a:r>
            <a:r>
              <a:rPr lang="en-US" altLang="zh-CN" sz="2400" dirty="0"/>
              <a:t>, </a:t>
            </a:r>
            <a:r>
              <a:rPr lang="en-US" altLang="zh-CN" sz="2400" dirty="0" err="1"/>
              <a:t>newColor</a:t>
            </a:r>
            <a:r>
              <a:rPr lang="en-US" altLang="zh-CN" sz="2400" dirty="0"/>
              <a:t>);</a:t>
            </a:r>
            <a:endParaRPr lang="zh-CN" altLang="zh-CN" sz="2400" dirty="0"/>
          </a:p>
          <a:p>
            <a:pPr>
              <a:buNone/>
            </a:pPr>
            <a:r>
              <a:rPr lang="en-US" altLang="zh-CN" sz="2400" dirty="0"/>
              <a:t>		 BoundaryFill4(x+1,y, </a:t>
            </a:r>
            <a:r>
              <a:rPr lang="en-US" altLang="zh-CN" sz="2400" dirty="0" err="1"/>
              <a:t>boundaryColor</a:t>
            </a:r>
            <a:r>
              <a:rPr lang="en-US" altLang="zh-CN" sz="2400" dirty="0"/>
              <a:t>, </a:t>
            </a:r>
            <a:r>
              <a:rPr lang="en-US" altLang="zh-CN" sz="2400" dirty="0" err="1"/>
              <a:t>newColor</a:t>
            </a:r>
            <a:r>
              <a:rPr lang="en-US" altLang="zh-CN" sz="2400" dirty="0"/>
              <a:t>);</a:t>
            </a:r>
            <a:endParaRPr lang="zh-CN" altLang="zh-CN" sz="2400" dirty="0"/>
          </a:p>
          <a:p>
            <a:pPr>
              <a:buNone/>
            </a:pPr>
            <a:r>
              <a:rPr lang="en-US" altLang="zh-CN" sz="2400" dirty="0"/>
              <a:t>	     }</a:t>
            </a:r>
            <a:endParaRPr lang="zh-CN" altLang="zh-CN" sz="2400" dirty="0"/>
          </a:p>
          <a:p>
            <a:pPr>
              <a:buNone/>
            </a:pPr>
            <a:r>
              <a:rPr lang="en-US" altLang="zh-CN" sz="2400" dirty="0"/>
              <a:t>}</a:t>
            </a:r>
            <a:endParaRPr kumimoji="1" lang="en-US" altLang="zh-CN" sz="2400" dirty="0">
              <a:ea typeface="宋体" panose="02010600030101010101" pitchFamily="2" charset="-122"/>
            </a:endParaRPr>
          </a:p>
        </p:txBody>
      </p:sp>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A659300-EBD4-4356-B531-1ECBE55B7869}" type="slidenum">
              <a:rPr lang="zh-CN" altLang="en-US" sz="1400" smtClean="0">
                <a:latin typeface="Arial" panose="020B0604020202020204" pitchFamily="34" charset="0"/>
              </a:rPr>
              <a:t>12</a:t>
            </a:fld>
            <a:endParaRPr lang="en-US" altLang="zh-CN" sz="1400">
              <a:latin typeface="Arial" panose="020B0604020202020204" pitchFamily="34" charset="0"/>
            </a:endParaRPr>
          </a:p>
        </p:txBody>
      </p:sp>
      <p:sp>
        <p:nvSpPr>
          <p:cNvPr id="25603"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p>
        </p:txBody>
      </p:sp>
      <p:sp>
        <p:nvSpPr>
          <p:cNvPr id="285699" name="Rectangle 3"/>
          <p:cNvSpPr>
            <a:spLocks noGrp="1" noChangeArrowheads="1"/>
          </p:cNvSpPr>
          <p:nvPr>
            <p:ph type="body" idx="1"/>
          </p:nvPr>
        </p:nvSpPr>
        <p:spPr>
          <a:xfrm>
            <a:off x="165100" y="1295400"/>
            <a:ext cx="9493250" cy="5334000"/>
          </a:xfrm>
        </p:spPr>
        <p:txBody>
          <a:bodyPr/>
          <a:lstStyle/>
          <a:p>
            <a:pPr eaLnBrk="1" hangingPunct="1">
              <a:defRPr/>
            </a:pPr>
            <a:r>
              <a:rPr lang="zh-CN" altLang="en-US" dirty="0">
                <a:solidFill>
                  <a:schemeClr val="accent2"/>
                </a:solidFill>
                <a:ea typeface="宋体" panose="02010600030101010101" pitchFamily="2" charset="-122"/>
              </a:rPr>
              <a:t>四向算法图示</a:t>
            </a:r>
            <a:r>
              <a:rPr lang="zh-CN" altLang="en-US" dirty="0">
                <a:solidFill>
                  <a:schemeClr val="accent1"/>
                </a:solidFill>
                <a:ea typeface="宋体" panose="02010600030101010101" pitchFamily="2" charset="-122"/>
              </a:rPr>
              <a:t>：</a:t>
            </a:r>
          </a:p>
          <a:p>
            <a:pPr lvl="1" eaLnBrk="1" hangingPunct="1">
              <a:buFontTx/>
              <a:buNone/>
              <a:defRPr/>
            </a:pPr>
            <a:endParaRPr lang="zh-CN" altLang="en-US" dirty="0">
              <a:ea typeface="宋体" panose="02010600030101010101" pitchFamily="2" charset="-122"/>
            </a:endParaRPr>
          </a:p>
          <a:p>
            <a:pPr lvl="1" eaLnBrk="1" hangingPunct="1">
              <a:buFontTx/>
              <a:buNone/>
              <a:defRPr/>
            </a:pPr>
            <a:endParaRPr lang="zh-CN" altLang="en-US" sz="3200" b="1" dirty="0">
              <a:latin typeface="宋体" panose="02010600030101010101" pitchFamily="2" charset="-122"/>
              <a:ea typeface="宋体" panose="02010600030101010101" pitchFamily="2" charset="-122"/>
            </a:endParaRPr>
          </a:p>
          <a:p>
            <a:pPr lvl="1" eaLnBrk="1" hangingPunct="1">
              <a:buFontTx/>
              <a:buNone/>
              <a:defRPr/>
            </a:pPr>
            <a:endParaRPr lang="zh-CN" altLang="en-US" sz="2400" dirty="0">
              <a:latin typeface="宋体" panose="02010600030101010101" pitchFamily="2" charset="-122"/>
              <a:ea typeface="宋体" panose="02010600030101010101" pitchFamily="2" charset="-122"/>
            </a:endParaRPr>
          </a:p>
          <a:p>
            <a:pPr eaLnBrk="1" hangingPunct="1">
              <a:defRPr/>
            </a:pPr>
            <a:endParaRPr kumimoji="1" lang="zh-CN" altLang="en-US" dirty="0">
              <a:ea typeface="宋体" panose="02010600030101010101" pitchFamily="2" charset="-122"/>
            </a:endParaRPr>
          </a:p>
          <a:p>
            <a:pPr eaLnBrk="1" hangingPunct="1">
              <a:buFontTx/>
              <a:buNone/>
              <a:defRPr/>
            </a:pPr>
            <a:r>
              <a:rPr lang="zh-CN" altLang="en-US" sz="4400" dirty="0">
                <a:solidFill>
                  <a:schemeClr val="accent2"/>
                </a:solidFill>
                <a:effectLst>
                  <a:outerShdw blurRad="38100" dist="38100" dir="2700000" algn="tl">
                    <a:srgbClr val="C0C0C0"/>
                  </a:outerShdw>
                </a:effectLst>
                <a:ea typeface="宋体" panose="02010600030101010101" pitchFamily="2" charset="-122"/>
              </a:rPr>
              <a:t>　　　　</a:t>
            </a:r>
          </a:p>
        </p:txBody>
      </p:sp>
      <p:pic>
        <p:nvPicPr>
          <p:cNvPr id="25605"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0800" y="2057400"/>
            <a:ext cx="4524375" cy="3535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38900" y="2057400"/>
            <a:ext cx="1319213"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8900" y="3581400"/>
            <a:ext cx="3219450"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endParaRPr lang="zh-CN" altLang="en-US" dirty="0"/>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85A3E2A1-09CA-41CA-99F4-E19725283771}" type="slidenum">
              <a:rPr lang="zh-CN" altLang="en-US" smtClean="0"/>
              <a:t>13</a:t>
            </a:fld>
            <a:endParaRPr lang="en-US" altLang="zh-CN"/>
          </a:p>
        </p:txBody>
      </p:sp>
      <p:pic>
        <p:nvPicPr>
          <p:cNvPr id="5" name="图片 4"/>
          <p:cNvPicPr>
            <a:picLocks noChangeAspect="1"/>
          </p:cNvPicPr>
          <p:nvPr/>
        </p:nvPicPr>
        <p:blipFill>
          <a:blip r:embed="rId2"/>
          <a:stretch>
            <a:fillRect/>
          </a:stretch>
        </p:blipFill>
        <p:spPr>
          <a:xfrm>
            <a:off x="-41275" y="1219200"/>
            <a:ext cx="9906000" cy="551444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A1572F9-4353-4CB8-B4F1-E6CB9D559326}" type="slidenum">
              <a:rPr lang="zh-CN" altLang="en-US" sz="1400" smtClean="0">
                <a:latin typeface="Arial" panose="020B0604020202020204" pitchFamily="34" charset="0"/>
              </a:rPr>
              <a:t>14</a:t>
            </a:fld>
            <a:endParaRPr lang="en-US" altLang="zh-CN" sz="1400">
              <a:latin typeface="Arial" panose="020B0604020202020204" pitchFamily="34" charset="0"/>
            </a:endParaRPr>
          </a:p>
        </p:txBody>
      </p:sp>
      <p:sp>
        <p:nvSpPr>
          <p:cNvPr id="27651"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简单种子填充算法</a:t>
            </a:r>
          </a:p>
        </p:txBody>
      </p:sp>
      <p:sp>
        <p:nvSpPr>
          <p:cNvPr id="287747" name="Rectangle 3"/>
          <p:cNvSpPr>
            <a:spLocks noGrp="1" noChangeArrowheads="1"/>
          </p:cNvSpPr>
          <p:nvPr>
            <p:ph type="body" idx="1"/>
          </p:nvPr>
        </p:nvSpPr>
        <p:spPr>
          <a:xfrm>
            <a:off x="165100" y="1033463"/>
            <a:ext cx="9493250" cy="5595937"/>
          </a:xfrm>
        </p:spPr>
        <p:txBody>
          <a:bodyPr/>
          <a:lstStyle/>
          <a:p>
            <a:pPr eaLnBrk="1" hangingPunct="1">
              <a:buFontTx/>
              <a:buNone/>
              <a:defRPr/>
            </a:pPr>
            <a:r>
              <a:rPr lang="en-US" altLang="zh-CN" dirty="0">
                <a:solidFill>
                  <a:schemeClr val="accent2"/>
                </a:solidFill>
                <a:ea typeface="宋体" panose="02010600030101010101" pitchFamily="2" charset="-122"/>
                <a:cs typeface="Times New Roman" panose="02020603050405020304" pitchFamily="18" charset="0"/>
              </a:rPr>
              <a:t>4. </a:t>
            </a:r>
            <a:r>
              <a:rPr lang="zh-CN" altLang="en-US" dirty="0">
                <a:solidFill>
                  <a:schemeClr val="accent2"/>
                </a:solidFill>
                <a:latin typeface="宋体" panose="02010600030101010101" pitchFamily="2" charset="-122"/>
                <a:ea typeface="宋体" panose="02010600030101010101" pitchFamily="2" charset="-122"/>
                <a:cs typeface="Times New Roman" panose="02020603050405020304" pitchFamily="18" charset="0"/>
              </a:rPr>
              <a:t>算法分析</a:t>
            </a:r>
            <a:endParaRPr lang="zh-CN" altLang="en-US" b="1" dirty="0">
              <a:solidFill>
                <a:schemeClr val="accent2"/>
              </a:solidFill>
              <a:latin typeface="宋体" panose="02010600030101010101" pitchFamily="2" charset="-122"/>
              <a:ea typeface="宋体" panose="02010600030101010101" pitchFamily="2" charset="-122"/>
              <a:cs typeface="Times New Roman" panose="02020603050405020304" pitchFamily="18" charset="0"/>
            </a:endParaRPr>
          </a:p>
          <a:p>
            <a:pPr eaLnBrk="1" hangingPunct="1">
              <a:defRPr/>
            </a:pPr>
            <a:r>
              <a:rPr lang="zh-CN" altLang="en-US" dirty="0">
                <a:latin typeface="宋体" panose="02010600030101010101" pitchFamily="2" charset="-122"/>
                <a:ea typeface="宋体" panose="02010600030101010101" pitchFamily="2" charset="-122"/>
                <a:cs typeface="Times New Roman" panose="02020603050405020304" pitchFamily="18" charset="0"/>
              </a:rPr>
              <a:t>每一像素都会进</a:t>
            </a:r>
            <a:r>
              <a:rPr lang="en-US" altLang="zh-CN" dirty="0">
                <a:latin typeface="宋体" panose="02010600030101010101" pitchFamily="2" charset="-122"/>
                <a:ea typeface="宋体" panose="02010600030101010101" pitchFamily="2" charset="-122"/>
                <a:cs typeface="Times New Roman" panose="02020603050405020304" pitchFamily="18" charset="0"/>
              </a:rPr>
              <a:t>/</a:t>
            </a:r>
            <a:r>
              <a:rPr lang="zh-CN" altLang="en-US" dirty="0">
                <a:latin typeface="宋体" panose="02010600030101010101" pitchFamily="2" charset="-122"/>
                <a:ea typeface="宋体" panose="02010600030101010101" pitchFamily="2" charset="-122"/>
                <a:cs typeface="Times New Roman" panose="02020603050405020304" pitchFamily="18" charset="0"/>
              </a:rPr>
              <a:t>出栈一次，费时费内存</a:t>
            </a:r>
            <a:endParaRPr lang="en-US" altLang="zh-CN" dirty="0">
              <a:latin typeface="宋体" panose="02010600030101010101" pitchFamily="2" charset="-122"/>
              <a:ea typeface="宋体" panose="02010600030101010101" pitchFamily="2" charset="-122"/>
              <a:cs typeface="Times New Roman" panose="02020603050405020304" pitchFamily="18" charset="0"/>
            </a:endParaRPr>
          </a:p>
          <a:p>
            <a:pPr eaLnBrk="1" hangingPunct="1">
              <a:defRPr/>
            </a:pPr>
            <a:r>
              <a:rPr lang="zh-CN" altLang="en-US" dirty="0">
                <a:latin typeface="宋体" panose="02010600030101010101" pitchFamily="2" charset="-122"/>
                <a:ea typeface="宋体" panose="02010600030101010101" pitchFamily="2" charset="-122"/>
                <a:cs typeface="Times New Roman" panose="02020603050405020304" pitchFamily="18" charset="0"/>
              </a:rPr>
              <a:t>有些像素会入栈多次，降低效率；栈结构占空间</a:t>
            </a:r>
          </a:p>
          <a:p>
            <a:pPr eaLnBrk="1" hangingPunct="1">
              <a:buFontTx/>
              <a:buNone/>
              <a:defRPr/>
            </a:pPr>
            <a:r>
              <a:rPr lang="zh-CN" altLang="en-US" sz="4400" dirty="0">
                <a:solidFill>
                  <a:schemeClr val="accent2"/>
                </a:solidFill>
                <a:effectLst>
                  <a:outerShdw blurRad="38100" dist="38100" dir="2700000" algn="tl">
                    <a:srgbClr val="C0C0C0"/>
                  </a:outerShdw>
                </a:effectLst>
                <a:ea typeface="宋体" panose="02010600030101010101" pitchFamily="2" charset="-122"/>
                <a:cs typeface="Times New Roman" panose="02020603050405020304" pitchFamily="18" charset="0"/>
              </a:rPr>
              <a:t>　　　　</a:t>
            </a:r>
          </a:p>
        </p:txBody>
      </p:sp>
      <p:pic>
        <p:nvPicPr>
          <p:cNvPr id="276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9738" y="3429000"/>
            <a:ext cx="4251325"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AutoShape 4"/>
          <p:cNvSpPr>
            <a:spLocks noChangeArrowheads="1"/>
          </p:cNvSpPr>
          <p:nvPr/>
        </p:nvSpPr>
        <p:spPr bwMode="auto">
          <a:xfrm>
            <a:off x="3232150" y="5664200"/>
            <a:ext cx="1770063" cy="514350"/>
          </a:xfrm>
          <a:prstGeom prst="wedgeRoundRectCallout">
            <a:avLst>
              <a:gd name="adj1" fmla="val 68925"/>
              <a:gd name="adj2" fmla="val -116667"/>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eaLnBrk="1" hangingPunct="1">
              <a:defRPr/>
            </a:pPr>
            <a:r>
              <a:rPr lang="zh-CN" altLang="en-US" sz="2800" dirty="0">
                <a:solidFill>
                  <a:schemeClr val="accent2"/>
                </a:solidFill>
                <a:ea typeface="宋体" panose="02010600030101010101" pitchFamily="2" charset="-122"/>
              </a:rPr>
              <a:t>如何改进</a:t>
            </a:r>
            <a:endParaRPr lang="en-US" altLang="zh-CN" sz="2800" dirty="0">
              <a:solidFill>
                <a:schemeClr val="accent2"/>
              </a:solidFill>
              <a:ea typeface="宋体" panose="02010600030101010101" pitchFamily="2"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7747">
                                            <p:txEl>
                                              <p:pRg st="1" end="1"/>
                                            </p:txEl>
                                          </p:spTgt>
                                        </p:tgtEl>
                                        <p:attrNameLst>
                                          <p:attrName>style.visibility</p:attrName>
                                        </p:attrNameLst>
                                      </p:cBhvr>
                                      <p:to>
                                        <p:strVal val="visible"/>
                                      </p:to>
                                    </p:set>
                                    <p:animEffect transition="in" filter="blinds(horizontal)">
                                      <p:cBhvr>
                                        <p:cTn id="7" dur="500"/>
                                        <p:tgtEl>
                                          <p:spTgt spid="28774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7747">
                                            <p:txEl>
                                              <p:pRg st="2" end="2"/>
                                            </p:txEl>
                                          </p:spTgt>
                                        </p:tgtEl>
                                        <p:attrNameLst>
                                          <p:attrName>style.visibility</p:attrName>
                                        </p:attrNameLst>
                                      </p:cBhvr>
                                      <p:to>
                                        <p:strVal val="visible"/>
                                      </p:to>
                                    </p:set>
                                    <p:animEffect transition="in" filter="blinds(horizontal)">
                                      <p:cBhvr>
                                        <p:cTn id="12" dur="500"/>
                                        <p:tgtEl>
                                          <p:spTgt spid="287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sp>
        <p:nvSpPr>
          <p:cNvPr id="29699"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EB6871F-3138-4C85-9DB8-7711E4C0FB20}" type="slidenum">
              <a:rPr lang="zh-CN" altLang="en-US" sz="1400" smtClean="0">
                <a:latin typeface="Arial" panose="020B0604020202020204" pitchFamily="34" charset="0"/>
              </a:rPr>
              <a:t>15</a:t>
            </a:fld>
            <a:endParaRPr lang="en-US" altLang="zh-CN" sz="1400">
              <a:latin typeface="Arial" panose="020B0604020202020204" pitchFamily="34" charset="0"/>
            </a:endParaRPr>
          </a:p>
        </p:txBody>
      </p:sp>
      <p:pic>
        <p:nvPicPr>
          <p:cNvPr id="297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5150" y="3603625"/>
            <a:ext cx="4167188" cy="32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9795" name="Rectangle 3"/>
          <p:cNvSpPr>
            <a:spLocks noGrp="1" noChangeArrowheads="1"/>
          </p:cNvSpPr>
          <p:nvPr>
            <p:ph type="body" idx="1"/>
          </p:nvPr>
        </p:nvSpPr>
        <p:spPr>
          <a:xfrm>
            <a:off x="187325" y="1133475"/>
            <a:ext cx="9493250" cy="4352925"/>
          </a:xfrm>
        </p:spPr>
        <p:txBody>
          <a:bodyPr/>
          <a:lstStyle/>
          <a:p>
            <a:pPr eaLnBrk="1" hangingPunct="1">
              <a:defRPr/>
            </a:pPr>
            <a:r>
              <a:rPr lang="en-US" altLang="zh-CN" dirty="0">
                <a:solidFill>
                  <a:schemeClr val="accent2"/>
                </a:solidFill>
                <a:latin typeface="宋体" panose="02010600030101010101" pitchFamily="2" charset="-122"/>
                <a:ea typeface="宋体" panose="02010600030101010101" pitchFamily="2" charset="-122"/>
              </a:rPr>
              <a:t>1.</a:t>
            </a:r>
            <a:r>
              <a:rPr lang="zh-CN" altLang="en-US" dirty="0">
                <a:solidFill>
                  <a:schemeClr val="accent2"/>
                </a:solidFill>
                <a:latin typeface="宋体" panose="02010600030101010101" pitchFamily="2" charset="-122"/>
                <a:ea typeface="宋体" panose="02010600030101010101" pitchFamily="2" charset="-122"/>
              </a:rPr>
              <a:t>算法思想：</a:t>
            </a:r>
            <a:endParaRPr lang="en-US" altLang="zh-CN" dirty="0">
              <a:solidFill>
                <a:schemeClr val="accent2"/>
              </a:solidFill>
              <a:latin typeface="宋体" panose="02010600030101010101" pitchFamily="2" charset="-122"/>
              <a:ea typeface="宋体" panose="02010600030101010101" pitchFamily="2" charset="-122"/>
            </a:endParaRPr>
          </a:p>
          <a:p>
            <a:pPr eaLnBrk="1" hangingPunct="1">
              <a:defRPr/>
            </a:pPr>
            <a:r>
              <a:rPr lang="zh-CN" altLang="en-US" dirty="0">
                <a:latin typeface="宋体" panose="02010600030101010101" pitchFamily="2" charset="-122"/>
                <a:ea typeface="宋体" panose="02010600030101010101" pitchFamily="2" charset="-122"/>
              </a:rPr>
              <a:t>在任意不间断区间中只取一个种子像素，</a:t>
            </a:r>
            <a:endParaRPr lang="en-US" altLang="zh-CN" dirty="0">
              <a:latin typeface="宋体" panose="02010600030101010101" pitchFamily="2" charset="-122"/>
              <a:ea typeface="宋体" panose="02010600030101010101" pitchFamily="2" charset="-122"/>
            </a:endParaRPr>
          </a:p>
          <a:p>
            <a:pPr eaLnBrk="1" hangingPunct="1">
              <a:defRPr/>
            </a:pPr>
            <a:r>
              <a:rPr lang="zh-CN" altLang="en-US" dirty="0">
                <a:latin typeface="宋体" panose="02010600030101010101" pitchFamily="2" charset="-122"/>
                <a:ea typeface="宋体" panose="02010600030101010101" pitchFamily="2" charset="-122"/>
              </a:rPr>
              <a:t>填充当前扫描线上的该段区间；</a:t>
            </a:r>
            <a:endParaRPr lang="en-US" altLang="zh-CN" dirty="0">
              <a:latin typeface="宋体" panose="02010600030101010101" pitchFamily="2" charset="-122"/>
              <a:ea typeface="宋体" panose="02010600030101010101" pitchFamily="2" charset="-122"/>
            </a:endParaRPr>
          </a:p>
          <a:p>
            <a:pPr eaLnBrk="1" hangingPunct="1">
              <a:defRPr/>
            </a:pPr>
            <a:r>
              <a:rPr lang="zh-CN" altLang="en-US" dirty="0">
                <a:latin typeface="宋体" panose="02010600030101010101" pitchFamily="2" charset="-122"/>
                <a:ea typeface="宋体" panose="02010600030101010101" pitchFamily="2" charset="-122"/>
              </a:rPr>
              <a:t>确定与这一区段相邻的上下两条扫描线上位于区域内的区段，产生种子像素</a:t>
            </a:r>
            <a:endParaRPr lang="zh-CN" altLang="en-US" sz="4400" dirty="0">
              <a:solidFill>
                <a:schemeClr val="accent2"/>
              </a:solidFill>
              <a:effectLst>
                <a:outerShdw blurRad="38100" dist="38100" dir="2700000" algn="tl">
                  <a:srgbClr val="C0C0C0"/>
                </a:outerShdw>
              </a:effectLst>
              <a:ea typeface="宋体" panose="02010600030101010101" pitchFamily="2"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blinds(horizontal)">
                                      <p:cBhvr>
                                        <p:cTn id="7" dur="500"/>
                                        <p:tgtEl>
                                          <p:spTgt spid="289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89795">
                                            <p:txEl>
                                              <p:pRg st="1" end="1"/>
                                            </p:txEl>
                                          </p:spTgt>
                                        </p:tgtEl>
                                        <p:attrNameLst>
                                          <p:attrName>style.visibility</p:attrName>
                                        </p:attrNameLst>
                                      </p:cBhvr>
                                      <p:to>
                                        <p:strVal val="visible"/>
                                      </p:to>
                                    </p:set>
                                    <p:animEffect transition="in" filter="blinds(horizontal)">
                                      <p:cBhvr>
                                        <p:cTn id="12" dur="500"/>
                                        <p:tgtEl>
                                          <p:spTgt spid="28979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89795">
                                            <p:txEl>
                                              <p:pRg st="2" end="2"/>
                                            </p:txEl>
                                          </p:spTgt>
                                        </p:tgtEl>
                                        <p:attrNameLst>
                                          <p:attrName>style.visibility</p:attrName>
                                        </p:attrNameLst>
                                      </p:cBhvr>
                                      <p:to>
                                        <p:strVal val="visible"/>
                                      </p:to>
                                    </p:set>
                                    <p:animEffect transition="in" filter="blinds(horizontal)">
                                      <p:cBhvr>
                                        <p:cTn id="17" dur="500"/>
                                        <p:tgtEl>
                                          <p:spTgt spid="28979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89795">
                                            <p:txEl>
                                              <p:pRg st="3" end="3"/>
                                            </p:txEl>
                                          </p:spTgt>
                                        </p:tgtEl>
                                        <p:attrNameLst>
                                          <p:attrName>style.visibility</p:attrName>
                                        </p:attrNameLst>
                                      </p:cBhvr>
                                      <p:to>
                                        <p:strVal val="visible"/>
                                      </p:to>
                                    </p:set>
                                    <p:animEffect transition="in" filter="blinds(horizontal)">
                                      <p:cBhvr>
                                        <p:cTn id="22" dur="500"/>
                                        <p:tgtEl>
                                          <p:spTgt spid="2897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AB85335-BF15-471E-9105-5F5851163DFC}" type="slidenum">
              <a:rPr lang="zh-CN" altLang="en-US" sz="1400" smtClean="0">
                <a:latin typeface="Arial" panose="020B0604020202020204" pitchFamily="34" charset="0"/>
              </a:rPr>
              <a:t>16</a:t>
            </a:fld>
            <a:endParaRPr lang="en-US" altLang="zh-CN" sz="1400">
              <a:latin typeface="Arial" panose="020B0604020202020204" pitchFamily="34" charset="0"/>
            </a:endParaRPr>
          </a:p>
        </p:txBody>
      </p:sp>
      <p:sp>
        <p:nvSpPr>
          <p:cNvPr id="31747"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sp>
        <p:nvSpPr>
          <p:cNvPr id="291843" name="Rectangle 3"/>
          <p:cNvSpPr>
            <a:spLocks noGrp="1" noChangeArrowheads="1"/>
          </p:cNvSpPr>
          <p:nvPr>
            <p:ph type="body" idx="1"/>
          </p:nvPr>
        </p:nvSpPr>
        <p:spPr>
          <a:xfrm>
            <a:off x="165100" y="1219200"/>
            <a:ext cx="9553575" cy="5213350"/>
          </a:xfrm>
        </p:spPr>
        <p:txBody>
          <a:bodyPr/>
          <a:lstStyle/>
          <a:p>
            <a:pPr eaLnBrk="1" hangingPunct="1">
              <a:lnSpc>
                <a:spcPct val="65000"/>
              </a:lnSpc>
              <a:defRPr/>
            </a:pPr>
            <a:r>
              <a:rPr lang="en-US" altLang="zh-CN" dirty="0">
                <a:solidFill>
                  <a:schemeClr val="accent2"/>
                </a:solidFill>
                <a:ea typeface="宋体" panose="02010600030101010101" pitchFamily="2" charset="-122"/>
              </a:rPr>
              <a:t>3. </a:t>
            </a:r>
            <a:r>
              <a:rPr lang="zh-CN" altLang="en-US" dirty="0">
                <a:solidFill>
                  <a:schemeClr val="accent2"/>
                </a:solidFill>
                <a:ea typeface="宋体" panose="02010600030101010101" pitchFamily="2" charset="-122"/>
              </a:rPr>
              <a:t>算法的栈结构实现：</a:t>
            </a:r>
          </a:p>
          <a:p>
            <a:pPr lvl="1" indent="-471805" eaLnBrk="1" hangingPunct="1">
              <a:lnSpc>
                <a:spcPct val="65000"/>
              </a:lnSpc>
              <a:buFontTx/>
              <a:buNone/>
              <a:defRPr/>
            </a:pPr>
            <a:r>
              <a:rPr lang="en-US" altLang="zh-CN" sz="3200" dirty="0">
                <a:ea typeface="宋体" panose="02010600030101010101" pitchFamily="2" charset="-122"/>
              </a:rPr>
              <a:t>(1) </a:t>
            </a:r>
            <a:r>
              <a:rPr lang="zh-CN" altLang="en-US" sz="3200" dirty="0">
                <a:ea typeface="宋体" panose="02010600030101010101" pitchFamily="2" charset="-122"/>
              </a:rPr>
              <a:t>种子像素入栈</a:t>
            </a:r>
            <a:endParaRPr lang="en-US" altLang="zh-CN" sz="3200" dirty="0">
              <a:ea typeface="宋体" panose="02010600030101010101" pitchFamily="2" charset="-122"/>
            </a:endParaRPr>
          </a:p>
          <a:p>
            <a:pPr lvl="1" indent="-471805" eaLnBrk="1" hangingPunct="1">
              <a:lnSpc>
                <a:spcPct val="65000"/>
              </a:lnSpc>
              <a:buFontTx/>
              <a:buNone/>
              <a:defRPr/>
            </a:pPr>
            <a:r>
              <a:rPr lang="en-US" altLang="zh-CN" sz="3200" dirty="0">
                <a:ea typeface="宋体" panose="02010600030101010101" pitchFamily="2" charset="-122"/>
              </a:rPr>
              <a:t>(2) </a:t>
            </a:r>
            <a:r>
              <a:rPr lang="zh-CN" altLang="en-US" sz="3200" dirty="0">
                <a:ea typeface="宋体" panose="02010600030101010101" pitchFamily="2" charset="-122"/>
              </a:rPr>
              <a:t>当栈非空时，重复执行下述三步：</a:t>
            </a:r>
          </a:p>
          <a:p>
            <a:pPr indent="15875" algn="just" eaLnBrk="1" hangingPunct="1">
              <a:lnSpc>
                <a:spcPct val="120000"/>
              </a:lnSpc>
              <a:buFontTx/>
              <a:buNone/>
              <a:defRPr/>
            </a:pPr>
            <a:r>
              <a:rPr lang="zh-CN" altLang="en-US" dirty="0">
                <a:ea typeface="宋体" panose="02010600030101010101" pitchFamily="2" charset="-122"/>
              </a:rPr>
              <a:t>  1)栈顶像素</a:t>
            </a:r>
            <a:r>
              <a:rPr lang="zh-CN" altLang="en-US" dirty="0">
                <a:solidFill>
                  <a:schemeClr val="accent2"/>
                </a:solidFill>
                <a:ea typeface="宋体" panose="02010600030101010101" pitchFamily="2" charset="-122"/>
              </a:rPr>
              <a:t>出栈</a:t>
            </a:r>
            <a:endParaRPr lang="zh-CN" altLang="en-US" dirty="0">
              <a:ea typeface="宋体" panose="02010600030101010101" pitchFamily="2" charset="-122"/>
            </a:endParaRPr>
          </a:p>
          <a:p>
            <a:pPr indent="15875" algn="just" eaLnBrk="1" hangingPunct="1">
              <a:lnSpc>
                <a:spcPct val="120000"/>
              </a:lnSpc>
              <a:buFontTx/>
              <a:buNone/>
              <a:defRPr/>
            </a:pPr>
            <a:r>
              <a:rPr lang="zh-CN" altLang="en-US" dirty="0">
                <a:ea typeface="宋体" panose="02010600030101010101" pitchFamily="2" charset="-122"/>
              </a:rPr>
              <a:t>  2)</a:t>
            </a:r>
            <a:r>
              <a:rPr lang="zh-CN" altLang="en-US" dirty="0">
                <a:solidFill>
                  <a:schemeClr val="accent2"/>
                </a:solidFill>
                <a:ea typeface="宋体" panose="02010600030101010101" pitchFamily="2" charset="-122"/>
              </a:rPr>
              <a:t>填充</a:t>
            </a:r>
            <a:r>
              <a:rPr lang="zh-CN" altLang="en-US" dirty="0">
                <a:ea typeface="宋体" panose="02010600030101010101" pitchFamily="2" charset="-122"/>
              </a:rPr>
              <a:t>像素所在扫描线区间段</a:t>
            </a:r>
          </a:p>
          <a:p>
            <a:pPr indent="15875" algn="just" eaLnBrk="1" hangingPunct="1">
              <a:lnSpc>
                <a:spcPct val="120000"/>
              </a:lnSpc>
              <a:buFontTx/>
              <a:buNone/>
              <a:defRPr/>
            </a:pPr>
            <a:r>
              <a:rPr lang="zh-CN" altLang="en-US" dirty="0">
                <a:ea typeface="宋体" panose="02010600030101010101" pitchFamily="2" charset="-122"/>
              </a:rPr>
              <a:t>  3)在区间中检查与当前扫描线相邻的上下两条扫描线的</a:t>
            </a:r>
            <a:r>
              <a:rPr lang="zh-CN" altLang="en-US" dirty="0">
                <a:solidFill>
                  <a:srgbClr val="FF0000"/>
                </a:solidFill>
                <a:ea typeface="宋体" panose="02010600030101010101" pitchFamily="2" charset="-122"/>
              </a:rPr>
              <a:t>有关像素</a:t>
            </a:r>
            <a:r>
              <a:rPr lang="en-US" altLang="zh-CN" dirty="0">
                <a:solidFill>
                  <a:srgbClr val="FF0000"/>
                </a:solidFill>
                <a:ea typeface="宋体" panose="02010600030101010101" pitchFamily="2" charset="-122"/>
              </a:rPr>
              <a:t>[xl, xr]</a:t>
            </a:r>
            <a:r>
              <a:rPr lang="zh-CN" altLang="en-US" dirty="0">
                <a:ea typeface="宋体" panose="02010600030101010101" pitchFamily="2" charset="-122"/>
              </a:rPr>
              <a:t>是否全为边界或已填充的像素，若存在非边界、未填充边界的像素，则把</a:t>
            </a:r>
            <a:r>
              <a:rPr lang="zh-CN" altLang="en-US" b="1" dirty="0">
                <a:highlight>
                  <a:srgbClr val="FFFF00"/>
                </a:highlight>
                <a:ea typeface="宋体" panose="02010600030101010101" pitchFamily="2" charset="-122"/>
              </a:rPr>
              <a:t>每一区间</a:t>
            </a:r>
            <a:r>
              <a:rPr lang="zh-CN" altLang="en-US" dirty="0">
                <a:ea typeface="宋体" panose="02010600030101010101" pitchFamily="2" charset="-122"/>
              </a:rPr>
              <a:t>最右像素作种子像素入栈</a:t>
            </a:r>
            <a:endParaRPr lang="zh-CN" altLang="en-US" dirty="0">
              <a:solidFill>
                <a:schemeClr val="accent2"/>
              </a:solidFill>
              <a:effectLst>
                <a:outerShdw blurRad="38100" dist="38100" dir="2700000" algn="tl">
                  <a:srgbClr val="C0C0C0"/>
                </a:outerShdw>
              </a:effectLst>
              <a:ea typeface="宋体" panose="02010600030101010101" pitchFamily="2"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1843">
                                            <p:txEl>
                                              <p:pRg st="0" end="0"/>
                                            </p:txEl>
                                          </p:spTgt>
                                        </p:tgtEl>
                                        <p:attrNameLst>
                                          <p:attrName>style.visibility</p:attrName>
                                        </p:attrNameLst>
                                      </p:cBhvr>
                                      <p:to>
                                        <p:strVal val="visible"/>
                                      </p:to>
                                    </p:set>
                                    <p:animEffect transition="in" filter="blinds(horizontal)">
                                      <p:cBhvr>
                                        <p:cTn id="7" dur="500"/>
                                        <p:tgtEl>
                                          <p:spTgt spid="29184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1843">
                                            <p:txEl>
                                              <p:pRg st="1" end="1"/>
                                            </p:txEl>
                                          </p:spTgt>
                                        </p:tgtEl>
                                        <p:attrNameLst>
                                          <p:attrName>style.visibility</p:attrName>
                                        </p:attrNameLst>
                                      </p:cBhvr>
                                      <p:to>
                                        <p:strVal val="visible"/>
                                      </p:to>
                                    </p:set>
                                    <p:animEffect transition="in" filter="blinds(horizontal)">
                                      <p:cBhvr>
                                        <p:cTn id="12" dur="500"/>
                                        <p:tgtEl>
                                          <p:spTgt spid="29184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1843">
                                            <p:txEl>
                                              <p:pRg st="2" end="2"/>
                                            </p:txEl>
                                          </p:spTgt>
                                        </p:tgtEl>
                                        <p:attrNameLst>
                                          <p:attrName>style.visibility</p:attrName>
                                        </p:attrNameLst>
                                      </p:cBhvr>
                                      <p:to>
                                        <p:strVal val="visible"/>
                                      </p:to>
                                    </p:set>
                                    <p:animEffect transition="in" filter="blinds(horizontal)">
                                      <p:cBhvr>
                                        <p:cTn id="17" dur="500"/>
                                        <p:tgtEl>
                                          <p:spTgt spid="29184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1843">
                                            <p:txEl>
                                              <p:pRg st="3" end="3"/>
                                            </p:txEl>
                                          </p:spTgt>
                                        </p:tgtEl>
                                        <p:attrNameLst>
                                          <p:attrName>style.visibility</p:attrName>
                                        </p:attrNameLst>
                                      </p:cBhvr>
                                      <p:to>
                                        <p:strVal val="visible"/>
                                      </p:to>
                                    </p:set>
                                    <p:animEffect transition="in" filter="blinds(horizontal)">
                                      <p:cBhvr>
                                        <p:cTn id="22" dur="500"/>
                                        <p:tgtEl>
                                          <p:spTgt spid="29184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91843">
                                            <p:txEl>
                                              <p:pRg st="4" end="4"/>
                                            </p:txEl>
                                          </p:spTgt>
                                        </p:tgtEl>
                                        <p:attrNameLst>
                                          <p:attrName>style.visibility</p:attrName>
                                        </p:attrNameLst>
                                      </p:cBhvr>
                                      <p:to>
                                        <p:strVal val="visible"/>
                                      </p:to>
                                    </p:set>
                                    <p:animEffect transition="in" filter="blinds(horizontal)">
                                      <p:cBhvr>
                                        <p:cTn id="27" dur="500"/>
                                        <p:tgtEl>
                                          <p:spTgt spid="29184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91843">
                                            <p:txEl>
                                              <p:pRg st="5" end="5"/>
                                            </p:txEl>
                                          </p:spTgt>
                                        </p:tgtEl>
                                        <p:attrNameLst>
                                          <p:attrName>style.visibility</p:attrName>
                                        </p:attrNameLst>
                                      </p:cBhvr>
                                      <p:to>
                                        <p:strVal val="visible"/>
                                      </p:to>
                                    </p:set>
                                    <p:animEffect transition="in" filter="blinds(horizontal)">
                                      <p:cBhvr>
                                        <p:cTn id="32" dur="500"/>
                                        <p:tgtEl>
                                          <p:spTgt spid="2918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1660556E-121C-4EBB-AD7C-E52BFDDE2A8D}" type="slidenum">
              <a:rPr lang="zh-CN" altLang="en-US" sz="1400" smtClean="0">
                <a:latin typeface="Arial" panose="020B0604020202020204" pitchFamily="34" charset="0"/>
              </a:rPr>
              <a:t>17</a:t>
            </a:fld>
            <a:endParaRPr lang="en-US" altLang="zh-CN" sz="1400">
              <a:latin typeface="Arial" panose="020B0604020202020204" pitchFamily="34" charset="0"/>
            </a:endParaRPr>
          </a:p>
        </p:txBody>
      </p:sp>
      <p:sp>
        <p:nvSpPr>
          <p:cNvPr id="33795"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sp>
        <p:nvSpPr>
          <p:cNvPr id="293891" name="Rectangle 3"/>
          <p:cNvSpPr>
            <a:spLocks noGrp="1" noChangeArrowheads="1"/>
          </p:cNvSpPr>
          <p:nvPr>
            <p:ph type="body" idx="1"/>
          </p:nvPr>
        </p:nvSpPr>
        <p:spPr>
          <a:xfrm>
            <a:off x="187325" y="1165225"/>
            <a:ext cx="9493250" cy="5334000"/>
          </a:xfrm>
        </p:spPr>
        <p:txBody>
          <a:bodyPr/>
          <a:lstStyle/>
          <a:p>
            <a:pPr eaLnBrk="1" hangingPunct="1">
              <a:defRPr/>
            </a:pPr>
            <a:r>
              <a:rPr lang="en-US" altLang="zh-CN" dirty="0">
                <a:solidFill>
                  <a:schemeClr val="accent2"/>
                </a:solidFill>
                <a:ea typeface="宋体" panose="02010600030101010101" pitchFamily="2" charset="-122"/>
              </a:rPr>
              <a:t>2. </a:t>
            </a:r>
            <a:r>
              <a:rPr lang="zh-CN" altLang="en-US" dirty="0">
                <a:solidFill>
                  <a:schemeClr val="accent2"/>
                </a:solidFill>
                <a:latin typeface="宋体" panose="02010600030101010101" pitchFamily="2" charset="-122"/>
                <a:ea typeface="宋体" panose="02010600030101010101" pitchFamily="2" charset="-122"/>
              </a:rPr>
              <a:t>四向算法图示</a:t>
            </a:r>
            <a:r>
              <a:rPr lang="en-US" altLang="zh-CN" dirty="0">
                <a:solidFill>
                  <a:schemeClr val="accent2"/>
                </a:solidFill>
                <a:latin typeface="宋体" panose="02010600030101010101" pitchFamily="2" charset="-122"/>
                <a:ea typeface="宋体" panose="02010600030101010101" pitchFamily="2" charset="-122"/>
              </a:rPr>
              <a:t>:</a:t>
            </a:r>
            <a:endParaRPr lang="zh-CN" altLang="en-US" sz="4400" dirty="0">
              <a:solidFill>
                <a:schemeClr val="accent2"/>
              </a:solidFill>
              <a:effectLst>
                <a:outerShdw blurRad="38100" dist="38100" dir="2700000" algn="tl">
                  <a:srgbClr val="C0C0C0"/>
                </a:outerShdw>
              </a:effectLst>
              <a:ea typeface="宋体" panose="02010600030101010101" pitchFamily="2" charset="-122"/>
            </a:endParaRPr>
          </a:p>
        </p:txBody>
      </p:sp>
      <p:pic>
        <p:nvPicPr>
          <p:cNvPr id="33797"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9713" y="1905000"/>
            <a:ext cx="29591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8" name="Picture 5" descr="区域填充扫描线算法(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438" y="1905000"/>
            <a:ext cx="47053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5389245" y="4979670"/>
            <a:ext cx="3961130" cy="922020"/>
          </a:xfrm>
          <a:prstGeom prst="rect">
            <a:avLst/>
          </a:prstGeom>
          <a:noFill/>
        </p:spPr>
        <p:txBody>
          <a:bodyPr wrap="square" rtlCol="0">
            <a:spAutoFit/>
          </a:bodyPr>
          <a:lstStyle/>
          <a:p>
            <a:r>
              <a:rPr lang="zh-CN" altLang="en-US"/>
              <a:t>注意：相邻指的是区段位置相邻，即上面提到的</a:t>
            </a:r>
            <a:r>
              <a:rPr lang="en-US" altLang="zh-CN"/>
              <a:t>“</a:t>
            </a:r>
            <a:r>
              <a:rPr lang="zh-CN" altLang="en-US"/>
              <a:t>有关像素</a:t>
            </a:r>
            <a:r>
              <a:rPr lang="en-US" altLang="zh-CN"/>
              <a:t>”</a:t>
            </a:r>
            <a:r>
              <a:rPr lang="zh-CN" altLang="en-US">
                <a:ea typeface="宋体" panose="02010600030101010101" pitchFamily="2" charset="-122"/>
              </a:rPr>
              <a:t>，这样规定的目的是什么？</a:t>
            </a:r>
          </a:p>
        </p:txBody>
      </p:sp>
    </p:spTree>
    <p:custDataLst>
      <p:tags r:id="rId1"/>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4E499D3-E7FA-45DB-BF02-FA98017462B3}" type="slidenum">
              <a:rPr lang="zh-CN" altLang="en-US" sz="1400" smtClean="0">
                <a:latin typeface="Arial" panose="020B0604020202020204" pitchFamily="34" charset="0"/>
              </a:rPr>
              <a:t>18</a:t>
            </a:fld>
            <a:endParaRPr lang="en-US" altLang="zh-CN" sz="1400">
              <a:latin typeface="Arial" panose="020B0604020202020204" pitchFamily="34" charset="0"/>
            </a:endParaRPr>
          </a:p>
        </p:txBody>
      </p:sp>
      <p:sp>
        <p:nvSpPr>
          <p:cNvPr id="35843"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pic>
        <p:nvPicPr>
          <p:cNvPr id="3584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3750" y="1981200"/>
            <a:ext cx="29591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4" descr="区域填充扫描线算法(b)"/>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447800"/>
            <a:ext cx="47053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1BD467F-C6F2-415B-BE43-232186D2BFDC}" type="slidenum">
              <a:rPr lang="zh-CN" altLang="en-US" sz="1400" smtClean="0">
                <a:latin typeface="Arial" panose="020B0604020202020204" pitchFamily="34" charset="0"/>
              </a:rPr>
              <a:t>19</a:t>
            </a:fld>
            <a:endParaRPr lang="en-US" altLang="zh-CN" sz="1400">
              <a:latin typeface="Arial" panose="020B0604020202020204" pitchFamily="34" charset="0"/>
            </a:endParaRPr>
          </a:p>
        </p:txBody>
      </p:sp>
      <p:sp>
        <p:nvSpPr>
          <p:cNvPr id="37891"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pic>
        <p:nvPicPr>
          <p:cNvPr id="37892" name="Picture 3" descr="区域填充扫描线算法(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 y="1600200"/>
            <a:ext cx="42926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4" descr="区域填充扫描线算法(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3200" y="1600200"/>
            <a:ext cx="42926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6" name="Line 5"/>
          <p:cNvSpPr>
            <a:spLocks noChangeShapeType="1"/>
          </p:cNvSpPr>
          <p:nvPr/>
        </p:nvSpPr>
        <p:spPr bwMode="auto">
          <a:xfrm>
            <a:off x="4870450" y="3657600"/>
            <a:ext cx="412750" cy="0"/>
          </a:xfrm>
          <a:prstGeom prst="line">
            <a:avLst/>
          </a:prstGeom>
          <a:noFill/>
          <a:ln w="38100">
            <a:solidFill>
              <a:srgbClr val="FF33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B8A7139-E2C1-499C-9082-09DA37186DB0}" type="slidenum">
              <a:rPr lang="zh-CN" altLang="en-US" sz="1400" smtClean="0">
                <a:latin typeface="Arial" panose="020B0604020202020204" pitchFamily="34" charset="0"/>
              </a:rPr>
              <a:t>20</a:t>
            </a:fld>
            <a:endParaRPr lang="en-US" altLang="zh-CN" sz="1400">
              <a:latin typeface="Arial" panose="020B0604020202020204" pitchFamily="34" charset="0"/>
            </a:endParaRPr>
          </a:p>
        </p:txBody>
      </p:sp>
      <p:sp>
        <p:nvSpPr>
          <p:cNvPr id="39939" name="Rectangle 2"/>
          <p:cNvSpPr>
            <a:spLocks noGrp="1" noChangeArrowheads="1"/>
          </p:cNvSpPr>
          <p:nvPr>
            <p:ph type="title"/>
          </p:nvPr>
        </p:nvSpPr>
        <p:spPr>
          <a:xfrm>
            <a:off x="165100" y="304800"/>
            <a:ext cx="8915400" cy="762000"/>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扫描线种子填充算法</a:t>
            </a:r>
          </a:p>
        </p:txBody>
      </p:sp>
      <p:sp>
        <p:nvSpPr>
          <p:cNvPr id="300035" name="Rectangle 3"/>
          <p:cNvSpPr>
            <a:spLocks noGrp="1" noChangeArrowheads="1"/>
          </p:cNvSpPr>
          <p:nvPr>
            <p:ph type="body" idx="1"/>
          </p:nvPr>
        </p:nvSpPr>
        <p:spPr>
          <a:xfrm>
            <a:off x="187325" y="1143000"/>
            <a:ext cx="9493250" cy="5257800"/>
          </a:xfrm>
        </p:spPr>
        <p:txBody>
          <a:bodyPr/>
          <a:lstStyle/>
          <a:p>
            <a:pPr eaLnBrk="1" hangingPunct="1">
              <a:buFontTx/>
              <a:buNone/>
              <a:defRPr/>
            </a:pPr>
            <a:r>
              <a:rPr lang="en-US" altLang="zh-CN" dirty="0">
                <a:ea typeface="宋体" panose="02010600030101010101" pitchFamily="2" charset="-122"/>
                <a:cs typeface="Times New Roman" panose="02020603050405020304" pitchFamily="18" charset="0"/>
              </a:rPr>
              <a:t>4. </a:t>
            </a:r>
            <a:r>
              <a:rPr lang="zh-CN" altLang="en-US" dirty="0">
                <a:latin typeface="宋体" panose="02010600030101010101" pitchFamily="2" charset="-122"/>
                <a:ea typeface="宋体" panose="02010600030101010101" pitchFamily="2" charset="-122"/>
                <a:cs typeface="Times New Roman" panose="02020603050405020304" pitchFamily="18" charset="0"/>
              </a:rPr>
              <a:t>算法分析</a:t>
            </a:r>
            <a:endParaRPr lang="zh-CN" altLang="en-US" b="1" dirty="0">
              <a:latin typeface="宋体" panose="02010600030101010101" pitchFamily="2" charset="-122"/>
              <a:ea typeface="宋体" panose="02010600030101010101" pitchFamily="2" charset="-122"/>
              <a:cs typeface="Times New Roman" panose="02020603050405020304" pitchFamily="18" charset="0"/>
            </a:endParaRPr>
          </a:p>
          <a:p>
            <a:pPr eaLnBrk="1" hangingPunct="1">
              <a:defRPr/>
            </a:pPr>
            <a:r>
              <a:rPr lang="zh-CN" altLang="en-US" dirty="0">
                <a:latin typeface="宋体" panose="02010600030101010101" pitchFamily="2" charset="-122"/>
                <a:ea typeface="宋体" panose="02010600030101010101" pitchFamily="2" charset="-122"/>
                <a:cs typeface="Times New Roman" panose="02020603050405020304" pitchFamily="18" charset="0"/>
              </a:rPr>
              <a:t>一次填充一段区间</a:t>
            </a:r>
            <a:r>
              <a:rPr lang="en-US" altLang="zh-CN" dirty="0">
                <a:latin typeface="宋体" panose="02010600030101010101" pitchFamily="2" charset="-122"/>
                <a:ea typeface="宋体" panose="02010600030101010101" pitchFamily="2" charset="-122"/>
                <a:cs typeface="Times New Roman" panose="02020603050405020304" pitchFamily="18" charset="0"/>
              </a:rPr>
              <a:t>,</a:t>
            </a:r>
            <a:r>
              <a:rPr lang="zh-CN" altLang="en-US" dirty="0">
                <a:latin typeface="宋体" panose="02010600030101010101" pitchFamily="2" charset="-122"/>
                <a:ea typeface="宋体" panose="02010600030101010101" pitchFamily="2" charset="-122"/>
                <a:cs typeface="Times New Roman" panose="02020603050405020304" pitchFamily="18" charset="0"/>
              </a:rPr>
              <a:t>非常有效</a:t>
            </a:r>
          </a:p>
          <a:p>
            <a:pPr eaLnBrk="1" hangingPunct="1">
              <a:buFontTx/>
              <a:buNone/>
              <a:defRPr/>
            </a:pPr>
            <a:r>
              <a:rPr lang="zh-CN" altLang="en-US" sz="4400" dirty="0">
                <a:solidFill>
                  <a:schemeClr val="accent2"/>
                </a:solidFill>
                <a:effectLst>
                  <a:outerShdw blurRad="38100" dist="38100" dir="2700000" algn="tl">
                    <a:srgbClr val="C0C0C0"/>
                  </a:outerShdw>
                </a:effectLst>
                <a:ea typeface="宋体" panose="02010600030101010101" pitchFamily="2" charset="-122"/>
                <a:cs typeface="Times New Roman" panose="02020603050405020304" pitchFamily="18" charset="0"/>
              </a:rPr>
              <a:t>　　　　</a:t>
            </a:r>
          </a:p>
        </p:txBody>
      </p:sp>
      <p:sp>
        <p:nvSpPr>
          <p:cNvPr id="24581" name="AutoShape 4"/>
          <p:cNvSpPr>
            <a:spLocks noChangeArrowheads="1"/>
          </p:cNvSpPr>
          <p:nvPr/>
        </p:nvSpPr>
        <p:spPr bwMode="auto">
          <a:xfrm>
            <a:off x="5981700" y="3106738"/>
            <a:ext cx="3197225" cy="1090612"/>
          </a:xfrm>
          <a:prstGeom prst="wedgeRoundRectCallout">
            <a:avLst>
              <a:gd name="adj1" fmla="val -43090"/>
              <a:gd name="adj2" fmla="val 73107"/>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eaLnBrk="1" hangingPunct="1">
              <a:defRPr/>
            </a:pPr>
            <a:r>
              <a:rPr lang="zh-CN" altLang="en-US" sz="2800" dirty="0">
                <a:solidFill>
                  <a:srgbClr val="2D2D8A"/>
                </a:solidFill>
                <a:ea typeface="宋体" panose="02010600030101010101" pitchFamily="2" charset="-122"/>
              </a:rPr>
              <a:t>区域填充与多边形扫描转换区别</a:t>
            </a:r>
            <a:r>
              <a:rPr lang="en-US" altLang="zh-CN" sz="2800" dirty="0">
                <a:solidFill>
                  <a:srgbClr val="2D2D8A"/>
                </a:solidFill>
                <a:ea typeface="宋体" panose="02010600030101010101" pitchFamily="2" charset="-122"/>
              </a:rPr>
              <a:t>?</a:t>
            </a:r>
            <a:endParaRPr lang="en-US" altLang="zh-CN" sz="2800" dirty="0">
              <a:solidFill>
                <a:schemeClr val="accent2"/>
              </a:solidFill>
              <a:ea typeface="宋体" panose="02010600030101010101" pitchFamily="2" charset="-122"/>
            </a:endParaRPr>
          </a:p>
        </p:txBody>
      </p:sp>
      <p:pic>
        <p:nvPicPr>
          <p:cNvPr id="21510" name="Picture 4" descr="0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825" y="3373438"/>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1" name="Picture 5" descr="00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113" y="4903788"/>
            <a:ext cx="2528887" cy="162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0450" y="4730750"/>
            <a:ext cx="630555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0035">
                                            <p:txEl>
                                              <p:pRg st="0" end="0"/>
                                            </p:txEl>
                                          </p:spTgt>
                                        </p:tgtEl>
                                        <p:attrNameLst>
                                          <p:attrName>style.visibility</p:attrName>
                                        </p:attrNameLst>
                                      </p:cBhvr>
                                      <p:to>
                                        <p:strVal val="visible"/>
                                      </p:to>
                                    </p:set>
                                    <p:animEffect transition="in" filter="blinds(horizontal)">
                                      <p:cBhvr>
                                        <p:cTn id="7" dur="500"/>
                                        <p:tgtEl>
                                          <p:spTgt spid="30003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0035">
                                            <p:txEl>
                                              <p:pRg st="1" end="1"/>
                                            </p:txEl>
                                          </p:spTgt>
                                        </p:tgtEl>
                                        <p:attrNameLst>
                                          <p:attrName>style.visibility</p:attrName>
                                        </p:attrNameLst>
                                      </p:cBhvr>
                                      <p:to>
                                        <p:strVal val="visible"/>
                                      </p:to>
                                    </p:set>
                                    <p:animEffect transition="in" filter="blinds(horizontal)">
                                      <p:cBhvr>
                                        <p:cTn id="12" dur="500"/>
                                        <p:tgtEl>
                                          <p:spTgt spid="30003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5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5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4581"/>
                                        </p:tgtEl>
                                        <p:attrNameLst>
                                          <p:attrName>style.visibility</p:attrName>
                                        </p:attrNameLst>
                                      </p:cBhvr>
                                      <p:to>
                                        <p:strVal val="visible"/>
                                      </p:to>
                                    </p:set>
                                    <p:animEffect transition="in" filter="checkerboard(across)">
                                      <p:cBhvr>
                                        <p:cTn id="27" dur="500"/>
                                        <p:tgtEl>
                                          <p:spTgt spid="245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F2495E7-33CC-4B28-97FE-8CBDF40E9411}" type="slidenum">
              <a:rPr lang="zh-CN" altLang="en-US" sz="1400" smtClean="0">
                <a:latin typeface="Arial" panose="020B0604020202020204" pitchFamily="34" charset="0"/>
              </a:rPr>
              <a:t>21</a:t>
            </a:fld>
            <a:endParaRPr lang="en-US" altLang="zh-CN" sz="1400">
              <a:latin typeface="Arial" panose="020B0604020202020204" pitchFamily="34" charset="0"/>
            </a:endParaRPr>
          </a:p>
        </p:txBody>
      </p:sp>
      <p:sp>
        <p:nvSpPr>
          <p:cNvPr id="45059" name="Rectangle 2"/>
          <p:cNvSpPr>
            <a:spLocks noGrp="1" noChangeArrowheads="1"/>
          </p:cNvSpPr>
          <p:nvPr>
            <p:ph type="title"/>
          </p:nvPr>
        </p:nvSpPr>
        <p:spPr>
          <a:xfrm>
            <a:off x="966788" y="234950"/>
            <a:ext cx="8688387" cy="769441"/>
          </a:xfrm>
          <a:noFill/>
        </p:spPr>
        <p:txBody>
          <a:bodyPr anchor="t">
            <a:spAutoFit/>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多边形扫描转换与区域填充方法</a:t>
            </a:r>
          </a:p>
        </p:txBody>
      </p:sp>
      <p:sp>
        <p:nvSpPr>
          <p:cNvPr id="27652" name="Rectangle 3"/>
          <p:cNvSpPr>
            <a:spLocks noChangeArrowheads="1"/>
          </p:cNvSpPr>
          <p:nvPr/>
        </p:nvSpPr>
        <p:spPr bwMode="auto">
          <a:xfrm>
            <a:off x="141288" y="1162050"/>
            <a:ext cx="9253537"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eaLnBrk="1" fontAlgn="t" hangingPunct="1">
              <a:spcBef>
                <a:spcPct val="0"/>
              </a:spcBef>
            </a:pPr>
            <a:r>
              <a:rPr kumimoji="1" lang="zh-CN" altLang="en-US" dirty="0">
                <a:latin typeface="宋体" panose="02010600030101010101" pitchFamily="2" charset="-122"/>
                <a:ea typeface="宋体" panose="02010600030101010101" pitchFamily="2" charset="-122"/>
              </a:rPr>
              <a:t> </a:t>
            </a:r>
            <a:r>
              <a:rPr kumimoji="1" lang="zh-CN" altLang="en-US" dirty="0">
                <a:solidFill>
                  <a:srgbClr val="0000FF"/>
                </a:solidFill>
                <a:latin typeface="宋体" panose="02010600030101010101" pitchFamily="2" charset="-122"/>
                <a:ea typeface="宋体" panose="02010600030101010101" pitchFamily="2" charset="-122"/>
              </a:rPr>
              <a:t>联系：</a:t>
            </a:r>
            <a:r>
              <a:rPr kumimoji="1" lang="zh-CN" altLang="en-US" dirty="0">
                <a:latin typeface="宋体" panose="02010600030101010101" pitchFamily="2" charset="-122"/>
                <a:ea typeface="宋体" panose="02010600030101010101" pitchFamily="2" charset="-122"/>
              </a:rPr>
              <a:t>光栅图形面着色，可转换</a:t>
            </a:r>
            <a:endParaRPr kumimoji="1" lang="en-US" altLang="zh-CN" dirty="0">
              <a:latin typeface="宋体" panose="02010600030101010101" pitchFamily="2" charset="-122"/>
              <a:ea typeface="宋体" panose="02010600030101010101" pitchFamily="2" charset="-122"/>
            </a:endParaRPr>
          </a:p>
          <a:p>
            <a:pPr algn="just" eaLnBrk="1" fontAlgn="t" hangingPunct="1">
              <a:spcBef>
                <a:spcPct val="0"/>
              </a:spcBef>
            </a:pPr>
            <a:r>
              <a:rPr kumimoji="1" lang="zh-CN" altLang="en-US" dirty="0">
                <a:latin typeface="宋体" panose="02010600030101010101" pitchFamily="2" charset="-122"/>
                <a:ea typeface="宋体" panose="02010600030101010101" pitchFamily="2" charset="-122"/>
              </a:rPr>
              <a:t> </a:t>
            </a:r>
            <a:r>
              <a:rPr kumimoji="1" lang="zh-CN" altLang="en-US" dirty="0">
                <a:solidFill>
                  <a:srgbClr val="0000FF"/>
                </a:solidFill>
                <a:latin typeface="宋体" panose="02010600030101010101" pitchFamily="2" charset="-122"/>
                <a:ea typeface="宋体" panose="02010600030101010101" pitchFamily="2" charset="-122"/>
              </a:rPr>
              <a:t>区别：</a:t>
            </a:r>
          </a:p>
          <a:p>
            <a:pPr algn="just" eaLnBrk="1" fontAlgn="t" hangingPunct="1">
              <a:spcBef>
                <a:spcPct val="0"/>
              </a:spcBef>
            </a:pPr>
            <a:r>
              <a:rPr kumimoji="1" lang="zh-CN" altLang="en-US" dirty="0">
                <a:latin typeface="宋体" panose="02010600030101010101" pitchFamily="2" charset="-122"/>
                <a:ea typeface="宋体" panose="02010600030101010101" pitchFamily="2" charset="-122"/>
              </a:rPr>
              <a:t> </a:t>
            </a:r>
            <a:r>
              <a:rPr kumimoji="1" lang="en-US" altLang="zh-CN" dirty="0">
                <a:latin typeface="宋体" panose="02010600030101010101" pitchFamily="2" charset="-122"/>
                <a:ea typeface="宋体" panose="02010600030101010101" pitchFamily="2" charset="-122"/>
              </a:rPr>
              <a:t>1.</a:t>
            </a:r>
            <a:r>
              <a:rPr kumimoji="1" lang="zh-CN" altLang="en-US" dirty="0">
                <a:latin typeface="宋体" panose="02010600030101010101" pitchFamily="2" charset="-122"/>
                <a:ea typeface="宋体" panose="02010600030101010101" pitchFamily="2" charset="-122"/>
              </a:rPr>
              <a:t>基本思想</a:t>
            </a:r>
          </a:p>
          <a:p>
            <a:pPr algn="just" eaLnBrk="1" fontAlgn="t" hangingPunct="1">
              <a:spcBef>
                <a:spcPct val="0"/>
              </a:spcBef>
              <a:buFont typeface="Wingdings" panose="05000000000000000000" pitchFamily="2" charset="2"/>
              <a:buNone/>
            </a:pPr>
            <a:r>
              <a:rPr kumimoji="1" lang="zh-CN" altLang="en-US" dirty="0">
                <a:latin typeface="宋体" panose="02010600030101010101" pitchFamily="2" charset="-122"/>
                <a:ea typeface="宋体" panose="02010600030101010101" pitchFamily="2" charset="-122"/>
              </a:rPr>
              <a:t>  前者：顶点表示转换成点阵表示</a:t>
            </a:r>
            <a:endParaRPr kumimoji="1" lang="en-US" altLang="zh-CN" dirty="0">
              <a:latin typeface="宋体" panose="02010600030101010101" pitchFamily="2" charset="-122"/>
              <a:ea typeface="宋体" panose="02010600030101010101" pitchFamily="2" charset="-122"/>
            </a:endParaRPr>
          </a:p>
          <a:p>
            <a:pPr algn="just" eaLnBrk="1" fontAlgn="t" hangingPunct="1">
              <a:spcBef>
                <a:spcPct val="0"/>
              </a:spcBef>
              <a:buFont typeface="Wingdings" panose="05000000000000000000" pitchFamily="2" charset="2"/>
              <a:buNone/>
            </a:pPr>
            <a:r>
              <a:rPr kumimoji="1" lang="en-US" altLang="zh-CN" dirty="0">
                <a:latin typeface="宋体" panose="02010600030101010101" pitchFamily="2" charset="-122"/>
                <a:ea typeface="宋体" panose="02010600030101010101" pitchFamily="2" charset="-122"/>
              </a:rPr>
              <a:t>  </a:t>
            </a:r>
            <a:r>
              <a:rPr kumimoji="1" lang="zh-CN" altLang="en-US" dirty="0">
                <a:latin typeface="宋体" panose="02010600030101010101" pitchFamily="2" charset="-122"/>
                <a:ea typeface="宋体" panose="02010600030101010101" pitchFamily="2" charset="-122"/>
              </a:rPr>
              <a:t>后者：改变区域内填充颜色，没有改变表示方法</a:t>
            </a:r>
          </a:p>
          <a:p>
            <a:pPr algn="just" eaLnBrk="1" fontAlgn="t" hangingPunct="1">
              <a:spcBef>
                <a:spcPct val="0"/>
              </a:spcBef>
            </a:pPr>
            <a:r>
              <a:rPr kumimoji="1" lang="zh-CN" altLang="en-US" dirty="0">
                <a:latin typeface="宋体" panose="02010600030101010101" pitchFamily="2" charset="-122"/>
                <a:ea typeface="宋体" panose="02010600030101010101" pitchFamily="2" charset="-122"/>
              </a:rPr>
              <a:t> </a:t>
            </a:r>
            <a:r>
              <a:rPr kumimoji="1" lang="en-US" altLang="zh-CN" dirty="0">
                <a:latin typeface="宋体" panose="02010600030101010101" pitchFamily="2" charset="-122"/>
                <a:ea typeface="宋体" panose="02010600030101010101" pitchFamily="2" charset="-122"/>
              </a:rPr>
              <a:t>2.</a:t>
            </a:r>
            <a:r>
              <a:rPr kumimoji="1" lang="zh-CN" altLang="en-US" dirty="0">
                <a:latin typeface="宋体" panose="02010600030101010101" pitchFamily="2" charset="-122"/>
                <a:ea typeface="宋体" panose="02010600030101010101" pitchFamily="2" charset="-122"/>
              </a:rPr>
              <a:t>边界要求</a:t>
            </a:r>
          </a:p>
          <a:p>
            <a:pPr algn="just" eaLnBrk="1" fontAlgn="t" hangingPunct="1">
              <a:spcBef>
                <a:spcPct val="0"/>
              </a:spcBef>
              <a:buFont typeface="Wingdings" panose="05000000000000000000" pitchFamily="2" charset="2"/>
              <a:buNone/>
            </a:pPr>
            <a:r>
              <a:rPr kumimoji="1" lang="zh-CN" altLang="en-US" dirty="0">
                <a:latin typeface="宋体" panose="02010600030101010101" pitchFamily="2" charset="-122"/>
                <a:ea typeface="宋体" panose="02010600030101010101" pitchFamily="2" charset="-122"/>
              </a:rPr>
              <a:t>  前者：要求扫描线与多边形边界交点个数为偶数</a:t>
            </a:r>
            <a:endParaRPr kumimoji="1" lang="en-US" altLang="zh-CN" dirty="0">
              <a:latin typeface="宋体" panose="02010600030101010101" pitchFamily="2" charset="-122"/>
              <a:ea typeface="宋体" panose="02010600030101010101" pitchFamily="2" charset="-122"/>
            </a:endParaRPr>
          </a:p>
          <a:p>
            <a:pPr algn="just" eaLnBrk="1" fontAlgn="t" hangingPunct="1">
              <a:spcBef>
                <a:spcPct val="0"/>
              </a:spcBef>
              <a:buFont typeface="Wingdings" panose="05000000000000000000" pitchFamily="2" charset="2"/>
              <a:buNone/>
            </a:pPr>
            <a:r>
              <a:rPr kumimoji="1" lang="zh-CN" altLang="en-US" dirty="0">
                <a:latin typeface="宋体" panose="02010600030101010101" pitchFamily="2" charset="-122"/>
                <a:ea typeface="宋体" panose="02010600030101010101" pitchFamily="2" charset="-122"/>
              </a:rPr>
              <a:t>  后者：区域封闭</a:t>
            </a:r>
          </a:p>
          <a:p>
            <a:pPr algn="just" eaLnBrk="1" fontAlgn="t" hangingPunct="1">
              <a:spcBef>
                <a:spcPct val="0"/>
              </a:spcBef>
            </a:pPr>
            <a:r>
              <a:rPr kumimoji="1" lang="zh-CN" altLang="en-US" dirty="0">
                <a:latin typeface="宋体" panose="02010600030101010101" pitchFamily="2" charset="-122"/>
                <a:ea typeface="宋体" panose="02010600030101010101" pitchFamily="2" charset="-122"/>
              </a:rPr>
              <a:t> </a:t>
            </a:r>
            <a:r>
              <a:rPr kumimoji="1" lang="en-US" altLang="zh-CN" dirty="0">
                <a:latin typeface="宋体" panose="02010600030101010101" pitchFamily="2" charset="-122"/>
                <a:ea typeface="宋体" panose="02010600030101010101" pitchFamily="2" charset="-122"/>
              </a:rPr>
              <a:t>3.</a:t>
            </a:r>
            <a:r>
              <a:rPr kumimoji="1" lang="zh-CN" altLang="en-US" dirty="0">
                <a:latin typeface="宋体" panose="02010600030101010101" pitchFamily="2" charset="-122"/>
                <a:ea typeface="宋体" panose="02010600030101010101" pitchFamily="2" charset="-122"/>
              </a:rPr>
              <a:t>基本条件</a:t>
            </a:r>
          </a:p>
          <a:p>
            <a:pPr algn="just" eaLnBrk="1" fontAlgn="t" hangingPunct="1">
              <a:spcBef>
                <a:spcPct val="0"/>
              </a:spcBef>
              <a:buFont typeface="Wingdings" panose="05000000000000000000" pitchFamily="2" charset="2"/>
              <a:buNone/>
            </a:pPr>
            <a:r>
              <a:rPr kumimoji="1" lang="zh-CN" altLang="en-US" dirty="0">
                <a:latin typeface="宋体" panose="02010600030101010101" pitchFamily="2" charset="-122"/>
                <a:ea typeface="宋体" panose="02010600030101010101" pitchFamily="2" charset="-122"/>
              </a:rPr>
              <a:t>  前者：从边界顶点信息出发</a:t>
            </a:r>
            <a:endParaRPr kumimoji="1" lang="en-US" altLang="zh-CN" dirty="0">
              <a:latin typeface="宋体" panose="02010600030101010101" pitchFamily="2" charset="-122"/>
              <a:ea typeface="宋体" panose="02010600030101010101" pitchFamily="2" charset="-122"/>
            </a:endParaRPr>
          </a:p>
          <a:p>
            <a:pPr algn="just" eaLnBrk="1" fontAlgn="t" hangingPunct="1">
              <a:spcBef>
                <a:spcPct val="0"/>
              </a:spcBef>
              <a:buFont typeface="Wingdings" panose="05000000000000000000" pitchFamily="2" charset="2"/>
              <a:buNone/>
            </a:pPr>
            <a:r>
              <a:rPr kumimoji="1" lang="en-US" altLang="zh-CN" dirty="0">
                <a:latin typeface="宋体" panose="02010600030101010101" pitchFamily="2" charset="-122"/>
                <a:ea typeface="宋体" panose="02010600030101010101" pitchFamily="2" charset="-122"/>
              </a:rPr>
              <a:t>  </a:t>
            </a:r>
            <a:r>
              <a:rPr kumimoji="1" lang="zh-CN" altLang="en-US" dirty="0">
                <a:latin typeface="宋体" panose="02010600030101010101" pitchFamily="2" charset="-122"/>
                <a:ea typeface="宋体" panose="02010600030101010101" pitchFamily="2" charset="-122"/>
              </a:rPr>
              <a:t>后者：区域内种子点</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Effect transition="in" filter="blinds(horizontal)">
                                      <p:cBhvr>
                                        <p:cTn id="7" dur="500"/>
                                        <p:tgtEl>
                                          <p:spTgt spid="276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652">
                                            <p:txEl>
                                              <p:pRg st="1" end="1"/>
                                            </p:txEl>
                                          </p:spTgt>
                                        </p:tgtEl>
                                        <p:attrNameLst>
                                          <p:attrName>style.visibility</p:attrName>
                                        </p:attrNameLst>
                                      </p:cBhvr>
                                      <p:to>
                                        <p:strVal val="visible"/>
                                      </p:to>
                                    </p:set>
                                    <p:animEffect transition="in" filter="blinds(horizontal)">
                                      <p:cBhvr>
                                        <p:cTn id="12" dur="500"/>
                                        <p:tgtEl>
                                          <p:spTgt spid="2765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7652">
                                            <p:txEl>
                                              <p:pRg st="2" end="2"/>
                                            </p:txEl>
                                          </p:spTgt>
                                        </p:tgtEl>
                                        <p:attrNameLst>
                                          <p:attrName>style.visibility</p:attrName>
                                        </p:attrNameLst>
                                      </p:cBhvr>
                                      <p:to>
                                        <p:strVal val="visible"/>
                                      </p:to>
                                    </p:set>
                                    <p:animEffect transition="in" filter="blinds(horizontal)">
                                      <p:cBhvr>
                                        <p:cTn id="17" dur="500"/>
                                        <p:tgtEl>
                                          <p:spTgt spid="2765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7652">
                                            <p:txEl>
                                              <p:pRg st="3" end="3"/>
                                            </p:txEl>
                                          </p:spTgt>
                                        </p:tgtEl>
                                        <p:attrNameLst>
                                          <p:attrName>style.visibility</p:attrName>
                                        </p:attrNameLst>
                                      </p:cBhvr>
                                      <p:to>
                                        <p:strVal val="visible"/>
                                      </p:to>
                                    </p:set>
                                    <p:animEffect transition="in" filter="blinds(horizontal)">
                                      <p:cBhvr>
                                        <p:cTn id="22" dur="500"/>
                                        <p:tgtEl>
                                          <p:spTgt spid="2765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7652">
                                            <p:txEl>
                                              <p:pRg st="4" end="4"/>
                                            </p:txEl>
                                          </p:spTgt>
                                        </p:tgtEl>
                                        <p:attrNameLst>
                                          <p:attrName>style.visibility</p:attrName>
                                        </p:attrNameLst>
                                      </p:cBhvr>
                                      <p:to>
                                        <p:strVal val="visible"/>
                                      </p:to>
                                    </p:set>
                                    <p:animEffect transition="in" filter="blinds(horizontal)">
                                      <p:cBhvr>
                                        <p:cTn id="27" dur="500"/>
                                        <p:tgtEl>
                                          <p:spTgt spid="2765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7652">
                                            <p:txEl>
                                              <p:pRg st="5" end="5"/>
                                            </p:txEl>
                                          </p:spTgt>
                                        </p:tgtEl>
                                        <p:attrNameLst>
                                          <p:attrName>style.visibility</p:attrName>
                                        </p:attrNameLst>
                                      </p:cBhvr>
                                      <p:to>
                                        <p:strVal val="visible"/>
                                      </p:to>
                                    </p:set>
                                    <p:animEffect transition="in" filter="blinds(horizontal)">
                                      <p:cBhvr>
                                        <p:cTn id="32" dur="500"/>
                                        <p:tgtEl>
                                          <p:spTgt spid="2765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7652">
                                            <p:txEl>
                                              <p:pRg st="6" end="6"/>
                                            </p:txEl>
                                          </p:spTgt>
                                        </p:tgtEl>
                                        <p:attrNameLst>
                                          <p:attrName>style.visibility</p:attrName>
                                        </p:attrNameLst>
                                      </p:cBhvr>
                                      <p:to>
                                        <p:strVal val="visible"/>
                                      </p:to>
                                    </p:set>
                                    <p:animEffect transition="in" filter="blinds(horizontal)">
                                      <p:cBhvr>
                                        <p:cTn id="37" dur="500"/>
                                        <p:tgtEl>
                                          <p:spTgt spid="2765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7652">
                                            <p:txEl>
                                              <p:pRg st="7" end="7"/>
                                            </p:txEl>
                                          </p:spTgt>
                                        </p:tgtEl>
                                        <p:attrNameLst>
                                          <p:attrName>style.visibility</p:attrName>
                                        </p:attrNameLst>
                                      </p:cBhvr>
                                      <p:to>
                                        <p:strVal val="visible"/>
                                      </p:to>
                                    </p:set>
                                    <p:animEffect transition="in" filter="blinds(horizontal)">
                                      <p:cBhvr>
                                        <p:cTn id="42" dur="500"/>
                                        <p:tgtEl>
                                          <p:spTgt spid="27652">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7652">
                                            <p:txEl>
                                              <p:pRg st="8" end="8"/>
                                            </p:txEl>
                                          </p:spTgt>
                                        </p:tgtEl>
                                        <p:attrNameLst>
                                          <p:attrName>style.visibility</p:attrName>
                                        </p:attrNameLst>
                                      </p:cBhvr>
                                      <p:to>
                                        <p:strVal val="visible"/>
                                      </p:to>
                                    </p:set>
                                    <p:animEffect transition="in" filter="blinds(horizontal)">
                                      <p:cBhvr>
                                        <p:cTn id="47" dur="500"/>
                                        <p:tgtEl>
                                          <p:spTgt spid="27652">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27652">
                                            <p:txEl>
                                              <p:pRg st="9" end="9"/>
                                            </p:txEl>
                                          </p:spTgt>
                                        </p:tgtEl>
                                        <p:attrNameLst>
                                          <p:attrName>style.visibility</p:attrName>
                                        </p:attrNameLst>
                                      </p:cBhvr>
                                      <p:to>
                                        <p:strVal val="visible"/>
                                      </p:to>
                                    </p:set>
                                    <p:animEffect transition="in" filter="blinds(horizontal)">
                                      <p:cBhvr>
                                        <p:cTn id="52" dur="500"/>
                                        <p:tgtEl>
                                          <p:spTgt spid="27652">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27652">
                                            <p:txEl>
                                              <p:pRg st="10" end="10"/>
                                            </p:txEl>
                                          </p:spTgt>
                                        </p:tgtEl>
                                        <p:attrNameLst>
                                          <p:attrName>style.visibility</p:attrName>
                                        </p:attrNameLst>
                                      </p:cBhvr>
                                      <p:to>
                                        <p:strVal val="visible"/>
                                      </p:to>
                                    </p:set>
                                    <p:animEffect transition="in" filter="blinds(horizontal)">
                                      <p:cBhvr>
                                        <p:cTn id="57" dur="500"/>
                                        <p:tgtEl>
                                          <p:spTgt spid="2765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8F8B4D-5E58-4B46-8AC9-FC676262A543}" type="slidenum">
              <a:rPr lang="zh-CN" altLang="en-US" sz="1400" smtClean="0">
                <a:latin typeface="Arial" panose="020B0604020202020204" pitchFamily="34" charset="0"/>
              </a:rPr>
              <a:t>22</a:t>
            </a:fld>
            <a:endParaRPr lang="en-US" altLang="zh-CN" sz="1400">
              <a:latin typeface="Arial" panose="020B0604020202020204" pitchFamily="34" charset="0"/>
            </a:endParaRPr>
          </a:p>
        </p:txBody>
      </p:sp>
      <p:sp>
        <p:nvSpPr>
          <p:cNvPr id="409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区域填充、字符与走样</a:t>
            </a:r>
            <a:endParaRPr lang="en-US" altLang="zh-CN" dirty="0">
              <a:ea typeface="宋体" panose="02010600030101010101" pitchFamily="2" charset="-122"/>
            </a:endParaRPr>
          </a:p>
        </p:txBody>
      </p:sp>
      <p:sp>
        <p:nvSpPr>
          <p:cNvPr id="4100" name="Rectangle 3"/>
          <p:cNvSpPr>
            <a:spLocks noGrp="1" noChangeArrowheads="1"/>
          </p:cNvSpPr>
          <p:nvPr>
            <p:ph type="body" sz="half" idx="1"/>
          </p:nvPr>
        </p:nvSpPr>
        <p:spPr/>
        <p:txBody>
          <a:bodyPr/>
          <a:lstStyle/>
          <a:p>
            <a:pPr eaLnBrk="1" hangingPunct="1"/>
            <a:r>
              <a:rPr lang="zh-CN" altLang="en-US" dirty="0">
                <a:ea typeface="宋体" panose="02010600030101010101" pitchFamily="2" charset="-122"/>
              </a:rPr>
              <a:t>区域填充</a:t>
            </a:r>
            <a:endParaRPr lang="en-US" altLang="zh-CN" dirty="0">
              <a:ea typeface="宋体" panose="02010600030101010101" pitchFamily="2" charset="-122"/>
            </a:endParaRPr>
          </a:p>
          <a:p>
            <a:pPr eaLnBrk="1" hangingPunct="1"/>
            <a:r>
              <a:rPr lang="zh-CN" altLang="en-US" dirty="0">
                <a:ea typeface="宋体" panose="02010600030101010101" pitchFamily="2" charset="-122"/>
              </a:rPr>
              <a:t>字符</a:t>
            </a:r>
            <a:endParaRPr lang="en-US" altLang="zh-CN" dirty="0">
              <a:ea typeface="宋体" panose="02010600030101010101" pitchFamily="2" charset="-122"/>
            </a:endParaRPr>
          </a:p>
          <a:p>
            <a:pPr eaLnBrk="1" hangingPunct="1"/>
            <a:r>
              <a:rPr lang="zh-CN" altLang="en-US" dirty="0">
                <a:ea typeface="宋体" panose="02010600030101010101" pitchFamily="2" charset="-122"/>
              </a:rPr>
              <a:t>走样与反走样</a:t>
            </a:r>
            <a:endParaRPr lang="en-US" altLang="zh-CN" dirty="0">
              <a:ea typeface="宋体" panose="02010600030101010101" pitchFamily="2" charset="-122"/>
            </a:endParaRPr>
          </a:p>
        </p:txBody>
      </p:sp>
      <p:pic>
        <p:nvPicPr>
          <p:cNvPr id="4101" name="Picture 4" descr="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025" y="4679950"/>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5" descr="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2488" y="2813050"/>
            <a:ext cx="252888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04" name="Object 8"/>
          <p:cNvGraphicFramePr>
            <a:graphicFrameLocks noGrp="1" noChangeAspect="1"/>
          </p:cNvGraphicFramePr>
          <p:nvPr>
            <p:ph sz="half" idx="2"/>
          </p:nvPr>
        </p:nvGraphicFramePr>
        <p:xfrm>
          <a:off x="8042275" y="434975"/>
          <a:ext cx="1470025" cy="1608138"/>
        </p:xfrm>
        <a:graphic>
          <a:graphicData uri="http://schemas.openxmlformats.org/presentationml/2006/ole">
            <mc:AlternateContent xmlns:mc="http://schemas.openxmlformats.org/markup-compatibility/2006">
              <mc:Choice xmlns:v="urn:schemas-microsoft-com:vml" Requires="v">
                <p:oleObj spid="_x0000_s77885" name="VISIO" r:id="rId5" imgW="577215" imgH="630555" progId="Visio.Drawing.5">
                  <p:embed/>
                </p:oleObj>
              </mc:Choice>
              <mc:Fallback>
                <p:oleObj name="VISIO" r:id="rId5" imgW="577215" imgH="630555" progId="Visio.Drawing.5">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2275" y="434975"/>
                        <a:ext cx="1470025" cy="1608138"/>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AutoShape 4"/>
          <p:cNvSpPr>
            <a:spLocks noChangeArrowheads="1"/>
          </p:cNvSpPr>
          <p:nvPr/>
        </p:nvSpPr>
        <p:spPr bwMode="auto">
          <a:xfrm>
            <a:off x="3653882" y="1582737"/>
            <a:ext cx="3065463" cy="812800"/>
          </a:xfrm>
          <a:prstGeom prst="wedgeRoundRectCallout">
            <a:avLst>
              <a:gd name="adj1" fmla="val -67635"/>
              <a:gd name="adj2" fmla="val 17432"/>
              <a:gd name="adj3" fmla="val 16667"/>
            </a:avLst>
          </a:prstGeom>
        </p:spPr>
        <p:style>
          <a:lnRef idx="1">
            <a:schemeClr val="accent6"/>
          </a:lnRef>
          <a:fillRef idx="2">
            <a:schemeClr val="accent6"/>
          </a:fillRef>
          <a:effectRef idx="1">
            <a:schemeClr val="accent6"/>
          </a:effectRef>
          <a:fontRef idx="minor">
            <a:schemeClr val="dk1"/>
          </a:fontRef>
        </p:style>
        <p:txBody>
          <a:bodyPr/>
          <a:lstStyle/>
          <a:p>
            <a:pPr algn="ctr" eaLnBrk="1" hangingPunct="1">
              <a:defRPr/>
            </a:pPr>
            <a:r>
              <a:rPr lang="zh-CN" altLang="en-US" sz="3200" dirty="0">
                <a:solidFill>
                  <a:srgbClr val="2D2D8A"/>
                </a:solidFill>
                <a:ea typeface="宋体" panose="02010600030101010101" pitchFamily="2" charset="-122"/>
              </a:rPr>
              <a:t>字符特点？</a:t>
            </a:r>
            <a:endParaRPr lang="en-US" altLang="zh-CN" sz="3200" dirty="0">
              <a:solidFill>
                <a:srgbClr val="2D2D8A"/>
              </a:solidFill>
              <a:ea typeface="宋体" panose="02010600030101010101" pitchFamily="2" charset="-122"/>
            </a:endParaRPr>
          </a:p>
        </p:txBody>
      </p:sp>
      <p:pic>
        <p:nvPicPr>
          <p:cNvPr id="11" name="图片 10"/>
          <p:cNvPicPr>
            <a:picLocks noChangeAspect="1"/>
          </p:cNvPicPr>
          <p:nvPr/>
        </p:nvPicPr>
        <p:blipFill>
          <a:blip r:embed="rId7"/>
          <a:stretch>
            <a:fillRect/>
          </a:stretch>
        </p:blipFill>
        <p:spPr>
          <a:xfrm>
            <a:off x="440862" y="4440238"/>
            <a:ext cx="2142000" cy="1805400"/>
          </a:xfrm>
          <a:prstGeom prst="rect">
            <a:avLst/>
          </a:prstGeom>
        </p:spPr>
      </p:pic>
      <p:pic>
        <p:nvPicPr>
          <p:cNvPr id="12" name="图片 11"/>
          <p:cNvPicPr>
            <a:picLocks noChangeAspect="1"/>
          </p:cNvPicPr>
          <p:nvPr/>
        </p:nvPicPr>
        <p:blipFill>
          <a:blip r:embed="rId8"/>
          <a:stretch>
            <a:fillRect/>
          </a:stretch>
        </p:blipFill>
        <p:spPr>
          <a:xfrm>
            <a:off x="3384000" y="4464301"/>
            <a:ext cx="2223600" cy="17544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CE3229E-E61B-4776-9EB5-715C1D0F0169}" type="slidenum">
              <a:rPr lang="zh-CN" altLang="en-US" sz="1400" smtClean="0">
                <a:latin typeface="Arial" panose="020B0604020202020204" pitchFamily="34" charset="0"/>
              </a:rPr>
              <a:t>23</a:t>
            </a:fld>
            <a:endParaRPr lang="en-US" altLang="zh-CN" sz="1400">
              <a:latin typeface="Arial" panose="020B0604020202020204" pitchFamily="34" charset="0"/>
            </a:endParaRPr>
          </a:p>
        </p:txBody>
      </p:sp>
      <p:sp>
        <p:nvSpPr>
          <p:cNvPr id="48131"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700" name="Rectangle 3"/>
          <p:cNvSpPr>
            <a:spLocks noGrp="1" noChangeArrowheads="1"/>
          </p:cNvSpPr>
          <p:nvPr>
            <p:ph type="body" idx="1"/>
          </p:nvPr>
        </p:nvSpPr>
        <p:spPr>
          <a:xfrm>
            <a:off x="276726" y="1066800"/>
            <a:ext cx="9381624" cy="5435600"/>
          </a:xfrm>
        </p:spPr>
        <p:txBody>
          <a:bodyPr/>
          <a:lstStyle/>
          <a:p>
            <a:pPr algn="just" eaLnBrk="1" hangingPunct="1">
              <a:lnSpc>
                <a:spcPct val="140000"/>
              </a:lnSpc>
              <a:buFontTx/>
              <a:buNone/>
            </a:pPr>
            <a:r>
              <a:rPr lang="zh-CN" altLang="en-US" sz="2800" dirty="0">
                <a:ea typeface="宋体" panose="02010600030101010101" pitchFamily="2" charset="-122"/>
              </a:rPr>
              <a:t>要显示</a:t>
            </a:r>
            <a:r>
              <a:rPr lang="zh-CN" altLang="en-US" sz="2800" b="1" dirty="0">
                <a:solidFill>
                  <a:schemeClr val="accent2"/>
                </a:solidFill>
                <a:ea typeface="宋体" panose="02010600030101010101" pitchFamily="2" charset="-122"/>
              </a:rPr>
              <a:t>字符</a:t>
            </a:r>
            <a:r>
              <a:rPr lang="en-US" altLang="zh-CN" sz="2800" dirty="0">
                <a:ea typeface="宋体" panose="02010600030101010101" pitchFamily="2" charset="-122"/>
              </a:rPr>
              <a:t>,</a:t>
            </a:r>
            <a:r>
              <a:rPr lang="zh-CN" altLang="en-US" sz="2800" dirty="0">
                <a:ea typeface="宋体" panose="02010600030101010101" pitchFamily="2" charset="-122"/>
              </a:rPr>
              <a:t>系统中必须装有</a:t>
            </a:r>
            <a:r>
              <a:rPr lang="zh-CN" altLang="en-US" sz="2800" b="1" dirty="0">
                <a:solidFill>
                  <a:schemeClr val="accent2"/>
                </a:solidFill>
                <a:ea typeface="宋体" panose="02010600030101010101" pitchFamily="2" charset="-122"/>
              </a:rPr>
              <a:t>字库</a:t>
            </a:r>
            <a:r>
              <a:rPr lang="en-US" altLang="zh-CN" sz="2800" dirty="0">
                <a:ea typeface="宋体" panose="02010600030101010101" pitchFamily="2" charset="-122"/>
              </a:rPr>
              <a:t>,</a:t>
            </a:r>
            <a:r>
              <a:rPr lang="zh-CN" altLang="en-US" sz="2800" dirty="0">
                <a:ea typeface="宋体" panose="02010600030101010101" pitchFamily="2" charset="-122"/>
              </a:rPr>
              <a:t>存储每个字符的形状信息</a:t>
            </a:r>
            <a:endParaRPr lang="en-US" altLang="zh-CN" sz="2800" dirty="0">
              <a:ea typeface="宋体" panose="02010600030101010101" pitchFamily="2" charset="-122"/>
            </a:endParaRPr>
          </a:p>
          <a:p>
            <a:pPr algn="just" eaLnBrk="1" hangingPunct="1">
              <a:lnSpc>
                <a:spcPct val="140000"/>
              </a:lnSpc>
              <a:buFontTx/>
              <a:buNone/>
            </a:pPr>
            <a:r>
              <a:rPr lang="zh-CN" altLang="en-US" sz="2800" b="1" dirty="0">
                <a:solidFill>
                  <a:schemeClr val="accent2"/>
                </a:solidFill>
                <a:ea typeface="宋体" panose="02010600030101010101" pitchFamily="2" charset="-122"/>
              </a:rPr>
              <a:t>矢量</a:t>
            </a:r>
            <a:r>
              <a:rPr lang="zh-CN" altLang="en-US" sz="2800" b="1" dirty="0">
                <a:ea typeface="宋体" panose="02010600030101010101" pitchFamily="2" charset="-122"/>
              </a:rPr>
              <a:t>字库</a:t>
            </a:r>
            <a:r>
              <a:rPr lang="zh-CN" altLang="en-US" sz="2800" dirty="0">
                <a:ea typeface="宋体" panose="02010600030101010101" pitchFamily="2" charset="-122"/>
              </a:rPr>
              <a:t>和</a:t>
            </a:r>
            <a:r>
              <a:rPr lang="zh-CN" altLang="en-US" sz="2800" b="1" dirty="0">
                <a:solidFill>
                  <a:schemeClr val="accent2"/>
                </a:solidFill>
                <a:ea typeface="宋体" panose="02010600030101010101" pitchFamily="2" charset="-122"/>
              </a:rPr>
              <a:t>点阵</a:t>
            </a:r>
            <a:r>
              <a:rPr lang="zh-CN" altLang="en-US" sz="2800" b="1" dirty="0">
                <a:ea typeface="宋体" panose="02010600030101010101" pitchFamily="2" charset="-122"/>
              </a:rPr>
              <a:t>字库</a:t>
            </a:r>
          </a:p>
          <a:p>
            <a:pPr algn="just" eaLnBrk="1" hangingPunct="1">
              <a:lnSpc>
                <a:spcPct val="140000"/>
              </a:lnSpc>
              <a:buFontTx/>
              <a:buNone/>
            </a:pPr>
            <a:r>
              <a:rPr lang="zh-CN" altLang="en-US" sz="2800" dirty="0">
                <a:ea typeface="宋体" panose="02010600030101010101" pitchFamily="2" charset="-122"/>
              </a:rPr>
              <a:t>字库中字符由一个</a:t>
            </a:r>
            <a:r>
              <a:rPr lang="zh-CN" altLang="en-US" sz="2800" b="1" dirty="0">
                <a:solidFill>
                  <a:schemeClr val="accent2"/>
                </a:solidFill>
                <a:ea typeface="宋体" panose="02010600030101010101" pitchFamily="2" charset="-122"/>
              </a:rPr>
              <a:t>编码</a:t>
            </a:r>
            <a:r>
              <a:rPr lang="zh-CN" altLang="en-US" sz="2800" dirty="0">
                <a:ea typeface="宋体" panose="02010600030101010101" pitchFamily="2" charset="-122"/>
              </a:rPr>
              <a:t>唯一标识</a:t>
            </a:r>
          </a:p>
          <a:p>
            <a:pPr algn="just" eaLnBrk="1" hangingPunct="1">
              <a:lnSpc>
                <a:spcPct val="140000"/>
              </a:lnSpc>
              <a:buFontTx/>
              <a:buNone/>
            </a:pPr>
            <a:r>
              <a:rPr lang="en-US" altLang="zh-CN" sz="2800" b="1" dirty="0">
                <a:ea typeface="宋体" panose="02010600030101010101" pitchFamily="2" charset="-122"/>
              </a:rPr>
              <a:t>ASCII</a:t>
            </a:r>
            <a:r>
              <a:rPr lang="zh-CN" altLang="en-US" sz="2800" b="1" dirty="0">
                <a:ea typeface="宋体" panose="02010600030101010101" pitchFamily="2" charset="-122"/>
              </a:rPr>
              <a:t>码：</a:t>
            </a:r>
            <a:r>
              <a:rPr lang="zh-CN" altLang="en-US" sz="2800" dirty="0">
                <a:ea typeface="宋体" panose="02010600030101010101" pitchFamily="2" charset="-122"/>
              </a:rPr>
              <a:t>“美国信息交换用标准代码集”(</a:t>
            </a:r>
            <a:r>
              <a:rPr lang="en-US" altLang="zh-CN" sz="2800" dirty="0">
                <a:ea typeface="宋体" panose="02010600030101010101" pitchFamily="2" charset="-122"/>
              </a:rPr>
              <a:t>American Standard Code for Information Interchange)</a:t>
            </a:r>
            <a:endParaRPr lang="zh-CN" altLang="en-US" sz="2800" dirty="0">
              <a:solidFill>
                <a:schemeClr val="accent2"/>
              </a:solidFill>
              <a:ea typeface="宋体" panose="02010600030101010101" pitchFamily="2" charset="-122"/>
            </a:endParaRPr>
          </a:p>
          <a:p>
            <a:pPr algn="just" eaLnBrk="1" hangingPunct="1">
              <a:lnSpc>
                <a:spcPct val="140000"/>
              </a:lnSpc>
              <a:buFontTx/>
              <a:buNone/>
            </a:pPr>
            <a:r>
              <a:rPr lang="zh-CN" altLang="en-US" sz="2800" b="1" dirty="0">
                <a:ea typeface="宋体" panose="02010600030101010101" pitchFamily="2" charset="-122"/>
              </a:rPr>
              <a:t>国标码：</a:t>
            </a:r>
            <a:r>
              <a:rPr lang="zh-CN" altLang="en-US" sz="2800" dirty="0">
                <a:ea typeface="宋体" panose="02010600030101010101" pitchFamily="2" charset="-122"/>
              </a:rPr>
              <a:t>“中华人民共和国国家标准信息交换编码，代号</a:t>
            </a:r>
            <a:r>
              <a:rPr lang="en-US" altLang="zh-CN" sz="2800" dirty="0">
                <a:ea typeface="宋体" panose="02010600030101010101" pitchFamily="2" charset="-122"/>
              </a:rPr>
              <a:t>GB2312－80</a:t>
            </a:r>
            <a:endParaRPr lang="zh-CN" altLang="en-US" sz="2800" dirty="0">
              <a:ea typeface="幼圆" panose="02010509060101010101" pitchFamily="49" charset="-122"/>
            </a:endParaRPr>
          </a:p>
        </p:txBody>
      </p:sp>
      <p:sp>
        <p:nvSpPr>
          <p:cNvPr id="5" name="AutoShape 4"/>
          <p:cNvSpPr>
            <a:spLocks noChangeArrowheads="1"/>
          </p:cNvSpPr>
          <p:nvPr/>
        </p:nvSpPr>
        <p:spPr bwMode="auto">
          <a:xfrm>
            <a:off x="8255000" y="2449513"/>
            <a:ext cx="866775" cy="641350"/>
          </a:xfrm>
          <a:prstGeom prst="wedgeRoundRectCallout">
            <a:avLst>
              <a:gd name="adj1" fmla="val -85181"/>
              <a:gd name="adj2" fmla="val 85429"/>
              <a:gd name="adj3" fmla="val 16667"/>
            </a:avLst>
          </a:prstGeom>
        </p:spPr>
        <p:style>
          <a:lnRef idx="1">
            <a:schemeClr val="accent6"/>
          </a:lnRef>
          <a:fillRef idx="2">
            <a:schemeClr val="accent6"/>
          </a:fillRef>
          <a:effectRef idx="1">
            <a:schemeClr val="accent6"/>
          </a:effectRef>
          <a:fontRef idx="minor">
            <a:schemeClr val="dk1"/>
          </a:fontRef>
        </p:style>
        <p:txBody>
          <a:bodyPr/>
          <a:lstStyle/>
          <a:p>
            <a:pPr algn="ctr" eaLnBrk="1" hangingPunct="1">
              <a:defRPr/>
            </a:pPr>
            <a:r>
              <a:rPr lang="en-US" altLang="zh-CN" sz="3600" dirty="0">
                <a:solidFill>
                  <a:srgbClr val="2D2D8A"/>
                </a:solidFill>
                <a:ea typeface="宋体" panose="02010600030101010101" pitchFamily="2" charset="-122"/>
              </a:rPr>
              <a:t>A?</a:t>
            </a:r>
            <a:endParaRPr lang="en-US" altLang="zh-CN" sz="3600" dirty="0">
              <a:solidFill>
                <a:schemeClr val="accent2"/>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Effect transition="in" filter="blinds(horizontal)">
                                      <p:cBhvr>
                                        <p:cTn id="7" dur="500"/>
                                        <p:tgtEl>
                                          <p:spTgt spid="297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9700">
                                            <p:txEl>
                                              <p:pRg st="1" end="1"/>
                                            </p:txEl>
                                          </p:spTgt>
                                        </p:tgtEl>
                                        <p:attrNameLst>
                                          <p:attrName>style.visibility</p:attrName>
                                        </p:attrNameLst>
                                      </p:cBhvr>
                                      <p:to>
                                        <p:strVal val="visible"/>
                                      </p:to>
                                    </p:set>
                                    <p:animEffect transition="in" filter="blinds(horizontal)">
                                      <p:cBhvr>
                                        <p:cTn id="12" dur="500"/>
                                        <p:tgtEl>
                                          <p:spTgt spid="297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9700">
                                            <p:txEl>
                                              <p:pRg st="2" end="2"/>
                                            </p:txEl>
                                          </p:spTgt>
                                        </p:tgtEl>
                                        <p:attrNameLst>
                                          <p:attrName>style.visibility</p:attrName>
                                        </p:attrNameLst>
                                      </p:cBhvr>
                                      <p:to>
                                        <p:strVal val="visible"/>
                                      </p:to>
                                    </p:set>
                                    <p:animEffect transition="in" filter="blinds(horizontal)">
                                      <p:cBhvr>
                                        <p:cTn id="17" dur="500"/>
                                        <p:tgtEl>
                                          <p:spTgt spid="2970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9700">
                                            <p:txEl>
                                              <p:pRg st="3" end="3"/>
                                            </p:txEl>
                                          </p:spTgt>
                                        </p:tgtEl>
                                        <p:attrNameLst>
                                          <p:attrName>style.visibility</p:attrName>
                                        </p:attrNameLst>
                                      </p:cBhvr>
                                      <p:to>
                                        <p:strVal val="visible"/>
                                      </p:to>
                                    </p:set>
                                    <p:animEffect transition="in" filter="blinds(horizontal)">
                                      <p:cBhvr>
                                        <p:cTn id="22" dur="500"/>
                                        <p:tgtEl>
                                          <p:spTgt spid="2970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checkerboard(across)">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9700">
                                            <p:txEl>
                                              <p:pRg st="4" end="4"/>
                                            </p:txEl>
                                          </p:spTgt>
                                        </p:tgtEl>
                                        <p:attrNameLst>
                                          <p:attrName>style.visibility</p:attrName>
                                        </p:attrNameLst>
                                      </p:cBhvr>
                                      <p:to>
                                        <p:strVal val="visible"/>
                                      </p:to>
                                    </p:set>
                                    <p:animEffect transition="in" filter="blinds(horizontal)">
                                      <p:cBhvr>
                                        <p:cTn id="32" dur="500"/>
                                        <p:tgtEl>
                                          <p:spTgt spid="297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14625A1-2C8B-4114-A65D-E65EBEA1EE20}" type="slidenum">
              <a:rPr lang="zh-CN" altLang="en-US" sz="1400" smtClean="0">
                <a:latin typeface="Arial" panose="020B0604020202020204" pitchFamily="34" charset="0"/>
              </a:rPr>
              <a:t>24</a:t>
            </a:fld>
            <a:endParaRPr lang="en-US" altLang="zh-CN" sz="1400">
              <a:latin typeface="Arial" panose="020B0604020202020204" pitchFamily="34" charset="0"/>
            </a:endParaRPr>
          </a:p>
        </p:txBody>
      </p:sp>
      <p:sp>
        <p:nvSpPr>
          <p:cNvPr id="5017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77" name="Rectangle 3"/>
          <p:cNvSpPr>
            <a:spLocks noGrp="1" noChangeArrowheads="1"/>
          </p:cNvSpPr>
          <p:nvPr>
            <p:ph type="body" sz="half" idx="1"/>
          </p:nvPr>
        </p:nvSpPr>
        <p:spPr>
          <a:xfrm>
            <a:off x="247650" y="1219200"/>
            <a:ext cx="8955088" cy="5181600"/>
          </a:xfrm>
        </p:spPr>
        <p:txBody>
          <a:bodyPr/>
          <a:lstStyle/>
          <a:p>
            <a:pPr eaLnBrk="1" hangingPunct="1"/>
            <a:r>
              <a:rPr kumimoji="1" lang="zh-CN" altLang="en-US" sz="2800" b="1">
                <a:solidFill>
                  <a:srgbClr val="004C2B"/>
                </a:solidFill>
                <a:latin typeface="黑体" panose="02010609060101010101" pitchFamily="49" charset="-122"/>
                <a:ea typeface="黑体" panose="02010609060101010101" pitchFamily="49" charset="-122"/>
              </a:rPr>
              <a:t>点阵字符</a:t>
            </a:r>
          </a:p>
          <a:p>
            <a:pPr algn="just" eaLnBrk="1" hangingPunct="1">
              <a:lnSpc>
                <a:spcPct val="120000"/>
              </a:lnSpc>
              <a:buFontTx/>
              <a:buNone/>
            </a:pPr>
            <a:r>
              <a:rPr lang="zh-CN" altLang="en-US" sz="2800">
                <a:ea typeface="宋体" panose="02010600030101010101" pitchFamily="2" charset="-122"/>
              </a:rPr>
              <a:t>每个字符由一个</a:t>
            </a:r>
            <a:r>
              <a:rPr lang="zh-CN" altLang="en-US" sz="2800" b="1">
                <a:ea typeface="宋体" panose="02010600030101010101" pitchFamily="2" charset="-122"/>
              </a:rPr>
              <a:t>点阵位图</a:t>
            </a:r>
            <a:r>
              <a:rPr lang="zh-CN" altLang="en-US" sz="2800">
                <a:ea typeface="宋体" panose="02010600030101010101" pitchFamily="2" charset="-122"/>
              </a:rPr>
              <a:t>来表示</a:t>
            </a:r>
          </a:p>
          <a:p>
            <a:pPr algn="just" eaLnBrk="1" hangingPunct="1">
              <a:lnSpc>
                <a:spcPct val="120000"/>
              </a:lnSpc>
              <a:buFontTx/>
              <a:buNone/>
            </a:pPr>
            <a:r>
              <a:rPr lang="zh-CN" altLang="en-US" sz="2800" b="1">
                <a:ea typeface="宋体" panose="02010600030101010101" pitchFamily="2" charset="-122"/>
              </a:rPr>
              <a:t>显示时</a:t>
            </a:r>
            <a:r>
              <a:rPr lang="zh-CN" altLang="en-US" sz="2800">
                <a:ea typeface="宋体" panose="02010600030101010101" pitchFamily="2" charset="-122"/>
              </a:rPr>
              <a:t>：</a:t>
            </a:r>
          </a:p>
          <a:p>
            <a:pPr algn="just" eaLnBrk="1" hangingPunct="1">
              <a:lnSpc>
                <a:spcPct val="120000"/>
              </a:lnSpc>
              <a:buFontTx/>
              <a:buNone/>
            </a:pPr>
            <a:r>
              <a:rPr lang="zh-CN" altLang="en-US" sz="2800" b="1">
                <a:ea typeface="宋体" panose="02010600030101010101" pitchFamily="2" charset="-122"/>
              </a:rPr>
              <a:t>字符的像素图案</a:t>
            </a:r>
          </a:p>
        </p:txBody>
      </p:sp>
      <p:graphicFrame>
        <p:nvGraphicFramePr>
          <p:cNvPr id="50181" name="Object 4"/>
          <p:cNvGraphicFramePr>
            <a:graphicFrameLocks noGrp="1" noChangeAspect="1"/>
          </p:cNvGraphicFramePr>
          <p:nvPr>
            <p:ph sz="half" idx="2"/>
          </p:nvPr>
        </p:nvGraphicFramePr>
        <p:xfrm>
          <a:off x="4562475" y="2747963"/>
          <a:ext cx="4330700" cy="3486150"/>
        </p:xfrm>
        <a:graphic>
          <a:graphicData uri="http://schemas.openxmlformats.org/presentationml/2006/ole">
            <mc:AlternateContent xmlns:mc="http://schemas.openxmlformats.org/markup-compatibility/2006">
              <mc:Choice xmlns:v="urn:schemas-microsoft-com:vml" Requires="v">
                <p:oleObj spid="_x0000_s50245" name="Visio" r:id="rId4" imgW="3078480" imgH="2479040" progId="Visio.Drawing.11">
                  <p:embed/>
                </p:oleObj>
              </mc:Choice>
              <mc:Fallback>
                <p:oleObj name="Visio" r:id="rId4" imgW="3078480" imgH="2479040" progId="Visio.Drawing.11">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2475" y="2747963"/>
                        <a:ext cx="4330700" cy="348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054" name="Picture 7" descr="http://www.hificat.com/dpj_step/compositive_6/2.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975" y="4708525"/>
            <a:ext cx="4251325" cy="199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7">
                                            <p:txEl>
                                              <p:pRg st="0" end="0"/>
                                            </p:txEl>
                                          </p:spTgt>
                                        </p:tgtEl>
                                        <p:attrNameLst>
                                          <p:attrName>style.visibility</p:attrName>
                                        </p:attrNameLst>
                                      </p:cBhvr>
                                      <p:to>
                                        <p:strVal val="visible"/>
                                      </p:to>
                                    </p:set>
                                    <p:animEffect transition="in" filter="blinds(horizontal)">
                                      <p:cBhvr>
                                        <p:cTn id="7" dur="500"/>
                                        <p:tgtEl>
                                          <p:spTgt spid="307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7">
                                            <p:txEl>
                                              <p:pRg st="1" end="1"/>
                                            </p:txEl>
                                          </p:spTgt>
                                        </p:tgtEl>
                                        <p:attrNameLst>
                                          <p:attrName>style.visibility</p:attrName>
                                        </p:attrNameLst>
                                      </p:cBhvr>
                                      <p:to>
                                        <p:strVal val="visible"/>
                                      </p:to>
                                    </p:set>
                                    <p:animEffect transition="in" filter="blinds(horizontal)">
                                      <p:cBhvr>
                                        <p:cTn id="12" dur="500"/>
                                        <p:tgtEl>
                                          <p:spTgt spid="307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7">
                                            <p:txEl>
                                              <p:pRg st="2" end="2"/>
                                            </p:txEl>
                                          </p:spTgt>
                                        </p:tgtEl>
                                        <p:attrNameLst>
                                          <p:attrName>style.visibility</p:attrName>
                                        </p:attrNameLst>
                                      </p:cBhvr>
                                      <p:to>
                                        <p:strVal val="visible"/>
                                      </p:to>
                                    </p:set>
                                    <p:animEffect transition="in" filter="blinds(horizontal)">
                                      <p:cBhvr>
                                        <p:cTn id="17" dur="500"/>
                                        <p:tgtEl>
                                          <p:spTgt spid="307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077">
                                            <p:txEl>
                                              <p:pRg st="3" end="3"/>
                                            </p:txEl>
                                          </p:spTgt>
                                        </p:tgtEl>
                                        <p:attrNameLst>
                                          <p:attrName>style.visibility</p:attrName>
                                        </p:attrNameLst>
                                      </p:cBhvr>
                                      <p:to>
                                        <p:strVal val="visible"/>
                                      </p:to>
                                    </p:set>
                                    <p:animEffect transition="in" filter="blinds(horizontal)">
                                      <p:cBhvr>
                                        <p:cTn id="22" dur="500"/>
                                        <p:tgtEl>
                                          <p:spTgt spid="307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2054"/>
                                        </p:tgtEl>
                                        <p:attrNameLst>
                                          <p:attrName>style.visibility</p:attrName>
                                        </p:attrNameLst>
                                      </p:cBhvr>
                                      <p:to>
                                        <p:strVal val="visible"/>
                                      </p:to>
                                    </p:set>
                                    <p:animEffect transition="in" filter="checkerboard(across)">
                                      <p:cBhvr>
                                        <p:cTn id="27"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E23C670-8EDA-423E-97F8-E447D33D8A83}" type="slidenum">
              <a:rPr lang="zh-CN" altLang="en-US" sz="1400" smtClean="0">
                <a:latin typeface="Arial" panose="020B0604020202020204" pitchFamily="34" charset="0"/>
              </a:rPr>
              <a:t>25</a:t>
            </a:fld>
            <a:endParaRPr lang="en-US" altLang="zh-CN" sz="1400">
              <a:latin typeface="Arial" panose="020B0604020202020204" pitchFamily="34" charset="0"/>
            </a:endParaRPr>
          </a:p>
        </p:txBody>
      </p:sp>
      <p:sp>
        <p:nvSpPr>
          <p:cNvPr id="51203"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724" name="Rectangle 3"/>
          <p:cNvSpPr>
            <a:spLocks noGrp="1" noChangeArrowheads="1"/>
          </p:cNvSpPr>
          <p:nvPr>
            <p:ph type="body" idx="1"/>
          </p:nvPr>
        </p:nvSpPr>
        <p:spPr/>
        <p:txBody>
          <a:bodyPr/>
          <a:lstStyle/>
          <a:p>
            <a:pPr eaLnBrk="1" hangingPunct="1"/>
            <a:r>
              <a:rPr lang="zh-CN" altLang="en-US" dirty="0">
                <a:ea typeface="宋体" panose="02010600030101010101" pitchFamily="2" charset="-122"/>
              </a:rPr>
              <a:t>点阵式字符将字符表示为一个矩形点阵，由点阵中点的不同值表达字符的形状。常用的点阵大小有</a:t>
            </a:r>
            <a:r>
              <a:rPr lang="en-US" altLang="zh-CN" dirty="0">
                <a:ea typeface="宋体" panose="02010600030101010101" pitchFamily="2" charset="-122"/>
              </a:rPr>
              <a:t>5</a:t>
            </a:r>
            <a:r>
              <a:rPr lang="zh-CN" altLang="en-US" dirty="0">
                <a:ea typeface="宋体" panose="02010600030101010101" pitchFamily="2" charset="-122"/>
              </a:rPr>
              <a:t>*</a:t>
            </a:r>
            <a:r>
              <a:rPr lang="en-US" altLang="zh-CN" dirty="0">
                <a:ea typeface="宋体" panose="02010600030101010101" pitchFamily="2" charset="-122"/>
              </a:rPr>
              <a:t>7</a:t>
            </a:r>
            <a:r>
              <a:rPr lang="zh-CN" altLang="en-US" dirty="0">
                <a:ea typeface="宋体" panose="02010600030101010101" pitchFamily="2" charset="-122"/>
              </a:rPr>
              <a:t>、</a:t>
            </a:r>
            <a:r>
              <a:rPr lang="en-US" altLang="zh-CN" dirty="0">
                <a:ea typeface="宋体" panose="02010600030101010101" pitchFamily="2" charset="-122"/>
              </a:rPr>
              <a:t>7</a:t>
            </a:r>
            <a:r>
              <a:rPr lang="zh-CN" altLang="en-US" dirty="0">
                <a:ea typeface="宋体" panose="02010600030101010101" pitchFamily="2" charset="-122"/>
              </a:rPr>
              <a:t>*</a:t>
            </a:r>
            <a:r>
              <a:rPr lang="en-US" altLang="zh-CN" dirty="0">
                <a:ea typeface="宋体" panose="02010600030101010101" pitchFamily="2" charset="-122"/>
              </a:rPr>
              <a:t>9</a:t>
            </a:r>
            <a:r>
              <a:rPr lang="zh-CN" altLang="en-US" dirty="0">
                <a:ea typeface="宋体" panose="02010600030101010101" pitchFamily="2" charset="-122"/>
              </a:rPr>
              <a:t>、</a:t>
            </a:r>
            <a:r>
              <a:rPr lang="en-US" altLang="zh-CN" dirty="0">
                <a:ea typeface="宋体" panose="02010600030101010101" pitchFamily="2" charset="-122"/>
              </a:rPr>
              <a:t>8</a:t>
            </a:r>
            <a:r>
              <a:rPr lang="zh-CN" altLang="en-US" dirty="0">
                <a:ea typeface="宋体" panose="02010600030101010101" pitchFamily="2" charset="-122"/>
              </a:rPr>
              <a:t>*</a:t>
            </a:r>
            <a:r>
              <a:rPr lang="en-US" altLang="zh-CN" dirty="0">
                <a:ea typeface="宋体" panose="02010600030101010101" pitchFamily="2" charset="-122"/>
              </a:rPr>
              <a:t>8</a:t>
            </a:r>
            <a:r>
              <a:rPr lang="zh-CN" altLang="en-US" dirty="0">
                <a:ea typeface="宋体" panose="02010600030101010101" pitchFamily="2" charset="-122"/>
              </a:rPr>
              <a:t>、</a:t>
            </a:r>
            <a:r>
              <a:rPr lang="en-US" altLang="zh-CN" dirty="0">
                <a:ea typeface="宋体" panose="02010600030101010101" pitchFamily="2" charset="-122"/>
              </a:rPr>
              <a:t>16</a:t>
            </a:r>
            <a:r>
              <a:rPr lang="zh-CN" altLang="en-US" dirty="0">
                <a:ea typeface="宋体" panose="02010600030101010101" pitchFamily="2" charset="-122"/>
              </a:rPr>
              <a:t>*</a:t>
            </a:r>
            <a:r>
              <a:rPr lang="en-US" altLang="zh-CN" dirty="0">
                <a:ea typeface="宋体" panose="02010600030101010101" pitchFamily="2" charset="-122"/>
              </a:rPr>
              <a:t>16</a:t>
            </a:r>
            <a:r>
              <a:rPr lang="zh-CN" altLang="en-US" dirty="0">
                <a:ea typeface="宋体" panose="02010600030101010101" pitchFamily="2" charset="-122"/>
              </a:rPr>
              <a:t>等</a:t>
            </a:r>
          </a:p>
          <a:p>
            <a:pPr eaLnBrk="1" hangingPunct="1"/>
            <a:r>
              <a:rPr lang="zh-CN" altLang="en-US" dirty="0">
                <a:ea typeface="宋体" panose="02010600030101010101" pitchFamily="2" charset="-122"/>
              </a:rPr>
              <a:t>使用点阵式字符时，首先从字库</a:t>
            </a:r>
            <a:r>
              <a:rPr lang="zh-CN" altLang="en-US" dirty="0">
                <a:solidFill>
                  <a:srgbClr val="FF0000"/>
                </a:solidFill>
                <a:ea typeface="宋体" panose="02010600030101010101" pitchFamily="2" charset="-122"/>
              </a:rPr>
              <a:t>检索</a:t>
            </a:r>
            <a:r>
              <a:rPr lang="zh-CN" altLang="en-US" dirty="0">
                <a:ea typeface="宋体" panose="02010600030101010101" pitchFamily="2" charset="-122"/>
              </a:rPr>
              <a:t>原字形，再将其拷贝到帧</a:t>
            </a:r>
            <a:r>
              <a:rPr lang="zh-CN" altLang="en-US" dirty="0">
                <a:solidFill>
                  <a:srgbClr val="FF0000"/>
                </a:solidFill>
                <a:ea typeface="宋体" panose="02010600030101010101" pitchFamily="2" charset="-122"/>
              </a:rPr>
              <a:t>缓存</a:t>
            </a:r>
            <a:r>
              <a:rPr lang="zh-CN" altLang="en-US" dirty="0">
                <a:ea typeface="宋体" panose="02010600030101010101" pitchFamily="2" charset="-122"/>
              </a:rPr>
              <a:t>中去。在拷贝过程中，可以施加变换，以获得简单的变化</a:t>
            </a:r>
          </a:p>
        </p:txBody>
      </p:sp>
      <p:pic>
        <p:nvPicPr>
          <p:cNvPr id="30725" name="Picture 4" descr="2_4_1.gif (3270 bytes)"/>
          <p:cNvPicPr>
            <a:picLocks noChangeAspect="1" noChangeArrowheads="1"/>
          </p:cNvPicPr>
          <p:nvPr/>
        </p:nvPicPr>
        <p:blipFill>
          <a:blip r:embed="rId2">
            <a:extLst>
              <a:ext uri="{28A0092B-C50C-407E-A947-70E740481C1C}">
                <a14:useLocalDpi xmlns:a14="http://schemas.microsoft.com/office/drawing/2010/main" val="0"/>
              </a:ext>
            </a:extLst>
          </a:blip>
          <a:srcRect r="69955"/>
          <a:stretch>
            <a:fillRect/>
          </a:stretch>
        </p:blipFill>
        <p:spPr bwMode="auto">
          <a:xfrm>
            <a:off x="2054225" y="4714875"/>
            <a:ext cx="1462088"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4" descr="2_4_1.gif (3270 bytes)"/>
          <p:cNvPicPr>
            <a:picLocks noChangeAspect="1" noChangeArrowheads="1"/>
          </p:cNvPicPr>
          <p:nvPr/>
        </p:nvPicPr>
        <p:blipFill>
          <a:blip r:embed="rId2">
            <a:extLst>
              <a:ext uri="{28A0092B-C50C-407E-A947-70E740481C1C}">
                <a14:useLocalDpi xmlns:a14="http://schemas.microsoft.com/office/drawing/2010/main" val="0"/>
              </a:ext>
            </a:extLst>
          </a:blip>
          <a:srcRect l="26465"/>
          <a:stretch>
            <a:fillRect/>
          </a:stretch>
        </p:blipFill>
        <p:spPr bwMode="auto">
          <a:xfrm>
            <a:off x="5726113" y="4725988"/>
            <a:ext cx="3578225"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0724">
                                            <p:txEl>
                                              <p:pRg st="0" end="0"/>
                                            </p:txEl>
                                          </p:spTgt>
                                        </p:tgtEl>
                                        <p:attrNameLst>
                                          <p:attrName>style.visibility</p:attrName>
                                        </p:attrNameLst>
                                      </p:cBhvr>
                                      <p:to>
                                        <p:strVal val="visible"/>
                                      </p:to>
                                    </p:set>
                                    <p:animEffect transition="in" filter="blinds(horizontal)">
                                      <p:cBhvr>
                                        <p:cTn id="7" dur="500"/>
                                        <p:tgtEl>
                                          <p:spTgt spid="3072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0725"/>
                                        </p:tgtEl>
                                        <p:attrNameLst>
                                          <p:attrName>style.visibility</p:attrName>
                                        </p:attrNameLst>
                                      </p:cBhvr>
                                      <p:to>
                                        <p:strVal val="visible"/>
                                      </p:to>
                                    </p:set>
                                    <p:animEffect transition="in" filter="blinds(horizontal)">
                                      <p:cBhvr>
                                        <p:cTn id="12" dur="500"/>
                                        <p:tgtEl>
                                          <p:spTgt spid="3072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0724">
                                            <p:txEl>
                                              <p:pRg st="1" end="1"/>
                                            </p:txEl>
                                          </p:spTgt>
                                        </p:tgtEl>
                                        <p:attrNameLst>
                                          <p:attrName>style.visibility</p:attrName>
                                        </p:attrNameLst>
                                      </p:cBhvr>
                                      <p:to>
                                        <p:strVal val="visible"/>
                                      </p:to>
                                    </p:set>
                                    <p:animEffect transition="in" filter="blinds(horizontal)">
                                      <p:cBhvr>
                                        <p:cTn id="17" dur="500"/>
                                        <p:tgtEl>
                                          <p:spTgt spid="3072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3A92528-A34D-493E-B084-FFF850A9C2FA}" type="slidenum">
              <a:rPr lang="zh-CN" altLang="en-US" sz="1400" smtClean="0">
                <a:latin typeface="Arial" panose="020B0604020202020204" pitchFamily="34" charset="0"/>
              </a:rPr>
              <a:t>26</a:t>
            </a:fld>
            <a:endParaRPr lang="en-US" altLang="zh-CN" sz="1400">
              <a:latin typeface="Arial" panose="020B0604020202020204" pitchFamily="34" charset="0"/>
            </a:endParaRPr>
          </a:p>
        </p:txBody>
      </p:sp>
      <p:sp>
        <p:nvSpPr>
          <p:cNvPr id="52227"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p>
        </p:txBody>
      </p:sp>
      <p:sp>
        <p:nvSpPr>
          <p:cNvPr id="31748" name="Rectangle 3"/>
          <p:cNvSpPr>
            <a:spLocks noGrp="1" noChangeArrowheads="1"/>
          </p:cNvSpPr>
          <p:nvPr>
            <p:ph type="body" idx="1"/>
          </p:nvPr>
        </p:nvSpPr>
        <p:spPr>
          <a:xfrm>
            <a:off x="247650" y="1219200"/>
            <a:ext cx="9442450" cy="5475288"/>
          </a:xfrm>
        </p:spPr>
        <p:txBody>
          <a:bodyPr/>
          <a:lstStyle/>
          <a:p>
            <a:pPr eaLnBrk="1" hangingPunct="1"/>
            <a:r>
              <a:rPr lang="zh-CN" altLang="en-US" dirty="0">
                <a:ea typeface="宋体" panose="02010600030101010101" pitchFamily="2" charset="-122"/>
              </a:rPr>
              <a:t>当对输出字符的要求较高时，需要使用高质量的点阵字符</a:t>
            </a:r>
            <a:endParaRPr lang="en-US" altLang="zh-CN" dirty="0">
              <a:ea typeface="宋体" panose="02010600030101010101" pitchFamily="2" charset="-122"/>
            </a:endParaRPr>
          </a:p>
          <a:p>
            <a:pPr eaLnBrk="1" hangingPunct="1"/>
            <a:r>
              <a:rPr lang="en-US" altLang="zh-CN" dirty="0">
                <a:ea typeface="宋体" panose="02010600030101010101" pitchFamily="2" charset="-122"/>
              </a:rPr>
              <a:t>GB2312-80</a:t>
            </a:r>
            <a:r>
              <a:rPr lang="zh-CN" altLang="en-US" dirty="0">
                <a:ea typeface="宋体" panose="02010600030101010101" pitchFamily="2" charset="-122"/>
              </a:rPr>
              <a:t>所规定了</a:t>
            </a:r>
            <a:r>
              <a:rPr lang="en-US" altLang="zh-CN" dirty="0">
                <a:ea typeface="宋体" panose="02010600030101010101" pitchFamily="2" charset="-122"/>
              </a:rPr>
              <a:t>6763</a:t>
            </a:r>
            <a:r>
              <a:rPr lang="zh-CN" altLang="en-US" dirty="0">
                <a:ea typeface="宋体" panose="02010600030101010101" pitchFamily="2" charset="-122"/>
              </a:rPr>
              <a:t>个基本汉字。若设每个汉字是</a:t>
            </a:r>
            <a:r>
              <a:rPr lang="en-US" altLang="zh-CN" dirty="0">
                <a:ea typeface="宋体" panose="02010600030101010101" pitchFamily="2" charset="-122"/>
              </a:rPr>
              <a:t>72*72</a:t>
            </a:r>
            <a:r>
              <a:rPr lang="zh-CN" altLang="en-US" dirty="0">
                <a:ea typeface="宋体" panose="02010600030101010101" pitchFamily="2" charset="-122"/>
              </a:rPr>
              <a:t>点阵，有</a:t>
            </a:r>
            <a:r>
              <a:rPr lang="en-US" altLang="zh-CN" dirty="0">
                <a:ea typeface="宋体" panose="02010600030101010101" pitchFamily="2" charset="-122"/>
              </a:rPr>
              <a:t>10</a:t>
            </a:r>
            <a:r>
              <a:rPr lang="zh-CN" altLang="en-US" dirty="0">
                <a:ea typeface="宋体" panose="02010600030101010101" pitchFamily="2" charset="-122"/>
              </a:rPr>
              <a:t>个大小的字号，</a:t>
            </a:r>
            <a:r>
              <a:rPr lang="en-US" altLang="zh-CN" dirty="0">
                <a:ea typeface="宋体" panose="02010600030101010101" pitchFamily="2" charset="-122"/>
              </a:rPr>
              <a:t>10</a:t>
            </a:r>
            <a:r>
              <a:rPr lang="zh-CN" altLang="en-US" dirty="0">
                <a:ea typeface="宋体" panose="02010600030101010101" pitchFamily="2" charset="-122"/>
              </a:rPr>
              <a:t>种不同的字体，则</a:t>
            </a:r>
            <a:r>
              <a:rPr lang="en-US" altLang="zh-CN" dirty="0">
                <a:ea typeface="宋体" panose="02010600030101010101" pitchFamily="2" charset="-122"/>
              </a:rPr>
              <a:t>6763</a:t>
            </a:r>
            <a:r>
              <a:rPr lang="zh-CN" altLang="en-US" dirty="0">
                <a:ea typeface="宋体" panose="02010600030101010101" pitchFamily="2" charset="-122"/>
              </a:rPr>
              <a:t>个汉字需要约</a:t>
            </a:r>
            <a:r>
              <a:rPr lang="en-US" altLang="zh-CN" dirty="0">
                <a:ea typeface="宋体" panose="02010600030101010101" pitchFamily="2" charset="-122"/>
              </a:rPr>
              <a:t>418MB</a:t>
            </a:r>
            <a:r>
              <a:rPr lang="zh-CN" altLang="en-US" dirty="0">
                <a:ea typeface="宋体" panose="02010600030101010101" pitchFamily="2" charset="-122"/>
              </a:rPr>
              <a:t>的存储空间</a:t>
            </a:r>
            <a:endParaRPr lang="en-US" altLang="zh-CN" dirty="0">
              <a:ea typeface="宋体" panose="02010600030101010101" pitchFamily="2" charset="-122"/>
            </a:endParaRPr>
          </a:p>
          <a:p>
            <a:pPr eaLnBrk="1" hangingPunct="1"/>
            <a:r>
              <a:rPr lang="zh-CN" altLang="en-US" dirty="0">
                <a:ea typeface="宋体" panose="02010600030101010101" pitchFamily="2" charset="-122"/>
              </a:rPr>
              <a:t>压缩技术</a:t>
            </a:r>
            <a:r>
              <a:rPr lang="en-US" altLang="zh-CN" dirty="0">
                <a:ea typeface="宋体" panose="02010600030101010101" pitchFamily="2" charset="-122"/>
              </a:rPr>
              <a:t>:</a:t>
            </a:r>
            <a:r>
              <a:rPr lang="zh-CN" altLang="en-US" dirty="0">
                <a:ea typeface="宋体" panose="02010600030101010101" pitchFamily="2" charset="-122"/>
              </a:rPr>
              <a:t>对字型数据压缩后再存储，使用时，将压缩的数据还原为字符位图点阵</a:t>
            </a:r>
            <a:endParaRPr lang="en-US" altLang="zh-CN"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748">
                                            <p:txEl>
                                              <p:pRg st="2" end="2"/>
                                            </p:txEl>
                                          </p:spTgt>
                                        </p:tgtEl>
                                        <p:attrNameLst>
                                          <p:attrName>style.visibility</p:attrName>
                                        </p:attrNameLst>
                                      </p:cBhvr>
                                      <p:to>
                                        <p:strVal val="visible"/>
                                      </p:to>
                                    </p:set>
                                    <p:animEffect transition="in" filter="checkerboard(across)">
                                      <p:cBhvr>
                                        <p:cTn id="7" dur="500"/>
                                        <p:tgtEl>
                                          <p:spTgt spid="317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AFCAF9D6-3FE9-4DB5-9091-6144779FF068}" type="slidenum">
              <a:rPr lang="zh-CN" altLang="en-US" sz="1400" smtClean="0">
                <a:latin typeface="Arial" panose="020B0604020202020204" pitchFamily="34" charset="0"/>
              </a:rPr>
              <a:t>27</a:t>
            </a:fld>
            <a:endParaRPr lang="en-US" altLang="zh-CN" sz="1400">
              <a:latin typeface="Arial" panose="020B0604020202020204" pitchFamily="34" charset="0"/>
            </a:endParaRPr>
          </a:p>
        </p:txBody>
      </p:sp>
      <p:sp>
        <p:nvSpPr>
          <p:cNvPr id="54275"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101" name="Rectangle 3"/>
          <p:cNvSpPr>
            <a:spLocks noGrp="1" noChangeArrowheads="1"/>
          </p:cNvSpPr>
          <p:nvPr>
            <p:ph type="body" sz="half" idx="1"/>
          </p:nvPr>
        </p:nvSpPr>
        <p:spPr>
          <a:xfrm>
            <a:off x="247650" y="1219200"/>
            <a:ext cx="9347200" cy="5181600"/>
          </a:xfrm>
        </p:spPr>
        <p:txBody>
          <a:bodyPr/>
          <a:lstStyle/>
          <a:p>
            <a:pPr eaLnBrk="1" hangingPunct="1">
              <a:defRPr/>
            </a:pPr>
            <a:r>
              <a:rPr kumimoji="1" lang="zh-CN" altLang="en-US" sz="2800" b="1" dirty="0">
                <a:solidFill>
                  <a:srgbClr val="004C2B"/>
                </a:solidFill>
                <a:latin typeface="黑体" panose="02010609060101010101" pitchFamily="49" charset="-122"/>
                <a:ea typeface="黑体" panose="02010609060101010101" pitchFamily="49" charset="-122"/>
              </a:rPr>
              <a:t>矢量字符</a:t>
            </a:r>
          </a:p>
          <a:p>
            <a:pPr marL="0" indent="0" algn="just" eaLnBrk="1" hangingPunct="1">
              <a:lnSpc>
                <a:spcPct val="140000"/>
              </a:lnSpc>
              <a:buFontTx/>
              <a:buNone/>
              <a:defRPr/>
            </a:pPr>
            <a:r>
              <a:rPr lang="zh-CN" altLang="en-US" sz="2800" dirty="0">
                <a:ea typeface="宋体" panose="02010600030101010101" pitchFamily="2" charset="-122"/>
              </a:rPr>
              <a:t>矢量字符采用直线和曲线段来描述字符形状</a:t>
            </a:r>
            <a:endParaRPr lang="en-US" altLang="zh-CN" sz="2800" dirty="0">
              <a:ea typeface="宋体" panose="02010600030101010101" pitchFamily="2" charset="-122"/>
            </a:endParaRPr>
          </a:p>
          <a:p>
            <a:pPr marL="0" indent="0" algn="just" eaLnBrk="1" hangingPunct="1">
              <a:lnSpc>
                <a:spcPct val="140000"/>
              </a:lnSpc>
              <a:buFontTx/>
              <a:buNone/>
              <a:defRPr/>
            </a:pPr>
            <a:r>
              <a:rPr lang="zh-CN" altLang="en-US" sz="2800" dirty="0">
                <a:ea typeface="宋体" panose="02010600030101010101" pitchFamily="2" charset="-122"/>
              </a:rPr>
              <a:t>矢量字符库中记录的是</a:t>
            </a:r>
            <a:r>
              <a:rPr lang="zh-CN" altLang="en-US" sz="2800" b="1" dirty="0">
                <a:ea typeface="宋体" panose="02010600030101010101" pitchFamily="2" charset="-122"/>
              </a:rPr>
              <a:t>笔划顶点序列信息</a:t>
            </a:r>
            <a:endParaRPr lang="zh-CN" altLang="en-US" sz="2800" dirty="0">
              <a:ea typeface="宋体" panose="02010600030101010101" pitchFamily="2" charset="-122"/>
            </a:endParaRPr>
          </a:p>
          <a:p>
            <a:pPr algn="just" eaLnBrk="1" hangingPunct="1">
              <a:lnSpc>
                <a:spcPct val="140000"/>
              </a:lnSpc>
              <a:buFontTx/>
              <a:buNone/>
              <a:defRPr/>
            </a:pPr>
            <a:r>
              <a:rPr lang="zh-CN" altLang="en-US" sz="2800" b="1" dirty="0">
                <a:ea typeface="宋体" panose="02010600030101010101" pitchFamily="2" charset="-122"/>
              </a:rPr>
              <a:t>显示时</a:t>
            </a:r>
            <a:r>
              <a:rPr lang="zh-CN" altLang="en-US" sz="2800" dirty="0">
                <a:ea typeface="宋体" panose="02010600030101010101" pitchFamily="2" charset="-122"/>
              </a:rPr>
              <a:t>：解释字符每个笔划信息</a:t>
            </a:r>
          </a:p>
          <a:p>
            <a:pPr eaLnBrk="1" hangingPunct="1">
              <a:buFontTx/>
              <a:buNone/>
              <a:defRPr/>
            </a:pPr>
            <a:endParaRPr kumimoji="1" lang="zh-CN" altLang="en-US" sz="2800" b="1" dirty="0">
              <a:solidFill>
                <a:srgbClr val="004C2B"/>
              </a:solidFill>
              <a:latin typeface="黑体" panose="02010609060101010101" pitchFamily="49" charset="-122"/>
              <a:ea typeface="黑体" panose="02010609060101010101" pitchFamily="49" charset="-122"/>
            </a:endParaRPr>
          </a:p>
        </p:txBody>
      </p:sp>
      <p:graphicFrame>
        <p:nvGraphicFramePr>
          <p:cNvPr id="4098" name="Object 4"/>
          <p:cNvGraphicFramePr>
            <a:graphicFrameLocks noGrp="1" noChangeAspect="1"/>
          </p:cNvGraphicFramePr>
          <p:nvPr>
            <p:ph sz="half" idx="2"/>
          </p:nvPr>
        </p:nvGraphicFramePr>
        <p:xfrm>
          <a:off x="6572250" y="3311525"/>
          <a:ext cx="2733675" cy="2989263"/>
        </p:xfrm>
        <a:graphic>
          <a:graphicData uri="http://schemas.openxmlformats.org/presentationml/2006/ole">
            <mc:AlternateContent xmlns:mc="http://schemas.openxmlformats.org/markup-compatibility/2006">
              <mc:Choice xmlns:v="urn:schemas-microsoft-com:vml" Requires="v">
                <p:oleObj spid="_x0000_s54340" name="VISIO" r:id="rId3" imgW="577215" imgH="630555" progId="Visio.Drawing.5">
                  <p:embed/>
                </p:oleObj>
              </mc:Choice>
              <mc:Fallback>
                <p:oleObj name="VISIO" r:id="rId3" imgW="577215" imgH="630555" progId="Visio.Drawing.5">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72250" y="3311525"/>
                        <a:ext cx="2733675" cy="2989263"/>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01">
                                            <p:txEl>
                                              <p:pRg st="0" end="0"/>
                                            </p:txEl>
                                          </p:spTgt>
                                        </p:tgtEl>
                                        <p:attrNameLst>
                                          <p:attrName>style.visibility</p:attrName>
                                        </p:attrNameLst>
                                      </p:cBhvr>
                                      <p:to>
                                        <p:strVal val="visible"/>
                                      </p:to>
                                    </p:set>
                                    <p:animEffect transition="in" filter="blinds(horizontal)">
                                      <p:cBhvr>
                                        <p:cTn id="7" dur="500"/>
                                        <p:tgtEl>
                                          <p:spTgt spid="410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01">
                                            <p:txEl>
                                              <p:pRg st="1" end="1"/>
                                            </p:txEl>
                                          </p:spTgt>
                                        </p:tgtEl>
                                        <p:attrNameLst>
                                          <p:attrName>style.visibility</p:attrName>
                                        </p:attrNameLst>
                                      </p:cBhvr>
                                      <p:to>
                                        <p:strVal val="visible"/>
                                      </p:to>
                                    </p:set>
                                    <p:animEffect transition="in" filter="blinds(horizontal)">
                                      <p:cBhvr>
                                        <p:cTn id="12" dur="500"/>
                                        <p:tgtEl>
                                          <p:spTgt spid="410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098"/>
                                        </p:tgtEl>
                                        <p:attrNameLst>
                                          <p:attrName>style.visibility</p:attrName>
                                        </p:attrNameLst>
                                      </p:cBhvr>
                                      <p:to>
                                        <p:strVal val="visible"/>
                                      </p:to>
                                    </p:set>
                                    <p:animEffect transition="in" filter="blinds(horizontal)">
                                      <p:cBhvr>
                                        <p:cTn id="17" dur="500"/>
                                        <p:tgtEl>
                                          <p:spTgt spid="409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01">
                                            <p:txEl>
                                              <p:pRg st="2" end="2"/>
                                            </p:txEl>
                                          </p:spTgt>
                                        </p:tgtEl>
                                        <p:attrNameLst>
                                          <p:attrName>style.visibility</p:attrName>
                                        </p:attrNameLst>
                                      </p:cBhvr>
                                      <p:to>
                                        <p:strVal val="visible"/>
                                      </p:to>
                                    </p:set>
                                    <p:animEffect transition="in" filter="blinds(horizontal)">
                                      <p:cBhvr>
                                        <p:cTn id="22" dur="500"/>
                                        <p:tgtEl>
                                          <p:spTgt spid="410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101">
                                            <p:txEl>
                                              <p:pRg st="3" end="3"/>
                                            </p:txEl>
                                          </p:spTgt>
                                        </p:tgtEl>
                                        <p:attrNameLst>
                                          <p:attrName>style.visibility</p:attrName>
                                        </p:attrNameLst>
                                      </p:cBhvr>
                                      <p:to>
                                        <p:strVal val="visible"/>
                                      </p:to>
                                    </p:set>
                                    <p:animEffect transition="in" filter="blinds(horizontal)">
                                      <p:cBhvr>
                                        <p:cTn id="27" dur="500"/>
                                        <p:tgtEl>
                                          <p:spTgt spid="410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2B7F301-D4F3-4C45-BEAF-F03E20994719}" type="slidenum">
              <a:rPr lang="zh-CN" altLang="en-US" sz="1400" smtClean="0">
                <a:latin typeface="Arial" panose="020B0604020202020204" pitchFamily="34" charset="0"/>
              </a:rPr>
              <a:t>28</a:t>
            </a:fld>
            <a:endParaRPr lang="en-US" altLang="zh-CN" sz="1400">
              <a:latin typeface="Arial" panose="020B0604020202020204" pitchFamily="34" charset="0"/>
            </a:endParaRPr>
          </a:p>
        </p:txBody>
      </p:sp>
      <p:sp>
        <p:nvSpPr>
          <p:cNvPr id="5529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矢量字符</a:t>
            </a:r>
          </a:p>
        </p:txBody>
      </p:sp>
      <p:sp>
        <p:nvSpPr>
          <p:cNvPr id="32772" name="Rectangle 3"/>
          <p:cNvSpPr>
            <a:spLocks noGrp="1" noChangeArrowheads="1"/>
          </p:cNvSpPr>
          <p:nvPr>
            <p:ph type="body" idx="1"/>
          </p:nvPr>
        </p:nvSpPr>
        <p:spPr/>
        <p:txBody>
          <a:bodyPr/>
          <a:lstStyle/>
          <a:p>
            <a:pPr eaLnBrk="1" hangingPunct="1"/>
            <a:r>
              <a:rPr lang="zh-CN" altLang="en-US" sz="2800" dirty="0">
                <a:ea typeface="宋体" panose="02010600030101010101" pitchFamily="2" charset="-122"/>
              </a:rPr>
              <a:t>矢量字符将字符表达为一个点坐标的序列，相邻两点表示一条矢量，字符的形状便由矢量序列刻划</a:t>
            </a:r>
            <a:endParaRPr lang="en-US" altLang="zh-CN" sz="2800" dirty="0">
              <a:ea typeface="宋体" panose="02010600030101010101" pitchFamily="2" charset="-122"/>
            </a:endParaRPr>
          </a:p>
          <a:p>
            <a:pPr eaLnBrk="1" hangingPunct="1"/>
            <a:r>
              <a:rPr lang="zh-CN" altLang="en-US" sz="2800" dirty="0">
                <a:ea typeface="宋体" panose="02010600030101010101" pitchFamily="2" charset="-122"/>
              </a:rPr>
              <a:t>图示矢量式表示的字符“</a:t>
            </a:r>
            <a:r>
              <a:rPr lang="en-US" altLang="zh-CN" sz="2800" dirty="0">
                <a:ea typeface="宋体" panose="02010600030101010101" pitchFamily="2" charset="-122"/>
              </a:rPr>
              <a:t>B”</a:t>
            </a:r>
            <a:r>
              <a:rPr lang="zh-CN" altLang="en-US" sz="2800" dirty="0">
                <a:ea typeface="宋体" panose="02010600030101010101" pitchFamily="2" charset="-122"/>
              </a:rPr>
              <a:t> 是由顶点序列</a:t>
            </a:r>
            <a:r>
              <a:rPr lang="en-US" altLang="zh-CN" sz="2800" dirty="0">
                <a:ea typeface="宋体" panose="02010600030101010101" pitchFamily="2" charset="-122"/>
              </a:rPr>
              <a:t>{a, b, c, d, e, f, e, g, h, </a:t>
            </a:r>
            <a:r>
              <a:rPr lang="en-US" altLang="zh-CN" sz="2800" dirty="0" err="1">
                <a:ea typeface="宋体" panose="02010600030101010101" pitchFamily="2" charset="-122"/>
              </a:rPr>
              <a:t>i</a:t>
            </a:r>
            <a:r>
              <a:rPr lang="en-US" altLang="zh-CN" sz="2800" dirty="0">
                <a:ea typeface="宋体" panose="02010600030101010101" pitchFamily="2" charset="-122"/>
              </a:rPr>
              <a:t>, j, k ,a, l}</a:t>
            </a:r>
            <a:r>
              <a:rPr lang="zh-CN" altLang="en-US" sz="2800" dirty="0">
                <a:ea typeface="宋体" panose="02010600030101010101" pitchFamily="2" charset="-122"/>
              </a:rPr>
              <a:t>的坐标表达</a:t>
            </a:r>
          </a:p>
          <a:p>
            <a:pPr eaLnBrk="1" hangingPunct="1"/>
            <a:r>
              <a:rPr lang="zh-CN" altLang="en-US" sz="2800" dirty="0">
                <a:ea typeface="宋体" panose="02010600030101010101" pitchFamily="2" charset="-122"/>
              </a:rPr>
              <a:t>调用矢量字符的过程相当于输出一个</a:t>
            </a:r>
            <a:r>
              <a:rPr lang="en-US" altLang="zh-CN" sz="2800" dirty="0">
                <a:ea typeface="宋体" panose="02010600030101010101" pitchFamily="2" charset="-122"/>
              </a:rPr>
              <a:t>polyline</a:t>
            </a:r>
          </a:p>
          <a:p>
            <a:pPr eaLnBrk="1" hangingPunct="1"/>
            <a:r>
              <a:rPr lang="zh-CN" altLang="en-US" sz="2800" dirty="0">
                <a:ea typeface="宋体" panose="02010600030101010101" pitchFamily="2" charset="-122"/>
              </a:rPr>
              <a:t>由于矢量字符具有和图形相一致的数据结构，因而可以接受任何对于图形的操作，如放大、旋转，甚至透视</a:t>
            </a:r>
          </a:p>
          <a:p>
            <a:pPr eaLnBrk="1" hangingPunct="1"/>
            <a:endParaRPr lang="zh-CN" altLang="en-US" sz="2800" dirty="0">
              <a:ea typeface="宋体" panose="02010600030101010101" pitchFamily="2" charset="-122"/>
            </a:endParaRPr>
          </a:p>
        </p:txBody>
      </p:sp>
      <p:pic>
        <p:nvPicPr>
          <p:cNvPr id="32773" name="Picture 4" descr="2_4_2.gif (2201 byt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500" y="4841875"/>
            <a:ext cx="241300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2772">
                                            <p:txEl>
                                              <p:pRg st="0" end="0"/>
                                            </p:txEl>
                                          </p:spTgt>
                                        </p:tgtEl>
                                        <p:attrNameLst>
                                          <p:attrName>style.visibility</p:attrName>
                                        </p:attrNameLst>
                                      </p:cBhvr>
                                      <p:to>
                                        <p:strVal val="visible"/>
                                      </p:to>
                                    </p:set>
                                    <p:animEffect transition="in" filter="blinds(horizontal)">
                                      <p:cBhvr>
                                        <p:cTn id="7" dur="500"/>
                                        <p:tgtEl>
                                          <p:spTgt spid="3277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2773"/>
                                        </p:tgtEl>
                                        <p:attrNameLst>
                                          <p:attrName>style.visibility</p:attrName>
                                        </p:attrNameLst>
                                      </p:cBhvr>
                                      <p:to>
                                        <p:strVal val="visible"/>
                                      </p:to>
                                    </p:set>
                                    <p:animEffect transition="in" filter="blinds(horizontal)">
                                      <p:cBhvr>
                                        <p:cTn id="12" dur="500"/>
                                        <p:tgtEl>
                                          <p:spTgt spid="3277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2772">
                                            <p:txEl>
                                              <p:pRg st="1" end="1"/>
                                            </p:txEl>
                                          </p:spTgt>
                                        </p:tgtEl>
                                        <p:attrNameLst>
                                          <p:attrName>style.visibility</p:attrName>
                                        </p:attrNameLst>
                                      </p:cBhvr>
                                      <p:to>
                                        <p:strVal val="visible"/>
                                      </p:to>
                                    </p:set>
                                    <p:animEffect transition="in" filter="blinds(horizontal)">
                                      <p:cBhvr>
                                        <p:cTn id="17" dur="500"/>
                                        <p:tgtEl>
                                          <p:spTgt spid="3277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2772">
                                            <p:txEl>
                                              <p:pRg st="2" end="2"/>
                                            </p:txEl>
                                          </p:spTgt>
                                        </p:tgtEl>
                                        <p:attrNameLst>
                                          <p:attrName>style.visibility</p:attrName>
                                        </p:attrNameLst>
                                      </p:cBhvr>
                                      <p:to>
                                        <p:strVal val="visible"/>
                                      </p:to>
                                    </p:set>
                                    <p:animEffect transition="in" filter="blinds(horizontal)">
                                      <p:cBhvr>
                                        <p:cTn id="22" dur="500"/>
                                        <p:tgtEl>
                                          <p:spTgt spid="3277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2772">
                                            <p:txEl>
                                              <p:pRg st="3" end="3"/>
                                            </p:txEl>
                                          </p:spTgt>
                                        </p:tgtEl>
                                        <p:attrNameLst>
                                          <p:attrName>style.visibility</p:attrName>
                                        </p:attrNameLst>
                                      </p:cBhvr>
                                      <p:to>
                                        <p:strVal val="visible"/>
                                      </p:to>
                                    </p:set>
                                    <p:animEffect transition="in" filter="blinds(horizontal)">
                                      <p:cBhvr>
                                        <p:cTn id="27" dur="500"/>
                                        <p:tgtEl>
                                          <p:spTgt spid="327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DC3420D-21D3-4D48-B71F-5BB8390A9DA0}" type="slidenum">
              <a:rPr lang="zh-CN" altLang="en-US" sz="1400" smtClean="0">
                <a:latin typeface="Arial" panose="020B0604020202020204" pitchFamily="34" charset="0"/>
              </a:rPr>
              <a:t>29</a:t>
            </a:fld>
            <a:endParaRPr lang="en-US" altLang="zh-CN" sz="1400">
              <a:latin typeface="Arial" panose="020B0604020202020204" pitchFamily="34" charset="0"/>
            </a:endParaRPr>
          </a:p>
        </p:txBody>
      </p:sp>
      <p:sp>
        <p:nvSpPr>
          <p:cNvPr id="56323"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字符</a:t>
            </a:r>
          </a:p>
        </p:txBody>
      </p:sp>
      <p:sp>
        <p:nvSpPr>
          <p:cNvPr id="33796" name="Rectangle 3"/>
          <p:cNvSpPr>
            <a:spLocks noGrp="1" noChangeArrowheads="1"/>
          </p:cNvSpPr>
          <p:nvPr>
            <p:ph type="body" idx="1"/>
          </p:nvPr>
        </p:nvSpPr>
        <p:spPr>
          <a:xfrm>
            <a:off x="247650" y="1095375"/>
            <a:ext cx="9493250" cy="5584825"/>
          </a:xfrm>
        </p:spPr>
        <p:txBody>
          <a:bodyPr/>
          <a:lstStyle/>
          <a:p>
            <a:pPr eaLnBrk="1" hangingPunct="1"/>
            <a:r>
              <a:rPr lang="zh-CN" altLang="en-US" dirty="0">
                <a:solidFill>
                  <a:srgbClr val="0000FF"/>
                </a:solidFill>
                <a:ea typeface="宋体" panose="02010600030101010101" pitchFamily="2" charset="-122"/>
              </a:rPr>
              <a:t>轮廓字型法：</a:t>
            </a:r>
            <a:r>
              <a:rPr lang="zh-CN" altLang="en-US" dirty="0">
                <a:ea typeface="宋体" panose="02010600030101010101" pitchFamily="2" charset="-122"/>
              </a:rPr>
              <a:t>采用直线、</a:t>
            </a:r>
            <a:r>
              <a:rPr lang="en-US" altLang="zh-CN" dirty="0">
                <a:ea typeface="宋体" panose="02010600030101010101" pitchFamily="2" charset="-122"/>
              </a:rPr>
              <a:t>Bezier</a:t>
            </a:r>
            <a:r>
              <a:rPr lang="zh-CN" altLang="en-US" dirty="0">
                <a:ea typeface="宋体" panose="02010600030101010101" pitchFamily="2" charset="-122"/>
              </a:rPr>
              <a:t>曲线来描述字符轮廓线</a:t>
            </a:r>
            <a:r>
              <a:rPr lang="en-US" altLang="zh-CN" dirty="0">
                <a:ea typeface="宋体" panose="02010600030101010101" pitchFamily="2" charset="-122"/>
              </a:rPr>
              <a:t>,</a:t>
            </a:r>
            <a:r>
              <a:rPr lang="zh-CN" altLang="en-US" dirty="0">
                <a:ea typeface="宋体" panose="02010600030101010101" pitchFamily="2" charset="-122"/>
              </a:rPr>
              <a:t>加上一些指示横竖宽、基点基线等控制信息</a:t>
            </a:r>
            <a:endParaRPr lang="en-US" altLang="zh-CN" dirty="0">
              <a:ea typeface="宋体" panose="02010600030101010101" pitchFamily="2" charset="-122"/>
            </a:endParaRPr>
          </a:p>
          <a:p>
            <a:pPr eaLnBrk="1" hangingPunct="1"/>
            <a:r>
              <a:rPr lang="zh-CN" altLang="en-US" dirty="0">
                <a:ea typeface="宋体" panose="02010600030101010101" pitchFamily="2" charset="-122"/>
              </a:rPr>
              <a:t>采用适当的区域填充算法，可从字符轮廓线定义产生字符位图点阵</a:t>
            </a:r>
          </a:p>
          <a:p>
            <a:pPr eaLnBrk="1" hangingPunct="1"/>
            <a:r>
              <a:rPr lang="en-US" altLang="zh-CN" dirty="0">
                <a:solidFill>
                  <a:schemeClr val="accent2"/>
                </a:solidFill>
                <a:ea typeface="宋体" panose="02010600030101010101" pitchFamily="2" charset="-122"/>
              </a:rPr>
              <a:t>TrueType</a:t>
            </a:r>
            <a:r>
              <a:rPr lang="zh-CN" altLang="en-US" dirty="0">
                <a:solidFill>
                  <a:schemeClr val="accent2"/>
                </a:solidFill>
                <a:ea typeface="宋体" panose="02010600030101010101" pitchFamily="2" charset="-122"/>
              </a:rPr>
              <a:t>字型技术：</a:t>
            </a:r>
            <a:r>
              <a:rPr lang="zh-CN" altLang="en-US" dirty="0">
                <a:ea typeface="宋体" panose="02010600030101010101" pitchFamily="2" charset="-122"/>
              </a:rPr>
              <a:t>一种轮廓字型技术，已被用于为</a:t>
            </a:r>
            <a:r>
              <a:rPr lang="en-US" altLang="zh-CN" dirty="0">
                <a:ea typeface="宋体" panose="02010600030101010101" pitchFamily="2" charset="-122"/>
              </a:rPr>
              <a:t>Windows</a:t>
            </a:r>
            <a:r>
              <a:rPr lang="zh-CN" altLang="en-US" dirty="0">
                <a:ea typeface="宋体" panose="02010600030101010101" pitchFamily="2" charset="-122"/>
              </a:rPr>
              <a:t>中文版生成汉字字库</a:t>
            </a:r>
            <a:endParaRPr lang="en-US" altLang="zh-CN" dirty="0">
              <a:ea typeface="宋体" panose="02010600030101010101" pitchFamily="2" charset="-122"/>
            </a:endParaRPr>
          </a:p>
          <a:p>
            <a:pPr eaLnBrk="1" hangingPunct="1"/>
            <a:r>
              <a:rPr lang="zh-CN" altLang="en-US" dirty="0">
                <a:ea typeface="宋体" panose="02010600030101010101" pitchFamily="2" charset="-122"/>
              </a:rPr>
              <a:t>当前占领电子印刷市场的我国北大方正和华光电子印刷系统，所用字型技术是</a:t>
            </a:r>
            <a:r>
              <a:rPr lang="zh-CN" altLang="en-US" dirty="0">
                <a:solidFill>
                  <a:schemeClr val="accent2"/>
                </a:solidFill>
                <a:ea typeface="宋体" panose="02010600030101010101" pitchFamily="2" charset="-122"/>
              </a:rPr>
              <a:t>汉字字型轮廓矢量法</a:t>
            </a:r>
            <a:endParaRPr lang="zh-CN" altLang="en-US" dirty="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Effect transition="in" filter="blinds(horizontal)">
                                      <p:cBhvr>
                                        <p:cTn id="7" dur="500"/>
                                        <p:tgtEl>
                                          <p:spTgt spid="337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3796">
                                            <p:txEl>
                                              <p:pRg st="1" end="1"/>
                                            </p:txEl>
                                          </p:spTgt>
                                        </p:tgtEl>
                                        <p:attrNameLst>
                                          <p:attrName>style.visibility</p:attrName>
                                        </p:attrNameLst>
                                      </p:cBhvr>
                                      <p:to>
                                        <p:strVal val="visible"/>
                                      </p:to>
                                    </p:set>
                                    <p:animEffect transition="in" filter="blinds(horizontal)">
                                      <p:cBhvr>
                                        <p:cTn id="12" dur="500"/>
                                        <p:tgtEl>
                                          <p:spTgt spid="337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3796">
                                            <p:txEl>
                                              <p:pRg st="2" end="2"/>
                                            </p:txEl>
                                          </p:spTgt>
                                        </p:tgtEl>
                                        <p:attrNameLst>
                                          <p:attrName>style.visibility</p:attrName>
                                        </p:attrNameLst>
                                      </p:cBhvr>
                                      <p:to>
                                        <p:strVal val="visible"/>
                                      </p:to>
                                    </p:set>
                                    <p:animEffect transition="in" filter="blinds(horizontal)">
                                      <p:cBhvr>
                                        <p:cTn id="17" dur="500"/>
                                        <p:tgtEl>
                                          <p:spTgt spid="337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3796">
                                            <p:txEl>
                                              <p:pRg st="3" end="3"/>
                                            </p:txEl>
                                          </p:spTgt>
                                        </p:tgtEl>
                                        <p:attrNameLst>
                                          <p:attrName>style.visibility</p:attrName>
                                        </p:attrNameLst>
                                      </p:cBhvr>
                                      <p:to>
                                        <p:strVal val="visible"/>
                                      </p:to>
                                    </p:set>
                                    <p:animEffect transition="in" filter="blinds(horizontal)">
                                      <p:cBhvr>
                                        <p:cTn id="22" dur="500"/>
                                        <p:tgtEl>
                                          <p:spTgt spid="3379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8F8B4D-5E58-4B46-8AC9-FC676262A543}" type="slidenum">
              <a:rPr lang="zh-CN" altLang="en-US" sz="1400" smtClean="0">
                <a:latin typeface="Arial" panose="020B0604020202020204" pitchFamily="34" charset="0"/>
              </a:rPr>
              <a:t>30</a:t>
            </a:fld>
            <a:endParaRPr lang="en-US" altLang="zh-CN" sz="1400">
              <a:latin typeface="Arial" panose="020B0604020202020204" pitchFamily="34" charset="0"/>
            </a:endParaRPr>
          </a:p>
        </p:txBody>
      </p:sp>
      <p:sp>
        <p:nvSpPr>
          <p:cNvPr id="409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区域填充、字符与走样</a:t>
            </a:r>
            <a:endParaRPr lang="en-US" altLang="zh-CN" dirty="0">
              <a:ea typeface="宋体" panose="02010600030101010101" pitchFamily="2" charset="-122"/>
            </a:endParaRPr>
          </a:p>
        </p:txBody>
      </p:sp>
      <p:sp>
        <p:nvSpPr>
          <p:cNvPr id="4100" name="Rectangle 3"/>
          <p:cNvSpPr>
            <a:spLocks noGrp="1" noChangeArrowheads="1"/>
          </p:cNvSpPr>
          <p:nvPr>
            <p:ph type="body" sz="half" idx="1"/>
          </p:nvPr>
        </p:nvSpPr>
        <p:spPr/>
        <p:txBody>
          <a:bodyPr/>
          <a:lstStyle/>
          <a:p>
            <a:pPr eaLnBrk="1" hangingPunct="1"/>
            <a:r>
              <a:rPr lang="zh-CN" altLang="en-US" dirty="0">
                <a:ea typeface="宋体" panose="02010600030101010101" pitchFamily="2" charset="-122"/>
              </a:rPr>
              <a:t>区域填充</a:t>
            </a:r>
            <a:endParaRPr lang="en-US" altLang="zh-CN" dirty="0">
              <a:ea typeface="宋体" panose="02010600030101010101" pitchFamily="2" charset="-122"/>
            </a:endParaRPr>
          </a:p>
          <a:p>
            <a:pPr eaLnBrk="1" hangingPunct="1"/>
            <a:r>
              <a:rPr lang="zh-CN" altLang="en-US" dirty="0">
                <a:ea typeface="宋体" panose="02010600030101010101" pitchFamily="2" charset="-122"/>
              </a:rPr>
              <a:t>字符</a:t>
            </a:r>
            <a:endParaRPr lang="en-US" altLang="zh-CN" dirty="0">
              <a:ea typeface="宋体" panose="02010600030101010101" pitchFamily="2" charset="-122"/>
            </a:endParaRPr>
          </a:p>
          <a:p>
            <a:pPr eaLnBrk="1" hangingPunct="1"/>
            <a:r>
              <a:rPr lang="zh-CN" altLang="en-US" dirty="0">
                <a:solidFill>
                  <a:srgbClr val="0000FF"/>
                </a:solidFill>
                <a:ea typeface="宋体" panose="02010600030101010101" pitchFamily="2" charset="-122"/>
              </a:rPr>
              <a:t>走样与反走样</a:t>
            </a:r>
            <a:endParaRPr lang="en-US" altLang="zh-CN" dirty="0">
              <a:solidFill>
                <a:srgbClr val="0000FF"/>
              </a:solidFill>
              <a:ea typeface="宋体" panose="02010600030101010101" pitchFamily="2" charset="-122"/>
            </a:endParaRPr>
          </a:p>
        </p:txBody>
      </p:sp>
      <p:pic>
        <p:nvPicPr>
          <p:cNvPr id="4101" name="Picture 4" descr="0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5025" y="4679950"/>
            <a:ext cx="2559050" cy="164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2" name="Picture 5" descr="00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2488" y="2813050"/>
            <a:ext cx="252888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04" name="Object 8"/>
          <p:cNvGraphicFramePr>
            <a:graphicFrameLocks noGrp="1" noChangeAspect="1"/>
          </p:cNvGraphicFramePr>
          <p:nvPr>
            <p:ph sz="half" idx="2"/>
          </p:nvPr>
        </p:nvGraphicFramePr>
        <p:xfrm>
          <a:off x="8042275" y="434975"/>
          <a:ext cx="1470025" cy="1608138"/>
        </p:xfrm>
        <a:graphic>
          <a:graphicData uri="http://schemas.openxmlformats.org/presentationml/2006/ole">
            <mc:AlternateContent xmlns:mc="http://schemas.openxmlformats.org/markup-compatibility/2006">
              <mc:Choice xmlns:v="urn:schemas-microsoft-com:vml" Requires="v">
                <p:oleObj spid="_x0000_s78908" name="VISIO" r:id="rId5" imgW="577215" imgH="630555" progId="Visio.Drawing.5">
                  <p:embed/>
                </p:oleObj>
              </mc:Choice>
              <mc:Fallback>
                <p:oleObj name="VISIO" r:id="rId5" imgW="577215" imgH="630555" progId="Visio.Drawing.5">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42275" y="434975"/>
                        <a:ext cx="1470025" cy="1608138"/>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图片 8"/>
          <p:cNvPicPr>
            <a:picLocks noChangeAspect="1"/>
          </p:cNvPicPr>
          <p:nvPr/>
        </p:nvPicPr>
        <p:blipFill>
          <a:blip r:embed="rId7"/>
          <a:stretch>
            <a:fillRect/>
          </a:stretch>
        </p:blipFill>
        <p:spPr>
          <a:xfrm>
            <a:off x="440862" y="4440238"/>
            <a:ext cx="2142000" cy="1805400"/>
          </a:xfrm>
          <a:prstGeom prst="rect">
            <a:avLst/>
          </a:prstGeom>
        </p:spPr>
      </p:pic>
      <p:pic>
        <p:nvPicPr>
          <p:cNvPr id="10" name="图片 9"/>
          <p:cNvPicPr>
            <a:picLocks noChangeAspect="1"/>
          </p:cNvPicPr>
          <p:nvPr/>
        </p:nvPicPr>
        <p:blipFill>
          <a:blip r:embed="rId8"/>
          <a:stretch>
            <a:fillRect/>
          </a:stretch>
        </p:blipFill>
        <p:spPr>
          <a:xfrm>
            <a:off x="3384000" y="4464301"/>
            <a:ext cx="2223600" cy="1754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68A14AB-4AA0-49C9-B5A8-4C035CC8FC32}" type="slidenum">
              <a:rPr lang="zh-CN" altLang="en-US" sz="1400" smtClean="0">
                <a:latin typeface="Arial" panose="020B0604020202020204" pitchFamily="34" charset="0"/>
              </a:rPr>
              <a:t>31</a:t>
            </a:fld>
            <a:endParaRPr lang="en-US" altLang="zh-CN" sz="1400">
              <a:latin typeface="Arial" panose="020B0604020202020204" pitchFamily="34" charset="0"/>
            </a:endParaRPr>
          </a:p>
        </p:txBody>
      </p:sp>
      <p:sp>
        <p:nvSpPr>
          <p:cNvPr id="58371" name="Rectangle 2"/>
          <p:cNvSpPr>
            <a:spLocks noGrp="1" noChangeArrowheads="1"/>
          </p:cNvSpPr>
          <p:nvPr>
            <p:ph type="title"/>
          </p:nvPr>
        </p:nvSpPr>
        <p:spPr>
          <a:xfrm>
            <a:off x="1238250" y="0"/>
            <a:ext cx="8007350" cy="1033463"/>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走样问题</a:t>
            </a:r>
          </a:p>
        </p:txBody>
      </p:sp>
      <p:sp>
        <p:nvSpPr>
          <p:cNvPr id="58372" name="内容占位符 4"/>
          <p:cNvSpPr>
            <a:spLocks noGrp="1" noChangeArrowheads="1"/>
          </p:cNvSpPr>
          <p:nvPr>
            <p:ph idx="1"/>
          </p:nvPr>
        </p:nvSpPr>
        <p:spPr/>
        <p:txBody>
          <a:bodyPr/>
          <a:lstStyle/>
          <a:p>
            <a:endParaRPr lang="zh-CN" altLang="en-US">
              <a:ea typeface="宋体" panose="02010600030101010101" pitchFamily="2" charset="-122"/>
            </a:endParaRPr>
          </a:p>
        </p:txBody>
      </p:sp>
      <p:pic>
        <p:nvPicPr>
          <p:cNvPr id="5837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25" y="2395538"/>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277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7313" y="1089025"/>
            <a:ext cx="2032000"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3277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2536825"/>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10" name="右箭头 9"/>
          <p:cNvSpPr/>
          <p:nvPr/>
        </p:nvSpPr>
        <p:spPr bwMode="auto">
          <a:xfrm>
            <a:off x="3984625" y="4005263"/>
            <a:ext cx="2001838" cy="436562"/>
          </a:xfrm>
          <a:prstGeom prst="right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wrap="none"/>
          <a:lstStyle/>
          <a:p>
            <a:pPr eaLnBrk="1" hangingPunct="1">
              <a:defRPr/>
            </a:pPr>
            <a:endParaRPr lang="zh-CN" altLang="en-US">
              <a:solidFill>
                <a:schemeClr val="tx1"/>
              </a:solidFill>
              <a:latin typeface="Arial" panose="020B0604020202020204" pitchFamily="34" charset="0"/>
              <a:ea typeface="宋体" panose="02010600030101010101" pitchFamily="2" charset="-122"/>
            </a:endParaRPr>
          </a:p>
        </p:txBody>
      </p:sp>
      <p:pic>
        <p:nvPicPr>
          <p:cNvPr id="58377"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4800600"/>
            <a:ext cx="1800225" cy="176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nvGrpSpPr>
          <p:cNvPr id="2" name="组合 23"/>
          <p:cNvGrpSpPr/>
          <p:nvPr/>
        </p:nvGrpSpPr>
        <p:grpSpPr bwMode="auto">
          <a:xfrm>
            <a:off x="3571875" y="4675188"/>
            <a:ext cx="2286000" cy="1844675"/>
            <a:chOff x="3571868" y="4674916"/>
            <a:chExt cx="2286016" cy="1845627"/>
          </a:xfrm>
        </p:grpSpPr>
        <p:cxnSp>
          <p:nvCxnSpPr>
            <p:cNvPr id="16" name="直接连接符 15"/>
            <p:cNvCxnSpPr/>
            <p:nvPr/>
          </p:nvCxnSpPr>
          <p:spPr>
            <a:xfrm flipV="1">
              <a:off x="3832220" y="4995756"/>
              <a:ext cx="1566874" cy="1513668"/>
            </a:xfrm>
            <a:prstGeom prst="line">
              <a:avLst/>
            </a:prstGeom>
          </p:spPr>
          <p:style>
            <a:lnRef idx="1">
              <a:schemeClr val="dk1"/>
            </a:lnRef>
            <a:fillRef idx="0">
              <a:schemeClr val="dk1"/>
            </a:fillRef>
            <a:effectRef idx="0">
              <a:schemeClr val="dk1"/>
            </a:effectRef>
            <a:fontRef idx="minor">
              <a:schemeClr val="tx1"/>
            </a:fontRef>
          </p:style>
        </p:cxnSp>
        <p:cxnSp>
          <p:nvCxnSpPr>
            <p:cNvPr id="17" name="直接连接符 16"/>
            <p:cNvCxnSpPr/>
            <p:nvPr/>
          </p:nvCxnSpPr>
          <p:spPr>
            <a:xfrm>
              <a:off x="3571868" y="5245122"/>
              <a:ext cx="2286016" cy="1589"/>
            </a:xfrm>
            <a:prstGeom prst="line">
              <a:avLst/>
            </a:prstGeom>
          </p:spPr>
          <p:style>
            <a:lnRef idx="1">
              <a:schemeClr val="dk1"/>
            </a:lnRef>
            <a:fillRef idx="0">
              <a:schemeClr val="dk1"/>
            </a:fillRef>
            <a:effectRef idx="0">
              <a:schemeClr val="dk1"/>
            </a:effectRef>
            <a:fontRef idx="minor">
              <a:schemeClr val="tx1"/>
            </a:fontRef>
          </p:style>
        </p:cxnSp>
        <p:cxnSp>
          <p:nvCxnSpPr>
            <p:cNvPr id="18" name="直接连接符 17"/>
            <p:cNvCxnSpPr/>
            <p:nvPr/>
          </p:nvCxnSpPr>
          <p:spPr>
            <a:xfrm rot="5400000">
              <a:off x="3144357" y="5591380"/>
              <a:ext cx="1845627" cy="12700"/>
            </a:xfrm>
            <a:prstGeom prst="line">
              <a:avLst/>
            </a:prstGeom>
          </p:spPr>
          <p:style>
            <a:lnRef idx="1">
              <a:schemeClr val="dk1"/>
            </a:lnRef>
            <a:fillRef idx="0">
              <a:schemeClr val="dk1"/>
            </a:fillRef>
            <a:effectRef idx="0">
              <a:schemeClr val="dk1"/>
            </a:effectRef>
            <a:fontRef idx="minor">
              <a:schemeClr val="tx1"/>
            </a:fontRef>
          </p:style>
        </p:cxnSp>
      </p:grpSp>
      <p:sp>
        <p:nvSpPr>
          <p:cNvPr id="34827" name="AutoShape 4"/>
          <p:cNvSpPr>
            <a:spLocks noChangeArrowheads="1"/>
          </p:cNvSpPr>
          <p:nvPr/>
        </p:nvSpPr>
        <p:spPr bwMode="auto">
          <a:xfrm>
            <a:off x="5983288" y="5616575"/>
            <a:ext cx="1803400" cy="989013"/>
          </a:xfrm>
          <a:prstGeom prst="wedgeRoundRectCallout">
            <a:avLst>
              <a:gd name="adj1" fmla="val -85602"/>
              <a:gd name="adj2" fmla="val -49296"/>
              <a:gd name="adj3" fmla="val 16667"/>
            </a:avLst>
          </a:prstGeom>
        </p:spPr>
        <p:style>
          <a:lnRef idx="1">
            <a:schemeClr val="accent2"/>
          </a:lnRef>
          <a:fillRef idx="2">
            <a:schemeClr val="accent2"/>
          </a:fillRef>
          <a:effectRef idx="1">
            <a:schemeClr val="accent2"/>
          </a:effectRef>
          <a:fontRef idx="minor">
            <a:schemeClr val="dk1"/>
          </a:fontRef>
        </p:style>
        <p:txBody>
          <a:bodyPr/>
          <a:lstStyle/>
          <a:p>
            <a:pPr algn="ctr" eaLnBrk="1" hangingPunct="1">
              <a:defRPr/>
            </a:pPr>
            <a:r>
              <a:rPr lang="zh-CN" altLang="en-US" sz="2800">
                <a:solidFill>
                  <a:schemeClr val="accent2"/>
                </a:solidFill>
                <a:ea typeface="宋体" panose="02010600030101010101" pitchFamily="2" charset="-122"/>
              </a:rPr>
              <a:t>为什么会出现</a:t>
            </a:r>
            <a:r>
              <a:rPr lang="en-US" altLang="zh-CN" sz="2800">
                <a:solidFill>
                  <a:schemeClr val="accent2"/>
                </a:solidFill>
                <a:ea typeface="宋体" panose="02010600030101010101" pitchFamily="2" charset="-122"/>
              </a:rPr>
              <a:t>?</a:t>
            </a:r>
            <a:endParaRPr lang="zh-CN" altLang="en-US" sz="2800">
              <a:solidFill>
                <a:schemeClr val="accent2"/>
              </a:solidFill>
              <a:ea typeface="宋体" panose="02010600030101010101" pitchFamily="2" charset="-122"/>
            </a:endParaRPr>
          </a:p>
        </p:txBody>
      </p:sp>
      <p:sp>
        <p:nvSpPr>
          <p:cNvPr id="23" name="AutoShape 4"/>
          <p:cNvSpPr>
            <a:spLocks noChangeArrowheads="1"/>
          </p:cNvSpPr>
          <p:nvPr/>
        </p:nvSpPr>
        <p:spPr bwMode="auto">
          <a:xfrm>
            <a:off x="7059613" y="1436688"/>
            <a:ext cx="1803400" cy="661987"/>
          </a:xfrm>
          <a:prstGeom prst="wedgeRoundRectCallout">
            <a:avLst>
              <a:gd name="adj1" fmla="val -46972"/>
              <a:gd name="adj2" fmla="val 106907"/>
              <a:gd name="adj3" fmla="val 16667"/>
            </a:avLst>
          </a:prstGeom>
        </p:spPr>
        <p:style>
          <a:lnRef idx="1">
            <a:schemeClr val="accent4"/>
          </a:lnRef>
          <a:fillRef idx="2">
            <a:schemeClr val="accent4"/>
          </a:fillRef>
          <a:effectRef idx="1">
            <a:schemeClr val="accent4"/>
          </a:effectRef>
          <a:fontRef idx="minor">
            <a:schemeClr val="dk1"/>
          </a:fontRef>
        </p:style>
        <p:txBody>
          <a:bodyPr/>
          <a:lstStyle/>
          <a:p>
            <a:pPr algn="ctr" eaLnBrk="1" hangingPunct="1">
              <a:defRPr/>
            </a:pPr>
            <a:r>
              <a:rPr lang="zh-CN" altLang="en-US" sz="2800" dirty="0">
                <a:solidFill>
                  <a:schemeClr val="accent2"/>
                </a:solidFill>
                <a:ea typeface="宋体" panose="02010600030101010101" pitchFamily="2" charset="-122"/>
              </a:rPr>
              <a:t>如何达到</a:t>
            </a:r>
            <a:r>
              <a:rPr lang="en-US" altLang="zh-CN" sz="2800" dirty="0">
                <a:solidFill>
                  <a:schemeClr val="accent2"/>
                </a:solidFill>
                <a:ea typeface="宋体" panose="02010600030101010101" pitchFamily="2" charset="-122"/>
              </a:rPr>
              <a:t>?</a:t>
            </a:r>
            <a:endParaRPr lang="zh-CN" altLang="en-US" sz="2800" dirty="0">
              <a:solidFill>
                <a:schemeClr val="accent2"/>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par>
                                <p:cTn id="11" presetID="5" presetClass="entr" presetSubtype="10" fill="hold" nodeType="withEffect">
                                  <p:stCondLst>
                                    <p:cond delay="0"/>
                                  </p:stCondLst>
                                  <p:childTnLst>
                                    <p:set>
                                      <p:cBhvr>
                                        <p:cTn id="12" dur="1" fill="hold">
                                          <p:stCondLst>
                                            <p:cond delay="0"/>
                                          </p:stCondLst>
                                        </p:cTn>
                                        <p:tgtEl>
                                          <p:spTgt spid="32775"/>
                                        </p:tgtEl>
                                        <p:attrNameLst>
                                          <p:attrName>style.visibility</p:attrName>
                                        </p:attrNameLst>
                                      </p:cBhvr>
                                      <p:to>
                                        <p:strVal val="visible"/>
                                      </p:to>
                                    </p:set>
                                    <p:animEffect transition="in" filter="checkerboard(across)">
                                      <p:cBhvr>
                                        <p:cTn id="13" dur="500"/>
                                        <p:tgtEl>
                                          <p:spTgt spid="32775"/>
                                        </p:tgtEl>
                                      </p:cBhvr>
                                    </p:animEffect>
                                  </p:childTnLst>
                                </p:cTn>
                              </p:par>
                              <p:par>
                                <p:cTn id="14" presetID="5" presetClass="entr" presetSubtype="10" fill="hold" nodeType="withEffect">
                                  <p:stCondLst>
                                    <p:cond delay="0"/>
                                  </p:stCondLst>
                                  <p:childTnLst>
                                    <p:set>
                                      <p:cBhvr>
                                        <p:cTn id="15" dur="1" fill="hold">
                                          <p:stCondLst>
                                            <p:cond delay="0"/>
                                          </p:stCondLst>
                                        </p:cTn>
                                        <p:tgtEl>
                                          <p:spTgt spid="32776"/>
                                        </p:tgtEl>
                                        <p:attrNameLst>
                                          <p:attrName>style.visibility</p:attrName>
                                        </p:attrNameLst>
                                      </p:cBhvr>
                                      <p:to>
                                        <p:strVal val="visible"/>
                                      </p:to>
                                    </p:set>
                                    <p:animEffect transition="in" filter="checkerboard(across)">
                                      <p:cBhvr>
                                        <p:cTn id="16" dur="500"/>
                                        <p:tgtEl>
                                          <p:spTgt spid="3277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4827"/>
                                        </p:tgtEl>
                                        <p:attrNameLst>
                                          <p:attrName>style.visibility</p:attrName>
                                        </p:attrNameLst>
                                      </p:cBhvr>
                                      <p:to>
                                        <p:strVal val="visible"/>
                                      </p:to>
                                    </p:set>
                                    <p:animEffect transition="in" filter="blinds(horizontal)">
                                      <p:cBhvr>
                                        <p:cTn id="21" dur="500"/>
                                        <p:tgtEl>
                                          <p:spTgt spid="34827"/>
                                        </p:tgtEl>
                                      </p:cBhvr>
                                    </p:animEffect>
                                  </p:childTnLst>
                                </p:cTn>
                              </p:par>
                            </p:childTnLst>
                          </p:cTn>
                        </p:par>
                      </p:childTnLst>
                    </p:cTn>
                  </p:par>
                  <p:par>
                    <p:cTn id="22" fill="hold">
                      <p:stCondLst>
                        <p:cond delay="indefinite"/>
                      </p:stCondLst>
                      <p:childTnLst>
                        <p:par>
                          <p:cTn id="23" fill="hold">
                            <p:stCondLst>
                              <p:cond delay="0"/>
                            </p:stCondLst>
                            <p:childTnLst>
                              <p:par>
                                <p:cTn id="24" presetID="5" presetClass="entr" presetSubtype="1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checkerboard(across)">
                                      <p:cBhvr>
                                        <p:cTn id="26"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34827" grpId="0" animBg="1"/>
      <p:bldP spid="23"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D25D355-5AD5-49B5-94AC-65375E93BA4C}" type="slidenum">
              <a:rPr lang="zh-CN" altLang="en-US" sz="1400" smtClean="0">
                <a:latin typeface="Arial" panose="020B0604020202020204" pitchFamily="34" charset="0"/>
              </a:rPr>
              <a:t>32</a:t>
            </a:fld>
            <a:endParaRPr lang="en-US" altLang="zh-CN" sz="1400">
              <a:latin typeface="Arial" panose="020B0604020202020204" pitchFamily="34" charset="0"/>
            </a:endParaRPr>
          </a:p>
        </p:txBody>
      </p:sp>
      <p:sp>
        <p:nvSpPr>
          <p:cNvPr id="59395" name="Rectangle 2"/>
          <p:cNvSpPr>
            <a:spLocks noGrp="1" noChangeArrowheads="1"/>
          </p:cNvSpPr>
          <p:nvPr>
            <p:ph type="title"/>
          </p:nvPr>
        </p:nvSpPr>
        <p:spPr>
          <a:xfrm>
            <a:off x="1238250" y="0"/>
            <a:ext cx="800735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走样</a:t>
            </a:r>
          </a:p>
        </p:txBody>
      </p:sp>
      <p:sp>
        <p:nvSpPr>
          <p:cNvPr id="35844" name="Rectangle 3"/>
          <p:cNvSpPr>
            <a:spLocks noGrp="1" noChangeArrowheads="1"/>
          </p:cNvSpPr>
          <p:nvPr>
            <p:ph type="body" idx="1"/>
          </p:nvPr>
        </p:nvSpPr>
        <p:spPr>
          <a:xfrm>
            <a:off x="579438" y="1176338"/>
            <a:ext cx="8667750" cy="4114800"/>
          </a:xfrm>
        </p:spPr>
        <p:txBody>
          <a:bodyPr/>
          <a:lstStyle/>
          <a:p>
            <a:pPr eaLnBrk="1" hangingPunct="1"/>
            <a:r>
              <a:rPr lang="zh-CN" altLang="en-US">
                <a:latin typeface="宋体" panose="02010600030101010101" pitchFamily="2" charset="-122"/>
                <a:ea typeface="宋体" panose="02010600030101010101" pitchFamily="2" charset="-122"/>
              </a:rPr>
              <a:t>用离散量表示连续量引起的失真现象</a:t>
            </a:r>
            <a:r>
              <a:rPr lang="zh-CN" altLang="en-US">
                <a:ea typeface="宋体" panose="02010600030101010101" pitchFamily="2" charset="-122"/>
              </a:rPr>
              <a:t>称之为</a:t>
            </a:r>
            <a:r>
              <a:rPr lang="zh-CN" altLang="en-US" b="1">
                <a:ea typeface="宋体" panose="02010600030101010101" pitchFamily="2" charset="-122"/>
              </a:rPr>
              <a:t>走样</a:t>
            </a:r>
            <a:r>
              <a:rPr lang="en-US" altLang="zh-CN">
                <a:ea typeface="宋体" panose="02010600030101010101" pitchFamily="2" charset="-122"/>
              </a:rPr>
              <a:t>(aliasing) </a:t>
            </a:r>
            <a:endParaRPr lang="zh-CN" altLang="en-US">
              <a:ea typeface="宋体" panose="02010600030101010101" pitchFamily="2" charset="-122"/>
            </a:endParaRPr>
          </a:p>
          <a:p>
            <a:pPr eaLnBrk="1" hangingPunct="1"/>
            <a:r>
              <a:rPr lang="zh-CN" altLang="en-US" b="1">
                <a:ea typeface="宋体" panose="02010600030101010101" pitchFamily="2" charset="-122"/>
              </a:rPr>
              <a:t>光栅图形走样现象表现</a:t>
            </a:r>
            <a:endParaRPr lang="zh-CN" altLang="en-US">
              <a:ea typeface="宋体" panose="02010600030101010101" pitchFamily="2" charset="-122"/>
            </a:endParaRPr>
          </a:p>
          <a:p>
            <a:pPr lvl="1" eaLnBrk="1" hangingPunct="1"/>
            <a:r>
              <a:rPr lang="zh-CN" altLang="en-US" sz="3200">
                <a:ea typeface="宋体" panose="02010600030101010101" pitchFamily="2" charset="-122"/>
              </a:rPr>
              <a:t>阶梯状边界</a:t>
            </a:r>
          </a:p>
          <a:p>
            <a:pPr lvl="1" eaLnBrk="1" hangingPunct="1"/>
            <a:r>
              <a:rPr lang="zh-CN" altLang="en-US" sz="3200">
                <a:ea typeface="宋体" panose="02010600030101010101" pitchFamily="2" charset="-122"/>
              </a:rPr>
              <a:t>图形细节失真</a:t>
            </a:r>
          </a:p>
          <a:p>
            <a:pPr lvl="1" eaLnBrk="1" hangingPunct="1"/>
            <a:r>
              <a:rPr lang="zh-CN" altLang="en-US" sz="3200">
                <a:ea typeface="宋体" panose="02010600030101010101" pitchFamily="2" charset="-122"/>
              </a:rPr>
              <a:t>狭小图形遗失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5844">
                                            <p:txEl>
                                              <p:pRg st="0" end="0"/>
                                            </p:txEl>
                                          </p:spTgt>
                                        </p:tgtEl>
                                        <p:attrNameLst>
                                          <p:attrName>style.visibility</p:attrName>
                                        </p:attrNameLst>
                                      </p:cBhvr>
                                      <p:to>
                                        <p:strVal val="visible"/>
                                      </p:to>
                                    </p:set>
                                    <p:animEffect transition="in" filter="blinds(horizontal)">
                                      <p:cBhvr>
                                        <p:cTn id="7" dur="500"/>
                                        <p:tgtEl>
                                          <p:spTgt spid="358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5844">
                                            <p:txEl>
                                              <p:pRg st="1" end="1"/>
                                            </p:txEl>
                                          </p:spTgt>
                                        </p:tgtEl>
                                        <p:attrNameLst>
                                          <p:attrName>style.visibility</p:attrName>
                                        </p:attrNameLst>
                                      </p:cBhvr>
                                      <p:to>
                                        <p:strVal val="visible"/>
                                      </p:to>
                                    </p:set>
                                    <p:animEffect transition="in" filter="blinds(horizontal)">
                                      <p:cBhvr>
                                        <p:cTn id="12" dur="500"/>
                                        <p:tgtEl>
                                          <p:spTgt spid="358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5844">
                                            <p:txEl>
                                              <p:pRg st="2" end="2"/>
                                            </p:txEl>
                                          </p:spTgt>
                                        </p:tgtEl>
                                        <p:attrNameLst>
                                          <p:attrName>style.visibility</p:attrName>
                                        </p:attrNameLst>
                                      </p:cBhvr>
                                      <p:to>
                                        <p:strVal val="visible"/>
                                      </p:to>
                                    </p:set>
                                    <p:animEffect transition="in" filter="blinds(horizontal)">
                                      <p:cBhvr>
                                        <p:cTn id="17" dur="500"/>
                                        <p:tgtEl>
                                          <p:spTgt spid="3584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5844">
                                            <p:txEl>
                                              <p:pRg st="3" end="3"/>
                                            </p:txEl>
                                          </p:spTgt>
                                        </p:tgtEl>
                                        <p:attrNameLst>
                                          <p:attrName>style.visibility</p:attrName>
                                        </p:attrNameLst>
                                      </p:cBhvr>
                                      <p:to>
                                        <p:strVal val="visible"/>
                                      </p:to>
                                    </p:set>
                                    <p:animEffect transition="in" filter="blinds(horizontal)">
                                      <p:cBhvr>
                                        <p:cTn id="22" dur="500"/>
                                        <p:tgtEl>
                                          <p:spTgt spid="3584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5844">
                                            <p:txEl>
                                              <p:pRg st="4" end="4"/>
                                            </p:txEl>
                                          </p:spTgt>
                                        </p:tgtEl>
                                        <p:attrNameLst>
                                          <p:attrName>style.visibility</p:attrName>
                                        </p:attrNameLst>
                                      </p:cBhvr>
                                      <p:to>
                                        <p:strVal val="visible"/>
                                      </p:to>
                                    </p:set>
                                    <p:animEffect transition="in" filter="blinds(horizontal)">
                                      <p:cBhvr>
                                        <p:cTn id="27" dur="500"/>
                                        <p:tgtEl>
                                          <p:spTgt spid="3584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7F4077F-F1CB-45A7-B8AF-4814F8CADB2F}" type="slidenum">
              <a:rPr lang="zh-CN" altLang="en-US" sz="1400" smtClean="0">
                <a:latin typeface="Arial" panose="020B0604020202020204" pitchFamily="34" charset="0"/>
              </a:rPr>
              <a:t>33</a:t>
            </a:fld>
            <a:endParaRPr lang="en-US" altLang="zh-CN" sz="1400">
              <a:latin typeface="Arial" panose="020B0604020202020204" pitchFamily="34" charset="0"/>
            </a:endParaRPr>
          </a:p>
        </p:txBody>
      </p:sp>
      <p:sp>
        <p:nvSpPr>
          <p:cNvPr id="60419"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走样现象举例</a:t>
            </a:r>
          </a:p>
        </p:txBody>
      </p:sp>
      <p:sp>
        <p:nvSpPr>
          <p:cNvPr id="60420" name="Rectangle 3"/>
          <p:cNvSpPr>
            <a:spLocks noGrp="1" noChangeArrowheads="1"/>
          </p:cNvSpPr>
          <p:nvPr>
            <p:ph type="body" idx="1"/>
          </p:nvPr>
        </p:nvSpPr>
        <p:spPr>
          <a:xfrm>
            <a:off x="742950" y="1143000"/>
            <a:ext cx="8420100" cy="4953000"/>
          </a:xfrm>
        </p:spPr>
        <p:txBody>
          <a:bodyPr/>
          <a:lstStyle/>
          <a:p>
            <a:pPr eaLnBrk="1" hangingPunct="1"/>
            <a:r>
              <a:rPr lang="zh-CN" altLang="en-US" b="1" dirty="0">
                <a:ea typeface="宋体" panose="02010600030101010101" pitchFamily="2" charset="-122"/>
              </a:rPr>
              <a:t>不光滑</a:t>
            </a:r>
            <a:r>
              <a:rPr lang="en-US" altLang="zh-CN" b="1" dirty="0">
                <a:ea typeface="宋体" panose="02010600030101010101" pitchFamily="2" charset="-122"/>
              </a:rPr>
              <a:t>(</a:t>
            </a:r>
            <a:r>
              <a:rPr lang="zh-CN" altLang="en-US" b="1" dirty="0">
                <a:ea typeface="宋体" panose="02010600030101010101" pitchFamily="2" charset="-122"/>
              </a:rPr>
              <a:t>阶梯状）的图形边界</a:t>
            </a:r>
          </a:p>
          <a:p>
            <a:pPr lvl="1" eaLnBrk="1" hangingPunct="1"/>
            <a:endParaRPr lang="zh-CN" altLang="en-US" b="1" dirty="0">
              <a:ea typeface="宋体" panose="02010600030101010101" pitchFamily="2" charset="-122"/>
            </a:endParaRPr>
          </a:p>
        </p:txBody>
      </p:sp>
      <p:sp>
        <p:nvSpPr>
          <p:cNvPr id="60422" name="Text Box 5">
            <a:hlinkClick r:id="rId3" action="ppaction://hlinkfile"/>
          </p:cNvPr>
          <p:cNvSpPr txBox="1">
            <a:spLocks noChangeArrowheads="1"/>
          </p:cNvSpPr>
          <p:nvPr/>
        </p:nvSpPr>
        <p:spPr bwMode="auto">
          <a:xfrm>
            <a:off x="2806700" y="5257800"/>
            <a:ext cx="24526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r>
              <a:rPr kumimoji="1" lang="zh-CN" altLang="en-US" sz="2400">
                <a:ea typeface="宋体" panose="02010600030101010101" pitchFamily="2" charset="-122"/>
              </a:rPr>
              <a:t>例子：</a:t>
            </a:r>
            <a:r>
              <a:rPr kumimoji="1" lang="en-US" altLang="zh-CN" sz="2400">
                <a:ea typeface="宋体" panose="02010600030101010101" pitchFamily="2" charset="-122"/>
              </a:rPr>
              <a:t>PaintBrush</a:t>
            </a:r>
          </a:p>
        </p:txBody>
      </p:sp>
      <p:pic>
        <p:nvPicPr>
          <p:cNvPr id="7" name="图片 6"/>
          <p:cNvPicPr>
            <a:picLocks noChangeAspect="1"/>
          </p:cNvPicPr>
          <p:nvPr/>
        </p:nvPicPr>
        <p:blipFill>
          <a:blip r:embed="rId4"/>
          <a:stretch>
            <a:fillRect/>
          </a:stretch>
        </p:blipFill>
        <p:spPr>
          <a:xfrm>
            <a:off x="1824493" y="2526300"/>
            <a:ext cx="2142000" cy="1805400"/>
          </a:xfrm>
          <a:prstGeom prst="rect">
            <a:avLst/>
          </a:prstGeom>
        </p:spPr>
      </p:pic>
      <p:pic>
        <p:nvPicPr>
          <p:cNvPr id="8" name="图片 7"/>
          <p:cNvPicPr>
            <a:picLocks noChangeAspect="1"/>
          </p:cNvPicPr>
          <p:nvPr/>
        </p:nvPicPr>
        <p:blipFill>
          <a:blip r:embed="rId5"/>
          <a:stretch>
            <a:fillRect/>
          </a:stretch>
        </p:blipFill>
        <p:spPr>
          <a:xfrm>
            <a:off x="4767631" y="2550363"/>
            <a:ext cx="2223600" cy="175440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7B321F57-B3BD-4184-AAB9-94D7E4E291BA}" type="slidenum">
              <a:rPr lang="zh-CN" altLang="en-US" sz="1400" smtClean="0">
                <a:latin typeface="Arial" panose="020B0604020202020204" pitchFamily="34" charset="0"/>
              </a:rPr>
              <a:t>34</a:t>
            </a:fld>
            <a:endParaRPr lang="en-US" altLang="zh-CN" sz="1400">
              <a:latin typeface="Arial" panose="020B0604020202020204" pitchFamily="34" charset="0"/>
            </a:endParaRPr>
          </a:p>
        </p:txBody>
      </p:sp>
      <p:sp>
        <p:nvSpPr>
          <p:cNvPr id="61443"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走样现象举例</a:t>
            </a:r>
          </a:p>
        </p:txBody>
      </p:sp>
      <p:sp>
        <p:nvSpPr>
          <p:cNvPr id="61444" name="Rectangle 3"/>
          <p:cNvSpPr>
            <a:spLocks noGrp="1" noChangeArrowheads="1"/>
          </p:cNvSpPr>
          <p:nvPr>
            <p:ph type="body" idx="1"/>
          </p:nvPr>
        </p:nvSpPr>
        <p:spPr>
          <a:xfrm>
            <a:off x="742950" y="1219200"/>
            <a:ext cx="8420100" cy="4876800"/>
          </a:xfrm>
        </p:spPr>
        <p:txBody>
          <a:bodyPr/>
          <a:lstStyle/>
          <a:p>
            <a:pPr eaLnBrk="1" hangingPunct="1"/>
            <a:r>
              <a:rPr lang="zh-CN" altLang="en-US" b="1">
                <a:ea typeface="宋体" panose="02010600030101010101" pitchFamily="2" charset="-122"/>
              </a:rPr>
              <a:t>图形细节失真</a:t>
            </a:r>
          </a:p>
        </p:txBody>
      </p:sp>
      <p:pic>
        <p:nvPicPr>
          <p:cNvPr id="15"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425" y="2158206"/>
            <a:ext cx="5645150" cy="254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8469D5F0-22B9-42F7-A43C-CF1E28428102}" type="slidenum">
              <a:rPr lang="zh-CN" altLang="en-US" sz="1400" smtClean="0">
                <a:latin typeface="Arial" panose="020B0604020202020204" pitchFamily="34" charset="0"/>
              </a:rPr>
              <a:t>35</a:t>
            </a:fld>
            <a:endParaRPr lang="en-US" altLang="zh-CN" sz="1400">
              <a:latin typeface="Arial" panose="020B0604020202020204" pitchFamily="34" charset="0"/>
            </a:endParaRPr>
          </a:p>
        </p:txBody>
      </p:sp>
      <p:sp>
        <p:nvSpPr>
          <p:cNvPr id="62467"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走样现象举例</a:t>
            </a:r>
          </a:p>
        </p:txBody>
      </p:sp>
      <p:sp>
        <p:nvSpPr>
          <p:cNvPr id="62468" name="Rectangle 3"/>
          <p:cNvSpPr>
            <a:spLocks noGrp="1" noChangeArrowheads="1"/>
          </p:cNvSpPr>
          <p:nvPr>
            <p:ph type="body" idx="1"/>
          </p:nvPr>
        </p:nvSpPr>
        <p:spPr>
          <a:xfrm>
            <a:off x="742950" y="1219200"/>
            <a:ext cx="8420100" cy="4876800"/>
          </a:xfrm>
        </p:spPr>
        <p:txBody>
          <a:bodyPr/>
          <a:lstStyle/>
          <a:p>
            <a:pPr eaLnBrk="1" hangingPunct="1"/>
            <a:r>
              <a:rPr lang="zh-CN" altLang="en-US" b="1" dirty="0">
                <a:ea typeface="宋体" panose="02010600030101010101" pitchFamily="2" charset="-122"/>
              </a:rPr>
              <a:t>狭小图形的遗失与动态图形的</a:t>
            </a:r>
            <a:r>
              <a:rPr lang="zh-CN" altLang="en-US" b="1" dirty="0">
                <a:highlight>
                  <a:srgbClr val="FFFF00"/>
                </a:highlight>
                <a:ea typeface="宋体" panose="02010600030101010101" pitchFamily="2" charset="-122"/>
              </a:rPr>
              <a:t>闪烁</a:t>
            </a:r>
          </a:p>
        </p:txBody>
      </p:sp>
      <p:pic>
        <p:nvPicPr>
          <p:cNvPr id="62470" name="Picture 5" descr="5P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450" y="1752600"/>
            <a:ext cx="2719388"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p:cNvPicPr>
            <a:picLocks noChangeAspect="1"/>
          </p:cNvPicPr>
          <p:nvPr/>
        </p:nvPicPr>
        <p:blipFill>
          <a:blip r:embed="rId4"/>
          <a:stretch>
            <a:fillRect/>
          </a:stretch>
        </p:blipFill>
        <p:spPr>
          <a:xfrm>
            <a:off x="1118005" y="2059295"/>
            <a:ext cx="2111400" cy="1897200"/>
          </a:xfrm>
          <a:prstGeom prst="rect">
            <a:avLst/>
          </a:prstGeom>
        </p:spPr>
      </p:pic>
      <p:pic>
        <p:nvPicPr>
          <p:cNvPr id="3" name="图片 2"/>
          <p:cNvPicPr>
            <a:picLocks noChangeAspect="1"/>
          </p:cNvPicPr>
          <p:nvPr/>
        </p:nvPicPr>
        <p:blipFill>
          <a:blip r:embed="rId5"/>
          <a:stretch>
            <a:fillRect/>
          </a:stretch>
        </p:blipFill>
        <p:spPr>
          <a:xfrm>
            <a:off x="1118005" y="4141370"/>
            <a:ext cx="2111400" cy="1815600"/>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05A6F8-0B1D-4500-A8AC-A03BC8356584}" type="slidenum">
              <a:rPr lang="zh-CN" altLang="en-US" sz="1400" smtClean="0">
                <a:latin typeface="Arial" panose="020B0604020202020204" pitchFamily="34" charset="0"/>
              </a:rPr>
              <a:t>36</a:t>
            </a:fld>
            <a:endParaRPr lang="en-US" altLang="zh-CN" sz="1400">
              <a:latin typeface="Arial" panose="020B0604020202020204" pitchFamily="34" charset="0"/>
            </a:endParaRPr>
          </a:p>
        </p:txBody>
      </p:sp>
      <p:sp>
        <p:nvSpPr>
          <p:cNvPr id="63491" name="Rectangle 2"/>
          <p:cNvSpPr>
            <a:spLocks noGrp="1" noChangeArrowheads="1"/>
          </p:cNvSpPr>
          <p:nvPr>
            <p:ph type="title"/>
          </p:nvPr>
        </p:nvSpPr>
        <p:spPr>
          <a:xfrm>
            <a:off x="1238250" y="0"/>
            <a:ext cx="784225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反走样概念及方法</a:t>
            </a:r>
          </a:p>
        </p:txBody>
      </p:sp>
      <p:sp>
        <p:nvSpPr>
          <p:cNvPr id="39940" name="Rectangle 3"/>
          <p:cNvSpPr>
            <a:spLocks noGrp="1" noChangeArrowheads="1"/>
          </p:cNvSpPr>
          <p:nvPr>
            <p:ph type="body" idx="1"/>
          </p:nvPr>
        </p:nvSpPr>
        <p:spPr>
          <a:xfrm>
            <a:off x="427038" y="1165225"/>
            <a:ext cx="8420100" cy="4724400"/>
          </a:xfrm>
        </p:spPr>
        <p:txBody>
          <a:bodyPr/>
          <a:lstStyle/>
          <a:p>
            <a:pPr eaLnBrk="1" hangingPunct="1"/>
            <a:r>
              <a:rPr lang="zh-CN" altLang="en-US">
                <a:ea typeface="宋体" panose="02010600030101010101" pitchFamily="2" charset="-122"/>
              </a:rPr>
              <a:t>用于减少或消除走样现象的技术称为</a:t>
            </a:r>
            <a:r>
              <a:rPr lang="zh-CN" altLang="en-US" b="1">
                <a:ea typeface="宋体" panose="02010600030101010101" pitchFamily="2" charset="-122"/>
              </a:rPr>
              <a:t>反走样</a:t>
            </a:r>
            <a:r>
              <a:rPr lang="en-US" altLang="zh-CN">
                <a:ea typeface="宋体" panose="02010600030101010101" pitchFamily="2" charset="-122"/>
              </a:rPr>
              <a:t>(antialiasing)</a:t>
            </a:r>
          </a:p>
          <a:p>
            <a:pPr eaLnBrk="1" hangingPunct="1">
              <a:spcBef>
                <a:spcPts val="1300"/>
              </a:spcBef>
              <a:spcAft>
                <a:spcPts val="1300"/>
              </a:spcAft>
              <a:buFont typeface="Times New Roman" panose="02020603050405020304" pitchFamily="18" charset="0"/>
              <a:buChar char="–"/>
            </a:pPr>
            <a:r>
              <a:rPr lang="zh-CN" altLang="en-US">
                <a:ea typeface="宋体" panose="02010600030101010101" pitchFamily="2" charset="-122"/>
              </a:rPr>
              <a:t>提高分辨率</a:t>
            </a:r>
            <a:endParaRPr lang="zh-CN" altLang="en-US" b="1">
              <a:ea typeface="宋体" panose="02010600030101010101" pitchFamily="2" charset="-122"/>
            </a:endParaRPr>
          </a:p>
          <a:p>
            <a:pPr eaLnBrk="1" hangingPunct="1">
              <a:spcBef>
                <a:spcPts val="1300"/>
              </a:spcBef>
              <a:spcAft>
                <a:spcPts val="1300"/>
              </a:spcAft>
              <a:buFont typeface="Times New Roman" panose="02020603050405020304" pitchFamily="18" charset="0"/>
              <a:buChar char="–"/>
            </a:pPr>
            <a:r>
              <a:rPr lang="zh-CN" altLang="en-US">
                <a:ea typeface="宋体" panose="02010600030101010101" pitchFamily="2" charset="-122"/>
              </a:rPr>
              <a:t>简单区域取样</a:t>
            </a:r>
            <a:endParaRPr lang="zh-CN" altLang="en-US" b="1">
              <a:ea typeface="宋体" panose="02010600030101010101" pitchFamily="2" charset="-122"/>
            </a:endParaRPr>
          </a:p>
          <a:p>
            <a:pPr eaLnBrk="1" hangingPunct="1">
              <a:buFont typeface="Times New Roman" panose="02020603050405020304" pitchFamily="18" charset="0"/>
              <a:buChar char="–"/>
            </a:pPr>
            <a:r>
              <a:rPr lang="zh-CN" altLang="en-US">
                <a:ea typeface="宋体" panose="02010600030101010101" pitchFamily="2" charset="-122"/>
              </a:rPr>
              <a:t>加权区域取样</a:t>
            </a:r>
          </a:p>
          <a:p>
            <a:pPr eaLnBrk="1" hangingPunct="1"/>
            <a:endParaRPr lang="zh-CN" altLang="en-US">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940">
                                            <p:txEl>
                                              <p:pRg st="0" end="0"/>
                                            </p:txEl>
                                          </p:spTgt>
                                        </p:tgtEl>
                                        <p:attrNameLst>
                                          <p:attrName>style.visibility</p:attrName>
                                        </p:attrNameLst>
                                      </p:cBhvr>
                                      <p:to>
                                        <p:strVal val="visible"/>
                                      </p:to>
                                    </p:set>
                                    <p:animEffect transition="in" filter="blinds(horizontal)">
                                      <p:cBhvr>
                                        <p:cTn id="7" dur="500"/>
                                        <p:tgtEl>
                                          <p:spTgt spid="399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940">
                                            <p:txEl>
                                              <p:pRg st="1" end="1"/>
                                            </p:txEl>
                                          </p:spTgt>
                                        </p:tgtEl>
                                        <p:attrNameLst>
                                          <p:attrName>style.visibility</p:attrName>
                                        </p:attrNameLst>
                                      </p:cBhvr>
                                      <p:to>
                                        <p:strVal val="visible"/>
                                      </p:to>
                                    </p:set>
                                    <p:animEffect transition="in" filter="blinds(horizontal)">
                                      <p:cBhvr>
                                        <p:cTn id="12" dur="500"/>
                                        <p:tgtEl>
                                          <p:spTgt spid="399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940">
                                            <p:txEl>
                                              <p:pRg st="2" end="2"/>
                                            </p:txEl>
                                          </p:spTgt>
                                        </p:tgtEl>
                                        <p:attrNameLst>
                                          <p:attrName>style.visibility</p:attrName>
                                        </p:attrNameLst>
                                      </p:cBhvr>
                                      <p:to>
                                        <p:strVal val="visible"/>
                                      </p:to>
                                    </p:set>
                                    <p:animEffect transition="in" filter="blinds(horizontal)">
                                      <p:cBhvr>
                                        <p:cTn id="17" dur="500"/>
                                        <p:tgtEl>
                                          <p:spTgt spid="399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9940">
                                            <p:txEl>
                                              <p:pRg st="3" end="3"/>
                                            </p:txEl>
                                          </p:spTgt>
                                        </p:tgtEl>
                                        <p:attrNameLst>
                                          <p:attrName>style.visibility</p:attrName>
                                        </p:attrNameLst>
                                      </p:cBhvr>
                                      <p:to>
                                        <p:strVal val="visible"/>
                                      </p:to>
                                    </p:set>
                                    <p:animEffect transition="in" filter="blinds(horizontal)">
                                      <p:cBhvr>
                                        <p:cTn id="22" dur="500"/>
                                        <p:tgtEl>
                                          <p:spTgt spid="3994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8685976-A468-4006-B8B3-850D55429600}" type="slidenum">
              <a:rPr lang="zh-CN" altLang="en-US" sz="1400" smtClean="0">
                <a:latin typeface="Arial" panose="020B0604020202020204" pitchFamily="34" charset="0"/>
              </a:rPr>
              <a:t>37</a:t>
            </a:fld>
            <a:endParaRPr lang="en-US" altLang="zh-CN" sz="1400">
              <a:latin typeface="Arial" panose="020B0604020202020204" pitchFamily="34" charset="0"/>
            </a:endParaRPr>
          </a:p>
        </p:txBody>
      </p:sp>
      <p:sp>
        <p:nvSpPr>
          <p:cNvPr id="64515" name="Rectangle 2"/>
          <p:cNvSpPr>
            <a:spLocks noGrp="1" noChangeArrowheads="1"/>
          </p:cNvSpPr>
          <p:nvPr>
            <p:ph type="title"/>
          </p:nvPr>
        </p:nvSpPr>
        <p:spPr>
          <a:xfrm>
            <a:off x="1238250" y="0"/>
            <a:ext cx="784225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提高分辨率</a:t>
            </a:r>
          </a:p>
        </p:txBody>
      </p:sp>
      <p:sp>
        <p:nvSpPr>
          <p:cNvPr id="64516" name="Rectangle 3"/>
          <p:cNvSpPr>
            <a:spLocks noGrp="1" noChangeArrowheads="1"/>
          </p:cNvSpPr>
          <p:nvPr>
            <p:ph type="body" idx="1"/>
          </p:nvPr>
        </p:nvSpPr>
        <p:spPr>
          <a:xfrm>
            <a:off x="742950" y="1143000"/>
            <a:ext cx="8420100" cy="4953000"/>
          </a:xfrm>
        </p:spPr>
        <p:txBody>
          <a:bodyPr/>
          <a:lstStyle/>
          <a:p>
            <a:pPr eaLnBrk="1" hangingPunct="1"/>
            <a:r>
              <a:rPr lang="zh-CN" altLang="en-US" dirty="0">
                <a:latin typeface="宋体" panose="02010600030101010101" pitchFamily="2" charset="-122"/>
                <a:ea typeface="宋体" panose="02010600030101010101" pitchFamily="2" charset="-122"/>
              </a:rPr>
              <a:t>把显示器分辨率提高一倍，</a:t>
            </a:r>
          </a:p>
          <a:p>
            <a:pPr lvl="1" eaLnBrk="1" hangingPunct="1"/>
            <a:r>
              <a:rPr lang="zh-CN" altLang="en-US" dirty="0">
                <a:latin typeface="宋体" panose="02010600030101010101" pitchFamily="2" charset="-122"/>
                <a:ea typeface="宋体" panose="02010600030101010101" pitchFamily="2" charset="-122"/>
              </a:rPr>
              <a:t>直线经过两倍的像素，锯齿也增加一倍</a:t>
            </a:r>
          </a:p>
          <a:p>
            <a:pPr lvl="1" eaLnBrk="1" hangingPunct="1"/>
            <a:r>
              <a:rPr lang="zh-CN" altLang="en-US" dirty="0">
                <a:latin typeface="宋体" panose="02010600030101010101" pitchFamily="2" charset="-122"/>
                <a:ea typeface="宋体" panose="02010600030101010101" pitchFamily="2" charset="-122"/>
              </a:rPr>
              <a:t>同时每个阶梯的宽度也减小了一倍</a:t>
            </a:r>
          </a:p>
          <a:p>
            <a:pPr lvl="1" eaLnBrk="1" hangingPunct="1"/>
            <a:r>
              <a:rPr lang="zh-CN" altLang="en-US" dirty="0">
                <a:latin typeface="宋体" panose="02010600030101010101" pitchFamily="2" charset="-122"/>
                <a:ea typeface="宋体" panose="02010600030101010101" pitchFamily="2" charset="-122"/>
              </a:rPr>
              <a:t>显示直线段看起来就平直光滑些</a:t>
            </a:r>
          </a:p>
        </p:txBody>
      </p:sp>
      <p:grpSp>
        <p:nvGrpSpPr>
          <p:cNvPr id="64517" name="Group 4"/>
          <p:cNvGrpSpPr/>
          <p:nvPr/>
        </p:nvGrpSpPr>
        <p:grpSpPr bwMode="auto">
          <a:xfrm>
            <a:off x="1403350" y="3733800"/>
            <a:ext cx="6934200" cy="2209800"/>
            <a:chOff x="2014" y="12394"/>
            <a:chExt cx="6333" cy="2027"/>
          </a:xfrm>
        </p:grpSpPr>
        <p:grpSp>
          <p:nvGrpSpPr>
            <p:cNvPr id="64518" name="Group 5"/>
            <p:cNvGrpSpPr/>
            <p:nvPr/>
          </p:nvGrpSpPr>
          <p:grpSpPr bwMode="auto">
            <a:xfrm>
              <a:off x="2014" y="12394"/>
              <a:ext cx="2600" cy="2027"/>
              <a:chOff x="2401" y="12504"/>
              <a:chExt cx="2801" cy="2510"/>
            </a:xfrm>
          </p:grpSpPr>
          <p:sp>
            <p:nvSpPr>
              <p:cNvPr id="64651" name="Oval 6"/>
              <p:cNvSpPr>
                <a:spLocks noChangeArrowheads="1"/>
              </p:cNvSpPr>
              <p:nvPr/>
            </p:nvSpPr>
            <p:spPr bwMode="auto">
              <a:xfrm>
                <a:off x="2634" y="12598"/>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2" name="Oval 7"/>
              <p:cNvSpPr>
                <a:spLocks noChangeArrowheads="1"/>
              </p:cNvSpPr>
              <p:nvPr/>
            </p:nvSpPr>
            <p:spPr bwMode="auto">
              <a:xfrm>
                <a:off x="3054" y="12612"/>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3" name="Oval 8"/>
              <p:cNvSpPr>
                <a:spLocks noChangeArrowheads="1"/>
              </p:cNvSpPr>
              <p:nvPr/>
            </p:nvSpPr>
            <p:spPr bwMode="auto">
              <a:xfrm>
                <a:off x="3474" y="12612"/>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4" name="Oval 9"/>
              <p:cNvSpPr>
                <a:spLocks noChangeArrowheads="1"/>
              </p:cNvSpPr>
              <p:nvPr/>
            </p:nvSpPr>
            <p:spPr bwMode="auto">
              <a:xfrm>
                <a:off x="3895" y="12612"/>
                <a:ext cx="394"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5" name="Oval 10"/>
              <p:cNvSpPr>
                <a:spLocks noChangeArrowheads="1"/>
              </p:cNvSpPr>
              <p:nvPr/>
            </p:nvSpPr>
            <p:spPr bwMode="auto">
              <a:xfrm>
                <a:off x="4302" y="12612"/>
                <a:ext cx="392"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6" name="Oval 11"/>
              <p:cNvSpPr>
                <a:spLocks noChangeArrowheads="1"/>
              </p:cNvSpPr>
              <p:nvPr/>
            </p:nvSpPr>
            <p:spPr bwMode="auto">
              <a:xfrm>
                <a:off x="4722" y="12612"/>
                <a:ext cx="393" cy="44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7" name="Oval 12"/>
              <p:cNvSpPr>
                <a:spLocks noChangeArrowheads="1"/>
              </p:cNvSpPr>
              <p:nvPr/>
            </p:nvSpPr>
            <p:spPr bwMode="auto">
              <a:xfrm>
                <a:off x="2634" y="13067"/>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8" name="Oval 13"/>
              <p:cNvSpPr>
                <a:spLocks noChangeArrowheads="1"/>
              </p:cNvSpPr>
              <p:nvPr/>
            </p:nvSpPr>
            <p:spPr bwMode="auto">
              <a:xfrm>
                <a:off x="3054" y="13096"/>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9" name="Oval 14"/>
              <p:cNvSpPr>
                <a:spLocks noChangeArrowheads="1"/>
              </p:cNvSpPr>
              <p:nvPr/>
            </p:nvSpPr>
            <p:spPr bwMode="auto">
              <a:xfrm>
                <a:off x="3474" y="13096"/>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0" name="Oval 15"/>
              <p:cNvSpPr>
                <a:spLocks noChangeArrowheads="1"/>
              </p:cNvSpPr>
              <p:nvPr/>
            </p:nvSpPr>
            <p:spPr bwMode="auto">
              <a:xfrm>
                <a:off x="3896" y="13082"/>
                <a:ext cx="393" cy="44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1" name="Oval 16"/>
              <p:cNvSpPr>
                <a:spLocks noChangeArrowheads="1"/>
              </p:cNvSpPr>
              <p:nvPr/>
            </p:nvSpPr>
            <p:spPr bwMode="auto">
              <a:xfrm>
                <a:off x="4302" y="13082"/>
                <a:ext cx="392" cy="44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2" name="Oval 17"/>
              <p:cNvSpPr>
                <a:spLocks noChangeArrowheads="1"/>
              </p:cNvSpPr>
              <p:nvPr/>
            </p:nvSpPr>
            <p:spPr bwMode="auto">
              <a:xfrm>
                <a:off x="4723" y="13082"/>
                <a:ext cx="392"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3" name="Oval 18"/>
              <p:cNvSpPr>
                <a:spLocks noChangeArrowheads="1"/>
              </p:cNvSpPr>
              <p:nvPr/>
            </p:nvSpPr>
            <p:spPr bwMode="auto">
              <a:xfrm>
                <a:off x="2634" y="13524"/>
                <a:ext cx="393"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4" name="Oval 19"/>
              <p:cNvSpPr>
                <a:spLocks noChangeArrowheads="1"/>
              </p:cNvSpPr>
              <p:nvPr/>
            </p:nvSpPr>
            <p:spPr bwMode="auto">
              <a:xfrm>
                <a:off x="3054" y="13538"/>
                <a:ext cx="393" cy="446"/>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5" name="Oval 20"/>
              <p:cNvSpPr>
                <a:spLocks noChangeArrowheads="1"/>
              </p:cNvSpPr>
              <p:nvPr/>
            </p:nvSpPr>
            <p:spPr bwMode="auto">
              <a:xfrm>
                <a:off x="3474" y="13538"/>
                <a:ext cx="393" cy="446"/>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6" name="Oval 21"/>
              <p:cNvSpPr>
                <a:spLocks noChangeArrowheads="1"/>
              </p:cNvSpPr>
              <p:nvPr/>
            </p:nvSpPr>
            <p:spPr bwMode="auto">
              <a:xfrm>
                <a:off x="3880" y="13538"/>
                <a:ext cx="392"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7" name="Oval 22"/>
              <p:cNvSpPr>
                <a:spLocks noChangeArrowheads="1"/>
              </p:cNvSpPr>
              <p:nvPr/>
            </p:nvSpPr>
            <p:spPr bwMode="auto">
              <a:xfrm>
                <a:off x="4302" y="13538"/>
                <a:ext cx="392"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8" name="Oval 23"/>
              <p:cNvSpPr>
                <a:spLocks noChangeArrowheads="1"/>
              </p:cNvSpPr>
              <p:nvPr/>
            </p:nvSpPr>
            <p:spPr bwMode="auto">
              <a:xfrm>
                <a:off x="4723" y="13538"/>
                <a:ext cx="392"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69" name="Oval 24"/>
              <p:cNvSpPr>
                <a:spLocks noChangeArrowheads="1"/>
              </p:cNvSpPr>
              <p:nvPr/>
            </p:nvSpPr>
            <p:spPr bwMode="auto">
              <a:xfrm>
                <a:off x="2634" y="13972"/>
                <a:ext cx="393" cy="44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0" name="Oval 25"/>
              <p:cNvSpPr>
                <a:spLocks noChangeArrowheads="1"/>
              </p:cNvSpPr>
              <p:nvPr/>
            </p:nvSpPr>
            <p:spPr bwMode="auto">
              <a:xfrm>
                <a:off x="3054" y="13972"/>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1" name="Oval 26"/>
              <p:cNvSpPr>
                <a:spLocks noChangeArrowheads="1"/>
              </p:cNvSpPr>
              <p:nvPr/>
            </p:nvSpPr>
            <p:spPr bwMode="auto">
              <a:xfrm>
                <a:off x="3474" y="13986"/>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2" name="Oval 27"/>
              <p:cNvSpPr>
                <a:spLocks noChangeArrowheads="1"/>
              </p:cNvSpPr>
              <p:nvPr/>
            </p:nvSpPr>
            <p:spPr bwMode="auto">
              <a:xfrm>
                <a:off x="3896" y="13986"/>
                <a:ext cx="393"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3" name="Oval 28"/>
              <p:cNvSpPr>
                <a:spLocks noChangeArrowheads="1"/>
              </p:cNvSpPr>
              <p:nvPr/>
            </p:nvSpPr>
            <p:spPr bwMode="auto">
              <a:xfrm>
                <a:off x="4302" y="13986"/>
                <a:ext cx="392"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4" name="Oval 29"/>
              <p:cNvSpPr>
                <a:spLocks noChangeArrowheads="1"/>
              </p:cNvSpPr>
              <p:nvPr/>
            </p:nvSpPr>
            <p:spPr bwMode="auto">
              <a:xfrm>
                <a:off x="4723" y="13986"/>
                <a:ext cx="392" cy="44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5" name="Oval 30"/>
              <p:cNvSpPr>
                <a:spLocks noChangeArrowheads="1"/>
              </p:cNvSpPr>
              <p:nvPr/>
            </p:nvSpPr>
            <p:spPr bwMode="auto">
              <a:xfrm>
                <a:off x="2634" y="14452"/>
                <a:ext cx="393"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6" name="Oval 31"/>
              <p:cNvSpPr>
                <a:spLocks noChangeArrowheads="1"/>
              </p:cNvSpPr>
              <p:nvPr/>
            </p:nvSpPr>
            <p:spPr bwMode="auto">
              <a:xfrm>
                <a:off x="3054" y="14467"/>
                <a:ext cx="393"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7" name="Oval 32"/>
              <p:cNvSpPr>
                <a:spLocks noChangeArrowheads="1"/>
              </p:cNvSpPr>
              <p:nvPr/>
            </p:nvSpPr>
            <p:spPr bwMode="auto">
              <a:xfrm>
                <a:off x="3474" y="14467"/>
                <a:ext cx="393"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8" name="Oval 33"/>
              <p:cNvSpPr>
                <a:spLocks noChangeArrowheads="1"/>
              </p:cNvSpPr>
              <p:nvPr/>
            </p:nvSpPr>
            <p:spPr bwMode="auto">
              <a:xfrm>
                <a:off x="3896" y="14467"/>
                <a:ext cx="393"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79" name="Oval 34"/>
              <p:cNvSpPr>
                <a:spLocks noChangeArrowheads="1"/>
              </p:cNvSpPr>
              <p:nvPr/>
            </p:nvSpPr>
            <p:spPr bwMode="auto">
              <a:xfrm>
                <a:off x="4302" y="14467"/>
                <a:ext cx="392"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80" name="Oval 35"/>
              <p:cNvSpPr>
                <a:spLocks noChangeArrowheads="1"/>
              </p:cNvSpPr>
              <p:nvPr/>
            </p:nvSpPr>
            <p:spPr bwMode="auto">
              <a:xfrm>
                <a:off x="4723" y="14467"/>
                <a:ext cx="392" cy="446"/>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81" name="Line 36"/>
              <p:cNvSpPr>
                <a:spLocks noChangeShapeType="1"/>
              </p:cNvSpPr>
              <p:nvPr/>
            </p:nvSpPr>
            <p:spPr bwMode="auto">
              <a:xfrm flipH="1">
                <a:off x="2401" y="12704"/>
                <a:ext cx="2699" cy="1481"/>
              </a:xfrm>
              <a:prstGeom prst="line">
                <a:avLst/>
              </a:prstGeom>
              <a:noFill/>
              <a:ln w="12700">
                <a:solidFill>
                  <a:srgbClr val="FFFFFF"/>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2" name="Line 37"/>
              <p:cNvSpPr>
                <a:spLocks noChangeShapeType="1"/>
              </p:cNvSpPr>
              <p:nvPr/>
            </p:nvSpPr>
            <p:spPr bwMode="auto">
              <a:xfrm>
                <a:off x="2822" y="12504"/>
                <a:ext cx="1"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3" name="Line 38"/>
              <p:cNvSpPr>
                <a:spLocks noChangeShapeType="1"/>
              </p:cNvSpPr>
              <p:nvPr/>
            </p:nvSpPr>
            <p:spPr bwMode="auto">
              <a:xfrm>
                <a:off x="3257" y="12519"/>
                <a:ext cx="1"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4" name="Line 39"/>
              <p:cNvSpPr>
                <a:spLocks noChangeShapeType="1"/>
              </p:cNvSpPr>
              <p:nvPr/>
            </p:nvSpPr>
            <p:spPr bwMode="auto">
              <a:xfrm>
                <a:off x="3663" y="12532"/>
                <a:ext cx="1"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5" name="Line 40"/>
              <p:cNvSpPr>
                <a:spLocks noChangeShapeType="1"/>
              </p:cNvSpPr>
              <p:nvPr/>
            </p:nvSpPr>
            <p:spPr bwMode="auto">
              <a:xfrm>
                <a:off x="4084" y="12532"/>
                <a:ext cx="0"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6" name="Line 41"/>
              <p:cNvSpPr>
                <a:spLocks noChangeShapeType="1"/>
              </p:cNvSpPr>
              <p:nvPr/>
            </p:nvSpPr>
            <p:spPr bwMode="auto">
              <a:xfrm>
                <a:off x="4490" y="12532"/>
                <a:ext cx="1"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7" name="Line 42"/>
              <p:cNvSpPr>
                <a:spLocks noChangeShapeType="1"/>
              </p:cNvSpPr>
              <p:nvPr/>
            </p:nvSpPr>
            <p:spPr bwMode="auto">
              <a:xfrm>
                <a:off x="4911" y="12532"/>
                <a:ext cx="0" cy="87"/>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8" name="Line 43"/>
              <p:cNvSpPr>
                <a:spLocks noChangeShapeType="1"/>
              </p:cNvSpPr>
              <p:nvPr/>
            </p:nvSpPr>
            <p:spPr bwMode="auto">
              <a:xfrm>
                <a:off x="2822" y="14922"/>
                <a:ext cx="1"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89" name="Line 44"/>
              <p:cNvSpPr>
                <a:spLocks noChangeShapeType="1"/>
              </p:cNvSpPr>
              <p:nvPr/>
            </p:nvSpPr>
            <p:spPr bwMode="auto">
              <a:xfrm>
                <a:off x="3272" y="14917"/>
                <a:ext cx="1"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0" name="Line 45"/>
              <p:cNvSpPr>
                <a:spLocks noChangeShapeType="1"/>
              </p:cNvSpPr>
              <p:nvPr/>
            </p:nvSpPr>
            <p:spPr bwMode="auto">
              <a:xfrm>
                <a:off x="3663" y="14926"/>
                <a:ext cx="1"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1" name="Line 46"/>
              <p:cNvSpPr>
                <a:spLocks noChangeShapeType="1"/>
              </p:cNvSpPr>
              <p:nvPr/>
            </p:nvSpPr>
            <p:spPr bwMode="auto">
              <a:xfrm>
                <a:off x="4084" y="14926"/>
                <a:ext cx="0"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2" name="Line 47"/>
              <p:cNvSpPr>
                <a:spLocks noChangeShapeType="1"/>
              </p:cNvSpPr>
              <p:nvPr/>
            </p:nvSpPr>
            <p:spPr bwMode="auto">
              <a:xfrm>
                <a:off x="4490" y="14912"/>
                <a:ext cx="1"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3" name="Line 48"/>
              <p:cNvSpPr>
                <a:spLocks noChangeShapeType="1"/>
              </p:cNvSpPr>
              <p:nvPr/>
            </p:nvSpPr>
            <p:spPr bwMode="auto">
              <a:xfrm>
                <a:off x="4925" y="14926"/>
                <a:ext cx="1" cy="88"/>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4" name="Line 49"/>
              <p:cNvSpPr>
                <a:spLocks noChangeShapeType="1"/>
              </p:cNvSpPr>
              <p:nvPr/>
            </p:nvSpPr>
            <p:spPr bwMode="auto">
              <a:xfrm>
                <a:off x="2547" y="14673"/>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5" name="Line 50"/>
              <p:cNvSpPr>
                <a:spLocks noChangeShapeType="1"/>
              </p:cNvSpPr>
              <p:nvPr/>
            </p:nvSpPr>
            <p:spPr bwMode="auto">
              <a:xfrm>
                <a:off x="2560" y="14183"/>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6" name="Line 51"/>
              <p:cNvSpPr>
                <a:spLocks noChangeShapeType="1"/>
              </p:cNvSpPr>
              <p:nvPr/>
            </p:nvSpPr>
            <p:spPr bwMode="auto">
              <a:xfrm>
                <a:off x="2575" y="13743"/>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7" name="Line 52"/>
              <p:cNvSpPr>
                <a:spLocks noChangeShapeType="1"/>
              </p:cNvSpPr>
              <p:nvPr/>
            </p:nvSpPr>
            <p:spPr bwMode="auto">
              <a:xfrm>
                <a:off x="2560" y="13264"/>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8" name="Line 53"/>
              <p:cNvSpPr>
                <a:spLocks noChangeShapeType="1"/>
              </p:cNvSpPr>
              <p:nvPr/>
            </p:nvSpPr>
            <p:spPr bwMode="auto">
              <a:xfrm>
                <a:off x="2560" y="12818"/>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699" name="Line 54"/>
              <p:cNvSpPr>
                <a:spLocks noChangeShapeType="1"/>
              </p:cNvSpPr>
              <p:nvPr/>
            </p:nvSpPr>
            <p:spPr bwMode="auto">
              <a:xfrm>
                <a:off x="5128" y="12813"/>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700" name="Line 55"/>
              <p:cNvSpPr>
                <a:spLocks noChangeShapeType="1"/>
              </p:cNvSpPr>
              <p:nvPr/>
            </p:nvSpPr>
            <p:spPr bwMode="auto">
              <a:xfrm>
                <a:off x="5128" y="13302"/>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701" name="Line 56"/>
              <p:cNvSpPr>
                <a:spLocks noChangeShapeType="1"/>
              </p:cNvSpPr>
              <p:nvPr/>
            </p:nvSpPr>
            <p:spPr bwMode="auto">
              <a:xfrm>
                <a:off x="5128" y="13756"/>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702" name="Line 57"/>
              <p:cNvSpPr>
                <a:spLocks noChangeShapeType="1"/>
              </p:cNvSpPr>
              <p:nvPr/>
            </p:nvSpPr>
            <p:spPr bwMode="auto">
              <a:xfrm>
                <a:off x="5128" y="14197"/>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703" name="Line 58"/>
              <p:cNvSpPr>
                <a:spLocks noChangeShapeType="1"/>
              </p:cNvSpPr>
              <p:nvPr/>
            </p:nvSpPr>
            <p:spPr bwMode="auto">
              <a:xfrm>
                <a:off x="5128" y="14696"/>
                <a:ext cx="74" cy="1"/>
              </a:xfrm>
              <a:prstGeom prst="line">
                <a:avLst/>
              </a:prstGeom>
              <a:noFill/>
              <a:ln w="635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19" name="Group 59"/>
            <p:cNvGrpSpPr/>
            <p:nvPr/>
          </p:nvGrpSpPr>
          <p:grpSpPr bwMode="auto">
            <a:xfrm>
              <a:off x="5499" y="12394"/>
              <a:ext cx="2848" cy="1609"/>
              <a:chOff x="5499" y="12394"/>
              <a:chExt cx="2848" cy="1609"/>
            </a:xfrm>
          </p:grpSpPr>
          <p:grpSp>
            <p:nvGrpSpPr>
              <p:cNvPr id="64520" name="Group 60"/>
              <p:cNvGrpSpPr/>
              <p:nvPr/>
            </p:nvGrpSpPr>
            <p:grpSpPr bwMode="auto">
              <a:xfrm>
                <a:off x="5632" y="12487"/>
                <a:ext cx="2670" cy="1410"/>
                <a:chOff x="2" y="0"/>
                <a:chExt cx="20004" cy="20002"/>
              </a:xfrm>
            </p:grpSpPr>
            <p:sp>
              <p:nvSpPr>
                <p:cNvPr id="64567" name="Oval 61"/>
                <p:cNvSpPr>
                  <a:spLocks noChangeArrowheads="1"/>
                </p:cNvSpPr>
                <p:nvPr/>
              </p:nvSpPr>
              <p:spPr bwMode="auto">
                <a:xfrm>
                  <a:off x="2" y="148"/>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68" name="Oval 62"/>
                <p:cNvSpPr>
                  <a:spLocks noChangeArrowheads="1"/>
                </p:cNvSpPr>
                <p:nvPr/>
              </p:nvSpPr>
              <p:spPr bwMode="auto">
                <a:xfrm>
                  <a:off x="1668" y="148"/>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69" name="Oval 63"/>
                <p:cNvSpPr>
                  <a:spLocks noChangeArrowheads="1"/>
                </p:cNvSpPr>
                <p:nvPr/>
              </p:nvSpPr>
              <p:spPr bwMode="auto">
                <a:xfrm>
                  <a:off x="3328" y="0"/>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0" name="Oval 64"/>
                <p:cNvSpPr>
                  <a:spLocks noChangeArrowheads="1"/>
                </p:cNvSpPr>
                <p:nvPr/>
              </p:nvSpPr>
              <p:spPr bwMode="auto">
                <a:xfrm>
                  <a:off x="5000" y="69"/>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1" name="Oval 65"/>
                <p:cNvSpPr>
                  <a:spLocks noChangeArrowheads="1"/>
                </p:cNvSpPr>
                <p:nvPr/>
              </p:nvSpPr>
              <p:spPr bwMode="auto">
                <a:xfrm>
                  <a:off x="6666" y="69"/>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2" name="Oval 66"/>
                <p:cNvSpPr>
                  <a:spLocks noChangeArrowheads="1"/>
                </p:cNvSpPr>
                <p:nvPr/>
              </p:nvSpPr>
              <p:spPr bwMode="auto">
                <a:xfrm>
                  <a:off x="8338" y="197"/>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3" name="Oval 67"/>
                <p:cNvSpPr>
                  <a:spLocks noChangeArrowheads="1"/>
                </p:cNvSpPr>
                <p:nvPr/>
              </p:nvSpPr>
              <p:spPr bwMode="auto">
                <a:xfrm>
                  <a:off x="10004" y="148"/>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4" name="Oval 68"/>
                <p:cNvSpPr>
                  <a:spLocks noChangeArrowheads="1"/>
                </p:cNvSpPr>
                <p:nvPr/>
              </p:nvSpPr>
              <p:spPr bwMode="auto">
                <a:xfrm>
                  <a:off x="11670" y="0"/>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5" name="Oval 69"/>
                <p:cNvSpPr>
                  <a:spLocks noChangeArrowheads="1"/>
                </p:cNvSpPr>
                <p:nvPr/>
              </p:nvSpPr>
              <p:spPr bwMode="auto">
                <a:xfrm>
                  <a:off x="13336" y="137"/>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6" name="Oval 70"/>
                <p:cNvSpPr>
                  <a:spLocks noChangeArrowheads="1"/>
                </p:cNvSpPr>
                <p:nvPr/>
              </p:nvSpPr>
              <p:spPr bwMode="auto">
                <a:xfrm>
                  <a:off x="15002" y="69"/>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7" name="Oval 71"/>
                <p:cNvSpPr>
                  <a:spLocks noChangeArrowheads="1"/>
                </p:cNvSpPr>
                <p:nvPr/>
              </p:nvSpPr>
              <p:spPr bwMode="auto">
                <a:xfrm>
                  <a:off x="16674" y="197"/>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8" name="Oval 72"/>
                <p:cNvSpPr>
                  <a:spLocks noChangeArrowheads="1"/>
                </p:cNvSpPr>
                <p:nvPr/>
              </p:nvSpPr>
              <p:spPr bwMode="auto">
                <a:xfrm>
                  <a:off x="18340" y="197"/>
                  <a:ext cx="1585" cy="2698"/>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79" name="Oval 73"/>
                <p:cNvSpPr>
                  <a:spLocks noChangeArrowheads="1"/>
                </p:cNvSpPr>
                <p:nvPr/>
              </p:nvSpPr>
              <p:spPr bwMode="auto">
                <a:xfrm>
                  <a:off x="85" y="2964"/>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0" name="Oval 74"/>
                <p:cNvSpPr>
                  <a:spLocks noChangeArrowheads="1"/>
                </p:cNvSpPr>
                <p:nvPr/>
              </p:nvSpPr>
              <p:spPr bwMode="auto">
                <a:xfrm>
                  <a:off x="1757" y="2964"/>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1" name="Oval 75"/>
                <p:cNvSpPr>
                  <a:spLocks noChangeArrowheads="1"/>
                </p:cNvSpPr>
                <p:nvPr/>
              </p:nvSpPr>
              <p:spPr bwMode="auto">
                <a:xfrm>
                  <a:off x="3423" y="2816"/>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2" name="Oval 76"/>
                <p:cNvSpPr>
                  <a:spLocks noChangeArrowheads="1"/>
                </p:cNvSpPr>
                <p:nvPr/>
              </p:nvSpPr>
              <p:spPr bwMode="auto">
                <a:xfrm>
                  <a:off x="5089" y="2885"/>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3" name="Oval 77"/>
                <p:cNvSpPr>
                  <a:spLocks noChangeArrowheads="1"/>
                </p:cNvSpPr>
                <p:nvPr/>
              </p:nvSpPr>
              <p:spPr bwMode="auto">
                <a:xfrm>
                  <a:off x="6755" y="2885"/>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4" name="Oval 78"/>
                <p:cNvSpPr>
                  <a:spLocks noChangeArrowheads="1"/>
                </p:cNvSpPr>
                <p:nvPr/>
              </p:nvSpPr>
              <p:spPr bwMode="auto">
                <a:xfrm>
                  <a:off x="8413" y="3012"/>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5" name="Oval 79"/>
                <p:cNvSpPr>
                  <a:spLocks noChangeArrowheads="1"/>
                </p:cNvSpPr>
                <p:nvPr/>
              </p:nvSpPr>
              <p:spPr bwMode="auto">
                <a:xfrm>
                  <a:off x="10091" y="2964"/>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6" name="Oval 80"/>
                <p:cNvSpPr>
                  <a:spLocks noChangeArrowheads="1"/>
                </p:cNvSpPr>
                <p:nvPr/>
              </p:nvSpPr>
              <p:spPr bwMode="auto">
                <a:xfrm>
                  <a:off x="11757" y="2826"/>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7" name="Oval 81"/>
                <p:cNvSpPr>
                  <a:spLocks noChangeArrowheads="1"/>
                </p:cNvSpPr>
                <p:nvPr/>
              </p:nvSpPr>
              <p:spPr bwMode="auto">
                <a:xfrm>
                  <a:off x="13423" y="2954"/>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8" name="Oval 82"/>
                <p:cNvSpPr>
                  <a:spLocks noChangeArrowheads="1"/>
                </p:cNvSpPr>
                <p:nvPr/>
              </p:nvSpPr>
              <p:spPr bwMode="auto">
                <a:xfrm>
                  <a:off x="15089" y="2885"/>
                  <a:ext cx="1585" cy="2698"/>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89" name="Oval 83"/>
                <p:cNvSpPr>
                  <a:spLocks noChangeArrowheads="1"/>
                </p:cNvSpPr>
                <p:nvPr/>
              </p:nvSpPr>
              <p:spPr bwMode="auto">
                <a:xfrm>
                  <a:off x="16755" y="3022"/>
                  <a:ext cx="1585" cy="2698"/>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0" name="Oval 84"/>
                <p:cNvSpPr>
                  <a:spLocks noChangeArrowheads="1"/>
                </p:cNvSpPr>
                <p:nvPr/>
              </p:nvSpPr>
              <p:spPr bwMode="auto">
                <a:xfrm>
                  <a:off x="18421" y="3012"/>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1" name="Oval 85"/>
                <p:cNvSpPr>
                  <a:spLocks noChangeArrowheads="1"/>
                </p:cNvSpPr>
                <p:nvPr/>
              </p:nvSpPr>
              <p:spPr bwMode="auto">
                <a:xfrm>
                  <a:off x="4" y="5847"/>
                  <a:ext cx="1587"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2" name="Oval 86"/>
                <p:cNvSpPr>
                  <a:spLocks noChangeArrowheads="1"/>
                </p:cNvSpPr>
                <p:nvPr/>
              </p:nvSpPr>
              <p:spPr bwMode="auto">
                <a:xfrm>
                  <a:off x="1670" y="5847"/>
                  <a:ext cx="1587"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3" name="Oval 87"/>
                <p:cNvSpPr>
                  <a:spLocks noChangeArrowheads="1"/>
                </p:cNvSpPr>
                <p:nvPr/>
              </p:nvSpPr>
              <p:spPr bwMode="auto">
                <a:xfrm>
                  <a:off x="3330" y="5691"/>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4" name="Oval 88"/>
                <p:cNvSpPr>
                  <a:spLocks noChangeArrowheads="1"/>
                </p:cNvSpPr>
                <p:nvPr/>
              </p:nvSpPr>
              <p:spPr bwMode="auto">
                <a:xfrm>
                  <a:off x="5002" y="5759"/>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5" name="Oval 89"/>
                <p:cNvSpPr>
                  <a:spLocks noChangeArrowheads="1"/>
                </p:cNvSpPr>
                <p:nvPr/>
              </p:nvSpPr>
              <p:spPr bwMode="auto">
                <a:xfrm>
                  <a:off x="6668" y="5759"/>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6" name="Oval 90"/>
                <p:cNvSpPr>
                  <a:spLocks noChangeArrowheads="1"/>
                </p:cNvSpPr>
                <p:nvPr/>
              </p:nvSpPr>
              <p:spPr bwMode="auto">
                <a:xfrm>
                  <a:off x="8340" y="5897"/>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7" name="Oval 91"/>
                <p:cNvSpPr>
                  <a:spLocks noChangeArrowheads="1"/>
                </p:cNvSpPr>
                <p:nvPr/>
              </p:nvSpPr>
              <p:spPr bwMode="auto">
                <a:xfrm>
                  <a:off x="10006" y="5847"/>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8" name="Oval 92"/>
                <p:cNvSpPr>
                  <a:spLocks noChangeArrowheads="1"/>
                </p:cNvSpPr>
                <p:nvPr/>
              </p:nvSpPr>
              <p:spPr bwMode="auto">
                <a:xfrm>
                  <a:off x="11672" y="5709"/>
                  <a:ext cx="1585" cy="2699"/>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599" name="Oval 93"/>
                <p:cNvSpPr>
                  <a:spLocks noChangeArrowheads="1"/>
                </p:cNvSpPr>
                <p:nvPr/>
              </p:nvSpPr>
              <p:spPr bwMode="auto">
                <a:xfrm>
                  <a:off x="13338" y="5838"/>
                  <a:ext cx="1585"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0" name="Oval 94"/>
                <p:cNvSpPr>
                  <a:spLocks noChangeArrowheads="1"/>
                </p:cNvSpPr>
                <p:nvPr/>
              </p:nvSpPr>
              <p:spPr bwMode="auto">
                <a:xfrm>
                  <a:off x="15002" y="5759"/>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1" name="Oval 95"/>
                <p:cNvSpPr>
                  <a:spLocks noChangeArrowheads="1"/>
                </p:cNvSpPr>
                <p:nvPr/>
              </p:nvSpPr>
              <p:spPr bwMode="auto">
                <a:xfrm>
                  <a:off x="16674" y="5907"/>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2" name="Oval 96"/>
                <p:cNvSpPr>
                  <a:spLocks noChangeArrowheads="1"/>
                </p:cNvSpPr>
                <p:nvPr/>
              </p:nvSpPr>
              <p:spPr bwMode="auto">
                <a:xfrm>
                  <a:off x="18340" y="5896"/>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3" name="Oval 97"/>
                <p:cNvSpPr>
                  <a:spLocks noChangeArrowheads="1"/>
                </p:cNvSpPr>
                <p:nvPr/>
              </p:nvSpPr>
              <p:spPr bwMode="auto">
                <a:xfrm>
                  <a:off x="4" y="8683"/>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4" name="Oval 98"/>
                <p:cNvSpPr>
                  <a:spLocks noChangeArrowheads="1"/>
                </p:cNvSpPr>
                <p:nvPr/>
              </p:nvSpPr>
              <p:spPr bwMode="auto">
                <a:xfrm>
                  <a:off x="1670" y="8683"/>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5" name="Oval 99"/>
                <p:cNvSpPr>
                  <a:spLocks noChangeArrowheads="1"/>
                </p:cNvSpPr>
                <p:nvPr/>
              </p:nvSpPr>
              <p:spPr bwMode="auto">
                <a:xfrm>
                  <a:off x="3330" y="8535"/>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6" name="Oval 100"/>
                <p:cNvSpPr>
                  <a:spLocks noChangeArrowheads="1"/>
                </p:cNvSpPr>
                <p:nvPr/>
              </p:nvSpPr>
              <p:spPr bwMode="auto">
                <a:xfrm>
                  <a:off x="5002" y="8604"/>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7" name="Oval 101"/>
                <p:cNvSpPr>
                  <a:spLocks noChangeArrowheads="1"/>
                </p:cNvSpPr>
                <p:nvPr/>
              </p:nvSpPr>
              <p:spPr bwMode="auto">
                <a:xfrm>
                  <a:off x="6668" y="8604"/>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8" name="Oval 102"/>
                <p:cNvSpPr>
                  <a:spLocks noChangeArrowheads="1"/>
                </p:cNvSpPr>
                <p:nvPr/>
              </p:nvSpPr>
              <p:spPr bwMode="auto">
                <a:xfrm>
                  <a:off x="8340" y="8731"/>
                  <a:ext cx="1585"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09" name="Oval 103"/>
                <p:cNvSpPr>
                  <a:spLocks noChangeArrowheads="1"/>
                </p:cNvSpPr>
                <p:nvPr/>
              </p:nvSpPr>
              <p:spPr bwMode="auto">
                <a:xfrm>
                  <a:off x="10006" y="8682"/>
                  <a:ext cx="1585" cy="2698"/>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0" name="Oval 104"/>
                <p:cNvSpPr>
                  <a:spLocks noChangeArrowheads="1"/>
                </p:cNvSpPr>
                <p:nvPr/>
              </p:nvSpPr>
              <p:spPr bwMode="auto">
                <a:xfrm>
                  <a:off x="11672" y="853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1" name="Oval 105"/>
                <p:cNvSpPr>
                  <a:spLocks noChangeArrowheads="1"/>
                </p:cNvSpPr>
                <p:nvPr/>
              </p:nvSpPr>
              <p:spPr bwMode="auto">
                <a:xfrm>
                  <a:off x="13338" y="8672"/>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2" name="Oval 106"/>
                <p:cNvSpPr>
                  <a:spLocks noChangeArrowheads="1"/>
                </p:cNvSpPr>
                <p:nvPr/>
              </p:nvSpPr>
              <p:spPr bwMode="auto">
                <a:xfrm>
                  <a:off x="15002" y="8603"/>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3" name="Oval 107"/>
                <p:cNvSpPr>
                  <a:spLocks noChangeArrowheads="1"/>
                </p:cNvSpPr>
                <p:nvPr/>
              </p:nvSpPr>
              <p:spPr bwMode="auto">
                <a:xfrm>
                  <a:off x="16674" y="8731"/>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4" name="Oval 108"/>
                <p:cNvSpPr>
                  <a:spLocks noChangeArrowheads="1"/>
                </p:cNvSpPr>
                <p:nvPr/>
              </p:nvSpPr>
              <p:spPr bwMode="auto">
                <a:xfrm>
                  <a:off x="18340" y="8731"/>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5" name="Oval 109"/>
                <p:cNvSpPr>
                  <a:spLocks noChangeArrowheads="1"/>
                </p:cNvSpPr>
                <p:nvPr/>
              </p:nvSpPr>
              <p:spPr bwMode="auto">
                <a:xfrm>
                  <a:off x="4" y="11517"/>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6" name="Oval 110"/>
                <p:cNvSpPr>
                  <a:spLocks noChangeArrowheads="1"/>
                </p:cNvSpPr>
                <p:nvPr/>
              </p:nvSpPr>
              <p:spPr bwMode="auto">
                <a:xfrm>
                  <a:off x="1670" y="11517"/>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7" name="Oval 111"/>
                <p:cNvSpPr>
                  <a:spLocks noChangeArrowheads="1"/>
                </p:cNvSpPr>
                <p:nvPr/>
              </p:nvSpPr>
              <p:spPr bwMode="auto">
                <a:xfrm>
                  <a:off x="3330" y="11359"/>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8" name="Oval 112"/>
                <p:cNvSpPr>
                  <a:spLocks noChangeArrowheads="1"/>
                </p:cNvSpPr>
                <p:nvPr/>
              </p:nvSpPr>
              <p:spPr bwMode="auto">
                <a:xfrm>
                  <a:off x="5002" y="11428"/>
                  <a:ext cx="1585"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19" name="Oval 113"/>
                <p:cNvSpPr>
                  <a:spLocks noChangeArrowheads="1"/>
                </p:cNvSpPr>
                <p:nvPr/>
              </p:nvSpPr>
              <p:spPr bwMode="auto">
                <a:xfrm>
                  <a:off x="6668" y="11428"/>
                  <a:ext cx="1585"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0" name="Oval 114"/>
                <p:cNvSpPr>
                  <a:spLocks noChangeArrowheads="1"/>
                </p:cNvSpPr>
                <p:nvPr/>
              </p:nvSpPr>
              <p:spPr bwMode="auto">
                <a:xfrm>
                  <a:off x="8340" y="1156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1" name="Oval 115"/>
                <p:cNvSpPr>
                  <a:spLocks noChangeArrowheads="1"/>
                </p:cNvSpPr>
                <p:nvPr/>
              </p:nvSpPr>
              <p:spPr bwMode="auto">
                <a:xfrm>
                  <a:off x="10006" y="11516"/>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2" name="Oval 116"/>
                <p:cNvSpPr>
                  <a:spLocks noChangeArrowheads="1"/>
                </p:cNvSpPr>
                <p:nvPr/>
              </p:nvSpPr>
              <p:spPr bwMode="auto">
                <a:xfrm>
                  <a:off x="11672" y="11379"/>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3" name="Oval 117"/>
                <p:cNvSpPr>
                  <a:spLocks noChangeArrowheads="1"/>
                </p:cNvSpPr>
                <p:nvPr/>
              </p:nvSpPr>
              <p:spPr bwMode="auto">
                <a:xfrm>
                  <a:off x="13338" y="11506"/>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4" name="Oval 118"/>
                <p:cNvSpPr>
                  <a:spLocks noChangeArrowheads="1"/>
                </p:cNvSpPr>
                <p:nvPr/>
              </p:nvSpPr>
              <p:spPr bwMode="auto">
                <a:xfrm>
                  <a:off x="15002" y="11427"/>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5" name="Oval 119"/>
                <p:cNvSpPr>
                  <a:spLocks noChangeArrowheads="1"/>
                </p:cNvSpPr>
                <p:nvPr/>
              </p:nvSpPr>
              <p:spPr bwMode="auto">
                <a:xfrm>
                  <a:off x="16674" y="1157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6" name="Oval 120"/>
                <p:cNvSpPr>
                  <a:spLocks noChangeArrowheads="1"/>
                </p:cNvSpPr>
                <p:nvPr/>
              </p:nvSpPr>
              <p:spPr bwMode="auto">
                <a:xfrm>
                  <a:off x="18340" y="1156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7" name="Oval 121"/>
                <p:cNvSpPr>
                  <a:spLocks noChangeArrowheads="1"/>
                </p:cNvSpPr>
                <p:nvPr/>
              </p:nvSpPr>
              <p:spPr bwMode="auto">
                <a:xfrm>
                  <a:off x="4" y="14341"/>
                  <a:ext cx="1587"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8" name="Oval 122"/>
                <p:cNvSpPr>
                  <a:spLocks noChangeArrowheads="1"/>
                </p:cNvSpPr>
                <p:nvPr/>
              </p:nvSpPr>
              <p:spPr bwMode="auto">
                <a:xfrm>
                  <a:off x="1670" y="14341"/>
                  <a:ext cx="1587" cy="2697"/>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29" name="Oval 123"/>
                <p:cNvSpPr>
                  <a:spLocks noChangeArrowheads="1"/>
                </p:cNvSpPr>
                <p:nvPr/>
              </p:nvSpPr>
              <p:spPr bwMode="auto">
                <a:xfrm>
                  <a:off x="3330" y="14193"/>
                  <a:ext cx="1587" cy="2699"/>
                </a:xfrm>
                <a:prstGeom prst="ellipse">
                  <a:avLst/>
                </a:prstGeom>
                <a:solidFill>
                  <a:srgbClr val="000000"/>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0" name="Oval 124"/>
                <p:cNvSpPr>
                  <a:spLocks noChangeArrowheads="1"/>
                </p:cNvSpPr>
                <p:nvPr/>
              </p:nvSpPr>
              <p:spPr bwMode="auto">
                <a:xfrm>
                  <a:off x="5002" y="14253"/>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1" name="Oval 125"/>
                <p:cNvSpPr>
                  <a:spLocks noChangeArrowheads="1"/>
                </p:cNvSpPr>
                <p:nvPr/>
              </p:nvSpPr>
              <p:spPr bwMode="auto">
                <a:xfrm>
                  <a:off x="6668" y="14253"/>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2" name="Oval 126"/>
                <p:cNvSpPr>
                  <a:spLocks noChangeArrowheads="1"/>
                </p:cNvSpPr>
                <p:nvPr/>
              </p:nvSpPr>
              <p:spPr bwMode="auto">
                <a:xfrm>
                  <a:off x="8340" y="14390"/>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3" name="Oval 127"/>
                <p:cNvSpPr>
                  <a:spLocks noChangeArrowheads="1"/>
                </p:cNvSpPr>
                <p:nvPr/>
              </p:nvSpPr>
              <p:spPr bwMode="auto">
                <a:xfrm>
                  <a:off x="10006" y="14341"/>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4" name="Oval 128"/>
                <p:cNvSpPr>
                  <a:spLocks noChangeArrowheads="1"/>
                </p:cNvSpPr>
                <p:nvPr/>
              </p:nvSpPr>
              <p:spPr bwMode="auto">
                <a:xfrm>
                  <a:off x="11672" y="14204"/>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5" name="Oval 129"/>
                <p:cNvSpPr>
                  <a:spLocks noChangeArrowheads="1"/>
                </p:cNvSpPr>
                <p:nvPr/>
              </p:nvSpPr>
              <p:spPr bwMode="auto">
                <a:xfrm>
                  <a:off x="13338" y="14331"/>
                  <a:ext cx="1585" cy="2699"/>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6" name="Oval 130"/>
                <p:cNvSpPr>
                  <a:spLocks noChangeArrowheads="1"/>
                </p:cNvSpPr>
                <p:nvPr/>
              </p:nvSpPr>
              <p:spPr bwMode="auto">
                <a:xfrm>
                  <a:off x="15002" y="14253"/>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7" name="Oval 131"/>
                <p:cNvSpPr>
                  <a:spLocks noChangeArrowheads="1"/>
                </p:cNvSpPr>
                <p:nvPr/>
              </p:nvSpPr>
              <p:spPr bwMode="auto">
                <a:xfrm>
                  <a:off x="16674" y="14400"/>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8" name="Oval 132"/>
                <p:cNvSpPr>
                  <a:spLocks noChangeArrowheads="1"/>
                </p:cNvSpPr>
                <p:nvPr/>
              </p:nvSpPr>
              <p:spPr bwMode="auto">
                <a:xfrm>
                  <a:off x="18340" y="14391"/>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39" name="Oval 133"/>
                <p:cNvSpPr>
                  <a:spLocks noChangeArrowheads="1"/>
                </p:cNvSpPr>
                <p:nvPr/>
              </p:nvSpPr>
              <p:spPr bwMode="auto">
                <a:xfrm>
                  <a:off x="4" y="17244"/>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0" name="Oval 134"/>
                <p:cNvSpPr>
                  <a:spLocks noChangeArrowheads="1"/>
                </p:cNvSpPr>
                <p:nvPr/>
              </p:nvSpPr>
              <p:spPr bwMode="auto">
                <a:xfrm>
                  <a:off x="1670" y="17245"/>
                  <a:ext cx="1587"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1" name="Oval 135"/>
                <p:cNvSpPr>
                  <a:spLocks noChangeArrowheads="1"/>
                </p:cNvSpPr>
                <p:nvPr/>
              </p:nvSpPr>
              <p:spPr bwMode="auto">
                <a:xfrm>
                  <a:off x="3330" y="17098"/>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2" name="Oval 136"/>
                <p:cNvSpPr>
                  <a:spLocks noChangeArrowheads="1"/>
                </p:cNvSpPr>
                <p:nvPr/>
              </p:nvSpPr>
              <p:spPr bwMode="auto">
                <a:xfrm>
                  <a:off x="5002" y="17167"/>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3" name="Oval 137"/>
                <p:cNvSpPr>
                  <a:spLocks noChangeArrowheads="1"/>
                </p:cNvSpPr>
                <p:nvPr/>
              </p:nvSpPr>
              <p:spPr bwMode="auto">
                <a:xfrm>
                  <a:off x="6668" y="17167"/>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4" name="Oval 138"/>
                <p:cNvSpPr>
                  <a:spLocks noChangeArrowheads="1"/>
                </p:cNvSpPr>
                <p:nvPr/>
              </p:nvSpPr>
              <p:spPr bwMode="auto">
                <a:xfrm>
                  <a:off x="8340" y="17294"/>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5" name="Oval 139"/>
                <p:cNvSpPr>
                  <a:spLocks noChangeArrowheads="1"/>
                </p:cNvSpPr>
                <p:nvPr/>
              </p:nvSpPr>
              <p:spPr bwMode="auto">
                <a:xfrm>
                  <a:off x="10006" y="1724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6" name="Oval 140"/>
                <p:cNvSpPr>
                  <a:spLocks noChangeArrowheads="1"/>
                </p:cNvSpPr>
                <p:nvPr/>
              </p:nvSpPr>
              <p:spPr bwMode="auto">
                <a:xfrm>
                  <a:off x="11672" y="17108"/>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7" name="Oval 141"/>
                <p:cNvSpPr>
                  <a:spLocks noChangeArrowheads="1"/>
                </p:cNvSpPr>
                <p:nvPr/>
              </p:nvSpPr>
              <p:spPr bwMode="auto">
                <a:xfrm>
                  <a:off x="13338" y="17236"/>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8" name="Oval 142"/>
                <p:cNvSpPr>
                  <a:spLocks noChangeArrowheads="1"/>
                </p:cNvSpPr>
                <p:nvPr/>
              </p:nvSpPr>
              <p:spPr bwMode="auto">
                <a:xfrm>
                  <a:off x="15002" y="17167"/>
                  <a:ext cx="1587"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49" name="Oval 143"/>
                <p:cNvSpPr>
                  <a:spLocks noChangeArrowheads="1"/>
                </p:cNvSpPr>
                <p:nvPr/>
              </p:nvSpPr>
              <p:spPr bwMode="auto">
                <a:xfrm>
                  <a:off x="16674" y="17305"/>
                  <a:ext cx="1585" cy="2697"/>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sp>
              <p:nvSpPr>
                <p:cNvPr id="64650" name="Oval 144"/>
                <p:cNvSpPr>
                  <a:spLocks noChangeArrowheads="1"/>
                </p:cNvSpPr>
                <p:nvPr/>
              </p:nvSpPr>
              <p:spPr bwMode="auto">
                <a:xfrm>
                  <a:off x="18340" y="17294"/>
                  <a:ext cx="1585" cy="2698"/>
                </a:xfrm>
                <a:prstGeom prst="ellipse">
                  <a:avLst/>
                </a:prstGeom>
                <a:solidFill>
                  <a:srgbClr val="FFFFFF"/>
                </a:solidFill>
                <a:ln w="6350">
                  <a:solidFill>
                    <a:srgbClr val="000000"/>
                  </a:solidFill>
                  <a:round/>
                </a:ln>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eaLnBrk="1" hangingPunct="1">
                    <a:spcBef>
                      <a:spcPct val="0"/>
                    </a:spcBef>
                    <a:buFontTx/>
                    <a:buNone/>
                  </a:pPr>
                  <a:endParaRPr lang="zh-CN" altLang="en-US" sz="1800">
                    <a:latin typeface="Arial" panose="020B0604020202020204" pitchFamily="34" charset="0"/>
                    <a:ea typeface="宋体" panose="02010600030101010101" pitchFamily="2" charset="-122"/>
                  </a:endParaRPr>
                </a:p>
              </p:txBody>
            </p:sp>
          </p:grpSp>
          <p:sp>
            <p:nvSpPr>
              <p:cNvPr id="64521" name="Line 145"/>
              <p:cNvSpPr>
                <a:spLocks noChangeShapeType="1"/>
              </p:cNvSpPr>
              <p:nvPr/>
            </p:nvSpPr>
            <p:spPr bwMode="auto">
              <a:xfrm flipH="1">
                <a:off x="5499" y="12506"/>
                <a:ext cx="2848" cy="1307"/>
              </a:xfrm>
              <a:prstGeom prst="line">
                <a:avLst/>
              </a:prstGeom>
              <a:noFill/>
              <a:ln w="12700">
                <a:solidFill>
                  <a:srgbClr val="FFFFFF"/>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nvGrpSpPr>
              <p:cNvPr id="64522" name="Group 146"/>
              <p:cNvGrpSpPr/>
              <p:nvPr/>
            </p:nvGrpSpPr>
            <p:grpSpPr bwMode="auto">
              <a:xfrm>
                <a:off x="5743" y="12394"/>
                <a:ext cx="2426" cy="113"/>
                <a:chOff x="0" y="1"/>
                <a:chExt cx="21492" cy="19999"/>
              </a:xfrm>
            </p:grpSpPr>
            <p:grpSp>
              <p:nvGrpSpPr>
                <p:cNvPr id="64549" name="Group 147"/>
                <p:cNvGrpSpPr/>
                <p:nvPr/>
              </p:nvGrpSpPr>
              <p:grpSpPr bwMode="auto">
                <a:xfrm>
                  <a:off x="0" y="2198"/>
                  <a:ext cx="1881" cy="17802"/>
                  <a:chOff x="0" y="0"/>
                  <a:chExt cx="21497" cy="20000"/>
                </a:xfrm>
              </p:grpSpPr>
              <p:sp>
                <p:nvSpPr>
                  <p:cNvPr id="64565" name="Line 148"/>
                  <p:cNvSpPr>
                    <a:spLocks noChangeShapeType="1"/>
                  </p:cNvSpPr>
                  <p:nvPr/>
                </p:nvSpPr>
                <p:spPr bwMode="auto">
                  <a:xfrm>
                    <a:off x="0" y="142"/>
                    <a:ext cx="80"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66" name="Line 149"/>
                  <p:cNvSpPr>
                    <a:spLocks noChangeShapeType="1"/>
                  </p:cNvSpPr>
                  <p:nvPr/>
                </p:nvSpPr>
                <p:spPr bwMode="auto">
                  <a:xfrm>
                    <a:off x="21417" y="0"/>
                    <a:ext cx="80" cy="19875"/>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50" name="Group 150"/>
                <p:cNvGrpSpPr/>
                <p:nvPr/>
              </p:nvGrpSpPr>
              <p:grpSpPr bwMode="auto">
                <a:xfrm>
                  <a:off x="3944" y="491"/>
                  <a:ext cx="1881" cy="17802"/>
                  <a:chOff x="0" y="0"/>
                  <a:chExt cx="19885" cy="20000"/>
                </a:xfrm>
              </p:grpSpPr>
              <p:sp>
                <p:nvSpPr>
                  <p:cNvPr id="64563" name="Line 151"/>
                  <p:cNvSpPr>
                    <a:spLocks noChangeShapeType="1"/>
                  </p:cNvSpPr>
                  <p:nvPr/>
                </p:nvSpPr>
                <p:spPr bwMode="auto">
                  <a:xfrm>
                    <a:off x="0" y="142"/>
                    <a:ext cx="74"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64" name="Line 152"/>
                  <p:cNvSpPr>
                    <a:spLocks noChangeShapeType="1"/>
                  </p:cNvSpPr>
                  <p:nvPr/>
                </p:nvSpPr>
                <p:spPr bwMode="auto">
                  <a:xfrm>
                    <a:off x="19832" y="0"/>
                    <a:ext cx="53" cy="19875"/>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51" name="Group 153"/>
                <p:cNvGrpSpPr/>
                <p:nvPr/>
              </p:nvGrpSpPr>
              <p:grpSpPr bwMode="auto">
                <a:xfrm>
                  <a:off x="7890" y="491"/>
                  <a:ext cx="1874" cy="17802"/>
                  <a:chOff x="0" y="0"/>
                  <a:chExt cx="20079" cy="20000"/>
                </a:xfrm>
              </p:grpSpPr>
              <p:sp>
                <p:nvSpPr>
                  <p:cNvPr id="64561" name="Line 154"/>
                  <p:cNvSpPr>
                    <a:spLocks noChangeShapeType="1"/>
                  </p:cNvSpPr>
                  <p:nvPr/>
                </p:nvSpPr>
                <p:spPr bwMode="auto">
                  <a:xfrm>
                    <a:off x="0" y="142"/>
                    <a:ext cx="75"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62" name="Line 155"/>
                  <p:cNvSpPr>
                    <a:spLocks noChangeShapeType="1"/>
                  </p:cNvSpPr>
                  <p:nvPr/>
                </p:nvSpPr>
                <p:spPr bwMode="auto">
                  <a:xfrm>
                    <a:off x="20004" y="0"/>
                    <a:ext cx="75"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52" name="Group 156"/>
                <p:cNvGrpSpPr/>
                <p:nvPr/>
              </p:nvGrpSpPr>
              <p:grpSpPr bwMode="auto">
                <a:xfrm>
                  <a:off x="11829" y="491"/>
                  <a:ext cx="1881" cy="17802"/>
                  <a:chOff x="0" y="0"/>
                  <a:chExt cx="19885" cy="20000"/>
                </a:xfrm>
              </p:grpSpPr>
              <p:sp>
                <p:nvSpPr>
                  <p:cNvPr id="64559" name="Line 157"/>
                  <p:cNvSpPr>
                    <a:spLocks noChangeShapeType="1"/>
                  </p:cNvSpPr>
                  <p:nvPr/>
                </p:nvSpPr>
                <p:spPr bwMode="auto">
                  <a:xfrm>
                    <a:off x="0" y="142"/>
                    <a:ext cx="74"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60" name="Line 158"/>
                  <p:cNvSpPr>
                    <a:spLocks noChangeShapeType="1"/>
                  </p:cNvSpPr>
                  <p:nvPr/>
                </p:nvSpPr>
                <p:spPr bwMode="auto">
                  <a:xfrm>
                    <a:off x="19811" y="0"/>
                    <a:ext cx="74"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53" name="Group 159"/>
                <p:cNvGrpSpPr/>
                <p:nvPr/>
              </p:nvGrpSpPr>
              <p:grpSpPr bwMode="auto">
                <a:xfrm>
                  <a:off x="15672" y="1"/>
                  <a:ext cx="1874" cy="17801"/>
                  <a:chOff x="-11" y="0"/>
                  <a:chExt cx="20079" cy="20000"/>
                </a:xfrm>
              </p:grpSpPr>
              <p:sp>
                <p:nvSpPr>
                  <p:cNvPr id="64557" name="Line 160"/>
                  <p:cNvSpPr>
                    <a:spLocks noChangeShapeType="1"/>
                  </p:cNvSpPr>
                  <p:nvPr/>
                </p:nvSpPr>
                <p:spPr bwMode="auto">
                  <a:xfrm>
                    <a:off x="-11" y="142"/>
                    <a:ext cx="75"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58" name="Line 161"/>
                  <p:cNvSpPr>
                    <a:spLocks noChangeShapeType="1"/>
                  </p:cNvSpPr>
                  <p:nvPr/>
                </p:nvSpPr>
                <p:spPr bwMode="auto">
                  <a:xfrm>
                    <a:off x="19993" y="0"/>
                    <a:ext cx="75" cy="19876"/>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54" name="Group 162"/>
                <p:cNvGrpSpPr/>
                <p:nvPr/>
              </p:nvGrpSpPr>
              <p:grpSpPr bwMode="auto">
                <a:xfrm>
                  <a:off x="19604" y="1835"/>
                  <a:ext cx="1888" cy="17675"/>
                  <a:chOff x="0" y="0"/>
                  <a:chExt cx="19959" cy="20000"/>
                </a:xfrm>
              </p:grpSpPr>
              <p:sp>
                <p:nvSpPr>
                  <p:cNvPr id="64555" name="Line 163"/>
                  <p:cNvSpPr>
                    <a:spLocks noChangeShapeType="1"/>
                  </p:cNvSpPr>
                  <p:nvPr/>
                </p:nvSpPr>
                <p:spPr bwMode="auto">
                  <a:xfrm>
                    <a:off x="0" y="0"/>
                    <a:ext cx="74" cy="20000"/>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56" name="Line 164"/>
                  <p:cNvSpPr>
                    <a:spLocks noChangeShapeType="1"/>
                  </p:cNvSpPr>
                  <p:nvPr/>
                </p:nvSpPr>
                <p:spPr bwMode="auto">
                  <a:xfrm>
                    <a:off x="19885" y="0"/>
                    <a:ext cx="74" cy="20000"/>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64523" name="Group 165"/>
              <p:cNvGrpSpPr/>
              <p:nvPr/>
            </p:nvGrpSpPr>
            <p:grpSpPr bwMode="auto">
              <a:xfrm>
                <a:off x="5732" y="13889"/>
                <a:ext cx="2426" cy="114"/>
                <a:chOff x="0" y="1"/>
                <a:chExt cx="21485" cy="19999"/>
              </a:xfrm>
            </p:grpSpPr>
            <p:grpSp>
              <p:nvGrpSpPr>
                <p:cNvPr id="64531" name="Group 166"/>
                <p:cNvGrpSpPr/>
                <p:nvPr/>
              </p:nvGrpSpPr>
              <p:grpSpPr bwMode="auto">
                <a:xfrm>
                  <a:off x="0" y="2198"/>
                  <a:ext cx="1874" cy="17802"/>
                  <a:chOff x="0" y="0"/>
                  <a:chExt cx="21417" cy="20000"/>
                </a:xfrm>
              </p:grpSpPr>
              <p:sp>
                <p:nvSpPr>
                  <p:cNvPr id="64547" name="Line 167"/>
                  <p:cNvSpPr>
                    <a:spLocks noChangeShapeType="1"/>
                  </p:cNvSpPr>
                  <p:nvPr/>
                </p:nvSpPr>
                <p:spPr bwMode="auto">
                  <a:xfrm>
                    <a:off x="0" y="142"/>
                    <a:ext cx="80"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48" name="Line 168"/>
                  <p:cNvSpPr>
                    <a:spLocks noChangeShapeType="1"/>
                  </p:cNvSpPr>
                  <p:nvPr/>
                </p:nvSpPr>
                <p:spPr bwMode="auto">
                  <a:xfrm>
                    <a:off x="21337" y="0"/>
                    <a:ext cx="80"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32" name="Group 169"/>
                <p:cNvGrpSpPr/>
                <p:nvPr/>
              </p:nvGrpSpPr>
              <p:grpSpPr bwMode="auto">
                <a:xfrm>
                  <a:off x="3939" y="491"/>
                  <a:ext cx="1874" cy="17802"/>
                  <a:chOff x="0" y="0"/>
                  <a:chExt cx="20079" cy="20000"/>
                </a:xfrm>
              </p:grpSpPr>
              <p:sp>
                <p:nvSpPr>
                  <p:cNvPr id="64545" name="Line 170"/>
                  <p:cNvSpPr>
                    <a:spLocks noChangeShapeType="1"/>
                  </p:cNvSpPr>
                  <p:nvPr/>
                </p:nvSpPr>
                <p:spPr bwMode="auto">
                  <a:xfrm>
                    <a:off x="0" y="142"/>
                    <a:ext cx="75"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46" name="Line 171"/>
                  <p:cNvSpPr>
                    <a:spLocks noChangeShapeType="1"/>
                  </p:cNvSpPr>
                  <p:nvPr/>
                </p:nvSpPr>
                <p:spPr bwMode="auto">
                  <a:xfrm>
                    <a:off x="20004" y="0"/>
                    <a:ext cx="75"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33" name="Group 172"/>
                <p:cNvGrpSpPr/>
                <p:nvPr/>
              </p:nvGrpSpPr>
              <p:grpSpPr bwMode="auto">
                <a:xfrm>
                  <a:off x="7878" y="491"/>
                  <a:ext cx="1888" cy="17802"/>
                  <a:chOff x="0" y="0"/>
                  <a:chExt cx="20013" cy="20000"/>
                </a:xfrm>
              </p:grpSpPr>
              <p:sp>
                <p:nvSpPr>
                  <p:cNvPr id="64543" name="Line 173"/>
                  <p:cNvSpPr>
                    <a:spLocks noChangeShapeType="1"/>
                  </p:cNvSpPr>
                  <p:nvPr/>
                </p:nvSpPr>
                <p:spPr bwMode="auto">
                  <a:xfrm>
                    <a:off x="0" y="142"/>
                    <a:ext cx="53"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44" name="Line 174"/>
                  <p:cNvSpPr>
                    <a:spLocks noChangeShapeType="1"/>
                  </p:cNvSpPr>
                  <p:nvPr/>
                </p:nvSpPr>
                <p:spPr bwMode="auto">
                  <a:xfrm>
                    <a:off x="19939" y="0"/>
                    <a:ext cx="74"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34" name="Group 175"/>
                <p:cNvGrpSpPr/>
                <p:nvPr/>
              </p:nvGrpSpPr>
              <p:grpSpPr bwMode="auto">
                <a:xfrm>
                  <a:off x="11822" y="491"/>
                  <a:ext cx="1881" cy="17802"/>
                  <a:chOff x="0" y="0"/>
                  <a:chExt cx="19885" cy="20000"/>
                </a:xfrm>
              </p:grpSpPr>
              <p:sp>
                <p:nvSpPr>
                  <p:cNvPr id="64541" name="Line 176"/>
                  <p:cNvSpPr>
                    <a:spLocks noChangeShapeType="1"/>
                  </p:cNvSpPr>
                  <p:nvPr/>
                </p:nvSpPr>
                <p:spPr bwMode="auto">
                  <a:xfrm>
                    <a:off x="0" y="142"/>
                    <a:ext cx="74"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42" name="Line 177"/>
                  <p:cNvSpPr>
                    <a:spLocks noChangeShapeType="1"/>
                  </p:cNvSpPr>
                  <p:nvPr/>
                </p:nvSpPr>
                <p:spPr bwMode="auto">
                  <a:xfrm>
                    <a:off x="19811" y="0"/>
                    <a:ext cx="74"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35" name="Group 178"/>
                <p:cNvGrpSpPr/>
                <p:nvPr/>
              </p:nvGrpSpPr>
              <p:grpSpPr bwMode="auto">
                <a:xfrm>
                  <a:off x="15665" y="1"/>
                  <a:ext cx="1881" cy="17801"/>
                  <a:chOff x="-11" y="0"/>
                  <a:chExt cx="20154" cy="20000"/>
                </a:xfrm>
              </p:grpSpPr>
              <p:sp>
                <p:nvSpPr>
                  <p:cNvPr id="64539" name="Line 179"/>
                  <p:cNvSpPr>
                    <a:spLocks noChangeShapeType="1"/>
                  </p:cNvSpPr>
                  <p:nvPr/>
                </p:nvSpPr>
                <p:spPr bwMode="auto">
                  <a:xfrm>
                    <a:off x="-11" y="142"/>
                    <a:ext cx="75" cy="19858"/>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40" name="Line 180"/>
                  <p:cNvSpPr>
                    <a:spLocks noChangeShapeType="1"/>
                  </p:cNvSpPr>
                  <p:nvPr/>
                </p:nvSpPr>
                <p:spPr bwMode="auto">
                  <a:xfrm>
                    <a:off x="20089" y="0"/>
                    <a:ext cx="54" cy="19876"/>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4536" name="Group 181"/>
                <p:cNvGrpSpPr/>
                <p:nvPr/>
              </p:nvGrpSpPr>
              <p:grpSpPr bwMode="auto">
                <a:xfrm>
                  <a:off x="19611" y="1708"/>
                  <a:ext cx="1874" cy="17802"/>
                  <a:chOff x="0" y="0"/>
                  <a:chExt cx="20079" cy="20000"/>
                </a:xfrm>
              </p:grpSpPr>
              <p:sp>
                <p:nvSpPr>
                  <p:cNvPr id="64537" name="Line 182"/>
                  <p:cNvSpPr>
                    <a:spLocks noChangeShapeType="1"/>
                  </p:cNvSpPr>
                  <p:nvPr/>
                </p:nvSpPr>
                <p:spPr bwMode="auto">
                  <a:xfrm>
                    <a:off x="0" y="143"/>
                    <a:ext cx="75" cy="19857"/>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38" name="Line 183"/>
                  <p:cNvSpPr>
                    <a:spLocks noChangeShapeType="1"/>
                  </p:cNvSpPr>
                  <p:nvPr/>
                </p:nvSpPr>
                <p:spPr bwMode="auto">
                  <a:xfrm>
                    <a:off x="20004" y="0"/>
                    <a:ext cx="75" cy="19875"/>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sp>
            <p:nvSpPr>
              <p:cNvPr id="64524" name="Line 184"/>
              <p:cNvSpPr>
                <a:spLocks noChangeShapeType="1"/>
              </p:cNvSpPr>
              <p:nvPr/>
            </p:nvSpPr>
            <p:spPr bwMode="auto">
              <a:xfrm>
                <a:off x="5565" y="12586"/>
                <a:ext cx="57" cy="0"/>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25" name="Line 185"/>
              <p:cNvSpPr>
                <a:spLocks noChangeShapeType="1"/>
              </p:cNvSpPr>
              <p:nvPr/>
            </p:nvSpPr>
            <p:spPr bwMode="auto">
              <a:xfrm>
                <a:off x="5577" y="12784"/>
                <a:ext cx="56" cy="1"/>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26" name="Line 186"/>
              <p:cNvSpPr>
                <a:spLocks noChangeShapeType="1"/>
              </p:cNvSpPr>
              <p:nvPr/>
            </p:nvSpPr>
            <p:spPr bwMode="auto">
              <a:xfrm>
                <a:off x="5577" y="12999"/>
                <a:ext cx="56" cy="0"/>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27" name="Line 187"/>
              <p:cNvSpPr>
                <a:spLocks noChangeShapeType="1"/>
              </p:cNvSpPr>
              <p:nvPr/>
            </p:nvSpPr>
            <p:spPr bwMode="auto">
              <a:xfrm>
                <a:off x="5587" y="13201"/>
                <a:ext cx="57" cy="1"/>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28" name="Line 188"/>
              <p:cNvSpPr>
                <a:spLocks noChangeShapeType="1"/>
              </p:cNvSpPr>
              <p:nvPr/>
            </p:nvSpPr>
            <p:spPr bwMode="auto">
              <a:xfrm>
                <a:off x="5587" y="13398"/>
                <a:ext cx="57" cy="1"/>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29" name="Line 189"/>
              <p:cNvSpPr>
                <a:spLocks noChangeShapeType="1"/>
              </p:cNvSpPr>
              <p:nvPr/>
            </p:nvSpPr>
            <p:spPr bwMode="auto">
              <a:xfrm>
                <a:off x="5587" y="13593"/>
                <a:ext cx="57" cy="0"/>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sp>
            <p:nvSpPr>
              <p:cNvPr id="64530" name="Line 190"/>
              <p:cNvSpPr>
                <a:spLocks noChangeShapeType="1"/>
              </p:cNvSpPr>
              <p:nvPr/>
            </p:nvSpPr>
            <p:spPr bwMode="auto">
              <a:xfrm>
                <a:off x="5587" y="13797"/>
                <a:ext cx="57" cy="1"/>
              </a:xfrm>
              <a:prstGeom prst="line">
                <a:avLst/>
              </a:prstGeom>
              <a:noFill/>
              <a:ln w="12700">
                <a:solidFill>
                  <a:srgbClr val="000000"/>
                </a:solidFill>
                <a:round/>
                <a:headEnd type="none" w="sm" len="lg"/>
                <a:tailEnd type="none" w="sm" len="lg"/>
              </a:ln>
              <a:extLst>
                <a:ext uri="{909E8E84-426E-40DD-AFC4-6F175D3DCCD1}">
                  <a14:hiddenFill xmlns:a14="http://schemas.microsoft.com/office/drawing/2010/main">
                    <a:noFill/>
                  </a14:hiddenFill>
                </a:ext>
              </a:extLst>
            </p:spPr>
            <p:txBody>
              <a:bodyPr/>
              <a:lstStyle/>
              <a:p>
                <a:endParaRPr lang="zh-CN" altLang="en-US"/>
              </a:p>
            </p:txBody>
          </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B3E4313-DE68-4231-A7C6-F942FA4EEE39}" type="slidenum">
              <a:rPr lang="zh-CN" altLang="en-US" sz="1400" smtClean="0">
                <a:latin typeface="Arial" panose="020B0604020202020204" pitchFamily="34" charset="0"/>
              </a:rPr>
              <a:t>38</a:t>
            </a:fld>
            <a:endParaRPr lang="en-US" altLang="zh-CN" sz="1400">
              <a:latin typeface="Arial" panose="020B0604020202020204" pitchFamily="34" charset="0"/>
            </a:endParaRPr>
          </a:p>
        </p:txBody>
      </p:sp>
      <p:sp>
        <p:nvSpPr>
          <p:cNvPr id="65539" name="Rectangle 2"/>
          <p:cNvSpPr>
            <a:spLocks noGrp="1" noChangeArrowheads="1"/>
          </p:cNvSpPr>
          <p:nvPr>
            <p:ph type="title"/>
          </p:nvPr>
        </p:nvSpPr>
        <p:spPr>
          <a:xfrm>
            <a:off x="1238250" y="0"/>
            <a:ext cx="784225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提高分辨率</a:t>
            </a:r>
          </a:p>
        </p:txBody>
      </p:sp>
      <p:sp>
        <p:nvSpPr>
          <p:cNvPr id="41988" name="Rectangle 3"/>
          <p:cNvSpPr>
            <a:spLocks noGrp="1" noChangeArrowheads="1"/>
          </p:cNvSpPr>
          <p:nvPr>
            <p:ph type="body" idx="1"/>
          </p:nvPr>
        </p:nvSpPr>
        <p:spPr>
          <a:xfrm>
            <a:off x="492125" y="1109663"/>
            <a:ext cx="8990013" cy="5486400"/>
          </a:xfrm>
        </p:spPr>
        <p:txBody>
          <a:bodyPr/>
          <a:lstStyle/>
          <a:p>
            <a:pPr eaLnBrk="1" hangingPunct="1"/>
            <a:r>
              <a:rPr lang="zh-CN" altLang="en-US" dirty="0">
                <a:ea typeface="宋体" panose="02010600030101010101" pitchFamily="2" charset="-122"/>
              </a:rPr>
              <a:t>方法简单，但代价非常大</a:t>
            </a:r>
            <a:endParaRPr lang="en-US" altLang="zh-CN" dirty="0">
              <a:ea typeface="宋体" panose="02010600030101010101" pitchFamily="2" charset="-122"/>
            </a:endParaRPr>
          </a:p>
          <a:p>
            <a:pPr eaLnBrk="1" hangingPunct="1"/>
            <a:r>
              <a:rPr lang="zh-CN" altLang="en-US" dirty="0">
                <a:ea typeface="宋体" panose="02010600030101010101" pitchFamily="2" charset="-122"/>
              </a:rPr>
              <a:t>显示器水平、竖直分辩率各提高一倍，则显示器点距减少一倍，帧缓存容量则增加到原来</a:t>
            </a:r>
            <a:r>
              <a:rPr lang="en-US" altLang="zh-CN" dirty="0">
                <a:ea typeface="宋体" panose="02010600030101010101" pitchFamily="2" charset="-122"/>
              </a:rPr>
              <a:t>4</a:t>
            </a:r>
            <a:r>
              <a:rPr lang="zh-CN" altLang="en-US" dirty="0">
                <a:ea typeface="宋体" panose="02010600030101010101" pitchFamily="2" charset="-122"/>
              </a:rPr>
              <a:t>倍，扫描转换同样大小的图元却要花</a:t>
            </a:r>
            <a:r>
              <a:rPr lang="en-US" altLang="zh-CN" dirty="0">
                <a:ea typeface="宋体" panose="02010600030101010101" pitchFamily="2" charset="-122"/>
              </a:rPr>
              <a:t>4</a:t>
            </a:r>
            <a:r>
              <a:rPr lang="zh-CN" altLang="en-US" dirty="0">
                <a:ea typeface="宋体" panose="02010600030101010101" pitchFamily="2" charset="-122"/>
              </a:rPr>
              <a:t>倍时间</a:t>
            </a:r>
            <a:endParaRPr lang="zh-CN" altLang="en-US" dirty="0">
              <a:latin typeface="宋体" panose="02010600030101010101" pitchFamily="2" charset="-122"/>
              <a:ea typeface="宋体" panose="02010600030101010101" pitchFamily="2" charset="-122"/>
            </a:endParaRPr>
          </a:p>
          <a:p>
            <a:pPr eaLnBrk="1" hangingPunct="1"/>
            <a:r>
              <a:rPr lang="zh-CN" altLang="en-US" dirty="0">
                <a:ea typeface="宋体" panose="02010600030101010101" pitchFamily="2" charset="-122"/>
              </a:rPr>
              <a:t>软件方法：</a:t>
            </a:r>
          </a:p>
          <a:p>
            <a:pPr eaLnBrk="1" hangingPunct="1"/>
            <a:r>
              <a:rPr lang="zh-CN" altLang="en-US" dirty="0">
                <a:ea typeface="宋体" panose="02010600030101010101" pitchFamily="2" charset="-122"/>
              </a:rPr>
              <a:t>用较高的分辨率的显示模式下计算（对各自像属下计算，再求（非）加权平均的颜色值），在较低的分辨率模式下显示</a:t>
            </a:r>
            <a:endParaRPr lang="zh-CN" altLang="en-US" dirty="0">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blinds(horizontal)">
                                      <p:cBhvr>
                                        <p:cTn id="7" dur="500"/>
                                        <p:tgtEl>
                                          <p:spTgt spid="4198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1988">
                                            <p:txEl>
                                              <p:pRg st="1" end="1"/>
                                            </p:txEl>
                                          </p:spTgt>
                                        </p:tgtEl>
                                        <p:attrNameLst>
                                          <p:attrName>style.visibility</p:attrName>
                                        </p:attrNameLst>
                                      </p:cBhvr>
                                      <p:to>
                                        <p:strVal val="visible"/>
                                      </p:to>
                                    </p:set>
                                    <p:animEffect transition="in" filter="blinds(horizontal)">
                                      <p:cBhvr>
                                        <p:cTn id="12" dur="500"/>
                                        <p:tgtEl>
                                          <p:spTgt spid="4198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1988">
                                            <p:txEl>
                                              <p:pRg st="2" end="2"/>
                                            </p:txEl>
                                          </p:spTgt>
                                        </p:tgtEl>
                                        <p:attrNameLst>
                                          <p:attrName>style.visibility</p:attrName>
                                        </p:attrNameLst>
                                      </p:cBhvr>
                                      <p:to>
                                        <p:strVal val="visible"/>
                                      </p:to>
                                    </p:set>
                                    <p:animEffect transition="in" filter="blinds(horizontal)">
                                      <p:cBhvr>
                                        <p:cTn id="17" dur="500"/>
                                        <p:tgtEl>
                                          <p:spTgt spid="4198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1988">
                                            <p:txEl>
                                              <p:pRg st="3" end="3"/>
                                            </p:txEl>
                                          </p:spTgt>
                                        </p:tgtEl>
                                        <p:attrNameLst>
                                          <p:attrName>style.visibility</p:attrName>
                                        </p:attrNameLst>
                                      </p:cBhvr>
                                      <p:to>
                                        <p:strVal val="visible"/>
                                      </p:to>
                                    </p:set>
                                    <p:animEffect transition="in" filter="blinds(horizontal)">
                                      <p:cBhvr>
                                        <p:cTn id="22" dur="500"/>
                                        <p:tgtEl>
                                          <p:spTgt spid="4198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E449DB2-0A44-477E-A66F-36841F5841C5}" type="slidenum">
              <a:rPr lang="zh-CN" altLang="en-US" sz="1400" smtClean="0">
                <a:latin typeface="Arial" panose="020B0604020202020204" pitchFamily="34" charset="0"/>
              </a:rPr>
              <a:t>39</a:t>
            </a:fld>
            <a:endParaRPr lang="en-US" altLang="zh-CN" sz="1400">
              <a:latin typeface="Arial" panose="020B0604020202020204" pitchFamily="34" charset="0"/>
            </a:endParaRPr>
          </a:p>
        </p:txBody>
      </p:sp>
      <p:sp>
        <p:nvSpPr>
          <p:cNvPr id="66563" name="Rectangle 2"/>
          <p:cNvSpPr>
            <a:spLocks noGrp="1" noChangeArrowheads="1"/>
          </p:cNvSpPr>
          <p:nvPr>
            <p:ph type="title"/>
          </p:nvPr>
        </p:nvSpPr>
        <p:spPr>
          <a:xfrm>
            <a:off x="1238250" y="112713"/>
            <a:ext cx="7842250" cy="8382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软件方法</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6564" name="Rectangle 3"/>
          <p:cNvSpPr>
            <a:spLocks noGrp="1" noChangeArrowheads="1"/>
          </p:cNvSpPr>
          <p:nvPr>
            <p:ph type="body" idx="1"/>
          </p:nvPr>
        </p:nvSpPr>
        <p:spPr>
          <a:xfrm>
            <a:off x="742950" y="1219200"/>
            <a:ext cx="8629650" cy="4876800"/>
          </a:xfrm>
        </p:spPr>
        <p:txBody>
          <a:bodyPr/>
          <a:lstStyle/>
          <a:p>
            <a:pPr algn="just" eaLnBrk="1" hangingPunct="1"/>
            <a:r>
              <a:rPr lang="zh-CN" altLang="en-US">
                <a:ea typeface="宋体" panose="02010600030101010101" pitchFamily="2" charset="-122"/>
              </a:rPr>
              <a:t>把每个像素分为四个子像素，扫描转换算法求得各子像素的灰度值，然后对四像素的灰度值简单平均，作为该像素的灰度值。</a:t>
            </a:r>
          </a:p>
          <a:p>
            <a:pPr eaLnBrk="1" hangingPunct="1"/>
            <a:endParaRPr lang="zh-CN" altLang="en-US">
              <a:ea typeface="宋体" panose="02010600030101010101" pitchFamily="2" charset="-122"/>
            </a:endParaRPr>
          </a:p>
        </p:txBody>
      </p:sp>
      <p:pic>
        <p:nvPicPr>
          <p:cNvPr id="66565" name="Picture 4" descr="平均子像素"/>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0963" y="2982913"/>
            <a:ext cx="5448300" cy="362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91A0707-D600-4005-939D-A74009F5A742}" type="slidenum">
              <a:rPr lang="zh-CN" altLang="en-US" sz="1400" smtClean="0">
                <a:latin typeface="Arial" panose="020B0604020202020204" pitchFamily="34" charset="0"/>
              </a:rPr>
              <a:t>40</a:t>
            </a:fld>
            <a:endParaRPr lang="en-US" altLang="zh-CN" sz="1400">
              <a:latin typeface="Arial" panose="020B0604020202020204" pitchFamily="34" charset="0"/>
            </a:endParaRPr>
          </a:p>
        </p:txBody>
      </p:sp>
      <p:sp>
        <p:nvSpPr>
          <p:cNvPr id="67587"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简单区域取样</a:t>
            </a:r>
          </a:p>
        </p:txBody>
      </p:sp>
      <p:sp>
        <p:nvSpPr>
          <p:cNvPr id="44036" name="Rectangle 3"/>
          <p:cNvSpPr>
            <a:spLocks noGrp="1" noChangeArrowheads="1"/>
          </p:cNvSpPr>
          <p:nvPr>
            <p:ph type="body" idx="1"/>
          </p:nvPr>
        </p:nvSpPr>
        <p:spPr>
          <a:xfrm>
            <a:off x="247650" y="1066800"/>
            <a:ext cx="9245600" cy="5029200"/>
          </a:xfrm>
        </p:spPr>
        <p:txBody>
          <a:bodyPr/>
          <a:lstStyle/>
          <a:p>
            <a:pPr eaLnBrk="1" hangingPunct="1"/>
            <a:r>
              <a:rPr lang="zh-CN" altLang="en-US" b="1">
                <a:solidFill>
                  <a:schemeClr val="accent2"/>
                </a:solidFill>
                <a:ea typeface="宋体" panose="02010600030101010101" pitchFamily="2" charset="-122"/>
              </a:rPr>
              <a:t>问题源由</a:t>
            </a:r>
          </a:p>
          <a:p>
            <a:pPr lvl="1" eaLnBrk="1" hangingPunct="1"/>
            <a:r>
              <a:rPr lang="zh-CN" altLang="en-US" sz="3200">
                <a:ea typeface="宋体" panose="02010600030101010101" pitchFamily="2" charset="-122"/>
              </a:rPr>
              <a:t>假设</a:t>
            </a:r>
          </a:p>
          <a:p>
            <a:pPr lvl="2" algn="just" eaLnBrk="1" hangingPunct="1">
              <a:buFontTx/>
              <a:buNone/>
            </a:pPr>
            <a:r>
              <a:rPr lang="zh-CN" altLang="en-US" sz="3200">
                <a:ea typeface="宋体" panose="02010600030101010101" pitchFamily="2" charset="-122"/>
              </a:rPr>
              <a:t>像素是数学上抽象的点，面积为</a:t>
            </a:r>
            <a:r>
              <a:rPr lang="en-US" altLang="zh-CN" sz="3200">
                <a:ea typeface="宋体" panose="02010600030101010101" pitchFamily="2" charset="-122"/>
              </a:rPr>
              <a:t>0</a:t>
            </a:r>
            <a:r>
              <a:rPr lang="zh-CN" altLang="en-US" sz="3200">
                <a:ea typeface="宋体" panose="02010600030101010101" pitchFamily="2" charset="-122"/>
              </a:rPr>
              <a:t>，亮度由覆盖该点图形的亮度所决定</a:t>
            </a:r>
          </a:p>
          <a:p>
            <a:pPr lvl="2" eaLnBrk="1" hangingPunct="1">
              <a:buFontTx/>
              <a:buNone/>
            </a:pPr>
            <a:r>
              <a:rPr lang="zh-CN" altLang="en-US" sz="3200">
                <a:ea typeface="宋体" panose="02010600030101010101" pitchFamily="2" charset="-122"/>
              </a:rPr>
              <a:t>直线段是数学上抽象直线段，宽度为</a:t>
            </a:r>
            <a:r>
              <a:rPr lang="en-US" altLang="zh-CN" sz="3200">
                <a:ea typeface="宋体" panose="02010600030101010101" pitchFamily="2" charset="-122"/>
              </a:rPr>
              <a:t>0</a:t>
            </a:r>
            <a:endParaRPr lang="zh-CN" altLang="en-US" sz="3200">
              <a:ea typeface="宋体" panose="02010600030101010101" pitchFamily="2" charset="-122"/>
            </a:endParaRPr>
          </a:p>
          <a:p>
            <a:pPr lvl="1" eaLnBrk="1" hangingPunct="1"/>
            <a:r>
              <a:rPr lang="zh-CN" altLang="en-US" sz="3200">
                <a:ea typeface="宋体" panose="02010600030101010101" pitchFamily="2" charset="-122"/>
              </a:rPr>
              <a:t>实际</a:t>
            </a:r>
          </a:p>
          <a:p>
            <a:pPr lvl="2" eaLnBrk="1" hangingPunct="1">
              <a:buFontTx/>
              <a:buNone/>
            </a:pPr>
            <a:r>
              <a:rPr lang="zh-CN" altLang="en-US" sz="3200">
                <a:ea typeface="宋体" panose="02010600030101010101" pitchFamily="2" charset="-122"/>
              </a:rPr>
              <a:t>像素面积不为</a:t>
            </a:r>
            <a:r>
              <a:rPr lang="en-US" altLang="zh-CN" sz="3200">
                <a:ea typeface="宋体" panose="02010600030101010101" pitchFamily="2" charset="-122"/>
              </a:rPr>
              <a:t>0</a:t>
            </a:r>
            <a:endParaRPr lang="zh-CN" altLang="en-US" sz="3200">
              <a:ea typeface="宋体" panose="02010600030101010101" pitchFamily="2" charset="-122"/>
            </a:endParaRPr>
          </a:p>
          <a:p>
            <a:pPr lvl="2" eaLnBrk="1" hangingPunct="1">
              <a:buFontTx/>
              <a:buNone/>
            </a:pPr>
            <a:r>
              <a:rPr lang="zh-CN" altLang="en-US" sz="3200">
                <a:ea typeface="宋体" panose="02010600030101010101" pitchFamily="2" charset="-122"/>
              </a:rPr>
              <a:t>直线段宽度至少为</a:t>
            </a:r>
            <a:r>
              <a:rPr lang="en-US" altLang="zh-CN" sz="3200">
                <a:ea typeface="宋体" panose="02010600030101010101" pitchFamily="2" charset="-122"/>
              </a:rPr>
              <a:t>1</a:t>
            </a:r>
            <a:r>
              <a:rPr lang="zh-CN" altLang="en-US" sz="3200">
                <a:ea typeface="宋体" panose="02010600030101010101" pitchFamily="2" charset="-122"/>
              </a:rPr>
              <a:t>个像素</a:t>
            </a:r>
          </a:p>
        </p:txBody>
      </p:sp>
      <p:pic>
        <p:nvPicPr>
          <p:cNvPr id="2" name="图片 1"/>
          <p:cNvPicPr>
            <a:picLocks noChangeAspect="1"/>
          </p:cNvPicPr>
          <p:nvPr/>
        </p:nvPicPr>
        <p:blipFill>
          <a:blip r:embed="rId2"/>
          <a:stretch>
            <a:fillRect/>
          </a:stretch>
        </p:blipFill>
        <p:spPr>
          <a:xfrm>
            <a:off x="7439271" y="4362667"/>
            <a:ext cx="1971429" cy="1733333"/>
          </a:xfrm>
          <a:prstGeom prst="rect">
            <a:avLst/>
          </a:prstGeom>
        </p:spPr>
      </p:pic>
    </p:spTree>
  </p:cSld>
  <p:clrMapOvr>
    <a:masterClrMapping/>
  </p:clrMapOvr>
  <p:transition advClick="0">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036">
                                            <p:txEl>
                                              <p:pRg st="0" end="0"/>
                                            </p:txEl>
                                          </p:spTgt>
                                        </p:tgtEl>
                                        <p:attrNameLst>
                                          <p:attrName>style.visibility</p:attrName>
                                        </p:attrNameLst>
                                      </p:cBhvr>
                                      <p:to>
                                        <p:strVal val="visible"/>
                                      </p:to>
                                    </p:set>
                                    <p:animEffect transition="in" filter="blinds(horizontal)">
                                      <p:cBhvr>
                                        <p:cTn id="7" dur="500"/>
                                        <p:tgtEl>
                                          <p:spTgt spid="4403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4036">
                                            <p:txEl>
                                              <p:pRg st="1" end="1"/>
                                            </p:txEl>
                                          </p:spTgt>
                                        </p:tgtEl>
                                        <p:attrNameLst>
                                          <p:attrName>style.visibility</p:attrName>
                                        </p:attrNameLst>
                                      </p:cBhvr>
                                      <p:to>
                                        <p:strVal val="visible"/>
                                      </p:to>
                                    </p:set>
                                    <p:animEffect transition="in" filter="blinds(horizontal)">
                                      <p:cBhvr>
                                        <p:cTn id="12" dur="500"/>
                                        <p:tgtEl>
                                          <p:spTgt spid="4403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4036">
                                            <p:txEl>
                                              <p:pRg st="2" end="2"/>
                                            </p:txEl>
                                          </p:spTgt>
                                        </p:tgtEl>
                                        <p:attrNameLst>
                                          <p:attrName>style.visibility</p:attrName>
                                        </p:attrNameLst>
                                      </p:cBhvr>
                                      <p:to>
                                        <p:strVal val="visible"/>
                                      </p:to>
                                    </p:set>
                                    <p:animEffect transition="in" filter="blinds(horizontal)">
                                      <p:cBhvr>
                                        <p:cTn id="17" dur="500"/>
                                        <p:tgtEl>
                                          <p:spTgt spid="4403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4036">
                                            <p:txEl>
                                              <p:pRg st="3" end="3"/>
                                            </p:txEl>
                                          </p:spTgt>
                                        </p:tgtEl>
                                        <p:attrNameLst>
                                          <p:attrName>style.visibility</p:attrName>
                                        </p:attrNameLst>
                                      </p:cBhvr>
                                      <p:to>
                                        <p:strVal val="visible"/>
                                      </p:to>
                                    </p:set>
                                    <p:animEffect transition="in" filter="blinds(horizontal)">
                                      <p:cBhvr>
                                        <p:cTn id="22" dur="500"/>
                                        <p:tgtEl>
                                          <p:spTgt spid="4403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4036">
                                            <p:txEl>
                                              <p:pRg st="4" end="4"/>
                                            </p:txEl>
                                          </p:spTgt>
                                        </p:tgtEl>
                                        <p:attrNameLst>
                                          <p:attrName>style.visibility</p:attrName>
                                        </p:attrNameLst>
                                      </p:cBhvr>
                                      <p:to>
                                        <p:strVal val="visible"/>
                                      </p:to>
                                    </p:set>
                                    <p:animEffect transition="in" filter="blinds(horizontal)">
                                      <p:cBhvr>
                                        <p:cTn id="27" dur="500"/>
                                        <p:tgtEl>
                                          <p:spTgt spid="4403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4036">
                                            <p:txEl>
                                              <p:pRg st="5" end="5"/>
                                            </p:txEl>
                                          </p:spTgt>
                                        </p:tgtEl>
                                        <p:attrNameLst>
                                          <p:attrName>style.visibility</p:attrName>
                                        </p:attrNameLst>
                                      </p:cBhvr>
                                      <p:to>
                                        <p:strVal val="visible"/>
                                      </p:to>
                                    </p:set>
                                    <p:animEffect transition="in" filter="blinds(horizontal)">
                                      <p:cBhvr>
                                        <p:cTn id="32" dur="500"/>
                                        <p:tgtEl>
                                          <p:spTgt spid="4403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44036">
                                            <p:txEl>
                                              <p:pRg st="6" end="6"/>
                                            </p:txEl>
                                          </p:spTgt>
                                        </p:tgtEl>
                                        <p:attrNameLst>
                                          <p:attrName>style.visibility</p:attrName>
                                        </p:attrNameLst>
                                      </p:cBhvr>
                                      <p:to>
                                        <p:strVal val="visible"/>
                                      </p:to>
                                    </p:set>
                                    <p:animEffect transition="in" filter="blinds(horizontal)">
                                      <p:cBhvr>
                                        <p:cTn id="37" dur="500"/>
                                        <p:tgtEl>
                                          <p:spTgt spid="4403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146" name="Object 5"/>
          <p:cNvGraphicFramePr>
            <a:graphicFrameLocks noChangeAspect="1"/>
          </p:cNvGraphicFramePr>
          <p:nvPr/>
        </p:nvGraphicFramePr>
        <p:xfrm>
          <a:off x="4953000" y="4424363"/>
          <a:ext cx="4953000" cy="2433637"/>
        </p:xfrm>
        <a:graphic>
          <a:graphicData uri="http://schemas.openxmlformats.org/presentationml/2006/ole">
            <mc:AlternateContent xmlns:mc="http://schemas.openxmlformats.org/markup-compatibility/2006">
              <mc:Choice xmlns:v="urn:schemas-microsoft-com:vml" Requires="v">
                <p:oleObj spid="_x0000_s68701" name="VISIO" r:id="rId4" imgW="4795520" imgH="2296160" progId="Visio.Drawing.5">
                  <p:embed/>
                </p:oleObj>
              </mc:Choice>
              <mc:Fallback>
                <p:oleObj name="VISIO" r:id="rId4" imgW="4795520" imgH="2296160" progId="Visio.Drawing.5">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4424363"/>
                        <a:ext cx="4953000" cy="2433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611"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581A84B-BAD3-428F-A085-24D228B63CC0}" type="slidenum">
              <a:rPr lang="zh-CN" altLang="en-US" sz="1400" smtClean="0">
                <a:latin typeface="Arial" panose="020B0604020202020204" pitchFamily="34" charset="0"/>
              </a:rPr>
              <a:t>41</a:t>
            </a:fld>
            <a:endParaRPr lang="en-US" altLang="zh-CN" sz="1400">
              <a:latin typeface="Arial" panose="020B0604020202020204" pitchFamily="34" charset="0"/>
            </a:endParaRPr>
          </a:p>
        </p:txBody>
      </p:sp>
      <p:sp>
        <p:nvSpPr>
          <p:cNvPr id="68612"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简单区域取样</a:t>
            </a:r>
          </a:p>
        </p:txBody>
      </p:sp>
      <p:sp>
        <p:nvSpPr>
          <p:cNvPr id="6149" name="Rectangle 3"/>
          <p:cNvSpPr>
            <a:spLocks noGrp="1" noChangeArrowheads="1"/>
          </p:cNvSpPr>
          <p:nvPr>
            <p:ph type="body" idx="1"/>
          </p:nvPr>
        </p:nvSpPr>
        <p:spPr>
          <a:xfrm>
            <a:off x="427038" y="990600"/>
            <a:ext cx="9250362" cy="4724400"/>
          </a:xfrm>
        </p:spPr>
        <p:txBody>
          <a:bodyPr/>
          <a:lstStyle/>
          <a:p>
            <a:pPr lvl="1" eaLnBrk="1" hangingPunct="1">
              <a:buFontTx/>
              <a:buNone/>
            </a:pPr>
            <a:r>
              <a:rPr lang="zh-CN" altLang="en-US" sz="3200">
                <a:ea typeface="宋体" panose="02010600030101010101" pitchFamily="2" charset="-122"/>
              </a:rPr>
              <a:t>解决方法：改变直线段模型，由此产生算法</a:t>
            </a:r>
          </a:p>
          <a:p>
            <a:r>
              <a:rPr kumimoji="1" lang="en-US" altLang="zh-CN">
                <a:ea typeface="宋体" panose="02010600030101010101" pitchFamily="2" charset="-122"/>
              </a:rPr>
              <a:t>1. </a:t>
            </a:r>
            <a:r>
              <a:rPr kumimoji="1" lang="zh-CN" altLang="en-US">
                <a:ea typeface="宋体" panose="02010600030101010101" pitchFamily="2" charset="-122"/>
              </a:rPr>
              <a:t>将直线段看作具有一定宽度的狭长矩形</a:t>
            </a:r>
          </a:p>
          <a:p>
            <a:r>
              <a:rPr kumimoji="1" lang="en-US" altLang="zh-CN">
                <a:ea typeface="宋体" panose="02010600030101010101" pitchFamily="2" charset="-122"/>
              </a:rPr>
              <a:t>2. </a:t>
            </a:r>
            <a:r>
              <a:rPr kumimoji="1" lang="zh-CN" altLang="en-US">
                <a:ea typeface="宋体" panose="02010600030101010101" pitchFamily="2" charset="-122"/>
              </a:rPr>
              <a:t>当直线段与某像素有交时，求出两者相交区域的面积</a:t>
            </a:r>
          </a:p>
        </p:txBody>
      </p:sp>
      <p:graphicFrame>
        <p:nvGraphicFramePr>
          <p:cNvPr id="7" name="Object 4"/>
          <p:cNvGraphicFramePr>
            <a:graphicFrameLocks noChangeAspect="1"/>
          </p:cNvGraphicFramePr>
          <p:nvPr/>
        </p:nvGraphicFramePr>
        <p:xfrm>
          <a:off x="427038" y="3913437"/>
          <a:ext cx="3988872" cy="2174625"/>
        </p:xfrm>
        <a:graphic>
          <a:graphicData uri="http://schemas.openxmlformats.org/presentationml/2006/ole">
            <mc:AlternateContent xmlns:mc="http://schemas.openxmlformats.org/markup-compatibility/2006">
              <mc:Choice xmlns:v="urn:schemas-microsoft-com:vml" Requires="v">
                <p:oleObj spid="_x0000_s68702" name="VISIO" r:id="rId6" imgW="3759200" imgH="2052320" progId="Visio.Drawing.5">
                  <p:embed/>
                </p:oleObj>
              </mc:Choice>
              <mc:Fallback>
                <p:oleObj name="VISIO" r:id="rId6" imgW="3759200" imgH="2052320" progId="Visio.Drawing.5">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7038" y="3913437"/>
                        <a:ext cx="3988872" cy="2174625"/>
                      </a:xfrm>
                      <a:prstGeom prst="rect">
                        <a:avLst/>
                      </a:prstGeom>
                      <a:solidFill>
                        <a:schemeClr val="bg1"/>
                      </a:solidFill>
                      <a:ln>
                        <a:noFill/>
                      </a:ln>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9">
                                            <p:txEl>
                                              <p:pRg st="0" end="0"/>
                                            </p:txEl>
                                          </p:spTgt>
                                        </p:tgtEl>
                                        <p:attrNameLst>
                                          <p:attrName>style.visibility</p:attrName>
                                        </p:attrNameLst>
                                      </p:cBhvr>
                                      <p:to>
                                        <p:strVal val="visible"/>
                                      </p:to>
                                    </p:set>
                                    <p:animEffect transition="in" filter="blinds(horizontal)">
                                      <p:cBhvr>
                                        <p:cTn id="7" dur="500"/>
                                        <p:tgtEl>
                                          <p:spTgt spid="61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149">
                                            <p:txEl>
                                              <p:pRg st="1" end="1"/>
                                            </p:txEl>
                                          </p:spTgt>
                                        </p:tgtEl>
                                        <p:attrNameLst>
                                          <p:attrName>style.visibility</p:attrName>
                                        </p:attrNameLst>
                                      </p:cBhvr>
                                      <p:to>
                                        <p:strVal val="visible"/>
                                      </p:to>
                                    </p:set>
                                    <p:animEffect transition="in" filter="blinds(horizontal)">
                                      <p:cBhvr>
                                        <p:cTn id="12" dur="500"/>
                                        <p:tgtEl>
                                          <p:spTgt spid="614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149">
                                            <p:txEl>
                                              <p:pRg st="2" end="2"/>
                                            </p:txEl>
                                          </p:spTgt>
                                        </p:tgtEl>
                                        <p:attrNameLst>
                                          <p:attrName>style.visibility</p:attrName>
                                        </p:attrNameLst>
                                      </p:cBhvr>
                                      <p:to>
                                        <p:strVal val="visible"/>
                                      </p:to>
                                    </p:set>
                                    <p:animEffect transition="in" filter="blinds(horizontal)">
                                      <p:cBhvr>
                                        <p:cTn id="17" dur="500"/>
                                        <p:tgtEl>
                                          <p:spTgt spid="614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blinds(horizontal)">
                                      <p:cBhvr>
                                        <p:cTn id="22"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9634" name="Object 5"/>
          <p:cNvGraphicFramePr>
            <a:graphicFrameLocks noChangeAspect="1"/>
          </p:cNvGraphicFramePr>
          <p:nvPr/>
        </p:nvGraphicFramePr>
        <p:xfrm>
          <a:off x="263525" y="4179888"/>
          <a:ext cx="4953000" cy="2433637"/>
        </p:xfrm>
        <a:graphic>
          <a:graphicData uri="http://schemas.openxmlformats.org/presentationml/2006/ole">
            <mc:AlternateContent xmlns:mc="http://schemas.openxmlformats.org/markup-compatibility/2006">
              <mc:Choice xmlns:v="urn:schemas-microsoft-com:vml" Requires="v">
                <p:oleObj spid="_x0000_s69701" name="VISIO" r:id="rId3" imgW="4795520" imgH="2296160" progId="Visio.Drawing.5">
                  <p:embed/>
                </p:oleObj>
              </mc:Choice>
              <mc:Fallback>
                <p:oleObj name="VISIO" r:id="rId3" imgW="4795520" imgH="2296160" progId="Visio.Drawing.5">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525" y="4179888"/>
                        <a:ext cx="4953000" cy="243363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9635"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6383E23-89A7-41A0-A3E3-6A6778534405}" type="slidenum">
              <a:rPr lang="zh-CN" altLang="en-US" sz="1400" smtClean="0">
                <a:latin typeface="Arial" panose="020B0604020202020204" pitchFamily="34" charset="0"/>
              </a:rPr>
              <a:t>42</a:t>
            </a:fld>
            <a:endParaRPr lang="en-US" altLang="zh-CN" sz="1400">
              <a:latin typeface="Arial" panose="020B0604020202020204" pitchFamily="34" charset="0"/>
            </a:endParaRPr>
          </a:p>
        </p:txBody>
      </p:sp>
      <p:sp>
        <p:nvSpPr>
          <p:cNvPr id="69636" name="Rectangle 2"/>
          <p:cNvSpPr>
            <a:spLocks noGrp="1" noChangeArrowheads="1"/>
          </p:cNvSpPr>
          <p:nvPr>
            <p:ph type="title"/>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简单区域取样</a:t>
            </a:r>
          </a:p>
        </p:txBody>
      </p:sp>
      <p:sp>
        <p:nvSpPr>
          <p:cNvPr id="6149" name="Rectangle 3"/>
          <p:cNvSpPr>
            <a:spLocks noGrp="1" noChangeArrowheads="1"/>
          </p:cNvSpPr>
          <p:nvPr>
            <p:ph type="body" idx="1"/>
          </p:nvPr>
        </p:nvSpPr>
        <p:spPr>
          <a:xfrm>
            <a:off x="427038" y="990600"/>
            <a:ext cx="9250362" cy="4724400"/>
          </a:xfrm>
        </p:spPr>
        <p:txBody>
          <a:bodyPr/>
          <a:lstStyle/>
          <a:p>
            <a:pPr lvl="1" eaLnBrk="1" hangingPunct="1">
              <a:buFontTx/>
              <a:buNone/>
            </a:pPr>
            <a:r>
              <a:rPr lang="zh-CN" altLang="en-US" sz="3200">
                <a:ea typeface="宋体" panose="02010600030101010101" pitchFamily="2" charset="-122"/>
              </a:rPr>
              <a:t>解决方法：改变直线段模型，由此产生算法</a:t>
            </a:r>
          </a:p>
          <a:p>
            <a:r>
              <a:rPr kumimoji="1" lang="en-US" altLang="zh-CN">
                <a:ea typeface="宋体" panose="02010600030101010101" pitchFamily="2" charset="-122"/>
              </a:rPr>
              <a:t>1. </a:t>
            </a:r>
            <a:r>
              <a:rPr kumimoji="1" lang="zh-CN" altLang="en-US">
                <a:ea typeface="宋体" panose="02010600030101010101" pitchFamily="2" charset="-122"/>
              </a:rPr>
              <a:t>将直线段看作具有一定宽度的狭长矩形</a:t>
            </a:r>
          </a:p>
          <a:p>
            <a:r>
              <a:rPr kumimoji="1" lang="en-US" altLang="zh-CN">
                <a:ea typeface="宋体" panose="02010600030101010101" pitchFamily="2" charset="-122"/>
              </a:rPr>
              <a:t>2. </a:t>
            </a:r>
            <a:r>
              <a:rPr kumimoji="1" lang="zh-CN" altLang="en-US">
                <a:ea typeface="宋体" panose="02010600030101010101" pitchFamily="2" charset="-122"/>
              </a:rPr>
              <a:t>当直线段与某像素有交时，求出两者相交区域的面积</a:t>
            </a:r>
          </a:p>
          <a:p>
            <a:r>
              <a:rPr kumimoji="1" lang="en-US" altLang="zh-CN">
                <a:ea typeface="宋体" panose="02010600030101010101" pitchFamily="2" charset="-122"/>
              </a:rPr>
              <a:t>3. </a:t>
            </a:r>
            <a:r>
              <a:rPr kumimoji="1" lang="zh-CN" altLang="en-US">
                <a:ea typeface="宋体" panose="02010600030101010101" pitchFamily="2" charset="-122"/>
              </a:rPr>
              <a:t>根据相交区域的面积，确定该像素的亮度值 </a:t>
            </a:r>
          </a:p>
        </p:txBody>
      </p:sp>
      <p:pic>
        <p:nvPicPr>
          <p:cNvPr id="2" name="图片 1"/>
          <p:cNvPicPr>
            <a:picLocks noChangeAspect="1"/>
          </p:cNvPicPr>
          <p:nvPr/>
        </p:nvPicPr>
        <p:blipFill>
          <a:blip r:embed="rId5"/>
          <a:stretch>
            <a:fillRect/>
          </a:stretch>
        </p:blipFill>
        <p:spPr>
          <a:xfrm>
            <a:off x="5561233" y="4326746"/>
            <a:ext cx="3849467" cy="2184181"/>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49">
                                            <p:txEl>
                                              <p:pRg st="3" end="3"/>
                                            </p:txEl>
                                          </p:spTgt>
                                        </p:tgtEl>
                                        <p:attrNameLst>
                                          <p:attrName>style.visibility</p:attrName>
                                        </p:attrNameLst>
                                      </p:cBhvr>
                                      <p:to>
                                        <p:strVal val="visible"/>
                                      </p:to>
                                    </p:set>
                                    <p:animEffect transition="in" filter="blinds(horizontal)">
                                      <p:cBhvr>
                                        <p:cTn id="7" dur="500"/>
                                        <p:tgtEl>
                                          <p:spTgt spid="614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E542146-DD14-4564-B3E6-DBE8AB91E255}" type="slidenum">
              <a:rPr lang="zh-CN" altLang="en-US" sz="1400" smtClean="0">
                <a:latin typeface="Arial" panose="020B0604020202020204" pitchFamily="34" charset="0"/>
              </a:rPr>
              <a:t>43</a:t>
            </a:fld>
            <a:endParaRPr lang="en-US" altLang="zh-CN" sz="1400">
              <a:latin typeface="Arial" panose="020B0604020202020204" pitchFamily="34" charset="0"/>
            </a:endParaRPr>
          </a:p>
        </p:txBody>
      </p:sp>
      <p:sp>
        <p:nvSpPr>
          <p:cNvPr id="70659" name="Rectangle 2"/>
          <p:cNvSpPr>
            <a:spLocks noGrp="1" noChangeArrowheads="1"/>
          </p:cNvSpPr>
          <p:nvPr>
            <p:ph type="title" idx="4294967295"/>
          </p:nvPr>
        </p:nvSpPr>
        <p:spPr>
          <a:xfrm>
            <a:off x="742950" y="0"/>
            <a:ext cx="842010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简单区域取样</a:t>
            </a:r>
          </a:p>
        </p:txBody>
      </p:sp>
      <p:sp>
        <p:nvSpPr>
          <p:cNvPr id="45060" name="Text Box 3"/>
          <p:cNvSpPr txBox="1">
            <a:spLocks noChangeArrowheads="1"/>
          </p:cNvSpPr>
          <p:nvPr/>
        </p:nvSpPr>
        <p:spPr bwMode="auto">
          <a:xfrm>
            <a:off x="282575" y="1196975"/>
            <a:ext cx="9361488" cy="37988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lvl="1" eaLnBrk="1" hangingPunct="1">
              <a:lnSpc>
                <a:spcPct val="90000"/>
              </a:lnSpc>
              <a:buFont typeface="Arial" panose="020B0604020202020204" pitchFamily="34" charset="0"/>
              <a:buChar char="•"/>
            </a:pPr>
            <a:r>
              <a:rPr kumimoji="1" lang="zh-CN" altLang="en-US" sz="3600" dirty="0">
                <a:solidFill>
                  <a:schemeClr val="accent2"/>
                </a:solidFill>
                <a:latin typeface="宋体" panose="02010600030101010101" pitchFamily="2" charset="-122"/>
                <a:ea typeface="宋体" panose="02010600030101010101" pitchFamily="2" charset="-122"/>
              </a:rPr>
              <a:t>  缺点：</a:t>
            </a:r>
          </a:p>
          <a:p>
            <a:pPr marL="0" lvl="1" eaLnBrk="1" hangingPunct="1">
              <a:lnSpc>
                <a:spcPct val="90000"/>
              </a:lnSpc>
              <a:buFont typeface="宋体" panose="02010600030101010101" pitchFamily="2" charset="-122"/>
              <a:buChar char="•"/>
            </a:pPr>
            <a:r>
              <a:rPr kumimoji="1" lang="zh-CN" altLang="en-US" sz="3600" dirty="0">
                <a:latin typeface="宋体" panose="02010600030101010101" pitchFamily="2" charset="-122"/>
                <a:ea typeface="宋体" panose="02010600030101010101" pitchFamily="2" charset="-122"/>
              </a:rPr>
              <a:t> 像素亮度与相交区域的面积成正比，而与相交区域落在像素内的位置无关，这仍然会导致锯齿效应</a:t>
            </a:r>
          </a:p>
          <a:p>
            <a:pPr marL="0" lvl="1" eaLnBrk="1" hangingPunct="1">
              <a:lnSpc>
                <a:spcPct val="90000"/>
              </a:lnSpc>
              <a:buFont typeface="宋体" panose="02010600030101010101" pitchFamily="2" charset="-122"/>
              <a:buChar char="•"/>
            </a:pPr>
            <a:r>
              <a:rPr kumimoji="1" lang="zh-CN" altLang="en-US" sz="3600" dirty="0">
                <a:latin typeface="宋体" panose="02010600030101010101" pitchFamily="2" charset="-122"/>
                <a:ea typeface="宋体" panose="02010600030101010101" pitchFamily="2" charset="-122"/>
              </a:rPr>
              <a:t> 因为直线条上沿理想直线方向的相邻两个像素有时会有较大的灰度差</a:t>
            </a:r>
          </a:p>
          <a:p>
            <a:pPr eaLnBrk="1" hangingPunct="1">
              <a:spcBef>
                <a:spcPct val="0"/>
              </a:spcBef>
              <a:buFontTx/>
              <a:buNone/>
            </a:pPr>
            <a:endParaRPr kumimoji="1" lang="zh-CN" altLang="en-US" dirty="0">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5060">
                                            <p:txEl>
                                              <p:pRg st="0" end="0"/>
                                            </p:txEl>
                                          </p:spTgt>
                                        </p:tgtEl>
                                        <p:attrNameLst>
                                          <p:attrName>style.visibility</p:attrName>
                                        </p:attrNameLst>
                                      </p:cBhvr>
                                      <p:to>
                                        <p:strVal val="visible"/>
                                      </p:to>
                                    </p:set>
                                    <p:animEffect transition="in" filter="blinds(horizontal)">
                                      <p:cBhvr>
                                        <p:cTn id="7" dur="500"/>
                                        <p:tgtEl>
                                          <p:spTgt spid="4506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5060">
                                            <p:txEl>
                                              <p:pRg st="1" end="1"/>
                                            </p:txEl>
                                          </p:spTgt>
                                        </p:tgtEl>
                                        <p:attrNameLst>
                                          <p:attrName>style.visibility</p:attrName>
                                        </p:attrNameLst>
                                      </p:cBhvr>
                                      <p:to>
                                        <p:strVal val="visible"/>
                                      </p:to>
                                    </p:set>
                                    <p:animEffect transition="in" filter="blinds(horizontal)">
                                      <p:cBhvr>
                                        <p:cTn id="12" dur="500"/>
                                        <p:tgtEl>
                                          <p:spTgt spid="4506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5060">
                                            <p:txEl>
                                              <p:pRg st="2" end="2"/>
                                            </p:txEl>
                                          </p:spTgt>
                                        </p:tgtEl>
                                        <p:attrNameLst>
                                          <p:attrName>style.visibility</p:attrName>
                                        </p:attrNameLst>
                                      </p:cBhvr>
                                      <p:to>
                                        <p:strVal val="visible"/>
                                      </p:to>
                                    </p:set>
                                    <p:animEffect transition="in" filter="blinds(horizontal)">
                                      <p:cBhvr>
                                        <p:cTn id="17" dur="500"/>
                                        <p:tgtEl>
                                          <p:spTgt spid="4506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DA9812D8-984D-497E-A996-3526AAAB37F7}" type="slidenum">
              <a:rPr lang="zh-CN" altLang="en-US" sz="1400" smtClean="0">
                <a:latin typeface="Arial" panose="020B0604020202020204" pitchFamily="34" charset="0"/>
              </a:rPr>
              <a:t>44</a:t>
            </a:fld>
            <a:endParaRPr lang="en-US" altLang="zh-CN" sz="1400">
              <a:latin typeface="Arial" panose="020B0604020202020204" pitchFamily="34" charset="0"/>
            </a:endParaRPr>
          </a:p>
        </p:txBody>
      </p:sp>
      <p:graphicFrame>
        <p:nvGraphicFramePr>
          <p:cNvPr id="71683" name="Object 2"/>
          <p:cNvGraphicFramePr>
            <a:graphicFrameLocks noChangeAspect="1"/>
          </p:cNvGraphicFramePr>
          <p:nvPr/>
        </p:nvGraphicFramePr>
        <p:xfrm>
          <a:off x="1474788" y="1393825"/>
          <a:ext cx="7072312" cy="5153025"/>
        </p:xfrm>
        <a:graphic>
          <a:graphicData uri="http://schemas.openxmlformats.org/presentationml/2006/ole">
            <mc:AlternateContent xmlns:mc="http://schemas.openxmlformats.org/markup-compatibility/2006">
              <mc:Choice xmlns:v="urn:schemas-microsoft-com:vml" Requires="v">
                <p:oleObj spid="_x0000_s71747" name="Visio" r:id="rId4" imgW="3637280" imgH="2651760" progId="Visio.Drawing.11">
                  <p:embed/>
                </p:oleObj>
              </mc:Choice>
              <mc:Fallback>
                <p:oleObj name="Visio" r:id="rId4" imgW="3637280" imgH="2651760" progId="Visio.Drawing.11">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4788" y="1393825"/>
                        <a:ext cx="7072312" cy="5153025"/>
                      </a:xfrm>
                      <a:prstGeom prst="rect">
                        <a:avLst/>
                      </a:prstGeom>
                      <a:solidFill>
                        <a:schemeClr val="accent1"/>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84" name="Rectangle 3"/>
          <p:cNvSpPr>
            <a:spLocks noGrp="1" noChangeArrowheads="1"/>
          </p:cNvSpPr>
          <p:nvPr>
            <p:ph type="title"/>
          </p:nvPr>
        </p:nvSpPr>
        <p:spPr>
          <a:xfrm>
            <a:off x="1238250" y="112713"/>
            <a:ext cx="7842250" cy="881062"/>
          </a:xfrm>
          <a:noFill/>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加权区域取样</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3AEA22CB-62EB-4603-B9ED-F054D8496EB9}" type="slidenum">
              <a:rPr lang="zh-CN" altLang="en-US" sz="1400" smtClean="0">
                <a:latin typeface="Arial" panose="020B0604020202020204" pitchFamily="34" charset="0"/>
              </a:rPr>
              <a:t>45</a:t>
            </a:fld>
            <a:endParaRPr lang="en-US" altLang="zh-CN" sz="1400">
              <a:latin typeface="Arial" panose="020B0604020202020204" pitchFamily="34" charset="0"/>
            </a:endParaRPr>
          </a:p>
        </p:txBody>
      </p:sp>
      <p:sp>
        <p:nvSpPr>
          <p:cNvPr id="72707" name="Rectangle 2"/>
          <p:cNvSpPr>
            <a:spLocks noGrp="1" noChangeArrowheads="1"/>
          </p:cNvSpPr>
          <p:nvPr>
            <p:ph type="title"/>
          </p:nvPr>
        </p:nvSpPr>
        <p:spPr>
          <a:xfrm>
            <a:off x="1238250" y="150813"/>
            <a:ext cx="7842250" cy="842962"/>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区域取样</a:t>
            </a:r>
          </a:p>
        </p:txBody>
      </p:sp>
      <p:sp>
        <p:nvSpPr>
          <p:cNvPr id="8198" name="Rectangle 3"/>
          <p:cNvSpPr>
            <a:spLocks noGrp="1" noChangeArrowheads="1"/>
          </p:cNvSpPr>
          <p:nvPr>
            <p:ph type="body" idx="1"/>
          </p:nvPr>
        </p:nvSpPr>
        <p:spPr>
          <a:xfrm>
            <a:off x="141288" y="1052513"/>
            <a:ext cx="9621837" cy="5043487"/>
          </a:xfrm>
        </p:spPr>
        <p:txBody>
          <a:bodyPr/>
          <a:lstStyle/>
          <a:p>
            <a:pPr eaLnBrk="1" hangingPunct="1"/>
            <a:r>
              <a:rPr lang="zh-CN" altLang="en-US" dirty="0">
                <a:solidFill>
                  <a:srgbClr val="0000FF"/>
                </a:solidFill>
                <a:ea typeface="宋体" panose="02010600030101010101" pitchFamily="2" charset="-122"/>
              </a:rPr>
              <a:t>简单区域取样：</a:t>
            </a:r>
            <a:r>
              <a:rPr lang="zh-CN" altLang="en-US" dirty="0">
                <a:ea typeface="宋体" panose="02010600030101010101" pitchFamily="2" charset="-122"/>
              </a:rPr>
              <a:t>盒式滤波器，二维加权函数，以</a:t>
            </a:r>
            <a:r>
              <a:rPr lang="en-US" altLang="zh-CN" dirty="0">
                <a:ea typeface="宋体" panose="02010600030101010101" pitchFamily="2" charset="-122"/>
              </a:rPr>
              <a:t>w</a:t>
            </a:r>
            <a:r>
              <a:rPr lang="zh-CN" altLang="en-US" dirty="0">
                <a:ea typeface="宋体" panose="02010600030101010101" pitchFamily="2" charset="-122"/>
              </a:rPr>
              <a:t>表示</a:t>
            </a:r>
            <a:endParaRPr lang="en-US" altLang="zh-CN" dirty="0">
              <a:ea typeface="宋体" panose="02010600030101010101" pitchFamily="2" charset="-122"/>
            </a:endParaRPr>
          </a:p>
          <a:p>
            <a:pPr eaLnBrk="1" hangingPunct="1"/>
            <a:r>
              <a:rPr lang="en-US" altLang="zh-CN" dirty="0">
                <a:ea typeface="宋体" panose="02010600030101010101" pitchFamily="2" charset="-122"/>
              </a:rPr>
              <a:t>w =1   </a:t>
            </a:r>
            <a:r>
              <a:rPr lang="zh-CN" altLang="en-US" dirty="0">
                <a:ea typeface="宋体" panose="02010600030101010101" pitchFamily="2" charset="-122"/>
              </a:rPr>
              <a:t>若在当前像素所代表的正方形上</a:t>
            </a:r>
            <a:endParaRPr lang="en-US" altLang="zh-CN" dirty="0">
              <a:ea typeface="宋体" panose="02010600030101010101" pitchFamily="2" charset="-122"/>
            </a:endParaRPr>
          </a:p>
          <a:p>
            <a:pPr eaLnBrk="1" hangingPunct="1"/>
            <a:r>
              <a:rPr lang="en-US" altLang="zh-CN" dirty="0">
                <a:ea typeface="宋体" panose="02010600030101010101" pitchFamily="2" charset="-122"/>
              </a:rPr>
              <a:t>w =0   </a:t>
            </a:r>
            <a:r>
              <a:rPr lang="zh-CN" altLang="en-US" dirty="0">
                <a:ea typeface="宋体" panose="02010600030101010101" pitchFamily="2" charset="-122"/>
              </a:rPr>
              <a:t>其它区域上</a:t>
            </a:r>
            <a:endParaRPr lang="en-US" altLang="zh-CN" dirty="0">
              <a:ea typeface="宋体" panose="02010600030101010101" pitchFamily="2" charset="-122"/>
            </a:endParaRPr>
          </a:p>
          <a:p>
            <a:pPr eaLnBrk="1" hangingPunct="1"/>
            <a:r>
              <a:rPr lang="zh-CN" altLang="en-US" dirty="0">
                <a:ea typeface="宋体" panose="02010600030101010101" pitchFamily="2" charset="-122"/>
              </a:rPr>
              <a:t>直线条经过该像素时，该像素的灰度值可以通过在像素与直线条的相交区域上对</a:t>
            </a:r>
            <a:r>
              <a:rPr lang="en-US" altLang="zh-CN" dirty="0">
                <a:ea typeface="宋体" panose="02010600030101010101" pitchFamily="2" charset="-122"/>
              </a:rPr>
              <a:t>w</a:t>
            </a:r>
            <a:r>
              <a:rPr lang="zh-CN" altLang="en-US" dirty="0">
                <a:ea typeface="宋体" panose="02010600030101010101" pitchFamily="2" charset="-122"/>
              </a:rPr>
              <a:t>求积分获得</a:t>
            </a:r>
          </a:p>
        </p:txBody>
      </p:sp>
      <p:graphicFrame>
        <p:nvGraphicFramePr>
          <p:cNvPr id="8194" name="Object 6"/>
          <p:cNvGraphicFramePr>
            <a:graphicFrameLocks noChangeAspect="1"/>
          </p:cNvGraphicFramePr>
          <p:nvPr/>
        </p:nvGraphicFramePr>
        <p:xfrm>
          <a:off x="6711950" y="4400550"/>
          <a:ext cx="2889250" cy="1949450"/>
        </p:xfrm>
        <a:graphic>
          <a:graphicData uri="http://schemas.openxmlformats.org/presentationml/2006/ole">
            <mc:AlternateContent xmlns:mc="http://schemas.openxmlformats.org/markup-compatibility/2006">
              <mc:Choice xmlns:v="urn:schemas-microsoft-com:vml" Requires="v">
                <p:oleObj spid="_x0000_s72772" name="Visio" r:id="rId3" imgW="1666875" imgH="1123950" progId="Visio.Drawing.11">
                  <p:embed/>
                </p:oleObj>
              </mc:Choice>
              <mc:Fallback>
                <p:oleObj name="Visio" r:id="rId3" imgW="1666875" imgH="1123950"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1950" y="4400550"/>
                        <a:ext cx="2889250" cy="194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8">
                                            <p:txEl>
                                              <p:pRg st="0" end="0"/>
                                            </p:txEl>
                                          </p:spTgt>
                                        </p:tgtEl>
                                        <p:attrNameLst>
                                          <p:attrName>style.visibility</p:attrName>
                                        </p:attrNameLst>
                                      </p:cBhvr>
                                      <p:to>
                                        <p:strVal val="visible"/>
                                      </p:to>
                                    </p:set>
                                    <p:animEffect transition="in" filter="blinds(horizontal)">
                                      <p:cBhvr>
                                        <p:cTn id="7" dur="500"/>
                                        <p:tgtEl>
                                          <p:spTgt spid="81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4"/>
                                        </p:tgtEl>
                                        <p:attrNameLst>
                                          <p:attrName>style.visibility</p:attrName>
                                        </p:attrNameLst>
                                      </p:cBhvr>
                                      <p:to>
                                        <p:strVal val="visible"/>
                                      </p:to>
                                    </p:set>
                                    <p:animEffect transition="in" filter="blinds(horizontal)">
                                      <p:cBhvr>
                                        <p:cTn id="12" dur="500"/>
                                        <p:tgtEl>
                                          <p:spTgt spid="819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8">
                                            <p:txEl>
                                              <p:pRg st="1" end="1"/>
                                            </p:txEl>
                                          </p:spTgt>
                                        </p:tgtEl>
                                        <p:attrNameLst>
                                          <p:attrName>style.visibility</p:attrName>
                                        </p:attrNameLst>
                                      </p:cBhvr>
                                      <p:to>
                                        <p:strVal val="visible"/>
                                      </p:to>
                                    </p:set>
                                    <p:animEffect transition="in" filter="blinds(horizontal)">
                                      <p:cBhvr>
                                        <p:cTn id="17" dur="500"/>
                                        <p:tgtEl>
                                          <p:spTgt spid="819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98">
                                            <p:txEl>
                                              <p:pRg st="2" end="2"/>
                                            </p:txEl>
                                          </p:spTgt>
                                        </p:tgtEl>
                                        <p:attrNameLst>
                                          <p:attrName>style.visibility</p:attrName>
                                        </p:attrNameLst>
                                      </p:cBhvr>
                                      <p:to>
                                        <p:strVal val="visible"/>
                                      </p:to>
                                    </p:set>
                                    <p:animEffect transition="in" filter="blinds(horizontal)">
                                      <p:cBhvr>
                                        <p:cTn id="22" dur="500"/>
                                        <p:tgtEl>
                                          <p:spTgt spid="819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198">
                                            <p:txEl>
                                              <p:pRg st="3" end="3"/>
                                            </p:txEl>
                                          </p:spTgt>
                                        </p:tgtEl>
                                        <p:attrNameLst>
                                          <p:attrName>style.visibility</p:attrName>
                                        </p:attrNameLst>
                                      </p:cBhvr>
                                      <p:to>
                                        <p:strVal val="visible"/>
                                      </p:to>
                                    </p:set>
                                    <p:animEffect transition="in" filter="blinds(horizontal)">
                                      <p:cBhvr>
                                        <p:cTn id="27" dur="500"/>
                                        <p:tgtEl>
                                          <p:spTgt spid="81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4E79C7B-FF02-4281-8918-6A364FFBEEB6}" type="slidenum">
              <a:rPr lang="zh-CN" altLang="en-US" sz="1400" smtClean="0">
                <a:latin typeface="Arial" panose="020B0604020202020204" pitchFamily="34" charset="0"/>
              </a:rPr>
              <a:t>46</a:t>
            </a:fld>
            <a:endParaRPr lang="en-US" altLang="zh-CN" sz="1400">
              <a:latin typeface="Arial" panose="020B0604020202020204" pitchFamily="34" charset="0"/>
            </a:endParaRPr>
          </a:p>
        </p:txBody>
      </p:sp>
      <p:sp>
        <p:nvSpPr>
          <p:cNvPr id="73731" name="Rectangle 2"/>
          <p:cNvSpPr>
            <a:spLocks noGrp="1" noChangeArrowheads="1"/>
          </p:cNvSpPr>
          <p:nvPr>
            <p:ph type="title"/>
          </p:nvPr>
        </p:nvSpPr>
        <p:spPr>
          <a:xfrm>
            <a:off x="1238250" y="150813"/>
            <a:ext cx="7842250" cy="842962"/>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区域取样</a:t>
            </a:r>
          </a:p>
        </p:txBody>
      </p:sp>
      <p:sp>
        <p:nvSpPr>
          <p:cNvPr id="8198" name="Rectangle 3"/>
          <p:cNvSpPr>
            <a:spLocks noGrp="1" noChangeArrowheads="1"/>
          </p:cNvSpPr>
          <p:nvPr>
            <p:ph type="body" idx="1"/>
          </p:nvPr>
        </p:nvSpPr>
        <p:spPr>
          <a:xfrm>
            <a:off x="141288" y="1052513"/>
            <a:ext cx="9621837" cy="5043487"/>
          </a:xfrm>
        </p:spPr>
        <p:txBody>
          <a:bodyPr/>
          <a:lstStyle/>
          <a:p>
            <a:pPr eaLnBrk="1" hangingPunct="1"/>
            <a:r>
              <a:rPr lang="zh-CN" altLang="en-US" dirty="0">
                <a:solidFill>
                  <a:schemeClr val="accent2"/>
                </a:solidFill>
                <a:ea typeface="宋体" panose="02010600030101010101" pitchFamily="2" charset="-122"/>
              </a:rPr>
              <a:t>加权区域采样：</a:t>
            </a:r>
            <a:r>
              <a:rPr lang="zh-CN" altLang="en-US" dirty="0">
                <a:ea typeface="宋体" panose="02010600030101010101" pitchFamily="2" charset="-122"/>
              </a:rPr>
              <a:t>圆锥形滤波器</a:t>
            </a:r>
            <a:endParaRPr lang="en-US" altLang="zh-CN" dirty="0">
              <a:ea typeface="宋体" panose="02010600030101010101" pitchFamily="2" charset="-122"/>
            </a:endParaRPr>
          </a:p>
          <a:p>
            <a:pPr eaLnBrk="1" hangingPunct="1"/>
            <a:r>
              <a:rPr lang="zh-CN" altLang="en-US" dirty="0">
                <a:ea typeface="宋体" panose="02010600030101010101" pitchFamily="2" charset="-122"/>
              </a:rPr>
              <a:t>圆锥的底圆中心在</a:t>
            </a:r>
            <a:r>
              <a:rPr lang="zh-CN" altLang="en-US" dirty="0">
                <a:solidFill>
                  <a:srgbClr val="FF0000"/>
                </a:solidFill>
                <a:ea typeface="宋体" panose="02010600030101010101" pitchFamily="2" charset="-122"/>
              </a:rPr>
              <a:t>当前像素</a:t>
            </a:r>
            <a:r>
              <a:rPr lang="zh-CN" altLang="en-US" dirty="0">
                <a:ea typeface="宋体" panose="02010600030101010101" pitchFamily="2" charset="-122"/>
              </a:rPr>
              <a:t>，底圆半径为一个像素，锥高为</a:t>
            </a:r>
            <a:r>
              <a:rPr lang="en-US" altLang="zh-CN" dirty="0">
                <a:ea typeface="宋体" panose="02010600030101010101" pitchFamily="2" charset="-122"/>
              </a:rPr>
              <a:t>1</a:t>
            </a:r>
          </a:p>
          <a:p>
            <a:pPr eaLnBrk="1" hangingPunct="1"/>
            <a:r>
              <a:rPr lang="zh-CN" altLang="en-US" dirty="0">
                <a:ea typeface="宋体" panose="02010600030101010101" pitchFamily="2" charset="-122"/>
              </a:rPr>
              <a:t>当直线条经过该像素时，该像素的灰度值是在二者相交区域上对滤波器进行积分的积分值</a:t>
            </a:r>
          </a:p>
        </p:txBody>
      </p:sp>
      <p:graphicFrame>
        <p:nvGraphicFramePr>
          <p:cNvPr id="73733" name="Object 6"/>
          <p:cNvGraphicFramePr>
            <a:graphicFrameLocks noChangeAspect="1"/>
          </p:cNvGraphicFramePr>
          <p:nvPr/>
        </p:nvGraphicFramePr>
        <p:xfrm>
          <a:off x="723900" y="4595813"/>
          <a:ext cx="2889250" cy="1949450"/>
        </p:xfrm>
        <a:graphic>
          <a:graphicData uri="http://schemas.openxmlformats.org/presentationml/2006/ole">
            <mc:AlternateContent xmlns:mc="http://schemas.openxmlformats.org/markup-compatibility/2006">
              <mc:Choice xmlns:v="urn:schemas-microsoft-com:vml" Requires="v">
                <p:oleObj spid="_x0000_s73857" name="Visio" r:id="rId4" imgW="1666875" imgH="1123950" progId="Visio.Drawing.11">
                  <p:embed/>
                </p:oleObj>
              </mc:Choice>
              <mc:Fallback>
                <p:oleObj name="Visio" r:id="rId4" imgW="1666875" imgH="1123950" progId="Visio.Drawing.11">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3900" y="4595813"/>
                        <a:ext cx="2889250" cy="194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195" name="Object 7"/>
          <p:cNvGraphicFramePr>
            <a:graphicFrameLocks noChangeAspect="1"/>
          </p:cNvGraphicFramePr>
          <p:nvPr/>
        </p:nvGraphicFramePr>
        <p:xfrm>
          <a:off x="7350125" y="4352925"/>
          <a:ext cx="1909763" cy="2141538"/>
        </p:xfrm>
        <a:graphic>
          <a:graphicData uri="http://schemas.openxmlformats.org/presentationml/2006/ole">
            <mc:AlternateContent xmlns:mc="http://schemas.openxmlformats.org/markup-compatibility/2006">
              <mc:Choice xmlns:v="urn:schemas-microsoft-com:vml" Requires="v">
                <p:oleObj spid="_x0000_s73858" name="Visio" r:id="rId6" imgW="1485900" imgH="1666875" progId="Visio.Drawing.11">
                  <p:embed/>
                </p:oleObj>
              </mc:Choice>
              <mc:Fallback>
                <p:oleObj name="Visio" r:id="rId6" imgW="1485900" imgH="1666875"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50125" y="4352925"/>
                        <a:ext cx="1909763" cy="2141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198">
                                            <p:txEl>
                                              <p:pRg st="0" end="0"/>
                                            </p:txEl>
                                          </p:spTgt>
                                        </p:tgtEl>
                                        <p:attrNameLst>
                                          <p:attrName>style.visibility</p:attrName>
                                        </p:attrNameLst>
                                      </p:cBhvr>
                                      <p:to>
                                        <p:strVal val="visible"/>
                                      </p:to>
                                    </p:set>
                                    <p:animEffect transition="in" filter="blinds(horizontal)">
                                      <p:cBhvr>
                                        <p:cTn id="7" dur="500"/>
                                        <p:tgtEl>
                                          <p:spTgt spid="81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198">
                                            <p:txEl>
                                              <p:pRg st="1" end="1"/>
                                            </p:txEl>
                                          </p:spTgt>
                                        </p:tgtEl>
                                        <p:attrNameLst>
                                          <p:attrName>style.visibility</p:attrName>
                                        </p:attrNameLst>
                                      </p:cBhvr>
                                      <p:to>
                                        <p:strVal val="visible"/>
                                      </p:to>
                                    </p:set>
                                    <p:animEffect transition="in" filter="blinds(horizontal)">
                                      <p:cBhvr>
                                        <p:cTn id="12" dur="500"/>
                                        <p:tgtEl>
                                          <p:spTgt spid="81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198">
                                            <p:txEl>
                                              <p:pRg st="2" end="2"/>
                                            </p:txEl>
                                          </p:spTgt>
                                        </p:tgtEl>
                                        <p:attrNameLst>
                                          <p:attrName>style.visibility</p:attrName>
                                        </p:attrNameLst>
                                      </p:cBhvr>
                                      <p:to>
                                        <p:strVal val="visible"/>
                                      </p:to>
                                    </p:set>
                                    <p:animEffect transition="in" filter="blinds(horizontal)">
                                      <p:cBhvr>
                                        <p:cTn id="17" dur="500"/>
                                        <p:tgtEl>
                                          <p:spTgt spid="819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195"/>
                                        </p:tgtEl>
                                        <p:attrNameLst>
                                          <p:attrName>style.visibility</p:attrName>
                                        </p:attrNameLst>
                                      </p:cBhvr>
                                      <p:to>
                                        <p:strVal val="visible"/>
                                      </p:to>
                                    </p:set>
                                    <p:animEffect transition="in" filter="blinds(horizontal)">
                                      <p:cBhvr>
                                        <p:cTn id="2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7490E47-B1C2-484B-BFE8-29248F568EBC}" type="slidenum">
              <a:rPr lang="zh-CN" altLang="en-US" sz="1400" smtClean="0">
                <a:latin typeface="Arial" panose="020B0604020202020204" pitchFamily="34" charset="0"/>
              </a:rPr>
              <a:t>47</a:t>
            </a:fld>
            <a:endParaRPr lang="en-US" altLang="zh-CN" sz="1400">
              <a:latin typeface="Arial" panose="020B0604020202020204" pitchFamily="34" charset="0"/>
            </a:endParaRPr>
          </a:p>
        </p:txBody>
      </p:sp>
      <p:sp>
        <p:nvSpPr>
          <p:cNvPr id="74755" name="Rectangle 2"/>
          <p:cNvSpPr>
            <a:spLocks noGrp="1" noChangeArrowheads="1"/>
          </p:cNvSpPr>
          <p:nvPr>
            <p:ph type="title"/>
          </p:nvPr>
        </p:nvSpPr>
        <p:spPr>
          <a:xfrm>
            <a:off x="1238250" y="0"/>
            <a:ext cx="7842250" cy="1143000"/>
          </a:xfrm>
        </p:spPr>
        <p:txBody>
          <a:bodyPr/>
          <a:lstStyle/>
          <a:p>
            <a:pPr eaLnBrk="1" hangingPunct="1"/>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加权区域取样</a:t>
            </a:r>
          </a:p>
        </p:txBody>
      </p:sp>
      <p:sp>
        <p:nvSpPr>
          <p:cNvPr id="46084" name="Rectangle 3"/>
          <p:cNvSpPr>
            <a:spLocks noGrp="1" noChangeArrowheads="1"/>
          </p:cNvSpPr>
          <p:nvPr>
            <p:ph type="body" idx="1"/>
          </p:nvPr>
        </p:nvSpPr>
        <p:spPr>
          <a:xfrm>
            <a:off x="742950" y="1143000"/>
            <a:ext cx="8420100" cy="4953000"/>
          </a:xfrm>
        </p:spPr>
        <p:txBody>
          <a:bodyPr/>
          <a:lstStyle/>
          <a:p>
            <a:pPr eaLnBrk="1" hangingPunct="1"/>
            <a:r>
              <a:rPr lang="zh-CN" altLang="en-US">
                <a:solidFill>
                  <a:schemeClr val="accent2"/>
                </a:solidFill>
                <a:ea typeface="宋体" panose="02010600030101010101" pitchFamily="2" charset="-122"/>
              </a:rPr>
              <a:t>特点：</a:t>
            </a:r>
          </a:p>
          <a:p>
            <a:pPr eaLnBrk="1" hangingPunct="1">
              <a:buFont typeface="Times New Roman" panose="02020603050405020304" pitchFamily="18" charset="0"/>
              <a:buChar char="–"/>
            </a:pPr>
            <a:r>
              <a:rPr lang="zh-CN" altLang="en-US">
                <a:ea typeface="宋体" panose="02010600030101010101" pitchFamily="2" charset="-122"/>
              </a:rPr>
              <a:t>接近理想直线的像素将被分配更多的灰度值</a:t>
            </a:r>
          </a:p>
          <a:p>
            <a:pPr eaLnBrk="1" hangingPunct="1">
              <a:buFont typeface="Times New Roman" panose="02020603050405020304" pitchFamily="18" charset="0"/>
              <a:buChar char="–"/>
            </a:pPr>
            <a:r>
              <a:rPr lang="zh-CN" altLang="en-US">
                <a:ea typeface="宋体" panose="02010600030101010101" pitchFamily="2" charset="-122"/>
              </a:rPr>
              <a:t>相邻的两个像素的滤波器相交，有利于缩小直线条上相邻像素的灰度差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6084">
                                            <p:txEl>
                                              <p:pRg st="0" end="0"/>
                                            </p:txEl>
                                          </p:spTgt>
                                        </p:tgtEl>
                                        <p:attrNameLst>
                                          <p:attrName>style.visibility</p:attrName>
                                        </p:attrNameLst>
                                      </p:cBhvr>
                                      <p:to>
                                        <p:strVal val="visible"/>
                                      </p:to>
                                    </p:set>
                                    <p:animEffect transition="in" filter="blinds(horizontal)">
                                      <p:cBhvr>
                                        <p:cTn id="7" dur="500"/>
                                        <p:tgtEl>
                                          <p:spTgt spid="460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6084">
                                            <p:txEl>
                                              <p:pRg st="1" end="1"/>
                                            </p:txEl>
                                          </p:spTgt>
                                        </p:tgtEl>
                                        <p:attrNameLst>
                                          <p:attrName>style.visibility</p:attrName>
                                        </p:attrNameLst>
                                      </p:cBhvr>
                                      <p:to>
                                        <p:strVal val="visible"/>
                                      </p:to>
                                    </p:set>
                                    <p:animEffect transition="in" filter="blinds(horizontal)">
                                      <p:cBhvr>
                                        <p:cTn id="12" dur="500"/>
                                        <p:tgtEl>
                                          <p:spTgt spid="460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6084">
                                            <p:txEl>
                                              <p:pRg st="2" end="2"/>
                                            </p:txEl>
                                          </p:spTgt>
                                        </p:tgtEl>
                                        <p:attrNameLst>
                                          <p:attrName>style.visibility</p:attrName>
                                        </p:attrNameLst>
                                      </p:cBhvr>
                                      <p:to>
                                        <p:strVal val="visible"/>
                                      </p:to>
                                    </p:set>
                                    <p:animEffect transition="in" filter="blinds(horizontal)">
                                      <p:cBhvr>
                                        <p:cTn id="17" dur="500"/>
                                        <p:tgtEl>
                                          <p:spTgt spid="460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CD8F8B4D-5E58-4B46-8AC9-FC676262A543}" type="slidenum">
              <a:rPr lang="zh-CN" altLang="en-US" sz="1400" smtClean="0">
                <a:latin typeface="Arial" panose="020B0604020202020204" pitchFamily="34" charset="0"/>
              </a:rPr>
              <a:t>48</a:t>
            </a:fld>
            <a:endParaRPr lang="en-US" altLang="zh-CN" sz="1400">
              <a:latin typeface="Arial" panose="020B0604020202020204" pitchFamily="34" charset="0"/>
            </a:endParaRPr>
          </a:p>
        </p:txBody>
      </p:sp>
      <p:sp>
        <p:nvSpPr>
          <p:cNvPr id="4099" name="Rectangle 2"/>
          <p:cNvSpPr>
            <a:spLocks noGrp="1" noChangeArrowheads="1"/>
          </p:cNvSpPr>
          <p:nvPr>
            <p:ph type="title"/>
          </p:nvPr>
        </p:nvSpPr>
        <p:spPr/>
        <p:txBody>
          <a:bodyPr/>
          <a:lstStyle/>
          <a:p>
            <a:pPr eaLnBrk="1" hangingPunct="1"/>
            <a:r>
              <a:rPr lang="zh-CN" altLang="en-US" dirty="0">
                <a:latin typeface="微软雅黑" panose="020B0503020204020204" pitchFamily="34" charset="-122"/>
                <a:ea typeface="微软雅黑" panose="020B0503020204020204" pitchFamily="34" charset="-122"/>
              </a:rPr>
              <a:t>总结</a:t>
            </a:r>
            <a:endParaRPr lang="en-US" altLang="zh-CN" dirty="0">
              <a:latin typeface="微软雅黑" panose="020B0503020204020204" pitchFamily="34" charset="-122"/>
              <a:ea typeface="微软雅黑" panose="020B0503020204020204" pitchFamily="34" charset="-122"/>
            </a:endParaRPr>
          </a:p>
        </p:txBody>
      </p:sp>
      <p:sp>
        <p:nvSpPr>
          <p:cNvPr id="4100" name="Rectangle 3"/>
          <p:cNvSpPr>
            <a:spLocks noGrp="1" noChangeArrowheads="1"/>
          </p:cNvSpPr>
          <p:nvPr>
            <p:ph type="body" sz="half" idx="1"/>
          </p:nvPr>
        </p:nvSpPr>
        <p:spPr>
          <a:xfrm>
            <a:off x="247650" y="1219200"/>
            <a:ext cx="9163050" cy="5181600"/>
          </a:xfrm>
        </p:spPr>
        <p:txBody>
          <a:bodyPr/>
          <a:lstStyle/>
          <a:p>
            <a:pPr eaLnBrk="1" hangingPunct="1"/>
            <a:r>
              <a:rPr lang="zh-CN" altLang="en-US" dirty="0">
                <a:ea typeface="宋体" panose="02010600030101010101" pitchFamily="2" charset="-122"/>
              </a:rPr>
              <a:t>区域填充</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种子填充算法</a:t>
            </a:r>
            <a:endParaRPr lang="en-US" altLang="zh-CN" dirty="0">
              <a:ea typeface="宋体" panose="02010600030101010101" pitchFamily="2" charset="-122"/>
            </a:endParaRPr>
          </a:p>
          <a:p>
            <a:pPr eaLnBrk="1" hangingPunct="1"/>
            <a:r>
              <a:rPr lang="zh-CN" altLang="en-US" dirty="0">
                <a:ea typeface="宋体" panose="02010600030101010101" pitchFamily="2" charset="-122"/>
              </a:rPr>
              <a:t>字符</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点阵与矢量</a:t>
            </a:r>
            <a:endParaRPr lang="en-US" altLang="zh-CN" dirty="0">
              <a:ea typeface="宋体" panose="02010600030101010101" pitchFamily="2" charset="-122"/>
            </a:endParaRPr>
          </a:p>
          <a:p>
            <a:pPr eaLnBrk="1" hangingPunct="1"/>
            <a:r>
              <a:rPr lang="zh-CN" altLang="en-US" dirty="0">
                <a:ea typeface="宋体" panose="02010600030101010101" pitchFamily="2" charset="-122"/>
              </a:rPr>
              <a:t>走样与反走样</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走样现象</a:t>
            </a:r>
            <a:endParaRPr lang="en-US" altLang="zh-CN" dirty="0">
              <a:ea typeface="宋体" panose="02010600030101010101" pitchFamily="2" charset="-122"/>
            </a:endParaRPr>
          </a:p>
          <a:p>
            <a:pPr lvl="1" eaLnBrk="1" hangingPunct="1"/>
            <a:r>
              <a:rPr lang="zh-CN" altLang="en-US" dirty="0">
                <a:ea typeface="宋体" panose="02010600030101010101" pitchFamily="2" charset="-122"/>
              </a:rPr>
              <a:t>反走样方法</a:t>
            </a:r>
            <a:endParaRPr lang="en-US" altLang="zh-CN" dirty="0">
              <a:ea typeface="宋体" panose="02010600030101010101" pitchFamily="2" charset="-122"/>
            </a:endParaRPr>
          </a:p>
        </p:txBody>
      </p:sp>
      <p:pic>
        <p:nvPicPr>
          <p:cNvPr id="4102" name="Picture 5" descr="0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16200" y="1050925"/>
            <a:ext cx="2528887" cy="162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104" name="Object 8"/>
          <p:cNvGraphicFramePr>
            <a:graphicFrameLocks noGrp="1" noChangeAspect="1"/>
          </p:cNvGraphicFramePr>
          <p:nvPr>
            <p:ph sz="half" idx="2"/>
          </p:nvPr>
        </p:nvGraphicFramePr>
        <p:xfrm>
          <a:off x="6929020" y="3065880"/>
          <a:ext cx="1470025" cy="1608138"/>
        </p:xfrm>
        <a:graphic>
          <a:graphicData uri="http://schemas.openxmlformats.org/presentationml/2006/ole">
            <mc:AlternateContent xmlns:mc="http://schemas.openxmlformats.org/markup-compatibility/2006">
              <mc:Choice xmlns:v="urn:schemas-microsoft-com:vml" Requires="v">
                <p:oleObj spid="_x0000_s79932" name="VISIO" r:id="rId4" imgW="577215" imgH="630555" progId="Visio.Drawing.5">
                  <p:embed/>
                </p:oleObj>
              </mc:Choice>
              <mc:Fallback>
                <p:oleObj name="VISIO" r:id="rId4" imgW="577215" imgH="630555" progId="Visio.Drawing.5">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9020" y="3065880"/>
                        <a:ext cx="1470025" cy="1608138"/>
                      </a:xfrm>
                      <a:prstGeom prst="rect">
                        <a:avLst/>
                      </a:prstGeom>
                      <a:solidFill>
                        <a:schemeClr val="accent1"/>
                      </a:solidFill>
                      <a:ln>
                        <a:noFill/>
                      </a:ln>
                      <a:effectLst/>
                      <a:extLs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 name="图片 1"/>
          <p:cNvPicPr>
            <a:picLocks noChangeAspect="1"/>
          </p:cNvPicPr>
          <p:nvPr/>
        </p:nvPicPr>
        <p:blipFill>
          <a:blip r:embed="rId6"/>
          <a:stretch>
            <a:fillRect/>
          </a:stretch>
        </p:blipFill>
        <p:spPr>
          <a:xfrm>
            <a:off x="6593032" y="4976400"/>
            <a:ext cx="2142000" cy="1805400"/>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GFmMDVkMWI3NWMxYzJlMzU4ZjlmZTJlYWJkNmJiNDQifQ=="/>
</p:tagLst>
</file>

<file path=ppt/tags/tag2.xml><?xml version="1.0" encoding="utf-8"?>
<p:tagLst xmlns:a="http://schemas.openxmlformats.org/drawingml/2006/main" xmlns:r="http://schemas.openxmlformats.org/officeDocument/2006/relationships" xmlns:p="http://schemas.openxmlformats.org/presentationml/2006/main">
  <p:tag name="TIMING" val="|2|1|1"/>
</p:tagLst>
</file>

<file path=ppt/tags/tag3.xml><?xml version="1.0" encoding="utf-8"?>
<p:tagLst xmlns:a="http://schemas.openxmlformats.org/drawingml/2006/main" xmlns:r="http://schemas.openxmlformats.org/officeDocument/2006/relationships" xmlns:p="http://schemas.openxmlformats.org/presentationml/2006/main">
  <p:tag name="TIMING" val="|2|1|1"/>
</p:tagLst>
</file>

<file path=ppt/tags/tag4.xml><?xml version="1.0" encoding="utf-8"?>
<p:tagLst xmlns:a="http://schemas.openxmlformats.org/drawingml/2006/main" xmlns:r="http://schemas.openxmlformats.org/officeDocument/2006/relationships" xmlns:p="http://schemas.openxmlformats.org/presentationml/2006/main">
  <p:tag name="TIMING" val="|2|1|1"/>
</p:tagLst>
</file>

<file path=ppt/tags/tag5.xml><?xml version="1.0" encoding="utf-8"?>
<p:tagLst xmlns:a="http://schemas.openxmlformats.org/drawingml/2006/main" xmlns:r="http://schemas.openxmlformats.org/officeDocument/2006/relationships" xmlns:p="http://schemas.openxmlformats.org/presentationml/2006/main">
  <p:tag name="TIMING" val="|2|1|1"/>
</p:tagLst>
</file>

<file path=ppt/tags/tag6.xml><?xml version="1.0" encoding="utf-8"?>
<p:tagLst xmlns:a="http://schemas.openxmlformats.org/drawingml/2006/main" xmlns:r="http://schemas.openxmlformats.org/officeDocument/2006/relationships" xmlns:p="http://schemas.openxmlformats.org/presentationml/2006/main">
  <p:tag name="TIMING" val="|2|1|1"/>
</p:tagLst>
</file>

<file path=ppt/tags/tag7.xml><?xml version="1.0" encoding="utf-8"?>
<p:tagLst xmlns:a="http://schemas.openxmlformats.org/drawingml/2006/main" xmlns:r="http://schemas.openxmlformats.org/officeDocument/2006/relationships" xmlns:p="http://schemas.openxmlformats.org/presentationml/2006/main">
  <p:tag name="TIMING" val="|2|1|1"/>
</p:tagLst>
</file>

<file path=ppt/tags/tag8.xml><?xml version="1.0" encoding="utf-8"?>
<p:tagLst xmlns:a="http://schemas.openxmlformats.org/drawingml/2006/main" xmlns:r="http://schemas.openxmlformats.org/officeDocument/2006/relationships" xmlns:p="http://schemas.openxmlformats.org/presentationml/2006/main">
  <p:tag name="TIMING" val="|2|1|1"/>
</p:tagLst>
</file>

<file path=ppt/tags/tag9.xml><?xml version="1.0" encoding="utf-8"?>
<p:tagLst xmlns:a="http://schemas.openxmlformats.org/drawingml/2006/main" xmlns:r="http://schemas.openxmlformats.org/officeDocument/2006/relationships" xmlns:p="http://schemas.openxmlformats.org/presentationml/2006/main">
  <p:tag name="TIMING" val="|2|1|1"/>
</p:tagLst>
</file>

<file path=ppt/tags/tag10.xml><?xml version="1.0" encoding="utf-8"?>
<p:tagLst xmlns:a="http://schemas.openxmlformats.org/drawingml/2006/main" xmlns:r="http://schemas.openxmlformats.org/officeDocument/2006/relationships" xmlns:p="http://schemas.openxmlformats.org/presentationml/2006/main">
  <p:tag name="TIMING" val="|2|1|1"/>
</p:tagLst>
</file>

<file path=ppt/tags/tag11.xml><?xml version="1.0" encoding="utf-8"?>
<p:tagLst xmlns:a="http://schemas.openxmlformats.org/drawingml/2006/main" xmlns:r="http://schemas.openxmlformats.org/officeDocument/2006/relationships" xmlns:p="http://schemas.openxmlformats.org/presentationml/2006/main">
  <p:tag name="TIMING" val="|2|1|1"/>
</p:tagLst>
</file>

<file path=ppt/tags/tag12.xml><?xml version="1.0" encoding="utf-8"?>
<p:tagLst xmlns:a="http://schemas.openxmlformats.org/drawingml/2006/main" xmlns:r="http://schemas.openxmlformats.org/officeDocument/2006/relationships" xmlns:p="http://schemas.openxmlformats.org/presentationml/2006/main">
  <p:tag name="TIMING" val="|2|1|1"/>
</p:tagLst>
</file>

<file path=ppt/tags/tag13.xml><?xml version="1.0" encoding="utf-8"?>
<p:tagLst xmlns:a="http://schemas.openxmlformats.org/drawingml/2006/main" xmlns:r="http://schemas.openxmlformats.org/officeDocument/2006/relationships" xmlns:p="http://schemas.openxmlformats.org/presentationml/2006/main">
  <p:tag name="TIMING" val="|2|1|1"/>
</p:tagLst>
</file>

<file path=ppt/tags/tag14.xml><?xml version="1.0" encoding="utf-8"?>
<p:tagLst xmlns:a="http://schemas.openxmlformats.org/drawingml/2006/main" xmlns:r="http://schemas.openxmlformats.org/officeDocument/2006/relationships" xmlns:p="http://schemas.openxmlformats.org/presentationml/2006/main">
  <p:tag name="TIMING" val="|2|1|1"/>
</p:tagLst>
</file>

<file path=ppt/tags/tag15.xml><?xml version="1.0" encoding="utf-8"?>
<p:tagLst xmlns:a="http://schemas.openxmlformats.org/drawingml/2006/main" xmlns:r="http://schemas.openxmlformats.org/officeDocument/2006/relationships" xmlns:p="http://schemas.openxmlformats.org/presentationml/2006/main">
  <p:tag name="TIMING" val="|2|1|1"/>
</p:tagLst>
</file>

<file path=ppt/tags/tag16.xml><?xml version="1.0" encoding="utf-8"?>
<p:tagLst xmlns:a="http://schemas.openxmlformats.org/drawingml/2006/main" xmlns:r="http://schemas.openxmlformats.org/officeDocument/2006/relationships" xmlns:p="http://schemas.openxmlformats.org/presentationml/2006/main">
  <p:tag name="TIMING" val="|2|1|1"/>
</p:tagLst>
</file>

<file path=ppt/tags/tag17.xml><?xml version="1.0" encoding="utf-8"?>
<p:tagLst xmlns:a="http://schemas.openxmlformats.org/drawingml/2006/main" xmlns:r="http://schemas.openxmlformats.org/officeDocument/2006/relationships" xmlns:p="http://schemas.openxmlformats.org/presentationml/2006/main">
  <p:tag name="TIMING" val="|2|1|1"/>
</p:tagLst>
</file>

<file path=ppt/tags/tag18.xml><?xml version="1.0" encoding="utf-8"?>
<p:tagLst xmlns:a="http://schemas.openxmlformats.org/drawingml/2006/main" xmlns:r="http://schemas.openxmlformats.org/officeDocument/2006/relationships" xmlns:p="http://schemas.openxmlformats.org/presentationml/2006/main">
  <p:tag name="TIMING" val="|2|1|1"/>
</p:tagLst>
</file>

<file path=ppt/tags/tag19.xml><?xml version="1.0" encoding="utf-8"?>
<p:tagLst xmlns:a="http://schemas.openxmlformats.org/drawingml/2006/main" xmlns:r="http://schemas.openxmlformats.org/officeDocument/2006/relationships" xmlns:p="http://schemas.openxmlformats.org/presentationml/2006/main">
  <p:tag name="TIMING" val="|2|1|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great-wall</Template>
  <TotalTime>52</TotalTime>
  <Pages>8</Pages>
  <Words>2360</Words>
  <Application>Microsoft Office PowerPoint</Application>
  <PresentationFormat>A4 纸张(210x297 毫米)</PresentationFormat>
  <Paragraphs>329</Paragraphs>
  <Slides>48</Slides>
  <Notes>29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3</vt:i4>
      </vt:variant>
      <vt:variant>
        <vt:lpstr>幻灯片标题</vt:lpstr>
      </vt:variant>
      <vt:variant>
        <vt:i4>48</vt:i4>
      </vt:variant>
    </vt:vector>
  </HeadingPairs>
  <TitlesOfParts>
    <vt:vector size="59" baseType="lpstr">
      <vt:lpstr>黑体</vt:lpstr>
      <vt:lpstr>宋体</vt:lpstr>
      <vt:lpstr>微软雅黑</vt:lpstr>
      <vt:lpstr>幼圆</vt:lpstr>
      <vt:lpstr>Arial</vt:lpstr>
      <vt:lpstr>Times New Roman</vt:lpstr>
      <vt:lpstr>Wingdings</vt:lpstr>
      <vt:lpstr>Default Design</vt:lpstr>
      <vt:lpstr>Image</vt:lpstr>
      <vt:lpstr>VISIO</vt:lpstr>
      <vt:lpstr>Visio</vt:lpstr>
      <vt:lpstr>区域填充、字符与走样</vt:lpstr>
      <vt:lpstr>区域填充、字符与走样</vt:lpstr>
      <vt:lpstr>问题提出</vt:lpstr>
      <vt:lpstr>区域填充</vt:lpstr>
      <vt:lpstr>区域表示方法</vt:lpstr>
      <vt:lpstr>区域连通性</vt:lpstr>
      <vt:lpstr>回到问题</vt:lpstr>
      <vt:lpstr>简单种子填充算法-漫水法</vt:lpstr>
      <vt:lpstr>简单种子填充算法</vt:lpstr>
      <vt:lpstr>简单种子填充算法</vt:lpstr>
      <vt:lpstr>简单种子填充算法</vt:lpstr>
      <vt:lpstr>简单种子填充算法</vt:lpstr>
      <vt:lpstr>简单种子填充算法</vt:lpstr>
      <vt:lpstr>简单种子填充算法</vt:lpstr>
      <vt:lpstr>扫描线种子填充算法</vt:lpstr>
      <vt:lpstr>扫描线种子填充算法</vt:lpstr>
      <vt:lpstr>扫描线种子填充算法</vt:lpstr>
      <vt:lpstr>扫描线种子填充算法</vt:lpstr>
      <vt:lpstr>扫描线种子填充算法</vt:lpstr>
      <vt:lpstr>扫描线种子填充算法</vt:lpstr>
      <vt:lpstr>多边形扫描转换与区域填充方法</vt:lpstr>
      <vt:lpstr>区域填充、字符与走样</vt:lpstr>
      <vt:lpstr>字符</vt:lpstr>
      <vt:lpstr>字符</vt:lpstr>
      <vt:lpstr>字符</vt:lpstr>
      <vt:lpstr>字符</vt:lpstr>
      <vt:lpstr>字符</vt:lpstr>
      <vt:lpstr>矢量字符</vt:lpstr>
      <vt:lpstr>字符</vt:lpstr>
      <vt:lpstr>区域填充、字符与走样</vt:lpstr>
      <vt:lpstr>走样问题</vt:lpstr>
      <vt:lpstr>走样</vt:lpstr>
      <vt:lpstr>走样现象举例</vt:lpstr>
      <vt:lpstr>走样现象举例</vt:lpstr>
      <vt:lpstr>走样现象举例</vt:lpstr>
      <vt:lpstr>反走样概念及方法</vt:lpstr>
      <vt:lpstr>提高分辨率</vt:lpstr>
      <vt:lpstr>提高分辨率</vt:lpstr>
      <vt:lpstr>软件方法</vt:lpstr>
      <vt:lpstr>简单区域取样</vt:lpstr>
      <vt:lpstr>简单区域取样</vt:lpstr>
      <vt:lpstr>简单区域取样</vt:lpstr>
      <vt:lpstr>简单区域取样</vt:lpstr>
      <vt:lpstr>加权区域取样</vt:lpstr>
      <vt:lpstr>区域取样</vt:lpstr>
      <vt:lpstr>区域取样</vt:lpstr>
      <vt:lpstr>加权区域取样</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Vectors</dc:title>
  <dc:creator/>
  <cp:lastModifiedBy>pcm</cp:lastModifiedBy>
  <cp:revision>280</cp:revision>
  <cp:lastPrinted>1999-10-31T16:31:00Z</cp:lastPrinted>
  <dcterms:created xsi:type="dcterms:W3CDTF">1996-10-25T10:30:00Z</dcterms:created>
  <dcterms:modified xsi:type="dcterms:W3CDTF">2024-10-14T00:45:21Z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EA986D84E5C64EABB96F4DD06EB14537_12</vt:lpwstr>
  </property>
  <property fmtid="{D5CDD505-2E9C-101B-9397-08002B2CF9AE}" pid="3" name="KSOProductBuildVer">
    <vt:lpwstr>2052-12.1.0.16417</vt:lpwstr>
  </property>
</Properties>
</file>