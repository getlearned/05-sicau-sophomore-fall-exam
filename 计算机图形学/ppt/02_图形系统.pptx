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54"/>
  </p:handoutMasterIdLst>
  <p:sldIdLst>
    <p:sldId id="633" r:id="rId3"/>
    <p:sldId id="496" r:id="rId5"/>
    <p:sldId id="572" r:id="rId6"/>
    <p:sldId id="497" r:id="rId7"/>
    <p:sldId id="642" r:id="rId8"/>
    <p:sldId id="643" r:id="rId9"/>
    <p:sldId id="644" r:id="rId10"/>
    <p:sldId id="502" r:id="rId11"/>
    <p:sldId id="645" r:id="rId12"/>
    <p:sldId id="647" r:id="rId13"/>
    <p:sldId id="648" r:id="rId14"/>
    <p:sldId id="649" r:id="rId15"/>
    <p:sldId id="646" r:id="rId16"/>
    <p:sldId id="510" r:id="rId17"/>
    <p:sldId id="650" r:id="rId18"/>
    <p:sldId id="512" r:id="rId19"/>
    <p:sldId id="513" r:id="rId20"/>
    <p:sldId id="514" r:id="rId21"/>
    <p:sldId id="515" r:id="rId22"/>
    <p:sldId id="517" r:id="rId23"/>
    <p:sldId id="516" r:id="rId24"/>
    <p:sldId id="519" r:id="rId25"/>
    <p:sldId id="520" r:id="rId26"/>
    <p:sldId id="521" r:id="rId27"/>
    <p:sldId id="523" r:id="rId28"/>
    <p:sldId id="525" r:id="rId29"/>
    <p:sldId id="550" r:id="rId30"/>
    <p:sldId id="529" r:id="rId31"/>
    <p:sldId id="530" r:id="rId32"/>
    <p:sldId id="531" r:id="rId33"/>
    <p:sldId id="651" r:id="rId34"/>
    <p:sldId id="561" r:id="rId35"/>
    <p:sldId id="563" r:id="rId36"/>
    <p:sldId id="564" r:id="rId37"/>
    <p:sldId id="612" r:id="rId38"/>
    <p:sldId id="627" r:id="rId39"/>
    <p:sldId id="578" r:id="rId40"/>
    <p:sldId id="616" r:id="rId41"/>
    <p:sldId id="565" r:id="rId42"/>
    <p:sldId id="579" r:id="rId43"/>
    <p:sldId id="620" r:id="rId44"/>
    <p:sldId id="621" r:id="rId45"/>
    <p:sldId id="630" r:id="rId46"/>
    <p:sldId id="631" r:id="rId47"/>
    <p:sldId id="625" r:id="rId48"/>
    <p:sldId id="567" r:id="rId49"/>
    <p:sldId id="568" r:id="rId50"/>
    <p:sldId id="569" r:id="rId51"/>
    <p:sldId id="584" r:id="rId52"/>
    <p:sldId id="687" r:id="rId53"/>
  </p:sldIdLst>
  <p:sldSz cx="9144000" cy="6858000" type="screen4x3"/>
  <p:notesSz cx="6858000" cy="9144000"/>
  <p:custDataLst>
    <p:tags r:id="rId58"/>
  </p:custDataLst>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华文彩云" panose="0201080004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华文彩云" panose="0201080004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华文彩云" panose="0201080004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华文彩云" panose="0201080004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华文彩云" panose="020108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彩云" panose="020108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彩云" panose="020108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彩云" panose="020108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彩云" panose="020108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F6FF9F"/>
    <a:srgbClr val="E602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78143" autoAdjust="0"/>
  </p:normalViewPr>
  <p:slideViewPr>
    <p:cSldViewPr showGuides="1">
      <p:cViewPr varScale="1">
        <p:scale>
          <a:sx n="89" d="100"/>
          <a:sy n="89" d="100"/>
        </p:scale>
        <p:origin x="2244" y="84"/>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4" d="100"/>
          <a:sy n="84" d="100"/>
        </p:scale>
        <p:origin x="-237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8" Type="http://schemas.openxmlformats.org/officeDocument/2006/relationships/tags" Target="tags/tag1.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handoutMaster" Target="handoutMasters/handoutMaster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9" Type="http://schemas.openxmlformats.org/officeDocument/2006/relationships/slide" Target="slides/slide48.xml"/><Relationship Id="rId8" Type="http://schemas.openxmlformats.org/officeDocument/2006/relationships/slide" Target="slides/slide47.xml"/><Relationship Id="rId7" Type="http://schemas.openxmlformats.org/officeDocument/2006/relationships/slide" Target="slides/slide25.xml"/><Relationship Id="rId6" Type="http://schemas.openxmlformats.org/officeDocument/2006/relationships/slide" Target="slides/slide24.xml"/><Relationship Id="rId5" Type="http://schemas.openxmlformats.org/officeDocument/2006/relationships/slide" Target="slides/slide23.xml"/><Relationship Id="rId4" Type="http://schemas.openxmlformats.org/officeDocument/2006/relationships/slide" Target="slides/slide19.xml"/><Relationship Id="rId3" Type="http://schemas.openxmlformats.org/officeDocument/2006/relationships/slide" Target="slides/slide8.xml"/><Relationship Id="rId2" Type="http://schemas.openxmlformats.org/officeDocument/2006/relationships/slide" Target="slides/slide7.xml"/><Relationship Id="rId1"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image" Target="../media/image3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045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a:defRPr/>
            </a:pPr>
            <a:endParaRPr lang="zh-CN" altLang="en-US"/>
          </a:p>
        </p:txBody>
      </p:sp>
      <p:sp>
        <p:nvSpPr>
          <p:cNvPr id="360451"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360452"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360453"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smtClean="0">
                <a:ea typeface="宋体" panose="02010600030101010101" pitchFamily="2" charset="-122"/>
              </a:defRPr>
            </a:lvl1pPr>
          </a:lstStyle>
          <a:p>
            <a:pPr>
              <a:defRPr/>
            </a:pPr>
            <a:fld id="{11C015A1-DBFD-45C7-8B4C-42F75D9BBC79}"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a:defRPr/>
            </a:pPr>
            <a:endParaRPr lang="zh-CN" altLang="en-US"/>
          </a:p>
        </p:txBody>
      </p:sp>
      <p:sp>
        <p:nvSpPr>
          <p:cNvPr id="4403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61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4403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4403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4403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smtClean="0">
                <a:ea typeface="宋体" panose="02010600030101010101" pitchFamily="2" charset="-122"/>
              </a:defRPr>
            </a:lvl1pPr>
          </a:lstStyle>
          <a:p>
            <a:pPr>
              <a:defRPr/>
            </a:pPr>
            <a:fld id="{D5B96F46-6ECC-4313-B18A-9F9C0CA528FF}"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7" Type="http://schemas.openxmlformats.org/officeDocument/2006/relationships/hyperlink" Target="https://baike.baidu.com/item/CLUT/0?fromModule=lemma_inlink" TargetMode="External"/><Relationship Id="rId6" Type="http://schemas.openxmlformats.org/officeDocument/2006/relationships/hyperlink" Target="https://baike.baidu.com/item/color%20look-up%20table/0?fromModule=lemma_inlink" TargetMode="External"/><Relationship Id="rId5" Type="http://schemas.openxmlformats.org/officeDocument/2006/relationships/hyperlink" Target="https://baike.baidu.com/item/%E5%BD%A9%E8%89%B2%E6%9F%A5%E6%89%BE%E8%A1%A8/898609?fromModule=lemma_inlink" TargetMode="External"/><Relationship Id="rId4" Type="http://schemas.openxmlformats.org/officeDocument/2006/relationships/hyperlink" Target="https://baike.baidu.com/item/%E4%BC%AA%E5%BD%A9%E8%89%B2/0?fromModule=lemma_inlink" TargetMode="External"/><Relationship Id="rId3" Type="http://schemas.openxmlformats.org/officeDocument/2006/relationships/hyperlink" Target="https://baike.baidu.com/item/%E5%9F%BA%E8%89%B2/5280892?fromModule=lemma_inlink" TargetMode="External"/><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p:sp>
      <p:sp>
        <p:nvSpPr>
          <p:cNvPr id="61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614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AFB96B0-DE56-4B91-A879-ED2F9CB6A5AD}" type="slidenum">
              <a:rPr lang="zh-CN" altLang="en-US" sz="1300"/>
            </a:fld>
            <a:endParaRPr lang="en-US" altLang="zh-CN"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7CD60D8-8BF8-4F61-9AE3-0C95DB13408D}" type="slidenum">
              <a:rPr lang="zh-CN" altLang="en-US"/>
            </a:fld>
            <a:endParaRPr lang="en-US" altLang="zh-CN"/>
          </a:p>
        </p:txBody>
      </p:sp>
      <p:sp>
        <p:nvSpPr>
          <p:cNvPr id="11267" name="Rectangle 2"/>
          <p:cNvSpPr txBox="1">
            <a:spLocks noGrp="1"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kumimoji="1" lang="zh-CN" altLang="en-US">
                <a:latin typeface="Times New Roman" panose="02020603050405020304" pitchFamily="18" charset="0"/>
                <a:ea typeface="宋体" panose="02010600030101010101" pitchFamily="2" charset="-122"/>
              </a:rPr>
              <a:t>计算机图形学</a:t>
            </a:r>
            <a:endParaRPr kumimoji="1" lang="zh-CN" altLang="en-US">
              <a:latin typeface="Times New Roman" panose="02020603050405020304" pitchFamily="18" charset="0"/>
              <a:ea typeface="宋体" panose="02010600030101010101" pitchFamily="2" charset="-122"/>
            </a:endParaRPr>
          </a:p>
        </p:txBody>
      </p:sp>
      <p:sp>
        <p:nvSpPr>
          <p:cNvPr id="11268" name="Rectangle 3"/>
          <p:cNvSpPr txBox="1">
            <a:spLocks noGrp="1"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51EDE12B-90CB-4A5D-8D43-58C50BE7E4C3}" type="datetime1">
              <a:rPr kumimoji="1" lang="zh-CN" altLang="en-US">
                <a:latin typeface="Times New Roman" panose="02020603050405020304" pitchFamily="18" charset="0"/>
                <a:ea typeface="宋体" panose="02010600030101010101" pitchFamily="2" charset="-122"/>
              </a:rPr>
            </a:fld>
            <a:endParaRPr kumimoji="1" lang="en-US" altLang="zh-CN">
              <a:latin typeface="Times New Roman" panose="02020603050405020304" pitchFamily="18" charset="0"/>
              <a:ea typeface="宋体" panose="02010600030101010101" pitchFamily="2" charset="-122"/>
            </a:endParaRPr>
          </a:p>
        </p:txBody>
      </p:sp>
      <p:sp>
        <p:nvSpPr>
          <p:cNvPr id="11269" name="Rectangle 2"/>
          <p:cNvSpPr>
            <a:spLocks noGrp="1" noRot="1" noChangeAspect="1" noChangeArrowheads="1" noTextEdit="1"/>
          </p:cNvSpPr>
          <p:nvPr>
            <p:ph type="sldImg"/>
          </p:nvPr>
        </p:nvSpPr>
        <p:spPr/>
      </p:sp>
      <p:sp>
        <p:nvSpPr>
          <p:cNvPr id="1127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panose="020B0604020202020204" pitchFamily="34" charset="0"/>
                <a:ea typeface="+mn-ea"/>
                <a:cs typeface="+mn-cs"/>
              </a:rPr>
              <a:t>真彩色是指图像中的每个像素值都分成红、绿、蓝三个基色分量，每个</a:t>
            </a:r>
            <a:r>
              <a:rPr lang="zh-CN" altLang="en-US" sz="1200" b="0" i="0" u="none" strike="noStrike" kern="1200" dirty="0">
                <a:solidFill>
                  <a:schemeClr val="tx1"/>
                </a:solidFill>
                <a:effectLst/>
                <a:latin typeface="Arial" panose="020B0604020202020204" pitchFamily="34" charset="0"/>
                <a:ea typeface="+mn-ea"/>
                <a:cs typeface="+mn-cs"/>
                <a:hlinkClick r:id="rId3"/>
              </a:rPr>
              <a:t>基色</a:t>
            </a:r>
            <a:r>
              <a:rPr lang="zh-CN" altLang="en-US" sz="1200" b="0" i="0" kern="1200" dirty="0">
                <a:solidFill>
                  <a:schemeClr val="tx1"/>
                </a:solidFill>
                <a:effectLst/>
                <a:latin typeface="Arial" panose="020B0604020202020204" pitchFamily="34" charset="0"/>
                <a:ea typeface="+mn-ea"/>
                <a:cs typeface="+mn-cs"/>
              </a:rPr>
              <a:t>分量直接决定其基色的强度，这样产生的色彩称为真彩色。</a:t>
            </a:r>
            <a:endParaRPr lang="en-US" altLang="zh-CN" sz="1200" b="0" i="0" kern="1200" dirty="0">
              <a:solidFill>
                <a:schemeClr val="tx1"/>
              </a:solidFill>
              <a:effectLst/>
              <a:latin typeface="Arial" panose="020B0604020202020204" pitchFamily="34" charset="0"/>
              <a:ea typeface="+mn-ea"/>
              <a:cs typeface="+mn-cs"/>
            </a:endParaRPr>
          </a:p>
          <a:p>
            <a:r>
              <a:rPr lang="zh-CN" altLang="en-US" sz="1200" b="0" i="0" u="none" strike="noStrike" kern="1200" dirty="0">
                <a:solidFill>
                  <a:schemeClr val="tx1"/>
                </a:solidFill>
                <a:effectLst/>
                <a:latin typeface="Arial" panose="020B0604020202020204" pitchFamily="34" charset="0"/>
                <a:ea typeface="+mn-ea"/>
                <a:cs typeface="+mn-cs"/>
                <a:hlinkClick r:id="rId4"/>
              </a:rPr>
              <a:t>伪彩色</a:t>
            </a:r>
            <a:r>
              <a:rPr lang="zh-CN" altLang="en-US" sz="1200" b="0" i="0" kern="1200" dirty="0">
                <a:solidFill>
                  <a:schemeClr val="tx1"/>
                </a:solidFill>
                <a:effectLst/>
                <a:latin typeface="Arial" panose="020B0604020202020204" pitchFamily="34" charset="0"/>
                <a:ea typeface="+mn-ea"/>
                <a:cs typeface="+mn-cs"/>
              </a:rPr>
              <a:t>图像的含义是，每个像素的颜色不是由每个</a:t>
            </a:r>
            <a:endParaRPr lang="en-US" altLang="zh-CN" sz="1200" b="0" i="0" kern="1200" dirty="0">
              <a:solidFill>
                <a:schemeClr val="tx1"/>
              </a:solidFill>
              <a:effectLst/>
              <a:latin typeface="Arial" panose="020B0604020202020204" pitchFamily="34" charset="0"/>
              <a:ea typeface="+mn-ea"/>
              <a:cs typeface="+mn-cs"/>
            </a:endParaRPr>
          </a:p>
          <a:p>
            <a:r>
              <a:rPr lang="zh-CN" altLang="en-US" sz="1200" b="1" i="0" kern="1200" dirty="0">
                <a:solidFill>
                  <a:schemeClr val="tx1"/>
                </a:solidFill>
                <a:effectLst/>
                <a:latin typeface="Arial" panose="020B0604020202020204" pitchFamily="34" charset="0"/>
                <a:ea typeface="+mn-ea"/>
                <a:cs typeface="+mn-cs"/>
              </a:rPr>
              <a:t>直接色</a:t>
            </a:r>
            <a:r>
              <a:rPr lang="en-US" altLang="zh-CN" sz="1200" b="1" i="0" kern="1200" dirty="0">
                <a:solidFill>
                  <a:schemeClr val="tx1"/>
                </a:solidFill>
                <a:effectLst/>
                <a:latin typeface="Arial" panose="020B0604020202020204" pitchFamily="34" charset="0"/>
                <a:ea typeface="+mn-ea"/>
                <a:cs typeface="+mn-cs"/>
              </a:rPr>
              <a:t>(direct color)</a:t>
            </a:r>
            <a:endParaRPr lang="zh-CN" altLang="en-US" sz="1200" b="0" i="0" kern="1200" dirty="0">
              <a:solidFill>
                <a:schemeClr val="tx1"/>
              </a:solidFill>
              <a:effectLst/>
              <a:latin typeface="Arial" panose="020B0604020202020204" pitchFamily="34" charset="0"/>
              <a:ea typeface="+mn-ea"/>
              <a:cs typeface="+mn-cs"/>
            </a:endParaRPr>
          </a:p>
          <a:p>
            <a:r>
              <a:rPr lang="zh-CN" altLang="en-US" sz="1200" b="0" i="0" kern="1200" dirty="0">
                <a:solidFill>
                  <a:schemeClr val="tx1"/>
                </a:solidFill>
                <a:effectLst/>
                <a:latin typeface="Arial" panose="020B0604020202020204" pitchFamily="34" charset="0"/>
                <a:ea typeface="+mn-ea"/>
                <a:cs typeface="+mn-cs"/>
              </a:rPr>
              <a:t>每个像素值分成</a:t>
            </a:r>
            <a:r>
              <a:rPr lang="en-US" altLang="zh-CN" sz="1200" b="0" i="0" kern="1200" dirty="0">
                <a:solidFill>
                  <a:schemeClr val="tx1"/>
                </a:solidFill>
                <a:effectLst/>
                <a:latin typeface="Arial" panose="020B0604020202020204" pitchFamily="34" charset="0"/>
                <a:ea typeface="+mn-ea"/>
                <a:cs typeface="+mn-cs"/>
              </a:rPr>
              <a:t>R</a:t>
            </a:r>
            <a:r>
              <a:rPr lang="zh-CN" altLang="en-US" sz="1200" b="0" i="0" kern="1200" dirty="0">
                <a:solidFill>
                  <a:schemeClr val="tx1"/>
                </a:solidFill>
                <a:effectLst/>
                <a:latin typeface="Arial" panose="020B0604020202020204" pitchFamily="34" charset="0"/>
                <a:ea typeface="+mn-ea"/>
                <a:cs typeface="+mn-cs"/>
              </a:rPr>
              <a:t>，</a:t>
            </a:r>
            <a:r>
              <a:rPr lang="en-US" altLang="zh-CN" sz="1200" b="0" i="0" kern="1200" dirty="0">
                <a:solidFill>
                  <a:schemeClr val="tx1"/>
                </a:solidFill>
                <a:effectLst/>
                <a:latin typeface="Arial" panose="020B0604020202020204" pitchFamily="34" charset="0"/>
                <a:ea typeface="+mn-ea"/>
                <a:cs typeface="+mn-cs"/>
              </a:rPr>
              <a:t>G</a:t>
            </a:r>
            <a:r>
              <a:rPr lang="zh-CN" altLang="en-US" sz="1200" b="0" i="0" kern="1200" dirty="0">
                <a:solidFill>
                  <a:schemeClr val="tx1"/>
                </a:solidFill>
                <a:effectLst/>
                <a:latin typeface="Arial" panose="020B0604020202020204" pitchFamily="34" charset="0"/>
                <a:ea typeface="+mn-ea"/>
                <a:cs typeface="+mn-cs"/>
              </a:rPr>
              <a:t>，</a:t>
            </a:r>
            <a:r>
              <a:rPr lang="en-US" altLang="zh-CN" sz="1200" b="0" i="0" kern="1200" dirty="0">
                <a:solidFill>
                  <a:schemeClr val="tx1"/>
                </a:solidFill>
                <a:effectLst/>
                <a:latin typeface="Arial" panose="020B0604020202020204" pitchFamily="34" charset="0"/>
                <a:ea typeface="+mn-ea"/>
                <a:cs typeface="+mn-cs"/>
              </a:rPr>
              <a:t>B</a:t>
            </a:r>
            <a:r>
              <a:rPr lang="zh-CN" altLang="en-US" sz="1200" b="0" i="0" kern="1200" dirty="0">
                <a:solidFill>
                  <a:schemeClr val="tx1"/>
                </a:solidFill>
                <a:effectLst/>
                <a:latin typeface="Arial" panose="020B0604020202020204" pitchFamily="34" charset="0"/>
                <a:ea typeface="+mn-ea"/>
                <a:cs typeface="+mn-cs"/>
              </a:rPr>
              <a:t>分量，每个分量作为单独的索引值对它做变换。也就是通过相应的彩色变换表找出基色强度，用变换后得到的</a:t>
            </a:r>
            <a:r>
              <a:rPr lang="en-US" altLang="zh-CN" sz="1200" b="0" i="0" kern="1200" dirty="0">
                <a:solidFill>
                  <a:schemeClr val="tx1"/>
                </a:solidFill>
                <a:effectLst/>
                <a:latin typeface="Arial" panose="020B0604020202020204" pitchFamily="34" charset="0"/>
                <a:ea typeface="+mn-ea"/>
                <a:cs typeface="+mn-cs"/>
              </a:rPr>
              <a:t>R</a:t>
            </a:r>
            <a:r>
              <a:rPr lang="zh-CN" altLang="en-US" sz="1200" b="0" i="0" kern="1200" dirty="0">
                <a:solidFill>
                  <a:schemeClr val="tx1"/>
                </a:solidFill>
                <a:effectLst/>
                <a:latin typeface="Arial" panose="020B0604020202020204" pitchFamily="34" charset="0"/>
                <a:ea typeface="+mn-ea"/>
                <a:cs typeface="+mn-cs"/>
              </a:rPr>
              <a:t>，</a:t>
            </a:r>
            <a:r>
              <a:rPr lang="en-US" altLang="zh-CN" sz="1200" b="0" i="0" kern="1200" dirty="0">
                <a:solidFill>
                  <a:schemeClr val="tx1"/>
                </a:solidFill>
                <a:effectLst/>
                <a:latin typeface="Arial" panose="020B0604020202020204" pitchFamily="34" charset="0"/>
                <a:ea typeface="+mn-ea"/>
                <a:cs typeface="+mn-cs"/>
              </a:rPr>
              <a:t>G</a:t>
            </a:r>
            <a:r>
              <a:rPr lang="zh-CN" altLang="en-US" sz="1200" b="0" i="0" kern="1200" dirty="0">
                <a:solidFill>
                  <a:schemeClr val="tx1"/>
                </a:solidFill>
                <a:effectLst/>
                <a:latin typeface="Arial" panose="020B0604020202020204" pitchFamily="34" charset="0"/>
                <a:ea typeface="+mn-ea"/>
                <a:cs typeface="+mn-cs"/>
              </a:rPr>
              <a:t>，</a:t>
            </a:r>
            <a:r>
              <a:rPr lang="en-US" altLang="zh-CN" sz="1200" b="0" i="0" kern="1200" dirty="0">
                <a:solidFill>
                  <a:schemeClr val="tx1"/>
                </a:solidFill>
                <a:effectLst/>
                <a:latin typeface="Arial" panose="020B0604020202020204" pitchFamily="34" charset="0"/>
                <a:ea typeface="+mn-ea"/>
                <a:cs typeface="+mn-cs"/>
              </a:rPr>
              <a:t>B</a:t>
            </a:r>
            <a:r>
              <a:rPr lang="zh-CN" altLang="en-US" sz="1200" b="0" i="0" kern="1200" dirty="0">
                <a:solidFill>
                  <a:schemeClr val="tx1"/>
                </a:solidFill>
                <a:effectLst/>
                <a:latin typeface="Arial" panose="020B0604020202020204" pitchFamily="34" charset="0"/>
                <a:ea typeface="+mn-ea"/>
                <a:cs typeface="+mn-cs"/>
              </a:rPr>
              <a:t>强度值产生的彩色称为直接色。它的特点是对每个基色进行变换。</a:t>
            </a:r>
            <a:endParaRPr lang="zh-CN" altLang="en-US" sz="1200" b="0" i="0" kern="1200" dirty="0">
              <a:solidFill>
                <a:schemeClr val="tx1"/>
              </a:solidFill>
              <a:effectLst/>
              <a:latin typeface="Arial" panose="020B0604020202020204" pitchFamily="34" charset="0"/>
              <a:ea typeface="+mn-ea"/>
              <a:cs typeface="+mn-cs"/>
            </a:endParaRPr>
          </a:p>
          <a:p>
            <a:r>
              <a:rPr lang="zh-CN" altLang="en-US" sz="1200" b="0" i="0" kern="1200" dirty="0">
                <a:solidFill>
                  <a:schemeClr val="tx1"/>
                </a:solidFill>
                <a:effectLst/>
                <a:latin typeface="Arial" panose="020B0604020202020204" pitchFamily="34" charset="0"/>
                <a:ea typeface="+mn-ea"/>
                <a:cs typeface="+mn-cs"/>
              </a:rPr>
              <a:t>基色分量的数值直接决定，而是把像素值当作</a:t>
            </a:r>
            <a:r>
              <a:rPr lang="zh-CN" altLang="en-US" sz="1200" b="0" i="0" u="none" strike="noStrike" kern="1200" dirty="0">
                <a:solidFill>
                  <a:schemeClr val="tx1"/>
                </a:solidFill>
                <a:effectLst/>
                <a:latin typeface="Arial" panose="020B0604020202020204" pitchFamily="34" charset="0"/>
                <a:ea typeface="+mn-ea"/>
                <a:cs typeface="+mn-cs"/>
                <a:hlinkClick r:id="rId5"/>
              </a:rPr>
              <a:t>彩色查找表</a:t>
            </a:r>
            <a:r>
              <a:rPr lang="en-US" altLang="zh-CN" sz="1200" b="0" i="0" kern="1200" dirty="0">
                <a:solidFill>
                  <a:schemeClr val="tx1"/>
                </a:solidFill>
                <a:effectLst/>
                <a:latin typeface="Arial" panose="020B0604020202020204" pitchFamily="34" charset="0"/>
                <a:ea typeface="+mn-ea"/>
                <a:cs typeface="+mn-cs"/>
              </a:rPr>
              <a:t>(</a:t>
            </a:r>
            <a:r>
              <a:rPr lang="en-US" altLang="zh-CN" sz="1200" b="0" i="0" u="none" strike="noStrike" kern="1200" dirty="0">
                <a:solidFill>
                  <a:schemeClr val="tx1"/>
                </a:solidFill>
                <a:effectLst/>
                <a:latin typeface="Arial" panose="020B0604020202020204" pitchFamily="34" charset="0"/>
                <a:ea typeface="+mn-ea"/>
                <a:cs typeface="+mn-cs"/>
                <a:hlinkClick r:id="rId6"/>
              </a:rPr>
              <a:t>color look-up table</a:t>
            </a:r>
            <a:r>
              <a:rPr lang="zh-CN" altLang="en-US" sz="1200" b="0" i="0" kern="1200" dirty="0">
                <a:solidFill>
                  <a:schemeClr val="tx1"/>
                </a:solidFill>
                <a:effectLst/>
                <a:latin typeface="Arial" panose="020B0604020202020204" pitchFamily="34" charset="0"/>
                <a:ea typeface="+mn-ea"/>
                <a:cs typeface="+mn-cs"/>
              </a:rPr>
              <a:t>，</a:t>
            </a:r>
            <a:r>
              <a:rPr lang="en-US" altLang="zh-CN" sz="1200" b="0" i="0" u="none" strike="noStrike" kern="1200" dirty="0">
                <a:solidFill>
                  <a:schemeClr val="tx1"/>
                </a:solidFill>
                <a:effectLst/>
                <a:latin typeface="Arial" panose="020B0604020202020204" pitchFamily="34" charset="0"/>
                <a:ea typeface="+mn-ea"/>
                <a:cs typeface="+mn-cs"/>
                <a:hlinkClick r:id="rId7"/>
              </a:rPr>
              <a:t>CLUT</a:t>
            </a:r>
            <a:r>
              <a:rPr lang="en-US" altLang="zh-CN" sz="1200" b="0" i="0" kern="1200" dirty="0">
                <a:solidFill>
                  <a:schemeClr val="tx1"/>
                </a:solidFill>
                <a:effectLst/>
                <a:latin typeface="Arial" panose="020B0604020202020204" pitchFamily="34" charset="0"/>
                <a:ea typeface="+mn-ea"/>
                <a:cs typeface="+mn-cs"/>
              </a:rPr>
              <a:t>)</a:t>
            </a:r>
            <a:r>
              <a:rPr lang="zh-CN" altLang="en-US" sz="1200" b="0" i="0" kern="1200" dirty="0">
                <a:solidFill>
                  <a:schemeClr val="tx1"/>
                </a:solidFill>
                <a:effectLst/>
                <a:latin typeface="Arial" panose="020B0604020202020204" pitchFamily="34" charset="0"/>
                <a:ea typeface="+mn-ea"/>
                <a:cs typeface="+mn-cs"/>
              </a:rPr>
              <a:t>试验结果表明，使用直接色在显示器上显示的彩色图像看起来真实、很自然。</a:t>
            </a:r>
            <a:endParaRPr lang="zh-CN" altLang="en-US" dirty="0"/>
          </a:p>
        </p:txBody>
      </p:sp>
      <p:sp>
        <p:nvSpPr>
          <p:cNvPr id="4" name="灯片编号占位符 3"/>
          <p:cNvSpPr>
            <a:spLocks noGrp="1"/>
          </p:cNvSpPr>
          <p:nvPr>
            <p:ph type="sldNum" sz="quarter" idx="5"/>
          </p:nvPr>
        </p:nvSpPr>
        <p:spPr/>
        <p:txBody>
          <a:bodyPr/>
          <a:lstStyle/>
          <a:p>
            <a:pPr>
              <a:defRPr/>
            </a:pPr>
            <a:fld id="{D5B96F46-6ECC-4313-B18A-9F9C0CA528FF}" type="slidenum">
              <a:rPr lang="zh-CN" altLang="en-US"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最大偏转角度是有限的，因此为了让屏幕变大，往往只能将显像管增长。</a:t>
            </a:r>
            <a:endParaRPr lang="zh-CN" altLang="en-US" dirty="0"/>
          </a:p>
        </p:txBody>
      </p:sp>
      <p:sp>
        <p:nvSpPr>
          <p:cNvPr id="4" name="灯片编号占位符 3"/>
          <p:cNvSpPr>
            <a:spLocks noGrp="1"/>
          </p:cNvSpPr>
          <p:nvPr>
            <p:ph type="sldNum" sz="quarter" idx="5"/>
          </p:nvPr>
        </p:nvSpPr>
        <p:spPr/>
        <p:txBody>
          <a:bodyPr/>
          <a:lstStyle/>
          <a:p>
            <a:pPr>
              <a:defRPr/>
            </a:pPr>
            <a:fld id="{D5B96F46-6ECC-4313-B18A-9F9C0CA528FF}" type="slidenum">
              <a:rPr lang="zh-CN" altLang="en-US"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5B96F46-6ECC-4313-B18A-9F9C0CA528FF}" type="slidenum">
              <a:rPr lang="zh-CN" altLang="en-US"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TFT</a:t>
            </a:r>
            <a:r>
              <a:rPr lang="zh-CN" altLang="en-US" dirty="0"/>
              <a:t>是主动式，</a:t>
            </a:r>
            <a:r>
              <a:rPr lang="en-US" altLang="zh-CN" dirty="0"/>
              <a:t>STN</a:t>
            </a:r>
            <a:r>
              <a:rPr lang="zh-CN" altLang="en-US" dirty="0"/>
              <a:t>被动式。</a:t>
            </a:r>
            <a:endParaRPr lang="en-US" altLang="zh-CN" dirty="0"/>
          </a:p>
          <a:p>
            <a:r>
              <a:rPr lang="zh-CN" altLang="en-US" dirty="0"/>
              <a:t>主动式可以让液晶体在下次电压发生改变之前保持电位，避免被动式中存在的残影或鬼影问题。</a:t>
            </a:r>
            <a:endParaRPr lang="zh-CN" altLang="en-US" dirty="0"/>
          </a:p>
        </p:txBody>
      </p:sp>
      <p:sp>
        <p:nvSpPr>
          <p:cNvPr id="4" name="灯片编号占位符 3"/>
          <p:cNvSpPr>
            <a:spLocks noGrp="1"/>
          </p:cNvSpPr>
          <p:nvPr>
            <p:ph type="sldNum" sz="quarter" idx="5"/>
          </p:nvPr>
        </p:nvSpPr>
        <p:spPr/>
        <p:txBody>
          <a:bodyPr/>
          <a:lstStyle/>
          <a:p>
            <a:pPr>
              <a:defRPr/>
            </a:pPr>
            <a:fld id="{D5B96F46-6ECC-4313-B18A-9F9C0CA528FF}" type="slidenum">
              <a:rPr lang="zh-CN" altLang="en-US"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CRT</a:t>
            </a:r>
            <a:r>
              <a:rPr lang="zh-CN" altLang="en-US" dirty="0"/>
              <a:t>的像素只有被电子击中才会点亮，且亮度会衰减，因此刷新率如果不够就是闪烁</a:t>
            </a:r>
            <a:endParaRPr lang="en-US" altLang="zh-CN" dirty="0"/>
          </a:p>
          <a:p>
            <a:r>
              <a:rPr lang="zh-CN" altLang="en-US" dirty="0"/>
              <a:t>而液晶像素总是发光的，只有才加上不发光的电压时该点才会变黑，因此不会闪烁。</a:t>
            </a:r>
            <a:endParaRPr lang="zh-CN" altLang="en-US" dirty="0"/>
          </a:p>
        </p:txBody>
      </p:sp>
      <p:sp>
        <p:nvSpPr>
          <p:cNvPr id="4" name="灯片编号占位符 3"/>
          <p:cNvSpPr>
            <a:spLocks noGrp="1"/>
          </p:cNvSpPr>
          <p:nvPr>
            <p:ph type="sldNum" sz="quarter" idx="5"/>
          </p:nvPr>
        </p:nvSpPr>
        <p:spPr/>
        <p:txBody>
          <a:bodyPr/>
          <a:lstStyle/>
          <a:p>
            <a:pPr>
              <a:defRPr/>
            </a:pPr>
            <a:fld id="{D5B96F46-6ECC-4313-B18A-9F9C0CA528FF}" type="slidenum">
              <a:rPr lang="zh-CN" altLang="en-US"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图左使可以卷起来的显示器，右边是全息</a:t>
            </a:r>
            <a:endParaRPr lang="zh-CN" altLang="en-US" dirty="0"/>
          </a:p>
        </p:txBody>
      </p:sp>
      <p:sp>
        <p:nvSpPr>
          <p:cNvPr id="4" name="灯片编号占位符 3"/>
          <p:cNvSpPr>
            <a:spLocks noGrp="1"/>
          </p:cNvSpPr>
          <p:nvPr>
            <p:ph type="sldNum" sz="quarter" idx="5"/>
          </p:nvPr>
        </p:nvSpPr>
        <p:spPr/>
        <p:txBody>
          <a:bodyPr/>
          <a:lstStyle/>
          <a:p>
            <a:pPr>
              <a:defRPr/>
            </a:pPr>
            <a:fld id="{D5B96F46-6ECC-4313-B18A-9F9C0CA528FF}" type="slidenum">
              <a:rPr lang="zh-CN" altLang="en-US"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人是怎样画出这个三角形的？</a:t>
            </a:r>
            <a:endParaRPr lang="zh-CN" altLang="en-US" dirty="0"/>
          </a:p>
        </p:txBody>
      </p:sp>
      <p:sp>
        <p:nvSpPr>
          <p:cNvPr id="4" name="灯片编号占位符 3"/>
          <p:cNvSpPr>
            <a:spLocks noGrp="1"/>
          </p:cNvSpPr>
          <p:nvPr>
            <p:ph type="sldNum" sz="quarter" idx="5"/>
          </p:nvPr>
        </p:nvSpPr>
        <p:spPr/>
        <p:txBody>
          <a:bodyPr/>
          <a:lstStyle/>
          <a:p>
            <a:pPr>
              <a:defRPr/>
            </a:pPr>
            <a:fld id="{D5B96F46-6ECC-4313-B18A-9F9C0CA528FF}" type="slidenum">
              <a:rPr lang="zh-CN" altLang="en-US"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9CFE8B1B-5A76-4701-B089-614E5EA5533B}" type="slidenum">
              <a:rPr lang="zh-CN" altLang="en-US">
                <a:ea typeface="宋体" panose="02010600030101010101" pitchFamily="2" charset="-122"/>
              </a:rPr>
            </a:fld>
            <a:endParaRPr lang="en-US" altLang="zh-CN">
              <a:ea typeface="宋体" panose="02010600030101010101" pitchFamily="2" charset="-122"/>
            </a:endParaRPr>
          </a:p>
        </p:txBody>
      </p:sp>
      <p:sp>
        <p:nvSpPr>
          <p:cNvPr id="49155" name="Rectangle 2"/>
          <p:cNvSpPr txBox="1">
            <a:spLocks noGrp="1"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r>
              <a:rPr kumimoji="1" lang="zh-CN" altLang="en-US" sz="1200">
                <a:latin typeface="Times New Roman" panose="02020603050405020304" pitchFamily="18" charset="0"/>
                <a:ea typeface="宋体" panose="02010600030101010101" pitchFamily="2" charset="-122"/>
              </a:rPr>
              <a:t>计算机图形学</a:t>
            </a:r>
            <a:endParaRPr kumimoji="1" lang="zh-CN" altLang="en-US" sz="1200">
              <a:latin typeface="Times New Roman" panose="02020603050405020304" pitchFamily="18" charset="0"/>
              <a:ea typeface="宋体" panose="02010600030101010101" pitchFamily="2" charset="-122"/>
            </a:endParaRPr>
          </a:p>
        </p:txBody>
      </p:sp>
      <p:sp>
        <p:nvSpPr>
          <p:cNvPr id="49156" name="Rectangle 3"/>
          <p:cNvSpPr txBox="1">
            <a:spLocks noGrp="1"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03D3C42A-8134-40AC-B39F-D34654B383B2}" type="datetime1">
              <a:rPr kumimoji="1" lang="zh-CN" altLang="en-US" sz="1200">
                <a:latin typeface="Times New Roman" panose="02020603050405020304" pitchFamily="18" charset="0"/>
                <a:ea typeface="宋体" panose="02010600030101010101" pitchFamily="2" charset="-122"/>
              </a:rPr>
            </a:fld>
            <a:endParaRPr kumimoji="1" lang="en-US" altLang="zh-CN" sz="1200">
              <a:latin typeface="Times New Roman" panose="02020603050405020304" pitchFamily="18" charset="0"/>
              <a:ea typeface="宋体" panose="02010600030101010101" pitchFamily="2" charset="-122"/>
            </a:endParaRPr>
          </a:p>
        </p:txBody>
      </p:sp>
      <p:sp>
        <p:nvSpPr>
          <p:cNvPr id="49157" name="Rectangle 2"/>
          <p:cNvSpPr>
            <a:spLocks noGrp="1" noRot="1" noChangeAspect="1" noChangeArrowheads="1" noTextEdit="1"/>
          </p:cNvSpPr>
          <p:nvPr>
            <p:ph type="sldImg"/>
          </p:nvPr>
        </p:nvSpPr>
        <p:spPr/>
      </p:sp>
      <p:sp>
        <p:nvSpPr>
          <p:cNvPr id="49158"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ea typeface="幼圆" panose="02010509060101010101" pitchFamily="49" charset="-122"/>
              </a:rPr>
              <a:t>由于</a:t>
            </a:r>
            <a:r>
              <a:rPr lang="en-US" altLang="zh-CN">
                <a:latin typeface="Arial" panose="020B0604020202020204" pitchFamily="34" charset="0"/>
                <a:ea typeface="幼圆" panose="02010509060101010101" pitchFamily="49" charset="-122"/>
              </a:rPr>
              <a:t>CRT</a:t>
            </a:r>
            <a:r>
              <a:rPr lang="zh-CN" altLang="en-US">
                <a:latin typeface="Arial" panose="020B0604020202020204" pitchFamily="34" charset="0"/>
                <a:ea typeface="幼圆" panose="02010509060101010101" pitchFamily="49" charset="-122"/>
              </a:rPr>
              <a:t>内侧的荧光粉在接受电子束的轰击时，只能维持短暂的发光，根据人眼视觉暂留的特性，需要不断进行刷新才能有稳定的视觉效果，因此刷新是指以每秒30帧以上的频率反复扫描不断地显示每一帧图像。图像的刷新频率等于帧扫描的频率（帧频），用每秒刷新的帧数表示。目前刷新频率标准为每秒50~120帧。</a:t>
            </a:r>
            <a:endParaRPr lang="zh-CN" altLang="en-US">
              <a:latin typeface="Arial" panose="020B0604020202020204" pitchFamily="34" charset="0"/>
              <a:ea typeface="幼圆" panose="02010509060101010101" pitchFamily="49"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5B96F46-6ECC-4313-B18A-9F9C0CA528FF}" type="slidenum">
              <a:rPr lang="zh-CN" altLang="en-US"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7074D4DE-8998-4D4E-867B-4B3A481FE056}" type="slidenum">
              <a:rPr lang="zh-CN" altLang="en-US">
                <a:ea typeface="宋体" panose="02010600030101010101" pitchFamily="2" charset="-122"/>
              </a:rPr>
            </a:fld>
            <a:endParaRPr lang="en-US" altLang="zh-CN">
              <a:ea typeface="宋体" panose="02010600030101010101" pitchFamily="2" charset="-122"/>
            </a:endParaRPr>
          </a:p>
        </p:txBody>
      </p:sp>
      <p:sp>
        <p:nvSpPr>
          <p:cNvPr id="50179" name="Rectangle 2"/>
          <p:cNvSpPr>
            <a:spLocks noGrp="1" noRot="1" noChangeAspect="1" noChangeArrowheads="1" noTextEdit="1"/>
          </p:cNvSpPr>
          <p:nvPr>
            <p:ph type="sldImg"/>
          </p:nvPr>
        </p:nvSpPr>
        <p:spPr/>
      </p:sp>
      <p:sp>
        <p:nvSpPr>
          <p:cNvPr id="501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信管</a:t>
            </a:r>
            <a:r>
              <a:rPr lang="en-US" altLang="zh-CN">
                <a:latin typeface="Arial" panose="020B0604020202020204" pitchFamily="34" charset="0"/>
              </a:rPr>
              <a:t>06</a:t>
            </a:r>
            <a:endParaRPr lang="en-US" altLang="zh-CN">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29CCAE98-3F48-4D20-8B15-A00C6ECE71F8}" type="slidenum">
              <a:rPr lang="zh-CN" altLang="en-US">
                <a:ea typeface="宋体" panose="02010600030101010101" pitchFamily="2" charset="-122"/>
              </a:rPr>
            </a:fld>
            <a:endParaRPr lang="en-US" altLang="zh-CN">
              <a:ea typeface="宋体" panose="02010600030101010101" pitchFamily="2" charset="-122"/>
            </a:endParaRPr>
          </a:p>
        </p:txBody>
      </p:sp>
      <p:sp>
        <p:nvSpPr>
          <p:cNvPr id="51203" name="Rectangle 2"/>
          <p:cNvSpPr>
            <a:spLocks noGrp="1" noRot="1" noChangeAspect="1" noChangeArrowheads="1" noTextEdit="1"/>
          </p:cNvSpPr>
          <p:nvPr>
            <p:ph type="sldImg"/>
          </p:nvPr>
        </p:nvSpPr>
        <p:spPr/>
      </p:sp>
      <p:sp>
        <p:nvSpPr>
          <p:cNvPr id="512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信息</a:t>
            </a:r>
            <a:r>
              <a:rPr lang="en-US" altLang="zh-CN">
                <a:latin typeface="Arial" panose="020B0604020202020204" pitchFamily="34" charset="0"/>
              </a:rPr>
              <a:t>06</a:t>
            </a:r>
            <a:endParaRPr lang="en-US" altLang="zh-CN">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BAB8F13F-6E0B-4B30-A248-DA6698C6374D}" type="slidenum">
              <a:rPr lang="zh-CN" altLang="en-US">
                <a:ea typeface="宋体" panose="02010600030101010101" pitchFamily="2" charset="-122"/>
              </a:rPr>
            </a:fld>
            <a:endParaRPr lang="en-US" altLang="zh-CN">
              <a:ea typeface="宋体" panose="02010600030101010101" pitchFamily="2" charset="-122"/>
            </a:endParaRPr>
          </a:p>
        </p:txBody>
      </p:sp>
      <p:sp>
        <p:nvSpPr>
          <p:cNvPr id="52227" name="Rectangle 2"/>
          <p:cNvSpPr>
            <a:spLocks noGrp="1" noRot="1" noChangeAspect="1" noChangeArrowheads="1" noTextEdit="1"/>
          </p:cNvSpPr>
          <p:nvPr>
            <p:ph type="sldImg"/>
          </p:nvPr>
        </p:nvSpPr>
        <p:spPr/>
      </p:sp>
      <p:sp>
        <p:nvSpPr>
          <p:cNvPr id="522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5B96F46-6ECC-4313-B18A-9F9C0CA528FF}" type="slidenum">
              <a:rPr lang="zh-CN" altLang="en-US"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56AD1772-50CC-4D6E-BF9D-F19F76A03A1D}" type="slidenum">
              <a:rPr lang="zh-CN" altLang="en-US">
                <a:ea typeface="宋体" panose="02010600030101010101" pitchFamily="2" charset="-122"/>
              </a:rPr>
            </a:fld>
            <a:endParaRPr lang="en-US" altLang="zh-CN">
              <a:ea typeface="宋体" panose="02010600030101010101" pitchFamily="2" charset="-122"/>
            </a:endParaRPr>
          </a:p>
        </p:txBody>
      </p:sp>
      <p:sp>
        <p:nvSpPr>
          <p:cNvPr id="53251" name="Rectangle 2"/>
          <p:cNvSpPr>
            <a:spLocks noGrp="1" noRot="1" noChangeAspect="1" noChangeArrowheads="1" noTextEdit="1"/>
          </p:cNvSpPr>
          <p:nvPr>
            <p:ph type="sldImg"/>
          </p:nvPr>
        </p:nvSpPr>
        <p:spPr/>
      </p:sp>
      <p:sp>
        <p:nvSpPr>
          <p:cNvPr id="532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rPr>
              <a:t>一次课内容到此为止</a:t>
            </a:r>
            <a:r>
              <a:rPr lang="en-US" altLang="zh-CN" dirty="0">
                <a:latin typeface="Arial" panose="020B0604020202020204" pitchFamily="34" charset="0"/>
              </a:rPr>
              <a:t>.</a:t>
            </a:r>
            <a:endParaRPr lang="en-US" altLang="zh-CN" dirty="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56AD1772-50CC-4D6E-BF9D-F19F76A03A1D}" type="slidenum">
              <a:rPr lang="zh-CN" altLang="en-US">
                <a:ea typeface="宋体" panose="02010600030101010101" pitchFamily="2" charset="-122"/>
              </a:rPr>
            </a:fld>
            <a:endParaRPr lang="en-US" altLang="zh-CN">
              <a:ea typeface="宋体" panose="02010600030101010101" pitchFamily="2" charset="-122"/>
            </a:endParaRPr>
          </a:p>
        </p:txBody>
      </p:sp>
      <p:sp>
        <p:nvSpPr>
          <p:cNvPr id="53251" name="Rectangle 2"/>
          <p:cNvSpPr>
            <a:spLocks noGrp="1" noRot="1" noChangeAspect="1" noChangeArrowheads="1" noTextEdit="1"/>
          </p:cNvSpPr>
          <p:nvPr>
            <p:ph type="sldImg"/>
          </p:nvPr>
        </p:nvSpPr>
        <p:spPr/>
      </p:sp>
      <p:sp>
        <p:nvSpPr>
          <p:cNvPr id="532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200" b="0" i="0" kern="1200" dirty="0">
                <a:solidFill>
                  <a:schemeClr val="tx1"/>
                </a:solidFill>
                <a:effectLst/>
                <a:latin typeface="Arial" panose="020B0604020202020204" pitchFamily="34" charset="0"/>
                <a:ea typeface="+mn-ea"/>
                <a:cs typeface="+mn-cs"/>
              </a:rPr>
              <a:t>显卡和图形卡在多数情况下被视为同一类型的硬件，主要负责处理并输出计算机生成的图形和视频至显示器。</a:t>
            </a:r>
            <a:r>
              <a:rPr lang="zh-CN" altLang="en-US" sz="1200" b="1" i="0" kern="1200" dirty="0">
                <a:solidFill>
                  <a:schemeClr val="tx1"/>
                </a:solidFill>
                <a:effectLst/>
                <a:latin typeface="Arial" panose="020B0604020202020204" pitchFamily="34" charset="0"/>
                <a:ea typeface="+mn-ea"/>
                <a:cs typeface="+mn-cs"/>
              </a:rPr>
              <a:t>计算卡是专为高效数据计算而设计的硬件，主要应用于科学计算、大数据处理、深度学习等领域</a:t>
            </a:r>
            <a:r>
              <a:rPr lang="zh-CN" altLang="en-US" sz="1200" b="0" i="0" kern="1200" dirty="0">
                <a:solidFill>
                  <a:schemeClr val="tx1"/>
                </a:solidFill>
                <a:effectLst/>
                <a:latin typeface="Arial" panose="020B0604020202020204" pitchFamily="34" charset="0"/>
                <a:ea typeface="+mn-ea"/>
                <a:cs typeface="+mn-cs"/>
              </a:rPr>
              <a:t>。例如深度学习、人工智能、加密货币挖矿、大数据分析、生物信息学等领域</a:t>
            </a:r>
            <a:endParaRPr lang="en-US" altLang="zh-CN" sz="1200" b="0" i="0" kern="1200" dirty="0">
              <a:solidFill>
                <a:schemeClr val="tx1"/>
              </a:solidFill>
              <a:effectLst/>
              <a:latin typeface="Arial" panose="020B0604020202020204" pitchFamily="34" charset="0"/>
              <a:ea typeface="+mn-ea"/>
              <a:cs typeface="+mn-cs"/>
            </a:endParaRPr>
          </a:p>
          <a:p>
            <a:pPr eaLnBrk="1" hangingPunct="1"/>
            <a:endParaRPr lang="en-US" altLang="zh-CN" sz="1200" b="0" i="0" kern="1200" dirty="0">
              <a:solidFill>
                <a:schemeClr val="tx1"/>
              </a:solidFill>
              <a:effectLst/>
              <a:latin typeface="Arial" panose="020B0604020202020204" pitchFamily="34" charset="0"/>
              <a:ea typeface="+mn-ea"/>
              <a:cs typeface="+mn-cs"/>
            </a:endParaRPr>
          </a:p>
          <a:p>
            <a:pPr eaLnBrk="1" hangingPunct="1"/>
            <a:r>
              <a:rPr lang="en-US" altLang="zh-CN" sz="1200" dirty="0">
                <a:ea typeface="+mn-ea"/>
              </a:rPr>
              <a:t>Radeon Instinct</a:t>
            </a:r>
            <a:r>
              <a:rPr lang="zh-CN" altLang="en-US" sz="1200" dirty="0">
                <a:ea typeface="+mn-ea"/>
              </a:rPr>
              <a:t>：镭龙</a:t>
            </a:r>
            <a:endParaRPr lang="en-US" altLang="zh-CN" dirty="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5B96F46-6ECC-4313-B18A-9F9C0CA528FF}" type="slidenum">
              <a:rPr lang="zh-CN" altLang="en-US"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GDI: </a:t>
            </a:r>
            <a:r>
              <a:rPr lang="zh-CN" altLang="en-US" dirty="0"/>
              <a:t>图形设备接口(Graphics Device Interface)</a:t>
            </a:r>
            <a:r>
              <a:rPr lang="en-US" altLang="zh-CN" dirty="0"/>
              <a:t>, windows API.</a:t>
            </a:r>
            <a:r>
              <a:rPr lang="zh-CN" altLang="en-US" dirty="0"/>
              <a:t>是</a:t>
            </a:r>
            <a:r>
              <a:rPr lang="en-US" altLang="zh-CN" dirty="0"/>
              <a:t>windows</a:t>
            </a:r>
            <a:r>
              <a:rPr lang="zh-CN" altLang="en-US" dirty="0"/>
              <a:t>图像显示程序和实际物理硬件的桥梁</a:t>
            </a:r>
            <a:endParaRPr lang="en-US" altLang="zh-CN" dirty="0"/>
          </a:p>
          <a:p>
            <a:pPr fontAlgn="base"/>
            <a:r>
              <a:rPr lang="zh-CN" altLang="en-US" sz="1200" b="0" i="0" kern="1200" dirty="0">
                <a:solidFill>
                  <a:schemeClr val="tx1"/>
                </a:solidFill>
                <a:effectLst/>
                <a:latin typeface="Arial" panose="020B0604020202020204" pitchFamily="34" charset="0"/>
                <a:ea typeface="+mn-ea"/>
                <a:cs typeface="+mn-cs"/>
              </a:rPr>
              <a:t>这段代码在 </a:t>
            </a:r>
            <a:r>
              <a:rPr lang="en-US" altLang="zh-CN" sz="1200" b="0" i="0" kern="1200" dirty="0">
                <a:solidFill>
                  <a:schemeClr val="tx1"/>
                </a:solidFill>
                <a:effectLst/>
                <a:latin typeface="Arial" panose="020B0604020202020204" pitchFamily="34" charset="0"/>
                <a:ea typeface="+mn-ea"/>
                <a:cs typeface="+mn-cs"/>
              </a:rPr>
              <a:t>Windows </a:t>
            </a:r>
            <a:r>
              <a:rPr lang="zh-CN" altLang="en-US" sz="1200" b="0" i="0" kern="1200" dirty="0">
                <a:solidFill>
                  <a:schemeClr val="tx1"/>
                </a:solidFill>
                <a:effectLst/>
                <a:latin typeface="Arial" panose="020B0604020202020204" pitchFamily="34" charset="0"/>
                <a:ea typeface="+mn-ea"/>
                <a:cs typeface="+mn-cs"/>
              </a:rPr>
              <a:t>操作系统中创建了一个简单的图形界面窗口，并执行以下操作：</a:t>
            </a:r>
            <a:endParaRPr lang="zh-CN" altLang="en-US" sz="1200" b="0" i="0" kern="1200" dirty="0">
              <a:solidFill>
                <a:schemeClr val="tx1"/>
              </a:solidFill>
              <a:effectLst/>
              <a:latin typeface="Arial" panose="020B0604020202020204" pitchFamily="34" charset="0"/>
              <a:ea typeface="+mn-ea"/>
              <a:cs typeface="+mn-cs"/>
            </a:endParaRPr>
          </a:p>
          <a:p>
            <a:pPr fontAlgn="base"/>
            <a:r>
              <a:rPr lang="zh-CN" altLang="en-US" sz="1200" b="0" i="0" kern="1200" dirty="0">
                <a:solidFill>
                  <a:schemeClr val="tx1"/>
                </a:solidFill>
                <a:effectLst/>
                <a:latin typeface="Arial" panose="020B0604020202020204" pitchFamily="34" charset="0"/>
                <a:ea typeface="+mn-ea"/>
                <a:cs typeface="+mn-cs"/>
              </a:rPr>
              <a:t>**获取窗口客户区域：**使用 </a:t>
            </a:r>
            <a:r>
              <a:rPr lang="en-US" altLang="zh-CN" sz="1200" b="0" i="0" kern="1200" dirty="0" err="1">
                <a:solidFill>
                  <a:schemeClr val="tx1"/>
                </a:solidFill>
                <a:effectLst/>
                <a:latin typeface="Arial" panose="020B0604020202020204" pitchFamily="34" charset="0"/>
                <a:ea typeface="+mn-ea"/>
                <a:cs typeface="+mn-cs"/>
              </a:rPr>
              <a:t>GetClientRect</a:t>
            </a:r>
            <a:r>
              <a:rPr lang="en-US" altLang="zh-CN" sz="1200" b="0" i="0" kern="1200" dirty="0">
                <a:solidFill>
                  <a:schemeClr val="tx1"/>
                </a:solidFill>
                <a:effectLst/>
                <a:latin typeface="Arial" panose="020B0604020202020204" pitchFamily="34" charset="0"/>
                <a:ea typeface="+mn-ea"/>
                <a:cs typeface="+mn-cs"/>
              </a:rPr>
              <a:t> </a:t>
            </a:r>
            <a:r>
              <a:rPr lang="zh-CN" altLang="en-US" sz="1200" b="0" i="0" kern="1200" dirty="0">
                <a:solidFill>
                  <a:schemeClr val="tx1"/>
                </a:solidFill>
                <a:effectLst/>
                <a:latin typeface="Arial" panose="020B0604020202020204" pitchFamily="34" charset="0"/>
                <a:ea typeface="+mn-ea"/>
                <a:cs typeface="+mn-cs"/>
              </a:rPr>
              <a:t>函数获取窗口的客户区域（内部区域），并将其存储在 </a:t>
            </a:r>
            <a:r>
              <a:rPr lang="en-US" altLang="zh-CN" sz="1200" b="0" i="0" kern="1200" dirty="0" err="1">
                <a:solidFill>
                  <a:schemeClr val="tx1"/>
                </a:solidFill>
                <a:effectLst/>
                <a:latin typeface="Arial" panose="020B0604020202020204" pitchFamily="34" charset="0"/>
                <a:ea typeface="+mn-ea"/>
                <a:cs typeface="+mn-cs"/>
              </a:rPr>
              <a:t>rc</a:t>
            </a:r>
            <a:r>
              <a:rPr lang="en-US" altLang="zh-CN" sz="1200" b="0" i="0" kern="1200" dirty="0">
                <a:solidFill>
                  <a:schemeClr val="tx1"/>
                </a:solidFill>
                <a:effectLst/>
                <a:latin typeface="Arial" panose="020B0604020202020204" pitchFamily="34" charset="0"/>
                <a:ea typeface="+mn-ea"/>
                <a:cs typeface="+mn-cs"/>
              </a:rPr>
              <a:t> </a:t>
            </a:r>
            <a:r>
              <a:rPr lang="zh-CN" altLang="en-US" sz="1200" b="0" i="0" kern="1200" dirty="0">
                <a:solidFill>
                  <a:schemeClr val="tx1"/>
                </a:solidFill>
                <a:effectLst/>
                <a:latin typeface="Arial" panose="020B0604020202020204" pitchFamily="34" charset="0"/>
                <a:ea typeface="+mn-ea"/>
                <a:cs typeface="+mn-cs"/>
              </a:rPr>
              <a:t>变量中。</a:t>
            </a:r>
            <a:endParaRPr lang="zh-CN" altLang="en-US" sz="1200" b="0" i="0" kern="1200" dirty="0">
              <a:solidFill>
                <a:schemeClr val="tx1"/>
              </a:solidFill>
              <a:effectLst/>
              <a:latin typeface="Arial" panose="020B0604020202020204" pitchFamily="34" charset="0"/>
              <a:ea typeface="+mn-ea"/>
              <a:cs typeface="+mn-cs"/>
            </a:endParaRPr>
          </a:p>
          <a:p>
            <a:pPr fontAlgn="base"/>
            <a:r>
              <a:rPr lang="zh-CN" altLang="en-US" sz="1200" b="0" i="0" kern="1200" dirty="0">
                <a:solidFill>
                  <a:schemeClr val="tx1"/>
                </a:solidFill>
                <a:effectLst/>
                <a:latin typeface="Arial" panose="020B0604020202020204" pitchFamily="34" charset="0"/>
                <a:ea typeface="+mn-ea"/>
                <a:cs typeface="+mn-cs"/>
              </a:rPr>
              <a:t>**开始绘制：**使用 </a:t>
            </a:r>
            <a:r>
              <a:rPr lang="en-US" altLang="zh-CN" sz="1200" b="0" i="0" kern="1200" dirty="0" err="1">
                <a:solidFill>
                  <a:schemeClr val="tx1"/>
                </a:solidFill>
                <a:effectLst/>
                <a:latin typeface="Arial" panose="020B0604020202020204" pitchFamily="34" charset="0"/>
                <a:ea typeface="+mn-ea"/>
                <a:cs typeface="+mn-cs"/>
              </a:rPr>
              <a:t>BeginPaint</a:t>
            </a:r>
            <a:r>
              <a:rPr lang="en-US" altLang="zh-CN" sz="1200" b="0" i="0" kern="1200" dirty="0">
                <a:solidFill>
                  <a:schemeClr val="tx1"/>
                </a:solidFill>
                <a:effectLst/>
                <a:latin typeface="Arial" panose="020B0604020202020204" pitchFamily="34" charset="0"/>
                <a:ea typeface="+mn-ea"/>
                <a:cs typeface="+mn-cs"/>
              </a:rPr>
              <a:t> </a:t>
            </a:r>
            <a:r>
              <a:rPr lang="zh-CN" altLang="en-US" sz="1200" b="0" i="0" kern="1200" dirty="0">
                <a:solidFill>
                  <a:schemeClr val="tx1"/>
                </a:solidFill>
                <a:effectLst/>
                <a:latin typeface="Arial" panose="020B0604020202020204" pitchFamily="34" charset="0"/>
                <a:ea typeface="+mn-ea"/>
                <a:cs typeface="+mn-cs"/>
              </a:rPr>
              <a:t>函数开始绘制过程，并获取一个指向绘图句柄 </a:t>
            </a:r>
            <a:r>
              <a:rPr lang="en-US" altLang="zh-CN" sz="1200" b="0" i="0" kern="1200" dirty="0">
                <a:solidFill>
                  <a:schemeClr val="tx1"/>
                </a:solidFill>
                <a:effectLst/>
                <a:latin typeface="Arial" panose="020B0604020202020204" pitchFamily="34" charset="0"/>
                <a:ea typeface="+mn-ea"/>
                <a:cs typeface="+mn-cs"/>
              </a:rPr>
              <a:t>(</a:t>
            </a:r>
            <a:r>
              <a:rPr lang="en-US" altLang="zh-CN" sz="1200" b="0" i="0" kern="1200" dirty="0" err="1">
                <a:solidFill>
                  <a:schemeClr val="tx1"/>
                </a:solidFill>
                <a:effectLst/>
                <a:latin typeface="Arial" panose="020B0604020202020204" pitchFamily="34" charset="0"/>
                <a:ea typeface="+mn-ea"/>
                <a:cs typeface="+mn-cs"/>
              </a:rPr>
              <a:t>hdc</a:t>
            </a:r>
            <a:r>
              <a:rPr lang="en-US" altLang="zh-CN" sz="1200" b="0" i="0" kern="1200" dirty="0">
                <a:solidFill>
                  <a:schemeClr val="tx1"/>
                </a:solidFill>
                <a:effectLst/>
                <a:latin typeface="Arial" panose="020B0604020202020204" pitchFamily="34" charset="0"/>
                <a:ea typeface="+mn-ea"/>
                <a:cs typeface="+mn-cs"/>
              </a:rPr>
              <a:t>) </a:t>
            </a:r>
            <a:r>
              <a:rPr lang="zh-CN" altLang="en-US" sz="1200" b="0" i="0" kern="1200" dirty="0">
                <a:solidFill>
                  <a:schemeClr val="tx1"/>
                </a:solidFill>
                <a:effectLst/>
                <a:latin typeface="Arial" panose="020B0604020202020204" pitchFamily="34" charset="0"/>
                <a:ea typeface="+mn-ea"/>
                <a:cs typeface="+mn-cs"/>
              </a:rPr>
              <a:t>的指针。</a:t>
            </a:r>
            <a:endParaRPr lang="zh-CN" altLang="en-US" sz="1200" b="0" i="0" kern="1200" dirty="0">
              <a:solidFill>
                <a:schemeClr val="tx1"/>
              </a:solidFill>
              <a:effectLst/>
              <a:latin typeface="Arial" panose="020B0604020202020204" pitchFamily="34" charset="0"/>
              <a:ea typeface="+mn-ea"/>
              <a:cs typeface="+mn-cs"/>
            </a:endParaRPr>
          </a:p>
          <a:p>
            <a:pPr fontAlgn="base"/>
            <a:r>
              <a:rPr lang="zh-CN" altLang="en-US" sz="1200" b="0" i="0" kern="1200" dirty="0">
                <a:solidFill>
                  <a:schemeClr val="tx1"/>
                </a:solidFill>
                <a:effectLst/>
                <a:latin typeface="Arial" panose="020B0604020202020204" pitchFamily="34" charset="0"/>
                <a:ea typeface="+mn-ea"/>
                <a:cs typeface="+mn-cs"/>
              </a:rPr>
              <a:t>**设置像素：**使用 </a:t>
            </a:r>
            <a:r>
              <a:rPr lang="en-US" altLang="zh-CN" sz="1200" b="0" i="0" kern="1200" dirty="0" err="1">
                <a:solidFill>
                  <a:schemeClr val="tx1"/>
                </a:solidFill>
                <a:effectLst/>
                <a:latin typeface="Arial" panose="020B0604020202020204" pitchFamily="34" charset="0"/>
                <a:ea typeface="+mn-ea"/>
                <a:cs typeface="+mn-cs"/>
              </a:rPr>
              <a:t>SetPixel</a:t>
            </a:r>
            <a:r>
              <a:rPr lang="en-US" altLang="zh-CN" sz="1200" b="0" i="0" kern="1200" dirty="0">
                <a:solidFill>
                  <a:schemeClr val="tx1"/>
                </a:solidFill>
                <a:effectLst/>
                <a:latin typeface="Arial" panose="020B0604020202020204" pitchFamily="34" charset="0"/>
                <a:ea typeface="+mn-ea"/>
                <a:cs typeface="+mn-cs"/>
              </a:rPr>
              <a:t> </a:t>
            </a:r>
            <a:r>
              <a:rPr lang="zh-CN" altLang="en-US" sz="1200" b="0" i="0" kern="1200" dirty="0">
                <a:solidFill>
                  <a:schemeClr val="tx1"/>
                </a:solidFill>
                <a:effectLst/>
                <a:latin typeface="Arial" panose="020B0604020202020204" pitchFamily="34" charset="0"/>
                <a:ea typeface="+mn-ea"/>
                <a:cs typeface="+mn-cs"/>
              </a:rPr>
              <a:t>函数在坐标 </a:t>
            </a:r>
            <a:r>
              <a:rPr lang="en-US" altLang="zh-CN" sz="1200" b="0" i="0" kern="1200" dirty="0">
                <a:solidFill>
                  <a:schemeClr val="tx1"/>
                </a:solidFill>
                <a:effectLst/>
                <a:latin typeface="Arial" panose="020B0604020202020204" pitchFamily="34" charset="0"/>
                <a:ea typeface="+mn-ea"/>
                <a:cs typeface="+mn-cs"/>
              </a:rPr>
              <a:t>(90, 45) </a:t>
            </a:r>
            <a:r>
              <a:rPr lang="zh-CN" altLang="en-US" sz="1200" b="0" i="0" kern="1200" dirty="0">
                <a:solidFill>
                  <a:schemeClr val="tx1"/>
                </a:solidFill>
                <a:effectLst/>
                <a:latin typeface="Arial" panose="020B0604020202020204" pitchFamily="34" charset="0"/>
                <a:ea typeface="+mn-ea"/>
                <a:cs typeface="+mn-cs"/>
              </a:rPr>
              <a:t>设置一个黑色像素。</a:t>
            </a:r>
            <a:endParaRPr lang="zh-CN" altLang="en-US" sz="1200" b="0" i="0" kern="1200" dirty="0">
              <a:solidFill>
                <a:schemeClr val="tx1"/>
              </a:solidFill>
              <a:effectLst/>
              <a:latin typeface="Arial" panose="020B0604020202020204" pitchFamily="34" charset="0"/>
              <a:ea typeface="+mn-ea"/>
              <a:cs typeface="+mn-cs"/>
            </a:endParaRPr>
          </a:p>
          <a:p>
            <a:pPr fontAlgn="base"/>
            <a:r>
              <a:rPr lang="zh-CN" altLang="en-US" sz="1200" b="0" i="0" kern="1200" dirty="0">
                <a:solidFill>
                  <a:schemeClr val="tx1"/>
                </a:solidFill>
                <a:effectLst/>
                <a:latin typeface="Arial" panose="020B0604020202020204" pitchFamily="34" charset="0"/>
                <a:ea typeface="+mn-ea"/>
                <a:cs typeface="+mn-cs"/>
              </a:rPr>
              <a:t>**绘制垂直线：**使用 </a:t>
            </a:r>
            <a:r>
              <a:rPr lang="en-US" altLang="zh-CN" sz="1200" b="0" i="0" kern="1200" dirty="0" err="1">
                <a:solidFill>
                  <a:schemeClr val="tx1"/>
                </a:solidFill>
                <a:effectLst/>
                <a:latin typeface="Arial" panose="020B0604020202020204" pitchFamily="34" charset="0"/>
                <a:ea typeface="+mn-ea"/>
                <a:cs typeface="+mn-cs"/>
              </a:rPr>
              <a:t>MoveToEx</a:t>
            </a:r>
            <a:r>
              <a:rPr lang="en-US" altLang="zh-CN" sz="1200" b="0" i="0" kern="1200" dirty="0">
                <a:solidFill>
                  <a:schemeClr val="tx1"/>
                </a:solidFill>
                <a:effectLst/>
                <a:latin typeface="Arial" panose="020B0604020202020204" pitchFamily="34" charset="0"/>
                <a:ea typeface="+mn-ea"/>
                <a:cs typeface="+mn-cs"/>
              </a:rPr>
              <a:t> </a:t>
            </a:r>
            <a:r>
              <a:rPr lang="zh-CN" altLang="en-US" sz="1200" b="0" i="0" kern="1200" dirty="0">
                <a:solidFill>
                  <a:schemeClr val="tx1"/>
                </a:solidFill>
                <a:effectLst/>
                <a:latin typeface="Arial" panose="020B0604020202020204" pitchFamily="34" charset="0"/>
                <a:ea typeface="+mn-ea"/>
                <a:cs typeface="+mn-cs"/>
              </a:rPr>
              <a:t>和 </a:t>
            </a:r>
            <a:r>
              <a:rPr lang="en-US" altLang="zh-CN" sz="1200" b="0" i="0" kern="1200" dirty="0" err="1">
                <a:solidFill>
                  <a:schemeClr val="tx1"/>
                </a:solidFill>
                <a:effectLst/>
                <a:latin typeface="Arial" panose="020B0604020202020204" pitchFamily="34" charset="0"/>
                <a:ea typeface="+mn-ea"/>
                <a:cs typeface="+mn-cs"/>
              </a:rPr>
              <a:t>LineTo</a:t>
            </a:r>
            <a:r>
              <a:rPr lang="en-US" altLang="zh-CN" sz="1200" b="0" i="0" kern="1200" dirty="0">
                <a:solidFill>
                  <a:schemeClr val="tx1"/>
                </a:solidFill>
                <a:effectLst/>
                <a:latin typeface="Arial" panose="020B0604020202020204" pitchFamily="34" charset="0"/>
                <a:ea typeface="+mn-ea"/>
                <a:cs typeface="+mn-cs"/>
              </a:rPr>
              <a:t> </a:t>
            </a:r>
            <a:r>
              <a:rPr lang="zh-CN" altLang="en-US" sz="1200" b="0" i="0" kern="1200" dirty="0">
                <a:solidFill>
                  <a:schemeClr val="tx1"/>
                </a:solidFill>
                <a:effectLst/>
                <a:latin typeface="Arial" panose="020B0604020202020204" pitchFamily="34" charset="0"/>
                <a:ea typeface="+mn-ea"/>
                <a:cs typeface="+mn-cs"/>
              </a:rPr>
              <a:t>函数绘制垂直线。代码在窗口客户区域内循环绘制每隔 </a:t>
            </a:r>
            <a:r>
              <a:rPr lang="en-US" altLang="zh-CN" sz="1200" b="0" i="0" kern="1200" dirty="0">
                <a:solidFill>
                  <a:schemeClr val="tx1"/>
                </a:solidFill>
                <a:effectLst/>
                <a:latin typeface="Arial" panose="020B0604020202020204" pitchFamily="34" charset="0"/>
                <a:ea typeface="+mn-ea"/>
                <a:cs typeface="+mn-cs"/>
              </a:rPr>
              <a:t>100 </a:t>
            </a:r>
            <a:r>
              <a:rPr lang="zh-CN" altLang="en-US" sz="1200" b="0" i="0" kern="1200" dirty="0">
                <a:solidFill>
                  <a:schemeClr val="tx1"/>
                </a:solidFill>
                <a:effectLst/>
                <a:latin typeface="Arial" panose="020B0604020202020204" pitchFamily="34" charset="0"/>
                <a:ea typeface="+mn-ea"/>
                <a:cs typeface="+mn-cs"/>
              </a:rPr>
              <a:t>像素的垂直线，从 </a:t>
            </a:r>
            <a:r>
              <a:rPr lang="en-US" altLang="zh-CN" sz="1200" b="0" i="0" kern="1200" dirty="0">
                <a:solidFill>
                  <a:schemeClr val="tx1"/>
                </a:solidFill>
                <a:effectLst/>
                <a:latin typeface="Arial" panose="020B0604020202020204" pitchFamily="34" charset="0"/>
                <a:ea typeface="+mn-ea"/>
                <a:cs typeface="+mn-cs"/>
              </a:rPr>
              <a:t>x </a:t>
            </a:r>
            <a:r>
              <a:rPr lang="zh-CN" altLang="en-US" sz="1200" b="0" i="0" kern="1200" dirty="0">
                <a:solidFill>
                  <a:schemeClr val="tx1"/>
                </a:solidFill>
                <a:effectLst/>
                <a:latin typeface="Arial" panose="020B0604020202020204" pitchFamily="34" charset="0"/>
                <a:ea typeface="+mn-ea"/>
                <a:cs typeface="+mn-cs"/>
              </a:rPr>
              <a:t>坐标为 </a:t>
            </a:r>
            <a:r>
              <a:rPr lang="en-US" altLang="zh-CN" sz="1200" b="0" i="0" kern="1200" dirty="0">
                <a:solidFill>
                  <a:schemeClr val="tx1"/>
                </a:solidFill>
                <a:effectLst/>
                <a:latin typeface="Arial" panose="020B0604020202020204" pitchFamily="34" charset="0"/>
                <a:ea typeface="+mn-ea"/>
                <a:cs typeface="+mn-cs"/>
              </a:rPr>
              <a:t>0 </a:t>
            </a:r>
            <a:r>
              <a:rPr lang="zh-CN" altLang="en-US" sz="1200" b="0" i="0" kern="1200" dirty="0">
                <a:solidFill>
                  <a:schemeClr val="tx1"/>
                </a:solidFill>
                <a:effectLst/>
                <a:latin typeface="Arial" panose="020B0604020202020204" pitchFamily="34" charset="0"/>
                <a:ea typeface="+mn-ea"/>
                <a:cs typeface="+mn-cs"/>
              </a:rPr>
              <a:t>开始，一直到客户区域的右侧边界 </a:t>
            </a:r>
            <a:r>
              <a:rPr lang="en-US" altLang="zh-CN" sz="1200" b="0" i="0" kern="1200" dirty="0">
                <a:solidFill>
                  <a:schemeClr val="tx1"/>
                </a:solidFill>
                <a:effectLst/>
                <a:latin typeface="Arial" panose="020B0604020202020204" pitchFamily="34" charset="0"/>
                <a:ea typeface="+mn-ea"/>
                <a:cs typeface="+mn-cs"/>
              </a:rPr>
              <a:t>(</a:t>
            </a:r>
            <a:r>
              <a:rPr lang="en-US" altLang="zh-CN" sz="1200" b="0" i="0" kern="1200" dirty="0" err="1">
                <a:solidFill>
                  <a:schemeClr val="tx1"/>
                </a:solidFill>
                <a:effectLst/>
                <a:latin typeface="Arial" panose="020B0604020202020204" pitchFamily="34" charset="0"/>
                <a:ea typeface="+mn-ea"/>
                <a:cs typeface="+mn-cs"/>
              </a:rPr>
              <a:t>rc.right</a:t>
            </a:r>
            <a:r>
              <a:rPr lang="en-US" altLang="zh-CN" sz="1200" b="0" i="0" kern="1200" dirty="0">
                <a:solidFill>
                  <a:schemeClr val="tx1"/>
                </a:solidFill>
                <a:effectLst/>
                <a:latin typeface="Arial" panose="020B0604020202020204" pitchFamily="34" charset="0"/>
                <a:ea typeface="+mn-ea"/>
                <a:cs typeface="+mn-cs"/>
              </a:rPr>
              <a:t>)</a:t>
            </a:r>
            <a:r>
              <a:rPr lang="zh-CN" altLang="en-US" sz="1200" b="0" i="0" kern="1200" dirty="0">
                <a:solidFill>
                  <a:schemeClr val="tx1"/>
                </a:solidFill>
                <a:effectLst/>
                <a:latin typeface="Arial" panose="020B0604020202020204" pitchFamily="34" charset="0"/>
                <a:ea typeface="+mn-ea"/>
                <a:cs typeface="+mn-cs"/>
              </a:rPr>
              <a:t>。</a:t>
            </a:r>
            <a:endParaRPr lang="zh-CN" altLang="en-US" sz="1200" b="0" i="0" kern="1200" dirty="0">
              <a:solidFill>
                <a:schemeClr val="tx1"/>
              </a:solidFill>
              <a:effectLst/>
              <a:latin typeface="Arial" panose="020B0604020202020204" pitchFamily="34" charset="0"/>
              <a:ea typeface="+mn-ea"/>
              <a:cs typeface="+mn-cs"/>
            </a:endParaRPr>
          </a:p>
          <a:p>
            <a:pPr fontAlgn="base"/>
            <a:r>
              <a:rPr lang="zh-CN" altLang="en-US" sz="1200" b="0" i="0" kern="1200" dirty="0">
                <a:solidFill>
                  <a:schemeClr val="tx1"/>
                </a:solidFill>
                <a:effectLst/>
                <a:latin typeface="Arial" panose="020B0604020202020204" pitchFamily="34" charset="0"/>
                <a:ea typeface="+mn-ea"/>
                <a:cs typeface="+mn-cs"/>
              </a:rPr>
              <a:t>**完成绘制：**使用 </a:t>
            </a:r>
            <a:r>
              <a:rPr lang="en-US" altLang="zh-CN" sz="1200" b="0" i="0" kern="1200" dirty="0" err="1">
                <a:solidFill>
                  <a:schemeClr val="tx1"/>
                </a:solidFill>
                <a:effectLst/>
                <a:latin typeface="Arial" panose="020B0604020202020204" pitchFamily="34" charset="0"/>
                <a:ea typeface="+mn-ea"/>
                <a:cs typeface="+mn-cs"/>
              </a:rPr>
              <a:t>EndPaint</a:t>
            </a:r>
            <a:r>
              <a:rPr lang="en-US" altLang="zh-CN" sz="1200" b="0" i="0" kern="1200" dirty="0">
                <a:solidFill>
                  <a:schemeClr val="tx1"/>
                </a:solidFill>
                <a:effectLst/>
                <a:latin typeface="Arial" panose="020B0604020202020204" pitchFamily="34" charset="0"/>
                <a:ea typeface="+mn-ea"/>
                <a:cs typeface="+mn-cs"/>
              </a:rPr>
              <a:t> </a:t>
            </a:r>
            <a:r>
              <a:rPr lang="zh-CN" altLang="en-US" sz="1200" b="0" i="0" kern="1200" dirty="0">
                <a:solidFill>
                  <a:schemeClr val="tx1"/>
                </a:solidFill>
                <a:effectLst/>
                <a:latin typeface="Arial" panose="020B0604020202020204" pitchFamily="34" charset="0"/>
                <a:ea typeface="+mn-ea"/>
                <a:cs typeface="+mn-cs"/>
              </a:rPr>
              <a:t>函数完成绘制过程并释放绘图资源。</a:t>
            </a:r>
            <a:endParaRPr lang="zh-CN" altLang="en-US" sz="1200" b="0" i="0" kern="1200" dirty="0">
              <a:solidFill>
                <a:schemeClr val="tx1"/>
              </a:solidFill>
              <a:effectLst/>
              <a:latin typeface="Arial" panose="020B0604020202020204" pitchFamily="34" charset="0"/>
              <a:ea typeface="+mn-ea"/>
              <a:cs typeface="+mn-cs"/>
            </a:endParaRPr>
          </a:p>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ChangeArrowheads="1" noTextEdit="1"/>
          </p:cNvSpPr>
          <p:nvPr>
            <p:ph type="sldImg"/>
          </p:nvPr>
        </p:nvSpPr>
        <p:spPr/>
      </p:sp>
      <p:sp>
        <p:nvSpPr>
          <p:cNvPr id="419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1200" b="0" i="0" kern="1200" dirty="0">
                <a:solidFill>
                  <a:schemeClr val="tx1"/>
                </a:solidFill>
                <a:effectLst/>
                <a:latin typeface="Arial" panose="020B0604020202020204" pitchFamily="34" charset="0"/>
                <a:ea typeface="+mn-ea"/>
                <a:cs typeface="+mn-cs"/>
              </a:rPr>
              <a:t>Microsoft Foundation Classes (MFC) </a:t>
            </a:r>
            <a:r>
              <a:rPr lang="zh-CN" altLang="en-US" sz="1200" b="0" i="0" kern="1200" dirty="0">
                <a:solidFill>
                  <a:schemeClr val="tx1"/>
                </a:solidFill>
                <a:effectLst/>
                <a:latin typeface="Arial" panose="020B0604020202020204" pitchFamily="34" charset="0"/>
                <a:ea typeface="+mn-ea"/>
                <a:cs typeface="+mn-cs"/>
              </a:rPr>
              <a:t>构建在 </a:t>
            </a:r>
            <a:r>
              <a:rPr lang="en-US" altLang="zh-CN" sz="1200" b="0" i="0" kern="1200" dirty="0">
                <a:solidFill>
                  <a:schemeClr val="tx1"/>
                </a:solidFill>
                <a:effectLst/>
                <a:latin typeface="Arial" panose="020B0604020202020204" pitchFamily="34" charset="0"/>
                <a:ea typeface="+mn-ea"/>
                <a:cs typeface="+mn-cs"/>
              </a:rPr>
              <a:t>GDI </a:t>
            </a:r>
            <a:r>
              <a:rPr lang="zh-CN" altLang="en-US" sz="1200" b="0" i="0" kern="1200" dirty="0">
                <a:solidFill>
                  <a:schemeClr val="tx1"/>
                </a:solidFill>
                <a:effectLst/>
                <a:latin typeface="Arial" panose="020B0604020202020204" pitchFamily="34" charset="0"/>
                <a:ea typeface="+mn-ea"/>
                <a:cs typeface="+mn-cs"/>
              </a:rPr>
              <a:t>之上。它提供了一个更高层次的抽象</a:t>
            </a:r>
            <a:endParaRPr lang="en-US" altLang="zh-CN" sz="1200" b="0" i="0" kern="1200" dirty="0">
              <a:solidFill>
                <a:schemeClr val="tx1"/>
              </a:solidFill>
              <a:effectLst/>
              <a:latin typeface="Arial" panose="020B0604020202020204" pitchFamily="34" charset="0"/>
              <a:ea typeface="+mn-ea"/>
              <a:cs typeface="+mn-cs"/>
            </a:endParaRPr>
          </a:p>
          <a:p>
            <a:pPr fontAlgn="base"/>
            <a:r>
              <a:rPr lang="zh-CN" altLang="en-US" sz="1200" b="0" i="0" kern="1200" dirty="0">
                <a:solidFill>
                  <a:schemeClr val="tx1"/>
                </a:solidFill>
                <a:effectLst/>
                <a:latin typeface="Arial" panose="020B0604020202020204" pitchFamily="34" charset="0"/>
                <a:ea typeface="+mn-ea"/>
                <a:cs typeface="+mn-cs"/>
              </a:rPr>
              <a:t>这段代码是 </a:t>
            </a:r>
            <a:r>
              <a:rPr lang="en-US" altLang="zh-CN" sz="1200" b="0" i="0" kern="1200" dirty="0">
                <a:solidFill>
                  <a:schemeClr val="tx1"/>
                </a:solidFill>
                <a:effectLst/>
                <a:latin typeface="Arial" panose="020B0604020202020204" pitchFamily="34" charset="0"/>
                <a:ea typeface="+mn-ea"/>
                <a:cs typeface="+mn-cs"/>
              </a:rPr>
              <a:t>Microsoft Foundation Classes (MFC) </a:t>
            </a:r>
            <a:r>
              <a:rPr lang="zh-CN" altLang="en-US" sz="1200" b="0" i="0" kern="1200" dirty="0">
                <a:solidFill>
                  <a:schemeClr val="tx1"/>
                </a:solidFill>
                <a:effectLst/>
                <a:latin typeface="Arial" panose="020B0604020202020204" pitchFamily="34" charset="0"/>
                <a:ea typeface="+mn-ea"/>
                <a:cs typeface="+mn-cs"/>
              </a:rPr>
              <a:t>中的一个成员函数，用于响应 </a:t>
            </a:r>
            <a:r>
              <a:rPr lang="en-US" altLang="zh-CN" sz="1200" b="0" i="0" kern="1200" dirty="0">
                <a:solidFill>
                  <a:schemeClr val="tx1"/>
                </a:solidFill>
                <a:effectLst/>
                <a:latin typeface="Arial" panose="020B0604020202020204" pitchFamily="34" charset="0"/>
                <a:ea typeface="+mn-ea"/>
                <a:cs typeface="+mn-cs"/>
              </a:rPr>
              <a:t>Windows </a:t>
            </a:r>
            <a:r>
              <a:rPr lang="zh-CN" altLang="en-US" sz="1200" b="0" i="0" kern="1200" dirty="0">
                <a:solidFill>
                  <a:schemeClr val="tx1"/>
                </a:solidFill>
                <a:effectLst/>
                <a:latin typeface="Arial" panose="020B0604020202020204" pitchFamily="34" charset="0"/>
                <a:ea typeface="+mn-ea"/>
                <a:cs typeface="+mn-cs"/>
              </a:rPr>
              <a:t>消息 </a:t>
            </a:r>
            <a:r>
              <a:rPr lang="en-US" altLang="zh-CN" sz="1200" b="0" i="0" kern="1200" dirty="0">
                <a:solidFill>
                  <a:schemeClr val="tx1"/>
                </a:solidFill>
                <a:effectLst/>
                <a:latin typeface="Arial" panose="020B0604020202020204" pitchFamily="34" charset="0"/>
                <a:ea typeface="+mn-ea"/>
                <a:cs typeface="+mn-cs"/>
              </a:rPr>
              <a:t>WM_DRAW</a:t>
            </a:r>
            <a:r>
              <a:rPr lang="zh-CN" altLang="en-US" sz="1200" b="0" i="0" kern="1200" dirty="0">
                <a:solidFill>
                  <a:schemeClr val="tx1"/>
                </a:solidFill>
                <a:effectLst/>
                <a:latin typeface="Arial" panose="020B0604020202020204" pitchFamily="34" charset="0"/>
                <a:ea typeface="+mn-ea"/>
                <a:cs typeface="+mn-cs"/>
              </a:rPr>
              <a:t>，该消息在窗口需要绘制时发送。以下是此代码的功能：</a:t>
            </a:r>
            <a:endParaRPr lang="zh-CN" altLang="en-US" sz="1200" b="0" i="0" kern="1200" dirty="0">
              <a:solidFill>
                <a:schemeClr val="tx1"/>
              </a:solidFill>
              <a:effectLst/>
              <a:latin typeface="Arial" panose="020B0604020202020204" pitchFamily="34" charset="0"/>
              <a:ea typeface="+mn-ea"/>
              <a:cs typeface="+mn-cs"/>
            </a:endParaRPr>
          </a:p>
          <a:p>
            <a:pPr fontAlgn="base"/>
            <a:r>
              <a:rPr lang="zh-CN" altLang="en-US" sz="1200" b="0" i="0" kern="1200" dirty="0">
                <a:solidFill>
                  <a:schemeClr val="tx1"/>
                </a:solidFill>
                <a:effectLst/>
                <a:latin typeface="Arial" panose="020B0604020202020204" pitchFamily="34" charset="0"/>
                <a:ea typeface="+mn-ea"/>
                <a:cs typeface="+mn-cs"/>
              </a:rPr>
              <a:t>**获取窗口客户区域：**使用 </a:t>
            </a:r>
            <a:r>
              <a:rPr lang="en-US" altLang="zh-CN" sz="1200" b="0" i="0" kern="1200" dirty="0" err="1">
                <a:solidFill>
                  <a:schemeClr val="tx1"/>
                </a:solidFill>
                <a:effectLst/>
                <a:latin typeface="Arial" panose="020B0604020202020204" pitchFamily="34" charset="0"/>
                <a:ea typeface="+mn-ea"/>
                <a:cs typeface="+mn-cs"/>
              </a:rPr>
              <a:t>GetClientRect</a:t>
            </a:r>
            <a:r>
              <a:rPr lang="en-US" altLang="zh-CN" sz="1200" b="0" i="0" kern="1200" dirty="0">
                <a:solidFill>
                  <a:schemeClr val="tx1"/>
                </a:solidFill>
                <a:effectLst/>
                <a:latin typeface="Arial" panose="020B0604020202020204" pitchFamily="34" charset="0"/>
                <a:ea typeface="+mn-ea"/>
                <a:cs typeface="+mn-cs"/>
              </a:rPr>
              <a:t> </a:t>
            </a:r>
            <a:r>
              <a:rPr lang="zh-CN" altLang="en-US" sz="1200" b="0" i="0" kern="1200" dirty="0">
                <a:solidFill>
                  <a:schemeClr val="tx1"/>
                </a:solidFill>
                <a:effectLst/>
                <a:latin typeface="Arial" panose="020B0604020202020204" pitchFamily="34" charset="0"/>
                <a:ea typeface="+mn-ea"/>
                <a:cs typeface="+mn-cs"/>
              </a:rPr>
              <a:t>函数获取窗口的客户区域（内部区域），并将其存储在 </a:t>
            </a:r>
            <a:r>
              <a:rPr lang="en-US" altLang="zh-CN" sz="1200" b="0" i="0" kern="1200" dirty="0" err="1">
                <a:solidFill>
                  <a:schemeClr val="tx1"/>
                </a:solidFill>
                <a:effectLst/>
                <a:latin typeface="Arial" panose="020B0604020202020204" pitchFamily="34" charset="0"/>
                <a:ea typeface="+mn-ea"/>
                <a:cs typeface="+mn-cs"/>
              </a:rPr>
              <a:t>rect</a:t>
            </a:r>
            <a:r>
              <a:rPr lang="en-US" altLang="zh-CN" sz="1200" b="0" i="0" kern="1200" dirty="0">
                <a:solidFill>
                  <a:schemeClr val="tx1"/>
                </a:solidFill>
                <a:effectLst/>
                <a:latin typeface="Arial" panose="020B0604020202020204" pitchFamily="34" charset="0"/>
                <a:ea typeface="+mn-ea"/>
                <a:cs typeface="+mn-cs"/>
              </a:rPr>
              <a:t> </a:t>
            </a:r>
            <a:r>
              <a:rPr lang="zh-CN" altLang="en-US" sz="1200" b="0" i="0" kern="1200" dirty="0">
                <a:solidFill>
                  <a:schemeClr val="tx1"/>
                </a:solidFill>
                <a:effectLst/>
                <a:latin typeface="Arial" panose="020B0604020202020204" pitchFamily="34" charset="0"/>
                <a:ea typeface="+mn-ea"/>
                <a:cs typeface="+mn-cs"/>
              </a:rPr>
              <a:t>变量中。</a:t>
            </a:r>
            <a:endParaRPr lang="zh-CN" altLang="en-US" sz="1200" b="0" i="0" kern="1200" dirty="0">
              <a:solidFill>
                <a:schemeClr val="tx1"/>
              </a:solidFill>
              <a:effectLst/>
              <a:latin typeface="Arial" panose="020B0604020202020204" pitchFamily="34" charset="0"/>
              <a:ea typeface="+mn-ea"/>
              <a:cs typeface="+mn-cs"/>
            </a:endParaRPr>
          </a:p>
          <a:p>
            <a:pPr fontAlgn="base"/>
            <a:r>
              <a:rPr lang="zh-CN" altLang="en-US" sz="1200" b="0" i="0" kern="1200" dirty="0">
                <a:solidFill>
                  <a:schemeClr val="tx1"/>
                </a:solidFill>
                <a:effectLst/>
                <a:latin typeface="Arial" panose="020B0604020202020204" pitchFamily="34" charset="0"/>
                <a:ea typeface="+mn-ea"/>
                <a:cs typeface="+mn-cs"/>
              </a:rPr>
              <a:t>**设置像素：**使用 </a:t>
            </a:r>
            <a:r>
              <a:rPr lang="en-US" altLang="zh-CN" sz="1200" b="0" i="0" kern="1200" dirty="0" err="1">
                <a:solidFill>
                  <a:schemeClr val="tx1"/>
                </a:solidFill>
                <a:effectLst/>
                <a:latin typeface="Arial" panose="020B0604020202020204" pitchFamily="34" charset="0"/>
                <a:ea typeface="+mn-ea"/>
                <a:cs typeface="+mn-cs"/>
              </a:rPr>
              <a:t>SetPixel</a:t>
            </a:r>
            <a:r>
              <a:rPr lang="en-US" altLang="zh-CN" sz="1200" b="0" i="0" kern="1200" dirty="0">
                <a:solidFill>
                  <a:schemeClr val="tx1"/>
                </a:solidFill>
                <a:effectLst/>
                <a:latin typeface="Arial" panose="020B0604020202020204" pitchFamily="34" charset="0"/>
                <a:ea typeface="+mn-ea"/>
                <a:cs typeface="+mn-cs"/>
              </a:rPr>
              <a:t> </a:t>
            </a:r>
            <a:r>
              <a:rPr lang="zh-CN" altLang="en-US" sz="1200" b="0" i="0" kern="1200" dirty="0">
                <a:solidFill>
                  <a:schemeClr val="tx1"/>
                </a:solidFill>
                <a:effectLst/>
                <a:latin typeface="Arial" panose="020B0604020202020204" pitchFamily="34" charset="0"/>
                <a:ea typeface="+mn-ea"/>
                <a:cs typeface="+mn-cs"/>
              </a:rPr>
              <a:t>函数在坐标 </a:t>
            </a:r>
            <a:r>
              <a:rPr lang="en-US" altLang="zh-CN" sz="1200" b="0" i="0" kern="1200" dirty="0">
                <a:solidFill>
                  <a:schemeClr val="tx1"/>
                </a:solidFill>
                <a:effectLst/>
                <a:latin typeface="Arial" panose="020B0604020202020204" pitchFamily="34" charset="0"/>
                <a:ea typeface="+mn-ea"/>
                <a:cs typeface="+mn-cs"/>
              </a:rPr>
              <a:t>(90, 45) </a:t>
            </a:r>
            <a:r>
              <a:rPr lang="zh-CN" altLang="en-US" sz="1200" b="0" i="0" kern="1200" dirty="0">
                <a:solidFill>
                  <a:schemeClr val="tx1"/>
                </a:solidFill>
                <a:effectLst/>
                <a:latin typeface="Arial" panose="020B0604020202020204" pitchFamily="34" charset="0"/>
                <a:ea typeface="+mn-ea"/>
                <a:cs typeface="+mn-cs"/>
              </a:rPr>
              <a:t>设置一个黑色像素。</a:t>
            </a:r>
            <a:endParaRPr lang="zh-CN" altLang="en-US" sz="1200" b="0" i="0" kern="1200" dirty="0">
              <a:solidFill>
                <a:schemeClr val="tx1"/>
              </a:solidFill>
              <a:effectLst/>
              <a:latin typeface="Arial" panose="020B0604020202020204" pitchFamily="34" charset="0"/>
              <a:ea typeface="+mn-ea"/>
              <a:cs typeface="+mn-cs"/>
            </a:endParaRPr>
          </a:p>
          <a:p>
            <a:pPr fontAlgn="base"/>
            <a:r>
              <a:rPr lang="zh-CN" altLang="en-US" sz="1200" b="0" i="0" kern="1200" dirty="0">
                <a:solidFill>
                  <a:schemeClr val="tx1"/>
                </a:solidFill>
                <a:effectLst/>
                <a:latin typeface="Arial" panose="020B0604020202020204" pitchFamily="34" charset="0"/>
                <a:ea typeface="+mn-ea"/>
                <a:cs typeface="+mn-cs"/>
              </a:rPr>
              <a:t>**绘制垂直线：**使用 </a:t>
            </a:r>
            <a:r>
              <a:rPr lang="en-US" altLang="zh-CN" sz="1200" b="0" i="0" kern="1200" dirty="0" err="1">
                <a:solidFill>
                  <a:schemeClr val="tx1"/>
                </a:solidFill>
                <a:effectLst/>
                <a:latin typeface="Arial" panose="020B0604020202020204" pitchFamily="34" charset="0"/>
                <a:ea typeface="+mn-ea"/>
                <a:cs typeface="+mn-cs"/>
              </a:rPr>
              <a:t>MoveTo</a:t>
            </a:r>
            <a:r>
              <a:rPr lang="en-US" altLang="zh-CN" sz="1200" b="0" i="0" kern="1200" dirty="0">
                <a:solidFill>
                  <a:schemeClr val="tx1"/>
                </a:solidFill>
                <a:effectLst/>
                <a:latin typeface="Arial" panose="020B0604020202020204" pitchFamily="34" charset="0"/>
                <a:ea typeface="+mn-ea"/>
                <a:cs typeface="+mn-cs"/>
              </a:rPr>
              <a:t> </a:t>
            </a:r>
            <a:r>
              <a:rPr lang="zh-CN" altLang="en-US" sz="1200" b="0" i="0" kern="1200" dirty="0">
                <a:solidFill>
                  <a:schemeClr val="tx1"/>
                </a:solidFill>
                <a:effectLst/>
                <a:latin typeface="Arial" panose="020B0604020202020204" pitchFamily="34" charset="0"/>
                <a:ea typeface="+mn-ea"/>
                <a:cs typeface="+mn-cs"/>
              </a:rPr>
              <a:t>和 </a:t>
            </a:r>
            <a:r>
              <a:rPr lang="en-US" altLang="zh-CN" sz="1200" b="0" i="0" kern="1200" dirty="0" err="1">
                <a:solidFill>
                  <a:schemeClr val="tx1"/>
                </a:solidFill>
                <a:effectLst/>
                <a:latin typeface="Arial" panose="020B0604020202020204" pitchFamily="34" charset="0"/>
                <a:ea typeface="+mn-ea"/>
                <a:cs typeface="+mn-cs"/>
              </a:rPr>
              <a:t>LineTo</a:t>
            </a:r>
            <a:r>
              <a:rPr lang="en-US" altLang="zh-CN" sz="1200" b="0" i="0" kern="1200" dirty="0">
                <a:solidFill>
                  <a:schemeClr val="tx1"/>
                </a:solidFill>
                <a:effectLst/>
                <a:latin typeface="Arial" panose="020B0604020202020204" pitchFamily="34" charset="0"/>
                <a:ea typeface="+mn-ea"/>
                <a:cs typeface="+mn-cs"/>
              </a:rPr>
              <a:t> </a:t>
            </a:r>
            <a:r>
              <a:rPr lang="zh-CN" altLang="en-US" sz="1200" b="0" i="0" kern="1200" dirty="0">
                <a:solidFill>
                  <a:schemeClr val="tx1"/>
                </a:solidFill>
                <a:effectLst/>
                <a:latin typeface="Arial" panose="020B0604020202020204" pitchFamily="34" charset="0"/>
                <a:ea typeface="+mn-ea"/>
                <a:cs typeface="+mn-cs"/>
              </a:rPr>
              <a:t>函数绘制垂直线。代码在窗口客户区域内循环绘制每隔 </a:t>
            </a:r>
            <a:r>
              <a:rPr lang="en-US" altLang="zh-CN" sz="1200" b="0" i="0" kern="1200" dirty="0">
                <a:solidFill>
                  <a:schemeClr val="tx1"/>
                </a:solidFill>
                <a:effectLst/>
                <a:latin typeface="Arial" panose="020B0604020202020204" pitchFamily="34" charset="0"/>
                <a:ea typeface="+mn-ea"/>
                <a:cs typeface="+mn-cs"/>
              </a:rPr>
              <a:t>100 </a:t>
            </a:r>
            <a:r>
              <a:rPr lang="zh-CN" altLang="en-US" sz="1200" b="0" i="0" kern="1200" dirty="0">
                <a:solidFill>
                  <a:schemeClr val="tx1"/>
                </a:solidFill>
                <a:effectLst/>
                <a:latin typeface="Arial" panose="020B0604020202020204" pitchFamily="34" charset="0"/>
                <a:ea typeface="+mn-ea"/>
                <a:cs typeface="+mn-cs"/>
              </a:rPr>
              <a:t>像素的垂直线，从 </a:t>
            </a:r>
            <a:r>
              <a:rPr lang="en-US" altLang="zh-CN" sz="1200" b="0" i="0" kern="1200" dirty="0">
                <a:solidFill>
                  <a:schemeClr val="tx1"/>
                </a:solidFill>
                <a:effectLst/>
                <a:latin typeface="Arial" panose="020B0604020202020204" pitchFamily="34" charset="0"/>
                <a:ea typeface="+mn-ea"/>
                <a:cs typeface="+mn-cs"/>
              </a:rPr>
              <a:t>x </a:t>
            </a:r>
            <a:r>
              <a:rPr lang="zh-CN" altLang="en-US" sz="1200" b="0" i="0" kern="1200" dirty="0">
                <a:solidFill>
                  <a:schemeClr val="tx1"/>
                </a:solidFill>
                <a:effectLst/>
                <a:latin typeface="Arial" panose="020B0604020202020204" pitchFamily="34" charset="0"/>
                <a:ea typeface="+mn-ea"/>
                <a:cs typeface="+mn-cs"/>
              </a:rPr>
              <a:t>坐标为 </a:t>
            </a:r>
            <a:r>
              <a:rPr lang="en-US" altLang="zh-CN" sz="1200" b="0" i="0" kern="1200" dirty="0">
                <a:solidFill>
                  <a:schemeClr val="tx1"/>
                </a:solidFill>
                <a:effectLst/>
                <a:latin typeface="Arial" panose="020B0604020202020204" pitchFamily="34" charset="0"/>
                <a:ea typeface="+mn-ea"/>
                <a:cs typeface="+mn-cs"/>
              </a:rPr>
              <a:t>0 </a:t>
            </a:r>
            <a:r>
              <a:rPr lang="zh-CN" altLang="en-US" sz="1200" b="0" i="0" kern="1200" dirty="0">
                <a:solidFill>
                  <a:schemeClr val="tx1"/>
                </a:solidFill>
                <a:effectLst/>
                <a:latin typeface="Arial" panose="020B0604020202020204" pitchFamily="34" charset="0"/>
                <a:ea typeface="+mn-ea"/>
                <a:cs typeface="+mn-cs"/>
              </a:rPr>
              <a:t>开始，一直到客户区域的右侧边界 </a:t>
            </a:r>
            <a:r>
              <a:rPr lang="en-US" altLang="zh-CN" sz="1200" b="0" i="0" kern="1200" dirty="0">
                <a:solidFill>
                  <a:schemeClr val="tx1"/>
                </a:solidFill>
                <a:effectLst/>
                <a:latin typeface="Arial" panose="020B0604020202020204" pitchFamily="34" charset="0"/>
                <a:ea typeface="+mn-ea"/>
                <a:cs typeface="+mn-cs"/>
              </a:rPr>
              <a:t>(</a:t>
            </a:r>
            <a:r>
              <a:rPr lang="en-US" altLang="zh-CN" sz="1200" b="0" i="0" kern="1200" dirty="0" err="1">
                <a:solidFill>
                  <a:schemeClr val="tx1"/>
                </a:solidFill>
                <a:effectLst/>
                <a:latin typeface="Arial" panose="020B0604020202020204" pitchFamily="34" charset="0"/>
                <a:ea typeface="+mn-ea"/>
                <a:cs typeface="+mn-cs"/>
              </a:rPr>
              <a:t>rect.right</a:t>
            </a:r>
            <a:r>
              <a:rPr lang="en-US" altLang="zh-CN" sz="1200" b="0" i="0" kern="1200" dirty="0">
                <a:solidFill>
                  <a:schemeClr val="tx1"/>
                </a:solidFill>
                <a:effectLst/>
                <a:latin typeface="Arial" panose="020B0604020202020204" pitchFamily="34" charset="0"/>
                <a:ea typeface="+mn-ea"/>
                <a:cs typeface="+mn-cs"/>
              </a:rPr>
              <a:t>)</a:t>
            </a:r>
            <a:r>
              <a:rPr lang="zh-CN" altLang="en-US" sz="1200" b="0" i="0" kern="1200" dirty="0">
                <a:solidFill>
                  <a:schemeClr val="tx1"/>
                </a:solidFill>
                <a:effectLst/>
                <a:latin typeface="Arial" panose="020B0604020202020204" pitchFamily="34" charset="0"/>
                <a:ea typeface="+mn-ea"/>
                <a:cs typeface="+mn-cs"/>
              </a:rPr>
              <a:t>。</a:t>
            </a:r>
            <a:endParaRPr lang="zh-CN" altLang="en-US" sz="1200" b="0" i="0" kern="1200" dirty="0">
              <a:solidFill>
                <a:schemeClr val="tx1"/>
              </a:solidFill>
              <a:effectLst/>
              <a:latin typeface="Arial" panose="020B0604020202020204" pitchFamily="34" charset="0"/>
              <a:ea typeface="+mn-ea"/>
              <a:cs typeface="+mn-cs"/>
            </a:endParaRPr>
          </a:p>
          <a:p>
            <a:pPr fontAlgn="base"/>
            <a:r>
              <a:rPr lang="zh-CN" altLang="en-US" sz="1200" b="0" i="0" kern="1200" dirty="0">
                <a:solidFill>
                  <a:schemeClr val="tx1"/>
                </a:solidFill>
                <a:effectLst/>
                <a:latin typeface="Arial" panose="020B0604020202020204" pitchFamily="34" charset="0"/>
                <a:ea typeface="+mn-ea"/>
                <a:cs typeface="+mn-cs"/>
              </a:rPr>
              <a:t>与前面提供的代码相比，这段代码使用 </a:t>
            </a:r>
            <a:r>
              <a:rPr lang="en-US" altLang="zh-CN" sz="1200" b="0" i="0" kern="1200" dirty="0">
                <a:solidFill>
                  <a:schemeClr val="tx1"/>
                </a:solidFill>
                <a:effectLst/>
                <a:latin typeface="Arial" panose="020B0604020202020204" pitchFamily="34" charset="0"/>
                <a:ea typeface="+mn-ea"/>
                <a:cs typeface="+mn-cs"/>
              </a:rPr>
              <a:t>MFC </a:t>
            </a:r>
            <a:r>
              <a:rPr lang="zh-CN" altLang="en-US" sz="1200" b="0" i="0" kern="1200" dirty="0">
                <a:solidFill>
                  <a:schemeClr val="tx1"/>
                </a:solidFill>
                <a:effectLst/>
                <a:latin typeface="Arial" panose="020B0604020202020204" pitchFamily="34" charset="0"/>
                <a:ea typeface="+mn-ea"/>
                <a:cs typeface="+mn-cs"/>
              </a:rPr>
              <a:t>类和函数来执行类似的任务，具体如下：</a:t>
            </a:r>
            <a:endParaRPr lang="zh-CN" altLang="en-US" sz="1200" b="0" i="0" kern="1200" dirty="0">
              <a:solidFill>
                <a:schemeClr val="tx1"/>
              </a:solidFill>
              <a:effectLst/>
              <a:latin typeface="Arial" panose="020B0604020202020204" pitchFamily="34" charset="0"/>
              <a:ea typeface="+mn-ea"/>
              <a:cs typeface="+mn-cs"/>
            </a:endParaRPr>
          </a:p>
          <a:p>
            <a:pPr fontAlgn="base"/>
            <a:r>
              <a:rPr lang="en-US" altLang="zh-CN" sz="1200" b="0" i="0" kern="1200" dirty="0">
                <a:solidFill>
                  <a:schemeClr val="tx1"/>
                </a:solidFill>
                <a:effectLst/>
                <a:latin typeface="Arial" panose="020B0604020202020204" pitchFamily="34" charset="0"/>
                <a:ea typeface="+mn-ea"/>
                <a:cs typeface="+mn-cs"/>
              </a:rPr>
              <a:t>CDC </a:t>
            </a:r>
            <a:r>
              <a:rPr lang="zh-CN" altLang="en-US" sz="1200" b="0" i="0" kern="1200" dirty="0">
                <a:solidFill>
                  <a:schemeClr val="tx1"/>
                </a:solidFill>
                <a:effectLst/>
                <a:latin typeface="Arial" panose="020B0604020202020204" pitchFamily="34" charset="0"/>
                <a:ea typeface="+mn-ea"/>
                <a:cs typeface="+mn-cs"/>
              </a:rPr>
              <a:t>类表示设备上下文，它封装了绘图操作所需的信息。</a:t>
            </a:r>
            <a:endParaRPr lang="zh-CN" altLang="en-US" sz="1200" b="0" i="0" kern="1200" dirty="0">
              <a:solidFill>
                <a:schemeClr val="tx1"/>
              </a:solidFill>
              <a:effectLst/>
              <a:latin typeface="Arial" panose="020B0604020202020204" pitchFamily="34" charset="0"/>
              <a:ea typeface="+mn-ea"/>
              <a:cs typeface="+mn-cs"/>
            </a:endParaRPr>
          </a:p>
          <a:p>
            <a:pPr fontAlgn="base"/>
            <a:r>
              <a:rPr lang="en-US" altLang="zh-CN" sz="1200" b="0" i="0" kern="1200" dirty="0" err="1">
                <a:solidFill>
                  <a:schemeClr val="tx1"/>
                </a:solidFill>
                <a:effectLst/>
                <a:latin typeface="Arial" panose="020B0604020202020204" pitchFamily="34" charset="0"/>
                <a:ea typeface="+mn-ea"/>
                <a:cs typeface="+mn-cs"/>
              </a:rPr>
              <a:t>GetClientRect</a:t>
            </a:r>
            <a:r>
              <a:rPr lang="en-US" altLang="zh-CN" sz="1200" b="0" i="0" kern="1200" dirty="0">
                <a:solidFill>
                  <a:schemeClr val="tx1"/>
                </a:solidFill>
                <a:effectLst/>
                <a:latin typeface="Arial" panose="020B0604020202020204" pitchFamily="34" charset="0"/>
                <a:ea typeface="+mn-ea"/>
                <a:cs typeface="+mn-cs"/>
              </a:rPr>
              <a:t> </a:t>
            </a:r>
            <a:r>
              <a:rPr lang="zh-CN" altLang="en-US" sz="1200" b="0" i="0" kern="1200" dirty="0">
                <a:solidFill>
                  <a:schemeClr val="tx1"/>
                </a:solidFill>
                <a:effectLst/>
                <a:latin typeface="Arial" panose="020B0604020202020204" pitchFamily="34" charset="0"/>
                <a:ea typeface="+mn-ea"/>
                <a:cs typeface="+mn-cs"/>
              </a:rPr>
              <a:t>函数获取窗口客户区域，它与 </a:t>
            </a:r>
            <a:r>
              <a:rPr lang="en-US" altLang="zh-CN" sz="1200" b="0" i="0" kern="1200" dirty="0" err="1">
                <a:solidFill>
                  <a:schemeClr val="tx1"/>
                </a:solidFill>
                <a:effectLst/>
                <a:latin typeface="Arial" panose="020B0604020202020204" pitchFamily="34" charset="0"/>
                <a:ea typeface="+mn-ea"/>
                <a:cs typeface="+mn-cs"/>
              </a:rPr>
              <a:t>CRect</a:t>
            </a:r>
            <a:r>
              <a:rPr lang="en-US" altLang="zh-CN" sz="1200" b="0" i="0" kern="1200" dirty="0">
                <a:solidFill>
                  <a:schemeClr val="tx1"/>
                </a:solidFill>
                <a:effectLst/>
                <a:latin typeface="Arial" panose="020B0604020202020204" pitchFamily="34" charset="0"/>
                <a:ea typeface="+mn-ea"/>
                <a:cs typeface="+mn-cs"/>
              </a:rPr>
              <a:t> </a:t>
            </a:r>
            <a:r>
              <a:rPr lang="zh-CN" altLang="en-US" sz="1200" b="0" i="0" kern="1200" dirty="0">
                <a:solidFill>
                  <a:schemeClr val="tx1"/>
                </a:solidFill>
                <a:effectLst/>
                <a:latin typeface="Arial" panose="020B0604020202020204" pitchFamily="34" charset="0"/>
                <a:ea typeface="+mn-ea"/>
                <a:cs typeface="+mn-cs"/>
              </a:rPr>
              <a:t>类一起使用，该类表示矩形区域。</a:t>
            </a:r>
            <a:endParaRPr lang="zh-CN" altLang="en-US" sz="1200" b="0" i="0" kern="1200" dirty="0">
              <a:solidFill>
                <a:schemeClr val="tx1"/>
              </a:solidFill>
              <a:effectLst/>
              <a:latin typeface="Arial" panose="020B0604020202020204" pitchFamily="34" charset="0"/>
              <a:ea typeface="+mn-ea"/>
              <a:cs typeface="+mn-cs"/>
            </a:endParaRPr>
          </a:p>
          <a:p>
            <a:pPr fontAlgn="base"/>
            <a:r>
              <a:rPr lang="en-US" altLang="zh-CN" sz="1200" b="0" i="0" kern="1200" dirty="0" err="1">
                <a:solidFill>
                  <a:schemeClr val="tx1"/>
                </a:solidFill>
                <a:effectLst/>
                <a:latin typeface="Arial" panose="020B0604020202020204" pitchFamily="34" charset="0"/>
                <a:ea typeface="+mn-ea"/>
                <a:cs typeface="+mn-cs"/>
              </a:rPr>
              <a:t>SetPixel</a:t>
            </a:r>
            <a:r>
              <a:rPr lang="en-US" altLang="zh-CN" sz="1200" b="0" i="0" kern="1200" dirty="0">
                <a:solidFill>
                  <a:schemeClr val="tx1"/>
                </a:solidFill>
                <a:effectLst/>
                <a:latin typeface="Arial" panose="020B0604020202020204" pitchFamily="34" charset="0"/>
                <a:ea typeface="+mn-ea"/>
                <a:cs typeface="+mn-cs"/>
              </a:rPr>
              <a:t> </a:t>
            </a:r>
            <a:r>
              <a:rPr lang="zh-CN" altLang="en-US" sz="1200" b="0" i="0" kern="1200" dirty="0">
                <a:solidFill>
                  <a:schemeClr val="tx1"/>
                </a:solidFill>
                <a:effectLst/>
                <a:latin typeface="Arial" panose="020B0604020202020204" pitchFamily="34" charset="0"/>
                <a:ea typeface="+mn-ea"/>
                <a:cs typeface="+mn-cs"/>
              </a:rPr>
              <a:t>和 </a:t>
            </a:r>
            <a:r>
              <a:rPr lang="en-US" altLang="zh-CN" sz="1200" b="0" i="0" kern="1200" dirty="0" err="1">
                <a:solidFill>
                  <a:schemeClr val="tx1"/>
                </a:solidFill>
                <a:effectLst/>
                <a:latin typeface="Arial" panose="020B0604020202020204" pitchFamily="34" charset="0"/>
                <a:ea typeface="+mn-ea"/>
                <a:cs typeface="+mn-cs"/>
              </a:rPr>
              <a:t>MoveTo</a:t>
            </a:r>
            <a:r>
              <a:rPr lang="en-US" altLang="zh-CN" sz="1200" b="0" i="0" kern="1200" dirty="0">
                <a:solidFill>
                  <a:schemeClr val="tx1"/>
                </a:solidFill>
                <a:effectLst/>
                <a:latin typeface="Arial" panose="020B0604020202020204" pitchFamily="34" charset="0"/>
                <a:ea typeface="+mn-ea"/>
                <a:cs typeface="+mn-cs"/>
              </a:rPr>
              <a:t> / </a:t>
            </a:r>
            <a:r>
              <a:rPr lang="en-US" altLang="zh-CN" sz="1200" b="0" i="0" kern="1200" dirty="0" err="1">
                <a:solidFill>
                  <a:schemeClr val="tx1"/>
                </a:solidFill>
                <a:effectLst/>
                <a:latin typeface="Arial" panose="020B0604020202020204" pitchFamily="34" charset="0"/>
                <a:ea typeface="+mn-ea"/>
                <a:cs typeface="+mn-cs"/>
              </a:rPr>
              <a:t>LineTo</a:t>
            </a:r>
            <a:r>
              <a:rPr lang="en-US" altLang="zh-CN" sz="1200" b="0" i="0" kern="1200" dirty="0">
                <a:solidFill>
                  <a:schemeClr val="tx1"/>
                </a:solidFill>
                <a:effectLst/>
                <a:latin typeface="Arial" panose="020B0604020202020204" pitchFamily="34" charset="0"/>
                <a:ea typeface="+mn-ea"/>
                <a:cs typeface="+mn-cs"/>
              </a:rPr>
              <a:t> </a:t>
            </a:r>
            <a:r>
              <a:rPr lang="zh-CN" altLang="en-US" sz="1200" b="0" i="0" kern="1200" dirty="0">
                <a:solidFill>
                  <a:schemeClr val="tx1"/>
                </a:solidFill>
                <a:effectLst/>
                <a:latin typeface="Arial" panose="020B0604020202020204" pitchFamily="34" charset="0"/>
                <a:ea typeface="+mn-ea"/>
                <a:cs typeface="+mn-cs"/>
              </a:rPr>
              <a:t>函数用于在设备上下文中进行绘图操作。</a:t>
            </a:r>
            <a:endParaRPr lang="zh-CN" altLang="en-US" sz="1200" b="0" i="0" kern="1200" dirty="0">
              <a:solidFill>
                <a:schemeClr val="tx1"/>
              </a:solidFill>
              <a:effectLst/>
              <a:latin typeface="Arial" panose="020B0604020202020204" pitchFamily="34" charset="0"/>
              <a:ea typeface="+mn-ea"/>
              <a:cs typeface="+mn-cs"/>
            </a:endParaRPr>
          </a:p>
          <a:p>
            <a:pPr fontAlgn="base"/>
            <a:r>
              <a:rPr lang="zh-CN" altLang="en-US" sz="1200" b="0" i="0" kern="1200" dirty="0">
                <a:solidFill>
                  <a:schemeClr val="tx1"/>
                </a:solidFill>
                <a:effectLst/>
                <a:latin typeface="Arial" panose="020B0604020202020204" pitchFamily="34" charset="0"/>
                <a:ea typeface="+mn-ea"/>
                <a:cs typeface="+mn-cs"/>
              </a:rPr>
              <a:t>这种使用 </a:t>
            </a:r>
            <a:r>
              <a:rPr lang="en-US" altLang="zh-CN" sz="1200" b="0" i="0" kern="1200" dirty="0">
                <a:solidFill>
                  <a:schemeClr val="tx1"/>
                </a:solidFill>
                <a:effectLst/>
                <a:latin typeface="Arial" panose="020B0604020202020204" pitchFamily="34" charset="0"/>
                <a:ea typeface="+mn-ea"/>
                <a:cs typeface="+mn-cs"/>
              </a:rPr>
              <a:t>MFC </a:t>
            </a:r>
            <a:r>
              <a:rPr lang="zh-CN" altLang="en-US" sz="1200" b="0" i="0" kern="1200" dirty="0">
                <a:solidFill>
                  <a:schemeClr val="tx1"/>
                </a:solidFill>
                <a:effectLst/>
                <a:latin typeface="Arial" panose="020B0604020202020204" pitchFamily="34" charset="0"/>
                <a:ea typeface="+mn-ea"/>
                <a:cs typeface="+mn-cs"/>
              </a:rPr>
              <a:t>的方法提供了面向对象和可重用的代码，简化了 </a:t>
            </a:r>
            <a:r>
              <a:rPr lang="en-US" altLang="zh-CN" sz="1200" b="0" i="0" kern="1200" dirty="0">
                <a:solidFill>
                  <a:schemeClr val="tx1"/>
                </a:solidFill>
                <a:effectLst/>
                <a:latin typeface="Arial" panose="020B0604020202020204" pitchFamily="34" charset="0"/>
                <a:ea typeface="+mn-ea"/>
                <a:cs typeface="+mn-cs"/>
              </a:rPr>
              <a:t>Windows </a:t>
            </a:r>
            <a:r>
              <a:rPr lang="zh-CN" altLang="en-US" sz="1200" b="0" i="0" kern="1200" dirty="0">
                <a:solidFill>
                  <a:schemeClr val="tx1"/>
                </a:solidFill>
                <a:effectLst/>
                <a:latin typeface="Arial" panose="020B0604020202020204" pitchFamily="34" charset="0"/>
                <a:ea typeface="+mn-ea"/>
                <a:cs typeface="+mn-cs"/>
              </a:rPr>
              <a:t>编程。</a:t>
            </a:r>
            <a:endParaRPr lang="zh-CN" altLang="en-US" sz="1200" b="0" i="0" kern="1200" dirty="0">
              <a:solidFill>
                <a:schemeClr val="tx1"/>
              </a:solidFill>
              <a:effectLst/>
              <a:latin typeface="Arial" panose="020B0604020202020204" pitchFamily="34" charset="0"/>
              <a:ea typeface="+mn-ea"/>
              <a:cs typeface="+mn-cs"/>
            </a:endParaRPr>
          </a:p>
          <a:p>
            <a:endParaRPr lang="zh-CN" altLang="en-US" dirty="0">
              <a:latin typeface="Arial" panose="020B0604020202020204" pitchFamily="34" charset="0"/>
            </a:endParaRPr>
          </a:p>
        </p:txBody>
      </p:sp>
      <p:sp>
        <p:nvSpPr>
          <p:cNvPr id="419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001105B-CAC4-4622-92CF-582C0A09B740}" type="slidenum">
              <a:rPr lang="zh-CN" altLang="en-US"/>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这段代码使用 </a:t>
            </a:r>
            <a:r>
              <a:rPr lang="en-US" altLang="zh-CN" dirty="0"/>
              <a:t>OpenGL</a:t>
            </a:r>
            <a:r>
              <a:rPr lang="zh-CN" altLang="en-US" dirty="0"/>
              <a:t>（开放图形库）函数在图形窗口中绘制一个红色的点。以下是它的功能：</a:t>
            </a:r>
            <a:endParaRPr lang="zh-CN" altLang="en-US" dirty="0"/>
          </a:p>
          <a:p>
            <a:endParaRPr lang="zh-CN" altLang="en-US" dirty="0"/>
          </a:p>
          <a:p>
            <a:r>
              <a:rPr lang="en-US" altLang="zh-CN" dirty="0"/>
              <a:t>1. **</a:t>
            </a:r>
            <a:r>
              <a:rPr lang="zh-CN" altLang="en-US" dirty="0"/>
              <a:t>设置清除颜色：**使用 </a:t>
            </a:r>
            <a:r>
              <a:rPr lang="en-US" altLang="zh-CN" dirty="0"/>
              <a:t>`</a:t>
            </a:r>
            <a:r>
              <a:rPr lang="en-US" altLang="zh-CN" dirty="0" err="1"/>
              <a:t>glClearColor</a:t>
            </a:r>
            <a:r>
              <a:rPr lang="en-US" altLang="zh-CN" dirty="0"/>
              <a:t>` </a:t>
            </a:r>
            <a:r>
              <a:rPr lang="zh-CN" altLang="en-US" dirty="0"/>
              <a:t>函数设置清除颜色为黑色（无颜色）。</a:t>
            </a:r>
            <a:endParaRPr lang="zh-CN" altLang="en-US" dirty="0"/>
          </a:p>
          <a:p>
            <a:endParaRPr lang="zh-CN" altLang="en-US" dirty="0"/>
          </a:p>
          <a:p>
            <a:r>
              <a:rPr lang="en-US" altLang="zh-CN" dirty="0"/>
              <a:t>2. **</a:t>
            </a:r>
            <a:r>
              <a:rPr lang="zh-CN" altLang="en-US" dirty="0"/>
              <a:t>清除颜色缓冲区：**使用 </a:t>
            </a:r>
            <a:r>
              <a:rPr lang="en-US" altLang="zh-CN" dirty="0"/>
              <a:t>`</a:t>
            </a:r>
            <a:r>
              <a:rPr lang="en-US" altLang="zh-CN" dirty="0" err="1"/>
              <a:t>glClear</a:t>
            </a:r>
            <a:r>
              <a:rPr lang="en-US" altLang="zh-CN" dirty="0"/>
              <a:t>` </a:t>
            </a:r>
            <a:r>
              <a:rPr lang="zh-CN" altLang="en-US" dirty="0"/>
              <a:t>函数清除颜色缓冲区，将其填充为清除颜色。</a:t>
            </a:r>
            <a:endParaRPr lang="zh-CN" altLang="en-US" dirty="0"/>
          </a:p>
          <a:p>
            <a:endParaRPr lang="zh-CN" altLang="en-US" dirty="0"/>
          </a:p>
          <a:p>
            <a:r>
              <a:rPr lang="en-US" altLang="zh-CN" dirty="0"/>
              <a:t>3. **</a:t>
            </a:r>
            <a:r>
              <a:rPr lang="zh-CN" altLang="en-US" dirty="0"/>
              <a:t>设置点颜色：**使用 </a:t>
            </a:r>
            <a:r>
              <a:rPr lang="en-US" altLang="zh-CN" dirty="0"/>
              <a:t>`glColor3f` </a:t>
            </a:r>
            <a:r>
              <a:rPr lang="zh-CN" altLang="en-US" dirty="0"/>
              <a:t>函数设置点的颜色为白色。</a:t>
            </a:r>
            <a:endParaRPr lang="zh-CN" altLang="en-US" dirty="0"/>
          </a:p>
          <a:p>
            <a:endParaRPr lang="zh-CN" altLang="en-US" dirty="0"/>
          </a:p>
          <a:p>
            <a:r>
              <a:rPr lang="en-US" altLang="zh-CN" dirty="0"/>
              <a:t>4. **</a:t>
            </a:r>
            <a:r>
              <a:rPr lang="zh-CN" altLang="en-US" dirty="0"/>
              <a:t>设置点大小：**使用 </a:t>
            </a:r>
            <a:r>
              <a:rPr lang="en-US" altLang="zh-CN" dirty="0"/>
              <a:t>`</a:t>
            </a:r>
            <a:r>
              <a:rPr lang="en-US" altLang="zh-CN" dirty="0" err="1"/>
              <a:t>glPointSize</a:t>
            </a:r>
            <a:r>
              <a:rPr lang="en-US" altLang="zh-CN" dirty="0"/>
              <a:t>` </a:t>
            </a:r>
            <a:r>
              <a:rPr lang="zh-CN" altLang="en-US" dirty="0"/>
              <a:t>函数设置点的尺寸为 </a:t>
            </a:r>
            <a:r>
              <a:rPr lang="en-US" altLang="zh-CN" dirty="0"/>
              <a:t>3 </a:t>
            </a:r>
            <a:r>
              <a:rPr lang="zh-CN" altLang="en-US" dirty="0"/>
              <a:t>个像素。</a:t>
            </a:r>
            <a:endParaRPr lang="zh-CN" altLang="en-US" dirty="0"/>
          </a:p>
          <a:p>
            <a:endParaRPr lang="zh-CN" altLang="en-US" dirty="0"/>
          </a:p>
          <a:p>
            <a:r>
              <a:rPr lang="en-US" altLang="zh-CN" dirty="0"/>
              <a:t>5. **</a:t>
            </a:r>
            <a:r>
              <a:rPr lang="zh-CN" altLang="en-US" dirty="0"/>
              <a:t>开始绘制点：**使用 </a:t>
            </a:r>
            <a:r>
              <a:rPr lang="en-US" altLang="zh-CN" dirty="0"/>
              <a:t>`</a:t>
            </a:r>
            <a:r>
              <a:rPr lang="en-US" altLang="zh-CN" dirty="0" err="1"/>
              <a:t>glBegin</a:t>
            </a:r>
            <a:r>
              <a:rPr lang="en-US" altLang="zh-CN" dirty="0"/>
              <a:t>` </a:t>
            </a:r>
            <a:r>
              <a:rPr lang="zh-CN" altLang="en-US" dirty="0"/>
              <a:t>函数开始绘制点。</a:t>
            </a:r>
            <a:endParaRPr lang="zh-CN" altLang="en-US" dirty="0"/>
          </a:p>
          <a:p>
            <a:endParaRPr lang="zh-CN" altLang="en-US" dirty="0"/>
          </a:p>
          <a:p>
            <a:r>
              <a:rPr lang="en-US" altLang="zh-CN" dirty="0"/>
              <a:t>6. **</a:t>
            </a:r>
            <a:r>
              <a:rPr lang="zh-CN" altLang="en-US" dirty="0"/>
              <a:t>绘制点：**使用 </a:t>
            </a:r>
            <a:r>
              <a:rPr lang="en-US" altLang="zh-CN" dirty="0"/>
              <a:t>`glVertex2f` </a:t>
            </a:r>
            <a:r>
              <a:rPr lang="zh-CN" altLang="en-US" dirty="0"/>
              <a:t>函数绘制一个红色的点，其坐标为 </a:t>
            </a:r>
            <a:r>
              <a:rPr lang="en-US" altLang="zh-CN" dirty="0"/>
              <a:t>(-0.4, -0.4)</a:t>
            </a:r>
            <a:r>
              <a:rPr lang="zh-CN" altLang="en-US" dirty="0"/>
              <a:t>。</a:t>
            </a:r>
            <a:endParaRPr lang="zh-CN" altLang="en-US" dirty="0"/>
          </a:p>
          <a:p>
            <a:endParaRPr lang="zh-CN" altLang="en-US" dirty="0"/>
          </a:p>
          <a:p>
            <a:r>
              <a:rPr lang="en-US" altLang="zh-CN" dirty="0"/>
              <a:t>7. **</a:t>
            </a:r>
            <a:r>
              <a:rPr lang="zh-CN" altLang="en-US" dirty="0"/>
              <a:t>结束绘制：**使用 </a:t>
            </a:r>
            <a:r>
              <a:rPr lang="en-US" altLang="zh-CN" dirty="0"/>
              <a:t>`</a:t>
            </a:r>
            <a:r>
              <a:rPr lang="en-US" altLang="zh-CN" dirty="0" err="1"/>
              <a:t>glEnd</a:t>
            </a:r>
            <a:r>
              <a:rPr lang="en-US" altLang="zh-CN" dirty="0"/>
              <a:t>` </a:t>
            </a:r>
            <a:r>
              <a:rPr lang="zh-CN" altLang="en-US" dirty="0"/>
              <a:t>函数结束绘制点。</a:t>
            </a:r>
            <a:endParaRPr lang="zh-CN" altLang="en-US" dirty="0"/>
          </a:p>
          <a:p>
            <a:endParaRPr lang="zh-CN" altLang="en-US" dirty="0"/>
          </a:p>
          <a:p>
            <a:r>
              <a:rPr lang="en-US" altLang="zh-CN" dirty="0"/>
              <a:t>8. **</a:t>
            </a:r>
            <a:r>
              <a:rPr lang="zh-CN" altLang="en-US" dirty="0"/>
              <a:t>刷新缓冲区：**使用 </a:t>
            </a:r>
            <a:r>
              <a:rPr lang="en-US" altLang="zh-CN" dirty="0"/>
              <a:t>`</a:t>
            </a:r>
            <a:r>
              <a:rPr lang="en-US" altLang="zh-CN" dirty="0" err="1"/>
              <a:t>glFlush</a:t>
            </a:r>
            <a:r>
              <a:rPr lang="en-US" altLang="zh-CN" dirty="0"/>
              <a:t>` </a:t>
            </a:r>
            <a:r>
              <a:rPr lang="zh-CN" altLang="en-US" dirty="0"/>
              <a:t>函数刷新缓冲区，将绘制的点显示在屏幕上。</a:t>
            </a:r>
            <a:endParaRPr lang="zh-CN" altLang="en-US" dirty="0"/>
          </a:p>
          <a:p>
            <a:endParaRPr lang="zh-CN" altLang="en-US" dirty="0"/>
          </a:p>
          <a:p>
            <a:r>
              <a:rPr lang="zh-CN" altLang="en-US" dirty="0"/>
              <a:t>综上所述，这段代码使用 </a:t>
            </a:r>
            <a:r>
              <a:rPr lang="en-US" altLang="zh-CN" dirty="0"/>
              <a:t>OpenGL </a:t>
            </a:r>
            <a:r>
              <a:rPr lang="zh-CN" altLang="en-US" dirty="0"/>
              <a:t>绘制了一个白色背景上的单个红色点，该点位于窗口左下角附近。</a:t>
            </a:r>
            <a:endParaRPr lang="zh-CN" altLang="en-US" dirty="0"/>
          </a:p>
        </p:txBody>
      </p:sp>
      <p:sp>
        <p:nvSpPr>
          <p:cNvPr id="4" name="灯片编号占位符 3"/>
          <p:cNvSpPr>
            <a:spLocks noGrp="1"/>
          </p:cNvSpPr>
          <p:nvPr>
            <p:ph type="sldNum" sz="quarter" idx="5"/>
          </p:nvPr>
        </p:nvSpPr>
        <p:spPr/>
        <p:txBody>
          <a:bodyPr/>
          <a:lstStyle/>
          <a:p>
            <a:pPr>
              <a:defRPr/>
            </a:pPr>
            <a:fld id="{D5B96F46-6ECC-4313-B18A-9F9C0CA528FF}" type="slidenum">
              <a:rPr lang="zh-CN" altLang="en-US"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ChangeArrowheads="1" noTextEdit="1"/>
          </p:cNvSpPr>
          <p:nvPr>
            <p:ph type="sldImg"/>
          </p:nvPr>
        </p:nvSpPr>
        <p:spPr/>
      </p:sp>
      <p:sp>
        <p:nvSpPr>
          <p:cNvPr id="460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HAL</a:t>
            </a:r>
            <a:r>
              <a:rPr lang="zh-CN" altLang="en-US">
                <a:latin typeface="Arial" panose="020B0604020202020204" pitchFamily="34" charset="0"/>
              </a:rPr>
              <a:t>的全称是”硬件抽象层</a:t>
            </a:r>
            <a:r>
              <a:rPr lang="en-US" altLang="zh-CN">
                <a:latin typeface="Arial" panose="020B0604020202020204" pitchFamily="34" charset="0"/>
              </a:rPr>
              <a:t>(Hardware Abstraction Layer)".</a:t>
            </a:r>
            <a:r>
              <a:rPr lang="zh-CN" altLang="en-US">
                <a:latin typeface="Arial" panose="020B0604020202020204" pitchFamily="34" charset="0"/>
              </a:rPr>
              <a:t>它位于操作</a:t>
            </a:r>
            <a:br>
              <a:rPr lang="zh-CN" altLang="en-US">
                <a:latin typeface="Arial" panose="020B0604020202020204" pitchFamily="34" charset="0"/>
              </a:rPr>
            </a:br>
            <a:r>
              <a:rPr lang="zh-CN" altLang="en-US">
                <a:latin typeface="Arial" panose="020B0604020202020204" pitchFamily="34" charset="0"/>
              </a:rPr>
              <a:t>系统和桌面软件之间</a:t>
            </a:r>
            <a:r>
              <a:rPr lang="en-US" altLang="zh-CN">
                <a:latin typeface="Arial" panose="020B0604020202020204" pitchFamily="34" charset="0"/>
              </a:rPr>
              <a:t>,</a:t>
            </a:r>
            <a:r>
              <a:rPr lang="zh-CN" altLang="en-US">
                <a:latin typeface="Arial" panose="020B0604020202020204" pitchFamily="34" charset="0"/>
              </a:rPr>
              <a:t>负责将硬件信息传递给上层的桌面软件</a:t>
            </a:r>
            <a:r>
              <a:rPr lang="en-US" altLang="zh-CN">
                <a:latin typeface="Arial" panose="020B0604020202020204" pitchFamily="34" charset="0"/>
              </a:rPr>
              <a:t>.</a:t>
            </a:r>
            <a:br>
              <a:rPr lang="en-US" altLang="zh-CN">
                <a:latin typeface="Arial" panose="020B0604020202020204" pitchFamily="34" charset="0"/>
              </a:rPr>
            </a:br>
            <a:endParaRPr lang="zh-CN" altLang="en-US">
              <a:latin typeface="Arial" panose="020B0604020202020204" pitchFamily="34" charset="0"/>
            </a:endParaRPr>
          </a:p>
        </p:txBody>
      </p:sp>
      <p:sp>
        <p:nvSpPr>
          <p:cNvPr id="4608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31E94CD-7526-4B4F-8000-B994F85C5396}" type="slidenum">
              <a:rPr lang="zh-CN" altLang="en-US"/>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ChangeArrowheads="1" noTextEdit="1"/>
          </p:cNvSpPr>
          <p:nvPr>
            <p:ph type="sldImg"/>
          </p:nvPr>
        </p:nvSpPr>
        <p:spPr/>
      </p:sp>
      <p:sp>
        <p:nvSpPr>
          <p:cNvPr id="481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HAL</a:t>
            </a:r>
            <a:r>
              <a:rPr lang="zh-CN" altLang="en-US" dirty="0">
                <a:latin typeface="Arial" panose="020B0604020202020204" pitchFamily="34" charset="0"/>
              </a:rPr>
              <a:t>的全称是”硬件抽象层</a:t>
            </a:r>
            <a:r>
              <a:rPr lang="en-US" altLang="zh-CN" dirty="0">
                <a:latin typeface="Arial" panose="020B0604020202020204" pitchFamily="34" charset="0"/>
              </a:rPr>
              <a:t>(Hardware Abstraction Layer)".</a:t>
            </a:r>
            <a:r>
              <a:rPr lang="zh-CN" altLang="en-US" dirty="0">
                <a:latin typeface="Arial" panose="020B0604020202020204" pitchFamily="34" charset="0"/>
              </a:rPr>
              <a:t>它位于操作</a:t>
            </a:r>
            <a:br>
              <a:rPr lang="zh-CN" altLang="en-US" dirty="0">
                <a:latin typeface="Arial" panose="020B0604020202020204" pitchFamily="34" charset="0"/>
              </a:rPr>
            </a:br>
            <a:r>
              <a:rPr lang="zh-CN" altLang="en-US" dirty="0">
                <a:latin typeface="Arial" panose="020B0604020202020204" pitchFamily="34" charset="0"/>
              </a:rPr>
              <a:t>系统和桌面软件之间</a:t>
            </a:r>
            <a:r>
              <a:rPr lang="en-US" altLang="zh-CN" dirty="0">
                <a:latin typeface="Arial" panose="020B0604020202020204" pitchFamily="34" charset="0"/>
              </a:rPr>
              <a:t>,</a:t>
            </a:r>
            <a:r>
              <a:rPr lang="zh-CN" altLang="en-US" dirty="0">
                <a:latin typeface="Arial" panose="020B0604020202020204" pitchFamily="34" charset="0"/>
              </a:rPr>
              <a:t>负责将硬件信息传递给上层的桌面软件</a:t>
            </a:r>
            <a:r>
              <a:rPr lang="en-US" altLang="zh-CN" dirty="0">
                <a:latin typeface="Arial" panose="020B0604020202020204" pitchFamily="34" charset="0"/>
              </a:rPr>
              <a:t>.</a:t>
            </a:r>
            <a:br>
              <a:rPr lang="en-US" altLang="zh-CN" dirty="0">
                <a:latin typeface="Arial" panose="020B0604020202020204" pitchFamily="34" charset="0"/>
              </a:rPr>
            </a:br>
            <a:r>
              <a:rPr lang="zh-CN" altLang="en-US" dirty="0">
                <a:latin typeface="Arial" panose="020B0604020202020204" pitchFamily="34" charset="0"/>
              </a:rPr>
              <a:t>这段代码使用 </a:t>
            </a:r>
            <a:r>
              <a:rPr lang="en-US" altLang="zh-CN" dirty="0">
                <a:latin typeface="Arial" panose="020B0604020202020204" pitchFamily="34" charset="0"/>
              </a:rPr>
              <a:t>Microsoft DirectX </a:t>
            </a:r>
            <a:r>
              <a:rPr lang="zh-CN" altLang="en-US" dirty="0">
                <a:latin typeface="Arial" panose="020B0604020202020204" pitchFamily="34" charset="0"/>
              </a:rPr>
              <a:t>进行 </a:t>
            </a:r>
            <a:r>
              <a:rPr lang="en-US" altLang="zh-CN" dirty="0">
                <a:latin typeface="Arial" panose="020B0604020202020204" pitchFamily="34" charset="0"/>
              </a:rPr>
              <a:t>3D </a:t>
            </a:r>
            <a:r>
              <a:rPr lang="zh-CN" altLang="en-US" dirty="0">
                <a:latin typeface="Arial" panose="020B0604020202020204" pitchFamily="34" charset="0"/>
              </a:rPr>
              <a:t>渲染。以下是它的功能：</a:t>
            </a:r>
            <a:endParaRPr lang="zh-CN" altLang="en-US" dirty="0">
              <a:latin typeface="Arial" panose="020B0604020202020204" pitchFamily="34" charset="0"/>
            </a:endParaRPr>
          </a:p>
          <a:p>
            <a:r>
              <a:rPr lang="en-US" altLang="zh-CN" dirty="0">
                <a:latin typeface="Arial" panose="020B0604020202020204" pitchFamily="34" charset="0"/>
              </a:rPr>
              <a:t>1. **</a:t>
            </a:r>
            <a:r>
              <a:rPr lang="zh-CN" altLang="en-US" dirty="0">
                <a:latin typeface="Arial" panose="020B0604020202020204" pitchFamily="34" charset="0"/>
              </a:rPr>
              <a:t>清除渲染目标和深度缓冲区：**使用 </a:t>
            </a:r>
            <a:r>
              <a:rPr lang="en-US" altLang="zh-CN" dirty="0">
                <a:latin typeface="Arial" panose="020B0604020202020204" pitchFamily="34" charset="0"/>
              </a:rPr>
              <a:t>`Clear` </a:t>
            </a:r>
            <a:r>
              <a:rPr lang="zh-CN" altLang="en-US" dirty="0">
                <a:latin typeface="Arial" panose="020B0604020202020204" pitchFamily="34" charset="0"/>
              </a:rPr>
              <a:t>函数清除渲染目标（显示缓冲区）和深度缓冲区（用于存储深度信息）。清除颜色设置为暗绿色（</a:t>
            </a:r>
            <a:r>
              <a:rPr lang="en-US" altLang="zh-CN" dirty="0">
                <a:latin typeface="Arial" panose="020B0604020202020204" pitchFamily="34" charset="0"/>
              </a:rPr>
              <a:t>RGB </a:t>
            </a:r>
            <a:r>
              <a:rPr lang="zh-CN" altLang="en-US" dirty="0">
                <a:latin typeface="Arial" panose="020B0604020202020204" pitchFamily="34" charset="0"/>
              </a:rPr>
              <a:t>值为 </a:t>
            </a:r>
            <a:r>
              <a:rPr lang="en-US" altLang="zh-CN" dirty="0">
                <a:latin typeface="Arial" panose="020B0604020202020204" pitchFamily="34" charset="0"/>
              </a:rPr>
              <a:t>(0, 128, 0)</a:t>
            </a:r>
            <a:r>
              <a:rPr lang="zh-CN" altLang="en-US" dirty="0">
                <a:latin typeface="Arial" panose="020B0604020202020204" pitchFamily="34" charset="0"/>
              </a:rPr>
              <a:t>），深度值设置为 </a:t>
            </a:r>
            <a:r>
              <a:rPr lang="en-US" altLang="zh-CN" dirty="0">
                <a:latin typeface="Arial" panose="020B0604020202020204" pitchFamily="34" charset="0"/>
              </a:rPr>
              <a:t>1.0</a:t>
            </a:r>
            <a:r>
              <a:rPr lang="zh-CN" altLang="en-US" dirty="0">
                <a:latin typeface="Arial" panose="020B0604020202020204" pitchFamily="34" charset="0"/>
              </a:rPr>
              <a:t>。</a:t>
            </a:r>
            <a:endParaRPr lang="zh-CN" altLang="en-US" dirty="0">
              <a:latin typeface="Arial" panose="020B0604020202020204" pitchFamily="34" charset="0"/>
            </a:endParaRPr>
          </a:p>
          <a:p>
            <a:r>
              <a:rPr lang="en-US" altLang="zh-CN" dirty="0">
                <a:latin typeface="Arial" panose="020B0604020202020204" pitchFamily="34" charset="0"/>
              </a:rPr>
              <a:t>2. **</a:t>
            </a:r>
            <a:r>
              <a:rPr lang="zh-CN" altLang="en-US" dirty="0">
                <a:latin typeface="Arial" panose="020B0604020202020204" pitchFamily="34" charset="0"/>
              </a:rPr>
              <a:t>开始场景：**使用 </a:t>
            </a:r>
            <a:r>
              <a:rPr lang="en-US" altLang="zh-CN" dirty="0">
                <a:latin typeface="Arial" panose="020B0604020202020204" pitchFamily="34" charset="0"/>
              </a:rPr>
              <a:t>`</a:t>
            </a:r>
            <a:r>
              <a:rPr lang="en-US" altLang="zh-CN" dirty="0" err="1">
                <a:latin typeface="Arial" panose="020B0604020202020204" pitchFamily="34" charset="0"/>
              </a:rPr>
              <a:t>BeginScene</a:t>
            </a:r>
            <a:r>
              <a:rPr lang="en-US" altLang="zh-CN" dirty="0">
                <a:latin typeface="Arial" panose="020B0604020202020204" pitchFamily="34" charset="0"/>
              </a:rPr>
              <a:t>` </a:t>
            </a:r>
            <a:r>
              <a:rPr lang="zh-CN" altLang="en-US" dirty="0">
                <a:latin typeface="Arial" panose="020B0604020202020204" pitchFamily="34" charset="0"/>
              </a:rPr>
              <a:t>函数开始一个新的渲染场景。</a:t>
            </a:r>
            <a:endParaRPr lang="zh-CN" altLang="en-US" dirty="0">
              <a:latin typeface="Arial" panose="020B0604020202020204" pitchFamily="34" charset="0"/>
            </a:endParaRPr>
          </a:p>
          <a:p>
            <a:r>
              <a:rPr lang="en-US" altLang="zh-CN" dirty="0">
                <a:latin typeface="Arial" panose="020B0604020202020204" pitchFamily="34" charset="0"/>
              </a:rPr>
              <a:t>3. **</a:t>
            </a:r>
            <a:r>
              <a:rPr lang="zh-CN" altLang="en-US" dirty="0">
                <a:latin typeface="Arial" panose="020B0604020202020204" pitchFamily="34" charset="0"/>
              </a:rPr>
              <a:t>设置顶点缓冲区：**使用 </a:t>
            </a:r>
            <a:r>
              <a:rPr lang="en-US" altLang="zh-CN" dirty="0">
                <a:latin typeface="Arial" panose="020B0604020202020204" pitchFamily="34" charset="0"/>
              </a:rPr>
              <a:t>`</a:t>
            </a:r>
            <a:r>
              <a:rPr lang="en-US" altLang="zh-CN" dirty="0" err="1">
                <a:latin typeface="Arial" panose="020B0604020202020204" pitchFamily="34" charset="0"/>
              </a:rPr>
              <a:t>SetStreamSource</a:t>
            </a:r>
            <a:r>
              <a:rPr lang="en-US" altLang="zh-CN" dirty="0">
                <a:latin typeface="Arial" panose="020B0604020202020204" pitchFamily="34" charset="0"/>
              </a:rPr>
              <a:t>` </a:t>
            </a:r>
            <a:r>
              <a:rPr lang="zh-CN" altLang="en-US" dirty="0">
                <a:latin typeface="Arial" panose="020B0604020202020204" pitchFamily="34" charset="0"/>
              </a:rPr>
              <a:t>函数设置顶点缓冲区，该缓冲区包含要渲染的顶点数据。它指定缓冲区为 </a:t>
            </a:r>
            <a:r>
              <a:rPr lang="en-US" altLang="zh-CN" dirty="0">
                <a:latin typeface="Arial" panose="020B0604020202020204" pitchFamily="34" charset="0"/>
              </a:rPr>
              <a:t>`g_pD3DVBuffer`</a:t>
            </a:r>
            <a:r>
              <a:rPr lang="zh-CN" altLang="en-US" dirty="0">
                <a:latin typeface="Arial" panose="020B0604020202020204" pitchFamily="34" charset="0"/>
              </a:rPr>
              <a:t>，从偏移量为 </a:t>
            </a:r>
            <a:r>
              <a:rPr lang="en-US" altLang="zh-CN" dirty="0">
                <a:latin typeface="Arial" panose="020B0604020202020204" pitchFamily="34" charset="0"/>
              </a:rPr>
              <a:t>0 </a:t>
            </a:r>
            <a:r>
              <a:rPr lang="zh-CN" altLang="en-US" dirty="0">
                <a:latin typeface="Arial" panose="020B0604020202020204" pitchFamily="34" charset="0"/>
              </a:rPr>
              <a:t>的位置开始，并且每个顶点的大小为 </a:t>
            </a:r>
            <a:r>
              <a:rPr lang="en-US" altLang="zh-CN" dirty="0">
                <a:latin typeface="Arial" panose="020B0604020202020204" pitchFamily="34" charset="0"/>
              </a:rPr>
              <a:t>`</a:t>
            </a:r>
            <a:r>
              <a:rPr lang="en-US" altLang="zh-CN" dirty="0" err="1">
                <a:latin typeface="Arial" panose="020B0604020202020204" pitchFamily="34" charset="0"/>
              </a:rPr>
              <a:t>sizeof</a:t>
            </a:r>
            <a:r>
              <a:rPr lang="en-US" altLang="zh-CN" dirty="0">
                <a:latin typeface="Arial" panose="020B0604020202020204" pitchFamily="34" charset="0"/>
              </a:rPr>
              <a:t>(MYVERTEX)` </a:t>
            </a:r>
            <a:r>
              <a:rPr lang="zh-CN" altLang="en-US" dirty="0">
                <a:latin typeface="Arial" panose="020B0604020202020204" pitchFamily="34" charset="0"/>
              </a:rPr>
              <a:t>字节。</a:t>
            </a:r>
            <a:endParaRPr lang="zh-CN" altLang="en-US" dirty="0">
              <a:latin typeface="Arial" panose="020B0604020202020204" pitchFamily="34" charset="0"/>
            </a:endParaRPr>
          </a:p>
          <a:p>
            <a:r>
              <a:rPr lang="en-US" altLang="zh-CN" dirty="0">
                <a:latin typeface="Arial" panose="020B0604020202020204" pitchFamily="34" charset="0"/>
              </a:rPr>
              <a:t>4. **</a:t>
            </a:r>
            <a:r>
              <a:rPr lang="zh-CN" altLang="en-US" dirty="0">
                <a:latin typeface="Arial" panose="020B0604020202020204" pitchFamily="34" charset="0"/>
              </a:rPr>
              <a:t>设置顶点格式：**使用 </a:t>
            </a:r>
            <a:r>
              <a:rPr lang="en-US" altLang="zh-CN" dirty="0">
                <a:latin typeface="Arial" panose="020B0604020202020204" pitchFamily="34" charset="0"/>
              </a:rPr>
              <a:t>`</a:t>
            </a:r>
            <a:r>
              <a:rPr lang="en-US" altLang="zh-CN" dirty="0" err="1">
                <a:latin typeface="Arial" panose="020B0604020202020204" pitchFamily="34" charset="0"/>
              </a:rPr>
              <a:t>SetFVF</a:t>
            </a:r>
            <a:r>
              <a:rPr lang="en-US" altLang="zh-CN" dirty="0">
                <a:latin typeface="Arial" panose="020B0604020202020204" pitchFamily="34" charset="0"/>
              </a:rPr>
              <a:t>` </a:t>
            </a:r>
            <a:r>
              <a:rPr lang="zh-CN" altLang="en-US" dirty="0">
                <a:latin typeface="Arial" panose="020B0604020202020204" pitchFamily="34" charset="0"/>
              </a:rPr>
              <a:t>函数设置顶点格式，该格式指定顶点数据中每个元素的类型和顺序。本例中使用自定义顶点格式 </a:t>
            </a:r>
            <a:r>
              <a:rPr lang="en-US" altLang="zh-CN" dirty="0">
                <a:latin typeface="Arial" panose="020B0604020202020204" pitchFamily="34" charset="0"/>
              </a:rPr>
              <a:t>`D3DFVF_MYVERTEX`</a:t>
            </a:r>
            <a:r>
              <a:rPr lang="zh-CN" altLang="en-US" dirty="0">
                <a:latin typeface="Arial" panose="020B0604020202020204" pitchFamily="34" charset="0"/>
              </a:rPr>
              <a:t>。</a:t>
            </a:r>
            <a:endParaRPr lang="zh-CN" altLang="en-US" dirty="0">
              <a:latin typeface="Arial" panose="020B0604020202020204" pitchFamily="34" charset="0"/>
            </a:endParaRPr>
          </a:p>
          <a:p>
            <a:r>
              <a:rPr lang="en-US" altLang="zh-CN" dirty="0">
                <a:latin typeface="Arial" panose="020B0604020202020204" pitchFamily="34" charset="0"/>
              </a:rPr>
              <a:t>5. **</a:t>
            </a:r>
            <a:r>
              <a:rPr lang="zh-CN" altLang="en-US" dirty="0">
                <a:latin typeface="Arial" panose="020B0604020202020204" pitchFamily="34" charset="0"/>
              </a:rPr>
              <a:t>绘制图元：**使用 </a:t>
            </a:r>
            <a:r>
              <a:rPr lang="en-US" altLang="zh-CN" dirty="0">
                <a:latin typeface="Arial" panose="020B0604020202020204" pitchFamily="34" charset="0"/>
              </a:rPr>
              <a:t>`</a:t>
            </a:r>
            <a:r>
              <a:rPr lang="en-US" altLang="zh-CN" dirty="0" err="1">
                <a:latin typeface="Arial" panose="020B0604020202020204" pitchFamily="34" charset="0"/>
              </a:rPr>
              <a:t>DrawPrimitive</a:t>
            </a:r>
            <a:r>
              <a:rPr lang="en-US" altLang="zh-CN" dirty="0">
                <a:latin typeface="Arial" panose="020B0604020202020204" pitchFamily="34" charset="0"/>
              </a:rPr>
              <a:t>` </a:t>
            </a:r>
            <a:r>
              <a:rPr lang="zh-CN" altLang="en-US" dirty="0">
                <a:latin typeface="Arial" panose="020B0604020202020204" pitchFamily="34" charset="0"/>
              </a:rPr>
              <a:t>函数绘制一系列图元，在本例中为三角形带（</a:t>
            </a:r>
            <a:r>
              <a:rPr lang="en-US" altLang="zh-CN" dirty="0">
                <a:latin typeface="Arial" panose="020B0604020202020204" pitchFamily="34" charset="0"/>
              </a:rPr>
              <a:t>`D3DPT_TRIANGLESTRIP`</a:t>
            </a:r>
            <a:r>
              <a:rPr lang="zh-CN" altLang="en-US" dirty="0">
                <a:latin typeface="Arial" panose="020B0604020202020204" pitchFamily="34" charset="0"/>
              </a:rPr>
              <a:t>）。它指定要绘制 </a:t>
            </a:r>
            <a:r>
              <a:rPr lang="en-US" altLang="zh-CN" dirty="0">
                <a:latin typeface="Arial" panose="020B0604020202020204" pitchFamily="34" charset="0"/>
              </a:rPr>
              <a:t>6 </a:t>
            </a:r>
            <a:r>
              <a:rPr lang="zh-CN" altLang="en-US" dirty="0">
                <a:latin typeface="Arial" panose="020B0604020202020204" pitchFamily="34" charset="0"/>
              </a:rPr>
              <a:t>个图元（对应于 </a:t>
            </a:r>
            <a:r>
              <a:rPr lang="en-US" altLang="zh-CN" dirty="0">
                <a:latin typeface="Arial" panose="020B0604020202020204" pitchFamily="34" charset="0"/>
              </a:rPr>
              <a:t>3 </a:t>
            </a:r>
            <a:r>
              <a:rPr lang="zh-CN" altLang="en-US" dirty="0">
                <a:latin typeface="Arial" panose="020B0604020202020204" pitchFamily="34" charset="0"/>
              </a:rPr>
              <a:t>个三角形）。</a:t>
            </a:r>
            <a:endParaRPr lang="zh-CN" altLang="en-US" dirty="0">
              <a:latin typeface="Arial" panose="020B0604020202020204" pitchFamily="34" charset="0"/>
            </a:endParaRPr>
          </a:p>
          <a:p>
            <a:r>
              <a:rPr lang="en-US" altLang="zh-CN" dirty="0">
                <a:latin typeface="Arial" panose="020B0604020202020204" pitchFamily="34" charset="0"/>
              </a:rPr>
              <a:t>6. **</a:t>
            </a:r>
            <a:r>
              <a:rPr lang="zh-CN" altLang="en-US" dirty="0">
                <a:latin typeface="Arial" panose="020B0604020202020204" pitchFamily="34" charset="0"/>
              </a:rPr>
              <a:t>结束场景：**使用 </a:t>
            </a:r>
            <a:r>
              <a:rPr lang="en-US" altLang="zh-CN" dirty="0">
                <a:latin typeface="Arial" panose="020B0604020202020204" pitchFamily="34" charset="0"/>
              </a:rPr>
              <a:t>`</a:t>
            </a:r>
            <a:r>
              <a:rPr lang="en-US" altLang="zh-CN" dirty="0" err="1">
                <a:latin typeface="Arial" panose="020B0604020202020204" pitchFamily="34" charset="0"/>
              </a:rPr>
              <a:t>EndScene</a:t>
            </a:r>
            <a:r>
              <a:rPr lang="en-US" altLang="zh-CN" dirty="0">
                <a:latin typeface="Arial" panose="020B0604020202020204" pitchFamily="34" charset="0"/>
              </a:rPr>
              <a:t>` </a:t>
            </a:r>
            <a:r>
              <a:rPr lang="zh-CN" altLang="en-US" dirty="0">
                <a:latin typeface="Arial" panose="020B0604020202020204" pitchFamily="34" charset="0"/>
              </a:rPr>
              <a:t>函数结束渲染场景。</a:t>
            </a:r>
            <a:endParaRPr lang="zh-CN" altLang="en-US" dirty="0">
              <a:latin typeface="Arial" panose="020B0604020202020204" pitchFamily="34" charset="0"/>
            </a:endParaRPr>
          </a:p>
          <a:p>
            <a:r>
              <a:rPr lang="en-US" altLang="zh-CN" dirty="0">
                <a:latin typeface="Arial" panose="020B0604020202020204" pitchFamily="34" charset="0"/>
              </a:rPr>
              <a:t>7. **</a:t>
            </a:r>
            <a:r>
              <a:rPr lang="zh-CN" altLang="en-US" dirty="0">
                <a:latin typeface="Arial" panose="020B0604020202020204" pitchFamily="34" charset="0"/>
              </a:rPr>
              <a:t>显示帧：**使用 </a:t>
            </a:r>
            <a:r>
              <a:rPr lang="en-US" altLang="zh-CN" dirty="0">
                <a:latin typeface="Arial" panose="020B0604020202020204" pitchFamily="34" charset="0"/>
              </a:rPr>
              <a:t>`Present` </a:t>
            </a:r>
            <a:r>
              <a:rPr lang="zh-CN" altLang="en-US" dirty="0">
                <a:latin typeface="Arial" panose="020B0604020202020204" pitchFamily="34" charset="0"/>
              </a:rPr>
              <a:t>函数将渲染的帧显示到显示器上。它指定使用默认参数（无窗口模式）。</a:t>
            </a:r>
            <a:endParaRPr lang="zh-CN" altLang="en-US" dirty="0">
              <a:latin typeface="Arial" panose="020B0604020202020204" pitchFamily="34" charset="0"/>
            </a:endParaRPr>
          </a:p>
          <a:p>
            <a:r>
              <a:rPr lang="zh-CN" altLang="en-US" dirty="0">
                <a:latin typeface="Arial" panose="020B0604020202020204" pitchFamily="34" charset="0"/>
              </a:rPr>
              <a:t>总之，这段代码设置渲染状态，加载顶点数据，然后绘制并显示一个由 </a:t>
            </a:r>
            <a:r>
              <a:rPr lang="en-US" altLang="zh-CN" dirty="0">
                <a:latin typeface="Arial" panose="020B0604020202020204" pitchFamily="34" charset="0"/>
              </a:rPr>
              <a:t>3 </a:t>
            </a:r>
            <a:r>
              <a:rPr lang="zh-CN" altLang="en-US" dirty="0">
                <a:latin typeface="Arial" panose="020B0604020202020204" pitchFamily="34" charset="0"/>
              </a:rPr>
              <a:t>个三角形组成的网格。</a:t>
            </a:r>
            <a:endParaRPr lang="zh-CN" altLang="en-US" dirty="0">
              <a:latin typeface="Arial" panose="020B0604020202020204" pitchFamily="34" charset="0"/>
            </a:endParaRPr>
          </a:p>
        </p:txBody>
      </p:sp>
      <p:sp>
        <p:nvSpPr>
          <p:cNvPr id="481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B64062B-5016-4E80-930D-2D3881B6A6F6}" type="slidenum">
              <a:rPr lang="zh-CN" altLang="en-US"/>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p:nvPr>
        </p:nvSpPr>
        <p:spPr/>
      </p:sp>
      <p:sp>
        <p:nvSpPr>
          <p:cNvPr id="5017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HAL</a:t>
            </a:r>
            <a:r>
              <a:rPr lang="zh-CN" altLang="en-US">
                <a:latin typeface="Arial" panose="020B0604020202020204" pitchFamily="34" charset="0"/>
              </a:rPr>
              <a:t>的全称是”硬件抽象层</a:t>
            </a:r>
            <a:r>
              <a:rPr lang="en-US" altLang="zh-CN">
                <a:latin typeface="Arial" panose="020B0604020202020204" pitchFamily="34" charset="0"/>
              </a:rPr>
              <a:t>(Hardware Abstraction Layer)".</a:t>
            </a:r>
            <a:r>
              <a:rPr lang="zh-CN" altLang="en-US">
                <a:latin typeface="Arial" panose="020B0604020202020204" pitchFamily="34" charset="0"/>
              </a:rPr>
              <a:t>它位于操作</a:t>
            </a:r>
            <a:br>
              <a:rPr lang="zh-CN" altLang="en-US">
                <a:latin typeface="Arial" panose="020B0604020202020204" pitchFamily="34" charset="0"/>
              </a:rPr>
            </a:br>
            <a:r>
              <a:rPr lang="zh-CN" altLang="en-US">
                <a:latin typeface="Arial" panose="020B0604020202020204" pitchFamily="34" charset="0"/>
              </a:rPr>
              <a:t>系统和桌面软件之间</a:t>
            </a:r>
            <a:r>
              <a:rPr lang="en-US" altLang="zh-CN">
                <a:latin typeface="Arial" panose="020B0604020202020204" pitchFamily="34" charset="0"/>
              </a:rPr>
              <a:t>,</a:t>
            </a:r>
            <a:r>
              <a:rPr lang="zh-CN" altLang="en-US">
                <a:latin typeface="Arial" panose="020B0604020202020204" pitchFamily="34" charset="0"/>
              </a:rPr>
              <a:t>负责将硬件信息传递给上层的桌面软件</a:t>
            </a:r>
            <a:r>
              <a:rPr lang="en-US" altLang="zh-CN">
                <a:latin typeface="Arial" panose="020B0604020202020204" pitchFamily="34" charset="0"/>
              </a:rPr>
              <a:t>.</a:t>
            </a:r>
            <a:br>
              <a:rPr lang="en-US" altLang="zh-CN">
                <a:latin typeface="Arial" panose="020B0604020202020204" pitchFamily="34" charset="0"/>
              </a:rPr>
            </a:br>
            <a:endParaRPr lang="zh-CN" altLang="en-US">
              <a:latin typeface="Arial" panose="020B0604020202020204" pitchFamily="34" charset="0"/>
            </a:endParaRPr>
          </a:p>
        </p:txBody>
      </p:sp>
      <p:sp>
        <p:nvSpPr>
          <p:cNvPr id="5018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F369F1B-78D4-4C11-AA1C-0E4C0E0CB413}" type="slidenum">
              <a:rPr lang="zh-CN" altLang="en-US"/>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ChangeArrowheads="1" noTextEdit="1"/>
          </p:cNvSpPr>
          <p:nvPr>
            <p:ph type="sldImg"/>
          </p:nvPr>
        </p:nvSpPr>
        <p:spPr/>
      </p:sp>
      <p:sp>
        <p:nvSpPr>
          <p:cNvPr id="522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HAL</a:t>
            </a:r>
            <a:r>
              <a:rPr lang="zh-CN" altLang="en-US">
                <a:latin typeface="Arial" panose="020B0604020202020204" pitchFamily="34" charset="0"/>
              </a:rPr>
              <a:t>的全称是”硬件抽象层</a:t>
            </a:r>
            <a:r>
              <a:rPr lang="en-US" altLang="zh-CN">
                <a:latin typeface="Arial" panose="020B0604020202020204" pitchFamily="34" charset="0"/>
              </a:rPr>
              <a:t>(Hardware Abstraction Layer)".</a:t>
            </a:r>
            <a:r>
              <a:rPr lang="zh-CN" altLang="en-US">
                <a:latin typeface="Arial" panose="020B0604020202020204" pitchFamily="34" charset="0"/>
              </a:rPr>
              <a:t>它位于操作</a:t>
            </a:r>
            <a:br>
              <a:rPr lang="zh-CN" altLang="en-US">
                <a:latin typeface="Arial" panose="020B0604020202020204" pitchFamily="34" charset="0"/>
              </a:rPr>
            </a:br>
            <a:r>
              <a:rPr lang="zh-CN" altLang="en-US">
                <a:latin typeface="Arial" panose="020B0604020202020204" pitchFamily="34" charset="0"/>
              </a:rPr>
              <a:t>系统和桌面软件之间</a:t>
            </a:r>
            <a:r>
              <a:rPr lang="en-US" altLang="zh-CN">
                <a:latin typeface="Arial" panose="020B0604020202020204" pitchFamily="34" charset="0"/>
              </a:rPr>
              <a:t>,</a:t>
            </a:r>
            <a:r>
              <a:rPr lang="zh-CN" altLang="en-US">
                <a:latin typeface="Arial" panose="020B0604020202020204" pitchFamily="34" charset="0"/>
              </a:rPr>
              <a:t>负责将硬件信息传递给上层的桌面软件</a:t>
            </a:r>
            <a:r>
              <a:rPr lang="en-US" altLang="zh-CN">
                <a:latin typeface="Arial" panose="020B0604020202020204" pitchFamily="34" charset="0"/>
              </a:rPr>
              <a:t>.</a:t>
            </a:r>
            <a:br>
              <a:rPr lang="en-US" altLang="zh-CN">
                <a:latin typeface="Arial" panose="020B0604020202020204" pitchFamily="34" charset="0"/>
              </a:rPr>
            </a:br>
            <a:endParaRPr lang="zh-CN" altLang="en-US">
              <a:latin typeface="Arial" panose="020B0604020202020204" pitchFamily="34" charset="0"/>
            </a:endParaRPr>
          </a:p>
        </p:txBody>
      </p:sp>
      <p:sp>
        <p:nvSpPr>
          <p:cNvPr id="522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598E680-4842-4BB3-96BC-F70F9CD662FA}" type="slidenum">
              <a:rPr lang="zh-CN" altLang="en-US"/>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D257427F-83F0-4DD9-A121-DC35805B9101}" type="datetime10">
              <a:rPr lang="zh-CN" altLang="en-US"/>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zh-CN" altLang="en-US"/>
              <a:t>Overview</a:t>
            </a:r>
            <a:endParaRPr lang="en-US" altLang="zh-CN"/>
          </a:p>
        </p:txBody>
      </p:sp>
      <p:sp>
        <p:nvSpPr>
          <p:cNvPr id="6" name="Rectangle 6"/>
          <p:cNvSpPr>
            <a:spLocks noGrp="1" noChangeArrowheads="1"/>
          </p:cNvSpPr>
          <p:nvPr>
            <p:ph type="sldNum" sz="quarter" idx="12"/>
          </p:nvPr>
        </p:nvSpPr>
        <p:spPr/>
        <p:txBody>
          <a:bodyPr/>
          <a:lstStyle>
            <a:lvl1pPr>
              <a:defRPr smtClean="0"/>
            </a:lvl1pPr>
          </a:lstStyle>
          <a:p>
            <a:pPr>
              <a:defRPr/>
            </a:pPr>
            <a:fld id="{1BE19B1E-B419-4157-9110-66C0C7FEBF7F}" type="slidenum">
              <a:rPr lang="zh-CN" altLang="en-US"/>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5DDBD549-05AB-4D06-B757-EB89A3B7DD96}" type="datetime10">
              <a:rPr lang="zh-CN" altLang="en-US"/>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zh-CN" altLang="en-US"/>
              <a:t>Overview</a:t>
            </a:r>
            <a:endParaRPr lang="en-US" altLang="zh-CN"/>
          </a:p>
        </p:txBody>
      </p:sp>
      <p:sp>
        <p:nvSpPr>
          <p:cNvPr id="6" name="Rectangle 6"/>
          <p:cNvSpPr>
            <a:spLocks noGrp="1" noChangeArrowheads="1"/>
          </p:cNvSpPr>
          <p:nvPr>
            <p:ph type="sldNum" sz="quarter" idx="12"/>
          </p:nvPr>
        </p:nvSpPr>
        <p:spPr/>
        <p:txBody>
          <a:bodyPr/>
          <a:lstStyle>
            <a:lvl1pPr>
              <a:defRPr smtClean="0"/>
            </a:lvl1pPr>
          </a:lstStyle>
          <a:p>
            <a:pPr>
              <a:defRPr/>
            </a:pPr>
            <a:fld id="{60B64C44-2FAC-463C-B476-F18134CB4F2F}" type="slidenum">
              <a:rPr lang="zh-CN" altLang="en-US"/>
            </a:fld>
            <a:r>
              <a:rPr lang="en-US" altLang="zh-CN"/>
              <a:t> /41</a:t>
            </a: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fld id="{C4FDE996-1DF8-415A-8DA0-FC0FA6F804C4}" type="datetime10">
              <a:rPr lang="zh-CN" altLang="en-US"/>
            </a:fld>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r>
              <a:rPr lang="zh-CN" altLang="en-US"/>
              <a:t>Overview</a:t>
            </a:r>
            <a:endParaRPr lang="en-US" altLang="zh-CN"/>
          </a:p>
        </p:txBody>
      </p:sp>
      <p:sp>
        <p:nvSpPr>
          <p:cNvPr id="4" name="Rectangle 6"/>
          <p:cNvSpPr>
            <a:spLocks noGrp="1" noChangeArrowheads="1"/>
          </p:cNvSpPr>
          <p:nvPr>
            <p:ph type="sldNum" sz="quarter" idx="12"/>
          </p:nvPr>
        </p:nvSpPr>
        <p:spPr/>
        <p:txBody>
          <a:bodyPr/>
          <a:lstStyle>
            <a:lvl1pPr>
              <a:defRPr smtClean="0"/>
            </a:lvl1pPr>
          </a:lstStyle>
          <a:p>
            <a:pPr>
              <a:defRPr/>
            </a:pPr>
            <a:fld id="{4F181B98-154D-4C91-8F2D-3A9538B51698}" type="slidenum">
              <a:rPr lang="zh-CN" altLang="en-US"/>
            </a:fld>
            <a:r>
              <a:rPr lang="en-US" altLang="zh-CN"/>
              <a:t> /41</a:t>
            </a: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52400" y="76200"/>
            <a:ext cx="8763000" cy="9144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28600" y="1219200"/>
            <a:ext cx="4305300" cy="5181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86300" y="1219200"/>
            <a:ext cx="4305300" cy="5181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fld id="{FA2139F1-25E8-4DA1-B076-E550FE0F5668}" type="datetime10">
              <a:rPr lang="zh-CN" altLang="en-US"/>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r>
              <a:rPr lang="zh-CN" altLang="en-US"/>
              <a:t>Overview</a:t>
            </a:r>
            <a:endParaRPr lang="en-US" altLang="zh-CN"/>
          </a:p>
        </p:txBody>
      </p:sp>
      <p:sp>
        <p:nvSpPr>
          <p:cNvPr id="7" name="Rectangle 6"/>
          <p:cNvSpPr>
            <a:spLocks noGrp="1" noChangeArrowheads="1"/>
          </p:cNvSpPr>
          <p:nvPr>
            <p:ph type="sldNum" sz="quarter" idx="12"/>
          </p:nvPr>
        </p:nvSpPr>
        <p:spPr/>
        <p:txBody>
          <a:bodyPr/>
          <a:lstStyle>
            <a:lvl1pPr>
              <a:defRPr smtClean="0"/>
            </a:lvl1pPr>
          </a:lstStyle>
          <a:p>
            <a:pPr>
              <a:defRPr/>
            </a:pPr>
            <a:fld id="{3FC70200-105E-499C-BCA6-27C61F7E5AB7}" type="slidenum">
              <a:rPr lang="zh-CN" altLang="en-US"/>
            </a:fld>
            <a:r>
              <a:rPr lang="en-US" altLang="zh-CN"/>
              <a:t> /41</a:t>
            </a: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1.pn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52400" y="76200"/>
            <a:ext cx="8763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zh-CN"/>
              <a:t>Click to edit Master title style</a:t>
            </a:r>
            <a:endParaRPr lang="en-US" altLang="zh-CN"/>
          </a:p>
        </p:txBody>
      </p:sp>
      <p:sp>
        <p:nvSpPr>
          <p:cNvPr id="1027" name="Rectangle 3"/>
          <p:cNvSpPr>
            <a:spLocks noGrp="1" noChangeArrowheads="1"/>
          </p:cNvSpPr>
          <p:nvPr>
            <p:ph type="body" idx="1"/>
          </p:nvPr>
        </p:nvSpPr>
        <p:spPr bwMode="auto">
          <a:xfrm>
            <a:off x="228600" y="1219200"/>
            <a:ext cx="87630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2" name="Rectangle 4"/>
          <p:cNvSpPr>
            <a:spLocks noGrp="1" noChangeArrowheads="1"/>
          </p:cNvSpPr>
          <p:nvPr>
            <p:ph type="dt" sz="half" idx="2"/>
          </p:nvPr>
        </p:nvSpPr>
        <p:spPr bwMode="auto">
          <a:xfrm>
            <a:off x="457200" y="6461125"/>
            <a:ext cx="2133600" cy="320675"/>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ea typeface="宋体" panose="02010600030101010101" pitchFamily="2" charset="-122"/>
              </a:defRPr>
            </a:lvl1pPr>
          </a:lstStyle>
          <a:p>
            <a:pPr>
              <a:defRPr/>
            </a:pPr>
            <a:fld id="{E856A2BD-A3CD-47EB-82E7-729CB9438B51}" type="datetime10">
              <a:rPr lang="zh-CN" altLang="en-US"/>
            </a:fld>
            <a:endParaRPr lang="en-US" altLang="zh-CN"/>
          </a:p>
        </p:txBody>
      </p:sp>
      <p:sp>
        <p:nvSpPr>
          <p:cNvPr id="3" name="Rectangle 5"/>
          <p:cNvSpPr>
            <a:spLocks noGrp="1" noChangeArrowheads="1"/>
          </p:cNvSpPr>
          <p:nvPr>
            <p:ph type="ftr" sz="quarter" idx="3"/>
          </p:nvPr>
        </p:nvSpPr>
        <p:spPr bwMode="auto">
          <a:xfrm>
            <a:off x="3124200" y="6461125"/>
            <a:ext cx="2895600" cy="320675"/>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a:defRPr/>
            </a:pPr>
            <a:r>
              <a:rPr lang="zh-CN" altLang="en-US"/>
              <a:t>Overview</a:t>
            </a:r>
            <a:endParaRPr lang="en-US" altLang="zh-CN"/>
          </a:p>
        </p:txBody>
      </p:sp>
      <p:sp>
        <p:nvSpPr>
          <p:cNvPr id="1030" name="Rectangle 6"/>
          <p:cNvSpPr>
            <a:spLocks noGrp="1" noChangeArrowheads="1"/>
          </p:cNvSpPr>
          <p:nvPr>
            <p:ph type="sldNum" sz="quarter" idx="4"/>
          </p:nvPr>
        </p:nvSpPr>
        <p:spPr bwMode="auto">
          <a:xfrm>
            <a:off x="6553200" y="6461125"/>
            <a:ext cx="2133600" cy="320675"/>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smtClean="0">
                <a:ea typeface="宋体" panose="02010600030101010101" pitchFamily="2" charset="-122"/>
              </a:defRPr>
            </a:lvl1pPr>
          </a:lstStyle>
          <a:p>
            <a:pPr>
              <a:defRPr/>
            </a:pPr>
            <a:fld id="{CCC48BD8-B159-4596-9876-E4BBA2054798}" type="slidenum">
              <a:rPr lang="zh-CN" altLang="en-US"/>
            </a:fld>
            <a:r>
              <a:rPr lang="en-US" altLang="zh-CN"/>
              <a:t>/41</a:t>
            </a:r>
            <a:endParaRPr lang="en-US" altLang="zh-CN"/>
          </a:p>
        </p:txBody>
      </p:sp>
      <p:pic>
        <p:nvPicPr>
          <p:cNvPr id="1031"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52400" y="152400"/>
            <a:ext cx="10668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Line 9"/>
          <p:cNvSpPr>
            <a:spLocks noChangeShapeType="1"/>
          </p:cNvSpPr>
          <p:nvPr userDrawn="1"/>
        </p:nvSpPr>
        <p:spPr bwMode="auto">
          <a:xfrm>
            <a:off x="609600" y="990600"/>
            <a:ext cx="6172200" cy="0"/>
          </a:xfrm>
          <a:prstGeom prst="line">
            <a:avLst/>
          </a:prstGeom>
          <a:noFill/>
          <a:ln w="508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p:txStyles>
    <p:titleStyle>
      <a:lvl1pPr algn="ctr" rtl="0" eaLnBrk="0" fontAlgn="base" hangingPunct="0">
        <a:spcBef>
          <a:spcPct val="0"/>
        </a:spcBef>
        <a:spcAft>
          <a:spcPct val="0"/>
        </a:spcAft>
        <a:defRPr sz="4400">
          <a:solidFill>
            <a:schemeClr val="accent2"/>
          </a:solidFill>
          <a:latin typeface="+mj-lt"/>
          <a:ea typeface="+mj-ea"/>
          <a:cs typeface="+mj-cs"/>
        </a:defRPr>
      </a:lvl1pPr>
      <a:lvl2pPr algn="ctr" rtl="0" eaLnBrk="0" fontAlgn="base" hangingPunct="0">
        <a:spcBef>
          <a:spcPct val="0"/>
        </a:spcBef>
        <a:spcAft>
          <a:spcPct val="0"/>
        </a:spcAft>
        <a:defRPr sz="4400">
          <a:solidFill>
            <a:schemeClr val="accent2"/>
          </a:solidFill>
          <a:latin typeface="Arial" panose="020B0604020202020204" pitchFamily="34" charset="0"/>
        </a:defRPr>
      </a:lvl2pPr>
      <a:lvl3pPr algn="ctr" rtl="0" eaLnBrk="0" fontAlgn="base" hangingPunct="0">
        <a:spcBef>
          <a:spcPct val="0"/>
        </a:spcBef>
        <a:spcAft>
          <a:spcPct val="0"/>
        </a:spcAft>
        <a:defRPr sz="4400">
          <a:solidFill>
            <a:schemeClr val="accent2"/>
          </a:solidFill>
          <a:latin typeface="Arial" panose="020B0604020202020204" pitchFamily="34" charset="0"/>
        </a:defRPr>
      </a:lvl3pPr>
      <a:lvl4pPr algn="ctr" rtl="0" eaLnBrk="0" fontAlgn="base" hangingPunct="0">
        <a:spcBef>
          <a:spcPct val="0"/>
        </a:spcBef>
        <a:spcAft>
          <a:spcPct val="0"/>
        </a:spcAft>
        <a:defRPr sz="4400">
          <a:solidFill>
            <a:schemeClr val="accent2"/>
          </a:solidFill>
          <a:latin typeface="Arial" panose="020B0604020202020204" pitchFamily="34" charset="0"/>
        </a:defRPr>
      </a:lvl4pPr>
      <a:lvl5pPr algn="ctr" rtl="0" eaLnBrk="0" fontAlgn="base" hangingPunct="0">
        <a:spcBef>
          <a:spcPct val="0"/>
        </a:spcBef>
        <a:spcAft>
          <a:spcPct val="0"/>
        </a:spcAft>
        <a:defRPr sz="4400">
          <a:solidFill>
            <a:schemeClr val="accent2"/>
          </a:solidFill>
          <a:latin typeface="Arial" panose="020B0604020202020204" pitchFamily="34" charset="0"/>
        </a:defRPr>
      </a:lvl5pPr>
      <a:lvl6pPr marL="457200" algn="ctr" rtl="0" fontAlgn="base">
        <a:spcBef>
          <a:spcPct val="0"/>
        </a:spcBef>
        <a:spcAft>
          <a:spcPct val="0"/>
        </a:spcAft>
        <a:defRPr sz="4400">
          <a:solidFill>
            <a:schemeClr val="accent2"/>
          </a:solidFill>
          <a:latin typeface="Arial" panose="020B0604020202020204" pitchFamily="34" charset="0"/>
        </a:defRPr>
      </a:lvl6pPr>
      <a:lvl7pPr marL="914400" algn="ctr" rtl="0" fontAlgn="base">
        <a:spcBef>
          <a:spcPct val="0"/>
        </a:spcBef>
        <a:spcAft>
          <a:spcPct val="0"/>
        </a:spcAft>
        <a:defRPr sz="4400">
          <a:solidFill>
            <a:schemeClr val="accent2"/>
          </a:solidFill>
          <a:latin typeface="Arial" panose="020B0604020202020204" pitchFamily="34" charset="0"/>
        </a:defRPr>
      </a:lvl7pPr>
      <a:lvl8pPr marL="1371600" algn="ctr" rtl="0" fontAlgn="base">
        <a:spcBef>
          <a:spcPct val="0"/>
        </a:spcBef>
        <a:spcAft>
          <a:spcPct val="0"/>
        </a:spcAft>
        <a:defRPr sz="4400">
          <a:solidFill>
            <a:schemeClr val="accent2"/>
          </a:solidFill>
          <a:latin typeface="Arial" panose="020B0604020202020204" pitchFamily="34" charset="0"/>
        </a:defRPr>
      </a:lvl8pPr>
      <a:lvl9pPr marL="1828800" algn="ctr" rtl="0" fontAlgn="base">
        <a:spcBef>
          <a:spcPct val="0"/>
        </a:spcBef>
        <a:spcAft>
          <a:spcPct val="0"/>
        </a:spcAft>
        <a:defRPr sz="4400">
          <a:solidFill>
            <a:schemeClr val="accent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vmlDrawing" Target="../drawings/vmlDrawing1.v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3.xml"/><Relationship Id="rId2" Type="http://schemas.openxmlformats.org/officeDocument/2006/relationships/image" Target="../media/image4.emf"/><Relationship Id="rId1"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jpeg"/><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3.xml"/><Relationship Id="rId3" Type="http://schemas.openxmlformats.org/officeDocument/2006/relationships/image" Target="../media/image8.jpeg"/><Relationship Id="rId2" Type="http://schemas.openxmlformats.org/officeDocument/2006/relationships/image" Target="../media/image7.emf"/><Relationship Id="rId1"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3.xml"/><Relationship Id="rId2" Type="http://schemas.openxmlformats.org/officeDocument/2006/relationships/image" Target="../media/image11.jpeg"/><Relationship Id="rId1" Type="http://schemas.openxmlformats.org/officeDocument/2006/relationships/image" Target="../media/image10.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12.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xml"/><Relationship Id="rId2" Type="http://schemas.openxmlformats.org/officeDocument/2006/relationships/image" Target="../media/image14.jpeg"/><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6.jpeg"/><Relationship Id="rId1" Type="http://schemas.openxmlformats.org/officeDocument/2006/relationships/image" Target="../media/image15.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3.xml"/><Relationship Id="rId2" Type="http://schemas.openxmlformats.org/officeDocument/2006/relationships/image" Target="../media/image18.jpeg"/><Relationship Id="rId1" Type="http://schemas.openxmlformats.org/officeDocument/2006/relationships/image" Target="../media/image17.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image" Target="../media/image2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3.xml"/><Relationship Id="rId2" Type="http://schemas.openxmlformats.org/officeDocument/2006/relationships/image" Target="../media/image24.wmf"/><Relationship Id="rId1" Type="http://schemas.openxmlformats.org/officeDocument/2006/relationships/oleObject" Target="../embeddings/oleObject4.bin"/></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image" Target="../media/image25.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4.xml"/><Relationship Id="rId4" Type="http://schemas.openxmlformats.org/officeDocument/2006/relationships/image" Target="../media/image32.emf"/><Relationship Id="rId3" Type="http://schemas.openxmlformats.org/officeDocument/2006/relationships/oleObject" Target="../embeddings/oleObject6.bin"/><Relationship Id="rId2" Type="http://schemas.openxmlformats.org/officeDocument/2006/relationships/image" Target="../media/image31.emf"/><Relationship Id="rId1" Type="http://schemas.openxmlformats.org/officeDocument/2006/relationships/oleObject" Target="../embeddings/oleObject5.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3.xml"/><Relationship Id="rId2" Type="http://schemas.openxmlformats.org/officeDocument/2006/relationships/image" Target="../media/image35.png"/><Relationship Id="rId1" Type="http://schemas.openxmlformats.org/officeDocument/2006/relationships/image" Target="../media/image34.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3.xml"/><Relationship Id="rId2" Type="http://schemas.openxmlformats.org/officeDocument/2006/relationships/image" Target="../media/image32.emf"/><Relationship Id="rId1" Type="http://schemas.openxmlformats.org/officeDocument/2006/relationships/oleObject" Target="../embeddings/oleObject7.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3"/>
          <p:cNvGraphicFramePr>
            <a:graphicFrameLocks noChangeAspect="1"/>
          </p:cNvGraphicFramePr>
          <p:nvPr/>
        </p:nvGraphicFramePr>
        <p:xfrm>
          <a:off x="1681163" y="1600200"/>
          <a:ext cx="5861050" cy="3581400"/>
        </p:xfrm>
        <a:graphic>
          <a:graphicData uri="http://schemas.openxmlformats.org/presentationml/2006/ole">
            <mc:AlternateContent xmlns:mc="http://schemas.openxmlformats.org/markup-compatibility/2006">
              <mc:Choice xmlns:v="urn:schemas-microsoft-com:vml" Requires="v">
                <p:oleObj spid="_x0000_s55407" name="Image" r:id="rId1" imgW="7048500" imgH="3975100" progId="Photoshop.Image.7">
                  <p:embed/>
                </p:oleObj>
              </mc:Choice>
              <mc:Fallback>
                <p:oleObj name="Image" r:id="rId1" imgW="7048500" imgH="3975100" progId="Photoshop.Image.7">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1163" y="1600200"/>
                        <a:ext cx="586105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3" name="Rectangle 4"/>
          <p:cNvSpPr>
            <a:spLocks noGrp="1" noChangeArrowheads="1"/>
          </p:cNvSpPr>
          <p:nvPr>
            <p:ph type="ctrTitle"/>
          </p:nvPr>
        </p:nvSpPr>
        <p:spPr>
          <a:xfrm>
            <a:off x="1828800" y="152400"/>
            <a:ext cx="4953000" cy="762000"/>
          </a:xfrm>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图形系统</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124" name="Rectangle 5"/>
          <p:cNvSpPr>
            <a:spLocks noChangeArrowheads="1"/>
          </p:cNvSpPr>
          <p:nvPr/>
        </p:nvSpPr>
        <p:spPr bwMode="auto">
          <a:xfrm>
            <a:off x="3810000" y="1066800"/>
            <a:ext cx="289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pPr>
            <a:r>
              <a:rPr lang="zh-CN" altLang="en-US" sz="2800" dirty="0">
                <a:solidFill>
                  <a:schemeClr val="accent2"/>
                </a:solidFill>
                <a:latin typeface="微软雅黑" panose="020B0503020204020204" pitchFamily="34" charset="-122"/>
                <a:ea typeface="微软雅黑" panose="020B0503020204020204" pitchFamily="34" charset="-122"/>
              </a:rPr>
              <a:t>计算机图形学</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0C3DD46-68C4-48C2-99F1-8132C0FE2618}" type="slidenum">
              <a:rPr lang="zh-CN" altLang="en-US" sz="1400">
                <a:latin typeface="Arial" panose="020B0604020202020204" pitchFamily="34" charset="0"/>
              </a:rPr>
            </a:fld>
            <a:endParaRPr lang="en-US" altLang="zh-CN" sz="1400">
              <a:latin typeface="Arial" panose="020B0604020202020204" pitchFamily="34" charset="0"/>
            </a:endParaRPr>
          </a:p>
        </p:txBody>
      </p:sp>
      <p:sp>
        <p:nvSpPr>
          <p:cNvPr id="9" name="页脚占位符 4"/>
          <p:cNvSpPr txBox="1">
            <a:spLocks noGrp="1"/>
          </p:cNvSpPr>
          <p:nvPr/>
        </p:nvSpPr>
        <p:spPr bwMode="auto">
          <a:xfrm>
            <a:off x="3124200" y="6461125"/>
            <a:ext cx="2895600" cy="320675"/>
          </a:xfrm>
          <a:prstGeom prst="rect">
            <a:avLst/>
          </a:prstGeom>
          <a:noFill/>
          <a:ln>
            <a:miter lim="800000"/>
          </a:ln>
        </p:spPr>
        <p:txBody>
          <a:bodyPr/>
          <a:lstStyle/>
          <a:p>
            <a:pPr algn="ctr" eaLnBrk="1" hangingPunct="1">
              <a:defRPr/>
            </a:pPr>
            <a:r>
              <a:rPr lang="zh-CN" altLang="en-US" sz="1400">
                <a:latin typeface="+mj-lt"/>
                <a:ea typeface="宋体" panose="02010600030101010101" pitchFamily="2" charset="-122"/>
              </a:rPr>
              <a:t>HPU</a:t>
            </a:r>
            <a:endParaRPr lang="en-US" altLang="zh-CN" sz="1400">
              <a:latin typeface="+mj-lt"/>
              <a:ea typeface="宋体" panose="02010600030101010101" pitchFamily="2" charset="-122"/>
            </a:endParaRPr>
          </a:p>
        </p:txBody>
      </p:sp>
      <p:sp>
        <p:nvSpPr>
          <p:cNvPr id="10244" name="灯片编号占位符 5"/>
          <p:cNvSpPr txBox="1">
            <a:spLocks noGrp="1" noChangeArrowheads="1"/>
          </p:cNvSpPr>
          <p:nvPr/>
        </p:nvSpPr>
        <p:spPr bwMode="auto">
          <a:xfrm>
            <a:off x="6553200" y="6461125"/>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pPr>
            <a:fld id="{F1E2816A-0C5C-4B4A-9D9F-73019589DB10}" type="slidenum">
              <a:rPr lang="zh-CN" altLang="en-US" sz="1400">
                <a:latin typeface="Arial" panose="020B0604020202020204" pitchFamily="34" charset="0"/>
                <a:ea typeface="宋体" panose="02010600030101010101" pitchFamily="2" charset="-122"/>
              </a:rPr>
            </a:fld>
            <a:endParaRPr lang="en-US" altLang="zh-CN" sz="1400">
              <a:latin typeface="Arial" panose="020B0604020202020204" pitchFamily="34" charset="0"/>
              <a:ea typeface="宋体" panose="02010600030101010101" pitchFamily="2" charset="-122"/>
            </a:endParaRPr>
          </a:p>
        </p:txBody>
      </p:sp>
      <p:sp>
        <p:nvSpPr>
          <p:cNvPr id="10245" name="Rectangle 2"/>
          <p:cNvSpPr>
            <a:spLocks noGrp="1" noChangeArrowheads="1"/>
          </p:cNvSpPr>
          <p:nvPr>
            <p:ph type="title" idx="4294967295"/>
          </p:nvPr>
        </p:nvSpPr>
        <p:spPr/>
        <p:txBody>
          <a:bodyPr/>
          <a:lstStyle/>
          <a:p>
            <a:pPr eaLnBrk="1" hangingPunct="1"/>
            <a:r>
              <a:rPr lang="zh-CN" altLang="en-US">
                <a:ea typeface="宋体" panose="02010600030101010101" pitchFamily="2" charset="-122"/>
              </a:rPr>
              <a:t>图形系统</a:t>
            </a:r>
            <a:endParaRPr lang="zh-CN" altLang="en-US">
              <a:ea typeface="宋体" panose="02010600030101010101" pitchFamily="2" charset="-122"/>
            </a:endParaRPr>
          </a:p>
        </p:txBody>
      </p:sp>
      <p:sp>
        <p:nvSpPr>
          <p:cNvPr id="4102" name="Rectangle 3"/>
          <p:cNvSpPr>
            <a:spLocks noGrp="1" noChangeArrowheads="1"/>
          </p:cNvSpPr>
          <p:nvPr>
            <p:ph type="body" idx="4294967295"/>
          </p:nvPr>
        </p:nvSpPr>
        <p:spPr>
          <a:xfrm>
            <a:off x="250825" y="1196975"/>
            <a:ext cx="8642350" cy="5184775"/>
          </a:xfrm>
        </p:spPr>
        <p:txBody>
          <a:bodyPr/>
          <a:lstStyle/>
          <a:p>
            <a:r>
              <a:rPr lang="en-US" altLang="zh-CN" sz="3600" b="1" dirty="0">
                <a:solidFill>
                  <a:schemeClr val="accent2"/>
                </a:solidFill>
                <a:ea typeface="宋体" panose="02010600030101010101" pitchFamily="2" charset="-122"/>
              </a:rPr>
              <a:t>What:</a:t>
            </a:r>
            <a:r>
              <a:rPr lang="zh-CN" altLang="en-US" sz="3600" b="1" dirty="0">
                <a:solidFill>
                  <a:schemeClr val="accent2"/>
                </a:solidFill>
                <a:ea typeface="宋体" panose="02010600030101010101" pitchFamily="2" charset="-122"/>
              </a:rPr>
              <a:t>什么是图形系统</a:t>
            </a:r>
            <a:r>
              <a:rPr lang="en-US" altLang="zh-CN" sz="3600" b="1" dirty="0">
                <a:solidFill>
                  <a:schemeClr val="accent2"/>
                </a:solidFill>
                <a:ea typeface="宋体" panose="02010600030101010101" pitchFamily="2" charset="-122"/>
              </a:rPr>
              <a:t>?</a:t>
            </a:r>
            <a:endParaRPr lang="en-US" altLang="zh-CN" sz="3600" b="1" dirty="0">
              <a:solidFill>
                <a:schemeClr val="accent2"/>
              </a:solidFill>
              <a:ea typeface="宋体" panose="02010600030101010101" pitchFamily="2" charset="-122"/>
            </a:endParaRPr>
          </a:p>
          <a:p>
            <a:r>
              <a:rPr lang="en-US" altLang="zh-CN" sz="3600" dirty="0">
                <a:ea typeface="宋体" panose="02010600030101010101" pitchFamily="2" charset="-122"/>
              </a:rPr>
              <a:t>Why: </a:t>
            </a:r>
            <a:r>
              <a:rPr lang="zh-CN" altLang="en-US" sz="3600" dirty="0">
                <a:ea typeface="宋体" panose="02010600030101010101" pitchFamily="2" charset="-122"/>
              </a:rPr>
              <a:t>为何要了解图形系统</a:t>
            </a:r>
            <a:r>
              <a:rPr lang="en-US" altLang="zh-CN" sz="3600" dirty="0">
                <a:ea typeface="宋体" panose="02010600030101010101" pitchFamily="2" charset="-122"/>
              </a:rPr>
              <a:t>?</a:t>
            </a:r>
            <a:endParaRPr lang="en-US" altLang="zh-CN" sz="3600" dirty="0">
              <a:ea typeface="宋体" panose="02010600030101010101" pitchFamily="2" charset="-122"/>
            </a:endParaRPr>
          </a:p>
          <a:p>
            <a:r>
              <a:rPr lang="en-US" altLang="zh-CN" sz="3600" dirty="0">
                <a:ea typeface="宋体" panose="02010600030101010101" pitchFamily="2" charset="-122"/>
              </a:rPr>
              <a:t>How: </a:t>
            </a:r>
            <a:r>
              <a:rPr lang="zh-CN" altLang="en-US" sz="3600" dirty="0">
                <a:ea typeface="宋体" panose="02010600030101010101" pitchFamily="2" charset="-122"/>
              </a:rPr>
              <a:t>如何使用图形系统？</a:t>
            </a:r>
            <a:endParaRPr lang="en-US" altLang="zh-CN" sz="3600" dirty="0">
              <a:ea typeface="宋体" panose="02010600030101010101" pitchFamily="2" charset="-122"/>
            </a:endParaRPr>
          </a:p>
        </p:txBody>
      </p:sp>
      <p:sp>
        <p:nvSpPr>
          <p:cNvPr id="10247"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A3C7567-0E50-49B6-9037-C4E94C7200A4}" type="datetime10">
              <a:rPr lang="zh-CN" altLang="en-US" sz="1400" smtClean="0">
                <a:latin typeface="Arial" panose="020B0604020202020204" pitchFamily="34" charset="0"/>
              </a:rPr>
            </a:fld>
            <a:endParaRPr lang="en-US" altLang="zh-CN" sz="1400">
              <a:latin typeface="Arial" panose="020B0604020202020204" pitchFamily="34" charset="0"/>
            </a:endParaRPr>
          </a:p>
        </p:txBody>
      </p:sp>
      <p:pic>
        <p:nvPicPr>
          <p:cNvPr id="56322" name="Picture 2" descr="https://timgsa.baidu.com/timg?image&amp;quality=80&amp;size=b9999_10000&amp;sec=1513228796729&amp;di=8d5242a1a6f2321e3c6d9f643f970b72&amp;imgtype=0&amp;src=http%3A%2F%2Fwww.51zixuewang.com%2Fuploads%2Fallimg%2F160922%2F041F03U2_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14800" y="3540760"/>
            <a:ext cx="4861560" cy="32410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0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0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D18631D-54D8-4082-9C77-0AF85BDC5520}" type="slidenum">
              <a:rPr lang="zh-CN" altLang="en-US" sz="1400">
                <a:latin typeface="Arial" panose="020B0604020202020204" pitchFamily="34" charset="0"/>
              </a:rPr>
            </a:fld>
            <a:endParaRPr lang="en-US" altLang="zh-CN" sz="1400">
              <a:latin typeface="Arial" panose="020B0604020202020204" pitchFamily="34" charset="0"/>
            </a:endParaRPr>
          </a:p>
        </p:txBody>
      </p:sp>
      <p:sp>
        <p:nvSpPr>
          <p:cNvPr id="14339" name="灯片编号占位符 5"/>
          <p:cNvSpPr txBox="1">
            <a:spLocks noGrp="1" noChangeArrowheads="1"/>
          </p:cNvSpPr>
          <p:nvPr/>
        </p:nvSpPr>
        <p:spPr bwMode="auto">
          <a:xfrm>
            <a:off x="6553200" y="6461125"/>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pPr>
            <a:fld id="{D2CEDBE4-6BF8-4BC3-B3A4-1A92A3199C8A}" type="slidenum">
              <a:rPr lang="zh-CN" altLang="en-US" sz="1400">
                <a:latin typeface="Arial" panose="020B0604020202020204" pitchFamily="34" charset="0"/>
                <a:ea typeface="宋体" panose="02010600030101010101" pitchFamily="2" charset="-122"/>
              </a:rPr>
            </a:fld>
            <a:endParaRPr lang="en-US" altLang="zh-CN" sz="1400">
              <a:latin typeface="Arial" panose="020B0604020202020204" pitchFamily="34" charset="0"/>
              <a:ea typeface="宋体" panose="02010600030101010101" pitchFamily="2" charset="-122"/>
            </a:endParaRPr>
          </a:p>
        </p:txBody>
      </p:sp>
      <p:sp>
        <p:nvSpPr>
          <p:cNvPr id="14340" name="Rectangle 2"/>
          <p:cNvSpPr>
            <a:spLocks noGrp="1" noChangeArrowheads="1"/>
          </p:cNvSpPr>
          <p:nvPr>
            <p:ph type="title" idx="4294967295"/>
          </p:nvPr>
        </p:nvSpPr>
        <p:spPr/>
        <p:txBody>
          <a:bodyPr/>
          <a:lstStyle/>
          <a:p>
            <a:pPr eaLnBrk="1" hangingPunct="1"/>
            <a:r>
              <a:rPr lang="zh-CN" altLang="en-US">
                <a:ea typeface="宋体" panose="02010600030101010101" pitchFamily="2" charset="-122"/>
              </a:rPr>
              <a:t>图形系统结构</a:t>
            </a:r>
            <a:endParaRPr lang="zh-CN" altLang="en-US">
              <a:ea typeface="宋体" panose="02010600030101010101" pitchFamily="2" charset="-122"/>
            </a:endParaRPr>
          </a:p>
        </p:txBody>
      </p:sp>
      <p:sp>
        <p:nvSpPr>
          <p:cNvPr id="14341" name="Rectangle 3"/>
          <p:cNvSpPr>
            <a:spLocks noGrp="1" noChangeArrowheads="1"/>
          </p:cNvSpPr>
          <p:nvPr>
            <p:ph type="body" idx="4294967295"/>
          </p:nvPr>
        </p:nvSpPr>
        <p:spPr/>
        <p:txBody>
          <a:bodyPr/>
          <a:lstStyle/>
          <a:p>
            <a:pPr eaLnBrk="1" hangingPunct="1"/>
            <a:r>
              <a:rPr lang="zh-CN" altLang="en-US" b="1">
                <a:solidFill>
                  <a:schemeClr val="accent2"/>
                </a:solidFill>
                <a:ea typeface="宋体" panose="02010600030101010101" pitchFamily="2" charset="-122"/>
              </a:rPr>
              <a:t>交互式</a:t>
            </a:r>
            <a:r>
              <a:rPr lang="zh-CN" altLang="en-US">
                <a:ea typeface="宋体" panose="02010600030101010101" pitchFamily="2" charset="-122"/>
              </a:rPr>
              <a:t>图形系统</a:t>
            </a:r>
            <a:r>
              <a:rPr lang="en-US" altLang="zh-CN">
                <a:ea typeface="宋体" panose="02010600030101010101" pitchFamily="2" charset="-122"/>
              </a:rPr>
              <a:t>=</a:t>
            </a:r>
            <a:r>
              <a:rPr lang="zh-CN" altLang="en-US">
                <a:ea typeface="宋体" panose="02010600030101010101" pitchFamily="2" charset="-122"/>
              </a:rPr>
              <a:t>硬件设备</a:t>
            </a:r>
            <a:r>
              <a:rPr lang="en-US" altLang="zh-CN">
                <a:ea typeface="宋体" panose="02010600030101010101" pitchFamily="2" charset="-122"/>
              </a:rPr>
              <a:t>+</a:t>
            </a:r>
            <a:r>
              <a:rPr lang="zh-CN" altLang="en-US">
                <a:ea typeface="宋体" panose="02010600030101010101" pitchFamily="2" charset="-122"/>
              </a:rPr>
              <a:t>软件系统</a:t>
            </a:r>
            <a:r>
              <a:rPr lang="en-US" altLang="zh-CN">
                <a:ea typeface="宋体" panose="02010600030101010101" pitchFamily="2" charset="-122"/>
              </a:rPr>
              <a:t>+</a:t>
            </a:r>
            <a:r>
              <a:rPr lang="zh-CN" altLang="en-US">
                <a:ea typeface="宋体" panose="02010600030101010101" pitchFamily="2" charset="-122"/>
              </a:rPr>
              <a:t>人 </a:t>
            </a:r>
            <a:endParaRPr lang="zh-CN" altLang="en-US">
              <a:ea typeface="宋体" panose="02010600030101010101" pitchFamily="2" charset="-122"/>
            </a:endParaRPr>
          </a:p>
        </p:txBody>
      </p:sp>
      <p:sp>
        <p:nvSpPr>
          <p:cNvPr id="14342" name="Rectangle 4"/>
          <p:cNvSpPr>
            <a:spLocks noChangeArrowheads="1"/>
          </p:cNvSpPr>
          <p:nvPr/>
        </p:nvSpPr>
        <p:spPr bwMode="auto">
          <a:xfrm>
            <a:off x="0" y="197008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buFontTx/>
              <a:buNone/>
            </a:pPr>
            <a:endParaRPr lang="zh-CN" altLang="en-US" sz="1800">
              <a:ea typeface="宋体" panose="02010600030101010101" pitchFamily="2" charset="-122"/>
            </a:endParaRPr>
          </a:p>
        </p:txBody>
      </p:sp>
      <p:graphicFrame>
        <p:nvGraphicFramePr>
          <p:cNvPr id="3074" name="Object 5"/>
          <p:cNvGraphicFramePr>
            <a:graphicFrameLocks noChangeAspect="1"/>
          </p:cNvGraphicFramePr>
          <p:nvPr/>
        </p:nvGraphicFramePr>
        <p:xfrm>
          <a:off x="1366838" y="1828800"/>
          <a:ext cx="6562725" cy="4513263"/>
        </p:xfrm>
        <a:graphic>
          <a:graphicData uri="http://schemas.openxmlformats.org/presentationml/2006/ole">
            <mc:AlternateContent xmlns:mc="http://schemas.openxmlformats.org/markup-compatibility/2006">
              <mc:Choice xmlns:v="urn:schemas-microsoft-com:vml" Requires="v">
                <p:oleObj spid="_x0000_s14459" name="Visio" r:id="rId1" imgW="3212465" imgH="2216150" progId="Visio.Drawing.11">
                  <p:embed/>
                </p:oleObj>
              </mc:Choice>
              <mc:Fallback>
                <p:oleObj name="Visio" r:id="rId1" imgW="3212465" imgH="2216150" progId="Visio.Drawing.11">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6838" y="1828800"/>
                        <a:ext cx="6562725"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4" name="Rectangle 8"/>
          <p:cNvSpPr>
            <a:spLocks noChangeArrowheads="1"/>
          </p:cNvSpPr>
          <p:nvPr/>
        </p:nvSpPr>
        <p:spPr bwMode="auto">
          <a:xfrm>
            <a:off x="0" y="22717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4345"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8B65A6E-5149-44B3-85D9-2B0B65A751B9}" type="datetime10">
              <a:rPr lang="zh-CN" altLang="en-US" sz="1400" smtClean="0">
                <a:latin typeface="Arial" panose="020B0604020202020204" pitchFamily="34" charset="0"/>
              </a:rPr>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blinds(horizontal)">
                                      <p:cBhvr>
                                        <p:cTn id="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2F98648D-9A34-4418-B7A6-AF201EEB03D5}" type="slidenum">
              <a:rPr lang="zh-CN" altLang="en-US">
                <a:ea typeface="宋体" panose="02010600030101010101" pitchFamily="2" charset="-122"/>
              </a:rPr>
            </a:fld>
            <a:endParaRPr lang="en-US" altLang="zh-CN">
              <a:ea typeface="宋体" panose="02010600030101010101" pitchFamily="2" charset="-122"/>
            </a:endParaRPr>
          </a:p>
        </p:txBody>
      </p:sp>
      <p:sp>
        <p:nvSpPr>
          <p:cNvPr id="6"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573626DE-9481-442D-B072-3A40CE8B7B45}"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6148" name="Rectangle 2"/>
          <p:cNvSpPr>
            <a:spLocks noGrp="1" noChangeArrowheads="1"/>
          </p:cNvSpPr>
          <p:nvPr>
            <p:ph type="title" idx="4294967295"/>
          </p:nvPr>
        </p:nvSpPr>
        <p:spPr/>
        <p:txBody>
          <a:bodyPr/>
          <a:lstStyle/>
          <a:p>
            <a:pPr eaLnBrk="1" hangingPunct="1"/>
            <a:r>
              <a:rPr lang="zh-CN" altLang="en-US">
                <a:ea typeface="宋体" panose="02010600030101010101" pitchFamily="2" charset="-122"/>
              </a:rPr>
              <a:t>图形系统</a:t>
            </a:r>
            <a:endParaRPr lang="en-US" altLang="zh-CN">
              <a:ea typeface="宋体" panose="02010600030101010101" pitchFamily="2" charset="-122"/>
            </a:endParaRPr>
          </a:p>
        </p:txBody>
      </p:sp>
      <p:sp>
        <p:nvSpPr>
          <p:cNvPr id="11270" name="Rectangle 3"/>
          <p:cNvSpPr>
            <a:spLocks noGrp="1" noChangeArrowheads="1"/>
          </p:cNvSpPr>
          <p:nvPr>
            <p:ph type="body" idx="4294967295"/>
          </p:nvPr>
        </p:nvSpPr>
        <p:spPr/>
        <p:txBody>
          <a:bodyPr/>
          <a:lstStyle/>
          <a:p>
            <a:pPr eaLnBrk="1" hangingPunct="1"/>
            <a:r>
              <a:rPr lang="zh-CN" altLang="en-US" dirty="0">
                <a:ea typeface="宋体" panose="02010600030101010101" pitchFamily="2" charset="-122"/>
              </a:rPr>
              <a:t>硬件层面</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设备显示原理：</a:t>
            </a:r>
            <a:r>
              <a:rPr lang="en-US" altLang="zh-CN" dirty="0">
                <a:ea typeface="宋体" panose="02010600030101010101" pitchFamily="2" charset="-122"/>
              </a:rPr>
              <a:t>CRT</a:t>
            </a:r>
            <a:r>
              <a:rPr lang="zh-CN" altLang="en-US" dirty="0">
                <a:ea typeface="宋体" panose="02010600030101010101" pitchFamily="2" charset="-122"/>
              </a:rPr>
              <a:t>、</a:t>
            </a:r>
            <a:r>
              <a:rPr lang="en-US" altLang="zh-CN" dirty="0">
                <a:ea typeface="宋体" panose="02010600030101010101" pitchFamily="2" charset="-122"/>
              </a:rPr>
              <a:t>LCD</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设备显示方式：随机、光栅</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显示系统组成结构：简单、典型、专用</a:t>
            </a:r>
            <a:endParaRPr lang="zh-CN" altLang="en-US" dirty="0">
              <a:ea typeface="宋体" panose="02010600030101010101" pitchFamily="2" charset="-122"/>
            </a:endParaRPr>
          </a:p>
          <a:p>
            <a:pPr eaLnBrk="1" hangingPunct="1"/>
            <a:r>
              <a:rPr lang="zh-CN" altLang="en-US" dirty="0">
                <a:ea typeface="宋体" panose="02010600030101010101" pitchFamily="2" charset="-122"/>
              </a:rPr>
              <a:t>软件层面</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图形软件</a:t>
            </a:r>
            <a:r>
              <a:rPr lang="en-US" altLang="zh-CN" dirty="0">
                <a:ea typeface="宋体" panose="02010600030101010101" pitchFamily="2" charset="-122"/>
              </a:rPr>
              <a:t>:</a:t>
            </a:r>
            <a:r>
              <a:rPr lang="zh-CN" altLang="en-US" dirty="0">
                <a:ea typeface="宋体" panose="02010600030101010101" pitchFamily="2" charset="-122"/>
              </a:rPr>
              <a:t>应用软件、支撑软件、数据结构</a:t>
            </a:r>
            <a:endParaRPr lang="en-US" altLang="zh-CN" dirty="0">
              <a:ea typeface="宋体" panose="02010600030101010101" pitchFamily="2" charset="-122"/>
            </a:endParaRPr>
          </a:p>
          <a:p>
            <a:pPr eaLnBrk="1" hangingPunct="1"/>
            <a:r>
              <a:rPr lang="zh-CN" altLang="en-US" dirty="0">
                <a:ea typeface="宋体" panose="02010600030101010101" pitchFamily="2" charset="-122"/>
              </a:rPr>
              <a:t>图形系统标准：接口、应用软件、数据结构</a:t>
            </a:r>
            <a:endParaRPr lang="zh-CN" altLang="en-US" dirty="0">
              <a:ea typeface="宋体" panose="02010600030101010101" pitchFamily="2" charset="-122"/>
            </a:endParaRPr>
          </a:p>
          <a:p>
            <a:pPr eaLnBrk="1" hangingPunct="1"/>
            <a:r>
              <a:rPr lang="zh-CN" altLang="en-US" dirty="0">
                <a:ea typeface="宋体" panose="02010600030101010101" pitchFamily="2" charset="-122"/>
              </a:rPr>
              <a:t>图形</a:t>
            </a:r>
            <a:r>
              <a:rPr lang="zh-CN" altLang="en-US" dirty="0">
                <a:ea typeface="宋体" panose="02010600030101010101" pitchFamily="2" charset="-122"/>
              </a:rPr>
              <a:t>流水线</a:t>
            </a:r>
            <a:endParaRPr lang="zh-CN" altLang="en-US" dirty="0">
              <a:ea typeface="宋体" panose="02010600030101010101" pitchFamily="2" charset="-122"/>
            </a:endParaRPr>
          </a:p>
        </p:txBody>
      </p:sp>
      <p:sp>
        <p:nvSpPr>
          <p:cNvPr id="6150"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F03566EB-AEC4-4992-A945-F7273B6DB085}"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270">
                                            <p:txEl>
                                              <p:pRg st="0" end="0"/>
                                            </p:txEl>
                                          </p:spTgt>
                                        </p:tgtEl>
                                        <p:attrNameLst>
                                          <p:attrName>style.visibility</p:attrName>
                                        </p:attrNameLst>
                                      </p:cBhvr>
                                      <p:to>
                                        <p:strVal val="visible"/>
                                      </p:to>
                                    </p:set>
                                    <p:animEffect transition="in" filter="blinds(horizontal)">
                                      <p:cBhvr>
                                        <p:cTn id="7" dur="500"/>
                                        <p:tgtEl>
                                          <p:spTgt spid="112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270">
                                            <p:txEl>
                                              <p:pRg st="1" end="1"/>
                                            </p:txEl>
                                          </p:spTgt>
                                        </p:tgtEl>
                                        <p:attrNameLst>
                                          <p:attrName>style.visibility</p:attrName>
                                        </p:attrNameLst>
                                      </p:cBhvr>
                                      <p:to>
                                        <p:strVal val="visible"/>
                                      </p:to>
                                    </p:set>
                                    <p:animEffect transition="in" filter="blinds(horizontal)">
                                      <p:cBhvr>
                                        <p:cTn id="12" dur="500"/>
                                        <p:tgtEl>
                                          <p:spTgt spid="1127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270">
                                            <p:txEl>
                                              <p:pRg st="2" end="2"/>
                                            </p:txEl>
                                          </p:spTgt>
                                        </p:tgtEl>
                                        <p:attrNameLst>
                                          <p:attrName>style.visibility</p:attrName>
                                        </p:attrNameLst>
                                      </p:cBhvr>
                                      <p:to>
                                        <p:strVal val="visible"/>
                                      </p:to>
                                    </p:set>
                                    <p:animEffect transition="in" filter="blinds(horizontal)">
                                      <p:cBhvr>
                                        <p:cTn id="17" dur="500"/>
                                        <p:tgtEl>
                                          <p:spTgt spid="1127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1270">
                                            <p:txEl>
                                              <p:pRg st="3" end="3"/>
                                            </p:txEl>
                                          </p:spTgt>
                                        </p:tgtEl>
                                        <p:attrNameLst>
                                          <p:attrName>style.visibility</p:attrName>
                                        </p:attrNameLst>
                                      </p:cBhvr>
                                      <p:to>
                                        <p:strVal val="visible"/>
                                      </p:to>
                                    </p:set>
                                    <p:animEffect transition="in" filter="blinds(horizontal)">
                                      <p:cBhvr>
                                        <p:cTn id="22" dur="500"/>
                                        <p:tgtEl>
                                          <p:spTgt spid="1127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1270">
                                            <p:txEl>
                                              <p:pRg st="4" end="4"/>
                                            </p:txEl>
                                          </p:spTgt>
                                        </p:tgtEl>
                                        <p:attrNameLst>
                                          <p:attrName>style.visibility</p:attrName>
                                        </p:attrNameLst>
                                      </p:cBhvr>
                                      <p:to>
                                        <p:strVal val="visible"/>
                                      </p:to>
                                    </p:set>
                                    <p:animEffect transition="in" filter="blinds(horizontal)">
                                      <p:cBhvr>
                                        <p:cTn id="27" dur="500"/>
                                        <p:tgtEl>
                                          <p:spTgt spid="1127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1270">
                                            <p:txEl>
                                              <p:pRg st="5" end="5"/>
                                            </p:txEl>
                                          </p:spTgt>
                                        </p:tgtEl>
                                        <p:attrNameLst>
                                          <p:attrName>style.visibility</p:attrName>
                                        </p:attrNameLst>
                                      </p:cBhvr>
                                      <p:to>
                                        <p:strVal val="visible"/>
                                      </p:to>
                                    </p:set>
                                    <p:animEffect transition="in" filter="blinds(horizontal)">
                                      <p:cBhvr>
                                        <p:cTn id="32" dur="500"/>
                                        <p:tgtEl>
                                          <p:spTgt spid="1127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1270">
                                            <p:txEl>
                                              <p:pRg st="6" end="6"/>
                                            </p:txEl>
                                          </p:spTgt>
                                        </p:tgtEl>
                                        <p:attrNameLst>
                                          <p:attrName>style.visibility</p:attrName>
                                        </p:attrNameLst>
                                      </p:cBhvr>
                                      <p:to>
                                        <p:strVal val="visible"/>
                                      </p:to>
                                    </p:set>
                                    <p:animEffect transition="in" filter="blinds(horizontal)">
                                      <p:cBhvr>
                                        <p:cTn id="37" dur="500"/>
                                        <p:tgtEl>
                                          <p:spTgt spid="1127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1270">
                                            <p:txEl>
                                              <p:pRg st="7" end="7"/>
                                            </p:txEl>
                                          </p:spTgt>
                                        </p:tgtEl>
                                        <p:attrNameLst>
                                          <p:attrName>style.visibility</p:attrName>
                                        </p:attrNameLst>
                                      </p:cBhvr>
                                      <p:to>
                                        <p:strVal val="visible"/>
                                      </p:to>
                                    </p:set>
                                    <p:animEffect transition="in" filter="blinds(horizontal)">
                                      <p:cBhvr>
                                        <p:cTn id="42" dur="500"/>
                                        <p:tgtEl>
                                          <p:spTgt spid="1127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66E3B9DC-BC29-4983-B38A-BF08AD94540B}" type="slidenum">
              <a:rPr lang="zh-CN" altLang="en-US">
                <a:ea typeface="宋体" panose="02010600030101010101" pitchFamily="2" charset="-122"/>
              </a:rPr>
            </a:fld>
            <a:endParaRPr lang="en-US" altLang="zh-CN">
              <a:ea typeface="宋体" panose="02010600030101010101" pitchFamily="2" charset="-122"/>
            </a:endParaRPr>
          </a:p>
        </p:txBody>
      </p:sp>
      <p:sp>
        <p:nvSpPr>
          <p:cNvPr id="8"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E6649294-08C5-4E26-8520-6B388D74F4C6}"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7172" name="Rectangle 2"/>
          <p:cNvSpPr>
            <a:spLocks noGrp="1" noChangeArrowheads="1"/>
          </p:cNvSpPr>
          <p:nvPr>
            <p:ph type="title" idx="4294967295"/>
          </p:nvPr>
        </p:nvSpPr>
        <p:spPr/>
        <p:txBody>
          <a:bodyPr/>
          <a:lstStyle/>
          <a:p>
            <a:pPr eaLnBrk="1" hangingPunct="1"/>
            <a:r>
              <a:rPr lang="zh-CN" altLang="en-US">
                <a:ea typeface="宋体" panose="02010600030101010101" pitchFamily="2" charset="-122"/>
              </a:rPr>
              <a:t>显示设备</a:t>
            </a:r>
            <a:endParaRPr lang="zh-CN" altLang="en-US">
              <a:ea typeface="宋体" panose="02010600030101010101" pitchFamily="2" charset="-122"/>
            </a:endParaRPr>
          </a:p>
        </p:txBody>
      </p:sp>
      <p:sp>
        <p:nvSpPr>
          <p:cNvPr id="12294" name="Rectangle 3"/>
          <p:cNvSpPr>
            <a:spLocks noGrp="1" noChangeArrowheads="1"/>
          </p:cNvSpPr>
          <p:nvPr>
            <p:ph type="body" idx="4294967295"/>
          </p:nvPr>
        </p:nvSpPr>
        <p:spPr/>
        <p:txBody>
          <a:bodyPr/>
          <a:lstStyle/>
          <a:p>
            <a:pPr eaLnBrk="1" hangingPunct="1"/>
            <a:r>
              <a:rPr lang="zh-CN" altLang="en-US" sz="2800">
                <a:ea typeface="宋体" panose="02010600030101010101" pitchFamily="2" charset="-122"/>
              </a:rPr>
              <a:t>彩色阴极射线管</a:t>
            </a:r>
            <a:r>
              <a:rPr lang="en-US" altLang="zh-CN" sz="2800">
                <a:ea typeface="宋体" panose="02010600030101010101" pitchFamily="2" charset="-122"/>
              </a:rPr>
              <a:t>CRT</a:t>
            </a:r>
            <a:endParaRPr lang="zh-CN" altLang="en-US" sz="2800">
              <a:ea typeface="宋体" panose="02010600030101010101" pitchFamily="2" charset="-122"/>
            </a:endParaRPr>
          </a:p>
          <a:p>
            <a:pPr eaLnBrk="1" hangingPunct="1"/>
            <a:endParaRPr lang="zh-CN" altLang="en-US" sz="2800">
              <a:ea typeface="宋体" panose="02010600030101010101" pitchFamily="2" charset="-122"/>
            </a:endParaRPr>
          </a:p>
          <a:p>
            <a:pPr eaLnBrk="1" hangingPunct="1"/>
            <a:r>
              <a:rPr lang="zh-CN" altLang="en-US" sz="2800">
                <a:ea typeface="宋体" panose="02010600030101010101" pitchFamily="2" charset="-122"/>
              </a:rPr>
              <a:t>液晶显示器</a:t>
            </a:r>
            <a:endParaRPr lang="zh-CN" altLang="en-US" sz="2800">
              <a:ea typeface="宋体" panose="02010600030101010101" pitchFamily="2" charset="-122"/>
            </a:endParaRPr>
          </a:p>
        </p:txBody>
      </p:sp>
      <p:pic>
        <p:nvPicPr>
          <p:cNvPr id="7174" name="Picture 4" descr="1p2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40200" y="1412875"/>
            <a:ext cx="4572000" cy="305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6" name="Picture 5" descr="LCD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2924175"/>
            <a:ext cx="2865437"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6"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AF29F6AA-A614-4AC1-BC00-D288B2E07861}"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294">
                                            <p:txEl>
                                              <p:pRg st="2" end="2"/>
                                            </p:txEl>
                                          </p:spTgt>
                                        </p:tgtEl>
                                        <p:attrNameLst>
                                          <p:attrName>style.visibility</p:attrName>
                                        </p:attrNameLst>
                                      </p:cBhvr>
                                      <p:to>
                                        <p:strVal val="visible"/>
                                      </p:to>
                                    </p:set>
                                    <p:animEffect transition="in" filter="blinds(horizontal)">
                                      <p:cBhvr>
                                        <p:cTn id="7" dur="500"/>
                                        <p:tgtEl>
                                          <p:spTgt spid="1229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296"/>
                                        </p:tgtEl>
                                        <p:attrNameLst>
                                          <p:attrName>style.visibility</p:attrName>
                                        </p:attrNameLst>
                                      </p:cBhvr>
                                      <p:to>
                                        <p:strVal val="visible"/>
                                      </p:to>
                                    </p:set>
                                    <p:animEffect transition="in" filter="blinds(horizontal)">
                                      <p:cBhvr>
                                        <p:cTn id="12" dur="500"/>
                                        <p:tgtEl>
                                          <p:spTgt spid="12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C7032909-D7F3-4BEC-806B-40BDCA59711A}" type="slidenum">
              <a:rPr lang="zh-CN" altLang="en-US">
                <a:ea typeface="宋体" panose="02010600030101010101" pitchFamily="2" charset="-122"/>
              </a:rPr>
            </a:fld>
            <a:endParaRPr lang="en-US" altLang="zh-CN">
              <a:ea typeface="宋体" panose="02010600030101010101" pitchFamily="2" charset="-122"/>
            </a:endParaRPr>
          </a:p>
        </p:txBody>
      </p:sp>
      <p:sp>
        <p:nvSpPr>
          <p:cNvPr id="8195" name="Rectangle 2"/>
          <p:cNvSpPr>
            <a:spLocks noGrp="1" noChangeArrowheads="1"/>
          </p:cNvSpPr>
          <p:nvPr>
            <p:ph type="title" idx="4294967295"/>
          </p:nvPr>
        </p:nvSpPr>
        <p:spPr/>
        <p:txBody>
          <a:bodyPr/>
          <a:lstStyle/>
          <a:p>
            <a:pPr eaLnBrk="1" hangingPunct="1"/>
            <a:r>
              <a:rPr lang="zh-CN" altLang="en-US">
                <a:ea typeface="宋体" panose="02010600030101010101" pitchFamily="2" charset="-122"/>
              </a:rPr>
              <a:t>显示设备</a:t>
            </a:r>
            <a:r>
              <a:rPr lang="en-US" altLang="zh-CN">
                <a:ea typeface="宋体" panose="02010600030101010101" pitchFamily="2" charset="-122"/>
              </a:rPr>
              <a:t>-CRT</a:t>
            </a:r>
            <a:endParaRPr lang="en-US" altLang="zh-CN">
              <a:ea typeface="宋体" panose="02010600030101010101" pitchFamily="2" charset="-122"/>
            </a:endParaRPr>
          </a:p>
        </p:txBody>
      </p:sp>
      <p:sp>
        <p:nvSpPr>
          <p:cNvPr id="8196" name="Rectangle 3"/>
          <p:cNvSpPr>
            <a:spLocks noGrp="1" noChangeArrowheads="1"/>
          </p:cNvSpPr>
          <p:nvPr>
            <p:ph type="body" idx="4294967295"/>
          </p:nvPr>
        </p:nvSpPr>
        <p:spPr/>
        <p:txBody>
          <a:bodyPr/>
          <a:lstStyle/>
          <a:p>
            <a:pPr eaLnBrk="1" hangingPunct="1"/>
            <a:r>
              <a:rPr lang="zh-CN" altLang="en-US">
                <a:ea typeface="宋体" panose="02010600030101010101" pitchFamily="2" charset="-122"/>
              </a:rPr>
              <a:t> 阴极射线管</a:t>
            </a:r>
            <a:r>
              <a:rPr lang="en-US" altLang="zh-CN">
                <a:ea typeface="宋体" panose="02010600030101010101" pitchFamily="2" charset="-122"/>
              </a:rPr>
              <a:t>(CRT- Cathode Ray Tube)</a:t>
            </a:r>
            <a:endParaRPr lang="en-US" altLang="zh-CN">
              <a:ea typeface="宋体" panose="02010600030101010101" pitchFamily="2" charset="-122"/>
            </a:endParaRPr>
          </a:p>
          <a:p>
            <a:pPr eaLnBrk="1" hangingPunct="1"/>
            <a:r>
              <a:rPr lang="zh-CN" altLang="en-US">
                <a:ea typeface="宋体" panose="02010600030101010101" pitchFamily="2" charset="-122"/>
              </a:rPr>
              <a:t>组成：包括电子枪、加速结构、聚焦系统、偏转系统、荧光屏</a:t>
            </a:r>
            <a:endParaRPr lang="zh-CN" altLang="en-US">
              <a:ea typeface="宋体" panose="02010600030101010101" pitchFamily="2" charset="-122"/>
            </a:endParaRPr>
          </a:p>
        </p:txBody>
      </p:sp>
      <p:sp>
        <p:nvSpPr>
          <p:cNvPr id="8197" name="Rectangle 4"/>
          <p:cNvSpPr>
            <a:spLocks noChangeArrowheads="1"/>
          </p:cNvSpPr>
          <p:nvPr/>
        </p:nvSpPr>
        <p:spPr bwMode="auto">
          <a:xfrm>
            <a:off x="0" y="22225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graphicFrame>
        <p:nvGraphicFramePr>
          <p:cNvPr id="8198" name="Object 5"/>
          <p:cNvGraphicFramePr>
            <a:graphicFrameLocks noChangeAspect="1"/>
          </p:cNvGraphicFramePr>
          <p:nvPr/>
        </p:nvGraphicFramePr>
        <p:xfrm>
          <a:off x="762000" y="3124200"/>
          <a:ext cx="6323013" cy="2825750"/>
        </p:xfrm>
        <a:graphic>
          <a:graphicData uri="http://schemas.openxmlformats.org/presentationml/2006/ole">
            <mc:AlternateContent xmlns:mc="http://schemas.openxmlformats.org/markup-compatibility/2006">
              <mc:Choice xmlns:v="urn:schemas-microsoft-com:vml" Requires="v">
                <p:oleObj spid="_x0000_s56397" name="Visio" r:id="rId1" imgW="5519420" imgH="2471420" progId="Visio.Drawing.11">
                  <p:embed/>
                </p:oleObj>
              </mc:Choice>
              <mc:Fallback>
                <p:oleObj name="Visio" r:id="rId1" imgW="5519420" imgH="2471420" progId="Visio.Drawing.11">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124200"/>
                        <a:ext cx="6323013" cy="282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082"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3263" y="990600"/>
            <a:ext cx="3360737"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AutoShape 4"/>
          <p:cNvSpPr>
            <a:spLocks noChangeArrowheads="1"/>
          </p:cNvSpPr>
          <p:nvPr/>
        </p:nvSpPr>
        <p:spPr bwMode="auto">
          <a:xfrm>
            <a:off x="6400800" y="5943600"/>
            <a:ext cx="2590800" cy="762000"/>
          </a:xfrm>
          <a:prstGeom prst="wedgeRoundRectCallout">
            <a:avLst>
              <a:gd name="adj1" fmla="val -39781"/>
              <a:gd name="adj2" fmla="val -87117"/>
              <a:gd name="adj3" fmla="val 16667"/>
            </a:avLst>
          </a:prstGeom>
        </p:spPr>
        <p:style>
          <a:lnRef idx="1">
            <a:schemeClr val="accent2"/>
          </a:lnRef>
          <a:fillRef idx="2">
            <a:schemeClr val="accent2"/>
          </a:fillRef>
          <a:effectRef idx="1">
            <a:schemeClr val="accent2"/>
          </a:effectRef>
          <a:fontRef idx="minor">
            <a:schemeClr val="dk1"/>
          </a:fontRef>
        </p:style>
        <p:txBody>
          <a:bodyPr/>
          <a:lstStyle/>
          <a:p>
            <a:pPr algn="ctr">
              <a:defRPr/>
            </a:pPr>
            <a:r>
              <a:rPr lang="zh-CN" altLang="en-US" sz="2800">
                <a:solidFill>
                  <a:schemeClr val="accent2"/>
                </a:solidFill>
                <a:ea typeface="宋体" panose="02010600030101010101" pitchFamily="2" charset="-122"/>
              </a:rPr>
              <a:t>如何产生彩色</a:t>
            </a:r>
            <a:r>
              <a:rPr lang="en-US" altLang="zh-CN" sz="2800">
                <a:solidFill>
                  <a:schemeClr val="accent2"/>
                </a:solidFill>
                <a:ea typeface="宋体" panose="02010600030101010101" pitchFamily="2" charset="-122"/>
              </a:rPr>
              <a:t>?</a:t>
            </a:r>
            <a:endParaRPr lang="zh-CN" altLang="en-US" sz="2800">
              <a:solidFill>
                <a:schemeClr val="accent2"/>
              </a:solidFill>
              <a:ea typeface="宋体" panose="02010600030101010101" pitchFamily="2" charset="-122"/>
            </a:endParaRPr>
          </a:p>
        </p:txBody>
      </p:sp>
      <p:sp>
        <p:nvSpPr>
          <p:cNvPr id="8201"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171F76B7-97EA-4933-A16C-94951BCEB575}"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82"/>
                                        </p:tgtEl>
                                        <p:attrNameLst>
                                          <p:attrName>style.visibility</p:attrName>
                                        </p:attrNameLst>
                                      </p:cBhvr>
                                      <p:to>
                                        <p:strVal val="visible"/>
                                      </p:to>
                                    </p:set>
                                    <p:animEffect transition="in" filter="blinds(horizontal)">
                                      <p:cBhvr>
                                        <p:cTn id="7" dur="500"/>
                                        <p:tgtEl>
                                          <p:spTgt spid="308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076"/>
                                        </p:tgtEl>
                                        <p:attrNameLst>
                                          <p:attrName>style.visibility</p:attrName>
                                        </p:attrNameLst>
                                      </p:cBhvr>
                                      <p:to>
                                        <p:strVal val="visible"/>
                                      </p:to>
                                    </p:set>
                                    <p:animEffect transition="in" filter="checkerboard(across)">
                                      <p:cBhvr>
                                        <p:cTn id="12" dur="5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5BE52D6A-4841-476A-9406-4EC369A23455}" type="slidenum">
              <a:rPr lang="zh-CN" altLang="en-US">
                <a:ea typeface="宋体" panose="02010600030101010101" pitchFamily="2" charset="-122"/>
              </a:rPr>
            </a:fld>
            <a:endParaRPr lang="en-US" altLang="zh-CN">
              <a:ea typeface="宋体" panose="02010600030101010101" pitchFamily="2" charset="-122"/>
            </a:endParaRPr>
          </a:p>
        </p:txBody>
      </p:sp>
      <p:sp>
        <p:nvSpPr>
          <p:cNvPr id="8" name="日期占位符 3"/>
          <p:cNvSpPr txBox="1">
            <a:spLocks noGrp="1"/>
          </p:cNvSpPr>
          <p:nvPr/>
        </p:nvSpPr>
        <p:spPr bwMode="auto">
          <a:xfrm>
            <a:off x="457200" y="6461125"/>
            <a:ext cx="2133600" cy="320675"/>
          </a:xfrm>
          <a:prstGeom prst="rect">
            <a:avLst/>
          </a:prstGeom>
          <a:noFill/>
          <a:ln>
            <a:miter lim="800000"/>
          </a:ln>
        </p:spPr>
        <p:txBody>
          <a:bodyPr/>
          <a:lstStyle/>
          <a:p>
            <a:pPr>
              <a:defRPr/>
            </a:pPr>
            <a:fld id="{BA12A1CE-4B90-461C-96F8-940060404156}" type="datetime1">
              <a:rPr lang="zh-CN" altLang="en-US" sz="1400">
                <a:latin typeface="+mj-lt"/>
                <a:ea typeface="宋体" panose="02010600030101010101" pitchFamily="2" charset="-122"/>
              </a:rPr>
            </a:fld>
            <a:endParaRPr lang="en-US" altLang="zh-CN" sz="1400">
              <a:latin typeface="+mj-lt"/>
              <a:ea typeface="宋体" panose="02010600030101010101" pitchFamily="2" charset="-122"/>
            </a:endParaRPr>
          </a:p>
        </p:txBody>
      </p:sp>
      <p:sp>
        <p:nvSpPr>
          <p:cNvPr id="10"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EA0EBA44-63EC-448E-AA4D-85D3FAC3B525}"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10245" name="Rectangle 2"/>
          <p:cNvSpPr>
            <a:spLocks noGrp="1" noChangeArrowheads="1"/>
          </p:cNvSpPr>
          <p:nvPr>
            <p:ph type="title" idx="4294967295"/>
          </p:nvPr>
        </p:nvSpPr>
        <p:spPr>
          <a:xfrm>
            <a:off x="685800" y="152400"/>
            <a:ext cx="7772400" cy="609600"/>
          </a:xfrm>
        </p:spPr>
        <p:txBody>
          <a:bodyPr/>
          <a:lstStyle/>
          <a:p>
            <a:pPr eaLnBrk="1" hangingPunct="1"/>
            <a:r>
              <a:rPr lang="zh-CN" altLang="en-US" sz="3600">
                <a:ea typeface="宋体" panose="02010600030101010101" pitchFamily="2" charset="-122"/>
              </a:rPr>
              <a:t>彩色阴极射线管-</a:t>
            </a:r>
            <a:r>
              <a:rPr lang="zh-CN" altLang="en-US" sz="2800">
                <a:ea typeface="宋体" panose="02010600030101010101" pitchFamily="2" charset="-122"/>
              </a:rPr>
              <a:t>影孔板法</a:t>
            </a:r>
            <a:endParaRPr lang="zh-CN" altLang="en-US" sz="2800">
              <a:ea typeface="宋体" panose="02010600030101010101" pitchFamily="2" charset="-122"/>
            </a:endParaRPr>
          </a:p>
        </p:txBody>
      </p:sp>
      <p:sp>
        <p:nvSpPr>
          <p:cNvPr id="10246" name="Rectangle 3"/>
          <p:cNvSpPr>
            <a:spLocks noGrp="1" noChangeArrowheads="1"/>
          </p:cNvSpPr>
          <p:nvPr>
            <p:ph type="body" idx="4294967295"/>
          </p:nvPr>
        </p:nvSpPr>
        <p:spPr>
          <a:xfrm>
            <a:off x="685800" y="1123950"/>
            <a:ext cx="7772400" cy="5257800"/>
          </a:xfrm>
        </p:spPr>
        <p:txBody>
          <a:bodyPr/>
          <a:lstStyle/>
          <a:p>
            <a:pPr marL="0" lvl="1" indent="0" eaLnBrk="1" hangingPunct="1">
              <a:buFontTx/>
              <a:buNone/>
            </a:pPr>
            <a:r>
              <a:rPr lang="zh-CN" altLang="en-US" sz="2400" b="1" dirty="0">
                <a:ea typeface="宋体" panose="02010600030101010101" pitchFamily="2" charset="-122"/>
              </a:rPr>
              <a:t>点状影孔板工作原理</a:t>
            </a:r>
            <a:endParaRPr lang="zh-CN" altLang="en-US" sz="2400" b="1" dirty="0">
              <a:ea typeface="宋体" panose="02010600030101010101" pitchFamily="2" charset="-122"/>
            </a:endParaRPr>
          </a:p>
          <a:p>
            <a:pPr marL="361950" lvl="2" indent="-361950" eaLnBrk="1" hangingPunct="1"/>
            <a:r>
              <a:rPr lang="zh-CN" altLang="en-US" b="1" dirty="0">
                <a:ea typeface="宋体" panose="02010600030101010101" pitchFamily="2" charset="-122"/>
              </a:rPr>
              <a:t>三支电子枪</a:t>
            </a:r>
            <a:endParaRPr lang="zh-CN" altLang="en-US" b="1" dirty="0">
              <a:ea typeface="宋体" panose="02010600030101010101" pitchFamily="2" charset="-122"/>
            </a:endParaRPr>
          </a:p>
          <a:p>
            <a:pPr marL="361950" lvl="2" indent="-361950" eaLnBrk="1" hangingPunct="1"/>
            <a:r>
              <a:rPr lang="zh-CN" altLang="en-US" b="1" dirty="0">
                <a:ea typeface="宋体" panose="02010600030101010101" pitchFamily="2" charset="-122"/>
              </a:rPr>
              <a:t>红、绿、兰三基色</a:t>
            </a:r>
            <a:endParaRPr lang="zh-CN" altLang="en-US" b="1" dirty="0">
              <a:ea typeface="宋体" panose="02010600030101010101" pitchFamily="2" charset="-122"/>
            </a:endParaRPr>
          </a:p>
          <a:p>
            <a:pPr marL="361950" lvl="2" indent="-361950" eaLnBrk="1" hangingPunct="1"/>
            <a:r>
              <a:rPr lang="zh-CN" altLang="en-US" b="1" dirty="0">
                <a:ea typeface="宋体" panose="02010600030101010101" pitchFamily="2" charset="-122"/>
              </a:rPr>
              <a:t>荧光点很小并充分靠近</a:t>
            </a:r>
            <a:endParaRPr lang="zh-CN" altLang="en-US" b="1" dirty="0">
              <a:ea typeface="宋体" panose="02010600030101010101" pitchFamily="2" charset="-122"/>
            </a:endParaRPr>
          </a:p>
        </p:txBody>
      </p:sp>
      <p:pic>
        <p:nvPicPr>
          <p:cNvPr id="11271" name="Picture 4" descr="1p1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3429000"/>
            <a:ext cx="5154613"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8" name="Text Box 6"/>
          <p:cNvSpPr txBox="1">
            <a:spLocks noChangeArrowheads="1"/>
          </p:cNvSpPr>
          <p:nvPr/>
        </p:nvSpPr>
        <p:spPr bwMode="auto">
          <a:xfrm>
            <a:off x="669925" y="4211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1274" name="Text Box 7"/>
          <p:cNvSpPr txBox="1">
            <a:spLocks noChangeArrowheads="1"/>
          </p:cNvSpPr>
          <p:nvPr/>
        </p:nvSpPr>
        <p:spPr bwMode="auto">
          <a:xfrm>
            <a:off x="5867400" y="4191000"/>
            <a:ext cx="2860675"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r>
              <a:rPr kumimoji="1" lang="zh-CN" altLang="en-US" sz="2400" dirty="0">
                <a:latin typeface="Times New Roman" panose="02020603050405020304" pitchFamily="18" charset="0"/>
                <a:ea typeface="宋体" panose="02010600030101010101" pitchFamily="2" charset="-122"/>
              </a:rPr>
              <a:t>电子枪、影孔板中的一个小孔和</a:t>
            </a:r>
            <a:r>
              <a:rPr kumimoji="1" lang="zh-CN" altLang="en-US" sz="2400" b="1" dirty="0">
                <a:latin typeface="Times New Roman" panose="02020603050405020304" pitchFamily="18" charset="0"/>
                <a:ea typeface="宋体" panose="02010600030101010101" pitchFamily="2" charset="-122"/>
              </a:rPr>
              <a:t>荧光点</a:t>
            </a:r>
            <a:r>
              <a:rPr kumimoji="1" lang="zh-CN" altLang="en-US" sz="2400" dirty="0">
                <a:latin typeface="Times New Roman" panose="02020603050405020304" pitchFamily="18" charset="0"/>
                <a:ea typeface="宋体" panose="02010600030101010101" pitchFamily="2" charset="-122"/>
              </a:rPr>
              <a:t>呈一直线；</a:t>
            </a:r>
            <a:endParaRPr kumimoji="1" lang="zh-CN" altLang="en-US" sz="2400" dirty="0">
              <a:latin typeface="Times New Roman" panose="02020603050405020304" pitchFamily="18" charset="0"/>
              <a:ea typeface="宋体" panose="02010600030101010101" pitchFamily="2" charset="-122"/>
            </a:endParaRPr>
          </a:p>
          <a:p>
            <a:pPr eaLnBrk="1" hangingPunct="1"/>
            <a:r>
              <a:rPr kumimoji="1" lang="zh-CN" altLang="en-US" sz="2400" dirty="0">
                <a:latin typeface="Times New Roman" panose="02020603050405020304" pitchFamily="18" charset="0"/>
                <a:ea typeface="宋体" panose="02010600030101010101" pitchFamily="2" charset="-122"/>
              </a:rPr>
              <a:t>每个小孔与一个像素（即三个</a:t>
            </a:r>
            <a:r>
              <a:rPr kumimoji="1" lang="zh-CN" altLang="en-US" sz="2400" b="1" dirty="0">
                <a:latin typeface="Times New Roman" panose="02020603050405020304" pitchFamily="18" charset="0"/>
                <a:ea typeface="宋体" panose="02010600030101010101" pitchFamily="2" charset="-122"/>
              </a:rPr>
              <a:t>荧光点</a:t>
            </a:r>
            <a:r>
              <a:rPr kumimoji="1" lang="zh-CN" altLang="en-US" sz="2400" dirty="0">
                <a:latin typeface="Times New Roman" panose="02020603050405020304" pitchFamily="18" charset="0"/>
                <a:ea typeface="宋体" panose="02010600030101010101" pitchFamily="2" charset="-122"/>
              </a:rPr>
              <a:t>）对应</a:t>
            </a:r>
            <a:endParaRPr kumimoji="1" lang="zh-CN" altLang="en-US" sz="2400" dirty="0">
              <a:latin typeface="Times New Roman" panose="02020603050405020304" pitchFamily="18" charset="0"/>
              <a:ea typeface="宋体" panose="02010600030101010101" pitchFamily="2" charset="-122"/>
            </a:endParaRPr>
          </a:p>
        </p:txBody>
      </p:sp>
      <p:grpSp>
        <p:nvGrpSpPr>
          <p:cNvPr id="2" name="Group 8"/>
          <p:cNvGrpSpPr/>
          <p:nvPr/>
        </p:nvGrpSpPr>
        <p:grpSpPr bwMode="auto">
          <a:xfrm>
            <a:off x="5410200" y="1143000"/>
            <a:ext cx="2971800" cy="2514600"/>
            <a:chOff x="4704" y="672"/>
            <a:chExt cx="1008" cy="960"/>
          </a:xfrm>
        </p:grpSpPr>
        <p:sp>
          <p:nvSpPr>
            <p:cNvPr id="10252" name="Rectangle 4"/>
            <p:cNvSpPr>
              <a:spLocks noChangeArrowheads="1"/>
            </p:cNvSpPr>
            <p:nvPr/>
          </p:nvSpPr>
          <p:spPr bwMode="auto">
            <a:xfrm>
              <a:off x="4704" y="672"/>
              <a:ext cx="1008" cy="960"/>
            </a:xfrm>
            <a:prstGeom prst="rect">
              <a:avLst/>
            </a:prstGeom>
            <a:solidFill>
              <a:schemeClr val="bg2"/>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53" name="Oval 5"/>
            <p:cNvSpPr>
              <a:spLocks noChangeArrowheads="1"/>
            </p:cNvSpPr>
            <p:nvPr/>
          </p:nvSpPr>
          <p:spPr bwMode="auto">
            <a:xfrm>
              <a:off x="4704" y="72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54" name="Oval 6"/>
            <p:cNvSpPr>
              <a:spLocks noChangeArrowheads="1"/>
            </p:cNvSpPr>
            <p:nvPr/>
          </p:nvSpPr>
          <p:spPr bwMode="auto">
            <a:xfrm>
              <a:off x="4800" y="81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55" name="Oval 7"/>
            <p:cNvSpPr>
              <a:spLocks noChangeArrowheads="1"/>
            </p:cNvSpPr>
            <p:nvPr/>
          </p:nvSpPr>
          <p:spPr bwMode="auto">
            <a:xfrm>
              <a:off x="4896" y="91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56" name="Oval 8"/>
            <p:cNvSpPr>
              <a:spLocks noChangeArrowheads="1"/>
            </p:cNvSpPr>
            <p:nvPr/>
          </p:nvSpPr>
          <p:spPr bwMode="auto">
            <a:xfrm>
              <a:off x="4992" y="100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57" name="Oval 9"/>
            <p:cNvSpPr>
              <a:spLocks noChangeArrowheads="1"/>
            </p:cNvSpPr>
            <p:nvPr/>
          </p:nvSpPr>
          <p:spPr bwMode="auto">
            <a:xfrm>
              <a:off x="5088" y="1104"/>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58" name="Oval 10"/>
            <p:cNvSpPr>
              <a:spLocks noChangeArrowheads="1"/>
            </p:cNvSpPr>
            <p:nvPr/>
          </p:nvSpPr>
          <p:spPr bwMode="auto">
            <a:xfrm>
              <a:off x="5184" y="120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59" name="Oval 11"/>
            <p:cNvSpPr>
              <a:spLocks noChangeArrowheads="1"/>
            </p:cNvSpPr>
            <p:nvPr/>
          </p:nvSpPr>
          <p:spPr bwMode="auto">
            <a:xfrm>
              <a:off x="4848" y="72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60" name="Oval 12"/>
            <p:cNvSpPr>
              <a:spLocks noChangeArrowheads="1"/>
            </p:cNvSpPr>
            <p:nvPr/>
          </p:nvSpPr>
          <p:spPr bwMode="auto">
            <a:xfrm>
              <a:off x="4944" y="81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61" name="Oval 13"/>
            <p:cNvSpPr>
              <a:spLocks noChangeArrowheads="1"/>
            </p:cNvSpPr>
            <p:nvPr/>
          </p:nvSpPr>
          <p:spPr bwMode="auto">
            <a:xfrm>
              <a:off x="5040" y="91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62" name="Oval 14"/>
            <p:cNvSpPr>
              <a:spLocks noChangeArrowheads="1"/>
            </p:cNvSpPr>
            <p:nvPr/>
          </p:nvSpPr>
          <p:spPr bwMode="auto">
            <a:xfrm>
              <a:off x="5136" y="100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63" name="Oval 15"/>
            <p:cNvSpPr>
              <a:spLocks noChangeArrowheads="1"/>
            </p:cNvSpPr>
            <p:nvPr/>
          </p:nvSpPr>
          <p:spPr bwMode="auto">
            <a:xfrm>
              <a:off x="5232" y="1104"/>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64" name="Oval 16"/>
            <p:cNvSpPr>
              <a:spLocks noChangeArrowheads="1"/>
            </p:cNvSpPr>
            <p:nvPr/>
          </p:nvSpPr>
          <p:spPr bwMode="auto">
            <a:xfrm>
              <a:off x="5328" y="120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65" name="Oval 17"/>
            <p:cNvSpPr>
              <a:spLocks noChangeArrowheads="1"/>
            </p:cNvSpPr>
            <p:nvPr/>
          </p:nvSpPr>
          <p:spPr bwMode="auto">
            <a:xfrm>
              <a:off x="4992" y="72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66" name="Oval 18"/>
            <p:cNvSpPr>
              <a:spLocks noChangeArrowheads="1"/>
            </p:cNvSpPr>
            <p:nvPr/>
          </p:nvSpPr>
          <p:spPr bwMode="auto">
            <a:xfrm>
              <a:off x="5088" y="81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67" name="Oval 19"/>
            <p:cNvSpPr>
              <a:spLocks noChangeArrowheads="1"/>
            </p:cNvSpPr>
            <p:nvPr/>
          </p:nvSpPr>
          <p:spPr bwMode="auto">
            <a:xfrm>
              <a:off x="5184" y="91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68" name="Oval 20"/>
            <p:cNvSpPr>
              <a:spLocks noChangeArrowheads="1"/>
            </p:cNvSpPr>
            <p:nvPr/>
          </p:nvSpPr>
          <p:spPr bwMode="auto">
            <a:xfrm>
              <a:off x="5280" y="100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69" name="Oval 21"/>
            <p:cNvSpPr>
              <a:spLocks noChangeArrowheads="1"/>
            </p:cNvSpPr>
            <p:nvPr/>
          </p:nvSpPr>
          <p:spPr bwMode="auto">
            <a:xfrm>
              <a:off x="5376" y="1104"/>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70" name="Oval 22"/>
            <p:cNvSpPr>
              <a:spLocks noChangeArrowheads="1"/>
            </p:cNvSpPr>
            <p:nvPr/>
          </p:nvSpPr>
          <p:spPr bwMode="auto">
            <a:xfrm>
              <a:off x="5136" y="72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71" name="Oval 23"/>
            <p:cNvSpPr>
              <a:spLocks noChangeArrowheads="1"/>
            </p:cNvSpPr>
            <p:nvPr/>
          </p:nvSpPr>
          <p:spPr bwMode="auto">
            <a:xfrm>
              <a:off x="5232" y="81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72" name="Oval 24"/>
            <p:cNvSpPr>
              <a:spLocks noChangeArrowheads="1"/>
            </p:cNvSpPr>
            <p:nvPr/>
          </p:nvSpPr>
          <p:spPr bwMode="auto">
            <a:xfrm>
              <a:off x="5328" y="91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73" name="Oval 25"/>
            <p:cNvSpPr>
              <a:spLocks noChangeArrowheads="1"/>
            </p:cNvSpPr>
            <p:nvPr/>
          </p:nvSpPr>
          <p:spPr bwMode="auto">
            <a:xfrm>
              <a:off x="5424" y="100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74" name="Oval 26"/>
            <p:cNvSpPr>
              <a:spLocks noChangeArrowheads="1"/>
            </p:cNvSpPr>
            <p:nvPr/>
          </p:nvSpPr>
          <p:spPr bwMode="auto">
            <a:xfrm>
              <a:off x="5280" y="72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75" name="Oval 27"/>
            <p:cNvSpPr>
              <a:spLocks noChangeArrowheads="1"/>
            </p:cNvSpPr>
            <p:nvPr/>
          </p:nvSpPr>
          <p:spPr bwMode="auto">
            <a:xfrm>
              <a:off x="5376" y="81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76" name="Oval 28"/>
            <p:cNvSpPr>
              <a:spLocks noChangeArrowheads="1"/>
            </p:cNvSpPr>
            <p:nvPr/>
          </p:nvSpPr>
          <p:spPr bwMode="auto">
            <a:xfrm>
              <a:off x="5472" y="91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77" name="Oval 29"/>
            <p:cNvSpPr>
              <a:spLocks noChangeArrowheads="1"/>
            </p:cNvSpPr>
            <p:nvPr/>
          </p:nvSpPr>
          <p:spPr bwMode="auto">
            <a:xfrm>
              <a:off x="5424" y="72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78" name="Oval 30"/>
            <p:cNvSpPr>
              <a:spLocks noChangeArrowheads="1"/>
            </p:cNvSpPr>
            <p:nvPr/>
          </p:nvSpPr>
          <p:spPr bwMode="auto">
            <a:xfrm>
              <a:off x="5520" y="81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79" name="Oval 31"/>
            <p:cNvSpPr>
              <a:spLocks noChangeArrowheads="1"/>
            </p:cNvSpPr>
            <p:nvPr/>
          </p:nvSpPr>
          <p:spPr bwMode="auto">
            <a:xfrm>
              <a:off x="5568" y="72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80" name="Oval 32"/>
            <p:cNvSpPr>
              <a:spLocks noChangeArrowheads="1"/>
            </p:cNvSpPr>
            <p:nvPr/>
          </p:nvSpPr>
          <p:spPr bwMode="auto">
            <a:xfrm>
              <a:off x="4752" y="91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81" name="Oval 33"/>
            <p:cNvSpPr>
              <a:spLocks noChangeArrowheads="1"/>
            </p:cNvSpPr>
            <p:nvPr/>
          </p:nvSpPr>
          <p:spPr bwMode="auto">
            <a:xfrm>
              <a:off x="4848" y="100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82" name="Oval 34"/>
            <p:cNvSpPr>
              <a:spLocks noChangeArrowheads="1"/>
            </p:cNvSpPr>
            <p:nvPr/>
          </p:nvSpPr>
          <p:spPr bwMode="auto">
            <a:xfrm>
              <a:off x="4944" y="1104"/>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83" name="Oval 35"/>
            <p:cNvSpPr>
              <a:spLocks noChangeArrowheads="1"/>
            </p:cNvSpPr>
            <p:nvPr/>
          </p:nvSpPr>
          <p:spPr bwMode="auto">
            <a:xfrm>
              <a:off x="5040" y="120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84" name="Oval 36"/>
            <p:cNvSpPr>
              <a:spLocks noChangeArrowheads="1"/>
            </p:cNvSpPr>
            <p:nvPr/>
          </p:nvSpPr>
          <p:spPr bwMode="auto">
            <a:xfrm>
              <a:off x="5568" y="100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85" name="Oval 37"/>
            <p:cNvSpPr>
              <a:spLocks noChangeArrowheads="1"/>
            </p:cNvSpPr>
            <p:nvPr/>
          </p:nvSpPr>
          <p:spPr bwMode="auto">
            <a:xfrm>
              <a:off x="5136" y="129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86" name="Oval 38"/>
            <p:cNvSpPr>
              <a:spLocks noChangeArrowheads="1"/>
            </p:cNvSpPr>
            <p:nvPr/>
          </p:nvSpPr>
          <p:spPr bwMode="auto">
            <a:xfrm>
              <a:off x="5232" y="139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87" name="Oval 39"/>
            <p:cNvSpPr>
              <a:spLocks noChangeArrowheads="1"/>
            </p:cNvSpPr>
            <p:nvPr/>
          </p:nvSpPr>
          <p:spPr bwMode="auto">
            <a:xfrm>
              <a:off x="5328" y="148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88" name="Oval 40"/>
            <p:cNvSpPr>
              <a:spLocks noChangeArrowheads="1"/>
            </p:cNvSpPr>
            <p:nvPr/>
          </p:nvSpPr>
          <p:spPr bwMode="auto">
            <a:xfrm>
              <a:off x="5280" y="129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89" name="Oval 41"/>
            <p:cNvSpPr>
              <a:spLocks noChangeArrowheads="1"/>
            </p:cNvSpPr>
            <p:nvPr/>
          </p:nvSpPr>
          <p:spPr bwMode="auto">
            <a:xfrm>
              <a:off x="5376" y="139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90" name="Oval 42"/>
            <p:cNvSpPr>
              <a:spLocks noChangeArrowheads="1"/>
            </p:cNvSpPr>
            <p:nvPr/>
          </p:nvSpPr>
          <p:spPr bwMode="auto">
            <a:xfrm>
              <a:off x="5472" y="148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91" name="Oval 43"/>
            <p:cNvSpPr>
              <a:spLocks noChangeArrowheads="1"/>
            </p:cNvSpPr>
            <p:nvPr/>
          </p:nvSpPr>
          <p:spPr bwMode="auto">
            <a:xfrm>
              <a:off x="4704" y="100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92" name="Oval 44"/>
            <p:cNvSpPr>
              <a:spLocks noChangeArrowheads="1"/>
            </p:cNvSpPr>
            <p:nvPr/>
          </p:nvSpPr>
          <p:spPr bwMode="auto">
            <a:xfrm>
              <a:off x="4800" y="1104"/>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93" name="Oval 45"/>
            <p:cNvSpPr>
              <a:spLocks noChangeArrowheads="1"/>
            </p:cNvSpPr>
            <p:nvPr/>
          </p:nvSpPr>
          <p:spPr bwMode="auto">
            <a:xfrm>
              <a:off x="4896" y="120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94" name="Oval 46"/>
            <p:cNvSpPr>
              <a:spLocks noChangeArrowheads="1"/>
            </p:cNvSpPr>
            <p:nvPr/>
          </p:nvSpPr>
          <p:spPr bwMode="auto">
            <a:xfrm>
              <a:off x="4992" y="129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95" name="Oval 47"/>
            <p:cNvSpPr>
              <a:spLocks noChangeArrowheads="1"/>
            </p:cNvSpPr>
            <p:nvPr/>
          </p:nvSpPr>
          <p:spPr bwMode="auto">
            <a:xfrm>
              <a:off x="5088" y="139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96" name="Oval 48"/>
            <p:cNvSpPr>
              <a:spLocks noChangeArrowheads="1"/>
            </p:cNvSpPr>
            <p:nvPr/>
          </p:nvSpPr>
          <p:spPr bwMode="auto">
            <a:xfrm>
              <a:off x="5184" y="148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97" name="Oval 49"/>
            <p:cNvSpPr>
              <a:spLocks noChangeArrowheads="1"/>
            </p:cNvSpPr>
            <p:nvPr/>
          </p:nvSpPr>
          <p:spPr bwMode="auto">
            <a:xfrm>
              <a:off x="4752" y="120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98" name="Oval 50"/>
            <p:cNvSpPr>
              <a:spLocks noChangeArrowheads="1"/>
            </p:cNvSpPr>
            <p:nvPr/>
          </p:nvSpPr>
          <p:spPr bwMode="auto">
            <a:xfrm>
              <a:off x="4848" y="129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299" name="Oval 51"/>
            <p:cNvSpPr>
              <a:spLocks noChangeArrowheads="1"/>
            </p:cNvSpPr>
            <p:nvPr/>
          </p:nvSpPr>
          <p:spPr bwMode="auto">
            <a:xfrm>
              <a:off x="4944" y="139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300" name="Oval 52"/>
            <p:cNvSpPr>
              <a:spLocks noChangeArrowheads="1"/>
            </p:cNvSpPr>
            <p:nvPr/>
          </p:nvSpPr>
          <p:spPr bwMode="auto">
            <a:xfrm>
              <a:off x="5040" y="148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301" name="Oval 53"/>
            <p:cNvSpPr>
              <a:spLocks noChangeArrowheads="1"/>
            </p:cNvSpPr>
            <p:nvPr/>
          </p:nvSpPr>
          <p:spPr bwMode="auto">
            <a:xfrm>
              <a:off x="4704" y="129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302" name="Oval 54"/>
            <p:cNvSpPr>
              <a:spLocks noChangeArrowheads="1"/>
            </p:cNvSpPr>
            <p:nvPr/>
          </p:nvSpPr>
          <p:spPr bwMode="auto">
            <a:xfrm>
              <a:off x="4800" y="139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303" name="Oval 55"/>
            <p:cNvSpPr>
              <a:spLocks noChangeArrowheads="1"/>
            </p:cNvSpPr>
            <p:nvPr/>
          </p:nvSpPr>
          <p:spPr bwMode="auto">
            <a:xfrm>
              <a:off x="4896" y="148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304" name="Oval 56"/>
            <p:cNvSpPr>
              <a:spLocks noChangeArrowheads="1"/>
            </p:cNvSpPr>
            <p:nvPr/>
          </p:nvSpPr>
          <p:spPr bwMode="auto">
            <a:xfrm>
              <a:off x="4752" y="148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305" name="Oval 57"/>
            <p:cNvSpPr>
              <a:spLocks noChangeArrowheads="1"/>
            </p:cNvSpPr>
            <p:nvPr/>
          </p:nvSpPr>
          <p:spPr bwMode="auto">
            <a:xfrm>
              <a:off x="5520" y="1104"/>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306" name="Oval 58"/>
            <p:cNvSpPr>
              <a:spLocks noChangeArrowheads="1"/>
            </p:cNvSpPr>
            <p:nvPr/>
          </p:nvSpPr>
          <p:spPr bwMode="auto">
            <a:xfrm>
              <a:off x="5616" y="120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307" name="Oval 59"/>
            <p:cNvSpPr>
              <a:spLocks noChangeArrowheads="1"/>
            </p:cNvSpPr>
            <p:nvPr/>
          </p:nvSpPr>
          <p:spPr bwMode="auto">
            <a:xfrm>
              <a:off x="5424" y="129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308" name="Oval 60"/>
            <p:cNvSpPr>
              <a:spLocks noChangeArrowheads="1"/>
            </p:cNvSpPr>
            <p:nvPr/>
          </p:nvSpPr>
          <p:spPr bwMode="auto">
            <a:xfrm>
              <a:off x="5472" y="120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309" name="Oval 61"/>
            <p:cNvSpPr>
              <a:spLocks noChangeArrowheads="1"/>
            </p:cNvSpPr>
            <p:nvPr/>
          </p:nvSpPr>
          <p:spPr bwMode="auto">
            <a:xfrm>
              <a:off x="5520" y="139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310" name="Oval 62"/>
            <p:cNvSpPr>
              <a:spLocks noChangeArrowheads="1"/>
            </p:cNvSpPr>
            <p:nvPr/>
          </p:nvSpPr>
          <p:spPr bwMode="auto">
            <a:xfrm>
              <a:off x="5568" y="129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0311" name="Oval 63"/>
            <p:cNvSpPr>
              <a:spLocks noChangeArrowheads="1"/>
            </p:cNvSpPr>
            <p:nvPr/>
          </p:nvSpPr>
          <p:spPr bwMode="auto">
            <a:xfrm>
              <a:off x="5616" y="148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grpSp>
      <p:sp>
        <p:nvSpPr>
          <p:cNvPr id="10251" name="日期占位符 2"/>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45D1BBEB-AB9C-4E10-9CD8-4200B3ECC2C6}"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271"/>
                                        </p:tgtEl>
                                        <p:attrNameLst>
                                          <p:attrName>style.visibility</p:attrName>
                                        </p:attrNameLst>
                                      </p:cBhvr>
                                      <p:to>
                                        <p:strVal val="visible"/>
                                      </p:to>
                                    </p:set>
                                    <p:animEffect transition="in" filter="blinds(horizontal)">
                                      <p:cBhvr>
                                        <p:cTn id="7" dur="500"/>
                                        <p:tgtEl>
                                          <p:spTgt spid="1127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274"/>
                                        </p:tgtEl>
                                        <p:attrNameLst>
                                          <p:attrName>style.visibility</p:attrName>
                                        </p:attrNameLst>
                                      </p:cBhvr>
                                      <p:to>
                                        <p:strVal val="visible"/>
                                      </p:to>
                                    </p:set>
                                    <p:animEffect transition="in" filter="blinds(horizontal)">
                                      <p:cBhvr>
                                        <p:cTn id="17" dur="500"/>
                                        <p:tgtEl>
                                          <p:spTgt spid="11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F34865C5-A39B-46CD-9869-5537C58B43DF}" type="slidenum">
              <a:rPr lang="zh-CN" altLang="en-US">
                <a:ea typeface="宋体" panose="02010600030101010101" pitchFamily="2" charset="-122"/>
              </a:rPr>
            </a:fld>
            <a:endParaRPr lang="en-US" altLang="zh-CN">
              <a:ea typeface="宋体" panose="02010600030101010101" pitchFamily="2" charset="-122"/>
            </a:endParaRPr>
          </a:p>
        </p:txBody>
      </p:sp>
      <p:sp>
        <p:nvSpPr>
          <p:cNvPr id="8"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802EFE88-CD37-496A-A2E8-092FCF82CF5D}" type="slidenum">
              <a:rPr lang="zh-CN" altLang="en-US" sz="1400">
                <a:ea typeface="宋体" panose="02010600030101010101" pitchFamily="2" charset="-122"/>
              </a:rPr>
            </a:fld>
            <a:endParaRPr lang="en-US" altLang="zh-CN" sz="1400">
              <a:ea typeface="宋体" panose="02010600030101010101" pitchFamily="2" charset="-122"/>
            </a:endParaRPr>
          </a:p>
        </p:txBody>
      </p:sp>
      <p:pic>
        <p:nvPicPr>
          <p:cNvPr id="11268" name="Picture 2" descr="1p15"/>
          <p:cNvPicPr>
            <a:picLocks noChangeAspect="1" noChangeArrowheads="1"/>
          </p:cNvPicPr>
          <p:nvPr/>
        </p:nvPicPr>
        <p:blipFill>
          <a:blip r:embed="rId1">
            <a:lum contrast="72000"/>
            <a:extLst>
              <a:ext uri="{28A0092B-C50C-407E-A947-70E740481C1C}">
                <a14:useLocalDpi xmlns:a14="http://schemas.microsoft.com/office/drawing/2010/main" val="0"/>
              </a:ext>
            </a:extLst>
          </a:blip>
          <a:srcRect/>
          <a:stretch>
            <a:fillRect/>
          </a:stretch>
        </p:blipFill>
        <p:spPr bwMode="auto">
          <a:xfrm>
            <a:off x="685800" y="1219200"/>
            <a:ext cx="4114800" cy="274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Picture 3" descr="1p16"/>
          <p:cNvPicPr>
            <a:picLocks noChangeAspect="1" noChangeArrowheads="1"/>
          </p:cNvPicPr>
          <p:nvPr/>
        </p:nvPicPr>
        <p:blipFill>
          <a:blip r:embed="rId2">
            <a:lum contrast="72000"/>
            <a:extLst>
              <a:ext uri="{28A0092B-C50C-407E-A947-70E740481C1C}">
                <a14:useLocalDpi xmlns:a14="http://schemas.microsoft.com/office/drawing/2010/main" val="0"/>
              </a:ext>
            </a:extLst>
          </a:blip>
          <a:srcRect/>
          <a:stretch>
            <a:fillRect/>
          </a:stretch>
        </p:blipFill>
        <p:spPr bwMode="auto">
          <a:xfrm>
            <a:off x="5257800" y="1219200"/>
            <a:ext cx="3470275" cy="277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7" name="Text Box 4"/>
          <p:cNvSpPr txBox="1">
            <a:spLocks noChangeArrowheads="1"/>
          </p:cNvSpPr>
          <p:nvPr/>
        </p:nvSpPr>
        <p:spPr bwMode="auto">
          <a:xfrm>
            <a:off x="323850" y="4365625"/>
            <a:ext cx="8640763" cy="22463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r>
              <a:rPr kumimoji="1" lang="zh-CN" altLang="en-US" sz="2800" dirty="0">
                <a:solidFill>
                  <a:schemeClr val="accent2"/>
                </a:solidFill>
                <a:latin typeface="Times New Roman" panose="02020603050405020304" pitchFamily="18" charset="0"/>
                <a:ea typeface="宋体" panose="02010600030101010101" pitchFamily="2" charset="-122"/>
              </a:rPr>
              <a:t>显示器能显示颜色个数</a:t>
            </a:r>
            <a:r>
              <a:rPr kumimoji="1" lang="en-US" altLang="zh-CN" sz="2800" dirty="0">
                <a:latin typeface="Times New Roman" panose="02020603050405020304" pitchFamily="18" charset="0"/>
                <a:ea typeface="宋体" panose="02010600030101010101" pitchFamily="2" charset="-122"/>
              </a:rPr>
              <a:t>:</a:t>
            </a:r>
            <a:r>
              <a:rPr kumimoji="1" lang="zh-CN" altLang="en-US" sz="2800" dirty="0">
                <a:latin typeface="Times New Roman" panose="02020603050405020304" pitchFamily="18" charset="0"/>
                <a:ea typeface="宋体" panose="02010600030101010101" pitchFamily="2" charset="-122"/>
              </a:rPr>
              <a:t>调节各电子枪发生的电子束强度，来控制各色光点亮度</a:t>
            </a:r>
            <a:endParaRPr kumimoji="1" lang="zh-CN" altLang="en-US" sz="2800" dirty="0">
              <a:latin typeface="Times New Roman" panose="02020603050405020304" pitchFamily="18" charset="0"/>
              <a:ea typeface="宋体" panose="02010600030101010101" pitchFamily="2" charset="-122"/>
            </a:endParaRPr>
          </a:p>
          <a:p>
            <a:pPr eaLnBrk="1" hangingPunct="1"/>
            <a:r>
              <a:rPr kumimoji="1" lang="zh-CN" altLang="en-US" sz="2800" dirty="0">
                <a:latin typeface="Times New Roman" panose="02020603050405020304" pitchFamily="18" charset="0"/>
                <a:ea typeface="宋体" panose="02010600030101010101" pitchFamily="2" charset="-122"/>
              </a:rPr>
              <a:t>如果每支电子枪发出电子束的强度有256个等级，则显示器能同时显示256*256*256=16</a:t>
            </a:r>
            <a:r>
              <a:rPr kumimoji="1" lang="en-US" altLang="zh-CN" sz="2800" dirty="0">
                <a:latin typeface="Times New Roman" panose="02020603050405020304" pitchFamily="18" charset="0"/>
                <a:ea typeface="宋体" panose="02010600030101010101" pitchFamily="2" charset="-122"/>
              </a:rPr>
              <a:t>M</a:t>
            </a:r>
            <a:r>
              <a:rPr kumimoji="1" lang="zh-CN" altLang="en-US" sz="2800" dirty="0">
                <a:latin typeface="Times New Roman" panose="02020603050405020304" pitchFamily="18" charset="0"/>
                <a:ea typeface="宋体" panose="02010600030101010101" pitchFamily="2" charset="-122"/>
              </a:rPr>
              <a:t>种颜色</a:t>
            </a:r>
            <a:endParaRPr kumimoji="1" lang="en-US" altLang="zh-CN" sz="2800" dirty="0">
              <a:latin typeface="Times New Roman" panose="02020603050405020304" pitchFamily="18" charset="0"/>
              <a:ea typeface="宋体" panose="02010600030101010101" pitchFamily="2" charset="-122"/>
            </a:endParaRPr>
          </a:p>
          <a:p>
            <a:pPr eaLnBrk="1" hangingPunct="1"/>
            <a:r>
              <a:rPr kumimoji="1" lang="zh-CN" altLang="en-US" sz="2800" dirty="0">
                <a:latin typeface="Times New Roman" panose="02020603050405020304" pitchFamily="18" charset="0"/>
                <a:ea typeface="宋体" panose="02010600030101010101" pitchFamily="2" charset="-122"/>
              </a:rPr>
              <a:t>真彩色系统</a:t>
            </a:r>
            <a:endParaRPr kumimoji="1" lang="zh-CN" altLang="en-US" sz="2800" dirty="0">
              <a:latin typeface="Times New Roman" panose="02020603050405020304" pitchFamily="18" charset="0"/>
              <a:ea typeface="宋体" panose="02010600030101010101" pitchFamily="2" charset="-122"/>
            </a:endParaRPr>
          </a:p>
        </p:txBody>
      </p:sp>
      <p:sp>
        <p:nvSpPr>
          <p:cNvPr id="11271" name="Rectangle 5"/>
          <p:cNvSpPr>
            <a:spLocks noGrp="1" noChangeArrowheads="1"/>
          </p:cNvSpPr>
          <p:nvPr>
            <p:ph type="title" idx="4294967295"/>
          </p:nvPr>
        </p:nvSpPr>
        <p:spPr>
          <a:xfrm>
            <a:off x="685800" y="152400"/>
            <a:ext cx="7772400" cy="609600"/>
          </a:xfrm>
          <a:noFill/>
        </p:spPr>
        <p:txBody>
          <a:bodyPr/>
          <a:lstStyle/>
          <a:p>
            <a:pPr eaLnBrk="1" hangingPunct="1"/>
            <a:r>
              <a:rPr lang="zh-CN" altLang="en-US" sz="3600">
                <a:ea typeface="宋体" panose="02010600030101010101" pitchFamily="2" charset="-122"/>
              </a:rPr>
              <a:t>彩色阴极射线管-</a:t>
            </a:r>
            <a:r>
              <a:rPr lang="zh-CN" altLang="en-US" sz="2800">
                <a:ea typeface="宋体" panose="02010600030101010101" pitchFamily="2" charset="-122"/>
              </a:rPr>
              <a:t>影孔板法</a:t>
            </a:r>
            <a:endParaRPr lang="zh-CN" altLang="en-US" sz="2800">
              <a:ea typeface="宋体" panose="02010600030101010101" pitchFamily="2" charset="-122"/>
            </a:endParaRPr>
          </a:p>
        </p:txBody>
      </p:sp>
      <p:sp>
        <p:nvSpPr>
          <p:cNvPr id="11273"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B325C493-6D46-4EE6-A14C-BA8ACB67E863}"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5367">
                                            <p:txEl>
                                              <p:pRg st="0" end="0"/>
                                            </p:txEl>
                                          </p:spTgt>
                                        </p:tgtEl>
                                        <p:attrNameLst>
                                          <p:attrName>style.visibility</p:attrName>
                                        </p:attrNameLst>
                                      </p:cBhvr>
                                      <p:to>
                                        <p:strVal val="visible"/>
                                      </p:to>
                                    </p:set>
                                    <p:animEffect transition="in" filter="checkerboard(across)">
                                      <p:cBhvr>
                                        <p:cTn id="7" dur="500"/>
                                        <p:tgtEl>
                                          <p:spTgt spid="153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5367">
                                            <p:txEl>
                                              <p:pRg st="1" end="1"/>
                                            </p:txEl>
                                          </p:spTgt>
                                        </p:tgtEl>
                                        <p:attrNameLst>
                                          <p:attrName>style.visibility</p:attrName>
                                        </p:attrNameLst>
                                      </p:cBhvr>
                                      <p:to>
                                        <p:strVal val="visible"/>
                                      </p:to>
                                    </p:set>
                                    <p:animEffect transition="in" filter="checkerboard(across)">
                                      <p:cBhvr>
                                        <p:cTn id="12" dur="500"/>
                                        <p:tgtEl>
                                          <p:spTgt spid="153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5367">
                                            <p:txEl>
                                              <p:pRg st="2" end="2"/>
                                            </p:txEl>
                                          </p:spTgt>
                                        </p:tgtEl>
                                        <p:attrNameLst>
                                          <p:attrName>style.visibility</p:attrName>
                                        </p:attrNameLst>
                                      </p:cBhvr>
                                      <p:to>
                                        <p:strVal val="visible"/>
                                      </p:to>
                                    </p:set>
                                    <p:animEffect transition="in" filter="checkerboard(across)">
                                      <p:cBhvr>
                                        <p:cTn id="17" dur="500"/>
                                        <p:tgtEl>
                                          <p:spTgt spid="153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8DD92A78-EB9F-45E8-8F1C-A45BA358DFD2}" type="slidenum">
              <a:rPr lang="zh-CN" altLang="en-US">
                <a:ea typeface="宋体" panose="02010600030101010101" pitchFamily="2" charset="-122"/>
              </a:rPr>
            </a:fld>
            <a:endParaRPr lang="en-US" altLang="zh-CN">
              <a:ea typeface="宋体" panose="02010600030101010101" pitchFamily="2" charset="-122"/>
            </a:endParaRPr>
          </a:p>
        </p:txBody>
      </p:sp>
      <p:sp>
        <p:nvSpPr>
          <p:cNvPr id="7"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8A9B2E42-F825-4B64-9EFE-5ED28D40F605}"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12292" name="Rectangle 2"/>
          <p:cNvSpPr>
            <a:spLocks noGrp="1" noChangeArrowheads="1"/>
          </p:cNvSpPr>
          <p:nvPr>
            <p:ph type="title" idx="4294967295"/>
          </p:nvPr>
        </p:nvSpPr>
        <p:spPr/>
        <p:txBody>
          <a:bodyPr/>
          <a:lstStyle/>
          <a:p>
            <a:pPr eaLnBrk="1" hangingPunct="1"/>
            <a:r>
              <a:rPr lang="zh-CN" altLang="en-US">
                <a:ea typeface="宋体" panose="02010600030101010101" pitchFamily="2" charset="-122"/>
              </a:rPr>
              <a:t>显示设备</a:t>
            </a:r>
            <a:r>
              <a:rPr lang="en-US" altLang="zh-CN">
                <a:ea typeface="宋体" panose="02010600030101010101" pitchFamily="2" charset="-122"/>
              </a:rPr>
              <a:t>-LCD</a:t>
            </a:r>
            <a:endParaRPr lang="zh-CN" altLang="en-US">
              <a:ea typeface="宋体" panose="02010600030101010101" pitchFamily="2" charset="-122"/>
            </a:endParaRPr>
          </a:p>
        </p:txBody>
      </p:sp>
      <p:sp>
        <p:nvSpPr>
          <p:cNvPr id="12293" name="Rectangle 3"/>
          <p:cNvSpPr>
            <a:spLocks noGrp="1" noChangeArrowheads="1"/>
          </p:cNvSpPr>
          <p:nvPr>
            <p:ph type="body" idx="4294967295"/>
          </p:nvPr>
        </p:nvSpPr>
        <p:spPr/>
        <p:txBody>
          <a:bodyPr/>
          <a:lstStyle/>
          <a:p>
            <a:pPr eaLnBrk="1" hangingPunct="1"/>
            <a:r>
              <a:rPr lang="en-US" altLang="zh-CN" dirty="0">
                <a:ea typeface="宋体" panose="02010600030101010101" pitchFamily="2" charset="-122"/>
              </a:rPr>
              <a:t>CRT</a:t>
            </a:r>
            <a:r>
              <a:rPr lang="zh-CN" altLang="en-US" dirty="0">
                <a:ea typeface="宋体" panose="02010600030101010101" pitchFamily="2" charset="-122"/>
              </a:rPr>
              <a:t>固有的物理结构限制了它向更广的显示领域发展</a:t>
            </a:r>
            <a:endParaRPr lang="zh-CN" altLang="en-US" dirty="0">
              <a:ea typeface="宋体" panose="02010600030101010101" pitchFamily="2" charset="-122"/>
            </a:endParaRPr>
          </a:p>
          <a:p>
            <a:pPr eaLnBrk="1" hangingPunct="1"/>
            <a:r>
              <a:rPr lang="zh-CN" altLang="en-US" dirty="0">
                <a:ea typeface="宋体" panose="02010600030101010101" pitchFamily="2" charset="-122"/>
              </a:rPr>
              <a:t>屏幕的加大必然导致显像管加长，显示器体积必然要加大，使用时就会受到空间限制</a:t>
            </a:r>
            <a:endParaRPr lang="en-US" altLang="zh-CN" dirty="0">
              <a:ea typeface="宋体" panose="02010600030101010101" pitchFamily="2" charset="-122"/>
            </a:endParaRPr>
          </a:p>
          <a:p>
            <a:pPr marL="342900" lvl="2" indent="-342900" eaLnBrk="1" hangingPunct="1"/>
            <a:r>
              <a:rPr lang="en-US" altLang="zh-CN" sz="3200" dirty="0">
                <a:ea typeface="宋体" panose="02010600030101010101" pitchFamily="2" charset="-122"/>
              </a:rPr>
              <a:t>CRT</a:t>
            </a:r>
            <a:r>
              <a:rPr lang="zh-CN" altLang="en-US" sz="3200" dirty="0">
                <a:ea typeface="宋体" panose="02010600030101010101" pitchFamily="2" charset="-122"/>
              </a:rPr>
              <a:t>是利用电子枪发射电子束来产生图像，容易受电磁波干扰</a:t>
            </a:r>
            <a:endParaRPr lang="en-US" altLang="zh-CN" sz="3200" dirty="0">
              <a:ea typeface="宋体" panose="02010600030101010101" pitchFamily="2" charset="-122"/>
            </a:endParaRPr>
          </a:p>
          <a:p>
            <a:pPr marL="342900" lvl="2" indent="-342900" eaLnBrk="1" hangingPunct="1"/>
            <a:r>
              <a:rPr lang="zh-CN" altLang="en-US" sz="3200" dirty="0">
                <a:ea typeface="宋体" panose="02010600030101010101" pitchFamily="2" charset="-122"/>
              </a:rPr>
              <a:t>长期电磁辐射会对人们健康产生不良影响</a:t>
            </a:r>
            <a:endParaRPr lang="zh-CN" altLang="en-US" sz="3200" dirty="0">
              <a:ea typeface="宋体" panose="02010600030101010101" pitchFamily="2" charset="-122"/>
            </a:endParaRPr>
          </a:p>
          <a:p>
            <a:pPr marL="342900" lvl="2" indent="-342900" eaLnBrk="1" hangingPunct="1"/>
            <a:endParaRPr lang="zh-CN" altLang="en-US" sz="2800" dirty="0">
              <a:ea typeface="宋体" panose="02010600030101010101" pitchFamily="2" charset="-122"/>
            </a:endParaRPr>
          </a:p>
          <a:p>
            <a:pPr eaLnBrk="1" hangingPunct="1"/>
            <a:endParaRPr lang="zh-CN" altLang="en-US" dirty="0">
              <a:ea typeface="宋体" panose="02010600030101010101" pitchFamily="2" charset="-122"/>
            </a:endParaRPr>
          </a:p>
          <a:p>
            <a:pPr eaLnBrk="1" hangingPunct="1"/>
            <a:endParaRPr lang="zh-CN" altLang="en-US" dirty="0">
              <a:ea typeface="宋体" panose="02010600030101010101" pitchFamily="2" charset="-122"/>
            </a:endParaRPr>
          </a:p>
        </p:txBody>
      </p:sp>
      <p:sp>
        <p:nvSpPr>
          <p:cNvPr id="12294"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64DFEC19-9969-47FB-BAB3-F71D78BE543B}" type="datetime10">
              <a:rPr lang="zh-CN" altLang="en-US" smtClean="0">
                <a:ea typeface="宋体" panose="02010600030101010101" pitchFamily="2" charset="-122"/>
              </a:rPr>
            </a:fld>
            <a:endParaRPr lang="en-US" altLang="zh-CN" dirty="0">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DB0D5E62-5C1C-43DE-9977-42B854A9CB02}" type="slidenum">
              <a:rPr lang="zh-CN" altLang="en-US">
                <a:ea typeface="宋体" panose="02010600030101010101" pitchFamily="2" charset="-122"/>
              </a:rPr>
            </a:fld>
            <a:endParaRPr lang="en-US" altLang="zh-CN">
              <a:ea typeface="宋体" panose="02010600030101010101" pitchFamily="2" charset="-122"/>
            </a:endParaRPr>
          </a:p>
        </p:txBody>
      </p:sp>
      <p:sp>
        <p:nvSpPr>
          <p:cNvPr id="6"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A0C6C605-D305-4611-8881-0EC2D5AE4CA4}"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14340" name="Rectangle 2"/>
          <p:cNvSpPr>
            <a:spLocks noGrp="1" noChangeArrowheads="1"/>
          </p:cNvSpPr>
          <p:nvPr>
            <p:ph type="title" idx="4294967295"/>
          </p:nvPr>
        </p:nvSpPr>
        <p:spPr/>
        <p:txBody>
          <a:bodyPr/>
          <a:lstStyle/>
          <a:p>
            <a:pPr eaLnBrk="1" hangingPunct="1"/>
            <a:r>
              <a:rPr lang="en-US" altLang="zh-CN">
                <a:ea typeface="宋体" panose="02010600030101010101" pitchFamily="2" charset="-122"/>
              </a:rPr>
              <a:t>LCD</a:t>
            </a:r>
            <a:r>
              <a:rPr lang="zh-CN" altLang="en-US">
                <a:ea typeface="宋体" panose="02010600030101010101" pitchFamily="2" charset="-122"/>
              </a:rPr>
              <a:t>显示基本原理</a:t>
            </a:r>
            <a:endParaRPr lang="zh-CN" altLang="en-US">
              <a:ea typeface="宋体" panose="02010600030101010101" pitchFamily="2" charset="-122"/>
            </a:endParaRPr>
          </a:p>
        </p:txBody>
      </p:sp>
      <p:sp>
        <p:nvSpPr>
          <p:cNvPr id="18438" name="Rectangle 3"/>
          <p:cNvSpPr>
            <a:spLocks noGrp="1" noChangeArrowheads="1"/>
          </p:cNvSpPr>
          <p:nvPr>
            <p:ph type="body" idx="4294967295"/>
          </p:nvPr>
        </p:nvSpPr>
        <p:spPr>
          <a:xfrm>
            <a:off x="395288" y="1196975"/>
            <a:ext cx="8497887" cy="5184775"/>
          </a:xfrm>
        </p:spPr>
        <p:txBody>
          <a:bodyPr/>
          <a:lstStyle/>
          <a:p>
            <a:pPr eaLnBrk="1" hangingPunct="1"/>
            <a:r>
              <a:rPr lang="zh-CN" altLang="en-US" dirty="0">
                <a:ea typeface="宋体" panose="02010600030101010101" pitchFamily="2" charset="-122"/>
              </a:rPr>
              <a:t>液晶是一种介于液体和固体之间的特殊物质。当液晶受到电压的影响时，就会改变它的物理性质而发生形变，此时通过它的光的折射角度就会发生变化，而产生色彩</a:t>
            </a:r>
            <a:endParaRPr lang="en-US" altLang="zh-CN" sz="2800" dirty="0">
              <a:ea typeface="宋体" panose="02010600030101010101" pitchFamily="2" charset="-122"/>
            </a:endParaRPr>
          </a:p>
          <a:p>
            <a:pPr eaLnBrk="1" hangingPunct="1"/>
            <a:r>
              <a:rPr lang="zh-CN" altLang="en-US" dirty="0">
                <a:ea typeface="宋体" panose="02010600030101010101" pitchFamily="2" charset="-122"/>
              </a:rPr>
              <a:t>液晶显示器的工作原理是利用液晶的物理特性，在通电时导通，使液晶排列变得有秩序，使光线容易通过；不通电时，排列则变得混乱，阻止光线通过</a:t>
            </a:r>
            <a:r>
              <a:rPr lang="zh-CN" altLang="en-US" sz="2800" dirty="0">
                <a:ea typeface="宋体" panose="02010600030101010101" pitchFamily="2" charset="-122"/>
              </a:rPr>
              <a:t> </a:t>
            </a:r>
            <a:endParaRPr lang="en-US" altLang="zh-CN" sz="2800" dirty="0">
              <a:ea typeface="宋体" panose="02010600030101010101" pitchFamily="2" charset="-122"/>
            </a:endParaRPr>
          </a:p>
        </p:txBody>
      </p:sp>
      <p:sp>
        <p:nvSpPr>
          <p:cNvPr id="14342"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881620B1-EE89-43A5-9E2A-B7735AF968EB}"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438">
                                            <p:txEl>
                                              <p:pRg st="1" end="1"/>
                                            </p:txEl>
                                          </p:spTgt>
                                        </p:tgtEl>
                                        <p:attrNameLst>
                                          <p:attrName>style.visibility</p:attrName>
                                        </p:attrNameLst>
                                      </p:cBhvr>
                                      <p:to>
                                        <p:strVal val="visible"/>
                                      </p:to>
                                    </p:set>
                                    <p:animEffect transition="in" filter="blinds(horizontal)">
                                      <p:cBhvr>
                                        <p:cTn id="7" dur="500"/>
                                        <p:tgtEl>
                                          <p:spTgt spid="1843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B89B1108-B751-472A-9B0B-21638BBF99B7}" type="slidenum">
              <a:rPr lang="zh-CN" altLang="en-US">
                <a:ea typeface="宋体" panose="02010600030101010101" pitchFamily="2" charset="-122"/>
              </a:rPr>
            </a:fld>
            <a:endParaRPr lang="en-US" altLang="zh-CN">
              <a:ea typeface="宋体" panose="02010600030101010101" pitchFamily="2" charset="-122"/>
            </a:endParaRPr>
          </a:p>
        </p:txBody>
      </p:sp>
      <p:sp>
        <p:nvSpPr>
          <p:cNvPr id="15" name="灯片编号占位符 3"/>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C45A28AE-6CF5-4056-94C5-7BB2318AF1D7}"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20485" name="Rectangle 3"/>
          <p:cNvSpPr>
            <a:spLocks noGrp="1" noChangeArrowheads="1"/>
          </p:cNvSpPr>
          <p:nvPr>
            <p:ph type="body" idx="4294967295"/>
          </p:nvPr>
        </p:nvSpPr>
        <p:spPr>
          <a:xfrm>
            <a:off x="457200" y="1143000"/>
            <a:ext cx="8447088" cy="5348288"/>
          </a:xfrm>
        </p:spPr>
        <p:txBody>
          <a:bodyPr/>
          <a:lstStyle/>
          <a:p>
            <a:pPr eaLnBrk="1" hangingPunct="1">
              <a:lnSpc>
                <a:spcPct val="90000"/>
              </a:lnSpc>
            </a:pPr>
            <a:r>
              <a:rPr lang="zh-CN" altLang="en-US" dirty="0">
                <a:latin typeface="宋体" panose="02010600030101010101" pitchFamily="2" charset="-122"/>
                <a:ea typeface="宋体" panose="02010600030101010101" pitchFamily="2" charset="-122"/>
              </a:rPr>
              <a:t>液晶显示器</a:t>
            </a:r>
            <a:r>
              <a:rPr lang="en-US" altLang="zh-CN" dirty="0">
                <a:latin typeface="宋体" panose="02010600030101010101" pitchFamily="2" charset="-122"/>
                <a:ea typeface="宋体" panose="02010600030101010101" pitchFamily="2" charset="-122"/>
              </a:rPr>
              <a:t>LCD</a:t>
            </a:r>
            <a:endParaRPr lang="en-US" altLang="zh-CN" dirty="0">
              <a:latin typeface="宋体" panose="02010600030101010101" pitchFamily="2" charset="-122"/>
              <a:ea typeface="宋体" panose="02010600030101010101" pitchFamily="2" charset="-122"/>
            </a:endParaRPr>
          </a:p>
          <a:p>
            <a:pPr eaLnBrk="1" hangingPunct="1">
              <a:lnSpc>
                <a:spcPct val="90000"/>
              </a:lnSpc>
            </a:pPr>
            <a:r>
              <a:rPr lang="en-US" altLang="zh-CN" dirty="0">
                <a:latin typeface="宋体" panose="02010600030101010101" pitchFamily="2" charset="-122"/>
                <a:ea typeface="宋体" panose="02010600030101010101" pitchFamily="2" charset="-122"/>
              </a:rPr>
              <a:t>Liquid Crystal Display</a:t>
            </a:r>
            <a:endParaRPr lang="en-US" altLang="zh-CN" dirty="0">
              <a:latin typeface="宋体" panose="02010600030101010101" pitchFamily="2" charset="-122"/>
              <a:ea typeface="宋体" panose="02010600030101010101" pitchFamily="2" charset="-122"/>
            </a:endParaRPr>
          </a:p>
          <a:p>
            <a:pPr eaLnBrk="1" hangingPunct="1">
              <a:lnSpc>
                <a:spcPct val="90000"/>
              </a:lnSpc>
            </a:pPr>
            <a:endParaRPr lang="en-US" altLang="zh-CN" sz="2800" dirty="0">
              <a:latin typeface="宋体" panose="02010600030101010101" pitchFamily="2" charset="-122"/>
              <a:ea typeface="宋体" panose="02010600030101010101" pitchFamily="2" charset="-122"/>
            </a:endParaRPr>
          </a:p>
          <a:p>
            <a:pPr eaLnBrk="1" hangingPunct="1">
              <a:lnSpc>
                <a:spcPct val="90000"/>
              </a:lnSpc>
            </a:pPr>
            <a:endParaRPr lang="zh-CN" altLang="en-US" sz="2800" dirty="0">
              <a:latin typeface="宋体" panose="02010600030101010101" pitchFamily="2" charset="-122"/>
              <a:ea typeface="宋体" panose="02010600030101010101" pitchFamily="2" charset="-122"/>
            </a:endParaRPr>
          </a:p>
          <a:p>
            <a:pPr eaLnBrk="1" hangingPunct="1">
              <a:lnSpc>
                <a:spcPct val="90000"/>
              </a:lnSpc>
            </a:pPr>
            <a:endParaRPr lang="zh-CN" altLang="en-US" sz="2800" dirty="0">
              <a:latin typeface="宋体" panose="02010600030101010101" pitchFamily="2" charset="-122"/>
              <a:ea typeface="宋体" panose="02010600030101010101" pitchFamily="2" charset="-122"/>
            </a:endParaRPr>
          </a:p>
          <a:p>
            <a:pPr eaLnBrk="1" hangingPunct="1">
              <a:lnSpc>
                <a:spcPct val="90000"/>
              </a:lnSpc>
            </a:pPr>
            <a:endParaRPr lang="en-US" altLang="zh-CN" sz="2800" dirty="0">
              <a:latin typeface="宋体" panose="02010600030101010101" pitchFamily="2" charset="-122"/>
              <a:ea typeface="宋体" panose="02010600030101010101" pitchFamily="2" charset="-122"/>
            </a:endParaRPr>
          </a:p>
          <a:p>
            <a:pPr eaLnBrk="1" hangingPunct="1">
              <a:lnSpc>
                <a:spcPct val="90000"/>
              </a:lnSpc>
            </a:pPr>
            <a:endParaRPr lang="zh-CN" altLang="en-US" sz="2800" dirty="0">
              <a:latin typeface="宋体" panose="02010600030101010101" pitchFamily="2" charset="-122"/>
              <a:ea typeface="宋体" panose="02010600030101010101" pitchFamily="2" charset="-122"/>
            </a:endParaRPr>
          </a:p>
          <a:p>
            <a:pPr eaLnBrk="1" hangingPunct="1">
              <a:lnSpc>
                <a:spcPct val="90000"/>
              </a:lnSpc>
            </a:pPr>
            <a:r>
              <a:rPr lang="zh-CN" altLang="en-US" sz="2800" dirty="0">
                <a:latin typeface="宋体" panose="02010600030101010101" pitchFamily="2" charset="-122"/>
                <a:ea typeface="宋体" panose="02010600030101010101" pitchFamily="2" charset="-122"/>
              </a:rPr>
              <a:t>背光板发出光源先穿过第一层偏光板，再来到液晶体上，控制电压使液晶排列发生变化从而影响光线的方向，由此决定其是否能通过第二个偏振器（亮</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不亮）。颜色通过滤色器来控制。</a:t>
            </a:r>
            <a:endParaRPr lang="zh-CN" altLang="en-US" sz="2800" dirty="0">
              <a:latin typeface="宋体" panose="02010600030101010101" pitchFamily="2" charset="-122"/>
              <a:ea typeface="宋体" panose="02010600030101010101" pitchFamily="2" charset="-122"/>
            </a:endParaRPr>
          </a:p>
        </p:txBody>
      </p:sp>
      <p:pic>
        <p:nvPicPr>
          <p:cNvPr id="15365" name="Picture 1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81600" y="304800"/>
            <a:ext cx="382905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AA8F21D2-BD0A-4F00-801F-DECFFD05B249}"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485">
                                            <p:txEl>
                                              <p:pRg st="7" end="7"/>
                                            </p:txEl>
                                          </p:spTgt>
                                        </p:tgtEl>
                                        <p:attrNameLst>
                                          <p:attrName>style.visibility</p:attrName>
                                        </p:attrNameLst>
                                      </p:cBhvr>
                                      <p:to>
                                        <p:strVal val="visible"/>
                                      </p:to>
                                    </p:set>
                                    <p:animEffect transition="in" filter="blinds(horizontal)">
                                      <p:cBhvr>
                                        <p:cTn id="7" dur="500"/>
                                        <p:tgtEl>
                                          <p:spTgt spid="2048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1E07EFF0-5256-4600-BEB4-0B31AFB5D85B}" type="slidenum">
              <a:rPr lang="zh-CN" altLang="en-US">
                <a:ea typeface="宋体" panose="02010600030101010101" pitchFamily="2" charset="-122"/>
              </a:rPr>
            </a:fld>
            <a:endParaRPr lang="en-US" altLang="zh-CN">
              <a:ea typeface="宋体" panose="02010600030101010101" pitchFamily="2" charset="-122"/>
            </a:endParaRPr>
          </a:p>
        </p:txBody>
      </p:sp>
      <p:sp>
        <p:nvSpPr>
          <p:cNvPr id="16387" name="AutoShape 2"/>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endParaRPr lang="zh-CN" altLang="en-US"/>
          </a:p>
        </p:txBody>
      </p:sp>
      <p:sp>
        <p:nvSpPr>
          <p:cNvPr id="21508" name="矩形 3"/>
          <p:cNvSpPr>
            <a:spLocks noChangeArrowheads="1"/>
          </p:cNvSpPr>
          <p:nvPr/>
        </p:nvSpPr>
        <p:spPr bwMode="auto">
          <a:xfrm>
            <a:off x="533400" y="1295400"/>
            <a:ext cx="81534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r>
              <a:rPr lang="zh-CN" altLang="en-US" sz="2400" dirty="0">
                <a:solidFill>
                  <a:schemeClr val="accent2"/>
                </a:solidFill>
                <a:ea typeface="宋体" panose="02010600030101010101" pitchFamily="2" charset="-122"/>
              </a:rPr>
              <a:t>主动式 </a:t>
            </a:r>
            <a:r>
              <a:rPr lang="en-US" altLang="zh-CN" sz="2400" dirty="0">
                <a:solidFill>
                  <a:schemeClr val="accent2"/>
                </a:solidFill>
                <a:ea typeface="宋体" panose="02010600030101010101" pitchFamily="2" charset="-122"/>
              </a:rPr>
              <a:t>VS </a:t>
            </a:r>
            <a:r>
              <a:rPr lang="zh-CN" altLang="en-US" sz="2400" dirty="0">
                <a:solidFill>
                  <a:schemeClr val="accent2"/>
                </a:solidFill>
                <a:ea typeface="宋体" panose="02010600030101010101" pitchFamily="2" charset="-122"/>
              </a:rPr>
              <a:t>被动式：像素是否有独立开关。</a:t>
            </a:r>
            <a:r>
              <a:rPr lang="en-US" altLang="zh-CN" sz="2400" dirty="0">
                <a:solidFill>
                  <a:schemeClr val="accent2"/>
                </a:solidFill>
                <a:ea typeface="宋体" panose="02010600030101010101" pitchFamily="2" charset="-122"/>
              </a:rPr>
              <a:t>TFT</a:t>
            </a:r>
            <a:r>
              <a:rPr lang="zh-CN" altLang="en-US" sz="2400" dirty="0">
                <a:solidFill>
                  <a:schemeClr val="accent2"/>
                </a:solidFill>
                <a:ea typeface="宋体" panose="02010600030101010101" pitchFamily="2" charset="-122"/>
              </a:rPr>
              <a:t>、</a:t>
            </a:r>
            <a:r>
              <a:rPr lang="en-US" altLang="zh-CN" sz="2400" dirty="0">
                <a:solidFill>
                  <a:schemeClr val="accent2"/>
                </a:solidFill>
                <a:ea typeface="宋体" panose="02010600030101010101" pitchFamily="2" charset="-122"/>
              </a:rPr>
              <a:t>STN</a:t>
            </a:r>
            <a:endParaRPr lang="en-US" altLang="zh-CN" sz="2400" dirty="0">
              <a:solidFill>
                <a:schemeClr val="accent2"/>
              </a:solidFill>
              <a:ea typeface="宋体" panose="02010600030101010101" pitchFamily="2" charset="-122"/>
            </a:endParaRPr>
          </a:p>
          <a:p>
            <a:pPr eaLnBrk="1" hangingPunct="1"/>
            <a:r>
              <a:rPr lang="en-US" altLang="zh-CN" sz="2400" dirty="0">
                <a:solidFill>
                  <a:schemeClr val="accent2"/>
                </a:solidFill>
                <a:ea typeface="宋体" panose="02010600030101010101" pitchFamily="2" charset="-122"/>
              </a:rPr>
              <a:t>Thin Film Transistor</a:t>
            </a:r>
            <a:r>
              <a:rPr lang="zh-CN" altLang="en-US" sz="2400" dirty="0">
                <a:solidFill>
                  <a:schemeClr val="accent2"/>
                </a:solidFill>
                <a:ea typeface="宋体" panose="02010600030101010101" pitchFamily="2" charset="-122"/>
              </a:rPr>
              <a:t>采用</a:t>
            </a:r>
            <a:r>
              <a:rPr lang="zh-CN" altLang="en-US" sz="2400" dirty="0">
                <a:latin typeface="宋体" panose="02010600030101010101" pitchFamily="2" charset="-122"/>
                <a:ea typeface="宋体" panose="02010600030101010101" pitchFamily="2" charset="-122"/>
              </a:rPr>
              <a:t>主动式矩阵的驱动方式，让每个像素都对应一个组电极，电压通过扫描（或称作一定时间充电）方式，来控制每个像素的状态 </a:t>
            </a:r>
            <a:endParaRPr lang="zh-CN" altLang="en-US" sz="2400" dirty="0">
              <a:latin typeface="宋体" panose="02010600030101010101" pitchFamily="2" charset="-122"/>
              <a:ea typeface="宋体" panose="02010600030101010101" pitchFamily="2" charset="-122"/>
            </a:endParaRPr>
          </a:p>
          <a:p>
            <a:pPr eaLnBrk="1" hangingPunct="1"/>
            <a:r>
              <a:rPr lang="zh-CN" altLang="en-US" sz="2400" dirty="0">
                <a:latin typeface="宋体" panose="02010600030101010101" pitchFamily="2" charset="-122"/>
                <a:ea typeface="宋体" panose="02010600030101010101" pitchFamily="2" charset="-122"/>
              </a:rPr>
              <a:t>利用薄膜技术所做成的硅晶体管电极，通过扫描法来选择任意一个像素点（</a:t>
            </a:r>
            <a:r>
              <a:rPr lang="en-US" altLang="zh-CN" sz="2400" dirty="0">
                <a:latin typeface="宋体" panose="02010600030101010101" pitchFamily="2" charset="-122"/>
                <a:ea typeface="宋体" panose="02010600030101010101" pitchFamily="2" charset="-122"/>
              </a:rPr>
              <a:t>pixel</a:t>
            </a:r>
            <a:r>
              <a:rPr lang="zh-CN" altLang="en-US" sz="2400" dirty="0">
                <a:latin typeface="宋体" panose="02010600030101010101" pitchFamily="2" charset="-122"/>
                <a:ea typeface="宋体" panose="02010600030101010101" pitchFamily="2" charset="-122"/>
              </a:rPr>
              <a:t>）的开与关</a:t>
            </a:r>
            <a:endParaRPr lang="zh-CN" altLang="en-US" sz="2400" dirty="0">
              <a:latin typeface="宋体" panose="02010600030101010101" pitchFamily="2" charset="-122"/>
              <a:ea typeface="宋体" panose="02010600030101010101" pitchFamily="2" charset="-122"/>
            </a:endParaRPr>
          </a:p>
        </p:txBody>
      </p:sp>
      <p:sp>
        <p:nvSpPr>
          <p:cNvPr id="16389" name="AutoShape 4"/>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endParaRPr lang="zh-CN" altLang="en-US"/>
          </a:p>
        </p:txBody>
      </p:sp>
      <p:sp>
        <p:nvSpPr>
          <p:cNvPr id="16390" name="AutoShape 6"/>
          <p:cNvSpPr>
            <a:spLocks noChangeAspect="1" noChangeArrowheads="1"/>
          </p:cNvSpPr>
          <p:nvPr/>
        </p:nvSpPr>
        <p:spPr bwMode="auto">
          <a:xfrm>
            <a:off x="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endParaRPr lang="zh-CN" altLang="en-US"/>
          </a:p>
        </p:txBody>
      </p:sp>
      <p:sp>
        <p:nvSpPr>
          <p:cNvPr id="16391" name="AutoShape 8"/>
          <p:cNvSpPr>
            <a:spLocks noChangeAspect="1" noChangeArrowheads="1"/>
          </p:cNvSpPr>
          <p:nvPr/>
        </p:nvSpPr>
        <p:spPr bwMode="auto">
          <a:xfrm>
            <a:off x="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endParaRPr lang="zh-CN" altLang="en-US"/>
          </a:p>
        </p:txBody>
      </p:sp>
      <p:sp>
        <p:nvSpPr>
          <p:cNvPr id="16392" name="AutoShape 10"/>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endParaRPr lang="zh-CN" altLang="en-US"/>
          </a:p>
        </p:txBody>
      </p:sp>
      <p:pic>
        <p:nvPicPr>
          <p:cNvPr id="16393"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2000" y="4038600"/>
            <a:ext cx="2724150"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3505200"/>
            <a:ext cx="4752975"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p:nvPr/>
        </p:nvSpPr>
        <p:spPr>
          <a:xfrm>
            <a:off x="1219200" y="228600"/>
            <a:ext cx="6705600" cy="769938"/>
          </a:xfrm>
          <a:prstGeom prst="rect">
            <a:avLst/>
          </a:prstGeom>
        </p:spPr>
        <p:txBody>
          <a:bodyPr>
            <a:spAutoFit/>
          </a:bodyPr>
          <a:lstStyle/>
          <a:p>
            <a:pPr>
              <a:defRPr/>
            </a:pPr>
            <a:r>
              <a:rPr lang="en-US" altLang="zh-CN" sz="4400" dirty="0">
                <a:solidFill>
                  <a:schemeClr val="accent2"/>
                </a:solidFill>
                <a:latin typeface="+mj-lt"/>
                <a:ea typeface="宋体" panose="02010600030101010101" pitchFamily="2" charset="-122"/>
                <a:cs typeface="+mj-cs"/>
              </a:rPr>
              <a:t>TFT</a:t>
            </a:r>
            <a:r>
              <a:rPr lang="zh-CN" altLang="en-US" sz="4400" dirty="0">
                <a:solidFill>
                  <a:schemeClr val="accent2"/>
                </a:solidFill>
                <a:latin typeface="+mj-lt"/>
                <a:ea typeface="宋体" panose="02010600030101010101" pitchFamily="2" charset="-122"/>
                <a:cs typeface="+mj-cs"/>
              </a:rPr>
              <a:t>薄膜场效应晶体管</a:t>
            </a:r>
            <a:endParaRPr lang="zh-CN" altLang="en-US" sz="4400" dirty="0">
              <a:solidFill>
                <a:schemeClr val="accent2"/>
              </a:solidFill>
              <a:latin typeface="+mj-lt"/>
              <a:ea typeface="宋体" panose="02010600030101010101" pitchFamily="2" charset="-122"/>
              <a:cs typeface="+mj-cs"/>
            </a:endParaRPr>
          </a:p>
        </p:txBody>
      </p:sp>
      <p:sp>
        <p:nvSpPr>
          <p:cNvPr id="16396"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6BCA035A-A96E-49BD-9912-77E445158932}"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508">
                                            <p:txEl>
                                              <p:pRg st="2" end="2"/>
                                            </p:txEl>
                                          </p:spTgt>
                                        </p:tgtEl>
                                        <p:attrNameLst>
                                          <p:attrName>style.visibility</p:attrName>
                                        </p:attrNameLst>
                                      </p:cBhvr>
                                      <p:to>
                                        <p:strVal val="visible"/>
                                      </p:to>
                                    </p:set>
                                    <p:animEffect transition="in" filter="blinds(horizontal)">
                                      <p:cBhvr>
                                        <p:cTn id="7" dur="500"/>
                                        <p:tgtEl>
                                          <p:spTgt spid="2150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514"/>
                                        </p:tgtEl>
                                        <p:attrNameLst>
                                          <p:attrName>style.visibility</p:attrName>
                                        </p:attrNameLst>
                                      </p:cBhvr>
                                      <p:to>
                                        <p:strVal val="visible"/>
                                      </p:to>
                                    </p:set>
                                    <p:animEffect transition="in" filter="blinds(horizontal)">
                                      <p:cBhvr>
                                        <p:cTn id="12" dur="500"/>
                                        <p:tgtEl>
                                          <p:spTgt spid="215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8CAC78B5-2A7A-4BE6-A390-CDC474E54CE7}" type="slidenum">
              <a:rPr lang="zh-CN" altLang="en-US">
                <a:ea typeface="宋体" panose="02010600030101010101" pitchFamily="2" charset="-122"/>
              </a:rPr>
            </a:fld>
            <a:endParaRPr lang="en-US" altLang="zh-CN">
              <a:ea typeface="宋体" panose="02010600030101010101" pitchFamily="2" charset="-122"/>
            </a:endParaRPr>
          </a:p>
        </p:txBody>
      </p:sp>
      <p:sp>
        <p:nvSpPr>
          <p:cNvPr id="6"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C7B43CEA-E8A3-4F2B-AAE1-12E16B05D0A5}"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13316" name="Rectangle 2"/>
          <p:cNvSpPr>
            <a:spLocks noGrp="1" noChangeArrowheads="1"/>
          </p:cNvSpPr>
          <p:nvPr>
            <p:ph type="title" idx="4294967295"/>
          </p:nvPr>
        </p:nvSpPr>
        <p:spPr/>
        <p:txBody>
          <a:bodyPr/>
          <a:lstStyle/>
          <a:p>
            <a:pPr eaLnBrk="1" hangingPunct="1"/>
            <a:r>
              <a:rPr lang="en-US" altLang="zh-CN">
                <a:ea typeface="宋体" panose="02010600030101010101" pitchFamily="2" charset="-122"/>
              </a:rPr>
              <a:t>Liquid Crystal Display </a:t>
            </a:r>
            <a:endParaRPr lang="zh-CN" altLang="en-US">
              <a:ea typeface="宋体" panose="02010600030101010101" pitchFamily="2" charset="-122"/>
            </a:endParaRPr>
          </a:p>
        </p:txBody>
      </p:sp>
      <p:sp>
        <p:nvSpPr>
          <p:cNvPr id="17414" name="Rectangle 3"/>
          <p:cNvSpPr>
            <a:spLocks noGrp="1" noChangeArrowheads="1"/>
          </p:cNvSpPr>
          <p:nvPr>
            <p:ph type="body" idx="4294967295"/>
          </p:nvPr>
        </p:nvSpPr>
        <p:spPr>
          <a:xfrm>
            <a:off x="381000" y="1219200"/>
            <a:ext cx="8610600" cy="5181600"/>
          </a:xfrm>
        </p:spPr>
        <p:txBody>
          <a:bodyPr/>
          <a:lstStyle/>
          <a:p>
            <a:pPr marL="363855" lvl="2" indent="-363855" eaLnBrk="1" hangingPunct="1">
              <a:lnSpc>
                <a:spcPct val="90000"/>
              </a:lnSpc>
            </a:pPr>
            <a:r>
              <a:rPr lang="en-US" altLang="zh-CN" sz="3200">
                <a:ea typeface="宋体" panose="02010600030101010101" pitchFamily="2" charset="-122"/>
              </a:rPr>
              <a:t>LCD</a:t>
            </a:r>
            <a:r>
              <a:rPr lang="zh-CN" altLang="en-US" sz="3200">
                <a:ea typeface="宋体" panose="02010600030101010101" pitchFamily="2" charset="-122"/>
              </a:rPr>
              <a:t>显示器的优点</a:t>
            </a:r>
            <a:endParaRPr lang="zh-CN" altLang="en-US" sz="3200">
              <a:ea typeface="宋体" panose="02010600030101010101" pitchFamily="2" charset="-122"/>
            </a:endParaRPr>
          </a:p>
          <a:p>
            <a:pPr marL="363855" lvl="2" indent="-363855" eaLnBrk="1" hangingPunct="1">
              <a:lnSpc>
                <a:spcPct val="90000"/>
              </a:lnSpc>
            </a:pPr>
            <a:r>
              <a:rPr lang="zh-CN" altLang="en-US" sz="3200">
                <a:ea typeface="宋体" panose="02010600030101010101" pitchFamily="2" charset="-122"/>
              </a:rPr>
              <a:t>外观小巧精致，厚度只有6.5~8</a:t>
            </a:r>
            <a:r>
              <a:rPr lang="en-US" altLang="zh-CN" sz="3200">
                <a:ea typeface="宋体" panose="02010600030101010101" pitchFamily="2" charset="-122"/>
              </a:rPr>
              <a:t>cm</a:t>
            </a:r>
            <a:r>
              <a:rPr lang="zh-CN" altLang="en-US" sz="3200">
                <a:ea typeface="宋体" panose="02010600030101010101" pitchFamily="2" charset="-122"/>
              </a:rPr>
              <a:t>左右</a:t>
            </a:r>
            <a:endParaRPr lang="zh-CN" altLang="en-US" sz="3200">
              <a:ea typeface="宋体" panose="02010600030101010101" pitchFamily="2" charset="-122"/>
            </a:endParaRPr>
          </a:p>
          <a:p>
            <a:pPr marL="363855" lvl="2" indent="-363855" eaLnBrk="1" hangingPunct="1">
              <a:lnSpc>
                <a:spcPct val="90000"/>
              </a:lnSpc>
            </a:pPr>
            <a:r>
              <a:rPr lang="zh-CN" altLang="en-US" sz="3200">
                <a:ea typeface="宋体" panose="02010600030101010101" pitchFamily="2" charset="-122"/>
              </a:rPr>
              <a:t>不会产生</a:t>
            </a:r>
            <a:r>
              <a:rPr lang="en-US" altLang="zh-CN" sz="3200">
                <a:ea typeface="宋体" panose="02010600030101010101" pitchFamily="2" charset="-122"/>
              </a:rPr>
              <a:t>CRT</a:t>
            </a:r>
            <a:r>
              <a:rPr lang="zh-CN" altLang="en-US" sz="3200">
                <a:ea typeface="宋体" panose="02010600030101010101" pitchFamily="2" charset="-122"/>
              </a:rPr>
              <a:t>那样的因为刷新频率低而出现的闪烁现象</a:t>
            </a:r>
            <a:endParaRPr lang="zh-CN" altLang="en-US" sz="3200">
              <a:ea typeface="宋体" panose="02010600030101010101" pitchFamily="2" charset="-122"/>
            </a:endParaRPr>
          </a:p>
          <a:p>
            <a:pPr marL="363855" lvl="2" indent="-363855" eaLnBrk="1" hangingPunct="1">
              <a:lnSpc>
                <a:spcPct val="90000"/>
              </a:lnSpc>
            </a:pPr>
            <a:r>
              <a:rPr lang="zh-CN" altLang="en-US" sz="3200">
                <a:ea typeface="宋体" panose="02010600030101010101" pitchFamily="2" charset="-122"/>
              </a:rPr>
              <a:t>工作电压低，功耗小，节约能源</a:t>
            </a:r>
            <a:endParaRPr lang="zh-CN" altLang="en-US" sz="3200">
              <a:ea typeface="宋体" panose="02010600030101010101" pitchFamily="2" charset="-122"/>
            </a:endParaRPr>
          </a:p>
          <a:p>
            <a:pPr marL="363855" lvl="2" indent="-363855" eaLnBrk="1" hangingPunct="1">
              <a:lnSpc>
                <a:spcPct val="90000"/>
              </a:lnSpc>
            </a:pPr>
            <a:r>
              <a:rPr lang="zh-CN" altLang="en-US" sz="3200">
                <a:ea typeface="宋体" panose="02010600030101010101" pitchFamily="2" charset="-122"/>
              </a:rPr>
              <a:t>没有电磁辐射，对人体健康没有任何影响</a:t>
            </a:r>
            <a:endParaRPr lang="zh-CN" altLang="en-US" sz="3200">
              <a:ea typeface="宋体" panose="02010600030101010101" pitchFamily="2" charset="-122"/>
            </a:endParaRPr>
          </a:p>
        </p:txBody>
      </p:sp>
      <p:sp>
        <p:nvSpPr>
          <p:cNvPr id="16391" name="AutoShape 4"/>
          <p:cNvSpPr>
            <a:spLocks noChangeArrowheads="1"/>
          </p:cNvSpPr>
          <p:nvPr/>
        </p:nvSpPr>
        <p:spPr bwMode="auto">
          <a:xfrm>
            <a:off x="7358063" y="928688"/>
            <a:ext cx="1643062" cy="571500"/>
          </a:xfrm>
          <a:prstGeom prst="wedgeRoundRectCallout">
            <a:avLst>
              <a:gd name="adj1" fmla="val -59849"/>
              <a:gd name="adj2" fmla="val 73470"/>
              <a:gd name="adj3" fmla="val 16667"/>
            </a:avLst>
          </a:prstGeom>
        </p:spPr>
        <p:style>
          <a:lnRef idx="1">
            <a:schemeClr val="accent2"/>
          </a:lnRef>
          <a:fillRef idx="2">
            <a:schemeClr val="accent2"/>
          </a:fillRef>
          <a:effectRef idx="1">
            <a:schemeClr val="accent2"/>
          </a:effectRef>
          <a:fontRef idx="minor">
            <a:schemeClr val="dk1"/>
          </a:fontRef>
        </p:style>
        <p:txBody>
          <a:bodyPr/>
          <a:lstStyle/>
          <a:p>
            <a:pPr algn="ctr">
              <a:defRPr/>
            </a:pPr>
            <a:r>
              <a:rPr lang="zh-CN" altLang="en-US" sz="3200">
                <a:solidFill>
                  <a:schemeClr val="accent2"/>
                </a:solidFill>
                <a:ea typeface="宋体" panose="02010600030101010101" pitchFamily="2" charset="-122"/>
              </a:rPr>
              <a:t>缺点</a:t>
            </a:r>
            <a:r>
              <a:rPr lang="en-US" altLang="zh-CN" sz="3200">
                <a:solidFill>
                  <a:schemeClr val="accent2"/>
                </a:solidFill>
                <a:ea typeface="宋体" panose="02010600030101010101" pitchFamily="2" charset="-122"/>
              </a:rPr>
              <a:t>?</a:t>
            </a:r>
            <a:endParaRPr lang="zh-CN" altLang="en-US" sz="3200">
              <a:solidFill>
                <a:schemeClr val="accent2"/>
              </a:solidFill>
              <a:ea typeface="宋体" panose="02010600030101010101" pitchFamily="2" charset="-122"/>
            </a:endParaRPr>
          </a:p>
        </p:txBody>
      </p:sp>
      <p:sp>
        <p:nvSpPr>
          <p:cNvPr id="13319"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9B460892-A9F2-42E7-BD9A-CA9CCD030C77}"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14">
                                            <p:txEl>
                                              <p:pRg st="1" end="1"/>
                                            </p:txEl>
                                          </p:spTgt>
                                        </p:tgtEl>
                                        <p:attrNameLst>
                                          <p:attrName>style.visibility</p:attrName>
                                        </p:attrNameLst>
                                      </p:cBhvr>
                                      <p:to>
                                        <p:strVal val="visible"/>
                                      </p:to>
                                    </p:set>
                                    <p:animEffect transition="in" filter="blinds(horizontal)">
                                      <p:cBhvr>
                                        <p:cTn id="7" dur="500"/>
                                        <p:tgtEl>
                                          <p:spTgt spid="1741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414">
                                            <p:txEl>
                                              <p:pRg st="2" end="2"/>
                                            </p:txEl>
                                          </p:spTgt>
                                        </p:tgtEl>
                                        <p:attrNameLst>
                                          <p:attrName>style.visibility</p:attrName>
                                        </p:attrNameLst>
                                      </p:cBhvr>
                                      <p:to>
                                        <p:strVal val="visible"/>
                                      </p:to>
                                    </p:set>
                                    <p:animEffect transition="in" filter="blinds(horizontal)">
                                      <p:cBhvr>
                                        <p:cTn id="12" dur="500"/>
                                        <p:tgtEl>
                                          <p:spTgt spid="174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7414">
                                            <p:txEl>
                                              <p:pRg st="3" end="3"/>
                                            </p:txEl>
                                          </p:spTgt>
                                        </p:tgtEl>
                                        <p:attrNameLst>
                                          <p:attrName>style.visibility</p:attrName>
                                        </p:attrNameLst>
                                      </p:cBhvr>
                                      <p:to>
                                        <p:strVal val="visible"/>
                                      </p:to>
                                    </p:set>
                                    <p:animEffect transition="in" filter="blinds(horizontal)">
                                      <p:cBhvr>
                                        <p:cTn id="17" dur="500"/>
                                        <p:tgtEl>
                                          <p:spTgt spid="1741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7414">
                                            <p:txEl>
                                              <p:pRg st="4" end="4"/>
                                            </p:txEl>
                                          </p:spTgt>
                                        </p:tgtEl>
                                        <p:attrNameLst>
                                          <p:attrName>style.visibility</p:attrName>
                                        </p:attrNameLst>
                                      </p:cBhvr>
                                      <p:to>
                                        <p:strVal val="visible"/>
                                      </p:to>
                                    </p:set>
                                    <p:animEffect transition="in" filter="blinds(horizontal)">
                                      <p:cBhvr>
                                        <p:cTn id="22" dur="500"/>
                                        <p:tgtEl>
                                          <p:spTgt spid="1741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391"/>
                                        </p:tgtEl>
                                        <p:attrNameLst>
                                          <p:attrName>style.visibility</p:attrName>
                                        </p:attrNameLst>
                                      </p:cBhvr>
                                      <p:to>
                                        <p:strVal val="visible"/>
                                      </p:to>
                                    </p:set>
                                    <p:animEffect transition="in" filter="blinds(horizontal)">
                                      <p:cBhvr>
                                        <p:cTn id="27" dur="500"/>
                                        <p:tgtEl>
                                          <p:spTgt spid="16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1"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C6303382-22F3-4B63-8422-AE074A53F797}" type="slidenum">
              <a:rPr lang="zh-CN" altLang="en-US">
                <a:ea typeface="宋体" panose="02010600030101010101" pitchFamily="2" charset="-122"/>
              </a:rPr>
            </a:fld>
            <a:endParaRPr lang="en-US" altLang="zh-CN">
              <a:ea typeface="宋体" panose="02010600030101010101" pitchFamily="2" charset="-122"/>
            </a:endParaRPr>
          </a:p>
        </p:txBody>
      </p:sp>
      <p:sp>
        <p:nvSpPr>
          <p:cNvPr id="7" name="灯片编号占位符 3"/>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6546BAA1-2ACA-4AA2-BD29-592CE16CEB2A}"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22533" name="Rectangle 3"/>
          <p:cNvSpPr>
            <a:spLocks noGrp="1" noChangeArrowheads="1"/>
          </p:cNvSpPr>
          <p:nvPr>
            <p:ph type="body" idx="4294967295"/>
          </p:nvPr>
        </p:nvSpPr>
        <p:spPr>
          <a:xfrm>
            <a:off x="304800" y="1295400"/>
            <a:ext cx="7935913" cy="2589213"/>
          </a:xfrm>
        </p:spPr>
        <p:txBody>
          <a:bodyPr/>
          <a:lstStyle/>
          <a:p>
            <a:pPr eaLnBrk="1" hangingPunct="1"/>
            <a:r>
              <a:rPr lang="en-US" altLang="zh-CN" sz="3600">
                <a:latin typeface="宋体" panose="02010600030101010101" pitchFamily="2" charset="-122"/>
                <a:ea typeface="宋体" panose="02010600030101010101" pitchFamily="2" charset="-122"/>
              </a:rPr>
              <a:t>LCD</a:t>
            </a:r>
            <a:r>
              <a:rPr lang="zh-CN" altLang="en-US" sz="3600">
                <a:latin typeface="宋体" panose="02010600030101010101" pitchFamily="2" charset="-122"/>
                <a:ea typeface="宋体" panose="02010600030101010101" pitchFamily="2" charset="-122"/>
              </a:rPr>
              <a:t>缺点：</a:t>
            </a:r>
            <a:endParaRPr lang="en-US" altLang="zh-CN" sz="3600">
              <a:latin typeface="宋体" panose="02010600030101010101" pitchFamily="2" charset="-122"/>
              <a:ea typeface="宋体" panose="02010600030101010101" pitchFamily="2" charset="-122"/>
            </a:endParaRPr>
          </a:p>
          <a:p>
            <a:pPr lvl="1" eaLnBrk="1" hangingPunct="1"/>
            <a:r>
              <a:rPr lang="zh-CN" altLang="en-US" sz="3200">
                <a:latin typeface="宋体" panose="02010600030101010101" pitchFamily="2" charset="-122"/>
                <a:ea typeface="宋体" panose="02010600030101010101" pitchFamily="2" charset="-122"/>
              </a:rPr>
              <a:t>色彩不够鲜艳</a:t>
            </a:r>
            <a:endParaRPr lang="en-US" altLang="zh-CN" sz="3200">
              <a:latin typeface="宋体" panose="02010600030101010101" pitchFamily="2" charset="-122"/>
              <a:ea typeface="宋体" panose="02010600030101010101" pitchFamily="2" charset="-122"/>
            </a:endParaRPr>
          </a:p>
          <a:p>
            <a:pPr lvl="1" eaLnBrk="1" hangingPunct="1"/>
            <a:r>
              <a:rPr lang="zh-CN" altLang="en-US" sz="3200">
                <a:latin typeface="宋体" panose="02010600030101010101" pitchFamily="2" charset="-122"/>
                <a:ea typeface="宋体" panose="02010600030101010101" pitchFamily="2" charset="-122"/>
              </a:rPr>
              <a:t>温度敏感、怕震动、寿命短</a:t>
            </a:r>
            <a:endParaRPr lang="zh-CN" altLang="en-US" sz="3200">
              <a:latin typeface="宋体" panose="02010600030101010101" pitchFamily="2" charset="-122"/>
              <a:ea typeface="宋体" panose="02010600030101010101" pitchFamily="2" charset="-122"/>
            </a:endParaRPr>
          </a:p>
        </p:txBody>
      </p:sp>
      <p:sp>
        <p:nvSpPr>
          <p:cNvPr id="17413" name="Rectangle 5"/>
          <p:cNvSpPr>
            <a:spLocks noChangeArrowheads="1"/>
          </p:cNvSpPr>
          <p:nvPr/>
        </p:nvSpPr>
        <p:spPr bwMode="auto">
          <a:xfrm>
            <a:off x="152400" y="76200"/>
            <a:ext cx="8763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ctr" eaLnBrk="1" hangingPunct="1"/>
            <a:r>
              <a:rPr lang="zh-CN" altLang="en-US" sz="4400">
                <a:solidFill>
                  <a:schemeClr val="accent2"/>
                </a:solidFill>
                <a:ea typeface="宋体" panose="02010600030101010101" pitchFamily="2" charset="-122"/>
              </a:rPr>
              <a:t>显示设备</a:t>
            </a:r>
            <a:r>
              <a:rPr lang="en-US" altLang="zh-CN" sz="4400">
                <a:solidFill>
                  <a:schemeClr val="accent2"/>
                </a:solidFill>
                <a:ea typeface="宋体" panose="02010600030101010101" pitchFamily="2" charset="-122"/>
              </a:rPr>
              <a:t>-LCD</a:t>
            </a:r>
            <a:endParaRPr lang="zh-CN" altLang="en-US" sz="4400">
              <a:solidFill>
                <a:schemeClr val="accent2"/>
              </a:solidFill>
              <a:ea typeface="宋体" panose="02010600030101010101" pitchFamily="2" charset="-122"/>
            </a:endParaRPr>
          </a:p>
        </p:txBody>
      </p:sp>
      <p:sp>
        <p:nvSpPr>
          <p:cNvPr id="17414" name="AutoShape 9"/>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endParaRPr lang="zh-CN" altLang="en-US"/>
          </a:p>
        </p:txBody>
      </p:sp>
      <p:sp>
        <p:nvSpPr>
          <p:cNvPr id="17415" name="AutoShape 11"/>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endParaRPr lang="zh-CN" altLang="en-US"/>
          </a:p>
        </p:txBody>
      </p:sp>
      <p:pic>
        <p:nvPicPr>
          <p:cNvPr id="17416"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43600" y="4191000"/>
            <a:ext cx="27686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7"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4114800"/>
            <a:ext cx="285750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8"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ED954437-A5DA-4B88-8567-856F19E13498}"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533">
                                            <p:txEl>
                                              <p:pRg st="1" end="1"/>
                                            </p:txEl>
                                          </p:spTgt>
                                        </p:tgtEl>
                                        <p:attrNameLst>
                                          <p:attrName>style.visibility</p:attrName>
                                        </p:attrNameLst>
                                      </p:cBhvr>
                                      <p:to>
                                        <p:strVal val="visible"/>
                                      </p:to>
                                    </p:set>
                                    <p:animEffect transition="in" filter="blinds(horizontal)">
                                      <p:cBhvr>
                                        <p:cTn id="7" dur="500"/>
                                        <p:tgtEl>
                                          <p:spTgt spid="2253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2533">
                                            <p:txEl>
                                              <p:pRg st="2" end="2"/>
                                            </p:txEl>
                                          </p:spTgt>
                                        </p:tgtEl>
                                        <p:attrNameLst>
                                          <p:attrName>style.visibility</p:attrName>
                                        </p:attrNameLst>
                                      </p:cBhvr>
                                      <p:to>
                                        <p:strVal val="visible"/>
                                      </p:to>
                                    </p:set>
                                    <p:animEffect transition="in" filter="checkerboard(across)">
                                      <p:cBhvr>
                                        <p:cTn id="12" dur="500"/>
                                        <p:tgtEl>
                                          <p:spTgt spid="2253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F51EADDB-C07F-4066-AE40-9CABEE84F82E}" type="slidenum">
              <a:rPr lang="zh-CN" altLang="en-US">
                <a:ea typeface="宋体" panose="02010600030101010101" pitchFamily="2" charset="-122"/>
              </a:rPr>
            </a:fld>
            <a:endParaRPr lang="en-US" altLang="zh-CN">
              <a:ea typeface="宋体" panose="02010600030101010101" pitchFamily="2" charset="-122"/>
            </a:endParaRPr>
          </a:p>
        </p:txBody>
      </p:sp>
      <p:sp>
        <p:nvSpPr>
          <p:cNvPr id="6"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D50A4DC8-8989-4A65-9CC0-9A4108C19765}"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18436" name="Rectangle 2"/>
          <p:cNvSpPr>
            <a:spLocks noGrp="1" noChangeArrowheads="1"/>
          </p:cNvSpPr>
          <p:nvPr>
            <p:ph type="title" idx="4294967295"/>
          </p:nvPr>
        </p:nvSpPr>
        <p:spPr>
          <a:xfrm>
            <a:off x="1331913" y="76200"/>
            <a:ext cx="7583487" cy="914400"/>
          </a:xfrm>
        </p:spPr>
        <p:txBody>
          <a:bodyPr/>
          <a:lstStyle/>
          <a:p>
            <a:pPr algn="l" eaLnBrk="1" hangingPunct="1"/>
            <a:r>
              <a:rPr lang="zh-CN" altLang="en-US">
                <a:latin typeface="宋体" panose="02010600030101010101" pitchFamily="2" charset="-122"/>
                <a:ea typeface="宋体" panose="02010600030101010101" pitchFamily="2" charset="-122"/>
              </a:rPr>
              <a:t>未来显示器</a:t>
            </a:r>
            <a:endParaRPr lang="zh-CN" altLang="en-US">
              <a:latin typeface="宋体" panose="02010600030101010101" pitchFamily="2" charset="-122"/>
              <a:ea typeface="宋体" panose="02010600030101010101" pitchFamily="2" charset="-122"/>
            </a:endParaRPr>
          </a:p>
        </p:txBody>
      </p:sp>
      <p:sp>
        <p:nvSpPr>
          <p:cNvPr id="18437" name="Rectangle 3"/>
          <p:cNvSpPr>
            <a:spLocks noGrp="1" noChangeArrowheads="1"/>
          </p:cNvSpPr>
          <p:nvPr>
            <p:ph type="body" idx="4294967295"/>
          </p:nvPr>
        </p:nvSpPr>
        <p:spPr>
          <a:xfrm>
            <a:off x="228600" y="1143000"/>
            <a:ext cx="8763000" cy="5257800"/>
          </a:xfrm>
        </p:spPr>
        <p:txBody>
          <a:bodyPr/>
          <a:lstStyle/>
          <a:p>
            <a:pPr eaLnBrk="1" hangingPunct="1">
              <a:lnSpc>
                <a:spcPct val="90000"/>
              </a:lnSpc>
            </a:pPr>
            <a:r>
              <a:rPr lang="zh-CN" altLang="en-US" dirty="0">
                <a:latin typeface="宋体" panose="02010600030101010101" pitchFamily="2" charset="-122"/>
                <a:ea typeface="宋体" panose="02010600030101010101" pitchFamily="2" charset="-122"/>
              </a:rPr>
              <a:t>发光聚合物技术，坚不可摧；柔韧性好，可以卷起来；显示画面具有无与伦比的清晰度，无锯齿现象。</a:t>
            </a:r>
            <a:endParaRPr lang="en-US" altLang="zh-CN" dirty="0">
              <a:latin typeface="宋体" panose="02010600030101010101" pitchFamily="2" charset="-122"/>
              <a:ea typeface="宋体" panose="02010600030101010101" pitchFamily="2" charset="-122"/>
            </a:endParaRPr>
          </a:p>
          <a:p>
            <a:pPr eaLnBrk="1" hangingPunct="1">
              <a:lnSpc>
                <a:spcPct val="90000"/>
              </a:lnSpc>
            </a:pPr>
            <a:r>
              <a:rPr lang="zh-CN" altLang="en-US" dirty="0">
                <a:latin typeface="宋体" panose="02010600030101010101" pitchFamily="2" charset="-122"/>
                <a:ea typeface="宋体" panose="02010600030101010101" pitchFamily="2" charset="-122"/>
              </a:rPr>
              <a:t>三维显示器：全息</a:t>
            </a:r>
            <a:endParaRPr lang="zh-CN" altLang="en-US" dirty="0">
              <a:latin typeface="宋体" panose="02010600030101010101" pitchFamily="2" charset="-122"/>
              <a:ea typeface="宋体" panose="02010600030101010101" pitchFamily="2" charset="-122"/>
            </a:endParaRPr>
          </a:p>
        </p:txBody>
      </p:sp>
      <p:pic>
        <p:nvPicPr>
          <p:cNvPr id="18438" name="Picture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5800" y="3733800"/>
            <a:ext cx="38100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9" name="Picture 11"/>
          <p:cNvPicPr>
            <a:picLocks noChangeAspect="1" noChangeArrowheads="1"/>
          </p:cNvPicPr>
          <p:nvPr/>
        </p:nvPicPr>
        <p:blipFill>
          <a:blip r:embed="rId2">
            <a:extLst>
              <a:ext uri="{28A0092B-C50C-407E-A947-70E740481C1C}">
                <a14:useLocalDpi xmlns:a14="http://schemas.microsoft.com/office/drawing/2010/main" val="0"/>
              </a:ext>
            </a:extLst>
          </a:blip>
          <a:srcRect r="46237"/>
          <a:stretch>
            <a:fillRect/>
          </a:stretch>
        </p:blipFill>
        <p:spPr bwMode="auto">
          <a:xfrm>
            <a:off x="4876800" y="2333625"/>
            <a:ext cx="3810000" cy="429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0"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70308E06-8062-48C2-B5E9-DD81E7A01110}"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19C8DFF3-784B-44D4-9C01-CC784F4359B6}" type="slidenum">
              <a:rPr lang="zh-CN" altLang="en-US">
                <a:ea typeface="宋体" panose="02010600030101010101" pitchFamily="2" charset="-122"/>
              </a:rPr>
            </a:fld>
            <a:endParaRPr lang="en-US" altLang="zh-CN">
              <a:ea typeface="宋体" panose="02010600030101010101" pitchFamily="2" charset="-122"/>
            </a:endParaRPr>
          </a:p>
        </p:txBody>
      </p:sp>
      <p:sp>
        <p:nvSpPr>
          <p:cNvPr id="10"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F1360687-0118-4A00-94B8-CBB5ABD40071}"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19460" name="Rectangle 2"/>
          <p:cNvSpPr>
            <a:spLocks noGrp="1" noChangeArrowheads="1"/>
          </p:cNvSpPr>
          <p:nvPr>
            <p:ph type="title" idx="4294967295"/>
          </p:nvPr>
        </p:nvSpPr>
        <p:spPr/>
        <p:txBody>
          <a:bodyPr/>
          <a:lstStyle/>
          <a:p>
            <a:pPr eaLnBrk="1" hangingPunct="1"/>
            <a:r>
              <a:rPr lang="zh-CN" altLang="en-US">
                <a:ea typeface="宋体" panose="02010600030101010101" pitchFamily="2" charset="-122"/>
              </a:rPr>
              <a:t>第二章  图形系统</a:t>
            </a:r>
            <a:endParaRPr lang="en-US" altLang="zh-CN">
              <a:ea typeface="宋体" panose="02010600030101010101" pitchFamily="2" charset="-122"/>
            </a:endParaRPr>
          </a:p>
        </p:txBody>
      </p:sp>
      <p:sp>
        <p:nvSpPr>
          <p:cNvPr id="19461" name="Rectangle 3"/>
          <p:cNvSpPr>
            <a:spLocks noGrp="1" noChangeArrowheads="1"/>
          </p:cNvSpPr>
          <p:nvPr>
            <p:ph type="body" idx="4294967295"/>
          </p:nvPr>
        </p:nvSpPr>
        <p:spPr>
          <a:xfrm>
            <a:off x="228600" y="1125538"/>
            <a:ext cx="8763000" cy="5275262"/>
          </a:xfrm>
        </p:spPr>
        <p:txBody>
          <a:bodyPr/>
          <a:lstStyle/>
          <a:p>
            <a:pPr eaLnBrk="1" hangingPunct="1"/>
            <a:r>
              <a:rPr lang="zh-CN" altLang="en-US">
                <a:ea typeface="宋体" panose="02010600030101010101" pitchFamily="2" charset="-122"/>
              </a:rPr>
              <a:t>硬件层面</a:t>
            </a:r>
            <a:endParaRPr lang="zh-CN" altLang="en-US">
              <a:ea typeface="宋体" panose="02010600030101010101" pitchFamily="2" charset="-122"/>
            </a:endParaRPr>
          </a:p>
          <a:p>
            <a:pPr lvl="1" eaLnBrk="1" hangingPunct="1"/>
            <a:r>
              <a:rPr lang="zh-CN" altLang="en-US">
                <a:ea typeface="宋体" panose="02010600030101010101" pitchFamily="2" charset="-122"/>
              </a:rPr>
              <a:t>设备显示原理：</a:t>
            </a:r>
            <a:r>
              <a:rPr lang="en-US" altLang="zh-CN">
                <a:ea typeface="宋体" panose="02010600030101010101" pitchFamily="2" charset="-122"/>
              </a:rPr>
              <a:t>CRT</a:t>
            </a:r>
            <a:r>
              <a:rPr lang="zh-CN" altLang="en-US">
                <a:ea typeface="宋体" panose="02010600030101010101" pitchFamily="2" charset="-122"/>
              </a:rPr>
              <a:t>、</a:t>
            </a:r>
            <a:r>
              <a:rPr lang="en-US" altLang="zh-CN">
                <a:ea typeface="宋体" panose="02010600030101010101" pitchFamily="2" charset="-122"/>
              </a:rPr>
              <a:t>LCD</a:t>
            </a:r>
            <a:endParaRPr lang="en-US" altLang="zh-CN">
              <a:ea typeface="宋体" panose="02010600030101010101" pitchFamily="2" charset="-122"/>
            </a:endParaRPr>
          </a:p>
          <a:p>
            <a:pPr lvl="1" eaLnBrk="1" hangingPunct="1"/>
            <a:r>
              <a:rPr lang="zh-CN" altLang="en-US">
                <a:solidFill>
                  <a:schemeClr val="accent2"/>
                </a:solidFill>
                <a:ea typeface="宋体" panose="02010600030101010101" pitchFamily="2" charset="-122"/>
              </a:rPr>
              <a:t>设备显示方式：随机、光栅</a:t>
            </a:r>
            <a:endParaRPr lang="zh-CN" altLang="en-US">
              <a:solidFill>
                <a:schemeClr val="accent2"/>
              </a:solidFill>
              <a:ea typeface="宋体" panose="02010600030101010101" pitchFamily="2" charset="-122"/>
            </a:endParaRPr>
          </a:p>
          <a:p>
            <a:pPr lvl="1" eaLnBrk="1" hangingPunct="1"/>
            <a:r>
              <a:rPr lang="zh-CN" altLang="en-US">
                <a:ea typeface="宋体" panose="02010600030101010101" pitchFamily="2" charset="-122"/>
              </a:rPr>
              <a:t>显示系统组成结构：简单、典型、专用</a:t>
            </a:r>
            <a:endParaRPr lang="zh-CN" altLang="en-US">
              <a:ea typeface="宋体" panose="02010600030101010101" pitchFamily="2" charset="-122"/>
            </a:endParaRPr>
          </a:p>
          <a:p>
            <a:pPr eaLnBrk="1" hangingPunct="1"/>
            <a:r>
              <a:rPr lang="zh-CN" altLang="en-US">
                <a:ea typeface="宋体" panose="02010600030101010101" pitchFamily="2" charset="-122"/>
              </a:rPr>
              <a:t>软件层面</a:t>
            </a:r>
            <a:endParaRPr lang="zh-CN" altLang="en-US">
              <a:ea typeface="宋体" panose="02010600030101010101" pitchFamily="2" charset="-122"/>
            </a:endParaRPr>
          </a:p>
          <a:p>
            <a:pPr lvl="1" eaLnBrk="1" hangingPunct="1"/>
            <a:r>
              <a:rPr lang="zh-CN" altLang="en-US">
                <a:ea typeface="宋体" panose="02010600030101010101" pitchFamily="2" charset="-122"/>
              </a:rPr>
              <a:t>图形软件</a:t>
            </a:r>
            <a:endParaRPr lang="en-US" altLang="zh-CN">
              <a:ea typeface="宋体" panose="02010600030101010101" pitchFamily="2" charset="-122"/>
            </a:endParaRPr>
          </a:p>
          <a:p>
            <a:pPr eaLnBrk="1" hangingPunct="1"/>
            <a:r>
              <a:rPr lang="zh-CN" altLang="en-US">
                <a:ea typeface="宋体" panose="02010600030101010101" pitchFamily="2" charset="-122"/>
              </a:rPr>
              <a:t>图形系统标准</a:t>
            </a:r>
            <a:endParaRPr lang="zh-CN" altLang="en-US">
              <a:ea typeface="宋体" panose="02010600030101010101" pitchFamily="2" charset="-122"/>
            </a:endParaRPr>
          </a:p>
          <a:p>
            <a:pPr eaLnBrk="1" hangingPunct="1"/>
            <a:endParaRPr lang="en-US" altLang="zh-CN">
              <a:ea typeface="宋体" panose="02010600030101010101" pitchFamily="2" charset="-122"/>
            </a:endParaRPr>
          </a:p>
          <a:p>
            <a:pPr eaLnBrk="1" hangingPunct="1"/>
            <a:endParaRPr lang="zh-CN" altLang="en-US">
              <a:ea typeface="宋体" panose="02010600030101010101" pitchFamily="2" charset="-122"/>
            </a:endParaRPr>
          </a:p>
        </p:txBody>
      </p:sp>
      <p:sp>
        <p:nvSpPr>
          <p:cNvPr id="19462" name="AutoShape 5"/>
          <p:cNvSpPr>
            <a:spLocks noChangeArrowheads="1"/>
          </p:cNvSpPr>
          <p:nvPr/>
        </p:nvSpPr>
        <p:spPr bwMode="auto">
          <a:xfrm>
            <a:off x="7380288" y="549275"/>
            <a:ext cx="1582737" cy="1222375"/>
          </a:xfrm>
          <a:prstGeom prst="rtTriangle">
            <a:avLst/>
          </a:prstGeom>
          <a:noFill/>
          <a:ln w="19050" algn="ctr">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19463" name="Oval 6"/>
          <p:cNvSpPr>
            <a:spLocks noChangeArrowheads="1"/>
          </p:cNvSpPr>
          <p:nvPr/>
        </p:nvSpPr>
        <p:spPr bwMode="auto">
          <a:xfrm>
            <a:off x="8459788" y="476250"/>
            <a:ext cx="73025" cy="73025"/>
          </a:xfrm>
          <a:prstGeom prst="ellipse">
            <a:avLst/>
          </a:prstGeom>
          <a:solidFill>
            <a:schemeClr val="accent2"/>
          </a:solidFill>
          <a:ln w="9525" algn="ctr">
            <a:solidFill>
              <a:schemeClr val="accent2"/>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ctr" eaLnBrk="1" hangingPunct="1">
              <a:spcBef>
                <a:spcPct val="20000"/>
              </a:spcBef>
            </a:pPr>
            <a:endParaRPr lang="zh-CN" altLang="en-US">
              <a:solidFill>
                <a:schemeClr val="accent2"/>
              </a:solidFill>
              <a:latin typeface="Times New Roman" panose="02020603050405020304" pitchFamily="18" charset="0"/>
              <a:ea typeface="宋体" panose="02010600030101010101" pitchFamily="2" charset="-122"/>
            </a:endParaRPr>
          </a:p>
        </p:txBody>
      </p:sp>
      <p:sp>
        <p:nvSpPr>
          <p:cNvPr id="24585" name="AutoShape 7"/>
          <p:cNvSpPr>
            <a:spLocks noChangeArrowheads="1"/>
          </p:cNvSpPr>
          <p:nvPr/>
        </p:nvSpPr>
        <p:spPr bwMode="auto">
          <a:xfrm>
            <a:off x="7092950" y="3929063"/>
            <a:ext cx="1655763" cy="868362"/>
          </a:xfrm>
          <a:prstGeom prst="wedgeRoundRectCallout">
            <a:avLst>
              <a:gd name="adj1" fmla="val 11171"/>
              <a:gd name="adj2" fmla="val -293329"/>
              <a:gd name="adj3" fmla="val 16667"/>
            </a:avLst>
          </a:prstGeom>
        </p:spPr>
        <p:style>
          <a:lnRef idx="1">
            <a:schemeClr val="accent2"/>
          </a:lnRef>
          <a:fillRef idx="2">
            <a:schemeClr val="accent2"/>
          </a:fillRef>
          <a:effectRef idx="1">
            <a:schemeClr val="accent2"/>
          </a:effectRef>
          <a:fontRef idx="minor">
            <a:schemeClr val="dk1"/>
          </a:fontRef>
        </p:style>
        <p:txBody>
          <a:bodyPr/>
          <a:lstStyle/>
          <a:p>
            <a:pPr algn="ctr">
              <a:spcBef>
                <a:spcPct val="20000"/>
              </a:spcBef>
              <a:defRPr/>
            </a:pPr>
            <a:r>
              <a:rPr lang="zh-CN" altLang="en-US" sz="2400" dirty="0">
                <a:solidFill>
                  <a:schemeClr val="accent2"/>
                </a:solidFill>
                <a:ea typeface="宋体" panose="02010600030101010101" pitchFamily="2" charset="-122"/>
              </a:rPr>
              <a:t>如何显示线条</a:t>
            </a:r>
            <a:r>
              <a:rPr lang="en-US" altLang="zh-CN" sz="2400" dirty="0">
                <a:solidFill>
                  <a:schemeClr val="accent2"/>
                </a:solidFill>
                <a:ea typeface="宋体" panose="02010600030101010101" pitchFamily="2" charset="-122"/>
              </a:rPr>
              <a:t>?</a:t>
            </a:r>
            <a:endParaRPr lang="en-US" altLang="zh-CN" sz="2400" dirty="0">
              <a:solidFill>
                <a:schemeClr val="accent2"/>
              </a:solidFill>
              <a:ea typeface="宋体" panose="02010600030101010101" pitchFamily="2" charset="-122"/>
            </a:endParaRPr>
          </a:p>
        </p:txBody>
      </p:sp>
      <p:sp>
        <p:nvSpPr>
          <p:cNvPr id="19465"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1DB66CB2-FCEE-488A-BCA0-68F3EAA83B3A}"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34523EF9-FEE3-4D2E-8E8A-F13AE6156CD7}" type="slidenum">
              <a:rPr lang="zh-CN" altLang="en-US">
                <a:ea typeface="宋体" panose="02010600030101010101" pitchFamily="2" charset="-122"/>
              </a:rPr>
            </a:fld>
            <a:endParaRPr lang="en-US" altLang="zh-CN">
              <a:ea typeface="宋体" panose="02010600030101010101" pitchFamily="2" charset="-122"/>
            </a:endParaRPr>
          </a:p>
        </p:txBody>
      </p:sp>
      <p:sp>
        <p:nvSpPr>
          <p:cNvPr id="7"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B64B1C44-E2A6-4890-B17D-8F1ED8482F04}"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21508" name="Rectangle 2"/>
          <p:cNvSpPr>
            <a:spLocks noGrp="1" noChangeArrowheads="1"/>
          </p:cNvSpPr>
          <p:nvPr>
            <p:ph type="title" idx="4294967295"/>
          </p:nvPr>
        </p:nvSpPr>
        <p:spPr/>
        <p:txBody>
          <a:bodyPr/>
          <a:lstStyle/>
          <a:p>
            <a:pPr eaLnBrk="1" hangingPunct="1"/>
            <a:r>
              <a:rPr lang="zh-CN" altLang="en-US">
                <a:ea typeface="宋体" panose="02010600030101010101" pitchFamily="2" charset="-122"/>
              </a:rPr>
              <a:t>显示方式</a:t>
            </a:r>
            <a:r>
              <a:rPr lang="en-US" altLang="zh-CN">
                <a:ea typeface="宋体" panose="02010600030101010101" pitchFamily="2" charset="-122"/>
              </a:rPr>
              <a:t>-</a:t>
            </a:r>
            <a:r>
              <a:rPr lang="zh-CN" altLang="en-US">
                <a:ea typeface="宋体" panose="02010600030101010101" pitchFamily="2" charset="-122"/>
              </a:rPr>
              <a:t>随机扫描</a:t>
            </a:r>
            <a:endParaRPr lang="zh-CN" altLang="en-US">
              <a:ea typeface="宋体" panose="02010600030101010101" pitchFamily="2" charset="-122"/>
            </a:endParaRPr>
          </a:p>
        </p:txBody>
      </p:sp>
      <p:sp>
        <p:nvSpPr>
          <p:cNvPr id="21509" name="Rectangle 3"/>
          <p:cNvSpPr>
            <a:spLocks noGrp="1" noChangeArrowheads="1"/>
          </p:cNvSpPr>
          <p:nvPr>
            <p:ph type="body" idx="4294967295"/>
          </p:nvPr>
        </p:nvSpPr>
        <p:spPr/>
        <p:txBody>
          <a:bodyPr/>
          <a:lstStyle/>
          <a:p>
            <a:pPr eaLnBrk="1" hangingPunct="1"/>
            <a:r>
              <a:rPr lang="zh-CN" altLang="en-US" sz="3600" dirty="0">
                <a:ea typeface="宋体" panose="02010600030101010101" pitchFamily="2" charset="-122"/>
              </a:rPr>
              <a:t>特点：电子束可随意移动，只扫描荧屏上要显示的部分</a:t>
            </a:r>
            <a:endParaRPr lang="zh-CN" altLang="en-US" sz="3600" dirty="0">
              <a:ea typeface="宋体" panose="02010600030101010101" pitchFamily="2" charset="-122"/>
            </a:endParaRPr>
          </a:p>
          <a:p>
            <a:pPr eaLnBrk="1" hangingPunct="1"/>
            <a:r>
              <a:rPr lang="zh-CN" altLang="en-US" sz="3600" dirty="0">
                <a:ea typeface="宋体" panose="02010600030101010101" pitchFamily="2" charset="-122"/>
              </a:rPr>
              <a:t>逻辑部件：显示文件（矢量画线命令）</a:t>
            </a:r>
            <a:r>
              <a:rPr lang="en-US" altLang="zh-CN" sz="3600" dirty="0">
                <a:ea typeface="宋体" panose="02010600030101010101" pitchFamily="2" charset="-122"/>
              </a:rPr>
              <a:t>,</a:t>
            </a:r>
            <a:r>
              <a:rPr lang="zh-CN" altLang="en-US" sz="3600" dirty="0">
                <a:ea typeface="宋体" panose="02010600030101010101" pitchFamily="2" charset="-122"/>
              </a:rPr>
              <a:t>显示处理器</a:t>
            </a:r>
            <a:r>
              <a:rPr lang="en-US" altLang="zh-CN" sz="3600" dirty="0">
                <a:ea typeface="宋体" panose="02010600030101010101" pitchFamily="2" charset="-122"/>
              </a:rPr>
              <a:t>, CRT</a:t>
            </a:r>
            <a:endParaRPr lang="en-US" altLang="zh-CN" sz="3600" dirty="0">
              <a:ea typeface="宋体" panose="02010600030101010101" pitchFamily="2" charset="-122"/>
            </a:endParaRPr>
          </a:p>
        </p:txBody>
      </p:sp>
      <p:pic>
        <p:nvPicPr>
          <p:cNvPr id="21510" name="Picture 4" descr="1p1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38400" y="3810000"/>
            <a:ext cx="6210300"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1"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4F67CF65-E612-4A00-8D86-5B4E2EF9AE0A}"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1285C150-6746-4313-B578-E967B905BE8F}" type="slidenum">
              <a:rPr lang="zh-CN" altLang="en-US">
                <a:ea typeface="宋体" panose="02010600030101010101" pitchFamily="2" charset="-122"/>
              </a:rPr>
            </a:fld>
            <a:endParaRPr lang="en-US" altLang="zh-CN">
              <a:ea typeface="宋体" panose="02010600030101010101" pitchFamily="2" charset="-122"/>
            </a:endParaRPr>
          </a:p>
        </p:txBody>
      </p:sp>
      <p:sp>
        <p:nvSpPr>
          <p:cNvPr id="7"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043C322D-73D5-401B-A4AB-4497352E6623}"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22532" name="Rectangle 2"/>
          <p:cNvSpPr>
            <a:spLocks noGrp="1" noChangeArrowheads="1"/>
          </p:cNvSpPr>
          <p:nvPr>
            <p:ph type="title" idx="4294967295"/>
          </p:nvPr>
        </p:nvSpPr>
        <p:spPr/>
        <p:txBody>
          <a:bodyPr/>
          <a:lstStyle/>
          <a:p>
            <a:pPr eaLnBrk="1" hangingPunct="1"/>
            <a:r>
              <a:rPr lang="zh-CN" altLang="en-US">
                <a:ea typeface="宋体" panose="02010600030101010101" pitchFamily="2" charset="-122"/>
              </a:rPr>
              <a:t>显示方式</a:t>
            </a:r>
            <a:r>
              <a:rPr lang="en-US" altLang="zh-CN">
                <a:ea typeface="宋体" panose="02010600030101010101" pitchFamily="2" charset="-122"/>
              </a:rPr>
              <a:t>-</a:t>
            </a:r>
            <a:r>
              <a:rPr lang="zh-CN" altLang="en-US">
                <a:ea typeface="宋体" panose="02010600030101010101" pitchFamily="2" charset="-122"/>
              </a:rPr>
              <a:t>随机扫描</a:t>
            </a:r>
            <a:endParaRPr lang="zh-CN" altLang="en-US">
              <a:ea typeface="宋体" panose="02010600030101010101" pitchFamily="2" charset="-122"/>
            </a:endParaRPr>
          </a:p>
        </p:txBody>
      </p:sp>
      <p:sp>
        <p:nvSpPr>
          <p:cNvPr id="27654" name="Rectangle 3"/>
          <p:cNvSpPr>
            <a:spLocks noGrp="1" noChangeArrowheads="1"/>
          </p:cNvSpPr>
          <p:nvPr>
            <p:ph type="body" idx="4294967295"/>
          </p:nvPr>
        </p:nvSpPr>
        <p:spPr/>
        <p:txBody>
          <a:bodyPr/>
          <a:lstStyle/>
          <a:p>
            <a:pPr eaLnBrk="1" hangingPunct="1"/>
            <a:r>
              <a:rPr lang="zh-CN" altLang="en-US" dirty="0">
                <a:ea typeface="宋体" panose="02010600030101010101" pitchFamily="2" charset="-122"/>
              </a:rPr>
              <a:t>随机扫描显示器是为画线应用设计</a:t>
            </a:r>
            <a:endParaRPr lang="en-US" altLang="zh-CN" dirty="0">
              <a:ea typeface="宋体" panose="02010600030101010101" pitchFamily="2" charset="-122"/>
            </a:endParaRPr>
          </a:p>
          <a:p>
            <a:pPr eaLnBrk="1" hangingPunct="1"/>
            <a:r>
              <a:rPr lang="zh-CN" altLang="en-US" dirty="0">
                <a:ea typeface="宋体" panose="02010600030101010101" pitchFamily="2" charset="-122"/>
              </a:rPr>
              <a:t>图形修改方便，可以作无级放大，无锯齿状</a:t>
            </a:r>
            <a:endParaRPr lang="en-US" altLang="zh-CN" dirty="0">
              <a:ea typeface="宋体" panose="02010600030101010101" pitchFamily="2" charset="-122"/>
            </a:endParaRPr>
          </a:p>
          <a:p>
            <a:pPr eaLnBrk="1" hangingPunct="1"/>
            <a:r>
              <a:rPr lang="zh-CN" altLang="en-US" dirty="0">
                <a:ea typeface="宋体" panose="02010600030101010101" pitchFamily="2" charset="-122"/>
              </a:rPr>
              <a:t>图形显示质量与一帧的画线数量有关</a:t>
            </a:r>
            <a:r>
              <a:rPr lang="en-US" altLang="zh-CN" dirty="0">
                <a:ea typeface="宋体" panose="02010600030101010101" pitchFamily="2" charset="-122"/>
              </a:rPr>
              <a:t>:</a:t>
            </a:r>
            <a:r>
              <a:rPr lang="zh-CN" altLang="en-US" dirty="0">
                <a:ea typeface="宋体" panose="02010600030101010101" pitchFamily="2" charset="-122"/>
              </a:rPr>
              <a:t>当一帧线条太多，无法维持</a:t>
            </a:r>
            <a:r>
              <a:rPr lang="en-US" altLang="zh-CN" dirty="0">
                <a:ea typeface="宋体" panose="02010600030101010101" pitchFamily="2" charset="-122"/>
              </a:rPr>
              <a:t>30</a:t>
            </a:r>
            <a:r>
              <a:rPr lang="zh-CN" altLang="en-US" dirty="0">
                <a:ea typeface="宋体" panose="02010600030101010101" pitchFamily="2" charset="-122"/>
              </a:rPr>
              <a:t>～</a:t>
            </a:r>
            <a:r>
              <a:rPr lang="en-US" altLang="zh-CN" dirty="0">
                <a:ea typeface="宋体" panose="02010600030101010101" pitchFamily="2" charset="-122"/>
              </a:rPr>
              <a:t>60</a:t>
            </a:r>
            <a:r>
              <a:rPr lang="zh-CN" altLang="en-US" dirty="0">
                <a:ea typeface="宋体" panose="02010600030101010101" pitchFamily="2" charset="-122"/>
              </a:rPr>
              <a:t>帧</a:t>
            </a:r>
            <a:r>
              <a:rPr lang="en-US" altLang="zh-CN" dirty="0">
                <a:ea typeface="宋体" panose="02010600030101010101" pitchFamily="2" charset="-122"/>
              </a:rPr>
              <a:t>/</a:t>
            </a:r>
            <a:r>
              <a:rPr lang="zh-CN" altLang="en-US" dirty="0">
                <a:ea typeface="宋体" panose="02010600030101010101" pitchFamily="2" charset="-122"/>
              </a:rPr>
              <a:t>秒刷新频率，就会出现满屏闪烁</a:t>
            </a:r>
            <a:endParaRPr lang="zh-CN" altLang="en-US" dirty="0">
              <a:ea typeface="宋体" panose="02010600030101010101" pitchFamily="2" charset="-122"/>
            </a:endParaRPr>
          </a:p>
          <a:p>
            <a:pPr eaLnBrk="1" hangingPunct="1"/>
            <a:endParaRPr lang="zh-CN" altLang="en-US" dirty="0">
              <a:ea typeface="宋体" panose="02010600030101010101" pitchFamily="2" charset="-122"/>
            </a:endParaRPr>
          </a:p>
        </p:txBody>
      </p:sp>
      <p:pic>
        <p:nvPicPr>
          <p:cNvPr id="22534" name="Picture 4" descr="1p1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08175" y="4437063"/>
            <a:ext cx="6210300"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5"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8863C47D-877A-4EA8-84AD-9B905CA6135D}"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654">
                                            <p:txEl>
                                              <p:pRg st="0" end="0"/>
                                            </p:txEl>
                                          </p:spTgt>
                                        </p:tgtEl>
                                        <p:attrNameLst>
                                          <p:attrName>style.visibility</p:attrName>
                                        </p:attrNameLst>
                                      </p:cBhvr>
                                      <p:to>
                                        <p:strVal val="visible"/>
                                      </p:to>
                                    </p:set>
                                    <p:animEffect transition="in" filter="blinds(horizontal)">
                                      <p:cBhvr>
                                        <p:cTn id="7" dur="500"/>
                                        <p:tgtEl>
                                          <p:spTgt spid="276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7654">
                                            <p:txEl>
                                              <p:pRg st="1" end="1"/>
                                            </p:txEl>
                                          </p:spTgt>
                                        </p:tgtEl>
                                        <p:attrNameLst>
                                          <p:attrName>style.visibility</p:attrName>
                                        </p:attrNameLst>
                                      </p:cBhvr>
                                      <p:to>
                                        <p:strVal val="visible"/>
                                      </p:to>
                                    </p:set>
                                    <p:animEffect transition="in" filter="blinds(horizontal)">
                                      <p:cBhvr>
                                        <p:cTn id="12" dur="500"/>
                                        <p:tgtEl>
                                          <p:spTgt spid="2765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7654">
                                            <p:txEl>
                                              <p:pRg st="2" end="2"/>
                                            </p:txEl>
                                          </p:spTgt>
                                        </p:tgtEl>
                                        <p:attrNameLst>
                                          <p:attrName>style.visibility</p:attrName>
                                        </p:attrNameLst>
                                      </p:cBhvr>
                                      <p:to>
                                        <p:strVal val="visible"/>
                                      </p:to>
                                    </p:set>
                                    <p:animEffect transition="in" filter="blinds(horizontal)">
                                      <p:cBhvr>
                                        <p:cTn id="17" dur="500"/>
                                        <p:tgtEl>
                                          <p:spTgt spid="2765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979B7D95-0ECB-4369-A4EE-3521E06BC75B}" type="slidenum">
              <a:rPr lang="zh-CN" altLang="en-US">
                <a:ea typeface="宋体" panose="02010600030101010101" pitchFamily="2" charset="-122"/>
              </a:rPr>
            </a:fld>
            <a:endParaRPr lang="en-US" altLang="zh-CN">
              <a:ea typeface="宋体" panose="02010600030101010101" pitchFamily="2" charset="-122"/>
            </a:endParaRPr>
          </a:p>
        </p:txBody>
      </p:sp>
      <p:sp>
        <p:nvSpPr>
          <p:cNvPr id="7"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7B0F4084-C42D-4B11-923D-35175068E599}"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23556" name="Rectangle 2"/>
          <p:cNvSpPr>
            <a:spLocks noGrp="1" noChangeArrowheads="1"/>
          </p:cNvSpPr>
          <p:nvPr>
            <p:ph type="title" idx="4294967295"/>
          </p:nvPr>
        </p:nvSpPr>
        <p:spPr>
          <a:xfrm>
            <a:off x="1403350" y="76200"/>
            <a:ext cx="7512050" cy="914400"/>
          </a:xfrm>
        </p:spPr>
        <p:txBody>
          <a:bodyPr/>
          <a:lstStyle/>
          <a:p>
            <a:pPr eaLnBrk="1" hangingPunct="1"/>
            <a:r>
              <a:rPr lang="zh-CN" altLang="en-US">
                <a:ea typeface="宋体" panose="02010600030101010101" pitchFamily="2" charset="-122"/>
              </a:rPr>
              <a:t>显示方式</a:t>
            </a:r>
            <a:r>
              <a:rPr lang="en-US" altLang="zh-CN">
                <a:ea typeface="宋体" panose="02010600030101010101" pitchFamily="2" charset="-122"/>
              </a:rPr>
              <a:t>-</a:t>
            </a:r>
            <a:r>
              <a:rPr lang="zh-CN" altLang="en-US">
                <a:ea typeface="宋体" panose="02010600030101010101" pitchFamily="2" charset="-122"/>
              </a:rPr>
              <a:t>光栅扫描显示</a:t>
            </a:r>
            <a:endParaRPr lang="zh-CN" altLang="en-US">
              <a:ea typeface="宋体" panose="02010600030101010101" pitchFamily="2" charset="-122"/>
            </a:endParaRPr>
          </a:p>
        </p:txBody>
      </p:sp>
      <p:sp>
        <p:nvSpPr>
          <p:cNvPr id="28678" name="Rectangle 3"/>
          <p:cNvSpPr>
            <a:spLocks noGrp="1" noChangeArrowheads="1"/>
          </p:cNvSpPr>
          <p:nvPr>
            <p:ph type="body" idx="4294967295"/>
          </p:nvPr>
        </p:nvSpPr>
        <p:spPr>
          <a:xfrm>
            <a:off x="238125" y="1171575"/>
            <a:ext cx="8905875" cy="3933825"/>
          </a:xfrm>
        </p:spPr>
        <p:txBody>
          <a:bodyPr/>
          <a:lstStyle/>
          <a:p>
            <a:pPr eaLnBrk="1" hangingPunct="1">
              <a:lnSpc>
                <a:spcPct val="90000"/>
              </a:lnSpc>
            </a:pPr>
            <a:r>
              <a:rPr lang="zh-CN" altLang="en-US">
                <a:ea typeface="宋体" panose="02010600030101010101" pitchFamily="2" charset="-122"/>
              </a:rPr>
              <a:t>电子束依照固定的路线进行扫描</a:t>
            </a:r>
            <a:endParaRPr lang="en-US" altLang="zh-CN">
              <a:ea typeface="宋体" panose="02010600030101010101" pitchFamily="2" charset="-122"/>
            </a:endParaRPr>
          </a:p>
          <a:p>
            <a:pPr eaLnBrk="1" hangingPunct="1">
              <a:lnSpc>
                <a:spcPct val="90000"/>
              </a:lnSpc>
            </a:pPr>
            <a:r>
              <a:rPr lang="zh-CN" altLang="en-US">
                <a:ea typeface="宋体" panose="02010600030101010101" pitchFamily="2" charset="-122"/>
              </a:rPr>
              <a:t>电子束先从荧光屏左上角开始，向右扫一条水平线，然后迅速地回扫到左边偏下一点的位置，再扫第二条水平线，照此固定的路径及顺序扫下去，直到最后一条水平线</a:t>
            </a:r>
            <a:endParaRPr lang="en-US" altLang="zh-CN">
              <a:ea typeface="宋体" panose="02010600030101010101" pitchFamily="2" charset="-122"/>
            </a:endParaRPr>
          </a:p>
          <a:p>
            <a:pPr eaLnBrk="1" hangingPunct="1">
              <a:lnSpc>
                <a:spcPct val="90000"/>
              </a:lnSpc>
            </a:pPr>
            <a:r>
              <a:rPr lang="zh-CN" altLang="en-US">
                <a:ea typeface="宋体" panose="02010600030101010101" pitchFamily="2" charset="-122"/>
              </a:rPr>
              <a:t>刷新</a:t>
            </a:r>
            <a:r>
              <a:rPr lang="en-US" altLang="zh-CN">
                <a:ea typeface="宋体" panose="02010600030101010101" pitchFamily="2" charset="-122"/>
              </a:rPr>
              <a:t>,</a:t>
            </a:r>
            <a:r>
              <a:rPr lang="zh-CN" altLang="en-US">
                <a:ea typeface="宋体" panose="02010600030101010101" pitchFamily="2" charset="-122"/>
              </a:rPr>
              <a:t>刷新率</a:t>
            </a:r>
            <a:r>
              <a:rPr lang="en-US" altLang="zh-CN">
                <a:ea typeface="宋体" panose="02010600030101010101" pitchFamily="2" charset="-122"/>
              </a:rPr>
              <a:t>, </a:t>
            </a:r>
            <a:r>
              <a:rPr lang="zh-CN" altLang="en-US">
                <a:ea typeface="宋体" panose="02010600030101010101" pitchFamily="2" charset="-122"/>
              </a:rPr>
              <a:t>分辨率 </a:t>
            </a:r>
            <a:endParaRPr lang="zh-CN" altLang="en-US">
              <a:ea typeface="宋体" panose="02010600030101010101" pitchFamily="2" charset="-122"/>
            </a:endParaRPr>
          </a:p>
        </p:txBody>
      </p:sp>
      <p:pic>
        <p:nvPicPr>
          <p:cNvPr id="28679" name="Picture 4"/>
          <p:cNvPicPr>
            <a:picLocks noChangeAspect="1" noChangeArrowheads="1"/>
          </p:cNvPicPr>
          <p:nvPr/>
        </p:nvPicPr>
        <p:blipFill>
          <a:blip r:embed="rId1">
            <a:lum contrast="96000"/>
            <a:extLst>
              <a:ext uri="{28A0092B-C50C-407E-A947-70E740481C1C}">
                <a14:useLocalDpi xmlns:a14="http://schemas.microsoft.com/office/drawing/2010/main" val="0"/>
              </a:ext>
            </a:extLst>
          </a:blip>
          <a:srcRect/>
          <a:stretch>
            <a:fillRect/>
          </a:stretch>
        </p:blipFill>
        <p:spPr bwMode="auto">
          <a:xfrm>
            <a:off x="5486400" y="3832225"/>
            <a:ext cx="3311525" cy="302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559" name="Group 8"/>
          <p:cNvGrpSpPr/>
          <p:nvPr/>
        </p:nvGrpSpPr>
        <p:grpSpPr bwMode="auto">
          <a:xfrm>
            <a:off x="838200" y="4343400"/>
            <a:ext cx="2362200" cy="2057400"/>
            <a:chOff x="4704" y="672"/>
            <a:chExt cx="1008" cy="960"/>
          </a:xfrm>
        </p:grpSpPr>
        <p:sp>
          <p:nvSpPr>
            <p:cNvPr id="23561" name="Rectangle 4"/>
            <p:cNvSpPr>
              <a:spLocks noChangeArrowheads="1"/>
            </p:cNvSpPr>
            <p:nvPr/>
          </p:nvSpPr>
          <p:spPr bwMode="auto">
            <a:xfrm>
              <a:off x="4704" y="672"/>
              <a:ext cx="1008" cy="960"/>
            </a:xfrm>
            <a:prstGeom prst="rect">
              <a:avLst/>
            </a:prstGeom>
            <a:solidFill>
              <a:schemeClr val="bg2"/>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62" name="Oval 5"/>
            <p:cNvSpPr>
              <a:spLocks noChangeArrowheads="1"/>
            </p:cNvSpPr>
            <p:nvPr/>
          </p:nvSpPr>
          <p:spPr bwMode="auto">
            <a:xfrm>
              <a:off x="4704" y="72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63" name="Oval 6"/>
            <p:cNvSpPr>
              <a:spLocks noChangeArrowheads="1"/>
            </p:cNvSpPr>
            <p:nvPr/>
          </p:nvSpPr>
          <p:spPr bwMode="auto">
            <a:xfrm>
              <a:off x="4800" y="81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64" name="Oval 7"/>
            <p:cNvSpPr>
              <a:spLocks noChangeArrowheads="1"/>
            </p:cNvSpPr>
            <p:nvPr/>
          </p:nvSpPr>
          <p:spPr bwMode="auto">
            <a:xfrm>
              <a:off x="4896" y="91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65" name="Oval 8"/>
            <p:cNvSpPr>
              <a:spLocks noChangeArrowheads="1"/>
            </p:cNvSpPr>
            <p:nvPr/>
          </p:nvSpPr>
          <p:spPr bwMode="auto">
            <a:xfrm>
              <a:off x="4992" y="100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66" name="Oval 9"/>
            <p:cNvSpPr>
              <a:spLocks noChangeArrowheads="1"/>
            </p:cNvSpPr>
            <p:nvPr/>
          </p:nvSpPr>
          <p:spPr bwMode="auto">
            <a:xfrm>
              <a:off x="5088" y="1104"/>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67" name="Oval 10"/>
            <p:cNvSpPr>
              <a:spLocks noChangeArrowheads="1"/>
            </p:cNvSpPr>
            <p:nvPr/>
          </p:nvSpPr>
          <p:spPr bwMode="auto">
            <a:xfrm>
              <a:off x="5184" y="120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68" name="Oval 11"/>
            <p:cNvSpPr>
              <a:spLocks noChangeArrowheads="1"/>
            </p:cNvSpPr>
            <p:nvPr/>
          </p:nvSpPr>
          <p:spPr bwMode="auto">
            <a:xfrm>
              <a:off x="4848" y="72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69" name="Oval 12"/>
            <p:cNvSpPr>
              <a:spLocks noChangeArrowheads="1"/>
            </p:cNvSpPr>
            <p:nvPr/>
          </p:nvSpPr>
          <p:spPr bwMode="auto">
            <a:xfrm>
              <a:off x="4944" y="81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70" name="Oval 13"/>
            <p:cNvSpPr>
              <a:spLocks noChangeArrowheads="1"/>
            </p:cNvSpPr>
            <p:nvPr/>
          </p:nvSpPr>
          <p:spPr bwMode="auto">
            <a:xfrm>
              <a:off x="5040" y="91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71" name="Oval 14"/>
            <p:cNvSpPr>
              <a:spLocks noChangeArrowheads="1"/>
            </p:cNvSpPr>
            <p:nvPr/>
          </p:nvSpPr>
          <p:spPr bwMode="auto">
            <a:xfrm>
              <a:off x="5136" y="100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72" name="Oval 15"/>
            <p:cNvSpPr>
              <a:spLocks noChangeArrowheads="1"/>
            </p:cNvSpPr>
            <p:nvPr/>
          </p:nvSpPr>
          <p:spPr bwMode="auto">
            <a:xfrm>
              <a:off x="5232" y="1104"/>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73" name="Oval 16"/>
            <p:cNvSpPr>
              <a:spLocks noChangeArrowheads="1"/>
            </p:cNvSpPr>
            <p:nvPr/>
          </p:nvSpPr>
          <p:spPr bwMode="auto">
            <a:xfrm>
              <a:off x="5328" y="120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74" name="Oval 17"/>
            <p:cNvSpPr>
              <a:spLocks noChangeArrowheads="1"/>
            </p:cNvSpPr>
            <p:nvPr/>
          </p:nvSpPr>
          <p:spPr bwMode="auto">
            <a:xfrm>
              <a:off x="4992" y="72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75" name="Oval 18"/>
            <p:cNvSpPr>
              <a:spLocks noChangeArrowheads="1"/>
            </p:cNvSpPr>
            <p:nvPr/>
          </p:nvSpPr>
          <p:spPr bwMode="auto">
            <a:xfrm>
              <a:off x="5088" y="81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76" name="Oval 19"/>
            <p:cNvSpPr>
              <a:spLocks noChangeArrowheads="1"/>
            </p:cNvSpPr>
            <p:nvPr/>
          </p:nvSpPr>
          <p:spPr bwMode="auto">
            <a:xfrm>
              <a:off x="5184" y="91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77" name="Oval 20"/>
            <p:cNvSpPr>
              <a:spLocks noChangeArrowheads="1"/>
            </p:cNvSpPr>
            <p:nvPr/>
          </p:nvSpPr>
          <p:spPr bwMode="auto">
            <a:xfrm>
              <a:off x="5280" y="100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78" name="Oval 21"/>
            <p:cNvSpPr>
              <a:spLocks noChangeArrowheads="1"/>
            </p:cNvSpPr>
            <p:nvPr/>
          </p:nvSpPr>
          <p:spPr bwMode="auto">
            <a:xfrm>
              <a:off x="5376" y="1104"/>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79" name="Oval 22"/>
            <p:cNvSpPr>
              <a:spLocks noChangeArrowheads="1"/>
            </p:cNvSpPr>
            <p:nvPr/>
          </p:nvSpPr>
          <p:spPr bwMode="auto">
            <a:xfrm>
              <a:off x="5136" y="72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80" name="Oval 23"/>
            <p:cNvSpPr>
              <a:spLocks noChangeArrowheads="1"/>
            </p:cNvSpPr>
            <p:nvPr/>
          </p:nvSpPr>
          <p:spPr bwMode="auto">
            <a:xfrm>
              <a:off x="5232" y="81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81" name="Oval 24"/>
            <p:cNvSpPr>
              <a:spLocks noChangeArrowheads="1"/>
            </p:cNvSpPr>
            <p:nvPr/>
          </p:nvSpPr>
          <p:spPr bwMode="auto">
            <a:xfrm>
              <a:off x="5328" y="91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82" name="Oval 25"/>
            <p:cNvSpPr>
              <a:spLocks noChangeArrowheads="1"/>
            </p:cNvSpPr>
            <p:nvPr/>
          </p:nvSpPr>
          <p:spPr bwMode="auto">
            <a:xfrm>
              <a:off x="5424" y="100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83" name="Oval 26"/>
            <p:cNvSpPr>
              <a:spLocks noChangeArrowheads="1"/>
            </p:cNvSpPr>
            <p:nvPr/>
          </p:nvSpPr>
          <p:spPr bwMode="auto">
            <a:xfrm>
              <a:off x="5280" y="72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84" name="Oval 27"/>
            <p:cNvSpPr>
              <a:spLocks noChangeArrowheads="1"/>
            </p:cNvSpPr>
            <p:nvPr/>
          </p:nvSpPr>
          <p:spPr bwMode="auto">
            <a:xfrm>
              <a:off x="5376" y="81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85" name="Oval 28"/>
            <p:cNvSpPr>
              <a:spLocks noChangeArrowheads="1"/>
            </p:cNvSpPr>
            <p:nvPr/>
          </p:nvSpPr>
          <p:spPr bwMode="auto">
            <a:xfrm>
              <a:off x="5472" y="91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86" name="Oval 29"/>
            <p:cNvSpPr>
              <a:spLocks noChangeArrowheads="1"/>
            </p:cNvSpPr>
            <p:nvPr/>
          </p:nvSpPr>
          <p:spPr bwMode="auto">
            <a:xfrm>
              <a:off x="5424" y="72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87" name="Oval 30"/>
            <p:cNvSpPr>
              <a:spLocks noChangeArrowheads="1"/>
            </p:cNvSpPr>
            <p:nvPr/>
          </p:nvSpPr>
          <p:spPr bwMode="auto">
            <a:xfrm>
              <a:off x="5520" y="81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88" name="Oval 31"/>
            <p:cNvSpPr>
              <a:spLocks noChangeArrowheads="1"/>
            </p:cNvSpPr>
            <p:nvPr/>
          </p:nvSpPr>
          <p:spPr bwMode="auto">
            <a:xfrm>
              <a:off x="5568" y="72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89" name="Oval 32"/>
            <p:cNvSpPr>
              <a:spLocks noChangeArrowheads="1"/>
            </p:cNvSpPr>
            <p:nvPr/>
          </p:nvSpPr>
          <p:spPr bwMode="auto">
            <a:xfrm>
              <a:off x="4752" y="91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90" name="Oval 33"/>
            <p:cNvSpPr>
              <a:spLocks noChangeArrowheads="1"/>
            </p:cNvSpPr>
            <p:nvPr/>
          </p:nvSpPr>
          <p:spPr bwMode="auto">
            <a:xfrm>
              <a:off x="4848" y="100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91" name="Oval 34"/>
            <p:cNvSpPr>
              <a:spLocks noChangeArrowheads="1"/>
            </p:cNvSpPr>
            <p:nvPr/>
          </p:nvSpPr>
          <p:spPr bwMode="auto">
            <a:xfrm>
              <a:off x="4944" y="1104"/>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92" name="Oval 35"/>
            <p:cNvSpPr>
              <a:spLocks noChangeArrowheads="1"/>
            </p:cNvSpPr>
            <p:nvPr/>
          </p:nvSpPr>
          <p:spPr bwMode="auto">
            <a:xfrm>
              <a:off x="5040" y="120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93" name="Oval 36"/>
            <p:cNvSpPr>
              <a:spLocks noChangeArrowheads="1"/>
            </p:cNvSpPr>
            <p:nvPr/>
          </p:nvSpPr>
          <p:spPr bwMode="auto">
            <a:xfrm>
              <a:off x="5568" y="100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94" name="Oval 37"/>
            <p:cNvSpPr>
              <a:spLocks noChangeArrowheads="1"/>
            </p:cNvSpPr>
            <p:nvPr/>
          </p:nvSpPr>
          <p:spPr bwMode="auto">
            <a:xfrm>
              <a:off x="5136" y="129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95" name="Oval 38"/>
            <p:cNvSpPr>
              <a:spLocks noChangeArrowheads="1"/>
            </p:cNvSpPr>
            <p:nvPr/>
          </p:nvSpPr>
          <p:spPr bwMode="auto">
            <a:xfrm>
              <a:off x="5232" y="139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96" name="Oval 39"/>
            <p:cNvSpPr>
              <a:spLocks noChangeArrowheads="1"/>
            </p:cNvSpPr>
            <p:nvPr/>
          </p:nvSpPr>
          <p:spPr bwMode="auto">
            <a:xfrm>
              <a:off x="5328" y="148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97" name="Oval 40"/>
            <p:cNvSpPr>
              <a:spLocks noChangeArrowheads="1"/>
            </p:cNvSpPr>
            <p:nvPr/>
          </p:nvSpPr>
          <p:spPr bwMode="auto">
            <a:xfrm>
              <a:off x="5280" y="129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98" name="Oval 41"/>
            <p:cNvSpPr>
              <a:spLocks noChangeArrowheads="1"/>
            </p:cNvSpPr>
            <p:nvPr/>
          </p:nvSpPr>
          <p:spPr bwMode="auto">
            <a:xfrm>
              <a:off x="5376" y="139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599" name="Oval 42"/>
            <p:cNvSpPr>
              <a:spLocks noChangeArrowheads="1"/>
            </p:cNvSpPr>
            <p:nvPr/>
          </p:nvSpPr>
          <p:spPr bwMode="auto">
            <a:xfrm>
              <a:off x="5472" y="148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600" name="Oval 43"/>
            <p:cNvSpPr>
              <a:spLocks noChangeArrowheads="1"/>
            </p:cNvSpPr>
            <p:nvPr/>
          </p:nvSpPr>
          <p:spPr bwMode="auto">
            <a:xfrm>
              <a:off x="4704" y="100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601" name="Oval 44"/>
            <p:cNvSpPr>
              <a:spLocks noChangeArrowheads="1"/>
            </p:cNvSpPr>
            <p:nvPr/>
          </p:nvSpPr>
          <p:spPr bwMode="auto">
            <a:xfrm>
              <a:off x="4800" y="1104"/>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602" name="Oval 45"/>
            <p:cNvSpPr>
              <a:spLocks noChangeArrowheads="1"/>
            </p:cNvSpPr>
            <p:nvPr/>
          </p:nvSpPr>
          <p:spPr bwMode="auto">
            <a:xfrm>
              <a:off x="4896" y="120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603" name="Oval 46"/>
            <p:cNvSpPr>
              <a:spLocks noChangeArrowheads="1"/>
            </p:cNvSpPr>
            <p:nvPr/>
          </p:nvSpPr>
          <p:spPr bwMode="auto">
            <a:xfrm>
              <a:off x="4992" y="129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604" name="Oval 47"/>
            <p:cNvSpPr>
              <a:spLocks noChangeArrowheads="1"/>
            </p:cNvSpPr>
            <p:nvPr/>
          </p:nvSpPr>
          <p:spPr bwMode="auto">
            <a:xfrm>
              <a:off x="5088" y="139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605" name="Oval 48"/>
            <p:cNvSpPr>
              <a:spLocks noChangeArrowheads="1"/>
            </p:cNvSpPr>
            <p:nvPr/>
          </p:nvSpPr>
          <p:spPr bwMode="auto">
            <a:xfrm>
              <a:off x="5184" y="148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606" name="Oval 49"/>
            <p:cNvSpPr>
              <a:spLocks noChangeArrowheads="1"/>
            </p:cNvSpPr>
            <p:nvPr/>
          </p:nvSpPr>
          <p:spPr bwMode="auto">
            <a:xfrm>
              <a:off x="4752" y="120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607" name="Oval 50"/>
            <p:cNvSpPr>
              <a:spLocks noChangeArrowheads="1"/>
            </p:cNvSpPr>
            <p:nvPr/>
          </p:nvSpPr>
          <p:spPr bwMode="auto">
            <a:xfrm>
              <a:off x="4848" y="129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608" name="Oval 51"/>
            <p:cNvSpPr>
              <a:spLocks noChangeArrowheads="1"/>
            </p:cNvSpPr>
            <p:nvPr/>
          </p:nvSpPr>
          <p:spPr bwMode="auto">
            <a:xfrm>
              <a:off x="4944" y="139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609" name="Oval 52"/>
            <p:cNvSpPr>
              <a:spLocks noChangeArrowheads="1"/>
            </p:cNvSpPr>
            <p:nvPr/>
          </p:nvSpPr>
          <p:spPr bwMode="auto">
            <a:xfrm>
              <a:off x="5040" y="148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610" name="Oval 53"/>
            <p:cNvSpPr>
              <a:spLocks noChangeArrowheads="1"/>
            </p:cNvSpPr>
            <p:nvPr/>
          </p:nvSpPr>
          <p:spPr bwMode="auto">
            <a:xfrm>
              <a:off x="4704" y="129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611" name="Oval 54"/>
            <p:cNvSpPr>
              <a:spLocks noChangeArrowheads="1"/>
            </p:cNvSpPr>
            <p:nvPr/>
          </p:nvSpPr>
          <p:spPr bwMode="auto">
            <a:xfrm>
              <a:off x="4800" y="139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612" name="Oval 55"/>
            <p:cNvSpPr>
              <a:spLocks noChangeArrowheads="1"/>
            </p:cNvSpPr>
            <p:nvPr/>
          </p:nvSpPr>
          <p:spPr bwMode="auto">
            <a:xfrm>
              <a:off x="4896" y="148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613" name="Oval 56"/>
            <p:cNvSpPr>
              <a:spLocks noChangeArrowheads="1"/>
            </p:cNvSpPr>
            <p:nvPr/>
          </p:nvSpPr>
          <p:spPr bwMode="auto">
            <a:xfrm>
              <a:off x="4752" y="148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614" name="Oval 57"/>
            <p:cNvSpPr>
              <a:spLocks noChangeArrowheads="1"/>
            </p:cNvSpPr>
            <p:nvPr/>
          </p:nvSpPr>
          <p:spPr bwMode="auto">
            <a:xfrm>
              <a:off x="5520" y="1104"/>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615" name="Oval 58"/>
            <p:cNvSpPr>
              <a:spLocks noChangeArrowheads="1"/>
            </p:cNvSpPr>
            <p:nvPr/>
          </p:nvSpPr>
          <p:spPr bwMode="auto">
            <a:xfrm>
              <a:off x="5616" y="120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616" name="Oval 59"/>
            <p:cNvSpPr>
              <a:spLocks noChangeArrowheads="1"/>
            </p:cNvSpPr>
            <p:nvPr/>
          </p:nvSpPr>
          <p:spPr bwMode="auto">
            <a:xfrm>
              <a:off x="5424" y="129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617" name="Oval 60"/>
            <p:cNvSpPr>
              <a:spLocks noChangeArrowheads="1"/>
            </p:cNvSpPr>
            <p:nvPr/>
          </p:nvSpPr>
          <p:spPr bwMode="auto">
            <a:xfrm>
              <a:off x="5472" y="120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618" name="Oval 61"/>
            <p:cNvSpPr>
              <a:spLocks noChangeArrowheads="1"/>
            </p:cNvSpPr>
            <p:nvPr/>
          </p:nvSpPr>
          <p:spPr bwMode="auto">
            <a:xfrm>
              <a:off x="5520" y="139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619" name="Oval 62"/>
            <p:cNvSpPr>
              <a:spLocks noChangeArrowheads="1"/>
            </p:cNvSpPr>
            <p:nvPr/>
          </p:nvSpPr>
          <p:spPr bwMode="auto">
            <a:xfrm>
              <a:off x="5568" y="129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3620" name="Oval 63"/>
            <p:cNvSpPr>
              <a:spLocks noChangeArrowheads="1"/>
            </p:cNvSpPr>
            <p:nvPr/>
          </p:nvSpPr>
          <p:spPr bwMode="auto">
            <a:xfrm>
              <a:off x="5616" y="148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grpSp>
      <p:sp>
        <p:nvSpPr>
          <p:cNvPr id="23560"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466AE34E-167A-4AF4-8FCC-ED11DA13584B}"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678">
                                            <p:txEl>
                                              <p:pRg st="1" end="1"/>
                                            </p:txEl>
                                          </p:spTgt>
                                        </p:tgtEl>
                                        <p:attrNameLst>
                                          <p:attrName>style.visibility</p:attrName>
                                        </p:attrNameLst>
                                      </p:cBhvr>
                                      <p:to>
                                        <p:strVal val="visible"/>
                                      </p:to>
                                    </p:set>
                                    <p:animEffect transition="in" filter="blinds(horizontal)">
                                      <p:cBhvr>
                                        <p:cTn id="7" dur="500"/>
                                        <p:tgtEl>
                                          <p:spTgt spid="2867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8679"/>
                                        </p:tgtEl>
                                        <p:attrNameLst>
                                          <p:attrName>style.visibility</p:attrName>
                                        </p:attrNameLst>
                                      </p:cBhvr>
                                      <p:to>
                                        <p:strVal val="visible"/>
                                      </p:to>
                                    </p:set>
                                    <p:animEffect transition="in" filter="blinds(horizontal)">
                                      <p:cBhvr>
                                        <p:cTn id="12" dur="500"/>
                                        <p:tgtEl>
                                          <p:spTgt spid="2867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8678">
                                            <p:txEl>
                                              <p:pRg st="2" end="2"/>
                                            </p:txEl>
                                          </p:spTgt>
                                        </p:tgtEl>
                                        <p:attrNameLst>
                                          <p:attrName>style.visibility</p:attrName>
                                        </p:attrNameLst>
                                      </p:cBhvr>
                                      <p:to>
                                        <p:strVal val="visible"/>
                                      </p:to>
                                    </p:set>
                                    <p:animEffect transition="in" filter="blinds(horizontal)">
                                      <p:cBhvr>
                                        <p:cTn id="17" dur="500"/>
                                        <p:tgtEl>
                                          <p:spTgt spid="2867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4B8CA215-35CA-4CC1-B19A-EA6CB2F37EDB}" type="slidenum">
              <a:rPr lang="zh-CN" altLang="en-US">
                <a:ea typeface="宋体" panose="02010600030101010101" pitchFamily="2" charset="-122"/>
              </a:rPr>
            </a:fld>
            <a:endParaRPr lang="en-US" altLang="zh-CN">
              <a:ea typeface="宋体" panose="02010600030101010101" pitchFamily="2" charset="-122"/>
            </a:endParaRPr>
          </a:p>
        </p:txBody>
      </p:sp>
      <p:sp>
        <p:nvSpPr>
          <p:cNvPr id="7"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FE3FB079-E853-41A9-9142-B92E36272CBB}"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25604" name="Rectangle 2"/>
          <p:cNvSpPr>
            <a:spLocks noGrp="1" noChangeArrowheads="1"/>
          </p:cNvSpPr>
          <p:nvPr>
            <p:ph type="title" idx="4294967295"/>
          </p:nvPr>
        </p:nvSpPr>
        <p:spPr/>
        <p:txBody>
          <a:bodyPr/>
          <a:lstStyle/>
          <a:p>
            <a:pPr eaLnBrk="1" hangingPunct="1"/>
            <a:r>
              <a:rPr lang="zh-CN" altLang="en-US" dirty="0">
                <a:ea typeface="宋体" panose="02010600030101010101" pitchFamily="2" charset="-122"/>
              </a:rPr>
              <a:t>光栅显示系统</a:t>
            </a:r>
            <a:endParaRPr lang="zh-CN" altLang="en-US" dirty="0">
              <a:ea typeface="宋体" panose="02010600030101010101" pitchFamily="2" charset="-122"/>
            </a:endParaRPr>
          </a:p>
        </p:txBody>
      </p:sp>
      <p:sp>
        <p:nvSpPr>
          <p:cNvPr id="30726" name="Rectangle 3"/>
          <p:cNvSpPr>
            <a:spLocks noGrp="1" noChangeArrowheads="1"/>
          </p:cNvSpPr>
          <p:nvPr>
            <p:ph type="body" idx="4294967295"/>
          </p:nvPr>
        </p:nvSpPr>
        <p:spPr>
          <a:xfrm>
            <a:off x="410583" y="3870325"/>
            <a:ext cx="8763000" cy="5181600"/>
          </a:xfrm>
        </p:spPr>
        <p:txBody>
          <a:bodyPr/>
          <a:lstStyle/>
          <a:p>
            <a:pPr eaLnBrk="1" hangingPunct="1"/>
            <a:r>
              <a:rPr lang="zh-CN" altLang="en-US" dirty="0">
                <a:ea typeface="宋体" panose="02010600030101010101" pitchFamily="2" charset="-122"/>
              </a:rPr>
              <a:t>图形定义存放在</a:t>
            </a:r>
            <a:r>
              <a:rPr lang="zh-CN" altLang="en-US" dirty="0">
                <a:solidFill>
                  <a:schemeClr val="accent2"/>
                </a:solidFill>
                <a:ea typeface="宋体" panose="02010600030101010101" pitchFamily="2" charset="-122"/>
              </a:rPr>
              <a:t>帧缓冲器</a:t>
            </a:r>
            <a:r>
              <a:rPr lang="zh-CN" altLang="en-US" dirty="0">
                <a:ea typeface="宋体" panose="02010600030101010101" pitchFamily="2" charset="-122"/>
              </a:rPr>
              <a:t>中，帧缓冲器保存了对应屏幕所有点的亮度值</a:t>
            </a:r>
            <a:endParaRPr lang="en-US" altLang="zh-CN" dirty="0">
              <a:ea typeface="宋体" panose="02010600030101010101" pitchFamily="2" charset="-122"/>
            </a:endParaRPr>
          </a:p>
          <a:p>
            <a:pPr eaLnBrk="1" hangingPunct="1"/>
            <a:r>
              <a:rPr lang="zh-CN" altLang="en-US" dirty="0">
                <a:solidFill>
                  <a:schemeClr val="accent2"/>
                </a:solidFill>
                <a:ea typeface="宋体" panose="02010600030101010101" pitchFamily="2" charset="-122"/>
              </a:rPr>
              <a:t>视频控制器</a:t>
            </a:r>
            <a:r>
              <a:rPr lang="zh-CN" altLang="en-US" dirty="0">
                <a:ea typeface="宋体" panose="02010600030101010101" pitchFamily="2" charset="-122"/>
              </a:rPr>
              <a:t>是负责刷新的部件，它建立了帧缓冲器内存单元与屏幕像素之间一一对应的关系</a:t>
            </a:r>
            <a:endParaRPr lang="zh-CN" altLang="en-US" dirty="0">
              <a:ea typeface="宋体" panose="02010600030101010101" pitchFamily="2" charset="-122"/>
            </a:endParaRPr>
          </a:p>
          <a:p>
            <a:pPr eaLnBrk="1" hangingPunct="1"/>
            <a:endParaRPr lang="zh-CN" altLang="en-US" dirty="0">
              <a:ea typeface="宋体" panose="02010600030101010101" pitchFamily="2" charset="-122"/>
            </a:endParaRPr>
          </a:p>
        </p:txBody>
      </p:sp>
      <p:pic>
        <p:nvPicPr>
          <p:cNvPr id="30727" name="Picture 4" descr="1p23"/>
          <p:cNvPicPr>
            <a:picLocks noChangeAspect="1" noChangeArrowheads="1"/>
          </p:cNvPicPr>
          <p:nvPr/>
        </p:nvPicPr>
        <p:blipFill>
          <a:blip r:embed="rId1">
            <a:lum contrast="100000"/>
            <a:extLst>
              <a:ext uri="{28A0092B-C50C-407E-A947-70E740481C1C}">
                <a14:useLocalDpi xmlns:a14="http://schemas.microsoft.com/office/drawing/2010/main" val="0"/>
              </a:ext>
            </a:extLst>
          </a:blip>
          <a:srcRect/>
          <a:stretch>
            <a:fillRect/>
          </a:stretch>
        </p:blipFill>
        <p:spPr bwMode="auto">
          <a:xfrm>
            <a:off x="1273959" y="1295400"/>
            <a:ext cx="6318250" cy="257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27"/>
                                        </p:tgtEl>
                                        <p:attrNameLst>
                                          <p:attrName>style.visibility</p:attrName>
                                        </p:attrNameLst>
                                      </p:cBhvr>
                                      <p:to>
                                        <p:strVal val="visible"/>
                                      </p:to>
                                    </p:set>
                                    <p:animEffect transition="in" filter="blinds(horizontal)">
                                      <p:cBhvr>
                                        <p:cTn id="7" dur="500"/>
                                        <p:tgtEl>
                                          <p:spTgt spid="3072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0726">
                                            <p:txEl>
                                              <p:pRg st="1" end="1"/>
                                            </p:txEl>
                                          </p:spTgt>
                                        </p:tgtEl>
                                        <p:attrNameLst>
                                          <p:attrName>style.visibility</p:attrName>
                                        </p:attrNameLst>
                                      </p:cBhvr>
                                      <p:to>
                                        <p:strVal val="visible"/>
                                      </p:to>
                                    </p:set>
                                    <p:animEffect transition="in" filter="blinds(horizontal)">
                                      <p:cBhvr>
                                        <p:cTn id="12" dur="500"/>
                                        <p:tgtEl>
                                          <p:spTgt spid="3072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801C2BC4-42E9-4604-9C9A-C07EB4CAF0F1}" type="slidenum">
              <a:rPr lang="zh-CN" altLang="en-US">
                <a:ea typeface="宋体" panose="02010600030101010101" pitchFamily="2" charset="-122"/>
              </a:rPr>
            </a:fld>
            <a:endParaRPr lang="en-US" altLang="zh-CN">
              <a:ea typeface="宋体" panose="02010600030101010101" pitchFamily="2" charset="-122"/>
            </a:endParaRPr>
          </a:p>
        </p:txBody>
      </p:sp>
      <p:sp>
        <p:nvSpPr>
          <p:cNvPr id="7"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889C8CDE-FA93-40C3-BD0C-C5B5B88FB5A6}"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24580" name="Rectangle 2"/>
          <p:cNvSpPr>
            <a:spLocks noGrp="1" noChangeArrowheads="1"/>
          </p:cNvSpPr>
          <p:nvPr>
            <p:ph type="title" idx="4294967295"/>
          </p:nvPr>
        </p:nvSpPr>
        <p:spPr/>
        <p:txBody>
          <a:bodyPr/>
          <a:lstStyle/>
          <a:p>
            <a:pPr eaLnBrk="1" hangingPunct="1"/>
            <a:r>
              <a:rPr lang="zh-CN" altLang="en-US">
                <a:ea typeface="宋体" panose="02010600030101010101" pitchFamily="2" charset="-122"/>
              </a:rPr>
              <a:t>光栅显示器</a:t>
            </a:r>
            <a:endParaRPr lang="zh-CN" altLang="en-US">
              <a:ea typeface="宋体" panose="02010600030101010101" pitchFamily="2" charset="-122"/>
            </a:endParaRPr>
          </a:p>
        </p:txBody>
      </p:sp>
      <p:sp>
        <p:nvSpPr>
          <p:cNvPr id="29702" name="Rectangle 3"/>
          <p:cNvSpPr>
            <a:spLocks noGrp="1" noChangeArrowheads="1"/>
          </p:cNvSpPr>
          <p:nvPr>
            <p:ph type="body" idx="4294967295"/>
          </p:nvPr>
        </p:nvSpPr>
        <p:spPr/>
        <p:txBody>
          <a:bodyPr/>
          <a:lstStyle/>
          <a:p>
            <a:pPr eaLnBrk="1" hangingPunct="1"/>
            <a:r>
              <a:rPr lang="zh-CN" altLang="en-US" dirty="0">
                <a:ea typeface="宋体" panose="02010600030101010101" pitchFamily="2" charset="-122"/>
              </a:rPr>
              <a:t>每个屏幕点称作像素</a:t>
            </a:r>
            <a:endParaRPr lang="en-US" altLang="zh-CN" dirty="0">
              <a:ea typeface="宋体" panose="02010600030101010101" pitchFamily="2" charset="-122"/>
            </a:endParaRPr>
          </a:p>
          <a:p>
            <a:pPr eaLnBrk="1" hangingPunct="1"/>
            <a:r>
              <a:rPr lang="zh-CN" altLang="en-US" dirty="0">
                <a:ea typeface="宋体" panose="02010600030101010101" pitchFamily="2" charset="-122"/>
              </a:rPr>
              <a:t>光栅显示：排成矩形阵列</a:t>
            </a:r>
            <a:r>
              <a:rPr lang="en-US" altLang="zh-CN" dirty="0">
                <a:ea typeface="宋体" panose="02010600030101010101" pitchFamily="2" charset="-122"/>
              </a:rPr>
              <a:t>,</a:t>
            </a:r>
            <a:r>
              <a:rPr lang="zh-CN" altLang="en-US" dirty="0">
                <a:ea typeface="宋体" panose="02010600030101010101" pitchFamily="2" charset="-122"/>
              </a:rPr>
              <a:t>光栅</a:t>
            </a:r>
            <a:endParaRPr lang="en-US" altLang="zh-CN" dirty="0">
              <a:ea typeface="宋体" panose="02010600030101010101" pitchFamily="2" charset="-122"/>
            </a:endParaRPr>
          </a:p>
        </p:txBody>
      </p:sp>
      <p:pic>
        <p:nvPicPr>
          <p:cNvPr id="24582" name="Picture 4" descr="1p16"/>
          <p:cNvPicPr>
            <a:picLocks noChangeAspect="1" noChangeArrowheads="1"/>
          </p:cNvPicPr>
          <p:nvPr/>
        </p:nvPicPr>
        <p:blipFill>
          <a:blip r:embed="rId1">
            <a:lum contrast="100000"/>
            <a:extLst>
              <a:ext uri="{28A0092B-C50C-407E-A947-70E740481C1C}">
                <a14:useLocalDpi xmlns:a14="http://schemas.microsoft.com/office/drawing/2010/main" val="0"/>
              </a:ext>
            </a:extLst>
          </a:blip>
          <a:srcRect/>
          <a:stretch>
            <a:fillRect/>
          </a:stretch>
        </p:blipFill>
        <p:spPr bwMode="auto">
          <a:xfrm>
            <a:off x="4800600" y="3124200"/>
            <a:ext cx="3805238" cy="304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583" name="Group 8"/>
          <p:cNvGrpSpPr/>
          <p:nvPr/>
        </p:nvGrpSpPr>
        <p:grpSpPr bwMode="auto">
          <a:xfrm>
            <a:off x="609600" y="3657600"/>
            <a:ext cx="2743200" cy="2438400"/>
            <a:chOff x="4704" y="672"/>
            <a:chExt cx="1008" cy="960"/>
          </a:xfrm>
        </p:grpSpPr>
        <p:sp>
          <p:nvSpPr>
            <p:cNvPr id="24585" name="Rectangle 4"/>
            <p:cNvSpPr>
              <a:spLocks noChangeArrowheads="1"/>
            </p:cNvSpPr>
            <p:nvPr/>
          </p:nvSpPr>
          <p:spPr bwMode="auto">
            <a:xfrm>
              <a:off x="4704" y="672"/>
              <a:ext cx="1008" cy="960"/>
            </a:xfrm>
            <a:prstGeom prst="rect">
              <a:avLst/>
            </a:prstGeom>
            <a:solidFill>
              <a:schemeClr val="bg2"/>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586" name="Oval 5"/>
            <p:cNvSpPr>
              <a:spLocks noChangeArrowheads="1"/>
            </p:cNvSpPr>
            <p:nvPr/>
          </p:nvSpPr>
          <p:spPr bwMode="auto">
            <a:xfrm>
              <a:off x="4704" y="72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587" name="Oval 6"/>
            <p:cNvSpPr>
              <a:spLocks noChangeArrowheads="1"/>
            </p:cNvSpPr>
            <p:nvPr/>
          </p:nvSpPr>
          <p:spPr bwMode="auto">
            <a:xfrm>
              <a:off x="4800" y="81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588" name="Oval 7"/>
            <p:cNvSpPr>
              <a:spLocks noChangeArrowheads="1"/>
            </p:cNvSpPr>
            <p:nvPr/>
          </p:nvSpPr>
          <p:spPr bwMode="auto">
            <a:xfrm>
              <a:off x="4896" y="91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589" name="Oval 8"/>
            <p:cNvSpPr>
              <a:spLocks noChangeArrowheads="1"/>
            </p:cNvSpPr>
            <p:nvPr/>
          </p:nvSpPr>
          <p:spPr bwMode="auto">
            <a:xfrm>
              <a:off x="4992" y="100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590" name="Oval 9"/>
            <p:cNvSpPr>
              <a:spLocks noChangeArrowheads="1"/>
            </p:cNvSpPr>
            <p:nvPr/>
          </p:nvSpPr>
          <p:spPr bwMode="auto">
            <a:xfrm>
              <a:off x="5088" y="1104"/>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591" name="Oval 10"/>
            <p:cNvSpPr>
              <a:spLocks noChangeArrowheads="1"/>
            </p:cNvSpPr>
            <p:nvPr/>
          </p:nvSpPr>
          <p:spPr bwMode="auto">
            <a:xfrm>
              <a:off x="5184" y="120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592" name="Oval 11"/>
            <p:cNvSpPr>
              <a:spLocks noChangeArrowheads="1"/>
            </p:cNvSpPr>
            <p:nvPr/>
          </p:nvSpPr>
          <p:spPr bwMode="auto">
            <a:xfrm>
              <a:off x="4848" y="72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593" name="Oval 12"/>
            <p:cNvSpPr>
              <a:spLocks noChangeArrowheads="1"/>
            </p:cNvSpPr>
            <p:nvPr/>
          </p:nvSpPr>
          <p:spPr bwMode="auto">
            <a:xfrm>
              <a:off x="4944" y="81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594" name="Oval 13"/>
            <p:cNvSpPr>
              <a:spLocks noChangeArrowheads="1"/>
            </p:cNvSpPr>
            <p:nvPr/>
          </p:nvSpPr>
          <p:spPr bwMode="auto">
            <a:xfrm>
              <a:off x="5040" y="91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595" name="Oval 14"/>
            <p:cNvSpPr>
              <a:spLocks noChangeArrowheads="1"/>
            </p:cNvSpPr>
            <p:nvPr/>
          </p:nvSpPr>
          <p:spPr bwMode="auto">
            <a:xfrm>
              <a:off x="5136" y="100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596" name="Oval 15"/>
            <p:cNvSpPr>
              <a:spLocks noChangeArrowheads="1"/>
            </p:cNvSpPr>
            <p:nvPr/>
          </p:nvSpPr>
          <p:spPr bwMode="auto">
            <a:xfrm>
              <a:off x="5232" y="1104"/>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597" name="Oval 16"/>
            <p:cNvSpPr>
              <a:spLocks noChangeArrowheads="1"/>
            </p:cNvSpPr>
            <p:nvPr/>
          </p:nvSpPr>
          <p:spPr bwMode="auto">
            <a:xfrm>
              <a:off x="5328" y="120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598" name="Oval 17"/>
            <p:cNvSpPr>
              <a:spLocks noChangeArrowheads="1"/>
            </p:cNvSpPr>
            <p:nvPr/>
          </p:nvSpPr>
          <p:spPr bwMode="auto">
            <a:xfrm>
              <a:off x="4992" y="72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599" name="Oval 18"/>
            <p:cNvSpPr>
              <a:spLocks noChangeArrowheads="1"/>
            </p:cNvSpPr>
            <p:nvPr/>
          </p:nvSpPr>
          <p:spPr bwMode="auto">
            <a:xfrm>
              <a:off x="5088" y="81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00" name="Oval 19"/>
            <p:cNvSpPr>
              <a:spLocks noChangeArrowheads="1"/>
            </p:cNvSpPr>
            <p:nvPr/>
          </p:nvSpPr>
          <p:spPr bwMode="auto">
            <a:xfrm>
              <a:off x="5184" y="91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01" name="Oval 20"/>
            <p:cNvSpPr>
              <a:spLocks noChangeArrowheads="1"/>
            </p:cNvSpPr>
            <p:nvPr/>
          </p:nvSpPr>
          <p:spPr bwMode="auto">
            <a:xfrm>
              <a:off x="5280" y="100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02" name="Oval 21"/>
            <p:cNvSpPr>
              <a:spLocks noChangeArrowheads="1"/>
            </p:cNvSpPr>
            <p:nvPr/>
          </p:nvSpPr>
          <p:spPr bwMode="auto">
            <a:xfrm>
              <a:off x="5376" y="1104"/>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03" name="Oval 22"/>
            <p:cNvSpPr>
              <a:spLocks noChangeArrowheads="1"/>
            </p:cNvSpPr>
            <p:nvPr/>
          </p:nvSpPr>
          <p:spPr bwMode="auto">
            <a:xfrm>
              <a:off x="5136" y="72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04" name="Oval 23"/>
            <p:cNvSpPr>
              <a:spLocks noChangeArrowheads="1"/>
            </p:cNvSpPr>
            <p:nvPr/>
          </p:nvSpPr>
          <p:spPr bwMode="auto">
            <a:xfrm>
              <a:off x="5232" y="81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05" name="Oval 24"/>
            <p:cNvSpPr>
              <a:spLocks noChangeArrowheads="1"/>
            </p:cNvSpPr>
            <p:nvPr/>
          </p:nvSpPr>
          <p:spPr bwMode="auto">
            <a:xfrm>
              <a:off x="5328" y="91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06" name="Oval 25"/>
            <p:cNvSpPr>
              <a:spLocks noChangeArrowheads="1"/>
            </p:cNvSpPr>
            <p:nvPr/>
          </p:nvSpPr>
          <p:spPr bwMode="auto">
            <a:xfrm>
              <a:off x="5424" y="100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07" name="Oval 26"/>
            <p:cNvSpPr>
              <a:spLocks noChangeArrowheads="1"/>
            </p:cNvSpPr>
            <p:nvPr/>
          </p:nvSpPr>
          <p:spPr bwMode="auto">
            <a:xfrm>
              <a:off x="5280" y="72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08" name="Oval 27"/>
            <p:cNvSpPr>
              <a:spLocks noChangeArrowheads="1"/>
            </p:cNvSpPr>
            <p:nvPr/>
          </p:nvSpPr>
          <p:spPr bwMode="auto">
            <a:xfrm>
              <a:off x="5376" y="81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09" name="Oval 28"/>
            <p:cNvSpPr>
              <a:spLocks noChangeArrowheads="1"/>
            </p:cNvSpPr>
            <p:nvPr/>
          </p:nvSpPr>
          <p:spPr bwMode="auto">
            <a:xfrm>
              <a:off x="5472" y="91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10" name="Oval 29"/>
            <p:cNvSpPr>
              <a:spLocks noChangeArrowheads="1"/>
            </p:cNvSpPr>
            <p:nvPr/>
          </p:nvSpPr>
          <p:spPr bwMode="auto">
            <a:xfrm>
              <a:off x="5424" y="72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11" name="Oval 30"/>
            <p:cNvSpPr>
              <a:spLocks noChangeArrowheads="1"/>
            </p:cNvSpPr>
            <p:nvPr/>
          </p:nvSpPr>
          <p:spPr bwMode="auto">
            <a:xfrm>
              <a:off x="5520" y="81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12" name="Oval 31"/>
            <p:cNvSpPr>
              <a:spLocks noChangeArrowheads="1"/>
            </p:cNvSpPr>
            <p:nvPr/>
          </p:nvSpPr>
          <p:spPr bwMode="auto">
            <a:xfrm>
              <a:off x="5568" y="72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13" name="Oval 32"/>
            <p:cNvSpPr>
              <a:spLocks noChangeArrowheads="1"/>
            </p:cNvSpPr>
            <p:nvPr/>
          </p:nvSpPr>
          <p:spPr bwMode="auto">
            <a:xfrm>
              <a:off x="4752" y="91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14" name="Oval 33"/>
            <p:cNvSpPr>
              <a:spLocks noChangeArrowheads="1"/>
            </p:cNvSpPr>
            <p:nvPr/>
          </p:nvSpPr>
          <p:spPr bwMode="auto">
            <a:xfrm>
              <a:off x="4848" y="100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15" name="Oval 34"/>
            <p:cNvSpPr>
              <a:spLocks noChangeArrowheads="1"/>
            </p:cNvSpPr>
            <p:nvPr/>
          </p:nvSpPr>
          <p:spPr bwMode="auto">
            <a:xfrm>
              <a:off x="4944" y="1104"/>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16" name="Oval 35"/>
            <p:cNvSpPr>
              <a:spLocks noChangeArrowheads="1"/>
            </p:cNvSpPr>
            <p:nvPr/>
          </p:nvSpPr>
          <p:spPr bwMode="auto">
            <a:xfrm>
              <a:off x="5040" y="120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17" name="Oval 36"/>
            <p:cNvSpPr>
              <a:spLocks noChangeArrowheads="1"/>
            </p:cNvSpPr>
            <p:nvPr/>
          </p:nvSpPr>
          <p:spPr bwMode="auto">
            <a:xfrm>
              <a:off x="5568" y="100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18" name="Oval 37"/>
            <p:cNvSpPr>
              <a:spLocks noChangeArrowheads="1"/>
            </p:cNvSpPr>
            <p:nvPr/>
          </p:nvSpPr>
          <p:spPr bwMode="auto">
            <a:xfrm>
              <a:off x="5136" y="129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19" name="Oval 38"/>
            <p:cNvSpPr>
              <a:spLocks noChangeArrowheads="1"/>
            </p:cNvSpPr>
            <p:nvPr/>
          </p:nvSpPr>
          <p:spPr bwMode="auto">
            <a:xfrm>
              <a:off x="5232" y="139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20" name="Oval 39"/>
            <p:cNvSpPr>
              <a:spLocks noChangeArrowheads="1"/>
            </p:cNvSpPr>
            <p:nvPr/>
          </p:nvSpPr>
          <p:spPr bwMode="auto">
            <a:xfrm>
              <a:off x="5328" y="148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21" name="Oval 40"/>
            <p:cNvSpPr>
              <a:spLocks noChangeArrowheads="1"/>
            </p:cNvSpPr>
            <p:nvPr/>
          </p:nvSpPr>
          <p:spPr bwMode="auto">
            <a:xfrm>
              <a:off x="5280" y="129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22" name="Oval 41"/>
            <p:cNvSpPr>
              <a:spLocks noChangeArrowheads="1"/>
            </p:cNvSpPr>
            <p:nvPr/>
          </p:nvSpPr>
          <p:spPr bwMode="auto">
            <a:xfrm>
              <a:off x="5376" y="139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23" name="Oval 42"/>
            <p:cNvSpPr>
              <a:spLocks noChangeArrowheads="1"/>
            </p:cNvSpPr>
            <p:nvPr/>
          </p:nvSpPr>
          <p:spPr bwMode="auto">
            <a:xfrm>
              <a:off x="5472" y="148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24" name="Oval 43"/>
            <p:cNvSpPr>
              <a:spLocks noChangeArrowheads="1"/>
            </p:cNvSpPr>
            <p:nvPr/>
          </p:nvSpPr>
          <p:spPr bwMode="auto">
            <a:xfrm>
              <a:off x="4704" y="100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25" name="Oval 44"/>
            <p:cNvSpPr>
              <a:spLocks noChangeArrowheads="1"/>
            </p:cNvSpPr>
            <p:nvPr/>
          </p:nvSpPr>
          <p:spPr bwMode="auto">
            <a:xfrm>
              <a:off x="4800" y="1104"/>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26" name="Oval 45"/>
            <p:cNvSpPr>
              <a:spLocks noChangeArrowheads="1"/>
            </p:cNvSpPr>
            <p:nvPr/>
          </p:nvSpPr>
          <p:spPr bwMode="auto">
            <a:xfrm>
              <a:off x="4896" y="120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27" name="Oval 46"/>
            <p:cNvSpPr>
              <a:spLocks noChangeArrowheads="1"/>
            </p:cNvSpPr>
            <p:nvPr/>
          </p:nvSpPr>
          <p:spPr bwMode="auto">
            <a:xfrm>
              <a:off x="4992" y="129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28" name="Oval 47"/>
            <p:cNvSpPr>
              <a:spLocks noChangeArrowheads="1"/>
            </p:cNvSpPr>
            <p:nvPr/>
          </p:nvSpPr>
          <p:spPr bwMode="auto">
            <a:xfrm>
              <a:off x="5088" y="139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29" name="Oval 48"/>
            <p:cNvSpPr>
              <a:spLocks noChangeArrowheads="1"/>
            </p:cNvSpPr>
            <p:nvPr/>
          </p:nvSpPr>
          <p:spPr bwMode="auto">
            <a:xfrm>
              <a:off x="5184" y="148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30" name="Oval 49"/>
            <p:cNvSpPr>
              <a:spLocks noChangeArrowheads="1"/>
            </p:cNvSpPr>
            <p:nvPr/>
          </p:nvSpPr>
          <p:spPr bwMode="auto">
            <a:xfrm>
              <a:off x="4752" y="120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31" name="Oval 50"/>
            <p:cNvSpPr>
              <a:spLocks noChangeArrowheads="1"/>
            </p:cNvSpPr>
            <p:nvPr/>
          </p:nvSpPr>
          <p:spPr bwMode="auto">
            <a:xfrm>
              <a:off x="4848" y="129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32" name="Oval 51"/>
            <p:cNvSpPr>
              <a:spLocks noChangeArrowheads="1"/>
            </p:cNvSpPr>
            <p:nvPr/>
          </p:nvSpPr>
          <p:spPr bwMode="auto">
            <a:xfrm>
              <a:off x="4944" y="139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33" name="Oval 52"/>
            <p:cNvSpPr>
              <a:spLocks noChangeArrowheads="1"/>
            </p:cNvSpPr>
            <p:nvPr/>
          </p:nvSpPr>
          <p:spPr bwMode="auto">
            <a:xfrm>
              <a:off x="5040" y="148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34" name="Oval 53"/>
            <p:cNvSpPr>
              <a:spLocks noChangeArrowheads="1"/>
            </p:cNvSpPr>
            <p:nvPr/>
          </p:nvSpPr>
          <p:spPr bwMode="auto">
            <a:xfrm>
              <a:off x="4704" y="129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35" name="Oval 54"/>
            <p:cNvSpPr>
              <a:spLocks noChangeArrowheads="1"/>
            </p:cNvSpPr>
            <p:nvPr/>
          </p:nvSpPr>
          <p:spPr bwMode="auto">
            <a:xfrm>
              <a:off x="4800" y="139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36" name="Oval 55"/>
            <p:cNvSpPr>
              <a:spLocks noChangeArrowheads="1"/>
            </p:cNvSpPr>
            <p:nvPr/>
          </p:nvSpPr>
          <p:spPr bwMode="auto">
            <a:xfrm>
              <a:off x="4896" y="148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37" name="Oval 56"/>
            <p:cNvSpPr>
              <a:spLocks noChangeArrowheads="1"/>
            </p:cNvSpPr>
            <p:nvPr/>
          </p:nvSpPr>
          <p:spPr bwMode="auto">
            <a:xfrm>
              <a:off x="4752" y="148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38" name="Oval 57"/>
            <p:cNvSpPr>
              <a:spLocks noChangeArrowheads="1"/>
            </p:cNvSpPr>
            <p:nvPr/>
          </p:nvSpPr>
          <p:spPr bwMode="auto">
            <a:xfrm>
              <a:off x="5520" y="1104"/>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39" name="Oval 58"/>
            <p:cNvSpPr>
              <a:spLocks noChangeArrowheads="1"/>
            </p:cNvSpPr>
            <p:nvPr/>
          </p:nvSpPr>
          <p:spPr bwMode="auto">
            <a:xfrm>
              <a:off x="5616" y="120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40" name="Oval 59"/>
            <p:cNvSpPr>
              <a:spLocks noChangeArrowheads="1"/>
            </p:cNvSpPr>
            <p:nvPr/>
          </p:nvSpPr>
          <p:spPr bwMode="auto">
            <a:xfrm>
              <a:off x="5424" y="129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41" name="Oval 60"/>
            <p:cNvSpPr>
              <a:spLocks noChangeArrowheads="1"/>
            </p:cNvSpPr>
            <p:nvPr/>
          </p:nvSpPr>
          <p:spPr bwMode="auto">
            <a:xfrm>
              <a:off x="5472" y="1200"/>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42" name="Oval 61"/>
            <p:cNvSpPr>
              <a:spLocks noChangeArrowheads="1"/>
            </p:cNvSpPr>
            <p:nvPr/>
          </p:nvSpPr>
          <p:spPr bwMode="auto">
            <a:xfrm>
              <a:off x="5520" y="1392"/>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43" name="Oval 62"/>
            <p:cNvSpPr>
              <a:spLocks noChangeArrowheads="1"/>
            </p:cNvSpPr>
            <p:nvPr/>
          </p:nvSpPr>
          <p:spPr bwMode="auto">
            <a:xfrm>
              <a:off x="5568" y="1296"/>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sp>
          <p:nvSpPr>
            <p:cNvPr id="24644" name="Oval 63"/>
            <p:cNvSpPr>
              <a:spLocks noChangeArrowheads="1"/>
            </p:cNvSpPr>
            <p:nvPr/>
          </p:nvSpPr>
          <p:spPr bwMode="auto">
            <a:xfrm>
              <a:off x="5616" y="1488"/>
              <a:ext cx="96" cy="96"/>
            </a:xfrm>
            <a:prstGeom prst="ellipse">
              <a:avLst/>
            </a:prstGeom>
            <a:solidFill>
              <a:schemeClr val="accent1"/>
            </a:solidFill>
            <a:ln w="9525">
              <a:solidFill>
                <a:schemeClr val="tx1"/>
              </a:solidFill>
              <a:round/>
            </a:ln>
          </p:spPr>
          <p:txBody>
            <a:bodyPr wrap="none"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just" eaLnBrk="1" hangingPunct="1">
                <a:spcBef>
                  <a:spcPct val="20000"/>
                </a:spcBef>
              </a:pPr>
              <a:endParaRPr lang="zh-CN" altLang="en-US">
                <a:latin typeface="Times New Roman" panose="02020603050405020304" pitchFamily="18" charset="0"/>
                <a:ea typeface="宋体" panose="02010600030101010101" pitchFamily="2" charset="-122"/>
              </a:endParaRPr>
            </a:p>
          </p:txBody>
        </p:sp>
      </p:grpSp>
      <p:sp>
        <p:nvSpPr>
          <p:cNvPr id="24584"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F986C79A-CE3D-4807-BA02-59C76F8F6E37}"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702">
                                            <p:txEl>
                                              <p:pRg st="1" end="1"/>
                                            </p:txEl>
                                          </p:spTgt>
                                        </p:tgtEl>
                                        <p:attrNameLst>
                                          <p:attrName>style.visibility</p:attrName>
                                        </p:attrNameLst>
                                      </p:cBhvr>
                                      <p:to>
                                        <p:strVal val="visible"/>
                                      </p:to>
                                    </p:set>
                                    <p:animEffect transition="in" filter="blinds(horizontal)">
                                      <p:cBhvr>
                                        <p:cTn id="7" dur="500"/>
                                        <p:tgtEl>
                                          <p:spTgt spid="2970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A2E8D3D0-746F-4431-BB74-3EBA6E370A40}" type="slidenum">
              <a:rPr lang="zh-CN" altLang="en-US">
                <a:ea typeface="宋体" panose="02010600030101010101" pitchFamily="2" charset="-122"/>
              </a:rPr>
            </a:fld>
            <a:endParaRPr lang="en-US" altLang="zh-CN">
              <a:ea typeface="宋体" panose="02010600030101010101" pitchFamily="2" charset="-122"/>
            </a:endParaRPr>
          </a:p>
        </p:txBody>
      </p:sp>
      <p:sp>
        <p:nvSpPr>
          <p:cNvPr id="7"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2BFD31BB-E3EC-4AB0-A184-EE93247B44A6}"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26628" name="Rectangle 2"/>
          <p:cNvSpPr>
            <a:spLocks noGrp="1" noChangeArrowheads="1"/>
          </p:cNvSpPr>
          <p:nvPr>
            <p:ph type="title" idx="4294967295"/>
          </p:nvPr>
        </p:nvSpPr>
        <p:spPr/>
        <p:txBody>
          <a:bodyPr/>
          <a:lstStyle/>
          <a:p>
            <a:pPr eaLnBrk="1" hangingPunct="1"/>
            <a:r>
              <a:rPr lang="zh-CN" altLang="en-US">
                <a:ea typeface="宋体" panose="02010600030101010101" pitchFamily="2" charset="-122"/>
              </a:rPr>
              <a:t>光栅扫描显示系统</a:t>
            </a:r>
            <a:endParaRPr lang="zh-CN" altLang="en-US">
              <a:ea typeface="宋体" panose="02010600030101010101" pitchFamily="2" charset="-122"/>
            </a:endParaRPr>
          </a:p>
        </p:txBody>
      </p:sp>
      <p:sp>
        <p:nvSpPr>
          <p:cNvPr id="26629" name="Rectangle 3"/>
          <p:cNvSpPr>
            <a:spLocks noGrp="1" noChangeArrowheads="1"/>
          </p:cNvSpPr>
          <p:nvPr>
            <p:ph type="body" idx="4294967295"/>
          </p:nvPr>
        </p:nvSpPr>
        <p:spPr>
          <a:xfrm>
            <a:off x="250825" y="1052513"/>
            <a:ext cx="8763000" cy="5181600"/>
          </a:xfrm>
        </p:spPr>
        <p:txBody>
          <a:bodyPr/>
          <a:lstStyle/>
          <a:p>
            <a:pPr eaLnBrk="1" hangingPunct="1"/>
            <a:r>
              <a:rPr lang="zh-CN" altLang="en-US">
                <a:ea typeface="宋体" panose="02010600030101010101" pitchFamily="2" charset="-122"/>
              </a:rPr>
              <a:t>像素的亮度范围取决于帧缓存的位数</a:t>
            </a:r>
            <a:endParaRPr lang="en-US" altLang="zh-CN">
              <a:ea typeface="宋体" panose="02010600030101010101" pitchFamily="2" charset="-122"/>
            </a:endParaRPr>
          </a:p>
          <a:p>
            <a:pPr eaLnBrk="1" hangingPunct="1"/>
            <a:r>
              <a:rPr lang="zh-CN" altLang="en-US">
                <a:ea typeface="宋体" panose="02010600030101010101" pitchFamily="2" charset="-122"/>
              </a:rPr>
              <a:t>简单的黑白显示中，每个像素只有两个亮度值：亮、暗</a:t>
            </a:r>
            <a:endParaRPr lang="en-US" altLang="zh-CN">
              <a:ea typeface="宋体" panose="02010600030101010101" pitchFamily="2" charset="-122"/>
            </a:endParaRPr>
          </a:p>
          <a:p>
            <a:pPr eaLnBrk="1" hangingPunct="1"/>
            <a:r>
              <a:rPr lang="zh-CN" altLang="en-US">
                <a:ea typeface="宋体" panose="02010600030101010101" pitchFamily="2" charset="-122"/>
              </a:rPr>
              <a:t>每个像素只需一位来控制屏幕位置的亮度</a:t>
            </a:r>
            <a:endParaRPr lang="zh-CN" altLang="en-US">
              <a:ea typeface="宋体" panose="02010600030101010101" pitchFamily="2" charset="-122"/>
            </a:endParaRPr>
          </a:p>
        </p:txBody>
      </p:sp>
      <p:pic>
        <p:nvPicPr>
          <p:cNvPr id="26630" name="Picture 4" descr="1p23"/>
          <p:cNvPicPr>
            <a:picLocks noChangeAspect="1" noChangeArrowheads="1"/>
          </p:cNvPicPr>
          <p:nvPr/>
        </p:nvPicPr>
        <p:blipFill>
          <a:blip r:embed="rId1">
            <a:lum contrast="100000"/>
            <a:extLst>
              <a:ext uri="{28A0092B-C50C-407E-A947-70E740481C1C}">
                <a14:useLocalDpi xmlns:a14="http://schemas.microsoft.com/office/drawing/2010/main" val="0"/>
              </a:ext>
            </a:extLst>
          </a:blip>
          <a:srcRect/>
          <a:stretch>
            <a:fillRect/>
          </a:stretch>
        </p:blipFill>
        <p:spPr bwMode="auto">
          <a:xfrm>
            <a:off x="944563" y="3200400"/>
            <a:ext cx="7361237" cy="300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B09F65EB-9412-44CE-9CDC-67166B4FBB6A}" type="slidenum">
              <a:rPr lang="zh-CN" altLang="en-US">
                <a:ea typeface="宋体" panose="02010600030101010101" pitchFamily="2" charset="-122"/>
              </a:rPr>
            </a:fld>
            <a:endParaRPr lang="en-US" altLang="zh-CN">
              <a:ea typeface="宋体" panose="02010600030101010101" pitchFamily="2" charset="-122"/>
            </a:endParaRPr>
          </a:p>
        </p:txBody>
      </p:sp>
      <p:sp>
        <p:nvSpPr>
          <p:cNvPr id="7" name="灯片编号占位符 3"/>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BC1809F5-F1F9-4FF1-AB4E-80A465D792CE}"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31750" name="Rectangle 3"/>
          <p:cNvSpPr>
            <a:spLocks noGrp="1" noChangeArrowheads="1"/>
          </p:cNvSpPr>
          <p:nvPr>
            <p:ph type="body" idx="4294967295"/>
          </p:nvPr>
        </p:nvSpPr>
        <p:spPr>
          <a:xfrm>
            <a:off x="685800" y="1066800"/>
            <a:ext cx="7991475" cy="3810000"/>
          </a:xfrm>
        </p:spPr>
        <p:txBody>
          <a:bodyPr/>
          <a:lstStyle/>
          <a:p>
            <a:pPr eaLnBrk="1" hangingPunct="1"/>
            <a:r>
              <a:rPr lang="zh-CN" altLang="en-US" dirty="0">
                <a:latin typeface="宋体" panose="02010600030101010101" pitchFamily="2" charset="-122"/>
                <a:ea typeface="宋体" panose="02010600030101010101" pitchFamily="2" charset="-122"/>
              </a:rPr>
              <a:t>黑白光栅显示器的逻辑框图如下：其中帧缓存是一块连续的计算机存储器。对于黑白单灰度显示器每一像素需要一位存储器，对一个1024×1024像素组成的黑白单灰度显示器所需要的最小缓存为多少位</a:t>
            </a:r>
            <a:r>
              <a:rPr lang="en-US" altLang="zh-CN"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eaLnBrk="1" hangingPunct="1"/>
            <a:r>
              <a:rPr lang="zh-CN" altLang="en-US" dirty="0">
                <a:latin typeface="宋体" panose="02010600030101010101" pitchFamily="2" charset="-122"/>
                <a:ea typeface="宋体" panose="02010600030101010101" pitchFamily="2" charset="-122"/>
              </a:rPr>
              <a:t>2</a:t>
            </a:r>
            <a:r>
              <a:rPr lang="zh-CN" altLang="en-US" baseline="30000" dirty="0">
                <a:latin typeface="宋体" panose="02010600030101010101" pitchFamily="2" charset="-122"/>
                <a:ea typeface="宋体" panose="02010600030101010101" pitchFamily="2" charset="-122"/>
              </a:rPr>
              <a:t>20</a:t>
            </a:r>
            <a:r>
              <a:rPr lang="zh-CN" altLang="en-US" dirty="0">
                <a:latin typeface="宋体" panose="02010600030101010101" pitchFamily="2" charset="-122"/>
                <a:ea typeface="宋体" panose="02010600030101010101" pitchFamily="2" charset="-122"/>
              </a:rPr>
              <a:t>位</a:t>
            </a:r>
            <a:endParaRPr lang="en-US" altLang="zh-CN" dirty="0">
              <a:latin typeface="宋体" panose="02010600030101010101" pitchFamily="2" charset="-122"/>
              <a:ea typeface="宋体" panose="02010600030101010101" pitchFamily="2" charset="-122"/>
            </a:endParaRPr>
          </a:p>
        </p:txBody>
      </p:sp>
      <p:pic>
        <p:nvPicPr>
          <p:cNvPr id="27653" name="Picture 4" descr="fig1-8a"/>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0600" y="4572000"/>
            <a:ext cx="7410450"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4" name="Rectangle 2"/>
          <p:cNvSpPr txBox="1">
            <a:spLocks noChangeArrowheads="1"/>
          </p:cNvSpPr>
          <p:nvPr/>
        </p:nvSpPr>
        <p:spPr bwMode="auto">
          <a:xfrm>
            <a:off x="152400" y="76200"/>
            <a:ext cx="8763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ctr" eaLnBrk="1" hangingPunct="1"/>
            <a:r>
              <a:rPr lang="zh-CN" altLang="en-US" sz="4400">
                <a:latin typeface="宋体" panose="02010600030101010101" pitchFamily="2" charset="-122"/>
                <a:ea typeface="宋体" panose="02010600030101010101" pitchFamily="2" charset="-122"/>
              </a:rPr>
              <a:t>黑白光栅扫描显示器</a:t>
            </a:r>
            <a:endParaRPr lang="zh-CN" altLang="en-US" sz="4400"/>
          </a:p>
        </p:txBody>
      </p:sp>
      <p:sp>
        <p:nvSpPr>
          <p:cNvPr id="27655"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46B2F453-BA0C-49DF-8B60-128EB6C2AF5F}"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1750">
                                            <p:txEl>
                                              <p:pRg st="1" end="1"/>
                                            </p:txEl>
                                          </p:spTgt>
                                        </p:tgtEl>
                                        <p:attrNameLst>
                                          <p:attrName>style.visibility</p:attrName>
                                        </p:attrNameLst>
                                      </p:cBhvr>
                                      <p:to>
                                        <p:strVal val="visible"/>
                                      </p:to>
                                    </p:set>
                                    <p:animEffect transition="in" filter="checkerboard(across)">
                                      <p:cBhvr>
                                        <p:cTn id="7" dur="500"/>
                                        <p:tgtEl>
                                          <p:spTgt spid="3175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4" name="Rectangle 3"/>
          <p:cNvSpPr>
            <a:spLocks noGrp="1" noChangeArrowheads="1"/>
          </p:cNvSpPr>
          <p:nvPr>
            <p:ph type="body" idx="4294967295"/>
          </p:nvPr>
        </p:nvSpPr>
        <p:spPr>
          <a:xfrm>
            <a:off x="381000" y="1143000"/>
            <a:ext cx="8458200" cy="3124200"/>
          </a:xfrm>
        </p:spPr>
        <p:txBody>
          <a:bodyPr/>
          <a:lstStyle/>
          <a:p>
            <a:pPr eaLnBrk="1" hangingPunct="1"/>
            <a:r>
              <a:rPr lang="zh-CN" altLang="en-US" sz="3600">
                <a:latin typeface="宋体" panose="02010600030101010101" pitchFamily="2" charset="-122"/>
                <a:ea typeface="宋体" panose="02010600030101010101" pitchFamily="2" charset="-122"/>
              </a:rPr>
              <a:t>在光栅图形显示器中需要足够的帧缓存才能反映图形的颜色和灰度等级。如下图，帧缓存每个单元具有</a:t>
            </a:r>
            <a:r>
              <a:rPr lang="en-US" altLang="zh-CN" sz="3600">
                <a:latin typeface="宋体" panose="02010600030101010101" pitchFamily="2" charset="-122"/>
                <a:ea typeface="宋体" panose="02010600030101010101" pitchFamily="2" charset="-122"/>
              </a:rPr>
              <a:t>3</a:t>
            </a:r>
            <a:r>
              <a:rPr lang="zh-CN" altLang="en-US" sz="3600">
                <a:latin typeface="宋体" panose="02010600030101010101" pitchFamily="2" charset="-122"/>
                <a:ea typeface="宋体" panose="02010600030101010101" pitchFamily="2" charset="-122"/>
              </a:rPr>
              <a:t>位，则显示器上每个像素可以显示的亮度有几种？</a:t>
            </a:r>
            <a:endParaRPr lang="en-US" altLang="zh-CN" sz="3600">
              <a:latin typeface="宋体" panose="02010600030101010101" pitchFamily="2" charset="-122"/>
              <a:ea typeface="宋体" panose="02010600030101010101" pitchFamily="2" charset="-122"/>
            </a:endParaRPr>
          </a:p>
          <a:p>
            <a:pPr eaLnBrk="1" hangingPunct="1"/>
            <a:r>
              <a:rPr lang="en-US" altLang="zh-CN" sz="3600">
                <a:latin typeface="宋体" panose="02010600030101010101" pitchFamily="2" charset="-122"/>
                <a:ea typeface="宋体" panose="02010600030101010101" pitchFamily="2" charset="-122"/>
              </a:rPr>
              <a:t>8</a:t>
            </a:r>
            <a:endParaRPr lang="en-US" altLang="zh-CN" sz="3600">
              <a:latin typeface="宋体" panose="02010600030101010101" pitchFamily="2" charset="-122"/>
              <a:ea typeface="宋体" panose="02010600030101010101" pitchFamily="2" charset="-122"/>
            </a:endParaRPr>
          </a:p>
          <a:p>
            <a:pPr eaLnBrk="1" hangingPunct="1"/>
            <a:r>
              <a:rPr lang="zh-CN" altLang="en-US" sz="3600">
                <a:latin typeface="宋体" panose="02010600030101010101" pitchFamily="2" charset="-122"/>
                <a:ea typeface="宋体" panose="02010600030101010101" pitchFamily="2" charset="-122"/>
              </a:rPr>
              <a:t>2</a:t>
            </a:r>
            <a:r>
              <a:rPr lang="en-US" altLang="zh-CN" sz="3600" baseline="30000">
                <a:latin typeface="宋体" panose="02010600030101010101" pitchFamily="2" charset="-122"/>
                <a:ea typeface="宋体" panose="02010600030101010101" pitchFamily="2" charset="-122"/>
              </a:rPr>
              <a:t>3</a:t>
            </a:r>
            <a:endParaRPr lang="zh-CN" altLang="en-US" sz="3600">
              <a:latin typeface="宋体" panose="02010600030101010101" pitchFamily="2" charset="-122"/>
              <a:ea typeface="宋体" panose="02010600030101010101" pitchFamily="2" charset="-122"/>
            </a:endParaRPr>
          </a:p>
        </p:txBody>
      </p:sp>
      <p:sp>
        <p:nvSpPr>
          <p:cNvPr id="2867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BD831C97-1CAF-4312-9A93-E880F34E28A7}" type="slidenum">
              <a:rPr lang="zh-CN" altLang="en-US">
                <a:ea typeface="宋体" panose="02010600030101010101" pitchFamily="2" charset="-122"/>
              </a:rPr>
            </a:fld>
            <a:endParaRPr lang="en-US" altLang="zh-CN">
              <a:ea typeface="宋体" panose="02010600030101010101" pitchFamily="2" charset="-122"/>
            </a:endParaRPr>
          </a:p>
        </p:txBody>
      </p:sp>
      <p:sp>
        <p:nvSpPr>
          <p:cNvPr id="7" name="灯片编号占位符 3"/>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A5D33C8E-F9AD-4B3C-A8EE-B6AF57CFCF19}" type="slidenum">
              <a:rPr lang="zh-CN" altLang="en-US" sz="1400">
                <a:ea typeface="宋体" panose="02010600030101010101" pitchFamily="2" charset="-122"/>
              </a:rPr>
            </a:fld>
            <a:endParaRPr lang="en-US" altLang="zh-CN" sz="1400">
              <a:ea typeface="宋体" panose="02010600030101010101" pitchFamily="2" charset="-122"/>
            </a:endParaRPr>
          </a:p>
        </p:txBody>
      </p:sp>
      <p:pic>
        <p:nvPicPr>
          <p:cNvPr id="28677" name="Picture 4" descr="fig1-8c"/>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28800" y="4648200"/>
            <a:ext cx="7162800" cy="20589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8678" name="Rectangle 2"/>
          <p:cNvSpPr txBox="1">
            <a:spLocks noChangeArrowheads="1"/>
          </p:cNvSpPr>
          <p:nvPr/>
        </p:nvSpPr>
        <p:spPr bwMode="auto">
          <a:xfrm>
            <a:off x="152400" y="76200"/>
            <a:ext cx="8763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ctr" eaLnBrk="1" hangingPunct="1"/>
            <a:r>
              <a:rPr lang="zh-CN" altLang="en-US" sz="4400">
                <a:latin typeface="宋体" panose="02010600030101010101" pitchFamily="2" charset="-122"/>
                <a:ea typeface="宋体" panose="02010600030101010101" pitchFamily="2" charset="-122"/>
              </a:rPr>
              <a:t>彩色光栅扫描显示器</a:t>
            </a:r>
            <a:endParaRPr lang="zh-CN" altLang="en-US" sz="4400"/>
          </a:p>
        </p:txBody>
      </p:sp>
      <p:sp>
        <p:nvSpPr>
          <p:cNvPr id="28679"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2B3A938C-CA0A-4F26-B0E3-472DBC477078}"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2774">
                                            <p:txEl>
                                              <p:pRg st="1" end="1"/>
                                            </p:txEl>
                                          </p:spTgt>
                                        </p:tgtEl>
                                        <p:attrNameLst>
                                          <p:attrName>style.visibility</p:attrName>
                                        </p:attrNameLst>
                                      </p:cBhvr>
                                      <p:to>
                                        <p:strVal val="visible"/>
                                      </p:to>
                                    </p:set>
                                    <p:animEffect transition="in" filter="blinds(horizontal)">
                                      <p:cBhvr>
                                        <p:cTn id="7" dur="500"/>
                                        <p:tgtEl>
                                          <p:spTgt spid="3277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2774">
                                            <p:txEl>
                                              <p:pRg st="2" end="2"/>
                                            </p:txEl>
                                          </p:spTgt>
                                        </p:tgtEl>
                                        <p:attrNameLst>
                                          <p:attrName>style.visibility</p:attrName>
                                        </p:attrNameLst>
                                      </p:cBhvr>
                                      <p:to>
                                        <p:strVal val="visible"/>
                                      </p:to>
                                    </p:set>
                                    <p:animEffect transition="in" filter="checkerboard(across)">
                                      <p:cBhvr>
                                        <p:cTn id="12" dur="500"/>
                                        <p:tgtEl>
                                          <p:spTgt spid="3277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38F0B45A-5713-4850-AAA8-DBFD06D0D137}" type="slidenum">
              <a:rPr lang="zh-CN" altLang="en-US">
                <a:ea typeface="宋体" panose="02010600030101010101" pitchFamily="2" charset="-122"/>
              </a:rPr>
            </a:fld>
            <a:endParaRPr lang="en-US" altLang="zh-CN">
              <a:ea typeface="宋体" panose="02010600030101010101" pitchFamily="2" charset="-122"/>
            </a:endParaRPr>
          </a:p>
        </p:txBody>
      </p:sp>
      <p:sp>
        <p:nvSpPr>
          <p:cNvPr id="6"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F23C68B4-8E18-4610-A842-813DD06BACA5}"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29700" name="Rectangle 2"/>
          <p:cNvSpPr>
            <a:spLocks noGrp="1" noChangeArrowheads="1"/>
          </p:cNvSpPr>
          <p:nvPr>
            <p:ph type="title" idx="4294967295"/>
          </p:nvPr>
        </p:nvSpPr>
        <p:spPr>
          <a:xfrm>
            <a:off x="1619250" y="76200"/>
            <a:ext cx="7296150" cy="914400"/>
          </a:xfrm>
        </p:spPr>
        <p:txBody>
          <a:bodyPr/>
          <a:lstStyle/>
          <a:p>
            <a:pPr algn="l" eaLnBrk="1" hangingPunct="1"/>
            <a:r>
              <a:rPr lang="zh-CN" altLang="en-US">
                <a:ea typeface="宋体" panose="02010600030101010101" pitchFamily="2" charset="-122"/>
              </a:rPr>
              <a:t>彩色光栅扫描显示器</a:t>
            </a:r>
            <a:endParaRPr lang="zh-CN" altLang="en-US">
              <a:ea typeface="宋体" panose="02010600030101010101" pitchFamily="2" charset="-122"/>
            </a:endParaRPr>
          </a:p>
        </p:txBody>
      </p:sp>
      <p:sp>
        <p:nvSpPr>
          <p:cNvPr id="4103" name="Rectangle 3"/>
          <p:cNvSpPr>
            <a:spLocks noGrp="1" noChangeArrowheads="1"/>
          </p:cNvSpPr>
          <p:nvPr>
            <p:ph type="body" idx="4294967295"/>
          </p:nvPr>
        </p:nvSpPr>
        <p:spPr/>
        <p:txBody>
          <a:bodyPr/>
          <a:lstStyle/>
          <a:p>
            <a:pPr marL="342900" lvl="2" indent="-342900" eaLnBrk="1" hangingPunct="1"/>
            <a:r>
              <a:rPr lang="zh-CN" altLang="en-US" sz="3200" b="1">
                <a:ea typeface="宋体" panose="02010600030101010101" pitchFamily="2" charset="-122"/>
              </a:rPr>
              <a:t>分辨率</a:t>
            </a:r>
            <a:r>
              <a:rPr lang="en-US" altLang="zh-CN" sz="3200" b="1">
                <a:ea typeface="宋体" panose="02010600030101010101" pitchFamily="2" charset="-122"/>
              </a:rPr>
              <a:t>M*N、</a:t>
            </a:r>
            <a:r>
              <a:rPr lang="zh-CN" altLang="en-US" sz="3200" b="1">
                <a:ea typeface="宋体" panose="02010600030101010101" pitchFamily="2" charset="-122"/>
              </a:rPr>
              <a:t>颜色个数</a:t>
            </a:r>
            <a:r>
              <a:rPr lang="en-US" altLang="zh-CN" sz="3200" b="1">
                <a:ea typeface="宋体" panose="02010600030101010101" pitchFamily="2" charset="-122"/>
              </a:rPr>
              <a:t>K</a:t>
            </a:r>
            <a:r>
              <a:rPr lang="zh-CN" altLang="en-US" sz="3200" b="1">
                <a:ea typeface="宋体" panose="02010600030101010101" pitchFamily="2" charset="-122"/>
              </a:rPr>
              <a:t>与帧缓存大小</a:t>
            </a:r>
            <a:r>
              <a:rPr lang="en-US" altLang="zh-CN" sz="3200" b="1">
                <a:ea typeface="宋体" panose="02010600030101010101" pitchFamily="2" charset="-122"/>
              </a:rPr>
              <a:t>V</a:t>
            </a:r>
            <a:r>
              <a:rPr lang="zh-CN" altLang="en-US" sz="3200" b="1">
                <a:ea typeface="宋体" panose="02010600030101010101" pitchFamily="2" charset="-122"/>
              </a:rPr>
              <a:t>的关系</a:t>
            </a:r>
            <a:endParaRPr lang="zh-CN" altLang="en-US" sz="3200" b="1">
              <a:ea typeface="宋体" panose="02010600030101010101" pitchFamily="2" charset="-122"/>
            </a:endParaRPr>
          </a:p>
          <a:p>
            <a:pPr eaLnBrk="1" hangingPunct="1"/>
            <a:endParaRPr lang="en-US" altLang="zh-CN" sz="2800">
              <a:ea typeface="宋体" panose="02010600030101010101" pitchFamily="2" charset="-122"/>
              <a:cs typeface="Times New Roman" panose="02020603050405020304" pitchFamily="18" charset="0"/>
            </a:endParaRPr>
          </a:p>
          <a:p>
            <a:pPr eaLnBrk="1" hangingPunct="1"/>
            <a:r>
              <a:rPr lang="zh-CN" altLang="en-US">
                <a:ea typeface="宋体" panose="02010600030101010101" pitchFamily="2" charset="-122"/>
                <a:cs typeface="Times New Roman" panose="02020603050405020304" pitchFamily="18" charset="0"/>
              </a:rPr>
              <a:t>分辨率是1024×1024的显示器若要显示</a:t>
            </a:r>
            <a:r>
              <a:rPr lang="en-US" altLang="zh-CN">
                <a:ea typeface="宋体" panose="02010600030101010101" pitchFamily="2" charset="-122"/>
                <a:cs typeface="Times New Roman" panose="02020603050405020304" pitchFamily="18" charset="0"/>
              </a:rPr>
              <a:t>8</a:t>
            </a:r>
            <a:r>
              <a:rPr lang="zh-CN" altLang="en-US">
                <a:ea typeface="宋体" panose="02010600030101010101" pitchFamily="2" charset="-122"/>
                <a:cs typeface="Times New Roman" panose="02020603050405020304" pitchFamily="18" charset="0"/>
              </a:rPr>
              <a:t>种颜色，需要帧缓存大小至少为多少</a:t>
            </a:r>
            <a:r>
              <a:rPr lang="en-US" altLang="zh-CN">
                <a:ea typeface="宋体" panose="02010600030101010101" pitchFamily="2" charset="-122"/>
                <a:cs typeface="Times New Roman" panose="02020603050405020304" pitchFamily="18" charset="0"/>
              </a:rPr>
              <a:t>KB?</a:t>
            </a:r>
            <a:endParaRPr lang="en-US" altLang="zh-CN">
              <a:ea typeface="宋体" panose="02010600030101010101" pitchFamily="2" charset="-122"/>
              <a:cs typeface="Times New Roman" panose="02020603050405020304" pitchFamily="18" charset="0"/>
            </a:endParaRPr>
          </a:p>
          <a:p>
            <a:pPr eaLnBrk="1" hangingPunct="1"/>
            <a:r>
              <a:rPr lang="en-US" altLang="zh-CN">
                <a:ea typeface="宋体" panose="02010600030101010101" pitchFamily="2" charset="-122"/>
                <a:cs typeface="Times New Roman" panose="02020603050405020304" pitchFamily="18" charset="0"/>
              </a:rPr>
              <a:t>1024*1024*log</a:t>
            </a:r>
            <a:r>
              <a:rPr lang="en-US" altLang="zh-CN" baseline="-25000">
                <a:ea typeface="宋体" panose="02010600030101010101" pitchFamily="2" charset="-122"/>
                <a:cs typeface="Times New Roman" panose="02020603050405020304" pitchFamily="18" charset="0"/>
              </a:rPr>
              <a:t>2</a:t>
            </a:r>
            <a:r>
              <a:rPr lang="en-US" altLang="zh-CN">
                <a:ea typeface="宋体" panose="02010600030101010101" pitchFamily="2" charset="-122"/>
                <a:cs typeface="Times New Roman" panose="02020603050405020304" pitchFamily="18" charset="0"/>
              </a:rPr>
              <a:t>8 (Bit)</a:t>
            </a:r>
            <a:endParaRPr lang="en-US" altLang="zh-CN">
              <a:ea typeface="宋体" panose="02010600030101010101" pitchFamily="2" charset="-122"/>
              <a:cs typeface="Times New Roman" panose="02020603050405020304" pitchFamily="18" charset="0"/>
            </a:endParaRPr>
          </a:p>
          <a:p>
            <a:pPr eaLnBrk="1" hangingPunct="1"/>
            <a:r>
              <a:rPr lang="en-US" altLang="zh-CN">
                <a:ea typeface="宋体" panose="02010600030101010101" pitchFamily="2" charset="-122"/>
                <a:cs typeface="Times New Roman" panose="02020603050405020304" pitchFamily="18" charset="0"/>
              </a:rPr>
              <a:t>1024*1024*log</a:t>
            </a:r>
            <a:r>
              <a:rPr lang="en-US" altLang="zh-CN" baseline="-25000">
                <a:ea typeface="宋体" panose="02010600030101010101" pitchFamily="2" charset="-122"/>
                <a:cs typeface="Times New Roman" panose="02020603050405020304" pitchFamily="18" charset="0"/>
              </a:rPr>
              <a:t>2</a:t>
            </a:r>
            <a:r>
              <a:rPr lang="en-US" altLang="zh-CN">
                <a:ea typeface="宋体" panose="02010600030101010101" pitchFamily="2" charset="-122"/>
                <a:cs typeface="Times New Roman" panose="02020603050405020304" pitchFamily="18" charset="0"/>
              </a:rPr>
              <a:t>8/8/1024 (KByte)</a:t>
            </a:r>
            <a:endParaRPr lang="en-US" altLang="zh-CN">
              <a:ea typeface="宋体" panose="02010600030101010101" pitchFamily="2" charset="-122"/>
              <a:cs typeface="Times New Roman" panose="02020603050405020304" pitchFamily="18" charset="0"/>
            </a:endParaRPr>
          </a:p>
          <a:p>
            <a:pPr eaLnBrk="1" hangingPunct="1"/>
            <a:endParaRPr lang="en-US" altLang="zh-CN" sz="2800">
              <a:ea typeface="宋体" panose="02010600030101010101" pitchFamily="2" charset="-122"/>
              <a:cs typeface="Times New Roman" panose="02020603050405020304" pitchFamily="18" charset="0"/>
            </a:endParaRPr>
          </a:p>
        </p:txBody>
      </p:sp>
      <p:graphicFrame>
        <p:nvGraphicFramePr>
          <p:cNvPr id="29702" name="Object 4"/>
          <p:cNvGraphicFramePr>
            <a:graphicFrameLocks noChangeAspect="1"/>
          </p:cNvGraphicFramePr>
          <p:nvPr/>
        </p:nvGraphicFramePr>
        <p:xfrm>
          <a:off x="2819400" y="2057400"/>
          <a:ext cx="3325813" cy="571500"/>
        </p:xfrm>
        <a:graphic>
          <a:graphicData uri="http://schemas.openxmlformats.org/presentationml/2006/ole">
            <mc:AlternateContent xmlns:mc="http://schemas.openxmlformats.org/markup-compatibility/2006">
              <mc:Choice xmlns:v="urn:schemas-microsoft-com:vml" Requires="v">
                <p:oleObj spid="_x0000_s57421" name="Equation" r:id="rId1" imgW="1333500" imgH="228600" progId="Equation.3">
                  <p:embed/>
                </p:oleObj>
              </mc:Choice>
              <mc:Fallback>
                <p:oleObj name="Equation" r:id="rId1" imgW="1333500" imgH="228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2057400"/>
                        <a:ext cx="3325813" cy="571500"/>
                      </a:xfrm>
                      <a:prstGeom prst="rect">
                        <a:avLst/>
                      </a:prstGeom>
                      <a:solidFill>
                        <a:schemeClr val="bg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3"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3574956C-5CEB-4B8A-810C-3F342A9FD22E}"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03">
                                            <p:txEl>
                                              <p:pRg st="2" end="2"/>
                                            </p:txEl>
                                          </p:spTgt>
                                        </p:tgtEl>
                                        <p:attrNameLst>
                                          <p:attrName>style.visibility</p:attrName>
                                        </p:attrNameLst>
                                      </p:cBhvr>
                                      <p:to>
                                        <p:strVal val="visible"/>
                                      </p:to>
                                    </p:set>
                                    <p:animEffect transition="in" filter="blinds(horizontal)">
                                      <p:cBhvr>
                                        <p:cTn id="7" dur="500"/>
                                        <p:tgtEl>
                                          <p:spTgt spid="410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03">
                                            <p:txEl>
                                              <p:pRg st="3" end="3"/>
                                            </p:txEl>
                                          </p:spTgt>
                                        </p:tgtEl>
                                        <p:attrNameLst>
                                          <p:attrName>style.visibility</p:attrName>
                                        </p:attrNameLst>
                                      </p:cBhvr>
                                      <p:to>
                                        <p:strVal val="visible"/>
                                      </p:to>
                                    </p:set>
                                    <p:animEffect transition="in" filter="blinds(horizontal)">
                                      <p:cBhvr>
                                        <p:cTn id="12" dur="500"/>
                                        <p:tgtEl>
                                          <p:spTgt spid="410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103">
                                            <p:txEl>
                                              <p:pRg st="4" end="4"/>
                                            </p:txEl>
                                          </p:spTgt>
                                        </p:tgtEl>
                                        <p:attrNameLst>
                                          <p:attrName>style.visibility</p:attrName>
                                        </p:attrNameLst>
                                      </p:cBhvr>
                                      <p:to>
                                        <p:strVal val="visible"/>
                                      </p:to>
                                    </p:set>
                                    <p:animEffect transition="in" filter="checkerboard(across)">
                                      <p:cBhvr>
                                        <p:cTn id="17" dur="500"/>
                                        <p:tgtEl>
                                          <p:spTgt spid="41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5608B8D6-16CC-4B24-8EC4-BB91734DC2FF}" type="slidenum">
              <a:rPr lang="zh-CN" altLang="en-US">
                <a:ea typeface="宋体" panose="02010600030101010101" pitchFamily="2" charset="-122"/>
              </a:rPr>
            </a:fld>
            <a:endParaRPr lang="en-US" altLang="zh-CN">
              <a:ea typeface="宋体" panose="02010600030101010101" pitchFamily="2" charset="-122"/>
            </a:endParaRPr>
          </a:p>
        </p:txBody>
      </p:sp>
      <p:pic>
        <p:nvPicPr>
          <p:cNvPr id="30723" name="Picture 7" descr="hue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2000" y="4308475"/>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3AA7BB65-D8A7-427F-A719-01570BFFD0D6}"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30725" name="Rectangle 2"/>
          <p:cNvSpPr>
            <a:spLocks noGrp="1" noChangeArrowheads="1"/>
          </p:cNvSpPr>
          <p:nvPr>
            <p:ph type="title" idx="4294967295"/>
          </p:nvPr>
        </p:nvSpPr>
        <p:spPr/>
        <p:txBody>
          <a:bodyPr/>
          <a:lstStyle/>
          <a:p>
            <a:pPr eaLnBrk="1" hangingPunct="1"/>
            <a:r>
              <a:rPr lang="zh-CN" altLang="en-US">
                <a:ea typeface="宋体" panose="02010600030101010101" pitchFamily="2" charset="-122"/>
              </a:rPr>
              <a:t>显示方式</a:t>
            </a:r>
            <a:r>
              <a:rPr lang="en-US" altLang="zh-CN">
                <a:ea typeface="宋体" panose="02010600030101010101" pitchFamily="2" charset="-122"/>
              </a:rPr>
              <a:t>-</a:t>
            </a:r>
            <a:r>
              <a:rPr lang="zh-CN" altLang="en-US">
                <a:ea typeface="宋体" panose="02010600030101010101" pitchFamily="2" charset="-122"/>
              </a:rPr>
              <a:t>光栅扫描显示</a:t>
            </a:r>
            <a:endParaRPr lang="zh-CN" altLang="en-US">
              <a:ea typeface="宋体" panose="02010600030101010101" pitchFamily="2" charset="-122"/>
            </a:endParaRPr>
          </a:p>
        </p:txBody>
      </p:sp>
      <p:sp>
        <p:nvSpPr>
          <p:cNvPr id="35847" name="Rectangle 3"/>
          <p:cNvSpPr>
            <a:spLocks noGrp="1" noChangeArrowheads="1"/>
          </p:cNvSpPr>
          <p:nvPr>
            <p:ph type="body" idx="4294967295"/>
          </p:nvPr>
        </p:nvSpPr>
        <p:spPr>
          <a:xfrm>
            <a:off x="228600" y="990600"/>
            <a:ext cx="8763000" cy="5181600"/>
          </a:xfrm>
        </p:spPr>
        <p:txBody>
          <a:bodyPr/>
          <a:lstStyle/>
          <a:p>
            <a:pPr eaLnBrk="1" hangingPunct="1"/>
            <a:r>
              <a:rPr lang="zh-CN" altLang="en-US">
                <a:ea typeface="宋体" panose="02010600030101010101" pitchFamily="2" charset="-122"/>
              </a:rPr>
              <a:t>优点：可显示物体轮廓线，且能对每一像素的色彩控制，因而可进行实面积填充，使得真实感图形成为可能</a:t>
            </a:r>
            <a:endParaRPr lang="zh-CN" altLang="en-US">
              <a:ea typeface="宋体" panose="02010600030101010101" pitchFamily="2" charset="-122"/>
            </a:endParaRPr>
          </a:p>
          <a:p>
            <a:pPr eaLnBrk="1" hangingPunct="1"/>
            <a:r>
              <a:rPr lang="zh-CN" altLang="en-US">
                <a:ea typeface="宋体" panose="02010600030101010101" pitchFamily="2" charset="-122"/>
              </a:rPr>
              <a:t>缺点：</a:t>
            </a:r>
            <a:r>
              <a:rPr lang="en-US" altLang="zh-CN">
                <a:ea typeface="宋体" panose="02010600030101010101" pitchFamily="2" charset="-122"/>
              </a:rPr>
              <a:t>(1)</a:t>
            </a:r>
            <a:r>
              <a:rPr lang="zh-CN" altLang="en-US">
                <a:ea typeface="宋体" panose="02010600030101010101" pitchFamily="2" charset="-122"/>
              </a:rPr>
              <a:t>需扫描转换即将图形的描述转换成帧缓存中像素信息</a:t>
            </a:r>
            <a:endParaRPr lang="en-US" altLang="zh-CN">
              <a:ea typeface="宋体" panose="02010600030101010101" pitchFamily="2" charset="-122"/>
            </a:endParaRPr>
          </a:p>
          <a:p>
            <a:pPr eaLnBrk="1" hangingPunct="1"/>
            <a:r>
              <a:rPr lang="en-US" altLang="zh-CN">
                <a:ea typeface="宋体" panose="02010600030101010101" pitchFamily="2" charset="-122"/>
              </a:rPr>
              <a:t>(2)</a:t>
            </a:r>
            <a:r>
              <a:rPr lang="zh-CN" altLang="en-US">
                <a:ea typeface="宋体" panose="02010600030101010101" pitchFamily="2" charset="-122"/>
              </a:rPr>
              <a:t>走样</a:t>
            </a:r>
            <a:r>
              <a:rPr lang="en-US" altLang="zh-CN">
                <a:ea typeface="宋体" panose="02010600030101010101" pitchFamily="2" charset="-122"/>
              </a:rPr>
              <a:t>:</a:t>
            </a:r>
            <a:r>
              <a:rPr lang="zh-CN" altLang="en-US">
                <a:ea typeface="宋体" panose="02010600030101010101" pitchFamily="2" charset="-122"/>
              </a:rPr>
              <a:t>显示斜线时存在线条边缘的阶梯效应 </a:t>
            </a:r>
            <a:endParaRPr lang="zh-CN" altLang="en-US">
              <a:ea typeface="宋体" panose="02010600030101010101" pitchFamily="2" charset="-122"/>
            </a:endParaRPr>
          </a:p>
        </p:txBody>
      </p:sp>
      <p:pic>
        <p:nvPicPr>
          <p:cNvPr id="30727" name="Picture 8" descr="hue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7625" y="4306888"/>
            <a:ext cx="2314575"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8"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DB0844E2-6021-4DAE-91FD-7B786F0E7C87}" type="datetime10">
              <a:rPr lang="zh-CN" altLang="en-US" smtClean="0">
                <a:ea typeface="宋体" panose="02010600030101010101" pitchFamily="2" charset="-122"/>
              </a:rPr>
            </a:fld>
            <a:endParaRPr lang="en-US" altLang="zh-CN">
              <a:ea typeface="宋体" panose="02010600030101010101" pitchFamily="2" charset="-122"/>
            </a:endParaRPr>
          </a:p>
        </p:txBody>
      </p:sp>
      <p:pic>
        <p:nvPicPr>
          <p:cNvPr id="30729" name="Picture 10" descr="5P2"/>
          <p:cNvPicPr>
            <a:picLocks noChangeAspect="1" noChangeArrowheads="1"/>
          </p:cNvPicPr>
          <p:nvPr/>
        </p:nvPicPr>
        <p:blipFill>
          <a:blip r:embed="rId3">
            <a:lum bright="-98000" contrast="100000"/>
            <a:extLst>
              <a:ext uri="{28A0092B-C50C-407E-A947-70E740481C1C}">
                <a14:useLocalDpi xmlns:a14="http://schemas.microsoft.com/office/drawing/2010/main" val="0"/>
              </a:ext>
            </a:extLst>
          </a:blip>
          <a:srcRect t="4150" r="53413" b="13713"/>
          <a:stretch>
            <a:fillRect/>
          </a:stretch>
        </p:blipFill>
        <p:spPr bwMode="auto">
          <a:xfrm>
            <a:off x="6553200" y="4656138"/>
            <a:ext cx="2095500" cy="15906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5847">
                                            <p:txEl>
                                              <p:pRg st="1" end="1"/>
                                            </p:txEl>
                                          </p:spTgt>
                                        </p:tgtEl>
                                        <p:attrNameLst>
                                          <p:attrName>style.visibility</p:attrName>
                                        </p:attrNameLst>
                                      </p:cBhvr>
                                      <p:to>
                                        <p:strVal val="visible"/>
                                      </p:to>
                                    </p:set>
                                    <p:animEffect transition="in" filter="checkerboard(across)">
                                      <p:cBhvr>
                                        <p:cTn id="7" dur="500"/>
                                        <p:tgtEl>
                                          <p:spTgt spid="3584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5847">
                                            <p:txEl>
                                              <p:pRg st="2" end="2"/>
                                            </p:txEl>
                                          </p:spTgt>
                                        </p:tgtEl>
                                        <p:attrNameLst>
                                          <p:attrName>style.visibility</p:attrName>
                                        </p:attrNameLst>
                                      </p:cBhvr>
                                      <p:to>
                                        <p:strVal val="visible"/>
                                      </p:to>
                                    </p:set>
                                    <p:animEffect transition="in" filter="checkerboard(across)">
                                      <p:cBhvr>
                                        <p:cTn id="12" dur="500"/>
                                        <p:tgtEl>
                                          <p:spTgt spid="358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25EE63B1-FD94-4486-889D-C21CE1C95E8F}" type="slidenum">
              <a:rPr lang="zh-CN" altLang="en-US">
                <a:ea typeface="宋体" panose="02010600030101010101" pitchFamily="2" charset="-122"/>
              </a:rPr>
            </a:fld>
            <a:endParaRPr lang="en-US" altLang="zh-CN">
              <a:ea typeface="宋体" panose="02010600030101010101" pitchFamily="2" charset="-122"/>
            </a:endParaRPr>
          </a:p>
        </p:txBody>
      </p:sp>
      <p:sp>
        <p:nvSpPr>
          <p:cNvPr id="6"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8889C25C-9D67-456C-B12B-19F1BD26A666}"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31748" name="Rectangle 2"/>
          <p:cNvSpPr>
            <a:spLocks noGrp="1" noChangeArrowheads="1"/>
          </p:cNvSpPr>
          <p:nvPr>
            <p:ph type="title" idx="4294967295"/>
          </p:nvPr>
        </p:nvSpPr>
        <p:spPr/>
        <p:txBody>
          <a:bodyPr/>
          <a:lstStyle/>
          <a:p>
            <a:pPr eaLnBrk="1" hangingPunct="1"/>
            <a:r>
              <a:rPr lang="zh-CN" altLang="en-US">
                <a:ea typeface="宋体" panose="02010600030101010101" pitchFamily="2" charset="-122"/>
              </a:rPr>
              <a:t>图形系统</a:t>
            </a:r>
            <a:endParaRPr lang="en-US" altLang="zh-CN">
              <a:ea typeface="宋体" panose="02010600030101010101" pitchFamily="2" charset="-122"/>
            </a:endParaRPr>
          </a:p>
        </p:txBody>
      </p:sp>
      <p:sp>
        <p:nvSpPr>
          <p:cNvPr id="31749" name="Rectangle 3"/>
          <p:cNvSpPr>
            <a:spLocks noGrp="1" noChangeArrowheads="1"/>
          </p:cNvSpPr>
          <p:nvPr>
            <p:ph type="body" idx="4294967295"/>
          </p:nvPr>
        </p:nvSpPr>
        <p:spPr/>
        <p:txBody>
          <a:bodyPr/>
          <a:lstStyle/>
          <a:p>
            <a:pPr eaLnBrk="1" hangingPunct="1"/>
            <a:r>
              <a:rPr lang="zh-CN" altLang="en-US">
                <a:ea typeface="宋体" panose="02010600030101010101" pitchFamily="2" charset="-122"/>
              </a:rPr>
              <a:t>硬件层面</a:t>
            </a:r>
            <a:endParaRPr lang="zh-CN" altLang="en-US">
              <a:ea typeface="宋体" panose="02010600030101010101" pitchFamily="2" charset="-122"/>
            </a:endParaRPr>
          </a:p>
          <a:p>
            <a:pPr lvl="1" eaLnBrk="1" hangingPunct="1"/>
            <a:r>
              <a:rPr lang="zh-CN" altLang="en-US">
                <a:ea typeface="宋体" panose="02010600030101010101" pitchFamily="2" charset="-122"/>
              </a:rPr>
              <a:t>设备显示原理：</a:t>
            </a:r>
            <a:r>
              <a:rPr lang="en-US" altLang="zh-CN">
                <a:ea typeface="宋体" panose="02010600030101010101" pitchFamily="2" charset="-122"/>
              </a:rPr>
              <a:t>CRT</a:t>
            </a:r>
            <a:r>
              <a:rPr lang="zh-CN" altLang="en-US">
                <a:ea typeface="宋体" panose="02010600030101010101" pitchFamily="2" charset="-122"/>
              </a:rPr>
              <a:t>、</a:t>
            </a:r>
            <a:r>
              <a:rPr lang="en-US" altLang="zh-CN">
                <a:ea typeface="宋体" panose="02010600030101010101" pitchFamily="2" charset="-122"/>
              </a:rPr>
              <a:t>LCD</a:t>
            </a:r>
            <a:endParaRPr lang="en-US" altLang="zh-CN">
              <a:ea typeface="宋体" panose="02010600030101010101" pitchFamily="2" charset="-122"/>
            </a:endParaRPr>
          </a:p>
          <a:p>
            <a:pPr lvl="1" eaLnBrk="1" hangingPunct="1"/>
            <a:r>
              <a:rPr lang="zh-CN" altLang="en-US">
                <a:ea typeface="宋体" panose="02010600030101010101" pitchFamily="2" charset="-122"/>
              </a:rPr>
              <a:t>设备显示方式：随机、光栅</a:t>
            </a:r>
            <a:endParaRPr lang="zh-CN" altLang="en-US">
              <a:ea typeface="宋体" panose="02010600030101010101" pitchFamily="2" charset="-122"/>
            </a:endParaRPr>
          </a:p>
          <a:p>
            <a:pPr lvl="1" eaLnBrk="1" hangingPunct="1"/>
            <a:r>
              <a:rPr lang="zh-CN" altLang="en-US">
                <a:solidFill>
                  <a:schemeClr val="accent2"/>
                </a:solidFill>
                <a:ea typeface="宋体" panose="02010600030101010101" pitchFamily="2" charset="-122"/>
              </a:rPr>
              <a:t>显示系统组成结构：简单、典型、专用</a:t>
            </a:r>
            <a:endParaRPr lang="zh-CN" altLang="en-US">
              <a:solidFill>
                <a:schemeClr val="accent2"/>
              </a:solidFill>
              <a:ea typeface="宋体" panose="02010600030101010101" pitchFamily="2" charset="-122"/>
            </a:endParaRPr>
          </a:p>
          <a:p>
            <a:pPr eaLnBrk="1" hangingPunct="1"/>
            <a:r>
              <a:rPr lang="zh-CN" altLang="en-US">
                <a:ea typeface="宋体" panose="02010600030101010101" pitchFamily="2" charset="-122"/>
              </a:rPr>
              <a:t>软件层面</a:t>
            </a:r>
            <a:endParaRPr lang="zh-CN" altLang="en-US">
              <a:ea typeface="宋体" panose="02010600030101010101" pitchFamily="2" charset="-122"/>
            </a:endParaRPr>
          </a:p>
          <a:p>
            <a:pPr lvl="1" eaLnBrk="1" hangingPunct="1"/>
            <a:r>
              <a:rPr lang="zh-CN" altLang="en-US">
                <a:ea typeface="宋体" panose="02010600030101010101" pitchFamily="2" charset="-122"/>
              </a:rPr>
              <a:t>图形软件</a:t>
            </a:r>
            <a:endParaRPr lang="en-US" altLang="zh-CN">
              <a:ea typeface="宋体" panose="02010600030101010101" pitchFamily="2" charset="-122"/>
            </a:endParaRPr>
          </a:p>
          <a:p>
            <a:pPr eaLnBrk="1" hangingPunct="1"/>
            <a:r>
              <a:rPr lang="zh-CN" altLang="en-US">
                <a:ea typeface="宋体" panose="02010600030101010101" pitchFamily="2" charset="-122"/>
              </a:rPr>
              <a:t>图形系统标准</a:t>
            </a:r>
            <a:endParaRPr lang="zh-CN" altLang="en-US">
              <a:ea typeface="宋体" panose="02010600030101010101" pitchFamily="2" charset="-122"/>
            </a:endParaRPr>
          </a:p>
        </p:txBody>
      </p:sp>
      <p:sp>
        <p:nvSpPr>
          <p:cNvPr id="31750"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DA386126-9AE5-47BB-99B4-F419B260E3DC}"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B7A109F1-A76A-4AC9-B151-F95BEC5BBB68}" type="slidenum">
              <a:rPr lang="zh-CN" altLang="en-US">
                <a:ea typeface="宋体" panose="02010600030101010101" pitchFamily="2" charset="-122"/>
              </a:rPr>
            </a:fld>
            <a:endParaRPr lang="en-US" altLang="zh-CN">
              <a:ea typeface="宋体" panose="02010600030101010101" pitchFamily="2" charset="-122"/>
            </a:endParaRPr>
          </a:p>
        </p:txBody>
      </p:sp>
      <p:sp>
        <p:nvSpPr>
          <p:cNvPr id="8"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3C0CBF08-4738-4243-87E6-D6A2D062E8C7}"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32772" name="Rectangle 2"/>
          <p:cNvSpPr>
            <a:spLocks noGrp="1" noChangeArrowheads="1"/>
          </p:cNvSpPr>
          <p:nvPr>
            <p:ph type="body" idx="4294967295"/>
          </p:nvPr>
        </p:nvSpPr>
        <p:spPr>
          <a:xfrm>
            <a:off x="107950" y="609600"/>
            <a:ext cx="7969250" cy="5257800"/>
          </a:xfrm>
        </p:spPr>
        <p:txBody>
          <a:bodyPr/>
          <a:lstStyle/>
          <a:p>
            <a:pPr lvl="2" eaLnBrk="1" hangingPunct="1"/>
            <a:endParaRPr lang="zh-CN" altLang="en-US" sz="2800">
              <a:solidFill>
                <a:srgbClr val="FFFF00"/>
              </a:solidFill>
              <a:ea typeface="宋体" panose="02010600030101010101" pitchFamily="2" charset="-122"/>
            </a:endParaRPr>
          </a:p>
          <a:p>
            <a:pPr lvl="2" eaLnBrk="1" hangingPunct="1"/>
            <a:r>
              <a:rPr lang="zh-CN" altLang="en-US" sz="3200">
                <a:ea typeface="宋体" panose="02010600030101010101" pitchFamily="2" charset="-122"/>
              </a:rPr>
              <a:t>简单的光栅扫描图形显示系统的结构</a:t>
            </a:r>
            <a:endParaRPr lang="zh-CN" altLang="en-US" sz="3200">
              <a:ea typeface="宋体" panose="02010600030101010101" pitchFamily="2" charset="-122"/>
            </a:endParaRPr>
          </a:p>
          <a:p>
            <a:pPr lvl="2" eaLnBrk="1" hangingPunct="1"/>
            <a:endParaRPr lang="zh-CN" altLang="en-US" sz="1800">
              <a:ea typeface="宋体" panose="02010600030101010101" pitchFamily="2" charset="-122"/>
            </a:endParaRPr>
          </a:p>
          <a:p>
            <a:pPr lvl="2" eaLnBrk="1" hangingPunct="1"/>
            <a:endParaRPr lang="zh-CN" altLang="en-US" sz="1800">
              <a:ea typeface="宋体" panose="02010600030101010101" pitchFamily="2" charset="-122"/>
            </a:endParaRPr>
          </a:p>
          <a:p>
            <a:pPr lvl="2" eaLnBrk="1" hangingPunct="1"/>
            <a:endParaRPr lang="zh-CN" altLang="en-US" sz="1800">
              <a:ea typeface="宋体" panose="02010600030101010101" pitchFamily="2" charset="-122"/>
            </a:endParaRPr>
          </a:p>
          <a:p>
            <a:pPr lvl="2" eaLnBrk="1" hangingPunct="1"/>
            <a:endParaRPr lang="zh-CN" altLang="en-US" sz="1800">
              <a:ea typeface="宋体" panose="02010600030101010101" pitchFamily="2" charset="-122"/>
            </a:endParaRPr>
          </a:p>
          <a:p>
            <a:pPr lvl="2" eaLnBrk="1" hangingPunct="1"/>
            <a:endParaRPr lang="zh-CN" altLang="en-US" sz="1800">
              <a:ea typeface="宋体" panose="02010600030101010101" pitchFamily="2" charset="-122"/>
            </a:endParaRPr>
          </a:p>
          <a:p>
            <a:pPr lvl="2" eaLnBrk="1" hangingPunct="1"/>
            <a:endParaRPr lang="zh-CN" altLang="en-US" sz="1800">
              <a:ea typeface="宋体" panose="02010600030101010101" pitchFamily="2" charset="-122"/>
            </a:endParaRPr>
          </a:p>
          <a:p>
            <a:pPr lvl="2" eaLnBrk="1" hangingPunct="1"/>
            <a:endParaRPr lang="zh-CN" altLang="en-US" sz="1800">
              <a:ea typeface="宋体" panose="02010600030101010101" pitchFamily="2" charset="-122"/>
            </a:endParaRPr>
          </a:p>
          <a:p>
            <a:pPr lvl="2" eaLnBrk="1" hangingPunct="1"/>
            <a:endParaRPr lang="zh-CN" altLang="en-US" sz="1800" b="1">
              <a:solidFill>
                <a:srgbClr val="FFFF00"/>
              </a:solidFill>
              <a:ea typeface="宋体" panose="02010600030101010101" pitchFamily="2" charset="-122"/>
            </a:endParaRPr>
          </a:p>
        </p:txBody>
      </p:sp>
      <p:pic>
        <p:nvPicPr>
          <p:cNvPr id="32773" name="Picture 3" descr="1p2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63713" y="1916113"/>
            <a:ext cx="4835525" cy="259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1396" name="Text Box 4"/>
          <p:cNvSpPr txBox="1">
            <a:spLocks noChangeArrowheads="1"/>
          </p:cNvSpPr>
          <p:nvPr/>
        </p:nvSpPr>
        <p:spPr bwMode="auto">
          <a:xfrm>
            <a:off x="1231900" y="4695359"/>
            <a:ext cx="70358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r>
              <a:rPr kumimoji="1" lang="zh-CN" altLang="en-US" sz="2800" dirty="0">
                <a:latin typeface="Times New Roman" panose="02020603050405020304" pitchFamily="18" charset="0"/>
                <a:ea typeface="宋体" panose="02010600030101010101" pitchFamily="2" charset="-122"/>
              </a:rPr>
              <a:t>其中，帧缓存为系统内存任一块区域，视频控制器能够直接存取该区域以刷新屏幕。</a:t>
            </a:r>
            <a:endParaRPr kumimoji="1" lang="en-US" altLang="zh-CN" sz="2800" dirty="0">
              <a:latin typeface="Times New Roman" panose="02020603050405020304" pitchFamily="18" charset="0"/>
              <a:ea typeface="宋体" panose="02010600030101010101" pitchFamily="2" charset="-122"/>
            </a:endParaRPr>
          </a:p>
          <a:p>
            <a:pPr eaLnBrk="1" hangingPunct="1"/>
            <a:r>
              <a:rPr kumimoji="1" lang="zh-CN" altLang="en-US" sz="2800" dirty="0">
                <a:latin typeface="Times New Roman" panose="02020603050405020304" pitchFamily="18" charset="0"/>
                <a:ea typeface="宋体" panose="02010600030101010101" pitchFamily="2" charset="-122"/>
              </a:rPr>
              <a:t>所有模块都通过总线通信，使其成为瓶颈</a:t>
            </a:r>
            <a:endParaRPr kumimoji="1" lang="zh-CN" altLang="en-US" sz="2800" dirty="0">
              <a:latin typeface="Times New Roman" panose="02020603050405020304" pitchFamily="18" charset="0"/>
              <a:ea typeface="宋体" panose="02010600030101010101" pitchFamily="2" charset="-122"/>
            </a:endParaRPr>
          </a:p>
        </p:txBody>
      </p:sp>
      <p:sp>
        <p:nvSpPr>
          <p:cNvPr id="32775" name="Rectangle 5"/>
          <p:cNvSpPr>
            <a:spLocks noGrp="1" noChangeArrowheads="1"/>
          </p:cNvSpPr>
          <p:nvPr>
            <p:ph type="title" idx="4294967295"/>
          </p:nvPr>
        </p:nvSpPr>
        <p:spPr>
          <a:xfrm>
            <a:off x="685800" y="152400"/>
            <a:ext cx="7772400" cy="609600"/>
          </a:xfrm>
          <a:noFill/>
        </p:spPr>
        <p:txBody>
          <a:bodyPr/>
          <a:lstStyle/>
          <a:p>
            <a:pPr eaLnBrk="1" hangingPunct="1"/>
            <a:r>
              <a:rPr lang="zh-CN" altLang="en-US">
                <a:ea typeface="宋体" panose="02010600030101010101" pitchFamily="2" charset="-122"/>
              </a:rPr>
              <a:t>光栅显示系统的结构</a:t>
            </a:r>
            <a:r>
              <a:rPr lang="en-US" altLang="zh-CN">
                <a:ea typeface="宋体" panose="02010600030101010101" pitchFamily="2" charset="-122"/>
              </a:rPr>
              <a:t>-</a:t>
            </a:r>
            <a:r>
              <a:rPr lang="zh-CN" altLang="en-US">
                <a:ea typeface="宋体" panose="02010600030101010101" pitchFamily="2" charset="-122"/>
              </a:rPr>
              <a:t>简单</a:t>
            </a:r>
            <a:endParaRPr lang="zh-CN" altLang="en-US">
              <a:ea typeface="宋体" panose="02010600030101010101" pitchFamily="2" charset="-122"/>
            </a:endParaRPr>
          </a:p>
        </p:txBody>
      </p:sp>
      <p:sp>
        <p:nvSpPr>
          <p:cNvPr id="32776"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E747D19F-C990-422F-B5EC-8AC9EBC57AA1}"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71396"/>
                                        </p:tgtEl>
                                        <p:attrNameLst>
                                          <p:attrName>style.visibility</p:attrName>
                                        </p:attrNameLst>
                                      </p:cBhvr>
                                      <p:to>
                                        <p:strVal val="visible"/>
                                      </p:to>
                                    </p:set>
                                    <p:animEffect transition="in" filter="checkerboard(across)">
                                      <p:cBhvr>
                                        <p:cTn id="7" dur="500"/>
                                        <p:tgtEl>
                                          <p:spTgt spid="571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396"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9BCC5F5A-4512-400D-BBF4-AA0264A32525}" type="slidenum">
              <a:rPr lang="zh-CN" altLang="en-US">
                <a:ea typeface="宋体" panose="02010600030101010101" pitchFamily="2" charset="-122"/>
              </a:rPr>
            </a:fld>
            <a:endParaRPr lang="en-US" altLang="zh-CN">
              <a:ea typeface="宋体" panose="02010600030101010101" pitchFamily="2" charset="-122"/>
            </a:endParaRPr>
          </a:p>
        </p:txBody>
      </p:sp>
      <p:sp>
        <p:nvSpPr>
          <p:cNvPr id="9"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A449A972-DB43-42B0-BB1A-DE4CB4ED041C}"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33796" name="Rectangle 2"/>
          <p:cNvSpPr>
            <a:spLocks noGrp="1" noChangeArrowheads="1"/>
          </p:cNvSpPr>
          <p:nvPr>
            <p:ph type="body" idx="4294967295"/>
          </p:nvPr>
        </p:nvSpPr>
        <p:spPr>
          <a:xfrm>
            <a:off x="179388" y="609600"/>
            <a:ext cx="8785225" cy="5257800"/>
          </a:xfrm>
          <a:noFill/>
        </p:spPr>
        <p:txBody>
          <a:bodyPr/>
          <a:lstStyle/>
          <a:p>
            <a:pPr lvl="2" eaLnBrk="1" hangingPunct="1">
              <a:buFontTx/>
              <a:buNone/>
            </a:pPr>
            <a:endParaRPr lang="zh-CN" altLang="en-US" sz="1800" dirty="0">
              <a:ea typeface="宋体" panose="02010600030101010101" pitchFamily="2" charset="-122"/>
            </a:endParaRPr>
          </a:p>
          <a:p>
            <a:pPr lvl="2" eaLnBrk="1" hangingPunct="1"/>
            <a:endParaRPr lang="zh-CN" altLang="en-US" sz="1800" dirty="0">
              <a:ea typeface="宋体" panose="02010600030101010101" pitchFamily="2" charset="-122"/>
            </a:endParaRPr>
          </a:p>
          <a:p>
            <a:pPr lvl="2" eaLnBrk="1" hangingPunct="1"/>
            <a:r>
              <a:rPr lang="zh-CN" altLang="en-US" sz="3200" dirty="0">
                <a:ea typeface="宋体" panose="02010600030101010101" pitchFamily="2" charset="-122"/>
              </a:rPr>
              <a:t>视频控制器直接帧缓存</a:t>
            </a:r>
            <a:endParaRPr lang="zh-CN" altLang="en-US" sz="3200" dirty="0">
              <a:ea typeface="宋体" panose="02010600030101010101" pitchFamily="2" charset="-122"/>
            </a:endParaRPr>
          </a:p>
        </p:txBody>
      </p:sp>
      <p:pic>
        <p:nvPicPr>
          <p:cNvPr id="33797" name="Picture 3" descr="1p2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1925" y="1963738"/>
            <a:ext cx="5273675" cy="300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9" name="Text Box 4"/>
          <p:cNvSpPr txBox="1">
            <a:spLocks noChangeArrowheads="1"/>
          </p:cNvSpPr>
          <p:nvPr/>
        </p:nvSpPr>
        <p:spPr bwMode="auto">
          <a:xfrm>
            <a:off x="5392700" y="3136340"/>
            <a:ext cx="353695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r>
              <a:rPr kumimoji="1" lang="zh-CN" altLang="en-US" sz="2800" b="1" dirty="0">
                <a:latin typeface="Times New Roman" panose="02020603050405020304" pitchFamily="18" charset="0"/>
                <a:ea typeface="宋体" panose="02010600030101010101" pitchFamily="2" charset="-122"/>
              </a:rPr>
              <a:t>帧缓存</a:t>
            </a:r>
            <a:r>
              <a:rPr kumimoji="1" lang="zh-CN" altLang="en-US" sz="2800" dirty="0">
                <a:latin typeface="Times New Roman" panose="02020603050405020304" pitchFamily="18" charset="0"/>
                <a:ea typeface="宋体" panose="02010600030101010101" pitchFamily="2" charset="-122"/>
              </a:rPr>
              <a:t>可以是专用存储器，也可是系统内存中的一块固定区域</a:t>
            </a:r>
            <a:endParaRPr kumimoji="1" lang="zh-CN" altLang="en-US" sz="2800" dirty="0">
              <a:latin typeface="Times New Roman" panose="02020603050405020304" pitchFamily="18" charset="0"/>
              <a:ea typeface="宋体" panose="02010600030101010101" pitchFamily="2" charset="-122"/>
            </a:endParaRPr>
          </a:p>
        </p:txBody>
      </p:sp>
      <p:sp>
        <p:nvSpPr>
          <p:cNvPr id="38920" name="Text Box 5"/>
          <p:cNvSpPr txBox="1">
            <a:spLocks noChangeArrowheads="1"/>
          </p:cNvSpPr>
          <p:nvPr/>
        </p:nvSpPr>
        <p:spPr bwMode="auto">
          <a:xfrm>
            <a:off x="990600" y="5181600"/>
            <a:ext cx="77724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r>
              <a:rPr kumimoji="1" lang="en-US" altLang="zh-CN" sz="3200" dirty="0">
                <a:latin typeface="Times New Roman" panose="02020603050405020304" pitchFamily="18" charset="0"/>
                <a:ea typeface="宋体" panose="02010600030101010101" pitchFamily="2" charset="-122"/>
              </a:rPr>
              <a:t>CPU</a:t>
            </a:r>
            <a:r>
              <a:rPr kumimoji="1" lang="zh-CN" altLang="en-US" sz="3200" dirty="0">
                <a:latin typeface="Times New Roman" panose="02020603050405020304" pitchFamily="18" charset="0"/>
                <a:ea typeface="宋体" panose="02010600030101010101" pitchFamily="2" charset="-122"/>
              </a:rPr>
              <a:t>依然负责图形的扫描转换、负担</a:t>
            </a:r>
            <a:endParaRPr kumimoji="1" lang="zh-CN" altLang="en-US" sz="3200" dirty="0">
              <a:latin typeface="Times New Roman" panose="02020603050405020304" pitchFamily="18" charset="0"/>
              <a:ea typeface="宋体" panose="02010600030101010101" pitchFamily="2" charset="-122"/>
            </a:endParaRPr>
          </a:p>
        </p:txBody>
      </p:sp>
      <p:sp>
        <p:nvSpPr>
          <p:cNvPr id="33800" name="Rectangle 6"/>
          <p:cNvSpPr>
            <a:spLocks noGrp="1" noChangeArrowheads="1"/>
          </p:cNvSpPr>
          <p:nvPr>
            <p:ph type="title" idx="4294967295"/>
          </p:nvPr>
        </p:nvSpPr>
        <p:spPr>
          <a:xfrm>
            <a:off x="685800" y="152400"/>
            <a:ext cx="7772400" cy="609600"/>
          </a:xfrm>
          <a:noFill/>
        </p:spPr>
        <p:txBody>
          <a:bodyPr/>
          <a:lstStyle/>
          <a:p>
            <a:pPr eaLnBrk="1" hangingPunct="1"/>
            <a:r>
              <a:rPr lang="zh-CN" altLang="en-US">
                <a:ea typeface="宋体" panose="02010600030101010101" pitchFamily="2" charset="-122"/>
              </a:rPr>
              <a:t>光栅显示系统的结构</a:t>
            </a:r>
            <a:r>
              <a:rPr lang="en-US" altLang="zh-CN">
                <a:ea typeface="宋体" panose="02010600030101010101" pitchFamily="2" charset="-122"/>
              </a:rPr>
              <a:t>-</a:t>
            </a:r>
            <a:r>
              <a:rPr lang="zh-CN" altLang="en-US">
                <a:ea typeface="宋体" panose="02010600030101010101" pitchFamily="2" charset="-122"/>
              </a:rPr>
              <a:t>典型</a:t>
            </a:r>
            <a:endParaRPr lang="zh-CN" altLang="en-US">
              <a:ea typeface="宋体" panose="02010600030101010101" pitchFamily="2" charset="-122"/>
            </a:endParaRPr>
          </a:p>
        </p:txBody>
      </p:sp>
      <p:sp>
        <p:nvSpPr>
          <p:cNvPr id="33802"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873AD685-3B6F-4BA6-8DD4-56AFF5E752C2}"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799"/>
                                        </p:tgtEl>
                                        <p:attrNameLst>
                                          <p:attrName>style.visibility</p:attrName>
                                        </p:attrNameLst>
                                      </p:cBhvr>
                                      <p:to>
                                        <p:strVal val="visible"/>
                                      </p:to>
                                    </p:set>
                                    <p:animEffect transition="in" filter="blinds(horizontal)">
                                      <p:cBhvr>
                                        <p:cTn id="7" dur="500"/>
                                        <p:tgtEl>
                                          <p:spTgt spid="3379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8920"/>
                                        </p:tgtEl>
                                        <p:attrNameLst>
                                          <p:attrName>style.visibility</p:attrName>
                                        </p:attrNameLst>
                                      </p:cBhvr>
                                      <p:to>
                                        <p:strVal val="visible"/>
                                      </p:to>
                                    </p:set>
                                    <p:animEffect transition="in" filter="blinds(horizontal)">
                                      <p:cBhvr>
                                        <p:cTn id="12" dur="500"/>
                                        <p:tgtEl>
                                          <p:spTgt spid="38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9" grpId="0"/>
      <p:bldP spid="3892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21A79290-EBD4-434A-B614-84B3FC8BDD9B}" type="slidenum">
              <a:rPr lang="zh-CN" altLang="en-US">
                <a:ea typeface="宋体" panose="02010600030101010101" pitchFamily="2" charset="-122"/>
              </a:rPr>
            </a:fld>
            <a:endParaRPr lang="en-US" altLang="zh-CN">
              <a:ea typeface="宋体" panose="02010600030101010101" pitchFamily="2" charset="-122"/>
            </a:endParaRPr>
          </a:p>
        </p:txBody>
      </p:sp>
      <p:sp>
        <p:nvSpPr>
          <p:cNvPr id="9"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5E5646D4-021B-46DE-A941-5CDEB26B6D53}"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34820" name="Rectangle 2"/>
          <p:cNvSpPr>
            <a:spLocks noGrp="1" noChangeArrowheads="1"/>
          </p:cNvSpPr>
          <p:nvPr>
            <p:ph type="title" idx="4294967295"/>
          </p:nvPr>
        </p:nvSpPr>
        <p:spPr>
          <a:xfrm>
            <a:off x="685800" y="152400"/>
            <a:ext cx="7772400" cy="609600"/>
          </a:xfrm>
          <a:noFill/>
        </p:spPr>
        <p:txBody>
          <a:bodyPr/>
          <a:lstStyle/>
          <a:p>
            <a:pPr eaLnBrk="1" hangingPunct="1"/>
            <a:r>
              <a:rPr lang="zh-CN" altLang="en-US">
                <a:ea typeface="宋体" panose="02010600030101010101" pitchFamily="2" charset="-122"/>
              </a:rPr>
              <a:t>光栅显示系统的结构</a:t>
            </a:r>
            <a:r>
              <a:rPr lang="en-US" altLang="zh-CN">
                <a:ea typeface="宋体" panose="02010600030101010101" pitchFamily="2" charset="-122"/>
              </a:rPr>
              <a:t>-</a:t>
            </a:r>
            <a:r>
              <a:rPr lang="zh-CN" altLang="en-US">
                <a:ea typeface="宋体" panose="02010600030101010101" pitchFamily="2" charset="-122"/>
              </a:rPr>
              <a:t>专用</a:t>
            </a:r>
            <a:endParaRPr lang="zh-CN" altLang="en-US">
              <a:ea typeface="宋体" panose="02010600030101010101" pitchFamily="2" charset="-122"/>
            </a:endParaRPr>
          </a:p>
        </p:txBody>
      </p:sp>
      <p:sp>
        <p:nvSpPr>
          <p:cNvPr id="34821" name="Rectangle 3"/>
          <p:cNvSpPr>
            <a:spLocks noGrp="1" noChangeArrowheads="1"/>
          </p:cNvSpPr>
          <p:nvPr>
            <p:ph type="body" idx="4294967295"/>
          </p:nvPr>
        </p:nvSpPr>
        <p:spPr>
          <a:xfrm>
            <a:off x="323850" y="1125538"/>
            <a:ext cx="8496300" cy="5327650"/>
          </a:xfrm>
          <a:noFill/>
        </p:spPr>
        <p:txBody>
          <a:bodyPr/>
          <a:lstStyle/>
          <a:p>
            <a:pPr lvl="2" eaLnBrk="1" hangingPunct="1"/>
            <a:r>
              <a:rPr lang="zh-CN" altLang="en-US" sz="2800" dirty="0">
                <a:ea typeface="宋体" panose="02010600030101010101" pitchFamily="2" charset="-122"/>
              </a:rPr>
              <a:t>具有专用显示处理器的光栅显示系统的结构</a:t>
            </a:r>
            <a:endParaRPr lang="zh-CN" altLang="en-US" sz="2800" dirty="0">
              <a:ea typeface="宋体" panose="02010600030101010101" pitchFamily="2" charset="-122"/>
            </a:endParaRPr>
          </a:p>
          <a:p>
            <a:pPr lvl="2" eaLnBrk="1" hangingPunct="1">
              <a:buFontTx/>
              <a:buNone/>
            </a:pPr>
            <a:endParaRPr lang="zh-CN" altLang="en-US" sz="2800" dirty="0">
              <a:solidFill>
                <a:schemeClr val="accent2"/>
              </a:solidFill>
              <a:ea typeface="宋体" panose="02010600030101010101" pitchFamily="2" charset="-122"/>
            </a:endParaRPr>
          </a:p>
        </p:txBody>
      </p:sp>
      <p:pic>
        <p:nvPicPr>
          <p:cNvPr id="34822" name="Picture 4" descr="1p28"/>
          <p:cNvPicPr>
            <a:picLocks noChangeAspect="1" noChangeArrowheads="1"/>
          </p:cNvPicPr>
          <p:nvPr/>
        </p:nvPicPr>
        <p:blipFill>
          <a:blip r:embed="rId1">
            <a:lum contrast="96000"/>
            <a:extLst>
              <a:ext uri="{28A0092B-C50C-407E-A947-70E740481C1C}">
                <a14:useLocalDpi xmlns:a14="http://schemas.microsoft.com/office/drawing/2010/main" val="0"/>
              </a:ext>
            </a:extLst>
          </a:blip>
          <a:srcRect/>
          <a:stretch>
            <a:fillRect/>
          </a:stretch>
        </p:blipFill>
        <p:spPr bwMode="auto">
          <a:xfrm>
            <a:off x="395288" y="1798638"/>
            <a:ext cx="5243512" cy="358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4" name="Text Box 6"/>
          <p:cNvSpPr txBox="1">
            <a:spLocks noChangeArrowheads="1"/>
          </p:cNvSpPr>
          <p:nvPr/>
        </p:nvSpPr>
        <p:spPr bwMode="auto">
          <a:xfrm>
            <a:off x="5638800" y="1998662"/>
            <a:ext cx="3352800" cy="30813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r>
              <a:rPr kumimoji="1" lang="zh-CN" altLang="en-US" sz="2800" b="1" dirty="0">
                <a:latin typeface="Times New Roman" panose="02020603050405020304" pitchFamily="18" charset="0"/>
                <a:ea typeface="宋体" panose="02010600030101010101" pitchFamily="2" charset="-122"/>
              </a:rPr>
              <a:t>显示处理器</a:t>
            </a:r>
            <a:r>
              <a:rPr kumimoji="1" lang="en-US" altLang="zh-CN" sz="2800" b="1" dirty="0">
                <a:latin typeface="Times New Roman" panose="02020603050405020304" pitchFamily="18" charset="0"/>
                <a:ea typeface="宋体" panose="02010600030101010101" pitchFamily="2" charset="-122"/>
              </a:rPr>
              <a:t>:</a:t>
            </a:r>
            <a:r>
              <a:rPr kumimoji="1" lang="zh-CN" altLang="en-US" sz="2800" dirty="0">
                <a:latin typeface="Times New Roman" panose="02020603050405020304" pitchFamily="18" charset="0"/>
                <a:ea typeface="宋体" panose="02010600030101010101" pitchFamily="2" charset="-122"/>
              </a:rPr>
              <a:t>代替</a:t>
            </a:r>
            <a:r>
              <a:rPr kumimoji="1" lang="en-US" altLang="zh-CN" sz="2800" dirty="0">
                <a:latin typeface="Times New Roman" panose="02020603050405020304" pitchFamily="18" charset="0"/>
                <a:ea typeface="宋体" panose="02010600030101010101" pitchFamily="2" charset="-122"/>
              </a:rPr>
              <a:t>CPU</a:t>
            </a:r>
            <a:r>
              <a:rPr kumimoji="1" lang="zh-CN" altLang="en-US" sz="2800" dirty="0">
                <a:latin typeface="Times New Roman" panose="02020603050405020304" pitchFamily="18" charset="0"/>
                <a:ea typeface="宋体" panose="02010600030101010101" pitchFamily="2" charset="-122"/>
              </a:rPr>
              <a:t>完成部分图形处理功能，扫描转换、几何变换、裁剪、光栅操作、纹理映射等</a:t>
            </a:r>
            <a:r>
              <a:rPr kumimoji="1" lang="en-US" altLang="zh-CN" sz="2800" dirty="0">
                <a:latin typeface="Times New Roman" panose="02020603050405020304" pitchFamily="18" charset="0"/>
                <a:ea typeface="宋体" panose="02010600030101010101" pitchFamily="2" charset="-122"/>
              </a:rPr>
              <a:t>,</a:t>
            </a:r>
            <a:r>
              <a:rPr kumimoji="1" lang="zh-CN" altLang="en-US" sz="2800" dirty="0">
                <a:latin typeface="Times New Roman" panose="02020603050405020304" pitchFamily="18" charset="0"/>
                <a:ea typeface="宋体" panose="02010600030101010101" pitchFamily="2" charset="-122"/>
              </a:rPr>
              <a:t>提高了显示质量和显示速度</a:t>
            </a:r>
            <a:endParaRPr kumimoji="1" lang="en-US" altLang="zh-CN" sz="2800" dirty="0">
              <a:latin typeface="Times New Roman" panose="02020603050405020304" pitchFamily="18" charset="0"/>
              <a:ea typeface="宋体" panose="02010600030101010101" pitchFamily="2" charset="-122"/>
            </a:endParaRPr>
          </a:p>
        </p:txBody>
      </p:sp>
      <p:sp>
        <p:nvSpPr>
          <p:cNvPr id="34826"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FE345B17-6DB8-44DF-97DA-5B74BCD28254}"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21A79290-EBD4-434A-B614-84B3FC8BDD9B}" type="slidenum">
              <a:rPr lang="zh-CN" altLang="en-US">
                <a:ea typeface="宋体" panose="02010600030101010101" pitchFamily="2" charset="-122"/>
              </a:rPr>
            </a:fld>
            <a:endParaRPr lang="en-US" altLang="zh-CN">
              <a:ea typeface="宋体" panose="02010600030101010101" pitchFamily="2" charset="-122"/>
            </a:endParaRPr>
          </a:p>
        </p:txBody>
      </p:sp>
      <p:sp>
        <p:nvSpPr>
          <p:cNvPr id="9"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5E5646D4-021B-46DE-A941-5CDEB26B6D53}"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34820" name="Rectangle 2"/>
          <p:cNvSpPr>
            <a:spLocks noGrp="1" noChangeArrowheads="1"/>
          </p:cNvSpPr>
          <p:nvPr>
            <p:ph type="title" idx="4294967295"/>
          </p:nvPr>
        </p:nvSpPr>
        <p:spPr>
          <a:xfrm>
            <a:off x="685800" y="152400"/>
            <a:ext cx="7772400" cy="609600"/>
          </a:xfrm>
          <a:noFill/>
        </p:spPr>
        <p:txBody>
          <a:bodyPr/>
          <a:lstStyle/>
          <a:p>
            <a:pPr eaLnBrk="1" hangingPunct="1"/>
            <a:r>
              <a:rPr lang="zh-CN" altLang="en-US" dirty="0">
                <a:ea typeface="宋体" panose="02010600030101010101" pitchFamily="2" charset="-122"/>
              </a:rPr>
              <a:t>图形硬件</a:t>
            </a:r>
            <a:endParaRPr lang="zh-CN" altLang="en-US" dirty="0">
              <a:ea typeface="宋体" panose="02010600030101010101" pitchFamily="2" charset="-122"/>
            </a:endParaRPr>
          </a:p>
        </p:txBody>
      </p:sp>
      <p:sp>
        <p:nvSpPr>
          <p:cNvPr id="34821" name="Rectangle 3"/>
          <p:cNvSpPr>
            <a:spLocks noGrp="1" noChangeArrowheads="1"/>
          </p:cNvSpPr>
          <p:nvPr>
            <p:ph type="body" idx="4294967295"/>
          </p:nvPr>
        </p:nvSpPr>
        <p:spPr>
          <a:xfrm>
            <a:off x="-457200" y="1274090"/>
            <a:ext cx="9144000" cy="5327650"/>
          </a:xfrm>
          <a:noFill/>
        </p:spPr>
        <p:txBody>
          <a:bodyPr/>
          <a:lstStyle/>
          <a:p>
            <a:pPr lvl="2" eaLnBrk="1" hangingPunct="1"/>
            <a:r>
              <a:rPr lang="zh-CN" altLang="en-US" sz="2800" dirty="0">
                <a:solidFill>
                  <a:srgbClr val="FF0000"/>
                </a:solidFill>
                <a:ea typeface="宋体" panose="02010600030101010101" pitchFamily="2" charset="-122"/>
              </a:rPr>
              <a:t>图形处理器</a:t>
            </a:r>
            <a:r>
              <a:rPr lang="en-US" altLang="zh-CN" sz="2800" dirty="0">
                <a:solidFill>
                  <a:srgbClr val="FF0000"/>
                </a:solidFill>
                <a:ea typeface="宋体" panose="02010600030101010101" pitchFamily="2" charset="-122"/>
              </a:rPr>
              <a:t>GPU</a:t>
            </a:r>
            <a:r>
              <a:rPr lang="en-US" altLang="zh-CN" sz="2800" dirty="0">
                <a:ea typeface="宋体" panose="02010600030101010101" pitchFamily="2" charset="-122"/>
              </a:rPr>
              <a:t>:</a:t>
            </a:r>
            <a:r>
              <a:rPr lang="zh-CN" altLang="en-US" sz="2800" dirty="0">
                <a:ea typeface="宋体" panose="02010600030101010101" pitchFamily="2" charset="-122"/>
              </a:rPr>
              <a:t>专用的图形渲染设备，负责处理需要显示输出的数据。</a:t>
            </a:r>
            <a:endParaRPr lang="en-US" altLang="zh-CN" sz="2800" dirty="0">
              <a:ea typeface="宋体" panose="02010600030101010101" pitchFamily="2" charset="-122"/>
            </a:endParaRPr>
          </a:p>
          <a:p>
            <a:pPr lvl="2" eaLnBrk="1" hangingPunct="1"/>
            <a:r>
              <a:rPr lang="zh-CN" altLang="en-US" sz="2800" dirty="0">
                <a:solidFill>
                  <a:srgbClr val="FF0000"/>
                </a:solidFill>
                <a:ea typeface="宋体" panose="02010600030101010101" pitchFamily="2" charset="-122"/>
              </a:rPr>
              <a:t>显卡</a:t>
            </a:r>
            <a:r>
              <a:rPr lang="en-US" altLang="zh-CN" sz="2800" dirty="0">
                <a:solidFill>
                  <a:srgbClr val="FF0000"/>
                </a:solidFill>
                <a:ea typeface="宋体" panose="02010600030101010101" pitchFamily="2" charset="-122"/>
              </a:rPr>
              <a:t>GC</a:t>
            </a:r>
            <a:r>
              <a:rPr lang="zh-CN" altLang="en-US" sz="2800" dirty="0">
                <a:ea typeface="宋体" panose="02010600030101010101" pitchFamily="2" charset="-122"/>
              </a:rPr>
              <a:t>：</a:t>
            </a:r>
            <a:r>
              <a:rPr lang="en-US" altLang="zh-CN" sz="2800" dirty="0">
                <a:ea typeface="宋体" panose="02010600030101010101" pitchFamily="2" charset="-122"/>
              </a:rPr>
              <a:t>GPU+</a:t>
            </a:r>
            <a:r>
              <a:rPr lang="zh-CN" altLang="en-US" sz="2800" dirty="0">
                <a:ea typeface="宋体" panose="02010600030101010101" pitchFamily="2" charset="-122"/>
              </a:rPr>
              <a:t>显存</a:t>
            </a:r>
            <a:r>
              <a:rPr lang="en-US" altLang="zh-CN" sz="2800" dirty="0">
                <a:ea typeface="宋体" panose="02010600030101010101" pitchFamily="2" charset="-122"/>
              </a:rPr>
              <a:t>+DAC</a:t>
            </a:r>
            <a:endParaRPr lang="en-US" altLang="zh-CN" sz="2800" dirty="0">
              <a:ea typeface="宋体" panose="02010600030101010101" pitchFamily="2" charset="-122"/>
            </a:endParaRPr>
          </a:p>
          <a:p>
            <a:pPr lvl="2" eaLnBrk="1" hangingPunct="1"/>
            <a:r>
              <a:rPr lang="zh-CN" altLang="en-US" sz="2800" dirty="0">
                <a:solidFill>
                  <a:srgbClr val="FF0000"/>
                </a:solidFill>
                <a:ea typeface="宋体" panose="02010600030101010101" pitchFamily="2" charset="-122"/>
              </a:rPr>
              <a:t>集成显卡</a:t>
            </a:r>
            <a:r>
              <a:rPr lang="en-US" altLang="zh-CN" sz="2800" dirty="0">
                <a:ea typeface="宋体" panose="02010600030101010101" pitchFamily="2" charset="-122"/>
              </a:rPr>
              <a:t>: GPU+</a:t>
            </a:r>
            <a:r>
              <a:rPr lang="zh-CN" altLang="en-US" sz="2800" dirty="0">
                <a:ea typeface="宋体" panose="02010600030101010101" pitchFamily="2" charset="-122"/>
              </a:rPr>
              <a:t>显存</a:t>
            </a:r>
            <a:r>
              <a:rPr lang="en-US" altLang="zh-CN" sz="2800" dirty="0">
                <a:ea typeface="宋体" panose="02010600030101010101" pitchFamily="2" charset="-122"/>
              </a:rPr>
              <a:t>+DAC</a:t>
            </a:r>
            <a:r>
              <a:rPr lang="zh-CN" altLang="en-US" sz="2800" dirty="0">
                <a:ea typeface="宋体" panose="02010600030101010101" pitchFamily="2" charset="-122"/>
              </a:rPr>
              <a:t>集成到主板或</a:t>
            </a:r>
            <a:r>
              <a:rPr lang="en-US" altLang="zh-CN" sz="2800" dirty="0">
                <a:ea typeface="宋体" panose="02010600030101010101" pitchFamily="2" charset="-122"/>
              </a:rPr>
              <a:t>CPU</a:t>
            </a:r>
            <a:r>
              <a:rPr lang="zh-CN" altLang="en-US" sz="2800" dirty="0">
                <a:ea typeface="宋体" panose="02010600030101010101" pitchFamily="2" charset="-122"/>
              </a:rPr>
              <a:t>里</a:t>
            </a:r>
            <a:endParaRPr lang="en-US" altLang="zh-CN" sz="2800" dirty="0">
              <a:ea typeface="宋体" panose="02010600030101010101" pitchFamily="2" charset="-122"/>
            </a:endParaRPr>
          </a:p>
          <a:p>
            <a:pPr lvl="2" eaLnBrk="1" hangingPunct="1"/>
            <a:r>
              <a:rPr lang="zh-CN" altLang="en-US" sz="2800" dirty="0">
                <a:solidFill>
                  <a:srgbClr val="FF0000"/>
                </a:solidFill>
                <a:ea typeface="宋体" panose="02010600030101010101" pitchFamily="2" charset="-122"/>
              </a:rPr>
              <a:t>独立显卡</a:t>
            </a:r>
            <a:r>
              <a:rPr lang="zh-CN" altLang="en-US" sz="2800" dirty="0">
                <a:ea typeface="宋体" panose="02010600030101010101" pitchFamily="2" charset="-122"/>
              </a:rPr>
              <a:t>：</a:t>
            </a:r>
            <a:r>
              <a:rPr lang="en-US" altLang="zh-CN" sz="2800" dirty="0">
                <a:ea typeface="宋体" panose="02010600030101010101" pitchFamily="2" charset="-122"/>
              </a:rPr>
              <a:t>GPU+</a:t>
            </a:r>
            <a:r>
              <a:rPr lang="zh-CN" altLang="en-US" sz="2800" dirty="0">
                <a:ea typeface="宋体" panose="02010600030101010101" pitchFamily="2" charset="-122"/>
              </a:rPr>
              <a:t>显存</a:t>
            </a:r>
            <a:r>
              <a:rPr lang="en-US" altLang="zh-CN" sz="2800" dirty="0">
                <a:ea typeface="宋体" panose="02010600030101010101" pitchFamily="2" charset="-122"/>
              </a:rPr>
              <a:t>+DAC</a:t>
            </a:r>
            <a:r>
              <a:rPr lang="zh-CN" altLang="en-US" sz="2800" dirty="0">
                <a:ea typeface="宋体" panose="02010600030101010101" pitchFamily="2" charset="-122"/>
              </a:rPr>
              <a:t>自成一体，如</a:t>
            </a:r>
            <a:r>
              <a:rPr lang="en-US" altLang="zh-CN" sz="2800" dirty="0">
                <a:ea typeface="宋体" panose="02010600030101010101" pitchFamily="2" charset="-122"/>
              </a:rPr>
              <a:t>4090</a:t>
            </a:r>
            <a:endParaRPr lang="en-US" altLang="zh-CN" sz="2800" dirty="0">
              <a:ea typeface="宋体" panose="02010600030101010101" pitchFamily="2" charset="-122"/>
            </a:endParaRPr>
          </a:p>
          <a:p>
            <a:pPr lvl="2" eaLnBrk="1" hangingPunct="1"/>
            <a:r>
              <a:rPr lang="zh-CN" altLang="en-US" sz="2800" dirty="0">
                <a:solidFill>
                  <a:srgbClr val="FF0000"/>
                </a:solidFill>
                <a:ea typeface="宋体" panose="02010600030101010101" pitchFamily="2" charset="-122"/>
              </a:rPr>
              <a:t>计算卡</a:t>
            </a:r>
            <a:r>
              <a:rPr lang="zh-CN" altLang="en-US" sz="2800" dirty="0">
                <a:ea typeface="宋体" panose="02010600030101010101" pitchFamily="2" charset="-122"/>
              </a:rPr>
              <a:t>：专为高效数据计算而设计的硬件，弱化图像显示，应用于深度学习、人工智能、加密货币挖矿、大数据分析、生物信息学等领域，如</a:t>
            </a:r>
            <a:r>
              <a:rPr lang="en-US" altLang="zh-CN" sz="2800" dirty="0">
                <a:ea typeface="宋体" panose="02010600030101010101" pitchFamily="2" charset="-122"/>
              </a:rPr>
              <a:t>NVIDIA</a:t>
            </a:r>
            <a:r>
              <a:rPr lang="zh-CN" altLang="en-US" sz="2800" dirty="0">
                <a:ea typeface="宋体" panose="02010600030101010101" pitchFamily="2" charset="-122"/>
              </a:rPr>
              <a:t>的</a:t>
            </a:r>
            <a:r>
              <a:rPr lang="en-US" altLang="zh-CN" sz="2800" dirty="0">
                <a:ea typeface="宋体" panose="02010600030101010101" pitchFamily="2" charset="-122"/>
              </a:rPr>
              <a:t>Tesla</a:t>
            </a:r>
            <a:r>
              <a:rPr lang="zh-CN" altLang="en-US" sz="2800" dirty="0">
                <a:ea typeface="宋体" panose="02010600030101010101" pitchFamily="2" charset="-122"/>
              </a:rPr>
              <a:t>系列、</a:t>
            </a:r>
            <a:r>
              <a:rPr lang="en-US" altLang="zh-CN" sz="2800" dirty="0">
                <a:ea typeface="宋体" panose="02010600030101010101" pitchFamily="2" charset="-122"/>
              </a:rPr>
              <a:t>AMD</a:t>
            </a:r>
            <a:r>
              <a:rPr lang="zh-CN" altLang="en-US" sz="2800" dirty="0">
                <a:ea typeface="宋体" panose="02010600030101010101" pitchFamily="2" charset="-122"/>
              </a:rPr>
              <a:t>的</a:t>
            </a:r>
            <a:r>
              <a:rPr lang="en-US" altLang="zh-CN" sz="2800" dirty="0">
                <a:ea typeface="宋体" panose="02010600030101010101" pitchFamily="2" charset="-122"/>
              </a:rPr>
              <a:t>Radeon Instinct</a:t>
            </a:r>
            <a:endParaRPr lang="zh-CN" altLang="en-US" sz="2800" dirty="0">
              <a:ea typeface="宋体" panose="02010600030101010101" pitchFamily="2" charset="-122"/>
            </a:endParaRPr>
          </a:p>
        </p:txBody>
      </p:sp>
      <p:sp>
        <p:nvSpPr>
          <p:cNvPr id="34826"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FE345B17-6DB8-44DF-97DA-5B74BCD28254}"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7B8AF62B-0F5B-4A2C-9F61-3AE6DD1042DE}" type="slidenum">
              <a:rPr lang="zh-CN" altLang="en-US">
                <a:ea typeface="宋体" panose="02010600030101010101" pitchFamily="2" charset="-122"/>
              </a:rPr>
            </a:fld>
            <a:endParaRPr lang="en-US" altLang="zh-CN">
              <a:ea typeface="宋体" panose="02010600030101010101" pitchFamily="2" charset="-122"/>
            </a:endParaRPr>
          </a:p>
        </p:txBody>
      </p:sp>
      <p:sp>
        <p:nvSpPr>
          <p:cNvPr id="6"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2FED413D-9EFE-4881-9E9D-2B29DA30079A}"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35844" name="Rectangle 2"/>
          <p:cNvSpPr>
            <a:spLocks noGrp="1" noChangeArrowheads="1"/>
          </p:cNvSpPr>
          <p:nvPr>
            <p:ph type="title" idx="4294967295"/>
          </p:nvPr>
        </p:nvSpPr>
        <p:spPr/>
        <p:txBody>
          <a:bodyPr/>
          <a:lstStyle/>
          <a:p>
            <a:pPr eaLnBrk="1" hangingPunct="1"/>
            <a:r>
              <a:rPr lang="zh-CN" altLang="en-US">
                <a:ea typeface="宋体" panose="02010600030101010101" pitchFamily="2" charset="-122"/>
              </a:rPr>
              <a:t>图形系统</a:t>
            </a:r>
            <a:endParaRPr lang="en-US" altLang="zh-CN">
              <a:ea typeface="宋体" panose="02010600030101010101" pitchFamily="2" charset="-122"/>
            </a:endParaRPr>
          </a:p>
        </p:txBody>
      </p:sp>
      <p:sp>
        <p:nvSpPr>
          <p:cNvPr id="35845" name="Rectangle 3"/>
          <p:cNvSpPr>
            <a:spLocks noGrp="1" noChangeArrowheads="1"/>
          </p:cNvSpPr>
          <p:nvPr>
            <p:ph type="body" idx="4294967295"/>
          </p:nvPr>
        </p:nvSpPr>
        <p:spPr/>
        <p:txBody>
          <a:bodyPr/>
          <a:lstStyle/>
          <a:p>
            <a:pPr eaLnBrk="1" hangingPunct="1"/>
            <a:r>
              <a:rPr lang="zh-CN" altLang="en-US">
                <a:ea typeface="宋体" panose="02010600030101010101" pitchFamily="2" charset="-122"/>
              </a:rPr>
              <a:t>硬件层面</a:t>
            </a:r>
            <a:endParaRPr lang="zh-CN" altLang="en-US">
              <a:ea typeface="宋体" panose="02010600030101010101" pitchFamily="2" charset="-122"/>
            </a:endParaRPr>
          </a:p>
          <a:p>
            <a:pPr lvl="1" eaLnBrk="1" hangingPunct="1"/>
            <a:r>
              <a:rPr lang="zh-CN" altLang="en-US">
                <a:ea typeface="宋体" panose="02010600030101010101" pitchFamily="2" charset="-122"/>
              </a:rPr>
              <a:t>设备显示原理：</a:t>
            </a:r>
            <a:r>
              <a:rPr lang="en-US" altLang="zh-CN">
                <a:ea typeface="宋体" panose="02010600030101010101" pitchFamily="2" charset="-122"/>
              </a:rPr>
              <a:t>CRT</a:t>
            </a:r>
            <a:r>
              <a:rPr lang="zh-CN" altLang="en-US">
                <a:ea typeface="宋体" panose="02010600030101010101" pitchFamily="2" charset="-122"/>
              </a:rPr>
              <a:t>、</a:t>
            </a:r>
            <a:r>
              <a:rPr lang="en-US" altLang="zh-CN">
                <a:ea typeface="宋体" panose="02010600030101010101" pitchFamily="2" charset="-122"/>
              </a:rPr>
              <a:t>LCD</a:t>
            </a:r>
            <a:endParaRPr lang="en-US" altLang="zh-CN">
              <a:ea typeface="宋体" panose="02010600030101010101" pitchFamily="2" charset="-122"/>
            </a:endParaRPr>
          </a:p>
          <a:p>
            <a:pPr lvl="1" eaLnBrk="1" hangingPunct="1"/>
            <a:r>
              <a:rPr lang="zh-CN" altLang="en-US">
                <a:ea typeface="宋体" panose="02010600030101010101" pitchFamily="2" charset="-122"/>
              </a:rPr>
              <a:t>设备显示方式：随机、光栅</a:t>
            </a:r>
            <a:endParaRPr lang="zh-CN" altLang="en-US">
              <a:ea typeface="宋体" panose="02010600030101010101" pitchFamily="2" charset="-122"/>
            </a:endParaRPr>
          </a:p>
          <a:p>
            <a:pPr lvl="1" eaLnBrk="1" hangingPunct="1"/>
            <a:r>
              <a:rPr lang="zh-CN" altLang="en-US">
                <a:ea typeface="宋体" panose="02010600030101010101" pitchFamily="2" charset="-122"/>
              </a:rPr>
              <a:t>显示系统组成结构：简单、典型、专用</a:t>
            </a:r>
            <a:endParaRPr lang="zh-CN" altLang="en-US">
              <a:ea typeface="宋体" panose="02010600030101010101" pitchFamily="2" charset="-122"/>
            </a:endParaRPr>
          </a:p>
          <a:p>
            <a:pPr eaLnBrk="1" hangingPunct="1"/>
            <a:r>
              <a:rPr lang="zh-CN" altLang="en-US">
                <a:solidFill>
                  <a:schemeClr val="accent2"/>
                </a:solidFill>
                <a:ea typeface="宋体" panose="02010600030101010101" pitchFamily="2" charset="-122"/>
              </a:rPr>
              <a:t>软件层面</a:t>
            </a:r>
            <a:endParaRPr lang="zh-CN" altLang="en-US">
              <a:solidFill>
                <a:schemeClr val="accent2"/>
              </a:solidFill>
              <a:ea typeface="宋体" panose="02010600030101010101" pitchFamily="2" charset="-122"/>
            </a:endParaRPr>
          </a:p>
          <a:p>
            <a:pPr lvl="1" eaLnBrk="1" hangingPunct="1"/>
            <a:r>
              <a:rPr lang="zh-CN" altLang="en-US">
                <a:ea typeface="宋体" panose="02010600030101010101" pitchFamily="2" charset="-122"/>
              </a:rPr>
              <a:t>图形软件</a:t>
            </a:r>
            <a:endParaRPr lang="en-US" altLang="zh-CN">
              <a:ea typeface="宋体" panose="02010600030101010101" pitchFamily="2" charset="-122"/>
            </a:endParaRPr>
          </a:p>
          <a:p>
            <a:pPr eaLnBrk="1" hangingPunct="1"/>
            <a:r>
              <a:rPr lang="zh-CN" altLang="en-US">
                <a:ea typeface="宋体" panose="02010600030101010101" pitchFamily="2" charset="-122"/>
              </a:rPr>
              <a:t>图形系统标准</a:t>
            </a:r>
            <a:endParaRPr lang="zh-CN" altLang="en-US">
              <a:ea typeface="宋体" panose="02010600030101010101" pitchFamily="2" charset="-122"/>
            </a:endParaRPr>
          </a:p>
        </p:txBody>
      </p:sp>
      <p:sp>
        <p:nvSpPr>
          <p:cNvPr id="40967" name="AutoShape 4"/>
          <p:cNvSpPr>
            <a:spLocks noChangeArrowheads="1"/>
          </p:cNvSpPr>
          <p:nvPr/>
        </p:nvSpPr>
        <p:spPr bwMode="auto">
          <a:xfrm>
            <a:off x="5105400" y="3657600"/>
            <a:ext cx="2438400" cy="762000"/>
          </a:xfrm>
          <a:prstGeom prst="wedgeRoundRectCallout">
            <a:avLst>
              <a:gd name="adj1" fmla="val -82078"/>
              <a:gd name="adj2" fmla="val -36805"/>
              <a:gd name="adj3" fmla="val 16667"/>
            </a:avLst>
          </a:prstGeom>
        </p:spPr>
        <p:style>
          <a:lnRef idx="1">
            <a:schemeClr val="accent2"/>
          </a:lnRef>
          <a:fillRef idx="2">
            <a:schemeClr val="accent2"/>
          </a:fillRef>
          <a:effectRef idx="1">
            <a:schemeClr val="accent2"/>
          </a:effectRef>
          <a:fontRef idx="minor">
            <a:schemeClr val="dk1"/>
          </a:fontRef>
        </p:style>
        <p:txBody>
          <a:bodyPr/>
          <a:lstStyle/>
          <a:p>
            <a:pPr algn="ctr">
              <a:defRPr/>
            </a:pPr>
            <a:r>
              <a:rPr lang="zh-CN" altLang="en-US" sz="3200" dirty="0">
                <a:ea typeface="宋体" panose="02010600030101010101" pitchFamily="2" charset="-122"/>
              </a:rPr>
              <a:t>如何画点</a:t>
            </a:r>
            <a:r>
              <a:rPr lang="en-US" altLang="zh-CN" sz="3200" dirty="0">
                <a:ea typeface="宋体" panose="02010600030101010101" pitchFamily="2" charset="-122"/>
              </a:rPr>
              <a:t>?</a:t>
            </a:r>
            <a:endParaRPr lang="zh-CN" altLang="en-US" sz="3200" dirty="0">
              <a:ea typeface="宋体" panose="02010600030101010101" pitchFamily="2" charset="-122"/>
            </a:endParaRPr>
          </a:p>
        </p:txBody>
      </p:sp>
      <p:sp>
        <p:nvSpPr>
          <p:cNvPr id="35847"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EBFB5351-9E84-4025-8B13-9C8622D70F9C}"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FD1C8C74-0475-403C-9544-9740B8787A83}" type="slidenum">
              <a:rPr lang="zh-CN" altLang="en-US">
                <a:ea typeface="宋体" panose="02010600030101010101" pitchFamily="2" charset="-122"/>
              </a:rPr>
            </a:fld>
            <a:endParaRPr lang="en-US" altLang="zh-CN">
              <a:ea typeface="宋体" panose="02010600030101010101" pitchFamily="2" charset="-122"/>
            </a:endParaRPr>
          </a:p>
        </p:txBody>
      </p:sp>
      <p:sp>
        <p:nvSpPr>
          <p:cNvPr id="36867" name="Rectangle 2"/>
          <p:cNvSpPr>
            <a:spLocks noGrp="1" noChangeArrowheads="1"/>
          </p:cNvSpPr>
          <p:nvPr>
            <p:ph type="title"/>
          </p:nvPr>
        </p:nvSpPr>
        <p:spPr/>
        <p:txBody>
          <a:bodyPr/>
          <a:lstStyle/>
          <a:p>
            <a:pPr eaLnBrk="1" hangingPunct="1"/>
            <a:r>
              <a:rPr lang="zh-CN" altLang="en-US">
                <a:ea typeface="宋体" panose="02010600030101010101" pitchFamily="2" charset="-122"/>
              </a:rPr>
              <a:t>图形软件分类</a:t>
            </a:r>
            <a:endParaRPr lang="zh-CN" altLang="en-US">
              <a:ea typeface="宋体" panose="02010600030101010101" pitchFamily="2" charset="-122"/>
            </a:endParaRPr>
          </a:p>
        </p:txBody>
      </p:sp>
      <p:sp>
        <p:nvSpPr>
          <p:cNvPr id="36868" name="Rectangle 3"/>
          <p:cNvSpPr>
            <a:spLocks noGrp="1" noChangeArrowheads="1"/>
          </p:cNvSpPr>
          <p:nvPr>
            <p:ph type="body" sz="half" idx="1"/>
          </p:nvPr>
        </p:nvSpPr>
        <p:spPr/>
        <p:txBody>
          <a:bodyPr/>
          <a:lstStyle/>
          <a:p>
            <a:pPr eaLnBrk="1" hangingPunct="1"/>
            <a:r>
              <a:rPr lang="zh-CN" altLang="en-US" sz="2800">
                <a:ea typeface="宋体" panose="02010600030101010101" pitchFamily="2" charset="-122"/>
              </a:rPr>
              <a:t>软件层次</a:t>
            </a:r>
            <a:endParaRPr lang="zh-CN" altLang="en-US" sz="2800">
              <a:ea typeface="宋体" panose="02010600030101010101" pitchFamily="2" charset="-122"/>
            </a:endParaRPr>
          </a:p>
        </p:txBody>
      </p:sp>
      <p:sp>
        <p:nvSpPr>
          <p:cNvPr id="36869" name="Rectangle 4"/>
          <p:cNvSpPr>
            <a:spLocks noChangeArrowheads="1"/>
          </p:cNvSpPr>
          <p:nvPr/>
        </p:nvSpPr>
        <p:spPr bwMode="auto">
          <a:xfrm>
            <a:off x="0" y="22717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endParaRPr lang="zh-CN" altLang="en-US"/>
          </a:p>
        </p:txBody>
      </p:sp>
      <p:graphicFrame>
        <p:nvGraphicFramePr>
          <p:cNvPr id="36870" name="Object 5"/>
          <p:cNvGraphicFramePr>
            <a:graphicFrameLocks noChangeAspect="1"/>
          </p:cNvGraphicFramePr>
          <p:nvPr/>
        </p:nvGraphicFramePr>
        <p:xfrm>
          <a:off x="2287588" y="1676400"/>
          <a:ext cx="6246812" cy="4241800"/>
        </p:xfrm>
        <a:graphic>
          <a:graphicData uri="http://schemas.openxmlformats.org/presentationml/2006/ole">
            <mc:AlternateContent xmlns:mc="http://schemas.openxmlformats.org/markup-compatibility/2006">
              <mc:Choice xmlns:v="urn:schemas-microsoft-com:vml" Requires="v">
                <p:oleObj spid="_x0000_s58518" name="Visio" r:id="rId1" imgW="3209290" imgH="2178685" progId="Visio.Drawing.11">
                  <p:embed/>
                </p:oleObj>
              </mc:Choice>
              <mc:Fallback>
                <p:oleObj name="Visio" r:id="rId1" imgW="3209290" imgH="2178685" progId="Visio.Drawing.11">
                  <p:embed/>
                  <p:pic>
                    <p:nvPicPr>
                      <p:cNvPr id="0" name="Object 5"/>
                      <p:cNvPicPr>
                        <a:picLocks noChangeAspect="1" noChangeArrowheads="1"/>
                      </p:cNvPicPr>
                      <p:nvPr/>
                    </p:nvPicPr>
                    <p:blipFill>
                      <a:blip r:embed="rId2"/>
                      <a:srcRect/>
                      <a:stretch>
                        <a:fillRect/>
                      </a:stretch>
                    </p:blipFill>
                    <p:spPr bwMode="auto">
                      <a:xfrm>
                        <a:off x="2287588" y="1676400"/>
                        <a:ext cx="6246812" cy="424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1" name="Object 6"/>
          <p:cNvGraphicFramePr>
            <a:graphicFrameLocks noGrp="1" noChangeAspect="1"/>
          </p:cNvGraphicFramePr>
          <p:nvPr>
            <p:ph sz="half" idx="2"/>
          </p:nvPr>
        </p:nvGraphicFramePr>
        <p:xfrm>
          <a:off x="447675" y="2270125"/>
          <a:ext cx="1598613" cy="3306763"/>
        </p:xfrm>
        <a:graphic>
          <a:graphicData uri="http://schemas.openxmlformats.org/presentationml/2006/ole">
            <mc:AlternateContent xmlns:mc="http://schemas.openxmlformats.org/markup-compatibility/2006">
              <mc:Choice xmlns:v="urn:schemas-microsoft-com:vml" Requires="v">
                <p:oleObj spid="_x0000_s58519" name="Visio" r:id="rId3" imgW="609600" imgH="1252220" progId="Visio.Drawing.11">
                  <p:embed/>
                </p:oleObj>
              </mc:Choice>
              <mc:Fallback>
                <p:oleObj name="Visio" r:id="rId3" imgW="609600" imgH="1252220" progId="Visio.Drawing.11">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675" y="2270125"/>
                        <a:ext cx="1598613" cy="3306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872"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4D753848-DD70-4721-8E16-83795D94B25E}" type="datetime10">
              <a:rPr lang="zh-CN" altLang="en-US" smtClean="0">
                <a:ea typeface="宋体" panose="02010600030101010101" pitchFamily="2" charset="-122"/>
              </a:rPr>
            </a:fld>
            <a:endParaRPr lang="en-US" altLang="zh-CN">
              <a:ea typeface="宋体" panose="02010600030101010101" pitchFamily="2" charset="-122"/>
            </a:endParaRPr>
          </a:p>
        </p:txBody>
      </p:sp>
      <p:cxnSp>
        <p:nvCxnSpPr>
          <p:cNvPr id="3" name="直接箭头连接符 2"/>
          <p:cNvCxnSpPr/>
          <p:nvPr/>
        </p:nvCxnSpPr>
        <p:spPr>
          <a:xfrm>
            <a:off x="2046288" y="3962400"/>
            <a:ext cx="54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8F8D78F0-2B3B-4AFF-A1B2-C07A0BDBFF30}" type="slidenum">
              <a:rPr lang="zh-CN" altLang="en-US">
                <a:ea typeface="宋体" panose="02010600030101010101" pitchFamily="2" charset="-122"/>
              </a:rPr>
            </a:fld>
            <a:endParaRPr lang="en-US" altLang="zh-CN">
              <a:ea typeface="宋体" panose="02010600030101010101" pitchFamily="2" charset="-122"/>
            </a:endParaRPr>
          </a:p>
        </p:txBody>
      </p:sp>
      <p:sp>
        <p:nvSpPr>
          <p:cNvPr id="4" name="日期占位符 3"/>
          <p:cNvSpPr txBox="1">
            <a:spLocks noGrp="1"/>
          </p:cNvSpPr>
          <p:nvPr/>
        </p:nvSpPr>
        <p:spPr bwMode="auto">
          <a:xfrm>
            <a:off x="457200" y="6461125"/>
            <a:ext cx="2133600" cy="320675"/>
          </a:xfrm>
          <a:prstGeom prst="rect">
            <a:avLst/>
          </a:prstGeom>
          <a:noFill/>
          <a:ln>
            <a:miter lim="800000"/>
          </a:ln>
        </p:spPr>
        <p:txBody>
          <a:bodyPr/>
          <a:lstStyle/>
          <a:p>
            <a:pPr>
              <a:defRPr/>
            </a:pPr>
            <a:fld id="{DCC35AF2-C302-434F-8354-A85171DD191F}" type="datetime1">
              <a:rPr lang="zh-CN" altLang="en-US" sz="1400">
                <a:latin typeface="+mj-lt"/>
                <a:ea typeface="宋体" panose="02010600030101010101" pitchFamily="2" charset="-122"/>
              </a:rPr>
            </a:fld>
            <a:endParaRPr lang="en-US" altLang="zh-CN" sz="1400">
              <a:latin typeface="+mj-lt"/>
              <a:ea typeface="宋体" panose="02010600030101010101" pitchFamily="2" charset="-122"/>
            </a:endParaRPr>
          </a:p>
        </p:txBody>
      </p:sp>
      <p:sp>
        <p:nvSpPr>
          <p:cNvPr id="6"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A08625AD-0789-49AB-B917-87DFC287B5EC}"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37893" name="Rectangle 2"/>
          <p:cNvSpPr>
            <a:spLocks noGrp="1" noChangeArrowheads="1"/>
          </p:cNvSpPr>
          <p:nvPr>
            <p:ph type="title" idx="4294967295"/>
          </p:nvPr>
        </p:nvSpPr>
        <p:spPr/>
        <p:txBody>
          <a:bodyPr/>
          <a:lstStyle/>
          <a:p>
            <a:pPr eaLnBrk="1" hangingPunct="1"/>
            <a:r>
              <a:rPr lang="zh-CN" altLang="en-US">
                <a:ea typeface="宋体" panose="02010600030101010101" pitchFamily="2" charset="-122"/>
              </a:rPr>
              <a:t>图形软件分类</a:t>
            </a:r>
            <a:endParaRPr lang="zh-CN" altLang="en-US">
              <a:ea typeface="宋体" panose="02010600030101010101" pitchFamily="2" charset="-122"/>
            </a:endParaRPr>
          </a:p>
        </p:txBody>
      </p:sp>
      <p:sp>
        <p:nvSpPr>
          <p:cNvPr id="41990" name="Rectangle 3"/>
          <p:cNvSpPr>
            <a:spLocks noGrp="1" noChangeArrowheads="1"/>
          </p:cNvSpPr>
          <p:nvPr>
            <p:ph type="body" idx="4294967295"/>
          </p:nvPr>
        </p:nvSpPr>
        <p:spPr>
          <a:xfrm>
            <a:off x="228600" y="1143000"/>
            <a:ext cx="8763000" cy="5181600"/>
          </a:xfrm>
        </p:spPr>
        <p:txBody>
          <a:bodyPr/>
          <a:lstStyle/>
          <a:p>
            <a:pPr eaLnBrk="1" hangingPunct="1"/>
            <a:r>
              <a:rPr lang="zh-CN" altLang="en-US" sz="2800" dirty="0">
                <a:ea typeface="宋体" panose="02010600030101010101" pitchFamily="2" charset="-122"/>
              </a:rPr>
              <a:t>第一层</a:t>
            </a:r>
            <a:r>
              <a:rPr lang="en-US" altLang="zh-CN" sz="2800" dirty="0">
                <a:ea typeface="宋体" panose="02010600030101010101" pitchFamily="2" charset="-122"/>
              </a:rPr>
              <a:t>:</a:t>
            </a:r>
            <a:r>
              <a:rPr lang="zh-CN" altLang="en-US" sz="2800" dirty="0">
                <a:ea typeface="宋体" panose="02010600030101010101" pitchFamily="2" charset="-122"/>
              </a:rPr>
              <a:t> 面向系统，主要解决图形设备与计算机的通讯接口等问题，称为设备</a:t>
            </a:r>
            <a:r>
              <a:rPr lang="zh-CN" altLang="en-US" sz="2800" dirty="0">
                <a:solidFill>
                  <a:srgbClr val="FF0000"/>
                </a:solidFill>
                <a:ea typeface="宋体" panose="02010600030101010101" pitchFamily="2" charset="-122"/>
              </a:rPr>
              <a:t>驱动</a:t>
            </a:r>
            <a:r>
              <a:rPr lang="zh-CN" altLang="en-US" sz="2800" dirty="0">
                <a:ea typeface="宋体" panose="02010600030101010101" pitchFamily="2" charset="-122"/>
              </a:rPr>
              <a:t>程序，由操作系统或设备硬件厂商开发</a:t>
            </a:r>
            <a:endParaRPr lang="zh-CN" altLang="en-US" sz="2800" dirty="0">
              <a:ea typeface="宋体" panose="02010600030101010101" pitchFamily="2" charset="-122"/>
            </a:endParaRPr>
          </a:p>
          <a:p>
            <a:pPr eaLnBrk="1" hangingPunct="1"/>
            <a:r>
              <a:rPr lang="zh-CN" altLang="en-US" sz="2800" dirty="0">
                <a:ea typeface="宋体" panose="02010600030101010101" pitchFamily="2" charset="-122"/>
              </a:rPr>
              <a:t>第二层</a:t>
            </a:r>
            <a:r>
              <a:rPr lang="en-US" altLang="zh-CN" sz="2800" dirty="0">
                <a:ea typeface="宋体" panose="02010600030101010101" pitchFamily="2" charset="-122"/>
              </a:rPr>
              <a:t>: </a:t>
            </a:r>
            <a:r>
              <a:rPr lang="zh-CN" altLang="en-US" sz="2800" dirty="0">
                <a:ea typeface="宋体" panose="02010600030101010101" pitchFamily="2" charset="-122"/>
              </a:rPr>
              <a:t>完成</a:t>
            </a:r>
            <a:r>
              <a:rPr lang="zh-CN" altLang="en-US" sz="2800" dirty="0">
                <a:solidFill>
                  <a:srgbClr val="FF0000"/>
                </a:solidFill>
                <a:ea typeface="宋体" panose="02010600030101010101" pitchFamily="2" charset="-122"/>
              </a:rPr>
              <a:t>图元</a:t>
            </a:r>
            <a:r>
              <a:rPr lang="zh-CN" altLang="en-US" sz="2800" dirty="0">
                <a:ea typeface="宋体" panose="02010600030101010101" pitchFamily="2" charset="-122"/>
              </a:rPr>
              <a:t>的生成、</a:t>
            </a:r>
            <a:r>
              <a:rPr lang="zh-CN" altLang="en-US" sz="2800" dirty="0">
                <a:solidFill>
                  <a:srgbClr val="FF0000"/>
                </a:solidFill>
                <a:ea typeface="宋体" panose="02010600030101010101" pitchFamily="2" charset="-122"/>
              </a:rPr>
              <a:t>设备</a:t>
            </a:r>
            <a:r>
              <a:rPr lang="zh-CN" altLang="en-US" sz="2800" dirty="0">
                <a:ea typeface="宋体" panose="02010600030101010101" pitchFamily="2" charset="-122"/>
              </a:rPr>
              <a:t>的管理等功能，目前这个层次上的图形支撑软件已经</a:t>
            </a:r>
            <a:r>
              <a:rPr lang="zh-CN" altLang="en-US" sz="2800" dirty="0">
                <a:solidFill>
                  <a:srgbClr val="FF0000"/>
                </a:solidFill>
                <a:ea typeface="宋体" panose="02010600030101010101" pitchFamily="2" charset="-122"/>
              </a:rPr>
              <a:t>标准化</a:t>
            </a:r>
            <a:r>
              <a:rPr lang="zh-CN" altLang="en-US" sz="2800" dirty="0">
                <a:ea typeface="宋体" panose="02010600030101010101" pitchFamily="2" charset="-122"/>
              </a:rPr>
              <a:t>，如</a:t>
            </a:r>
            <a:r>
              <a:rPr lang="en-US" altLang="zh-CN" sz="2800" dirty="0">
                <a:ea typeface="宋体" panose="02010600030101010101" pitchFamily="2" charset="-122"/>
              </a:rPr>
              <a:t>GKS</a:t>
            </a:r>
            <a:r>
              <a:rPr lang="zh-CN" altLang="en-US" sz="2800" dirty="0">
                <a:ea typeface="宋体" panose="02010600030101010101" pitchFamily="2" charset="-122"/>
              </a:rPr>
              <a:t>、</a:t>
            </a:r>
            <a:r>
              <a:rPr lang="en-US" altLang="zh-CN" sz="2800" dirty="0">
                <a:ea typeface="宋体" panose="02010600030101010101" pitchFamily="2" charset="-122"/>
              </a:rPr>
              <a:t>PHIGS</a:t>
            </a:r>
            <a:r>
              <a:rPr lang="zh-CN" altLang="en-US" sz="2800" dirty="0">
                <a:ea typeface="宋体" panose="02010600030101010101" pitchFamily="2" charset="-122"/>
              </a:rPr>
              <a:t>、</a:t>
            </a:r>
            <a:r>
              <a:rPr lang="en-US" altLang="zh-CN" sz="2800" dirty="0">
                <a:ea typeface="宋体" panose="02010600030101010101" pitchFamily="2" charset="-122"/>
              </a:rPr>
              <a:t>CGI</a:t>
            </a:r>
            <a:r>
              <a:rPr lang="zh-CN" altLang="en-US" sz="2800" dirty="0">
                <a:ea typeface="宋体" panose="02010600030101010101" pitchFamily="2" charset="-122"/>
              </a:rPr>
              <a:t>等</a:t>
            </a:r>
            <a:endParaRPr lang="zh-CN" altLang="en-US" sz="2800" dirty="0">
              <a:ea typeface="宋体" panose="02010600030101010101" pitchFamily="2" charset="-122"/>
            </a:endParaRPr>
          </a:p>
          <a:p>
            <a:pPr eaLnBrk="1" hangingPunct="1"/>
            <a:r>
              <a:rPr lang="zh-CN" altLang="en-US" sz="2800" dirty="0">
                <a:ea typeface="宋体" panose="02010600030101010101" pitchFamily="2" charset="-122"/>
              </a:rPr>
              <a:t>第三层</a:t>
            </a:r>
            <a:r>
              <a:rPr lang="en-US" altLang="zh-CN" sz="2800" dirty="0">
                <a:ea typeface="宋体" panose="02010600030101010101" pitchFamily="2" charset="-122"/>
              </a:rPr>
              <a:t>: </a:t>
            </a:r>
            <a:r>
              <a:rPr lang="zh-CN" altLang="en-US" sz="2800" dirty="0">
                <a:ea typeface="宋体" panose="02010600030101010101" pitchFamily="2" charset="-122"/>
              </a:rPr>
              <a:t>建立图形</a:t>
            </a:r>
            <a:r>
              <a:rPr lang="zh-CN" altLang="en-US" sz="2800" dirty="0">
                <a:solidFill>
                  <a:srgbClr val="FF0000"/>
                </a:solidFill>
                <a:ea typeface="宋体" panose="02010600030101010101" pitchFamily="2" charset="-122"/>
              </a:rPr>
              <a:t>数据结构</a:t>
            </a:r>
            <a:r>
              <a:rPr lang="zh-CN" altLang="en-US" sz="2800" dirty="0">
                <a:ea typeface="宋体" panose="02010600030101010101" pitchFamily="2" charset="-122"/>
              </a:rPr>
              <a:t>，定义、修改和输出</a:t>
            </a:r>
            <a:r>
              <a:rPr lang="zh-CN" altLang="en-US" sz="2800" dirty="0">
                <a:solidFill>
                  <a:srgbClr val="FF0000"/>
                </a:solidFill>
                <a:ea typeface="宋体" panose="02010600030101010101" pitchFamily="2" charset="-122"/>
              </a:rPr>
              <a:t>图形</a:t>
            </a:r>
            <a:r>
              <a:rPr lang="zh-CN" altLang="en-US" sz="2800" dirty="0">
                <a:ea typeface="宋体" panose="02010600030101010101" pitchFamily="2" charset="-122"/>
              </a:rPr>
              <a:t>，它是面向用户，要求具有较强的</a:t>
            </a:r>
            <a:r>
              <a:rPr lang="zh-CN" altLang="en-US" sz="2800" dirty="0">
                <a:solidFill>
                  <a:srgbClr val="FF0000"/>
                </a:solidFill>
                <a:ea typeface="宋体" panose="02010600030101010101" pitchFamily="2" charset="-122"/>
              </a:rPr>
              <a:t>交互</a:t>
            </a:r>
            <a:r>
              <a:rPr lang="zh-CN" altLang="en-US" sz="2800" dirty="0">
                <a:ea typeface="宋体" panose="02010600030101010101" pitchFamily="2" charset="-122"/>
              </a:rPr>
              <a:t>功能，使用方便，风格好，概念明确，容易阅读，便于维护和移植，</a:t>
            </a:r>
            <a:r>
              <a:rPr lang="en-US" altLang="zh-CN" sz="2800" dirty="0">
                <a:ea typeface="宋体" panose="02010600030101010101" pitchFamily="2" charset="-122"/>
              </a:rPr>
              <a:t>OpenGL</a:t>
            </a:r>
            <a:r>
              <a:rPr lang="zh-CN" altLang="en-US" sz="2800" dirty="0">
                <a:ea typeface="宋体" panose="02010600030101010101" pitchFamily="2" charset="-122"/>
              </a:rPr>
              <a:t>、</a:t>
            </a:r>
            <a:r>
              <a:rPr lang="en-US" altLang="zh-CN" sz="2800" dirty="0">
                <a:ea typeface="宋体" panose="02010600030101010101" pitchFamily="2" charset="-122"/>
              </a:rPr>
              <a:t>DirectX</a:t>
            </a:r>
            <a:r>
              <a:rPr lang="zh-CN" altLang="en-US" sz="2800" dirty="0">
                <a:ea typeface="宋体" panose="02010600030101010101" pitchFamily="2" charset="-122"/>
              </a:rPr>
              <a:t>、</a:t>
            </a:r>
            <a:r>
              <a:rPr lang="en-US" altLang="zh-CN" sz="2800" dirty="0">
                <a:ea typeface="宋体" panose="02010600030101010101" pitchFamily="2" charset="-122"/>
              </a:rPr>
              <a:t>Java 3D</a:t>
            </a:r>
            <a:r>
              <a:rPr lang="zh-CN" altLang="en-US" sz="2800" dirty="0">
                <a:ea typeface="宋体" panose="02010600030101010101" pitchFamily="2" charset="-122"/>
              </a:rPr>
              <a:t>便属于这一层次</a:t>
            </a:r>
            <a:endParaRPr lang="en-US" altLang="zh-CN" sz="2800" dirty="0">
              <a:ea typeface="宋体" panose="02010600030101010101" pitchFamily="2" charset="-122"/>
            </a:endParaRPr>
          </a:p>
          <a:p>
            <a:pPr eaLnBrk="1" hangingPunct="1"/>
            <a:r>
              <a:rPr lang="zh-CN" altLang="en-US" sz="2800" dirty="0">
                <a:ea typeface="宋体" panose="02010600030101010101" pitchFamily="2" charset="-122"/>
              </a:rPr>
              <a:t>图形应用软件：</a:t>
            </a:r>
            <a:r>
              <a:rPr lang="en-US" altLang="zh-CN" sz="2800" dirty="0">
                <a:ea typeface="宋体" panose="02010600030101010101" pitchFamily="2" charset="-122"/>
              </a:rPr>
              <a:t>AutoCAD</a:t>
            </a:r>
            <a:r>
              <a:rPr lang="zh-CN" altLang="en-US" sz="2800" dirty="0">
                <a:ea typeface="宋体" panose="02010600030101010101" pitchFamily="2" charset="-122"/>
              </a:rPr>
              <a:t>、 </a:t>
            </a:r>
            <a:r>
              <a:rPr lang="en-US" altLang="zh-CN" sz="2800" dirty="0">
                <a:ea typeface="宋体" panose="02010600030101010101" pitchFamily="2" charset="-122"/>
              </a:rPr>
              <a:t>Maya</a:t>
            </a:r>
            <a:r>
              <a:rPr lang="zh-CN" altLang="en-US" sz="2800" dirty="0">
                <a:ea typeface="宋体" panose="02010600030101010101" pitchFamily="2" charset="-122"/>
              </a:rPr>
              <a:t>等。</a:t>
            </a:r>
            <a:endParaRPr lang="zh-CN" altLang="en-US" sz="2800" dirty="0">
              <a:ea typeface="宋体" panose="02010600030101010101" pitchFamily="2" charset="-122"/>
            </a:endParaRPr>
          </a:p>
        </p:txBody>
      </p:sp>
      <p:sp>
        <p:nvSpPr>
          <p:cNvPr id="37895"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E1BF395A-9353-4AFF-ACFF-C50B37331FF5}"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990">
                                            <p:txEl>
                                              <p:pRg st="0" end="0"/>
                                            </p:txEl>
                                          </p:spTgt>
                                        </p:tgtEl>
                                        <p:attrNameLst>
                                          <p:attrName>style.visibility</p:attrName>
                                        </p:attrNameLst>
                                      </p:cBhvr>
                                      <p:to>
                                        <p:strVal val="visible"/>
                                      </p:to>
                                    </p:set>
                                    <p:animEffect transition="in" filter="blinds(horizontal)">
                                      <p:cBhvr>
                                        <p:cTn id="7" dur="500"/>
                                        <p:tgtEl>
                                          <p:spTgt spid="419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990">
                                            <p:txEl>
                                              <p:pRg st="1" end="1"/>
                                            </p:txEl>
                                          </p:spTgt>
                                        </p:tgtEl>
                                        <p:attrNameLst>
                                          <p:attrName>style.visibility</p:attrName>
                                        </p:attrNameLst>
                                      </p:cBhvr>
                                      <p:to>
                                        <p:strVal val="visible"/>
                                      </p:to>
                                    </p:set>
                                    <p:animEffect transition="in" filter="blinds(horizontal)">
                                      <p:cBhvr>
                                        <p:cTn id="12" dur="500"/>
                                        <p:tgtEl>
                                          <p:spTgt spid="4199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1990">
                                            <p:txEl>
                                              <p:pRg st="2" end="2"/>
                                            </p:txEl>
                                          </p:spTgt>
                                        </p:tgtEl>
                                        <p:attrNameLst>
                                          <p:attrName>style.visibility</p:attrName>
                                        </p:attrNameLst>
                                      </p:cBhvr>
                                      <p:to>
                                        <p:strVal val="visible"/>
                                      </p:to>
                                    </p:set>
                                    <p:animEffect transition="in" filter="blinds(horizontal)">
                                      <p:cBhvr>
                                        <p:cTn id="17" dur="500"/>
                                        <p:tgtEl>
                                          <p:spTgt spid="4199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1990">
                                            <p:txEl>
                                              <p:pRg st="3" end="3"/>
                                            </p:txEl>
                                          </p:spTgt>
                                        </p:tgtEl>
                                        <p:attrNameLst>
                                          <p:attrName>style.visibility</p:attrName>
                                        </p:attrNameLst>
                                      </p:cBhvr>
                                      <p:to>
                                        <p:strVal val="visible"/>
                                      </p:to>
                                    </p:set>
                                    <p:animEffect transition="in" filter="blinds(horizontal)">
                                      <p:cBhvr>
                                        <p:cTn id="22" dur="500"/>
                                        <p:tgtEl>
                                          <p:spTgt spid="4199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3"/>
          <p:cNvSpPr>
            <a:spLocks noGrp="1"/>
          </p:cNvSpPr>
          <p:nvPr>
            <p:ph type="sldNum" sz="quarter" idx="12"/>
          </p:nvPr>
        </p:nvSpPr>
        <p:spPr>
          <a:xfrm>
            <a:off x="7010400" y="6428852"/>
            <a:ext cx="21336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1" eaLnBrk="1" hangingPunct="1">
              <a:spcBef>
                <a:spcPct val="0"/>
              </a:spcBef>
              <a:buFontTx/>
              <a:buNone/>
            </a:pPr>
            <a:fld id="{FCF66345-9016-4EA0-99ED-E4315187EF05}" type="slidenum">
              <a:rPr lang="es-ES" altLang="zh-CN" sz="1800">
                <a:latin typeface="Arial" panose="020B0604020202020204" pitchFamily="34" charset="0"/>
              </a:rPr>
            </a:fld>
            <a:endParaRPr lang="es-ES" altLang="zh-CN" sz="1800" dirty="0">
              <a:latin typeface="Arial" panose="020B0604020202020204" pitchFamily="34" charset="0"/>
            </a:endParaRPr>
          </a:p>
        </p:txBody>
      </p:sp>
      <p:sp>
        <p:nvSpPr>
          <p:cNvPr id="36867" name="Rectangle 1026"/>
          <p:cNvSpPr>
            <a:spLocks noGrp="1" noChangeArrowheads="1"/>
          </p:cNvSpPr>
          <p:nvPr>
            <p:ph type="title"/>
          </p:nvPr>
        </p:nvSpPr>
        <p:spPr>
          <a:xfrm>
            <a:off x="1371600" y="228600"/>
            <a:ext cx="7086600" cy="838200"/>
          </a:xfrm>
        </p:spPr>
        <p:txBody>
          <a:bodyPr/>
          <a:lstStyle/>
          <a:p>
            <a:r>
              <a:rPr lang="zh-CN" altLang="en-US">
                <a:ea typeface="宋体" panose="02010600030101010101" pitchFamily="2" charset="-122"/>
              </a:rPr>
              <a:t>应用程序接口</a:t>
            </a:r>
            <a:r>
              <a:rPr lang="en-US" altLang="zh-CN">
                <a:ea typeface="宋体" panose="02010600030101010101" pitchFamily="2" charset="-122"/>
              </a:rPr>
              <a:t>API</a:t>
            </a:r>
            <a:endParaRPr lang="en-US" altLang="zh-CN">
              <a:ea typeface="宋体" panose="02010600030101010101" pitchFamily="2" charset="-122"/>
            </a:endParaRPr>
          </a:p>
        </p:txBody>
      </p:sp>
      <p:sp>
        <p:nvSpPr>
          <p:cNvPr id="48131" name="Rectangle 1027"/>
          <p:cNvSpPr>
            <a:spLocks noGrp="1" noChangeArrowheads="1"/>
          </p:cNvSpPr>
          <p:nvPr>
            <p:ph type="body" idx="1"/>
          </p:nvPr>
        </p:nvSpPr>
        <p:spPr/>
        <p:txBody>
          <a:bodyPr/>
          <a:lstStyle/>
          <a:p>
            <a:r>
              <a:rPr lang="zh-CN" altLang="en-US">
                <a:ea typeface="宋体" panose="02010600030101010101" pitchFamily="2" charset="-122"/>
              </a:rPr>
              <a:t>应用程序接口</a:t>
            </a:r>
            <a:r>
              <a:rPr lang="en-US" altLang="zh-CN">
                <a:ea typeface="宋体" panose="02010600030101010101" pitchFamily="2" charset="-122"/>
              </a:rPr>
              <a:t>API</a:t>
            </a:r>
            <a:r>
              <a:rPr lang="zh-CN" altLang="en-US">
                <a:ea typeface="宋体" panose="02010600030101010101" pitchFamily="2" charset="-122"/>
              </a:rPr>
              <a:t>：图形库</a:t>
            </a:r>
            <a:endParaRPr lang="en-US" altLang="zh-CN">
              <a:ea typeface="宋体" panose="02010600030101010101" pitchFamily="2" charset="-122"/>
            </a:endParaRPr>
          </a:p>
          <a:p>
            <a:r>
              <a:rPr lang="zh-CN" altLang="en-US">
                <a:ea typeface="宋体" panose="02010600030101010101" pitchFamily="2" charset="-122"/>
              </a:rPr>
              <a:t>典型</a:t>
            </a:r>
            <a:r>
              <a:rPr lang="en-US" altLang="zh-CN">
                <a:ea typeface="宋体" panose="02010600030101010101" pitchFamily="2" charset="-122"/>
              </a:rPr>
              <a:t>API</a:t>
            </a:r>
            <a:r>
              <a:rPr lang="zh-CN" altLang="en-US">
                <a:ea typeface="宋体" panose="02010600030101010101" pitchFamily="2" charset="-122"/>
              </a:rPr>
              <a:t>：</a:t>
            </a:r>
            <a:r>
              <a:rPr lang="en-US" altLang="zh-CN">
                <a:ea typeface="宋体" panose="02010600030101010101" pitchFamily="2" charset="-122"/>
              </a:rPr>
              <a:t>OpenGL</a:t>
            </a:r>
            <a:r>
              <a:rPr lang="zh-CN" altLang="en-US">
                <a:ea typeface="宋体" panose="02010600030101010101" pitchFamily="2" charset="-122"/>
              </a:rPr>
              <a:t>、</a:t>
            </a:r>
            <a:r>
              <a:rPr lang="en-US" altLang="zh-CN">
                <a:ea typeface="宋体" panose="02010600030101010101" pitchFamily="2" charset="-122"/>
              </a:rPr>
              <a:t>Direct3D</a:t>
            </a:r>
            <a:endParaRPr lang="en-US" altLang="zh-CN">
              <a:ea typeface="宋体" panose="02010600030101010101" pitchFamily="2" charset="-122"/>
            </a:endParaRPr>
          </a:p>
          <a:p>
            <a:r>
              <a:rPr lang="zh-CN" altLang="en-US">
                <a:ea typeface="宋体" panose="02010600030101010101" pitchFamily="2" charset="-122"/>
              </a:rPr>
              <a:t>有</a:t>
            </a:r>
            <a:r>
              <a:rPr lang="en-US" altLang="zh-CN">
                <a:ea typeface="宋体" panose="02010600030101010101" pitchFamily="2" charset="-122"/>
              </a:rPr>
              <a:t>AutoCAD</a:t>
            </a:r>
            <a:r>
              <a:rPr lang="zh-CN" altLang="en-US">
                <a:ea typeface="宋体" panose="02010600030101010101" pitchFamily="2" charset="-122"/>
              </a:rPr>
              <a:t>，为何还需</a:t>
            </a:r>
            <a:r>
              <a:rPr lang="en-US" altLang="zh-CN">
                <a:ea typeface="宋体" panose="02010600030101010101" pitchFamily="2" charset="-122"/>
              </a:rPr>
              <a:t>API</a:t>
            </a:r>
            <a:r>
              <a:rPr lang="zh-CN" altLang="en-US">
                <a:ea typeface="宋体" panose="02010600030101010101" pitchFamily="2" charset="-122"/>
              </a:rPr>
              <a:t>？</a:t>
            </a:r>
            <a:endParaRPr lang="en-US" altLang="zh-CN">
              <a:ea typeface="宋体" panose="02010600030101010101" pitchFamily="2" charset="-122"/>
            </a:endParaRPr>
          </a:p>
        </p:txBody>
      </p:sp>
      <p:pic>
        <p:nvPicPr>
          <p:cNvPr id="48133" name="Picture 1029" descr="ftp://ftp.cs.unm.edu/pub/angel/BOOK/SECOND_EDITION/FIGURES/JPEG/an01f22.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7538" y="3429000"/>
            <a:ext cx="7956550" cy="273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0" name="日期占位符 1"/>
          <p:cNvSpPr>
            <a:spLocks noGrp="1"/>
          </p:cNvSpPr>
          <p:nvPr>
            <p:ph type="dt" sz="quarter" idx="10"/>
          </p:nvPr>
        </p:nvSpPr>
        <p:spPr>
          <a:xfrm>
            <a:off x="457200" y="6461125"/>
            <a:ext cx="21336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36622F4-5A0B-4E0A-A82F-15C2422BD355}" type="datetime10">
              <a:rPr lang="zh-CN" altLang="en-US" sz="1400" smtClean="0">
                <a:latin typeface="Arial" panose="020B0604020202020204" pitchFamily="34" charset="0"/>
              </a:rPr>
            </a:fld>
            <a:endParaRPr lang="en-US" altLang="zh-CN" sz="14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Effect transition="in" filter="fade">
                                      <p:cBhvr>
                                        <p:cTn id="7" dur="500"/>
                                        <p:tgtEl>
                                          <p:spTgt spid="481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133"/>
                                        </p:tgtEl>
                                        <p:attrNameLst>
                                          <p:attrName>style.visibility</p:attrName>
                                        </p:attrNameLst>
                                      </p:cBhvr>
                                      <p:to>
                                        <p:strVal val="visible"/>
                                      </p:to>
                                    </p:set>
                                    <p:animEffect transition="in" filter="fade">
                                      <p:cBhvr>
                                        <p:cTn id="12" dur="500"/>
                                        <p:tgtEl>
                                          <p:spTgt spid="481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8131">
                                            <p:txEl>
                                              <p:pRg st="1" end="1"/>
                                            </p:txEl>
                                          </p:spTgt>
                                        </p:tgtEl>
                                        <p:attrNameLst>
                                          <p:attrName>style.visibility</p:attrName>
                                        </p:attrNameLst>
                                      </p:cBhvr>
                                      <p:to>
                                        <p:strVal val="visible"/>
                                      </p:to>
                                    </p:set>
                                    <p:animEffect transition="in" filter="fade">
                                      <p:cBhvr>
                                        <p:cTn id="17" dur="500"/>
                                        <p:tgtEl>
                                          <p:spTgt spid="4813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8131">
                                            <p:txEl>
                                              <p:pRg st="2" end="2"/>
                                            </p:txEl>
                                          </p:spTgt>
                                        </p:tgtEl>
                                        <p:attrNameLst>
                                          <p:attrName>style.visibility</p:attrName>
                                        </p:attrNameLst>
                                      </p:cBhvr>
                                      <p:to>
                                        <p:strVal val="visible"/>
                                      </p:to>
                                    </p:set>
                                    <p:animEffect transition="in" filter="fade">
                                      <p:cBhvr>
                                        <p:cTn id="22" dur="500"/>
                                        <p:tgtEl>
                                          <p:spTgt spid="481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C370C75-752E-4704-9CDF-361FB70C16FC}" type="slidenum">
              <a:rPr lang="zh-CN" altLang="en-US" sz="1400">
                <a:latin typeface="Arial" panose="020B0604020202020204" pitchFamily="34" charset="0"/>
              </a:rPr>
            </a:fld>
            <a:endParaRPr lang="en-US" altLang="zh-CN" sz="1400">
              <a:latin typeface="Arial" panose="020B0604020202020204" pitchFamily="34" charset="0"/>
            </a:endParaRPr>
          </a:p>
        </p:txBody>
      </p:sp>
      <p:sp>
        <p:nvSpPr>
          <p:cNvPr id="4" name="日期占位符 3"/>
          <p:cNvSpPr txBox="1">
            <a:spLocks noGrp="1"/>
          </p:cNvSpPr>
          <p:nvPr/>
        </p:nvSpPr>
        <p:spPr bwMode="auto">
          <a:xfrm>
            <a:off x="1295400" y="6472779"/>
            <a:ext cx="2133600" cy="320675"/>
          </a:xfrm>
          <a:prstGeom prst="rect">
            <a:avLst/>
          </a:prstGeom>
          <a:noFill/>
          <a:ln>
            <a:miter lim="800000"/>
          </a:ln>
        </p:spPr>
        <p:txBody>
          <a:bodyPr/>
          <a:lstStyle/>
          <a:p>
            <a:pPr eaLnBrk="1" hangingPunct="1">
              <a:defRPr/>
            </a:pPr>
            <a:fld id="{DCC35AF2-C302-434F-8354-A85171DD191F}" type="datetime1">
              <a:rPr lang="zh-CN" altLang="en-US" sz="1400">
                <a:latin typeface="+mj-lt"/>
                <a:ea typeface="宋体" panose="02010600030101010101" pitchFamily="2" charset="-122"/>
              </a:rPr>
            </a:fld>
            <a:endParaRPr lang="en-US" altLang="zh-CN" sz="1400" dirty="0">
              <a:latin typeface="+mj-lt"/>
              <a:ea typeface="宋体" panose="02010600030101010101" pitchFamily="2" charset="-122"/>
            </a:endParaRPr>
          </a:p>
        </p:txBody>
      </p:sp>
      <p:sp>
        <p:nvSpPr>
          <p:cNvPr id="37892" name="灯片编号占位符 5"/>
          <p:cNvSpPr txBox="1">
            <a:spLocks noGrp="1" noChangeArrowheads="1"/>
          </p:cNvSpPr>
          <p:nvPr/>
        </p:nvSpPr>
        <p:spPr bwMode="auto">
          <a:xfrm>
            <a:off x="6553200" y="6461125"/>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pPr>
            <a:fld id="{16D5D61F-96C9-4E6B-97D0-06C7963D8E8C}" type="slidenum">
              <a:rPr lang="zh-CN" altLang="en-US" sz="1400">
                <a:latin typeface="Arial" panose="020B0604020202020204" pitchFamily="34" charset="0"/>
                <a:ea typeface="宋体" panose="02010600030101010101" pitchFamily="2" charset="-122"/>
              </a:rPr>
            </a:fld>
            <a:endParaRPr lang="en-US" altLang="zh-CN" sz="1400">
              <a:latin typeface="Arial" panose="020B0604020202020204" pitchFamily="34" charset="0"/>
              <a:ea typeface="宋体" panose="02010600030101010101" pitchFamily="2" charset="-122"/>
            </a:endParaRPr>
          </a:p>
        </p:txBody>
      </p:sp>
      <p:sp>
        <p:nvSpPr>
          <p:cNvPr id="37893" name="Rectangle 2"/>
          <p:cNvSpPr>
            <a:spLocks noGrp="1" noChangeArrowheads="1"/>
          </p:cNvSpPr>
          <p:nvPr>
            <p:ph type="title" idx="4294967295"/>
          </p:nvPr>
        </p:nvSpPr>
        <p:spPr/>
        <p:txBody>
          <a:bodyPr/>
          <a:lstStyle/>
          <a:p>
            <a:pPr eaLnBrk="1" hangingPunct="1"/>
            <a:r>
              <a:rPr lang="en-US" altLang="zh-CN">
                <a:ea typeface="宋体" panose="02010600030101010101" pitchFamily="2" charset="-122"/>
              </a:rPr>
              <a:t>Why </a:t>
            </a:r>
            <a:r>
              <a:rPr lang="zh-CN" altLang="en-US">
                <a:ea typeface="宋体" panose="02010600030101010101" pitchFamily="2" charset="-122"/>
              </a:rPr>
              <a:t>图形</a:t>
            </a:r>
            <a:r>
              <a:rPr lang="en-US" altLang="zh-CN">
                <a:ea typeface="宋体" panose="02010600030101010101" pitchFamily="2" charset="-122"/>
              </a:rPr>
              <a:t>API</a:t>
            </a:r>
            <a:endParaRPr lang="zh-CN" altLang="en-US">
              <a:ea typeface="宋体" panose="02010600030101010101" pitchFamily="2" charset="-122"/>
            </a:endParaRPr>
          </a:p>
        </p:txBody>
      </p:sp>
      <p:sp>
        <p:nvSpPr>
          <p:cNvPr id="41990" name="Rectangle 3"/>
          <p:cNvSpPr>
            <a:spLocks noGrp="1" noChangeArrowheads="1"/>
          </p:cNvSpPr>
          <p:nvPr>
            <p:ph type="body" idx="4294967295"/>
          </p:nvPr>
        </p:nvSpPr>
        <p:spPr>
          <a:xfrm>
            <a:off x="228600" y="1143000"/>
            <a:ext cx="8763000" cy="5181600"/>
          </a:xfrm>
        </p:spPr>
        <p:txBody>
          <a:bodyPr/>
          <a:lstStyle/>
          <a:p>
            <a:pPr eaLnBrk="1" hangingPunct="1"/>
            <a:r>
              <a:rPr lang="zh-CN" altLang="en-US">
                <a:ea typeface="宋体" panose="02010600030101010101" pitchFamily="2" charset="-122"/>
              </a:rPr>
              <a:t>绘图程序足够？</a:t>
            </a:r>
            <a:endParaRPr lang="en-US" altLang="zh-CN">
              <a:ea typeface="宋体" panose="02010600030101010101" pitchFamily="2" charset="-122"/>
            </a:endParaRPr>
          </a:p>
          <a:p>
            <a:pPr eaLnBrk="1" hangingPunct="1"/>
            <a:r>
              <a:rPr lang="zh-CN" altLang="en-US">
                <a:ea typeface="宋体" panose="02010600030101010101" pitchFamily="2" charset="-122"/>
              </a:rPr>
              <a:t>复杂图形</a:t>
            </a:r>
            <a:endParaRPr lang="en-US" altLang="zh-CN">
              <a:ea typeface="宋体" panose="02010600030101010101" pitchFamily="2" charset="-122"/>
            </a:endParaRPr>
          </a:p>
          <a:p>
            <a:pPr eaLnBrk="1" hangingPunct="1"/>
            <a:r>
              <a:rPr lang="zh-CN" altLang="en-US">
                <a:ea typeface="宋体" panose="02010600030101010101" pitchFamily="2" charset="-122"/>
              </a:rPr>
              <a:t>自定义逻辑</a:t>
            </a:r>
            <a:endParaRPr lang="zh-CN" altLang="en-US">
              <a:ea typeface="宋体" panose="02010600030101010101" pitchFamily="2" charset="-122"/>
            </a:endParaRPr>
          </a:p>
        </p:txBody>
      </p:sp>
      <p:sp>
        <p:nvSpPr>
          <p:cNvPr id="37895"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89BDFFB-1A23-4DF4-B993-552B19EB2861}" type="datetime10">
              <a:rPr lang="zh-CN" altLang="en-US" sz="1400" smtClean="0">
                <a:latin typeface="Arial" panose="020B0604020202020204" pitchFamily="34" charset="0"/>
              </a:rPr>
            </a:fld>
            <a:endParaRPr lang="en-US" altLang="zh-CN" sz="1400">
              <a:latin typeface="Arial" panose="020B0604020202020204" pitchFamily="34" charset="0"/>
            </a:endParaRPr>
          </a:p>
        </p:txBody>
      </p:sp>
      <p:pic>
        <p:nvPicPr>
          <p:cNvPr id="63490" name="Picture 2" descr="http://img610.ph.126.net/hPQcrMQdYb07prwZt28mjw==/1951184538559916247.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3011488"/>
            <a:ext cx="39624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1" name="Picture 3"/>
          <p:cNvPicPr>
            <a:picLocks noChangeAspect="1" noChangeArrowheads="1"/>
          </p:cNvPicPr>
          <p:nvPr/>
        </p:nvPicPr>
        <p:blipFill>
          <a:blip r:embed="rId2">
            <a:extLst>
              <a:ext uri="{28A0092B-C50C-407E-A947-70E740481C1C}">
                <a14:useLocalDpi xmlns:a14="http://schemas.microsoft.com/office/drawing/2010/main" val="0"/>
              </a:ext>
            </a:extLst>
          </a:blip>
          <a:srcRect l="32158"/>
          <a:stretch>
            <a:fillRect/>
          </a:stretch>
        </p:blipFill>
        <p:spPr bwMode="auto">
          <a:xfrm>
            <a:off x="4576763" y="2133600"/>
            <a:ext cx="4303712"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990">
                                            <p:txEl>
                                              <p:pRg st="0" end="0"/>
                                            </p:txEl>
                                          </p:spTgt>
                                        </p:tgtEl>
                                        <p:attrNameLst>
                                          <p:attrName>style.visibility</p:attrName>
                                        </p:attrNameLst>
                                      </p:cBhvr>
                                      <p:to>
                                        <p:strVal val="visible"/>
                                      </p:to>
                                    </p:set>
                                    <p:animEffect transition="in" filter="blinds(horizontal)">
                                      <p:cBhvr>
                                        <p:cTn id="7" dur="500"/>
                                        <p:tgtEl>
                                          <p:spTgt spid="419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3490"/>
                                        </p:tgtEl>
                                        <p:attrNameLst>
                                          <p:attrName>style.visibility</p:attrName>
                                        </p:attrNameLst>
                                      </p:cBhvr>
                                      <p:to>
                                        <p:strVal val="visible"/>
                                      </p:to>
                                    </p:set>
                                    <p:animEffect transition="in" filter="fade">
                                      <p:cBhvr>
                                        <p:cTn id="12" dur="500"/>
                                        <p:tgtEl>
                                          <p:spTgt spid="6349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1990">
                                            <p:txEl>
                                              <p:pRg st="1" end="1"/>
                                            </p:txEl>
                                          </p:spTgt>
                                        </p:tgtEl>
                                        <p:attrNameLst>
                                          <p:attrName>style.visibility</p:attrName>
                                        </p:attrNameLst>
                                      </p:cBhvr>
                                      <p:to>
                                        <p:strVal val="visible"/>
                                      </p:to>
                                    </p:set>
                                    <p:animEffect transition="in" filter="blinds(horizontal)">
                                      <p:cBhvr>
                                        <p:cTn id="17" dur="500"/>
                                        <p:tgtEl>
                                          <p:spTgt spid="4199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3491"/>
                                        </p:tgtEl>
                                        <p:attrNameLst>
                                          <p:attrName>style.visibility</p:attrName>
                                        </p:attrNameLst>
                                      </p:cBhvr>
                                      <p:to>
                                        <p:strVal val="visible"/>
                                      </p:to>
                                    </p:set>
                                    <p:animEffect transition="in" filter="fade">
                                      <p:cBhvr>
                                        <p:cTn id="22" dur="500"/>
                                        <p:tgtEl>
                                          <p:spTgt spid="6349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1990">
                                            <p:txEl>
                                              <p:pRg st="2" end="2"/>
                                            </p:txEl>
                                          </p:spTgt>
                                        </p:tgtEl>
                                        <p:attrNameLst>
                                          <p:attrName>style.visibility</p:attrName>
                                        </p:attrNameLst>
                                      </p:cBhvr>
                                      <p:to>
                                        <p:strVal val="visible"/>
                                      </p:to>
                                    </p:set>
                                    <p:animEffect transition="in" filter="blinds(horizontal)">
                                      <p:cBhvr>
                                        <p:cTn id="27" dur="500"/>
                                        <p:tgtEl>
                                          <p:spTgt spid="4199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en-US" altLang="zh-CN" dirty="0">
                <a:ea typeface="宋体" panose="02010600030101010101" pitchFamily="2" charset="-122"/>
              </a:rPr>
              <a:t>Draw with GDI</a:t>
            </a:r>
            <a:r>
              <a:rPr lang="en-US" altLang="zh-CN" sz="1800" dirty="0">
                <a:ea typeface="宋体" panose="02010600030101010101" pitchFamily="2" charset="-122"/>
              </a:rPr>
              <a:t>(Graphics Device Interface)</a:t>
            </a:r>
            <a:endParaRPr lang="zh-CN" altLang="en-US" sz="1800" dirty="0">
              <a:ea typeface="宋体" panose="02010600030101010101" pitchFamily="2" charset="-122"/>
            </a:endParaRPr>
          </a:p>
        </p:txBody>
      </p:sp>
      <p:sp>
        <p:nvSpPr>
          <p:cNvPr id="38915" name="内容占位符 2"/>
          <p:cNvSpPr>
            <a:spLocks noGrp="1"/>
          </p:cNvSpPr>
          <p:nvPr>
            <p:ph idx="1"/>
          </p:nvPr>
        </p:nvSpPr>
        <p:spPr>
          <a:xfrm>
            <a:off x="304800" y="1219200"/>
            <a:ext cx="8001000" cy="5181600"/>
          </a:xfrm>
        </p:spPr>
        <p:txBody>
          <a:bodyPr/>
          <a:lstStyle/>
          <a:p>
            <a:pPr>
              <a:buFontTx/>
              <a:buNone/>
              <a:defRPr/>
            </a:pPr>
            <a:r>
              <a:rPr lang="en-US" altLang="zh-CN" sz="2400" dirty="0">
                <a:ea typeface="宋体" panose="02010600030101010101" pitchFamily="2" charset="-122"/>
              </a:rPr>
              <a:t>	RECT </a:t>
            </a:r>
            <a:r>
              <a:rPr lang="en-US" altLang="zh-CN" sz="2400" dirty="0" err="1">
                <a:ea typeface="宋体" panose="02010600030101010101" pitchFamily="2" charset="-122"/>
              </a:rPr>
              <a:t>rc</a:t>
            </a:r>
            <a:r>
              <a:rPr lang="en-US" altLang="zh-CN" sz="2400" dirty="0">
                <a:ea typeface="宋体" panose="02010600030101010101" pitchFamily="2" charset="-122"/>
              </a:rPr>
              <a:t>;</a:t>
            </a:r>
            <a:endParaRPr lang="en-US" altLang="zh-CN" sz="2400" dirty="0">
              <a:ea typeface="宋体" panose="02010600030101010101" pitchFamily="2" charset="-122"/>
            </a:endParaRPr>
          </a:p>
          <a:p>
            <a:pPr>
              <a:buFontTx/>
              <a:buNone/>
              <a:defRPr/>
            </a:pPr>
            <a:r>
              <a:rPr lang="en-US" altLang="zh-CN" sz="2400" dirty="0">
                <a:ea typeface="宋体" panose="02010600030101010101" pitchFamily="2" charset="-122"/>
              </a:rPr>
              <a:t>	</a:t>
            </a:r>
            <a:r>
              <a:rPr lang="en-US" altLang="zh-CN" sz="2400" dirty="0" err="1">
                <a:ea typeface="宋体" panose="02010600030101010101" pitchFamily="2" charset="-122"/>
              </a:rPr>
              <a:t>GetClientRect</a:t>
            </a:r>
            <a:r>
              <a:rPr lang="en-US" altLang="zh-CN" sz="2400" dirty="0">
                <a:ea typeface="宋体" panose="02010600030101010101" pitchFamily="2" charset="-122"/>
              </a:rPr>
              <a:t>(</a:t>
            </a:r>
            <a:r>
              <a:rPr lang="en-US" altLang="zh-CN" sz="2400" dirty="0" err="1">
                <a:ea typeface="宋体" panose="02010600030101010101" pitchFamily="2" charset="-122"/>
              </a:rPr>
              <a:t>hwnd</a:t>
            </a:r>
            <a:r>
              <a:rPr lang="en-US" altLang="zh-CN" sz="2400" dirty="0">
                <a:ea typeface="宋体" panose="02010600030101010101" pitchFamily="2" charset="-122"/>
              </a:rPr>
              <a:t>, &amp;</a:t>
            </a:r>
            <a:r>
              <a:rPr lang="en-US" altLang="zh-CN" sz="2400" dirty="0" err="1">
                <a:ea typeface="宋体" panose="02010600030101010101" pitchFamily="2" charset="-122"/>
              </a:rPr>
              <a:t>rc</a:t>
            </a:r>
            <a:r>
              <a:rPr lang="en-US" altLang="zh-CN" sz="2400" dirty="0">
                <a:ea typeface="宋体" panose="02010600030101010101" pitchFamily="2" charset="-122"/>
              </a:rPr>
              <a:t>); </a:t>
            </a:r>
            <a:r>
              <a:rPr lang="en-US" altLang="zh-CN" sz="1600" dirty="0">
                <a:ea typeface="宋体" panose="02010600030101010101" pitchFamily="2" charset="-122"/>
              </a:rPr>
              <a:t>#</a:t>
            </a:r>
            <a:r>
              <a:rPr lang="zh-CN" altLang="en-US" sz="1600" dirty="0">
                <a:ea typeface="宋体" panose="02010600030101010101" pitchFamily="2" charset="-122"/>
              </a:rPr>
              <a:t>获取窗口客户区域</a:t>
            </a:r>
            <a:endParaRPr lang="en-US" altLang="zh-CN" sz="1600" dirty="0">
              <a:ea typeface="宋体" panose="02010600030101010101" pitchFamily="2" charset="-122"/>
            </a:endParaRPr>
          </a:p>
          <a:p>
            <a:pPr marL="271780" indent="-271780">
              <a:buFontTx/>
              <a:buNone/>
              <a:defRPr/>
            </a:pPr>
            <a:r>
              <a:rPr lang="en-US" altLang="zh-CN" sz="2400" dirty="0">
                <a:ea typeface="宋体" panose="02010600030101010101" pitchFamily="2" charset="-122"/>
              </a:rPr>
              <a:t>	</a:t>
            </a:r>
            <a:r>
              <a:rPr lang="en-US" altLang="zh-CN" sz="2400" dirty="0" err="1">
                <a:ea typeface="宋体" panose="02010600030101010101" pitchFamily="2" charset="-122"/>
              </a:rPr>
              <a:t>hdc</a:t>
            </a:r>
            <a:r>
              <a:rPr lang="en-US" altLang="zh-CN" sz="2400" dirty="0">
                <a:ea typeface="宋体" panose="02010600030101010101" pitchFamily="2" charset="-122"/>
              </a:rPr>
              <a:t> = </a:t>
            </a:r>
            <a:r>
              <a:rPr lang="en-US" altLang="zh-CN" sz="2400" dirty="0" err="1">
                <a:ea typeface="宋体" panose="02010600030101010101" pitchFamily="2" charset="-122"/>
              </a:rPr>
              <a:t>BeginPaint</a:t>
            </a:r>
            <a:r>
              <a:rPr lang="en-US" altLang="zh-CN" sz="2400" dirty="0">
                <a:ea typeface="宋体" panose="02010600030101010101" pitchFamily="2" charset="-122"/>
              </a:rPr>
              <a:t> (</a:t>
            </a:r>
            <a:r>
              <a:rPr lang="en-US" altLang="zh-CN" sz="2400" dirty="0" err="1">
                <a:ea typeface="宋体" panose="02010600030101010101" pitchFamily="2" charset="-122"/>
              </a:rPr>
              <a:t>hwnd</a:t>
            </a:r>
            <a:r>
              <a:rPr lang="en-US" altLang="zh-CN" sz="2400" dirty="0">
                <a:ea typeface="宋体" panose="02010600030101010101" pitchFamily="2" charset="-122"/>
              </a:rPr>
              <a:t>, &amp;</a:t>
            </a:r>
            <a:r>
              <a:rPr lang="en-US" altLang="zh-CN" sz="2400" dirty="0" err="1">
                <a:ea typeface="宋体" panose="02010600030101010101" pitchFamily="2" charset="-122"/>
              </a:rPr>
              <a:t>ps</a:t>
            </a:r>
            <a:r>
              <a:rPr lang="en-US" altLang="zh-CN" sz="2400" dirty="0">
                <a:ea typeface="宋体" panose="02010600030101010101" pitchFamily="2" charset="-122"/>
              </a:rPr>
              <a:t>) ; 		</a:t>
            </a:r>
            <a:endParaRPr lang="en-US" altLang="zh-CN" sz="2400" dirty="0">
              <a:ea typeface="宋体" panose="02010600030101010101" pitchFamily="2" charset="-122"/>
            </a:endParaRPr>
          </a:p>
          <a:p>
            <a:pPr>
              <a:buFontTx/>
              <a:buNone/>
              <a:defRPr/>
            </a:pPr>
            <a:r>
              <a:rPr lang="en-US" altLang="zh-CN" sz="2400" dirty="0">
                <a:ea typeface="宋体" panose="02010600030101010101" pitchFamily="2" charset="-122"/>
              </a:rPr>
              <a:t>	</a:t>
            </a:r>
            <a:r>
              <a:rPr lang="en-US" altLang="zh-CN" sz="2400" dirty="0" err="1">
                <a:solidFill>
                  <a:schemeClr val="accent2"/>
                </a:solidFill>
                <a:ea typeface="宋体" panose="02010600030101010101" pitchFamily="2" charset="-122"/>
              </a:rPr>
              <a:t>SetPixel</a:t>
            </a:r>
            <a:r>
              <a:rPr lang="en-US" altLang="zh-CN" sz="2400" dirty="0">
                <a:ea typeface="宋体" panose="02010600030101010101" pitchFamily="2" charset="-122"/>
              </a:rPr>
              <a:t> (</a:t>
            </a:r>
            <a:r>
              <a:rPr lang="en-US" altLang="zh-CN" sz="2400" dirty="0" err="1">
                <a:ea typeface="宋体" panose="02010600030101010101" pitchFamily="2" charset="-122"/>
              </a:rPr>
              <a:t>hdc</a:t>
            </a:r>
            <a:r>
              <a:rPr lang="en-US" altLang="zh-CN" sz="2400" dirty="0">
                <a:ea typeface="宋体" panose="02010600030101010101" pitchFamily="2" charset="-122"/>
              </a:rPr>
              <a:t>, 90, 45, (0,0,0)) ;</a:t>
            </a:r>
            <a:r>
              <a:rPr lang="en-US" altLang="zh-CN" sz="1600" dirty="0">
                <a:ea typeface="宋体" panose="02010600030101010101" pitchFamily="2" charset="-122"/>
              </a:rPr>
              <a:t> #</a:t>
            </a:r>
            <a:r>
              <a:rPr lang="zh-CN" altLang="en-US" sz="1600" dirty="0">
                <a:ea typeface="宋体" panose="02010600030101010101" pitchFamily="2" charset="-122"/>
              </a:rPr>
              <a:t>在坐标 </a:t>
            </a:r>
            <a:r>
              <a:rPr lang="en-US" altLang="zh-CN" sz="1600" dirty="0">
                <a:ea typeface="宋体" panose="02010600030101010101" pitchFamily="2" charset="-122"/>
              </a:rPr>
              <a:t>(90, 45)</a:t>
            </a:r>
            <a:r>
              <a:rPr lang="zh-CN" altLang="en-US" sz="1600" dirty="0">
                <a:ea typeface="宋体" panose="02010600030101010101" pitchFamily="2" charset="-122"/>
              </a:rPr>
              <a:t>绘制一个黑色像素</a:t>
            </a:r>
            <a:endParaRPr lang="en-US" altLang="zh-CN" sz="1100" dirty="0">
              <a:ea typeface="宋体" panose="02010600030101010101" pitchFamily="2" charset="-122"/>
            </a:endParaRPr>
          </a:p>
          <a:p>
            <a:pPr>
              <a:buFontTx/>
              <a:buNone/>
              <a:defRPr/>
            </a:pPr>
            <a:r>
              <a:rPr lang="en-US" altLang="zh-CN" sz="2400" dirty="0">
                <a:ea typeface="宋体" panose="02010600030101010101" pitchFamily="2" charset="-122"/>
              </a:rPr>
              <a:t>	for (x = 0 ; x &lt; </a:t>
            </a:r>
            <a:r>
              <a:rPr lang="en-US" altLang="zh-CN" sz="2400" dirty="0" err="1">
                <a:ea typeface="宋体" panose="02010600030101010101" pitchFamily="2" charset="-122"/>
              </a:rPr>
              <a:t>rc.right</a:t>
            </a:r>
            <a:r>
              <a:rPr lang="en-US" altLang="zh-CN" sz="2400" dirty="0">
                <a:ea typeface="宋体" panose="02010600030101010101" pitchFamily="2" charset="-122"/>
              </a:rPr>
              <a:t> ; x+= 100)	</a:t>
            </a:r>
            <a:r>
              <a:rPr lang="en-US" altLang="zh-CN" sz="1600" dirty="0">
                <a:ea typeface="宋体" panose="02010600030101010101" pitchFamily="2" charset="-122"/>
              </a:rPr>
              <a:t>#</a:t>
            </a:r>
            <a:r>
              <a:rPr lang="zh-CN" altLang="en-US" sz="1600" dirty="0">
                <a:ea typeface="宋体" panose="02010600030101010101" pitchFamily="2" charset="-122"/>
              </a:rPr>
              <a:t>绘制每隔 </a:t>
            </a:r>
            <a:r>
              <a:rPr lang="en-US" altLang="zh-CN" sz="1600" dirty="0">
                <a:ea typeface="宋体" panose="02010600030101010101" pitchFamily="2" charset="-122"/>
              </a:rPr>
              <a:t>100 </a:t>
            </a:r>
            <a:r>
              <a:rPr lang="zh-CN" altLang="en-US" sz="1600" dirty="0">
                <a:ea typeface="宋体" panose="02010600030101010101" pitchFamily="2" charset="-122"/>
              </a:rPr>
              <a:t>像素的垂直线</a:t>
            </a:r>
            <a:r>
              <a:rPr lang="en-US" altLang="zh-CN" sz="1600" dirty="0">
                <a:ea typeface="宋体" panose="02010600030101010101" pitchFamily="2" charset="-122"/>
              </a:rPr>
              <a:t>		</a:t>
            </a:r>
            <a:endParaRPr lang="en-US" altLang="zh-CN" sz="1600" dirty="0">
              <a:ea typeface="宋体" panose="02010600030101010101" pitchFamily="2" charset="-122"/>
            </a:endParaRPr>
          </a:p>
          <a:p>
            <a:pPr>
              <a:buFontTx/>
              <a:buNone/>
              <a:defRPr/>
            </a:pPr>
            <a:r>
              <a:rPr lang="en-US" altLang="zh-CN" sz="2400" dirty="0">
                <a:ea typeface="宋体" panose="02010600030101010101" pitchFamily="2" charset="-122"/>
              </a:rPr>
              <a:t>	{			</a:t>
            </a:r>
            <a:endParaRPr lang="en-US" altLang="zh-CN" sz="2400" dirty="0">
              <a:ea typeface="宋体" panose="02010600030101010101" pitchFamily="2" charset="-122"/>
            </a:endParaRPr>
          </a:p>
          <a:p>
            <a:pPr>
              <a:buFontTx/>
              <a:buNone/>
              <a:defRPr/>
            </a:pPr>
            <a:r>
              <a:rPr lang="en-US" altLang="zh-CN" sz="2400" dirty="0">
                <a:ea typeface="宋体" panose="02010600030101010101" pitchFamily="2" charset="-122"/>
              </a:rPr>
              <a:t>	    </a:t>
            </a:r>
            <a:r>
              <a:rPr lang="en-US" altLang="zh-CN" sz="2400" dirty="0" err="1">
                <a:ea typeface="宋体" panose="02010600030101010101" pitchFamily="2" charset="-122"/>
              </a:rPr>
              <a:t>MoveToEx</a:t>
            </a:r>
            <a:r>
              <a:rPr lang="en-US" altLang="zh-CN" sz="2400" dirty="0">
                <a:ea typeface="宋体" panose="02010600030101010101" pitchFamily="2" charset="-122"/>
              </a:rPr>
              <a:t> (</a:t>
            </a:r>
            <a:r>
              <a:rPr lang="en-US" altLang="zh-CN" sz="2400" dirty="0" err="1">
                <a:ea typeface="宋体" panose="02010600030101010101" pitchFamily="2" charset="-122"/>
              </a:rPr>
              <a:t>hdc</a:t>
            </a:r>
            <a:r>
              <a:rPr lang="en-US" altLang="zh-CN" sz="2400" dirty="0">
                <a:ea typeface="宋体" panose="02010600030101010101" pitchFamily="2" charset="-122"/>
              </a:rPr>
              <a:t>, x, 0, NULL) ;        </a:t>
            </a:r>
            <a:endParaRPr lang="en-US" altLang="zh-CN" sz="2400" dirty="0">
              <a:ea typeface="宋体" panose="02010600030101010101" pitchFamily="2" charset="-122"/>
            </a:endParaRPr>
          </a:p>
          <a:p>
            <a:pPr>
              <a:buFontTx/>
              <a:buNone/>
              <a:defRPr/>
            </a:pPr>
            <a:r>
              <a:rPr lang="en-US" altLang="zh-CN" sz="2400" dirty="0">
                <a:ea typeface="宋体" panose="02010600030101010101" pitchFamily="2" charset="-122"/>
              </a:rPr>
              <a:t>	    </a:t>
            </a:r>
            <a:r>
              <a:rPr lang="en-US" altLang="zh-CN" sz="2400" dirty="0" err="1">
                <a:ea typeface="宋体" panose="02010600030101010101" pitchFamily="2" charset="-122"/>
              </a:rPr>
              <a:t>LineTo</a:t>
            </a:r>
            <a:r>
              <a:rPr lang="en-US" altLang="zh-CN" sz="2400" dirty="0">
                <a:ea typeface="宋体" panose="02010600030101010101" pitchFamily="2" charset="-122"/>
              </a:rPr>
              <a:t> (</a:t>
            </a:r>
            <a:r>
              <a:rPr lang="en-US" altLang="zh-CN" sz="2400" dirty="0" err="1">
                <a:ea typeface="宋体" panose="02010600030101010101" pitchFamily="2" charset="-122"/>
              </a:rPr>
              <a:t>hdc</a:t>
            </a:r>
            <a:r>
              <a:rPr lang="en-US" altLang="zh-CN" sz="2400" dirty="0">
                <a:ea typeface="宋体" panose="02010600030101010101" pitchFamily="2" charset="-122"/>
              </a:rPr>
              <a:t>, x, </a:t>
            </a:r>
            <a:r>
              <a:rPr lang="en-US" altLang="zh-CN" sz="2400" dirty="0" err="1">
                <a:ea typeface="宋体" panose="02010600030101010101" pitchFamily="2" charset="-122"/>
              </a:rPr>
              <a:t>rc.bottom</a:t>
            </a:r>
            <a:r>
              <a:rPr lang="en-US" altLang="zh-CN" sz="2400" dirty="0">
                <a:ea typeface="宋体" panose="02010600030101010101" pitchFamily="2" charset="-122"/>
              </a:rPr>
              <a:t>) ;			</a:t>
            </a:r>
            <a:endParaRPr lang="en-US" altLang="zh-CN" sz="2400" dirty="0">
              <a:ea typeface="宋体" panose="02010600030101010101" pitchFamily="2" charset="-122"/>
            </a:endParaRPr>
          </a:p>
          <a:p>
            <a:pPr>
              <a:buFontTx/>
              <a:buNone/>
              <a:defRPr/>
            </a:pPr>
            <a:r>
              <a:rPr lang="en-US" altLang="zh-CN" sz="2400" dirty="0">
                <a:ea typeface="宋体" panose="02010600030101010101" pitchFamily="2" charset="-122"/>
              </a:rPr>
              <a:t>	}        </a:t>
            </a:r>
            <a:endParaRPr lang="en-US" altLang="zh-CN" sz="2400" dirty="0">
              <a:ea typeface="宋体" panose="02010600030101010101" pitchFamily="2" charset="-122"/>
            </a:endParaRPr>
          </a:p>
          <a:p>
            <a:pPr>
              <a:buFontTx/>
              <a:buNone/>
              <a:defRPr/>
            </a:pPr>
            <a:r>
              <a:rPr lang="en-US" altLang="zh-CN" sz="2400" dirty="0">
                <a:ea typeface="宋体" panose="02010600030101010101" pitchFamily="2" charset="-122"/>
              </a:rPr>
              <a:t>	</a:t>
            </a:r>
            <a:r>
              <a:rPr lang="en-US" altLang="zh-CN" sz="2400" dirty="0" err="1">
                <a:ea typeface="宋体" panose="02010600030101010101" pitchFamily="2" charset="-122"/>
              </a:rPr>
              <a:t>EndPaint</a:t>
            </a:r>
            <a:r>
              <a:rPr lang="en-US" altLang="zh-CN" sz="2400" dirty="0">
                <a:ea typeface="宋体" panose="02010600030101010101" pitchFamily="2" charset="-122"/>
              </a:rPr>
              <a:t>(</a:t>
            </a:r>
            <a:r>
              <a:rPr lang="en-US" altLang="zh-CN" sz="2400" dirty="0" err="1">
                <a:ea typeface="宋体" panose="02010600030101010101" pitchFamily="2" charset="-122"/>
              </a:rPr>
              <a:t>hwnd</a:t>
            </a:r>
            <a:r>
              <a:rPr lang="en-US" altLang="zh-CN" sz="2400" dirty="0">
                <a:ea typeface="宋体" panose="02010600030101010101" pitchFamily="2" charset="-122"/>
              </a:rPr>
              <a:t>, &amp;</a:t>
            </a:r>
            <a:r>
              <a:rPr lang="en-US" altLang="zh-CN" sz="2400" dirty="0" err="1">
                <a:ea typeface="宋体" panose="02010600030101010101" pitchFamily="2" charset="-122"/>
              </a:rPr>
              <a:t>ps</a:t>
            </a:r>
            <a:r>
              <a:rPr lang="en-US" altLang="zh-CN" sz="2400" dirty="0">
                <a:ea typeface="宋体" panose="02010600030101010101" pitchFamily="2" charset="-122"/>
              </a:rPr>
              <a:t>);</a:t>
            </a:r>
            <a:endParaRPr lang="en-US" altLang="zh-CN" sz="2400" dirty="0">
              <a:ea typeface="宋体" panose="02010600030101010101" pitchFamily="2" charset="-122"/>
            </a:endParaRPr>
          </a:p>
          <a:p>
            <a:pPr>
              <a:buFontTx/>
              <a:buNone/>
              <a:defRPr/>
            </a:pPr>
            <a:r>
              <a:rPr lang="en-US" altLang="zh-CN" sz="2400" dirty="0">
                <a:ea typeface="宋体" panose="02010600030101010101" pitchFamily="2" charset="-122"/>
              </a:rPr>
              <a:t>	return 0 ;</a:t>
            </a:r>
            <a:endParaRPr lang="zh-CN" altLang="en-US" sz="2400" dirty="0">
              <a:ea typeface="宋体" panose="02010600030101010101" pitchFamily="2" charset="-122"/>
            </a:endParaRPr>
          </a:p>
        </p:txBody>
      </p:sp>
      <p:sp>
        <p:nvSpPr>
          <p:cNvPr id="389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82BB3A53-6EE6-45B7-BC19-8F059AD4B5FC}" type="slidenum">
              <a:rPr lang="zh-CN" altLang="en-US">
                <a:ea typeface="宋体" panose="02010600030101010101" pitchFamily="2" charset="-122"/>
              </a:rPr>
            </a:fld>
            <a:endParaRPr lang="en-US" altLang="zh-CN">
              <a:ea typeface="宋体" panose="02010600030101010101" pitchFamily="2" charset="-122"/>
            </a:endParaRPr>
          </a:p>
        </p:txBody>
      </p:sp>
      <p:sp>
        <p:nvSpPr>
          <p:cNvPr id="38918"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C9993CF6-52A0-4516-965F-89799A8CB575}"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91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91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91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91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91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91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91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91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915">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91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noChangeArrowheads="1"/>
          </p:cNvSpPr>
          <p:nvPr>
            <p:ph type="title"/>
          </p:nvPr>
        </p:nvSpPr>
        <p:spPr/>
        <p:txBody>
          <a:bodyPr/>
          <a:lstStyle/>
          <a:p>
            <a:r>
              <a:rPr lang="en-US" altLang="zh-CN" dirty="0">
                <a:ea typeface="宋体" panose="02010600030101010101" pitchFamily="2" charset="-122"/>
              </a:rPr>
              <a:t>Draw with MFC/GDI</a:t>
            </a:r>
            <a:endParaRPr lang="zh-CN" altLang="en-US" dirty="0">
              <a:ea typeface="宋体" panose="02010600030101010101" pitchFamily="2" charset="-122"/>
            </a:endParaRPr>
          </a:p>
        </p:txBody>
      </p:sp>
      <p:sp>
        <p:nvSpPr>
          <p:cNvPr id="38915" name="内容占位符 2"/>
          <p:cNvSpPr>
            <a:spLocks noGrp="1" noChangeArrowheads="1"/>
          </p:cNvSpPr>
          <p:nvPr>
            <p:ph idx="1"/>
          </p:nvPr>
        </p:nvSpPr>
        <p:spPr>
          <a:xfrm>
            <a:off x="304800" y="1219200"/>
            <a:ext cx="8001000" cy="5181600"/>
          </a:xfrm>
        </p:spPr>
        <p:txBody>
          <a:bodyPr/>
          <a:lstStyle/>
          <a:p>
            <a:pPr marL="0" indent="0">
              <a:buFontTx/>
              <a:buNone/>
            </a:pPr>
            <a:r>
              <a:rPr lang="en-US" altLang="zh-CN" sz="2400" dirty="0">
                <a:ea typeface="宋体" panose="02010600030101010101" pitchFamily="2" charset="-122"/>
              </a:rPr>
              <a:t>void </a:t>
            </a:r>
            <a:r>
              <a:rPr lang="en-US" altLang="zh-CN" sz="2400" dirty="0" err="1">
                <a:ea typeface="宋体" panose="02010600030101010101" pitchFamily="2" charset="-122"/>
              </a:rPr>
              <a:t>CPointView</a:t>
            </a:r>
            <a:r>
              <a:rPr lang="en-US" altLang="zh-CN" sz="2400" dirty="0">
                <a:ea typeface="宋体" panose="02010600030101010101" pitchFamily="2" charset="-122"/>
              </a:rPr>
              <a:t>::</a:t>
            </a:r>
            <a:r>
              <a:rPr lang="en-US" altLang="zh-CN" sz="2400" dirty="0" err="1">
                <a:ea typeface="宋体" panose="02010600030101010101" pitchFamily="2" charset="-122"/>
              </a:rPr>
              <a:t>OnDraw</a:t>
            </a:r>
            <a:r>
              <a:rPr lang="en-US" altLang="zh-CN" sz="2400" dirty="0">
                <a:ea typeface="宋体" panose="02010600030101010101" pitchFamily="2" charset="-122"/>
              </a:rPr>
              <a:t>(CDC* </a:t>
            </a:r>
            <a:r>
              <a:rPr lang="en-US" altLang="zh-CN" sz="2400" dirty="0" err="1">
                <a:ea typeface="宋体" panose="02010600030101010101" pitchFamily="2" charset="-122"/>
              </a:rPr>
              <a:t>pDC</a:t>
            </a:r>
            <a:r>
              <a:rPr lang="en-US" altLang="zh-CN" sz="2400" dirty="0">
                <a:ea typeface="宋体" panose="02010600030101010101" pitchFamily="2" charset="-122"/>
              </a:rPr>
              <a:t>)</a:t>
            </a:r>
            <a:endParaRPr lang="en-US" altLang="zh-CN" sz="2400" dirty="0">
              <a:ea typeface="宋体" panose="02010600030101010101" pitchFamily="2" charset="-122"/>
            </a:endParaRPr>
          </a:p>
          <a:p>
            <a:pPr marL="0" indent="0">
              <a:buFontTx/>
              <a:buNone/>
            </a:pPr>
            <a:r>
              <a:rPr lang="en-US" altLang="zh-CN" sz="2400" dirty="0">
                <a:ea typeface="宋体" panose="02010600030101010101" pitchFamily="2" charset="-122"/>
              </a:rPr>
              <a:t>{</a:t>
            </a:r>
            <a:endParaRPr lang="en-US" altLang="zh-CN" sz="2400" dirty="0">
              <a:ea typeface="宋体" panose="02010600030101010101" pitchFamily="2" charset="-122"/>
            </a:endParaRPr>
          </a:p>
          <a:p>
            <a:pPr marL="0" indent="0">
              <a:buFontTx/>
              <a:buNone/>
            </a:pPr>
            <a:r>
              <a:rPr lang="en-US" altLang="zh-CN" sz="2400" dirty="0">
                <a:ea typeface="宋体" panose="02010600030101010101" pitchFamily="2" charset="-122"/>
              </a:rPr>
              <a:t>	</a:t>
            </a:r>
            <a:r>
              <a:rPr lang="en-US" altLang="zh-CN" sz="2400" dirty="0" err="1">
                <a:ea typeface="宋体" panose="02010600030101010101" pitchFamily="2" charset="-122"/>
              </a:rPr>
              <a:t>CRect</a:t>
            </a:r>
            <a:r>
              <a:rPr lang="en-US" altLang="zh-CN" sz="2400" dirty="0">
                <a:ea typeface="宋体" panose="02010600030101010101" pitchFamily="2" charset="-122"/>
              </a:rPr>
              <a:t> </a:t>
            </a:r>
            <a:r>
              <a:rPr lang="en-US" altLang="zh-CN" sz="2400" dirty="0" err="1">
                <a:ea typeface="宋体" panose="02010600030101010101" pitchFamily="2" charset="-122"/>
              </a:rPr>
              <a:t>rect</a:t>
            </a:r>
            <a:r>
              <a:rPr lang="en-US" altLang="zh-CN" sz="2400" dirty="0">
                <a:ea typeface="宋体" panose="02010600030101010101" pitchFamily="2" charset="-122"/>
              </a:rPr>
              <a:t>;</a:t>
            </a:r>
            <a:endParaRPr lang="en-US" altLang="zh-CN" sz="2400" dirty="0">
              <a:ea typeface="宋体" panose="02010600030101010101" pitchFamily="2" charset="-122"/>
            </a:endParaRPr>
          </a:p>
          <a:p>
            <a:pPr marL="0" indent="0">
              <a:buFontTx/>
              <a:buNone/>
            </a:pPr>
            <a:r>
              <a:rPr lang="en-US" altLang="zh-CN" sz="2400" dirty="0">
                <a:ea typeface="宋体" panose="02010600030101010101" pitchFamily="2" charset="-122"/>
              </a:rPr>
              <a:t>	</a:t>
            </a:r>
            <a:r>
              <a:rPr lang="en-US" altLang="zh-CN" sz="2400" dirty="0" err="1">
                <a:ea typeface="宋体" panose="02010600030101010101" pitchFamily="2" charset="-122"/>
              </a:rPr>
              <a:t>GetClientRect</a:t>
            </a:r>
            <a:r>
              <a:rPr lang="en-US" altLang="zh-CN" sz="2400" dirty="0">
                <a:ea typeface="宋体" panose="02010600030101010101" pitchFamily="2" charset="-122"/>
              </a:rPr>
              <a:t>(</a:t>
            </a:r>
            <a:r>
              <a:rPr lang="en-US" altLang="zh-CN" sz="2400" dirty="0" err="1">
                <a:ea typeface="宋体" panose="02010600030101010101" pitchFamily="2" charset="-122"/>
              </a:rPr>
              <a:t>rect</a:t>
            </a:r>
            <a:r>
              <a:rPr lang="en-US" altLang="zh-CN" sz="2400" dirty="0">
                <a:ea typeface="宋体" panose="02010600030101010101" pitchFamily="2" charset="-122"/>
              </a:rPr>
              <a:t>);</a:t>
            </a:r>
            <a:endParaRPr lang="en-US" altLang="zh-CN" sz="2400" dirty="0">
              <a:ea typeface="宋体" panose="02010600030101010101" pitchFamily="2" charset="-122"/>
            </a:endParaRPr>
          </a:p>
          <a:p>
            <a:pPr marL="0" indent="0">
              <a:buFontTx/>
              <a:buNone/>
            </a:pPr>
            <a:r>
              <a:rPr lang="en-US" altLang="zh-CN" sz="2400" dirty="0">
                <a:ea typeface="宋体" panose="02010600030101010101" pitchFamily="2" charset="-122"/>
              </a:rPr>
              <a:t>	</a:t>
            </a:r>
            <a:r>
              <a:rPr lang="en-US" altLang="zh-CN" sz="2400" dirty="0" err="1">
                <a:ea typeface="宋体" panose="02010600030101010101" pitchFamily="2" charset="-122"/>
              </a:rPr>
              <a:t>pDC</a:t>
            </a:r>
            <a:r>
              <a:rPr lang="en-US" altLang="zh-CN" sz="2400" dirty="0">
                <a:ea typeface="宋体" panose="02010600030101010101" pitchFamily="2" charset="-122"/>
              </a:rPr>
              <a:t>-&gt;</a:t>
            </a:r>
            <a:r>
              <a:rPr lang="en-US" altLang="zh-CN" sz="2400" dirty="0" err="1">
                <a:ea typeface="宋体" panose="02010600030101010101" pitchFamily="2" charset="-122"/>
              </a:rPr>
              <a:t>SetPixel</a:t>
            </a:r>
            <a:r>
              <a:rPr lang="en-US" altLang="zh-CN" sz="2400" dirty="0">
                <a:ea typeface="宋体" panose="02010600030101010101" pitchFamily="2" charset="-122"/>
              </a:rPr>
              <a:t>(90, 45, (0,0,0));</a:t>
            </a:r>
            <a:endParaRPr lang="en-US" altLang="zh-CN" sz="2400" dirty="0">
              <a:ea typeface="宋体" panose="02010600030101010101" pitchFamily="2" charset="-122"/>
            </a:endParaRPr>
          </a:p>
          <a:p>
            <a:pPr marL="0" indent="0">
              <a:buFontTx/>
              <a:buNone/>
            </a:pPr>
            <a:r>
              <a:rPr lang="en-US" altLang="zh-CN" sz="2400" dirty="0">
                <a:ea typeface="宋体" panose="02010600030101010101" pitchFamily="2" charset="-122"/>
              </a:rPr>
              <a:t>	for (int x = 0 ; x &lt; </a:t>
            </a:r>
            <a:r>
              <a:rPr lang="en-US" altLang="zh-CN" sz="2400" dirty="0" err="1">
                <a:ea typeface="宋体" panose="02010600030101010101" pitchFamily="2" charset="-122"/>
              </a:rPr>
              <a:t>rect.right</a:t>
            </a:r>
            <a:r>
              <a:rPr lang="en-US" altLang="zh-CN" sz="2400" dirty="0">
                <a:ea typeface="宋体" panose="02010600030101010101" pitchFamily="2" charset="-122"/>
              </a:rPr>
              <a:t> ; x+= 100)	</a:t>
            </a:r>
            <a:endParaRPr lang="en-US" altLang="zh-CN" sz="2400" dirty="0">
              <a:ea typeface="宋体" panose="02010600030101010101" pitchFamily="2" charset="-122"/>
            </a:endParaRPr>
          </a:p>
          <a:p>
            <a:pPr marL="0" indent="0">
              <a:buFontTx/>
              <a:buNone/>
            </a:pPr>
            <a:r>
              <a:rPr lang="zh-CN" altLang="en-US" sz="2400" dirty="0">
                <a:ea typeface="宋体" panose="02010600030101010101" pitchFamily="2" charset="-122"/>
              </a:rPr>
              <a:t>	</a:t>
            </a:r>
            <a:r>
              <a:rPr lang="en-US" altLang="zh-CN" sz="2400" dirty="0">
                <a:ea typeface="宋体" panose="02010600030101010101" pitchFamily="2" charset="-122"/>
              </a:rPr>
              <a:t>{			</a:t>
            </a:r>
            <a:endParaRPr lang="en-US" altLang="zh-CN" sz="2400" dirty="0">
              <a:ea typeface="宋体" panose="02010600030101010101" pitchFamily="2" charset="-122"/>
            </a:endParaRPr>
          </a:p>
          <a:p>
            <a:pPr marL="0" indent="0">
              <a:buFontTx/>
              <a:buNone/>
            </a:pPr>
            <a:r>
              <a:rPr lang="en-US" altLang="zh-CN" sz="2400" dirty="0">
                <a:ea typeface="宋体" panose="02010600030101010101" pitchFamily="2" charset="-122"/>
              </a:rPr>
              <a:t>	    </a:t>
            </a:r>
            <a:r>
              <a:rPr lang="en-US" altLang="zh-CN" sz="2400" dirty="0" err="1">
                <a:ea typeface="宋体" panose="02010600030101010101" pitchFamily="2" charset="-122"/>
              </a:rPr>
              <a:t>pDC</a:t>
            </a:r>
            <a:r>
              <a:rPr lang="en-US" altLang="zh-CN" sz="2400" dirty="0">
                <a:ea typeface="宋体" panose="02010600030101010101" pitchFamily="2" charset="-122"/>
              </a:rPr>
              <a:t>-&gt;</a:t>
            </a:r>
            <a:r>
              <a:rPr lang="en-US" altLang="zh-CN" sz="2400" dirty="0" err="1">
                <a:ea typeface="宋体" panose="02010600030101010101" pitchFamily="2" charset="-122"/>
              </a:rPr>
              <a:t>MoveTo</a:t>
            </a:r>
            <a:r>
              <a:rPr lang="en-US" altLang="zh-CN" sz="2400" dirty="0">
                <a:ea typeface="宋体" panose="02010600030101010101" pitchFamily="2" charset="-122"/>
              </a:rPr>
              <a:t>(x, 0) ;        </a:t>
            </a:r>
            <a:endParaRPr lang="en-US" altLang="zh-CN" sz="2400" dirty="0">
              <a:ea typeface="宋体" panose="02010600030101010101" pitchFamily="2" charset="-122"/>
            </a:endParaRPr>
          </a:p>
          <a:p>
            <a:pPr marL="0" indent="0">
              <a:buFontTx/>
              <a:buNone/>
            </a:pPr>
            <a:r>
              <a:rPr lang="en-US" altLang="zh-CN" sz="2400" dirty="0">
                <a:ea typeface="宋体" panose="02010600030101010101" pitchFamily="2" charset="-122"/>
              </a:rPr>
              <a:t>	    </a:t>
            </a:r>
            <a:r>
              <a:rPr lang="en-US" altLang="zh-CN" sz="2400" dirty="0" err="1">
                <a:ea typeface="宋体" panose="02010600030101010101" pitchFamily="2" charset="-122"/>
              </a:rPr>
              <a:t>pDC</a:t>
            </a:r>
            <a:r>
              <a:rPr lang="en-US" altLang="zh-CN" sz="2400" dirty="0">
                <a:ea typeface="宋体" panose="02010600030101010101" pitchFamily="2" charset="-122"/>
              </a:rPr>
              <a:t>-&gt;</a:t>
            </a:r>
            <a:r>
              <a:rPr lang="en-US" altLang="zh-CN" sz="2400" dirty="0" err="1">
                <a:ea typeface="宋体" panose="02010600030101010101" pitchFamily="2" charset="-122"/>
              </a:rPr>
              <a:t>LineTo</a:t>
            </a:r>
            <a:r>
              <a:rPr lang="en-US" altLang="zh-CN" sz="2400" dirty="0">
                <a:ea typeface="宋体" panose="02010600030101010101" pitchFamily="2" charset="-122"/>
              </a:rPr>
              <a:t> (x, </a:t>
            </a:r>
            <a:r>
              <a:rPr lang="en-US" altLang="zh-CN" sz="2400" dirty="0" err="1">
                <a:ea typeface="宋体" panose="02010600030101010101" pitchFamily="2" charset="-122"/>
              </a:rPr>
              <a:t>rect.bottom</a:t>
            </a:r>
            <a:r>
              <a:rPr lang="en-US" altLang="zh-CN" sz="2400" dirty="0">
                <a:ea typeface="宋体" panose="02010600030101010101" pitchFamily="2" charset="-122"/>
              </a:rPr>
              <a:t>) ;			</a:t>
            </a:r>
            <a:endParaRPr lang="en-US" altLang="zh-CN" sz="2400" dirty="0">
              <a:ea typeface="宋体" panose="02010600030101010101" pitchFamily="2" charset="-122"/>
            </a:endParaRPr>
          </a:p>
          <a:p>
            <a:pPr marL="0" indent="0">
              <a:buFontTx/>
              <a:buNone/>
            </a:pPr>
            <a:r>
              <a:rPr lang="zh-CN" altLang="en-US" sz="2400" dirty="0">
                <a:ea typeface="宋体" panose="02010600030101010101" pitchFamily="2" charset="-122"/>
              </a:rPr>
              <a:t>	</a:t>
            </a:r>
            <a:r>
              <a:rPr lang="en-US" altLang="zh-CN" sz="2400" dirty="0">
                <a:ea typeface="宋体" panose="02010600030101010101" pitchFamily="2" charset="-122"/>
              </a:rPr>
              <a:t>}</a:t>
            </a:r>
            <a:endParaRPr lang="en-US" altLang="zh-CN" sz="2400" dirty="0">
              <a:ea typeface="宋体" panose="02010600030101010101" pitchFamily="2" charset="-122"/>
            </a:endParaRPr>
          </a:p>
          <a:p>
            <a:pPr marL="0" indent="0">
              <a:buFontTx/>
              <a:buNone/>
            </a:pPr>
            <a:r>
              <a:rPr lang="en-US" altLang="zh-CN" sz="2400" dirty="0">
                <a:ea typeface="宋体" panose="02010600030101010101" pitchFamily="2" charset="-122"/>
              </a:rPr>
              <a:t>}</a:t>
            </a:r>
            <a:endParaRPr lang="zh-CN" altLang="en-US" sz="2400" dirty="0">
              <a:ea typeface="宋体" panose="02010600030101010101" pitchFamily="2" charset="-122"/>
            </a:endParaRPr>
          </a:p>
        </p:txBody>
      </p:sp>
      <p:sp>
        <p:nvSpPr>
          <p:cNvPr id="409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B896E8F-B737-404F-B122-358938AA07E2}" type="slidenum">
              <a:rPr lang="zh-CN" altLang="en-US" sz="1400">
                <a:latin typeface="Arial" panose="020B0604020202020204" pitchFamily="34" charset="0"/>
              </a:rPr>
            </a:fld>
            <a:endParaRPr lang="en-US" altLang="zh-CN" sz="1400">
              <a:latin typeface="Arial" panose="020B0604020202020204" pitchFamily="34" charset="0"/>
            </a:endParaRPr>
          </a:p>
        </p:txBody>
      </p:sp>
      <p:sp>
        <p:nvSpPr>
          <p:cNvPr id="40965"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B70BCB5-C221-4987-928A-040179FA5111}" type="datetime10">
              <a:rPr lang="zh-CN" altLang="en-US" sz="1400" smtClean="0">
                <a:latin typeface="Arial" panose="020B0604020202020204" pitchFamily="34" charset="0"/>
              </a:rPr>
            </a:fld>
            <a:endParaRPr lang="en-US" altLang="zh-CN" sz="1400">
              <a:latin typeface="Arial" panose="020B0604020202020204" pitchFamily="34" charset="0"/>
            </a:endParaRPr>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62600" y="3824784"/>
            <a:ext cx="3550920" cy="3002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91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91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91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91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91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91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91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91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915">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915">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38214408-0426-46A9-BB31-D21848B582B7}" type="slidenum">
              <a:rPr lang="zh-CN" altLang="en-US">
                <a:ea typeface="宋体" panose="02010600030101010101" pitchFamily="2" charset="-122"/>
              </a:rPr>
            </a:fld>
            <a:endParaRPr lang="en-US" altLang="zh-CN">
              <a:ea typeface="宋体" panose="02010600030101010101" pitchFamily="2" charset="-122"/>
            </a:endParaRPr>
          </a:p>
        </p:txBody>
      </p:sp>
      <p:sp>
        <p:nvSpPr>
          <p:cNvPr id="4" name="日期占位符 3"/>
          <p:cNvSpPr txBox="1">
            <a:spLocks noGrp="1"/>
          </p:cNvSpPr>
          <p:nvPr/>
        </p:nvSpPr>
        <p:spPr bwMode="auto">
          <a:xfrm>
            <a:off x="457200" y="6461125"/>
            <a:ext cx="2133600" cy="320675"/>
          </a:xfrm>
          <a:prstGeom prst="rect">
            <a:avLst/>
          </a:prstGeom>
          <a:noFill/>
          <a:ln>
            <a:miter lim="800000"/>
          </a:ln>
        </p:spPr>
        <p:txBody>
          <a:bodyPr/>
          <a:lstStyle/>
          <a:p>
            <a:pPr>
              <a:defRPr/>
            </a:pPr>
            <a:fld id="{4D933EA8-CEBB-44CD-898C-ABE04D0F77C4}" type="datetime1">
              <a:rPr lang="zh-CN" altLang="en-US" sz="1400">
                <a:latin typeface="+mj-lt"/>
                <a:ea typeface="宋体" panose="02010600030101010101" pitchFamily="2" charset="-122"/>
              </a:rPr>
            </a:fld>
            <a:endParaRPr lang="en-US" altLang="zh-CN" sz="1400">
              <a:latin typeface="+mj-lt"/>
              <a:ea typeface="宋体" panose="02010600030101010101" pitchFamily="2" charset="-122"/>
            </a:endParaRPr>
          </a:p>
        </p:txBody>
      </p:sp>
      <p:sp>
        <p:nvSpPr>
          <p:cNvPr id="6"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86F052A4-251A-43A6-84E7-1E25B42FC415}"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39941" name="Rectangle 2"/>
          <p:cNvSpPr>
            <a:spLocks noGrp="1" noChangeArrowheads="1"/>
          </p:cNvSpPr>
          <p:nvPr>
            <p:ph type="title" idx="4294967295"/>
          </p:nvPr>
        </p:nvSpPr>
        <p:spPr/>
        <p:txBody>
          <a:bodyPr/>
          <a:lstStyle/>
          <a:p>
            <a:pPr eaLnBrk="1" hangingPunct="1"/>
            <a:r>
              <a:rPr lang="zh-CN" altLang="en-US">
                <a:ea typeface="宋体" panose="02010600030101010101" pitchFamily="2" charset="-122"/>
              </a:rPr>
              <a:t>图形支撑软件</a:t>
            </a:r>
            <a:endParaRPr lang="zh-CN" altLang="en-US">
              <a:ea typeface="宋体" panose="02010600030101010101" pitchFamily="2" charset="-122"/>
            </a:endParaRPr>
          </a:p>
        </p:txBody>
      </p:sp>
      <p:sp>
        <p:nvSpPr>
          <p:cNvPr id="44038" name="Rectangle 3"/>
          <p:cNvSpPr>
            <a:spLocks noGrp="1" noChangeArrowheads="1"/>
          </p:cNvSpPr>
          <p:nvPr>
            <p:ph type="body" idx="4294967295"/>
          </p:nvPr>
        </p:nvSpPr>
        <p:spPr/>
        <p:txBody>
          <a:bodyPr/>
          <a:lstStyle/>
          <a:p>
            <a:pPr eaLnBrk="1" hangingPunct="1"/>
            <a:r>
              <a:rPr lang="en-US" altLang="zh-CN">
                <a:ea typeface="宋体" panose="02010600030101010101" pitchFamily="2" charset="-122"/>
              </a:rPr>
              <a:t>OpenGL:</a:t>
            </a:r>
            <a:r>
              <a:rPr lang="zh-CN" altLang="en-US">
                <a:ea typeface="宋体" panose="02010600030101010101" pitchFamily="2" charset="-122"/>
              </a:rPr>
              <a:t>一个独立于图形硬件的高效图形软件接口</a:t>
            </a:r>
            <a:r>
              <a:rPr lang="en-US" altLang="zh-CN">
                <a:ea typeface="宋体" panose="02010600030101010101" pitchFamily="2" charset="-122"/>
              </a:rPr>
              <a:t>,</a:t>
            </a:r>
            <a:r>
              <a:rPr lang="zh-CN" altLang="en-US">
                <a:ea typeface="宋体" panose="02010600030101010101" pitchFamily="2" charset="-122"/>
              </a:rPr>
              <a:t>一个开放的图形软件包</a:t>
            </a:r>
            <a:r>
              <a:rPr lang="en-US" altLang="zh-CN">
                <a:ea typeface="宋体" panose="02010600030101010101" pitchFamily="2" charset="-122"/>
              </a:rPr>
              <a:t>/</a:t>
            </a:r>
            <a:r>
              <a:rPr lang="zh-CN" altLang="en-US">
                <a:ea typeface="宋体" panose="02010600030101010101" pitchFamily="2" charset="-122"/>
              </a:rPr>
              <a:t>库</a:t>
            </a:r>
            <a:r>
              <a:rPr lang="en-US" altLang="zh-CN">
                <a:ea typeface="宋体" panose="02010600030101010101" pitchFamily="2" charset="-122"/>
              </a:rPr>
              <a:t>,</a:t>
            </a:r>
            <a:r>
              <a:rPr lang="zh-CN" altLang="en-US">
                <a:ea typeface="宋体" panose="02010600030101010101" pitchFamily="2" charset="-122"/>
              </a:rPr>
              <a:t>跨平台</a:t>
            </a:r>
            <a:r>
              <a:rPr lang="en-US" altLang="zh-CN">
                <a:ea typeface="宋体" panose="02010600030101010101" pitchFamily="2" charset="-122"/>
              </a:rPr>
              <a:t>,</a:t>
            </a:r>
            <a:r>
              <a:rPr lang="zh-CN" altLang="en-US">
                <a:ea typeface="宋体" panose="02010600030101010101" pitchFamily="2" charset="-122"/>
              </a:rPr>
              <a:t>可扩展</a:t>
            </a:r>
            <a:endParaRPr lang="en-US" altLang="zh-CN">
              <a:ea typeface="宋体" panose="02010600030101010101" pitchFamily="2" charset="-122"/>
            </a:endParaRPr>
          </a:p>
          <a:p>
            <a:pPr eaLnBrk="1" hangingPunct="1"/>
            <a:r>
              <a:rPr lang="zh-CN" altLang="en-US">
                <a:ea typeface="宋体" panose="02010600030101010101" pitchFamily="2" charset="-122"/>
              </a:rPr>
              <a:t>由</a:t>
            </a:r>
            <a:r>
              <a:rPr lang="en-US" altLang="zh-CN">
                <a:ea typeface="宋体" panose="02010600030101010101" pitchFamily="2" charset="-122"/>
              </a:rPr>
              <a:t>SGI</a:t>
            </a:r>
            <a:r>
              <a:rPr lang="zh-CN" altLang="en-US">
                <a:ea typeface="宋体" panose="02010600030101010101" pitchFamily="2" charset="-122"/>
              </a:rPr>
              <a:t>公司推出</a:t>
            </a:r>
            <a:r>
              <a:rPr lang="en-US" altLang="zh-CN">
                <a:ea typeface="宋体" panose="02010600030101010101" pitchFamily="2" charset="-122"/>
              </a:rPr>
              <a:t>,</a:t>
            </a:r>
            <a:r>
              <a:rPr lang="zh-CN" altLang="en-US">
                <a:ea typeface="宋体" panose="02010600030101010101" pitchFamily="2" charset="-122"/>
              </a:rPr>
              <a:t>被</a:t>
            </a:r>
            <a:r>
              <a:rPr lang="en-US" altLang="zh-CN">
                <a:ea typeface="宋体" panose="02010600030101010101" pitchFamily="2" charset="-122"/>
              </a:rPr>
              <a:t>IBM,Intel,Microsoft</a:t>
            </a:r>
            <a:r>
              <a:rPr lang="zh-CN" altLang="en-US">
                <a:ea typeface="宋体" panose="02010600030101010101" pitchFamily="2" charset="-122"/>
              </a:rPr>
              <a:t>等公司所采用的三维图形标准</a:t>
            </a:r>
            <a:endParaRPr lang="en-US" altLang="zh-CN">
              <a:ea typeface="宋体" panose="02010600030101010101" pitchFamily="2" charset="-122"/>
            </a:endParaRPr>
          </a:p>
          <a:p>
            <a:pPr eaLnBrk="1" hangingPunct="1"/>
            <a:r>
              <a:rPr lang="zh-CN" altLang="en-US">
                <a:ea typeface="宋体" panose="02010600030101010101" pitchFamily="2" charset="-122"/>
              </a:rPr>
              <a:t>它提供了近</a:t>
            </a:r>
            <a:r>
              <a:rPr lang="en-US" altLang="zh-CN">
                <a:ea typeface="宋体" panose="02010600030101010101" pitchFamily="2" charset="-122"/>
              </a:rPr>
              <a:t>200</a:t>
            </a:r>
            <a:r>
              <a:rPr lang="zh-CN" altLang="en-US">
                <a:ea typeface="宋体" panose="02010600030101010101" pitchFamily="2" charset="-122"/>
              </a:rPr>
              <a:t>个函数</a:t>
            </a:r>
            <a:r>
              <a:rPr lang="en-US" altLang="zh-CN">
                <a:ea typeface="宋体" panose="02010600030101010101" pitchFamily="2" charset="-122"/>
              </a:rPr>
              <a:t>,</a:t>
            </a:r>
            <a:r>
              <a:rPr lang="zh-CN" altLang="en-US">
                <a:ea typeface="宋体" panose="02010600030101010101" pitchFamily="2" charset="-122"/>
              </a:rPr>
              <a:t>利用其可以开发出现实世界相似的三维景象</a:t>
            </a:r>
            <a:endParaRPr lang="en-US" altLang="zh-CN">
              <a:ea typeface="宋体" panose="02010600030101010101" pitchFamily="2" charset="-122"/>
            </a:endParaRPr>
          </a:p>
          <a:p>
            <a:pPr eaLnBrk="1" hangingPunct="1"/>
            <a:endParaRPr lang="zh-CN" altLang="en-US">
              <a:ea typeface="宋体" panose="02010600030101010101" pitchFamily="2" charset="-122"/>
            </a:endParaRPr>
          </a:p>
        </p:txBody>
      </p:sp>
      <p:sp>
        <p:nvSpPr>
          <p:cNvPr id="39943"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E8B99F83-7B26-4FC3-9BC9-75E267AEAC4A}"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4038">
                                            <p:txEl>
                                              <p:pRg st="1" end="1"/>
                                            </p:txEl>
                                          </p:spTgt>
                                        </p:tgtEl>
                                        <p:attrNameLst>
                                          <p:attrName>style.visibility</p:attrName>
                                        </p:attrNameLst>
                                      </p:cBhvr>
                                      <p:to>
                                        <p:strVal val="visible"/>
                                      </p:to>
                                    </p:set>
                                    <p:animEffect transition="in" filter="blinds(horizontal)">
                                      <p:cBhvr>
                                        <p:cTn id="7" dur="500"/>
                                        <p:tgtEl>
                                          <p:spTgt spid="4403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4038">
                                            <p:txEl>
                                              <p:pRg st="2" end="2"/>
                                            </p:txEl>
                                          </p:spTgt>
                                        </p:tgtEl>
                                        <p:attrNameLst>
                                          <p:attrName>style.visibility</p:attrName>
                                        </p:attrNameLst>
                                      </p:cBhvr>
                                      <p:to>
                                        <p:strVal val="visible"/>
                                      </p:to>
                                    </p:set>
                                    <p:animEffect transition="in" filter="blinds(horizontal)">
                                      <p:cBhvr>
                                        <p:cTn id="12" dur="500"/>
                                        <p:tgtEl>
                                          <p:spTgt spid="4403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r>
              <a:rPr lang="en-US" altLang="zh-CN">
                <a:ea typeface="宋体" panose="02010600030101010101" pitchFamily="2" charset="-122"/>
              </a:rPr>
              <a:t>Point with OpenGL</a:t>
            </a:r>
            <a:endParaRPr lang="zh-CN" altLang="en-US">
              <a:ea typeface="宋体" panose="02010600030101010101" pitchFamily="2" charset="-122"/>
            </a:endParaRPr>
          </a:p>
        </p:txBody>
      </p:sp>
      <p:sp>
        <p:nvSpPr>
          <p:cNvPr id="40963" name="内容占位符 2"/>
          <p:cNvSpPr>
            <a:spLocks noGrp="1"/>
          </p:cNvSpPr>
          <p:nvPr>
            <p:ph idx="1"/>
          </p:nvPr>
        </p:nvSpPr>
        <p:spPr/>
        <p:txBody>
          <a:bodyPr/>
          <a:lstStyle/>
          <a:p>
            <a:pPr>
              <a:buFontTx/>
              <a:buNone/>
            </a:pPr>
            <a:r>
              <a:rPr lang="en-US" altLang="zh-CN" sz="2400" dirty="0">
                <a:ea typeface="宋体" panose="02010600030101010101" pitchFamily="2" charset="-122"/>
              </a:rPr>
              <a:t>#include &lt;GL/</a:t>
            </a:r>
            <a:r>
              <a:rPr lang="en-US" altLang="zh-CN" sz="2400" dirty="0" err="1">
                <a:ea typeface="宋体" panose="02010600030101010101" pitchFamily="2" charset="-122"/>
              </a:rPr>
              <a:t>glut.h</a:t>
            </a:r>
            <a:r>
              <a:rPr lang="en-US" altLang="zh-CN" sz="2400" dirty="0">
                <a:ea typeface="宋体" panose="02010600030101010101" pitchFamily="2" charset="-122"/>
              </a:rPr>
              <a:t>&gt;</a:t>
            </a:r>
            <a:endParaRPr lang="en-US" altLang="zh-CN" sz="2400" dirty="0">
              <a:ea typeface="宋体" panose="02010600030101010101" pitchFamily="2" charset="-122"/>
            </a:endParaRPr>
          </a:p>
          <a:p>
            <a:pPr>
              <a:buFontTx/>
              <a:buNone/>
            </a:pPr>
            <a:r>
              <a:rPr lang="en-US" altLang="zh-CN" sz="2400" dirty="0">
                <a:ea typeface="宋体" panose="02010600030101010101" pitchFamily="2" charset="-122"/>
              </a:rPr>
              <a:t>void </a:t>
            </a:r>
            <a:r>
              <a:rPr lang="en-US" altLang="zh-CN" sz="2400" dirty="0" err="1">
                <a:ea typeface="宋体" panose="02010600030101010101" pitchFamily="2" charset="-122"/>
              </a:rPr>
              <a:t>myDisplay</a:t>
            </a:r>
            <a:r>
              <a:rPr lang="en-US" altLang="zh-CN" sz="2400" dirty="0">
                <a:ea typeface="宋体" panose="02010600030101010101" pitchFamily="2" charset="-122"/>
              </a:rPr>
              <a:t>(void)</a:t>
            </a:r>
            <a:endParaRPr lang="en-US" altLang="zh-CN" sz="2400" dirty="0">
              <a:ea typeface="宋体" panose="02010600030101010101" pitchFamily="2" charset="-122"/>
            </a:endParaRPr>
          </a:p>
          <a:p>
            <a:pPr>
              <a:buFontTx/>
              <a:buNone/>
            </a:pPr>
            <a:r>
              <a:rPr lang="en-US" altLang="zh-CN" sz="2400" dirty="0">
                <a:ea typeface="宋体" panose="02010600030101010101" pitchFamily="2" charset="-122"/>
              </a:rPr>
              <a:t>{</a:t>
            </a:r>
            <a:endParaRPr lang="en-US" altLang="zh-CN" sz="2400" dirty="0">
              <a:ea typeface="宋体" panose="02010600030101010101" pitchFamily="2" charset="-122"/>
            </a:endParaRPr>
          </a:p>
          <a:p>
            <a:pPr>
              <a:buFontTx/>
              <a:buNone/>
            </a:pPr>
            <a:r>
              <a:rPr lang="en-US" altLang="zh-CN" sz="2400" dirty="0">
                <a:ea typeface="宋体" panose="02010600030101010101" pitchFamily="2" charset="-122"/>
              </a:rPr>
              <a:t> </a:t>
            </a:r>
            <a:r>
              <a:rPr lang="en-US" altLang="zh-CN" sz="2400" dirty="0" err="1">
                <a:ea typeface="宋体" panose="02010600030101010101" pitchFamily="2" charset="-122"/>
              </a:rPr>
              <a:t>glClearColor</a:t>
            </a:r>
            <a:r>
              <a:rPr lang="en-US" altLang="zh-CN" sz="2400" dirty="0">
                <a:ea typeface="宋体" panose="02010600030101010101" pitchFamily="2" charset="-122"/>
              </a:rPr>
              <a:t>(0.0, 0.0, 0.0, 0.0);</a:t>
            </a:r>
            <a:endParaRPr lang="en-US" altLang="zh-CN" sz="2400" dirty="0">
              <a:ea typeface="宋体" panose="02010600030101010101" pitchFamily="2" charset="-122"/>
            </a:endParaRPr>
          </a:p>
          <a:p>
            <a:pPr>
              <a:buFontTx/>
              <a:buNone/>
            </a:pPr>
            <a:r>
              <a:rPr lang="en-US" altLang="zh-CN" sz="2400" dirty="0">
                <a:ea typeface="宋体" panose="02010600030101010101" pitchFamily="2" charset="-122"/>
              </a:rPr>
              <a:t> </a:t>
            </a:r>
            <a:r>
              <a:rPr lang="en-US" altLang="zh-CN" sz="2400" dirty="0" err="1">
                <a:ea typeface="宋体" panose="02010600030101010101" pitchFamily="2" charset="-122"/>
              </a:rPr>
              <a:t>glClear</a:t>
            </a:r>
            <a:r>
              <a:rPr lang="en-US" altLang="zh-CN" sz="2400" dirty="0">
                <a:ea typeface="宋体" panose="02010600030101010101" pitchFamily="2" charset="-122"/>
              </a:rPr>
              <a:t>(GL_COLOR_BUFFER_BIT);</a:t>
            </a:r>
            <a:endParaRPr lang="en-US" altLang="zh-CN" sz="2400" dirty="0">
              <a:ea typeface="宋体" panose="02010600030101010101" pitchFamily="2" charset="-122"/>
            </a:endParaRPr>
          </a:p>
          <a:p>
            <a:pPr>
              <a:buFontTx/>
              <a:buNone/>
            </a:pPr>
            <a:r>
              <a:rPr lang="en-US" altLang="zh-CN" sz="2400" dirty="0">
                <a:ea typeface="宋体" panose="02010600030101010101" pitchFamily="2" charset="-122"/>
              </a:rPr>
              <a:t> glColor3f (1.0f, 1.0f, 1.0f); </a:t>
            </a:r>
            <a:endParaRPr lang="en-US" altLang="zh-CN" sz="2400" dirty="0">
              <a:ea typeface="宋体" panose="02010600030101010101" pitchFamily="2" charset="-122"/>
            </a:endParaRPr>
          </a:p>
          <a:p>
            <a:pPr>
              <a:buFontTx/>
              <a:buNone/>
            </a:pPr>
            <a:r>
              <a:rPr lang="en-US" altLang="zh-CN" sz="2400" dirty="0">
                <a:ea typeface="宋体" panose="02010600030101010101" pitchFamily="2" charset="-122"/>
              </a:rPr>
              <a:t> </a:t>
            </a:r>
            <a:r>
              <a:rPr lang="en-US" altLang="zh-CN" sz="2400" dirty="0" err="1">
                <a:ea typeface="宋体" panose="02010600030101010101" pitchFamily="2" charset="-122"/>
              </a:rPr>
              <a:t>glPointSize</a:t>
            </a:r>
            <a:r>
              <a:rPr lang="en-US" altLang="zh-CN" sz="2400" dirty="0">
                <a:ea typeface="宋体" panose="02010600030101010101" pitchFamily="2" charset="-122"/>
              </a:rPr>
              <a:t>(3);</a:t>
            </a:r>
            <a:endParaRPr lang="en-US" altLang="zh-CN" sz="2400" dirty="0">
              <a:ea typeface="宋体" panose="02010600030101010101" pitchFamily="2" charset="-122"/>
            </a:endParaRPr>
          </a:p>
          <a:p>
            <a:pPr>
              <a:buFontTx/>
              <a:buNone/>
            </a:pPr>
            <a:r>
              <a:rPr lang="en-US" altLang="zh-CN" sz="2400" dirty="0">
                <a:ea typeface="宋体" panose="02010600030101010101" pitchFamily="2" charset="-122"/>
              </a:rPr>
              <a:t> </a:t>
            </a:r>
            <a:r>
              <a:rPr lang="en-US" altLang="zh-CN" sz="2400" dirty="0" err="1">
                <a:ea typeface="宋体" panose="02010600030101010101" pitchFamily="2" charset="-122"/>
              </a:rPr>
              <a:t>glBegin</a:t>
            </a:r>
            <a:r>
              <a:rPr lang="en-US" altLang="zh-CN" sz="2400" dirty="0">
                <a:ea typeface="宋体" panose="02010600030101010101" pitchFamily="2" charset="-122"/>
              </a:rPr>
              <a:t> (GL_POINTS);</a:t>
            </a:r>
            <a:endParaRPr lang="en-US" altLang="zh-CN" sz="2400" dirty="0">
              <a:ea typeface="宋体" panose="02010600030101010101" pitchFamily="2" charset="-122"/>
            </a:endParaRPr>
          </a:p>
          <a:p>
            <a:pPr>
              <a:buFontTx/>
              <a:buNone/>
            </a:pPr>
            <a:r>
              <a:rPr lang="en-US" altLang="zh-CN" sz="2400" dirty="0">
                <a:ea typeface="宋体" panose="02010600030101010101" pitchFamily="2" charset="-122"/>
              </a:rPr>
              <a:t> glColor3f (1.0f, 0.0f, 0.0f);   glVertex2f (-0.4f, -0.4f)</a:t>
            </a:r>
            <a:r>
              <a:rPr lang="en-US" altLang="zh-CN" sz="1800" dirty="0">
                <a:ea typeface="宋体" panose="02010600030101010101" pitchFamily="2" charset="-122"/>
              </a:rPr>
              <a:t>;#</a:t>
            </a:r>
            <a:r>
              <a:rPr lang="zh-CN" altLang="en-US" sz="1800" dirty="0">
                <a:ea typeface="宋体" panose="02010600030101010101" pitchFamily="2" charset="-122"/>
              </a:rPr>
              <a:t>坐标</a:t>
            </a:r>
            <a:r>
              <a:rPr lang="en-US" altLang="zh-CN" sz="1800" dirty="0">
                <a:ea typeface="宋体" panose="02010600030101010101" pitchFamily="2" charset="-122"/>
              </a:rPr>
              <a:t>(-0.4,-0.4)</a:t>
            </a:r>
            <a:endParaRPr lang="en-US" altLang="zh-CN" sz="1800" dirty="0">
              <a:ea typeface="宋体" panose="02010600030101010101" pitchFamily="2" charset="-122"/>
            </a:endParaRPr>
          </a:p>
          <a:p>
            <a:pPr>
              <a:buFontTx/>
              <a:buNone/>
            </a:pPr>
            <a:r>
              <a:rPr lang="en-US" altLang="zh-CN" sz="2400" dirty="0">
                <a:ea typeface="宋体" panose="02010600030101010101" pitchFamily="2" charset="-122"/>
              </a:rPr>
              <a:t> </a:t>
            </a:r>
            <a:r>
              <a:rPr lang="en-US" altLang="zh-CN" sz="2400" dirty="0" err="1">
                <a:ea typeface="宋体" panose="02010600030101010101" pitchFamily="2" charset="-122"/>
              </a:rPr>
              <a:t>glEnd</a:t>
            </a:r>
            <a:r>
              <a:rPr lang="en-US" altLang="zh-CN" sz="2400" dirty="0">
                <a:ea typeface="宋体" panose="02010600030101010101" pitchFamily="2" charset="-122"/>
              </a:rPr>
              <a:t> ();</a:t>
            </a:r>
            <a:endParaRPr lang="en-US" altLang="zh-CN" sz="2400" dirty="0">
              <a:ea typeface="宋体" panose="02010600030101010101" pitchFamily="2" charset="-122"/>
            </a:endParaRPr>
          </a:p>
          <a:p>
            <a:pPr>
              <a:buFontTx/>
              <a:buNone/>
            </a:pPr>
            <a:r>
              <a:rPr lang="en-US" altLang="zh-CN" sz="2400" dirty="0">
                <a:ea typeface="宋体" panose="02010600030101010101" pitchFamily="2" charset="-122"/>
              </a:rPr>
              <a:t> </a:t>
            </a:r>
            <a:r>
              <a:rPr lang="en-US" altLang="zh-CN" sz="2400" dirty="0" err="1">
                <a:ea typeface="宋体" panose="02010600030101010101" pitchFamily="2" charset="-122"/>
              </a:rPr>
              <a:t>glFlush</a:t>
            </a:r>
            <a:r>
              <a:rPr lang="en-US" altLang="zh-CN" sz="2400" dirty="0">
                <a:ea typeface="宋体" panose="02010600030101010101" pitchFamily="2" charset="-122"/>
              </a:rPr>
              <a:t>(); </a:t>
            </a:r>
            <a:r>
              <a:rPr lang="en-US" altLang="zh-CN" sz="1800" dirty="0">
                <a:ea typeface="宋体" panose="02010600030101010101" pitchFamily="2" charset="-122"/>
              </a:rPr>
              <a:t>#</a:t>
            </a:r>
            <a:r>
              <a:rPr lang="zh-CN" altLang="en-US" sz="1800" dirty="0"/>
              <a:t>刷新缓冲区，将绘制的点显示在屏幕上</a:t>
            </a:r>
            <a:endParaRPr lang="en-US" altLang="zh-CN" sz="1800" dirty="0">
              <a:ea typeface="宋体" panose="02010600030101010101" pitchFamily="2" charset="-122"/>
            </a:endParaRPr>
          </a:p>
          <a:p>
            <a:pPr>
              <a:buFontTx/>
              <a:buNone/>
            </a:pPr>
            <a:r>
              <a:rPr lang="en-US" altLang="zh-CN" sz="2400" dirty="0">
                <a:ea typeface="宋体" panose="02010600030101010101" pitchFamily="2" charset="-122"/>
              </a:rPr>
              <a:t>}</a:t>
            </a:r>
            <a:endParaRPr lang="en-US" altLang="zh-CN" sz="2400" dirty="0">
              <a:ea typeface="宋体" panose="02010600030101010101" pitchFamily="2" charset="-122"/>
            </a:endParaRPr>
          </a:p>
        </p:txBody>
      </p:sp>
      <p:sp>
        <p:nvSpPr>
          <p:cNvPr id="409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2F35A9D3-4DE3-46D1-B008-9B7BC3BA41B5}" type="slidenum">
              <a:rPr lang="zh-CN" altLang="en-US">
                <a:ea typeface="宋体" panose="02010600030101010101" pitchFamily="2" charset="-122"/>
              </a:rPr>
            </a:fld>
            <a:endParaRPr lang="en-US" altLang="zh-CN">
              <a:ea typeface="宋体" panose="02010600030101010101" pitchFamily="2" charset="-122"/>
            </a:endParaRPr>
          </a:p>
        </p:txBody>
      </p:sp>
      <p:sp>
        <p:nvSpPr>
          <p:cNvPr id="40965"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6676A7EB-2115-468D-A6BD-F50061F542A0}" type="datetime10">
              <a:rPr lang="zh-CN" altLang="en-US" smtClean="0">
                <a:ea typeface="宋体" panose="02010600030101010101" pitchFamily="2" charset="-122"/>
              </a:rPr>
            </a:fld>
            <a:endParaRPr lang="en-US" altLang="zh-CN">
              <a:ea typeface="宋体" panose="02010600030101010101" pitchFamily="2" charset="-122"/>
            </a:endParaRPr>
          </a:p>
        </p:txBody>
      </p:sp>
      <p:pic>
        <p:nvPicPr>
          <p:cNvPr id="6"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15001" y="1158875"/>
            <a:ext cx="3200400" cy="3349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12B8D9B-2459-4414-86F6-61C505296C38}" type="slidenum">
              <a:rPr lang="zh-CN" altLang="en-US" sz="1400">
                <a:latin typeface="Arial" panose="020B0604020202020204" pitchFamily="34" charset="0"/>
              </a:rPr>
            </a:fld>
            <a:endParaRPr lang="en-US" altLang="zh-CN" sz="1400">
              <a:latin typeface="Arial" panose="020B0604020202020204" pitchFamily="34" charset="0"/>
            </a:endParaRPr>
          </a:p>
        </p:txBody>
      </p:sp>
      <p:sp>
        <p:nvSpPr>
          <p:cNvPr id="4" name="日期占位符 3"/>
          <p:cNvSpPr txBox="1">
            <a:spLocks noGrp="1"/>
          </p:cNvSpPr>
          <p:nvPr/>
        </p:nvSpPr>
        <p:spPr bwMode="auto">
          <a:xfrm>
            <a:off x="457200" y="6461125"/>
            <a:ext cx="2133600" cy="320675"/>
          </a:xfrm>
          <a:prstGeom prst="rect">
            <a:avLst/>
          </a:prstGeom>
          <a:noFill/>
          <a:ln>
            <a:miter lim="800000"/>
          </a:ln>
        </p:spPr>
        <p:txBody>
          <a:bodyPr/>
          <a:lstStyle/>
          <a:p>
            <a:pPr eaLnBrk="1" hangingPunct="1">
              <a:defRPr/>
            </a:pPr>
            <a:fld id="{869A09A1-F7B2-4F45-B7DE-0B110DD3F6BF}" type="datetime1">
              <a:rPr lang="zh-CN" altLang="en-US" sz="1400">
                <a:latin typeface="+mj-lt"/>
                <a:ea typeface="宋体" panose="02010600030101010101" pitchFamily="2" charset="-122"/>
              </a:rPr>
            </a:fld>
            <a:endParaRPr lang="en-US" altLang="zh-CN" sz="1400">
              <a:latin typeface="+mj-lt"/>
              <a:ea typeface="宋体" panose="02010600030101010101" pitchFamily="2" charset="-122"/>
            </a:endParaRPr>
          </a:p>
        </p:txBody>
      </p:sp>
      <p:sp>
        <p:nvSpPr>
          <p:cNvPr id="45060" name="灯片编号占位符 5"/>
          <p:cNvSpPr txBox="1">
            <a:spLocks noGrp="1" noChangeArrowheads="1"/>
          </p:cNvSpPr>
          <p:nvPr/>
        </p:nvSpPr>
        <p:spPr bwMode="auto">
          <a:xfrm>
            <a:off x="6553200" y="6461125"/>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pPr>
            <a:fld id="{CCB4CEB3-6A65-4E45-B4A1-ED28BE2D65E8}" type="slidenum">
              <a:rPr lang="zh-CN" altLang="en-US" sz="1400">
                <a:latin typeface="Arial" panose="020B0604020202020204" pitchFamily="34" charset="0"/>
                <a:ea typeface="宋体" panose="02010600030101010101" pitchFamily="2" charset="-122"/>
              </a:rPr>
            </a:fld>
            <a:endParaRPr lang="en-US" altLang="zh-CN" sz="1400">
              <a:latin typeface="Arial" panose="020B0604020202020204" pitchFamily="34" charset="0"/>
              <a:ea typeface="宋体" panose="02010600030101010101" pitchFamily="2" charset="-122"/>
            </a:endParaRPr>
          </a:p>
        </p:txBody>
      </p:sp>
      <p:sp>
        <p:nvSpPr>
          <p:cNvPr id="45061" name="Rectangle 2"/>
          <p:cNvSpPr>
            <a:spLocks noGrp="1" noChangeArrowheads="1"/>
          </p:cNvSpPr>
          <p:nvPr>
            <p:ph type="title" idx="4294967295"/>
          </p:nvPr>
        </p:nvSpPr>
        <p:spPr/>
        <p:txBody>
          <a:bodyPr/>
          <a:lstStyle/>
          <a:p>
            <a:pPr eaLnBrk="1" hangingPunct="1"/>
            <a:r>
              <a:rPr lang="en-US" altLang="zh-CN">
                <a:ea typeface="宋体" panose="02010600030101010101" pitchFamily="2" charset="-122"/>
              </a:rPr>
              <a:t>DirectX</a:t>
            </a:r>
            <a:endParaRPr lang="zh-CN" altLang="en-US">
              <a:ea typeface="宋体" panose="02010600030101010101" pitchFamily="2" charset="-122"/>
            </a:endParaRPr>
          </a:p>
        </p:txBody>
      </p:sp>
      <p:sp>
        <p:nvSpPr>
          <p:cNvPr id="46086" name="Rectangle 3"/>
          <p:cNvSpPr>
            <a:spLocks noGrp="1" noChangeArrowheads="1"/>
          </p:cNvSpPr>
          <p:nvPr>
            <p:ph type="body" idx="4294967295"/>
          </p:nvPr>
        </p:nvSpPr>
        <p:spPr>
          <a:xfrm>
            <a:off x="228600" y="1066800"/>
            <a:ext cx="8763000" cy="5181600"/>
          </a:xfrm>
        </p:spPr>
        <p:txBody>
          <a:bodyPr/>
          <a:lstStyle/>
          <a:p>
            <a:pPr eaLnBrk="1" hangingPunct="1"/>
            <a:r>
              <a:rPr lang="zh-CN" altLang="en-US">
                <a:ea typeface="宋体" panose="02010600030101010101" pitchFamily="2" charset="-122"/>
              </a:rPr>
              <a:t>一组低级“应用程序编程接口 </a:t>
            </a:r>
            <a:r>
              <a:rPr lang="en-US" altLang="zh-CN">
                <a:ea typeface="宋体" panose="02010600030101010101" pitchFamily="2" charset="-122"/>
              </a:rPr>
              <a:t>(API)”</a:t>
            </a:r>
            <a:r>
              <a:rPr lang="zh-CN" altLang="en-US">
                <a:ea typeface="宋体" panose="02010600030101010101" pitchFamily="2" charset="-122"/>
              </a:rPr>
              <a:t>，可为 </a:t>
            </a:r>
            <a:r>
              <a:rPr lang="en-US" altLang="zh-CN">
                <a:ea typeface="宋体" panose="02010600030101010101" pitchFamily="2" charset="-122"/>
              </a:rPr>
              <a:t>Windows </a:t>
            </a:r>
            <a:r>
              <a:rPr lang="zh-CN" altLang="en-US">
                <a:ea typeface="宋体" panose="02010600030101010101" pitchFamily="2" charset="-122"/>
              </a:rPr>
              <a:t>程序提供高性能硬件加速多媒体支持</a:t>
            </a:r>
            <a:endParaRPr lang="en-US" altLang="zh-CN">
              <a:ea typeface="宋体" panose="02010600030101010101" pitchFamily="2" charset="-122"/>
            </a:endParaRPr>
          </a:p>
          <a:p>
            <a:pPr eaLnBrk="1" hangingPunct="1"/>
            <a:r>
              <a:rPr lang="en-US" altLang="zh-CN" b="1">
                <a:solidFill>
                  <a:schemeClr val="accent2"/>
                </a:solidFill>
                <a:ea typeface="宋体" panose="02010600030101010101" pitchFamily="2" charset="-122"/>
              </a:rPr>
              <a:t>Direct</a:t>
            </a:r>
            <a:r>
              <a:rPr lang="en-US" altLang="zh-CN">
                <a:ea typeface="宋体" panose="02010600030101010101" pitchFamily="2" charset="-122"/>
              </a:rPr>
              <a:t>X</a:t>
            </a:r>
            <a:r>
              <a:rPr lang="zh-CN" altLang="en-US">
                <a:ea typeface="宋体" panose="02010600030101010101" pitchFamily="2" charset="-122"/>
              </a:rPr>
              <a:t>：</a:t>
            </a:r>
            <a:r>
              <a:rPr lang="zh-CN" altLang="en-US" b="1">
                <a:solidFill>
                  <a:schemeClr val="accent2"/>
                </a:solidFill>
                <a:ea typeface="宋体" panose="02010600030101010101" pitchFamily="2" charset="-122"/>
              </a:rPr>
              <a:t>直接</a:t>
            </a:r>
            <a:r>
              <a:rPr lang="zh-CN" altLang="en-US">
                <a:ea typeface="宋体" panose="02010600030101010101" pitchFamily="2" charset="-122"/>
              </a:rPr>
              <a:t>访问显卡与声卡功能，确保多媒体程序能够充分利用高性能硬件</a:t>
            </a:r>
            <a:r>
              <a:rPr lang="en-US" altLang="zh-CN">
                <a:ea typeface="宋体" panose="02010600030101010101" pitchFamily="2" charset="-122"/>
              </a:rPr>
              <a:t>,</a:t>
            </a:r>
            <a:r>
              <a:rPr lang="zh-CN" altLang="en-US">
                <a:ea typeface="宋体" panose="02010600030101010101" pitchFamily="2" charset="-122"/>
              </a:rPr>
              <a:t>从而提供逼真的三维 图形与声音效果</a:t>
            </a:r>
            <a:endParaRPr lang="en-US" altLang="zh-CN">
              <a:ea typeface="宋体" panose="02010600030101010101" pitchFamily="2" charset="-122"/>
            </a:endParaRPr>
          </a:p>
          <a:p>
            <a:pPr eaLnBrk="1" hangingPunct="1"/>
            <a:r>
              <a:rPr lang="en-US" altLang="zh-CN">
                <a:ea typeface="宋体" panose="02010600030101010101" pitchFamily="2" charset="-122"/>
              </a:rPr>
              <a:t>Direct</a:t>
            </a:r>
            <a:r>
              <a:rPr lang="en-US" altLang="zh-CN" b="1">
                <a:solidFill>
                  <a:schemeClr val="accent2"/>
                </a:solidFill>
                <a:ea typeface="宋体" panose="02010600030101010101" pitchFamily="2" charset="-122"/>
              </a:rPr>
              <a:t>X</a:t>
            </a:r>
            <a:r>
              <a:rPr lang="zh-CN" altLang="en-US">
                <a:ea typeface="宋体" panose="02010600030101010101" pitchFamily="2" charset="-122"/>
              </a:rPr>
              <a:t>：由</a:t>
            </a:r>
            <a:r>
              <a:rPr lang="zh-CN" altLang="en-US" b="1">
                <a:solidFill>
                  <a:schemeClr val="accent2"/>
                </a:solidFill>
                <a:ea typeface="宋体" panose="02010600030101010101" pitchFamily="2" charset="-122"/>
              </a:rPr>
              <a:t>很多</a:t>
            </a:r>
            <a:r>
              <a:rPr lang="en-US" altLang="zh-CN">
                <a:ea typeface="宋体" panose="02010600030101010101" pitchFamily="2" charset="-122"/>
              </a:rPr>
              <a:t>API</a:t>
            </a:r>
            <a:r>
              <a:rPr lang="zh-CN" altLang="en-US">
                <a:ea typeface="宋体" panose="02010600030101010101" pitchFamily="2" charset="-122"/>
              </a:rPr>
              <a:t>组成，可以分为四大部分，显示、声音、输入和网络部分</a:t>
            </a:r>
            <a:r>
              <a:rPr lang="en-US" altLang="zh-CN">
                <a:ea typeface="宋体" panose="02010600030101010101" pitchFamily="2" charset="-122"/>
              </a:rPr>
              <a:t>DirectDraw,Direct3D,DirectSound, Direct Input, DirectPlay</a:t>
            </a:r>
            <a:endParaRPr lang="en-US" altLang="zh-CN">
              <a:ea typeface="宋体" panose="02010600030101010101" pitchFamily="2" charset="-122"/>
            </a:endParaRPr>
          </a:p>
          <a:p>
            <a:pPr eaLnBrk="1" hangingPunct="1"/>
            <a:endParaRPr lang="zh-CN" altLang="en-US">
              <a:ea typeface="宋体" panose="02010600030101010101" pitchFamily="2" charset="-122"/>
            </a:endParaRPr>
          </a:p>
        </p:txBody>
      </p:sp>
      <p:sp>
        <p:nvSpPr>
          <p:cNvPr id="45064"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03BA6BD-E262-4674-B1BB-423A688441D3}" type="datetime10">
              <a:rPr lang="zh-CN" altLang="en-US" sz="1400" smtClean="0">
                <a:latin typeface="Arial" panose="020B0604020202020204" pitchFamily="34" charset="0"/>
              </a:rPr>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086">
                                            <p:txEl>
                                              <p:pRg st="1" end="1"/>
                                            </p:txEl>
                                          </p:spTgt>
                                        </p:tgtEl>
                                        <p:attrNameLst>
                                          <p:attrName>style.visibility</p:attrName>
                                        </p:attrNameLst>
                                      </p:cBhvr>
                                      <p:to>
                                        <p:strVal val="visible"/>
                                      </p:to>
                                    </p:set>
                                    <p:animEffect transition="in" filter="blinds(horizontal)">
                                      <p:cBhvr>
                                        <p:cTn id="7" dur="500"/>
                                        <p:tgtEl>
                                          <p:spTgt spid="4608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6086">
                                            <p:txEl>
                                              <p:pRg st="2" end="2"/>
                                            </p:txEl>
                                          </p:spTgt>
                                        </p:tgtEl>
                                        <p:attrNameLst>
                                          <p:attrName>style.visibility</p:attrName>
                                        </p:attrNameLst>
                                      </p:cBhvr>
                                      <p:to>
                                        <p:strVal val="visible"/>
                                      </p:to>
                                    </p:set>
                                    <p:animEffect transition="in" filter="blinds(horizontal)">
                                      <p:cBhvr>
                                        <p:cTn id="12" dur="500"/>
                                        <p:tgtEl>
                                          <p:spTgt spid="4608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B5D7635-B59F-4388-A933-CB5C150A736F}" type="slidenum">
              <a:rPr lang="zh-CN" altLang="en-US" sz="1400">
                <a:latin typeface="Arial" panose="020B0604020202020204" pitchFamily="34" charset="0"/>
              </a:rPr>
            </a:fld>
            <a:endParaRPr lang="en-US" altLang="zh-CN" sz="1400">
              <a:latin typeface="Arial" panose="020B0604020202020204" pitchFamily="34" charset="0"/>
            </a:endParaRPr>
          </a:p>
        </p:txBody>
      </p:sp>
      <p:sp>
        <p:nvSpPr>
          <p:cNvPr id="4" name="日期占位符 3"/>
          <p:cNvSpPr txBox="1">
            <a:spLocks noGrp="1"/>
          </p:cNvSpPr>
          <p:nvPr/>
        </p:nvSpPr>
        <p:spPr bwMode="auto">
          <a:xfrm>
            <a:off x="457200" y="6461125"/>
            <a:ext cx="2133600" cy="320675"/>
          </a:xfrm>
          <a:prstGeom prst="rect">
            <a:avLst/>
          </a:prstGeom>
          <a:noFill/>
          <a:ln>
            <a:miter lim="800000"/>
          </a:ln>
        </p:spPr>
        <p:txBody>
          <a:bodyPr/>
          <a:lstStyle/>
          <a:p>
            <a:pPr eaLnBrk="1" hangingPunct="1">
              <a:defRPr/>
            </a:pPr>
            <a:fld id="{869A09A1-F7B2-4F45-B7DE-0B110DD3F6BF}" type="datetime1">
              <a:rPr lang="zh-CN" altLang="en-US" sz="1400">
                <a:latin typeface="+mj-lt"/>
                <a:ea typeface="宋体" panose="02010600030101010101" pitchFamily="2" charset="-122"/>
              </a:rPr>
            </a:fld>
            <a:endParaRPr lang="en-US" altLang="zh-CN" sz="1400">
              <a:latin typeface="+mj-lt"/>
              <a:ea typeface="宋体" panose="02010600030101010101" pitchFamily="2" charset="-122"/>
            </a:endParaRPr>
          </a:p>
        </p:txBody>
      </p:sp>
      <p:sp>
        <p:nvSpPr>
          <p:cNvPr id="47108" name="灯片编号占位符 5"/>
          <p:cNvSpPr txBox="1">
            <a:spLocks noGrp="1" noChangeArrowheads="1"/>
          </p:cNvSpPr>
          <p:nvPr/>
        </p:nvSpPr>
        <p:spPr bwMode="auto">
          <a:xfrm>
            <a:off x="6553200" y="6461125"/>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pPr>
            <a:fld id="{7DF663FA-946A-44DD-87EB-794927746B4E}" type="slidenum">
              <a:rPr lang="zh-CN" altLang="en-US" sz="1400">
                <a:latin typeface="Arial" panose="020B0604020202020204" pitchFamily="34" charset="0"/>
                <a:ea typeface="宋体" panose="02010600030101010101" pitchFamily="2" charset="-122"/>
              </a:rPr>
            </a:fld>
            <a:endParaRPr lang="en-US" altLang="zh-CN" sz="1400">
              <a:latin typeface="Arial" panose="020B0604020202020204" pitchFamily="34" charset="0"/>
              <a:ea typeface="宋体" panose="02010600030101010101" pitchFamily="2" charset="-122"/>
            </a:endParaRPr>
          </a:p>
        </p:txBody>
      </p:sp>
      <p:sp>
        <p:nvSpPr>
          <p:cNvPr id="47109" name="Rectangle 2"/>
          <p:cNvSpPr>
            <a:spLocks noGrp="1" noChangeArrowheads="1"/>
          </p:cNvSpPr>
          <p:nvPr>
            <p:ph type="title" idx="4294967295"/>
          </p:nvPr>
        </p:nvSpPr>
        <p:spPr/>
        <p:txBody>
          <a:bodyPr/>
          <a:lstStyle/>
          <a:p>
            <a:pPr eaLnBrk="1" hangingPunct="1"/>
            <a:r>
              <a:rPr lang="en-US" altLang="zh-CN">
                <a:ea typeface="宋体" panose="02010600030101010101" pitchFamily="2" charset="-122"/>
              </a:rPr>
              <a:t>DirectX</a:t>
            </a:r>
            <a:endParaRPr lang="zh-CN" altLang="en-US">
              <a:ea typeface="宋体" panose="02010600030101010101" pitchFamily="2" charset="-122"/>
            </a:endParaRPr>
          </a:p>
        </p:txBody>
      </p:sp>
      <p:sp>
        <p:nvSpPr>
          <p:cNvPr id="47110" name="Rectangle 3"/>
          <p:cNvSpPr>
            <a:spLocks noGrp="1" noChangeArrowheads="1"/>
          </p:cNvSpPr>
          <p:nvPr>
            <p:ph type="body" idx="4294967295"/>
          </p:nvPr>
        </p:nvSpPr>
        <p:spPr>
          <a:xfrm>
            <a:off x="228600" y="1066800"/>
            <a:ext cx="8839200" cy="5181600"/>
          </a:xfrm>
        </p:spPr>
        <p:txBody>
          <a:bodyPr/>
          <a:lstStyle/>
          <a:p>
            <a:pPr marL="0" indent="0">
              <a:buFontTx/>
              <a:buNone/>
            </a:pPr>
            <a:r>
              <a:rPr lang="en-US" altLang="zh-CN" sz="2400" dirty="0">
                <a:ea typeface="宋体" panose="02010600030101010101" pitchFamily="2" charset="-122"/>
              </a:rPr>
              <a:t>void Render(){</a:t>
            </a:r>
            <a:endParaRPr lang="en-US" altLang="zh-CN" sz="2400" dirty="0">
              <a:ea typeface="宋体" panose="02010600030101010101" pitchFamily="2" charset="-122"/>
            </a:endParaRPr>
          </a:p>
          <a:p>
            <a:pPr marL="0" indent="0">
              <a:buFontTx/>
              <a:buNone/>
            </a:pPr>
            <a:r>
              <a:rPr lang="en-US" altLang="zh-CN" sz="2400" dirty="0">
                <a:ea typeface="宋体" panose="02010600030101010101" pitchFamily="2" charset="-122"/>
              </a:rPr>
              <a:t>   g_pD3DDevice-&gt;Clear(0, NULL, D3DCLEAR_TARGET | D3DCLEAR_ZBUFFER,D3DCOLOR_XRGB(0, 128, 0), 1.0f, 0);</a:t>
            </a:r>
            <a:endParaRPr lang="en-US" altLang="zh-CN" sz="2400" dirty="0">
              <a:ea typeface="宋体" panose="02010600030101010101" pitchFamily="2" charset="-122"/>
            </a:endParaRPr>
          </a:p>
          <a:p>
            <a:pPr marL="0" indent="0">
              <a:buFontTx/>
              <a:buNone/>
            </a:pPr>
            <a:r>
              <a:rPr lang="en-US" altLang="zh-CN" sz="2400" dirty="0">
                <a:ea typeface="宋体" panose="02010600030101010101" pitchFamily="2" charset="-122"/>
              </a:rPr>
              <a:t>   g_pD3DDevice-&gt;</a:t>
            </a:r>
            <a:r>
              <a:rPr lang="en-US" altLang="zh-CN" sz="2400" dirty="0" err="1">
                <a:ea typeface="宋体" panose="02010600030101010101" pitchFamily="2" charset="-122"/>
              </a:rPr>
              <a:t>BeginScene</a:t>
            </a:r>
            <a:r>
              <a:rPr lang="en-US" altLang="zh-CN" sz="2400" dirty="0">
                <a:ea typeface="宋体" panose="02010600030101010101" pitchFamily="2" charset="-122"/>
              </a:rPr>
              <a:t>();  </a:t>
            </a:r>
            <a:r>
              <a:rPr lang="en-US" altLang="zh-CN" sz="1800" dirty="0">
                <a:ea typeface="宋体" panose="02010600030101010101" pitchFamily="2" charset="-122"/>
              </a:rPr>
              <a:t>#</a:t>
            </a:r>
            <a:r>
              <a:rPr lang="zh-CN" altLang="en-US" sz="1800" dirty="0">
                <a:ea typeface="宋体" panose="02010600030101010101" pitchFamily="2" charset="-122"/>
              </a:rPr>
              <a:t>开始一个新的渲染场景</a:t>
            </a:r>
            <a:endParaRPr lang="en-US" altLang="zh-CN" sz="1800" dirty="0">
              <a:ea typeface="宋体" panose="02010600030101010101" pitchFamily="2" charset="-122"/>
            </a:endParaRPr>
          </a:p>
          <a:p>
            <a:pPr marL="0" indent="0">
              <a:buFontTx/>
              <a:buNone/>
            </a:pPr>
            <a:r>
              <a:rPr lang="en-US" altLang="zh-CN" sz="2400" dirty="0">
                <a:ea typeface="宋体" panose="02010600030101010101" pitchFamily="2" charset="-122"/>
              </a:rPr>
              <a:t>   g_pD3DDevice-&gt;</a:t>
            </a:r>
            <a:r>
              <a:rPr lang="en-US" altLang="zh-CN" sz="2400" dirty="0" err="1">
                <a:ea typeface="宋体" panose="02010600030101010101" pitchFamily="2" charset="-122"/>
              </a:rPr>
              <a:t>SetStreamSource</a:t>
            </a:r>
            <a:r>
              <a:rPr lang="en-US" altLang="zh-CN" sz="2400" dirty="0">
                <a:ea typeface="宋体" panose="02010600030101010101" pitchFamily="2" charset="-122"/>
              </a:rPr>
              <a:t>(0, g_pD3DVBuffer, 0, </a:t>
            </a:r>
            <a:r>
              <a:rPr lang="en-US" altLang="zh-CN" sz="2400" dirty="0" err="1">
                <a:ea typeface="宋体" panose="02010600030101010101" pitchFamily="2" charset="-122"/>
              </a:rPr>
              <a:t>sizeof</a:t>
            </a:r>
            <a:r>
              <a:rPr lang="en-US" altLang="zh-CN" sz="2400" dirty="0">
                <a:ea typeface="宋体" panose="02010600030101010101" pitchFamily="2" charset="-122"/>
              </a:rPr>
              <a:t>(MYVERTEX)); </a:t>
            </a:r>
            <a:r>
              <a:rPr lang="en-US" altLang="zh-CN" sz="1800" dirty="0">
                <a:ea typeface="宋体" panose="02010600030101010101" pitchFamily="2" charset="-122"/>
              </a:rPr>
              <a:t>#</a:t>
            </a:r>
            <a:r>
              <a:rPr lang="zh-CN" altLang="en-US" sz="1800" dirty="0">
                <a:ea typeface="宋体" panose="02010600030101010101" pitchFamily="2" charset="-122"/>
              </a:rPr>
              <a:t>设置顶点缓冲区 （缓冲区，偏移量，顶点数据量）</a:t>
            </a:r>
            <a:endParaRPr lang="en-US" altLang="zh-CN" sz="1800" dirty="0">
              <a:ea typeface="宋体" panose="02010600030101010101" pitchFamily="2" charset="-122"/>
            </a:endParaRPr>
          </a:p>
          <a:p>
            <a:pPr marL="0" indent="0">
              <a:buFontTx/>
              <a:buNone/>
            </a:pPr>
            <a:r>
              <a:rPr lang="en-US" altLang="zh-CN" sz="2400" dirty="0">
                <a:ea typeface="宋体" panose="02010600030101010101" pitchFamily="2" charset="-122"/>
              </a:rPr>
              <a:t>   g_pD3DDevice-&gt;</a:t>
            </a:r>
            <a:r>
              <a:rPr lang="en-US" altLang="zh-CN" sz="2400" dirty="0" err="1">
                <a:ea typeface="宋体" panose="02010600030101010101" pitchFamily="2" charset="-122"/>
              </a:rPr>
              <a:t>SetFVF</a:t>
            </a:r>
            <a:r>
              <a:rPr lang="en-US" altLang="zh-CN" sz="2400" dirty="0">
                <a:ea typeface="宋体" panose="02010600030101010101" pitchFamily="2" charset="-122"/>
              </a:rPr>
              <a:t>(D3DFVF_MYVERTEX); </a:t>
            </a:r>
            <a:r>
              <a:rPr lang="en-US" altLang="zh-CN" sz="1800" dirty="0">
                <a:ea typeface="宋体" panose="02010600030101010101" pitchFamily="2" charset="-122"/>
              </a:rPr>
              <a:t>#</a:t>
            </a:r>
            <a:r>
              <a:rPr lang="zh-CN" altLang="en-US" sz="1800" dirty="0">
                <a:ea typeface="宋体" panose="02010600030101010101" pitchFamily="2" charset="-122"/>
              </a:rPr>
              <a:t>设置顶点格式</a:t>
            </a:r>
            <a:endParaRPr lang="en-US" altLang="zh-CN" sz="1800" dirty="0">
              <a:ea typeface="宋体" panose="02010600030101010101" pitchFamily="2" charset="-122"/>
            </a:endParaRPr>
          </a:p>
          <a:p>
            <a:pPr marL="0" indent="0">
              <a:buFontTx/>
              <a:buNone/>
            </a:pPr>
            <a:r>
              <a:rPr lang="en-US" altLang="zh-CN" sz="2400" dirty="0">
                <a:ea typeface="宋体" panose="02010600030101010101" pitchFamily="2" charset="-122"/>
              </a:rPr>
              <a:t>   g_pD3DDevice-&gt;</a:t>
            </a:r>
            <a:r>
              <a:rPr lang="en-US" altLang="zh-CN" sz="2400" dirty="0" err="1">
                <a:ea typeface="宋体" panose="02010600030101010101" pitchFamily="2" charset="-122"/>
              </a:rPr>
              <a:t>DrawPrimitive</a:t>
            </a:r>
            <a:r>
              <a:rPr lang="en-US" altLang="zh-CN" sz="2400" dirty="0">
                <a:ea typeface="宋体" panose="02010600030101010101" pitchFamily="2" charset="-122"/>
              </a:rPr>
              <a:t>(D3DPT_TRIANGLESTRIP, 0, 6);  </a:t>
            </a:r>
            <a:r>
              <a:rPr lang="en-US" altLang="zh-CN" sz="1800" dirty="0">
                <a:ea typeface="宋体" panose="02010600030101010101" pitchFamily="2" charset="-122"/>
              </a:rPr>
              <a:t>#</a:t>
            </a:r>
            <a:r>
              <a:rPr lang="zh-CN" altLang="en-US" sz="1800" dirty="0">
                <a:ea typeface="宋体" panose="02010600030101010101" pitchFamily="2" charset="-122"/>
              </a:rPr>
              <a:t>绘制</a:t>
            </a:r>
            <a:r>
              <a:rPr lang="en-US" altLang="zh-CN" sz="1800" dirty="0">
                <a:ea typeface="宋体" panose="02010600030101010101" pitchFamily="2" charset="-122"/>
              </a:rPr>
              <a:t>6</a:t>
            </a:r>
            <a:r>
              <a:rPr lang="zh-CN" altLang="en-US" sz="1800" dirty="0">
                <a:ea typeface="宋体" panose="02010600030101010101" pitchFamily="2" charset="-122"/>
              </a:rPr>
              <a:t>个图元（三角形带）</a:t>
            </a:r>
            <a:endParaRPr lang="en-US" altLang="zh-CN" sz="1800" dirty="0">
              <a:ea typeface="宋体" panose="02010600030101010101" pitchFamily="2" charset="-122"/>
            </a:endParaRPr>
          </a:p>
          <a:p>
            <a:pPr marL="0" indent="0">
              <a:buFontTx/>
              <a:buNone/>
            </a:pPr>
            <a:r>
              <a:rPr lang="en-US" altLang="zh-CN" sz="2400" dirty="0">
                <a:ea typeface="宋体" panose="02010600030101010101" pitchFamily="2" charset="-122"/>
              </a:rPr>
              <a:t>   g_pD3DDevice-&gt;</a:t>
            </a:r>
            <a:r>
              <a:rPr lang="en-US" altLang="zh-CN" sz="2400" dirty="0" err="1">
                <a:ea typeface="宋体" panose="02010600030101010101" pitchFamily="2" charset="-122"/>
              </a:rPr>
              <a:t>EndScene</a:t>
            </a:r>
            <a:r>
              <a:rPr lang="en-US" altLang="zh-CN" sz="2400" dirty="0">
                <a:ea typeface="宋体" panose="02010600030101010101" pitchFamily="2" charset="-122"/>
              </a:rPr>
              <a:t>(); </a:t>
            </a:r>
            <a:endParaRPr lang="en-US" altLang="zh-CN" sz="2400" dirty="0">
              <a:ea typeface="宋体" panose="02010600030101010101" pitchFamily="2" charset="-122"/>
            </a:endParaRPr>
          </a:p>
          <a:p>
            <a:pPr marL="0" indent="0">
              <a:buFontTx/>
              <a:buNone/>
            </a:pPr>
            <a:r>
              <a:rPr lang="en-US" altLang="zh-CN" sz="2400" dirty="0">
                <a:ea typeface="宋体" panose="02010600030101010101" pitchFamily="2" charset="-122"/>
              </a:rPr>
              <a:t>   g_pD3DDevice-&gt;Present(NULL, NULL, NULL, NULL);#</a:t>
            </a:r>
            <a:r>
              <a:rPr lang="zh-CN" altLang="en-US" sz="1800" dirty="0">
                <a:ea typeface="宋体" panose="02010600030101010101" pitchFamily="2" charset="-122"/>
              </a:rPr>
              <a:t>显示帧</a:t>
            </a:r>
            <a:endParaRPr lang="en-US" altLang="zh-CN" sz="1800" dirty="0">
              <a:ea typeface="宋体" panose="02010600030101010101" pitchFamily="2" charset="-122"/>
            </a:endParaRPr>
          </a:p>
          <a:p>
            <a:pPr marL="0" indent="0">
              <a:buFontTx/>
              <a:buNone/>
            </a:pPr>
            <a:r>
              <a:rPr lang="en-US" altLang="zh-CN" sz="2400" dirty="0">
                <a:ea typeface="宋体" panose="02010600030101010101" pitchFamily="2" charset="-122"/>
              </a:rPr>
              <a:t>}</a:t>
            </a:r>
            <a:endParaRPr lang="en-US" altLang="zh-CN" sz="2400" dirty="0">
              <a:ea typeface="宋体" panose="02010600030101010101" pitchFamily="2" charset="-122"/>
            </a:endParaRPr>
          </a:p>
        </p:txBody>
      </p:sp>
      <p:sp>
        <p:nvSpPr>
          <p:cNvPr id="47111"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3CE62E8-43D4-4D36-B1E0-7E358098EED5}" type="datetime10">
              <a:rPr lang="zh-CN" altLang="en-US" sz="1400" smtClean="0">
                <a:latin typeface="Arial" panose="020B0604020202020204" pitchFamily="34" charset="0"/>
              </a:rPr>
            </a:fld>
            <a:endParaRPr lang="en-US" altLang="zh-CN" sz="1400">
              <a:latin typeface="Arial" panose="020B0604020202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82FA15F-478C-4021-98D4-F39B039CDEAB}" type="slidenum">
              <a:rPr lang="zh-CN" altLang="en-US" sz="1400">
                <a:latin typeface="Arial" panose="020B0604020202020204" pitchFamily="34" charset="0"/>
              </a:rPr>
            </a:fld>
            <a:endParaRPr lang="en-US" altLang="zh-CN" sz="1400">
              <a:latin typeface="Arial" panose="020B0604020202020204" pitchFamily="34" charset="0"/>
            </a:endParaRPr>
          </a:p>
        </p:txBody>
      </p:sp>
      <p:sp>
        <p:nvSpPr>
          <p:cNvPr id="4" name="日期占位符 3"/>
          <p:cNvSpPr txBox="1">
            <a:spLocks noGrp="1"/>
          </p:cNvSpPr>
          <p:nvPr/>
        </p:nvSpPr>
        <p:spPr bwMode="auto">
          <a:xfrm>
            <a:off x="457200" y="6461125"/>
            <a:ext cx="2133600" cy="320675"/>
          </a:xfrm>
          <a:prstGeom prst="rect">
            <a:avLst/>
          </a:prstGeom>
          <a:noFill/>
          <a:ln>
            <a:miter lim="800000"/>
          </a:ln>
        </p:spPr>
        <p:txBody>
          <a:bodyPr/>
          <a:lstStyle/>
          <a:p>
            <a:pPr eaLnBrk="1" hangingPunct="1">
              <a:defRPr/>
            </a:pPr>
            <a:fld id="{869A09A1-F7B2-4F45-B7DE-0B110DD3F6BF}" type="datetime1">
              <a:rPr lang="zh-CN" altLang="en-US" sz="1400">
                <a:latin typeface="+mj-lt"/>
                <a:ea typeface="宋体" panose="02010600030101010101" pitchFamily="2" charset="-122"/>
              </a:rPr>
            </a:fld>
            <a:endParaRPr lang="en-US" altLang="zh-CN" sz="1400">
              <a:latin typeface="+mj-lt"/>
              <a:ea typeface="宋体" panose="02010600030101010101" pitchFamily="2" charset="-122"/>
            </a:endParaRPr>
          </a:p>
        </p:txBody>
      </p:sp>
      <p:sp>
        <p:nvSpPr>
          <p:cNvPr id="49156" name="灯片编号占位符 5"/>
          <p:cNvSpPr txBox="1">
            <a:spLocks noGrp="1" noChangeArrowheads="1"/>
          </p:cNvSpPr>
          <p:nvPr/>
        </p:nvSpPr>
        <p:spPr bwMode="auto">
          <a:xfrm>
            <a:off x="6553200" y="6461125"/>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pPr>
            <a:fld id="{EBCDB464-1C29-447A-88F7-C445F82A132B}" type="slidenum">
              <a:rPr lang="zh-CN" altLang="en-US" sz="1400">
                <a:latin typeface="Arial" panose="020B0604020202020204" pitchFamily="34" charset="0"/>
                <a:ea typeface="宋体" panose="02010600030101010101" pitchFamily="2" charset="-122"/>
              </a:rPr>
            </a:fld>
            <a:endParaRPr lang="en-US" altLang="zh-CN" sz="1400">
              <a:latin typeface="Arial" panose="020B0604020202020204" pitchFamily="34" charset="0"/>
              <a:ea typeface="宋体" panose="02010600030101010101" pitchFamily="2" charset="-122"/>
            </a:endParaRPr>
          </a:p>
        </p:txBody>
      </p:sp>
      <p:sp>
        <p:nvSpPr>
          <p:cNvPr id="49157" name="Rectangle 2"/>
          <p:cNvSpPr>
            <a:spLocks noGrp="1" noChangeArrowheads="1"/>
          </p:cNvSpPr>
          <p:nvPr>
            <p:ph type="title" idx="4294967295"/>
          </p:nvPr>
        </p:nvSpPr>
        <p:spPr/>
        <p:txBody>
          <a:bodyPr/>
          <a:lstStyle/>
          <a:p>
            <a:pPr eaLnBrk="1" hangingPunct="1"/>
            <a:r>
              <a:rPr lang="en-US" altLang="zh-CN">
                <a:ea typeface="宋体" panose="02010600030101010101" pitchFamily="2" charset="-122"/>
              </a:rPr>
              <a:t>OpenGL</a:t>
            </a:r>
            <a:r>
              <a:rPr lang="zh-CN" altLang="en-US">
                <a:ea typeface="宋体" panose="02010600030101010101" pitchFamily="2" charset="-122"/>
              </a:rPr>
              <a:t>与</a:t>
            </a:r>
            <a:r>
              <a:rPr lang="en-US" altLang="zh-CN">
                <a:ea typeface="宋体" panose="02010600030101010101" pitchFamily="2" charset="-122"/>
              </a:rPr>
              <a:t>DirectX</a:t>
            </a:r>
            <a:endParaRPr lang="zh-CN" altLang="en-US">
              <a:ea typeface="宋体" panose="02010600030101010101" pitchFamily="2" charset="-122"/>
            </a:endParaRPr>
          </a:p>
        </p:txBody>
      </p:sp>
      <p:sp>
        <p:nvSpPr>
          <p:cNvPr id="46086" name="Rectangle 3"/>
          <p:cNvSpPr>
            <a:spLocks noGrp="1" noChangeArrowheads="1"/>
          </p:cNvSpPr>
          <p:nvPr>
            <p:ph type="body" idx="4294967295"/>
          </p:nvPr>
        </p:nvSpPr>
        <p:spPr>
          <a:xfrm>
            <a:off x="228600" y="1066800"/>
            <a:ext cx="8763000" cy="5181600"/>
          </a:xfrm>
        </p:spPr>
        <p:txBody>
          <a:bodyPr/>
          <a:lstStyle/>
          <a:p>
            <a:pPr eaLnBrk="1" hangingPunct="1"/>
            <a:r>
              <a:rPr lang="en-US" altLang="zh-CN">
                <a:ea typeface="宋体" panose="02010600030101010101" pitchFamily="2" charset="-122"/>
              </a:rPr>
              <a:t>OpenGL</a:t>
            </a:r>
            <a:r>
              <a:rPr lang="zh-CN" altLang="en-US">
                <a:ea typeface="宋体" panose="02010600030101010101" pitchFamily="2" charset="-122"/>
              </a:rPr>
              <a:t>是跨平台标准，且有各个平台实现；</a:t>
            </a:r>
            <a:r>
              <a:rPr lang="en-US" altLang="zh-CN">
                <a:ea typeface="宋体" panose="02010600030101010101" pitchFamily="2" charset="-122"/>
              </a:rPr>
              <a:t>DirectX</a:t>
            </a:r>
            <a:r>
              <a:rPr lang="zh-CN" altLang="en-US">
                <a:ea typeface="宋体" panose="02010600030101010101" pitchFamily="2" charset="-122"/>
              </a:rPr>
              <a:t>仅应用于</a:t>
            </a:r>
            <a:r>
              <a:rPr lang="en-US" altLang="zh-CN">
                <a:ea typeface="宋体" panose="02010600030101010101" pitchFamily="2" charset="-122"/>
              </a:rPr>
              <a:t>Windows</a:t>
            </a:r>
            <a:r>
              <a:rPr lang="zh-CN" altLang="en-US">
                <a:ea typeface="宋体" panose="02010600030101010101" pitchFamily="2" charset="-122"/>
              </a:rPr>
              <a:t>，由</a:t>
            </a:r>
            <a:r>
              <a:rPr lang="en-US" altLang="zh-CN">
                <a:ea typeface="宋体" panose="02010600030101010101" pitchFamily="2" charset="-122"/>
              </a:rPr>
              <a:t>Microsoft</a:t>
            </a:r>
            <a:r>
              <a:rPr lang="zh-CN" altLang="en-US">
                <a:ea typeface="宋体" panose="02010600030101010101" pitchFamily="2" charset="-122"/>
              </a:rPr>
              <a:t>独立开发</a:t>
            </a:r>
            <a:endParaRPr lang="zh-CN" altLang="en-US">
              <a:ea typeface="宋体" panose="02010600030101010101" pitchFamily="2" charset="-122"/>
            </a:endParaRPr>
          </a:p>
          <a:p>
            <a:pPr eaLnBrk="1" hangingPunct="1"/>
            <a:r>
              <a:rPr lang="en-US" altLang="zh-CN">
                <a:ea typeface="宋体" panose="02010600030101010101" pitchFamily="2" charset="-122"/>
              </a:rPr>
              <a:t>OpenGL</a:t>
            </a:r>
            <a:r>
              <a:rPr lang="zh-CN" altLang="en-US">
                <a:ea typeface="宋体" panose="02010600030101010101" pitchFamily="2" charset="-122"/>
              </a:rPr>
              <a:t>仅提供图形绘制功能，甚至没有交互功能；</a:t>
            </a:r>
            <a:r>
              <a:rPr lang="en-US" altLang="zh-CN">
                <a:ea typeface="宋体" panose="02010600030101010101" pitchFamily="2" charset="-122"/>
              </a:rPr>
              <a:t>DirectX</a:t>
            </a:r>
            <a:r>
              <a:rPr lang="zh-CN" altLang="en-US">
                <a:ea typeface="宋体" panose="02010600030101010101" pitchFamily="2" charset="-122"/>
              </a:rPr>
              <a:t>则提供了多媒体程序开发所需的全部</a:t>
            </a:r>
            <a:r>
              <a:rPr lang="en-US" altLang="zh-CN">
                <a:ea typeface="宋体" panose="02010600030101010101" pitchFamily="2" charset="-122"/>
              </a:rPr>
              <a:t>API</a:t>
            </a:r>
            <a:endParaRPr lang="en-US" altLang="zh-CN">
              <a:ea typeface="宋体" panose="02010600030101010101" pitchFamily="2" charset="-122"/>
            </a:endParaRPr>
          </a:p>
          <a:p>
            <a:pPr eaLnBrk="1" hangingPunct="1"/>
            <a:r>
              <a:rPr lang="en-US" altLang="zh-CN">
                <a:ea typeface="宋体" panose="02010600030101010101" pitchFamily="2" charset="-122"/>
              </a:rPr>
              <a:t>OpenGL</a:t>
            </a:r>
            <a:r>
              <a:rPr lang="zh-CN" altLang="en-US">
                <a:ea typeface="宋体" panose="02010600030101010101" pitchFamily="2" charset="-122"/>
              </a:rPr>
              <a:t>是函数库；</a:t>
            </a:r>
            <a:r>
              <a:rPr lang="en-US" altLang="zh-CN">
                <a:ea typeface="宋体" panose="02010600030101010101" pitchFamily="2" charset="-122"/>
              </a:rPr>
              <a:t>DirectX</a:t>
            </a:r>
            <a:r>
              <a:rPr lang="zh-CN" altLang="en-US">
                <a:ea typeface="宋体" panose="02010600030101010101" pitchFamily="2" charset="-122"/>
              </a:rPr>
              <a:t>则是组件库</a:t>
            </a:r>
            <a:endParaRPr lang="zh-CN" altLang="en-US">
              <a:ea typeface="宋体" panose="02010600030101010101" pitchFamily="2" charset="-122"/>
            </a:endParaRPr>
          </a:p>
          <a:p>
            <a:pPr eaLnBrk="1" hangingPunct="1"/>
            <a:r>
              <a:rPr lang="en-US" altLang="zh-CN">
                <a:ea typeface="宋体" panose="02010600030101010101" pitchFamily="2" charset="-122"/>
              </a:rPr>
              <a:t>OpenGL</a:t>
            </a:r>
            <a:r>
              <a:rPr lang="zh-CN" altLang="en-US">
                <a:ea typeface="宋体" panose="02010600030101010101" pitchFamily="2" charset="-122"/>
              </a:rPr>
              <a:t>各版本向后兼容；</a:t>
            </a:r>
            <a:r>
              <a:rPr lang="en-US" altLang="zh-CN">
                <a:ea typeface="宋体" panose="02010600030101010101" pitchFamily="2" charset="-122"/>
              </a:rPr>
              <a:t>DirectX</a:t>
            </a:r>
            <a:r>
              <a:rPr lang="zh-CN" altLang="en-US">
                <a:ea typeface="宋体" panose="02010600030101010101" pitchFamily="2" charset="-122"/>
              </a:rPr>
              <a:t>的体系结构则在不停变化，并不向后兼容</a:t>
            </a:r>
            <a:endParaRPr lang="en-US" altLang="zh-CN">
              <a:ea typeface="宋体" panose="02010600030101010101" pitchFamily="2" charset="-122"/>
            </a:endParaRPr>
          </a:p>
          <a:p>
            <a:pPr eaLnBrk="1" hangingPunct="1"/>
            <a:endParaRPr lang="zh-CN" altLang="en-US">
              <a:ea typeface="宋体" panose="02010600030101010101" pitchFamily="2" charset="-122"/>
            </a:endParaRPr>
          </a:p>
        </p:txBody>
      </p:sp>
      <p:sp>
        <p:nvSpPr>
          <p:cNvPr id="49159"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97E0E2B-2748-429C-981B-A692721B4BA0}" type="datetime10">
              <a:rPr lang="zh-CN" altLang="en-US" sz="1400" smtClean="0">
                <a:latin typeface="Arial" panose="020B0604020202020204" pitchFamily="34" charset="0"/>
              </a:rPr>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086">
                                            <p:txEl>
                                              <p:pRg st="0" end="0"/>
                                            </p:txEl>
                                          </p:spTgt>
                                        </p:tgtEl>
                                        <p:attrNameLst>
                                          <p:attrName>style.visibility</p:attrName>
                                        </p:attrNameLst>
                                      </p:cBhvr>
                                      <p:to>
                                        <p:strVal val="visible"/>
                                      </p:to>
                                    </p:set>
                                    <p:animEffect transition="in" filter="blinds(horizontal)">
                                      <p:cBhvr>
                                        <p:cTn id="7" dur="500"/>
                                        <p:tgtEl>
                                          <p:spTgt spid="460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6086">
                                            <p:txEl>
                                              <p:pRg st="1" end="1"/>
                                            </p:txEl>
                                          </p:spTgt>
                                        </p:tgtEl>
                                        <p:attrNameLst>
                                          <p:attrName>style.visibility</p:attrName>
                                        </p:attrNameLst>
                                      </p:cBhvr>
                                      <p:to>
                                        <p:strVal val="visible"/>
                                      </p:to>
                                    </p:set>
                                    <p:animEffect transition="in" filter="blinds(horizontal)">
                                      <p:cBhvr>
                                        <p:cTn id="12" dur="500"/>
                                        <p:tgtEl>
                                          <p:spTgt spid="460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6086">
                                            <p:txEl>
                                              <p:pRg st="2" end="2"/>
                                            </p:txEl>
                                          </p:spTgt>
                                        </p:tgtEl>
                                        <p:attrNameLst>
                                          <p:attrName>style.visibility</p:attrName>
                                        </p:attrNameLst>
                                      </p:cBhvr>
                                      <p:to>
                                        <p:strVal val="visible"/>
                                      </p:to>
                                    </p:set>
                                    <p:animEffect transition="in" filter="blinds(horizontal)">
                                      <p:cBhvr>
                                        <p:cTn id="17" dur="500"/>
                                        <p:tgtEl>
                                          <p:spTgt spid="4608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6086">
                                            <p:txEl>
                                              <p:pRg st="3" end="3"/>
                                            </p:txEl>
                                          </p:spTgt>
                                        </p:tgtEl>
                                        <p:attrNameLst>
                                          <p:attrName>style.visibility</p:attrName>
                                        </p:attrNameLst>
                                      </p:cBhvr>
                                      <p:to>
                                        <p:strVal val="visible"/>
                                      </p:to>
                                    </p:set>
                                    <p:animEffect transition="in" filter="blinds(horizontal)">
                                      <p:cBhvr>
                                        <p:cTn id="22" dur="500"/>
                                        <p:tgtEl>
                                          <p:spTgt spid="4608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7A04C27-30CC-4B2F-961F-9F85D5B2839F}" type="slidenum">
              <a:rPr lang="zh-CN" altLang="en-US" sz="1400">
                <a:latin typeface="Arial" panose="020B0604020202020204" pitchFamily="34" charset="0"/>
              </a:rPr>
            </a:fld>
            <a:endParaRPr lang="en-US" altLang="zh-CN" sz="1400">
              <a:latin typeface="Arial" panose="020B0604020202020204" pitchFamily="34" charset="0"/>
            </a:endParaRPr>
          </a:p>
        </p:txBody>
      </p:sp>
      <p:sp>
        <p:nvSpPr>
          <p:cNvPr id="4" name="日期占位符 3"/>
          <p:cNvSpPr txBox="1">
            <a:spLocks noGrp="1"/>
          </p:cNvSpPr>
          <p:nvPr/>
        </p:nvSpPr>
        <p:spPr bwMode="auto">
          <a:xfrm>
            <a:off x="457200" y="6461125"/>
            <a:ext cx="2133600" cy="320675"/>
          </a:xfrm>
          <a:prstGeom prst="rect">
            <a:avLst/>
          </a:prstGeom>
          <a:noFill/>
          <a:ln>
            <a:miter lim="800000"/>
          </a:ln>
        </p:spPr>
        <p:txBody>
          <a:bodyPr/>
          <a:lstStyle/>
          <a:p>
            <a:pPr eaLnBrk="1" hangingPunct="1">
              <a:defRPr/>
            </a:pPr>
            <a:fld id="{869A09A1-F7B2-4F45-B7DE-0B110DD3F6BF}" type="datetime1">
              <a:rPr lang="zh-CN" altLang="en-US" sz="1400">
                <a:latin typeface="+mj-lt"/>
                <a:ea typeface="宋体" panose="02010600030101010101" pitchFamily="2" charset="-122"/>
              </a:rPr>
            </a:fld>
            <a:endParaRPr lang="en-US" altLang="zh-CN" sz="1400">
              <a:latin typeface="+mj-lt"/>
              <a:ea typeface="宋体" panose="02010600030101010101" pitchFamily="2" charset="-122"/>
            </a:endParaRPr>
          </a:p>
        </p:txBody>
      </p:sp>
      <p:sp>
        <p:nvSpPr>
          <p:cNvPr id="51204" name="灯片编号占位符 5"/>
          <p:cNvSpPr txBox="1">
            <a:spLocks noGrp="1" noChangeArrowheads="1"/>
          </p:cNvSpPr>
          <p:nvPr/>
        </p:nvSpPr>
        <p:spPr bwMode="auto">
          <a:xfrm>
            <a:off x="6553200" y="6461125"/>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pPr>
            <a:fld id="{707BDF93-85C9-4EC1-849A-0017A1376316}" type="slidenum">
              <a:rPr lang="zh-CN" altLang="en-US" sz="1400">
                <a:latin typeface="Arial" panose="020B0604020202020204" pitchFamily="34" charset="0"/>
                <a:ea typeface="宋体" panose="02010600030101010101" pitchFamily="2" charset="-122"/>
              </a:rPr>
            </a:fld>
            <a:endParaRPr lang="en-US" altLang="zh-CN" sz="1400">
              <a:latin typeface="Arial" panose="020B0604020202020204" pitchFamily="34" charset="0"/>
              <a:ea typeface="宋体" panose="02010600030101010101" pitchFamily="2" charset="-122"/>
            </a:endParaRPr>
          </a:p>
        </p:txBody>
      </p:sp>
      <p:sp>
        <p:nvSpPr>
          <p:cNvPr id="51205" name="Rectangle 2"/>
          <p:cNvSpPr>
            <a:spLocks noGrp="1" noChangeArrowheads="1"/>
          </p:cNvSpPr>
          <p:nvPr>
            <p:ph type="title" idx="4294967295"/>
          </p:nvPr>
        </p:nvSpPr>
        <p:spPr/>
        <p:txBody>
          <a:bodyPr/>
          <a:lstStyle/>
          <a:p>
            <a:pPr eaLnBrk="1" hangingPunct="1"/>
            <a:r>
              <a:rPr lang="en-US" altLang="zh-CN">
                <a:ea typeface="宋体" panose="02010600030101010101" pitchFamily="2" charset="-122"/>
              </a:rPr>
              <a:t>OpenGL</a:t>
            </a:r>
            <a:r>
              <a:rPr lang="zh-CN" altLang="en-US">
                <a:ea typeface="宋体" panose="02010600030101010101" pitchFamily="2" charset="-122"/>
              </a:rPr>
              <a:t>与</a:t>
            </a:r>
            <a:r>
              <a:rPr lang="en-US" altLang="zh-CN">
                <a:ea typeface="宋体" panose="02010600030101010101" pitchFamily="2" charset="-122"/>
              </a:rPr>
              <a:t>DirectX</a:t>
            </a:r>
            <a:endParaRPr lang="zh-CN" altLang="en-US">
              <a:ea typeface="宋体" panose="02010600030101010101" pitchFamily="2" charset="-122"/>
            </a:endParaRPr>
          </a:p>
        </p:txBody>
      </p:sp>
      <p:sp>
        <p:nvSpPr>
          <p:cNvPr id="46086" name="Rectangle 3"/>
          <p:cNvSpPr>
            <a:spLocks noGrp="1" noChangeArrowheads="1"/>
          </p:cNvSpPr>
          <p:nvPr>
            <p:ph type="body" idx="4294967295"/>
          </p:nvPr>
        </p:nvSpPr>
        <p:spPr>
          <a:xfrm>
            <a:off x="228600" y="1066800"/>
            <a:ext cx="8763000" cy="5181600"/>
          </a:xfrm>
        </p:spPr>
        <p:txBody>
          <a:bodyPr/>
          <a:lstStyle/>
          <a:p>
            <a:pPr eaLnBrk="1" hangingPunct="1"/>
            <a:r>
              <a:rPr lang="zh-CN" altLang="en-US" dirty="0">
                <a:ea typeface="宋体" panose="02010600030101010101" pitchFamily="2" charset="-122"/>
              </a:rPr>
              <a:t>一般显卡厂商都支持</a:t>
            </a:r>
            <a:r>
              <a:rPr lang="en-US" altLang="zh-CN" dirty="0">
                <a:ea typeface="宋体" panose="02010600030101010101" pitchFamily="2" charset="-122"/>
              </a:rPr>
              <a:t>OpenGL</a:t>
            </a:r>
            <a:r>
              <a:rPr lang="zh-CN" altLang="en-US" dirty="0">
                <a:ea typeface="宋体" panose="02010600030101010101" pitchFamily="2" charset="-122"/>
              </a:rPr>
              <a:t>和</a:t>
            </a:r>
            <a:r>
              <a:rPr lang="en-US" altLang="zh-CN" dirty="0">
                <a:ea typeface="宋体" panose="02010600030101010101" pitchFamily="2" charset="-122"/>
              </a:rPr>
              <a:t>DirectX</a:t>
            </a:r>
            <a:r>
              <a:rPr lang="zh-CN" altLang="en-US" dirty="0">
                <a:ea typeface="宋体" panose="02010600030101010101" pitchFamily="2" charset="-122"/>
              </a:rPr>
              <a:t>，同时针对两者进行硬件优化</a:t>
            </a:r>
            <a:endParaRPr lang="zh-CN" altLang="en-US" dirty="0">
              <a:ea typeface="宋体" panose="02010600030101010101" pitchFamily="2" charset="-122"/>
            </a:endParaRPr>
          </a:p>
          <a:p>
            <a:pPr eaLnBrk="1" hangingPunct="1"/>
            <a:r>
              <a:rPr lang="zh-CN" altLang="en-US" dirty="0">
                <a:ea typeface="宋体" panose="02010600030101010101" pitchFamily="2" charset="-122"/>
              </a:rPr>
              <a:t>教学、科研方面</a:t>
            </a:r>
            <a:r>
              <a:rPr lang="en-US" altLang="zh-CN" dirty="0">
                <a:ea typeface="宋体" panose="02010600030101010101" pitchFamily="2" charset="-122"/>
              </a:rPr>
              <a:t>OpenGL</a:t>
            </a:r>
            <a:r>
              <a:rPr lang="zh-CN" altLang="en-US" dirty="0">
                <a:ea typeface="宋体" panose="02010600030101010101" pitchFamily="2" charset="-122"/>
              </a:rPr>
              <a:t>是主流，游戏开发、商业应用则基本采用</a:t>
            </a:r>
            <a:r>
              <a:rPr lang="en-US" altLang="zh-CN" dirty="0">
                <a:ea typeface="宋体" panose="02010600030101010101" pitchFamily="2" charset="-122"/>
              </a:rPr>
              <a:t>DirectX</a:t>
            </a:r>
            <a:endParaRPr lang="en-US" altLang="zh-CN" dirty="0">
              <a:ea typeface="宋体" panose="02010600030101010101" pitchFamily="2" charset="-122"/>
            </a:endParaRPr>
          </a:p>
          <a:p>
            <a:pPr eaLnBrk="1" hangingPunct="1"/>
            <a:r>
              <a:rPr lang="zh-CN" altLang="en-US" dirty="0">
                <a:ea typeface="宋体" panose="02010600030101010101" pitchFamily="2" charset="-122"/>
              </a:rPr>
              <a:t>需要跨平台应用时，只能用</a:t>
            </a:r>
            <a:r>
              <a:rPr lang="en-US" altLang="zh-CN" dirty="0">
                <a:ea typeface="宋体" panose="02010600030101010101" pitchFamily="2" charset="-122"/>
              </a:rPr>
              <a:t>OpenGL</a:t>
            </a:r>
            <a:endParaRPr lang="en-US" altLang="zh-CN" dirty="0">
              <a:ea typeface="宋体" panose="02010600030101010101" pitchFamily="2" charset="-122"/>
            </a:endParaRPr>
          </a:p>
          <a:p>
            <a:pPr eaLnBrk="1" hangingPunct="1"/>
            <a:r>
              <a:rPr lang="en-US" altLang="zh-CN" dirty="0">
                <a:ea typeface="宋体" panose="02010600030101010101" pitchFamily="2" charset="-122"/>
              </a:rPr>
              <a:t>WebGL: 3D</a:t>
            </a:r>
            <a:r>
              <a:rPr lang="zh-CN" altLang="en-US" dirty="0">
                <a:ea typeface="宋体" panose="02010600030101010101" pitchFamily="2" charset="-122"/>
              </a:rPr>
              <a:t>绘图标准，允许把</a:t>
            </a:r>
            <a:r>
              <a:rPr lang="en-US" altLang="zh-CN" dirty="0" err="1">
                <a:ea typeface="宋体" panose="02010600030101010101" pitchFamily="2" charset="-122"/>
              </a:rPr>
              <a:t>Javascript</a:t>
            </a:r>
            <a:r>
              <a:rPr lang="zh-CN" altLang="en-US" dirty="0">
                <a:ea typeface="宋体" panose="02010600030101010101" pitchFamily="2" charset="-122"/>
              </a:rPr>
              <a:t>和</a:t>
            </a:r>
            <a:r>
              <a:rPr lang="en-US" altLang="zh-CN" dirty="0">
                <a:ea typeface="宋体" panose="02010600030101010101" pitchFamily="2" charset="-122"/>
              </a:rPr>
              <a:t>OpenGL ES 2.0 (OpenGL</a:t>
            </a:r>
            <a:r>
              <a:rPr lang="zh-CN" altLang="en-US" dirty="0">
                <a:ea typeface="宋体" panose="02010600030101010101" pitchFamily="2" charset="-122"/>
              </a:rPr>
              <a:t>子集</a:t>
            </a:r>
            <a:r>
              <a:rPr lang="en-US" altLang="zh-CN" dirty="0">
                <a:ea typeface="宋体" panose="02010600030101010101" pitchFamily="2" charset="-122"/>
              </a:rPr>
              <a:t>)</a:t>
            </a:r>
            <a:r>
              <a:rPr lang="zh-CN" altLang="en-US" dirty="0">
                <a:ea typeface="宋体" panose="02010600030101010101" pitchFamily="2" charset="-122"/>
              </a:rPr>
              <a:t>结合，从而为</a:t>
            </a:r>
            <a:r>
              <a:rPr lang="en-US" altLang="zh-CN" dirty="0">
                <a:ea typeface="宋体" panose="02010600030101010101" pitchFamily="2" charset="-122"/>
              </a:rPr>
              <a:t>HTML</a:t>
            </a:r>
            <a:r>
              <a:rPr lang="zh-CN" altLang="en-US" dirty="0">
                <a:ea typeface="宋体" panose="02010600030101010101" pitchFamily="2" charset="-122"/>
              </a:rPr>
              <a:t>提供硬件</a:t>
            </a:r>
            <a:r>
              <a:rPr lang="en-US" altLang="zh-CN" dirty="0">
                <a:ea typeface="宋体" panose="02010600030101010101" pitchFamily="2" charset="-122"/>
              </a:rPr>
              <a:t>3D</a:t>
            </a:r>
            <a:r>
              <a:rPr lang="zh-CN" altLang="en-US" dirty="0">
                <a:ea typeface="宋体" panose="02010600030101010101" pitchFamily="2" charset="-122"/>
              </a:rPr>
              <a:t>加速渲染</a:t>
            </a:r>
            <a:endParaRPr lang="en-US" altLang="zh-CN" dirty="0">
              <a:ea typeface="宋体" panose="02010600030101010101" pitchFamily="2" charset="-122"/>
            </a:endParaRPr>
          </a:p>
          <a:p>
            <a:pPr eaLnBrk="1" hangingPunct="1"/>
            <a:endParaRPr lang="zh-CN" altLang="en-US" dirty="0">
              <a:ea typeface="宋体" panose="02010600030101010101" pitchFamily="2" charset="-122"/>
            </a:endParaRPr>
          </a:p>
        </p:txBody>
      </p:sp>
      <p:sp>
        <p:nvSpPr>
          <p:cNvPr id="51207"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26E0704-5934-4391-8768-14B4C4FCE691}" type="datetime10">
              <a:rPr lang="zh-CN" altLang="en-US" sz="1400" smtClean="0">
                <a:latin typeface="Arial" panose="020B0604020202020204" pitchFamily="34" charset="0"/>
              </a:rPr>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086">
                                            <p:txEl>
                                              <p:pRg st="0" end="0"/>
                                            </p:txEl>
                                          </p:spTgt>
                                        </p:tgtEl>
                                        <p:attrNameLst>
                                          <p:attrName>style.visibility</p:attrName>
                                        </p:attrNameLst>
                                      </p:cBhvr>
                                      <p:to>
                                        <p:strVal val="visible"/>
                                      </p:to>
                                    </p:set>
                                    <p:animEffect transition="in" filter="blinds(horizontal)">
                                      <p:cBhvr>
                                        <p:cTn id="7" dur="500"/>
                                        <p:tgtEl>
                                          <p:spTgt spid="460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6086">
                                            <p:txEl>
                                              <p:pRg st="1" end="1"/>
                                            </p:txEl>
                                          </p:spTgt>
                                        </p:tgtEl>
                                        <p:attrNameLst>
                                          <p:attrName>style.visibility</p:attrName>
                                        </p:attrNameLst>
                                      </p:cBhvr>
                                      <p:to>
                                        <p:strVal val="visible"/>
                                      </p:to>
                                    </p:set>
                                    <p:animEffect transition="in" filter="blinds(horizontal)">
                                      <p:cBhvr>
                                        <p:cTn id="12" dur="500"/>
                                        <p:tgtEl>
                                          <p:spTgt spid="460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6086">
                                            <p:txEl>
                                              <p:pRg st="2" end="2"/>
                                            </p:txEl>
                                          </p:spTgt>
                                        </p:tgtEl>
                                        <p:attrNameLst>
                                          <p:attrName>style.visibility</p:attrName>
                                        </p:attrNameLst>
                                      </p:cBhvr>
                                      <p:to>
                                        <p:strVal val="visible"/>
                                      </p:to>
                                    </p:set>
                                    <p:animEffect transition="in" filter="blinds(horizontal)">
                                      <p:cBhvr>
                                        <p:cTn id="17" dur="500"/>
                                        <p:tgtEl>
                                          <p:spTgt spid="4608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6086">
                                            <p:txEl>
                                              <p:pRg st="3" end="3"/>
                                            </p:txEl>
                                          </p:spTgt>
                                        </p:tgtEl>
                                        <p:attrNameLst>
                                          <p:attrName>style.visibility</p:attrName>
                                        </p:attrNameLst>
                                      </p:cBhvr>
                                      <p:to>
                                        <p:strVal val="visible"/>
                                      </p:to>
                                    </p:set>
                                    <p:animEffect transition="in" filter="blinds(horizontal)">
                                      <p:cBhvr>
                                        <p:cTn id="22" dur="500"/>
                                        <p:tgtEl>
                                          <p:spTgt spid="4608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2E89316-2193-491A-B21A-345A541B2F4F}" type="datetime10">
              <a:rPr lang="zh-CN" altLang="en-US" sz="1400" smtClean="0">
                <a:latin typeface="Arial" panose="020B0604020202020204" pitchFamily="34" charset="0"/>
              </a:rPr>
            </a:fld>
            <a:endParaRPr lang="en-US" altLang="zh-CN" sz="1400">
              <a:latin typeface="Arial" panose="020B0604020202020204" pitchFamily="34" charset="0"/>
            </a:endParaRPr>
          </a:p>
        </p:txBody>
      </p:sp>
      <p:sp>
        <p:nvSpPr>
          <p:cNvPr id="53251" name="灯片编号占位符 2"/>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E41981C-FBFA-4724-BB69-6E007454748B}" type="slidenum">
              <a:rPr lang="zh-CN" altLang="en-US" sz="1400">
                <a:latin typeface="Arial" panose="020B0604020202020204" pitchFamily="34" charset="0"/>
              </a:rPr>
            </a:fld>
            <a:endParaRPr lang="en-US" altLang="zh-CN" sz="1400">
              <a:latin typeface="Arial" panose="020B0604020202020204" pitchFamily="34" charset="0"/>
            </a:endParaRPr>
          </a:p>
        </p:txBody>
      </p:sp>
      <p:graphicFrame>
        <p:nvGraphicFramePr>
          <p:cNvPr id="4" name="表格 3"/>
          <p:cNvGraphicFramePr>
            <a:graphicFrameLocks noGrp="1"/>
          </p:cNvGraphicFramePr>
          <p:nvPr/>
        </p:nvGraphicFramePr>
        <p:xfrm>
          <a:off x="304800" y="1371600"/>
          <a:ext cx="8343900" cy="3825874"/>
        </p:xfrm>
        <a:graphic>
          <a:graphicData uri="http://schemas.openxmlformats.org/drawingml/2006/table">
            <a:tbl>
              <a:tblPr>
                <a:tableStyleId>{5DA37D80-6434-44D0-A028-1B22A696006F}</a:tableStyleId>
              </a:tblPr>
              <a:tblGrid>
                <a:gridCol w="1295400"/>
                <a:gridCol w="1600200"/>
                <a:gridCol w="1600200"/>
                <a:gridCol w="2109788"/>
                <a:gridCol w="1738312"/>
              </a:tblGrid>
              <a:tr h="929675">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2800" b="1" u="none" strike="noStrike" cap="none" normalizeH="0" baseline="0" dirty="0">
                          <a:ln>
                            <a:noFill/>
                          </a:ln>
                          <a:effectLst/>
                        </a:rPr>
                        <a:t>技术</a:t>
                      </a:r>
                      <a:endParaRPr kumimoji="0" lang="zh-CN" altLang="en-US" sz="2800" b="1"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txBody>
                  <a:tcPr marL="23813" marR="23813" marT="38108" marB="38108" horzOverflow="overflow"/>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2800" b="1" u="none" strike="noStrike" cap="none" normalizeH="0" baseline="0" dirty="0">
                          <a:ln>
                            <a:noFill/>
                          </a:ln>
                          <a:effectLst/>
                        </a:rPr>
                        <a:t>实现层次</a:t>
                      </a:r>
                      <a:endParaRPr kumimoji="0" lang="zh-CN" altLang="en-US" sz="2800" b="1"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txBody>
                  <a:tcPr marL="23813" marR="23813" marT="38108" marB="38108" horzOverflow="overflow"/>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2800" b="1" u="none" strike="noStrike" cap="none" normalizeH="0" baseline="0" dirty="0">
                          <a:ln>
                            <a:noFill/>
                          </a:ln>
                          <a:effectLst/>
                        </a:rPr>
                        <a:t>开发难度</a:t>
                      </a:r>
                      <a:endParaRPr kumimoji="0" lang="zh-CN" altLang="en-US" sz="2800" b="1"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txBody>
                  <a:tcPr marL="23813" marR="23813" marT="38108" marB="38108" horzOverflow="overflow"/>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2800" b="1" u="none" strike="noStrike" cap="none" normalizeH="0" baseline="0" dirty="0">
                          <a:ln>
                            <a:noFill/>
                          </a:ln>
                          <a:effectLst/>
                        </a:rPr>
                        <a:t>扩展性</a:t>
                      </a:r>
                      <a:endParaRPr kumimoji="0" lang="zh-CN" altLang="en-US" sz="2800" b="1"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txBody>
                  <a:tcPr marL="23813" marR="23813" marT="38108" marB="38108" horzOverflow="overflow"/>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2800" b="1" u="none" strike="noStrike" cap="none" normalizeH="0" baseline="0" dirty="0">
                          <a:ln>
                            <a:noFill/>
                          </a:ln>
                          <a:effectLst/>
                        </a:rPr>
                        <a:t>应用领域</a:t>
                      </a:r>
                      <a:endParaRPr kumimoji="0" lang="zh-CN" altLang="en-US" sz="2800" b="1"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txBody>
                  <a:tcPr marL="23813" marR="23813" marT="38108" marB="38108" horzOverflow="overflow"/>
                </a:tc>
              </a:tr>
              <a:tr h="1036849">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2800" u="none" strike="noStrike" cap="none" normalizeH="0" baseline="0" dirty="0">
                          <a:ln>
                            <a:noFill/>
                          </a:ln>
                          <a:effectLst/>
                        </a:rPr>
                        <a:t>OpenGL</a:t>
                      </a:r>
                      <a:endParaRPr kumimoji="0" lang="en-US" altLang="zh-CN" sz="2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txBody>
                  <a:tcPr marL="23813" marR="23813" marT="38108" marB="38108" horzOverflow="overflow"/>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2800" u="none" strike="noStrike" cap="none" normalizeH="0" baseline="0">
                          <a:ln>
                            <a:noFill/>
                          </a:ln>
                          <a:effectLst/>
                        </a:rPr>
                        <a:t>底层</a:t>
                      </a:r>
                      <a:endParaRPr kumimoji="0" lang="en-US" altLang="zh-CN" sz="2800" u="none" strike="noStrike" cap="none" normalizeH="0" baseline="0">
                        <a:ln>
                          <a:noFill/>
                        </a:ln>
                        <a:effectLst/>
                      </a:endParaRPr>
                    </a:p>
                    <a:p>
                      <a:pPr marL="0" marR="0" lvl="0" indent="0" algn="l" defTabSz="914400" rtl="0" eaLnBrk="1" fontAlgn="t" latinLnBrk="0" hangingPunct="1">
                        <a:lnSpc>
                          <a:spcPct val="100000"/>
                        </a:lnSpc>
                        <a:spcBef>
                          <a:spcPct val="0"/>
                        </a:spcBef>
                        <a:spcAft>
                          <a:spcPct val="0"/>
                        </a:spcAft>
                        <a:buClrTx/>
                        <a:buSzTx/>
                        <a:buFontTx/>
                        <a:buNone/>
                      </a:pPr>
                      <a:r>
                        <a:rPr kumimoji="0" lang="zh-CN" altLang="en-US" sz="2800" u="none" strike="noStrike" cap="none" normalizeH="0" baseline="0">
                          <a:ln>
                            <a:noFill/>
                          </a:ln>
                          <a:effectLst/>
                        </a:rPr>
                        <a:t>（显卡）</a:t>
                      </a:r>
                      <a:endParaRPr kumimoji="0" lang="zh-CN" altLang="en-US" sz="2800" b="0" i="0" u="none" strike="noStrike" cap="none" normalizeH="0" baseline="0">
                        <a:ln>
                          <a:noFill/>
                        </a:ln>
                        <a:solidFill>
                          <a:srgbClr val="000000"/>
                        </a:solidFill>
                        <a:effectLst/>
                        <a:latin typeface="宋体" panose="02010600030101010101" pitchFamily="2" charset="-122"/>
                        <a:ea typeface="宋体" panose="02010600030101010101" pitchFamily="2" charset="-122"/>
                      </a:endParaRPr>
                    </a:p>
                  </a:txBody>
                  <a:tcPr marL="23813" marR="23813" marT="38108" marB="38108" horzOverflow="overflow"/>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2800" u="none" strike="noStrike" cap="none" normalizeH="0" baseline="0" dirty="0">
                          <a:ln>
                            <a:noFill/>
                          </a:ln>
                          <a:effectLst/>
                        </a:rPr>
                        <a:t>C\C++</a:t>
                      </a:r>
                      <a:endParaRPr kumimoji="0" lang="en-US" altLang="zh-CN" sz="2800" u="none" strike="noStrike" cap="none" normalizeH="0" baseline="0" dirty="0">
                        <a:ln>
                          <a:noFill/>
                        </a:ln>
                        <a:effectLst/>
                      </a:endParaRPr>
                    </a:p>
                    <a:p>
                      <a:pPr marL="0" marR="0" lvl="0" indent="0" algn="l" defTabSz="914400" rtl="0" eaLnBrk="1" fontAlgn="t" latinLnBrk="0" hangingPunct="1">
                        <a:lnSpc>
                          <a:spcPct val="100000"/>
                        </a:lnSpc>
                        <a:spcBef>
                          <a:spcPct val="0"/>
                        </a:spcBef>
                        <a:spcAft>
                          <a:spcPct val="0"/>
                        </a:spcAft>
                        <a:buClrTx/>
                        <a:buSzTx/>
                        <a:buFontTx/>
                        <a:buNone/>
                      </a:pPr>
                      <a:r>
                        <a:rPr kumimoji="0" lang="zh-CN" altLang="en-US" sz="2800" u="none" strike="noStrike" cap="none" normalizeH="0" baseline="0" dirty="0">
                          <a:ln>
                            <a:noFill/>
                          </a:ln>
                          <a:effectLst/>
                        </a:rPr>
                        <a:t>（难）</a:t>
                      </a:r>
                      <a:endParaRPr kumimoji="0" lang="zh-CN" altLang="en-US" sz="2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txBody>
                  <a:tcPr marL="23813" marR="23813" marT="38108" marB="38108" horzOverflow="overflow"/>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2800" u="none" strike="noStrike" cap="none" normalizeH="0" baseline="0" dirty="0">
                          <a:ln>
                            <a:noFill/>
                          </a:ln>
                          <a:effectLst/>
                        </a:rPr>
                        <a:t>多平台</a:t>
                      </a:r>
                      <a:endParaRPr kumimoji="0" lang="en-US" altLang="zh-CN" sz="2800" u="none" strike="noStrike" cap="none" normalizeH="0" baseline="0" dirty="0">
                        <a:ln>
                          <a:noFill/>
                        </a:ln>
                        <a:effectLst/>
                      </a:endParaRPr>
                    </a:p>
                    <a:p>
                      <a:pPr marL="0" marR="0" lvl="0" indent="0" algn="l" defTabSz="914400" rtl="0" eaLnBrk="1" fontAlgn="t" latinLnBrk="0" hangingPunct="1">
                        <a:lnSpc>
                          <a:spcPct val="100000"/>
                        </a:lnSpc>
                        <a:spcBef>
                          <a:spcPct val="0"/>
                        </a:spcBef>
                        <a:spcAft>
                          <a:spcPct val="0"/>
                        </a:spcAft>
                        <a:buClrTx/>
                        <a:buSzTx/>
                        <a:buFontTx/>
                        <a:buNone/>
                      </a:pPr>
                      <a:r>
                        <a:rPr kumimoji="0" lang="zh-CN" altLang="en-US" sz="2800" u="none" strike="noStrike" cap="none" normalizeH="0" baseline="0" dirty="0">
                          <a:ln>
                            <a:noFill/>
                          </a:ln>
                          <a:effectLst/>
                        </a:rPr>
                        <a:t>（较好）</a:t>
                      </a:r>
                      <a:endParaRPr kumimoji="0" lang="zh-CN" altLang="en-US" sz="2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txBody>
                  <a:tcPr marL="23813" marR="23813" marT="38108" marB="38108" horzOverflow="overflow"/>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2800" u="none" strike="noStrike" cap="none" normalizeH="0" baseline="0" dirty="0">
                          <a:ln>
                            <a:noFill/>
                          </a:ln>
                          <a:effectLst/>
                        </a:rPr>
                        <a:t>三维设计软件</a:t>
                      </a:r>
                      <a:endParaRPr kumimoji="0" lang="en-US" altLang="zh-CN" sz="2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txBody>
                  <a:tcPr marL="23813" marR="23813" marT="38108" marB="38108" horzOverflow="overflow"/>
                </a:tc>
              </a:tr>
              <a:tr h="929675">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2800" u="none" strike="noStrike" cap="none" normalizeH="0" baseline="0" dirty="0">
                          <a:ln>
                            <a:noFill/>
                          </a:ln>
                          <a:effectLst/>
                        </a:rPr>
                        <a:t>DirectX</a:t>
                      </a:r>
                      <a:endParaRPr kumimoji="0" lang="en-US" altLang="zh-CN" sz="2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txBody>
                  <a:tcPr marL="23813" marR="23813" marT="38108" marB="38108" horzOverflow="overflow"/>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2800" u="none" strike="noStrike" cap="none" normalizeH="0" baseline="0">
                          <a:ln>
                            <a:noFill/>
                          </a:ln>
                          <a:effectLst/>
                        </a:rPr>
                        <a:t>底层（操作系统）</a:t>
                      </a:r>
                      <a:endParaRPr kumimoji="0" lang="zh-CN" altLang="en-US" sz="2800" b="0" i="0" u="none" strike="noStrike" cap="none" normalizeH="0" baseline="0">
                        <a:ln>
                          <a:noFill/>
                        </a:ln>
                        <a:solidFill>
                          <a:srgbClr val="000000"/>
                        </a:solidFill>
                        <a:effectLst/>
                        <a:latin typeface="宋体" panose="02010600030101010101" pitchFamily="2" charset="-122"/>
                        <a:ea typeface="宋体" panose="02010600030101010101" pitchFamily="2" charset="-122"/>
                      </a:endParaRPr>
                    </a:p>
                  </a:txBody>
                  <a:tcPr marL="23813" marR="23813" marT="38108" marB="38108" horzOverflow="overflow"/>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2800" u="none" strike="noStrike" cap="none" normalizeH="0" baseline="0">
                          <a:ln>
                            <a:noFill/>
                          </a:ln>
                          <a:effectLst/>
                        </a:rPr>
                        <a:t>C++</a:t>
                      </a:r>
                      <a:endParaRPr kumimoji="0" lang="en-US" altLang="zh-CN" sz="2800" u="none" strike="noStrike" cap="none" normalizeH="0" baseline="0">
                        <a:ln>
                          <a:noFill/>
                        </a:ln>
                        <a:effectLst/>
                      </a:endParaRPr>
                    </a:p>
                    <a:p>
                      <a:pPr marL="0" marR="0" lvl="0" indent="0" algn="l" defTabSz="914400" rtl="0" eaLnBrk="1" fontAlgn="t" latinLnBrk="0" hangingPunct="1">
                        <a:lnSpc>
                          <a:spcPct val="100000"/>
                        </a:lnSpc>
                        <a:spcBef>
                          <a:spcPct val="0"/>
                        </a:spcBef>
                        <a:spcAft>
                          <a:spcPct val="0"/>
                        </a:spcAft>
                        <a:buClrTx/>
                        <a:buSzTx/>
                        <a:buFontTx/>
                        <a:buNone/>
                      </a:pPr>
                      <a:r>
                        <a:rPr kumimoji="0" lang="zh-CN" altLang="en-US" sz="2800" u="none" strike="noStrike" cap="none" normalizeH="0" baseline="0">
                          <a:ln>
                            <a:noFill/>
                          </a:ln>
                          <a:effectLst/>
                        </a:rPr>
                        <a:t>（较难）</a:t>
                      </a:r>
                      <a:endParaRPr kumimoji="0" lang="zh-CN" altLang="en-US" sz="2800" b="0" i="0" u="none" strike="noStrike" cap="none" normalizeH="0" baseline="0">
                        <a:ln>
                          <a:noFill/>
                        </a:ln>
                        <a:solidFill>
                          <a:srgbClr val="000000"/>
                        </a:solidFill>
                        <a:effectLst/>
                        <a:latin typeface="宋体" panose="02010600030101010101" pitchFamily="2" charset="-122"/>
                        <a:ea typeface="宋体" panose="02010600030101010101" pitchFamily="2" charset="-122"/>
                      </a:endParaRPr>
                    </a:p>
                  </a:txBody>
                  <a:tcPr marL="23813" marR="23813" marT="38108" marB="38108" horzOverflow="overflow"/>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2800" u="none" strike="noStrike" cap="none" normalizeH="0" baseline="0" dirty="0">
                          <a:ln>
                            <a:noFill/>
                          </a:ln>
                          <a:effectLst/>
                        </a:rPr>
                        <a:t>Windows</a:t>
                      </a:r>
                      <a:r>
                        <a:rPr kumimoji="0" lang="zh-CN" altLang="en-US" sz="2800" u="none" strike="noStrike" cap="none" normalizeH="0" baseline="0" dirty="0">
                          <a:ln>
                            <a:noFill/>
                          </a:ln>
                          <a:effectLst/>
                        </a:rPr>
                        <a:t>平台</a:t>
                      </a:r>
                      <a:endParaRPr kumimoji="0" lang="en-US" altLang="zh-CN" sz="2800" u="none" strike="noStrike" cap="none" normalizeH="0" baseline="0" dirty="0">
                        <a:ln>
                          <a:noFill/>
                        </a:ln>
                        <a:effectLst/>
                      </a:endParaRPr>
                    </a:p>
                    <a:p>
                      <a:pPr marL="0" marR="0" lvl="0" indent="0" algn="l" defTabSz="914400" rtl="0" eaLnBrk="1" fontAlgn="t" latinLnBrk="0" hangingPunct="1">
                        <a:lnSpc>
                          <a:spcPct val="100000"/>
                        </a:lnSpc>
                        <a:spcBef>
                          <a:spcPct val="0"/>
                        </a:spcBef>
                        <a:spcAft>
                          <a:spcPct val="0"/>
                        </a:spcAft>
                        <a:buClrTx/>
                        <a:buSzTx/>
                        <a:buFontTx/>
                        <a:buNone/>
                      </a:pPr>
                      <a:r>
                        <a:rPr kumimoji="0" lang="zh-CN" altLang="en-US" sz="2800" u="none" strike="noStrike" cap="none" normalizeH="0" baseline="0" dirty="0">
                          <a:ln>
                            <a:noFill/>
                          </a:ln>
                          <a:effectLst/>
                        </a:rPr>
                        <a:t>（差）</a:t>
                      </a:r>
                      <a:endParaRPr kumimoji="0" lang="zh-CN" altLang="en-US" sz="2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txBody>
                  <a:tcPr marL="23813" marR="23813" marT="38108" marB="38108" horzOverflow="overflow"/>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2800" u="none" strike="noStrike" cap="none" normalizeH="0" baseline="0" dirty="0">
                          <a:ln>
                            <a:noFill/>
                          </a:ln>
                          <a:effectLst/>
                        </a:rPr>
                        <a:t>三维游戏</a:t>
                      </a:r>
                      <a:endParaRPr kumimoji="0" lang="en-US" altLang="zh-CN" sz="2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txBody>
                  <a:tcPr marL="23813" marR="23813" marT="38108" marB="38108" horzOverflow="overflow"/>
                </a:tc>
              </a:tr>
              <a:tr h="929675">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28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WebGL</a:t>
                      </a:r>
                      <a:endPar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23813" marR="23813" marT="38108" marB="38108" horzOverflow="overflow"/>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2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浏览器</a:t>
                      </a:r>
                      <a:endParaRPr kumimoji="0" lang="zh-CN" altLang="en-US" sz="2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txBody>
                  <a:tcPr marL="23813" marR="23813" marT="38108" marB="38108" horzOverflow="overflow"/>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2800" u="none" strike="noStrike" cap="none" normalizeH="0" baseline="0" dirty="0">
                          <a:ln>
                            <a:noFill/>
                          </a:ln>
                          <a:effectLst/>
                        </a:rPr>
                        <a:t>JavaScript</a:t>
                      </a:r>
                      <a:endParaRPr kumimoji="0" lang="en-US" altLang="zh-CN" sz="2800" u="none" strike="noStrike" cap="none" normalizeH="0" baseline="0" dirty="0">
                        <a:ln>
                          <a:noFill/>
                        </a:ln>
                        <a:effectLst/>
                      </a:endParaRPr>
                    </a:p>
                    <a:p>
                      <a:pPr marL="0" marR="0" lvl="0" indent="0" algn="l" defTabSz="914400" rtl="0" eaLnBrk="1" fontAlgn="t" latinLnBrk="0" hangingPunct="1">
                        <a:lnSpc>
                          <a:spcPct val="100000"/>
                        </a:lnSpc>
                        <a:spcBef>
                          <a:spcPct val="0"/>
                        </a:spcBef>
                        <a:spcAft>
                          <a:spcPct val="0"/>
                        </a:spcAft>
                        <a:buClrTx/>
                        <a:buSzTx/>
                        <a:buFontTx/>
                        <a:buNone/>
                      </a:pPr>
                      <a:r>
                        <a:rPr kumimoji="0" lang="zh-CN" altLang="en-US" sz="2800" u="none" strike="noStrike" cap="none" normalizeH="0" baseline="0" dirty="0">
                          <a:ln>
                            <a:noFill/>
                          </a:ln>
                          <a:effectLst/>
                        </a:rPr>
                        <a:t>（较易）</a:t>
                      </a:r>
                      <a:endParaRPr kumimoji="0" lang="zh-CN" altLang="en-US" sz="2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txBody>
                  <a:tcPr marL="23813" marR="23813" marT="38108" marB="38108" horzOverflow="overflow"/>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2800" u="none" strike="noStrike" cap="none" normalizeH="0" baseline="0" dirty="0">
                          <a:ln>
                            <a:noFill/>
                          </a:ln>
                          <a:effectLst/>
                        </a:rPr>
                        <a:t>多平台</a:t>
                      </a:r>
                      <a:endParaRPr kumimoji="0" lang="en-US" altLang="zh-CN" sz="2800" u="none" strike="noStrike" cap="none" normalizeH="0" baseline="0" dirty="0">
                        <a:ln>
                          <a:noFill/>
                        </a:ln>
                        <a:effectLst/>
                      </a:endParaRPr>
                    </a:p>
                    <a:p>
                      <a:pPr marL="0" marR="0" lvl="0" indent="0" algn="l" defTabSz="914400" rtl="0" eaLnBrk="1" fontAlgn="t" latinLnBrk="0" hangingPunct="1">
                        <a:lnSpc>
                          <a:spcPct val="100000"/>
                        </a:lnSpc>
                        <a:spcBef>
                          <a:spcPct val="0"/>
                        </a:spcBef>
                        <a:spcAft>
                          <a:spcPct val="0"/>
                        </a:spcAft>
                        <a:buClrTx/>
                        <a:buSzTx/>
                        <a:buFontTx/>
                        <a:buNone/>
                      </a:pPr>
                      <a:r>
                        <a:rPr kumimoji="0" lang="zh-CN" altLang="en-US" sz="2800" u="none" strike="noStrike" cap="none" normalizeH="0" baseline="0" dirty="0">
                          <a:ln>
                            <a:noFill/>
                          </a:ln>
                          <a:effectLst/>
                        </a:rPr>
                        <a:t>（好）</a:t>
                      </a:r>
                      <a:endParaRPr kumimoji="0" lang="zh-CN" altLang="en-US" sz="2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txBody>
                  <a:tcPr marL="23813" marR="23813" marT="38108" marB="38108" horzOverflow="overflow"/>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2800" u="none" strike="noStrike" cap="none" normalizeH="0" baseline="0" dirty="0">
                          <a:ln>
                            <a:noFill/>
                          </a:ln>
                          <a:effectLst/>
                        </a:rPr>
                        <a:t>网络三维显示</a:t>
                      </a:r>
                      <a:endParaRPr kumimoji="0" lang="en-US" altLang="zh-CN" sz="2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endParaRPr>
                    </a:p>
                  </a:txBody>
                  <a:tcPr marL="23813" marR="23813" marT="38108" marB="38108" horzOverflow="overflow"/>
                </a:tc>
              </a:tr>
            </a:tbl>
          </a:graphicData>
        </a:graphic>
      </p:graphicFrame>
      <p:sp>
        <p:nvSpPr>
          <p:cNvPr id="53284" name="Rectangle 1"/>
          <p:cNvSpPr>
            <a:spLocks noChangeArrowheads="1"/>
          </p:cNvSpPr>
          <p:nvPr/>
        </p:nvSpPr>
        <p:spPr bwMode="auto">
          <a:xfrm>
            <a:off x="2903538" y="1219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zh-CN" altLang="zh-CN" sz="1800">
              <a:latin typeface="Arial" panose="020B0604020202020204" pitchFamily="34" charset="0"/>
            </a:endParaRPr>
          </a:p>
        </p:txBody>
      </p:sp>
      <p:sp>
        <p:nvSpPr>
          <p:cNvPr id="53285" name="Rectangle 2"/>
          <p:cNvSpPr txBox="1">
            <a:spLocks noChangeArrowheads="1"/>
          </p:cNvSpPr>
          <p:nvPr/>
        </p:nvSpPr>
        <p:spPr bwMode="auto">
          <a:xfrm>
            <a:off x="152400" y="76200"/>
            <a:ext cx="8763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zh-CN" altLang="en-US" sz="4400">
                <a:solidFill>
                  <a:schemeClr val="accent2"/>
                </a:solidFill>
                <a:latin typeface="Arial" panose="020B0604020202020204" pitchFamily="34" charset="0"/>
                <a:ea typeface="宋体" panose="02010600030101010101" pitchFamily="2" charset="-122"/>
              </a:rPr>
              <a:t>图形</a:t>
            </a:r>
            <a:r>
              <a:rPr lang="en-US" altLang="zh-CN" sz="4400">
                <a:solidFill>
                  <a:schemeClr val="accent2"/>
                </a:solidFill>
                <a:latin typeface="Arial" panose="020B0604020202020204" pitchFamily="34" charset="0"/>
                <a:ea typeface="宋体" panose="02010600030101010101" pitchFamily="2" charset="-122"/>
              </a:rPr>
              <a:t>API</a:t>
            </a:r>
            <a:r>
              <a:rPr lang="zh-CN" altLang="en-US" sz="4400">
                <a:solidFill>
                  <a:schemeClr val="accent2"/>
                </a:solidFill>
                <a:latin typeface="Arial" panose="020B0604020202020204" pitchFamily="34" charset="0"/>
                <a:ea typeface="宋体" panose="02010600030101010101" pitchFamily="2" charset="-122"/>
              </a:rPr>
              <a:t>对比</a:t>
            </a:r>
            <a:endParaRPr lang="zh-CN" altLang="en-US" sz="4400">
              <a:solidFill>
                <a:schemeClr val="accent2"/>
              </a:solidFill>
              <a:latin typeface="Arial" panose="020B0604020202020204" pitchFamily="34" charset="0"/>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51475F1B-95EF-4DE4-8612-5A04E5A03AE0}" type="slidenum">
              <a:rPr lang="zh-CN" altLang="en-US">
                <a:ea typeface="宋体" panose="02010600030101010101" pitchFamily="2" charset="-122"/>
              </a:rPr>
            </a:fld>
            <a:endParaRPr lang="en-US" altLang="zh-CN">
              <a:ea typeface="宋体" panose="02010600030101010101" pitchFamily="2" charset="-122"/>
            </a:endParaRPr>
          </a:p>
        </p:txBody>
      </p:sp>
      <p:sp>
        <p:nvSpPr>
          <p:cNvPr id="6"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AA4B0204-59B9-4ADD-9588-BDFEFE2F9BF8}"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43012" name="Rectangle 2"/>
          <p:cNvSpPr>
            <a:spLocks noGrp="1" noChangeArrowheads="1"/>
          </p:cNvSpPr>
          <p:nvPr>
            <p:ph type="title" idx="4294967295"/>
          </p:nvPr>
        </p:nvSpPr>
        <p:spPr/>
        <p:txBody>
          <a:bodyPr/>
          <a:lstStyle/>
          <a:p>
            <a:pPr eaLnBrk="1" hangingPunct="1"/>
            <a:r>
              <a:rPr lang="zh-CN" altLang="en-US">
                <a:ea typeface="宋体" panose="02010600030101010101" pitchFamily="2" charset="-122"/>
              </a:rPr>
              <a:t>图形系统</a:t>
            </a:r>
            <a:endParaRPr lang="en-US" altLang="zh-CN">
              <a:ea typeface="宋体" panose="02010600030101010101" pitchFamily="2" charset="-122"/>
            </a:endParaRPr>
          </a:p>
        </p:txBody>
      </p:sp>
      <p:sp>
        <p:nvSpPr>
          <p:cNvPr id="43013" name="Rectangle 3"/>
          <p:cNvSpPr>
            <a:spLocks noGrp="1" noChangeArrowheads="1"/>
          </p:cNvSpPr>
          <p:nvPr>
            <p:ph type="body" idx="4294967295"/>
          </p:nvPr>
        </p:nvSpPr>
        <p:spPr/>
        <p:txBody>
          <a:bodyPr/>
          <a:lstStyle/>
          <a:p>
            <a:pPr eaLnBrk="1" hangingPunct="1"/>
            <a:r>
              <a:rPr lang="zh-CN" altLang="en-US">
                <a:ea typeface="宋体" panose="02010600030101010101" pitchFamily="2" charset="-122"/>
              </a:rPr>
              <a:t>硬件层面</a:t>
            </a:r>
            <a:endParaRPr lang="zh-CN" altLang="en-US">
              <a:ea typeface="宋体" panose="02010600030101010101" pitchFamily="2" charset="-122"/>
            </a:endParaRPr>
          </a:p>
          <a:p>
            <a:pPr lvl="1" eaLnBrk="1" hangingPunct="1"/>
            <a:r>
              <a:rPr lang="zh-CN" altLang="en-US">
                <a:ea typeface="宋体" panose="02010600030101010101" pitchFamily="2" charset="-122"/>
              </a:rPr>
              <a:t>设备显示原理：</a:t>
            </a:r>
            <a:r>
              <a:rPr lang="en-US" altLang="zh-CN">
                <a:ea typeface="宋体" panose="02010600030101010101" pitchFamily="2" charset="-122"/>
              </a:rPr>
              <a:t>CRT</a:t>
            </a:r>
            <a:r>
              <a:rPr lang="zh-CN" altLang="en-US">
                <a:ea typeface="宋体" panose="02010600030101010101" pitchFamily="2" charset="-122"/>
              </a:rPr>
              <a:t>、</a:t>
            </a:r>
            <a:r>
              <a:rPr lang="en-US" altLang="zh-CN">
                <a:ea typeface="宋体" panose="02010600030101010101" pitchFamily="2" charset="-122"/>
              </a:rPr>
              <a:t>LCD</a:t>
            </a:r>
            <a:endParaRPr lang="en-US" altLang="zh-CN">
              <a:ea typeface="宋体" panose="02010600030101010101" pitchFamily="2" charset="-122"/>
            </a:endParaRPr>
          </a:p>
          <a:p>
            <a:pPr lvl="1" eaLnBrk="1" hangingPunct="1"/>
            <a:r>
              <a:rPr lang="zh-CN" altLang="en-US">
                <a:ea typeface="宋体" panose="02010600030101010101" pitchFamily="2" charset="-122"/>
              </a:rPr>
              <a:t>设备显示方式：随机、光栅</a:t>
            </a:r>
            <a:endParaRPr lang="zh-CN" altLang="en-US">
              <a:ea typeface="宋体" panose="02010600030101010101" pitchFamily="2" charset="-122"/>
            </a:endParaRPr>
          </a:p>
          <a:p>
            <a:pPr lvl="1" eaLnBrk="1" hangingPunct="1"/>
            <a:r>
              <a:rPr lang="zh-CN" altLang="en-US">
                <a:ea typeface="宋体" panose="02010600030101010101" pitchFamily="2" charset="-122"/>
              </a:rPr>
              <a:t>显示系统组成结构：简单、典型、专用</a:t>
            </a:r>
            <a:endParaRPr lang="zh-CN" altLang="en-US">
              <a:ea typeface="宋体" panose="02010600030101010101" pitchFamily="2" charset="-122"/>
            </a:endParaRPr>
          </a:p>
          <a:p>
            <a:pPr eaLnBrk="1" hangingPunct="1"/>
            <a:r>
              <a:rPr lang="zh-CN" altLang="en-US">
                <a:ea typeface="宋体" panose="02010600030101010101" pitchFamily="2" charset="-122"/>
              </a:rPr>
              <a:t>软件层面</a:t>
            </a:r>
            <a:endParaRPr lang="zh-CN" altLang="en-US">
              <a:ea typeface="宋体" panose="02010600030101010101" pitchFamily="2" charset="-122"/>
            </a:endParaRPr>
          </a:p>
          <a:p>
            <a:pPr lvl="1" eaLnBrk="1" hangingPunct="1"/>
            <a:r>
              <a:rPr lang="zh-CN" altLang="en-US">
                <a:ea typeface="宋体" panose="02010600030101010101" pitchFamily="2" charset="-122"/>
              </a:rPr>
              <a:t>图形软件</a:t>
            </a:r>
            <a:endParaRPr lang="en-US" altLang="zh-CN">
              <a:ea typeface="宋体" panose="02010600030101010101" pitchFamily="2" charset="-122"/>
            </a:endParaRPr>
          </a:p>
          <a:p>
            <a:pPr eaLnBrk="1" hangingPunct="1"/>
            <a:r>
              <a:rPr lang="zh-CN" altLang="en-US">
                <a:solidFill>
                  <a:schemeClr val="accent2"/>
                </a:solidFill>
                <a:ea typeface="宋体" panose="02010600030101010101" pitchFamily="2" charset="-122"/>
              </a:rPr>
              <a:t>图形系统标准</a:t>
            </a:r>
            <a:endParaRPr lang="zh-CN" altLang="en-US">
              <a:solidFill>
                <a:schemeClr val="accent2"/>
              </a:solidFill>
              <a:ea typeface="宋体" panose="02010600030101010101" pitchFamily="2" charset="-122"/>
            </a:endParaRPr>
          </a:p>
        </p:txBody>
      </p:sp>
      <p:sp>
        <p:nvSpPr>
          <p:cNvPr id="7" name="AutoShape 4"/>
          <p:cNvSpPr>
            <a:spLocks noChangeArrowheads="1"/>
          </p:cNvSpPr>
          <p:nvPr/>
        </p:nvSpPr>
        <p:spPr bwMode="auto">
          <a:xfrm>
            <a:off x="4114800" y="4648200"/>
            <a:ext cx="2895600" cy="838200"/>
          </a:xfrm>
          <a:prstGeom prst="wedgeRoundRectCallout">
            <a:avLst>
              <a:gd name="adj1" fmla="val -82078"/>
              <a:gd name="adj2" fmla="val -36805"/>
              <a:gd name="adj3" fmla="val 16667"/>
            </a:avLst>
          </a:prstGeom>
        </p:spPr>
        <p:style>
          <a:lnRef idx="1">
            <a:schemeClr val="accent2"/>
          </a:lnRef>
          <a:fillRef idx="2">
            <a:schemeClr val="accent2"/>
          </a:fillRef>
          <a:effectRef idx="1">
            <a:schemeClr val="accent2"/>
          </a:effectRef>
          <a:fontRef idx="minor">
            <a:schemeClr val="dk1"/>
          </a:fontRef>
        </p:style>
        <p:txBody>
          <a:bodyPr/>
          <a:lstStyle/>
          <a:p>
            <a:pPr algn="ctr">
              <a:defRPr/>
            </a:pPr>
            <a:r>
              <a:rPr lang="zh-CN" altLang="en-US" sz="3200">
                <a:ea typeface="宋体" panose="02010600030101010101" pitchFamily="2" charset="-122"/>
              </a:rPr>
              <a:t>为何要有标准</a:t>
            </a:r>
            <a:r>
              <a:rPr lang="en-US" altLang="zh-CN" sz="3200" dirty="0">
                <a:ea typeface="宋体" panose="02010600030101010101" pitchFamily="2" charset="-122"/>
              </a:rPr>
              <a:t>?</a:t>
            </a:r>
            <a:endParaRPr lang="zh-CN" altLang="en-US" sz="3200" dirty="0">
              <a:ea typeface="宋体" panose="02010600030101010101" pitchFamily="2" charset="-122"/>
            </a:endParaRPr>
          </a:p>
        </p:txBody>
      </p:sp>
      <p:sp>
        <p:nvSpPr>
          <p:cNvPr id="43015"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355E4AF2-FF65-4727-B9F2-5E0BFB998FF1}"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1133FFC2-AB6C-404F-B100-A57AEBEB5A6C}" type="slidenum">
              <a:rPr lang="zh-CN" altLang="en-US">
                <a:ea typeface="宋体" panose="02010600030101010101" pitchFamily="2" charset="-122"/>
              </a:rPr>
            </a:fld>
            <a:endParaRPr lang="en-US" altLang="zh-CN">
              <a:ea typeface="宋体" panose="02010600030101010101" pitchFamily="2" charset="-122"/>
            </a:endParaRPr>
          </a:p>
        </p:txBody>
      </p:sp>
      <p:sp>
        <p:nvSpPr>
          <p:cNvPr id="6"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B5225F42-7FDB-4977-829B-BE6B3C0CD5B2}"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44036" name="Rectangle 2"/>
          <p:cNvSpPr>
            <a:spLocks noGrp="1" noChangeArrowheads="1"/>
          </p:cNvSpPr>
          <p:nvPr>
            <p:ph type="title" idx="4294967295"/>
          </p:nvPr>
        </p:nvSpPr>
        <p:spPr/>
        <p:txBody>
          <a:bodyPr/>
          <a:lstStyle/>
          <a:p>
            <a:pPr eaLnBrk="1" hangingPunct="1"/>
            <a:r>
              <a:rPr lang="zh-CN" altLang="en-US">
                <a:ea typeface="宋体" panose="02010600030101010101" pitchFamily="2" charset="-122"/>
              </a:rPr>
              <a:t>图形系统标准</a:t>
            </a:r>
            <a:endParaRPr lang="zh-CN" altLang="en-US">
              <a:ea typeface="宋体" panose="02010600030101010101" pitchFamily="2" charset="-122"/>
            </a:endParaRPr>
          </a:p>
        </p:txBody>
      </p:sp>
      <p:sp>
        <p:nvSpPr>
          <p:cNvPr id="48134" name="Rectangle 3"/>
          <p:cNvSpPr>
            <a:spLocks noGrp="1" noChangeArrowheads="1"/>
          </p:cNvSpPr>
          <p:nvPr>
            <p:ph type="body" idx="4294967295"/>
          </p:nvPr>
        </p:nvSpPr>
        <p:spPr/>
        <p:txBody>
          <a:bodyPr/>
          <a:lstStyle/>
          <a:p>
            <a:pPr eaLnBrk="1" hangingPunct="1"/>
            <a:r>
              <a:rPr lang="zh-CN" altLang="en-US">
                <a:ea typeface="宋体" panose="02010600030101010101" pitchFamily="2" charset="-122"/>
              </a:rPr>
              <a:t>图形标准：图形系统及其相关应用系统中各界面之间进行数据传送和通信的接口标准，及供图形应用程序调用的子程序功能及其格式标准</a:t>
            </a:r>
            <a:endParaRPr lang="en-US" altLang="zh-CN">
              <a:ea typeface="宋体" panose="02010600030101010101" pitchFamily="2" charset="-122"/>
            </a:endParaRPr>
          </a:p>
          <a:p>
            <a:pPr eaLnBrk="1" hangingPunct="1"/>
            <a:r>
              <a:rPr lang="zh-CN" altLang="en-US">
                <a:ea typeface="宋体" panose="02010600030101010101" pitchFamily="2" charset="-122"/>
              </a:rPr>
              <a:t>前者</a:t>
            </a:r>
            <a:r>
              <a:rPr lang="en-US" altLang="zh-CN">
                <a:ea typeface="宋体" panose="02010600030101010101" pitchFamily="2" charset="-122"/>
              </a:rPr>
              <a:t>: </a:t>
            </a:r>
            <a:r>
              <a:rPr lang="zh-CN" altLang="en-US">
                <a:ea typeface="宋体" panose="02010600030101010101" pitchFamily="2" charset="-122"/>
              </a:rPr>
              <a:t>数据及文件格式标准</a:t>
            </a:r>
            <a:endParaRPr lang="en-US" altLang="zh-CN">
              <a:ea typeface="宋体" panose="02010600030101010101" pitchFamily="2" charset="-122"/>
            </a:endParaRPr>
          </a:p>
          <a:p>
            <a:pPr eaLnBrk="1" hangingPunct="1"/>
            <a:r>
              <a:rPr lang="zh-CN" altLang="en-US">
                <a:ea typeface="宋体" panose="02010600030101010101" pitchFamily="2" charset="-122"/>
              </a:rPr>
              <a:t>后者</a:t>
            </a:r>
            <a:r>
              <a:rPr lang="en-US" altLang="zh-CN">
                <a:ea typeface="宋体" panose="02010600030101010101" pitchFamily="2" charset="-122"/>
              </a:rPr>
              <a:t>: </a:t>
            </a:r>
            <a:r>
              <a:rPr lang="zh-CN" altLang="en-US">
                <a:ea typeface="宋体" panose="02010600030101010101" pitchFamily="2" charset="-122"/>
              </a:rPr>
              <a:t>子程序界面标准</a:t>
            </a:r>
            <a:endParaRPr lang="zh-CN" altLang="en-US">
              <a:ea typeface="宋体" panose="02010600030101010101" pitchFamily="2" charset="-122"/>
            </a:endParaRPr>
          </a:p>
        </p:txBody>
      </p:sp>
      <p:sp>
        <p:nvSpPr>
          <p:cNvPr id="44038"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A088F28D-440C-4218-B767-E5368D5A124E}" type="datetime10">
              <a:rPr lang="zh-CN" altLang="en-US" smtClean="0">
                <a:ea typeface="宋体" panose="02010600030101010101" pitchFamily="2" charset="-122"/>
              </a:rPr>
            </a:fld>
            <a:endParaRPr lang="en-US" altLang="zh-CN">
              <a:ea typeface="宋体" panose="02010600030101010101" pitchFamily="2" charset="-122"/>
            </a:endParaRPr>
          </a:p>
        </p:txBody>
      </p:sp>
      <p:graphicFrame>
        <p:nvGraphicFramePr>
          <p:cNvPr id="2" name="对象 1"/>
          <p:cNvGraphicFramePr>
            <a:graphicFrameLocks noChangeAspect="1"/>
          </p:cNvGraphicFramePr>
          <p:nvPr/>
        </p:nvGraphicFramePr>
        <p:xfrm>
          <a:off x="6705600" y="2998788"/>
          <a:ext cx="1828800" cy="3783012"/>
        </p:xfrm>
        <a:graphic>
          <a:graphicData uri="http://schemas.openxmlformats.org/presentationml/2006/ole">
            <mc:AlternateContent xmlns:mc="http://schemas.openxmlformats.org/markup-compatibility/2006">
              <mc:Choice xmlns:v="urn:schemas-microsoft-com:vml" Requires="v">
                <p:oleObj spid="_x0000_s59469" name="Visio" r:id="rId1" imgW="609600" imgH="1252220" progId="Visio.Drawing.11">
                  <p:embed/>
                </p:oleObj>
              </mc:Choice>
              <mc:Fallback>
                <p:oleObj name="Visio" r:id="rId1" imgW="609600" imgH="1252220" progId="Visio.Drawing.11">
                  <p:embed/>
                  <p:pic>
                    <p:nvPicPr>
                      <p:cNvPr id="0" name="对象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2998788"/>
                        <a:ext cx="1828800" cy="3783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13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8134">
                                            <p:txEl>
                                              <p:pRg st="1" end="1"/>
                                            </p:txEl>
                                          </p:spTgt>
                                        </p:tgtEl>
                                        <p:attrNameLst>
                                          <p:attrName>style.visibility</p:attrName>
                                        </p:attrNameLst>
                                      </p:cBhvr>
                                      <p:to>
                                        <p:strVal val="visible"/>
                                      </p:to>
                                    </p:set>
                                    <p:animEffect transition="in" filter="blinds(horizontal)">
                                      <p:cBhvr>
                                        <p:cTn id="15" dur="500"/>
                                        <p:tgtEl>
                                          <p:spTgt spid="4813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48134">
                                            <p:txEl>
                                              <p:pRg st="2" end="2"/>
                                            </p:txEl>
                                          </p:spTgt>
                                        </p:tgtEl>
                                        <p:attrNameLst>
                                          <p:attrName>style.visibility</p:attrName>
                                        </p:attrNameLst>
                                      </p:cBhvr>
                                      <p:to>
                                        <p:strVal val="visible"/>
                                      </p:to>
                                    </p:set>
                                    <p:animEffect transition="in" filter="blinds(horizontal)">
                                      <p:cBhvr>
                                        <p:cTn id="20" dur="500"/>
                                        <p:tgtEl>
                                          <p:spTgt spid="4813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01227CB4-0CC7-4928-9157-CD040DDA800D}" type="slidenum">
              <a:rPr lang="zh-CN" altLang="en-US">
                <a:ea typeface="宋体" panose="02010600030101010101" pitchFamily="2" charset="-122"/>
              </a:rPr>
            </a:fld>
            <a:endParaRPr lang="en-US" altLang="zh-CN">
              <a:ea typeface="宋体" panose="02010600030101010101" pitchFamily="2" charset="-122"/>
            </a:endParaRPr>
          </a:p>
        </p:txBody>
      </p:sp>
      <p:sp>
        <p:nvSpPr>
          <p:cNvPr id="6"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9C83493D-6070-448E-88E6-22B1588C63DE}"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45060" name="Rectangle 2"/>
          <p:cNvSpPr>
            <a:spLocks noGrp="1" noChangeArrowheads="1"/>
          </p:cNvSpPr>
          <p:nvPr>
            <p:ph type="title" idx="4294967295"/>
          </p:nvPr>
        </p:nvSpPr>
        <p:spPr>
          <a:xfrm>
            <a:off x="1619250" y="115888"/>
            <a:ext cx="6762750" cy="865187"/>
          </a:xfrm>
        </p:spPr>
        <p:txBody>
          <a:bodyPr/>
          <a:lstStyle/>
          <a:p>
            <a:pPr algn="l" eaLnBrk="1" hangingPunct="1"/>
            <a:r>
              <a:rPr lang="zh-CN" altLang="en-US">
                <a:ea typeface="宋体" panose="02010600030101010101" pitchFamily="2" charset="-122"/>
              </a:rPr>
              <a:t>图形系统标准分类</a:t>
            </a:r>
            <a:endParaRPr lang="en-US" altLang="zh-CN">
              <a:ea typeface="宋体" panose="02010600030101010101" pitchFamily="2" charset="-122"/>
            </a:endParaRPr>
          </a:p>
        </p:txBody>
      </p:sp>
      <p:sp>
        <p:nvSpPr>
          <p:cNvPr id="49158" name="Rectangle 3"/>
          <p:cNvSpPr>
            <a:spLocks noGrp="1" noChangeArrowheads="1"/>
          </p:cNvSpPr>
          <p:nvPr>
            <p:ph type="body" idx="4294967295"/>
          </p:nvPr>
        </p:nvSpPr>
        <p:spPr>
          <a:xfrm>
            <a:off x="685800" y="990600"/>
            <a:ext cx="7772400" cy="5105400"/>
          </a:xfrm>
        </p:spPr>
        <p:txBody>
          <a:bodyPr/>
          <a:lstStyle/>
          <a:p>
            <a:pPr eaLnBrk="1" hangingPunct="1">
              <a:defRPr/>
            </a:pPr>
            <a:r>
              <a:rPr lang="zh-CN" altLang="en-US" sz="2800" dirty="0">
                <a:ea typeface="宋体" panose="02010600030101010101" pitchFamily="2" charset="-122"/>
              </a:rPr>
              <a:t>面向图形设备的接口标准：</a:t>
            </a:r>
            <a:endParaRPr lang="zh-CN" altLang="en-US" sz="2800" dirty="0">
              <a:ea typeface="宋体" panose="02010600030101010101" pitchFamily="2" charset="-122"/>
            </a:endParaRPr>
          </a:p>
          <a:p>
            <a:pPr marL="1165225" lvl="2" indent="-714375" eaLnBrk="1" hangingPunct="1">
              <a:buFontTx/>
              <a:buNone/>
              <a:defRPr/>
            </a:pPr>
            <a:r>
              <a:rPr lang="zh-CN" altLang="en-US" dirty="0">
                <a:ea typeface="宋体" panose="02010600030101010101" pitchFamily="2" charset="-122"/>
              </a:rPr>
              <a:t>计算机图形元文件(</a:t>
            </a:r>
            <a:r>
              <a:rPr lang="en-US" altLang="zh-CN" dirty="0">
                <a:ea typeface="宋体" panose="02010600030101010101" pitchFamily="2" charset="-122"/>
              </a:rPr>
              <a:t>CGM)，(</a:t>
            </a:r>
            <a:r>
              <a:rPr lang="en-US" altLang="zh-CN" dirty="0" err="1">
                <a:ea typeface="宋体" panose="02010600030101010101" pitchFamily="2" charset="-122"/>
              </a:rPr>
              <a:t>CRT,Mouse</a:t>
            </a:r>
            <a:r>
              <a:rPr lang="en-US" altLang="zh-CN" dirty="0">
                <a:ea typeface="宋体" panose="02010600030101010101" pitchFamily="2" charset="-122"/>
              </a:rPr>
              <a:t>,…)</a:t>
            </a:r>
            <a:endParaRPr lang="en-US" altLang="zh-CN" dirty="0">
              <a:ea typeface="宋体" panose="02010600030101010101" pitchFamily="2" charset="-122"/>
            </a:endParaRPr>
          </a:p>
          <a:p>
            <a:pPr marL="1165225" lvl="2" indent="-714375" eaLnBrk="1" hangingPunct="1">
              <a:buFontTx/>
              <a:buNone/>
              <a:defRPr/>
            </a:pPr>
            <a:r>
              <a:rPr lang="zh-CN" altLang="en-US" dirty="0">
                <a:ea typeface="宋体" panose="02010600030101010101" pitchFamily="2" charset="-122"/>
              </a:rPr>
              <a:t>计算机图形接口(</a:t>
            </a:r>
            <a:r>
              <a:rPr lang="en-US" altLang="zh-CN" dirty="0">
                <a:ea typeface="宋体" panose="02010600030101010101" pitchFamily="2" charset="-122"/>
              </a:rPr>
              <a:t>CGI).</a:t>
            </a:r>
            <a:r>
              <a:rPr lang="zh-CN" altLang="en-US" dirty="0">
                <a:ea typeface="宋体" panose="02010600030101010101" pitchFamily="2" charset="-122"/>
              </a:rPr>
              <a:t>设备驱动程序</a:t>
            </a:r>
            <a:endParaRPr lang="zh-CN" altLang="en-US" dirty="0">
              <a:ea typeface="宋体" panose="02010600030101010101" pitchFamily="2" charset="-122"/>
            </a:endParaRPr>
          </a:p>
          <a:p>
            <a:pPr eaLnBrk="1" hangingPunct="1">
              <a:defRPr/>
            </a:pPr>
            <a:r>
              <a:rPr lang="zh-CN" altLang="en-US" sz="2800" dirty="0">
                <a:ea typeface="宋体" panose="02010600030101010101" pitchFamily="2" charset="-122"/>
              </a:rPr>
              <a:t>面向应用软件的标准：</a:t>
            </a:r>
            <a:endParaRPr lang="zh-CN" altLang="en-US" sz="2800" dirty="0">
              <a:ea typeface="宋体" panose="02010600030101010101" pitchFamily="2" charset="-122"/>
            </a:endParaRPr>
          </a:p>
          <a:p>
            <a:pPr lvl="2" indent="-692150" eaLnBrk="1" hangingPunct="1">
              <a:buFontTx/>
              <a:buNone/>
              <a:defRPr/>
            </a:pPr>
            <a:r>
              <a:rPr lang="zh-CN" altLang="en-US" dirty="0">
                <a:ea typeface="宋体" panose="02010600030101010101" pitchFamily="2" charset="-122"/>
              </a:rPr>
              <a:t>程序员层次交互式图形系统（</a:t>
            </a:r>
            <a:r>
              <a:rPr lang="en-US" altLang="zh-CN" dirty="0">
                <a:ea typeface="宋体" panose="02010600030101010101" pitchFamily="2" charset="-122"/>
              </a:rPr>
              <a:t>PHIGS)</a:t>
            </a:r>
            <a:endParaRPr lang="zh-CN" altLang="en-US" dirty="0">
              <a:ea typeface="宋体" panose="02010600030101010101" pitchFamily="2" charset="-122"/>
            </a:endParaRPr>
          </a:p>
          <a:p>
            <a:pPr marL="450850" lvl="2" indent="0" eaLnBrk="1" hangingPunct="1">
              <a:buFontTx/>
              <a:buNone/>
              <a:defRPr/>
            </a:pPr>
            <a:r>
              <a:rPr lang="zh-CN" altLang="en-US">
                <a:ea typeface="宋体" panose="02010600030101010101" pitchFamily="2" charset="-122"/>
              </a:rPr>
              <a:t>三维图形核心系统</a:t>
            </a:r>
            <a:r>
              <a:rPr lang="en-US" altLang="zh-CN" dirty="0">
                <a:ea typeface="宋体" panose="02010600030101010101" pitchFamily="2" charset="-122"/>
              </a:rPr>
              <a:t>GKS</a:t>
            </a:r>
            <a:endParaRPr lang="en-US" altLang="zh-CN" dirty="0">
              <a:ea typeface="宋体" panose="02010600030101010101" pitchFamily="2" charset="-122"/>
            </a:endParaRPr>
          </a:p>
          <a:p>
            <a:pPr eaLnBrk="1" hangingPunct="1">
              <a:defRPr/>
            </a:pPr>
            <a:r>
              <a:rPr lang="zh-CN" altLang="en-US" sz="2800" dirty="0">
                <a:ea typeface="宋体" panose="02010600030101010101" pitchFamily="2" charset="-122"/>
              </a:rPr>
              <a:t>面向图形应用系统中工程和产品数据模型及其文件格式：</a:t>
            </a:r>
            <a:endParaRPr lang="zh-CN" altLang="en-US" sz="2800" dirty="0">
              <a:ea typeface="宋体" panose="02010600030101010101" pitchFamily="2" charset="-122"/>
            </a:endParaRPr>
          </a:p>
          <a:p>
            <a:pPr lvl="1" eaLnBrk="1" hangingPunct="1">
              <a:buFontTx/>
              <a:buNone/>
              <a:defRPr/>
            </a:pPr>
            <a:r>
              <a:rPr lang="zh-CN" altLang="en-US" sz="2400" dirty="0">
                <a:ea typeface="宋体" panose="02010600030101010101" pitchFamily="2" charset="-122"/>
              </a:rPr>
              <a:t>基本图形转换规范（</a:t>
            </a:r>
            <a:r>
              <a:rPr lang="en-US" altLang="zh-CN" sz="2400" dirty="0">
                <a:ea typeface="宋体" panose="02010600030101010101" pitchFamily="2" charset="-122"/>
              </a:rPr>
              <a:t>IGES）</a:t>
            </a:r>
            <a:endParaRPr lang="en-US" altLang="zh-CN" sz="2400" dirty="0">
              <a:ea typeface="宋体" panose="02010600030101010101" pitchFamily="2" charset="-122"/>
            </a:endParaRPr>
          </a:p>
          <a:p>
            <a:pPr lvl="1" eaLnBrk="1" hangingPunct="1">
              <a:buFontTx/>
              <a:buNone/>
              <a:defRPr/>
            </a:pPr>
            <a:r>
              <a:rPr lang="zh-CN" altLang="en-US" sz="2400" dirty="0">
                <a:ea typeface="宋体" panose="02010600030101010101" pitchFamily="2" charset="-122"/>
              </a:rPr>
              <a:t>产品数据转换规范（</a:t>
            </a:r>
            <a:r>
              <a:rPr lang="en-US" altLang="zh-CN" sz="2400" dirty="0">
                <a:ea typeface="宋体" panose="02010600030101010101" pitchFamily="2" charset="-122"/>
              </a:rPr>
              <a:t>STEP）</a:t>
            </a:r>
            <a:endParaRPr lang="en-US" altLang="zh-CN" sz="2400" dirty="0">
              <a:ea typeface="宋体" panose="02010600030101010101" pitchFamily="2" charset="-122"/>
            </a:endParaRPr>
          </a:p>
          <a:p>
            <a:pPr eaLnBrk="1" hangingPunct="1">
              <a:defRPr/>
            </a:pPr>
            <a:endParaRPr lang="zh-CN" altLang="en-US" sz="2800" dirty="0">
              <a:ea typeface="宋体" panose="02010600030101010101" pitchFamily="2" charset="-122"/>
            </a:endParaRPr>
          </a:p>
        </p:txBody>
      </p:sp>
      <p:sp>
        <p:nvSpPr>
          <p:cNvPr id="45062"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C0274D86-8553-4DD9-98F4-C2378BC6A2A9}"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C43E9847-0896-4E80-B457-5342405AC870}" type="slidenum">
              <a:rPr lang="zh-CN" altLang="en-US">
                <a:ea typeface="宋体" panose="02010600030101010101" pitchFamily="2" charset="-122"/>
              </a:rPr>
            </a:fld>
            <a:endParaRPr lang="en-US" altLang="zh-CN">
              <a:ea typeface="宋体" panose="02010600030101010101" pitchFamily="2" charset="-122"/>
            </a:endParaRPr>
          </a:p>
        </p:txBody>
      </p:sp>
      <p:sp>
        <p:nvSpPr>
          <p:cNvPr id="4" name="日期占位符 3"/>
          <p:cNvSpPr txBox="1">
            <a:spLocks noGrp="1"/>
          </p:cNvSpPr>
          <p:nvPr/>
        </p:nvSpPr>
        <p:spPr bwMode="auto">
          <a:xfrm>
            <a:off x="457200" y="6461125"/>
            <a:ext cx="2133600" cy="320675"/>
          </a:xfrm>
          <a:prstGeom prst="rect">
            <a:avLst/>
          </a:prstGeom>
          <a:noFill/>
          <a:ln>
            <a:miter lim="800000"/>
          </a:ln>
        </p:spPr>
        <p:txBody>
          <a:bodyPr/>
          <a:lstStyle/>
          <a:p>
            <a:pPr>
              <a:defRPr/>
            </a:pPr>
            <a:endParaRPr lang="en-US" altLang="zh-CN" sz="1400" dirty="0">
              <a:latin typeface="+mj-lt"/>
              <a:ea typeface="宋体" panose="02010600030101010101" pitchFamily="2" charset="-122"/>
            </a:endParaRPr>
          </a:p>
        </p:txBody>
      </p:sp>
      <p:sp>
        <p:nvSpPr>
          <p:cNvPr id="6"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D58ED21D-6E1C-4808-8810-2D5837580D0F}"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46085" name="Rectangle 2"/>
          <p:cNvSpPr>
            <a:spLocks noGrp="1" noChangeArrowheads="1"/>
          </p:cNvSpPr>
          <p:nvPr>
            <p:ph type="title" idx="4294967295"/>
          </p:nvPr>
        </p:nvSpPr>
        <p:spPr/>
        <p:txBody>
          <a:bodyPr/>
          <a:lstStyle/>
          <a:p>
            <a:pPr eaLnBrk="1" hangingPunct="1"/>
            <a:r>
              <a:rPr lang="zh-CN" altLang="en-US">
                <a:ea typeface="宋体" panose="02010600030101010101" pitchFamily="2" charset="-122"/>
              </a:rPr>
              <a:t>图形处理</a:t>
            </a:r>
            <a:r>
              <a:rPr lang="zh-CN" altLang="en-US">
                <a:ea typeface="宋体" panose="02010600030101010101" pitchFamily="2" charset="-122"/>
              </a:rPr>
              <a:t>流水线</a:t>
            </a:r>
            <a:endParaRPr lang="zh-CN" altLang="en-US">
              <a:ea typeface="宋体" panose="02010600030101010101" pitchFamily="2" charset="-122"/>
            </a:endParaRPr>
          </a:p>
        </p:txBody>
      </p:sp>
      <p:sp>
        <p:nvSpPr>
          <p:cNvPr id="46086" name="Rectangle 3"/>
          <p:cNvSpPr>
            <a:spLocks noGrp="1" noChangeArrowheads="1"/>
          </p:cNvSpPr>
          <p:nvPr>
            <p:ph type="body" idx="4294967295"/>
          </p:nvPr>
        </p:nvSpPr>
        <p:spPr/>
        <p:txBody>
          <a:bodyPr/>
          <a:lstStyle/>
          <a:p>
            <a:pPr eaLnBrk="1" hangingPunct="1"/>
            <a:r>
              <a:rPr lang="zh-CN" altLang="en-US" dirty="0">
                <a:ea typeface="宋体" panose="02010600030101010101" pitchFamily="2" charset="-122"/>
              </a:rPr>
              <a:t>补充教材</a:t>
            </a:r>
            <a:r>
              <a:rPr lang="en-US" altLang="zh-CN" dirty="0">
                <a:ea typeface="宋体" panose="02010600030101010101" pitchFamily="2" charset="-122"/>
              </a:rPr>
              <a:t>2.4</a:t>
            </a:r>
            <a:r>
              <a:rPr lang="zh-CN" altLang="en-US" dirty="0">
                <a:ea typeface="宋体" panose="02010600030101010101" pitchFamily="2" charset="-122"/>
              </a:rPr>
              <a:t>节的内容和</a:t>
            </a:r>
            <a:r>
              <a:rPr lang="zh-CN" altLang="en-US" dirty="0">
                <a:ea typeface="宋体" panose="02010600030101010101" pitchFamily="2" charset="-122"/>
              </a:rPr>
              <a:t>代码</a:t>
            </a:r>
            <a:endParaRPr lang="zh-CN" altLang="en-US" dirty="0">
              <a:ea typeface="宋体" panose="02010600030101010101" pitchFamily="2" charset="-122"/>
            </a:endParaRPr>
          </a:p>
        </p:txBody>
      </p:sp>
      <p:sp>
        <p:nvSpPr>
          <p:cNvPr id="46087"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5D3F0969-AA91-4A69-B249-55973E2A92B4}"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C43E9847-0896-4E80-B457-5342405AC870}" type="slidenum">
              <a:rPr lang="zh-CN" altLang="en-US">
                <a:ea typeface="宋体" panose="02010600030101010101" pitchFamily="2" charset="-122"/>
              </a:rPr>
            </a:fld>
            <a:endParaRPr lang="en-US" altLang="zh-CN">
              <a:ea typeface="宋体" panose="02010600030101010101" pitchFamily="2" charset="-122"/>
            </a:endParaRPr>
          </a:p>
        </p:txBody>
      </p:sp>
      <p:sp>
        <p:nvSpPr>
          <p:cNvPr id="4" name="日期占位符 3"/>
          <p:cNvSpPr txBox="1">
            <a:spLocks noGrp="1"/>
          </p:cNvSpPr>
          <p:nvPr/>
        </p:nvSpPr>
        <p:spPr bwMode="auto">
          <a:xfrm>
            <a:off x="457200" y="6461125"/>
            <a:ext cx="2133600" cy="320675"/>
          </a:xfrm>
          <a:prstGeom prst="rect">
            <a:avLst/>
          </a:prstGeom>
          <a:noFill/>
          <a:ln>
            <a:miter lim="800000"/>
          </a:ln>
        </p:spPr>
        <p:txBody>
          <a:bodyPr/>
          <a:lstStyle/>
          <a:p>
            <a:pPr>
              <a:defRPr/>
            </a:pPr>
            <a:endParaRPr lang="en-US" altLang="zh-CN" sz="1400" dirty="0">
              <a:latin typeface="+mj-lt"/>
              <a:ea typeface="宋体" panose="02010600030101010101" pitchFamily="2" charset="-122"/>
            </a:endParaRPr>
          </a:p>
        </p:txBody>
      </p:sp>
      <p:sp>
        <p:nvSpPr>
          <p:cNvPr id="6" name="灯片编号占位符 5"/>
          <p:cNvSpPr txBox="1">
            <a:spLocks noGrp="1"/>
          </p:cNvSpPr>
          <p:nvPr/>
        </p:nvSpPr>
        <p:spPr bwMode="auto">
          <a:xfrm>
            <a:off x="6553200" y="6461125"/>
            <a:ext cx="2133600" cy="320675"/>
          </a:xfrm>
          <a:prstGeom prst="rect">
            <a:avLst/>
          </a:prstGeom>
          <a:noFill/>
          <a:ln>
            <a:miter lim="800000"/>
          </a:ln>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algn="r" eaLnBrk="1" hangingPunct="1"/>
            <a:fld id="{D58ED21D-6E1C-4808-8810-2D5837580D0F}" type="slidenum">
              <a:rPr lang="zh-CN" altLang="en-US" sz="1400">
                <a:ea typeface="宋体" panose="02010600030101010101" pitchFamily="2" charset="-122"/>
              </a:rPr>
            </a:fld>
            <a:endParaRPr lang="en-US" altLang="zh-CN" sz="1400">
              <a:ea typeface="宋体" panose="02010600030101010101" pitchFamily="2" charset="-122"/>
            </a:endParaRPr>
          </a:p>
        </p:txBody>
      </p:sp>
      <p:sp>
        <p:nvSpPr>
          <p:cNvPr id="46085" name="Rectangle 2"/>
          <p:cNvSpPr>
            <a:spLocks noGrp="1" noChangeArrowheads="1"/>
          </p:cNvSpPr>
          <p:nvPr>
            <p:ph type="title" idx="4294967295"/>
          </p:nvPr>
        </p:nvSpPr>
        <p:spPr/>
        <p:txBody>
          <a:bodyPr/>
          <a:lstStyle/>
          <a:p>
            <a:pPr eaLnBrk="1" hangingPunct="1"/>
            <a:r>
              <a:rPr lang="zh-CN" altLang="en-US">
                <a:ea typeface="宋体" panose="02010600030101010101" pitchFamily="2" charset="-122"/>
              </a:rPr>
              <a:t>图形系统</a:t>
            </a:r>
            <a:endParaRPr lang="en-US" altLang="zh-CN">
              <a:ea typeface="宋体" panose="02010600030101010101" pitchFamily="2" charset="-122"/>
            </a:endParaRPr>
          </a:p>
        </p:txBody>
      </p:sp>
      <p:sp>
        <p:nvSpPr>
          <p:cNvPr id="46086" name="Rectangle 3"/>
          <p:cNvSpPr>
            <a:spLocks noGrp="1" noChangeArrowheads="1"/>
          </p:cNvSpPr>
          <p:nvPr>
            <p:ph type="body" idx="4294967295"/>
          </p:nvPr>
        </p:nvSpPr>
        <p:spPr/>
        <p:txBody>
          <a:bodyPr/>
          <a:lstStyle/>
          <a:p>
            <a:pPr eaLnBrk="1" hangingPunct="1"/>
            <a:r>
              <a:rPr lang="zh-CN" altLang="en-US" dirty="0">
                <a:ea typeface="宋体" panose="02010600030101010101" pitchFamily="2" charset="-122"/>
              </a:rPr>
              <a:t>硬件层面</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设备显示原理：</a:t>
            </a:r>
            <a:r>
              <a:rPr lang="en-US" altLang="zh-CN" dirty="0">
                <a:ea typeface="宋体" panose="02010600030101010101" pitchFamily="2" charset="-122"/>
              </a:rPr>
              <a:t>CRT</a:t>
            </a:r>
            <a:r>
              <a:rPr lang="zh-CN" altLang="en-US" dirty="0">
                <a:ea typeface="宋体" panose="02010600030101010101" pitchFamily="2" charset="-122"/>
              </a:rPr>
              <a:t>、</a:t>
            </a:r>
            <a:r>
              <a:rPr lang="en-US" altLang="zh-CN" dirty="0">
                <a:ea typeface="宋体" panose="02010600030101010101" pitchFamily="2" charset="-122"/>
              </a:rPr>
              <a:t>LCD</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设备显示方式：随机、光栅</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显示系统组成结构：简单、典型、专用</a:t>
            </a:r>
            <a:endParaRPr lang="zh-CN" altLang="en-US" dirty="0">
              <a:ea typeface="宋体" panose="02010600030101010101" pitchFamily="2" charset="-122"/>
            </a:endParaRPr>
          </a:p>
          <a:p>
            <a:pPr eaLnBrk="1" hangingPunct="1"/>
            <a:r>
              <a:rPr lang="zh-CN" altLang="en-US" dirty="0">
                <a:ea typeface="宋体" panose="02010600030101010101" pitchFamily="2" charset="-122"/>
              </a:rPr>
              <a:t>软件层面</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图形软件</a:t>
            </a:r>
            <a:endParaRPr lang="en-US" altLang="zh-CN" dirty="0">
              <a:ea typeface="宋体" panose="02010600030101010101" pitchFamily="2" charset="-122"/>
            </a:endParaRPr>
          </a:p>
          <a:p>
            <a:pPr eaLnBrk="1" hangingPunct="1"/>
            <a:r>
              <a:rPr lang="zh-CN" altLang="en-US" dirty="0">
                <a:ea typeface="宋体" panose="02010600030101010101" pitchFamily="2" charset="-122"/>
              </a:rPr>
              <a:t>图形系统标准</a:t>
            </a:r>
            <a:endParaRPr lang="zh-CN" altLang="en-US" dirty="0">
              <a:ea typeface="宋体" panose="02010600030101010101" pitchFamily="2" charset="-122"/>
            </a:endParaRPr>
          </a:p>
        </p:txBody>
      </p:sp>
      <p:sp>
        <p:nvSpPr>
          <p:cNvPr id="46087"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彩云" panose="02010800040101010101" pitchFamily="2" charset="-122"/>
              </a:defRPr>
            </a:lvl1pPr>
            <a:lvl2pPr marL="742950" indent="-285750" eaLnBrk="0" hangingPunct="0">
              <a:defRPr>
                <a:solidFill>
                  <a:schemeClr val="tx1"/>
                </a:solidFill>
                <a:latin typeface="Arial" panose="020B0604020202020204" pitchFamily="34" charset="0"/>
                <a:ea typeface="华文彩云" panose="02010800040101010101" pitchFamily="2" charset="-122"/>
              </a:defRPr>
            </a:lvl2pPr>
            <a:lvl3pPr marL="1143000" indent="-228600" eaLnBrk="0" hangingPunct="0">
              <a:defRPr>
                <a:solidFill>
                  <a:schemeClr val="tx1"/>
                </a:solidFill>
                <a:latin typeface="Arial" panose="020B0604020202020204" pitchFamily="34" charset="0"/>
                <a:ea typeface="华文彩云" panose="02010800040101010101" pitchFamily="2" charset="-122"/>
              </a:defRPr>
            </a:lvl3pPr>
            <a:lvl4pPr marL="1600200" indent="-228600" eaLnBrk="0" hangingPunct="0">
              <a:defRPr>
                <a:solidFill>
                  <a:schemeClr val="tx1"/>
                </a:solidFill>
                <a:latin typeface="Arial" panose="020B0604020202020204" pitchFamily="34" charset="0"/>
                <a:ea typeface="华文彩云" panose="02010800040101010101" pitchFamily="2" charset="-122"/>
              </a:defRPr>
            </a:lvl4pPr>
            <a:lvl5pPr marL="2057400" indent="-228600" eaLnBrk="0" hangingPunct="0">
              <a:defRPr>
                <a:solidFill>
                  <a:schemeClr val="tx1"/>
                </a:solidFill>
                <a:latin typeface="Arial" panose="020B0604020202020204" pitchFamily="34" charset="0"/>
                <a:ea typeface="华文彩云" panose="020108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彩云" panose="02010800040101010101" pitchFamily="2" charset="-122"/>
              </a:defRPr>
            </a:lvl9pPr>
          </a:lstStyle>
          <a:p>
            <a:pPr eaLnBrk="1" hangingPunct="1"/>
            <a:fld id="{5D3F0969-AA91-4A69-B249-55973E2A92B4}" type="datetime10">
              <a:rPr lang="zh-CN" altLang="en-US" smtClean="0">
                <a:ea typeface="宋体" panose="02010600030101010101" pitchFamily="2" charset="-122"/>
              </a:rPr>
            </a:fld>
            <a:endParaRPr lang="en-US" altLang="zh-CN">
              <a:ea typeface="宋体" panose="02010600030101010101" pitchFamily="2" charset="-122"/>
            </a:endParaRPr>
          </a:p>
        </p:txBody>
      </p:sp>
    </p:spTree>
  </p:cSld>
  <p:clrMapOvr>
    <a:masterClrMapping/>
  </p:clrMapOvr>
  <p:transition/>
</p:sld>
</file>

<file path=ppt/tags/tag1.xml><?xml version="1.0" encoding="utf-8"?>
<p:tagLst xmlns:p="http://schemas.openxmlformats.org/presentationml/2006/main">
  <p:tag name="COMMONDATA" val="eyJoZGlkIjoiOGI5ZWRjMmFlNjYxNmNkMGYwMDIwMTE5MDU5ZWI1MDAifQ=="/>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5774</Words>
  <Application>WPS 演示</Application>
  <PresentationFormat>全屏显示(4:3)</PresentationFormat>
  <Paragraphs>735</Paragraphs>
  <Slides>50</Slides>
  <Notes>25</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7</vt:i4>
      </vt:variant>
      <vt:variant>
        <vt:lpstr>幻灯片标题</vt:lpstr>
      </vt:variant>
      <vt:variant>
        <vt:i4>50</vt:i4>
      </vt:variant>
    </vt:vector>
  </HeadingPairs>
  <TitlesOfParts>
    <vt:vector size="66" baseType="lpstr">
      <vt:lpstr>Arial</vt:lpstr>
      <vt:lpstr>宋体</vt:lpstr>
      <vt:lpstr>Wingdings</vt:lpstr>
      <vt:lpstr>华文彩云</vt:lpstr>
      <vt:lpstr>微软雅黑</vt:lpstr>
      <vt:lpstr>Times New Roman</vt:lpstr>
      <vt:lpstr>Arial Unicode MS</vt:lpstr>
      <vt:lpstr>幼圆</vt:lpstr>
      <vt:lpstr>Default Design</vt:lpstr>
      <vt:lpstr>Photoshop.Image.7</vt:lpstr>
      <vt:lpstr>Visio.Drawing.11</vt:lpstr>
      <vt:lpstr>Visio.Drawing.11</vt:lpstr>
      <vt:lpstr>Equation.3</vt:lpstr>
      <vt:lpstr>Visio.Drawing.11</vt:lpstr>
      <vt:lpstr>Visio.Drawing.11</vt:lpstr>
      <vt:lpstr>Visio.Drawing.11</vt:lpstr>
      <vt:lpstr>图形系统</vt:lpstr>
      <vt:lpstr>图形系统</vt:lpstr>
      <vt:lpstr>图形系统结构</vt:lpstr>
      <vt:lpstr>图形系统</vt:lpstr>
      <vt:lpstr>显示设备</vt:lpstr>
      <vt:lpstr>显示设备-CRT</vt:lpstr>
      <vt:lpstr>彩色阴极射线管-影孔板法</vt:lpstr>
      <vt:lpstr>彩色阴极射线管-影孔板法</vt:lpstr>
      <vt:lpstr>显示设备-LCD</vt:lpstr>
      <vt:lpstr>LCD显示基本原理</vt:lpstr>
      <vt:lpstr>PowerPoint 演示文稿</vt:lpstr>
      <vt:lpstr>PowerPoint 演示文稿</vt:lpstr>
      <vt:lpstr>Liquid Crystal Display </vt:lpstr>
      <vt:lpstr>PowerPoint 演示文稿</vt:lpstr>
      <vt:lpstr>未来显示器</vt:lpstr>
      <vt:lpstr>第二章  图形系统</vt:lpstr>
      <vt:lpstr>显示方式-随机扫描</vt:lpstr>
      <vt:lpstr>显示方式-随机扫描</vt:lpstr>
      <vt:lpstr>显示方式-光栅扫描显示</vt:lpstr>
      <vt:lpstr>光栅显示系统</vt:lpstr>
      <vt:lpstr>光栅显示器</vt:lpstr>
      <vt:lpstr>光栅扫描显示系统</vt:lpstr>
      <vt:lpstr>PowerPoint 演示文稿</vt:lpstr>
      <vt:lpstr>PowerPoint 演示文稿</vt:lpstr>
      <vt:lpstr>彩色光栅扫描显示器</vt:lpstr>
      <vt:lpstr>显示方式-光栅扫描显示</vt:lpstr>
      <vt:lpstr>图形系统</vt:lpstr>
      <vt:lpstr>光栅显示系统的结构-简单</vt:lpstr>
      <vt:lpstr>光栅显示系统的结构-典型</vt:lpstr>
      <vt:lpstr>光栅显示系统的结构-专用</vt:lpstr>
      <vt:lpstr>图形硬件</vt:lpstr>
      <vt:lpstr>图形系统</vt:lpstr>
      <vt:lpstr>图形软件分类</vt:lpstr>
      <vt:lpstr>图形软件分类</vt:lpstr>
      <vt:lpstr>应用程序接口API</vt:lpstr>
      <vt:lpstr>Why 图形API</vt:lpstr>
      <vt:lpstr>Draw with GDI(Graphics Device Interface)</vt:lpstr>
      <vt:lpstr>Draw with MFC/GDI</vt:lpstr>
      <vt:lpstr>图形支撑软件</vt:lpstr>
      <vt:lpstr>Point with OpenGL</vt:lpstr>
      <vt:lpstr>DirectX</vt:lpstr>
      <vt:lpstr>DirectX</vt:lpstr>
      <vt:lpstr>OpenGL与DirectX</vt:lpstr>
      <vt:lpstr>OpenGL与DirectX</vt:lpstr>
      <vt:lpstr>PowerPoint 演示文稿</vt:lpstr>
      <vt:lpstr>图形系统</vt:lpstr>
      <vt:lpstr>图形系统标准</vt:lpstr>
      <vt:lpstr>图形系统标准分类</vt:lpstr>
      <vt:lpstr>图形系统</vt:lpstr>
      <vt:lpstr>图形系统</vt:lpstr>
    </vt:vector>
  </TitlesOfParts>
  <Company>Computer Graphics Group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Luxo</dc:title>
  <dc:creator>fredo</dc:creator>
  <cp:lastModifiedBy>槑棍</cp:lastModifiedBy>
  <cp:revision>449</cp:revision>
  <dcterms:created xsi:type="dcterms:W3CDTF">2003-09-03T17:18:00Z</dcterms:created>
  <dcterms:modified xsi:type="dcterms:W3CDTF">2024-09-09T08:08:16Z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912442559C3F4676AB5A3EA7FCAB83DC_12</vt:lpwstr>
  </property>
  <property fmtid="{D5CDD505-2E9C-101B-9397-08002B2CF9AE}" pid="3" name="KSOProductBuildVer">
    <vt:lpwstr>2052-12.1.0.16417</vt:lpwstr>
  </property>
</Properties>
</file>