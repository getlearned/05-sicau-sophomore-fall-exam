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410" r:id="rId2"/>
    <p:sldId id="376" r:id="rId3"/>
    <p:sldId id="377" r:id="rId4"/>
    <p:sldId id="378" r:id="rId5"/>
    <p:sldId id="411" r:id="rId6"/>
    <p:sldId id="379" r:id="rId7"/>
    <p:sldId id="380" r:id="rId8"/>
    <p:sldId id="381" r:id="rId9"/>
    <p:sldId id="382" r:id="rId10"/>
    <p:sldId id="383" r:id="rId11"/>
    <p:sldId id="384" r:id="rId12"/>
    <p:sldId id="418" r:id="rId13"/>
    <p:sldId id="386" r:id="rId14"/>
    <p:sldId id="387" r:id="rId15"/>
    <p:sldId id="388" r:id="rId16"/>
    <p:sldId id="389" r:id="rId17"/>
    <p:sldId id="390" r:id="rId18"/>
    <p:sldId id="424" r:id="rId19"/>
    <p:sldId id="419" r:id="rId20"/>
    <p:sldId id="420" r:id="rId21"/>
    <p:sldId id="391" r:id="rId22"/>
    <p:sldId id="392" r:id="rId23"/>
    <p:sldId id="393" r:id="rId24"/>
    <p:sldId id="394" r:id="rId25"/>
    <p:sldId id="396" r:id="rId26"/>
    <p:sldId id="397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81" r:id="rId36"/>
  </p:sldIdLst>
  <p:sldSz cx="9906000" cy="6858000" type="A4"/>
  <p:notesSz cx="6934200" cy="9396413"/>
  <p:custDataLst>
    <p:tags r:id="rId39"/>
  </p:custDataLst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20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9900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9" autoAdjust="0"/>
    <p:restoredTop sz="78731" autoAdjust="0"/>
  </p:normalViewPr>
  <p:slideViewPr>
    <p:cSldViewPr snapToGrid="0" showGuides="1">
      <p:cViewPr varScale="1">
        <p:scale>
          <a:sx n="90" d="100"/>
          <a:sy n="90" d="100"/>
        </p:scale>
        <p:origin x="2016" y="78"/>
      </p:cViewPr>
      <p:guideLst>
        <p:guide orient="horz" pos="2160"/>
        <p:guide pos="31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1806" y="-90"/>
      </p:cViewPr>
      <p:guideLst>
        <p:guide orient="horz" pos="2959"/>
        <p:guide pos="220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1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18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1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6.emf"/><Relationship Id="rId1" Type="http://schemas.openxmlformats.org/officeDocument/2006/relationships/image" Target="../media/image18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18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467225"/>
            <a:ext cx="5086350" cy="39560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89343" tIns="43888" rIns="89343" bIns="43888" numCol="1" anchor="t" anchorCtr="0" compatLnSpc="1"/>
          <a:lstStyle/>
          <a:p>
            <a:pPr lvl="0"/>
            <a:r>
              <a:rPr lang="en-US" altLang="zh-CN" noProof="0"/>
              <a:t>Click to edit Master notes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9025" y="819150"/>
            <a:ext cx="4757738" cy="3294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89025" y="819150"/>
            <a:ext cx="4757738" cy="3294063"/>
          </a:xfrm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FB96B0-DE56-4B91-A879-ED2F9CB6A5AD}" type="slidenum">
              <a:rPr lang="zh-CN" altLang="en-US" sz="1300"/>
              <a:t>1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这一讲的多边形光栅化对应教材的</a:t>
            </a:r>
            <a:r>
              <a:rPr lang="en-US" altLang="zh-CN" dirty="0"/>
              <a:t>3.4.1</a:t>
            </a:r>
            <a:r>
              <a:rPr lang="zh-CN" altLang="en-US" dirty="0"/>
              <a:t>的多边形包含行测试算法中的逐点判断法，而下一讲中的</a:t>
            </a:r>
            <a:r>
              <a:rPr lang="zh-CN" altLang="en-US"/>
              <a:t>区域填充对应多边形包含行测试的漫水法或种子填充法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819150"/>
            <a:ext cx="4757738" cy="3294063"/>
          </a:xfrm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当射线与多边形的交点刚好为顶点时，不满足。</a:t>
            </a:r>
          </a:p>
          <a:p>
            <a:r>
              <a:rPr lang="zh-CN" altLang="en-US">
                <a:latin typeface="Arial" panose="020B0604020202020204" pitchFamily="34" charset="0"/>
              </a:rPr>
              <a:t>当顶点相邻的两条边处在射线同侧时，该顶点叫做极值点，，交点算</a:t>
            </a:r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个。如果再两侧，顶点叫做非极值点，此时交点算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个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教科书上叫做弧长法，两者等效。因为弧长法是将多边形的边看成有向边，将有向边投影到以</a:t>
            </a:r>
            <a:r>
              <a:rPr lang="en-US" altLang="zh-CN"/>
              <a:t>p0</a:t>
            </a:r>
            <a:r>
              <a:rPr lang="zh-CN" altLang="en-US"/>
              <a:t>为圆心的单位元上得到又向的圆弧，圆弧和圆弧夹角等效。</a:t>
            </a:r>
          </a:p>
          <a:p>
            <a:endParaRPr lang="zh-CN" altLang="en-US"/>
          </a:p>
          <a:p>
            <a:r>
              <a:rPr lang="zh-CN" altLang="en-US"/>
              <a:t>转一圈还得回到原来的位置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819150"/>
            <a:ext cx="4757738" cy="3294063"/>
          </a:xfrm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信息</a:t>
            </a:r>
            <a:r>
              <a:rPr lang="en-US" altLang="zh-CN">
                <a:latin typeface="Arial" panose="020B0604020202020204" pitchFamily="34" charset="0"/>
              </a:rPr>
              <a:t>06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所有扫描线与所有边都要求一次交。然而，当已知当前扫描线</a:t>
            </a:r>
            <a:r>
              <a:rPr lang="en-US" altLang="zh-CN"/>
              <a:t>yi</a:t>
            </a:r>
            <a:r>
              <a:rPr lang="zh-CN" altLang="en-US"/>
              <a:t>与多边形边的交点以及多边形边的斜率，可以快速求出</a:t>
            </a:r>
            <a:r>
              <a:rPr lang="en-US" altLang="zh-CN"/>
              <a:t>yi+1</a:t>
            </a:r>
            <a:r>
              <a:rPr lang="zh-CN" altLang="en-US"/>
              <a:t>扫描线与边的交点、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819150"/>
            <a:ext cx="4757738" cy="3294063"/>
          </a:xfrm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人工评判的话，求交和排序都可以改进。因为一眼能看出哪些边有交点，且从左往右依次是哪些交点。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而活动边表算法正好改进了这两步：在构建边表的时候就确定了哪些边有交，且从左往右依次与哪些表相交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看每条边的</a:t>
            </a:r>
            <a:r>
              <a:rPr lang="en-US" altLang="zh-CN" dirty="0" err="1"/>
              <a:t>y_max</a:t>
            </a:r>
            <a:r>
              <a:rPr lang="zh-CN" altLang="en-US" dirty="0"/>
              <a:t>和</a:t>
            </a:r>
            <a:r>
              <a:rPr lang="en-US" altLang="zh-CN" dirty="0" err="1"/>
              <a:t>y_min</a:t>
            </a:r>
            <a:endParaRPr lang="en-US" altLang="zh-CN" dirty="0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这个表格表示要与对于扫描线求交的边。</a:t>
            </a:r>
          </a:p>
          <a:p>
            <a:r>
              <a:rPr lang="zh-CN" altLang="en-US" dirty="0"/>
              <a:t>忽略已经出现过的边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改进方向为直线光栅化中用到的数值微分算法</a:t>
            </a:r>
            <a:r>
              <a:rPr lang="en-US" altLang="zh-CN" dirty="0"/>
              <a:t>DDA</a:t>
            </a:r>
            <a:r>
              <a:rPr lang="zh-CN" altLang="en-US" dirty="0"/>
              <a:t>算法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需要初始交点，斜率</a:t>
            </a:r>
            <a:r>
              <a:rPr lang="en-US" altLang="zh-CN" dirty="0"/>
              <a:t>k</a:t>
            </a:r>
            <a:r>
              <a:rPr lang="zh-CN" altLang="en-US" dirty="0"/>
              <a:t>，以及</a:t>
            </a:r>
            <a:r>
              <a:rPr lang="en-US" altLang="zh-CN" dirty="0" err="1"/>
              <a:t>ymax</a:t>
            </a:r>
            <a:endParaRPr lang="en-US" altLang="zh-CN" dirty="0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重新表示边信息</a:t>
            </a:r>
          </a:p>
          <a:p>
            <a:r>
              <a:rPr lang="zh-CN" altLang="en-US" dirty="0"/>
              <a:t>教材的边表为（</a:t>
            </a:r>
            <a:r>
              <a:rPr lang="en-US" altLang="zh-CN" dirty="0" err="1"/>
              <a:t>ymax</a:t>
            </a:r>
            <a:r>
              <a:rPr lang="en-US" altLang="zh-CN" dirty="0"/>
              <a:t>, </a:t>
            </a:r>
            <a:r>
              <a:rPr lang="en-US" altLang="zh-CN" dirty="0" err="1"/>
              <a:t>ymin</a:t>
            </a:r>
            <a:r>
              <a:rPr lang="zh-CN" altLang="en-US" dirty="0"/>
              <a:t>对应的</a:t>
            </a:r>
            <a:r>
              <a:rPr lang="en-US" altLang="zh-CN" dirty="0" err="1"/>
              <a:t>x,k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X</a:t>
            </a:r>
            <a:r>
              <a:rPr lang="zh-CN" altLang="en-US" dirty="0"/>
              <a:t>的作用是得到最下侧的交点（</a:t>
            </a:r>
            <a:r>
              <a:rPr lang="en-US" altLang="zh-CN" dirty="0"/>
              <a:t>x, </a:t>
            </a:r>
            <a:r>
              <a:rPr lang="en-US" altLang="zh-CN" dirty="0" err="1"/>
              <a:t>y_min</a:t>
            </a:r>
            <a:r>
              <a:rPr lang="zh-CN" altLang="en-US" dirty="0"/>
              <a:t>）</a:t>
            </a:r>
            <a:r>
              <a:rPr lang="en-US" altLang="zh-CN" dirty="0"/>
              <a:t>; </a:t>
            </a:r>
            <a:r>
              <a:rPr lang="en-US" altLang="zh-CN" dirty="0" err="1"/>
              <a:t>y_max</a:t>
            </a:r>
            <a:r>
              <a:rPr lang="zh-CN" altLang="en-US" dirty="0"/>
              <a:t>的作用是为了避免不必要的求交。</a:t>
            </a:r>
            <a:r>
              <a:rPr lang="en-US" altLang="zh-CN" dirty="0"/>
              <a:t>1/k</a:t>
            </a:r>
            <a:r>
              <a:rPr lang="zh-CN" altLang="en-US" dirty="0"/>
              <a:t>，通过</a:t>
            </a:r>
            <a:r>
              <a:rPr lang="en-US" altLang="zh-CN" dirty="0"/>
              <a:t>DDA</a:t>
            </a:r>
            <a:r>
              <a:rPr lang="zh-CN" altLang="en-US" dirty="0"/>
              <a:t>快速求交点坐标。</a:t>
            </a:r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819150"/>
            <a:ext cx="4757738" cy="3294063"/>
          </a:xfrm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计</a:t>
            </a:r>
            <a:r>
              <a:rPr lang="en-US" altLang="zh-CN">
                <a:latin typeface="Arial" panose="020B0604020202020204" pitchFamily="34" charset="0"/>
              </a:rPr>
              <a:t>06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819150"/>
            <a:ext cx="4757738" cy="3294063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边表的构造相当于重建多边形的信息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819150"/>
            <a:ext cx="4757738" cy="3294063"/>
          </a:xfrm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这里的</a:t>
            </a:r>
            <a:r>
              <a:rPr lang="en-US" altLang="zh-CN" dirty="0" err="1">
                <a:latin typeface="Arial" panose="020B0604020202020204" pitchFamily="34" charset="0"/>
              </a:rPr>
              <a:t>ymax</a:t>
            </a:r>
            <a:r>
              <a:rPr lang="zh-CN" altLang="en-US" dirty="0">
                <a:latin typeface="Arial" panose="020B0604020202020204" pitchFamily="34" charset="0"/>
              </a:rPr>
              <a:t>是活动边的</a:t>
            </a:r>
            <a:r>
              <a:rPr lang="en-US" altLang="zh-CN" dirty="0" err="1">
                <a:latin typeface="Arial" panose="020B0604020202020204" pitchFamily="34" charset="0"/>
              </a:rPr>
              <a:t>ymax</a:t>
            </a:r>
            <a:r>
              <a:rPr lang="zh-CN" altLang="en-US" dirty="0">
                <a:latin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第四步中的按次序是按照活动边的</a:t>
            </a:r>
            <a:r>
              <a:rPr lang="en-US" altLang="zh-CN" dirty="0" err="1">
                <a:latin typeface="Arial" panose="020B0604020202020204" pitchFamily="34" charset="0"/>
              </a:rPr>
              <a:t>x|y_min</a:t>
            </a:r>
            <a:r>
              <a:rPr lang="zh-CN" altLang="en-US" dirty="0">
                <a:latin typeface="Arial" panose="020B0604020202020204" pitchFamily="34" charset="0"/>
              </a:rPr>
              <a:t>进行排序的。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100" y="76200"/>
            <a:ext cx="949325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47650" y="1219200"/>
            <a:ext cx="4670426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70475" y="1219200"/>
            <a:ext cx="4670426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100" y="76200"/>
            <a:ext cx="949325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47650" y="1219200"/>
            <a:ext cx="4670426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70475" y="1219200"/>
            <a:ext cx="4670426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70475" y="3886200"/>
            <a:ext cx="4670426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7650" y="1219200"/>
            <a:ext cx="94932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152402"/>
            <a:ext cx="11557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60400" y="990600"/>
            <a:ext cx="668655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05_Polygon%20Raster/&#22855;&#20598;&#35268;&#21017;.SWF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jpeg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1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8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34.bin"/><Relationship Id="rId4" Type="http://schemas.openxmlformats.org/officeDocument/2006/relationships/hyperlink" Target="5&#22522;&#26412;&#22270;&#24418;&#25195;&#25551;&#36716;&#25442;/&#22635;&#20805;&#31639;&#27861;/AET&#34920;.SWF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6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2062163" y="1600200"/>
          <a:ext cx="586105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4" name="Image" r:id="rId4" imgW="7048500" imgH="3975100" progId="Photoshop.Image.7">
                  <p:embed/>
                </p:oleObj>
              </mc:Choice>
              <mc:Fallback>
                <p:oleObj name="Image" r:id="rId4" imgW="7048500" imgH="3975100" progId="Photoshop.Image.7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1600200"/>
                        <a:ext cx="586105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209800" y="152400"/>
            <a:ext cx="49530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多边形光栅化</a:t>
            </a:r>
          </a:p>
        </p:txBody>
      </p:sp>
      <p:sp>
        <p:nvSpPr>
          <p:cNvPr id="5124" name="Rectangle 5"/>
          <p:cNvSpPr>
            <a:spLocks noChangeArrowheads="1"/>
          </p:cNvSpPr>
          <p:nvPr/>
        </p:nvSpPr>
        <p:spPr bwMode="auto">
          <a:xfrm>
            <a:off x="4191000" y="1066803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问题提出</a:t>
            </a:r>
          </a:p>
        </p:txBody>
      </p:sp>
      <p:sp>
        <p:nvSpPr>
          <p:cNvPr id="512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线框图→彩图：将由顶点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边缘确定的多边形内部像素进行着色</a:t>
            </a: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0E38C8-51F2-4F55-B45C-BE217313DD83}" type="slidenum">
              <a:rPr lang="zh-CN" altLang="en-US" sz="1400">
                <a:latin typeface="Arial" panose="020B0604020202020204" pitchFamily="34" charset="0"/>
              </a:rPr>
              <a:t>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5125" name="Picture 4" descr="hue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5" y="2364446"/>
            <a:ext cx="3616325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6" descr="hue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777" y="2377144"/>
            <a:ext cx="3694113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90E6C8-8415-41DD-B252-114A1897F3F3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" name="右箭头 6"/>
          <p:cNvSpPr/>
          <p:nvPr/>
        </p:nvSpPr>
        <p:spPr bwMode="auto">
          <a:xfrm>
            <a:off x="4595901" y="3874950"/>
            <a:ext cx="631648" cy="57626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938" y="1068388"/>
            <a:ext cx="9596437" cy="5303837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</a:pPr>
            <a:r>
              <a:rPr kumimoji="1" lang="zh-CN" altLang="en-US" b="1" dirty="0">
                <a:ea typeface="宋体" panose="02010600030101010101" pitchFamily="2" charset="-122"/>
              </a:rPr>
              <a:t>填充</a:t>
            </a:r>
            <a:r>
              <a:rPr kumimoji="1" lang="zh-CN" altLang="en-US" b="1" dirty="0">
                <a:solidFill>
                  <a:schemeClr val="accent2"/>
                </a:solidFill>
                <a:ea typeface="宋体" panose="02010600030101010101" pitchFamily="2" charset="-122"/>
              </a:rPr>
              <a:t>多边形</a:t>
            </a:r>
            <a:r>
              <a:rPr kumimoji="1" lang="zh-CN" altLang="en-US" b="1" dirty="0">
                <a:ea typeface="宋体" panose="02010600030101010101" pitchFamily="2" charset="-122"/>
              </a:rPr>
              <a:t>、圆、椭圆或其它简单曲线围成的区域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</a:pPr>
            <a:r>
              <a:rPr kumimoji="1" lang="zh-CN" altLang="en-US" b="1" dirty="0">
                <a:ea typeface="黑体" panose="02010609060101010101" pitchFamily="49" charset="-122"/>
              </a:rPr>
              <a:t>多边形光栅化，也称多边形扫描转换</a:t>
            </a:r>
          </a:p>
        </p:txBody>
      </p:sp>
      <p:sp>
        <p:nvSpPr>
          <p:cNvPr id="6147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984343-4CBD-48D7-A16E-279B271BE573}" type="slidenum">
              <a:rPr lang="zh-CN" altLang="en-US" sz="1400">
                <a:latin typeface="Arial" panose="020B0604020202020204" pitchFamily="34" charset="0"/>
              </a:rPr>
              <a:t>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问题提出</a:t>
            </a: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11"/>
          <a:stretch>
            <a:fillRect/>
          </a:stretch>
        </p:blipFill>
        <p:spPr bwMode="auto">
          <a:xfrm>
            <a:off x="434977" y="2505077"/>
            <a:ext cx="20859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3"/>
          <a:stretch>
            <a:fillRect/>
          </a:stretch>
        </p:blipFill>
        <p:spPr bwMode="auto">
          <a:xfrm>
            <a:off x="3481390" y="4425950"/>
            <a:ext cx="2897187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731838" y="4757738"/>
            <a:ext cx="2082800" cy="563562"/>
          </a:xfrm>
          <a:prstGeom prst="wedgeRoundRectCallout">
            <a:avLst>
              <a:gd name="adj1" fmla="val 62136"/>
              <a:gd name="adj2" fmla="val -122917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>
                <a:solidFill>
                  <a:schemeClr val="accent2"/>
                </a:solidFill>
                <a:ea typeface="宋体" panose="02010600030101010101" pitchFamily="2" charset="-122"/>
              </a:rPr>
              <a:t>问题是什么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6152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125236-4DD9-4732-89F8-FB85196788DF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89"/>
          <a:stretch>
            <a:fillRect/>
          </a:stretch>
        </p:blipFill>
        <p:spPr bwMode="auto">
          <a:xfrm>
            <a:off x="4016377" y="2470152"/>
            <a:ext cx="42195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右箭头 6"/>
          <p:cNvSpPr/>
          <p:nvPr/>
        </p:nvSpPr>
        <p:spPr bwMode="auto">
          <a:xfrm>
            <a:off x="2405063" y="3116263"/>
            <a:ext cx="1427162" cy="57626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08BED3-64D1-41F5-A121-3FCA75156047}" type="slidenum">
              <a:rPr lang="zh-CN" altLang="en-US" sz="1400">
                <a:latin typeface="Arial" panose="020B0604020202020204" pitchFamily="34" charset="0"/>
              </a:rPr>
              <a:t>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问题定义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</a:pPr>
            <a:r>
              <a:rPr lang="zh-CN" altLang="en-US" dirty="0">
                <a:ea typeface="宋体" panose="02010600030101010101" pitchFamily="2" charset="-122"/>
              </a:rPr>
              <a:t>输入：多边形的顶点坐标，及顶点连接关系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spcAft>
                <a:spcPct val="10000"/>
              </a:spcAft>
            </a:pPr>
            <a:r>
              <a:rPr lang="zh-CN" altLang="en-US" dirty="0">
                <a:ea typeface="宋体" panose="02010600030101010101" pitchFamily="2" charset="-122"/>
              </a:rPr>
              <a:t>输出：组成多边形像素的集合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b="1" dirty="0">
                <a:solidFill>
                  <a:srgbClr val="00206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如何解决</a:t>
            </a:r>
            <a:r>
              <a:rPr lang="en-US" altLang="zh-CN" b="1" dirty="0">
                <a:solidFill>
                  <a:srgbClr val="00206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?</a:t>
            </a:r>
            <a:endParaRPr lang="zh-CN" altLang="en-US" b="1" dirty="0">
              <a:solidFill>
                <a:srgbClr val="002060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4796631"/>
            <a:ext cx="23939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944" y="4721225"/>
            <a:ext cx="2393950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右箭头 6"/>
          <p:cNvSpPr/>
          <p:nvPr/>
        </p:nvSpPr>
        <p:spPr bwMode="auto">
          <a:xfrm>
            <a:off x="4549777" y="5280027"/>
            <a:ext cx="1427163" cy="5762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6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033BD7-55D8-44DC-AF83-B84C4A22FCE1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多边形光栅化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逐点填充（判断）法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扫描线填充法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活动边表填充法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" name="Picture 2" descr="https://timgsa.baidu.com/timg?image&amp;quality=80&amp;size=b9999_10000&amp;sec=1513312104083&amp;di=9a40e03ecc168b94cf9e6df7eefe3eaf&amp;imgtype=jpg&amp;src=http%3A%2F%2Fimg2.imgtn.bdimg.com%2Fit%2Fu%3D19193382%2C2137982823%26fm%3D214%26gp%3D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8" t="24351" r="8707" b="9813"/>
          <a:stretch>
            <a:fillRect/>
          </a:stretch>
        </p:blipFill>
        <p:spPr bwMode="auto">
          <a:xfrm>
            <a:off x="1777184" y="3249291"/>
            <a:ext cx="7351776" cy="329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E6FE1D-2283-40DA-BA64-40A101C3E124}" type="slidenum">
              <a:rPr lang="zh-CN" altLang="en-US" sz="1400">
                <a:latin typeface="Arial" panose="020B0604020202020204" pitchFamily="34" charset="0"/>
              </a:rPr>
              <a:t>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逐点填充（判断）法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>
                <a:ea typeface="宋体" panose="02010600030101010101" pitchFamily="2" charset="-122"/>
              </a:rPr>
              <a:t>逐个像素判别，确定其是否位于多边形内，给出多边形内部象素的集合</a:t>
            </a:r>
          </a:p>
          <a:p>
            <a:pPr eaLnBrk="1" hangingPunct="1"/>
            <a:r>
              <a:rPr lang="zh-CN" altLang="en-US" sz="3600" dirty="0">
                <a:ea typeface="宋体" panose="02010600030101010101" pitchFamily="2" charset="-122"/>
              </a:rPr>
              <a:t>如何确定一个点是否位于某多边形内？</a:t>
            </a:r>
          </a:p>
          <a:p>
            <a:pPr eaLnBrk="1" hangingPunct="1"/>
            <a:endParaRPr lang="zh-CN" altLang="en-US" sz="3600" dirty="0">
              <a:ea typeface="幼圆" panose="02010509060101010101" pitchFamily="49" charset="-122"/>
            </a:endParaRP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3" y="4687888"/>
            <a:ext cx="2393950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A7121C-88FA-4374-9D14-2314B520BA5B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B04FBC-8DCA-4677-9FB7-E8E6CE4D2B6E}" type="slidenum">
              <a:rPr lang="zh-CN" altLang="en-US" sz="1400">
                <a:latin typeface="Arial" panose="020B0604020202020204" pitchFamily="34" charset="0"/>
              </a:rPr>
              <a:t>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逐点填充法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>
                <a:latin typeface="宋体" panose="02010600030101010101" pitchFamily="2" charset="-122"/>
                <a:ea typeface="宋体" panose="02010600030101010101" pitchFamily="2" charset="-122"/>
              </a:rPr>
              <a:t>如何判断点在多边形的内外关系</a:t>
            </a:r>
          </a:p>
          <a:p>
            <a:pPr lvl="2" eaLnBrk="1" hangingPunct="1">
              <a:buFontTx/>
              <a:buNone/>
            </a:pP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）射线法</a:t>
            </a:r>
          </a:p>
          <a:p>
            <a:pPr lvl="2" eaLnBrk="1" hangingPunct="1">
              <a:buFontTx/>
              <a:buNone/>
            </a:pP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）累计角度法</a:t>
            </a:r>
          </a:p>
          <a:p>
            <a:pPr eaLnBrk="1" hangingPunct="1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21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B1D65C-3696-441A-95B2-B143089CF043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6" name="Picture 4" descr="逐点判断法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290" y="3541714"/>
            <a:ext cx="5268912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逐点判断法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455" y="1424940"/>
            <a:ext cx="3863340" cy="214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4021FE-A69E-4C81-A2F5-C58CCDE752F4}" type="slidenum">
              <a:rPr lang="zh-CN" altLang="en-US" sz="1400">
                <a:latin typeface="Arial" panose="020B0604020202020204" pitchFamily="34" charset="0"/>
              </a:rPr>
              <a:t>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0"/>
            <a:ext cx="84201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逐点填充法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974090" y="1066800"/>
            <a:ext cx="6900545" cy="4720590"/>
          </a:xfrm>
        </p:spPr>
        <p:txBody>
          <a:bodyPr/>
          <a:lstStyle/>
          <a:p>
            <a:pPr marL="990600" lvl="1" indent="-533400" eaLnBrk="1" hangingPunct="1">
              <a:buNone/>
              <a:defRPr/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hlinkClick r:id="rId4" action="ppaction://hlinkfile"/>
              </a:rPr>
              <a:t>  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hlinkClick r:id="rId4" action="ppaction://hlinkfile"/>
              </a:rPr>
              <a:t>射线法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85950" lvl="3" indent="-514350" eaLnBrk="1" hangingPunct="1">
              <a:buFont typeface="+mj-ea"/>
              <a:buAutoNum type="circleNumDbPlain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从待判别点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发出射线</a:t>
            </a:r>
          </a:p>
          <a:p>
            <a:pPr marL="1752600" lvl="3" indent="-381000" eaLnBrk="1" hangingPunct="1">
              <a:buFontTx/>
              <a:buAutoNum type="circleNumDbPlain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求交点个数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</a:p>
          <a:p>
            <a:pPr marL="1752600" lvl="3" indent="-381000" eaLnBrk="1" hangingPunct="1">
              <a:buFontTx/>
              <a:buAutoNum type="circleNumDbPlain"/>
              <a:defRPr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的奇偶性决定了点与多边形的内外关系</a:t>
            </a:r>
          </a:p>
          <a:p>
            <a:pPr marL="1752600" lvl="3" indent="-381000" eaLnBrk="1" hangingPunct="1">
              <a:buFontTx/>
              <a:buAutoNum type="circleNumDbPlain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交点是顶点时算几个交点？</a:t>
            </a:r>
          </a:p>
          <a:p>
            <a:pPr marL="1752600" lvl="3" indent="-381000" eaLnBrk="1" hangingPunct="1">
              <a:buFontTx/>
              <a:buAutoNum type="circleNumDbPlain"/>
              <a:defRPr/>
            </a:pP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当顶点相邻的两条边处在射线同侧时，该顶点叫做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极值点</a:t>
            </a: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，，交点算</a:t>
            </a: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个。如果在两侧，顶点叫做非极值点，此时交点算</a:t>
            </a: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sym typeface="+mn-ea"/>
              </a:rPr>
              <a:t>个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marL="1752600" lvl="3" indent="-381000" eaLnBrk="1" hangingPunct="1">
              <a:buFontTx/>
              <a:buAutoNum type="circleNumDbPlain"/>
              <a:defRPr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371600" lvl="2" indent="-457200" eaLnBrk="1" hangingPunct="1">
              <a:buNone/>
              <a:defRPr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6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F8FD30-DE02-475A-B227-E9C0899DAB8C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155248" y="3442655"/>
            <a:ext cx="2082800" cy="719137"/>
          </a:xfrm>
          <a:prstGeom prst="wedgeRoundRectCallout">
            <a:avLst>
              <a:gd name="adj1" fmla="val -50433"/>
              <a:gd name="adj2" fmla="val -89421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是这样吗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7959725" y="1866265"/>
            <a:ext cx="1287145" cy="3746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7514749" y="861696"/>
            <a:ext cx="99695" cy="115824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0"/>
            <a:ext cx="84201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逐点填充法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066800"/>
            <a:ext cx="8420100" cy="5029200"/>
          </a:xfrm>
        </p:spPr>
        <p:txBody>
          <a:bodyPr/>
          <a:lstStyle/>
          <a:p>
            <a:pPr marL="990600" lvl="1" indent="-533400" eaLnBrk="1" hangingPunct="1">
              <a:buNone/>
              <a:defRPr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累计角度法（弧长法）</a:t>
            </a:r>
          </a:p>
          <a:p>
            <a:pPr marL="1165225" lvl="3" indent="-719455" eaLnBrk="1" hangingPunct="1">
              <a:buFont typeface="+mj-ea"/>
              <a:buAutoNum type="circleNumDbPlain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点向多边形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顶点发出射线，形成有向角</a:t>
            </a:r>
          </a:p>
          <a:p>
            <a:pPr marL="1165225" lvl="3" indent="-719455" eaLnBrk="1" hangingPunct="1">
              <a:buFontTx/>
              <a:buAutoNum type="circleNumDbPlain"/>
              <a:defRPr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计算有相交的和，得出结论</a:t>
            </a:r>
          </a:p>
          <a:p>
            <a:pPr marL="1752600" lvl="3" indent="-381000" eaLnBrk="1" hangingPunct="1">
              <a:buFontTx/>
              <a:buAutoNum type="circleNumDbPlain"/>
              <a:defRPr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52600" lvl="3" indent="-381000" eaLnBrk="1" hangingPunct="1">
              <a:buNone/>
              <a:defRPr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52600" lvl="3" indent="-381000" eaLnBrk="1" hangingPunct="1">
              <a:buNone/>
              <a:defRPr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2293" name="Object 4"/>
          <p:cNvGraphicFramePr>
            <a:graphicFrameLocks noChangeAspect="1"/>
          </p:cNvGraphicFramePr>
          <p:nvPr/>
        </p:nvGraphicFramePr>
        <p:xfrm>
          <a:off x="1320802" y="2717800"/>
          <a:ext cx="37623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3" name="Equation" r:id="rId4" imgW="1663700" imgH="482600" progId="Equation.3">
                  <p:embed/>
                </p:oleObj>
              </mc:Choice>
              <mc:Fallback>
                <p:oleObj name="Equation" r:id="rId4" imgW="16637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2" y="2717800"/>
                        <a:ext cx="3762375" cy="1092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5"/>
          <p:cNvGraphicFramePr>
            <a:graphicFrameLocks noChangeAspect="1"/>
          </p:cNvGraphicFramePr>
          <p:nvPr/>
        </p:nvGraphicFramePr>
        <p:xfrm>
          <a:off x="8880477" y="1633538"/>
          <a:ext cx="3206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4" name="Equation" r:id="rId6" imgW="152400" imgH="228600" progId="Equation.3">
                  <p:embed/>
                </p:oleObj>
              </mc:Choice>
              <mc:Fallback>
                <p:oleObj name="Equation" r:id="rId6" imgW="1524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0477" y="1633538"/>
                        <a:ext cx="320675" cy="481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862FA8-14C1-45D4-A051-4B358B5E415C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9" name="图片 8" descr="图片1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462" y="3978590"/>
            <a:ext cx="3170538" cy="287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 descr="图片1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0"/>
          <a:stretch>
            <a:fillRect/>
          </a:stretch>
        </p:blipFill>
        <p:spPr bwMode="auto">
          <a:xfrm>
            <a:off x="6449710" y="4063530"/>
            <a:ext cx="2960990" cy="2397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689670-2C12-47E4-A6FE-C5AE817EE7FB}" type="slidenum">
              <a:rPr lang="zh-CN" altLang="en-US" sz="1400">
                <a:latin typeface="Arial" panose="020B0604020202020204" pitchFamily="34" charset="0"/>
              </a:rPr>
              <a:t>10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3315" name="Text Box 2"/>
          <p:cNvSpPr txBox="1">
            <a:spLocks noChangeArrowheads="1"/>
          </p:cNvSpPr>
          <p:nvPr/>
        </p:nvSpPr>
        <p:spPr bwMode="auto">
          <a:xfrm>
            <a:off x="620713" y="1123952"/>
            <a:ext cx="8990012" cy="4524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void FillPolygonPbyP(Polygon *P,int polygonColor)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{  int x,y;		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   for(y = screen-ymin;y &lt;= screen-ymax;y++)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    for(x = screen-xmin;x &lt;= screen-xmax;x++)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     if(IsInside(P,x,y))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	PutPixel(x,y,polygonColor);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    else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      PutPixel(x,y,backgroundColor);</a:t>
            </a:r>
            <a:endParaRPr kumimoji="1" lang="en-US" altLang="zh-CN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ea typeface="宋体" panose="02010600030101010101" pitchFamily="2" charset="-122"/>
              </a:rPr>
              <a:t>}/*end of FillPolygonPbyP()	*/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42950" y="0"/>
            <a:ext cx="84201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逐点填充法</a:t>
            </a:r>
          </a:p>
        </p:txBody>
      </p:sp>
      <p:pic>
        <p:nvPicPr>
          <p:cNvPr id="1331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15" y="4646615"/>
            <a:ext cx="3125787" cy="221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BF8694-CB52-43C3-B4CB-8FE54E12A9EF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7008A4-4697-47B5-9A8B-B7063A76F644}" type="slidenum">
              <a:rPr lang="zh-CN" altLang="en-US" sz="1400">
                <a:latin typeface="Arial" panose="020B0604020202020204" pitchFamily="34" charset="0"/>
              </a:rPr>
              <a:t>11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逐点填充法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0" y="1122365"/>
            <a:ext cx="9493250" cy="52784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逐点判断的算法虽然程序简单，但不可取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原因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算法割断了各像素之间的联系，孤立地考察各像素与多边形的内外关系，使得大量像素都要一一判别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每次判别要多次求交，需要做大量乘除运算，费时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缩小范围：包围盒</a:t>
            </a: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还能改进？扫描线</a:t>
            </a: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3890965"/>
            <a:ext cx="4030662" cy="285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AutoShape 4"/>
          <p:cNvSpPr>
            <a:spLocks noChangeArrowheads="1"/>
          </p:cNvSpPr>
          <p:nvPr/>
        </p:nvSpPr>
        <p:spPr bwMode="auto">
          <a:xfrm>
            <a:off x="3663950" y="6019802"/>
            <a:ext cx="1803400" cy="608013"/>
          </a:xfrm>
          <a:prstGeom prst="wedgeRoundRectCallout">
            <a:avLst>
              <a:gd name="adj1" fmla="val 57590"/>
              <a:gd name="adj2" fmla="val -9934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能否改进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4343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49C039-682B-434E-871A-5B8484B57304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311652" y="4556379"/>
            <a:ext cx="2435307" cy="1463423"/>
          </a:xfrm>
          <a:prstGeom prst="rect">
            <a:avLst/>
          </a:prstGeom>
          <a:solidFill>
            <a:schemeClr val="bg1">
              <a:alpha val="0"/>
            </a:schemeClr>
          </a:solidFill>
          <a:ln w="31750" algn="ctr">
            <a:solidFill>
              <a:srgbClr val="C00000"/>
            </a:solidFill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多边形光栅化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逐点填充法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扫描线填充法</a:t>
            </a:r>
            <a:endParaRPr lang="en-US" altLang="zh-CN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活动边表填充法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" name="Picture 2" descr="https://timgsa.baidu.com/timg?image&amp;quality=80&amp;size=b9999_10000&amp;sec=1513312104083&amp;di=9a40e03ecc168b94cf9e6df7eefe3eaf&amp;imgtype=jpg&amp;src=http%3A%2F%2Fimg2.imgtn.bdimg.com%2Fit%2Fu%3D19193382%2C2137982823%26fm%3D214%26gp%3D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8" t="24351" r="8707" b="9813"/>
          <a:stretch>
            <a:fillRect/>
          </a:stretch>
        </p:blipFill>
        <p:spPr bwMode="auto">
          <a:xfrm>
            <a:off x="1777184" y="3249291"/>
            <a:ext cx="7351776" cy="329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359EC5-A0A8-4D0C-9ED6-70D01371C137}" type="slidenum">
              <a:rPr lang="zh-CN" altLang="en-US" sz="1400">
                <a:latin typeface="Arial" panose="020B0604020202020204" pitchFamily="34" charset="0"/>
              </a:rPr>
              <a:t>13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宋体" panose="02010600030101010101" pitchFamily="2" charset="-122"/>
              </a:rPr>
              <a:t>分析</a:t>
            </a:r>
            <a:r>
              <a:rPr lang="en-US" altLang="zh-CN" sz="2800"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16389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4911725" y="1219200"/>
          <a:ext cx="4319587" cy="476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0" name="Visio" r:id="rId3" imgW="2635885" imgH="2899410" progId="Visio.Drawing.11">
                  <p:embed/>
                </p:oleObj>
              </mc:Choice>
              <mc:Fallback>
                <p:oleObj name="Visio" r:id="rId3" imgW="2635885" imgH="2899410" progId="Visio.Drawing.11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725" y="1219200"/>
                        <a:ext cx="4319587" cy="476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6055EF-2EFB-4F42-8C30-4D15AA553593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7" name="Picture 2" descr="https://timgsa.baidu.com/timg?image&amp;quality=80&amp;size=b9999_10000&amp;sec=1513312104083&amp;di=9a40e03ecc168b94cf9e6df7eefe3eaf&amp;imgtype=jpg&amp;src=http%3A%2F%2Fimg2.imgtn.bdimg.com%2Fit%2Fu%3D19193382%2C2137982823%26fm%3D214%26gp%3D0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03" t="31388" r="10183" b="16464"/>
          <a:stretch>
            <a:fillRect/>
          </a:stretch>
        </p:blipFill>
        <p:spPr bwMode="auto">
          <a:xfrm>
            <a:off x="371828" y="2421997"/>
            <a:ext cx="3330222" cy="2607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右箭头 6"/>
          <p:cNvSpPr/>
          <p:nvPr/>
        </p:nvSpPr>
        <p:spPr bwMode="auto">
          <a:xfrm>
            <a:off x="3840429" y="3233738"/>
            <a:ext cx="1121656" cy="576262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F42F59-F4EF-4B97-AACB-5C8AF80A5C02}" type="slidenum">
              <a:rPr lang="zh-CN" altLang="en-US" sz="1400">
                <a:latin typeface="Arial" panose="020B0604020202020204" pitchFamily="34" charset="0"/>
              </a:rPr>
              <a:t>14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0" y="1031877"/>
            <a:ext cx="9493250" cy="4748213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算法步骤</a:t>
            </a:r>
            <a:r>
              <a:rPr lang="zh-CN" altLang="en-US" sz="2800">
                <a:ea typeface="宋体" panose="02010600030101010101" pitchFamily="2" charset="-122"/>
              </a:rPr>
              <a:t>：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(1)确定多边形所占有的最大扫描线数</a:t>
            </a:r>
            <a:r>
              <a:rPr lang="en-US" altLang="zh-CN" sz="2800">
                <a:ea typeface="宋体" panose="02010600030101010101" pitchFamily="2" charset="-122"/>
              </a:rPr>
              <a:t>: y</a:t>
            </a:r>
            <a:r>
              <a:rPr lang="en-US" altLang="zh-CN" sz="2800" baseline="-30000">
                <a:ea typeface="宋体" panose="02010600030101010101" pitchFamily="2" charset="-122"/>
              </a:rPr>
              <a:t>min</a:t>
            </a:r>
            <a:r>
              <a:rPr lang="en-US" altLang="zh-CN" sz="2800">
                <a:ea typeface="宋体" panose="02010600030101010101" pitchFamily="2" charset="-122"/>
              </a:rPr>
              <a:t>, y</a:t>
            </a:r>
            <a:r>
              <a:rPr lang="en-US" altLang="zh-CN" sz="2800" baseline="-30000">
                <a:ea typeface="宋体" panose="02010600030101010101" pitchFamily="2" charset="-122"/>
              </a:rPr>
              <a:t>max</a:t>
            </a:r>
            <a:endParaRPr lang="en-US" altLang="zh-CN" sz="280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(2)</a:t>
            </a:r>
            <a:r>
              <a:rPr lang="zh-CN" altLang="en-US" sz="2800">
                <a:ea typeface="宋体" panose="02010600030101010101" pitchFamily="2" charset="-122"/>
              </a:rPr>
              <a:t>从</a:t>
            </a:r>
            <a:r>
              <a:rPr lang="en-US" altLang="zh-CN" sz="2800">
                <a:ea typeface="宋体" panose="02010600030101010101" pitchFamily="2" charset="-122"/>
              </a:rPr>
              <a:t>y</a:t>
            </a:r>
            <a:r>
              <a:rPr lang="en-US" altLang="zh-CN" sz="2800" baseline="-30000">
                <a:ea typeface="宋体" panose="02010600030101010101" pitchFamily="2" charset="-122"/>
              </a:rPr>
              <a:t>min</a:t>
            </a:r>
            <a:r>
              <a:rPr lang="zh-CN" altLang="en-US" sz="2800">
                <a:ea typeface="宋体" panose="02010600030101010101" pitchFamily="2" charset="-122"/>
              </a:rPr>
              <a:t>到</a:t>
            </a:r>
            <a:r>
              <a:rPr lang="en-US" altLang="zh-CN" sz="2800">
                <a:ea typeface="宋体" panose="02010600030101010101" pitchFamily="2" charset="-122"/>
              </a:rPr>
              <a:t>y</a:t>
            </a:r>
            <a:r>
              <a:rPr lang="en-US" altLang="zh-CN" sz="2800" baseline="-30000">
                <a:ea typeface="宋体" panose="02010600030101010101" pitchFamily="2" charset="-122"/>
              </a:rPr>
              <a:t>max</a:t>
            </a:r>
            <a:r>
              <a:rPr lang="en-US" altLang="zh-CN" sz="2800">
                <a:ea typeface="宋体" panose="02010600030101010101" pitchFamily="2" charset="-122"/>
              </a:rPr>
              <a:t>，</a:t>
            </a:r>
            <a:r>
              <a:rPr lang="zh-CN" altLang="en-US" sz="2800">
                <a:ea typeface="宋体" panose="02010600030101010101" pitchFamily="2" charset="-122"/>
              </a:rPr>
              <a:t>对每条扫描线</a:t>
            </a:r>
            <a:r>
              <a:rPr lang="en-US" altLang="zh-CN" sz="2800">
                <a:ea typeface="宋体" panose="02010600030101010101" pitchFamily="2" charset="-122"/>
              </a:rPr>
              <a:t>:</a:t>
            </a:r>
            <a:endParaRPr lang="zh-CN" altLang="en-US" sz="280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a.</a:t>
            </a:r>
            <a:r>
              <a:rPr lang="zh-CN" altLang="en-US" sz="2800">
                <a:ea typeface="宋体" panose="02010600030101010101" pitchFamily="2" charset="-122"/>
              </a:rPr>
              <a:t>求交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b.</a:t>
            </a:r>
            <a:r>
              <a:rPr lang="zh-CN" altLang="en-US" sz="2800">
                <a:ea typeface="宋体" panose="02010600030101010101" pitchFamily="2" charset="-122"/>
              </a:rPr>
              <a:t>排序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c.</a:t>
            </a:r>
            <a:r>
              <a:rPr lang="zh-CN" altLang="en-US" sz="2800">
                <a:ea typeface="宋体" panose="02010600030101010101" pitchFamily="2" charset="-122"/>
              </a:rPr>
              <a:t>交点配对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d.</a:t>
            </a:r>
            <a:r>
              <a:rPr lang="zh-CN" altLang="en-US" sz="2800">
                <a:ea typeface="宋体" panose="02010600030101010101" pitchFamily="2" charset="-122"/>
              </a:rPr>
              <a:t>区间填色</a:t>
            </a:r>
          </a:p>
        </p:txBody>
      </p:sp>
      <p:sp>
        <p:nvSpPr>
          <p:cNvPr id="29701" name="AutoShape 4"/>
          <p:cNvSpPr>
            <a:spLocks noChangeArrowheads="1"/>
          </p:cNvSpPr>
          <p:nvPr/>
        </p:nvSpPr>
        <p:spPr bwMode="auto">
          <a:xfrm>
            <a:off x="7224713" y="1089025"/>
            <a:ext cx="2457450" cy="706438"/>
          </a:xfrm>
          <a:prstGeom prst="wedgeRoundRectCallout">
            <a:avLst>
              <a:gd name="adj1" fmla="val 6990"/>
              <a:gd name="adj2" fmla="val 10061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填充无误条件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414" name="Object 9"/>
          <p:cNvGraphicFramePr>
            <a:graphicFrameLocks noGrp="1" noChangeAspect="1"/>
          </p:cNvGraphicFramePr>
          <p:nvPr/>
        </p:nvGraphicFramePr>
        <p:xfrm>
          <a:off x="5727700" y="2252665"/>
          <a:ext cx="4178300" cy="460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5" name="Visio" r:id="rId3" imgW="2635885" imgH="2899410" progId="Visio.Drawing.11">
                  <p:embed/>
                </p:oleObj>
              </mc:Choice>
              <mc:Fallback>
                <p:oleObj name="Visio" r:id="rId3" imgW="2635885" imgH="2899410" progId="Visio.Drawing.11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2252665"/>
                        <a:ext cx="4178300" cy="460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DF442A-A969-4266-BE6C-3EE760BB189F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65E5E5-95C6-4DF2-BF28-9A1FACD8B8F0}" type="slidenum">
              <a:rPr lang="zh-CN" altLang="en-US" sz="1400">
                <a:latin typeface="Arial" panose="020B0604020202020204" pitchFamily="34" charset="0"/>
              </a:rPr>
              <a:t>15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18436" name="Rectangle 20"/>
          <p:cNvSpPr>
            <a:spLocks noChangeArrowheads="1"/>
          </p:cNvSpPr>
          <p:nvPr/>
        </p:nvSpPr>
        <p:spPr bwMode="auto">
          <a:xfrm>
            <a:off x="0" y="17092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3"/>
          <p:cNvSpPr>
            <a:spLocks noChangeArrowheads="1"/>
          </p:cNvSpPr>
          <p:nvPr/>
        </p:nvSpPr>
        <p:spPr bwMode="auto">
          <a:xfrm>
            <a:off x="133350" y="1104900"/>
            <a:ext cx="94932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58775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交点问题：</a:t>
            </a:r>
          </a:p>
          <a:p>
            <a:pPr lvl="2" eaLnBrk="1" hangingPunct="1">
              <a:buFontTx/>
              <a:buNone/>
            </a:pP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扫描线与多边形的顶点相交时，交点的取舍，保证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其</a:t>
            </a: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正确配对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8438" name="Group 5"/>
          <p:cNvGrpSpPr>
            <a:grpSpLocks noChangeAspect="1"/>
          </p:cNvGrpSpPr>
          <p:nvPr/>
        </p:nvGrpSpPr>
        <p:grpSpPr bwMode="auto">
          <a:xfrm>
            <a:off x="169863" y="3189288"/>
            <a:ext cx="5891212" cy="3440112"/>
            <a:chOff x="2284" y="2019"/>
            <a:chExt cx="7200" cy="4212"/>
          </a:xfrm>
        </p:grpSpPr>
        <p:sp>
          <p:nvSpPr>
            <p:cNvPr id="18441" name="AutoShape 21"/>
            <p:cNvSpPr>
              <a:spLocks noChangeAspect="1" noChangeArrowheads="1" noTextEdit="1"/>
            </p:cNvSpPr>
            <p:nvPr/>
          </p:nvSpPr>
          <p:spPr bwMode="auto">
            <a:xfrm>
              <a:off x="2284" y="2019"/>
              <a:ext cx="7200" cy="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Line 20"/>
            <p:cNvSpPr>
              <a:spLocks noChangeShapeType="1"/>
            </p:cNvSpPr>
            <p:nvPr/>
          </p:nvSpPr>
          <p:spPr bwMode="auto">
            <a:xfrm>
              <a:off x="2660" y="2562"/>
              <a:ext cx="56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Line 19"/>
            <p:cNvSpPr>
              <a:spLocks noChangeShapeType="1"/>
            </p:cNvSpPr>
            <p:nvPr/>
          </p:nvSpPr>
          <p:spPr bwMode="auto">
            <a:xfrm>
              <a:off x="2660" y="3242"/>
              <a:ext cx="56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Line 18"/>
            <p:cNvSpPr>
              <a:spLocks noChangeShapeType="1"/>
            </p:cNvSpPr>
            <p:nvPr/>
          </p:nvSpPr>
          <p:spPr bwMode="auto">
            <a:xfrm>
              <a:off x="2816" y="4736"/>
              <a:ext cx="54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Line 17"/>
            <p:cNvSpPr>
              <a:spLocks noChangeShapeType="1"/>
            </p:cNvSpPr>
            <p:nvPr/>
          </p:nvSpPr>
          <p:spPr bwMode="auto">
            <a:xfrm>
              <a:off x="2816" y="5416"/>
              <a:ext cx="54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16"/>
            <p:cNvSpPr>
              <a:spLocks noChangeShapeType="1"/>
            </p:cNvSpPr>
            <p:nvPr/>
          </p:nvSpPr>
          <p:spPr bwMode="auto">
            <a:xfrm>
              <a:off x="4538" y="2562"/>
              <a:ext cx="0" cy="21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4538" y="4736"/>
              <a:ext cx="1409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8448" name="AutoShape 14"/>
            <p:cNvCxnSpPr>
              <a:cxnSpLocks noChangeShapeType="1"/>
            </p:cNvCxnSpPr>
            <p:nvPr/>
          </p:nvCxnSpPr>
          <p:spPr bwMode="auto">
            <a:xfrm flipV="1">
              <a:off x="5947" y="4193"/>
              <a:ext cx="2191" cy="1223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49" name="Line 13"/>
            <p:cNvSpPr>
              <a:spLocks noChangeShapeType="1"/>
            </p:cNvSpPr>
            <p:nvPr/>
          </p:nvSpPr>
          <p:spPr bwMode="auto">
            <a:xfrm flipH="1">
              <a:off x="6886" y="4193"/>
              <a:ext cx="125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12"/>
            <p:cNvSpPr>
              <a:spLocks noChangeShapeType="1"/>
            </p:cNvSpPr>
            <p:nvPr/>
          </p:nvSpPr>
          <p:spPr bwMode="auto">
            <a:xfrm flipH="1" flipV="1">
              <a:off x="6416" y="2291"/>
              <a:ext cx="470" cy="190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11"/>
            <p:cNvSpPr>
              <a:spLocks noChangeShapeType="1"/>
            </p:cNvSpPr>
            <p:nvPr/>
          </p:nvSpPr>
          <p:spPr bwMode="auto">
            <a:xfrm flipH="1">
              <a:off x="5477" y="2291"/>
              <a:ext cx="939" cy="149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10"/>
            <p:cNvSpPr>
              <a:spLocks noChangeShapeType="1"/>
            </p:cNvSpPr>
            <p:nvPr/>
          </p:nvSpPr>
          <p:spPr bwMode="auto">
            <a:xfrm flipH="1" flipV="1">
              <a:off x="4538" y="2562"/>
              <a:ext cx="939" cy="12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Text Box 9"/>
            <p:cNvSpPr txBox="1">
              <a:spLocks noChangeArrowheads="1"/>
            </p:cNvSpPr>
            <p:nvPr/>
          </p:nvSpPr>
          <p:spPr bwMode="auto">
            <a:xfrm>
              <a:off x="2764" y="2193"/>
              <a:ext cx="1409" cy="40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  <a:cs typeface="Times New Roman" panose="02020603050405020304" pitchFamily="18" charset="0"/>
                </a:rPr>
                <a:t>Scan line4</a:t>
              </a:r>
            </a:p>
          </p:txBody>
        </p:sp>
        <p:sp>
          <p:nvSpPr>
            <p:cNvPr id="18454" name="Text Box 8"/>
            <p:cNvSpPr txBox="1">
              <a:spLocks noChangeArrowheads="1"/>
            </p:cNvSpPr>
            <p:nvPr/>
          </p:nvSpPr>
          <p:spPr bwMode="auto">
            <a:xfrm>
              <a:off x="2764" y="2873"/>
              <a:ext cx="1409" cy="40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  <a:cs typeface="Times New Roman" panose="02020603050405020304" pitchFamily="18" charset="0"/>
                </a:rPr>
                <a:t>Scan line1</a:t>
              </a:r>
            </a:p>
          </p:txBody>
        </p:sp>
        <p:sp>
          <p:nvSpPr>
            <p:cNvPr id="18455" name="Text Box 7"/>
            <p:cNvSpPr txBox="1">
              <a:spLocks noChangeArrowheads="1"/>
            </p:cNvSpPr>
            <p:nvPr/>
          </p:nvSpPr>
          <p:spPr bwMode="auto">
            <a:xfrm>
              <a:off x="2764" y="4367"/>
              <a:ext cx="1409" cy="40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  <a:cs typeface="Times New Roman" panose="02020603050405020304" pitchFamily="18" charset="0"/>
                </a:rPr>
                <a:t>Scan line2</a:t>
              </a:r>
            </a:p>
          </p:txBody>
        </p:sp>
        <p:sp>
          <p:nvSpPr>
            <p:cNvPr id="18456" name="Text Box 6"/>
            <p:cNvSpPr txBox="1">
              <a:spLocks noChangeArrowheads="1"/>
            </p:cNvSpPr>
            <p:nvPr/>
          </p:nvSpPr>
          <p:spPr bwMode="auto">
            <a:xfrm>
              <a:off x="2764" y="5046"/>
              <a:ext cx="1409" cy="40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  <a:cs typeface="Times New Roman" panose="02020603050405020304" pitchFamily="18" charset="0"/>
                </a:rPr>
                <a:t>Scan line3</a:t>
              </a:r>
            </a:p>
          </p:txBody>
        </p:sp>
      </p:grpSp>
      <p:graphicFrame>
        <p:nvGraphicFramePr>
          <p:cNvPr id="18439" name="Object 5"/>
          <p:cNvGraphicFramePr>
            <a:graphicFrameLocks noChangeAspect="1"/>
          </p:cNvGraphicFramePr>
          <p:nvPr/>
        </p:nvGraphicFramePr>
        <p:xfrm>
          <a:off x="5529265" y="2257427"/>
          <a:ext cx="4376737" cy="460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6" name="Visio" r:id="rId3" imgW="2570480" imgH="2701925" progId="Visio.Drawing.11">
                  <p:embed/>
                </p:oleObj>
              </mc:Choice>
              <mc:Fallback>
                <p:oleObj name="Visio" r:id="rId3" imgW="2570480" imgH="27019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5" y="2257427"/>
                        <a:ext cx="4376737" cy="460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DDEC46-8F6B-4D35-836B-694E42EBD190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235098-3E4E-4C69-AF19-374DCB5EDC62}" type="slidenum">
              <a:rPr lang="zh-CN" altLang="en-US" sz="1400">
                <a:latin typeface="Arial" panose="020B0604020202020204" pitchFamily="34" charset="0"/>
              </a:rPr>
              <a:t>16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0" y="1177927"/>
            <a:ext cx="9493250" cy="5222875"/>
          </a:xfrm>
        </p:spPr>
        <p:txBody>
          <a:bodyPr/>
          <a:lstStyle/>
          <a:p>
            <a:pPr marL="358775" lvl="1" indent="-358775" algn="just" eaLnBrk="1" hangingPunct="1"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3200" dirty="0">
                <a:ea typeface="宋体" panose="02010600030101010101" pitchFamily="2" charset="-122"/>
              </a:rPr>
              <a:t>若顶点是极值点时，按两个或零个交点计</a:t>
            </a:r>
            <a:r>
              <a:rPr lang="en-US" altLang="zh-CN" sz="3200" dirty="0">
                <a:ea typeface="宋体" panose="02010600030101010101" pitchFamily="2" charset="-122"/>
              </a:rPr>
              <a:t>: p1, p3</a:t>
            </a:r>
            <a:endParaRPr lang="zh-CN" altLang="en-US" sz="3200" dirty="0">
              <a:ea typeface="宋体" panose="02010600030101010101" pitchFamily="2" charset="-122"/>
            </a:endParaRPr>
          </a:p>
          <a:p>
            <a:pPr marL="358775" lvl="1" indent="-358775" algn="just" eaLnBrk="1" hangingPunct="1">
              <a:buClr>
                <a:schemeClr val="tx1"/>
              </a:buClr>
              <a:buFontTx/>
              <a:buChar char="•"/>
            </a:pPr>
            <a:r>
              <a:rPr lang="zh-CN" altLang="en-US" sz="3200" dirty="0">
                <a:ea typeface="宋体" panose="02010600030101010101" pitchFamily="2" charset="-122"/>
              </a:rPr>
              <a:t>否则按一个交点计</a:t>
            </a:r>
            <a:r>
              <a:rPr lang="en-US" altLang="zh-CN" sz="3200" dirty="0">
                <a:ea typeface="宋体" panose="02010600030101010101" pitchFamily="2" charset="-122"/>
              </a:rPr>
              <a:t>: p2</a:t>
            </a:r>
          </a:p>
          <a:p>
            <a:pPr marL="0" lvl="1" indent="0" algn="just" eaLnBrk="1" hangingPunct="1">
              <a:buClr>
                <a:schemeClr val="tx1"/>
              </a:buClr>
              <a:buFontTx/>
              <a:buNone/>
            </a:pPr>
            <a:r>
              <a:rPr lang="zh-CN" altLang="en-US" sz="3200" dirty="0"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4997450" y="1698627"/>
          <a:ext cx="4908550" cy="515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2" name="Visio" r:id="rId3" imgW="2570480" imgH="2701925" progId="Visio.Drawing.11">
                  <p:embed/>
                </p:oleObj>
              </mc:Choice>
              <mc:Fallback>
                <p:oleObj name="Visio" r:id="rId3" imgW="2570480" imgH="27019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1698627"/>
                        <a:ext cx="4908550" cy="515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25C686-697C-4713-BEEB-76E6CFA7BFDD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384175" y="1082675"/>
            <a:ext cx="7894638" cy="5632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void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FillPolygonbySL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(Polygon *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P,int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polygonColor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)</a:t>
            </a:r>
            <a:endParaRPr kumimoji="1" lang="en-US" altLang="zh-CN" sz="2400" b="1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int y;    Edge e; /*</a:t>
            </a:r>
            <a:r>
              <a:rPr kumimoji="1" lang="zh-CN" altLang="en-US" sz="2400" b="1" i="1" dirty="0">
                <a:ea typeface="宋体" panose="02010600030101010101" pitchFamily="2" charset="-122"/>
              </a:rPr>
              <a:t>多边形的边</a:t>
            </a:r>
            <a:endParaRPr kumimoji="1" lang="en-US" altLang="zh-CN" sz="2400" b="1" i="1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for(y =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ymin;y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 &lt;=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ymax;y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++)</a:t>
            </a:r>
            <a:endParaRPr kumimoji="1" lang="en-US" altLang="zh-CN" sz="2400" b="1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    for(e =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first-edge;e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 &lt;=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last-edge;e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++)</a:t>
            </a:r>
            <a:endParaRPr kumimoji="1" lang="en-US" altLang="zh-CN" sz="2400" b="1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 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         if(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IsIntersect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(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e,y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       	    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RecordPoint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(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x,y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       </a:t>
            </a:r>
            <a:r>
              <a:rPr kumimoji="1" lang="en-US" altLang="zh-CN" sz="2400" b="1" i="1" dirty="0" err="1">
                <a:ea typeface="宋体" panose="02010600030101010101" pitchFamily="2" charset="-122"/>
              </a:rPr>
              <a:t>SortPoint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i="1" dirty="0">
                <a:ea typeface="宋体" panose="02010600030101010101" pitchFamily="2" charset="-122"/>
              </a:rPr>
              <a:t>          配对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i="1" dirty="0">
                <a:ea typeface="宋体" panose="02010600030101010101" pitchFamily="2" charset="-122"/>
              </a:rPr>
              <a:t>          </a:t>
            </a:r>
            <a:r>
              <a:rPr kumimoji="1" lang="en-US" altLang="zh-CN" sz="2400" b="1" i="1" dirty="0">
                <a:ea typeface="宋体" panose="02010600030101010101" pitchFamily="2" charset="-122"/>
              </a:rPr>
              <a:t>Fill;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    }</a:t>
            </a:r>
            <a:endParaRPr kumimoji="1" lang="en-US" altLang="zh-CN" sz="2400" b="1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0482" name="灯片编号占位符 3"/>
          <p:cNvSpPr txBox="1">
            <a:spLocks noGrp="1"/>
          </p:cNvSpPr>
          <p:nvPr/>
        </p:nvSpPr>
        <p:spPr bwMode="auto">
          <a:xfrm>
            <a:off x="7099300" y="6461127"/>
            <a:ext cx="2311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984CEC2-6FBB-426C-A457-FC841A416F5B}" type="slidenum"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17</a:t>
            </a:fld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42950" y="112715"/>
            <a:ext cx="8355894" cy="77787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扫描线填充法实现</a:t>
            </a:r>
          </a:p>
        </p:txBody>
      </p:sp>
      <p:sp>
        <p:nvSpPr>
          <p:cNvPr id="20486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5730877" y="2198688"/>
          <a:ext cx="4175125" cy="465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1" name="Visio" r:id="rId3" imgW="2570480" imgH="2867025" progId="Visio.Drawing.11">
                  <p:embed/>
                </p:oleObj>
              </mc:Choice>
              <mc:Fallback>
                <p:oleObj name="Visio" r:id="rId3" imgW="2570480" imgH="286702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7" y="2198688"/>
                        <a:ext cx="4175125" cy="465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523940-5E17-4424-84F3-C90C1F9A895F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0491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028D34-41C9-4A78-B4D8-9F3C01E54D7F}" type="slidenum">
              <a:rPr lang="zh-CN" altLang="en-US" sz="1400">
                <a:latin typeface="Arial" panose="020B0604020202020204" pitchFamily="34" charset="0"/>
              </a:rPr>
              <a:t>17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495300" y="2174422"/>
            <a:ext cx="7894638" cy="470898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void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FillPolygonbySL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(Polygon *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P,int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polygonColor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)</a:t>
            </a:r>
            <a:endParaRPr kumimoji="1" lang="en-US" altLang="zh-CN" sz="2000" dirty="0">
              <a:solidFill>
                <a:schemeClr val="bg2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int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y;    Edge 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for(y =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ymin;y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&lt;=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ymax;y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++)</a:t>
            </a:r>
            <a:endParaRPr kumimoji="1" lang="en-US" altLang="zh-CN" sz="2000" dirty="0">
              <a:solidFill>
                <a:schemeClr val="bg2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for(e =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first-edge;e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&lt;=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last-edge;e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++)</a:t>
            </a:r>
            <a:endParaRPr kumimoji="1" lang="en-US" altLang="zh-CN" sz="2000" dirty="0">
              <a:solidFill>
                <a:schemeClr val="bg2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     if(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IsIntersect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(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e,y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   	    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RecordPoint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(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x,y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   </a:t>
            </a:r>
            <a:r>
              <a:rPr kumimoji="1" lang="en-US" altLang="zh-CN" sz="2000" i="1" dirty="0" err="1">
                <a:solidFill>
                  <a:schemeClr val="bg2"/>
                </a:solidFill>
                <a:ea typeface="宋体" panose="02010600030101010101" pitchFamily="2" charset="-122"/>
              </a:rPr>
              <a:t>SortPoint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  配对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  </a:t>
            </a: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Fill;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    }</a:t>
            </a:r>
            <a:endParaRPr kumimoji="1" lang="en-US" altLang="zh-CN" sz="2000" dirty="0">
              <a:solidFill>
                <a:schemeClr val="bg2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i="1" dirty="0">
                <a:solidFill>
                  <a:schemeClr val="bg2"/>
                </a:solidFill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0482" name="灯片编号占位符 3"/>
          <p:cNvSpPr txBox="1">
            <a:spLocks noGrp="1"/>
          </p:cNvSpPr>
          <p:nvPr/>
        </p:nvSpPr>
        <p:spPr bwMode="auto">
          <a:xfrm>
            <a:off x="7099300" y="6461127"/>
            <a:ext cx="2311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984CEC2-6FBB-426C-A457-FC841A416F5B}" type="slidenum"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18</a:t>
            </a:fld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42950" y="112715"/>
            <a:ext cx="8355894" cy="77787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扫描线填充法分析</a:t>
            </a:r>
          </a:p>
        </p:txBody>
      </p:sp>
      <p:sp>
        <p:nvSpPr>
          <p:cNvPr id="20486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1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5730877" y="2198688"/>
          <a:ext cx="4175125" cy="465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7" name="Visio" r:id="rId4" imgW="2570480" imgH="2867025" progId="Visio.Drawing.11">
                  <p:embed/>
                </p:oleObj>
              </mc:Choice>
              <mc:Fallback>
                <p:oleObj name="Visio" r:id="rId4" imgW="2570480" imgH="286702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7" y="2198688"/>
                        <a:ext cx="4175125" cy="465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47650" y="1177927"/>
            <a:ext cx="9493250" cy="52228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58775" lvl="1" indent="-358775" algn="just" eaLnBrk="1" hangingPunct="1"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3200" kern="0" dirty="0">
                <a:ea typeface="宋体" panose="02010600030101010101" pitchFamily="2" charset="-122"/>
              </a:rPr>
              <a:t>效率较逐点填充法有所提高</a:t>
            </a:r>
            <a:endParaRPr lang="en-US" altLang="zh-CN" sz="3200" kern="0" dirty="0">
              <a:ea typeface="宋体" panose="02010600030101010101" pitchFamily="2" charset="-122"/>
            </a:endParaRPr>
          </a:p>
          <a:p>
            <a:pPr marL="358775" lvl="1" indent="-358775" algn="just" eaLnBrk="1" hangingPunct="1"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zh-CN" altLang="en-US" sz="3200" kern="0" dirty="0">
                <a:ea typeface="宋体" panose="02010600030101010101" pitchFamily="2" charset="-122"/>
              </a:rPr>
              <a:t>仍有很大提升空间？</a:t>
            </a:r>
            <a:r>
              <a:rPr lang="zh-CN" altLang="en-US" sz="3200" kern="0" dirty="0">
                <a:solidFill>
                  <a:srgbClr val="00B0F0"/>
                </a:solidFill>
                <a:ea typeface="宋体" panose="02010600030101010101" pitchFamily="2" charset="-122"/>
              </a:rPr>
              <a:t>所有边与所有扫描线都要求交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多边形光栅化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逐点填充法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扫描线填充法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活动边表填充法</a:t>
            </a:r>
            <a:endParaRPr lang="en-US" altLang="zh-CN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" name="Picture 2" descr="https://timgsa.baidu.com/timg?image&amp;quality=80&amp;size=b9999_10000&amp;sec=1513312104083&amp;di=9a40e03ecc168b94cf9e6df7eefe3eaf&amp;imgtype=jpg&amp;src=http%3A%2F%2Fimg2.imgtn.bdimg.com%2Fit%2Fu%3D19193382%2C2137982823%26fm%3D214%26gp%3D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8" t="24351" r="8707" b="9813"/>
          <a:stretch>
            <a:fillRect/>
          </a:stretch>
        </p:blipFill>
        <p:spPr bwMode="auto">
          <a:xfrm>
            <a:off x="1777184" y="3249291"/>
            <a:ext cx="7351776" cy="329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62CC79-87FF-4806-A693-C35E8AD58B2B}" type="slidenum">
              <a:rPr lang="zh-CN" altLang="en-US" sz="1400">
                <a:latin typeface="Arial" panose="020B0604020202020204" pitchFamily="34" charset="0"/>
              </a:rPr>
              <a:t>20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扫描线填充法分析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0" y="1031875"/>
            <a:ext cx="9493250" cy="519430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扫描线算法回顾</a:t>
            </a:r>
            <a:r>
              <a:rPr lang="zh-CN" altLang="en-US" sz="2800">
                <a:ea typeface="宋体" panose="02010600030101010101" pitchFamily="2" charset="-122"/>
              </a:rPr>
              <a:t>：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从</a:t>
            </a:r>
            <a:r>
              <a:rPr lang="en-US" altLang="zh-CN" sz="2800">
                <a:ea typeface="宋体" panose="02010600030101010101" pitchFamily="2" charset="-122"/>
              </a:rPr>
              <a:t>y=y</a:t>
            </a:r>
            <a:r>
              <a:rPr lang="en-US" altLang="zh-CN" sz="2800" baseline="-30000">
                <a:ea typeface="宋体" panose="02010600030101010101" pitchFamily="2" charset="-122"/>
              </a:rPr>
              <a:t>min</a:t>
            </a:r>
            <a:r>
              <a:rPr lang="zh-CN" altLang="en-US" sz="2800">
                <a:ea typeface="宋体" panose="02010600030101010101" pitchFamily="2" charset="-122"/>
              </a:rPr>
              <a:t>到</a:t>
            </a:r>
            <a:r>
              <a:rPr lang="en-US" altLang="zh-CN" sz="2800">
                <a:ea typeface="宋体" panose="02010600030101010101" pitchFamily="2" charset="-122"/>
              </a:rPr>
              <a:t>y=y</a:t>
            </a:r>
            <a:r>
              <a:rPr lang="en-US" altLang="zh-CN" sz="2800" baseline="-30000">
                <a:ea typeface="宋体" panose="02010600030101010101" pitchFamily="2" charset="-122"/>
              </a:rPr>
              <a:t>max</a:t>
            </a:r>
            <a:r>
              <a:rPr lang="en-US" altLang="zh-CN" sz="2800">
                <a:ea typeface="宋体" panose="02010600030101010101" pitchFamily="2" charset="-122"/>
              </a:rPr>
              <a:t>，</a:t>
            </a:r>
            <a:endParaRPr lang="zh-CN" altLang="en-US" sz="280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对一条扫描线按如下步骤填充：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a.</a:t>
            </a:r>
            <a:r>
              <a:rPr lang="zh-CN" altLang="en-US" sz="2800">
                <a:ea typeface="宋体" panose="02010600030101010101" pitchFamily="2" charset="-122"/>
              </a:rPr>
              <a:t>求交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b.</a:t>
            </a:r>
            <a:r>
              <a:rPr lang="zh-CN" altLang="en-US" sz="2800">
                <a:ea typeface="宋体" panose="02010600030101010101" pitchFamily="2" charset="-122"/>
              </a:rPr>
              <a:t>排序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c.</a:t>
            </a:r>
            <a:r>
              <a:rPr lang="zh-CN" altLang="en-US" sz="2800">
                <a:ea typeface="宋体" panose="02010600030101010101" pitchFamily="2" charset="-122"/>
              </a:rPr>
              <a:t>交点配对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		</a:t>
            </a:r>
            <a:r>
              <a:rPr lang="en-US" altLang="zh-CN" sz="2800">
                <a:ea typeface="宋体" panose="02010600030101010101" pitchFamily="2" charset="-122"/>
              </a:rPr>
              <a:t>d.</a:t>
            </a:r>
            <a:r>
              <a:rPr lang="zh-CN" altLang="en-US" sz="2800">
                <a:ea typeface="宋体" panose="02010600030101010101" pitchFamily="2" charset="-122"/>
              </a:rPr>
              <a:t>区间填色</a:t>
            </a:r>
          </a:p>
        </p:txBody>
      </p:sp>
      <p:sp>
        <p:nvSpPr>
          <p:cNvPr id="7174" name="AutoShape 4"/>
          <p:cNvSpPr>
            <a:spLocks noChangeArrowheads="1"/>
          </p:cNvSpPr>
          <p:nvPr/>
        </p:nvSpPr>
        <p:spPr bwMode="auto">
          <a:xfrm>
            <a:off x="2009423" y="5921377"/>
            <a:ext cx="2854678" cy="555625"/>
          </a:xfrm>
          <a:prstGeom prst="wedgeRoundRectCallout">
            <a:avLst>
              <a:gd name="adj1" fmla="val -35796"/>
              <a:gd name="adj2" fmla="val -10031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哪一步可以改进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5606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5116515" y="1560515"/>
          <a:ext cx="4789487" cy="529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5" name="Visio" r:id="rId4" imgW="2570480" imgH="2834005" progId="Visio.Drawing.11">
                  <p:embed/>
                </p:oleObj>
              </mc:Choice>
              <mc:Fallback>
                <p:oleObj name="Visio" r:id="rId4" imgW="2570480" imgH="28340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5" y="1560515"/>
                        <a:ext cx="4789487" cy="529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F55FC3-ADC7-4F26-A0F7-27A92EB93AC1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6"/>
          <p:cNvSpPr txBox="1">
            <a:spLocks noGrp="1"/>
          </p:cNvSpPr>
          <p:nvPr/>
        </p:nvSpPr>
        <p:spPr bwMode="auto">
          <a:xfrm>
            <a:off x="7099300" y="6461127"/>
            <a:ext cx="2311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955B04E-6FEA-4684-B228-67EC29893CF9}" type="slidenum"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21</a:t>
            </a:fld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5100" y="76200"/>
            <a:ext cx="8613775" cy="9144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扫描线填充法分析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2725" y="1079500"/>
            <a:ext cx="5607050" cy="5294313"/>
          </a:xfrm>
        </p:spPr>
        <p:txBody>
          <a:bodyPr/>
          <a:lstStyle/>
          <a:p>
            <a:pPr eaLnBrk="1" hangingPunct="1"/>
            <a:r>
              <a:rPr kumimoji="1" lang="en-US" altLang="zh-CN">
                <a:ea typeface="宋体" panose="02010600030101010101" pitchFamily="2" charset="-122"/>
              </a:rPr>
              <a:t>1. </a:t>
            </a:r>
            <a:r>
              <a:rPr kumimoji="1" lang="zh-CN" altLang="en-US">
                <a:ea typeface="宋体" panose="02010600030101010101" pitchFamily="2" charset="-122"/>
              </a:rPr>
              <a:t>减少无效相交判断</a:t>
            </a:r>
          </a:p>
          <a:p>
            <a:pPr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for(y = ymin;y &lt;= ymax;y++)</a:t>
            </a:r>
            <a:endParaRPr kumimoji="1" lang="en-US" altLang="zh-CN" sz="2400" b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 {for(e = first-edge;e &lt;= last-edge;e++)</a:t>
            </a:r>
            <a:endParaRPr kumimoji="1" lang="en-US" altLang="zh-CN" sz="2400" b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	 if(IsIntersect(e,y))	  RecordPoint(x,y);</a:t>
            </a:r>
          </a:p>
          <a:p>
            <a:pPr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 SortPoint;</a:t>
            </a:r>
          </a:p>
          <a:p>
            <a:pPr>
              <a:buFontTx/>
              <a:buNone/>
            </a:pPr>
            <a:r>
              <a:rPr kumimoji="1" lang="zh-CN" altLang="en-US" sz="2400" b="1" i="1">
                <a:ea typeface="宋体" panose="02010600030101010101" pitchFamily="2" charset="-122"/>
              </a:rPr>
              <a:t>      配对</a:t>
            </a:r>
            <a:r>
              <a:rPr kumimoji="1" lang="en-US" altLang="zh-CN" sz="2400" b="1" i="1">
                <a:ea typeface="宋体" panose="02010600030101010101" pitchFamily="2" charset="-122"/>
              </a:rPr>
              <a:t>;</a:t>
            </a:r>
          </a:p>
          <a:p>
            <a:pPr>
              <a:buFontTx/>
              <a:buNone/>
            </a:pPr>
            <a:r>
              <a:rPr kumimoji="1" lang="zh-CN" altLang="en-US" sz="2400" b="1" i="1">
                <a:ea typeface="宋体" panose="02010600030101010101" pitchFamily="2" charset="-122"/>
              </a:rPr>
              <a:t>      </a:t>
            </a:r>
            <a:r>
              <a:rPr kumimoji="1" lang="en-US" altLang="zh-CN" sz="2400" b="1" i="1">
                <a:ea typeface="宋体" panose="02010600030101010101" pitchFamily="2" charset="-122"/>
              </a:rPr>
              <a:t>Fill;</a:t>
            </a:r>
          </a:p>
          <a:p>
            <a:pPr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}</a:t>
            </a:r>
            <a:endParaRPr kumimoji="1" lang="zh-CN" altLang="en-US" sz="2800">
              <a:ea typeface="宋体" panose="02010600030101010101" pitchFamily="2" charset="-122"/>
            </a:endParaRPr>
          </a:p>
        </p:txBody>
      </p:sp>
      <p:sp>
        <p:nvSpPr>
          <p:cNvPr id="10246" name="AutoShape 4"/>
          <p:cNvSpPr>
            <a:spLocks noChangeArrowheads="1"/>
          </p:cNvSpPr>
          <p:nvPr/>
        </p:nvSpPr>
        <p:spPr bwMode="auto">
          <a:xfrm>
            <a:off x="3384552" y="4705352"/>
            <a:ext cx="2125663" cy="608013"/>
          </a:xfrm>
          <a:prstGeom prst="wedgeRoundRectCallout">
            <a:avLst>
              <a:gd name="adj1" fmla="val 56460"/>
              <a:gd name="adj2" fmla="val -13920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如何实现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1510" name="Object 3"/>
          <p:cNvGraphicFramePr>
            <a:graphicFrameLocks noChangeAspect="1"/>
          </p:cNvGraphicFramePr>
          <p:nvPr/>
        </p:nvGraphicFramePr>
        <p:xfrm>
          <a:off x="5510530" y="1044577"/>
          <a:ext cx="4343400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2" name="Visio" r:id="rId4" imgW="2570480" imgH="2867025" progId="Visio.Drawing.11">
                  <p:embed/>
                </p:oleObj>
              </mc:Choice>
              <mc:Fallback>
                <p:oleObj name="Visio" r:id="rId4" imgW="2570480" imgH="286702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0530" y="1044577"/>
                        <a:ext cx="4343400" cy="484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12C9F0-DA86-4C32-810A-17C186E422B1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1512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B032D6-0408-4DED-A59A-4897DDB745C1}" type="slidenum">
              <a:rPr lang="zh-CN" altLang="en-US" sz="1400">
                <a:latin typeface="Arial" panose="020B0604020202020204" pitchFamily="34" charset="0"/>
              </a:rPr>
              <a:t>21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36420" y="5524500"/>
            <a:ext cx="36741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每条边的</a:t>
            </a:r>
            <a:r>
              <a:rPr lang="en-US" altLang="zh-CN" sz="2400">
                <a:sym typeface="+mn-ea"/>
              </a:rPr>
              <a:t>y_max</a:t>
            </a:r>
            <a:r>
              <a:rPr lang="zh-CN" altLang="en-US" sz="2400">
                <a:sym typeface="+mn-ea"/>
              </a:rPr>
              <a:t>和</a:t>
            </a:r>
            <a:r>
              <a:rPr lang="en-US" altLang="zh-CN" sz="2400">
                <a:sym typeface="+mn-ea"/>
              </a:rPr>
              <a:t>y_min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 animBg="1"/>
      <p:bldP spid="2" grpId="0"/>
      <p:bldP spid="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31775" y="1128713"/>
            <a:ext cx="5607050" cy="42338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kumimoji="1" lang="zh-CN" altLang="en-US" sz="3200" kern="0" dirty="0">
                <a:latin typeface="+mn-lt"/>
                <a:ea typeface="宋体" panose="02010600030101010101" pitchFamily="2" charset="-122"/>
              </a:rPr>
              <a:t>分类</a:t>
            </a:r>
            <a:r>
              <a:rPr kumimoji="1" lang="en-US" altLang="zh-CN" sz="3200" kern="0" dirty="0">
                <a:latin typeface="+mn-lt"/>
                <a:ea typeface="宋体" panose="02010600030101010101" pitchFamily="2" charset="-122"/>
              </a:rPr>
              <a:t>:</a:t>
            </a:r>
            <a:endParaRPr kumimoji="1" lang="zh-CN" altLang="en-US" sz="3200" kern="0" dirty="0"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2531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193EBD-D618-4D5A-BAE5-035ABDDE6CF0}" type="slidenum">
              <a:rPr lang="zh-CN" altLang="en-US" sz="1400">
                <a:latin typeface="Arial" panose="020B0604020202020204" pitchFamily="34" charset="0"/>
              </a:rPr>
              <a:t>22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0" y="2044700"/>
          <a:ext cx="5459413" cy="299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5" name="Visio" r:id="rId4" imgW="2289810" imgH="1260475" progId="Visio.Drawing.11">
                  <p:embed/>
                </p:oleObj>
              </mc:Choice>
              <mc:Fallback>
                <p:oleObj name="Visio" r:id="rId4" imgW="2289810" imgH="126047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044700"/>
                        <a:ext cx="5459413" cy="29956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65100" y="76200"/>
            <a:ext cx="92456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44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+mj-cs"/>
              </a:rPr>
              <a:t>扫描线填充法分析</a:t>
            </a:r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3214688" y="5426077"/>
            <a:ext cx="2241550" cy="1019175"/>
          </a:xfrm>
          <a:prstGeom prst="wedgeRoundRectCallout">
            <a:avLst>
              <a:gd name="adj1" fmla="val -39062"/>
              <a:gd name="adj2" fmla="val -1191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有没有更好的方法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37" name="Object 6"/>
          <p:cNvGraphicFramePr>
            <a:graphicFrameLocks noChangeAspect="1"/>
          </p:cNvGraphicFramePr>
          <p:nvPr/>
        </p:nvGraphicFramePr>
        <p:xfrm>
          <a:off x="5529265" y="1066802"/>
          <a:ext cx="4376737" cy="460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6" name="Visio" r:id="rId6" imgW="2570480" imgH="2701925" progId="Visio.Drawing.11">
                  <p:embed/>
                </p:oleObj>
              </mc:Choice>
              <mc:Fallback>
                <p:oleObj name="Visio" r:id="rId6" imgW="2570480" imgH="270192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5" y="1066802"/>
                        <a:ext cx="4376737" cy="460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F596BF-5C20-46E1-95DD-B9AAB3774ED8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4840" y="5610668"/>
            <a:ext cx="3705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ym typeface="+mn-ea"/>
              </a:rPr>
              <a:t>出现新的有交边时才引入新的操作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9B851E-F8BA-4F40-8B53-F7A574DF4066}" type="slidenum">
              <a:rPr lang="zh-CN" altLang="en-US" sz="1400">
                <a:latin typeface="Arial" panose="020B0604020202020204" pitchFamily="34" charset="0"/>
              </a:rPr>
              <a:t>23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3555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0" y="2111375"/>
          <a:ext cx="5557838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7" name="Visio" r:id="rId4" imgW="2289810" imgH="1260475" progId="Visio.Drawing.11">
                  <p:embed/>
                </p:oleObj>
              </mc:Choice>
              <mc:Fallback>
                <p:oleObj name="Visio" r:id="rId4" imgW="2289810" imgH="126047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11375"/>
                        <a:ext cx="5557838" cy="3048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65100" y="76200"/>
            <a:ext cx="92456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44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+mj-cs"/>
              </a:rPr>
              <a:t>扫描线填充法分析</a:t>
            </a:r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3644900" y="5664202"/>
            <a:ext cx="1887538" cy="1019175"/>
          </a:xfrm>
          <a:prstGeom prst="wedgeRoundRectCallout">
            <a:avLst>
              <a:gd name="adj1" fmla="val -39090"/>
              <a:gd name="adj2" fmla="val -1339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需要什么前提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3559" name="Object 5"/>
          <p:cNvGraphicFramePr>
            <a:graphicFrameLocks noChangeAspect="1"/>
          </p:cNvGraphicFramePr>
          <p:nvPr/>
        </p:nvGraphicFramePr>
        <p:xfrm>
          <a:off x="5529265" y="1066802"/>
          <a:ext cx="4376737" cy="460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8" name="Visio" r:id="rId6" imgW="2570480" imgH="2701925" progId="Visio.Drawing.11">
                  <p:embed/>
                </p:oleObj>
              </mc:Choice>
              <mc:Fallback>
                <p:oleObj name="Visio" r:id="rId6" imgW="2570480" imgH="27019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5" y="1066802"/>
                        <a:ext cx="4376737" cy="460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7D0BB7-32A9-4EC4-89F2-4D2CA170EF76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90565" y="5689600"/>
            <a:ext cx="34963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可以根据与上一条扫描线交点快速求新的交点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/>
      <p:bldP spid="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B92B04-91D3-4324-B00C-E57E84B40441}" type="slidenum">
              <a:rPr lang="zh-CN" altLang="en-US" sz="1400">
                <a:latin typeface="Arial" panose="020B0604020202020204" pitchFamily="34" charset="0"/>
              </a:rPr>
              <a:t>24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4579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580" name="Object 2"/>
          <p:cNvGraphicFramePr>
            <a:graphicFrameLocks noChangeAspect="1"/>
          </p:cNvGraphicFramePr>
          <p:nvPr/>
        </p:nvGraphicFramePr>
        <p:xfrm>
          <a:off x="5041900" y="0"/>
          <a:ext cx="4864100" cy="266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0" name="Visio" r:id="rId4" imgW="2289810" imgH="1260475" progId="Visio.Drawing.11">
                  <p:embed/>
                </p:oleObj>
              </mc:Choice>
              <mc:Fallback>
                <p:oleObj name="Visio" r:id="rId4" imgW="2289810" imgH="126047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0"/>
                        <a:ext cx="4864100" cy="26685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65101" y="76200"/>
            <a:ext cx="4699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r" eaLnBrk="1" hangingPunct="1">
              <a:defRPr/>
            </a:pPr>
            <a:r>
              <a:rPr lang="zh-CN" altLang="en-US" sz="4400" dirty="0">
                <a:solidFill>
                  <a:schemeClr val="accent2"/>
                </a:solidFill>
                <a:latin typeface="+mj-lt"/>
                <a:ea typeface="黑体" panose="02010609060101010101" pitchFamily="49" charset="-122"/>
                <a:cs typeface="+mj-cs"/>
              </a:rPr>
              <a:t>扫描线法分析</a:t>
            </a: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141288" y="2262188"/>
          <a:ext cx="4824412" cy="453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1" name="Visio" r:id="rId6" imgW="2034540" imgH="1911350" progId="Visio.Drawing.11">
                  <p:embed/>
                </p:oleObj>
              </mc:Choice>
              <mc:Fallback>
                <p:oleObj name="Visio" r:id="rId6" imgW="2034540" imgH="191135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2262188"/>
                        <a:ext cx="4824412" cy="45307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6"/>
          <p:cNvGraphicFramePr>
            <a:graphicFrameLocks noChangeAspect="1"/>
          </p:cNvGraphicFramePr>
          <p:nvPr/>
        </p:nvGraphicFramePr>
        <p:xfrm>
          <a:off x="5748338" y="2487615"/>
          <a:ext cx="4157662" cy="437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2" name="Visio" r:id="rId8" imgW="2570480" imgH="2701925" progId="Visio.Drawing.11">
                  <p:embed/>
                </p:oleObj>
              </mc:Choice>
              <mc:Fallback>
                <p:oleObj name="Visio" r:id="rId8" imgW="2570480" imgH="270192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8338" y="2487615"/>
                        <a:ext cx="4157662" cy="437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3025777" y="5780090"/>
            <a:ext cx="1935163" cy="555625"/>
          </a:xfrm>
          <a:prstGeom prst="wedgeRoundRectCallout">
            <a:avLst>
              <a:gd name="adj1" fmla="val 69679"/>
              <a:gd name="adj2" fmla="val -10873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继续改进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4586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81DBFF-819C-48D4-8553-9CEDE28C6B24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54069" y="6413500"/>
            <a:ext cx="286597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快速求交？ </a:t>
            </a:r>
            <a:r>
              <a:rPr lang="en-US" altLang="zh-CN" dirty="0">
                <a:sym typeface="+mn-ea"/>
              </a:rPr>
              <a:t>DDA</a:t>
            </a:r>
            <a:r>
              <a:rPr lang="zh-CN" altLang="en-US" dirty="0">
                <a:sym typeface="+mn-ea"/>
              </a:rPr>
              <a:t>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2" grpId="0"/>
      <p:bldP spid="2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7BE6D6-1ABE-42F5-8140-CB62C3662FE7}" type="slidenum">
              <a:rPr lang="zh-CN" altLang="en-US" sz="1400">
                <a:latin typeface="Arial" panose="020B0604020202020204" pitchFamily="34" charset="0"/>
              </a:rPr>
              <a:t>25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4" y="76200"/>
            <a:ext cx="9534859" cy="9144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扫描线填充法分析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650" y="1106488"/>
            <a:ext cx="4718050" cy="5294312"/>
          </a:xfrm>
        </p:spPr>
        <p:txBody>
          <a:bodyPr/>
          <a:lstStyle/>
          <a:p>
            <a:pPr eaLnBrk="1" hangingPunct="1"/>
            <a:r>
              <a:rPr kumimoji="1" lang="en-US" altLang="zh-CN">
                <a:ea typeface="宋体" panose="02010600030101010101" pitchFamily="2" charset="-122"/>
              </a:rPr>
              <a:t>2. </a:t>
            </a:r>
            <a:r>
              <a:rPr kumimoji="1" lang="zh-CN" altLang="en-US">
                <a:ea typeface="宋体" panose="02010600030101010101" pitchFamily="2" charset="-122"/>
              </a:rPr>
              <a:t>减少不必要交点计算</a:t>
            </a:r>
          </a:p>
          <a:p>
            <a:pPr eaLnBrk="1" hangingPunct="1"/>
            <a:endParaRPr kumimoji="1"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38150" y="2379663"/>
          <a:ext cx="4032250" cy="380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3" r:id="rId4" imgW="2557145" imgH="2412365" progId="Visio.Drawing.5">
                  <p:embed/>
                </p:oleObj>
              </mc:Choice>
              <mc:Fallback>
                <p:oleObj r:id="rId4" imgW="2557145" imgH="2412365" progId="Visio.Drawing.5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2379663"/>
                        <a:ext cx="4032250" cy="38036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alpha val="50195"/>
                              </a:scheme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AutoShape 4"/>
          <p:cNvSpPr>
            <a:spLocks noChangeArrowheads="1"/>
          </p:cNvSpPr>
          <p:nvPr/>
        </p:nvSpPr>
        <p:spPr bwMode="auto">
          <a:xfrm>
            <a:off x="4868863" y="6205538"/>
            <a:ext cx="2552700" cy="652462"/>
          </a:xfrm>
          <a:prstGeom prst="wedgeRoundRectCallout">
            <a:avLst>
              <a:gd name="adj1" fmla="val -59284"/>
              <a:gd name="adj2" fmla="val -905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>
                <a:solidFill>
                  <a:schemeClr val="accent2"/>
                </a:solidFill>
                <a:ea typeface="宋体" panose="02010600030101010101" pitchFamily="2" charset="-122"/>
              </a:rPr>
              <a:t>需要哪些信息</a:t>
            </a:r>
            <a:r>
              <a:rPr lang="en-US" altLang="zh-CN" sz="280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7655" name="Object 9"/>
          <p:cNvGraphicFramePr>
            <a:graphicFrameLocks noChangeAspect="1"/>
          </p:cNvGraphicFramePr>
          <p:nvPr/>
        </p:nvGraphicFramePr>
        <p:xfrm>
          <a:off x="5116515" y="874715"/>
          <a:ext cx="4789487" cy="529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4" name="Visio" r:id="rId6" imgW="2570480" imgH="2834005" progId="Visio.Drawing.11">
                  <p:embed/>
                </p:oleObj>
              </mc:Choice>
              <mc:Fallback>
                <p:oleObj name="Visio" r:id="rId6" imgW="2570480" imgH="283400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5" y="874715"/>
                        <a:ext cx="4789487" cy="529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585AE3-7A50-4C5B-BF7E-F1B57420C513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F0C89A-20DC-4E74-9CA9-B1BB59A480C3}" type="slidenum">
              <a:rPr lang="zh-CN" altLang="en-US" sz="1400">
                <a:latin typeface="Arial" panose="020B0604020202020204" pitchFamily="34" charset="0"/>
              </a:rPr>
              <a:t>26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扫描线填充法分析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0" y="1146177"/>
            <a:ext cx="9493250" cy="525462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重构</a:t>
            </a:r>
            <a:r>
              <a:rPr lang="zh-CN" altLang="en-US" dirty="0">
                <a:solidFill>
                  <a:schemeClr val="accent2"/>
                </a:solidFill>
                <a:ea typeface="宋体" panose="02010600030101010101" pitchFamily="2" charset="-122"/>
              </a:rPr>
              <a:t>边</a:t>
            </a:r>
            <a:r>
              <a:rPr lang="zh-CN" altLang="en-US" dirty="0">
                <a:ea typeface="宋体" panose="02010600030101010101" pitchFamily="2" charset="-122"/>
              </a:rPr>
              <a:t>信息：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扫描线与该边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初始交点</a:t>
            </a:r>
            <a:r>
              <a:rPr lang="en-US" altLang="zh-CN" dirty="0" err="1">
                <a:ea typeface="宋体" panose="02010600030101010101" pitchFamily="2" charset="-122"/>
              </a:rPr>
              <a:t>x,y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斜率</a:t>
            </a:r>
            <a:r>
              <a:rPr lang="en-US" altLang="zh-CN" dirty="0">
                <a:ea typeface="宋体" panose="02010600030101010101" pitchFamily="2" charset="-122"/>
              </a:rPr>
              <a:t>k</a:t>
            </a:r>
          </a:p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zh-CN" altLang="en-US" dirty="0">
                <a:ea typeface="宋体" panose="02010600030101010101" pitchFamily="2" charset="-122"/>
              </a:rPr>
              <a:t>该边的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最大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zh-CN" altLang="en-US" dirty="0">
                <a:ea typeface="宋体" panose="02010600030101010101" pitchFamily="2" charset="-122"/>
              </a:rPr>
              <a:t>值</a:t>
            </a:r>
            <a:r>
              <a:rPr lang="en-US" altLang="zh-CN" dirty="0" err="1">
                <a:ea typeface="宋体" panose="02010600030101010101" pitchFamily="2" charset="-122"/>
              </a:rPr>
              <a:t>y</a:t>
            </a:r>
            <a:r>
              <a:rPr lang="en-US" altLang="zh-CN" baseline="-30000" dirty="0" err="1">
                <a:ea typeface="宋体" panose="02010600030101010101" pitchFamily="2" charset="-122"/>
              </a:rPr>
              <a:t>max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8677" name="Object 6"/>
          <p:cNvGraphicFramePr>
            <a:graphicFrameLocks noChangeAspect="1"/>
          </p:cNvGraphicFramePr>
          <p:nvPr/>
        </p:nvGraphicFramePr>
        <p:xfrm>
          <a:off x="5116515" y="874715"/>
          <a:ext cx="4789487" cy="529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7" name="Visio" r:id="rId4" imgW="2570480" imgH="2834005" progId="Visio.Drawing.11">
                  <p:embed/>
                </p:oleObj>
              </mc:Choice>
              <mc:Fallback>
                <p:oleObj name="Visio" r:id="rId4" imgW="2570480" imgH="283400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5" y="874715"/>
                        <a:ext cx="4789487" cy="529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AA29BE-D6B1-4894-BE71-18C8FFCC86CC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8679" name="Rectangle 9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104517"/>
              </p:ext>
            </p:extLst>
          </p:nvPr>
        </p:nvGraphicFramePr>
        <p:xfrm>
          <a:off x="389890" y="4437222"/>
          <a:ext cx="422116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38" name="Visio" r:id="rId6" imgW="1680210" imgH="205740" progId="Visio.Drawing.11">
                  <p:embed/>
                </p:oleObj>
              </mc:Choice>
              <mc:Fallback>
                <p:oleObj name="Visio" r:id="rId6" imgW="1680210" imgH="205740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" y="4437222"/>
                        <a:ext cx="4221162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30200" y="5224624"/>
            <a:ext cx="4953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教材的边表为（</a:t>
            </a:r>
            <a:r>
              <a:rPr lang="en-US" altLang="zh-CN" dirty="0" err="1">
                <a:sym typeface="+mn-ea"/>
              </a:rPr>
              <a:t>ymax</a:t>
            </a:r>
            <a:r>
              <a:rPr lang="en-US" altLang="zh-CN" dirty="0">
                <a:sym typeface="+mn-ea"/>
              </a:rPr>
              <a:t>, x|ymin,1/k</a:t>
            </a:r>
            <a:r>
              <a:rPr lang="zh-CN" altLang="en-US" dirty="0">
                <a:sym typeface="+mn-ea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365AFC-F61C-4EFB-8C86-EA1928AAEC4E}"/>
              </a:ext>
            </a:extLst>
          </p:cNvPr>
          <p:cNvSpPr txBox="1"/>
          <p:nvPr/>
        </p:nvSpPr>
        <p:spPr>
          <a:xfrm>
            <a:off x="330200" y="5734052"/>
            <a:ext cx="4953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三个参数分别有什么作用？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E2E709-EAB5-4EF9-A37C-403B56A80384}" type="slidenum">
              <a:rPr lang="zh-CN" altLang="en-US" sz="1400">
                <a:latin typeface="Arial" panose="020B0604020202020204" pitchFamily="34" charset="0"/>
              </a:rPr>
              <a:t>27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65100" y="76200"/>
            <a:ext cx="9245600" cy="9144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扫描线填充法分析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650" y="1122363"/>
            <a:ext cx="4892675" cy="2047875"/>
          </a:xfrm>
        </p:spPr>
        <p:txBody>
          <a:bodyPr/>
          <a:lstStyle/>
          <a:p>
            <a:pPr eaLnBrk="1" hangingPunct="1"/>
            <a:r>
              <a:rPr kumimoji="1" lang="zh-CN" altLang="en-US">
                <a:ea typeface="宋体" panose="02010600030101010101" pitchFamily="2" charset="-122"/>
              </a:rPr>
              <a:t>改进</a:t>
            </a:r>
            <a:r>
              <a:rPr kumimoji="1" lang="en-US" altLang="zh-CN">
                <a:ea typeface="宋体" panose="02010600030101010101" pitchFamily="2" charset="-122"/>
              </a:rPr>
              <a:t>1,2</a:t>
            </a:r>
            <a:r>
              <a:rPr kumimoji="1" lang="zh-CN" altLang="en-US">
                <a:ea typeface="宋体" panose="02010600030101010101" pitchFamily="2" charset="-122"/>
              </a:rPr>
              <a:t>如何结合</a:t>
            </a:r>
            <a:r>
              <a:rPr kumimoji="1" lang="en-US" altLang="zh-CN">
                <a:ea typeface="宋体" panose="02010600030101010101" pitchFamily="2" charset="-122"/>
              </a:rPr>
              <a:t>?</a:t>
            </a:r>
          </a:p>
          <a:p>
            <a:pPr eaLnBrk="1" hangingPunct="1"/>
            <a:endParaRPr kumimoji="1" lang="en-US" altLang="zh-CN">
              <a:ea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kumimoji="1"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29701" name="Object 6"/>
          <p:cNvGraphicFramePr>
            <a:graphicFrameLocks noChangeAspect="1"/>
          </p:cNvGraphicFramePr>
          <p:nvPr/>
        </p:nvGraphicFramePr>
        <p:xfrm>
          <a:off x="5116515" y="874715"/>
          <a:ext cx="4789487" cy="529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Visio" r:id="rId4" imgW="2570480" imgH="2834005" progId="Visio.Drawing.11">
                  <p:embed/>
                </p:oleObj>
              </mc:Choice>
              <mc:Fallback>
                <p:oleObj name="Visio" r:id="rId4" imgW="2570480" imgH="283400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5" y="874715"/>
                        <a:ext cx="4789487" cy="529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141288" y="2262188"/>
          <a:ext cx="4824412" cy="453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1" name="Visio" r:id="rId6" imgW="2034540" imgH="1911350" progId="Visio.Drawing.11">
                  <p:embed/>
                </p:oleObj>
              </mc:Choice>
              <mc:Fallback>
                <p:oleObj name="Visio" r:id="rId6" imgW="2034540" imgH="191135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2262188"/>
                        <a:ext cx="4824412" cy="45307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887C4F-663E-4B09-B614-A875C776672B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271463" y="1144588"/>
          <a:ext cx="9209087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8" name="Visio" r:id="rId3" imgW="5354320" imgH="2092325" progId="Visio.Drawing.11">
                  <p:embed/>
                </p:oleObj>
              </mc:Choice>
              <mc:Fallback>
                <p:oleObj name="Visio" r:id="rId3" imgW="5354320" imgH="20923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3" y="1144588"/>
                        <a:ext cx="9209087" cy="35814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D6D7ED-06AD-49F8-BBF6-8D99B54D33CF}" type="slidenum">
              <a:rPr lang="zh-CN" altLang="en-US" sz="1400">
                <a:latin typeface="Arial" panose="020B0604020202020204" pitchFamily="34" charset="0"/>
              </a:rPr>
              <a:t>28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活动边表法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31749" name="Object 7"/>
          <p:cNvGraphicFramePr>
            <a:graphicFrameLocks noChangeAspect="1"/>
          </p:cNvGraphicFramePr>
          <p:nvPr/>
        </p:nvGraphicFramePr>
        <p:xfrm>
          <a:off x="5861050" y="2384427"/>
          <a:ext cx="4044950" cy="447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9" name="Visio" r:id="rId5" imgW="2570480" imgH="2834005" progId="Visio.Drawing.11">
                  <p:embed/>
                </p:oleObj>
              </mc:Choice>
              <mc:Fallback>
                <p:oleObj name="Visio" r:id="rId5" imgW="2570480" imgH="28340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2384427"/>
                        <a:ext cx="4044950" cy="447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3863975" y="5605463"/>
            <a:ext cx="1892300" cy="654050"/>
          </a:xfrm>
          <a:prstGeom prst="wedgeRoundRectCallout">
            <a:avLst>
              <a:gd name="adj1" fmla="val -45114"/>
              <a:gd name="adj2" fmla="val -15047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如何构建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1751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0B3F2E-C43C-4DEC-A87B-39963F57C383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604E7A-DCBA-45FD-9A8C-BEE381E5310B}" type="slidenum">
              <a:rPr lang="zh-CN" altLang="en-US" sz="1400">
                <a:latin typeface="Arial" panose="020B0604020202020204" pitchFamily="34" charset="0"/>
              </a:rPr>
              <a:t>29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黑体" panose="02010609060101010101" pitchFamily="49" charset="-122"/>
              </a:rPr>
              <a:t>Edge Table</a:t>
            </a:r>
            <a:r>
              <a:rPr lang="zh-CN" altLang="en-US" dirty="0">
                <a:ea typeface="黑体" panose="02010609060101010101" pitchFamily="49" charset="-122"/>
              </a:rPr>
              <a:t>边表构建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763" y="990600"/>
            <a:ext cx="9310687" cy="398462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(1)构造一个纵向链表，链表长度为多边形占有的扫描线数，链表每个结点对应一条扫描线</a:t>
            </a:r>
          </a:p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(2)</a:t>
            </a:r>
            <a:r>
              <a:rPr lang="zh-CN" altLang="en-US" sz="2800">
                <a:ea typeface="宋体" panose="02010600030101010101" pitchFamily="2" charset="-122"/>
              </a:rPr>
              <a:t>每条边信息形成一个结点：</a:t>
            </a:r>
            <a:r>
              <a:rPr lang="en-US" altLang="zh-CN" sz="2800">
                <a:ea typeface="宋体" panose="02010600030101010101" pitchFamily="2" charset="-122"/>
              </a:rPr>
              <a:t>x|</a:t>
            </a:r>
            <a:r>
              <a:rPr lang="en-US" altLang="zh-CN" sz="2800" baseline="-30000">
                <a:ea typeface="宋体" panose="02010600030101010101" pitchFamily="2" charset="-122"/>
              </a:rPr>
              <a:t>ymin</a:t>
            </a:r>
            <a:r>
              <a:rPr lang="en-US" altLang="zh-CN" sz="2800">
                <a:ea typeface="宋体" panose="02010600030101010101" pitchFamily="2" charset="-122"/>
              </a:rPr>
              <a:t> ，y</a:t>
            </a:r>
            <a:r>
              <a:rPr lang="en-US" altLang="zh-CN" sz="2800" baseline="-30000">
                <a:ea typeface="宋体" panose="02010600030101010101" pitchFamily="2" charset="-122"/>
              </a:rPr>
              <a:t>max</a:t>
            </a:r>
            <a:r>
              <a:rPr lang="en-US" altLang="zh-CN" sz="2800">
                <a:ea typeface="宋体" panose="02010600030101010101" pitchFamily="2" charset="-122"/>
                <a:sym typeface="+mn-ea"/>
              </a:rPr>
              <a:t>, </a:t>
            </a:r>
            <a:r>
              <a:rPr lang="zh-CN" altLang="en-US" sz="2800">
                <a:ea typeface="宋体" panose="02010600030101010101" pitchFamily="2" charset="-122"/>
                <a:sym typeface="+mn-ea"/>
              </a:rPr>
              <a:t>1/</a:t>
            </a:r>
            <a:r>
              <a:rPr lang="en-US" altLang="zh-CN" sz="2800">
                <a:ea typeface="宋体" panose="02010600030101010101" pitchFamily="2" charset="-122"/>
                <a:sym typeface="+mn-ea"/>
              </a:rPr>
              <a:t>k</a:t>
            </a:r>
            <a:endParaRPr lang="en-US" altLang="zh-CN" sz="280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zh-CN" altLang="en-US" sz="2800">
                <a:ea typeface="宋体" panose="02010600030101010101" pitchFamily="2" charset="-122"/>
              </a:rPr>
              <a:t>(</a:t>
            </a:r>
            <a:r>
              <a:rPr lang="en-US" altLang="zh-CN" sz="2800">
                <a:ea typeface="宋体" panose="02010600030101010101" pitchFamily="2" charset="-122"/>
              </a:rPr>
              <a:t>3)</a:t>
            </a:r>
            <a:r>
              <a:rPr lang="zh-CN" altLang="en-US" sz="2800">
                <a:ea typeface="宋体" panose="02010600030101010101" pitchFamily="2" charset="-122"/>
              </a:rPr>
              <a:t>每条边链入与该边最小</a:t>
            </a:r>
            <a:r>
              <a:rPr lang="en-US" altLang="zh-CN" sz="2800">
                <a:ea typeface="宋体" panose="02010600030101010101" pitchFamily="2" charset="-122"/>
              </a:rPr>
              <a:t>y</a:t>
            </a:r>
            <a:r>
              <a:rPr lang="zh-CN" altLang="en-US" sz="2800">
                <a:ea typeface="宋体" panose="02010600030101010101" pitchFamily="2" charset="-122"/>
              </a:rPr>
              <a:t>坐标（</a:t>
            </a:r>
            <a:r>
              <a:rPr lang="en-US" altLang="zh-CN" sz="2800">
                <a:ea typeface="宋体" panose="02010600030101010101" pitchFamily="2" charset="-122"/>
              </a:rPr>
              <a:t>y</a:t>
            </a:r>
            <a:r>
              <a:rPr lang="en-US" altLang="zh-CN" sz="2800" baseline="-30000">
                <a:ea typeface="宋体" panose="02010600030101010101" pitchFamily="2" charset="-122"/>
              </a:rPr>
              <a:t>min </a:t>
            </a:r>
            <a:r>
              <a:rPr lang="en-US" altLang="zh-CN" sz="2800">
                <a:ea typeface="宋体" panose="02010600030101010101" pitchFamily="2" charset="-122"/>
              </a:rPr>
              <a:t>）</a:t>
            </a:r>
            <a:r>
              <a:rPr lang="zh-CN" altLang="en-US" sz="2800">
                <a:ea typeface="宋体" panose="02010600030101010101" pitchFamily="2" charset="-122"/>
              </a:rPr>
              <a:t>相对应的扫描线</a:t>
            </a:r>
            <a:endParaRPr lang="en-US" altLang="zh-CN" sz="280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40000"/>
              </a:lnSpc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(4)</a:t>
            </a:r>
            <a:r>
              <a:rPr lang="zh-CN" altLang="en-US" sz="2800">
                <a:ea typeface="宋体" panose="02010600030101010101" pitchFamily="2" charset="-122"/>
              </a:rPr>
              <a:t>同一桶中若干条边按</a:t>
            </a:r>
            <a:r>
              <a:rPr lang="en-US" altLang="zh-CN" sz="2800">
                <a:ea typeface="宋体" panose="02010600030101010101" pitchFamily="2" charset="-122"/>
              </a:rPr>
              <a:t>x|</a:t>
            </a:r>
            <a:r>
              <a:rPr lang="en-US" altLang="zh-CN" sz="2800" baseline="-30000">
                <a:ea typeface="宋体" panose="02010600030101010101" pitchFamily="2" charset="-122"/>
              </a:rPr>
              <a:t>ymin</a:t>
            </a:r>
            <a:r>
              <a:rPr lang="zh-CN" altLang="en-US" sz="2800">
                <a:ea typeface="宋体" panose="02010600030101010101" pitchFamily="2" charset="-122"/>
              </a:rPr>
              <a:t>由小到大排序，若</a:t>
            </a:r>
            <a:r>
              <a:rPr lang="en-US" altLang="zh-CN" sz="2800">
                <a:ea typeface="宋体" panose="02010600030101010101" pitchFamily="2" charset="-122"/>
              </a:rPr>
              <a:t>x|</a:t>
            </a:r>
            <a:r>
              <a:rPr lang="en-US" altLang="zh-CN" sz="2800" baseline="-30000">
                <a:ea typeface="宋体" panose="02010600030101010101" pitchFamily="2" charset="-122"/>
              </a:rPr>
              <a:t>ymin</a:t>
            </a:r>
            <a:r>
              <a:rPr lang="zh-CN" altLang="en-US" sz="2800">
                <a:ea typeface="宋体" panose="02010600030101010101" pitchFamily="2" charset="-122"/>
              </a:rPr>
              <a:t>相等，则按照1/</a:t>
            </a:r>
            <a:r>
              <a:rPr lang="en-US" altLang="zh-CN" sz="2800">
                <a:ea typeface="宋体" panose="02010600030101010101" pitchFamily="2" charset="-122"/>
              </a:rPr>
              <a:t>k</a:t>
            </a:r>
            <a:r>
              <a:rPr lang="zh-CN" altLang="en-US" sz="2800">
                <a:ea typeface="宋体" panose="02010600030101010101" pitchFamily="2" charset="-122"/>
              </a:rPr>
              <a:t>由小到大排序</a:t>
            </a:r>
          </a:p>
        </p:txBody>
      </p:sp>
      <p:graphicFrame>
        <p:nvGraphicFramePr>
          <p:cNvPr id="32773" name="Object 7"/>
          <p:cNvGraphicFramePr>
            <a:graphicFrameLocks noChangeAspect="1"/>
          </p:cNvGraphicFramePr>
          <p:nvPr/>
        </p:nvGraphicFramePr>
        <p:xfrm>
          <a:off x="7315200" y="3994150"/>
          <a:ext cx="2590800" cy="286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4" name="Visio" r:id="rId4" imgW="2570480" imgH="2834005" progId="Visio.Drawing.11">
                  <p:embed/>
                </p:oleObj>
              </mc:Choice>
              <mc:Fallback>
                <p:oleObj name="Visio" r:id="rId4" imgW="2570480" imgH="28340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994150"/>
                        <a:ext cx="2590800" cy="286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FE50AC-8DA3-40DF-9E7C-0DCB7CDC5EA3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B30B64-16F3-419C-A203-6F40972037B6}" type="slidenum">
              <a:rPr lang="zh-CN" altLang="en-US" sz="1400">
                <a:latin typeface="Arial" panose="020B0604020202020204" pitchFamily="34" charset="0"/>
              </a:rPr>
              <a:t>30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活动边表法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34820" name="Object 7"/>
          <p:cNvGraphicFramePr>
            <a:graphicFrameLocks noChangeAspect="1"/>
          </p:cNvGraphicFramePr>
          <p:nvPr/>
        </p:nvGraphicFramePr>
        <p:xfrm>
          <a:off x="5861050" y="2384427"/>
          <a:ext cx="4044950" cy="447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0" name="Visio" r:id="rId3" imgW="2570480" imgH="2834005" progId="Visio.Drawing.11">
                  <p:embed/>
                </p:oleObj>
              </mc:Choice>
              <mc:Fallback>
                <p:oleObj name="Visio" r:id="rId3" imgW="2570480" imgH="28340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2384427"/>
                        <a:ext cx="4044950" cy="447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3841750" y="5148263"/>
            <a:ext cx="1892300" cy="654050"/>
          </a:xfrm>
          <a:prstGeom prst="wedgeRoundRectCallout">
            <a:avLst>
              <a:gd name="adj1" fmla="val 68213"/>
              <a:gd name="adj2" fmla="val 4092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 dirty="0">
                <a:solidFill>
                  <a:schemeClr val="accent2"/>
                </a:solidFill>
                <a:ea typeface="宋体" panose="02010600030101010101" pitchFamily="2" charset="-122"/>
              </a:rPr>
              <a:t>如何填充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71463" y="1144588"/>
          <a:ext cx="9209087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81" name="Visio" r:id="rId5" imgW="5354320" imgH="2092325" progId="Visio.Drawing.11">
                  <p:embed/>
                </p:oleObj>
              </mc:Choice>
              <mc:Fallback>
                <p:oleObj name="Visio" r:id="rId5" imgW="5354320" imgH="20923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3" y="1144588"/>
                        <a:ext cx="9209087" cy="35814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日期占位符 2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280122-09B6-4BCC-8DB7-847889DE5D7A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 txBox="1">
            <a:spLocks noGrp="1"/>
          </p:cNvSpPr>
          <p:nvPr/>
        </p:nvSpPr>
        <p:spPr bwMode="auto">
          <a:xfrm>
            <a:off x="7099300" y="6461127"/>
            <a:ext cx="2311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1C2ACF4-7F17-4442-93FA-161DF26ED607}" type="slidenum">
              <a:rPr lang="zh-CN" altLang="en-US" sz="1400">
                <a:latin typeface="Arial" panose="020B0604020202020204" pitchFamily="34" charset="0"/>
                <a:ea typeface="宋体" panose="02010600030101010101" pitchFamily="2" charset="-122"/>
              </a:rPr>
              <a:t>31</a:t>
            </a:fld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201613" y="1006475"/>
            <a:ext cx="7894637" cy="415417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void FillPolygonbyAET(Polygon *P,int polygonColor)</a:t>
            </a:r>
            <a:endParaRPr kumimoji="1" lang="en-US" altLang="zh-CN" sz="2400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for(y = ymin;y &lt;= ymax;y++){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  if scan-line cross vertex /*</a:t>
            </a:r>
            <a:r>
              <a:rPr kumimoji="1" lang="zh-CN" altLang="en-US" sz="2400" b="1" i="1">
                <a:ea typeface="宋体" panose="02010600030101010101" pitchFamily="2" charset="-122"/>
              </a:rPr>
              <a:t>说明有边进入或离开</a:t>
            </a:r>
            <a:r>
              <a:rPr kumimoji="1" lang="en-US" altLang="zh-CN" sz="2400" b="1" i="1">
                <a:ea typeface="宋体" panose="02010600030101010101" pitchFamily="2" charset="-122"/>
              </a:rPr>
              <a:t>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         calculate intersection edge and point</a:t>
            </a:r>
            <a:endParaRPr kumimoji="1" lang="en-US" altLang="zh-CN" sz="2400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 else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          x = x + 1/k /*</a:t>
            </a:r>
            <a:r>
              <a:rPr kumimoji="1" lang="zh-CN" altLang="en-US" sz="2400" b="1" i="1">
                <a:ea typeface="宋体" panose="02010600030101010101" pitchFamily="2" charset="-122"/>
              </a:rPr>
              <a:t>利用</a:t>
            </a:r>
            <a:r>
              <a:rPr kumimoji="1" lang="en-US" altLang="zh-CN" sz="2400" b="1" i="1">
                <a:ea typeface="宋体" panose="02010600030101010101" pitchFamily="2" charset="-122"/>
              </a:rPr>
              <a:t>DDA</a:t>
            </a:r>
            <a:r>
              <a:rPr kumimoji="1" lang="zh-CN" altLang="en-US" sz="2400" b="1" i="1">
                <a:ea typeface="宋体" panose="02010600030101010101" pitchFamily="2" charset="-122"/>
              </a:rPr>
              <a:t>快速求交点</a:t>
            </a:r>
            <a:endParaRPr kumimoji="1" lang="en-US" altLang="zh-CN" sz="2400" b="1" i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      SortPoint;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i="1">
                <a:ea typeface="宋体" panose="02010600030101010101" pitchFamily="2" charset="-122"/>
              </a:rPr>
              <a:t>      配对</a:t>
            </a:r>
            <a:r>
              <a:rPr kumimoji="1" lang="en-US" altLang="zh-CN" sz="2400" b="1" i="1">
                <a:ea typeface="宋体" panose="02010600030101010101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i="1">
                <a:ea typeface="宋体" panose="02010600030101010101" pitchFamily="2" charset="-122"/>
              </a:rPr>
              <a:t>      </a:t>
            </a:r>
            <a:r>
              <a:rPr kumimoji="1" lang="en-US" altLang="zh-CN" sz="2400" b="1" i="1">
                <a:ea typeface="宋体" panose="02010600030101010101" pitchFamily="2" charset="-122"/>
              </a:rPr>
              <a:t>Fill;      }</a:t>
            </a:r>
            <a:endParaRPr kumimoji="1" lang="en-US" altLang="zh-CN" sz="2400" b="1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>
                <a:ea typeface="宋体" panose="02010600030101010101" pitchFamily="2" charset="-122"/>
              </a:rPr>
              <a:t>}/*end of FillPolygonPbyP()	*/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42950" y="112715"/>
            <a:ext cx="8420100" cy="77787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活动边表法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35845" name="Object 6"/>
          <p:cNvGraphicFramePr>
            <a:graphicFrameLocks noChangeAspect="1"/>
          </p:cNvGraphicFramePr>
          <p:nvPr/>
        </p:nvGraphicFramePr>
        <p:xfrm>
          <a:off x="5791200" y="2306638"/>
          <a:ext cx="4114800" cy="455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8" name="Visio" r:id="rId3" imgW="2570480" imgH="2834005" progId="Visio.Drawing.11">
                  <p:embed/>
                </p:oleObj>
              </mc:Choice>
              <mc:Fallback>
                <p:oleObj name="Visio" r:id="rId3" imgW="2570480" imgH="2834005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306638"/>
                        <a:ext cx="4114800" cy="455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565152" y="5594350"/>
            <a:ext cx="1579563" cy="654050"/>
          </a:xfrm>
          <a:prstGeom prst="wedgeRoundRectCallout">
            <a:avLst>
              <a:gd name="adj1" fmla="val 42326"/>
              <a:gd name="adj2" fmla="val -10720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zh-CN" altLang="en-US" sz="2800">
                <a:solidFill>
                  <a:schemeClr val="accent2"/>
                </a:solidFill>
                <a:ea typeface="宋体" panose="02010600030101010101" pitchFamily="2" charset="-122"/>
              </a:rPr>
              <a:t>细化</a:t>
            </a:r>
            <a: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</a:rPr>
              <a:t>?</a:t>
            </a:r>
            <a:endParaRPr lang="zh-CN" altLang="en-US" sz="2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35847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6914A3-B9D8-44A3-9EBD-DD52D913C702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5848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839079-F5EF-458A-8A75-07B3B57F5023}" type="slidenum">
              <a:rPr lang="zh-CN" altLang="en-US" sz="1400">
                <a:latin typeface="Arial" panose="020B0604020202020204" pitchFamily="34" charset="0"/>
              </a:rPr>
              <a:t>31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8" name="Object 7"/>
          <p:cNvGraphicFramePr>
            <a:graphicFrameLocks noChangeAspect="1"/>
          </p:cNvGraphicFramePr>
          <p:nvPr/>
        </p:nvGraphicFramePr>
        <p:xfrm>
          <a:off x="6328612" y="2901533"/>
          <a:ext cx="3577389" cy="3956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6" name="Visio" r:id="rId3" imgW="2570480" imgH="2834005" progId="Visio.Drawing.11">
                  <p:embed/>
                </p:oleObj>
              </mc:Choice>
              <mc:Fallback>
                <p:oleObj name="Visio" r:id="rId3" imgW="2570480" imgH="283400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612" y="2901533"/>
                        <a:ext cx="3577389" cy="3956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165099" y="76200"/>
            <a:ext cx="9508289" cy="9144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活动边表法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graphicFrame>
        <p:nvGraphicFramePr>
          <p:cNvPr id="58372" name="Object 9"/>
          <p:cNvGraphicFramePr>
            <a:graphicFrameLocks noChangeAspect="1"/>
          </p:cNvGraphicFramePr>
          <p:nvPr/>
        </p:nvGraphicFramePr>
        <p:xfrm>
          <a:off x="153988" y="1073806"/>
          <a:ext cx="92202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7" name="Visio" r:id="rId5" imgW="5337810" imgH="362585" progId="Visio.Drawing.11">
                  <p:embed/>
                </p:oleObj>
              </mc:Choice>
              <mc:Fallback>
                <p:oleObj name="Visio" r:id="rId5" imgW="5337810" imgH="36258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8" y="1073806"/>
                        <a:ext cx="9220200" cy="592138"/>
                      </a:xfrm>
                      <a:prstGeom prst="rect">
                        <a:avLst/>
                      </a:prstGeom>
                      <a:solidFill>
                        <a:srgbClr val="FFFFFF">
                          <a:alpha val="50195"/>
                        </a:srgbClr>
                      </a:solidFill>
                      <a:ln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298034" y="1665944"/>
            <a:ext cx="60879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活动边链表</a:t>
            </a:r>
            <a:r>
              <a:rPr lang="en-US" altLang="zh-CN" sz="2800" dirty="0">
                <a:ea typeface="宋体" panose="02010600030101010101" pitchFamily="2" charset="-122"/>
              </a:rPr>
              <a:t>Active Edge List (AEL)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65100" y="2360058"/>
          <a:ext cx="9209088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08" name="Visio" r:id="rId7" imgW="5354320" imgH="2092325" progId="Visio.Drawing.11">
                  <p:embed/>
                </p:oleObj>
              </mc:Choice>
              <mc:Fallback>
                <p:oleObj name="Visio" r:id="rId7" imgW="5354320" imgH="20923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2360058"/>
                        <a:ext cx="9209088" cy="35814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日期占位符 2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AB11C3-C65C-45AE-A923-31CABA78BDC2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3C5789-E8A3-465F-889F-C228F6365728}" type="slidenum">
              <a:rPr lang="zh-CN" altLang="en-US" sz="1400">
                <a:latin typeface="Arial" panose="020B0604020202020204" pitchFamily="34" charset="0"/>
              </a:rPr>
              <a:t>33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165100" y="76200"/>
            <a:ext cx="6934200" cy="9144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活动边表法</a:t>
            </a: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215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275" y="1039813"/>
            <a:ext cx="9455150" cy="4957762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  <a:hlinkClick r:id="rId4" action="ppaction://hlinkfile"/>
              </a:rPr>
              <a:t>算法步骤</a:t>
            </a:r>
            <a:r>
              <a:rPr lang="zh-CN" altLang="en-US" sz="2800" dirty="0">
                <a:ea typeface="宋体" panose="02010600030101010101" pitchFamily="2" charset="-122"/>
              </a:rPr>
              <a:t>：</a:t>
            </a:r>
          </a:p>
          <a:p>
            <a:pPr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(1)</a:t>
            </a:r>
            <a:r>
              <a:rPr lang="en-US" altLang="zh-CN" sz="2800" dirty="0">
                <a:ea typeface="宋体" panose="02010600030101010101" pitchFamily="2" charset="-122"/>
              </a:rPr>
              <a:t>AEL</a:t>
            </a:r>
            <a:r>
              <a:rPr lang="zh-CN" altLang="en-US" sz="2800" dirty="0">
                <a:ea typeface="宋体" panose="02010600030101010101" pitchFamily="2" charset="-122"/>
              </a:rPr>
              <a:t>清空</a:t>
            </a:r>
          </a:p>
          <a:p>
            <a:pPr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(2)</a:t>
            </a:r>
            <a:r>
              <a:rPr lang="en-US" altLang="zh-CN" sz="2800" dirty="0">
                <a:ea typeface="宋体" panose="02010600030101010101" pitchFamily="2" charset="-122"/>
              </a:rPr>
              <a:t> AEL=ET</a:t>
            </a:r>
            <a:r>
              <a:rPr lang="zh-CN" altLang="en-US" sz="2800" dirty="0">
                <a:ea typeface="宋体" panose="02010600030101010101" pitchFamily="2" charset="-122"/>
              </a:rPr>
              <a:t>表中的第一行</a:t>
            </a:r>
          </a:p>
          <a:p>
            <a:pPr algn="just" eaLnBrk="1" hangingPunct="1">
              <a:lnSpc>
                <a:spcPct val="120000"/>
              </a:lnSpc>
              <a:buFontTx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(3)由</a:t>
            </a:r>
            <a:r>
              <a:rPr lang="en-US" altLang="zh-CN" sz="2800" dirty="0">
                <a:ea typeface="宋体" panose="02010600030101010101" pitchFamily="2" charset="-122"/>
              </a:rPr>
              <a:t>AEL</a:t>
            </a:r>
            <a:r>
              <a:rPr lang="zh-CN" altLang="en-US" sz="2800" dirty="0">
                <a:ea typeface="宋体" panose="02010600030101010101" pitchFamily="2" charset="-122"/>
              </a:rPr>
              <a:t>中取出交点对进行填充</a:t>
            </a:r>
          </a:p>
          <a:p>
            <a:pPr algn="just" eaLnBrk="1" hangingPunct="1">
              <a:lnSpc>
                <a:spcPct val="130000"/>
              </a:lnSpc>
              <a:buFontTx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(4)</a:t>
            </a: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30000" dirty="0">
                <a:ea typeface="宋体" panose="02010600030101010101" pitchFamily="2" charset="-122"/>
              </a:rPr>
              <a:t>i+1</a:t>
            </a:r>
            <a:r>
              <a:rPr lang="en-US" altLang="zh-CN" sz="2800" dirty="0">
                <a:ea typeface="宋体" panose="02010600030101010101" pitchFamily="2" charset="-122"/>
              </a:rPr>
              <a:t>=y</a:t>
            </a:r>
            <a:r>
              <a:rPr lang="en-US" altLang="zh-CN" sz="2800" baseline="-30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+1,</a:t>
            </a:r>
            <a:r>
              <a:rPr lang="zh-CN" altLang="en-US" sz="2800" dirty="0">
                <a:ea typeface="宋体" panose="02010600030101010101" pitchFamily="2" charset="-122"/>
              </a:rPr>
              <a:t>根据</a:t>
            </a:r>
            <a:r>
              <a:rPr lang="en-US" altLang="zh-CN" sz="2800" dirty="0">
                <a:ea typeface="宋体" panose="02010600030101010101" pitchFamily="2" charset="-122"/>
              </a:rPr>
              <a:t>x</a:t>
            </a:r>
            <a:r>
              <a:rPr lang="en-US" altLang="zh-CN" sz="2800" baseline="-30000" dirty="0">
                <a:ea typeface="宋体" panose="02010600030101010101" pitchFamily="2" charset="-122"/>
              </a:rPr>
              <a:t>i+1</a:t>
            </a:r>
            <a:r>
              <a:rPr lang="en-US" altLang="zh-CN" sz="2800" dirty="0">
                <a:ea typeface="宋体" panose="02010600030101010101" pitchFamily="2" charset="-122"/>
              </a:rPr>
              <a:t>=x</a:t>
            </a:r>
            <a:r>
              <a:rPr lang="en-US" altLang="zh-CN" sz="2800" baseline="-30000" dirty="0">
                <a:ea typeface="宋体" panose="02010600030101010101" pitchFamily="2" charset="-122"/>
              </a:rPr>
              <a:t>i</a:t>
            </a:r>
            <a:r>
              <a:rPr lang="en-US" altLang="zh-CN" sz="2800" dirty="0">
                <a:ea typeface="宋体" panose="02010600030101010101" pitchFamily="2" charset="-122"/>
              </a:rPr>
              <a:t>+1/k</a:t>
            </a:r>
            <a:r>
              <a:rPr lang="zh-CN" altLang="en-US" sz="2800" dirty="0">
                <a:ea typeface="宋体" panose="02010600030101010101" pitchFamily="2" charset="-122"/>
              </a:rPr>
              <a:t>修改</a:t>
            </a:r>
            <a:r>
              <a:rPr lang="en-US" altLang="zh-CN" sz="2800" dirty="0">
                <a:ea typeface="宋体" panose="02010600030101010101" pitchFamily="2" charset="-122"/>
              </a:rPr>
              <a:t>AEL</a:t>
            </a:r>
          </a:p>
          <a:p>
            <a:pPr marL="0" indent="0" algn="just" eaLnBrk="1" hangingPunct="1">
              <a:lnSpc>
                <a:spcPct val="130000"/>
              </a:lnSpc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丢弃旧边：删除</a:t>
            </a:r>
            <a:r>
              <a:rPr lang="en-US" altLang="zh-CN" sz="2800" dirty="0" err="1">
                <a:ea typeface="宋体" panose="02010600030101010101" pitchFamily="2" charset="-122"/>
              </a:rPr>
              <a:t>y</a:t>
            </a:r>
            <a:r>
              <a:rPr lang="en-US" altLang="zh-CN" sz="2800" baseline="-30000" dirty="0" err="1">
                <a:ea typeface="宋体" panose="02010600030101010101" pitchFamily="2" charset="-122"/>
              </a:rPr>
              <a:t>max</a:t>
            </a:r>
            <a:r>
              <a:rPr lang="en-US" altLang="zh-CN" sz="2800" dirty="0">
                <a:ea typeface="宋体" panose="02010600030101010101" pitchFamily="2" charset="-122"/>
              </a:rPr>
              <a:t>=y</a:t>
            </a:r>
            <a:r>
              <a:rPr lang="zh-CN" altLang="en-US" sz="2800" dirty="0">
                <a:ea typeface="宋体" panose="02010600030101010101" pitchFamily="2" charset="-122"/>
              </a:rPr>
              <a:t>的边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indent="0" algn="just" eaLnBrk="1" hangingPunct="1">
              <a:lnSpc>
                <a:spcPct val="130000"/>
              </a:lnSpc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加入新边：合并</a:t>
            </a:r>
            <a:r>
              <a:rPr lang="en-US" altLang="zh-CN" sz="2800" dirty="0">
                <a:ea typeface="宋体" panose="02010600030101010101" pitchFamily="2" charset="-122"/>
              </a:rPr>
              <a:t>ET</a:t>
            </a:r>
            <a:r>
              <a:rPr lang="zh-CN" altLang="en-US" sz="2800" dirty="0">
                <a:ea typeface="宋体" panose="02010600030101010101" pitchFamily="2" charset="-122"/>
              </a:rPr>
              <a:t>表中</a:t>
            </a:r>
            <a:r>
              <a:rPr lang="en-US" altLang="zh-CN" sz="2800" dirty="0">
                <a:ea typeface="宋体" panose="02010600030101010101" pitchFamily="2" charset="-122"/>
              </a:rPr>
              <a:t>y=y</a:t>
            </a:r>
            <a:r>
              <a:rPr lang="en-US" altLang="zh-CN" sz="2800" baseline="-30000" dirty="0">
                <a:ea typeface="宋体" panose="02010600030101010101" pitchFamily="2" charset="-122"/>
              </a:rPr>
              <a:t>i+1</a:t>
            </a:r>
            <a:r>
              <a:rPr lang="zh-CN" altLang="en-US" sz="2800" dirty="0">
                <a:ea typeface="宋体" panose="02010600030101010101" pitchFamily="2" charset="-122"/>
              </a:rPr>
              <a:t>桶中的边，按次序插入到</a:t>
            </a:r>
            <a:r>
              <a:rPr lang="en-US" altLang="zh-CN" sz="2800" dirty="0">
                <a:ea typeface="宋体" panose="02010600030101010101" pitchFamily="2" charset="-122"/>
              </a:rPr>
              <a:t>AEL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30000"/>
              </a:lnSpc>
              <a:buFontTx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(5)</a:t>
            </a:r>
            <a:r>
              <a:rPr lang="en-US" altLang="zh-CN" sz="2800" dirty="0">
                <a:ea typeface="宋体" panose="02010600030101010101" pitchFamily="2" charset="-122"/>
              </a:rPr>
              <a:t>AEL</a:t>
            </a:r>
            <a:r>
              <a:rPr lang="zh-CN" altLang="en-US" sz="2800" dirty="0">
                <a:ea typeface="宋体" panose="02010600030101010101" pitchFamily="2" charset="-122"/>
              </a:rPr>
              <a:t>不为空则转(3)，否则结束</a:t>
            </a:r>
          </a:p>
        </p:txBody>
      </p:sp>
      <p:graphicFrame>
        <p:nvGraphicFramePr>
          <p:cNvPr id="37893" name="Object 9"/>
          <p:cNvGraphicFramePr>
            <a:graphicFrameLocks noChangeAspect="1"/>
          </p:cNvGraphicFramePr>
          <p:nvPr/>
        </p:nvGraphicFramePr>
        <p:xfrm>
          <a:off x="6037265" y="2"/>
          <a:ext cx="3868737" cy="427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2" name="Visio" r:id="rId5" imgW="2570480" imgH="2834005" progId="Visio.Drawing.11">
                  <p:embed/>
                </p:oleObj>
              </mc:Choice>
              <mc:Fallback>
                <p:oleObj name="Visio" r:id="rId5" imgW="2570480" imgH="283400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7265" y="2"/>
                        <a:ext cx="3868737" cy="427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9"/>
          <p:cNvGraphicFramePr>
            <a:graphicFrameLocks noChangeAspect="1"/>
          </p:cNvGraphicFramePr>
          <p:nvPr/>
        </p:nvGraphicFramePr>
        <p:xfrm>
          <a:off x="204788" y="6022975"/>
          <a:ext cx="92202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3" name="Visio" r:id="rId7" imgW="5337810" imgH="362585" progId="Visio.Drawing.11">
                  <p:embed/>
                </p:oleObj>
              </mc:Choice>
              <mc:Fallback>
                <p:oleObj name="Visio" r:id="rId7" imgW="5337810" imgH="36258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8" y="6022975"/>
                        <a:ext cx="9220200" cy="592138"/>
                      </a:xfrm>
                      <a:prstGeom prst="rect">
                        <a:avLst/>
                      </a:prstGeom>
                      <a:solidFill>
                        <a:srgbClr val="FFFFFF">
                          <a:alpha val="50195"/>
                        </a:srgbClr>
                      </a:solidFill>
                      <a:ln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1A3E39-3EE9-415B-8A99-579531CAB5FF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7099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58E25B-5FC8-429C-BEC2-4259792BE015}" type="slidenum">
              <a:rPr lang="zh-CN" altLang="en-US" sz="1400">
                <a:latin typeface="Arial" panose="020B0604020202020204" pitchFamily="34" charset="0"/>
              </a:rPr>
              <a:t>34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黑体" panose="02010609060101010101" pitchFamily="49" charset="-122"/>
              </a:rPr>
              <a:t>活动边表法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0" y="1120775"/>
            <a:ext cx="9493250" cy="51816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优点：效率比逐点填充法、扫描线填充法更优</a:t>
            </a: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缺点：对各种表的维持和排序开销太大，适合软件实现而不适合硬件实现</a:t>
            </a:r>
          </a:p>
          <a:p>
            <a:pPr eaLnBrk="1" hangingPunct="1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8372" name="Object 9"/>
          <p:cNvGraphicFramePr>
            <a:graphicFrameLocks noChangeAspect="1"/>
          </p:cNvGraphicFramePr>
          <p:nvPr/>
        </p:nvGraphicFramePr>
        <p:xfrm>
          <a:off x="366713" y="2727325"/>
          <a:ext cx="89011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0" name="Visio" r:id="rId3" imgW="5337810" imgH="362585" progId="Visio.Drawing.11">
                  <p:embed/>
                </p:oleObj>
              </mc:Choice>
              <mc:Fallback>
                <p:oleObj name="Visio" r:id="rId3" imgW="5337810" imgH="36258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3" y="2727325"/>
                        <a:ext cx="8901112" cy="571500"/>
                      </a:xfrm>
                      <a:prstGeom prst="rect">
                        <a:avLst/>
                      </a:prstGeom>
                      <a:solidFill>
                        <a:srgbClr val="FFFFFF">
                          <a:alpha val="50195"/>
                        </a:srgbClr>
                      </a:solidFill>
                      <a:ln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371475" y="3394075"/>
          <a:ext cx="8905875" cy="346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1" name="Visio" r:id="rId5" imgW="5354320" imgH="2092325" progId="Visio.Drawing.11">
                  <p:embed/>
                </p:oleObj>
              </mc:Choice>
              <mc:Fallback>
                <p:oleObj name="Visio" r:id="rId5" imgW="5354320" imgH="209232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3394075"/>
                        <a:ext cx="8905875" cy="34639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50195"/>
                        </a:schemeClr>
                      </a:solidFill>
                      <a:ln w="9525" algn="ctr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日期占位符 1"/>
          <p:cNvSpPr>
            <a:spLocks noGrp="1"/>
          </p:cNvSpPr>
          <p:nvPr>
            <p:ph type="dt" sz="quarter" idx="4294967295"/>
          </p:nvPr>
        </p:nvSpPr>
        <p:spPr>
          <a:xfrm>
            <a:off x="495300" y="6461127"/>
            <a:ext cx="23114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F8C8A1-4FC6-4D3C-AAB7-CF5573C3FED9}" type="datetime10">
              <a:rPr lang="zh-CN" altLang="en-US" sz="1400">
                <a:latin typeface="Arial" panose="020B0604020202020204" pitchFamily="34" charset="0"/>
              </a:rPr>
              <a:t>08:36</a:t>
            </a:fld>
            <a:endParaRPr lang="en-US" altLang="zh-CN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多边形光栅化总结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逐点填充法：以点为对象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扫描线填充法：点→线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活动边表填充法：以边表为基础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" name="Picture 2" descr="https://timgsa.baidu.com/timg?image&amp;quality=80&amp;size=b9999_10000&amp;sec=1513312104083&amp;di=9a40e03ecc168b94cf9e6df7eefe3eaf&amp;imgtype=jpg&amp;src=http%3A%2F%2Fimg2.imgtn.bdimg.com%2Fit%2Fu%3D19193382%2C2137982823%26fm%3D214%26gp%3D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8" t="24351" r="8707" b="9813"/>
          <a:stretch>
            <a:fillRect/>
          </a:stretch>
        </p:blipFill>
        <p:spPr bwMode="auto">
          <a:xfrm>
            <a:off x="1777184" y="3249291"/>
            <a:ext cx="7351776" cy="329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mMDVkMWI3NWMxYzJlMzU4ZjlmZTJlYWJkNmJiNDQifQ==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great-wall</Template>
  <TotalTime>55</TotalTime>
  <Pages>8</Pages>
  <Words>1688</Words>
  <Application>Microsoft Office PowerPoint</Application>
  <PresentationFormat>A4 纸张(210x297 毫米)</PresentationFormat>
  <Paragraphs>283</Paragraphs>
  <Slides>35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黑体</vt:lpstr>
      <vt:lpstr>华文宋体</vt:lpstr>
      <vt:lpstr>宋体</vt:lpstr>
      <vt:lpstr>微软雅黑</vt:lpstr>
      <vt:lpstr>幼圆</vt:lpstr>
      <vt:lpstr>Arial</vt:lpstr>
      <vt:lpstr>Times New Roman</vt:lpstr>
      <vt:lpstr>Default Design</vt:lpstr>
      <vt:lpstr>Image</vt:lpstr>
      <vt:lpstr>Equation</vt:lpstr>
      <vt:lpstr>Visio</vt:lpstr>
      <vt:lpstr>VISIO 5 Drawing</vt:lpstr>
      <vt:lpstr>多边形光栅化</vt:lpstr>
      <vt:lpstr>问题提出</vt:lpstr>
      <vt:lpstr>问题提出</vt:lpstr>
      <vt:lpstr>问题定义</vt:lpstr>
      <vt:lpstr>多边形光栅化</vt:lpstr>
      <vt:lpstr>逐点填充（判断）法</vt:lpstr>
      <vt:lpstr>逐点填充法</vt:lpstr>
      <vt:lpstr>逐点填充法</vt:lpstr>
      <vt:lpstr>逐点填充法</vt:lpstr>
      <vt:lpstr>逐点填充法</vt:lpstr>
      <vt:lpstr>逐点填充法</vt:lpstr>
      <vt:lpstr>多边形光栅化</vt:lpstr>
      <vt:lpstr>扫描线填充法</vt:lpstr>
      <vt:lpstr>扫描线填充法</vt:lpstr>
      <vt:lpstr>扫描线填充法</vt:lpstr>
      <vt:lpstr>扫描线填充法</vt:lpstr>
      <vt:lpstr>扫描线填充法实现</vt:lpstr>
      <vt:lpstr>扫描线填充法分析</vt:lpstr>
      <vt:lpstr>多边形光栅化</vt:lpstr>
      <vt:lpstr>扫描线填充法分析</vt:lpstr>
      <vt:lpstr>扫描线填充法分析</vt:lpstr>
      <vt:lpstr>PowerPoint 演示文稿</vt:lpstr>
      <vt:lpstr>PowerPoint 演示文稿</vt:lpstr>
      <vt:lpstr>PowerPoint 演示文稿</vt:lpstr>
      <vt:lpstr>扫描线填充法分析</vt:lpstr>
      <vt:lpstr>扫描线填充法分析</vt:lpstr>
      <vt:lpstr>扫描线填充法分析</vt:lpstr>
      <vt:lpstr>活动边表法</vt:lpstr>
      <vt:lpstr>Edge Table边表构建</vt:lpstr>
      <vt:lpstr>活动边表法</vt:lpstr>
      <vt:lpstr>活动边表法</vt:lpstr>
      <vt:lpstr>活动边表法</vt:lpstr>
      <vt:lpstr>活动边表法</vt:lpstr>
      <vt:lpstr>活动边表法</vt:lpstr>
      <vt:lpstr>多边形光栅化总结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</dc:title>
  <dc:creator/>
  <cp:lastModifiedBy>pcm</cp:lastModifiedBy>
  <cp:revision>323</cp:revision>
  <cp:lastPrinted>2010-04-30T08:12:00Z</cp:lastPrinted>
  <dcterms:created xsi:type="dcterms:W3CDTF">1996-10-25T10:30:00Z</dcterms:created>
  <dcterms:modified xsi:type="dcterms:W3CDTF">2024-09-30T00:59:26Z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9DD0181B394A4F59AED0FFD4508A57FB_12</vt:lpwstr>
  </property>
  <property fmtid="{D5CDD505-2E9C-101B-9397-08002B2CF9AE}" pid="3" name="KSOProductBuildVer">
    <vt:lpwstr>2052-12.1.0.16417</vt:lpwstr>
  </property>
</Properties>
</file>