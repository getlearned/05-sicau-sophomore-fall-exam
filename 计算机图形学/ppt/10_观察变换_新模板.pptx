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317" r:id="rId2"/>
    <p:sldId id="766" r:id="rId3"/>
    <p:sldId id="767" r:id="rId4"/>
    <p:sldId id="768" r:id="rId5"/>
    <p:sldId id="769" r:id="rId6"/>
    <p:sldId id="770" r:id="rId7"/>
    <p:sldId id="771" r:id="rId8"/>
    <p:sldId id="772" r:id="rId9"/>
    <p:sldId id="773" r:id="rId10"/>
    <p:sldId id="774" r:id="rId11"/>
    <p:sldId id="775" r:id="rId12"/>
    <p:sldId id="776" r:id="rId13"/>
    <p:sldId id="777" r:id="rId14"/>
    <p:sldId id="778" r:id="rId15"/>
    <p:sldId id="779" r:id="rId16"/>
    <p:sldId id="780" r:id="rId17"/>
    <p:sldId id="781" r:id="rId18"/>
    <p:sldId id="782" r:id="rId19"/>
    <p:sldId id="783" r:id="rId20"/>
    <p:sldId id="784" r:id="rId21"/>
    <p:sldId id="785" r:id="rId22"/>
    <p:sldId id="786" r:id="rId23"/>
    <p:sldId id="787" r:id="rId24"/>
    <p:sldId id="788" r:id="rId25"/>
    <p:sldId id="789" r:id="rId26"/>
    <p:sldId id="790" r:id="rId27"/>
    <p:sldId id="791" r:id="rId28"/>
    <p:sldId id="794" r:id="rId29"/>
    <p:sldId id="765" r:id="rId30"/>
  </p:sldIdLst>
  <p:sldSz cx="9144000" cy="5143500" type="screen16x9"/>
  <p:notesSz cx="6858000" cy="9144000"/>
  <p:custDataLst>
    <p:tags r:id="rId3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6" userDrawn="1">
          <p15:clr>
            <a:srgbClr val="A4A3A4"/>
          </p15:clr>
        </p15:guide>
        <p15:guide id="2" pos="29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56">
          <p15:clr>
            <a:srgbClr val="A4A3A4"/>
          </p15:clr>
        </p15:guide>
        <p15:guide id="2" pos="21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00"/>
    <a:srgbClr val="74C4FF"/>
    <a:srgbClr val="FF3300"/>
    <a:srgbClr val="FAFAFA"/>
    <a:srgbClr val="FF5050"/>
    <a:srgbClr val="3992DB"/>
    <a:srgbClr val="005DA2"/>
    <a:srgbClr val="0F1836"/>
    <a:srgbClr val="FDFDFD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0" autoAdjust="0"/>
    <p:restoredTop sz="72738" autoAdjust="0"/>
  </p:normalViewPr>
  <p:slideViewPr>
    <p:cSldViewPr showGuides="1">
      <p:cViewPr varScale="1">
        <p:scale>
          <a:sx n="109" d="100"/>
          <a:sy n="109" d="100"/>
        </p:scale>
        <p:origin x="1566" y="72"/>
      </p:cViewPr>
      <p:guideLst>
        <p:guide orient="horz" pos="1606"/>
        <p:guide pos="29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56"/>
        <p:guide pos="21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emf"/><Relationship Id="rId1" Type="http://schemas.openxmlformats.org/officeDocument/2006/relationships/image" Target="../media/image15.e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20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16.emf"/><Relationship Id="rId1" Type="http://schemas.openxmlformats.org/officeDocument/2006/relationships/image" Target="../media/image15.e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2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9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30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25.emf"/><Relationship Id="rId1" Type="http://schemas.openxmlformats.org/officeDocument/2006/relationships/image" Target="../media/image30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2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4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8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7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25.emf"/><Relationship Id="rId1" Type="http://schemas.openxmlformats.org/officeDocument/2006/relationships/image" Target="../media/image40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BDC7532-99AB-4A27-9239-36B5FA277B57}" type="datetimeFigureOut">
              <a:rPr lang="zh-CN" altLang="en-US"/>
              <a:t>2024/11/2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D65621B-A3DC-4A6D-8063-788C595E78AD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D6AB8A1-C497-46E0-BA7F-C7E292B60FC3}" type="datetimeFigureOut">
              <a:rPr lang="zh-CN" altLang="en-US"/>
              <a:t>2024/11/2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DA0C6DC-2F4C-4491-A9F9-E3F8AD06530E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F9FE4A-F1B9-42B6-95D0-1A8AD6D3A180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学生问答</a:t>
            </a:r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237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718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243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42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087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868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720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sin(-</a:t>
            </a:r>
            <a:r>
              <a:rPr lang="el-GR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α)=-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sin</a:t>
            </a:r>
            <a:r>
              <a:rPr lang="el-GR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α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;    cos(-</a:t>
            </a:r>
            <a:r>
              <a:rPr lang="el-GR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α)=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cos</a:t>
            </a:r>
            <a:r>
              <a:rPr lang="el-GR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α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R(Theta)=[c, -s; s, c]</a:t>
            </a:r>
          </a:p>
          <a:p>
            <a:r>
              <a:rPr lang="en-US" altLang="zh-CN" dirty="0"/>
              <a:t>R(-Theta)=[c, s; -s, c]</a:t>
            </a:r>
            <a:endParaRPr lang="zh-CN" altLang="en-US" dirty="0"/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33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提问：什么是齐次坐标？</a:t>
            </a:r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016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sin(-</a:t>
            </a:r>
            <a:r>
              <a:rPr lang="el-GR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α)=-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sin</a:t>
            </a:r>
            <a:r>
              <a:rPr lang="el-GR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α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;    cos(-</a:t>
            </a:r>
            <a:r>
              <a:rPr lang="el-GR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α)=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cos</a:t>
            </a:r>
            <a:r>
              <a:rPr lang="el-GR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α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R(Theta)=[c, -s; s, c]</a:t>
            </a:r>
          </a:p>
          <a:p>
            <a:r>
              <a:rPr lang="en-US" altLang="zh-CN" dirty="0"/>
              <a:t>R(-Theta)=[c, s; -s, c]</a:t>
            </a:r>
            <a:endParaRPr lang="zh-CN" altLang="en-US" dirty="0"/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5523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5434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3476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714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671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一般情况下需要几次旋转变换？</a:t>
            </a:r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471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已知</a:t>
            </a:r>
            <a:r>
              <a:rPr lang="en-US" altLang="zh-CN" dirty="0"/>
              <a:t>OO</a:t>
            </a:r>
            <a:r>
              <a:rPr lang="zh-CN" altLang="en-US" dirty="0"/>
              <a:t>‘的距离，求出</a:t>
            </a:r>
            <a:r>
              <a:rPr lang="en-US" altLang="zh-CN" dirty="0"/>
              <a:t>O’</a:t>
            </a:r>
            <a:r>
              <a:rPr lang="zh-CN" altLang="en-US" dirty="0"/>
              <a:t>的坐标等于</a:t>
            </a:r>
            <a:r>
              <a:rPr lang="en-US" altLang="zh-CN" dirty="0"/>
              <a:t>(</a:t>
            </a:r>
            <a:r>
              <a:rPr lang="en-US" altLang="zh-CN" dirty="0" err="1"/>
              <a:t>Rsin</a:t>
            </a:r>
            <a:r>
              <a:rPr lang="el-GR" altLang="zh-CN" dirty="0"/>
              <a:t>φ</a:t>
            </a:r>
            <a:r>
              <a:rPr lang="en-US" altLang="zh-CN" dirty="0"/>
              <a:t>cos</a:t>
            </a:r>
            <a:r>
              <a:rPr lang="az-Cyrl-AZ" altLang="zh-CN" dirty="0"/>
              <a:t>ѳ</a:t>
            </a:r>
            <a:r>
              <a:rPr lang="en-US" altLang="zh-CN" dirty="0"/>
              <a:t> , </a:t>
            </a:r>
            <a:r>
              <a:rPr lang="en-US" altLang="zh-CN" dirty="0" err="1"/>
              <a:t>Rsin</a:t>
            </a:r>
            <a:r>
              <a:rPr lang="el-GR" altLang="zh-CN" dirty="0"/>
              <a:t>φ</a:t>
            </a:r>
            <a:r>
              <a:rPr lang="en-US" altLang="zh-CN" dirty="0"/>
              <a:t>Sin</a:t>
            </a:r>
            <a:r>
              <a:rPr lang="az-Cyrl-AZ" altLang="zh-CN" dirty="0"/>
              <a:t>ѳ</a:t>
            </a:r>
            <a:r>
              <a:rPr lang="en-US" altLang="zh-CN" dirty="0"/>
              <a:t> , </a:t>
            </a:r>
            <a:r>
              <a:rPr lang="en-US" altLang="zh-CN" dirty="0" err="1"/>
              <a:t>Rcos</a:t>
            </a:r>
            <a:r>
              <a:rPr lang="el-GR" altLang="zh-CN" dirty="0"/>
              <a:t>φ</a:t>
            </a:r>
            <a:r>
              <a:rPr lang="en-US" altLang="zh-CN" dirty="0"/>
              <a:t>)</a:t>
            </a:r>
            <a:endParaRPr lang="zh-CN" altLang="en-US" dirty="0"/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2636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31310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kern="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α=</a:t>
            </a:r>
            <a:r>
              <a:rPr lang="el-GR" altLang="zh-CN" sz="1200" b="0" kern="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π</a:t>
            </a:r>
            <a:r>
              <a:rPr lang="en-US" altLang="zh-CN" sz="1200" b="0" kern="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/2-</a:t>
            </a:r>
            <a:r>
              <a:rPr lang="el-GR" altLang="zh-CN" sz="1200" b="0" kern="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θ</a:t>
            </a:r>
            <a:endParaRPr lang="zh-CN" altLang="en-US" sz="1200" b="0" kern="0" dirty="0">
              <a:solidFill>
                <a:schemeClr val="tx1"/>
              </a:solidFill>
              <a:latin typeface="华文宋体" pitchFamily="2" charset="-122"/>
              <a:ea typeface="华文宋体" pitchFamily="2" charset="-122"/>
              <a:cs typeface="+mn-cs"/>
            </a:endParaRPr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5701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6097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几何变换中，逆时针旋转角度为正；而点不动坐标轴动的变换矩阵参数取负号。因此负负得正。</a:t>
            </a:r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2968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</a:rPr>
              <a:t>β </a:t>
            </a:r>
            <a:r>
              <a:rPr lang="en-US" altLang="zh-CN" sz="1200" b="0" kern="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=</a:t>
            </a:r>
            <a:r>
              <a:rPr lang="el-GR" altLang="zh-CN" sz="1200" b="0" kern="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π</a:t>
            </a:r>
            <a:r>
              <a:rPr lang="en-US" altLang="zh-CN" sz="1200" b="0" kern="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-</a:t>
            </a:r>
            <a:r>
              <a:rPr lang="el-GR" altLang="zh-CN" sz="1200" b="0" kern="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φ</a:t>
            </a:r>
            <a:endParaRPr lang="zh-CN" altLang="en-US" sz="1200" b="0" kern="0" dirty="0">
              <a:solidFill>
                <a:schemeClr val="tx1"/>
              </a:solidFill>
              <a:latin typeface="华文宋体" pitchFamily="2" charset="-122"/>
              <a:ea typeface="华文宋体" pitchFamily="2" charset="-122"/>
              <a:cs typeface="+mn-cs"/>
            </a:endParaRPr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5974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8191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3950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4305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7894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6348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B23209-9528-41D2-81FD-D3F671D2623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7537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325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" name="幻灯片编号占位符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B6DD1C-70C2-4EFD-A8A8-14D55827F27D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DC173-665B-4A26-91FC-4A9F67B20565}" type="datetimeFigureOut">
              <a:rPr lang="zh-CN" altLang="en-US"/>
              <a:t>2024/11/2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23A92-3574-469A-9CC7-E6DE8C54450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6"/>
          <p:cNvCxnSpPr/>
          <p:nvPr userDrawn="1"/>
        </p:nvCxnSpPr>
        <p:spPr>
          <a:xfrm>
            <a:off x="755650" y="625475"/>
            <a:ext cx="7848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7"/>
          <p:cNvGrpSpPr/>
          <p:nvPr userDrawn="1"/>
        </p:nvGrpSpPr>
        <p:grpSpPr bwMode="auto">
          <a:xfrm>
            <a:off x="323850" y="293688"/>
            <a:ext cx="390525" cy="204787"/>
            <a:chOff x="0" y="0"/>
            <a:chExt cx="1041399" cy="549275"/>
          </a:xfrm>
        </p:grpSpPr>
        <p:sp>
          <p:nvSpPr>
            <p:cNvPr id="4" name="Freeform 16"/>
            <p:cNvSpPr/>
            <p:nvPr/>
          </p:nvSpPr>
          <p:spPr bwMode="auto">
            <a:xfrm>
              <a:off x="0" y="0"/>
              <a:ext cx="364066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5" name="Freeform 17"/>
            <p:cNvSpPr/>
            <p:nvPr/>
          </p:nvSpPr>
          <p:spPr bwMode="auto">
            <a:xfrm>
              <a:off x="338666" y="0"/>
              <a:ext cx="359834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681567" y="0"/>
              <a:ext cx="35983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sp>
        <p:nvSpPr>
          <p:cNvPr id="7" name="TextBox 15"/>
          <p:cNvSpPr txBox="1"/>
          <p:nvPr userDrawn="1"/>
        </p:nvSpPr>
        <p:spPr>
          <a:xfrm>
            <a:off x="8101013" y="241300"/>
            <a:ext cx="671512" cy="3667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accent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09D11F-E716-44B8-8FA2-B23B49EABBA6}" type="datetimeFigureOut">
              <a:rPr lang="zh-CN" altLang="en-US"/>
              <a:t>2024/11/2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6D5A9B-347D-4579-B22F-8DCBB002A6F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C38B1D-1BC3-426A-A310-4624521F40EF}" type="datetimeFigureOut">
              <a:rPr lang="zh-CN" altLang="en-US"/>
              <a:t>2024/11/2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8E634B-DC27-4ACA-834C-DF698BE00BC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2A3881-ADD1-4450-8C90-00F07505A66E}" type="datetimeFigureOut">
              <a:rPr lang="zh-CN" altLang="en-US"/>
              <a:t>2024/11/2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D3073-AF49-4419-8D5E-CEEE6BB1507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F4DD16-33DD-47FC-893D-DF51A2EDB843}" type="datetimeFigureOut">
              <a:rPr lang="zh-CN" altLang="en-US"/>
              <a:t>2024/11/2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4AD5F-69AD-4271-9648-DA70AC05B56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563A42-19F0-40F1-A6DD-6B142903B286}" type="datetimeFigureOut">
              <a:rPr lang="zh-CN" altLang="en-US"/>
              <a:t>2024/11/2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89407-44AC-418D-B556-BE41A0BAAF9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0C214F-32FD-440C-B92C-F006DA56BA3E}" type="datetimeFigureOut">
              <a:rPr lang="zh-CN" altLang="en-US"/>
              <a:t>2024/11/2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481203-2A17-4E80-BEE9-EDD8BC1647D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36843A-020A-462F-8B6B-6D1363F54C58}" type="datetimeFigureOut">
              <a:rPr lang="zh-CN" altLang="en-US"/>
              <a:t>2024/11/2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C6CE6-AF45-4367-97BA-3D96EC06756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FF310-10A4-4D6A-8284-069B6ECCE9A4}" type="datetimeFigureOut">
              <a:rPr lang="zh-CN" altLang="en-US"/>
              <a:t>2024/11/2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0A9BDA-5D35-42B6-8E29-FCA66843DBA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319451-2499-45BE-AFDB-DE7D03AEF668}" type="datetimeFigureOut">
              <a:rPr lang="zh-CN" altLang="en-US"/>
              <a:t>2024/11/2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F37C2A-AA4B-4897-BFF7-45A5072FED9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15860AD-FAF2-4382-B98A-FFD2EB969518}" type="datetimeFigureOut">
              <a:rPr lang="zh-CN" altLang="en-US"/>
              <a:t>2024/11/2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43B11AB-A67D-49E2-9A24-FC472F570968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3.e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4.bin"/><Relationship Id="rId4" Type="http://schemas.openxmlformats.org/officeDocument/2006/relationships/image" Target="../media/image5.png"/><Relationship Id="rId9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8.w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5.emf"/><Relationship Id="rId12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7.wmf"/><Relationship Id="rId5" Type="http://schemas.openxmlformats.org/officeDocument/2006/relationships/image" Target="../media/image6.png"/><Relationship Id="rId15" Type="http://schemas.openxmlformats.org/officeDocument/2006/relationships/image" Target="../media/image19.wmf"/><Relationship Id="rId10" Type="http://schemas.openxmlformats.org/officeDocument/2006/relationships/oleObject" Target="../embeddings/oleObject10.bin"/><Relationship Id="rId4" Type="http://schemas.openxmlformats.org/officeDocument/2006/relationships/image" Target="../media/image5.png"/><Relationship Id="rId9" Type="http://schemas.openxmlformats.org/officeDocument/2006/relationships/image" Target="../media/image16.emf"/><Relationship Id="rId14" Type="http://schemas.openxmlformats.org/officeDocument/2006/relationships/oleObject" Target="../embeddings/oleObject1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2.w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15.bin"/><Relationship Id="rId4" Type="http://schemas.openxmlformats.org/officeDocument/2006/relationships/image" Target="../media/image5.png"/><Relationship Id="rId9" Type="http://schemas.openxmlformats.org/officeDocument/2006/relationships/image" Target="../media/image1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22.w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5.e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9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1.wmf"/><Relationship Id="rId5" Type="http://schemas.openxmlformats.org/officeDocument/2006/relationships/image" Target="../media/image6.png"/><Relationship Id="rId15" Type="http://schemas.openxmlformats.org/officeDocument/2006/relationships/image" Target="../media/image23.wmf"/><Relationship Id="rId10" Type="http://schemas.openxmlformats.org/officeDocument/2006/relationships/oleObject" Target="../embeddings/oleObject16.bin"/><Relationship Id="rId4" Type="http://schemas.openxmlformats.org/officeDocument/2006/relationships/image" Target="../media/image5.png"/><Relationship Id="rId9" Type="http://schemas.openxmlformats.org/officeDocument/2006/relationships/image" Target="../media/image16.emf"/><Relationship Id="rId14" Type="http://schemas.openxmlformats.org/officeDocument/2006/relationships/oleObject" Target="../embeddings/oleObject1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2.w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15.bin"/><Relationship Id="rId4" Type="http://schemas.openxmlformats.org/officeDocument/2006/relationships/image" Target="../media/image5.png"/><Relationship Id="rId9" Type="http://schemas.openxmlformats.org/officeDocument/2006/relationships/image" Target="../media/image11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notesSlide" Target="../notesSlides/notesSlide13.xml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2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28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28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3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25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3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1.w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30.bin"/><Relationship Id="rId4" Type="http://schemas.openxmlformats.org/officeDocument/2006/relationships/image" Target="../media/image5.png"/><Relationship Id="rId9" Type="http://schemas.openxmlformats.org/officeDocument/2006/relationships/image" Target="../media/image25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3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3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3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4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3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6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3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7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3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7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3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9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4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1.e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44.bin"/><Relationship Id="rId4" Type="http://schemas.openxmlformats.org/officeDocument/2006/relationships/image" Target="../media/image5.png"/><Relationship Id="rId9" Type="http://schemas.openxmlformats.org/officeDocument/2006/relationships/image" Target="../media/image25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4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44.e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47.bin"/><Relationship Id="rId4" Type="http://schemas.openxmlformats.org/officeDocument/2006/relationships/image" Target="../media/image5.png"/><Relationship Id="rId9" Type="http://schemas.openxmlformats.org/officeDocument/2006/relationships/image" Target="../media/image43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4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45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4356100" y="14288"/>
            <a:ext cx="774700" cy="23177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模板下载：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www.1ppt.com/moban/     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行业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模板：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节日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模板：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www.1ppt.com/jieri/           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素材下载：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背景图片：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www.1ppt.com/beijing/      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图表下载：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优秀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www.1ppt.com/xiazai/        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教程： 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Word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教程： 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www.1ppt.com/word/              Excel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教程：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www.1ppt.com/excel/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资料下载：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www.1ppt.com/ziliao/                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课件下载：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www.1ppt.com/kejian/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范文下载：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www.1ppt.com/fanwen/             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试卷下载：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www.1ppt.com/shiti/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教案下载：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www.1ppt.com/jiaoan/        PPT</a:t>
            </a:r>
            <a:r>
              <a:rPr lang="zh-CN" altLang="en-US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论坛：</a:t>
            </a: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www.1ppt.cn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" kern="0" dirty="0">
                <a:solidFill>
                  <a:sysClr val="window" lastClr="FFFFFF"/>
                </a:solidFill>
                <a:latin typeface="+mn-lt"/>
                <a:ea typeface="+mn-ea"/>
              </a:rPr>
              <a:t> </a:t>
            </a:r>
            <a:endParaRPr lang="zh-CN" altLang="en-US" sz="100" kern="0" dirty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9050" y="7938"/>
            <a:ext cx="9144000" cy="3175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7411" name="图片 1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5438776" y="130175"/>
            <a:ext cx="3103562" cy="304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Rectangle 3"/>
          <p:cNvSpPr txBox="1">
            <a:spLocks noChangeArrowheads="1"/>
          </p:cNvSpPr>
          <p:nvPr/>
        </p:nvSpPr>
        <p:spPr bwMode="auto">
          <a:xfrm>
            <a:off x="200671" y="1089025"/>
            <a:ext cx="4685085" cy="5016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华文隶书" panose="02010800040101010101" charset="-122"/>
              </a:rPr>
              <a:t>计算机图形学</a:t>
            </a:r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华文隶书" panose="02010800040101010101" charset="-122"/>
              </a:rPr>
              <a:t>——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华文隶书" panose="02010800040101010101" charset="-122"/>
            </a:endParaRPr>
          </a:p>
        </p:txBody>
      </p:sp>
      <p:sp>
        <p:nvSpPr>
          <p:cNvPr id="17413" name="Rectangle 4"/>
          <p:cNvSpPr txBox="1">
            <a:spLocks noChangeArrowheads="1"/>
          </p:cNvSpPr>
          <p:nvPr/>
        </p:nvSpPr>
        <p:spPr bwMode="auto">
          <a:xfrm>
            <a:off x="5364088" y="3437922"/>
            <a:ext cx="3779912" cy="322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开课学院：信息工程学院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415" name="图片 3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3388" y="246063"/>
            <a:ext cx="765175" cy="74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6" name="图片 4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77938" y="414338"/>
            <a:ext cx="1871662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27176307-B968-47E2-9973-EA859C962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337" y="1862931"/>
            <a:ext cx="7642225" cy="5016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华文隶书" panose="02010800040101010101" charset="-122"/>
              </a:rPr>
              <a:t>5.2 </a:t>
            </a:r>
            <a:r>
              <a:rPr lang="zh-CN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华文隶书" panose="02010800040101010101" charset="-122"/>
              </a:rPr>
              <a:t>观察变换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0C5E7F-23C1-4B4B-B879-536CCB9ABFDF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74C4FF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104E06C0-515A-476E-A615-30C7627FB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5038" y="3936206"/>
            <a:ext cx="3779912" cy="322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授课教师：彭昌猛（博士）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 advClick="0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DE64ECE-DA6E-4861-9084-AFB0F816023F}"/>
              </a:ext>
            </a:extLst>
          </p:cNvPr>
          <p:cNvSpPr txBox="1"/>
          <p:nvPr/>
        </p:nvSpPr>
        <p:spPr>
          <a:xfrm>
            <a:off x="611560" y="900113"/>
            <a:ext cx="8064896" cy="224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一、课程回顾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几何变换：有哪些基本几何变换？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三维观察流水线：有哪些流程？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几何变换与坐标系变换有何区别？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1142321"/>
      </p:ext>
    </p:extLst>
  </p:cSld>
  <p:clrMapOvr>
    <a:masterClrMapping/>
  </p:clrMapOvr>
  <p:transition spd="med" advClick="0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三维观察流水线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14" name="AutoShape 3">
            <a:extLst>
              <a:ext uri="{FF2B5EF4-FFF2-40B4-BE49-F238E27FC236}">
                <a16:creationId xmlns:a16="http://schemas.microsoft.com/office/drawing/2014/main" id="{7278C817-0FA4-4310-9365-6FEB3DC06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8269" y="1544836"/>
            <a:ext cx="369888" cy="356371"/>
          </a:xfrm>
          <a:prstGeom prst="downArrow">
            <a:avLst>
              <a:gd name="adj1" fmla="val 50000"/>
              <a:gd name="adj2" fmla="val 52897"/>
            </a:avLst>
          </a:prstGeom>
          <a:solidFill>
            <a:srgbClr val="FFFFFF"/>
          </a:soli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AutoShape 4">
            <a:extLst>
              <a:ext uri="{FF2B5EF4-FFF2-40B4-BE49-F238E27FC236}">
                <a16:creationId xmlns:a16="http://schemas.microsoft.com/office/drawing/2014/main" id="{DE8281CA-734C-42D6-BE5C-476C1BC50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579" y="3413531"/>
            <a:ext cx="369888" cy="321804"/>
          </a:xfrm>
          <a:prstGeom prst="downArrow">
            <a:avLst>
              <a:gd name="adj1" fmla="val 50000"/>
              <a:gd name="adj2" fmla="val 58152"/>
            </a:avLst>
          </a:prstGeom>
          <a:solidFill>
            <a:srgbClr val="FFFFFF"/>
          </a:soli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AutoShape 5">
            <a:extLst>
              <a:ext uri="{FF2B5EF4-FFF2-40B4-BE49-F238E27FC236}">
                <a16:creationId xmlns:a16="http://schemas.microsoft.com/office/drawing/2014/main" id="{86AB4060-B1D5-4C84-A654-4D65B577B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579" y="4143773"/>
            <a:ext cx="369888" cy="291390"/>
          </a:xfrm>
          <a:prstGeom prst="downArrow">
            <a:avLst>
              <a:gd name="adj1" fmla="val 50000"/>
              <a:gd name="adj2" fmla="val 31760"/>
            </a:avLst>
          </a:prstGeom>
          <a:solidFill>
            <a:srgbClr val="FFFFFF"/>
          </a:soli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7" name="Group 7">
            <a:extLst>
              <a:ext uri="{FF2B5EF4-FFF2-40B4-BE49-F238E27FC236}">
                <a16:creationId xmlns:a16="http://schemas.microsoft.com/office/drawing/2014/main" id="{683BC504-869A-4331-B8AC-63B86D610FBB}"/>
              </a:ext>
            </a:extLst>
          </p:cNvPr>
          <p:cNvGrpSpPr>
            <a:grpSpLocks/>
          </p:cNvGrpSpPr>
          <p:nvPr/>
        </p:nvGrpSpPr>
        <p:grpSpPr bwMode="auto">
          <a:xfrm>
            <a:off x="806545" y="3729880"/>
            <a:ext cx="1631107" cy="461325"/>
            <a:chOff x="4416" y="3190"/>
            <a:chExt cx="915" cy="340"/>
          </a:xfrm>
        </p:grpSpPr>
        <p:sp>
          <p:nvSpPr>
            <p:cNvPr id="118" name="Rectangle 8">
              <a:extLst>
                <a:ext uri="{FF2B5EF4-FFF2-40B4-BE49-F238E27FC236}">
                  <a16:creationId xmlns:a16="http://schemas.microsoft.com/office/drawing/2014/main" id="{FB75BDD5-0409-4399-BFD5-9F07C3F86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216"/>
              <a:ext cx="912" cy="288"/>
            </a:xfrm>
            <a:prstGeom prst="rect">
              <a:avLst/>
            </a:prstGeom>
            <a:solidFill>
              <a:srgbClr val="BBE0E3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333399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Text Box 9">
              <a:extLst>
                <a:ext uri="{FF2B5EF4-FFF2-40B4-BE49-F238E27FC236}">
                  <a16:creationId xmlns:a16="http://schemas.microsoft.com/office/drawing/2014/main" id="{E6CA72FA-9809-412A-B14E-AF65C193A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0" y="3190"/>
              <a:ext cx="881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视口变换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0" name="Group 14">
            <a:extLst>
              <a:ext uri="{FF2B5EF4-FFF2-40B4-BE49-F238E27FC236}">
                <a16:creationId xmlns:a16="http://schemas.microsoft.com/office/drawing/2014/main" id="{7935218C-89A6-4A09-83F7-A25693058353}"/>
              </a:ext>
            </a:extLst>
          </p:cNvPr>
          <p:cNvGrpSpPr>
            <a:grpSpLocks/>
          </p:cNvGrpSpPr>
          <p:nvPr/>
        </p:nvGrpSpPr>
        <p:grpSpPr bwMode="auto">
          <a:xfrm>
            <a:off x="771776" y="1173855"/>
            <a:ext cx="1660525" cy="461962"/>
            <a:chOff x="4383" y="1581"/>
            <a:chExt cx="1008" cy="410"/>
          </a:xfrm>
        </p:grpSpPr>
        <p:sp>
          <p:nvSpPr>
            <p:cNvPr id="121" name="Rectangle 15">
              <a:extLst>
                <a:ext uri="{FF2B5EF4-FFF2-40B4-BE49-F238E27FC236}">
                  <a16:creationId xmlns:a16="http://schemas.microsoft.com/office/drawing/2014/main" id="{2C2C27CC-41B5-437E-BACC-1695CD14E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680"/>
              <a:ext cx="912" cy="287"/>
            </a:xfrm>
            <a:prstGeom prst="rect">
              <a:avLst/>
            </a:prstGeom>
            <a:solidFill>
              <a:srgbClr val="BBE0E3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333399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Text Box 16">
              <a:extLst>
                <a:ext uri="{FF2B5EF4-FFF2-40B4-BE49-F238E27FC236}">
                  <a16:creationId xmlns:a16="http://schemas.microsoft.com/office/drawing/2014/main" id="{156681D7-210C-46E3-A853-97F16F3E9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3" y="1581"/>
              <a:ext cx="1008" cy="4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观察变换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3" name="Group 17">
            <a:extLst>
              <a:ext uri="{FF2B5EF4-FFF2-40B4-BE49-F238E27FC236}">
                <a16:creationId xmlns:a16="http://schemas.microsoft.com/office/drawing/2014/main" id="{E447D133-866E-4297-9AE8-1CBA9953570B}"/>
              </a:ext>
            </a:extLst>
          </p:cNvPr>
          <p:cNvGrpSpPr>
            <a:grpSpLocks/>
          </p:cNvGrpSpPr>
          <p:nvPr/>
        </p:nvGrpSpPr>
        <p:grpSpPr bwMode="auto">
          <a:xfrm>
            <a:off x="832221" y="2410530"/>
            <a:ext cx="1568450" cy="461728"/>
            <a:chOff x="4368" y="2448"/>
            <a:chExt cx="960" cy="341"/>
          </a:xfrm>
        </p:grpSpPr>
        <p:sp>
          <p:nvSpPr>
            <p:cNvPr id="124" name="Rectangle 18">
              <a:extLst>
                <a:ext uri="{FF2B5EF4-FFF2-40B4-BE49-F238E27FC236}">
                  <a16:creationId xmlns:a16="http://schemas.microsoft.com/office/drawing/2014/main" id="{771AD8FE-F920-4870-A123-22452D1A2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448"/>
              <a:ext cx="912" cy="288"/>
            </a:xfrm>
            <a:prstGeom prst="rect">
              <a:avLst/>
            </a:prstGeom>
            <a:solidFill>
              <a:srgbClr val="BBE0E3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333399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Text Box 19">
              <a:extLst>
                <a:ext uri="{FF2B5EF4-FFF2-40B4-BE49-F238E27FC236}">
                  <a16:creationId xmlns:a16="http://schemas.microsoft.com/office/drawing/2014/main" id="{3389A894-EF0C-4130-96B0-1936CD782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2448"/>
              <a:ext cx="960" cy="3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投影变换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6" name="Text Box 20">
            <a:extLst>
              <a:ext uri="{FF2B5EF4-FFF2-40B4-BE49-F238E27FC236}">
                <a16:creationId xmlns:a16="http://schemas.microsoft.com/office/drawing/2014/main" id="{77C82870-49F0-416B-BEB2-443333BA8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586" y="627534"/>
            <a:ext cx="15398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世界坐标</a:t>
            </a:r>
          </a:p>
        </p:txBody>
      </p:sp>
      <p:sp>
        <p:nvSpPr>
          <p:cNvPr id="127" name="Text Box 21">
            <a:extLst>
              <a:ext uri="{FF2B5EF4-FFF2-40B4-BE49-F238E27FC236}">
                <a16:creationId xmlns:a16="http://schemas.microsoft.com/office/drawing/2014/main" id="{EF3839F9-B695-48C8-A6B4-12A500279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160" y="1850556"/>
            <a:ext cx="16541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观察坐标</a:t>
            </a:r>
          </a:p>
        </p:txBody>
      </p:sp>
      <p:sp>
        <p:nvSpPr>
          <p:cNvPr id="128" name="Text Box 22">
            <a:extLst>
              <a:ext uri="{FF2B5EF4-FFF2-40B4-BE49-F238E27FC236}">
                <a16:creationId xmlns:a16="http://schemas.microsoft.com/office/drawing/2014/main" id="{B40123F8-821F-4F18-B2D6-A716FF30F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721" y="3075806"/>
            <a:ext cx="15525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投影坐标</a:t>
            </a:r>
          </a:p>
        </p:txBody>
      </p:sp>
      <p:sp>
        <p:nvSpPr>
          <p:cNvPr id="129" name="Text Box 23">
            <a:extLst>
              <a:ext uri="{FF2B5EF4-FFF2-40B4-BE49-F238E27FC236}">
                <a16:creationId xmlns:a16="http://schemas.microsoft.com/office/drawing/2014/main" id="{A264A986-FCFA-46F7-A11D-B68ED821F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545" y="4365294"/>
            <a:ext cx="15589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屏幕坐标</a:t>
            </a:r>
          </a:p>
        </p:txBody>
      </p:sp>
      <p:sp>
        <p:nvSpPr>
          <p:cNvPr id="130" name="Rectangle 29">
            <a:extLst>
              <a:ext uri="{FF2B5EF4-FFF2-40B4-BE49-F238E27FC236}">
                <a16:creationId xmlns:a16="http://schemas.microsoft.com/office/drawing/2014/main" id="{1CF3FE16-35FD-4AFF-876B-BF3EFC9F5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118098"/>
            <a:ext cx="1777998" cy="642933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Rectangle 34">
            <a:extLst>
              <a:ext uri="{FF2B5EF4-FFF2-40B4-BE49-F238E27FC236}">
                <a16:creationId xmlns:a16="http://schemas.microsoft.com/office/drawing/2014/main" id="{B465AD0D-BE7B-427D-94D9-98653C0B8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534" y="2308337"/>
            <a:ext cx="1758950" cy="708022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39">
            <a:extLst>
              <a:ext uri="{FF2B5EF4-FFF2-40B4-BE49-F238E27FC236}">
                <a16:creationId xmlns:a16="http://schemas.microsoft.com/office/drawing/2014/main" id="{85E094E2-0142-45C0-B9C7-76F68AFFB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60" y="3632306"/>
            <a:ext cx="1778000" cy="708022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AutoShape 43">
            <a:extLst>
              <a:ext uri="{FF2B5EF4-FFF2-40B4-BE49-F238E27FC236}">
                <a16:creationId xmlns:a16="http://schemas.microsoft.com/office/drawing/2014/main" id="{7C34268F-A59A-460F-A3AC-2028F3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129" y="999727"/>
            <a:ext cx="369888" cy="235780"/>
          </a:xfrm>
          <a:prstGeom prst="downArrow">
            <a:avLst>
              <a:gd name="adj1" fmla="val 50000"/>
              <a:gd name="adj2" fmla="val 26502"/>
            </a:avLst>
          </a:prstGeom>
          <a:solidFill>
            <a:srgbClr val="FFFFFF"/>
          </a:soli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AutoShape 3">
            <a:extLst>
              <a:ext uri="{FF2B5EF4-FFF2-40B4-BE49-F238E27FC236}">
                <a16:creationId xmlns:a16="http://schemas.microsoft.com/office/drawing/2014/main" id="{0CE12E4E-52AE-4B68-ACB1-63446BA62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9590" y="2254770"/>
            <a:ext cx="369888" cy="262859"/>
          </a:xfrm>
          <a:prstGeom prst="downArrow">
            <a:avLst>
              <a:gd name="adj1" fmla="val 50000"/>
              <a:gd name="adj2" fmla="val 52897"/>
            </a:avLst>
          </a:prstGeom>
          <a:solidFill>
            <a:srgbClr val="FFFFFF"/>
          </a:soli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AutoShape 3">
            <a:extLst>
              <a:ext uri="{FF2B5EF4-FFF2-40B4-BE49-F238E27FC236}">
                <a16:creationId xmlns:a16="http://schemas.microsoft.com/office/drawing/2014/main" id="{0C3B3BC6-F35B-40A7-84EF-404D980F5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9590" y="2884401"/>
            <a:ext cx="369888" cy="335421"/>
          </a:xfrm>
          <a:prstGeom prst="downArrow">
            <a:avLst>
              <a:gd name="adj1" fmla="val 50000"/>
              <a:gd name="adj2" fmla="val 52897"/>
            </a:avLst>
          </a:prstGeom>
          <a:solidFill>
            <a:srgbClr val="FFFFFF"/>
          </a:soli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7" name="Picture 46">
            <a:extLst>
              <a:ext uri="{FF2B5EF4-FFF2-40B4-BE49-F238E27FC236}">
                <a16:creationId xmlns:a16="http://schemas.microsoft.com/office/drawing/2014/main" id="{85E784D6-6B5B-4FB3-874F-84E5F01E1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63" t="13907" r="20766" b="50000"/>
          <a:stretch>
            <a:fillRect/>
          </a:stretch>
        </p:blipFill>
        <p:spPr bwMode="auto">
          <a:xfrm>
            <a:off x="5336604" y="-2292"/>
            <a:ext cx="3512691" cy="2412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" name="Text Box 26">
            <a:extLst>
              <a:ext uri="{FF2B5EF4-FFF2-40B4-BE49-F238E27FC236}">
                <a16:creationId xmlns:a16="http://schemas.microsoft.com/office/drawing/2014/main" id="{810D6D5E-6EE5-4F7B-A26F-192F4C147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3369" y="1712020"/>
            <a:ext cx="1680958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kumimoji="1" lang="zh-CN" altLang="en-US" sz="24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</a:p>
        </p:txBody>
      </p:sp>
      <p:pic>
        <p:nvPicPr>
          <p:cNvPr id="139" name="Picture 4">
            <a:extLst>
              <a:ext uri="{FF2B5EF4-FFF2-40B4-BE49-F238E27FC236}">
                <a16:creationId xmlns:a16="http://schemas.microsoft.com/office/drawing/2014/main" id="{299AE3D4-8FE2-4D72-A1A1-742E41EAC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457" y="1922481"/>
            <a:ext cx="3016285" cy="1257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" name="Text Box 26">
            <a:extLst>
              <a:ext uri="{FF2B5EF4-FFF2-40B4-BE49-F238E27FC236}">
                <a16:creationId xmlns:a16="http://schemas.microsoft.com/office/drawing/2014/main" id="{3BDD7920-E20A-4DE5-954E-DA0E99635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2542" y="3306638"/>
            <a:ext cx="2006681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投影变换</a:t>
            </a:r>
          </a:p>
        </p:txBody>
      </p:sp>
      <p:pic>
        <p:nvPicPr>
          <p:cNvPr id="141" name="Picture 2">
            <a:extLst>
              <a:ext uri="{FF2B5EF4-FFF2-40B4-BE49-F238E27FC236}">
                <a16:creationId xmlns:a16="http://schemas.microsoft.com/office/drawing/2014/main" id="{69D543E4-80E8-489C-A369-3AB01F924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075" y="3083996"/>
            <a:ext cx="2627055" cy="1702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2" name="Text Box 26">
            <a:extLst>
              <a:ext uri="{FF2B5EF4-FFF2-40B4-BE49-F238E27FC236}">
                <a16:creationId xmlns:a16="http://schemas.microsoft.com/office/drawing/2014/main" id="{7B2BD9F8-DF54-4B60-91F7-8E45AC579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2509321"/>
            <a:ext cx="1663700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视口变换</a:t>
            </a:r>
          </a:p>
        </p:txBody>
      </p:sp>
    </p:spTree>
    <p:extLst>
      <p:ext uri="{BB962C8B-B14F-4D97-AF65-F5344CB8AC3E}">
        <p14:creationId xmlns:p14="http://schemas.microsoft.com/office/powerpoint/2010/main" val="295861438"/>
      </p:ext>
    </p:extLst>
  </p:cSld>
  <p:clrMapOvr>
    <a:masterClrMapping/>
  </p:clrMapOvr>
  <p:transition spd="med" advClick="0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0916FA2-A6D4-45E8-83B5-3EF3D6E75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3" y="714078"/>
            <a:ext cx="8380286" cy="39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5pPr>
            <a:lvl6pPr marL="2514663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6pPr>
            <a:lvl7pPr marL="2971874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7pPr>
            <a:lvl8pPr marL="3429086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8pPr>
            <a:lvl9pPr marL="3886297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将世界坐标系中的物体转换为观察坐标系下</a:t>
            </a:r>
            <a:endParaRPr lang="en-US" altLang="zh-CN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133B2A4F-D7A6-4C1F-8E1F-D63900C09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853" y="1927088"/>
            <a:ext cx="1925764" cy="442507"/>
          </a:xfrm>
          <a:prstGeom prst="wedgeRoundRectCallout">
            <a:avLst>
              <a:gd name="adj1" fmla="val 76333"/>
              <a:gd name="adj2" fmla="val 19903"/>
              <a:gd name="adj3" fmla="val 16667"/>
            </a:avLst>
          </a:prstGeom>
          <a:gradFill rotWithShape="1">
            <a:gsLst>
              <a:gs pos="0">
                <a:srgbClr val="333399">
                  <a:tint val="50000"/>
                  <a:satMod val="300000"/>
                </a:srgbClr>
              </a:gs>
              <a:gs pos="35000">
                <a:srgbClr val="333399">
                  <a:tint val="37000"/>
                  <a:satMod val="300000"/>
                </a:srgbClr>
              </a:gs>
              <a:gs pos="100000">
                <a:srgbClr val="33339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如何解决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46">
            <a:extLst>
              <a:ext uri="{FF2B5EF4-FFF2-40B4-BE49-F238E27FC236}">
                <a16:creationId xmlns:a16="http://schemas.microsoft.com/office/drawing/2014/main" id="{2F04BE98-72B1-42EA-A144-DFAD2F52B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63" t="13907" r="20766" b="50000"/>
          <a:stretch>
            <a:fillRect/>
          </a:stretch>
        </p:blipFill>
        <p:spPr bwMode="auto">
          <a:xfrm>
            <a:off x="4447244" y="1203598"/>
            <a:ext cx="4370388" cy="300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AutoShape 4">
            <a:extLst>
              <a:ext uri="{FF2B5EF4-FFF2-40B4-BE49-F238E27FC236}">
                <a16:creationId xmlns:a16="http://schemas.microsoft.com/office/drawing/2014/main" id="{441AF235-D4D0-4997-A45A-5CC0CBF67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3817" y="2769689"/>
            <a:ext cx="1833624" cy="442507"/>
          </a:xfrm>
          <a:prstGeom prst="wedgeRoundRectCallout">
            <a:avLst>
              <a:gd name="adj1" fmla="val 77184"/>
              <a:gd name="adj2" fmla="val 14395"/>
              <a:gd name="adj3" fmla="val 16667"/>
            </a:avLst>
          </a:prstGeom>
          <a:gradFill rotWithShape="1">
            <a:gsLst>
              <a:gs pos="0">
                <a:srgbClr val="333399">
                  <a:tint val="50000"/>
                  <a:satMod val="300000"/>
                </a:srgbClr>
              </a:gs>
              <a:gs pos="35000">
                <a:srgbClr val="333399">
                  <a:tint val="37000"/>
                  <a:satMod val="300000"/>
                </a:srgbClr>
              </a:gs>
              <a:gs pos="100000">
                <a:srgbClr val="33339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能否简化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8B2983F9-7C43-46CC-BFBC-46B300638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848" y="3569403"/>
            <a:ext cx="1833624" cy="442507"/>
          </a:xfrm>
          <a:prstGeom prst="wedgeRoundRectCallout">
            <a:avLst>
              <a:gd name="adj1" fmla="val 72928"/>
              <a:gd name="adj2" fmla="val 626"/>
              <a:gd name="adj3" fmla="val 16667"/>
            </a:avLst>
          </a:prstGeom>
          <a:gradFill rotWithShape="1">
            <a:gsLst>
              <a:gs pos="0">
                <a:srgbClr val="333399">
                  <a:tint val="50000"/>
                  <a:satMod val="300000"/>
                </a:srgbClr>
              </a:gs>
              <a:gs pos="35000">
                <a:srgbClr val="333399">
                  <a:tint val="37000"/>
                  <a:satMod val="300000"/>
                </a:srgbClr>
              </a:gs>
              <a:gs pos="100000">
                <a:srgbClr val="33339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二维情况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0814707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C1146E7-9AFC-4A63-90EE-50AFCE719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3" y="629412"/>
            <a:ext cx="8424936" cy="4030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5pPr>
            <a:lvl6pPr marL="2514663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6pPr>
            <a:lvl7pPr marL="2971874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7pPr>
            <a:lvl8pPr marL="3429086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8pPr>
            <a:lvl9pPr marL="3886297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3D       2D</a:t>
            </a:r>
            <a:endParaRPr lang="zh-CN" altLang="en-US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D605846A-AB89-4783-AF58-3A10E4A3C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815" y="3675247"/>
            <a:ext cx="2211247" cy="552687"/>
          </a:xfrm>
          <a:prstGeom prst="wedgeRoundRectCallout">
            <a:avLst>
              <a:gd name="adj1" fmla="val 72928"/>
              <a:gd name="adj2" fmla="val 626"/>
              <a:gd name="adj3" fmla="val 16667"/>
            </a:avLst>
          </a:prstGeom>
          <a:gradFill rotWithShape="1">
            <a:gsLst>
              <a:gs pos="0">
                <a:srgbClr val="333399">
                  <a:tint val="50000"/>
                  <a:satMod val="300000"/>
                </a:srgbClr>
              </a:gs>
              <a:gs pos="35000">
                <a:srgbClr val="333399">
                  <a:tint val="37000"/>
                  <a:satMod val="300000"/>
                </a:srgbClr>
              </a:gs>
              <a:gs pos="100000">
                <a:srgbClr val="33339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问题是什么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CA90CA4C-348C-48EA-8C1E-FED7DDAEFD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464347"/>
              </p:ext>
            </p:extLst>
          </p:nvPr>
        </p:nvGraphicFramePr>
        <p:xfrm>
          <a:off x="5535166" y="1024901"/>
          <a:ext cx="3429323" cy="3093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Visio" r:id="rId6" imgW="2601575" imgH="2346960" progId="Visio.Drawing.11">
                  <p:embed/>
                </p:oleObj>
              </mc:Choice>
              <mc:Fallback>
                <p:oleObj name="Visio" r:id="rId6" imgW="2601575" imgH="2346960" progId="Visio.Drawing.11">
                  <p:embed/>
                  <p:pic>
                    <p:nvPicPr>
                      <p:cNvPr id="39943" name="Object 3">
                        <a:extLst>
                          <a:ext uri="{FF2B5EF4-FFF2-40B4-BE49-F238E27FC236}">
                            <a16:creationId xmlns:a16="http://schemas.microsoft.com/office/drawing/2014/main" id="{5147B245-CE5C-4BB6-8126-B6ABFD5FDA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5166" y="1024901"/>
                        <a:ext cx="3429323" cy="309369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46">
            <a:extLst>
              <a:ext uri="{FF2B5EF4-FFF2-40B4-BE49-F238E27FC236}">
                <a16:creationId xmlns:a16="http://schemas.microsoft.com/office/drawing/2014/main" id="{B6C62A14-04FD-4909-B0F2-5CE458128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63" t="13907" r="20766" b="50000"/>
          <a:stretch>
            <a:fillRect/>
          </a:stretch>
        </p:blipFill>
        <p:spPr bwMode="auto">
          <a:xfrm>
            <a:off x="752898" y="1239329"/>
            <a:ext cx="3111073" cy="2138080"/>
          </a:xfrm>
          <a:prstGeom prst="rect">
            <a:avLst/>
          </a:prstGeom>
          <a:noFill/>
          <a:ln w="317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箭头: 右 1">
            <a:extLst>
              <a:ext uri="{FF2B5EF4-FFF2-40B4-BE49-F238E27FC236}">
                <a16:creationId xmlns:a16="http://schemas.microsoft.com/office/drawing/2014/main" id="{BA12BD72-0416-41AB-A8B1-B41E431D0092}"/>
              </a:ext>
            </a:extLst>
          </p:cNvPr>
          <p:cNvSpPr/>
          <p:nvPr/>
        </p:nvSpPr>
        <p:spPr>
          <a:xfrm>
            <a:off x="1419011" y="856382"/>
            <a:ext cx="504056" cy="874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578AA166-2AF6-43CF-8F5A-D4FE3E666D18}"/>
              </a:ext>
            </a:extLst>
          </p:cNvPr>
          <p:cNvSpPr/>
          <p:nvPr/>
        </p:nvSpPr>
        <p:spPr>
          <a:xfrm>
            <a:off x="4391980" y="2264638"/>
            <a:ext cx="735082" cy="3071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0483768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421C434-545F-4788-A2D5-F75D6E8619FD}"/>
              </a:ext>
            </a:extLst>
          </p:cNvPr>
          <p:cNvSpPr txBox="1">
            <a:spLocks noChangeArrowheads="1"/>
          </p:cNvSpPr>
          <p:nvPr/>
        </p:nvSpPr>
        <p:spPr>
          <a:xfrm>
            <a:off x="467545" y="700088"/>
            <a:ext cx="8424936" cy="11604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输入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: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点在</a:t>
            </a: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xoy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坐标系下坐标为</a:t>
            </a:r>
          </a:p>
          <a:p>
            <a:pPr algn="just" eaLnBrk="1" hangingPunct="1"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输出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: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求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点在新坐标系</a:t>
            </a: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x’o’y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’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下的坐标</a:t>
            </a:r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1B0B2B2F-C2DF-4050-8E86-B7D3B916F6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4511409"/>
              </p:ext>
            </p:extLst>
          </p:nvPr>
        </p:nvGraphicFramePr>
        <p:xfrm>
          <a:off x="5426651" y="700088"/>
          <a:ext cx="940052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name="Equation" r:id="rId6" imgW="368140" imgH="203112" progId="Equation.DSMT4">
                  <p:embed/>
                </p:oleObj>
              </mc:Choice>
              <mc:Fallback>
                <p:oleObj name="Equation" r:id="rId6" imgW="368140" imgH="203112" progId="Equation.DSMT4">
                  <p:embed/>
                  <p:pic>
                    <p:nvPicPr>
                      <p:cNvPr id="3074" name="Object 3">
                        <a:extLst>
                          <a:ext uri="{FF2B5EF4-FFF2-40B4-BE49-F238E27FC236}">
                            <a16:creationId xmlns:a16="http://schemas.microsoft.com/office/drawing/2014/main" id="{AED6A1E5-5094-4D76-AECE-548758E3C3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6651" y="700088"/>
                        <a:ext cx="940052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EAE4CB8A-8014-4697-8F47-24D796E059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0842941"/>
              </p:ext>
            </p:extLst>
          </p:nvPr>
        </p:nvGraphicFramePr>
        <p:xfrm>
          <a:off x="6511156" y="1204913"/>
          <a:ext cx="1135464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Equation" r:id="rId8" imgW="444307" imgH="203112" progId="Equation.DSMT4">
                  <p:embed/>
                </p:oleObj>
              </mc:Choice>
              <mc:Fallback>
                <p:oleObj name="Equation" r:id="rId8" imgW="444307" imgH="203112" progId="Equation.DSMT4">
                  <p:embed/>
                  <p:pic>
                    <p:nvPicPr>
                      <p:cNvPr id="3076" name="Object 4">
                        <a:extLst>
                          <a:ext uri="{FF2B5EF4-FFF2-40B4-BE49-F238E27FC236}">
                            <a16:creationId xmlns:a16="http://schemas.microsoft.com/office/drawing/2014/main" id="{95C4535E-8B68-4FB7-9119-203A98A5ED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1156" y="1204913"/>
                        <a:ext cx="1135464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97F426E3-CD7F-4783-81A7-4286720B75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842915"/>
              </p:ext>
            </p:extLst>
          </p:nvPr>
        </p:nvGraphicFramePr>
        <p:xfrm>
          <a:off x="4932040" y="1137975"/>
          <a:ext cx="4102594" cy="3758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Visio" r:id="rId10" imgW="2265283" imgH="2077760" progId="Visio.Drawing.11">
                  <p:embed/>
                </p:oleObj>
              </mc:Choice>
              <mc:Fallback>
                <p:oleObj name="Visio" r:id="rId10" imgW="2265283" imgH="2077760" progId="Visio.Drawing.11">
                  <p:embed/>
                  <p:pic>
                    <p:nvPicPr>
                      <p:cNvPr id="5128" name="Object 10">
                        <a:extLst>
                          <a:ext uri="{FF2B5EF4-FFF2-40B4-BE49-F238E27FC236}">
                            <a16:creationId xmlns:a16="http://schemas.microsoft.com/office/drawing/2014/main" id="{3CBC14D4-8971-4980-B8F2-BF007183E9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1137975"/>
                        <a:ext cx="4102594" cy="37589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5706302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8D9B7FB-11DA-4D01-BA97-8FBF8507A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728134"/>
            <a:ext cx="8496944" cy="1341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1">
                <a:solidFill>
                  <a:schemeClr val="accent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1">
                <a:solidFill>
                  <a:schemeClr val="accent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1">
                <a:solidFill>
                  <a:schemeClr val="accent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1">
                <a:solidFill>
                  <a:schemeClr val="accent2"/>
                </a:solidFill>
                <a:latin typeface="Arial" charset="0"/>
              </a:defRPr>
            </a:lvl5pPr>
            <a:lvl6pPr marL="457212" algn="ctr" rtl="0" fontAlgn="base">
              <a:spcBef>
                <a:spcPct val="0"/>
              </a:spcBef>
              <a:spcAft>
                <a:spcPct val="0"/>
              </a:spcAft>
              <a:defRPr sz="4401">
                <a:solidFill>
                  <a:schemeClr val="accent2"/>
                </a:solidFill>
                <a:latin typeface="Arial" charset="0"/>
              </a:defRPr>
            </a:lvl6pPr>
            <a:lvl7pPr marL="914423" algn="ctr" rtl="0" fontAlgn="base">
              <a:spcBef>
                <a:spcPct val="0"/>
              </a:spcBef>
              <a:spcAft>
                <a:spcPct val="0"/>
              </a:spcAft>
              <a:defRPr sz="4401">
                <a:solidFill>
                  <a:schemeClr val="accent2"/>
                </a:solidFill>
                <a:latin typeface="Arial" charset="0"/>
              </a:defRPr>
            </a:lvl7pPr>
            <a:lvl8pPr marL="1371634" algn="ctr" rtl="0" fontAlgn="base">
              <a:spcBef>
                <a:spcPct val="0"/>
              </a:spcBef>
              <a:spcAft>
                <a:spcPct val="0"/>
              </a:spcAft>
              <a:defRPr sz="4401">
                <a:solidFill>
                  <a:schemeClr val="accent2"/>
                </a:solidFill>
                <a:latin typeface="Arial" charset="0"/>
              </a:defRPr>
            </a:lvl8pPr>
            <a:lvl9pPr marL="1828846" algn="ctr" rtl="0" fontAlgn="base">
              <a:spcBef>
                <a:spcPct val="0"/>
              </a:spcBef>
              <a:spcAft>
                <a:spcPct val="0"/>
              </a:spcAft>
              <a:defRPr sz="4401">
                <a:solidFill>
                  <a:schemeClr val="accent2"/>
                </a:solidFill>
                <a:latin typeface="Arial" charset="0"/>
              </a:defRPr>
            </a:lvl9pPr>
          </a:lstStyle>
          <a:p>
            <a:pPr indent="-457200" algn="l" eaLnBrk="1" hangingPunct="1">
              <a:buFont typeface="Arial" panose="020B0604020202020204" pitchFamily="34" charset="0"/>
              <a:buChar char="•"/>
            </a:pPr>
            <a:r>
              <a:rPr lang="zh-CN" altLang="en-US" sz="2800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分析</a:t>
            </a:r>
            <a:r>
              <a:rPr lang="zh-CN" altLang="en-US" sz="2800" kern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：核心任务是找到变换矩阵，将对象描述从世界坐标系变换到观察坐标系</a:t>
            </a:r>
            <a:endParaRPr lang="en-US" altLang="zh-CN" sz="2800" kern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indent="-457200" algn="l" eaLnBrk="1" hangingPunct="1">
              <a:buFont typeface="Arial" panose="020B0604020202020204" pitchFamily="34" charset="0"/>
              <a:buChar char="•"/>
            </a:pPr>
            <a:r>
              <a:rPr lang="zh-CN" altLang="en-US" sz="2800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思路</a:t>
            </a:r>
            <a:r>
              <a:rPr lang="zh-CN" altLang="en-US" sz="2800" kern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：通过几何变换找到等价点？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7FFED091-DF8B-4023-AE26-CA2D09B93D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820157"/>
              </p:ext>
            </p:extLst>
          </p:nvPr>
        </p:nvGraphicFramePr>
        <p:xfrm>
          <a:off x="5451082" y="1419622"/>
          <a:ext cx="3669304" cy="3360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Visio" r:id="rId6" imgW="2247964" imgH="2066996" progId="Visio.Drawing.11">
                  <p:embed/>
                </p:oleObj>
              </mc:Choice>
              <mc:Fallback>
                <p:oleObj name="Visio" r:id="rId6" imgW="2247964" imgH="2066996" progId="Visio.Drawing.11">
                  <p:embed/>
                  <p:pic>
                    <p:nvPicPr>
                      <p:cNvPr id="6149" name="Object 6">
                        <a:extLst>
                          <a:ext uri="{FF2B5EF4-FFF2-40B4-BE49-F238E27FC236}">
                            <a16:creationId xmlns:a16="http://schemas.microsoft.com/office/drawing/2014/main" id="{61896370-78A2-4DC7-B95E-58B51A70AE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1082" y="1419622"/>
                        <a:ext cx="3669304" cy="33609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0884717"/>
      </p:ext>
    </p:extLst>
  </p:cSld>
  <p:clrMapOvr>
    <a:masterClrMapping/>
  </p:clrMapOvr>
  <p:transition spd="med" advClick="0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坐标变换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6D10506-8659-494E-BBB9-6441CB3AA660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743260"/>
            <a:ext cx="3448298" cy="65787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可以分两步进行：</a:t>
            </a:r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17B0E552-7D2E-414A-8D51-F98A9B3776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072455"/>
              </p:ext>
            </p:extLst>
          </p:nvPr>
        </p:nvGraphicFramePr>
        <p:xfrm>
          <a:off x="395536" y="994942"/>
          <a:ext cx="4328216" cy="3373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Visio" r:id="rId6" imgW="2896612" imgH="2259032" progId="Visio.Drawing.11">
                  <p:embed/>
                </p:oleObj>
              </mc:Choice>
              <mc:Fallback>
                <p:oleObj name="Visio" r:id="rId6" imgW="2896612" imgH="2259032" progId="Visio.Drawing.11">
                  <p:embed/>
                  <p:pic>
                    <p:nvPicPr>
                      <p:cNvPr id="5122" name="Object 8">
                        <a:extLst>
                          <a:ext uri="{FF2B5EF4-FFF2-40B4-BE49-F238E27FC236}">
                            <a16:creationId xmlns:a16="http://schemas.microsoft.com/office/drawing/2014/main" id="{902375CA-E7D9-49A9-A69D-8F25C3B957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994942"/>
                        <a:ext cx="4328216" cy="33738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F99C6CF1-EF63-4330-BC55-29B534AAFE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898850"/>
              </p:ext>
            </p:extLst>
          </p:nvPr>
        </p:nvGraphicFramePr>
        <p:xfrm>
          <a:off x="5060772" y="615565"/>
          <a:ext cx="3874151" cy="3373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Visio" r:id="rId8" imgW="2221944" imgH="1937325" progId="Visio.Drawing.11">
                  <p:embed/>
                </p:oleObj>
              </mc:Choice>
              <mc:Fallback>
                <p:oleObj name="Visio" r:id="rId8" imgW="2221944" imgH="1937325" progId="Visio.Drawing.11">
                  <p:embed/>
                  <p:pic>
                    <p:nvPicPr>
                      <p:cNvPr id="5123" name="Object 10">
                        <a:extLst>
                          <a:ext uri="{FF2B5EF4-FFF2-40B4-BE49-F238E27FC236}">
                            <a16:creationId xmlns:a16="http://schemas.microsoft.com/office/drawing/2014/main" id="{0B2D5939-275D-4AA7-AF34-9AA3720581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0772" y="615565"/>
                        <a:ext cx="3874151" cy="33738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AutoShape 6">
            <a:extLst>
              <a:ext uri="{FF2B5EF4-FFF2-40B4-BE49-F238E27FC236}">
                <a16:creationId xmlns:a16="http://schemas.microsoft.com/office/drawing/2014/main" id="{A13649CB-FE6C-4AFC-BB2A-FD691B9E8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772" y="4072233"/>
            <a:ext cx="2319540" cy="625460"/>
          </a:xfrm>
          <a:prstGeom prst="wedgeRoundRectCallout">
            <a:avLst>
              <a:gd name="adj1" fmla="val -58895"/>
              <a:gd name="adj2" fmla="val -95952"/>
              <a:gd name="adj3" fmla="val 16667"/>
            </a:avLst>
          </a:prstGeom>
          <a:gradFill rotWithShape="1">
            <a:gsLst>
              <a:gs pos="0">
                <a:srgbClr val="333399">
                  <a:tint val="50000"/>
                  <a:satMod val="300000"/>
                </a:srgbClr>
              </a:gs>
              <a:gs pos="35000">
                <a:srgbClr val="333399">
                  <a:tint val="37000"/>
                  <a:satMod val="300000"/>
                </a:srgbClr>
              </a:gs>
              <a:gs pos="100000">
                <a:srgbClr val="33339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2075" tIns="46038" rIns="92075" bIns="46038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具体每一步？</a:t>
            </a:r>
          </a:p>
        </p:txBody>
      </p:sp>
    </p:spTree>
    <p:extLst>
      <p:ext uri="{BB962C8B-B14F-4D97-AF65-F5344CB8AC3E}">
        <p14:creationId xmlns:p14="http://schemas.microsoft.com/office/powerpoint/2010/main" val="2047099156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坐标变换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36D69DB8-872C-44E2-9AC7-40BDBCCE10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704436"/>
              </p:ext>
            </p:extLst>
          </p:nvPr>
        </p:nvGraphicFramePr>
        <p:xfrm>
          <a:off x="562161" y="286601"/>
          <a:ext cx="3331714" cy="2595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name="Visio" r:id="rId6" imgW="2896612" imgH="2259032" progId="Visio.Drawing.11">
                  <p:embed/>
                </p:oleObj>
              </mc:Choice>
              <mc:Fallback>
                <p:oleObj name="Visio" r:id="rId6" imgW="2896612" imgH="2259032" progId="Visio.Drawing.11">
                  <p:embed/>
                  <p:pic>
                    <p:nvPicPr>
                      <p:cNvPr id="8197" name="Object 9">
                        <a:extLst>
                          <a:ext uri="{FF2B5EF4-FFF2-40B4-BE49-F238E27FC236}">
                            <a16:creationId xmlns:a16="http://schemas.microsoft.com/office/drawing/2014/main" id="{B6D52E38-1105-4727-8424-3273695437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161" y="286601"/>
                        <a:ext cx="3331714" cy="25959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3FFBC65A-BBE2-4AE9-BD6F-E32899519C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8080786"/>
              </p:ext>
            </p:extLst>
          </p:nvPr>
        </p:nvGraphicFramePr>
        <p:xfrm>
          <a:off x="4716016" y="670324"/>
          <a:ext cx="2760235" cy="2403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name="Visio" r:id="rId8" imgW="2221944" imgH="1937325" progId="Visio.Drawing.11">
                  <p:embed/>
                </p:oleObj>
              </mc:Choice>
              <mc:Fallback>
                <p:oleObj name="Visio" r:id="rId8" imgW="2221944" imgH="1937325" progId="Visio.Drawing.11">
                  <p:embed/>
                  <p:pic>
                    <p:nvPicPr>
                      <p:cNvPr id="12298" name="Object 10">
                        <a:extLst>
                          <a:ext uri="{FF2B5EF4-FFF2-40B4-BE49-F238E27FC236}">
                            <a16:creationId xmlns:a16="http://schemas.microsoft.com/office/drawing/2014/main" id="{40CAE078-5487-4870-9000-EF0F65122C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670324"/>
                        <a:ext cx="2760235" cy="2403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CA44B015-3A1E-43EA-A400-8FC9AF552A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28059"/>
              </p:ext>
            </p:extLst>
          </p:nvPr>
        </p:nvGraphicFramePr>
        <p:xfrm>
          <a:off x="1047930" y="2878806"/>
          <a:ext cx="1560840" cy="389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Equation" r:id="rId10" imgW="520474" imgH="139639" progId="Equation.DSMT4">
                  <p:embed/>
                </p:oleObj>
              </mc:Choice>
              <mc:Fallback>
                <p:oleObj name="Equation" r:id="rId10" imgW="520474" imgH="139639" progId="Equation.DSMT4">
                  <p:embed/>
                  <p:pic>
                    <p:nvPicPr>
                      <p:cNvPr id="10242" name="Object 2">
                        <a:extLst>
                          <a:ext uri="{FF2B5EF4-FFF2-40B4-BE49-F238E27FC236}">
                            <a16:creationId xmlns:a16="http://schemas.microsoft.com/office/drawing/2014/main" id="{08851879-43BE-47AA-BC63-6AA807AD00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930" y="2878806"/>
                        <a:ext cx="1560840" cy="3892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B805D2C2-BE4F-49E5-A6EF-4D1141341C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993145"/>
              </p:ext>
            </p:extLst>
          </p:nvPr>
        </p:nvGraphicFramePr>
        <p:xfrm>
          <a:off x="1032154" y="3312357"/>
          <a:ext cx="7367723" cy="1431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Equation" r:id="rId12" imgW="2552700" imgH="533400" progId="Equation.DSMT4">
                  <p:embed/>
                </p:oleObj>
              </mc:Choice>
              <mc:Fallback>
                <p:oleObj name="Equation" r:id="rId12" imgW="2552700" imgH="533400" progId="Equation.DSMT4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1B61C623-9D81-43A4-84DA-EBD8AD849C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2154" y="3312357"/>
                        <a:ext cx="7367723" cy="14319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A766CF3A-654D-4157-9B6F-6ADD73809D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5942489"/>
              </p:ext>
            </p:extLst>
          </p:nvPr>
        </p:nvGraphicFramePr>
        <p:xfrm>
          <a:off x="5148064" y="3309221"/>
          <a:ext cx="1560840" cy="389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" name="Equation" r:id="rId14" imgW="520474" imgH="139639" progId="Equation.DSMT4">
                  <p:embed/>
                </p:oleObj>
              </mc:Choice>
              <mc:Fallback>
                <p:oleObj name="Equation" r:id="rId14" imgW="520474" imgH="139639" progId="Equation.DSMT4">
                  <p:embed/>
                  <p:pic>
                    <p:nvPicPr>
                      <p:cNvPr id="11" name="Object 11">
                        <a:extLst>
                          <a:ext uri="{FF2B5EF4-FFF2-40B4-BE49-F238E27FC236}">
                            <a16:creationId xmlns:a16="http://schemas.microsoft.com/office/drawing/2014/main" id="{0122C7A1-CBC7-4448-9C08-EA214A0EEA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3309221"/>
                        <a:ext cx="1560840" cy="3892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2861008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问题回顾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89C045-65ED-4A88-BE20-E5F9AB2F3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733990"/>
            <a:ext cx="6912768" cy="1359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63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74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86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97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sz="2800" b="1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问题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：已知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P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点在</a:t>
            </a:r>
            <a:r>
              <a:rPr lang="en-US" altLang="zh-CN" sz="2800" kern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xoy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坐标系下坐标为</a:t>
            </a:r>
          </a:p>
          <a:p>
            <a:pPr algn="just" eaLnBrk="1" hangingPunct="1">
              <a:buFontTx/>
              <a:buNone/>
            </a:pP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求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P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点在新坐标系</a:t>
            </a:r>
            <a:r>
              <a:rPr lang="en-US" altLang="zh-CN" sz="2800" kern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x’o’y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’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下的坐标</a:t>
            </a:r>
          </a:p>
        </p:txBody>
      </p:sp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92F3F5CC-8580-409B-9AC5-3642B4F7B6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373947"/>
              </p:ext>
            </p:extLst>
          </p:nvPr>
        </p:nvGraphicFramePr>
        <p:xfrm>
          <a:off x="3419872" y="1529879"/>
          <a:ext cx="3547807" cy="3250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Visio" r:id="rId6" imgW="2265283" imgH="2077760" progId="Visio.Drawing.11">
                  <p:embed/>
                </p:oleObj>
              </mc:Choice>
              <mc:Fallback>
                <p:oleObj name="Visio" r:id="rId6" imgW="2265283" imgH="2077760" progId="Visio.Drawing.11">
                  <p:embed/>
                  <p:pic>
                    <p:nvPicPr>
                      <p:cNvPr id="9223" name="Object 10">
                        <a:extLst>
                          <a:ext uri="{FF2B5EF4-FFF2-40B4-BE49-F238E27FC236}">
                            <a16:creationId xmlns:a16="http://schemas.microsoft.com/office/drawing/2014/main" id="{00BD0E7C-14A8-4A2A-B633-560F286F5F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1529879"/>
                        <a:ext cx="3547807" cy="32506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6">
            <a:extLst>
              <a:ext uri="{FF2B5EF4-FFF2-40B4-BE49-F238E27FC236}">
                <a16:creationId xmlns:a16="http://schemas.microsoft.com/office/drawing/2014/main" id="{057933EA-3088-41B3-A63E-24D2B8BF9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0776" y="2288534"/>
            <a:ext cx="1780785" cy="512991"/>
          </a:xfrm>
          <a:prstGeom prst="wedgeRoundRectCallout">
            <a:avLst>
              <a:gd name="adj1" fmla="val -66104"/>
              <a:gd name="adj2" fmla="val 62992"/>
              <a:gd name="adj3" fmla="val 16667"/>
            </a:avLst>
          </a:prstGeom>
          <a:gradFill rotWithShape="1">
            <a:gsLst>
              <a:gs pos="0">
                <a:srgbClr val="333399">
                  <a:tint val="50000"/>
                  <a:satMod val="300000"/>
                </a:srgbClr>
              </a:gs>
              <a:gs pos="35000">
                <a:srgbClr val="333399">
                  <a:tint val="37000"/>
                  <a:satMod val="300000"/>
                </a:srgbClr>
              </a:gs>
              <a:gs pos="100000">
                <a:srgbClr val="33339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2075" tIns="46038" rIns="92075" bIns="46038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1" lang="zh-CN" altLang="en-US" sz="2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微软雅黑" panose="020B0503020204020204" pitchFamily="34" charset="-122"/>
                <a:cs typeface="+mn-cs"/>
              </a:rPr>
              <a:t>齐次坐标？</a:t>
            </a:r>
          </a:p>
        </p:txBody>
      </p:sp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B0D1E7F7-57C5-4991-B23D-28F4764473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6156854"/>
              </p:ext>
            </p:extLst>
          </p:nvPr>
        </p:nvGraphicFramePr>
        <p:xfrm>
          <a:off x="6250070" y="745089"/>
          <a:ext cx="10080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Equation" r:id="rId8" imgW="368140" imgH="203112" progId="Equation.DSMT4">
                  <p:embed/>
                </p:oleObj>
              </mc:Choice>
              <mc:Fallback>
                <p:oleObj name="Equation" r:id="rId8" imgW="368140" imgH="203112" progId="Equation.DSMT4">
                  <p:embed/>
                  <p:pic>
                    <p:nvPicPr>
                      <p:cNvPr id="9220" name="Object 3">
                        <a:extLst>
                          <a:ext uri="{FF2B5EF4-FFF2-40B4-BE49-F238E27FC236}">
                            <a16:creationId xmlns:a16="http://schemas.microsoft.com/office/drawing/2014/main" id="{913F88C2-F9B3-41EA-9F6D-240AD18EED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0070" y="745089"/>
                        <a:ext cx="100806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303FC686-FDE7-4333-9DA4-F384508469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00650"/>
              </p:ext>
            </p:extLst>
          </p:nvPr>
        </p:nvGraphicFramePr>
        <p:xfrm>
          <a:off x="5601569" y="1251273"/>
          <a:ext cx="1217612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Equation" r:id="rId10" imgW="444307" imgH="203112" progId="Equation.DSMT4">
                  <p:embed/>
                </p:oleObj>
              </mc:Choice>
              <mc:Fallback>
                <p:oleObj name="Equation" r:id="rId10" imgW="444307" imgH="203112" progId="Equation.DSMT4">
                  <p:embed/>
                  <p:pic>
                    <p:nvPicPr>
                      <p:cNvPr id="9224" name="Object 4">
                        <a:extLst>
                          <a:ext uri="{FF2B5EF4-FFF2-40B4-BE49-F238E27FC236}">
                            <a16:creationId xmlns:a16="http://schemas.microsoft.com/office/drawing/2014/main" id="{E0EE3C8B-BED9-4E80-8BF0-2FC8A63259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1569" y="1251273"/>
                        <a:ext cx="1217612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772194"/>
      </p:ext>
    </p:extLst>
  </p:cSld>
  <p:clrMapOvr>
    <a:masterClrMapping/>
  </p:clrMapOvr>
  <p:transition spd="med" advClick="0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坐标变换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908B102B-614E-478D-B6EB-D74E5D5ABE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198621"/>
              </p:ext>
            </p:extLst>
          </p:nvPr>
        </p:nvGraphicFramePr>
        <p:xfrm>
          <a:off x="599362" y="160194"/>
          <a:ext cx="3331714" cy="2595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Visio" r:id="rId6" imgW="2896612" imgH="2259032" progId="Visio.Drawing.11">
                  <p:embed/>
                </p:oleObj>
              </mc:Choice>
              <mc:Fallback>
                <p:oleObj name="Visio" r:id="rId6" imgW="2896612" imgH="2259032" progId="Visio.Drawing.11">
                  <p:embed/>
                  <p:pic>
                    <p:nvPicPr>
                      <p:cNvPr id="6" name="Object 9">
                        <a:extLst>
                          <a:ext uri="{FF2B5EF4-FFF2-40B4-BE49-F238E27FC236}">
                            <a16:creationId xmlns:a16="http://schemas.microsoft.com/office/drawing/2014/main" id="{36D69DB8-872C-44E2-9AC7-40BDBCCE10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362" y="160194"/>
                        <a:ext cx="3331714" cy="25959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C2E301E8-07BE-4E29-8D6C-CE6B3BED37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063241"/>
              </p:ext>
            </p:extLst>
          </p:nvPr>
        </p:nvGraphicFramePr>
        <p:xfrm>
          <a:off x="4458128" y="476251"/>
          <a:ext cx="2760235" cy="2403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5" name="Visio" r:id="rId8" imgW="2221944" imgH="1937325" progId="Visio.Drawing.11">
                  <p:embed/>
                </p:oleObj>
              </mc:Choice>
              <mc:Fallback>
                <p:oleObj name="Visio" r:id="rId8" imgW="2221944" imgH="1937325" progId="Visio.Drawing.11">
                  <p:embed/>
                  <p:pic>
                    <p:nvPicPr>
                      <p:cNvPr id="7" name="Object 10">
                        <a:extLst>
                          <a:ext uri="{FF2B5EF4-FFF2-40B4-BE49-F238E27FC236}">
                            <a16:creationId xmlns:a16="http://schemas.microsoft.com/office/drawing/2014/main" id="{3FFBC65A-BBE2-4AE9-BD6F-E32899519C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8128" y="476251"/>
                        <a:ext cx="2760235" cy="2403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7ED1F1DF-8ADF-4D17-8B6C-A4323DFBC6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4385754"/>
              </p:ext>
            </p:extLst>
          </p:nvPr>
        </p:nvGraphicFramePr>
        <p:xfrm>
          <a:off x="971600" y="3400078"/>
          <a:ext cx="5677814" cy="1401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6" name="Equation" r:id="rId10" imgW="2057400" imgH="546100" progId="Equation.DSMT4">
                  <p:embed/>
                </p:oleObj>
              </mc:Choice>
              <mc:Fallback>
                <p:oleObj name="Equation" r:id="rId10" imgW="2057400" imgH="546100" progId="Equation.DSMT4">
                  <p:embed/>
                  <p:pic>
                    <p:nvPicPr>
                      <p:cNvPr id="15362" name="Object 2">
                        <a:extLst>
                          <a:ext uri="{FF2B5EF4-FFF2-40B4-BE49-F238E27FC236}">
                            <a16:creationId xmlns:a16="http://schemas.microsoft.com/office/drawing/2014/main" id="{F666397A-E496-4D38-8881-91777FFCF5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3400078"/>
                        <a:ext cx="5677814" cy="14013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4CD2AAAA-B4BD-4EF7-BFCB-B2E176624A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855204"/>
              </p:ext>
            </p:extLst>
          </p:nvPr>
        </p:nvGraphicFramePr>
        <p:xfrm>
          <a:off x="1025211" y="2645389"/>
          <a:ext cx="2664346" cy="469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7" name="Equation" r:id="rId12" imgW="939392" imgH="177723" progId="Equation.DSMT4">
                  <p:embed/>
                </p:oleObj>
              </mc:Choice>
              <mc:Fallback>
                <p:oleObj name="Equation" r:id="rId12" imgW="939392" imgH="177723" progId="Equation.DSMT4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DEA0B06F-FADA-455B-9015-5ACA885379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211" y="2645389"/>
                        <a:ext cx="2664346" cy="4691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15A540AF-37F3-40CD-BDEE-3E420F9B9A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72260"/>
              </p:ext>
            </p:extLst>
          </p:nvPr>
        </p:nvGraphicFramePr>
        <p:xfrm>
          <a:off x="6912876" y="1677067"/>
          <a:ext cx="2088602" cy="434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8" name="Equation" r:id="rId14" imgW="736280" imgH="165028" progId="Equation.DSMT4">
                  <p:embed/>
                </p:oleObj>
              </mc:Choice>
              <mc:Fallback>
                <p:oleObj name="Equation" r:id="rId14" imgW="736280" imgH="165028" progId="Equation.DSMT4">
                  <p:embed/>
                  <p:pic>
                    <p:nvPicPr>
                      <p:cNvPr id="10" name="Object 10">
                        <a:extLst>
                          <a:ext uri="{FF2B5EF4-FFF2-40B4-BE49-F238E27FC236}">
                            <a16:creationId xmlns:a16="http://schemas.microsoft.com/office/drawing/2014/main" id="{43783666-A62C-428B-9013-DB06B567AF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2876" y="1677067"/>
                        <a:ext cx="2088602" cy="4348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60ABCA86-074A-4F64-9CE0-709092CC21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614173"/>
              </p:ext>
            </p:extLst>
          </p:nvPr>
        </p:nvGraphicFramePr>
        <p:xfrm>
          <a:off x="1025211" y="3074238"/>
          <a:ext cx="5293169" cy="467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" name="Equation" r:id="rId16" imgW="1866090" imgH="177723" progId="Equation.DSMT4">
                  <p:embed/>
                </p:oleObj>
              </mc:Choice>
              <mc:Fallback>
                <p:oleObj name="Equation" r:id="rId16" imgW="1866090" imgH="177723" progId="Equation.DSMT4">
                  <p:embed/>
                  <p:pic>
                    <p:nvPicPr>
                      <p:cNvPr id="11" name="Object 11">
                        <a:extLst>
                          <a:ext uri="{FF2B5EF4-FFF2-40B4-BE49-F238E27FC236}">
                            <a16:creationId xmlns:a16="http://schemas.microsoft.com/office/drawing/2014/main" id="{B1D75247-E285-4A46-B8F3-2E2E68389F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211" y="3074238"/>
                        <a:ext cx="5293169" cy="4679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3611397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问题再分析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6C370D9-D579-4C43-AFFB-21D949471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733990"/>
            <a:ext cx="6912768" cy="1359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63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74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86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97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buFontTx/>
              <a:buNone/>
            </a:pPr>
            <a:r>
              <a:rPr lang="zh-CN" altLang="en-US" sz="2800" b="1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问题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：已知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P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点在</a:t>
            </a:r>
            <a:r>
              <a:rPr lang="en-US" altLang="zh-CN" sz="2800" kern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xoy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坐标系下坐标为</a:t>
            </a:r>
          </a:p>
          <a:p>
            <a:pPr algn="just" eaLnBrk="1" hangingPunct="1">
              <a:buFontTx/>
              <a:buNone/>
            </a:pP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求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P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点在新坐标系</a:t>
            </a:r>
            <a:r>
              <a:rPr lang="en-US" altLang="zh-CN" sz="2800" kern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x’o’y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’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下的坐标</a:t>
            </a:r>
          </a:p>
        </p:txBody>
      </p:sp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595C1347-EC09-4F4E-AE63-A84A660319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079356"/>
              </p:ext>
            </p:extLst>
          </p:nvPr>
        </p:nvGraphicFramePr>
        <p:xfrm>
          <a:off x="4980197" y="1529879"/>
          <a:ext cx="3547807" cy="3250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Visio" r:id="rId6" imgW="2265283" imgH="2077760" progId="Visio.Drawing.11">
                  <p:embed/>
                </p:oleObj>
              </mc:Choice>
              <mc:Fallback>
                <p:oleObj name="Visio" r:id="rId6" imgW="2265283" imgH="2077760" progId="Visio.Drawing.11">
                  <p:embed/>
                  <p:pic>
                    <p:nvPicPr>
                      <p:cNvPr id="7" name="Object 10">
                        <a:extLst>
                          <a:ext uri="{FF2B5EF4-FFF2-40B4-BE49-F238E27FC236}">
                            <a16:creationId xmlns:a16="http://schemas.microsoft.com/office/drawing/2014/main" id="{92F3F5CC-8580-409B-9AC5-3642B4F7B6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0197" y="1529879"/>
                        <a:ext cx="3547807" cy="32506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9D2FDD42-2557-45FF-931C-91B92A465E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041621"/>
              </p:ext>
            </p:extLst>
          </p:nvPr>
        </p:nvGraphicFramePr>
        <p:xfrm>
          <a:off x="6250070" y="745089"/>
          <a:ext cx="10080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Equation" r:id="rId8" imgW="368140" imgH="203112" progId="Equation.DSMT4">
                  <p:embed/>
                </p:oleObj>
              </mc:Choice>
              <mc:Fallback>
                <p:oleObj name="Equation" r:id="rId8" imgW="368140" imgH="203112" progId="Equation.DSMT4">
                  <p:embed/>
                  <p:pic>
                    <p:nvPicPr>
                      <p:cNvPr id="9" name="Object 3">
                        <a:extLst>
                          <a:ext uri="{FF2B5EF4-FFF2-40B4-BE49-F238E27FC236}">
                            <a16:creationId xmlns:a16="http://schemas.microsoft.com/office/drawing/2014/main" id="{B0D1E7F7-57C5-4991-B23D-28F4764473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0070" y="745089"/>
                        <a:ext cx="100806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>
            <a:extLst>
              <a:ext uri="{FF2B5EF4-FFF2-40B4-BE49-F238E27FC236}">
                <a16:creationId xmlns:a16="http://schemas.microsoft.com/office/drawing/2014/main" id="{E7F71BED-115D-4972-B9FC-DDDBE564D7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3734699"/>
              </p:ext>
            </p:extLst>
          </p:nvPr>
        </p:nvGraphicFramePr>
        <p:xfrm>
          <a:off x="5601569" y="1251273"/>
          <a:ext cx="1217612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Equation" r:id="rId10" imgW="444307" imgH="203112" progId="Equation.DSMT4">
                  <p:embed/>
                </p:oleObj>
              </mc:Choice>
              <mc:Fallback>
                <p:oleObj name="Equation" r:id="rId10" imgW="444307" imgH="203112" progId="Equation.DSMT4">
                  <p:embed/>
                  <p:pic>
                    <p:nvPicPr>
                      <p:cNvPr id="10" name="Object 4">
                        <a:extLst>
                          <a:ext uri="{FF2B5EF4-FFF2-40B4-BE49-F238E27FC236}">
                            <a16:creationId xmlns:a16="http://schemas.microsoft.com/office/drawing/2014/main" id="{303FC686-FDE7-4333-9DA4-F384508469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1569" y="1251273"/>
                        <a:ext cx="1217612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3">
            <a:extLst>
              <a:ext uri="{FF2B5EF4-FFF2-40B4-BE49-F238E27FC236}">
                <a16:creationId xmlns:a16="http://schemas.microsoft.com/office/drawing/2014/main" id="{7A5CEC00-2433-460E-8BA1-C282B77E3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706" y="2907919"/>
            <a:ext cx="4276725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8" indent="-342908" algn="just">
              <a:spcBef>
                <a:spcPct val="20000"/>
              </a:spcBef>
              <a:defRPr/>
            </a:pP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(1)</a:t>
            </a:r>
            <a:r>
              <a:rPr lang="zh-CN" altLang="en-US" sz="2800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点动，新系→旧系</a:t>
            </a:r>
            <a:endParaRPr lang="en-US" altLang="zh-CN" sz="2800" kern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DA3BC23E-0442-45D4-8C0D-827AE7120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3545087"/>
            <a:ext cx="4503738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8" indent="-342908" algn="just">
              <a:spcBef>
                <a:spcPct val="20000"/>
              </a:spcBef>
              <a:defRPr/>
            </a:pP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(2)</a:t>
            </a:r>
            <a:r>
              <a:rPr lang="zh-CN" altLang="en-US" sz="2800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点不动，旧系→新系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54A9285-9867-43CB-A7A0-B6672B416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978" y="2158724"/>
            <a:ext cx="4276725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8" indent="-342908" algn="just">
              <a:spcBef>
                <a:spcPct val="20000"/>
              </a:spcBef>
              <a:defRPr/>
            </a:pPr>
            <a:r>
              <a:rPr lang="zh-CN" altLang="en-US" sz="2800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只能新系朝旧系移动？</a:t>
            </a:r>
            <a:endParaRPr lang="en-US" altLang="zh-CN" sz="2800" kern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7865384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观察坐标系构建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pic>
        <p:nvPicPr>
          <p:cNvPr id="6" name="Picture 46">
            <a:extLst>
              <a:ext uri="{FF2B5EF4-FFF2-40B4-BE49-F238E27FC236}">
                <a16:creationId xmlns:a16="http://schemas.microsoft.com/office/drawing/2014/main" id="{EEE5A2DD-6239-4367-B9E2-96A55F48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63" t="13907" r="20766" b="50000"/>
          <a:stretch>
            <a:fillRect/>
          </a:stretch>
        </p:blipFill>
        <p:spPr bwMode="auto">
          <a:xfrm>
            <a:off x="5796136" y="1133838"/>
            <a:ext cx="3167960" cy="2176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17F3439-7C5A-4B10-BF80-D15F95D34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85" y="681854"/>
            <a:ext cx="8035230" cy="1234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63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74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86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97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8" marR="0" lvl="0" indent="-34290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视点和观察点组成观察方向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z</a:t>
            </a:r>
            <a:r>
              <a:rPr kumimoji="0" lang="en-US" altLang="zh-CN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v</a:t>
            </a:r>
            <a:r>
              <a:rPr kumimoji="0" lang="zh-CN" altLang="en-US" sz="2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R, </a:t>
            </a:r>
            <a:r>
              <a:rPr kumimoji="0" lang="el-GR" altLang="zh-CN" sz="2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φ</a:t>
            </a:r>
            <a:r>
              <a:rPr kumimoji="0" lang="en-US" altLang="zh-CN" sz="2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, </a:t>
            </a:r>
            <a:r>
              <a:rPr kumimoji="0" lang="az-Cyrl-AZ" altLang="zh-CN" sz="2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ѳ</a:t>
            </a:r>
            <a:endParaRPr kumimoji="0" lang="en-US" altLang="zh-CN" sz="2800" b="0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*</a:t>
            </a:r>
            <a:r>
              <a:rPr kumimoji="0" lang="zh-CN" alt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简单起见，直接选取世界坐标系原点为观察点</a:t>
            </a:r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2E023F3A-680C-42C4-AA2B-9105712209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552121"/>
              </p:ext>
            </p:extLst>
          </p:nvPr>
        </p:nvGraphicFramePr>
        <p:xfrm>
          <a:off x="1042398" y="1916453"/>
          <a:ext cx="2917538" cy="2724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Visio" r:id="rId7" imgW="1999833" imgH="1871901" progId="Visio.Drawing.11">
                  <p:embed/>
                </p:oleObj>
              </mc:Choice>
              <mc:Fallback>
                <p:oleObj name="Visio" r:id="rId7" imgW="1999833" imgH="1871901" progId="Visio.Drawing.11">
                  <p:embed/>
                  <p:pic>
                    <p:nvPicPr>
                      <p:cNvPr id="2" name="Object 2">
                        <a:extLst>
                          <a:ext uri="{FF2B5EF4-FFF2-40B4-BE49-F238E27FC236}">
                            <a16:creationId xmlns:a16="http://schemas.microsoft.com/office/drawing/2014/main" id="{AA025267-8D32-487C-872A-22FB51A980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398" y="1916453"/>
                        <a:ext cx="2917538" cy="2724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C73E97F9-8982-456C-9D6E-CAC7D44DD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407" y="3286373"/>
            <a:ext cx="4608512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8" indent="-342908" algn="just">
              <a:spcBef>
                <a:spcPct val="20000"/>
              </a:spcBef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(1)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点动，新系→旧系：几何变换</a:t>
            </a:r>
            <a:endParaRPr lang="en-US" altLang="zh-CN" sz="2400" kern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A727469-4C1D-4250-B63C-88A4CF4C5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3806745"/>
            <a:ext cx="4752528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8" indent="-342908" algn="just">
              <a:spcBef>
                <a:spcPct val="20000"/>
              </a:spcBef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(2)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点不动，旧系→新系：相对运动，变换矩阵参数取反。</a:t>
            </a:r>
          </a:p>
        </p:txBody>
      </p:sp>
    </p:spTree>
    <p:extLst>
      <p:ext uri="{BB962C8B-B14F-4D97-AF65-F5344CB8AC3E}">
        <p14:creationId xmlns:p14="http://schemas.microsoft.com/office/powerpoint/2010/main" val="1404952099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点动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新系→旧系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9AE90BE-7D2D-409A-96FE-EA64CAC05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667069"/>
            <a:ext cx="8330828" cy="399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63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74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86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97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观察变换如何实现？</a:t>
            </a:r>
          </a:p>
        </p:txBody>
      </p:sp>
      <p:pic>
        <p:nvPicPr>
          <p:cNvPr id="7" name="Picture 46">
            <a:extLst>
              <a:ext uri="{FF2B5EF4-FFF2-40B4-BE49-F238E27FC236}">
                <a16:creationId xmlns:a16="http://schemas.microsoft.com/office/drawing/2014/main" id="{874CFCF7-F423-4BEE-BB27-E5006858C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63" t="13907" r="20766" b="50000"/>
          <a:stretch>
            <a:fillRect/>
          </a:stretch>
        </p:blipFill>
        <p:spPr bwMode="auto">
          <a:xfrm>
            <a:off x="4499992" y="732372"/>
            <a:ext cx="4370388" cy="300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1522AFE4-8DF5-4423-8CC0-E959C8F549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113209"/>
              </p:ext>
            </p:extLst>
          </p:nvPr>
        </p:nvGraphicFramePr>
        <p:xfrm>
          <a:off x="583723" y="1176018"/>
          <a:ext cx="4044950" cy="330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Visio" r:id="rId7" imgW="2276395" imgH="1857418" progId="Visio.Drawing.11">
                  <p:embed/>
                </p:oleObj>
              </mc:Choice>
              <mc:Fallback>
                <p:oleObj name="Visio" r:id="rId7" imgW="2276395" imgH="1857418" progId="Visio.Drawing.11">
                  <p:embed/>
                  <p:pic>
                    <p:nvPicPr>
                      <p:cNvPr id="56322" name="Object 2">
                        <a:extLst>
                          <a:ext uri="{FF2B5EF4-FFF2-40B4-BE49-F238E27FC236}">
                            <a16:creationId xmlns:a16="http://schemas.microsoft.com/office/drawing/2014/main" id="{85F6F15A-6D2A-4302-BDC4-F0009B876F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723" y="1176018"/>
                        <a:ext cx="4044950" cy="330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5089332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点动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新系→旧系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413C085-B584-43A7-9185-7937621F3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600075"/>
            <a:ext cx="8784976" cy="4051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63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74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86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97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800" kern="0" dirty="0">
                <a:ea typeface="微软雅黑" panose="020B0503020204020204" pitchFamily="34" charset="-122"/>
              </a:rPr>
              <a:t>平移视点到世界坐标系原点 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B9BC5A61-F047-496D-BBF0-5C992D99EAD9}"/>
              </a:ext>
            </a:extLst>
          </p:cNvPr>
          <p:cNvSpPr>
            <a:spLocks noChangeArrowheads="1"/>
          </p:cNvSpPr>
          <p:nvPr/>
        </p:nvSpPr>
        <p:spPr bwMode="auto">
          <a:xfrm rot="1219701">
            <a:off x="4245823" y="2461702"/>
            <a:ext cx="1568450" cy="457200"/>
          </a:xfrm>
          <a:prstGeom prst="curvedDownArrow">
            <a:avLst>
              <a:gd name="adj1" fmla="val 68611"/>
              <a:gd name="adj2" fmla="val 137222"/>
              <a:gd name="adj3" fmla="val 33333"/>
            </a:avLst>
          </a:prstGeom>
          <a:solidFill>
            <a:srgbClr val="BBE0E3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F8A60167-D8AD-45AC-9360-44D104F351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8514688"/>
              </p:ext>
            </p:extLst>
          </p:nvPr>
        </p:nvGraphicFramePr>
        <p:xfrm>
          <a:off x="395536" y="1351552"/>
          <a:ext cx="4044950" cy="330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Visio" r:id="rId6" imgW="2276395" imgH="1857418" progId="Visio.Drawing.11">
                  <p:embed/>
                </p:oleObj>
              </mc:Choice>
              <mc:Fallback>
                <p:oleObj name="Visio" r:id="rId6" imgW="2276395" imgH="1857418" progId="Visio.Drawing.11">
                  <p:embed/>
                  <p:pic>
                    <p:nvPicPr>
                      <p:cNvPr id="11" name="Object 2">
                        <a:extLst>
                          <a:ext uri="{FF2B5EF4-FFF2-40B4-BE49-F238E27FC236}">
                            <a16:creationId xmlns:a16="http://schemas.microsoft.com/office/drawing/2014/main" id="{8A6D7860-BD82-4F82-B17C-097483E818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351552"/>
                        <a:ext cx="4044950" cy="330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61B69721-843A-46DB-A17B-C30C1821EC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416475"/>
              </p:ext>
            </p:extLst>
          </p:nvPr>
        </p:nvGraphicFramePr>
        <p:xfrm>
          <a:off x="5195888" y="1271063"/>
          <a:ext cx="4044950" cy="330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Visio" r:id="rId8" imgW="2276395" imgH="1857418" progId="Visio.Drawing.11">
                  <p:embed/>
                </p:oleObj>
              </mc:Choice>
              <mc:Fallback>
                <p:oleObj name="Visio" r:id="rId8" imgW="2276395" imgH="1857418" progId="Visio.Drawing.11">
                  <p:embed/>
                  <p:pic>
                    <p:nvPicPr>
                      <p:cNvPr id="13" name="Object 2">
                        <a:extLst>
                          <a:ext uri="{FF2B5EF4-FFF2-40B4-BE49-F238E27FC236}">
                            <a16:creationId xmlns:a16="http://schemas.microsoft.com/office/drawing/2014/main" id="{F92B0FB6-8728-4A73-972E-F00867113E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5888" y="1271063"/>
                        <a:ext cx="4044950" cy="330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5781134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点动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新系→旧系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E6B25FB-265F-463A-B1FC-8CEFEF8E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00088"/>
            <a:ext cx="8568952" cy="398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63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74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86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97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(2) 进行旋转变换分别让</a:t>
            </a:r>
            <a:r>
              <a:rPr lang="en-US" altLang="zh-CN" sz="2800" kern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x</a:t>
            </a:r>
            <a:r>
              <a:rPr lang="en-US" altLang="zh-CN" sz="2800" kern="0" baseline="-300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v</a:t>
            </a:r>
            <a:r>
              <a:rPr lang="en-US" altLang="zh-CN" sz="2800" kern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、y</a:t>
            </a:r>
            <a:r>
              <a:rPr lang="en-US" altLang="zh-CN" sz="2800" kern="0" baseline="-300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v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和</a:t>
            </a:r>
            <a:r>
              <a:rPr lang="en-US" altLang="zh-CN" sz="2800" kern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z</a:t>
            </a:r>
            <a:r>
              <a:rPr lang="en-US" altLang="zh-CN" sz="2800" kern="0" baseline="-300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v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轴对应到世界坐标系中的</a:t>
            </a:r>
            <a:r>
              <a:rPr lang="en-US" altLang="zh-CN" sz="2800" kern="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x、y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和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z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轴。</a:t>
            </a: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AFED24CA-6C5F-4F88-B1EA-1283627AC1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623993"/>
              </p:ext>
            </p:extLst>
          </p:nvPr>
        </p:nvGraphicFramePr>
        <p:xfrm>
          <a:off x="4351338" y="1984375"/>
          <a:ext cx="3341687" cy="270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Visio" r:id="rId6" imgW="2007079" imgH="1762664" progId="Visio.Drawing.11">
                  <p:embed/>
                </p:oleObj>
              </mc:Choice>
              <mc:Fallback>
                <p:oleObj name="Visio" r:id="rId6" imgW="2007079" imgH="1762664" progId="Visio.Drawing.11">
                  <p:embed/>
                  <p:pic>
                    <p:nvPicPr>
                      <p:cNvPr id="15367" name="Object 4">
                        <a:extLst>
                          <a:ext uri="{FF2B5EF4-FFF2-40B4-BE49-F238E27FC236}">
                            <a16:creationId xmlns:a16="http://schemas.microsoft.com/office/drawing/2014/main" id="{96D1A982-2A07-4573-A059-E13716D187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338" y="1984375"/>
                        <a:ext cx="3341687" cy="270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6">
            <a:extLst>
              <a:ext uri="{FF2B5EF4-FFF2-40B4-BE49-F238E27FC236}">
                <a16:creationId xmlns:a16="http://schemas.microsoft.com/office/drawing/2014/main" id="{DC9945EC-631E-4F15-B579-42B41FF17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216" y="1705560"/>
            <a:ext cx="2202668" cy="514266"/>
          </a:xfrm>
          <a:prstGeom prst="wedgeRoundRectCallout">
            <a:avLst>
              <a:gd name="adj1" fmla="val -47332"/>
              <a:gd name="adj2" fmla="val 116070"/>
              <a:gd name="adj3" fmla="val 16667"/>
            </a:avLst>
          </a:prstGeom>
          <a:gradFill rotWithShape="1">
            <a:gsLst>
              <a:gs pos="0">
                <a:srgbClr val="333399">
                  <a:tint val="50000"/>
                  <a:satMod val="300000"/>
                </a:srgbClr>
              </a:gs>
              <a:gs pos="35000">
                <a:srgbClr val="333399">
                  <a:tint val="37000"/>
                  <a:satMod val="300000"/>
                </a:srgbClr>
              </a:gs>
              <a:gs pos="100000">
                <a:srgbClr val="33339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2075" tIns="46038" rIns="92075" bIns="46038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微软雅黑" panose="020B0503020204020204" pitchFamily="34" charset="-122"/>
                <a:cs typeface="+mn-cs"/>
              </a:rPr>
              <a:t>具体每一步？</a:t>
            </a: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CBF65F0A-41F2-4585-AAC0-1E1CE1DBC8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2646008"/>
              </p:ext>
            </p:extLst>
          </p:nvPr>
        </p:nvGraphicFramePr>
        <p:xfrm>
          <a:off x="683568" y="1917962"/>
          <a:ext cx="3447042" cy="2812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Visio" r:id="rId8" imgW="2276395" imgH="1857418" progId="Visio.Drawing.11">
                  <p:embed/>
                </p:oleObj>
              </mc:Choice>
              <mc:Fallback>
                <p:oleObj name="Visio" r:id="rId8" imgW="2276395" imgH="1857418" progId="Visio.Drawing.11">
                  <p:embed/>
                  <p:pic>
                    <p:nvPicPr>
                      <p:cNvPr id="12" name="Object 2">
                        <a:extLst>
                          <a:ext uri="{FF2B5EF4-FFF2-40B4-BE49-F238E27FC236}">
                            <a16:creationId xmlns:a16="http://schemas.microsoft.com/office/drawing/2014/main" id="{94DE9CFB-68EC-45CC-BE81-054163AB08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917962"/>
                        <a:ext cx="3447042" cy="2812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0917450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点不动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旧系→新系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8651FEC-E9CE-4CD4-A196-DD30FDC9E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617" y="626386"/>
            <a:ext cx="7276531" cy="1395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63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74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86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97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800" b="1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观察变换第</a:t>
            </a:r>
            <a:r>
              <a:rPr lang="en-US" altLang="zh-CN" sz="2800" b="1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sz="2800" b="1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种方案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：点不动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,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旧系→新系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(1) 平移世界坐标系原点到视点</a:t>
            </a:r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7C34D8BF-C5CA-4D76-B77C-0549FB005E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244686"/>
              </p:ext>
            </p:extLst>
          </p:nvPr>
        </p:nvGraphicFramePr>
        <p:xfrm>
          <a:off x="4840369" y="1999629"/>
          <a:ext cx="2660576" cy="2484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Visio" r:id="rId6" imgW="1999833" imgH="1871901" progId="Visio.Drawing.11">
                  <p:embed/>
                </p:oleObj>
              </mc:Choice>
              <mc:Fallback>
                <p:oleObj name="Visio" r:id="rId6" imgW="1999833" imgH="1871901" progId="Visio.Drawing.11">
                  <p:embed/>
                  <p:pic>
                    <p:nvPicPr>
                      <p:cNvPr id="11" name="Object 2">
                        <a:extLst>
                          <a:ext uri="{FF2B5EF4-FFF2-40B4-BE49-F238E27FC236}">
                            <a16:creationId xmlns:a16="http://schemas.microsoft.com/office/drawing/2014/main" id="{E3418CEF-57CB-4B3C-8A72-2D319BA6DA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0369" y="1999629"/>
                        <a:ext cx="2660576" cy="24849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AutoShape 6">
            <a:extLst>
              <a:ext uri="{FF2B5EF4-FFF2-40B4-BE49-F238E27FC236}">
                <a16:creationId xmlns:a16="http://schemas.microsoft.com/office/drawing/2014/main" id="{F2EE58B2-B082-465F-BB78-EE335F560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4" y="1275512"/>
            <a:ext cx="2274888" cy="1176972"/>
          </a:xfrm>
          <a:prstGeom prst="wedgeRoundRectCallout">
            <a:avLst>
              <a:gd name="adj1" fmla="val -65207"/>
              <a:gd name="adj2" fmla="val 55944"/>
              <a:gd name="adj3" fmla="val 16667"/>
            </a:avLst>
          </a:prstGeom>
          <a:gradFill rotWithShape="1">
            <a:gsLst>
              <a:gs pos="0">
                <a:srgbClr val="333399">
                  <a:tint val="50000"/>
                  <a:satMod val="300000"/>
                </a:srgbClr>
              </a:gs>
              <a:gs pos="35000">
                <a:srgbClr val="333399">
                  <a:tint val="37000"/>
                  <a:satMod val="300000"/>
                </a:srgbClr>
              </a:gs>
              <a:gs pos="100000">
                <a:srgbClr val="33339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2075" tIns="46038" rIns="92075" bIns="46038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ct val="80000"/>
              <a:buFontTx/>
              <a:buNone/>
              <a:tabLst/>
              <a:defRPr/>
            </a:pPr>
            <a:r>
              <a:rPr kumimoji="1" lang="en-US" altLang="zh-CN" sz="2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O’</a:t>
            </a:r>
            <a:r>
              <a:rPr kumimoji="1" lang="zh-CN" altLang="en-US" sz="2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坐标？</a:t>
            </a:r>
            <a:endParaRPr kumimoji="1" lang="en-US" altLang="zh-CN" sz="28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ct val="80000"/>
              <a:buFontTx/>
              <a:buNone/>
              <a:tabLst/>
              <a:defRPr/>
            </a:pPr>
            <a:r>
              <a:rPr kumimoji="1" lang="zh-CN" altLang="en-US" sz="28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变换矩阵？</a:t>
            </a:r>
          </a:p>
        </p:txBody>
      </p:sp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54D83D82-A947-47C5-8F50-AB6E62707D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235136"/>
              </p:ext>
            </p:extLst>
          </p:nvPr>
        </p:nvGraphicFramePr>
        <p:xfrm>
          <a:off x="974420" y="1931989"/>
          <a:ext cx="2840433" cy="265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" name="Visio" r:id="rId8" imgW="1999833" imgH="1871901" progId="Visio.Drawing.11">
                  <p:embed/>
                </p:oleObj>
              </mc:Choice>
              <mc:Fallback>
                <p:oleObj name="Visio" r:id="rId8" imgW="1999833" imgH="1871901" progId="Visio.Drawing.11">
                  <p:embed/>
                  <p:pic>
                    <p:nvPicPr>
                      <p:cNvPr id="13" name="Object 2">
                        <a:extLst>
                          <a:ext uri="{FF2B5EF4-FFF2-40B4-BE49-F238E27FC236}">
                            <a16:creationId xmlns:a16="http://schemas.microsoft.com/office/drawing/2014/main" id="{4DF6CF56-B46D-400C-BDA9-0701E156FD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4420" y="1931989"/>
                        <a:ext cx="2840433" cy="265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AutoShape 5">
            <a:extLst>
              <a:ext uri="{FF2B5EF4-FFF2-40B4-BE49-F238E27FC236}">
                <a16:creationId xmlns:a16="http://schemas.microsoft.com/office/drawing/2014/main" id="{5C8A4A48-A408-404F-B56E-256C7D710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0828" y="2754008"/>
            <a:ext cx="1568450" cy="457200"/>
          </a:xfrm>
          <a:prstGeom prst="curvedDownArrow">
            <a:avLst>
              <a:gd name="adj1" fmla="val 68611"/>
              <a:gd name="adj2" fmla="val 137222"/>
              <a:gd name="adj3" fmla="val 33333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zh-CN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560953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点不动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旧系→新系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4EDBA64-DAB9-4009-B74B-2B211F048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700088"/>
            <a:ext cx="8153846" cy="1476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63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74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86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97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平移矩阵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T</a:t>
            </a:r>
            <a:r>
              <a:rPr lang="en-US" altLang="zh-CN" sz="2800" kern="0" baseline="-25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endParaRPr lang="zh-CN" altLang="en-US" sz="2800" kern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72F8B7C9-A403-498F-BF01-FFF0F2135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0545" y="3875047"/>
            <a:ext cx="1770832" cy="510609"/>
          </a:xfrm>
          <a:prstGeom prst="wedgeRoundRectCallout">
            <a:avLst>
              <a:gd name="adj1" fmla="val -54849"/>
              <a:gd name="adj2" fmla="val -89292"/>
              <a:gd name="adj3" fmla="val 16667"/>
            </a:avLst>
          </a:prstGeom>
          <a:gradFill rotWithShape="1">
            <a:gsLst>
              <a:gs pos="0">
                <a:srgbClr val="333399">
                  <a:tint val="50000"/>
                  <a:satMod val="300000"/>
                </a:srgbClr>
              </a:gs>
              <a:gs pos="35000">
                <a:srgbClr val="333399">
                  <a:tint val="37000"/>
                  <a:satMod val="300000"/>
                </a:srgbClr>
              </a:gs>
              <a:gs pos="100000">
                <a:srgbClr val="33339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2075" tIns="46038" rIns="92075" bIns="46038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+mn-ea"/>
                <a:cs typeface="+mn-cs"/>
              </a:rPr>
              <a:t>下一步？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4A141BA-4311-4F80-A646-EF7E75EB8D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0808984"/>
              </p:ext>
            </p:extLst>
          </p:nvPr>
        </p:nvGraphicFramePr>
        <p:xfrm>
          <a:off x="500419" y="1419622"/>
          <a:ext cx="3080993" cy="2877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3" name="Visio" r:id="rId6" imgW="1999833" imgH="1871901" progId="Visio.Drawing.11">
                  <p:embed/>
                </p:oleObj>
              </mc:Choice>
              <mc:Fallback>
                <p:oleObj name="Visio" r:id="rId6" imgW="1999833" imgH="1871901" progId="Visio.Drawing.11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16FF016-94A5-4C2F-9A09-64C9BD8C05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19" y="1419622"/>
                        <a:ext cx="3080993" cy="28775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9849357-3F84-45A8-9537-96B66A8BDD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1343846"/>
              </p:ext>
            </p:extLst>
          </p:nvPr>
        </p:nvGraphicFramePr>
        <p:xfrm>
          <a:off x="6191493" y="1981808"/>
          <a:ext cx="2943165" cy="274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4" name="Visio" r:id="rId8" imgW="1999833" imgH="1871901" progId="Visio.Drawing.11">
                  <p:embed/>
                </p:oleObj>
              </mc:Choice>
              <mc:Fallback>
                <p:oleObj name="Visio" r:id="rId8" imgW="1999833" imgH="1871901" progId="Visio.Drawing.11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B429A4C-BD72-4464-A2E3-1F16C9948E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493" y="1981808"/>
                        <a:ext cx="2943165" cy="2748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08B0818-8A19-4126-A997-8684BE3C0D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7839673"/>
              </p:ext>
            </p:extLst>
          </p:nvPr>
        </p:nvGraphicFramePr>
        <p:xfrm>
          <a:off x="3620545" y="757844"/>
          <a:ext cx="2960688" cy="185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5" name="Equation" r:id="rId10" imgW="1447560" imgH="711000" progId="Equation.DSMT4">
                  <p:embed/>
                </p:oleObj>
              </mc:Choice>
              <mc:Fallback>
                <p:oleObj name="Equation" r:id="rId10" imgW="1447560" imgH="7110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95B621B-6D8D-46E6-A5EE-DC30F69974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0545" y="757844"/>
                        <a:ext cx="2960688" cy="185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9417491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点不动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旧系→新系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25EE42F-EE3B-4A2E-B9BB-12AE70CD1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619" y="591547"/>
            <a:ext cx="8107238" cy="1202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63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74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86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97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(2) 绕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z1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轴顺时针旋转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α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，使得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y1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轴位于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lang="en-US" altLang="zh-CN" sz="2800" kern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OA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平面</a:t>
            </a:r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0AED40D6-FE1B-4B52-8EC7-B62FBCDC63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904489"/>
              </p:ext>
            </p:extLst>
          </p:nvPr>
        </p:nvGraphicFramePr>
        <p:xfrm>
          <a:off x="755576" y="1361747"/>
          <a:ext cx="3535514" cy="3302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Visio" r:id="rId6" imgW="1999833" imgH="1871901" progId="Visio.Drawing.11">
                  <p:embed/>
                </p:oleObj>
              </mc:Choice>
              <mc:Fallback>
                <p:oleObj name="Visio" r:id="rId6" imgW="1999833" imgH="1871901" progId="Visio.Drawing.11">
                  <p:embed/>
                  <p:pic>
                    <p:nvPicPr>
                      <p:cNvPr id="2" name="Object 2">
                        <a:extLst>
                          <a:ext uri="{FF2B5EF4-FFF2-40B4-BE49-F238E27FC236}">
                            <a16:creationId xmlns:a16="http://schemas.microsoft.com/office/drawing/2014/main" id="{58AA2164-870F-4531-ACCE-10E5F4365B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361747"/>
                        <a:ext cx="3535514" cy="33020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C92E4EA2-F1FE-4B32-9641-2BD4758A0B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665993"/>
              </p:ext>
            </p:extLst>
          </p:nvPr>
        </p:nvGraphicFramePr>
        <p:xfrm>
          <a:off x="4910869" y="1130324"/>
          <a:ext cx="3658364" cy="3416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Visio" r:id="rId8" imgW="1981088" imgH="1857375" progId="Visio.Drawing.11">
                  <p:embed/>
                </p:oleObj>
              </mc:Choice>
              <mc:Fallback>
                <p:oleObj name="Visio" r:id="rId8" imgW="1981088" imgH="1857375" progId="Visio.Drawing.11">
                  <p:embed/>
                  <p:pic>
                    <p:nvPicPr>
                      <p:cNvPr id="12" name="Object 2">
                        <a:extLst>
                          <a:ext uri="{FF2B5EF4-FFF2-40B4-BE49-F238E27FC236}">
                            <a16:creationId xmlns:a16="http://schemas.microsoft.com/office/drawing/2014/main" id="{B312C47F-C71F-4AA6-B4B0-BF774E576A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0869" y="1130324"/>
                        <a:ext cx="3658364" cy="3416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D4D9B52D-88F6-463C-942A-DB1188553CEB}"/>
              </a:ext>
            </a:extLst>
          </p:cNvPr>
          <p:cNvSpPr/>
          <p:nvPr/>
        </p:nvSpPr>
        <p:spPr>
          <a:xfrm>
            <a:off x="4051139" y="1231058"/>
            <a:ext cx="10230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α= </a:t>
            </a:r>
            <a:r>
              <a:rPr lang="zh-CN" altLang="en-US" sz="28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？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9827FA5-91A9-4BF0-92F0-917CF7B7D5A4}"/>
              </a:ext>
            </a:extLst>
          </p:cNvPr>
          <p:cNvCxnSpPr/>
          <p:nvPr/>
        </p:nvCxnSpPr>
        <p:spPr bwMode="auto">
          <a:xfrm>
            <a:off x="4532173" y="2787774"/>
            <a:ext cx="438130" cy="0"/>
          </a:xfrm>
          <a:prstGeom prst="straightConnector1">
            <a:avLst/>
          </a:prstGeom>
          <a:noFill/>
          <a:ln w="66675" cap="flat" cmpd="sng" algn="ctr">
            <a:solidFill>
              <a:srgbClr val="74C4FF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58176060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点不动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旧系→新系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F45783B-3145-46F0-8900-7CBFE1D44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620998"/>
            <a:ext cx="8280920" cy="1058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63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74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86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97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(2) 绕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z1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轴顺时针旋转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α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，旋转矩阵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T</a:t>
            </a:r>
            <a:r>
              <a:rPr lang="en-US" altLang="zh-CN" sz="2800" kern="0" baseline="-25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？</a:t>
            </a:r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418DF1AE-C235-4479-BD77-ED90508559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155828"/>
              </p:ext>
            </p:extLst>
          </p:nvPr>
        </p:nvGraphicFramePr>
        <p:xfrm>
          <a:off x="755576" y="1347614"/>
          <a:ext cx="3519848" cy="3287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Visio" r:id="rId6" imgW="1999833" imgH="1871901" progId="Visio.Drawing.11">
                  <p:embed/>
                </p:oleObj>
              </mc:Choice>
              <mc:Fallback>
                <p:oleObj name="Visio" r:id="rId6" imgW="1999833" imgH="1871901" progId="Visio.Drawing.11">
                  <p:embed/>
                  <p:pic>
                    <p:nvPicPr>
                      <p:cNvPr id="2" name="Object 2">
                        <a:extLst>
                          <a:ext uri="{FF2B5EF4-FFF2-40B4-BE49-F238E27FC236}">
                            <a16:creationId xmlns:a16="http://schemas.microsoft.com/office/drawing/2014/main" id="{58AA2164-870F-4531-ACCE-10E5F4365B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347614"/>
                        <a:ext cx="3519848" cy="3287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A62BF415-0B9B-4485-AF37-37BC860EF7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7419065"/>
              </p:ext>
            </p:extLst>
          </p:nvPr>
        </p:nvGraphicFramePr>
        <p:xfrm>
          <a:off x="5545754" y="1587220"/>
          <a:ext cx="3345218" cy="3124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Visio" r:id="rId8" imgW="1999833" imgH="1871901" progId="Visio.Drawing.11">
                  <p:embed/>
                </p:oleObj>
              </mc:Choice>
              <mc:Fallback>
                <p:oleObj name="Visio" r:id="rId8" imgW="1999833" imgH="1871901" progId="Visio.Drawing.11">
                  <p:embed/>
                  <p:pic>
                    <p:nvPicPr>
                      <p:cNvPr id="10" name="Object 2">
                        <a:extLst>
                          <a:ext uri="{FF2B5EF4-FFF2-40B4-BE49-F238E27FC236}">
                            <a16:creationId xmlns:a16="http://schemas.microsoft.com/office/drawing/2014/main" id="{B312C47F-C71F-4AA6-B4B0-BF774E576A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5754" y="1587220"/>
                        <a:ext cx="3345218" cy="31243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EF574D7-CB98-4EBE-AF67-B3DEDE8CAFF8}"/>
              </a:ext>
            </a:extLst>
          </p:cNvPr>
          <p:cNvCxnSpPr/>
          <p:nvPr/>
        </p:nvCxnSpPr>
        <p:spPr bwMode="auto">
          <a:xfrm>
            <a:off x="4716016" y="3003798"/>
            <a:ext cx="438130" cy="0"/>
          </a:xfrm>
          <a:prstGeom prst="straightConnector1">
            <a:avLst/>
          </a:prstGeom>
          <a:noFill/>
          <a:ln w="66675" cap="flat" cmpd="sng" algn="ctr">
            <a:solidFill>
              <a:srgbClr val="74C4FF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751675676"/>
      </p:ext>
    </p:extLst>
  </p:cSld>
  <p:clrMapOvr>
    <a:masterClrMapping/>
  </p:clrMapOvr>
  <p:transition spd="med" advClick="0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点不动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旧系→新系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D96D3A1-FA5D-4B7B-88B9-674CF996A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3" y="681946"/>
            <a:ext cx="6346601" cy="809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63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74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86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97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旋转矩阵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T</a:t>
            </a:r>
            <a:r>
              <a:rPr lang="en-US" altLang="zh-CN" sz="2800" kern="0" baseline="-25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endParaRPr lang="zh-CN" altLang="en-US" sz="2800" kern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1C418F7-D41F-4E0A-A407-2EAE747187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30423"/>
              </p:ext>
            </p:extLst>
          </p:nvPr>
        </p:nvGraphicFramePr>
        <p:xfrm>
          <a:off x="706524" y="1368008"/>
          <a:ext cx="4088209" cy="2767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Equation" r:id="rId6" imgW="1841400" imgH="977760" progId="Equation.DSMT4">
                  <p:embed/>
                </p:oleObj>
              </mc:Choice>
              <mc:Fallback>
                <p:oleObj name="Equation" r:id="rId6" imgW="1841400" imgH="9777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F23DB78-7CB2-443D-AC8D-D789F7F12D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524" y="1368008"/>
                        <a:ext cx="4088209" cy="27679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6">
            <a:extLst>
              <a:ext uri="{FF2B5EF4-FFF2-40B4-BE49-F238E27FC236}">
                <a16:creationId xmlns:a16="http://schemas.microsoft.com/office/drawing/2014/main" id="{FC9FC64D-D79F-4038-9051-3F086F0DA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6641" y="3955776"/>
            <a:ext cx="1900835" cy="531847"/>
          </a:xfrm>
          <a:prstGeom prst="wedgeRoundRectCallout">
            <a:avLst>
              <a:gd name="adj1" fmla="val -47671"/>
              <a:gd name="adj2" fmla="val -103851"/>
              <a:gd name="adj3" fmla="val 16667"/>
            </a:avLst>
          </a:prstGeom>
          <a:gradFill rotWithShape="1">
            <a:gsLst>
              <a:gs pos="0">
                <a:srgbClr val="333399">
                  <a:tint val="50000"/>
                  <a:satMod val="300000"/>
                </a:srgbClr>
              </a:gs>
              <a:gs pos="35000">
                <a:srgbClr val="333399">
                  <a:tint val="37000"/>
                  <a:satMod val="300000"/>
                </a:srgbClr>
              </a:gs>
              <a:gs pos="100000">
                <a:srgbClr val="33339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2075" tIns="46038" rIns="92075" bIns="46038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+mn-ea"/>
                <a:cs typeface="+mn-cs"/>
              </a:rPr>
              <a:t>下一步？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2911FC0-7494-4E5D-8974-5CF4F3AAEE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169562"/>
              </p:ext>
            </p:extLst>
          </p:nvPr>
        </p:nvGraphicFramePr>
        <p:xfrm>
          <a:off x="5176298" y="910857"/>
          <a:ext cx="3085052" cy="288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Visio" r:id="rId8" imgW="1981328" imgH="1857418" progId="Visio.Drawing.11">
                  <p:embed/>
                </p:oleObj>
              </mc:Choice>
              <mc:Fallback>
                <p:oleObj name="Visio" r:id="rId8" imgW="1981328" imgH="1857418" progId="Visio.Drawing.11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8F1A8DF0-2158-4EBF-B044-2553608D14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298" y="910857"/>
                        <a:ext cx="3085052" cy="288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2784177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点不动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旧系→新系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423BA1F-BDC8-439F-BC60-B719870E6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800" y="558305"/>
            <a:ext cx="8052640" cy="910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63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74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86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97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) 绕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x1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轴逆时针旋转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β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，使</a:t>
            </a:r>
            <a:r>
              <a:rPr lang="en-US" altLang="zh-CN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z1</a:t>
            </a:r>
            <a:r>
              <a:rPr lang="zh-CN" altLang="en-US" sz="2800" kern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沿视线方向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13EE730A-E8D6-4883-B0B5-4C1B284AA395}"/>
              </a:ext>
            </a:extLst>
          </p:cNvPr>
          <p:cNvSpPr>
            <a:spLocks noChangeArrowheads="1"/>
          </p:cNvSpPr>
          <p:nvPr/>
        </p:nvSpPr>
        <p:spPr bwMode="auto">
          <a:xfrm rot="1219701">
            <a:off x="3965257" y="2771348"/>
            <a:ext cx="1568450" cy="457200"/>
          </a:xfrm>
          <a:prstGeom prst="curvedDownArrow">
            <a:avLst>
              <a:gd name="adj1" fmla="val 68611"/>
              <a:gd name="adj2" fmla="val 137222"/>
              <a:gd name="adj3" fmla="val 33333"/>
            </a:avLst>
          </a:prstGeom>
          <a:solidFill>
            <a:srgbClr val="BBE0E3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021DF0DB-833F-426C-8BA5-B691B6F2A5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042265"/>
              </p:ext>
            </p:extLst>
          </p:nvPr>
        </p:nvGraphicFramePr>
        <p:xfrm>
          <a:off x="768278" y="1563638"/>
          <a:ext cx="3075682" cy="28726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Visio" r:id="rId6" imgW="1999833" imgH="1871901" progId="Visio.Drawing.11">
                  <p:embed/>
                </p:oleObj>
              </mc:Choice>
              <mc:Fallback>
                <p:oleObj name="Visio" r:id="rId6" imgW="1999833" imgH="1871901" progId="Visio.Drawing.11">
                  <p:embed/>
                  <p:pic>
                    <p:nvPicPr>
                      <p:cNvPr id="10" name="Object 2">
                        <a:extLst>
                          <a:ext uri="{FF2B5EF4-FFF2-40B4-BE49-F238E27FC236}">
                            <a16:creationId xmlns:a16="http://schemas.microsoft.com/office/drawing/2014/main" id="{64A36FF0-0BD2-4DDD-9274-0AC272FF5B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278" y="1563638"/>
                        <a:ext cx="3075682" cy="28726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3C613760-307D-4D59-A912-80FEDC2399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261511"/>
              </p:ext>
            </p:extLst>
          </p:nvPr>
        </p:nvGraphicFramePr>
        <p:xfrm>
          <a:off x="5557566" y="1399076"/>
          <a:ext cx="3321594" cy="310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" name="Visio" r:id="rId8" imgW="1999833" imgH="1871901" progId="Visio.Drawing.11">
                  <p:embed/>
                </p:oleObj>
              </mc:Choice>
              <mc:Fallback>
                <p:oleObj name="Visio" r:id="rId8" imgW="1999833" imgH="1871901" progId="Visio.Drawing.11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B6AA0418-AAD0-4A92-B737-C734B90DE7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7566" y="1399076"/>
                        <a:ext cx="3321594" cy="310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B7A9A28C-F7E3-4CD1-9FAD-229CB88B0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33151"/>
            <a:ext cx="1458913" cy="782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20000"/>
              </a:lnSpc>
              <a:defRPr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宋体" pitchFamily="2" charset="-122"/>
              </a:rPr>
              <a:t>β 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 panose="02020603050405020304" pitchFamily="18" charset="0"/>
                <a:ea typeface="华文宋体" pitchFamily="2" charset="-122"/>
              </a:rPr>
              <a:t>=?</a:t>
            </a:r>
            <a:endParaRPr lang="zh-CN" altLang="en-US" sz="2800" kern="0" dirty="0">
              <a:solidFill>
                <a:srgbClr val="000000"/>
              </a:solidFill>
              <a:latin typeface="Times New Roman" panose="02020603050405020304" pitchFamily="18" charset="0"/>
              <a:ea typeface="华文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3787972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点不动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旧系→新系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6FB17EE4-3029-4073-A667-FCA251D94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708629"/>
            <a:ext cx="7992888" cy="74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63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74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86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97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sz="2800" kern="0" dirty="0">
                <a:ea typeface="宋体" panose="02010600030101010101" pitchFamily="2" charset="-122"/>
              </a:rPr>
              <a:t>旋转矩阵</a:t>
            </a:r>
            <a:r>
              <a:rPr lang="en-US" altLang="zh-CN" sz="28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800" kern="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en-US" sz="28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9F8B942-DB8E-4349-A4AA-47F18B1ED4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50873"/>
              </p:ext>
            </p:extLst>
          </p:nvPr>
        </p:nvGraphicFramePr>
        <p:xfrm>
          <a:off x="227630" y="1451500"/>
          <a:ext cx="4883177" cy="2455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Equation" r:id="rId6" imgW="1803240" imgH="711000" progId="Equation.DSMT4">
                  <p:embed/>
                </p:oleObj>
              </mc:Choice>
              <mc:Fallback>
                <p:oleObj name="Equation" r:id="rId6" imgW="1803240" imgH="7110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2DEBDFC-1C37-4A1C-8658-36271371C7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30" y="1451500"/>
                        <a:ext cx="4883177" cy="24553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6">
            <a:extLst>
              <a:ext uri="{FF2B5EF4-FFF2-40B4-BE49-F238E27FC236}">
                <a16:creationId xmlns:a16="http://schemas.microsoft.com/office/drawing/2014/main" id="{C6042668-7920-4F21-9CB6-E3FBA5830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038" y="4046181"/>
            <a:ext cx="1601312" cy="478852"/>
          </a:xfrm>
          <a:prstGeom prst="wedgeRoundRectCallout">
            <a:avLst>
              <a:gd name="adj1" fmla="val -47671"/>
              <a:gd name="adj2" fmla="val -103851"/>
              <a:gd name="adj3" fmla="val 16667"/>
            </a:avLst>
          </a:prstGeom>
          <a:gradFill rotWithShape="1">
            <a:gsLst>
              <a:gs pos="0">
                <a:srgbClr val="333399">
                  <a:tint val="50000"/>
                  <a:satMod val="300000"/>
                </a:srgbClr>
              </a:gs>
              <a:gs pos="35000">
                <a:srgbClr val="333399">
                  <a:tint val="37000"/>
                  <a:satMod val="300000"/>
                </a:srgbClr>
              </a:gs>
              <a:gs pos="100000">
                <a:srgbClr val="33339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2075" tIns="46038" rIns="92075" bIns="46038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+mn-ea"/>
                <a:cs typeface="+mn-cs"/>
              </a:rPr>
              <a:t>下一步？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548329F-D419-456C-9BE2-92C866A13A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912594"/>
              </p:ext>
            </p:extLst>
          </p:nvPr>
        </p:nvGraphicFramePr>
        <p:xfrm>
          <a:off x="5522692" y="785436"/>
          <a:ext cx="3396799" cy="3172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Visio" r:id="rId8" imgW="1999833" imgH="1871901" progId="Visio.Drawing.11">
                  <p:embed/>
                </p:oleObj>
              </mc:Choice>
              <mc:Fallback>
                <p:oleObj name="Visio" r:id="rId8" imgW="1999833" imgH="1871901" progId="Visio.Drawing.11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7C83EE54-332D-45D6-97A4-048E2B9D53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2692" y="785436"/>
                        <a:ext cx="3396799" cy="31725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6476453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点不动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旧系→新系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FC25DBB-F73A-4E83-9301-38ECEFAE7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77" y="600075"/>
            <a:ext cx="7511673" cy="877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63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74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86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97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zh-CN" altLang="en-US" sz="28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) 关于</a:t>
            </a:r>
            <a:r>
              <a:rPr lang="en-US" altLang="zh-CN" sz="28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800" kern="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2800" kern="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800" kern="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平面对称变换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9703230F-5BCA-4992-9566-026B5D0F1D1F}"/>
              </a:ext>
            </a:extLst>
          </p:cNvPr>
          <p:cNvSpPr>
            <a:spLocks noChangeArrowheads="1"/>
          </p:cNvSpPr>
          <p:nvPr/>
        </p:nvSpPr>
        <p:spPr bwMode="auto">
          <a:xfrm rot="1219701">
            <a:off x="3709419" y="2829952"/>
            <a:ext cx="1568450" cy="457200"/>
          </a:xfrm>
          <a:prstGeom prst="curvedDownArrow">
            <a:avLst>
              <a:gd name="adj1" fmla="val 68611"/>
              <a:gd name="adj2" fmla="val 137222"/>
              <a:gd name="adj3" fmla="val 33333"/>
            </a:avLst>
          </a:prstGeom>
          <a:solidFill>
            <a:srgbClr val="BBE0E3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D0D0E0C9-F37C-4A67-8E73-005F056EC3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451936"/>
              </p:ext>
            </p:extLst>
          </p:nvPr>
        </p:nvGraphicFramePr>
        <p:xfrm>
          <a:off x="499414" y="1572614"/>
          <a:ext cx="3336147" cy="3115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Visio" r:id="rId6" imgW="1999833" imgH="1871901" progId="Visio.Drawing.11">
                  <p:embed/>
                </p:oleObj>
              </mc:Choice>
              <mc:Fallback>
                <p:oleObj name="Visio" r:id="rId6" imgW="1999833" imgH="1871901" progId="Visio.Drawing.11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B73EE7A8-F52E-4D19-9986-F98080D927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414" y="1572614"/>
                        <a:ext cx="3336147" cy="31158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81EE2E41-515C-4784-A35E-B687CF8339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980584"/>
              </p:ext>
            </p:extLst>
          </p:nvPr>
        </p:nvGraphicFramePr>
        <p:xfrm>
          <a:off x="5496302" y="1804099"/>
          <a:ext cx="3193296" cy="2982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" name="Visio" r:id="rId8" imgW="1999833" imgH="1871901" progId="Visio.Drawing.11">
                  <p:embed/>
                </p:oleObj>
              </mc:Choice>
              <mc:Fallback>
                <p:oleObj name="Visio" r:id="rId8" imgW="1999833" imgH="1871901" progId="Visio.Drawing.11">
                  <p:embed/>
                  <p:pic>
                    <p:nvPicPr>
                      <p:cNvPr id="9" name="Object 2">
                        <a:extLst>
                          <a:ext uri="{FF2B5EF4-FFF2-40B4-BE49-F238E27FC236}">
                            <a16:creationId xmlns:a16="http://schemas.microsoft.com/office/drawing/2014/main" id="{0188D5C4-FB19-457B-8411-632CEA839D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6302" y="1804099"/>
                        <a:ext cx="3193296" cy="29824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8B2FC337-928D-4C09-891B-144A09CA8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088" y="620713"/>
            <a:ext cx="2528888" cy="67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20000"/>
              </a:lnSpc>
              <a:defRPr/>
            </a:pP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变换矩阵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?</a:t>
            </a:r>
            <a:endParaRPr lang="zh-CN" altLang="en-US" sz="2800" kern="0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1501860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点不动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旧系→新系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8B320DC-4A0E-4187-9490-ADCF0AF8E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78" y="699575"/>
            <a:ext cx="4228699" cy="830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63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74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86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97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对称变换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800" kern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1388001-1DEF-49C5-B853-DF5B35031E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984615"/>
              </p:ext>
            </p:extLst>
          </p:nvPr>
        </p:nvGraphicFramePr>
        <p:xfrm>
          <a:off x="3497250" y="696917"/>
          <a:ext cx="2293516" cy="2155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8" name="Equation" r:id="rId6" imgW="965200" imgH="711200" progId="Equation.DSMT4">
                  <p:embed/>
                </p:oleObj>
              </mc:Choice>
              <mc:Fallback>
                <p:oleObj name="Equation" r:id="rId6" imgW="965200" imgH="71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2919526-548D-4934-B001-268B1F7A33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50" y="696917"/>
                        <a:ext cx="2293516" cy="21551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471340A-AC39-495F-B5AF-3488F0826F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0626004"/>
              </p:ext>
            </p:extLst>
          </p:nvPr>
        </p:nvGraphicFramePr>
        <p:xfrm>
          <a:off x="5361184" y="1426497"/>
          <a:ext cx="3463532" cy="3234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9" name="Visio" r:id="rId8" imgW="1999833" imgH="1871901" progId="Visio.Drawing.11">
                  <p:embed/>
                </p:oleObj>
              </mc:Choice>
              <mc:Fallback>
                <p:oleObj name="Visio" r:id="rId8" imgW="1999833" imgH="1871901" progId="Visio.Drawing.11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21797313-2884-4133-B245-BA4A8A1F5E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1184" y="1426497"/>
                        <a:ext cx="3463532" cy="32347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F8B060F-8694-4590-89B2-8FB6D115A4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962483"/>
              </p:ext>
            </p:extLst>
          </p:nvPr>
        </p:nvGraphicFramePr>
        <p:xfrm>
          <a:off x="396804" y="1347614"/>
          <a:ext cx="3632274" cy="3392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" name="Visio" r:id="rId10" imgW="1999833" imgH="1871901" progId="Visio.Drawing.11">
                  <p:embed/>
                </p:oleObj>
              </mc:Choice>
              <mc:Fallback>
                <p:oleObj name="Visio" r:id="rId10" imgW="1999833" imgH="1871901" progId="Visio.Drawing.11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D6571AF-B9E1-4BD8-9BC4-C3858D0188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04" y="1347614"/>
                        <a:ext cx="3632274" cy="33924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4508583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点不动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旧系→新系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968B4CF-5C36-42C4-9308-43A693AF3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316" y="700088"/>
            <a:ext cx="5999747" cy="103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8" indent="-34290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28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40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52" indent="-228606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63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74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86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97" indent="-228606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变换矩阵</a:t>
            </a:r>
          </a:p>
        </p:txBody>
      </p:sp>
      <p:graphicFrame>
        <p:nvGraphicFramePr>
          <p:cNvPr id="7" name="对象 5">
            <a:extLst>
              <a:ext uri="{FF2B5EF4-FFF2-40B4-BE49-F238E27FC236}">
                <a16:creationId xmlns:a16="http://schemas.microsoft.com/office/drawing/2014/main" id="{FD2E6F09-98CB-4A8A-9BB3-795A42E1E8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47975"/>
              </p:ext>
            </p:extLst>
          </p:nvPr>
        </p:nvGraphicFramePr>
        <p:xfrm>
          <a:off x="2247744" y="781611"/>
          <a:ext cx="1970243" cy="56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" name="Equation" r:id="rId6" imgW="571320" imgH="177480" progId="Equation.DSMT4">
                  <p:embed/>
                </p:oleObj>
              </mc:Choice>
              <mc:Fallback>
                <p:oleObj name="Equation" r:id="rId6" imgW="571320" imgH="177480" progId="Equation.DSMT4">
                  <p:embed/>
                  <p:pic>
                    <p:nvPicPr>
                      <p:cNvPr id="25606" name="对象 5">
                        <a:extLst>
                          <a:ext uri="{FF2B5EF4-FFF2-40B4-BE49-F238E27FC236}">
                            <a16:creationId xmlns:a16="http://schemas.microsoft.com/office/drawing/2014/main" id="{F9D86169-A0BC-41D8-9810-7A639A8430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744" y="781611"/>
                        <a:ext cx="1970243" cy="56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706EF0F-750B-4BD4-9882-8B2D83F7F8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1225358"/>
              </p:ext>
            </p:extLst>
          </p:nvPr>
        </p:nvGraphicFramePr>
        <p:xfrm>
          <a:off x="467544" y="2755896"/>
          <a:ext cx="6550449" cy="1881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" name="Equation" r:id="rId8" imgW="3149280" imgH="774360" progId="Equation.DSMT4">
                  <p:embed/>
                </p:oleObj>
              </mc:Choice>
              <mc:Fallback>
                <p:oleObj name="Equation" r:id="rId8" imgW="3149280" imgH="774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99A7C60-956C-4C44-898C-422BC5CD67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2755896"/>
                        <a:ext cx="6550449" cy="1881564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CA0F928-8125-4CD0-A496-4D3AF717D7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2725833"/>
              </p:ext>
            </p:extLst>
          </p:nvPr>
        </p:nvGraphicFramePr>
        <p:xfrm>
          <a:off x="6289684" y="18584"/>
          <a:ext cx="2844974" cy="265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4" name="Visio" r:id="rId10" imgW="1999833" imgH="1871901" progId="Visio.Drawing.11">
                  <p:embed/>
                </p:oleObj>
              </mc:Choice>
              <mc:Fallback>
                <p:oleObj name="Visio" r:id="rId10" imgW="1999833" imgH="1871901" progId="Visio.Drawing.11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E7C8229-3117-44BF-BE71-17EEE658A4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9684" y="18584"/>
                        <a:ext cx="2844974" cy="265690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333399">
                              <a:tint val="50000"/>
                              <a:satMod val="300000"/>
                            </a:srgbClr>
                          </a:gs>
                          <a:gs pos="0">
                            <a:srgbClr val="333399">
                              <a:tint val="37000"/>
                              <a:satMod val="300000"/>
                            </a:srgbClr>
                          </a:gs>
                          <a:gs pos="100000">
                            <a:srgbClr val="333399">
                              <a:tint val="15000"/>
                              <a:satMod val="350000"/>
                            </a:srgbClr>
                          </a:gs>
                        </a:gsLst>
                        <a:lin ang="16200000" scaled="1"/>
                      </a:gra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3614444"/>
      </p:ext>
    </p:extLst>
  </p:cSld>
  <p:clrMapOvr>
    <a:masterClrMapping/>
  </p:clrMapOvr>
  <p:transition spd="med" advClick="0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点不动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旧系→新系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AE00ACA-1983-4701-813B-DB4C2D8EBF36}"/>
              </a:ext>
            </a:extLst>
          </p:cNvPr>
          <p:cNvSpPr txBox="1">
            <a:spLocks noChangeArrowheads="1"/>
          </p:cNvSpPr>
          <p:nvPr/>
        </p:nvSpPr>
        <p:spPr>
          <a:xfrm>
            <a:off x="467544" y="739606"/>
            <a:ext cx="7356909" cy="189938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ea typeface="微软雅黑" panose="020B0503020204020204" pitchFamily="34" charset="-122"/>
              </a:rPr>
              <a:t>观察变换矩阵总结</a:t>
            </a:r>
            <a:endParaRPr lang="en-US" altLang="zh-CN" sz="2800" dirty="0"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ea typeface="微软雅黑" panose="020B0503020204020204" pitchFamily="34" charset="-122"/>
              </a:rPr>
              <a:t>平移变换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ea typeface="微软雅黑" panose="020B0503020204020204" pitchFamily="34" charset="-122"/>
              </a:rPr>
              <a:t>两次旋转变换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ea typeface="微软雅黑" panose="020B0503020204020204" pitchFamily="34" charset="-122"/>
              </a:rPr>
              <a:t>对称变换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683E83F-33F4-4537-B8AB-7327AA1136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881079"/>
              </p:ext>
            </p:extLst>
          </p:nvPr>
        </p:nvGraphicFramePr>
        <p:xfrm>
          <a:off x="4841063" y="934869"/>
          <a:ext cx="4154488" cy="387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Visio" r:id="rId6" imgW="1999833" imgH="1871901" progId="Visio.Drawing.11">
                  <p:embed/>
                </p:oleObj>
              </mc:Choice>
              <mc:Fallback>
                <p:oleObj name="Visio" r:id="rId6" imgW="1999833" imgH="1871901" progId="Visio.Drawing.11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E7C8229-3117-44BF-BE71-17EEE658A4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063" y="934869"/>
                        <a:ext cx="4154488" cy="387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05CC7AF-C282-41DD-BA09-E23E6BCEB7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456934"/>
              </p:ext>
            </p:extLst>
          </p:nvPr>
        </p:nvGraphicFramePr>
        <p:xfrm>
          <a:off x="4125410" y="790761"/>
          <a:ext cx="1702097" cy="478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name="Equation" r:id="rId8" imgW="2133472" imgH="599947" progId="Equation.DSMT4">
                  <p:embed/>
                </p:oleObj>
              </mc:Choice>
              <mc:Fallback>
                <p:oleObj name="Equation" r:id="rId8" imgW="2133472" imgH="599947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148E6291-3EF5-4D77-A6CF-657E9C7F15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25410" y="790761"/>
                        <a:ext cx="1702097" cy="4787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7168249"/>
      </p:ext>
    </p:extLst>
  </p:cSld>
  <p:clrMapOvr>
    <a:masterClrMapping/>
  </p:clrMapOvr>
  <p:transition spd="med" advClick="0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857250" y="220662"/>
            <a:ext cx="3786758" cy="379413"/>
          </a:xfrm>
          <a:prstGeom prst="rect">
            <a:avLst/>
          </a:prstGeom>
        </p:spPr>
        <p:txBody>
          <a:bodyPr lIns="0" r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观察变换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三维观察流水线</a:t>
            </a:r>
            <a:endParaRPr lang="en-GB" altLang="zh-CN" sz="16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图片 45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092950" y="200025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2" descr="C:\Users\Administrator\Desktop\988f62c5210bdb445a106b023dc4778e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3663" y="0"/>
            <a:ext cx="7747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C2390A-CE38-4E6D-BE42-F55C7FB78C74}"/>
              </a:ext>
            </a:extLst>
          </p:cNvPr>
          <p:cNvSpPr txBox="1"/>
          <p:nvPr/>
        </p:nvSpPr>
        <p:spPr>
          <a:xfrm>
            <a:off x="-9342" y="4780528"/>
            <a:ext cx="9144000" cy="35503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1707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sp>
        <p:nvSpPr>
          <p:cNvPr id="114" name="AutoShape 3">
            <a:extLst>
              <a:ext uri="{FF2B5EF4-FFF2-40B4-BE49-F238E27FC236}">
                <a16:creationId xmlns:a16="http://schemas.microsoft.com/office/drawing/2014/main" id="{7278C817-0FA4-4310-9365-6FEB3DC06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8269" y="1544836"/>
            <a:ext cx="369888" cy="356371"/>
          </a:xfrm>
          <a:prstGeom prst="downArrow">
            <a:avLst>
              <a:gd name="adj1" fmla="val 50000"/>
              <a:gd name="adj2" fmla="val 52897"/>
            </a:avLst>
          </a:prstGeom>
          <a:solidFill>
            <a:srgbClr val="FFFFFF"/>
          </a:soli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15" name="AutoShape 4">
            <a:extLst>
              <a:ext uri="{FF2B5EF4-FFF2-40B4-BE49-F238E27FC236}">
                <a16:creationId xmlns:a16="http://schemas.microsoft.com/office/drawing/2014/main" id="{DE8281CA-734C-42D6-BE5C-476C1BC50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579" y="3413531"/>
            <a:ext cx="369888" cy="321804"/>
          </a:xfrm>
          <a:prstGeom prst="downArrow">
            <a:avLst>
              <a:gd name="adj1" fmla="val 50000"/>
              <a:gd name="adj2" fmla="val 58152"/>
            </a:avLst>
          </a:prstGeom>
          <a:solidFill>
            <a:srgbClr val="FFFFFF"/>
          </a:soli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16" name="AutoShape 5">
            <a:extLst>
              <a:ext uri="{FF2B5EF4-FFF2-40B4-BE49-F238E27FC236}">
                <a16:creationId xmlns:a16="http://schemas.microsoft.com/office/drawing/2014/main" id="{86AB4060-B1D5-4C84-A654-4D65B577B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579" y="4143773"/>
            <a:ext cx="369888" cy="291390"/>
          </a:xfrm>
          <a:prstGeom prst="downArrow">
            <a:avLst>
              <a:gd name="adj1" fmla="val 50000"/>
              <a:gd name="adj2" fmla="val 31760"/>
            </a:avLst>
          </a:prstGeom>
          <a:solidFill>
            <a:srgbClr val="FFFFFF"/>
          </a:soli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117" name="Group 7">
            <a:extLst>
              <a:ext uri="{FF2B5EF4-FFF2-40B4-BE49-F238E27FC236}">
                <a16:creationId xmlns:a16="http://schemas.microsoft.com/office/drawing/2014/main" id="{683BC504-869A-4331-B8AC-63B86D610FBB}"/>
              </a:ext>
            </a:extLst>
          </p:cNvPr>
          <p:cNvGrpSpPr>
            <a:grpSpLocks/>
          </p:cNvGrpSpPr>
          <p:nvPr/>
        </p:nvGrpSpPr>
        <p:grpSpPr bwMode="auto">
          <a:xfrm>
            <a:off x="806545" y="3729880"/>
            <a:ext cx="1631107" cy="461325"/>
            <a:chOff x="4416" y="3190"/>
            <a:chExt cx="915" cy="340"/>
          </a:xfrm>
        </p:grpSpPr>
        <p:sp>
          <p:nvSpPr>
            <p:cNvPr id="118" name="Rectangle 8">
              <a:extLst>
                <a:ext uri="{FF2B5EF4-FFF2-40B4-BE49-F238E27FC236}">
                  <a16:creationId xmlns:a16="http://schemas.microsoft.com/office/drawing/2014/main" id="{FB75BDD5-0409-4399-BFD5-9F07C3F86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216"/>
              <a:ext cx="912" cy="288"/>
            </a:xfrm>
            <a:prstGeom prst="rect">
              <a:avLst/>
            </a:prstGeom>
            <a:solidFill>
              <a:srgbClr val="BBE0E3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333399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19" name="Text Box 9">
              <a:extLst>
                <a:ext uri="{FF2B5EF4-FFF2-40B4-BE49-F238E27FC236}">
                  <a16:creationId xmlns:a16="http://schemas.microsoft.com/office/drawing/2014/main" id="{E6CA72FA-9809-412A-B14E-AF65C193A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0" y="3190"/>
              <a:ext cx="881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itchFamily="2" charset="-122"/>
                  <a:ea typeface="黑体" pitchFamily="2" charset="-122"/>
                </a:rPr>
                <a:t>视口变换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20" name="Group 14">
            <a:extLst>
              <a:ext uri="{FF2B5EF4-FFF2-40B4-BE49-F238E27FC236}">
                <a16:creationId xmlns:a16="http://schemas.microsoft.com/office/drawing/2014/main" id="{7935218C-89A6-4A09-83F7-A25693058353}"/>
              </a:ext>
            </a:extLst>
          </p:cNvPr>
          <p:cNvGrpSpPr>
            <a:grpSpLocks/>
          </p:cNvGrpSpPr>
          <p:nvPr/>
        </p:nvGrpSpPr>
        <p:grpSpPr bwMode="auto">
          <a:xfrm>
            <a:off x="771776" y="1173855"/>
            <a:ext cx="1660525" cy="461962"/>
            <a:chOff x="4383" y="1581"/>
            <a:chExt cx="1008" cy="410"/>
          </a:xfrm>
        </p:grpSpPr>
        <p:sp>
          <p:nvSpPr>
            <p:cNvPr id="121" name="Rectangle 15">
              <a:extLst>
                <a:ext uri="{FF2B5EF4-FFF2-40B4-BE49-F238E27FC236}">
                  <a16:creationId xmlns:a16="http://schemas.microsoft.com/office/drawing/2014/main" id="{2C2C27CC-41B5-437E-BACC-1695CD14E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680"/>
              <a:ext cx="912" cy="287"/>
            </a:xfrm>
            <a:prstGeom prst="rect">
              <a:avLst/>
            </a:prstGeom>
            <a:solidFill>
              <a:srgbClr val="BBE0E3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333399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22" name="Text Box 16">
              <a:extLst>
                <a:ext uri="{FF2B5EF4-FFF2-40B4-BE49-F238E27FC236}">
                  <a16:creationId xmlns:a16="http://schemas.microsoft.com/office/drawing/2014/main" id="{156681D7-210C-46E3-A853-97F16F3E9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3" y="1581"/>
              <a:ext cx="1008" cy="4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itchFamily="2" charset="-122"/>
                  <a:ea typeface="黑体" pitchFamily="2" charset="-122"/>
                </a:rPr>
                <a:t>观察变换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23" name="Group 17">
            <a:extLst>
              <a:ext uri="{FF2B5EF4-FFF2-40B4-BE49-F238E27FC236}">
                <a16:creationId xmlns:a16="http://schemas.microsoft.com/office/drawing/2014/main" id="{E447D133-866E-4297-9AE8-1CBA9953570B}"/>
              </a:ext>
            </a:extLst>
          </p:cNvPr>
          <p:cNvGrpSpPr>
            <a:grpSpLocks/>
          </p:cNvGrpSpPr>
          <p:nvPr/>
        </p:nvGrpSpPr>
        <p:grpSpPr bwMode="auto">
          <a:xfrm>
            <a:off x="832221" y="2410530"/>
            <a:ext cx="1568450" cy="461728"/>
            <a:chOff x="4368" y="2448"/>
            <a:chExt cx="960" cy="341"/>
          </a:xfrm>
        </p:grpSpPr>
        <p:sp>
          <p:nvSpPr>
            <p:cNvPr id="124" name="Rectangle 18">
              <a:extLst>
                <a:ext uri="{FF2B5EF4-FFF2-40B4-BE49-F238E27FC236}">
                  <a16:creationId xmlns:a16="http://schemas.microsoft.com/office/drawing/2014/main" id="{771AD8FE-F920-4870-A123-22452D1A2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448"/>
              <a:ext cx="912" cy="288"/>
            </a:xfrm>
            <a:prstGeom prst="rect">
              <a:avLst/>
            </a:prstGeom>
            <a:solidFill>
              <a:srgbClr val="BBE0E3"/>
            </a:solidFill>
            <a:ln w="28575">
              <a:solidFill>
                <a:srgbClr val="FFFFFF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333399"/>
                </a:buClr>
                <a:buSzPct val="80000"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25" name="Text Box 19">
              <a:extLst>
                <a:ext uri="{FF2B5EF4-FFF2-40B4-BE49-F238E27FC236}">
                  <a16:creationId xmlns:a16="http://schemas.microsoft.com/office/drawing/2014/main" id="{3389A894-EF0C-4130-96B0-1936CD782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2448"/>
              <a:ext cx="960" cy="3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itchFamily="2" charset="-122"/>
                  <a:ea typeface="黑体" pitchFamily="2" charset="-122"/>
                </a:rPr>
                <a:t>投影变换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126" name="Text Box 20">
            <a:extLst>
              <a:ext uri="{FF2B5EF4-FFF2-40B4-BE49-F238E27FC236}">
                <a16:creationId xmlns:a16="http://schemas.microsoft.com/office/drawing/2014/main" id="{77C82870-49F0-416B-BEB2-443333BA8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586" y="627534"/>
            <a:ext cx="15398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世界坐标</a:t>
            </a:r>
          </a:p>
        </p:txBody>
      </p:sp>
      <p:sp>
        <p:nvSpPr>
          <p:cNvPr id="127" name="Text Box 21">
            <a:extLst>
              <a:ext uri="{FF2B5EF4-FFF2-40B4-BE49-F238E27FC236}">
                <a16:creationId xmlns:a16="http://schemas.microsoft.com/office/drawing/2014/main" id="{EF3839F9-B695-48C8-A6B4-12A500279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160" y="1850556"/>
            <a:ext cx="16541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观察坐标</a:t>
            </a:r>
          </a:p>
        </p:txBody>
      </p:sp>
      <p:sp>
        <p:nvSpPr>
          <p:cNvPr id="128" name="Text Box 22">
            <a:extLst>
              <a:ext uri="{FF2B5EF4-FFF2-40B4-BE49-F238E27FC236}">
                <a16:creationId xmlns:a16="http://schemas.microsoft.com/office/drawing/2014/main" id="{B40123F8-821F-4F18-B2D6-A716FF30F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721" y="3075806"/>
            <a:ext cx="15525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投影坐标</a:t>
            </a:r>
          </a:p>
        </p:txBody>
      </p:sp>
      <p:sp>
        <p:nvSpPr>
          <p:cNvPr id="129" name="Text Box 23">
            <a:extLst>
              <a:ext uri="{FF2B5EF4-FFF2-40B4-BE49-F238E27FC236}">
                <a16:creationId xmlns:a16="http://schemas.microsoft.com/office/drawing/2014/main" id="{A264A986-FCFA-46F7-A11D-B68ED821F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545" y="4365294"/>
            <a:ext cx="15589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屏幕坐标</a:t>
            </a:r>
          </a:p>
        </p:txBody>
      </p:sp>
      <p:sp>
        <p:nvSpPr>
          <p:cNvPr id="130" name="Rectangle 29">
            <a:extLst>
              <a:ext uri="{FF2B5EF4-FFF2-40B4-BE49-F238E27FC236}">
                <a16:creationId xmlns:a16="http://schemas.microsoft.com/office/drawing/2014/main" id="{1CF3FE16-35FD-4AFF-876B-BF3EFC9F5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118098"/>
            <a:ext cx="1777998" cy="642933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1" name="Rectangle 34">
            <a:extLst>
              <a:ext uri="{FF2B5EF4-FFF2-40B4-BE49-F238E27FC236}">
                <a16:creationId xmlns:a16="http://schemas.microsoft.com/office/drawing/2014/main" id="{B465AD0D-BE7B-427D-94D9-98653C0B8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534" y="2308337"/>
            <a:ext cx="1758950" cy="708022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2" name="Rectangle 39">
            <a:extLst>
              <a:ext uri="{FF2B5EF4-FFF2-40B4-BE49-F238E27FC236}">
                <a16:creationId xmlns:a16="http://schemas.microsoft.com/office/drawing/2014/main" id="{85E094E2-0142-45C0-B9C7-76F68AFFB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60" y="3632306"/>
            <a:ext cx="1778000" cy="708022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" name="AutoShape 43">
            <a:extLst>
              <a:ext uri="{FF2B5EF4-FFF2-40B4-BE49-F238E27FC236}">
                <a16:creationId xmlns:a16="http://schemas.microsoft.com/office/drawing/2014/main" id="{7C34268F-A59A-460F-A3AC-2028F3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129" y="999727"/>
            <a:ext cx="369888" cy="235780"/>
          </a:xfrm>
          <a:prstGeom prst="downArrow">
            <a:avLst>
              <a:gd name="adj1" fmla="val 50000"/>
              <a:gd name="adj2" fmla="val 26502"/>
            </a:avLst>
          </a:prstGeom>
          <a:solidFill>
            <a:srgbClr val="FFFFFF"/>
          </a:soli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4" name="AutoShape 3">
            <a:extLst>
              <a:ext uri="{FF2B5EF4-FFF2-40B4-BE49-F238E27FC236}">
                <a16:creationId xmlns:a16="http://schemas.microsoft.com/office/drawing/2014/main" id="{0CE12E4E-52AE-4B68-ACB1-63446BA62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9590" y="2254770"/>
            <a:ext cx="369888" cy="262859"/>
          </a:xfrm>
          <a:prstGeom prst="downArrow">
            <a:avLst>
              <a:gd name="adj1" fmla="val 50000"/>
              <a:gd name="adj2" fmla="val 52897"/>
            </a:avLst>
          </a:prstGeom>
          <a:solidFill>
            <a:srgbClr val="FFFFFF"/>
          </a:soli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5" name="AutoShape 3">
            <a:extLst>
              <a:ext uri="{FF2B5EF4-FFF2-40B4-BE49-F238E27FC236}">
                <a16:creationId xmlns:a16="http://schemas.microsoft.com/office/drawing/2014/main" id="{0C3B3BC6-F35B-40A7-84EF-404D980F5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9590" y="2884401"/>
            <a:ext cx="369888" cy="335421"/>
          </a:xfrm>
          <a:prstGeom prst="downArrow">
            <a:avLst>
              <a:gd name="adj1" fmla="val 50000"/>
              <a:gd name="adj2" fmla="val 52897"/>
            </a:avLst>
          </a:prstGeom>
          <a:solidFill>
            <a:srgbClr val="FFFFFF"/>
          </a:soli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33399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137" name="Picture 46">
            <a:extLst>
              <a:ext uri="{FF2B5EF4-FFF2-40B4-BE49-F238E27FC236}">
                <a16:creationId xmlns:a16="http://schemas.microsoft.com/office/drawing/2014/main" id="{85E784D6-6B5B-4FB3-874F-84E5F01E1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63" t="13907" r="20766" b="50000"/>
          <a:stretch>
            <a:fillRect/>
          </a:stretch>
        </p:blipFill>
        <p:spPr bwMode="auto">
          <a:xfrm>
            <a:off x="6291552" y="41898"/>
            <a:ext cx="2771196" cy="1903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" name="Text Box 26">
            <a:extLst>
              <a:ext uri="{FF2B5EF4-FFF2-40B4-BE49-F238E27FC236}">
                <a16:creationId xmlns:a16="http://schemas.microsoft.com/office/drawing/2014/main" id="{810D6D5E-6EE5-4F7B-A26F-192F4C147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7201" y="1453587"/>
            <a:ext cx="1957457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solidFill>
                  <a:srgbClr val="333399"/>
                </a:solidFill>
                <a:ea typeface="微软雅黑" panose="020B0503020204020204" pitchFamily="34" charset="-122"/>
              </a:rPr>
              <a:t>观察变换</a:t>
            </a:r>
          </a:p>
        </p:txBody>
      </p:sp>
      <p:pic>
        <p:nvPicPr>
          <p:cNvPr id="139" name="Picture 4">
            <a:extLst>
              <a:ext uri="{FF2B5EF4-FFF2-40B4-BE49-F238E27FC236}">
                <a16:creationId xmlns:a16="http://schemas.microsoft.com/office/drawing/2014/main" id="{299AE3D4-8FE2-4D72-A1A1-742E41EAC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827" y="3242784"/>
            <a:ext cx="3016285" cy="1257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" name="Text Box 26">
            <a:extLst>
              <a:ext uri="{FF2B5EF4-FFF2-40B4-BE49-F238E27FC236}">
                <a16:creationId xmlns:a16="http://schemas.microsoft.com/office/drawing/2014/main" id="{3BDD7920-E20A-4DE5-954E-DA0E99635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2875" y="4340328"/>
            <a:ext cx="2006681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solidFill>
                  <a:srgbClr val="F79600"/>
                </a:solidFill>
                <a:ea typeface="微软雅黑" panose="020B0503020204020204" pitchFamily="34" charset="-122"/>
              </a:rPr>
              <a:t>投影变换</a:t>
            </a: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5E90FF0D-3A50-4118-99F2-5EA507FF2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3726" y="1882569"/>
            <a:ext cx="4608512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8" indent="-342908" algn="just">
              <a:spcBef>
                <a:spcPct val="20000"/>
              </a:spcBef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(1)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点动，新系→旧系：几何变换</a:t>
            </a:r>
            <a:endParaRPr lang="en-US" altLang="zh-CN" sz="2400" kern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2BD76266-93E4-4ADC-B1C1-78E1956CC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930" y="2381556"/>
            <a:ext cx="5748952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8" indent="-342908" algn="just">
              <a:spcBef>
                <a:spcPct val="20000"/>
              </a:spcBef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(2)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点不动，旧系→新系：相对运动，变换矩阵参数取反。</a:t>
            </a: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EC3BC452-8232-4983-AE6D-367083194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8707" y="3158506"/>
            <a:ext cx="5748952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8" indent="-342908" algn="just">
              <a:spcBef>
                <a:spcPct val="20000"/>
              </a:spcBef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(3)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坐标变换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变换矩阵</a:t>
            </a:r>
          </a:p>
        </p:txBody>
      </p:sp>
    </p:spTree>
    <p:extLst>
      <p:ext uri="{BB962C8B-B14F-4D97-AF65-F5344CB8AC3E}">
        <p14:creationId xmlns:p14="http://schemas.microsoft.com/office/powerpoint/2010/main" val="537086152"/>
      </p:ext>
    </p:extLst>
  </p:cSld>
  <p:clrMapOvr>
    <a:masterClrMapping/>
  </p:clrMapOvr>
  <p:transition spd="med" advClick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9050" y="7937"/>
            <a:ext cx="9144000" cy="515162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52227" name="图片 1"/>
          <p:cNvPicPr>
            <a:picLocks noChangeAspect="1"/>
          </p:cNvPicPr>
          <p:nvPr/>
        </p:nvPicPr>
        <p:blipFill>
          <a:blip r:embed="rId3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3203848" y="339502"/>
            <a:ext cx="2396827" cy="2347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29" name="矩形 47"/>
          <p:cNvSpPr>
            <a:spLocks noChangeArrowheads="1"/>
          </p:cNvSpPr>
          <p:nvPr/>
        </p:nvSpPr>
        <p:spPr bwMode="auto">
          <a:xfrm>
            <a:off x="1763688" y="2583750"/>
            <a:ext cx="5040238" cy="11772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71" tIns="34285" rIns="68571" bIns="34285">
            <a:spAutoFit/>
          </a:bodyPr>
          <a:lstStyle/>
          <a:p>
            <a:pPr algn="just"/>
            <a:r>
              <a:rPr lang="zh-CN" altLang="en-US" sz="7200" b="1" dirty="0">
                <a:solidFill>
                  <a:schemeClr val="bg1"/>
                </a:solidFill>
                <a:ea typeface="微软雅黑" panose="020B0503020204020204" pitchFamily="34" charset="-122"/>
              </a:rPr>
              <a:t>谢 谢 大 家！</a:t>
            </a:r>
            <a:endParaRPr lang="en-US" altLang="zh-CN" sz="7200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 advClick="0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Write Your Title Here"/>
  <p:tag name="KSO_WPP_MARK_KEY" val="dd899e31-5ec7-490e-8739-e130eb65ea66"/>
  <p:tag name="COMMONDATA" val="eyJoZGlkIjoiZmIzMGIyMDk1NzU2MWU3NWY5NGMzYjU4MGE4MGU5NTQifQ=="/>
</p:tagLst>
</file>

<file path=ppt/theme/theme1.xml><?xml version="1.0" encoding="utf-8"?>
<a:theme xmlns:a="http://schemas.openxmlformats.org/drawingml/2006/main" name="第一PPT，www.1ppt.com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1160</Words>
  <Application>Microsoft Office PowerPoint</Application>
  <PresentationFormat>全屏显示(16:9)</PresentationFormat>
  <Paragraphs>188</Paragraphs>
  <Slides>29</Slides>
  <Notes>29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3" baseType="lpstr">
      <vt:lpstr>Open Sans Light</vt:lpstr>
      <vt:lpstr>黑体</vt:lpstr>
      <vt:lpstr>华文隶书</vt:lpstr>
      <vt:lpstr>华文宋体</vt:lpstr>
      <vt:lpstr>宋体</vt:lpstr>
      <vt:lpstr>微软雅黑</vt:lpstr>
      <vt:lpstr>微软雅黑 Light</vt:lpstr>
      <vt:lpstr>Arial</vt:lpstr>
      <vt:lpstr>Calibri</vt:lpstr>
      <vt:lpstr>Times New Roman</vt:lpstr>
      <vt:lpstr>Wingdings</vt:lpstr>
      <vt:lpstr>第一PPT，www.1ppt.com</vt:lpstr>
      <vt:lpstr>Visio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第一PPT模板网-WWW.1PPT.COM</dc:title>
  <dc:creator>user</dc:creator>
  <cp:keywords>第一PPT模板网-WWW.1PPT.COM</cp:keywords>
  <cp:lastModifiedBy>pcm</cp:lastModifiedBy>
  <cp:revision>431</cp:revision>
  <dcterms:created xsi:type="dcterms:W3CDTF">2015-12-11T17:46:00Z</dcterms:created>
  <dcterms:modified xsi:type="dcterms:W3CDTF">2024-11-02T03:41:09Z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ECACA3F7043547B6B35B2DD86E8C4ABF_12</vt:lpwstr>
  </property>
  <property fmtid="{D5CDD505-2E9C-101B-9397-08002B2CF9AE}" pid="3" name="KSOProductBuildVer">
    <vt:lpwstr>2052-12.1.0.16388</vt:lpwstr>
  </property>
</Properties>
</file>