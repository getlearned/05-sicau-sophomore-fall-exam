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handoutMasterIdLst>
    <p:handoutMasterId r:id="rId49"/>
  </p:handoutMasterIdLst>
  <p:sldIdLst>
    <p:sldId id="317" r:id="rId2"/>
    <p:sldId id="766" r:id="rId3"/>
    <p:sldId id="795" r:id="rId4"/>
    <p:sldId id="796" r:id="rId5"/>
    <p:sldId id="797" r:id="rId6"/>
    <p:sldId id="798" r:id="rId7"/>
    <p:sldId id="799" r:id="rId8"/>
    <p:sldId id="800" r:id="rId9"/>
    <p:sldId id="801" r:id="rId10"/>
    <p:sldId id="802" r:id="rId11"/>
    <p:sldId id="803" r:id="rId12"/>
    <p:sldId id="804" r:id="rId13"/>
    <p:sldId id="805" r:id="rId14"/>
    <p:sldId id="806" r:id="rId15"/>
    <p:sldId id="807" r:id="rId16"/>
    <p:sldId id="808" r:id="rId17"/>
    <p:sldId id="809" r:id="rId18"/>
    <p:sldId id="810" r:id="rId19"/>
    <p:sldId id="811" r:id="rId20"/>
    <p:sldId id="812" r:id="rId21"/>
    <p:sldId id="813" r:id="rId22"/>
    <p:sldId id="814" r:id="rId23"/>
    <p:sldId id="815" r:id="rId24"/>
    <p:sldId id="834" r:id="rId25"/>
    <p:sldId id="816" r:id="rId26"/>
    <p:sldId id="817" r:id="rId27"/>
    <p:sldId id="818" r:id="rId28"/>
    <p:sldId id="819" r:id="rId29"/>
    <p:sldId id="820" r:id="rId30"/>
    <p:sldId id="821" r:id="rId31"/>
    <p:sldId id="835" r:id="rId32"/>
    <p:sldId id="822" r:id="rId33"/>
    <p:sldId id="823" r:id="rId34"/>
    <p:sldId id="824" r:id="rId35"/>
    <p:sldId id="825" r:id="rId36"/>
    <p:sldId id="826" r:id="rId37"/>
    <p:sldId id="827" r:id="rId38"/>
    <p:sldId id="836" r:id="rId39"/>
    <p:sldId id="828" r:id="rId40"/>
    <p:sldId id="829" r:id="rId41"/>
    <p:sldId id="830" r:id="rId42"/>
    <p:sldId id="831" r:id="rId43"/>
    <p:sldId id="832" r:id="rId44"/>
    <p:sldId id="833" r:id="rId45"/>
    <p:sldId id="794" r:id="rId46"/>
    <p:sldId id="765" r:id="rId47"/>
  </p:sldIdLst>
  <p:sldSz cx="9144000" cy="5143500" type="screen16x9"/>
  <p:notesSz cx="6858000" cy="9144000"/>
  <p:custDataLst>
    <p:tags r:id="rId5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6" userDrawn="1">
          <p15:clr>
            <a:srgbClr val="A4A3A4"/>
          </p15:clr>
        </p15:guide>
        <p15:guide id="2" pos="2925" userDrawn="1">
          <p15:clr>
            <a:srgbClr val="A4A3A4"/>
          </p15:clr>
        </p15:guide>
      </p15:sldGuideLst>
    </p:ext>
    <p:ext uri="{2D200454-40CA-4A62-9FC3-DE9A4176ACB9}">
      <p15:notesGuideLst xmlns:p15="http://schemas.microsoft.com/office/powerpoint/2012/main">
        <p15:guide id="1" orient="horz" pos="2856">
          <p15:clr>
            <a:srgbClr val="A4A3A4"/>
          </p15:clr>
        </p15:guide>
        <p15:guide id="2" pos="21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3992DB"/>
    <a:srgbClr val="FF3300"/>
    <a:srgbClr val="FAFAFA"/>
    <a:srgbClr val="005DA2"/>
    <a:srgbClr val="990033"/>
    <a:srgbClr val="F79600"/>
    <a:srgbClr val="74C4FF"/>
    <a:srgbClr val="FF5050"/>
    <a:srgbClr val="0F1836"/>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30" autoAdjust="0"/>
    <p:restoredTop sz="76263" autoAdjust="0"/>
  </p:normalViewPr>
  <p:slideViewPr>
    <p:cSldViewPr showGuides="1">
      <p:cViewPr varScale="1">
        <p:scale>
          <a:sx n="115" d="100"/>
          <a:sy n="115" d="100"/>
        </p:scale>
        <p:origin x="1386" y="42"/>
      </p:cViewPr>
      <p:guideLst>
        <p:guide orient="horz" pos="1606"/>
        <p:guide pos="2925"/>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86" d="100"/>
          <a:sy n="86" d="100"/>
        </p:scale>
        <p:origin x="-3810" y="-90"/>
      </p:cViewPr>
      <p:guideLst>
        <p:guide orient="horz" pos="2856"/>
        <p:guide pos="21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8BDC7532-99AB-4A27-9239-36B5FA277B57}" type="datetimeFigureOut">
              <a:rPr lang="zh-CN" altLang="en-US"/>
              <a:t>2024/11/10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D65621B-A3DC-4A6D-8063-788C595E78AD}"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DD6AB8A1-C497-46E0-BA7F-C7E292B60FC3}" type="datetimeFigureOut">
              <a:rPr lang="zh-CN" altLang="en-US"/>
              <a:t>2024/11/10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1DA0C6DC-2F4C-4491-A9F9-E3F8AD06530E}"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p:cNvSpPr>
          <p:nvPr>
            <p:ph type="sldImg"/>
          </p:nvPr>
        </p:nvSpPr>
        <p:spPr bwMode="auto">
          <a:noFill/>
          <a:ln>
            <a:solidFill>
              <a:srgbClr val="000000"/>
            </a:solidFill>
            <a:miter lim="800000"/>
          </a:ln>
        </p:spPr>
      </p:sp>
      <p:sp>
        <p:nvSpPr>
          <p:cNvPr id="18434"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dirty="0"/>
          </a:p>
        </p:txBody>
      </p:sp>
      <p:sp>
        <p:nvSpPr>
          <p:cNvPr id="2" name="幻灯片编号占位符 1"/>
          <p:cNvSpPr>
            <a:spLocks noGrp="1"/>
          </p:cNvSpPr>
          <p:nvPr>
            <p:ph type="sldNum" sz="quarter" idx="5"/>
          </p:nvPr>
        </p:nvSpPr>
        <p:spPr/>
        <p:txBody>
          <a:bodyPr/>
          <a:lstStyle/>
          <a:p>
            <a:pPr>
              <a:defRPr/>
            </a:pPr>
            <a:fld id="{21F9FE4A-F1B9-42B6-95D0-1A8AD6D3A18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线框模型只有顶点和棱边，没有面，没有内外，拓扑关系不明；但是后面了两种模型的基础</a:t>
            </a:r>
            <a:endParaRPr lang="en-US" altLang="zh-CN" dirty="0"/>
          </a:p>
          <a:p>
            <a:r>
              <a:rPr lang="zh-CN" altLang="en-US" dirty="0"/>
              <a:t>表面模型有两种：自由曲线</a:t>
            </a:r>
            <a:r>
              <a:rPr lang="en-US" altLang="zh-CN" dirty="0"/>
              <a:t>/</a:t>
            </a:r>
            <a:r>
              <a:rPr lang="zh-CN" altLang="en-US" dirty="0"/>
              <a:t>曲面造型、多边形网格模型（没有正反，内外，可能不封闭）</a:t>
            </a:r>
            <a:r>
              <a:rPr lang="en-US" altLang="zh-CN" dirty="0"/>
              <a:t>——</a:t>
            </a:r>
            <a:r>
              <a:rPr lang="zh-CN" altLang="en-US" dirty="0"/>
              <a:t>适用于小的对象</a:t>
            </a:r>
            <a:endParaRPr lang="en-US" altLang="zh-CN" dirty="0"/>
          </a:p>
          <a:p>
            <a:r>
              <a:rPr lang="zh-CN" altLang="en-US" dirty="0"/>
              <a:t>实体模型：最完善的模型定义。适用于人或三维模型</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a:t>
            </a:fld>
            <a:endParaRPr lang="zh-CN" altLang="en-US"/>
          </a:p>
        </p:txBody>
      </p:sp>
    </p:spTree>
    <p:extLst>
      <p:ext uri="{BB962C8B-B14F-4D97-AF65-F5344CB8AC3E}">
        <p14:creationId xmlns:p14="http://schemas.microsoft.com/office/powerpoint/2010/main" val="70971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5</a:t>
            </a:fld>
            <a:endParaRPr lang="zh-CN" altLang="en-US"/>
          </a:p>
        </p:txBody>
      </p:sp>
    </p:spTree>
    <p:extLst>
      <p:ext uri="{BB962C8B-B14F-4D97-AF65-F5344CB8AC3E}">
        <p14:creationId xmlns:p14="http://schemas.microsoft.com/office/powerpoint/2010/main" val="2290444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6</a:t>
            </a:fld>
            <a:endParaRPr lang="zh-CN" altLang="en-US"/>
          </a:p>
        </p:txBody>
      </p:sp>
    </p:spTree>
    <p:extLst>
      <p:ext uri="{BB962C8B-B14F-4D97-AF65-F5344CB8AC3E}">
        <p14:creationId xmlns:p14="http://schemas.microsoft.com/office/powerpoint/2010/main" val="3252802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7</a:t>
            </a:fld>
            <a:endParaRPr lang="zh-CN" altLang="en-US"/>
          </a:p>
        </p:txBody>
      </p:sp>
    </p:spTree>
    <p:extLst>
      <p:ext uri="{BB962C8B-B14F-4D97-AF65-F5344CB8AC3E}">
        <p14:creationId xmlns:p14="http://schemas.microsoft.com/office/powerpoint/2010/main" val="1730981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8</a:t>
            </a:fld>
            <a:endParaRPr lang="zh-CN" altLang="en-US"/>
          </a:p>
        </p:txBody>
      </p:sp>
    </p:spTree>
    <p:extLst>
      <p:ext uri="{BB962C8B-B14F-4D97-AF65-F5344CB8AC3E}">
        <p14:creationId xmlns:p14="http://schemas.microsoft.com/office/powerpoint/2010/main" val="1550269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9</a:t>
            </a:fld>
            <a:endParaRPr lang="zh-CN" altLang="en-US"/>
          </a:p>
        </p:txBody>
      </p:sp>
    </p:spTree>
    <p:extLst>
      <p:ext uri="{BB962C8B-B14F-4D97-AF65-F5344CB8AC3E}">
        <p14:creationId xmlns:p14="http://schemas.microsoft.com/office/powerpoint/2010/main" val="385686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10</a:t>
            </a:fld>
            <a:endParaRPr lang="zh-CN" altLang="en-US"/>
          </a:p>
        </p:txBody>
      </p:sp>
    </p:spTree>
    <p:extLst>
      <p:ext uri="{BB962C8B-B14F-4D97-AF65-F5344CB8AC3E}">
        <p14:creationId xmlns:p14="http://schemas.microsoft.com/office/powerpoint/2010/main" val="1766853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sz="1200" kern="0" dirty="0">
                <a:ea typeface="+mn-ea"/>
              </a:rPr>
              <a:t>如果网格形成一个封闭的有界区域则成为实体</a:t>
            </a:r>
            <a:endParaRPr lang="en-US" altLang="zh-CN" sz="1200" kern="0" dirty="0">
              <a:ea typeface="+mn-ea"/>
            </a:endParaRPr>
          </a:p>
          <a:p>
            <a:r>
              <a:rPr lang="zh-CN" altLang="en-US" sz="1200" kern="0" dirty="0">
                <a:ea typeface="+mn-ea"/>
              </a:rPr>
              <a:t>面是二维几何元素，包括多边形和带孔的区域</a:t>
            </a:r>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11</a:t>
            </a:fld>
            <a:endParaRPr lang="zh-CN" altLang="en-US"/>
          </a:p>
        </p:txBody>
      </p:sp>
    </p:spTree>
    <p:extLst>
      <p:ext uri="{BB962C8B-B14F-4D97-AF65-F5344CB8AC3E}">
        <p14:creationId xmlns:p14="http://schemas.microsoft.com/office/powerpoint/2010/main" val="1309533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不封闭</a:t>
            </a:r>
            <a:r>
              <a:rPr lang="en-US" altLang="zh-CN" dirty="0"/>
              <a:t>=</a:t>
            </a:r>
            <a:r>
              <a:rPr lang="zh-CN" altLang="en-US" dirty="0"/>
              <a:t>非实体</a:t>
            </a:r>
            <a:r>
              <a:rPr lang="en-US" altLang="zh-CN" dirty="0"/>
              <a:t>=</a:t>
            </a:r>
            <a:r>
              <a:rPr lang="zh-CN" altLang="en-US" dirty="0"/>
              <a:t>表面</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12</a:t>
            </a:fld>
            <a:endParaRPr lang="zh-CN" altLang="en-US"/>
          </a:p>
        </p:txBody>
      </p:sp>
    </p:spTree>
    <p:extLst>
      <p:ext uri="{BB962C8B-B14F-4D97-AF65-F5344CB8AC3E}">
        <p14:creationId xmlns:p14="http://schemas.microsoft.com/office/powerpoint/2010/main" val="1703351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环是由有向边顺序组成的面的边界，简称环是面的边界</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13</a:t>
            </a:fld>
            <a:endParaRPr lang="zh-CN" altLang="en-US"/>
          </a:p>
        </p:txBody>
      </p:sp>
    </p:spTree>
    <p:extLst>
      <p:ext uri="{BB962C8B-B14F-4D97-AF65-F5344CB8AC3E}">
        <p14:creationId xmlns:p14="http://schemas.microsoft.com/office/powerpoint/2010/main" val="3832687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点</a:t>
            </a:r>
            <a:r>
              <a:rPr lang="en-US" altLang="zh-CN" dirty="0"/>
              <a:t>-&gt;</a:t>
            </a:r>
            <a:r>
              <a:rPr lang="zh-CN" altLang="en-US" dirty="0"/>
              <a:t>点的相邻性指的是每个顶点的数据记录都有指向其相邻顶点的索引或指针</a:t>
            </a:r>
            <a:endParaRPr lang="en-US" altLang="zh-CN" dirty="0"/>
          </a:p>
          <a:p>
            <a:r>
              <a:rPr lang="zh-CN" altLang="en-US" dirty="0"/>
              <a:t>边</a:t>
            </a:r>
            <a:r>
              <a:rPr lang="en-US" altLang="zh-CN" dirty="0"/>
              <a:t>-&gt;</a:t>
            </a:r>
            <a:r>
              <a:rPr lang="zh-CN" altLang="en-US" dirty="0"/>
              <a:t>面的相邻性指的是每条边的记录都有指向其两侧邻面的指针</a:t>
            </a:r>
            <a:endParaRPr lang="en-US" altLang="zh-CN" dirty="0"/>
          </a:p>
          <a:p>
            <a:r>
              <a:rPr lang="zh-CN" altLang="en-US" dirty="0"/>
              <a:t>至少需要</a:t>
            </a:r>
            <a:r>
              <a:rPr lang="en-US" altLang="zh-CN" dirty="0"/>
              <a:t>9</a:t>
            </a:r>
            <a:r>
              <a:rPr lang="zh-CN" altLang="en-US" dirty="0"/>
              <a:t>种关系种的</a:t>
            </a:r>
            <a:r>
              <a:rPr lang="en-US" altLang="zh-CN" dirty="0"/>
              <a:t>2</a:t>
            </a:r>
            <a:r>
              <a:rPr lang="zh-CN" altLang="en-US" dirty="0"/>
              <a:t>种关系的组合才能完整构建一个平面物体。</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14</a:t>
            </a:fld>
            <a:endParaRPr lang="zh-CN" altLang="en-US"/>
          </a:p>
        </p:txBody>
      </p:sp>
    </p:spTree>
    <p:extLst>
      <p:ext uri="{BB962C8B-B14F-4D97-AF65-F5344CB8AC3E}">
        <p14:creationId xmlns:p14="http://schemas.microsoft.com/office/powerpoint/2010/main" val="65938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15</a:t>
            </a:fld>
            <a:endParaRPr lang="zh-CN" altLang="en-US"/>
          </a:p>
        </p:txBody>
      </p:sp>
    </p:spTree>
    <p:extLst>
      <p:ext uri="{BB962C8B-B14F-4D97-AF65-F5344CB8AC3E}">
        <p14:creationId xmlns:p14="http://schemas.microsoft.com/office/powerpoint/2010/main" val="3442892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翼边表示和半边表示自学教材</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16</a:t>
            </a:fld>
            <a:endParaRPr lang="zh-CN" altLang="en-US"/>
          </a:p>
        </p:txBody>
      </p:sp>
    </p:spTree>
    <p:extLst>
      <p:ext uri="{BB962C8B-B14F-4D97-AF65-F5344CB8AC3E}">
        <p14:creationId xmlns:p14="http://schemas.microsoft.com/office/powerpoint/2010/main" val="471114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pPr lvl="1"/>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17</a:t>
            </a:fld>
            <a:endParaRPr lang="zh-CN" altLang="en-US"/>
          </a:p>
        </p:txBody>
      </p:sp>
    </p:spTree>
    <p:extLst>
      <p:ext uri="{BB962C8B-B14F-4D97-AF65-F5344CB8AC3E}">
        <p14:creationId xmlns:p14="http://schemas.microsoft.com/office/powerpoint/2010/main" val="2845018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18</a:t>
            </a:fld>
            <a:endParaRPr lang="zh-CN" altLang="en-US"/>
          </a:p>
        </p:txBody>
      </p:sp>
    </p:spTree>
    <p:extLst>
      <p:ext uri="{BB962C8B-B14F-4D97-AF65-F5344CB8AC3E}">
        <p14:creationId xmlns:p14="http://schemas.microsoft.com/office/powerpoint/2010/main" val="2712552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一条边最多被两个面使用，所以边表里面的第三和</a:t>
            </a:r>
            <a:r>
              <a:rPr lang="en-US" altLang="zh-CN" dirty="0"/>
              <a:t>4</a:t>
            </a:r>
            <a:r>
              <a:rPr lang="zh-CN" altLang="en-US" dirty="0"/>
              <a:t>个参数代表面，如果只有一个面，那缺省面用</a:t>
            </a:r>
            <a:r>
              <a:rPr lang="en-US" altLang="zh-CN" dirty="0"/>
              <a:t>lambda</a:t>
            </a:r>
            <a:r>
              <a:rPr lang="zh-CN" altLang="en-US" dirty="0"/>
              <a:t>表示</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19</a:t>
            </a:fld>
            <a:endParaRPr lang="zh-CN" altLang="en-US"/>
          </a:p>
        </p:txBody>
      </p:sp>
    </p:spTree>
    <p:extLst>
      <p:ext uri="{BB962C8B-B14F-4D97-AF65-F5344CB8AC3E}">
        <p14:creationId xmlns:p14="http://schemas.microsoft.com/office/powerpoint/2010/main" val="3356119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en-US" altLang="zh-CN" dirty="0"/>
              <a:t>Vertices[8][3]:8</a:t>
            </a:r>
            <a:r>
              <a:rPr lang="zh-CN" altLang="en-US" dirty="0"/>
              <a:t>个顶点，</a:t>
            </a:r>
            <a:r>
              <a:rPr lang="en-US" altLang="zh-CN" dirty="0" err="1"/>
              <a:t>xyz</a:t>
            </a:r>
            <a:endParaRPr lang="en-US" altLang="zh-CN" dirty="0"/>
          </a:p>
          <a:p>
            <a:r>
              <a:rPr lang="en-US" altLang="zh-CN" dirty="0"/>
              <a:t>Colors[6][3]:</a:t>
            </a:r>
            <a:r>
              <a:rPr lang="zh-CN" altLang="en-US" dirty="0"/>
              <a:t> </a:t>
            </a:r>
            <a:r>
              <a:rPr lang="en-US" altLang="zh-CN" dirty="0"/>
              <a:t>6</a:t>
            </a:r>
            <a:r>
              <a:rPr lang="zh-CN" altLang="en-US" dirty="0"/>
              <a:t>个面，</a:t>
            </a:r>
            <a:r>
              <a:rPr lang="en-US" altLang="zh-CN" dirty="0"/>
              <a:t>RGB</a:t>
            </a:r>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20</a:t>
            </a:fld>
            <a:endParaRPr lang="zh-CN" altLang="en-US"/>
          </a:p>
        </p:txBody>
      </p:sp>
    </p:spTree>
    <p:extLst>
      <p:ext uri="{BB962C8B-B14F-4D97-AF65-F5344CB8AC3E}">
        <p14:creationId xmlns:p14="http://schemas.microsoft.com/office/powerpoint/2010/main" val="1690535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21</a:t>
            </a:fld>
            <a:endParaRPr lang="zh-CN" altLang="en-US"/>
          </a:p>
        </p:txBody>
      </p:sp>
    </p:spTree>
    <p:extLst>
      <p:ext uri="{BB962C8B-B14F-4D97-AF65-F5344CB8AC3E}">
        <p14:creationId xmlns:p14="http://schemas.microsoft.com/office/powerpoint/2010/main" val="2109823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sz="1200" b="0" i="0" kern="1200" dirty="0">
                <a:solidFill>
                  <a:schemeClr val="tx1"/>
                </a:solidFill>
                <a:effectLst/>
                <a:latin typeface="Arial" pitchFamily="34" charset="0"/>
                <a:ea typeface="+mn-ea"/>
                <a:cs typeface="+mn-cs"/>
              </a:rPr>
              <a:t>右手法则</a:t>
            </a:r>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22</a:t>
            </a:fld>
            <a:endParaRPr lang="zh-CN" altLang="en-US"/>
          </a:p>
        </p:txBody>
      </p:sp>
    </p:spTree>
    <p:extLst>
      <p:ext uri="{BB962C8B-B14F-4D97-AF65-F5344CB8AC3E}">
        <p14:creationId xmlns:p14="http://schemas.microsoft.com/office/powerpoint/2010/main" val="102947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23</a:t>
            </a:fld>
            <a:endParaRPr lang="zh-CN" altLang="en-US"/>
          </a:p>
        </p:txBody>
      </p:sp>
    </p:spTree>
    <p:extLst>
      <p:ext uri="{BB962C8B-B14F-4D97-AF65-F5344CB8AC3E}">
        <p14:creationId xmlns:p14="http://schemas.microsoft.com/office/powerpoint/2010/main" val="1453116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24</a:t>
            </a:fld>
            <a:endParaRPr lang="zh-CN" altLang="en-US"/>
          </a:p>
        </p:txBody>
      </p:sp>
    </p:spTree>
    <p:extLst>
      <p:ext uri="{BB962C8B-B14F-4D97-AF65-F5344CB8AC3E}">
        <p14:creationId xmlns:p14="http://schemas.microsoft.com/office/powerpoint/2010/main" val="23215808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半空间：一个无限大的平面将三维空间分为两个无限的区域</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25</a:t>
            </a:fld>
            <a:endParaRPr lang="zh-CN" altLang="en-US"/>
          </a:p>
        </p:txBody>
      </p:sp>
    </p:spTree>
    <p:extLst>
      <p:ext uri="{BB962C8B-B14F-4D97-AF65-F5344CB8AC3E}">
        <p14:creationId xmlns:p14="http://schemas.microsoft.com/office/powerpoint/2010/main" val="42111652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26</a:t>
            </a:fld>
            <a:endParaRPr lang="zh-CN" altLang="en-US"/>
          </a:p>
        </p:txBody>
      </p:sp>
    </p:spTree>
    <p:extLst>
      <p:ext uri="{BB962C8B-B14F-4D97-AF65-F5344CB8AC3E}">
        <p14:creationId xmlns:p14="http://schemas.microsoft.com/office/powerpoint/2010/main" val="3728742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27</a:t>
            </a:fld>
            <a:endParaRPr lang="zh-CN" altLang="en-US"/>
          </a:p>
        </p:txBody>
      </p:sp>
    </p:spTree>
    <p:extLst>
      <p:ext uri="{BB962C8B-B14F-4D97-AF65-F5344CB8AC3E}">
        <p14:creationId xmlns:p14="http://schemas.microsoft.com/office/powerpoint/2010/main" val="153886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28</a:t>
            </a:fld>
            <a:endParaRPr lang="zh-CN" altLang="en-US"/>
          </a:p>
        </p:txBody>
      </p:sp>
    </p:spTree>
    <p:extLst>
      <p:ext uri="{BB962C8B-B14F-4D97-AF65-F5344CB8AC3E}">
        <p14:creationId xmlns:p14="http://schemas.microsoft.com/office/powerpoint/2010/main" val="3339299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29</a:t>
            </a:fld>
            <a:endParaRPr lang="zh-CN" altLang="en-US"/>
          </a:p>
        </p:txBody>
      </p:sp>
    </p:spTree>
    <p:extLst>
      <p:ext uri="{BB962C8B-B14F-4D97-AF65-F5344CB8AC3E}">
        <p14:creationId xmlns:p14="http://schemas.microsoft.com/office/powerpoint/2010/main" val="23196238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30</a:t>
            </a:fld>
            <a:endParaRPr lang="zh-CN" altLang="en-US"/>
          </a:p>
        </p:txBody>
      </p:sp>
    </p:spTree>
    <p:extLst>
      <p:ext uri="{BB962C8B-B14F-4D97-AF65-F5344CB8AC3E}">
        <p14:creationId xmlns:p14="http://schemas.microsoft.com/office/powerpoint/2010/main" val="1935806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31</a:t>
            </a:fld>
            <a:endParaRPr lang="zh-CN" altLang="en-US"/>
          </a:p>
        </p:txBody>
      </p:sp>
    </p:spTree>
    <p:extLst>
      <p:ext uri="{BB962C8B-B14F-4D97-AF65-F5344CB8AC3E}">
        <p14:creationId xmlns:p14="http://schemas.microsoft.com/office/powerpoint/2010/main" val="32381624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32</a:t>
            </a:fld>
            <a:endParaRPr lang="zh-CN" altLang="en-US"/>
          </a:p>
        </p:txBody>
      </p:sp>
    </p:spTree>
    <p:extLst>
      <p:ext uri="{BB962C8B-B14F-4D97-AF65-F5344CB8AC3E}">
        <p14:creationId xmlns:p14="http://schemas.microsoft.com/office/powerpoint/2010/main" val="1416515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33</a:t>
            </a:fld>
            <a:endParaRPr lang="zh-CN" altLang="en-US"/>
          </a:p>
        </p:txBody>
      </p:sp>
    </p:spTree>
    <p:extLst>
      <p:ext uri="{BB962C8B-B14F-4D97-AF65-F5344CB8AC3E}">
        <p14:creationId xmlns:p14="http://schemas.microsoft.com/office/powerpoint/2010/main" val="10513322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34</a:t>
            </a:fld>
            <a:endParaRPr lang="zh-CN" altLang="en-US"/>
          </a:p>
        </p:txBody>
      </p:sp>
    </p:spTree>
    <p:extLst>
      <p:ext uri="{BB962C8B-B14F-4D97-AF65-F5344CB8AC3E}">
        <p14:creationId xmlns:p14="http://schemas.microsoft.com/office/powerpoint/2010/main" val="12063374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35</a:t>
            </a:fld>
            <a:endParaRPr lang="zh-CN" altLang="en-US"/>
          </a:p>
        </p:txBody>
      </p:sp>
    </p:spTree>
    <p:extLst>
      <p:ext uri="{BB962C8B-B14F-4D97-AF65-F5344CB8AC3E}">
        <p14:creationId xmlns:p14="http://schemas.microsoft.com/office/powerpoint/2010/main" val="18348645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36</a:t>
            </a:fld>
            <a:endParaRPr lang="zh-CN" altLang="en-US"/>
          </a:p>
        </p:txBody>
      </p:sp>
    </p:spTree>
    <p:extLst>
      <p:ext uri="{BB962C8B-B14F-4D97-AF65-F5344CB8AC3E}">
        <p14:creationId xmlns:p14="http://schemas.microsoft.com/office/powerpoint/2010/main" val="28492570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37</a:t>
            </a:fld>
            <a:endParaRPr lang="zh-CN" altLang="en-US"/>
          </a:p>
        </p:txBody>
      </p:sp>
    </p:spTree>
    <p:extLst>
      <p:ext uri="{BB962C8B-B14F-4D97-AF65-F5344CB8AC3E}">
        <p14:creationId xmlns:p14="http://schemas.microsoft.com/office/powerpoint/2010/main" val="3929206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38</a:t>
            </a:fld>
            <a:endParaRPr lang="zh-CN" altLang="en-US"/>
          </a:p>
        </p:txBody>
      </p:sp>
    </p:spTree>
    <p:extLst>
      <p:ext uri="{BB962C8B-B14F-4D97-AF65-F5344CB8AC3E}">
        <p14:creationId xmlns:p14="http://schemas.microsoft.com/office/powerpoint/2010/main" val="11882196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39</a:t>
            </a:fld>
            <a:endParaRPr lang="zh-CN" altLang="en-US"/>
          </a:p>
        </p:txBody>
      </p:sp>
    </p:spTree>
    <p:extLst>
      <p:ext uri="{BB962C8B-B14F-4D97-AF65-F5344CB8AC3E}">
        <p14:creationId xmlns:p14="http://schemas.microsoft.com/office/powerpoint/2010/main" val="673634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40</a:t>
            </a:fld>
            <a:endParaRPr lang="zh-CN" altLang="en-US"/>
          </a:p>
        </p:txBody>
      </p:sp>
    </p:spTree>
    <p:extLst>
      <p:ext uri="{BB962C8B-B14F-4D97-AF65-F5344CB8AC3E}">
        <p14:creationId xmlns:p14="http://schemas.microsoft.com/office/powerpoint/2010/main" val="20915148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41</a:t>
            </a:fld>
            <a:endParaRPr lang="zh-CN" altLang="en-US"/>
          </a:p>
        </p:txBody>
      </p:sp>
    </p:spTree>
    <p:extLst>
      <p:ext uri="{BB962C8B-B14F-4D97-AF65-F5344CB8AC3E}">
        <p14:creationId xmlns:p14="http://schemas.microsoft.com/office/powerpoint/2010/main" val="37536782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42</a:t>
            </a:fld>
            <a:endParaRPr lang="zh-CN" altLang="en-US"/>
          </a:p>
        </p:txBody>
      </p:sp>
    </p:spTree>
    <p:extLst>
      <p:ext uri="{BB962C8B-B14F-4D97-AF65-F5344CB8AC3E}">
        <p14:creationId xmlns:p14="http://schemas.microsoft.com/office/powerpoint/2010/main" val="38902557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43</a:t>
            </a:fld>
            <a:endParaRPr lang="zh-CN" altLang="en-US"/>
          </a:p>
        </p:txBody>
      </p:sp>
    </p:spTree>
    <p:extLst>
      <p:ext uri="{BB962C8B-B14F-4D97-AF65-F5344CB8AC3E}">
        <p14:creationId xmlns:p14="http://schemas.microsoft.com/office/powerpoint/2010/main" val="29758604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r>
              <a:rPr lang="zh-CN" altLang="en-US" dirty="0"/>
              <a:t>问题是什么</a:t>
            </a:r>
            <a:r>
              <a:rPr lang="en-US" altLang="zh-CN" dirty="0"/>
              <a:t>?</a:t>
            </a:r>
            <a:r>
              <a:rPr lang="zh-CN" altLang="en-US" dirty="0"/>
              <a:t>已知</a:t>
            </a:r>
            <a:r>
              <a:rPr lang="en-US" altLang="zh-CN" dirty="0"/>
              <a:t>,</a:t>
            </a:r>
            <a:r>
              <a:rPr lang="zh-CN" altLang="en-US" dirty="0"/>
              <a:t>目标</a:t>
            </a:r>
            <a:r>
              <a:rPr lang="en-US" altLang="zh-CN" dirty="0"/>
              <a:t>?</a:t>
            </a:r>
          </a:p>
          <a:p>
            <a:r>
              <a:rPr lang="zh-CN" altLang="en-US" dirty="0"/>
              <a:t>三维几何造型：对象的三维几何信息在计算机内的表示</a:t>
            </a:r>
            <a:endParaRPr lang="en-US" altLang="zh-CN" dirty="0"/>
          </a:p>
          <a:p>
            <a:r>
              <a:rPr lang="zh-CN" altLang="en-US" dirty="0"/>
              <a:t>基于实体和曲线、曲面等造型技术</a:t>
            </a:r>
            <a:endParaRPr lang="en-US" altLang="zh-CN" dirty="0"/>
          </a:p>
          <a:p>
            <a:r>
              <a:rPr lang="zh-CN" altLang="en-US" dirty="0"/>
              <a:t>按照物体的几何数据或现象的数学函数来构造出造型模型的数据结构。</a:t>
            </a:r>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44</a:t>
            </a:fld>
            <a:endParaRPr lang="zh-CN" altLang="en-US"/>
          </a:p>
        </p:txBody>
      </p:sp>
    </p:spTree>
    <p:extLst>
      <p:ext uri="{BB962C8B-B14F-4D97-AF65-F5344CB8AC3E}">
        <p14:creationId xmlns:p14="http://schemas.microsoft.com/office/powerpoint/2010/main" val="19045469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p:cNvSpPr>
          <p:nvPr>
            <p:ph type="sldImg"/>
          </p:nvPr>
        </p:nvSpPr>
        <p:spPr bwMode="auto">
          <a:noFill/>
          <a:ln>
            <a:solidFill>
              <a:srgbClr val="000000"/>
            </a:solidFill>
            <a:miter lim="800000"/>
          </a:ln>
        </p:spPr>
      </p:sp>
      <p:sp>
        <p:nvSpPr>
          <p:cNvPr id="24578"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dirty="0"/>
          </a:p>
        </p:txBody>
      </p:sp>
      <p:sp>
        <p:nvSpPr>
          <p:cNvPr id="2" name="幻灯片编号占位符 1"/>
          <p:cNvSpPr>
            <a:spLocks noGrp="1"/>
          </p:cNvSpPr>
          <p:nvPr>
            <p:ph type="sldNum" sz="quarter" idx="5"/>
          </p:nvPr>
        </p:nvSpPr>
        <p:spPr/>
        <p:txBody>
          <a:bodyPr/>
          <a:lstStyle/>
          <a:p>
            <a:pPr>
              <a:defRPr/>
            </a:pPr>
            <a:fld id="{D5B23209-9528-41D2-81FD-D3F671D2623B}"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p:cNvSpPr>
            <a:spLocks noGrp="1" noRot="1" noChangeAspect="1"/>
          </p:cNvSpPr>
          <p:nvPr>
            <p:ph type="sldImg"/>
          </p:nvPr>
        </p:nvSpPr>
        <p:spPr bwMode="auto">
          <a:noFill/>
          <a:ln>
            <a:solidFill>
              <a:srgbClr val="000000"/>
            </a:solidFill>
            <a:miter lim="800000"/>
          </a:ln>
        </p:spPr>
      </p:sp>
      <p:sp>
        <p:nvSpPr>
          <p:cNvPr id="5325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2" name="幻灯片编号占位符 1"/>
          <p:cNvSpPr>
            <a:spLocks noGrp="1"/>
          </p:cNvSpPr>
          <p:nvPr>
            <p:ph type="sldNum" sz="quarter" idx="5"/>
          </p:nvPr>
        </p:nvSpPr>
        <p:spPr/>
        <p:txBody>
          <a:bodyPr/>
          <a:lstStyle/>
          <a:p>
            <a:pPr>
              <a:defRPr/>
            </a:pPr>
            <a:fld id="{6BB6DD1C-70C2-4EFD-A8A8-14D55827F27D}" type="slidenum">
              <a:rPr lang="zh-CN" altLang="en-US" smtClean="0"/>
              <a:t>46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122DC173-665B-4A26-91FC-4A9F67B20565}" type="datetimeFigureOut">
              <a:rPr lang="zh-CN" altLang="en-US"/>
              <a:t>2024/11/10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AE23A92-3574-469A-9CC7-E6DE8C54450E}"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2" name="直接连接符 6"/>
          <p:cNvCxnSpPr/>
          <p:nvPr userDrawn="1"/>
        </p:nvCxnSpPr>
        <p:spPr>
          <a:xfrm>
            <a:off x="755650" y="625475"/>
            <a:ext cx="7848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 name="Group 7"/>
          <p:cNvGrpSpPr/>
          <p:nvPr userDrawn="1"/>
        </p:nvGrpSpPr>
        <p:grpSpPr bwMode="auto">
          <a:xfrm>
            <a:off x="323850" y="293688"/>
            <a:ext cx="390525" cy="204787"/>
            <a:chOff x="0" y="0"/>
            <a:chExt cx="1041399" cy="549275"/>
          </a:xfrm>
        </p:grpSpPr>
        <p:sp>
          <p:nvSpPr>
            <p:cNvPr id="4" name="Freeform 16"/>
            <p:cNvSpPr/>
            <p:nvPr/>
          </p:nvSpPr>
          <p:spPr bwMode="auto">
            <a:xfrm>
              <a:off x="0" y="0"/>
              <a:ext cx="364066"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p:spPr>
          <p:txBody>
            <a:bodyPr/>
            <a:lstStyle/>
            <a:p>
              <a:pPr fontAlgn="auto">
                <a:spcBef>
                  <a:spcPts val="0"/>
                </a:spcBef>
                <a:spcAft>
                  <a:spcPts val="0"/>
                </a:spcAft>
                <a:defRPr/>
              </a:pPr>
              <a:endParaRPr lang="zh-CN" altLang="en-US">
                <a:latin typeface="+mn-lt"/>
                <a:ea typeface="+mn-ea"/>
              </a:endParaRPr>
            </a:p>
          </p:txBody>
        </p:sp>
        <p:sp>
          <p:nvSpPr>
            <p:cNvPr id="5" name="Freeform 17"/>
            <p:cNvSpPr/>
            <p:nvPr/>
          </p:nvSpPr>
          <p:spPr bwMode="auto">
            <a:xfrm>
              <a:off x="338666" y="0"/>
              <a:ext cx="359834"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p:spPr>
          <p:txBody>
            <a:bodyPr/>
            <a:lstStyle/>
            <a:p>
              <a:pPr fontAlgn="auto">
                <a:spcBef>
                  <a:spcPts val="0"/>
                </a:spcBef>
                <a:spcAft>
                  <a:spcPts val="0"/>
                </a:spcAft>
                <a:defRPr/>
              </a:pPr>
              <a:endParaRPr lang="zh-CN" altLang="en-US">
                <a:latin typeface="+mn-lt"/>
                <a:ea typeface="+mn-ea"/>
              </a:endParaRPr>
            </a:p>
          </p:txBody>
        </p:sp>
        <p:sp>
          <p:nvSpPr>
            <p:cNvPr id="6" name="Freeform 18"/>
            <p:cNvSpPr/>
            <p:nvPr/>
          </p:nvSpPr>
          <p:spPr bwMode="auto">
            <a:xfrm>
              <a:off x="681567" y="0"/>
              <a:ext cx="35983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p:spPr>
          <p:txBody>
            <a:bodyPr/>
            <a:lstStyle/>
            <a:p>
              <a:pPr fontAlgn="auto">
                <a:spcBef>
                  <a:spcPts val="0"/>
                </a:spcBef>
                <a:spcAft>
                  <a:spcPts val="0"/>
                </a:spcAft>
                <a:defRPr/>
              </a:pPr>
              <a:endParaRPr lang="zh-CN" altLang="en-US">
                <a:latin typeface="+mn-lt"/>
                <a:ea typeface="+mn-ea"/>
              </a:endParaRPr>
            </a:p>
          </p:txBody>
        </p:sp>
      </p:grpSp>
      <p:sp>
        <p:nvSpPr>
          <p:cNvPr id="7" name="TextBox 15"/>
          <p:cNvSpPr txBox="1"/>
          <p:nvPr userDrawn="1"/>
        </p:nvSpPr>
        <p:spPr>
          <a:xfrm>
            <a:off x="8101013" y="241300"/>
            <a:ext cx="671512" cy="366713"/>
          </a:xfrm>
          <a:prstGeom prst="rect">
            <a:avLst/>
          </a:prstGeom>
          <a:noFill/>
        </p:spPr>
        <p:txBody>
          <a:bodyPr>
            <a:spAutoFit/>
          </a:bodyPr>
          <a:lstStyle/>
          <a:p>
            <a:pPr algn="ctr" fontAlgn="auto">
              <a:spcBef>
                <a:spcPts val="0"/>
              </a:spcBef>
              <a:spcAft>
                <a:spcPts val="0"/>
              </a:spcAft>
              <a:defRPr/>
            </a:pPr>
            <a:r>
              <a:rPr lang="zh-CN" altLang="en-US"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A09D11F-E716-44B8-8FA2-B23B49EABBA6}" type="datetimeFigureOut">
              <a:rPr lang="zh-CN" altLang="en-US"/>
              <a:t>2024/11/10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F6D5A9B-347D-4579-B22F-8DCBB002A6F0}"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52C38B1D-1BC3-426A-A310-4624521F40EF}" type="datetimeFigureOut">
              <a:rPr lang="zh-CN" altLang="en-US"/>
              <a:t>2024/11/10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88E634B-DC27-4ACA-834C-DF698BE00BC8}"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72A3881-ADD1-4450-8C90-00F07505A66E}" type="datetimeFigureOut">
              <a:rPr lang="zh-CN" altLang="en-US"/>
              <a:t>2024/11/10</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E71D3073-AF49-4419-8D5E-CEEE6BB15075}"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DF4DD16-33DD-47FC-893D-DF51A2EDB843}" type="datetimeFigureOut">
              <a:rPr lang="zh-CN" altLang="en-US"/>
              <a:t>2024/11/10</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D54AD5F-69AD-4271-9648-DA70AC05B56F}"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5563A42-19F0-40F1-A6DD-6B142903B286}" type="datetimeFigureOut">
              <a:rPr lang="zh-CN" altLang="en-US"/>
              <a:t>2024/11/10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9C89407-44AC-418D-B556-BE41A0BAAF95}"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90C214F-32FD-440C-B92C-F006DA56BA3E}" type="datetimeFigureOut">
              <a:rPr lang="zh-CN" altLang="en-US"/>
              <a:t>2024/11/10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5481203-2A17-4E80-BEE9-EDD8BC1647D5}"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636843A-020A-462F-8B6B-6D1363F54C58}" type="datetimeFigureOut">
              <a:rPr lang="zh-CN" altLang="en-US"/>
              <a:t>2024/11/10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8AC6CE6-AF45-4367-97BA-3D96EC067567}"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67FF310-10A4-4D6A-8284-069B6ECCE9A4}" type="datetimeFigureOut">
              <a:rPr lang="zh-CN" altLang="en-US"/>
              <a:t>2024/11/10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80A9BDA-5D35-42B6-8E29-FCA66843DBA0}"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4319451-2499-45BE-AFDB-DE7D03AEF668}" type="datetimeFigureOut">
              <a:rPr lang="zh-CN" altLang="en-US"/>
              <a:t>2024/11/10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F37C2A-AA4B-4897-BFF7-45A5072FED9F}"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6375"/>
            <a:ext cx="8229600" cy="85725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200150"/>
            <a:ext cx="8229600" cy="3394075"/>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415860AD-FAF2-4382-B98A-FFD2EB969518}" type="datetimeFigureOut">
              <a:rPr lang="zh-CN" altLang="en-US"/>
              <a:t>2024/11/10</a:t>
            </a:fld>
            <a:endParaRPr lang="zh-CN" altLang="en-US"/>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E43B11AB-A67D-49E2-9A24-FC472F570968}"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6.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7.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0.gif"/><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5.png"/><Relationship Id="rId7" Type="http://schemas.openxmlformats.org/officeDocument/2006/relationships/image" Target="../media/image33.jpe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5.png"/><Relationship Id="rId7" Type="http://schemas.openxmlformats.org/officeDocument/2006/relationships/image" Target="../media/image37.jpe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9.gif"/><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1.wmf"/><Relationship Id="rId5" Type="http://schemas.openxmlformats.org/officeDocument/2006/relationships/image" Target="../media/image40.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4356100" y="14288"/>
            <a:ext cx="774700" cy="231775"/>
          </a:xfrm>
          <a:prstGeom prst="rect">
            <a:avLst/>
          </a:prstGeom>
        </p:spPr>
        <p:txBody>
          <a:bodyPr>
            <a:spAutoFit/>
          </a:bodyPr>
          <a:lstStyle/>
          <a:p>
            <a:pPr fontAlgn="auto">
              <a:spcBef>
                <a:spcPts val="0"/>
              </a:spcBef>
              <a:spcAft>
                <a:spcPts val="0"/>
              </a:spcAft>
              <a:defRPr/>
            </a:pPr>
            <a:r>
              <a:rPr lang="en-US" altLang="zh-CN" sz="100" kern="0" dirty="0">
                <a:solidFill>
                  <a:sysClr val="window" lastClr="FFFFFF"/>
                </a:solidFill>
                <a:latin typeface="+mn-lt"/>
                <a:ea typeface="+mn-ea"/>
              </a:rPr>
              <a:t>PPT</a:t>
            </a:r>
            <a:r>
              <a:rPr lang="zh-CN" altLang="en-US" sz="100" kern="0" dirty="0">
                <a:solidFill>
                  <a:sysClr val="window" lastClr="FFFFFF"/>
                </a:solidFill>
                <a:latin typeface="+mn-lt"/>
                <a:ea typeface="+mn-ea"/>
              </a:rPr>
              <a:t>模板下载：</a:t>
            </a:r>
            <a:r>
              <a:rPr lang="en-US" altLang="zh-CN" sz="100" kern="0" dirty="0">
                <a:solidFill>
                  <a:sysClr val="window" lastClr="FFFFFF"/>
                </a:solidFill>
                <a:latin typeface="+mn-lt"/>
                <a:ea typeface="+mn-ea"/>
              </a:rPr>
              <a:t>www.1ppt.com/moban/     </a:t>
            </a:r>
            <a:r>
              <a:rPr lang="zh-CN" altLang="en-US" sz="100" kern="0" dirty="0">
                <a:solidFill>
                  <a:sysClr val="window" lastClr="FFFFFF"/>
                </a:solidFill>
                <a:latin typeface="+mn-lt"/>
                <a:ea typeface="+mn-ea"/>
              </a:rPr>
              <a:t>行业</a:t>
            </a:r>
            <a:r>
              <a:rPr lang="en-US" altLang="zh-CN" sz="100" kern="0" dirty="0">
                <a:solidFill>
                  <a:sysClr val="window" lastClr="FFFFFF"/>
                </a:solidFill>
                <a:latin typeface="+mn-lt"/>
                <a:ea typeface="+mn-ea"/>
              </a:rPr>
              <a:t>PPT</a:t>
            </a:r>
            <a:r>
              <a:rPr lang="zh-CN" altLang="en-US" sz="100" kern="0" dirty="0">
                <a:solidFill>
                  <a:sysClr val="window" lastClr="FFFFFF"/>
                </a:solidFill>
                <a:latin typeface="+mn-lt"/>
                <a:ea typeface="+mn-ea"/>
              </a:rPr>
              <a:t>模板：</a:t>
            </a:r>
            <a:r>
              <a:rPr lang="en-US" altLang="zh-CN" sz="100" kern="0" dirty="0">
                <a:solidFill>
                  <a:sysClr val="window" lastClr="FFFFFF"/>
                </a:solidFill>
                <a:latin typeface="+mn-lt"/>
                <a:ea typeface="+mn-ea"/>
              </a:rPr>
              <a:t>www.1ppt.com/hangye/ </a:t>
            </a:r>
          </a:p>
          <a:p>
            <a:pPr fontAlgn="auto">
              <a:spcBef>
                <a:spcPts val="0"/>
              </a:spcBef>
              <a:spcAft>
                <a:spcPts val="0"/>
              </a:spcAft>
              <a:defRPr/>
            </a:pPr>
            <a:r>
              <a:rPr lang="zh-CN" altLang="en-US" sz="100" kern="0" dirty="0">
                <a:solidFill>
                  <a:sysClr val="window" lastClr="FFFFFF"/>
                </a:solidFill>
                <a:latin typeface="+mn-lt"/>
                <a:ea typeface="+mn-ea"/>
              </a:rPr>
              <a:t>节日</a:t>
            </a:r>
            <a:r>
              <a:rPr lang="en-US" altLang="zh-CN" sz="100" kern="0" dirty="0">
                <a:solidFill>
                  <a:sysClr val="window" lastClr="FFFFFF"/>
                </a:solidFill>
                <a:latin typeface="+mn-lt"/>
                <a:ea typeface="+mn-ea"/>
              </a:rPr>
              <a:t>PPT</a:t>
            </a:r>
            <a:r>
              <a:rPr lang="zh-CN" altLang="en-US" sz="100" kern="0" dirty="0">
                <a:solidFill>
                  <a:sysClr val="window" lastClr="FFFFFF"/>
                </a:solidFill>
                <a:latin typeface="+mn-lt"/>
                <a:ea typeface="+mn-ea"/>
              </a:rPr>
              <a:t>模板：</a:t>
            </a:r>
            <a:r>
              <a:rPr lang="en-US" altLang="zh-CN" sz="100" kern="0" dirty="0">
                <a:solidFill>
                  <a:sysClr val="window" lastClr="FFFFFF"/>
                </a:solidFill>
                <a:latin typeface="+mn-lt"/>
                <a:ea typeface="+mn-ea"/>
              </a:rPr>
              <a:t>www.1ppt.com/jieri/           PPT</a:t>
            </a:r>
            <a:r>
              <a:rPr lang="zh-CN" altLang="en-US" sz="100" kern="0" dirty="0">
                <a:solidFill>
                  <a:sysClr val="window" lastClr="FFFFFF"/>
                </a:solidFill>
                <a:latin typeface="+mn-lt"/>
                <a:ea typeface="+mn-ea"/>
              </a:rPr>
              <a:t>素材下载：</a:t>
            </a:r>
            <a:r>
              <a:rPr lang="en-US" altLang="zh-CN" sz="100" kern="0" dirty="0">
                <a:solidFill>
                  <a:sysClr val="window" lastClr="FFFFFF"/>
                </a:solidFill>
                <a:latin typeface="+mn-lt"/>
                <a:ea typeface="+mn-ea"/>
              </a:rPr>
              <a:t>www.1ppt.com/sucai/</a:t>
            </a:r>
          </a:p>
          <a:p>
            <a:pPr fontAlgn="auto">
              <a:spcBef>
                <a:spcPts val="0"/>
              </a:spcBef>
              <a:spcAft>
                <a:spcPts val="0"/>
              </a:spcAft>
              <a:defRPr/>
            </a:pPr>
            <a:r>
              <a:rPr lang="en-US" altLang="zh-CN" sz="100" kern="0" dirty="0">
                <a:solidFill>
                  <a:sysClr val="window" lastClr="FFFFFF"/>
                </a:solidFill>
                <a:latin typeface="+mn-lt"/>
                <a:ea typeface="+mn-ea"/>
              </a:rPr>
              <a:t>PPT</a:t>
            </a:r>
            <a:r>
              <a:rPr lang="zh-CN" altLang="en-US" sz="100" kern="0" dirty="0">
                <a:solidFill>
                  <a:sysClr val="window" lastClr="FFFFFF"/>
                </a:solidFill>
                <a:latin typeface="+mn-lt"/>
                <a:ea typeface="+mn-ea"/>
              </a:rPr>
              <a:t>背景图片：</a:t>
            </a:r>
            <a:r>
              <a:rPr lang="en-US" altLang="zh-CN" sz="100" kern="0" dirty="0">
                <a:solidFill>
                  <a:sysClr val="window" lastClr="FFFFFF"/>
                </a:solidFill>
                <a:latin typeface="+mn-lt"/>
                <a:ea typeface="+mn-ea"/>
              </a:rPr>
              <a:t>www.1ppt.com/beijing/      PPT</a:t>
            </a:r>
            <a:r>
              <a:rPr lang="zh-CN" altLang="en-US" sz="100" kern="0" dirty="0">
                <a:solidFill>
                  <a:sysClr val="window" lastClr="FFFFFF"/>
                </a:solidFill>
                <a:latin typeface="+mn-lt"/>
                <a:ea typeface="+mn-ea"/>
              </a:rPr>
              <a:t>图表下载：</a:t>
            </a:r>
            <a:r>
              <a:rPr lang="en-US" altLang="zh-CN" sz="100" kern="0" dirty="0">
                <a:solidFill>
                  <a:sysClr val="window" lastClr="FFFFFF"/>
                </a:solidFill>
                <a:latin typeface="+mn-lt"/>
                <a:ea typeface="+mn-ea"/>
              </a:rPr>
              <a:t>www.1ppt.com/tubiao/      </a:t>
            </a:r>
          </a:p>
          <a:p>
            <a:pPr fontAlgn="auto">
              <a:spcBef>
                <a:spcPts val="0"/>
              </a:spcBef>
              <a:spcAft>
                <a:spcPts val="0"/>
              </a:spcAft>
              <a:defRPr/>
            </a:pPr>
            <a:r>
              <a:rPr lang="zh-CN" altLang="en-US" sz="100" kern="0" dirty="0">
                <a:solidFill>
                  <a:sysClr val="window" lastClr="FFFFFF"/>
                </a:solidFill>
                <a:latin typeface="+mn-lt"/>
                <a:ea typeface="+mn-ea"/>
              </a:rPr>
              <a:t>优秀</a:t>
            </a:r>
            <a:r>
              <a:rPr lang="en-US" altLang="zh-CN" sz="100" kern="0" dirty="0">
                <a:solidFill>
                  <a:sysClr val="window" lastClr="FFFFFF"/>
                </a:solidFill>
                <a:latin typeface="+mn-lt"/>
                <a:ea typeface="+mn-ea"/>
              </a:rPr>
              <a:t>PPT</a:t>
            </a:r>
            <a:r>
              <a:rPr lang="zh-CN" altLang="en-US" sz="100" kern="0" dirty="0">
                <a:solidFill>
                  <a:sysClr val="window" lastClr="FFFFFF"/>
                </a:solidFill>
                <a:latin typeface="+mn-lt"/>
                <a:ea typeface="+mn-ea"/>
              </a:rPr>
              <a:t>下载：</a:t>
            </a:r>
            <a:r>
              <a:rPr lang="en-US" altLang="zh-CN" sz="100" kern="0" dirty="0">
                <a:solidFill>
                  <a:sysClr val="window" lastClr="FFFFFF"/>
                </a:solidFill>
                <a:latin typeface="+mn-lt"/>
                <a:ea typeface="+mn-ea"/>
              </a:rPr>
              <a:t>www.1ppt.com/xiazai/        PPT</a:t>
            </a:r>
            <a:r>
              <a:rPr lang="zh-CN" altLang="en-US" sz="100" kern="0" dirty="0">
                <a:solidFill>
                  <a:sysClr val="window" lastClr="FFFFFF"/>
                </a:solidFill>
                <a:latin typeface="+mn-lt"/>
                <a:ea typeface="+mn-ea"/>
              </a:rPr>
              <a:t>教程： </a:t>
            </a:r>
            <a:r>
              <a:rPr lang="en-US" altLang="zh-CN" sz="100" kern="0" dirty="0">
                <a:solidFill>
                  <a:sysClr val="window" lastClr="FFFFFF"/>
                </a:solidFill>
                <a:latin typeface="+mn-lt"/>
                <a:ea typeface="+mn-ea"/>
              </a:rPr>
              <a:t>www.1ppt.com/powerpoint/      </a:t>
            </a:r>
          </a:p>
          <a:p>
            <a:pPr fontAlgn="auto">
              <a:spcBef>
                <a:spcPts val="0"/>
              </a:spcBef>
              <a:spcAft>
                <a:spcPts val="0"/>
              </a:spcAft>
              <a:defRPr/>
            </a:pPr>
            <a:r>
              <a:rPr lang="en-US" altLang="zh-CN" sz="100" kern="0" dirty="0">
                <a:solidFill>
                  <a:sysClr val="window" lastClr="FFFFFF"/>
                </a:solidFill>
                <a:latin typeface="+mn-lt"/>
                <a:ea typeface="+mn-ea"/>
              </a:rPr>
              <a:t>Word</a:t>
            </a:r>
            <a:r>
              <a:rPr lang="zh-CN" altLang="en-US" sz="100" kern="0" dirty="0">
                <a:solidFill>
                  <a:sysClr val="window" lastClr="FFFFFF"/>
                </a:solidFill>
                <a:latin typeface="+mn-lt"/>
                <a:ea typeface="+mn-ea"/>
              </a:rPr>
              <a:t>教程： </a:t>
            </a:r>
            <a:r>
              <a:rPr lang="en-US" altLang="zh-CN" sz="100" kern="0" dirty="0">
                <a:solidFill>
                  <a:sysClr val="window" lastClr="FFFFFF"/>
                </a:solidFill>
                <a:latin typeface="+mn-lt"/>
                <a:ea typeface="+mn-ea"/>
              </a:rPr>
              <a:t>www.1ppt.com/word/              Excel</a:t>
            </a:r>
            <a:r>
              <a:rPr lang="zh-CN" altLang="en-US" sz="100" kern="0" dirty="0">
                <a:solidFill>
                  <a:sysClr val="window" lastClr="FFFFFF"/>
                </a:solidFill>
                <a:latin typeface="+mn-lt"/>
                <a:ea typeface="+mn-ea"/>
              </a:rPr>
              <a:t>教程：</a:t>
            </a:r>
            <a:r>
              <a:rPr lang="en-US" altLang="zh-CN" sz="100" kern="0" dirty="0">
                <a:solidFill>
                  <a:sysClr val="window" lastClr="FFFFFF"/>
                </a:solidFill>
                <a:latin typeface="+mn-lt"/>
                <a:ea typeface="+mn-ea"/>
              </a:rPr>
              <a:t>www.1ppt.com/excel/  </a:t>
            </a:r>
          </a:p>
          <a:p>
            <a:pPr fontAlgn="auto">
              <a:spcBef>
                <a:spcPts val="0"/>
              </a:spcBef>
              <a:spcAft>
                <a:spcPts val="0"/>
              </a:spcAft>
              <a:defRPr/>
            </a:pPr>
            <a:r>
              <a:rPr lang="zh-CN" altLang="en-US" sz="100" kern="0" dirty="0">
                <a:solidFill>
                  <a:sysClr val="window" lastClr="FFFFFF"/>
                </a:solidFill>
                <a:latin typeface="+mn-lt"/>
                <a:ea typeface="+mn-ea"/>
              </a:rPr>
              <a:t>资料下载：</a:t>
            </a:r>
            <a:r>
              <a:rPr lang="en-US" altLang="zh-CN" sz="100" kern="0" dirty="0">
                <a:solidFill>
                  <a:sysClr val="window" lastClr="FFFFFF"/>
                </a:solidFill>
                <a:latin typeface="+mn-lt"/>
                <a:ea typeface="+mn-ea"/>
              </a:rPr>
              <a:t>www.1ppt.com/ziliao/                PPT</a:t>
            </a:r>
            <a:r>
              <a:rPr lang="zh-CN" altLang="en-US" sz="100" kern="0" dirty="0">
                <a:solidFill>
                  <a:sysClr val="window" lastClr="FFFFFF"/>
                </a:solidFill>
                <a:latin typeface="+mn-lt"/>
                <a:ea typeface="+mn-ea"/>
              </a:rPr>
              <a:t>课件下载：</a:t>
            </a:r>
            <a:r>
              <a:rPr lang="en-US" altLang="zh-CN" sz="100" kern="0" dirty="0">
                <a:solidFill>
                  <a:sysClr val="window" lastClr="FFFFFF"/>
                </a:solidFill>
                <a:latin typeface="+mn-lt"/>
                <a:ea typeface="+mn-ea"/>
              </a:rPr>
              <a:t>www.1ppt.com/kejian/ </a:t>
            </a:r>
          </a:p>
          <a:p>
            <a:pPr fontAlgn="auto">
              <a:spcBef>
                <a:spcPts val="0"/>
              </a:spcBef>
              <a:spcAft>
                <a:spcPts val="0"/>
              </a:spcAft>
              <a:defRPr/>
            </a:pPr>
            <a:r>
              <a:rPr lang="zh-CN" altLang="en-US" sz="100" kern="0" dirty="0">
                <a:solidFill>
                  <a:sysClr val="window" lastClr="FFFFFF"/>
                </a:solidFill>
                <a:latin typeface="+mn-lt"/>
                <a:ea typeface="+mn-ea"/>
              </a:rPr>
              <a:t>范文下载：</a:t>
            </a:r>
            <a:r>
              <a:rPr lang="en-US" altLang="zh-CN" sz="100" kern="0" dirty="0">
                <a:solidFill>
                  <a:sysClr val="window" lastClr="FFFFFF"/>
                </a:solidFill>
                <a:latin typeface="+mn-lt"/>
                <a:ea typeface="+mn-ea"/>
              </a:rPr>
              <a:t>www.1ppt.com/fanwen/             </a:t>
            </a:r>
            <a:r>
              <a:rPr lang="zh-CN" altLang="en-US" sz="100" kern="0" dirty="0">
                <a:solidFill>
                  <a:sysClr val="window" lastClr="FFFFFF"/>
                </a:solidFill>
                <a:latin typeface="+mn-lt"/>
                <a:ea typeface="+mn-ea"/>
              </a:rPr>
              <a:t>试卷下载：</a:t>
            </a:r>
            <a:r>
              <a:rPr lang="en-US" altLang="zh-CN" sz="100" kern="0" dirty="0">
                <a:solidFill>
                  <a:sysClr val="window" lastClr="FFFFFF"/>
                </a:solidFill>
                <a:latin typeface="+mn-lt"/>
                <a:ea typeface="+mn-ea"/>
              </a:rPr>
              <a:t>www.1ppt.com/shiti/  </a:t>
            </a:r>
          </a:p>
          <a:p>
            <a:pPr fontAlgn="auto">
              <a:spcBef>
                <a:spcPts val="0"/>
              </a:spcBef>
              <a:spcAft>
                <a:spcPts val="0"/>
              </a:spcAft>
              <a:defRPr/>
            </a:pPr>
            <a:r>
              <a:rPr lang="zh-CN" altLang="en-US" sz="100" kern="0" dirty="0">
                <a:solidFill>
                  <a:sysClr val="window" lastClr="FFFFFF"/>
                </a:solidFill>
                <a:latin typeface="+mn-lt"/>
                <a:ea typeface="+mn-ea"/>
              </a:rPr>
              <a:t>教案下载：</a:t>
            </a:r>
            <a:r>
              <a:rPr lang="en-US" altLang="zh-CN" sz="100" kern="0" dirty="0">
                <a:solidFill>
                  <a:sysClr val="window" lastClr="FFFFFF"/>
                </a:solidFill>
                <a:latin typeface="+mn-lt"/>
                <a:ea typeface="+mn-ea"/>
              </a:rPr>
              <a:t>www.1ppt.com/jiaoan/        PPT</a:t>
            </a:r>
            <a:r>
              <a:rPr lang="zh-CN" altLang="en-US" sz="100" kern="0" dirty="0">
                <a:solidFill>
                  <a:sysClr val="window" lastClr="FFFFFF"/>
                </a:solidFill>
                <a:latin typeface="+mn-lt"/>
                <a:ea typeface="+mn-ea"/>
              </a:rPr>
              <a:t>论坛：</a:t>
            </a:r>
            <a:r>
              <a:rPr lang="en-US" altLang="zh-CN" sz="100" kern="0" dirty="0">
                <a:solidFill>
                  <a:sysClr val="window" lastClr="FFFFFF"/>
                </a:solidFill>
                <a:latin typeface="+mn-lt"/>
                <a:ea typeface="+mn-ea"/>
              </a:rPr>
              <a:t>www.1ppt.cn</a:t>
            </a:r>
          </a:p>
          <a:p>
            <a:pPr fontAlgn="auto">
              <a:spcBef>
                <a:spcPts val="0"/>
              </a:spcBef>
              <a:spcAft>
                <a:spcPts val="0"/>
              </a:spcAft>
              <a:defRPr/>
            </a:pPr>
            <a:r>
              <a:rPr lang="en-US" altLang="zh-CN" sz="100" kern="0" dirty="0">
                <a:solidFill>
                  <a:sysClr val="window" lastClr="FFFFFF"/>
                </a:solidFill>
                <a:latin typeface="+mn-lt"/>
                <a:ea typeface="+mn-ea"/>
              </a:rPr>
              <a:t> </a:t>
            </a:r>
            <a:endParaRPr lang="zh-CN" altLang="en-US" sz="100" kern="0" dirty="0">
              <a:solidFill>
                <a:sysClr val="window" lastClr="FFFFFF"/>
              </a:solidFill>
              <a:latin typeface="+mn-lt"/>
              <a:ea typeface="+mn-ea"/>
            </a:endParaRPr>
          </a:p>
        </p:txBody>
      </p:sp>
      <p:sp>
        <p:nvSpPr>
          <p:cNvPr id="3" name="矩形 2"/>
          <p:cNvSpPr/>
          <p:nvPr/>
        </p:nvSpPr>
        <p:spPr>
          <a:xfrm>
            <a:off x="-19050" y="7938"/>
            <a:ext cx="9144000" cy="3175000"/>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7411" name="图片 1"/>
          <p:cNvPicPr>
            <a:picLocks noChangeAspect="1"/>
          </p:cNvPicPr>
          <p:nvPr/>
        </p:nvPicPr>
        <p:blipFill>
          <a:blip r:embed="rId3" cstate="print">
            <a:lum bright="70000" contrast="-70000"/>
            <a:extLst>
              <a:ext uri="{BEBA8EAE-BF5A-486C-A8C5-ECC9F3942E4B}">
                <a14:imgProps xmlns:a14="http://schemas.microsoft.com/office/drawing/2010/main">
                  <a14:imgLayer r:embed="rId4">
                    <a14:imgEffect>
                      <a14:artisticBlur/>
                    </a14:imgEffect>
                    <a14:imgEffect>
                      <a14:colorTemperature colorTemp="5900"/>
                    </a14:imgEffect>
                  </a14:imgLayer>
                </a14:imgProps>
              </a:ext>
            </a:extLst>
          </a:blip>
          <a:srcRect/>
          <a:stretch>
            <a:fillRect/>
          </a:stretch>
        </p:blipFill>
        <p:spPr bwMode="auto">
          <a:xfrm>
            <a:off x="5438776" y="130175"/>
            <a:ext cx="3103562" cy="3040063"/>
          </a:xfrm>
          <a:prstGeom prst="rect">
            <a:avLst/>
          </a:prstGeom>
          <a:noFill/>
          <a:ln w="9525">
            <a:noFill/>
            <a:miter lim="800000"/>
            <a:headEnd/>
            <a:tailEnd/>
          </a:ln>
        </p:spPr>
      </p:pic>
      <p:sp>
        <p:nvSpPr>
          <p:cNvPr id="17412" name="Rectangle 3"/>
          <p:cNvSpPr txBox="1">
            <a:spLocks noChangeArrowheads="1"/>
          </p:cNvSpPr>
          <p:nvPr/>
        </p:nvSpPr>
        <p:spPr bwMode="auto">
          <a:xfrm>
            <a:off x="200671" y="1089025"/>
            <a:ext cx="4685085" cy="501650"/>
          </a:xfrm>
          <a:prstGeom prst="rect">
            <a:avLst/>
          </a:prstGeom>
          <a:noFill/>
          <a:ln w="9525">
            <a:noFill/>
            <a:miter lim="800000"/>
          </a:ln>
        </p:spPr>
        <p:txBody>
          <a:bodyPr anchor="ctr"/>
          <a:lstStyle/>
          <a:p>
            <a:pPr algn="ct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华文隶书" panose="02010800040101010101" charset="-122"/>
              </a:rPr>
              <a:t>计算机图形学</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华文隶书" panose="02010800040101010101" charset="-122"/>
              </a:rPr>
              <a:t>——</a:t>
            </a: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华文隶书" panose="02010800040101010101" charset="-122"/>
            </a:endParaRPr>
          </a:p>
        </p:txBody>
      </p:sp>
      <p:sp>
        <p:nvSpPr>
          <p:cNvPr id="17413" name="Rectangle 4"/>
          <p:cNvSpPr txBox="1">
            <a:spLocks noChangeArrowheads="1"/>
          </p:cNvSpPr>
          <p:nvPr/>
        </p:nvSpPr>
        <p:spPr bwMode="auto">
          <a:xfrm>
            <a:off x="5364088" y="3363838"/>
            <a:ext cx="3779912" cy="322262"/>
          </a:xfrm>
          <a:prstGeom prst="rect">
            <a:avLst/>
          </a:prstGeom>
          <a:noFill/>
          <a:ln w="9525">
            <a:noFill/>
            <a:miter lim="800000"/>
          </a:ln>
        </p:spPr>
        <p:txBody>
          <a:bodyPr anchor="ctr"/>
          <a:lstStyle/>
          <a:p>
            <a:pPr>
              <a:spcBef>
                <a:spcPct val="20000"/>
              </a:spcBef>
              <a:buFont typeface="Arial" panose="020B0604020202020204" pitchFamily="34" charset="0"/>
              <a:buNone/>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开课学院：信息工程学院</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7415" name="图片 3"/>
          <p:cNvPicPr>
            <a:picLocks noChangeAspect="1"/>
          </p:cNvPicPr>
          <p:nvPr/>
        </p:nvPicPr>
        <p:blipFill>
          <a:blip r:embed="rId5" cstate="print"/>
          <a:srcRect/>
          <a:stretch>
            <a:fillRect/>
          </a:stretch>
        </p:blipFill>
        <p:spPr bwMode="auto">
          <a:xfrm>
            <a:off x="433388" y="246063"/>
            <a:ext cx="765175" cy="749300"/>
          </a:xfrm>
          <a:prstGeom prst="rect">
            <a:avLst/>
          </a:prstGeom>
          <a:noFill/>
          <a:ln w="9525">
            <a:noFill/>
            <a:miter lim="800000"/>
            <a:headEnd/>
            <a:tailEnd/>
          </a:ln>
        </p:spPr>
      </p:pic>
      <p:pic>
        <p:nvPicPr>
          <p:cNvPr id="17416" name="图片 4"/>
          <p:cNvPicPr>
            <a:picLocks noChangeAspect="1"/>
          </p:cNvPicPr>
          <p:nvPr/>
        </p:nvPicPr>
        <p:blipFill>
          <a:blip r:embed="rId6" cstate="print"/>
          <a:srcRect/>
          <a:stretch>
            <a:fillRect/>
          </a:stretch>
        </p:blipFill>
        <p:spPr bwMode="auto">
          <a:xfrm>
            <a:off x="1277938" y="414338"/>
            <a:ext cx="1871662" cy="487362"/>
          </a:xfrm>
          <a:prstGeom prst="rect">
            <a:avLst/>
          </a:prstGeom>
          <a:noFill/>
          <a:ln w="9525">
            <a:noFill/>
            <a:miter lim="800000"/>
            <a:headEnd/>
            <a:tailEnd/>
          </a:ln>
        </p:spPr>
      </p:pic>
      <p:sp>
        <p:nvSpPr>
          <p:cNvPr id="9" name="Rectangle 3"/>
          <p:cNvSpPr txBox="1">
            <a:spLocks noChangeArrowheads="1"/>
          </p:cNvSpPr>
          <p:nvPr/>
        </p:nvSpPr>
        <p:spPr bwMode="auto">
          <a:xfrm>
            <a:off x="922337" y="1862931"/>
            <a:ext cx="7642225" cy="501650"/>
          </a:xfrm>
          <a:prstGeom prst="rect">
            <a:avLst/>
          </a:prstGeom>
          <a:noFill/>
          <a:ln w="9525">
            <a:noFill/>
            <a:miter lim="800000"/>
          </a:ln>
        </p:spPr>
        <p:txBody>
          <a:bodyPr anchor="ctr"/>
          <a:lstStyle/>
          <a:p>
            <a:pPr algn="ctr">
              <a:lnSpc>
                <a:spcPct val="150000"/>
              </a:lnSpc>
            </a:pPr>
            <a:r>
              <a:rPr lang="en-US" altLang="zh-CN" sz="6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华文隶书" panose="02010800040101010101" charset="-122"/>
              </a:rPr>
              <a:t>5. </a:t>
            </a:r>
            <a:r>
              <a:rPr lang="zh-CN" altLang="en-US" sz="6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华文隶书" panose="02010800040101010101" charset="-122"/>
              </a:rPr>
              <a:t>实体造型</a:t>
            </a:r>
          </a:p>
        </p:txBody>
      </p:sp>
      <p:sp>
        <p:nvSpPr>
          <p:cNvPr id="10" name="文本框 9"/>
          <p:cNvSpPr txBox="1"/>
          <p:nvPr/>
        </p:nvSpPr>
        <p:spPr>
          <a:xfrm>
            <a:off x="-9342" y="4780528"/>
            <a:ext cx="9144000" cy="355034"/>
          </a:xfrm>
          <a:prstGeom prst="rect">
            <a:avLst/>
          </a:prstGeom>
          <a:solidFill>
            <a:srgbClr val="74C4FF"/>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1" name="Rectangle 4"/>
          <p:cNvSpPr txBox="1">
            <a:spLocks noChangeArrowheads="1"/>
          </p:cNvSpPr>
          <p:nvPr/>
        </p:nvSpPr>
        <p:spPr bwMode="auto">
          <a:xfrm>
            <a:off x="5345038" y="3867894"/>
            <a:ext cx="3779912" cy="322262"/>
          </a:xfrm>
          <a:prstGeom prst="rect">
            <a:avLst/>
          </a:prstGeom>
          <a:noFill/>
          <a:ln w="9525">
            <a:noFill/>
            <a:miter lim="800000"/>
          </a:ln>
        </p:spPr>
        <p:txBody>
          <a:bodyPr anchor="ctr"/>
          <a:lstStyle/>
          <a:p>
            <a:pPr>
              <a:spcBef>
                <a:spcPct val="20000"/>
              </a:spcBef>
              <a:buFont typeface="Arial" panose="020B0604020202020204" pitchFamily="34" charset="0"/>
              <a:buNone/>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授课教师：彭昌猛（博士）</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2" name="Rectangle 4"/>
          <p:cNvSpPr txBox="1">
            <a:spLocks noChangeArrowheads="1"/>
          </p:cNvSpPr>
          <p:nvPr/>
        </p:nvSpPr>
        <p:spPr bwMode="auto">
          <a:xfrm>
            <a:off x="5364088" y="4337720"/>
            <a:ext cx="3779912" cy="322262"/>
          </a:xfrm>
          <a:prstGeom prst="rect">
            <a:avLst/>
          </a:prstGeom>
          <a:noFill/>
          <a:ln w="9525">
            <a:noFill/>
            <a:miter lim="800000"/>
          </a:ln>
        </p:spPr>
        <p:txBody>
          <a:bodyPr anchor="ctr"/>
          <a:lstStyle/>
          <a:p>
            <a:pPr>
              <a:spcBef>
                <a:spcPct val="20000"/>
              </a:spcBef>
              <a:buFont typeface="Arial" panose="020B0604020202020204" pitchFamily="34" charset="0"/>
              <a:buNone/>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授课时间：</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2024.11.04</a:t>
            </a:r>
          </a:p>
        </p:txBody>
      </p:sp>
      <p:sp>
        <p:nvSpPr>
          <p:cNvPr id="13" name="日期占位符 3"/>
          <p:cNvSpPr>
            <a:spLocks noGrp="1" noChangeArrowheads="1"/>
          </p:cNvSpPr>
          <p:nvPr>
            <p:ph type="dt" sz="quarter" idx="10"/>
          </p:nvPr>
        </p:nvSpPr>
        <p:spPr>
          <a:xfrm>
            <a:off x="122238" y="4811869"/>
            <a:ext cx="23114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Tree>
  </p:cSld>
  <p:clrMapOvr>
    <a:masterClrMapping/>
  </p:clrMapOvr>
  <p:transition spd="med" advClick="0">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endParaRPr lang="en-GB" altLang="zh-CN"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2" name="文本框 1"/>
          <p:cNvSpPr txBox="1"/>
          <p:nvPr/>
        </p:nvSpPr>
        <p:spPr>
          <a:xfrm>
            <a:off x="611560" y="900113"/>
            <a:ext cx="8064896" cy="1689052"/>
          </a:xfrm>
          <a:prstGeom prst="rect">
            <a:avLst/>
          </a:prstGeom>
          <a:noFill/>
        </p:spPr>
        <p:txBody>
          <a:bodyPr wrap="square" rtlCol="0">
            <a:spAutoFit/>
          </a:bodyPr>
          <a:lstStyle/>
          <a:p>
            <a:pPr>
              <a:lnSpc>
                <a:spcPct val="150000"/>
              </a:lnSpc>
            </a:pPr>
            <a:r>
              <a:rPr lang="zh-CN" altLang="en-US" sz="2400" dirty="0">
                <a:solidFill>
                  <a:srgbClr val="FF3300"/>
                </a:solidFill>
                <a:latin typeface="微软雅黑" panose="020B0503020204020204" pitchFamily="34" charset="-122"/>
                <a:ea typeface="微软雅黑" panose="020B0503020204020204" pitchFamily="34" charset="-122"/>
              </a:rPr>
              <a:t>课程回顾</a:t>
            </a:r>
            <a:endParaRPr lang="en-US" altLang="zh-CN" sz="2400" dirty="0">
              <a:solidFill>
                <a:srgbClr val="FF3300"/>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solidFill>
                  <a:srgbClr val="7030A0"/>
                </a:solidFill>
                <a:latin typeface="微软雅黑" panose="020B0503020204020204" pitchFamily="34" charset="-122"/>
                <a:ea typeface="微软雅黑" panose="020B0503020204020204" pitchFamily="34" charset="-122"/>
              </a:rPr>
              <a:t>观察变换</a:t>
            </a: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rPr>
              <a:t>：有哪些基本几何变换？</a:t>
            </a:r>
            <a:endPar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solidFill>
                  <a:srgbClr val="7030A0"/>
                </a:solidFill>
                <a:latin typeface="微软雅黑" panose="020B0503020204020204" pitchFamily="34" charset="-122"/>
                <a:ea typeface="微软雅黑" panose="020B0503020204020204" pitchFamily="34" charset="-122"/>
              </a:rPr>
              <a:t>投影变换</a:t>
            </a: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rPr>
              <a:t>：平行投影、透视投影</a:t>
            </a: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rPr>
              <a:t>变换</a:t>
            </a:r>
            <a:endPar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Tree>
  </p:cSld>
  <p:clrMapOvr>
    <a:masterClrMapping/>
  </p:clrMapOvr>
  <p:transition spd="med" advClick="0">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问题提出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15" name="Rectangle 3">
            <a:extLst>
              <a:ext uri="{FF2B5EF4-FFF2-40B4-BE49-F238E27FC236}">
                <a16:creationId xmlns:a16="http://schemas.microsoft.com/office/drawing/2014/main" id="{9F0F42FA-379A-4796-99E8-52286C245FF6}"/>
              </a:ext>
            </a:extLst>
          </p:cNvPr>
          <p:cNvSpPr txBox="1">
            <a:spLocks noChangeArrowheads="1"/>
          </p:cNvSpPr>
          <p:nvPr/>
        </p:nvSpPr>
        <p:spPr bwMode="auto">
          <a:xfrm>
            <a:off x="247650" y="692100"/>
            <a:ext cx="6845300" cy="79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zh-CN" altLang="en-US" kern="0" dirty="0">
                <a:ea typeface="宋体" panose="02010600030101010101" pitchFamily="2" charset="-122"/>
              </a:rPr>
              <a:t>如何利用计算机表示三维对象</a:t>
            </a:r>
            <a:r>
              <a:rPr lang="en-US" altLang="zh-CN" kern="0" dirty="0">
                <a:ea typeface="宋体" panose="02010600030101010101" pitchFamily="2" charset="-122"/>
              </a:rPr>
              <a:t>?</a:t>
            </a:r>
          </a:p>
          <a:p>
            <a:pPr eaLnBrk="1" hangingPunct="1"/>
            <a:endParaRPr lang="zh-CN" altLang="en-US" kern="0" dirty="0">
              <a:ea typeface="宋体" panose="02010600030101010101" pitchFamily="2" charset="-122"/>
            </a:endParaRPr>
          </a:p>
        </p:txBody>
      </p:sp>
      <p:pic>
        <p:nvPicPr>
          <p:cNvPr id="16" name="Picture 11" descr="http://www.cgrealm.cn/u/img/model/2007-11-27_225536.jpg">
            <a:extLst>
              <a:ext uri="{FF2B5EF4-FFF2-40B4-BE49-F238E27FC236}">
                <a16:creationId xmlns:a16="http://schemas.microsoft.com/office/drawing/2014/main" id="{4867940C-D74F-455B-AE12-DE100F9123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1500590"/>
            <a:ext cx="4127019" cy="3130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AutoShape 4">
            <a:extLst>
              <a:ext uri="{FF2B5EF4-FFF2-40B4-BE49-F238E27FC236}">
                <a16:creationId xmlns:a16="http://schemas.microsoft.com/office/drawing/2014/main" id="{6DD45298-7FA8-4794-92E6-FA131CAF3B7F}"/>
              </a:ext>
            </a:extLst>
          </p:cNvPr>
          <p:cNvSpPr>
            <a:spLocks noChangeArrowheads="1"/>
          </p:cNvSpPr>
          <p:nvPr/>
        </p:nvSpPr>
        <p:spPr bwMode="auto">
          <a:xfrm>
            <a:off x="1833817" y="2769689"/>
            <a:ext cx="1833624" cy="442507"/>
          </a:xfrm>
          <a:prstGeom prst="wedgeRoundRectCallout">
            <a:avLst>
              <a:gd name="adj1" fmla="val 77184"/>
              <a:gd name="adj2" fmla="val 14395"/>
              <a:gd name="adj3" fmla="val 16667"/>
            </a:avLst>
          </a:prstGeom>
          <a:gradFill rotWithShape="1">
            <a:gsLst>
              <a:gs pos="0">
                <a:srgbClr val="333399">
                  <a:tint val="50000"/>
                  <a:satMod val="300000"/>
                </a:srgbClr>
              </a:gs>
              <a:gs pos="35000">
                <a:srgbClr val="333399">
                  <a:tint val="37000"/>
                  <a:satMod val="300000"/>
                </a:srgbClr>
              </a:gs>
              <a:gs pos="100000">
                <a:srgbClr val="333399">
                  <a:tint val="15000"/>
                  <a:satMod val="350000"/>
                </a:srgbClr>
              </a:gs>
            </a:gsLst>
            <a:lin ang="16200000" scaled="1"/>
          </a:gradFill>
          <a:ln w="9525" cap="flat" cmpd="sng" algn="ctr">
            <a:solidFill>
              <a:srgbClr val="333399">
                <a:shade val="95000"/>
                <a:satMod val="105000"/>
              </a:srgbClr>
            </a:solidFill>
            <a:prstDash val="solid"/>
          </a:ln>
          <a:effectLst>
            <a:outerShdw blurRad="40000" dist="20000" dir="5400000" rotWithShape="0">
              <a:srgbClr val="000000">
                <a:alpha val="38000"/>
              </a:srgbClr>
            </a:outerShdw>
          </a:effectLst>
        </p:spPr>
        <p:txBody>
          <a:body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rPr>
              <a:t>多维度表示</a:t>
            </a:r>
          </a:p>
        </p:txBody>
      </p:sp>
    </p:spTree>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9" name="Rectangle 5">
            <a:extLst>
              <a:ext uri="{FF2B5EF4-FFF2-40B4-BE49-F238E27FC236}">
                <a16:creationId xmlns:a16="http://schemas.microsoft.com/office/drawing/2014/main" id="{B5778C12-6C16-4A80-8D2E-1CB575EAE52B}"/>
              </a:ext>
            </a:extLst>
          </p:cNvPr>
          <p:cNvSpPr txBox="1">
            <a:spLocks noChangeArrowheads="1"/>
          </p:cNvSpPr>
          <p:nvPr/>
        </p:nvSpPr>
        <p:spPr bwMode="auto">
          <a:xfrm>
            <a:off x="251520" y="691547"/>
            <a:ext cx="4968552" cy="260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buNone/>
            </a:pPr>
            <a:r>
              <a:rPr lang="zh-CN" altLang="en-US" sz="2800" kern="0" dirty="0">
                <a:solidFill>
                  <a:srgbClr val="FF0000"/>
                </a:solidFill>
                <a:ea typeface="宋体" panose="02010600030101010101" pitchFamily="2" charset="-122"/>
              </a:rPr>
              <a:t>建模</a:t>
            </a:r>
            <a:r>
              <a:rPr lang="en-US" altLang="zh-CN" sz="2800" kern="0" dirty="0">
                <a:ea typeface="宋体" panose="02010600030101010101" pitchFamily="2" charset="-122"/>
              </a:rPr>
              <a:t>—— </a:t>
            </a:r>
            <a:r>
              <a:rPr lang="zh-CN" altLang="en-US" sz="2800" kern="0" dirty="0">
                <a:ea typeface="宋体" panose="02010600030101010101" pitchFamily="2" charset="-122"/>
              </a:rPr>
              <a:t>三维几何信息的表示</a:t>
            </a:r>
            <a:endParaRPr lang="en-US" altLang="zh-CN" sz="2800" kern="0" dirty="0">
              <a:ea typeface="宋体" panose="02010600030101010101" pitchFamily="2" charset="-122"/>
            </a:endParaRPr>
          </a:p>
          <a:p>
            <a:pPr eaLnBrk="1" hangingPunct="1"/>
            <a:r>
              <a:rPr lang="zh-CN" altLang="en-US" sz="2800" kern="0" dirty="0">
                <a:solidFill>
                  <a:srgbClr val="FF0000"/>
                </a:solidFill>
                <a:ea typeface="宋体" panose="02010600030101010101" pitchFamily="2" charset="-122"/>
              </a:rPr>
              <a:t>外</a:t>
            </a:r>
            <a:r>
              <a:rPr lang="en-US" altLang="zh-CN" sz="2800" kern="0" dirty="0">
                <a:ea typeface="宋体" panose="02010600030101010101" pitchFamily="2" charset="-122"/>
              </a:rPr>
              <a:t>:</a:t>
            </a:r>
            <a:r>
              <a:rPr lang="zh-CN" altLang="en-US" sz="2800" kern="0" dirty="0">
                <a:ea typeface="宋体" panose="02010600030101010101" pitchFamily="2" charset="-122"/>
              </a:rPr>
              <a:t>屏幕上物体形状信息如何表示：明暗、近大远小</a:t>
            </a:r>
            <a:endParaRPr lang="en-US" altLang="zh-CN" sz="2800" kern="0" dirty="0">
              <a:ea typeface="宋体" panose="02010600030101010101" pitchFamily="2" charset="-122"/>
            </a:endParaRPr>
          </a:p>
          <a:p>
            <a:pPr eaLnBrk="1" hangingPunct="1"/>
            <a:r>
              <a:rPr lang="zh-CN" altLang="en-US" sz="2800" kern="0" dirty="0">
                <a:solidFill>
                  <a:srgbClr val="FF0000"/>
                </a:solidFill>
                <a:ea typeface="宋体" panose="02010600030101010101" pitchFamily="2" charset="-122"/>
              </a:rPr>
              <a:t>内</a:t>
            </a:r>
            <a:r>
              <a:rPr lang="en-US" altLang="zh-CN" sz="2800" kern="0" dirty="0">
                <a:ea typeface="宋体" panose="02010600030101010101" pitchFamily="2" charset="-122"/>
              </a:rPr>
              <a:t>:</a:t>
            </a:r>
            <a:r>
              <a:rPr lang="zh-CN" altLang="en-US" sz="2800" kern="0" dirty="0">
                <a:ea typeface="宋体" panose="02010600030101010101" pitchFamily="2" charset="-122"/>
              </a:rPr>
              <a:t>计算机内部物体形状信息表示。经历了线框模型、</a:t>
            </a:r>
            <a:r>
              <a:rPr lang="zh-CN" altLang="en-US" sz="2800" kern="0" dirty="0">
                <a:highlight>
                  <a:srgbClr val="FFFF00"/>
                </a:highlight>
                <a:ea typeface="宋体" panose="02010600030101010101" pitchFamily="2" charset="-122"/>
              </a:rPr>
              <a:t>表面模型、实体模型</a:t>
            </a:r>
            <a:r>
              <a:rPr lang="zh-CN" altLang="en-US" sz="2800" kern="0" dirty="0">
                <a:ea typeface="宋体" panose="02010600030101010101" pitchFamily="2" charset="-122"/>
              </a:rPr>
              <a:t>阶段。</a:t>
            </a:r>
            <a:endParaRPr lang="en-US" altLang="zh-CN" sz="2800" kern="0" dirty="0">
              <a:ea typeface="宋体" panose="02010600030101010101" pitchFamily="2" charset="-122"/>
            </a:endParaRPr>
          </a:p>
        </p:txBody>
      </p:sp>
      <p:pic>
        <p:nvPicPr>
          <p:cNvPr id="10" name="Picture 15" descr="http://loot-ninja.com/wp-content/uploads/2007/08/shrek.jpg">
            <a:extLst>
              <a:ext uri="{FF2B5EF4-FFF2-40B4-BE49-F238E27FC236}">
                <a16:creationId xmlns:a16="http://schemas.microsoft.com/office/drawing/2014/main" id="{A4495E19-B151-439A-BC27-1419ED9C3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3220" y="1470003"/>
            <a:ext cx="3805218" cy="244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0243862"/>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blinds(horizontal)">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blinds(horizontal)">
                                      <p:cBhvr>
                                        <p:cTn id="2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12FAB675-6B67-43AC-9390-80C48872DE63}"/>
              </a:ext>
            </a:extLst>
          </p:cNvPr>
          <p:cNvSpPr txBox="1">
            <a:spLocks noChangeArrowheads="1"/>
          </p:cNvSpPr>
          <p:nvPr/>
        </p:nvSpPr>
        <p:spPr>
          <a:xfrm>
            <a:off x="323529" y="731429"/>
            <a:ext cx="5544616" cy="3208473"/>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zh-CN" altLang="en-US" sz="2800" dirty="0">
                <a:ea typeface="宋体" panose="02010600030101010101" pitchFamily="2" charset="-122"/>
              </a:rPr>
              <a:t>边界表示</a:t>
            </a:r>
            <a:r>
              <a:rPr lang="en-US" altLang="zh-CN" sz="2800" dirty="0">
                <a:ea typeface="宋体" panose="02010600030101010101" pitchFamily="2" charset="-122"/>
              </a:rPr>
              <a:t>-</a:t>
            </a:r>
            <a:r>
              <a:rPr lang="zh-CN" altLang="en-US" sz="2800" dirty="0">
                <a:ea typeface="宋体" panose="02010600030101010101" pitchFamily="2" charset="-122"/>
              </a:rPr>
              <a:t>多边形网格表示法</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构造表示</a:t>
            </a:r>
            <a:r>
              <a:rPr lang="en-US" altLang="zh-CN" sz="2800" dirty="0">
                <a:ea typeface="宋体" panose="02010600030101010101" pitchFamily="2" charset="-122"/>
              </a:rPr>
              <a:t>(CSG)</a:t>
            </a:r>
          </a:p>
          <a:p>
            <a:pPr lvl="1" eaLnBrk="1" hangingPunct="1"/>
            <a:r>
              <a:rPr lang="zh-CN" altLang="en-US" dirty="0">
                <a:ea typeface="宋体" panose="02010600030101010101" pitchFamily="2" charset="-122"/>
              </a:rPr>
              <a:t>构造</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推移</a:t>
            </a:r>
            <a:endParaRPr lang="en-US" altLang="zh-CN" dirty="0">
              <a:ea typeface="宋体" panose="02010600030101010101" pitchFamily="2" charset="-122"/>
            </a:endParaRPr>
          </a:p>
          <a:p>
            <a:pPr eaLnBrk="1" hangingPunct="1"/>
            <a:r>
              <a:rPr lang="zh-CN" altLang="en-US" sz="2800" dirty="0">
                <a:ea typeface="宋体" panose="02010600030101010101" pitchFamily="2" charset="-122"/>
              </a:rPr>
              <a:t>细分表示</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建模路线</a:t>
            </a:r>
          </a:p>
        </p:txBody>
      </p:sp>
      <p:pic>
        <p:nvPicPr>
          <p:cNvPr id="8" name="Picture 16">
            <a:extLst>
              <a:ext uri="{FF2B5EF4-FFF2-40B4-BE49-F238E27FC236}">
                <a16:creationId xmlns:a16="http://schemas.microsoft.com/office/drawing/2014/main" id="{02D9ADD7-9D69-45D2-B73C-433082CBC1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8145" y="637897"/>
            <a:ext cx="2816225"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CATIA">
            <a:extLst>
              <a:ext uri="{FF2B5EF4-FFF2-40B4-BE49-F238E27FC236}">
                <a16:creationId xmlns:a16="http://schemas.microsoft.com/office/drawing/2014/main" id="{B115F47A-DD57-45DF-BF28-3625D2DEE3E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89488" y="2158842"/>
            <a:ext cx="3406924" cy="255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8283804"/>
      </p:ext>
    </p:extLst>
  </p:cSld>
  <p:clrMapOvr>
    <a:masterClrMapping/>
  </p:clrMapOvr>
  <p:transition spd="med" advClick="0">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边界表示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C4F2A2E4-E92D-4868-B2FF-3642190B3605}"/>
              </a:ext>
            </a:extLst>
          </p:cNvPr>
          <p:cNvSpPr txBox="1">
            <a:spLocks noChangeArrowheads="1"/>
          </p:cNvSpPr>
          <p:nvPr/>
        </p:nvSpPr>
        <p:spPr bwMode="auto">
          <a:xfrm>
            <a:off x="203201" y="629393"/>
            <a:ext cx="8689280" cy="1419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solidFill>
                  <a:srgbClr val="FF0000"/>
                </a:solidFill>
                <a:ea typeface="宋体" panose="02010600030101010101" pitchFamily="2" charset="-122"/>
              </a:rPr>
              <a:t>用许多简单的元素如三角形</a:t>
            </a:r>
            <a:r>
              <a:rPr lang="en-US" altLang="zh-CN" sz="2800" kern="0" dirty="0">
                <a:solidFill>
                  <a:srgbClr val="FF0000"/>
                </a:solidFill>
                <a:ea typeface="宋体" panose="02010600030101010101" pitchFamily="2" charset="-122"/>
              </a:rPr>
              <a:t>/</a:t>
            </a:r>
            <a:r>
              <a:rPr lang="zh-CN" altLang="en-US" sz="2800" kern="0" dirty="0">
                <a:solidFill>
                  <a:srgbClr val="FF0000"/>
                </a:solidFill>
                <a:ea typeface="宋体" panose="02010600030101010101" pitchFamily="2" charset="-122"/>
              </a:rPr>
              <a:t>四边形表示形状</a:t>
            </a:r>
            <a:r>
              <a:rPr lang="en-US" altLang="zh-CN" sz="2800" kern="0" dirty="0">
                <a:ea typeface="宋体" panose="02010600030101010101" pitchFamily="2" charset="-122"/>
              </a:rPr>
              <a:t>,</a:t>
            </a:r>
            <a:r>
              <a:rPr lang="zh-CN" altLang="en-US" sz="2800" kern="0" dirty="0">
                <a:ea typeface="宋体" panose="02010600030101010101" pitchFamily="2" charset="-122"/>
              </a:rPr>
              <a:t>而不是用少得多的但是更复杂</a:t>
            </a:r>
            <a:r>
              <a:rPr lang="en-US" altLang="zh-CN" sz="2800" kern="0" dirty="0">
                <a:ea typeface="宋体" panose="02010600030101010101" pitchFamily="2" charset="-122"/>
              </a:rPr>
              <a:t>\</a:t>
            </a:r>
            <a:r>
              <a:rPr lang="zh-CN" altLang="en-US" sz="2800" kern="0" dirty="0">
                <a:ea typeface="宋体" panose="02010600030101010101" pitchFamily="2" charset="-122"/>
              </a:rPr>
              <a:t>更精确的元素来表示形状</a:t>
            </a:r>
          </a:p>
        </p:txBody>
      </p:sp>
      <p:pic>
        <p:nvPicPr>
          <p:cNvPr id="8" name="Picture 5">
            <a:extLst>
              <a:ext uri="{FF2B5EF4-FFF2-40B4-BE49-F238E27FC236}">
                <a16:creationId xmlns:a16="http://schemas.microsoft.com/office/drawing/2014/main" id="{764D63A1-EA40-4E49-98E3-F5FBF6D976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6096" y="1566065"/>
            <a:ext cx="3139067" cy="320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http://www.4a98.com/d/file/vision/cg/2007-09-29/6b167f40980602faa0166c89e7005d34.jpg">
            <a:extLst>
              <a:ext uri="{FF2B5EF4-FFF2-40B4-BE49-F238E27FC236}">
                <a16:creationId xmlns:a16="http://schemas.microsoft.com/office/drawing/2014/main" id="{EB4F3137-7798-403E-AC08-B71E87DCAF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120" y="1624711"/>
            <a:ext cx="3490509" cy="2338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AutoShape 4">
            <a:extLst>
              <a:ext uri="{FF2B5EF4-FFF2-40B4-BE49-F238E27FC236}">
                <a16:creationId xmlns:a16="http://schemas.microsoft.com/office/drawing/2014/main" id="{BAA862DE-4BB0-46B5-A9C8-4DB44E24D3B4}"/>
              </a:ext>
            </a:extLst>
          </p:cNvPr>
          <p:cNvSpPr>
            <a:spLocks noChangeArrowheads="1"/>
          </p:cNvSpPr>
          <p:nvPr/>
        </p:nvSpPr>
        <p:spPr bwMode="auto">
          <a:xfrm>
            <a:off x="2933130" y="4320070"/>
            <a:ext cx="2070917" cy="478344"/>
          </a:xfrm>
          <a:prstGeom prst="wedgeRoundRectCallout">
            <a:avLst>
              <a:gd name="adj1" fmla="val -50025"/>
              <a:gd name="adj2" fmla="val -126132"/>
              <a:gd name="adj3" fmla="val 16667"/>
            </a:avLst>
          </a:prstGeom>
          <a:gradFill rotWithShape="1">
            <a:gsLst>
              <a:gs pos="0">
                <a:srgbClr val="2D2D8A">
                  <a:tint val="50000"/>
                  <a:satMod val="300000"/>
                </a:srgbClr>
              </a:gs>
              <a:gs pos="35000">
                <a:srgbClr val="2D2D8A">
                  <a:tint val="37000"/>
                  <a:satMod val="300000"/>
                </a:srgbClr>
              </a:gs>
              <a:gs pos="100000">
                <a:srgbClr val="2D2D8A">
                  <a:tint val="15000"/>
                  <a:satMod val="350000"/>
                </a:srgbClr>
              </a:gs>
            </a:gsLst>
            <a:lin ang="16200000" scaled="1"/>
          </a:gradFill>
          <a:ln w="9525" cap="flat" cmpd="sng" algn="ctr">
            <a:solidFill>
              <a:srgbClr val="2D2D8A">
                <a:shade val="95000"/>
                <a:satMod val="105000"/>
              </a:srgbClr>
            </a:solidFill>
            <a:prstDash val="solid"/>
            <a:headEnd/>
            <a:tailEnd/>
          </a:ln>
          <a:effectLst>
            <a:outerShdw blurRad="40000" dist="20000" dir="5400000" rotWithShape="0">
              <a:srgbClr val="000000">
                <a:alpha val="38000"/>
              </a:srgbClr>
            </a:outerShdw>
          </a:effectLst>
        </p:spPr>
        <p:txBody>
          <a:bodyPr lIns="92075" tIns="46038" rIns="92075" bIns="46038"/>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itchFamily="2" charset="2"/>
              <a:buNone/>
              <a:tabLst/>
              <a:defRPr/>
            </a:pPr>
            <a:r>
              <a:rPr kumimoji="1" lang="zh-CN" altLang="en-US" sz="2800" b="0" i="0" u="none" strike="noStrike" kern="0" cap="none" spc="0" normalizeH="0" baseline="0" noProof="0" dirty="0">
                <a:ln>
                  <a:noFill/>
                </a:ln>
                <a:solidFill>
                  <a:srgbClr val="333399"/>
                </a:solidFill>
                <a:effectLst/>
                <a:uLnTx/>
                <a:uFillTx/>
                <a:latin typeface="宋体" pitchFamily="2" charset="-122"/>
                <a:ea typeface="+mn-ea"/>
                <a:cs typeface="+mn-cs"/>
              </a:rPr>
              <a:t>上升为理论</a:t>
            </a:r>
          </a:p>
        </p:txBody>
      </p:sp>
    </p:spTree>
    <p:extLst>
      <p:ext uri="{BB962C8B-B14F-4D97-AF65-F5344CB8AC3E}">
        <p14:creationId xmlns:p14="http://schemas.microsoft.com/office/powerpoint/2010/main" val="329901394"/>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ppt_x"/>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边界表示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B7062E1B-D0A7-4C22-8C03-3F8662FBD346}"/>
              </a:ext>
            </a:extLst>
          </p:cNvPr>
          <p:cNvSpPr txBox="1">
            <a:spLocks noChangeArrowheads="1"/>
          </p:cNvSpPr>
          <p:nvPr/>
        </p:nvSpPr>
        <p:spPr bwMode="auto">
          <a:xfrm>
            <a:off x="305616" y="779082"/>
            <a:ext cx="4842448"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lnSpc>
                <a:spcPts val="3500"/>
              </a:lnSpc>
            </a:pPr>
            <a:r>
              <a:rPr lang="zh-CN" altLang="en-US" sz="2400" kern="0" dirty="0">
                <a:latin typeface="Times New Roman" panose="02020603050405020304" pitchFamily="18" charset="0"/>
                <a:ea typeface="宋体" panose="02010600030101010101" pitchFamily="2" charset="-122"/>
              </a:rPr>
              <a:t>边界表示模型是一种采用</a:t>
            </a:r>
            <a:r>
              <a:rPr lang="zh-CN" altLang="en-US" sz="2400" kern="0" dirty="0">
                <a:solidFill>
                  <a:srgbClr val="FF0000"/>
                </a:solidFill>
                <a:latin typeface="Times New Roman" panose="02020603050405020304" pitchFamily="18" charset="0"/>
                <a:ea typeface="宋体" panose="02010600030101010101" pitchFamily="2" charset="-122"/>
              </a:rPr>
              <a:t>描述形体表面方法</a:t>
            </a:r>
            <a:r>
              <a:rPr lang="zh-CN" altLang="en-US" sz="2400" kern="0" dirty="0">
                <a:latin typeface="Times New Roman" panose="02020603050405020304" pitchFamily="18" charset="0"/>
                <a:ea typeface="宋体" panose="02010600030101010101" pitchFamily="2" charset="-122"/>
              </a:rPr>
              <a:t>的几何表示模型</a:t>
            </a:r>
            <a:r>
              <a:rPr lang="en-US" altLang="zh-CN" sz="2400" kern="0" dirty="0">
                <a:latin typeface="Times New Roman" panose="02020603050405020304" pitchFamily="18" charset="0"/>
                <a:ea typeface="宋体" panose="02010600030101010101" pitchFamily="2" charset="-122"/>
              </a:rPr>
              <a:t>, Boundary representations(B-reps</a:t>
            </a:r>
            <a:r>
              <a:rPr lang="zh-CN" altLang="en-US" sz="2400" kern="0" dirty="0">
                <a:latin typeface="Times New Roman" panose="02020603050405020304" pitchFamily="18" charset="0"/>
                <a:ea typeface="宋体" panose="02010600030101010101" pitchFamily="2" charset="-122"/>
              </a:rPr>
              <a:t>）</a:t>
            </a:r>
            <a:endParaRPr lang="en-US" altLang="zh-CN" sz="2400" kern="0" dirty="0">
              <a:latin typeface="Times New Roman" panose="02020603050405020304" pitchFamily="18" charset="0"/>
              <a:ea typeface="宋体" panose="02010600030101010101" pitchFamily="2" charset="-122"/>
            </a:endParaRPr>
          </a:p>
          <a:p>
            <a:pPr eaLnBrk="1" hangingPunct="1">
              <a:lnSpc>
                <a:spcPts val="3500"/>
              </a:lnSpc>
            </a:pPr>
            <a:r>
              <a:rPr lang="zh-CN" altLang="en-US" sz="2400" kern="0" dirty="0">
                <a:latin typeface="Times New Roman" panose="02020603050405020304" pitchFamily="18" charset="0"/>
                <a:ea typeface="宋体" panose="02010600030101010101" pitchFamily="2" charset="-122"/>
              </a:rPr>
              <a:t>一个形体一般可以通过其边界</a:t>
            </a:r>
            <a:r>
              <a:rPr lang="zh-CN" altLang="en-US" sz="2400" kern="0" dirty="0">
                <a:solidFill>
                  <a:srgbClr val="FF0000"/>
                </a:solidFill>
                <a:latin typeface="Times New Roman" panose="02020603050405020304" pitchFamily="18" charset="0"/>
                <a:ea typeface="宋体" panose="02010600030101010101" pitchFamily="2" charset="-122"/>
              </a:rPr>
              <a:t>拆成</a:t>
            </a:r>
            <a:r>
              <a:rPr lang="zh-CN" altLang="en-US" sz="2400" kern="0" dirty="0">
                <a:latin typeface="Times New Roman" panose="02020603050405020304" pitchFamily="18" charset="0"/>
                <a:ea typeface="宋体" panose="02010600030101010101" pitchFamily="2" charset="-122"/>
              </a:rPr>
              <a:t>一些有界的“</a:t>
            </a:r>
            <a:r>
              <a:rPr lang="zh-CN" altLang="en-US" sz="2400" kern="0" dirty="0">
                <a:solidFill>
                  <a:srgbClr val="FF0000"/>
                </a:solidFill>
                <a:latin typeface="Times New Roman" panose="02020603050405020304" pitchFamily="18" charset="0"/>
                <a:ea typeface="宋体" panose="02010600030101010101" pitchFamily="2" charset="-122"/>
              </a:rPr>
              <a:t>面</a:t>
            </a:r>
            <a:r>
              <a:rPr lang="zh-CN" altLang="en-US" sz="2400" kern="0" dirty="0">
                <a:latin typeface="Times New Roman" panose="02020603050405020304" pitchFamily="18" charset="0"/>
                <a:ea typeface="宋体" panose="02010600030101010101" pitchFamily="2" charset="-122"/>
              </a:rPr>
              <a:t>”或“小片”的子集来表示，而每一个面又可以通过其边界的</a:t>
            </a:r>
            <a:r>
              <a:rPr lang="zh-CN" altLang="en-US" sz="2400" kern="0" dirty="0">
                <a:solidFill>
                  <a:srgbClr val="FF0000"/>
                </a:solidFill>
                <a:latin typeface="Times New Roman" panose="02020603050405020304" pitchFamily="18" charset="0"/>
                <a:ea typeface="宋体" panose="02010600030101010101" pitchFamily="2" charset="-122"/>
              </a:rPr>
              <a:t>边和顶点</a:t>
            </a:r>
            <a:r>
              <a:rPr lang="zh-CN" altLang="en-US" sz="2400" kern="0" dirty="0">
                <a:latin typeface="Times New Roman" panose="02020603050405020304" pitchFamily="18" charset="0"/>
                <a:ea typeface="宋体" panose="02010600030101010101" pitchFamily="2" charset="-122"/>
              </a:rPr>
              <a:t>来表示</a:t>
            </a:r>
            <a:endParaRPr lang="en-US" altLang="zh-CN" sz="2400" kern="0" dirty="0">
              <a:latin typeface="Times New Roman" panose="02020603050405020304" pitchFamily="18" charset="0"/>
              <a:ea typeface="宋体" panose="02010600030101010101" pitchFamily="2" charset="-122"/>
            </a:endParaRPr>
          </a:p>
        </p:txBody>
      </p:sp>
      <p:pic>
        <p:nvPicPr>
          <p:cNvPr id="8" name="Picture 4">
            <a:extLst>
              <a:ext uri="{FF2B5EF4-FFF2-40B4-BE49-F238E27FC236}">
                <a16:creationId xmlns:a16="http://schemas.microsoft.com/office/drawing/2014/main" id="{A60F5B72-CF70-4E56-ADF6-895BBE094AD6}"/>
              </a:ext>
            </a:extLst>
          </p:cNvPr>
          <p:cNvPicPr>
            <a:picLocks noChangeAspect="1" noChangeArrowheads="1"/>
          </p:cNvPicPr>
          <p:nvPr/>
        </p:nvPicPr>
        <p:blipFill>
          <a:blip r:embed="rId5">
            <a:lum bright="24000"/>
            <a:extLst>
              <a:ext uri="{28A0092B-C50C-407E-A947-70E740481C1C}">
                <a14:useLocalDpi xmlns:a14="http://schemas.microsoft.com/office/drawing/2010/main" val="0"/>
              </a:ext>
            </a:extLst>
          </a:blip>
          <a:srcRect/>
          <a:stretch>
            <a:fillRect/>
          </a:stretch>
        </p:blipFill>
        <p:spPr bwMode="auto">
          <a:xfrm>
            <a:off x="5460524" y="1413592"/>
            <a:ext cx="3515678" cy="2653432"/>
          </a:xfrm>
          <a:prstGeom prst="rect">
            <a:avLst/>
          </a:prstGeom>
          <a:solidFill>
            <a:srgbClr val="BBE0E3"/>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5140612"/>
      </p:ext>
    </p:extLst>
  </p:cSld>
  <p:clrMapOvr>
    <a:masterClrMapping/>
  </p:clrMapOvr>
  <p:transition spd="med" advClick="0">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多边形网格</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5B0D35A8-86D6-44D9-A5E7-583305CB31AB}"/>
              </a:ext>
            </a:extLst>
          </p:cNvPr>
          <p:cNvSpPr txBox="1">
            <a:spLocks noChangeArrowheads="1"/>
          </p:cNvSpPr>
          <p:nvPr/>
        </p:nvSpPr>
        <p:spPr bwMode="auto">
          <a:xfrm>
            <a:off x="321593" y="599127"/>
            <a:ext cx="8644830" cy="3366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ea typeface="宋体" panose="02010600030101010101" pitchFamily="2" charset="-122"/>
              </a:rPr>
              <a:t>由</a:t>
            </a:r>
            <a:r>
              <a:rPr lang="zh-CN" altLang="en-US" sz="2800" kern="0" dirty="0">
                <a:solidFill>
                  <a:srgbClr val="FF0000"/>
                </a:solidFill>
                <a:ea typeface="宋体" panose="02010600030101010101" pitchFamily="2" charset="-122"/>
              </a:rPr>
              <a:t>多边形</a:t>
            </a:r>
            <a:r>
              <a:rPr lang="zh-CN" altLang="en-US" sz="2800" kern="0" dirty="0">
                <a:ea typeface="宋体" panose="02010600030101010101" pitchFamily="2" charset="-122"/>
              </a:rPr>
              <a:t>彼此相接构成的</a:t>
            </a:r>
            <a:r>
              <a:rPr lang="zh-CN" altLang="en-US" sz="2800" kern="0" dirty="0">
                <a:solidFill>
                  <a:srgbClr val="FF0000"/>
                </a:solidFill>
                <a:ea typeface="宋体" panose="02010600030101010101" pitchFamily="2" charset="-122"/>
              </a:rPr>
              <a:t>网格</a:t>
            </a:r>
          </a:p>
          <a:p>
            <a:pPr lvl="1"/>
            <a:r>
              <a:rPr lang="zh-CN" altLang="en-US" kern="0" dirty="0">
                <a:ea typeface="宋体" panose="02010600030101010101" pitchFamily="2" charset="-122"/>
              </a:rPr>
              <a:t>多边形称为网格的</a:t>
            </a:r>
            <a:r>
              <a:rPr lang="zh-CN" altLang="en-US" kern="0" dirty="0">
                <a:solidFill>
                  <a:srgbClr val="FF0000"/>
                </a:solidFill>
                <a:ea typeface="宋体" panose="02010600030101010101" pitchFamily="2" charset="-122"/>
              </a:rPr>
              <a:t>面</a:t>
            </a:r>
            <a:r>
              <a:rPr lang="zh-CN" altLang="en-US" kern="0" dirty="0">
                <a:ea typeface="宋体" panose="02010600030101010101" pitchFamily="2" charset="-122"/>
              </a:rPr>
              <a:t>，多边形的顶点也称为网格的</a:t>
            </a:r>
            <a:r>
              <a:rPr lang="zh-CN" altLang="en-US" kern="0" dirty="0">
                <a:solidFill>
                  <a:srgbClr val="FF0000"/>
                </a:solidFill>
                <a:ea typeface="宋体" panose="02010600030101010101" pitchFamily="2" charset="-122"/>
              </a:rPr>
              <a:t>顶点</a:t>
            </a:r>
          </a:p>
          <a:p>
            <a:pPr lvl="1"/>
            <a:r>
              <a:rPr lang="zh-CN" altLang="en-US" kern="0" dirty="0">
                <a:ea typeface="宋体" panose="02010600030101010101" pitchFamily="2" charset="-122"/>
              </a:rPr>
              <a:t>一般</a:t>
            </a:r>
            <a:r>
              <a:rPr lang="zh-CN" altLang="en-US" kern="0" dirty="0">
                <a:highlight>
                  <a:srgbClr val="FFFF00"/>
                </a:highlight>
                <a:ea typeface="宋体" panose="02010600030101010101" pitchFamily="2" charset="-122"/>
              </a:rPr>
              <a:t>要求两张相邻面的公共边完全相同</a:t>
            </a:r>
            <a:r>
              <a:rPr lang="zh-CN" altLang="en-US" kern="0" dirty="0">
                <a:ea typeface="宋体" panose="02010600030101010101" pitchFamily="2" charset="-122"/>
              </a:rPr>
              <a:t>，即不能出现某一面的一个顶点在另一面的边中间</a:t>
            </a:r>
          </a:p>
          <a:p>
            <a:r>
              <a:rPr lang="zh-CN" altLang="en-US" sz="2800" kern="0" dirty="0">
                <a:ea typeface="宋体" panose="02010600030101010101" pitchFamily="2" charset="-122"/>
              </a:rPr>
              <a:t>图形学表示一大类实体模型的标准方法</a:t>
            </a:r>
          </a:p>
          <a:p>
            <a:pPr lvl="1"/>
            <a:r>
              <a:rPr lang="zh-CN" altLang="en-US" kern="0" dirty="0">
                <a:ea typeface="宋体" panose="02010600030101010101" pitchFamily="2" charset="-122"/>
              </a:rPr>
              <a:t>立方体、四面体</a:t>
            </a:r>
          </a:p>
          <a:p>
            <a:pPr lvl="1"/>
            <a:r>
              <a:rPr lang="zh-CN" altLang="en-US" kern="0" dirty="0">
                <a:ea typeface="宋体" panose="02010600030101010101" pitchFamily="2" charset="-122"/>
              </a:rPr>
              <a:t>球面、立方体、锥面</a:t>
            </a:r>
          </a:p>
        </p:txBody>
      </p:sp>
    </p:spTree>
    <p:extLst>
      <p:ext uri="{BB962C8B-B14F-4D97-AF65-F5344CB8AC3E}">
        <p14:creationId xmlns:p14="http://schemas.microsoft.com/office/powerpoint/2010/main" val="2889196814"/>
      </p:ext>
    </p:extLst>
  </p:cSld>
  <p:clrMapOvr>
    <a:masterClrMapping/>
  </p:clrMapOvr>
  <p:transition spd="med" advClick="0">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多边形网格示例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pic>
        <p:nvPicPr>
          <p:cNvPr id="2" name="图片 1">
            <a:extLst>
              <a:ext uri="{FF2B5EF4-FFF2-40B4-BE49-F238E27FC236}">
                <a16:creationId xmlns:a16="http://schemas.microsoft.com/office/drawing/2014/main" id="{9E8BBCC8-F354-404A-8FD5-EAC3FFEF9F93}"/>
              </a:ext>
            </a:extLst>
          </p:cNvPr>
          <p:cNvPicPr>
            <a:picLocks noChangeAspect="1"/>
          </p:cNvPicPr>
          <p:nvPr/>
        </p:nvPicPr>
        <p:blipFill>
          <a:blip r:embed="rId5"/>
          <a:stretch>
            <a:fillRect/>
          </a:stretch>
        </p:blipFill>
        <p:spPr>
          <a:xfrm>
            <a:off x="728486" y="714678"/>
            <a:ext cx="7668344" cy="3951246"/>
          </a:xfrm>
          <a:prstGeom prst="rect">
            <a:avLst/>
          </a:prstGeom>
        </p:spPr>
      </p:pic>
    </p:spTree>
    <p:extLst>
      <p:ext uri="{BB962C8B-B14F-4D97-AF65-F5344CB8AC3E}">
        <p14:creationId xmlns:p14="http://schemas.microsoft.com/office/powerpoint/2010/main" val="153481677"/>
      </p:ext>
    </p:extLst>
  </p:cSld>
  <p:clrMapOvr>
    <a:masterClrMapping/>
  </p:clrMapOvr>
  <p:transition spd="med" advClick="0">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多边形网格的类型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EB2FBBB2-2345-43F5-AD07-CE87D1C402AA}"/>
              </a:ext>
            </a:extLst>
          </p:cNvPr>
          <p:cNvSpPr txBox="1">
            <a:spLocks noChangeArrowheads="1"/>
          </p:cNvSpPr>
          <p:nvPr/>
        </p:nvSpPr>
        <p:spPr>
          <a:xfrm>
            <a:off x="395536" y="771550"/>
            <a:ext cx="8280920" cy="381371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800" dirty="0">
                <a:solidFill>
                  <a:srgbClr val="FF0000"/>
                </a:solidFill>
                <a:ea typeface="宋体" panose="02010600030101010101" pitchFamily="2" charset="-122"/>
              </a:rPr>
              <a:t>实体</a:t>
            </a:r>
          </a:p>
          <a:p>
            <a:pPr lvl="1"/>
            <a:r>
              <a:rPr lang="zh-CN" altLang="en-US" dirty="0">
                <a:ea typeface="宋体" panose="02010600030101010101" pitchFamily="2" charset="-122"/>
              </a:rPr>
              <a:t>多边形网格形成一个</a:t>
            </a:r>
            <a:r>
              <a:rPr lang="zh-CN" altLang="en-US" dirty="0">
                <a:solidFill>
                  <a:srgbClr val="FF0000"/>
                </a:solidFill>
                <a:ea typeface="宋体" panose="02010600030101010101" pitchFamily="2" charset="-122"/>
              </a:rPr>
              <a:t>封闭</a:t>
            </a:r>
            <a:r>
              <a:rPr lang="zh-CN" altLang="en-US" dirty="0">
                <a:ea typeface="宋体" panose="02010600030101010101" pitchFamily="2" charset="-122"/>
              </a:rPr>
              <a:t>的空间区域</a:t>
            </a:r>
          </a:p>
          <a:p>
            <a:r>
              <a:rPr lang="zh-CN" altLang="en-US" sz="2800" dirty="0">
                <a:solidFill>
                  <a:srgbClr val="FF0000"/>
                </a:solidFill>
                <a:ea typeface="宋体" panose="02010600030101010101" pitchFamily="2" charset="-122"/>
              </a:rPr>
              <a:t>表面</a:t>
            </a:r>
          </a:p>
          <a:p>
            <a:pPr lvl="1"/>
            <a:r>
              <a:rPr lang="zh-CN" altLang="en-US" dirty="0">
                <a:solidFill>
                  <a:srgbClr val="FF0000"/>
                </a:solidFill>
                <a:ea typeface="宋体" panose="02010600030101010101" pitchFamily="2" charset="-122"/>
              </a:rPr>
              <a:t>不</a:t>
            </a:r>
            <a:r>
              <a:rPr lang="zh-CN" altLang="en-US" dirty="0">
                <a:ea typeface="宋体" panose="02010600030101010101" pitchFamily="2" charset="-122"/>
              </a:rPr>
              <a:t>形成空间</a:t>
            </a:r>
            <a:r>
              <a:rPr lang="zh-CN" altLang="en-US" dirty="0">
                <a:solidFill>
                  <a:srgbClr val="FF0000"/>
                </a:solidFill>
                <a:ea typeface="宋体" panose="02010600030101010101" pitchFamily="2" charset="-122"/>
              </a:rPr>
              <a:t>封闭</a:t>
            </a:r>
            <a:r>
              <a:rPr lang="zh-CN" altLang="en-US" dirty="0">
                <a:ea typeface="宋体" panose="02010600030101010101" pitchFamily="2" charset="-122"/>
              </a:rPr>
              <a:t>区域，表示一个无限薄的曲面</a:t>
            </a:r>
          </a:p>
          <a:p>
            <a:r>
              <a:rPr lang="zh-CN" altLang="en-US" sz="2800" dirty="0">
                <a:ea typeface="宋体" panose="02010600030101010101" pitchFamily="2" charset="-122"/>
              </a:rPr>
              <a:t>两者都称为多边形网格</a:t>
            </a:r>
            <a:r>
              <a:rPr lang="en-US" altLang="zh-CN" sz="2800" dirty="0">
                <a:ea typeface="宋体" panose="02010600030101010101" pitchFamily="2" charset="-122"/>
              </a:rPr>
              <a:t>(polygonal mesh)</a:t>
            </a:r>
            <a:r>
              <a:rPr lang="zh-CN" altLang="en-US" sz="2800" dirty="0">
                <a:ea typeface="宋体" panose="02010600030101010101" pitchFamily="2" charset="-122"/>
              </a:rPr>
              <a:t>，有时简称为网格</a:t>
            </a:r>
          </a:p>
        </p:txBody>
      </p:sp>
    </p:spTree>
    <p:extLst>
      <p:ext uri="{BB962C8B-B14F-4D97-AF65-F5344CB8AC3E}">
        <p14:creationId xmlns:p14="http://schemas.microsoft.com/office/powerpoint/2010/main" val="3750172909"/>
      </p:ext>
    </p:extLst>
  </p:cSld>
  <p:clrMapOvr>
    <a:masterClrMapping/>
  </p:clrMapOvr>
  <p:transition spd="med" advClick="0">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网格的性质</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1D740EBE-0362-4F70-BA8F-BE8BF7CE9736}"/>
              </a:ext>
            </a:extLst>
          </p:cNvPr>
          <p:cNvSpPr txBox="1">
            <a:spLocks noChangeArrowheads="1"/>
          </p:cNvSpPr>
          <p:nvPr/>
        </p:nvSpPr>
        <p:spPr bwMode="auto">
          <a:xfrm>
            <a:off x="249585" y="725517"/>
            <a:ext cx="8644830" cy="3366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400" kern="0" dirty="0">
                <a:ea typeface="宋体" panose="02010600030101010101" pitchFamily="2" charset="-122"/>
              </a:rPr>
              <a:t>给定一个由</a:t>
            </a:r>
            <a:r>
              <a:rPr lang="zh-CN" altLang="en-US" sz="2400" kern="0" dirty="0">
                <a:solidFill>
                  <a:srgbClr val="FF0000"/>
                </a:solidFill>
                <a:ea typeface="宋体" panose="02010600030101010101" pitchFamily="2" charset="-122"/>
              </a:rPr>
              <a:t>顶点、法向和面</a:t>
            </a:r>
            <a:r>
              <a:rPr lang="zh-CN" altLang="en-US" sz="2400" kern="0" dirty="0">
                <a:ea typeface="宋体" panose="02010600030101010101" pitchFamily="2" charset="-122"/>
              </a:rPr>
              <a:t>组成的网格，那么它所表示的对象是什么呢？下列是感兴趣的性质：</a:t>
            </a:r>
          </a:p>
          <a:p>
            <a:pPr lvl="1"/>
            <a:r>
              <a:rPr lang="en-US" altLang="zh-CN" sz="2400" kern="0" dirty="0">
                <a:ea typeface="宋体" panose="02010600030101010101" pitchFamily="2" charset="-122"/>
              </a:rPr>
              <a:t> </a:t>
            </a:r>
            <a:r>
              <a:rPr lang="zh-CN" altLang="en-US" sz="2400" kern="0" dirty="0">
                <a:solidFill>
                  <a:srgbClr val="00B0F0"/>
                </a:solidFill>
                <a:ea typeface="宋体" panose="02010600030101010101" pitchFamily="2" charset="-122"/>
              </a:rPr>
              <a:t>实体</a:t>
            </a:r>
            <a:r>
              <a:rPr lang="zh-CN" altLang="en-US" sz="2400" kern="0" dirty="0">
                <a:ea typeface="宋体" panose="02010600030101010101" pitchFamily="2" charset="-122"/>
              </a:rPr>
              <a:t>：如果网格形成一个封闭的有界区域</a:t>
            </a:r>
          </a:p>
          <a:p>
            <a:pPr lvl="1"/>
            <a:r>
              <a:rPr lang="en-US" altLang="zh-CN" sz="2400" kern="0" dirty="0">
                <a:ea typeface="宋体" panose="02010600030101010101" pitchFamily="2" charset="-122"/>
              </a:rPr>
              <a:t> </a:t>
            </a:r>
            <a:r>
              <a:rPr lang="zh-CN" altLang="en-US" sz="2400" kern="0" dirty="0">
                <a:solidFill>
                  <a:srgbClr val="00B0F0"/>
                </a:solidFill>
                <a:ea typeface="宋体" panose="02010600030101010101" pitchFamily="2" charset="-122"/>
              </a:rPr>
              <a:t>连通性</a:t>
            </a:r>
            <a:r>
              <a:rPr lang="zh-CN" altLang="en-US" sz="2400" kern="0" dirty="0">
                <a:ea typeface="宋体" panose="02010600030101010101" pitchFamily="2" charset="-122"/>
              </a:rPr>
              <a:t>：如果任两个顶点间存在着由边构造的连续路径</a:t>
            </a:r>
          </a:p>
          <a:p>
            <a:pPr lvl="1"/>
            <a:r>
              <a:rPr lang="en-US" altLang="zh-CN" sz="2400" kern="0" dirty="0">
                <a:ea typeface="宋体" panose="02010600030101010101" pitchFamily="2" charset="-122"/>
              </a:rPr>
              <a:t> </a:t>
            </a:r>
            <a:r>
              <a:rPr lang="zh-CN" altLang="en-US" sz="2400" kern="0" dirty="0">
                <a:solidFill>
                  <a:srgbClr val="00B0F0"/>
                </a:solidFill>
                <a:ea typeface="宋体" panose="02010600030101010101" pitchFamily="2" charset="-122"/>
              </a:rPr>
              <a:t>简单性</a:t>
            </a:r>
            <a:r>
              <a:rPr lang="zh-CN" altLang="en-US" sz="2400" kern="0" dirty="0">
                <a:ea typeface="宋体" panose="02010600030101010101" pitchFamily="2" charset="-122"/>
              </a:rPr>
              <a:t>：表示一个实体，且没有洞</a:t>
            </a:r>
          </a:p>
          <a:p>
            <a:pPr lvl="1"/>
            <a:r>
              <a:rPr lang="en-US" altLang="zh-CN" sz="2400" kern="0" dirty="0">
                <a:ea typeface="宋体" panose="02010600030101010101" pitchFamily="2" charset="-122"/>
              </a:rPr>
              <a:t> </a:t>
            </a:r>
            <a:r>
              <a:rPr lang="zh-CN" altLang="en-US" sz="2400" kern="0" dirty="0">
                <a:solidFill>
                  <a:srgbClr val="00B0F0"/>
                </a:solidFill>
                <a:ea typeface="宋体" panose="02010600030101010101" pitchFamily="2" charset="-122"/>
              </a:rPr>
              <a:t>平面性</a:t>
            </a:r>
            <a:r>
              <a:rPr lang="en-US" altLang="zh-CN" sz="2400" kern="0" dirty="0">
                <a:ea typeface="宋体" panose="02010600030101010101" pitchFamily="2" charset="-122"/>
              </a:rPr>
              <a:t>: </a:t>
            </a:r>
            <a:r>
              <a:rPr lang="zh-CN" altLang="en-US" sz="2400" kern="0" dirty="0">
                <a:ea typeface="宋体" panose="02010600030101010101" pitchFamily="2" charset="-122"/>
              </a:rPr>
              <a:t>如果所有面都是平面多边形</a:t>
            </a:r>
          </a:p>
          <a:p>
            <a:pPr lvl="2"/>
            <a:r>
              <a:rPr lang="en-US" altLang="zh-CN" kern="0" dirty="0">
                <a:ea typeface="宋体" panose="02010600030101010101" pitchFamily="2" charset="-122"/>
              </a:rPr>
              <a:t> </a:t>
            </a:r>
            <a:r>
              <a:rPr lang="zh-CN" altLang="en-US" kern="0" dirty="0">
                <a:ea typeface="宋体" panose="02010600030101010101" pitchFamily="2" charset="-122"/>
              </a:rPr>
              <a:t>有些算法对平面多边形更有效</a:t>
            </a:r>
          </a:p>
          <a:p>
            <a:pPr lvl="2"/>
            <a:r>
              <a:rPr lang="en-US" altLang="zh-CN" kern="0" dirty="0">
                <a:ea typeface="宋体" panose="02010600030101010101" pitchFamily="2" charset="-122"/>
              </a:rPr>
              <a:t> </a:t>
            </a:r>
            <a:r>
              <a:rPr lang="zh-CN" altLang="en-US" kern="0" dirty="0">
                <a:ea typeface="宋体" panose="02010600030101010101" pitchFamily="2" charset="-122"/>
              </a:rPr>
              <a:t>因此三角网格非常实用</a:t>
            </a:r>
          </a:p>
        </p:txBody>
      </p:sp>
    </p:spTree>
    <p:extLst>
      <p:ext uri="{BB962C8B-B14F-4D97-AF65-F5344CB8AC3E}">
        <p14:creationId xmlns:p14="http://schemas.microsoft.com/office/powerpoint/2010/main" val="1915001820"/>
      </p:ext>
    </p:extLst>
  </p:cSld>
  <p:clrMapOvr>
    <a:masterClrMapping/>
  </p:clrMapOvr>
  <p:transition spd="med" advClick="0">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非实体网格</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pic>
        <p:nvPicPr>
          <p:cNvPr id="7" name="Picture 2">
            <a:extLst>
              <a:ext uri="{FF2B5EF4-FFF2-40B4-BE49-F238E27FC236}">
                <a16:creationId xmlns:a16="http://schemas.microsoft.com/office/drawing/2014/main" id="{E5CD9AD0-6EE8-4546-AAE6-41A83CDA2B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033" y="801917"/>
            <a:ext cx="7519317" cy="368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422411"/>
      </p:ext>
    </p:extLst>
  </p:cSld>
  <p:clrMapOvr>
    <a:masterClrMapping/>
  </p:clrMapOvr>
  <p:transition spd="med" advClick="0">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边界表示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8131E86C-7906-4C32-8577-4103EDAF0266}"/>
              </a:ext>
            </a:extLst>
          </p:cNvPr>
          <p:cNvSpPr txBox="1">
            <a:spLocks noChangeArrowheads="1"/>
          </p:cNvSpPr>
          <p:nvPr/>
        </p:nvSpPr>
        <p:spPr bwMode="auto">
          <a:xfrm>
            <a:off x="520958" y="692353"/>
            <a:ext cx="8515538" cy="403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defRPr/>
            </a:pPr>
            <a:r>
              <a:rPr lang="zh-CN" altLang="en-US" sz="2400" kern="0" dirty="0">
                <a:latin typeface="宋体" pitchFamily="2" charset="-122"/>
                <a:ea typeface="宋体" pitchFamily="2" charset="-122"/>
              </a:rPr>
              <a:t>按照</a:t>
            </a:r>
            <a:r>
              <a:rPr lang="zh-CN" altLang="en-US" sz="2400" kern="0" dirty="0">
                <a:solidFill>
                  <a:srgbClr val="FF3300"/>
                </a:solidFill>
                <a:latin typeface="宋体" pitchFamily="2" charset="-122"/>
                <a:ea typeface="宋体" pitchFamily="2" charset="-122"/>
              </a:rPr>
              <a:t>体－面－环－边－点</a:t>
            </a:r>
            <a:r>
              <a:rPr lang="zh-CN" altLang="en-US" sz="2400" kern="0" dirty="0">
                <a:latin typeface="宋体" pitchFamily="2" charset="-122"/>
                <a:ea typeface="宋体" pitchFamily="2" charset="-122"/>
              </a:rPr>
              <a:t>的层次，详细记录了构成形体所有几何元素的</a:t>
            </a:r>
            <a:r>
              <a:rPr lang="zh-CN" altLang="en-US" sz="2400" kern="0" dirty="0">
                <a:solidFill>
                  <a:srgbClr val="FF3300"/>
                </a:solidFill>
                <a:latin typeface="宋体" pitchFamily="2" charset="-122"/>
                <a:ea typeface="宋体" pitchFamily="2" charset="-122"/>
              </a:rPr>
              <a:t>几何信息</a:t>
            </a:r>
            <a:r>
              <a:rPr lang="zh-CN" altLang="en-US" sz="2400" kern="0" dirty="0">
                <a:latin typeface="宋体" pitchFamily="2" charset="-122"/>
                <a:ea typeface="宋体" pitchFamily="2" charset="-122"/>
              </a:rPr>
              <a:t>及其相互连接的</a:t>
            </a:r>
            <a:r>
              <a:rPr lang="zh-CN" altLang="en-US" sz="2400" kern="0" dirty="0">
                <a:solidFill>
                  <a:srgbClr val="FF3300"/>
                </a:solidFill>
                <a:latin typeface="宋体" pitchFamily="2" charset="-122"/>
                <a:ea typeface="宋体" pitchFamily="2" charset="-122"/>
              </a:rPr>
              <a:t>拓扑关系</a:t>
            </a:r>
            <a:endParaRPr lang="en-US" altLang="zh-CN" sz="2400" kern="0" dirty="0">
              <a:solidFill>
                <a:srgbClr val="FF3300"/>
              </a:solidFill>
              <a:latin typeface="宋体" pitchFamily="2" charset="-122"/>
              <a:ea typeface="宋体" pitchFamily="2" charset="-122"/>
            </a:endParaRPr>
          </a:p>
          <a:p>
            <a:pPr marL="342900" lvl="1" indent="-342900" eaLnBrk="1" hangingPunct="1">
              <a:buFontTx/>
              <a:buChar char="•"/>
              <a:defRPr/>
            </a:pPr>
            <a:r>
              <a:rPr lang="zh-CN" altLang="en-US" sz="2400" kern="0" dirty="0">
                <a:latin typeface="宋体" pitchFamily="2" charset="-122"/>
                <a:ea typeface="宋体" pitchFamily="2" charset="-122"/>
              </a:rPr>
              <a:t>边界表示的一个重要特点是在该表示法中，描述形体的信息包括几何信息（</a:t>
            </a:r>
            <a:r>
              <a:rPr lang="en-US" altLang="zh-CN" sz="2400" kern="0" dirty="0">
                <a:latin typeface="宋体" pitchFamily="2" charset="-122"/>
                <a:ea typeface="宋体" pitchFamily="2" charset="-122"/>
              </a:rPr>
              <a:t>Geometry</a:t>
            </a:r>
            <a:r>
              <a:rPr lang="zh-CN" altLang="en-US" sz="2400" kern="0" dirty="0">
                <a:latin typeface="宋体" pitchFamily="2" charset="-122"/>
                <a:ea typeface="宋体" pitchFamily="2" charset="-122"/>
              </a:rPr>
              <a:t>）和拓扑信息（</a:t>
            </a:r>
            <a:r>
              <a:rPr lang="en-US" altLang="zh-CN" sz="2400" kern="0" dirty="0">
                <a:latin typeface="宋体" pitchFamily="2" charset="-122"/>
                <a:ea typeface="宋体" pitchFamily="2" charset="-122"/>
              </a:rPr>
              <a:t>Topology</a:t>
            </a:r>
            <a:r>
              <a:rPr lang="zh-CN" altLang="en-US" sz="2400" kern="0" dirty="0">
                <a:latin typeface="宋体" pitchFamily="2" charset="-122"/>
                <a:ea typeface="宋体" pitchFamily="2" charset="-122"/>
              </a:rPr>
              <a:t>）</a:t>
            </a:r>
            <a:endParaRPr lang="en-US" altLang="zh-CN" sz="2400" kern="0" dirty="0">
              <a:latin typeface="宋体" pitchFamily="2" charset="-122"/>
              <a:ea typeface="宋体" pitchFamily="2" charset="-122"/>
            </a:endParaRPr>
          </a:p>
          <a:p>
            <a:pPr marL="457200" lvl="1" indent="0">
              <a:lnSpc>
                <a:spcPct val="120000"/>
              </a:lnSpc>
              <a:spcAft>
                <a:spcPct val="10000"/>
              </a:spcAft>
              <a:buNone/>
              <a:defRPr/>
            </a:pPr>
            <a:r>
              <a:rPr lang="en-US" altLang="zh-CN" sz="2400" kern="0" dirty="0">
                <a:ea typeface="宋体" pitchFamily="2" charset="-122"/>
              </a:rPr>
              <a:t>-</a:t>
            </a:r>
            <a:r>
              <a:rPr lang="zh-CN" altLang="en-US" sz="2400" kern="0" dirty="0">
                <a:ea typeface="宋体" pitchFamily="2" charset="-122"/>
              </a:rPr>
              <a:t>几何信息：</a:t>
            </a:r>
            <a:r>
              <a:rPr kumimoji="1" lang="zh-CN" altLang="en-US" sz="2400" kern="0" dirty="0">
                <a:ea typeface="宋体" pitchFamily="2" charset="-122"/>
              </a:rPr>
              <a:t>指形体在欧氏空间中的位置和大小</a:t>
            </a:r>
          </a:p>
          <a:p>
            <a:pPr marL="457200" lvl="1" indent="0">
              <a:lnSpc>
                <a:spcPct val="120000"/>
              </a:lnSpc>
              <a:spcAft>
                <a:spcPct val="10000"/>
              </a:spcAft>
              <a:buNone/>
              <a:defRPr/>
            </a:pPr>
            <a:r>
              <a:rPr lang="en-US" altLang="zh-CN" sz="2400" kern="0" dirty="0">
                <a:ea typeface="宋体" pitchFamily="2" charset="-122"/>
              </a:rPr>
              <a:t>-</a:t>
            </a:r>
            <a:r>
              <a:rPr lang="zh-CN" altLang="en-US" sz="2400" kern="0" dirty="0">
                <a:ea typeface="宋体" pitchFamily="2" charset="-122"/>
              </a:rPr>
              <a:t>拓扑信息：</a:t>
            </a:r>
            <a:r>
              <a:rPr kumimoji="1" lang="zh-CN" altLang="en-US" sz="2400" kern="0" dirty="0">
                <a:ea typeface="宋体" pitchFamily="2" charset="-122"/>
              </a:rPr>
              <a:t>是形体各分量的数目及其相互之间的连接关系</a:t>
            </a:r>
          </a:p>
          <a:p>
            <a:pPr marL="342900" lvl="1" indent="-342900" eaLnBrk="1" hangingPunct="1">
              <a:buFontTx/>
              <a:buChar char="•"/>
              <a:defRPr/>
            </a:pPr>
            <a:endParaRPr lang="en-US" altLang="zh-CN" sz="2400" kern="0" dirty="0">
              <a:latin typeface="宋体" pitchFamily="2" charset="-122"/>
              <a:ea typeface="宋体" pitchFamily="2" charset="-122"/>
            </a:endParaRPr>
          </a:p>
        </p:txBody>
      </p:sp>
      <p:grpSp>
        <p:nvGrpSpPr>
          <p:cNvPr id="8" name="Group 6">
            <a:extLst>
              <a:ext uri="{FF2B5EF4-FFF2-40B4-BE49-F238E27FC236}">
                <a16:creationId xmlns:a16="http://schemas.microsoft.com/office/drawing/2014/main" id="{04002DF0-8723-4694-BBD4-7EFFED235A56}"/>
              </a:ext>
            </a:extLst>
          </p:cNvPr>
          <p:cNvGrpSpPr>
            <a:grpSpLocks/>
          </p:cNvGrpSpPr>
          <p:nvPr/>
        </p:nvGrpSpPr>
        <p:grpSpPr bwMode="auto">
          <a:xfrm>
            <a:off x="4860032" y="3267232"/>
            <a:ext cx="2708275" cy="1544637"/>
            <a:chOff x="4184" y="1609"/>
            <a:chExt cx="1706" cy="973"/>
          </a:xfrm>
        </p:grpSpPr>
        <p:sp>
          <p:nvSpPr>
            <p:cNvPr id="9" name="Text Box 7">
              <a:extLst>
                <a:ext uri="{FF2B5EF4-FFF2-40B4-BE49-F238E27FC236}">
                  <a16:creationId xmlns:a16="http://schemas.microsoft.com/office/drawing/2014/main" id="{A45B558B-DE59-4FC2-B8EF-EAAE4452029E}"/>
                </a:ext>
              </a:extLst>
            </p:cNvPr>
            <p:cNvSpPr txBox="1">
              <a:spLocks noChangeArrowheads="1"/>
            </p:cNvSpPr>
            <p:nvPr/>
          </p:nvSpPr>
          <p:spPr bwMode="auto">
            <a:xfrm>
              <a:off x="4184" y="2155"/>
              <a:ext cx="416" cy="250"/>
            </a:xfrm>
            <a:prstGeom prst="rect">
              <a:avLst/>
            </a:prstGeom>
            <a:solidFill>
              <a:schemeClr val="accent1">
                <a:alpha val="0"/>
              </a:scheme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
                  <a:schemeClr val="accent2"/>
                </a:buClr>
                <a:buSzPct val="80000"/>
                <a:buFont typeface="Wingdings" panose="05000000000000000000" pitchFamily="2" charset="2"/>
                <a:buNone/>
              </a:pPr>
              <a:r>
                <a:rPr kumimoji="1" lang="en-US" altLang="zh-CN" sz="2000" b="1">
                  <a:latin typeface="Arial" panose="020B0604020202020204" pitchFamily="34" charset="0"/>
                  <a:ea typeface="黑体" panose="02010609060101010101" pitchFamily="49" charset="-122"/>
                </a:rPr>
                <a:t>v</a:t>
              </a:r>
              <a:r>
                <a:rPr kumimoji="1" lang="en-US" altLang="zh-CN" sz="2000" b="1" baseline="-12000">
                  <a:latin typeface="Arial" panose="020B0604020202020204" pitchFamily="34" charset="0"/>
                  <a:ea typeface="黑体" panose="02010609060101010101" pitchFamily="49" charset="-122"/>
                </a:rPr>
                <a:t>1</a:t>
              </a:r>
            </a:p>
          </p:txBody>
        </p:sp>
        <p:sp>
          <p:nvSpPr>
            <p:cNvPr id="10" name="Freeform 8">
              <a:extLst>
                <a:ext uri="{FF2B5EF4-FFF2-40B4-BE49-F238E27FC236}">
                  <a16:creationId xmlns:a16="http://schemas.microsoft.com/office/drawing/2014/main" id="{9FBC186E-2FFA-4E8D-8639-E8DB6D1DEAD3}"/>
                </a:ext>
              </a:extLst>
            </p:cNvPr>
            <p:cNvSpPr>
              <a:spLocks/>
            </p:cNvSpPr>
            <p:nvPr/>
          </p:nvSpPr>
          <p:spPr bwMode="auto">
            <a:xfrm>
              <a:off x="4590" y="1733"/>
              <a:ext cx="832" cy="672"/>
            </a:xfrm>
            <a:custGeom>
              <a:avLst/>
              <a:gdLst>
                <a:gd name="T0" fmla="*/ 4301 w 768"/>
                <a:gd name="T1" fmla="*/ 0 h 672"/>
                <a:gd name="T2" fmla="*/ 0 w 768"/>
                <a:gd name="T3" fmla="*/ 480 h 672"/>
                <a:gd name="T4" fmla="*/ 13680 w 768"/>
                <a:gd name="T5" fmla="*/ 672 h 672"/>
                <a:gd name="T6" fmla="*/ 4301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240" y="0"/>
                  </a:moveTo>
                  <a:lnTo>
                    <a:pt x="0" y="480"/>
                  </a:lnTo>
                  <a:lnTo>
                    <a:pt x="768" y="672"/>
                  </a:lnTo>
                  <a:lnTo>
                    <a:pt x="240" y="0"/>
                  </a:lnTo>
                  <a:close/>
                </a:path>
              </a:pathLst>
            </a:custGeom>
            <a:solidFill>
              <a:schemeClr val="accent1">
                <a:alpha val="0"/>
              </a:schemeClr>
            </a:solidFill>
            <a:ln w="28575">
              <a:solidFill>
                <a:schemeClr val="tx1"/>
              </a:solidFill>
              <a:round/>
              <a:headEnd/>
              <a:tailEnd/>
            </a:ln>
          </p:spPr>
          <p:txBody>
            <a:bodyPr wrap="none" lIns="92075" tIns="46038" rIns="92075" bIns="46038" anchor="ctr"/>
            <a:lstStyle/>
            <a:p>
              <a:endParaRPr lang="zh-CN" altLang="en-US"/>
            </a:p>
          </p:txBody>
        </p:sp>
        <p:sp>
          <p:nvSpPr>
            <p:cNvPr id="12" name="Freeform 9">
              <a:extLst>
                <a:ext uri="{FF2B5EF4-FFF2-40B4-BE49-F238E27FC236}">
                  <a16:creationId xmlns:a16="http://schemas.microsoft.com/office/drawing/2014/main" id="{D65AA7E4-CF83-4F31-B639-EF5931DB89CF}"/>
                </a:ext>
              </a:extLst>
            </p:cNvPr>
            <p:cNvSpPr>
              <a:spLocks/>
            </p:cNvSpPr>
            <p:nvPr/>
          </p:nvSpPr>
          <p:spPr bwMode="auto">
            <a:xfrm>
              <a:off x="4850" y="1733"/>
              <a:ext cx="728" cy="672"/>
            </a:xfrm>
            <a:custGeom>
              <a:avLst/>
              <a:gdLst>
                <a:gd name="T0" fmla="*/ 0 w 672"/>
                <a:gd name="T1" fmla="*/ 0 h 672"/>
                <a:gd name="T2" fmla="*/ 12001 w 672"/>
                <a:gd name="T3" fmla="*/ 288 h 672"/>
                <a:gd name="T4" fmla="*/ 9439 w 672"/>
                <a:gd name="T5" fmla="*/ 672 h 672"/>
                <a:gd name="T6" fmla="*/ 0 w 672"/>
                <a:gd name="T7" fmla="*/ 0 h 672"/>
                <a:gd name="T8" fmla="*/ 0 60000 65536"/>
                <a:gd name="T9" fmla="*/ 0 60000 65536"/>
                <a:gd name="T10" fmla="*/ 0 60000 65536"/>
                <a:gd name="T11" fmla="*/ 0 60000 65536"/>
                <a:gd name="T12" fmla="*/ 0 w 672"/>
                <a:gd name="T13" fmla="*/ 0 h 672"/>
                <a:gd name="T14" fmla="*/ 672 w 672"/>
                <a:gd name="T15" fmla="*/ 672 h 672"/>
              </a:gdLst>
              <a:ahLst/>
              <a:cxnLst>
                <a:cxn ang="T8">
                  <a:pos x="T0" y="T1"/>
                </a:cxn>
                <a:cxn ang="T9">
                  <a:pos x="T2" y="T3"/>
                </a:cxn>
                <a:cxn ang="T10">
                  <a:pos x="T4" y="T5"/>
                </a:cxn>
                <a:cxn ang="T11">
                  <a:pos x="T6" y="T7"/>
                </a:cxn>
              </a:cxnLst>
              <a:rect l="T12" t="T13" r="T14" b="T15"/>
              <a:pathLst>
                <a:path w="672" h="672">
                  <a:moveTo>
                    <a:pt x="0" y="0"/>
                  </a:moveTo>
                  <a:lnTo>
                    <a:pt x="672" y="288"/>
                  </a:lnTo>
                  <a:lnTo>
                    <a:pt x="528" y="672"/>
                  </a:lnTo>
                  <a:lnTo>
                    <a:pt x="0" y="0"/>
                  </a:lnTo>
                  <a:close/>
                </a:path>
              </a:pathLst>
            </a:custGeom>
            <a:solidFill>
              <a:schemeClr val="accent1">
                <a:alpha val="0"/>
              </a:schemeClr>
            </a:solidFill>
            <a:ln w="28575">
              <a:solidFill>
                <a:schemeClr val="tx1"/>
              </a:solidFill>
              <a:round/>
              <a:headEnd/>
              <a:tailEnd/>
            </a:ln>
          </p:spPr>
          <p:txBody>
            <a:bodyPr wrap="none" lIns="92075" tIns="46038" rIns="92075" bIns="46038" anchor="ctr"/>
            <a:lstStyle/>
            <a:p>
              <a:endParaRPr lang="zh-CN" altLang="en-US"/>
            </a:p>
          </p:txBody>
        </p:sp>
        <p:sp>
          <p:nvSpPr>
            <p:cNvPr id="13" name="Text Box 10">
              <a:extLst>
                <a:ext uri="{FF2B5EF4-FFF2-40B4-BE49-F238E27FC236}">
                  <a16:creationId xmlns:a16="http://schemas.microsoft.com/office/drawing/2014/main" id="{CF2CA028-C80D-4914-9757-2942011E11D3}"/>
                </a:ext>
              </a:extLst>
            </p:cNvPr>
            <p:cNvSpPr txBox="1">
              <a:spLocks noChangeArrowheads="1"/>
            </p:cNvSpPr>
            <p:nvPr/>
          </p:nvSpPr>
          <p:spPr bwMode="auto">
            <a:xfrm>
              <a:off x="5370" y="2332"/>
              <a:ext cx="416" cy="250"/>
            </a:xfrm>
            <a:prstGeom prst="rect">
              <a:avLst/>
            </a:prstGeom>
            <a:solidFill>
              <a:schemeClr val="accent1">
                <a:alpha val="0"/>
              </a:scheme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
                  <a:schemeClr val="accent2"/>
                </a:buClr>
                <a:buSzPct val="80000"/>
                <a:buFont typeface="Wingdings" panose="05000000000000000000" pitchFamily="2" charset="2"/>
                <a:buNone/>
              </a:pPr>
              <a:r>
                <a:rPr kumimoji="1" lang="en-US" altLang="zh-CN" sz="2000" b="1">
                  <a:latin typeface="Arial" panose="020B0604020202020204" pitchFamily="34" charset="0"/>
                  <a:ea typeface="黑体" panose="02010609060101010101" pitchFamily="49" charset="-122"/>
                </a:rPr>
                <a:t>v</a:t>
              </a:r>
              <a:r>
                <a:rPr kumimoji="1" lang="en-US" altLang="zh-CN" sz="2000" b="1" baseline="-12000">
                  <a:latin typeface="Arial" panose="020B0604020202020204" pitchFamily="34" charset="0"/>
                  <a:ea typeface="黑体" panose="02010609060101010101" pitchFamily="49" charset="-122"/>
                </a:rPr>
                <a:t>4</a:t>
              </a:r>
            </a:p>
          </p:txBody>
        </p:sp>
        <p:sp>
          <p:nvSpPr>
            <p:cNvPr id="15" name="Text Box 11">
              <a:extLst>
                <a:ext uri="{FF2B5EF4-FFF2-40B4-BE49-F238E27FC236}">
                  <a16:creationId xmlns:a16="http://schemas.microsoft.com/office/drawing/2014/main" id="{92BC6E72-E517-447C-98C3-45E4FEDA870F}"/>
                </a:ext>
              </a:extLst>
            </p:cNvPr>
            <p:cNvSpPr txBox="1">
              <a:spLocks noChangeArrowheads="1"/>
            </p:cNvSpPr>
            <p:nvPr/>
          </p:nvSpPr>
          <p:spPr bwMode="auto">
            <a:xfrm>
              <a:off x="5474" y="1877"/>
              <a:ext cx="416" cy="250"/>
            </a:xfrm>
            <a:prstGeom prst="rect">
              <a:avLst/>
            </a:prstGeom>
            <a:solidFill>
              <a:schemeClr val="accent1">
                <a:alpha val="0"/>
              </a:scheme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
                  <a:schemeClr val="accent2"/>
                </a:buClr>
                <a:buSzPct val="80000"/>
                <a:buFont typeface="Wingdings" panose="05000000000000000000" pitchFamily="2" charset="2"/>
                <a:buNone/>
              </a:pPr>
              <a:r>
                <a:rPr kumimoji="1" lang="en-US" altLang="zh-CN" sz="2000" b="1">
                  <a:latin typeface="Arial" panose="020B0604020202020204" pitchFamily="34" charset="0"/>
                  <a:ea typeface="黑体" panose="02010609060101010101" pitchFamily="49" charset="-122"/>
                </a:rPr>
                <a:t>v</a:t>
              </a:r>
              <a:r>
                <a:rPr kumimoji="1" lang="en-US" altLang="zh-CN" sz="2000" b="1" baseline="-12000">
                  <a:latin typeface="Arial" panose="020B0604020202020204" pitchFamily="34" charset="0"/>
                  <a:ea typeface="黑体" panose="02010609060101010101" pitchFamily="49" charset="-122"/>
                </a:rPr>
                <a:t>3</a:t>
              </a:r>
            </a:p>
          </p:txBody>
        </p:sp>
        <p:sp>
          <p:nvSpPr>
            <p:cNvPr id="16" name="Text Box 12">
              <a:extLst>
                <a:ext uri="{FF2B5EF4-FFF2-40B4-BE49-F238E27FC236}">
                  <a16:creationId xmlns:a16="http://schemas.microsoft.com/office/drawing/2014/main" id="{45B0303F-CCF9-4701-9C67-9BB768472BF2}"/>
                </a:ext>
              </a:extLst>
            </p:cNvPr>
            <p:cNvSpPr txBox="1">
              <a:spLocks noChangeArrowheads="1"/>
            </p:cNvSpPr>
            <p:nvPr/>
          </p:nvSpPr>
          <p:spPr bwMode="auto">
            <a:xfrm>
              <a:off x="4471" y="1609"/>
              <a:ext cx="416" cy="250"/>
            </a:xfrm>
            <a:prstGeom prst="rect">
              <a:avLst/>
            </a:prstGeom>
            <a:solidFill>
              <a:schemeClr val="accent1">
                <a:alpha val="0"/>
              </a:scheme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
                  <a:schemeClr val="accent2"/>
                </a:buClr>
                <a:buSzPct val="80000"/>
                <a:buFont typeface="Wingdings" panose="05000000000000000000" pitchFamily="2" charset="2"/>
                <a:buNone/>
              </a:pPr>
              <a:r>
                <a:rPr kumimoji="1" lang="en-US" altLang="zh-CN" sz="2000" b="1" dirty="0">
                  <a:latin typeface="Arial" panose="020B0604020202020204" pitchFamily="34" charset="0"/>
                  <a:ea typeface="黑体" panose="02010609060101010101" pitchFamily="49" charset="-122"/>
                </a:rPr>
                <a:t>v</a:t>
              </a:r>
              <a:r>
                <a:rPr kumimoji="1" lang="en-US" altLang="zh-CN" sz="2000" b="1" baseline="-12000" dirty="0">
                  <a:latin typeface="Arial" panose="020B0604020202020204" pitchFamily="34" charset="0"/>
                  <a:ea typeface="黑体" panose="02010609060101010101" pitchFamily="49" charset="-122"/>
                </a:rPr>
                <a:t>2</a:t>
              </a:r>
            </a:p>
          </p:txBody>
        </p:sp>
        <p:sp>
          <p:nvSpPr>
            <p:cNvPr id="17" name="Text Box 13">
              <a:extLst>
                <a:ext uri="{FF2B5EF4-FFF2-40B4-BE49-F238E27FC236}">
                  <a16:creationId xmlns:a16="http://schemas.microsoft.com/office/drawing/2014/main" id="{00332192-FC15-4707-93BB-EE9DAF65A26D}"/>
                </a:ext>
              </a:extLst>
            </p:cNvPr>
            <p:cNvSpPr txBox="1">
              <a:spLocks noChangeArrowheads="1"/>
            </p:cNvSpPr>
            <p:nvPr/>
          </p:nvSpPr>
          <p:spPr bwMode="auto">
            <a:xfrm>
              <a:off x="5189" y="1949"/>
              <a:ext cx="416" cy="250"/>
            </a:xfrm>
            <a:prstGeom prst="rect">
              <a:avLst/>
            </a:prstGeom>
            <a:solidFill>
              <a:schemeClr val="accent1">
                <a:alpha val="0"/>
              </a:scheme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
                  <a:schemeClr val="accent2"/>
                </a:buClr>
                <a:buSzPct val="80000"/>
                <a:buFont typeface="Wingdings" panose="05000000000000000000" pitchFamily="2" charset="2"/>
                <a:buNone/>
              </a:pPr>
              <a:r>
                <a:rPr kumimoji="1" lang="en-US" altLang="zh-CN" sz="2000" b="1" dirty="0">
                  <a:latin typeface="Arial" panose="020B0604020202020204" pitchFamily="34" charset="0"/>
                  <a:ea typeface="黑体" panose="02010609060101010101" pitchFamily="49" charset="-122"/>
                </a:rPr>
                <a:t>f</a:t>
              </a:r>
              <a:r>
                <a:rPr kumimoji="1" lang="en-US" altLang="zh-CN" sz="2000" b="1" baseline="-12000" dirty="0">
                  <a:latin typeface="Arial" panose="020B0604020202020204" pitchFamily="34" charset="0"/>
                  <a:ea typeface="黑体" panose="02010609060101010101" pitchFamily="49" charset="-122"/>
                </a:rPr>
                <a:t>2</a:t>
              </a:r>
            </a:p>
          </p:txBody>
        </p:sp>
        <p:sp>
          <p:nvSpPr>
            <p:cNvPr id="18" name="Text Box 14">
              <a:extLst>
                <a:ext uri="{FF2B5EF4-FFF2-40B4-BE49-F238E27FC236}">
                  <a16:creationId xmlns:a16="http://schemas.microsoft.com/office/drawing/2014/main" id="{118A2B0F-E6B1-4BD2-BFAA-7B380E07CBAB}"/>
                </a:ext>
              </a:extLst>
            </p:cNvPr>
            <p:cNvSpPr txBox="1">
              <a:spLocks noChangeArrowheads="1"/>
            </p:cNvSpPr>
            <p:nvPr/>
          </p:nvSpPr>
          <p:spPr bwMode="auto">
            <a:xfrm>
              <a:off x="4679" y="1976"/>
              <a:ext cx="416" cy="250"/>
            </a:xfrm>
            <a:prstGeom prst="rect">
              <a:avLst/>
            </a:prstGeom>
            <a:solidFill>
              <a:schemeClr val="accent1">
                <a:alpha val="0"/>
              </a:scheme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
                  <a:schemeClr val="accent2"/>
                </a:buClr>
                <a:buSzPct val="80000"/>
                <a:buFont typeface="Wingdings" panose="05000000000000000000" pitchFamily="2" charset="2"/>
                <a:buNone/>
              </a:pPr>
              <a:r>
                <a:rPr kumimoji="1" lang="en-US" altLang="zh-CN" sz="2000" b="1" dirty="0">
                  <a:latin typeface="Arial" panose="020B0604020202020204" pitchFamily="34" charset="0"/>
                  <a:ea typeface="黑体" panose="02010609060101010101" pitchFamily="49" charset="-122"/>
                </a:rPr>
                <a:t>f</a:t>
              </a:r>
              <a:r>
                <a:rPr kumimoji="1" lang="en-US" altLang="zh-CN" sz="2000" b="1" baseline="-12000" dirty="0">
                  <a:latin typeface="Arial" panose="020B0604020202020204" pitchFamily="34" charset="0"/>
                  <a:ea typeface="黑体" panose="02010609060101010101" pitchFamily="49" charset="-122"/>
                </a:rPr>
                <a:t>1</a:t>
              </a:r>
            </a:p>
          </p:txBody>
        </p:sp>
      </p:grpSp>
    </p:spTree>
    <p:extLst>
      <p:ext uri="{BB962C8B-B14F-4D97-AF65-F5344CB8AC3E}">
        <p14:creationId xmlns:p14="http://schemas.microsoft.com/office/powerpoint/2010/main" val="863227156"/>
      </p:ext>
    </p:extLst>
  </p:cSld>
  <p:clrMapOvr>
    <a:masterClrMapping/>
  </p:clrMapOvr>
  <p:transition spd="med" advClick="0">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平面立体的拓扑关系</a:t>
            </a:r>
          </a:p>
        </p:txBody>
      </p:sp>
      <p:pic>
        <p:nvPicPr>
          <p:cNvPr id="23554" name="图片 45"/>
          <p:cNvPicPr>
            <a:picLocks noChangeAspect="1"/>
          </p:cNvPicPr>
          <p:nvPr/>
        </p:nvPicPr>
        <p:blipFill>
          <a:blip r:embed="rId4"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5"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graphicFrame>
        <p:nvGraphicFramePr>
          <p:cNvPr id="8" name="Object 2">
            <a:extLst>
              <a:ext uri="{FF2B5EF4-FFF2-40B4-BE49-F238E27FC236}">
                <a16:creationId xmlns:a16="http://schemas.microsoft.com/office/drawing/2014/main" id="{2C7462D0-0308-471D-BB7A-F0E04910F9BF}"/>
              </a:ext>
            </a:extLst>
          </p:cNvPr>
          <p:cNvGraphicFramePr>
            <a:graphicFrameLocks noChangeAspect="1"/>
          </p:cNvGraphicFramePr>
          <p:nvPr>
            <p:extLst>
              <p:ext uri="{D42A27DB-BD31-4B8C-83A1-F6EECF244321}">
                <p14:modId xmlns:p14="http://schemas.microsoft.com/office/powerpoint/2010/main" val="1156586342"/>
              </p:ext>
            </p:extLst>
          </p:nvPr>
        </p:nvGraphicFramePr>
        <p:xfrm>
          <a:off x="247940" y="542087"/>
          <a:ext cx="5152736" cy="4126573"/>
        </p:xfrm>
        <a:graphic>
          <a:graphicData uri="http://schemas.openxmlformats.org/presentationml/2006/ole">
            <mc:AlternateContent xmlns:mc="http://schemas.openxmlformats.org/markup-compatibility/2006">
              <mc:Choice xmlns:v="urn:schemas-microsoft-com:vml" Requires="v">
                <p:oleObj spid="_x0000_s1031" name="Visio" r:id="rId6" imgW="5164395" imgH="4142184" progId="Visio.Drawing.11">
                  <p:embed/>
                </p:oleObj>
              </mc:Choice>
              <mc:Fallback>
                <p:oleObj name="Visio" r:id="rId6" imgW="5164395" imgH="4142184" progId="Visio.Drawing.11">
                  <p:embed/>
                  <p:pic>
                    <p:nvPicPr>
                      <p:cNvPr id="16386" name="Object 2">
                        <a:extLst>
                          <a:ext uri="{FF2B5EF4-FFF2-40B4-BE49-F238E27FC236}">
                            <a16:creationId xmlns:a16="http://schemas.microsoft.com/office/drawing/2014/main" id="{4D3AF99B-080A-4556-A3C1-0D294BA341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940" y="542087"/>
                        <a:ext cx="5152736" cy="4126573"/>
                      </a:xfrm>
                      <a:prstGeom prst="rect">
                        <a:avLst/>
                      </a:prstGeom>
                      <a:solidFill>
                        <a:schemeClr val="bg1"/>
                      </a:solidFill>
                      <a:ln>
                        <a:noFill/>
                      </a:ln>
                      <a:effectLst/>
                      <a:extLst/>
                    </p:spPr>
                  </p:pic>
                </p:oleObj>
              </mc:Fallback>
            </mc:AlternateContent>
          </a:graphicData>
        </a:graphic>
      </p:graphicFrame>
      <p:sp>
        <p:nvSpPr>
          <p:cNvPr id="3" name="矩形 2">
            <a:extLst>
              <a:ext uri="{FF2B5EF4-FFF2-40B4-BE49-F238E27FC236}">
                <a16:creationId xmlns:a16="http://schemas.microsoft.com/office/drawing/2014/main" id="{C1730C49-2178-4E8E-9763-485BC75AA800}"/>
              </a:ext>
            </a:extLst>
          </p:cNvPr>
          <p:cNvSpPr/>
          <p:nvPr/>
        </p:nvSpPr>
        <p:spPr>
          <a:xfrm>
            <a:off x="5868144" y="1996345"/>
            <a:ext cx="3168352" cy="1938992"/>
          </a:xfrm>
          <a:prstGeom prst="rect">
            <a:avLst/>
          </a:prstGeom>
        </p:spPr>
        <p:txBody>
          <a:bodyPr wrap="square">
            <a:spAutoFit/>
          </a:bodyPr>
          <a:lstStyle/>
          <a:p>
            <a:r>
              <a:rPr lang="zh-CN" altLang="en-US" sz="2400" dirty="0"/>
              <a:t>至少</a:t>
            </a:r>
            <a:r>
              <a:rPr lang="en-US" altLang="zh-CN" sz="2400" dirty="0"/>
              <a:t>2</a:t>
            </a:r>
            <a:r>
              <a:rPr lang="zh-CN" altLang="en-US" sz="2400" dirty="0"/>
              <a:t>种关系的组合才能完整构建一个平面物体。拓扑关系类别越少，数据量越少，但是构建时间越长。</a:t>
            </a:r>
          </a:p>
        </p:txBody>
      </p:sp>
    </p:spTree>
    <p:extLst>
      <p:ext uri="{BB962C8B-B14F-4D97-AF65-F5344CB8AC3E}">
        <p14:creationId xmlns:p14="http://schemas.microsoft.com/office/powerpoint/2010/main" val="3997417674"/>
      </p:ext>
    </p:extLst>
  </p:cSld>
  <p:clrMapOvr>
    <a:masterClrMapping/>
  </p:clrMapOvr>
  <p:transition spd="med" advClick="0">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几何与拓扑分离</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D6F027AC-E676-422B-B811-32946C2F762E}"/>
              </a:ext>
            </a:extLst>
          </p:cNvPr>
          <p:cNvSpPr txBox="1">
            <a:spLocks noChangeArrowheads="1"/>
          </p:cNvSpPr>
          <p:nvPr/>
        </p:nvSpPr>
        <p:spPr bwMode="auto">
          <a:xfrm>
            <a:off x="251520" y="700088"/>
            <a:ext cx="8140774" cy="3366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ea typeface="宋体" panose="02010600030101010101" pitchFamily="2" charset="-122"/>
              </a:rPr>
              <a:t>一般来说，在数据结构中把几何与拓扑区分开是一个非常好的想法</a:t>
            </a:r>
          </a:p>
          <a:p>
            <a:pPr lvl="1"/>
            <a:r>
              <a:rPr lang="zh-CN" altLang="en-US" kern="0" dirty="0">
                <a:solidFill>
                  <a:srgbClr val="FF3300"/>
                </a:solidFill>
                <a:ea typeface="宋体" panose="02010600030101010101" pitchFamily="2" charset="-122"/>
              </a:rPr>
              <a:t>几何：顶点的位置</a:t>
            </a:r>
          </a:p>
          <a:p>
            <a:pPr lvl="1"/>
            <a:r>
              <a:rPr lang="zh-CN" altLang="en-US" kern="0" dirty="0">
                <a:solidFill>
                  <a:srgbClr val="FF3300"/>
                </a:solidFill>
                <a:ea typeface="宋体" panose="02010600030101010101" pitchFamily="2" charset="-122"/>
              </a:rPr>
              <a:t>拓扑：顶点和边的连接关系</a:t>
            </a:r>
          </a:p>
          <a:p>
            <a:pPr lvl="1"/>
            <a:r>
              <a:rPr lang="zh-CN" altLang="en-US" kern="0" dirty="0">
                <a:ea typeface="宋体" panose="02010600030101010101" pitchFamily="2" charset="-122"/>
              </a:rPr>
              <a:t>例如：多边形就是顶点的有序列表，其中每条边以相邻的顶点为端点，同时最后一个顶点与第一个顶点连接</a:t>
            </a:r>
          </a:p>
          <a:p>
            <a:pPr lvl="1"/>
            <a:r>
              <a:rPr lang="zh-CN" altLang="en-US" kern="0" dirty="0">
                <a:solidFill>
                  <a:srgbClr val="3992DB"/>
                </a:solidFill>
                <a:ea typeface="宋体" panose="02010600030101010101" pitchFamily="2" charset="-122"/>
              </a:rPr>
              <a:t>即使几何信息改变了，拓扑信息可以保持不变</a:t>
            </a:r>
          </a:p>
        </p:txBody>
      </p:sp>
    </p:spTree>
    <p:extLst>
      <p:ext uri="{BB962C8B-B14F-4D97-AF65-F5344CB8AC3E}">
        <p14:creationId xmlns:p14="http://schemas.microsoft.com/office/powerpoint/2010/main" val="3942708933"/>
      </p:ext>
    </p:extLst>
  </p:cSld>
  <p:clrMapOvr>
    <a:masterClrMapping/>
  </p:clrMapOvr>
  <p:transition spd="med" advClick="0">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边界表示的数据结构</a:t>
            </a:r>
          </a:p>
        </p:txBody>
      </p:sp>
      <p:pic>
        <p:nvPicPr>
          <p:cNvPr id="23554" name="图片 45"/>
          <p:cNvPicPr>
            <a:picLocks noChangeAspect="1"/>
          </p:cNvPicPr>
          <p:nvPr/>
        </p:nvPicPr>
        <p:blipFill>
          <a:blip r:embed="rId4"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5"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465A58D0-59A4-45D5-9D04-6BA00AB0A8D3}"/>
              </a:ext>
            </a:extLst>
          </p:cNvPr>
          <p:cNvSpPr txBox="1">
            <a:spLocks noChangeArrowheads="1"/>
          </p:cNvSpPr>
          <p:nvPr/>
        </p:nvSpPr>
        <p:spPr bwMode="auto">
          <a:xfrm>
            <a:off x="250915" y="731837"/>
            <a:ext cx="8615272" cy="399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zh-CN" altLang="en-US" sz="24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边界表示法的数据结构有四种方法：直接表示、顶点表指针表示、边表指针表示、翼边表示、半边表示</a:t>
            </a:r>
          </a:p>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en-US" altLang="zh-CN" sz="24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直接表示</a:t>
            </a:r>
            <a:endParaRPr kumimoji="0" lang="zh-CN" altLang="en-US" sz="2400" b="0"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zh-CN" altLang="en-US" sz="24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以面为基础，按照体、面、顶点坐标的树结构层次组织元素数据</a:t>
            </a:r>
          </a:p>
        </p:txBody>
      </p:sp>
      <p:grpSp>
        <p:nvGrpSpPr>
          <p:cNvPr id="8" name="Group 4">
            <a:extLst>
              <a:ext uri="{FF2B5EF4-FFF2-40B4-BE49-F238E27FC236}">
                <a16:creationId xmlns:a16="http://schemas.microsoft.com/office/drawing/2014/main" id="{6D930179-992A-4F1A-9018-CF4C7915DB1F}"/>
              </a:ext>
            </a:extLst>
          </p:cNvPr>
          <p:cNvGrpSpPr>
            <a:grpSpLocks/>
          </p:cNvGrpSpPr>
          <p:nvPr/>
        </p:nvGrpSpPr>
        <p:grpSpPr bwMode="auto">
          <a:xfrm>
            <a:off x="6323012" y="2719220"/>
            <a:ext cx="2708275" cy="1754188"/>
            <a:chOff x="4184" y="1477"/>
            <a:chExt cx="1706" cy="1105"/>
          </a:xfrm>
        </p:grpSpPr>
        <p:sp>
          <p:nvSpPr>
            <p:cNvPr id="9" name="Text Box 5">
              <a:extLst>
                <a:ext uri="{FF2B5EF4-FFF2-40B4-BE49-F238E27FC236}">
                  <a16:creationId xmlns:a16="http://schemas.microsoft.com/office/drawing/2014/main" id="{F470CCC5-0D5D-4F55-87FC-2EDF6E7F5FDF}"/>
                </a:ext>
              </a:extLst>
            </p:cNvPr>
            <p:cNvSpPr txBox="1">
              <a:spLocks noChangeArrowheads="1"/>
            </p:cNvSpPr>
            <p:nvPr/>
          </p:nvSpPr>
          <p:spPr bwMode="auto">
            <a:xfrm>
              <a:off x="4184" y="2155"/>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sp>
          <p:nvSpPr>
            <p:cNvPr id="10" name="Freeform 6">
              <a:extLst>
                <a:ext uri="{FF2B5EF4-FFF2-40B4-BE49-F238E27FC236}">
                  <a16:creationId xmlns:a16="http://schemas.microsoft.com/office/drawing/2014/main" id="{007B016F-170F-4FD3-86F8-390CAE1629B6}"/>
                </a:ext>
              </a:extLst>
            </p:cNvPr>
            <p:cNvSpPr>
              <a:spLocks/>
            </p:cNvSpPr>
            <p:nvPr/>
          </p:nvSpPr>
          <p:spPr bwMode="auto">
            <a:xfrm>
              <a:off x="4590" y="1733"/>
              <a:ext cx="832" cy="672"/>
            </a:xfrm>
            <a:custGeom>
              <a:avLst/>
              <a:gdLst>
                <a:gd name="T0" fmla="*/ 3123 w 768"/>
                <a:gd name="T1" fmla="*/ 0 h 672"/>
                <a:gd name="T2" fmla="*/ 0 w 768"/>
                <a:gd name="T3" fmla="*/ 480 h 672"/>
                <a:gd name="T4" fmla="*/ 9932 w 768"/>
                <a:gd name="T5" fmla="*/ 672 h 672"/>
                <a:gd name="T6" fmla="*/ 3123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240" y="0"/>
                  </a:moveTo>
                  <a:lnTo>
                    <a:pt x="0" y="480"/>
                  </a:lnTo>
                  <a:lnTo>
                    <a:pt x="768" y="672"/>
                  </a:lnTo>
                  <a:lnTo>
                    <a:pt x="24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2" name="Freeform 7">
              <a:extLst>
                <a:ext uri="{FF2B5EF4-FFF2-40B4-BE49-F238E27FC236}">
                  <a16:creationId xmlns:a16="http://schemas.microsoft.com/office/drawing/2014/main" id="{5CDBCB15-16A0-4D93-9CFA-E80761054C45}"/>
                </a:ext>
              </a:extLst>
            </p:cNvPr>
            <p:cNvSpPr>
              <a:spLocks/>
            </p:cNvSpPr>
            <p:nvPr/>
          </p:nvSpPr>
          <p:spPr bwMode="auto">
            <a:xfrm>
              <a:off x="4850" y="1733"/>
              <a:ext cx="728" cy="672"/>
            </a:xfrm>
            <a:custGeom>
              <a:avLst/>
              <a:gdLst>
                <a:gd name="T0" fmla="*/ 0 w 672"/>
                <a:gd name="T1" fmla="*/ 0 h 672"/>
                <a:gd name="T2" fmla="*/ 8713 w 672"/>
                <a:gd name="T3" fmla="*/ 288 h 672"/>
                <a:gd name="T4" fmla="*/ 6853 w 672"/>
                <a:gd name="T5" fmla="*/ 672 h 672"/>
                <a:gd name="T6" fmla="*/ 0 w 672"/>
                <a:gd name="T7" fmla="*/ 0 h 672"/>
                <a:gd name="T8" fmla="*/ 0 60000 65536"/>
                <a:gd name="T9" fmla="*/ 0 60000 65536"/>
                <a:gd name="T10" fmla="*/ 0 60000 65536"/>
                <a:gd name="T11" fmla="*/ 0 60000 65536"/>
                <a:gd name="T12" fmla="*/ 0 w 672"/>
                <a:gd name="T13" fmla="*/ 0 h 672"/>
                <a:gd name="T14" fmla="*/ 672 w 672"/>
                <a:gd name="T15" fmla="*/ 672 h 672"/>
              </a:gdLst>
              <a:ahLst/>
              <a:cxnLst>
                <a:cxn ang="T8">
                  <a:pos x="T0" y="T1"/>
                </a:cxn>
                <a:cxn ang="T9">
                  <a:pos x="T2" y="T3"/>
                </a:cxn>
                <a:cxn ang="T10">
                  <a:pos x="T4" y="T5"/>
                </a:cxn>
                <a:cxn ang="T11">
                  <a:pos x="T6" y="T7"/>
                </a:cxn>
              </a:cxnLst>
              <a:rect l="T12" t="T13" r="T14" b="T15"/>
              <a:pathLst>
                <a:path w="672" h="672">
                  <a:moveTo>
                    <a:pt x="0" y="0"/>
                  </a:moveTo>
                  <a:lnTo>
                    <a:pt x="672" y="288"/>
                  </a:lnTo>
                  <a:lnTo>
                    <a:pt x="528" y="672"/>
                  </a:lnTo>
                  <a:lnTo>
                    <a:pt x="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3" name="Text Box 8">
              <a:extLst>
                <a:ext uri="{FF2B5EF4-FFF2-40B4-BE49-F238E27FC236}">
                  <a16:creationId xmlns:a16="http://schemas.microsoft.com/office/drawing/2014/main" id="{B0DD35BC-1BDD-4D24-9671-0958E62922D0}"/>
                </a:ext>
              </a:extLst>
            </p:cNvPr>
            <p:cNvSpPr txBox="1">
              <a:spLocks noChangeArrowheads="1"/>
            </p:cNvSpPr>
            <p:nvPr/>
          </p:nvSpPr>
          <p:spPr bwMode="auto">
            <a:xfrm>
              <a:off x="5370" y="2332"/>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4</a:t>
              </a:r>
            </a:p>
          </p:txBody>
        </p:sp>
        <p:sp>
          <p:nvSpPr>
            <p:cNvPr id="15" name="Text Box 9">
              <a:extLst>
                <a:ext uri="{FF2B5EF4-FFF2-40B4-BE49-F238E27FC236}">
                  <a16:creationId xmlns:a16="http://schemas.microsoft.com/office/drawing/2014/main" id="{7A39F00C-2C2D-4BF9-AEDE-05EBC38EC3D8}"/>
                </a:ext>
              </a:extLst>
            </p:cNvPr>
            <p:cNvSpPr txBox="1">
              <a:spLocks noChangeArrowheads="1"/>
            </p:cNvSpPr>
            <p:nvPr/>
          </p:nvSpPr>
          <p:spPr bwMode="auto">
            <a:xfrm>
              <a:off x="5474" y="1877"/>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3</a:t>
              </a:r>
            </a:p>
          </p:txBody>
        </p:sp>
        <p:sp>
          <p:nvSpPr>
            <p:cNvPr id="16" name="Text Box 10">
              <a:extLst>
                <a:ext uri="{FF2B5EF4-FFF2-40B4-BE49-F238E27FC236}">
                  <a16:creationId xmlns:a16="http://schemas.microsoft.com/office/drawing/2014/main" id="{BC57A02A-87F2-464B-B649-E8188117D53E}"/>
                </a:ext>
              </a:extLst>
            </p:cNvPr>
            <p:cNvSpPr txBox="1">
              <a:spLocks noChangeArrowheads="1"/>
            </p:cNvSpPr>
            <p:nvPr/>
          </p:nvSpPr>
          <p:spPr bwMode="auto">
            <a:xfrm>
              <a:off x="4674" y="1477"/>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17" name="Text Box 11">
              <a:extLst>
                <a:ext uri="{FF2B5EF4-FFF2-40B4-BE49-F238E27FC236}">
                  <a16:creationId xmlns:a16="http://schemas.microsoft.com/office/drawing/2014/main" id="{4418EC7C-32CD-444A-A406-01D227682569}"/>
                </a:ext>
              </a:extLst>
            </p:cNvPr>
            <p:cNvSpPr txBox="1">
              <a:spLocks noChangeArrowheads="1"/>
            </p:cNvSpPr>
            <p:nvPr/>
          </p:nvSpPr>
          <p:spPr bwMode="auto">
            <a:xfrm>
              <a:off x="5189" y="1949"/>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18" name="Text Box 12">
              <a:extLst>
                <a:ext uri="{FF2B5EF4-FFF2-40B4-BE49-F238E27FC236}">
                  <a16:creationId xmlns:a16="http://schemas.microsoft.com/office/drawing/2014/main" id="{8A0D01EA-A97B-4DAB-848C-AE4F9B88AA02}"/>
                </a:ext>
              </a:extLst>
            </p:cNvPr>
            <p:cNvSpPr txBox="1">
              <a:spLocks noChangeArrowheads="1"/>
            </p:cNvSpPr>
            <p:nvPr/>
          </p:nvSpPr>
          <p:spPr bwMode="auto">
            <a:xfrm>
              <a:off x="4679" y="1976"/>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grpSp>
      <p:sp>
        <p:nvSpPr>
          <p:cNvPr id="19" name="AutoShape 7">
            <a:extLst>
              <a:ext uri="{FF2B5EF4-FFF2-40B4-BE49-F238E27FC236}">
                <a16:creationId xmlns:a16="http://schemas.microsoft.com/office/drawing/2014/main" id="{4FFA1BF8-3056-4C85-B97B-B84B7FC7F149}"/>
              </a:ext>
            </a:extLst>
          </p:cNvPr>
          <p:cNvSpPr>
            <a:spLocks noChangeArrowheads="1"/>
          </p:cNvSpPr>
          <p:nvPr/>
        </p:nvSpPr>
        <p:spPr bwMode="auto">
          <a:xfrm>
            <a:off x="4239997" y="2733991"/>
            <a:ext cx="2281452" cy="485455"/>
          </a:xfrm>
          <a:prstGeom prst="wedgeRoundRectCallout">
            <a:avLst>
              <a:gd name="adj1" fmla="val -45454"/>
              <a:gd name="adj2" fmla="val 92658"/>
              <a:gd name="adj3" fmla="val 16667"/>
            </a:avLst>
          </a:prstGeom>
          <a:gradFill rotWithShape="1">
            <a:gsLst>
              <a:gs pos="0">
                <a:srgbClr val="2D2D8A">
                  <a:tint val="50000"/>
                  <a:satMod val="300000"/>
                </a:srgbClr>
              </a:gs>
              <a:gs pos="35000">
                <a:srgbClr val="2D2D8A">
                  <a:tint val="37000"/>
                  <a:satMod val="300000"/>
                </a:srgbClr>
              </a:gs>
              <a:gs pos="100000">
                <a:srgbClr val="2D2D8A">
                  <a:tint val="15000"/>
                  <a:satMod val="350000"/>
                </a:srgbClr>
              </a:gs>
            </a:gsLst>
            <a:lin ang="16200000" scaled="1"/>
          </a:gradFill>
          <a:ln w="9525" cap="flat" cmpd="sng" algn="ctr">
            <a:solidFill>
              <a:srgbClr val="2D2D8A">
                <a:shade val="95000"/>
                <a:satMod val="105000"/>
              </a:srgbClr>
            </a:solidFill>
            <a:prstDash val="solid"/>
            <a:headEnd/>
            <a:tailEnd/>
          </a:ln>
          <a:effectLst>
            <a:outerShdw blurRad="40000" dist="20000" dir="5400000" rotWithShape="0">
              <a:srgbClr val="000000">
                <a:alpha val="38000"/>
              </a:srgbClr>
            </a:outerShdw>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00"/>
                </a:solidFill>
                <a:effectLst/>
                <a:uLnTx/>
                <a:uFillTx/>
                <a:latin typeface="Times New Roman"/>
                <a:ea typeface="+mn-ea"/>
                <a:cs typeface="+mn-cs"/>
              </a:rPr>
              <a:t>有何缺点</a:t>
            </a:r>
            <a:r>
              <a:rPr kumimoji="0" lang="en-US" altLang="zh-CN" sz="2800" b="0" i="0" u="none" strike="noStrike" kern="0" cap="none" spc="0" normalizeH="0" baseline="0" noProof="0" dirty="0">
                <a:ln>
                  <a:noFill/>
                </a:ln>
                <a:solidFill>
                  <a:srgbClr val="000000"/>
                </a:solidFill>
                <a:effectLst/>
                <a:uLnTx/>
                <a:uFillTx/>
                <a:latin typeface="Times New Roman"/>
                <a:ea typeface="+mn-ea"/>
                <a:cs typeface="+mn-cs"/>
              </a:rPr>
              <a:t>?</a:t>
            </a:r>
          </a:p>
        </p:txBody>
      </p:sp>
      <p:graphicFrame>
        <p:nvGraphicFramePr>
          <p:cNvPr id="2" name="对象 1">
            <a:extLst>
              <a:ext uri="{FF2B5EF4-FFF2-40B4-BE49-F238E27FC236}">
                <a16:creationId xmlns:a16="http://schemas.microsoft.com/office/drawing/2014/main" id="{FD9409CF-3F39-4534-AB03-82600763DF98}"/>
              </a:ext>
            </a:extLst>
          </p:cNvPr>
          <p:cNvGraphicFramePr>
            <a:graphicFrameLocks noChangeAspect="1"/>
          </p:cNvGraphicFramePr>
          <p:nvPr>
            <p:extLst>
              <p:ext uri="{D42A27DB-BD31-4B8C-83A1-F6EECF244321}">
                <p14:modId xmlns:p14="http://schemas.microsoft.com/office/powerpoint/2010/main" val="1358200273"/>
              </p:ext>
            </p:extLst>
          </p:nvPr>
        </p:nvGraphicFramePr>
        <p:xfrm>
          <a:off x="663851" y="3003175"/>
          <a:ext cx="5460723" cy="1724439"/>
        </p:xfrm>
        <a:graphic>
          <a:graphicData uri="http://schemas.openxmlformats.org/presentationml/2006/ole">
            <mc:AlternateContent xmlns:mc="http://schemas.openxmlformats.org/markup-compatibility/2006">
              <mc:Choice xmlns:v="urn:schemas-microsoft-com:vml" Requires="v">
                <p:oleObj spid="_x0000_s2055" name="Equation" r:id="rId6" imgW="6515292" imgH="2057400" progId="Equation.DSMT4">
                  <p:embed/>
                </p:oleObj>
              </mc:Choice>
              <mc:Fallback>
                <p:oleObj name="Equation" r:id="rId6" imgW="6515292" imgH="2057400" progId="Equation.DSMT4">
                  <p:embed/>
                  <p:pic>
                    <p:nvPicPr>
                      <p:cNvPr id="0" name=""/>
                      <p:cNvPicPr/>
                      <p:nvPr/>
                    </p:nvPicPr>
                    <p:blipFill>
                      <a:blip r:embed="rId7"/>
                      <a:stretch>
                        <a:fillRect/>
                      </a:stretch>
                    </p:blipFill>
                    <p:spPr>
                      <a:xfrm>
                        <a:off x="663851" y="3003175"/>
                        <a:ext cx="5460723" cy="1724439"/>
                      </a:xfrm>
                      <a:prstGeom prst="rect">
                        <a:avLst/>
                      </a:prstGeom>
                    </p:spPr>
                  </p:pic>
                </p:oleObj>
              </mc:Fallback>
            </mc:AlternateContent>
          </a:graphicData>
        </a:graphic>
      </p:graphicFrame>
    </p:spTree>
    <p:extLst>
      <p:ext uri="{BB962C8B-B14F-4D97-AF65-F5344CB8AC3E}">
        <p14:creationId xmlns:p14="http://schemas.microsoft.com/office/powerpoint/2010/main" val="3006603044"/>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边界表示的数据结构</a:t>
            </a:r>
          </a:p>
        </p:txBody>
      </p:sp>
      <p:pic>
        <p:nvPicPr>
          <p:cNvPr id="23554" name="图片 45"/>
          <p:cNvPicPr>
            <a:picLocks noChangeAspect="1"/>
          </p:cNvPicPr>
          <p:nvPr/>
        </p:nvPicPr>
        <p:blipFill>
          <a:blip r:embed="rId4"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5"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08:31</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B20C8F2D-D4D3-4E55-A3B2-D21B30044273}"/>
              </a:ext>
            </a:extLst>
          </p:cNvPr>
          <p:cNvSpPr txBox="1">
            <a:spLocks noChangeArrowheads="1"/>
          </p:cNvSpPr>
          <p:nvPr/>
        </p:nvSpPr>
        <p:spPr bwMode="auto">
          <a:xfrm>
            <a:off x="395536" y="679771"/>
            <a:ext cx="8015436" cy="431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en-US" altLang="zh-CN" sz="28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2</a:t>
            </a:r>
            <a:r>
              <a:rPr kumimoji="0" lang="zh-CN" altLang="en-US" sz="28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．顶点表指针表示</a:t>
            </a:r>
            <a:endParaRPr kumimoji="0" lang="zh-CN" altLang="en-US" sz="2800" b="0"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以顶点</a:t>
            </a:r>
            <a:r>
              <a:rPr kumimoji="0" lang="en-US" altLang="zh-CN"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坐标和面</a:t>
            </a:r>
            <a:r>
              <a:rPr kumimoji="0" lang="en-US" altLang="zh-CN"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顶点序列两张关系表表示</a:t>
            </a:r>
            <a:endPar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graphicFrame>
        <p:nvGraphicFramePr>
          <p:cNvPr id="8" name="Object 13">
            <a:extLst>
              <a:ext uri="{FF2B5EF4-FFF2-40B4-BE49-F238E27FC236}">
                <a16:creationId xmlns:a16="http://schemas.microsoft.com/office/drawing/2014/main" id="{0DBC4C56-BCE2-42C8-928F-D65B502E6F11}"/>
              </a:ext>
            </a:extLst>
          </p:cNvPr>
          <p:cNvGraphicFramePr>
            <a:graphicFrameLocks noChangeAspect="1"/>
          </p:cNvGraphicFramePr>
          <p:nvPr>
            <p:extLst>
              <p:ext uri="{D42A27DB-BD31-4B8C-83A1-F6EECF244321}">
                <p14:modId xmlns:p14="http://schemas.microsoft.com/office/powerpoint/2010/main" val="639159192"/>
              </p:ext>
            </p:extLst>
          </p:nvPr>
        </p:nvGraphicFramePr>
        <p:xfrm>
          <a:off x="561435" y="2472547"/>
          <a:ext cx="8187029" cy="1888892"/>
        </p:xfrm>
        <a:graphic>
          <a:graphicData uri="http://schemas.openxmlformats.org/presentationml/2006/ole">
            <mc:AlternateContent xmlns:mc="http://schemas.openxmlformats.org/markup-compatibility/2006">
              <mc:Choice xmlns:v="urn:schemas-microsoft-com:vml" Requires="v">
                <p:oleObj spid="_x0000_s3077" name="Equation" r:id="rId6" imgW="3962400" imgH="914400" progId="Equation.DSMT4">
                  <p:embed/>
                </p:oleObj>
              </mc:Choice>
              <mc:Fallback>
                <p:oleObj name="Equation" r:id="rId6" imgW="3962400" imgH="914400" progId="Equation.DSMT4">
                  <p:embed/>
                  <p:pic>
                    <p:nvPicPr>
                      <p:cNvPr id="3074" name="Object 13">
                        <a:extLst>
                          <a:ext uri="{FF2B5EF4-FFF2-40B4-BE49-F238E27FC236}">
                            <a16:creationId xmlns:a16="http://schemas.microsoft.com/office/drawing/2014/main" id="{F8867B8E-62B6-4615-9FF2-D3CB41E566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435" y="2472547"/>
                        <a:ext cx="8187029" cy="1888892"/>
                      </a:xfrm>
                      <a:prstGeom prst="rect">
                        <a:avLst/>
                      </a:prstGeom>
                      <a:noFill/>
                      <a:ln>
                        <a:noFill/>
                      </a:ln>
                      <a:effectLst/>
                      <a:extLst/>
                    </p:spPr>
                  </p:pic>
                </p:oleObj>
              </mc:Fallback>
            </mc:AlternateContent>
          </a:graphicData>
        </a:graphic>
      </p:graphicFrame>
      <p:sp>
        <p:nvSpPr>
          <p:cNvPr id="9" name="AutoShape 7">
            <a:extLst>
              <a:ext uri="{FF2B5EF4-FFF2-40B4-BE49-F238E27FC236}">
                <a16:creationId xmlns:a16="http://schemas.microsoft.com/office/drawing/2014/main" id="{386D6A93-C6F5-4E7D-8048-6E4773A2F4C5}"/>
              </a:ext>
            </a:extLst>
          </p:cNvPr>
          <p:cNvSpPr>
            <a:spLocks noChangeArrowheads="1"/>
          </p:cNvSpPr>
          <p:nvPr/>
        </p:nvSpPr>
        <p:spPr bwMode="auto">
          <a:xfrm>
            <a:off x="2915816" y="2534173"/>
            <a:ext cx="2383079" cy="607534"/>
          </a:xfrm>
          <a:prstGeom prst="wedgeRoundRectCallout">
            <a:avLst>
              <a:gd name="adj1" fmla="val -53142"/>
              <a:gd name="adj2" fmla="val 92658"/>
              <a:gd name="adj3" fmla="val 16667"/>
            </a:avLst>
          </a:prstGeom>
          <a:gradFill rotWithShape="1">
            <a:gsLst>
              <a:gs pos="0">
                <a:srgbClr val="2D2D8A">
                  <a:tint val="50000"/>
                  <a:satMod val="300000"/>
                </a:srgbClr>
              </a:gs>
              <a:gs pos="35000">
                <a:srgbClr val="2D2D8A">
                  <a:tint val="37000"/>
                  <a:satMod val="300000"/>
                </a:srgbClr>
              </a:gs>
              <a:gs pos="100000">
                <a:srgbClr val="2D2D8A">
                  <a:tint val="15000"/>
                  <a:satMod val="350000"/>
                </a:srgbClr>
              </a:gs>
            </a:gsLst>
            <a:lin ang="16200000" scaled="1"/>
          </a:gradFill>
          <a:ln w="9525" cap="flat" cmpd="sng" algn="ctr">
            <a:solidFill>
              <a:srgbClr val="2D2D8A">
                <a:shade val="95000"/>
                <a:satMod val="105000"/>
              </a:srgbClr>
            </a:solidFill>
            <a:prstDash val="solid"/>
            <a:headEnd/>
            <a:tailEnd/>
          </a:ln>
          <a:effectLst>
            <a:outerShdw blurRad="40000" dist="20000" dir="5400000" rotWithShape="0">
              <a:srgbClr val="000000">
                <a:alpha val="38000"/>
              </a:srgbClr>
            </a:outerShdw>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0" i="0" u="none" strike="noStrike" kern="0" cap="none" spc="0" normalizeH="0" baseline="0" noProof="0" dirty="0">
                <a:ln>
                  <a:noFill/>
                </a:ln>
                <a:solidFill>
                  <a:srgbClr val="000000"/>
                </a:solidFill>
                <a:effectLst/>
                <a:uLnTx/>
                <a:uFillTx/>
                <a:latin typeface="Times New Roman"/>
                <a:ea typeface="+mn-ea"/>
                <a:cs typeface="+mn-cs"/>
              </a:rPr>
              <a:t>有何缺点</a:t>
            </a:r>
            <a:r>
              <a:rPr kumimoji="0" lang="en-US" altLang="zh-CN" sz="3200" b="0" i="0" u="none" strike="noStrike" kern="0" cap="none" spc="0" normalizeH="0" baseline="0" noProof="0" dirty="0">
                <a:ln>
                  <a:noFill/>
                </a:ln>
                <a:solidFill>
                  <a:srgbClr val="000000"/>
                </a:solidFill>
                <a:effectLst/>
                <a:uLnTx/>
                <a:uFillTx/>
                <a:latin typeface="Times New Roman"/>
                <a:ea typeface="+mn-ea"/>
                <a:cs typeface="+mn-cs"/>
              </a:rPr>
              <a:t>?</a:t>
            </a:r>
          </a:p>
        </p:txBody>
      </p:sp>
      <p:grpSp>
        <p:nvGrpSpPr>
          <p:cNvPr id="10" name="Group 4">
            <a:extLst>
              <a:ext uri="{FF2B5EF4-FFF2-40B4-BE49-F238E27FC236}">
                <a16:creationId xmlns:a16="http://schemas.microsoft.com/office/drawing/2014/main" id="{657BFF32-62D5-4899-B288-708DCD4119AC}"/>
              </a:ext>
            </a:extLst>
          </p:cNvPr>
          <p:cNvGrpSpPr>
            <a:grpSpLocks/>
          </p:cNvGrpSpPr>
          <p:nvPr/>
        </p:nvGrpSpPr>
        <p:grpSpPr bwMode="auto">
          <a:xfrm>
            <a:off x="6299138" y="1939702"/>
            <a:ext cx="2708275" cy="1754188"/>
            <a:chOff x="4184" y="1477"/>
            <a:chExt cx="1706" cy="1105"/>
          </a:xfrm>
        </p:grpSpPr>
        <p:sp>
          <p:nvSpPr>
            <p:cNvPr id="12" name="Text Box 5">
              <a:extLst>
                <a:ext uri="{FF2B5EF4-FFF2-40B4-BE49-F238E27FC236}">
                  <a16:creationId xmlns:a16="http://schemas.microsoft.com/office/drawing/2014/main" id="{1FF02F55-20E8-4568-8A2C-94B720B33121}"/>
                </a:ext>
              </a:extLst>
            </p:cNvPr>
            <p:cNvSpPr txBox="1">
              <a:spLocks noChangeArrowheads="1"/>
            </p:cNvSpPr>
            <p:nvPr/>
          </p:nvSpPr>
          <p:spPr bwMode="auto">
            <a:xfrm>
              <a:off x="4184" y="2155"/>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sp>
          <p:nvSpPr>
            <p:cNvPr id="13" name="Freeform 6">
              <a:extLst>
                <a:ext uri="{FF2B5EF4-FFF2-40B4-BE49-F238E27FC236}">
                  <a16:creationId xmlns:a16="http://schemas.microsoft.com/office/drawing/2014/main" id="{8602FF94-BF8D-47B8-A708-6AC3E85206D2}"/>
                </a:ext>
              </a:extLst>
            </p:cNvPr>
            <p:cNvSpPr>
              <a:spLocks/>
            </p:cNvSpPr>
            <p:nvPr/>
          </p:nvSpPr>
          <p:spPr bwMode="auto">
            <a:xfrm>
              <a:off x="4590" y="1733"/>
              <a:ext cx="832" cy="672"/>
            </a:xfrm>
            <a:custGeom>
              <a:avLst/>
              <a:gdLst>
                <a:gd name="T0" fmla="*/ 3123 w 768"/>
                <a:gd name="T1" fmla="*/ 0 h 672"/>
                <a:gd name="T2" fmla="*/ 0 w 768"/>
                <a:gd name="T3" fmla="*/ 480 h 672"/>
                <a:gd name="T4" fmla="*/ 9932 w 768"/>
                <a:gd name="T5" fmla="*/ 672 h 672"/>
                <a:gd name="T6" fmla="*/ 3123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240" y="0"/>
                  </a:moveTo>
                  <a:lnTo>
                    <a:pt x="0" y="480"/>
                  </a:lnTo>
                  <a:lnTo>
                    <a:pt x="768" y="672"/>
                  </a:lnTo>
                  <a:lnTo>
                    <a:pt x="24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5" name="Freeform 7">
              <a:extLst>
                <a:ext uri="{FF2B5EF4-FFF2-40B4-BE49-F238E27FC236}">
                  <a16:creationId xmlns:a16="http://schemas.microsoft.com/office/drawing/2014/main" id="{784F3ED0-4AC6-467C-8B6B-73E32360ABAF}"/>
                </a:ext>
              </a:extLst>
            </p:cNvPr>
            <p:cNvSpPr>
              <a:spLocks/>
            </p:cNvSpPr>
            <p:nvPr/>
          </p:nvSpPr>
          <p:spPr bwMode="auto">
            <a:xfrm>
              <a:off x="4850" y="1733"/>
              <a:ext cx="728" cy="672"/>
            </a:xfrm>
            <a:custGeom>
              <a:avLst/>
              <a:gdLst>
                <a:gd name="T0" fmla="*/ 0 w 672"/>
                <a:gd name="T1" fmla="*/ 0 h 672"/>
                <a:gd name="T2" fmla="*/ 8713 w 672"/>
                <a:gd name="T3" fmla="*/ 288 h 672"/>
                <a:gd name="T4" fmla="*/ 6853 w 672"/>
                <a:gd name="T5" fmla="*/ 672 h 672"/>
                <a:gd name="T6" fmla="*/ 0 w 672"/>
                <a:gd name="T7" fmla="*/ 0 h 672"/>
                <a:gd name="T8" fmla="*/ 0 60000 65536"/>
                <a:gd name="T9" fmla="*/ 0 60000 65536"/>
                <a:gd name="T10" fmla="*/ 0 60000 65536"/>
                <a:gd name="T11" fmla="*/ 0 60000 65536"/>
                <a:gd name="T12" fmla="*/ 0 w 672"/>
                <a:gd name="T13" fmla="*/ 0 h 672"/>
                <a:gd name="T14" fmla="*/ 672 w 672"/>
                <a:gd name="T15" fmla="*/ 672 h 672"/>
              </a:gdLst>
              <a:ahLst/>
              <a:cxnLst>
                <a:cxn ang="T8">
                  <a:pos x="T0" y="T1"/>
                </a:cxn>
                <a:cxn ang="T9">
                  <a:pos x="T2" y="T3"/>
                </a:cxn>
                <a:cxn ang="T10">
                  <a:pos x="T4" y="T5"/>
                </a:cxn>
                <a:cxn ang="T11">
                  <a:pos x="T6" y="T7"/>
                </a:cxn>
              </a:cxnLst>
              <a:rect l="T12" t="T13" r="T14" b="T15"/>
              <a:pathLst>
                <a:path w="672" h="672">
                  <a:moveTo>
                    <a:pt x="0" y="0"/>
                  </a:moveTo>
                  <a:lnTo>
                    <a:pt x="672" y="288"/>
                  </a:lnTo>
                  <a:lnTo>
                    <a:pt x="528" y="672"/>
                  </a:lnTo>
                  <a:lnTo>
                    <a:pt x="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6" name="Text Box 8">
              <a:extLst>
                <a:ext uri="{FF2B5EF4-FFF2-40B4-BE49-F238E27FC236}">
                  <a16:creationId xmlns:a16="http://schemas.microsoft.com/office/drawing/2014/main" id="{AC74E852-F3DC-46A3-B847-BB2BBD3D7D1D}"/>
                </a:ext>
              </a:extLst>
            </p:cNvPr>
            <p:cNvSpPr txBox="1">
              <a:spLocks noChangeArrowheads="1"/>
            </p:cNvSpPr>
            <p:nvPr/>
          </p:nvSpPr>
          <p:spPr bwMode="auto">
            <a:xfrm>
              <a:off x="5370" y="2332"/>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4</a:t>
              </a:r>
            </a:p>
          </p:txBody>
        </p:sp>
        <p:sp>
          <p:nvSpPr>
            <p:cNvPr id="17" name="Text Box 9">
              <a:extLst>
                <a:ext uri="{FF2B5EF4-FFF2-40B4-BE49-F238E27FC236}">
                  <a16:creationId xmlns:a16="http://schemas.microsoft.com/office/drawing/2014/main" id="{08E92D6B-EB53-40A3-A427-F6F61975AAAF}"/>
                </a:ext>
              </a:extLst>
            </p:cNvPr>
            <p:cNvSpPr txBox="1">
              <a:spLocks noChangeArrowheads="1"/>
            </p:cNvSpPr>
            <p:nvPr/>
          </p:nvSpPr>
          <p:spPr bwMode="auto">
            <a:xfrm>
              <a:off x="5474" y="1877"/>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3</a:t>
              </a:r>
            </a:p>
          </p:txBody>
        </p:sp>
        <p:sp>
          <p:nvSpPr>
            <p:cNvPr id="18" name="Text Box 10">
              <a:extLst>
                <a:ext uri="{FF2B5EF4-FFF2-40B4-BE49-F238E27FC236}">
                  <a16:creationId xmlns:a16="http://schemas.microsoft.com/office/drawing/2014/main" id="{8F5C62E0-2EB3-4010-9EDE-749C56396E15}"/>
                </a:ext>
              </a:extLst>
            </p:cNvPr>
            <p:cNvSpPr txBox="1">
              <a:spLocks noChangeArrowheads="1"/>
            </p:cNvSpPr>
            <p:nvPr/>
          </p:nvSpPr>
          <p:spPr bwMode="auto">
            <a:xfrm>
              <a:off x="4674" y="1477"/>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19" name="Text Box 11">
              <a:extLst>
                <a:ext uri="{FF2B5EF4-FFF2-40B4-BE49-F238E27FC236}">
                  <a16:creationId xmlns:a16="http://schemas.microsoft.com/office/drawing/2014/main" id="{D6F6A625-2C67-4FA8-845E-0365AEFCFCD7}"/>
                </a:ext>
              </a:extLst>
            </p:cNvPr>
            <p:cNvSpPr txBox="1">
              <a:spLocks noChangeArrowheads="1"/>
            </p:cNvSpPr>
            <p:nvPr/>
          </p:nvSpPr>
          <p:spPr bwMode="auto">
            <a:xfrm>
              <a:off x="5189" y="1949"/>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20" name="Text Box 12">
              <a:extLst>
                <a:ext uri="{FF2B5EF4-FFF2-40B4-BE49-F238E27FC236}">
                  <a16:creationId xmlns:a16="http://schemas.microsoft.com/office/drawing/2014/main" id="{628B0DE7-45C2-47C2-BA4A-98A686C69BF0}"/>
                </a:ext>
              </a:extLst>
            </p:cNvPr>
            <p:cNvSpPr txBox="1">
              <a:spLocks noChangeArrowheads="1"/>
            </p:cNvSpPr>
            <p:nvPr/>
          </p:nvSpPr>
          <p:spPr bwMode="auto">
            <a:xfrm>
              <a:off x="4679" y="1976"/>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grpSp>
    </p:spTree>
    <p:extLst>
      <p:ext uri="{BB962C8B-B14F-4D97-AF65-F5344CB8AC3E}">
        <p14:creationId xmlns:p14="http://schemas.microsoft.com/office/powerpoint/2010/main" val="4075359771"/>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公共边</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08:32</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D7176FF7-EDF3-49AD-A661-29D94C1C030B}"/>
              </a:ext>
            </a:extLst>
          </p:cNvPr>
          <p:cNvSpPr txBox="1">
            <a:spLocks/>
          </p:cNvSpPr>
          <p:nvPr/>
        </p:nvSpPr>
        <p:spPr bwMode="auto">
          <a:xfrm>
            <a:off x="323528" y="807944"/>
            <a:ext cx="8013700" cy="1496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ea typeface="宋体" panose="02010600030101010101" pitchFamily="2" charset="-122"/>
              </a:rPr>
              <a:t>根据顶点列表可以正确地绘制多边形，但是如果只绘制多边形的边，那么</a:t>
            </a:r>
            <a:r>
              <a:rPr lang="zh-CN" altLang="en-US" sz="2800" kern="0" dirty="0">
                <a:solidFill>
                  <a:srgbClr val="FF0000"/>
                </a:solidFill>
                <a:ea typeface="宋体" panose="02010600030101010101" pitchFamily="2" charset="-122"/>
              </a:rPr>
              <a:t>公共边</a:t>
            </a:r>
            <a:r>
              <a:rPr lang="zh-CN" altLang="en-US" sz="2800" kern="0" dirty="0">
                <a:ea typeface="宋体" panose="02010600030101010101" pitchFamily="2" charset="-122"/>
              </a:rPr>
              <a:t>就会被画两次</a:t>
            </a:r>
            <a:endParaRPr lang="en-US" altLang="zh-CN" sz="2800" kern="0" dirty="0">
              <a:ea typeface="宋体" panose="02010600030101010101" pitchFamily="2" charset="-122"/>
            </a:endParaRPr>
          </a:p>
          <a:p>
            <a:r>
              <a:rPr lang="zh-CN" altLang="en-US" sz="2800" kern="0" dirty="0">
                <a:ea typeface="宋体" panose="02010600030101010101" pitchFamily="2" charset="-122"/>
              </a:rPr>
              <a:t>可以用</a:t>
            </a:r>
            <a:r>
              <a:rPr lang="zh-CN" altLang="en-US" sz="2800" kern="0" dirty="0">
                <a:solidFill>
                  <a:srgbClr val="FF0000"/>
                </a:solidFill>
                <a:ea typeface="宋体" panose="02010600030101010101" pitchFamily="2" charset="-122"/>
              </a:rPr>
              <a:t>边表指针表示法</a:t>
            </a:r>
          </a:p>
        </p:txBody>
      </p:sp>
      <p:grpSp>
        <p:nvGrpSpPr>
          <p:cNvPr id="8" name="Group 4">
            <a:extLst>
              <a:ext uri="{FF2B5EF4-FFF2-40B4-BE49-F238E27FC236}">
                <a16:creationId xmlns:a16="http://schemas.microsoft.com/office/drawing/2014/main" id="{CCEB7D03-CAF1-4A8E-BE5C-D0F187FC6024}"/>
              </a:ext>
            </a:extLst>
          </p:cNvPr>
          <p:cNvGrpSpPr>
            <a:grpSpLocks/>
          </p:cNvGrpSpPr>
          <p:nvPr/>
        </p:nvGrpSpPr>
        <p:grpSpPr bwMode="auto">
          <a:xfrm>
            <a:off x="5698970" y="2787805"/>
            <a:ext cx="2970966" cy="1655293"/>
            <a:chOff x="4184" y="1477"/>
            <a:chExt cx="1706" cy="1105"/>
          </a:xfrm>
        </p:grpSpPr>
        <p:sp>
          <p:nvSpPr>
            <p:cNvPr id="9" name="Text Box 5">
              <a:extLst>
                <a:ext uri="{FF2B5EF4-FFF2-40B4-BE49-F238E27FC236}">
                  <a16:creationId xmlns:a16="http://schemas.microsoft.com/office/drawing/2014/main" id="{97303102-AF50-45E3-ABB6-18DA01251F79}"/>
                </a:ext>
              </a:extLst>
            </p:cNvPr>
            <p:cNvSpPr txBox="1">
              <a:spLocks noChangeArrowheads="1"/>
            </p:cNvSpPr>
            <p:nvPr/>
          </p:nvSpPr>
          <p:spPr bwMode="auto">
            <a:xfrm>
              <a:off x="4184" y="2155"/>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sp>
          <p:nvSpPr>
            <p:cNvPr id="10" name="Freeform 6">
              <a:extLst>
                <a:ext uri="{FF2B5EF4-FFF2-40B4-BE49-F238E27FC236}">
                  <a16:creationId xmlns:a16="http://schemas.microsoft.com/office/drawing/2014/main" id="{DAAEA531-29F7-46CE-98F6-B3CE90E342F2}"/>
                </a:ext>
              </a:extLst>
            </p:cNvPr>
            <p:cNvSpPr>
              <a:spLocks/>
            </p:cNvSpPr>
            <p:nvPr/>
          </p:nvSpPr>
          <p:spPr bwMode="auto">
            <a:xfrm>
              <a:off x="4590" y="1733"/>
              <a:ext cx="832" cy="672"/>
            </a:xfrm>
            <a:custGeom>
              <a:avLst/>
              <a:gdLst>
                <a:gd name="T0" fmla="*/ 3123 w 768"/>
                <a:gd name="T1" fmla="*/ 0 h 672"/>
                <a:gd name="T2" fmla="*/ 0 w 768"/>
                <a:gd name="T3" fmla="*/ 480 h 672"/>
                <a:gd name="T4" fmla="*/ 9932 w 768"/>
                <a:gd name="T5" fmla="*/ 672 h 672"/>
                <a:gd name="T6" fmla="*/ 3123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240" y="0"/>
                  </a:moveTo>
                  <a:lnTo>
                    <a:pt x="0" y="480"/>
                  </a:lnTo>
                  <a:lnTo>
                    <a:pt x="768" y="672"/>
                  </a:lnTo>
                  <a:lnTo>
                    <a:pt x="24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2" name="Freeform 7">
              <a:extLst>
                <a:ext uri="{FF2B5EF4-FFF2-40B4-BE49-F238E27FC236}">
                  <a16:creationId xmlns:a16="http://schemas.microsoft.com/office/drawing/2014/main" id="{376791F6-A814-4A00-9D1C-76C4B4D8D304}"/>
                </a:ext>
              </a:extLst>
            </p:cNvPr>
            <p:cNvSpPr>
              <a:spLocks/>
            </p:cNvSpPr>
            <p:nvPr/>
          </p:nvSpPr>
          <p:spPr bwMode="auto">
            <a:xfrm>
              <a:off x="4850" y="1733"/>
              <a:ext cx="728" cy="672"/>
            </a:xfrm>
            <a:custGeom>
              <a:avLst/>
              <a:gdLst>
                <a:gd name="T0" fmla="*/ 0 w 672"/>
                <a:gd name="T1" fmla="*/ 0 h 672"/>
                <a:gd name="T2" fmla="*/ 8713 w 672"/>
                <a:gd name="T3" fmla="*/ 288 h 672"/>
                <a:gd name="T4" fmla="*/ 6853 w 672"/>
                <a:gd name="T5" fmla="*/ 672 h 672"/>
                <a:gd name="T6" fmla="*/ 0 w 672"/>
                <a:gd name="T7" fmla="*/ 0 h 672"/>
                <a:gd name="T8" fmla="*/ 0 60000 65536"/>
                <a:gd name="T9" fmla="*/ 0 60000 65536"/>
                <a:gd name="T10" fmla="*/ 0 60000 65536"/>
                <a:gd name="T11" fmla="*/ 0 60000 65536"/>
                <a:gd name="T12" fmla="*/ 0 w 672"/>
                <a:gd name="T13" fmla="*/ 0 h 672"/>
                <a:gd name="T14" fmla="*/ 672 w 672"/>
                <a:gd name="T15" fmla="*/ 672 h 672"/>
              </a:gdLst>
              <a:ahLst/>
              <a:cxnLst>
                <a:cxn ang="T8">
                  <a:pos x="T0" y="T1"/>
                </a:cxn>
                <a:cxn ang="T9">
                  <a:pos x="T2" y="T3"/>
                </a:cxn>
                <a:cxn ang="T10">
                  <a:pos x="T4" y="T5"/>
                </a:cxn>
                <a:cxn ang="T11">
                  <a:pos x="T6" y="T7"/>
                </a:cxn>
              </a:cxnLst>
              <a:rect l="T12" t="T13" r="T14" b="T15"/>
              <a:pathLst>
                <a:path w="672" h="672">
                  <a:moveTo>
                    <a:pt x="0" y="0"/>
                  </a:moveTo>
                  <a:lnTo>
                    <a:pt x="672" y="288"/>
                  </a:lnTo>
                  <a:lnTo>
                    <a:pt x="528" y="672"/>
                  </a:lnTo>
                  <a:lnTo>
                    <a:pt x="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3" name="Text Box 8">
              <a:extLst>
                <a:ext uri="{FF2B5EF4-FFF2-40B4-BE49-F238E27FC236}">
                  <a16:creationId xmlns:a16="http://schemas.microsoft.com/office/drawing/2014/main" id="{FD822092-5388-4CCD-BAA3-A9D774CE5300}"/>
                </a:ext>
              </a:extLst>
            </p:cNvPr>
            <p:cNvSpPr txBox="1">
              <a:spLocks noChangeArrowheads="1"/>
            </p:cNvSpPr>
            <p:nvPr/>
          </p:nvSpPr>
          <p:spPr bwMode="auto">
            <a:xfrm>
              <a:off x="5370" y="2332"/>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4</a:t>
              </a:r>
            </a:p>
          </p:txBody>
        </p:sp>
        <p:sp>
          <p:nvSpPr>
            <p:cNvPr id="15" name="Text Box 9">
              <a:extLst>
                <a:ext uri="{FF2B5EF4-FFF2-40B4-BE49-F238E27FC236}">
                  <a16:creationId xmlns:a16="http://schemas.microsoft.com/office/drawing/2014/main" id="{038EA9F9-A75B-409A-BFB6-9E20F1071740}"/>
                </a:ext>
              </a:extLst>
            </p:cNvPr>
            <p:cNvSpPr txBox="1">
              <a:spLocks noChangeArrowheads="1"/>
            </p:cNvSpPr>
            <p:nvPr/>
          </p:nvSpPr>
          <p:spPr bwMode="auto">
            <a:xfrm>
              <a:off x="5474" y="1877"/>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3</a:t>
              </a:r>
            </a:p>
          </p:txBody>
        </p:sp>
        <p:sp>
          <p:nvSpPr>
            <p:cNvPr id="16" name="Text Box 10">
              <a:extLst>
                <a:ext uri="{FF2B5EF4-FFF2-40B4-BE49-F238E27FC236}">
                  <a16:creationId xmlns:a16="http://schemas.microsoft.com/office/drawing/2014/main" id="{AE79A5D7-E915-420E-B82F-764A450DDA19}"/>
                </a:ext>
              </a:extLst>
            </p:cNvPr>
            <p:cNvSpPr txBox="1">
              <a:spLocks noChangeArrowheads="1"/>
            </p:cNvSpPr>
            <p:nvPr/>
          </p:nvSpPr>
          <p:spPr bwMode="auto">
            <a:xfrm>
              <a:off x="4674" y="1477"/>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dirty="0">
                  <a:ln>
                    <a:noFill/>
                  </a:ln>
                  <a:solidFill>
                    <a:srgbClr val="000000"/>
                  </a:solidFill>
                  <a:effectLst/>
                  <a:uLnTx/>
                  <a:uFillTx/>
                  <a:latin typeface="Arial" panose="020B0604020202020204" pitchFamily="34" charset="0"/>
                  <a:ea typeface="黑体" panose="02010609060101010101" pitchFamily="49" charset="-122"/>
                </a:rPr>
                <a:t>2</a:t>
              </a:r>
            </a:p>
          </p:txBody>
        </p:sp>
        <p:sp>
          <p:nvSpPr>
            <p:cNvPr id="17" name="Text Box 11">
              <a:extLst>
                <a:ext uri="{FF2B5EF4-FFF2-40B4-BE49-F238E27FC236}">
                  <a16:creationId xmlns:a16="http://schemas.microsoft.com/office/drawing/2014/main" id="{AC3831DC-24E7-42DA-830F-FE3DB5E03B5F}"/>
                </a:ext>
              </a:extLst>
            </p:cNvPr>
            <p:cNvSpPr txBox="1">
              <a:spLocks noChangeArrowheads="1"/>
            </p:cNvSpPr>
            <p:nvPr/>
          </p:nvSpPr>
          <p:spPr bwMode="auto">
            <a:xfrm>
              <a:off x="5189" y="1949"/>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18" name="Text Box 12">
              <a:extLst>
                <a:ext uri="{FF2B5EF4-FFF2-40B4-BE49-F238E27FC236}">
                  <a16:creationId xmlns:a16="http://schemas.microsoft.com/office/drawing/2014/main" id="{90491BFB-6366-46EE-AB04-BBC1CC371BAC}"/>
                </a:ext>
              </a:extLst>
            </p:cNvPr>
            <p:cNvSpPr txBox="1">
              <a:spLocks noChangeArrowheads="1"/>
            </p:cNvSpPr>
            <p:nvPr/>
          </p:nvSpPr>
          <p:spPr bwMode="auto">
            <a:xfrm>
              <a:off x="4679" y="1976"/>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grpSp>
    </p:spTree>
    <p:extLst>
      <p:ext uri="{BB962C8B-B14F-4D97-AF65-F5344CB8AC3E}">
        <p14:creationId xmlns:p14="http://schemas.microsoft.com/office/powerpoint/2010/main" val="3887610333"/>
      </p:ext>
    </p:extLst>
  </p:cSld>
  <p:clrMapOvr>
    <a:masterClrMapping/>
  </p:clrMapOvr>
  <p:transition spd="med" advClick="0">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边界表示的数据结构</a:t>
            </a:r>
          </a:p>
        </p:txBody>
      </p:sp>
      <p:pic>
        <p:nvPicPr>
          <p:cNvPr id="23554" name="图片 45"/>
          <p:cNvPicPr>
            <a:picLocks noChangeAspect="1"/>
          </p:cNvPicPr>
          <p:nvPr/>
        </p:nvPicPr>
        <p:blipFill>
          <a:blip r:embed="rId4"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5"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08:34</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49F218AB-C51B-4920-BD58-5D8FFBC57CF6}"/>
              </a:ext>
            </a:extLst>
          </p:cNvPr>
          <p:cNvSpPr txBox="1">
            <a:spLocks noChangeArrowheads="1"/>
          </p:cNvSpPr>
          <p:nvPr/>
        </p:nvSpPr>
        <p:spPr bwMode="auto">
          <a:xfrm>
            <a:off x="323528" y="568203"/>
            <a:ext cx="8189540" cy="359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en-US" altLang="zh-CN" sz="28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3.</a:t>
            </a:r>
            <a:r>
              <a:rPr kumimoji="0" lang="zh-CN" altLang="en-US" sz="28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边表指针表示</a:t>
            </a:r>
            <a:endParaRPr kumimoji="0" lang="zh-CN" altLang="en-US" sz="2800" b="0"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以边</a:t>
            </a:r>
            <a:r>
              <a:rPr kumimoji="0" lang="en-US" altLang="zh-CN"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顶点，顶点</a:t>
            </a:r>
            <a:r>
              <a:rPr kumimoji="0" lang="en-US" altLang="zh-CN"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坐标，面</a:t>
            </a:r>
            <a:r>
              <a:rPr kumimoji="0" lang="en-US" altLang="zh-CN"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边三张关系表表示；</a:t>
            </a:r>
          </a:p>
        </p:txBody>
      </p:sp>
      <p:grpSp>
        <p:nvGrpSpPr>
          <p:cNvPr id="8" name="Group 22">
            <a:extLst>
              <a:ext uri="{FF2B5EF4-FFF2-40B4-BE49-F238E27FC236}">
                <a16:creationId xmlns:a16="http://schemas.microsoft.com/office/drawing/2014/main" id="{6168A8F6-C216-4EEE-A61D-22939DA1527D}"/>
              </a:ext>
            </a:extLst>
          </p:cNvPr>
          <p:cNvGrpSpPr>
            <a:grpSpLocks/>
          </p:cNvGrpSpPr>
          <p:nvPr/>
        </p:nvGrpSpPr>
        <p:grpSpPr bwMode="auto">
          <a:xfrm>
            <a:off x="5971134" y="1681139"/>
            <a:ext cx="3172866" cy="1781221"/>
            <a:chOff x="4623" y="1881"/>
            <a:chExt cx="1617" cy="1080"/>
          </a:xfrm>
        </p:grpSpPr>
        <p:sp>
          <p:nvSpPr>
            <p:cNvPr id="9" name="Text Box 10">
              <a:extLst>
                <a:ext uri="{FF2B5EF4-FFF2-40B4-BE49-F238E27FC236}">
                  <a16:creationId xmlns:a16="http://schemas.microsoft.com/office/drawing/2014/main" id="{13E0607A-CCCC-47C2-828D-738F442BD874}"/>
                </a:ext>
              </a:extLst>
            </p:cNvPr>
            <p:cNvSpPr txBox="1">
              <a:spLocks noChangeArrowheads="1"/>
            </p:cNvSpPr>
            <p:nvPr/>
          </p:nvSpPr>
          <p:spPr bwMode="auto">
            <a:xfrm>
              <a:off x="5824" y="2260"/>
              <a:ext cx="416" cy="250"/>
            </a:xfrm>
            <a:prstGeom prst="rect">
              <a:avLst/>
            </a:prstGeom>
            <a:solidFill>
              <a:srgbClr val="BBE0E3">
                <a:alpha val="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3</a:t>
              </a:r>
            </a:p>
          </p:txBody>
        </p:sp>
        <p:grpSp>
          <p:nvGrpSpPr>
            <p:cNvPr id="10" name="Group 20">
              <a:extLst>
                <a:ext uri="{FF2B5EF4-FFF2-40B4-BE49-F238E27FC236}">
                  <a16:creationId xmlns:a16="http://schemas.microsoft.com/office/drawing/2014/main" id="{4F7EA5F3-BE52-46B5-A220-F6BEA4E2BA63}"/>
                </a:ext>
              </a:extLst>
            </p:cNvPr>
            <p:cNvGrpSpPr>
              <a:grpSpLocks/>
            </p:cNvGrpSpPr>
            <p:nvPr/>
          </p:nvGrpSpPr>
          <p:grpSpPr bwMode="auto">
            <a:xfrm>
              <a:off x="4623" y="1881"/>
              <a:ext cx="1533" cy="1080"/>
              <a:chOff x="4558" y="1881"/>
              <a:chExt cx="1532" cy="1080"/>
            </a:xfrm>
          </p:grpSpPr>
          <p:sp>
            <p:nvSpPr>
              <p:cNvPr id="12" name="Text Box 6">
                <a:extLst>
                  <a:ext uri="{FF2B5EF4-FFF2-40B4-BE49-F238E27FC236}">
                    <a16:creationId xmlns:a16="http://schemas.microsoft.com/office/drawing/2014/main" id="{CC9602FE-C7FF-435E-8B77-5BF5A0CA1877}"/>
                  </a:ext>
                </a:extLst>
              </p:cNvPr>
              <p:cNvSpPr txBox="1">
                <a:spLocks noChangeArrowheads="1"/>
              </p:cNvSpPr>
              <p:nvPr/>
            </p:nvSpPr>
            <p:spPr bwMode="auto">
              <a:xfrm>
                <a:off x="4558" y="2461"/>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sp>
            <p:nvSpPr>
              <p:cNvPr id="13" name="Text Box 11">
                <a:extLst>
                  <a:ext uri="{FF2B5EF4-FFF2-40B4-BE49-F238E27FC236}">
                    <a16:creationId xmlns:a16="http://schemas.microsoft.com/office/drawing/2014/main" id="{AE59526C-50DF-4762-AA2F-99B9293CA7A4}"/>
                  </a:ext>
                </a:extLst>
              </p:cNvPr>
              <p:cNvSpPr txBox="1">
                <a:spLocks noChangeArrowheads="1"/>
              </p:cNvSpPr>
              <p:nvPr/>
            </p:nvSpPr>
            <p:spPr bwMode="auto">
              <a:xfrm>
                <a:off x="4877" y="1881"/>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15" name="Text Box 14">
                <a:extLst>
                  <a:ext uri="{FF2B5EF4-FFF2-40B4-BE49-F238E27FC236}">
                    <a16:creationId xmlns:a16="http://schemas.microsoft.com/office/drawing/2014/main" id="{8AA48C82-E7B8-4A6B-9C20-38D167F16A17}"/>
                  </a:ext>
                </a:extLst>
              </p:cNvPr>
              <p:cNvSpPr txBox="1">
                <a:spLocks noChangeArrowheads="1"/>
              </p:cNvSpPr>
              <p:nvPr/>
            </p:nvSpPr>
            <p:spPr bwMode="auto">
              <a:xfrm>
                <a:off x="4699" y="2171"/>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e</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sp>
            <p:nvSpPr>
              <p:cNvPr id="16" name="Freeform 7">
                <a:extLst>
                  <a:ext uri="{FF2B5EF4-FFF2-40B4-BE49-F238E27FC236}">
                    <a16:creationId xmlns:a16="http://schemas.microsoft.com/office/drawing/2014/main" id="{7D8A24E7-0887-4771-90B9-52DC7E9C20A2}"/>
                  </a:ext>
                </a:extLst>
              </p:cNvPr>
              <p:cNvSpPr>
                <a:spLocks/>
              </p:cNvSpPr>
              <p:nvPr/>
            </p:nvSpPr>
            <p:spPr bwMode="auto">
              <a:xfrm>
                <a:off x="4856" y="2112"/>
                <a:ext cx="832" cy="672"/>
              </a:xfrm>
              <a:custGeom>
                <a:avLst/>
                <a:gdLst>
                  <a:gd name="T0" fmla="*/ 3123 w 768"/>
                  <a:gd name="T1" fmla="*/ 0 h 672"/>
                  <a:gd name="T2" fmla="*/ 0 w 768"/>
                  <a:gd name="T3" fmla="*/ 480 h 672"/>
                  <a:gd name="T4" fmla="*/ 9932 w 768"/>
                  <a:gd name="T5" fmla="*/ 672 h 672"/>
                  <a:gd name="T6" fmla="*/ 3123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240" y="0"/>
                    </a:moveTo>
                    <a:lnTo>
                      <a:pt x="0" y="480"/>
                    </a:lnTo>
                    <a:lnTo>
                      <a:pt x="768" y="672"/>
                    </a:lnTo>
                    <a:lnTo>
                      <a:pt x="24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7" name="Freeform 8">
                <a:extLst>
                  <a:ext uri="{FF2B5EF4-FFF2-40B4-BE49-F238E27FC236}">
                    <a16:creationId xmlns:a16="http://schemas.microsoft.com/office/drawing/2014/main" id="{4D9E0CA1-3388-4487-BF8A-FAF871B8DCE1}"/>
                  </a:ext>
                </a:extLst>
              </p:cNvPr>
              <p:cNvSpPr>
                <a:spLocks/>
              </p:cNvSpPr>
              <p:nvPr/>
            </p:nvSpPr>
            <p:spPr bwMode="auto">
              <a:xfrm>
                <a:off x="5116" y="2112"/>
                <a:ext cx="728" cy="672"/>
              </a:xfrm>
              <a:custGeom>
                <a:avLst/>
                <a:gdLst>
                  <a:gd name="T0" fmla="*/ 0 w 672"/>
                  <a:gd name="T1" fmla="*/ 0 h 672"/>
                  <a:gd name="T2" fmla="*/ 8713 w 672"/>
                  <a:gd name="T3" fmla="*/ 288 h 672"/>
                  <a:gd name="T4" fmla="*/ 6853 w 672"/>
                  <a:gd name="T5" fmla="*/ 672 h 672"/>
                  <a:gd name="T6" fmla="*/ 0 w 672"/>
                  <a:gd name="T7" fmla="*/ 0 h 672"/>
                  <a:gd name="T8" fmla="*/ 0 60000 65536"/>
                  <a:gd name="T9" fmla="*/ 0 60000 65536"/>
                  <a:gd name="T10" fmla="*/ 0 60000 65536"/>
                  <a:gd name="T11" fmla="*/ 0 60000 65536"/>
                  <a:gd name="T12" fmla="*/ 0 w 672"/>
                  <a:gd name="T13" fmla="*/ 0 h 672"/>
                  <a:gd name="T14" fmla="*/ 672 w 672"/>
                  <a:gd name="T15" fmla="*/ 672 h 672"/>
                </a:gdLst>
                <a:ahLst/>
                <a:cxnLst>
                  <a:cxn ang="T8">
                    <a:pos x="T0" y="T1"/>
                  </a:cxn>
                  <a:cxn ang="T9">
                    <a:pos x="T2" y="T3"/>
                  </a:cxn>
                  <a:cxn ang="T10">
                    <a:pos x="T4" y="T5"/>
                  </a:cxn>
                  <a:cxn ang="T11">
                    <a:pos x="T6" y="T7"/>
                  </a:cxn>
                </a:cxnLst>
                <a:rect l="T12" t="T13" r="T14" b="T15"/>
                <a:pathLst>
                  <a:path w="672" h="672">
                    <a:moveTo>
                      <a:pt x="0" y="0"/>
                    </a:moveTo>
                    <a:lnTo>
                      <a:pt x="672" y="288"/>
                    </a:lnTo>
                    <a:lnTo>
                      <a:pt x="528" y="672"/>
                    </a:lnTo>
                    <a:lnTo>
                      <a:pt x="0" y="0"/>
                    </a:lnTo>
                    <a:close/>
                  </a:path>
                </a:pathLst>
              </a:custGeom>
              <a:solidFill>
                <a:srgbClr val="BBE0E3">
                  <a:alpha val="0"/>
                </a:srgbClr>
              </a:solidFill>
              <a:ln w="28575">
                <a:solidFill>
                  <a:srgbClr val="000000"/>
                </a:solidFill>
                <a:round/>
                <a:headEnd/>
                <a:tailEnd/>
              </a:ln>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8" name="Text Box 9">
                <a:extLst>
                  <a:ext uri="{FF2B5EF4-FFF2-40B4-BE49-F238E27FC236}">
                    <a16:creationId xmlns:a16="http://schemas.microsoft.com/office/drawing/2014/main" id="{2A5F02D3-57EC-4342-9693-CDE1631B35A3}"/>
                  </a:ext>
                </a:extLst>
              </p:cNvPr>
              <p:cNvSpPr txBox="1">
                <a:spLocks noChangeArrowheads="1"/>
              </p:cNvSpPr>
              <p:nvPr/>
            </p:nvSpPr>
            <p:spPr bwMode="auto">
              <a:xfrm>
                <a:off x="5636" y="2711"/>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v</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4</a:t>
                </a:r>
              </a:p>
            </p:txBody>
          </p:sp>
          <p:sp>
            <p:nvSpPr>
              <p:cNvPr id="19" name="Text Box 12">
                <a:extLst>
                  <a:ext uri="{FF2B5EF4-FFF2-40B4-BE49-F238E27FC236}">
                    <a16:creationId xmlns:a16="http://schemas.microsoft.com/office/drawing/2014/main" id="{7057F979-C349-40FE-9990-BCEF669FCFA2}"/>
                  </a:ext>
                </a:extLst>
              </p:cNvPr>
              <p:cNvSpPr txBox="1">
                <a:spLocks noChangeArrowheads="1"/>
              </p:cNvSpPr>
              <p:nvPr/>
            </p:nvSpPr>
            <p:spPr bwMode="auto">
              <a:xfrm>
                <a:off x="5455" y="2328"/>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2</a:t>
                </a:r>
              </a:p>
            </p:txBody>
          </p:sp>
          <p:sp>
            <p:nvSpPr>
              <p:cNvPr id="20" name="Text Box 13">
                <a:extLst>
                  <a:ext uri="{FF2B5EF4-FFF2-40B4-BE49-F238E27FC236}">
                    <a16:creationId xmlns:a16="http://schemas.microsoft.com/office/drawing/2014/main" id="{C09AEBBD-E241-4ED8-B133-3C291D57C320}"/>
                  </a:ext>
                </a:extLst>
              </p:cNvPr>
              <p:cNvSpPr txBox="1">
                <a:spLocks noChangeArrowheads="1"/>
              </p:cNvSpPr>
              <p:nvPr/>
            </p:nvSpPr>
            <p:spPr bwMode="auto">
              <a:xfrm>
                <a:off x="4945" y="2355"/>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f</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1</a:t>
                </a:r>
              </a:p>
            </p:txBody>
          </p:sp>
          <p:sp>
            <p:nvSpPr>
              <p:cNvPr id="21" name="Text Box 15">
                <a:extLst>
                  <a:ext uri="{FF2B5EF4-FFF2-40B4-BE49-F238E27FC236}">
                    <a16:creationId xmlns:a16="http://schemas.microsoft.com/office/drawing/2014/main" id="{27DFF5EE-8DCD-444F-9B43-E187F3F79506}"/>
                  </a:ext>
                </a:extLst>
              </p:cNvPr>
              <p:cNvSpPr txBox="1">
                <a:spLocks noChangeArrowheads="1"/>
              </p:cNvSpPr>
              <p:nvPr/>
            </p:nvSpPr>
            <p:spPr bwMode="auto">
              <a:xfrm>
                <a:off x="5351" y="2052"/>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e</a:t>
                </a:r>
                <a:r>
                  <a:rPr kumimoji="1" lang="en-US" altLang="zh-CN" sz="2000" b="1" i="0" u="none" strike="noStrike" kern="0" cap="none" spc="0" normalizeH="0" baseline="-12000" noProof="0" dirty="0">
                    <a:ln>
                      <a:noFill/>
                    </a:ln>
                    <a:solidFill>
                      <a:srgbClr val="000000"/>
                    </a:solidFill>
                    <a:effectLst/>
                    <a:uLnTx/>
                    <a:uFillTx/>
                    <a:latin typeface="Arial" panose="020B0604020202020204" pitchFamily="34" charset="0"/>
                    <a:ea typeface="黑体" panose="02010609060101010101" pitchFamily="49" charset="-122"/>
                  </a:rPr>
                  <a:t>2</a:t>
                </a:r>
              </a:p>
            </p:txBody>
          </p:sp>
          <p:sp>
            <p:nvSpPr>
              <p:cNvPr id="22" name="Text Box 16">
                <a:extLst>
                  <a:ext uri="{FF2B5EF4-FFF2-40B4-BE49-F238E27FC236}">
                    <a16:creationId xmlns:a16="http://schemas.microsoft.com/office/drawing/2014/main" id="{FE510A0A-F957-4243-B4A2-E575C8D2B5CB}"/>
                  </a:ext>
                </a:extLst>
              </p:cNvPr>
              <p:cNvSpPr txBox="1">
                <a:spLocks noChangeArrowheads="1"/>
              </p:cNvSpPr>
              <p:nvPr/>
            </p:nvSpPr>
            <p:spPr bwMode="auto">
              <a:xfrm>
                <a:off x="5674" y="2466"/>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e</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3</a:t>
                </a:r>
              </a:p>
            </p:txBody>
          </p:sp>
          <p:sp>
            <p:nvSpPr>
              <p:cNvPr id="23" name="Text Box 17">
                <a:extLst>
                  <a:ext uri="{FF2B5EF4-FFF2-40B4-BE49-F238E27FC236}">
                    <a16:creationId xmlns:a16="http://schemas.microsoft.com/office/drawing/2014/main" id="{8CB01F3E-70B5-4B5C-9405-3CFF68E385F3}"/>
                  </a:ext>
                </a:extLst>
              </p:cNvPr>
              <p:cNvSpPr txBox="1">
                <a:spLocks noChangeArrowheads="1"/>
              </p:cNvSpPr>
              <p:nvPr/>
            </p:nvSpPr>
            <p:spPr bwMode="auto">
              <a:xfrm>
                <a:off x="5184" y="2423"/>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e</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4</a:t>
                </a:r>
              </a:p>
            </p:txBody>
          </p:sp>
          <p:sp>
            <p:nvSpPr>
              <p:cNvPr id="24" name="Text Box 18">
                <a:extLst>
                  <a:ext uri="{FF2B5EF4-FFF2-40B4-BE49-F238E27FC236}">
                    <a16:creationId xmlns:a16="http://schemas.microsoft.com/office/drawing/2014/main" id="{5AD4937A-F42C-4817-8851-EEE83CFB6EEB}"/>
                  </a:ext>
                </a:extLst>
              </p:cNvPr>
              <p:cNvSpPr txBox="1">
                <a:spLocks noChangeArrowheads="1"/>
              </p:cNvSpPr>
              <p:nvPr/>
            </p:nvSpPr>
            <p:spPr bwMode="auto">
              <a:xfrm>
                <a:off x="5014" y="2632"/>
                <a:ext cx="416" cy="250"/>
              </a:xfrm>
              <a:prstGeom prst="rect">
                <a:avLst/>
              </a:prstGeom>
              <a:solidFill>
                <a:srgbClr val="BBE0E3">
                  <a:alpha val="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tabLst/>
                  <a:defRPr/>
                </a:pPr>
                <a:r>
                  <a:rPr kumimoji="1" lang="en-US" altLang="zh-CN" sz="20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e</a:t>
                </a:r>
                <a:r>
                  <a:rPr kumimoji="1" lang="en-US" altLang="zh-CN" sz="2000" b="1" i="0" u="none" strike="noStrike" kern="0" cap="none" spc="0" normalizeH="0" baseline="-12000" noProof="0">
                    <a:ln>
                      <a:noFill/>
                    </a:ln>
                    <a:solidFill>
                      <a:srgbClr val="000000"/>
                    </a:solidFill>
                    <a:effectLst/>
                    <a:uLnTx/>
                    <a:uFillTx/>
                    <a:latin typeface="Arial" panose="020B0604020202020204" pitchFamily="34" charset="0"/>
                    <a:ea typeface="黑体" panose="02010609060101010101" pitchFamily="49" charset="-122"/>
                  </a:rPr>
                  <a:t>5</a:t>
                </a:r>
              </a:p>
            </p:txBody>
          </p:sp>
        </p:grpSp>
      </p:grpSp>
      <p:graphicFrame>
        <p:nvGraphicFramePr>
          <p:cNvPr id="2" name="对象 1">
            <a:extLst>
              <a:ext uri="{FF2B5EF4-FFF2-40B4-BE49-F238E27FC236}">
                <a16:creationId xmlns:a16="http://schemas.microsoft.com/office/drawing/2014/main" id="{286C2AB3-3117-4B11-8729-C2064F6ED134}"/>
              </a:ext>
            </a:extLst>
          </p:cNvPr>
          <p:cNvGraphicFramePr>
            <a:graphicFrameLocks noChangeAspect="1"/>
          </p:cNvGraphicFramePr>
          <p:nvPr>
            <p:extLst>
              <p:ext uri="{D42A27DB-BD31-4B8C-83A1-F6EECF244321}">
                <p14:modId xmlns:p14="http://schemas.microsoft.com/office/powerpoint/2010/main" val="546772923"/>
              </p:ext>
            </p:extLst>
          </p:nvPr>
        </p:nvGraphicFramePr>
        <p:xfrm>
          <a:off x="506189" y="1857906"/>
          <a:ext cx="6591404" cy="2368340"/>
        </p:xfrm>
        <a:graphic>
          <a:graphicData uri="http://schemas.openxmlformats.org/presentationml/2006/ole">
            <mc:AlternateContent xmlns:mc="http://schemas.openxmlformats.org/markup-compatibility/2006">
              <mc:Choice xmlns:v="urn:schemas-microsoft-com:vml" Requires="v">
                <p:oleObj spid="_x0000_s4102" name="Equation" r:id="rId6" imgW="2933640" imgH="1054080" progId="Equation.DSMT4">
                  <p:embed/>
                </p:oleObj>
              </mc:Choice>
              <mc:Fallback>
                <p:oleObj name="Equation" r:id="rId6" imgW="2933640" imgH="1054080" progId="Equation.DSMT4">
                  <p:embed/>
                  <p:pic>
                    <p:nvPicPr>
                      <p:cNvPr id="0" name=""/>
                      <p:cNvPicPr/>
                      <p:nvPr/>
                    </p:nvPicPr>
                    <p:blipFill>
                      <a:blip r:embed="rId7"/>
                      <a:stretch>
                        <a:fillRect/>
                      </a:stretch>
                    </p:blipFill>
                    <p:spPr>
                      <a:xfrm>
                        <a:off x="506189" y="1857906"/>
                        <a:ext cx="6591404" cy="2368340"/>
                      </a:xfrm>
                      <a:prstGeom prst="rect">
                        <a:avLst/>
                      </a:prstGeom>
                    </p:spPr>
                  </p:pic>
                </p:oleObj>
              </mc:Fallback>
            </mc:AlternateContent>
          </a:graphicData>
        </a:graphic>
      </p:graphicFrame>
    </p:spTree>
    <p:extLst>
      <p:ext uri="{BB962C8B-B14F-4D97-AF65-F5344CB8AC3E}">
        <p14:creationId xmlns:p14="http://schemas.microsoft.com/office/powerpoint/2010/main" val="4213091875"/>
      </p:ext>
    </p:extLst>
  </p:cSld>
  <p:clrMapOvr>
    <a:masterClrMapping/>
  </p:clrMapOvr>
  <p:transition spd="med" advClick="0">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4543426"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根据指标列表绘制多边形</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08:43</a:t>
            </a:fld>
            <a:endParaRPr lang="en-US" altLang="zh-CN" sz="1400" dirty="0">
              <a:solidFill>
                <a:srgbClr val="FAFAFA"/>
              </a:solidFill>
            </a:endParaRPr>
          </a:p>
        </p:txBody>
      </p:sp>
      <p:sp>
        <p:nvSpPr>
          <p:cNvPr id="7" name="内容占位符 7">
            <a:extLst>
              <a:ext uri="{FF2B5EF4-FFF2-40B4-BE49-F238E27FC236}">
                <a16:creationId xmlns:a16="http://schemas.microsoft.com/office/drawing/2014/main" id="{06A9977F-3DD0-4538-8A57-70904C1A7916}"/>
              </a:ext>
            </a:extLst>
          </p:cNvPr>
          <p:cNvSpPr txBox="1">
            <a:spLocks/>
          </p:cNvSpPr>
          <p:nvPr/>
        </p:nvSpPr>
        <p:spPr>
          <a:xfrm>
            <a:off x="323528" y="700088"/>
            <a:ext cx="9493250" cy="5181600"/>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dirty="0">
                <a:ea typeface="宋体" panose="02010600030101010101" pitchFamily="2" charset="-122"/>
              </a:rPr>
              <a:t>为立方体旋转程序建立彩色立方体</a:t>
            </a:r>
            <a:endParaRPr lang="en-US" altLang="zh-CN" sz="2400" dirty="0">
              <a:ea typeface="宋体" panose="02010600030101010101" pitchFamily="2" charset="-122"/>
            </a:endParaRPr>
          </a:p>
          <a:p>
            <a:r>
              <a:rPr lang="zh-CN" altLang="en-US" sz="2400" dirty="0">
                <a:ea typeface="宋体" panose="02010600030101010101" pitchFamily="2" charset="-122"/>
              </a:rPr>
              <a:t>定义顶点和颜色的全局数组</a:t>
            </a:r>
          </a:p>
          <a:p>
            <a:r>
              <a:rPr lang="en-US" altLang="zh-CN" sz="2400" dirty="0" err="1">
                <a:ea typeface="宋体" panose="02010600030101010101" pitchFamily="2" charset="-122"/>
              </a:rPr>
              <a:t>GLfloat</a:t>
            </a:r>
            <a:r>
              <a:rPr lang="en-US" altLang="zh-CN" sz="2400" dirty="0">
                <a:ea typeface="宋体" panose="02010600030101010101" pitchFamily="2" charset="-122"/>
              </a:rPr>
              <a:t> vertices[8][3]= {</a:t>
            </a:r>
          </a:p>
          <a:p>
            <a:pPr marL="0" indent="0">
              <a:buFont typeface="Arial" panose="020B0604020202020204" pitchFamily="34" charset="0"/>
              <a:buNone/>
            </a:pPr>
            <a:r>
              <a:rPr lang="en-US" altLang="zh-CN" sz="2400" dirty="0">
                <a:ea typeface="宋体" panose="02010600030101010101" pitchFamily="2" charset="-122"/>
              </a:rPr>
              <a:t>{-1.0, -1.0, 1.0},{-1.0, 1.0, 1.0},{1.0,1.0, 1.0},</a:t>
            </a:r>
          </a:p>
          <a:p>
            <a:pPr marL="0" indent="0">
              <a:buFont typeface="Arial" panose="020B0604020202020204" pitchFamily="34" charset="0"/>
              <a:buNone/>
            </a:pPr>
            <a:r>
              <a:rPr lang="en-US" altLang="zh-CN" sz="2400" dirty="0">
                <a:ea typeface="宋体" panose="02010600030101010101" pitchFamily="2" charset="-122"/>
              </a:rPr>
              <a:t>{1.0,-1.0,1.0},   {-1.0,-1.0,-1.0}, {-1.0,1.0,-1.0},</a:t>
            </a:r>
          </a:p>
          <a:p>
            <a:pPr marL="0" indent="0">
              <a:buFont typeface="Arial" panose="020B0604020202020204" pitchFamily="34" charset="0"/>
              <a:buNone/>
            </a:pPr>
            <a:r>
              <a:rPr lang="en-US" altLang="zh-CN" sz="2400" dirty="0">
                <a:ea typeface="宋体" panose="02010600030101010101" pitchFamily="2" charset="-122"/>
              </a:rPr>
              <a:t>{1.0,1.0,-1.0}, {1.0,-1.0,-1.0}};</a:t>
            </a:r>
          </a:p>
          <a:p>
            <a:r>
              <a:rPr lang="en-US" altLang="zh-CN" sz="2400" dirty="0" err="1">
                <a:ea typeface="宋体" panose="02010600030101010101" pitchFamily="2" charset="-122"/>
              </a:rPr>
              <a:t>GLfloat</a:t>
            </a:r>
            <a:r>
              <a:rPr lang="en-US" altLang="zh-CN" sz="2400" dirty="0">
                <a:ea typeface="宋体" panose="02010600030101010101" pitchFamily="2" charset="-122"/>
              </a:rPr>
              <a:t> colors[6][3]={</a:t>
            </a:r>
          </a:p>
          <a:p>
            <a:pPr marL="0" indent="0">
              <a:buFont typeface="Arial" panose="020B0604020202020204" pitchFamily="34" charset="0"/>
              <a:buNone/>
            </a:pPr>
            <a:r>
              <a:rPr lang="en-US" altLang="zh-CN" sz="2400" dirty="0">
                <a:ea typeface="宋体" panose="02010600030101010101" pitchFamily="2" charset="-122"/>
              </a:rPr>
              <a:t>{1.0,1.0,1.0}, {1.0,0.0,0.0}, {1.0,1.0,0.0},</a:t>
            </a:r>
          </a:p>
          <a:p>
            <a:pPr marL="0" indent="0">
              <a:buFont typeface="Arial" panose="020B0604020202020204" pitchFamily="34" charset="0"/>
              <a:buNone/>
            </a:pPr>
            <a:r>
              <a:rPr lang="en-US" altLang="zh-CN" sz="2400" dirty="0">
                <a:ea typeface="宋体" panose="02010600030101010101" pitchFamily="2" charset="-122"/>
              </a:rPr>
              <a:t>{0.0,0.0,1.0}, {1.0,0.0,1.0}, {0.0,1.0,1.0}};</a:t>
            </a:r>
          </a:p>
        </p:txBody>
      </p:sp>
      <p:pic>
        <p:nvPicPr>
          <p:cNvPr id="8" name="Picture 2">
            <a:extLst>
              <a:ext uri="{FF2B5EF4-FFF2-40B4-BE49-F238E27FC236}">
                <a16:creationId xmlns:a16="http://schemas.microsoft.com/office/drawing/2014/main" id="{7D8373AD-87A3-4442-A430-981C43FED2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3675" y="-29439"/>
            <a:ext cx="226695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1267606"/>
      </p:ext>
    </p:extLst>
  </p:cSld>
  <p:clrMapOvr>
    <a:masterClrMapping/>
  </p:clrMapOvr>
  <p:transition spd="med" advClick="0">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4794870"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根据指标列表绘制多边形</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08:45</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B3FF1462-3894-4AB1-80B6-CE1826A6FD71}"/>
              </a:ext>
            </a:extLst>
          </p:cNvPr>
          <p:cNvSpPr txBox="1">
            <a:spLocks/>
          </p:cNvSpPr>
          <p:nvPr/>
        </p:nvSpPr>
        <p:spPr bwMode="auto">
          <a:xfrm>
            <a:off x="234751" y="558288"/>
            <a:ext cx="8914258"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latin typeface="Times New Roman" panose="02020603050405020304" pitchFamily="18" charset="0"/>
                <a:ea typeface="宋体" panose="02010600030101010101" pitchFamily="2" charset="-122"/>
              </a:rPr>
              <a:t>根据在数组</a:t>
            </a:r>
            <a:r>
              <a:rPr lang="en-US" altLang="zh-CN" sz="2800" kern="0" dirty="0">
                <a:latin typeface="Times New Roman" panose="02020603050405020304" pitchFamily="18" charset="0"/>
                <a:ea typeface="宋体" panose="02010600030101010101" pitchFamily="2" charset="-122"/>
              </a:rPr>
              <a:t>vertices</a:t>
            </a:r>
            <a:r>
              <a:rPr lang="zh-CN" altLang="en-US" sz="2800" kern="0" dirty="0">
                <a:latin typeface="Times New Roman" panose="02020603050405020304" pitchFamily="18" charset="0"/>
                <a:ea typeface="宋体" panose="02010600030101010101" pitchFamily="2" charset="-122"/>
              </a:rPr>
              <a:t>中的一组指标绘制一个四边形，颜色对应于第一个指标</a:t>
            </a:r>
            <a:endParaRPr lang="en-US" altLang="zh-CN" sz="2800" kern="0" dirty="0">
              <a:latin typeface="Times New Roman" panose="02020603050405020304" pitchFamily="18" charset="0"/>
              <a:ea typeface="宋体" panose="02010600030101010101" pitchFamily="2" charset="-122"/>
            </a:endParaRPr>
          </a:p>
        </p:txBody>
      </p:sp>
      <p:sp>
        <p:nvSpPr>
          <p:cNvPr id="8" name="Text Box 4">
            <a:extLst>
              <a:ext uri="{FF2B5EF4-FFF2-40B4-BE49-F238E27FC236}">
                <a16:creationId xmlns:a16="http://schemas.microsoft.com/office/drawing/2014/main" id="{91BF2B7F-57B6-41EC-BC46-A65D866B2661}"/>
              </a:ext>
            </a:extLst>
          </p:cNvPr>
          <p:cNvSpPr txBox="1">
            <a:spLocks noChangeArrowheads="1"/>
          </p:cNvSpPr>
          <p:nvPr/>
        </p:nvSpPr>
        <p:spPr bwMode="auto">
          <a:xfrm>
            <a:off x="755576" y="1381163"/>
            <a:ext cx="700443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1">
            <a:spAutoFit/>
          </a:bodyPr>
          <a:lstStyle/>
          <a:p>
            <a:pPr eaLnBrk="0" hangingPunct="0">
              <a:defRPr/>
            </a:pPr>
            <a:r>
              <a:rPr lang="en-US" altLang="zh-CN" sz="2400" dirty="0">
                <a:solidFill>
                  <a:srgbClr val="000000"/>
                </a:solidFill>
                <a:latin typeface="Times New Roman"/>
                <a:ea typeface="宋体" charset="-122"/>
              </a:rPr>
              <a:t>void polygon(int a, int b, int c , int d){</a:t>
            </a:r>
          </a:p>
          <a:p>
            <a:pPr eaLnBrk="0" hangingPunct="0">
              <a:defRPr/>
            </a:pPr>
            <a:r>
              <a:rPr lang="en-US" altLang="zh-CN" sz="2400" dirty="0">
                <a:solidFill>
                  <a:srgbClr val="000000"/>
                </a:solidFill>
                <a:latin typeface="Times New Roman"/>
                <a:ea typeface="宋体" charset="-122"/>
              </a:rPr>
              <a:t>      </a:t>
            </a:r>
            <a:r>
              <a:rPr lang="en-US" altLang="zh-CN" sz="2400" dirty="0" err="1">
                <a:solidFill>
                  <a:srgbClr val="000000"/>
                </a:solidFill>
                <a:latin typeface="Times New Roman"/>
                <a:ea typeface="宋体" charset="-122"/>
              </a:rPr>
              <a:t>glBegin</a:t>
            </a:r>
            <a:r>
              <a:rPr lang="en-US" altLang="zh-CN" sz="2400" dirty="0">
                <a:solidFill>
                  <a:srgbClr val="000000"/>
                </a:solidFill>
                <a:latin typeface="Times New Roman"/>
                <a:ea typeface="宋体" charset="-122"/>
              </a:rPr>
              <a:t>(GL_POLYGON);</a:t>
            </a:r>
          </a:p>
          <a:p>
            <a:pPr eaLnBrk="0" hangingPunct="0">
              <a:defRPr/>
            </a:pPr>
            <a:r>
              <a:rPr lang="en-US" altLang="zh-CN" sz="2400" dirty="0">
                <a:solidFill>
                  <a:srgbClr val="000000"/>
                </a:solidFill>
                <a:latin typeface="Times New Roman"/>
                <a:ea typeface="宋体" charset="-122"/>
              </a:rPr>
              <a:t>      glColor3fv(colors[a]);</a:t>
            </a:r>
          </a:p>
          <a:p>
            <a:pPr eaLnBrk="0" hangingPunct="0">
              <a:defRPr/>
            </a:pPr>
            <a:r>
              <a:rPr lang="en-US" altLang="zh-CN" sz="2400" dirty="0">
                <a:solidFill>
                  <a:srgbClr val="000000"/>
                </a:solidFill>
                <a:latin typeface="Times New Roman"/>
                <a:ea typeface="宋体" charset="-122"/>
              </a:rPr>
              <a:t>      glVertex3fv(vertices[a]);</a:t>
            </a:r>
          </a:p>
          <a:p>
            <a:pPr eaLnBrk="0" hangingPunct="0">
              <a:defRPr/>
            </a:pPr>
            <a:r>
              <a:rPr lang="en-US" altLang="zh-CN" sz="2400" dirty="0">
                <a:solidFill>
                  <a:srgbClr val="000000"/>
                </a:solidFill>
                <a:latin typeface="Times New Roman"/>
                <a:ea typeface="宋体" charset="-122"/>
              </a:rPr>
              <a:t>      glVertex3fv(vertices[b]);</a:t>
            </a:r>
          </a:p>
          <a:p>
            <a:pPr eaLnBrk="0" hangingPunct="0">
              <a:defRPr/>
            </a:pPr>
            <a:r>
              <a:rPr lang="en-US" altLang="zh-CN" sz="2400" dirty="0">
                <a:solidFill>
                  <a:srgbClr val="000000"/>
                </a:solidFill>
                <a:latin typeface="Times New Roman"/>
                <a:ea typeface="宋体" charset="-122"/>
              </a:rPr>
              <a:t>      glVertex3fv(vertices[c]);</a:t>
            </a:r>
          </a:p>
          <a:p>
            <a:pPr eaLnBrk="0" hangingPunct="0">
              <a:defRPr/>
            </a:pPr>
            <a:r>
              <a:rPr lang="en-US" altLang="zh-CN" sz="2400" dirty="0">
                <a:solidFill>
                  <a:srgbClr val="000000"/>
                </a:solidFill>
                <a:latin typeface="Times New Roman"/>
                <a:ea typeface="宋体" charset="-122"/>
              </a:rPr>
              <a:t>      glVertex3fv(vertices[d]);</a:t>
            </a:r>
          </a:p>
          <a:p>
            <a:pPr eaLnBrk="0" hangingPunct="0">
              <a:defRPr/>
            </a:pPr>
            <a:r>
              <a:rPr lang="en-US" altLang="zh-CN" sz="2400" dirty="0">
                <a:solidFill>
                  <a:srgbClr val="000000"/>
                </a:solidFill>
                <a:latin typeface="Times New Roman"/>
                <a:ea typeface="宋体" charset="-122"/>
              </a:rPr>
              <a:t>      </a:t>
            </a:r>
            <a:r>
              <a:rPr lang="en-US" altLang="zh-CN" sz="2400" dirty="0" err="1">
                <a:solidFill>
                  <a:srgbClr val="000000"/>
                </a:solidFill>
                <a:latin typeface="Times New Roman"/>
                <a:ea typeface="宋体" charset="-122"/>
              </a:rPr>
              <a:t>glEnd</a:t>
            </a:r>
            <a:r>
              <a:rPr lang="en-US" altLang="zh-CN" sz="2400" dirty="0">
                <a:solidFill>
                  <a:srgbClr val="000000"/>
                </a:solidFill>
                <a:latin typeface="Times New Roman"/>
                <a:ea typeface="宋体" charset="-122"/>
              </a:rPr>
              <a:t>();</a:t>
            </a:r>
          </a:p>
          <a:p>
            <a:pPr eaLnBrk="0" hangingPunct="0">
              <a:defRPr/>
            </a:pPr>
            <a:r>
              <a:rPr lang="en-US" altLang="zh-CN" sz="2400" dirty="0">
                <a:solidFill>
                  <a:srgbClr val="000000"/>
                </a:solidFill>
                <a:latin typeface="Times New Roman"/>
                <a:ea typeface="宋体" charset="-122"/>
              </a:rPr>
              <a:t> }</a:t>
            </a:r>
          </a:p>
        </p:txBody>
      </p:sp>
    </p:spTree>
    <p:extLst>
      <p:ext uri="{BB962C8B-B14F-4D97-AF65-F5344CB8AC3E}">
        <p14:creationId xmlns:p14="http://schemas.microsoft.com/office/powerpoint/2010/main" val="336505088"/>
      </p:ext>
    </p:extLst>
  </p:cSld>
  <p:clrMapOvr>
    <a:masterClrMapping/>
  </p:clrMapOvr>
  <p:transition spd="med" advClick="0">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利用表面绘制立方体</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08:49</a:t>
            </a:fld>
            <a:endParaRPr lang="en-US" altLang="zh-CN" sz="1400" dirty="0">
              <a:solidFill>
                <a:srgbClr val="FAFAFA"/>
              </a:solidFill>
            </a:endParaRPr>
          </a:p>
        </p:txBody>
      </p:sp>
      <p:sp>
        <p:nvSpPr>
          <p:cNvPr id="7" name="内容占位符 2">
            <a:extLst>
              <a:ext uri="{FF2B5EF4-FFF2-40B4-BE49-F238E27FC236}">
                <a16:creationId xmlns:a16="http://schemas.microsoft.com/office/drawing/2014/main" id="{D450A047-41AC-47EE-B976-BF8C7411A983}"/>
              </a:ext>
            </a:extLst>
          </p:cNvPr>
          <p:cNvSpPr txBox="1">
            <a:spLocks/>
          </p:cNvSpPr>
          <p:nvPr/>
        </p:nvSpPr>
        <p:spPr bwMode="auto">
          <a:xfrm>
            <a:off x="395536" y="607919"/>
            <a:ext cx="7344816" cy="4172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spcBef>
                <a:spcPct val="0"/>
              </a:spcBef>
              <a:buFontTx/>
              <a:buNone/>
            </a:pPr>
            <a:r>
              <a:rPr lang="en-US" altLang="zh-CN" sz="2400" kern="0" dirty="0">
                <a:latin typeface="Times New Roman" panose="02020603050405020304" pitchFamily="18" charset="0"/>
                <a:ea typeface="宋体" panose="02010600030101010101" pitchFamily="2" charset="-122"/>
              </a:rPr>
              <a:t>void </a:t>
            </a:r>
            <a:r>
              <a:rPr lang="en-US" altLang="zh-CN" sz="2400" kern="0" dirty="0" err="1">
                <a:latin typeface="Times New Roman" panose="02020603050405020304" pitchFamily="18" charset="0"/>
                <a:ea typeface="宋体" panose="02010600030101010101" pitchFamily="2" charset="-122"/>
              </a:rPr>
              <a:t>colorcube</a:t>
            </a:r>
            <a:r>
              <a:rPr lang="en-US" altLang="zh-CN" sz="2400" kern="0" dirty="0">
                <a:latin typeface="Times New Roman" panose="02020603050405020304" pitchFamily="18" charset="0"/>
                <a:ea typeface="宋体" panose="02010600030101010101" pitchFamily="2" charset="-122"/>
              </a:rPr>
              <a:t>( )</a:t>
            </a:r>
          </a:p>
          <a:p>
            <a:pPr>
              <a:spcBef>
                <a:spcPct val="0"/>
              </a:spcBef>
              <a:buFontTx/>
              <a:buNone/>
            </a:pPr>
            <a:r>
              <a:rPr lang="en-US" altLang="zh-CN" sz="2400" kern="0" dirty="0">
                <a:latin typeface="Times New Roman" panose="02020603050405020304" pitchFamily="18" charset="0"/>
                <a:ea typeface="宋体" panose="02010600030101010101" pitchFamily="2" charset="-122"/>
              </a:rPr>
              <a:t>{</a:t>
            </a:r>
          </a:p>
          <a:p>
            <a:pPr>
              <a:spcBef>
                <a:spcPct val="0"/>
              </a:spcBef>
              <a:buFontTx/>
              <a:buNone/>
            </a:pPr>
            <a:r>
              <a:rPr lang="en-US" altLang="zh-CN" sz="2400" kern="0" dirty="0">
                <a:latin typeface="Times New Roman" panose="02020603050405020304" pitchFamily="18" charset="0"/>
                <a:ea typeface="宋体" panose="02010600030101010101" pitchFamily="2" charset="-122"/>
              </a:rPr>
              <a:t>    polygon(0,3,2,1);</a:t>
            </a:r>
          </a:p>
          <a:p>
            <a:pPr>
              <a:spcBef>
                <a:spcPct val="0"/>
              </a:spcBef>
              <a:buFontTx/>
              <a:buNone/>
            </a:pPr>
            <a:r>
              <a:rPr lang="en-US" altLang="zh-CN" sz="2400" kern="0" dirty="0">
                <a:latin typeface="Times New Roman" panose="02020603050405020304" pitchFamily="18" charset="0"/>
                <a:ea typeface="宋体" panose="02010600030101010101" pitchFamily="2" charset="-122"/>
              </a:rPr>
              <a:t>    polygon(2,3,7,6);</a:t>
            </a:r>
          </a:p>
          <a:p>
            <a:pPr>
              <a:spcBef>
                <a:spcPct val="0"/>
              </a:spcBef>
              <a:buFontTx/>
              <a:buNone/>
            </a:pPr>
            <a:r>
              <a:rPr lang="en-US" altLang="zh-CN" sz="2400" kern="0" dirty="0">
                <a:latin typeface="Times New Roman" panose="02020603050405020304" pitchFamily="18" charset="0"/>
                <a:ea typeface="宋体" panose="02010600030101010101" pitchFamily="2" charset="-122"/>
              </a:rPr>
              <a:t>    polygon(0,4,7,3);</a:t>
            </a:r>
          </a:p>
          <a:p>
            <a:pPr>
              <a:spcBef>
                <a:spcPct val="0"/>
              </a:spcBef>
              <a:buFontTx/>
              <a:buNone/>
            </a:pPr>
            <a:r>
              <a:rPr lang="en-US" altLang="zh-CN" sz="2400" kern="0" dirty="0">
                <a:latin typeface="Times New Roman" panose="02020603050405020304" pitchFamily="18" charset="0"/>
                <a:ea typeface="宋体" panose="02010600030101010101" pitchFamily="2" charset="-122"/>
              </a:rPr>
              <a:t>    polygon(1,2,6,5);</a:t>
            </a:r>
          </a:p>
          <a:p>
            <a:pPr>
              <a:spcBef>
                <a:spcPct val="0"/>
              </a:spcBef>
              <a:buFontTx/>
              <a:buNone/>
            </a:pPr>
            <a:r>
              <a:rPr lang="en-US" altLang="zh-CN" sz="2400" kern="0" dirty="0">
                <a:latin typeface="Times New Roman" panose="02020603050405020304" pitchFamily="18" charset="0"/>
                <a:ea typeface="宋体" panose="02010600030101010101" pitchFamily="2" charset="-122"/>
              </a:rPr>
              <a:t>    polygon(4,5,6,7);</a:t>
            </a:r>
          </a:p>
          <a:p>
            <a:pPr>
              <a:spcBef>
                <a:spcPct val="0"/>
              </a:spcBef>
              <a:buFontTx/>
              <a:buNone/>
            </a:pPr>
            <a:r>
              <a:rPr lang="en-US" altLang="zh-CN" sz="2400" kern="0" dirty="0">
                <a:latin typeface="Times New Roman" panose="02020603050405020304" pitchFamily="18" charset="0"/>
                <a:ea typeface="宋体" panose="02010600030101010101" pitchFamily="2" charset="-122"/>
              </a:rPr>
              <a:t>    polygon(0,1,5,4);</a:t>
            </a:r>
          </a:p>
          <a:p>
            <a:pPr>
              <a:spcBef>
                <a:spcPct val="0"/>
              </a:spcBef>
              <a:buFontTx/>
              <a:buNone/>
            </a:pPr>
            <a:r>
              <a:rPr lang="en-US" altLang="zh-CN" sz="2400" kern="0" dirty="0">
                <a:latin typeface="Times New Roman" panose="02020603050405020304" pitchFamily="18" charset="0"/>
                <a:ea typeface="宋体" panose="02010600030101010101" pitchFamily="2" charset="-122"/>
              </a:rPr>
              <a:t>}</a:t>
            </a:r>
          </a:p>
          <a:p>
            <a:r>
              <a:rPr lang="zh-CN" altLang="en-US" sz="2400" kern="0" dirty="0">
                <a:latin typeface="Times New Roman" panose="02020603050405020304" pitchFamily="18" charset="0"/>
                <a:ea typeface="宋体" panose="02010600030101010101" pitchFamily="2" charset="-122"/>
              </a:rPr>
              <a:t>注意顶点的顺序保证表面的法向指向正确的方向，即立方体的外侧</a:t>
            </a:r>
          </a:p>
        </p:txBody>
      </p:sp>
      <p:pic>
        <p:nvPicPr>
          <p:cNvPr id="8" name="Picture 2">
            <a:extLst>
              <a:ext uri="{FF2B5EF4-FFF2-40B4-BE49-F238E27FC236}">
                <a16:creationId xmlns:a16="http://schemas.microsoft.com/office/drawing/2014/main" id="{2A66250F-7AA5-4B62-B19A-67302D21A6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168" y="757238"/>
            <a:ext cx="2823294" cy="2728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9469419"/>
      </p:ext>
    </p:extLst>
  </p:cSld>
  <p:clrMapOvr>
    <a:masterClrMapping/>
  </p:clrMapOvr>
  <p:transition spd="med" advClick="0">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多边形的内外面</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08:51</a:t>
            </a:fld>
            <a:endParaRPr lang="en-US" altLang="zh-CN" sz="1400" dirty="0">
              <a:solidFill>
                <a:srgbClr val="FAFAFA"/>
              </a:solidFill>
            </a:endParaRPr>
          </a:p>
        </p:txBody>
      </p:sp>
      <p:pic>
        <p:nvPicPr>
          <p:cNvPr id="7" name="Picture 5" descr="C:\BOOK\OpenGL\Paul Final\Art\jpeg\AN04F29.jpg">
            <a:extLst>
              <a:ext uri="{FF2B5EF4-FFF2-40B4-BE49-F238E27FC236}">
                <a16:creationId xmlns:a16="http://schemas.microsoft.com/office/drawing/2014/main" id="{96C9C4FE-3DF2-4953-9765-D9E1DCEA482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77485" y="3042948"/>
            <a:ext cx="1253528" cy="160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7CB3A64D-A7E8-4B72-869D-432DE0D21FDD}"/>
              </a:ext>
            </a:extLst>
          </p:cNvPr>
          <p:cNvSpPr txBox="1">
            <a:spLocks noChangeArrowheads="1"/>
          </p:cNvSpPr>
          <p:nvPr/>
        </p:nvSpPr>
        <p:spPr bwMode="auto">
          <a:xfrm>
            <a:off x="641140" y="700088"/>
            <a:ext cx="8493518" cy="250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altLang="zh-CN" sz="2400" kern="0" dirty="0">
                <a:ea typeface="宋体" panose="02010600030101010101" pitchFamily="2" charset="-122"/>
              </a:rPr>
              <a:t>{0, 1, 2}</a:t>
            </a:r>
            <a:r>
              <a:rPr lang="zh-CN" altLang="en-US" sz="2400" kern="0" dirty="0">
                <a:ea typeface="宋体" panose="02010600030101010101" pitchFamily="2" charset="-122"/>
              </a:rPr>
              <a:t>顺序的顶点与</a:t>
            </a:r>
            <a:r>
              <a:rPr lang="en-US" altLang="zh-CN" sz="2400" kern="0" dirty="0">
                <a:ea typeface="宋体" panose="02010600030101010101" pitchFamily="2" charset="-122"/>
              </a:rPr>
              <a:t>{1, 2, 0}</a:t>
            </a:r>
            <a:r>
              <a:rPr lang="zh-CN" altLang="en-US" sz="2400" kern="0" dirty="0">
                <a:ea typeface="宋体" panose="02010600030101010101" pitchFamily="2" charset="-122"/>
              </a:rPr>
              <a:t>顺序的顶点定义等价，</a:t>
            </a:r>
            <a:r>
              <a:rPr lang="en-US" altLang="zh-CN" sz="2400" kern="0" dirty="0">
                <a:ea typeface="宋体" panose="02010600030101010101" pitchFamily="2" charset="-122"/>
              </a:rPr>
              <a:t>{2, 1, 0}</a:t>
            </a:r>
            <a:r>
              <a:rPr lang="zh-CN" altLang="en-US" sz="2400" kern="0" dirty="0">
                <a:ea typeface="宋体" panose="02010600030101010101" pitchFamily="2" charset="-122"/>
              </a:rPr>
              <a:t>则不同</a:t>
            </a:r>
            <a:endParaRPr lang="en-US" altLang="zh-CN" sz="2400" kern="0" dirty="0">
              <a:ea typeface="宋体" panose="02010600030101010101" pitchFamily="2" charset="-122"/>
            </a:endParaRPr>
          </a:p>
          <a:p>
            <a:r>
              <a:rPr lang="zh-CN" altLang="en-US" sz="2400" kern="0" dirty="0">
                <a:latin typeface="宋体" panose="02010600030101010101" pitchFamily="2" charset="-122"/>
                <a:ea typeface="宋体" panose="02010600030101010101" pitchFamily="2" charset="-122"/>
              </a:rPr>
              <a:t>两种方式定义的多边形分别称为多边形的内与外</a:t>
            </a:r>
          </a:p>
          <a:p>
            <a:r>
              <a:rPr lang="zh-CN" altLang="en-US" sz="2400" kern="0" dirty="0">
                <a:latin typeface="宋体" panose="02010600030101010101" pitchFamily="2" charset="-122"/>
                <a:ea typeface="宋体" panose="02010600030101010101" pitchFamily="2" charset="-122"/>
              </a:rPr>
              <a:t>利用</a:t>
            </a:r>
            <a:r>
              <a:rPr lang="zh-CN" altLang="en-US" sz="2400" kern="0" dirty="0">
                <a:solidFill>
                  <a:srgbClr val="FF0000"/>
                </a:solidFill>
                <a:latin typeface="宋体" panose="02010600030101010101" pitchFamily="2" charset="-122"/>
                <a:ea typeface="宋体" panose="02010600030101010101" pitchFamily="2" charset="-122"/>
              </a:rPr>
              <a:t>右手法则</a:t>
            </a:r>
            <a:r>
              <a:rPr lang="zh-CN" altLang="en-US" sz="2400" kern="0" dirty="0">
                <a:latin typeface="宋体" panose="02010600030101010101" pitchFamily="2" charset="-122"/>
                <a:ea typeface="宋体" panose="02010600030101010101" pitchFamily="2" charset="-122"/>
              </a:rPr>
              <a:t>判别</a:t>
            </a:r>
          </a:p>
          <a:p>
            <a:r>
              <a:rPr lang="en-US" altLang="zh-CN" sz="2400" kern="0" dirty="0">
                <a:latin typeface="宋体" panose="02010600030101010101" pitchFamily="2" charset="-122"/>
                <a:ea typeface="宋体" panose="02010600030101010101" pitchFamily="2" charset="-122"/>
              </a:rPr>
              <a:t>OpenGL</a:t>
            </a:r>
            <a:r>
              <a:rPr lang="zh-CN" altLang="en-US" sz="2400" kern="0" dirty="0">
                <a:latin typeface="宋体" panose="02010600030101010101" pitchFamily="2" charset="-122"/>
                <a:ea typeface="宋体" panose="02010600030101010101" pitchFamily="2" charset="-122"/>
              </a:rPr>
              <a:t>可把多边形的内外面用完全不同的模式处理</a:t>
            </a:r>
          </a:p>
          <a:p>
            <a:endParaRPr lang="zh-CN" altLang="en-US" sz="2400" kern="0" dirty="0">
              <a:ea typeface="宋体" panose="02010600030101010101" pitchFamily="2" charset="-122"/>
            </a:endParaRPr>
          </a:p>
        </p:txBody>
      </p:sp>
      <p:pic>
        <p:nvPicPr>
          <p:cNvPr id="9" name="图片 41">
            <a:extLst>
              <a:ext uri="{FF2B5EF4-FFF2-40B4-BE49-F238E27FC236}">
                <a16:creationId xmlns:a16="http://schemas.microsoft.com/office/drawing/2014/main" id="{02F825AA-1139-479B-80C9-77905EDE32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7938" y="2908412"/>
            <a:ext cx="1731362" cy="160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5973541"/>
      </p:ext>
    </p:extLst>
  </p:cSld>
  <p:clrMapOvr>
    <a:masterClrMapping/>
  </p:clrMapOvr>
  <p:transition spd="med" advClick="0">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08:52</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12FAB675-6B67-43AC-9390-80C48872DE63}"/>
              </a:ext>
            </a:extLst>
          </p:cNvPr>
          <p:cNvSpPr txBox="1">
            <a:spLocks noChangeArrowheads="1"/>
          </p:cNvSpPr>
          <p:nvPr/>
        </p:nvSpPr>
        <p:spPr>
          <a:xfrm>
            <a:off x="323529" y="731429"/>
            <a:ext cx="5544616" cy="3208473"/>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zh-CN" altLang="en-US" sz="2800" dirty="0">
                <a:ea typeface="宋体" panose="02010600030101010101" pitchFamily="2" charset="-122"/>
              </a:rPr>
              <a:t>边界表示</a:t>
            </a:r>
            <a:r>
              <a:rPr lang="en-US" altLang="zh-CN" sz="2800" dirty="0">
                <a:ea typeface="宋体" panose="02010600030101010101" pitchFamily="2" charset="-122"/>
              </a:rPr>
              <a:t>-</a:t>
            </a:r>
            <a:r>
              <a:rPr lang="zh-CN" altLang="en-US" sz="2800" dirty="0">
                <a:ea typeface="宋体" panose="02010600030101010101" pitchFamily="2" charset="-122"/>
              </a:rPr>
              <a:t>多边形网格表示法</a:t>
            </a:r>
            <a:endParaRPr lang="en-US" altLang="zh-CN" sz="2800" dirty="0">
              <a:ea typeface="宋体" panose="02010600030101010101" pitchFamily="2" charset="-122"/>
            </a:endParaRPr>
          </a:p>
          <a:p>
            <a:pPr eaLnBrk="1" hangingPunct="1"/>
            <a:r>
              <a:rPr lang="zh-CN" altLang="en-US" sz="2800" dirty="0">
                <a:highlight>
                  <a:srgbClr val="FFFF00"/>
                </a:highlight>
                <a:ea typeface="宋体" panose="02010600030101010101" pitchFamily="2" charset="-122"/>
              </a:rPr>
              <a:t>构造表示</a:t>
            </a:r>
            <a:r>
              <a:rPr lang="en-US" altLang="zh-CN" sz="2800" dirty="0">
                <a:highlight>
                  <a:srgbClr val="FFFF00"/>
                </a:highlight>
                <a:ea typeface="宋体" panose="02010600030101010101" pitchFamily="2" charset="-122"/>
              </a:rPr>
              <a:t>(CSG)</a:t>
            </a:r>
          </a:p>
          <a:p>
            <a:pPr lvl="1" eaLnBrk="1" hangingPunct="1"/>
            <a:r>
              <a:rPr lang="zh-CN" altLang="en-US" dirty="0">
                <a:ea typeface="宋体" panose="02010600030101010101" pitchFamily="2" charset="-122"/>
              </a:rPr>
              <a:t>构造</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推移</a:t>
            </a:r>
            <a:endParaRPr lang="en-US" altLang="zh-CN" dirty="0">
              <a:ea typeface="宋体" panose="02010600030101010101" pitchFamily="2" charset="-122"/>
            </a:endParaRPr>
          </a:p>
          <a:p>
            <a:pPr eaLnBrk="1" hangingPunct="1"/>
            <a:r>
              <a:rPr lang="zh-CN" altLang="en-US" sz="2800" dirty="0">
                <a:ea typeface="宋体" panose="02010600030101010101" pitchFamily="2" charset="-122"/>
              </a:rPr>
              <a:t>细分表示</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建模路线</a:t>
            </a:r>
          </a:p>
        </p:txBody>
      </p:sp>
      <p:pic>
        <p:nvPicPr>
          <p:cNvPr id="8" name="Picture 16">
            <a:extLst>
              <a:ext uri="{FF2B5EF4-FFF2-40B4-BE49-F238E27FC236}">
                <a16:creationId xmlns:a16="http://schemas.microsoft.com/office/drawing/2014/main" id="{02D9ADD7-9D69-45D2-B73C-433082CBC1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8145" y="637897"/>
            <a:ext cx="2816225"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CATIA">
            <a:extLst>
              <a:ext uri="{FF2B5EF4-FFF2-40B4-BE49-F238E27FC236}">
                <a16:creationId xmlns:a16="http://schemas.microsoft.com/office/drawing/2014/main" id="{B115F47A-DD57-45DF-BF28-3625D2DEE3E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89488" y="2158842"/>
            <a:ext cx="3406924" cy="255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3074683"/>
      </p:ext>
    </p:extLst>
  </p:cSld>
  <p:clrMapOvr>
    <a:masterClrMapping/>
  </p:clrMapOvr>
  <p:transition spd="med" advClick="0">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构造表示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(CSG)</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08:55</a:t>
            </a:fld>
            <a:endParaRPr lang="en-US" altLang="zh-CN" sz="1400" dirty="0">
              <a:solidFill>
                <a:srgbClr val="FAFAFA"/>
              </a:solidFill>
            </a:endParaRPr>
          </a:p>
        </p:txBody>
      </p:sp>
      <p:sp>
        <p:nvSpPr>
          <p:cNvPr id="3" name="矩形 2">
            <a:extLst>
              <a:ext uri="{FF2B5EF4-FFF2-40B4-BE49-F238E27FC236}">
                <a16:creationId xmlns:a16="http://schemas.microsoft.com/office/drawing/2014/main" id="{2DDCBFFE-80C3-4D78-954E-6836440F1CBD}"/>
              </a:ext>
            </a:extLst>
          </p:cNvPr>
          <p:cNvSpPr/>
          <p:nvPr/>
        </p:nvSpPr>
        <p:spPr>
          <a:xfrm>
            <a:off x="755576" y="900113"/>
            <a:ext cx="8064896" cy="3188758"/>
          </a:xfrm>
          <a:prstGeom prst="rect">
            <a:avLst/>
          </a:prstGeom>
        </p:spPr>
        <p:txBody>
          <a:bodyPr wrap="square">
            <a:spAutoFit/>
          </a:bodyPr>
          <a:lstStyle/>
          <a:p>
            <a:pPr marL="342900" indent="-342900">
              <a:lnSpc>
                <a:spcPts val="3500"/>
              </a:lnSpc>
              <a:buFont typeface="Wingdings" panose="05000000000000000000" pitchFamily="2" charset="2"/>
              <a:buChar char="Ø"/>
            </a:pPr>
            <a:r>
              <a:rPr lang="zh-CN" altLang="en-US" sz="2400" dirty="0"/>
              <a:t>通过对</a:t>
            </a:r>
            <a:r>
              <a:rPr lang="zh-CN" altLang="en-US" sz="2400" dirty="0">
                <a:solidFill>
                  <a:srgbClr val="FF0000"/>
                </a:solidFill>
              </a:rPr>
              <a:t>体素</a:t>
            </a:r>
            <a:r>
              <a:rPr lang="zh-CN" altLang="en-US" sz="2400" dirty="0"/>
              <a:t>定义运算而得到新的形体的一种表示方法。</a:t>
            </a:r>
            <a:endParaRPr lang="en-US" altLang="zh-CN" sz="2400" dirty="0"/>
          </a:p>
          <a:p>
            <a:pPr marL="342900" indent="-342900">
              <a:lnSpc>
                <a:spcPts val="3500"/>
              </a:lnSpc>
              <a:buFont typeface="Wingdings" panose="05000000000000000000" pitchFamily="2" charset="2"/>
              <a:buChar char="Ø"/>
            </a:pPr>
            <a:r>
              <a:rPr lang="zh-CN" altLang="en-US" sz="2400" dirty="0"/>
              <a:t>体素可以是</a:t>
            </a:r>
            <a:r>
              <a:rPr lang="zh-CN" altLang="en-US" sz="2400" dirty="0">
                <a:solidFill>
                  <a:srgbClr val="FF0000"/>
                </a:solidFill>
              </a:rPr>
              <a:t>立方体、圆柱、圆锥</a:t>
            </a:r>
            <a:r>
              <a:rPr lang="zh-CN" altLang="en-US" sz="2400" dirty="0"/>
              <a:t>等，也可以是</a:t>
            </a:r>
            <a:r>
              <a:rPr lang="zh-CN" altLang="en-US" sz="2400" dirty="0">
                <a:solidFill>
                  <a:srgbClr val="FF0000"/>
                </a:solidFill>
              </a:rPr>
              <a:t>半空间</a:t>
            </a:r>
            <a:r>
              <a:rPr lang="zh-CN" altLang="en-US" sz="2400" dirty="0"/>
              <a:t>，其运算为变换或正则集合运算并、交、差。</a:t>
            </a:r>
          </a:p>
          <a:p>
            <a:pPr marL="342900" indent="-342900">
              <a:lnSpc>
                <a:spcPts val="3500"/>
              </a:lnSpc>
              <a:buFont typeface="Wingdings" panose="05000000000000000000" pitchFamily="2" charset="2"/>
              <a:buChar char="Ø"/>
            </a:pPr>
            <a:r>
              <a:rPr lang="en-US" altLang="zh-CN" sz="2400" dirty="0"/>
              <a:t>CSG</a:t>
            </a:r>
            <a:r>
              <a:rPr lang="zh-CN" altLang="en-US" sz="2400" dirty="0"/>
              <a:t>表示可以看成是一棵</a:t>
            </a:r>
            <a:r>
              <a:rPr lang="zh-CN" altLang="en-US" sz="2400" dirty="0">
                <a:solidFill>
                  <a:srgbClr val="FF0000"/>
                </a:solidFill>
              </a:rPr>
              <a:t>有序的二叉树</a:t>
            </a:r>
            <a:r>
              <a:rPr lang="zh-CN" altLang="en-US" sz="2400" dirty="0"/>
              <a:t>。</a:t>
            </a:r>
          </a:p>
          <a:p>
            <a:pPr marL="342900" indent="-342900">
              <a:lnSpc>
                <a:spcPts val="3500"/>
              </a:lnSpc>
              <a:buFont typeface="Arial" panose="020B0604020202020204" pitchFamily="34" charset="0"/>
              <a:buChar char="•"/>
            </a:pPr>
            <a:r>
              <a:rPr lang="zh-CN" altLang="en-US" sz="2400" dirty="0"/>
              <a:t>其叶子节点表示体素或是几何变换参数。</a:t>
            </a:r>
          </a:p>
          <a:p>
            <a:pPr marL="342900" indent="-342900">
              <a:lnSpc>
                <a:spcPts val="3500"/>
              </a:lnSpc>
              <a:buFont typeface="Arial" panose="020B0604020202020204" pitchFamily="34" charset="0"/>
              <a:buChar char="•"/>
            </a:pPr>
            <a:r>
              <a:rPr lang="zh-CN" altLang="en-US" sz="2400" dirty="0"/>
              <a:t>非终端结点表示施加于其子节点的集合运算或几何变换</a:t>
            </a:r>
            <a:endParaRPr lang="en-US" altLang="zh-CN" sz="2400" dirty="0"/>
          </a:p>
          <a:p>
            <a:pPr marL="342900" indent="-342900">
              <a:lnSpc>
                <a:spcPts val="3500"/>
              </a:lnSpc>
              <a:buFont typeface="Arial" panose="020B0604020202020204" pitchFamily="34" charset="0"/>
              <a:buChar char="•"/>
            </a:pPr>
            <a:r>
              <a:rPr lang="zh-CN" altLang="en-US" sz="2400" dirty="0"/>
              <a:t>根节点表示集合运算的最终结果。</a:t>
            </a:r>
          </a:p>
        </p:txBody>
      </p:sp>
    </p:spTree>
    <p:extLst>
      <p:ext uri="{BB962C8B-B14F-4D97-AF65-F5344CB8AC3E}">
        <p14:creationId xmlns:p14="http://schemas.microsoft.com/office/powerpoint/2010/main" val="2602204967"/>
      </p:ext>
    </p:extLst>
  </p:cSld>
  <p:clrMapOvr>
    <a:masterClrMapping/>
  </p:clrMapOvr>
  <p:transition spd="med" advClick="0">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构造表示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(CSG)</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09:03</a:t>
            </a:fld>
            <a:endParaRPr lang="en-US" altLang="zh-CN" sz="1400" dirty="0">
              <a:solidFill>
                <a:srgbClr val="FAFAFA"/>
              </a:solidFill>
            </a:endParaRPr>
          </a:p>
        </p:txBody>
      </p:sp>
      <p:pic>
        <p:nvPicPr>
          <p:cNvPr id="2" name="图片 1">
            <a:extLst>
              <a:ext uri="{FF2B5EF4-FFF2-40B4-BE49-F238E27FC236}">
                <a16:creationId xmlns:a16="http://schemas.microsoft.com/office/drawing/2014/main" id="{7EC642FE-6EEA-4A09-B84A-10C01ACFAB7D}"/>
              </a:ext>
            </a:extLst>
          </p:cNvPr>
          <p:cNvPicPr>
            <a:picLocks noChangeAspect="1"/>
          </p:cNvPicPr>
          <p:nvPr/>
        </p:nvPicPr>
        <p:blipFill>
          <a:blip r:embed="rId5"/>
          <a:stretch>
            <a:fillRect/>
          </a:stretch>
        </p:blipFill>
        <p:spPr>
          <a:xfrm>
            <a:off x="2517558" y="858134"/>
            <a:ext cx="4090199" cy="3864360"/>
          </a:xfrm>
          <a:prstGeom prst="rect">
            <a:avLst/>
          </a:prstGeom>
        </p:spPr>
      </p:pic>
    </p:spTree>
    <p:extLst>
      <p:ext uri="{BB962C8B-B14F-4D97-AF65-F5344CB8AC3E}">
        <p14:creationId xmlns:p14="http://schemas.microsoft.com/office/powerpoint/2010/main" val="1334619199"/>
      </p:ext>
    </p:extLst>
  </p:cSld>
  <p:clrMapOvr>
    <a:masterClrMapping/>
  </p:clrMapOvr>
  <p:transition spd="med" advClick="0">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构造表示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(CSG)</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09:13</a:t>
            </a:fld>
            <a:endParaRPr lang="en-US" altLang="zh-CN" sz="1400" dirty="0">
              <a:solidFill>
                <a:srgbClr val="FAFAFA"/>
              </a:solidFill>
            </a:endParaRPr>
          </a:p>
        </p:txBody>
      </p:sp>
      <p:sp>
        <p:nvSpPr>
          <p:cNvPr id="7" name="内容占位符 4">
            <a:extLst>
              <a:ext uri="{FF2B5EF4-FFF2-40B4-BE49-F238E27FC236}">
                <a16:creationId xmlns:a16="http://schemas.microsoft.com/office/drawing/2014/main" id="{B5E8DA4A-3DD1-40AD-902B-6FE616132CF0}"/>
              </a:ext>
            </a:extLst>
          </p:cNvPr>
          <p:cNvSpPr txBox="1">
            <a:spLocks noChangeArrowheads="1"/>
          </p:cNvSpPr>
          <p:nvPr/>
        </p:nvSpPr>
        <p:spPr bwMode="auto">
          <a:xfrm>
            <a:off x="251520" y="771550"/>
            <a:ext cx="8568952" cy="3813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400" kern="0" dirty="0">
                <a:latin typeface="宋体" panose="02010600030101010101" pitchFamily="2" charset="-122"/>
                <a:ea typeface="宋体" panose="02010600030101010101" pitchFamily="2" charset="-122"/>
              </a:rPr>
              <a:t>优点</a:t>
            </a:r>
          </a:p>
          <a:p>
            <a:pPr lvl="1"/>
            <a:r>
              <a:rPr lang="zh-CN" altLang="en-US" sz="2400" kern="0" dirty="0">
                <a:latin typeface="宋体" panose="02010600030101010101" pitchFamily="2" charset="-122"/>
                <a:ea typeface="宋体" panose="02010600030101010101" pitchFamily="2" charset="-122"/>
              </a:rPr>
              <a:t>数据结构比较</a:t>
            </a:r>
            <a:r>
              <a:rPr lang="zh-CN" altLang="en-US" sz="2400" kern="0" dirty="0">
                <a:solidFill>
                  <a:srgbClr val="FF0000"/>
                </a:solidFill>
                <a:latin typeface="宋体" panose="02010600030101010101" pitchFamily="2" charset="-122"/>
                <a:ea typeface="宋体" panose="02010600030101010101" pitchFamily="2" charset="-122"/>
              </a:rPr>
              <a:t>简单</a:t>
            </a:r>
            <a:r>
              <a:rPr lang="zh-CN" altLang="en-US" sz="2400" kern="0" dirty="0">
                <a:latin typeface="宋体" panose="02010600030101010101" pitchFamily="2" charset="-122"/>
                <a:ea typeface="宋体" panose="02010600030101010101" pitchFamily="2" charset="-122"/>
              </a:rPr>
              <a:t>，内部数据的管理比较容易；</a:t>
            </a:r>
          </a:p>
          <a:p>
            <a:pPr lvl="1"/>
            <a:r>
              <a:rPr lang="zh-CN" altLang="en-US" sz="2400" kern="0" dirty="0">
                <a:latin typeface="宋体" panose="02010600030101010101" pitchFamily="2" charset="-122"/>
                <a:ea typeface="宋体" panose="02010600030101010101" pitchFamily="2" charset="-122"/>
              </a:rPr>
              <a:t>控制性好</a:t>
            </a:r>
            <a:r>
              <a:rPr lang="en-US" altLang="zh-CN" sz="2400" kern="0" dirty="0">
                <a:latin typeface="宋体" panose="02010600030101010101" pitchFamily="2" charset="-122"/>
                <a:ea typeface="宋体" panose="02010600030101010101" pitchFamily="2" charset="-122"/>
              </a:rPr>
              <a:t>:</a:t>
            </a:r>
            <a:r>
              <a:rPr lang="zh-CN" altLang="en-US" sz="2400" kern="0" dirty="0">
                <a:latin typeface="宋体" panose="02010600030101010101" pitchFamily="2" charset="-122"/>
                <a:ea typeface="宋体" panose="02010600030101010101" pitchFamily="2" charset="-122"/>
              </a:rPr>
              <a:t>形状比较</a:t>
            </a:r>
            <a:r>
              <a:rPr lang="zh-CN" altLang="en-US" sz="2400" kern="0" dirty="0">
                <a:solidFill>
                  <a:srgbClr val="FF0000"/>
                </a:solidFill>
                <a:latin typeface="宋体" panose="02010600030101010101" pitchFamily="2" charset="-122"/>
                <a:ea typeface="宋体" panose="02010600030101010101" pitchFamily="2" charset="-122"/>
              </a:rPr>
              <a:t>容易修改</a:t>
            </a:r>
            <a:r>
              <a:rPr lang="zh-CN" altLang="en-US" sz="2400" kern="0" dirty="0">
                <a:latin typeface="宋体" panose="02010600030101010101" pitchFamily="2" charset="-122"/>
                <a:ea typeface="宋体" panose="02010600030101010101" pitchFamily="2" charset="-122"/>
              </a:rPr>
              <a:t>。</a:t>
            </a:r>
          </a:p>
          <a:p>
            <a:r>
              <a:rPr lang="zh-CN" altLang="en-US" sz="2400" kern="0" dirty="0">
                <a:latin typeface="宋体" panose="02010600030101010101" pitchFamily="2" charset="-122"/>
                <a:ea typeface="宋体" panose="02010600030101010101" pitchFamily="2" charset="-122"/>
              </a:rPr>
              <a:t>缺点</a:t>
            </a:r>
            <a:endParaRPr lang="en-US" altLang="zh-CN" sz="2400" kern="0" dirty="0">
              <a:latin typeface="宋体" panose="02010600030101010101" pitchFamily="2" charset="-122"/>
              <a:ea typeface="宋体" panose="02010600030101010101" pitchFamily="2" charset="-122"/>
            </a:endParaRPr>
          </a:p>
          <a:p>
            <a:pPr lvl="1"/>
            <a:r>
              <a:rPr lang="zh-CN" altLang="en-US" sz="2400" kern="0" dirty="0">
                <a:latin typeface="宋体" panose="02010600030101010101" pitchFamily="2" charset="-122"/>
                <a:ea typeface="宋体" panose="02010600030101010101" pitchFamily="2" charset="-122"/>
              </a:rPr>
              <a:t>对形体的表示受体素的种类和对体素操作的</a:t>
            </a:r>
            <a:r>
              <a:rPr lang="zh-CN" altLang="en-US" sz="2400" kern="0" dirty="0">
                <a:solidFill>
                  <a:srgbClr val="FF0000"/>
                </a:solidFill>
                <a:latin typeface="宋体" panose="02010600030101010101" pitchFamily="2" charset="-122"/>
                <a:ea typeface="宋体" panose="02010600030101010101" pitchFamily="2" charset="-122"/>
              </a:rPr>
              <a:t>种类的限制</a:t>
            </a:r>
            <a:endParaRPr lang="en-US" altLang="zh-CN" sz="2400" kern="0" dirty="0">
              <a:solidFill>
                <a:srgbClr val="FF0000"/>
              </a:solidFill>
              <a:latin typeface="宋体" panose="02010600030101010101" pitchFamily="2" charset="-122"/>
              <a:ea typeface="宋体" panose="02010600030101010101" pitchFamily="2" charset="-122"/>
            </a:endParaRPr>
          </a:p>
          <a:p>
            <a:pPr lvl="1"/>
            <a:r>
              <a:rPr lang="zh-CN" altLang="en-US" sz="2400" kern="0" dirty="0">
                <a:latin typeface="宋体" panose="02010600030101010101" pitchFamily="2" charset="-122"/>
                <a:ea typeface="宋体" panose="02010600030101010101" pitchFamily="2" charset="-122"/>
              </a:rPr>
              <a:t>形体的边界几何元素（点、边、面）是隐含地表示在</a:t>
            </a:r>
            <a:r>
              <a:rPr lang="en-US" altLang="zh-CN" sz="2400" kern="0" dirty="0">
                <a:latin typeface="宋体" panose="02010600030101010101" pitchFamily="2" charset="-122"/>
                <a:ea typeface="宋体" panose="02010600030101010101" pitchFamily="2" charset="-122"/>
              </a:rPr>
              <a:t>CSG</a:t>
            </a:r>
            <a:r>
              <a:rPr lang="zh-CN" altLang="en-US" sz="2400" kern="0" dirty="0">
                <a:latin typeface="宋体" panose="02010600030101010101" pitchFamily="2" charset="-122"/>
                <a:ea typeface="宋体" panose="02010600030101010101" pitchFamily="2" charset="-122"/>
              </a:rPr>
              <a:t>中，故显示与绘制</a:t>
            </a:r>
            <a:r>
              <a:rPr lang="en-US" altLang="zh-CN" sz="2400" kern="0" dirty="0">
                <a:latin typeface="宋体" panose="02010600030101010101" pitchFamily="2" charset="-122"/>
                <a:ea typeface="宋体" panose="02010600030101010101" pitchFamily="2" charset="-122"/>
              </a:rPr>
              <a:t>CSG</a:t>
            </a:r>
            <a:r>
              <a:rPr lang="zh-CN" altLang="en-US" sz="2400" kern="0" dirty="0">
                <a:latin typeface="宋体" panose="02010600030101010101" pitchFamily="2" charset="-122"/>
                <a:ea typeface="宋体" panose="02010600030101010101" pitchFamily="2" charset="-122"/>
              </a:rPr>
              <a:t>表示的形体需要</a:t>
            </a:r>
            <a:r>
              <a:rPr lang="zh-CN" altLang="en-US" sz="2400" kern="0" dirty="0">
                <a:solidFill>
                  <a:srgbClr val="FF0000"/>
                </a:solidFill>
                <a:latin typeface="宋体" panose="02010600030101010101" pitchFamily="2" charset="-122"/>
                <a:ea typeface="宋体" panose="02010600030101010101" pitchFamily="2" charset="-122"/>
              </a:rPr>
              <a:t>较长的时间</a:t>
            </a:r>
            <a:r>
              <a:rPr lang="zh-CN" altLang="en-US" sz="2400" kern="0" dirty="0">
                <a:latin typeface="宋体" panose="02010600030101010101" pitchFamily="2" charset="-122"/>
                <a:ea typeface="宋体" panose="02010600030101010101" pitchFamily="2" charset="-122"/>
              </a:rPr>
              <a:t>。</a:t>
            </a:r>
            <a:endParaRPr lang="en-US" altLang="zh-CN" sz="2400" kern="0" dirty="0">
              <a:latin typeface="宋体" panose="02010600030101010101" pitchFamily="2" charset="-122"/>
              <a:ea typeface="宋体" panose="02010600030101010101" pitchFamily="2" charset="-122"/>
            </a:endParaRPr>
          </a:p>
          <a:p>
            <a:pPr lvl="1"/>
            <a:r>
              <a:rPr lang="zh-CN" altLang="en-US" sz="2400" kern="0" dirty="0">
                <a:latin typeface="宋体" panose="02010600030101010101" pitchFamily="2" charset="-122"/>
              </a:rPr>
              <a:t>破坏点、边、面的显示</a:t>
            </a:r>
            <a:r>
              <a:rPr lang="zh-CN" altLang="en-US" sz="2400" kern="0" dirty="0">
                <a:solidFill>
                  <a:srgbClr val="FF0000"/>
                </a:solidFill>
                <a:latin typeface="宋体" panose="02010600030101010101" pitchFamily="2" charset="-122"/>
              </a:rPr>
              <a:t>拓扑关系</a:t>
            </a:r>
          </a:p>
          <a:p>
            <a:pPr lvl="1"/>
            <a:r>
              <a:rPr lang="zh-CN" altLang="en-US" sz="2400" kern="0" dirty="0">
                <a:latin typeface="宋体" panose="02010600030101010101" pitchFamily="2" charset="-122"/>
                <a:ea typeface="宋体" panose="02010600030101010101" pitchFamily="2" charset="-122"/>
              </a:rPr>
              <a:t>表示</a:t>
            </a:r>
            <a:r>
              <a:rPr lang="zh-CN" altLang="en-US" sz="2400" kern="0" dirty="0">
                <a:solidFill>
                  <a:srgbClr val="FF0000"/>
                </a:solidFill>
                <a:latin typeface="宋体" panose="02010600030101010101" pitchFamily="2" charset="-122"/>
                <a:ea typeface="宋体" panose="02010600030101010101" pitchFamily="2" charset="-122"/>
              </a:rPr>
              <a:t>不唯一</a:t>
            </a:r>
          </a:p>
          <a:p>
            <a:endParaRPr lang="zh-CN" altLang="en-US" sz="2800" kern="0" dirty="0">
              <a:ea typeface="宋体" panose="02010600030101010101" pitchFamily="2" charset="-122"/>
            </a:endParaRPr>
          </a:p>
        </p:txBody>
      </p:sp>
    </p:spTree>
    <p:extLst>
      <p:ext uri="{BB962C8B-B14F-4D97-AF65-F5344CB8AC3E}">
        <p14:creationId xmlns:p14="http://schemas.microsoft.com/office/powerpoint/2010/main" val="2572551096"/>
      </p:ext>
    </p:extLst>
  </p:cSld>
  <p:clrMapOvr>
    <a:masterClrMapping/>
  </p:clrMapOvr>
  <p:transition spd="med" advClick="0">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推移表示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扫描表示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09:18</a:t>
            </a:fld>
            <a:endParaRPr lang="en-US" altLang="zh-CN" sz="1400" dirty="0">
              <a:solidFill>
                <a:srgbClr val="FAFAFA"/>
              </a:solidFill>
            </a:endParaRPr>
          </a:p>
        </p:txBody>
      </p:sp>
      <p:sp>
        <p:nvSpPr>
          <p:cNvPr id="8" name="Rectangle 3">
            <a:extLst>
              <a:ext uri="{FF2B5EF4-FFF2-40B4-BE49-F238E27FC236}">
                <a16:creationId xmlns:a16="http://schemas.microsoft.com/office/drawing/2014/main" id="{79597784-779D-48EB-AD2D-AC60D9B013DB}"/>
              </a:ext>
            </a:extLst>
          </p:cNvPr>
          <p:cNvSpPr txBox="1">
            <a:spLocks noChangeArrowheads="1"/>
          </p:cNvSpPr>
          <p:nvPr/>
        </p:nvSpPr>
        <p:spPr bwMode="auto">
          <a:xfrm>
            <a:off x="346345" y="700088"/>
            <a:ext cx="8432626" cy="446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latin typeface="Times New Roman" panose="02020603050405020304" pitchFamily="18" charset="0"/>
                <a:ea typeface="宋体" panose="02010600030101010101" pitchFamily="2" charset="-122"/>
              </a:rPr>
              <a:t>将物体</a:t>
            </a:r>
            <a:r>
              <a:rPr lang="en-US" altLang="zh-CN" sz="2800" kern="0" dirty="0">
                <a:latin typeface="Times New Roman" panose="02020603050405020304" pitchFamily="18" charset="0"/>
                <a:ea typeface="宋体" panose="02010600030101010101" pitchFamily="2" charset="-122"/>
              </a:rPr>
              <a:t>A</a:t>
            </a:r>
            <a:r>
              <a:rPr lang="zh-CN" altLang="en-US" sz="2800" kern="0" dirty="0">
                <a:latin typeface="Times New Roman" panose="02020603050405020304" pitchFamily="18" charset="0"/>
                <a:ea typeface="宋体" panose="02010600030101010101" pitchFamily="2" charset="-122"/>
              </a:rPr>
              <a:t>沿着轨迹</a:t>
            </a:r>
            <a:r>
              <a:rPr lang="en-US" altLang="zh-CN" sz="2800" kern="0" dirty="0">
                <a:latin typeface="Times New Roman" panose="02020603050405020304" pitchFamily="18" charset="0"/>
                <a:ea typeface="宋体" panose="02010600030101010101" pitchFamily="2" charset="-122"/>
              </a:rPr>
              <a:t>P</a:t>
            </a:r>
            <a:r>
              <a:rPr lang="zh-CN" altLang="en-US" sz="2800" kern="0" dirty="0">
                <a:latin typeface="Times New Roman" panose="02020603050405020304" pitchFamily="18" charset="0"/>
                <a:ea typeface="宋体" panose="02010600030101010101" pitchFamily="2" charset="-122"/>
              </a:rPr>
              <a:t>推移得到物体</a:t>
            </a:r>
            <a:r>
              <a:rPr lang="en-US" altLang="zh-CN" sz="2800" kern="0" dirty="0">
                <a:latin typeface="Times New Roman" panose="02020603050405020304" pitchFamily="18" charset="0"/>
                <a:ea typeface="宋体" panose="02010600030101010101" pitchFamily="2" charset="-122"/>
              </a:rPr>
              <a:t>B</a:t>
            </a:r>
            <a:r>
              <a:rPr lang="zh-CN" altLang="en-US" sz="2800" kern="0" dirty="0">
                <a:latin typeface="Times New Roman" panose="02020603050405020304" pitchFamily="18" charset="0"/>
                <a:ea typeface="宋体" panose="02010600030101010101" pitchFamily="2" charset="-122"/>
              </a:rPr>
              <a:t>，称</a:t>
            </a:r>
            <a:r>
              <a:rPr lang="en-US" altLang="zh-CN" sz="2800" kern="0" dirty="0">
                <a:latin typeface="Times New Roman" panose="02020603050405020304" pitchFamily="18" charset="0"/>
                <a:ea typeface="宋体" panose="02010600030101010101" pitchFamily="2" charset="-122"/>
              </a:rPr>
              <a:t>B</a:t>
            </a:r>
            <a:r>
              <a:rPr lang="zh-CN" altLang="en-US" sz="2800" kern="0" dirty="0">
                <a:latin typeface="Times New Roman" panose="02020603050405020304" pitchFamily="18" charset="0"/>
                <a:ea typeface="宋体" panose="02010600030101010101" pitchFamily="2" charset="-122"/>
              </a:rPr>
              <a:t>为</a:t>
            </a:r>
            <a:r>
              <a:rPr lang="en-US" altLang="zh-CN" sz="2800" kern="0" dirty="0">
                <a:latin typeface="Times New Roman" panose="02020603050405020304" pitchFamily="18" charset="0"/>
                <a:ea typeface="宋体" panose="02010600030101010101" pitchFamily="2" charset="-122"/>
              </a:rPr>
              <a:t>sweep</a:t>
            </a:r>
            <a:r>
              <a:rPr lang="zh-CN" altLang="en-US" sz="2800" kern="0" dirty="0">
                <a:latin typeface="Times New Roman" panose="02020603050405020304" pitchFamily="18" charset="0"/>
                <a:ea typeface="宋体" panose="02010600030101010101" pitchFamily="2" charset="-122"/>
              </a:rPr>
              <a:t>体</a:t>
            </a:r>
          </a:p>
          <a:p>
            <a:r>
              <a:rPr lang="zh-CN" altLang="en-US" sz="2800" kern="0" dirty="0">
                <a:solidFill>
                  <a:srgbClr val="FF0000"/>
                </a:solidFill>
                <a:latin typeface="Times New Roman" panose="02020603050405020304" pitchFamily="18" charset="0"/>
                <a:ea typeface="宋体" panose="02010600030101010101" pitchFamily="2" charset="-122"/>
              </a:rPr>
              <a:t>平移</a:t>
            </a:r>
            <a:r>
              <a:rPr lang="en-US" altLang="zh-CN" sz="2800" kern="0" dirty="0">
                <a:latin typeface="Times New Roman" panose="02020603050405020304" pitchFamily="18" charset="0"/>
                <a:ea typeface="宋体" panose="02010600030101010101" pitchFamily="2" charset="-122"/>
              </a:rPr>
              <a:t>sweep—</a:t>
            </a:r>
            <a:r>
              <a:rPr lang="zh-CN" altLang="en-US" sz="2800" kern="0" dirty="0">
                <a:latin typeface="Times New Roman" panose="02020603050405020304" pitchFamily="18" charset="0"/>
                <a:ea typeface="宋体" panose="02010600030101010101" pitchFamily="2" charset="-122"/>
              </a:rPr>
              <a:t>将一个二维区域沿着一个矢量方向推移</a:t>
            </a:r>
            <a:endParaRPr lang="en-US" altLang="zh-CN" sz="2800" kern="0" dirty="0">
              <a:latin typeface="Times New Roman" panose="02020603050405020304" pitchFamily="18" charset="0"/>
              <a:ea typeface="宋体" panose="02010600030101010101" pitchFamily="2" charset="-122"/>
            </a:endParaRPr>
          </a:p>
          <a:p>
            <a:r>
              <a:rPr lang="zh-CN" altLang="en-US" sz="2800" kern="0" dirty="0">
                <a:solidFill>
                  <a:srgbClr val="FF0000"/>
                </a:solidFill>
                <a:latin typeface="Times New Roman" panose="02020603050405020304" pitchFamily="18" charset="0"/>
                <a:ea typeface="宋体" panose="02010600030101010101" pitchFamily="2" charset="-122"/>
              </a:rPr>
              <a:t>旋转</a:t>
            </a:r>
            <a:r>
              <a:rPr lang="en-US" altLang="zh-CN" sz="2800" kern="0" dirty="0">
                <a:latin typeface="Times New Roman" panose="02020603050405020304" pitchFamily="18" charset="0"/>
                <a:ea typeface="宋体" panose="02010600030101010101" pitchFamily="2" charset="-122"/>
              </a:rPr>
              <a:t>sweep—</a:t>
            </a:r>
            <a:r>
              <a:rPr lang="zh-CN" altLang="en-US" sz="2800" kern="0" dirty="0">
                <a:latin typeface="Times New Roman" panose="02020603050405020304" pitchFamily="18" charset="0"/>
                <a:ea typeface="宋体" panose="02010600030101010101" pitchFamily="2" charset="-122"/>
              </a:rPr>
              <a:t>将一个二维区域绕旋转轴旋转一周</a:t>
            </a:r>
          </a:p>
        </p:txBody>
      </p:sp>
      <p:pic>
        <p:nvPicPr>
          <p:cNvPr id="9" name="Picture 4" descr="2p26">
            <a:extLst>
              <a:ext uri="{FF2B5EF4-FFF2-40B4-BE49-F238E27FC236}">
                <a16:creationId xmlns:a16="http://schemas.microsoft.com/office/drawing/2014/main" id="{26F7A2D3-6E28-4D61-8BE6-2B93F9922E82}"/>
              </a:ext>
            </a:extLst>
          </p:cNvPr>
          <p:cNvPicPr>
            <a:picLocks noChangeAspect="1" noChangeArrowheads="1"/>
          </p:cNvPicPr>
          <p:nvPr/>
        </p:nvPicPr>
        <p:blipFill>
          <a:blip r:embed="rId5">
            <a:lum contrast="100000"/>
            <a:extLst>
              <a:ext uri="{28A0092B-C50C-407E-A947-70E740481C1C}">
                <a14:useLocalDpi xmlns:a14="http://schemas.microsoft.com/office/drawing/2010/main" val="0"/>
              </a:ext>
            </a:extLst>
          </a:blip>
          <a:srcRect/>
          <a:stretch>
            <a:fillRect/>
          </a:stretch>
        </p:blipFill>
        <p:spPr bwMode="auto">
          <a:xfrm>
            <a:off x="309725" y="2930265"/>
            <a:ext cx="6816725" cy="17224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4" descr="2p27">
            <a:extLst>
              <a:ext uri="{FF2B5EF4-FFF2-40B4-BE49-F238E27FC236}">
                <a16:creationId xmlns:a16="http://schemas.microsoft.com/office/drawing/2014/main" id="{7F830017-C789-4F96-9401-F16812A18D2B}"/>
              </a:ext>
            </a:extLst>
          </p:cNvPr>
          <p:cNvPicPr>
            <a:picLocks noChangeAspect="1" noChangeArrowheads="1"/>
          </p:cNvPicPr>
          <p:nvPr/>
        </p:nvPicPr>
        <p:blipFill>
          <a:blip r:embed="rId6">
            <a:lum bright="-98000" contrast="100000"/>
            <a:extLst>
              <a:ext uri="{28A0092B-C50C-407E-A947-70E740481C1C}">
                <a14:useLocalDpi xmlns:a14="http://schemas.microsoft.com/office/drawing/2010/main" val="0"/>
              </a:ext>
            </a:extLst>
          </a:blip>
          <a:srcRect/>
          <a:stretch>
            <a:fillRect/>
          </a:stretch>
        </p:blipFill>
        <p:spPr bwMode="auto">
          <a:xfrm>
            <a:off x="7211022" y="2930265"/>
            <a:ext cx="1867622" cy="17224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87253"/>
      </p:ext>
    </p:extLst>
  </p:cSld>
  <p:clrMapOvr>
    <a:masterClrMapping/>
  </p:clrMapOvr>
  <p:transition spd="med" advClick="0">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推移表示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扫描表示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09:21</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888E622E-F319-42A4-9844-0C2D56D4192F}"/>
              </a:ext>
            </a:extLst>
          </p:cNvPr>
          <p:cNvSpPr txBox="1">
            <a:spLocks noChangeArrowheads="1"/>
          </p:cNvSpPr>
          <p:nvPr/>
        </p:nvSpPr>
        <p:spPr bwMode="auto">
          <a:xfrm>
            <a:off x="363537" y="704593"/>
            <a:ext cx="5037139"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a:latin typeface="宋体" panose="02010600030101010101" pitchFamily="2" charset="-122"/>
                <a:ea typeface="宋体" panose="02010600030101010101" pitchFamily="2" charset="-122"/>
              </a:rPr>
              <a:t>广义</a:t>
            </a:r>
            <a:r>
              <a:rPr lang="en-US" altLang="zh-CN" sz="2800" kern="0">
                <a:latin typeface="宋体" panose="02010600030101010101" pitchFamily="2" charset="-122"/>
                <a:ea typeface="宋体" panose="02010600030101010101" pitchFamily="2" charset="-122"/>
              </a:rPr>
              <a:t>sweep</a:t>
            </a:r>
          </a:p>
          <a:p>
            <a:pPr lvl="1"/>
            <a:r>
              <a:rPr lang="zh-CN" altLang="en-US" sz="2400" kern="0">
                <a:latin typeface="宋体" panose="02010600030101010101" pitchFamily="2" charset="-122"/>
                <a:ea typeface="宋体" panose="02010600030101010101" pitchFamily="2" charset="-122"/>
              </a:rPr>
              <a:t>任意物体沿着任意轨迹推移</a:t>
            </a:r>
          </a:p>
          <a:p>
            <a:pPr lvl="1"/>
            <a:r>
              <a:rPr lang="zh-CN" altLang="en-US" sz="2400" kern="0">
                <a:latin typeface="宋体" panose="02010600030101010101" pitchFamily="2" charset="-122"/>
                <a:ea typeface="宋体" panose="02010600030101010101" pitchFamily="2" charset="-122"/>
              </a:rPr>
              <a:t>推移过程中物体可以变形</a:t>
            </a:r>
            <a:endParaRPr lang="zh-CN" altLang="en-US" sz="2400" kern="0" dirty="0">
              <a:latin typeface="宋体" panose="02010600030101010101" pitchFamily="2" charset="-122"/>
              <a:ea typeface="宋体" panose="02010600030101010101" pitchFamily="2" charset="-122"/>
            </a:endParaRPr>
          </a:p>
        </p:txBody>
      </p:sp>
      <p:grpSp>
        <p:nvGrpSpPr>
          <p:cNvPr id="8" name="组合 15">
            <a:extLst>
              <a:ext uri="{FF2B5EF4-FFF2-40B4-BE49-F238E27FC236}">
                <a16:creationId xmlns:a16="http://schemas.microsoft.com/office/drawing/2014/main" id="{B5856795-A2B3-4B2A-B8F1-BD4455BC2C52}"/>
              </a:ext>
            </a:extLst>
          </p:cNvPr>
          <p:cNvGrpSpPr>
            <a:grpSpLocks/>
          </p:cNvGrpSpPr>
          <p:nvPr/>
        </p:nvGrpSpPr>
        <p:grpSpPr bwMode="auto">
          <a:xfrm>
            <a:off x="683568" y="2283718"/>
            <a:ext cx="2414588" cy="2347913"/>
            <a:chOff x="354947" y="3082334"/>
            <a:chExt cx="2415520" cy="2348753"/>
          </a:xfrm>
        </p:grpSpPr>
        <p:sp>
          <p:nvSpPr>
            <p:cNvPr id="9" name="Freeform 5">
              <a:extLst>
                <a:ext uri="{FF2B5EF4-FFF2-40B4-BE49-F238E27FC236}">
                  <a16:creationId xmlns:a16="http://schemas.microsoft.com/office/drawing/2014/main" id="{7C515C3B-9DCD-4A01-956F-6ED19FF580F5}"/>
                </a:ext>
              </a:extLst>
            </p:cNvPr>
            <p:cNvSpPr>
              <a:spLocks/>
            </p:cNvSpPr>
            <p:nvPr/>
          </p:nvSpPr>
          <p:spPr bwMode="auto">
            <a:xfrm>
              <a:off x="417988" y="4262687"/>
              <a:ext cx="2311207" cy="406400"/>
            </a:xfrm>
            <a:custGeom>
              <a:avLst/>
              <a:gdLst>
                <a:gd name="T0" fmla="*/ 0 w 1344"/>
                <a:gd name="T1" fmla="*/ 2147483646 h 256"/>
                <a:gd name="T2" fmla="*/ 2147483646 w 1344"/>
                <a:gd name="T3" fmla="*/ 2147483646 h 256"/>
                <a:gd name="T4" fmla="*/ 2147483646 w 1344"/>
                <a:gd name="T5" fmla="*/ 2147483646 h 256"/>
                <a:gd name="T6" fmla="*/ 2147483646 w 1344"/>
                <a:gd name="T7" fmla="*/ 2147483646 h 256"/>
                <a:gd name="T8" fmla="*/ 2147483646 w 1344"/>
                <a:gd name="T9" fmla="*/ 2147483646 h 256"/>
                <a:gd name="T10" fmla="*/ 0 60000 65536"/>
                <a:gd name="T11" fmla="*/ 0 60000 65536"/>
                <a:gd name="T12" fmla="*/ 0 60000 65536"/>
                <a:gd name="T13" fmla="*/ 0 60000 65536"/>
                <a:gd name="T14" fmla="*/ 0 60000 65536"/>
                <a:gd name="T15" fmla="*/ 0 w 1344"/>
                <a:gd name="T16" fmla="*/ 0 h 256"/>
                <a:gd name="T17" fmla="*/ 1344 w 1344"/>
                <a:gd name="T18" fmla="*/ 256 h 256"/>
              </a:gdLst>
              <a:ahLst/>
              <a:cxnLst>
                <a:cxn ang="T10">
                  <a:pos x="T0" y="T1"/>
                </a:cxn>
                <a:cxn ang="T11">
                  <a:pos x="T2" y="T3"/>
                </a:cxn>
                <a:cxn ang="T12">
                  <a:pos x="T4" y="T5"/>
                </a:cxn>
                <a:cxn ang="T13">
                  <a:pos x="T6" y="T7"/>
                </a:cxn>
                <a:cxn ang="T14">
                  <a:pos x="T8" y="T9"/>
                </a:cxn>
              </a:cxnLst>
              <a:rect l="T15" t="T16" r="T17" b="T18"/>
              <a:pathLst>
                <a:path w="1344" h="256">
                  <a:moveTo>
                    <a:pt x="0" y="256"/>
                  </a:moveTo>
                  <a:cubicBezTo>
                    <a:pt x="84" y="144"/>
                    <a:pt x="168" y="32"/>
                    <a:pt x="288" y="16"/>
                  </a:cubicBezTo>
                  <a:cubicBezTo>
                    <a:pt x="408" y="0"/>
                    <a:pt x="592" y="136"/>
                    <a:pt x="720" y="160"/>
                  </a:cubicBezTo>
                  <a:cubicBezTo>
                    <a:pt x="848" y="184"/>
                    <a:pt x="952" y="160"/>
                    <a:pt x="1056" y="160"/>
                  </a:cubicBezTo>
                  <a:cubicBezTo>
                    <a:pt x="1160" y="160"/>
                    <a:pt x="1252" y="160"/>
                    <a:pt x="1344" y="16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0" name="Freeform 6">
              <a:extLst>
                <a:ext uri="{FF2B5EF4-FFF2-40B4-BE49-F238E27FC236}">
                  <a16:creationId xmlns:a16="http://schemas.microsoft.com/office/drawing/2014/main" id="{670ACB16-F19C-4E87-9F78-C226B511219E}"/>
                </a:ext>
              </a:extLst>
            </p:cNvPr>
            <p:cNvSpPr>
              <a:spLocks/>
            </p:cNvSpPr>
            <p:nvPr/>
          </p:nvSpPr>
          <p:spPr bwMode="auto">
            <a:xfrm>
              <a:off x="706889" y="4503987"/>
              <a:ext cx="2063578" cy="533400"/>
            </a:xfrm>
            <a:custGeom>
              <a:avLst/>
              <a:gdLst>
                <a:gd name="T0" fmla="*/ 0 w 1200"/>
                <a:gd name="T1" fmla="*/ 2147483646 h 336"/>
                <a:gd name="T2" fmla="*/ 2147483646 w 1200"/>
                <a:gd name="T3" fmla="*/ 2147483646 h 336"/>
                <a:gd name="T4" fmla="*/ 2147483646 w 1200"/>
                <a:gd name="T5" fmla="*/ 2147483646 h 336"/>
                <a:gd name="T6" fmla="*/ 2147483646 w 1200"/>
                <a:gd name="T7" fmla="*/ 0 h 336"/>
                <a:gd name="T8" fmla="*/ 0 60000 65536"/>
                <a:gd name="T9" fmla="*/ 0 60000 65536"/>
                <a:gd name="T10" fmla="*/ 0 60000 65536"/>
                <a:gd name="T11" fmla="*/ 0 60000 65536"/>
                <a:gd name="T12" fmla="*/ 0 w 1200"/>
                <a:gd name="T13" fmla="*/ 0 h 336"/>
                <a:gd name="T14" fmla="*/ 1200 w 1200"/>
                <a:gd name="T15" fmla="*/ 336 h 336"/>
              </a:gdLst>
              <a:ahLst/>
              <a:cxnLst>
                <a:cxn ang="T8">
                  <a:pos x="T0" y="T1"/>
                </a:cxn>
                <a:cxn ang="T9">
                  <a:pos x="T2" y="T3"/>
                </a:cxn>
                <a:cxn ang="T10">
                  <a:pos x="T4" y="T5"/>
                </a:cxn>
                <a:cxn ang="T11">
                  <a:pos x="T6" y="T7"/>
                </a:cxn>
              </a:cxnLst>
              <a:rect l="T12" t="T13" r="T14" b="T15"/>
              <a:pathLst>
                <a:path w="1200" h="336">
                  <a:moveTo>
                    <a:pt x="0" y="336"/>
                  </a:moveTo>
                  <a:cubicBezTo>
                    <a:pt x="56" y="276"/>
                    <a:pt x="112" y="216"/>
                    <a:pt x="240" y="192"/>
                  </a:cubicBezTo>
                  <a:cubicBezTo>
                    <a:pt x="368" y="168"/>
                    <a:pt x="608" y="224"/>
                    <a:pt x="768" y="192"/>
                  </a:cubicBezTo>
                  <a:cubicBezTo>
                    <a:pt x="928" y="160"/>
                    <a:pt x="1064" y="80"/>
                    <a:pt x="1200" y="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2" name="Oval 7">
              <a:extLst>
                <a:ext uri="{FF2B5EF4-FFF2-40B4-BE49-F238E27FC236}">
                  <a16:creationId xmlns:a16="http://schemas.microsoft.com/office/drawing/2014/main" id="{6BF12810-024E-412B-8700-A6042DB75B37}"/>
                </a:ext>
              </a:extLst>
            </p:cNvPr>
            <p:cNvSpPr>
              <a:spLocks noChangeArrowheads="1"/>
            </p:cNvSpPr>
            <p:nvPr/>
          </p:nvSpPr>
          <p:spPr bwMode="auto">
            <a:xfrm rot="-1570453">
              <a:off x="354947" y="3209334"/>
              <a:ext cx="330172" cy="838200"/>
            </a:xfrm>
            <a:prstGeom prst="ellipse">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333399"/>
                </a:solidFill>
                <a:effectLst/>
                <a:uLnTx/>
                <a:uFillTx/>
                <a:latin typeface="Arial" panose="020B0604020202020204" pitchFamily="34" charset="0"/>
                <a:ea typeface="华文彩云" panose="02010800040101010101" pitchFamily="2" charset="-122"/>
              </a:endParaRPr>
            </a:p>
          </p:txBody>
        </p:sp>
        <p:sp>
          <p:nvSpPr>
            <p:cNvPr id="13" name="Freeform 8">
              <a:extLst>
                <a:ext uri="{FF2B5EF4-FFF2-40B4-BE49-F238E27FC236}">
                  <a16:creationId xmlns:a16="http://schemas.microsoft.com/office/drawing/2014/main" id="{95DC5A22-7702-4488-AAF3-4F70E007A884}"/>
                </a:ext>
              </a:extLst>
            </p:cNvPr>
            <p:cNvSpPr>
              <a:spLocks/>
            </p:cNvSpPr>
            <p:nvPr/>
          </p:nvSpPr>
          <p:spPr bwMode="auto">
            <a:xfrm>
              <a:off x="547548" y="3082334"/>
              <a:ext cx="2063578" cy="533400"/>
            </a:xfrm>
            <a:custGeom>
              <a:avLst/>
              <a:gdLst>
                <a:gd name="T0" fmla="*/ 0 w 1200"/>
                <a:gd name="T1" fmla="*/ 2147483646 h 336"/>
                <a:gd name="T2" fmla="*/ 2147483646 w 1200"/>
                <a:gd name="T3" fmla="*/ 2147483646 h 336"/>
                <a:gd name="T4" fmla="*/ 2147483646 w 1200"/>
                <a:gd name="T5" fmla="*/ 2147483646 h 336"/>
                <a:gd name="T6" fmla="*/ 2147483646 w 1200"/>
                <a:gd name="T7" fmla="*/ 0 h 336"/>
                <a:gd name="T8" fmla="*/ 0 60000 65536"/>
                <a:gd name="T9" fmla="*/ 0 60000 65536"/>
                <a:gd name="T10" fmla="*/ 0 60000 65536"/>
                <a:gd name="T11" fmla="*/ 0 60000 65536"/>
                <a:gd name="T12" fmla="*/ 0 w 1200"/>
                <a:gd name="T13" fmla="*/ 0 h 336"/>
                <a:gd name="T14" fmla="*/ 1200 w 1200"/>
                <a:gd name="T15" fmla="*/ 336 h 336"/>
              </a:gdLst>
              <a:ahLst/>
              <a:cxnLst>
                <a:cxn ang="T8">
                  <a:pos x="T0" y="T1"/>
                </a:cxn>
                <a:cxn ang="T9">
                  <a:pos x="T2" y="T3"/>
                </a:cxn>
                <a:cxn ang="T10">
                  <a:pos x="T4" y="T5"/>
                </a:cxn>
                <a:cxn ang="T11">
                  <a:pos x="T6" y="T7"/>
                </a:cxn>
              </a:cxnLst>
              <a:rect l="T12" t="T13" r="T14" b="T15"/>
              <a:pathLst>
                <a:path w="1200" h="336">
                  <a:moveTo>
                    <a:pt x="0" y="336"/>
                  </a:moveTo>
                  <a:cubicBezTo>
                    <a:pt x="56" y="276"/>
                    <a:pt x="112" y="216"/>
                    <a:pt x="240" y="192"/>
                  </a:cubicBezTo>
                  <a:cubicBezTo>
                    <a:pt x="368" y="168"/>
                    <a:pt x="608" y="224"/>
                    <a:pt x="768" y="192"/>
                  </a:cubicBezTo>
                  <a:cubicBezTo>
                    <a:pt x="928" y="160"/>
                    <a:pt x="1064" y="80"/>
                    <a:pt x="1200" y="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15" name="Oval 9">
              <a:extLst>
                <a:ext uri="{FF2B5EF4-FFF2-40B4-BE49-F238E27FC236}">
                  <a16:creationId xmlns:a16="http://schemas.microsoft.com/office/drawing/2014/main" id="{00A04E12-2EA5-443A-A447-F74EE968EE3F}"/>
                </a:ext>
              </a:extLst>
            </p:cNvPr>
            <p:cNvSpPr>
              <a:spLocks noChangeArrowheads="1"/>
            </p:cNvSpPr>
            <p:nvPr/>
          </p:nvSpPr>
          <p:spPr bwMode="auto">
            <a:xfrm rot="-1570453">
              <a:off x="500532" y="4592887"/>
              <a:ext cx="330172" cy="838200"/>
            </a:xfrm>
            <a:prstGeom prst="ellipse">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333399"/>
                </a:solidFill>
                <a:effectLst/>
                <a:uLnTx/>
                <a:uFillTx/>
                <a:latin typeface="Arial" panose="020B0604020202020204" pitchFamily="34" charset="0"/>
                <a:ea typeface="华文彩云" panose="02010800040101010101" pitchFamily="2" charset="-122"/>
              </a:endParaRPr>
            </a:p>
          </p:txBody>
        </p:sp>
        <p:sp>
          <p:nvSpPr>
            <p:cNvPr id="16" name="Oval 10">
              <a:extLst>
                <a:ext uri="{FF2B5EF4-FFF2-40B4-BE49-F238E27FC236}">
                  <a16:creationId xmlns:a16="http://schemas.microsoft.com/office/drawing/2014/main" id="{CBF95DD4-0AA5-4778-A276-E9FAC23AF67D}"/>
                </a:ext>
              </a:extLst>
            </p:cNvPr>
            <p:cNvSpPr>
              <a:spLocks noChangeArrowheads="1"/>
            </p:cNvSpPr>
            <p:nvPr/>
          </p:nvSpPr>
          <p:spPr bwMode="auto">
            <a:xfrm rot="-1570453">
              <a:off x="966556" y="4275387"/>
              <a:ext cx="330172" cy="1066800"/>
            </a:xfrm>
            <a:prstGeom prst="ellipse">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333399"/>
                </a:solidFill>
                <a:effectLst/>
                <a:uLnTx/>
                <a:uFillTx/>
                <a:latin typeface="Arial" panose="020B0604020202020204" pitchFamily="34" charset="0"/>
                <a:ea typeface="华文彩云" panose="02010800040101010101" pitchFamily="2" charset="-122"/>
              </a:endParaRPr>
            </a:p>
          </p:txBody>
        </p:sp>
        <p:sp>
          <p:nvSpPr>
            <p:cNvPr id="17" name="Oval 11">
              <a:extLst>
                <a:ext uri="{FF2B5EF4-FFF2-40B4-BE49-F238E27FC236}">
                  <a16:creationId xmlns:a16="http://schemas.microsoft.com/office/drawing/2014/main" id="{54723B68-53CE-4F7C-A027-70E976CE825D}"/>
                </a:ext>
              </a:extLst>
            </p:cNvPr>
            <p:cNvSpPr>
              <a:spLocks noChangeArrowheads="1"/>
            </p:cNvSpPr>
            <p:nvPr/>
          </p:nvSpPr>
          <p:spPr bwMode="auto">
            <a:xfrm rot="-454883">
              <a:off x="1516844" y="4519862"/>
              <a:ext cx="330172" cy="606425"/>
            </a:xfrm>
            <a:prstGeom prst="ellipse">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333399"/>
                </a:solidFill>
                <a:effectLst/>
                <a:uLnTx/>
                <a:uFillTx/>
                <a:latin typeface="Arial" panose="020B0604020202020204" pitchFamily="34" charset="0"/>
                <a:ea typeface="华文彩云" panose="02010800040101010101" pitchFamily="2" charset="-122"/>
              </a:endParaRPr>
            </a:p>
          </p:txBody>
        </p:sp>
        <p:sp>
          <p:nvSpPr>
            <p:cNvPr id="18" name="Oval 12">
              <a:extLst>
                <a:ext uri="{FF2B5EF4-FFF2-40B4-BE49-F238E27FC236}">
                  <a16:creationId xmlns:a16="http://schemas.microsoft.com/office/drawing/2014/main" id="{4F0EDE22-1C16-49BB-BAA9-BE0F65DA86D1}"/>
                </a:ext>
              </a:extLst>
            </p:cNvPr>
            <p:cNvSpPr>
              <a:spLocks noChangeArrowheads="1"/>
            </p:cNvSpPr>
            <p:nvPr/>
          </p:nvSpPr>
          <p:spPr bwMode="auto">
            <a:xfrm rot="4138358">
              <a:off x="2084708" y="4583372"/>
              <a:ext cx="381000" cy="247629"/>
            </a:xfrm>
            <a:prstGeom prst="ellipse">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333399"/>
                </a:solidFill>
                <a:effectLst/>
                <a:uLnTx/>
                <a:uFillTx/>
                <a:latin typeface="Arial" panose="020B0604020202020204" pitchFamily="34" charset="0"/>
                <a:ea typeface="华文彩云" panose="02010800040101010101" pitchFamily="2" charset="-122"/>
              </a:endParaRPr>
            </a:p>
          </p:txBody>
        </p:sp>
        <p:sp>
          <p:nvSpPr>
            <p:cNvPr id="19" name="Freeform 13">
              <a:extLst>
                <a:ext uri="{FF2B5EF4-FFF2-40B4-BE49-F238E27FC236}">
                  <a16:creationId xmlns:a16="http://schemas.microsoft.com/office/drawing/2014/main" id="{69C60918-7603-466A-B7C1-28FF0F8AD32A}"/>
                </a:ext>
              </a:extLst>
            </p:cNvPr>
            <p:cNvSpPr>
              <a:spLocks/>
            </p:cNvSpPr>
            <p:nvPr/>
          </p:nvSpPr>
          <p:spPr bwMode="auto">
            <a:xfrm>
              <a:off x="913247" y="4511925"/>
              <a:ext cx="1836584" cy="842963"/>
            </a:xfrm>
            <a:custGeom>
              <a:avLst/>
              <a:gdLst>
                <a:gd name="T0" fmla="*/ 0 w 1068"/>
                <a:gd name="T1" fmla="*/ 2147483646 h 531"/>
                <a:gd name="T2" fmla="*/ 2147483646 w 1068"/>
                <a:gd name="T3" fmla="*/ 2147483646 h 531"/>
                <a:gd name="T4" fmla="*/ 2147483646 w 1068"/>
                <a:gd name="T5" fmla="*/ 2147483646 h 531"/>
                <a:gd name="T6" fmla="*/ 2147483646 w 1068"/>
                <a:gd name="T7" fmla="*/ 2147483646 h 531"/>
                <a:gd name="T8" fmla="*/ 2147483646 w 1068"/>
                <a:gd name="T9" fmla="*/ 0 h 531"/>
                <a:gd name="T10" fmla="*/ 0 60000 65536"/>
                <a:gd name="T11" fmla="*/ 0 60000 65536"/>
                <a:gd name="T12" fmla="*/ 0 60000 65536"/>
                <a:gd name="T13" fmla="*/ 0 60000 65536"/>
                <a:gd name="T14" fmla="*/ 0 60000 65536"/>
                <a:gd name="T15" fmla="*/ 0 w 1068"/>
                <a:gd name="T16" fmla="*/ 0 h 531"/>
                <a:gd name="T17" fmla="*/ 1068 w 1068"/>
                <a:gd name="T18" fmla="*/ 531 h 531"/>
              </a:gdLst>
              <a:ahLst/>
              <a:cxnLst>
                <a:cxn ang="T10">
                  <a:pos x="T0" y="T1"/>
                </a:cxn>
                <a:cxn ang="T11">
                  <a:pos x="T2" y="T3"/>
                </a:cxn>
                <a:cxn ang="T12">
                  <a:pos x="T4" y="T5"/>
                </a:cxn>
                <a:cxn ang="T13">
                  <a:pos x="T6" y="T7"/>
                </a:cxn>
                <a:cxn ang="T14">
                  <a:pos x="T8" y="T9"/>
                </a:cxn>
              </a:cxnLst>
              <a:rect l="T15" t="T16" r="T17" b="T18"/>
              <a:pathLst>
                <a:path w="1068" h="531">
                  <a:moveTo>
                    <a:pt x="0" y="531"/>
                  </a:moveTo>
                  <a:cubicBezTo>
                    <a:pt x="104" y="519"/>
                    <a:pt x="208" y="507"/>
                    <a:pt x="288" y="483"/>
                  </a:cubicBezTo>
                  <a:cubicBezTo>
                    <a:pt x="368" y="459"/>
                    <a:pt x="385" y="429"/>
                    <a:pt x="480" y="387"/>
                  </a:cubicBezTo>
                  <a:cubicBezTo>
                    <a:pt x="575" y="345"/>
                    <a:pt x="763" y="295"/>
                    <a:pt x="861" y="231"/>
                  </a:cubicBezTo>
                  <a:cubicBezTo>
                    <a:pt x="959" y="167"/>
                    <a:pt x="1036" y="38"/>
                    <a:pt x="1068" y="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grpSp>
    </p:spTree>
    <p:extLst>
      <p:ext uri="{BB962C8B-B14F-4D97-AF65-F5344CB8AC3E}">
        <p14:creationId xmlns:p14="http://schemas.microsoft.com/office/powerpoint/2010/main" val="2376270409"/>
      </p:ext>
    </p:extLst>
  </p:cSld>
  <p:clrMapOvr>
    <a:masterClrMapping/>
  </p:clrMapOvr>
  <p:transition spd="med" advClick="0">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推移表示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扫描表示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09:22</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107FC92A-973D-4190-8802-D6A3EE986632}"/>
              </a:ext>
            </a:extLst>
          </p:cNvPr>
          <p:cNvSpPr txBox="1">
            <a:spLocks noChangeArrowheads="1"/>
          </p:cNvSpPr>
          <p:nvPr/>
        </p:nvSpPr>
        <p:spPr bwMode="auto">
          <a:xfrm>
            <a:off x="376146" y="914400"/>
            <a:ext cx="8391708" cy="3008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latin typeface="宋体" panose="02010600030101010101" pitchFamily="2" charset="-122"/>
                <a:ea typeface="宋体" panose="02010600030101010101" pitchFamily="2" charset="-122"/>
              </a:rPr>
              <a:t>优点</a:t>
            </a:r>
          </a:p>
          <a:p>
            <a:pPr lvl="1"/>
            <a:r>
              <a:rPr lang="zh-CN" altLang="en-US" kern="0" dirty="0">
                <a:latin typeface="宋体" panose="02010600030101010101" pitchFamily="2" charset="-122"/>
                <a:ea typeface="宋体" panose="02010600030101010101" pitchFamily="2" charset="-122"/>
              </a:rPr>
              <a:t>容易构建</a:t>
            </a:r>
            <a:r>
              <a:rPr lang="en-US" altLang="zh-CN" kern="0" dirty="0">
                <a:latin typeface="宋体" panose="02010600030101010101" pitchFamily="2" charset="-122"/>
                <a:ea typeface="宋体" panose="02010600030101010101" pitchFamily="2" charset="-122"/>
              </a:rPr>
              <a:t>,</a:t>
            </a:r>
            <a:r>
              <a:rPr lang="zh-CN" altLang="en-US" kern="0" dirty="0">
                <a:latin typeface="宋体" panose="02010600030101010101" pitchFamily="2" charset="-122"/>
                <a:ea typeface="宋体" panose="02010600030101010101" pitchFamily="2" charset="-122"/>
              </a:rPr>
              <a:t>适合做图形输入手段</a:t>
            </a:r>
          </a:p>
          <a:p>
            <a:r>
              <a:rPr lang="zh-CN" altLang="en-US" sz="2800" kern="0" dirty="0">
                <a:latin typeface="宋体" panose="02010600030101010101" pitchFamily="2" charset="-122"/>
                <a:ea typeface="宋体" panose="02010600030101010101" pitchFamily="2" charset="-122"/>
              </a:rPr>
              <a:t>缺点</a:t>
            </a:r>
            <a:endParaRPr lang="en-US" altLang="zh-CN" sz="2800" kern="0" dirty="0">
              <a:latin typeface="宋体" panose="02010600030101010101" pitchFamily="2" charset="-122"/>
              <a:ea typeface="宋体" panose="02010600030101010101" pitchFamily="2" charset="-122"/>
            </a:endParaRPr>
          </a:p>
          <a:p>
            <a:pPr lvl="1"/>
            <a:r>
              <a:rPr lang="zh-CN" altLang="en-US" kern="0" dirty="0">
                <a:latin typeface="宋体" panose="02010600030101010101" pitchFamily="2" charset="-122"/>
                <a:ea typeface="宋体" panose="02010600030101010101" pitchFamily="2" charset="-122"/>
              </a:rPr>
              <a:t>绘制需要前处理</a:t>
            </a:r>
            <a:r>
              <a:rPr lang="en-US" altLang="zh-CN" kern="0" dirty="0">
                <a:latin typeface="宋体" panose="02010600030101010101" pitchFamily="2" charset="-122"/>
                <a:ea typeface="宋体" panose="02010600030101010101" pitchFamily="2" charset="-122"/>
              </a:rPr>
              <a:t>:</a:t>
            </a:r>
            <a:r>
              <a:rPr lang="zh-CN" altLang="en-US" kern="0" dirty="0">
                <a:latin typeface="宋体" panose="02010600030101010101" pitchFamily="2" charset="-122"/>
                <a:ea typeface="宋体" panose="02010600030101010101" pitchFamily="2" charset="-122"/>
              </a:rPr>
              <a:t>不能直接获取形体的边界信息</a:t>
            </a:r>
            <a:endParaRPr lang="en-US" altLang="zh-CN" kern="0" dirty="0">
              <a:latin typeface="宋体" panose="02010600030101010101" pitchFamily="2" charset="-122"/>
              <a:ea typeface="宋体" panose="02010600030101010101" pitchFamily="2" charset="-122"/>
            </a:endParaRPr>
          </a:p>
          <a:p>
            <a:pPr lvl="1"/>
            <a:r>
              <a:rPr lang="zh-CN" altLang="en-US" kern="0" dirty="0">
                <a:latin typeface="宋体" panose="02010600030101010101" pitchFamily="2" charset="-122"/>
                <a:ea typeface="宋体" panose="02010600030101010101" pitchFamily="2" charset="-122"/>
              </a:rPr>
              <a:t>表示形体的覆盖域有限</a:t>
            </a:r>
          </a:p>
          <a:p>
            <a:endParaRPr lang="zh-CN" altLang="en-US" sz="2800" kern="0" dirty="0">
              <a:latin typeface="宋体" panose="02010600030101010101" pitchFamily="2" charset="-122"/>
              <a:ea typeface="宋体" panose="02010600030101010101" pitchFamily="2" charset="-122"/>
            </a:endParaRPr>
          </a:p>
          <a:p>
            <a:endParaRPr lang="zh-CN" altLang="en-US" kern="0" dirty="0">
              <a:ea typeface="宋体" panose="02010600030101010101" pitchFamily="2" charset="-122"/>
            </a:endParaRPr>
          </a:p>
        </p:txBody>
      </p:sp>
    </p:spTree>
    <p:extLst>
      <p:ext uri="{BB962C8B-B14F-4D97-AF65-F5344CB8AC3E}">
        <p14:creationId xmlns:p14="http://schemas.microsoft.com/office/powerpoint/2010/main" val="3401538824"/>
      </p:ext>
    </p:extLst>
  </p:cSld>
  <p:clrMapOvr>
    <a:masterClrMapping/>
  </p:clrMapOvr>
  <p:transition spd="med" advClick="0">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09:37</a:t>
            </a:fld>
            <a:endParaRPr lang="en-US" altLang="zh-CN" sz="1400" dirty="0">
              <a:solidFill>
                <a:srgbClr val="FAFAFA"/>
              </a:solidFill>
            </a:endParaRPr>
          </a:p>
        </p:txBody>
      </p:sp>
      <p:pic>
        <p:nvPicPr>
          <p:cNvPr id="8" name="Picture 16">
            <a:extLst>
              <a:ext uri="{FF2B5EF4-FFF2-40B4-BE49-F238E27FC236}">
                <a16:creationId xmlns:a16="http://schemas.microsoft.com/office/drawing/2014/main" id="{02D9ADD7-9D69-45D2-B73C-433082CBC1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8145" y="637897"/>
            <a:ext cx="2816225"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CATIA">
            <a:extLst>
              <a:ext uri="{FF2B5EF4-FFF2-40B4-BE49-F238E27FC236}">
                <a16:creationId xmlns:a16="http://schemas.microsoft.com/office/drawing/2014/main" id="{B115F47A-DD57-45DF-BF28-3625D2DEE3E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89488" y="2158842"/>
            <a:ext cx="3406924" cy="255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a:extLst>
              <a:ext uri="{FF2B5EF4-FFF2-40B4-BE49-F238E27FC236}">
                <a16:creationId xmlns:a16="http://schemas.microsoft.com/office/drawing/2014/main" id="{13B36B17-6F87-465F-9E9C-BADAC88F8FD8}"/>
              </a:ext>
            </a:extLst>
          </p:cNvPr>
          <p:cNvSpPr txBox="1">
            <a:spLocks noChangeArrowheads="1"/>
          </p:cNvSpPr>
          <p:nvPr/>
        </p:nvSpPr>
        <p:spPr bwMode="auto">
          <a:xfrm>
            <a:off x="303430" y="756168"/>
            <a:ext cx="5086058" cy="363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边界表示</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多边形网格表示法</a:t>
            </a:r>
            <a:endPar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构造表示</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(CSG)</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333399"/>
                </a:solidFill>
                <a:effectLst/>
                <a:uLnTx/>
                <a:uFillTx/>
                <a:latin typeface="Times New Roman"/>
                <a:ea typeface="宋体" panose="02010600030101010101" pitchFamily="2" charset="-122"/>
                <a:cs typeface="+mn-cs"/>
              </a:rPr>
              <a:t>细分表示</a:t>
            </a:r>
            <a:endParaRPr kumimoji="0" lang="en-US" altLang="zh-CN" sz="2800" b="0" i="0" u="none" strike="noStrike" kern="0" cap="none" spc="0" normalizeH="0" baseline="0" noProof="0" dirty="0">
              <a:ln>
                <a:noFill/>
              </a:ln>
              <a:solidFill>
                <a:srgbClr val="333399"/>
              </a:solidFill>
              <a:effectLst/>
              <a:uLnTx/>
              <a:uFillTx/>
              <a:latin typeface="Times New Roman"/>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枚举</a:t>
            </a:r>
            <a:endPar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八叉树</a:t>
            </a:r>
            <a:endPar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单元</a:t>
            </a:r>
            <a:endPar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建模路线</a:t>
            </a:r>
          </a:p>
        </p:txBody>
      </p:sp>
    </p:spTree>
    <p:extLst>
      <p:ext uri="{BB962C8B-B14F-4D97-AF65-F5344CB8AC3E}">
        <p14:creationId xmlns:p14="http://schemas.microsoft.com/office/powerpoint/2010/main" val="2289435512"/>
      </p:ext>
    </p:extLst>
  </p:cSld>
  <p:clrMapOvr>
    <a:masterClrMapping/>
  </p:clrMapOvr>
  <p:transition spd="med" advClick="0">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空间细分表示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09:38</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2FA0DB49-C00C-46D8-9963-02A3972C1648}"/>
              </a:ext>
            </a:extLst>
          </p:cNvPr>
          <p:cNvSpPr txBox="1">
            <a:spLocks noChangeArrowheads="1"/>
          </p:cNvSpPr>
          <p:nvPr/>
        </p:nvSpPr>
        <p:spPr bwMode="auto">
          <a:xfrm>
            <a:off x="195833" y="743519"/>
            <a:ext cx="8896350" cy="36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zh-CN" altLang="en-US" sz="2800" kern="0" dirty="0">
                <a:solidFill>
                  <a:srgbClr val="003399"/>
                </a:solidFill>
                <a:latin typeface="Times New Roman" panose="02020603050405020304" pitchFamily="18" charset="0"/>
                <a:ea typeface="宋体" panose="02010600030101010101" pitchFamily="2" charset="-122"/>
              </a:rPr>
              <a:t>细分表示（</a:t>
            </a:r>
            <a:r>
              <a:rPr lang="en-US" altLang="zh-CN" sz="2800" kern="0" dirty="0">
                <a:solidFill>
                  <a:srgbClr val="003399"/>
                </a:solidFill>
                <a:latin typeface="Times New Roman" panose="02020603050405020304" pitchFamily="18" charset="0"/>
                <a:ea typeface="宋体" panose="02010600030101010101" pitchFamily="2" charset="-122"/>
              </a:rPr>
              <a:t>Space-partitioning）:</a:t>
            </a:r>
            <a:r>
              <a:rPr lang="zh-CN" altLang="en-US" sz="2800" kern="0" dirty="0">
                <a:latin typeface="Times New Roman" panose="02020603050405020304" pitchFamily="18" charset="0"/>
                <a:ea typeface="宋体" panose="02010600030101010101" pitchFamily="2" charset="-122"/>
              </a:rPr>
              <a:t>将形体按某种规则</a:t>
            </a:r>
            <a:r>
              <a:rPr lang="zh-CN" altLang="en-US" sz="2800" kern="0" dirty="0">
                <a:solidFill>
                  <a:srgbClr val="FF0000"/>
                </a:solidFill>
                <a:latin typeface="Times New Roman" panose="02020603050405020304" pitchFamily="18" charset="0"/>
                <a:ea typeface="宋体" panose="02010600030101010101" pitchFamily="2" charset="-122"/>
              </a:rPr>
              <a:t>分解为小的更易于描述的部分</a:t>
            </a:r>
            <a:r>
              <a:rPr lang="zh-CN" altLang="en-US" sz="2800" kern="0" dirty="0">
                <a:latin typeface="Times New Roman" panose="02020603050405020304" pitchFamily="18" charset="0"/>
                <a:ea typeface="宋体" panose="02010600030101010101" pitchFamily="2" charset="-122"/>
              </a:rPr>
              <a:t>，每一小部分又可分为更小的部分，直至每一小部分都能够直接描述为止。</a:t>
            </a:r>
            <a:endParaRPr lang="en-US" altLang="zh-CN" sz="2800" kern="0" dirty="0">
              <a:latin typeface="Times New Roman" panose="02020603050405020304" pitchFamily="18" charset="0"/>
              <a:ea typeface="宋体" panose="02010600030101010101" pitchFamily="2" charset="-122"/>
            </a:endParaRPr>
          </a:p>
          <a:p>
            <a:pPr eaLnBrk="1" hangingPunct="1"/>
            <a:r>
              <a:rPr lang="zh-CN" altLang="en-US" sz="2800" kern="0" dirty="0">
                <a:latin typeface="Times New Roman" panose="02020603050405020304" pitchFamily="18" charset="0"/>
                <a:ea typeface="宋体" panose="02010600030101010101" pitchFamily="2" charset="-122"/>
              </a:rPr>
              <a:t>人们使用它或是因为原始数据</a:t>
            </a:r>
            <a:r>
              <a:rPr lang="zh-CN" altLang="en-US" sz="2800" b="1" kern="0" dirty="0">
                <a:latin typeface="Times New Roman" panose="02020603050405020304" pitchFamily="18" charset="0"/>
                <a:ea typeface="宋体" panose="02010600030101010101" pitchFamily="2" charset="-122"/>
              </a:rPr>
              <a:t>已是以这种形式存储</a:t>
            </a:r>
            <a:r>
              <a:rPr lang="zh-CN" altLang="en-US" sz="2800" kern="0" dirty="0">
                <a:latin typeface="Times New Roman" panose="02020603050405020304" pitchFamily="18" charset="0"/>
                <a:ea typeface="宋体" panose="02010600030101010101" pitchFamily="2" charset="-122"/>
              </a:rPr>
              <a:t>或原始数据</a:t>
            </a:r>
            <a:r>
              <a:rPr lang="zh-CN" altLang="en-US" sz="2800" b="1" kern="0" dirty="0">
                <a:latin typeface="Times New Roman" panose="02020603050405020304" pitchFamily="18" charset="0"/>
                <a:ea typeface="宋体" panose="02010600030101010101" pitchFamily="2" charset="-122"/>
              </a:rPr>
              <a:t>容易转换</a:t>
            </a:r>
            <a:r>
              <a:rPr lang="zh-CN" altLang="en-US" sz="2800" kern="0" dirty="0">
                <a:latin typeface="Times New Roman" panose="02020603050405020304" pitchFamily="18" charset="0"/>
                <a:ea typeface="宋体" panose="02010600030101010101" pitchFamily="2" charset="-122"/>
              </a:rPr>
              <a:t>成这种表示。另外</a:t>
            </a:r>
            <a:r>
              <a:rPr lang="en-US" altLang="zh-CN" sz="2800" kern="0" dirty="0">
                <a:latin typeface="Times New Roman" panose="02020603050405020304" pitchFamily="18" charset="0"/>
                <a:ea typeface="宋体" panose="02010600030101010101" pitchFamily="2" charset="-122"/>
              </a:rPr>
              <a:t>,</a:t>
            </a:r>
            <a:r>
              <a:rPr lang="zh-CN" altLang="en-US" sz="2800" kern="0" dirty="0">
                <a:latin typeface="Times New Roman" panose="02020603050405020304" pitchFamily="18" charset="0"/>
                <a:ea typeface="宋体" panose="02010600030101010101" pitchFamily="2" charset="-122"/>
              </a:rPr>
              <a:t>在绘制</a:t>
            </a:r>
            <a:r>
              <a:rPr lang="en-US" altLang="zh-CN" sz="2800" kern="0" dirty="0">
                <a:latin typeface="Times New Roman" panose="02020603050405020304" pitchFamily="18" charset="0"/>
                <a:ea typeface="宋体" panose="02010600030101010101" pitchFamily="2" charset="-122"/>
              </a:rPr>
              <a:t>CSG</a:t>
            </a:r>
            <a:r>
              <a:rPr lang="zh-CN" altLang="en-US" sz="2800" kern="0" dirty="0">
                <a:latin typeface="Times New Roman" panose="02020603050405020304" pitchFamily="18" charset="0"/>
                <a:ea typeface="宋体" panose="02010600030101010101" pitchFamily="2" charset="-122"/>
              </a:rPr>
              <a:t>模型时</a:t>
            </a:r>
            <a:r>
              <a:rPr lang="en-US" altLang="zh-CN" sz="2800" kern="0" dirty="0">
                <a:latin typeface="Times New Roman" panose="02020603050405020304" pitchFamily="18" charset="0"/>
                <a:ea typeface="宋体" panose="02010600030101010101" pitchFamily="2" charset="-122"/>
              </a:rPr>
              <a:t>,</a:t>
            </a:r>
            <a:r>
              <a:rPr lang="zh-CN" altLang="en-US" sz="2800" kern="0" dirty="0">
                <a:latin typeface="Times New Roman" panose="02020603050405020304" pitchFamily="18" charset="0"/>
                <a:ea typeface="宋体" panose="02010600030101010101" pitchFamily="2" charset="-122"/>
              </a:rPr>
              <a:t>可以把</a:t>
            </a:r>
            <a:r>
              <a:rPr lang="en-US" altLang="zh-CN" sz="2800" kern="0" dirty="0">
                <a:latin typeface="Times New Roman" panose="02020603050405020304" pitchFamily="18" charset="0"/>
                <a:ea typeface="宋体" panose="02010600030101010101" pitchFamily="2" charset="-122"/>
              </a:rPr>
              <a:t>CSG</a:t>
            </a:r>
            <a:r>
              <a:rPr lang="zh-CN" altLang="en-US" sz="2800" kern="0" dirty="0">
                <a:latin typeface="Times New Roman" panose="02020603050405020304" pitchFamily="18" charset="0"/>
                <a:ea typeface="宋体" panose="02010600030101010101" pitchFamily="2" charset="-122"/>
              </a:rPr>
              <a:t>表示转换成一个中间的含有体素的数据结构</a:t>
            </a:r>
            <a:r>
              <a:rPr lang="en-US" altLang="zh-CN" sz="2800" kern="0" dirty="0">
                <a:latin typeface="Times New Roman" panose="02020603050405020304" pitchFamily="18" charset="0"/>
                <a:ea typeface="宋体" panose="02010600030101010101" pitchFamily="2" charset="-122"/>
              </a:rPr>
              <a:t>,</a:t>
            </a:r>
            <a:r>
              <a:rPr lang="zh-CN" altLang="en-US" sz="2800" kern="0" dirty="0">
                <a:latin typeface="Times New Roman" panose="02020603050405020304" pitchFamily="18" charset="0"/>
                <a:ea typeface="宋体" panose="02010600030101010101" pitchFamily="2" charset="-122"/>
              </a:rPr>
              <a:t>然后从这个数据结构进行光线跟踪绘制</a:t>
            </a:r>
            <a:r>
              <a:rPr lang="en-US" altLang="zh-CN" sz="2800" kern="0" dirty="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1013347957"/>
      </p:ext>
    </p:extLst>
  </p:cSld>
  <p:clrMapOvr>
    <a:masterClrMapping/>
  </p:clrMapOvr>
  <p:transition spd="med" advClick="0">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 细分表示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空间位置枚举表示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09:40</a:t>
            </a:fld>
            <a:endParaRPr lang="en-US" altLang="zh-CN" sz="1400" dirty="0">
              <a:solidFill>
                <a:srgbClr val="FAFAFA"/>
              </a:solidFill>
            </a:endParaRPr>
          </a:p>
        </p:txBody>
      </p:sp>
      <p:sp>
        <p:nvSpPr>
          <p:cNvPr id="7" name="Rectangle 3">
            <a:extLst>
              <a:ext uri="{FF2B5EF4-FFF2-40B4-BE49-F238E27FC236}">
                <a16:creationId xmlns:a16="http://schemas.microsoft.com/office/drawing/2014/main" id="{F72054A0-E21D-46A9-A6D9-97C493D00677}"/>
              </a:ext>
            </a:extLst>
          </p:cNvPr>
          <p:cNvSpPr txBox="1">
            <a:spLocks noChangeArrowheads="1"/>
          </p:cNvSpPr>
          <p:nvPr/>
        </p:nvSpPr>
        <p:spPr bwMode="auto">
          <a:xfrm>
            <a:off x="251520" y="691822"/>
            <a:ext cx="8208912" cy="3287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en-US" altLang="zh-CN" sz="2400" kern="0" dirty="0" err="1">
                <a:latin typeface="Times New Roman" panose="02020603050405020304" pitchFamily="18" charset="0"/>
                <a:ea typeface="宋体" panose="02010600030101010101" pitchFamily="2" charset="-122"/>
              </a:rPr>
              <a:t>形体空间</a:t>
            </a:r>
            <a:r>
              <a:rPr lang="en-US" altLang="zh-CN" sz="2400" kern="0" dirty="0" err="1">
                <a:solidFill>
                  <a:srgbClr val="FF0000"/>
                </a:solidFill>
                <a:latin typeface="Times New Roman" panose="02020603050405020304" pitchFamily="18" charset="0"/>
                <a:ea typeface="宋体" panose="02010600030101010101" pitchFamily="2" charset="-122"/>
              </a:rPr>
              <a:t>细分为小的均匀的立方体单元</a:t>
            </a:r>
            <a:endParaRPr lang="zh-CN" altLang="en-US" sz="2400" kern="0" dirty="0">
              <a:solidFill>
                <a:srgbClr val="FF0000"/>
              </a:solidFill>
              <a:latin typeface="Times New Roman" panose="02020603050405020304" pitchFamily="18" charset="0"/>
              <a:ea typeface="宋体" panose="02010600030101010101" pitchFamily="2" charset="-122"/>
            </a:endParaRPr>
          </a:p>
          <a:p>
            <a:pPr eaLnBrk="1" hangingPunct="1"/>
            <a:r>
              <a:rPr lang="en-US" altLang="zh-CN" sz="2400" kern="0" dirty="0" err="1">
                <a:latin typeface="Times New Roman" panose="02020603050405020304" pitchFamily="18" charset="0"/>
                <a:ea typeface="宋体" panose="02010600030101010101" pitchFamily="2" charset="-122"/>
              </a:rPr>
              <a:t>用三维数组C</a:t>
            </a:r>
            <a:r>
              <a:rPr lang="en-US" altLang="zh-CN" sz="2400" kern="0" dirty="0">
                <a:latin typeface="Times New Roman" panose="02020603050405020304" pitchFamily="18" charset="0"/>
                <a:ea typeface="宋体" panose="02010600030101010101" pitchFamily="2" charset="-122"/>
              </a:rPr>
              <a:t>[I][J][K]</a:t>
            </a:r>
            <a:r>
              <a:rPr lang="en-US" altLang="zh-CN" sz="2400" kern="0" dirty="0" err="1">
                <a:latin typeface="Times New Roman" panose="02020603050405020304" pitchFamily="18" charset="0"/>
                <a:ea typeface="宋体" panose="02010600030101010101" pitchFamily="2" charset="-122"/>
              </a:rPr>
              <a:t>表示物体，数组中的</a:t>
            </a:r>
            <a:r>
              <a:rPr lang="en-US" altLang="zh-CN" sz="2400" kern="0" dirty="0" err="1">
                <a:solidFill>
                  <a:srgbClr val="FF0000"/>
                </a:solidFill>
                <a:latin typeface="Times New Roman" panose="02020603050405020304" pitchFamily="18" charset="0"/>
                <a:ea typeface="宋体" panose="02010600030101010101" pitchFamily="2" charset="-122"/>
              </a:rPr>
              <a:t>元素与单位小立方体一一对应</a:t>
            </a:r>
            <a:endParaRPr lang="zh-CN" altLang="en-US" sz="2400" kern="0" dirty="0">
              <a:solidFill>
                <a:srgbClr val="FF0000"/>
              </a:solidFill>
              <a:latin typeface="Times New Roman" panose="02020603050405020304" pitchFamily="18" charset="0"/>
              <a:ea typeface="宋体" panose="02010600030101010101" pitchFamily="2" charset="-122"/>
            </a:endParaRPr>
          </a:p>
          <a:p>
            <a:pPr lvl="1" eaLnBrk="1" hangingPunct="1"/>
            <a:r>
              <a:rPr lang="zh-CN" altLang="en-US" sz="2400" kern="0" dirty="0">
                <a:latin typeface="Times New Roman" panose="02020603050405020304" pitchFamily="18" charset="0"/>
                <a:ea typeface="宋体" panose="02010600030101010101" pitchFamily="2" charset="-122"/>
              </a:rPr>
              <a:t>当</a:t>
            </a:r>
            <a:r>
              <a:rPr lang="en-US" altLang="zh-CN" sz="2400" kern="0" dirty="0">
                <a:latin typeface="Times New Roman" panose="02020603050405020304" pitchFamily="18" charset="0"/>
                <a:ea typeface="宋体" panose="02010600030101010101" pitchFamily="2" charset="-122"/>
              </a:rPr>
              <a:t>C[I][J][K] = 1</a:t>
            </a:r>
            <a:r>
              <a:rPr lang="zh-CN" altLang="en-US" sz="2400" kern="0" dirty="0">
                <a:latin typeface="Times New Roman" panose="02020603050405020304" pitchFamily="18" charset="0"/>
                <a:ea typeface="宋体" panose="02010600030101010101" pitchFamily="2" charset="-122"/>
              </a:rPr>
              <a:t>时，表示对应的小立方体被物体占据</a:t>
            </a:r>
          </a:p>
          <a:p>
            <a:pPr lvl="1" eaLnBrk="1" hangingPunct="1"/>
            <a:r>
              <a:rPr lang="zh-CN" altLang="en-US" sz="2400" kern="0" dirty="0">
                <a:latin typeface="Times New Roman" panose="02020603050405020304" pitchFamily="18" charset="0"/>
                <a:ea typeface="宋体" panose="02010600030101010101" pitchFamily="2" charset="-122"/>
              </a:rPr>
              <a:t>当</a:t>
            </a:r>
            <a:r>
              <a:rPr lang="en-US" altLang="zh-CN" sz="2400" kern="0" dirty="0">
                <a:latin typeface="Times New Roman" panose="02020603050405020304" pitchFamily="18" charset="0"/>
                <a:ea typeface="宋体" panose="02010600030101010101" pitchFamily="2" charset="-122"/>
              </a:rPr>
              <a:t>C[I][J][K] = 0</a:t>
            </a:r>
            <a:r>
              <a:rPr lang="zh-CN" altLang="en-US" sz="2400" kern="0" dirty="0">
                <a:latin typeface="Times New Roman" panose="02020603050405020304" pitchFamily="18" charset="0"/>
                <a:ea typeface="宋体" panose="02010600030101010101" pitchFamily="2" charset="-122"/>
              </a:rPr>
              <a:t>时，表示对应的小立方体没有被物体占据</a:t>
            </a:r>
          </a:p>
        </p:txBody>
      </p:sp>
      <p:pic>
        <p:nvPicPr>
          <p:cNvPr id="8" name="Picture 6" descr="2p22">
            <a:extLst>
              <a:ext uri="{FF2B5EF4-FFF2-40B4-BE49-F238E27FC236}">
                <a16:creationId xmlns:a16="http://schemas.microsoft.com/office/drawing/2014/main" id="{ECA219DF-0179-4A02-AAD3-80F3D659FAA9}"/>
              </a:ext>
            </a:extLst>
          </p:cNvPr>
          <p:cNvPicPr>
            <a:picLocks noChangeAspect="1" noChangeArrowheads="1"/>
          </p:cNvPicPr>
          <p:nvPr/>
        </p:nvPicPr>
        <p:blipFill>
          <a:blip r:embed="rId5">
            <a:lum contrast="100000"/>
            <a:extLst>
              <a:ext uri="{28A0092B-C50C-407E-A947-70E740481C1C}">
                <a14:useLocalDpi xmlns:a14="http://schemas.microsoft.com/office/drawing/2010/main" val="0"/>
              </a:ext>
            </a:extLst>
          </a:blip>
          <a:srcRect/>
          <a:stretch>
            <a:fillRect/>
          </a:stretch>
        </p:blipFill>
        <p:spPr bwMode="auto">
          <a:xfrm>
            <a:off x="5808732" y="2859782"/>
            <a:ext cx="2692585" cy="190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095344"/>
      </p:ext>
    </p:extLst>
  </p:cSld>
  <p:clrMapOvr>
    <a:masterClrMapping/>
  </p:clrMapOvr>
  <p:transition spd="med" advClick="0">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 细分表示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八叉树表示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09:43</a:t>
            </a:fld>
            <a:endParaRPr lang="en-US" altLang="zh-CN" sz="1400" dirty="0">
              <a:solidFill>
                <a:srgbClr val="FAFAFA"/>
              </a:solidFill>
            </a:endParaRPr>
          </a:p>
        </p:txBody>
      </p:sp>
      <p:sp>
        <p:nvSpPr>
          <p:cNvPr id="7" name="AutoShape 4">
            <a:extLst>
              <a:ext uri="{FF2B5EF4-FFF2-40B4-BE49-F238E27FC236}">
                <a16:creationId xmlns:a16="http://schemas.microsoft.com/office/drawing/2014/main" id="{00309079-7903-4A80-806F-3028E12D2D75}"/>
              </a:ext>
            </a:extLst>
          </p:cNvPr>
          <p:cNvSpPr>
            <a:spLocks noChangeArrowheads="1"/>
          </p:cNvSpPr>
          <p:nvPr/>
        </p:nvSpPr>
        <p:spPr bwMode="auto">
          <a:xfrm>
            <a:off x="2469662" y="3419363"/>
            <a:ext cx="1320800" cy="1143000"/>
          </a:xfrm>
          <a:prstGeom prst="cube">
            <a:avLst>
              <a:gd name="adj" fmla="val 27500"/>
            </a:avLst>
          </a:prstGeom>
          <a:solidFill>
            <a:srgbClr val="333399"/>
          </a:solidFill>
          <a:ln w="28575">
            <a:solidFill>
              <a:srgbClr val="FFFF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8" name="Line 5">
            <a:extLst>
              <a:ext uri="{FF2B5EF4-FFF2-40B4-BE49-F238E27FC236}">
                <a16:creationId xmlns:a16="http://schemas.microsoft.com/office/drawing/2014/main" id="{419AA9DA-5423-4D9E-B2E9-E0A2D5DCAD74}"/>
              </a:ext>
            </a:extLst>
          </p:cNvPr>
          <p:cNvSpPr>
            <a:spLocks noChangeShapeType="1"/>
          </p:cNvSpPr>
          <p:nvPr/>
        </p:nvSpPr>
        <p:spPr bwMode="auto">
          <a:xfrm>
            <a:off x="2469662" y="4105163"/>
            <a:ext cx="990600"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eaLnBrk="0" hangingPunct="0"/>
            <a:endParaRPr lang="zh-CN" altLang="en-US">
              <a:solidFill>
                <a:srgbClr val="000000"/>
              </a:solidFill>
              <a:ea typeface="华文彩云" panose="02010800040101010101" pitchFamily="2" charset="-122"/>
            </a:endParaRPr>
          </a:p>
        </p:txBody>
      </p:sp>
      <p:sp>
        <p:nvSpPr>
          <p:cNvPr id="9" name="Line 6">
            <a:extLst>
              <a:ext uri="{FF2B5EF4-FFF2-40B4-BE49-F238E27FC236}">
                <a16:creationId xmlns:a16="http://schemas.microsoft.com/office/drawing/2014/main" id="{843E39BB-DED0-4D84-8DC8-FDA0FCFA26AC}"/>
              </a:ext>
            </a:extLst>
          </p:cNvPr>
          <p:cNvSpPr>
            <a:spLocks noChangeShapeType="1"/>
          </p:cNvSpPr>
          <p:nvPr/>
        </p:nvSpPr>
        <p:spPr bwMode="auto">
          <a:xfrm>
            <a:off x="2634762" y="3571763"/>
            <a:ext cx="990600"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eaLnBrk="0" hangingPunct="0"/>
            <a:endParaRPr lang="zh-CN" altLang="en-US">
              <a:solidFill>
                <a:srgbClr val="000000"/>
              </a:solidFill>
              <a:ea typeface="华文彩云" panose="02010800040101010101" pitchFamily="2" charset="-122"/>
            </a:endParaRPr>
          </a:p>
        </p:txBody>
      </p:sp>
      <p:sp>
        <p:nvSpPr>
          <p:cNvPr id="10" name="Line 7">
            <a:extLst>
              <a:ext uri="{FF2B5EF4-FFF2-40B4-BE49-F238E27FC236}">
                <a16:creationId xmlns:a16="http://schemas.microsoft.com/office/drawing/2014/main" id="{491B3445-F1CA-4AC4-8040-59BD3E4B3E98}"/>
              </a:ext>
            </a:extLst>
          </p:cNvPr>
          <p:cNvSpPr>
            <a:spLocks noChangeShapeType="1"/>
          </p:cNvSpPr>
          <p:nvPr/>
        </p:nvSpPr>
        <p:spPr bwMode="auto">
          <a:xfrm>
            <a:off x="2964962" y="3724163"/>
            <a:ext cx="0" cy="83820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eaLnBrk="0" hangingPunct="0"/>
            <a:endParaRPr lang="zh-CN" altLang="en-US">
              <a:solidFill>
                <a:srgbClr val="000000"/>
              </a:solidFill>
              <a:ea typeface="华文彩云" panose="02010800040101010101" pitchFamily="2" charset="-122"/>
            </a:endParaRPr>
          </a:p>
        </p:txBody>
      </p:sp>
      <p:sp>
        <p:nvSpPr>
          <p:cNvPr id="12" name="Line 8">
            <a:extLst>
              <a:ext uri="{FF2B5EF4-FFF2-40B4-BE49-F238E27FC236}">
                <a16:creationId xmlns:a16="http://schemas.microsoft.com/office/drawing/2014/main" id="{A1356D55-8871-4D8C-AFE7-DCDDF2B62F81}"/>
              </a:ext>
            </a:extLst>
          </p:cNvPr>
          <p:cNvSpPr>
            <a:spLocks noChangeShapeType="1"/>
          </p:cNvSpPr>
          <p:nvPr/>
        </p:nvSpPr>
        <p:spPr bwMode="auto">
          <a:xfrm>
            <a:off x="3625362" y="3571763"/>
            <a:ext cx="0" cy="83820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eaLnBrk="0" hangingPunct="0"/>
            <a:endParaRPr lang="zh-CN" altLang="en-US">
              <a:solidFill>
                <a:srgbClr val="000000"/>
              </a:solidFill>
              <a:ea typeface="华文彩云" panose="02010800040101010101" pitchFamily="2" charset="-122"/>
            </a:endParaRPr>
          </a:p>
        </p:txBody>
      </p:sp>
      <p:sp>
        <p:nvSpPr>
          <p:cNvPr id="13" name="Line 9">
            <a:extLst>
              <a:ext uri="{FF2B5EF4-FFF2-40B4-BE49-F238E27FC236}">
                <a16:creationId xmlns:a16="http://schemas.microsoft.com/office/drawing/2014/main" id="{7A6DC8DD-5C79-4DA3-B71A-04DC2EBF923E}"/>
              </a:ext>
            </a:extLst>
          </p:cNvPr>
          <p:cNvSpPr>
            <a:spLocks noChangeShapeType="1"/>
          </p:cNvSpPr>
          <p:nvPr/>
        </p:nvSpPr>
        <p:spPr bwMode="auto">
          <a:xfrm flipV="1">
            <a:off x="2964962" y="3419363"/>
            <a:ext cx="330200" cy="30480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eaLnBrk="0" hangingPunct="0"/>
            <a:endParaRPr lang="zh-CN" altLang="en-US">
              <a:solidFill>
                <a:srgbClr val="000000"/>
              </a:solidFill>
              <a:ea typeface="华文彩云" panose="02010800040101010101" pitchFamily="2" charset="-122"/>
            </a:endParaRPr>
          </a:p>
        </p:txBody>
      </p:sp>
      <p:sp>
        <p:nvSpPr>
          <p:cNvPr id="15" name="Line 10">
            <a:extLst>
              <a:ext uri="{FF2B5EF4-FFF2-40B4-BE49-F238E27FC236}">
                <a16:creationId xmlns:a16="http://schemas.microsoft.com/office/drawing/2014/main" id="{00B53745-5D0E-41BB-B254-9FE24E0F4A67}"/>
              </a:ext>
            </a:extLst>
          </p:cNvPr>
          <p:cNvSpPr>
            <a:spLocks noChangeShapeType="1"/>
          </p:cNvSpPr>
          <p:nvPr/>
        </p:nvSpPr>
        <p:spPr bwMode="auto">
          <a:xfrm flipV="1">
            <a:off x="3460262" y="3800363"/>
            <a:ext cx="330200" cy="30480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eaLnBrk="0" hangingPunct="0"/>
            <a:endParaRPr lang="zh-CN" altLang="en-US">
              <a:solidFill>
                <a:srgbClr val="000000"/>
              </a:solidFill>
              <a:ea typeface="华文彩云" panose="02010800040101010101" pitchFamily="2" charset="-122"/>
            </a:endParaRPr>
          </a:p>
        </p:txBody>
      </p:sp>
      <p:pic>
        <p:nvPicPr>
          <p:cNvPr id="16" name="Picture 11" descr="fig4-26a">
            <a:extLst>
              <a:ext uri="{FF2B5EF4-FFF2-40B4-BE49-F238E27FC236}">
                <a16:creationId xmlns:a16="http://schemas.microsoft.com/office/drawing/2014/main" id="{1CD14651-01E6-4EBC-89B9-E4BF9FE3AF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663" y="3399476"/>
            <a:ext cx="1524386" cy="1275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7" name="Text Box 12">
            <a:extLst>
              <a:ext uri="{FF2B5EF4-FFF2-40B4-BE49-F238E27FC236}">
                <a16:creationId xmlns:a16="http://schemas.microsoft.com/office/drawing/2014/main" id="{0C45CF8E-4400-4FF6-A223-821136A56622}"/>
              </a:ext>
            </a:extLst>
          </p:cNvPr>
          <p:cNvSpPr txBox="1">
            <a:spLocks noChangeArrowheads="1"/>
          </p:cNvSpPr>
          <p:nvPr/>
        </p:nvSpPr>
        <p:spPr bwMode="auto">
          <a:xfrm>
            <a:off x="2469662" y="34955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2</a:t>
            </a:r>
          </a:p>
        </p:txBody>
      </p:sp>
      <p:sp>
        <p:nvSpPr>
          <p:cNvPr id="18" name="Text Box 13">
            <a:extLst>
              <a:ext uri="{FF2B5EF4-FFF2-40B4-BE49-F238E27FC236}">
                <a16:creationId xmlns:a16="http://schemas.microsoft.com/office/drawing/2014/main" id="{F0CB8F57-BA3E-4CB9-B58C-C946710115F5}"/>
              </a:ext>
            </a:extLst>
          </p:cNvPr>
          <p:cNvSpPr txBox="1">
            <a:spLocks noChangeArrowheads="1"/>
          </p:cNvSpPr>
          <p:nvPr/>
        </p:nvSpPr>
        <p:spPr bwMode="auto">
          <a:xfrm>
            <a:off x="2964962" y="34955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3</a:t>
            </a:r>
          </a:p>
        </p:txBody>
      </p:sp>
      <p:sp>
        <p:nvSpPr>
          <p:cNvPr id="19" name="Text Box 14">
            <a:extLst>
              <a:ext uri="{FF2B5EF4-FFF2-40B4-BE49-F238E27FC236}">
                <a16:creationId xmlns:a16="http://schemas.microsoft.com/office/drawing/2014/main" id="{07BA56B3-F684-488F-BBEC-C6D3959ACD03}"/>
              </a:ext>
            </a:extLst>
          </p:cNvPr>
          <p:cNvSpPr txBox="1">
            <a:spLocks noChangeArrowheads="1"/>
          </p:cNvSpPr>
          <p:nvPr/>
        </p:nvSpPr>
        <p:spPr bwMode="auto">
          <a:xfrm>
            <a:off x="7670800" y="627534"/>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6</a:t>
            </a:r>
          </a:p>
        </p:txBody>
      </p:sp>
      <p:sp>
        <p:nvSpPr>
          <p:cNvPr id="20" name="Text Box 15">
            <a:extLst>
              <a:ext uri="{FF2B5EF4-FFF2-40B4-BE49-F238E27FC236}">
                <a16:creationId xmlns:a16="http://schemas.microsoft.com/office/drawing/2014/main" id="{72CD25D5-E0EF-4807-93D6-0053CBE2F184}"/>
              </a:ext>
            </a:extLst>
          </p:cNvPr>
          <p:cNvSpPr txBox="1">
            <a:spLocks noChangeArrowheads="1"/>
          </p:cNvSpPr>
          <p:nvPr/>
        </p:nvSpPr>
        <p:spPr bwMode="auto">
          <a:xfrm>
            <a:off x="8166100" y="627534"/>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7</a:t>
            </a:r>
          </a:p>
        </p:txBody>
      </p:sp>
      <p:sp>
        <p:nvSpPr>
          <p:cNvPr id="21" name="Text Box 16">
            <a:extLst>
              <a:ext uri="{FF2B5EF4-FFF2-40B4-BE49-F238E27FC236}">
                <a16:creationId xmlns:a16="http://schemas.microsoft.com/office/drawing/2014/main" id="{28F84728-CE2E-4355-9CFF-79E692509D2E}"/>
              </a:ext>
            </a:extLst>
          </p:cNvPr>
          <p:cNvSpPr txBox="1">
            <a:spLocks noChangeArrowheads="1"/>
          </p:cNvSpPr>
          <p:nvPr/>
        </p:nvSpPr>
        <p:spPr bwMode="auto">
          <a:xfrm>
            <a:off x="2387112" y="4241618"/>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2</a:t>
            </a:r>
          </a:p>
        </p:txBody>
      </p:sp>
      <p:sp>
        <p:nvSpPr>
          <p:cNvPr id="22" name="Text Box 17">
            <a:extLst>
              <a:ext uri="{FF2B5EF4-FFF2-40B4-BE49-F238E27FC236}">
                <a16:creationId xmlns:a16="http://schemas.microsoft.com/office/drawing/2014/main" id="{2D801BC3-A932-454C-92E3-6F1F4DB71E3A}"/>
              </a:ext>
            </a:extLst>
          </p:cNvPr>
          <p:cNvSpPr txBox="1">
            <a:spLocks noChangeArrowheads="1"/>
          </p:cNvSpPr>
          <p:nvPr/>
        </p:nvSpPr>
        <p:spPr bwMode="auto">
          <a:xfrm>
            <a:off x="2387112" y="4546418"/>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0</a:t>
            </a:r>
          </a:p>
        </p:txBody>
      </p:sp>
      <p:sp>
        <p:nvSpPr>
          <p:cNvPr id="23" name="Text Box 18">
            <a:extLst>
              <a:ext uri="{FF2B5EF4-FFF2-40B4-BE49-F238E27FC236}">
                <a16:creationId xmlns:a16="http://schemas.microsoft.com/office/drawing/2014/main" id="{B5A7E2F1-DFCF-4A6C-A570-D294862372FB}"/>
              </a:ext>
            </a:extLst>
          </p:cNvPr>
          <p:cNvSpPr txBox="1">
            <a:spLocks noChangeArrowheads="1"/>
          </p:cNvSpPr>
          <p:nvPr/>
        </p:nvSpPr>
        <p:spPr bwMode="auto">
          <a:xfrm>
            <a:off x="2882412" y="41051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1</a:t>
            </a:r>
          </a:p>
        </p:txBody>
      </p:sp>
      <p:sp>
        <p:nvSpPr>
          <p:cNvPr id="24" name="Text Box 19">
            <a:extLst>
              <a:ext uri="{FF2B5EF4-FFF2-40B4-BE49-F238E27FC236}">
                <a16:creationId xmlns:a16="http://schemas.microsoft.com/office/drawing/2014/main" id="{3780A8E2-5AA5-43D9-9DB6-6C9026C50449}"/>
              </a:ext>
            </a:extLst>
          </p:cNvPr>
          <p:cNvSpPr txBox="1">
            <a:spLocks noChangeArrowheads="1"/>
          </p:cNvSpPr>
          <p:nvPr/>
        </p:nvSpPr>
        <p:spPr bwMode="auto">
          <a:xfrm>
            <a:off x="2882412" y="38003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3</a:t>
            </a:r>
          </a:p>
        </p:txBody>
      </p:sp>
      <p:sp>
        <p:nvSpPr>
          <p:cNvPr id="25" name="Text Box 20">
            <a:extLst>
              <a:ext uri="{FF2B5EF4-FFF2-40B4-BE49-F238E27FC236}">
                <a16:creationId xmlns:a16="http://schemas.microsoft.com/office/drawing/2014/main" id="{A06B5A13-BB4B-492F-8928-F65D775FB4D0}"/>
              </a:ext>
            </a:extLst>
          </p:cNvPr>
          <p:cNvSpPr txBox="1">
            <a:spLocks noChangeArrowheads="1"/>
          </p:cNvSpPr>
          <p:nvPr/>
        </p:nvSpPr>
        <p:spPr bwMode="auto">
          <a:xfrm>
            <a:off x="3212612" y="41051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1</a:t>
            </a:r>
          </a:p>
        </p:txBody>
      </p:sp>
      <p:sp>
        <p:nvSpPr>
          <p:cNvPr id="26" name="Text Box 21">
            <a:extLst>
              <a:ext uri="{FF2B5EF4-FFF2-40B4-BE49-F238E27FC236}">
                <a16:creationId xmlns:a16="http://schemas.microsoft.com/office/drawing/2014/main" id="{02FAB330-DA6D-4F21-AD07-BC497859F69B}"/>
              </a:ext>
            </a:extLst>
          </p:cNvPr>
          <p:cNvSpPr txBox="1">
            <a:spLocks noChangeArrowheads="1"/>
          </p:cNvSpPr>
          <p:nvPr/>
        </p:nvSpPr>
        <p:spPr bwMode="auto">
          <a:xfrm>
            <a:off x="3212612" y="37241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3</a:t>
            </a:r>
          </a:p>
        </p:txBody>
      </p:sp>
      <p:sp>
        <p:nvSpPr>
          <p:cNvPr id="27" name="Text Box 22">
            <a:extLst>
              <a:ext uri="{FF2B5EF4-FFF2-40B4-BE49-F238E27FC236}">
                <a16:creationId xmlns:a16="http://schemas.microsoft.com/office/drawing/2014/main" id="{53FB5F98-C46B-4024-9CDA-F8C57C68A67A}"/>
              </a:ext>
            </a:extLst>
          </p:cNvPr>
          <p:cNvSpPr txBox="1">
            <a:spLocks noChangeArrowheads="1"/>
          </p:cNvSpPr>
          <p:nvPr/>
        </p:nvSpPr>
        <p:spPr bwMode="auto">
          <a:xfrm>
            <a:off x="3377712" y="35717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7</a:t>
            </a:r>
          </a:p>
        </p:txBody>
      </p:sp>
      <p:sp>
        <p:nvSpPr>
          <p:cNvPr id="28" name="Text Box 23">
            <a:extLst>
              <a:ext uri="{FF2B5EF4-FFF2-40B4-BE49-F238E27FC236}">
                <a16:creationId xmlns:a16="http://schemas.microsoft.com/office/drawing/2014/main" id="{B9E8D0EB-B1CC-4805-837D-218E2E864230}"/>
              </a:ext>
            </a:extLst>
          </p:cNvPr>
          <p:cNvSpPr txBox="1">
            <a:spLocks noChangeArrowheads="1"/>
          </p:cNvSpPr>
          <p:nvPr/>
        </p:nvSpPr>
        <p:spPr bwMode="auto">
          <a:xfrm>
            <a:off x="3377712" y="3952763"/>
            <a:ext cx="660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en-US" altLang="zh-CN" sz="1400" b="1">
                <a:solidFill>
                  <a:srgbClr val="FFFFFF"/>
                </a:solidFill>
                <a:latin typeface="Arial" panose="020B0604020202020204" pitchFamily="34" charset="0"/>
                <a:ea typeface="黑体" panose="02010609060101010101" pitchFamily="49" charset="-122"/>
              </a:rPr>
              <a:t>5</a:t>
            </a:r>
          </a:p>
        </p:txBody>
      </p:sp>
      <p:sp>
        <p:nvSpPr>
          <p:cNvPr id="29" name="Oval 24">
            <a:extLst>
              <a:ext uri="{FF2B5EF4-FFF2-40B4-BE49-F238E27FC236}">
                <a16:creationId xmlns:a16="http://schemas.microsoft.com/office/drawing/2014/main" id="{42CC38E7-3B2D-4EB4-8846-336128F29417}"/>
              </a:ext>
            </a:extLst>
          </p:cNvPr>
          <p:cNvSpPr>
            <a:spLocks noChangeArrowheads="1"/>
          </p:cNvSpPr>
          <p:nvPr/>
        </p:nvSpPr>
        <p:spPr bwMode="auto">
          <a:xfrm>
            <a:off x="6669658" y="1785342"/>
            <a:ext cx="247650" cy="228600"/>
          </a:xfrm>
          <a:prstGeom prst="ellipse">
            <a:avLst/>
          </a:prstGeom>
          <a:solidFill>
            <a:srgbClr val="009999"/>
          </a:solidFill>
          <a:ln w="28575">
            <a:solidFill>
              <a:srgbClr val="000000"/>
            </a:solidFill>
            <a:round/>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0" name="Rectangle 25">
            <a:extLst>
              <a:ext uri="{FF2B5EF4-FFF2-40B4-BE49-F238E27FC236}">
                <a16:creationId xmlns:a16="http://schemas.microsoft.com/office/drawing/2014/main" id="{FE911D34-DFB7-438E-8D75-20249C90E6C1}"/>
              </a:ext>
            </a:extLst>
          </p:cNvPr>
          <p:cNvSpPr>
            <a:spLocks noChangeArrowheads="1"/>
          </p:cNvSpPr>
          <p:nvPr/>
        </p:nvSpPr>
        <p:spPr bwMode="auto">
          <a:xfrm>
            <a:off x="5101208" y="2471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2" name="Rectangle 26">
            <a:extLst>
              <a:ext uri="{FF2B5EF4-FFF2-40B4-BE49-F238E27FC236}">
                <a16:creationId xmlns:a16="http://schemas.microsoft.com/office/drawing/2014/main" id="{B2C20040-F1F6-48A7-B65A-3F90D5931B3D}"/>
              </a:ext>
            </a:extLst>
          </p:cNvPr>
          <p:cNvSpPr>
            <a:spLocks noChangeArrowheads="1"/>
          </p:cNvSpPr>
          <p:nvPr/>
        </p:nvSpPr>
        <p:spPr bwMode="auto">
          <a:xfrm>
            <a:off x="5596508" y="2471142"/>
            <a:ext cx="247650" cy="228600"/>
          </a:xfrm>
          <a:prstGeom prst="rect">
            <a:avLst/>
          </a:prstGeom>
          <a:solidFill>
            <a:srgbClr val="333399"/>
          </a:solidFill>
          <a:ln w="28575">
            <a:solidFill>
              <a:srgbClr val="0000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3" name="Rectangle 27">
            <a:extLst>
              <a:ext uri="{FF2B5EF4-FFF2-40B4-BE49-F238E27FC236}">
                <a16:creationId xmlns:a16="http://schemas.microsoft.com/office/drawing/2014/main" id="{1AC26402-72AD-4DA3-9048-41B91D3741B7}"/>
              </a:ext>
            </a:extLst>
          </p:cNvPr>
          <p:cNvSpPr>
            <a:spLocks noChangeArrowheads="1"/>
          </p:cNvSpPr>
          <p:nvPr/>
        </p:nvSpPr>
        <p:spPr bwMode="auto">
          <a:xfrm>
            <a:off x="6091808" y="2471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4" name="Oval 28">
            <a:extLst>
              <a:ext uri="{FF2B5EF4-FFF2-40B4-BE49-F238E27FC236}">
                <a16:creationId xmlns:a16="http://schemas.microsoft.com/office/drawing/2014/main" id="{0063E232-210B-4E18-9010-7A5362970C7D}"/>
              </a:ext>
            </a:extLst>
          </p:cNvPr>
          <p:cNvSpPr>
            <a:spLocks noChangeArrowheads="1"/>
          </p:cNvSpPr>
          <p:nvPr/>
        </p:nvSpPr>
        <p:spPr bwMode="auto">
          <a:xfrm>
            <a:off x="6587108" y="2471142"/>
            <a:ext cx="247650" cy="228600"/>
          </a:xfrm>
          <a:prstGeom prst="ellipse">
            <a:avLst/>
          </a:prstGeom>
          <a:solidFill>
            <a:srgbClr val="009999"/>
          </a:solidFill>
          <a:ln w="28575">
            <a:solidFill>
              <a:srgbClr val="000000"/>
            </a:solidFill>
            <a:round/>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5" name="Rectangle 29">
            <a:extLst>
              <a:ext uri="{FF2B5EF4-FFF2-40B4-BE49-F238E27FC236}">
                <a16:creationId xmlns:a16="http://schemas.microsoft.com/office/drawing/2014/main" id="{7D03B595-C717-4A9F-9D64-45477752CC90}"/>
              </a:ext>
            </a:extLst>
          </p:cNvPr>
          <p:cNvSpPr>
            <a:spLocks noChangeArrowheads="1"/>
          </p:cNvSpPr>
          <p:nvPr/>
        </p:nvSpPr>
        <p:spPr bwMode="auto">
          <a:xfrm>
            <a:off x="7082408" y="2471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6" name="Rectangle 30">
            <a:extLst>
              <a:ext uri="{FF2B5EF4-FFF2-40B4-BE49-F238E27FC236}">
                <a16:creationId xmlns:a16="http://schemas.microsoft.com/office/drawing/2014/main" id="{4D54448C-138D-4EEE-8777-F0A9C13B10D3}"/>
              </a:ext>
            </a:extLst>
          </p:cNvPr>
          <p:cNvSpPr>
            <a:spLocks noChangeArrowheads="1"/>
          </p:cNvSpPr>
          <p:nvPr/>
        </p:nvSpPr>
        <p:spPr bwMode="auto">
          <a:xfrm>
            <a:off x="7495158" y="2471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7" name="Rectangle 31">
            <a:extLst>
              <a:ext uri="{FF2B5EF4-FFF2-40B4-BE49-F238E27FC236}">
                <a16:creationId xmlns:a16="http://schemas.microsoft.com/office/drawing/2014/main" id="{BB996790-7E18-4FAF-B59C-C253319AAB90}"/>
              </a:ext>
            </a:extLst>
          </p:cNvPr>
          <p:cNvSpPr>
            <a:spLocks noChangeArrowheads="1"/>
          </p:cNvSpPr>
          <p:nvPr/>
        </p:nvSpPr>
        <p:spPr bwMode="auto">
          <a:xfrm>
            <a:off x="7907908" y="2471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8" name="Rectangle 32">
            <a:extLst>
              <a:ext uri="{FF2B5EF4-FFF2-40B4-BE49-F238E27FC236}">
                <a16:creationId xmlns:a16="http://schemas.microsoft.com/office/drawing/2014/main" id="{C9AC594B-408C-4314-A941-CBEB5B8AB659}"/>
              </a:ext>
            </a:extLst>
          </p:cNvPr>
          <p:cNvSpPr>
            <a:spLocks noChangeArrowheads="1"/>
          </p:cNvSpPr>
          <p:nvPr/>
        </p:nvSpPr>
        <p:spPr bwMode="auto">
          <a:xfrm>
            <a:off x="8320658" y="2471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39" name="Rectangle 33">
            <a:extLst>
              <a:ext uri="{FF2B5EF4-FFF2-40B4-BE49-F238E27FC236}">
                <a16:creationId xmlns:a16="http://schemas.microsoft.com/office/drawing/2014/main" id="{2173D3D6-F308-47BF-909E-F101B3067A5C}"/>
              </a:ext>
            </a:extLst>
          </p:cNvPr>
          <p:cNvSpPr>
            <a:spLocks noChangeArrowheads="1"/>
          </p:cNvSpPr>
          <p:nvPr/>
        </p:nvSpPr>
        <p:spPr bwMode="auto">
          <a:xfrm>
            <a:off x="5844158" y="3233142"/>
            <a:ext cx="247650" cy="228600"/>
          </a:xfrm>
          <a:prstGeom prst="rect">
            <a:avLst/>
          </a:prstGeom>
          <a:solidFill>
            <a:srgbClr val="333399"/>
          </a:solidFill>
          <a:ln w="28575">
            <a:solidFill>
              <a:srgbClr val="0000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0" name="Oval 34">
            <a:extLst>
              <a:ext uri="{FF2B5EF4-FFF2-40B4-BE49-F238E27FC236}">
                <a16:creationId xmlns:a16="http://schemas.microsoft.com/office/drawing/2014/main" id="{4FB5A105-21F7-471B-9385-A7B835EB1053}"/>
              </a:ext>
            </a:extLst>
          </p:cNvPr>
          <p:cNvSpPr>
            <a:spLocks noChangeArrowheads="1"/>
          </p:cNvSpPr>
          <p:nvPr/>
        </p:nvSpPr>
        <p:spPr bwMode="auto">
          <a:xfrm>
            <a:off x="6339458" y="3233142"/>
            <a:ext cx="247650" cy="228600"/>
          </a:xfrm>
          <a:prstGeom prst="ellipse">
            <a:avLst/>
          </a:prstGeom>
          <a:solidFill>
            <a:srgbClr val="009999"/>
          </a:solidFill>
          <a:ln w="28575">
            <a:solidFill>
              <a:srgbClr val="000000"/>
            </a:solidFill>
            <a:round/>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1" name="Rectangle 35">
            <a:extLst>
              <a:ext uri="{FF2B5EF4-FFF2-40B4-BE49-F238E27FC236}">
                <a16:creationId xmlns:a16="http://schemas.microsoft.com/office/drawing/2014/main" id="{E6402E7C-477A-4016-BB24-1045ED3408FD}"/>
              </a:ext>
            </a:extLst>
          </p:cNvPr>
          <p:cNvSpPr>
            <a:spLocks noChangeArrowheads="1"/>
          </p:cNvSpPr>
          <p:nvPr/>
        </p:nvSpPr>
        <p:spPr bwMode="auto">
          <a:xfrm>
            <a:off x="7247508" y="3233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2" name="Rectangle 36">
            <a:extLst>
              <a:ext uri="{FF2B5EF4-FFF2-40B4-BE49-F238E27FC236}">
                <a16:creationId xmlns:a16="http://schemas.microsoft.com/office/drawing/2014/main" id="{809FB1EB-E041-4658-892D-51815249BB9E}"/>
              </a:ext>
            </a:extLst>
          </p:cNvPr>
          <p:cNvSpPr>
            <a:spLocks noChangeArrowheads="1"/>
          </p:cNvSpPr>
          <p:nvPr/>
        </p:nvSpPr>
        <p:spPr bwMode="auto">
          <a:xfrm>
            <a:off x="7660258" y="3233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3" name="Rectangle 37">
            <a:extLst>
              <a:ext uri="{FF2B5EF4-FFF2-40B4-BE49-F238E27FC236}">
                <a16:creationId xmlns:a16="http://schemas.microsoft.com/office/drawing/2014/main" id="{31B15E17-B7CD-44F2-81DE-5F78725AA5CD}"/>
              </a:ext>
            </a:extLst>
          </p:cNvPr>
          <p:cNvSpPr>
            <a:spLocks noChangeArrowheads="1"/>
          </p:cNvSpPr>
          <p:nvPr/>
        </p:nvSpPr>
        <p:spPr bwMode="auto">
          <a:xfrm>
            <a:off x="8073008" y="3233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4" name="Rectangle 38">
            <a:extLst>
              <a:ext uri="{FF2B5EF4-FFF2-40B4-BE49-F238E27FC236}">
                <a16:creationId xmlns:a16="http://schemas.microsoft.com/office/drawing/2014/main" id="{AA7CBF2A-5289-4BD7-A688-9CDD63F68526}"/>
              </a:ext>
            </a:extLst>
          </p:cNvPr>
          <p:cNvSpPr>
            <a:spLocks noChangeArrowheads="1"/>
          </p:cNvSpPr>
          <p:nvPr/>
        </p:nvSpPr>
        <p:spPr bwMode="auto">
          <a:xfrm>
            <a:off x="8485758" y="32331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5" name="Rectangle 39">
            <a:extLst>
              <a:ext uri="{FF2B5EF4-FFF2-40B4-BE49-F238E27FC236}">
                <a16:creationId xmlns:a16="http://schemas.microsoft.com/office/drawing/2014/main" id="{5132ADBC-37DB-4B39-97C8-0623FE1104A1}"/>
              </a:ext>
            </a:extLst>
          </p:cNvPr>
          <p:cNvSpPr>
            <a:spLocks noChangeArrowheads="1"/>
          </p:cNvSpPr>
          <p:nvPr/>
        </p:nvSpPr>
        <p:spPr bwMode="auto">
          <a:xfrm>
            <a:off x="6752208" y="3233142"/>
            <a:ext cx="247650" cy="228600"/>
          </a:xfrm>
          <a:prstGeom prst="rect">
            <a:avLst/>
          </a:prstGeom>
          <a:solidFill>
            <a:srgbClr val="333399"/>
          </a:solidFill>
          <a:ln w="28575">
            <a:solidFill>
              <a:srgbClr val="0000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6" name="Rectangle 40">
            <a:extLst>
              <a:ext uri="{FF2B5EF4-FFF2-40B4-BE49-F238E27FC236}">
                <a16:creationId xmlns:a16="http://schemas.microsoft.com/office/drawing/2014/main" id="{9487447A-CF61-45AB-B279-1DF182A74F24}"/>
              </a:ext>
            </a:extLst>
          </p:cNvPr>
          <p:cNvSpPr>
            <a:spLocks noChangeArrowheads="1"/>
          </p:cNvSpPr>
          <p:nvPr/>
        </p:nvSpPr>
        <p:spPr bwMode="auto">
          <a:xfrm>
            <a:off x="708240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7" name="Rectangle 41">
            <a:extLst>
              <a:ext uri="{FF2B5EF4-FFF2-40B4-BE49-F238E27FC236}">
                <a16:creationId xmlns:a16="http://schemas.microsoft.com/office/drawing/2014/main" id="{5D1E49A7-AEA3-424E-B6CC-034F3FB88E84}"/>
              </a:ext>
            </a:extLst>
          </p:cNvPr>
          <p:cNvSpPr>
            <a:spLocks noChangeArrowheads="1"/>
          </p:cNvSpPr>
          <p:nvPr/>
        </p:nvSpPr>
        <p:spPr bwMode="auto">
          <a:xfrm>
            <a:off x="749515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8" name="Rectangle 42">
            <a:extLst>
              <a:ext uri="{FF2B5EF4-FFF2-40B4-BE49-F238E27FC236}">
                <a16:creationId xmlns:a16="http://schemas.microsoft.com/office/drawing/2014/main" id="{7F8722B2-E871-4C0F-91FC-E03C1A3EC8FC}"/>
              </a:ext>
            </a:extLst>
          </p:cNvPr>
          <p:cNvSpPr>
            <a:spLocks noChangeArrowheads="1"/>
          </p:cNvSpPr>
          <p:nvPr/>
        </p:nvSpPr>
        <p:spPr bwMode="auto">
          <a:xfrm>
            <a:off x="790790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49" name="Rectangle 43">
            <a:extLst>
              <a:ext uri="{FF2B5EF4-FFF2-40B4-BE49-F238E27FC236}">
                <a16:creationId xmlns:a16="http://schemas.microsoft.com/office/drawing/2014/main" id="{29A55C38-36E9-45FC-9B83-2317EA6A3B7F}"/>
              </a:ext>
            </a:extLst>
          </p:cNvPr>
          <p:cNvSpPr>
            <a:spLocks noChangeArrowheads="1"/>
          </p:cNvSpPr>
          <p:nvPr/>
        </p:nvSpPr>
        <p:spPr bwMode="auto">
          <a:xfrm>
            <a:off x="832065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50" name="Rectangle 44">
            <a:extLst>
              <a:ext uri="{FF2B5EF4-FFF2-40B4-BE49-F238E27FC236}">
                <a16:creationId xmlns:a16="http://schemas.microsoft.com/office/drawing/2014/main" id="{3B6C137F-8E6A-4B00-AB30-F61A80F9F586}"/>
              </a:ext>
            </a:extLst>
          </p:cNvPr>
          <p:cNvSpPr>
            <a:spLocks noChangeArrowheads="1"/>
          </p:cNvSpPr>
          <p:nvPr/>
        </p:nvSpPr>
        <p:spPr bwMode="auto">
          <a:xfrm>
            <a:off x="6669658" y="4071342"/>
            <a:ext cx="247650" cy="228600"/>
          </a:xfrm>
          <a:prstGeom prst="rect">
            <a:avLst/>
          </a:prstGeom>
          <a:solidFill>
            <a:srgbClr val="333399"/>
          </a:solidFill>
          <a:ln w="28575">
            <a:solidFill>
              <a:srgbClr val="0000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51" name="Rectangle 45">
            <a:extLst>
              <a:ext uri="{FF2B5EF4-FFF2-40B4-BE49-F238E27FC236}">
                <a16:creationId xmlns:a16="http://schemas.microsoft.com/office/drawing/2014/main" id="{E0533882-B3F7-4469-97BE-A45F2E1BA38A}"/>
              </a:ext>
            </a:extLst>
          </p:cNvPr>
          <p:cNvSpPr>
            <a:spLocks noChangeArrowheads="1"/>
          </p:cNvSpPr>
          <p:nvPr/>
        </p:nvSpPr>
        <p:spPr bwMode="auto">
          <a:xfrm>
            <a:off x="534885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52" name="Rectangle 46">
            <a:extLst>
              <a:ext uri="{FF2B5EF4-FFF2-40B4-BE49-F238E27FC236}">
                <a16:creationId xmlns:a16="http://schemas.microsoft.com/office/drawing/2014/main" id="{253D2806-0418-4759-A4D5-C1B9AFB172D4}"/>
              </a:ext>
            </a:extLst>
          </p:cNvPr>
          <p:cNvSpPr>
            <a:spLocks noChangeArrowheads="1"/>
          </p:cNvSpPr>
          <p:nvPr/>
        </p:nvSpPr>
        <p:spPr bwMode="auto">
          <a:xfrm>
            <a:off x="584415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53" name="Rectangle 47">
            <a:extLst>
              <a:ext uri="{FF2B5EF4-FFF2-40B4-BE49-F238E27FC236}">
                <a16:creationId xmlns:a16="http://schemas.microsoft.com/office/drawing/2014/main" id="{1A922B9A-1BAB-47F9-A2DC-679B01C187E6}"/>
              </a:ext>
            </a:extLst>
          </p:cNvPr>
          <p:cNvSpPr>
            <a:spLocks noChangeArrowheads="1"/>
          </p:cNvSpPr>
          <p:nvPr/>
        </p:nvSpPr>
        <p:spPr bwMode="auto">
          <a:xfrm>
            <a:off x="6256908" y="4071342"/>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54" name="Line 48">
            <a:extLst>
              <a:ext uri="{FF2B5EF4-FFF2-40B4-BE49-F238E27FC236}">
                <a16:creationId xmlns:a16="http://schemas.microsoft.com/office/drawing/2014/main" id="{36BCBF60-5901-4EC7-BD7D-A345B6EFD048}"/>
              </a:ext>
            </a:extLst>
          </p:cNvPr>
          <p:cNvSpPr>
            <a:spLocks noChangeShapeType="1"/>
          </p:cNvSpPr>
          <p:nvPr/>
        </p:nvSpPr>
        <p:spPr bwMode="auto">
          <a:xfrm flipH="1">
            <a:off x="5348858" y="2013942"/>
            <a:ext cx="132080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55" name="Line 49">
            <a:extLst>
              <a:ext uri="{FF2B5EF4-FFF2-40B4-BE49-F238E27FC236}">
                <a16:creationId xmlns:a16="http://schemas.microsoft.com/office/drawing/2014/main" id="{A2CEF515-EE25-494E-BEDF-2A0AB42EFB45}"/>
              </a:ext>
            </a:extLst>
          </p:cNvPr>
          <p:cNvSpPr>
            <a:spLocks noChangeShapeType="1"/>
          </p:cNvSpPr>
          <p:nvPr/>
        </p:nvSpPr>
        <p:spPr bwMode="auto">
          <a:xfrm flipH="1">
            <a:off x="5844158" y="2090142"/>
            <a:ext cx="82550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56" name="Line 50">
            <a:extLst>
              <a:ext uri="{FF2B5EF4-FFF2-40B4-BE49-F238E27FC236}">
                <a16:creationId xmlns:a16="http://schemas.microsoft.com/office/drawing/2014/main" id="{8A9502B8-A00A-46C6-9AE9-BADD1E4BEEBD}"/>
              </a:ext>
            </a:extLst>
          </p:cNvPr>
          <p:cNvSpPr>
            <a:spLocks noChangeShapeType="1"/>
          </p:cNvSpPr>
          <p:nvPr/>
        </p:nvSpPr>
        <p:spPr bwMode="auto">
          <a:xfrm flipH="1">
            <a:off x="6339458" y="2090142"/>
            <a:ext cx="41275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57" name="Line 51">
            <a:extLst>
              <a:ext uri="{FF2B5EF4-FFF2-40B4-BE49-F238E27FC236}">
                <a16:creationId xmlns:a16="http://schemas.microsoft.com/office/drawing/2014/main" id="{8F1E7050-E9C8-4F12-822A-A979CAAF4FFF}"/>
              </a:ext>
            </a:extLst>
          </p:cNvPr>
          <p:cNvSpPr>
            <a:spLocks noChangeShapeType="1"/>
          </p:cNvSpPr>
          <p:nvPr/>
        </p:nvSpPr>
        <p:spPr bwMode="auto">
          <a:xfrm>
            <a:off x="6752208" y="2166342"/>
            <a:ext cx="0" cy="2286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58" name="Line 52">
            <a:extLst>
              <a:ext uri="{FF2B5EF4-FFF2-40B4-BE49-F238E27FC236}">
                <a16:creationId xmlns:a16="http://schemas.microsoft.com/office/drawing/2014/main" id="{58AC6F3E-F3E7-4850-8F3A-B074F58C216A}"/>
              </a:ext>
            </a:extLst>
          </p:cNvPr>
          <p:cNvSpPr>
            <a:spLocks noChangeShapeType="1"/>
          </p:cNvSpPr>
          <p:nvPr/>
        </p:nvSpPr>
        <p:spPr bwMode="auto">
          <a:xfrm>
            <a:off x="6834758" y="2166342"/>
            <a:ext cx="412750" cy="2286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59" name="Line 53">
            <a:extLst>
              <a:ext uri="{FF2B5EF4-FFF2-40B4-BE49-F238E27FC236}">
                <a16:creationId xmlns:a16="http://schemas.microsoft.com/office/drawing/2014/main" id="{A2175450-910F-4395-A319-6B48F9AA78B4}"/>
              </a:ext>
            </a:extLst>
          </p:cNvPr>
          <p:cNvSpPr>
            <a:spLocks noChangeShapeType="1"/>
          </p:cNvSpPr>
          <p:nvPr/>
        </p:nvSpPr>
        <p:spPr bwMode="auto">
          <a:xfrm>
            <a:off x="6834758" y="2090142"/>
            <a:ext cx="82550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0" name="Line 54">
            <a:extLst>
              <a:ext uri="{FF2B5EF4-FFF2-40B4-BE49-F238E27FC236}">
                <a16:creationId xmlns:a16="http://schemas.microsoft.com/office/drawing/2014/main" id="{9D127AE7-0E98-4E46-87B3-00BB0FE9730D}"/>
              </a:ext>
            </a:extLst>
          </p:cNvPr>
          <p:cNvSpPr>
            <a:spLocks noChangeShapeType="1"/>
          </p:cNvSpPr>
          <p:nvPr/>
        </p:nvSpPr>
        <p:spPr bwMode="auto">
          <a:xfrm>
            <a:off x="6834758" y="2090142"/>
            <a:ext cx="123825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1" name="Line 55">
            <a:extLst>
              <a:ext uri="{FF2B5EF4-FFF2-40B4-BE49-F238E27FC236}">
                <a16:creationId xmlns:a16="http://schemas.microsoft.com/office/drawing/2014/main" id="{2E5A52B8-2312-474A-8C3E-3A2C87EEF1B5}"/>
              </a:ext>
            </a:extLst>
          </p:cNvPr>
          <p:cNvSpPr>
            <a:spLocks noChangeShapeType="1"/>
          </p:cNvSpPr>
          <p:nvPr/>
        </p:nvSpPr>
        <p:spPr bwMode="auto">
          <a:xfrm>
            <a:off x="6917308" y="2013942"/>
            <a:ext cx="156845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2" name="Line 56">
            <a:extLst>
              <a:ext uri="{FF2B5EF4-FFF2-40B4-BE49-F238E27FC236}">
                <a16:creationId xmlns:a16="http://schemas.microsoft.com/office/drawing/2014/main" id="{C4BCE905-B4B0-4085-8522-A707E1722F2B}"/>
              </a:ext>
            </a:extLst>
          </p:cNvPr>
          <p:cNvSpPr>
            <a:spLocks noChangeShapeType="1"/>
          </p:cNvSpPr>
          <p:nvPr/>
        </p:nvSpPr>
        <p:spPr bwMode="auto">
          <a:xfrm flipH="1">
            <a:off x="5513958" y="2775942"/>
            <a:ext cx="107315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3" name="Line 57">
            <a:extLst>
              <a:ext uri="{FF2B5EF4-FFF2-40B4-BE49-F238E27FC236}">
                <a16:creationId xmlns:a16="http://schemas.microsoft.com/office/drawing/2014/main" id="{6FFF6BAB-48A0-4EDF-B290-43AA64075AF4}"/>
              </a:ext>
            </a:extLst>
          </p:cNvPr>
          <p:cNvSpPr>
            <a:spLocks noChangeShapeType="1"/>
          </p:cNvSpPr>
          <p:nvPr/>
        </p:nvSpPr>
        <p:spPr bwMode="auto">
          <a:xfrm flipH="1">
            <a:off x="6009258" y="2775942"/>
            <a:ext cx="57785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4" name="Line 58">
            <a:extLst>
              <a:ext uri="{FF2B5EF4-FFF2-40B4-BE49-F238E27FC236}">
                <a16:creationId xmlns:a16="http://schemas.microsoft.com/office/drawing/2014/main" id="{A5B89B8A-7245-4152-A986-4ACF6841201E}"/>
              </a:ext>
            </a:extLst>
          </p:cNvPr>
          <p:cNvSpPr>
            <a:spLocks noChangeShapeType="1"/>
          </p:cNvSpPr>
          <p:nvPr/>
        </p:nvSpPr>
        <p:spPr bwMode="auto">
          <a:xfrm flipH="1">
            <a:off x="6504558" y="2775942"/>
            <a:ext cx="16510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5" name="Line 59">
            <a:extLst>
              <a:ext uri="{FF2B5EF4-FFF2-40B4-BE49-F238E27FC236}">
                <a16:creationId xmlns:a16="http://schemas.microsoft.com/office/drawing/2014/main" id="{C93CA908-6552-41FB-B93A-201DD82B9C96}"/>
              </a:ext>
            </a:extLst>
          </p:cNvPr>
          <p:cNvSpPr>
            <a:spLocks noChangeShapeType="1"/>
          </p:cNvSpPr>
          <p:nvPr/>
        </p:nvSpPr>
        <p:spPr bwMode="auto">
          <a:xfrm>
            <a:off x="6752208" y="2775942"/>
            <a:ext cx="8255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6" name="Line 60">
            <a:extLst>
              <a:ext uri="{FF2B5EF4-FFF2-40B4-BE49-F238E27FC236}">
                <a16:creationId xmlns:a16="http://schemas.microsoft.com/office/drawing/2014/main" id="{EACC62CD-CADD-46CF-8350-E143C2BBA4AE}"/>
              </a:ext>
            </a:extLst>
          </p:cNvPr>
          <p:cNvSpPr>
            <a:spLocks noChangeShapeType="1"/>
          </p:cNvSpPr>
          <p:nvPr/>
        </p:nvSpPr>
        <p:spPr bwMode="auto">
          <a:xfrm>
            <a:off x="6834758" y="2775942"/>
            <a:ext cx="49530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7" name="Line 61">
            <a:extLst>
              <a:ext uri="{FF2B5EF4-FFF2-40B4-BE49-F238E27FC236}">
                <a16:creationId xmlns:a16="http://schemas.microsoft.com/office/drawing/2014/main" id="{A1374AC9-10C5-4D23-94F9-4330A4E53A52}"/>
              </a:ext>
            </a:extLst>
          </p:cNvPr>
          <p:cNvSpPr>
            <a:spLocks noChangeShapeType="1"/>
          </p:cNvSpPr>
          <p:nvPr/>
        </p:nvSpPr>
        <p:spPr bwMode="auto">
          <a:xfrm>
            <a:off x="6917308" y="2775942"/>
            <a:ext cx="74295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8" name="Line 62">
            <a:extLst>
              <a:ext uri="{FF2B5EF4-FFF2-40B4-BE49-F238E27FC236}">
                <a16:creationId xmlns:a16="http://schemas.microsoft.com/office/drawing/2014/main" id="{7803D900-5898-4E4C-8FD9-989F364DC1EE}"/>
              </a:ext>
            </a:extLst>
          </p:cNvPr>
          <p:cNvSpPr>
            <a:spLocks noChangeShapeType="1"/>
          </p:cNvSpPr>
          <p:nvPr/>
        </p:nvSpPr>
        <p:spPr bwMode="auto">
          <a:xfrm>
            <a:off x="6999858" y="2775942"/>
            <a:ext cx="115570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69" name="Line 63">
            <a:extLst>
              <a:ext uri="{FF2B5EF4-FFF2-40B4-BE49-F238E27FC236}">
                <a16:creationId xmlns:a16="http://schemas.microsoft.com/office/drawing/2014/main" id="{A75CCDE2-4154-498A-B986-B9E2491A361F}"/>
              </a:ext>
            </a:extLst>
          </p:cNvPr>
          <p:cNvSpPr>
            <a:spLocks noChangeShapeType="1"/>
          </p:cNvSpPr>
          <p:nvPr/>
        </p:nvSpPr>
        <p:spPr bwMode="auto">
          <a:xfrm>
            <a:off x="7082408" y="2775942"/>
            <a:ext cx="1485900" cy="381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0" name="Line 64">
            <a:extLst>
              <a:ext uri="{FF2B5EF4-FFF2-40B4-BE49-F238E27FC236}">
                <a16:creationId xmlns:a16="http://schemas.microsoft.com/office/drawing/2014/main" id="{C428A579-6259-4FA1-AA3B-890E33A0B492}"/>
              </a:ext>
            </a:extLst>
          </p:cNvPr>
          <p:cNvSpPr>
            <a:spLocks noChangeShapeType="1"/>
          </p:cNvSpPr>
          <p:nvPr/>
        </p:nvSpPr>
        <p:spPr bwMode="auto">
          <a:xfrm flipH="1">
            <a:off x="5513958" y="3537942"/>
            <a:ext cx="74295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1" name="Line 65">
            <a:extLst>
              <a:ext uri="{FF2B5EF4-FFF2-40B4-BE49-F238E27FC236}">
                <a16:creationId xmlns:a16="http://schemas.microsoft.com/office/drawing/2014/main" id="{C330B7D8-C17C-4B5E-A399-B8D62E20B4C8}"/>
              </a:ext>
            </a:extLst>
          </p:cNvPr>
          <p:cNvSpPr>
            <a:spLocks noChangeShapeType="1"/>
          </p:cNvSpPr>
          <p:nvPr/>
        </p:nvSpPr>
        <p:spPr bwMode="auto">
          <a:xfrm flipH="1">
            <a:off x="6009258" y="3537942"/>
            <a:ext cx="33020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2" name="Line 66">
            <a:extLst>
              <a:ext uri="{FF2B5EF4-FFF2-40B4-BE49-F238E27FC236}">
                <a16:creationId xmlns:a16="http://schemas.microsoft.com/office/drawing/2014/main" id="{2B880645-9FD6-42F7-A088-069B8CB07046}"/>
              </a:ext>
            </a:extLst>
          </p:cNvPr>
          <p:cNvSpPr>
            <a:spLocks noChangeShapeType="1"/>
          </p:cNvSpPr>
          <p:nvPr/>
        </p:nvSpPr>
        <p:spPr bwMode="auto">
          <a:xfrm flipH="1">
            <a:off x="6339458" y="3537942"/>
            <a:ext cx="8255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3" name="Line 67">
            <a:extLst>
              <a:ext uri="{FF2B5EF4-FFF2-40B4-BE49-F238E27FC236}">
                <a16:creationId xmlns:a16="http://schemas.microsoft.com/office/drawing/2014/main" id="{978ED850-FB0A-48C0-A549-B20F529AFEE2}"/>
              </a:ext>
            </a:extLst>
          </p:cNvPr>
          <p:cNvSpPr>
            <a:spLocks noChangeShapeType="1"/>
          </p:cNvSpPr>
          <p:nvPr/>
        </p:nvSpPr>
        <p:spPr bwMode="auto">
          <a:xfrm>
            <a:off x="6422008" y="3537942"/>
            <a:ext cx="33020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4" name="Line 68">
            <a:extLst>
              <a:ext uri="{FF2B5EF4-FFF2-40B4-BE49-F238E27FC236}">
                <a16:creationId xmlns:a16="http://schemas.microsoft.com/office/drawing/2014/main" id="{4D6ED433-9CCB-4546-B55E-6B2CD03A730B}"/>
              </a:ext>
            </a:extLst>
          </p:cNvPr>
          <p:cNvSpPr>
            <a:spLocks noChangeShapeType="1"/>
          </p:cNvSpPr>
          <p:nvPr/>
        </p:nvSpPr>
        <p:spPr bwMode="auto">
          <a:xfrm>
            <a:off x="6504558" y="3537942"/>
            <a:ext cx="57785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5" name="Line 69">
            <a:extLst>
              <a:ext uri="{FF2B5EF4-FFF2-40B4-BE49-F238E27FC236}">
                <a16:creationId xmlns:a16="http://schemas.microsoft.com/office/drawing/2014/main" id="{CD89ADA5-E469-4CC8-9271-29CC5F9DC51F}"/>
              </a:ext>
            </a:extLst>
          </p:cNvPr>
          <p:cNvSpPr>
            <a:spLocks noChangeShapeType="1"/>
          </p:cNvSpPr>
          <p:nvPr/>
        </p:nvSpPr>
        <p:spPr bwMode="auto">
          <a:xfrm>
            <a:off x="6587108" y="3537942"/>
            <a:ext cx="90805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6" name="Line 70">
            <a:extLst>
              <a:ext uri="{FF2B5EF4-FFF2-40B4-BE49-F238E27FC236}">
                <a16:creationId xmlns:a16="http://schemas.microsoft.com/office/drawing/2014/main" id="{727472CD-6713-4652-8FDF-CE6010635E60}"/>
              </a:ext>
            </a:extLst>
          </p:cNvPr>
          <p:cNvSpPr>
            <a:spLocks noChangeShapeType="1"/>
          </p:cNvSpPr>
          <p:nvPr/>
        </p:nvSpPr>
        <p:spPr bwMode="auto">
          <a:xfrm>
            <a:off x="6587108" y="3537942"/>
            <a:ext cx="140335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7" name="Line 71">
            <a:extLst>
              <a:ext uri="{FF2B5EF4-FFF2-40B4-BE49-F238E27FC236}">
                <a16:creationId xmlns:a16="http://schemas.microsoft.com/office/drawing/2014/main" id="{3C4C604B-FF2F-42DE-89A6-A37125504DDE}"/>
              </a:ext>
            </a:extLst>
          </p:cNvPr>
          <p:cNvSpPr>
            <a:spLocks noChangeShapeType="1"/>
          </p:cNvSpPr>
          <p:nvPr/>
        </p:nvSpPr>
        <p:spPr bwMode="auto">
          <a:xfrm>
            <a:off x="6587108" y="3537942"/>
            <a:ext cx="1816100" cy="457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华文彩云" panose="02010800040101010101" pitchFamily="2" charset="-122"/>
            </a:endParaRPr>
          </a:p>
        </p:txBody>
      </p:sp>
      <p:sp>
        <p:nvSpPr>
          <p:cNvPr id="78" name="Oval 72">
            <a:extLst>
              <a:ext uri="{FF2B5EF4-FFF2-40B4-BE49-F238E27FC236}">
                <a16:creationId xmlns:a16="http://schemas.microsoft.com/office/drawing/2014/main" id="{86B04DE1-9B64-4C93-A45E-2B2CB0B72B5A}"/>
              </a:ext>
            </a:extLst>
          </p:cNvPr>
          <p:cNvSpPr>
            <a:spLocks noChangeArrowheads="1"/>
          </p:cNvSpPr>
          <p:nvPr/>
        </p:nvSpPr>
        <p:spPr bwMode="auto">
          <a:xfrm>
            <a:off x="6776020" y="722655"/>
            <a:ext cx="247650" cy="228600"/>
          </a:xfrm>
          <a:prstGeom prst="ellipse">
            <a:avLst/>
          </a:prstGeom>
          <a:solidFill>
            <a:srgbClr val="009999"/>
          </a:solidFill>
          <a:ln w="28575">
            <a:solidFill>
              <a:srgbClr val="000000"/>
            </a:solidFill>
            <a:round/>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79" name="Rectangle 73">
            <a:extLst>
              <a:ext uri="{FF2B5EF4-FFF2-40B4-BE49-F238E27FC236}">
                <a16:creationId xmlns:a16="http://schemas.microsoft.com/office/drawing/2014/main" id="{555AFE60-54FE-47FB-94ED-7D08EC21894B}"/>
              </a:ext>
            </a:extLst>
          </p:cNvPr>
          <p:cNvSpPr>
            <a:spLocks noChangeArrowheads="1"/>
          </p:cNvSpPr>
          <p:nvPr/>
        </p:nvSpPr>
        <p:spPr bwMode="auto">
          <a:xfrm>
            <a:off x="6776020" y="1027455"/>
            <a:ext cx="247650" cy="2286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80" name="Rectangle 74">
            <a:extLst>
              <a:ext uri="{FF2B5EF4-FFF2-40B4-BE49-F238E27FC236}">
                <a16:creationId xmlns:a16="http://schemas.microsoft.com/office/drawing/2014/main" id="{547BFDCC-6AD7-4ADF-B5D3-65BC44A24975}"/>
              </a:ext>
            </a:extLst>
          </p:cNvPr>
          <p:cNvSpPr>
            <a:spLocks noChangeArrowheads="1"/>
          </p:cNvSpPr>
          <p:nvPr/>
        </p:nvSpPr>
        <p:spPr bwMode="auto">
          <a:xfrm>
            <a:off x="6776020" y="1332255"/>
            <a:ext cx="247650" cy="228600"/>
          </a:xfrm>
          <a:prstGeom prst="rect">
            <a:avLst/>
          </a:prstGeom>
          <a:solidFill>
            <a:srgbClr val="333399"/>
          </a:solidFill>
          <a:ln w="28575">
            <a:solidFill>
              <a:srgbClr val="0000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81" name="Text Box 75">
            <a:extLst>
              <a:ext uri="{FF2B5EF4-FFF2-40B4-BE49-F238E27FC236}">
                <a16:creationId xmlns:a16="http://schemas.microsoft.com/office/drawing/2014/main" id="{15585063-D949-433B-8D7E-99E1F1882C8C}"/>
              </a:ext>
            </a:extLst>
          </p:cNvPr>
          <p:cNvSpPr txBox="1">
            <a:spLocks noChangeArrowheads="1"/>
          </p:cNvSpPr>
          <p:nvPr/>
        </p:nvSpPr>
        <p:spPr bwMode="auto">
          <a:xfrm>
            <a:off x="7023670" y="646455"/>
            <a:ext cx="2228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zh-CN" altLang="en-US" sz="1800" b="1" dirty="0">
                <a:solidFill>
                  <a:srgbClr val="003399"/>
                </a:solidFill>
                <a:latin typeface="黑体" panose="02010609060101010101" pitchFamily="49" charset="-122"/>
                <a:ea typeface="黑体" panose="02010609060101010101" pitchFamily="49" charset="-122"/>
              </a:rPr>
              <a:t>具有子孙的节点</a:t>
            </a:r>
            <a:r>
              <a:rPr kumimoji="1" lang="en-US" altLang="zh-CN" sz="1800" b="1" dirty="0">
                <a:solidFill>
                  <a:srgbClr val="003399"/>
                </a:solidFill>
                <a:latin typeface="黑体" panose="02010609060101010101" pitchFamily="49" charset="-122"/>
                <a:ea typeface="黑体" panose="02010609060101010101" pitchFamily="49" charset="-122"/>
              </a:rPr>
              <a:t>(P)</a:t>
            </a:r>
          </a:p>
        </p:txBody>
      </p:sp>
      <p:sp>
        <p:nvSpPr>
          <p:cNvPr id="82" name="Text Box 76">
            <a:extLst>
              <a:ext uri="{FF2B5EF4-FFF2-40B4-BE49-F238E27FC236}">
                <a16:creationId xmlns:a16="http://schemas.microsoft.com/office/drawing/2014/main" id="{5FD6A114-9249-42CF-AF30-2D3903BA302E}"/>
              </a:ext>
            </a:extLst>
          </p:cNvPr>
          <p:cNvSpPr txBox="1">
            <a:spLocks noChangeArrowheads="1"/>
          </p:cNvSpPr>
          <p:nvPr/>
        </p:nvSpPr>
        <p:spPr bwMode="auto">
          <a:xfrm>
            <a:off x="6610920" y="951255"/>
            <a:ext cx="2228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zh-CN" altLang="en-US" sz="1800" b="1">
                <a:solidFill>
                  <a:srgbClr val="003399"/>
                </a:solidFill>
                <a:latin typeface="黑体" panose="02010609060101010101" pitchFamily="49" charset="-122"/>
                <a:ea typeface="黑体" panose="02010609060101010101" pitchFamily="49" charset="-122"/>
              </a:rPr>
              <a:t>空节点</a:t>
            </a:r>
            <a:r>
              <a:rPr kumimoji="1" lang="en-US" altLang="zh-CN" sz="1800" b="1">
                <a:solidFill>
                  <a:srgbClr val="003399"/>
                </a:solidFill>
                <a:latin typeface="黑体" panose="02010609060101010101" pitchFamily="49" charset="-122"/>
                <a:ea typeface="黑体" panose="02010609060101010101" pitchFamily="49" charset="-122"/>
              </a:rPr>
              <a:t>(E)</a:t>
            </a:r>
          </a:p>
        </p:txBody>
      </p:sp>
      <p:sp>
        <p:nvSpPr>
          <p:cNvPr id="83" name="Text Box 77">
            <a:extLst>
              <a:ext uri="{FF2B5EF4-FFF2-40B4-BE49-F238E27FC236}">
                <a16:creationId xmlns:a16="http://schemas.microsoft.com/office/drawing/2014/main" id="{E2683091-EB26-4CE9-8C51-C041B6FA6B98}"/>
              </a:ext>
            </a:extLst>
          </p:cNvPr>
          <p:cNvSpPr txBox="1">
            <a:spLocks noChangeArrowheads="1"/>
          </p:cNvSpPr>
          <p:nvPr/>
        </p:nvSpPr>
        <p:spPr bwMode="auto">
          <a:xfrm>
            <a:off x="6610920" y="1270343"/>
            <a:ext cx="2228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
                <a:srgbClr val="333399"/>
              </a:buClr>
              <a:buSzPct val="80000"/>
              <a:buFont typeface="Wingdings" panose="05000000000000000000" pitchFamily="2" charset="2"/>
              <a:buNone/>
            </a:pPr>
            <a:r>
              <a:rPr kumimoji="1" lang="zh-CN" altLang="en-US" sz="1800" b="1">
                <a:solidFill>
                  <a:srgbClr val="003399"/>
                </a:solidFill>
                <a:latin typeface="黑体" panose="02010609060101010101" pitchFamily="49" charset="-122"/>
                <a:ea typeface="黑体" panose="02010609060101010101" pitchFamily="49" charset="-122"/>
              </a:rPr>
              <a:t>实节点</a:t>
            </a:r>
            <a:r>
              <a:rPr kumimoji="1" lang="en-US" altLang="zh-CN" sz="1800" b="1">
                <a:solidFill>
                  <a:srgbClr val="003399"/>
                </a:solidFill>
                <a:latin typeface="黑体" panose="02010609060101010101" pitchFamily="49" charset="-122"/>
                <a:ea typeface="黑体" panose="02010609060101010101" pitchFamily="49" charset="-122"/>
              </a:rPr>
              <a:t>(F)</a:t>
            </a:r>
          </a:p>
        </p:txBody>
      </p:sp>
      <p:sp>
        <p:nvSpPr>
          <p:cNvPr id="84" name="Rectangle 78">
            <a:extLst>
              <a:ext uri="{FF2B5EF4-FFF2-40B4-BE49-F238E27FC236}">
                <a16:creationId xmlns:a16="http://schemas.microsoft.com/office/drawing/2014/main" id="{2C747630-64F9-4356-AD6A-BE4BCB89E7F2}"/>
              </a:ext>
            </a:extLst>
          </p:cNvPr>
          <p:cNvSpPr>
            <a:spLocks noChangeArrowheads="1"/>
          </p:cNvSpPr>
          <p:nvPr/>
        </p:nvSpPr>
        <p:spPr bwMode="auto">
          <a:xfrm>
            <a:off x="5348858" y="3233142"/>
            <a:ext cx="247650" cy="228600"/>
          </a:xfrm>
          <a:prstGeom prst="rect">
            <a:avLst/>
          </a:prstGeom>
          <a:solidFill>
            <a:srgbClr val="333399"/>
          </a:solidFill>
          <a:ln w="28575">
            <a:solidFill>
              <a:srgbClr val="000000"/>
            </a:solidFill>
            <a:miter lim="800000"/>
            <a:headEnd/>
            <a:tailEnd/>
          </a:ln>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85" name="Rectangle 3">
            <a:extLst>
              <a:ext uri="{FF2B5EF4-FFF2-40B4-BE49-F238E27FC236}">
                <a16:creationId xmlns:a16="http://schemas.microsoft.com/office/drawing/2014/main" id="{BD6E8D8D-EBA5-4ABA-ADCF-4F2ACCDD12AC}"/>
              </a:ext>
            </a:extLst>
          </p:cNvPr>
          <p:cNvSpPr txBox="1">
            <a:spLocks noChangeArrowheads="1"/>
          </p:cNvSpPr>
          <p:nvPr/>
        </p:nvSpPr>
        <p:spPr bwMode="auto">
          <a:xfrm>
            <a:off x="189706" y="700088"/>
            <a:ext cx="4865687" cy="361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lnSpc>
                <a:spcPct val="120000"/>
              </a:lnSpc>
              <a:buNone/>
            </a:pPr>
            <a:r>
              <a:rPr lang="zh-CN" altLang="en-US" sz="2400" kern="0" dirty="0">
                <a:latin typeface="宋体" panose="02010600030101010101" pitchFamily="2" charset="-122"/>
                <a:ea typeface="宋体" panose="02010600030101010101" pitchFamily="2" charset="-122"/>
              </a:rPr>
              <a:t>八叉树表示将外接立方体八等分，如果小立方体完全（不）在形体中则其停止分解；对部分占有的小立方体需进一步分解为直至所有小立方体单元要么全部满，要么全部空，或已分解到规定的分解精度为止。</a:t>
            </a:r>
            <a:endParaRPr lang="zh-CN" altLang="en-US" kern="0" dirty="0">
              <a:ea typeface="宋体" panose="02010600030101010101" pitchFamily="2" charset="-122"/>
            </a:endParaRPr>
          </a:p>
        </p:txBody>
      </p:sp>
    </p:spTree>
    <p:extLst>
      <p:ext uri="{BB962C8B-B14F-4D97-AF65-F5344CB8AC3E}">
        <p14:creationId xmlns:p14="http://schemas.microsoft.com/office/powerpoint/2010/main" val="3758071490"/>
      </p:ext>
    </p:extLst>
  </p:cSld>
  <p:clrMapOvr>
    <a:masterClrMapping/>
  </p:clrMapOvr>
  <p:transition spd="med" advClick="0">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第六章细分表示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八叉树表示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09:50</a:t>
            </a:fld>
            <a:endParaRPr lang="en-US" altLang="zh-CN" sz="1400" dirty="0">
              <a:solidFill>
                <a:srgbClr val="FAFAFA"/>
              </a:solidFill>
            </a:endParaRPr>
          </a:p>
        </p:txBody>
      </p:sp>
      <p:sp>
        <p:nvSpPr>
          <p:cNvPr id="9" name="Rectangle 3">
            <a:extLst>
              <a:ext uri="{FF2B5EF4-FFF2-40B4-BE49-F238E27FC236}">
                <a16:creationId xmlns:a16="http://schemas.microsoft.com/office/drawing/2014/main" id="{861BFA4F-48FD-46BA-91AB-7A382B46203C}"/>
              </a:ext>
            </a:extLst>
          </p:cNvPr>
          <p:cNvSpPr txBox="1">
            <a:spLocks noChangeArrowheads="1"/>
          </p:cNvSpPr>
          <p:nvPr/>
        </p:nvSpPr>
        <p:spPr bwMode="auto">
          <a:xfrm>
            <a:off x="361950" y="600075"/>
            <a:ext cx="84201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zh-CN" altLang="en-US" sz="2400" kern="0" dirty="0">
                <a:latin typeface="宋体" panose="02010600030101010101" pitchFamily="2" charset="-122"/>
                <a:ea typeface="宋体" panose="02010600030101010101" pitchFamily="2" charset="-122"/>
              </a:rPr>
              <a:t>八叉树表示</a:t>
            </a:r>
          </a:p>
          <a:p>
            <a:pPr lvl="1" eaLnBrk="1" hangingPunct="1"/>
            <a:r>
              <a:rPr lang="zh-CN" altLang="en-US" sz="2400" kern="0" dirty="0">
                <a:latin typeface="宋体" panose="02010600030101010101" pitchFamily="2" charset="-122"/>
                <a:ea typeface="宋体" panose="02010600030101010101" pitchFamily="2" charset="-122"/>
              </a:rPr>
              <a:t>对空间位置枚举表示的空间分割方法作了改进：</a:t>
            </a:r>
          </a:p>
          <a:p>
            <a:pPr lvl="1" eaLnBrk="1" hangingPunct="1">
              <a:buFontTx/>
              <a:buNone/>
            </a:pPr>
            <a:r>
              <a:rPr lang="zh-CN" altLang="en-US" sz="2400" kern="0" dirty="0">
                <a:latin typeface="宋体" panose="02010600030101010101" pitchFamily="2" charset="-122"/>
                <a:ea typeface="宋体" panose="02010600030101010101" pitchFamily="2" charset="-122"/>
              </a:rPr>
              <a:t>  均匀分割     自适应分割</a:t>
            </a:r>
          </a:p>
          <a:p>
            <a:pPr lvl="1" eaLnBrk="1" hangingPunct="1"/>
            <a:r>
              <a:rPr lang="zh-CN" altLang="en-US" sz="2400" kern="0" dirty="0">
                <a:latin typeface="宋体" panose="02010600030101010101" pitchFamily="2" charset="-122"/>
                <a:ea typeface="宋体" panose="02010600030101010101" pitchFamily="2" charset="-122"/>
              </a:rPr>
              <a:t>八叉树建立过程</a:t>
            </a:r>
          </a:p>
        </p:txBody>
      </p:sp>
      <p:sp>
        <p:nvSpPr>
          <p:cNvPr id="10" name="AutoShape 4">
            <a:extLst>
              <a:ext uri="{FF2B5EF4-FFF2-40B4-BE49-F238E27FC236}">
                <a16:creationId xmlns:a16="http://schemas.microsoft.com/office/drawing/2014/main" id="{414CE411-4D3A-4AEE-BB49-E3ADF0F27EF0}"/>
              </a:ext>
            </a:extLst>
          </p:cNvPr>
          <p:cNvSpPr>
            <a:spLocks noChangeArrowheads="1"/>
          </p:cNvSpPr>
          <p:nvPr/>
        </p:nvSpPr>
        <p:spPr bwMode="auto">
          <a:xfrm>
            <a:off x="2483768" y="1592262"/>
            <a:ext cx="742950" cy="228600"/>
          </a:xfrm>
          <a:prstGeom prst="rightArrow">
            <a:avLst>
              <a:gd name="adj1" fmla="val 50000"/>
              <a:gd name="adj2" fmla="val 81250"/>
            </a:avLst>
          </a:prstGeom>
          <a:solidFill>
            <a:srgbClr val="000000"/>
          </a:solidFill>
          <a:ln w="12700" cap="sq">
            <a:solidFill>
              <a:srgbClr val="000000"/>
            </a:solidFill>
            <a:miter lim="800000"/>
            <a:headEnd type="none" w="sm" len="sm"/>
            <a:tailEnd type="none" w="sm" len="sm"/>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sp>
        <p:nvSpPr>
          <p:cNvPr id="12" name="Text Box 5">
            <a:extLst>
              <a:ext uri="{FF2B5EF4-FFF2-40B4-BE49-F238E27FC236}">
                <a16:creationId xmlns:a16="http://schemas.microsoft.com/office/drawing/2014/main" id="{9ACA1035-F308-4B4B-953C-0815DC0D4CAA}"/>
              </a:ext>
            </a:extLst>
          </p:cNvPr>
          <p:cNvSpPr txBox="1">
            <a:spLocks noChangeArrowheads="1"/>
          </p:cNvSpPr>
          <p:nvPr/>
        </p:nvSpPr>
        <p:spPr bwMode="auto">
          <a:xfrm>
            <a:off x="308822" y="2430234"/>
            <a:ext cx="8794750" cy="2160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20000"/>
              </a:spcBef>
              <a:spcAft>
                <a:spcPts val="0"/>
              </a:spcAft>
              <a:buClrTx/>
              <a:buSzTx/>
              <a:buFontTx/>
              <a:buChar char="•"/>
              <a:tabLst/>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八叉树的根节点对应整个物体空间</a:t>
            </a:r>
          </a:p>
          <a:p>
            <a:pPr marL="0" marR="0" lvl="0" indent="0" defTabSz="914400" eaLnBrk="1" fontAlgn="auto" latinLnBrk="0" hangingPunct="1">
              <a:lnSpc>
                <a:spcPct val="100000"/>
              </a:lnSpc>
              <a:spcBef>
                <a:spcPct val="20000"/>
              </a:spcBef>
              <a:spcAft>
                <a:spcPts val="0"/>
              </a:spcAft>
              <a:buClrTx/>
              <a:buSzTx/>
              <a:buFontTx/>
              <a:buChar char="•"/>
              <a:tabLst/>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如果它完全被物体占据，将该节点标记为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rPr>
              <a:t>F(Full)</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，算法结束；</a:t>
            </a:r>
          </a:p>
          <a:p>
            <a:pPr marL="0" marR="0" lvl="0" indent="0" defTabSz="914400" eaLnBrk="1" fontAlgn="auto" latinLnBrk="0" hangingPunct="1">
              <a:lnSpc>
                <a:spcPct val="100000"/>
              </a:lnSpc>
              <a:spcBef>
                <a:spcPct val="20000"/>
              </a:spcBef>
              <a:spcAft>
                <a:spcPts val="0"/>
              </a:spcAft>
              <a:buClrTx/>
              <a:buSzTx/>
              <a:buFontTx/>
              <a:buChar char="•"/>
              <a:tabLst/>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如果它内部没有物体，将该节点标记为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rPr>
              <a:t>E(Empty)</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，算法结束；</a:t>
            </a:r>
          </a:p>
          <a:p>
            <a:pPr marL="0" marR="0" lvl="0" indent="0" defTabSz="914400" eaLnBrk="1" fontAlgn="auto" latinLnBrk="0" hangingPunct="1">
              <a:lnSpc>
                <a:spcPct val="100000"/>
              </a:lnSpc>
              <a:spcBef>
                <a:spcPct val="20000"/>
              </a:spcBef>
              <a:spcAft>
                <a:spcPts val="0"/>
              </a:spcAft>
              <a:buClrTx/>
              <a:buSzTx/>
              <a:buFontTx/>
              <a:buChar char="•"/>
              <a:tabLst/>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如果它被物体部分占据，将该节点标记为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rPr>
              <a:t>P(Partial)</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，并将它分割成</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rPr>
              <a:t>8</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rPr>
              <a:t>个子立方体，对每一个子立方体进行同样的处理</a:t>
            </a:r>
          </a:p>
        </p:txBody>
      </p:sp>
    </p:spTree>
    <p:extLst>
      <p:ext uri="{BB962C8B-B14F-4D97-AF65-F5344CB8AC3E}">
        <p14:creationId xmlns:p14="http://schemas.microsoft.com/office/powerpoint/2010/main" val="306567405"/>
      </p:ext>
    </p:extLst>
  </p:cSld>
  <p:clrMapOvr>
    <a:masterClrMapping/>
  </p:clrMapOvr>
  <p:transition spd="med" advClick="0">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 细分表示</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单元细分表示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09:55</a:t>
            </a:fld>
            <a:endParaRPr lang="en-US" altLang="zh-CN" sz="1400" dirty="0">
              <a:solidFill>
                <a:srgbClr val="FAFAFA"/>
              </a:solidFill>
            </a:endParaRPr>
          </a:p>
        </p:txBody>
      </p:sp>
      <p:sp>
        <p:nvSpPr>
          <p:cNvPr id="9" name="Rectangle 3">
            <a:extLst>
              <a:ext uri="{FF2B5EF4-FFF2-40B4-BE49-F238E27FC236}">
                <a16:creationId xmlns:a16="http://schemas.microsoft.com/office/drawing/2014/main" id="{DEE726DE-83B2-4FBD-9C1F-36E8D1F3B1B4}"/>
              </a:ext>
            </a:extLst>
          </p:cNvPr>
          <p:cNvSpPr txBox="1">
            <a:spLocks noChangeArrowheads="1"/>
          </p:cNvSpPr>
          <p:nvPr/>
        </p:nvSpPr>
        <p:spPr bwMode="auto">
          <a:xfrm>
            <a:off x="469277" y="667386"/>
            <a:ext cx="8063163" cy="41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zh-CN" altLang="en-US" sz="2400" kern="0" dirty="0">
                <a:latin typeface="宋体" panose="02010600030101010101" pitchFamily="2" charset="-122"/>
                <a:ea typeface="宋体" panose="02010600030101010101" pitchFamily="2" charset="-122"/>
              </a:rPr>
              <a:t>单元细分表示</a:t>
            </a:r>
          </a:p>
          <a:p>
            <a:pPr lvl="1" eaLnBrk="1" hangingPunct="1"/>
            <a:r>
              <a:rPr lang="zh-CN" altLang="en-US" sz="2400" kern="0" dirty="0">
                <a:latin typeface="宋体" panose="02010600030101010101" pitchFamily="2" charset="-122"/>
                <a:ea typeface="宋体" panose="02010600030101010101" pitchFamily="2" charset="-122"/>
              </a:rPr>
              <a:t>对空间位置枚举表示的空间分割方法作了改进：</a:t>
            </a:r>
          </a:p>
          <a:p>
            <a:pPr lvl="1" eaLnBrk="1" hangingPunct="1">
              <a:buFontTx/>
              <a:buNone/>
            </a:pPr>
            <a:r>
              <a:rPr lang="zh-CN" altLang="en-US" sz="2400" kern="0" dirty="0">
                <a:latin typeface="宋体" panose="02010600030101010101" pitchFamily="2" charset="-122"/>
                <a:ea typeface="宋体" panose="02010600030101010101" pitchFamily="2" charset="-122"/>
              </a:rPr>
              <a:t>  单一体素      多种体素</a:t>
            </a:r>
          </a:p>
          <a:p>
            <a:pPr lvl="1" eaLnBrk="1" hangingPunct="1"/>
            <a:r>
              <a:rPr lang="zh-CN" altLang="en-US" sz="2400" kern="0" dirty="0">
                <a:latin typeface="宋体" panose="02010600030101010101" pitchFamily="2" charset="-122"/>
                <a:ea typeface="宋体" panose="02010600030101010101" pitchFamily="2" charset="-122"/>
              </a:rPr>
              <a:t>三种空间分割方法的比较</a:t>
            </a:r>
          </a:p>
          <a:p>
            <a:pPr lvl="2" eaLnBrk="1" hangingPunct="1"/>
            <a:r>
              <a:rPr lang="zh-CN" altLang="en-US" sz="2000" kern="0" dirty="0">
                <a:latin typeface="宋体" panose="02010600030101010101" pitchFamily="2" charset="-122"/>
                <a:ea typeface="宋体" panose="02010600030101010101" pitchFamily="2" charset="-122"/>
              </a:rPr>
              <a:t>空间位置枚举表示</a:t>
            </a:r>
            <a:r>
              <a:rPr lang="en-US" altLang="zh-CN" sz="2000" kern="0" dirty="0">
                <a:latin typeface="宋体" panose="02010600030101010101" pitchFamily="2" charset="-122"/>
                <a:ea typeface="宋体" panose="02010600030101010101" pitchFamily="2" charset="-122"/>
              </a:rPr>
              <a:t>----</a:t>
            </a:r>
            <a:r>
              <a:rPr lang="zh-CN" altLang="en-US" sz="2000" kern="0" dirty="0">
                <a:solidFill>
                  <a:srgbClr val="003399"/>
                </a:solidFill>
                <a:latin typeface="宋体" panose="02010600030101010101" pitchFamily="2" charset="-122"/>
                <a:ea typeface="宋体" panose="02010600030101010101" pitchFamily="2" charset="-122"/>
              </a:rPr>
              <a:t>同样大小</a:t>
            </a:r>
            <a:r>
              <a:rPr lang="zh-CN" altLang="en-US" sz="2000" kern="0" dirty="0">
                <a:latin typeface="宋体" panose="02010600030101010101" pitchFamily="2" charset="-122"/>
                <a:ea typeface="宋体" panose="02010600030101010101" pitchFamily="2" charset="-122"/>
              </a:rPr>
              <a:t>立方体粘合在一起表示物体</a:t>
            </a:r>
          </a:p>
          <a:p>
            <a:pPr lvl="2" eaLnBrk="1" hangingPunct="1"/>
            <a:r>
              <a:rPr lang="zh-CN" altLang="en-US" sz="2000" kern="0" dirty="0">
                <a:latin typeface="宋体" panose="02010600030101010101" pitchFamily="2" charset="-122"/>
                <a:ea typeface="宋体" panose="02010600030101010101" pitchFamily="2" charset="-122"/>
              </a:rPr>
              <a:t>八叉树表示</a:t>
            </a:r>
            <a:r>
              <a:rPr lang="en-US" altLang="zh-CN" sz="2000" kern="0" dirty="0">
                <a:latin typeface="宋体" panose="02010600030101010101" pitchFamily="2" charset="-122"/>
                <a:ea typeface="宋体" panose="02010600030101010101" pitchFamily="2" charset="-122"/>
              </a:rPr>
              <a:t>----</a:t>
            </a:r>
            <a:r>
              <a:rPr lang="zh-CN" altLang="en-US" sz="2000" kern="0" dirty="0">
                <a:solidFill>
                  <a:srgbClr val="003399"/>
                </a:solidFill>
                <a:latin typeface="宋体" panose="02010600030101010101" pitchFamily="2" charset="-122"/>
                <a:ea typeface="宋体" panose="02010600030101010101" pitchFamily="2" charset="-122"/>
              </a:rPr>
              <a:t>不同大小的立方体</a:t>
            </a:r>
            <a:r>
              <a:rPr lang="zh-CN" altLang="en-US" sz="2000" kern="0" dirty="0">
                <a:latin typeface="宋体" panose="02010600030101010101" pitchFamily="2" charset="-122"/>
                <a:ea typeface="宋体" panose="02010600030101010101" pitchFamily="2" charset="-122"/>
              </a:rPr>
              <a:t>粘合在一起表示物体</a:t>
            </a:r>
          </a:p>
          <a:p>
            <a:pPr lvl="2" eaLnBrk="1" hangingPunct="1"/>
            <a:r>
              <a:rPr lang="zh-CN" altLang="en-US" sz="2000" kern="0" dirty="0">
                <a:latin typeface="宋体" panose="02010600030101010101" pitchFamily="2" charset="-122"/>
                <a:ea typeface="宋体" panose="02010600030101010101" pitchFamily="2" charset="-122"/>
              </a:rPr>
              <a:t>单元细分表示</a:t>
            </a:r>
            <a:r>
              <a:rPr lang="en-US" altLang="zh-CN" sz="2000" kern="0" dirty="0">
                <a:latin typeface="宋体" panose="02010600030101010101" pitchFamily="2" charset="-122"/>
                <a:ea typeface="宋体" panose="02010600030101010101" pitchFamily="2" charset="-122"/>
              </a:rPr>
              <a:t>----</a:t>
            </a:r>
            <a:r>
              <a:rPr lang="zh-CN" altLang="en-US" sz="2000" kern="0" dirty="0">
                <a:solidFill>
                  <a:srgbClr val="003399"/>
                </a:solidFill>
                <a:latin typeface="宋体" panose="02010600030101010101" pitchFamily="2" charset="-122"/>
                <a:ea typeface="宋体" panose="02010600030101010101" pitchFamily="2" charset="-122"/>
              </a:rPr>
              <a:t>多种体素</a:t>
            </a:r>
            <a:r>
              <a:rPr lang="zh-CN" altLang="en-US" sz="2000" kern="0" dirty="0">
                <a:latin typeface="宋体" panose="02010600030101010101" pitchFamily="2" charset="-122"/>
                <a:ea typeface="宋体" panose="02010600030101010101" pitchFamily="2" charset="-122"/>
              </a:rPr>
              <a:t>粘合在一起表示物体</a:t>
            </a:r>
          </a:p>
        </p:txBody>
      </p:sp>
      <p:sp>
        <p:nvSpPr>
          <p:cNvPr id="10" name="AutoShape 4">
            <a:extLst>
              <a:ext uri="{FF2B5EF4-FFF2-40B4-BE49-F238E27FC236}">
                <a16:creationId xmlns:a16="http://schemas.microsoft.com/office/drawing/2014/main" id="{05378CD5-F77C-48BC-8977-425BAC4BCE42}"/>
              </a:ext>
            </a:extLst>
          </p:cNvPr>
          <p:cNvSpPr>
            <a:spLocks noChangeArrowheads="1"/>
          </p:cNvSpPr>
          <p:nvPr/>
        </p:nvSpPr>
        <p:spPr bwMode="auto">
          <a:xfrm>
            <a:off x="2699792" y="1695655"/>
            <a:ext cx="723261" cy="177491"/>
          </a:xfrm>
          <a:prstGeom prst="rightArrow">
            <a:avLst>
              <a:gd name="adj1" fmla="val 50000"/>
              <a:gd name="adj2" fmla="val 90278"/>
            </a:avLst>
          </a:prstGeom>
          <a:solidFill>
            <a:srgbClr val="000000"/>
          </a:solidFill>
          <a:ln w="12700" cap="sq">
            <a:solidFill>
              <a:srgbClr val="000000"/>
            </a:solidFill>
            <a:miter lim="800000"/>
            <a:headEnd type="none" w="sm" len="sm"/>
            <a:tailEnd type="none" w="sm" len="sm"/>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彩云" panose="02010800040101010101" pitchFamily="2" charset="-122"/>
            </a:endParaRPr>
          </a:p>
        </p:txBody>
      </p:sp>
      <p:pic>
        <p:nvPicPr>
          <p:cNvPr id="12" name="Picture 5" descr="2p25">
            <a:extLst>
              <a:ext uri="{FF2B5EF4-FFF2-40B4-BE49-F238E27FC236}">
                <a16:creationId xmlns:a16="http://schemas.microsoft.com/office/drawing/2014/main" id="{9194C348-D77C-4261-8673-91E9F25277DA}"/>
              </a:ext>
            </a:extLst>
          </p:cNvPr>
          <p:cNvPicPr>
            <a:picLocks noChangeAspect="1" noChangeArrowheads="1"/>
          </p:cNvPicPr>
          <p:nvPr/>
        </p:nvPicPr>
        <p:blipFill>
          <a:blip r:embed="rId5">
            <a:lum contrast="100000"/>
            <a:extLst>
              <a:ext uri="{28A0092B-C50C-407E-A947-70E740481C1C}">
                <a14:useLocalDpi xmlns:a14="http://schemas.microsoft.com/office/drawing/2010/main" val="0"/>
              </a:ext>
            </a:extLst>
          </a:blip>
          <a:srcRect/>
          <a:stretch>
            <a:fillRect/>
          </a:stretch>
        </p:blipFill>
        <p:spPr bwMode="auto">
          <a:xfrm>
            <a:off x="1658748" y="3641588"/>
            <a:ext cx="5553895" cy="147642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242496"/>
      </p:ext>
    </p:extLst>
  </p:cSld>
  <p:clrMapOvr>
    <a:masterClrMapping/>
  </p:clrMapOvr>
  <p:transition spd="med" advClick="0">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 细分表示</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09:56</a:t>
            </a:fld>
            <a:endParaRPr lang="en-US" altLang="zh-CN" sz="1400" dirty="0">
              <a:solidFill>
                <a:srgbClr val="FAFAFA"/>
              </a:solidFill>
            </a:endParaRPr>
          </a:p>
        </p:txBody>
      </p:sp>
      <p:sp>
        <p:nvSpPr>
          <p:cNvPr id="8" name="Rectangle 3">
            <a:extLst>
              <a:ext uri="{FF2B5EF4-FFF2-40B4-BE49-F238E27FC236}">
                <a16:creationId xmlns:a16="http://schemas.microsoft.com/office/drawing/2014/main" id="{6D1F7F43-116B-4C11-AD2E-B5AB34B1DE2D}"/>
              </a:ext>
            </a:extLst>
          </p:cNvPr>
          <p:cNvSpPr txBox="1">
            <a:spLocks noChangeArrowheads="1"/>
          </p:cNvSpPr>
          <p:nvPr/>
        </p:nvSpPr>
        <p:spPr bwMode="auto">
          <a:xfrm>
            <a:off x="1" y="679015"/>
            <a:ext cx="8748464" cy="3692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eaLnBrk="1" hangingPunct="1"/>
            <a:r>
              <a:rPr lang="zh-CN" altLang="en-US" kern="0" dirty="0">
                <a:latin typeface="宋体" panose="02010600030101010101" pitchFamily="2" charset="-122"/>
                <a:ea typeface="宋体" panose="02010600030101010101" pitchFamily="2" charset="-122"/>
              </a:rPr>
              <a:t>优点</a:t>
            </a:r>
          </a:p>
          <a:p>
            <a:pPr lvl="2" eaLnBrk="1" hangingPunct="1"/>
            <a:r>
              <a:rPr lang="zh-CN" altLang="en-US" kern="0" dirty="0">
                <a:latin typeface="宋体" panose="02010600030101010101" pitchFamily="2" charset="-122"/>
                <a:ea typeface="宋体" panose="02010600030101010101" pitchFamily="2" charset="-122"/>
              </a:rPr>
              <a:t>数据结构简单，表示范围较广，可以表示任何物体</a:t>
            </a:r>
          </a:p>
          <a:p>
            <a:pPr lvl="2" eaLnBrk="1" hangingPunct="1"/>
            <a:r>
              <a:rPr lang="zh-CN" altLang="en-US" kern="0" dirty="0">
                <a:latin typeface="宋体" panose="02010600030101010101" pitchFamily="2" charset="-122"/>
                <a:ea typeface="宋体" panose="02010600030101010101" pitchFamily="2" charset="-122"/>
              </a:rPr>
              <a:t>较好的控制性</a:t>
            </a:r>
            <a:r>
              <a:rPr lang="en-US" altLang="zh-CN" kern="0" dirty="0">
                <a:latin typeface="宋体" panose="02010600030101010101" pitchFamily="2" charset="-122"/>
                <a:ea typeface="宋体" panose="02010600030101010101" pitchFamily="2" charset="-122"/>
              </a:rPr>
              <a:t>:</a:t>
            </a:r>
            <a:r>
              <a:rPr lang="zh-CN" altLang="en-US" kern="0" dirty="0">
                <a:latin typeface="宋体" panose="02010600030101010101" pitchFamily="2" charset="-122"/>
                <a:ea typeface="宋体" panose="02010600030101010101" pitchFamily="2" charset="-122"/>
              </a:rPr>
              <a:t>容易实现物体间的交、并、差集合运算</a:t>
            </a:r>
          </a:p>
          <a:p>
            <a:pPr lvl="2" eaLnBrk="1" hangingPunct="1"/>
            <a:r>
              <a:rPr lang="zh-CN" altLang="en-US" kern="0" dirty="0">
                <a:latin typeface="宋体" panose="02010600030101010101" pitchFamily="2" charset="-122"/>
                <a:ea typeface="宋体" panose="02010600030101010101" pitchFamily="2" charset="-122"/>
              </a:rPr>
              <a:t>消隐</a:t>
            </a:r>
            <a:r>
              <a:rPr lang="en-US" altLang="zh-CN" kern="0" dirty="0">
                <a:latin typeface="宋体" panose="02010600030101010101" pitchFamily="2" charset="-122"/>
                <a:ea typeface="宋体" panose="02010600030101010101" pitchFamily="2" charset="-122"/>
              </a:rPr>
              <a:t>:</a:t>
            </a:r>
            <a:r>
              <a:rPr lang="zh-CN" altLang="en-US" kern="0" dirty="0">
                <a:latin typeface="宋体" panose="02010600030101010101" pitchFamily="2" charset="-122"/>
                <a:ea typeface="宋体" panose="02010600030101010101" pitchFamily="2" charset="-122"/>
              </a:rPr>
              <a:t>八叉树表示可简化隐藏线（或面）的消除，因为其中形体上各元素已按空间位置排成了一定的顺序。</a:t>
            </a:r>
          </a:p>
          <a:p>
            <a:pPr lvl="1" eaLnBrk="1" hangingPunct="1"/>
            <a:r>
              <a:rPr lang="zh-CN" altLang="en-US" kern="0" dirty="0">
                <a:latin typeface="宋体" panose="02010600030101010101" pitchFamily="2" charset="-122"/>
                <a:ea typeface="宋体" panose="02010600030101010101" pitchFamily="2" charset="-122"/>
              </a:rPr>
              <a:t>缺点</a:t>
            </a:r>
            <a:endParaRPr lang="en-US" altLang="zh-CN" kern="0" dirty="0">
              <a:latin typeface="宋体" panose="02010600030101010101" pitchFamily="2" charset="-122"/>
              <a:ea typeface="宋体" panose="02010600030101010101" pitchFamily="2" charset="-122"/>
            </a:endParaRPr>
          </a:p>
          <a:p>
            <a:pPr lvl="2" eaLnBrk="1" hangingPunct="1"/>
            <a:r>
              <a:rPr lang="zh-CN" altLang="en-US" kern="0" dirty="0">
                <a:latin typeface="宋体" panose="02010600030101010101" pitchFamily="2" charset="-122"/>
                <a:ea typeface="宋体" panose="02010600030101010101" pitchFamily="2" charset="-122"/>
              </a:rPr>
              <a:t>占用大量的存储空间</a:t>
            </a:r>
            <a:endParaRPr lang="en-US" altLang="zh-CN" kern="0" dirty="0">
              <a:latin typeface="宋体" panose="02010600030101010101" pitchFamily="2" charset="-122"/>
              <a:ea typeface="宋体" panose="02010600030101010101" pitchFamily="2" charset="-122"/>
            </a:endParaRPr>
          </a:p>
          <a:p>
            <a:pPr lvl="2" eaLnBrk="1" hangingPunct="1">
              <a:lnSpc>
                <a:spcPct val="90000"/>
              </a:lnSpc>
            </a:pPr>
            <a:r>
              <a:rPr lang="zh-CN" altLang="en-US" kern="0" dirty="0">
                <a:latin typeface="宋体" panose="02010600030101010101" pitchFamily="2" charset="-122"/>
                <a:ea typeface="宋体" panose="02010600030101010101" pitchFamily="2" charset="-122"/>
              </a:rPr>
              <a:t>没有边界信息，不适于图形显示</a:t>
            </a:r>
            <a:endParaRPr lang="en-US" altLang="zh-CN" kern="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35573320"/>
      </p:ext>
    </p:extLst>
  </p:cSld>
  <p:clrMapOvr>
    <a:masterClrMapping/>
  </p:clrMapOvr>
  <p:transition spd="med" advClick="0">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09:58</a:t>
            </a:fld>
            <a:endParaRPr lang="en-US" altLang="zh-CN" sz="1400" dirty="0">
              <a:solidFill>
                <a:srgbClr val="FAFAFA"/>
              </a:solidFill>
            </a:endParaRPr>
          </a:p>
        </p:txBody>
      </p:sp>
      <p:pic>
        <p:nvPicPr>
          <p:cNvPr id="8" name="Picture 16">
            <a:extLst>
              <a:ext uri="{FF2B5EF4-FFF2-40B4-BE49-F238E27FC236}">
                <a16:creationId xmlns:a16="http://schemas.microsoft.com/office/drawing/2014/main" id="{02D9ADD7-9D69-45D2-B73C-433082CBC1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8145" y="637897"/>
            <a:ext cx="2816225"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CATIA">
            <a:extLst>
              <a:ext uri="{FF2B5EF4-FFF2-40B4-BE49-F238E27FC236}">
                <a16:creationId xmlns:a16="http://schemas.microsoft.com/office/drawing/2014/main" id="{B115F47A-DD57-45DF-BF28-3625D2DEE3E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89488" y="2158842"/>
            <a:ext cx="3406924" cy="255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a:extLst>
              <a:ext uri="{FF2B5EF4-FFF2-40B4-BE49-F238E27FC236}">
                <a16:creationId xmlns:a16="http://schemas.microsoft.com/office/drawing/2014/main" id="{007EE0E6-9FD1-4119-A064-8FF42064A0AC}"/>
              </a:ext>
            </a:extLst>
          </p:cNvPr>
          <p:cNvSpPr txBox="1">
            <a:spLocks noChangeArrowheads="1"/>
          </p:cNvSpPr>
          <p:nvPr/>
        </p:nvSpPr>
        <p:spPr bwMode="auto">
          <a:xfrm>
            <a:off x="368297" y="791346"/>
            <a:ext cx="6392962" cy="397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边界表示</a:t>
            </a:r>
            <a:r>
              <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多边形网格表示法</a:t>
            </a:r>
            <a:endPar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构造表示</a:t>
            </a:r>
            <a:r>
              <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(CSG)</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细分表示</a:t>
            </a:r>
            <a:endPar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333399"/>
                </a:solidFill>
                <a:effectLst/>
                <a:uLnTx/>
                <a:uFillTx/>
                <a:latin typeface="Times New Roman"/>
                <a:ea typeface="宋体" panose="02010600030101010101" pitchFamily="2" charset="-122"/>
                <a:cs typeface="+mn-cs"/>
              </a:rPr>
              <a:t>建模路线</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altLang="zh-CN" b="0" i="0" u="none" strike="noStrike" kern="0" cap="none" spc="0" normalizeH="0" baseline="0" noProof="0" dirty="0">
              <a:ln>
                <a:noFill/>
              </a:ln>
              <a:solidFill>
                <a:srgbClr val="333399"/>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311517399"/>
      </p:ext>
    </p:extLst>
  </p:cSld>
  <p:clrMapOvr>
    <a:masterClrMapping/>
  </p:clrMapOvr>
  <p:transition spd="med" advClick="0">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建模路线</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09:58</a:t>
            </a:fld>
            <a:endParaRPr lang="en-US" altLang="zh-CN" sz="1400" dirty="0">
              <a:solidFill>
                <a:srgbClr val="FAFAFA"/>
              </a:solidFill>
            </a:endParaRPr>
          </a:p>
        </p:txBody>
      </p:sp>
      <p:sp>
        <p:nvSpPr>
          <p:cNvPr id="7" name="文本占位符 2">
            <a:extLst>
              <a:ext uri="{FF2B5EF4-FFF2-40B4-BE49-F238E27FC236}">
                <a16:creationId xmlns:a16="http://schemas.microsoft.com/office/drawing/2014/main" id="{0EB77523-4928-4053-A5F0-051D2D8EDE2C}"/>
              </a:ext>
            </a:extLst>
          </p:cNvPr>
          <p:cNvSpPr txBox="1">
            <a:spLocks noChangeArrowheads="1"/>
          </p:cNvSpPr>
          <p:nvPr/>
        </p:nvSpPr>
        <p:spPr bwMode="auto">
          <a:xfrm>
            <a:off x="91580" y="631416"/>
            <a:ext cx="6948264" cy="3476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两条路线</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基于</a:t>
            </a:r>
            <a:r>
              <a:rPr kumimoji="0" lang="zh-CN" altLang="en-US" b="0" i="0" u="none" strike="noStrike" kern="0" cap="none" spc="0" normalizeH="0" baseline="0" noProof="0" dirty="0">
                <a:ln>
                  <a:noFill/>
                </a:ln>
                <a:solidFill>
                  <a:srgbClr val="FF0000"/>
                </a:solidFill>
                <a:effectLst/>
                <a:uLnTx/>
                <a:uFillTx/>
                <a:latin typeface="Times New Roman"/>
                <a:ea typeface="宋体" panose="02010600030101010101" pitchFamily="2" charset="-122"/>
              </a:rPr>
              <a:t>体</a:t>
            </a: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的方法</a:t>
            </a:r>
            <a:r>
              <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b="0" i="0" u="none" strike="noStrike" kern="0" cap="none" spc="0" normalizeH="0" baseline="0" noProof="0" dirty="0">
                <a:ln>
                  <a:noFill/>
                </a:ln>
                <a:solidFill>
                  <a:srgbClr val="FF0000"/>
                </a:solidFill>
                <a:effectLst/>
                <a:uLnTx/>
                <a:uFillTx/>
                <a:latin typeface="Times New Roman"/>
                <a:ea typeface="宋体" panose="02010600030101010101" pitchFamily="2" charset="-122"/>
              </a:rPr>
              <a:t>构造表示</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基于</a:t>
            </a:r>
            <a:r>
              <a:rPr kumimoji="0" lang="zh-CN" altLang="en-US" b="0" i="0" u="none" strike="noStrike" kern="0" cap="none" spc="0" normalizeH="0" baseline="0" noProof="0" dirty="0">
                <a:ln>
                  <a:noFill/>
                </a:ln>
                <a:solidFill>
                  <a:srgbClr val="FF0000"/>
                </a:solidFill>
                <a:effectLst/>
                <a:uLnTx/>
                <a:uFillTx/>
                <a:latin typeface="Times New Roman"/>
                <a:ea typeface="宋体" panose="02010600030101010101" pitchFamily="2" charset="-122"/>
              </a:rPr>
              <a:t>面</a:t>
            </a: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的方法</a:t>
            </a:r>
            <a:r>
              <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b="0" i="0" u="none" strike="noStrike" kern="0" cap="none" spc="0" normalizeH="0" baseline="0" noProof="0" dirty="0">
                <a:ln>
                  <a:noFill/>
                </a:ln>
                <a:solidFill>
                  <a:srgbClr val="000000"/>
                </a:solidFill>
                <a:effectLst/>
                <a:uLnTx/>
                <a:uFillTx/>
                <a:latin typeface="Times New Roman"/>
                <a:ea typeface="宋体" panose="02010600030101010101" pitchFamily="2" charset="-122"/>
              </a:rPr>
              <a:t>曲线曲面</a:t>
            </a:r>
            <a:r>
              <a:rPr kumimoji="0" lang="en-US" altLang="zh-CN"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b="0" i="0" u="none" strike="noStrike" kern="0" cap="none" spc="0" normalizeH="0" baseline="0" noProof="0" dirty="0">
                <a:ln>
                  <a:noFill/>
                </a:ln>
                <a:solidFill>
                  <a:srgbClr val="FF0000"/>
                </a:solidFill>
                <a:effectLst/>
                <a:uLnTx/>
                <a:uFillTx/>
                <a:latin typeface="Times New Roman"/>
                <a:ea typeface="宋体" panose="02010600030101010101" pitchFamily="2" charset="-122"/>
              </a:rPr>
              <a:t>边界表示</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基于体的路线在</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CAD</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领域常用到</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强调的是一种与实际加工过程相似的方法</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如切</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钻等</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实体造型研究如何在计算机内定义</a:t>
            </a:r>
            <a:r>
              <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a:t>
            </a:r>
            <a:r>
              <a:rPr kumimoji="0" lang="zh-CN" altLang="en-US" sz="2800" b="0" i="0" u="none" strike="noStrike" kern="0" cap="none" spc="0" normalizeH="0" baseline="0" noProof="0" dirty="0">
                <a:ln>
                  <a:noFill/>
                </a:ln>
                <a:solidFill>
                  <a:srgbClr val="000000"/>
                </a:solidFill>
                <a:effectLst/>
                <a:uLnTx/>
                <a:uFillTx/>
                <a:latin typeface="Times New Roman"/>
                <a:ea typeface="宋体" panose="02010600030101010101" pitchFamily="2" charset="-122"/>
              </a:rPr>
              <a:t>表示一个三维物体</a:t>
            </a:r>
            <a:endParaRPr kumimoji="0" lang="en-US" altLang="zh-CN" sz="2800" b="0" i="0" u="none" strike="noStrike" kern="0" cap="none" spc="0" normalizeH="0" baseline="0" noProof="0" dirty="0">
              <a:ln>
                <a:noFill/>
              </a:ln>
              <a:solidFill>
                <a:srgbClr val="000000"/>
              </a:solidFill>
              <a:effectLst/>
              <a:uLnTx/>
              <a:uFillTx/>
              <a:latin typeface="Times New Roman"/>
              <a:ea typeface="宋体" panose="02010600030101010101" pitchFamily="2" charset="-122"/>
            </a:endParaRPr>
          </a:p>
        </p:txBody>
      </p:sp>
      <p:pic>
        <p:nvPicPr>
          <p:cNvPr id="8" name="图片 6" descr="面具建模.gif">
            <a:extLst>
              <a:ext uri="{FF2B5EF4-FFF2-40B4-BE49-F238E27FC236}">
                <a16:creationId xmlns:a16="http://schemas.microsoft.com/office/drawing/2014/main" id="{52CC6578-1996-4A45-98C4-3601C46B56E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83880" y="2355726"/>
            <a:ext cx="2160119" cy="2424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733438"/>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checkerboard(across)">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checkerboard(across)">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checkerboard(across)">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10:04</a:t>
            </a:fld>
            <a:endParaRPr lang="en-US" altLang="zh-CN" sz="1400" dirty="0">
              <a:solidFill>
                <a:srgbClr val="FAFAFA"/>
              </a:solidFill>
            </a:endParaRPr>
          </a:p>
        </p:txBody>
      </p:sp>
      <p:pic>
        <p:nvPicPr>
          <p:cNvPr id="7" name="Picture 2" descr="http://www.visionunion.com/admin/data/file/img/20080827/20080827001702.jpg">
            <a:extLst>
              <a:ext uri="{FF2B5EF4-FFF2-40B4-BE49-F238E27FC236}">
                <a16:creationId xmlns:a16="http://schemas.microsoft.com/office/drawing/2014/main" id="{6C9D8C9D-671E-42B4-A4E9-4ECFADB147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28162"/>
            <a:ext cx="3786759" cy="2469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http://www.visionunion.com/admin/data/file/img/20080827/20080827001703.jpg">
            <a:extLst>
              <a:ext uri="{FF2B5EF4-FFF2-40B4-BE49-F238E27FC236}">
                <a16:creationId xmlns:a16="http://schemas.microsoft.com/office/drawing/2014/main" id="{775E9784-3C4E-4080-B32E-23AF35E883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9417" y="91877"/>
            <a:ext cx="3681987" cy="2364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http://www.visionunion.com/admin/data/file/img/20080827/20080827001704.jpg">
            <a:extLst>
              <a:ext uri="{FF2B5EF4-FFF2-40B4-BE49-F238E27FC236}">
                <a16:creationId xmlns:a16="http://schemas.microsoft.com/office/drawing/2014/main" id="{76449D6D-6F33-46B8-A4F5-27ED961F41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658" y="2497788"/>
            <a:ext cx="3801726" cy="242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descr="http://www.visionunion.com/admin/data/file/img/20080827/20080827001705.jpg">
            <a:extLst>
              <a:ext uri="{FF2B5EF4-FFF2-40B4-BE49-F238E27FC236}">
                <a16:creationId xmlns:a16="http://schemas.microsoft.com/office/drawing/2014/main" id="{150D5031-43B0-4C1E-A641-C05CA1C618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9417" y="2518752"/>
            <a:ext cx="3816693" cy="242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6618821"/>
      </p:ext>
    </p:extLst>
  </p:cSld>
  <p:clrMapOvr>
    <a:masterClrMapping/>
  </p:clrMapOvr>
  <p:transition spd="med" advClick="0">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建模路线</a:t>
            </a: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10:05</a:t>
            </a:fld>
            <a:endParaRPr lang="en-US" altLang="zh-CN" sz="1400" dirty="0">
              <a:solidFill>
                <a:srgbClr val="FAFAFA"/>
              </a:solidFill>
            </a:endParaRPr>
          </a:p>
        </p:txBody>
      </p:sp>
      <p:sp>
        <p:nvSpPr>
          <p:cNvPr id="7" name="文本占位符 2">
            <a:extLst>
              <a:ext uri="{FF2B5EF4-FFF2-40B4-BE49-F238E27FC236}">
                <a16:creationId xmlns:a16="http://schemas.microsoft.com/office/drawing/2014/main" id="{2C39F8C6-156F-4E04-B876-DE530F80C9FE}"/>
              </a:ext>
            </a:extLst>
          </p:cNvPr>
          <p:cNvSpPr txBox="1">
            <a:spLocks noChangeArrowheads="1"/>
          </p:cNvSpPr>
          <p:nvPr/>
        </p:nvSpPr>
        <p:spPr bwMode="auto">
          <a:xfrm>
            <a:off x="323528" y="696538"/>
            <a:ext cx="7937822"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zh-CN" altLang="en-US" sz="2800" kern="0" dirty="0">
                <a:ea typeface="宋体" panose="02010600030101010101" pitchFamily="2" charset="-122"/>
              </a:rPr>
              <a:t>基于</a:t>
            </a:r>
            <a:r>
              <a:rPr lang="zh-CN" altLang="en-US" sz="2800" kern="0" dirty="0">
                <a:solidFill>
                  <a:srgbClr val="FF0000"/>
                </a:solidFill>
                <a:ea typeface="宋体" panose="02010600030101010101" pitchFamily="2" charset="-122"/>
              </a:rPr>
              <a:t>面的路线</a:t>
            </a:r>
            <a:r>
              <a:rPr lang="zh-CN" altLang="en-US" sz="2800" kern="0" dirty="0">
                <a:ea typeface="宋体" panose="02010600030101010101" pitchFamily="2" charset="-122"/>
              </a:rPr>
              <a:t>没有体的概念</a:t>
            </a:r>
            <a:r>
              <a:rPr lang="en-US" altLang="zh-CN" sz="2800" kern="0" dirty="0">
                <a:ea typeface="宋体" panose="02010600030101010101" pitchFamily="2" charset="-122"/>
              </a:rPr>
              <a:t>,</a:t>
            </a:r>
            <a:r>
              <a:rPr lang="zh-CN" altLang="en-US" sz="2800" kern="0" dirty="0">
                <a:ea typeface="宋体" panose="02010600030101010101" pitchFamily="2" charset="-122"/>
              </a:rPr>
              <a:t>它认为</a:t>
            </a:r>
            <a:r>
              <a:rPr lang="zh-CN" altLang="en-US" sz="2800" kern="0" dirty="0">
                <a:solidFill>
                  <a:srgbClr val="FF0000"/>
                </a:solidFill>
                <a:ea typeface="宋体" panose="02010600030101010101" pitchFamily="2" charset="-122"/>
              </a:rPr>
              <a:t>所有物体都是由表面组成</a:t>
            </a:r>
            <a:r>
              <a:rPr lang="en-US" altLang="zh-CN" sz="2800" kern="0" dirty="0">
                <a:ea typeface="宋体" panose="02010600030101010101" pitchFamily="2" charset="-122"/>
              </a:rPr>
              <a:t>.</a:t>
            </a:r>
            <a:r>
              <a:rPr lang="zh-CN" altLang="en-US" sz="2800" kern="0" dirty="0">
                <a:ea typeface="宋体" panose="02010600030101010101" pitchFamily="2" charset="-122"/>
              </a:rPr>
              <a:t>它允许对物体表面直接操纵</a:t>
            </a:r>
            <a:r>
              <a:rPr lang="en-US" altLang="zh-CN" sz="2800" kern="0" dirty="0">
                <a:ea typeface="宋体" panose="02010600030101010101" pitchFamily="2" charset="-122"/>
              </a:rPr>
              <a:t>-</a:t>
            </a:r>
            <a:r>
              <a:rPr lang="zh-CN" altLang="en-US" sz="2800" kern="0" dirty="0">
                <a:ea typeface="宋体" panose="02010600030101010101" pitchFamily="2" charset="-122"/>
              </a:rPr>
              <a:t>曲面造型研究在计算机内如何描述一张曲面</a:t>
            </a:r>
            <a:r>
              <a:rPr lang="en-US" altLang="zh-CN" sz="2800" kern="0" dirty="0">
                <a:ea typeface="宋体" panose="02010600030101010101" pitchFamily="2" charset="-122"/>
              </a:rPr>
              <a:t>,</a:t>
            </a:r>
            <a:r>
              <a:rPr lang="zh-CN" altLang="en-US" sz="2800" kern="0" dirty="0">
                <a:ea typeface="宋体" panose="02010600030101010101" pitchFamily="2" charset="-122"/>
              </a:rPr>
              <a:t>如何对它的形状进行交互式显示与控制</a:t>
            </a:r>
            <a:r>
              <a:rPr lang="en-US" altLang="zh-CN" sz="2800" kern="0" dirty="0">
                <a:ea typeface="宋体" panose="02010600030101010101" pitchFamily="2" charset="-122"/>
              </a:rPr>
              <a:t>.</a:t>
            </a:r>
          </a:p>
          <a:p>
            <a:endParaRPr lang="en-US" altLang="zh-CN" sz="2800" kern="0" dirty="0">
              <a:ea typeface="宋体" panose="02010600030101010101" pitchFamily="2" charset="-122"/>
            </a:endParaRPr>
          </a:p>
          <a:p>
            <a:endParaRPr lang="en-US" altLang="zh-CN" sz="2800" kern="0" dirty="0">
              <a:ea typeface="宋体" panose="02010600030101010101" pitchFamily="2" charset="-122"/>
            </a:endParaRPr>
          </a:p>
          <a:p>
            <a:endParaRPr lang="en-US" altLang="zh-CN" sz="2800" kern="0" dirty="0">
              <a:ea typeface="宋体" panose="02010600030101010101" pitchFamily="2" charset="-122"/>
            </a:endParaRPr>
          </a:p>
        </p:txBody>
      </p:sp>
      <p:pic>
        <p:nvPicPr>
          <p:cNvPr id="8" name="Picture 16">
            <a:extLst>
              <a:ext uri="{FF2B5EF4-FFF2-40B4-BE49-F238E27FC236}">
                <a16:creationId xmlns:a16="http://schemas.microsoft.com/office/drawing/2014/main" id="{DB7D6125-7B09-4298-98FB-E85D0EBC82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7301" y="2499742"/>
            <a:ext cx="3377357" cy="2277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8101694"/>
      </p:ext>
    </p:extLst>
  </p:cSld>
  <p:clrMapOvr>
    <a:masterClrMapping/>
  </p:clrMapOvr>
  <p:transition spd="med" advClick="0">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10:07</a:t>
            </a:fld>
            <a:endParaRPr lang="en-US" altLang="zh-CN" sz="1400" dirty="0">
              <a:solidFill>
                <a:srgbClr val="FAFAFA"/>
              </a:solidFill>
            </a:endParaRPr>
          </a:p>
        </p:txBody>
      </p:sp>
      <p:pic>
        <p:nvPicPr>
          <p:cNvPr id="7" name="Picture 2" descr="http://www.molds.cn/tp/news/200612/20061217170550123.jpg">
            <a:extLst>
              <a:ext uri="{FF2B5EF4-FFF2-40B4-BE49-F238E27FC236}">
                <a16:creationId xmlns:a16="http://schemas.microsoft.com/office/drawing/2014/main" id="{F8EABDE1-A2DC-4CD9-A8A0-04D34BD5FE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4042" y="41713"/>
            <a:ext cx="2749054" cy="207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http://www.yiduz.cn/jiaocheng/UploadPic/2008-5/20085213160882.jpg">
            <a:extLst>
              <a:ext uri="{FF2B5EF4-FFF2-40B4-BE49-F238E27FC236}">
                <a16:creationId xmlns:a16="http://schemas.microsoft.com/office/drawing/2014/main" id="{41276F27-94CB-4E81-9C6F-66864EA1EB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20" y="38931"/>
            <a:ext cx="3140794" cy="1867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http://dngz.net/upfile/tuxingchuli/Image/200841921233876577809.jpg">
            <a:extLst>
              <a:ext uri="{FF2B5EF4-FFF2-40B4-BE49-F238E27FC236}">
                <a16:creationId xmlns:a16="http://schemas.microsoft.com/office/drawing/2014/main" id="{CBAFF5FB-7D6E-454E-BDAB-D43C47308E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5976" y="2214563"/>
            <a:ext cx="2326387" cy="254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descr="http://news.newhua.com/Files/Remoteupfile/2007-12/29/1195728_10.jpg">
            <a:extLst>
              <a:ext uri="{FF2B5EF4-FFF2-40B4-BE49-F238E27FC236}">
                <a16:creationId xmlns:a16="http://schemas.microsoft.com/office/drawing/2014/main" id="{59D11555-A3A4-48A1-BE8A-85F9211B46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120" y="2084946"/>
            <a:ext cx="2540584" cy="265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9161435"/>
      </p:ext>
    </p:extLst>
  </p:cSld>
  <p:clrMapOvr>
    <a:masterClrMapping/>
  </p:clrMapOvr>
  <p:transition spd="med" advClick="0">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10:07</a:t>
            </a:fld>
            <a:endParaRPr lang="en-US" altLang="zh-CN" sz="1400" dirty="0">
              <a:solidFill>
                <a:srgbClr val="FAFAFA"/>
              </a:solidFill>
            </a:endParaRPr>
          </a:p>
        </p:txBody>
      </p:sp>
      <p:sp>
        <p:nvSpPr>
          <p:cNvPr id="7" name="文本占位符 2">
            <a:extLst>
              <a:ext uri="{FF2B5EF4-FFF2-40B4-BE49-F238E27FC236}">
                <a16:creationId xmlns:a16="http://schemas.microsoft.com/office/drawing/2014/main" id="{48022405-9531-4944-9C39-852BF689A7C2}"/>
              </a:ext>
            </a:extLst>
          </p:cNvPr>
          <p:cNvSpPr txBox="1">
            <a:spLocks/>
          </p:cNvSpPr>
          <p:nvPr/>
        </p:nvSpPr>
        <p:spPr bwMode="auto">
          <a:xfrm>
            <a:off x="276349" y="731429"/>
            <a:ext cx="8591301" cy="3532188"/>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dirty="0">
                <a:solidFill>
                  <a:srgbClr val="000000"/>
                </a:solidFill>
                <a:latin typeface="Times New Roman"/>
              </a:rPr>
              <a:t>曲面造型与实体造型相互支持</a:t>
            </a:r>
            <a:r>
              <a:rPr lang="zh-CN" altLang="en-US" sz="2800" kern="0" dirty="0">
                <a:solidFill>
                  <a:srgbClr val="FF0000"/>
                </a:solidFill>
                <a:latin typeface="Times New Roman"/>
              </a:rPr>
              <a:t>相互补充</a:t>
            </a:r>
            <a:r>
              <a:rPr lang="en-US" altLang="zh-CN" sz="2800" kern="0" dirty="0">
                <a:solidFill>
                  <a:srgbClr val="000000"/>
                </a:solidFill>
                <a:latin typeface="Times New Roman"/>
              </a:rPr>
              <a:t>.</a:t>
            </a:r>
          </a:p>
          <a:p>
            <a:pPr marL="342900" indent="-342900" eaLnBrk="0" hangingPunct="0">
              <a:spcBef>
                <a:spcPct val="20000"/>
              </a:spcBef>
              <a:buFontTx/>
              <a:buChar char="•"/>
              <a:defRPr/>
            </a:pPr>
            <a:r>
              <a:rPr lang="zh-CN" altLang="en-US" sz="2800" kern="0" dirty="0">
                <a:solidFill>
                  <a:srgbClr val="000000"/>
                </a:solidFill>
                <a:latin typeface="Times New Roman"/>
              </a:rPr>
              <a:t>光有曲面造型</a:t>
            </a:r>
            <a:r>
              <a:rPr lang="en-US" altLang="zh-CN" sz="2800" kern="0" dirty="0">
                <a:solidFill>
                  <a:srgbClr val="000000"/>
                </a:solidFill>
                <a:latin typeface="Times New Roman"/>
              </a:rPr>
              <a:t>,</a:t>
            </a:r>
            <a:r>
              <a:rPr lang="zh-CN" altLang="en-US" sz="2800" kern="0" dirty="0">
                <a:solidFill>
                  <a:srgbClr val="000000"/>
                </a:solidFill>
                <a:latin typeface="Times New Roman"/>
              </a:rPr>
              <a:t>无法计算和分析物体的许多整体性质如体积</a:t>
            </a:r>
            <a:r>
              <a:rPr lang="en-US" altLang="zh-CN" sz="2800" kern="0" dirty="0">
                <a:solidFill>
                  <a:srgbClr val="000000"/>
                </a:solidFill>
                <a:latin typeface="Times New Roman"/>
              </a:rPr>
              <a:t>\</a:t>
            </a:r>
            <a:r>
              <a:rPr lang="zh-CN" altLang="en-US" sz="2800" kern="0" dirty="0">
                <a:solidFill>
                  <a:srgbClr val="000000"/>
                </a:solidFill>
                <a:latin typeface="Times New Roman"/>
              </a:rPr>
              <a:t>重心</a:t>
            </a:r>
            <a:r>
              <a:rPr lang="en-US" altLang="zh-CN" sz="2800" kern="0" dirty="0">
                <a:solidFill>
                  <a:srgbClr val="000000"/>
                </a:solidFill>
                <a:latin typeface="Times New Roman"/>
              </a:rPr>
              <a:t>;</a:t>
            </a:r>
            <a:r>
              <a:rPr lang="zh-CN" altLang="en-US" sz="2800" kern="0" dirty="0">
                <a:solidFill>
                  <a:srgbClr val="000000"/>
                </a:solidFill>
                <a:latin typeface="Times New Roman"/>
              </a:rPr>
              <a:t>光有实体造型</a:t>
            </a:r>
            <a:r>
              <a:rPr lang="en-US" altLang="zh-CN" sz="2800" kern="0" dirty="0">
                <a:solidFill>
                  <a:srgbClr val="000000"/>
                </a:solidFill>
                <a:latin typeface="Times New Roman"/>
              </a:rPr>
              <a:t>,</a:t>
            </a:r>
            <a:r>
              <a:rPr lang="zh-CN" altLang="en-US" sz="2800" kern="0" dirty="0">
                <a:solidFill>
                  <a:srgbClr val="000000"/>
                </a:solidFill>
                <a:latin typeface="Times New Roman"/>
              </a:rPr>
              <a:t>无法准确地描述和控制物体的外部形状</a:t>
            </a:r>
            <a:r>
              <a:rPr lang="en-US" altLang="zh-CN" sz="2800" kern="0" dirty="0">
                <a:solidFill>
                  <a:srgbClr val="000000"/>
                </a:solidFill>
                <a:latin typeface="Times New Roman"/>
              </a:rPr>
              <a:t>.</a:t>
            </a:r>
            <a:endParaRPr lang="zh-CN" altLang="en-US" sz="2800" kern="0" dirty="0">
              <a:solidFill>
                <a:srgbClr val="000000"/>
              </a:solidFill>
              <a:latin typeface="Times New Roman"/>
            </a:endParaRPr>
          </a:p>
        </p:txBody>
      </p:sp>
      <p:pic>
        <p:nvPicPr>
          <p:cNvPr id="8" name="Picture 2" descr="http://www.3dportal.cn/discuz/attachments/month_0812/20081220_0a44bc5ffd6c9e17a405vuO5QwmrRg9X.gif">
            <a:extLst>
              <a:ext uri="{FF2B5EF4-FFF2-40B4-BE49-F238E27FC236}">
                <a16:creationId xmlns:a16="http://schemas.microsoft.com/office/drawing/2014/main" id="{D1F84294-D994-4449-B64F-57D325FBC515}"/>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148064" y="2260344"/>
            <a:ext cx="3999558" cy="2883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7582028"/>
      </p:ext>
    </p:extLst>
  </p:cSld>
  <p:clrMapOvr>
    <a:masterClrMapping/>
  </p:clrMapOvr>
  <p:transition spd="med" advClick="0">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第六章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实体造型</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endPar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sp>
        <p:nvSpPr>
          <p:cNvPr id="14"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10:09</a:t>
            </a:fld>
            <a:endParaRPr lang="en-US" altLang="zh-CN" sz="1400" dirty="0">
              <a:solidFill>
                <a:srgbClr val="FAFAFA"/>
              </a:solidFill>
            </a:endParaRPr>
          </a:p>
        </p:txBody>
      </p:sp>
      <p:sp>
        <p:nvSpPr>
          <p:cNvPr id="2" name="矩形 1">
            <a:extLst>
              <a:ext uri="{FF2B5EF4-FFF2-40B4-BE49-F238E27FC236}">
                <a16:creationId xmlns:a16="http://schemas.microsoft.com/office/drawing/2014/main" id="{189C98F6-D32F-4BA4-A7FF-AA238743D3F7}"/>
              </a:ext>
            </a:extLst>
          </p:cNvPr>
          <p:cNvSpPr/>
          <p:nvPr/>
        </p:nvSpPr>
        <p:spPr>
          <a:xfrm>
            <a:off x="574416" y="650306"/>
            <a:ext cx="6264696" cy="4142673"/>
          </a:xfrm>
          <a:prstGeom prst="rect">
            <a:avLst/>
          </a:prstGeom>
        </p:spPr>
        <p:txBody>
          <a:bodyPr wrap="square">
            <a:spAutoFit/>
          </a:bodyPr>
          <a:lstStyle/>
          <a:p>
            <a:pPr marL="342900" lvl="0" indent="-342900">
              <a:spcBef>
                <a:spcPct val="20000"/>
              </a:spcBef>
              <a:buFontTx/>
              <a:buChar char="•"/>
            </a:pPr>
            <a:r>
              <a:rPr lang="zh-CN" altLang="en-US" sz="2800" kern="0" dirty="0">
                <a:solidFill>
                  <a:srgbClr val="000000"/>
                </a:solidFill>
                <a:latin typeface="Times New Roman"/>
              </a:rPr>
              <a:t>边界表示：多边形网格表示法</a:t>
            </a:r>
            <a:endParaRPr lang="en-US" altLang="zh-CN" sz="2800" kern="0" dirty="0">
              <a:solidFill>
                <a:srgbClr val="000000"/>
              </a:solidFill>
              <a:latin typeface="Times New Roman"/>
            </a:endParaRPr>
          </a:p>
          <a:p>
            <a:pPr marL="342900" lvl="0" indent="-342900">
              <a:spcBef>
                <a:spcPct val="20000"/>
              </a:spcBef>
              <a:buFontTx/>
              <a:buChar char="•"/>
            </a:pPr>
            <a:r>
              <a:rPr lang="zh-CN" altLang="en-US" sz="2800" kern="0" dirty="0">
                <a:solidFill>
                  <a:srgbClr val="000000"/>
                </a:solidFill>
                <a:latin typeface="Times New Roman"/>
              </a:rPr>
              <a:t>构造表示</a:t>
            </a:r>
            <a:endParaRPr lang="en-US" altLang="zh-CN" sz="2800" kern="0" dirty="0">
              <a:solidFill>
                <a:srgbClr val="000000"/>
              </a:solidFill>
              <a:latin typeface="Times New Roman"/>
            </a:endParaRPr>
          </a:p>
          <a:p>
            <a:pPr marL="742950" lvl="1" indent="-285750">
              <a:spcBef>
                <a:spcPct val="20000"/>
              </a:spcBef>
              <a:buFontTx/>
              <a:buChar char="–"/>
            </a:pPr>
            <a:r>
              <a:rPr lang="en-US" altLang="zh-CN" sz="2800" kern="0" dirty="0">
                <a:solidFill>
                  <a:srgbClr val="000000"/>
                </a:solidFill>
                <a:latin typeface="Times New Roman"/>
              </a:rPr>
              <a:t>CSG</a:t>
            </a:r>
          </a:p>
          <a:p>
            <a:pPr marL="742950" lvl="1" indent="-285750">
              <a:spcBef>
                <a:spcPct val="20000"/>
              </a:spcBef>
              <a:buFontTx/>
              <a:buChar char="–"/>
            </a:pPr>
            <a:r>
              <a:rPr lang="zh-CN" altLang="en-US" sz="2800" kern="0" dirty="0">
                <a:solidFill>
                  <a:srgbClr val="000000"/>
                </a:solidFill>
                <a:latin typeface="Times New Roman"/>
              </a:rPr>
              <a:t>推移</a:t>
            </a:r>
            <a:r>
              <a:rPr lang="en-US" altLang="zh-CN" sz="2800" kern="0" dirty="0">
                <a:solidFill>
                  <a:srgbClr val="000000"/>
                </a:solidFill>
                <a:latin typeface="Times New Roman"/>
              </a:rPr>
              <a:t>/</a:t>
            </a:r>
            <a:r>
              <a:rPr lang="zh-CN" altLang="en-US" sz="2800" kern="0" dirty="0">
                <a:solidFill>
                  <a:srgbClr val="000000"/>
                </a:solidFill>
                <a:latin typeface="Times New Roman"/>
              </a:rPr>
              <a:t>扫描</a:t>
            </a:r>
            <a:endParaRPr lang="en-US" altLang="zh-CN" sz="2800" kern="0" dirty="0">
              <a:solidFill>
                <a:srgbClr val="000000"/>
              </a:solidFill>
              <a:latin typeface="Times New Roman"/>
            </a:endParaRPr>
          </a:p>
          <a:p>
            <a:pPr marL="342900" lvl="0" indent="-342900">
              <a:spcBef>
                <a:spcPct val="20000"/>
              </a:spcBef>
              <a:buFontTx/>
              <a:buChar char="•"/>
            </a:pPr>
            <a:r>
              <a:rPr lang="zh-CN" altLang="en-US" sz="2800" kern="0" dirty="0">
                <a:solidFill>
                  <a:srgbClr val="000000"/>
                </a:solidFill>
                <a:latin typeface="Times New Roman"/>
              </a:rPr>
              <a:t>细分表示</a:t>
            </a:r>
            <a:endParaRPr lang="en-US" altLang="zh-CN" sz="2800" kern="0" dirty="0">
              <a:solidFill>
                <a:srgbClr val="000000"/>
              </a:solidFill>
              <a:latin typeface="Times New Roman"/>
            </a:endParaRPr>
          </a:p>
          <a:p>
            <a:pPr marL="742950" lvl="1" indent="-285750">
              <a:spcBef>
                <a:spcPct val="20000"/>
              </a:spcBef>
              <a:buFontTx/>
              <a:buChar char="–"/>
            </a:pPr>
            <a:r>
              <a:rPr lang="zh-CN" altLang="en-US" sz="2800" kern="0" dirty="0">
                <a:solidFill>
                  <a:srgbClr val="000000"/>
                </a:solidFill>
                <a:latin typeface="Times New Roman"/>
              </a:rPr>
              <a:t>枚举</a:t>
            </a:r>
            <a:endParaRPr lang="en-US" altLang="zh-CN" sz="2800" kern="0" dirty="0">
              <a:solidFill>
                <a:srgbClr val="000000"/>
              </a:solidFill>
              <a:latin typeface="Times New Roman"/>
            </a:endParaRPr>
          </a:p>
          <a:p>
            <a:pPr marL="742950" lvl="1" indent="-285750">
              <a:spcBef>
                <a:spcPct val="20000"/>
              </a:spcBef>
              <a:buFontTx/>
              <a:buChar char="–"/>
            </a:pPr>
            <a:r>
              <a:rPr lang="zh-CN" altLang="en-US" sz="2800" kern="0" dirty="0">
                <a:solidFill>
                  <a:srgbClr val="000000"/>
                </a:solidFill>
                <a:latin typeface="Times New Roman"/>
              </a:rPr>
              <a:t>八叉树</a:t>
            </a:r>
            <a:endParaRPr lang="en-US" altLang="zh-CN" sz="2800" kern="0" dirty="0">
              <a:solidFill>
                <a:srgbClr val="000000"/>
              </a:solidFill>
              <a:latin typeface="Times New Roman"/>
            </a:endParaRPr>
          </a:p>
          <a:p>
            <a:pPr marL="742950" lvl="1" indent="-285750">
              <a:spcBef>
                <a:spcPct val="20000"/>
              </a:spcBef>
              <a:buFontTx/>
              <a:buChar char="–"/>
            </a:pPr>
            <a:r>
              <a:rPr lang="zh-CN" altLang="en-US" sz="2800" kern="0" dirty="0">
                <a:solidFill>
                  <a:srgbClr val="000000"/>
                </a:solidFill>
                <a:latin typeface="Times New Roman"/>
              </a:rPr>
              <a:t>单元细分</a:t>
            </a:r>
            <a:endParaRPr lang="en-US" altLang="zh-CN" sz="2800" kern="0" dirty="0">
              <a:solidFill>
                <a:srgbClr val="000000"/>
              </a:solidFill>
              <a:latin typeface="Times New Roman"/>
            </a:endParaRPr>
          </a:p>
        </p:txBody>
      </p:sp>
    </p:spTree>
    <p:extLst>
      <p:ext uri="{BB962C8B-B14F-4D97-AF65-F5344CB8AC3E}">
        <p14:creationId xmlns:p14="http://schemas.microsoft.com/office/powerpoint/2010/main" val="2682601789"/>
      </p:ext>
    </p:extLst>
  </p:cSld>
  <p:clrMapOvr>
    <a:masterClrMapping/>
  </p:clrMapOvr>
  <p:transition spd="med" advClick="0">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250" y="220662"/>
            <a:ext cx="3786758" cy="379413"/>
          </a:xfrm>
          <a:prstGeom prst="rect">
            <a:avLst/>
          </a:prstGeom>
        </p:spPr>
        <p:txBody>
          <a:bodyPr lIns="0" rIns="0" anchor="ct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fontAlgn="auto">
              <a:spcAft>
                <a:spcPts val="0"/>
              </a:spcAft>
              <a:defRPr/>
            </a:pP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第五章</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观察变换</a:t>
            </a:r>
            <a:r>
              <a:rPr lang="en-US" altLang="zh-CN" sz="1600" b="1" dirty="0">
                <a:solidFill>
                  <a:schemeClr val="tx2">
                    <a:lumMod val="60000"/>
                    <a:lumOff val="40000"/>
                  </a:schemeClr>
                </a:solidFill>
                <a:latin typeface="微软雅黑" panose="020B0503020204020204" pitchFamily="34" charset="-122"/>
                <a:ea typeface="微软雅黑" panose="020B0503020204020204" pitchFamily="34" charset="-122"/>
              </a:rPr>
              <a:t>——</a:t>
            </a:r>
            <a:r>
              <a:rPr lang="zh-CN" altLang="en-US" sz="1600" b="1" dirty="0">
                <a:solidFill>
                  <a:schemeClr val="tx2">
                    <a:lumMod val="60000"/>
                    <a:lumOff val="40000"/>
                  </a:schemeClr>
                </a:solidFill>
                <a:latin typeface="微软雅黑" panose="020B0503020204020204" pitchFamily="34" charset="-122"/>
                <a:ea typeface="微软雅黑" panose="020B0503020204020204" pitchFamily="34" charset="-122"/>
              </a:rPr>
              <a:t>总结展望</a:t>
            </a:r>
            <a:endParaRPr lang="en-GB" altLang="zh-CN" sz="16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3554" name="图片 45"/>
          <p:cNvPicPr>
            <a:picLocks noChangeAspect="1"/>
          </p:cNvPicPr>
          <p:nvPr/>
        </p:nvPicPr>
        <p:blipFill>
          <a:blip r:embed="rId3" cstate="print">
            <a:duotone>
              <a:schemeClr val="accent1">
                <a:shade val="45000"/>
                <a:satMod val="135000"/>
              </a:schemeClr>
              <a:prstClr val="white"/>
            </a:duotone>
          </a:blip>
          <a:srcRect/>
          <a:stretch>
            <a:fillRect/>
          </a:stretch>
        </p:blipFill>
        <p:spPr bwMode="auto">
          <a:xfrm>
            <a:off x="7092950" y="200025"/>
            <a:ext cx="1168400" cy="304800"/>
          </a:xfrm>
          <a:prstGeom prst="rect">
            <a:avLst/>
          </a:prstGeom>
          <a:noFill/>
          <a:ln w="9525">
            <a:noFill/>
            <a:miter lim="800000"/>
            <a:headEnd/>
            <a:tailEnd/>
          </a:ln>
        </p:spPr>
      </p:pic>
      <p:pic>
        <p:nvPicPr>
          <p:cNvPr id="23555" name="Picture 2" descr="C:\Users\Administrator\Desktop\988f62c5210bdb445a106b023dc4778e.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6443663" y="0"/>
            <a:ext cx="774700" cy="700088"/>
          </a:xfrm>
          <a:prstGeom prst="rect">
            <a:avLst/>
          </a:prstGeom>
          <a:noFill/>
          <a:ln w="9525">
            <a:noFill/>
            <a:miter lim="800000"/>
            <a:headEnd/>
            <a:tailEnd/>
          </a:ln>
        </p:spPr>
      </p:pic>
      <p:sp>
        <p:nvSpPr>
          <p:cNvPr id="11" name="文本框 10"/>
          <p:cNvSpPr txBox="1"/>
          <p:nvPr/>
        </p:nvSpPr>
        <p:spPr>
          <a:xfrm>
            <a:off x="-9342" y="4780528"/>
            <a:ext cx="9144000" cy="355034"/>
          </a:xfrm>
          <a:prstGeom prst="rect">
            <a:avLst/>
          </a:prstGeom>
          <a:solidFill>
            <a:srgbClr val="0070C0"/>
          </a:solidFill>
        </p:spPr>
        <p:txBody>
          <a:bodyPr wrap="square" rtlCol="0">
            <a:spAutoFit/>
          </a:bodyPr>
          <a:lstStyle/>
          <a:p>
            <a:pPr algn="r"/>
            <a:r>
              <a:rPr lang="zh-CN" altLang="en-US" sz="1705" dirty="0">
                <a:solidFill>
                  <a:schemeClr val="bg1">
                    <a:lumMod val="95000"/>
                  </a:schemeClr>
                </a:solidFill>
                <a:latin typeface="微软雅黑" panose="020B0503020204020204" pitchFamily="34" charset="-122"/>
                <a:ea typeface="微软雅黑" panose="020B0503020204020204" pitchFamily="34" charset="-122"/>
              </a:rPr>
              <a:t>计算机图形学</a:t>
            </a:r>
          </a:p>
        </p:txBody>
      </p:sp>
      <p:pic>
        <p:nvPicPr>
          <p:cNvPr id="137" name="Picture 46"/>
          <p:cNvPicPr>
            <a:picLocks noChangeAspect="1" noChangeArrowheads="1"/>
          </p:cNvPicPr>
          <p:nvPr/>
        </p:nvPicPr>
        <p:blipFill>
          <a:blip r:embed="rId5">
            <a:extLst>
              <a:ext uri="{28A0092B-C50C-407E-A947-70E740481C1C}">
                <a14:useLocalDpi xmlns:a14="http://schemas.microsoft.com/office/drawing/2010/main" val="0"/>
              </a:ext>
            </a:extLst>
          </a:blip>
          <a:srcRect l="20163" t="13907" r="20766" b="50000"/>
          <a:stretch>
            <a:fillRect/>
          </a:stretch>
        </p:blipFill>
        <p:spPr bwMode="auto">
          <a:xfrm>
            <a:off x="6291552" y="41898"/>
            <a:ext cx="2771196" cy="190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pic>
      <p:sp>
        <p:nvSpPr>
          <p:cNvPr id="138" name="Text Box 26"/>
          <p:cNvSpPr txBox="1">
            <a:spLocks noChangeArrowheads="1"/>
          </p:cNvSpPr>
          <p:nvPr/>
        </p:nvSpPr>
        <p:spPr bwMode="auto">
          <a:xfrm>
            <a:off x="7177201" y="1453587"/>
            <a:ext cx="1957457"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algn="ctr">
              <a:lnSpc>
                <a:spcPct val="120000"/>
              </a:lnSpc>
              <a:spcBef>
                <a:spcPct val="0"/>
              </a:spcBef>
              <a:buFontTx/>
              <a:buNone/>
            </a:pPr>
            <a:r>
              <a:rPr kumimoji="1" lang="zh-CN" altLang="en-US" sz="2400" dirty="0">
                <a:solidFill>
                  <a:srgbClr val="333399"/>
                </a:solidFill>
                <a:ea typeface="微软雅黑" panose="020B0503020204020204" pitchFamily="34" charset="-122"/>
              </a:rPr>
              <a:t>观察变换</a:t>
            </a:r>
          </a:p>
        </p:txBody>
      </p:sp>
      <p:pic>
        <p:nvPicPr>
          <p:cNvPr id="139"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87827" y="3242784"/>
            <a:ext cx="3016285" cy="1257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 name="Text Box 26"/>
          <p:cNvSpPr txBox="1">
            <a:spLocks noChangeArrowheads="1"/>
          </p:cNvSpPr>
          <p:nvPr/>
        </p:nvSpPr>
        <p:spPr bwMode="auto">
          <a:xfrm>
            <a:off x="6852875" y="4340328"/>
            <a:ext cx="2006681"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algn="ctr" eaLnBrk="1" hangingPunct="1">
              <a:lnSpc>
                <a:spcPct val="120000"/>
              </a:lnSpc>
              <a:spcBef>
                <a:spcPct val="0"/>
              </a:spcBef>
              <a:buFontTx/>
              <a:buNone/>
            </a:pPr>
            <a:r>
              <a:rPr kumimoji="1" lang="zh-CN" altLang="en-US" sz="2400" dirty="0">
                <a:solidFill>
                  <a:srgbClr val="F79600"/>
                </a:solidFill>
                <a:ea typeface="微软雅黑" panose="020B0503020204020204" pitchFamily="34" charset="-122"/>
              </a:rPr>
              <a:t>投影变换</a:t>
            </a:r>
          </a:p>
        </p:txBody>
      </p:sp>
      <p:sp>
        <p:nvSpPr>
          <p:cNvPr id="34" name="Rectangle 3"/>
          <p:cNvSpPr txBox="1">
            <a:spLocks noChangeArrowheads="1"/>
          </p:cNvSpPr>
          <p:nvPr/>
        </p:nvSpPr>
        <p:spPr bwMode="auto">
          <a:xfrm>
            <a:off x="3023726" y="1882569"/>
            <a:ext cx="4608512" cy="758825"/>
          </a:xfrm>
          <a:prstGeom prst="rect">
            <a:avLst/>
          </a:prstGeom>
          <a:noFill/>
          <a:ln w="9525">
            <a:noFill/>
            <a:miter lim="800000"/>
          </a:ln>
        </p:spPr>
        <p:txBody>
          <a:bodyPr/>
          <a:lstStyle/>
          <a:p>
            <a:pPr marL="342900" indent="-342900" algn="just">
              <a:spcBef>
                <a:spcPct val="20000"/>
              </a:spcBef>
              <a:defRPr/>
            </a:pPr>
            <a:r>
              <a:rPr lang="en-US" altLang="zh-CN" sz="2400" b="1" kern="0" dirty="0">
                <a:solidFill>
                  <a:srgbClr val="000000"/>
                </a:solidFill>
                <a:latin typeface="Times New Roman" panose="02020603050405020304" charset="0"/>
                <a:ea typeface="微软雅黑" panose="020B0503020204020204" pitchFamily="34" charset="-122"/>
              </a:rPr>
              <a:t>(1)</a:t>
            </a:r>
            <a:r>
              <a:rPr lang="zh-CN" altLang="en-US" sz="2400" kern="0" dirty="0">
                <a:solidFill>
                  <a:srgbClr val="000000"/>
                </a:solidFill>
                <a:latin typeface="Times New Roman" panose="02020603050405020304" charset="0"/>
                <a:ea typeface="微软雅黑" panose="020B0503020204020204" pitchFamily="34" charset="-122"/>
              </a:rPr>
              <a:t>点动，新系→旧系：几何变换</a:t>
            </a:r>
            <a:endParaRPr lang="en-US" altLang="zh-CN" sz="2400" kern="0" dirty="0">
              <a:solidFill>
                <a:srgbClr val="000000"/>
              </a:solidFill>
              <a:latin typeface="Times New Roman" panose="02020603050405020304" charset="0"/>
              <a:ea typeface="微软雅黑" panose="020B0503020204020204" pitchFamily="34" charset="-122"/>
            </a:endParaRPr>
          </a:p>
        </p:txBody>
      </p:sp>
      <p:sp>
        <p:nvSpPr>
          <p:cNvPr id="35" name="Rectangle 3"/>
          <p:cNvSpPr txBox="1">
            <a:spLocks noChangeArrowheads="1"/>
          </p:cNvSpPr>
          <p:nvPr/>
        </p:nvSpPr>
        <p:spPr bwMode="auto">
          <a:xfrm>
            <a:off x="3000930" y="2381556"/>
            <a:ext cx="5748952" cy="790575"/>
          </a:xfrm>
          <a:prstGeom prst="rect">
            <a:avLst/>
          </a:prstGeom>
          <a:noFill/>
          <a:ln w="9525">
            <a:noFill/>
            <a:miter lim="800000"/>
          </a:ln>
        </p:spPr>
        <p:txBody>
          <a:bodyPr/>
          <a:lstStyle/>
          <a:p>
            <a:pPr marL="342900" indent="-342900" algn="just">
              <a:spcBef>
                <a:spcPct val="20000"/>
              </a:spcBef>
              <a:defRPr/>
            </a:pPr>
            <a:r>
              <a:rPr lang="en-US" altLang="zh-CN" sz="2400" b="1" kern="0" dirty="0">
                <a:solidFill>
                  <a:srgbClr val="000000"/>
                </a:solidFill>
                <a:latin typeface="Times New Roman" panose="02020603050405020304" charset="0"/>
                <a:ea typeface="微软雅黑" panose="020B0503020204020204" pitchFamily="34" charset="-122"/>
              </a:rPr>
              <a:t>(2)</a:t>
            </a:r>
            <a:r>
              <a:rPr lang="zh-CN" altLang="en-US" sz="2400" kern="0" dirty="0">
                <a:solidFill>
                  <a:srgbClr val="000000"/>
                </a:solidFill>
                <a:latin typeface="Times New Roman" panose="02020603050405020304" charset="0"/>
                <a:ea typeface="微软雅黑" panose="020B0503020204020204" pitchFamily="34" charset="-122"/>
              </a:rPr>
              <a:t>点不动，旧系→新系：相对运动，变换矩阵参数取反。</a:t>
            </a:r>
          </a:p>
        </p:txBody>
      </p:sp>
      <p:sp>
        <p:nvSpPr>
          <p:cNvPr id="36" name="Rectangle 3"/>
          <p:cNvSpPr txBox="1">
            <a:spLocks noChangeArrowheads="1"/>
          </p:cNvSpPr>
          <p:nvPr/>
        </p:nvSpPr>
        <p:spPr bwMode="auto">
          <a:xfrm>
            <a:off x="2998707" y="3158506"/>
            <a:ext cx="5748952" cy="790575"/>
          </a:xfrm>
          <a:prstGeom prst="rect">
            <a:avLst/>
          </a:prstGeom>
          <a:noFill/>
          <a:ln w="9525">
            <a:noFill/>
            <a:miter lim="800000"/>
          </a:ln>
        </p:spPr>
        <p:txBody>
          <a:bodyPr/>
          <a:lstStyle/>
          <a:p>
            <a:pPr marL="342900" indent="-342900" algn="just">
              <a:spcBef>
                <a:spcPct val="20000"/>
              </a:spcBef>
              <a:defRPr/>
            </a:pPr>
            <a:r>
              <a:rPr lang="en-US" altLang="zh-CN" sz="2400" b="1" kern="0" dirty="0">
                <a:solidFill>
                  <a:srgbClr val="000000"/>
                </a:solidFill>
                <a:latin typeface="Times New Roman" panose="02020603050405020304" charset="0"/>
                <a:ea typeface="微软雅黑" panose="020B0503020204020204" pitchFamily="34" charset="-122"/>
              </a:rPr>
              <a:t>(3)</a:t>
            </a:r>
            <a:r>
              <a:rPr lang="zh-CN" altLang="en-US" sz="2400" kern="0" dirty="0">
                <a:solidFill>
                  <a:srgbClr val="000000"/>
                </a:solidFill>
                <a:latin typeface="Times New Roman" panose="02020603050405020304" charset="0"/>
                <a:ea typeface="微软雅黑" panose="020B0503020204020204" pitchFamily="34" charset="-122"/>
              </a:rPr>
              <a:t>坐标变换</a:t>
            </a:r>
            <a:r>
              <a:rPr lang="en-US" altLang="zh-CN" sz="2400" kern="0" dirty="0">
                <a:solidFill>
                  <a:srgbClr val="000000"/>
                </a:solidFill>
                <a:latin typeface="Times New Roman" panose="02020603050405020304" charset="0"/>
                <a:ea typeface="微软雅黑" panose="020B0503020204020204" pitchFamily="34" charset="-122"/>
              </a:rPr>
              <a:t>——</a:t>
            </a:r>
            <a:r>
              <a:rPr lang="zh-CN" altLang="en-US" sz="2400" kern="0" dirty="0">
                <a:solidFill>
                  <a:srgbClr val="000000"/>
                </a:solidFill>
                <a:latin typeface="Times New Roman" panose="02020603050405020304" charset="0"/>
                <a:ea typeface="微软雅黑" panose="020B0503020204020204" pitchFamily="34" charset="-122"/>
              </a:rPr>
              <a:t>变换矩阵</a:t>
            </a:r>
          </a:p>
        </p:txBody>
      </p:sp>
      <p:sp>
        <p:nvSpPr>
          <p:cNvPr id="37" name="AutoShape 3"/>
          <p:cNvSpPr>
            <a:spLocks noChangeArrowheads="1"/>
          </p:cNvSpPr>
          <p:nvPr/>
        </p:nvSpPr>
        <p:spPr bwMode="auto">
          <a:xfrm>
            <a:off x="551390" y="1109481"/>
            <a:ext cx="280831" cy="705797"/>
          </a:xfrm>
          <a:prstGeom prst="downArrow">
            <a:avLst>
              <a:gd name="adj1" fmla="val 50000"/>
              <a:gd name="adj2" fmla="val 52897"/>
            </a:avLst>
          </a:prstGeom>
          <a:solidFill>
            <a:srgbClr val="FFFFFF"/>
          </a:solidFill>
          <a:ln w="9525">
            <a:solidFill>
              <a:srgbClr val="808080"/>
            </a:solidFill>
            <a:miter lim="800000"/>
          </a:ln>
          <a:effectLst>
            <a:outerShdw dist="35921" dir="2700000" algn="ctr" rotWithShape="0">
              <a:srgbClr val="808080"/>
            </a:outerShdw>
          </a:effectLst>
        </p:spPr>
        <p:txBody>
          <a:bodyPr wrap="none" anchor="ct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endParaRPr kumimoji="0" lang="zh-CN" altLang="en-US" sz="3200" b="1" i="0" u="none" strike="noStrike" kern="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endParaRPr>
          </a:p>
        </p:txBody>
      </p:sp>
      <p:grpSp>
        <p:nvGrpSpPr>
          <p:cNvPr id="38" name="Group 7"/>
          <p:cNvGrpSpPr/>
          <p:nvPr/>
        </p:nvGrpSpPr>
        <p:grpSpPr bwMode="auto">
          <a:xfrm>
            <a:off x="783011" y="3667576"/>
            <a:ext cx="1568450" cy="461325"/>
            <a:chOff x="4416" y="3190"/>
            <a:chExt cx="915" cy="340"/>
          </a:xfrm>
        </p:grpSpPr>
        <p:sp>
          <p:nvSpPr>
            <p:cNvPr id="39" name="Rectangle 8"/>
            <p:cNvSpPr>
              <a:spLocks noChangeArrowheads="1"/>
            </p:cNvSpPr>
            <p:nvPr/>
          </p:nvSpPr>
          <p:spPr bwMode="auto">
            <a:xfrm>
              <a:off x="4416" y="3216"/>
              <a:ext cx="912" cy="288"/>
            </a:xfrm>
            <a:prstGeom prst="rect">
              <a:avLst/>
            </a:prstGeom>
            <a:solidFill>
              <a:srgbClr val="BBE0E3"/>
            </a:solidFill>
            <a:ln w="28575">
              <a:solidFill>
                <a:srgbClr val="FFFFFF"/>
              </a:solidFill>
              <a:miter lim="800000"/>
            </a:ln>
            <a:effectLst>
              <a:outerShdw dist="35921" dir="2700000" algn="ctr" rotWithShape="0">
                <a:srgbClr val="808080"/>
              </a:outerShdw>
            </a:effectLst>
          </p:spPr>
          <p:txBody>
            <a:bodyPr wrap="none" anchor="ct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endParaRPr kumimoji="0" lang="zh-CN" altLang="en-US" sz="3200" b="1" i="0" u="none" strike="noStrike" kern="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endParaRPr>
            </a:p>
          </p:txBody>
        </p:sp>
        <p:sp>
          <p:nvSpPr>
            <p:cNvPr id="40" name="Text Box 9"/>
            <p:cNvSpPr txBox="1">
              <a:spLocks noChangeArrowheads="1"/>
            </p:cNvSpPr>
            <p:nvPr/>
          </p:nvSpPr>
          <p:spPr bwMode="auto">
            <a:xfrm>
              <a:off x="4450" y="3190"/>
              <a:ext cx="881" cy="340"/>
            </a:xfrm>
            <a:prstGeom prst="rect">
              <a:avLst/>
            </a:prstGeom>
            <a:noFill/>
            <a:ln w="9525">
              <a:noFill/>
              <a:miter lim="800000"/>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视口变换</a:t>
              </a:r>
              <a:endParaRPr kumimoji="0" lang="en-US" altLang="zh-CN" sz="2400" b="1" i="0" u="none" strike="noStrike" kern="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endParaRPr>
            </a:p>
          </p:txBody>
        </p:sp>
      </p:grpSp>
      <p:grpSp>
        <p:nvGrpSpPr>
          <p:cNvPr id="41" name="Group 14"/>
          <p:cNvGrpSpPr/>
          <p:nvPr/>
        </p:nvGrpSpPr>
        <p:grpSpPr bwMode="auto">
          <a:xfrm>
            <a:off x="786183" y="1198632"/>
            <a:ext cx="1660525" cy="461962"/>
            <a:chOff x="4373" y="1635"/>
            <a:chExt cx="1008" cy="410"/>
          </a:xfrm>
        </p:grpSpPr>
        <p:sp>
          <p:nvSpPr>
            <p:cNvPr id="42" name="Rectangle 15"/>
            <p:cNvSpPr>
              <a:spLocks noChangeArrowheads="1"/>
            </p:cNvSpPr>
            <p:nvPr/>
          </p:nvSpPr>
          <p:spPr bwMode="auto">
            <a:xfrm>
              <a:off x="4416" y="1680"/>
              <a:ext cx="912" cy="287"/>
            </a:xfrm>
            <a:prstGeom prst="rect">
              <a:avLst/>
            </a:prstGeom>
            <a:solidFill>
              <a:srgbClr val="BBE0E3"/>
            </a:solidFill>
            <a:ln w="28575">
              <a:solidFill>
                <a:srgbClr val="FFFFFF"/>
              </a:solidFill>
              <a:miter lim="800000"/>
            </a:ln>
            <a:effectLst>
              <a:outerShdw dist="35921" dir="2700000" algn="ctr" rotWithShape="0">
                <a:srgbClr val="808080"/>
              </a:outerShdw>
            </a:effectLst>
          </p:spPr>
          <p:txBody>
            <a:bodyPr wrap="none" anchor="ct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endParaRPr kumimoji="0" lang="zh-CN" altLang="en-US" sz="3200" b="1" i="0" u="none" strike="noStrike" kern="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endParaRPr>
            </a:p>
          </p:txBody>
        </p:sp>
        <p:sp>
          <p:nvSpPr>
            <p:cNvPr id="43" name="Text Box 16"/>
            <p:cNvSpPr txBox="1">
              <a:spLocks noChangeArrowheads="1"/>
            </p:cNvSpPr>
            <p:nvPr/>
          </p:nvSpPr>
          <p:spPr bwMode="auto">
            <a:xfrm>
              <a:off x="4373" y="1635"/>
              <a:ext cx="1008" cy="410"/>
            </a:xfrm>
            <a:prstGeom prst="rect">
              <a:avLst/>
            </a:prstGeom>
            <a:noFill/>
            <a:ln w="9525">
              <a:noFill/>
              <a:miter lim="800000"/>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观察变换</a:t>
              </a:r>
              <a:endParaRPr kumimoji="0" lang="en-US" altLang="zh-CN" sz="2400" b="1" i="0" u="none" strike="noStrike" kern="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endParaRPr>
            </a:p>
          </p:txBody>
        </p:sp>
      </p:grpSp>
      <p:grpSp>
        <p:nvGrpSpPr>
          <p:cNvPr id="44" name="Group 17"/>
          <p:cNvGrpSpPr/>
          <p:nvPr/>
        </p:nvGrpSpPr>
        <p:grpSpPr bwMode="auto">
          <a:xfrm>
            <a:off x="832221" y="2410530"/>
            <a:ext cx="1568450" cy="461728"/>
            <a:chOff x="4368" y="2448"/>
            <a:chExt cx="960" cy="341"/>
          </a:xfrm>
        </p:grpSpPr>
        <p:sp>
          <p:nvSpPr>
            <p:cNvPr id="45" name="Rectangle 18"/>
            <p:cNvSpPr>
              <a:spLocks noChangeArrowheads="1"/>
            </p:cNvSpPr>
            <p:nvPr/>
          </p:nvSpPr>
          <p:spPr bwMode="auto">
            <a:xfrm>
              <a:off x="4368" y="2448"/>
              <a:ext cx="912" cy="288"/>
            </a:xfrm>
            <a:prstGeom prst="rect">
              <a:avLst/>
            </a:prstGeom>
            <a:solidFill>
              <a:srgbClr val="BBE0E3"/>
            </a:solidFill>
            <a:ln w="28575">
              <a:solidFill>
                <a:srgbClr val="FFFFFF"/>
              </a:solidFill>
              <a:miter lim="800000"/>
            </a:ln>
            <a:effectLst>
              <a:outerShdw dist="35921" dir="2700000" algn="ctr" rotWithShape="0">
                <a:srgbClr val="808080"/>
              </a:outerShdw>
            </a:effectLst>
          </p:spPr>
          <p:txBody>
            <a:bodyPr wrap="none" anchor="ct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endParaRPr kumimoji="0" lang="zh-CN" altLang="en-US" sz="3200" b="1" i="0" u="none" strike="noStrike" kern="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endParaRPr>
            </a:p>
          </p:txBody>
        </p:sp>
        <p:sp>
          <p:nvSpPr>
            <p:cNvPr id="46" name="Text Box 19"/>
            <p:cNvSpPr txBox="1">
              <a:spLocks noChangeArrowheads="1"/>
            </p:cNvSpPr>
            <p:nvPr/>
          </p:nvSpPr>
          <p:spPr bwMode="auto">
            <a:xfrm>
              <a:off x="4368" y="2448"/>
              <a:ext cx="960" cy="341"/>
            </a:xfrm>
            <a:prstGeom prst="rect">
              <a:avLst/>
            </a:prstGeom>
            <a:noFill/>
            <a:ln w="9525">
              <a:noFill/>
              <a:miter lim="800000"/>
            </a:ln>
            <a:effec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2400" b="1" i="0" u="none" strike="noStrike" kern="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投影变换</a:t>
              </a:r>
              <a:endParaRPr kumimoji="0" lang="en-US" altLang="zh-CN" sz="2400" b="1" i="0" u="none" strike="noStrike" kern="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endParaRPr>
            </a:p>
          </p:txBody>
        </p:sp>
      </p:grpSp>
      <p:sp>
        <p:nvSpPr>
          <p:cNvPr id="47" name="Text Box 20"/>
          <p:cNvSpPr txBox="1">
            <a:spLocks noChangeArrowheads="1"/>
          </p:cNvSpPr>
          <p:nvPr/>
        </p:nvSpPr>
        <p:spPr bwMode="auto">
          <a:xfrm>
            <a:off x="811586" y="627534"/>
            <a:ext cx="1539875" cy="461665"/>
          </a:xfrm>
          <a:prstGeom prst="rect">
            <a:avLst/>
          </a:prstGeom>
          <a:noFill/>
          <a:ln w="9525">
            <a:noFill/>
            <a:miter lim="800000"/>
          </a:ln>
          <a:effectLst/>
        </p:spPr>
        <p:txBody>
          <a:bodyPr>
            <a:spAutoFit/>
          </a:bodyPr>
          <a:lstStyle/>
          <a:p>
            <a:pPr algn="ctr">
              <a:spcBef>
                <a:spcPct val="50000"/>
              </a:spcBef>
              <a:defRPr/>
            </a:pPr>
            <a:r>
              <a:rPr lang="zh-CN" altLang="en-US" sz="24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世界坐标</a:t>
            </a:r>
          </a:p>
        </p:txBody>
      </p:sp>
      <p:sp>
        <p:nvSpPr>
          <p:cNvPr id="48" name="Text Box 21"/>
          <p:cNvSpPr txBox="1">
            <a:spLocks noChangeArrowheads="1"/>
          </p:cNvSpPr>
          <p:nvPr/>
        </p:nvSpPr>
        <p:spPr bwMode="auto">
          <a:xfrm>
            <a:off x="713160" y="1850556"/>
            <a:ext cx="1654175" cy="461665"/>
          </a:xfrm>
          <a:prstGeom prst="rect">
            <a:avLst/>
          </a:prstGeom>
          <a:noFill/>
          <a:ln w="9525">
            <a:noFill/>
            <a:miter lim="800000"/>
          </a:ln>
          <a:effectLst/>
        </p:spPr>
        <p:txBody>
          <a:bodyPr>
            <a:spAutoFit/>
          </a:bodyPr>
          <a:lstStyle/>
          <a:p>
            <a:pPr algn="ctr">
              <a:spcBef>
                <a:spcPct val="50000"/>
              </a:spcBef>
              <a:defRPr/>
            </a:pPr>
            <a:r>
              <a:rPr lang="zh-CN" altLang="en-US" sz="24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观察坐标</a:t>
            </a:r>
          </a:p>
        </p:txBody>
      </p:sp>
      <p:sp>
        <p:nvSpPr>
          <p:cNvPr id="49" name="Text Box 22"/>
          <p:cNvSpPr txBox="1">
            <a:spLocks noChangeArrowheads="1"/>
          </p:cNvSpPr>
          <p:nvPr/>
        </p:nvSpPr>
        <p:spPr bwMode="auto">
          <a:xfrm>
            <a:off x="768721" y="3075806"/>
            <a:ext cx="1552575" cy="461665"/>
          </a:xfrm>
          <a:prstGeom prst="rect">
            <a:avLst/>
          </a:prstGeom>
          <a:noFill/>
          <a:ln w="9525">
            <a:noFill/>
            <a:miter lim="800000"/>
          </a:ln>
          <a:effectLst/>
        </p:spPr>
        <p:txBody>
          <a:bodyPr>
            <a:spAutoFit/>
          </a:bodyPr>
          <a:lstStyle/>
          <a:p>
            <a:pPr algn="ctr">
              <a:spcBef>
                <a:spcPct val="50000"/>
              </a:spcBef>
              <a:defRPr/>
            </a:pPr>
            <a:r>
              <a:rPr lang="zh-CN" altLang="en-US" sz="24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投影坐标</a:t>
            </a:r>
          </a:p>
        </p:txBody>
      </p:sp>
      <p:sp>
        <p:nvSpPr>
          <p:cNvPr id="50" name="Text Box 23"/>
          <p:cNvSpPr txBox="1">
            <a:spLocks noChangeArrowheads="1"/>
          </p:cNvSpPr>
          <p:nvPr/>
        </p:nvSpPr>
        <p:spPr bwMode="auto">
          <a:xfrm>
            <a:off x="786183" y="4266193"/>
            <a:ext cx="1558925" cy="461665"/>
          </a:xfrm>
          <a:prstGeom prst="rect">
            <a:avLst/>
          </a:prstGeom>
          <a:noFill/>
          <a:ln w="9525">
            <a:noFill/>
            <a:miter lim="800000"/>
          </a:ln>
          <a:effectLst/>
        </p:spPr>
        <p:txBody>
          <a:bodyPr>
            <a:spAutoFit/>
          </a:bodyPr>
          <a:lstStyle/>
          <a:p>
            <a:pPr algn="ctr">
              <a:spcBef>
                <a:spcPct val="50000"/>
              </a:spcBef>
              <a:defRPr/>
            </a:pPr>
            <a:r>
              <a:rPr lang="zh-CN" altLang="en-US" sz="2400" b="1" dirty="0">
                <a:solidFill>
                  <a:srgbClr val="00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屏幕坐标</a:t>
            </a:r>
          </a:p>
        </p:txBody>
      </p:sp>
      <p:sp>
        <p:nvSpPr>
          <p:cNvPr id="51" name="AutoShape 3"/>
          <p:cNvSpPr>
            <a:spLocks noChangeArrowheads="1"/>
          </p:cNvSpPr>
          <p:nvPr/>
        </p:nvSpPr>
        <p:spPr bwMode="auto">
          <a:xfrm>
            <a:off x="530755" y="2326242"/>
            <a:ext cx="280831" cy="705797"/>
          </a:xfrm>
          <a:prstGeom prst="downArrow">
            <a:avLst>
              <a:gd name="adj1" fmla="val 50000"/>
              <a:gd name="adj2" fmla="val 52897"/>
            </a:avLst>
          </a:prstGeom>
          <a:solidFill>
            <a:srgbClr val="FFFFFF"/>
          </a:solidFill>
          <a:ln w="9525">
            <a:solidFill>
              <a:srgbClr val="808080"/>
            </a:solidFill>
            <a:miter lim="800000"/>
          </a:ln>
          <a:effectLst>
            <a:outerShdw dist="35921" dir="2700000" algn="ctr" rotWithShape="0">
              <a:srgbClr val="808080"/>
            </a:outerShdw>
          </a:effectLst>
        </p:spPr>
        <p:txBody>
          <a:bodyPr wrap="none" anchor="ct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endParaRPr kumimoji="0" lang="zh-CN" altLang="en-US" sz="3200" b="1" i="0" u="none" strike="noStrike" kern="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endParaRPr>
          </a:p>
        </p:txBody>
      </p:sp>
      <p:sp>
        <p:nvSpPr>
          <p:cNvPr id="52" name="AutoShape 3"/>
          <p:cNvSpPr>
            <a:spLocks noChangeArrowheads="1"/>
          </p:cNvSpPr>
          <p:nvPr/>
        </p:nvSpPr>
        <p:spPr bwMode="auto">
          <a:xfrm>
            <a:off x="502180" y="3591969"/>
            <a:ext cx="280831" cy="705797"/>
          </a:xfrm>
          <a:prstGeom prst="downArrow">
            <a:avLst>
              <a:gd name="adj1" fmla="val 50000"/>
              <a:gd name="adj2" fmla="val 52897"/>
            </a:avLst>
          </a:prstGeom>
          <a:solidFill>
            <a:srgbClr val="FFFFFF"/>
          </a:solidFill>
          <a:ln w="9525">
            <a:solidFill>
              <a:srgbClr val="808080"/>
            </a:solidFill>
            <a:miter lim="800000"/>
          </a:ln>
          <a:effectLst>
            <a:outerShdw dist="35921" dir="2700000" algn="ctr" rotWithShape="0">
              <a:srgbClr val="808080"/>
            </a:outerShdw>
          </a:effectLst>
        </p:spPr>
        <p:txBody>
          <a:bodyPr wrap="none" anchor="ctr"/>
          <a:lstStyle>
            <a:lvl1pPr>
              <a:spcBef>
                <a:spcPct val="20000"/>
              </a:spcBef>
              <a:buChar char="•"/>
              <a:defRPr sz="3200">
                <a:solidFill>
                  <a:schemeClr val="tx1"/>
                </a:solidFill>
                <a:latin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defRPr>
            </a:lvl9pPr>
          </a:lstStyle>
          <a:p>
            <a:pPr marL="0" marR="0" lvl="0" indent="0" algn="ctr" defTabSz="914400" eaLnBrk="1" fontAlgn="auto" latinLnBrk="0" hangingPunct="1">
              <a:lnSpc>
                <a:spcPct val="100000"/>
              </a:lnSpc>
              <a:spcBef>
                <a:spcPct val="50000"/>
              </a:spcBef>
              <a:spcAft>
                <a:spcPts val="0"/>
              </a:spcAft>
              <a:buClr>
                <a:srgbClr val="333399"/>
              </a:buClr>
              <a:buSzPct val="80000"/>
              <a:buFont typeface="Wingdings" panose="05000000000000000000" pitchFamily="2" charset="2"/>
              <a:buNone/>
              <a:defRPr/>
            </a:pPr>
            <a:endParaRPr kumimoji="0" lang="zh-CN" altLang="en-US" sz="3200" b="1" i="0" u="none" strike="noStrike" kern="0" cap="none" spc="0" normalizeH="0" baseline="0" noProof="0">
              <a:ln>
                <a:noFill/>
              </a:ln>
              <a:solidFill>
                <a:srgbClr val="333399"/>
              </a:solidFill>
              <a:effectLst/>
              <a:uLnTx/>
              <a:uFillTx/>
              <a:latin typeface="微软雅黑" panose="020B0503020204020204" pitchFamily="34" charset="-122"/>
              <a:ea typeface="微软雅黑" panose="020B0503020204020204" pitchFamily="34" charset="-122"/>
            </a:endParaRPr>
          </a:p>
        </p:txBody>
      </p:sp>
      <p:sp>
        <p:nvSpPr>
          <p:cNvPr id="29" name="日期占位符 3"/>
          <p:cNvSpPr txBox="1">
            <a:spLocks noChangeArrowheads="1"/>
          </p:cNvSpPr>
          <p:nvPr/>
        </p:nvSpPr>
        <p:spPr>
          <a:xfrm>
            <a:off x="122238" y="4811869"/>
            <a:ext cx="23114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20000"/>
              </a:spcBef>
              <a:spcAft>
                <a:spcPct val="0"/>
              </a:spcAft>
              <a:buChar char="•"/>
              <a:defRPr sz="3200" kern="1200">
                <a:solidFill>
                  <a:schemeClr val="tx1"/>
                </a:solidFill>
                <a:latin typeface="华文宋体" panose="02010600040101010101" pitchFamily="2" charset="-122"/>
                <a:ea typeface="华文宋体" panose="02010600040101010101" pitchFamily="2" charset="-122"/>
                <a:cs typeface="+mn-cs"/>
              </a:defRPr>
            </a:lvl1pPr>
            <a:lvl2pPr marL="742950" indent="-285750" algn="l" rtl="0" fontAlgn="base">
              <a:spcBef>
                <a:spcPct val="20000"/>
              </a:spcBef>
              <a:spcAft>
                <a:spcPct val="0"/>
              </a:spcAft>
              <a:buChar char="–"/>
              <a:defRPr sz="2800" kern="1200">
                <a:solidFill>
                  <a:schemeClr val="tx1"/>
                </a:solidFill>
                <a:latin typeface="华文宋体" panose="02010600040101010101" pitchFamily="2" charset="-122"/>
                <a:ea typeface="华文宋体" panose="02010600040101010101" pitchFamily="2" charset="-122"/>
                <a:cs typeface="+mn-cs"/>
              </a:defRPr>
            </a:lvl2pPr>
            <a:lvl3pPr marL="1143000" indent="-228600" algn="l" rtl="0" fontAlgn="base">
              <a:spcBef>
                <a:spcPct val="20000"/>
              </a:spcBef>
              <a:spcAft>
                <a:spcPct val="0"/>
              </a:spcAft>
              <a:buChar char="•"/>
              <a:defRPr sz="2400" kern="1200">
                <a:solidFill>
                  <a:schemeClr val="tx1"/>
                </a:solidFill>
                <a:latin typeface="华文宋体" panose="02010600040101010101" pitchFamily="2" charset="-122"/>
                <a:ea typeface="华文宋体" panose="02010600040101010101" pitchFamily="2" charset="-122"/>
                <a:cs typeface="+mn-cs"/>
              </a:defRPr>
            </a:lvl3pPr>
            <a:lvl4pPr marL="16002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4pPr>
            <a:lvl5pPr marL="2057400" indent="-228600" algn="l" rtl="0" fontAlgn="base">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华文宋体" panose="02010600040101010101" pitchFamily="2" charset="-122"/>
                <a:ea typeface="华文宋体" panose="02010600040101010101" pitchFamily="2" charset="-122"/>
                <a:cs typeface="+mn-cs"/>
              </a:defRPr>
            </a:lvl9pPr>
          </a:lstStyle>
          <a:p>
            <a:pPr>
              <a:spcBef>
                <a:spcPct val="0"/>
              </a:spcBef>
              <a:buFontTx/>
              <a:buNone/>
            </a:pPr>
            <a:fld id="{F0406FFC-6788-4DB9-BCAE-0C3E380619DF}" type="datetime10">
              <a:rPr lang="zh-CN" altLang="en-US" sz="1400" smtClean="0">
                <a:solidFill>
                  <a:srgbClr val="FAFAFA"/>
                </a:solidFill>
              </a:rPr>
              <a:t>08:24</a:t>
            </a:fld>
            <a:endParaRPr lang="en-US" altLang="zh-CN" sz="1400" dirty="0">
              <a:solidFill>
                <a:srgbClr val="FAFAFA"/>
              </a:solidFill>
            </a:endParaRPr>
          </a:p>
        </p:txBody>
      </p:sp>
    </p:spTree>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checkerboard(across)">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checkerboard(across)">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checkerboard(across)">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3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P spid="34" grpId="0"/>
      <p:bldP spid="35" grpId="0"/>
      <p:bldP spid="3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050" y="7937"/>
            <a:ext cx="9144000" cy="5151627"/>
          </a:xfrm>
          <a:prstGeom prst="rect">
            <a:avLst/>
          </a:prstGeom>
          <a:gradFill flip="none" rotWithShape="1">
            <a:gsLst>
              <a:gs pos="0">
                <a:schemeClr val="accent1">
                  <a:lumMod val="75000"/>
                </a:schemeClr>
              </a:gs>
              <a:gs pos="50000">
                <a:schemeClr val="accent1">
                  <a:lumMod val="40000"/>
                  <a:lumOff val="60000"/>
                  <a:shade val="67500"/>
                  <a:satMod val="115000"/>
                </a:schemeClr>
              </a:gs>
              <a:gs pos="100000">
                <a:schemeClr val="accent1">
                  <a:lumMod val="40000"/>
                  <a:lumOff val="60000"/>
                  <a:shade val="100000"/>
                  <a:satMod val="115000"/>
                </a:schemeClr>
              </a:gs>
            </a:gsLst>
            <a:lin ang="16200000" scaled="1"/>
            <a:tileRect/>
          </a:gra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2227" name="图片 1"/>
          <p:cNvPicPr>
            <a:picLocks noChangeAspect="1"/>
          </p:cNvPicPr>
          <p:nvPr/>
        </p:nvPicPr>
        <p:blipFill>
          <a:blip r:embed="rId3" cstate="print">
            <a:lum bright="70000" contrast="-70000"/>
          </a:blip>
          <a:srcRect/>
          <a:stretch>
            <a:fillRect/>
          </a:stretch>
        </p:blipFill>
        <p:spPr bwMode="auto">
          <a:xfrm>
            <a:off x="3203848" y="339502"/>
            <a:ext cx="2396827" cy="2347786"/>
          </a:xfrm>
          <a:prstGeom prst="rect">
            <a:avLst/>
          </a:prstGeom>
          <a:noFill/>
          <a:ln w="9525">
            <a:noFill/>
            <a:miter lim="800000"/>
            <a:headEnd/>
            <a:tailEnd/>
          </a:ln>
        </p:spPr>
      </p:pic>
      <p:sp>
        <p:nvSpPr>
          <p:cNvPr id="52229" name="矩形 47"/>
          <p:cNvSpPr>
            <a:spLocks noChangeArrowheads="1"/>
          </p:cNvSpPr>
          <p:nvPr/>
        </p:nvSpPr>
        <p:spPr bwMode="auto">
          <a:xfrm>
            <a:off x="1763688" y="2583750"/>
            <a:ext cx="5040238" cy="1177235"/>
          </a:xfrm>
          <a:prstGeom prst="rect">
            <a:avLst/>
          </a:prstGeom>
          <a:noFill/>
          <a:ln w="9525">
            <a:noFill/>
            <a:miter lim="800000"/>
          </a:ln>
        </p:spPr>
        <p:txBody>
          <a:bodyPr wrap="square" lIns="68571" tIns="34285" rIns="68571" bIns="34285">
            <a:spAutoFit/>
          </a:bodyPr>
          <a:lstStyle/>
          <a:p>
            <a:pPr algn="just"/>
            <a:r>
              <a:rPr lang="zh-CN" altLang="en-US" sz="7200" b="1" dirty="0">
                <a:solidFill>
                  <a:schemeClr val="bg1"/>
                </a:solidFill>
                <a:ea typeface="微软雅黑" panose="020B0503020204020204" pitchFamily="34" charset="-122"/>
              </a:rPr>
              <a:t>谢 谢 大 家！</a:t>
            </a:r>
            <a:endParaRPr lang="en-US" altLang="zh-CN" sz="7200" b="1" dirty="0">
              <a:solidFill>
                <a:schemeClr val="bg1"/>
              </a:solidFill>
              <a:ea typeface="微软雅黑" panose="020B0503020204020204" pitchFamily="34" charset="-122"/>
            </a:endParaRPr>
          </a:p>
        </p:txBody>
      </p:sp>
    </p:spTree>
  </p:cSld>
  <p:clrMapOvr>
    <a:masterClrMapping/>
  </p:clrMapOvr>
  <p:transition spd="med" advClick="0">
    <p:pull/>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Write Your Title Here"/>
  <p:tag name="KSO_WPP_MARK_KEY" val="dd899e31-5ec7-490e-8739-e130eb65ea66"/>
  <p:tag name="COMMONDATA" val="eyJoZGlkIjoiOGFmMDVkMWI3NWMxYzJlMzU4ZjlmZTJlYWJkNmJiNDQifQ=="/>
</p:tagLst>
</file>

<file path=ppt/theme/theme1.xml><?xml version="1.0" encoding="utf-8"?>
<a:theme xmlns:a="http://schemas.openxmlformats.org/drawingml/2006/main" name="第一PPT，www.1ppt.com">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TotalTime>
  <Words>3267</Words>
  <Application>Microsoft Office PowerPoint</Application>
  <PresentationFormat>全屏显示(16:9)</PresentationFormat>
  <Paragraphs>480</Paragraphs>
  <Slides>46</Slides>
  <Notes>46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46</vt:i4>
      </vt:variant>
    </vt:vector>
  </HeadingPairs>
  <TitlesOfParts>
    <vt:vector size="62" baseType="lpstr">
      <vt:lpstr>Open Sans Light</vt:lpstr>
      <vt:lpstr>黑体</vt:lpstr>
      <vt:lpstr>华文彩云</vt:lpstr>
      <vt:lpstr>华文隶书</vt:lpstr>
      <vt:lpstr>华文宋体</vt:lpstr>
      <vt:lpstr>宋体</vt:lpstr>
      <vt:lpstr>微软雅黑</vt:lpstr>
      <vt:lpstr>微软雅黑 Light</vt:lpstr>
      <vt:lpstr>Arial</vt:lpstr>
      <vt:lpstr>Calibri</vt:lpstr>
      <vt:lpstr>Times New Roman</vt:lpstr>
      <vt:lpstr>Wingdings</vt:lpstr>
      <vt:lpstr>第一PPT，www.1ppt.com</vt:lpstr>
      <vt:lpstr>Visio</vt:lpstr>
      <vt:lpstr>Equation</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user</dc:creator>
  <cp:keywords>第一PPT模板网-WWW.1PPT.COM</cp:keywords>
  <cp:lastModifiedBy>pcm</cp:lastModifiedBy>
  <cp:revision>466</cp:revision>
  <dcterms:created xsi:type="dcterms:W3CDTF">2015-12-11T17:46:00Z</dcterms:created>
  <dcterms:modified xsi:type="dcterms:W3CDTF">2024-11-10T02:12:07Z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ECACA3F7043547B6B35B2DD86E8C4ABF_12</vt:lpwstr>
  </property>
  <property fmtid="{D5CDD505-2E9C-101B-9397-08002B2CF9AE}" pid="3" name="KSOProductBuildVer">
    <vt:lpwstr>2052-12.1.0.18608</vt:lpwstr>
  </property>
</Properties>
</file>