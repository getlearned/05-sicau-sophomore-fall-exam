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404" r:id="rId2"/>
    <p:sldId id="381" r:id="rId3"/>
    <p:sldId id="382" r:id="rId4"/>
    <p:sldId id="411" r:id="rId5"/>
    <p:sldId id="383" r:id="rId6"/>
    <p:sldId id="405" r:id="rId7"/>
    <p:sldId id="412" r:id="rId8"/>
    <p:sldId id="406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402" r:id="rId22"/>
    <p:sldId id="397" r:id="rId23"/>
    <p:sldId id="398" r:id="rId24"/>
    <p:sldId id="399" r:id="rId25"/>
    <p:sldId id="400" r:id="rId26"/>
    <p:sldId id="401" r:id="rId27"/>
    <p:sldId id="410" r:id="rId28"/>
    <p:sldId id="375" r:id="rId29"/>
    <p:sldId id="376" r:id="rId30"/>
    <p:sldId id="378" r:id="rId31"/>
    <p:sldId id="379" r:id="rId32"/>
    <p:sldId id="377" r:id="rId33"/>
    <p:sldId id="380" r:id="rId34"/>
    <p:sldId id="407" r:id="rId35"/>
  </p:sldIdLst>
  <p:sldSz cx="9144000" cy="6858000" type="screen4x3"/>
  <p:notesSz cx="6934200" cy="9396413"/>
  <p:custDataLst>
    <p:tags r:id="rId38"/>
  </p:custDataLst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990033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57" autoAdjust="0"/>
    <p:restoredTop sz="79436" autoAdjust="0"/>
  </p:normalViewPr>
  <p:slideViewPr>
    <p:cSldViewPr snapToGrid="0" showGuides="1">
      <p:cViewPr varScale="1">
        <p:scale>
          <a:sx n="90" d="100"/>
          <a:sy n="90" d="100"/>
        </p:scale>
        <p:origin x="2232" y="96"/>
      </p:cViewPr>
      <p:guideLst>
        <p:guide orient="horz" pos="2160"/>
        <p:guide pos="2847"/>
      </p:guideLst>
    </p:cSldViewPr>
  </p:slideViewPr>
  <p:outlineViewPr>
    <p:cViewPr>
      <p:scale>
        <a:sx n="33" d="100"/>
        <a:sy n="33" d="100"/>
      </p:scale>
      <p:origin x="0" y="6276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1806" y="-90"/>
      </p:cViewPr>
      <p:guideLst>
        <p:guide orient="horz" pos="2959"/>
        <p:guide pos="21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2.xml"/><Relationship Id="rId2" Type="http://schemas.openxmlformats.org/officeDocument/2006/relationships/slide" Target="slides/slide31.xml"/><Relationship Id="rId1" Type="http://schemas.openxmlformats.org/officeDocument/2006/relationships/slide" Target="slides/slide30.xml"/><Relationship Id="rId4" Type="http://schemas.openxmlformats.org/officeDocument/2006/relationships/slide" Target="slides/slide3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19.emf"/><Relationship Id="rId1" Type="http://schemas.openxmlformats.org/officeDocument/2006/relationships/image" Target="../media/image21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19.emf"/><Relationship Id="rId4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29.emf"/><Relationship Id="rId1" Type="http://schemas.openxmlformats.org/officeDocument/2006/relationships/image" Target="../media/image31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467225"/>
            <a:ext cx="5086350" cy="39560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89343" tIns="43888" rIns="89343" bIns="43888" numCol="1" anchor="t" anchorCtr="0" compatLnSpc="1"/>
          <a:lstStyle/>
          <a:p>
            <a:pPr lvl="0"/>
            <a:r>
              <a:rPr lang="en-US" altLang="zh-CN" noProof="0"/>
              <a:t>Click to edit Master notes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71588" y="819150"/>
            <a:ext cx="4392612" cy="3294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AFB96B0-DE56-4B91-A879-ED2F9CB6A5AD}" type="slidenum">
              <a:rPr lang="zh-CN" altLang="en-US" sz="1300"/>
              <a:t>1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不管是直线还是圆的光栅化，中点线算法和</a:t>
            </a:r>
            <a:r>
              <a:rPr lang="en-US" altLang="zh-CN" dirty="0" err="1"/>
              <a:t>bresenham</a:t>
            </a:r>
            <a:r>
              <a:rPr lang="zh-CN" altLang="en-US" dirty="0"/>
              <a:t>的思想都是一样的。其中，中点线算法的思想是将两个候选像素的中点坐标带入直线方程</a:t>
            </a:r>
            <a:r>
              <a:rPr lang="en-US" altLang="zh-CN" dirty="0"/>
              <a:t>f(</a:t>
            </a:r>
            <a:r>
              <a:rPr lang="en-US" altLang="zh-CN" dirty="0" err="1"/>
              <a:t>x,y</a:t>
            </a:r>
            <a:r>
              <a:rPr lang="en-US" altLang="zh-CN" dirty="0"/>
              <a:t>)=</a:t>
            </a:r>
            <a:r>
              <a:rPr lang="en-US" altLang="zh-CN" dirty="0" err="1"/>
              <a:t>ax+by+c</a:t>
            </a:r>
            <a:r>
              <a:rPr lang="zh-CN" altLang="en-US" dirty="0"/>
              <a:t>，判断表达式的正负号；而</a:t>
            </a:r>
            <a:r>
              <a:rPr lang="en-US" altLang="zh-CN" dirty="0" err="1"/>
              <a:t>Bresenham</a:t>
            </a:r>
            <a:r>
              <a:rPr lang="zh-CN" altLang="en-US" dirty="0"/>
              <a:t>的思想是判断两个候选像素到直线</a:t>
            </a:r>
            <a:r>
              <a:rPr lang="en-US" altLang="zh-CN" dirty="0"/>
              <a:t>/</a:t>
            </a:r>
            <a:r>
              <a:rPr lang="zh-CN" altLang="en-US" dirty="0"/>
              <a:t>圆的距离，哪个近选哪个</a:t>
            </a:r>
            <a:r>
              <a:rPr lang="en-US" altLang="zh-CN" dirty="0"/>
              <a:t>(</a:t>
            </a:r>
            <a:r>
              <a:rPr lang="zh-CN" altLang="en-US" dirty="0"/>
              <a:t>两个距离值相减，判断正负号</a:t>
            </a:r>
            <a:r>
              <a:rPr lang="en-US" altLang="zh-CN" dirty="0"/>
              <a:t>)</a:t>
            </a:r>
            <a:r>
              <a:rPr lang="zh-CN" altLang="en-US" dirty="0"/>
              <a:t>。两个算法都做了运算量的改进，思想都是将用于正负号的表达式从带入方程求解转化为地推，即</a:t>
            </a:r>
            <a:r>
              <a:rPr lang="en-US" altLang="zh-CN" dirty="0"/>
              <a:t>d_(i+1)=</a:t>
            </a:r>
            <a:r>
              <a:rPr lang="en-US" altLang="zh-CN" dirty="0" err="1"/>
              <a:t>di+f</a:t>
            </a:r>
            <a:r>
              <a:rPr lang="en-US" altLang="zh-CN" dirty="0"/>
              <a:t>(*) ,</a:t>
            </a:r>
            <a:r>
              <a:rPr lang="zh-CN" altLang="en-US" dirty="0"/>
              <a:t>其中</a:t>
            </a:r>
            <a:r>
              <a:rPr lang="en-US" altLang="zh-CN" dirty="0"/>
              <a:t>f</a:t>
            </a:r>
            <a:r>
              <a:rPr lang="zh-CN" altLang="en-US" dirty="0"/>
              <a:t>只包含简单运算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完整问题：输入，输出，约束条件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快速掠过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直接法：当斜率</a:t>
            </a:r>
            <a:r>
              <a:rPr lang="en-US" altLang="zh-CN" dirty="0"/>
              <a:t>0&lt;k&lt;1</a:t>
            </a:r>
            <a:r>
              <a:rPr lang="zh-CN" altLang="en-US" dirty="0"/>
              <a:t>时，</a:t>
            </a:r>
            <a:r>
              <a:rPr lang="en-US" altLang="zh-CN" dirty="0"/>
              <a:t>x</a:t>
            </a:r>
            <a:r>
              <a:rPr lang="zh-CN" altLang="en-US" dirty="0"/>
              <a:t>是最大位移方向，每次都可以往前移动</a:t>
            </a:r>
            <a:r>
              <a:rPr lang="en-US" altLang="zh-CN" dirty="0"/>
              <a:t>1</a:t>
            </a:r>
            <a:r>
              <a:rPr lang="zh-CN" altLang="en-US" dirty="0"/>
              <a:t>，而</a:t>
            </a:r>
            <a:r>
              <a:rPr lang="en-US" altLang="zh-CN" dirty="0"/>
              <a:t>y</a:t>
            </a:r>
            <a:r>
              <a:rPr lang="zh-CN" altLang="en-US" dirty="0"/>
              <a:t>“直接”利用表达式</a:t>
            </a:r>
            <a:r>
              <a:rPr lang="en-US" altLang="zh-CN" dirty="0"/>
              <a:t>y=</a:t>
            </a:r>
            <a:r>
              <a:rPr lang="en-US" altLang="zh-CN" dirty="0" err="1"/>
              <a:t>kx+b</a:t>
            </a:r>
            <a:r>
              <a:rPr lang="zh-CN" altLang="en-US" dirty="0"/>
              <a:t>求解，因此叫做直接法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 err="1"/>
              <a:t>kx</a:t>
            </a:r>
            <a:r>
              <a:rPr lang="zh-CN" altLang="en-US" dirty="0"/>
              <a:t>乘法</a:t>
            </a:r>
            <a:r>
              <a:rPr lang="en-US" altLang="zh-CN" dirty="0"/>
              <a:t>+b</a:t>
            </a:r>
            <a:r>
              <a:rPr lang="zh-CN" altLang="en-US" dirty="0"/>
              <a:t>加法</a:t>
            </a:r>
            <a:r>
              <a:rPr lang="en-US" altLang="zh-CN" dirty="0"/>
              <a:t>+int</a:t>
            </a:r>
            <a:r>
              <a:rPr lang="zh-CN" altLang="en-US" dirty="0"/>
              <a:t>取整。小数运算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将直接法中的</a:t>
            </a:r>
            <a:r>
              <a:rPr lang="en-US" altLang="zh-CN" dirty="0"/>
              <a:t>y</a:t>
            </a:r>
            <a:r>
              <a:rPr lang="zh-CN" altLang="en-US" dirty="0"/>
              <a:t>从</a:t>
            </a:r>
            <a:r>
              <a:rPr lang="en-US" altLang="zh-CN" dirty="0"/>
              <a:t>y=</a:t>
            </a:r>
            <a:r>
              <a:rPr lang="en-US" altLang="zh-CN" dirty="0" err="1"/>
              <a:t>kx+b</a:t>
            </a:r>
            <a:r>
              <a:rPr lang="zh-CN" altLang="en-US" dirty="0"/>
              <a:t>变形为</a:t>
            </a:r>
            <a:r>
              <a:rPr lang="en-US" altLang="zh-CN" dirty="0"/>
              <a:t>y=k(x0+i)+b=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k+k</a:t>
            </a:r>
            <a:r>
              <a:rPr lang="en-US" altLang="zh-CN" dirty="0"/>
              <a:t>*x0+b=</a:t>
            </a:r>
            <a:r>
              <a:rPr lang="en-US" altLang="zh-CN" dirty="0" err="1"/>
              <a:t>i</a:t>
            </a:r>
            <a:r>
              <a:rPr lang="en-US" altLang="zh-CN" dirty="0"/>
              <a:t>*k+(k*x0+b)=y0+i*k</a:t>
            </a:r>
            <a:r>
              <a:rPr lang="zh-CN" altLang="en-US" dirty="0"/>
              <a:t>，从而为</a:t>
            </a:r>
            <a:r>
              <a:rPr lang="en-US" altLang="zh-CN" dirty="0"/>
              <a:t>DDA</a:t>
            </a:r>
            <a:r>
              <a:rPr lang="zh-CN" altLang="en-US" dirty="0"/>
              <a:t>法构建基础。如</a:t>
            </a:r>
            <a:r>
              <a:rPr lang="en-US" altLang="zh-CN" dirty="0"/>
              <a:t>y2=y0+2k=y0+k+k=y1+k</a:t>
            </a:r>
            <a:r>
              <a:rPr lang="zh-CN" altLang="en-US" dirty="0"/>
              <a:t>。使</a:t>
            </a:r>
            <a:r>
              <a:rPr lang="en-US" altLang="zh-CN" dirty="0"/>
              <a:t>y</a:t>
            </a:r>
            <a:r>
              <a:rPr lang="zh-CN" altLang="en-US" dirty="0"/>
              <a:t>的估计只需要做一个假发</a:t>
            </a:r>
            <a:r>
              <a:rPr lang="en-US" altLang="zh-CN" dirty="0"/>
              <a:t>+k</a:t>
            </a:r>
            <a:r>
              <a:rPr lang="zh-CN" altLang="en-US" dirty="0"/>
              <a:t>和一次取整，避免使用乘法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将直接法中的</a:t>
            </a:r>
            <a:r>
              <a:rPr lang="en-US" altLang="zh-CN" dirty="0"/>
              <a:t>y</a:t>
            </a:r>
            <a:r>
              <a:rPr lang="zh-CN" altLang="en-US" dirty="0"/>
              <a:t>从</a:t>
            </a:r>
            <a:r>
              <a:rPr lang="en-US" altLang="zh-CN" dirty="0"/>
              <a:t>y=</a:t>
            </a:r>
            <a:r>
              <a:rPr lang="en-US" altLang="zh-CN" dirty="0" err="1"/>
              <a:t>kx+b</a:t>
            </a:r>
            <a:r>
              <a:rPr lang="zh-CN" altLang="en-US" dirty="0"/>
              <a:t>变形为</a:t>
            </a:r>
            <a:r>
              <a:rPr lang="en-US" altLang="zh-CN" dirty="0"/>
              <a:t>y=k(x0+i)+b=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k+k</a:t>
            </a:r>
            <a:r>
              <a:rPr lang="en-US" altLang="zh-CN" dirty="0"/>
              <a:t>*x0+b=</a:t>
            </a:r>
            <a:r>
              <a:rPr lang="en-US" altLang="zh-CN" dirty="0" err="1"/>
              <a:t>i</a:t>
            </a:r>
            <a:r>
              <a:rPr lang="en-US" altLang="zh-CN" dirty="0"/>
              <a:t>*k+(k*x0+b)=y0+i*k</a:t>
            </a:r>
            <a:r>
              <a:rPr lang="zh-CN" altLang="en-US" dirty="0"/>
              <a:t>，从而为</a:t>
            </a:r>
            <a:r>
              <a:rPr lang="en-US" altLang="zh-CN" dirty="0"/>
              <a:t>DDA</a:t>
            </a:r>
            <a:r>
              <a:rPr lang="zh-CN" altLang="en-US" dirty="0"/>
              <a:t>法构建基础。如</a:t>
            </a:r>
            <a:r>
              <a:rPr lang="en-US" altLang="zh-CN" dirty="0"/>
              <a:t>y2=y0+2k=y0+k+k=y1+k</a:t>
            </a:r>
            <a:r>
              <a:rPr lang="zh-CN" altLang="en-US" dirty="0"/>
              <a:t>。使</a:t>
            </a:r>
            <a:r>
              <a:rPr lang="en-US" altLang="zh-CN" dirty="0"/>
              <a:t>y</a:t>
            </a:r>
            <a:r>
              <a:rPr lang="zh-CN" altLang="en-US" dirty="0"/>
              <a:t>的估计只需要做一个假发</a:t>
            </a:r>
            <a:r>
              <a:rPr lang="en-US" altLang="zh-CN" dirty="0"/>
              <a:t>+k</a:t>
            </a:r>
            <a:r>
              <a:rPr lang="zh-CN" altLang="en-US" dirty="0"/>
              <a:t>和一次取整，避免使用乘法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y_(i+1)=</a:t>
            </a:r>
            <a:r>
              <a:rPr lang="en-US" altLang="zh-CN" dirty="0" err="1"/>
              <a:t>y_i+dy</a:t>
            </a:r>
            <a:r>
              <a:rPr lang="en-US" altLang="zh-CN" dirty="0"/>
              <a:t>=</a:t>
            </a:r>
            <a:r>
              <a:rPr lang="en-US" altLang="zh-CN" dirty="0" err="1"/>
              <a:t>y_i+k</a:t>
            </a:r>
            <a:r>
              <a:rPr lang="en-US" altLang="zh-CN" dirty="0"/>
              <a:t>*dx, </a:t>
            </a:r>
            <a:r>
              <a:rPr lang="zh-CN" altLang="en-US" dirty="0"/>
              <a:t>而</a:t>
            </a:r>
            <a:r>
              <a:rPr lang="en-US" altLang="zh-CN" dirty="0"/>
              <a:t>dx=1</a:t>
            </a:r>
            <a:r>
              <a:rPr lang="zh-CN" altLang="en-US" dirty="0"/>
              <a:t>，所以</a:t>
            </a:r>
            <a:r>
              <a:rPr lang="en-US" altLang="zh-CN" dirty="0"/>
              <a:t>y_(i+1)=</a:t>
            </a:r>
            <a:r>
              <a:rPr lang="en-US" altLang="zh-CN" dirty="0" err="1"/>
              <a:t>y_i+k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与教材上的</a:t>
            </a:r>
            <a:r>
              <a:rPr lang="en-US" altLang="zh-CN"/>
              <a:t>DDA</a:t>
            </a:r>
            <a:r>
              <a:rPr lang="zh-CN" altLang="en-US"/>
              <a:t>代码是等价的，只是这里明确指定</a:t>
            </a:r>
            <a:r>
              <a:rPr lang="en-US" altLang="zh-CN"/>
              <a:t>0&lt;k&lt;1</a:t>
            </a:r>
            <a:r>
              <a:rPr lang="zh-CN" altLang="en-US"/>
              <a:t>，使得</a:t>
            </a:r>
            <a:r>
              <a:rPr lang="en-US" altLang="zh-CN"/>
              <a:t>x</a:t>
            </a:r>
            <a:r>
              <a:rPr lang="zh-CN" altLang="en-US"/>
              <a:t>为最大位移方向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信息</a:t>
            </a:r>
            <a:r>
              <a:rPr lang="en-US" altLang="zh-CN">
                <a:latin typeface="Arial" panose="020B0604020202020204" pitchFamily="34" charset="0"/>
              </a:rPr>
              <a:t>06&amp;</a:t>
            </a:r>
            <a:r>
              <a:rPr lang="zh-CN" altLang="en-US">
                <a:latin typeface="Arial" panose="020B0604020202020204" pitchFamily="34" charset="0"/>
              </a:rPr>
              <a:t>信管</a:t>
            </a:r>
            <a:r>
              <a:rPr lang="en-US" altLang="zh-CN">
                <a:latin typeface="Arial" panose="020B0604020202020204" pitchFamily="34" charset="0"/>
              </a:rPr>
              <a:t>06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信息</a:t>
            </a:r>
            <a:r>
              <a:rPr lang="en-US" altLang="zh-CN">
                <a:latin typeface="Arial" panose="020B0604020202020204" pitchFamily="34" charset="0"/>
              </a:rPr>
              <a:t>06&amp;</a:t>
            </a:r>
            <a:r>
              <a:rPr lang="zh-CN" altLang="en-US">
                <a:latin typeface="Arial" panose="020B0604020202020204" pitchFamily="34" charset="0"/>
              </a:rPr>
              <a:t>信管</a:t>
            </a:r>
            <a:r>
              <a:rPr lang="en-US" altLang="zh-CN">
                <a:latin typeface="Arial" panose="020B0604020202020204" pitchFamily="34" charset="0"/>
              </a:rPr>
              <a:t>06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看</a:t>
            </a:r>
            <a:r>
              <a:rPr lang="en-US" altLang="zh-CN"/>
              <a:t>Q</a:t>
            </a:r>
            <a:r>
              <a:rPr lang="zh-CN" altLang="en-US"/>
              <a:t>离哪个点近。两点间的距离公式？运算量大，有没有其他方法？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、求交点坐标，与中点比较。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、将中点的坐标带入公式</a:t>
            </a:r>
            <a:r>
              <a:rPr lang="en-US" altLang="zh-CN" dirty="0"/>
              <a:t>z=</a:t>
            </a:r>
            <a:r>
              <a:rPr lang="en-US" altLang="zh-CN" dirty="0" err="1"/>
              <a:t>ax+by+c</a:t>
            </a:r>
            <a:r>
              <a:rPr lang="zh-CN" altLang="en-US" dirty="0"/>
              <a:t>如果在直线上，则</a:t>
            </a:r>
            <a:r>
              <a:rPr lang="en-US" altLang="zh-CN" dirty="0"/>
              <a:t>z=0, </a:t>
            </a:r>
            <a:r>
              <a:rPr lang="zh-CN" altLang="en-US" dirty="0"/>
              <a:t>如果</a:t>
            </a:r>
            <a:r>
              <a:rPr lang="en-US" altLang="zh-CN" dirty="0"/>
              <a:t>&lt;0</a:t>
            </a:r>
            <a:r>
              <a:rPr lang="zh-CN" altLang="en-US" dirty="0"/>
              <a:t>，则交点位于中点下方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这一页</a:t>
            </a:r>
            <a:r>
              <a:rPr lang="en-US" altLang="zh-CN">
                <a:latin typeface="Arial" panose="020B0604020202020204" pitchFamily="34" charset="0"/>
              </a:rPr>
              <a:t>ppt</a:t>
            </a:r>
            <a:r>
              <a:rPr lang="zh-CN" altLang="en-US">
                <a:latin typeface="Arial" panose="020B0604020202020204" pitchFamily="34" charset="0"/>
              </a:rPr>
              <a:t>是教材中的</a:t>
            </a:r>
            <a:r>
              <a:rPr lang="en-US" altLang="zh-CN">
                <a:latin typeface="Arial" panose="020B0604020202020204" pitchFamily="34" charset="0"/>
              </a:rPr>
              <a:t>Bersenhams</a:t>
            </a:r>
            <a:r>
              <a:rPr lang="zh-CN" altLang="en-US">
                <a:latin typeface="Arial" panose="020B0604020202020204" pitchFamily="34" charset="0"/>
              </a:rPr>
              <a:t>的推导。后面的几页</a:t>
            </a:r>
            <a:r>
              <a:rPr lang="en-US" altLang="zh-CN">
                <a:latin typeface="Arial" panose="020B0604020202020204" pitchFamily="34" charset="0"/>
              </a:rPr>
              <a:t>ppt</a:t>
            </a:r>
            <a:r>
              <a:rPr lang="zh-CN" altLang="en-US">
                <a:latin typeface="Arial" panose="020B0604020202020204" pitchFamily="34" charset="0"/>
              </a:rPr>
              <a:t>依然是</a:t>
            </a:r>
            <a:r>
              <a:rPr lang="en-US" altLang="zh-CN">
                <a:latin typeface="Arial" panose="020B0604020202020204" pitchFamily="34" charset="0"/>
              </a:rPr>
              <a:t>midpoint</a:t>
            </a:r>
            <a:r>
              <a:rPr lang="zh-CN" altLang="en-US">
                <a:latin typeface="Arial" panose="020B0604020202020204" pitchFamily="34" charset="0"/>
              </a:rPr>
              <a:t>算法是对其改进</a:t>
            </a:r>
          </a:p>
          <a:p>
            <a:r>
              <a:rPr lang="en-US" altLang="zh-CN">
                <a:latin typeface="Arial" panose="020B0604020202020204" pitchFamily="34" charset="0"/>
              </a:rPr>
              <a:t>bresenhams</a:t>
            </a:r>
            <a:r>
              <a:rPr lang="zh-CN" altLang="en-US">
                <a:latin typeface="Arial" panose="020B0604020202020204" pitchFamily="34" charset="0"/>
              </a:rPr>
              <a:t>算法的思想是将像素点的选择转换为</a:t>
            </a:r>
            <a:r>
              <a:rPr lang="en-US" altLang="zh-CN">
                <a:latin typeface="Arial" panose="020B0604020202020204" pitchFamily="34" charset="0"/>
              </a:rPr>
              <a:t>t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s</a:t>
            </a:r>
            <a:r>
              <a:rPr lang="zh-CN" altLang="en-US">
                <a:latin typeface="Arial" panose="020B0604020202020204" pitchFamily="34" charset="0"/>
              </a:rPr>
              <a:t>的大小比较，进一步转换为（</a:t>
            </a:r>
            <a:r>
              <a:rPr lang="en-US" altLang="zh-CN">
                <a:latin typeface="Arial" panose="020B0604020202020204" pitchFamily="34" charset="0"/>
              </a:rPr>
              <a:t>s-t</a:t>
            </a:r>
            <a:r>
              <a:rPr lang="zh-CN" altLang="en-US">
                <a:latin typeface="Arial" panose="020B0604020202020204" pitchFamily="34" charset="0"/>
              </a:rPr>
              <a:t>）的正负号。将</a:t>
            </a:r>
            <a:r>
              <a:rPr lang="en-US" altLang="zh-CN">
                <a:latin typeface="Arial" panose="020B0604020202020204" pitchFamily="34" charset="0"/>
              </a:rPr>
              <a:t>t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s</a:t>
            </a:r>
            <a:r>
              <a:rPr lang="zh-CN" altLang="en-US">
                <a:latin typeface="Arial" panose="020B0604020202020204" pitchFamily="34" charset="0"/>
              </a:rPr>
              <a:t>表示出来，带入</a:t>
            </a:r>
            <a:r>
              <a:rPr lang="en-US" altLang="zh-CN">
                <a:latin typeface="Arial" panose="020B0604020202020204" pitchFamily="34" charset="0"/>
              </a:rPr>
              <a:t>y=kx+b</a:t>
            </a:r>
            <a:r>
              <a:rPr lang="zh-CN" altLang="en-US">
                <a:latin typeface="Arial" panose="020B0604020202020204" pitchFamily="34" charset="0"/>
              </a:rPr>
              <a:t>中，进行相见，然后得到（</a:t>
            </a:r>
            <a:r>
              <a:rPr lang="en-US" altLang="zh-CN">
                <a:latin typeface="Arial" panose="020B0604020202020204" pitchFamily="34" charset="0"/>
              </a:rPr>
              <a:t>s-t</a:t>
            </a:r>
            <a:r>
              <a:rPr lang="zh-CN" altLang="en-US">
                <a:latin typeface="Arial" panose="020B0604020202020204" pitchFamily="34" charset="0"/>
              </a:rPr>
              <a:t>）的递推式，最终转换为只有加减法和乘法的运算</a:t>
            </a:r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</a:t>
            </a:r>
            <a:r>
              <a:rPr lang="zh-CN" altLang="en-US" dirty="0"/>
              <a:t>代表中点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信息</a:t>
            </a:r>
            <a:r>
              <a:rPr lang="en-US" altLang="zh-CN">
                <a:latin typeface="Arial" panose="020B0604020202020204" pitchFamily="34" charset="0"/>
              </a:rPr>
              <a:t>06&amp;</a:t>
            </a:r>
            <a:r>
              <a:rPr lang="zh-CN" altLang="en-US">
                <a:latin typeface="Arial" panose="020B0604020202020204" pitchFamily="34" charset="0"/>
              </a:rPr>
              <a:t>信管</a:t>
            </a:r>
            <a:r>
              <a:rPr lang="en-US" altLang="zh-CN">
                <a:latin typeface="Arial" panose="020B0604020202020204" pitchFamily="34" charset="0"/>
              </a:rPr>
              <a:t>06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这里的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是直线方程</a:t>
            </a:r>
            <a:r>
              <a:rPr lang="en-US" altLang="zh-CN" dirty="0" err="1">
                <a:latin typeface="Arial" panose="020B0604020202020204" pitchFamily="34" charset="0"/>
              </a:rPr>
              <a:t>ax+by+c</a:t>
            </a:r>
            <a:r>
              <a:rPr lang="en-US" altLang="zh-CN" dirty="0">
                <a:latin typeface="Arial" panose="020B0604020202020204" pitchFamily="34" charset="0"/>
              </a:rPr>
              <a:t>=0</a:t>
            </a:r>
            <a:r>
              <a:rPr lang="zh-CN" altLang="en-US" dirty="0">
                <a:latin typeface="Arial" panose="020B0604020202020204" pitchFamily="34" charset="0"/>
              </a:rPr>
              <a:t>中的系数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化简结果是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还是</a:t>
            </a:r>
            <a:r>
              <a:rPr lang="en-US" altLang="zh-CN" dirty="0" err="1">
                <a:latin typeface="Arial" panose="020B0604020202020204" pitchFamily="34" charset="0"/>
              </a:rPr>
              <a:t>a+b</a:t>
            </a:r>
            <a:r>
              <a:rPr lang="zh-CN" altLang="en-US" dirty="0">
                <a:latin typeface="Arial" panose="020B0604020202020204" pitchFamily="34" charset="0"/>
              </a:rPr>
              <a:t>只需将</a:t>
            </a:r>
            <a:r>
              <a:rPr lang="en-US" altLang="zh-CN" dirty="0">
                <a:latin typeface="Arial" panose="020B0604020202020204" pitchFamily="34" charset="0"/>
              </a:rPr>
              <a:t>F(M)</a:t>
            </a:r>
            <a:r>
              <a:rPr lang="zh-CN" altLang="en-US" dirty="0">
                <a:latin typeface="Arial" panose="020B0604020202020204" pitchFamily="34" charset="0"/>
              </a:rPr>
              <a:t>带入</a:t>
            </a:r>
            <a:r>
              <a:rPr lang="en-US" altLang="zh-CN" dirty="0" err="1">
                <a:sym typeface="+mn-ea"/>
              </a:rPr>
              <a:t>ax+by+c</a:t>
            </a:r>
            <a:r>
              <a:rPr lang="en-US" altLang="zh-CN" dirty="0">
                <a:sym typeface="+mn-ea"/>
              </a:rPr>
              <a:t>=0</a:t>
            </a:r>
            <a:r>
              <a:rPr lang="zh-CN" altLang="en-US" dirty="0">
                <a:sym typeface="+mn-ea"/>
              </a:rPr>
              <a:t>即可得到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初值</a:t>
            </a:r>
            <a:r>
              <a:rPr lang="en-US" altLang="zh-CN" dirty="0">
                <a:sym typeface="+mn-ea"/>
              </a:rPr>
              <a:t>D0=a*(x0+1)+b*(y0+0.5)+c=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a*x0+b*y0+c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+a+0.5*b</a:t>
            </a:r>
            <a:r>
              <a:rPr lang="zh-CN" altLang="en-US" dirty="0">
                <a:sym typeface="+mn-ea"/>
              </a:rPr>
              <a:t>。而（</a:t>
            </a:r>
            <a:r>
              <a:rPr lang="en-US" altLang="zh-CN" dirty="0">
                <a:sym typeface="+mn-ea"/>
              </a:rPr>
              <a:t>x0,y0</a:t>
            </a:r>
            <a:r>
              <a:rPr lang="zh-CN" altLang="en-US" dirty="0">
                <a:sym typeface="+mn-ea"/>
              </a:rPr>
              <a:t>）是线段的起点，是精确点，所以（</a:t>
            </a:r>
            <a:r>
              <a:rPr lang="en-US" altLang="zh-CN" dirty="0">
                <a:sym typeface="+mn-ea"/>
              </a:rPr>
              <a:t>a*x0+b*y0+c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=0</a:t>
            </a:r>
            <a:r>
              <a:rPr lang="zh-CN" altLang="en-US" dirty="0">
                <a:sym typeface="+mn-ea"/>
              </a:rPr>
              <a:t>，所以</a:t>
            </a:r>
            <a:r>
              <a:rPr lang="en-US" altLang="zh-CN" dirty="0">
                <a:sym typeface="+mn-ea"/>
              </a:rPr>
              <a:t>D0=a+0.5*b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819150"/>
            <a:ext cx="4392612" cy="3294063"/>
          </a:xfrm>
        </p:spPr>
      </p:sp>
      <p:sp>
        <p:nvSpPr>
          <p:cNvPr id="3584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将</a:t>
            </a:r>
            <a:r>
              <a:rPr lang="en-US" altLang="zh-CN" dirty="0">
                <a:latin typeface="Arial" panose="020B0604020202020204" pitchFamily="34" charset="0"/>
              </a:rPr>
              <a:t>y=</a:t>
            </a:r>
            <a:r>
              <a:rPr lang="en-US" altLang="zh-CN" dirty="0" err="1">
                <a:latin typeface="Arial" panose="020B0604020202020204" pitchFamily="34" charset="0"/>
              </a:rPr>
              <a:t>kx+b</a:t>
            </a:r>
            <a:r>
              <a:rPr lang="zh-CN" altLang="en-US" dirty="0">
                <a:latin typeface="Arial" panose="020B0604020202020204" pitchFamily="34" charset="0"/>
              </a:rPr>
              <a:t>转换成直线方程</a:t>
            </a:r>
            <a:r>
              <a:rPr lang="en-US" altLang="zh-CN" dirty="0">
                <a:latin typeface="Arial" panose="020B0604020202020204" pitchFamily="34" charset="0"/>
              </a:rPr>
              <a:t>y-</a:t>
            </a:r>
            <a:r>
              <a:rPr lang="en-US" altLang="zh-CN" dirty="0" err="1">
                <a:latin typeface="Arial" panose="020B0604020202020204" pitchFamily="34" charset="0"/>
              </a:rPr>
              <a:t>kx</a:t>
            </a:r>
            <a:r>
              <a:rPr lang="en-US" altLang="zh-CN" dirty="0">
                <a:latin typeface="Arial" panose="020B0604020202020204" pitchFamily="34" charset="0"/>
              </a:rPr>
              <a:t>-b=0</a:t>
            </a:r>
            <a:r>
              <a:rPr lang="zh-CN" altLang="en-US" dirty="0">
                <a:latin typeface="Arial" panose="020B0604020202020204" pitchFamily="34" charset="0"/>
              </a:rPr>
              <a:t>后，</a:t>
            </a:r>
            <a:r>
              <a:rPr lang="en-US" altLang="zh-CN" dirty="0">
                <a:latin typeface="Arial" panose="020B0604020202020204" pitchFamily="34" charset="0"/>
              </a:rPr>
              <a:t>a=-k, b=1</a:t>
            </a:r>
            <a:r>
              <a:rPr lang="zh-CN" altLang="en-US" dirty="0">
                <a:latin typeface="Arial" panose="020B0604020202020204" pitchFamily="34" charset="0"/>
              </a:rPr>
              <a:t>有助于理解</a:t>
            </a:r>
            <a:r>
              <a:rPr lang="en-US" altLang="zh-CN" dirty="0">
                <a:latin typeface="Arial" panose="020B0604020202020204" pitchFamily="34" charset="0"/>
              </a:rPr>
              <a:t>delta</a:t>
            </a:r>
            <a:r>
              <a:rPr lang="zh-CN" altLang="en-US" dirty="0">
                <a:latin typeface="Arial" panose="020B0604020202020204" pitchFamily="34" charset="0"/>
              </a:rPr>
              <a:t>的符号变化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改进的思路是：为了避免小数运算，还可以将</a:t>
            </a:r>
            <a:r>
              <a:rPr lang="en-US" altLang="zh-CN" dirty="0">
                <a:latin typeface="Arial" panose="020B0604020202020204" pitchFamily="34" charset="0"/>
              </a:rPr>
              <a:t>d</a:t>
            </a:r>
            <a:r>
              <a:rPr lang="zh-CN" altLang="en-US" dirty="0">
                <a:latin typeface="Arial" panose="020B0604020202020204" pitchFamily="34" charset="0"/>
              </a:rPr>
              <a:t>乘以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r>
              <a:rPr lang="en-US" altLang="zh-CN" dirty="0">
                <a:latin typeface="Arial" panose="020B0604020202020204" pitchFamily="34" charset="0"/>
              </a:rPr>
              <a:t>2*a</a:t>
            </a:r>
            <a:r>
              <a:rPr lang="zh-CN" altLang="en-US" dirty="0">
                <a:latin typeface="Arial" panose="020B0604020202020204" pitchFamily="34" charset="0"/>
              </a:rPr>
              <a:t>可以通过比特位移快速实现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按斜率斜率分类：</a:t>
            </a:r>
          </a:p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K=0</a:t>
            </a:r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0&lt;k&lt;0.5</a:t>
            </a:r>
          </a:p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0.5&lt;k&lt;1</a:t>
            </a:r>
          </a:p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k=1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圆弧光栅化中的中点法和</a:t>
            </a:r>
            <a:r>
              <a:rPr lang="en-US" altLang="zh-CN" dirty="0" err="1"/>
              <a:t>Bresenham</a:t>
            </a:r>
            <a:r>
              <a:rPr lang="zh-CN" altLang="en-US" dirty="0"/>
              <a:t>与线段的光栅化的思想一样，只是圆是二阶方程而线段是一阶方程，使得圆的递推公式包含</a:t>
            </a:r>
            <a:r>
              <a:rPr lang="en-US" altLang="zh-CN" dirty="0" err="1"/>
              <a:t>xi,yi</a:t>
            </a:r>
            <a:r>
              <a:rPr lang="zh-CN" altLang="en-US" dirty="0"/>
              <a:t>变量，而线段的递推公式只包含斜率</a:t>
            </a:r>
            <a:r>
              <a:rPr lang="en-US" altLang="zh-CN" dirty="0"/>
              <a:t>k</a:t>
            </a:r>
            <a:r>
              <a:rPr lang="zh-CN" altLang="en-US" dirty="0"/>
              <a:t>等常量。</a:t>
            </a:r>
          </a:p>
        </p:txBody>
      </p:sp>
    </p:spTree>
    <p:extLst>
      <p:ext uri="{BB962C8B-B14F-4D97-AF65-F5344CB8AC3E}">
        <p14:creationId xmlns:p14="http://schemas.microsoft.com/office/powerpoint/2010/main" val="283442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因为圆的无穷轴对称特性，让我们只需求出其中一部分圆弧的点坐标，然后利用轴对称特性快速求出其余圆弧的坐标。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计算量？如何改进？</a:t>
            </a:r>
          </a:p>
          <a:p>
            <a:r>
              <a:rPr lang="zh-CN" altLang="en-US"/>
              <a:t>和直线的</a:t>
            </a:r>
            <a:r>
              <a:rPr lang="en-US" altLang="zh-CN"/>
              <a:t>midpoint</a:t>
            </a:r>
            <a:r>
              <a:rPr lang="zh-CN" altLang="en-US"/>
              <a:t>算法一样，将中点坐标带入表达式，判断表达式正负号是初始方案，改进的思路是令</a:t>
            </a:r>
            <a:r>
              <a:rPr lang="en-US" altLang="zh-CN"/>
              <a:t>di=F(M), </a:t>
            </a:r>
            <a:r>
              <a:rPr lang="zh-CN" altLang="en-US"/>
              <a:t>得到</a:t>
            </a:r>
            <a:r>
              <a:rPr lang="en-US" altLang="zh-CN"/>
              <a:t>d_(i+1)</a:t>
            </a:r>
            <a:r>
              <a:rPr lang="zh-CN" altLang="en-US"/>
              <a:t>关于</a:t>
            </a:r>
            <a:r>
              <a:rPr lang="en-US" altLang="zh-CN"/>
              <a:t>di</a:t>
            </a:r>
            <a:r>
              <a:rPr lang="zh-CN" altLang="en-US"/>
              <a:t>的递推公式，从而将运算改为简单的加减法，避免乘法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不管是直线还是圆的光栅化，中点线算法和</a:t>
            </a:r>
            <a:r>
              <a:rPr lang="en-US" altLang="zh-CN" dirty="0" err="1">
                <a:sym typeface="+mn-ea"/>
              </a:rPr>
              <a:t>bresenham</a:t>
            </a:r>
            <a:r>
              <a:rPr lang="zh-CN" altLang="en-US" dirty="0">
                <a:sym typeface="+mn-ea"/>
              </a:rPr>
              <a:t>的思想都是一样的。其中，中点线算法的思想是将两个候选像素的中点坐标带入直线方程</a:t>
            </a:r>
            <a:r>
              <a:rPr lang="en-US" altLang="zh-CN" dirty="0" err="1">
                <a:sym typeface="+mn-ea"/>
              </a:rPr>
              <a:t>ax+by+c</a:t>
            </a:r>
            <a:r>
              <a:rPr lang="en-US" altLang="zh-CN" dirty="0">
                <a:sym typeface="+mn-ea"/>
              </a:rPr>
              <a:t>=0</a:t>
            </a:r>
            <a:r>
              <a:rPr lang="zh-CN" altLang="en-US" dirty="0">
                <a:sym typeface="+mn-ea"/>
              </a:rPr>
              <a:t>，判断表达式的正负号；而</a:t>
            </a:r>
            <a:r>
              <a:rPr lang="en-US" altLang="zh-CN" dirty="0" err="1">
                <a:sym typeface="+mn-ea"/>
              </a:rPr>
              <a:t>Bresenham</a:t>
            </a:r>
            <a:r>
              <a:rPr lang="zh-CN" altLang="en-US" dirty="0">
                <a:sym typeface="+mn-ea"/>
              </a:rPr>
              <a:t>的思想是判断两个候选像素到直线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圆的距离，哪个近选哪个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两个距离值相减，判断正负号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。两个算法都做了运算量的改进，思想都是将用于正负号的表达式从带入方程求解转化为地推，即</a:t>
            </a:r>
            <a:r>
              <a:rPr lang="en-US" altLang="zh-CN" dirty="0">
                <a:sym typeface="+mn-ea"/>
              </a:rPr>
              <a:t>d_(i+1)=</a:t>
            </a:r>
            <a:r>
              <a:rPr lang="en-US" altLang="zh-CN" dirty="0" err="1">
                <a:sym typeface="+mn-ea"/>
              </a:rPr>
              <a:t>di+f</a:t>
            </a:r>
            <a:r>
              <a:rPr lang="en-US" altLang="zh-CN" dirty="0">
                <a:sym typeface="+mn-ea"/>
              </a:rPr>
              <a:t>(*) ,</a:t>
            </a:r>
            <a:r>
              <a:rPr lang="zh-CN" altLang="en-US" dirty="0">
                <a:sym typeface="+mn-ea"/>
              </a:rPr>
              <a:t>其中</a:t>
            </a:r>
            <a:r>
              <a:rPr lang="en-US" altLang="zh-CN" dirty="0">
                <a:sym typeface="+mn-ea"/>
              </a:rPr>
              <a:t>f</a:t>
            </a:r>
            <a:r>
              <a:rPr lang="zh-CN" altLang="en-US" dirty="0">
                <a:sym typeface="+mn-ea"/>
              </a:rPr>
              <a:t>只包含简单运算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22275" indent="0" algn="ctr">
              <a:buNone/>
              <a:defRPr/>
            </a:lvl2pPr>
            <a:lvl3pPr marL="843915" indent="0" algn="ctr">
              <a:buNone/>
              <a:defRPr/>
            </a:lvl3pPr>
            <a:lvl4pPr marL="1266190" indent="0" algn="ctr">
              <a:buNone/>
              <a:defRPr/>
            </a:lvl4pPr>
            <a:lvl5pPr marL="1688465" indent="0" algn="ctr">
              <a:buNone/>
              <a:defRPr/>
            </a:lvl5pPr>
            <a:lvl6pPr marL="2110105" indent="0" algn="ctr">
              <a:buNone/>
              <a:defRPr/>
            </a:lvl6pPr>
            <a:lvl7pPr marL="2532380" indent="0" algn="ctr">
              <a:buNone/>
              <a:defRPr/>
            </a:lvl7pPr>
            <a:lvl8pPr marL="2954020" indent="0" algn="ctr">
              <a:buNone/>
              <a:defRPr/>
            </a:lvl8pPr>
            <a:lvl9pPr marL="3376295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28600" y="1219200"/>
            <a:ext cx="4311162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0439" y="1219200"/>
            <a:ext cx="4311162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28600" y="1219200"/>
            <a:ext cx="4311162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0439" y="1219200"/>
            <a:ext cx="4311162" cy="2514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0439" y="3886200"/>
            <a:ext cx="4311162" cy="2514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76200"/>
            <a:ext cx="876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763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5"/>
            <a:ext cx="10668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9906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accent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accent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accent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accent2"/>
          </a:solidFill>
          <a:latin typeface="Arial" panose="020B0604020202020204" pitchFamily="34" charset="0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accent2"/>
          </a:solidFill>
          <a:latin typeface="Arial" panose="020B0604020202020204" pitchFamily="34" charset="0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accent2"/>
          </a:solidFill>
          <a:latin typeface="Arial" panose="020B0604020202020204" pitchFamily="34" charset="0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accent2"/>
          </a:solidFill>
          <a:latin typeface="Arial" panose="020B0604020202020204" pitchFamily="34" charset="0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316230" indent="-316230" algn="l" rtl="0" eaLnBrk="0" fontAlgn="base" hangingPunct="0">
        <a:spcBef>
          <a:spcPct val="20000"/>
        </a:spcBef>
        <a:spcAft>
          <a:spcPct val="0"/>
        </a:spcAft>
        <a:buChar char="•"/>
        <a:defRPr sz="2955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</a:defRPr>
      </a:lvl2pPr>
      <a:lvl3pPr marL="1055370" indent="-210820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</a:defRPr>
      </a:lvl3pPr>
      <a:lvl4pPr marL="1477010" indent="-210820" algn="l" rtl="0" eaLnBrk="0" fontAlgn="base" hangingPunct="0">
        <a:spcBef>
          <a:spcPct val="20000"/>
        </a:spcBef>
        <a:spcAft>
          <a:spcPct val="0"/>
        </a:spcAft>
        <a:buChar char="–"/>
        <a:defRPr sz="1845">
          <a:solidFill>
            <a:schemeClr val="tx1"/>
          </a:solidFill>
          <a:latin typeface="+mn-lt"/>
        </a:defRPr>
      </a:lvl4pPr>
      <a:lvl5pPr marL="1899285" indent="-210820" algn="l" rtl="0" eaLnBrk="0" fontAlgn="base" hangingPunct="0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</a:defRPr>
      </a:lvl5pPr>
      <a:lvl6pPr marL="2320925" indent="-210820" algn="l" rtl="0" fontAlgn="base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</a:defRPr>
      </a:lvl6pPr>
      <a:lvl7pPr marL="2743200" indent="-210820" algn="l" rtl="0" fontAlgn="base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</a:defRPr>
      </a:lvl7pPr>
      <a:lvl8pPr marL="3165475" indent="-210820" algn="l" rtl="0" fontAlgn="base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</a:defRPr>
      </a:lvl8pPr>
      <a:lvl9pPr marL="3587115" indent="-210820" algn="l" rtl="0" fontAlgn="base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GIF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png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3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2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6.wmf"/><Relationship Id="rId5" Type="http://schemas.openxmlformats.org/officeDocument/2006/relationships/image" Target="../media/image19.e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34.w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9.e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3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2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oleObject" Target="../embeddings/oleObject31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5.bin"/><Relationship Id="rId11" Type="http://schemas.openxmlformats.org/officeDocument/2006/relationships/oleObject" Target="../embeddings/oleObject29.bin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7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1903535" y="1740877"/>
          <a:ext cx="5410200" cy="3305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6" name="Image" r:id="rId4" imgW="7048500" imgH="3975100" progId="Photoshop.Image.7">
                  <p:embed/>
                </p:oleObj>
              </mc:Choice>
              <mc:Fallback>
                <p:oleObj name="Image" r:id="rId4" imgW="7048500" imgH="3975100" progId="Photoshop.Image.7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535" y="1740877"/>
                        <a:ext cx="5410200" cy="3305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039815" y="100789"/>
            <a:ext cx="4572000" cy="922941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基本图元光栅化</a:t>
            </a:r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3868617" y="1248509"/>
            <a:ext cx="2672862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2585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CRT/LCD</a:t>
            </a:r>
          </a:p>
          <a:p>
            <a:r>
              <a:rPr lang="zh-CN" altLang="en-US">
                <a:ea typeface="宋体" panose="02010600030101010101" pitchFamily="2" charset="-122"/>
              </a:rPr>
              <a:t>点：像素</a:t>
            </a:r>
          </a:p>
        </p:txBody>
      </p:sp>
      <p:sp>
        <p:nvSpPr>
          <p:cNvPr id="512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图形系统回顾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7C11C7-D909-4CBE-8C95-3D3BE243BC88}" type="slidenum">
              <a:rPr lang="zh-CN" altLang="en-US" sz="1290">
                <a:latin typeface="Arial" panose="020B0604020202020204" pitchFamily="34" charset="0"/>
              </a:rPr>
              <a:t>2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pic>
        <p:nvPicPr>
          <p:cNvPr id="11" name="Picture 10" descr="http://myarticle.enet.com.cn/images/2006/0802/1154483159939/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069" y="1318849"/>
            <a:ext cx="2699238" cy="2753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 descr="http://images.enet.com.cn/2009/0313/40/935960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12"/>
          <a:stretch>
            <a:fillRect/>
          </a:stretch>
        </p:blipFill>
        <p:spPr bwMode="auto">
          <a:xfrm>
            <a:off x="5546484" y="1173774"/>
            <a:ext cx="3213588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9" name="Picture 17" descr="http://xirang.ca/media/2009/11/7-segments_Indicator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38" y="5521572"/>
            <a:ext cx="791308" cy="107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1" name="Picture 19" descr="http://www.csjas.com/content/userfile/2009-10-22-17-100710913506thumb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426" y="4418137"/>
            <a:ext cx="2850174" cy="2176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5" name="Picture 23" descr="LED安全指示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29" b="14857"/>
          <a:stretch>
            <a:fillRect/>
          </a:stretch>
        </p:blipFill>
        <p:spPr bwMode="auto">
          <a:xfrm>
            <a:off x="5449767" y="4001969"/>
            <a:ext cx="3516923" cy="2592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http://myarticle.enet.com.cn/images/2006/0802/1154483159939/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957" y="1459526"/>
            <a:ext cx="2699238" cy="2753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像素分析</a:t>
            </a:r>
          </a:p>
        </p:txBody>
      </p:sp>
      <p:sp>
        <p:nvSpPr>
          <p:cNvPr id="717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图形系统回顾</a:t>
            </a:r>
          </a:p>
        </p:txBody>
      </p:sp>
      <p:sp>
        <p:nvSpPr>
          <p:cNvPr id="717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AF2886-215B-48F4-8863-1D3B64944534}" type="slidenum">
              <a:rPr lang="zh-CN" altLang="en-US" sz="1290">
                <a:latin typeface="Arial" panose="020B0604020202020204" pitchFamily="34" charset="0"/>
              </a:rPr>
              <a:t>3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pic>
        <p:nvPicPr>
          <p:cNvPr id="9" name="Picture 2" descr="1p15"/>
          <p:cNvPicPr>
            <a:picLocks noChangeAspect="1" noChangeArrowheads="1"/>
          </p:cNvPicPr>
          <p:nvPr/>
        </p:nvPicPr>
        <p:blipFill>
          <a:blip r:embed="rId4">
            <a:lum contrast="7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62" y="4059119"/>
            <a:ext cx="3798277" cy="2535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 descr="1p16"/>
          <p:cNvPicPr>
            <a:picLocks noChangeAspect="1" noChangeArrowheads="1"/>
          </p:cNvPicPr>
          <p:nvPr/>
        </p:nvPicPr>
        <p:blipFill>
          <a:blip r:embed="rId5">
            <a:lum contrast="7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469" y="4032739"/>
            <a:ext cx="3203331" cy="2561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http://www.52hardware.com/52evalu/display/lcdyl03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281" y="1050685"/>
            <a:ext cx="4387362" cy="269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应用程序阶段：将数据以图元的形式提供给图形硬件，如描述三维模型的点、线、多边形、用于表面纹理映射的图像或位图；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几何处理阶段：以每个顶点为基础对几何图元进行处理，从三维坐标变化为二维坐标。包括：顶点变换、投影、裁剪、顶点着色等。</a:t>
            </a:r>
            <a:r>
              <a:rPr lang="en-US" altLang="zh-CN" dirty="0">
                <a:ea typeface="宋体" panose="02010600030101010101" pitchFamily="2" charset="-122"/>
              </a:rPr>
              <a:t>GPU</a:t>
            </a:r>
          </a:p>
          <a:p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光栅阶段：把二维顶点转换为屏幕像素。</a:t>
            </a:r>
          </a:p>
        </p:txBody>
      </p:sp>
      <p:sp>
        <p:nvSpPr>
          <p:cNvPr id="717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图形流水线</a:t>
            </a:r>
          </a:p>
        </p:txBody>
      </p:sp>
      <p:sp>
        <p:nvSpPr>
          <p:cNvPr id="717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AF2886-215B-48F4-8863-1D3B64944534}" type="slidenum">
              <a:rPr lang="zh-CN" altLang="en-US" sz="1290">
                <a:latin typeface="Arial" panose="020B0604020202020204" pitchFamily="34" charset="0"/>
              </a:rPr>
              <a:t>4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723014" y="1924493"/>
            <a:ext cx="1541721" cy="765544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应用程序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阶段</a:t>
            </a:r>
          </a:p>
        </p:txBody>
      </p:sp>
      <p:sp>
        <p:nvSpPr>
          <p:cNvPr id="11" name="矩形 10"/>
          <p:cNvSpPr/>
          <p:nvPr/>
        </p:nvSpPr>
        <p:spPr bwMode="auto">
          <a:xfrm>
            <a:off x="3629246" y="1938670"/>
            <a:ext cx="1541721" cy="765544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/>
              <a:t>几何处理</a:t>
            </a:r>
            <a:endParaRPr lang="en-US" altLang="zh-CN" sz="24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阶段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6414976" y="1924493"/>
            <a:ext cx="1541721" cy="765544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光栅化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阶段</a:t>
            </a:r>
          </a:p>
        </p:txBody>
      </p:sp>
      <p:cxnSp>
        <p:nvCxnSpPr>
          <p:cNvPr id="4" name="直接箭头连接符 3"/>
          <p:cNvCxnSpPr>
            <a:endCxn id="11" idx="1"/>
          </p:cNvCxnSpPr>
          <p:nvPr/>
        </p:nvCxnSpPr>
        <p:spPr bwMode="auto">
          <a:xfrm>
            <a:off x="2264735" y="2307265"/>
            <a:ext cx="1364511" cy="1417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</p:spPr>
      </p:cxnSp>
      <p:cxnSp>
        <p:nvCxnSpPr>
          <p:cNvPr id="7" name="直接箭头连接符 6"/>
          <p:cNvCxnSpPr>
            <a:endCxn id="13" idx="1"/>
          </p:cNvCxnSpPr>
          <p:nvPr/>
        </p:nvCxnSpPr>
        <p:spPr bwMode="auto">
          <a:xfrm>
            <a:off x="5170967" y="2307265"/>
            <a:ext cx="124400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999849-FAC7-4384-A14A-76766AF6A867}" type="slidenum">
              <a:rPr lang="zh-CN" altLang="en-US" sz="1290">
                <a:latin typeface="Arial" panose="020B0604020202020204" pitchFamily="34" charset="0"/>
              </a:rPr>
              <a:t>5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问题提出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67558"/>
            <a:ext cx="8763000" cy="4904642"/>
          </a:xfrm>
        </p:spPr>
        <p:txBody>
          <a:bodyPr/>
          <a:lstStyle/>
          <a:p>
            <a:pPr marL="309245" indent="-309245" defTabSz="414655" eaLnBrk="1" hangingPunct="1">
              <a:defRPr/>
            </a:pPr>
            <a:r>
              <a:rPr lang="zh-CN" altLang="en-US" dirty="0">
                <a:ea typeface="宋体" panose="02010600030101010101" pitchFamily="2" charset="-122"/>
              </a:rPr>
              <a:t>屏幕外部：漂亮复杂的各种对象</a:t>
            </a:r>
            <a:endParaRPr lang="en-US" altLang="zh-CN" dirty="0">
              <a:ea typeface="宋体" panose="02010600030101010101" pitchFamily="2" charset="-122"/>
            </a:endParaRPr>
          </a:p>
          <a:p>
            <a:pPr marL="309245" indent="-309245" defTabSz="414655" eaLnBrk="1" hangingPunct="1">
              <a:defRPr/>
            </a:pPr>
            <a:r>
              <a:rPr lang="zh-CN" altLang="en-US" dirty="0">
                <a:ea typeface="宋体" panose="02010600030101010101" pitchFamily="2" charset="-122"/>
              </a:rPr>
              <a:t>屏幕内部：固定排列的像素</a:t>
            </a:r>
            <a:endParaRPr lang="en-US" altLang="zh-CN" dirty="0">
              <a:ea typeface="宋体" panose="02010600030101010101" pitchFamily="2" charset="-122"/>
            </a:endParaRPr>
          </a:p>
          <a:p>
            <a:pPr marL="309245" indent="-309245" defTabSz="414655" eaLnBrk="1" hangingPunct="1">
              <a:defRPr/>
            </a:pPr>
            <a:r>
              <a:rPr lang="zh-CN" altLang="en-US" dirty="0">
                <a:ea typeface="宋体" panose="02010600030101010101" pitchFamily="2" charset="-122"/>
              </a:rPr>
              <a:t>屏幕外部↔内部</a:t>
            </a:r>
            <a:endParaRPr lang="en-US" altLang="zh-CN" dirty="0">
              <a:ea typeface="宋体" panose="02010600030101010101" pitchFamily="2" charset="-122"/>
            </a:endParaRPr>
          </a:p>
          <a:p>
            <a:pPr marL="309245" indent="-309245" defTabSz="414655" eaLnBrk="1" hangingPunct="1">
              <a:defRPr/>
            </a:pPr>
            <a:r>
              <a:rPr lang="zh-CN" altLang="en-US" dirty="0">
                <a:ea typeface="宋体" panose="02010600030101010101" pitchFamily="2" charset="-122"/>
              </a:rPr>
              <a:t>光栅化</a:t>
            </a:r>
          </a:p>
        </p:txBody>
      </p:sp>
      <p:pic>
        <p:nvPicPr>
          <p:cNvPr id="11" name="Picture 12" descr="http://hardware.mydrivers.com/pages/images/20061114145438_1637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06" y="3560885"/>
            <a:ext cx="4051788" cy="26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 descr="http://www.52hardware.com/52evalu/display/lcdyl03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70"/>
          <a:stretch>
            <a:fillRect/>
          </a:stretch>
        </p:blipFill>
        <p:spPr bwMode="auto">
          <a:xfrm>
            <a:off x="5737628" y="3568713"/>
            <a:ext cx="3177774" cy="269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右箭头 7"/>
          <p:cNvSpPr/>
          <p:nvPr/>
        </p:nvSpPr>
        <p:spPr bwMode="auto">
          <a:xfrm>
            <a:off x="4588123" y="4262804"/>
            <a:ext cx="1145931" cy="3927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右箭头 9"/>
          <p:cNvSpPr/>
          <p:nvPr/>
        </p:nvSpPr>
        <p:spPr bwMode="auto">
          <a:xfrm rot="10800000">
            <a:off x="4548554" y="5147898"/>
            <a:ext cx="1144466" cy="391257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utoUpdateAnimBg="0"/>
      <p:bldP spid="14" grpId="0" animBg="1" autoUpdateAnimBg="0"/>
      <p:bldP spid="1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999849-FAC7-4384-A14A-76766AF6A867}" type="slidenum">
              <a:rPr lang="zh-CN" altLang="en-US" sz="1290">
                <a:latin typeface="Arial" panose="020B0604020202020204" pitchFamily="34" charset="0"/>
              </a:rPr>
              <a:t>6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问题提出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67558"/>
            <a:ext cx="8763000" cy="4904642"/>
          </a:xfrm>
        </p:spPr>
        <p:txBody>
          <a:bodyPr/>
          <a:lstStyle/>
          <a:p>
            <a:pPr marL="309245" indent="-309245" defTabSz="414655" eaLnBrk="1" hangingPunct="1">
              <a:defRPr/>
            </a:pPr>
            <a:r>
              <a:rPr lang="zh-CN" altLang="en-US" sz="2585" dirty="0">
                <a:ea typeface="宋体" panose="02010600030101010101" pitchFamily="2" charset="-122"/>
              </a:rPr>
              <a:t>光栅化：</a:t>
            </a:r>
            <a:r>
              <a:rPr lang="en-US" altLang="zh-CN" sz="2585" dirty="0">
                <a:ea typeface="宋体" panose="02010600030101010101" pitchFamily="2" charset="-122"/>
              </a:rPr>
              <a:t>Rasterizing objects into pixels</a:t>
            </a:r>
          </a:p>
          <a:p>
            <a:pPr marL="309245" indent="-309245" defTabSz="414655" eaLnBrk="1" hangingPunct="1">
              <a:defRPr/>
            </a:pPr>
            <a:r>
              <a:rPr lang="zh-CN" altLang="en-US" sz="2585" dirty="0">
                <a:ea typeface="宋体" panose="02010600030101010101" pitchFamily="2" charset="-122"/>
              </a:rPr>
              <a:t>也称为</a:t>
            </a:r>
            <a:r>
              <a:rPr lang="zh-CN" altLang="en-US" sz="2585" dirty="0">
                <a:solidFill>
                  <a:srgbClr val="0000FF"/>
                </a:solidFill>
                <a:ea typeface="宋体" panose="02010600030101010101" pitchFamily="2" charset="-122"/>
              </a:rPr>
              <a:t>扫描转换</a:t>
            </a:r>
            <a:endParaRPr lang="en-US" altLang="zh-CN" sz="2585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585" dirty="0">
                <a:ea typeface="宋体" panose="02010600030101010101" pitchFamily="2" charset="-122"/>
              </a:rPr>
              <a:t>Primitives are continuous; screen is discrete </a:t>
            </a:r>
          </a:p>
          <a:p>
            <a:pPr eaLnBrk="1" hangingPunct="1">
              <a:defRPr/>
            </a:pPr>
            <a:r>
              <a:rPr lang="en-US" altLang="zh-CN" sz="2585" dirty="0">
                <a:ea typeface="宋体" panose="02010600030101010101" pitchFamily="2" charset="-122"/>
              </a:rPr>
              <a:t>Algorithms for efficient generation of the samples comprising this approximation</a:t>
            </a:r>
          </a:p>
          <a:p>
            <a:pPr marL="309245" indent="-309245" defTabSz="414655" eaLnBrk="1" hangingPunct="1">
              <a:buNone/>
              <a:defRPr/>
            </a:pP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45058" name="Picture 2" descr="https://timgsa.baidu.com/timg?image&amp;quality=80&amp;size=b9999_10000&amp;sec=1513312104083&amp;di=9a40e03ecc168b94cf9e6df7eefe3eaf&amp;imgtype=jpg&amp;src=http%3A%2F%2Fimg2.imgtn.bdimg.com%2Fit%2Fu%3D19193382%2C2137982823%26fm%3D214%26gp%3D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8" t="24351" r="8707" b="9813"/>
          <a:stretch>
            <a:fillRect/>
          </a:stretch>
        </p:blipFill>
        <p:spPr bwMode="auto">
          <a:xfrm>
            <a:off x="2129145" y="3555289"/>
            <a:ext cx="6786255" cy="3038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6B48756-061D-408E-B86D-2CD468394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194" y="1243434"/>
            <a:ext cx="4218055" cy="541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944083-F155-4BB8-A582-D64C9B7AFFDD}" type="slidenum">
              <a:rPr lang="zh-CN" altLang="en-US" sz="1290">
                <a:latin typeface="Arial" panose="020B0604020202020204" pitchFamily="34" charset="0"/>
              </a:rPr>
              <a:t>8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37891" name="灯片编号占位符 5"/>
          <p:cNvSpPr txBox="1">
            <a:spLocks noGrp="1"/>
          </p:cNvSpPr>
          <p:nvPr/>
        </p:nvSpPr>
        <p:spPr bwMode="auto">
          <a:xfrm>
            <a:off x="6553200" y="6227888"/>
            <a:ext cx="2133600" cy="296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7C2C34D-6DA1-4980-9DDE-B90AB210744B}" type="slidenum">
              <a:rPr lang="zh-CN" altLang="en-US" sz="1290">
                <a:latin typeface="Arial" panose="020B0604020202020204" pitchFamily="34" charset="0"/>
                <a:ea typeface="宋体" panose="02010600030101010101" pitchFamily="2" charset="-122"/>
              </a:rPr>
              <a:t>8</a:t>
            </a:fld>
            <a:endParaRPr lang="en-US" altLang="zh-CN" sz="129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基本图元光栅化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直线光栅化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直接法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数值微分法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中点线算法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err="1">
                <a:ea typeface="宋体" panose="02010600030101010101" pitchFamily="2" charset="-122"/>
              </a:rPr>
              <a:t>Bresenham</a:t>
            </a:r>
            <a:r>
              <a:rPr lang="zh-CN" altLang="en-US" dirty="0">
                <a:ea typeface="宋体" panose="02010600030101010101" pitchFamily="2" charset="-122"/>
              </a:rPr>
              <a:t>算法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圆光栅化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Naive method</a:t>
            </a: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角度</a:t>
            </a:r>
            <a:r>
              <a:rPr lang="en-US" altLang="zh-CN" dirty="0">
                <a:ea typeface="宋体" panose="02010600030101010101" pitchFamily="2" charset="-122"/>
              </a:rPr>
              <a:t>DDA</a:t>
            </a:r>
            <a:r>
              <a:rPr lang="zh-CN" altLang="en-US" dirty="0">
                <a:ea typeface="宋体" panose="02010600030101010101" pitchFamily="2" charset="-122"/>
              </a:rPr>
              <a:t>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中点画圆法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err="1">
                <a:ea typeface="宋体" panose="02010600030101010101" pitchFamily="2" charset="-122"/>
              </a:rPr>
              <a:t>Bresenham</a:t>
            </a:r>
            <a:r>
              <a:rPr lang="zh-CN" altLang="en-US" dirty="0">
                <a:ea typeface="宋体" panose="02010600030101010101" pitchFamily="2" charset="-122"/>
              </a:rPr>
              <a:t>算法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789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206" y="4203720"/>
            <a:ext cx="2513520" cy="2320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57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1E0AB8-EC47-4579-967E-90EE79E2DD30}" type="datetime10">
              <a:rPr lang="zh-CN" altLang="en-US" sz="1290">
                <a:latin typeface="Arial" panose="020B0604020202020204" pitchFamily="34" charset="0"/>
              </a:rPr>
              <a:t>09:04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pic>
        <p:nvPicPr>
          <p:cNvPr id="8" name="Picture 2" descr="https://timgsa.baidu.com/timg?image&amp;quality=80&amp;size=b9999_10000&amp;sec=1513312104083&amp;di=9a40e03ecc168b94cf9e6df7eefe3eaf&amp;imgtype=jpg&amp;src=http%3A%2F%2Fimg2.imgtn.bdimg.com%2Fit%2Fu%3D19193382%2C2137982823%26fm%3D214%26gp%3D0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72" t="24351" r="8707" b="9813"/>
          <a:stretch>
            <a:fillRect/>
          </a:stretch>
        </p:blipFill>
        <p:spPr bwMode="auto">
          <a:xfrm>
            <a:off x="6144858" y="1473183"/>
            <a:ext cx="2684869" cy="230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FA999F-60EF-4C31-B485-6AB3BA31F6A3}" type="slidenum">
              <a:rPr lang="zh-CN" altLang="en-US" sz="1290">
                <a:latin typeface="Arial" panose="020B0604020202020204" pitchFamily="34" charset="0"/>
              </a:rPr>
              <a:t>9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直线光栅化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44415"/>
            <a:ext cx="8763000" cy="5427785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问题提出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问题分析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解决方案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812073" y="1370139"/>
            <a:ext cx="2467708" cy="634511"/>
          </a:xfrm>
          <a:prstGeom prst="wedgeRoundRectCallout">
            <a:avLst>
              <a:gd name="adj1" fmla="val -66024"/>
              <a:gd name="adj2" fmla="val -2388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 dirty="0">
                <a:solidFill>
                  <a:schemeClr val="accent2"/>
                </a:solidFill>
                <a:ea typeface="宋体" panose="02010600030101010101" pitchFamily="2" charset="-122"/>
              </a:rPr>
              <a:t>问题是什么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  <p:pic>
        <p:nvPicPr>
          <p:cNvPr id="11" name="Picture 17" descr="http://www.jb51.net/upload/20073622105348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35" y="3089032"/>
            <a:ext cx="4747846" cy="327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2"/>
          <a:stretch>
            <a:fillRect/>
          </a:stretch>
        </p:blipFill>
        <p:spPr bwMode="auto">
          <a:xfrm flipV="1">
            <a:off x="6358981" y="3892063"/>
            <a:ext cx="2728546" cy="222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右箭头 7"/>
          <p:cNvSpPr/>
          <p:nvPr/>
        </p:nvSpPr>
        <p:spPr bwMode="auto">
          <a:xfrm>
            <a:off x="5330605" y="4422533"/>
            <a:ext cx="1145931" cy="3927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右箭头 9"/>
          <p:cNvSpPr/>
          <p:nvPr/>
        </p:nvSpPr>
        <p:spPr bwMode="auto">
          <a:xfrm rot="10800000">
            <a:off x="5291035" y="5307624"/>
            <a:ext cx="1144466" cy="391257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 autoUpdateAnimBg="0"/>
      <p:bldP spid="10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339289-7127-488E-8B37-207A36E60AC1}" type="slidenum">
              <a:rPr lang="zh-CN" altLang="en-US" sz="1290">
                <a:latin typeface="Arial" panose="020B0604020202020204" pitchFamily="34" charset="0"/>
              </a:rPr>
              <a:t>10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问题定义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输入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  <a:r>
              <a:rPr lang="zh-CN" altLang="en-US" dirty="0">
                <a:ea typeface="宋体" panose="02010600030101010101" pitchFamily="2" charset="-122"/>
              </a:rPr>
              <a:t>起点</a:t>
            </a:r>
            <a:r>
              <a:rPr lang="en-US" altLang="zh-CN" dirty="0">
                <a:ea typeface="宋体" panose="02010600030101010101" pitchFamily="2" charset="-122"/>
              </a:rPr>
              <a:t>(x0, y0),</a:t>
            </a:r>
            <a:r>
              <a:rPr lang="zh-CN" altLang="en-US" dirty="0">
                <a:ea typeface="宋体" panose="02010600030101010101" pitchFamily="2" charset="-122"/>
              </a:rPr>
              <a:t>终点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ea typeface="宋体" panose="02010600030101010101" pitchFamily="2" charset="-122"/>
              </a:rPr>
              <a:t>xn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yn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输出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  <a:r>
              <a:rPr lang="zh-CN" altLang="en-US" dirty="0">
                <a:ea typeface="宋体" panose="02010600030101010101" pitchFamily="2" charset="-122"/>
              </a:rPr>
              <a:t>最靠近直线的像素点集合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3" name="Rectangle 9"/>
          <p:cNvSpPr>
            <a:spLocks noChangeArrowheads="1"/>
          </p:cNvSpPr>
          <p:nvPr/>
        </p:nvSpPr>
        <p:spPr bwMode="auto">
          <a:xfrm>
            <a:off x="1" y="89717"/>
            <a:ext cx="184731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074" name="Object 8"/>
          <p:cNvGraphicFramePr>
            <a:graphicFrameLocks noChangeAspect="1"/>
          </p:cNvGraphicFramePr>
          <p:nvPr/>
        </p:nvGraphicFramePr>
        <p:xfrm>
          <a:off x="5657852" y="1276351"/>
          <a:ext cx="3486150" cy="263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" name="Visio" r:id="rId4" imgW="2537460" imgH="1919605" progId="Visio.Drawing.11">
                  <p:embed/>
                </p:oleObj>
              </mc:Choice>
              <mc:Fallback>
                <p:oleObj name="Visio" r:id="rId4" imgW="2537460" imgH="1919605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2" y="1276351"/>
                        <a:ext cx="3486150" cy="263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688731" y="2957146"/>
            <a:ext cx="2467708" cy="634512"/>
          </a:xfrm>
          <a:prstGeom prst="wedgeRoundRectCallout">
            <a:avLst>
              <a:gd name="adj1" fmla="val 41069"/>
              <a:gd name="adj2" fmla="val -9356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 dirty="0">
                <a:solidFill>
                  <a:schemeClr val="accent2"/>
                </a:solidFill>
                <a:ea typeface="宋体" panose="02010600030101010101" pitchFamily="2" charset="-122"/>
              </a:rPr>
              <a:t>问题完整否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  <p:cxnSp>
        <p:nvCxnSpPr>
          <p:cNvPr id="9" name="直接连接符 8"/>
          <p:cNvCxnSpPr>
            <a:cxnSpLocks noChangeShapeType="1"/>
          </p:cNvCxnSpPr>
          <p:nvPr/>
        </p:nvCxnSpPr>
        <p:spPr bwMode="auto">
          <a:xfrm flipV="1">
            <a:off x="118696" y="4111869"/>
            <a:ext cx="2444262" cy="1886682"/>
          </a:xfrm>
          <a:prstGeom prst="line">
            <a:avLst/>
          </a:prstGeom>
          <a:noFill/>
          <a:ln w="127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2"/>
          <a:stretch>
            <a:fillRect/>
          </a:stretch>
        </p:blipFill>
        <p:spPr bwMode="auto">
          <a:xfrm>
            <a:off x="2754281" y="4136516"/>
            <a:ext cx="2728546" cy="222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 descr="http://czsx.cooco.net.cn/files/down/test/2009/11/09/07/2009110907125792903186.files/image076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8" b="11700"/>
          <a:stretch>
            <a:fillRect/>
          </a:stretch>
        </p:blipFill>
        <p:spPr bwMode="auto">
          <a:xfrm>
            <a:off x="6280640" y="3820261"/>
            <a:ext cx="2702169" cy="277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3390900" y="3360131"/>
            <a:ext cx="2467708" cy="634511"/>
          </a:xfrm>
          <a:prstGeom prst="wedgeRoundRectCallout">
            <a:avLst>
              <a:gd name="adj1" fmla="val 60615"/>
              <a:gd name="adj2" fmla="val -9356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 dirty="0">
                <a:solidFill>
                  <a:schemeClr val="accent2"/>
                </a:solidFill>
                <a:ea typeface="宋体" panose="02010600030101010101" pitchFamily="2" charset="-122"/>
              </a:rPr>
              <a:t>红点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r>
              <a:rPr lang="zh-CN" altLang="en-US" sz="2585" dirty="0">
                <a:solidFill>
                  <a:schemeClr val="accent2"/>
                </a:solidFill>
                <a:ea typeface="宋体" panose="02010600030101010101" pitchFamily="2" charset="-122"/>
              </a:rPr>
              <a:t>绿点？</a:t>
            </a:r>
            <a:endParaRPr lang="en-US" altLang="zh-CN" sz="2585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7134958" y="3730873"/>
            <a:ext cx="1295400" cy="485043"/>
          </a:xfrm>
          <a:prstGeom prst="wedgeRoundRectCallout">
            <a:avLst>
              <a:gd name="adj1" fmla="val -55304"/>
              <a:gd name="adj2" fmla="val -9259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>
                <a:solidFill>
                  <a:schemeClr val="accent2"/>
                </a:solidFill>
                <a:ea typeface="宋体" panose="02010600030101010101" pitchFamily="2" charset="-122"/>
              </a:rPr>
              <a:t>绿点！</a:t>
            </a:r>
            <a:endParaRPr lang="en-US" altLang="zh-CN" sz="2585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build="allAtOnce" autoUpdateAnimBg="0"/>
      <p:bldP spid="7" grpId="0" animBg="1" autoUpdateAnimBg="0"/>
      <p:bldP spid="13" grpId="0" animBg="1" autoUpdateAnimBg="0"/>
      <p:bldP spid="1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1AE659-EDD6-4017-8BF9-F9B498B274A0}" type="slidenum">
              <a:rPr lang="zh-CN" altLang="en-US" sz="1290">
                <a:latin typeface="Arial" panose="020B0604020202020204" pitchFamily="34" charset="0"/>
              </a:rPr>
              <a:t>11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Requirements </a:t>
            </a:r>
            <a:r>
              <a:rPr lang="zh-CN" altLang="en-US" dirty="0">
                <a:ea typeface="宋体" panose="02010600030101010101" pitchFamily="2" charset="-122"/>
              </a:rPr>
              <a:t>约束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Uniform thickness &amp; brightness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No gaps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Speed</a:t>
            </a:r>
          </a:p>
        </p:txBody>
      </p:sp>
      <p:pic>
        <p:nvPicPr>
          <p:cNvPr id="1741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2"/>
          <a:stretch>
            <a:fillRect/>
          </a:stretch>
        </p:blipFill>
        <p:spPr bwMode="auto">
          <a:xfrm>
            <a:off x="4777156" y="3478823"/>
            <a:ext cx="2728546" cy="222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>
            <a:cxnSpLocks noChangeShapeType="1"/>
          </p:cNvCxnSpPr>
          <p:nvPr/>
        </p:nvCxnSpPr>
        <p:spPr bwMode="auto">
          <a:xfrm flipV="1">
            <a:off x="1120318" y="3780693"/>
            <a:ext cx="2444262" cy="1886682"/>
          </a:xfrm>
          <a:prstGeom prst="line">
            <a:avLst/>
          </a:prstGeom>
          <a:noFill/>
          <a:ln w="127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744725-3701-4F9E-AAB9-04617DF5D628}" type="slidenum">
              <a:rPr lang="zh-CN" altLang="en-US" sz="1290">
                <a:latin typeface="Arial" panose="020B0604020202020204" pitchFamily="34" charset="0"/>
              </a:rPr>
              <a:t>12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Simple Method </a:t>
            </a:r>
            <a:r>
              <a:rPr lang="zh-CN" altLang="en-US" dirty="0">
                <a:ea typeface="黑体" panose="02010609060101010101" pitchFamily="49" charset="-122"/>
              </a:rPr>
              <a:t>直接法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41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5934"/>
            <a:ext cx="8763000" cy="5026269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0&lt;k&lt;1! 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最大位移方向</a:t>
            </a:r>
            <a:r>
              <a:rPr lang="zh-CN" altLang="en-US" dirty="0">
                <a:ea typeface="宋体" panose="02010600030101010101" pitchFamily="2" charset="-122"/>
              </a:rPr>
              <a:t>为</a:t>
            </a:r>
            <a:r>
              <a:rPr lang="en-US" altLang="zh-CN" dirty="0">
                <a:ea typeface="宋体" panose="02010600030101010101" pitchFamily="2" charset="-122"/>
              </a:rPr>
              <a:t>x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move from x</a:t>
            </a:r>
            <a:r>
              <a:rPr lang="en-US" altLang="zh-CN" baseline="-25000" dirty="0">
                <a:ea typeface="宋体" panose="02010600030101010101" pitchFamily="2" charset="-122"/>
              </a:rPr>
              <a:t>0</a:t>
            </a:r>
            <a:r>
              <a:rPr lang="en-US" altLang="zh-CN" dirty="0">
                <a:ea typeface="宋体" panose="02010600030101010101" pitchFamily="2" charset="-122"/>
              </a:rPr>
              <a:t> to </a:t>
            </a:r>
            <a:r>
              <a:rPr lang="en-US" altLang="zh-CN" dirty="0" err="1">
                <a:ea typeface="宋体" panose="02010600030101010101" pitchFamily="2" charset="-122"/>
              </a:rPr>
              <a:t>x</a:t>
            </a:r>
            <a:r>
              <a:rPr lang="en-US" altLang="zh-CN" baseline="-25000" dirty="0" err="1">
                <a:ea typeface="宋体" panose="02010600030101010101" pitchFamily="2" charset="-122"/>
              </a:rPr>
              <a:t>n</a:t>
            </a:r>
            <a:endParaRPr lang="en-US" altLang="zh-CN" baseline="-25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y=</a:t>
            </a:r>
            <a:r>
              <a:rPr lang="en-US" altLang="zh-CN" dirty="0" err="1">
                <a:ea typeface="宋体" panose="02010600030101010101" pitchFamily="2" charset="-122"/>
              </a:rPr>
              <a:t>kx+b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(x, int (y+0.5))</a:t>
            </a:r>
          </a:p>
        </p:txBody>
      </p:sp>
      <p:graphicFrame>
        <p:nvGraphicFramePr>
          <p:cNvPr id="16389" name="Object 3"/>
          <p:cNvGraphicFramePr>
            <a:graphicFrameLocks noChangeAspect="1"/>
          </p:cNvGraphicFramePr>
          <p:nvPr/>
        </p:nvGraphicFramePr>
        <p:xfrm>
          <a:off x="4081100" y="2882415"/>
          <a:ext cx="4586654" cy="3465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3" name="Visio" r:id="rId4" imgW="2537460" imgH="1919605" progId="Visio.Drawing.11">
                  <p:embed/>
                </p:oleObj>
              </mc:Choice>
              <mc:Fallback>
                <p:oleObj name="Visio" r:id="rId4" imgW="2537460" imgH="191960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100" y="2882415"/>
                        <a:ext cx="4586654" cy="3465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8"/>
          <p:cNvGraphicFramePr>
            <a:graphicFrameLocks noChangeAspect="1"/>
          </p:cNvGraphicFramePr>
          <p:nvPr/>
        </p:nvGraphicFramePr>
        <p:xfrm>
          <a:off x="4753710" y="1414097"/>
          <a:ext cx="2957146" cy="1065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4" name="Equation" r:id="rId6" imgW="1091565" imgH="393700" progId="Equation.DSMT4">
                  <p:embed/>
                </p:oleObj>
              </mc:Choice>
              <mc:Fallback>
                <p:oleObj name="Equation" r:id="rId6" imgW="1091565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3710" y="1414097"/>
                        <a:ext cx="2957146" cy="1065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361950" y="1157605"/>
            <a:ext cx="8401050" cy="475170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LineSimple</a:t>
            </a:r>
            <a:r>
              <a:rPr lang="en-US" altLang="zh-CN" i="1" dirty="0"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</a:rPr>
              <a:t>int</a:t>
            </a:r>
            <a:r>
              <a:rPr lang="en-US" altLang="zh-CN" i="1" dirty="0">
                <a:ea typeface="宋体" panose="02010600030101010101" pitchFamily="2" charset="-122"/>
              </a:rPr>
              <a:t> x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,int y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,int 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i="1" dirty="0" err="1">
                <a:ea typeface="宋体" panose="02010600030101010101" pitchFamily="2" charset="-122"/>
              </a:rPr>
              <a:t>,int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i="1" dirty="0">
                <a:ea typeface="宋体" panose="02010600030101010101" pitchFamily="2" charset="-122"/>
              </a:rPr>
              <a:t>){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k=(x</a:t>
            </a:r>
            <a:r>
              <a:rPr lang="en-US" altLang="zh-CN" i="1" baseline="-25000" dirty="0">
                <a:ea typeface="宋体" panose="02010600030101010101" pitchFamily="2" charset="-122"/>
              </a:rPr>
              <a:t>n</a:t>
            </a:r>
            <a:r>
              <a:rPr lang="en-US" altLang="zh-CN" i="1" dirty="0">
                <a:ea typeface="宋体" panose="02010600030101010101" pitchFamily="2" charset="-122"/>
              </a:rPr>
              <a:t>-x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)/(y</a:t>
            </a:r>
            <a:r>
              <a:rPr lang="en-US" altLang="zh-CN" i="1" baseline="-25000" dirty="0">
                <a:ea typeface="宋体" panose="02010600030101010101" pitchFamily="2" charset="-122"/>
              </a:rPr>
              <a:t>n</a:t>
            </a:r>
            <a:r>
              <a:rPr lang="en-US" altLang="zh-CN" i="1" dirty="0">
                <a:ea typeface="宋体" panose="02010600030101010101" pitchFamily="2" charset="-122"/>
              </a:rPr>
              <a:t>-y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); b=y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-kx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endParaRPr lang="zh-CN" altLang="zh-CN" i="1" baseline="-25000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y=y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; 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for(x=x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;x&lt;=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i="1" dirty="0">
                <a:ea typeface="宋体" panose="02010600030101010101" pitchFamily="2" charset="-122"/>
              </a:rPr>
              <a:t>; x++)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{</a:t>
            </a:r>
            <a:endParaRPr lang="zh-CN" altLang="zh-CN" i="1" dirty="0">
              <a:ea typeface="宋体" panose="02010600030101010101" pitchFamily="2" charset="-122"/>
            </a:endParaRPr>
          </a:p>
          <a:p>
            <a:pPr marL="773430" lvl="1" indent="457200">
              <a:buFontTx/>
              <a:buNone/>
            </a:pPr>
            <a:r>
              <a:rPr lang="en-US" altLang="zh-CN" i="1" dirty="0">
                <a:ea typeface="宋体" panose="02010600030101010101" pitchFamily="2" charset="-122"/>
                <a:sym typeface="+mn-ea"/>
              </a:rPr>
              <a:t>y=</a:t>
            </a:r>
            <a:r>
              <a:rPr lang="en-US" altLang="zh-CN" i="1" dirty="0" err="1">
                <a:ea typeface="宋体" panose="02010600030101010101" pitchFamily="2" charset="-122"/>
                <a:sym typeface="+mn-ea"/>
              </a:rPr>
              <a:t>kx+b</a:t>
            </a:r>
            <a:r>
              <a:rPr lang="en-US" altLang="zh-CN" i="1" dirty="0">
                <a:ea typeface="宋体" panose="02010600030101010101" pitchFamily="2" charset="-122"/>
                <a:sym typeface="+mn-ea"/>
              </a:rPr>
              <a:t>;</a:t>
            </a:r>
            <a:r>
              <a:rPr lang="en-US" altLang="zh-CN" i="1" dirty="0">
                <a:ea typeface="宋体" panose="02010600030101010101" pitchFamily="2" charset="-122"/>
              </a:rPr>
              <a:t>		</a:t>
            </a:r>
          </a:p>
          <a:p>
            <a:pPr marL="773430" lvl="1" indent="457200"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Pixel(x, (</a:t>
            </a:r>
            <a:r>
              <a:rPr lang="en-US" altLang="zh-CN" i="1" dirty="0" err="1">
                <a:ea typeface="宋体" panose="02010600030101010101" pitchFamily="2" charset="-122"/>
              </a:rPr>
              <a:t>int</a:t>
            </a:r>
            <a:r>
              <a:rPr lang="en-US" altLang="zh-CN" i="1" dirty="0">
                <a:ea typeface="宋体" panose="02010600030101010101" pitchFamily="2" charset="-122"/>
              </a:rPr>
              <a:t>)(y+0.5));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}		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}</a:t>
            </a:r>
            <a:endParaRPr lang="zh-CN" altLang="en-US" i="1" dirty="0">
              <a:ea typeface="宋体" panose="02010600030101010101" pitchFamily="2" charset="-122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7C97E0-46C5-4685-93A6-7E56DF65E0C5}" type="slidenum">
              <a:rPr lang="zh-CN" altLang="en-US" sz="1290">
                <a:latin typeface="Arial" panose="020B0604020202020204" pitchFamily="34" charset="0"/>
              </a:rPr>
              <a:t>13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Simple Method </a:t>
            </a:r>
            <a:r>
              <a:rPr lang="zh-CN" altLang="en-US" dirty="0">
                <a:ea typeface="黑体" panose="02010609060101010101" pitchFamily="49" charset="-122"/>
              </a:rPr>
              <a:t>直接法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6227888" y="4563208"/>
            <a:ext cx="1698381" cy="634512"/>
          </a:xfrm>
          <a:prstGeom prst="wedgeRoundRectCallout">
            <a:avLst>
              <a:gd name="adj1" fmla="val -86676"/>
              <a:gd name="adj2" fmla="val -5412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 dirty="0">
                <a:solidFill>
                  <a:schemeClr val="accent2"/>
                </a:solidFill>
                <a:ea typeface="宋体" panose="02010600030101010101" pitchFamily="2" charset="-122"/>
              </a:rPr>
              <a:t>能否改进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6227888" y="2060331"/>
            <a:ext cx="1909397" cy="634512"/>
          </a:xfrm>
          <a:prstGeom prst="wedgeRoundRectCallout">
            <a:avLst>
              <a:gd name="adj1" fmla="val -83469"/>
              <a:gd name="adj2" fmla="val 4162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955" dirty="0">
                <a:solidFill>
                  <a:schemeClr val="accent2"/>
                </a:solidFill>
                <a:ea typeface="宋体" panose="02010600030101010101" pitchFamily="2" charset="-122"/>
              </a:rPr>
              <a:t>运算量？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34C78B-510B-456A-B589-20E00BCD7C64}" type="slidenum">
              <a:rPr lang="zh-CN" altLang="en-US" sz="1290">
                <a:latin typeface="Arial" panose="020B0604020202020204" pitchFamily="34" charset="0"/>
              </a:rPr>
              <a:t>14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Simple Method </a:t>
            </a:r>
            <a:r>
              <a:rPr lang="zh-CN" altLang="en-US" dirty="0">
                <a:ea typeface="黑体" panose="02010609060101010101" pitchFamily="49" charset="-122"/>
              </a:rPr>
              <a:t>直接法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41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5934"/>
            <a:ext cx="8763000" cy="5026269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move from x</a:t>
            </a:r>
            <a:r>
              <a:rPr lang="en-US" altLang="zh-CN" baseline="-25000">
                <a:ea typeface="宋体" panose="02010600030101010101" pitchFamily="2" charset="-122"/>
              </a:rPr>
              <a:t>0</a:t>
            </a:r>
            <a:r>
              <a:rPr lang="en-US" altLang="zh-CN">
                <a:ea typeface="宋体" panose="02010600030101010101" pitchFamily="2" charset="-122"/>
              </a:rPr>
              <a:t> to x</a:t>
            </a:r>
            <a:r>
              <a:rPr lang="en-US" altLang="zh-CN" baseline="-25000">
                <a:ea typeface="宋体" panose="02010600030101010101" pitchFamily="2" charset="-122"/>
              </a:rPr>
              <a:t>n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y=kx+b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y=y+i*k</a:t>
            </a:r>
          </a:p>
        </p:txBody>
      </p:sp>
      <p:graphicFrame>
        <p:nvGraphicFramePr>
          <p:cNvPr id="2050" name="Object 7"/>
          <p:cNvGraphicFramePr>
            <a:graphicFrameLocks noChangeAspect="1"/>
          </p:cNvGraphicFramePr>
          <p:nvPr/>
        </p:nvGraphicFramePr>
        <p:xfrm>
          <a:off x="5603631" y="4101613"/>
          <a:ext cx="2233246" cy="549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23" name="Equation" r:id="rId4" imgW="825500" imgH="203200" progId="Equation.DSMT4">
                  <p:embed/>
                </p:oleObj>
              </mc:Choice>
              <mc:Fallback>
                <p:oleObj name="Equation" r:id="rId4" imgW="825500" imgH="203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631" y="4101613"/>
                        <a:ext cx="2233246" cy="549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3"/>
          <p:cNvGraphicFramePr>
            <a:graphicFrameLocks noChangeAspect="1"/>
          </p:cNvGraphicFramePr>
          <p:nvPr/>
        </p:nvGraphicFramePr>
        <p:xfrm>
          <a:off x="684337" y="3012832"/>
          <a:ext cx="4586654" cy="346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24" name="Visio" r:id="rId6" imgW="2537460" imgH="1919605" progId="Visio.Drawing.11">
                  <p:embed/>
                </p:oleObj>
              </mc:Choice>
              <mc:Fallback>
                <p:oleObj name="Visio" r:id="rId6" imgW="2537460" imgH="191960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37" y="3012832"/>
                        <a:ext cx="4586654" cy="346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690092" y="4998427"/>
          <a:ext cx="1959219" cy="549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25" name="Equation" r:id="rId8" imgW="723900" imgH="203200" progId="Equation.DSMT4">
                  <p:embed/>
                </p:oleObj>
              </mc:Choice>
              <mc:Fallback>
                <p:oleObj name="Equation" r:id="rId8" imgW="723900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0092" y="4998427"/>
                        <a:ext cx="1959219" cy="549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494085" y="4991104"/>
            <a:ext cx="451338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955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lang="zh-CN" altLang="en-US" sz="2955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657600" y="4155834"/>
            <a:ext cx="449874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955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lang="zh-CN" altLang="en-US" sz="2955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5610958" y="3239969"/>
          <a:ext cx="2730011" cy="64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26" name="Equation" r:id="rId10" imgW="862965" imgH="203200" progId="Equation.DSMT4">
                  <p:embed/>
                </p:oleObj>
              </mc:Choice>
              <mc:Fallback>
                <p:oleObj name="Equation" r:id="rId10" imgW="862965" imgH="20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958" y="3239969"/>
                        <a:ext cx="2730011" cy="64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57065D-633C-4F22-A755-A097D05739E0}" type="slidenum">
              <a:rPr lang="zh-CN" altLang="en-US" sz="1290">
                <a:latin typeface="Arial" panose="020B0604020202020204" pitchFamily="34" charset="0"/>
              </a:rPr>
              <a:t>15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61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数值微分法</a:t>
            </a:r>
            <a:r>
              <a:rPr lang="en-US" altLang="zh-CN" dirty="0">
                <a:ea typeface="宋体" panose="02010600030101010101" pitchFamily="2" charset="-122"/>
              </a:rPr>
              <a:t>DDA Method</a:t>
            </a:r>
          </a:p>
        </p:txBody>
      </p:sp>
      <p:sp>
        <p:nvSpPr>
          <p:cNvPr id="51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827" y="1378929"/>
            <a:ext cx="8763000" cy="4783015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Observe: </a:t>
            </a:r>
            <a:r>
              <a:rPr lang="en-US" altLang="zh-CN" i="1">
                <a:ea typeface="宋体" panose="02010600030101010101" pitchFamily="2" charset="-122"/>
              </a:rPr>
              <a:t>y += k</a:t>
            </a:r>
            <a:r>
              <a:rPr lang="en-US" altLang="zh-CN">
                <a:ea typeface="宋体" panose="02010600030101010101" pitchFamily="2" charset="-122"/>
              </a:rPr>
              <a:t> at each 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 step (</a:t>
            </a:r>
            <a:r>
              <a:rPr lang="en-US" altLang="zh-CN" i="1">
                <a:highlight>
                  <a:srgbClr val="FFFF00"/>
                </a:highlight>
                <a:ea typeface="宋体" panose="02010600030101010101" pitchFamily="2" charset="-122"/>
              </a:rPr>
              <a:t>k = dy/dx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19461" name="Object 9"/>
          <p:cNvGraphicFramePr>
            <a:graphicFrameLocks noChangeAspect="1"/>
          </p:cNvGraphicFramePr>
          <p:nvPr/>
        </p:nvGraphicFramePr>
        <p:xfrm>
          <a:off x="684337" y="3012832"/>
          <a:ext cx="4586654" cy="346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9" name="Visio" r:id="rId4" imgW="2537460" imgH="1919605" progId="Visio.Drawing.11">
                  <p:embed/>
                </p:oleObj>
              </mc:Choice>
              <mc:Fallback>
                <p:oleObj name="Visio" r:id="rId4" imgW="2537460" imgH="191960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37" y="3012832"/>
                        <a:ext cx="4586654" cy="346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1834665" y="1950427"/>
          <a:ext cx="3169627" cy="96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50" name="Equation" r:id="rId6" imgW="749300" imgH="228600" progId="Equation.DSMT4">
                  <p:embed/>
                </p:oleObj>
              </mc:Choice>
              <mc:Fallback>
                <p:oleObj name="Equation" r:id="rId6" imgW="7493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665" y="1950427"/>
                        <a:ext cx="3169627" cy="96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778012" y="3909650"/>
          <a:ext cx="2899996" cy="965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51" name="Equation" r:id="rId8" imgW="685800" imgH="228600" progId="Equation.DSMT4">
                  <p:embed/>
                </p:oleObj>
              </mc:Choice>
              <mc:Fallback>
                <p:oleObj name="Equation" r:id="rId8" imgW="6858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012" y="3909650"/>
                        <a:ext cx="2899996" cy="965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827835" y="4834304"/>
          <a:ext cx="2899996" cy="967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52" name="Equation" r:id="rId10" imgW="685800" imgH="228600" progId="Equation.DSMT4">
                  <p:embed/>
                </p:oleObj>
              </mc:Choice>
              <mc:Fallback>
                <p:oleObj name="Equation" r:id="rId10" imgW="68580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7835" y="4834304"/>
                        <a:ext cx="2899996" cy="967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7051483" y="836686"/>
            <a:ext cx="1909397" cy="634512"/>
          </a:xfrm>
          <a:prstGeom prst="wedgeRoundRectCallout">
            <a:avLst>
              <a:gd name="adj1" fmla="val -83469"/>
              <a:gd name="adj2" fmla="val 4162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955" dirty="0">
                <a:solidFill>
                  <a:schemeClr val="accent2"/>
                </a:solidFill>
                <a:ea typeface="宋体" panose="02010600030101010101" pitchFamily="2" charset="-122"/>
              </a:rPr>
              <a:t>微分方程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/>
      <p:bldP spid="5128" grpId="0" build="p"/>
      <p:bldP spid="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361951" y="1157657"/>
            <a:ext cx="8401050" cy="5004289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LineDDA</a:t>
            </a:r>
            <a:r>
              <a:rPr lang="en-US" altLang="zh-CN" i="1" dirty="0"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</a:rPr>
              <a:t>int</a:t>
            </a:r>
            <a:r>
              <a:rPr lang="en-US" altLang="zh-CN" i="1" dirty="0">
                <a:ea typeface="宋体" panose="02010600030101010101" pitchFamily="2" charset="-122"/>
              </a:rPr>
              <a:t> x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,int y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,int 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i="1" dirty="0" err="1">
                <a:ea typeface="宋体" panose="02010600030101010101" pitchFamily="2" charset="-122"/>
              </a:rPr>
              <a:t>,int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i="1" dirty="0">
                <a:ea typeface="宋体" panose="02010600030101010101" pitchFamily="2" charset="-122"/>
              </a:rPr>
              <a:t>){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k=(x</a:t>
            </a:r>
            <a:r>
              <a:rPr lang="en-US" altLang="zh-CN" i="1" baseline="-25000" dirty="0">
                <a:ea typeface="宋体" panose="02010600030101010101" pitchFamily="2" charset="-122"/>
              </a:rPr>
              <a:t>n</a:t>
            </a:r>
            <a:r>
              <a:rPr lang="en-US" altLang="zh-CN" i="1" dirty="0">
                <a:ea typeface="宋体" panose="02010600030101010101" pitchFamily="2" charset="-122"/>
              </a:rPr>
              <a:t>-x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)/(y</a:t>
            </a:r>
            <a:r>
              <a:rPr lang="en-US" altLang="zh-CN" i="1" baseline="-25000" dirty="0">
                <a:ea typeface="宋体" panose="02010600030101010101" pitchFamily="2" charset="-122"/>
              </a:rPr>
              <a:t>n</a:t>
            </a:r>
            <a:r>
              <a:rPr lang="en-US" altLang="zh-CN" i="1" dirty="0">
                <a:ea typeface="宋体" panose="02010600030101010101" pitchFamily="2" charset="-122"/>
              </a:rPr>
              <a:t>-y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); b=y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-kx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endParaRPr lang="zh-CN" altLang="zh-CN" i="1" baseline="-25000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y=y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; 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for(x=x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;x&lt;=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i="1" dirty="0">
                <a:ea typeface="宋体" panose="02010600030101010101" pitchFamily="2" charset="-122"/>
              </a:rPr>
              <a:t>; x++)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{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	Pixel(x, (</a:t>
            </a:r>
            <a:r>
              <a:rPr lang="en-US" altLang="zh-CN" i="1" dirty="0" err="1">
                <a:ea typeface="宋体" panose="02010600030101010101" pitchFamily="2" charset="-122"/>
              </a:rPr>
              <a:t>int</a:t>
            </a:r>
            <a:r>
              <a:rPr lang="en-US" altLang="zh-CN" i="1" dirty="0">
                <a:ea typeface="宋体" panose="02010600030101010101" pitchFamily="2" charset="-122"/>
              </a:rPr>
              <a:t>)(y+0.5));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	y=</a:t>
            </a:r>
            <a:r>
              <a:rPr lang="en-US" altLang="zh-CN" i="1" dirty="0" err="1">
                <a:ea typeface="宋体" panose="02010600030101010101" pitchFamily="2" charset="-122"/>
              </a:rPr>
              <a:t>y+k</a:t>
            </a:r>
            <a:r>
              <a:rPr lang="en-US" altLang="zh-CN" i="1" dirty="0">
                <a:ea typeface="宋体" panose="02010600030101010101" pitchFamily="2" charset="-122"/>
              </a:rPr>
              <a:t>;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}		</a:t>
            </a:r>
            <a:endParaRPr lang="zh-CN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}</a:t>
            </a:r>
            <a:endParaRPr lang="zh-CN" altLang="en-US" i="1" dirty="0">
              <a:ea typeface="宋体" panose="02010600030101010101" pitchFamily="2" charset="-122"/>
            </a:endParaRPr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69F9FC-065F-4509-970F-6DC8B1D98767}" type="slidenum">
              <a:rPr lang="zh-CN" altLang="en-US" sz="1290">
                <a:latin typeface="Arial" panose="020B0604020202020204" pitchFamily="34" charset="0"/>
              </a:rPr>
              <a:t>16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DDA Method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6333395" y="4111139"/>
            <a:ext cx="1698381" cy="634511"/>
          </a:xfrm>
          <a:prstGeom prst="wedgeRoundRectCallout">
            <a:avLst>
              <a:gd name="adj1" fmla="val -80123"/>
              <a:gd name="adj2" fmla="val -3183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>
                <a:solidFill>
                  <a:schemeClr val="accent2"/>
                </a:solidFill>
                <a:ea typeface="宋体" panose="02010600030101010101" pitchFamily="2" charset="-122"/>
              </a:rPr>
              <a:t>能否改进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6227888" y="2060331"/>
            <a:ext cx="1909397" cy="634512"/>
          </a:xfrm>
          <a:prstGeom prst="wedgeRoundRectCallout">
            <a:avLst>
              <a:gd name="adj1" fmla="val -83469"/>
              <a:gd name="adj2" fmla="val 4162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955" dirty="0">
                <a:solidFill>
                  <a:schemeClr val="accent2"/>
                </a:solidFill>
                <a:ea typeface="宋体" panose="02010600030101010101" pitchFamily="2" charset="-122"/>
              </a:rPr>
              <a:t>运算量？</a:t>
            </a:r>
            <a:endParaRPr lang="en-US" altLang="zh-CN" sz="2955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98CD1B-D710-4D2B-86BA-97CA42321D5E}" type="slidenum">
              <a:rPr lang="zh-CN" altLang="en-US" sz="1290">
                <a:latin typeface="Arial" panose="020B0604020202020204" pitchFamily="34" charset="0"/>
              </a:rPr>
              <a:t>17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Review </a:t>
            </a:r>
            <a:r>
              <a:rPr lang="zh-CN" altLang="en-US" dirty="0">
                <a:ea typeface="黑体" panose="02010609060101010101" pitchFamily="49" charset="-122"/>
              </a:rPr>
              <a:t>问题再思考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298334"/>
            <a:ext cx="8763000" cy="3808535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It's like marching a ray through the grid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Select pixel vertically closest to line segment</a:t>
            </a:r>
          </a:p>
        </p:txBody>
      </p:sp>
      <p:pic>
        <p:nvPicPr>
          <p:cNvPr id="2150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785" y="2497019"/>
            <a:ext cx="6137031" cy="3965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 bwMode="auto">
          <a:xfrm flipV="1">
            <a:off x="3094896" y="3067053"/>
            <a:ext cx="4873869" cy="3055326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accent6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627185" y="4576400"/>
            <a:ext cx="1777512" cy="635977"/>
          </a:xfrm>
          <a:prstGeom prst="wedgeRoundRectCallout">
            <a:avLst>
              <a:gd name="adj1" fmla="val 65363"/>
              <a:gd name="adj2" fmla="val 9528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en-US" altLang="zh-CN" sz="3325" dirty="0">
                <a:solidFill>
                  <a:schemeClr val="accent2"/>
                </a:solidFill>
                <a:ea typeface="宋体" panose="02010600030101010101" pitchFamily="2" charset="-122"/>
              </a:rPr>
              <a:t>0&lt;k&lt;1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556846" y="3067054"/>
            <a:ext cx="1777512" cy="634511"/>
          </a:xfrm>
          <a:prstGeom prst="wedgeRoundRectCallout">
            <a:avLst>
              <a:gd name="adj1" fmla="val 65363"/>
              <a:gd name="adj2" fmla="val 9528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3325" dirty="0">
                <a:solidFill>
                  <a:schemeClr val="accent2"/>
                </a:solidFill>
                <a:ea typeface="宋体" panose="02010600030101010101" pitchFamily="2" charset="-122"/>
              </a:rPr>
              <a:t>规律</a:t>
            </a:r>
            <a:r>
              <a:rPr lang="en-US" altLang="zh-CN" sz="332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450" y="2766791"/>
            <a:ext cx="5723031" cy="3703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4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D730E7-E4AD-4004-8FD0-3F85653A9AC6}" type="slidenum">
              <a:rPr lang="zh-CN" altLang="en-US" sz="1290">
                <a:latin typeface="Arial" panose="020B0604020202020204" pitchFamily="34" charset="0"/>
              </a:rPr>
              <a:t>18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Review</a:t>
            </a:r>
            <a:r>
              <a:rPr lang="zh-CN" altLang="en-US" dirty="0">
                <a:ea typeface="黑体" panose="02010609060101010101" pitchFamily="49" charset="-122"/>
              </a:rPr>
              <a:t>问题再思考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12481" y="1178905"/>
            <a:ext cx="8763000" cy="380853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自当前点开始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右上</a:t>
            </a:r>
            <a:r>
              <a:rPr lang="en-US" altLang="zh-CN" dirty="0">
                <a:ea typeface="宋体" panose="02010600030101010101" pitchFamily="2" charset="-122"/>
              </a:rPr>
              <a:t>-&gt;</a:t>
            </a:r>
            <a:r>
              <a:rPr lang="zh-CN" altLang="en-US" dirty="0">
                <a:ea typeface="宋体" panose="02010600030101010101" pitchFamily="2" charset="-122"/>
              </a:rPr>
              <a:t>右</a:t>
            </a:r>
            <a:r>
              <a:rPr lang="en-US" altLang="zh-CN" dirty="0">
                <a:ea typeface="宋体" panose="02010600030101010101" pitchFamily="2" charset="-122"/>
              </a:rPr>
              <a:t>-&gt;</a:t>
            </a:r>
            <a:r>
              <a:rPr lang="zh-CN" altLang="en-US" dirty="0">
                <a:ea typeface="宋体" panose="02010600030101010101" pitchFamily="2" charset="-122"/>
              </a:rPr>
              <a:t>右上</a:t>
            </a:r>
            <a:r>
              <a:rPr lang="en-US" altLang="zh-CN" dirty="0">
                <a:ea typeface="宋体" panose="02010600030101010101" pitchFamily="2" charset="-122"/>
              </a:rPr>
              <a:t>-&gt;</a:t>
            </a:r>
            <a:r>
              <a:rPr lang="zh-CN" altLang="en-US" dirty="0">
                <a:ea typeface="宋体" panose="02010600030101010101" pitchFamily="2" charset="-122"/>
              </a:rPr>
              <a:t>右</a:t>
            </a:r>
            <a:r>
              <a:rPr lang="en-US" altLang="zh-CN" dirty="0">
                <a:ea typeface="宋体" panose="02010600030101010101" pitchFamily="2" charset="-122"/>
              </a:rPr>
              <a:t>-&gt;</a:t>
            </a:r>
            <a:r>
              <a:rPr lang="zh-CN" altLang="en-US" dirty="0">
                <a:ea typeface="宋体" panose="02010600030101010101" pitchFamily="2" charset="-122"/>
              </a:rPr>
              <a:t>右上</a:t>
            </a:r>
            <a:r>
              <a:rPr lang="en-US" altLang="zh-CN" dirty="0">
                <a:ea typeface="宋体" panose="02010600030101010101" pitchFamily="2" charset="-122"/>
              </a:rPr>
              <a:t>-&gt;</a:t>
            </a:r>
            <a:r>
              <a:rPr lang="zh-CN" altLang="en-US" dirty="0">
                <a:ea typeface="宋体" panose="02010600030101010101" pitchFamily="2" charset="-122"/>
              </a:rPr>
              <a:t>右上</a:t>
            </a:r>
            <a:r>
              <a:rPr lang="en-US" altLang="zh-CN" dirty="0">
                <a:ea typeface="宋体" panose="02010600030101010101" pitchFamily="2" charset="-122"/>
              </a:rPr>
              <a:t>-&gt;</a:t>
            </a:r>
            <a:r>
              <a:rPr lang="zh-CN" altLang="en-US" dirty="0">
                <a:ea typeface="宋体" panose="02010600030101010101" pitchFamily="2" charset="-122"/>
              </a:rPr>
              <a:t>右</a:t>
            </a:r>
            <a:r>
              <a:rPr lang="en-US" altLang="zh-CN" dirty="0">
                <a:ea typeface="宋体" panose="02010600030101010101" pitchFamily="2" charset="-122"/>
              </a:rPr>
              <a:t>-&gt;</a:t>
            </a:r>
            <a:r>
              <a:rPr lang="zh-CN" altLang="en-US" dirty="0">
                <a:ea typeface="宋体" panose="02010600030101010101" pitchFamily="2" charset="-122"/>
              </a:rPr>
              <a:t>右上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只有两个选择：右上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右！到底选哪个？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7037480" y="846625"/>
            <a:ext cx="1777512" cy="634512"/>
          </a:xfrm>
          <a:prstGeom prst="wedgeRoundRectCallout">
            <a:avLst>
              <a:gd name="adj1" fmla="val -57803"/>
              <a:gd name="adj2" fmla="val 8696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3325" dirty="0">
                <a:solidFill>
                  <a:schemeClr val="accent2"/>
                </a:solidFill>
                <a:ea typeface="宋体" panose="02010600030101010101" pitchFamily="2" charset="-122"/>
              </a:rPr>
              <a:t>规律</a:t>
            </a:r>
            <a:r>
              <a:rPr lang="en-US" altLang="zh-CN" sz="332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931017-CF4F-4C56-B641-68941789EF63}" type="slidenum">
              <a:rPr lang="zh-CN" altLang="en-US" sz="1290">
                <a:latin typeface="Arial" panose="020B0604020202020204" pitchFamily="34" charset="0"/>
              </a:rPr>
              <a:t>19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zh-CN" altLang="en-US" dirty="0">
                <a:ea typeface="黑体" panose="02010609060101010101" pitchFamily="49" charset="-122"/>
              </a:rPr>
              <a:t>中点线算法</a:t>
            </a:r>
            <a:r>
              <a:rPr lang="en-US" altLang="zh-CN" dirty="0">
                <a:ea typeface="宋体" panose="02010600030101010101" pitchFamily="2" charset="-122"/>
              </a:rPr>
              <a:t>Midpoint Algorithm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88074"/>
            <a:ext cx="8597412" cy="4884126"/>
          </a:xfrm>
        </p:spPr>
        <p:txBody>
          <a:bodyPr/>
          <a:lstStyle/>
          <a:p>
            <a:pPr marL="316230" lvl="1" indent="-316230" eaLnBrk="1" hangingPunct="1">
              <a:buFontTx/>
              <a:buChar char="•"/>
              <a:defRPr/>
            </a:pPr>
            <a:r>
              <a:rPr lang="en-US" altLang="zh-CN" sz="2955" dirty="0">
                <a:ea typeface="宋体" panose="02010600030101010101" pitchFamily="2" charset="-122"/>
              </a:rPr>
              <a:t>If we're at pixel </a:t>
            </a:r>
            <a:r>
              <a:rPr lang="en-US" altLang="zh-CN" sz="2955" b="1" dirty="0">
                <a:solidFill>
                  <a:schemeClr val="accent2"/>
                </a:solidFill>
                <a:ea typeface="宋体" panose="02010600030101010101" pitchFamily="2" charset="-122"/>
                <a:cs typeface="+mn-cs"/>
              </a:rPr>
              <a:t>P</a:t>
            </a:r>
            <a:r>
              <a:rPr lang="en-US" altLang="zh-CN" sz="2955" dirty="0">
                <a:ea typeface="宋体" panose="02010600030101010101" pitchFamily="2" charset="-122"/>
              </a:rPr>
              <a:t>, the next pixel must be either </a:t>
            </a:r>
            <a:r>
              <a:rPr lang="en-US" altLang="zh-CN" sz="2955" b="1" dirty="0">
                <a:solidFill>
                  <a:schemeClr val="accent2"/>
                </a:solidFill>
                <a:ea typeface="宋体" panose="02010600030101010101" pitchFamily="2" charset="-122"/>
                <a:cs typeface="+mn-cs"/>
              </a:rPr>
              <a:t>Pd</a:t>
            </a:r>
            <a:r>
              <a:rPr lang="en-US" altLang="zh-CN" sz="2955" dirty="0">
                <a:ea typeface="宋体" panose="02010600030101010101" pitchFamily="2" charset="-122"/>
              </a:rPr>
              <a:t> or </a:t>
            </a:r>
            <a:r>
              <a:rPr lang="en-US" altLang="zh-CN" sz="2955" b="1" dirty="0" err="1">
                <a:solidFill>
                  <a:schemeClr val="accent2"/>
                </a:solidFill>
                <a:ea typeface="宋体" panose="02010600030101010101" pitchFamily="2" charset="-122"/>
                <a:cs typeface="+mn-cs"/>
              </a:rPr>
              <a:t>Pu</a:t>
            </a:r>
            <a:endParaRPr lang="en-US" altLang="zh-CN" sz="2955" b="1" dirty="0">
              <a:solidFill>
                <a:schemeClr val="accent2"/>
              </a:solidFill>
              <a:ea typeface="宋体" panose="02010600030101010101" pitchFamily="2" charset="-122"/>
              <a:cs typeface="+mn-cs"/>
            </a:endParaRPr>
          </a:p>
          <a:p>
            <a:pPr marL="316230" lvl="1" indent="-316230" eaLnBrk="1" hangingPunct="1">
              <a:buFontTx/>
              <a:buChar char="•"/>
              <a:defRPr/>
            </a:pPr>
            <a:r>
              <a:rPr lang="en-US" altLang="zh-CN" sz="2955" dirty="0">
                <a:ea typeface="宋体" panose="02010600030101010101" pitchFamily="2" charset="-122"/>
              </a:rPr>
              <a:t>Why?  0&lt;k&lt;1</a:t>
            </a:r>
          </a:p>
          <a:p>
            <a:pPr marL="316230" lvl="1" indent="-316230" eaLnBrk="1" hangingPunct="1">
              <a:buFontTx/>
              <a:buChar char="•"/>
              <a:defRPr/>
            </a:pPr>
            <a:r>
              <a:rPr lang="en-US" altLang="zh-CN" sz="2955" dirty="0">
                <a:ea typeface="宋体" panose="02010600030101010101" pitchFamily="2" charset="-122"/>
              </a:rPr>
              <a:t>Next?</a:t>
            </a:r>
          </a:p>
        </p:txBody>
      </p:sp>
      <p:sp>
        <p:nvSpPr>
          <p:cNvPr id="25605" name="Rectangle 7"/>
          <p:cNvSpPr>
            <a:spLocks noChangeArrowheads="1"/>
          </p:cNvSpPr>
          <p:nvPr/>
        </p:nvSpPr>
        <p:spPr bwMode="auto">
          <a:xfrm>
            <a:off x="1" y="89717"/>
            <a:ext cx="184731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3732335" y="1921123"/>
          <a:ext cx="5320811" cy="4522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1" name="Visio" r:id="rId4" imgW="2257425" imgH="1919605" progId="Visio.Drawing.11">
                  <p:embed/>
                </p:oleObj>
              </mc:Choice>
              <mc:Fallback>
                <p:oleObj name="Visio" r:id="rId4" imgW="2257425" imgH="191960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2335" y="1921123"/>
                        <a:ext cx="5320811" cy="4522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719BCF-7D83-49FA-913F-4E3AE531749D}" type="slidenum">
              <a:rPr lang="zh-CN" altLang="en-US" sz="1290">
                <a:latin typeface="Arial" panose="020B0604020202020204" pitchFamily="34" charset="0"/>
              </a:rPr>
              <a:t>20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Midpoint Algorithm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192825"/>
            <a:ext cx="8582758" cy="497937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585" dirty="0">
                <a:ea typeface="宋体" panose="02010600030101010101" pitchFamily="2" charset="-122"/>
              </a:rPr>
              <a:t>How to determine which pixel to choose: </a:t>
            </a:r>
            <a:r>
              <a:rPr lang="en-US" altLang="zh-CN" sz="2585" b="1" dirty="0">
                <a:solidFill>
                  <a:schemeClr val="accent2"/>
                </a:solidFill>
                <a:ea typeface="宋体" panose="02010600030101010101" pitchFamily="2" charset="-122"/>
              </a:rPr>
              <a:t>Pd</a:t>
            </a:r>
            <a:r>
              <a:rPr lang="en-US" altLang="zh-CN" sz="2585" dirty="0">
                <a:ea typeface="宋体" panose="02010600030101010101" pitchFamily="2" charset="-122"/>
              </a:rPr>
              <a:t> or </a:t>
            </a:r>
            <a:r>
              <a:rPr lang="en-US" altLang="zh-CN" sz="2585" b="1" dirty="0" err="1">
                <a:solidFill>
                  <a:schemeClr val="accent2"/>
                </a:solidFill>
                <a:ea typeface="宋体" panose="02010600030101010101" pitchFamily="2" charset="-122"/>
              </a:rPr>
              <a:t>Pu</a:t>
            </a:r>
            <a:endParaRPr lang="en-US" altLang="zh-CN" sz="2585" b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en-US" altLang="zh-CN" dirty="0">
                <a:ea typeface="宋体" panose="02010600030101010101" pitchFamily="2" charset="-122"/>
              </a:rPr>
              <a:t>Choose </a:t>
            </a:r>
            <a:r>
              <a:rPr lang="en-US" altLang="zh-CN" b="1" dirty="0">
                <a:solidFill>
                  <a:schemeClr val="accent2"/>
                </a:solidFill>
                <a:ea typeface="宋体" panose="02010600030101010101" pitchFamily="2" charset="-122"/>
                <a:cs typeface="+mn-cs"/>
              </a:rPr>
              <a:t>Pd</a:t>
            </a:r>
            <a:r>
              <a:rPr lang="en-US" altLang="zh-CN" dirty="0">
                <a:ea typeface="宋体" panose="02010600030101010101" pitchFamily="2" charset="-122"/>
              </a:rPr>
              <a:t> if segment passes below middle point </a:t>
            </a:r>
            <a:r>
              <a:rPr lang="en-US" altLang="zh-CN" b="1" dirty="0">
                <a:solidFill>
                  <a:schemeClr val="accent2"/>
                </a:solidFill>
                <a:ea typeface="宋体" panose="02010600030101010101" pitchFamily="2" charset="-122"/>
                <a:cs typeface="+mn-cs"/>
              </a:rPr>
              <a:t>M</a:t>
            </a:r>
          </a:p>
          <a:p>
            <a:pPr lvl="1" eaLnBrk="1" hangingPunct="1">
              <a:defRPr/>
            </a:pPr>
            <a:r>
              <a:rPr lang="en-US" altLang="zh-CN" dirty="0">
                <a:ea typeface="宋体" panose="02010600030101010101" pitchFamily="2" charset="-122"/>
              </a:rPr>
              <a:t>Choose </a:t>
            </a:r>
            <a:r>
              <a:rPr lang="en-US" altLang="zh-CN" b="1" dirty="0" err="1">
                <a:solidFill>
                  <a:schemeClr val="accent2"/>
                </a:solidFill>
                <a:ea typeface="宋体" panose="02010600030101010101" pitchFamily="2" charset="-122"/>
                <a:cs typeface="+mn-cs"/>
              </a:rPr>
              <a:t>Pu</a:t>
            </a:r>
            <a:r>
              <a:rPr lang="en-US" altLang="zh-CN" dirty="0">
                <a:ea typeface="宋体" panose="02010600030101010101" pitchFamily="2" charset="-122"/>
              </a:rPr>
              <a:t> if segment passes above </a:t>
            </a:r>
            <a:r>
              <a:rPr lang="en-US" altLang="zh-CN" b="1" dirty="0">
                <a:solidFill>
                  <a:schemeClr val="accent2"/>
                </a:solidFill>
                <a:ea typeface="宋体" panose="02010600030101010101" pitchFamily="2" charset="-122"/>
                <a:cs typeface="+mn-cs"/>
              </a:rPr>
              <a:t>M</a:t>
            </a:r>
          </a:p>
          <a:p>
            <a:pPr eaLnBrk="1" hangingPunct="1">
              <a:defRPr/>
            </a:pPr>
            <a:r>
              <a:rPr lang="en-US" altLang="zh-CN" sz="2585" dirty="0">
                <a:ea typeface="宋体" panose="02010600030101010101" pitchFamily="2" charset="-122"/>
              </a:rPr>
              <a:t>How to express “segment</a:t>
            </a:r>
          </a:p>
          <a:p>
            <a:pPr marL="0" indent="0" eaLnBrk="1" hangingPunct="1">
              <a:buNone/>
              <a:defRPr/>
            </a:pPr>
            <a:r>
              <a:rPr lang="en-US" altLang="zh-CN" sz="2585" dirty="0">
                <a:ea typeface="宋体" panose="02010600030101010101" pitchFamily="2" charset="-122"/>
              </a:rPr>
              <a:t>    passes above M”</a:t>
            </a:r>
          </a:p>
          <a:p>
            <a:pPr eaLnBrk="1" hangingPunct="1">
              <a:defRPr/>
            </a:pPr>
            <a:r>
              <a:rPr lang="zh-CN" altLang="en-US" sz="2585" dirty="0">
                <a:ea typeface="宋体" panose="02010600030101010101" pitchFamily="2" charset="-122"/>
              </a:rPr>
              <a:t>将取</a:t>
            </a:r>
            <a:r>
              <a:rPr lang="en-US" altLang="zh-CN" sz="2585" dirty="0">
                <a:ea typeface="宋体" panose="02010600030101010101" pitchFamily="2" charset="-122"/>
              </a:rPr>
              <a:t>Pu/Pd</a:t>
            </a:r>
            <a:r>
              <a:rPr lang="zh-CN" altLang="en-US" sz="2585" dirty="0">
                <a:ea typeface="宋体" panose="02010600030101010101" pitchFamily="2" charset="-122"/>
              </a:rPr>
              <a:t>的问题转换为直线</a:t>
            </a:r>
          </a:p>
          <a:p>
            <a:pPr marL="0" indent="0" eaLnBrk="1" hangingPunct="1">
              <a:buNone/>
              <a:defRPr/>
            </a:pPr>
            <a:r>
              <a:rPr lang="en-US" altLang="zh-CN" sz="2585" dirty="0">
                <a:ea typeface="宋体" panose="02010600030101010101" pitchFamily="2" charset="-122"/>
              </a:rPr>
              <a:t>    </a:t>
            </a:r>
            <a:r>
              <a:rPr lang="zh-CN" altLang="en-US" sz="2585" dirty="0">
                <a:ea typeface="宋体" panose="02010600030101010101" pitchFamily="2" charset="-122"/>
              </a:rPr>
              <a:t>方程在中点的取值符号问题</a:t>
            </a:r>
          </a:p>
          <a:p>
            <a:pPr eaLnBrk="1" hangingPunct="1">
              <a:defRPr/>
            </a:pPr>
            <a:r>
              <a:rPr lang="zh-CN" altLang="en-US" sz="2585" dirty="0">
                <a:ea typeface="宋体" panose="02010600030101010101" pitchFamily="2" charset="-122"/>
              </a:rPr>
              <a:t>计算量？</a:t>
            </a:r>
            <a:r>
              <a:rPr lang="en-US" altLang="zh-CN" sz="2585" dirty="0">
                <a:ea typeface="宋体" panose="02010600030101010101" pitchFamily="2" charset="-122"/>
              </a:rPr>
              <a:t>2x, 2+,1</a:t>
            </a:r>
            <a:r>
              <a:rPr lang="zh-CN" altLang="en-US" sz="2585" dirty="0">
                <a:ea typeface="宋体" panose="02010600030101010101" pitchFamily="2" charset="-122"/>
              </a:rPr>
              <a:t>判断</a:t>
            </a:r>
            <a:endParaRPr lang="en-US" altLang="zh-CN" sz="2585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zh-CN" altLang="en-US" sz="2585" dirty="0">
                <a:ea typeface="宋体" panose="02010600030101010101" pitchFamily="2" charset="-122"/>
              </a:rPr>
              <a:t>其它判别方法</a:t>
            </a:r>
            <a:r>
              <a:rPr lang="en-US" altLang="zh-CN" sz="2585" dirty="0">
                <a:ea typeface="宋体" panose="02010600030101010101" pitchFamily="2" charset="-122"/>
              </a:rPr>
              <a:t>?</a:t>
            </a:r>
          </a:p>
          <a:p>
            <a:pPr eaLnBrk="1" hangingPunct="1">
              <a:defRPr/>
            </a:pPr>
            <a:r>
              <a:rPr lang="en-US" altLang="zh-CN" sz="2585" dirty="0" err="1">
                <a:ea typeface="宋体" panose="02010600030101010101" pitchFamily="2" charset="-122"/>
              </a:rPr>
              <a:t>Bresenham</a:t>
            </a:r>
            <a:r>
              <a:rPr lang="en-US" altLang="zh-CN" sz="2585" dirty="0">
                <a:ea typeface="宋体" panose="02010600030101010101" pitchFamily="2" charset="-122"/>
              </a:rPr>
              <a:t> </a:t>
            </a:r>
            <a:r>
              <a:rPr lang="zh-CN" altLang="en-US" sz="2585" dirty="0">
                <a:ea typeface="宋体" panose="02010600030101010101" pitchFamily="2" charset="-122"/>
              </a:rPr>
              <a:t>判别方法</a:t>
            </a:r>
            <a:endParaRPr lang="en-US" altLang="zh-CN" sz="2585" dirty="0">
              <a:ea typeface="宋体" panose="02010600030101010101" pitchFamily="2" charset="-122"/>
            </a:endParaRPr>
          </a:p>
          <a:p>
            <a:pPr eaLnBrk="1" hangingPunct="1">
              <a:buFontTx/>
              <a:buNone/>
              <a:defRPr/>
            </a:pPr>
            <a:endParaRPr lang="en-US" altLang="zh-CN" sz="2585" dirty="0">
              <a:ea typeface="宋体" panose="02010600030101010101" pitchFamily="2" charset="-122"/>
            </a:endParaRPr>
          </a:p>
        </p:txBody>
      </p:sp>
      <p:graphicFrame>
        <p:nvGraphicFramePr>
          <p:cNvPr id="26629" name="Object 6"/>
          <p:cNvGraphicFramePr>
            <a:graphicFrameLocks noChangeAspect="1"/>
          </p:cNvGraphicFramePr>
          <p:nvPr/>
        </p:nvGraphicFramePr>
        <p:xfrm>
          <a:off x="4452145" y="2627143"/>
          <a:ext cx="4667416" cy="3967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5" name="Visio" r:id="rId4" imgW="2257425" imgH="1919605" progId="Visio.Drawing.11">
                  <p:embed/>
                </p:oleObj>
              </mc:Choice>
              <mc:Fallback>
                <p:oleObj name="Visio" r:id="rId4" imgW="2257425" imgH="191960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145" y="2627143"/>
                        <a:ext cx="4667416" cy="3967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1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1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Bresenham's</a:t>
            </a:r>
            <a:r>
              <a:rPr lang="en-US" altLang="zh-CN" dirty="0">
                <a:ea typeface="宋体" panose="02010600030101010101" pitchFamily="2" charset="-122"/>
              </a:rPr>
              <a:t> Algorithm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2" y="1222132"/>
            <a:ext cx="8531469" cy="4950069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 t&gt;s </a:t>
            </a:r>
            <a:r>
              <a:rPr lang="zh-CN" altLang="en-US" dirty="0">
                <a:ea typeface="宋体" panose="02010600030101010101" pitchFamily="2" charset="-122"/>
              </a:rPr>
              <a:t>选</a:t>
            </a:r>
            <a:r>
              <a:rPr lang="en-US" altLang="zh-CN" dirty="0">
                <a:ea typeface="宋体" panose="02010600030101010101" pitchFamily="2" charset="-122"/>
              </a:rPr>
              <a:t>Pd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 t&lt;s </a:t>
            </a:r>
            <a:r>
              <a:rPr lang="zh-CN" altLang="en-US" dirty="0">
                <a:ea typeface="宋体" panose="02010600030101010101" pitchFamily="2" charset="-122"/>
              </a:rPr>
              <a:t>选</a:t>
            </a:r>
            <a:r>
              <a:rPr lang="en-US" altLang="zh-CN" dirty="0">
                <a:ea typeface="宋体" panose="02010600030101010101" pitchFamily="2" charset="-122"/>
              </a:rPr>
              <a:t>Pu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s-t</a:t>
            </a:r>
            <a:r>
              <a:rPr lang="zh-CN" altLang="en-US" dirty="0">
                <a:ea typeface="宋体" panose="02010600030101010101" pitchFamily="2" charset="-122"/>
              </a:rPr>
              <a:t>的正负号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请课后自行推导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7653" name="Object 142"/>
          <p:cNvGraphicFramePr>
            <a:graphicFrameLocks noChangeAspect="1"/>
          </p:cNvGraphicFramePr>
          <p:nvPr/>
        </p:nvGraphicFramePr>
        <p:xfrm>
          <a:off x="3684915" y="1819072"/>
          <a:ext cx="5334000" cy="4532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8" name="Visio" r:id="rId4" imgW="2257425" imgH="1919605" progId="Visio.Drawing.11">
                  <p:embed/>
                </p:oleObj>
              </mc:Choice>
              <mc:Fallback>
                <p:oleObj name="Visio" r:id="rId4" imgW="2257425" imgH="1919605" progId="Visio.Drawing.11">
                  <p:embed/>
                  <p:pic>
                    <p:nvPicPr>
                      <p:cNvPr id="0" name="Object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915" y="1819072"/>
                        <a:ext cx="5334000" cy="4532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DFFC78-83BB-4695-92DD-B8A67A0853EF}" type="slidenum">
              <a:rPr lang="zh-CN" altLang="en-US" sz="1290">
                <a:latin typeface="Arial" panose="020B0604020202020204" pitchFamily="34" charset="0"/>
              </a:rPr>
              <a:t>22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296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回到</a:t>
            </a:r>
            <a:r>
              <a:rPr lang="en-US" altLang="zh-CN" dirty="0">
                <a:ea typeface="宋体" panose="02010600030101010101" pitchFamily="2" charset="-122"/>
              </a:rPr>
              <a:t>Midpoint Algorithm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1274" y="4303836"/>
            <a:ext cx="8661888" cy="1578219"/>
          </a:xfrm>
        </p:spPr>
        <p:txBody>
          <a:bodyPr/>
          <a:lstStyle/>
          <a:p>
            <a:pPr eaLnBrk="1" hangingPunct="1"/>
            <a:r>
              <a:rPr lang="zh-CN" altLang="en-US" sz="2585" dirty="0">
                <a:solidFill>
                  <a:schemeClr val="accent2"/>
                </a:solidFill>
                <a:ea typeface="宋体" panose="02010600030101010101" pitchFamily="2" charset="-122"/>
              </a:rPr>
              <a:t>直线方程中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y</a:t>
            </a:r>
            <a:r>
              <a:rPr lang="zh-CN" altLang="en-US" sz="2585" dirty="0">
                <a:solidFill>
                  <a:schemeClr val="accent2"/>
                </a:solidFill>
                <a:ea typeface="宋体" panose="02010600030101010101" pitchFamily="2" charset="-122"/>
              </a:rPr>
              <a:t>的系数</a:t>
            </a:r>
            <a:r>
              <a:rPr lang="en-US" altLang="zh-CN" sz="2585" dirty="0">
                <a:solidFill>
                  <a:schemeClr val="accent2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b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&gt;0!</a:t>
            </a:r>
          </a:p>
          <a:p>
            <a:pPr eaLnBrk="1" hangingPunct="1"/>
            <a:r>
              <a:rPr lang="zh-CN" altLang="en-US" sz="2585" dirty="0">
                <a:ea typeface="宋体" panose="02010600030101010101" pitchFamily="2" charset="-122"/>
              </a:rPr>
              <a:t>中点</a:t>
            </a:r>
            <a:r>
              <a:rPr lang="en-US" altLang="zh-CN" sz="2585" dirty="0">
                <a:ea typeface="宋体" panose="02010600030101010101" pitchFamily="2" charset="-122"/>
              </a:rPr>
              <a:t>M:</a:t>
            </a:r>
          </a:p>
          <a:p>
            <a:pPr eaLnBrk="1" hangingPunct="1">
              <a:buFontTx/>
              <a:buNone/>
            </a:pPr>
            <a:r>
              <a:rPr lang="en-US" altLang="zh-CN" sz="2585" dirty="0">
                <a:ea typeface="宋体" panose="02010600030101010101" pitchFamily="2" charset="-122"/>
              </a:rPr>
              <a:t>△=F(M)=F(xi+1,yi+0.5)=a(xi+1)+b(yi+0.5)+c</a:t>
            </a:r>
          </a:p>
          <a:p>
            <a:pPr eaLnBrk="1" hangingPunct="1"/>
            <a:endParaRPr lang="en-US" altLang="zh-CN" sz="2585" dirty="0">
              <a:ea typeface="宋体" panose="02010600030101010101" pitchFamily="2" charset="-122"/>
            </a:endParaRPr>
          </a:p>
        </p:txBody>
      </p:sp>
      <p:sp>
        <p:nvSpPr>
          <p:cNvPr id="7174" name="AutoShape 4"/>
          <p:cNvSpPr>
            <a:spLocks noChangeArrowheads="1"/>
          </p:cNvSpPr>
          <p:nvPr/>
        </p:nvSpPr>
        <p:spPr bwMode="auto">
          <a:xfrm>
            <a:off x="4926965" y="6059170"/>
            <a:ext cx="3830320" cy="634365"/>
          </a:xfrm>
          <a:prstGeom prst="wedgeRoundRectCallout">
            <a:avLst>
              <a:gd name="adj1" fmla="val -41379"/>
              <a:gd name="adj2" fmla="val -10175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 dirty="0">
                <a:solidFill>
                  <a:schemeClr val="accent2"/>
                </a:solidFill>
                <a:ea typeface="宋体" panose="02010600030101010101" pitchFamily="2" charset="-122"/>
              </a:rPr>
              <a:t>运算量更大了。下一步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  <p:graphicFrame>
        <p:nvGraphicFramePr>
          <p:cNvPr id="29702" name="Object 7"/>
          <p:cNvGraphicFramePr>
            <a:graphicFrameLocks noChangeAspect="1"/>
          </p:cNvGraphicFramePr>
          <p:nvPr/>
        </p:nvGraphicFramePr>
        <p:xfrm>
          <a:off x="4018085" y="1157654"/>
          <a:ext cx="4954466" cy="421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8" name="Visio" r:id="rId4" imgW="2257425" imgH="1919605" progId="Visio.Drawing.11">
                  <p:embed/>
                </p:oleObj>
              </mc:Choice>
              <mc:Fallback>
                <p:oleObj name="Visio" r:id="rId4" imgW="2257425" imgH="191960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085" y="1157654"/>
                        <a:ext cx="4954466" cy="421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37747" y="1236786"/>
            <a:ext cx="4042997" cy="2041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16230" indent="-31623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zh-CN" altLang="en-US" sz="2585" kern="0" dirty="0">
                <a:latin typeface="+mn-lt"/>
                <a:ea typeface="宋体" panose="02010600030101010101" pitchFamily="2" charset="-122"/>
              </a:rPr>
              <a:t>直线方程</a:t>
            </a:r>
            <a:r>
              <a:rPr lang="en-US" altLang="zh-CN" sz="2585" kern="0" dirty="0">
                <a:latin typeface="+mn-lt"/>
                <a:ea typeface="宋体" panose="02010600030101010101" pitchFamily="2" charset="-122"/>
              </a:rPr>
              <a:t>:</a:t>
            </a:r>
          </a:p>
          <a:p>
            <a:pPr marL="316230" indent="-316230" eaLnBrk="1" hangingPunct="1">
              <a:spcBef>
                <a:spcPct val="20000"/>
              </a:spcBef>
              <a:defRPr/>
            </a:pPr>
            <a:r>
              <a:rPr lang="en-US" altLang="zh-CN" sz="2585" kern="0" dirty="0">
                <a:latin typeface="+mn-lt"/>
                <a:ea typeface="宋体" panose="02010600030101010101" pitchFamily="2" charset="-122"/>
              </a:rPr>
              <a:t>     F(</a:t>
            </a:r>
            <a:r>
              <a:rPr lang="en-US" altLang="zh-CN" sz="2585" kern="0" dirty="0" err="1">
                <a:latin typeface="+mn-lt"/>
                <a:ea typeface="宋体" panose="02010600030101010101" pitchFamily="2" charset="-122"/>
              </a:rPr>
              <a:t>x,y</a:t>
            </a:r>
            <a:r>
              <a:rPr lang="en-US" altLang="zh-CN" sz="2585" kern="0" dirty="0">
                <a:latin typeface="+mn-lt"/>
                <a:ea typeface="宋体" panose="02010600030101010101" pitchFamily="2" charset="-122"/>
              </a:rPr>
              <a:t>) = </a:t>
            </a:r>
            <a:r>
              <a:rPr lang="en-US" altLang="zh-CN" sz="2585" kern="0" dirty="0" err="1">
                <a:latin typeface="+mn-lt"/>
                <a:ea typeface="宋体" panose="02010600030101010101" pitchFamily="2" charset="-122"/>
              </a:rPr>
              <a:t>ax+</a:t>
            </a:r>
            <a:r>
              <a:rPr lang="en-US" altLang="zh-CN" sz="2585" kern="0" dirty="0" err="1">
                <a:highlight>
                  <a:srgbClr val="FFFF00"/>
                </a:highlight>
                <a:latin typeface="+mn-lt"/>
                <a:ea typeface="宋体" panose="02010600030101010101" pitchFamily="2" charset="-122"/>
              </a:rPr>
              <a:t>b</a:t>
            </a:r>
            <a:r>
              <a:rPr lang="en-US" altLang="zh-CN" sz="2585" kern="0" dirty="0" err="1">
                <a:latin typeface="+mn-lt"/>
                <a:ea typeface="宋体" panose="02010600030101010101" pitchFamily="2" charset="-122"/>
              </a:rPr>
              <a:t>y+c</a:t>
            </a:r>
            <a:r>
              <a:rPr lang="en-US" altLang="zh-CN" sz="2585" kern="0" dirty="0">
                <a:latin typeface="+mn-lt"/>
                <a:ea typeface="宋体" panose="02010600030101010101" pitchFamily="2" charset="-122"/>
              </a:rPr>
              <a:t>=0</a:t>
            </a:r>
          </a:p>
          <a:p>
            <a:pPr marL="316230" indent="-316230" eaLnBrk="1" hangingPunct="1">
              <a:spcBef>
                <a:spcPct val="20000"/>
              </a:spcBef>
              <a:defRPr/>
            </a:pPr>
            <a:r>
              <a:rPr lang="zh-CN" altLang="en-US" sz="2585" kern="0" dirty="0">
                <a:latin typeface="+mn-lt"/>
                <a:ea typeface="宋体" panose="02010600030101010101" pitchFamily="2" charset="-122"/>
              </a:rPr>
              <a:t>    点在线上方</a:t>
            </a:r>
            <a:r>
              <a:rPr lang="en-US" altLang="zh-CN" sz="2585" kern="0" dirty="0">
                <a:latin typeface="+mn-lt"/>
                <a:ea typeface="宋体" panose="02010600030101010101" pitchFamily="2" charset="-122"/>
              </a:rPr>
              <a:t>:F(</a:t>
            </a:r>
            <a:r>
              <a:rPr lang="en-US" altLang="zh-CN" sz="2585" kern="0" dirty="0" err="1">
                <a:latin typeface="+mn-lt"/>
                <a:ea typeface="宋体" panose="02010600030101010101" pitchFamily="2" charset="-122"/>
              </a:rPr>
              <a:t>x,y</a:t>
            </a:r>
            <a:r>
              <a:rPr lang="en-US" altLang="zh-CN" sz="2585" kern="0" dirty="0">
                <a:latin typeface="+mn-lt"/>
                <a:ea typeface="宋体" panose="02010600030101010101" pitchFamily="2" charset="-122"/>
              </a:rPr>
              <a:t>)&gt;0;</a:t>
            </a:r>
          </a:p>
          <a:p>
            <a:pPr marL="316230" indent="-316230" eaLnBrk="1" hangingPunct="1">
              <a:spcBef>
                <a:spcPct val="20000"/>
              </a:spcBef>
              <a:defRPr/>
            </a:pPr>
            <a:r>
              <a:rPr lang="zh-CN" altLang="en-US" sz="2585" kern="0" dirty="0">
                <a:latin typeface="+mn-lt"/>
                <a:ea typeface="宋体" panose="02010600030101010101" pitchFamily="2" charset="-122"/>
              </a:rPr>
              <a:t>    点在线下方</a:t>
            </a:r>
            <a:r>
              <a:rPr lang="en-US" altLang="zh-CN" sz="2585" kern="0" dirty="0">
                <a:latin typeface="+mn-lt"/>
                <a:ea typeface="宋体" panose="02010600030101010101" pitchFamily="2" charset="-122"/>
              </a:rPr>
              <a:t>:F(</a:t>
            </a:r>
            <a:r>
              <a:rPr lang="en-US" altLang="zh-CN" sz="2585" kern="0" dirty="0" err="1">
                <a:latin typeface="+mn-lt"/>
                <a:ea typeface="宋体" panose="02010600030101010101" pitchFamily="2" charset="-122"/>
              </a:rPr>
              <a:t>x,y</a:t>
            </a:r>
            <a:r>
              <a:rPr lang="en-US" altLang="zh-CN" sz="2585" kern="0" dirty="0">
                <a:latin typeface="+mn-lt"/>
                <a:ea typeface="宋体" panose="02010600030101010101" pitchFamily="2" charset="-122"/>
              </a:rPr>
              <a:t>)&lt;0;</a:t>
            </a:r>
          </a:p>
          <a:p>
            <a:pPr marL="316230" indent="-316230" eaLnBrk="1" hangingPunct="1">
              <a:spcBef>
                <a:spcPct val="20000"/>
              </a:spcBef>
              <a:buFontTx/>
              <a:buChar char="•"/>
              <a:defRPr/>
            </a:pPr>
            <a:endParaRPr lang="en-US" altLang="zh-CN" sz="2585" kern="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612532" y="3458308"/>
            <a:ext cx="1414097" cy="529004"/>
          </a:xfrm>
          <a:prstGeom prst="wedgeRoundRectCallout">
            <a:avLst>
              <a:gd name="adj1" fmla="val 55051"/>
              <a:gd name="adj2" fmla="val -11288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>
                <a:solidFill>
                  <a:schemeClr val="accent2"/>
                </a:solidFill>
                <a:ea typeface="宋体" panose="02010600030101010101" pitchFamily="2" charset="-122"/>
              </a:rPr>
              <a:t>前提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bldLvl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DF60C2-F575-4CA6-8A02-08C0DB06565B}" type="slidenum">
              <a:rPr lang="zh-CN" altLang="en-US" sz="1290">
                <a:latin typeface="Arial" panose="020B0604020202020204" pitchFamily="34" charset="0"/>
              </a:rPr>
              <a:t>23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Review </a:t>
            </a:r>
            <a:r>
              <a:rPr lang="zh-CN" altLang="en-US" dirty="0">
                <a:ea typeface="黑体" panose="02010609060101010101" pitchFamily="49" charset="-122"/>
              </a:rPr>
              <a:t>重新审视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38858" y="1248511"/>
            <a:ext cx="8763000" cy="3808535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自当前点开始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右上</a:t>
            </a:r>
            <a:r>
              <a:rPr lang="en-US" altLang="zh-CN">
                <a:ea typeface="宋体" panose="02010600030101010101" pitchFamily="2" charset="-122"/>
              </a:rPr>
              <a:t>-&gt;</a:t>
            </a:r>
            <a:r>
              <a:rPr lang="zh-CN" altLang="en-US">
                <a:ea typeface="宋体" panose="02010600030101010101" pitchFamily="2" charset="-122"/>
              </a:rPr>
              <a:t>右</a:t>
            </a:r>
            <a:r>
              <a:rPr lang="en-US" altLang="zh-CN">
                <a:ea typeface="宋体" panose="02010600030101010101" pitchFamily="2" charset="-122"/>
              </a:rPr>
              <a:t>-&gt;</a:t>
            </a:r>
            <a:r>
              <a:rPr lang="zh-CN" altLang="en-US">
                <a:ea typeface="宋体" panose="02010600030101010101" pitchFamily="2" charset="-122"/>
              </a:rPr>
              <a:t>右上</a:t>
            </a:r>
            <a:r>
              <a:rPr lang="en-US" altLang="zh-CN">
                <a:ea typeface="宋体" panose="02010600030101010101" pitchFamily="2" charset="-122"/>
              </a:rPr>
              <a:t>-&gt;</a:t>
            </a:r>
            <a:r>
              <a:rPr lang="zh-CN" altLang="en-US">
                <a:ea typeface="宋体" panose="02010600030101010101" pitchFamily="2" charset="-122"/>
              </a:rPr>
              <a:t>右</a:t>
            </a:r>
            <a:r>
              <a:rPr lang="en-US" altLang="zh-CN">
                <a:ea typeface="宋体" panose="02010600030101010101" pitchFamily="2" charset="-122"/>
              </a:rPr>
              <a:t>-&gt;</a:t>
            </a:r>
            <a:r>
              <a:rPr lang="zh-CN" altLang="en-US">
                <a:ea typeface="宋体" panose="02010600030101010101" pitchFamily="2" charset="-122"/>
              </a:rPr>
              <a:t>右上</a:t>
            </a:r>
            <a:r>
              <a:rPr lang="en-US" altLang="zh-CN">
                <a:ea typeface="宋体" panose="02010600030101010101" pitchFamily="2" charset="-122"/>
              </a:rPr>
              <a:t>-&gt;</a:t>
            </a:r>
            <a:r>
              <a:rPr lang="zh-CN" altLang="en-US">
                <a:ea typeface="宋体" panose="02010600030101010101" pitchFamily="2" charset="-122"/>
              </a:rPr>
              <a:t>右上</a:t>
            </a:r>
            <a:r>
              <a:rPr lang="en-US" altLang="zh-CN">
                <a:ea typeface="宋体" panose="02010600030101010101" pitchFamily="2" charset="-122"/>
              </a:rPr>
              <a:t>-&gt;</a:t>
            </a:r>
            <a:r>
              <a:rPr lang="zh-CN" altLang="en-US">
                <a:ea typeface="宋体" panose="02010600030101010101" pitchFamily="2" charset="-122"/>
              </a:rPr>
              <a:t>右</a:t>
            </a:r>
            <a:r>
              <a:rPr lang="en-US" altLang="zh-CN">
                <a:ea typeface="宋体" panose="02010600030101010101" pitchFamily="2" charset="-122"/>
              </a:rPr>
              <a:t>-&gt;</a:t>
            </a:r>
            <a:r>
              <a:rPr lang="zh-CN" altLang="en-US">
                <a:ea typeface="宋体" panose="02010600030101010101" pitchFamily="2" charset="-122"/>
              </a:rPr>
              <a:t>右上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△=F(M)=F(xi+1,yi+0.5)=a(xi+1)+b(yi+0.5)+c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△</a:t>
            </a:r>
            <a:r>
              <a:rPr lang="zh-CN" altLang="en-US">
                <a:ea typeface="宋体" panose="02010600030101010101" pitchFamily="2" charset="-122"/>
              </a:rPr>
              <a:t>是一个数列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△</a:t>
            </a:r>
            <a:r>
              <a:rPr lang="en-US" altLang="zh-CN" i="1" baseline="-25000">
                <a:ea typeface="宋体" panose="02010600030101010101" pitchFamily="2" charset="-122"/>
              </a:rPr>
              <a:t>i</a:t>
            </a:r>
            <a:r>
              <a:rPr lang="zh-CN" altLang="en-US">
                <a:ea typeface="宋体" panose="02010600030101010101" pitchFamily="2" charset="-122"/>
              </a:rPr>
              <a:t>有规律吗</a:t>
            </a:r>
            <a:r>
              <a:rPr lang="en-US" altLang="zh-CN">
                <a:ea typeface="宋体" panose="02010600030101010101" pitchFamily="2" charset="-122"/>
              </a:rPr>
              <a:t>?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239" y="2916119"/>
            <a:ext cx="5682762" cy="367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7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E016BD-63B5-4CBE-9E08-E51213B6E05B}" type="slidenum">
              <a:rPr lang="zh-CN" altLang="en-US" sz="1290">
                <a:latin typeface="Arial" panose="020B0604020202020204" pitchFamily="34" charset="0"/>
              </a:rPr>
              <a:t>24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Midpoint Algorithm</a:t>
            </a:r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1024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3595" y="1392119"/>
          <a:ext cx="8619392" cy="559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7" name="Equation" r:id="rId4" imgW="3327400" imgH="215900" progId="Equation.DSMT4">
                  <p:embed/>
                </p:oleObj>
              </mc:Choice>
              <mc:Fallback>
                <p:oleObj name="Equation" r:id="rId4" imgW="3327400" imgH="215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95" y="1392119"/>
                        <a:ext cx="8619392" cy="559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AutoShape 4"/>
          <p:cNvSpPr>
            <a:spLocks noChangeArrowheads="1"/>
          </p:cNvSpPr>
          <p:nvPr/>
        </p:nvSpPr>
        <p:spPr bwMode="auto">
          <a:xfrm>
            <a:off x="5455629" y="2036159"/>
            <a:ext cx="1281121" cy="634512"/>
          </a:xfrm>
          <a:prstGeom prst="wedgeRoundRectCallout">
            <a:avLst>
              <a:gd name="adj1" fmla="val -102408"/>
              <a:gd name="adj2" fmla="val 846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 dirty="0">
                <a:solidFill>
                  <a:schemeClr val="accent2"/>
                </a:solidFill>
                <a:ea typeface="宋体" panose="02010600030101010101" pitchFamily="2" charset="-122"/>
              </a:rPr>
              <a:t>条件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  <p:graphicFrame>
        <p:nvGraphicFramePr>
          <p:cNvPr id="32774" name="Object 7"/>
          <p:cNvGraphicFramePr>
            <a:graphicFrameLocks noChangeAspect="1"/>
          </p:cNvGraphicFramePr>
          <p:nvPr/>
        </p:nvGraphicFramePr>
        <p:xfrm>
          <a:off x="4683369" y="2803284"/>
          <a:ext cx="4460631" cy="379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8" name="Visio" r:id="rId6" imgW="2257425" imgH="1919605" progId="Visio.Drawing.11">
                  <p:embed/>
                </p:oleObj>
              </mc:Choice>
              <mc:Fallback>
                <p:oleObj name="Visio" r:id="rId6" imgW="2257425" imgH="191960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369" y="2803284"/>
                        <a:ext cx="4460631" cy="379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69632" y="1926983"/>
          <a:ext cx="5185997" cy="98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9" name="Equation" r:id="rId8" imgW="2070100" imgH="393700" progId="Equation.DSMT4">
                  <p:embed/>
                </p:oleObj>
              </mc:Choice>
              <mc:Fallback>
                <p:oleObj name="Equation" r:id="rId8" imgW="20701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32" y="1926983"/>
                        <a:ext cx="5185997" cy="986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37283" y="3113968"/>
          <a:ext cx="2067560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0" name="Equation" r:id="rId10" imgW="825500" imgH="393700" progId="Equation.DSMT4">
                  <p:embed/>
                </p:oleObj>
              </mc:Choice>
              <mc:Fallback>
                <p:oleObj name="Equation" r:id="rId10" imgW="8255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283" y="3113968"/>
                        <a:ext cx="2067560" cy="986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37039" y="4838700"/>
          <a:ext cx="435512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1" name="Equation" r:id="rId12" imgW="1739900" imgH="190500" progId="Equation.DSMT4">
                  <p:embed/>
                </p:oleObj>
              </mc:Choice>
              <mc:Fallback>
                <p:oleObj name="Equation" r:id="rId12" imgW="1739900" imgH="190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39" y="4838700"/>
                        <a:ext cx="435512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404745" y="3114040"/>
            <a:ext cx="2171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中点位于直线上方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12060" y="3683000"/>
            <a:ext cx="2171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中点位于直线下方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6019C7-C8DF-4044-886C-BCA81D9C66F5}"/>
              </a:ext>
            </a:extLst>
          </p:cNvPr>
          <p:cNvSpPr txBox="1"/>
          <p:nvPr/>
        </p:nvSpPr>
        <p:spPr>
          <a:xfrm>
            <a:off x="7055917" y="1900359"/>
            <a:ext cx="105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Pd</a:t>
            </a:r>
            <a:r>
              <a:rPr lang="zh-CN" altLang="en-US" dirty="0"/>
              <a:t>最近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86B33B-1C4C-4349-87EE-D773D77DD164}"/>
              </a:ext>
            </a:extLst>
          </p:cNvPr>
          <p:cNvSpPr txBox="1"/>
          <p:nvPr/>
        </p:nvSpPr>
        <p:spPr>
          <a:xfrm>
            <a:off x="7055916" y="2434984"/>
            <a:ext cx="105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</a:t>
            </a:r>
            <a:r>
              <a:rPr lang="zh-CN" altLang="en-US" dirty="0"/>
              <a:t>最近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nimBg="1"/>
      <p:bldP spid="2" grpId="0"/>
      <p:bldP spid="3" grpId="0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361951" y="1157657"/>
            <a:ext cx="8401050" cy="5004289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Line Midpoint(int x</a:t>
            </a:r>
            <a:r>
              <a:rPr lang="en-US" altLang="zh-CN" i="1" baseline="-25000">
                <a:ea typeface="宋体" panose="02010600030101010101" pitchFamily="2" charset="-122"/>
              </a:rPr>
              <a:t>0</a:t>
            </a:r>
            <a:r>
              <a:rPr lang="en-US" altLang="zh-CN" i="1">
                <a:ea typeface="宋体" panose="02010600030101010101" pitchFamily="2" charset="-122"/>
              </a:rPr>
              <a:t>,int y</a:t>
            </a:r>
            <a:r>
              <a:rPr lang="en-US" altLang="zh-CN" i="1" baseline="-25000">
                <a:ea typeface="宋体" panose="02010600030101010101" pitchFamily="2" charset="-122"/>
              </a:rPr>
              <a:t>0</a:t>
            </a:r>
            <a:r>
              <a:rPr lang="en-US" altLang="zh-CN" i="1">
                <a:ea typeface="宋体" panose="02010600030101010101" pitchFamily="2" charset="-122"/>
              </a:rPr>
              <a:t>,int x</a:t>
            </a:r>
            <a:r>
              <a:rPr lang="en-US" altLang="zh-CN" i="1" baseline="-25000">
                <a:ea typeface="宋体" panose="02010600030101010101" pitchFamily="2" charset="-122"/>
              </a:rPr>
              <a:t>n</a:t>
            </a:r>
            <a:r>
              <a:rPr lang="en-US" altLang="zh-CN" i="1">
                <a:ea typeface="宋体" panose="02010600030101010101" pitchFamily="2" charset="-122"/>
              </a:rPr>
              <a:t>,int y</a:t>
            </a:r>
            <a:r>
              <a:rPr lang="en-US" altLang="zh-CN" i="1" baseline="-25000">
                <a:ea typeface="宋体" panose="02010600030101010101" pitchFamily="2" charset="-122"/>
              </a:rPr>
              <a:t>n</a:t>
            </a:r>
            <a:r>
              <a:rPr lang="en-US" altLang="zh-CN" i="1">
                <a:ea typeface="宋体" panose="02010600030101010101" pitchFamily="2" charset="-122"/>
              </a:rPr>
              <a:t>){</a:t>
            </a:r>
            <a:endParaRPr lang="zh-CN" altLang="zh-CN" i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>
                <a:ea typeface="宋体" panose="02010600030101010101" pitchFamily="2" charset="-122"/>
              </a:rPr>
              <a:t>	a=y</a:t>
            </a:r>
            <a:r>
              <a:rPr lang="en-US" altLang="zh-CN" i="1" baseline="-25000">
                <a:ea typeface="宋体" panose="02010600030101010101" pitchFamily="2" charset="-122"/>
              </a:rPr>
              <a:t>0</a:t>
            </a:r>
            <a:r>
              <a:rPr lang="en-US" altLang="zh-CN" i="1">
                <a:ea typeface="宋体" panose="02010600030101010101" pitchFamily="2" charset="-122"/>
              </a:rPr>
              <a:t>-y</a:t>
            </a:r>
            <a:r>
              <a:rPr lang="en-US" altLang="zh-CN" i="1" baseline="-25000">
                <a:ea typeface="宋体" panose="02010600030101010101" pitchFamily="2" charset="-122"/>
              </a:rPr>
              <a:t>n</a:t>
            </a:r>
            <a:r>
              <a:rPr lang="en-US" altLang="zh-CN" i="1">
                <a:ea typeface="宋体" panose="02010600030101010101" pitchFamily="2" charset="-122"/>
              </a:rPr>
              <a:t>; b=x</a:t>
            </a:r>
            <a:r>
              <a:rPr lang="en-US" altLang="zh-CN" i="1" baseline="-25000">
                <a:ea typeface="宋体" panose="02010600030101010101" pitchFamily="2" charset="-122"/>
              </a:rPr>
              <a:t>n</a:t>
            </a:r>
            <a:r>
              <a:rPr lang="en-US" altLang="zh-CN" i="1">
                <a:ea typeface="宋体" panose="02010600030101010101" pitchFamily="2" charset="-122"/>
              </a:rPr>
              <a:t>-x</a:t>
            </a:r>
            <a:r>
              <a:rPr lang="en-US" altLang="zh-CN" i="1" baseline="-25000">
                <a:ea typeface="宋体" panose="02010600030101010101" pitchFamily="2" charset="-122"/>
              </a:rPr>
              <a:t>0</a:t>
            </a:r>
            <a:r>
              <a:rPr lang="en-US" altLang="zh-CN" i="1">
                <a:ea typeface="宋体" panose="02010600030101010101" pitchFamily="2" charset="-122"/>
              </a:rPr>
              <a:t> ;</a:t>
            </a:r>
            <a:endParaRPr lang="zh-CN" altLang="zh-CN" i="1" baseline="-250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>
                <a:ea typeface="宋体" panose="02010600030101010101" pitchFamily="2" charset="-122"/>
              </a:rPr>
              <a:t>	d1=a+b,d2=a; </a:t>
            </a:r>
          </a:p>
          <a:p>
            <a:pPr>
              <a:buFontTx/>
              <a:buNone/>
            </a:pPr>
            <a:r>
              <a:rPr lang="en-US" altLang="zh-CN" i="1">
                <a:ea typeface="宋体" panose="02010600030101010101" pitchFamily="2" charset="-122"/>
              </a:rPr>
              <a:t>	d = a+0.5*b;</a:t>
            </a:r>
            <a:endParaRPr lang="zh-CN" altLang="zh-CN" i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>
                <a:ea typeface="宋体" panose="02010600030101010101" pitchFamily="2" charset="-122"/>
              </a:rPr>
              <a:t>	while(x=x</a:t>
            </a:r>
            <a:r>
              <a:rPr lang="en-US" altLang="zh-CN" i="1" baseline="-25000">
                <a:ea typeface="宋体" panose="02010600030101010101" pitchFamily="2" charset="-122"/>
              </a:rPr>
              <a:t>0</a:t>
            </a:r>
            <a:r>
              <a:rPr lang="en-US" altLang="zh-CN" i="1">
                <a:ea typeface="宋体" panose="02010600030101010101" pitchFamily="2" charset="-122"/>
              </a:rPr>
              <a:t>;x&lt;=x</a:t>
            </a:r>
            <a:r>
              <a:rPr lang="en-US" altLang="zh-CN" i="1" baseline="-25000">
                <a:ea typeface="宋体" panose="02010600030101010101" pitchFamily="2" charset="-122"/>
              </a:rPr>
              <a:t>n</a:t>
            </a:r>
            <a:r>
              <a:rPr lang="en-US" altLang="zh-CN" i="1">
                <a:ea typeface="宋体" panose="02010600030101010101" pitchFamily="2" charset="-122"/>
              </a:rPr>
              <a:t>)</a:t>
            </a:r>
            <a:endParaRPr lang="zh-CN" altLang="zh-CN" i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>
                <a:ea typeface="宋体" panose="02010600030101010101" pitchFamily="2" charset="-122"/>
              </a:rPr>
              <a:t>	{</a:t>
            </a:r>
            <a:endParaRPr lang="zh-CN" altLang="zh-CN" i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>
                <a:ea typeface="宋体" panose="02010600030101010101" pitchFamily="2" charset="-122"/>
              </a:rPr>
              <a:t>		if(d&lt;0){ x++; y++; d=d+d1;}</a:t>
            </a:r>
            <a:endParaRPr lang="zh-CN" altLang="zh-CN" i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>
                <a:ea typeface="宋体" panose="02010600030101010101" pitchFamily="2" charset="-122"/>
              </a:rPr>
              <a:t>		else{ x++; d=d+d2;}</a:t>
            </a:r>
            <a:endParaRPr lang="zh-CN" altLang="zh-CN" i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>
                <a:ea typeface="宋体" panose="02010600030101010101" pitchFamily="2" charset="-122"/>
              </a:rPr>
              <a:t>	}		</a:t>
            </a:r>
            <a:endParaRPr lang="zh-CN" altLang="zh-CN" i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>
                <a:ea typeface="宋体" panose="02010600030101010101" pitchFamily="2" charset="-122"/>
              </a:rPr>
              <a:t>}</a:t>
            </a:r>
            <a:endParaRPr lang="zh-CN" altLang="en-US" i="1">
              <a:ea typeface="宋体" panose="02010600030101010101" pitchFamily="2" charset="-122"/>
            </a:endParaRPr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57D870-F64A-494F-A164-3382707A61F0}" type="slidenum">
              <a:rPr lang="zh-CN" altLang="en-US" sz="1290">
                <a:latin typeface="Arial" panose="020B0604020202020204" pitchFamily="34" charset="0"/>
              </a:rPr>
              <a:t>25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Midpoint Algorithm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6651384" y="3232638"/>
            <a:ext cx="1972408" cy="634512"/>
          </a:xfrm>
          <a:prstGeom prst="wedgeRoundRectCallout">
            <a:avLst>
              <a:gd name="adj1" fmla="val -53996"/>
              <a:gd name="adj2" fmla="val 8726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>
                <a:solidFill>
                  <a:schemeClr val="accent2"/>
                </a:solidFill>
                <a:ea typeface="宋体" panose="02010600030101010101" pitchFamily="2" charset="-122"/>
              </a:rPr>
              <a:t>继续改进</a:t>
            </a:r>
            <a:r>
              <a:rPr lang="en-US" altLang="zh-CN" sz="2585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5229860" y="1877695"/>
            <a:ext cx="3456940" cy="634365"/>
          </a:xfrm>
          <a:prstGeom prst="wedgeRoundRectCallout">
            <a:avLst>
              <a:gd name="adj1" fmla="val -62509"/>
              <a:gd name="adj2" fmla="val 10301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585" dirty="0">
                <a:ea typeface="宋体" panose="02010600030101010101" pitchFamily="2" charset="-122"/>
              </a:rPr>
              <a:t>一次加法和一次判断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6B6E1-8217-4A9B-9433-566916557440}" type="slidenum">
              <a:rPr lang="zh-CN" altLang="en-US" sz="1290">
                <a:latin typeface="Arial" panose="020B0604020202020204" pitchFamily="34" charset="0"/>
              </a:rPr>
              <a:t>26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思考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1987</a:t>
            </a:r>
            <a:r>
              <a:rPr lang="zh-CN" altLang="en-US">
                <a:ea typeface="宋体" panose="02010600030101010101" pitchFamily="2" charset="-122"/>
              </a:rPr>
              <a:t>年有人提出两步法，即每循环一次不是绘制一个象素，而是绘制两个象素，这样无疑可以把生成直线的速度提高一倍。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1" y="2577940"/>
            <a:ext cx="184731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870" name="Object 4"/>
          <p:cNvGraphicFramePr>
            <a:graphicFrameLocks noChangeAspect="1"/>
          </p:cNvGraphicFramePr>
          <p:nvPr/>
        </p:nvGraphicFramePr>
        <p:xfrm>
          <a:off x="430823" y="3436330"/>
          <a:ext cx="8354158" cy="231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5" name="图片" r:id="rId4" imgW="5295900" imgH="1752600" progId="Word.Picture.8">
                  <p:embed/>
                </p:oleObj>
              </mc:Choice>
              <mc:Fallback>
                <p:oleObj name="图片" r:id="rId4" imgW="5295900" imgH="17526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23" y="3436330"/>
                        <a:ext cx="8354158" cy="231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6B6E1-8217-4A9B-9433-566916557440}" type="slidenum">
              <a:rPr lang="zh-CN" altLang="en-US" sz="1290">
                <a:latin typeface="Arial" panose="020B0604020202020204" pitchFamily="34" charset="0"/>
              </a:rPr>
              <a:t>27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中点线算法思考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增量法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离散变量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增量相等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找出规律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1" y="2577940"/>
            <a:ext cx="184731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683369" y="2803284"/>
          <a:ext cx="4460631" cy="379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9" name="Visio" r:id="rId3" imgW="2257425" imgH="1919605" progId="Visio.Drawing.11">
                  <p:embed/>
                </p:oleObj>
              </mc:Choice>
              <mc:Fallback>
                <p:oleObj name="Visio" r:id="rId3" imgW="2257425" imgH="191960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369" y="2803284"/>
                        <a:ext cx="4460631" cy="379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944083-F155-4BB8-A582-D64C9B7AFFDD}" type="slidenum">
              <a:rPr lang="zh-CN" altLang="en-US" sz="1290">
                <a:latin typeface="Arial" panose="020B0604020202020204" pitchFamily="34" charset="0"/>
              </a:rPr>
              <a:t>28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37891" name="灯片编号占位符 5"/>
          <p:cNvSpPr txBox="1">
            <a:spLocks noGrp="1"/>
          </p:cNvSpPr>
          <p:nvPr/>
        </p:nvSpPr>
        <p:spPr bwMode="auto">
          <a:xfrm>
            <a:off x="6553200" y="6227888"/>
            <a:ext cx="2133600" cy="296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7C2C34D-6DA1-4980-9DDE-B90AB210744B}" type="slidenum">
              <a:rPr lang="zh-CN" altLang="en-US" sz="1290">
                <a:latin typeface="Arial" panose="020B0604020202020204" pitchFamily="34" charset="0"/>
                <a:ea typeface="宋体" panose="02010600030101010101" pitchFamily="2" charset="-122"/>
              </a:rPr>
              <a:t>28</a:t>
            </a:fld>
            <a:endParaRPr lang="en-US" altLang="zh-CN" sz="129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Circle</a:t>
            </a:r>
            <a:r>
              <a:rPr lang="zh-CN" altLang="en-US" dirty="0">
                <a:ea typeface="黑体" panose="02010609060101010101" pitchFamily="49" charset="-122"/>
              </a:rPr>
              <a:t>圆弧光栅化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Circle Rasterization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Naive method</a:t>
            </a:r>
            <a:r>
              <a:rPr lang="zh-CN" altLang="en-US" dirty="0">
                <a:ea typeface="宋体" panose="02010600030101010101" pitchFamily="2" charset="-122"/>
              </a:rPr>
              <a:t>：已知其中一个坐标，带入求解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角度</a:t>
            </a:r>
            <a:r>
              <a:rPr lang="en-US" altLang="zh-CN" dirty="0">
                <a:ea typeface="宋体" panose="02010600030101010101" pitchFamily="2" charset="-122"/>
              </a:rPr>
              <a:t>DDA</a:t>
            </a:r>
            <a:r>
              <a:rPr lang="zh-CN" altLang="en-US" dirty="0">
                <a:ea typeface="宋体" panose="02010600030101010101" pitchFamily="2" charset="-122"/>
              </a:rPr>
              <a:t>法：角度微分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中点画圆法：将中点带入圆方程，判断符号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err="1">
                <a:ea typeface="宋体" panose="02010600030101010101" pitchFamily="2" charset="-122"/>
              </a:rPr>
              <a:t>Bresenham</a:t>
            </a:r>
            <a:r>
              <a:rPr lang="zh-CN" altLang="en-US" dirty="0">
                <a:ea typeface="宋体" panose="02010600030101010101" pitchFamily="2" charset="-122"/>
              </a:rPr>
              <a:t>：备选像素到圆的距离求差，判断符号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789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295" y="4218305"/>
            <a:ext cx="2364105" cy="2182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57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1E0AB8-EC47-4579-967E-90EE79E2DD30}" type="datetime10">
              <a:rPr lang="zh-CN" altLang="en-US" sz="1290">
                <a:latin typeface="Arial" panose="020B0604020202020204" pitchFamily="34" charset="0"/>
              </a:rPr>
              <a:t>09:04</a:t>
            </a:fld>
            <a:endParaRPr lang="en-US" altLang="zh-CN" sz="129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BBEE55-20F6-4851-A31C-42A593508F4A}" type="slidenum">
              <a:rPr lang="zh-CN" altLang="en-US" sz="1290">
                <a:latin typeface="Arial" panose="020B0604020202020204" pitchFamily="34" charset="0"/>
              </a:rPr>
              <a:t>29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38915" name="灯片编号占位符 5"/>
          <p:cNvSpPr txBox="1">
            <a:spLocks noGrp="1"/>
          </p:cNvSpPr>
          <p:nvPr/>
        </p:nvSpPr>
        <p:spPr bwMode="auto">
          <a:xfrm>
            <a:off x="6553200" y="6227888"/>
            <a:ext cx="2133600" cy="296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09B1D5E-E983-42FE-B539-64E3F8D6B122}" type="slidenum">
              <a:rPr lang="zh-CN" altLang="en-US" sz="1290">
                <a:latin typeface="Arial" panose="020B0604020202020204" pitchFamily="34" charset="0"/>
                <a:ea typeface="宋体" panose="02010600030101010101" pitchFamily="2" charset="-122"/>
              </a:rPr>
              <a:t>29</a:t>
            </a:fld>
            <a:endParaRPr lang="en-US" altLang="zh-CN" sz="129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Circle Rasterization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38918" name="Object 2"/>
          <p:cNvGraphicFramePr>
            <a:graphicFrameLocks noChangeAspect="1"/>
          </p:cNvGraphicFramePr>
          <p:nvPr/>
        </p:nvGraphicFramePr>
        <p:xfrm>
          <a:off x="1853715" y="1304193"/>
          <a:ext cx="5416062" cy="47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0" name="VISIO" r:id="rId4" imgW="2995930" imgH="2636520" progId="Visio.Drawing.5">
                  <p:embed/>
                </p:oleObj>
              </mc:Choice>
              <mc:Fallback>
                <p:oleObj name="VISIO" r:id="rId4" imgW="2995930" imgH="2636520" progId="Visio.Drawing.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715" y="1304193"/>
                        <a:ext cx="5416062" cy="47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3"/>
          <p:cNvGraphicFramePr>
            <a:graphicFrameLocks noChangeAspect="1"/>
          </p:cNvGraphicFramePr>
          <p:nvPr/>
        </p:nvGraphicFramePr>
        <p:xfrm>
          <a:off x="4807929" y="1937240"/>
          <a:ext cx="211015" cy="2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1" name="VISIO" r:id="rId6" imgW="108585" imgH="108585" progId="Visio.Drawing.5">
                  <p:embed/>
                </p:oleObj>
              </mc:Choice>
              <mc:Fallback>
                <p:oleObj name="VISIO" r:id="rId6" imgW="108585" imgH="108585" progId="Visio.Drawing.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929" y="1937240"/>
                        <a:ext cx="211015" cy="211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4"/>
          <p:cNvGraphicFramePr>
            <a:graphicFrameLocks noChangeAspect="1"/>
          </p:cNvGraphicFramePr>
          <p:nvPr/>
        </p:nvGraphicFramePr>
        <p:xfrm>
          <a:off x="4174881" y="1937240"/>
          <a:ext cx="211015" cy="2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2" name="VISIO" r:id="rId8" imgW="108585" imgH="108585" progId="Visio.Drawing.5">
                  <p:embed/>
                </p:oleObj>
              </mc:Choice>
              <mc:Fallback>
                <p:oleObj name="VISIO" r:id="rId8" imgW="108585" imgH="108585" progId="Visio.Drawing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4881" y="1937240"/>
                        <a:ext cx="211015" cy="211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5"/>
          <p:cNvGraphicFramePr>
            <a:graphicFrameLocks noChangeAspect="1"/>
          </p:cNvGraphicFramePr>
          <p:nvPr/>
        </p:nvGraphicFramePr>
        <p:xfrm>
          <a:off x="2838452" y="3203332"/>
          <a:ext cx="211015" cy="2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3" name="VISIO" r:id="rId9" imgW="108585" imgH="108585" progId="Visio.Drawing.5">
                  <p:embed/>
                </p:oleObj>
              </mc:Choice>
              <mc:Fallback>
                <p:oleObj name="VISIO" r:id="rId9" imgW="108585" imgH="108585" progId="Visio.Drawing.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2" y="3203332"/>
                        <a:ext cx="211015" cy="211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2" name="Object 6"/>
          <p:cNvGraphicFramePr>
            <a:graphicFrameLocks noChangeAspect="1"/>
          </p:cNvGraphicFramePr>
          <p:nvPr/>
        </p:nvGraphicFramePr>
        <p:xfrm>
          <a:off x="2838452" y="3766040"/>
          <a:ext cx="211015" cy="2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4" name="VISIO" r:id="rId10" imgW="108585" imgH="108585" progId="Visio.Drawing.5">
                  <p:embed/>
                </p:oleObj>
              </mc:Choice>
              <mc:Fallback>
                <p:oleObj name="VISIO" r:id="rId10" imgW="108585" imgH="108585" progId="Visio.Drawing.5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2" y="3766040"/>
                        <a:ext cx="211015" cy="211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Object 7"/>
          <p:cNvGraphicFramePr>
            <a:graphicFrameLocks noChangeAspect="1"/>
          </p:cNvGraphicFramePr>
          <p:nvPr/>
        </p:nvGraphicFramePr>
        <p:xfrm>
          <a:off x="4245221" y="5172809"/>
          <a:ext cx="211015" cy="2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5" name="VISIO" r:id="rId11" imgW="108585" imgH="108585" progId="Visio.Drawing.5">
                  <p:embed/>
                </p:oleObj>
              </mc:Choice>
              <mc:Fallback>
                <p:oleObj name="VISIO" r:id="rId11" imgW="108585" imgH="108585" progId="Visio.Drawing.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221" y="5172809"/>
                        <a:ext cx="211015" cy="211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8"/>
          <p:cNvGraphicFramePr>
            <a:graphicFrameLocks noChangeAspect="1"/>
          </p:cNvGraphicFramePr>
          <p:nvPr/>
        </p:nvGraphicFramePr>
        <p:xfrm>
          <a:off x="4667252" y="5172809"/>
          <a:ext cx="211015" cy="2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6" name="VISIO" r:id="rId12" imgW="108585" imgH="108585" progId="Visio.Drawing.5">
                  <p:embed/>
                </p:oleObj>
              </mc:Choice>
              <mc:Fallback>
                <p:oleObj name="VISIO" r:id="rId12" imgW="108585" imgH="108585" progId="Visio.Drawing.5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2" y="5172809"/>
                        <a:ext cx="211015" cy="211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9"/>
          <p:cNvGraphicFramePr>
            <a:graphicFrameLocks noChangeAspect="1"/>
          </p:cNvGraphicFramePr>
          <p:nvPr/>
        </p:nvGraphicFramePr>
        <p:xfrm>
          <a:off x="6074021" y="3766040"/>
          <a:ext cx="211015" cy="2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7" name="VISIO" r:id="rId13" imgW="108585" imgH="108585" progId="Visio.Drawing.5">
                  <p:embed/>
                </p:oleObj>
              </mc:Choice>
              <mc:Fallback>
                <p:oleObj name="VISIO" r:id="rId13" imgW="108585" imgH="108585" progId="Visio.Drawing.5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021" y="3766040"/>
                        <a:ext cx="211015" cy="211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6" name="Text Box 12"/>
          <p:cNvSpPr txBox="1">
            <a:spLocks noChangeArrowheads="1"/>
          </p:cNvSpPr>
          <p:nvPr/>
        </p:nvSpPr>
        <p:spPr bwMode="auto">
          <a:xfrm>
            <a:off x="4878267" y="1585548"/>
            <a:ext cx="703385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215">
                <a:ea typeface="宋体" panose="02010600030101010101" pitchFamily="2" charset="-122"/>
              </a:rPr>
              <a:t>(</a:t>
            </a:r>
            <a:r>
              <a:rPr kumimoji="1" lang="en-US" altLang="zh-CN" sz="2215">
                <a:ea typeface="宋体" panose="02010600030101010101" pitchFamily="2" charset="-122"/>
              </a:rPr>
              <a:t>y,x)</a:t>
            </a:r>
          </a:p>
        </p:txBody>
      </p:sp>
      <p:sp>
        <p:nvSpPr>
          <p:cNvPr id="38927" name="Text Box 13"/>
          <p:cNvSpPr txBox="1">
            <a:spLocks noChangeArrowheads="1"/>
          </p:cNvSpPr>
          <p:nvPr/>
        </p:nvSpPr>
        <p:spPr bwMode="auto">
          <a:xfrm>
            <a:off x="3330821" y="1585548"/>
            <a:ext cx="1055077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215">
                <a:ea typeface="宋体" panose="02010600030101010101" pitchFamily="2" charset="-122"/>
              </a:rPr>
              <a:t>(-</a:t>
            </a:r>
            <a:r>
              <a:rPr kumimoji="1" lang="en-US" altLang="zh-CN" sz="2215">
                <a:ea typeface="宋体" panose="02010600030101010101" pitchFamily="2" charset="-122"/>
              </a:rPr>
              <a:t>y,x)</a:t>
            </a:r>
          </a:p>
        </p:txBody>
      </p:sp>
      <p:sp>
        <p:nvSpPr>
          <p:cNvPr id="38928" name="Text Box 14"/>
          <p:cNvSpPr txBox="1">
            <a:spLocks noChangeArrowheads="1"/>
          </p:cNvSpPr>
          <p:nvPr/>
        </p:nvSpPr>
        <p:spPr bwMode="auto">
          <a:xfrm>
            <a:off x="1783374" y="2921980"/>
            <a:ext cx="1055077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215">
                <a:ea typeface="宋体" panose="02010600030101010101" pitchFamily="2" charset="-122"/>
              </a:rPr>
              <a:t>(-</a:t>
            </a:r>
            <a:r>
              <a:rPr kumimoji="1" lang="en-US" altLang="zh-CN" sz="2215">
                <a:ea typeface="宋体" panose="02010600030101010101" pitchFamily="2" charset="-122"/>
              </a:rPr>
              <a:t>x,y)</a:t>
            </a:r>
          </a:p>
        </p:txBody>
      </p:sp>
      <p:sp>
        <p:nvSpPr>
          <p:cNvPr id="38929" name="Text Box 15"/>
          <p:cNvSpPr txBox="1">
            <a:spLocks noChangeArrowheads="1"/>
          </p:cNvSpPr>
          <p:nvPr/>
        </p:nvSpPr>
        <p:spPr bwMode="auto">
          <a:xfrm>
            <a:off x="1713036" y="3836380"/>
            <a:ext cx="1055077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215">
                <a:ea typeface="宋体" panose="02010600030101010101" pitchFamily="2" charset="-122"/>
              </a:rPr>
              <a:t>(-</a:t>
            </a:r>
            <a:r>
              <a:rPr kumimoji="1" lang="en-US" altLang="zh-CN" sz="2215">
                <a:ea typeface="宋体" panose="02010600030101010101" pitchFamily="2" charset="-122"/>
              </a:rPr>
              <a:t>x,-y)</a:t>
            </a:r>
          </a:p>
        </p:txBody>
      </p:sp>
      <p:sp>
        <p:nvSpPr>
          <p:cNvPr id="38930" name="Text Box 16"/>
          <p:cNvSpPr txBox="1">
            <a:spLocks noChangeArrowheads="1"/>
          </p:cNvSpPr>
          <p:nvPr/>
        </p:nvSpPr>
        <p:spPr bwMode="auto">
          <a:xfrm>
            <a:off x="3471498" y="5383826"/>
            <a:ext cx="1055077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215">
                <a:ea typeface="宋体" panose="02010600030101010101" pitchFamily="2" charset="-122"/>
              </a:rPr>
              <a:t>(-</a:t>
            </a:r>
            <a:r>
              <a:rPr kumimoji="1" lang="en-US" altLang="zh-CN" sz="2215">
                <a:ea typeface="宋体" panose="02010600030101010101" pitchFamily="2" charset="-122"/>
              </a:rPr>
              <a:t>y,-x)</a:t>
            </a:r>
          </a:p>
        </p:txBody>
      </p:sp>
      <p:sp>
        <p:nvSpPr>
          <p:cNvPr id="38931" name="Text Box 17"/>
          <p:cNvSpPr txBox="1">
            <a:spLocks noChangeArrowheads="1"/>
          </p:cNvSpPr>
          <p:nvPr/>
        </p:nvSpPr>
        <p:spPr bwMode="auto">
          <a:xfrm>
            <a:off x="4737590" y="5383826"/>
            <a:ext cx="1055077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215">
                <a:ea typeface="宋体" panose="02010600030101010101" pitchFamily="2" charset="-122"/>
              </a:rPr>
              <a:t>(</a:t>
            </a:r>
            <a:r>
              <a:rPr kumimoji="1" lang="en-US" altLang="zh-CN" sz="2215">
                <a:ea typeface="宋体" panose="02010600030101010101" pitchFamily="2" charset="-122"/>
              </a:rPr>
              <a:t>y,-x)</a:t>
            </a:r>
          </a:p>
        </p:txBody>
      </p:sp>
      <p:sp>
        <p:nvSpPr>
          <p:cNvPr id="38932" name="Text Box 18"/>
          <p:cNvSpPr txBox="1">
            <a:spLocks noChangeArrowheads="1"/>
          </p:cNvSpPr>
          <p:nvPr/>
        </p:nvSpPr>
        <p:spPr bwMode="auto">
          <a:xfrm>
            <a:off x="6214698" y="3977057"/>
            <a:ext cx="1055077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215">
                <a:ea typeface="宋体" panose="02010600030101010101" pitchFamily="2" charset="-122"/>
              </a:rPr>
              <a:t>(</a:t>
            </a:r>
            <a:r>
              <a:rPr kumimoji="1" lang="en-US" altLang="zh-CN" sz="2215">
                <a:ea typeface="宋体" panose="02010600030101010101" pitchFamily="2" charset="-122"/>
              </a:rPr>
              <a:t>x,-y)</a:t>
            </a:r>
          </a:p>
        </p:txBody>
      </p:sp>
      <p:sp>
        <p:nvSpPr>
          <p:cNvPr id="38933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57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9ED552-2FBF-49E0-BD82-E303769C788E}" type="datetime10">
              <a:rPr lang="zh-CN" altLang="en-US" sz="1290">
                <a:latin typeface="Arial" panose="020B0604020202020204" pitchFamily="34" charset="0"/>
              </a:rPr>
              <a:t>09:04</a:t>
            </a:fld>
            <a:endParaRPr lang="en-US" altLang="zh-CN" sz="129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CA66D7-2074-4C05-82C4-BB0807B514AC}" type="slidenum">
              <a:rPr lang="zh-CN" altLang="en-US" sz="1290">
                <a:latin typeface="Arial" panose="020B0604020202020204" pitchFamily="34" charset="0"/>
              </a:rPr>
              <a:t>30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grpSp>
        <p:nvGrpSpPr>
          <p:cNvPr id="39939" name="Group 2"/>
          <p:cNvGrpSpPr/>
          <p:nvPr/>
        </p:nvGrpSpPr>
        <p:grpSpPr bwMode="auto">
          <a:xfrm>
            <a:off x="5348654" y="2108689"/>
            <a:ext cx="2895600" cy="3062655"/>
            <a:chOff x="3650" y="1259"/>
            <a:chExt cx="1976" cy="2090"/>
          </a:xfrm>
        </p:grpSpPr>
        <p:sp>
          <p:nvSpPr>
            <p:cNvPr id="39947" name="Text Box 3"/>
            <p:cNvSpPr txBox="1">
              <a:spLocks noChangeArrowheads="1"/>
            </p:cNvSpPr>
            <p:nvPr/>
          </p:nvSpPr>
          <p:spPr bwMode="auto">
            <a:xfrm>
              <a:off x="5314" y="3058"/>
              <a:ext cx="274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215" b="1">
                  <a:latin typeface="Arial" panose="020B0604020202020204" pitchFamily="34" charset="0"/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39948" name="Rectangle 4"/>
            <p:cNvSpPr>
              <a:spLocks noChangeArrowheads="1"/>
            </p:cNvSpPr>
            <p:nvPr/>
          </p:nvSpPr>
          <p:spPr bwMode="auto">
            <a:xfrm>
              <a:off x="5154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49" name="Rectangle 5"/>
            <p:cNvSpPr>
              <a:spLocks noChangeArrowheads="1"/>
            </p:cNvSpPr>
            <p:nvPr/>
          </p:nvSpPr>
          <p:spPr bwMode="auto">
            <a:xfrm>
              <a:off x="4991" y="293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0" name="Rectangle 6"/>
            <p:cNvSpPr>
              <a:spLocks noChangeArrowheads="1"/>
            </p:cNvSpPr>
            <p:nvPr/>
          </p:nvSpPr>
          <p:spPr bwMode="auto">
            <a:xfrm>
              <a:off x="4831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1" name="Rectangle 7"/>
            <p:cNvSpPr>
              <a:spLocks noChangeArrowheads="1"/>
            </p:cNvSpPr>
            <p:nvPr/>
          </p:nvSpPr>
          <p:spPr bwMode="auto">
            <a:xfrm>
              <a:off x="4679" y="2934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2" name="Rectangle 8"/>
            <p:cNvSpPr>
              <a:spLocks noChangeArrowheads="1"/>
            </p:cNvSpPr>
            <p:nvPr/>
          </p:nvSpPr>
          <p:spPr bwMode="auto">
            <a:xfrm>
              <a:off x="4508" y="2934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3" name="Rectangle 9"/>
            <p:cNvSpPr>
              <a:spLocks noChangeArrowheads="1"/>
            </p:cNvSpPr>
            <p:nvPr/>
          </p:nvSpPr>
          <p:spPr bwMode="auto">
            <a:xfrm>
              <a:off x="4348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4" name="Rectangle 10"/>
            <p:cNvSpPr>
              <a:spLocks noChangeArrowheads="1"/>
            </p:cNvSpPr>
            <p:nvPr/>
          </p:nvSpPr>
          <p:spPr bwMode="auto">
            <a:xfrm>
              <a:off x="4185" y="293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5" name="Rectangle 11"/>
            <p:cNvSpPr>
              <a:spLocks noChangeArrowheads="1"/>
            </p:cNvSpPr>
            <p:nvPr/>
          </p:nvSpPr>
          <p:spPr bwMode="auto">
            <a:xfrm>
              <a:off x="4025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6" name="Rectangle 12"/>
            <p:cNvSpPr>
              <a:spLocks noChangeArrowheads="1"/>
            </p:cNvSpPr>
            <p:nvPr/>
          </p:nvSpPr>
          <p:spPr bwMode="auto">
            <a:xfrm>
              <a:off x="3862" y="293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7" name="Rectangle 13"/>
            <p:cNvSpPr>
              <a:spLocks noChangeArrowheads="1"/>
            </p:cNvSpPr>
            <p:nvPr/>
          </p:nvSpPr>
          <p:spPr bwMode="auto">
            <a:xfrm>
              <a:off x="3702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8" name="Rectangle 14"/>
            <p:cNvSpPr>
              <a:spLocks noChangeArrowheads="1"/>
            </p:cNvSpPr>
            <p:nvPr/>
          </p:nvSpPr>
          <p:spPr bwMode="auto">
            <a:xfrm>
              <a:off x="5154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59" name="Rectangle 15"/>
            <p:cNvSpPr>
              <a:spLocks noChangeArrowheads="1"/>
            </p:cNvSpPr>
            <p:nvPr/>
          </p:nvSpPr>
          <p:spPr bwMode="auto">
            <a:xfrm>
              <a:off x="4991" y="278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0" name="Rectangle 16"/>
            <p:cNvSpPr>
              <a:spLocks noChangeArrowheads="1"/>
            </p:cNvSpPr>
            <p:nvPr/>
          </p:nvSpPr>
          <p:spPr bwMode="auto">
            <a:xfrm>
              <a:off x="4831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1" name="Rectangle 17"/>
            <p:cNvSpPr>
              <a:spLocks noChangeArrowheads="1"/>
            </p:cNvSpPr>
            <p:nvPr/>
          </p:nvSpPr>
          <p:spPr bwMode="auto">
            <a:xfrm>
              <a:off x="4679" y="2785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2" name="Rectangle 18"/>
            <p:cNvSpPr>
              <a:spLocks noChangeArrowheads="1"/>
            </p:cNvSpPr>
            <p:nvPr/>
          </p:nvSpPr>
          <p:spPr bwMode="auto">
            <a:xfrm>
              <a:off x="4508" y="2785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3" name="Rectangle 19"/>
            <p:cNvSpPr>
              <a:spLocks noChangeArrowheads="1"/>
            </p:cNvSpPr>
            <p:nvPr/>
          </p:nvSpPr>
          <p:spPr bwMode="auto">
            <a:xfrm>
              <a:off x="4348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4" name="Rectangle 20"/>
            <p:cNvSpPr>
              <a:spLocks noChangeArrowheads="1"/>
            </p:cNvSpPr>
            <p:nvPr/>
          </p:nvSpPr>
          <p:spPr bwMode="auto">
            <a:xfrm>
              <a:off x="4185" y="278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5" name="Rectangle 21"/>
            <p:cNvSpPr>
              <a:spLocks noChangeArrowheads="1"/>
            </p:cNvSpPr>
            <p:nvPr/>
          </p:nvSpPr>
          <p:spPr bwMode="auto">
            <a:xfrm>
              <a:off x="4025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6" name="Rectangle 22"/>
            <p:cNvSpPr>
              <a:spLocks noChangeArrowheads="1"/>
            </p:cNvSpPr>
            <p:nvPr/>
          </p:nvSpPr>
          <p:spPr bwMode="auto">
            <a:xfrm>
              <a:off x="3862" y="278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7" name="Rectangle 23"/>
            <p:cNvSpPr>
              <a:spLocks noChangeArrowheads="1"/>
            </p:cNvSpPr>
            <p:nvPr/>
          </p:nvSpPr>
          <p:spPr bwMode="auto">
            <a:xfrm>
              <a:off x="3702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8" name="Rectangle 24"/>
            <p:cNvSpPr>
              <a:spLocks noChangeArrowheads="1"/>
            </p:cNvSpPr>
            <p:nvPr/>
          </p:nvSpPr>
          <p:spPr bwMode="auto">
            <a:xfrm>
              <a:off x="5154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69" name="Rectangle 25"/>
            <p:cNvSpPr>
              <a:spLocks noChangeArrowheads="1"/>
            </p:cNvSpPr>
            <p:nvPr/>
          </p:nvSpPr>
          <p:spPr bwMode="auto">
            <a:xfrm>
              <a:off x="4991" y="2637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0" name="Rectangle 26"/>
            <p:cNvSpPr>
              <a:spLocks noChangeArrowheads="1"/>
            </p:cNvSpPr>
            <p:nvPr/>
          </p:nvSpPr>
          <p:spPr bwMode="auto">
            <a:xfrm>
              <a:off x="4831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1" name="Rectangle 27"/>
            <p:cNvSpPr>
              <a:spLocks noChangeArrowheads="1"/>
            </p:cNvSpPr>
            <p:nvPr/>
          </p:nvSpPr>
          <p:spPr bwMode="auto">
            <a:xfrm>
              <a:off x="4679" y="2637"/>
              <a:ext cx="152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2" name="Rectangle 28"/>
            <p:cNvSpPr>
              <a:spLocks noChangeArrowheads="1"/>
            </p:cNvSpPr>
            <p:nvPr/>
          </p:nvSpPr>
          <p:spPr bwMode="auto">
            <a:xfrm>
              <a:off x="4508" y="2637"/>
              <a:ext cx="171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3" name="Rectangle 29"/>
            <p:cNvSpPr>
              <a:spLocks noChangeArrowheads="1"/>
            </p:cNvSpPr>
            <p:nvPr/>
          </p:nvSpPr>
          <p:spPr bwMode="auto">
            <a:xfrm>
              <a:off x="4348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4" name="Rectangle 30"/>
            <p:cNvSpPr>
              <a:spLocks noChangeArrowheads="1"/>
            </p:cNvSpPr>
            <p:nvPr/>
          </p:nvSpPr>
          <p:spPr bwMode="auto">
            <a:xfrm>
              <a:off x="4185" y="2637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5" name="Rectangle 31"/>
            <p:cNvSpPr>
              <a:spLocks noChangeArrowheads="1"/>
            </p:cNvSpPr>
            <p:nvPr/>
          </p:nvSpPr>
          <p:spPr bwMode="auto">
            <a:xfrm>
              <a:off x="4025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6" name="Rectangle 32"/>
            <p:cNvSpPr>
              <a:spLocks noChangeArrowheads="1"/>
            </p:cNvSpPr>
            <p:nvPr/>
          </p:nvSpPr>
          <p:spPr bwMode="auto">
            <a:xfrm>
              <a:off x="3862" y="2637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7" name="Rectangle 33"/>
            <p:cNvSpPr>
              <a:spLocks noChangeArrowheads="1"/>
            </p:cNvSpPr>
            <p:nvPr/>
          </p:nvSpPr>
          <p:spPr bwMode="auto">
            <a:xfrm>
              <a:off x="3702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8" name="Rectangle 34"/>
            <p:cNvSpPr>
              <a:spLocks noChangeArrowheads="1"/>
            </p:cNvSpPr>
            <p:nvPr/>
          </p:nvSpPr>
          <p:spPr bwMode="auto">
            <a:xfrm>
              <a:off x="5154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79" name="Rectangle 35"/>
            <p:cNvSpPr>
              <a:spLocks noChangeArrowheads="1"/>
            </p:cNvSpPr>
            <p:nvPr/>
          </p:nvSpPr>
          <p:spPr bwMode="auto">
            <a:xfrm>
              <a:off x="4991" y="2488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0" name="Rectangle 36"/>
            <p:cNvSpPr>
              <a:spLocks noChangeArrowheads="1"/>
            </p:cNvSpPr>
            <p:nvPr/>
          </p:nvSpPr>
          <p:spPr bwMode="auto">
            <a:xfrm>
              <a:off x="4831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1" name="Rectangle 37"/>
            <p:cNvSpPr>
              <a:spLocks noChangeArrowheads="1"/>
            </p:cNvSpPr>
            <p:nvPr/>
          </p:nvSpPr>
          <p:spPr bwMode="auto">
            <a:xfrm>
              <a:off x="4679" y="2488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2" name="Rectangle 38"/>
            <p:cNvSpPr>
              <a:spLocks noChangeArrowheads="1"/>
            </p:cNvSpPr>
            <p:nvPr/>
          </p:nvSpPr>
          <p:spPr bwMode="auto">
            <a:xfrm>
              <a:off x="4508" y="2488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3" name="Rectangle 39"/>
            <p:cNvSpPr>
              <a:spLocks noChangeArrowheads="1"/>
            </p:cNvSpPr>
            <p:nvPr/>
          </p:nvSpPr>
          <p:spPr bwMode="auto">
            <a:xfrm>
              <a:off x="4348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4" name="Rectangle 40"/>
            <p:cNvSpPr>
              <a:spLocks noChangeArrowheads="1"/>
            </p:cNvSpPr>
            <p:nvPr/>
          </p:nvSpPr>
          <p:spPr bwMode="auto">
            <a:xfrm>
              <a:off x="4185" y="2488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5" name="Rectangle 41"/>
            <p:cNvSpPr>
              <a:spLocks noChangeArrowheads="1"/>
            </p:cNvSpPr>
            <p:nvPr/>
          </p:nvSpPr>
          <p:spPr bwMode="auto">
            <a:xfrm>
              <a:off x="4025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6" name="Rectangle 42"/>
            <p:cNvSpPr>
              <a:spLocks noChangeArrowheads="1"/>
            </p:cNvSpPr>
            <p:nvPr/>
          </p:nvSpPr>
          <p:spPr bwMode="auto">
            <a:xfrm>
              <a:off x="3862" y="2488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7" name="Rectangle 43"/>
            <p:cNvSpPr>
              <a:spLocks noChangeArrowheads="1"/>
            </p:cNvSpPr>
            <p:nvPr/>
          </p:nvSpPr>
          <p:spPr bwMode="auto">
            <a:xfrm>
              <a:off x="3702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8" name="Rectangle 44"/>
            <p:cNvSpPr>
              <a:spLocks noChangeArrowheads="1"/>
            </p:cNvSpPr>
            <p:nvPr/>
          </p:nvSpPr>
          <p:spPr bwMode="auto">
            <a:xfrm>
              <a:off x="5154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89" name="Rectangle 45"/>
            <p:cNvSpPr>
              <a:spLocks noChangeArrowheads="1"/>
            </p:cNvSpPr>
            <p:nvPr/>
          </p:nvSpPr>
          <p:spPr bwMode="auto">
            <a:xfrm>
              <a:off x="4991" y="2339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0" name="Rectangle 46"/>
            <p:cNvSpPr>
              <a:spLocks noChangeArrowheads="1"/>
            </p:cNvSpPr>
            <p:nvPr/>
          </p:nvSpPr>
          <p:spPr bwMode="auto">
            <a:xfrm>
              <a:off x="4831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1" name="Rectangle 47"/>
            <p:cNvSpPr>
              <a:spLocks noChangeArrowheads="1"/>
            </p:cNvSpPr>
            <p:nvPr/>
          </p:nvSpPr>
          <p:spPr bwMode="auto">
            <a:xfrm>
              <a:off x="4679" y="2339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2" name="Rectangle 48"/>
            <p:cNvSpPr>
              <a:spLocks noChangeArrowheads="1"/>
            </p:cNvSpPr>
            <p:nvPr/>
          </p:nvSpPr>
          <p:spPr bwMode="auto">
            <a:xfrm>
              <a:off x="4508" y="2339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3" name="Rectangle 49"/>
            <p:cNvSpPr>
              <a:spLocks noChangeArrowheads="1"/>
            </p:cNvSpPr>
            <p:nvPr/>
          </p:nvSpPr>
          <p:spPr bwMode="auto">
            <a:xfrm>
              <a:off x="4348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4" name="Rectangle 50"/>
            <p:cNvSpPr>
              <a:spLocks noChangeArrowheads="1"/>
            </p:cNvSpPr>
            <p:nvPr/>
          </p:nvSpPr>
          <p:spPr bwMode="auto">
            <a:xfrm>
              <a:off x="4185" y="2339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5" name="Rectangle 51"/>
            <p:cNvSpPr>
              <a:spLocks noChangeArrowheads="1"/>
            </p:cNvSpPr>
            <p:nvPr/>
          </p:nvSpPr>
          <p:spPr bwMode="auto">
            <a:xfrm>
              <a:off x="4025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6" name="Rectangle 52"/>
            <p:cNvSpPr>
              <a:spLocks noChangeArrowheads="1"/>
            </p:cNvSpPr>
            <p:nvPr/>
          </p:nvSpPr>
          <p:spPr bwMode="auto">
            <a:xfrm>
              <a:off x="3862" y="2339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7" name="Rectangle 53"/>
            <p:cNvSpPr>
              <a:spLocks noChangeArrowheads="1"/>
            </p:cNvSpPr>
            <p:nvPr/>
          </p:nvSpPr>
          <p:spPr bwMode="auto">
            <a:xfrm>
              <a:off x="3702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8" name="Rectangle 54"/>
            <p:cNvSpPr>
              <a:spLocks noChangeArrowheads="1"/>
            </p:cNvSpPr>
            <p:nvPr/>
          </p:nvSpPr>
          <p:spPr bwMode="auto">
            <a:xfrm>
              <a:off x="5154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999" name="Rectangle 55"/>
            <p:cNvSpPr>
              <a:spLocks noChangeArrowheads="1"/>
            </p:cNvSpPr>
            <p:nvPr/>
          </p:nvSpPr>
          <p:spPr bwMode="auto">
            <a:xfrm>
              <a:off x="4991" y="2190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0" name="Rectangle 56"/>
            <p:cNvSpPr>
              <a:spLocks noChangeArrowheads="1"/>
            </p:cNvSpPr>
            <p:nvPr/>
          </p:nvSpPr>
          <p:spPr bwMode="auto">
            <a:xfrm>
              <a:off x="4831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1" name="Rectangle 57"/>
            <p:cNvSpPr>
              <a:spLocks noChangeArrowheads="1"/>
            </p:cNvSpPr>
            <p:nvPr/>
          </p:nvSpPr>
          <p:spPr bwMode="auto">
            <a:xfrm>
              <a:off x="4679" y="2190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2" name="Rectangle 58"/>
            <p:cNvSpPr>
              <a:spLocks noChangeArrowheads="1"/>
            </p:cNvSpPr>
            <p:nvPr/>
          </p:nvSpPr>
          <p:spPr bwMode="auto">
            <a:xfrm>
              <a:off x="4508" y="2190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3" name="Rectangle 59"/>
            <p:cNvSpPr>
              <a:spLocks noChangeArrowheads="1"/>
            </p:cNvSpPr>
            <p:nvPr/>
          </p:nvSpPr>
          <p:spPr bwMode="auto">
            <a:xfrm>
              <a:off x="4348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4" name="Rectangle 60"/>
            <p:cNvSpPr>
              <a:spLocks noChangeArrowheads="1"/>
            </p:cNvSpPr>
            <p:nvPr/>
          </p:nvSpPr>
          <p:spPr bwMode="auto">
            <a:xfrm>
              <a:off x="4185" y="2190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5" name="Rectangle 61"/>
            <p:cNvSpPr>
              <a:spLocks noChangeArrowheads="1"/>
            </p:cNvSpPr>
            <p:nvPr/>
          </p:nvSpPr>
          <p:spPr bwMode="auto">
            <a:xfrm>
              <a:off x="4025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6" name="Rectangle 62"/>
            <p:cNvSpPr>
              <a:spLocks noChangeArrowheads="1"/>
            </p:cNvSpPr>
            <p:nvPr/>
          </p:nvSpPr>
          <p:spPr bwMode="auto">
            <a:xfrm>
              <a:off x="3862" y="2190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7" name="Rectangle 63"/>
            <p:cNvSpPr>
              <a:spLocks noChangeArrowheads="1"/>
            </p:cNvSpPr>
            <p:nvPr/>
          </p:nvSpPr>
          <p:spPr bwMode="auto">
            <a:xfrm>
              <a:off x="3702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8" name="Rectangle 64"/>
            <p:cNvSpPr>
              <a:spLocks noChangeArrowheads="1"/>
            </p:cNvSpPr>
            <p:nvPr/>
          </p:nvSpPr>
          <p:spPr bwMode="auto">
            <a:xfrm>
              <a:off x="5154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09" name="Rectangle 65"/>
            <p:cNvSpPr>
              <a:spLocks noChangeArrowheads="1"/>
            </p:cNvSpPr>
            <p:nvPr/>
          </p:nvSpPr>
          <p:spPr bwMode="auto">
            <a:xfrm>
              <a:off x="4991" y="2041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0" name="Rectangle 66"/>
            <p:cNvSpPr>
              <a:spLocks noChangeArrowheads="1"/>
            </p:cNvSpPr>
            <p:nvPr/>
          </p:nvSpPr>
          <p:spPr bwMode="auto">
            <a:xfrm>
              <a:off x="4831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1" name="Rectangle 67"/>
            <p:cNvSpPr>
              <a:spLocks noChangeArrowheads="1"/>
            </p:cNvSpPr>
            <p:nvPr/>
          </p:nvSpPr>
          <p:spPr bwMode="auto">
            <a:xfrm>
              <a:off x="4679" y="2041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2" name="Rectangle 68"/>
            <p:cNvSpPr>
              <a:spLocks noChangeArrowheads="1"/>
            </p:cNvSpPr>
            <p:nvPr/>
          </p:nvSpPr>
          <p:spPr bwMode="auto">
            <a:xfrm>
              <a:off x="4508" y="2041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3" name="Rectangle 69"/>
            <p:cNvSpPr>
              <a:spLocks noChangeArrowheads="1"/>
            </p:cNvSpPr>
            <p:nvPr/>
          </p:nvSpPr>
          <p:spPr bwMode="auto">
            <a:xfrm>
              <a:off x="4348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4" name="Rectangle 70"/>
            <p:cNvSpPr>
              <a:spLocks noChangeArrowheads="1"/>
            </p:cNvSpPr>
            <p:nvPr/>
          </p:nvSpPr>
          <p:spPr bwMode="auto">
            <a:xfrm>
              <a:off x="4185" y="2041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5" name="Rectangle 71"/>
            <p:cNvSpPr>
              <a:spLocks noChangeArrowheads="1"/>
            </p:cNvSpPr>
            <p:nvPr/>
          </p:nvSpPr>
          <p:spPr bwMode="auto">
            <a:xfrm>
              <a:off x="4025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6" name="Rectangle 72"/>
            <p:cNvSpPr>
              <a:spLocks noChangeArrowheads="1"/>
            </p:cNvSpPr>
            <p:nvPr/>
          </p:nvSpPr>
          <p:spPr bwMode="auto">
            <a:xfrm>
              <a:off x="3862" y="2041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7" name="Rectangle 73"/>
            <p:cNvSpPr>
              <a:spLocks noChangeArrowheads="1"/>
            </p:cNvSpPr>
            <p:nvPr/>
          </p:nvSpPr>
          <p:spPr bwMode="auto">
            <a:xfrm>
              <a:off x="3702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8" name="Rectangle 74"/>
            <p:cNvSpPr>
              <a:spLocks noChangeArrowheads="1"/>
            </p:cNvSpPr>
            <p:nvPr/>
          </p:nvSpPr>
          <p:spPr bwMode="auto">
            <a:xfrm>
              <a:off x="5154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19" name="Rectangle 75"/>
            <p:cNvSpPr>
              <a:spLocks noChangeArrowheads="1"/>
            </p:cNvSpPr>
            <p:nvPr/>
          </p:nvSpPr>
          <p:spPr bwMode="auto">
            <a:xfrm>
              <a:off x="4991" y="1893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0" name="Rectangle 76"/>
            <p:cNvSpPr>
              <a:spLocks noChangeArrowheads="1"/>
            </p:cNvSpPr>
            <p:nvPr/>
          </p:nvSpPr>
          <p:spPr bwMode="auto">
            <a:xfrm>
              <a:off x="4831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1" name="Rectangle 77"/>
            <p:cNvSpPr>
              <a:spLocks noChangeArrowheads="1"/>
            </p:cNvSpPr>
            <p:nvPr/>
          </p:nvSpPr>
          <p:spPr bwMode="auto">
            <a:xfrm>
              <a:off x="4679" y="1893"/>
              <a:ext cx="152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2" name="Rectangle 78"/>
            <p:cNvSpPr>
              <a:spLocks noChangeArrowheads="1"/>
            </p:cNvSpPr>
            <p:nvPr/>
          </p:nvSpPr>
          <p:spPr bwMode="auto">
            <a:xfrm>
              <a:off x="4508" y="1893"/>
              <a:ext cx="171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3" name="Rectangle 79"/>
            <p:cNvSpPr>
              <a:spLocks noChangeArrowheads="1"/>
            </p:cNvSpPr>
            <p:nvPr/>
          </p:nvSpPr>
          <p:spPr bwMode="auto">
            <a:xfrm>
              <a:off x="4348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4" name="Rectangle 80"/>
            <p:cNvSpPr>
              <a:spLocks noChangeArrowheads="1"/>
            </p:cNvSpPr>
            <p:nvPr/>
          </p:nvSpPr>
          <p:spPr bwMode="auto">
            <a:xfrm>
              <a:off x="4185" y="1893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5" name="Rectangle 81"/>
            <p:cNvSpPr>
              <a:spLocks noChangeArrowheads="1"/>
            </p:cNvSpPr>
            <p:nvPr/>
          </p:nvSpPr>
          <p:spPr bwMode="auto">
            <a:xfrm>
              <a:off x="4025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6" name="Rectangle 82"/>
            <p:cNvSpPr>
              <a:spLocks noChangeArrowheads="1"/>
            </p:cNvSpPr>
            <p:nvPr/>
          </p:nvSpPr>
          <p:spPr bwMode="auto">
            <a:xfrm>
              <a:off x="3862" y="1893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7" name="Rectangle 83"/>
            <p:cNvSpPr>
              <a:spLocks noChangeArrowheads="1"/>
            </p:cNvSpPr>
            <p:nvPr/>
          </p:nvSpPr>
          <p:spPr bwMode="auto">
            <a:xfrm>
              <a:off x="3702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8" name="Rectangle 84"/>
            <p:cNvSpPr>
              <a:spLocks noChangeArrowheads="1"/>
            </p:cNvSpPr>
            <p:nvPr/>
          </p:nvSpPr>
          <p:spPr bwMode="auto">
            <a:xfrm>
              <a:off x="5154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29" name="Rectangle 85"/>
            <p:cNvSpPr>
              <a:spLocks noChangeArrowheads="1"/>
            </p:cNvSpPr>
            <p:nvPr/>
          </p:nvSpPr>
          <p:spPr bwMode="auto">
            <a:xfrm>
              <a:off x="4991" y="174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0" name="Rectangle 86"/>
            <p:cNvSpPr>
              <a:spLocks noChangeArrowheads="1"/>
            </p:cNvSpPr>
            <p:nvPr/>
          </p:nvSpPr>
          <p:spPr bwMode="auto">
            <a:xfrm>
              <a:off x="4831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1" name="Rectangle 87"/>
            <p:cNvSpPr>
              <a:spLocks noChangeArrowheads="1"/>
            </p:cNvSpPr>
            <p:nvPr/>
          </p:nvSpPr>
          <p:spPr bwMode="auto">
            <a:xfrm>
              <a:off x="4679" y="1744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2" name="Rectangle 88"/>
            <p:cNvSpPr>
              <a:spLocks noChangeArrowheads="1"/>
            </p:cNvSpPr>
            <p:nvPr/>
          </p:nvSpPr>
          <p:spPr bwMode="auto">
            <a:xfrm>
              <a:off x="4508" y="1744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3" name="Rectangle 89"/>
            <p:cNvSpPr>
              <a:spLocks noChangeArrowheads="1"/>
            </p:cNvSpPr>
            <p:nvPr/>
          </p:nvSpPr>
          <p:spPr bwMode="auto">
            <a:xfrm>
              <a:off x="4348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4" name="Rectangle 90"/>
            <p:cNvSpPr>
              <a:spLocks noChangeArrowheads="1"/>
            </p:cNvSpPr>
            <p:nvPr/>
          </p:nvSpPr>
          <p:spPr bwMode="auto">
            <a:xfrm>
              <a:off x="4185" y="174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5" name="Rectangle 91"/>
            <p:cNvSpPr>
              <a:spLocks noChangeArrowheads="1"/>
            </p:cNvSpPr>
            <p:nvPr/>
          </p:nvSpPr>
          <p:spPr bwMode="auto">
            <a:xfrm>
              <a:off x="4025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6" name="Rectangle 92"/>
            <p:cNvSpPr>
              <a:spLocks noChangeArrowheads="1"/>
            </p:cNvSpPr>
            <p:nvPr/>
          </p:nvSpPr>
          <p:spPr bwMode="auto">
            <a:xfrm>
              <a:off x="3862" y="174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7" name="Rectangle 93"/>
            <p:cNvSpPr>
              <a:spLocks noChangeArrowheads="1"/>
            </p:cNvSpPr>
            <p:nvPr/>
          </p:nvSpPr>
          <p:spPr bwMode="auto">
            <a:xfrm>
              <a:off x="3702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8" name="Rectangle 94"/>
            <p:cNvSpPr>
              <a:spLocks noChangeArrowheads="1"/>
            </p:cNvSpPr>
            <p:nvPr/>
          </p:nvSpPr>
          <p:spPr bwMode="auto">
            <a:xfrm>
              <a:off x="5154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39" name="Rectangle 95"/>
            <p:cNvSpPr>
              <a:spLocks noChangeArrowheads="1"/>
            </p:cNvSpPr>
            <p:nvPr/>
          </p:nvSpPr>
          <p:spPr bwMode="auto">
            <a:xfrm>
              <a:off x="4991" y="159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40" name="Rectangle 96"/>
            <p:cNvSpPr>
              <a:spLocks noChangeArrowheads="1"/>
            </p:cNvSpPr>
            <p:nvPr/>
          </p:nvSpPr>
          <p:spPr bwMode="auto">
            <a:xfrm>
              <a:off x="4831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41" name="Rectangle 97"/>
            <p:cNvSpPr>
              <a:spLocks noChangeArrowheads="1"/>
            </p:cNvSpPr>
            <p:nvPr/>
          </p:nvSpPr>
          <p:spPr bwMode="auto">
            <a:xfrm>
              <a:off x="4679" y="1595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42" name="Rectangle 98"/>
            <p:cNvSpPr>
              <a:spLocks noChangeArrowheads="1"/>
            </p:cNvSpPr>
            <p:nvPr/>
          </p:nvSpPr>
          <p:spPr bwMode="auto">
            <a:xfrm>
              <a:off x="4508" y="1595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43" name="Rectangle 99"/>
            <p:cNvSpPr>
              <a:spLocks noChangeArrowheads="1"/>
            </p:cNvSpPr>
            <p:nvPr/>
          </p:nvSpPr>
          <p:spPr bwMode="auto">
            <a:xfrm>
              <a:off x="4348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44" name="Rectangle 100"/>
            <p:cNvSpPr>
              <a:spLocks noChangeArrowheads="1"/>
            </p:cNvSpPr>
            <p:nvPr/>
          </p:nvSpPr>
          <p:spPr bwMode="auto">
            <a:xfrm>
              <a:off x="4185" y="159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45" name="Rectangle 101"/>
            <p:cNvSpPr>
              <a:spLocks noChangeArrowheads="1"/>
            </p:cNvSpPr>
            <p:nvPr/>
          </p:nvSpPr>
          <p:spPr bwMode="auto">
            <a:xfrm>
              <a:off x="4025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46" name="Rectangle 102"/>
            <p:cNvSpPr>
              <a:spLocks noChangeArrowheads="1"/>
            </p:cNvSpPr>
            <p:nvPr/>
          </p:nvSpPr>
          <p:spPr bwMode="auto">
            <a:xfrm>
              <a:off x="3862" y="159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47" name="Rectangle 103"/>
            <p:cNvSpPr>
              <a:spLocks noChangeArrowheads="1"/>
            </p:cNvSpPr>
            <p:nvPr/>
          </p:nvSpPr>
          <p:spPr bwMode="auto">
            <a:xfrm>
              <a:off x="3702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048" name="Line 104"/>
            <p:cNvSpPr>
              <a:spLocks noChangeShapeType="1"/>
            </p:cNvSpPr>
            <p:nvPr/>
          </p:nvSpPr>
          <p:spPr bwMode="auto">
            <a:xfrm>
              <a:off x="3702" y="1744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49" name="Line 105"/>
            <p:cNvSpPr>
              <a:spLocks noChangeShapeType="1"/>
            </p:cNvSpPr>
            <p:nvPr/>
          </p:nvSpPr>
          <p:spPr bwMode="auto">
            <a:xfrm>
              <a:off x="3702" y="1893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0" name="Line 106"/>
            <p:cNvSpPr>
              <a:spLocks noChangeShapeType="1"/>
            </p:cNvSpPr>
            <p:nvPr/>
          </p:nvSpPr>
          <p:spPr bwMode="auto">
            <a:xfrm>
              <a:off x="3702" y="2041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1" name="Line 107"/>
            <p:cNvSpPr>
              <a:spLocks noChangeShapeType="1"/>
            </p:cNvSpPr>
            <p:nvPr/>
          </p:nvSpPr>
          <p:spPr bwMode="auto">
            <a:xfrm>
              <a:off x="3702" y="2190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2" name="Line 108"/>
            <p:cNvSpPr>
              <a:spLocks noChangeShapeType="1"/>
            </p:cNvSpPr>
            <p:nvPr/>
          </p:nvSpPr>
          <p:spPr bwMode="auto">
            <a:xfrm>
              <a:off x="3702" y="2339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3" name="Line 109"/>
            <p:cNvSpPr>
              <a:spLocks noChangeShapeType="1"/>
            </p:cNvSpPr>
            <p:nvPr/>
          </p:nvSpPr>
          <p:spPr bwMode="auto">
            <a:xfrm>
              <a:off x="3702" y="2488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4" name="Line 110"/>
            <p:cNvSpPr>
              <a:spLocks noChangeShapeType="1"/>
            </p:cNvSpPr>
            <p:nvPr/>
          </p:nvSpPr>
          <p:spPr bwMode="auto">
            <a:xfrm>
              <a:off x="3702" y="2637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5" name="Line 111"/>
            <p:cNvSpPr>
              <a:spLocks noChangeShapeType="1"/>
            </p:cNvSpPr>
            <p:nvPr/>
          </p:nvSpPr>
          <p:spPr bwMode="auto">
            <a:xfrm>
              <a:off x="3702" y="2785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6" name="Line 112"/>
            <p:cNvSpPr>
              <a:spLocks noChangeShapeType="1"/>
            </p:cNvSpPr>
            <p:nvPr/>
          </p:nvSpPr>
          <p:spPr bwMode="auto">
            <a:xfrm>
              <a:off x="3702" y="2934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7" name="Line 113"/>
            <p:cNvSpPr>
              <a:spLocks noChangeShapeType="1"/>
            </p:cNvSpPr>
            <p:nvPr/>
          </p:nvSpPr>
          <p:spPr bwMode="auto">
            <a:xfrm>
              <a:off x="3862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8" name="Line 114"/>
            <p:cNvSpPr>
              <a:spLocks noChangeShapeType="1"/>
            </p:cNvSpPr>
            <p:nvPr/>
          </p:nvSpPr>
          <p:spPr bwMode="auto">
            <a:xfrm>
              <a:off x="4025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59" name="Line 115"/>
            <p:cNvSpPr>
              <a:spLocks noChangeShapeType="1"/>
            </p:cNvSpPr>
            <p:nvPr/>
          </p:nvSpPr>
          <p:spPr bwMode="auto">
            <a:xfrm>
              <a:off x="4185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60" name="Line 116"/>
            <p:cNvSpPr>
              <a:spLocks noChangeShapeType="1"/>
            </p:cNvSpPr>
            <p:nvPr/>
          </p:nvSpPr>
          <p:spPr bwMode="auto">
            <a:xfrm>
              <a:off x="4348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61" name="Line 117"/>
            <p:cNvSpPr>
              <a:spLocks noChangeShapeType="1"/>
            </p:cNvSpPr>
            <p:nvPr/>
          </p:nvSpPr>
          <p:spPr bwMode="auto">
            <a:xfrm>
              <a:off x="4508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62" name="Line 118"/>
            <p:cNvSpPr>
              <a:spLocks noChangeShapeType="1"/>
            </p:cNvSpPr>
            <p:nvPr/>
          </p:nvSpPr>
          <p:spPr bwMode="auto">
            <a:xfrm>
              <a:off x="4679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63" name="Line 119"/>
            <p:cNvSpPr>
              <a:spLocks noChangeShapeType="1"/>
            </p:cNvSpPr>
            <p:nvPr/>
          </p:nvSpPr>
          <p:spPr bwMode="auto">
            <a:xfrm>
              <a:off x="4831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64" name="Line 120"/>
            <p:cNvSpPr>
              <a:spLocks noChangeShapeType="1"/>
            </p:cNvSpPr>
            <p:nvPr/>
          </p:nvSpPr>
          <p:spPr bwMode="auto">
            <a:xfrm>
              <a:off x="4991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65" name="Line 121"/>
            <p:cNvSpPr>
              <a:spLocks noChangeShapeType="1"/>
            </p:cNvSpPr>
            <p:nvPr/>
          </p:nvSpPr>
          <p:spPr bwMode="auto">
            <a:xfrm>
              <a:off x="5154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66" name="Line 122"/>
            <p:cNvSpPr>
              <a:spLocks noChangeShapeType="1"/>
            </p:cNvSpPr>
            <p:nvPr/>
          </p:nvSpPr>
          <p:spPr bwMode="auto">
            <a:xfrm flipV="1">
              <a:off x="3702" y="1259"/>
              <a:ext cx="0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67" name="Line 123"/>
            <p:cNvSpPr>
              <a:spLocks noChangeShapeType="1"/>
            </p:cNvSpPr>
            <p:nvPr/>
          </p:nvSpPr>
          <p:spPr bwMode="auto">
            <a:xfrm>
              <a:off x="3702" y="3083"/>
              <a:ext cx="19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40068" name="Oval 124"/>
            <p:cNvSpPr>
              <a:spLocks noChangeArrowheads="1"/>
            </p:cNvSpPr>
            <p:nvPr/>
          </p:nvSpPr>
          <p:spPr bwMode="auto">
            <a:xfrm>
              <a:off x="3650" y="1710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069" name="Oval 125"/>
            <p:cNvSpPr>
              <a:spLocks noChangeArrowheads="1"/>
            </p:cNvSpPr>
            <p:nvPr/>
          </p:nvSpPr>
          <p:spPr bwMode="auto">
            <a:xfrm>
              <a:off x="3806" y="1710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070" name="Oval 126"/>
            <p:cNvSpPr>
              <a:spLocks noChangeArrowheads="1"/>
            </p:cNvSpPr>
            <p:nvPr/>
          </p:nvSpPr>
          <p:spPr bwMode="auto">
            <a:xfrm>
              <a:off x="3983" y="1710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071" name="Oval 127"/>
            <p:cNvSpPr>
              <a:spLocks noChangeArrowheads="1"/>
            </p:cNvSpPr>
            <p:nvPr/>
          </p:nvSpPr>
          <p:spPr bwMode="auto">
            <a:xfrm>
              <a:off x="4139" y="1854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072" name="Oval 128"/>
            <p:cNvSpPr>
              <a:spLocks noChangeArrowheads="1"/>
            </p:cNvSpPr>
            <p:nvPr/>
          </p:nvSpPr>
          <p:spPr bwMode="auto">
            <a:xfrm>
              <a:off x="4326" y="1854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073" name="Oval 129"/>
            <p:cNvSpPr>
              <a:spLocks noChangeArrowheads="1"/>
            </p:cNvSpPr>
            <p:nvPr/>
          </p:nvSpPr>
          <p:spPr bwMode="auto">
            <a:xfrm>
              <a:off x="4451" y="1998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074" name="Oval 130"/>
            <p:cNvSpPr>
              <a:spLocks noChangeArrowheads="1"/>
            </p:cNvSpPr>
            <p:nvPr/>
          </p:nvSpPr>
          <p:spPr bwMode="auto">
            <a:xfrm>
              <a:off x="4659" y="2142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075" name="Oval 131"/>
            <p:cNvSpPr>
              <a:spLocks noChangeArrowheads="1"/>
            </p:cNvSpPr>
            <p:nvPr/>
          </p:nvSpPr>
          <p:spPr bwMode="auto">
            <a:xfrm>
              <a:off x="4794" y="2286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076" name="Oval 132"/>
            <p:cNvSpPr>
              <a:spLocks noChangeArrowheads="1"/>
            </p:cNvSpPr>
            <p:nvPr/>
          </p:nvSpPr>
          <p:spPr bwMode="auto">
            <a:xfrm>
              <a:off x="4950" y="2592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077" name="Oval 133"/>
            <p:cNvSpPr>
              <a:spLocks noChangeArrowheads="1"/>
            </p:cNvSpPr>
            <p:nvPr/>
          </p:nvSpPr>
          <p:spPr bwMode="auto">
            <a:xfrm>
              <a:off x="5115" y="3042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940" name="Rectangle 134"/>
          <p:cNvSpPr>
            <a:spLocks noGrp="1" noChangeArrowheads="1"/>
          </p:cNvSpPr>
          <p:nvPr>
            <p:ph type="title"/>
          </p:nvPr>
        </p:nvSpPr>
        <p:spPr>
          <a:xfrm>
            <a:off x="1219200" y="263770"/>
            <a:ext cx="7239000" cy="71804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圆弧扫描算法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Naive method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39941" name="Rectangle 135"/>
          <p:cNvSpPr>
            <a:spLocks noGrp="1" noChangeArrowheads="1"/>
          </p:cNvSpPr>
          <p:nvPr>
            <p:ph type="body" idx="1"/>
          </p:nvPr>
        </p:nvSpPr>
        <p:spPr>
          <a:xfrm>
            <a:off x="609600" y="1529863"/>
            <a:ext cx="7772400" cy="443132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X</a:t>
            </a:r>
            <a:r>
              <a:rPr lang="en-US" altLang="zh-CN" sz="2215" baseline="10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 +  Y</a:t>
            </a:r>
            <a:r>
              <a:rPr lang="en-US" altLang="zh-CN" sz="2215" baseline="10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 =  R</a:t>
            </a:r>
            <a:r>
              <a:rPr lang="en-US" altLang="zh-CN" sz="2215" baseline="100000" dirty="0">
                <a:ea typeface="宋体" panose="02010600030101010101" pitchFamily="2" charset="-122"/>
              </a:rPr>
              <a:t>2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 =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Sqrt(R</a:t>
            </a:r>
            <a:r>
              <a:rPr lang="en-US" altLang="zh-CN" sz="2215" baseline="64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- X</a:t>
            </a:r>
            <a:r>
              <a:rPr lang="en-US" altLang="zh-CN" sz="2215" baseline="64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在一定范围内，每给定一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值，可得一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值。</a:t>
            </a:r>
          </a:p>
          <a:p>
            <a:pPr eaLnBrk="1" hangingPunct="1">
              <a:buFontTx/>
              <a:buNone/>
            </a:pPr>
            <a:endParaRPr lang="zh-CN" altLang="en-US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当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取整数时，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须取整。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缺点：浮点运算，开方，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取整，不均匀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9942" name="Text Box 136"/>
          <p:cNvSpPr txBox="1">
            <a:spLocks noChangeArrowheads="1"/>
          </p:cNvSpPr>
          <p:nvPr/>
        </p:nvSpPr>
        <p:spPr bwMode="auto">
          <a:xfrm>
            <a:off x="5501054" y="1897674"/>
            <a:ext cx="762000" cy="4266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992" tIns="42497" rIns="84992" bIns="42497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215" b="1">
                <a:latin typeface="Arial" panose="020B0604020202020204" pitchFamily="34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39943" name="Oval 137"/>
          <p:cNvSpPr>
            <a:spLocks noChangeArrowheads="1"/>
          </p:cNvSpPr>
          <p:nvPr/>
        </p:nvSpPr>
        <p:spPr bwMode="auto">
          <a:xfrm>
            <a:off x="7495443" y="4504592"/>
            <a:ext cx="121626" cy="11283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84992" tIns="42497" rIns="84992" bIns="42497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4" name="Oval 138"/>
          <p:cNvSpPr>
            <a:spLocks noChangeArrowheads="1"/>
          </p:cNvSpPr>
          <p:nvPr/>
        </p:nvSpPr>
        <p:spPr bwMode="auto">
          <a:xfrm>
            <a:off x="7495443" y="4286254"/>
            <a:ext cx="121626" cy="11283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84992" tIns="42497" rIns="84992" bIns="42497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5" name="Oval 139"/>
          <p:cNvSpPr>
            <a:spLocks noChangeArrowheads="1"/>
          </p:cNvSpPr>
          <p:nvPr/>
        </p:nvSpPr>
        <p:spPr bwMode="auto">
          <a:xfrm>
            <a:off x="7244865" y="3853963"/>
            <a:ext cx="121627" cy="11283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84992" tIns="42497" rIns="84992" bIns="42497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6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57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0A1AE3-94B8-44A0-9278-D17EBC65B733}" type="datetime10">
              <a:rPr lang="zh-CN" altLang="en-US" sz="1290">
                <a:latin typeface="Arial" panose="020B0604020202020204" pitchFamily="34" charset="0"/>
              </a:rPr>
              <a:t>09:04</a:t>
            </a:fld>
            <a:endParaRPr lang="en-US" altLang="zh-CN" sz="129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6F84E8-69A3-45BA-AEE1-AC164F3D2A0A}" type="slidenum">
              <a:rPr lang="zh-CN" altLang="en-US" sz="1290">
                <a:latin typeface="Arial" panose="020B0604020202020204" pitchFamily="34" charset="0"/>
              </a:rPr>
              <a:t>31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63770"/>
            <a:ext cx="7239000" cy="72899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  <a:sym typeface="Symbol" panose="05050102010706020507" pitchFamily="18" charset="2"/>
              </a:rPr>
              <a:t>角度</a:t>
            </a:r>
            <a:r>
              <a:rPr lang="en-US" altLang="zh-CN" dirty="0">
                <a:ea typeface="黑体" panose="02010609060101010101" pitchFamily="49" charset="-122"/>
                <a:sym typeface="Symbol" panose="05050102010706020507" pitchFamily="18" charset="2"/>
              </a:rPr>
              <a:t>DDA</a:t>
            </a:r>
            <a:r>
              <a:rPr lang="zh-CN" altLang="en-US" dirty="0">
                <a:ea typeface="黑体" panose="02010609060101010101" pitchFamily="49" charset="-122"/>
                <a:sym typeface="Symbol" panose="05050102010706020507" pitchFamily="18" charset="2"/>
              </a:rPr>
              <a:t>法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89186"/>
            <a:ext cx="7772400" cy="45016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585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x = x</a:t>
            </a:r>
            <a:r>
              <a:rPr lang="en-US" altLang="zh-CN" sz="1845" baseline="-16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 + Rcos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 y = y</a:t>
            </a:r>
            <a:r>
              <a:rPr lang="en-US" altLang="zh-CN" sz="1845" baseline="-16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 + Rsin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585">
                <a:ea typeface="宋体" panose="02010600030101010101" pitchFamily="2" charset="-122"/>
              </a:rPr>
              <a:t>dx =- Rsin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d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585">
                <a:ea typeface="宋体" panose="02010600030101010101" pitchFamily="2" charset="-122"/>
              </a:rPr>
              <a:t>dy = Rcos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d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585">
                <a:ea typeface="宋体" panose="02010600030101010101" pitchFamily="2" charset="-122"/>
              </a:rPr>
              <a:t>x</a:t>
            </a:r>
            <a:r>
              <a:rPr lang="en-US" altLang="zh-CN" sz="1845" baseline="-16000">
                <a:ea typeface="宋体" panose="02010600030101010101" pitchFamily="2" charset="-122"/>
              </a:rPr>
              <a:t>n+1 </a:t>
            </a:r>
            <a:r>
              <a:rPr lang="en-US" altLang="zh-CN" sz="2585">
                <a:ea typeface="宋体" panose="02010600030101010101" pitchFamily="2" charset="-122"/>
              </a:rPr>
              <a:t>=x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+ dx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585">
                <a:ea typeface="宋体" panose="02010600030101010101" pitchFamily="2" charset="-122"/>
              </a:rPr>
              <a:t>y</a:t>
            </a:r>
            <a:r>
              <a:rPr lang="en-US" altLang="zh-CN" sz="1845" baseline="-16000">
                <a:ea typeface="宋体" panose="02010600030101010101" pitchFamily="2" charset="-122"/>
              </a:rPr>
              <a:t> n+1 </a:t>
            </a:r>
            <a:r>
              <a:rPr lang="en-US" altLang="zh-CN" sz="2585">
                <a:ea typeface="宋体" panose="02010600030101010101" pitchFamily="2" charset="-122"/>
              </a:rPr>
              <a:t>=y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+ dy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585">
                <a:ea typeface="宋体" panose="02010600030101010101" pitchFamily="2" charset="-122"/>
              </a:rPr>
              <a:t>x</a:t>
            </a:r>
            <a:r>
              <a:rPr lang="en-US" altLang="zh-CN" sz="1845" baseline="-16000">
                <a:ea typeface="宋体" panose="02010600030101010101" pitchFamily="2" charset="-122"/>
              </a:rPr>
              <a:t>n+1 </a:t>
            </a:r>
            <a:r>
              <a:rPr lang="en-US" altLang="zh-CN" sz="2585">
                <a:ea typeface="宋体" panose="02010600030101010101" pitchFamily="2" charset="-122"/>
              </a:rPr>
              <a:t>= x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+ dx = x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-  Rsin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d</a:t>
            </a:r>
            <a:r>
              <a:rPr lang="en-US" altLang="zh-CN" sz="2585">
                <a:ea typeface="宋体" panose="02010600030101010101" pitchFamily="2" charset="-122"/>
              </a:rPr>
              <a:t>  =x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-  (y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- y</a:t>
            </a:r>
            <a:r>
              <a:rPr lang="en-US" altLang="zh-CN" sz="1845" baseline="-16000">
                <a:ea typeface="宋体" panose="02010600030101010101" pitchFamily="2" charset="-122"/>
              </a:rPr>
              <a:t> 0</a:t>
            </a:r>
            <a:r>
              <a:rPr lang="en-US" altLang="zh-CN" sz="2585">
                <a:ea typeface="宋体" panose="02010600030101010101" pitchFamily="2" charset="-122"/>
              </a:rPr>
              <a:t> )d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endParaRPr lang="en-US" altLang="zh-CN" sz="2585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585">
                <a:ea typeface="宋体" panose="02010600030101010101" pitchFamily="2" charset="-122"/>
              </a:rPr>
              <a:t>y</a:t>
            </a:r>
            <a:r>
              <a:rPr lang="en-US" altLang="zh-CN" sz="1845" baseline="-16000">
                <a:ea typeface="宋体" panose="02010600030101010101" pitchFamily="2" charset="-122"/>
              </a:rPr>
              <a:t> n+1 </a:t>
            </a:r>
            <a:r>
              <a:rPr lang="en-US" altLang="zh-CN" sz="2585">
                <a:ea typeface="宋体" panose="02010600030101010101" pitchFamily="2" charset="-122"/>
              </a:rPr>
              <a:t>= y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+ dy = y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+ Rcos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d</a:t>
            </a:r>
            <a:r>
              <a:rPr lang="en-US" altLang="zh-CN" sz="2585">
                <a:ea typeface="宋体" panose="02010600030101010101" pitchFamily="2" charset="-122"/>
              </a:rPr>
              <a:t> =y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+ (x</a:t>
            </a:r>
            <a:r>
              <a:rPr lang="en-US" altLang="zh-CN" sz="1845" baseline="-16000">
                <a:ea typeface="宋体" panose="02010600030101010101" pitchFamily="2" charset="-122"/>
              </a:rPr>
              <a:t> n</a:t>
            </a:r>
            <a:r>
              <a:rPr lang="en-US" altLang="zh-CN" sz="2585">
                <a:ea typeface="宋体" panose="02010600030101010101" pitchFamily="2" charset="-122"/>
              </a:rPr>
              <a:t> - x</a:t>
            </a:r>
            <a:r>
              <a:rPr lang="en-US" altLang="zh-CN" sz="1845" baseline="-16000">
                <a:ea typeface="宋体" panose="02010600030101010101" pitchFamily="2" charset="-122"/>
              </a:rPr>
              <a:t> 0</a:t>
            </a:r>
            <a:r>
              <a:rPr lang="en-US" altLang="zh-CN" sz="2585">
                <a:ea typeface="宋体" panose="02010600030101010101" pitchFamily="2" charset="-122"/>
              </a:rPr>
              <a:t> )d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endParaRPr lang="en-US" altLang="zh-CN" sz="2585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585">
                <a:ea typeface="宋体" panose="02010600030101010101" pitchFamily="2" charset="-122"/>
              </a:rPr>
              <a:t>显然，确定</a:t>
            </a:r>
            <a:r>
              <a:rPr lang="en-US" altLang="zh-CN" sz="2585">
                <a:ea typeface="宋体" panose="02010600030101010101" pitchFamily="2" charset="-122"/>
              </a:rPr>
              <a:t>x,y</a:t>
            </a:r>
            <a:r>
              <a:rPr lang="zh-CN" altLang="en-US" sz="2585">
                <a:ea typeface="宋体" panose="02010600030101010101" pitchFamily="2" charset="-122"/>
              </a:rPr>
              <a:t>的初值及</a:t>
            </a:r>
            <a:r>
              <a:rPr lang="en-US" altLang="zh-CN" sz="2585">
                <a:ea typeface="宋体" panose="02010600030101010101" pitchFamily="2" charset="-122"/>
              </a:rPr>
              <a:t>d</a:t>
            </a:r>
            <a:r>
              <a:rPr lang="en-US" altLang="zh-CN" sz="2585"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zh-CN" altLang="en-US" sz="2585">
                <a:ea typeface="宋体" panose="02010600030101010101" pitchFamily="2" charset="-122"/>
              </a:rPr>
              <a:t>值后，即可以增量方式获得圆周上的坐标，然后取整可得象素坐标。但要采用浮点运算、乘法运算、取整运算。</a:t>
            </a:r>
          </a:p>
        </p:txBody>
      </p:sp>
      <p:sp>
        <p:nvSpPr>
          <p:cNvPr id="40965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57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621F8C-24F3-427A-95D2-FE33F0DECEEE}" type="datetime10">
              <a:rPr lang="zh-CN" altLang="en-US" sz="1290">
                <a:latin typeface="Arial" panose="020B0604020202020204" pitchFamily="34" charset="0"/>
              </a:rPr>
              <a:t>09:04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grpSp>
        <p:nvGrpSpPr>
          <p:cNvPr id="6" name="Group 2"/>
          <p:cNvGrpSpPr/>
          <p:nvPr/>
        </p:nvGrpSpPr>
        <p:grpSpPr bwMode="auto">
          <a:xfrm>
            <a:off x="6362055" y="1318848"/>
            <a:ext cx="2515890" cy="2621292"/>
            <a:chOff x="3650" y="1259"/>
            <a:chExt cx="1976" cy="2149"/>
          </a:xfrm>
        </p:grpSpPr>
        <p:sp>
          <p:nvSpPr>
            <p:cNvPr id="7" name="Text Box 3"/>
            <p:cNvSpPr txBox="1">
              <a:spLocks noChangeArrowheads="1"/>
            </p:cNvSpPr>
            <p:nvPr/>
          </p:nvSpPr>
          <p:spPr bwMode="auto">
            <a:xfrm>
              <a:off x="5314" y="3058"/>
              <a:ext cx="274" cy="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215" b="1">
                  <a:latin typeface="Arial" panose="020B0604020202020204" pitchFamily="34" charset="0"/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5154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4991" y="293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4831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4679" y="2934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4508" y="2934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4348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4185" y="293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4025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3862" y="293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3702" y="293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5154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4991" y="278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4831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4679" y="2785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4508" y="2785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4348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4185" y="278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4025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3862" y="278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3702" y="278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5154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4991" y="2637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4831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4679" y="2637"/>
              <a:ext cx="152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2" name="Rectangle 28"/>
            <p:cNvSpPr>
              <a:spLocks noChangeArrowheads="1"/>
            </p:cNvSpPr>
            <p:nvPr/>
          </p:nvSpPr>
          <p:spPr bwMode="auto">
            <a:xfrm>
              <a:off x="4508" y="2637"/>
              <a:ext cx="171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4348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4" name="Rectangle 30"/>
            <p:cNvSpPr>
              <a:spLocks noChangeArrowheads="1"/>
            </p:cNvSpPr>
            <p:nvPr/>
          </p:nvSpPr>
          <p:spPr bwMode="auto">
            <a:xfrm>
              <a:off x="4185" y="2637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5" name="Rectangle 31"/>
            <p:cNvSpPr>
              <a:spLocks noChangeArrowheads="1"/>
            </p:cNvSpPr>
            <p:nvPr/>
          </p:nvSpPr>
          <p:spPr bwMode="auto">
            <a:xfrm>
              <a:off x="4025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6" name="Rectangle 32"/>
            <p:cNvSpPr>
              <a:spLocks noChangeArrowheads="1"/>
            </p:cNvSpPr>
            <p:nvPr/>
          </p:nvSpPr>
          <p:spPr bwMode="auto">
            <a:xfrm>
              <a:off x="3862" y="2637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7" name="Rectangle 33"/>
            <p:cNvSpPr>
              <a:spLocks noChangeArrowheads="1"/>
            </p:cNvSpPr>
            <p:nvPr/>
          </p:nvSpPr>
          <p:spPr bwMode="auto">
            <a:xfrm>
              <a:off x="3702" y="2637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8" name="Rectangle 34"/>
            <p:cNvSpPr>
              <a:spLocks noChangeArrowheads="1"/>
            </p:cNvSpPr>
            <p:nvPr/>
          </p:nvSpPr>
          <p:spPr bwMode="auto">
            <a:xfrm>
              <a:off x="5154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39" name="Rectangle 35"/>
            <p:cNvSpPr>
              <a:spLocks noChangeArrowheads="1"/>
            </p:cNvSpPr>
            <p:nvPr/>
          </p:nvSpPr>
          <p:spPr bwMode="auto">
            <a:xfrm>
              <a:off x="4991" y="2488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4831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1" name="Rectangle 37"/>
            <p:cNvSpPr>
              <a:spLocks noChangeArrowheads="1"/>
            </p:cNvSpPr>
            <p:nvPr/>
          </p:nvSpPr>
          <p:spPr bwMode="auto">
            <a:xfrm>
              <a:off x="4679" y="2488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2" name="Rectangle 38"/>
            <p:cNvSpPr>
              <a:spLocks noChangeArrowheads="1"/>
            </p:cNvSpPr>
            <p:nvPr/>
          </p:nvSpPr>
          <p:spPr bwMode="auto">
            <a:xfrm>
              <a:off x="4508" y="2488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3" name="Rectangle 39"/>
            <p:cNvSpPr>
              <a:spLocks noChangeArrowheads="1"/>
            </p:cNvSpPr>
            <p:nvPr/>
          </p:nvSpPr>
          <p:spPr bwMode="auto">
            <a:xfrm>
              <a:off x="4348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4" name="Rectangle 40"/>
            <p:cNvSpPr>
              <a:spLocks noChangeArrowheads="1"/>
            </p:cNvSpPr>
            <p:nvPr/>
          </p:nvSpPr>
          <p:spPr bwMode="auto">
            <a:xfrm>
              <a:off x="4185" y="2488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5" name="Rectangle 41"/>
            <p:cNvSpPr>
              <a:spLocks noChangeArrowheads="1"/>
            </p:cNvSpPr>
            <p:nvPr/>
          </p:nvSpPr>
          <p:spPr bwMode="auto">
            <a:xfrm>
              <a:off x="4025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3862" y="2488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3702" y="2488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5154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4991" y="2339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4831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4679" y="2339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4508" y="2339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4348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4185" y="2339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4025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3862" y="2339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3702" y="2339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5154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4991" y="2190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4831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4679" y="2190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4508" y="2190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4348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4185" y="2190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4025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3862" y="2190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7" name="Rectangle 63"/>
            <p:cNvSpPr>
              <a:spLocks noChangeArrowheads="1"/>
            </p:cNvSpPr>
            <p:nvPr/>
          </p:nvSpPr>
          <p:spPr bwMode="auto">
            <a:xfrm>
              <a:off x="3702" y="2190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8" name="Rectangle 64"/>
            <p:cNvSpPr>
              <a:spLocks noChangeArrowheads="1"/>
            </p:cNvSpPr>
            <p:nvPr/>
          </p:nvSpPr>
          <p:spPr bwMode="auto">
            <a:xfrm>
              <a:off x="5154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4991" y="2041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4831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4679" y="2041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2" name="Rectangle 68"/>
            <p:cNvSpPr>
              <a:spLocks noChangeArrowheads="1"/>
            </p:cNvSpPr>
            <p:nvPr/>
          </p:nvSpPr>
          <p:spPr bwMode="auto">
            <a:xfrm>
              <a:off x="4508" y="2041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3" name="Rectangle 69"/>
            <p:cNvSpPr>
              <a:spLocks noChangeArrowheads="1"/>
            </p:cNvSpPr>
            <p:nvPr/>
          </p:nvSpPr>
          <p:spPr bwMode="auto">
            <a:xfrm>
              <a:off x="4348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4185" y="2041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4025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6" name="Rectangle 72"/>
            <p:cNvSpPr>
              <a:spLocks noChangeArrowheads="1"/>
            </p:cNvSpPr>
            <p:nvPr/>
          </p:nvSpPr>
          <p:spPr bwMode="auto">
            <a:xfrm>
              <a:off x="3862" y="2041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7" name="Rectangle 73"/>
            <p:cNvSpPr>
              <a:spLocks noChangeArrowheads="1"/>
            </p:cNvSpPr>
            <p:nvPr/>
          </p:nvSpPr>
          <p:spPr bwMode="auto">
            <a:xfrm>
              <a:off x="3702" y="2041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8" name="Rectangle 74"/>
            <p:cNvSpPr>
              <a:spLocks noChangeArrowheads="1"/>
            </p:cNvSpPr>
            <p:nvPr/>
          </p:nvSpPr>
          <p:spPr bwMode="auto">
            <a:xfrm>
              <a:off x="5154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4991" y="1893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0" name="Rectangle 76"/>
            <p:cNvSpPr>
              <a:spLocks noChangeArrowheads="1"/>
            </p:cNvSpPr>
            <p:nvPr/>
          </p:nvSpPr>
          <p:spPr bwMode="auto">
            <a:xfrm>
              <a:off x="4831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1" name="Rectangle 77"/>
            <p:cNvSpPr>
              <a:spLocks noChangeArrowheads="1"/>
            </p:cNvSpPr>
            <p:nvPr/>
          </p:nvSpPr>
          <p:spPr bwMode="auto">
            <a:xfrm>
              <a:off x="4679" y="1893"/>
              <a:ext cx="152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4508" y="1893"/>
              <a:ext cx="171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4348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4" name="Rectangle 80"/>
            <p:cNvSpPr>
              <a:spLocks noChangeArrowheads="1"/>
            </p:cNvSpPr>
            <p:nvPr/>
          </p:nvSpPr>
          <p:spPr bwMode="auto">
            <a:xfrm>
              <a:off x="4185" y="1893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5" name="Rectangle 81"/>
            <p:cNvSpPr>
              <a:spLocks noChangeArrowheads="1"/>
            </p:cNvSpPr>
            <p:nvPr/>
          </p:nvSpPr>
          <p:spPr bwMode="auto">
            <a:xfrm>
              <a:off x="4025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6" name="Rectangle 82"/>
            <p:cNvSpPr>
              <a:spLocks noChangeArrowheads="1"/>
            </p:cNvSpPr>
            <p:nvPr/>
          </p:nvSpPr>
          <p:spPr bwMode="auto">
            <a:xfrm>
              <a:off x="3862" y="1893"/>
              <a:ext cx="163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7" name="Rectangle 83"/>
            <p:cNvSpPr>
              <a:spLocks noChangeArrowheads="1"/>
            </p:cNvSpPr>
            <p:nvPr/>
          </p:nvSpPr>
          <p:spPr bwMode="auto">
            <a:xfrm>
              <a:off x="3702" y="1893"/>
              <a:ext cx="160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8" name="Rectangle 84"/>
            <p:cNvSpPr>
              <a:spLocks noChangeArrowheads="1"/>
            </p:cNvSpPr>
            <p:nvPr/>
          </p:nvSpPr>
          <p:spPr bwMode="auto">
            <a:xfrm>
              <a:off x="5154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89" name="Rectangle 85"/>
            <p:cNvSpPr>
              <a:spLocks noChangeArrowheads="1"/>
            </p:cNvSpPr>
            <p:nvPr/>
          </p:nvSpPr>
          <p:spPr bwMode="auto">
            <a:xfrm>
              <a:off x="4991" y="174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0" name="Rectangle 86"/>
            <p:cNvSpPr>
              <a:spLocks noChangeArrowheads="1"/>
            </p:cNvSpPr>
            <p:nvPr/>
          </p:nvSpPr>
          <p:spPr bwMode="auto">
            <a:xfrm>
              <a:off x="4831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1" name="Rectangle 87"/>
            <p:cNvSpPr>
              <a:spLocks noChangeArrowheads="1"/>
            </p:cNvSpPr>
            <p:nvPr/>
          </p:nvSpPr>
          <p:spPr bwMode="auto">
            <a:xfrm>
              <a:off x="4679" y="1744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2" name="Rectangle 88"/>
            <p:cNvSpPr>
              <a:spLocks noChangeArrowheads="1"/>
            </p:cNvSpPr>
            <p:nvPr/>
          </p:nvSpPr>
          <p:spPr bwMode="auto">
            <a:xfrm>
              <a:off x="4508" y="1744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3" name="Rectangle 89"/>
            <p:cNvSpPr>
              <a:spLocks noChangeArrowheads="1"/>
            </p:cNvSpPr>
            <p:nvPr/>
          </p:nvSpPr>
          <p:spPr bwMode="auto">
            <a:xfrm>
              <a:off x="4348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4" name="Rectangle 90"/>
            <p:cNvSpPr>
              <a:spLocks noChangeArrowheads="1"/>
            </p:cNvSpPr>
            <p:nvPr/>
          </p:nvSpPr>
          <p:spPr bwMode="auto">
            <a:xfrm>
              <a:off x="4185" y="174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5" name="Rectangle 91"/>
            <p:cNvSpPr>
              <a:spLocks noChangeArrowheads="1"/>
            </p:cNvSpPr>
            <p:nvPr/>
          </p:nvSpPr>
          <p:spPr bwMode="auto">
            <a:xfrm>
              <a:off x="4025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6" name="Rectangle 92"/>
            <p:cNvSpPr>
              <a:spLocks noChangeArrowheads="1"/>
            </p:cNvSpPr>
            <p:nvPr/>
          </p:nvSpPr>
          <p:spPr bwMode="auto">
            <a:xfrm>
              <a:off x="3862" y="1744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7" name="Rectangle 93"/>
            <p:cNvSpPr>
              <a:spLocks noChangeArrowheads="1"/>
            </p:cNvSpPr>
            <p:nvPr/>
          </p:nvSpPr>
          <p:spPr bwMode="auto">
            <a:xfrm>
              <a:off x="3702" y="1744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8" name="Rectangle 94"/>
            <p:cNvSpPr>
              <a:spLocks noChangeArrowheads="1"/>
            </p:cNvSpPr>
            <p:nvPr/>
          </p:nvSpPr>
          <p:spPr bwMode="auto">
            <a:xfrm>
              <a:off x="5154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99" name="Rectangle 95"/>
            <p:cNvSpPr>
              <a:spLocks noChangeArrowheads="1"/>
            </p:cNvSpPr>
            <p:nvPr/>
          </p:nvSpPr>
          <p:spPr bwMode="auto">
            <a:xfrm>
              <a:off x="4991" y="159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0" name="Rectangle 96"/>
            <p:cNvSpPr>
              <a:spLocks noChangeArrowheads="1"/>
            </p:cNvSpPr>
            <p:nvPr/>
          </p:nvSpPr>
          <p:spPr bwMode="auto">
            <a:xfrm>
              <a:off x="4831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1" name="Rectangle 97"/>
            <p:cNvSpPr>
              <a:spLocks noChangeArrowheads="1"/>
            </p:cNvSpPr>
            <p:nvPr/>
          </p:nvSpPr>
          <p:spPr bwMode="auto">
            <a:xfrm>
              <a:off x="4679" y="1595"/>
              <a:ext cx="152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2" name="Rectangle 98"/>
            <p:cNvSpPr>
              <a:spLocks noChangeArrowheads="1"/>
            </p:cNvSpPr>
            <p:nvPr/>
          </p:nvSpPr>
          <p:spPr bwMode="auto">
            <a:xfrm>
              <a:off x="4508" y="1595"/>
              <a:ext cx="171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3" name="Rectangle 99"/>
            <p:cNvSpPr>
              <a:spLocks noChangeArrowheads="1"/>
            </p:cNvSpPr>
            <p:nvPr/>
          </p:nvSpPr>
          <p:spPr bwMode="auto">
            <a:xfrm>
              <a:off x="4348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4" name="Rectangle 100"/>
            <p:cNvSpPr>
              <a:spLocks noChangeArrowheads="1"/>
            </p:cNvSpPr>
            <p:nvPr/>
          </p:nvSpPr>
          <p:spPr bwMode="auto">
            <a:xfrm>
              <a:off x="4185" y="159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5" name="Rectangle 101"/>
            <p:cNvSpPr>
              <a:spLocks noChangeArrowheads="1"/>
            </p:cNvSpPr>
            <p:nvPr/>
          </p:nvSpPr>
          <p:spPr bwMode="auto">
            <a:xfrm>
              <a:off x="4025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6" name="Rectangle 102"/>
            <p:cNvSpPr>
              <a:spLocks noChangeArrowheads="1"/>
            </p:cNvSpPr>
            <p:nvPr/>
          </p:nvSpPr>
          <p:spPr bwMode="auto">
            <a:xfrm>
              <a:off x="3862" y="1595"/>
              <a:ext cx="163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7" name="Rectangle 103"/>
            <p:cNvSpPr>
              <a:spLocks noChangeArrowheads="1"/>
            </p:cNvSpPr>
            <p:nvPr/>
          </p:nvSpPr>
          <p:spPr bwMode="auto">
            <a:xfrm>
              <a:off x="3702" y="1595"/>
              <a:ext cx="160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4992" tIns="42497" rIns="84992" bIns="42497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370">
                <a:ea typeface="宋体" panose="02010600030101010101" pitchFamily="2" charset="-122"/>
              </a:endParaRPr>
            </a:p>
          </p:txBody>
        </p:sp>
        <p:sp>
          <p:nvSpPr>
            <p:cNvPr id="108" name="Line 104"/>
            <p:cNvSpPr>
              <a:spLocks noChangeShapeType="1"/>
            </p:cNvSpPr>
            <p:nvPr/>
          </p:nvSpPr>
          <p:spPr bwMode="auto">
            <a:xfrm>
              <a:off x="3702" y="1744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09" name="Line 105"/>
            <p:cNvSpPr>
              <a:spLocks noChangeShapeType="1"/>
            </p:cNvSpPr>
            <p:nvPr/>
          </p:nvSpPr>
          <p:spPr bwMode="auto">
            <a:xfrm>
              <a:off x="3702" y="1893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0" name="Line 106"/>
            <p:cNvSpPr>
              <a:spLocks noChangeShapeType="1"/>
            </p:cNvSpPr>
            <p:nvPr/>
          </p:nvSpPr>
          <p:spPr bwMode="auto">
            <a:xfrm>
              <a:off x="3702" y="2041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1" name="Line 107"/>
            <p:cNvSpPr>
              <a:spLocks noChangeShapeType="1"/>
            </p:cNvSpPr>
            <p:nvPr/>
          </p:nvSpPr>
          <p:spPr bwMode="auto">
            <a:xfrm>
              <a:off x="3702" y="2190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2" name="Line 108"/>
            <p:cNvSpPr>
              <a:spLocks noChangeShapeType="1"/>
            </p:cNvSpPr>
            <p:nvPr/>
          </p:nvSpPr>
          <p:spPr bwMode="auto">
            <a:xfrm>
              <a:off x="3702" y="2339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3" name="Line 109"/>
            <p:cNvSpPr>
              <a:spLocks noChangeShapeType="1"/>
            </p:cNvSpPr>
            <p:nvPr/>
          </p:nvSpPr>
          <p:spPr bwMode="auto">
            <a:xfrm>
              <a:off x="3702" y="2488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4" name="Line 110"/>
            <p:cNvSpPr>
              <a:spLocks noChangeShapeType="1"/>
            </p:cNvSpPr>
            <p:nvPr/>
          </p:nvSpPr>
          <p:spPr bwMode="auto">
            <a:xfrm>
              <a:off x="3702" y="2637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5" name="Line 111"/>
            <p:cNvSpPr>
              <a:spLocks noChangeShapeType="1"/>
            </p:cNvSpPr>
            <p:nvPr/>
          </p:nvSpPr>
          <p:spPr bwMode="auto">
            <a:xfrm>
              <a:off x="3702" y="2785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6" name="Line 112"/>
            <p:cNvSpPr>
              <a:spLocks noChangeShapeType="1"/>
            </p:cNvSpPr>
            <p:nvPr/>
          </p:nvSpPr>
          <p:spPr bwMode="auto">
            <a:xfrm>
              <a:off x="3702" y="2934"/>
              <a:ext cx="16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7" name="Line 113"/>
            <p:cNvSpPr>
              <a:spLocks noChangeShapeType="1"/>
            </p:cNvSpPr>
            <p:nvPr/>
          </p:nvSpPr>
          <p:spPr bwMode="auto">
            <a:xfrm>
              <a:off x="3862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8" name="Line 114"/>
            <p:cNvSpPr>
              <a:spLocks noChangeShapeType="1"/>
            </p:cNvSpPr>
            <p:nvPr/>
          </p:nvSpPr>
          <p:spPr bwMode="auto">
            <a:xfrm>
              <a:off x="4025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19" name="Line 115"/>
            <p:cNvSpPr>
              <a:spLocks noChangeShapeType="1"/>
            </p:cNvSpPr>
            <p:nvPr/>
          </p:nvSpPr>
          <p:spPr bwMode="auto">
            <a:xfrm>
              <a:off x="4185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20" name="Line 116"/>
            <p:cNvSpPr>
              <a:spLocks noChangeShapeType="1"/>
            </p:cNvSpPr>
            <p:nvPr/>
          </p:nvSpPr>
          <p:spPr bwMode="auto">
            <a:xfrm>
              <a:off x="4348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21" name="Line 117"/>
            <p:cNvSpPr>
              <a:spLocks noChangeShapeType="1"/>
            </p:cNvSpPr>
            <p:nvPr/>
          </p:nvSpPr>
          <p:spPr bwMode="auto">
            <a:xfrm>
              <a:off x="4508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22" name="Line 118"/>
            <p:cNvSpPr>
              <a:spLocks noChangeShapeType="1"/>
            </p:cNvSpPr>
            <p:nvPr/>
          </p:nvSpPr>
          <p:spPr bwMode="auto">
            <a:xfrm>
              <a:off x="4679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23" name="Line 119"/>
            <p:cNvSpPr>
              <a:spLocks noChangeShapeType="1"/>
            </p:cNvSpPr>
            <p:nvPr/>
          </p:nvSpPr>
          <p:spPr bwMode="auto">
            <a:xfrm>
              <a:off x="4831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24" name="Line 120"/>
            <p:cNvSpPr>
              <a:spLocks noChangeShapeType="1"/>
            </p:cNvSpPr>
            <p:nvPr/>
          </p:nvSpPr>
          <p:spPr bwMode="auto">
            <a:xfrm>
              <a:off x="4991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25" name="Line 121"/>
            <p:cNvSpPr>
              <a:spLocks noChangeShapeType="1"/>
            </p:cNvSpPr>
            <p:nvPr/>
          </p:nvSpPr>
          <p:spPr bwMode="auto">
            <a:xfrm>
              <a:off x="5154" y="1595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26" name="Line 122"/>
            <p:cNvSpPr>
              <a:spLocks noChangeShapeType="1"/>
            </p:cNvSpPr>
            <p:nvPr/>
          </p:nvSpPr>
          <p:spPr bwMode="auto">
            <a:xfrm flipV="1">
              <a:off x="3702" y="1259"/>
              <a:ext cx="0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27" name="Line 123"/>
            <p:cNvSpPr>
              <a:spLocks noChangeShapeType="1"/>
            </p:cNvSpPr>
            <p:nvPr/>
          </p:nvSpPr>
          <p:spPr bwMode="auto">
            <a:xfrm>
              <a:off x="3702" y="3083"/>
              <a:ext cx="19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4992" tIns="42497" rIns="84992" bIns="42497"/>
            <a:lstStyle/>
            <a:p>
              <a:endParaRPr lang="zh-CN" altLang="en-US"/>
            </a:p>
          </p:txBody>
        </p:sp>
        <p:sp>
          <p:nvSpPr>
            <p:cNvPr id="128" name="Oval 124"/>
            <p:cNvSpPr>
              <a:spLocks noChangeArrowheads="1"/>
            </p:cNvSpPr>
            <p:nvPr/>
          </p:nvSpPr>
          <p:spPr bwMode="auto">
            <a:xfrm>
              <a:off x="3650" y="1710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" name="Oval 125"/>
            <p:cNvSpPr>
              <a:spLocks noChangeArrowheads="1"/>
            </p:cNvSpPr>
            <p:nvPr/>
          </p:nvSpPr>
          <p:spPr bwMode="auto">
            <a:xfrm>
              <a:off x="3806" y="1710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0" name="Oval 126"/>
            <p:cNvSpPr>
              <a:spLocks noChangeArrowheads="1"/>
            </p:cNvSpPr>
            <p:nvPr/>
          </p:nvSpPr>
          <p:spPr bwMode="auto">
            <a:xfrm>
              <a:off x="3983" y="1710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1" name="Oval 127"/>
            <p:cNvSpPr>
              <a:spLocks noChangeArrowheads="1"/>
            </p:cNvSpPr>
            <p:nvPr/>
          </p:nvSpPr>
          <p:spPr bwMode="auto">
            <a:xfrm>
              <a:off x="4139" y="1854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2" name="Oval 128"/>
            <p:cNvSpPr>
              <a:spLocks noChangeArrowheads="1"/>
            </p:cNvSpPr>
            <p:nvPr/>
          </p:nvSpPr>
          <p:spPr bwMode="auto">
            <a:xfrm>
              <a:off x="4326" y="1854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" name="Oval 129"/>
            <p:cNvSpPr>
              <a:spLocks noChangeArrowheads="1"/>
            </p:cNvSpPr>
            <p:nvPr/>
          </p:nvSpPr>
          <p:spPr bwMode="auto">
            <a:xfrm>
              <a:off x="4451" y="1998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4" name="Oval 130"/>
            <p:cNvSpPr>
              <a:spLocks noChangeArrowheads="1"/>
            </p:cNvSpPr>
            <p:nvPr/>
          </p:nvSpPr>
          <p:spPr bwMode="auto">
            <a:xfrm>
              <a:off x="4659" y="2142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5" name="Oval 131"/>
            <p:cNvSpPr>
              <a:spLocks noChangeArrowheads="1"/>
            </p:cNvSpPr>
            <p:nvPr/>
          </p:nvSpPr>
          <p:spPr bwMode="auto">
            <a:xfrm>
              <a:off x="4794" y="2286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6" name="Oval 132"/>
            <p:cNvSpPr>
              <a:spLocks noChangeArrowheads="1"/>
            </p:cNvSpPr>
            <p:nvPr/>
          </p:nvSpPr>
          <p:spPr bwMode="auto">
            <a:xfrm>
              <a:off x="4950" y="2592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7" name="Oval 133"/>
            <p:cNvSpPr>
              <a:spLocks noChangeArrowheads="1"/>
            </p:cNvSpPr>
            <p:nvPr/>
          </p:nvSpPr>
          <p:spPr bwMode="auto">
            <a:xfrm>
              <a:off x="5115" y="3042"/>
              <a:ext cx="83" cy="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84992" tIns="42497" rIns="84992" bIns="42497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A38909-5EF6-48AC-B4F9-932BED69475E}" type="slidenum">
              <a:rPr lang="zh-CN" altLang="en-US" sz="1290">
                <a:latin typeface="Arial" panose="020B0604020202020204" pitchFamily="34" charset="0"/>
              </a:rPr>
              <a:t>32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41987" name="灯片编号占位符 5"/>
          <p:cNvSpPr txBox="1">
            <a:spLocks noGrp="1"/>
          </p:cNvSpPr>
          <p:nvPr/>
        </p:nvSpPr>
        <p:spPr bwMode="auto">
          <a:xfrm>
            <a:off x="6553200" y="6227888"/>
            <a:ext cx="2133600" cy="296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5F6A5AC-E237-422A-A6AE-9B67B248A53D}" type="slidenum">
              <a:rPr lang="zh-CN" altLang="en-US" sz="1290">
                <a:latin typeface="Arial" panose="020B0604020202020204" pitchFamily="34" charset="0"/>
                <a:ea typeface="宋体" panose="02010600030101010101" pitchFamily="2" charset="-122"/>
              </a:rPr>
              <a:t>32</a:t>
            </a:fld>
            <a:endParaRPr lang="en-US" altLang="zh-CN" sz="129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263769"/>
            <a:ext cx="7239000" cy="70338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  <a:sym typeface="Symbol" panose="05050102010706020507" pitchFamily="18" charset="2"/>
              </a:rPr>
              <a:t>中点画圆法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2738" y="1389184"/>
            <a:ext cx="8235462" cy="4501662"/>
          </a:xfrm>
          <a:ln>
            <a:solidFill>
              <a:schemeClr val="bg1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585" dirty="0">
                <a:ea typeface="宋体" panose="02010600030101010101" pitchFamily="2" charset="-122"/>
              </a:rPr>
              <a:t>利用圆的对称性，只须讨论</a:t>
            </a:r>
            <a:r>
              <a:rPr lang="en-US" altLang="zh-CN" sz="2585" dirty="0">
                <a:ea typeface="宋体" panose="02010600030101010101" pitchFamily="2" charset="-122"/>
              </a:rPr>
              <a:t>1/8</a:t>
            </a:r>
            <a:r>
              <a:rPr lang="zh-CN" altLang="en-US" sz="2585" dirty="0">
                <a:ea typeface="宋体" panose="02010600030101010101" pitchFamily="2" charset="-122"/>
              </a:rPr>
              <a:t>圆。</a:t>
            </a:r>
          </a:p>
          <a:p>
            <a:pPr eaLnBrk="1" hangingPunct="1"/>
            <a:endParaRPr lang="zh-CN" altLang="en-US" sz="2585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585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585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585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585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585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dirty="0">
                <a:ea typeface="宋体" panose="02010600030101010101" pitchFamily="2" charset="-122"/>
              </a:rPr>
              <a:t>P</a:t>
            </a:r>
            <a:r>
              <a:rPr lang="zh-CN" altLang="en-US" sz="2585" dirty="0">
                <a:ea typeface="宋体" panose="02010600030101010101" pitchFamily="2" charset="-122"/>
              </a:rPr>
              <a:t>为当前点亮象素，那么，下一个点亮的象素可能是</a:t>
            </a:r>
            <a:r>
              <a:rPr lang="en-US" altLang="zh-CN" sz="2585" dirty="0">
                <a:ea typeface="宋体" panose="02010600030101010101" pitchFamily="2" charset="-122"/>
              </a:rPr>
              <a:t>P1</a:t>
            </a:r>
            <a:r>
              <a:rPr lang="zh-CN" altLang="en-US" sz="2585" dirty="0">
                <a:ea typeface="宋体" panose="02010600030101010101" pitchFamily="2" charset="-122"/>
              </a:rPr>
              <a:t>（</a:t>
            </a:r>
            <a:r>
              <a:rPr lang="en-US" altLang="zh-CN" sz="2585" dirty="0">
                <a:ea typeface="宋体" panose="02010600030101010101" pitchFamily="2" charset="-122"/>
              </a:rPr>
              <a:t>X</a:t>
            </a:r>
            <a:r>
              <a:rPr lang="en-US" altLang="zh-CN" sz="1660" dirty="0">
                <a:ea typeface="宋体" panose="02010600030101010101" pitchFamily="2" charset="-122"/>
              </a:rPr>
              <a:t>p</a:t>
            </a:r>
            <a:r>
              <a:rPr lang="en-US" altLang="zh-CN" sz="2585" dirty="0">
                <a:ea typeface="宋体" panose="02010600030101010101" pitchFamily="2" charset="-122"/>
              </a:rPr>
              <a:t>+1</a:t>
            </a:r>
            <a:r>
              <a:rPr lang="zh-CN" altLang="en-US" sz="2585" dirty="0">
                <a:ea typeface="宋体" panose="02010600030101010101" pitchFamily="2" charset="-122"/>
              </a:rPr>
              <a:t>，</a:t>
            </a:r>
            <a:r>
              <a:rPr lang="en-US" altLang="zh-CN" sz="2585" dirty="0" err="1">
                <a:ea typeface="宋体" panose="02010600030101010101" pitchFamily="2" charset="-122"/>
              </a:rPr>
              <a:t>Y</a:t>
            </a:r>
            <a:r>
              <a:rPr lang="en-US" altLang="zh-CN" sz="1660" dirty="0" err="1">
                <a:ea typeface="宋体" panose="02010600030101010101" pitchFamily="2" charset="-122"/>
              </a:rPr>
              <a:t>p</a:t>
            </a:r>
            <a:r>
              <a:rPr lang="zh-CN" altLang="en-US" sz="2585" dirty="0">
                <a:ea typeface="宋体" panose="02010600030101010101" pitchFamily="2" charset="-122"/>
              </a:rPr>
              <a:t>）或</a:t>
            </a:r>
            <a:r>
              <a:rPr lang="en-US" altLang="zh-CN" sz="2585" dirty="0">
                <a:ea typeface="宋体" panose="02010600030101010101" pitchFamily="2" charset="-122"/>
              </a:rPr>
              <a:t>P2</a:t>
            </a:r>
            <a:r>
              <a:rPr lang="zh-CN" altLang="en-US" sz="2585" dirty="0">
                <a:ea typeface="宋体" panose="02010600030101010101" pitchFamily="2" charset="-122"/>
              </a:rPr>
              <a:t>（</a:t>
            </a:r>
            <a:r>
              <a:rPr lang="en-US" altLang="zh-CN" sz="2585" dirty="0" err="1">
                <a:ea typeface="宋体" panose="02010600030101010101" pitchFamily="2" charset="-122"/>
              </a:rPr>
              <a:t>X</a:t>
            </a:r>
            <a:r>
              <a:rPr lang="en-US" altLang="zh-CN" sz="1660" dirty="0" err="1">
                <a:ea typeface="宋体" panose="02010600030101010101" pitchFamily="2" charset="-122"/>
              </a:rPr>
              <a:t>p</a:t>
            </a:r>
            <a:r>
              <a:rPr lang="en-US" altLang="zh-CN" sz="2585" dirty="0">
                <a:ea typeface="宋体" panose="02010600030101010101" pitchFamily="2" charset="-122"/>
              </a:rPr>
              <a:t> +1</a:t>
            </a:r>
            <a:r>
              <a:rPr lang="zh-CN" altLang="en-US" sz="2585" dirty="0">
                <a:ea typeface="宋体" panose="02010600030101010101" pitchFamily="2" charset="-122"/>
              </a:rPr>
              <a:t>，</a:t>
            </a:r>
            <a:r>
              <a:rPr lang="en-US" altLang="zh-CN" sz="2585" dirty="0" err="1">
                <a:ea typeface="宋体" panose="02010600030101010101" pitchFamily="2" charset="-122"/>
              </a:rPr>
              <a:t>Y</a:t>
            </a:r>
            <a:r>
              <a:rPr lang="en-US" altLang="zh-CN" sz="1660" dirty="0" err="1">
                <a:ea typeface="宋体" panose="02010600030101010101" pitchFamily="2" charset="-122"/>
              </a:rPr>
              <a:t>p</a:t>
            </a:r>
            <a:r>
              <a:rPr lang="en-US" altLang="zh-CN" sz="2585" dirty="0">
                <a:ea typeface="宋体" panose="02010600030101010101" pitchFamily="2" charset="-122"/>
              </a:rPr>
              <a:t> -1)</a:t>
            </a:r>
            <a:r>
              <a:rPr lang="zh-CN" altLang="en-US" sz="2585" dirty="0">
                <a:ea typeface="宋体" panose="02010600030101010101" pitchFamily="2" charset="-122"/>
              </a:rPr>
              <a:t>。</a:t>
            </a:r>
          </a:p>
          <a:p>
            <a:pPr eaLnBrk="1" hangingPunct="1"/>
            <a:endParaRPr lang="zh-CN" altLang="en-US" sz="2585" dirty="0">
              <a:ea typeface="宋体" panose="02010600030101010101" pitchFamily="2" charset="-122"/>
            </a:endParaRPr>
          </a:p>
        </p:txBody>
      </p:sp>
      <p:sp>
        <p:nvSpPr>
          <p:cNvPr id="41990" name="Line 4"/>
          <p:cNvSpPr>
            <a:spLocks noChangeShapeType="1"/>
          </p:cNvSpPr>
          <p:nvPr/>
        </p:nvSpPr>
        <p:spPr bwMode="auto">
          <a:xfrm>
            <a:off x="1752600" y="25146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1" name="Line 5"/>
          <p:cNvSpPr>
            <a:spLocks noChangeShapeType="1"/>
          </p:cNvSpPr>
          <p:nvPr/>
        </p:nvSpPr>
        <p:spPr bwMode="auto">
          <a:xfrm>
            <a:off x="1752600" y="3288323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2" name="Line 6"/>
          <p:cNvSpPr>
            <a:spLocks noChangeShapeType="1"/>
          </p:cNvSpPr>
          <p:nvPr/>
        </p:nvSpPr>
        <p:spPr bwMode="auto">
          <a:xfrm>
            <a:off x="1828800" y="4132385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3" name="Line 7"/>
          <p:cNvSpPr>
            <a:spLocks noChangeShapeType="1"/>
          </p:cNvSpPr>
          <p:nvPr/>
        </p:nvSpPr>
        <p:spPr bwMode="auto">
          <a:xfrm>
            <a:off x="2362200" y="2233246"/>
            <a:ext cx="0" cy="23211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4" name="Line 8"/>
          <p:cNvSpPr>
            <a:spLocks noChangeShapeType="1"/>
          </p:cNvSpPr>
          <p:nvPr/>
        </p:nvSpPr>
        <p:spPr bwMode="auto">
          <a:xfrm>
            <a:off x="3429000" y="2233246"/>
            <a:ext cx="0" cy="23915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5" name="Line 9"/>
          <p:cNvSpPr>
            <a:spLocks noChangeShapeType="1"/>
          </p:cNvSpPr>
          <p:nvPr/>
        </p:nvSpPr>
        <p:spPr bwMode="auto">
          <a:xfrm>
            <a:off x="4572000" y="2162908"/>
            <a:ext cx="0" cy="23915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6" name="Arc 10"/>
          <p:cNvSpPr/>
          <p:nvPr/>
        </p:nvSpPr>
        <p:spPr bwMode="auto">
          <a:xfrm>
            <a:off x="2209800" y="2584939"/>
            <a:ext cx="3048000" cy="126609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7" name="Line 11"/>
          <p:cNvSpPr>
            <a:spLocks noChangeShapeType="1"/>
          </p:cNvSpPr>
          <p:nvPr/>
        </p:nvSpPr>
        <p:spPr bwMode="auto">
          <a:xfrm flipH="1" flipV="1">
            <a:off x="3352800" y="2936631"/>
            <a:ext cx="1524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8" name="Line 12"/>
          <p:cNvSpPr>
            <a:spLocks noChangeShapeType="1"/>
          </p:cNvSpPr>
          <p:nvPr/>
        </p:nvSpPr>
        <p:spPr bwMode="auto">
          <a:xfrm flipH="1" flipV="1">
            <a:off x="4495800" y="2936631"/>
            <a:ext cx="1524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9" name="Rectangle 13"/>
          <p:cNvSpPr>
            <a:spLocks noChangeArrowheads="1"/>
          </p:cNvSpPr>
          <p:nvPr/>
        </p:nvSpPr>
        <p:spPr bwMode="auto">
          <a:xfrm>
            <a:off x="3352800" y="2444262"/>
            <a:ext cx="152400" cy="1406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000" name="Rectangle 14"/>
          <p:cNvSpPr>
            <a:spLocks noChangeArrowheads="1"/>
          </p:cNvSpPr>
          <p:nvPr/>
        </p:nvSpPr>
        <p:spPr bwMode="auto">
          <a:xfrm>
            <a:off x="4495800" y="2444262"/>
            <a:ext cx="152400" cy="1406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001" name="Rectangle 15"/>
          <p:cNvSpPr>
            <a:spLocks noChangeArrowheads="1"/>
          </p:cNvSpPr>
          <p:nvPr/>
        </p:nvSpPr>
        <p:spPr bwMode="auto">
          <a:xfrm>
            <a:off x="4495800" y="3217986"/>
            <a:ext cx="152400" cy="1406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002" name="Rectangle 16"/>
          <p:cNvSpPr>
            <a:spLocks noChangeArrowheads="1"/>
          </p:cNvSpPr>
          <p:nvPr/>
        </p:nvSpPr>
        <p:spPr bwMode="auto">
          <a:xfrm>
            <a:off x="3352800" y="3217986"/>
            <a:ext cx="152400" cy="1406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003" name="Rectangle 17"/>
          <p:cNvSpPr>
            <a:spLocks noChangeArrowheads="1"/>
          </p:cNvSpPr>
          <p:nvPr/>
        </p:nvSpPr>
        <p:spPr bwMode="auto">
          <a:xfrm>
            <a:off x="2286000" y="2444262"/>
            <a:ext cx="152400" cy="1406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004" name="Text Box 18"/>
          <p:cNvSpPr txBox="1">
            <a:spLocks noChangeArrowheads="1"/>
          </p:cNvSpPr>
          <p:nvPr/>
        </p:nvSpPr>
        <p:spPr bwMode="auto">
          <a:xfrm>
            <a:off x="3412881" y="2693380"/>
            <a:ext cx="437940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215"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42005" name="Text Box 19"/>
          <p:cNvSpPr txBox="1">
            <a:spLocks noChangeArrowheads="1"/>
          </p:cNvSpPr>
          <p:nvPr/>
        </p:nvSpPr>
        <p:spPr bwMode="auto">
          <a:xfrm>
            <a:off x="3489081" y="2130671"/>
            <a:ext cx="486030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215">
                <a:ea typeface="宋体" panose="02010600030101010101" pitchFamily="2" charset="-122"/>
              </a:rPr>
              <a:t>P1</a:t>
            </a:r>
          </a:p>
        </p:txBody>
      </p:sp>
      <p:sp>
        <p:nvSpPr>
          <p:cNvPr id="42006" name="Text Box 20"/>
          <p:cNvSpPr txBox="1">
            <a:spLocks noChangeArrowheads="1"/>
          </p:cNvSpPr>
          <p:nvPr/>
        </p:nvSpPr>
        <p:spPr bwMode="auto">
          <a:xfrm>
            <a:off x="3429000" y="3217988"/>
            <a:ext cx="486030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215">
                <a:ea typeface="宋体" panose="02010600030101010101" pitchFamily="2" charset="-122"/>
              </a:rPr>
              <a:t>P2</a:t>
            </a:r>
          </a:p>
        </p:txBody>
      </p:sp>
      <p:sp>
        <p:nvSpPr>
          <p:cNvPr id="42007" name="Text Box 21"/>
          <p:cNvSpPr txBox="1">
            <a:spLocks noChangeArrowheads="1"/>
          </p:cNvSpPr>
          <p:nvPr/>
        </p:nvSpPr>
        <p:spPr bwMode="auto">
          <a:xfrm>
            <a:off x="1261698" y="1881557"/>
            <a:ext cx="2005229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215">
                <a:ea typeface="宋体" panose="02010600030101010101" pitchFamily="2" charset="-122"/>
              </a:rPr>
              <a:t>P</a:t>
            </a:r>
            <a:r>
              <a:rPr kumimoji="1" lang="zh-CN" altLang="en-US" sz="2215">
                <a:ea typeface="宋体" panose="02010600030101010101" pitchFamily="2" charset="-122"/>
              </a:rPr>
              <a:t>（</a:t>
            </a:r>
            <a:r>
              <a:rPr kumimoji="1" lang="en-US" altLang="zh-CN" sz="2215">
                <a:ea typeface="宋体" panose="02010600030101010101" pitchFamily="2" charset="-122"/>
              </a:rPr>
              <a:t>Xp </a:t>
            </a:r>
            <a:r>
              <a:rPr kumimoji="1" lang="zh-CN" altLang="en-US" sz="2215">
                <a:ea typeface="宋体" panose="02010600030101010101" pitchFamily="2" charset="-122"/>
              </a:rPr>
              <a:t>，</a:t>
            </a:r>
            <a:r>
              <a:rPr kumimoji="1" lang="en-US" altLang="zh-CN" sz="2215">
                <a:ea typeface="宋体" panose="02010600030101010101" pitchFamily="2" charset="-122"/>
              </a:rPr>
              <a:t>Yp </a:t>
            </a:r>
            <a:r>
              <a:rPr kumimoji="1" lang="zh-CN" altLang="en-US" sz="2215">
                <a:ea typeface="宋体" panose="02010600030101010101" pitchFamily="2" charset="-122"/>
              </a:rPr>
              <a:t>）</a:t>
            </a:r>
          </a:p>
        </p:txBody>
      </p:sp>
      <p:grpSp>
        <p:nvGrpSpPr>
          <p:cNvPr id="42008" name="Group 49"/>
          <p:cNvGrpSpPr>
            <a:grpSpLocks noChangeAspect="1"/>
          </p:cNvGrpSpPr>
          <p:nvPr/>
        </p:nvGrpSpPr>
        <p:grpSpPr bwMode="auto">
          <a:xfrm>
            <a:off x="5773616" y="1427284"/>
            <a:ext cx="3193074" cy="2416420"/>
            <a:chOff x="4136" y="1700"/>
            <a:chExt cx="1576" cy="1193"/>
          </a:xfrm>
        </p:grpSpPr>
        <p:sp>
          <p:nvSpPr>
            <p:cNvPr id="42010" name="AutoShape 50"/>
            <p:cNvSpPr>
              <a:spLocks noChangeAspect="1" noChangeArrowheads="1" noTextEdit="1"/>
            </p:cNvSpPr>
            <p:nvPr/>
          </p:nvSpPr>
          <p:spPr bwMode="auto">
            <a:xfrm>
              <a:off x="4136" y="1700"/>
              <a:ext cx="1576" cy="1193"/>
            </a:xfrm>
            <a:prstGeom prst="rect">
              <a:avLst/>
            </a:prstGeom>
            <a:noFill/>
            <a:ln w="9525" algn="ctr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1" name="Line 51"/>
            <p:cNvSpPr>
              <a:spLocks noChangeShapeType="1"/>
            </p:cNvSpPr>
            <p:nvPr/>
          </p:nvSpPr>
          <p:spPr bwMode="auto">
            <a:xfrm>
              <a:off x="4342" y="1906"/>
              <a:ext cx="1" cy="883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2" name="Line 52"/>
            <p:cNvSpPr>
              <a:spLocks noChangeShapeType="1"/>
            </p:cNvSpPr>
            <p:nvPr/>
          </p:nvSpPr>
          <p:spPr bwMode="auto">
            <a:xfrm>
              <a:off x="4663" y="1906"/>
              <a:ext cx="1" cy="933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3" name="Line 53"/>
            <p:cNvSpPr>
              <a:spLocks noChangeShapeType="1"/>
            </p:cNvSpPr>
            <p:nvPr/>
          </p:nvSpPr>
          <p:spPr bwMode="auto">
            <a:xfrm>
              <a:off x="4976" y="1906"/>
              <a:ext cx="1" cy="890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4" name="Line 54"/>
            <p:cNvSpPr>
              <a:spLocks noChangeShapeType="1"/>
            </p:cNvSpPr>
            <p:nvPr/>
          </p:nvSpPr>
          <p:spPr bwMode="auto">
            <a:xfrm>
              <a:off x="5282" y="1906"/>
              <a:ext cx="1" cy="933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5" name="Line 55"/>
            <p:cNvSpPr>
              <a:spLocks noChangeShapeType="1"/>
            </p:cNvSpPr>
            <p:nvPr/>
          </p:nvSpPr>
          <p:spPr bwMode="auto">
            <a:xfrm>
              <a:off x="4207" y="2106"/>
              <a:ext cx="1267" cy="1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6" name="Line 56"/>
            <p:cNvSpPr>
              <a:spLocks noChangeShapeType="1"/>
            </p:cNvSpPr>
            <p:nvPr/>
          </p:nvSpPr>
          <p:spPr bwMode="auto">
            <a:xfrm>
              <a:off x="4207" y="2405"/>
              <a:ext cx="1267" cy="1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7" name="Line 57"/>
            <p:cNvSpPr>
              <a:spLocks noChangeShapeType="1"/>
            </p:cNvSpPr>
            <p:nvPr/>
          </p:nvSpPr>
          <p:spPr bwMode="auto">
            <a:xfrm>
              <a:off x="4207" y="2704"/>
              <a:ext cx="1267" cy="1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8" name="Oval 58"/>
            <p:cNvSpPr>
              <a:spLocks noChangeArrowheads="1"/>
            </p:cNvSpPr>
            <p:nvPr/>
          </p:nvSpPr>
          <p:spPr bwMode="auto">
            <a:xfrm>
              <a:off x="4663" y="2405"/>
              <a:ext cx="313" cy="306"/>
            </a:xfrm>
            <a:prstGeom prst="ellipse">
              <a:avLst/>
            </a:prstGeom>
            <a:solidFill>
              <a:srgbClr val="0066CC"/>
            </a:solidFill>
            <a:ln w="11113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9" name="Oval 59"/>
            <p:cNvSpPr>
              <a:spLocks noChangeArrowheads="1"/>
            </p:cNvSpPr>
            <p:nvPr/>
          </p:nvSpPr>
          <p:spPr bwMode="auto">
            <a:xfrm>
              <a:off x="4663" y="2092"/>
              <a:ext cx="313" cy="306"/>
            </a:xfrm>
            <a:prstGeom prst="ellipse">
              <a:avLst/>
            </a:prstGeom>
            <a:solidFill>
              <a:srgbClr val="0000FF"/>
            </a:solidFill>
            <a:ln w="11113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20" name="Oval 60"/>
            <p:cNvSpPr>
              <a:spLocks noChangeArrowheads="1"/>
            </p:cNvSpPr>
            <p:nvPr/>
          </p:nvSpPr>
          <p:spPr bwMode="auto">
            <a:xfrm>
              <a:off x="4342" y="2106"/>
              <a:ext cx="321" cy="299"/>
            </a:xfrm>
            <a:prstGeom prst="ellipse">
              <a:avLst/>
            </a:prstGeom>
            <a:solidFill>
              <a:srgbClr val="FFFF66"/>
            </a:solidFill>
            <a:ln w="11113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21" name="Freeform 61"/>
            <p:cNvSpPr/>
            <p:nvPr/>
          </p:nvSpPr>
          <p:spPr bwMode="auto">
            <a:xfrm>
              <a:off x="4150" y="2027"/>
              <a:ext cx="1039" cy="549"/>
            </a:xfrm>
            <a:custGeom>
              <a:avLst/>
              <a:gdLst>
                <a:gd name="T0" fmla="*/ 0 w 146"/>
                <a:gd name="T1" fmla="*/ 0 h 77"/>
                <a:gd name="T2" fmla="*/ 2147483646 w 146"/>
                <a:gd name="T3" fmla="*/ 2147483646 h 77"/>
                <a:gd name="T4" fmla="*/ 2147483646 w 146"/>
                <a:gd name="T5" fmla="*/ 2147483646 h 77"/>
                <a:gd name="T6" fmla="*/ 2147483646 w 146"/>
                <a:gd name="T7" fmla="*/ 2147483646 h 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6"/>
                <a:gd name="T13" fmla="*/ 0 h 77"/>
                <a:gd name="T14" fmla="*/ 146 w 146"/>
                <a:gd name="T15" fmla="*/ 77 h 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6" h="77">
                  <a:moveTo>
                    <a:pt x="0" y="0"/>
                  </a:moveTo>
                  <a:cubicBezTo>
                    <a:pt x="20" y="5"/>
                    <a:pt x="39" y="9"/>
                    <a:pt x="56" y="17"/>
                  </a:cubicBezTo>
                  <a:cubicBezTo>
                    <a:pt x="74" y="24"/>
                    <a:pt x="92" y="35"/>
                    <a:pt x="107" y="45"/>
                  </a:cubicBezTo>
                  <a:cubicBezTo>
                    <a:pt x="121" y="55"/>
                    <a:pt x="134" y="66"/>
                    <a:pt x="146" y="77"/>
                  </a:cubicBezTo>
                </a:path>
              </a:pathLst>
            </a:custGeom>
            <a:noFill/>
            <a:ln w="46038" cap="sq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2" name="Oval 62"/>
            <p:cNvSpPr>
              <a:spLocks noChangeArrowheads="1"/>
            </p:cNvSpPr>
            <p:nvPr/>
          </p:nvSpPr>
          <p:spPr bwMode="auto">
            <a:xfrm>
              <a:off x="4769" y="2341"/>
              <a:ext cx="114" cy="114"/>
            </a:xfrm>
            <a:prstGeom prst="ellipse">
              <a:avLst/>
            </a:prstGeom>
            <a:solidFill>
              <a:srgbClr val="FF0000"/>
            </a:solidFill>
            <a:ln w="11113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23" name="Rectangle 63"/>
            <p:cNvSpPr>
              <a:spLocks noChangeArrowheads="1"/>
            </p:cNvSpPr>
            <p:nvPr/>
          </p:nvSpPr>
          <p:spPr bwMode="auto">
            <a:xfrm>
              <a:off x="5189" y="1700"/>
              <a:ext cx="492" cy="3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24" name="Rectangle 64"/>
            <p:cNvSpPr>
              <a:spLocks noChangeArrowheads="1"/>
            </p:cNvSpPr>
            <p:nvPr/>
          </p:nvSpPr>
          <p:spPr bwMode="auto">
            <a:xfrm>
              <a:off x="5331" y="1750"/>
              <a:ext cx="163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候选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25" name="Rectangle 65"/>
            <p:cNvSpPr>
              <a:spLocks noChangeArrowheads="1"/>
            </p:cNvSpPr>
            <p:nvPr/>
          </p:nvSpPr>
          <p:spPr bwMode="auto">
            <a:xfrm>
              <a:off x="5264" y="1885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高像素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26" name="Rectangle 66"/>
            <p:cNvSpPr>
              <a:spLocks noChangeArrowheads="1"/>
            </p:cNvSpPr>
            <p:nvPr/>
          </p:nvSpPr>
          <p:spPr bwMode="auto">
            <a:xfrm>
              <a:off x="5204" y="2540"/>
              <a:ext cx="484" cy="3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27" name="Rectangle 67"/>
            <p:cNvSpPr>
              <a:spLocks noChangeArrowheads="1"/>
            </p:cNvSpPr>
            <p:nvPr/>
          </p:nvSpPr>
          <p:spPr bwMode="auto">
            <a:xfrm>
              <a:off x="5345" y="2589"/>
              <a:ext cx="163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66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候选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28" name="Rectangle 68"/>
            <p:cNvSpPr>
              <a:spLocks noChangeArrowheads="1"/>
            </p:cNvSpPr>
            <p:nvPr/>
          </p:nvSpPr>
          <p:spPr bwMode="auto">
            <a:xfrm>
              <a:off x="5278" y="2725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66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低像素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29" name="Rectangle 69"/>
            <p:cNvSpPr>
              <a:spLocks noChangeArrowheads="1"/>
            </p:cNvSpPr>
            <p:nvPr/>
          </p:nvSpPr>
          <p:spPr bwMode="auto">
            <a:xfrm>
              <a:off x="5204" y="2127"/>
              <a:ext cx="484" cy="3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30" name="Rectangle 70"/>
            <p:cNvSpPr>
              <a:spLocks noChangeArrowheads="1"/>
            </p:cNvSpPr>
            <p:nvPr/>
          </p:nvSpPr>
          <p:spPr bwMode="auto">
            <a:xfrm>
              <a:off x="5278" y="2177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候选像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31" name="Rectangle 71"/>
            <p:cNvSpPr>
              <a:spLocks noChangeArrowheads="1"/>
            </p:cNvSpPr>
            <p:nvPr/>
          </p:nvSpPr>
          <p:spPr bwMode="auto">
            <a:xfrm>
              <a:off x="5278" y="2312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素中点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32" name="Rectangle 72"/>
            <p:cNvSpPr>
              <a:spLocks noChangeArrowheads="1"/>
            </p:cNvSpPr>
            <p:nvPr/>
          </p:nvSpPr>
          <p:spPr bwMode="auto">
            <a:xfrm>
              <a:off x="4179" y="2519"/>
              <a:ext cx="370" cy="3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33" name="Rectangle 73"/>
            <p:cNvSpPr>
              <a:spLocks noChangeArrowheads="1"/>
            </p:cNvSpPr>
            <p:nvPr/>
          </p:nvSpPr>
          <p:spPr bwMode="auto">
            <a:xfrm>
              <a:off x="4256" y="2568"/>
              <a:ext cx="163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前一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34" name="Rectangle 74"/>
            <p:cNvSpPr>
              <a:spLocks noChangeArrowheads="1"/>
            </p:cNvSpPr>
            <p:nvPr/>
          </p:nvSpPr>
          <p:spPr bwMode="auto">
            <a:xfrm>
              <a:off x="4256" y="2703"/>
              <a:ext cx="163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像素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35" name="Rectangle 75"/>
            <p:cNvSpPr>
              <a:spLocks noChangeArrowheads="1"/>
            </p:cNvSpPr>
            <p:nvPr/>
          </p:nvSpPr>
          <p:spPr bwMode="auto">
            <a:xfrm>
              <a:off x="4406" y="1800"/>
              <a:ext cx="541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36" name="Rectangle 76"/>
            <p:cNvSpPr>
              <a:spLocks noChangeArrowheads="1"/>
            </p:cNvSpPr>
            <p:nvPr/>
          </p:nvSpPr>
          <p:spPr bwMode="auto">
            <a:xfrm>
              <a:off x="4502" y="1849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FF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圆弧段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grpSp>
          <p:nvGrpSpPr>
            <p:cNvPr id="42037" name="Group 77"/>
            <p:cNvGrpSpPr/>
            <p:nvPr/>
          </p:nvGrpSpPr>
          <p:grpSpPr bwMode="auto">
            <a:xfrm>
              <a:off x="4855" y="1906"/>
              <a:ext cx="377" cy="335"/>
              <a:chOff x="4855" y="1906"/>
              <a:chExt cx="377" cy="335"/>
            </a:xfrm>
          </p:grpSpPr>
          <p:sp>
            <p:nvSpPr>
              <p:cNvPr id="42091" name="Line 78"/>
              <p:cNvSpPr>
                <a:spLocks noChangeShapeType="1"/>
              </p:cNvSpPr>
              <p:nvPr/>
            </p:nvSpPr>
            <p:spPr bwMode="auto">
              <a:xfrm flipH="1">
                <a:off x="4898" y="1906"/>
                <a:ext cx="334" cy="292"/>
              </a:xfrm>
              <a:prstGeom prst="line">
                <a:avLst/>
              </a:prstGeom>
              <a:noFill/>
              <a:ln w="11113" cap="rnd">
                <a:solidFill>
                  <a:srgbClr val="33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92" name="Freeform 79"/>
              <p:cNvSpPr/>
              <p:nvPr/>
            </p:nvSpPr>
            <p:spPr bwMode="auto">
              <a:xfrm>
                <a:off x="4855" y="2170"/>
                <a:ext cx="78" cy="71"/>
              </a:xfrm>
              <a:custGeom>
                <a:avLst/>
                <a:gdLst>
                  <a:gd name="T0" fmla="*/ 43 w 78"/>
                  <a:gd name="T1" fmla="*/ 0 h 71"/>
                  <a:gd name="T2" fmla="*/ 0 w 78"/>
                  <a:gd name="T3" fmla="*/ 71 h 71"/>
                  <a:gd name="T4" fmla="*/ 78 w 78"/>
                  <a:gd name="T5" fmla="*/ 35 h 71"/>
                  <a:gd name="T6" fmla="*/ 43 w 78"/>
                  <a:gd name="T7" fmla="*/ 0 h 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"/>
                  <a:gd name="T13" fmla="*/ 0 h 71"/>
                  <a:gd name="T14" fmla="*/ 78 w 78"/>
                  <a:gd name="T15" fmla="*/ 71 h 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" h="71">
                    <a:moveTo>
                      <a:pt x="43" y="0"/>
                    </a:moveTo>
                    <a:lnTo>
                      <a:pt x="0" y="71"/>
                    </a:lnTo>
                    <a:lnTo>
                      <a:pt x="78" y="3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038" name="Group 80"/>
            <p:cNvGrpSpPr/>
            <p:nvPr/>
          </p:nvGrpSpPr>
          <p:grpSpPr bwMode="auto">
            <a:xfrm>
              <a:off x="4841" y="2568"/>
              <a:ext cx="420" cy="171"/>
              <a:chOff x="4841" y="2568"/>
              <a:chExt cx="420" cy="171"/>
            </a:xfrm>
          </p:grpSpPr>
          <p:sp>
            <p:nvSpPr>
              <p:cNvPr id="42089" name="Line 81"/>
              <p:cNvSpPr>
                <a:spLocks noChangeShapeType="1"/>
              </p:cNvSpPr>
              <p:nvPr/>
            </p:nvSpPr>
            <p:spPr bwMode="auto">
              <a:xfrm flipH="1" flipV="1">
                <a:off x="4883" y="2590"/>
                <a:ext cx="378" cy="149"/>
              </a:xfrm>
              <a:prstGeom prst="line">
                <a:avLst/>
              </a:prstGeom>
              <a:noFill/>
              <a:ln w="11113" cap="rnd">
                <a:solidFill>
                  <a:srgbClr val="66C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90" name="Freeform 82"/>
              <p:cNvSpPr/>
              <p:nvPr/>
            </p:nvSpPr>
            <p:spPr bwMode="auto">
              <a:xfrm>
                <a:off x="4841" y="2568"/>
                <a:ext cx="71" cy="50"/>
              </a:xfrm>
              <a:custGeom>
                <a:avLst/>
                <a:gdLst>
                  <a:gd name="T0" fmla="*/ 71 w 71"/>
                  <a:gd name="T1" fmla="*/ 8 h 50"/>
                  <a:gd name="T2" fmla="*/ 0 w 71"/>
                  <a:gd name="T3" fmla="*/ 0 h 50"/>
                  <a:gd name="T4" fmla="*/ 57 w 71"/>
                  <a:gd name="T5" fmla="*/ 50 h 50"/>
                  <a:gd name="T6" fmla="*/ 71 w 71"/>
                  <a:gd name="T7" fmla="*/ 8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"/>
                  <a:gd name="T13" fmla="*/ 0 h 50"/>
                  <a:gd name="T14" fmla="*/ 71 w 71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" h="50">
                    <a:moveTo>
                      <a:pt x="71" y="8"/>
                    </a:moveTo>
                    <a:lnTo>
                      <a:pt x="0" y="0"/>
                    </a:lnTo>
                    <a:lnTo>
                      <a:pt x="57" y="50"/>
                    </a:lnTo>
                    <a:lnTo>
                      <a:pt x="71" y="8"/>
                    </a:ln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039" name="Group 83"/>
            <p:cNvGrpSpPr/>
            <p:nvPr/>
          </p:nvGrpSpPr>
          <p:grpSpPr bwMode="auto">
            <a:xfrm>
              <a:off x="4826" y="2291"/>
              <a:ext cx="435" cy="121"/>
              <a:chOff x="4826" y="2291"/>
              <a:chExt cx="435" cy="121"/>
            </a:xfrm>
          </p:grpSpPr>
          <p:sp>
            <p:nvSpPr>
              <p:cNvPr id="42087" name="Line 84"/>
              <p:cNvSpPr>
                <a:spLocks noChangeShapeType="1"/>
              </p:cNvSpPr>
              <p:nvPr/>
            </p:nvSpPr>
            <p:spPr bwMode="auto">
              <a:xfrm flipH="1">
                <a:off x="4876" y="2291"/>
                <a:ext cx="385" cy="92"/>
              </a:xfrm>
              <a:prstGeom prst="line">
                <a:avLst/>
              </a:prstGeom>
              <a:noFill/>
              <a:ln w="11113" cap="rnd">
                <a:solidFill>
                  <a:srgbClr val="FF505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88" name="Freeform 85"/>
              <p:cNvSpPr/>
              <p:nvPr/>
            </p:nvSpPr>
            <p:spPr bwMode="auto">
              <a:xfrm>
                <a:off x="4826" y="2362"/>
                <a:ext cx="72" cy="50"/>
              </a:xfrm>
              <a:custGeom>
                <a:avLst/>
                <a:gdLst>
                  <a:gd name="T0" fmla="*/ 64 w 72"/>
                  <a:gd name="T1" fmla="*/ 0 h 50"/>
                  <a:gd name="T2" fmla="*/ 0 w 72"/>
                  <a:gd name="T3" fmla="*/ 36 h 50"/>
                  <a:gd name="T4" fmla="*/ 72 w 72"/>
                  <a:gd name="T5" fmla="*/ 50 h 50"/>
                  <a:gd name="T6" fmla="*/ 64 w 7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50"/>
                  <a:gd name="T14" fmla="*/ 72 w 7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50">
                    <a:moveTo>
                      <a:pt x="64" y="0"/>
                    </a:moveTo>
                    <a:lnTo>
                      <a:pt x="0" y="36"/>
                    </a:lnTo>
                    <a:lnTo>
                      <a:pt x="72" y="5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F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040" name="Group 86"/>
            <p:cNvGrpSpPr/>
            <p:nvPr/>
          </p:nvGrpSpPr>
          <p:grpSpPr bwMode="auto">
            <a:xfrm>
              <a:off x="4350" y="2269"/>
              <a:ext cx="149" cy="292"/>
              <a:chOff x="4350" y="2269"/>
              <a:chExt cx="149" cy="292"/>
            </a:xfrm>
          </p:grpSpPr>
          <p:sp>
            <p:nvSpPr>
              <p:cNvPr id="42085" name="Line 87"/>
              <p:cNvSpPr>
                <a:spLocks noChangeShapeType="1"/>
              </p:cNvSpPr>
              <p:nvPr/>
            </p:nvSpPr>
            <p:spPr bwMode="auto">
              <a:xfrm flipV="1">
                <a:off x="4350" y="2319"/>
                <a:ext cx="128" cy="242"/>
              </a:xfrm>
              <a:prstGeom prst="line">
                <a:avLst/>
              </a:prstGeom>
              <a:noFill/>
              <a:ln w="11113" cap="rnd">
                <a:solidFill>
                  <a:srgbClr val="33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86" name="Freeform 88"/>
              <p:cNvSpPr/>
              <p:nvPr/>
            </p:nvSpPr>
            <p:spPr bwMode="auto">
              <a:xfrm>
                <a:off x="4442" y="2269"/>
                <a:ext cx="57" cy="79"/>
              </a:xfrm>
              <a:custGeom>
                <a:avLst/>
                <a:gdLst>
                  <a:gd name="T0" fmla="*/ 43 w 57"/>
                  <a:gd name="T1" fmla="*/ 79 h 79"/>
                  <a:gd name="T2" fmla="*/ 57 w 57"/>
                  <a:gd name="T3" fmla="*/ 0 h 79"/>
                  <a:gd name="T4" fmla="*/ 0 w 57"/>
                  <a:gd name="T5" fmla="*/ 57 h 79"/>
                  <a:gd name="T6" fmla="*/ 43 w 57"/>
                  <a:gd name="T7" fmla="*/ 79 h 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"/>
                  <a:gd name="T13" fmla="*/ 0 h 79"/>
                  <a:gd name="T14" fmla="*/ 57 w 57"/>
                  <a:gd name="T15" fmla="*/ 79 h 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" h="79">
                    <a:moveTo>
                      <a:pt x="43" y="79"/>
                    </a:moveTo>
                    <a:lnTo>
                      <a:pt x="57" y="0"/>
                    </a:lnTo>
                    <a:lnTo>
                      <a:pt x="0" y="57"/>
                    </a:lnTo>
                    <a:lnTo>
                      <a:pt x="43" y="79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041" name="Group 89"/>
            <p:cNvGrpSpPr/>
            <p:nvPr/>
          </p:nvGrpSpPr>
          <p:grpSpPr bwMode="auto">
            <a:xfrm>
              <a:off x="4385" y="1963"/>
              <a:ext cx="107" cy="136"/>
              <a:chOff x="4385" y="1963"/>
              <a:chExt cx="107" cy="136"/>
            </a:xfrm>
          </p:grpSpPr>
          <p:sp>
            <p:nvSpPr>
              <p:cNvPr id="42083" name="Line 90"/>
              <p:cNvSpPr>
                <a:spLocks noChangeShapeType="1"/>
              </p:cNvSpPr>
              <p:nvPr/>
            </p:nvSpPr>
            <p:spPr bwMode="auto">
              <a:xfrm flipH="1">
                <a:off x="4414" y="1963"/>
                <a:ext cx="78" cy="93"/>
              </a:xfrm>
              <a:prstGeom prst="line">
                <a:avLst/>
              </a:prstGeom>
              <a:noFill/>
              <a:ln w="11113" cap="rnd">
                <a:solidFill>
                  <a:srgbClr val="FF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84" name="Freeform 91"/>
              <p:cNvSpPr/>
              <p:nvPr/>
            </p:nvSpPr>
            <p:spPr bwMode="auto">
              <a:xfrm>
                <a:off x="4385" y="2027"/>
                <a:ext cx="64" cy="72"/>
              </a:xfrm>
              <a:custGeom>
                <a:avLst/>
                <a:gdLst>
                  <a:gd name="T0" fmla="*/ 36 w 64"/>
                  <a:gd name="T1" fmla="*/ 0 h 72"/>
                  <a:gd name="T2" fmla="*/ 0 w 64"/>
                  <a:gd name="T3" fmla="*/ 72 h 72"/>
                  <a:gd name="T4" fmla="*/ 64 w 64"/>
                  <a:gd name="T5" fmla="*/ 29 h 72"/>
                  <a:gd name="T6" fmla="*/ 36 w 64"/>
                  <a:gd name="T7" fmla="*/ 0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4"/>
                  <a:gd name="T13" fmla="*/ 0 h 72"/>
                  <a:gd name="T14" fmla="*/ 64 w 64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4" h="72">
                    <a:moveTo>
                      <a:pt x="36" y="0"/>
                    </a:moveTo>
                    <a:lnTo>
                      <a:pt x="0" y="72"/>
                    </a:lnTo>
                    <a:lnTo>
                      <a:pt x="64" y="29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42" name="Line 92"/>
            <p:cNvSpPr>
              <a:spLocks noChangeShapeType="1"/>
            </p:cNvSpPr>
            <p:nvPr/>
          </p:nvSpPr>
          <p:spPr bwMode="auto">
            <a:xfrm>
              <a:off x="4342" y="1906"/>
              <a:ext cx="1" cy="883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3" name="Line 93"/>
            <p:cNvSpPr>
              <a:spLocks noChangeShapeType="1"/>
            </p:cNvSpPr>
            <p:nvPr/>
          </p:nvSpPr>
          <p:spPr bwMode="auto">
            <a:xfrm>
              <a:off x="4663" y="1906"/>
              <a:ext cx="1" cy="933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4" name="Line 94"/>
            <p:cNvSpPr>
              <a:spLocks noChangeShapeType="1"/>
            </p:cNvSpPr>
            <p:nvPr/>
          </p:nvSpPr>
          <p:spPr bwMode="auto">
            <a:xfrm>
              <a:off x="4976" y="1906"/>
              <a:ext cx="1" cy="890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5" name="Line 95"/>
            <p:cNvSpPr>
              <a:spLocks noChangeShapeType="1"/>
            </p:cNvSpPr>
            <p:nvPr/>
          </p:nvSpPr>
          <p:spPr bwMode="auto">
            <a:xfrm>
              <a:off x="5282" y="1906"/>
              <a:ext cx="1" cy="933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6" name="Line 96"/>
            <p:cNvSpPr>
              <a:spLocks noChangeShapeType="1"/>
            </p:cNvSpPr>
            <p:nvPr/>
          </p:nvSpPr>
          <p:spPr bwMode="auto">
            <a:xfrm>
              <a:off x="4207" y="2106"/>
              <a:ext cx="1267" cy="1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7" name="Line 97"/>
            <p:cNvSpPr>
              <a:spLocks noChangeShapeType="1"/>
            </p:cNvSpPr>
            <p:nvPr/>
          </p:nvSpPr>
          <p:spPr bwMode="auto">
            <a:xfrm>
              <a:off x="4207" y="2405"/>
              <a:ext cx="1267" cy="1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8" name="Line 98"/>
            <p:cNvSpPr>
              <a:spLocks noChangeShapeType="1"/>
            </p:cNvSpPr>
            <p:nvPr/>
          </p:nvSpPr>
          <p:spPr bwMode="auto">
            <a:xfrm>
              <a:off x="4207" y="2704"/>
              <a:ext cx="1267" cy="1"/>
            </a:xfrm>
            <a:prstGeom prst="line">
              <a:avLst/>
            </a:prstGeom>
            <a:noFill/>
            <a:ln w="11113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9" name="Oval 99"/>
            <p:cNvSpPr>
              <a:spLocks noChangeArrowheads="1"/>
            </p:cNvSpPr>
            <p:nvPr/>
          </p:nvSpPr>
          <p:spPr bwMode="auto">
            <a:xfrm>
              <a:off x="4663" y="2405"/>
              <a:ext cx="313" cy="306"/>
            </a:xfrm>
            <a:prstGeom prst="ellipse">
              <a:avLst/>
            </a:prstGeom>
            <a:solidFill>
              <a:srgbClr val="0066CC"/>
            </a:solidFill>
            <a:ln w="11113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50" name="Oval 100"/>
            <p:cNvSpPr>
              <a:spLocks noChangeArrowheads="1"/>
            </p:cNvSpPr>
            <p:nvPr/>
          </p:nvSpPr>
          <p:spPr bwMode="auto">
            <a:xfrm>
              <a:off x="4663" y="2092"/>
              <a:ext cx="313" cy="306"/>
            </a:xfrm>
            <a:prstGeom prst="ellipse">
              <a:avLst/>
            </a:prstGeom>
            <a:solidFill>
              <a:srgbClr val="0000FF"/>
            </a:solidFill>
            <a:ln w="11113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51" name="Oval 101"/>
            <p:cNvSpPr>
              <a:spLocks noChangeArrowheads="1"/>
            </p:cNvSpPr>
            <p:nvPr/>
          </p:nvSpPr>
          <p:spPr bwMode="auto">
            <a:xfrm>
              <a:off x="4342" y="2106"/>
              <a:ext cx="321" cy="299"/>
            </a:xfrm>
            <a:prstGeom prst="ellipse">
              <a:avLst/>
            </a:prstGeom>
            <a:solidFill>
              <a:srgbClr val="FFFF66"/>
            </a:solidFill>
            <a:ln w="11113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52" name="Freeform 102"/>
            <p:cNvSpPr/>
            <p:nvPr/>
          </p:nvSpPr>
          <p:spPr bwMode="auto">
            <a:xfrm>
              <a:off x="4150" y="2027"/>
              <a:ext cx="1039" cy="549"/>
            </a:xfrm>
            <a:custGeom>
              <a:avLst/>
              <a:gdLst>
                <a:gd name="T0" fmla="*/ 0 w 146"/>
                <a:gd name="T1" fmla="*/ 0 h 77"/>
                <a:gd name="T2" fmla="*/ 2147483646 w 146"/>
                <a:gd name="T3" fmla="*/ 2147483646 h 77"/>
                <a:gd name="T4" fmla="*/ 2147483646 w 146"/>
                <a:gd name="T5" fmla="*/ 2147483646 h 77"/>
                <a:gd name="T6" fmla="*/ 2147483646 w 146"/>
                <a:gd name="T7" fmla="*/ 2147483646 h 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6"/>
                <a:gd name="T13" fmla="*/ 0 h 77"/>
                <a:gd name="T14" fmla="*/ 146 w 146"/>
                <a:gd name="T15" fmla="*/ 77 h 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6" h="77">
                  <a:moveTo>
                    <a:pt x="0" y="0"/>
                  </a:moveTo>
                  <a:cubicBezTo>
                    <a:pt x="20" y="5"/>
                    <a:pt x="39" y="9"/>
                    <a:pt x="56" y="17"/>
                  </a:cubicBezTo>
                  <a:cubicBezTo>
                    <a:pt x="74" y="24"/>
                    <a:pt x="92" y="35"/>
                    <a:pt x="107" y="45"/>
                  </a:cubicBezTo>
                  <a:cubicBezTo>
                    <a:pt x="121" y="55"/>
                    <a:pt x="134" y="66"/>
                    <a:pt x="146" y="77"/>
                  </a:cubicBezTo>
                </a:path>
              </a:pathLst>
            </a:custGeom>
            <a:noFill/>
            <a:ln w="46038" cap="sq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3" name="Oval 103"/>
            <p:cNvSpPr>
              <a:spLocks noChangeArrowheads="1"/>
            </p:cNvSpPr>
            <p:nvPr/>
          </p:nvSpPr>
          <p:spPr bwMode="auto">
            <a:xfrm>
              <a:off x="4769" y="2341"/>
              <a:ext cx="114" cy="114"/>
            </a:xfrm>
            <a:prstGeom prst="ellipse">
              <a:avLst/>
            </a:prstGeom>
            <a:solidFill>
              <a:srgbClr val="FF0000"/>
            </a:solidFill>
            <a:ln w="11113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54" name="Rectangle 104"/>
            <p:cNvSpPr>
              <a:spLocks noChangeArrowheads="1"/>
            </p:cNvSpPr>
            <p:nvPr/>
          </p:nvSpPr>
          <p:spPr bwMode="auto">
            <a:xfrm>
              <a:off x="5189" y="1700"/>
              <a:ext cx="492" cy="3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55" name="Rectangle 105"/>
            <p:cNvSpPr>
              <a:spLocks noChangeArrowheads="1"/>
            </p:cNvSpPr>
            <p:nvPr/>
          </p:nvSpPr>
          <p:spPr bwMode="auto">
            <a:xfrm>
              <a:off x="5331" y="1750"/>
              <a:ext cx="163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候选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56" name="Rectangle 106"/>
            <p:cNvSpPr>
              <a:spLocks noChangeArrowheads="1"/>
            </p:cNvSpPr>
            <p:nvPr/>
          </p:nvSpPr>
          <p:spPr bwMode="auto">
            <a:xfrm>
              <a:off x="5264" y="1885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高像素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57" name="Rectangle 107"/>
            <p:cNvSpPr>
              <a:spLocks noChangeArrowheads="1"/>
            </p:cNvSpPr>
            <p:nvPr/>
          </p:nvSpPr>
          <p:spPr bwMode="auto">
            <a:xfrm>
              <a:off x="5204" y="2540"/>
              <a:ext cx="484" cy="3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58" name="Rectangle 108"/>
            <p:cNvSpPr>
              <a:spLocks noChangeArrowheads="1"/>
            </p:cNvSpPr>
            <p:nvPr/>
          </p:nvSpPr>
          <p:spPr bwMode="auto">
            <a:xfrm>
              <a:off x="5345" y="2589"/>
              <a:ext cx="163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66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候选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59" name="Rectangle 109"/>
            <p:cNvSpPr>
              <a:spLocks noChangeArrowheads="1"/>
            </p:cNvSpPr>
            <p:nvPr/>
          </p:nvSpPr>
          <p:spPr bwMode="auto">
            <a:xfrm>
              <a:off x="5278" y="2725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66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低像素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60" name="Rectangle 110"/>
            <p:cNvSpPr>
              <a:spLocks noChangeArrowheads="1"/>
            </p:cNvSpPr>
            <p:nvPr/>
          </p:nvSpPr>
          <p:spPr bwMode="auto">
            <a:xfrm>
              <a:off x="5204" y="2127"/>
              <a:ext cx="484" cy="3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61" name="Rectangle 111"/>
            <p:cNvSpPr>
              <a:spLocks noChangeArrowheads="1"/>
            </p:cNvSpPr>
            <p:nvPr/>
          </p:nvSpPr>
          <p:spPr bwMode="auto">
            <a:xfrm>
              <a:off x="5278" y="2177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候选像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62" name="Rectangle 112"/>
            <p:cNvSpPr>
              <a:spLocks noChangeArrowheads="1"/>
            </p:cNvSpPr>
            <p:nvPr/>
          </p:nvSpPr>
          <p:spPr bwMode="auto">
            <a:xfrm>
              <a:off x="5278" y="2312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素中点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63" name="Rectangle 113"/>
            <p:cNvSpPr>
              <a:spLocks noChangeArrowheads="1"/>
            </p:cNvSpPr>
            <p:nvPr/>
          </p:nvSpPr>
          <p:spPr bwMode="auto">
            <a:xfrm>
              <a:off x="4179" y="2519"/>
              <a:ext cx="370" cy="3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64" name="Rectangle 114"/>
            <p:cNvSpPr>
              <a:spLocks noChangeArrowheads="1"/>
            </p:cNvSpPr>
            <p:nvPr/>
          </p:nvSpPr>
          <p:spPr bwMode="auto">
            <a:xfrm>
              <a:off x="4256" y="2568"/>
              <a:ext cx="163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前一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65" name="Rectangle 115"/>
            <p:cNvSpPr>
              <a:spLocks noChangeArrowheads="1"/>
            </p:cNvSpPr>
            <p:nvPr/>
          </p:nvSpPr>
          <p:spPr bwMode="auto">
            <a:xfrm>
              <a:off x="4256" y="2703"/>
              <a:ext cx="163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像素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sp>
          <p:nvSpPr>
            <p:cNvPr id="42066" name="Rectangle 116"/>
            <p:cNvSpPr>
              <a:spLocks noChangeArrowheads="1"/>
            </p:cNvSpPr>
            <p:nvPr/>
          </p:nvSpPr>
          <p:spPr bwMode="auto">
            <a:xfrm>
              <a:off x="4406" y="1800"/>
              <a:ext cx="541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6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67" name="Rectangle 117"/>
            <p:cNvSpPr>
              <a:spLocks noChangeArrowheads="1"/>
            </p:cNvSpPr>
            <p:nvPr/>
          </p:nvSpPr>
          <p:spPr bwMode="auto">
            <a:xfrm>
              <a:off x="4502" y="1849"/>
              <a:ext cx="244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90">
                  <a:solidFill>
                    <a:srgbClr val="FF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圆弧段</a:t>
              </a:r>
              <a:endParaRPr kumimoji="1" lang="zh-CN" altLang="en-US" sz="2215">
                <a:ea typeface="宋体" panose="02010600030101010101" pitchFamily="2" charset="-122"/>
              </a:endParaRPr>
            </a:p>
          </p:txBody>
        </p:sp>
        <p:grpSp>
          <p:nvGrpSpPr>
            <p:cNvPr id="42068" name="Group 118"/>
            <p:cNvGrpSpPr/>
            <p:nvPr/>
          </p:nvGrpSpPr>
          <p:grpSpPr bwMode="auto">
            <a:xfrm>
              <a:off x="4855" y="1906"/>
              <a:ext cx="377" cy="335"/>
              <a:chOff x="4855" y="1906"/>
              <a:chExt cx="377" cy="335"/>
            </a:xfrm>
          </p:grpSpPr>
          <p:sp>
            <p:nvSpPr>
              <p:cNvPr id="42081" name="Line 119"/>
              <p:cNvSpPr>
                <a:spLocks noChangeShapeType="1"/>
              </p:cNvSpPr>
              <p:nvPr/>
            </p:nvSpPr>
            <p:spPr bwMode="auto">
              <a:xfrm flipH="1">
                <a:off x="4898" y="1906"/>
                <a:ext cx="334" cy="292"/>
              </a:xfrm>
              <a:prstGeom prst="line">
                <a:avLst/>
              </a:prstGeom>
              <a:noFill/>
              <a:ln w="11113" cap="rnd">
                <a:solidFill>
                  <a:srgbClr val="33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82" name="Freeform 120"/>
              <p:cNvSpPr/>
              <p:nvPr/>
            </p:nvSpPr>
            <p:spPr bwMode="auto">
              <a:xfrm>
                <a:off x="4855" y="2170"/>
                <a:ext cx="78" cy="71"/>
              </a:xfrm>
              <a:custGeom>
                <a:avLst/>
                <a:gdLst>
                  <a:gd name="T0" fmla="*/ 43 w 78"/>
                  <a:gd name="T1" fmla="*/ 0 h 71"/>
                  <a:gd name="T2" fmla="*/ 0 w 78"/>
                  <a:gd name="T3" fmla="*/ 71 h 71"/>
                  <a:gd name="T4" fmla="*/ 78 w 78"/>
                  <a:gd name="T5" fmla="*/ 35 h 71"/>
                  <a:gd name="T6" fmla="*/ 43 w 78"/>
                  <a:gd name="T7" fmla="*/ 0 h 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"/>
                  <a:gd name="T13" fmla="*/ 0 h 71"/>
                  <a:gd name="T14" fmla="*/ 78 w 78"/>
                  <a:gd name="T15" fmla="*/ 71 h 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" h="71">
                    <a:moveTo>
                      <a:pt x="43" y="0"/>
                    </a:moveTo>
                    <a:lnTo>
                      <a:pt x="0" y="71"/>
                    </a:lnTo>
                    <a:lnTo>
                      <a:pt x="78" y="3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069" name="Group 121"/>
            <p:cNvGrpSpPr/>
            <p:nvPr/>
          </p:nvGrpSpPr>
          <p:grpSpPr bwMode="auto">
            <a:xfrm>
              <a:off x="4841" y="2568"/>
              <a:ext cx="420" cy="171"/>
              <a:chOff x="4841" y="2568"/>
              <a:chExt cx="420" cy="171"/>
            </a:xfrm>
          </p:grpSpPr>
          <p:sp>
            <p:nvSpPr>
              <p:cNvPr id="42079" name="Line 122"/>
              <p:cNvSpPr>
                <a:spLocks noChangeShapeType="1"/>
              </p:cNvSpPr>
              <p:nvPr/>
            </p:nvSpPr>
            <p:spPr bwMode="auto">
              <a:xfrm flipH="1" flipV="1">
                <a:off x="4883" y="2590"/>
                <a:ext cx="378" cy="149"/>
              </a:xfrm>
              <a:prstGeom prst="line">
                <a:avLst/>
              </a:prstGeom>
              <a:noFill/>
              <a:ln w="11113" cap="rnd">
                <a:solidFill>
                  <a:srgbClr val="66C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80" name="Freeform 123"/>
              <p:cNvSpPr/>
              <p:nvPr/>
            </p:nvSpPr>
            <p:spPr bwMode="auto">
              <a:xfrm>
                <a:off x="4841" y="2568"/>
                <a:ext cx="71" cy="50"/>
              </a:xfrm>
              <a:custGeom>
                <a:avLst/>
                <a:gdLst>
                  <a:gd name="T0" fmla="*/ 71 w 71"/>
                  <a:gd name="T1" fmla="*/ 8 h 50"/>
                  <a:gd name="T2" fmla="*/ 0 w 71"/>
                  <a:gd name="T3" fmla="*/ 0 h 50"/>
                  <a:gd name="T4" fmla="*/ 57 w 71"/>
                  <a:gd name="T5" fmla="*/ 50 h 50"/>
                  <a:gd name="T6" fmla="*/ 71 w 71"/>
                  <a:gd name="T7" fmla="*/ 8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"/>
                  <a:gd name="T13" fmla="*/ 0 h 50"/>
                  <a:gd name="T14" fmla="*/ 71 w 71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" h="50">
                    <a:moveTo>
                      <a:pt x="71" y="8"/>
                    </a:moveTo>
                    <a:lnTo>
                      <a:pt x="0" y="0"/>
                    </a:lnTo>
                    <a:lnTo>
                      <a:pt x="57" y="50"/>
                    </a:lnTo>
                    <a:lnTo>
                      <a:pt x="71" y="8"/>
                    </a:ln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070" name="Group 124"/>
            <p:cNvGrpSpPr/>
            <p:nvPr/>
          </p:nvGrpSpPr>
          <p:grpSpPr bwMode="auto">
            <a:xfrm>
              <a:off x="4826" y="2291"/>
              <a:ext cx="435" cy="121"/>
              <a:chOff x="4826" y="2291"/>
              <a:chExt cx="435" cy="121"/>
            </a:xfrm>
          </p:grpSpPr>
          <p:sp>
            <p:nvSpPr>
              <p:cNvPr id="42077" name="Line 125"/>
              <p:cNvSpPr>
                <a:spLocks noChangeShapeType="1"/>
              </p:cNvSpPr>
              <p:nvPr/>
            </p:nvSpPr>
            <p:spPr bwMode="auto">
              <a:xfrm flipH="1">
                <a:off x="4876" y="2291"/>
                <a:ext cx="385" cy="92"/>
              </a:xfrm>
              <a:prstGeom prst="line">
                <a:avLst/>
              </a:prstGeom>
              <a:noFill/>
              <a:ln w="11113" cap="rnd">
                <a:solidFill>
                  <a:srgbClr val="FF505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78" name="Freeform 126"/>
              <p:cNvSpPr/>
              <p:nvPr/>
            </p:nvSpPr>
            <p:spPr bwMode="auto">
              <a:xfrm>
                <a:off x="4826" y="2362"/>
                <a:ext cx="72" cy="50"/>
              </a:xfrm>
              <a:custGeom>
                <a:avLst/>
                <a:gdLst>
                  <a:gd name="T0" fmla="*/ 64 w 72"/>
                  <a:gd name="T1" fmla="*/ 0 h 50"/>
                  <a:gd name="T2" fmla="*/ 0 w 72"/>
                  <a:gd name="T3" fmla="*/ 36 h 50"/>
                  <a:gd name="T4" fmla="*/ 72 w 72"/>
                  <a:gd name="T5" fmla="*/ 50 h 50"/>
                  <a:gd name="T6" fmla="*/ 64 w 7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50"/>
                  <a:gd name="T14" fmla="*/ 72 w 7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50">
                    <a:moveTo>
                      <a:pt x="64" y="0"/>
                    </a:moveTo>
                    <a:lnTo>
                      <a:pt x="0" y="36"/>
                    </a:lnTo>
                    <a:lnTo>
                      <a:pt x="72" y="5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F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071" name="Group 127"/>
            <p:cNvGrpSpPr/>
            <p:nvPr/>
          </p:nvGrpSpPr>
          <p:grpSpPr bwMode="auto">
            <a:xfrm>
              <a:off x="4350" y="2269"/>
              <a:ext cx="149" cy="292"/>
              <a:chOff x="4350" y="2269"/>
              <a:chExt cx="149" cy="292"/>
            </a:xfrm>
          </p:grpSpPr>
          <p:sp>
            <p:nvSpPr>
              <p:cNvPr id="42075" name="Line 128"/>
              <p:cNvSpPr>
                <a:spLocks noChangeShapeType="1"/>
              </p:cNvSpPr>
              <p:nvPr/>
            </p:nvSpPr>
            <p:spPr bwMode="auto">
              <a:xfrm flipV="1">
                <a:off x="4350" y="2319"/>
                <a:ext cx="128" cy="242"/>
              </a:xfrm>
              <a:prstGeom prst="line">
                <a:avLst/>
              </a:prstGeom>
              <a:noFill/>
              <a:ln w="11113" cap="rnd">
                <a:solidFill>
                  <a:srgbClr val="33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76" name="Freeform 129"/>
              <p:cNvSpPr/>
              <p:nvPr/>
            </p:nvSpPr>
            <p:spPr bwMode="auto">
              <a:xfrm>
                <a:off x="4442" y="2269"/>
                <a:ext cx="57" cy="79"/>
              </a:xfrm>
              <a:custGeom>
                <a:avLst/>
                <a:gdLst>
                  <a:gd name="T0" fmla="*/ 43 w 57"/>
                  <a:gd name="T1" fmla="*/ 79 h 79"/>
                  <a:gd name="T2" fmla="*/ 57 w 57"/>
                  <a:gd name="T3" fmla="*/ 0 h 79"/>
                  <a:gd name="T4" fmla="*/ 0 w 57"/>
                  <a:gd name="T5" fmla="*/ 57 h 79"/>
                  <a:gd name="T6" fmla="*/ 43 w 57"/>
                  <a:gd name="T7" fmla="*/ 79 h 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"/>
                  <a:gd name="T13" fmla="*/ 0 h 79"/>
                  <a:gd name="T14" fmla="*/ 57 w 57"/>
                  <a:gd name="T15" fmla="*/ 79 h 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" h="79">
                    <a:moveTo>
                      <a:pt x="43" y="79"/>
                    </a:moveTo>
                    <a:lnTo>
                      <a:pt x="57" y="0"/>
                    </a:lnTo>
                    <a:lnTo>
                      <a:pt x="0" y="57"/>
                    </a:lnTo>
                    <a:lnTo>
                      <a:pt x="43" y="79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072" name="Group 130"/>
            <p:cNvGrpSpPr/>
            <p:nvPr/>
          </p:nvGrpSpPr>
          <p:grpSpPr bwMode="auto">
            <a:xfrm>
              <a:off x="4385" y="1963"/>
              <a:ext cx="107" cy="136"/>
              <a:chOff x="4385" y="1963"/>
              <a:chExt cx="107" cy="136"/>
            </a:xfrm>
          </p:grpSpPr>
          <p:sp>
            <p:nvSpPr>
              <p:cNvPr id="42073" name="Line 131"/>
              <p:cNvSpPr>
                <a:spLocks noChangeShapeType="1"/>
              </p:cNvSpPr>
              <p:nvPr/>
            </p:nvSpPr>
            <p:spPr bwMode="auto">
              <a:xfrm flipH="1">
                <a:off x="4414" y="1963"/>
                <a:ext cx="78" cy="93"/>
              </a:xfrm>
              <a:prstGeom prst="line">
                <a:avLst/>
              </a:prstGeom>
              <a:noFill/>
              <a:ln w="11113" cap="rnd">
                <a:solidFill>
                  <a:srgbClr val="FF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74" name="Freeform 132"/>
              <p:cNvSpPr/>
              <p:nvPr/>
            </p:nvSpPr>
            <p:spPr bwMode="auto">
              <a:xfrm>
                <a:off x="4385" y="2027"/>
                <a:ext cx="64" cy="72"/>
              </a:xfrm>
              <a:custGeom>
                <a:avLst/>
                <a:gdLst>
                  <a:gd name="T0" fmla="*/ 36 w 64"/>
                  <a:gd name="T1" fmla="*/ 0 h 72"/>
                  <a:gd name="T2" fmla="*/ 0 w 64"/>
                  <a:gd name="T3" fmla="*/ 72 h 72"/>
                  <a:gd name="T4" fmla="*/ 64 w 64"/>
                  <a:gd name="T5" fmla="*/ 29 h 72"/>
                  <a:gd name="T6" fmla="*/ 36 w 64"/>
                  <a:gd name="T7" fmla="*/ 0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4"/>
                  <a:gd name="T13" fmla="*/ 0 h 72"/>
                  <a:gd name="T14" fmla="*/ 64 w 64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4" h="72">
                    <a:moveTo>
                      <a:pt x="36" y="0"/>
                    </a:moveTo>
                    <a:lnTo>
                      <a:pt x="0" y="72"/>
                    </a:lnTo>
                    <a:lnTo>
                      <a:pt x="64" y="29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2009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57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1E3D7E-D987-4BA7-99E7-20D4F4B48FC7}" type="datetime10">
              <a:rPr lang="zh-CN" altLang="en-US" sz="1290">
                <a:latin typeface="Arial" panose="020B0604020202020204" pitchFamily="34" charset="0"/>
              </a:rPr>
              <a:t>09:04</a:t>
            </a:fld>
            <a:endParaRPr lang="en-US" altLang="zh-CN" sz="129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6553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9B49AB-0B64-4465-85FA-780C7B40C8B9}" type="slidenum">
              <a:rPr lang="zh-CN" altLang="en-US" sz="1290">
                <a:latin typeface="Arial" panose="020B0604020202020204" pitchFamily="34" charset="0"/>
              </a:rPr>
              <a:t>33</a:t>
            </a:fld>
            <a:endParaRPr lang="en-US" altLang="zh-CN" sz="129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  <a:sym typeface="Symbol" panose="05050102010706020507" pitchFamily="18" charset="2"/>
              </a:rPr>
              <a:t>中点画圆法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2" y="1389186"/>
            <a:ext cx="8790843" cy="478301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585">
                <a:ea typeface="宋体" panose="02010600030101010101" pitchFamily="2" charset="-122"/>
              </a:rPr>
              <a:t>构造函数：</a:t>
            </a:r>
            <a:r>
              <a:rPr lang="en-US" altLang="zh-CN" sz="2585">
                <a:ea typeface="宋体" panose="02010600030101010101" pitchFamily="2" charset="-122"/>
              </a:rPr>
              <a:t>F</a:t>
            </a:r>
            <a:r>
              <a:rPr lang="zh-CN" altLang="en-US" sz="2585">
                <a:ea typeface="宋体" panose="02010600030101010101" pitchFamily="2" charset="-122"/>
              </a:rPr>
              <a:t>（</a:t>
            </a:r>
            <a:r>
              <a:rPr lang="en-US" altLang="zh-CN" sz="2585">
                <a:ea typeface="宋体" panose="02010600030101010101" pitchFamily="2" charset="-122"/>
              </a:rPr>
              <a:t>X</a:t>
            </a:r>
            <a:r>
              <a:rPr lang="zh-CN" altLang="en-US" sz="2585">
                <a:ea typeface="宋体" panose="02010600030101010101" pitchFamily="2" charset="-122"/>
              </a:rPr>
              <a:t>，</a:t>
            </a:r>
            <a:r>
              <a:rPr lang="en-US" altLang="zh-CN" sz="2585">
                <a:ea typeface="宋体" panose="02010600030101010101" pitchFamily="2" charset="-122"/>
              </a:rPr>
              <a:t>Y</a:t>
            </a:r>
            <a:r>
              <a:rPr lang="zh-CN" altLang="en-US" sz="2585">
                <a:ea typeface="宋体" panose="02010600030101010101" pitchFamily="2" charset="-122"/>
              </a:rPr>
              <a:t>）</a:t>
            </a:r>
            <a:r>
              <a:rPr lang="en-US" altLang="zh-CN" sz="2585">
                <a:ea typeface="宋体" panose="02010600030101010101" pitchFamily="2" charset="-122"/>
              </a:rPr>
              <a:t>=X</a:t>
            </a:r>
            <a:r>
              <a:rPr lang="en-US" altLang="zh-CN" sz="2585" baseline="64000">
                <a:ea typeface="宋体" panose="02010600030101010101" pitchFamily="2" charset="-122"/>
              </a:rPr>
              <a:t>2</a:t>
            </a:r>
            <a:r>
              <a:rPr lang="en-US" altLang="zh-CN" sz="2585">
                <a:ea typeface="宋体" panose="02010600030101010101" pitchFamily="2" charset="-122"/>
              </a:rPr>
              <a:t>  +  Y</a:t>
            </a:r>
            <a:r>
              <a:rPr lang="en-US" altLang="zh-CN" sz="2585" baseline="64000">
                <a:ea typeface="宋体" panose="02010600030101010101" pitchFamily="2" charset="-122"/>
              </a:rPr>
              <a:t>2</a:t>
            </a:r>
            <a:r>
              <a:rPr lang="en-US" altLang="zh-CN" sz="2585">
                <a:ea typeface="宋体" panose="02010600030101010101" pitchFamily="2" charset="-122"/>
              </a:rPr>
              <a:t> -  R</a:t>
            </a:r>
            <a:r>
              <a:rPr lang="en-US" altLang="zh-CN" sz="2585" baseline="64000">
                <a:ea typeface="宋体" panose="02010600030101010101" pitchFamily="2" charset="-122"/>
              </a:rPr>
              <a:t>2 </a:t>
            </a:r>
            <a:r>
              <a:rPr lang="zh-CN" altLang="en-US" sz="2585">
                <a:ea typeface="宋体" panose="02010600030101010101" pitchFamily="2" charset="-122"/>
              </a:rPr>
              <a:t>；则</a:t>
            </a:r>
          </a:p>
          <a:p>
            <a:pPr eaLnBrk="1" hangingPunct="1">
              <a:buFontTx/>
              <a:buNone/>
            </a:pPr>
            <a:r>
              <a:rPr lang="zh-CN" altLang="en-US" sz="2585">
                <a:ea typeface="宋体" panose="02010600030101010101" pitchFamily="2" charset="-122"/>
              </a:rPr>
              <a:t>             </a:t>
            </a:r>
            <a:r>
              <a:rPr lang="en-US" altLang="zh-CN" sz="2585">
                <a:ea typeface="宋体" panose="02010600030101010101" pitchFamily="2" charset="-122"/>
              </a:rPr>
              <a:t>F</a:t>
            </a:r>
            <a:r>
              <a:rPr lang="zh-CN" altLang="en-US" sz="2585">
                <a:ea typeface="宋体" panose="02010600030101010101" pitchFamily="2" charset="-122"/>
              </a:rPr>
              <a:t>（</a:t>
            </a:r>
            <a:r>
              <a:rPr lang="en-US" altLang="zh-CN" sz="2585">
                <a:ea typeface="宋体" panose="02010600030101010101" pitchFamily="2" charset="-122"/>
              </a:rPr>
              <a:t>X</a:t>
            </a:r>
            <a:r>
              <a:rPr lang="zh-CN" altLang="en-US" sz="2585">
                <a:ea typeface="宋体" panose="02010600030101010101" pitchFamily="2" charset="-122"/>
              </a:rPr>
              <a:t>，</a:t>
            </a:r>
            <a:r>
              <a:rPr lang="en-US" altLang="zh-CN" sz="2585">
                <a:ea typeface="宋体" panose="02010600030101010101" pitchFamily="2" charset="-122"/>
              </a:rPr>
              <a:t>Y</a:t>
            </a:r>
            <a:r>
              <a:rPr lang="zh-CN" altLang="en-US" sz="2585">
                <a:ea typeface="宋体" panose="02010600030101010101" pitchFamily="2" charset="-122"/>
              </a:rPr>
              <a:t>）</a:t>
            </a:r>
            <a:r>
              <a:rPr lang="en-US" altLang="zh-CN" sz="2585">
                <a:ea typeface="宋体" panose="02010600030101010101" pitchFamily="2" charset="-122"/>
              </a:rPr>
              <a:t>=  0  </a:t>
            </a:r>
            <a:r>
              <a:rPr lang="zh-CN" altLang="en-US" sz="2585">
                <a:ea typeface="宋体" panose="02010600030101010101" pitchFamily="2" charset="-122"/>
              </a:rPr>
              <a:t>（</a:t>
            </a:r>
            <a:r>
              <a:rPr lang="en-US" altLang="zh-CN" sz="2585">
                <a:ea typeface="宋体" panose="02010600030101010101" pitchFamily="2" charset="-122"/>
              </a:rPr>
              <a:t>X</a:t>
            </a:r>
            <a:r>
              <a:rPr lang="zh-CN" altLang="en-US" sz="2585">
                <a:ea typeface="宋体" panose="02010600030101010101" pitchFamily="2" charset="-122"/>
              </a:rPr>
              <a:t>，</a:t>
            </a:r>
            <a:r>
              <a:rPr lang="en-US" altLang="zh-CN" sz="2585">
                <a:ea typeface="宋体" panose="02010600030101010101" pitchFamily="2" charset="-122"/>
              </a:rPr>
              <a:t>Y</a:t>
            </a:r>
            <a:r>
              <a:rPr lang="zh-CN" altLang="en-US" sz="2585">
                <a:ea typeface="宋体" panose="02010600030101010101" pitchFamily="2" charset="-122"/>
              </a:rPr>
              <a:t>）在圆上；</a:t>
            </a:r>
          </a:p>
          <a:p>
            <a:pPr eaLnBrk="1" hangingPunct="1">
              <a:buFontTx/>
              <a:buNone/>
            </a:pPr>
            <a:r>
              <a:rPr lang="zh-CN" altLang="en-US" sz="2585">
                <a:ea typeface="宋体" panose="02010600030101010101" pitchFamily="2" charset="-122"/>
              </a:rPr>
              <a:t>             </a:t>
            </a:r>
            <a:r>
              <a:rPr lang="en-US" altLang="zh-CN" sz="2585">
                <a:ea typeface="宋体" panose="02010600030101010101" pitchFamily="2" charset="-122"/>
              </a:rPr>
              <a:t>F</a:t>
            </a:r>
            <a:r>
              <a:rPr lang="zh-CN" altLang="en-US" sz="2585">
                <a:ea typeface="宋体" panose="02010600030101010101" pitchFamily="2" charset="-122"/>
              </a:rPr>
              <a:t>（</a:t>
            </a:r>
            <a:r>
              <a:rPr lang="en-US" altLang="zh-CN" sz="2585">
                <a:ea typeface="宋体" panose="02010600030101010101" pitchFamily="2" charset="-122"/>
              </a:rPr>
              <a:t>X</a:t>
            </a:r>
            <a:r>
              <a:rPr lang="zh-CN" altLang="en-US" sz="2585">
                <a:ea typeface="宋体" panose="02010600030101010101" pitchFamily="2" charset="-122"/>
              </a:rPr>
              <a:t>，</a:t>
            </a:r>
            <a:r>
              <a:rPr lang="en-US" altLang="zh-CN" sz="2585">
                <a:ea typeface="宋体" panose="02010600030101010101" pitchFamily="2" charset="-122"/>
              </a:rPr>
              <a:t>Y</a:t>
            </a:r>
            <a:r>
              <a:rPr lang="zh-CN" altLang="en-US" sz="2585">
                <a:ea typeface="宋体" panose="02010600030101010101" pitchFamily="2" charset="-122"/>
              </a:rPr>
              <a:t>）</a:t>
            </a:r>
            <a:r>
              <a:rPr lang="en-US" altLang="zh-CN" sz="2585">
                <a:ea typeface="宋体" panose="02010600030101010101" pitchFamily="2" charset="-122"/>
              </a:rPr>
              <a:t>&lt; 0  </a:t>
            </a:r>
            <a:r>
              <a:rPr lang="zh-CN" altLang="en-US" sz="2585">
                <a:ea typeface="宋体" panose="02010600030101010101" pitchFamily="2" charset="-122"/>
              </a:rPr>
              <a:t>（</a:t>
            </a:r>
            <a:r>
              <a:rPr lang="en-US" altLang="zh-CN" sz="2585">
                <a:ea typeface="宋体" panose="02010600030101010101" pitchFamily="2" charset="-122"/>
              </a:rPr>
              <a:t>X</a:t>
            </a:r>
            <a:r>
              <a:rPr lang="zh-CN" altLang="en-US" sz="2585">
                <a:ea typeface="宋体" panose="02010600030101010101" pitchFamily="2" charset="-122"/>
              </a:rPr>
              <a:t>，</a:t>
            </a:r>
            <a:r>
              <a:rPr lang="en-US" altLang="zh-CN" sz="2585">
                <a:ea typeface="宋体" panose="02010600030101010101" pitchFamily="2" charset="-122"/>
              </a:rPr>
              <a:t>Y</a:t>
            </a:r>
            <a:r>
              <a:rPr lang="zh-CN" altLang="en-US" sz="2585">
                <a:ea typeface="宋体" panose="02010600030101010101" pitchFamily="2" charset="-122"/>
              </a:rPr>
              <a:t>）在圆内；</a:t>
            </a:r>
          </a:p>
          <a:p>
            <a:pPr eaLnBrk="1" hangingPunct="1">
              <a:buFontTx/>
              <a:buNone/>
            </a:pPr>
            <a:r>
              <a:rPr lang="zh-CN" altLang="en-US" sz="2585">
                <a:ea typeface="宋体" panose="02010600030101010101" pitchFamily="2" charset="-122"/>
              </a:rPr>
              <a:t>             </a:t>
            </a:r>
            <a:r>
              <a:rPr lang="en-US" altLang="zh-CN" sz="2585">
                <a:ea typeface="宋体" panose="02010600030101010101" pitchFamily="2" charset="-122"/>
              </a:rPr>
              <a:t>F</a:t>
            </a:r>
            <a:r>
              <a:rPr lang="zh-CN" altLang="en-US" sz="2585">
                <a:ea typeface="宋体" panose="02010600030101010101" pitchFamily="2" charset="-122"/>
              </a:rPr>
              <a:t>（</a:t>
            </a:r>
            <a:r>
              <a:rPr lang="en-US" altLang="zh-CN" sz="2585">
                <a:ea typeface="宋体" panose="02010600030101010101" pitchFamily="2" charset="-122"/>
              </a:rPr>
              <a:t>X</a:t>
            </a:r>
            <a:r>
              <a:rPr lang="zh-CN" altLang="en-US" sz="2585">
                <a:ea typeface="宋体" panose="02010600030101010101" pitchFamily="2" charset="-122"/>
              </a:rPr>
              <a:t>，</a:t>
            </a:r>
            <a:r>
              <a:rPr lang="en-US" altLang="zh-CN" sz="2585">
                <a:ea typeface="宋体" panose="02010600030101010101" pitchFamily="2" charset="-122"/>
              </a:rPr>
              <a:t>Y</a:t>
            </a:r>
            <a:r>
              <a:rPr lang="zh-CN" altLang="en-US" sz="2585">
                <a:ea typeface="宋体" panose="02010600030101010101" pitchFamily="2" charset="-122"/>
              </a:rPr>
              <a:t>）</a:t>
            </a:r>
            <a:r>
              <a:rPr lang="en-US" altLang="zh-CN" sz="2585">
                <a:ea typeface="宋体" panose="02010600030101010101" pitchFamily="2" charset="-122"/>
              </a:rPr>
              <a:t>&gt; 0  </a:t>
            </a:r>
            <a:r>
              <a:rPr lang="zh-CN" altLang="en-US" sz="2585">
                <a:ea typeface="宋体" panose="02010600030101010101" pitchFamily="2" charset="-122"/>
              </a:rPr>
              <a:t>（</a:t>
            </a:r>
            <a:r>
              <a:rPr lang="en-US" altLang="zh-CN" sz="2585">
                <a:ea typeface="宋体" panose="02010600030101010101" pitchFamily="2" charset="-122"/>
              </a:rPr>
              <a:t>X</a:t>
            </a:r>
            <a:r>
              <a:rPr lang="zh-CN" altLang="en-US" sz="2585">
                <a:ea typeface="宋体" panose="02010600030101010101" pitchFamily="2" charset="-122"/>
              </a:rPr>
              <a:t>，</a:t>
            </a:r>
            <a:r>
              <a:rPr lang="en-US" altLang="zh-CN" sz="2585">
                <a:ea typeface="宋体" panose="02010600030101010101" pitchFamily="2" charset="-122"/>
              </a:rPr>
              <a:t>Y</a:t>
            </a:r>
            <a:r>
              <a:rPr lang="zh-CN" altLang="en-US" sz="2585">
                <a:ea typeface="宋体" panose="02010600030101010101" pitchFamily="2" charset="-122"/>
              </a:rPr>
              <a:t>）在圆外。</a:t>
            </a:r>
          </a:p>
          <a:p>
            <a:pPr eaLnBrk="1" hangingPunct="1">
              <a:buFontTx/>
              <a:buNone/>
            </a:pPr>
            <a:r>
              <a:rPr lang="zh-CN" altLang="en-US" sz="2585">
                <a:ea typeface="宋体" panose="02010600030101010101" pitchFamily="2" charset="-122"/>
              </a:rPr>
              <a:t>设</a:t>
            </a:r>
            <a:r>
              <a:rPr lang="en-US" altLang="zh-CN" sz="2585">
                <a:ea typeface="宋体" panose="02010600030101010101" pitchFamily="2" charset="-122"/>
              </a:rPr>
              <a:t>M</a:t>
            </a:r>
            <a:r>
              <a:rPr lang="zh-CN" altLang="en-US" sz="2585">
                <a:ea typeface="宋体" panose="02010600030101010101" pitchFamily="2" charset="-122"/>
              </a:rPr>
              <a:t>为</a:t>
            </a:r>
            <a:r>
              <a:rPr lang="en-US" altLang="zh-CN" sz="2585">
                <a:ea typeface="宋体" panose="02010600030101010101" pitchFamily="2" charset="-122"/>
              </a:rPr>
              <a:t>P1</a:t>
            </a:r>
            <a:r>
              <a:rPr lang="zh-CN" altLang="en-US" sz="2585">
                <a:ea typeface="宋体" panose="02010600030101010101" pitchFamily="2" charset="-122"/>
              </a:rPr>
              <a:t>、</a:t>
            </a:r>
            <a:r>
              <a:rPr lang="en-US" altLang="zh-CN" sz="2585">
                <a:ea typeface="宋体" panose="02010600030101010101" pitchFamily="2" charset="-122"/>
              </a:rPr>
              <a:t>P2</a:t>
            </a:r>
            <a:r>
              <a:rPr lang="zh-CN" altLang="en-US" sz="2585">
                <a:ea typeface="宋体" panose="02010600030101010101" pitchFamily="2" charset="-122"/>
              </a:rPr>
              <a:t>间的中点，</a:t>
            </a:r>
            <a:r>
              <a:rPr lang="en-US" altLang="zh-CN" sz="2585">
                <a:ea typeface="宋体" panose="02010600030101010101" pitchFamily="2" charset="-122"/>
              </a:rPr>
              <a:t>M=(Xp+1,Yp-0.5)</a:t>
            </a:r>
          </a:p>
          <a:p>
            <a:pPr eaLnBrk="1" hangingPunct="1"/>
            <a:endParaRPr lang="zh-CN" altLang="en-US" sz="2585">
              <a:ea typeface="宋体" panose="02010600030101010101" pitchFamily="2" charset="-122"/>
            </a:endParaRPr>
          </a:p>
        </p:txBody>
      </p:sp>
      <p:sp>
        <p:nvSpPr>
          <p:cNvPr id="43013" name="Line 4"/>
          <p:cNvSpPr>
            <a:spLocks noChangeShapeType="1"/>
          </p:cNvSpPr>
          <p:nvPr/>
        </p:nvSpPr>
        <p:spPr bwMode="auto">
          <a:xfrm>
            <a:off x="249115" y="43434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4" name="Line 5"/>
          <p:cNvSpPr>
            <a:spLocks noChangeShapeType="1"/>
          </p:cNvSpPr>
          <p:nvPr/>
        </p:nvSpPr>
        <p:spPr bwMode="auto">
          <a:xfrm>
            <a:off x="249115" y="5117123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5" name="Line 6"/>
          <p:cNvSpPr>
            <a:spLocks noChangeShapeType="1"/>
          </p:cNvSpPr>
          <p:nvPr/>
        </p:nvSpPr>
        <p:spPr bwMode="auto">
          <a:xfrm>
            <a:off x="325315" y="5961185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6" name="Line 7"/>
          <p:cNvSpPr>
            <a:spLocks noChangeShapeType="1"/>
          </p:cNvSpPr>
          <p:nvPr/>
        </p:nvSpPr>
        <p:spPr bwMode="auto">
          <a:xfrm>
            <a:off x="858715" y="4062046"/>
            <a:ext cx="0" cy="23211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7" name="Line 8"/>
          <p:cNvSpPr>
            <a:spLocks noChangeShapeType="1"/>
          </p:cNvSpPr>
          <p:nvPr/>
        </p:nvSpPr>
        <p:spPr bwMode="auto">
          <a:xfrm>
            <a:off x="1925515" y="4062046"/>
            <a:ext cx="0" cy="23915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8" name="Line 9"/>
          <p:cNvSpPr>
            <a:spLocks noChangeShapeType="1"/>
          </p:cNvSpPr>
          <p:nvPr/>
        </p:nvSpPr>
        <p:spPr bwMode="auto">
          <a:xfrm>
            <a:off x="3068515" y="3991708"/>
            <a:ext cx="0" cy="23915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9" name="Arc 10"/>
          <p:cNvSpPr/>
          <p:nvPr/>
        </p:nvSpPr>
        <p:spPr bwMode="auto">
          <a:xfrm>
            <a:off x="706315" y="4413739"/>
            <a:ext cx="3048000" cy="126609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0" name="Line 11"/>
          <p:cNvSpPr>
            <a:spLocks noChangeShapeType="1"/>
          </p:cNvSpPr>
          <p:nvPr/>
        </p:nvSpPr>
        <p:spPr bwMode="auto">
          <a:xfrm flipH="1" flipV="1">
            <a:off x="1849315" y="4765431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1" name="Line 12"/>
          <p:cNvSpPr>
            <a:spLocks noChangeShapeType="1"/>
          </p:cNvSpPr>
          <p:nvPr/>
        </p:nvSpPr>
        <p:spPr bwMode="auto">
          <a:xfrm flipH="1" flipV="1">
            <a:off x="2992315" y="4765431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2" name="Rectangle 13"/>
          <p:cNvSpPr>
            <a:spLocks noChangeArrowheads="1"/>
          </p:cNvSpPr>
          <p:nvPr/>
        </p:nvSpPr>
        <p:spPr bwMode="auto">
          <a:xfrm>
            <a:off x="1849315" y="4273062"/>
            <a:ext cx="152400" cy="1406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3" name="Rectangle 14"/>
          <p:cNvSpPr>
            <a:spLocks noChangeArrowheads="1"/>
          </p:cNvSpPr>
          <p:nvPr/>
        </p:nvSpPr>
        <p:spPr bwMode="auto">
          <a:xfrm>
            <a:off x="2992315" y="4273062"/>
            <a:ext cx="152400" cy="1406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4" name="Rectangle 15"/>
          <p:cNvSpPr>
            <a:spLocks noChangeArrowheads="1"/>
          </p:cNvSpPr>
          <p:nvPr/>
        </p:nvSpPr>
        <p:spPr bwMode="auto">
          <a:xfrm>
            <a:off x="2992315" y="5046786"/>
            <a:ext cx="152400" cy="1406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5" name="Rectangle 16"/>
          <p:cNvSpPr>
            <a:spLocks noChangeArrowheads="1"/>
          </p:cNvSpPr>
          <p:nvPr/>
        </p:nvSpPr>
        <p:spPr bwMode="auto">
          <a:xfrm>
            <a:off x="1849315" y="5046786"/>
            <a:ext cx="152400" cy="1406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6" name="Rectangle 17"/>
          <p:cNvSpPr>
            <a:spLocks noChangeArrowheads="1"/>
          </p:cNvSpPr>
          <p:nvPr/>
        </p:nvSpPr>
        <p:spPr bwMode="auto">
          <a:xfrm>
            <a:off x="782515" y="4273062"/>
            <a:ext cx="152400" cy="1406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7" name="Text Box 18"/>
          <p:cNvSpPr txBox="1">
            <a:spLocks noChangeArrowheads="1"/>
          </p:cNvSpPr>
          <p:nvPr/>
        </p:nvSpPr>
        <p:spPr bwMode="auto">
          <a:xfrm>
            <a:off x="1909397" y="4522180"/>
            <a:ext cx="437940" cy="43319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215"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43028" name="Text Box 19"/>
          <p:cNvSpPr txBox="1">
            <a:spLocks noChangeArrowheads="1"/>
          </p:cNvSpPr>
          <p:nvPr/>
        </p:nvSpPr>
        <p:spPr bwMode="auto">
          <a:xfrm>
            <a:off x="1985598" y="3748457"/>
            <a:ext cx="486030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215">
                <a:ea typeface="宋体" panose="02010600030101010101" pitchFamily="2" charset="-122"/>
              </a:rPr>
              <a:t>P1</a:t>
            </a:r>
          </a:p>
        </p:txBody>
      </p:sp>
      <p:sp>
        <p:nvSpPr>
          <p:cNvPr id="43029" name="Text Box 20"/>
          <p:cNvSpPr txBox="1">
            <a:spLocks noChangeArrowheads="1"/>
          </p:cNvSpPr>
          <p:nvPr/>
        </p:nvSpPr>
        <p:spPr bwMode="auto">
          <a:xfrm>
            <a:off x="1925515" y="5046788"/>
            <a:ext cx="486030" cy="43319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215">
                <a:ea typeface="宋体" panose="02010600030101010101" pitchFamily="2" charset="-122"/>
              </a:rPr>
              <a:t>P2</a:t>
            </a:r>
          </a:p>
        </p:txBody>
      </p:sp>
      <p:graphicFrame>
        <p:nvGraphicFramePr>
          <p:cNvPr id="220181" name="Object 21"/>
          <p:cNvGraphicFramePr>
            <a:graphicFrameLocks noGrp="1" noChangeAspect="1"/>
          </p:cNvGraphicFramePr>
          <p:nvPr>
            <p:ph sz="half" idx="2"/>
          </p:nvPr>
        </p:nvGraphicFramePr>
        <p:xfrm>
          <a:off x="4258411" y="3993177"/>
          <a:ext cx="4775689" cy="2212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7" name="图片" r:id="rId4" imgW="5175250" imgH="2395855" progId="Word.Picture.8">
                  <p:embed/>
                </p:oleObj>
              </mc:Choice>
              <mc:Fallback>
                <p:oleObj name="图片" r:id="rId4" imgW="5175250" imgH="2395855" progId="Word.Picture.8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8411" y="3993177"/>
                        <a:ext cx="4775689" cy="2212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1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57200" y="6227888"/>
            <a:ext cx="2133600" cy="29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55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63525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5370" indent="-21082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77010" indent="-210820">
              <a:spcBef>
                <a:spcPct val="20000"/>
              </a:spcBef>
              <a:buChar char="–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99285" indent="-210820">
              <a:spcBef>
                <a:spcPct val="20000"/>
              </a:spcBef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2092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547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87115" indent="-21082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5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6B85B7-80B6-43D5-B81F-2F04D8479A63}" type="datetime10">
              <a:rPr lang="zh-CN" altLang="en-US" sz="1290">
                <a:latin typeface="Arial" panose="020B0604020202020204" pitchFamily="34" charset="0"/>
              </a:rPr>
              <a:t>09:04</a:t>
            </a:fld>
            <a:endParaRPr lang="en-US" altLang="zh-CN" sz="129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基本图元光栅化总结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直接法、数值微分法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直接利用数学方程计算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中点线算法、</a:t>
            </a:r>
            <a:r>
              <a:rPr lang="en-US" altLang="zh-CN" dirty="0" err="1">
                <a:ea typeface="宋体" panose="02010600030101010101" pitchFamily="2" charset="-122"/>
              </a:rPr>
              <a:t>Bresenham</a:t>
            </a:r>
            <a:r>
              <a:rPr lang="zh-CN" altLang="en-US" dirty="0">
                <a:ea typeface="宋体" panose="02010600030101010101" pitchFamily="2" charset="-122"/>
              </a:rPr>
              <a:t>算法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利用光栅网格特点计算。将距离或上下（内外）转换成求表达式的正负号，再通过递推，将表达式的运算简化为加减运算。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08" y="3859123"/>
            <a:ext cx="4124193" cy="2664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312550" y="3744036"/>
          <a:ext cx="3679053" cy="277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1" name="Visio" r:id="rId5" imgW="2537460" imgH="1919605" progId="Visio.Drawing.11">
                  <p:embed/>
                </p:oleObj>
              </mc:Choice>
              <mc:Fallback>
                <p:oleObj name="Visio" r:id="rId5" imgW="2537460" imgH="191960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2550" y="3744036"/>
                        <a:ext cx="3679053" cy="2779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I5ZWRjMmFlNjYxNmNkMGYwMDIwMTE5MDU5ZWI1MDAifQ==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great-wall</Template>
  <TotalTime>95</TotalTime>
  <Pages>8</Pages>
  <Words>2507</Words>
  <Application>Microsoft Office PowerPoint</Application>
  <PresentationFormat>全屏显示(4:3)</PresentationFormat>
  <Paragraphs>326</Paragraphs>
  <Slides>34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黑体</vt:lpstr>
      <vt:lpstr>宋体</vt:lpstr>
      <vt:lpstr>微软雅黑</vt:lpstr>
      <vt:lpstr>Arial</vt:lpstr>
      <vt:lpstr>Symbol</vt:lpstr>
      <vt:lpstr>Times New Roman</vt:lpstr>
      <vt:lpstr>Wingdings</vt:lpstr>
      <vt:lpstr>Default Design</vt:lpstr>
      <vt:lpstr>Image</vt:lpstr>
      <vt:lpstr>Visio</vt:lpstr>
      <vt:lpstr>Equation</vt:lpstr>
      <vt:lpstr>图片</vt:lpstr>
      <vt:lpstr>VISIO</vt:lpstr>
      <vt:lpstr>基本图元光栅化</vt:lpstr>
      <vt:lpstr>图形系统回顾</vt:lpstr>
      <vt:lpstr>图形系统回顾</vt:lpstr>
      <vt:lpstr>图形流水线</vt:lpstr>
      <vt:lpstr>问题提出</vt:lpstr>
      <vt:lpstr>问题提出</vt:lpstr>
      <vt:lpstr>PowerPoint 演示文稿</vt:lpstr>
      <vt:lpstr>基本图元光栅化</vt:lpstr>
      <vt:lpstr>直线光栅化</vt:lpstr>
      <vt:lpstr>问题定义</vt:lpstr>
      <vt:lpstr>Requirements 约束</vt:lpstr>
      <vt:lpstr>Simple Method 直接法</vt:lpstr>
      <vt:lpstr>Simple Method 直接法</vt:lpstr>
      <vt:lpstr>Simple Method 直接法</vt:lpstr>
      <vt:lpstr>数值微分法DDA Method</vt:lpstr>
      <vt:lpstr>DDA Method</vt:lpstr>
      <vt:lpstr>Review 问题再思考</vt:lpstr>
      <vt:lpstr>Review问题再思考</vt:lpstr>
      <vt:lpstr>中点线算法Midpoint Algorithm</vt:lpstr>
      <vt:lpstr>Midpoint Algorithm</vt:lpstr>
      <vt:lpstr>Bresenham's Algorithm</vt:lpstr>
      <vt:lpstr>回到Midpoint Algorithm</vt:lpstr>
      <vt:lpstr>Review 重新审视</vt:lpstr>
      <vt:lpstr>Midpoint Algorithm</vt:lpstr>
      <vt:lpstr>Midpoint Algorithm</vt:lpstr>
      <vt:lpstr>思考</vt:lpstr>
      <vt:lpstr>中点线算法思考</vt:lpstr>
      <vt:lpstr>Circle圆弧光栅化</vt:lpstr>
      <vt:lpstr>Circle Rasterization</vt:lpstr>
      <vt:lpstr>圆弧扫描算法Naive method</vt:lpstr>
      <vt:lpstr>角度DDA法</vt:lpstr>
      <vt:lpstr>中点画圆法</vt:lpstr>
      <vt:lpstr>中点画圆法</vt:lpstr>
      <vt:lpstr>基本图元光栅化总结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Vectors</dc:title>
  <dc:creator/>
  <cp:lastModifiedBy>pcm</cp:lastModifiedBy>
  <cp:revision>327</cp:revision>
  <cp:lastPrinted>2010-04-30T08:12:00Z</cp:lastPrinted>
  <dcterms:created xsi:type="dcterms:W3CDTF">1996-10-25T10:30:00Z</dcterms:created>
  <dcterms:modified xsi:type="dcterms:W3CDTF">2024-10-14T01:48:49Z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3780DBC63D6046A5B67E2AE49FE03A2F_12</vt:lpwstr>
  </property>
  <property fmtid="{D5CDD505-2E9C-101B-9397-08002B2CF9AE}" pid="3" name="KSOProductBuildVer">
    <vt:lpwstr>2052-12.1.0.16417</vt:lpwstr>
  </property>
</Properties>
</file>