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17" r:id="rId2"/>
    <p:sldId id="796" r:id="rId3"/>
    <p:sldId id="797" r:id="rId4"/>
    <p:sldId id="800" r:id="rId5"/>
    <p:sldId id="801" r:id="rId6"/>
    <p:sldId id="802" r:id="rId7"/>
    <p:sldId id="803" r:id="rId8"/>
    <p:sldId id="804" r:id="rId9"/>
    <p:sldId id="806" r:id="rId10"/>
    <p:sldId id="807" r:id="rId11"/>
    <p:sldId id="808" r:id="rId12"/>
    <p:sldId id="809" r:id="rId13"/>
    <p:sldId id="861" r:id="rId14"/>
    <p:sldId id="862" r:id="rId15"/>
    <p:sldId id="863" r:id="rId16"/>
    <p:sldId id="864" r:id="rId17"/>
    <p:sldId id="865" r:id="rId18"/>
    <p:sldId id="866" r:id="rId19"/>
    <p:sldId id="810" r:id="rId20"/>
    <p:sldId id="811" r:id="rId21"/>
    <p:sldId id="813" r:id="rId22"/>
    <p:sldId id="812" r:id="rId23"/>
    <p:sldId id="814" r:id="rId24"/>
    <p:sldId id="815" r:id="rId25"/>
    <p:sldId id="867" r:id="rId26"/>
    <p:sldId id="868" r:id="rId27"/>
    <p:sldId id="869" r:id="rId28"/>
    <p:sldId id="871" r:id="rId29"/>
    <p:sldId id="870" r:id="rId30"/>
    <p:sldId id="878" r:id="rId31"/>
    <p:sldId id="879" r:id="rId32"/>
    <p:sldId id="880" r:id="rId33"/>
    <p:sldId id="822" r:id="rId34"/>
    <p:sldId id="823" r:id="rId35"/>
    <p:sldId id="824" r:id="rId36"/>
    <p:sldId id="886" r:id="rId37"/>
    <p:sldId id="887" r:id="rId38"/>
    <p:sldId id="889" r:id="rId39"/>
    <p:sldId id="894" r:id="rId40"/>
    <p:sldId id="899" r:id="rId41"/>
    <p:sldId id="832" r:id="rId42"/>
    <p:sldId id="833" r:id="rId43"/>
    <p:sldId id="834" r:id="rId44"/>
    <p:sldId id="903" r:id="rId45"/>
    <p:sldId id="900" r:id="rId46"/>
    <p:sldId id="838" r:id="rId47"/>
    <p:sldId id="839" r:id="rId48"/>
    <p:sldId id="908" r:id="rId49"/>
    <p:sldId id="845" r:id="rId50"/>
    <p:sldId id="846" r:id="rId51"/>
    <p:sldId id="847" r:id="rId52"/>
  </p:sldIdLst>
  <p:sldSz cx="9144000" cy="5143500" type="screen16x9"/>
  <p:notesSz cx="6858000" cy="9144000"/>
  <p:custDataLst>
    <p:tags r:id="rId5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6">
          <p15:clr>
            <a:srgbClr val="A4A3A4"/>
          </p15:clr>
        </p15:guide>
        <p15:guide id="2" pos="21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92DB"/>
    <a:srgbClr val="FF3300"/>
    <a:srgbClr val="FAFAFA"/>
    <a:srgbClr val="005DA2"/>
    <a:srgbClr val="990033"/>
    <a:srgbClr val="F79600"/>
    <a:srgbClr val="74C4FF"/>
    <a:srgbClr val="FF5050"/>
    <a:srgbClr val="0F1836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 autoAdjust="0"/>
    <p:restoredTop sz="75793" autoAdjust="0"/>
  </p:normalViewPr>
  <p:slideViewPr>
    <p:cSldViewPr showGuides="1">
      <p:cViewPr varScale="1">
        <p:scale>
          <a:sx n="114" d="100"/>
          <a:sy n="114" d="100"/>
        </p:scale>
        <p:origin x="1416" y="84"/>
      </p:cViewPr>
      <p:guideLst>
        <p:guide orient="horz" pos="1606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56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0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4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5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82.wmf"/><Relationship Id="rId1" Type="http://schemas.openxmlformats.org/officeDocument/2006/relationships/image" Target="../media/image81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image" Target="../media/image10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13.wmf"/><Relationship Id="rId1" Type="http://schemas.openxmlformats.org/officeDocument/2006/relationships/image" Target="../media/image112.e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09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DC7532-99AB-4A27-9239-36B5FA277B57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D65621B-A3DC-4A6D-8063-788C595E78A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D6AB8A1-C497-46E0-BA7F-C7E292B60FC3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DA0C6DC-2F4C-4491-A9F9-E3F8AD06530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uxueji.com/w/48602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shuxueji.com/w/4414" TargetMode="External"/><Relationship Id="rId5" Type="http://schemas.openxmlformats.org/officeDocument/2006/relationships/hyperlink" Target="http://www.shuxueji.com/w/82779" TargetMode="External"/><Relationship Id="rId4" Type="http://schemas.openxmlformats.org/officeDocument/2006/relationships/hyperlink" Target="http://www.shuxueji.com/w/48311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F9FE4A-F1B9-42B6-95D0-1A8AD6D3A18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Spline</a:t>
            </a:r>
            <a:r>
              <a:rPr lang="zh-CN" altLang="en-US" dirty="0"/>
              <a:t>样条线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12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06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092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924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20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706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400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11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338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175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283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394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41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67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二次多项式只有一个灵活的：最大值</a:t>
            </a:r>
            <a:r>
              <a:rPr lang="en-US" altLang="zh-CN" dirty="0"/>
              <a:t>/</a:t>
            </a:r>
            <a:r>
              <a:rPr lang="zh-CN" altLang="en-US" dirty="0"/>
              <a:t>最小值点</a:t>
            </a:r>
            <a:endParaRPr lang="en-US" altLang="zh-CN" dirty="0"/>
          </a:p>
          <a:p>
            <a:pPr fontAlgn="base"/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多项式"/>
              </a:rPr>
              <a:t>多项式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若满足任一个性质，即称为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稳定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fontAlgn="base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所有的根都在左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半空间"/>
              </a:rPr>
              <a:t>半平面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开集"/>
              </a:rPr>
              <a:t>开集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内。</a:t>
            </a:r>
          </a:p>
          <a:p>
            <a:pPr fontAlgn="base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所有的根都在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单位圆盘"/>
              </a:rPr>
              <a:t>单位圆盘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开集"/>
              </a:rPr>
              <a:t>开集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内。</a:t>
            </a:r>
          </a:p>
          <a:p>
            <a:endParaRPr lang="en-US" altLang="zh-CN" dirty="0"/>
          </a:p>
          <a:p>
            <a:r>
              <a:rPr lang="zh-CN" altLang="en-US" dirty="0"/>
              <a:t>图中的两条曲线都是</a:t>
            </a:r>
            <a:r>
              <a:rPr lang="zh-CN" altLang="en-US"/>
              <a:t>三次曲线，只有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83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9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699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30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H=</a:t>
            </a:r>
            <a:r>
              <a:rPr lang="en-US" altLang="zh-CN" dirty="0" err="1"/>
              <a:t>TxM</a:t>
            </a:r>
            <a:r>
              <a:rPr lang="zh-CN" altLang="en-US" dirty="0"/>
              <a:t>而不是带入点坐标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517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13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976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贝塞尔曲线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2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2291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902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2928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BEB=</a:t>
            </a:r>
            <a:r>
              <a:rPr lang="en-US" altLang="zh-CN" dirty="0" err="1"/>
              <a:t>TxM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240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控制多边形</a:t>
            </a:r>
            <a:r>
              <a:rPr lang="en-US" altLang="zh-CN" dirty="0"/>
              <a:t>=</a:t>
            </a:r>
            <a:r>
              <a:rPr lang="zh-CN" altLang="en-US" dirty="0"/>
              <a:t>将控制点连接成折线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9483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7804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7928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090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9124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4063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67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3 0</a:t>
            </a:r>
          </a:p>
          <a:p>
            <a:r>
              <a:rPr lang="en-US" altLang="zh-CN" dirty="0"/>
              <a:t>0 0</a:t>
            </a: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671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dirty="0"/>
              <a:t>B0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的有一部分和坐标轴重合了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3122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9461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6094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932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8724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0373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由两条线段分别作为“线动成面”的起点和终点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817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4265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9129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5439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5266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745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759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8534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2935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95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DC173-665B-4A26-91FC-4A9F67B20565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23A92-3574-469A-9CC7-E6DE8C54450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 userDrawn="1"/>
        </p:nvCxnSpPr>
        <p:spPr>
          <a:xfrm>
            <a:off x="755650" y="625475"/>
            <a:ext cx="7848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7"/>
          <p:cNvGrpSpPr/>
          <p:nvPr userDrawn="1"/>
        </p:nvGrpSpPr>
        <p:grpSpPr bwMode="auto">
          <a:xfrm>
            <a:off x="323850" y="293688"/>
            <a:ext cx="390525" cy="204787"/>
            <a:chOff x="0" y="0"/>
            <a:chExt cx="1041399" cy="549275"/>
          </a:xfrm>
        </p:grpSpPr>
        <p:sp>
          <p:nvSpPr>
            <p:cNvPr id="4" name="Freeform 16"/>
            <p:cNvSpPr/>
            <p:nvPr/>
          </p:nvSpPr>
          <p:spPr bwMode="auto">
            <a:xfrm>
              <a:off x="0" y="0"/>
              <a:ext cx="364066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338666" y="0"/>
              <a:ext cx="359834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681567" y="0"/>
              <a:ext cx="35983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7" name="TextBox 15"/>
          <p:cNvSpPr txBox="1"/>
          <p:nvPr userDrawn="1"/>
        </p:nvSpPr>
        <p:spPr>
          <a:xfrm>
            <a:off x="8101013" y="241300"/>
            <a:ext cx="671512" cy="3667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9D11F-E716-44B8-8FA2-B23B49EABBA6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D5A9B-347D-4579-B22F-8DCBB002A6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38B1D-1BC3-426A-A310-4624521F40EF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E634B-DC27-4ACA-834C-DF698BE00B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A3881-ADD1-4450-8C90-00F07505A66E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3073-AF49-4419-8D5E-CEEE6BB1507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4DD16-33DD-47FC-893D-DF51A2EDB843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4AD5F-69AD-4271-9648-DA70AC05B56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3A42-19F0-40F1-A6DD-6B142903B286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89407-44AC-418D-B556-BE41A0BAAF9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C214F-32FD-440C-B92C-F006DA56BA3E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81203-2A17-4E80-BEE9-EDD8BC1647D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6843A-020A-462F-8B6B-6D1363F54C58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C6CE6-AF45-4367-97BA-3D96EC06756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FF310-10A4-4D6A-8284-069B6ECCE9A4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A9BDA-5D35-42B6-8E29-FCA66843DBA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19451-2499-45BE-AFDB-DE7D03AEF668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37C2A-AA4B-4897-BFF7-45A5072FED9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5860AD-FAF2-4382-B98A-FFD2EB969518}" type="datetimeFigureOut">
              <a:rPr lang="zh-CN" altLang="en-US"/>
              <a:t>2024/11/21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3B11AB-A67D-49E2-9A24-FC472F5709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gi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.wmf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25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.wmf"/><Relationship Id="rId12" Type="http://schemas.openxmlformats.org/officeDocument/2006/relationships/image" Target="../media/image19.png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wmf"/><Relationship Id="rId5" Type="http://schemas.openxmlformats.org/officeDocument/2006/relationships/image" Target="../media/image6.png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5.png"/><Relationship Id="rId9" Type="http://schemas.openxmlformats.org/officeDocument/2006/relationships/image" Target="../media/image21.wmf"/><Relationship Id="rId14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oleObject" Target="../embeddings/oleObject13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6.wmf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8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5.png"/><Relationship Id="rId9" Type="http://schemas.openxmlformats.org/officeDocument/2006/relationships/image" Target="../media/image27.wmf"/><Relationship Id="rId1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2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5.png"/><Relationship Id="rId9" Type="http://schemas.openxmlformats.org/officeDocument/2006/relationships/image" Target="../media/image3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35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4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5.png"/><Relationship Id="rId9" Type="http://schemas.openxmlformats.org/officeDocument/2006/relationships/image" Target="../media/image3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5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5.png"/><Relationship Id="rId9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2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5.png"/><Relationship Id="rId9" Type="http://schemas.openxmlformats.org/officeDocument/2006/relationships/image" Target="../media/image4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1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5.png"/><Relationship Id="rId9" Type="http://schemas.openxmlformats.org/officeDocument/2006/relationships/image" Target="../media/image4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48.w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7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35.bin"/><Relationship Id="rId4" Type="http://schemas.openxmlformats.org/officeDocument/2006/relationships/image" Target="../media/image5.png"/><Relationship Id="rId9" Type="http://schemas.openxmlformats.org/officeDocument/2006/relationships/image" Target="../media/image46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5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5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5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5.png"/><Relationship Id="rId9" Type="http://schemas.openxmlformats.org/officeDocument/2006/relationships/image" Target="../media/image5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9.w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8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6.bin"/><Relationship Id="rId4" Type="http://schemas.openxmlformats.org/officeDocument/2006/relationships/image" Target="../media/image5.png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6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65.wmf"/><Relationship Id="rId18" Type="http://schemas.openxmlformats.org/officeDocument/2006/relationships/image" Target="../media/image67.wmf"/><Relationship Id="rId3" Type="http://schemas.openxmlformats.org/officeDocument/2006/relationships/notesSlide" Target="../notesSlides/notesSlide30.xml"/><Relationship Id="rId21" Type="http://schemas.openxmlformats.org/officeDocument/2006/relationships/oleObject" Target="../embeddings/oleObject59.bin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4.wmf"/><Relationship Id="rId24" Type="http://schemas.openxmlformats.org/officeDocument/2006/relationships/image" Target="../media/image70.wmf"/><Relationship Id="rId5" Type="http://schemas.openxmlformats.org/officeDocument/2006/relationships/image" Target="../media/image6.png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10" Type="http://schemas.openxmlformats.org/officeDocument/2006/relationships/oleObject" Target="../embeddings/oleObject53.bin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5.png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55.bin"/><Relationship Id="rId22" Type="http://schemas.openxmlformats.org/officeDocument/2006/relationships/image" Target="../media/image6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3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63.bin"/><Relationship Id="rId4" Type="http://schemas.openxmlformats.org/officeDocument/2006/relationships/image" Target="../media/image5.png"/><Relationship Id="rId9" Type="http://schemas.openxmlformats.org/officeDocument/2006/relationships/image" Target="../media/image7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77.wmf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6.wmf"/><Relationship Id="rId5" Type="http://schemas.openxmlformats.org/officeDocument/2006/relationships/image" Target="../media/image6.png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66.bin"/><Relationship Id="rId4" Type="http://schemas.openxmlformats.org/officeDocument/2006/relationships/image" Target="../media/image5.png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6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7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8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54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2.bin"/><Relationship Id="rId4" Type="http://schemas.openxmlformats.org/officeDocument/2006/relationships/image" Target="../media/image5.png"/><Relationship Id="rId9" Type="http://schemas.openxmlformats.org/officeDocument/2006/relationships/image" Target="../media/image8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83.wmf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41.bin"/><Relationship Id="rId5" Type="http://schemas.openxmlformats.org/officeDocument/2006/relationships/image" Target="../media/image6.png"/><Relationship Id="rId10" Type="http://schemas.openxmlformats.org/officeDocument/2006/relationships/image" Target="../media/image85.png"/><Relationship Id="rId4" Type="http://schemas.openxmlformats.org/officeDocument/2006/relationships/image" Target="../media/image5.png"/><Relationship Id="rId9" Type="http://schemas.openxmlformats.org/officeDocument/2006/relationships/image" Target="../media/image84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8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5.png"/><Relationship Id="rId7" Type="http://schemas.openxmlformats.org/officeDocument/2006/relationships/image" Target="../media/image89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wmf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4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3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100.wmf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95.wmf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0.bin"/><Relationship Id="rId5" Type="http://schemas.openxmlformats.org/officeDocument/2006/relationships/image" Target="../media/image6.png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5.png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9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04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87.bin"/><Relationship Id="rId4" Type="http://schemas.openxmlformats.org/officeDocument/2006/relationships/image" Target="../media/image5.png"/><Relationship Id="rId9" Type="http://schemas.openxmlformats.org/officeDocument/2006/relationships/image" Target="../media/image10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10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6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10.wmf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09.wmf"/><Relationship Id="rId5" Type="http://schemas.openxmlformats.org/officeDocument/2006/relationships/image" Target="../media/image6.png"/><Relationship Id="rId15" Type="http://schemas.openxmlformats.org/officeDocument/2006/relationships/image" Target="../media/image111.wmf"/><Relationship Id="rId10" Type="http://schemas.openxmlformats.org/officeDocument/2006/relationships/oleObject" Target="../embeddings/oleObject92.bin"/><Relationship Id="rId4" Type="http://schemas.openxmlformats.org/officeDocument/2006/relationships/image" Target="../media/image5.png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9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09.wmf"/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112.e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0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8.wmf"/><Relationship Id="rId5" Type="http://schemas.openxmlformats.org/officeDocument/2006/relationships/image" Target="../media/image6.png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97.bin"/><Relationship Id="rId4" Type="http://schemas.openxmlformats.org/officeDocument/2006/relationships/image" Target="../media/image5.png"/><Relationship Id="rId9" Type="http://schemas.openxmlformats.org/officeDocument/2006/relationships/image" Target="../media/image113.wmf"/><Relationship Id="rId14" Type="http://schemas.openxmlformats.org/officeDocument/2006/relationships/oleObject" Target="../embeddings/oleObject9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01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356100" y="14288"/>
            <a:ext cx="774700" cy="2317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www.1ppt.com/moban/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行业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节日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www.1ppt.com/jieri/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素材下载：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背景图片：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www.1ppt.com/beijing/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图表下载：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优秀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www.1ppt.com/xiazai/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Word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www.1ppt.com/word/              Excel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资料下载：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www.1ppt.com/ziliao/     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课件下载：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范文下载：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www.1ppt.com/fanwen/        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试卷下载：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教案下载：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www.1ppt.com/jiaoan/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论坛：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 </a:t>
            </a:r>
            <a:endParaRPr lang="zh-CN" altLang="en-US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9050" y="7938"/>
            <a:ext cx="9144000" cy="3175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7411" name="图片 1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438776" y="130175"/>
            <a:ext cx="3103562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200671" y="1089025"/>
            <a:ext cx="468508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计算机图形学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——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华文隶书" panose="02010800040101010101" charset="-122"/>
            </a:endParaRPr>
          </a:p>
        </p:txBody>
      </p:sp>
      <p:sp>
        <p:nvSpPr>
          <p:cNvPr id="17413" name="Rectangle 4"/>
          <p:cNvSpPr txBox="1">
            <a:spLocks noChangeArrowheads="1"/>
          </p:cNvSpPr>
          <p:nvPr/>
        </p:nvSpPr>
        <p:spPr bwMode="auto">
          <a:xfrm>
            <a:off x="5364088" y="3363838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开课学院：信息工程学院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5" name="图片 3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3388" y="246063"/>
            <a:ext cx="765175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图片 4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77938" y="414338"/>
            <a:ext cx="1871662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22337" y="1862931"/>
            <a:ext cx="764222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6.4. </a:t>
            </a: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曲线曲面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74C4FF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5345038" y="3867894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授课教师：彭昌猛（博士）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5364088" y="4337720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授课时间：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2024.11.04</a:t>
            </a:r>
          </a:p>
        </p:txBody>
      </p:sp>
      <p:sp>
        <p:nvSpPr>
          <p:cNvPr id="13" name="日期占位符 3"/>
          <p:cNvSpPr>
            <a:spLocks noGrp="1" noChangeArrowheads="1"/>
          </p:cNvSpPr>
          <p:nvPr>
            <p:ph type="dt" sz="quarter" idx="10"/>
          </p:nvPr>
        </p:nvSpPr>
        <p:spPr>
          <a:xfrm>
            <a:off x="122238" y="4811869"/>
            <a:ext cx="2311400" cy="320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多边形网格缺陷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3BE584D-B920-4655-8919-F62F6F7C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713837"/>
            <a:ext cx="6754788" cy="949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变形困难</a:t>
            </a:r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基本单元为平面多边形</a:t>
            </a:r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固定分辨率</a:t>
            </a:r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solidFill>
                  <a:srgbClr val="0000FF"/>
                </a:solidFill>
                <a:ea typeface="宋体" panose="02010600030101010101" pitchFamily="2" charset="-122"/>
              </a:rPr>
              <a:t>难以实现曲线曲面造型</a:t>
            </a:r>
            <a:endParaRPr lang="en-US" altLang="zh-CN" sz="2800" kern="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55D08A84-84DE-4E31-B802-6849D065D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885" y="3229655"/>
            <a:ext cx="2041048" cy="1200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7" descr="Spline01.gif">
            <a:extLst>
              <a:ext uri="{FF2B5EF4-FFF2-40B4-BE49-F238E27FC236}">
                <a16:creationId xmlns:a16="http://schemas.microsoft.com/office/drawing/2014/main" id="{EA536C7F-F5E1-448D-A308-219DB63184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03798"/>
            <a:ext cx="4749406" cy="162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3DB9F0BD-0A22-4E24-9E8C-B8A891DF8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028" y="754222"/>
            <a:ext cx="1823597" cy="2045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0466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曲线曲面造型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51F812B-5D29-4844-BFC1-6D84CB7B6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700088"/>
            <a:ext cx="7823596" cy="388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曲线和表面可以用少许几个参数来描述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表示简洁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: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保存一个表面的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16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个控制点要比保存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1000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个三角形所需要的空间要少得多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表示精确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: 1000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个三角形只能对真正的表面进行近似的模拟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16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个控制点却能够准确地描述曲面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变形控制性好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9A249FD-FA29-449D-B57E-80816FE88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358" y="3147814"/>
            <a:ext cx="3034642" cy="19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34580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4CC15AC-6FC5-4177-AE3A-8B1E1AA2B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71550"/>
            <a:ext cx="6321028" cy="27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>
                <a:ea typeface="宋体" panose="02010600030101010101" pitchFamily="2" charset="-122"/>
              </a:rPr>
              <a:t>曲线</a:t>
            </a:r>
            <a:endParaRPr lang="en-US" altLang="zh-CN" kern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kern="0">
                <a:ea typeface="宋体" panose="02010600030101010101" pitchFamily="2" charset="-122"/>
              </a:rPr>
              <a:t>基本理论及参数表示法</a:t>
            </a:r>
          </a:p>
          <a:p>
            <a:pPr lvl="1" eaLnBrk="1" hangingPunct="1"/>
            <a:r>
              <a:rPr lang="en-US" altLang="zh-CN" sz="3200" kern="0">
                <a:ea typeface="宋体" panose="02010600030101010101" pitchFamily="2" charset="-122"/>
              </a:rPr>
              <a:t>Hermite</a:t>
            </a:r>
            <a:r>
              <a:rPr lang="zh-CN" altLang="en-US" sz="3200" kern="0">
                <a:ea typeface="宋体" panose="02010600030101010101" pitchFamily="2" charset="-122"/>
              </a:rPr>
              <a:t>曲线</a:t>
            </a:r>
            <a:endParaRPr lang="en-US" altLang="zh-CN" sz="3200" ker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kern="0">
                <a:ea typeface="宋体" panose="02010600030101010101" pitchFamily="2" charset="-122"/>
              </a:rPr>
              <a:t>Bezier</a:t>
            </a:r>
            <a:r>
              <a:rPr lang="zh-CN" altLang="en-US" sz="3200" kern="0">
                <a:ea typeface="宋体" panose="02010600030101010101" pitchFamily="2" charset="-122"/>
              </a:rPr>
              <a:t>曲线</a:t>
            </a:r>
            <a:endParaRPr lang="en-US" altLang="zh-CN" sz="3200" ker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kern="0">
                <a:ea typeface="宋体" panose="02010600030101010101" pitchFamily="2" charset="-122"/>
              </a:rPr>
              <a:t>B</a:t>
            </a:r>
            <a:r>
              <a:rPr lang="zh-CN" altLang="en-US" sz="3200" kern="0">
                <a:ea typeface="宋体" panose="02010600030101010101" pitchFamily="2" charset="-122"/>
              </a:rPr>
              <a:t>样条曲线</a:t>
            </a:r>
            <a:endParaRPr lang="en-US" altLang="zh-CN" sz="3200" kern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>
                <a:ea typeface="宋体" panose="02010600030101010101" pitchFamily="2" charset="-122"/>
              </a:rPr>
              <a:t>曲面</a:t>
            </a:r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9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5F5CCE9A-DC3E-4EA1-BC9E-B97F6F1F7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116619"/>
            <a:ext cx="3213247" cy="261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837195"/>
      </p:ext>
    </p:extLst>
  </p:cSld>
  <p:clrMapOvr>
    <a:masterClrMapping/>
  </p:clrMapOvr>
  <p:transition spd="med" advClick="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基本理论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FE30169-A28F-4E3D-97B0-BE7A52E58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" y="700088"/>
            <a:ext cx="8356798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400" kern="0" dirty="0">
                <a:ea typeface="宋体" panose="02010600030101010101" pitchFamily="2" charset="-122"/>
              </a:rPr>
              <a:t>背景：根据实验、观测或数值计算获得的数据来</a:t>
            </a:r>
            <a:r>
              <a:rPr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绘制出一条光滑的曲线</a:t>
            </a:r>
            <a:r>
              <a:rPr lang="zh-CN" altLang="en-US" sz="2400" kern="0" dirty="0">
                <a:ea typeface="宋体" panose="02010600030101010101" pitchFamily="2" charset="-122"/>
              </a:rPr>
              <a:t>，以描述事物的各种规律。</a:t>
            </a:r>
          </a:p>
          <a:p>
            <a:pPr eaLnBrk="1" hangingPunct="1"/>
            <a:r>
              <a:rPr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拟合</a:t>
            </a:r>
            <a:r>
              <a:rPr lang="zh-CN" altLang="en-US" sz="2400" kern="0" dirty="0">
                <a:ea typeface="宋体" panose="02010600030101010101" pitchFamily="2" charset="-122"/>
              </a:rPr>
              <a:t>：对已经存在的离散点列构造出尽可能</a:t>
            </a:r>
            <a:r>
              <a:rPr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光滑</a:t>
            </a:r>
            <a:r>
              <a:rPr lang="zh-CN" altLang="en-US" sz="2400" kern="0" dirty="0">
                <a:ea typeface="宋体" panose="02010600030101010101" pitchFamily="2" charset="-122"/>
              </a:rPr>
              <a:t>的曲线或曲面，用以</a:t>
            </a:r>
            <a:r>
              <a:rPr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直观（而忠实</a:t>
            </a:r>
            <a:r>
              <a:rPr lang="zh-CN" altLang="en-US" sz="2400" kern="0" dirty="0">
                <a:ea typeface="宋体" panose="02010600030101010101" pitchFamily="2" charset="-122"/>
              </a:rPr>
              <a:t>）地反映出实验特性、变化规律和趋势等。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0CC2621-B643-4E7D-BBF4-071134A0F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27518"/>
            <a:ext cx="7367486" cy="218133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8077917"/>
      </p:ext>
    </p:extLst>
  </p:cSld>
  <p:clrMapOvr>
    <a:masterClrMapping/>
  </p:clrMapOvr>
  <p:transition spd="med" advClick="0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基本理论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4F2B05-7371-4E31-BC9B-83C78C131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99" y="718372"/>
            <a:ext cx="8625855" cy="4549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kumimoji="1" lang="zh-CN" altLang="en-US" sz="2400" kern="0" dirty="0">
                <a:ea typeface="宋体" panose="02010600030101010101" pitchFamily="2" charset="-122"/>
              </a:rPr>
              <a:t>按照曲线曲面与特征点的位置关系划分，拟合曲线可分为</a:t>
            </a:r>
            <a:r>
              <a:rPr kumimoji="1"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插值曲线</a:t>
            </a:r>
            <a:r>
              <a:rPr kumimoji="1" lang="zh-CN" altLang="en-US" sz="2400" kern="0" dirty="0">
                <a:ea typeface="宋体" panose="02010600030101010101" pitchFamily="2" charset="-122"/>
              </a:rPr>
              <a:t>与</a:t>
            </a:r>
            <a:r>
              <a:rPr kumimoji="1"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逼近曲线</a:t>
            </a:r>
            <a:r>
              <a:rPr kumimoji="1" lang="zh-CN" altLang="en-US" sz="2400" kern="0" dirty="0"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kumimoji="1" lang="zh-CN" altLang="en-US" sz="2400" kern="0" dirty="0">
                <a:ea typeface="宋体" panose="02010600030101010101" pitchFamily="2" charset="-122"/>
              </a:rPr>
              <a:t>插值：通过所有的特征点</a:t>
            </a:r>
            <a:endParaRPr kumimoji="1" lang="en-US" altLang="zh-CN" sz="2400" kern="0" dirty="0"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2400" kern="0" dirty="0">
                <a:ea typeface="宋体" panose="02010600030101010101" pitchFamily="2" charset="-122"/>
              </a:rPr>
              <a:t>逼近：不通过或部分通过特征点，并在整体上接近这些特征点</a:t>
            </a:r>
            <a:endParaRPr kumimoji="1" lang="en-US" altLang="zh-CN" sz="2400" kern="0" dirty="0">
              <a:ea typeface="宋体" panose="02010600030101010101" pitchFamily="2" charset="-122"/>
            </a:endParaRPr>
          </a:p>
          <a:p>
            <a:pPr eaLnBrk="1" hangingPunct="1"/>
            <a:endParaRPr kumimoji="1" lang="zh-CN" altLang="en-US" sz="24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7A29E55-B83B-4837-B050-4B4348809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947826"/>
              </p:ext>
            </p:extLst>
          </p:nvPr>
        </p:nvGraphicFramePr>
        <p:xfrm>
          <a:off x="1119173" y="2830286"/>
          <a:ext cx="3175651" cy="2127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Visio" r:id="rId6" imgW="2315289" imgH="1550194" progId="Visio.Drawing.11">
                  <p:embed/>
                </p:oleObj>
              </mc:Choice>
              <mc:Fallback>
                <p:oleObj name="Visio" r:id="rId6" imgW="2315289" imgH="1550194" progId="Visio.Drawing.11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6526772F-C548-45C4-98DD-93A7B5D160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73" y="2830286"/>
                        <a:ext cx="3175651" cy="2127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46074026-1AF8-4CB5-957B-9FC45B2D5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45347"/>
              </p:ext>
            </p:extLst>
          </p:nvPr>
        </p:nvGraphicFramePr>
        <p:xfrm>
          <a:off x="5703290" y="2420523"/>
          <a:ext cx="2249844" cy="2712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Visio" r:id="rId8" imgW="1927741" imgH="2323207" progId="Visio.Drawing.11">
                  <p:embed/>
                </p:oleObj>
              </mc:Choice>
              <mc:Fallback>
                <p:oleObj name="Visio" r:id="rId8" imgW="1927741" imgH="2323207" progId="Visio.Drawing.11">
                  <p:embed/>
                  <p:pic>
                    <p:nvPicPr>
                      <p:cNvPr id="2051" name="Object 10">
                        <a:extLst>
                          <a:ext uri="{FF2B5EF4-FFF2-40B4-BE49-F238E27FC236}">
                            <a16:creationId xmlns:a16="http://schemas.microsoft.com/office/drawing/2014/main" id="{B26F5536-9476-40EB-A06A-D632BF724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290" y="2420523"/>
                        <a:ext cx="2249844" cy="2712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69390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代数方法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4E1A09-C189-4186-BAC8-15454AB3B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662919"/>
            <a:ext cx="8424936" cy="342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indent="0" eaLnBrk="1" hangingPunct="1">
              <a:lnSpc>
                <a:spcPct val="130000"/>
              </a:lnSpc>
            </a:pPr>
            <a:r>
              <a:rPr lang="zh-CN" altLang="en-US" sz="2400" kern="0" dirty="0">
                <a:highlight>
                  <a:srgbClr val="FFFF00"/>
                </a:highlight>
                <a:ea typeface="宋体" panose="02010600030101010101" pitchFamily="2" charset="-122"/>
              </a:rPr>
              <a:t>线性插值</a:t>
            </a:r>
          </a:p>
          <a:p>
            <a:pPr indent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kern="0" dirty="0">
                <a:ea typeface="宋体" panose="02010600030101010101" pitchFamily="2" charset="-122"/>
              </a:rPr>
              <a:t>给定函数</a:t>
            </a:r>
            <a:r>
              <a:rPr lang="en-US" altLang="zh-CN" sz="2400" i="1" kern="0" dirty="0">
                <a:ea typeface="宋体" panose="02010600030101010101" pitchFamily="2" charset="-122"/>
              </a:rPr>
              <a:t>f(x)</a:t>
            </a:r>
            <a:r>
              <a:rPr lang="zh-CN" altLang="en-US" sz="2400" kern="0" dirty="0">
                <a:ea typeface="宋体" panose="02010600030101010101" pitchFamily="2" charset="-122"/>
              </a:rPr>
              <a:t>在</a:t>
            </a:r>
            <a:r>
              <a:rPr lang="zh-CN" altLang="en-US" sz="2400" kern="0" dirty="0">
                <a:solidFill>
                  <a:srgbClr val="FF0000"/>
                </a:solidFill>
                <a:ea typeface="宋体" panose="02010600030101010101" pitchFamily="2" charset="-122"/>
              </a:rPr>
              <a:t>两个不同点</a:t>
            </a:r>
            <a:r>
              <a:rPr lang="en-US" altLang="zh-CN" sz="2400" i="1" kern="0" dirty="0">
                <a:ea typeface="宋体" panose="02010600030101010101" pitchFamily="2" charset="-122"/>
              </a:rPr>
              <a:t>x1</a:t>
            </a:r>
            <a:r>
              <a:rPr lang="zh-CN" altLang="en-US" sz="2400" kern="0" dirty="0">
                <a:ea typeface="宋体" panose="02010600030101010101" pitchFamily="2" charset="-122"/>
              </a:rPr>
              <a:t>和</a:t>
            </a:r>
            <a:r>
              <a:rPr lang="en-US" altLang="zh-CN" sz="2400" i="1" kern="0" dirty="0">
                <a:ea typeface="宋体" panose="02010600030101010101" pitchFamily="2" charset="-122"/>
              </a:rPr>
              <a:t>x</a:t>
            </a:r>
            <a:r>
              <a:rPr lang="en-US" altLang="zh-CN" sz="2400" kern="0" dirty="0">
                <a:ea typeface="宋体" panose="02010600030101010101" pitchFamily="2" charset="-122"/>
              </a:rPr>
              <a:t>2</a:t>
            </a:r>
            <a:r>
              <a:rPr lang="zh-CN" altLang="en-US" sz="2400" kern="0" dirty="0">
                <a:ea typeface="宋体" panose="02010600030101010101" pitchFamily="2" charset="-122"/>
              </a:rPr>
              <a:t>的值，用一个线性函数：</a:t>
            </a:r>
            <a:r>
              <a:rPr lang="en-US" altLang="zh-CN" sz="2400" i="1" kern="0" dirty="0">
                <a:ea typeface="宋体" panose="02010600030101010101" pitchFamily="2" charset="-122"/>
              </a:rPr>
              <a:t>y= </a:t>
            </a:r>
            <a:r>
              <a:rPr lang="en-US" altLang="zh-CN" sz="2400" kern="0" dirty="0">
                <a:ea typeface="宋体" panose="02010600030101010101" pitchFamily="2" charset="-122"/>
              </a:rPr>
              <a:t>ϕ(</a:t>
            </a:r>
            <a:r>
              <a:rPr lang="en-US" altLang="zh-CN" sz="2400" i="1" kern="0" dirty="0">
                <a:ea typeface="宋体" panose="02010600030101010101" pitchFamily="2" charset="-122"/>
              </a:rPr>
              <a:t>x</a:t>
            </a:r>
            <a:r>
              <a:rPr lang="en-US" altLang="zh-CN" sz="2400" kern="0" dirty="0">
                <a:ea typeface="宋体" panose="02010600030101010101" pitchFamily="2" charset="-122"/>
              </a:rPr>
              <a:t>)=</a:t>
            </a:r>
            <a:r>
              <a:rPr lang="en-US" altLang="zh-CN" sz="2400" i="1" kern="0" dirty="0" err="1">
                <a:highlight>
                  <a:srgbClr val="FFFF00"/>
                </a:highlight>
                <a:ea typeface="宋体" panose="02010600030101010101" pitchFamily="2" charset="-122"/>
              </a:rPr>
              <a:t>ax+b</a:t>
            </a:r>
            <a:r>
              <a:rPr lang="zh-CN" altLang="en-US" sz="2400" kern="0" dirty="0">
                <a:ea typeface="宋体" panose="02010600030101010101" pitchFamily="2" charset="-122"/>
              </a:rPr>
              <a:t>，近似代替</a:t>
            </a:r>
            <a:r>
              <a:rPr lang="en-US" altLang="zh-CN" sz="2400" i="1" kern="0" dirty="0">
                <a:ea typeface="宋体" panose="02010600030101010101" pitchFamily="2" charset="-122"/>
              </a:rPr>
              <a:t>f(x)</a:t>
            </a:r>
            <a:r>
              <a:rPr lang="zh-CN" altLang="en-US" sz="2400" kern="0" dirty="0">
                <a:ea typeface="宋体" panose="02010600030101010101" pitchFamily="2" charset="-122"/>
              </a:rPr>
              <a:t>，则称</a:t>
            </a:r>
            <a:r>
              <a:rPr lang="en-US" altLang="zh-CN" sz="2400" i="1" kern="0" dirty="0">
                <a:ea typeface="宋体" panose="02010600030101010101" pitchFamily="2" charset="-122"/>
              </a:rPr>
              <a:t>y= </a:t>
            </a:r>
            <a:r>
              <a:rPr lang="en-US" altLang="zh-CN" sz="2400" kern="0" dirty="0">
                <a:ea typeface="宋体" panose="02010600030101010101" pitchFamily="2" charset="-122"/>
              </a:rPr>
              <a:t>ϕ(</a:t>
            </a:r>
            <a:r>
              <a:rPr lang="en-US" altLang="zh-CN" sz="2400" i="1" kern="0" dirty="0">
                <a:ea typeface="宋体" panose="02010600030101010101" pitchFamily="2" charset="-122"/>
              </a:rPr>
              <a:t>x</a:t>
            </a:r>
            <a:r>
              <a:rPr lang="en-US" altLang="zh-CN" sz="2400" kern="0" dirty="0">
                <a:ea typeface="宋体" panose="02010600030101010101" pitchFamily="2" charset="-122"/>
              </a:rPr>
              <a:t>)</a:t>
            </a:r>
            <a:r>
              <a:rPr lang="zh-CN" altLang="en-US" sz="2400" kern="0" dirty="0">
                <a:ea typeface="宋体" panose="02010600030101010101" pitchFamily="2" charset="-122"/>
              </a:rPr>
              <a:t>为</a:t>
            </a:r>
            <a:r>
              <a:rPr lang="en-US" altLang="zh-CN" sz="2400" i="1" kern="0" dirty="0">
                <a:ea typeface="宋体" panose="02010600030101010101" pitchFamily="2" charset="-122"/>
              </a:rPr>
              <a:t>f(x)</a:t>
            </a:r>
            <a:r>
              <a:rPr lang="zh-CN" altLang="en-US" sz="2400" kern="0" dirty="0">
                <a:ea typeface="宋体" panose="02010600030101010101" pitchFamily="2" charset="-122"/>
              </a:rPr>
              <a:t>的线性插值函数。其中线性函数的系数</a:t>
            </a:r>
            <a:r>
              <a:rPr lang="en-US" altLang="zh-CN" sz="2400" i="1" kern="0" dirty="0">
                <a:ea typeface="宋体" panose="02010600030101010101" pitchFamily="2" charset="-122"/>
              </a:rPr>
              <a:t>a</a:t>
            </a:r>
            <a:r>
              <a:rPr lang="zh-CN" altLang="en-US" sz="2400" kern="0" dirty="0">
                <a:ea typeface="宋体" panose="02010600030101010101" pitchFamily="2" charset="-122"/>
              </a:rPr>
              <a:t>、</a:t>
            </a:r>
            <a:r>
              <a:rPr lang="en-US" altLang="zh-CN" sz="2400" i="1" kern="0" dirty="0">
                <a:ea typeface="宋体" panose="02010600030101010101" pitchFamily="2" charset="-122"/>
              </a:rPr>
              <a:t>b</a:t>
            </a:r>
            <a:r>
              <a:rPr lang="zh-CN" altLang="en-US" sz="2400" kern="0" dirty="0">
                <a:ea typeface="宋体" panose="02010600030101010101" pitchFamily="2" charset="-122"/>
              </a:rPr>
              <a:t>，可通过条件</a:t>
            </a:r>
            <a:r>
              <a:rPr lang="en-US" altLang="zh-CN" sz="2400" i="1" kern="0" dirty="0">
                <a:ea typeface="宋体" panose="02010600030101010101" pitchFamily="2" charset="-122"/>
              </a:rPr>
              <a:t>x1</a:t>
            </a:r>
            <a:r>
              <a:rPr lang="zh-CN" altLang="en-US" sz="2400" kern="0" dirty="0">
                <a:ea typeface="宋体" panose="02010600030101010101" pitchFamily="2" charset="-122"/>
              </a:rPr>
              <a:t>和</a:t>
            </a:r>
            <a:r>
              <a:rPr lang="en-US" altLang="zh-CN" sz="2400" i="1" kern="0" dirty="0">
                <a:ea typeface="宋体" panose="02010600030101010101" pitchFamily="2" charset="-122"/>
              </a:rPr>
              <a:t>x</a:t>
            </a:r>
            <a:r>
              <a:rPr lang="en-US" altLang="zh-CN" sz="2400" kern="0" dirty="0">
                <a:ea typeface="宋体" panose="02010600030101010101" pitchFamily="2" charset="-122"/>
              </a:rPr>
              <a:t>2</a:t>
            </a:r>
            <a:r>
              <a:rPr lang="zh-CN" altLang="en-US" sz="2400" kern="0" dirty="0">
                <a:ea typeface="宋体" panose="02010600030101010101" pitchFamily="2" charset="-122"/>
              </a:rPr>
              <a:t>的值确定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4C16F62-E900-4A67-8FCA-8C5750D34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862" y="2728146"/>
            <a:ext cx="3006650" cy="241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7401436"/>
      </p:ext>
    </p:extLst>
  </p:cSld>
  <p:clrMapOvr>
    <a:masterClrMapping/>
  </p:clrMapOvr>
  <p:transition spd="med" advClick="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代数方法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2B75188-8602-4C5E-AB02-EEF20243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47" y="700088"/>
            <a:ext cx="857282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indent="0" eaLnBrk="1" hangingPunct="1">
              <a:lnSpc>
                <a:spcPct val="130000"/>
              </a:lnSpc>
            </a:pPr>
            <a:r>
              <a:rPr lang="en-US" altLang="zh-CN" sz="2400" kern="0" dirty="0">
                <a:ea typeface="宋体" panose="02010600030101010101" pitchFamily="2" charset="-122"/>
              </a:rPr>
              <a:t>2.</a:t>
            </a:r>
            <a:r>
              <a:rPr lang="zh-CN" altLang="en-US" sz="2400" kern="0" dirty="0">
                <a:highlight>
                  <a:srgbClr val="FFFF00"/>
                </a:highlight>
                <a:ea typeface="宋体" panose="02010600030101010101" pitchFamily="2" charset="-122"/>
              </a:rPr>
              <a:t>抛物线插值</a:t>
            </a:r>
            <a:r>
              <a:rPr lang="zh-CN" altLang="en-US" sz="2400" kern="0" dirty="0">
                <a:ea typeface="宋体" panose="02010600030101010101" pitchFamily="2" charset="-122"/>
              </a:rPr>
              <a:t>：又称为二次插值。设已知在三个互异点</a:t>
            </a:r>
            <a:r>
              <a:rPr lang="en-US" altLang="zh-CN" sz="2400" i="1" kern="0" dirty="0">
                <a:ea typeface="宋体" panose="02010600030101010101" pitchFamily="2" charset="-122"/>
              </a:rPr>
              <a:t>x1</a:t>
            </a:r>
            <a:r>
              <a:rPr lang="zh-CN" altLang="en-US" sz="2400" kern="0" dirty="0">
                <a:ea typeface="宋体" panose="02010600030101010101" pitchFamily="2" charset="-122"/>
              </a:rPr>
              <a:t>、</a:t>
            </a:r>
            <a:r>
              <a:rPr lang="en-US" altLang="zh-CN" sz="2400" i="1" kern="0" dirty="0">
                <a:ea typeface="宋体" panose="02010600030101010101" pitchFamily="2" charset="-122"/>
              </a:rPr>
              <a:t>x2</a:t>
            </a:r>
            <a:r>
              <a:rPr lang="zh-CN" altLang="en-US" sz="2400" kern="0" dirty="0">
                <a:ea typeface="宋体" panose="02010600030101010101" pitchFamily="2" charset="-122"/>
              </a:rPr>
              <a:t>、</a:t>
            </a:r>
            <a:r>
              <a:rPr lang="en-US" altLang="zh-CN" sz="2400" i="1" kern="0" dirty="0">
                <a:ea typeface="宋体" panose="02010600030101010101" pitchFamily="2" charset="-122"/>
              </a:rPr>
              <a:t>x3</a:t>
            </a:r>
            <a:r>
              <a:rPr lang="zh-CN" altLang="en-US" sz="2400" kern="0" dirty="0">
                <a:ea typeface="宋体" panose="02010600030101010101" pitchFamily="2" charset="-122"/>
              </a:rPr>
              <a:t>的函数值为</a:t>
            </a:r>
            <a:r>
              <a:rPr lang="en-US" altLang="zh-CN" sz="2400" i="1" kern="0" dirty="0">
                <a:ea typeface="宋体" panose="02010600030101010101" pitchFamily="2" charset="-122"/>
              </a:rPr>
              <a:t>y1</a:t>
            </a:r>
            <a:r>
              <a:rPr lang="zh-CN" altLang="en-US" sz="2400" kern="0" dirty="0">
                <a:ea typeface="宋体" panose="02010600030101010101" pitchFamily="2" charset="-122"/>
              </a:rPr>
              <a:t>、</a:t>
            </a:r>
            <a:r>
              <a:rPr lang="en-US" altLang="zh-CN" sz="2400" i="1" kern="0" dirty="0">
                <a:ea typeface="宋体" panose="02010600030101010101" pitchFamily="2" charset="-122"/>
              </a:rPr>
              <a:t>y2</a:t>
            </a:r>
            <a:r>
              <a:rPr lang="zh-CN" altLang="en-US" sz="2400" kern="0" dirty="0">
                <a:ea typeface="宋体" panose="02010600030101010101" pitchFamily="2" charset="-122"/>
              </a:rPr>
              <a:t>、</a:t>
            </a:r>
            <a:r>
              <a:rPr lang="en-US" altLang="zh-CN" sz="2400" i="1" kern="0" dirty="0">
                <a:ea typeface="宋体" panose="02010600030101010101" pitchFamily="2" charset="-122"/>
              </a:rPr>
              <a:t>y3</a:t>
            </a:r>
            <a:r>
              <a:rPr lang="zh-CN" altLang="en-US" sz="2400" kern="0" dirty="0">
                <a:ea typeface="宋体" panose="02010600030101010101" pitchFamily="2" charset="-122"/>
              </a:rPr>
              <a:t>，要求构造一个函数：</a:t>
            </a:r>
            <a:r>
              <a:rPr lang="en-US" altLang="zh-CN" sz="2400" kern="0" dirty="0">
                <a:highlight>
                  <a:srgbClr val="FFFF00"/>
                </a:highlight>
                <a:ea typeface="宋体" panose="02010600030101010101" pitchFamily="2" charset="-122"/>
              </a:rPr>
              <a:t>ϕ</a:t>
            </a:r>
            <a:r>
              <a:rPr lang="en-US" altLang="zh-CN" sz="2400" i="1" kern="0" dirty="0">
                <a:highlight>
                  <a:srgbClr val="FFFF00"/>
                </a:highlight>
                <a:ea typeface="宋体" panose="02010600030101010101" pitchFamily="2" charset="-122"/>
              </a:rPr>
              <a:t>(x)=ax</a:t>
            </a:r>
            <a:r>
              <a:rPr lang="en-US" altLang="zh-CN" sz="2400" i="1" kern="0" baseline="30000" dirty="0">
                <a:highlight>
                  <a:srgbClr val="FFFF00"/>
                </a:highlight>
                <a:ea typeface="宋体" panose="02010600030101010101" pitchFamily="2" charset="-122"/>
              </a:rPr>
              <a:t>2</a:t>
            </a:r>
            <a:r>
              <a:rPr lang="en-US" altLang="zh-CN" sz="2400" i="1" kern="0" dirty="0">
                <a:highlight>
                  <a:srgbClr val="FFFF00"/>
                </a:highlight>
                <a:ea typeface="宋体" panose="02010600030101010101" pitchFamily="2" charset="-122"/>
              </a:rPr>
              <a:t>+bx+c</a:t>
            </a:r>
            <a:r>
              <a:rPr lang="zh-CN" altLang="en-US" sz="2400" kern="0" dirty="0">
                <a:ea typeface="宋体" panose="02010600030101010101" pitchFamily="2" charset="-122"/>
              </a:rPr>
              <a:t>，使</a:t>
            </a:r>
            <a:r>
              <a:rPr lang="en-US" altLang="zh-CN" sz="2400" kern="0" dirty="0">
                <a:ea typeface="宋体" panose="02010600030101010101" pitchFamily="2" charset="-122"/>
              </a:rPr>
              <a:t>ϕ</a:t>
            </a:r>
            <a:r>
              <a:rPr lang="en-US" altLang="zh-CN" sz="2400" i="1" kern="0" dirty="0">
                <a:ea typeface="宋体" panose="02010600030101010101" pitchFamily="2" charset="-122"/>
              </a:rPr>
              <a:t>(x)</a:t>
            </a:r>
            <a:r>
              <a:rPr lang="zh-CN" altLang="en-US" sz="2400" kern="0" dirty="0">
                <a:ea typeface="宋体" panose="02010600030101010101" pitchFamily="2" charset="-122"/>
              </a:rPr>
              <a:t>在结点</a:t>
            </a:r>
            <a:r>
              <a:rPr lang="en-US" altLang="zh-CN" sz="2400" i="1" kern="0" dirty="0">
                <a:ea typeface="宋体" panose="02010600030101010101" pitchFamily="2" charset="-122"/>
              </a:rPr>
              <a:t>xi</a:t>
            </a:r>
            <a:r>
              <a:rPr lang="zh-CN" altLang="en-US" sz="2400" kern="0" dirty="0">
                <a:ea typeface="宋体" panose="02010600030101010101" pitchFamily="2" charset="-122"/>
              </a:rPr>
              <a:t>（</a:t>
            </a:r>
            <a:r>
              <a:rPr lang="en-US" altLang="zh-CN" sz="2400" i="1" kern="0" dirty="0" err="1">
                <a:ea typeface="宋体" panose="02010600030101010101" pitchFamily="2" charset="-122"/>
              </a:rPr>
              <a:t>i</a:t>
            </a:r>
            <a:r>
              <a:rPr lang="en-US" altLang="zh-CN" sz="2400" i="1" kern="0" dirty="0">
                <a:ea typeface="宋体" panose="02010600030101010101" pitchFamily="2" charset="-122"/>
              </a:rPr>
              <a:t>=1,2,3)</a:t>
            </a:r>
            <a:r>
              <a:rPr lang="zh-CN" altLang="en-US" sz="2400" kern="0" dirty="0">
                <a:ea typeface="宋体" panose="02010600030101010101" pitchFamily="2" charset="-122"/>
              </a:rPr>
              <a:t>处与</a:t>
            </a:r>
            <a:r>
              <a:rPr lang="en-US" altLang="zh-CN" sz="2400" i="1" kern="0" dirty="0">
                <a:ea typeface="宋体" panose="02010600030101010101" pitchFamily="2" charset="-122"/>
              </a:rPr>
              <a:t>f</a:t>
            </a:r>
            <a:r>
              <a:rPr lang="zh-CN" altLang="en-US" sz="2400" kern="0" dirty="0">
                <a:ea typeface="宋体" panose="02010600030101010101" pitchFamily="2" charset="-122"/>
              </a:rPr>
              <a:t>（</a:t>
            </a:r>
            <a:r>
              <a:rPr lang="en-US" altLang="zh-CN" sz="2400" i="1" kern="0" dirty="0">
                <a:ea typeface="宋体" panose="02010600030101010101" pitchFamily="2" charset="-122"/>
              </a:rPr>
              <a:t>x</a:t>
            </a:r>
            <a:r>
              <a:rPr lang="zh-CN" altLang="en-US" sz="2400" kern="0" dirty="0">
                <a:ea typeface="宋体" panose="02010600030101010101" pitchFamily="2" charset="-122"/>
              </a:rPr>
              <a:t>）在</a:t>
            </a:r>
            <a:r>
              <a:rPr lang="en-US" altLang="zh-CN" sz="2400" i="1" kern="0" dirty="0">
                <a:ea typeface="宋体" panose="02010600030101010101" pitchFamily="2" charset="-122"/>
              </a:rPr>
              <a:t>xi</a:t>
            </a:r>
            <a:r>
              <a:rPr lang="zh-CN" altLang="en-US" sz="2400" kern="0" dirty="0">
                <a:ea typeface="宋体" panose="02010600030101010101" pitchFamily="2" charset="-122"/>
              </a:rPr>
              <a:t>处的值相等，如图（</a:t>
            </a:r>
            <a:r>
              <a:rPr lang="en-US" altLang="zh-CN" sz="2400" kern="0" dirty="0">
                <a:ea typeface="宋体" panose="02010600030101010101" pitchFamily="2" charset="-122"/>
              </a:rPr>
              <a:t>b</a:t>
            </a:r>
            <a:r>
              <a:rPr lang="zh-CN" altLang="en-US" sz="2400" kern="0" dirty="0">
                <a:ea typeface="宋体" panose="02010600030101010101" pitchFamily="2" charset="-122"/>
              </a:rPr>
              <a:t>）所示。</a:t>
            </a:r>
          </a:p>
          <a:p>
            <a:pPr indent="0" eaLnBrk="1" hangingPunct="1">
              <a:lnSpc>
                <a:spcPct val="130000"/>
              </a:lnSpc>
            </a:pPr>
            <a:endParaRPr lang="zh-CN" altLang="en-US" sz="2400" kern="0" dirty="0">
              <a:ea typeface="宋体" panose="02010600030101010101" pitchFamily="2" charset="-122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42DCCBF-AF76-41B7-B0D6-82E7AD950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321207"/>
            <a:ext cx="3707904" cy="281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486750"/>
      </p:ext>
    </p:extLst>
  </p:cSld>
  <p:clrMapOvr>
    <a:masterClrMapping/>
  </p:clrMapOvr>
  <p:transition spd="med" advClick="0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几何方法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F79626-966D-450E-A8C4-B417EC9DC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83" y="731429"/>
            <a:ext cx="6681068" cy="3252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highlight>
                  <a:srgbClr val="FFFF00"/>
                </a:highlight>
                <a:ea typeface="宋体" panose="02010600030101010101" pitchFamily="2" charset="-122"/>
              </a:rPr>
              <a:t>样条</a:t>
            </a:r>
            <a:r>
              <a:rPr lang="zh-CN" altLang="en-US" kern="0" dirty="0">
                <a:ea typeface="宋体" panose="02010600030101010101" pitchFamily="2" charset="-122"/>
              </a:rPr>
              <a:t>：</a:t>
            </a:r>
          </a:p>
        </p:txBody>
      </p:sp>
      <p:pic>
        <p:nvPicPr>
          <p:cNvPr id="8" name="Picture 4" descr="ducks_and_spline_lofting_copy">
            <a:extLst>
              <a:ext uri="{FF2B5EF4-FFF2-40B4-BE49-F238E27FC236}">
                <a16:creationId xmlns:a16="http://schemas.microsoft.com/office/drawing/2014/main" id="{3E66E2C2-F62E-465D-9FE5-B54BAED48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052982"/>
            <a:ext cx="4903546" cy="370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>
            <a:extLst>
              <a:ext uri="{FF2B5EF4-FFF2-40B4-BE49-F238E27FC236}">
                <a16:creationId xmlns:a16="http://schemas.microsoft.com/office/drawing/2014/main" id="{298ACA82-F178-4A81-A172-DCEFDB90D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938" y="2787774"/>
            <a:ext cx="1695963" cy="720080"/>
          </a:xfrm>
          <a:prstGeom prst="wedgeRoundRectCallout">
            <a:avLst>
              <a:gd name="adj1" fmla="val 50921"/>
              <a:gd name="adj2" fmla="val -138958"/>
              <a:gd name="adj3" fmla="val 16667"/>
            </a:avLst>
          </a:prstGeom>
          <a:gradFill rotWithShape="1">
            <a:gsLst>
              <a:gs pos="0">
                <a:srgbClr val="2D2D8A">
                  <a:tint val="50000"/>
                  <a:satMod val="300000"/>
                </a:srgbClr>
              </a:gs>
              <a:gs pos="35000">
                <a:srgbClr val="2D2D8A">
                  <a:tint val="37000"/>
                  <a:satMod val="300000"/>
                </a:srgbClr>
              </a:gs>
              <a:gs pos="100000">
                <a:srgbClr val="2D2D8A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2D2D8A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缺点？</a:t>
            </a:r>
          </a:p>
        </p:txBody>
      </p:sp>
    </p:spTree>
    <p:extLst>
      <p:ext uri="{BB962C8B-B14F-4D97-AF65-F5344CB8AC3E}">
        <p14:creationId xmlns:p14="http://schemas.microsoft.com/office/powerpoint/2010/main" val="240030230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211108-5D68-466B-B54C-B65AB1FDF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600075"/>
            <a:ext cx="8202191" cy="3757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曲线板与样条方法表示曲线的缺点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无法分析性表示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不易保存与再用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Bezier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的出发点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面向几何而不是代数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–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直观交互地控制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设计对象直到输出形状与预期相符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94D8425-5DA6-433C-923C-A9D2FAD2B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727641"/>
              </p:ext>
            </p:extLst>
          </p:nvPr>
        </p:nvGraphicFramePr>
        <p:xfrm>
          <a:off x="6441952" y="1300163"/>
          <a:ext cx="2336641" cy="146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Visio" r:id="rId6" imgW="2658847" imgH="1666837" progId="Visio.Drawing.11">
                  <p:embed/>
                </p:oleObj>
              </mc:Choice>
              <mc:Fallback>
                <p:oleObj name="Visio" r:id="rId6" imgW="2658847" imgH="1666837" progId="Visio.Drawing.11">
                  <p:embed/>
                  <p:pic>
                    <p:nvPicPr>
                      <p:cNvPr id="4098" name="Object 4">
                        <a:extLst>
                          <a:ext uri="{FF2B5EF4-FFF2-40B4-BE49-F238E27FC236}">
                            <a16:creationId xmlns:a16="http://schemas.microsoft.com/office/drawing/2014/main" id="{E18ADA94-A835-41DC-AAFC-80A78FD5A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1952" y="1300163"/>
                        <a:ext cx="2336641" cy="146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749651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2109A4F-E22F-444D-97DF-A6CF12055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9" y="1079500"/>
            <a:ext cx="8567042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kern="0">
                <a:ea typeface="宋体" panose="02010600030101010101" pitchFamily="2" charset="-122"/>
              </a:rPr>
              <a:t>1.</a:t>
            </a:r>
            <a:r>
              <a:rPr lang="zh-CN" altLang="en-US" kern="0">
                <a:ea typeface="宋体" panose="02010600030101010101" pitchFamily="2" charset="-122"/>
              </a:rPr>
              <a:t>线性插值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D532A31-5618-44A2-A5AA-F5DC8101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1905000"/>
            <a:ext cx="2792413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 descr="linearinterpolation2">
            <a:extLst>
              <a:ext uri="{FF2B5EF4-FFF2-40B4-BE49-F238E27FC236}">
                <a16:creationId xmlns:a16="http://schemas.microsoft.com/office/drawing/2014/main" id="{FBE0C62C-26ED-4BE6-8D16-C35314A6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928" y="2199481"/>
            <a:ext cx="3533775" cy="1431925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672241"/>
      </p:ext>
    </p:extLst>
  </p:cSld>
  <p:clrMapOvr>
    <a:masterClrMapping/>
  </p:clrMapOvr>
  <p:transition spd="med" advClick="0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F530E1-59D1-45AF-ACAA-CA7A524B9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48927"/>
            <a:ext cx="7074082" cy="368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直线的参数形式：</a:t>
            </a: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表示成矩阵形式为：</a:t>
            </a:r>
            <a:br>
              <a:rPr lang="zh-CN" altLang="en-US" sz="2400" kern="0" dirty="0">
                <a:ea typeface="宋体" panose="02010600030101010101" pitchFamily="2" charset="-122"/>
              </a:rPr>
            </a:br>
            <a:endParaRPr lang="zh-CN" altLang="en-US" sz="24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976ECBFE-6E3B-4B76-8AD0-91CE9CEEC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527545"/>
              </p:ext>
            </p:extLst>
          </p:nvPr>
        </p:nvGraphicFramePr>
        <p:xfrm>
          <a:off x="5482328" y="700088"/>
          <a:ext cx="3297890" cy="870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" name="Equation" r:id="rId6" imgW="1587500" imgH="419100" progId="Equation.DSMT4">
                  <p:embed/>
                </p:oleObj>
              </mc:Choice>
              <mc:Fallback>
                <p:oleObj name="Equation" r:id="rId6" imgW="1587500" imgH="419100" progId="Equation.DSMT4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630D7AEA-047E-44D7-B05A-FBF5B399E3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2328" y="700088"/>
                        <a:ext cx="3297890" cy="870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C97AC0D1-B432-4187-A5BC-39F33BF20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985836"/>
              </p:ext>
            </p:extLst>
          </p:nvPr>
        </p:nvGraphicFramePr>
        <p:xfrm>
          <a:off x="5553700" y="1746679"/>
          <a:ext cx="3266801" cy="7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1" name="Equation" r:id="rId8" imgW="1727200" imgH="419100" progId="Equation.DSMT4">
                  <p:embed/>
                </p:oleObj>
              </mc:Choice>
              <mc:Fallback>
                <p:oleObj name="Equation" r:id="rId8" imgW="1727200" imgH="419100" progId="Equation.DSMT4">
                  <p:embed/>
                  <p:pic>
                    <p:nvPicPr>
                      <p:cNvPr id="5123" name="Object 5">
                        <a:extLst>
                          <a:ext uri="{FF2B5EF4-FFF2-40B4-BE49-F238E27FC236}">
                            <a16:creationId xmlns:a16="http://schemas.microsoft.com/office/drawing/2014/main" id="{5B463AE2-F3E7-4C47-A945-8C9F2ED26A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700" y="1746679"/>
                        <a:ext cx="3266801" cy="792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1DB363A8-DD2E-41CF-9C20-A68C683AC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724369"/>
              </p:ext>
            </p:extLst>
          </p:nvPr>
        </p:nvGraphicFramePr>
        <p:xfrm>
          <a:off x="634643" y="1563638"/>
          <a:ext cx="3740319" cy="765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" name="Equation" r:id="rId10" imgW="1930400" imgH="393700" progId="Equation.DSMT4">
                  <p:embed/>
                </p:oleObj>
              </mc:Choice>
              <mc:Fallback>
                <p:oleObj name="Equation" r:id="rId10" imgW="1930400" imgH="393700" progId="Equation.DSMT4">
                  <p:embed/>
                  <p:pic>
                    <p:nvPicPr>
                      <p:cNvPr id="5124" name="Object 6">
                        <a:extLst>
                          <a:ext uri="{FF2B5EF4-FFF2-40B4-BE49-F238E27FC236}">
                            <a16:creationId xmlns:a16="http://schemas.microsoft.com/office/drawing/2014/main" id="{A86942D9-CAB4-4FDC-95D2-5E96EFAA9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43" y="1563638"/>
                        <a:ext cx="3740319" cy="765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7" descr="linearinterpolation2">
            <a:extLst>
              <a:ext uri="{FF2B5EF4-FFF2-40B4-BE49-F238E27FC236}">
                <a16:creationId xmlns:a16="http://schemas.microsoft.com/office/drawing/2014/main" id="{D064DFD4-1E65-4A0F-B795-2EF4BABE3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691" y="2789890"/>
            <a:ext cx="2661749" cy="107857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7E0BB322-2385-4D41-B1E3-1E6BD2BBD2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147331"/>
              </p:ext>
            </p:extLst>
          </p:nvPr>
        </p:nvGraphicFramePr>
        <p:xfrm>
          <a:off x="642072" y="3147814"/>
          <a:ext cx="4417116" cy="80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" name="Equation" r:id="rId13" imgW="2159000" imgH="393700" progId="Equation.DSMT4">
                  <p:embed/>
                </p:oleObj>
              </mc:Choice>
              <mc:Fallback>
                <p:oleObj name="Equation" r:id="rId13" imgW="2159000" imgH="3937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7943F8DF-8E3B-4AF5-A99F-761CC76AE0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072" y="3147814"/>
                        <a:ext cx="4417116" cy="808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6F825D00-AF14-465D-92C4-385E6C05C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738450"/>
              </p:ext>
            </p:extLst>
          </p:nvPr>
        </p:nvGraphicFramePr>
        <p:xfrm>
          <a:off x="611560" y="2283718"/>
          <a:ext cx="1532957" cy="80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" name="Equation" r:id="rId15" imgW="748975" imgH="393529" progId="Equation.DSMT4">
                  <p:embed/>
                </p:oleObj>
              </mc:Choice>
              <mc:Fallback>
                <p:oleObj name="Equation" r:id="rId15" imgW="748975" imgH="393529" progId="Equation.DSMT4">
                  <p:embed/>
                  <p:pic>
                    <p:nvPicPr>
                      <p:cNvPr id="5130" name="Object 6">
                        <a:extLst>
                          <a:ext uri="{FF2B5EF4-FFF2-40B4-BE49-F238E27FC236}">
                            <a16:creationId xmlns:a16="http://schemas.microsoft.com/office/drawing/2014/main" id="{C45E98BC-60C4-4A2A-A018-346888D9CF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83718"/>
                        <a:ext cx="1532957" cy="80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861F5087-EDBC-4A4A-B341-CC810CC42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64886"/>
              </p:ext>
            </p:extLst>
          </p:nvPr>
        </p:nvGraphicFramePr>
        <p:xfrm>
          <a:off x="611560" y="4011910"/>
          <a:ext cx="4079913" cy="80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" name="Equation" r:id="rId17" imgW="1993900" imgH="393700" progId="Equation.DSMT4">
                  <p:embed/>
                </p:oleObj>
              </mc:Choice>
              <mc:Fallback>
                <p:oleObj name="Equation" r:id="rId17" imgW="1993900" imgH="393700" progId="Equation.DSMT4">
                  <p:embed/>
                  <p:pic>
                    <p:nvPicPr>
                      <p:cNvPr id="5131" name="Object 6">
                        <a:extLst>
                          <a:ext uri="{FF2B5EF4-FFF2-40B4-BE49-F238E27FC236}">
                            <a16:creationId xmlns:a16="http://schemas.microsoft.com/office/drawing/2014/main" id="{E03BEFB8-7810-4FDB-9AAA-8D5F5A9D2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011910"/>
                        <a:ext cx="4079913" cy="808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728103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CB787F0-3E52-4A80-9106-CBCB1710F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94" y="623475"/>
            <a:ext cx="4819019" cy="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二次曲线的参数形式如下：</a:t>
            </a: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2400" kern="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zh-CN" altLang="en-US" sz="20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表示成矩阵形式为：</a:t>
            </a:r>
            <a:br>
              <a:rPr lang="zh-CN" altLang="en-US" sz="2800" kern="0" dirty="0">
                <a:ea typeface="宋体" panose="02010600030101010101" pitchFamily="2" charset="-122"/>
              </a:rPr>
            </a:br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A9A04B92-4FED-4D83-9238-A16E439C2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672813"/>
              </p:ext>
            </p:extLst>
          </p:nvPr>
        </p:nvGraphicFramePr>
        <p:xfrm>
          <a:off x="798274" y="1090058"/>
          <a:ext cx="4197057" cy="97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2" name="Equation" r:id="rId6" imgW="1905000" imgH="444500" progId="Equation.DSMT4">
                  <p:embed/>
                </p:oleObj>
              </mc:Choice>
              <mc:Fallback>
                <p:oleObj name="Equation" r:id="rId6" imgW="1905000" imgH="444500" progId="Equation.DSMT4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19653DE7-3379-49BF-9A7C-F70386EC0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274" y="1090058"/>
                        <a:ext cx="4197057" cy="97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7799C33B-6053-4615-AA53-38467E4AB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61627"/>
              </p:ext>
            </p:extLst>
          </p:nvPr>
        </p:nvGraphicFramePr>
        <p:xfrm>
          <a:off x="829826" y="2020255"/>
          <a:ext cx="4675952" cy="891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name="Equation" r:id="rId8" imgW="2197100" imgH="419100" progId="Equation.DSMT4">
                  <p:embed/>
                </p:oleObj>
              </mc:Choice>
              <mc:Fallback>
                <p:oleObj name="Equation" r:id="rId8" imgW="2197100" imgH="419100" progId="Equation.DSMT4">
                  <p:embed/>
                  <p:pic>
                    <p:nvPicPr>
                      <p:cNvPr id="6147" name="Object 5">
                        <a:extLst>
                          <a:ext uri="{FF2B5EF4-FFF2-40B4-BE49-F238E27FC236}">
                            <a16:creationId xmlns:a16="http://schemas.microsoft.com/office/drawing/2014/main" id="{469EC8F7-7B01-4B43-906B-20D010B3C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826" y="2020255"/>
                        <a:ext cx="4675952" cy="891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865713A5-3DCB-4B9C-BFE0-ABC4B5EC5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24827"/>
              </p:ext>
            </p:extLst>
          </p:nvPr>
        </p:nvGraphicFramePr>
        <p:xfrm>
          <a:off x="4211960" y="3037722"/>
          <a:ext cx="3656282" cy="468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Equation" r:id="rId10" imgW="1586811" imgH="203112" progId="Equation.DSMT4">
                  <p:embed/>
                </p:oleObj>
              </mc:Choice>
              <mc:Fallback>
                <p:oleObj name="Equation" r:id="rId10" imgW="1586811" imgH="203112" progId="Equation.DSMT4">
                  <p:embed/>
                  <p:pic>
                    <p:nvPicPr>
                      <p:cNvPr id="6148" name="Object 6">
                        <a:extLst>
                          <a:ext uri="{FF2B5EF4-FFF2-40B4-BE49-F238E27FC236}">
                            <a16:creationId xmlns:a16="http://schemas.microsoft.com/office/drawing/2014/main" id="{E87444FF-C87E-427F-A0D9-5EF8D1A71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037722"/>
                        <a:ext cx="3656282" cy="468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4">
            <a:extLst>
              <a:ext uri="{FF2B5EF4-FFF2-40B4-BE49-F238E27FC236}">
                <a16:creationId xmlns:a16="http://schemas.microsoft.com/office/drawing/2014/main" id="{6CF3F9CB-21F6-4C30-B25C-03145ACE1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642283"/>
            <a:ext cx="3200256" cy="242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849E3EBF-35FB-4AD1-8E1B-0AB93E9E3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021257"/>
              </p:ext>
            </p:extLst>
          </p:nvPr>
        </p:nvGraphicFramePr>
        <p:xfrm>
          <a:off x="784822" y="3435846"/>
          <a:ext cx="4210509" cy="1433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name="Equation" r:id="rId13" imgW="1828800" imgH="622300" progId="Equation.DSMT4">
                  <p:embed/>
                </p:oleObj>
              </mc:Choice>
              <mc:Fallback>
                <p:oleObj name="Equation" r:id="rId13" imgW="1828800" imgH="62230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4CEDEC8A-DF40-4B33-A067-078F8EB9C8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22" y="3435846"/>
                        <a:ext cx="4210509" cy="1433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051261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7EC5B9B-63C7-4FAA-8022-CD4B17903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700088"/>
            <a:ext cx="8496944" cy="398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三次曲线的表达式如下：</a:t>
            </a: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0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表示成矩阵形式为：</a:t>
            </a:r>
            <a:br>
              <a:rPr lang="zh-CN" altLang="en-US" sz="2800" kern="0" dirty="0">
                <a:ea typeface="宋体" panose="02010600030101010101" pitchFamily="2" charset="-122"/>
              </a:rPr>
            </a:br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6E9A7DA3-DCB6-4DE9-A1F3-8C6C80850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803881"/>
              </p:ext>
            </p:extLst>
          </p:nvPr>
        </p:nvGraphicFramePr>
        <p:xfrm>
          <a:off x="756265" y="1189948"/>
          <a:ext cx="6249189" cy="1243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Equation" r:id="rId6" imgW="2235200" imgH="444500" progId="Equation.DSMT4">
                  <p:embed/>
                </p:oleObj>
              </mc:Choice>
              <mc:Fallback>
                <p:oleObj name="Equation" r:id="rId6" imgW="2235200" imgH="444500" progId="Equation.DSMT4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4F355D00-B6C5-46F1-8844-0DD154FC8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65" y="1189948"/>
                        <a:ext cx="6249189" cy="1243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6845F7EB-2290-4BAD-8240-BC8CBFC49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806667"/>
              </p:ext>
            </p:extLst>
          </p:nvPr>
        </p:nvGraphicFramePr>
        <p:xfrm>
          <a:off x="804003" y="2352538"/>
          <a:ext cx="6414360" cy="1008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Equation" r:id="rId8" imgW="2667000" imgH="419100" progId="Equation.DSMT4">
                  <p:embed/>
                </p:oleObj>
              </mc:Choice>
              <mc:Fallback>
                <p:oleObj name="Equation" r:id="rId8" imgW="2667000" imgH="419100" progId="Equation.DSMT4">
                  <p:embed/>
                  <p:pic>
                    <p:nvPicPr>
                      <p:cNvPr id="7171" name="Object 7">
                        <a:extLst>
                          <a:ext uri="{FF2B5EF4-FFF2-40B4-BE49-F238E27FC236}">
                            <a16:creationId xmlns:a16="http://schemas.microsoft.com/office/drawing/2014/main" id="{14F7AC36-5DF9-4DF7-A50F-77BE728BEC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03" y="2352538"/>
                        <a:ext cx="6414360" cy="1008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725E8986-6868-4CCD-8F3B-C5E3D9852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648853"/>
              </p:ext>
            </p:extLst>
          </p:nvPr>
        </p:nvGraphicFramePr>
        <p:xfrm>
          <a:off x="756265" y="4060884"/>
          <a:ext cx="5439135" cy="583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Equation" r:id="rId10" imgW="1892300" imgH="203200" progId="Equation.DSMT4">
                  <p:embed/>
                </p:oleObj>
              </mc:Choice>
              <mc:Fallback>
                <p:oleObj name="Equation" r:id="rId10" imgW="1892300" imgH="203200" progId="Equation.DSMT4">
                  <p:embed/>
                  <p:pic>
                    <p:nvPicPr>
                      <p:cNvPr id="7172" name="Object 10">
                        <a:extLst>
                          <a:ext uri="{FF2B5EF4-FFF2-40B4-BE49-F238E27FC236}">
                            <a16:creationId xmlns:a16="http://schemas.microsoft.com/office/drawing/2014/main" id="{9030ACA8-621D-4D17-9775-DFBD48F72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65" y="4060884"/>
                        <a:ext cx="5439135" cy="583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7130053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C7BDF9A-BDFF-4C82-9836-800EDD68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530" y="2472999"/>
            <a:ext cx="4230197" cy="2186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切向量</a:t>
            </a:r>
            <a:r>
              <a:rPr lang="zh-CN" altLang="en-US" sz="2800" kern="0" dirty="0"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07CE6BDE-8830-40C4-B0A8-CD52E4948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572950"/>
              </p:ext>
            </p:extLst>
          </p:nvPr>
        </p:nvGraphicFramePr>
        <p:xfrm>
          <a:off x="733271" y="667533"/>
          <a:ext cx="6227391" cy="123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0" name="Equation" r:id="rId6" imgW="2235200" imgH="444500" progId="Equation.DSMT4">
                  <p:embed/>
                </p:oleObj>
              </mc:Choice>
              <mc:Fallback>
                <p:oleObj name="Equation" r:id="rId6" imgW="2235200" imgH="444500" progId="Equation.DSMT4">
                  <p:embed/>
                  <p:pic>
                    <p:nvPicPr>
                      <p:cNvPr id="22533" name="Object 4">
                        <a:extLst>
                          <a:ext uri="{FF2B5EF4-FFF2-40B4-BE49-F238E27FC236}">
                            <a16:creationId xmlns:a16="http://schemas.microsoft.com/office/drawing/2014/main" id="{DFF3494D-4C0A-447D-81CA-E6D0FF5153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71" y="667533"/>
                        <a:ext cx="6227391" cy="1238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DDF3D24E-FE21-4AD9-8A89-BC7D966E46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429949"/>
              </p:ext>
            </p:extLst>
          </p:nvPr>
        </p:nvGraphicFramePr>
        <p:xfrm>
          <a:off x="733271" y="2892132"/>
          <a:ext cx="6241769" cy="1348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1" name="Equation" r:id="rId8" imgW="2057400" imgH="444500" progId="Equation.DSMT4">
                  <p:embed/>
                </p:oleObj>
              </mc:Choice>
              <mc:Fallback>
                <p:oleObj name="Equation" r:id="rId8" imgW="2057400" imgH="444500" progId="Equation.DSMT4">
                  <p:embed/>
                  <p:pic>
                    <p:nvPicPr>
                      <p:cNvPr id="9219" name="Object 7">
                        <a:extLst>
                          <a:ext uri="{FF2B5EF4-FFF2-40B4-BE49-F238E27FC236}">
                            <a16:creationId xmlns:a16="http://schemas.microsoft.com/office/drawing/2014/main" id="{04197A62-892B-4762-861E-686C6EF05F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71" y="2892132"/>
                        <a:ext cx="6241769" cy="1348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F1E3AA8-4140-4B03-96A4-EE64B9493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932408"/>
              </p:ext>
            </p:extLst>
          </p:nvPr>
        </p:nvGraphicFramePr>
        <p:xfrm>
          <a:off x="770381" y="4203762"/>
          <a:ext cx="5363234" cy="628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2" name="Equation" r:id="rId10" imgW="1739900" imgH="203200" progId="Equation.DSMT4">
                  <p:embed/>
                </p:oleObj>
              </mc:Choice>
              <mc:Fallback>
                <p:oleObj name="Equation" r:id="rId10" imgW="1739900" imgH="203200" progId="Equation.DSMT4">
                  <p:embed/>
                  <p:pic>
                    <p:nvPicPr>
                      <p:cNvPr id="9220" name="Object 9">
                        <a:extLst>
                          <a:ext uri="{FF2B5EF4-FFF2-40B4-BE49-F238E27FC236}">
                            <a16:creationId xmlns:a16="http://schemas.microsoft.com/office/drawing/2014/main" id="{FC1B3DD9-E8EB-486C-8FF3-635BE04C3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81" y="4203762"/>
                        <a:ext cx="5363234" cy="628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9C24EF28-2F7D-49E2-BD51-A0F8763B0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216573"/>
              </p:ext>
            </p:extLst>
          </p:nvPr>
        </p:nvGraphicFramePr>
        <p:xfrm>
          <a:off x="805797" y="1867658"/>
          <a:ext cx="5637866" cy="605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3" name="Equation" r:id="rId12" imgW="1892300" imgH="203200" progId="Equation.DSMT4">
                  <p:embed/>
                </p:oleObj>
              </mc:Choice>
              <mc:Fallback>
                <p:oleObj name="Equation" r:id="rId12" imgW="1892300" imgH="203200" progId="Equation.DSMT4">
                  <p:embed/>
                  <p:pic>
                    <p:nvPicPr>
                      <p:cNvPr id="22536" name="Object 12">
                        <a:extLst>
                          <a:ext uri="{FF2B5EF4-FFF2-40B4-BE49-F238E27FC236}">
                            <a16:creationId xmlns:a16="http://schemas.microsoft.com/office/drawing/2014/main" id="{1493D881-349D-47B6-B2CF-9396DF6493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797" y="1867658"/>
                        <a:ext cx="5637866" cy="605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219442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参数表示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026F687-13DF-4959-8048-FB3E6DD93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71550"/>
            <a:ext cx="8411989" cy="46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二次多项式，由于它只定义了一个灵活点，因此在逼近曲线时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不够灵活</a:t>
            </a: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次数高于</a:t>
            </a:r>
            <a:r>
              <a:rPr lang="en-US" altLang="zh-CN" sz="2800" kern="0" dirty="0">
                <a:ea typeface="宋体" panose="02010600030101010101" pitchFamily="2" charset="-122"/>
              </a:rPr>
              <a:t>3</a:t>
            </a:r>
            <a:r>
              <a:rPr lang="zh-CN" altLang="en-US" sz="2800" kern="0" dirty="0">
                <a:ea typeface="宋体" panose="02010600030101010101" pitchFamily="2" charset="-122"/>
              </a:rPr>
              <a:t>的多项式虽然更加灵活，但也更加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复杂</a:t>
            </a:r>
            <a:r>
              <a:rPr lang="zh-CN" altLang="en-US" sz="2800" kern="0" dirty="0">
                <a:ea typeface="宋体" panose="02010600030101010101" pitchFamily="2" charset="-122"/>
              </a:rPr>
              <a:t>，且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缺少必要的稳定性</a:t>
            </a:r>
            <a:endParaRPr lang="en-US" altLang="zh-CN" sz="2800" kern="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/>
              <a:t>三次曲线：灵活简单稳定</a:t>
            </a:r>
            <a:endParaRPr lang="en-US" altLang="zh-CN" sz="2800" kern="0" dirty="0"/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05ECDA9-20AE-4E02-8EB3-55894974F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893" y="2656851"/>
            <a:ext cx="3695574" cy="2486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AAF8AD6E-FE22-4A42-811F-E97F094CB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824615"/>
              </p:ext>
            </p:extLst>
          </p:nvPr>
        </p:nvGraphicFramePr>
        <p:xfrm>
          <a:off x="467544" y="3368436"/>
          <a:ext cx="4883345" cy="523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Equation" r:id="rId7" imgW="1892300" imgH="203200" progId="Equation.DSMT4">
                  <p:embed/>
                </p:oleObj>
              </mc:Choice>
              <mc:Fallback>
                <p:oleObj name="Equation" r:id="rId7" imgW="1892300" imgH="203200" progId="Equation.DSMT4">
                  <p:embed/>
                  <p:pic>
                    <p:nvPicPr>
                      <p:cNvPr id="23558" name="Object 12">
                        <a:extLst>
                          <a:ext uri="{FF2B5EF4-FFF2-40B4-BE49-F238E27FC236}">
                            <a16:creationId xmlns:a16="http://schemas.microsoft.com/office/drawing/2014/main" id="{F5F8B9D4-82C1-4A37-96A6-844259BCA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3368436"/>
                        <a:ext cx="4883345" cy="523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5315332"/>
      </p:ext>
    </p:extLst>
  </p:cSld>
  <p:clrMapOvr>
    <a:masterClrMapping/>
  </p:clrMapOvr>
  <p:transition spd="med" advClick="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BD34808-821E-41F0-A70D-2F35983D0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00088"/>
            <a:ext cx="7776864" cy="398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基本理论及参数表示法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Hermite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Bezier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样条曲线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曲面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34DDA1B7-74C6-435A-84C5-6170D833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284" y="1594290"/>
            <a:ext cx="3853332" cy="313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452012"/>
      </p:ext>
    </p:extLst>
  </p:cSld>
  <p:clrMapOvr>
    <a:masterClrMapping/>
  </p:clrMapOvr>
  <p:transition spd="med" advClick="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——Hermit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2AAE5D-8E0E-43A5-BC39-C69BDE4F1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600075"/>
            <a:ext cx="8568952" cy="418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Hermite</a:t>
            </a:r>
            <a:r>
              <a:rPr lang="zh-CN" altLang="en-US" sz="2800" kern="0" dirty="0">
                <a:ea typeface="宋体" panose="02010600030101010101" pitchFamily="2" charset="-122"/>
              </a:rPr>
              <a:t>曲线基于对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四个量</a:t>
            </a:r>
            <a:r>
              <a:rPr lang="zh-CN" altLang="en-US" sz="2800" kern="0" dirty="0">
                <a:ea typeface="宋体" panose="02010600030101010101" pitchFamily="2" charset="-122"/>
              </a:rPr>
              <a:t>的控制</a:t>
            </a:r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两个曲线开始与结束的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点</a:t>
            </a:r>
            <a:endParaRPr lang="en-US" altLang="zh-CN" sz="2800" kern="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两个曲线在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端点处切线</a:t>
            </a:r>
            <a:r>
              <a:rPr lang="zh-CN" altLang="en-US" sz="2800" kern="0" dirty="0">
                <a:ea typeface="宋体" panose="02010600030101010101" pitchFamily="2" charset="-122"/>
              </a:rPr>
              <a:t>的向量 </a:t>
            </a:r>
          </a:p>
          <a:p>
            <a:pPr eaLnBrk="1" hangingPunct="1"/>
            <a:endParaRPr lang="en-US" altLang="zh-CN" sz="24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5D4EECB-0DBA-47D6-B0E9-711AFFCF8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10203"/>
              </p:ext>
            </p:extLst>
          </p:nvPr>
        </p:nvGraphicFramePr>
        <p:xfrm>
          <a:off x="5729092" y="2361749"/>
          <a:ext cx="3284478" cy="2118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Equation" r:id="rId6" imgW="1397000" imgH="825500" progId="Equation.DSMT4">
                  <p:embed/>
                </p:oleObj>
              </mc:Choice>
              <mc:Fallback>
                <p:oleObj name="Equation" r:id="rId6" imgW="1397000" imgH="825500" progId="Equation.DSMT4">
                  <p:embed/>
                  <p:pic>
                    <p:nvPicPr>
                      <p:cNvPr id="10242" name="Object 5">
                        <a:extLst>
                          <a:ext uri="{FF2B5EF4-FFF2-40B4-BE49-F238E27FC236}">
                            <a16:creationId xmlns:a16="http://schemas.microsoft.com/office/drawing/2014/main" id="{EBBF6825-CAE8-4BBB-BF5B-20550E157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092" y="2361749"/>
                        <a:ext cx="3284478" cy="2118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129FB6A-A500-4E03-A9E9-5987DCC85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443774"/>
              </p:ext>
            </p:extLst>
          </p:nvPr>
        </p:nvGraphicFramePr>
        <p:xfrm>
          <a:off x="635188" y="2751563"/>
          <a:ext cx="3972817" cy="507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Equation" r:id="rId8" imgW="1739900" imgH="203200" progId="Equation.DSMT4">
                  <p:embed/>
                </p:oleObj>
              </mc:Choice>
              <mc:Fallback>
                <p:oleObj name="Equation" r:id="rId8" imgW="1739900" imgH="203200" progId="Equation.DSMT4">
                  <p:embed/>
                  <p:pic>
                    <p:nvPicPr>
                      <p:cNvPr id="10243" name="Object 9">
                        <a:extLst>
                          <a:ext uri="{FF2B5EF4-FFF2-40B4-BE49-F238E27FC236}">
                            <a16:creationId xmlns:a16="http://schemas.microsoft.com/office/drawing/2014/main" id="{4A2628B6-5CDA-4B02-954D-09FB73498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88" y="2751563"/>
                        <a:ext cx="3972817" cy="507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50F9701C-BB7B-4F8D-B54A-D8CCAC703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094709"/>
              </p:ext>
            </p:extLst>
          </p:nvPr>
        </p:nvGraphicFramePr>
        <p:xfrm>
          <a:off x="683891" y="2222500"/>
          <a:ext cx="4248149" cy="497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Equation" r:id="rId10" imgW="1892300" imgH="203200" progId="Equation.DSMT4">
                  <p:embed/>
                </p:oleObj>
              </mc:Choice>
              <mc:Fallback>
                <p:oleObj name="Equation" r:id="rId10" imgW="1892300" imgH="203200" progId="Equation.DSMT4">
                  <p:embed/>
                  <p:pic>
                    <p:nvPicPr>
                      <p:cNvPr id="10244" name="Object 12">
                        <a:extLst>
                          <a:ext uri="{FF2B5EF4-FFF2-40B4-BE49-F238E27FC236}">
                            <a16:creationId xmlns:a16="http://schemas.microsoft.com/office/drawing/2014/main" id="{9872DF0B-A897-439A-8CCF-6216CADED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1" y="2222500"/>
                        <a:ext cx="4248149" cy="497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4401900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——Hermit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90E4C93-0BFD-4262-AEBA-9ABA3B19F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5" y="665197"/>
            <a:ext cx="8424936" cy="392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整理就得到了所需的四个等式，写成线性方程组的形式如下：</a:t>
            </a:r>
            <a:br>
              <a:rPr lang="zh-CN" altLang="en-US" sz="2800" kern="0" dirty="0">
                <a:ea typeface="宋体" panose="02010600030101010101" pitchFamily="2" charset="-122"/>
              </a:rPr>
            </a:br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3459B9DF-FAE2-450B-BED2-A026D997A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210872"/>
              </p:ext>
            </p:extLst>
          </p:nvPr>
        </p:nvGraphicFramePr>
        <p:xfrm>
          <a:off x="724612" y="1728904"/>
          <a:ext cx="3418052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6" imgW="1358310" imgH="774364" progId="Equation.DSMT4">
                  <p:embed/>
                </p:oleObj>
              </mc:Choice>
              <mc:Fallback>
                <p:oleObj name="Equation" r:id="rId6" imgW="1358310" imgH="774364" progId="Equation.DSMT4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F56631FD-81C7-4DE1-8C92-C4355E4D78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12" y="1728904"/>
                        <a:ext cx="3418052" cy="21748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0ED38791-8DE8-432C-B7C8-A7C8602828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97356"/>
              </p:ext>
            </p:extLst>
          </p:nvPr>
        </p:nvGraphicFramePr>
        <p:xfrm>
          <a:off x="4320175" y="1728904"/>
          <a:ext cx="4089122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Equation" r:id="rId8" imgW="1624895" imgH="774364" progId="Equation.DSMT4">
                  <p:embed/>
                </p:oleObj>
              </mc:Choice>
              <mc:Fallback>
                <p:oleObj name="Equation" r:id="rId8" imgW="1624895" imgH="774364" progId="Equation.DSMT4">
                  <p:embed/>
                  <p:pic>
                    <p:nvPicPr>
                      <p:cNvPr id="11267" name="Object 8">
                        <a:extLst>
                          <a:ext uri="{FF2B5EF4-FFF2-40B4-BE49-F238E27FC236}">
                            <a16:creationId xmlns:a16="http://schemas.microsoft.com/office/drawing/2014/main" id="{C4810140-757A-42FA-8002-5124ADF77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175" y="1728904"/>
                        <a:ext cx="4089122" cy="21748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8694551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——Hermit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1B76D107-B1E5-4544-80BA-D003EA9A4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280399"/>
              </p:ext>
            </p:extLst>
          </p:nvPr>
        </p:nvGraphicFramePr>
        <p:xfrm>
          <a:off x="541628" y="543959"/>
          <a:ext cx="5242520" cy="426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Equation" r:id="rId6" imgW="2387600" imgH="1943100" progId="Equation.DSMT4">
                  <p:embed/>
                </p:oleObj>
              </mc:Choice>
              <mc:Fallback>
                <p:oleObj name="Equation" r:id="rId6" imgW="2387600" imgH="1943100" progId="Equation.DSMT4">
                  <p:embed/>
                  <p:pic>
                    <p:nvPicPr>
                      <p:cNvPr id="27653" name="Object 4">
                        <a:extLst>
                          <a:ext uri="{FF2B5EF4-FFF2-40B4-BE49-F238E27FC236}">
                            <a16:creationId xmlns:a16="http://schemas.microsoft.com/office/drawing/2014/main" id="{56EEC497-BE6A-44B9-805E-A74B8DBDA6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28" y="543959"/>
                        <a:ext cx="5242520" cy="4265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8A1366BF-FAC7-4658-8F2D-5CE71E81CD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311816"/>
              </p:ext>
            </p:extLst>
          </p:nvPr>
        </p:nvGraphicFramePr>
        <p:xfrm>
          <a:off x="6157418" y="2464199"/>
          <a:ext cx="2782322" cy="1945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8" imgW="1308100" imgH="914400" progId="Equation.DSMT4">
                  <p:embed/>
                </p:oleObj>
              </mc:Choice>
              <mc:Fallback>
                <p:oleObj name="Equation" r:id="rId8" imgW="1308100" imgH="914400" progId="Equation.DSMT4">
                  <p:embed/>
                  <p:pic>
                    <p:nvPicPr>
                      <p:cNvPr id="12291" name="Object 9">
                        <a:extLst>
                          <a:ext uri="{FF2B5EF4-FFF2-40B4-BE49-F238E27FC236}">
                            <a16:creationId xmlns:a16="http://schemas.microsoft.com/office/drawing/2014/main" id="{55D8507A-7802-4858-911C-3133A0256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7418" y="2464199"/>
                        <a:ext cx="2782322" cy="19455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 algn="ctr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5CBCEF3E-1263-4F87-87A7-1C7352D06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625970"/>
              </p:ext>
            </p:extLst>
          </p:nvPr>
        </p:nvGraphicFramePr>
        <p:xfrm>
          <a:off x="6588224" y="793888"/>
          <a:ext cx="2356247" cy="1369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Visio" r:id="rId10" imgW="2588209" imgH="1501216" progId="Visio.Drawing.11">
                  <p:embed/>
                </p:oleObj>
              </mc:Choice>
              <mc:Fallback>
                <p:oleObj name="Visio" r:id="rId10" imgW="2588209" imgH="1501216" progId="Visio.Drawing.11">
                  <p:embed/>
                  <p:pic>
                    <p:nvPicPr>
                      <p:cNvPr id="27656" name="Object 10">
                        <a:extLst>
                          <a:ext uri="{FF2B5EF4-FFF2-40B4-BE49-F238E27FC236}">
                            <a16:creationId xmlns:a16="http://schemas.microsoft.com/office/drawing/2014/main" id="{E8598055-A97A-4F9A-9ECA-70E68F2149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793888"/>
                        <a:ext cx="2356247" cy="1369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EC42AB8A-38D1-4CCB-8E6F-8AAE72C6BC26}"/>
              </a:ext>
            </a:extLst>
          </p:cNvPr>
          <p:cNvSpPr txBox="1">
            <a:spLocks noChangeArrowheads="1"/>
          </p:cNvSpPr>
          <p:nvPr/>
        </p:nvSpPr>
        <p:spPr>
          <a:xfrm>
            <a:off x="199529" y="700088"/>
            <a:ext cx="4670425" cy="518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回代得到</a:t>
            </a:r>
            <a:r>
              <a:rPr lang="en-US" altLang="zh-CN" sz="2800">
                <a:ea typeface="宋体" panose="02010600030101010101" pitchFamily="2" charset="-122"/>
              </a:rPr>
              <a:t>Hermite</a:t>
            </a:r>
            <a:r>
              <a:rPr lang="zh-CN" altLang="en-US" sz="2800">
                <a:ea typeface="宋体" panose="02010600030101010101" pitchFamily="2" charset="-122"/>
              </a:rPr>
              <a:t>曲线：</a:t>
            </a:r>
          </a:p>
        </p:txBody>
      </p:sp>
    </p:spTree>
    <p:extLst>
      <p:ext uri="{BB962C8B-B14F-4D97-AF65-F5344CB8AC3E}">
        <p14:creationId xmlns:p14="http://schemas.microsoft.com/office/powerpoint/2010/main" val="306683873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——Hermit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B9E654-CB2A-404A-BAAF-9619C1544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97" y="567883"/>
            <a:ext cx="8556005" cy="484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H</a:t>
            </a:r>
            <a:r>
              <a:rPr lang="en-US" altLang="zh-CN" sz="2800" i="1" kern="0" baseline="-30000" dirty="0">
                <a:ea typeface="宋体" panose="02010600030101010101" pitchFamily="2" charset="-122"/>
              </a:rPr>
              <a:t>i</a:t>
            </a:r>
            <a:r>
              <a:rPr lang="zh-CN" altLang="en-US" sz="2800" kern="0" dirty="0">
                <a:ea typeface="宋体" panose="02010600030101010101" pitchFamily="2" charset="-122"/>
              </a:rPr>
              <a:t>称为</a:t>
            </a:r>
            <a:r>
              <a:rPr lang="en-US" altLang="zh-CN" sz="2800" b="1" kern="0" dirty="0">
                <a:ea typeface="宋体" panose="02010600030101010101" pitchFamily="2" charset="-122"/>
              </a:rPr>
              <a:t>Hermite</a:t>
            </a:r>
            <a:r>
              <a:rPr lang="zh-CN" altLang="en-US" sz="2800" b="1" kern="0" dirty="0">
                <a:ea typeface="宋体" panose="02010600030101010101" pitchFamily="2" charset="-122"/>
              </a:rPr>
              <a:t>基函数（或混合函数，调和函数</a:t>
            </a:r>
            <a:r>
              <a:rPr lang="zh-CN" altLang="en-US" sz="2800" kern="0" dirty="0">
                <a:ea typeface="宋体" panose="02010600030101010101" pitchFamily="2" charset="-122"/>
              </a:rPr>
              <a:t>）：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F9992FB0-FE82-4815-A69C-2F11CE763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17506"/>
              </p:ext>
            </p:extLst>
          </p:nvPr>
        </p:nvGraphicFramePr>
        <p:xfrm>
          <a:off x="4788024" y="1689988"/>
          <a:ext cx="3989970" cy="304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Visio" r:id="rId6" imgW="4584960" imgH="3502080" progId="Visio.Drawing.6">
                  <p:embed/>
                </p:oleObj>
              </mc:Choice>
              <mc:Fallback>
                <p:oleObj name="Visio" r:id="rId6" imgW="4584960" imgH="3502080" progId="Visio.Drawing.6">
                  <p:embed/>
                  <p:pic>
                    <p:nvPicPr>
                      <p:cNvPr id="13314" name="Object 4">
                        <a:extLst>
                          <a:ext uri="{FF2B5EF4-FFF2-40B4-BE49-F238E27FC236}">
                            <a16:creationId xmlns:a16="http://schemas.microsoft.com/office/drawing/2014/main" id="{D8B74993-AD5E-474A-AF5E-0E3C5C082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1689988"/>
                        <a:ext cx="3989970" cy="304781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79A84C1E-CA9C-4C11-A84D-494BF1D5F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223323"/>
              </p:ext>
            </p:extLst>
          </p:nvPr>
        </p:nvGraphicFramePr>
        <p:xfrm>
          <a:off x="683568" y="1129098"/>
          <a:ext cx="6686097" cy="56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8" imgW="2273300" imgH="190500" progId="Equation.DSMT4">
                  <p:embed/>
                </p:oleObj>
              </mc:Choice>
              <mc:Fallback>
                <p:oleObj name="Equation" r:id="rId8" imgW="2273300" imgH="190500" progId="Equation.DSMT4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E0246461-C3A7-4872-A8BD-D08B77AF4E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29098"/>
                        <a:ext cx="6686097" cy="56089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FF5628D-6BCC-4999-A006-78888701B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561224"/>
              </p:ext>
            </p:extLst>
          </p:nvPr>
        </p:nvGraphicFramePr>
        <p:xfrm>
          <a:off x="699767" y="1848533"/>
          <a:ext cx="3133791" cy="2190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10" imgW="1308100" imgH="914400" progId="Equation.DSMT4">
                  <p:embed/>
                </p:oleObj>
              </mc:Choice>
              <mc:Fallback>
                <p:oleObj name="Equation" r:id="rId10" imgW="1308100" imgH="914400" progId="Equation.DSMT4">
                  <p:embed/>
                  <p:pic>
                    <p:nvPicPr>
                      <p:cNvPr id="13316" name="Object 9">
                        <a:extLst>
                          <a:ext uri="{FF2B5EF4-FFF2-40B4-BE49-F238E27FC236}">
                            <a16:creationId xmlns:a16="http://schemas.microsoft.com/office/drawing/2014/main" id="{3C0E863E-3C82-4303-96CD-84F4A1DF3B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67" y="1848533"/>
                        <a:ext cx="3133791" cy="219034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 algn="ctr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146500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——Hermit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F2818E1-E1DB-41BE-9A6F-29A91DA9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68730"/>
            <a:ext cx="8424936" cy="403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特点分析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可局部调整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: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每个曲线段仅依赖于端点约束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通过斜率插值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: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实际应用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</a:rPr>
              <a:t>中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曲线斜率值不好求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DD25E32-3ECC-4C64-BDD9-241603FD7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833" y="2479510"/>
            <a:ext cx="3409873" cy="229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0833739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D812B7-3F93-4A4D-973F-2A4B40B6A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738386"/>
            <a:ext cx="8265244" cy="44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基本理论及参数表示法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Hermite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Bezier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样条曲线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曲面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4616B6F1-849C-4349-95A3-75E8797FC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776" y="2030836"/>
            <a:ext cx="3354882" cy="273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405460"/>
      </p:ext>
    </p:extLst>
  </p:cSld>
  <p:clrMapOvr>
    <a:masterClrMapping/>
  </p:clrMapOvr>
  <p:transition spd="med" advClick="0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B451A5-19F5-46B9-A7C4-FFE483680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700088"/>
            <a:ext cx="8896350" cy="4765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实际应用中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Hermite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曲线直接指定切向量并不方便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法国数学家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P.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Bézier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可用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位置矢量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来代替它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一次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Bézier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二次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Bézier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曲线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854A64B-F207-460A-B737-90A59555D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295184"/>
              </p:ext>
            </p:extLst>
          </p:nvPr>
        </p:nvGraphicFramePr>
        <p:xfrm>
          <a:off x="485114" y="2221108"/>
          <a:ext cx="3897048" cy="548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0" name="Equation" r:id="rId6" imgW="1206500" imgH="228600" progId="Equation.DSMT4">
                  <p:embed/>
                </p:oleObj>
              </mc:Choice>
              <mc:Fallback>
                <p:oleObj name="Equation" r:id="rId6" imgW="1206500" imgH="228600" progId="Equation.DSMT4">
                  <p:embed/>
                  <p:pic>
                    <p:nvPicPr>
                      <p:cNvPr id="14338" name="Object 7">
                        <a:extLst>
                          <a:ext uri="{FF2B5EF4-FFF2-40B4-BE49-F238E27FC236}">
                            <a16:creationId xmlns:a16="http://schemas.microsoft.com/office/drawing/2014/main" id="{EA819C8E-7A99-428F-A580-305BE52595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14" y="2221108"/>
                        <a:ext cx="3897048" cy="548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C68B2805-4B31-4288-BC87-D7579A33C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081391"/>
              </p:ext>
            </p:extLst>
          </p:nvPr>
        </p:nvGraphicFramePr>
        <p:xfrm>
          <a:off x="6443662" y="1539768"/>
          <a:ext cx="2330449" cy="1619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1" name="Visio" r:id="rId8" imgW="1781366" imgH="1234440" progId="Visio.Drawing.11">
                  <p:embed/>
                </p:oleObj>
              </mc:Choice>
              <mc:Fallback>
                <p:oleObj name="Visio" r:id="rId8" imgW="1781366" imgH="1234440" progId="Visio.Drawing.11">
                  <p:embed/>
                  <p:pic>
                    <p:nvPicPr>
                      <p:cNvPr id="14339" name="Object 9">
                        <a:extLst>
                          <a:ext uri="{FF2B5EF4-FFF2-40B4-BE49-F238E27FC236}">
                            <a16:creationId xmlns:a16="http://schemas.microsoft.com/office/drawing/2014/main" id="{5DCEA895-4CA2-4C55-8050-2D803FEA2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2" y="1539768"/>
                        <a:ext cx="2330449" cy="1619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E0B104EE-EE19-45A9-8B4E-4AFE3DFE8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909486"/>
              </p:ext>
            </p:extLst>
          </p:nvPr>
        </p:nvGraphicFramePr>
        <p:xfrm>
          <a:off x="6131720" y="2992191"/>
          <a:ext cx="2980916" cy="1869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2" name="Visio" r:id="rId10" imgW="2658847" imgH="1666837" progId="Visio.Drawing.11">
                  <p:embed/>
                </p:oleObj>
              </mc:Choice>
              <mc:Fallback>
                <p:oleObj name="Visio" r:id="rId10" imgW="2658847" imgH="1666837" progId="Visio.Drawing.11">
                  <p:embed/>
                  <p:pic>
                    <p:nvPicPr>
                      <p:cNvPr id="14340" name="Object 6">
                        <a:extLst>
                          <a:ext uri="{FF2B5EF4-FFF2-40B4-BE49-F238E27FC236}">
                            <a16:creationId xmlns:a16="http://schemas.microsoft.com/office/drawing/2014/main" id="{3DCFDB83-99D7-4303-98DF-C662BED59A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1720" y="2992191"/>
                        <a:ext cx="2980916" cy="1869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F123EB6-5053-4F76-A240-1F22F581F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6727"/>
              </p:ext>
            </p:extLst>
          </p:nvPr>
        </p:nvGraphicFramePr>
        <p:xfrm>
          <a:off x="521961" y="3148071"/>
          <a:ext cx="5873378" cy="1648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Equation" r:id="rId12" imgW="2387600" imgH="736600" progId="Equation.DSMT4">
                  <p:embed/>
                </p:oleObj>
              </mc:Choice>
              <mc:Fallback>
                <p:oleObj name="Equation" r:id="rId12" imgW="2387600" imgH="736600" progId="Equation.DSMT4">
                  <p:embed/>
                  <p:pic>
                    <p:nvPicPr>
                      <p:cNvPr id="14341" name="Object 11">
                        <a:extLst>
                          <a:ext uri="{FF2B5EF4-FFF2-40B4-BE49-F238E27FC236}">
                            <a16:creationId xmlns:a16="http://schemas.microsoft.com/office/drawing/2014/main" id="{331C8A8D-32C7-46E0-8A7C-93ED82D94B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61" y="3148071"/>
                        <a:ext cx="5873378" cy="1648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6916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DAA164A7-B9FB-4BCA-BA9F-96998CA21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45" y="734525"/>
            <a:ext cx="8297118" cy="438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>
                <a:ea typeface="宋体" panose="02010600030101010101" pitchFamily="2" charset="-122"/>
              </a:rPr>
              <a:t>三次</a:t>
            </a:r>
            <a:r>
              <a:rPr lang="en-US" altLang="zh-CN" kern="0">
                <a:ea typeface="宋体" panose="02010600030101010101" pitchFamily="2" charset="-122"/>
              </a:rPr>
              <a:t>Bezier</a:t>
            </a:r>
            <a:r>
              <a:rPr lang="zh-CN" altLang="en-US" kern="0">
                <a:ea typeface="宋体" panose="02010600030101010101" pitchFamily="2" charset="-122"/>
              </a:rPr>
              <a:t>曲线</a:t>
            </a:r>
          </a:p>
          <a:p>
            <a:endParaRPr lang="zh-CN" altLang="en-US" kern="0">
              <a:ea typeface="宋体" panose="02010600030101010101" pitchFamily="2" charset="-122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D47959A5-2F03-4127-9060-9ACB2D3ED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693422"/>
              </p:ext>
            </p:extLst>
          </p:nvPr>
        </p:nvGraphicFramePr>
        <p:xfrm>
          <a:off x="4083744" y="3106798"/>
          <a:ext cx="4994706" cy="206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Visio" r:id="rId6" imgW="4496448" imgH="1858518" progId="Visio.Drawing.11">
                  <p:embed/>
                </p:oleObj>
              </mc:Choice>
              <mc:Fallback>
                <p:oleObj name="Visio" r:id="rId6" imgW="4496448" imgH="1858518" progId="Visio.Drawing.11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DE71FE7D-37C2-48D4-9384-B8B35F0DC8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744" y="3106798"/>
                        <a:ext cx="4994706" cy="2063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1147972F-52B0-4628-9FE6-CAD553DC5D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179655"/>
              </p:ext>
            </p:extLst>
          </p:nvPr>
        </p:nvGraphicFramePr>
        <p:xfrm>
          <a:off x="755576" y="1347614"/>
          <a:ext cx="6233380" cy="1965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Equation" r:id="rId8" imgW="2857500" imgH="990600" progId="Equation.DSMT4">
                  <p:embed/>
                </p:oleObj>
              </mc:Choice>
              <mc:Fallback>
                <p:oleObj name="Equation" r:id="rId8" imgW="2857500" imgH="990600" progId="Equation.DSMT4">
                  <p:embed/>
                  <p:pic>
                    <p:nvPicPr>
                      <p:cNvPr id="15363" name="Object 11">
                        <a:extLst>
                          <a:ext uri="{FF2B5EF4-FFF2-40B4-BE49-F238E27FC236}">
                            <a16:creationId xmlns:a16="http://schemas.microsoft.com/office/drawing/2014/main" id="{B2218359-FB1D-464E-8C8F-E2D14780F5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347614"/>
                        <a:ext cx="6233380" cy="1965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481970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——N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1769A4-1F4A-40BC-8624-C17212F45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21" y="698341"/>
            <a:ext cx="8238020" cy="330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n</a:t>
            </a:r>
            <a:r>
              <a:rPr lang="zh-CN" altLang="en-US" sz="2800" kern="0" dirty="0">
                <a:ea typeface="宋体" panose="02010600030101010101" pitchFamily="2" charset="-122"/>
              </a:rPr>
              <a:t>阶</a:t>
            </a:r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曲线有一个统一的表达式，可以写作：</a:t>
            </a: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AA25431-22C8-4F81-809E-F26183CA89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992907"/>
              </p:ext>
            </p:extLst>
          </p:nvPr>
        </p:nvGraphicFramePr>
        <p:xfrm>
          <a:off x="537878" y="1282489"/>
          <a:ext cx="4785541" cy="1129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Equation" r:id="rId6" imgW="1549400" imgH="368300" progId="Equation.DSMT4">
                  <p:embed/>
                </p:oleObj>
              </mc:Choice>
              <mc:Fallback>
                <p:oleObj name="Equation" r:id="rId6" imgW="1549400" imgH="368300" progId="Equation.DSMT4">
                  <p:embed/>
                  <p:pic>
                    <p:nvPicPr>
                      <p:cNvPr id="33797" name="Object 7">
                        <a:extLst>
                          <a:ext uri="{FF2B5EF4-FFF2-40B4-BE49-F238E27FC236}">
                            <a16:creationId xmlns:a16="http://schemas.microsoft.com/office/drawing/2014/main" id="{AB6F6961-7D34-4A90-AECB-2754DFB3C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78" y="1282489"/>
                        <a:ext cx="4785541" cy="1129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381FFBE-9AFF-459A-9ECC-A5122B797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41809"/>
              </p:ext>
            </p:extLst>
          </p:nvPr>
        </p:nvGraphicFramePr>
        <p:xfrm>
          <a:off x="452990" y="2367064"/>
          <a:ext cx="8238020" cy="111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Equation" r:id="rId8" imgW="2908300" imgH="393700" progId="Equation.DSMT4">
                  <p:embed/>
                </p:oleObj>
              </mc:Choice>
              <mc:Fallback>
                <p:oleObj name="Equation" r:id="rId8" imgW="2908300" imgH="393700" progId="Equation.DSMT4">
                  <p:embed/>
                  <p:pic>
                    <p:nvPicPr>
                      <p:cNvPr id="33798" name="Object 8">
                        <a:extLst>
                          <a:ext uri="{FF2B5EF4-FFF2-40B4-BE49-F238E27FC236}">
                            <a16:creationId xmlns:a16="http://schemas.microsoft.com/office/drawing/2014/main" id="{951C35A8-2B52-4177-B201-A5C496F07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90" y="2367064"/>
                        <a:ext cx="8238020" cy="1115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4505780"/>
      </p:ext>
    </p:extLst>
  </p:cSld>
  <p:clrMapOvr>
    <a:masterClrMapping/>
  </p:clrMapOvr>
  <p:transition spd="med" advClick="0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1527F40-8090-47F0-BB06-CB08606A2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38" y="681236"/>
            <a:ext cx="4306143" cy="4241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三次</a:t>
            </a:r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</a:t>
            </a:r>
            <a:r>
              <a:rPr lang="en-US" altLang="zh-CN" sz="2800" kern="0" dirty="0">
                <a:ea typeface="宋体" panose="02010600030101010101" pitchFamily="2" charset="-122"/>
              </a:rPr>
              <a:t>:</a:t>
            </a:r>
            <a:endParaRPr lang="zh-CN" altLang="en-US" sz="2800" kern="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其中作为基函数的</a:t>
            </a:r>
            <a:r>
              <a:rPr lang="en-US" altLang="zh-CN" sz="2800" kern="0" dirty="0">
                <a:ea typeface="宋体" panose="02010600030101010101" pitchFamily="2" charset="-122"/>
              </a:rPr>
              <a:t>4</a:t>
            </a:r>
            <a:r>
              <a:rPr lang="zh-CN" altLang="en-US" sz="2800" kern="0" dirty="0">
                <a:ea typeface="宋体" panose="02010600030101010101" pitchFamily="2" charset="-122"/>
              </a:rPr>
              <a:t>个多项式称为</a:t>
            </a:r>
            <a:r>
              <a:rPr lang="en-US" altLang="zh-CN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Bernstein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函数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CF484FCD-FAF5-4929-AE43-CD9D55427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721832"/>
              </p:ext>
            </p:extLst>
          </p:nvPr>
        </p:nvGraphicFramePr>
        <p:xfrm>
          <a:off x="6400112" y="1869932"/>
          <a:ext cx="2661116" cy="2893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8" r:id="rId6" imgW="3420000" imgH="3718080" progId="Visio.Drawing.6">
                  <p:embed/>
                </p:oleObj>
              </mc:Choice>
              <mc:Fallback>
                <p:oleObj r:id="rId6" imgW="3420000" imgH="3718080" progId="Visio.Drawing.6">
                  <p:embed/>
                  <p:pic>
                    <p:nvPicPr>
                      <p:cNvPr id="17410" name="Object 4">
                        <a:extLst>
                          <a:ext uri="{FF2B5EF4-FFF2-40B4-BE49-F238E27FC236}">
                            <a16:creationId xmlns:a16="http://schemas.microsoft.com/office/drawing/2014/main" id="{9037CF2B-D69A-4B54-B404-D12C1A206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112" y="1869932"/>
                        <a:ext cx="2661116" cy="289342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4D07042E-C326-4EF1-A9D9-5E1C18B723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83661"/>
              </p:ext>
            </p:extLst>
          </p:nvPr>
        </p:nvGraphicFramePr>
        <p:xfrm>
          <a:off x="539552" y="2747178"/>
          <a:ext cx="5303961" cy="1820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9" name="Equation" r:id="rId8" imgW="3403600" imgH="1168400" progId="Equation.DSMT4">
                  <p:embed/>
                </p:oleObj>
              </mc:Choice>
              <mc:Fallback>
                <p:oleObj name="Equation" r:id="rId8" imgW="3403600" imgH="1168400" progId="Equation.DSMT4">
                  <p:embed/>
                  <p:pic>
                    <p:nvPicPr>
                      <p:cNvPr id="34822" name="Object 6">
                        <a:extLst>
                          <a:ext uri="{FF2B5EF4-FFF2-40B4-BE49-F238E27FC236}">
                            <a16:creationId xmlns:a16="http://schemas.microsoft.com/office/drawing/2014/main" id="{9E613D95-7455-4B87-BBBE-DC2EA5D06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747178"/>
                        <a:ext cx="5303961" cy="182062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87F5E945-8498-4901-A37E-529B8C5C0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021294"/>
              </p:ext>
            </p:extLst>
          </p:nvPr>
        </p:nvGraphicFramePr>
        <p:xfrm>
          <a:off x="940897" y="1296856"/>
          <a:ext cx="7563103" cy="40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0" name="Equation" r:id="rId10" imgW="3746500" imgH="203200" progId="Equation.DSMT4">
                  <p:embed/>
                </p:oleObj>
              </mc:Choice>
              <mc:Fallback>
                <p:oleObj name="Equation" r:id="rId10" imgW="3746500" imgH="203200" progId="Equation.DSMT4">
                  <p:embed/>
                  <p:pic>
                    <p:nvPicPr>
                      <p:cNvPr id="34823" name="Object 7">
                        <a:extLst>
                          <a:ext uri="{FF2B5EF4-FFF2-40B4-BE49-F238E27FC236}">
                            <a16:creationId xmlns:a16="http://schemas.microsoft.com/office/drawing/2014/main" id="{28A8BC25-AF24-42DB-8463-C9EC042B7C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897" y="1296856"/>
                        <a:ext cx="7563103" cy="409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758491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E34399-F022-4EE6-BA63-7921D578E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99" y="633487"/>
            <a:ext cx="31999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rgbClr val="009999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控制多边形    折线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716C44E6-57BB-4A39-A3F8-63B259A8E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48595"/>
              </p:ext>
            </p:extLst>
          </p:nvPr>
        </p:nvGraphicFramePr>
        <p:xfrm>
          <a:off x="3769089" y="644404"/>
          <a:ext cx="20637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1" r:id="rId6" imgW="609600" imgH="228600" progId="Equation.DSMT4">
                  <p:embed/>
                </p:oleObj>
              </mc:Choice>
              <mc:Fallback>
                <p:oleObj r:id="rId6" imgW="609600" imgH="228600" progId="Equation.DSMT4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7624B978-09E3-4F8C-963A-8631D5040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9089" y="644404"/>
                        <a:ext cx="20637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>
            <a:extLst>
              <a:ext uri="{FF2B5EF4-FFF2-40B4-BE49-F238E27FC236}">
                <a16:creationId xmlns:a16="http://schemas.microsoft.com/office/drawing/2014/main" id="{9B83B7D6-6BF3-496C-945C-049A6281D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99" y="1151614"/>
            <a:ext cx="2738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rgbClr val="009999"/>
              </a:buClr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控制端点   各点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32DFA57-376B-4190-82FD-384030EB90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875561"/>
              </p:ext>
            </p:extLst>
          </p:nvPr>
        </p:nvGraphicFramePr>
        <p:xfrm>
          <a:off x="3597849" y="1227814"/>
          <a:ext cx="18161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2" r:id="rId8" imgW="761669" imgH="228501" progId="Equation.DSMT4">
                  <p:embed/>
                </p:oleObj>
              </mc:Choice>
              <mc:Fallback>
                <p:oleObj r:id="rId8" imgW="761669" imgH="228501" progId="Equation.DSMT4">
                  <p:embed/>
                  <p:pic>
                    <p:nvPicPr>
                      <p:cNvPr id="35848" name="Object 9">
                        <a:extLst>
                          <a:ext uri="{FF2B5EF4-FFF2-40B4-BE49-F238E27FC236}">
                            <a16:creationId xmlns:a16="http://schemas.microsoft.com/office/drawing/2014/main" id="{9F54EA61-FEA6-4243-9827-174BAB5536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849" y="1227814"/>
                        <a:ext cx="18161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05AFDB8-DD12-4ED8-86B7-A715FA756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44" y="1610943"/>
            <a:ext cx="7604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控制多边形        是对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Bé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zier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曲线    的大致勾画，   是对控制多边形的逼近。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9CF2BB8-5544-4A6B-B31A-FC85894E2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212044"/>
              </p:ext>
            </p:extLst>
          </p:nvPr>
        </p:nvGraphicFramePr>
        <p:xfrm>
          <a:off x="2388199" y="1770621"/>
          <a:ext cx="1295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r:id="rId10" imgW="609600" imgH="228600" progId="Equation.DSMT4">
                  <p:embed/>
                </p:oleObj>
              </mc:Choice>
              <mc:Fallback>
                <p:oleObj r:id="rId10" imgW="609600" imgH="228600" progId="Equation.DSMT4">
                  <p:embed/>
                  <p:pic>
                    <p:nvPicPr>
                      <p:cNvPr id="35850" name="Object 12">
                        <a:extLst>
                          <a:ext uri="{FF2B5EF4-FFF2-40B4-BE49-F238E27FC236}">
                            <a16:creationId xmlns:a16="http://schemas.microsoft.com/office/drawing/2014/main" id="{431824C6-0129-40DD-AD7B-4DE0FBEC7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199" y="1770621"/>
                        <a:ext cx="1295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4">
            <a:extLst>
              <a:ext uri="{FF2B5EF4-FFF2-40B4-BE49-F238E27FC236}">
                <a16:creationId xmlns:a16="http://schemas.microsoft.com/office/drawing/2014/main" id="{7CB3043D-2D20-4A57-87D4-559EB5563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773246"/>
              </p:ext>
            </p:extLst>
          </p:nvPr>
        </p:nvGraphicFramePr>
        <p:xfrm>
          <a:off x="240431" y="2332047"/>
          <a:ext cx="660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" r:id="rId12" imgW="317225" imgH="203024" progId="Equation.DSMT4">
                  <p:embed/>
                </p:oleObj>
              </mc:Choice>
              <mc:Fallback>
                <p:oleObj r:id="rId12" imgW="317225" imgH="203024" progId="Equation.DSMT4">
                  <p:embed/>
                  <p:pic>
                    <p:nvPicPr>
                      <p:cNvPr id="35875" name="Object 54">
                        <a:extLst>
                          <a:ext uri="{FF2B5EF4-FFF2-40B4-BE49-F238E27FC236}">
                            <a16:creationId xmlns:a16="http://schemas.microsoft.com/office/drawing/2014/main" id="{231241EE-5AC6-4489-B6B8-52882419C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31" y="2332047"/>
                        <a:ext cx="660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5">
            <a:extLst>
              <a:ext uri="{FF2B5EF4-FFF2-40B4-BE49-F238E27FC236}">
                <a16:creationId xmlns:a16="http://schemas.microsoft.com/office/drawing/2014/main" id="{F61852C4-1906-41C9-898F-67043D36C7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617563"/>
              </p:ext>
            </p:extLst>
          </p:nvPr>
        </p:nvGraphicFramePr>
        <p:xfrm>
          <a:off x="5780953" y="1788390"/>
          <a:ext cx="660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5" r:id="rId14" imgW="317225" imgH="203024" progId="Equation.DSMT4">
                  <p:embed/>
                </p:oleObj>
              </mc:Choice>
              <mc:Fallback>
                <p:oleObj r:id="rId14" imgW="317225" imgH="203024" progId="Equation.DSMT4">
                  <p:embed/>
                  <p:pic>
                    <p:nvPicPr>
                      <p:cNvPr id="35876" name="Object 55">
                        <a:extLst>
                          <a:ext uri="{FF2B5EF4-FFF2-40B4-BE49-F238E27FC236}">
                            <a16:creationId xmlns:a16="http://schemas.microsoft.com/office/drawing/2014/main" id="{5EB1B17B-F102-42BB-B859-57AEA7DF6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953" y="1788390"/>
                        <a:ext cx="660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AutoShape 4">
            <a:extLst>
              <a:ext uri="{FF2B5EF4-FFF2-40B4-BE49-F238E27FC236}">
                <a16:creationId xmlns:a16="http://schemas.microsoft.com/office/drawing/2014/main" id="{1B2CA0AF-4FB6-4688-97AE-CFD446A67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149" y="764456"/>
            <a:ext cx="412750" cy="228600"/>
          </a:xfrm>
          <a:prstGeom prst="rightArrow">
            <a:avLst>
              <a:gd name="adj1" fmla="val 50000"/>
              <a:gd name="adj2" fmla="val 45139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8EEB6225-25F4-4E19-A6BA-753941FC3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124" y="1293696"/>
            <a:ext cx="412750" cy="228600"/>
          </a:xfrm>
          <a:prstGeom prst="rightArrow">
            <a:avLst>
              <a:gd name="adj1" fmla="val 50000"/>
              <a:gd name="adj2" fmla="val 45139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sp>
        <p:nvSpPr>
          <p:cNvPr id="35" name="Line 13">
            <a:extLst>
              <a:ext uri="{FF2B5EF4-FFF2-40B4-BE49-F238E27FC236}">
                <a16:creationId xmlns:a16="http://schemas.microsoft.com/office/drawing/2014/main" id="{3888EE69-0B16-4ACF-92CF-2283F159B7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5425" y="4201091"/>
            <a:ext cx="166688" cy="2365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6" name="Line 14">
            <a:extLst>
              <a:ext uri="{FF2B5EF4-FFF2-40B4-BE49-F238E27FC236}">
                <a16:creationId xmlns:a16="http://schemas.microsoft.com/office/drawing/2014/main" id="{155B52C2-2247-4C1A-9500-CD629B1BC9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32113" y="3994716"/>
            <a:ext cx="179387" cy="206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7" name="Line 15">
            <a:extLst>
              <a:ext uri="{FF2B5EF4-FFF2-40B4-BE49-F238E27FC236}">
                <a16:creationId xmlns:a16="http://schemas.microsoft.com/office/drawing/2014/main" id="{9578F29C-A578-4D15-90D3-F4190B21E7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1500" y="3820091"/>
            <a:ext cx="190500" cy="1746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8" name="Line 16">
            <a:extLst>
              <a:ext uri="{FF2B5EF4-FFF2-40B4-BE49-F238E27FC236}">
                <a16:creationId xmlns:a16="http://schemas.microsoft.com/office/drawing/2014/main" id="{F1830313-928A-4C49-8065-383D4DED1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2000" y="3678803"/>
            <a:ext cx="200025" cy="1412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9" name="Line 17">
            <a:extLst>
              <a:ext uri="{FF2B5EF4-FFF2-40B4-BE49-F238E27FC236}">
                <a16:creationId xmlns:a16="http://schemas.microsoft.com/office/drawing/2014/main" id="{F17C7734-2461-4815-9453-84D1EE97FF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2025" y="3570853"/>
            <a:ext cx="209550" cy="1079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0" name="Line 18">
            <a:extLst>
              <a:ext uri="{FF2B5EF4-FFF2-40B4-BE49-F238E27FC236}">
                <a16:creationId xmlns:a16="http://schemas.microsoft.com/office/drawing/2014/main" id="{636BFDD4-B1A9-4865-BE4C-F9F7CDD20B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1575" y="3494653"/>
            <a:ext cx="212725" cy="76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1" name="Line 19">
            <a:extLst>
              <a:ext uri="{FF2B5EF4-FFF2-40B4-BE49-F238E27FC236}">
                <a16:creationId xmlns:a16="http://schemas.microsoft.com/office/drawing/2014/main" id="{697CEEA0-AB24-4929-8EF0-4E0043D917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4300" y="3447028"/>
            <a:ext cx="219075" cy="476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2" name="Line 20">
            <a:extLst>
              <a:ext uri="{FF2B5EF4-FFF2-40B4-BE49-F238E27FC236}">
                <a16:creationId xmlns:a16="http://schemas.microsoft.com/office/drawing/2014/main" id="{95A8C7ED-B62E-4F27-B2FD-438E08AD8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3375" y="3426391"/>
            <a:ext cx="219075" cy="206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C8C48AC7-D616-4729-9DA3-8DB7762D8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2450" y="3426391"/>
            <a:ext cx="223838" cy="4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4" name="Line 22">
            <a:extLst>
              <a:ext uri="{FF2B5EF4-FFF2-40B4-BE49-F238E27FC236}">
                <a16:creationId xmlns:a16="http://schemas.microsoft.com/office/drawing/2014/main" id="{E0DCE91D-E474-4B3D-9765-A3CCB9E20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6288" y="3431153"/>
            <a:ext cx="225425" cy="238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5" name="Line 23">
            <a:extLst>
              <a:ext uri="{FF2B5EF4-FFF2-40B4-BE49-F238E27FC236}">
                <a16:creationId xmlns:a16="http://schemas.microsoft.com/office/drawing/2014/main" id="{D6686473-D848-404F-BFDD-943CEFDBD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1713" y="3454966"/>
            <a:ext cx="223837" cy="381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ABF33835-41B3-419E-940B-26C3E475D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5550" y="3493066"/>
            <a:ext cx="223838" cy="460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7" name="Line 25">
            <a:extLst>
              <a:ext uri="{FF2B5EF4-FFF2-40B4-BE49-F238E27FC236}">
                <a16:creationId xmlns:a16="http://schemas.microsoft.com/office/drawing/2014/main" id="{80385DDD-16A0-4357-8FD3-59D81554F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9388" y="3539103"/>
            <a:ext cx="223837" cy="44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8" name="Line 26">
            <a:extLst>
              <a:ext uri="{FF2B5EF4-FFF2-40B4-BE49-F238E27FC236}">
                <a16:creationId xmlns:a16="http://schemas.microsoft.com/office/drawing/2014/main" id="{31BEAA04-565D-49E0-B084-EE67EF63E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3225" y="3583553"/>
            <a:ext cx="219075" cy="41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9" name="Line 27">
            <a:extLst>
              <a:ext uri="{FF2B5EF4-FFF2-40B4-BE49-F238E27FC236}">
                <a16:creationId xmlns:a16="http://schemas.microsoft.com/office/drawing/2014/main" id="{45979ACF-AF1E-4D39-A31D-85F53D61C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2300" y="3624828"/>
            <a:ext cx="219075" cy="238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0" name="Line 28">
            <a:extLst>
              <a:ext uri="{FF2B5EF4-FFF2-40B4-BE49-F238E27FC236}">
                <a16:creationId xmlns:a16="http://schemas.microsoft.com/office/drawing/2014/main" id="{65686EBD-8DC5-438B-B468-359D310291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1375" y="3648641"/>
            <a:ext cx="215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1" name="Line 29">
            <a:extLst>
              <a:ext uri="{FF2B5EF4-FFF2-40B4-BE49-F238E27FC236}">
                <a16:creationId xmlns:a16="http://schemas.microsoft.com/office/drawing/2014/main" id="{7C2C331F-84A0-4169-A5CB-841CB15AF5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7275" y="3613716"/>
            <a:ext cx="215900" cy="349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2" name="Line 30">
            <a:extLst>
              <a:ext uri="{FF2B5EF4-FFF2-40B4-BE49-F238E27FC236}">
                <a16:creationId xmlns:a16="http://schemas.microsoft.com/office/drawing/2014/main" id="{0BB039FA-D862-4BE7-AB9D-1802731BAA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3175" y="3532753"/>
            <a:ext cx="212725" cy="809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3" name="Line 31">
            <a:extLst>
              <a:ext uri="{FF2B5EF4-FFF2-40B4-BE49-F238E27FC236}">
                <a16:creationId xmlns:a16="http://schemas.microsoft.com/office/drawing/2014/main" id="{F395EDFC-A20D-4C6F-B7D2-C8C8235ABC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5900" y="3391466"/>
            <a:ext cx="211138" cy="1412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4" name="Line 32">
            <a:extLst>
              <a:ext uri="{FF2B5EF4-FFF2-40B4-BE49-F238E27FC236}">
                <a16:creationId xmlns:a16="http://schemas.microsoft.com/office/drawing/2014/main" id="{F6B6C333-99A8-4531-BAA7-8A40397223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7038" y="3180328"/>
            <a:ext cx="212725" cy="211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55" name="Text Box 33">
            <a:extLst>
              <a:ext uri="{FF2B5EF4-FFF2-40B4-BE49-F238E27FC236}">
                <a16:creationId xmlns:a16="http://schemas.microsoft.com/office/drawing/2014/main" id="{DF589805-9A5E-4F0E-9E2A-2711B771D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8" y="3558153"/>
            <a:ext cx="395287" cy="4714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1" lang="en-US" altLang="zh-CN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6" name="Text Box 34">
            <a:extLst>
              <a:ext uri="{FF2B5EF4-FFF2-40B4-BE49-F238E27FC236}">
                <a16:creationId xmlns:a16="http://schemas.microsoft.com/office/drawing/2014/main" id="{09B683E7-1BEA-4157-9F50-F294FF89A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030" y="4721784"/>
            <a:ext cx="397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</a:rPr>
              <a:t>n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宋体" panose="02010600030101010101" pitchFamily="2" charset="-122"/>
              </a:rPr>
              <a:t>次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宋体" panose="02010600030101010101" pitchFamily="2" charset="-122"/>
              </a:rPr>
              <a:t>B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</a:rPr>
              <a:t>é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宋体" panose="02010600030101010101" pitchFamily="2" charset="-122"/>
              </a:rPr>
              <a:t>zier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宋体" panose="02010600030101010101" pitchFamily="2" charset="-122"/>
              </a:rPr>
              <a:t>曲线及控制多边形</a:t>
            </a:r>
          </a:p>
        </p:txBody>
      </p:sp>
      <p:grpSp>
        <p:nvGrpSpPr>
          <p:cNvPr id="57" name="Group 35">
            <a:extLst>
              <a:ext uri="{FF2B5EF4-FFF2-40B4-BE49-F238E27FC236}">
                <a16:creationId xmlns:a16="http://schemas.microsoft.com/office/drawing/2014/main" id="{A7527A23-A82C-4336-95A5-8EA7851F8ECF}"/>
              </a:ext>
            </a:extLst>
          </p:cNvPr>
          <p:cNvGrpSpPr>
            <a:grpSpLocks/>
          </p:cNvGrpSpPr>
          <p:nvPr/>
        </p:nvGrpSpPr>
        <p:grpSpPr bwMode="auto">
          <a:xfrm>
            <a:off x="2490788" y="2754879"/>
            <a:ext cx="6604000" cy="2025650"/>
            <a:chOff x="1152" y="2363"/>
            <a:chExt cx="3840" cy="1276"/>
          </a:xfrm>
        </p:grpSpPr>
        <p:sp>
          <p:nvSpPr>
            <p:cNvPr id="58" name="Text Box 36">
              <a:extLst>
                <a:ext uri="{FF2B5EF4-FFF2-40B4-BE49-F238E27FC236}">
                  <a16:creationId xmlns:a16="http://schemas.microsoft.com/office/drawing/2014/main" id="{D29595FB-D5E3-4F76-8693-EDC7E63D9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" y="2466"/>
              <a:ext cx="162" cy="1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1800" b="0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37">
              <a:extLst>
                <a:ext uri="{FF2B5EF4-FFF2-40B4-BE49-F238E27FC236}">
                  <a16:creationId xmlns:a16="http://schemas.microsoft.com/office/drawing/2014/main" id="{CECA6A77-6491-4601-B57D-538B4BB21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2" y="2363"/>
              <a:ext cx="230" cy="2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1800" b="0" i="1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n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38">
              <a:extLst>
                <a:ext uri="{FF2B5EF4-FFF2-40B4-BE49-F238E27FC236}">
                  <a16:creationId xmlns:a16="http://schemas.microsoft.com/office/drawing/2014/main" id="{BA392982-5340-411A-A98E-44B3E87CC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08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1800" b="0" i="1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n-</a:t>
              </a:r>
              <a:r>
                <a:rPr kumimoji="1" lang="en-US" altLang="zh-CN" sz="18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61" name="Group 39">
              <a:extLst>
                <a:ext uri="{FF2B5EF4-FFF2-40B4-BE49-F238E27FC236}">
                  <a16:creationId xmlns:a16="http://schemas.microsoft.com/office/drawing/2014/main" id="{2D760486-5483-4FFF-A7D6-5EBAB585C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408"/>
              <a:ext cx="127" cy="194"/>
              <a:chOff x="624" y="916"/>
              <a:chExt cx="97" cy="197"/>
            </a:xfrm>
          </p:grpSpPr>
          <p:sp>
            <p:nvSpPr>
              <p:cNvPr id="67" name="Rectangle 40">
                <a:extLst>
                  <a:ext uri="{FF2B5EF4-FFF2-40B4-BE49-F238E27FC236}">
                    <a16:creationId xmlns:a16="http://schemas.microsoft.com/office/drawing/2014/main" id="{C66F25FD-5929-4065-8858-F55DCE77D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0" y="1005"/>
                <a:ext cx="31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0</a:t>
                </a:r>
                <a:endPara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sp>
            <p:nvSpPr>
              <p:cNvPr id="68" name="Rectangle 41">
                <a:extLst>
                  <a:ext uri="{FF2B5EF4-FFF2-40B4-BE49-F238E27FC236}">
                    <a16:creationId xmlns:a16="http://schemas.microsoft.com/office/drawing/2014/main" id="{8956DFCF-A553-48FE-8483-8B10EF1BE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916"/>
                <a:ext cx="6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P</a:t>
                </a:r>
                <a:endPara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2" name="Text Box 42">
              <a:extLst>
                <a:ext uri="{FF2B5EF4-FFF2-40B4-BE49-F238E27FC236}">
                  <a16:creationId xmlns:a16="http://schemas.microsoft.com/office/drawing/2014/main" id="{978A9348-4AAD-44F4-9BFD-C8A931C91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448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控制定点</a:t>
              </a:r>
            </a:p>
          </p:txBody>
        </p:sp>
        <p:sp>
          <p:nvSpPr>
            <p:cNvPr id="63" name="Line 43">
              <a:extLst>
                <a:ext uri="{FF2B5EF4-FFF2-40B4-BE49-F238E27FC236}">
                  <a16:creationId xmlns:a16="http://schemas.microsoft.com/office/drawing/2014/main" id="{145C9D41-A0DB-4727-8685-5BE5DAAD2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4" y="2496"/>
              <a:ext cx="24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64" name="Line 44">
              <a:extLst>
                <a:ext uri="{FF2B5EF4-FFF2-40B4-BE49-F238E27FC236}">
                  <a16:creationId xmlns:a16="http://schemas.microsoft.com/office/drawing/2014/main" id="{8EA52210-DCB4-418A-8348-6E6C03845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2640"/>
              <a:ext cx="912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65" name="Line 45">
              <a:extLst>
                <a:ext uri="{FF2B5EF4-FFF2-40B4-BE49-F238E27FC236}">
                  <a16:creationId xmlns:a16="http://schemas.microsoft.com/office/drawing/2014/main" id="{4322A214-335E-48FE-B23D-43AE32DA0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640"/>
              <a:ext cx="288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66" name="Line 46">
              <a:extLst>
                <a:ext uri="{FF2B5EF4-FFF2-40B4-BE49-F238E27FC236}">
                  <a16:creationId xmlns:a16="http://schemas.microsoft.com/office/drawing/2014/main" id="{4374BB56-CB7F-487C-AAD3-EBC5A199D5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2" y="2640"/>
              <a:ext cx="2402" cy="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</p:grpSp>
      <p:grpSp>
        <p:nvGrpSpPr>
          <p:cNvPr id="69" name="Group 47">
            <a:extLst>
              <a:ext uri="{FF2B5EF4-FFF2-40B4-BE49-F238E27FC236}">
                <a16:creationId xmlns:a16="http://schemas.microsoft.com/office/drawing/2014/main" id="{50CE2FF1-5AE5-47CB-B8CA-91AC43D8E2F0}"/>
              </a:ext>
            </a:extLst>
          </p:cNvPr>
          <p:cNvGrpSpPr>
            <a:grpSpLocks/>
          </p:cNvGrpSpPr>
          <p:nvPr/>
        </p:nvGrpSpPr>
        <p:grpSpPr bwMode="auto">
          <a:xfrm>
            <a:off x="2765425" y="2866003"/>
            <a:ext cx="6169025" cy="1571625"/>
            <a:chOff x="1312" y="2433"/>
            <a:chExt cx="3587" cy="990"/>
          </a:xfrm>
        </p:grpSpPr>
        <p:sp>
          <p:nvSpPr>
            <p:cNvPr id="70" name="Line 48">
              <a:extLst>
                <a:ext uri="{FF2B5EF4-FFF2-40B4-BE49-F238E27FC236}">
                  <a16:creationId xmlns:a16="http://schemas.microsoft.com/office/drawing/2014/main" id="{F17DDE44-D4B0-41AD-A655-1B9471C72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2" y="2631"/>
              <a:ext cx="461" cy="79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71" name="Line 49">
              <a:extLst>
                <a:ext uri="{FF2B5EF4-FFF2-40B4-BE49-F238E27FC236}">
                  <a16:creationId xmlns:a16="http://schemas.microsoft.com/office/drawing/2014/main" id="{6921F178-D16B-41D7-BAE2-85A4D6598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3" y="2433"/>
              <a:ext cx="767" cy="19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72" name="Line 50">
              <a:extLst>
                <a:ext uri="{FF2B5EF4-FFF2-40B4-BE49-F238E27FC236}">
                  <a16:creationId xmlns:a16="http://schemas.microsoft.com/office/drawing/2014/main" id="{C5DD2933-197B-4E3F-A0A2-5DE9B2CD4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2433"/>
              <a:ext cx="614" cy="9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73" name="Line 51">
              <a:extLst>
                <a:ext uri="{FF2B5EF4-FFF2-40B4-BE49-F238E27FC236}">
                  <a16:creationId xmlns:a16="http://schemas.microsoft.com/office/drawing/2014/main" id="{18394D6C-A107-46BF-96E4-661D8E8BB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4" y="2631"/>
              <a:ext cx="614" cy="79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  <p:sp>
          <p:nvSpPr>
            <p:cNvPr id="74" name="Text Box 52">
              <a:extLst>
                <a:ext uri="{FF2B5EF4-FFF2-40B4-BE49-F238E27FC236}">
                  <a16:creationId xmlns:a16="http://schemas.microsoft.com/office/drawing/2014/main" id="{5333C580-3661-494A-B668-7194D0C21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928"/>
              <a:ext cx="7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控制多边形</a:t>
              </a:r>
            </a:p>
          </p:txBody>
        </p:sp>
        <p:sp>
          <p:nvSpPr>
            <p:cNvPr id="75" name="Line 53">
              <a:extLst>
                <a:ext uri="{FF2B5EF4-FFF2-40B4-BE49-F238E27FC236}">
                  <a16:creationId xmlns:a16="http://schemas.microsoft.com/office/drawing/2014/main" id="{990FE5BB-DE43-4285-93BF-9D1D78DCA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024"/>
              <a:ext cx="6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彩云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210569"/>
      </p:ext>
    </p:extLst>
  </p:cSld>
  <p:clrMapOvr>
    <a:masterClrMapping/>
  </p:clrMapOvr>
  <p:transition spd="med" advClick="0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CE675A2-5A87-4613-A4AD-BA07428F1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049" y="754572"/>
            <a:ext cx="8203902" cy="433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 err="1">
                <a:ea typeface="宋体" panose="02010600030101010101" pitchFamily="2" charset="-122"/>
              </a:rPr>
              <a:t>Bézier</a:t>
            </a:r>
            <a:r>
              <a:rPr lang="zh-CN" altLang="en-US" sz="2800" kern="0" dirty="0">
                <a:ea typeface="宋体" panose="02010600030101010101" pitchFamily="2" charset="-122"/>
              </a:rPr>
              <a:t>控制与</a:t>
            </a:r>
            <a:r>
              <a:rPr lang="en-US" altLang="zh-CN" sz="2800" kern="0" dirty="0">
                <a:ea typeface="宋体" panose="02010600030101010101" pitchFamily="2" charset="-122"/>
              </a:rPr>
              <a:t>Hermite</a:t>
            </a:r>
            <a:r>
              <a:rPr lang="zh-CN" altLang="en-US" sz="2800" kern="0" dirty="0">
                <a:ea typeface="宋体" panose="02010600030101010101" pitchFamily="2" charset="-122"/>
              </a:rPr>
              <a:t>控制有下面的关系：</a:t>
            </a:r>
            <a:br>
              <a:rPr lang="zh-CN" altLang="en-US" sz="2800" kern="0" dirty="0">
                <a:ea typeface="宋体" panose="02010600030101010101" pitchFamily="2" charset="-122"/>
              </a:rPr>
            </a:br>
            <a:endParaRPr lang="en-US" altLang="zh-CN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141E8604-EEE2-4A5D-9FEA-C6BA3F502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086235"/>
              </p:ext>
            </p:extLst>
          </p:nvPr>
        </p:nvGraphicFramePr>
        <p:xfrm>
          <a:off x="935899" y="1286212"/>
          <a:ext cx="3095944" cy="196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8" name="Equation" r:id="rId6" imgW="1218671" imgH="774364" progId="Equation.DSMT4">
                  <p:embed/>
                </p:oleObj>
              </mc:Choice>
              <mc:Fallback>
                <p:oleObj name="Equation" r:id="rId6" imgW="1218671" imgH="774364" progId="Equation.DSMT4">
                  <p:embed/>
                  <p:pic>
                    <p:nvPicPr>
                      <p:cNvPr id="40965" name="Object 4">
                        <a:extLst>
                          <a:ext uri="{FF2B5EF4-FFF2-40B4-BE49-F238E27FC236}">
                            <a16:creationId xmlns:a16="http://schemas.microsoft.com/office/drawing/2014/main" id="{3E957D1B-7A9C-4E61-B78D-CE3653431C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899" y="1286212"/>
                        <a:ext cx="3095944" cy="196749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7BBE7B3E-F1DE-4380-9A7A-E4EF96249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49" y="3223809"/>
            <a:ext cx="7849086" cy="1745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点处的切矢方向为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: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点处的切矢方向为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: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8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288668BF-9C8C-4C38-911B-6B8281CC1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986589"/>
              </p:ext>
            </p:extLst>
          </p:nvPr>
        </p:nvGraphicFramePr>
        <p:xfrm>
          <a:off x="5626561" y="1792436"/>
          <a:ext cx="3183604" cy="273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9" name="Visio" r:id="rId8" imgW="2659082" imgH="2399883" progId="Visio.Drawing.11">
                  <p:embed/>
                </p:oleObj>
              </mc:Choice>
              <mc:Fallback>
                <p:oleObj name="Visio" r:id="rId8" imgW="2659082" imgH="2399883" progId="Visio.Drawing.11">
                  <p:embed/>
                  <p:pic>
                    <p:nvPicPr>
                      <p:cNvPr id="40967" name="Object 10">
                        <a:extLst>
                          <a:ext uri="{FF2B5EF4-FFF2-40B4-BE49-F238E27FC236}">
                            <a16:creationId xmlns:a16="http://schemas.microsoft.com/office/drawing/2014/main" id="{748C73B5-E635-4F9C-87E3-12CD38308E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561" y="1792436"/>
                        <a:ext cx="3183604" cy="2738345"/>
                      </a:xfrm>
                      <a:prstGeom prst="rect">
                        <a:avLst/>
                      </a:prstGeom>
                      <a:noFill/>
                      <a:ln w="9525" algn="ctr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273943"/>
      </p:ext>
    </p:extLst>
  </p:cSld>
  <p:clrMapOvr>
    <a:masterClrMapping/>
  </p:clrMapOvr>
  <p:transition spd="med" advClick="0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 Curve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2D22D79-930C-4DE6-A1CE-2D70096F4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08" y="692729"/>
            <a:ext cx="5802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dirty="0" err="1">
                <a:solidFill>
                  <a:srgbClr val="000000"/>
                </a:solidFill>
                <a:latin typeface="宋体" panose="02010600030101010101" pitchFamily="2" charset="-122"/>
              </a:rPr>
              <a:t>Bézier</a:t>
            </a:r>
            <a:r>
              <a:rPr kumimoji="1"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曲线的几何作图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A7603C-016A-4032-B573-4DD1D72C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1411467"/>
            <a:ext cx="83375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在控制多边形上以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和     为端点的第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i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条边上找一点        把该边分成                的比例，则分点  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为：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107F46A8-C104-4DF0-9ADD-09EBF854D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405043"/>
              </p:ext>
            </p:extLst>
          </p:nvPr>
        </p:nvGraphicFramePr>
        <p:xfrm>
          <a:off x="2996406" y="1411467"/>
          <a:ext cx="350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4" r:id="rId6" imgW="165028" imgH="228501" progId="Equation.DSMT4">
                  <p:embed/>
                </p:oleObj>
              </mc:Choice>
              <mc:Fallback>
                <p:oleObj r:id="rId6" imgW="165028" imgH="228501" progId="Equation.DSMT4">
                  <p:embed/>
                  <p:pic>
                    <p:nvPicPr>
                      <p:cNvPr id="49157" name="Object 6">
                        <a:extLst>
                          <a:ext uri="{FF2B5EF4-FFF2-40B4-BE49-F238E27FC236}">
                            <a16:creationId xmlns:a16="http://schemas.microsoft.com/office/drawing/2014/main" id="{37AC9A95-055B-4579-88D5-67037B987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06" y="1411467"/>
                        <a:ext cx="3508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81B33193-F7B2-4224-99C0-59BA9AF64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215794"/>
              </p:ext>
            </p:extLst>
          </p:nvPr>
        </p:nvGraphicFramePr>
        <p:xfrm>
          <a:off x="3678238" y="1405117"/>
          <a:ext cx="495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5" name="Equation" r:id="rId8" imgW="241200" imgH="228600" progId="Equation.DSMT4">
                  <p:embed/>
                </p:oleObj>
              </mc:Choice>
              <mc:Fallback>
                <p:oleObj name="Equation" r:id="rId8" imgW="241200" imgH="228600" progId="Equation.DSMT4">
                  <p:embed/>
                  <p:pic>
                    <p:nvPicPr>
                      <p:cNvPr id="49158" name="Object 7">
                        <a:extLst>
                          <a:ext uri="{FF2B5EF4-FFF2-40B4-BE49-F238E27FC236}">
                            <a16:creationId xmlns:a16="http://schemas.microsoft.com/office/drawing/2014/main" id="{80081913-B17E-4EC0-939A-5B85AA850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1405117"/>
                        <a:ext cx="4953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EB41DA44-A87F-4A97-8E70-82F96A8F7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592151"/>
              </p:ext>
            </p:extLst>
          </p:nvPr>
        </p:nvGraphicFramePr>
        <p:xfrm>
          <a:off x="7675546" y="1437073"/>
          <a:ext cx="7429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6" r:id="rId10" imgW="380835" imgH="241195" progId="Equation.DSMT4">
                  <p:embed/>
                </p:oleObj>
              </mc:Choice>
              <mc:Fallback>
                <p:oleObj r:id="rId10" imgW="380835" imgH="241195" progId="Equation.DSMT4">
                  <p:embed/>
                  <p:pic>
                    <p:nvPicPr>
                      <p:cNvPr id="49159" name="Object 8">
                        <a:extLst>
                          <a:ext uri="{FF2B5EF4-FFF2-40B4-BE49-F238E27FC236}">
                            <a16:creationId xmlns:a16="http://schemas.microsoft.com/office/drawing/2014/main" id="{DF1B3CF8-588A-40B3-B114-7F6AE692AB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5546" y="1437073"/>
                        <a:ext cx="7429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8B646C60-E981-488E-A37A-8ED527DC2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614539"/>
              </p:ext>
            </p:extLst>
          </p:nvPr>
        </p:nvGraphicFramePr>
        <p:xfrm>
          <a:off x="1785144" y="1815886"/>
          <a:ext cx="12382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7" r:id="rId12" imgW="520474" imgH="203112" progId="Equation.DSMT4">
                  <p:embed/>
                </p:oleObj>
              </mc:Choice>
              <mc:Fallback>
                <p:oleObj r:id="rId12" imgW="520474" imgH="203112" progId="Equation.DSMT4">
                  <p:embed/>
                  <p:pic>
                    <p:nvPicPr>
                      <p:cNvPr id="49160" name="Object 9">
                        <a:extLst>
                          <a:ext uri="{FF2B5EF4-FFF2-40B4-BE49-F238E27FC236}">
                            <a16:creationId xmlns:a16="http://schemas.microsoft.com/office/drawing/2014/main" id="{ADDE0BD9-931F-47EF-9104-B1B92C564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144" y="1815886"/>
                        <a:ext cx="12382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E2B2CF67-4F40-435A-BEA6-A81872FEB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529689"/>
              </p:ext>
            </p:extLst>
          </p:nvPr>
        </p:nvGraphicFramePr>
        <p:xfrm>
          <a:off x="5074228" y="1828126"/>
          <a:ext cx="7429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8" r:id="rId14" imgW="380835" imgH="241195" progId="Equation.DSMT4">
                  <p:embed/>
                </p:oleObj>
              </mc:Choice>
              <mc:Fallback>
                <p:oleObj r:id="rId14" imgW="380835" imgH="241195" progId="Equation.DSMT4">
                  <p:embed/>
                  <p:pic>
                    <p:nvPicPr>
                      <p:cNvPr id="49161" name="Object 10">
                        <a:extLst>
                          <a:ext uri="{FF2B5EF4-FFF2-40B4-BE49-F238E27FC236}">
                            <a16:creationId xmlns:a16="http://schemas.microsoft.com/office/drawing/2014/main" id="{87933063-969A-4BFE-89F2-142B3715B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4228" y="1828126"/>
                        <a:ext cx="7429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5498A1A6-2EEF-4F4E-A751-76E8AC79F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07756"/>
              </p:ext>
            </p:extLst>
          </p:nvPr>
        </p:nvGraphicFramePr>
        <p:xfrm>
          <a:off x="532516" y="2298081"/>
          <a:ext cx="3054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9" r:id="rId15" imgW="1371600" imgH="241300" progId="Equation.DSMT4">
                  <p:embed/>
                </p:oleObj>
              </mc:Choice>
              <mc:Fallback>
                <p:oleObj r:id="rId15" imgW="1371600" imgH="241300" progId="Equation.DSMT4">
                  <p:embed/>
                  <p:pic>
                    <p:nvPicPr>
                      <p:cNvPr id="49162" name="Object 11">
                        <a:extLst>
                          <a:ext uri="{FF2B5EF4-FFF2-40B4-BE49-F238E27FC236}">
                            <a16:creationId xmlns:a16="http://schemas.microsoft.com/office/drawing/2014/main" id="{AC5807E9-09FA-448F-85E4-08E45913F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16" y="2298081"/>
                        <a:ext cx="3054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00113611-CB41-4917-A435-B65CB09C1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240100"/>
              </p:ext>
            </p:extLst>
          </p:nvPr>
        </p:nvGraphicFramePr>
        <p:xfrm>
          <a:off x="3768726" y="2373492"/>
          <a:ext cx="20637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0" r:id="rId17" imgW="926698" imgH="203112" progId="Equation.DSMT4">
                  <p:embed/>
                </p:oleObj>
              </mc:Choice>
              <mc:Fallback>
                <p:oleObj r:id="rId17" imgW="926698" imgH="203112" progId="Equation.DSMT4">
                  <p:embed/>
                  <p:pic>
                    <p:nvPicPr>
                      <p:cNvPr id="49163" name="Object 12">
                        <a:extLst>
                          <a:ext uri="{FF2B5EF4-FFF2-40B4-BE49-F238E27FC236}">
                            <a16:creationId xmlns:a16="http://schemas.microsoft.com/office/drawing/2014/main" id="{DADF41B1-F8F9-4208-A7C1-BA570A6E2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6" y="2373492"/>
                        <a:ext cx="20637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3">
            <a:extLst>
              <a:ext uri="{FF2B5EF4-FFF2-40B4-BE49-F238E27FC236}">
                <a16:creationId xmlns:a16="http://schemas.microsoft.com/office/drawing/2014/main" id="{64975884-A103-42A9-8BF7-83753BC2B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51" y="3074988"/>
            <a:ext cx="119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D68F9192-EB6D-446A-8653-1C5030DE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2783067"/>
            <a:ext cx="8089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这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个点组成一个新的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n-1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边形，对该多边形重复上述操作，得到一个              边形的顶点                          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graphicFrame>
        <p:nvGraphicFramePr>
          <p:cNvPr id="20" name="Object 15">
            <a:extLst>
              <a:ext uri="{FF2B5EF4-FFF2-40B4-BE49-F238E27FC236}">
                <a16:creationId xmlns:a16="http://schemas.microsoft.com/office/drawing/2014/main" id="{EFE215D5-D7D2-47E4-A76A-58F55209E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483615"/>
              </p:ext>
            </p:extLst>
          </p:nvPr>
        </p:nvGraphicFramePr>
        <p:xfrm>
          <a:off x="1785144" y="3179679"/>
          <a:ext cx="8255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1" r:id="rId19" imgW="329914" imgH="177646" progId="Equation.DSMT4">
                  <p:embed/>
                </p:oleObj>
              </mc:Choice>
              <mc:Fallback>
                <p:oleObj r:id="rId19" imgW="329914" imgH="177646" progId="Equation.DSMT4">
                  <p:embed/>
                  <p:pic>
                    <p:nvPicPr>
                      <p:cNvPr id="49166" name="Object 15">
                        <a:extLst>
                          <a:ext uri="{FF2B5EF4-FFF2-40B4-BE49-F238E27FC236}">
                            <a16:creationId xmlns:a16="http://schemas.microsoft.com/office/drawing/2014/main" id="{E8BEDE93-F9C1-4749-9333-CF94A0079C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144" y="3179679"/>
                        <a:ext cx="8255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6">
            <a:extLst>
              <a:ext uri="{FF2B5EF4-FFF2-40B4-BE49-F238E27FC236}">
                <a16:creationId xmlns:a16="http://schemas.microsoft.com/office/drawing/2014/main" id="{F911C0C8-19D4-4870-B8DF-11D4B25D9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193092"/>
              </p:ext>
            </p:extLst>
          </p:nvPr>
        </p:nvGraphicFramePr>
        <p:xfrm>
          <a:off x="4387851" y="3183354"/>
          <a:ext cx="825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2" r:id="rId21" imgW="406224" imgH="241195" progId="Equation.DSMT4">
                  <p:embed/>
                </p:oleObj>
              </mc:Choice>
              <mc:Fallback>
                <p:oleObj r:id="rId21" imgW="406224" imgH="241195" progId="Equation.DSMT4">
                  <p:embed/>
                  <p:pic>
                    <p:nvPicPr>
                      <p:cNvPr id="49167" name="Object 16">
                        <a:extLst>
                          <a:ext uri="{FF2B5EF4-FFF2-40B4-BE49-F238E27FC236}">
                            <a16:creationId xmlns:a16="http://schemas.microsoft.com/office/drawing/2014/main" id="{A16118AC-E40A-41B1-A6FB-190E82DAA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1" y="3183354"/>
                        <a:ext cx="825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7">
            <a:extLst>
              <a:ext uri="{FF2B5EF4-FFF2-40B4-BE49-F238E27FC236}">
                <a16:creationId xmlns:a16="http://schemas.microsoft.com/office/drawing/2014/main" id="{549ABA89-49EA-4184-A39B-2038D2807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198460"/>
              </p:ext>
            </p:extLst>
          </p:nvPr>
        </p:nvGraphicFramePr>
        <p:xfrm>
          <a:off x="5439570" y="3226216"/>
          <a:ext cx="23114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3" r:id="rId23" imgW="1066337" imgH="203112" progId="Equation.DSMT4">
                  <p:embed/>
                </p:oleObj>
              </mc:Choice>
              <mc:Fallback>
                <p:oleObj r:id="rId23" imgW="1066337" imgH="203112" progId="Equation.DSMT4">
                  <p:embed/>
                  <p:pic>
                    <p:nvPicPr>
                      <p:cNvPr id="49168" name="Object 17">
                        <a:extLst>
                          <a:ext uri="{FF2B5EF4-FFF2-40B4-BE49-F238E27FC236}">
                            <a16:creationId xmlns:a16="http://schemas.microsoft.com/office/drawing/2014/main" id="{7E2CEE5D-BADE-4862-A392-8B302B35C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570" y="3226216"/>
                        <a:ext cx="23114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081345"/>
      </p:ext>
    </p:extLst>
  </p:cSld>
  <p:clrMapOvr>
    <a:masterClrMapping/>
  </p:clrMapOvr>
  <p:transition spd="med" advClick="0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 Curve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DE29CD95-0FCA-4DBD-AF1D-803D293F8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863" y="1999878"/>
            <a:ext cx="51752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5D05D704-DCEB-436D-B08C-E84AF73C7B75}"/>
              </a:ext>
            </a:extLst>
          </p:cNvPr>
          <p:cNvGrpSpPr>
            <a:grpSpLocks/>
          </p:cNvGrpSpPr>
          <p:nvPr/>
        </p:nvGrpSpPr>
        <p:grpSpPr bwMode="auto">
          <a:xfrm>
            <a:off x="3206750" y="2596778"/>
            <a:ext cx="2874963" cy="1046163"/>
            <a:chOff x="1945" y="2104"/>
            <a:chExt cx="1671" cy="659"/>
          </a:xfrm>
        </p:grpSpPr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173B2F2B-0F46-455E-B197-A97A1A417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5" y="2185"/>
              <a:ext cx="508" cy="57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ea typeface="华文彩云" panose="02010800040101010101" pitchFamily="2" charset="-122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AA95EF71-59DF-4F45-ACDC-045CCCF5A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2104"/>
              <a:ext cx="867" cy="8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ea typeface="华文彩云" panose="02010800040101010101" pitchFamily="2" charset="-122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EF243634-B2D8-4349-B72B-CBA78FA83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" y="2104"/>
              <a:ext cx="296" cy="515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ea typeface="华文彩云" panose="02010800040101010101" pitchFamily="2" charset="-122"/>
              </a:endParaRPr>
            </a:p>
          </p:txBody>
        </p:sp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3B1E98F3-6C2F-4040-BEA1-37FEAC0CB667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2685678"/>
            <a:ext cx="2230437" cy="652463"/>
            <a:chOff x="2115" y="2160"/>
            <a:chExt cx="1297" cy="411"/>
          </a:xfrm>
        </p:grpSpPr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1E113034-BB75-4359-8C1E-689FAD751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5" y="2160"/>
              <a:ext cx="621" cy="411"/>
            </a:xfrm>
            <a:prstGeom prst="line">
              <a:avLst/>
            </a:prstGeom>
            <a:noFill/>
            <a:ln w="31750">
              <a:solidFill>
                <a:srgbClr val="33CC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ea typeface="华文彩云" panose="02010800040101010101" pitchFamily="2" charset="-122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8903E233-E34D-4C6E-B24D-B91149D06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60"/>
              <a:ext cx="676" cy="117"/>
            </a:xfrm>
            <a:prstGeom prst="line">
              <a:avLst/>
            </a:prstGeom>
            <a:noFill/>
            <a:ln w="25400">
              <a:solidFill>
                <a:srgbClr val="33CC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>
                <a:solidFill>
                  <a:srgbClr val="000000"/>
                </a:solidFill>
                <a:ea typeface="华文彩云" panose="02010800040101010101" pitchFamily="2" charset="-122"/>
              </a:endParaRPr>
            </a:p>
          </p:txBody>
        </p:sp>
      </p:grpSp>
      <p:sp>
        <p:nvSpPr>
          <p:cNvPr id="17" name="Line 10">
            <a:extLst>
              <a:ext uri="{FF2B5EF4-FFF2-40B4-BE49-F238E27FC236}">
                <a16:creationId xmlns:a16="http://schemas.microsoft.com/office/drawing/2014/main" id="{EB220A3B-7AA8-460F-98C0-CE5D3F8BE1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9213" y="2744416"/>
            <a:ext cx="1106487" cy="374650"/>
          </a:xfrm>
          <a:prstGeom prst="line">
            <a:avLst/>
          </a:prstGeom>
          <a:noFill/>
          <a:ln w="3810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3ECE9067-599E-44FE-8FBC-BAD3A17C31EF}"/>
              </a:ext>
            </a:extLst>
          </p:cNvPr>
          <p:cNvSpPr>
            <a:spLocks noChangeShapeType="1"/>
          </p:cNvSpPr>
          <p:nvPr/>
        </p:nvSpPr>
        <p:spPr bwMode="auto">
          <a:xfrm rot="194847" flipV="1">
            <a:off x="3062288" y="2920628"/>
            <a:ext cx="438150" cy="10842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9573720A-B001-4F29-AEA5-6FD45B5984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4725" y="2350716"/>
            <a:ext cx="1744663" cy="584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34B2C141-5C07-4F85-96A5-795F8A436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13" y="2336428"/>
            <a:ext cx="982662" cy="7842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3FC4D4DA-DBEB-4EF4-AF50-0EC060DC74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9613" y="3120653"/>
            <a:ext cx="436562" cy="8842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235AA26E-C954-4C90-8167-4088CD836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8475" y="3768353"/>
            <a:ext cx="106363" cy="2079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07250F1F-C469-4513-B4EB-5E058A2D4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0238" y="3604841"/>
            <a:ext cx="138112" cy="1920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D0283C66-D5AC-4CCC-B0BF-8B92307A19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8350" y="3433391"/>
            <a:ext cx="165100" cy="171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6158DDEB-BF71-4896-BBDB-903A1896A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3450" y="3280991"/>
            <a:ext cx="187325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80733127-EB1B-4232-9CE2-963B97AF05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0775" y="3153991"/>
            <a:ext cx="204788" cy="127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FC28A404-A76B-449B-961E-C521A1631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5563" y="3050803"/>
            <a:ext cx="215900" cy="1031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4B3617FB-7013-41DF-8197-44169C6388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1463" y="2971428"/>
            <a:ext cx="219075" cy="79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CF312F41-C7AD-4B05-8CC2-28C8DCBFF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9588" y="2914278"/>
            <a:ext cx="222250" cy="539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DFE6569A-526A-4980-9363-205696A903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2788" y="2888878"/>
            <a:ext cx="219075" cy="285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04EBFD3F-1FFA-40F8-B82A-F018AF826F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1863" y="2887291"/>
            <a:ext cx="20955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98DA3B25-1A6C-4899-A469-87D4DC56B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887291"/>
            <a:ext cx="198437" cy="222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266D5145-D9FE-422C-93ED-0C112E356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9850" y="2909516"/>
            <a:ext cx="179388" cy="460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D99F1284-18CF-449C-BCAF-0E7049907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2955553"/>
            <a:ext cx="161925" cy="698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7EC257ED-F41D-4A9F-8359-2EC6C8DAF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5288" y="3019053"/>
            <a:ext cx="138112" cy="920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FFF94EAC-E90A-4601-BC13-8D60C9395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117478"/>
            <a:ext cx="111125" cy="1111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8" name="Line 30">
            <a:extLst>
              <a:ext uri="{FF2B5EF4-FFF2-40B4-BE49-F238E27FC236}">
                <a16:creationId xmlns:a16="http://schemas.microsoft.com/office/drawing/2014/main" id="{CA36BA7F-E852-426C-B571-3D094FB9F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3228603"/>
            <a:ext cx="80963" cy="130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39" name="Line 31">
            <a:extLst>
              <a:ext uri="{FF2B5EF4-FFF2-40B4-BE49-F238E27FC236}">
                <a16:creationId xmlns:a16="http://schemas.microsoft.com/office/drawing/2014/main" id="{1CF6A5C1-05CE-4946-B691-84EABCDAD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63" y="3358778"/>
            <a:ext cx="47625" cy="1444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0" name="Line 32">
            <a:extLst>
              <a:ext uri="{FF2B5EF4-FFF2-40B4-BE49-F238E27FC236}">
                <a16:creationId xmlns:a16="http://schemas.microsoft.com/office/drawing/2014/main" id="{FD80CBBD-D4B7-4678-827F-416B03022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3503241"/>
            <a:ext cx="12700" cy="1587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1" name="Line 33">
            <a:extLst>
              <a:ext uri="{FF2B5EF4-FFF2-40B4-BE49-F238E27FC236}">
                <a16:creationId xmlns:a16="http://schemas.microsoft.com/office/drawing/2014/main" id="{9B8B48E2-2B79-4F5C-9B8E-9CA8E68C4A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6288" y="3661991"/>
            <a:ext cx="2540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2" name="Line 34">
            <a:extLst>
              <a:ext uri="{FF2B5EF4-FFF2-40B4-BE49-F238E27FC236}">
                <a16:creationId xmlns:a16="http://schemas.microsoft.com/office/drawing/2014/main" id="{A22E7569-20A3-4AD3-93F0-6E2550C4BB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9613" y="3830266"/>
            <a:ext cx="66675" cy="1746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solidFill>
                <a:srgbClr val="000000"/>
              </a:solidFill>
              <a:ea typeface="华文彩云" panose="02010800040101010101" pitchFamily="2" charset="-122"/>
            </a:endParaRPr>
          </a:p>
        </p:txBody>
      </p:sp>
      <p:sp>
        <p:nvSpPr>
          <p:cNvPr id="43" name="Text Box 35">
            <a:extLst>
              <a:ext uri="{FF2B5EF4-FFF2-40B4-BE49-F238E27FC236}">
                <a16:creationId xmlns:a16="http://schemas.microsoft.com/office/drawing/2014/main" id="{586E960E-8EBB-4F81-86C5-997F0CD9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3977903"/>
            <a:ext cx="4397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4" name="Text Box 36">
            <a:extLst>
              <a:ext uri="{FF2B5EF4-FFF2-40B4-BE49-F238E27FC236}">
                <a16:creationId xmlns:a16="http://schemas.microsoft.com/office/drawing/2014/main" id="{680BDC0A-EDB4-4DC6-A337-701E32316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981078"/>
            <a:ext cx="3651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5" name="Text Box 37">
            <a:extLst>
              <a:ext uri="{FF2B5EF4-FFF2-40B4-BE49-F238E27FC236}">
                <a16:creationId xmlns:a16="http://schemas.microsoft.com/office/drawing/2014/main" id="{DF85FFE5-C904-4B1B-8EEB-EAD5C7AA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038" y="2987303"/>
            <a:ext cx="4445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6" name="Text Box 38">
            <a:extLst>
              <a:ext uri="{FF2B5EF4-FFF2-40B4-BE49-F238E27FC236}">
                <a16:creationId xmlns:a16="http://schemas.microsoft.com/office/drawing/2014/main" id="{1DB24C66-8C95-46D0-831F-0AF01ABD7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88" y="2761878"/>
            <a:ext cx="495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1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7" name="Text Box 39">
            <a:extLst>
              <a:ext uri="{FF2B5EF4-FFF2-40B4-BE49-F238E27FC236}">
                <a16:creationId xmlns:a16="http://schemas.microsoft.com/office/drawing/2014/main" id="{41FDFBDC-CD58-4507-B513-344E151E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1923678"/>
            <a:ext cx="4413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20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2,2</a:t>
            </a: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8" name="Text Box 40">
            <a:extLst>
              <a:ext uri="{FF2B5EF4-FFF2-40B4-BE49-F238E27FC236}">
                <a16:creationId xmlns:a16="http://schemas.microsoft.com/office/drawing/2014/main" id="{8EA57128-6E7B-4D5B-B4F8-DBA3BDA2C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9688" y="3082553"/>
            <a:ext cx="276225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7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</a:t>
            </a:r>
            <a:r>
              <a:rPr kumimoji="1" lang="en-US" altLang="zh-CN" sz="700" b="0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0,3</a:t>
            </a:r>
            <a:endParaRPr kumimoji="1" lang="en-US" altLang="zh-CN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9" name="Oval 41">
            <a:extLst>
              <a:ext uri="{FF2B5EF4-FFF2-40B4-BE49-F238E27FC236}">
                <a16:creationId xmlns:a16="http://schemas.microsoft.com/office/drawing/2014/main" id="{7690AA5B-FEC7-47CB-B26A-EE4135E7A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2987303"/>
            <a:ext cx="47625" cy="3651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sp>
        <p:nvSpPr>
          <p:cNvPr id="50" name="Text Box 42">
            <a:extLst>
              <a:ext uri="{FF2B5EF4-FFF2-40B4-BE49-F238E27FC236}">
                <a16:creationId xmlns:a16="http://schemas.microsoft.com/office/drawing/2014/main" id="{21C32E1C-069E-493F-857D-E7035E5A9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4445566"/>
            <a:ext cx="396240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4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次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B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é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zier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曲线的几何作图过程</a:t>
            </a:r>
            <a:endParaRPr kumimoji="1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 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51" name="Group 43">
            <a:extLst>
              <a:ext uri="{FF2B5EF4-FFF2-40B4-BE49-F238E27FC236}">
                <a16:creationId xmlns:a16="http://schemas.microsoft.com/office/drawing/2014/main" id="{E61EB8D5-93D3-4A42-8ACC-697C056298A1}"/>
              </a:ext>
            </a:extLst>
          </p:cNvPr>
          <p:cNvGrpSpPr>
            <a:grpSpLocks/>
          </p:cNvGrpSpPr>
          <p:nvPr/>
        </p:nvGrpSpPr>
        <p:grpSpPr bwMode="auto">
          <a:xfrm>
            <a:off x="4183063" y="2952378"/>
            <a:ext cx="549275" cy="342900"/>
            <a:chOff x="2512" y="2328"/>
            <a:chExt cx="320" cy="216"/>
          </a:xfrm>
        </p:grpSpPr>
        <p:sp>
          <p:nvSpPr>
            <p:cNvPr id="52" name="Text Box 44">
              <a:extLst>
                <a:ext uri="{FF2B5EF4-FFF2-40B4-BE49-F238E27FC236}">
                  <a16:creationId xmlns:a16="http://schemas.microsoft.com/office/drawing/2014/main" id="{41735E61-6696-4D4D-BAD1-D550AE1C7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7" y="2350"/>
              <a:ext cx="30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1" i="0" u="none" strike="noStrike" kern="0" cap="none" spc="0" normalizeH="0" baseline="-30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0,4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3" name="Oval 45">
              <a:extLst>
                <a:ext uri="{FF2B5EF4-FFF2-40B4-BE49-F238E27FC236}">
                  <a16:creationId xmlns:a16="http://schemas.microsoft.com/office/drawing/2014/main" id="{715E179C-72A0-4945-9FD5-D26924D50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32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</p:grpSp>
      <p:grpSp>
        <p:nvGrpSpPr>
          <p:cNvPr id="54" name="Group 46">
            <a:extLst>
              <a:ext uri="{FF2B5EF4-FFF2-40B4-BE49-F238E27FC236}">
                <a16:creationId xmlns:a16="http://schemas.microsoft.com/office/drawing/2014/main" id="{DE705355-07C0-46E1-BF15-535702E88551}"/>
              </a:ext>
            </a:extLst>
          </p:cNvPr>
          <p:cNvGrpSpPr>
            <a:grpSpLocks/>
          </p:cNvGrpSpPr>
          <p:nvPr/>
        </p:nvGrpSpPr>
        <p:grpSpPr bwMode="auto">
          <a:xfrm>
            <a:off x="2736850" y="2228478"/>
            <a:ext cx="4044950" cy="1600200"/>
            <a:chOff x="1680" y="1872"/>
            <a:chExt cx="2352" cy="1008"/>
          </a:xfrm>
        </p:grpSpPr>
        <p:sp>
          <p:nvSpPr>
            <p:cNvPr id="55" name="Text Box 47">
              <a:extLst>
                <a:ext uri="{FF2B5EF4-FFF2-40B4-BE49-F238E27FC236}">
                  <a16:creationId xmlns:a16="http://schemas.microsoft.com/office/drawing/2014/main" id="{85D6D9BA-2D9E-4327-81BD-36A49266D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" y="2596"/>
              <a:ext cx="37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3,1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48">
              <a:extLst>
                <a:ext uri="{FF2B5EF4-FFF2-40B4-BE49-F238E27FC236}">
                  <a16:creationId xmlns:a16="http://schemas.microsoft.com/office/drawing/2014/main" id="{C847057A-1326-4673-AA6E-E0BB16632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872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2,1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57" name="Text Box 49">
              <a:extLst>
                <a:ext uri="{FF2B5EF4-FFF2-40B4-BE49-F238E27FC236}">
                  <a16:creationId xmlns:a16="http://schemas.microsoft.com/office/drawing/2014/main" id="{9D6F0BB1-2C93-492F-AAE1-8BD91015B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9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0,1,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50">
              <a:extLst>
                <a:ext uri="{FF2B5EF4-FFF2-40B4-BE49-F238E27FC236}">
                  <a16:creationId xmlns:a16="http://schemas.microsoft.com/office/drawing/2014/main" id="{FA36A8CF-7958-4020-B027-7B1853851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920"/>
              <a:ext cx="28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11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pSp>
          <p:nvGrpSpPr>
            <p:cNvPr id="59" name="Group 51">
              <a:extLst>
                <a:ext uri="{FF2B5EF4-FFF2-40B4-BE49-F238E27FC236}">
                  <a16:creationId xmlns:a16="http://schemas.microsoft.com/office/drawing/2014/main" id="{DD3C36E2-5DA5-4503-A09A-51EE7FB9CB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2056"/>
              <a:ext cx="1784" cy="736"/>
              <a:chOff x="1912" y="2056"/>
              <a:chExt cx="1784" cy="736"/>
            </a:xfrm>
          </p:grpSpPr>
          <p:sp>
            <p:nvSpPr>
              <p:cNvPr id="60" name="Oval 52">
                <a:extLst>
                  <a:ext uri="{FF2B5EF4-FFF2-40B4-BE49-F238E27FC236}">
                    <a16:creationId xmlns:a16="http://schemas.microsoft.com/office/drawing/2014/main" id="{83C20C73-B173-43B3-8CE4-F02F0458D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8" y="2136"/>
                <a:ext cx="96" cy="96"/>
              </a:xfrm>
              <a:prstGeom prst="ellipse">
                <a:avLst/>
              </a:prstGeom>
              <a:solidFill>
                <a:srgbClr val="0000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华文彩云" panose="02010800040101010101" pitchFamily="2" charset="-122"/>
                </a:endParaRPr>
              </a:p>
            </p:txBody>
          </p:sp>
          <p:sp>
            <p:nvSpPr>
              <p:cNvPr id="61" name="Oval 53">
                <a:extLst>
                  <a:ext uri="{FF2B5EF4-FFF2-40B4-BE49-F238E27FC236}">
                    <a16:creationId xmlns:a16="http://schemas.microsoft.com/office/drawing/2014/main" id="{59DD0E44-8243-4D73-9B5D-994C86771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056"/>
                <a:ext cx="96" cy="96"/>
              </a:xfrm>
              <a:prstGeom prst="ellipse">
                <a:avLst/>
              </a:prstGeom>
              <a:solidFill>
                <a:srgbClr val="0000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华文彩云" panose="02010800040101010101" pitchFamily="2" charset="-122"/>
                </a:endParaRPr>
              </a:p>
            </p:txBody>
          </p:sp>
          <p:sp>
            <p:nvSpPr>
              <p:cNvPr id="62" name="Oval 54">
                <a:extLst>
                  <a:ext uri="{FF2B5EF4-FFF2-40B4-BE49-F238E27FC236}">
                    <a16:creationId xmlns:a16="http://schemas.microsoft.com/office/drawing/2014/main" id="{A738C064-D80C-4939-88B4-D3DEE9DF1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696"/>
                <a:ext cx="96" cy="96"/>
              </a:xfrm>
              <a:prstGeom prst="ellipse">
                <a:avLst/>
              </a:prstGeom>
              <a:solidFill>
                <a:srgbClr val="0000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华文彩云" panose="02010800040101010101" pitchFamily="2" charset="-122"/>
                </a:endParaRPr>
              </a:p>
            </p:txBody>
          </p:sp>
          <p:sp>
            <p:nvSpPr>
              <p:cNvPr id="63" name="Oval 55">
                <a:extLst>
                  <a:ext uri="{FF2B5EF4-FFF2-40B4-BE49-F238E27FC236}">
                    <a16:creationId xmlns:a16="http://schemas.microsoft.com/office/drawing/2014/main" id="{9168FD3F-3B67-49F1-A5F7-90E5424DE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96" cy="96"/>
              </a:xfrm>
              <a:prstGeom prst="ellipse">
                <a:avLst/>
              </a:prstGeom>
              <a:solidFill>
                <a:srgbClr val="000000">
                  <a:alpha val="50195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华文彩云" panose="02010800040101010101" pitchFamily="2" charset="-122"/>
                </a:endParaRPr>
              </a:p>
            </p:txBody>
          </p:sp>
        </p:grpSp>
      </p:grpSp>
      <p:grpSp>
        <p:nvGrpSpPr>
          <p:cNvPr id="64" name="Group 56">
            <a:extLst>
              <a:ext uri="{FF2B5EF4-FFF2-40B4-BE49-F238E27FC236}">
                <a16:creationId xmlns:a16="http://schemas.microsoft.com/office/drawing/2014/main" id="{CF3E8901-4286-4515-8780-0C760FA81624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2228478"/>
            <a:ext cx="3025775" cy="1371600"/>
            <a:chOff x="2120" y="1872"/>
            <a:chExt cx="1759" cy="864"/>
          </a:xfrm>
        </p:grpSpPr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8791E458-F4C1-4F73-8035-CA615941E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72"/>
              <a:ext cx="325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1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1,2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DE9CFA7B-9D39-46D7-A44C-DAF208BC9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6" y="2535"/>
              <a:ext cx="25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0,2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67" name="Oval 59">
              <a:extLst>
                <a:ext uri="{FF2B5EF4-FFF2-40B4-BE49-F238E27FC236}">
                  <a16:creationId xmlns:a16="http://schemas.microsoft.com/office/drawing/2014/main" id="{1639ACE9-930D-4160-B509-231B07CC8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" y="2520"/>
              <a:ext cx="48" cy="48"/>
            </a:xfrm>
            <a:prstGeom prst="ellipse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68" name="Oval 60">
              <a:extLst>
                <a:ext uri="{FF2B5EF4-FFF2-40B4-BE49-F238E27FC236}">
                  <a16:creationId xmlns:a16="http://schemas.microsoft.com/office/drawing/2014/main" id="{217A839C-54CA-4F14-A7A2-56A23196A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2136"/>
              <a:ext cx="48" cy="48"/>
            </a:xfrm>
            <a:prstGeom prst="ellipse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69" name="Oval 61">
              <a:extLst>
                <a:ext uri="{FF2B5EF4-FFF2-40B4-BE49-F238E27FC236}">
                  <a16:creationId xmlns:a16="http://schemas.microsoft.com/office/drawing/2014/main" id="{761ED55E-EE0A-416B-B47C-507D752AF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2240"/>
              <a:ext cx="48" cy="48"/>
            </a:xfrm>
            <a:prstGeom prst="ellipse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70" name="Rectangle 62">
              <a:extLst>
                <a:ext uri="{FF2B5EF4-FFF2-40B4-BE49-F238E27FC236}">
                  <a16:creationId xmlns:a16="http://schemas.microsoft.com/office/drawing/2014/main" id="{7553B9D9-D6A9-4DE5-ABEB-B605B2E66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2112"/>
              <a:ext cx="3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P22</a:t>
              </a:r>
            </a:p>
          </p:txBody>
        </p:sp>
      </p:grpSp>
      <p:grpSp>
        <p:nvGrpSpPr>
          <p:cNvPr id="71" name="Group 63">
            <a:extLst>
              <a:ext uri="{FF2B5EF4-FFF2-40B4-BE49-F238E27FC236}">
                <a16:creationId xmlns:a16="http://schemas.microsoft.com/office/drawing/2014/main" id="{6AB1C40F-B01C-4734-833D-0E53BBF47976}"/>
              </a:ext>
            </a:extLst>
          </p:cNvPr>
          <p:cNvGrpSpPr>
            <a:grpSpLocks/>
          </p:cNvGrpSpPr>
          <p:nvPr/>
        </p:nvGrpSpPr>
        <p:grpSpPr bwMode="auto">
          <a:xfrm>
            <a:off x="3824288" y="2418978"/>
            <a:ext cx="1485900" cy="723900"/>
            <a:chOff x="2304" y="1992"/>
            <a:chExt cx="864" cy="456"/>
          </a:xfrm>
        </p:grpSpPr>
        <p:sp>
          <p:nvSpPr>
            <p:cNvPr id="72" name="Text Box 64">
              <a:extLst>
                <a:ext uri="{FF2B5EF4-FFF2-40B4-BE49-F238E27FC236}">
                  <a16:creationId xmlns:a16="http://schemas.microsoft.com/office/drawing/2014/main" id="{28118E31-C8F9-4DAE-902F-F5E9896B6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992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000" b="1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1,3</a:t>
              </a:r>
              <a:r>
                <a:rPr kumimoji="1" lang="en-US" altLang="zh-CN" sz="2000" b="0" i="0" u="none" strike="noStrike" kern="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,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73" name="Oval 65">
              <a:extLst>
                <a:ext uri="{FF2B5EF4-FFF2-40B4-BE49-F238E27FC236}">
                  <a16:creationId xmlns:a16="http://schemas.microsoft.com/office/drawing/2014/main" id="{B6846F62-2B8E-47AA-AEFA-0EFC8E610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176"/>
              <a:ext cx="48" cy="48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  <p:sp>
          <p:nvSpPr>
            <p:cNvPr id="74" name="Oval 66">
              <a:extLst>
                <a:ext uri="{FF2B5EF4-FFF2-40B4-BE49-F238E27FC236}">
                  <a16:creationId xmlns:a16="http://schemas.microsoft.com/office/drawing/2014/main" id="{2BA98D17-EB5B-4B11-80C7-52F156352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48" cy="48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</a:endParaRPr>
            </a:p>
          </p:txBody>
        </p:sp>
      </p:grpSp>
      <p:sp>
        <p:nvSpPr>
          <p:cNvPr id="75" name="Rectangle 67">
            <a:extLst>
              <a:ext uri="{FF2B5EF4-FFF2-40B4-BE49-F238E27FC236}">
                <a16:creationId xmlns:a16="http://schemas.microsoft.com/office/drawing/2014/main" id="{1DEC8180-FDD8-463F-B679-5FB161A22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67" y="733852"/>
            <a:ext cx="8278813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     依次类推，连续作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次后，得到一个单点   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,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该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点就是式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                        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Bézier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曲线上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参数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为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的点    。</a:t>
            </a:r>
          </a:p>
        </p:txBody>
      </p:sp>
      <p:graphicFrame>
        <p:nvGraphicFramePr>
          <p:cNvPr id="76" name="Object 68">
            <a:extLst>
              <a:ext uri="{FF2B5EF4-FFF2-40B4-BE49-F238E27FC236}">
                <a16:creationId xmlns:a16="http://schemas.microsoft.com/office/drawing/2014/main" id="{45F2088D-D546-43F9-B288-4A23D628E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77863"/>
              </p:ext>
            </p:extLst>
          </p:nvPr>
        </p:nvGraphicFramePr>
        <p:xfrm>
          <a:off x="6342063" y="807809"/>
          <a:ext cx="7429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6" r:id="rId6" imgW="406224" imgH="241195" progId="Equation.DSMT4">
                  <p:embed/>
                </p:oleObj>
              </mc:Choice>
              <mc:Fallback>
                <p:oleObj r:id="rId6" imgW="406224" imgH="241195" progId="Equation.DSMT4">
                  <p:embed/>
                  <p:pic>
                    <p:nvPicPr>
                      <p:cNvPr id="50220" name="Object 68">
                        <a:extLst>
                          <a:ext uri="{FF2B5EF4-FFF2-40B4-BE49-F238E27FC236}">
                            <a16:creationId xmlns:a16="http://schemas.microsoft.com/office/drawing/2014/main" id="{1CAC9398-9EB6-4B56-B5B9-3AEBF476BF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063" y="807809"/>
                        <a:ext cx="7429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69">
            <a:extLst>
              <a:ext uri="{FF2B5EF4-FFF2-40B4-BE49-F238E27FC236}">
                <a16:creationId xmlns:a16="http://schemas.microsoft.com/office/drawing/2014/main" id="{2EF1043D-7F10-4506-B817-EEAAC5C4B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497612"/>
              </p:ext>
            </p:extLst>
          </p:nvPr>
        </p:nvGraphicFramePr>
        <p:xfrm>
          <a:off x="1691453" y="1111249"/>
          <a:ext cx="41275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7" r:id="rId8" imgW="1117600" imgH="431800" progId="Equation.DSMT4">
                  <p:embed/>
                </p:oleObj>
              </mc:Choice>
              <mc:Fallback>
                <p:oleObj r:id="rId8" imgW="1117600" imgH="431800" progId="Equation.DSMT4">
                  <p:embed/>
                  <p:pic>
                    <p:nvPicPr>
                      <p:cNvPr id="50221" name="Object 69">
                        <a:extLst>
                          <a:ext uri="{FF2B5EF4-FFF2-40B4-BE49-F238E27FC236}">
                            <a16:creationId xmlns:a16="http://schemas.microsoft.com/office/drawing/2014/main" id="{29B65D00-F9E9-42FA-BC7C-EF0C61BA2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453" y="1111249"/>
                        <a:ext cx="41275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0">
            <a:extLst>
              <a:ext uri="{FF2B5EF4-FFF2-40B4-BE49-F238E27FC236}">
                <a16:creationId xmlns:a16="http://schemas.microsoft.com/office/drawing/2014/main" id="{F2C13046-307F-41FD-9F49-375D2D7FF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785017"/>
              </p:ext>
            </p:extLst>
          </p:nvPr>
        </p:nvGraphicFramePr>
        <p:xfrm>
          <a:off x="1403648" y="1910263"/>
          <a:ext cx="7429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r:id="rId10" imgW="317225" imgH="203024" progId="Equation.DSMT4">
                  <p:embed/>
                </p:oleObj>
              </mc:Choice>
              <mc:Fallback>
                <p:oleObj r:id="rId10" imgW="317225" imgH="203024" progId="Equation.DSMT4">
                  <p:embed/>
                  <p:pic>
                    <p:nvPicPr>
                      <p:cNvPr id="50222" name="Object 70">
                        <a:extLst>
                          <a:ext uri="{FF2B5EF4-FFF2-40B4-BE49-F238E27FC236}">
                            <a16:creationId xmlns:a16="http://schemas.microsoft.com/office/drawing/2014/main" id="{76793375-C0D3-43EF-93F1-E62A00909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910263"/>
                        <a:ext cx="7429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18367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 Curve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D1625A-1D3B-4BCE-B0AA-1511BE027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843558"/>
            <a:ext cx="751205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>
                <a:srgbClr val="009999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让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[0,1]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间变动，就得到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Bézier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曲线，并且向量         </a:t>
            </a:r>
          </a:p>
          <a:p>
            <a:pPr marL="0" marR="0" lvl="0" indent="0" algn="just" defTabSz="91440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>
                <a:srgbClr val="00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                     是曲线在点 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处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的切向量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5EB85F01-3537-47D1-9A55-1AA03BA41A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601522"/>
              </p:ext>
            </p:extLst>
          </p:nvPr>
        </p:nvGraphicFramePr>
        <p:xfrm>
          <a:off x="900485" y="1504919"/>
          <a:ext cx="15684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4" r:id="rId6" imgW="710891" imgH="266584" progId="Equation.DSMT4">
                  <p:embed/>
                </p:oleObj>
              </mc:Choice>
              <mc:Fallback>
                <p:oleObj r:id="rId6" imgW="710891" imgH="266584" progId="Equation.DSMT4">
                  <p:embed/>
                  <p:pic>
                    <p:nvPicPr>
                      <p:cNvPr id="51204" name="Object 3">
                        <a:extLst>
                          <a:ext uri="{FF2B5EF4-FFF2-40B4-BE49-F238E27FC236}">
                            <a16:creationId xmlns:a16="http://schemas.microsoft.com/office/drawing/2014/main" id="{5A3C0E4B-45A3-48B2-BE5D-9E28268CDF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85" y="1504919"/>
                        <a:ext cx="15684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25BAF1E9-7F38-43DB-A639-80D770FB6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065924"/>
            <a:ext cx="5913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9999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作图过程，可以描述为一个代数递推公式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38492CA-9E85-44CE-8CE0-1799A33EB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6343"/>
              </p:ext>
            </p:extLst>
          </p:nvPr>
        </p:nvGraphicFramePr>
        <p:xfrm>
          <a:off x="946523" y="2629831"/>
          <a:ext cx="3797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5" r:id="rId8" imgW="1968500" imgH="241300" progId="Equation.DSMT4">
                  <p:embed/>
                </p:oleObj>
              </mc:Choice>
              <mc:Fallback>
                <p:oleObj r:id="rId8" imgW="1968500" imgH="241300" progId="Equation.DSMT4">
                  <p:embed/>
                  <p:pic>
                    <p:nvPicPr>
                      <p:cNvPr id="51206" name="Object 5">
                        <a:extLst>
                          <a:ext uri="{FF2B5EF4-FFF2-40B4-BE49-F238E27FC236}">
                            <a16:creationId xmlns:a16="http://schemas.microsoft.com/office/drawing/2014/main" id="{51ED2379-BFF8-404D-B6E6-E4760E608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523" y="2629831"/>
                        <a:ext cx="3797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>
            <a:extLst>
              <a:ext uri="{FF2B5EF4-FFF2-40B4-BE49-F238E27FC236}">
                <a16:creationId xmlns:a16="http://schemas.microsoft.com/office/drawing/2014/main" id="{C346EDEF-61C1-44B5-AA86-9436A70E8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410" y="3281958"/>
            <a:ext cx="1568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0≤</a:t>
            </a:r>
            <a:r>
              <a:rPr kumimoji="1" lang="en-US" altLang="zh-CN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≤1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C7FECBBB-F60A-4788-B470-AF8340FFC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831780"/>
              </p:ext>
            </p:extLst>
          </p:nvPr>
        </p:nvGraphicFramePr>
        <p:xfrm>
          <a:off x="3005510" y="3358158"/>
          <a:ext cx="18161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6" r:id="rId10" imgW="761669" imgH="203112" progId="Equation.DSMT4">
                  <p:embed/>
                </p:oleObj>
              </mc:Choice>
              <mc:Fallback>
                <p:oleObj r:id="rId10" imgW="761669" imgH="203112" progId="Equation.DSMT4">
                  <p:embed/>
                  <p:pic>
                    <p:nvPicPr>
                      <p:cNvPr id="51208" name="Object 7">
                        <a:extLst>
                          <a:ext uri="{FF2B5EF4-FFF2-40B4-BE49-F238E27FC236}">
                            <a16:creationId xmlns:a16="http://schemas.microsoft.com/office/drawing/2014/main" id="{E10C5553-AB54-44DA-9C7C-D6DF5D08FB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510" y="3358158"/>
                        <a:ext cx="18161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BD0DDA0C-DFFB-45BF-AEB3-E43516A85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068095"/>
              </p:ext>
            </p:extLst>
          </p:nvPr>
        </p:nvGraphicFramePr>
        <p:xfrm>
          <a:off x="5316910" y="3358158"/>
          <a:ext cx="198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7" r:id="rId12" imgW="926698" imgH="203112" progId="Equation.DSMT4">
                  <p:embed/>
                </p:oleObj>
              </mc:Choice>
              <mc:Fallback>
                <p:oleObj r:id="rId12" imgW="926698" imgH="203112" progId="Equation.DSMT4">
                  <p:embed/>
                  <p:pic>
                    <p:nvPicPr>
                      <p:cNvPr id="51209" name="Object 8">
                        <a:extLst>
                          <a:ext uri="{FF2B5EF4-FFF2-40B4-BE49-F238E27FC236}">
                            <a16:creationId xmlns:a16="http://schemas.microsoft.com/office/drawing/2014/main" id="{7237482B-0E64-46B0-841E-BEE6DF002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910" y="3358158"/>
                        <a:ext cx="1981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9">
            <a:extLst>
              <a:ext uri="{FF2B5EF4-FFF2-40B4-BE49-F238E27FC236}">
                <a16:creationId xmlns:a16="http://schemas.microsoft.com/office/drawing/2014/main" id="{9570F843-5A37-44B9-86F0-6138FF3A2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71" y="3844982"/>
            <a:ext cx="90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式中</a:t>
            </a: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6F994575-64F9-4B88-9DE3-508F42412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368110"/>
              </p:ext>
            </p:extLst>
          </p:nvPr>
        </p:nvGraphicFramePr>
        <p:xfrm>
          <a:off x="1646712" y="3887509"/>
          <a:ext cx="34671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8" r:id="rId14" imgW="1536700" imgH="241300" progId="Equation.DSMT4">
                  <p:embed/>
                </p:oleObj>
              </mc:Choice>
              <mc:Fallback>
                <p:oleObj r:id="rId14" imgW="1536700" imgH="241300" progId="Equation.DSMT4">
                  <p:embed/>
                  <p:pic>
                    <p:nvPicPr>
                      <p:cNvPr id="51211" name="Object 10">
                        <a:extLst>
                          <a:ext uri="{FF2B5EF4-FFF2-40B4-BE49-F238E27FC236}">
                            <a16:creationId xmlns:a16="http://schemas.microsoft.com/office/drawing/2014/main" id="{801FCB9B-CAA5-4025-965F-BCF17CBCB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712" y="3887509"/>
                        <a:ext cx="34671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1">
            <a:extLst>
              <a:ext uri="{FF2B5EF4-FFF2-40B4-BE49-F238E27FC236}">
                <a16:creationId xmlns:a16="http://schemas.microsoft.com/office/drawing/2014/main" id="{9B1BFE4A-C6A5-459B-B173-EE7347253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097" y="3932882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l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表示递推的步数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8D33A43-B714-454A-9A2B-BD9D0018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722" y="4345592"/>
            <a:ext cx="784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i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表示该点位于相应多边形的第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i+1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条边上。</a:t>
            </a:r>
          </a:p>
        </p:txBody>
      </p:sp>
      <p:graphicFrame>
        <p:nvGraphicFramePr>
          <p:cNvPr id="20" name="Object 13">
            <a:extLst>
              <a:ext uri="{FF2B5EF4-FFF2-40B4-BE49-F238E27FC236}">
                <a16:creationId xmlns:a16="http://schemas.microsoft.com/office/drawing/2014/main" id="{958ABA7C-547C-4270-9345-32D3089E0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163845"/>
              </p:ext>
            </p:extLst>
          </p:nvPr>
        </p:nvGraphicFramePr>
        <p:xfrm>
          <a:off x="4083423" y="1584921"/>
          <a:ext cx="6604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9" name="Equation" r:id="rId16" imgW="317225" imgH="203024" progId="Equation.DSMT4">
                  <p:embed/>
                </p:oleObj>
              </mc:Choice>
              <mc:Fallback>
                <p:oleObj name="Equation" r:id="rId16" imgW="317225" imgH="203024" progId="Equation.DSMT4">
                  <p:embed/>
                  <p:pic>
                    <p:nvPicPr>
                      <p:cNvPr id="51214" name="Object 13">
                        <a:extLst>
                          <a:ext uri="{FF2B5EF4-FFF2-40B4-BE49-F238E27FC236}">
                            <a16:creationId xmlns:a16="http://schemas.microsoft.com/office/drawing/2014/main" id="{C6D75432-B93E-4220-96B4-154FD2D170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423" y="1584921"/>
                        <a:ext cx="6604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4">
            <a:extLst>
              <a:ext uri="{FF2B5EF4-FFF2-40B4-BE49-F238E27FC236}">
                <a16:creationId xmlns:a16="http://schemas.microsoft.com/office/drawing/2014/main" id="{CD00BDC5-5B1A-400D-B9B4-5C70D4667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720762"/>
            <a:ext cx="1560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9.28</a:t>
            </a:r>
            <a:r>
              <a:rPr kumimoji="1"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02229076"/>
      </p:ext>
    </p:extLst>
  </p:cSld>
  <p:clrMapOvr>
    <a:masterClrMapping/>
  </p:clrMapOvr>
  <p:transition spd="med" advClick="0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0EF353C-EAD0-43C9-B5E3-F9E84884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591500"/>
            <a:ext cx="8568952" cy="401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曲线不足：</a:t>
            </a:r>
          </a:p>
          <a:p>
            <a:pPr eaLnBrk="1" hangingPunct="1">
              <a:buFontTx/>
              <a:buNone/>
            </a:pPr>
            <a:r>
              <a:rPr lang="en-US" altLang="zh-CN" sz="2800" kern="0" dirty="0">
                <a:ea typeface="宋体" panose="02010600030101010101" pitchFamily="2" charset="-122"/>
              </a:rPr>
              <a:t>1.</a:t>
            </a:r>
            <a:r>
              <a:rPr lang="zh-CN" altLang="en-US" sz="2800" kern="0" dirty="0">
                <a:ea typeface="宋体" panose="02010600030101010101" pitchFamily="2" charset="-122"/>
              </a:rPr>
              <a:t>特征多边形边数与曲线次数严格相关</a:t>
            </a:r>
          </a:p>
          <a:p>
            <a:pPr eaLnBrk="1" hangingPunct="1">
              <a:buFontTx/>
              <a:buNone/>
            </a:pPr>
            <a:r>
              <a:rPr lang="en-US" altLang="zh-CN" sz="2800" kern="0" dirty="0">
                <a:ea typeface="宋体" panose="02010600030101010101" pitchFamily="2" charset="-122"/>
              </a:rPr>
              <a:t>2.Bezier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曲线是一个整体逼近方案牵一发动全身</a:t>
            </a: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C3E973B0-6615-44D1-8F6F-FFA4C3E7D9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92997"/>
              </p:ext>
            </p:extLst>
          </p:nvPr>
        </p:nvGraphicFramePr>
        <p:xfrm>
          <a:off x="857250" y="3058090"/>
          <a:ext cx="2355059" cy="14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8" name="Visio" r:id="rId6" imgW="2659082" imgH="1666875" progId="Visio.Drawing.11">
                  <p:embed/>
                </p:oleObj>
              </mc:Choice>
              <mc:Fallback>
                <p:oleObj name="Visio" r:id="rId6" imgW="2659082" imgH="1666875" progId="Visio.Drawing.11">
                  <p:embed/>
                  <p:pic>
                    <p:nvPicPr>
                      <p:cNvPr id="61445" name="Object 3">
                        <a:extLst>
                          <a:ext uri="{FF2B5EF4-FFF2-40B4-BE49-F238E27FC236}">
                            <a16:creationId xmlns:a16="http://schemas.microsoft.com/office/drawing/2014/main" id="{F6ABC74F-C40A-40D5-8EBD-2CCBE51A5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058090"/>
                        <a:ext cx="2355059" cy="1475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F5B0537-4EB8-4004-A5A1-90878BF46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728202"/>
              </p:ext>
            </p:extLst>
          </p:nvPr>
        </p:nvGraphicFramePr>
        <p:xfrm>
          <a:off x="4499992" y="2741628"/>
          <a:ext cx="4542792" cy="1999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9" name="Visio" r:id="rId8" imgW="4042791" imgH="1693926" progId="Visio.Drawing.11">
                  <p:embed/>
                </p:oleObj>
              </mc:Choice>
              <mc:Fallback>
                <p:oleObj name="Visio" r:id="rId8" imgW="4042791" imgH="1693926" progId="Visio.Drawing.11">
                  <p:embed/>
                  <p:pic>
                    <p:nvPicPr>
                      <p:cNvPr id="61446" name="Object 6">
                        <a:extLst>
                          <a:ext uri="{FF2B5EF4-FFF2-40B4-BE49-F238E27FC236}">
                            <a16:creationId xmlns:a16="http://schemas.microsoft.com/office/drawing/2014/main" id="{F3106B1D-E2E9-4CBE-8733-5EA3EED22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741628"/>
                        <a:ext cx="4542792" cy="1999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3700399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94423D-246E-4A24-8037-04CB752CF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771550"/>
            <a:ext cx="8696088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基本理论及参数表示法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Hermite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Bezier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样条曲线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曲面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987FCA9C-19F1-4387-95F4-8273C02B0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966960"/>
            <a:ext cx="3439504" cy="27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193000"/>
      </p:ext>
    </p:extLst>
  </p:cSld>
  <p:clrMapOvr>
    <a:masterClrMapping/>
  </p:clrMapOvr>
  <p:transition spd="med" advClick="0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220184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B-Spline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D3613527-43C3-4C48-A3F9-B93BBFD51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029397"/>
              </p:ext>
            </p:extLst>
          </p:nvPr>
        </p:nvGraphicFramePr>
        <p:xfrm>
          <a:off x="5077434" y="2677189"/>
          <a:ext cx="4031031" cy="2103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8" name="Visio" r:id="rId6" imgW="3619995" imgH="1889379" progId="Visio.Drawing.11">
                  <p:embed/>
                </p:oleObj>
              </mc:Choice>
              <mc:Fallback>
                <p:oleObj name="Visio" r:id="rId6" imgW="3619995" imgH="1889379" progId="Visio.Drawing.11">
                  <p:embed/>
                  <p:pic>
                    <p:nvPicPr>
                      <p:cNvPr id="64515" name="Object 2">
                        <a:extLst>
                          <a:ext uri="{FF2B5EF4-FFF2-40B4-BE49-F238E27FC236}">
                            <a16:creationId xmlns:a16="http://schemas.microsoft.com/office/drawing/2014/main" id="{EB7984C4-9CB3-4B13-82BA-AB8170CC5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7434" y="2677189"/>
                        <a:ext cx="4031031" cy="210333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3DCE5FC3-71D6-4217-A535-9B1494B42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926329"/>
              </p:ext>
            </p:extLst>
          </p:nvPr>
        </p:nvGraphicFramePr>
        <p:xfrm>
          <a:off x="784200" y="992256"/>
          <a:ext cx="6999535" cy="1780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Equation" r:id="rId8" imgW="3695700" imgH="939800" progId="Equation.DSMT4">
                  <p:embed/>
                </p:oleObj>
              </mc:Choice>
              <mc:Fallback>
                <p:oleObj name="Equation" r:id="rId8" imgW="3695700" imgH="939800" progId="Equation.DSMT4">
                  <p:embed/>
                  <p:pic>
                    <p:nvPicPr>
                      <p:cNvPr id="64517" name="Object 3">
                        <a:extLst>
                          <a:ext uri="{FF2B5EF4-FFF2-40B4-BE49-F238E27FC236}">
                            <a16:creationId xmlns:a16="http://schemas.microsoft.com/office/drawing/2014/main" id="{6023B912-8C17-4405-8688-4FC93508B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00" y="992256"/>
                        <a:ext cx="6999535" cy="1780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D436289-F55F-453C-8618-535FB098F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459408"/>
              </p:ext>
            </p:extLst>
          </p:nvPr>
        </p:nvGraphicFramePr>
        <p:xfrm>
          <a:off x="187004" y="2847022"/>
          <a:ext cx="4862072" cy="1668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0" name="Equation" r:id="rId10" imgW="3403600" imgH="1168400" progId="Equation.DSMT4">
                  <p:embed/>
                </p:oleObj>
              </mc:Choice>
              <mc:Fallback>
                <p:oleObj name="Equation" r:id="rId10" imgW="3403600" imgH="1168400" progId="Equation.DSMT4">
                  <p:embed/>
                  <p:pic>
                    <p:nvPicPr>
                      <p:cNvPr id="34822" name="Object 6">
                        <a:extLst>
                          <a:ext uri="{FF2B5EF4-FFF2-40B4-BE49-F238E27FC236}">
                            <a16:creationId xmlns:a16="http://schemas.microsoft.com/office/drawing/2014/main" id="{9E613D95-7455-4B87-BBBE-DC2EA5D06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4" y="2847022"/>
                        <a:ext cx="4862072" cy="166894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4B46F00-EB06-4266-8CA5-F88401F780C2}"/>
              </a:ext>
            </a:extLst>
          </p:cNvPr>
          <p:cNvSpPr/>
          <p:nvPr/>
        </p:nvSpPr>
        <p:spPr>
          <a:xfrm>
            <a:off x="4211960" y="1923678"/>
            <a:ext cx="865474" cy="730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063112"/>
      </p:ext>
    </p:extLst>
  </p:cSld>
  <p:clrMapOvr>
    <a:masterClrMapping/>
  </p:clrMapOvr>
  <p:transition spd="med" advClick="0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220184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B-Spline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AA454918-4146-4CDF-8274-4EA6C973E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107012"/>
              </p:ext>
            </p:extLst>
          </p:nvPr>
        </p:nvGraphicFramePr>
        <p:xfrm>
          <a:off x="409641" y="600075"/>
          <a:ext cx="3578498" cy="83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Equation" r:id="rId6" imgW="1079032" imgH="431613" progId="Equation.DSMT4">
                  <p:embed/>
                </p:oleObj>
              </mc:Choice>
              <mc:Fallback>
                <p:oleObj name="Equation" r:id="rId6" imgW="1079032" imgH="431613" progId="Equation.DSMT4">
                  <p:embed/>
                  <p:pic>
                    <p:nvPicPr>
                      <p:cNvPr id="65540" name="Object 4">
                        <a:extLst>
                          <a:ext uri="{FF2B5EF4-FFF2-40B4-BE49-F238E27FC236}">
                            <a16:creationId xmlns:a16="http://schemas.microsoft.com/office/drawing/2014/main" id="{9CAD78D1-5A1B-42AA-ACA1-D7E359155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641" y="600075"/>
                        <a:ext cx="3578498" cy="834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304A9C0-9CF6-4E65-9057-32EEB2FB0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69137"/>
              </p:ext>
            </p:extLst>
          </p:nvPr>
        </p:nvGraphicFramePr>
        <p:xfrm>
          <a:off x="384596" y="1586060"/>
          <a:ext cx="5979555" cy="197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Equation" r:id="rId8" imgW="1841500" imgH="1041400" progId="Equation.DSMT4">
                  <p:embed/>
                </p:oleObj>
              </mc:Choice>
              <mc:Fallback>
                <p:oleObj name="Equation" r:id="rId8" imgW="1841500" imgH="1041400" progId="Equation.DSMT4">
                  <p:embed/>
                  <p:pic>
                    <p:nvPicPr>
                      <p:cNvPr id="65541" name="Object 5">
                        <a:extLst>
                          <a:ext uri="{FF2B5EF4-FFF2-40B4-BE49-F238E27FC236}">
                            <a16:creationId xmlns:a16="http://schemas.microsoft.com/office/drawing/2014/main" id="{F0B5E45E-7C78-4EA3-A099-CC6EDD1CB6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96" y="1586060"/>
                        <a:ext cx="5979555" cy="1971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9">
            <a:extLst>
              <a:ext uri="{FF2B5EF4-FFF2-40B4-BE49-F238E27FC236}">
                <a16:creationId xmlns:a16="http://schemas.microsoft.com/office/drawing/2014/main" id="{2B8C23E9-D8A9-4C95-AF43-44FEB4C4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229" y="2359333"/>
            <a:ext cx="2606275" cy="244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B34F1181-2618-48F9-9772-E3AA93CCB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114433"/>
              </p:ext>
            </p:extLst>
          </p:nvPr>
        </p:nvGraphicFramePr>
        <p:xfrm>
          <a:off x="6646660" y="7938"/>
          <a:ext cx="2186394" cy="237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3" r:id="rId11" imgW="3420000" imgH="3718080" progId="Visio.Drawing.6">
                  <p:embed/>
                </p:oleObj>
              </mc:Choice>
              <mc:Fallback>
                <p:oleObj r:id="rId11" imgW="3420000" imgH="3718080" progId="Visio.Drawing.6">
                  <p:embed/>
                  <p:pic>
                    <p:nvPicPr>
                      <p:cNvPr id="17410" name="Object 4">
                        <a:extLst>
                          <a:ext uri="{FF2B5EF4-FFF2-40B4-BE49-F238E27FC236}">
                            <a16:creationId xmlns:a16="http://schemas.microsoft.com/office/drawing/2014/main" id="{9037CF2B-D69A-4B54-B404-D12C1A206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60" y="7938"/>
                        <a:ext cx="2186394" cy="23772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637671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220184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——Cubic B-Spline Curve</a:t>
            </a:r>
            <a:endParaRPr lang="zh-CN" alt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5278AE3-313C-41E2-8A8F-5E4B1C1A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32475"/>
            <a:ext cx="7517574" cy="366909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样条曲线的性质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端点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（位置、一阶导数、二阶导数）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凸包性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变差缩减性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几何不变性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</a:rPr>
              <a:t>交互能力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CEC51072-55D9-44A6-9BE7-5009C65AB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57127"/>
              </p:ext>
            </p:extLst>
          </p:nvPr>
        </p:nvGraphicFramePr>
        <p:xfrm>
          <a:off x="3972984" y="2067694"/>
          <a:ext cx="5132539" cy="2678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3" name="Visio" r:id="rId6" imgW="3620036" imgH="1889403" progId="Visio.Drawing.11">
                  <p:embed/>
                </p:oleObj>
              </mc:Choice>
              <mc:Fallback>
                <p:oleObj name="Visio" r:id="rId6" imgW="3620036" imgH="1889403" progId="Visio.Drawing.11">
                  <p:embed/>
                  <p:pic>
                    <p:nvPicPr>
                      <p:cNvPr id="66565" name="Object 2">
                        <a:extLst>
                          <a:ext uri="{FF2B5EF4-FFF2-40B4-BE49-F238E27FC236}">
                            <a16:creationId xmlns:a16="http://schemas.microsoft.com/office/drawing/2014/main" id="{BBBF2C53-4AED-4B7F-8CB8-71C3066DA6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984" y="2067694"/>
                        <a:ext cx="5132539" cy="267875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3952147"/>
      </p:ext>
    </p:extLst>
  </p:cSld>
  <p:clrMapOvr>
    <a:masterClrMapping/>
  </p:clrMapOvr>
  <p:transition spd="med" advClick="0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220184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样条曲线“拼接”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0474F6-D0C9-4A3E-A44C-FB24C22D7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65" y="679293"/>
            <a:ext cx="8049220" cy="4549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hangingPunct="1">
              <a:buFontTx/>
              <a:buNone/>
            </a:pP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四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个端点，可生成一段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样条，再增加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个控制点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，可利用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Pi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四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个端点再产生一段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样条，依次类推可以生成整个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次</a:t>
            </a:r>
            <a:r>
              <a:rPr lang="en-US" altLang="zh-CN" sz="2400" b="1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样条</a:t>
            </a:r>
          </a:p>
          <a:p>
            <a:pPr eaLnBrk="1" hangingPunct="1"/>
            <a:endParaRPr lang="zh-CN" altLang="en-US" sz="2800" kern="0" dirty="0">
              <a:ea typeface="宋体" panose="02010600030101010101" pitchFamily="2" charset="-122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11E9EA1-195E-4666-96C4-02FABAC76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15" y="2135681"/>
            <a:ext cx="2668141" cy="103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244059E2-6F04-460D-8A0E-57A69AEEE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15" y="3292322"/>
            <a:ext cx="1060910" cy="1357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4D9CC7A9-394B-4A3C-9DA1-C75B36407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3" y="3232699"/>
            <a:ext cx="1240961" cy="144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1FD845B0-1B00-40E4-9BBA-3FE4B2317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898" y="2682236"/>
            <a:ext cx="3654574" cy="1945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8">
            <a:extLst>
              <a:ext uri="{FF2B5EF4-FFF2-40B4-BE49-F238E27FC236}">
                <a16:creationId xmlns:a16="http://schemas.microsoft.com/office/drawing/2014/main" id="{A35F77C2-D2FB-475B-A205-B3ED2C445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8559" y="2073621"/>
            <a:ext cx="1566913" cy="515753"/>
          </a:xfrm>
          <a:prstGeom prst="wedgeRoundRectCallout">
            <a:avLst>
              <a:gd name="adj1" fmla="val -76917"/>
              <a:gd name="adj2" fmla="val 237379"/>
              <a:gd name="adj3" fmla="val 16667"/>
            </a:avLst>
          </a:prstGeom>
          <a:gradFill rotWithShape="1">
            <a:gsLst>
              <a:gs pos="0">
                <a:srgbClr val="2D2D8A">
                  <a:tint val="50000"/>
                  <a:satMod val="300000"/>
                </a:srgbClr>
              </a:gs>
              <a:gs pos="35000">
                <a:srgbClr val="2D2D8A">
                  <a:tint val="37000"/>
                  <a:satMod val="300000"/>
                </a:srgbClr>
              </a:gs>
              <a:gs pos="100000">
                <a:srgbClr val="2D2D8A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2D2D8A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华文宋体" pitchFamily="2" charset="-122"/>
                <a:ea typeface="华文宋体" pitchFamily="2" charset="-122"/>
                <a:cs typeface="+mn-cs"/>
              </a:rPr>
              <a:t>连续性？</a:t>
            </a:r>
          </a:p>
        </p:txBody>
      </p:sp>
    </p:spTree>
    <p:extLst>
      <p:ext uri="{BB962C8B-B14F-4D97-AF65-F5344CB8AC3E}">
        <p14:creationId xmlns:p14="http://schemas.microsoft.com/office/powerpoint/2010/main" val="2183696185"/>
      </p:ext>
    </p:extLst>
  </p:cSld>
  <p:clrMapOvr>
    <a:masterClrMapping/>
  </p:clrMapOvr>
  <p:transition spd="med" advClick="0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220184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样条曲线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DE9360B-4321-4F2D-8352-54998223E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473" y="757237"/>
            <a:ext cx="8756007" cy="181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hangingPunct="1">
              <a:buFontTx/>
              <a:buNone/>
            </a:pPr>
            <a:r>
              <a:rPr lang="en-US" altLang="zh-CN" sz="2800" kern="0" dirty="0">
                <a:ea typeface="宋体" panose="02010600030101010101" pitchFamily="2" charset="-122"/>
              </a:rPr>
              <a:t> 72~74</a:t>
            </a:r>
            <a:r>
              <a:rPr lang="zh-CN" altLang="en-US" sz="2800" kern="0" dirty="0">
                <a:ea typeface="宋体" panose="02010600030101010101" pitchFamily="2" charset="-122"/>
              </a:rPr>
              <a:t>年提出了</a:t>
            </a:r>
            <a:r>
              <a:rPr lang="en-US" altLang="zh-CN" sz="2800" kern="0" dirty="0">
                <a:ea typeface="宋体" panose="02010600030101010101" pitchFamily="2" charset="-122"/>
              </a:rPr>
              <a:t>B</a:t>
            </a:r>
            <a:r>
              <a:rPr lang="zh-CN" altLang="en-US" sz="2800" kern="0" dirty="0">
                <a:ea typeface="宋体" panose="02010600030101010101" pitchFamily="2" charset="-122"/>
              </a:rPr>
              <a:t>样条曲线，是对</a:t>
            </a:r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曲线的改进。</a:t>
            </a:r>
            <a:r>
              <a:rPr lang="en-US" altLang="zh-CN" sz="2800" kern="0" dirty="0">
                <a:ea typeface="宋体" panose="02010600030101010101" pitchFamily="2" charset="-122"/>
              </a:rPr>
              <a:t>B</a:t>
            </a:r>
            <a:r>
              <a:rPr lang="zh-CN" altLang="en-US" sz="2800" kern="0" dirty="0">
                <a:ea typeface="宋体" panose="02010600030101010101" pitchFamily="2" charset="-122"/>
              </a:rPr>
              <a:t>样条曲线保留了</a:t>
            </a:r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曲线的优良特性，并克服了</a:t>
            </a:r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曲线的不足：①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可局部修改</a:t>
            </a:r>
            <a:r>
              <a:rPr lang="zh-CN" altLang="en-US" sz="2800" kern="0" dirty="0">
                <a:ea typeface="宋体" panose="02010600030101010101" pitchFamily="2" charset="-122"/>
              </a:rPr>
              <a:t>，②曲线的</a:t>
            </a:r>
            <a:r>
              <a:rPr lang="zh-CN" altLang="en-US" sz="2800" kern="0" dirty="0">
                <a:solidFill>
                  <a:srgbClr val="FF0000"/>
                </a:solidFill>
                <a:ea typeface="宋体" panose="02010600030101010101" pitchFamily="2" charset="-122"/>
              </a:rPr>
              <a:t>阶次与顶点总数无关</a:t>
            </a:r>
            <a:r>
              <a:rPr lang="zh-CN" altLang="en-US" sz="2800" kern="0" dirty="0">
                <a:ea typeface="宋体" panose="02010600030101010101" pitchFamily="2" charset="-122"/>
              </a:rPr>
              <a:t>，因而更加灵活方便。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7D4FAE7-AC7B-4CEB-8483-09AE8B074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097" y="2584456"/>
            <a:ext cx="3914586" cy="2183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1868306"/>
      </p:ext>
    </p:extLst>
  </p:cSld>
  <p:clrMapOvr>
    <a:masterClrMapping/>
  </p:clrMapOvr>
  <p:transition spd="med" advClick="0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88574D-FC12-45D8-88F5-88EE7606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59" y="771550"/>
            <a:ext cx="8328805" cy="313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曲线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曲面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kern="0" dirty="0">
                <a:ea typeface="宋体" panose="02010600030101010101" pitchFamily="2" charset="-122"/>
              </a:rPr>
              <a:t>参数曲面</a:t>
            </a:r>
          </a:p>
          <a:p>
            <a:pPr lvl="1" eaLnBrk="1" hangingPunct="1"/>
            <a:r>
              <a:rPr lang="en-US" altLang="zh-CN" sz="3200" kern="0" dirty="0">
                <a:ea typeface="宋体" panose="02010600030101010101" pitchFamily="2" charset="-122"/>
              </a:rPr>
              <a:t>Bezier </a:t>
            </a:r>
            <a:r>
              <a:rPr lang="zh-CN" altLang="en-US" sz="3200" kern="0" dirty="0">
                <a:ea typeface="宋体" panose="02010600030101010101" pitchFamily="2" charset="-122"/>
              </a:rPr>
              <a:t>曲面</a:t>
            </a:r>
          </a:p>
          <a:p>
            <a:pPr lvl="1" eaLnBrk="1" hangingPunct="1"/>
            <a:r>
              <a:rPr lang="en-US" altLang="zh-CN" sz="3200" kern="0" dirty="0">
                <a:ea typeface="宋体" panose="02010600030101010101" pitchFamily="2" charset="-122"/>
              </a:rPr>
              <a:t>B-Spline </a:t>
            </a:r>
            <a:r>
              <a:rPr lang="zh-CN" altLang="en-US" sz="3200" kern="0" dirty="0">
                <a:ea typeface="宋体" panose="02010600030101010101" pitchFamily="2" charset="-122"/>
              </a:rPr>
              <a:t>曲面</a:t>
            </a:r>
          </a:p>
          <a:p>
            <a:pPr eaLnBrk="1" hangingPunct="1"/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7E7BA670-9ED0-40A2-9CC3-872963D7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284" y="1644296"/>
            <a:ext cx="3853332" cy="313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701453"/>
      </p:ext>
    </p:extLst>
  </p:cSld>
  <p:clrMapOvr>
    <a:masterClrMapping/>
  </p:clrMapOvr>
  <p:transition spd="med" advClick="0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曲面形成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67C6500-B826-4CAA-B955-37159BF57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3" y="2107452"/>
            <a:ext cx="8678939" cy="25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工程曲面的基本思想来自于制作铸造砂型的过程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砂被紧压在一个盒子内，砂型上表面形状由用木制样板刮去多余的部分得到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为了能获得更复杂的形状，在样板移动时，又使它改变形状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曲面被定义为变化着形状的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曲线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在空间划过时的位置或者说运动的轨迹叠加所形成的对象</a:t>
            </a:r>
          </a:p>
        </p:txBody>
      </p:sp>
      <p:pic>
        <p:nvPicPr>
          <p:cNvPr id="8" name="Picture 4" descr="Farin_scan">
            <a:extLst>
              <a:ext uri="{FF2B5EF4-FFF2-40B4-BE49-F238E27FC236}">
                <a16:creationId xmlns:a16="http://schemas.microsoft.com/office/drawing/2014/main" id="{283FD0CC-8D1A-4E2A-9EA1-9565E9A9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8868"/>
            <a:ext cx="2555776" cy="190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3092318"/>
      </p:ext>
    </p:extLst>
  </p:cSld>
  <p:clrMapOvr>
    <a:masterClrMapping/>
  </p:clrMapOvr>
  <p:transition spd="med" advClick="0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双线性插值成面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pic>
        <p:nvPicPr>
          <p:cNvPr id="7" name="Picture 2" descr="bilinearpatch">
            <a:extLst>
              <a:ext uri="{FF2B5EF4-FFF2-40B4-BE49-F238E27FC236}">
                <a16:creationId xmlns:a16="http://schemas.microsoft.com/office/drawing/2014/main" id="{70DEF5A7-BD8C-4572-99C0-C113582A7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3"/>
          <a:stretch>
            <a:fillRect/>
          </a:stretch>
        </p:blipFill>
        <p:spPr bwMode="auto">
          <a:xfrm>
            <a:off x="5669344" y="662874"/>
            <a:ext cx="3465314" cy="2266401"/>
          </a:xfrm>
          <a:prstGeom prst="rect">
            <a:avLst/>
          </a:prstGeom>
          <a:noFill/>
          <a:ln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09AB30E-EDF8-4346-94D9-EFD8AE94C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89" y="662874"/>
            <a:ext cx="7095579" cy="3581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点动成线</a:t>
            </a: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线动成面：起线，终线</a:t>
            </a:r>
          </a:p>
        </p:txBody>
      </p:sp>
      <p:pic>
        <p:nvPicPr>
          <p:cNvPr id="9" name="Picture 7" descr="linearinterpolation2">
            <a:extLst>
              <a:ext uri="{FF2B5EF4-FFF2-40B4-BE49-F238E27FC236}">
                <a16:creationId xmlns:a16="http://schemas.microsoft.com/office/drawing/2014/main" id="{B4EC50FF-2A59-4AE0-AA2C-0D168E371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22" y="1907603"/>
            <a:ext cx="3808627" cy="1543567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DAFFB9E9-BFB4-4F22-8291-FD3874EEE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264583"/>
              </p:ext>
            </p:extLst>
          </p:nvPr>
        </p:nvGraphicFramePr>
        <p:xfrm>
          <a:off x="762007" y="3732441"/>
          <a:ext cx="3117978" cy="907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Equation" r:id="rId8" imgW="1358310" imgH="393529" progId="Equation.DSMT4">
                  <p:embed/>
                </p:oleObj>
              </mc:Choice>
              <mc:Fallback>
                <p:oleObj name="Equation" r:id="rId8" imgW="1358310" imgH="393529" progId="Equation.DSMT4">
                  <p:embed/>
                  <p:pic>
                    <p:nvPicPr>
                      <p:cNvPr id="104456" name="Object 6">
                        <a:extLst>
                          <a:ext uri="{FF2B5EF4-FFF2-40B4-BE49-F238E27FC236}">
                            <a16:creationId xmlns:a16="http://schemas.microsoft.com/office/drawing/2014/main" id="{DFFED672-3ADB-4AEC-AE35-28EA6F497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7" y="3732441"/>
                        <a:ext cx="3117978" cy="907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5">
            <a:extLst>
              <a:ext uri="{FF2B5EF4-FFF2-40B4-BE49-F238E27FC236}">
                <a16:creationId xmlns:a16="http://schemas.microsoft.com/office/drawing/2014/main" id="{AB56424C-B509-4780-B4DC-0B66C6A76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018" y="3598985"/>
            <a:ext cx="1954346" cy="644967"/>
          </a:xfrm>
          <a:prstGeom prst="wedgeRoundRectCallout">
            <a:avLst>
              <a:gd name="adj1" fmla="val 53960"/>
              <a:gd name="adj2" fmla="val -167107"/>
              <a:gd name="adj3" fmla="val 16667"/>
            </a:avLst>
          </a:prstGeom>
          <a:gradFill rotWithShape="1">
            <a:gsLst>
              <a:gs pos="0">
                <a:srgbClr val="2D2D8A">
                  <a:tint val="50000"/>
                  <a:satMod val="300000"/>
                </a:srgbClr>
              </a:gs>
              <a:gs pos="35000">
                <a:srgbClr val="2D2D8A">
                  <a:tint val="37000"/>
                  <a:satMod val="300000"/>
                </a:srgbClr>
              </a:gs>
              <a:gs pos="100000">
                <a:srgbClr val="2D2D8A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2D2D8A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参数表示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785454835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F06AAEE-7DE9-46C8-B5FF-E765FB8F8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700089"/>
            <a:ext cx="6654006" cy="100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kern="0" dirty="0">
                <a:ea typeface="宋体" panose="02010600030101010101" pitchFamily="2" charset="-122"/>
              </a:rPr>
              <a:t>插值四个角点的双线性曲面</a:t>
            </a:r>
          </a:p>
        </p:txBody>
      </p:sp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9B5B1200-283E-4612-9BAC-3EE47A86D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40849"/>
              </p:ext>
            </p:extLst>
          </p:nvPr>
        </p:nvGraphicFramePr>
        <p:xfrm>
          <a:off x="502180" y="1177159"/>
          <a:ext cx="5664586" cy="360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4" name="Equation" r:id="rId6" imgW="2578100" imgH="1638300" progId="Equation.DSMT4">
                  <p:embed/>
                </p:oleObj>
              </mc:Choice>
              <mc:Fallback>
                <p:oleObj name="Equation" r:id="rId6" imgW="2578100" imgH="1638300" progId="Equation.DSMT4">
                  <p:embed/>
                  <p:pic>
                    <p:nvPicPr>
                      <p:cNvPr id="90124" name="Object 11">
                        <a:extLst>
                          <a:ext uri="{FF2B5EF4-FFF2-40B4-BE49-F238E27FC236}">
                            <a16:creationId xmlns:a16="http://schemas.microsoft.com/office/drawing/2014/main" id="{8E725B05-7A1E-4EB5-BB68-C11249690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80" y="1177159"/>
                        <a:ext cx="5664586" cy="3600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 descr="bilinearpatch">
            <a:extLst>
              <a:ext uri="{FF2B5EF4-FFF2-40B4-BE49-F238E27FC236}">
                <a16:creationId xmlns:a16="http://schemas.microsoft.com/office/drawing/2014/main" id="{FD7CB682-E95B-4909-AAF4-36B4F9716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1"/>
          <a:stretch>
            <a:fillRect/>
          </a:stretch>
        </p:blipFill>
        <p:spPr bwMode="auto">
          <a:xfrm>
            <a:off x="5363365" y="894719"/>
            <a:ext cx="3585641" cy="23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482DD6B5-8261-471C-A767-342AC0D08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539290"/>
              </p:ext>
            </p:extLst>
          </p:nvPr>
        </p:nvGraphicFramePr>
        <p:xfrm>
          <a:off x="6474324" y="855402"/>
          <a:ext cx="371303" cy="348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5" name="Equation" r:id="rId9" imgW="215713" imgH="203024" progId="Equation.DSMT4">
                  <p:embed/>
                </p:oleObj>
              </mc:Choice>
              <mc:Fallback>
                <p:oleObj name="Equation" r:id="rId9" imgW="215713" imgH="203024" progId="Equation.DSMT4">
                  <p:embed/>
                  <p:pic>
                    <p:nvPicPr>
                      <p:cNvPr id="90118" name="Object 5">
                        <a:extLst>
                          <a:ext uri="{FF2B5EF4-FFF2-40B4-BE49-F238E27FC236}">
                            <a16:creationId xmlns:a16="http://schemas.microsoft.com/office/drawing/2014/main" id="{8D147292-5C48-44E0-AD60-9A8D95B795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4324" y="855402"/>
                        <a:ext cx="371303" cy="348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C9C0F54B-3E1A-4643-AF45-BF0D82860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515207"/>
              </p:ext>
            </p:extLst>
          </p:nvPr>
        </p:nvGraphicFramePr>
        <p:xfrm>
          <a:off x="5363365" y="3148857"/>
          <a:ext cx="349462" cy="34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6" name="Equation" r:id="rId11" imgW="203024" imgH="203024" progId="Equation.DSMT4">
                  <p:embed/>
                </p:oleObj>
              </mc:Choice>
              <mc:Fallback>
                <p:oleObj name="Equation" r:id="rId11" imgW="203024" imgH="203024" progId="Equation.DSMT4">
                  <p:embed/>
                  <p:pic>
                    <p:nvPicPr>
                      <p:cNvPr id="90119" name="Object 6">
                        <a:extLst>
                          <a:ext uri="{FF2B5EF4-FFF2-40B4-BE49-F238E27FC236}">
                            <a16:creationId xmlns:a16="http://schemas.microsoft.com/office/drawing/2014/main" id="{CA3A2501-5CC0-4A25-AED0-EAE152F2EA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365" y="3148857"/>
                        <a:ext cx="349462" cy="348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18ACF8BB-DA86-41AC-A838-28A4A1D477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00522"/>
              </p:ext>
            </p:extLst>
          </p:nvPr>
        </p:nvGraphicFramePr>
        <p:xfrm>
          <a:off x="8518179" y="2635269"/>
          <a:ext cx="349462" cy="348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7" name="Equation" r:id="rId13" imgW="203024" imgH="203024" progId="Equation.DSMT4">
                  <p:embed/>
                </p:oleObj>
              </mc:Choice>
              <mc:Fallback>
                <p:oleObj name="Equation" r:id="rId13" imgW="203024" imgH="203024" progId="Equation.DSMT4">
                  <p:embed/>
                  <p:pic>
                    <p:nvPicPr>
                      <p:cNvPr id="90120" name="Object 7">
                        <a:extLst>
                          <a:ext uri="{FF2B5EF4-FFF2-40B4-BE49-F238E27FC236}">
                            <a16:creationId xmlns:a16="http://schemas.microsoft.com/office/drawing/2014/main" id="{02AE57E3-532F-41E0-B0D3-DD278A2A9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8179" y="2635269"/>
                        <a:ext cx="349462" cy="348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1491AAF9-1617-4BA4-91DF-4ACDB0EC72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88970"/>
              </p:ext>
            </p:extLst>
          </p:nvPr>
        </p:nvGraphicFramePr>
        <p:xfrm>
          <a:off x="8808116" y="839747"/>
          <a:ext cx="327621" cy="34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8" name="Equation" r:id="rId15" imgW="190417" imgH="203112" progId="Equation.DSMT4">
                  <p:embed/>
                </p:oleObj>
              </mc:Choice>
              <mc:Fallback>
                <p:oleObj name="Equation" r:id="rId15" imgW="190417" imgH="203112" progId="Equation.DSMT4">
                  <p:embed/>
                  <p:pic>
                    <p:nvPicPr>
                      <p:cNvPr id="90121" name="Object 8">
                        <a:extLst>
                          <a:ext uri="{FF2B5EF4-FFF2-40B4-BE49-F238E27FC236}">
                            <a16:creationId xmlns:a16="http://schemas.microsoft.com/office/drawing/2014/main" id="{62D6C678-1E71-4474-819D-C47B005C7C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8116" y="839747"/>
                        <a:ext cx="327621" cy="348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C7D99879-C863-4C95-921A-B14DBE68B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129860"/>
              </p:ext>
            </p:extLst>
          </p:nvPr>
        </p:nvGraphicFramePr>
        <p:xfrm>
          <a:off x="5461453" y="1903185"/>
          <a:ext cx="677084" cy="326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9" name="Equation" r:id="rId17" imgW="393529" imgH="190417" progId="Equation.DSMT4">
                  <p:embed/>
                </p:oleObj>
              </mc:Choice>
              <mc:Fallback>
                <p:oleObj name="Equation" r:id="rId17" imgW="393529" imgH="190417" progId="Equation.DSMT4">
                  <p:embed/>
                  <p:pic>
                    <p:nvPicPr>
                      <p:cNvPr id="90122" name="Object 9">
                        <a:extLst>
                          <a:ext uri="{FF2B5EF4-FFF2-40B4-BE49-F238E27FC236}">
                            <a16:creationId xmlns:a16="http://schemas.microsoft.com/office/drawing/2014/main" id="{950056DF-BAC3-4333-94E0-C8246C464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453" y="1903185"/>
                        <a:ext cx="677084" cy="326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22463443-9BA8-4BB3-A9CF-CDA2BE668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197423"/>
              </p:ext>
            </p:extLst>
          </p:nvPr>
        </p:nvGraphicFramePr>
        <p:xfrm>
          <a:off x="8532440" y="1887496"/>
          <a:ext cx="633402" cy="326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0" name="Equation" r:id="rId19" imgW="368300" imgH="190500" progId="Equation.DSMT4">
                  <p:embed/>
                </p:oleObj>
              </mc:Choice>
              <mc:Fallback>
                <p:oleObj name="Equation" r:id="rId19" imgW="368300" imgH="190500" progId="Equation.DSMT4">
                  <p:embed/>
                  <p:pic>
                    <p:nvPicPr>
                      <p:cNvPr id="90123" name="Object 10">
                        <a:extLst>
                          <a:ext uri="{FF2B5EF4-FFF2-40B4-BE49-F238E27FC236}">
                            <a16:creationId xmlns:a16="http://schemas.microsoft.com/office/drawing/2014/main" id="{A08E7147-E484-4C5F-BAC4-8A256EE1C6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2440" y="1887496"/>
                        <a:ext cx="633402" cy="326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6272942"/>
      </p:ext>
    </p:extLst>
  </p:cSld>
  <p:clrMapOvr>
    <a:masterClrMapping/>
  </p:clrMapOvr>
  <p:transition spd="med" advClick="0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88574D-FC12-45D8-88F5-88EE7606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59" y="771550"/>
            <a:ext cx="8328805" cy="313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曲线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曲面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kern="0" dirty="0">
                <a:ea typeface="宋体" panose="02010600030101010101" pitchFamily="2" charset="-122"/>
              </a:rPr>
              <a:t>参数曲面</a:t>
            </a:r>
          </a:p>
          <a:p>
            <a:pPr lvl="1" eaLnBrk="1" hangingPunct="1"/>
            <a:r>
              <a:rPr lang="en-US" altLang="zh-CN" sz="3200" kern="0" dirty="0">
                <a:solidFill>
                  <a:srgbClr val="3992DB"/>
                </a:solidFill>
                <a:ea typeface="宋体" panose="02010600030101010101" pitchFamily="2" charset="-122"/>
              </a:rPr>
              <a:t>Bezier </a:t>
            </a:r>
            <a:r>
              <a:rPr lang="zh-CN" altLang="en-US" sz="3200" kern="0" dirty="0">
                <a:solidFill>
                  <a:srgbClr val="3992DB"/>
                </a:solidFill>
                <a:ea typeface="宋体" panose="02010600030101010101" pitchFamily="2" charset="-122"/>
              </a:rPr>
              <a:t>曲面</a:t>
            </a:r>
          </a:p>
          <a:p>
            <a:pPr lvl="1" eaLnBrk="1" hangingPunct="1"/>
            <a:r>
              <a:rPr lang="en-US" altLang="zh-CN" sz="3200" kern="0" dirty="0">
                <a:ea typeface="宋体" panose="02010600030101010101" pitchFamily="2" charset="-122"/>
              </a:rPr>
              <a:t>B-Spline </a:t>
            </a:r>
            <a:r>
              <a:rPr lang="zh-CN" altLang="en-US" sz="3200" kern="0" dirty="0">
                <a:ea typeface="宋体" panose="02010600030101010101" pitchFamily="2" charset="-122"/>
              </a:rPr>
              <a:t>曲面</a:t>
            </a:r>
          </a:p>
          <a:p>
            <a:pPr eaLnBrk="1" hangingPunct="1"/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7E7BA670-9ED0-40A2-9CC3-872963D7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284" y="1644296"/>
            <a:ext cx="3853332" cy="313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138062"/>
      </p:ext>
    </p:extLst>
  </p:cSld>
  <p:clrMapOvr>
    <a:masterClrMapping/>
  </p:clrMapOvr>
  <p:transition spd="med" advClick="0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9D60122-5226-4123-8747-0A01DD2F0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489" y="636081"/>
            <a:ext cx="4670425" cy="409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曲线</a:t>
            </a:r>
            <a:r>
              <a:rPr lang="en-US" altLang="zh-CN" sz="2800" kern="0" dirty="0">
                <a:ea typeface="宋体" panose="02010600030101010101" pitchFamily="2" charset="-122"/>
              </a:rPr>
              <a:t>:</a:t>
            </a:r>
          </a:p>
          <a:p>
            <a:pPr eaLnBrk="1" hangingPunct="1"/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kern="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kern="0" dirty="0">
                <a:ea typeface="宋体" panose="02010600030101010101" pitchFamily="2" charset="-122"/>
              </a:rPr>
              <a:t>Bezier</a:t>
            </a:r>
            <a:r>
              <a:rPr lang="zh-CN" altLang="en-US" sz="2800" kern="0" dirty="0">
                <a:ea typeface="宋体" panose="02010600030101010101" pitchFamily="2" charset="-122"/>
              </a:rPr>
              <a:t>曲面</a:t>
            </a:r>
            <a:r>
              <a:rPr lang="en-US" altLang="zh-CN" sz="2800" kern="0" dirty="0">
                <a:ea typeface="宋体" panose="02010600030101010101" pitchFamily="2" charset="-122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CN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C9EFE19-38FE-49E6-9E9B-1A27023E6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057943"/>
              </p:ext>
            </p:extLst>
          </p:nvPr>
        </p:nvGraphicFramePr>
        <p:xfrm>
          <a:off x="3473283" y="2920563"/>
          <a:ext cx="5661375" cy="2211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6" name="Equation" r:id="rId6" imgW="2501900" imgH="977900" progId="Equation.DSMT4">
                  <p:embed/>
                </p:oleObj>
              </mc:Choice>
              <mc:Fallback>
                <p:oleObj name="Equation" r:id="rId6" imgW="2501900" imgH="977900" progId="Equation.DSMT4">
                  <p:embed/>
                  <p:pic>
                    <p:nvPicPr>
                      <p:cNvPr id="96262" name="Object 5">
                        <a:extLst>
                          <a:ext uri="{FF2B5EF4-FFF2-40B4-BE49-F238E27FC236}">
                            <a16:creationId xmlns:a16="http://schemas.microsoft.com/office/drawing/2014/main" id="{B928AE43-6A02-4833-87C2-1B6F3C26D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283" y="2920563"/>
                        <a:ext cx="5661375" cy="221198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62B32F1F-3E77-4D9D-9145-A2065EC66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973108"/>
              </p:ext>
            </p:extLst>
          </p:nvPr>
        </p:nvGraphicFramePr>
        <p:xfrm>
          <a:off x="3473283" y="786822"/>
          <a:ext cx="4406957" cy="19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7" name="Equation" r:id="rId8" imgW="2171700" imgH="977900" progId="Equation.DSMT4">
                  <p:embed/>
                </p:oleObj>
              </mc:Choice>
              <mc:Fallback>
                <p:oleObj name="Equation" r:id="rId8" imgW="2171700" imgH="977900" progId="Equation.DSMT4">
                  <p:embed/>
                  <p:pic>
                    <p:nvPicPr>
                      <p:cNvPr id="96263" name="Object 6">
                        <a:extLst>
                          <a:ext uri="{FF2B5EF4-FFF2-40B4-BE49-F238E27FC236}">
                            <a16:creationId xmlns:a16="http://schemas.microsoft.com/office/drawing/2014/main" id="{3F1FCD7E-01E4-4DB3-A84C-2AA35A09E5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283" y="786822"/>
                        <a:ext cx="4406957" cy="1983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ADCD18AA-DD09-4B3B-8A12-871589871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726998"/>
              </p:ext>
            </p:extLst>
          </p:nvPr>
        </p:nvGraphicFramePr>
        <p:xfrm>
          <a:off x="865587" y="1131590"/>
          <a:ext cx="2289894" cy="170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Visio" r:id="rId10" imgW="2015669" imgH="1500604" progId="Visio.Drawing.11">
                  <p:embed/>
                </p:oleObj>
              </mc:Choice>
              <mc:Fallback>
                <p:oleObj name="Visio" r:id="rId10" imgW="2015669" imgH="1500604" progId="Visio.Drawing.11">
                  <p:embed/>
                  <p:pic>
                    <p:nvPicPr>
                      <p:cNvPr id="96264" name="Object 7">
                        <a:extLst>
                          <a:ext uri="{FF2B5EF4-FFF2-40B4-BE49-F238E27FC236}">
                            <a16:creationId xmlns:a16="http://schemas.microsoft.com/office/drawing/2014/main" id="{E85AB56E-24BB-4AED-9EE1-A4618C8447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587" y="1131590"/>
                        <a:ext cx="2289894" cy="170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07150"/>
      </p:ext>
    </p:extLst>
  </p:cSld>
  <p:clrMapOvr>
    <a:masterClrMapping/>
  </p:clrMapOvr>
  <p:transition spd="med" advClick="0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34CAA1-53EB-4F98-A0F9-782A6D13A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700089"/>
            <a:ext cx="8438331" cy="394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400" kern="0" dirty="0">
                <a:ea typeface="宋体" panose="02010600030101010101" pitchFamily="2" charset="-122"/>
              </a:rPr>
              <a:t>若允许</a:t>
            </a:r>
            <a:r>
              <a:rPr lang="en-US" altLang="zh-CN" sz="2400" kern="0" dirty="0">
                <a:ea typeface="宋体" panose="02010600030101010101" pitchFamily="2" charset="-122"/>
              </a:rPr>
              <a:t>G</a:t>
            </a:r>
            <a:r>
              <a:rPr lang="zh-CN" altLang="en-US" sz="2400" kern="0" dirty="0">
                <a:ea typeface="宋体" panose="02010600030101010101" pitchFamily="2" charset="-122"/>
              </a:rPr>
              <a:t>中的点在三维空间以</a:t>
            </a:r>
            <a:r>
              <a:rPr lang="en-US" altLang="zh-CN" sz="2400" kern="0" dirty="0">
                <a:ea typeface="宋体" panose="02010600030101010101" pitchFamily="2" charset="-122"/>
              </a:rPr>
              <a:t>v</a:t>
            </a:r>
            <a:r>
              <a:rPr lang="zh-CN" altLang="en-US" sz="2400" kern="0" dirty="0">
                <a:ea typeface="宋体" panose="02010600030101010101" pitchFamily="2" charset="-122"/>
              </a:rPr>
              <a:t>为参数的路径运动，则有</a:t>
            </a:r>
          </a:p>
          <a:p>
            <a:pPr eaLnBrk="1" hangingPunct="1"/>
            <a:endParaRPr lang="zh-CN" altLang="en-US" sz="2800" b="1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AD9CA7D3-CCF6-478B-9B6E-8A5D12F94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535265"/>
              </p:ext>
            </p:extLst>
          </p:nvPr>
        </p:nvGraphicFramePr>
        <p:xfrm>
          <a:off x="423011" y="1118964"/>
          <a:ext cx="5193791" cy="3591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2" name="Equation" r:id="rId6" imgW="3403600" imgH="2349500" progId="Equation.DSMT4">
                  <p:embed/>
                </p:oleObj>
              </mc:Choice>
              <mc:Fallback>
                <p:oleObj name="Equation" r:id="rId6" imgW="3403600" imgH="2349500" progId="Equation.DSMT4">
                  <p:embed/>
                  <p:pic>
                    <p:nvPicPr>
                      <p:cNvPr id="97284" name="Object 4">
                        <a:extLst>
                          <a:ext uri="{FF2B5EF4-FFF2-40B4-BE49-F238E27FC236}">
                            <a16:creationId xmlns:a16="http://schemas.microsoft.com/office/drawing/2014/main" id="{39F84BC1-7268-4DC7-9DCE-8140C1B87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11" y="1118964"/>
                        <a:ext cx="5193791" cy="359171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2FADCC4D-B853-4BD4-9B06-E3CA43729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045952"/>
              </p:ext>
            </p:extLst>
          </p:nvPr>
        </p:nvGraphicFramePr>
        <p:xfrm>
          <a:off x="5652120" y="2147622"/>
          <a:ext cx="3447220" cy="2632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3" name="Visio" r:id="rId8" imgW="3736956" imgH="2854554" progId="Visio.Drawing.11">
                  <p:embed/>
                </p:oleObj>
              </mc:Choice>
              <mc:Fallback>
                <p:oleObj name="Visio" r:id="rId8" imgW="3736956" imgH="2854554" progId="Visio.Drawing.11">
                  <p:embed/>
                  <p:pic>
                    <p:nvPicPr>
                      <p:cNvPr id="97285" name="Object 5">
                        <a:extLst>
                          <a:ext uri="{FF2B5EF4-FFF2-40B4-BE49-F238E27FC236}">
                            <a16:creationId xmlns:a16="http://schemas.microsoft.com/office/drawing/2014/main" id="{12424FF4-5D0E-4B2A-8496-520258CEB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2147622"/>
                        <a:ext cx="3447220" cy="2632905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solidFill>
                          <a:srgbClr val="808080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8900979"/>
      </p:ext>
    </p:extLst>
  </p:cSld>
  <p:clrMapOvr>
    <a:masterClrMapping/>
  </p:clrMapOvr>
  <p:transition spd="med" advClick="0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——Bezier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48DF324-1041-4655-B1B9-F61D82598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735012"/>
            <a:ext cx="13573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800" kern="0">
                <a:ea typeface="宋体" panose="02010600030101010101" pitchFamily="2" charset="-122"/>
              </a:rPr>
              <a:t>其中</a:t>
            </a:r>
            <a:endParaRPr lang="zh-CN" altLang="en-US" sz="2800" kern="0" dirty="0">
              <a:ea typeface="宋体" panose="02010600030101010101" pitchFamily="2" charset="-122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0E363F4-E6A7-4B25-90EF-0CF257693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593913"/>
              </p:ext>
            </p:extLst>
          </p:nvPr>
        </p:nvGraphicFramePr>
        <p:xfrm>
          <a:off x="1259787" y="717958"/>
          <a:ext cx="3528237" cy="54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1" name="Equation" r:id="rId6" imgW="1435100" imgH="241300" progId="Equation.DSMT4">
                  <p:embed/>
                </p:oleObj>
              </mc:Choice>
              <mc:Fallback>
                <p:oleObj name="Equation" r:id="rId6" imgW="1435100" imgH="241300" progId="Equation.DSMT4">
                  <p:embed/>
                  <p:pic>
                    <p:nvPicPr>
                      <p:cNvPr id="99333" name="Object 4">
                        <a:extLst>
                          <a:ext uri="{FF2B5EF4-FFF2-40B4-BE49-F238E27FC236}">
                            <a16:creationId xmlns:a16="http://schemas.microsoft.com/office/drawing/2014/main" id="{9FA58453-BB73-4726-A0AE-CCC300A49C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787" y="717958"/>
                        <a:ext cx="3528237" cy="540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3FEDE37F-E9BD-4388-93CA-C110C2BA0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129003"/>
              </p:ext>
            </p:extLst>
          </p:nvPr>
        </p:nvGraphicFramePr>
        <p:xfrm>
          <a:off x="1336715" y="1323750"/>
          <a:ext cx="2827827" cy="477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2" r:id="rId8" imgW="1244600" imgH="228600" progId="Equation.3">
                  <p:embed/>
                </p:oleObj>
              </mc:Choice>
              <mc:Fallback>
                <p:oleObj r:id="rId8" imgW="1244600" imgH="228600" progId="Equation.3">
                  <p:embed/>
                  <p:pic>
                    <p:nvPicPr>
                      <p:cNvPr id="99334" name="Object 5">
                        <a:extLst>
                          <a:ext uri="{FF2B5EF4-FFF2-40B4-BE49-F238E27FC236}">
                            <a16:creationId xmlns:a16="http://schemas.microsoft.com/office/drawing/2014/main" id="{95EE44CE-A824-49D3-B560-D6681AF219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715" y="1323750"/>
                        <a:ext cx="2827827" cy="47777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D538BE49-9034-4B51-886B-8C935A5DF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57099"/>
              </p:ext>
            </p:extLst>
          </p:nvPr>
        </p:nvGraphicFramePr>
        <p:xfrm>
          <a:off x="4630096" y="1323750"/>
          <a:ext cx="2547665" cy="493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3" r:id="rId10" imgW="1181100" imgH="228600" progId="Equation.3">
                  <p:embed/>
                </p:oleObj>
              </mc:Choice>
              <mc:Fallback>
                <p:oleObj r:id="rId10" imgW="1181100" imgH="228600" progId="Equation.3">
                  <p:embed/>
                  <p:pic>
                    <p:nvPicPr>
                      <p:cNvPr id="99335" name="Object 6">
                        <a:extLst>
                          <a:ext uri="{FF2B5EF4-FFF2-40B4-BE49-F238E27FC236}">
                            <a16:creationId xmlns:a16="http://schemas.microsoft.com/office/drawing/2014/main" id="{6EAFD479-B571-410F-B7D1-B13EE755D7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096" y="1323750"/>
                        <a:ext cx="2547665" cy="49309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1AF1A7E3-CA81-4320-B933-B27A89D58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1639"/>
              </p:ext>
            </p:extLst>
          </p:nvPr>
        </p:nvGraphicFramePr>
        <p:xfrm>
          <a:off x="681608" y="2323306"/>
          <a:ext cx="3962400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4" r:id="rId12" imgW="1638300" imgH="914400" progId="Equation.3">
                  <p:embed/>
                </p:oleObj>
              </mc:Choice>
              <mc:Fallback>
                <p:oleObj r:id="rId12" imgW="1638300" imgH="914400" progId="Equation.3">
                  <p:embed/>
                  <p:pic>
                    <p:nvPicPr>
                      <p:cNvPr id="99336" name="Object 7">
                        <a:extLst>
                          <a:ext uri="{FF2B5EF4-FFF2-40B4-BE49-F238E27FC236}">
                            <a16:creationId xmlns:a16="http://schemas.microsoft.com/office/drawing/2014/main" id="{3EC6C2AE-A431-419C-AF7A-A357305858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" y="2323306"/>
                        <a:ext cx="3962400" cy="22113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E7F7B1C8-1FB7-421F-BCC4-86F2053EE3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702309"/>
              </p:ext>
            </p:extLst>
          </p:nvPr>
        </p:nvGraphicFramePr>
        <p:xfrm>
          <a:off x="5111750" y="2364446"/>
          <a:ext cx="3962400" cy="2220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5" name="Equation" r:id="rId14" imgW="1676400" imgH="939800" progId="Equation.DSMT4">
                  <p:embed/>
                </p:oleObj>
              </mc:Choice>
              <mc:Fallback>
                <p:oleObj name="Equation" r:id="rId14" imgW="1676400" imgH="939800" progId="Equation.DSMT4">
                  <p:embed/>
                  <p:pic>
                    <p:nvPicPr>
                      <p:cNvPr id="99337" name="Object 8">
                        <a:extLst>
                          <a:ext uri="{FF2B5EF4-FFF2-40B4-BE49-F238E27FC236}">
                            <a16:creationId xmlns:a16="http://schemas.microsoft.com/office/drawing/2014/main" id="{A4A5E1E7-C7D3-4425-8C0B-87E26EE02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364446"/>
                        <a:ext cx="3962400" cy="222081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5111177"/>
      </p:ext>
    </p:extLst>
  </p:cSld>
  <p:clrMapOvr>
    <a:masterClrMapping/>
  </p:clrMapOvr>
  <p:transition spd="med" advClick="0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414679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88574D-FC12-45D8-88F5-88EE7606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59" y="771550"/>
            <a:ext cx="8328805" cy="313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曲线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曲面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kern="0" dirty="0">
                <a:ea typeface="宋体" panose="02010600030101010101" pitchFamily="2" charset="-122"/>
              </a:rPr>
              <a:t>参数曲面</a:t>
            </a:r>
          </a:p>
          <a:p>
            <a:pPr lvl="1" eaLnBrk="1" hangingPunct="1"/>
            <a:r>
              <a:rPr lang="en-US" altLang="zh-CN" sz="3200" kern="0" dirty="0">
                <a:ea typeface="宋体" panose="02010600030101010101" pitchFamily="2" charset="-122"/>
              </a:rPr>
              <a:t>Bezier </a:t>
            </a:r>
            <a:r>
              <a:rPr lang="zh-CN" altLang="en-US" sz="3200" kern="0" dirty="0">
                <a:ea typeface="宋体" panose="02010600030101010101" pitchFamily="2" charset="-122"/>
              </a:rPr>
              <a:t>曲面</a:t>
            </a:r>
          </a:p>
          <a:p>
            <a:pPr lvl="1" eaLnBrk="1" hangingPunct="1"/>
            <a:r>
              <a:rPr lang="en-US" altLang="zh-CN" sz="3200" kern="0" dirty="0">
                <a:solidFill>
                  <a:srgbClr val="3992DB"/>
                </a:solidFill>
                <a:ea typeface="宋体" panose="02010600030101010101" pitchFamily="2" charset="-122"/>
              </a:rPr>
              <a:t>B-Spline </a:t>
            </a:r>
            <a:r>
              <a:rPr lang="zh-CN" altLang="en-US" sz="3200" kern="0" dirty="0">
                <a:solidFill>
                  <a:srgbClr val="3992DB"/>
                </a:solidFill>
                <a:ea typeface="宋体" panose="02010600030101010101" pitchFamily="2" charset="-122"/>
              </a:rPr>
              <a:t>曲面</a:t>
            </a:r>
          </a:p>
          <a:p>
            <a:pPr eaLnBrk="1" hangingPunct="1"/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7E7BA670-9ED0-40A2-9CC3-872963D7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284" y="1644296"/>
            <a:ext cx="3853332" cy="313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01208"/>
      </p:ext>
    </p:extLst>
  </p:cSld>
  <p:clrMapOvr>
    <a:masterClrMapping/>
  </p:clrMapOvr>
  <p:transition spd="med" advClick="0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样条曲面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EC13AAB9-5E2A-4582-B874-34196B884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84923"/>
              </p:ext>
            </p:extLst>
          </p:nvPr>
        </p:nvGraphicFramePr>
        <p:xfrm>
          <a:off x="5076056" y="647628"/>
          <a:ext cx="4058601" cy="2118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4" name="Visio" r:id="rId6" imgW="3619725" imgH="1889308" progId="Visio.Drawing.11">
                  <p:embed/>
                </p:oleObj>
              </mc:Choice>
              <mc:Fallback>
                <p:oleObj name="Visio" r:id="rId6" imgW="3619725" imgH="1889308" progId="Visio.Drawing.11">
                  <p:embed/>
                  <p:pic>
                    <p:nvPicPr>
                      <p:cNvPr id="110594" name="Object 9">
                        <a:extLst>
                          <a:ext uri="{FF2B5EF4-FFF2-40B4-BE49-F238E27FC236}">
                            <a16:creationId xmlns:a16="http://schemas.microsoft.com/office/drawing/2014/main" id="{ACA3D6C0-ACA1-48BE-B662-9D89F5CFC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647628"/>
                        <a:ext cx="4058601" cy="211847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E1B2FFC6-EC2F-43A8-A566-A9C1A061C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4058"/>
              </p:ext>
            </p:extLst>
          </p:nvPr>
        </p:nvGraphicFramePr>
        <p:xfrm>
          <a:off x="755576" y="660422"/>
          <a:ext cx="3461717" cy="597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5" name="Equation" r:id="rId8" imgW="1397000" imgH="241300" progId="Equation.DSMT4">
                  <p:embed/>
                </p:oleObj>
              </mc:Choice>
              <mc:Fallback>
                <p:oleObj name="Equation" r:id="rId8" imgW="1397000" imgH="241300" progId="Equation.DSMT4">
                  <p:embed/>
                  <p:pic>
                    <p:nvPicPr>
                      <p:cNvPr id="110597" name="Object 4">
                        <a:extLst>
                          <a:ext uri="{FF2B5EF4-FFF2-40B4-BE49-F238E27FC236}">
                            <a16:creationId xmlns:a16="http://schemas.microsoft.com/office/drawing/2014/main" id="{EBB7537F-97C5-43C5-BAE4-462616736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660422"/>
                        <a:ext cx="3461717" cy="59763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B2CB88EA-7837-437A-832E-18F380EF6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368643"/>
              </p:ext>
            </p:extLst>
          </p:nvPr>
        </p:nvGraphicFramePr>
        <p:xfrm>
          <a:off x="755576" y="1304234"/>
          <a:ext cx="2653623" cy="44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6" r:id="rId10" imgW="1244600" imgH="228600" progId="Equation.3">
                  <p:embed/>
                </p:oleObj>
              </mc:Choice>
              <mc:Fallback>
                <p:oleObj r:id="rId10" imgW="1244600" imgH="228600" progId="Equation.3">
                  <p:embed/>
                  <p:pic>
                    <p:nvPicPr>
                      <p:cNvPr id="110598" name="Object 5">
                        <a:extLst>
                          <a:ext uri="{FF2B5EF4-FFF2-40B4-BE49-F238E27FC236}">
                            <a16:creationId xmlns:a16="http://schemas.microsoft.com/office/drawing/2014/main" id="{3CE5DA43-2BD1-4351-B052-97564BA8A5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304234"/>
                        <a:ext cx="2653623" cy="44924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0A30E769-4D02-43AD-9DBB-37BC1E3FC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111335"/>
              </p:ext>
            </p:extLst>
          </p:nvPr>
        </p:nvGraphicFramePr>
        <p:xfrm>
          <a:off x="752877" y="1856603"/>
          <a:ext cx="2656322" cy="513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7" name="Equation" r:id="rId12" imgW="1181100" imgH="228600" progId="Equation.DSMT4">
                  <p:embed/>
                </p:oleObj>
              </mc:Choice>
              <mc:Fallback>
                <p:oleObj name="Equation" r:id="rId12" imgW="1181100" imgH="228600" progId="Equation.DSMT4">
                  <p:embed/>
                  <p:pic>
                    <p:nvPicPr>
                      <p:cNvPr id="110599" name="Object 6">
                        <a:extLst>
                          <a:ext uri="{FF2B5EF4-FFF2-40B4-BE49-F238E27FC236}">
                            <a16:creationId xmlns:a16="http://schemas.microsoft.com/office/drawing/2014/main" id="{C071A334-16CF-4A12-B198-F90D4A7F60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77" y="1856603"/>
                        <a:ext cx="2656322" cy="51399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E8A9D89B-0937-491F-BFCE-AC61A2A0E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299015"/>
              </p:ext>
            </p:extLst>
          </p:nvPr>
        </p:nvGraphicFramePr>
        <p:xfrm>
          <a:off x="604479" y="2772280"/>
          <a:ext cx="3763909" cy="199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8" r:id="rId14" imgW="1727200" imgH="914400" progId="Equation.3">
                  <p:embed/>
                </p:oleObj>
              </mc:Choice>
              <mc:Fallback>
                <p:oleObj r:id="rId14" imgW="1727200" imgH="914400" progId="Equation.3">
                  <p:embed/>
                  <p:pic>
                    <p:nvPicPr>
                      <p:cNvPr id="110600" name="Object 7">
                        <a:extLst>
                          <a:ext uri="{FF2B5EF4-FFF2-40B4-BE49-F238E27FC236}">
                            <a16:creationId xmlns:a16="http://schemas.microsoft.com/office/drawing/2014/main" id="{0DAD4180-BE34-4D83-B644-4A4D895FB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479" y="2772280"/>
                        <a:ext cx="3763909" cy="199257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E270398F-B660-4106-84D2-2AEE7A03F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349247"/>
              </p:ext>
            </p:extLst>
          </p:nvPr>
        </p:nvGraphicFramePr>
        <p:xfrm>
          <a:off x="4926708" y="2797393"/>
          <a:ext cx="3537265" cy="198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9" name="Equation" r:id="rId16" imgW="1676400" imgH="939800" progId="Equation.DSMT4">
                  <p:embed/>
                </p:oleObj>
              </mc:Choice>
              <mc:Fallback>
                <p:oleObj name="Equation" r:id="rId16" imgW="1676400" imgH="939800" progId="Equation.DSMT4">
                  <p:embed/>
                  <p:pic>
                    <p:nvPicPr>
                      <p:cNvPr id="110601" name="Object 8">
                        <a:extLst>
                          <a:ext uri="{FF2B5EF4-FFF2-40B4-BE49-F238E27FC236}">
                            <a16:creationId xmlns:a16="http://schemas.microsoft.com/office/drawing/2014/main" id="{BEA3C38F-434E-47DF-BC82-8BDF9EDBC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708" y="2797393"/>
                        <a:ext cx="3537265" cy="198313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8790300"/>
      </p:ext>
    </p:extLst>
  </p:cSld>
  <p:clrMapOvr>
    <a:masterClrMapping/>
  </p:clrMapOvr>
  <p:transition spd="med" advClick="0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样条曲面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3A20B2-AFD5-4200-B46D-9CDFEA836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699011"/>
            <a:ext cx="896620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800" b="1" kern="0" dirty="0">
                <a:ea typeface="宋体" panose="02010600030101010101" pitchFamily="2" charset="-122"/>
              </a:rPr>
              <a:t>定义</a:t>
            </a:r>
            <a:r>
              <a:rPr lang="zh-CN" altLang="en-US" sz="2800" kern="0" dirty="0"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869BE530-62DE-44AD-B2AF-E8E106B33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752184"/>
              </p:ext>
            </p:extLst>
          </p:nvPr>
        </p:nvGraphicFramePr>
        <p:xfrm>
          <a:off x="1693069" y="695993"/>
          <a:ext cx="5525294" cy="1047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name="Equation" r:id="rId6" imgW="2273300" imgH="469900" progId="Equation.DSMT4">
                  <p:embed/>
                </p:oleObj>
              </mc:Choice>
              <mc:Fallback>
                <p:oleObj name="Equation" r:id="rId6" imgW="2273300" imgH="469900" progId="Equation.DSMT4">
                  <p:embed/>
                  <p:pic>
                    <p:nvPicPr>
                      <p:cNvPr id="111620" name="Object 3">
                        <a:extLst>
                          <a:ext uri="{FF2B5EF4-FFF2-40B4-BE49-F238E27FC236}">
                            <a16:creationId xmlns:a16="http://schemas.microsoft.com/office/drawing/2014/main" id="{B90D0308-B503-4A7E-AC88-5836DA3AA1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069" y="695993"/>
                        <a:ext cx="5525294" cy="104725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838D40A1-6BD6-4D92-9A56-B708D9CC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68" y="2072679"/>
            <a:ext cx="8105496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just" defTabSz="91440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控制顶点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控制网格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（特征网格）、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样条基函数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。</a:t>
            </a:r>
          </a:p>
          <a:p>
            <a:pPr marL="342900" marR="0" lvl="0" indent="-342900" algn="just" defTabSz="91440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样条曲面具有与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样条曲线相同的局部支柱性、凸包性、连续性、几何变换不变性等性质。</a:t>
            </a:r>
          </a:p>
        </p:txBody>
      </p:sp>
    </p:spTree>
    <p:extLst>
      <p:ext uri="{BB962C8B-B14F-4D97-AF65-F5344CB8AC3E}">
        <p14:creationId xmlns:p14="http://schemas.microsoft.com/office/powerpoint/2010/main" val="2083279479"/>
      </p:ext>
    </p:extLst>
  </p:cSld>
  <p:clrMapOvr>
    <a:masterClrMapping/>
  </p:clrMapOvr>
  <p:transition spd="med" advClick="0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曲线曲面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/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4" name="日期占位符 3"/>
          <p:cNvSpPr txBox="1">
            <a:spLocks noChangeArrowheads="1"/>
          </p:cNvSpPr>
          <p:nvPr/>
        </p:nvSpPr>
        <p:spPr>
          <a:xfrm>
            <a:off x="122238" y="4811869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06FFC-6788-4DB9-BCAE-0C3E380619DF}" type="datetime10">
              <a:rPr lang="zh-CN" altLang="en-US" sz="1400" smtClean="0">
                <a:solidFill>
                  <a:srgbClr val="FAFAFA"/>
                </a:solidFill>
              </a:rPr>
              <a:t>11:18</a:t>
            </a:fld>
            <a:endParaRPr lang="en-US" altLang="zh-CN" sz="1400" dirty="0">
              <a:solidFill>
                <a:srgbClr val="FAFAFA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C03F1E5-41E8-4A73-912A-37DAA0BB5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00088"/>
            <a:ext cx="8352928" cy="388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弥补了多边形网格造型的不足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曲线</a:t>
            </a:r>
            <a:endParaRPr lang="en-US" altLang="zh-CN" kern="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kern="0" dirty="0">
                <a:ea typeface="宋体" panose="02010600030101010101" pitchFamily="2" charset="-122"/>
              </a:rPr>
              <a:t>基本理论及参数表示法</a:t>
            </a:r>
          </a:p>
          <a:p>
            <a:pPr lvl="1" eaLnBrk="1" hangingPunct="1"/>
            <a:r>
              <a:rPr lang="en-US" altLang="zh-CN" sz="3200" kern="0" dirty="0">
                <a:ea typeface="宋体" panose="02010600030101010101" pitchFamily="2" charset="-122"/>
              </a:rPr>
              <a:t>Hermite</a:t>
            </a:r>
            <a:r>
              <a:rPr lang="zh-CN" altLang="en-US" sz="3200" kern="0" dirty="0">
                <a:ea typeface="宋体" panose="02010600030101010101" pitchFamily="2" charset="-122"/>
              </a:rPr>
              <a:t>曲线</a:t>
            </a:r>
            <a:endParaRPr lang="en-US" altLang="zh-CN" sz="3200" kern="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kern="0" dirty="0">
                <a:solidFill>
                  <a:srgbClr val="0000FF"/>
                </a:solidFill>
                <a:ea typeface="宋体" panose="02010600030101010101" pitchFamily="2" charset="-122"/>
              </a:rPr>
              <a:t>Bezier</a:t>
            </a:r>
            <a:r>
              <a:rPr lang="zh-CN" altLang="en-US" sz="3200" kern="0" dirty="0">
                <a:solidFill>
                  <a:srgbClr val="0000FF"/>
                </a:solidFill>
                <a:ea typeface="宋体" panose="02010600030101010101" pitchFamily="2" charset="-122"/>
              </a:rPr>
              <a:t>曲线</a:t>
            </a:r>
            <a:endParaRPr lang="en-US" altLang="zh-CN" sz="3200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kern="0" dirty="0">
                <a:solidFill>
                  <a:srgbClr val="0000FF"/>
                </a:solidFill>
                <a:ea typeface="宋体" panose="02010600030101010101" pitchFamily="2" charset="-122"/>
              </a:rPr>
              <a:t>B</a:t>
            </a:r>
            <a:r>
              <a:rPr lang="zh-CN" altLang="en-US" sz="3200" kern="0" dirty="0">
                <a:solidFill>
                  <a:srgbClr val="0000FF"/>
                </a:solidFill>
                <a:ea typeface="宋体" panose="02010600030101010101" pitchFamily="2" charset="-122"/>
              </a:rPr>
              <a:t>样条曲线</a:t>
            </a:r>
            <a:endParaRPr lang="en-US" altLang="zh-CN" sz="3200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kern="0" dirty="0">
                <a:ea typeface="宋体" panose="02010600030101010101" pitchFamily="2" charset="-122"/>
              </a:rPr>
              <a:t>曲面</a:t>
            </a:r>
            <a:endParaRPr lang="en-US" altLang="zh-CN" kern="0" dirty="0">
              <a:ea typeface="宋体" panose="02010600030101010101" pitchFamily="2" charset="-122"/>
            </a:endParaRPr>
          </a:p>
        </p:txBody>
      </p:sp>
      <p:pic>
        <p:nvPicPr>
          <p:cNvPr id="8" name="Picture 2" descr="https://timgsa.baidu.com/timg?image&amp;quality=80&amp;size=b9999_10000&amp;sec=1513615915582&amp;di=37866083e2fb756264837284ff84650a&amp;imgtype=0&amp;src=http%3A%2F%2Fwww.mfcad.com%2Fuploads%2Fallimg%2F110617%2F33818-11061G04605U2.jpg">
            <a:extLst>
              <a:ext uri="{FF2B5EF4-FFF2-40B4-BE49-F238E27FC236}">
                <a16:creationId xmlns:a16="http://schemas.microsoft.com/office/drawing/2014/main" id="{CCC82E0E-0B94-4444-BE10-6C63C7796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5018"/>
            <a:ext cx="2930949" cy="238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977814"/>
      </p:ext>
    </p:extLst>
  </p:cSld>
  <p:clrMapOvr>
    <a:masterClrMapping/>
  </p:clrMapOvr>
  <p:transition spd="med" advClick="0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Write Your Title Here"/>
  <p:tag name="KSO_WPP_MARK_KEY" val="dd899e31-5ec7-490e-8739-e130eb65ea66"/>
  <p:tag name="COMMONDATA" val="eyJoZGlkIjoiOGFmMDVkMWI3NWMxYzJlMzU4ZjlmZTJlYWJkNmJiNDQifQ==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2137</Words>
  <Application>Microsoft Office PowerPoint</Application>
  <PresentationFormat>全屏显示(16:9)</PresentationFormat>
  <Paragraphs>421</Paragraphs>
  <Slides>51</Slides>
  <Notes>51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51</vt:i4>
      </vt:variant>
    </vt:vector>
  </HeadingPairs>
  <TitlesOfParts>
    <vt:vector size="68" baseType="lpstr">
      <vt:lpstr>Open Sans Light</vt:lpstr>
      <vt:lpstr>华文彩云</vt:lpstr>
      <vt:lpstr>华文隶书</vt:lpstr>
      <vt:lpstr>华文宋体</vt:lpstr>
      <vt:lpstr>宋体</vt:lpstr>
      <vt:lpstr>微软雅黑</vt:lpstr>
      <vt:lpstr>微软雅黑 Light</vt:lpstr>
      <vt:lpstr>Arial</vt:lpstr>
      <vt:lpstr>Calibri</vt:lpstr>
      <vt:lpstr>Times New Roman</vt:lpstr>
      <vt:lpstr>Wingdings</vt:lpstr>
      <vt:lpstr>第一PPT，www.1ppt.com</vt:lpstr>
      <vt:lpstr>Visio</vt:lpstr>
      <vt:lpstr>Equation</vt:lpstr>
      <vt:lpstr>Microsoft Visio 2000/2002 Drawing</vt:lpstr>
      <vt:lpstr>MathType 7.0 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user</dc:creator>
  <cp:keywords>第一PPT模板网-WWW.1PPT.COM</cp:keywords>
  <cp:lastModifiedBy>pcm</cp:lastModifiedBy>
  <cp:revision>517</cp:revision>
  <dcterms:created xsi:type="dcterms:W3CDTF">2015-12-11T17:46:00Z</dcterms:created>
  <dcterms:modified xsi:type="dcterms:W3CDTF">2024-11-21T03:18:22Z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ECACA3F7043547B6B35B2DD86E8C4ABF_12</vt:lpwstr>
  </property>
  <property fmtid="{D5CDD505-2E9C-101B-9397-08002B2CF9AE}" pid="3" name="KSOProductBuildVer">
    <vt:lpwstr>2052-12.1.0.18608</vt:lpwstr>
  </property>
</Properties>
</file>