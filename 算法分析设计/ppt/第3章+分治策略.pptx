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76"/>
  </p:notesMasterIdLst>
  <p:sldIdLst>
    <p:sldId id="319" r:id="rId2"/>
    <p:sldId id="320" r:id="rId3"/>
    <p:sldId id="32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</p:sldIdLst>
  <p:sldSz cx="9720263" cy="6480175"/>
  <p:notesSz cx="6858000" cy="9144000"/>
  <p:defaultTextStyle>
    <a:defPPr>
      <a:defRPr lang="zh-CN"/>
    </a:defPPr>
    <a:lvl1pPr marL="0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1pPr>
    <a:lvl2pPr marL="388803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2pPr>
    <a:lvl3pPr marL="777606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3pPr>
    <a:lvl4pPr marL="1166409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4pPr>
    <a:lvl5pPr marL="1555212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5pPr>
    <a:lvl6pPr marL="1944014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6pPr>
    <a:lvl7pPr marL="2332817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7pPr>
    <a:lvl8pPr marL="2721620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8pPr>
    <a:lvl9pPr marL="3110423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041">
          <p15:clr>
            <a:srgbClr val="A4A3A4"/>
          </p15:clr>
        </p15:guide>
        <p15:guide id="2" pos="30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0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156" y="-104"/>
      </p:cViewPr>
      <p:guideLst>
        <p:guide orient="horz" pos="2041"/>
        <p:guide pos="30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F9C5E-1AEB-4BC3-8960-9FF0F3D21BAB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2C61F-14C0-4283-B832-78F48B15E2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87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2C61F-14C0-4283-B832-78F48B15E2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576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F4F1E-4407-4186-83A4-CB342CF56C86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AFCD4-219A-4D01-ACD6-2E02CC0DD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485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3866">
              <a:lnSpc>
                <a:spcPts val="1900"/>
              </a:lnSpc>
            </a:pPr>
            <a:fld id="{81D60167-4931-47E6-BA6A-407CBD079E47}" type="slidenum">
              <a:rPr lang="en-US" altLang="zh-CN" spc="-7" smtClean="0"/>
              <a:pPr marL="33866">
                <a:lnSpc>
                  <a:spcPts val="1900"/>
                </a:lnSpc>
              </a:pPr>
              <a:t>‹#›</a:t>
            </a:fld>
            <a:endParaRPr lang="en-US" altLang="zh-CN" spc="-7" dirty="0"/>
          </a:p>
        </p:txBody>
      </p:sp>
    </p:spTree>
    <p:extLst>
      <p:ext uri="{BB962C8B-B14F-4D97-AF65-F5344CB8AC3E}">
        <p14:creationId xmlns:p14="http://schemas.microsoft.com/office/powerpoint/2010/main" val="3970409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995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2" b="1" i="0">
                <a:solidFill>
                  <a:srgbClr val="C0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76" b="1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27000">
              <a:lnSpc>
                <a:spcPts val="1515"/>
              </a:lnSpc>
            </a:pPr>
            <a:fld id="{81D60167-4931-47E6-BA6A-407CBD079E47}" type="slidenum">
              <a:rPr lang="en-US" altLang="zh-CN" spc="-5" smtClean="0"/>
              <a:pPr marL="27000">
                <a:lnSpc>
                  <a:spcPts val="1515"/>
                </a:lnSpc>
              </a:pPr>
              <a:t>‹#›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3324891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2" b="1" i="0">
                <a:solidFill>
                  <a:srgbClr val="C0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76" b="1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27000">
              <a:lnSpc>
                <a:spcPts val="1515"/>
              </a:lnSpc>
            </a:pPr>
            <a:fld id="{81D60167-4931-47E6-BA6A-407CBD079E47}" type="slidenum">
              <a:rPr lang="en-US" altLang="zh-CN" spc="-5" smtClean="0"/>
              <a:pPr marL="27000">
                <a:lnSpc>
                  <a:spcPts val="1515"/>
                </a:lnSpc>
              </a:pPr>
              <a:t>‹#›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140565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345011"/>
            <a:ext cx="8383727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1725046"/>
            <a:ext cx="8383727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6006164"/>
            <a:ext cx="218705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F4F1E-4407-4186-83A4-CB342CF56C86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6006164"/>
            <a:ext cx="328058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6006164"/>
            <a:ext cx="218705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AFCD4-219A-4D01-ACD6-2E02CC0DD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3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4" r:id="rId2"/>
    <p:sldLayoutId id="2147483675" r:id="rId3"/>
    <p:sldLayoutId id="2147483676" r:id="rId4"/>
    <p:sldLayoutId id="2147483677" r:id="rId5"/>
  </p:sldLayoutIdLst>
  <p:timing>
    <p:tnLst>
      <p:par>
        <p:cTn id="1" dur="indefinite" restart="never" nodeType="tmRoot"/>
      </p:par>
    </p:tnLst>
  </p:timing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43653" y="2524826"/>
            <a:ext cx="7679630" cy="1029294"/>
          </a:xfrm>
          <a:prstGeom prst="rect">
            <a:avLst/>
          </a:prstGeom>
        </p:spPr>
        <p:txBody>
          <a:bodyPr vert="horz" wrap="square" lIns="0" tIns="13500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6"/>
              </a:spcBef>
            </a:pPr>
            <a:r>
              <a:rPr sz="6600" b="1" spc="-27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本</a:t>
            </a:r>
            <a:r>
              <a:rPr sz="6600" b="1" spc="-11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周</a:t>
            </a:r>
            <a:r>
              <a:rPr sz="6600" b="1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教</a:t>
            </a:r>
            <a:r>
              <a:rPr sz="6600" b="1" spc="-11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学内</a:t>
            </a:r>
            <a:r>
              <a:rPr sz="6600" b="1" spc="-27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</a:rPr>
              <a:t>容</a:t>
            </a:r>
            <a:endParaRPr sz="6600" b="1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852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65987" y="980935"/>
            <a:ext cx="463333" cy="222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4" name="object 4"/>
          <p:cNvSpPr/>
          <p:nvPr/>
        </p:nvSpPr>
        <p:spPr>
          <a:xfrm>
            <a:off x="1092720" y="1008477"/>
            <a:ext cx="464141" cy="222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5" name="object 5"/>
          <p:cNvSpPr txBox="1"/>
          <p:nvPr/>
        </p:nvSpPr>
        <p:spPr>
          <a:xfrm>
            <a:off x="1376767" y="1028727"/>
            <a:ext cx="52651" cy="136294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</a:pPr>
            <a:r>
              <a:rPr sz="797" dirty="0">
                <a:latin typeface="Times New Roman"/>
                <a:cs typeface="Times New Roman"/>
              </a:rPr>
              <a:t>.</a:t>
            </a:r>
            <a:endParaRPr sz="797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5988" y="506263"/>
            <a:ext cx="196834" cy="1846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7" name="object 7"/>
          <p:cNvSpPr/>
          <p:nvPr/>
        </p:nvSpPr>
        <p:spPr>
          <a:xfrm>
            <a:off x="1092719" y="506263"/>
            <a:ext cx="197645" cy="2114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8" name="object 8"/>
          <p:cNvSpPr/>
          <p:nvPr/>
        </p:nvSpPr>
        <p:spPr>
          <a:xfrm>
            <a:off x="2175098" y="4630708"/>
            <a:ext cx="5049136" cy="914650"/>
          </a:xfrm>
          <a:custGeom>
            <a:avLst/>
            <a:gdLst/>
            <a:ahLst/>
            <a:cxnLst/>
            <a:rect l="l" t="t" r="r" b="b"/>
            <a:pathLst>
              <a:path w="4749800" h="860425">
                <a:moveTo>
                  <a:pt x="0" y="143408"/>
                </a:moveTo>
                <a:lnTo>
                  <a:pt x="7311" y="98101"/>
                </a:lnTo>
                <a:lnTo>
                  <a:pt x="27670" y="58737"/>
                </a:lnTo>
                <a:lnTo>
                  <a:pt x="58715" y="27685"/>
                </a:lnTo>
                <a:lnTo>
                  <a:pt x="98082" y="7316"/>
                </a:lnTo>
                <a:lnTo>
                  <a:pt x="143408" y="0"/>
                </a:lnTo>
                <a:lnTo>
                  <a:pt x="4606417" y="0"/>
                </a:lnTo>
                <a:lnTo>
                  <a:pt x="4651711" y="7316"/>
                </a:lnTo>
                <a:lnTo>
                  <a:pt x="4691068" y="27685"/>
                </a:lnTo>
                <a:lnTo>
                  <a:pt x="4722116" y="58737"/>
                </a:lnTo>
                <a:lnTo>
                  <a:pt x="4742483" y="98101"/>
                </a:lnTo>
                <a:lnTo>
                  <a:pt x="4749800" y="143408"/>
                </a:lnTo>
                <a:lnTo>
                  <a:pt x="4749800" y="717016"/>
                </a:lnTo>
                <a:lnTo>
                  <a:pt x="4742483" y="762342"/>
                </a:lnTo>
                <a:lnTo>
                  <a:pt x="4722116" y="801709"/>
                </a:lnTo>
                <a:lnTo>
                  <a:pt x="4691068" y="832754"/>
                </a:lnTo>
                <a:lnTo>
                  <a:pt x="4651711" y="853113"/>
                </a:lnTo>
                <a:lnTo>
                  <a:pt x="4606417" y="860425"/>
                </a:lnTo>
                <a:lnTo>
                  <a:pt x="143408" y="860425"/>
                </a:lnTo>
                <a:lnTo>
                  <a:pt x="98082" y="853113"/>
                </a:lnTo>
                <a:lnTo>
                  <a:pt x="58715" y="832754"/>
                </a:lnTo>
                <a:lnTo>
                  <a:pt x="27670" y="801709"/>
                </a:lnTo>
                <a:lnTo>
                  <a:pt x="7311" y="762342"/>
                </a:lnTo>
                <a:lnTo>
                  <a:pt x="0" y="717016"/>
                </a:lnTo>
                <a:lnTo>
                  <a:pt x="0" y="143408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91589" y="3596600"/>
            <a:ext cx="5022136" cy="881807"/>
          </a:xfrm>
          <a:custGeom>
            <a:avLst/>
            <a:gdLst/>
            <a:ahLst/>
            <a:cxnLst/>
            <a:rect l="l" t="t" r="r" b="b"/>
            <a:pathLst>
              <a:path w="4724400" h="703579">
                <a:moveTo>
                  <a:pt x="0" y="117220"/>
                </a:moveTo>
                <a:lnTo>
                  <a:pt x="9210" y="71580"/>
                </a:lnTo>
                <a:lnTo>
                  <a:pt x="34329" y="34321"/>
                </a:lnTo>
                <a:lnTo>
                  <a:pt x="71585" y="9207"/>
                </a:lnTo>
                <a:lnTo>
                  <a:pt x="117208" y="0"/>
                </a:lnTo>
                <a:lnTo>
                  <a:pt x="4607179" y="0"/>
                </a:lnTo>
                <a:lnTo>
                  <a:pt x="4652819" y="9207"/>
                </a:lnTo>
                <a:lnTo>
                  <a:pt x="4690078" y="34321"/>
                </a:lnTo>
                <a:lnTo>
                  <a:pt x="4715192" y="71580"/>
                </a:lnTo>
                <a:lnTo>
                  <a:pt x="4724400" y="117220"/>
                </a:lnTo>
                <a:lnTo>
                  <a:pt x="4724400" y="586105"/>
                </a:lnTo>
                <a:lnTo>
                  <a:pt x="4715192" y="631692"/>
                </a:lnTo>
                <a:lnTo>
                  <a:pt x="4690078" y="668956"/>
                </a:lnTo>
                <a:lnTo>
                  <a:pt x="4652819" y="694100"/>
                </a:lnTo>
                <a:lnTo>
                  <a:pt x="4607179" y="703326"/>
                </a:lnTo>
                <a:lnTo>
                  <a:pt x="117208" y="703326"/>
                </a:lnTo>
                <a:lnTo>
                  <a:pt x="71585" y="694100"/>
                </a:lnTo>
                <a:lnTo>
                  <a:pt x="34329" y="668956"/>
                </a:lnTo>
                <a:lnTo>
                  <a:pt x="9210" y="631692"/>
                </a:lnTo>
                <a:lnTo>
                  <a:pt x="0" y="586105"/>
                </a:lnTo>
                <a:lnTo>
                  <a:pt x="0" y="11722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08465" y="1849199"/>
            <a:ext cx="2413190" cy="825547"/>
          </a:xfrm>
          <a:custGeom>
            <a:avLst/>
            <a:gdLst/>
            <a:ahLst/>
            <a:cxnLst/>
            <a:rect l="l" t="t" r="r" b="b"/>
            <a:pathLst>
              <a:path w="2270125" h="776605">
                <a:moveTo>
                  <a:pt x="0" y="129286"/>
                </a:moveTo>
                <a:lnTo>
                  <a:pt x="10167" y="78974"/>
                </a:lnTo>
                <a:lnTo>
                  <a:pt x="37895" y="37877"/>
                </a:lnTo>
                <a:lnTo>
                  <a:pt x="79022" y="10163"/>
                </a:lnTo>
                <a:lnTo>
                  <a:pt x="129387" y="0"/>
                </a:lnTo>
                <a:lnTo>
                  <a:pt x="2140712" y="0"/>
                </a:lnTo>
                <a:lnTo>
                  <a:pt x="2191097" y="10163"/>
                </a:lnTo>
                <a:lnTo>
                  <a:pt x="2232231" y="37877"/>
                </a:lnTo>
                <a:lnTo>
                  <a:pt x="2259959" y="78974"/>
                </a:lnTo>
                <a:lnTo>
                  <a:pt x="2270125" y="129286"/>
                </a:lnTo>
                <a:lnTo>
                  <a:pt x="2270125" y="646811"/>
                </a:lnTo>
                <a:lnTo>
                  <a:pt x="2259959" y="697196"/>
                </a:lnTo>
                <a:lnTo>
                  <a:pt x="2232231" y="738330"/>
                </a:lnTo>
                <a:lnTo>
                  <a:pt x="2191097" y="766058"/>
                </a:lnTo>
                <a:lnTo>
                  <a:pt x="2140712" y="776224"/>
                </a:lnTo>
                <a:lnTo>
                  <a:pt x="129387" y="776224"/>
                </a:lnTo>
                <a:lnTo>
                  <a:pt x="79022" y="766058"/>
                </a:lnTo>
                <a:lnTo>
                  <a:pt x="37895" y="738330"/>
                </a:lnTo>
                <a:lnTo>
                  <a:pt x="10167" y="697196"/>
                </a:lnTo>
                <a:lnTo>
                  <a:pt x="0" y="646811"/>
                </a:lnTo>
                <a:lnTo>
                  <a:pt x="0" y="129286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61015" y="1818601"/>
            <a:ext cx="2289963" cy="874725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R="5400" algn="ctr">
              <a:spcBef>
                <a:spcPts val="101"/>
              </a:spcBef>
            </a:pPr>
            <a:r>
              <a:rPr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改进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分治算</a:t>
            </a:r>
            <a:r>
              <a:rPr sz="2800" b="1" spc="-1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</a:t>
            </a:r>
            <a:r>
              <a:rPr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的途</a:t>
            </a:r>
            <a:r>
              <a:rPr sz="2800" b="1" spc="-1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径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1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11633" y="2809649"/>
            <a:ext cx="1701046" cy="646667"/>
          </a:xfrm>
          <a:custGeom>
            <a:avLst/>
            <a:gdLst/>
            <a:ahLst/>
            <a:cxnLst/>
            <a:rect l="l" t="t" r="r" b="b"/>
            <a:pathLst>
              <a:path w="1600200" h="608330">
                <a:moveTo>
                  <a:pt x="0" y="101218"/>
                </a:moveTo>
                <a:lnTo>
                  <a:pt x="7959" y="61829"/>
                </a:lnTo>
                <a:lnTo>
                  <a:pt x="29670" y="29654"/>
                </a:lnTo>
                <a:lnTo>
                  <a:pt x="61882" y="7957"/>
                </a:lnTo>
                <a:lnTo>
                  <a:pt x="101345" y="0"/>
                </a:lnTo>
                <a:lnTo>
                  <a:pt x="1498853" y="0"/>
                </a:lnTo>
                <a:lnTo>
                  <a:pt x="1538317" y="7957"/>
                </a:lnTo>
                <a:lnTo>
                  <a:pt x="1570529" y="29654"/>
                </a:lnTo>
                <a:lnTo>
                  <a:pt x="1592240" y="61829"/>
                </a:lnTo>
                <a:lnTo>
                  <a:pt x="1600200" y="101218"/>
                </a:lnTo>
                <a:lnTo>
                  <a:pt x="1600200" y="506603"/>
                </a:lnTo>
                <a:lnTo>
                  <a:pt x="1592240" y="546066"/>
                </a:lnTo>
                <a:lnTo>
                  <a:pt x="1570529" y="578278"/>
                </a:lnTo>
                <a:lnTo>
                  <a:pt x="1538317" y="599989"/>
                </a:lnTo>
                <a:lnTo>
                  <a:pt x="1498853" y="607949"/>
                </a:lnTo>
                <a:lnTo>
                  <a:pt x="101345" y="607949"/>
                </a:lnTo>
                <a:lnTo>
                  <a:pt x="61882" y="599989"/>
                </a:lnTo>
                <a:lnTo>
                  <a:pt x="29670" y="578278"/>
                </a:lnTo>
                <a:lnTo>
                  <a:pt x="7959" y="546066"/>
                </a:lnTo>
                <a:lnTo>
                  <a:pt x="0" y="506603"/>
                </a:lnTo>
                <a:lnTo>
                  <a:pt x="0" y="101218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55089" y="242796"/>
            <a:ext cx="8920139" cy="653487"/>
          </a:xfrm>
          <a:prstGeom prst="rect">
            <a:avLst/>
          </a:prstGeom>
        </p:spPr>
        <p:txBody>
          <a:bodyPr vert="horz" wrap="square" lIns="0" tIns="13500" rIns="0" bIns="0" rtlCol="0" anchor="ctr">
            <a:spAutoFit/>
          </a:bodyPr>
          <a:lstStyle/>
          <a:p>
            <a:pPr marL="13500" marR="5400" algn="ctr">
              <a:lnSpc>
                <a:spcPct val="100000"/>
              </a:lnSpc>
              <a:spcBef>
                <a:spcPts val="106"/>
              </a:spcBef>
            </a:pPr>
            <a:r>
              <a:rPr sz="4000" b="1" spc="-5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分治算法的设计</a:t>
            </a:r>
            <a:r>
              <a:rPr sz="4000" b="1" spc="-11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思想与分析方法</a:t>
            </a:r>
            <a:endParaRPr sz="4000" b="1" spc="-1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91589" y="2809649"/>
            <a:ext cx="1539042" cy="646667"/>
          </a:xfrm>
          <a:custGeom>
            <a:avLst/>
            <a:gdLst/>
            <a:ahLst/>
            <a:cxnLst/>
            <a:rect l="l" t="t" r="r" b="b"/>
            <a:pathLst>
              <a:path w="1447800" h="608330">
                <a:moveTo>
                  <a:pt x="0" y="101218"/>
                </a:moveTo>
                <a:lnTo>
                  <a:pt x="7962" y="61829"/>
                </a:lnTo>
                <a:lnTo>
                  <a:pt x="29678" y="29654"/>
                </a:lnTo>
                <a:lnTo>
                  <a:pt x="61888" y="7957"/>
                </a:lnTo>
                <a:lnTo>
                  <a:pt x="101333" y="0"/>
                </a:lnTo>
                <a:lnTo>
                  <a:pt x="1346454" y="0"/>
                </a:lnTo>
                <a:lnTo>
                  <a:pt x="1385917" y="7957"/>
                </a:lnTo>
                <a:lnTo>
                  <a:pt x="1418129" y="29654"/>
                </a:lnTo>
                <a:lnTo>
                  <a:pt x="1439840" y="61829"/>
                </a:lnTo>
                <a:lnTo>
                  <a:pt x="1447800" y="101218"/>
                </a:lnTo>
                <a:lnTo>
                  <a:pt x="1447800" y="506603"/>
                </a:lnTo>
                <a:lnTo>
                  <a:pt x="1439840" y="546066"/>
                </a:lnTo>
                <a:lnTo>
                  <a:pt x="1418129" y="578278"/>
                </a:lnTo>
                <a:lnTo>
                  <a:pt x="1385917" y="599989"/>
                </a:lnTo>
                <a:lnTo>
                  <a:pt x="1346454" y="607949"/>
                </a:lnTo>
                <a:lnTo>
                  <a:pt x="101333" y="607949"/>
                </a:lnTo>
                <a:lnTo>
                  <a:pt x="61888" y="599989"/>
                </a:lnTo>
                <a:lnTo>
                  <a:pt x="29678" y="578278"/>
                </a:lnTo>
                <a:lnTo>
                  <a:pt x="7962" y="546066"/>
                </a:lnTo>
                <a:lnTo>
                  <a:pt x="0" y="506603"/>
                </a:lnTo>
                <a:lnTo>
                  <a:pt x="0" y="101218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93681" y="2809649"/>
            <a:ext cx="1620044" cy="646667"/>
          </a:xfrm>
          <a:custGeom>
            <a:avLst/>
            <a:gdLst/>
            <a:ahLst/>
            <a:cxnLst/>
            <a:rect l="l" t="t" r="r" b="b"/>
            <a:pathLst>
              <a:path w="1524000" h="608330">
                <a:moveTo>
                  <a:pt x="0" y="101218"/>
                </a:moveTo>
                <a:lnTo>
                  <a:pt x="7959" y="61829"/>
                </a:lnTo>
                <a:lnTo>
                  <a:pt x="29670" y="29654"/>
                </a:lnTo>
                <a:lnTo>
                  <a:pt x="61882" y="7957"/>
                </a:lnTo>
                <a:lnTo>
                  <a:pt x="101346" y="0"/>
                </a:lnTo>
                <a:lnTo>
                  <a:pt x="1422653" y="0"/>
                </a:lnTo>
                <a:lnTo>
                  <a:pt x="1462117" y="7957"/>
                </a:lnTo>
                <a:lnTo>
                  <a:pt x="1494329" y="29654"/>
                </a:lnTo>
                <a:lnTo>
                  <a:pt x="1516040" y="61829"/>
                </a:lnTo>
                <a:lnTo>
                  <a:pt x="1524000" y="101218"/>
                </a:lnTo>
                <a:lnTo>
                  <a:pt x="1524000" y="506603"/>
                </a:lnTo>
                <a:lnTo>
                  <a:pt x="1516040" y="546066"/>
                </a:lnTo>
                <a:lnTo>
                  <a:pt x="1494329" y="578278"/>
                </a:lnTo>
                <a:lnTo>
                  <a:pt x="1462117" y="599989"/>
                </a:lnTo>
                <a:lnTo>
                  <a:pt x="1422653" y="607949"/>
                </a:lnTo>
                <a:lnTo>
                  <a:pt x="101346" y="607949"/>
                </a:lnTo>
                <a:lnTo>
                  <a:pt x="61882" y="599989"/>
                </a:lnTo>
                <a:lnTo>
                  <a:pt x="29670" y="578278"/>
                </a:lnTo>
                <a:lnTo>
                  <a:pt x="7959" y="546066"/>
                </a:lnTo>
                <a:lnTo>
                  <a:pt x="0" y="506603"/>
                </a:lnTo>
                <a:lnTo>
                  <a:pt x="0" y="101218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02657" y="1849199"/>
            <a:ext cx="2511068" cy="825547"/>
          </a:xfrm>
          <a:custGeom>
            <a:avLst/>
            <a:gdLst/>
            <a:ahLst/>
            <a:cxnLst/>
            <a:rect l="l" t="t" r="r" b="b"/>
            <a:pathLst>
              <a:path w="2362200" h="776605">
                <a:moveTo>
                  <a:pt x="0" y="129286"/>
                </a:moveTo>
                <a:lnTo>
                  <a:pt x="10165" y="78974"/>
                </a:lnTo>
                <a:lnTo>
                  <a:pt x="37893" y="37877"/>
                </a:lnTo>
                <a:lnTo>
                  <a:pt x="79027" y="10163"/>
                </a:lnTo>
                <a:lnTo>
                  <a:pt x="129412" y="0"/>
                </a:lnTo>
                <a:lnTo>
                  <a:pt x="2232787" y="0"/>
                </a:lnTo>
                <a:lnTo>
                  <a:pt x="2283172" y="10163"/>
                </a:lnTo>
                <a:lnTo>
                  <a:pt x="2324306" y="37877"/>
                </a:lnTo>
                <a:lnTo>
                  <a:pt x="2352034" y="78974"/>
                </a:lnTo>
                <a:lnTo>
                  <a:pt x="2362200" y="129286"/>
                </a:lnTo>
                <a:lnTo>
                  <a:pt x="2362200" y="646811"/>
                </a:lnTo>
                <a:lnTo>
                  <a:pt x="2352034" y="697196"/>
                </a:lnTo>
                <a:lnTo>
                  <a:pt x="2324306" y="738330"/>
                </a:lnTo>
                <a:lnTo>
                  <a:pt x="2283172" y="766058"/>
                </a:lnTo>
                <a:lnTo>
                  <a:pt x="2232787" y="776224"/>
                </a:lnTo>
                <a:lnTo>
                  <a:pt x="129412" y="776224"/>
                </a:lnTo>
                <a:lnTo>
                  <a:pt x="79027" y="766058"/>
                </a:lnTo>
                <a:lnTo>
                  <a:pt x="37893" y="738330"/>
                </a:lnTo>
                <a:lnTo>
                  <a:pt x="10165" y="697196"/>
                </a:lnTo>
                <a:lnTo>
                  <a:pt x="0" y="646811"/>
                </a:lnTo>
                <a:lnTo>
                  <a:pt x="0" y="129286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2658" y="1808091"/>
            <a:ext cx="2511066" cy="874725"/>
          </a:xfrm>
          <a:prstGeom prst="rect">
            <a:avLst/>
          </a:prstGeom>
        </p:spPr>
        <p:txBody>
          <a:bodyPr vert="horz" wrap="square" lIns="0" tIns="12825" rIns="0" bIns="0" rtlCol="0">
            <a:spAutoFit/>
          </a:bodyPr>
          <a:lstStyle/>
          <a:p>
            <a:pPr marR="5400" algn="ctr">
              <a:spcBef>
                <a:spcPts val="101"/>
              </a:spcBef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改进分治算法 的途径2</a:t>
            </a:r>
          </a:p>
        </p:txBody>
      </p:sp>
      <p:sp>
        <p:nvSpPr>
          <p:cNvPr id="2" name="矩形 1"/>
          <p:cNvSpPr/>
          <p:nvPr/>
        </p:nvSpPr>
        <p:spPr>
          <a:xfrm>
            <a:off x="2169120" y="2890135"/>
            <a:ext cx="16167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芯片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测</a:t>
            </a:r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试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866847" y="2876569"/>
            <a:ext cx="16167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幂乘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</a:t>
            </a:r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569997" y="2860550"/>
            <a:ext cx="16167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01"/>
              </a:spcBef>
              <a:tabLst>
                <a:tab pos="1700338" algn="l"/>
                <a:tab pos="3442526" algn="l"/>
              </a:tabLst>
            </a:pPr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快速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排</a:t>
            </a:r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序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208465" y="4640453"/>
            <a:ext cx="499474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75" algn="ctr"/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分治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算法的</a:t>
            </a:r>
            <a:r>
              <a:rPr lang="zh-CN" altLang="en-US"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设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计思</a:t>
            </a:r>
            <a:r>
              <a:rPr lang="zh-CN" altLang="en-US"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想</a:t>
            </a:r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14850" algn="ctr"/>
            <a:r>
              <a:rPr lang="zh-CN" altLang="en-US" sz="24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二分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检索、</a:t>
            </a:r>
            <a:r>
              <a:rPr lang="zh-CN" altLang="en-US" sz="24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分归</a:t>
            </a:r>
            <a:r>
              <a:rPr lang="zh-CN" altLang="en-US" sz="24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并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排</a:t>
            </a:r>
            <a:r>
              <a:rPr lang="zh-CN" altLang="en-US" sz="24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序</a:t>
            </a:r>
            <a:r>
              <a:rPr lang="zh-CN" altLang="en-US" sz="2400" b="1" spc="2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Hanoi</a:t>
            </a:r>
            <a:r>
              <a:rPr lang="zh-CN" altLang="en-US" sz="24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塔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13517" y="3570072"/>
            <a:ext cx="44663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029383" algn="ctr"/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分治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算法的</a:t>
            </a:r>
            <a:r>
              <a:rPr lang="zh-CN" altLang="en-US"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一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般描</a:t>
            </a:r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述</a:t>
            </a:r>
            <a:endParaRPr lang="en-US" altLang="zh-CN" sz="2800" b="1" spc="-1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R="1029383" algn="ctr"/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分治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算法的</a:t>
            </a:r>
            <a:r>
              <a:rPr lang="zh-CN" altLang="en-US"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析方</a:t>
            </a:r>
            <a:r>
              <a:rPr lang="zh-CN" altLang="en-US" sz="2800" b="1" spc="-1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735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 animBg="1"/>
      <p:bldP spid="14" grpId="0" animBg="1"/>
      <p:bldP spid="15" grpId="0" animBg="1"/>
      <p:bldP spid="17" grpId="0" animBg="1"/>
      <p:bldP spid="18" grpId="0"/>
      <p:bldP spid="2" grpId="0"/>
      <p:bldP spid="19" grpId="0"/>
      <p:bldP spid="20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>
            <a:spLocks noGrp="1"/>
          </p:cNvSpPr>
          <p:nvPr>
            <p:ph type="title" idx="4294967295"/>
          </p:nvPr>
        </p:nvSpPr>
        <p:spPr>
          <a:xfrm>
            <a:off x="515007" y="1780518"/>
            <a:ext cx="8586952" cy="204842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R="6773" algn="ctr">
              <a:lnSpc>
                <a:spcPct val="100000"/>
              </a:lnSpc>
              <a:spcBef>
                <a:spcPts val="133"/>
              </a:spcBef>
            </a:pPr>
            <a:r>
              <a:rPr sz="6600" b="1" spc="-2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分治</a:t>
            </a:r>
            <a:r>
              <a:rPr sz="6600" b="1" spc="7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策略</a:t>
            </a:r>
            <a:r>
              <a:rPr lang="en-US" sz="6600" b="1" spc="7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sz="6600" b="1" spc="7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</a:br>
            <a:r>
              <a:rPr sz="6600" b="1" spc="-27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的</a:t>
            </a:r>
            <a:r>
              <a:rPr sz="6600" b="1" spc="-7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设</a:t>
            </a:r>
            <a:r>
              <a:rPr sz="66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计</a:t>
            </a:r>
            <a:r>
              <a:rPr sz="6600" b="1" spc="-7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思</a:t>
            </a:r>
            <a:r>
              <a:rPr sz="6600" b="1" spc="-27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想</a:t>
            </a:r>
            <a:endParaRPr sz="66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887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580" y="247487"/>
            <a:ext cx="8905875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策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略的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</a:t>
            </a:r>
            <a:r>
              <a:rPr sz="4000" b="1" spc="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想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579" y="1287320"/>
            <a:ext cx="8905875" cy="4169004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16933">
              <a:spcBef>
                <a:spcPts val="533"/>
              </a:spcBef>
            </a:pPr>
            <a:r>
              <a:rPr sz="3200" b="1" spc="-7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分治策略</a:t>
            </a:r>
            <a:r>
              <a:rPr sz="3200" b="1" spc="-13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（</a:t>
            </a:r>
            <a:r>
              <a:rPr sz="3200" b="1" spc="-7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Divide</a:t>
            </a:r>
            <a:r>
              <a:rPr sz="3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32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and </a:t>
            </a:r>
            <a:r>
              <a:rPr sz="3200" b="1" spc="-7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Conquer</a:t>
            </a:r>
            <a:r>
              <a:rPr sz="3200" b="1" spc="-13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）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523227" marR="8466" indent="-507141">
              <a:lnSpc>
                <a:spcPct val="110400"/>
              </a:lnSpc>
              <a:tabLst>
                <a:tab pos="531693" algn="l"/>
              </a:tabLst>
            </a:pP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1.		</a:t>
            </a:r>
            <a:r>
              <a:rPr sz="2800" b="1" spc="-13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将</a:t>
            </a: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原</a:t>
            </a:r>
            <a:r>
              <a:rPr sz="2800" b="1" spc="-13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始</a:t>
            </a: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问题</a:t>
            </a:r>
            <a:r>
              <a:rPr sz="2800" b="1" spc="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划</a:t>
            </a: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分或者归结为规</a:t>
            </a:r>
            <a:r>
              <a:rPr sz="2800" b="1" spc="40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模</a:t>
            </a:r>
            <a:r>
              <a:rPr sz="2800" b="1" spc="-13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较</a:t>
            </a: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小</a:t>
            </a:r>
            <a:r>
              <a:rPr sz="2800" b="1" spc="-13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的</a:t>
            </a: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子问</a:t>
            </a:r>
            <a:r>
              <a:rPr sz="2800" b="1" spc="-13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题</a:t>
            </a:r>
            <a:endParaRPr lang="en-US" sz="28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523227" marR="8466" indent="-507141">
              <a:lnSpc>
                <a:spcPct val="110400"/>
              </a:lnSpc>
              <a:tabLst>
                <a:tab pos="531693" algn="l"/>
              </a:tabLst>
            </a:pPr>
            <a:r>
              <a:rPr lang="en-US" sz="2800" b="1" spc="-13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2. </a:t>
            </a:r>
            <a:r>
              <a:rPr sz="2800" b="1" spc="-13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递</a:t>
            </a: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归</a:t>
            </a:r>
            <a:r>
              <a:rPr sz="2800" b="1" spc="-13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或</a:t>
            </a: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迭代</a:t>
            </a:r>
            <a:r>
              <a:rPr sz="2800" b="1" spc="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求</a:t>
            </a:r>
            <a:r>
              <a:rPr sz="2800" b="1" spc="13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解</a:t>
            </a:r>
            <a:r>
              <a:rPr sz="2800" b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每个子问题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16086">
              <a:spcBef>
                <a:spcPts val="400"/>
              </a:spcBef>
              <a:tabLst>
                <a:tab pos="531693" algn="l"/>
                <a:tab pos="532540" algn="l"/>
              </a:tabLst>
            </a:pPr>
            <a:r>
              <a:rPr lang="en-US" sz="2800" b="1" spc="-13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3. </a:t>
            </a:r>
            <a:r>
              <a:rPr sz="2800" b="1" spc="-13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将子问题</a:t>
            </a:r>
            <a:r>
              <a:rPr sz="2800" b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的解</a:t>
            </a: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综</a:t>
            </a:r>
            <a:r>
              <a:rPr sz="2800" b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合得到原问题的解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16933">
              <a:spcBef>
                <a:spcPts val="1800"/>
              </a:spcBef>
            </a:pPr>
            <a:r>
              <a:rPr sz="32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注意：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531693" indent="-515607">
              <a:spcBef>
                <a:spcPts val="400"/>
              </a:spcBef>
              <a:buFont typeface="Times New Roman"/>
              <a:buAutoNum type="arabicPeriod"/>
              <a:tabLst>
                <a:tab pos="531693" algn="l"/>
                <a:tab pos="532540" algn="l"/>
              </a:tabLst>
            </a:pPr>
            <a:r>
              <a:rPr sz="2800" b="1" spc="-13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子</a:t>
            </a:r>
            <a:r>
              <a:rPr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问</a:t>
            </a:r>
            <a:r>
              <a:rPr sz="2800" b="1" spc="-13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题</a:t>
            </a:r>
            <a:r>
              <a:rPr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与原</a:t>
            </a:r>
            <a:r>
              <a:rPr sz="2800" b="1" spc="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始</a:t>
            </a:r>
            <a:r>
              <a:rPr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问题性质完全一</a:t>
            </a:r>
            <a:r>
              <a:rPr sz="2800" b="1" spc="-13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样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531693" indent="-515607">
              <a:spcBef>
                <a:spcPts val="400"/>
              </a:spcBef>
              <a:buFont typeface="Times New Roman"/>
              <a:buAutoNum type="arabicPeriod"/>
              <a:tabLst>
                <a:tab pos="531693" algn="l"/>
                <a:tab pos="532540" algn="l"/>
              </a:tabLst>
            </a:pPr>
            <a:r>
              <a:rPr sz="2800" b="1" spc="-13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子</a:t>
            </a:r>
            <a:r>
              <a:rPr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问</a:t>
            </a:r>
            <a:r>
              <a:rPr sz="2800" b="1" spc="-13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题</a:t>
            </a:r>
            <a:r>
              <a:rPr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之间</a:t>
            </a:r>
            <a:r>
              <a:rPr sz="2800" b="1" spc="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可</a:t>
            </a:r>
            <a:r>
              <a:rPr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彼此独立地求</a:t>
            </a:r>
            <a:r>
              <a:rPr sz="2800" b="1" spc="-13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解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531693" indent="-515607">
              <a:spcBef>
                <a:spcPts val="407"/>
              </a:spcBef>
              <a:buFont typeface="Times New Roman"/>
              <a:buAutoNum type="arabicPeriod"/>
              <a:tabLst>
                <a:tab pos="531693" algn="l"/>
                <a:tab pos="532540" algn="l"/>
              </a:tabLst>
            </a:pPr>
            <a:r>
              <a:rPr sz="2800" b="1" spc="-13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递归停止</a:t>
            </a:r>
            <a:r>
              <a:rPr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时</a:t>
            </a: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子</a:t>
            </a:r>
            <a:r>
              <a:rPr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问题可直接求</a:t>
            </a:r>
            <a:r>
              <a:rPr sz="2800" b="1" spc="-13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解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44097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413" y="228555"/>
            <a:ext cx="8902261" cy="657809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40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二分检索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413" y="946459"/>
            <a:ext cx="8933794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spc="-7" dirty="0">
                <a:latin typeface="宋体"/>
                <a:cs typeface="宋体"/>
              </a:rPr>
              <a:t>算</a:t>
            </a:r>
            <a:r>
              <a:rPr sz="3200" b="1" spc="-13" dirty="0">
                <a:latin typeface="宋体"/>
                <a:cs typeface="宋体"/>
              </a:rPr>
              <a:t>法 </a:t>
            </a:r>
            <a:r>
              <a:rPr sz="3200" b="1" dirty="0">
                <a:latin typeface="Times New Roman"/>
                <a:cs typeface="Times New Roman"/>
              </a:rPr>
              <a:t>Binary </a:t>
            </a:r>
            <a:r>
              <a:rPr sz="3200" b="1" spc="-13" dirty="0">
                <a:latin typeface="Times New Roman"/>
                <a:cs typeface="Times New Roman"/>
              </a:rPr>
              <a:t>Search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spc="-107" dirty="0">
                <a:latin typeface="Times New Roman"/>
                <a:cs typeface="Times New Roman"/>
              </a:rPr>
              <a:t>(</a:t>
            </a:r>
            <a:r>
              <a:rPr sz="3200" b="1" i="1" spc="-107" dirty="0">
                <a:latin typeface="Times New Roman"/>
                <a:cs typeface="Times New Roman"/>
              </a:rPr>
              <a:t>T,</a:t>
            </a:r>
            <a:r>
              <a:rPr sz="3200" b="1" i="1" dirty="0">
                <a:latin typeface="Times New Roman"/>
                <a:cs typeface="Times New Roman"/>
              </a:rPr>
              <a:t> l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r</a:t>
            </a:r>
            <a:r>
              <a:rPr sz="3200" b="1" spc="-7" dirty="0">
                <a:latin typeface="Times New Roman"/>
                <a:cs typeface="Times New Roman"/>
              </a:rPr>
              <a:t>, </a:t>
            </a:r>
            <a:r>
              <a:rPr sz="3200" b="1" i="1" dirty="0">
                <a:latin typeface="Times New Roman"/>
                <a:cs typeface="Times New Roman"/>
              </a:rPr>
              <a:t>x</a:t>
            </a:r>
            <a:r>
              <a:rPr sz="3200" b="1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marL="16933"/>
            <a:r>
              <a:rPr sz="3200" b="1" spc="-7" dirty="0">
                <a:latin typeface="宋体"/>
                <a:cs typeface="宋体"/>
              </a:rPr>
              <a:t>输入：数</a:t>
            </a:r>
            <a:r>
              <a:rPr sz="3200" b="1" spc="-13" dirty="0">
                <a:latin typeface="宋体"/>
                <a:cs typeface="宋体"/>
              </a:rPr>
              <a:t>组</a:t>
            </a:r>
            <a:r>
              <a:rPr sz="3200" b="1" spc="-787" dirty="0">
                <a:latin typeface="宋体"/>
                <a:cs typeface="宋体"/>
              </a:rPr>
              <a:t> </a:t>
            </a:r>
            <a:r>
              <a:rPr sz="3200" b="1" i="1" spc="-13" dirty="0">
                <a:latin typeface="Times New Roman"/>
                <a:cs typeface="Times New Roman"/>
              </a:rPr>
              <a:t>T</a:t>
            </a:r>
            <a:r>
              <a:rPr sz="3200" b="1" spc="-13" dirty="0">
                <a:latin typeface="宋体"/>
                <a:cs typeface="宋体"/>
              </a:rPr>
              <a:t>，</a:t>
            </a:r>
            <a:r>
              <a:rPr sz="3200" b="1" spc="-7" dirty="0">
                <a:latin typeface="宋体"/>
                <a:cs typeface="宋体"/>
              </a:rPr>
              <a:t>下标</a:t>
            </a:r>
            <a:r>
              <a:rPr sz="3200" b="1" spc="-13" dirty="0">
                <a:latin typeface="宋体"/>
                <a:cs typeface="宋体"/>
              </a:rPr>
              <a:t>从</a:t>
            </a:r>
            <a:r>
              <a:rPr sz="3200" b="1" spc="-773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l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spc="-13" dirty="0">
                <a:latin typeface="宋体"/>
                <a:cs typeface="宋体"/>
              </a:rPr>
              <a:t>到</a:t>
            </a:r>
            <a:r>
              <a:rPr sz="3200" b="1" spc="-807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r</a:t>
            </a:r>
            <a:r>
              <a:rPr sz="3200" b="1" spc="-7" dirty="0">
                <a:latin typeface="宋体"/>
                <a:cs typeface="宋体"/>
              </a:rPr>
              <a:t>；</a:t>
            </a:r>
            <a:r>
              <a:rPr sz="3200" b="1" spc="-13" dirty="0">
                <a:latin typeface="宋体"/>
                <a:cs typeface="宋体"/>
              </a:rPr>
              <a:t>数</a:t>
            </a:r>
            <a:r>
              <a:rPr sz="3200" b="1" spc="-800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x</a:t>
            </a:r>
            <a:endParaRPr sz="3200" dirty="0">
              <a:latin typeface="Times New Roman"/>
              <a:cs typeface="Times New Roman"/>
            </a:endParaRPr>
          </a:p>
          <a:p>
            <a:pPr marL="16933">
              <a:tabLst>
                <a:tab pos="1658579" algn="l"/>
              </a:tabLst>
            </a:pPr>
            <a:r>
              <a:rPr sz="3200" b="1" spc="-7" dirty="0">
                <a:latin typeface="宋体"/>
                <a:cs typeface="宋体"/>
              </a:rPr>
              <a:t>输出：</a:t>
            </a:r>
            <a:r>
              <a:rPr sz="3200" b="1" i="1" spc="-7" dirty="0">
                <a:latin typeface="Times New Roman"/>
                <a:cs typeface="Times New Roman"/>
              </a:rPr>
              <a:t>j	</a:t>
            </a:r>
            <a:r>
              <a:rPr sz="3200" b="1" spc="-7" dirty="0">
                <a:latin typeface="Times New Roman"/>
                <a:cs typeface="Times New Roman"/>
              </a:rPr>
              <a:t>//</a:t>
            </a:r>
            <a:r>
              <a:rPr sz="3200" b="1" spc="-27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宋体"/>
                <a:cs typeface="宋体"/>
              </a:rPr>
              <a:t>若</a:t>
            </a:r>
            <a:r>
              <a:rPr sz="3200" b="1" i="1" dirty="0">
                <a:latin typeface="Times New Roman"/>
                <a:cs typeface="Times New Roman"/>
              </a:rPr>
              <a:t>x</a:t>
            </a:r>
            <a:r>
              <a:rPr sz="3200" b="1" spc="-7" dirty="0">
                <a:latin typeface="宋体"/>
                <a:cs typeface="宋体"/>
              </a:rPr>
              <a:t>在</a:t>
            </a: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宋体"/>
                <a:cs typeface="宋体"/>
              </a:rPr>
              <a:t>中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j</a:t>
            </a:r>
            <a:r>
              <a:rPr sz="3200" b="1" i="1" spc="-33" dirty="0" smtClean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宋体"/>
                <a:cs typeface="宋体"/>
              </a:rPr>
              <a:t>为下标</a:t>
            </a:r>
            <a:r>
              <a:rPr sz="3200" b="1" dirty="0">
                <a:latin typeface="Times New Roman"/>
                <a:cs typeface="Times New Roman"/>
              </a:rPr>
              <a:t>;</a:t>
            </a:r>
            <a:r>
              <a:rPr sz="3200" b="1" spc="7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宋体"/>
                <a:cs typeface="宋体"/>
              </a:rPr>
              <a:t>否则</a:t>
            </a:r>
            <a:r>
              <a:rPr sz="3200" b="1" spc="-13" dirty="0">
                <a:latin typeface="宋体"/>
                <a:cs typeface="宋体"/>
              </a:rPr>
              <a:t>为</a:t>
            </a:r>
            <a:r>
              <a:rPr sz="3200" b="1" spc="-800" dirty="0">
                <a:latin typeface="宋体"/>
                <a:cs typeface="宋体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0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412" y="2606193"/>
            <a:ext cx="8902262" cy="348214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624824" algn="l"/>
                <a:tab pos="1681438" algn="l"/>
              </a:tabLst>
            </a:pPr>
            <a:r>
              <a:rPr sz="3200" b="1" dirty="0">
                <a:latin typeface="Times New Roman"/>
                <a:cs typeface="Times New Roman"/>
              </a:rPr>
              <a:t>1.	</a:t>
            </a:r>
            <a:r>
              <a:rPr sz="3200" b="1" i="1" spc="-7" dirty="0">
                <a:latin typeface="Times New Roman"/>
                <a:cs typeface="Times New Roman"/>
              </a:rPr>
              <a:t>l</a:t>
            </a:r>
            <a:r>
              <a:rPr sz="3200" b="1" spc="-7" dirty="0">
                <a:latin typeface="Symbol"/>
                <a:cs typeface="Symbol"/>
              </a:rPr>
              <a:t></a:t>
            </a:r>
            <a:r>
              <a:rPr sz="3200" b="1" spc="-7" dirty="0">
                <a:latin typeface="Times New Roman"/>
                <a:cs typeface="Times New Roman"/>
              </a:rPr>
              <a:t>1;	</a:t>
            </a:r>
            <a:r>
              <a:rPr sz="3200" b="1" i="1" dirty="0">
                <a:latin typeface="Times New Roman"/>
                <a:cs typeface="Times New Roman"/>
              </a:rPr>
              <a:t>r</a:t>
            </a:r>
            <a:r>
              <a:rPr sz="3200" b="1" dirty="0">
                <a:latin typeface="Symbol"/>
                <a:cs typeface="Symbol"/>
              </a:rPr>
              <a:t>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endParaRPr sz="3200" dirty="0">
              <a:latin typeface="Times New Roman"/>
              <a:cs typeface="Times New Roman"/>
            </a:endParaRPr>
          </a:p>
          <a:p>
            <a:pPr marL="16933">
              <a:tabLst>
                <a:tab pos="625671" algn="l"/>
              </a:tabLst>
            </a:pPr>
            <a:r>
              <a:rPr sz="3200" b="1" dirty="0">
                <a:latin typeface="Times New Roman"/>
                <a:cs typeface="Times New Roman"/>
              </a:rPr>
              <a:t>2.	</a:t>
            </a:r>
            <a:r>
              <a:rPr sz="3200" b="1" spc="-7" dirty="0">
                <a:latin typeface="Times New Roman"/>
                <a:cs typeface="Times New Roman"/>
              </a:rPr>
              <a:t>while </a:t>
            </a:r>
            <a:r>
              <a:rPr sz="3200" b="1" i="1" dirty="0">
                <a:latin typeface="Times New Roman"/>
                <a:cs typeface="Times New Roman"/>
              </a:rPr>
              <a:t>l</a:t>
            </a:r>
            <a:r>
              <a:rPr sz="3200" b="1" dirty="0">
                <a:latin typeface="Symbol"/>
                <a:cs typeface="Symbol"/>
              </a:rPr>
              <a:t></a:t>
            </a:r>
            <a:r>
              <a:rPr sz="3200" b="1" i="1" dirty="0">
                <a:latin typeface="Times New Roman"/>
                <a:cs typeface="Times New Roman"/>
              </a:rPr>
              <a:t>r</a:t>
            </a:r>
            <a:r>
              <a:rPr sz="3200" b="1" i="1" spc="-3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do</a:t>
            </a:r>
            <a:endParaRPr sz="3200" dirty="0">
              <a:latin typeface="Times New Roman"/>
              <a:cs typeface="Times New Roman"/>
            </a:endParaRPr>
          </a:p>
          <a:p>
            <a:pPr marL="16933">
              <a:spcBef>
                <a:spcPts val="27"/>
              </a:spcBef>
              <a:tabLst>
                <a:tab pos="929617" algn="l"/>
              </a:tabLst>
            </a:pPr>
            <a:r>
              <a:rPr sz="3200" b="1" dirty="0">
                <a:latin typeface="Times New Roman"/>
                <a:cs typeface="Times New Roman"/>
              </a:rPr>
              <a:t>3.	</a:t>
            </a:r>
            <a:r>
              <a:rPr lang="en-US" sz="3200" b="1" dirty="0" smtClean="0">
                <a:latin typeface="Times New Roman"/>
                <a:cs typeface="Times New Roman"/>
              </a:rPr>
              <a:t>   </a:t>
            </a:r>
            <a:r>
              <a:rPr sz="3200" b="1" i="1" dirty="0" smtClean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3200" b="1" dirty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</a:t>
            </a:r>
            <a:r>
              <a:rPr sz="3200" b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3200" b="1" i="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3200" b="1" i="1" spc="-2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3200" b="1" i="1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3200" b="1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)/2</a:t>
            </a:r>
            <a:r>
              <a:rPr sz="3200" b="1" spc="-7" dirty="0" smtClean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</a:t>
            </a:r>
            <a:r>
              <a:rPr lang="en-US" sz="3200" b="1" spc="-7" dirty="0" smtClean="0">
                <a:uFill>
                  <a:solidFill>
                    <a:srgbClr val="C00000"/>
                  </a:solidFill>
                </a:uFill>
                <a:latin typeface="Symbol"/>
                <a:cs typeface="Symbol"/>
              </a:rPr>
              <a:t>    </a:t>
            </a:r>
            <a:r>
              <a:rPr lang="en-US" altLang="zh-CN"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en-US" altLang="zh-CN" sz="3200" b="1" spc="-1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en-US"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间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r>
              <a:rPr lang="zh-CN" altLang="en-US" sz="3200" b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置</a:t>
            </a:r>
            <a:endParaRPr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31310" indent="-914377">
              <a:lnSpc>
                <a:spcPts val="3827"/>
              </a:lnSpc>
              <a:buAutoNum type="arabicPeriod" startAt="4"/>
              <a:tabLst>
                <a:tab pos="930463" algn="l"/>
                <a:tab pos="931310" algn="l"/>
              </a:tabLst>
            </a:pPr>
            <a:r>
              <a:rPr lang="en-US" sz="3200" b="1" spc="-7" dirty="0" smtClean="0">
                <a:latin typeface="Times New Roman"/>
                <a:cs typeface="Times New Roman"/>
              </a:rPr>
              <a:t>   </a:t>
            </a:r>
            <a:r>
              <a:rPr sz="3200" b="1" spc="-7" dirty="0" smtClean="0">
                <a:latin typeface="Times New Roman"/>
                <a:cs typeface="Times New Roman"/>
              </a:rPr>
              <a:t>if</a:t>
            </a:r>
            <a:r>
              <a:rPr sz="3200" b="1" spc="-20" dirty="0" smtClean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T</a:t>
            </a:r>
            <a:r>
              <a:rPr sz="3200" b="1" spc="-7" dirty="0">
                <a:latin typeface="Times New Roman"/>
                <a:cs typeface="Times New Roman"/>
              </a:rPr>
              <a:t>[</a:t>
            </a:r>
            <a:r>
              <a:rPr sz="3200" b="1" i="1" spc="-7" dirty="0">
                <a:latin typeface="Times New Roman"/>
                <a:cs typeface="Times New Roman"/>
              </a:rPr>
              <a:t>m</a:t>
            </a:r>
            <a:r>
              <a:rPr sz="3200" b="1" spc="-7" dirty="0" smtClean="0">
                <a:latin typeface="Times New Roman"/>
                <a:cs typeface="Times New Roman"/>
              </a:rPr>
              <a:t>]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=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x</a:t>
            </a:r>
            <a:r>
              <a:rPr sz="3200" b="1" i="1" spc="-20" dirty="0" smtClean="0">
                <a:latin typeface="Times New Roman"/>
                <a:cs typeface="Times New Roman"/>
              </a:rPr>
              <a:t> </a:t>
            </a:r>
            <a:r>
              <a:rPr lang="en-US" sz="3200" b="1" i="1" spc="-20" dirty="0" smtClean="0">
                <a:latin typeface="Times New Roman"/>
                <a:cs typeface="Times New Roman"/>
              </a:rPr>
              <a:t>  </a:t>
            </a:r>
            <a:r>
              <a:rPr sz="3200" b="1" spc="-7" dirty="0" smtClean="0">
                <a:latin typeface="Times New Roman"/>
                <a:cs typeface="Times New Roman"/>
              </a:rPr>
              <a:t>then </a:t>
            </a:r>
            <a:r>
              <a:rPr lang="en-US" sz="3200" b="1" spc="-7" dirty="0" smtClean="0">
                <a:latin typeface="Times New Roman"/>
                <a:cs typeface="Times New Roman"/>
              </a:rPr>
              <a:t>  </a:t>
            </a:r>
            <a:r>
              <a:rPr sz="3200" b="1" spc="-13" dirty="0" smtClean="0">
                <a:latin typeface="Times New Roman"/>
                <a:cs typeface="Times New Roman"/>
              </a:rPr>
              <a:t>return</a:t>
            </a:r>
            <a:r>
              <a:rPr sz="3200" b="1" spc="-20" dirty="0" smtClean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m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lang="en-US" sz="3200" b="1" i="1" spc="-20" dirty="0" smtClean="0">
                <a:latin typeface="Times New Roman"/>
                <a:cs typeface="Times New Roman"/>
              </a:rPr>
              <a:t>   </a:t>
            </a:r>
            <a:r>
              <a:rPr sz="3200" b="1" spc="-7" dirty="0" smtClean="0">
                <a:latin typeface="Times New Roman"/>
                <a:cs typeface="Times New Roman"/>
              </a:rPr>
              <a:t>//</a:t>
            </a:r>
            <a:r>
              <a:rPr sz="3200" b="1" spc="-27" dirty="0" smtClean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x</a:t>
            </a:r>
            <a:r>
              <a:rPr sz="3200" b="1" spc="-13" dirty="0">
                <a:latin typeface="宋体"/>
                <a:cs typeface="宋体"/>
              </a:rPr>
              <a:t>是</a:t>
            </a:r>
            <a:r>
              <a:rPr sz="3200" b="1" spc="-7" dirty="0">
                <a:latin typeface="宋体"/>
                <a:cs typeface="宋体"/>
              </a:rPr>
              <a:t>中位</a:t>
            </a:r>
            <a:r>
              <a:rPr sz="3200" b="1" spc="-13" dirty="0">
                <a:latin typeface="宋体"/>
                <a:cs typeface="宋体"/>
              </a:rPr>
              <a:t>数</a:t>
            </a:r>
            <a:endParaRPr sz="3200" dirty="0">
              <a:latin typeface="宋体"/>
              <a:cs typeface="宋体"/>
            </a:endParaRPr>
          </a:p>
          <a:p>
            <a:pPr marL="16933" marR="1664505">
              <a:lnSpc>
                <a:spcPts val="3840"/>
              </a:lnSpc>
              <a:spcBef>
                <a:spcPts val="113"/>
              </a:spcBef>
              <a:buAutoNum type="arabicPeriod" startAt="4"/>
              <a:tabLst>
                <a:tab pos="929617" algn="l"/>
                <a:tab pos="930463" algn="l"/>
                <a:tab pos="1765256" algn="l"/>
              </a:tabLst>
            </a:pPr>
            <a:r>
              <a:rPr lang="en-US" sz="3200" b="1" spc="-7" dirty="0" smtClean="0">
                <a:latin typeface="Times New Roman"/>
                <a:cs typeface="Times New Roman"/>
              </a:rPr>
              <a:t>         </a:t>
            </a:r>
            <a:r>
              <a:rPr sz="3200" b="1" spc="-7" dirty="0" smtClean="0">
                <a:latin typeface="Times New Roman"/>
                <a:cs typeface="Times New Roman"/>
              </a:rPr>
              <a:t>else</a:t>
            </a:r>
            <a:r>
              <a:rPr lang="en-US" sz="3200" b="1" spc="-7" dirty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if </a:t>
            </a:r>
            <a:r>
              <a:rPr sz="3200" b="1" i="1" spc="-7" dirty="0">
                <a:latin typeface="Times New Roman"/>
                <a:cs typeface="Times New Roman"/>
              </a:rPr>
              <a:t>T</a:t>
            </a:r>
            <a:r>
              <a:rPr sz="3200" b="1" spc="-7" dirty="0">
                <a:latin typeface="Times New Roman"/>
                <a:cs typeface="Times New Roman"/>
              </a:rPr>
              <a:t>[</a:t>
            </a:r>
            <a:r>
              <a:rPr sz="3200" b="1" i="1" spc="-7" dirty="0">
                <a:latin typeface="Times New Roman"/>
                <a:cs typeface="Times New Roman"/>
              </a:rPr>
              <a:t>m</a:t>
            </a:r>
            <a:r>
              <a:rPr sz="3200" b="1" spc="-7" dirty="0" smtClean="0">
                <a:latin typeface="Times New Roman"/>
                <a:cs typeface="Times New Roman"/>
              </a:rPr>
              <a:t>]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&gt;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x </a:t>
            </a:r>
            <a:r>
              <a:rPr lang="en-US"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then</a:t>
            </a:r>
            <a:r>
              <a:rPr lang="en-US" sz="3200" b="1" spc="-93" dirty="0"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r</a:t>
            </a:r>
            <a:r>
              <a:rPr sz="3200" b="1" dirty="0">
                <a:latin typeface="Symbol"/>
                <a:cs typeface="Symbol"/>
              </a:rPr>
              <a:t></a:t>
            </a:r>
            <a:r>
              <a:rPr sz="3200" b="1" i="1" dirty="0">
                <a:latin typeface="Times New Roman"/>
                <a:cs typeface="Times New Roman"/>
              </a:rPr>
              <a:t>m</a:t>
            </a:r>
            <a:r>
              <a:rPr sz="3200" b="1" dirty="0">
                <a:latin typeface="Symbol"/>
                <a:cs typeface="Symbol"/>
              </a:rPr>
              <a:t></a:t>
            </a:r>
            <a:r>
              <a:rPr sz="3200" b="1" dirty="0">
                <a:latin typeface="Times New Roman"/>
                <a:cs typeface="Times New Roman"/>
              </a:rPr>
              <a:t>1 </a:t>
            </a:r>
            <a:endParaRPr lang="en-US" sz="3200" b="1" dirty="0" smtClean="0">
              <a:latin typeface="Times New Roman"/>
              <a:cs typeface="Times New Roman"/>
            </a:endParaRPr>
          </a:p>
          <a:p>
            <a:pPr marL="16933" marR="1664505">
              <a:lnSpc>
                <a:spcPts val="3840"/>
              </a:lnSpc>
              <a:spcBef>
                <a:spcPts val="113"/>
              </a:spcBef>
              <a:buFontTx/>
              <a:buAutoNum type="arabicPeriod" startAt="4"/>
              <a:tabLst>
                <a:tab pos="929617" algn="l"/>
                <a:tab pos="930463" algn="l"/>
                <a:tab pos="1765256" algn="l"/>
              </a:tabLst>
            </a:pPr>
            <a:r>
              <a:rPr lang="en-US" altLang="zh-CN" sz="3200" b="1" spc="-7" dirty="0" smtClean="0">
                <a:latin typeface="Times New Roman"/>
                <a:cs typeface="Times New Roman"/>
              </a:rPr>
              <a:t>                   else</a:t>
            </a:r>
            <a:r>
              <a:rPr lang="en-US" altLang="zh-CN" sz="3200" b="1" spc="-87" dirty="0" smtClean="0">
                <a:latin typeface="Times New Roman"/>
                <a:cs typeface="Times New Roman"/>
              </a:rPr>
              <a:t>  </a:t>
            </a:r>
            <a:r>
              <a:rPr lang="en-US" altLang="zh-CN" sz="3200" b="1" i="1" spc="-7" dirty="0">
                <a:latin typeface="Times New Roman"/>
                <a:cs typeface="Times New Roman"/>
              </a:rPr>
              <a:t>l</a:t>
            </a:r>
            <a:r>
              <a:rPr lang="en-US" altLang="zh-CN" sz="3200" b="1" spc="-7" dirty="0">
                <a:latin typeface="Symbol"/>
                <a:cs typeface="Symbol"/>
              </a:rPr>
              <a:t></a:t>
            </a:r>
            <a:r>
              <a:rPr lang="en-US" altLang="zh-CN" sz="3200" b="1" i="1" spc="-7" dirty="0" smtClean="0">
                <a:latin typeface="Times New Roman"/>
                <a:cs typeface="Times New Roman"/>
              </a:rPr>
              <a:t>m</a:t>
            </a:r>
            <a:r>
              <a:rPr lang="en-US" altLang="zh-CN" sz="3200" b="1" spc="-7" dirty="0" smtClean="0">
                <a:latin typeface="Times New Roman"/>
                <a:cs typeface="Times New Roman"/>
              </a:rPr>
              <a:t>+1</a:t>
            </a:r>
          </a:p>
          <a:p>
            <a:pPr marL="16933" marR="1664505">
              <a:lnSpc>
                <a:spcPts val="3840"/>
              </a:lnSpc>
              <a:spcBef>
                <a:spcPts val="113"/>
              </a:spcBef>
              <a:tabLst>
                <a:tab pos="929617" algn="l"/>
                <a:tab pos="930463" algn="l"/>
                <a:tab pos="1765256" algn="l"/>
              </a:tabLst>
            </a:pPr>
            <a:r>
              <a:rPr lang="en-US" altLang="zh-CN" sz="3200" b="1" spc="-7" dirty="0" smtClean="0">
                <a:latin typeface="Times New Roman"/>
                <a:cs typeface="Times New Roman"/>
              </a:rPr>
              <a:t>7.  </a:t>
            </a:r>
            <a:r>
              <a:rPr lang="en-US" altLang="zh-CN" sz="3200" b="1" spc="-13" dirty="0" smtClean="0">
                <a:latin typeface="Times New Roman"/>
                <a:cs typeface="Times New Roman"/>
              </a:rPr>
              <a:t>return</a:t>
            </a:r>
            <a:r>
              <a:rPr lang="en-US" altLang="zh-CN" sz="3200" b="1" spc="-113" dirty="0" smtClean="0">
                <a:latin typeface="Times New Roman"/>
                <a:cs typeface="Times New Roman"/>
              </a:rPr>
              <a:t> </a:t>
            </a:r>
            <a:r>
              <a:rPr lang="en-US" altLang="zh-CN" sz="3200" b="1" dirty="0" smtClean="0">
                <a:latin typeface="Times New Roman"/>
                <a:cs typeface="Times New Roman"/>
              </a:rPr>
              <a:t>0</a:t>
            </a:r>
            <a:endParaRPr lang="en-US" sz="3200" b="1" dirty="0" smtClean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58062" y="4571999"/>
            <a:ext cx="4435365" cy="935421"/>
          </a:xfrm>
          <a:custGeom>
            <a:avLst/>
            <a:gdLst/>
            <a:ahLst/>
            <a:cxnLst/>
            <a:rect l="l" t="t" r="r" b="b"/>
            <a:pathLst>
              <a:path w="3124200" h="685800">
                <a:moveTo>
                  <a:pt x="0" y="114300"/>
                </a:moveTo>
                <a:lnTo>
                  <a:pt x="8983" y="69812"/>
                </a:lnTo>
                <a:lnTo>
                  <a:pt x="33480" y="33480"/>
                </a:lnTo>
                <a:lnTo>
                  <a:pt x="69812" y="8983"/>
                </a:lnTo>
                <a:lnTo>
                  <a:pt x="114300" y="0"/>
                </a:lnTo>
                <a:lnTo>
                  <a:pt x="3009900" y="0"/>
                </a:lnTo>
                <a:lnTo>
                  <a:pt x="3054387" y="8983"/>
                </a:lnTo>
                <a:lnTo>
                  <a:pt x="3090719" y="33480"/>
                </a:lnTo>
                <a:lnTo>
                  <a:pt x="3115216" y="69812"/>
                </a:lnTo>
                <a:lnTo>
                  <a:pt x="3124200" y="114300"/>
                </a:lnTo>
                <a:lnTo>
                  <a:pt x="3124200" y="571500"/>
                </a:lnTo>
                <a:lnTo>
                  <a:pt x="3115216" y="615987"/>
                </a:lnTo>
                <a:lnTo>
                  <a:pt x="3090719" y="652319"/>
                </a:lnTo>
                <a:lnTo>
                  <a:pt x="3054387" y="676816"/>
                </a:lnTo>
                <a:lnTo>
                  <a:pt x="3009900" y="685800"/>
                </a:lnTo>
                <a:lnTo>
                  <a:pt x="114300" y="685800"/>
                </a:lnTo>
                <a:lnTo>
                  <a:pt x="69812" y="676816"/>
                </a:lnTo>
                <a:lnTo>
                  <a:pt x="33480" y="652319"/>
                </a:lnTo>
                <a:lnTo>
                  <a:pt x="8983" y="615987"/>
                </a:lnTo>
                <a:lnTo>
                  <a:pt x="0" y="571500"/>
                </a:lnTo>
                <a:lnTo>
                  <a:pt x="0" y="1143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cxnSp>
        <p:nvCxnSpPr>
          <p:cNvPr id="7" name="直接连接符 6"/>
          <p:cNvCxnSpPr/>
          <p:nvPr/>
        </p:nvCxnSpPr>
        <p:spPr>
          <a:xfrm>
            <a:off x="1650124" y="4089545"/>
            <a:ext cx="217564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12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475" y="221418"/>
            <a:ext cx="8878692" cy="65695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索算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sz="4000" b="1" spc="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思想</a:t>
            </a:r>
            <a:endParaRPr b="1" spc="-2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7595" y="4844099"/>
            <a:ext cx="625808" cy="1021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43985" y="1499897"/>
            <a:ext cx="8868182" cy="333862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457200" marR="6773" indent="-457200" algn="just">
              <a:lnSpc>
                <a:spcPct val="111100"/>
              </a:lnSpc>
              <a:spcBef>
                <a:spcPts val="127"/>
              </a:spcBef>
              <a:buFont typeface="Arial"/>
              <a:buChar char="•"/>
              <a:tabLst>
                <a:tab pos="474121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</a:t>
            </a: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</a:t>
            </a:r>
            <a:r>
              <a:rPr sz="2800" b="1" spc="-86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2800" b="1" spc="-5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spc="-13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sz="2800" b="1" spc="-7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中位数的比较，</a:t>
            </a:r>
            <a:r>
              <a:rPr sz="28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将原问题归</a:t>
            </a:r>
            <a:r>
              <a:rPr sz="28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结为</a:t>
            </a:r>
            <a:r>
              <a:rPr sz="28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规</a:t>
            </a:r>
            <a:r>
              <a:rPr sz="28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sz="28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减半</a:t>
            </a:r>
            <a:r>
              <a:rPr sz="2800" b="1" spc="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sz="28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子问题</a:t>
            </a:r>
            <a:r>
              <a:rPr lang="en-US" sz="28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sz="28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sz="28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果</a:t>
            </a:r>
            <a:r>
              <a:rPr sz="2800" b="1" spc="-80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2800" b="1" spc="-6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小于中位</a:t>
            </a:r>
            <a:r>
              <a:rPr sz="28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</a:t>
            </a:r>
            <a:r>
              <a:rPr sz="2800" b="1" spc="-7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sz="2800" b="1" spc="-13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sz="2800" b="1" spc="-7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子问</a:t>
            </a:r>
            <a:r>
              <a:rPr sz="2800" b="1" spc="7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</a:t>
            </a:r>
            <a:r>
              <a:rPr sz="2800" b="1" spc="-7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由小</a:t>
            </a:r>
            <a:r>
              <a:rPr sz="2800" b="1" spc="-13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sz="2800" b="1" spc="-8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2800" b="1" spc="-6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spc="-13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sz="2800" b="1" spc="-7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</a:t>
            </a:r>
            <a:r>
              <a:rPr sz="2800" b="1" spc="-13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构</a:t>
            </a:r>
            <a:r>
              <a:rPr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</a:t>
            </a:r>
            <a:r>
              <a:rPr sz="2800" b="1" spc="-7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sz="28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否</a:t>
            </a:r>
            <a:r>
              <a:rPr sz="28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则子</a:t>
            </a:r>
            <a:r>
              <a:rPr sz="28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sz="28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</a:t>
            </a:r>
            <a:r>
              <a:rPr sz="28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由大</a:t>
            </a:r>
            <a:r>
              <a:rPr sz="28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lang="en-US" sz="2800" b="1" spc="-76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28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的数构成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457200" lvl="1" indent="-457200" algn="just">
              <a:spcBef>
                <a:spcPts val="1767"/>
              </a:spcBef>
              <a:buFont typeface="Arial"/>
              <a:buChar char="•"/>
              <a:tabLst>
                <a:tab pos="575719" algn="l"/>
              </a:tabLst>
            </a:pP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</a:t>
            </a: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题进</a:t>
            </a:r>
            <a:r>
              <a:rPr sz="2800" b="1" spc="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二分检</a:t>
            </a:r>
            <a:r>
              <a:rPr sz="2800" b="1" spc="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457200" marR="283626" lvl="1" indent="-457200" algn="just">
              <a:lnSpc>
                <a:spcPct val="111000"/>
              </a:lnSpc>
              <a:spcBef>
                <a:spcPts val="2133"/>
              </a:spcBef>
              <a:buFont typeface="Arial"/>
              <a:buChar char="•"/>
              <a:tabLst>
                <a:tab pos="574872" algn="l"/>
                <a:tab pos="575719" algn="l"/>
              </a:tabLst>
            </a:pP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</a:t>
            </a: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题规</a:t>
            </a:r>
            <a:r>
              <a:rPr sz="2800" b="1" spc="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sz="2800" b="1" spc="-79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sz="2800" b="1" spc="-2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</a:t>
            </a: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较</a:t>
            </a:r>
            <a:r>
              <a:rPr sz="2800" b="1" spc="-78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 T[m</a:t>
            </a:r>
            <a:r>
              <a:rPr sz="2800" b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]，</a:t>
            </a:r>
            <a:r>
              <a:rPr lang="zh-CN" altLang="en-US"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若相等则返回 </a:t>
            </a:r>
            <a:r>
              <a:rPr lang="en-US" altLang="zh-CN"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，否则返回 </a:t>
            </a:r>
            <a:r>
              <a:rPr lang="en-US" altLang="zh-CN"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800" b="1" spc="-7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16748" y="5036170"/>
            <a:ext cx="34111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-13" dirty="0">
                <a:solidFill>
                  <a:srgbClr val="006FC0"/>
                </a:solidFill>
                <a:latin typeface="宋体"/>
                <a:cs typeface="宋体"/>
              </a:rPr>
              <a:t> 是</a:t>
            </a:r>
            <a:r>
              <a:rPr lang="zh-CN" altLang="en-US" sz="2800" b="1" spc="-7" dirty="0">
                <a:solidFill>
                  <a:srgbClr val="006FC0"/>
                </a:solidFill>
                <a:latin typeface="宋体"/>
                <a:cs typeface="宋体"/>
              </a:rPr>
              <a:t>否</a:t>
            </a:r>
            <a:r>
              <a:rPr lang="zh-CN" altLang="en-US" sz="2800" b="1" spc="-13" dirty="0">
                <a:solidFill>
                  <a:srgbClr val="006FC0"/>
                </a:solidFill>
                <a:latin typeface="宋体"/>
                <a:cs typeface="宋体"/>
              </a:rPr>
              <a:t>能</a:t>
            </a:r>
            <a:r>
              <a:rPr lang="zh-CN" altLang="en-US" sz="2800" b="1" spc="-7" dirty="0">
                <a:solidFill>
                  <a:srgbClr val="006FC0"/>
                </a:solidFill>
                <a:latin typeface="宋体"/>
                <a:cs typeface="宋体"/>
              </a:rPr>
              <a:t>够递</a:t>
            </a:r>
            <a:r>
              <a:rPr lang="zh-CN" altLang="en-US" sz="2800" b="1" spc="7" dirty="0">
                <a:solidFill>
                  <a:srgbClr val="006FC0"/>
                </a:solidFill>
                <a:latin typeface="宋体"/>
                <a:cs typeface="宋体"/>
              </a:rPr>
              <a:t>归</a:t>
            </a:r>
            <a:r>
              <a:rPr lang="zh-CN" altLang="en-US" sz="2800" b="1" spc="-7" dirty="0">
                <a:solidFill>
                  <a:srgbClr val="006FC0"/>
                </a:solidFill>
                <a:latin typeface="宋体"/>
                <a:cs typeface="宋体"/>
              </a:rPr>
              <a:t>实</a:t>
            </a:r>
            <a:r>
              <a:rPr lang="zh-CN" altLang="en-US" sz="2800" b="1" spc="7" dirty="0">
                <a:solidFill>
                  <a:srgbClr val="006FC0"/>
                </a:solidFill>
                <a:latin typeface="宋体"/>
                <a:cs typeface="宋体"/>
              </a:rPr>
              <a:t>现</a:t>
            </a:r>
            <a:r>
              <a:rPr lang="en-US" altLang="zh-CN"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5349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794" y="231133"/>
            <a:ext cx="8939392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索时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</a:t>
            </a:r>
            <a:r>
              <a:rPr sz="4000" b="1" spc="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杂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析</a:t>
            </a:r>
          </a:p>
        </p:txBody>
      </p:sp>
      <p:sp>
        <p:nvSpPr>
          <p:cNvPr id="3" name="object 3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04387" y="-188913"/>
            <a:ext cx="246887" cy="263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04387" y="-188913"/>
            <a:ext cx="246887" cy="263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448850" y="1467975"/>
            <a:ext cx="8884336" cy="341894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6933">
              <a:spcBef>
                <a:spcPts val="900"/>
              </a:spcBef>
            </a:pPr>
            <a:r>
              <a:rPr sz="3200" b="1" spc="-20" dirty="0">
                <a:latin typeface="宋体"/>
                <a:cs typeface="宋体"/>
              </a:rPr>
              <a:t>二</a:t>
            </a:r>
            <a:r>
              <a:rPr sz="3200" b="1" spc="-7" dirty="0">
                <a:latin typeface="宋体"/>
                <a:cs typeface="宋体"/>
              </a:rPr>
              <a:t>分检索问</a:t>
            </a:r>
            <a:r>
              <a:rPr sz="3200" b="1" dirty="0">
                <a:latin typeface="宋体"/>
                <a:cs typeface="宋体"/>
              </a:rPr>
              <a:t>题</a:t>
            </a:r>
            <a:r>
              <a:rPr sz="3200" b="1" spc="-7" dirty="0">
                <a:latin typeface="宋体"/>
                <a:cs typeface="宋体"/>
              </a:rPr>
              <a:t>最坏</a:t>
            </a:r>
            <a:r>
              <a:rPr sz="3200" b="1" dirty="0">
                <a:latin typeface="宋体"/>
                <a:cs typeface="宋体"/>
              </a:rPr>
              <a:t>情</a:t>
            </a:r>
            <a:r>
              <a:rPr sz="3200" b="1" spc="-7" dirty="0">
                <a:latin typeface="宋体"/>
                <a:cs typeface="宋体"/>
              </a:rPr>
              <a:t>况</a:t>
            </a:r>
            <a:r>
              <a:rPr sz="3200" b="1" dirty="0">
                <a:latin typeface="宋体"/>
                <a:cs typeface="宋体"/>
              </a:rPr>
              <a:t>下</a:t>
            </a:r>
            <a:r>
              <a:rPr sz="3200" b="1" spc="-7" dirty="0">
                <a:latin typeface="宋体"/>
                <a:cs typeface="宋体"/>
              </a:rPr>
              <a:t>时间</a:t>
            </a:r>
            <a:r>
              <a:rPr sz="3200" b="1" dirty="0">
                <a:latin typeface="宋体"/>
                <a:cs typeface="宋体"/>
              </a:rPr>
              <a:t>复</a:t>
            </a:r>
            <a:r>
              <a:rPr sz="3200" b="1" spc="-7" dirty="0">
                <a:latin typeface="宋体"/>
                <a:cs typeface="宋体"/>
              </a:rPr>
              <a:t>杂</a:t>
            </a:r>
            <a:r>
              <a:rPr sz="3200" b="1" spc="-20" dirty="0">
                <a:latin typeface="宋体"/>
                <a:cs typeface="宋体"/>
              </a:rPr>
              <a:t>度</a:t>
            </a:r>
            <a:endParaRPr sz="3200" dirty="0">
              <a:latin typeface="宋体"/>
              <a:cs typeface="宋体"/>
            </a:endParaRPr>
          </a:p>
          <a:p>
            <a:pPr marL="675623">
              <a:spcBef>
                <a:spcPts val="767"/>
              </a:spcBef>
            </a:pP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= </a:t>
            </a: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 </a:t>
            </a:r>
            <a:r>
              <a:rPr sz="3200" b="1" spc="-7" dirty="0">
                <a:latin typeface="Symbol"/>
                <a:cs typeface="Symbol"/>
              </a:rPr>
              <a:t>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/2</a:t>
            </a:r>
            <a:r>
              <a:rPr sz="3200" b="1" spc="-7" dirty="0">
                <a:latin typeface="Symbol"/>
                <a:cs typeface="Symbol"/>
              </a:rPr>
              <a:t></a:t>
            </a:r>
            <a:r>
              <a:rPr sz="3200" b="1" spc="1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)+1</a:t>
            </a:r>
            <a:endParaRPr sz="3200" dirty="0">
              <a:latin typeface="Times New Roman"/>
              <a:cs typeface="Times New Roman"/>
            </a:endParaRPr>
          </a:p>
          <a:p>
            <a:pPr marL="668003">
              <a:spcBef>
                <a:spcPts val="79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(1) = 1</a:t>
            </a:r>
            <a:endParaRPr sz="3200" dirty="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3467" dirty="0">
              <a:latin typeface="Times New Roman"/>
              <a:cs typeface="Times New Roman"/>
            </a:endParaRPr>
          </a:p>
          <a:p>
            <a:pPr marL="118530"/>
            <a:r>
              <a:rPr sz="3200" b="1" spc="-20" dirty="0">
                <a:latin typeface="宋体"/>
                <a:cs typeface="宋体"/>
              </a:rPr>
              <a:t>可</a:t>
            </a:r>
            <a:r>
              <a:rPr sz="3200" b="1" spc="-7" dirty="0">
                <a:latin typeface="宋体"/>
                <a:cs typeface="宋体"/>
              </a:rPr>
              <a:t>以解</a:t>
            </a:r>
            <a:r>
              <a:rPr sz="3200" b="1" spc="-20" dirty="0">
                <a:latin typeface="宋体"/>
                <a:cs typeface="宋体"/>
              </a:rPr>
              <a:t>出</a:t>
            </a:r>
            <a:endParaRPr sz="3200" dirty="0">
              <a:latin typeface="宋体"/>
              <a:cs typeface="宋体"/>
            </a:endParaRPr>
          </a:p>
          <a:p>
            <a:pPr marL="769601">
              <a:spcBef>
                <a:spcPts val="77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)= </a:t>
            </a:r>
            <a:r>
              <a:rPr sz="3200" b="1" spc="-7" dirty="0">
                <a:latin typeface="Symbol"/>
                <a:cs typeface="Symbol"/>
              </a:rPr>
              <a:t></a:t>
            </a:r>
            <a:r>
              <a:rPr sz="3200" b="1" spc="-7" dirty="0">
                <a:latin typeface="Times New Roman"/>
                <a:cs typeface="Times New Roman"/>
              </a:rPr>
              <a:t>log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Symbol"/>
                <a:cs typeface="Symbol"/>
              </a:rPr>
              <a:t></a:t>
            </a:r>
            <a:r>
              <a:rPr sz="3200" b="1" spc="-7" dirty="0">
                <a:latin typeface="Times New Roman"/>
                <a:cs typeface="Times New Roman"/>
              </a:rPr>
              <a:t> +</a:t>
            </a:r>
            <a:r>
              <a:rPr sz="3200" b="1" spc="20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801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096" y="257091"/>
            <a:ext cx="8841049" cy="65695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二分归并排序</a:t>
            </a:r>
            <a:endParaRPr b="1" spc="-13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1116" y="1066292"/>
            <a:ext cx="8820029" cy="4472164"/>
          </a:xfrm>
          <a:prstGeom prst="rect">
            <a:avLst/>
          </a:prstGeom>
        </p:spPr>
        <p:txBody>
          <a:bodyPr vert="horz" wrap="square" lIns="0" tIns="80433" rIns="0" bIns="0" rtlCol="0">
            <a:spAutoFit/>
          </a:bodyPr>
          <a:lstStyle/>
          <a:p>
            <a:pPr marL="16933">
              <a:spcBef>
                <a:spcPts val="633"/>
              </a:spcBef>
              <a:tabLst>
                <a:tab pos="1230176" algn="l"/>
              </a:tabLst>
            </a:pPr>
            <a:r>
              <a:rPr sz="2800" b="1" spc="-13" dirty="0">
                <a:latin typeface="宋体"/>
                <a:cs typeface="宋体"/>
              </a:rPr>
              <a:t>算</a:t>
            </a:r>
            <a:r>
              <a:rPr sz="2800" b="1" spc="-20" dirty="0">
                <a:latin typeface="宋体"/>
                <a:cs typeface="宋体"/>
              </a:rPr>
              <a:t>法	</a:t>
            </a:r>
            <a:r>
              <a:rPr sz="2800" b="1" spc="-7" dirty="0">
                <a:latin typeface="Times New Roman"/>
                <a:cs typeface="Times New Roman"/>
              </a:rPr>
              <a:t>Merge Sort (</a:t>
            </a:r>
            <a:r>
              <a:rPr sz="2800" b="1" i="1" spc="-7" dirty="0">
                <a:latin typeface="Times New Roman"/>
                <a:cs typeface="Times New Roman"/>
              </a:rPr>
              <a:t>A</a:t>
            </a:r>
            <a:r>
              <a:rPr sz="2800" b="1" spc="-7" dirty="0">
                <a:latin typeface="Times New Roman"/>
                <a:cs typeface="Times New Roman"/>
              </a:rPr>
              <a:t>, </a:t>
            </a:r>
            <a:r>
              <a:rPr sz="2800" b="1" i="1" spc="-7" dirty="0">
                <a:latin typeface="Times New Roman"/>
                <a:cs typeface="Times New Roman"/>
              </a:rPr>
              <a:t>p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r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507"/>
              </a:spcBef>
            </a:pPr>
            <a:r>
              <a:rPr sz="2800" b="1" spc="-20" dirty="0">
                <a:latin typeface="宋体"/>
                <a:cs typeface="宋体"/>
              </a:rPr>
              <a:t>输</a:t>
            </a:r>
            <a:r>
              <a:rPr sz="2800" b="1" spc="-7" dirty="0">
                <a:latin typeface="宋体"/>
                <a:cs typeface="宋体"/>
              </a:rPr>
              <a:t>入：数</a:t>
            </a:r>
            <a:r>
              <a:rPr sz="2800" b="1" spc="-20" dirty="0">
                <a:latin typeface="宋体"/>
                <a:cs typeface="宋体"/>
              </a:rPr>
              <a:t>组</a:t>
            </a:r>
            <a:r>
              <a:rPr sz="2800" b="1" spc="27" dirty="0">
                <a:latin typeface="宋体"/>
                <a:cs typeface="宋体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A</a:t>
            </a:r>
            <a:r>
              <a:rPr sz="2800" b="1" spc="-7" dirty="0">
                <a:latin typeface="Times New Roman"/>
                <a:cs typeface="Times New Roman"/>
              </a:rPr>
              <a:t>[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p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..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r</a:t>
            </a:r>
            <a:r>
              <a:rPr sz="2800" b="1" spc="-7" dirty="0">
                <a:latin typeface="Times New Roman"/>
                <a:cs typeface="Times New Roman"/>
              </a:rPr>
              <a:t>]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507"/>
              </a:spcBef>
            </a:pPr>
            <a:r>
              <a:rPr sz="2800" b="1" spc="-20" dirty="0" err="1">
                <a:latin typeface="宋体"/>
                <a:cs typeface="宋体"/>
              </a:rPr>
              <a:t>输</a:t>
            </a:r>
            <a:r>
              <a:rPr sz="2800" b="1" spc="-7" dirty="0" err="1">
                <a:latin typeface="宋体"/>
                <a:cs typeface="宋体"/>
              </a:rPr>
              <a:t>出：元</a:t>
            </a:r>
            <a:r>
              <a:rPr sz="2800" b="1" dirty="0" err="1">
                <a:latin typeface="宋体"/>
                <a:cs typeface="宋体"/>
              </a:rPr>
              <a:t>素按</a:t>
            </a:r>
            <a:r>
              <a:rPr sz="2800" b="1" spc="-7" dirty="0" err="1">
                <a:latin typeface="宋体"/>
                <a:cs typeface="宋体"/>
              </a:rPr>
              <a:t>从</a:t>
            </a:r>
            <a:r>
              <a:rPr sz="2800" b="1" dirty="0" err="1">
                <a:latin typeface="宋体"/>
                <a:cs typeface="宋体"/>
              </a:rPr>
              <a:t>小到</a:t>
            </a:r>
            <a:r>
              <a:rPr sz="2800" b="1" spc="-7" dirty="0" err="1">
                <a:latin typeface="宋体"/>
                <a:cs typeface="宋体"/>
              </a:rPr>
              <a:t>大</a:t>
            </a:r>
            <a:r>
              <a:rPr sz="2800" b="1" dirty="0" err="1">
                <a:latin typeface="宋体"/>
                <a:cs typeface="宋体"/>
              </a:rPr>
              <a:t>排</a:t>
            </a:r>
            <a:r>
              <a:rPr sz="2800" b="1" spc="-7" dirty="0" err="1">
                <a:latin typeface="宋体"/>
                <a:cs typeface="宋体"/>
              </a:rPr>
              <a:t>序的</a:t>
            </a:r>
            <a:r>
              <a:rPr sz="2800" b="1" dirty="0" err="1">
                <a:latin typeface="宋体"/>
                <a:cs typeface="宋体"/>
              </a:rPr>
              <a:t>数</a:t>
            </a:r>
            <a:r>
              <a:rPr sz="2800" b="1" spc="-20" dirty="0" err="1">
                <a:latin typeface="宋体"/>
                <a:cs typeface="宋体"/>
              </a:rPr>
              <a:t>组</a:t>
            </a:r>
            <a:r>
              <a:rPr sz="2800" b="1" spc="-900" dirty="0">
                <a:latin typeface="宋体"/>
                <a:cs typeface="宋体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A</a:t>
            </a:r>
            <a:endParaRPr lang="en-US" sz="2800" b="1" i="1" spc="-7" dirty="0" smtClean="0">
              <a:latin typeface="Times New Roman"/>
              <a:cs typeface="Times New Roman"/>
            </a:endParaRPr>
          </a:p>
          <a:p>
            <a:pPr marL="16933">
              <a:spcBef>
                <a:spcPts val="507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507"/>
              </a:spcBef>
              <a:tabLst>
                <a:tab pos="566406" algn="l"/>
                <a:tab pos="1054920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1.	if	</a:t>
            </a:r>
            <a:r>
              <a:rPr sz="2800" b="1" i="1" spc="-7" dirty="0">
                <a:latin typeface="Times New Roman"/>
                <a:cs typeface="Times New Roman"/>
              </a:rPr>
              <a:t>p </a:t>
            </a:r>
            <a:r>
              <a:rPr sz="2800" b="1" spc="-7" dirty="0">
                <a:latin typeface="Times New Roman"/>
                <a:cs typeface="Times New Roman"/>
              </a:rPr>
              <a:t>&lt;</a:t>
            </a:r>
            <a:r>
              <a:rPr sz="2800" b="1" spc="7" dirty="0">
                <a:latin typeface="Times New Roman"/>
                <a:cs typeface="Times New Roman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r</a:t>
            </a:r>
            <a:endParaRPr lang="en-US" sz="2800" b="1" i="1" spc="-7" dirty="0" smtClean="0">
              <a:latin typeface="Times New Roman"/>
              <a:cs typeface="Times New Roman"/>
            </a:endParaRPr>
          </a:p>
          <a:p>
            <a:pPr marL="531283" indent="-514350">
              <a:spcBef>
                <a:spcPts val="507"/>
              </a:spcBef>
              <a:buAutoNum type="arabicPeriod" startAt="2"/>
              <a:tabLst>
                <a:tab pos="566406" algn="l"/>
                <a:tab pos="1054920" algn="l"/>
              </a:tabLst>
            </a:pPr>
            <a:r>
              <a:rPr lang="en-US" altLang="zh-CN" sz="2800" b="1" spc="-7" dirty="0" smtClean="0">
                <a:latin typeface="Times New Roman"/>
                <a:cs typeface="Times New Roman"/>
              </a:rPr>
              <a:t>then</a:t>
            </a:r>
            <a:r>
              <a:rPr lang="en-US" altLang="zh-CN" sz="2800" b="1" spc="-7" dirty="0">
                <a:latin typeface="Times New Roman"/>
                <a:cs typeface="Times New Roman"/>
              </a:rPr>
              <a:t>	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q </a:t>
            </a:r>
            <a:r>
              <a:rPr lang="en-US" altLang="zh-CN" sz="2800" b="1" spc="-7" dirty="0">
                <a:latin typeface="Symbol"/>
                <a:cs typeface="Symbol"/>
              </a:rPr>
              <a:t></a:t>
            </a:r>
            <a:r>
              <a:rPr lang="en-US" altLang="zh-CN" sz="2800" b="1" spc="-7" dirty="0">
                <a:latin typeface="Times New Roman"/>
                <a:cs typeface="Times New Roman"/>
              </a:rPr>
              <a:t> </a:t>
            </a:r>
            <a:r>
              <a:rPr lang="en-US" altLang="zh-CN" sz="2800" b="1" spc="-7" dirty="0">
                <a:latin typeface="Symbol"/>
                <a:cs typeface="Symbol"/>
              </a:rPr>
              <a:t></a:t>
            </a:r>
            <a:r>
              <a:rPr lang="en-US" altLang="zh-CN" sz="2800" b="1" spc="-7" dirty="0">
                <a:latin typeface="Times New Roman"/>
                <a:cs typeface="Times New Roman"/>
              </a:rPr>
              <a:t>( 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p +</a:t>
            </a:r>
            <a:r>
              <a:rPr lang="en-US" altLang="zh-CN" sz="2800" b="1" i="1" spc="-53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7" dirty="0">
                <a:latin typeface="Times New Roman"/>
                <a:cs typeface="Times New Roman"/>
              </a:rPr>
              <a:t>r</a:t>
            </a:r>
            <a:r>
              <a:rPr lang="en-US" altLang="zh-CN" sz="2800" b="1" spc="-7" dirty="0">
                <a:latin typeface="Times New Roman"/>
                <a:cs typeface="Times New Roman"/>
              </a:rPr>
              <a:t>)/2</a:t>
            </a:r>
            <a:r>
              <a:rPr lang="en-US" altLang="zh-CN" sz="2800" b="1" spc="-7" dirty="0" smtClean="0">
                <a:latin typeface="Symbol"/>
                <a:cs typeface="Symbol"/>
              </a:rPr>
              <a:t></a:t>
            </a:r>
          </a:p>
          <a:p>
            <a:pPr marL="531283" indent="-514350">
              <a:spcBef>
                <a:spcPts val="507"/>
              </a:spcBef>
              <a:buFontTx/>
              <a:buAutoNum type="arabicPeriod" startAt="2"/>
              <a:tabLst>
                <a:tab pos="566406" algn="l"/>
                <a:tab pos="1054920" algn="l"/>
              </a:tabLst>
            </a:pPr>
            <a:r>
              <a:rPr lang="fr-FR" altLang="zh-CN" sz="2800" b="1" spc="-7" dirty="0">
                <a:latin typeface="Times New Roman"/>
                <a:cs typeface="Times New Roman"/>
              </a:rPr>
              <a:t>Merge Sort (</a:t>
            </a:r>
            <a:r>
              <a:rPr lang="fr-FR" altLang="zh-CN" sz="2800" b="1" i="1" spc="-7" dirty="0">
                <a:latin typeface="Times New Roman"/>
                <a:cs typeface="Times New Roman"/>
              </a:rPr>
              <a:t>A, p,</a:t>
            </a:r>
            <a:r>
              <a:rPr lang="fr-FR" altLang="zh-CN" sz="2800" b="1" i="1" spc="-73" dirty="0">
                <a:latin typeface="Times New Roman"/>
                <a:cs typeface="Times New Roman"/>
              </a:rPr>
              <a:t> </a:t>
            </a:r>
            <a:r>
              <a:rPr lang="fr-FR" altLang="zh-CN" sz="2800" b="1" i="1" dirty="0">
                <a:latin typeface="Times New Roman"/>
                <a:cs typeface="Times New Roman"/>
              </a:rPr>
              <a:t>q</a:t>
            </a:r>
            <a:r>
              <a:rPr lang="fr-FR" altLang="zh-CN" sz="2800" b="1" dirty="0" smtClean="0">
                <a:latin typeface="Times New Roman"/>
                <a:cs typeface="Times New Roman"/>
              </a:rPr>
              <a:t>)</a:t>
            </a:r>
          </a:p>
          <a:p>
            <a:pPr marL="531283" indent="-514350">
              <a:spcBef>
                <a:spcPts val="507"/>
              </a:spcBef>
              <a:buFontTx/>
              <a:buAutoNum type="arabicPeriod" startAt="2"/>
              <a:tabLst>
                <a:tab pos="566406" algn="l"/>
                <a:tab pos="1054920" algn="l"/>
              </a:tabLst>
            </a:pPr>
            <a:r>
              <a:rPr lang="pt-BR" altLang="zh-CN" sz="2800" b="1" spc="-7" dirty="0">
                <a:latin typeface="Times New Roman"/>
                <a:cs typeface="Times New Roman"/>
              </a:rPr>
              <a:t>Merge</a:t>
            </a:r>
            <a:r>
              <a:rPr lang="pt-BR" altLang="zh-CN" sz="2800" b="1" spc="-33" dirty="0">
                <a:latin typeface="Times New Roman"/>
                <a:cs typeface="Times New Roman"/>
              </a:rPr>
              <a:t> </a:t>
            </a:r>
            <a:r>
              <a:rPr lang="pt-BR" altLang="zh-CN" sz="2800" b="1" spc="-7" dirty="0">
                <a:latin typeface="Times New Roman"/>
                <a:cs typeface="Times New Roman"/>
              </a:rPr>
              <a:t>Sort</a:t>
            </a:r>
            <a:r>
              <a:rPr lang="pt-BR" altLang="zh-CN" sz="2800" b="1" spc="-13" dirty="0">
                <a:latin typeface="Times New Roman"/>
                <a:cs typeface="Times New Roman"/>
              </a:rPr>
              <a:t> </a:t>
            </a:r>
            <a:r>
              <a:rPr lang="pt-BR" altLang="zh-CN" sz="2800" b="1" spc="-7" dirty="0">
                <a:latin typeface="Times New Roman"/>
                <a:cs typeface="Times New Roman"/>
              </a:rPr>
              <a:t>(</a:t>
            </a:r>
            <a:r>
              <a:rPr lang="pt-BR" altLang="zh-CN" sz="2800" b="1" i="1" spc="-7" dirty="0">
                <a:latin typeface="Times New Roman"/>
                <a:cs typeface="Times New Roman"/>
              </a:rPr>
              <a:t>A,</a:t>
            </a:r>
            <a:r>
              <a:rPr lang="pt-BR" altLang="zh-CN" sz="2800" b="1" i="1" spc="-13" dirty="0">
                <a:latin typeface="Times New Roman"/>
                <a:cs typeface="Times New Roman"/>
              </a:rPr>
              <a:t> </a:t>
            </a:r>
            <a:r>
              <a:rPr lang="pt-BR" altLang="zh-CN" sz="2800" b="1" i="1" dirty="0">
                <a:latin typeface="Times New Roman"/>
                <a:cs typeface="Times New Roman"/>
              </a:rPr>
              <a:t>q</a:t>
            </a:r>
            <a:r>
              <a:rPr lang="pt-BR" altLang="zh-CN" sz="2800" b="1" dirty="0">
                <a:latin typeface="Times New Roman"/>
                <a:cs typeface="Times New Roman"/>
              </a:rPr>
              <a:t>+1, </a:t>
            </a:r>
            <a:r>
              <a:rPr lang="pt-BR" altLang="zh-CN" sz="2800" b="1" i="1" spc="-7" dirty="0">
                <a:latin typeface="Times New Roman"/>
                <a:cs typeface="Times New Roman"/>
              </a:rPr>
              <a:t>r</a:t>
            </a:r>
            <a:r>
              <a:rPr lang="pt-BR" altLang="zh-CN" sz="2800" b="1" spc="-7" dirty="0" smtClean="0">
                <a:latin typeface="Times New Roman"/>
                <a:cs typeface="Times New Roman"/>
              </a:rPr>
              <a:t>)</a:t>
            </a:r>
          </a:p>
          <a:p>
            <a:pPr marL="531283" indent="-514350">
              <a:spcBef>
                <a:spcPts val="507"/>
              </a:spcBef>
              <a:buFontTx/>
              <a:buAutoNum type="arabicPeriod" startAt="2"/>
              <a:tabLst>
                <a:tab pos="566406" algn="l"/>
                <a:tab pos="1054920" algn="l"/>
              </a:tabLst>
            </a:pPr>
            <a:r>
              <a:rPr lang="pt-BR" altLang="zh-CN" sz="2800" b="1" spc="-7" dirty="0">
                <a:latin typeface="Times New Roman"/>
                <a:cs typeface="Times New Roman"/>
              </a:rPr>
              <a:t>Merge (</a:t>
            </a:r>
            <a:r>
              <a:rPr lang="pt-BR" altLang="zh-CN" sz="2800" b="1" i="1" spc="-7" dirty="0">
                <a:latin typeface="Times New Roman"/>
                <a:cs typeface="Times New Roman"/>
              </a:rPr>
              <a:t>A, p, q,</a:t>
            </a:r>
            <a:r>
              <a:rPr lang="pt-BR" altLang="zh-CN" sz="2800" b="1" i="1" spc="-73" dirty="0">
                <a:latin typeface="Times New Roman"/>
                <a:cs typeface="Times New Roman"/>
              </a:rPr>
              <a:t> </a:t>
            </a:r>
            <a:r>
              <a:rPr lang="pt-BR" altLang="zh-CN" sz="2800" b="1" i="1" dirty="0">
                <a:latin typeface="Times New Roman"/>
                <a:cs typeface="Times New Roman"/>
              </a:rPr>
              <a:t>r</a:t>
            </a:r>
            <a:r>
              <a:rPr lang="pt-BR" altLang="zh-CN" sz="2800" b="1" dirty="0" smtClean="0">
                <a:latin typeface="Times New Roman"/>
                <a:cs typeface="Times New Roman"/>
              </a:rPr>
              <a:t>)</a:t>
            </a:r>
            <a:endParaRPr lang="en-US" altLang="zh-CN" sz="2800" dirty="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5934" y="4030635"/>
            <a:ext cx="1663700" cy="5557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18530" marR="6773" indent="-101597">
              <a:lnSpc>
                <a:spcPct val="125000"/>
              </a:lnSpc>
              <a:spcBef>
                <a:spcPts val="133"/>
              </a:spcBef>
            </a:pPr>
            <a:r>
              <a:rPr sz="2800" b="1" spc="-7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子问</a:t>
            </a:r>
            <a:r>
              <a:rPr sz="2800" b="1" spc="-13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题</a:t>
            </a:r>
            <a:r>
              <a:rPr sz="2800" b="1" spc="-7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1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970362" y="4459265"/>
            <a:ext cx="1495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799">
              <a:spcBef>
                <a:spcPts val="127"/>
              </a:spcBef>
            </a:pPr>
            <a:r>
              <a:rPr lang="zh-CN" altLang="en-US" sz="2800" b="1" spc="-7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子</a:t>
            </a:r>
            <a:r>
              <a:rPr lang="zh-CN" altLang="en-US" sz="2800" b="1" spc="-7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问题</a:t>
            </a:r>
            <a:r>
              <a:rPr lang="en-US" altLang="zh-CN" sz="2800" b="1" spc="-7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2</a:t>
            </a:r>
            <a:endParaRPr lang="zh-CN" altLang="en-US" sz="2800" b="1" spc="-7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95934" y="4982682"/>
            <a:ext cx="12765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zh-CN" altLang="en-US" sz="2800" b="1" spc="-7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综合解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95934" y="3591795"/>
            <a:ext cx="16237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-7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对半划分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761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173" y="245945"/>
            <a:ext cx="8915544" cy="65695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归并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序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sz="4000" b="1" spc="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思想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153" y="1223240"/>
            <a:ext cx="8915544" cy="3952278"/>
          </a:xfrm>
          <a:prstGeom prst="rect">
            <a:avLst/>
          </a:prstGeom>
        </p:spPr>
        <p:txBody>
          <a:bodyPr vert="horz" wrap="square" lIns="0" tIns="80433" rIns="0" bIns="0" rtlCol="0">
            <a:spAutoFit/>
          </a:bodyPr>
          <a:lstStyle/>
          <a:p>
            <a:pPr indent="-457189" algn="just">
              <a:lnSpc>
                <a:spcPts val="4500"/>
              </a:lnSpc>
              <a:spcBef>
                <a:spcPts val="1800"/>
              </a:spcBef>
              <a:buFont typeface="Arial"/>
              <a:buChar char="•"/>
              <a:tabLst>
                <a:tab pos="474121" algn="l"/>
              </a:tabLst>
            </a:pPr>
            <a:r>
              <a:rPr sz="3200" b="1" spc="-2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划</a:t>
            </a:r>
            <a:r>
              <a:rPr sz="32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分将原问</a:t>
            </a:r>
            <a:r>
              <a:rPr sz="32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</a:t>
            </a:r>
            <a:r>
              <a:rPr sz="32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</a:t>
            </a:r>
            <a:r>
              <a:rPr sz="3200" b="1" spc="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</a:t>
            </a:r>
            <a:r>
              <a:rPr sz="32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sz="32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规</a:t>
            </a:r>
            <a:r>
              <a:rPr sz="3200" b="1" spc="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sz="3200" b="1" spc="-2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87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3200" b="1" spc="-87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sz="3200" b="1" i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/2 </a:t>
            </a:r>
            <a:r>
              <a:rPr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子问</a:t>
            </a:r>
            <a:r>
              <a:rPr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</a:t>
            </a:r>
            <a:endParaRPr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6773" indent="-457189" algn="just">
              <a:lnSpc>
                <a:spcPts val="4500"/>
              </a:lnSpc>
              <a:spcBef>
                <a:spcPts val="1800"/>
              </a:spcBef>
              <a:buFont typeface="Arial"/>
              <a:buChar char="•"/>
              <a:tabLst>
                <a:tab pos="474121" algn="l"/>
              </a:tabLst>
            </a:pP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继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续划分，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原问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为规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 </a:t>
            </a:r>
            <a:r>
              <a:rPr sz="32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/4</a:t>
            </a:r>
            <a:r>
              <a:rPr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sz="3200" b="1" spc="-88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问题.</a:t>
            </a:r>
            <a:r>
              <a:rPr sz="3200" b="1" spc="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继续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...，</a:t>
            </a:r>
            <a:r>
              <a:rPr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sz="3200" b="1" spc="-7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</a:t>
            </a:r>
            <a:r>
              <a:rPr sz="3200" b="1" spc="-2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</a:t>
            </a:r>
            <a:r>
              <a:rPr sz="32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规模为</a:t>
            </a:r>
            <a:r>
              <a:rPr lang="en-US"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sz="3200" b="1" spc="2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，划分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结束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149010" indent="-457189" algn="just">
              <a:lnSpc>
                <a:spcPts val="4500"/>
              </a:lnSpc>
              <a:spcBef>
                <a:spcPts val="1800"/>
              </a:spcBef>
              <a:buFont typeface="Arial"/>
              <a:buChar char="•"/>
              <a:tabLst>
                <a:tab pos="474121" algn="l"/>
              </a:tabLst>
            </a:pPr>
            <a:r>
              <a:rPr sz="3200" b="1" spc="-13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从规</a:t>
            </a:r>
            <a:r>
              <a:rPr sz="3200" b="1" spc="-2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sz="3200" b="1" spc="-86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sz="3200" b="1" spc="-88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i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/2，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陆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续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被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排</a:t>
            </a:r>
            <a:r>
              <a:rPr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好序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的两个子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sz="3200" b="1" spc="8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每归并一次，数</a:t>
            </a:r>
            <a:r>
              <a:rPr lang="zh-CN" altLang="en-US"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组规模扩大一倍，直到原始数组</a:t>
            </a:r>
            <a:r>
              <a:rPr lang="en-US" altLang="zh-CN"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3200" b="1" spc="-2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07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196" y="254540"/>
            <a:ext cx="8867992" cy="65695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355591" marR="6773" indent="-339505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二分归并排序时</a:t>
            </a:r>
            <a:r>
              <a:rPr sz="4000" b="1" spc="-2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间复杂度分析</a:t>
            </a:r>
            <a:endParaRPr sz="4000" b="1" spc="-2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04387" y="-188913"/>
            <a:ext cx="246887" cy="263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04387" y="-188913"/>
            <a:ext cx="246887" cy="263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465196" y="1467342"/>
            <a:ext cx="8867992" cy="2402367"/>
          </a:xfrm>
          <a:prstGeom prst="rect">
            <a:avLst/>
          </a:prstGeom>
        </p:spPr>
        <p:txBody>
          <a:bodyPr vert="horz" wrap="square" lIns="0" tIns="42333" rIns="0" bIns="0" rtlCol="0">
            <a:spAutoFit/>
          </a:bodyPr>
          <a:lstStyle/>
          <a:p>
            <a:pPr marL="16933" marR="6773" algn="just">
              <a:lnSpc>
                <a:spcPts val="4080"/>
              </a:lnSpc>
              <a:spcBef>
                <a:spcPts val="333"/>
              </a:spcBef>
            </a:pPr>
            <a:r>
              <a:rPr sz="3200" b="1" spc="-13" dirty="0" err="1" smtClean="0">
                <a:latin typeface="宋体"/>
                <a:cs typeface="宋体"/>
              </a:rPr>
              <a:t>假设</a:t>
            </a:r>
            <a:r>
              <a:rPr lang="en-US" sz="3200" b="1" spc="-13" dirty="0" smtClean="0">
                <a:latin typeface="宋体"/>
                <a:cs typeface="宋体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n</a:t>
            </a:r>
            <a:r>
              <a:rPr lang="en-US"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spc="-13" dirty="0" smtClean="0">
                <a:latin typeface="宋体"/>
                <a:cs typeface="宋体"/>
              </a:rPr>
              <a:t>为</a:t>
            </a:r>
            <a:r>
              <a:rPr lang="en-US" sz="3200" b="1" spc="-13" dirty="0" smtClean="0">
                <a:latin typeface="宋体"/>
                <a:cs typeface="宋体"/>
              </a:rPr>
              <a:t> </a:t>
            </a:r>
            <a:r>
              <a:rPr sz="3200" b="1" spc="7" dirty="0" smtClean="0">
                <a:latin typeface="Times New Roman"/>
                <a:cs typeface="Times New Roman"/>
              </a:rPr>
              <a:t>2</a:t>
            </a:r>
            <a:r>
              <a:rPr lang="en-US" sz="3200" b="1" spc="7" dirty="0" smtClean="0">
                <a:latin typeface="Times New Roman"/>
                <a:cs typeface="Times New Roman"/>
              </a:rPr>
              <a:t> </a:t>
            </a:r>
            <a:r>
              <a:rPr sz="3200" b="1" spc="-7" dirty="0" err="1" smtClean="0">
                <a:latin typeface="宋体"/>
                <a:cs typeface="宋体"/>
              </a:rPr>
              <a:t>的幂</a:t>
            </a:r>
            <a:r>
              <a:rPr sz="3200" b="1" dirty="0" err="1">
                <a:latin typeface="宋体"/>
                <a:cs typeface="宋体"/>
              </a:rPr>
              <a:t>，</a:t>
            </a:r>
            <a:r>
              <a:rPr sz="3200" b="1" spc="-7" dirty="0" err="1" smtClean="0">
                <a:latin typeface="宋体"/>
                <a:cs typeface="宋体"/>
              </a:rPr>
              <a:t>二</a:t>
            </a:r>
            <a:r>
              <a:rPr sz="3200" b="1" dirty="0" err="1" smtClean="0">
                <a:latin typeface="宋体"/>
                <a:cs typeface="宋体"/>
              </a:rPr>
              <a:t>分</a:t>
            </a:r>
            <a:r>
              <a:rPr sz="3200" b="1" spc="-7" dirty="0" err="1" smtClean="0">
                <a:latin typeface="宋体"/>
                <a:cs typeface="宋体"/>
              </a:rPr>
              <a:t>归</a:t>
            </a:r>
            <a:r>
              <a:rPr sz="3200" b="1" dirty="0" err="1" smtClean="0">
                <a:latin typeface="宋体"/>
                <a:cs typeface="宋体"/>
              </a:rPr>
              <a:t>并</a:t>
            </a:r>
            <a:r>
              <a:rPr sz="3200" b="1" spc="-7" dirty="0" err="1" smtClean="0">
                <a:latin typeface="宋体"/>
                <a:cs typeface="宋体"/>
              </a:rPr>
              <a:t>排序</a:t>
            </a:r>
            <a:r>
              <a:rPr sz="3200" b="1" dirty="0" err="1" smtClean="0">
                <a:latin typeface="宋体"/>
                <a:cs typeface="宋体"/>
              </a:rPr>
              <a:t>最</a:t>
            </a:r>
            <a:r>
              <a:rPr sz="3200" b="1" spc="-13" dirty="0" err="1" smtClean="0">
                <a:latin typeface="宋体"/>
                <a:cs typeface="宋体"/>
              </a:rPr>
              <a:t>坏</a:t>
            </a:r>
            <a:r>
              <a:rPr sz="3200" b="1" spc="-20" dirty="0" err="1" smtClean="0">
                <a:latin typeface="宋体"/>
                <a:cs typeface="宋体"/>
              </a:rPr>
              <a:t>情</a:t>
            </a:r>
            <a:r>
              <a:rPr sz="3200" b="1" spc="-7" dirty="0" err="1" smtClean="0">
                <a:latin typeface="宋体"/>
                <a:cs typeface="宋体"/>
              </a:rPr>
              <a:t>况下时间</a:t>
            </a:r>
            <a:r>
              <a:rPr sz="3200" b="1" dirty="0" err="1" smtClean="0">
                <a:latin typeface="宋体"/>
                <a:cs typeface="宋体"/>
              </a:rPr>
              <a:t>复</a:t>
            </a:r>
            <a:r>
              <a:rPr sz="3200" b="1" spc="-7" dirty="0" err="1" smtClean="0">
                <a:latin typeface="宋体"/>
                <a:cs typeface="宋体"/>
              </a:rPr>
              <a:t>杂</a:t>
            </a:r>
            <a:r>
              <a:rPr sz="3200" b="1" spc="-20" dirty="0" err="1" smtClean="0">
                <a:latin typeface="宋体"/>
                <a:cs typeface="宋体"/>
              </a:rPr>
              <a:t>度</a:t>
            </a:r>
            <a:endParaRPr sz="3200" dirty="0">
              <a:latin typeface="宋体"/>
              <a:cs typeface="宋体"/>
            </a:endParaRPr>
          </a:p>
          <a:p>
            <a:pPr marR="1931198">
              <a:lnSpc>
                <a:spcPts val="4947"/>
              </a:lnSpc>
              <a:spcBef>
                <a:spcPts val="233"/>
              </a:spcBef>
            </a:pPr>
            <a:r>
              <a:rPr lang="en-US" sz="3200" b="1" i="1" spc="-7" dirty="0" smtClean="0">
                <a:latin typeface="Times New Roman"/>
                <a:cs typeface="Times New Roman"/>
              </a:rPr>
              <a:t>           </a:t>
            </a:r>
            <a:r>
              <a:rPr sz="3200" b="1" i="1" spc="-7" dirty="0" smtClean="0">
                <a:latin typeface="Times New Roman"/>
                <a:cs typeface="Times New Roman"/>
              </a:rPr>
              <a:t>W</a:t>
            </a:r>
            <a:r>
              <a:rPr sz="3200" b="1" spc="-7" dirty="0" smtClean="0">
                <a:latin typeface="Times New Roman"/>
                <a:cs typeface="Times New Roman"/>
              </a:rPr>
              <a:t>(</a:t>
            </a:r>
            <a:r>
              <a:rPr sz="3200" b="1" i="1" spc="-7" dirty="0" smtClean="0">
                <a:latin typeface="Times New Roman"/>
                <a:cs typeface="Times New Roman"/>
              </a:rPr>
              <a:t>n</a:t>
            </a:r>
            <a:r>
              <a:rPr sz="3200" b="1" spc="-7" dirty="0" smtClean="0">
                <a:latin typeface="Times New Roman"/>
                <a:cs typeface="Times New Roman"/>
              </a:rPr>
              <a:t>) = 2</a:t>
            </a:r>
            <a:r>
              <a:rPr sz="3200" b="1" i="1" spc="-7" dirty="0" smtClean="0">
                <a:latin typeface="Times New Roman"/>
                <a:cs typeface="Times New Roman"/>
              </a:rPr>
              <a:t>W</a:t>
            </a:r>
            <a:r>
              <a:rPr sz="3200" b="1" spc="-7" dirty="0" smtClean="0">
                <a:latin typeface="Times New Roman"/>
                <a:cs typeface="Times New Roman"/>
              </a:rPr>
              <a:t>(</a:t>
            </a:r>
            <a:r>
              <a:rPr sz="3200" b="1" i="1" spc="-7" dirty="0" smtClean="0">
                <a:latin typeface="Times New Roman"/>
                <a:cs typeface="Times New Roman"/>
              </a:rPr>
              <a:t>n</a:t>
            </a:r>
            <a:r>
              <a:rPr sz="3200" b="1" spc="-7" dirty="0" smtClean="0">
                <a:latin typeface="Times New Roman"/>
                <a:cs typeface="Times New Roman"/>
              </a:rPr>
              <a:t>/2) + </a:t>
            </a:r>
            <a:r>
              <a:rPr sz="3200" b="1" i="1" dirty="0" smtClean="0">
                <a:latin typeface="Times New Roman"/>
                <a:cs typeface="Times New Roman"/>
              </a:rPr>
              <a:t>n</a:t>
            </a:r>
            <a:r>
              <a:rPr sz="3200" b="1" dirty="0" smtClean="0">
                <a:latin typeface="Symbol"/>
                <a:cs typeface="Symbol"/>
              </a:rPr>
              <a:t></a:t>
            </a:r>
            <a:r>
              <a:rPr sz="3200" b="1" dirty="0" smtClean="0">
                <a:latin typeface="Times New Roman"/>
                <a:cs typeface="Times New Roman"/>
              </a:rPr>
              <a:t>1  </a:t>
            </a:r>
            <a:r>
              <a:rPr lang="en-US" sz="3200" b="1" dirty="0" smtClean="0">
                <a:latin typeface="Times New Roman"/>
                <a:cs typeface="Times New Roman"/>
              </a:rPr>
              <a:t>    </a:t>
            </a:r>
          </a:p>
          <a:p>
            <a:pPr marR="1931198">
              <a:lnSpc>
                <a:spcPts val="4947"/>
              </a:lnSpc>
              <a:spcBef>
                <a:spcPts val="233"/>
              </a:spcBef>
            </a:pPr>
            <a:r>
              <a:rPr lang="en-US" sz="3200" b="1" i="1" spc="-7" dirty="0">
                <a:latin typeface="Times New Roman"/>
                <a:cs typeface="Times New Roman"/>
              </a:rPr>
              <a:t> </a:t>
            </a:r>
            <a:r>
              <a:rPr lang="en-US" sz="3200" b="1" i="1" spc="-7" dirty="0" smtClean="0">
                <a:latin typeface="Times New Roman"/>
                <a:cs typeface="Times New Roman"/>
              </a:rPr>
              <a:t>         </a:t>
            </a:r>
            <a:r>
              <a:rPr sz="3200" b="1" i="1" spc="-7" dirty="0" smtClean="0">
                <a:latin typeface="Times New Roman"/>
                <a:cs typeface="Times New Roman"/>
              </a:rPr>
              <a:t>W</a:t>
            </a:r>
            <a:r>
              <a:rPr sz="3200" b="1" spc="-7" dirty="0" smtClean="0">
                <a:latin typeface="Times New Roman"/>
                <a:cs typeface="Times New Roman"/>
              </a:rPr>
              <a:t>(1) =</a:t>
            </a:r>
            <a:r>
              <a:rPr sz="3200" b="1" spc="-13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0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3338" y="4381310"/>
            <a:ext cx="3887893" cy="511251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= 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log</a:t>
            </a:r>
            <a:r>
              <a:rPr sz="3200" b="1" i="1" spc="-7" dirty="0">
                <a:latin typeface="Times New Roman"/>
                <a:cs typeface="Times New Roman"/>
              </a:rPr>
              <a:t>n </a:t>
            </a:r>
            <a:r>
              <a:rPr sz="3200" b="1" spc="-7" dirty="0">
                <a:latin typeface="Symbol"/>
                <a:cs typeface="Symbol"/>
              </a:rPr>
              <a:t>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n </a:t>
            </a:r>
            <a:r>
              <a:rPr sz="3200" b="1" spc="-7" dirty="0">
                <a:latin typeface="Times New Roman"/>
                <a:cs typeface="Times New Roman"/>
              </a:rPr>
              <a:t>+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7320" y="4321011"/>
            <a:ext cx="3775521" cy="720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1931198">
              <a:lnSpc>
                <a:spcPts val="4947"/>
              </a:lnSpc>
              <a:spcBef>
                <a:spcPts val="233"/>
              </a:spcBef>
            </a:pPr>
            <a:r>
              <a:rPr lang="zh-CN" altLang="en-US" sz="3200" b="1" spc="-20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可</a:t>
            </a:r>
            <a:r>
              <a:rPr lang="zh-CN" altLang="en-US" sz="32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以解</a:t>
            </a:r>
            <a:r>
              <a:rPr lang="zh-CN" altLang="en-US" sz="3200" b="1" spc="-20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出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05798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301" y="234513"/>
            <a:ext cx="8852543" cy="65695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Hanoi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塔的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归</a:t>
            </a:r>
            <a:r>
              <a:rPr sz="4000" b="1" spc="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4294967295"/>
          </p:nvPr>
        </p:nvSpPr>
        <p:spPr>
          <a:xfrm>
            <a:off x="420301" y="1065880"/>
            <a:ext cx="8965437" cy="1561966"/>
          </a:xfrm>
          <a:prstGeom prst="rect">
            <a:avLst/>
          </a:prstGeom>
          <a:noFill/>
        </p:spPr>
        <p:txBody>
          <a:bodyPr vert="horz" wrap="square" lIns="0" tIns="101600" rIns="0" bIns="0" rtlCol="0">
            <a:spAutoFit/>
          </a:bodyPr>
          <a:lstStyle/>
          <a:p>
            <a:pPr marL="16933">
              <a:lnSpc>
                <a:spcPct val="100000"/>
              </a:lnSpc>
              <a:spcBef>
                <a:spcPts val="800"/>
              </a:spcBef>
              <a:tabLst>
                <a:tab pos="4151103" algn="l"/>
              </a:tabLst>
            </a:pP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sz="2800" b="1" spc="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sz="2800" b="1" spc="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sz="28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	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sz="2800" b="1" spc="-2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个盘子</a:t>
            </a:r>
            <a:r>
              <a:rPr sz="2800" b="1" i="1" spc="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  <a:p>
            <a:pPr marL="524920" indent="-507987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4074" algn="l"/>
                <a:tab pos="524920" algn="l"/>
                <a:tab pos="4750528" algn="l"/>
              </a:tabLst>
            </a:pPr>
            <a:r>
              <a:rPr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i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 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then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move 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	/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个盘子</a:t>
            </a:r>
            <a:r>
              <a:rPr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  <a:p>
            <a:pPr marL="524920" indent="-507987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524074" algn="l"/>
                <a:tab pos="524920" algn="l"/>
                <a:tab pos="1357173" algn="l"/>
              </a:tabLst>
            </a:pP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else	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Hanoi 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sz="28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sz="28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i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spc="-7" dirty="0">
                <a:latin typeface="Symbol"/>
                <a:cs typeface="Symbol"/>
              </a:rPr>
              <a:t>  </a:t>
            </a:r>
            <a:r>
              <a:rPr sz="28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1540" y="2534035"/>
            <a:ext cx="339513" cy="10541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6933">
              <a:spcBef>
                <a:spcPts val="800"/>
              </a:spcBef>
            </a:pPr>
            <a:r>
              <a:rPr sz="2800" b="1" dirty="0">
                <a:latin typeface="Times New Roman"/>
                <a:cs typeface="Times New Roman"/>
              </a:rPr>
              <a:t>3.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679"/>
              </a:spcBef>
            </a:pPr>
            <a:r>
              <a:rPr sz="2800" b="1" dirty="0">
                <a:latin typeface="Times New Roman"/>
                <a:cs typeface="Times New Roman"/>
              </a:rPr>
              <a:t>4.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0124" y="2586585"/>
            <a:ext cx="7346730" cy="1046013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marR="6773">
              <a:lnSpc>
                <a:spcPct val="117600"/>
              </a:lnSpc>
              <a:spcBef>
                <a:spcPts val="127"/>
              </a:spcBef>
            </a:pPr>
            <a:r>
              <a:rPr sz="2800" b="1" spc="-7" dirty="0">
                <a:latin typeface="Times New Roman"/>
                <a:cs typeface="Times New Roman"/>
              </a:rPr>
              <a:t>move (</a:t>
            </a:r>
            <a:r>
              <a:rPr sz="2800" b="1" i="1" spc="-7" dirty="0">
                <a:latin typeface="Times New Roman"/>
                <a:cs typeface="Times New Roman"/>
              </a:rPr>
              <a:t>A</a:t>
            </a:r>
            <a:r>
              <a:rPr sz="2800" b="1" spc="-7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dirty="0">
                <a:latin typeface="Times New Roman"/>
                <a:cs typeface="Times New Roman"/>
              </a:rPr>
              <a:t>)  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 marL="16933" marR="6773">
              <a:lnSpc>
                <a:spcPct val="117600"/>
              </a:lnSpc>
              <a:spcBef>
                <a:spcPts val="127"/>
              </a:spcBef>
            </a:pPr>
            <a:r>
              <a:rPr sz="2800" b="1" spc="-7" dirty="0" smtClean="0">
                <a:latin typeface="Times New Roman"/>
                <a:cs typeface="Times New Roman"/>
              </a:rPr>
              <a:t>Hanoi 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B</a:t>
            </a:r>
            <a:r>
              <a:rPr sz="2800" b="1" spc="-7" dirty="0">
                <a:latin typeface="Times New Roman"/>
                <a:cs typeface="Times New Roman"/>
              </a:rPr>
              <a:t>, </a:t>
            </a:r>
            <a:r>
              <a:rPr sz="2800" b="1" i="1" spc="-7" dirty="0">
                <a:latin typeface="Times New Roman"/>
                <a:cs typeface="Times New Roman"/>
              </a:rPr>
              <a:t>C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-93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1)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540" y="3799403"/>
            <a:ext cx="8954198" cy="221000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957556" marR="40639" indent="-907604">
              <a:lnSpc>
                <a:spcPct val="125000"/>
              </a:lnSpc>
              <a:spcBef>
                <a:spcPts val="133"/>
              </a:spcBef>
            </a:pPr>
            <a:r>
              <a:rPr sz="2800" b="1" spc="-13" dirty="0">
                <a:latin typeface="宋体"/>
                <a:cs typeface="宋体"/>
              </a:rPr>
              <a:t>设</a:t>
            </a:r>
            <a:r>
              <a:rPr sz="2800" b="1" spc="-860" dirty="0">
                <a:latin typeface="宋体"/>
                <a:cs typeface="宋体"/>
              </a:rPr>
              <a:t> </a:t>
            </a:r>
            <a:r>
              <a:rPr sz="2800" b="1" i="1" spc="-13" dirty="0">
                <a:latin typeface="Times New Roman"/>
                <a:cs typeface="Times New Roman"/>
              </a:rPr>
              <a:t>n</a:t>
            </a:r>
            <a:r>
              <a:rPr sz="2800" b="1" spc="-13" dirty="0">
                <a:latin typeface="宋体"/>
                <a:cs typeface="宋体"/>
              </a:rPr>
              <a:t>个</a:t>
            </a:r>
            <a:r>
              <a:rPr sz="2800" b="1" spc="-7" dirty="0">
                <a:latin typeface="宋体"/>
                <a:cs typeface="宋体"/>
              </a:rPr>
              <a:t>盘子的移</a:t>
            </a:r>
            <a:r>
              <a:rPr sz="2800" b="1" spc="7" dirty="0">
                <a:latin typeface="宋体"/>
                <a:cs typeface="宋体"/>
              </a:rPr>
              <a:t>动</a:t>
            </a:r>
            <a:r>
              <a:rPr sz="2800" b="1" spc="-7" dirty="0">
                <a:latin typeface="宋体"/>
                <a:cs typeface="宋体"/>
              </a:rPr>
              <a:t>次数</a:t>
            </a:r>
            <a:r>
              <a:rPr sz="2800" b="1" spc="-13" dirty="0">
                <a:latin typeface="宋体"/>
                <a:cs typeface="宋体"/>
              </a:rPr>
              <a:t>为</a:t>
            </a:r>
            <a:r>
              <a:rPr sz="2800" b="1" spc="-813" dirty="0">
                <a:latin typeface="宋体"/>
                <a:cs typeface="宋体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T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  </a:t>
            </a:r>
            <a:endParaRPr lang="en-US" sz="2800" b="1" spc="-7" dirty="0" smtClean="0">
              <a:latin typeface="Times New Roman"/>
              <a:cs typeface="Times New Roman"/>
            </a:endParaRPr>
          </a:p>
          <a:p>
            <a:pPr marL="957556" marR="40639" indent="-907604" algn="ctr">
              <a:lnSpc>
                <a:spcPct val="125000"/>
              </a:lnSpc>
              <a:spcBef>
                <a:spcPts val="133"/>
              </a:spcBef>
            </a:pPr>
            <a:r>
              <a:rPr sz="2800" b="1" i="1" spc="-7" dirty="0" smtClean="0">
                <a:latin typeface="Times New Roman"/>
                <a:cs typeface="Times New Roman"/>
              </a:rPr>
              <a:t>T</a:t>
            </a:r>
            <a:r>
              <a:rPr sz="2800" b="1" spc="-7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dirty="0" smtClean="0">
                <a:latin typeface="Times New Roman"/>
                <a:cs typeface="Times New Roman"/>
              </a:rPr>
              <a:t>2</a:t>
            </a:r>
            <a:r>
              <a:rPr sz="2800" b="1" i="1" spc="-7" dirty="0" smtClean="0">
                <a:latin typeface="Times New Roman"/>
                <a:cs typeface="Times New Roman"/>
              </a:rPr>
              <a:t>T</a:t>
            </a:r>
            <a:r>
              <a:rPr sz="2800" b="1" spc="-7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1)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47" dirty="0">
                <a:latin typeface="Times New Roman"/>
                <a:cs typeface="Times New Roman"/>
              </a:rPr>
              <a:t> </a:t>
            </a:r>
            <a:r>
              <a:rPr sz="2800" b="1" spc="-13" dirty="0" smtClean="0">
                <a:latin typeface="Times New Roman"/>
                <a:cs typeface="Times New Roman"/>
              </a:rPr>
              <a:t>1</a:t>
            </a:r>
            <a:r>
              <a:rPr sz="2800" b="1" spc="-13" dirty="0" smtClean="0">
                <a:latin typeface="宋体"/>
                <a:cs typeface="宋体"/>
              </a:rPr>
              <a:t>，</a:t>
            </a:r>
            <a:endParaRPr lang="en-US" sz="2800" dirty="0">
              <a:latin typeface="宋体"/>
              <a:cs typeface="宋体"/>
            </a:endParaRPr>
          </a:p>
          <a:p>
            <a:pPr marL="957556" marR="40639" indent="-907604">
              <a:lnSpc>
                <a:spcPct val="125000"/>
              </a:lnSpc>
              <a:spcBef>
                <a:spcPts val="133"/>
              </a:spcBef>
            </a:pPr>
            <a:r>
              <a:rPr lang="en-US" sz="2800" b="1" i="1" spc="-7" dirty="0">
                <a:latin typeface="宋体"/>
                <a:cs typeface="Times New Roman"/>
              </a:rPr>
              <a:t> </a:t>
            </a:r>
            <a:r>
              <a:rPr lang="en-US" sz="2800" b="1" i="1" spc="-7" dirty="0" smtClean="0">
                <a:latin typeface="宋体"/>
                <a:cs typeface="Times New Roman"/>
              </a:rPr>
              <a:t>               </a:t>
            </a:r>
            <a:r>
              <a:rPr sz="2800" b="1" i="1" spc="-7" dirty="0" smtClean="0">
                <a:latin typeface="Times New Roman"/>
                <a:cs typeface="Times New Roman"/>
              </a:rPr>
              <a:t>T</a:t>
            </a:r>
            <a:r>
              <a:rPr sz="2800" b="1" spc="-7" dirty="0" smtClean="0">
                <a:latin typeface="Times New Roman"/>
                <a:cs typeface="Times New Roman"/>
              </a:rPr>
              <a:t>(1</a:t>
            </a:r>
            <a:r>
              <a:rPr sz="2800" b="1" spc="-7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spc="-13" dirty="0" smtClean="0">
                <a:latin typeface="Times New Roman"/>
                <a:cs typeface="Times New Roman"/>
              </a:rPr>
              <a:t>1</a:t>
            </a:r>
            <a:r>
              <a:rPr lang="en-US" sz="2800" b="1" spc="-13" dirty="0" smtClean="0">
                <a:latin typeface="宋体"/>
                <a:cs typeface="Times New Roman"/>
              </a:rPr>
              <a:t>,</a:t>
            </a:r>
          </a:p>
          <a:p>
            <a:pPr marL="957556" marR="40639" indent="-907604">
              <a:lnSpc>
                <a:spcPct val="125000"/>
              </a:lnSpc>
              <a:spcBef>
                <a:spcPts val="133"/>
              </a:spcBef>
            </a:pPr>
            <a:r>
              <a:rPr lang="en-US" sz="2800" b="1" i="1" spc="-13" dirty="0">
                <a:latin typeface="宋体"/>
                <a:cs typeface="Times New Roman"/>
              </a:rPr>
              <a:t> </a:t>
            </a:r>
            <a:r>
              <a:rPr lang="en-US" sz="2800" b="1" i="1" spc="-13" dirty="0" smtClean="0">
                <a:latin typeface="宋体"/>
                <a:cs typeface="Times New Roman"/>
              </a:rPr>
              <a:t>               </a:t>
            </a:r>
            <a:r>
              <a:rPr sz="2800" b="1" i="1" spc="-7" dirty="0" smtClean="0">
                <a:latin typeface="Times New Roman"/>
                <a:cs typeface="Times New Roman"/>
              </a:rPr>
              <a:t>T</a:t>
            </a:r>
            <a:r>
              <a:rPr sz="2800" b="1" spc="-7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n</a:t>
            </a:r>
            <a:r>
              <a:rPr sz="2800" b="1" spc="-7" dirty="0" smtClean="0">
                <a:latin typeface="Times New Roman"/>
                <a:cs typeface="Times New Roman"/>
              </a:rPr>
              <a:t>)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spc="-7" dirty="0" smtClean="0">
                <a:latin typeface="Times New Roman"/>
                <a:cs typeface="Times New Roman"/>
              </a:rPr>
              <a:t>=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spc="-7" dirty="0" smtClean="0">
                <a:latin typeface="Times New Roman"/>
                <a:cs typeface="Times New Roman"/>
              </a:rPr>
              <a:t>2</a:t>
            </a:r>
            <a:r>
              <a:rPr sz="2800" b="1" i="1" spc="-9" baseline="24305" dirty="0" smtClean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Symbol"/>
                <a:cs typeface="Symbol"/>
              </a:rPr>
              <a:t></a:t>
            </a:r>
            <a:r>
              <a:rPr sz="2800" b="1" spc="-7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76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331" y="232407"/>
            <a:ext cx="9122979" cy="63265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算法设计思想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9685" y="1375297"/>
            <a:ext cx="8841970" cy="37414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marR="444489" indent="-457189" algn="just">
              <a:lnSpc>
                <a:spcPct val="112100"/>
              </a:lnSpc>
              <a:spcBef>
                <a:spcPts val="1800"/>
              </a:spcBef>
              <a:buFont typeface="Arial"/>
              <a:buChar char="•"/>
              <a:tabLst>
                <a:tab pos="474121" algn="l"/>
              </a:tabLst>
            </a:pPr>
            <a:r>
              <a:rPr sz="32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sz="3200" b="1" spc="-2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</a:t>
            </a:r>
            <a:r>
              <a:rPr sz="32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sz="32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题归</a:t>
            </a:r>
            <a:r>
              <a:rPr sz="3200" b="1" spc="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</a:t>
            </a:r>
            <a:r>
              <a:rPr sz="32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为规</a:t>
            </a:r>
            <a:r>
              <a:rPr sz="32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sz="3200" b="1" spc="-2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88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sz="3200" b="1" spc="-3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sz="3200" b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子问题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74121" marR="118530" indent="-457189" algn="just">
              <a:lnSpc>
                <a:spcPct val="112100"/>
              </a:lnSpc>
              <a:spcBef>
                <a:spcPts val="1800"/>
              </a:spcBef>
              <a:buFont typeface="Arial"/>
              <a:buChar char="•"/>
              <a:tabLst>
                <a:tab pos="474121" algn="l"/>
              </a:tabLst>
            </a:pP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继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续归约，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原问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为规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 </a:t>
            </a:r>
            <a:r>
              <a:rPr sz="32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r>
              <a:rPr sz="3200" b="1" spc="-2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sz="3200" b="1" spc="-87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子问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题.</a:t>
            </a:r>
            <a:r>
              <a:rPr sz="3200" b="1" spc="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继续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...，</a:t>
            </a:r>
            <a:r>
              <a:rPr sz="32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sz="32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</a:t>
            </a:r>
            <a:r>
              <a:rPr sz="3200" b="1" spc="-2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sz="32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规模为</a:t>
            </a:r>
            <a:r>
              <a:rPr lang="en-US"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sz="3200" b="1" spc="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，归约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截止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74121" marR="6773" indent="-457189" algn="just">
              <a:lnSpc>
                <a:spcPct val="112100"/>
              </a:lnSpc>
              <a:spcBef>
                <a:spcPts val="1800"/>
              </a:spcBef>
              <a:buFont typeface="Arial"/>
              <a:buChar char="•"/>
              <a:tabLst>
                <a:tab pos="474121" algn="l"/>
              </a:tabLst>
            </a:pPr>
            <a:r>
              <a:rPr sz="3200" b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从规</a:t>
            </a:r>
            <a:r>
              <a:rPr sz="3200" b="1" spc="-2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en-US"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sz="3200" b="1" spc="-9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i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-1，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陆续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</a:t>
            </a:r>
            <a:r>
              <a:rPr sz="32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个子</a:t>
            </a:r>
            <a:r>
              <a:rPr sz="3200" b="1" spc="-2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sz="3200" b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题的解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sz="3200" b="1" spc="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spc="-2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</a:t>
            </a:r>
            <a:r>
              <a:rPr sz="32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sz="3200" b="1" spc="-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规模</a:t>
            </a:r>
            <a:r>
              <a:rPr sz="32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i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49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0412" y="1274859"/>
            <a:ext cx="8944305" cy="4140450"/>
          </a:xfrm>
          <a:prstGeom prst="rect">
            <a:avLst/>
          </a:prstGeom>
        </p:spPr>
        <p:txBody>
          <a:bodyPr vert="horz" wrap="square" lIns="0" tIns="165947" rIns="0" bIns="0" rtlCol="0">
            <a:spAutoFit/>
          </a:bodyPr>
          <a:lstStyle/>
          <a:p>
            <a:pPr marL="16933">
              <a:spcBef>
                <a:spcPts val="1307"/>
              </a:spcBef>
            </a:pPr>
            <a:r>
              <a:rPr sz="3200" b="1" spc="-13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通</a:t>
            </a:r>
            <a:r>
              <a:rPr sz="32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过</a:t>
            </a:r>
            <a:r>
              <a:rPr sz="3200" b="1" spc="-13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几</a:t>
            </a:r>
            <a:r>
              <a:rPr sz="32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个</a:t>
            </a:r>
            <a:r>
              <a:rPr sz="3200" b="1" spc="-13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例</a:t>
            </a:r>
            <a:r>
              <a:rPr sz="32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子展示分</a:t>
            </a:r>
            <a:r>
              <a:rPr sz="3200" b="1" spc="-13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治</a:t>
            </a:r>
            <a:r>
              <a:rPr sz="32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</a:t>
            </a:r>
            <a:r>
              <a:rPr sz="3200" b="1" spc="-7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法的</a:t>
            </a:r>
            <a:r>
              <a:rPr sz="3200" b="1" spc="-13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特</a:t>
            </a:r>
            <a:r>
              <a:rPr sz="32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点</a:t>
            </a:r>
            <a:r>
              <a:rPr sz="3200" b="1" spc="-13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endParaRPr lang="en-US" sz="3200" b="1" spc="-13" dirty="0" smtClean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74133" indent="-457200" algn="just">
              <a:spcBef>
                <a:spcPts val="1307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将原问题归约为规模小的子问题，子问题与原问题具有相同的性质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.</a:t>
            </a:r>
          </a:p>
          <a:p>
            <a:pPr marL="474133" indent="-457200" algn="just">
              <a:spcBef>
                <a:spcPts val="1307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子问题规模足够小时可直接求解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.</a:t>
            </a:r>
          </a:p>
          <a:p>
            <a:pPr marL="474133" indent="-457200" algn="just">
              <a:spcBef>
                <a:spcPts val="1307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算法可以递归也可以迭代实现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.</a:t>
            </a:r>
          </a:p>
          <a:p>
            <a:pPr marL="474133" indent="-457200" algn="just">
              <a:spcBef>
                <a:spcPts val="1307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算法的分析方法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：求解递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推方程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.</a:t>
            </a:r>
          </a:p>
          <a:p>
            <a:pPr marL="16933">
              <a:spcBef>
                <a:spcPts val="1307"/>
              </a:spcBef>
            </a:pPr>
            <a:endParaRPr sz="3200" b="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412" y="233554"/>
            <a:ext cx="8944305" cy="65695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104143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629666" y="1922967"/>
            <a:ext cx="6451600" cy="204842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algn="ctr">
              <a:lnSpc>
                <a:spcPct val="100000"/>
              </a:lnSpc>
              <a:spcBef>
                <a:spcPts val="133"/>
              </a:spcBef>
            </a:pPr>
            <a:r>
              <a:rPr sz="6600" spc="-3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sz="6600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治</a:t>
            </a:r>
            <a:r>
              <a:rPr sz="6600" spc="-3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</a:t>
            </a:r>
            <a:r>
              <a:rPr sz="6600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法的</a:t>
            </a:r>
            <a:r>
              <a:rPr sz="6600" spc="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sz="6600" spc="-2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般 描</a:t>
            </a:r>
            <a:r>
              <a:rPr sz="6600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述</a:t>
            </a:r>
            <a:r>
              <a:rPr sz="6600" spc="-3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sz="6600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r>
              <a:rPr sz="6600" spc="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</a:t>
            </a:r>
            <a:r>
              <a:rPr sz="6600" spc="-3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endParaRPr sz="66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463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322" y="257107"/>
            <a:ext cx="8865820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分治算法的一般性描述</a:t>
            </a:r>
            <a:endParaRPr b="1" spc="-13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7746" y="1494878"/>
            <a:ext cx="6716497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分治算</a:t>
            </a:r>
            <a:r>
              <a:rPr sz="3200" b="1" spc="-13" dirty="0">
                <a:solidFill>
                  <a:srgbClr val="C00000"/>
                </a:solidFill>
                <a:latin typeface="宋体"/>
                <a:cs typeface="宋体"/>
              </a:rPr>
              <a:t>法</a:t>
            </a:r>
            <a:r>
              <a:rPr sz="3200" b="1" spc="-93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</a:t>
            </a:r>
            <a:r>
              <a:rPr sz="3200" b="1" u="sng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ivide-and-Conquer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P</a:t>
            </a:r>
            <a:r>
              <a:rPr sz="3200" b="1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482" y="2051984"/>
            <a:ext cx="8827659" cy="2401512"/>
          </a:xfrm>
          <a:prstGeom prst="rect">
            <a:avLst/>
          </a:prstGeom>
        </p:spPr>
        <p:txBody>
          <a:bodyPr vert="horz" wrap="square" lIns="0" tIns="122767" rIns="0" bIns="0" rtlCol="0">
            <a:spAutoFit/>
          </a:bodyPr>
          <a:lstStyle/>
          <a:p>
            <a:pPr indent="-508834">
              <a:spcBef>
                <a:spcPts val="967"/>
              </a:spcBef>
              <a:buAutoNum type="arabicPeriod"/>
              <a:tabLst>
                <a:tab pos="583339" algn="l"/>
                <a:tab pos="584185" algn="l"/>
                <a:tab pos="1034601" algn="l"/>
                <a:tab pos="2355368" algn="l"/>
                <a:tab pos="3327317" algn="l"/>
              </a:tabLst>
            </a:pPr>
            <a:r>
              <a:rPr sz="3200" b="1" dirty="0">
                <a:latin typeface="Times New Roman"/>
                <a:cs typeface="Times New Roman"/>
              </a:rPr>
              <a:t>if	</a:t>
            </a:r>
            <a:r>
              <a:rPr sz="3200" b="1" spc="-7" dirty="0">
                <a:latin typeface="Times New Roman"/>
                <a:cs typeface="Times New Roman"/>
              </a:rPr>
              <a:t>| </a:t>
            </a:r>
            <a:r>
              <a:rPr sz="3200" b="1" i="1" dirty="0">
                <a:latin typeface="Times New Roman"/>
                <a:cs typeface="Times New Roman"/>
              </a:rPr>
              <a:t>P</a:t>
            </a:r>
            <a:r>
              <a:rPr sz="3200" b="1" i="1" spc="-127" dirty="0">
                <a:latin typeface="Times New Roman"/>
                <a:cs typeface="Times New Roman"/>
              </a:rPr>
              <a:t> </a:t>
            </a:r>
            <a:r>
              <a:rPr sz="3200" b="1" spc="-13" dirty="0">
                <a:latin typeface="Times New Roman"/>
                <a:cs typeface="Times New Roman"/>
              </a:rPr>
              <a:t>|</a:t>
            </a:r>
            <a:r>
              <a:rPr sz="3200" b="1" spc="-13" dirty="0">
                <a:latin typeface="Symbol"/>
                <a:cs typeface="Symbol"/>
              </a:rPr>
              <a:t>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c	</a:t>
            </a:r>
            <a:r>
              <a:rPr sz="3200" b="1" spc="-7" dirty="0">
                <a:latin typeface="Times New Roman"/>
                <a:cs typeface="Times New Roman"/>
              </a:rPr>
              <a:t>then	</a:t>
            </a:r>
            <a:r>
              <a:rPr sz="3200" b="1" i="1" spc="-7" dirty="0">
                <a:latin typeface="Times New Roman"/>
                <a:cs typeface="Times New Roman"/>
              </a:rPr>
              <a:t>S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indent="-507987">
              <a:spcBef>
                <a:spcPts val="827"/>
              </a:spcBef>
              <a:buAutoNum type="arabicPeriod"/>
              <a:tabLst>
                <a:tab pos="574872" algn="l"/>
                <a:tab pos="575719" algn="l"/>
                <a:tab pos="1839761" algn="l"/>
                <a:tab pos="2274090" algn="l"/>
                <a:tab pos="3156294" algn="l"/>
              </a:tabLst>
            </a:pPr>
            <a:r>
              <a:rPr sz="3200" b="1" spc="-7" dirty="0">
                <a:latin typeface="Times New Roman"/>
                <a:cs typeface="Times New Roman"/>
              </a:rPr>
              <a:t>divide	</a:t>
            </a:r>
            <a:r>
              <a:rPr sz="3200" b="1" i="1" dirty="0">
                <a:latin typeface="Times New Roman"/>
                <a:cs typeface="Times New Roman"/>
              </a:rPr>
              <a:t>P	</a:t>
            </a:r>
            <a:r>
              <a:rPr sz="3200" b="1" dirty="0">
                <a:latin typeface="Times New Roman"/>
                <a:cs typeface="Times New Roman"/>
              </a:rPr>
              <a:t>into	</a:t>
            </a:r>
            <a:r>
              <a:rPr sz="3200" b="1" i="1" dirty="0">
                <a:latin typeface="Times New Roman"/>
                <a:cs typeface="Times New Roman"/>
              </a:rPr>
              <a:t>P</a:t>
            </a:r>
            <a:r>
              <a:rPr sz="3200" b="1" baseline="-20833" dirty="0">
                <a:latin typeface="Times New Roman"/>
                <a:cs typeface="Times New Roman"/>
              </a:rPr>
              <a:t>1</a:t>
            </a:r>
            <a:r>
              <a:rPr sz="3200" b="1" dirty="0">
                <a:latin typeface="Times New Roman"/>
                <a:cs typeface="Times New Roman"/>
              </a:rPr>
              <a:t>, 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spc="-9" baseline="-20833" dirty="0">
                <a:latin typeface="Times New Roman"/>
                <a:cs typeface="Times New Roman"/>
              </a:rPr>
              <a:t>2</a:t>
            </a:r>
            <a:r>
              <a:rPr sz="3200" b="1" spc="-7" dirty="0">
                <a:latin typeface="Times New Roman"/>
                <a:cs typeface="Times New Roman"/>
              </a:rPr>
              <a:t>, </a:t>
            </a:r>
            <a:r>
              <a:rPr sz="3200" b="1" dirty="0">
                <a:latin typeface="Times New Roman"/>
                <a:cs typeface="Times New Roman"/>
              </a:rPr>
              <a:t>…,</a:t>
            </a:r>
            <a:r>
              <a:rPr sz="3200" b="1" spc="-4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i="1" spc="-9" baseline="-20833" dirty="0">
                <a:latin typeface="Times New Roman"/>
                <a:cs typeface="Times New Roman"/>
              </a:rPr>
              <a:t>k</a:t>
            </a:r>
            <a:endParaRPr sz="3200" baseline="-20833" dirty="0">
              <a:latin typeface="Times New Roman"/>
              <a:cs typeface="Times New Roman"/>
            </a:endParaRPr>
          </a:p>
          <a:p>
            <a:pPr indent="-507987">
              <a:spcBef>
                <a:spcPts val="787"/>
              </a:spcBef>
              <a:buAutoNum type="arabicPeriod"/>
              <a:tabLst>
                <a:tab pos="574872" algn="l"/>
                <a:tab pos="575719" algn="l"/>
                <a:tab pos="1291134" algn="l"/>
                <a:tab pos="2211438" algn="l"/>
                <a:tab pos="2751598" algn="l"/>
              </a:tabLst>
            </a:pPr>
            <a:r>
              <a:rPr sz="3200" b="1" dirty="0">
                <a:latin typeface="Times New Roman"/>
                <a:cs typeface="Times New Roman"/>
              </a:rPr>
              <a:t>for	</a:t>
            </a:r>
            <a:r>
              <a:rPr sz="3200" b="1" i="1" dirty="0">
                <a:latin typeface="Times New Roman"/>
                <a:cs typeface="Times New Roman"/>
              </a:rPr>
              <a:t>i</a:t>
            </a:r>
            <a:r>
              <a:rPr sz="3200" b="1" dirty="0">
                <a:latin typeface="Symbol"/>
                <a:cs typeface="Symbol"/>
              </a:rPr>
              <a:t></a:t>
            </a:r>
            <a:r>
              <a:rPr sz="3200" b="1" dirty="0">
                <a:latin typeface="Times New Roman"/>
                <a:cs typeface="Times New Roman"/>
              </a:rPr>
              <a:t>1	to	</a:t>
            </a:r>
            <a:r>
              <a:rPr sz="3200" b="1" i="1" dirty="0">
                <a:latin typeface="Times New Roman"/>
                <a:cs typeface="Times New Roman"/>
              </a:rPr>
              <a:t>k</a:t>
            </a:r>
            <a:endParaRPr sz="3200" b="1" dirty="0">
              <a:latin typeface="Times New Roman"/>
              <a:cs typeface="Times New Roman"/>
            </a:endParaRPr>
          </a:p>
          <a:p>
            <a:pPr indent="-1016821">
              <a:spcBef>
                <a:spcPts val="773"/>
              </a:spcBef>
              <a:buFont typeface="Times New Roman"/>
              <a:buAutoNum type="arabicPeriod"/>
              <a:tabLst>
                <a:tab pos="1083706" algn="l"/>
                <a:tab pos="1084553" algn="l"/>
              </a:tabLst>
            </a:pPr>
            <a:r>
              <a:rPr lang="en-US" sz="3200" b="1" i="1" spc="-7" dirty="0" smtClean="0">
                <a:latin typeface="Times New Roman"/>
                <a:cs typeface="Times New Roman"/>
              </a:rPr>
              <a:t>  </a:t>
            </a:r>
            <a:r>
              <a:rPr sz="3200" b="1" i="1" spc="-7" dirty="0" err="1" smtClean="0">
                <a:latin typeface="Times New Roman"/>
                <a:cs typeface="Times New Roman"/>
              </a:rPr>
              <a:t>y</a:t>
            </a:r>
            <a:r>
              <a:rPr sz="3200" b="1" i="1" spc="-9" baseline="-20833" dirty="0" err="1" smtClean="0">
                <a:latin typeface="Times New Roman"/>
                <a:cs typeface="Times New Roman"/>
              </a:rPr>
              <a:t>i</a:t>
            </a:r>
            <a:r>
              <a:rPr sz="3200" b="1" i="1" spc="409" baseline="-20833" dirty="0" smtClean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Symbol"/>
                <a:cs typeface="Symbol"/>
              </a:rPr>
              <a:t></a:t>
            </a:r>
            <a:r>
              <a:rPr sz="3200" b="1" spc="-7" dirty="0">
                <a:latin typeface="Times New Roman"/>
                <a:cs typeface="Times New Roman"/>
              </a:rPr>
              <a:t>D</a:t>
            </a:r>
            <a:r>
              <a:rPr sz="3200" b="1" u="sng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ivide-and-Conquer(</a:t>
            </a:r>
            <a:r>
              <a:rPr sz="3200" b="1" i="1" u="sng" spc="-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3200" b="1" i="1" spc="-9" baseline="-20833" dirty="0">
                <a:latin typeface="Times New Roman"/>
                <a:cs typeface="Times New Roman"/>
              </a:rPr>
              <a:t>i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782" y="4549089"/>
            <a:ext cx="8208024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  <a:tabLst>
                <a:tab pos="557939" algn="l"/>
              </a:tabLst>
            </a:pPr>
            <a:r>
              <a:rPr sz="3200" b="1" dirty="0">
                <a:latin typeface="Times New Roman"/>
                <a:cs typeface="Times New Roman"/>
              </a:rPr>
              <a:t>5.	</a:t>
            </a:r>
            <a:r>
              <a:rPr sz="3200" b="1" spc="-7" dirty="0">
                <a:latin typeface="Times New Roman"/>
                <a:cs typeface="Times New Roman"/>
              </a:rPr>
              <a:t>Return </a:t>
            </a:r>
            <a:r>
              <a:rPr sz="3200" b="1" dirty="0">
                <a:latin typeface="Times New Roman"/>
                <a:cs typeface="Times New Roman"/>
              </a:rPr>
              <a:t>Merge ( </a:t>
            </a:r>
            <a:r>
              <a:rPr sz="3200" b="1" i="1" dirty="0">
                <a:latin typeface="Times New Roman"/>
                <a:cs typeface="Times New Roman"/>
              </a:rPr>
              <a:t>y</a:t>
            </a:r>
            <a:r>
              <a:rPr sz="3200" b="1" baseline="-20833" dirty="0">
                <a:latin typeface="Times New Roman"/>
                <a:cs typeface="Times New Roman"/>
              </a:rPr>
              <a:t>1</a:t>
            </a:r>
            <a:r>
              <a:rPr sz="3200" b="1" dirty="0">
                <a:latin typeface="Times New Roman"/>
                <a:cs typeface="Times New Roman"/>
              </a:rPr>
              <a:t>, </a:t>
            </a:r>
            <a:r>
              <a:rPr sz="3200" b="1" i="1" dirty="0">
                <a:latin typeface="Times New Roman"/>
                <a:cs typeface="Times New Roman"/>
              </a:rPr>
              <a:t>y</a:t>
            </a:r>
            <a:r>
              <a:rPr sz="3200" b="1" baseline="-20833" dirty="0">
                <a:latin typeface="Times New Roman"/>
                <a:cs typeface="Times New Roman"/>
              </a:rPr>
              <a:t>2</a:t>
            </a:r>
            <a:r>
              <a:rPr sz="3200" b="1" dirty="0">
                <a:latin typeface="Times New Roman"/>
                <a:cs typeface="Times New Roman"/>
              </a:rPr>
              <a:t>, … , </a:t>
            </a:r>
            <a:r>
              <a:rPr sz="3200" b="1" i="1" spc="-7" dirty="0">
                <a:latin typeface="Times New Roman"/>
                <a:cs typeface="Times New Roman"/>
              </a:rPr>
              <a:t>y</a:t>
            </a:r>
            <a:r>
              <a:rPr sz="3200" b="1" i="1" spc="-9" baseline="-20833" dirty="0">
                <a:latin typeface="Times New Roman"/>
                <a:cs typeface="Times New Roman"/>
              </a:rPr>
              <a:t>k</a:t>
            </a:r>
            <a:r>
              <a:rPr sz="3200" b="1" i="1" spc="-160" baseline="-2083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02354" y="-188913"/>
            <a:ext cx="249936" cy="264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751233" y="2133556"/>
            <a:ext cx="1522307" cy="906780"/>
          </a:xfrm>
          <a:custGeom>
            <a:avLst/>
            <a:gdLst/>
            <a:ahLst/>
            <a:cxnLst/>
            <a:rect l="l" t="t" r="r" b="b"/>
            <a:pathLst>
              <a:path w="1141729" h="680085">
                <a:moveTo>
                  <a:pt x="667465" y="0"/>
                </a:moveTo>
                <a:lnTo>
                  <a:pt x="616784" y="3125"/>
                </a:lnTo>
                <a:lnTo>
                  <a:pt x="566378" y="10131"/>
                </a:lnTo>
                <a:lnTo>
                  <a:pt x="516712" y="21113"/>
                </a:lnTo>
                <a:lnTo>
                  <a:pt x="468249" y="36165"/>
                </a:lnTo>
                <a:lnTo>
                  <a:pt x="415552" y="58286"/>
                </a:lnTo>
                <a:lnTo>
                  <a:pt x="368861" y="84316"/>
                </a:lnTo>
                <a:lnTo>
                  <a:pt x="328400" y="113762"/>
                </a:lnTo>
                <a:lnTo>
                  <a:pt x="294390" y="146128"/>
                </a:lnTo>
                <a:lnTo>
                  <a:pt x="267055" y="180921"/>
                </a:lnTo>
                <a:lnTo>
                  <a:pt x="246618" y="217648"/>
                </a:lnTo>
                <a:lnTo>
                  <a:pt x="233300" y="255813"/>
                </a:lnTo>
                <a:lnTo>
                  <a:pt x="227325" y="294925"/>
                </a:lnTo>
                <a:lnTo>
                  <a:pt x="228915" y="334488"/>
                </a:lnTo>
                <a:lnTo>
                  <a:pt x="238293" y="374008"/>
                </a:lnTo>
                <a:lnTo>
                  <a:pt x="255682" y="412992"/>
                </a:lnTo>
                <a:lnTo>
                  <a:pt x="281304" y="450947"/>
                </a:lnTo>
                <a:lnTo>
                  <a:pt x="0" y="680055"/>
                </a:lnTo>
                <a:lnTo>
                  <a:pt x="391540" y="541625"/>
                </a:lnTo>
                <a:lnTo>
                  <a:pt x="975509" y="541625"/>
                </a:lnTo>
                <a:lnTo>
                  <a:pt x="999690" y="528144"/>
                </a:lnTo>
                <a:lnTo>
                  <a:pt x="1040151" y="498699"/>
                </a:lnTo>
                <a:lnTo>
                  <a:pt x="1074161" y="466332"/>
                </a:lnTo>
                <a:lnTo>
                  <a:pt x="1101496" y="431539"/>
                </a:lnTo>
                <a:lnTo>
                  <a:pt x="1121933" y="394813"/>
                </a:lnTo>
                <a:lnTo>
                  <a:pt x="1135251" y="356647"/>
                </a:lnTo>
                <a:lnTo>
                  <a:pt x="1141226" y="317535"/>
                </a:lnTo>
                <a:lnTo>
                  <a:pt x="1139636" y="277973"/>
                </a:lnTo>
                <a:lnTo>
                  <a:pt x="1130258" y="238452"/>
                </a:lnTo>
                <a:lnTo>
                  <a:pt x="1112869" y="199468"/>
                </a:lnTo>
                <a:lnTo>
                  <a:pt x="1087247" y="161514"/>
                </a:lnTo>
                <a:lnTo>
                  <a:pt x="1059353" y="131003"/>
                </a:lnTo>
                <a:lnTo>
                  <a:pt x="1027092" y="103432"/>
                </a:lnTo>
                <a:lnTo>
                  <a:pt x="990927" y="78895"/>
                </a:lnTo>
                <a:lnTo>
                  <a:pt x="951322" y="57486"/>
                </a:lnTo>
                <a:lnTo>
                  <a:pt x="908743" y="39300"/>
                </a:lnTo>
                <a:lnTo>
                  <a:pt x="863652" y="24430"/>
                </a:lnTo>
                <a:lnTo>
                  <a:pt x="816514" y="12971"/>
                </a:lnTo>
                <a:lnTo>
                  <a:pt x="767794" y="5017"/>
                </a:lnTo>
                <a:lnTo>
                  <a:pt x="717957" y="662"/>
                </a:lnTo>
                <a:lnTo>
                  <a:pt x="667465" y="0"/>
                </a:lnTo>
                <a:close/>
              </a:path>
              <a:path w="1141729" h="680085">
                <a:moveTo>
                  <a:pt x="975509" y="541625"/>
                </a:moveTo>
                <a:lnTo>
                  <a:pt x="391540" y="541625"/>
                </a:lnTo>
                <a:lnTo>
                  <a:pt x="431946" y="561765"/>
                </a:lnTo>
                <a:lnTo>
                  <a:pt x="474808" y="578596"/>
                </a:lnTo>
                <a:lnTo>
                  <a:pt x="519696" y="592087"/>
                </a:lnTo>
                <a:lnTo>
                  <a:pt x="566181" y="602210"/>
                </a:lnTo>
                <a:lnTo>
                  <a:pt x="613836" y="608935"/>
                </a:lnTo>
                <a:lnTo>
                  <a:pt x="662231" y="612233"/>
                </a:lnTo>
                <a:lnTo>
                  <a:pt x="710938" y="612075"/>
                </a:lnTo>
                <a:lnTo>
                  <a:pt x="759527" y="608431"/>
                </a:lnTo>
                <a:lnTo>
                  <a:pt x="807570" y="601273"/>
                </a:lnTo>
                <a:lnTo>
                  <a:pt x="854638" y="590571"/>
                </a:lnTo>
                <a:lnTo>
                  <a:pt x="900302" y="576296"/>
                </a:lnTo>
                <a:lnTo>
                  <a:pt x="952999" y="554174"/>
                </a:lnTo>
                <a:lnTo>
                  <a:pt x="975509" y="541625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3200"/>
          </a:p>
        </p:txBody>
      </p:sp>
      <p:sp>
        <p:nvSpPr>
          <p:cNvPr id="9" name="object 9"/>
          <p:cNvSpPr/>
          <p:nvPr/>
        </p:nvSpPr>
        <p:spPr>
          <a:xfrm>
            <a:off x="5751233" y="2133556"/>
            <a:ext cx="1522307" cy="906780"/>
          </a:xfrm>
          <a:custGeom>
            <a:avLst/>
            <a:gdLst/>
            <a:ahLst/>
            <a:cxnLst/>
            <a:rect l="l" t="t" r="r" b="b"/>
            <a:pathLst>
              <a:path w="1141729" h="680085">
                <a:moveTo>
                  <a:pt x="0" y="680055"/>
                </a:moveTo>
                <a:lnTo>
                  <a:pt x="281304" y="450947"/>
                </a:lnTo>
                <a:lnTo>
                  <a:pt x="255682" y="412992"/>
                </a:lnTo>
                <a:lnTo>
                  <a:pt x="238293" y="374008"/>
                </a:lnTo>
                <a:lnTo>
                  <a:pt x="228915" y="334488"/>
                </a:lnTo>
                <a:lnTo>
                  <a:pt x="227325" y="294925"/>
                </a:lnTo>
                <a:lnTo>
                  <a:pt x="233300" y="255813"/>
                </a:lnTo>
                <a:lnTo>
                  <a:pt x="246618" y="217648"/>
                </a:lnTo>
                <a:lnTo>
                  <a:pt x="267055" y="180921"/>
                </a:lnTo>
                <a:lnTo>
                  <a:pt x="294390" y="146128"/>
                </a:lnTo>
                <a:lnTo>
                  <a:pt x="328400" y="113762"/>
                </a:lnTo>
                <a:lnTo>
                  <a:pt x="368861" y="84316"/>
                </a:lnTo>
                <a:lnTo>
                  <a:pt x="415552" y="58286"/>
                </a:lnTo>
                <a:lnTo>
                  <a:pt x="468249" y="36165"/>
                </a:lnTo>
                <a:lnTo>
                  <a:pt x="516712" y="21113"/>
                </a:lnTo>
                <a:lnTo>
                  <a:pt x="566378" y="10131"/>
                </a:lnTo>
                <a:lnTo>
                  <a:pt x="616784" y="3125"/>
                </a:lnTo>
                <a:lnTo>
                  <a:pt x="667465" y="0"/>
                </a:lnTo>
                <a:lnTo>
                  <a:pt x="717957" y="662"/>
                </a:lnTo>
                <a:lnTo>
                  <a:pt x="767794" y="5017"/>
                </a:lnTo>
                <a:lnTo>
                  <a:pt x="816514" y="12971"/>
                </a:lnTo>
                <a:lnTo>
                  <a:pt x="863652" y="24430"/>
                </a:lnTo>
                <a:lnTo>
                  <a:pt x="908743" y="39300"/>
                </a:lnTo>
                <a:lnTo>
                  <a:pt x="951322" y="57486"/>
                </a:lnTo>
                <a:lnTo>
                  <a:pt x="990927" y="78895"/>
                </a:lnTo>
                <a:lnTo>
                  <a:pt x="1027092" y="103432"/>
                </a:lnTo>
                <a:lnTo>
                  <a:pt x="1059353" y="131003"/>
                </a:lnTo>
                <a:lnTo>
                  <a:pt x="1087247" y="161514"/>
                </a:lnTo>
                <a:lnTo>
                  <a:pt x="1112869" y="199468"/>
                </a:lnTo>
                <a:lnTo>
                  <a:pt x="1130258" y="238452"/>
                </a:lnTo>
                <a:lnTo>
                  <a:pt x="1139636" y="277973"/>
                </a:lnTo>
                <a:lnTo>
                  <a:pt x="1141226" y="317535"/>
                </a:lnTo>
                <a:lnTo>
                  <a:pt x="1135251" y="356647"/>
                </a:lnTo>
                <a:lnTo>
                  <a:pt x="1121933" y="394813"/>
                </a:lnTo>
                <a:lnTo>
                  <a:pt x="1101496" y="431539"/>
                </a:lnTo>
                <a:lnTo>
                  <a:pt x="1074161" y="466332"/>
                </a:lnTo>
                <a:lnTo>
                  <a:pt x="1040151" y="498699"/>
                </a:lnTo>
                <a:lnTo>
                  <a:pt x="999690" y="528144"/>
                </a:lnTo>
                <a:lnTo>
                  <a:pt x="952999" y="554174"/>
                </a:lnTo>
                <a:lnTo>
                  <a:pt x="900302" y="576296"/>
                </a:lnTo>
                <a:lnTo>
                  <a:pt x="854638" y="590571"/>
                </a:lnTo>
                <a:lnTo>
                  <a:pt x="807570" y="601273"/>
                </a:lnTo>
                <a:lnTo>
                  <a:pt x="759527" y="608431"/>
                </a:lnTo>
                <a:lnTo>
                  <a:pt x="710938" y="612075"/>
                </a:lnTo>
                <a:lnTo>
                  <a:pt x="662231" y="612233"/>
                </a:lnTo>
                <a:lnTo>
                  <a:pt x="613836" y="608935"/>
                </a:lnTo>
                <a:lnTo>
                  <a:pt x="566181" y="602210"/>
                </a:lnTo>
                <a:lnTo>
                  <a:pt x="519696" y="592087"/>
                </a:lnTo>
                <a:lnTo>
                  <a:pt x="474808" y="578596"/>
                </a:lnTo>
                <a:lnTo>
                  <a:pt x="431946" y="561765"/>
                </a:lnTo>
                <a:lnTo>
                  <a:pt x="391540" y="541625"/>
                </a:lnTo>
                <a:lnTo>
                  <a:pt x="0" y="68005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3200"/>
          </a:p>
        </p:txBody>
      </p:sp>
      <p:sp>
        <p:nvSpPr>
          <p:cNvPr id="10" name="object 10"/>
          <p:cNvSpPr txBox="1"/>
          <p:nvPr/>
        </p:nvSpPr>
        <p:spPr>
          <a:xfrm>
            <a:off x="6267920" y="2286553"/>
            <a:ext cx="127396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solidFill>
                  <a:srgbClr val="FFFFFF"/>
                </a:solidFill>
                <a:latin typeface="宋体"/>
                <a:cs typeface="宋体"/>
              </a:rPr>
              <a:t>划分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82836" y="3222683"/>
            <a:ext cx="2267970" cy="857673"/>
          </a:xfrm>
          <a:custGeom>
            <a:avLst/>
            <a:gdLst/>
            <a:ahLst/>
            <a:cxnLst/>
            <a:rect l="l" t="t" r="r" b="b"/>
            <a:pathLst>
              <a:path w="1487804" h="643255">
                <a:moveTo>
                  <a:pt x="782422" y="0"/>
                </a:moveTo>
                <a:lnTo>
                  <a:pt x="729521" y="1541"/>
                </a:lnTo>
                <a:lnTo>
                  <a:pt x="676792" y="4887"/>
                </a:lnTo>
                <a:lnTo>
                  <a:pt x="624482" y="10059"/>
                </a:lnTo>
                <a:lnTo>
                  <a:pt x="572833" y="17079"/>
                </a:lnTo>
                <a:lnTo>
                  <a:pt x="522092" y="25969"/>
                </a:lnTo>
                <a:lnTo>
                  <a:pt x="472501" y="36750"/>
                </a:lnTo>
                <a:lnTo>
                  <a:pt x="424307" y="49445"/>
                </a:lnTo>
                <a:lnTo>
                  <a:pt x="364186" y="68898"/>
                </a:lnTo>
                <a:lnTo>
                  <a:pt x="310293" y="90615"/>
                </a:lnTo>
                <a:lnTo>
                  <a:pt x="262745" y="114344"/>
                </a:lnTo>
                <a:lnTo>
                  <a:pt x="221662" y="139831"/>
                </a:lnTo>
                <a:lnTo>
                  <a:pt x="187160" y="166825"/>
                </a:lnTo>
                <a:lnTo>
                  <a:pt x="159358" y="195074"/>
                </a:lnTo>
                <a:lnTo>
                  <a:pt x="124327" y="254324"/>
                </a:lnTo>
                <a:lnTo>
                  <a:pt x="117333" y="284820"/>
                </a:lnTo>
                <a:lnTo>
                  <a:pt x="117512" y="315561"/>
                </a:lnTo>
                <a:lnTo>
                  <a:pt x="139859" y="376767"/>
                </a:lnTo>
                <a:lnTo>
                  <a:pt x="192312" y="435922"/>
                </a:lnTo>
                <a:lnTo>
                  <a:pt x="230124" y="464100"/>
                </a:lnTo>
                <a:lnTo>
                  <a:pt x="0" y="642662"/>
                </a:lnTo>
                <a:lnTo>
                  <a:pt x="413512" y="545634"/>
                </a:lnTo>
                <a:lnTo>
                  <a:pt x="1190288" y="545634"/>
                </a:lnTo>
                <a:lnTo>
                  <a:pt x="1240585" y="529377"/>
                </a:lnTo>
                <a:lnTo>
                  <a:pt x="1294478" y="507676"/>
                </a:lnTo>
                <a:lnTo>
                  <a:pt x="1342026" y="483958"/>
                </a:lnTo>
                <a:lnTo>
                  <a:pt x="1383109" y="458477"/>
                </a:lnTo>
                <a:lnTo>
                  <a:pt x="1417611" y="431484"/>
                </a:lnTo>
                <a:lnTo>
                  <a:pt x="1445413" y="403234"/>
                </a:lnTo>
                <a:lnTo>
                  <a:pt x="1480444" y="343974"/>
                </a:lnTo>
                <a:lnTo>
                  <a:pt x="1487438" y="313469"/>
                </a:lnTo>
                <a:lnTo>
                  <a:pt x="1487259" y="282720"/>
                </a:lnTo>
                <a:lnTo>
                  <a:pt x="1464912" y="221498"/>
                </a:lnTo>
                <a:lnTo>
                  <a:pt x="1412459" y="162332"/>
                </a:lnTo>
                <a:lnTo>
                  <a:pt x="1374648" y="134154"/>
                </a:lnTo>
                <a:lnTo>
                  <a:pt x="1341745" y="114237"/>
                </a:lnTo>
                <a:lnTo>
                  <a:pt x="1305837" y="95839"/>
                </a:lnTo>
                <a:lnTo>
                  <a:pt x="1267168" y="78982"/>
                </a:lnTo>
                <a:lnTo>
                  <a:pt x="1225983" y="63689"/>
                </a:lnTo>
                <a:lnTo>
                  <a:pt x="1182526" y="49980"/>
                </a:lnTo>
                <a:lnTo>
                  <a:pt x="1137042" y="37879"/>
                </a:lnTo>
                <a:lnTo>
                  <a:pt x="1089774" y="27406"/>
                </a:lnTo>
                <a:lnTo>
                  <a:pt x="1040969" y="18584"/>
                </a:lnTo>
                <a:lnTo>
                  <a:pt x="990869" y="11434"/>
                </a:lnTo>
                <a:lnTo>
                  <a:pt x="939720" y="5979"/>
                </a:lnTo>
                <a:lnTo>
                  <a:pt x="887766" y="2240"/>
                </a:lnTo>
                <a:lnTo>
                  <a:pt x="835252" y="240"/>
                </a:lnTo>
                <a:lnTo>
                  <a:pt x="782422" y="0"/>
                </a:lnTo>
                <a:close/>
              </a:path>
              <a:path w="1487804" h="643255">
                <a:moveTo>
                  <a:pt x="1190288" y="545634"/>
                </a:moveTo>
                <a:lnTo>
                  <a:pt x="413512" y="545634"/>
                </a:lnTo>
                <a:lnTo>
                  <a:pt x="460495" y="558570"/>
                </a:lnTo>
                <a:lnTo>
                  <a:pt x="509174" y="569694"/>
                </a:lnTo>
                <a:lnTo>
                  <a:pt x="559294" y="579004"/>
                </a:lnTo>
                <a:lnTo>
                  <a:pt x="610602" y="586499"/>
                </a:lnTo>
                <a:lnTo>
                  <a:pt x="662841" y="592177"/>
                </a:lnTo>
                <a:lnTo>
                  <a:pt x="715757" y="596037"/>
                </a:lnTo>
                <a:lnTo>
                  <a:pt x="769096" y="598079"/>
                </a:lnTo>
                <a:lnTo>
                  <a:pt x="822604" y="598302"/>
                </a:lnTo>
                <a:lnTo>
                  <a:pt x="876024" y="596703"/>
                </a:lnTo>
                <a:lnTo>
                  <a:pt x="929103" y="593282"/>
                </a:lnTo>
                <a:lnTo>
                  <a:pt x="981586" y="588038"/>
                </a:lnTo>
                <a:lnTo>
                  <a:pt x="1033219" y="580970"/>
                </a:lnTo>
                <a:lnTo>
                  <a:pt x="1083746" y="572076"/>
                </a:lnTo>
                <a:lnTo>
                  <a:pt x="1132912" y="561356"/>
                </a:lnTo>
                <a:lnTo>
                  <a:pt x="1180464" y="548809"/>
                </a:lnTo>
                <a:lnTo>
                  <a:pt x="1190288" y="545634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3200"/>
          </a:p>
        </p:txBody>
      </p:sp>
      <p:sp>
        <p:nvSpPr>
          <p:cNvPr id="12" name="object 12"/>
          <p:cNvSpPr/>
          <p:nvPr/>
        </p:nvSpPr>
        <p:spPr>
          <a:xfrm>
            <a:off x="6382836" y="3222683"/>
            <a:ext cx="2267970" cy="857673"/>
          </a:xfrm>
          <a:custGeom>
            <a:avLst/>
            <a:gdLst/>
            <a:ahLst/>
            <a:cxnLst/>
            <a:rect l="l" t="t" r="r" b="b"/>
            <a:pathLst>
              <a:path w="1487804" h="643255">
                <a:moveTo>
                  <a:pt x="0" y="642662"/>
                </a:moveTo>
                <a:lnTo>
                  <a:pt x="230124" y="464100"/>
                </a:lnTo>
                <a:lnTo>
                  <a:pt x="192312" y="435922"/>
                </a:lnTo>
                <a:lnTo>
                  <a:pt x="162263" y="406727"/>
                </a:lnTo>
                <a:lnTo>
                  <a:pt x="139859" y="376767"/>
                </a:lnTo>
                <a:lnTo>
                  <a:pt x="124981" y="346294"/>
                </a:lnTo>
                <a:lnTo>
                  <a:pt x="117512" y="315561"/>
                </a:lnTo>
                <a:lnTo>
                  <a:pt x="117333" y="284820"/>
                </a:lnTo>
                <a:lnTo>
                  <a:pt x="124327" y="254324"/>
                </a:lnTo>
                <a:lnTo>
                  <a:pt x="159358" y="195074"/>
                </a:lnTo>
                <a:lnTo>
                  <a:pt x="187160" y="166825"/>
                </a:lnTo>
                <a:lnTo>
                  <a:pt x="221662" y="139831"/>
                </a:lnTo>
                <a:lnTo>
                  <a:pt x="262745" y="114344"/>
                </a:lnTo>
                <a:lnTo>
                  <a:pt x="310293" y="90615"/>
                </a:lnTo>
                <a:lnTo>
                  <a:pt x="364186" y="68898"/>
                </a:lnTo>
                <a:lnTo>
                  <a:pt x="424307" y="49445"/>
                </a:lnTo>
                <a:lnTo>
                  <a:pt x="472501" y="36750"/>
                </a:lnTo>
                <a:lnTo>
                  <a:pt x="522092" y="25969"/>
                </a:lnTo>
                <a:lnTo>
                  <a:pt x="572833" y="17079"/>
                </a:lnTo>
                <a:lnTo>
                  <a:pt x="624482" y="10059"/>
                </a:lnTo>
                <a:lnTo>
                  <a:pt x="676792" y="4887"/>
                </a:lnTo>
                <a:lnTo>
                  <a:pt x="729521" y="1541"/>
                </a:lnTo>
                <a:lnTo>
                  <a:pt x="782422" y="0"/>
                </a:lnTo>
                <a:lnTo>
                  <a:pt x="835252" y="240"/>
                </a:lnTo>
                <a:lnTo>
                  <a:pt x="887766" y="2240"/>
                </a:lnTo>
                <a:lnTo>
                  <a:pt x="939720" y="5979"/>
                </a:lnTo>
                <a:lnTo>
                  <a:pt x="990869" y="11434"/>
                </a:lnTo>
                <a:lnTo>
                  <a:pt x="1040969" y="18584"/>
                </a:lnTo>
                <a:lnTo>
                  <a:pt x="1089774" y="27406"/>
                </a:lnTo>
                <a:lnTo>
                  <a:pt x="1137042" y="37879"/>
                </a:lnTo>
                <a:lnTo>
                  <a:pt x="1182526" y="49980"/>
                </a:lnTo>
                <a:lnTo>
                  <a:pt x="1225983" y="63689"/>
                </a:lnTo>
                <a:lnTo>
                  <a:pt x="1267168" y="78982"/>
                </a:lnTo>
                <a:lnTo>
                  <a:pt x="1305837" y="95839"/>
                </a:lnTo>
                <a:lnTo>
                  <a:pt x="1341745" y="114237"/>
                </a:lnTo>
                <a:lnTo>
                  <a:pt x="1374648" y="134154"/>
                </a:lnTo>
                <a:lnTo>
                  <a:pt x="1412459" y="162332"/>
                </a:lnTo>
                <a:lnTo>
                  <a:pt x="1442508" y="191532"/>
                </a:lnTo>
                <a:lnTo>
                  <a:pt x="1479790" y="251979"/>
                </a:lnTo>
                <a:lnTo>
                  <a:pt x="1487438" y="313469"/>
                </a:lnTo>
                <a:lnTo>
                  <a:pt x="1480444" y="343974"/>
                </a:lnTo>
                <a:lnTo>
                  <a:pt x="1445413" y="403234"/>
                </a:lnTo>
                <a:lnTo>
                  <a:pt x="1417611" y="431484"/>
                </a:lnTo>
                <a:lnTo>
                  <a:pt x="1383109" y="458477"/>
                </a:lnTo>
                <a:lnTo>
                  <a:pt x="1342026" y="483958"/>
                </a:lnTo>
                <a:lnTo>
                  <a:pt x="1294478" y="507676"/>
                </a:lnTo>
                <a:lnTo>
                  <a:pt x="1240585" y="529377"/>
                </a:lnTo>
                <a:lnTo>
                  <a:pt x="1180464" y="548809"/>
                </a:lnTo>
                <a:lnTo>
                  <a:pt x="1132912" y="561356"/>
                </a:lnTo>
                <a:lnTo>
                  <a:pt x="1083746" y="572076"/>
                </a:lnTo>
                <a:lnTo>
                  <a:pt x="1033219" y="580970"/>
                </a:lnTo>
                <a:lnTo>
                  <a:pt x="981586" y="588038"/>
                </a:lnTo>
                <a:lnTo>
                  <a:pt x="929103" y="593282"/>
                </a:lnTo>
                <a:lnTo>
                  <a:pt x="876024" y="596703"/>
                </a:lnTo>
                <a:lnTo>
                  <a:pt x="822604" y="598302"/>
                </a:lnTo>
                <a:lnTo>
                  <a:pt x="769096" y="598079"/>
                </a:lnTo>
                <a:lnTo>
                  <a:pt x="715757" y="596037"/>
                </a:lnTo>
                <a:lnTo>
                  <a:pt x="662841" y="592177"/>
                </a:lnTo>
                <a:lnTo>
                  <a:pt x="610602" y="586499"/>
                </a:lnTo>
                <a:lnTo>
                  <a:pt x="559294" y="579004"/>
                </a:lnTo>
                <a:lnTo>
                  <a:pt x="509174" y="569694"/>
                </a:lnTo>
                <a:lnTo>
                  <a:pt x="460495" y="558570"/>
                </a:lnTo>
                <a:lnTo>
                  <a:pt x="413512" y="545634"/>
                </a:lnTo>
                <a:lnTo>
                  <a:pt x="0" y="642662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6512387" y="3466925"/>
            <a:ext cx="2317471" cy="394979"/>
          </a:xfrm>
          <a:prstGeom prst="rect">
            <a:avLst/>
          </a:prstGeom>
        </p:spPr>
        <p:txBody>
          <a:bodyPr vert="horz" wrap="square" lIns="0" tIns="48259" rIns="0" bIns="0" rtlCol="0">
            <a:spAutoFit/>
          </a:bodyPr>
          <a:lstStyle/>
          <a:p>
            <a:pPr marL="171022" marR="6773" indent="-154936">
              <a:lnSpc>
                <a:spcPts val="2693"/>
              </a:lnSpc>
              <a:spcBef>
                <a:spcPts val="379"/>
              </a:spcBef>
            </a:pPr>
            <a:r>
              <a:rPr sz="3200" b="1" dirty="0" err="1" smtClean="0">
                <a:solidFill>
                  <a:srgbClr val="FFFFFF"/>
                </a:solidFill>
                <a:latin typeface="宋体"/>
                <a:cs typeface="宋体"/>
              </a:rPr>
              <a:t>求解子问题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60915" y="4500206"/>
            <a:ext cx="1647613" cy="811107"/>
          </a:xfrm>
          <a:custGeom>
            <a:avLst/>
            <a:gdLst/>
            <a:ahLst/>
            <a:cxnLst/>
            <a:rect l="l" t="t" r="r" b="b"/>
            <a:pathLst>
              <a:path w="1235710" h="608329">
                <a:moveTo>
                  <a:pt x="685716" y="0"/>
                </a:moveTo>
                <a:lnTo>
                  <a:pt x="626711" y="1527"/>
                </a:lnTo>
                <a:lnTo>
                  <a:pt x="569228" y="6430"/>
                </a:lnTo>
                <a:lnTo>
                  <a:pt x="513641" y="14546"/>
                </a:lnTo>
                <a:lnTo>
                  <a:pt x="460323" y="25713"/>
                </a:lnTo>
                <a:lnTo>
                  <a:pt x="409648" y="39768"/>
                </a:lnTo>
                <a:lnTo>
                  <a:pt x="361989" y="56547"/>
                </a:lnTo>
                <a:lnTo>
                  <a:pt x="317719" y="75889"/>
                </a:lnTo>
                <a:lnTo>
                  <a:pt x="277213" y="97630"/>
                </a:lnTo>
                <a:lnTo>
                  <a:pt x="240843" y="121608"/>
                </a:lnTo>
                <a:lnTo>
                  <a:pt x="208983" y="147659"/>
                </a:lnTo>
                <a:lnTo>
                  <a:pt x="182007" y="175621"/>
                </a:lnTo>
                <a:lnTo>
                  <a:pt x="144197" y="236628"/>
                </a:lnTo>
                <a:lnTo>
                  <a:pt x="134112" y="269346"/>
                </a:lnTo>
                <a:lnTo>
                  <a:pt x="0" y="333227"/>
                </a:lnTo>
                <a:lnTo>
                  <a:pt x="150494" y="385043"/>
                </a:lnTo>
                <a:lnTo>
                  <a:pt x="169897" y="416782"/>
                </a:lnTo>
                <a:lnTo>
                  <a:pt x="195145" y="446750"/>
                </a:lnTo>
                <a:lnTo>
                  <a:pt x="225841" y="474761"/>
                </a:lnTo>
                <a:lnTo>
                  <a:pt x="261589" y="500629"/>
                </a:lnTo>
                <a:lnTo>
                  <a:pt x="301993" y="524167"/>
                </a:lnTo>
                <a:lnTo>
                  <a:pt x="346658" y="545187"/>
                </a:lnTo>
                <a:lnTo>
                  <a:pt x="395186" y="563505"/>
                </a:lnTo>
                <a:lnTo>
                  <a:pt x="447182" y="578933"/>
                </a:lnTo>
                <a:lnTo>
                  <a:pt x="502249" y="591284"/>
                </a:lnTo>
                <a:lnTo>
                  <a:pt x="559992" y="600372"/>
                </a:lnTo>
                <a:lnTo>
                  <a:pt x="620013" y="606011"/>
                </a:lnTo>
                <a:lnTo>
                  <a:pt x="680168" y="608014"/>
                </a:lnTo>
                <a:lnTo>
                  <a:pt x="739173" y="606478"/>
                </a:lnTo>
                <a:lnTo>
                  <a:pt x="796656" y="601566"/>
                </a:lnTo>
                <a:lnTo>
                  <a:pt x="852243" y="593441"/>
                </a:lnTo>
                <a:lnTo>
                  <a:pt x="905561" y="582267"/>
                </a:lnTo>
                <a:lnTo>
                  <a:pt x="956236" y="568205"/>
                </a:lnTo>
                <a:lnTo>
                  <a:pt x="1003895" y="551421"/>
                </a:lnTo>
                <a:lnTo>
                  <a:pt x="1048165" y="532076"/>
                </a:lnTo>
                <a:lnTo>
                  <a:pt x="1088671" y="510334"/>
                </a:lnTo>
                <a:lnTo>
                  <a:pt x="1125041" y="486359"/>
                </a:lnTo>
                <a:lnTo>
                  <a:pt x="1156901" y="460313"/>
                </a:lnTo>
                <a:lnTo>
                  <a:pt x="1183877" y="432359"/>
                </a:lnTo>
                <a:lnTo>
                  <a:pt x="1221687" y="371384"/>
                </a:lnTo>
                <a:lnTo>
                  <a:pt x="1235417" y="305562"/>
                </a:lnTo>
                <a:lnTo>
                  <a:pt x="1232628" y="273071"/>
                </a:lnTo>
                <a:lnTo>
                  <a:pt x="1208939" y="210818"/>
                </a:lnTo>
                <a:lnTo>
                  <a:pt x="1163075" y="153573"/>
                </a:lnTo>
                <a:lnTo>
                  <a:pt x="1132569" y="127342"/>
                </a:lnTo>
                <a:lnTo>
                  <a:pt x="1097408" y="102979"/>
                </a:lnTo>
                <a:lnTo>
                  <a:pt x="1057890" y="80690"/>
                </a:lnTo>
                <a:lnTo>
                  <a:pt x="1014311" y="60681"/>
                </a:lnTo>
                <a:lnTo>
                  <a:pt x="966967" y="43155"/>
                </a:lnTo>
                <a:lnTo>
                  <a:pt x="916154" y="28321"/>
                </a:lnTo>
                <a:lnTo>
                  <a:pt x="862170" y="16381"/>
                </a:lnTo>
                <a:lnTo>
                  <a:pt x="805310" y="7543"/>
                </a:lnTo>
                <a:lnTo>
                  <a:pt x="745870" y="2011"/>
                </a:lnTo>
                <a:lnTo>
                  <a:pt x="685716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3200"/>
          </a:p>
        </p:txBody>
      </p:sp>
      <p:sp>
        <p:nvSpPr>
          <p:cNvPr id="15" name="object 15"/>
          <p:cNvSpPr/>
          <p:nvPr/>
        </p:nvSpPr>
        <p:spPr>
          <a:xfrm>
            <a:off x="6260915" y="4500206"/>
            <a:ext cx="1647613" cy="811107"/>
          </a:xfrm>
          <a:custGeom>
            <a:avLst/>
            <a:gdLst/>
            <a:ahLst/>
            <a:cxnLst/>
            <a:rect l="l" t="t" r="r" b="b"/>
            <a:pathLst>
              <a:path w="1235710" h="608329">
                <a:moveTo>
                  <a:pt x="0" y="333227"/>
                </a:moveTo>
                <a:lnTo>
                  <a:pt x="134112" y="269346"/>
                </a:lnTo>
                <a:lnTo>
                  <a:pt x="144197" y="236628"/>
                </a:lnTo>
                <a:lnTo>
                  <a:pt x="160287" y="205332"/>
                </a:lnTo>
                <a:lnTo>
                  <a:pt x="208983" y="147659"/>
                </a:lnTo>
                <a:lnTo>
                  <a:pt x="240843" y="121608"/>
                </a:lnTo>
                <a:lnTo>
                  <a:pt x="277213" y="97630"/>
                </a:lnTo>
                <a:lnTo>
                  <a:pt x="317719" y="75889"/>
                </a:lnTo>
                <a:lnTo>
                  <a:pt x="361989" y="56547"/>
                </a:lnTo>
                <a:lnTo>
                  <a:pt x="409648" y="39768"/>
                </a:lnTo>
                <a:lnTo>
                  <a:pt x="460323" y="25713"/>
                </a:lnTo>
                <a:lnTo>
                  <a:pt x="513641" y="14546"/>
                </a:lnTo>
                <a:lnTo>
                  <a:pt x="569228" y="6430"/>
                </a:lnTo>
                <a:lnTo>
                  <a:pt x="626711" y="1527"/>
                </a:lnTo>
                <a:lnTo>
                  <a:pt x="685716" y="0"/>
                </a:lnTo>
                <a:lnTo>
                  <a:pt x="745870" y="2011"/>
                </a:lnTo>
                <a:lnTo>
                  <a:pt x="805310" y="7543"/>
                </a:lnTo>
                <a:lnTo>
                  <a:pt x="862170" y="16381"/>
                </a:lnTo>
                <a:lnTo>
                  <a:pt x="916154" y="28321"/>
                </a:lnTo>
                <a:lnTo>
                  <a:pt x="966967" y="43155"/>
                </a:lnTo>
                <a:lnTo>
                  <a:pt x="1014311" y="60681"/>
                </a:lnTo>
                <a:lnTo>
                  <a:pt x="1057890" y="80690"/>
                </a:lnTo>
                <a:lnTo>
                  <a:pt x="1097408" y="102979"/>
                </a:lnTo>
                <a:lnTo>
                  <a:pt x="1132569" y="127342"/>
                </a:lnTo>
                <a:lnTo>
                  <a:pt x="1163075" y="153573"/>
                </a:lnTo>
                <a:lnTo>
                  <a:pt x="1208939" y="210818"/>
                </a:lnTo>
                <a:lnTo>
                  <a:pt x="1232628" y="273071"/>
                </a:lnTo>
                <a:lnTo>
                  <a:pt x="1235417" y="305562"/>
                </a:lnTo>
                <a:lnTo>
                  <a:pt x="1231772" y="338688"/>
                </a:lnTo>
                <a:lnTo>
                  <a:pt x="1205597" y="402662"/>
                </a:lnTo>
                <a:lnTo>
                  <a:pt x="1156901" y="460313"/>
                </a:lnTo>
                <a:lnTo>
                  <a:pt x="1125041" y="486359"/>
                </a:lnTo>
                <a:lnTo>
                  <a:pt x="1088671" y="510334"/>
                </a:lnTo>
                <a:lnTo>
                  <a:pt x="1048165" y="532076"/>
                </a:lnTo>
                <a:lnTo>
                  <a:pt x="1003895" y="551421"/>
                </a:lnTo>
                <a:lnTo>
                  <a:pt x="956236" y="568205"/>
                </a:lnTo>
                <a:lnTo>
                  <a:pt x="905561" y="582267"/>
                </a:lnTo>
                <a:lnTo>
                  <a:pt x="852243" y="593441"/>
                </a:lnTo>
                <a:lnTo>
                  <a:pt x="796656" y="601566"/>
                </a:lnTo>
                <a:lnTo>
                  <a:pt x="739173" y="606478"/>
                </a:lnTo>
                <a:lnTo>
                  <a:pt x="680168" y="608014"/>
                </a:lnTo>
                <a:lnTo>
                  <a:pt x="620013" y="606011"/>
                </a:lnTo>
                <a:lnTo>
                  <a:pt x="559992" y="600372"/>
                </a:lnTo>
                <a:lnTo>
                  <a:pt x="502249" y="591284"/>
                </a:lnTo>
                <a:lnTo>
                  <a:pt x="447182" y="578933"/>
                </a:lnTo>
                <a:lnTo>
                  <a:pt x="395186" y="563505"/>
                </a:lnTo>
                <a:lnTo>
                  <a:pt x="346658" y="545187"/>
                </a:lnTo>
                <a:lnTo>
                  <a:pt x="301993" y="524167"/>
                </a:lnTo>
                <a:lnTo>
                  <a:pt x="261589" y="500629"/>
                </a:lnTo>
                <a:lnTo>
                  <a:pt x="225841" y="474761"/>
                </a:lnTo>
                <a:lnTo>
                  <a:pt x="195145" y="446750"/>
                </a:lnTo>
                <a:lnTo>
                  <a:pt x="169897" y="416782"/>
                </a:lnTo>
                <a:lnTo>
                  <a:pt x="150494" y="385043"/>
                </a:lnTo>
                <a:lnTo>
                  <a:pt x="0" y="333227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3200"/>
          </a:p>
        </p:txBody>
      </p:sp>
      <p:sp>
        <p:nvSpPr>
          <p:cNvPr id="16" name="object 16"/>
          <p:cNvSpPr txBox="1"/>
          <p:nvPr/>
        </p:nvSpPr>
        <p:spPr>
          <a:xfrm>
            <a:off x="6182524" y="4738850"/>
            <a:ext cx="2052256" cy="3761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lnSpc>
                <a:spcPts val="2787"/>
              </a:lnSpc>
              <a:spcBef>
                <a:spcPts val="133"/>
              </a:spcBef>
            </a:pPr>
            <a:r>
              <a:rPr sz="3200" b="1" dirty="0" err="1" smtClean="0">
                <a:solidFill>
                  <a:srgbClr val="FFFFFF"/>
                </a:solidFill>
                <a:latin typeface="宋体"/>
                <a:cs typeface="宋体"/>
              </a:rPr>
              <a:t>综合</a:t>
            </a:r>
            <a:r>
              <a:rPr sz="3200" b="1" spc="-13" dirty="0" err="1" smtClean="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endParaRPr sz="3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80450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924" y="256038"/>
            <a:ext cx="8881242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925" y="1257975"/>
            <a:ext cx="8881242" cy="402417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74121" marR="108371" indent="-457189" algn="just">
              <a:lnSpc>
                <a:spcPts val="3907"/>
              </a:lnSpc>
              <a:spcBef>
                <a:spcPts val="480"/>
              </a:spcBef>
              <a:buFont typeface="Arial"/>
              <a:buChar char="•"/>
              <a:tabLst>
                <a:tab pos="473275" algn="l"/>
                <a:tab pos="474121" algn="l"/>
              </a:tabLst>
            </a:pPr>
            <a:r>
              <a:rPr sz="3200" b="1" dirty="0" err="1" smtClean="0">
                <a:latin typeface="宋体"/>
                <a:cs typeface="宋体"/>
              </a:rPr>
              <a:t>原问题可以划分或者归约为</a:t>
            </a:r>
            <a:r>
              <a:rPr sz="3200" b="1" spc="-20" dirty="0" err="1" smtClean="0">
                <a:latin typeface="宋体"/>
                <a:cs typeface="宋体"/>
              </a:rPr>
              <a:t>规</a:t>
            </a:r>
            <a:r>
              <a:rPr sz="3200" b="1" spc="-7" dirty="0" err="1" smtClean="0">
                <a:latin typeface="宋体"/>
                <a:cs typeface="宋体"/>
              </a:rPr>
              <a:t>模</a:t>
            </a:r>
            <a:r>
              <a:rPr sz="3200" b="1" dirty="0" err="1" smtClean="0">
                <a:latin typeface="宋体"/>
                <a:cs typeface="宋体"/>
              </a:rPr>
              <a:t>较小的子问题</a:t>
            </a:r>
            <a:endParaRPr sz="3200" b="1" dirty="0">
              <a:latin typeface="宋体"/>
              <a:cs typeface="宋体"/>
            </a:endParaRPr>
          </a:p>
          <a:p>
            <a:pPr marL="971949" algn="just">
              <a:spcBef>
                <a:spcPts val="333"/>
              </a:spcBef>
            </a:pPr>
            <a:r>
              <a:rPr sz="2800" b="1" spc="-13" dirty="0">
                <a:latin typeface="宋体"/>
                <a:cs typeface="宋体"/>
              </a:rPr>
              <a:t>子问题与原问题具有相</a:t>
            </a:r>
            <a:r>
              <a:rPr sz="2800" b="1" dirty="0">
                <a:latin typeface="宋体"/>
                <a:cs typeface="宋体"/>
              </a:rPr>
              <a:t>同</a:t>
            </a:r>
            <a:r>
              <a:rPr sz="2800" b="1" spc="-13" dirty="0">
                <a:latin typeface="宋体"/>
                <a:cs typeface="宋体"/>
              </a:rPr>
              <a:t>的</a:t>
            </a:r>
            <a:r>
              <a:rPr sz="2800" b="1" dirty="0">
                <a:latin typeface="宋体"/>
                <a:cs typeface="宋体"/>
              </a:rPr>
              <a:t>性</a:t>
            </a:r>
            <a:r>
              <a:rPr sz="2800" b="1" spc="-20" dirty="0">
                <a:latin typeface="宋体"/>
                <a:cs typeface="宋体"/>
              </a:rPr>
              <a:t>质</a:t>
            </a:r>
            <a:endParaRPr sz="2800" dirty="0">
              <a:latin typeface="宋体"/>
              <a:cs typeface="宋体"/>
            </a:endParaRPr>
          </a:p>
          <a:p>
            <a:pPr marL="971949" algn="just">
              <a:spcBef>
                <a:spcPts val="400"/>
              </a:spcBef>
            </a:pPr>
            <a:r>
              <a:rPr sz="2800" b="1" spc="-7" dirty="0">
                <a:latin typeface="宋体"/>
                <a:cs typeface="宋体"/>
              </a:rPr>
              <a:t>子问题的求解彼此独立</a:t>
            </a:r>
            <a:endParaRPr sz="2800" dirty="0">
              <a:latin typeface="宋体"/>
              <a:cs typeface="宋体"/>
            </a:endParaRPr>
          </a:p>
          <a:p>
            <a:pPr marL="971949" algn="just">
              <a:spcBef>
                <a:spcPts val="400"/>
              </a:spcBef>
            </a:pPr>
            <a:r>
              <a:rPr sz="2800" b="1" spc="-7" dirty="0">
                <a:latin typeface="宋体"/>
                <a:cs typeface="宋体"/>
              </a:rPr>
              <a:t>划分时子问题的规模尽</a:t>
            </a:r>
            <a:r>
              <a:rPr sz="2800" b="1" spc="7" dirty="0">
                <a:latin typeface="宋体"/>
                <a:cs typeface="宋体"/>
              </a:rPr>
              <a:t>可</a:t>
            </a:r>
            <a:r>
              <a:rPr sz="2800" b="1" spc="-7" dirty="0">
                <a:latin typeface="宋体"/>
                <a:cs typeface="宋体"/>
              </a:rPr>
              <a:t>能</a:t>
            </a:r>
            <a:r>
              <a:rPr sz="2800" b="1" spc="7" dirty="0">
                <a:latin typeface="宋体"/>
                <a:cs typeface="宋体"/>
              </a:rPr>
              <a:t>均</a:t>
            </a:r>
            <a:r>
              <a:rPr sz="2800" b="1" spc="-20" dirty="0">
                <a:latin typeface="宋体"/>
                <a:cs typeface="宋体"/>
              </a:rPr>
              <a:t>衡</a:t>
            </a:r>
            <a:endParaRPr sz="2800" dirty="0">
              <a:latin typeface="宋体"/>
              <a:cs typeface="宋体"/>
            </a:endParaRPr>
          </a:p>
          <a:p>
            <a:pPr marL="568946" lvl="1" indent="-451262" algn="just">
              <a:spcBef>
                <a:spcPts val="1500"/>
              </a:spcBef>
              <a:buFont typeface="Arial"/>
              <a:buChar char="•"/>
              <a:tabLst>
                <a:tab pos="568946" algn="l"/>
                <a:tab pos="569792" algn="l"/>
              </a:tabLst>
            </a:pPr>
            <a:r>
              <a:rPr sz="3200" b="1" dirty="0">
                <a:latin typeface="宋体"/>
                <a:cs typeface="宋体"/>
              </a:rPr>
              <a:t>子问题规模足够小时可直接求解</a:t>
            </a:r>
          </a:p>
          <a:p>
            <a:pPr marL="575719" lvl="1" indent="-457189" algn="just">
              <a:spcBef>
                <a:spcPts val="1440"/>
              </a:spcBef>
              <a:buFont typeface="Arial"/>
              <a:buChar char="•"/>
              <a:tabLst>
                <a:tab pos="574872" algn="l"/>
                <a:tab pos="575719" algn="l"/>
              </a:tabLst>
            </a:pPr>
            <a:r>
              <a:rPr sz="3200" b="1" dirty="0">
                <a:latin typeface="宋体"/>
                <a:cs typeface="宋体"/>
              </a:rPr>
              <a:t>子问题的解综合得到原问题</a:t>
            </a:r>
            <a:r>
              <a:rPr sz="3200" b="1" spc="-20" dirty="0">
                <a:latin typeface="宋体"/>
                <a:cs typeface="宋体"/>
              </a:rPr>
              <a:t>的</a:t>
            </a:r>
            <a:r>
              <a:rPr sz="3200" b="1" spc="-13" dirty="0">
                <a:latin typeface="宋体"/>
                <a:cs typeface="宋体"/>
              </a:rPr>
              <a:t>解</a:t>
            </a:r>
            <a:endParaRPr sz="3200" b="1" dirty="0">
              <a:latin typeface="宋体"/>
              <a:cs typeface="宋体"/>
            </a:endParaRPr>
          </a:p>
          <a:p>
            <a:pPr marL="575719" lvl="1" indent="-457189" algn="just">
              <a:spcBef>
                <a:spcPts val="1440"/>
              </a:spcBef>
              <a:buFont typeface="Arial"/>
              <a:buChar char="•"/>
              <a:tabLst>
                <a:tab pos="574872" algn="l"/>
                <a:tab pos="575719" algn="l"/>
              </a:tabLst>
            </a:pPr>
            <a:r>
              <a:rPr sz="3200" b="1" dirty="0">
                <a:latin typeface="宋体"/>
                <a:cs typeface="宋体"/>
              </a:rPr>
              <a:t>算法实现：递归或迭代</a:t>
            </a:r>
          </a:p>
        </p:txBody>
      </p:sp>
    </p:spTree>
    <p:extLst>
      <p:ext uri="{BB962C8B-B14F-4D97-AF65-F5344CB8AC3E}">
        <p14:creationId xmlns:p14="http://schemas.microsoft.com/office/powerpoint/2010/main" val="407280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321" y="1181756"/>
            <a:ext cx="8926885" cy="4302374"/>
          </a:xfrm>
          <a:prstGeom prst="rect">
            <a:avLst/>
          </a:prstGeom>
        </p:spPr>
        <p:txBody>
          <a:bodyPr vert="horz" wrap="square" lIns="0" tIns="220133" rIns="0" bIns="0" rtlCol="0">
            <a:spAutoFit/>
          </a:bodyPr>
          <a:lstStyle/>
          <a:p>
            <a:pPr marL="67732">
              <a:spcBef>
                <a:spcPts val="1733"/>
              </a:spcBef>
            </a:pPr>
            <a:r>
              <a:rPr sz="3200" b="1" dirty="0">
                <a:latin typeface="宋体"/>
                <a:cs typeface="宋体"/>
              </a:rPr>
              <a:t>时间复杂度函数的递推方程</a:t>
            </a:r>
            <a:endParaRPr sz="3200" dirty="0">
              <a:latin typeface="宋体"/>
              <a:cs typeface="宋体"/>
            </a:endParaRPr>
          </a:p>
          <a:p>
            <a:pPr marL="67732" marR="515607">
              <a:lnSpc>
                <a:spcPct val="120100"/>
              </a:lnSpc>
              <a:spcBef>
                <a:spcPts val="827"/>
              </a:spcBef>
            </a:pPr>
            <a:r>
              <a:rPr lang="en-US" sz="3200" b="1" i="1" spc="-7" dirty="0" smtClean="0">
                <a:latin typeface="Times New Roman"/>
                <a:cs typeface="Times New Roman"/>
              </a:rPr>
              <a:t>       </a:t>
            </a:r>
            <a:r>
              <a:rPr sz="3200" b="1" i="1" spc="-7" dirty="0" smtClean="0">
                <a:latin typeface="Times New Roman"/>
                <a:cs typeface="Times New Roman"/>
              </a:rPr>
              <a:t>W</a:t>
            </a:r>
            <a:r>
              <a:rPr sz="3200" b="1" spc="-7" dirty="0" smtClean="0">
                <a:latin typeface="Times New Roman"/>
                <a:cs typeface="Times New Roman"/>
              </a:rPr>
              <a:t>(</a:t>
            </a:r>
            <a:r>
              <a:rPr sz="3200" b="1" i="1" spc="-7" dirty="0" smtClean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)=</a:t>
            </a: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(|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spc="-9" baseline="-20833" dirty="0">
                <a:latin typeface="Times New Roman"/>
                <a:cs typeface="Times New Roman"/>
              </a:rPr>
              <a:t>1</a:t>
            </a:r>
            <a:r>
              <a:rPr sz="3200" b="1" spc="-7" dirty="0">
                <a:latin typeface="Times New Roman"/>
                <a:cs typeface="Times New Roman"/>
              </a:rPr>
              <a:t>|)+</a:t>
            </a: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(|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spc="-9" baseline="-20833" dirty="0">
                <a:latin typeface="Times New Roman"/>
                <a:cs typeface="Times New Roman"/>
              </a:rPr>
              <a:t>2</a:t>
            </a:r>
            <a:r>
              <a:rPr sz="3200" b="1" spc="-7" dirty="0">
                <a:latin typeface="Times New Roman"/>
                <a:cs typeface="Times New Roman"/>
              </a:rPr>
              <a:t>|)+...+</a:t>
            </a: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(|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i="1" spc="-9" baseline="-20833" dirty="0">
                <a:latin typeface="Times New Roman"/>
                <a:cs typeface="Times New Roman"/>
              </a:rPr>
              <a:t>k</a:t>
            </a:r>
            <a:r>
              <a:rPr sz="3200" b="1" spc="-7" dirty="0">
                <a:latin typeface="Times New Roman"/>
                <a:cs typeface="Times New Roman"/>
              </a:rPr>
              <a:t>|)+</a:t>
            </a:r>
            <a:r>
              <a:rPr sz="3200" b="1" i="1" spc="-7" dirty="0">
                <a:latin typeface="Times New Roman"/>
                <a:cs typeface="Times New Roman"/>
              </a:rPr>
              <a:t>f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 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</a:p>
          <a:p>
            <a:pPr marL="67732" marR="515607">
              <a:lnSpc>
                <a:spcPct val="120100"/>
              </a:lnSpc>
              <a:spcBef>
                <a:spcPts val="827"/>
              </a:spcBef>
            </a:pPr>
            <a:r>
              <a:rPr lang="en-US" sz="3200" b="1" i="1" dirty="0" smtClean="0">
                <a:latin typeface="Times New Roman"/>
                <a:cs typeface="Times New Roman"/>
              </a:rPr>
              <a:t>       </a:t>
            </a:r>
            <a:r>
              <a:rPr sz="3200" b="1" i="1" dirty="0" smtClean="0">
                <a:latin typeface="Times New Roman"/>
                <a:cs typeface="Times New Roman"/>
              </a:rPr>
              <a:t>W</a:t>
            </a:r>
            <a:r>
              <a:rPr sz="3200" b="1" dirty="0" smtClean="0">
                <a:latin typeface="Times New Roman"/>
                <a:cs typeface="Times New Roman"/>
              </a:rPr>
              <a:t>(</a:t>
            </a:r>
            <a:r>
              <a:rPr sz="3200" b="1" i="1" dirty="0" smtClean="0">
                <a:latin typeface="Times New Roman"/>
                <a:cs typeface="Times New Roman"/>
              </a:rPr>
              <a:t>c</a:t>
            </a:r>
            <a:r>
              <a:rPr sz="3200" b="1" dirty="0">
                <a:latin typeface="Times New Roman"/>
                <a:cs typeface="Times New Roman"/>
              </a:rPr>
              <a:t>)=</a:t>
            </a:r>
            <a:r>
              <a:rPr sz="3200" b="1" i="1" dirty="0"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indent="-457189">
              <a:spcBef>
                <a:spcPts val="600"/>
              </a:spcBef>
              <a:buFont typeface="Arial"/>
              <a:buChar char="•"/>
              <a:tabLst>
                <a:tab pos="524074" algn="l"/>
                <a:tab pos="524920" algn="l"/>
              </a:tabLst>
            </a:pPr>
            <a:r>
              <a:rPr sz="3200" b="1" i="1" dirty="0">
                <a:latin typeface="Times New Roman"/>
                <a:cs typeface="Times New Roman"/>
              </a:rPr>
              <a:t>P</a:t>
            </a:r>
            <a:r>
              <a:rPr sz="3200" b="1" baseline="-20833" dirty="0">
                <a:latin typeface="Times New Roman"/>
                <a:cs typeface="Times New Roman"/>
              </a:rPr>
              <a:t>1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spc="-9" baseline="-20833" dirty="0">
                <a:latin typeface="Times New Roman"/>
                <a:cs typeface="Times New Roman"/>
              </a:rPr>
              <a:t>2</a:t>
            </a:r>
            <a:r>
              <a:rPr sz="3200" b="1" spc="-7" dirty="0">
                <a:latin typeface="Times New Roman"/>
                <a:cs typeface="Times New Roman"/>
              </a:rPr>
              <a:t>,</a:t>
            </a:r>
            <a:r>
              <a:rPr sz="3200" b="1" spc="-3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…,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i="1" spc="-7" dirty="0" err="1">
                <a:latin typeface="Times New Roman"/>
                <a:cs typeface="Times New Roman"/>
              </a:rPr>
              <a:t>P</a:t>
            </a:r>
            <a:r>
              <a:rPr sz="3200" b="1" i="1" spc="-9" baseline="-20833" dirty="0" err="1">
                <a:latin typeface="Times New Roman"/>
                <a:cs typeface="Times New Roman"/>
              </a:rPr>
              <a:t>k</a:t>
            </a:r>
            <a:r>
              <a:rPr sz="3200" b="1" i="1" spc="-20" baseline="-20833" dirty="0">
                <a:latin typeface="Times New Roman"/>
                <a:cs typeface="Times New Roman"/>
              </a:rPr>
              <a:t> </a:t>
            </a:r>
            <a:r>
              <a:rPr sz="3200" b="1" spc="-13" dirty="0" err="1" smtClean="0">
                <a:latin typeface="宋体"/>
                <a:cs typeface="宋体"/>
              </a:rPr>
              <a:t>为</a:t>
            </a:r>
            <a:r>
              <a:rPr sz="3200" b="1" dirty="0" err="1" smtClean="0">
                <a:latin typeface="宋体"/>
                <a:cs typeface="宋体"/>
              </a:rPr>
              <a:t>划分后产生</a:t>
            </a:r>
            <a:r>
              <a:rPr sz="3200" b="1" spc="-13" dirty="0" err="1" smtClean="0">
                <a:latin typeface="宋体"/>
                <a:cs typeface="宋体"/>
              </a:rPr>
              <a:t>的</a:t>
            </a:r>
            <a:r>
              <a:rPr sz="3200" b="1" dirty="0" err="1" smtClean="0">
                <a:latin typeface="宋体"/>
                <a:cs typeface="宋体"/>
              </a:rPr>
              <a:t>子问题</a:t>
            </a:r>
            <a:endParaRPr lang="en-US" sz="3200" dirty="0">
              <a:latin typeface="宋体"/>
              <a:cs typeface="宋体"/>
            </a:endParaRPr>
          </a:p>
          <a:p>
            <a:pPr indent="-457189">
              <a:spcBef>
                <a:spcPts val="600"/>
              </a:spcBef>
              <a:buFont typeface="Arial"/>
              <a:buChar char="•"/>
              <a:tabLst>
                <a:tab pos="524074" algn="l"/>
                <a:tab pos="524920" algn="l"/>
              </a:tabLst>
            </a:pPr>
            <a:r>
              <a:rPr sz="3200" b="1" i="1" spc="7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200" b="1" i="1" spc="-13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为划分子问题以及将子问题</a:t>
            </a:r>
            <a:r>
              <a:rPr sz="3200" b="1" spc="7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sz="3200" b="1" spc="-13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综合得到原问</a:t>
            </a:r>
            <a:r>
              <a:rPr sz="3200" b="1" spc="7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题</a:t>
            </a:r>
            <a:r>
              <a:rPr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解的总工作量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189">
              <a:spcBef>
                <a:spcPts val="600"/>
              </a:spcBef>
              <a:buFont typeface="Arial"/>
              <a:buChar char="•"/>
              <a:tabLst>
                <a:tab pos="524074" algn="l"/>
                <a:tab pos="524920" algn="l"/>
              </a:tabLst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规模为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的最小子问题的工作量为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322" y="255264"/>
            <a:ext cx="8853312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分治算法时间分析</a:t>
            </a:r>
          </a:p>
        </p:txBody>
      </p:sp>
      <p:sp>
        <p:nvSpPr>
          <p:cNvPr id="4" name="object 4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302354" y="-188913"/>
            <a:ext cx="249936" cy="264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190409" y="2017872"/>
            <a:ext cx="6681841" cy="1237322"/>
          </a:xfrm>
          <a:custGeom>
            <a:avLst/>
            <a:gdLst/>
            <a:ahLst/>
            <a:cxnLst/>
            <a:rect l="l" t="t" r="r" b="b"/>
            <a:pathLst>
              <a:path w="50292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4876800" y="0"/>
                </a:lnTo>
                <a:lnTo>
                  <a:pt x="4924982" y="7766"/>
                </a:lnTo>
                <a:lnTo>
                  <a:pt x="4966819" y="29394"/>
                </a:lnTo>
                <a:lnTo>
                  <a:pt x="4999805" y="62380"/>
                </a:lnTo>
                <a:lnTo>
                  <a:pt x="5021433" y="104217"/>
                </a:lnTo>
                <a:lnTo>
                  <a:pt x="5029200" y="152400"/>
                </a:lnTo>
                <a:lnTo>
                  <a:pt x="5029200" y="762000"/>
                </a:lnTo>
                <a:lnTo>
                  <a:pt x="5021433" y="810182"/>
                </a:lnTo>
                <a:lnTo>
                  <a:pt x="4999805" y="852019"/>
                </a:lnTo>
                <a:lnTo>
                  <a:pt x="4966819" y="885005"/>
                </a:lnTo>
                <a:lnTo>
                  <a:pt x="4924982" y="906633"/>
                </a:lnTo>
                <a:lnTo>
                  <a:pt x="4876800" y="914400"/>
                </a:lnTo>
                <a:lnTo>
                  <a:pt x="152400" y="914400"/>
                </a:lnTo>
                <a:lnTo>
                  <a:pt x="104231" y="906633"/>
                </a:lnTo>
                <a:lnTo>
                  <a:pt x="62396" y="885005"/>
                </a:lnTo>
                <a:lnTo>
                  <a:pt x="29405" y="852019"/>
                </a:lnTo>
                <a:lnTo>
                  <a:pt x="7769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3255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853" y="248935"/>
            <a:ext cx="8899333" cy="631797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常见的递推方程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idx="4294967295"/>
          </p:nvPr>
        </p:nvSpPr>
        <p:spPr>
          <a:xfrm>
            <a:off x="1282262" y="3607686"/>
            <a:ext cx="8029903" cy="2333117"/>
          </a:xfrm>
          <a:prstGeom prst="rect">
            <a:avLst/>
          </a:prstGeom>
          <a:noFill/>
        </p:spPr>
        <p:txBody>
          <a:bodyPr vert="horz" wrap="square" lIns="0" tIns="16933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520"/>
              </a:spcBef>
              <a:buNone/>
            </a:pPr>
            <a:r>
              <a:rPr sz="32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例子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16933">
              <a:lnSpc>
                <a:spcPct val="100000"/>
              </a:lnSpc>
            </a:pP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Hanoi塔</a:t>
            </a:r>
            <a:r>
              <a:rPr sz="32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sz="3200" b="1" spc="-1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)=2</a:t>
            </a:r>
            <a:r>
              <a:rPr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-1)+1</a:t>
            </a:r>
          </a:p>
          <a:p>
            <a:pPr marL="16933">
              <a:lnSpc>
                <a:spcPct val="100000"/>
              </a:lnSpc>
            </a:pP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二分检索，</a:t>
            </a:r>
            <a:r>
              <a:rPr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</a:t>
            </a:r>
            <a:r>
              <a:rPr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/2)+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sz="32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6933">
              <a:lnSpc>
                <a:spcPct val="10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归并排序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)=2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/2)+</a:t>
            </a:r>
            <a:r>
              <a:rPr lang="en-US" altLang="zh-CN" sz="32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360204" y="1197006"/>
                <a:ext cx="7202036" cy="12285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                        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204" y="1197006"/>
                <a:ext cx="7202036" cy="1228541"/>
              </a:xfrm>
              <a:prstGeom prst="rect">
                <a:avLst/>
              </a:prstGeom>
              <a:blipFill>
                <a:blip r:embed="rId2"/>
                <a:stretch>
                  <a:fillRect l="-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1360204" y="2644623"/>
                <a:ext cx="7804817" cy="7619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𝒂𝒇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(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204" y="2644623"/>
                <a:ext cx="7804817" cy="761940"/>
              </a:xfrm>
              <a:prstGeom prst="rect">
                <a:avLst/>
              </a:prstGeom>
              <a:blipFill rotWithShape="1">
                <a:blip r:embed="rId3"/>
                <a:stretch>
                  <a:fillRect l="-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41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909" y="249419"/>
            <a:ext cx="8902277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递推方程的求解</a:t>
            </a:r>
          </a:p>
        </p:txBody>
      </p:sp>
      <p:sp>
        <p:nvSpPr>
          <p:cNvPr id="3" name="object 3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02354" y="-188913"/>
            <a:ext cx="249936" cy="264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02354" y="-188913"/>
            <a:ext cx="249936" cy="264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507423" y="1500926"/>
            <a:ext cx="107780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宋体"/>
                <a:cs typeface="宋体"/>
              </a:rPr>
              <a:t>方程</a:t>
            </a:r>
            <a:r>
              <a:rPr sz="3200" b="1" spc="-7" dirty="0">
                <a:latin typeface="Arial"/>
                <a:cs typeface="Arial"/>
              </a:rPr>
              <a:t>1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7422" y="2580962"/>
            <a:ext cx="107780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latin typeface="宋体"/>
                <a:cs typeface="宋体"/>
              </a:rPr>
              <a:t>方</a:t>
            </a:r>
            <a:r>
              <a:rPr sz="3200" b="1" spc="-7" dirty="0">
                <a:latin typeface="宋体"/>
                <a:cs typeface="宋体"/>
              </a:rPr>
              <a:t>程</a:t>
            </a:r>
            <a:r>
              <a:rPr sz="3200" b="1" dirty="0">
                <a:latin typeface="Arial"/>
                <a:cs typeface="Arial"/>
              </a:rPr>
              <a:t>2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0909" y="3364524"/>
            <a:ext cx="8902277" cy="2397237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16933">
              <a:spcBef>
                <a:spcPts val="933"/>
              </a:spcBef>
            </a:pPr>
            <a:r>
              <a:rPr sz="32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求解方法</a:t>
            </a:r>
          </a:p>
          <a:p>
            <a:pPr marL="16933">
              <a:spcBef>
                <a:spcPts val="807"/>
              </a:spcBef>
            </a:pPr>
            <a:r>
              <a:rPr sz="32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方程1：迭代法、递归树</a:t>
            </a:r>
          </a:p>
          <a:p>
            <a:pPr marL="16933">
              <a:spcBef>
                <a:spcPts val="800"/>
              </a:spcBef>
            </a:pPr>
            <a:r>
              <a:rPr sz="32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方程2：迭代法、换元法、递归树</a:t>
            </a:r>
            <a:r>
              <a:rPr sz="32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、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主定理</a:t>
            </a:r>
          </a:p>
          <a:p>
            <a:pPr marL="16933">
              <a:spcBef>
                <a:spcPts val="800"/>
              </a:spcBef>
            </a:pPr>
            <a:endParaRPr sz="32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281434" y="1126233"/>
                <a:ext cx="4961038" cy="12285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434" y="1126233"/>
                <a:ext cx="4961038" cy="1228541"/>
              </a:xfrm>
              <a:prstGeom prst="rect">
                <a:avLst/>
              </a:prstGeom>
              <a:blipFill rotWithShape="1">
                <a:blip r:embed="rId4"/>
                <a:stretch>
                  <a:fillRect l="-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2239392" y="2477517"/>
                <a:ext cx="4620182" cy="7619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𝒂𝒇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392" y="2477517"/>
                <a:ext cx="4620182" cy="761940"/>
              </a:xfrm>
              <a:prstGeom prst="rect">
                <a:avLst/>
              </a:prstGeom>
              <a:blipFill rotWithShape="1">
                <a:blip r:embed="rId5"/>
                <a:stretch>
                  <a:fillRect l="-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49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322" y="237728"/>
            <a:ext cx="8904708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的解</a:t>
            </a:r>
          </a:p>
        </p:txBody>
      </p:sp>
      <p:sp>
        <p:nvSpPr>
          <p:cNvPr id="3" name="object 3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02354" y="-188913"/>
            <a:ext cx="249936" cy="264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02354" y="-188913"/>
            <a:ext cx="249936" cy="264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444756" y="990715"/>
            <a:ext cx="85090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spc="-7" dirty="0">
                <a:latin typeface="宋体"/>
                <a:cs typeface="宋体"/>
              </a:rPr>
              <a:t>方程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0486" y="1917703"/>
            <a:ext cx="196088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i="1" dirty="0">
                <a:latin typeface="Times New Roman"/>
                <a:cs typeface="Times New Roman"/>
              </a:rPr>
              <a:t>d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)</a:t>
            </a:r>
            <a:r>
              <a:rPr sz="3200" b="1" dirty="0">
                <a:latin typeface="宋体"/>
                <a:cs typeface="宋体"/>
              </a:rPr>
              <a:t>为常数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0487" y="3773189"/>
            <a:ext cx="15739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d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12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cn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4204" y="984838"/>
            <a:ext cx="4295140" cy="563337"/>
          </a:xfrm>
          <a:prstGeom prst="rect">
            <a:avLst/>
          </a:prstGeom>
        </p:spPr>
        <p:txBody>
          <a:bodyPr vert="horz" wrap="square" lIns="0" tIns="19472" rIns="0" bIns="0" rtlCol="0">
            <a:spAutoFit/>
          </a:bodyPr>
          <a:lstStyle/>
          <a:p>
            <a:pPr marL="16933">
              <a:spcBef>
                <a:spcPts val="152"/>
              </a:spcBef>
            </a:pPr>
            <a:r>
              <a:rPr sz="3533" b="1" i="1" spc="173" dirty="0">
                <a:latin typeface="Times New Roman"/>
                <a:cs typeface="Times New Roman"/>
              </a:rPr>
              <a:t>T</a:t>
            </a:r>
            <a:r>
              <a:rPr sz="3533" b="1" spc="173" dirty="0">
                <a:latin typeface="Times New Roman"/>
                <a:cs typeface="Times New Roman"/>
              </a:rPr>
              <a:t>(</a:t>
            </a:r>
            <a:r>
              <a:rPr sz="3533" b="1" i="1" spc="173" dirty="0">
                <a:latin typeface="Times New Roman"/>
                <a:cs typeface="Times New Roman"/>
              </a:rPr>
              <a:t>n</a:t>
            </a:r>
            <a:r>
              <a:rPr sz="3533" b="1" spc="173" dirty="0">
                <a:latin typeface="Times New Roman"/>
                <a:cs typeface="Times New Roman"/>
              </a:rPr>
              <a:t>)</a:t>
            </a:r>
            <a:r>
              <a:rPr sz="3533" b="1" spc="-193" dirty="0">
                <a:latin typeface="Times New Roman"/>
                <a:cs typeface="Times New Roman"/>
              </a:rPr>
              <a:t> </a:t>
            </a:r>
            <a:r>
              <a:rPr sz="3533" spc="93" dirty="0">
                <a:latin typeface="Symbol"/>
                <a:cs typeface="Symbol"/>
              </a:rPr>
              <a:t></a:t>
            </a:r>
            <a:r>
              <a:rPr sz="3533" spc="-100" dirty="0">
                <a:latin typeface="Times New Roman"/>
                <a:cs typeface="Times New Roman"/>
              </a:rPr>
              <a:t> </a:t>
            </a:r>
            <a:r>
              <a:rPr sz="3533" b="1" i="1" spc="160" dirty="0">
                <a:latin typeface="Times New Roman"/>
                <a:cs typeface="Times New Roman"/>
              </a:rPr>
              <a:t>aT</a:t>
            </a:r>
            <a:r>
              <a:rPr sz="3533" b="1" spc="160" dirty="0">
                <a:latin typeface="Times New Roman"/>
                <a:cs typeface="Times New Roman"/>
              </a:rPr>
              <a:t>(</a:t>
            </a:r>
            <a:r>
              <a:rPr sz="3533" b="1" i="1" spc="160" dirty="0">
                <a:latin typeface="Times New Roman"/>
                <a:cs typeface="Times New Roman"/>
              </a:rPr>
              <a:t>n</a:t>
            </a:r>
            <a:r>
              <a:rPr sz="3533" b="1" i="1" spc="-453" dirty="0">
                <a:latin typeface="Times New Roman"/>
                <a:cs typeface="Times New Roman"/>
              </a:rPr>
              <a:t> </a:t>
            </a:r>
            <a:r>
              <a:rPr sz="3533" b="1" spc="47" dirty="0">
                <a:latin typeface="Times New Roman"/>
                <a:cs typeface="Times New Roman"/>
              </a:rPr>
              <a:t>/</a:t>
            </a:r>
            <a:r>
              <a:rPr sz="3533" b="1" spc="-313" dirty="0">
                <a:latin typeface="Times New Roman"/>
                <a:cs typeface="Times New Roman"/>
              </a:rPr>
              <a:t> </a:t>
            </a:r>
            <a:r>
              <a:rPr sz="3533" b="1" i="1" spc="87" dirty="0">
                <a:latin typeface="Times New Roman"/>
                <a:cs typeface="Times New Roman"/>
              </a:rPr>
              <a:t>b</a:t>
            </a:r>
            <a:r>
              <a:rPr sz="3533" b="1" spc="87" dirty="0">
                <a:latin typeface="Times New Roman"/>
                <a:cs typeface="Times New Roman"/>
              </a:rPr>
              <a:t>)</a:t>
            </a:r>
            <a:r>
              <a:rPr sz="3533" b="1" spc="-407" dirty="0">
                <a:latin typeface="Times New Roman"/>
                <a:cs typeface="Times New Roman"/>
              </a:rPr>
              <a:t> </a:t>
            </a:r>
            <a:r>
              <a:rPr sz="3533" spc="93" dirty="0">
                <a:latin typeface="Symbol"/>
                <a:cs typeface="Symbol"/>
              </a:rPr>
              <a:t></a:t>
            </a:r>
            <a:r>
              <a:rPr sz="3533" spc="-280" dirty="0">
                <a:latin typeface="Times New Roman"/>
                <a:cs typeface="Times New Roman"/>
              </a:rPr>
              <a:t> </a:t>
            </a:r>
            <a:r>
              <a:rPr sz="3533" b="1" i="1" spc="160" dirty="0">
                <a:latin typeface="Times New Roman"/>
                <a:cs typeface="Times New Roman"/>
              </a:rPr>
              <a:t>d</a:t>
            </a:r>
            <a:r>
              <a:rPr sz="3533" b="1" spc="160" dirty="0">
                <a:latin typeface="Times New Roman"/>
                <a:cs typeface="Times New Roman"/>
              </a:rPr>
              <a:t>(</a:t>
            </a:r>
            <a:r>
              <a:rPr sz="3533" b="1" i="1" spc="160" dirty="0">
                <a:latin typeface="Times New Roman"/>
                <a:cs typeface="Times New Roman"/>
              </a:rPr>
              <a:t>n</a:t>
            </a:r>
            <a:r>
              <a:rPr sz="3533" b="1" spc="160" dirty="0">
                <a:latin typeface="Times New Roman"/>
                <a:cs typeface="Times New Roman"/>
              </a:rPr>
              <a:t>)</a:t>
            </a:r>
            <a:endParaRPr sz="3533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23899" y="1901445"/>
            <a:ext cx="6197600" cy="1727200"/>
          </a:xfrm>
          <a:custGeom>
            <a:avLst/>
            <a:gdLst/>
            <a:ahLst/>
            <a:cxnLst/>
            <a:rect l="l" t="t" r="r" b="b"/>
            <a:pathLst>
              <a:path w="4648200" h="1295400">
                <a:moveTo>
                  <a:pt x="0" y="215900"/>
                </a:moveTo>
                <a:lnTo>
                  <a:pt x="5701" y="166391"/>
                </a:lnTo>
                <a:lnTo>
                  <a:pt x="21943" y="120946"/>
                </a:lnTo>
                <a:lnTo>
                  <a:pt x="47430" y="80859"/>
                </a:lnTo>
                <a:lnTo>
                  <a:pt x="80864" y="47426"/>
                </a:lnTo>
                <a:lnTo>
                  <a:pt x="120951" y="21941"/>
                </a:lnTo>
                <a:lnTo>
                  <a:pt x="166395" y="5701"/>
                </a:lnTo>
                <a:lnTo>
                  <a:pt x="215900" y="0"/>
                </a:lnTo>
                <a:lnTo>
                  <a:pt x="4432300" y="0"/>
                </a:lnTo>
                <a:lnTo>
                  <a:pt x="4481808" y="5701"/>
                </a:lnTo>
                <a:lnTo>
                  <a:pt x="4527253" y="21941"/>
                </a:lnTo>
                <a:lnTo>
                  <a:pt x="4567340" y="47426"/>
                </a:lnTo>
                <a:lnTo>
                  <a:pt x="4600773" y="80859"/>
                </a:lnTo>
                <a:lnTo>
                  <a:pt x="4626258" y="120946"/>
                </a:lnTo>
                <a:lnTo>
                  <a:pt x="4642498" y="166391"/>
                </a:lnTo>
                <a:lnTo>
                  <a:pt x="4648200" y="215900"/>
                </a:lnTo>
                <a:lnTo>
                  <a:pt x="4648200" y="1079500"/>
                </a:lnTo>
                <a:lnTo>
                  <a:pt x="4642498" y="1129008"/>
                </a:lnTo>
                <a:lnTo>
                  <a:pt x="4626258" y="1174453"/>
                </a:lnTo>
                <a:lnTo>
                  <a:pt x="4600773" y="1214540"/>
                </a:lnTo>
                <a:lnTo>
                  <a:pt x="4567340" y="1247973"/>
                </a:lnTo>
                <a:lnTo>
                  <a:pt x="4527253" y="1273458"/>
                </a:lnTo>
                <a:lnTo>
                  <a:pt x="4481808" y="1289698"/>
                </a:lnTo>
                <a:lnTo>
                  <a:pt x="4432300" y="1295400"/>
                </a:lnTo>
                <a:lnTo>
                  <a:pt x="215900" y="1295400"/>
                </a:lnTo>
                <a:lnTo>
                  <a:pt x="166395" y="1289698"/>
                </a:lnTo>
                <a:lnTo>
                  <a:pt x="120951" y="1273458"/>
                </a:lnTo>
                <a:lnTo>
                  <a:pt x="80864" y="1247973"/>
                </a:lnTo>
                <a:lnTo>
                  <a:pt x="47430" y="1214540"/>
                </a:lnTo>
                <a:lnTo>
                  <a:pt x="21943" y="1174453"/>
                </a:lnTo>
                <a:lnTo>
                  <a:pt x="5701" y="1129008"/>
                </a:lnTo>
                <a:lnTo>
                  <a:pt x="0" y="1079500"/>
                </a:lnTo>
                <a:lnTo>
                  <a:pt x="0" y="2159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323899" y="3831845"/>
            <a:ext cx="6197600" cy="2133600"/>
          </a:xfrm>
          <a:custGeom>
            <a:avLst/>
            <a:gdLst/>
            <a:ahLst/>
            <a:cxnLst/>
            <a:rect l="l" t="t" r="r" b="b"/>
            <a:pathLst>
              <a:path w="4648200" h="1600200">
                <a:moveTo>
                  <a:pt x="0" y="266700"/>
                </a:moveTo>
                <a:lnTo>
                  <a:pt x="4296" y="218753"/>
                </a:lnTo>
                <a:lnTo>
                  <a:pt x="16685" y="173629"/>
                </a:lnTo>
                <a:lnTo>
                  <a:pt x="36412" y="132080"/>
                </a:lnTo>
                <a:lnTo>
                  <a:pt x="62724" y="94858"/>
                </a:lnTo>
                <a:lnTo>
                  <a:pt x="94868" y="62716"/>
                </a:lnTo>
                <a:lnTo>
                  <a:pt x="132091" y="36406"/>
                </a:lnTo>
                <a:lnTo>
                  <a:pt x="173639" y="16682"/>
                </a:lnTo>
                <a:lnTo>
                  <a:pt x="218760" y="4296"/>
                </a:lnTo>
                <a:lnTo>
                  <a:pt x="266700" y="0"/>
                </a:lnTo>
                <a:lnTo>
                  <a:pt x="4381500" y="0"/>
                </a:lnTo>
                <a:lnTo>
                  <a:pt x="4429446" y="4296"/>
                </a:lnTo>
                <a:lnTo>
                  <a:pt x="4474570" y="16682"/>
                </a:lnTo>
                <a:lnTo>
                  <a:pt x="4516120" y="36406"/>
                </a:lnTo>
                <a:lnTo>
                  <a:pt x="4553341" y="62716"/>
                </a:lnTo>
                <a:lnTo>
                  <a:pt x="4585483" y="94858"/>
                </a:lnTo>
                <a:lnTo>
                  <a:pt x="4611793" y="132080"/>
                </a:lnTo>
                <a:lnTo>
                  <a:pt x="4631517" y="173629"/>
                </a:lnTo>
                <a:lnTo>
                  <a:pt x="4643903" y="218753"/>
                </a:lnTo>
                <a:lnTo>
                  <a:pt x="4648200" y="266700"/>
                </a:lnTo>
                <a:lnTo>
                  <a:pt x="4648200" y="1333500"/>
                </a:lnTo>
                <a:lnTo>
                  <a:pt x="4643903" y="1381439"/>
                </a:lnTo>
                <a:lnTo>
                  <a:pt x="4631517" y="1426560"/>
                </a:lnTo>
                <a:lnTo>
                  <a:pt x="4611793" y="1468108"/>
                </a:lnTo>
                <a:lnTo>
                  <a:pt x="4585483" y="1505331"/>
                </a:lnTo>
                <a:lnTo>
                  <a:pt x="4553341" y="1537475"/>
                </a:lnTo>
                <a:lnTo>
                  <a:pt x="4516120" y="1563787"/>
                </a:lnTo>
                <a:lnTo>
                  <a:pt x="4474570" y="1583514"/>
                </a:lnTo>
                <a:lnTo>
                  <a:pt x="4429446" y="1595903"/>
                </a:lnTo>
                <a:lnTo>
                  <a:pt x="4381500" y="1600200"/>
                </a:lnTo>
                <a:lnTo>
                  <a:pt x="266700" y="1600200"/>
                </a:lnTo>
                <a:lnTo>
                  <a:pt x="218760" y="1595903"/>
                </a:lnTo>
                <a:lnTo>
                  <a:pt x="173639" y="1583514"/>
                </a:lnTo>
                <a:lnTo>
                  <a:pt x="132091" y="1563787"/>
                </a:lnTo>
                <a:lnTo>
                  <a:pt x="94868" y="1537475"/>
                </a:lnTo>
                <a:lnTo>
                  <a:pt x="62724" y="1505331"/>
                </a:lnTo>
                <a:lnTo>
                  <a:pt x="36412" y="1468108"/>
                </a:lnTo>
                <a:lnTo>
                  <a:pt x="16685" y="1426560"/>
                </a:lnTo>
                <a:lnTo>
                  <a:pt x="4296" y="1381439"/>
                </a:lnTo>
                <a:lnTo>
                  <a:pt x="0" y="1333500"/>
                </a:lnTo>
                <a:lnTo>
                  <a:pt x="0" y="2667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1452548" y="2434368"/>
                <a:ext cx="5608780" cy="11190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800" b="1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altLang="zh-CN" sz="2800" b="1" i="1" smtClean="0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altLang="zh-CN" sz="2800" b="1" i="1" smtClean="0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b="1" i="0" smtClean="0">
                                                  <a:latin typeface="Cambria Math" panose="02040503050406030204" pitchFamily="18" charset="0"/>
                                                </a:rPr>
                                                <m:t>𝐥𝐨𝐠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2800" b="1" i="1" smtClean="0"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CN" sz="2800" b="1" i="0" smtClean="0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fName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func>
                                </m:e>
                              </m:d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548" y="2434368"/>
                <a:ext cx="5608780" cy="11190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1487686" y="4282730"/>
                <a:ext cx="5524718" cy="15955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zh-CN" sz="2800" b="1" i="1" smtClean="0"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CN" sz="2800" b="1" i="0" smtClean="0">
                                          <a:latin typeface="Cambria Math" panose="02040503050406030204" pitchFamily="18" charset="0"/>
                                        </a:rPr>
                                        <m:t>𝐧𝐥𝐨𝐠</m:t>
                                      </m:r>
                                    </m:fName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func>
                                </m:e>
                              </m:d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  <m:d>
                                <m:dPr>
                                  <m:ctrlPr>
                                    <a:rPr lang="en-US" altLang="zh-CN" sz="2800" b="1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800" b="1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altLang="zh-CN" sz="2800" b="1" i="1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altLang="zh-CN" sz="2800" b="1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800" b="1">
                                                  <a:latin typeface="Cambria Math" panose="02040503050406030204" pitchFamily="18" charset="0"/>
                                                </a:rPr>
                                                <m:t>𝐥𝐨𝐠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800" b="1" i="1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2800" b="1" i="1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                  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686" y="4282730"/>
                <a:ext cx="5524718" cy="15955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43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022" y="229890"/>
            <a:ext cx="8886124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-1235869" y="-188912"/>
            <a:ext cx="0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866">
              <a:lnSpc>
                <a:spcPts val="1907"/>
              </a:lnSpc>
            </a:pPr>
            <a:fld id="{81D60167-4931-47E6-BA6A-407CBD079E47}" type="slidenum">
              <a:rPr dirty="0"/>
              <a:pPr marL="33866">
                <a:lnSpc>
                  <a:spcPts val="1907"/>
                </a:lnSpc>
              </a:pPr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26041" y="1284358"/>
            <a:ext cx="8886123" cy="4655804"/>
          </a:xfrm>
          <a:prstGeom prst="rect">
            <a:avLst/>
          </a:prstGeom>
        </p:spPr>
        <p:txBody>
          <a:bodyPr vert="horz" wrap="square" lIns="0" tIns="82973" rIns="0" bIns="0" rtlCol="0">
            <a:spAutoFit/>
          </a:bodyPr>
          <a:lstStyle/>
          <a:p>
            <a:pPr marL="474121" indent="-457189" algn="just">
              <a:spcBef>
                <a:spcPts val="653"/>
              </a:spcBef>
              <a:buFont typeface="Arial"/>
              <a:buChar char="•"/>
              <a:tabLst>
                <a:tab pos="473275" algn="l"/>
                <a:tab pos="474121" algn="l"/>
              </a:tabLst>
            </a:pP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分治算法的一般描述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561326" marR="12700" indent="-6773" algn="just">
              <a:lnSpc>
                <a:spcPct val="105500"/>
              </a:lnSpc>
              <a:spcBef>
                <a:spcPts val="247"/>
              </a:spcBef>
            </a:pPr>
            <a:r>
              <a:rPr lang="en-US" sz="3200" b="1" dirty="0" smtClean="0">
                <a:latin typeface="宋体"/>
                <a:cs typeface="宋体"/>
              </a:rPr>
              <a:t> </a:t>
            </a:r>
            <a:r>
              <a:rPr sz="2800" b="1" dirty="0" err="1" smtClean="0">
                <a:latin typeface="宋体"/>
                <a:cs typeface="宋体"/>
              </a:rPr>
              <a:t>划分或归约为彼此独立的子问题</a:t>
            </a:r>
            <a:endParaRPr lang="en-US" sz="2800" b="1" dirty="0" smtClean="0">
              <a:latin typeface="宋体"/>
              <a:cs typeface="宋体"/>
            </a:endParaRPr>
          </a:p>
          <a:p>
            <a:pPr marL="561326" marR="12700" indent="-6773" algn="just">
              <a:lnSpc>
                <a:spcPct val="105500"/>
              </a:lnSpc>
              <a:spcBef>
                <a:spcPts val="247"/>
              </a:spcBef>
            </a:pPr>
            <a:r>
              <a:rPr lang="en-US" sz="2800" b="1" dirty="0" smtClean="0">
                <a:latin typeface="宋体"/>
                <a:cs typeface="宋体"/>
              </a:rPr>
              <a:t> </a:t>
            </a:r>
            <a:r>
              <a:rPr sz="2800" b="1" dirty="0" err="1" smtClean="0">
                <a:latin typeface="宋体"/>
                <a:cs typeface="宋体"/>
              </a:rPr>
              <a:t>分别求解每个子问题</a:t>
            </a:r>
            <a:endParaRPr sz="2800" dirty="0">
              <a:latin typeface="宋体"/>
              <a:cs typeface="宋体"/>
            </a:endParaRPr>
          </a:p>
          <a:p>
            <a:pPr marL="561326" marR="6773" algn="just"/>
            <a:r>
              <a:rPr lang="en-US" sz="2800" b="1" dirty="0" smtClean="0">
                <a:latin typeface="宋体"/>
                <a:cs typeface="宋体"/>
              </a:rPr>
              <a:t> </a:t>
            </a:r>
            <a:r>
              <a:rPr sz="2800" b="1" dirty="0" err="1" smtClean="0">
                <a:latin typeface="宋体"/>
                <a:cs typeface="宋体"/>
              </a:rPr>
              <a:t>给出递归或迭代计算的终止条件</a:t>
            </a:r>
            <a:endParaRPr lang="en-US" sz="2800" b="1" dirty="0" smtClean="0">
              <a:latin typeface="宋体"/>
              <a:cs typeface="宋体"/>
            </a:endParaRPr>
          </a:p>
          <a:p>
            <a:pPr marL="561326" marR="6773" algn="just"/>
            <a:r>
              <a:rPr lang="en-US" sz="2800" b="1" spc="-7" dirty="0" smtClean="0">
                <a:latin typeface="宋体"/>
                <a:cs typeface="宋体"/>
              </a:rPr>
              <a:t> </a:t>
            </a:r>
            <a:r>
              <a:rPr sz="2800" b="1" spc="-7" dirty="0" err="1" smtClean="0">
                <a:latin typeface="宋体"/>
                <a:cs typeface="宋体"/>
              </a:rPr>
              <a:t>如何由子问题的解得到原问题解</a:t>
            </a:r>
            <a:endParaRPr sz="2800" dirty="0">
              <a:latin typeface="宋体"/>
              <a:cs typeface="宋体"/>
            </a:endParaRPr>
          </a:p>
          <a:p>
            <a:pPr marL="486821" indent="-458035" algn="just">
              <a:spcBef>
                <a:spcPts val="1747"/>
              </a:spcBef>
              <a:buFont typeface="Arial"/>
              <a:buChar char="•"/>
              <a:tabLst>
                <a:tab pos="486821" algn="l"/>
                <a:tab pos="487668" algn="l"/>
              </a:tabLst>
            </a:pPr>
            <a:r>
              <a:rPr sz="3200" b="1" spc="-7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分治算法的分析方法</a:t>
            </a:r>
            <a:endParaRPr sz="32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82588" algn="just">
              <a:spcBef>
                <a:spcPts val="27"/>
              </a:spcBef>
            </a:pPr>
            <a:r>
              <a:rPr lang="en-US" sz="2800" b="1" spc="-7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 </a:t>
            </a: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求解时间复杂度的递推方程</a:t>
            </a:r>
            <a:endParaRPr lang="en-US" sz="2800" b="1" spc="-7" dirty="0" smtClean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482588" algn="just">
              <a:spcBef>
                <a:spcPts val="27"/>
              </a:spcBef>
            </a:pP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 常用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的递推方程</a:t>
            </a:r>
            <a:r>
              <a:rPr lang="zh-CN" altLang="en-US"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的解</a:t>
            </a:r>
          </a:p>
          <a:p>
            <a:pPr marL="482588" algn="just">
              <a:spcBef>
                <a:spcPts val="27"/>
              </a:spcBef>
            </a:pPr>
            <a:endParaRPr sz="3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49957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26687" y="2167971"/>
            <a:ext cx="8028127" cy="103276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33"/>
              </a:spcBef>
            </a:pPr>
            <a:r>
              <a:rPr sz="66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芯片测试</a:t>
            </a:r>
            <a:endParaRPr sz="66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372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817619" y="3736714"/>
            <a:ext cx="1528233" cy="359833"/>
          </a:xfrm>
          <a:custGeom>
            <a:avLst/>
            <a:gdLst/>
            <a:ahLst/>
            <a:cxnLst/>
            <a:rect l="l" t="t" r="r" b="b"/>
            <a:pathLst>
              <a:path w="1146175" h="269875">
                <a:moveTo>
                  <a:pt x="0" y="269875"/>
                </a:moveTo>
                <a:lnTo>
                  <a:pt x="1146175" y="269875"/>
                </a:lnTo>
                <a:lnTo>
                  <a:pt x="1146175" y="0"/>
                </a:lnTo>
                <a:lnTo>
                  <a:pt x="0" y="0"/>
                </a:lnTo>
                <a:lnTo>
                  <a:pt x="0" y="269875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450692" y="3707926"/>
            <a:ext cx="8893005" cy="241775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530847" algn="ctr">
              <a:spcBef>
                <a:spcPts val="133"/>
              </a:spcBef>
              <a:tabLst>
                <a:tab pos="2203818" algn="l"/>
              </a:tabLst>
            </a:pPr>
            <a:r>
              <a:rPr sz="2400" b="1" i="1" dirty="0">
                <a:latin typeface="Times New Roman"/>
                <a:cs typeface="Times New Roman"/>
              </a:rPr>
              <a:t>A	B</a:t>
            </a: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3" marR="6773" algn="just">
              <a:lnSpc>
                <a:spcPts val="4000"/>
              </a:lnSpc>
            </a:pPr>
            <a:r>
              <a:rPr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好芯片的报告一定是正确的，坏芯片的报告是不确定的（可能会出错）</a:t>
            </a:r>
          </a:p>
          <a:p>
            <a:pPr marL="16933" marR="6773" algn="just">
              <a:lnSpc>
                <a:spcPts val="4000"/>
              </a:lnSpc>
            </a:pPr>
            <a:endParaRPr sz="3467" dirty="0">
              <a:latin typeface="宋体"/>
              <a:cs typeface="宋体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56180" y="1043636"/>
            <a:ext cx="8887517" cy="1455890"/>
          </a:xfrm>
          <a:prstGeom prst="rect">
            <a:avLst/>
          </a:prstGeom>
        </p:spPr>
        <p:txBody>
          <a:bodyPr vert="horz" wrap="square" lIns="0" tIns="37253" rIns="0" bIns="0" rtlCol="0">
            <a:spAutoFit/>
          </a:bodyPr>
          <a:lstStyle/>
          <a:p>
            <a:pPr marL="16933" marR="6773" algn="just">
              <a:lnSpc>
                <a:spcPct val="96200"/>
              </a:lnSpc>
              <a:spcBef>
                <a:spcPts val="293"/>
              </a:spcBef>
            </a:pPr>
            <a:r>
              <a:rPr sz="32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测试方法</a:t>
            </a:r>
            <a:r>
              <a:rPr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：将</a:t>
            </a:r>
            <a:r>
              <a:rPr sz="3200" b="1" spc="7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片芯片</a:t>
            </a:r>
            <a:r>
              <a:rPr sz="3200" b="1" spc="-13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sz="32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sz="3200" b="1" i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sz="32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3200" b="1" i="1" spc="7" dirty="0" err="1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sz="3200" b="1" spc="-13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sz="3200" b="1" dirty="0" err="1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置</a:t>
            </a:r>
            <a:r>
              <a:rPr sz="32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sz="3200" b="1" dirty="0" err="1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测试台上，互相进行测试</a:t>
            </a:r>
            <a:r>
              <a:rPr sz="3200" b="1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sz="3200" b="1" spc="-20" dirty="0" err="1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测</a:t>
            </a:r>
            <a:r>
              <a:rPr sz="3200" b="1" dirty="0" err="1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试报告是</a:t>
            </a:r>
            <a:r>
              <a:rPr sz="3200" b="1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“好”或“坏</a:t>
            </a:r>
            <a:r>
              <a:rPr sz="32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，只取其一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38252" y="4140912"/>
            <a:ext cx="5791200" cy="241300"/>
          </a:xfrm>
          <a:custGeom>
            <a:avLst/>
            <a:gdLst/>
            <a:ahLst/>
            <a:cxnLst/>
            <a:rect l="l" t="t" r="r" b="b"/>
            <a:pathLst>
              <a:path w="4343400" h="180975">
                <a:moveTo>
                  <a:pt x="0" y="180975"/>
                </a:moveTo>
                <a:lnTo>
                  <a:pt x="4343400" y="180975"/>
                </a:lnTo>
                <a:lnTo>
                  <a:pt x="4343400" y="0"/>
                </a:lnTo>
                <a:lnTo>
                  <a:pt x="0" y="0"/>
                </a:lnTo>
                <a:lnTo>
                  <a:pt x="0" y="180975"/>
                </a:lnTo>
                <a:close/>
              </a:path>
            </a:pathLst>
          </a:custGeom>
          <a:solidFill>
            <a:srgbClr val="C797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1938252" y="4140912"/>
            <a:ext cx="5791200" cy="241300"/>
          </a:xfrm>
          <a:custGeom>
            <a:avLst/>
            <a:gdLst/>
            <a:ahLst/>
            <a:cxnLst/>
            <a:rect l="l" t="t" r="r" b="b"/>
            <a:pathLst>
              <a:path w="4343400" h="180975">
                <a:moveTo>
                  <a:pt x="0" y="180975"/>
                </a:moveTo>
                <a:lnTo>
                  <a:pt x="4343400" y="180975"/>
                </a:lnTo>
                <a:lnTo>
                  <a:pt x="4343400" y="0"/>
                </a:lnTo>
                <a:lnTo>
                  <a:pt x="0" y="0"/>
                </a:lnTo>
                <a:lnTo>
                  <a:pt x="0" y="180975"/>
                </a:lnTo>
                <a:close/>
              </a:path>
            </a:pathLst>
          </a:custGeom>
          <a:ln w="25400">
            <a:solidFill>
              <a:srgbClr val="996633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817619" y="3736714"/>
            <a:ext cx="1528233" cy="359833"/>
          </a:xfrm>
          <a:custGeom>
            <a:avLst/>
            <a:gdLst/>
            <a:ahLst/>
            <a:cxnLst/>
            <a:rect l="l" t="t" r="r" b="b"/>
            <a:pathLst>
              <a:path w="1146175" h="269875">
                <a:moveTo>
                  <a:pt x="0" y="269875"/>
                </a:moveTo>
                <a:lnTo>
                  <a:pt x="1146175" y="269875"/>
                </a:lnTo>
                <a:lnTo>
                  <a:pt x="1146175" y="0"/>
                </a:lnTo>
                <a:lnTo>
                  <a:pt x="0" y="0"/>
                </a:lnTo>
                <a:lnTo>
                  <a:pt x="0" y="269875"/>
                </a:lnTo>
                <a:close/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5014573" y="3736714"/>
            <a:ext cx="1583267" cy="359833"/>
          </a:xfrm>
          <a:custGeom>
            <a:avLst/>
            <a:gdLst/>
            <a:ahLst/>
            <a:cxnLst/>
            <a:rect l="l" t="t" r="r" b="b"/>
            <a:pathLst>
              <a:path w="1187450" h="269875">
                <a:moveTo>
                  <a:pt x="0" y="269875"/>
                </a:moveTo>
                <a:lnTo>
                  <a:pt x="1187450" y="269875"/>
                </a:lnTo>
                <a:lnTo>
                  <a:pt x="1187450" y="0"/>
                </a:lnTo>
                <a:lnTo>
                  <a:pt x="0" y="0"/>
                </a:lnTo>
                <a:lnTo>
                  <a:pt x="0" y="269875"/>
                </a:lnTo>
                <a:close/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50692" y="251531"/>
            <a:ext cx="8893005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一次测试过程</a:t>
            </a:r>
          </a:p>
        </p:txBody>
      </p:sp>
      <p:sp>
        <p:nvSpPr>
          <p:cNvPr id="12" name="object 12"/>
          <p:cNvSpPr/>
          <p:nvPr/>
        </p:nvSpPr>
        <p:spPr>
          <a:xfrm>
            <a:off x="1882193" y="2657904"/>
            <a:ext cx="1220047" cy="817880"/>
          </a:xfrm>
          <a:custGeom>
            <a:avLst/>
            <a:gdLst/>
            <a:ahLst/>
            <a:cxnLst/>
            <a:rect l="l" t="t" r="r" b="b"/>
            <a:pathLst>
              <a:path w="915035" h="613410">
                <a:moveTo>
                  <a:pt x="585906" y="554724"/>
                </a:moveTo>
                <a:lnTo>
                  <a:pt x="348873" y="554724"/>
                </a:lnTo>
                <a:lnTo>
                  <a:pt x="364226" y="572295"/>
                </a:lnTo>
                <a:lnTo>
                  <a:pt x="382544" y="587093"/>
                </a:lnTo>
                <a:lnTo>
                  <a:pt x="403362" y="598818"/>
                </a:lnTo>
                <a:lnTo>
                  <a:pt x="426216" y="607175"/>
                </a:lnTo>
                <a:lnTo>
                  <a:pt x="471569" y="612793"/>
                </a:lnTo>
                <a:lnTo>
                  <a:pt x="514996" y="605458"/>
                </a:lnTo>
                <a:lnTo>
                  <a:pt x="553565" y="586601"/>
                </a:lnTo>
                <a:lnTo>
                  <a:pt x="584342" y="557655"/>
                </a:lnTo>
                <a:lnTo>
                  <a:pt x="585906" y="554724"/>
                </a:lnTo>
                <a:close/>
              </a:path>
              <a:path w="915035" h="613410">
                <a:moveTo>
                  <a:pt x="228735" y="53846"/>
                </a:moveTo>
                <a:lnTo>
                  <a:pt x="161184" y="67088"/>
                </a:lnTo>
                <a:lnTo>
                  <a:pt x="125019" y="90226"/>
                </a:lnTo>
                <a:lnTo>
                  <a:pt x="98509" y="121977"/>
                </a:lnTo>
                <a:lnTo>
                  <a:pt x="83680" y="159927"/>
                </a:lnTo>
                <a:lnTo>
                  <a:pt x="82554" y="201664"/>
                </a:lnTo>
                <a:lnTo>
                  <a:pt x="81792" y="203569"/>
                </a:lnTo>
                <a:lnTo>
                  <a:pt x="41422" y="216538"/>
                </a:lnTo>
                <a:lnTo>
                  <a:pt x="11853" y="244844"/>
                </a:lnTo>
                <a:lnTo>
                  <a:pt x="0" y="276488"/>
                </a:lnTo>
                <a:lnTo>
                  <a:pt x="2235" y="308740"/>
                </a:lnTo>
                <a:lnTo>
                  <a:pt x="17502" y="337873"/>
                </a:lnTo>
                <a:lnTo>
                  <a:pt x="44746" y="360160"/>
                </a:lnTo>
                <a:lnTo>
                  <a:pt x="32672" y="374872"/>
                </a:lnTo>
                <a:lnTo>
                  <a:pt x="24452" y="391370"/>
                </a:lnTo>
                <a:lnTo>
                  <a:pt x="20307" y="409059"/>
                </a:lnTo>
                <a:lnTo>
                  <a:pt x="20464" y="427343"/>
                </a:lnTo>
                <a:lnTo>
                  <a:pt x="31855" y="459051"/>
                </a:lnTo>
                <a:lnTo>
                  <a:pt x="54913" y="483461"/>
                </a:lnTo>
                <a:lnTo>
                  <a:pt x="86333" y="498226"/>
                </a:lnTo>
                <a:lnTo>
                  <a:pt x="122813" y="501003"/>
                </a:lnTo>
                <a:lnTo>
                  <a:pt x="123448" y="501892"/>
                </a:lnTo>
                <a:lnTo>
                  <a:pt x="158341" y="540227"/>
                </a:lnTo>
                <a:lnTo>
                  <a:pt x="201344" y="564453"/>
                </a:lnTo>
                <a:lnTo>
                  <a:pt x="249900" y="575505"/>
                </a:lnTo>
                <a:lnTo>
                  <a:pt x="300310" y="572542"/>
                </a:lnTo>
                <a:lnTo>
                  <a:pt x="348873" y="554724"/>
                </a:lnTo>
                <a:lnTo>
                  <a:pt x="585906" y="554724"/>
                </a:lnTo>
                <a:lnTo>
                  <a:pt x="604397" y="520053"/>
                </a:lnTo>
                <a:lnTo>
                  <a:pt x="730103" y="520053"/>
                </a:lnTo>
                <a:lnTo>
                  <a:pt x="755194" y="504908"/>
                </a:lnTo>
                <a:lnTo>
                  <a:pt x="781739" y="469614"/>
                </a:lnTo>
                <a:lnTo>
                  <a:pt x="791722" y="426200"/>
                </a:lnTo>
                <a:lnTo>
                  <a:pt x="809736" y="422763"/>
                </a:lnTo>
                <a:lnTo>
                  <a:pt x="858778" y="400546"/>
                </a:lnTo>
                <a:lnTo>
                  <a:pt x="890298" y="370049"/>
                </a:lnTo>
                <a:lnTo>
                  <a:pt x="909133" y="333451"/>
                </a:lnTo>
                <a:lnTo>
                  <a:pt x="914849" y="293762"/>
                </a:lnTo>
                <a:lnTo>
                  <a:pt x="907014" y="253994"/>
                </a:lnTo>
                <a:lnTo>
                  <a:pt x="885194" y="217158"/>
                </a:lnTo>
                <a:lnTo>
                  <a:pt x="887226" y="212713"/>
                </a:lnTo>
                <a:lnTo>
                  <a:pt x="889004" y="208141"/>
                </a:lnTo>
                <a:lnTo>
                  <a:pt x="890274" y="203569"/>
                </a:lnTo>
                <a:lnTo>
                  <a:pt x="893268" y="162692"/>
                </a:lnTo>
                <a:lnTo>
                  <a:pt x="879368" y="125257"/>
                </a:lnTo>
                <a:lnTo>
                  <a:pt x="851108" y="95323"/>
                </a:lnTo>
                <a:lnTo>
                  <a:pt x="811026" y="76950"/>
                </a:lnTo>
                <a:lnTo>
                  <a:pt x="809442" y="71616"/>
                </a:lnTo>
                <a:lnTo>
                  <a:pt x="296422" y="71616"/>
                </a:lnTo>
                <a:lnTo>
                  <a:pt x="274955" y="62247"/>
                </a:lnTo>
                <a:lnTo>
                  <a:pt x="252226" y="56296"/>
                </a:lnTo>
                <a:lnTo>
                  <a:pt x="228735" y="53846"/>
                </a:lnTo>
                <a:close/>
              </a:path>
              <a:path w="915035" h="613410">
                <a:moveTo>
                  <a:pt x="730103" y="520053"/>
                </a:moveTo>
                <a:lnTo>
                  <a:pt x="604397" y="520053"/>
                </a:lnTo>
                <a:lnTo>
                  <a:pt x="619290" y="527282"/>
                </a:lnTo>
                <a:lnTo>
                  <a:pt x="635052" y="532546"/>
                </a:lnTo>
                <a:lnTo>
                  <a:pt x="651457" y="535787"/>
                </a:lnTo>
                <a:lnTo>
                  <a:pt x="668278" y="536944"/>
                </a:lnTo>
                <a:lnTo>
                  <a:pt x="716052" y="528534"/>
                </a:lnTo>
                <a:lnTo>
                  <a:pt x="730103" y="520053"/>
                </a:lnTo>
                <a:close/>
              </a:path>
              <a:path w="915035" h="613410">
                <a:moveTo>
                  <a:pt x="406132" y="17287"/>
                </a:moveTo>
                <a:lnTo>
                  <a:pt x="363081" y="21419"/>
                </a:lnTo>
                <a:lnTo>
                  <a:pt x="324864" y="39981"/>
                </a:lnTo>
                <a:lnTo>
                  <a:pt x="296422" y="71616"/>
                </a:lnTo>
                <a:lnTo>
                  <a:pt x="809442" y="71616"/>
                </a:lnTo>
                <a:lnTo>
                  <a:pt x="806395" y="61358"/>
                </a:lnTo>
                <a:lnTo>
                  <a:pt x="798929" y="46803"/>
                </a:lnTo>
                <a:lnTo>
                  <a:pt x="798675" y="46470"/>
                </a:lnTo>
                <a:lnTo>
                  <a:pt x="475365" y="46470"/>
                </a:lnTo>
                <a:lnTo>
                  <a:pt x="469293" y="41445"/>
                </a:lnTo>
                <a:lnTo>
                  <a:pt x="462887" y="36849"/>
                </a:lnTo>
                <a:lnTo>
                  <a:pt x="456148" y="32682"/>
                </a:lnTo>
                <a:lnTo>
                  <a:pt x="449076" y="28944"/>
                </a:lnTo>
                <a:lnTo>
                  <a:pt x="406132" y="17287"/>
                </a:lnTo>
                <a:close/>
              </a:path>
              <a:path w="915035" h="613410">
                <a:moveTo>
                  <a:pt x="563805" y="0"/>
                </a:moveTo>
                <a:lnTo>
                  <a:pt x="528705" y="4179"/>
                </a:lnTo>
                <a:lnTo>
                  <a:pt x="497892" y="20073"/>
                </a:lnTo>
                <a:lnTo>
                  <a:pt x="475365" y="46470"/>
                </a:lnTo>
                <a:lnTo>
                  <a:pt x="798675" y="46470"/>
                </a:lnTo>
                <a:lnTo>
                  <a:pt x="788845" y="33605"/>
                </a:lnTo>
                <a:lnTo>
                  <a:pt x="788197" y="33008"/>
                </a:lnTo>
                <a:lnTo>
                  <a:pt x="631448" y="33008"/>
                </a:lnTo>
                <a:lnTo>
                  <a:pt x="624604" y="25681"/>
                </a:lnTo>
                <a:lnTo>
                  <a:pt x="616891" y="19165"/>
                </a:lnTo>
                <a:lnTo>
                  <a:pt x="608392" y="13505"/>
                </a:lnTo>
                <a:lnTo>
                  <a:pt x="599190" y="8751"/>
                </a:lnTo>
                <a:lnTo>
                  <a:pt x="563805" y="0"/>
                </a:lnTo>
                <a:close/>
              </a:path>
              <a:path w="915035" h="613410">
                <a:moveTo>
                  <a:pt x="701425" y="257"/>
                </a:moveTo>
                <a:lnTo>
                  <a:pt x="663484" y="9995"/>
                </a:lnTo>
                <a:lnTo>
                  <a:pt x="631448" y="33008"/>
                </a:lnTo>
                <a:lnTo>
                  <a:pt x="788197" y="33008"/>
                </a:lnTo>
                <a:lnTo>
                  <a:pt x="776355" y="22086"/>
                </a:lnTo>
                <a:lnTo>
                  <a:pt x="740605" y="4165"/>
                </a:lnTo>
                <a:lnTo>
                  <a:pt x="701425" y="25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757484" y="3391104"/>
            <a:ext cx="187791" cy="205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882193" y="2657904"/>
            <a:ext cx="1220047" cy="817880"/>
          </a:xfrm>
          <a:custGeom>
            <a:avLst/>
            <a:gdLst/>
            <a:ahLst/>
            <a:cxnLst/>
            <a:rect l="l" t="t" r="r" b="b"/>
            <a:pathLst>
              <a:path w="915035" h="613410">
                <a:moveTo>
                  <a:pt x="82554" y="201664"/>
                </a:moveTo>
                <a:lnTo>
                  <a:pt x="83680" y="159927"/>
                </a:lnTo>
                <a:lnTo>
                  <a:pt x="98509" y="121977"/>
                </a:lnTo>
                <a:lnTo>
                  <a:pt x="125019" y="90226"/>
                </a:lnTo>
                <a:lnTo>
                  <a:pt x="161184" y="67088"/>
                </a:lnTo>
                <a:lnTo>
                  <a:pt x="204982" y="54979"/>
                </a:lnTo>
                <a:lnTo>
                  <a:pt x="228735" y="53846"/>
                </a:lnTo>
                <a:lnTo>
                  <a:pt x="252226" y="56296"/>
                </a:lnTo>
                <a:lnTo>
                  <a:pt x="274955" y="62247"/>
                </a:lnTo>
                <a:lnTo>
                  <a:pt x="296422" y="71616"/>
                </a:lnTo>
                <a:lnTo>
                  <a:pt x="324864" y="39981"/>
                </a:lnTo>
                <a:lnTo>
                  <a:pt x="363081" y="21419"/>
                </a:lnTo>
                <a:lnTo>
                  <a:pt x="406132" y="17287"/>
                </a:lnTo>
                <a:lnTo>
                  <a:pt x="449076" y="28944"/>
                </a:lnTo>
                <a:lnTo>
                  <a:pt x="456148" y="32682"/>
                </a:lnTo>
                <a:lnTo>
                  <a:pt x="462887" y="36849"/>
                </a:lnTo>
                <a:lnTo>
                  <a:pt x="469293" y="41445"/>
                </a:lnTo>
                <a:lnTo>
                  <a:pt x="475365" y="46470"/>
                </a:lnTo>
                <a:lnTo>
                  <a:pt x="497892" y="20073"/>
                </a:lnTo>
                <a:lnTo>
                  <a:pt x="528705" y="4179"/>
                </a:lnTo>
                <a:lnTo>
                  <a:pt x="563805" y="0"/>
                </a:lnTo>
                <a:lnTo>
                  <a:pt x="599190" y="8751"/>
                </a:lnTo>
                <a:lnTo>
                  <a:pt x="608392" y="13505"/>
                </a:lnTo>
                <a:lnTo>
                  <a:pt x="616891" y="19165"/>
                </a:lnTo>
                <a:lnTo>
                  <a:pt x="624604" y="25681"/>
                </a:lnTo>
                <a:lnTo>
                  <a:pt x="631448" y="33008"/>
                </a:lnTo>
                <a:lnTo>
                  <a:pt x="663484" y="9995"/>
                </a:lnTo>
                <a:lnTo>
                  <a:pt x="701425" y="257"/>
                </a:lnTo>
                <a:lnTo>
                  <a:pt x="740605" y="4165"/>
                </a:lnTo>
                <a:lnTo>
                  <a:pt x="776355" y="22086"/>
                </a:lnTo>
                <a:lnTo>
                  <a:pt x="806395" y="61358"/>
                </a:lnTo>
                <a:lnTo>
                  <a:pt x="811026" y="76950"/>
                </a:lnTo>
                <a:lnTo>
                  <a:pt x="851108" y="95323"/>
                </a:lnTo>
                <a:lnTo>
                  <a:pt x="879368" y="125257"/>
                </a:lnTo>
                <a:lnTo>
                  <a:pt x="893268" y="162692"/>
                </a:lnTo>
                <a:lnTo>
                  <a:pt x="890274" y="203569"/>
                </a:lnTo>
                <a:lnTo>
                  <a:pt x="889004" y="208141"/>
                </a:lnTo>
                <a:lnTo>
                  <a:pt x="887226" y="212713"/>
                </a:lnTo>
                <a:lnTo>
                  <a:pt x="885194" y="217158"/>
                </a:lnTo>
                <a:lnTo>
                  <a:pt x="907014" y="253994"/>
                </a:lnTo>
                <a:lnTo>
                  <a:pt x="914849" y="293762"/>
                </a:lnTo>
                <a:lnTo>
                  <a:pt x="909133" y="333451"/>
                </a:lnTo>
                <a:lnTo>
                  <a:pt x="890298" y="370049"/>
                </a:lnTo>
                <a:lnTo>
                  <a:pt x="858778" y="400546"/>
                </a:lnTo>
                <a:lnTo>
                  <a:pt x="809736" y="422763"/>
                </a:lnTo>
                <a:lnTo>
                  <a:pt x="791722" y="426200"/>
                </a:lnTo>
                <a:lnTo>
                  <a:pt x="781739" y="469614"/>
                </a:lnTo>
                <a:lnTo>
                  <a:pt x="755194" y="504908"/>
                </a:lnTo>
                <a:lnTo>
                  <a:pt x="716052" y="528534"/>
                </a:lnTo>
                <a:lnTo>
                  <a:pt x="668278" y="536944"/>
                </a:lnTo>
                <a:lnTo>
                  <a:pt x="651457" y="535787"/>
                </a:lnTo>
                <a:lnTo>
                  <a:pt x="635052" y="532546"/>
                </a:lnTo>
                <a:lnTo>
                  <a:pt x="619290" y="527282"/>
                </a:lnTo>
                <a:lnTo>
                  <a:pt x="604397" y="520053"/>
                </a:lnTo>
                <a:lnTo>
                  <a:pt x="584342" y="557655"/>
                </a:lnTo>
                <a:lnTo>
                  <a:pt x="553565" y="586601"/>
                </a:lnTo>
                <a:lnTo>
                  <a:pt x="514996" y="605458"/>
                </a:lnTo>
                <a:lnTo>
                  <a:pt x="471569" y="612793"/>
                </a:lnTo>
                <a:lnTo>
                  <a:pt x="426216" y="607175"/>
                </a:lnTo>
                <a:lnTo>
                  <a:pt x="403362" y="598818"/>
                </a:lnTo>
                <a:lnTo>
                  <a:pt x="382544" y="587093"/>
                </a:lnTo>
                <a:lnTo>
                  <a:pt x="364226" y="572295"/>
                </a:lnTo>
                <a:lnTo>
                  <a:pt x="348873" y="554724"/>
                </a:lnTo>
                <a:lnTo>
                  <a:pt x="300310" y="572542"/>
                </a:lnTo>
                <a:lnTo>
                  <a:pt x="249900" y="575505"/>
                </a:lnTo>
                <a:lnTo>
                  <a:pt x="201344" y="564453"/>
                </a:lnTo>
                <a:lnTo>
                  <a:pt x="158341" y="540227"/>
                </a:lnTo>
                <a:lnTo>
                  <a:pt x="124591" y="503670"/>
                </a:lnTo>
                <a:lnTo>
                  <a:pt x="123956" y="502781"/>
                </a:lnTo>
                <a:lnTo>
                  <a:pt x="123448" y="501892"/>
                </a:lnTo>
                <a:lnTo>
                  <a:pt x="122813" y="501003"/>
                </a:lnTo>
                <a:lnTo>
                  <a:pt x="86333" y="498226"/>
                </a:lnTo>
                <a:lnTo>
                  <a:pt x="54913" y="483461"/>
                </a:lnTo>
                <a:lnTo>
                  <a:pt x="31855" y="459051"/>
                </a:lnTo>
                <a:lnTo>
                  <a:pt x="20464" y="427343"/>
                </a:lnTo>
                <a:lnTo>
                  <a:pt x="20307" y="409059"/>
                </a:lnTo>
                <a:lnTo>
                  <a:pt x="24452" y="391370"/>
                </a:lnTo>
                <a:lnTo>
                  <a:pt x="32672" y="374872"/>
                </a:lnTo>
                <a:lnTo>
                  <a:pt x="44746" y="360160"/>
                </a:lnTo>
                <a:lnTo>
                  <a:pt x="17502" y="337873"/>
                </a:lnTo>
                <a:lnTo>
                  <a:pt x="2235" y="308740"/>
                </a:lnTo>
                <a:lnTo>
                  <a:pt x="0" y="276488"/>
                </a:lnTo>
                <a:lnTo>
                  <a:pt x="11853" y="244844"/>
                </a:lnTo>
                <a:lnTo>
                  <a:pt x="24921" y="228982"/>
                </a:lnTo>
                <a:lnTo>
                  <a:pt x="41422" y="216538"/>
                </a:lnTo>
                <a:lnTo>
                  <a:pt x="60624" y="207928"/>
                </a:lnTo>
                <a:lnTo>
                  <a:pt x="81792" y="203569"/>
                </a:lnTo>
                <a:lnTo>
                  <a:pt x="82554" y="201664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740551" y="3374171"/>
            <a:ext cx="221657" cy="239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1943158" y="3135071"/>
            <a:ext cx="71967" cy="15240"/>
          </a:xfrm>
          <a:custGeom>
            <a:avLst/>
            <a:gdLst/>
            <a:ahLst/>
            <a:cxnLst/>
            <a:rect l="l" t="t" r="r" b="b"/>
            <a:pathLst>
              <a:path w="53975" h="11430">
                <a:moveTo>
                  <a:pt x="53593" y="11303"/>
                </a:moveTo>
                <a:lnTo>
                  <a:pt x="39629" y="11287"/>
                </a:lnTo>
                <a:lnTo>
                  <a:pt x="25892" y="9366"/>
                </a:lnTo>
                <a:lnTo>
                  <a:pt x="12606" y="5587"/>
                </a:lnTo>
                <a:lnTo>
                  <a:pt x="0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046452" y="3315072"/>
            <a:ext cx="31327" cy="7620"/>
          </a:xfrm>
          <a:custGeom>
            <a:avLst/>
            <a:gdLst/>
            <a:ahLst/>
            <a:cxnLst/>
            <a:rect l="l" t="t" r="r" b="b"/>
            <a:pathLst>
              <a:path w="23494" h="5714">
                <a:moveTo>
                  <a:pt x="23494" y="0"/>
                </a:moveTo>
                <a:lnTo>
                  <a:pt x="15875" y="2667"/>
                </a:lnTo>
                <a:lnTo>
                  <a:pt x="8000" y="4572"/>
                </a:lnTo>
                <a:lnTo>
                  <a:pt x="0" y="5334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2328390" y="3361470"/>
            <a:ext cx="19472" cy="33020"/>
          </a:xfrm>
          <a:custGeom>
            <a:avLst/>
            <a:gdLst/>
            <a:ahLst/>
            <a:cxnLst/>
            <a:rect l="l" t="t" r="r" b="b"/>
            <a:pathLst>
              <a:path w="14605" h="24764">
                <a:moveTo>
                  <a:pt x="14096" y="24637"/>
                </a:moveTo>
                <a:lnTo>
                  <a:pt x="10054" y="18734"/>
                </a:lnTo>
                <a:lnTo>
                  <a:pt x="6334" y="12652"/>
                </a:lnTo>
                <a:lnTo>
                  <a:pt x="2970" y="6403"/>
                </a:lnTo>
                <a:lnTo>
                  <a:pt x="0" y="0"/>
                </a:lnTo>
              </a:path>
            </a:pathLst>
          </a:custGeom>
          <a:ln w="253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2688225" y="3312194"/>
            <a:ext cx="7620" cy="36407"/>
          </a:xfrm>
          <a:custGeom>
            <a:avLst/>
            <a:gdLst/>
            <a:ahLst/>
            <a:cxnLst/>
            <a:rect l="l" t="t" r="r" b="b"/>
            <a:pathLst>
              <a:path w="5714" h="27305">
                <a:moveTo>
                  <a:pt x="5587" y="0"/>
                </a:moveTo>
                <a:lnTo>
                  <a:pt x="4804" y="6907"/>
                </a:lnTo>
                <a:lnTo>
                  <a:pt x="3603" y="13731"/>
                </a:lnTo>
                <a:lnTo>
                  <a:pt x="1998" y="20484"/>
                </a:lnTo>
                <a:lnTo>
                  <a:pt x="0" y="27177"/>
                </a:lnTo>
              </a:path>
            </a:pathLst>
          </a:custGeom>
          <a:ln w="253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2845368" y="3089181"/>
            <a:ext cx="92287" cy="135467"/>
          </a:xfrm>
          <a:custGeom>
            <a:avLst/>
            <a:gdLst/>
            <a:ahLst/>
            <a:cxnLst/>
            <a:rect l="l" t="t" r="r" b="b"/>
            <a:pathLst>
              <a:path w="69214" h="101600">
                <a:moveTo>
                  <a:pt x="0" y="0"/>
                </a:moveTo>
                <a:lnTo>
                  <a:pt x="28703" y="17690"/>
                </a:lnTo>
                <a:lnTo>
                  <a:pt x="50466" y="41513"/>
                </a:lnTo>
                <a:lnTo>
                  <a:pt x="64204" y="69883"/>
                </a:lnTo>
                <a:lnTo>
                  <a:pt x="68834" y="101219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3020966" y="2945416"/>
            <a:ext cx="41487" cy="50800"/>
          </a:xfrm>
          <a:custGeom>
            <a:avLst/>
            <a:gdLst/>
            <a:ahLst/>
            <a:cxnLst/>
            <a:rect l="l" t="t" r="r" b="b"/>
            <a:pathLst>
              <a:path w="31114" h="38100">
                <a:moveTo>
                  <a:pt x="30606" y="0"/>
                </a:moveTo>
                <a:lnTo>
                  <a:pt x="24806" y="10630"/>
                </a:lnTo>
                <a:lnTo>
                  <a:pt x="17732" y="20558"/>
                </a:lnTo>
                <a:lnTo>
                  <a:pt x="9443" y="29700"/>
                </a:lnTo>
                <a:lnTo>
                  <a:pt x="0" y="37972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2963729" y="2757628"/>
            <a:ext cx="2540" cy="24553"/>
          </a:xfrm>
          <a:custGeom>
            <a:avLst/>
            <a:gdLst/>
            <a:ahLst/>
            <a:cxnLst/>
            <a:rect l="l" t="t" r="r" b="b"/>
            <a:pathLst>
              <a:path w="1905" h="18414">
                <a:moveTo>
                  <a:pt x="0" y="0"/>
                </a:moveTo>
                <a:lnTo>
                  <a:pt x="1269" y="5968"/>
                </a:lnTo>
                <a:lnTo>
                  <a:pt x="1777" y="11937"/>
                </a:lnTo>
                <a:lnTo>
                  <a:pt x="1650" y="17906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2702789" y="2699207"/>
            <a:ext cx="21167" cy="30480"/>
          </a:xfrm>
          <a:custGeom>
            <a:avLst/>
            <a:gdLst/>
            <a:ahLst/>
            <a:cxnLst/>
            <a:rect l="l" t="t" r="r" b="b"/>
            <a:pathLst>
              <a:path w="15875" h="22860">
                <a:moveTo>
                  <a:pt x="0" y="22859"/>
                </a:moveTo>
                <a:lnTo>
                  <a:pt x="3264" y="16787"/>
                </a:lnTo>
                <a:lnTo>
                  <a:pt x="6969" y="10953"/>
                </a:lnTo>
                <a:lnTo>
                  <a:pt x="11126" y="5357"/>
                </a:lnTo>
                <a:lnTo>
                  <a:pt x="15747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2507037" y="2718005"/>
            <a:ext cx="10160" cy="26247"/>
          </a:xfrm>
          <a:custGeom>
            <a:avLst/>
            <a:gdLst/>
            <a:ahLst/>
            <a:cxnLst/>
            <a:rect l="l" t="t" r="r" b="b"/>
            <a:pathLst>
              <a:path w="7619" h="19685">
                <a:moveTo>
                  <a:pt x="0" y="19685"/>
                </a:moveTo>
                <a:lnTo>
                  <a:pt x="1650" y="12826"/>
                </a:lnTo>
                <a:lnTo>
                  <a:pt x="4190" y="6223"/>
                </a:lnTo>
                <a:lnTo>
                  <a:pt x="7619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2277254" y="2753224"/>
            <a:ext cx="37253" cy="25400"/>
          </a:xfrm>
          <a:custGeom>
            <a:avLst/>
            <a:gdLst/>
            <a:ahLst/>
            <a:cxnLst/>
            <a:rect l="l" t="t" r="r" b="b"/>
            <a:pathLst>
              <a:path w="27940" h="19050">
                <a:moveTo>
                  <a:pt x="0" y="0"/>
                </a:moveTo>
                <a:lnTo>
                  <a:pt x="7377" y="4190"/>
                </a:lnTo>
                <a:lnTo>
                  <a:pt x="14446" y="8762"/>
                </a:lnTo>
                <a:lnTo>
                  <a:pt x="21181" y="13715"/>
                </a:lnTo>
                <a:lnTo>
                  <a:pt x="27559" y="1905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1992266" y="2926792"/>
            <a:ext cx="6773" cy="27093"/>
          </a:xfrm>
          <a:custGeom>
            <a:avLst/>
            <a:gdLst/>
            <a:ahLst/>
            <a:cxnLst/>
            <a:rect l="l" t="t" r="r" b="b"/>
            <a:pathLst>
              <a:path w="5080" h="20319">
                <a:moveTo>
                  <a:pt x="4825" y="20065"/>
                </a:moveTo>
                <a:lnTo>
                  <a:pt x="2666" y="13588"/>
                </a:lnTo>
                <a:lnTo>
                  <a:pt x="1015" y="6857"/>
                </a:lnTo>
                <a:lnTo>
                  <a:pt x="0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2196143" y="2831795"/>
            <a:ext cx="5054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655368" y="2759504"/>
            <a:ext cx="1220047" cy="817880"/>
          </a:xfrm>
          <a:custGeom>
            <a:avLst/>
            <a:gdLst/>
            <a:ahLst/>
            <a:cxnLst/>
            <a:rect l="l" t="t" r="r" b="b"/>
            <a:pathLst>
              <a:path w="915035" h="613410">
                <a:moveTo>
                  <a:pt x="585935" y="554724"/>
                </a:moveTo>
                <a:lnTo>
                  <a:pt x="348902" y="554724"/>
                </a:lnTo>
                <a:lnTo>
                  <a:pt x="364255" y="572295"/>
                </a:lnTo>
                <a:lnTo>
                  <a:pt x="382573" y="587093"/>
                </a:lnTo>
                <a:lnTo>
                  <a:pt x="403391" y="598818"/>
                </a:lnTo>
                <a:lnTo>
                  <a:pt x="426245" y="607175"/>
                </a:lnTo>
                <a:lnTo>
                  <a:pt x="471598" y="612793"/>
                </a:lnTo>
                <a:lnTo>
                  <a:pt x="515025" y="605458"/>
                </a:lnTo>
                <a:lnTo>
                  <a:pt x="553594" y="586601"/>
                </a:lnTo>
                <a:lnTo>
                  <a:pt x="584371" y="557655"/>
                </a:lnTo>
                <a:lnTo>
                  <a:pt x="585935" y="554724"/>
                </a:lnTo>
                <a:close/>
              </a:path>
              <a:path w="915035" h="613410">
                <a:moveTo>
                  <a:pt x="228764" y="53846"/>
                </a:moveTo>
                <a:lnTo>
                  <a:pt x="161214" y="67088"/>
                </a:lnTo>
                <a:lnTo>
                  <a:pt x="125048" y="90226"/>
                </a:lnTo>
                <a:lnTo>
                  <a:pt x="98538" y="121977"/>
                </a:lnTo>
                <a:lnTo>
                  <a:pt x="83709" y="159927"/>
                </a:lnTo>
                <a:lnTo>
                  <a:pt x="82583" y="201664"/>
                </a:lnTo>
                <a:lnTo>
                  <a:pt x="81821" y="203569"/>
                </a:lnTo>
                <a:lnTo>
                  <a:pt x="41451" y="216538"/>
                </a:lnTo>
                <a:lnTo>
                  <a:pt x="11844" y="244844"/>
                </a:lnTo>
                <a:lnTo>
                  <a:pt x="0" y="276488"/>
                </a:lnTo>
                <a:lnTo>
                  <a:pt x="2240" y="308740"/>
                </a:lnTo>
                <a:lnTo>
                  <a:pt x="17506" y="337873"/>
                </a:lnTo>
                <a:lnTo>
                  <a:pt x="44737" y="360160"/>
                </a:lnTo>
                <a:lnTo>
                  <a:pt x="32678" y="374872"/>
                </a:lnTo>
                <a:lnTo>
                  <a:pt x="24465" y="391370"/>
                </a:lnTo>
                <a:lnTo>
                  <a:pt x="20323" y="409059"/>
                </a:lnTo>
                <a:lnTo>
                  <a:pt x="20480" y="427343"/>
                </a:lnTo>
                <a:lnTo>
                  <a:pt x="31884" y="459051"/>
                </a:lnTo>
                <a:lnTo>
                  <a:pt x="54945" y="483461"/>
                </a:lnTo>
                <a:lnTo>
                  <a:pt x="86363" y="498226"/>
                </a:lnTo>
                <a:lnTo>
                  <a:pt x="122842" y="501003"/>
                </a:lnTo>
                <a:lnTo>
                  <a:pt x="123477" y="501892"/>
                </a:lnTo>
                <a:lnTo>
                  <a:pt x="158370" y="540227"/>
                </a:lnTo>
                <a:lnTo>
                  <a:pt x="201373" y="564453"/>
                </a:lnTo>
                <a:lnTo>
                  <a:pt x="249930" y="575505"/>
                </a:lnTo>
                <a:lnTo>
                  <a:pt x="300339" y="572542"/>
                </a:lnTo>
                <a:lnTo>
                  <a:pt x="348902" y="554724"/>
                </a:lnTo>
                <a:lnTo>
                  <a:pt x="585935" y="554724"/>
                </a:lnTo>
                <a:lnTo>
                  <a:pt x="604426" y="520053"/>
                </a:lnTo>
                <a:lnTo>
                  <a:pt x="730132" y="520053"/>
                </a:lnTo>
                <a:lnTo>
                  <a:pt x="755223" y="504908"/>
                </a:lnTo>
                <a:lnTo>
                  <a:pt x="781768" y="469614"/>
                </a:lnTo>
                <a:lnTo>
                  <a:pt x="791751" y="426200"/>
                </a:lnTo>
                <a:lnTo>
                  <a:pt x="809765" y="422763"/>
                </a:lnTo>
                <a:lnTo>
                  <a:pt x="858807" y="400546"/>
                </a:lnTo>
                <a:lnTo>
                  <a:pt x="890328" y="370049"/>
                </a:lnTo>
                <a:lnTo>
                  <a:pt x="909162" y="333451"/>
                </a:lnTo>
                <a:lnTo>
                  <a:pt x="914878" y="293762"/>
                </a:lnTo>
                <a:lnTo>
                  <a:pt x="907043" y="253994"/>
                </a:lnTo>
                <a:lnTo>
                  <a:pt x="885223" y="217158"/>
                </a:lnTo>
                <a:lnTo>
                  <a:pt x="887255" y="212713"/>
                </a:lnTo>
                <a:lnTo>
                  <a:pt x="889033" y="208141"/>
                </a:lnTo>
                <a:lnTo>
                  <a:pt x="890303" y="203569"/>
                </a:lnTo>
                <a:lnTo>
                  <a:pt x="893298" y="162692"/>
                </a:lnTo>
                <a:lnTo>
                  <a:pt x="879397" y="125257"/>
                </a:lnTo>
                <a:lnTo>
                  <a:pt x="851138" y="95323"/>
                </a:lnTo>
                <a:lnTo>
                  <a:pt x="811055" y="76950"/>
                </a:lnTo>
                <a:lnTo>
                  <a:pt x="809471" y="71616"/>
                </a:lnTo>
                <a:lnTo>
                  <a:pt x="296451" y="71616"/>
                </a:lnTo>
                <a:lnTo>
                  <a:pt x="274984" y="62247"/>
                </a:lnTo>
                <a:lnTo>
                  <a:pt x="252255" y="56296"/>
                </a:lnTo>
                <a:lnTo>
                  <a:pt x="228764" y="53846"/>
                </a:lnTo>
                <a:close/>
              </a:path>
              <a:path w="915035" h="613410">
                <a:moveTo>
                  <a:pt x="730132" y="520053"/>
                </a:moveTo>
                <a:lnTo>
                  <a:pt x="604426" y="520053"/>
                </a:lnTo>
                <a:lnTo>
                  <a:pt x="619319" y="527282"/>
                </a:lnTo>
                <a:lnTo>
                  <a:pt x="635081" y="532546"/>
                </a:lnTo>
                <a:lnTo>
                  <a:pt x="651486" y="535787"/>
                </a:lnTo>
                <a:lnTo>
                  <a:pt x="668307" y="536944"/>
                </a:lnTo>
                <a:lnTo>
                  <a:pt x="716081" y="528534"/>
                </a:lnTo>
                <a:lnTo>
                  <a:pt x="730132" y="520053"/>
                </a:lnTo>
                <a:close/>
              </a:path>
              <a:path w="915035" h="613410">
                <a:moveTo>
                  <a:pt x="406161" y="17287"/>
                </a:moveTo>
                <a:lnTo>
                  <a:pt x="363110" y="21419"/>
                </a:lnTo>
                <a:lnTo>
                  <a:pt x="324893" y="39981"/>
                </a:lnTo>
                <a:lnTo>
                  <a:pt x="296451" y="71616"/>
                </a:lnTo>
                <a:lnTo>
                  <a:pt x="809471" y="71616"/>
                </a:lnTo>
                <a:lnTo>
                  <a:pt x="806424" y="61358"/>
                </a:lnTo>
                <a:lnTo>
                  <a:pt x="798958" y="46803"/>
                </a:lnTo>
                <a:lnTo>
                  <a:pt x="798704" y="46470"/>
                </a:lnTo>
                <a:lnTo>
                  <a:pt x="475394" y="46470"/>
                </a:lnTo>
                <a:lnTo>
                  <a:pt x="469322" y="41445"/>
                </a:lnTo>
                <a:lnTo>
                  <a:pt x="462916" y="36849"/>
                </a:lnTo>
                <a:lnTo>
                  <a:pt x="456178" y="32682"/>
                </a:lnTo>
                <a:lnTo>
                  <a:pt x="449105" y="28944"/>
                </a:lnTo>
                <a:lnTo>
                  <a:pt x="406161" y="17287"/>
                </a:lnTo>
                <a:close/>
              </a:path>
              <a:path w="915035" h="613410">
                <a:moveTo>
                  <a:pt x="563834" y="0"/>
                </a:moveTo>
                <a:lnTo>
                  <a:pt x="528734" y="4179"/>
                </a:lnTo>
                <a:lnTo>
                  <a:pt x="497921" y="20073"/>
                </a:lnTo>
                <a:lnTo>
                  <a:pt x="475394" y="46470"/>
                </a:lnTo>
                <a:lnTo>
                  <a:pt x="798704" y="46470"/>
                </a:lnTo>
                <a:lnTo>
                  <a:pt x="788874" y="33605"/>
                </a:lnTo>
                <a:lnTo>
                  <a:pt x="788226" y="33008"/>
                </a:lnTo>
                <a:lnTo>
                  <a:pt x="631477" y="33008"/>
                </a:lnTo>
                <a:lnTo>
                  <a:pt x="624633" y="25681"/>
                </a:lnTo>
                <a:lnTo>
                  <a:pt x="616920" y="19165"/>
                </a:lnTo>
                <a:lnTo>
                  <a:pt x="608421" y="13505"/>
                </a:lnTo>
                <a:lnTo>
                  <a:pt x="599219" y="8751"/>
                </a:lnTo>
                <a:lnTo>
                  <a:pt x="563834" y="0"/>
                </a:lnTo>
                <a:close/>
              </a:path>
              <a:path w="915035" h="613410">
                <a:moveTo>
                  <a:pt x="701454" y="257"/>
                </a:moveTo>
                <a:lnTo>
                  <a:pt x="663513" y="9995"/>
                </a:lnTo>
                <a:lnTo>
                  <a:pt x="631477" y="33008"/>
                </a:lnTo>
                <a:lnTo>
                  <a:pt x="788226" y="33008"/>
                </a:lnTo>
                <a:lnTo>
                  <a:pt x="776384" y="22086"/>
                </a:lnTo>
                <a:lnTo>
                  <a:pt x="740634" y="4165"/>
                </a:lnTo>
                <a:lnTo>
                  <a:pt x="701454" y="25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5670991" y="3441905"/>
            <a:ext cx="218100" cy="1898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5655368" y="2759504"/>
            <a:ext cx="1220047" cy="817880"/>
          </a:xfrm>
          <a:custGeom>
            <a:avLst/>
            <a:gdLst/>
            <a:ahLst/>
            <a:cxnLst/>
            <a:rect l="l" t="t" r="r" b="b"/>
            <a:pathLst>
              <a:path w="915035" h="613410">
                <a:moveTo>
                  <a:pt x="82583" y="201664"/>
                </a:moveTo>
                <a:lnTo>
                  <a:pt x="83709" y="159927"/>
                </a:lnTo>
                <a:lnTo>
                  <a:pt x="98538" y="121977"/>
                </a:lnTo>
                <a:lnTo>
                  <a:pt x="125048" y="90226"/>
                </a:lnTo>
                <a:lnTo>
                  <a:pt x="161214" y="67088"/>
                </a:lnTo>
                <a:lnTo>
                  <a:pt x="205011" y="54979"/>
                </a:lnTo>
                <a:lnTo>
                  <a:pt x="228764" y="53846"/>
                </a:lnTo>
                <a:lnTo>
                  <a:pt x="252255" y="56296"/>
                </a:lnTo>
                <a:lnTo>
                  <a:pt x="274984" y="62247"/>
                </a:lnTo>
                <a:lnTo>
                  <a:pt x="296451" y="71616"/>
                </a:lnTo>
                <a:lnTo>
                  <a:pt x="324893" y="39981"/>
                </a:lnTo>
                <a:lnTo>
                  <a:pt x="363110" y="21419"/>
                </a:lnTo>
                <a:lnTo>
                  <a:pt x="406161" y="17287"/>
                </a:lnTo>
                <a:lnTo>
                  <a:pt x="449105" y="28944"/>
                </a:lnTo>
                <a:lnTo>
                  <a:pt x="456178" y="32682"/>
                </a:lnTo>
                <a:lnTo>
                  <a:pt x="462916" y="36849"/>
                </a:lnTo>
                <a:lnTo>
                  <a:pt x="469322" y="41445"/>
                </a:lnTo>
                <a:lnTo>
                  <a:pt x="475394" y="46470"/>
                </a:lnTo>
                <a:lnTo>
                  <a:pt x="497921" y="20073"/>
                </a:lnTo>
                <a:lnTo>
                  <a:pt x="528734" y="4179"/>
                </a:lnTo>
                <a:lnTo>
                  <a:pt x="563834" y="0"/>
                </a:lnTo>
                <a:lnTo>
                  <a:pt x="599219" y="8751"/>
                </a:lnTo>
                <a:lnTo>
                  <a:pt x="608421" y="13505"/>
                </a:lnTo>
                <a:lnTo>
                  <a:pt x="616920" y="19165"/>
                </a:lnTo>
                <a:lnTo>
                  <a:pt x="624633" y="25681"/>
                </a:lnTo>
                <a:lnTo>
                  <a:pt x="631477" y="33008"/>
                </a:lnTo>
                <a:lnTo>
                  <a:pt x="663513" y="9995"/>
                </a:lnTo>
                <a:lnTo>
                  <a:pt x="701454" y="257"/>
                </a:lnTo>
                <a:lnTo>
                  <a:pt x="740634" y="4165"/>
                </a:lnTo>
                <a:lnTo>
                  <a:pt x="776384" y="22086"/>
                </a:lnTo>
                <a:lnTo>
                  <a:pt x="806424" y="61358"/>
                </a:lnTo>
                <a:lnTo>
                  <a:pt x="811055" y="76950"/>
                </a:lnTo>
                <a:lnTo>
                  <a:pt x="851138" y="95323"/>
                </a:lnTo>
                <a:lnTo>
                  <a:pt x="879397" y="125257"/>
                </a:lnTo>
                <a:lnTo>
                  <a:pt x="893298" y="162692"/>
                </a:lnTo>
                <a:lnTo>
                  <a:pt x="890303" y="203569"/>
                </a:lnTo>
                <a:lnTo>
                  <a:pt x="889033" y="208141"/>
                </a:lnTo>
                <a:lnTo>
                  <a:pt x="887255" y="212713"/>
                </a:lnTo>
                <a:lnTo>
                  <a:pt x="885223" y="217158"/>
                </a:lnTo>
                <a:lnTo>
                  <a:pt x="907043" y="253994"/>
                </a:lnTo>
                <a:lnTo>
                  <a:pt x="914878" y="293762"/>
                </a:lnTo>
                <a:lnTo>
                  <a:pt x="909162" y="333451"/>
                </a:lnTo>
                <a:lnTo>
                  <a:pt x="890328" y="370049"/>
                </a:lnTo>
                <a:lnTo>
                  <a:pt x="858807" y="400546"/>
                </a:lnTo>
                <a:lnTo>
                  <a:pt x="809765" y="422763"/>
                </a:lnTo>
                <a:lnTo>
                  <a:pt x="791751" y="426200"/>
                </a:lnTo>
                <a:lnTo>
                  <a:pt x="781768" y="469614"/>
                </a:lnTo>
                <a:lnTo>
                  <a:pt x="755223" y="504908"/>
                </a:lnTo>
                <a:lnTo>
                  <a:pt x="716081" y="528534"/>
                </a:lnTo>
                <a:lnTo>
                  <a:pt x="668307" y="536944"/>
                </a:lnTo>
                <a:lnTo>
                  <a:pt x="651486" y="535787"/>
                </a:lnTo>
                <a:lnTo>
                  <a:pt x="635081" y="532546"/>
                </a:lnTo>
                <a:lnTo>
                  <a:pt x="619319" y="527282"/>
                </a:lnTo>
                <a:lnTo>
                  <a:pt x="604426" y="520053"/>
                </a:lnTo>
                <a:lnTo>
                  <a:pt x="584371" y="557655"/>
                </a:lnTo>
                <a:lnTo>
                  <a:pt x="553594" y="586601"/>
                </a:lnTo>
                <a:lnTo>
                  <a:pt x="515025" y="605458"/>
                </a:lnTo>
                <a:lnTo>
                  <a:pt x="471598" y="612793"/>
                </a:lnTo>
                <a:lnTo>
                  <a:pt x="426245" y="607175"/>
                </a:lnTo>
                <a:lnTo>
                  <a:pt x="403391" y="598818"/>
                </a:lnTo>
                <a:lnTo>
                  <a:pt x="382573" y="587093"/>
                </a:lnTo>
                <a:lnTo>
                  <a:pt x="364255" y="572295"/>
                </a:lnTo>
                <a:lnTo>
                  <a:pt x="348902" y="554724"/>
                </a:lnTo>
                <a:lnTo>
                  <a:pt x="300339" y="572542"/>
                </a:lnTo>
                <a:lnTo>
                  <a:pt x="249930" y="575505"/>
                </a:lnTo>
                <a:lnTo>
                  <a:pt x="201373" y="564453"/>
                </a:lnTo>
                <a:lnTo>
                  <a:pt x="158370" y="540227"/>
                </a:lnTo>
                <a:lnTo>
                  <a:pt x="124620" y="503670"/>
                </a:lnTo>
                <a:lnTo>
                  <a:pt x="123985" y="502781"/>
                </a:lnTo>
                <a:lnTo>
                  <a:pt x="123477" y="501892"/>
                </a:lnTo>
                <a:lnTo>
                  <a:pt x="122842" y="501003"/>
                </a:lnTo>
                <a:lnTo>
                  <a:pt x="86363" y="498226"/>
                </a:lnTo>
                <a:lnTo>
                  <a:pt x="54945" y="483461"/>
                </a:lnTo>
                <a:lnTo>
                  <a:pt x="31884" y="459051"/>
                </a:lnTo>
                <a:lnTo>
                  <a:pt x="20480" y="427343"/>
                </a:lnTo>
                <a:lnTo>
                  <a:pt x="20323" y="409059"/>
                </a:lnTo>
                <a:lnTo>
                  <a:pt x="24465" y="391370"/>
                </a:lnTo>
                <a:lnTo>
                  <a:pt x="32678" y="374872"/>
                </a:lnTo>
                <a:lnTo>
                  <a:pt x="44737" y="360160"/>
                </a:lnTo>
                <a:lnTo>
                  <a:pt x="17506" y="337873"/>
                </a:lnTo>
                <a:lnTo>
                  <a:pt x="2240" y="308740"/>
                </a:lnTo>
                <a:lnTo>
                  <a:pt x="0" y="276488"/>
                </a:lnTo>
                <a:lnTo>
                  <a:pt x="11844" y="244844"/>
                </a:lnTo>
                <a:lnTo>
                  <a:pt x="24939" y="228982"/>
                </a:lnTo>
                <a:lnTo>
                  <a:pt x="41451" y="216538"/>
                </a:lnTo>
                <a:lnTo>
                  <a:pt x="60654" y="207928"/>
                </a:lnTo>
                <a:lnTo>
                  <a:pt x="81821" y="203569"/>
                </a:lnTo>
                <a:lnTo>
                  <a:pt x="82583" y="201664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5670991" y="3586344"/>
            <a:ext cx="45720" cy="45720"/>
          </a:xfrm>
          <a:custGeom>
            <a:avLst/>
            <a:gdLst/>
            <a:ahLst/>
            <a:cxnLst/>
            <a:rect l="l" t="t" r="r" b="b"/>
            <a:pathLst>
              <a:path w="34289" h="34289">
                <a:moveTo>
                  <a:pt x="34036" y="17018"/>
                </a:moveTo>
                <a:lnTo>
                  <a:pt x="34036" y="26416"/>
                </a:lnTo>
                <a:lnTo>
                  <a:pt x="26415" y="34036"/>
                </a:lnTo>
                <a:lnTo>
                  <a:pt x="17017" y="34036"/>
                </a:lnTo>
                <a:lnTo>
                  <a:pt x="7619" y="34036"/>
                </a:lnTo>
                <a:lnTo>
                  <a:pt x="0" y="26416"/>
                </a:lnTo>
                <a:lnTo>
                  <a:pt x="0" y="17018"/>
                </a:lnTo>
                <a:lnTo>
                  <a:pt x="0" y="7619"/>
                </a:lnTo>
                <a:lnTo>
                  <a:pt x="7619" y="0"/>
                </a:lnTo>
                <a:lnTo>
                  <a:pt x="17017" y="0"/>
                </a:lnTo>
                <a:lnTo>
                  <a:pt x="26415" y="0"/>
                </a:lnTo>
                <a:lnTo>
                  <a:pt x="34036" y="7619"/>
                </a:lnTo>
                <a:lnTo>
                  <a:pt x="34036" y="17018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5694019" y="3528092"/>
            <a:ext cx="91440" cy="91440"/>
          </a:xfrm>
          <a:custGeom>
            <a:avLst/>
            <a:gdLst/>
            <a:ahLst/>
            <a:cxnLst/>
            <a:rect l="l" t="t" r="r" b="b"/>
            <a:pathLst>
              <a:path w="68579" h="68580">
                <a:moveTo>
                  <a:pt x="68072" y="34036"/>
                </a:moveTo>
                <a:lnTo>
                  <a:pt x="65397" y="47283"/>
                </a:lnTo>
                <a:lnTo>
                  <a:pt x="58102" y="58102"/>
                </a:lnTo>
                <a:lnTo>
                  <a:pt x="47283" y="65397"/>
                </a:lnTo>
                <a:lnTo>
                  <a:pt x="34036" y="68071"/>
                </a:lnTo>
                <a:lnTo>
                  <a:pt x="20788" y="65397"/>
                </a:lnTo>
                <a:lnTo>
                  <a:pt x="9969" y="58102"/>
                </a:lnTo>
                <a:lnTo>
                  <a:pt x="2674" y="47283"/>
                </a:lnTo>
                <a:lnTo>
                  <a:pt x="0" y="34036"/>
                </a:lnTo>
                <a:lnTo>
                  <a:pt x="2674" y="20788"/>
                </a:lnTo>
                <a:lnTo>
                  <a:pt x="9969" y="9969"/>
                </a:lnTo>
                <a:lnTo>
                  <a:pt x="20788" y="2674"/>
                </a:lnTo>
                <a:lnTo>
                  <a:pt x="34036" y="0"/>
                </a:lnTo>
                <a:lnTo>
                  <a:pt x="47283" y="2674"/>
                </a:lnTo>
                <a:lnTo>
                  <a:pt x="58102" y="9969"/>
                </a:lnTo>
                <a:lnTo>
                  <a:pt x="65397" y="20788"/>
                </a:lnTo>
                <a:lnTo>
                  <a:pt x="68072" y="34036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5752950" y="3441905"/>
            <a:ext cx="136313" cy="136313"/>
          </a:xfrm>
          <a:custGeom>
            <a:avLst/>
            <a:gdLst/>
            <a:ahLst/>
            <a:cxnLst/>
            <a:rect l="l" t="t" r="r" b="b"/>
            <a:pathLst>
              <a:path w="102235" h="102235">
                <a:moveTo>
                  <a:pt x="102108" y="51054"/>
                </a:moveTo>
                <a:lnTo>
                  <a:pt x="98095" y="70925"/>
                </a:lnTo>
                <a:lnTo>
                  <a:pt x="87153" y="87153"/>
                </a:lnTo>
                <a:lnTo>
                  <a:pt x="70925" y="98095"/>
                </a:lnTo>
                <a:lnTo>
                  <a:pt x="51053" y="102107"/>
                </a:lnTo>
                <a:lnTo>
                  <a:pt x="31182" y="98095"/>
                </a:lnTo>
                <a:lnTo>
                  <a:pt x="14954" y="87153"/>
                </a:lnTo>
                <a:lnTo>
                  <a:pt x="4012" y="70925"/>
                </a:lnTo>
                <a:lnTo>
                  <a:pt x="0" y="51054"/>
                </a:lnTo>
                <a:lnTo>
                  <a:pt x="4012" y="31182"/>
                </a:lnTo>
                <a:lnTo>
                  <a:pt x="14954" y="14954"/>
                </a:lnTo>
                <a:lnTo>
                  <a:pt x="31182" y="4012"/>
                </a:lnTo>
                <a:lnTo>
                  <a:pt x="51053" y="0"/>
                </a:lnTo>
                <a:lnTo>
                  <a:pt x="70925" y="4012"/>
                </a:lnTo>
                <a:lnTo>
                  <a:pt x="87153" y="14954"/>
                </a:lnTo>
                <a:lnTo>
                  <a:pt x="98095" y="31182"/>
                </a:lnTo>
                <a:lnTo>
                  <a:pt x="102108" y="51054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5716374" y="3236671"/>
            <a:ext cx="71967" cy="15240"/>
          </a:xfrm>
          <a:custGeom>
            <a:avLst/>
            <a:gdLst/>
            <a:ahLst/>
            <a:cxnLst/>
            <a:rect l="l" t="t" r="r" b="b"/>
            <a:pathLst>
              <a:path w="53975" h="11430">
                <a:moveTo>
                  <a:pt x="53593" y="11303"/>
                </a:moveTo>
                <a:lnTo>
                  <a:pt x="39629" y="11287"/>
                </a:lnTo>
                <a:lnTo>
                  <a:pt x="25892" y="9366"/>
                </a:lnTo>
                <a:lnTo>
                  <a:pt x="12606" y="5587"/>
                </a:lnTo>
                <a:lnTo>
                  <a:pt x="0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5819667" y="3416672"/>
            <a:ext cx="31327" cy="7620"/>
          </a:xfrm>
          <a:custGeom>
            <a:avLst/>
            <a:gdLst/>
            <a:ahLst/>
            <a:cxnLst/>
            <a:rect l="l" t="t" r="r" b="b"/>
            <a:pathLst>
              <a:path w="23495" h="5714">
                <a:moveTo>
                  <a:pt x="23495" y="0"/>
                </a:moveTo>
                <a:lnTo>
                  <a:pt x="15875" y="2667"/>
                </a:lnTo>
                <a:lnTo>
                  <a:pt x="8000" y="4572"/>
                </a:lnTo>
                <a:lnTo>
                  <a:pt x="0" y="5334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6101605" y="3463070"/>
            <a:ext cx="19472" cy="33020"/>
          </a:xfrm>
          <a:custGeom>
            <a:avLst/>
            <a:gdLst/>
            <a:ahLst/>
            <a:cxnLst/>
            <a:rect l="l" t="t" r="r" b="b"/>
            <a:pathLst>
              <a:path w="14604" h="24764">
                <a:moveTo>
                  <a:pt x="14096" y="24637"/>
                </a:moveTo>
                <a:lnTo>
                  <a:pt x="10054" y="18734"/>
                </a:lnTo>
                <a:lnTo>
                  <a:pt x="6334" y="12652"/>
                </a:lnTo>
                <a:lnTo>
                  <a:pt x="2970" y="6403"/>
                </a:lnTo>
                <a:lnTo>
                  <a:pt x="0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6461439" y="3413794"/>
            <a:ext cx="7620" cy="36407"/>
          </a:xfrm>
          <a:custGeom>
            <a:avLst/>
            <a:gdLst/>
            <a:ahLst/>
            <a:cxnLst/>
            <a:rect l="l" t="t" r="r" b="b"/>
            <a:pathLst>
              <a:path w="5714" h="27305">
                <a:moveTo>
                  <a:pt x="5587" y="0"/>
                </a:moveTo>
                <a:lnTo>
                  <a:pt x="4804" y="6907"/>
                </a:lnTo>
                <a:lnTo>
                  <a:pt x="3603" y="13731"/>
                </a:lnTo>
                <a:lnTo>
                  <a:pt x="1998" y="20484"/>
                </a:lnTo>
                <a:lnTo>
                  <a:pt x="0" y="27177"/>
                </a:lnTo>
              </a:path>
            </a:pathLst>
          </a:custGeom>
          <a:ln w="253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6618582" y="3190781"/>
            <a:ext cx="92287" cy="135467"/>
          </a:xfrm>
          <a:custGeom>
            <a:avLst/>
            <a:gdLst/>
            <a:ahLst/>
            <a:cxnLst/>
            <a:rect l="l" t="t" r="r" b="b"/>
            <a:pathLst>
              <a:path w="69214" h="101600">
                <a:moveTo>
                  <a:pt x="0" y="0"/>
                </a:moveTo>
                <a:lnTo>
                  <a:pt x="28703" y="17690"/>
                </a:lnTo>
                <a:lnTo>
                  <a:pt x="50466" y="41513"/>
                </a:lnTo>
                <a:lnTo>
                  <a:pt x="64204" y="69883"/>
                </a:lnTo>
                <a:lnTo>
                  <a:pt x="68834" y="101219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6794180" y="3047016"/>
            <a:ext cx="41487" cy="50800"/>
          </a:xfrm>
          <a:custGeom>
            <a:avLst/>
            <a:gdLst/>
            <a:ahLst/>
            <a:cxnLst/>
            <a:rect l="l" t="t" r="r" b="b"/>
            <a:pathLst>
              <a:path w="31114" h="38100">
                <a:moveTo>
                  <a:pt x="30607" y="0"/>
                </a:moveTo>
                <a:lnTo>
                  <a:pt x="24806" y="10630"/>
                </a:lnTo>
                <a:lnTo>
                  <a:pt x="17732" y="20558"/>
                </a:lnTo>
                <a:lnTo>
                  <a:pt x="9443" y="29700"/>
                </a:lnTo>
                <a:lnTo>
                  <a:pt x="0" y="37972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6736943" y="2859228"/>
            <a:ext cx="2540" cy="24553"/>
          </a:xfrm>
          <a:custGeom>
            <a:avLst/>
            <a:gdLst/>
            <a:ahLst/>
            <a:cxnLst/>
            <a:rect l="l" t="t" r="r" b="b"/>
            <a:pathLst>
              <a:path w="1904" h="18414">
                <a:moveTo>
                  <a:pt x="0" y="0"/>
                </a:moveTo>
                <a:lnTo>
                  <a:pt x="1270" y="5968"/>
                </a:lnTo>
                <a:lnTo>
                  <a:pt x="1777" y="11937"/>
                </a:lnTo>
                <a:lnTo>
                  <a:pt x="1650" y="17906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6476002" y="2800807"/>
            <a:ext cx="21167" cy="30480"/>
          </a:xfrm>
          <a:custGeom>
            <a:avLst/>
            <a:gdLst/>
            <a:ahLst/>
            <a:cxnLst/>
            <a:rect l="l" t="t" r="r" b="b"/>
            <a:pathLst>
              <a:path w="15875" h="22860">
                <a:moveTo>
                  <a:pt x="0" y="22859"/>
                </a:moveTo>
                <a:lnTo>
                  <a:pt x="3264" y="16787"/>
                </a:lnTo>
                <a:lnTo>
                  <a:pt x="6969" y="10953"/>
                </a:lnTo>
                <a:lnTo>
                  <a:pt x="11126" y="5357"/>
                </a:lnTo>
                <a:lnTo>
                  <a:pt x="15748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/>
          <p:nvPr/>
        </p:nvSpPr>
        <p:spPr>
          <a:xfrm>
            <a:off x="6280251" y="2819605"/>
            <a:ext cx="10160" cy="26247"/>
          </a:xfrm>
          <a:custGeom>
            <a:avLst/>
            <a:gdLst/>
            <a:ahLst/>
            <a:cxnLst/>
            <a:rect l="l" t="t" r="r" b="b"/>
            <a:pathLst>
              <a:path w="7620" h="19685">
                <a:moveTo>
                  <a:pt x="0" y="19685"/>
                </a:moveTo>
                <a:lnTo>
                  <a:pt x="1650" y="12826"/>
                </a:lnTo>
                <a:lnTo>
                  <a:pt x="4191" y="6223"/>
                </a:lnTo>
                <a:lnTo>
                  <a:pt x="7620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3" name="object 43"/>
          <p:cNvSpPr/>
          <p:nvPr/>
        </p:nvSpPr>
        <p:spPr>
          <a:xfrm>
            <a:off x="6050467" y="2854824"/>
            <a:ext cx="37253" cy="25400"/>
          </a:xfrm>
          <a:custGeom>
            <a:avLst/>
            <a:gdLst/>
            <a:ahLst/>
            <a:cxnLst/>
            <a:rect l="l" t="t" r="r" b="b"/>
            <a:pathLst>
              <a:path w="27939" h="19050">
                <a:moveTo>
                  <a:pt x="0" y="0"/>
                </a:moveTo>
                <a:lnTo>
                  <a:pt x="7377" y="4190"/>
                </a:lnTo>
                <a:lnTo>
                  <a:pt x="14446" y="8762"/>
                </a:lnTo>
                <a:lnTo>
                  <a:pt x="21181" y="13715"/>
                </a:lnTo>
                <a:lnTo>
                  <a:pt x="27559" y="1905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5765480" y="3028392"/>
            <a:ext cx="6773" cy="27093"/>
          </a:xfrm>
          <a:custGeom>
            <a:avLst/>
            <a:gdLst/>
            <a:ahLst/>
            <a:cxnLst/>
            <a:rect l="l" t="t" r="r" b="b"/>
            <a:pathLst>
              <a:path w="5079" h="20319">
                <a:moveTo>
                  <a:pt x="4825" y="20065"/>
                </a:moveTo>
                <a:lnTo>
                  <a:pt x="2666" y="13588"/>
                </a:lnTo>
                <a:lnTo>
                  <a:pt x="1015" y="6857"/>
                </a:lnTo>
                <a:lnTo>
                  <a:pt x="0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 txBox="1"/>
          <p:nvPr/>
        </p:nvSpPr>
        <p:spPr>
          <a:xfrm>
            <a:off x="5963938" y="2933395"/>
            <a:ext cx="5156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endParaRPr sz="24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9116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378580"/>
              </p:ext>
            </p:extLst>
          </p:nvPr>
        </p:nvGraphicFramePr>
        <p:xfrm>
          <a:off x="1439305" y="1514933"/>
          <a:ext cx="6807200" cy="384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6877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b="1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latin typeface="宋体"/>
                          <a:cs typeface="宋体"/>
                        </a:rPr>
                        <a:t>报告</a:t>
                      </a:r>
                      <a:endParaRPr sz="2800" dirty="0">
                        <a:latin typeface="宋体"/>
                        <a:cs typeface="宋体"/>
                      </a:endParaRPr>
                    </a:p>
                  </a:txBody>
                  <a:tcPr marL="0" marR="0" marT="14816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b="1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latin typeface="宋体"/>
                          <a:cs typeface="宋体"/>
                        </a:rPr>
                        <a:t>报告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14816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2800" b="1" spc="-5" dirty="0">
                          <a:latin typeface="宋体"/>
                          <a:cs typeface="宋体"/>
                        </a:rPr>
                        <a:t>结论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14816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687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b="1" spc="5" dirty="0">
                          <a:latin typeface="宋体"/>
                          <a:cs typeface="宋体"/>
                        </a:rPr>
                        <a:t>是好的</a:t>
                      </a:r>
                      <a:endParaRPr sz="2800" dirty="0">
                        <a:latin typeface="宋体"/>
                        <a:cs typeface="宋体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b="1" spc="5" dirty="0">
                          <a:latin typeface="宋体"/>
                          <a:cs typeface="宋体"/>
                        </a:rPr>
                        <a:t>是好的</a:t>
                      </a:r>
                      <a:endParaRPr sz="2800" dirty="0">
                        <a:latin typeface="宋体"/>
                        <a:cs typeface="宋体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2800" dirty="0">
                        <a:latin typeface="宋体"/>
                        <a:cs typeface="宋体"/>
                      </a:endParaRPr>
                    </a:p>
                  </a:txBody>
                  <a:tcPr marL="0" marR="0" marT="17356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87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b="1" spc="5" dirty="0">
                          <a:latin typeface="宋体"/>
                          <a:cs typeface="宋体"/>
                        </a:rPr>
                        <a:t>是好的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b="1" spc="5" dirty="0">
                          <a:latin typeface="宋体"/>
                          <a:cs typeface="宋体"/>
                        </a:rPr>
                        <a:t>是坏的</a:t>
                      </a:r>
                      <a:endParaRPr sz="2800" dirty="0">
                        <a:latin typeface="宋体"/>
                        <a:cs typeface="宋体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endParaRPr sz="2800" dirty="0">
                        <a:latin typeface="宋体"/>
                        <a:cs typeface="宋体"/>
                      </a:endParaRPr>
                    </a:p>
                  </a:txBody>
                  <a:tcPr marL="0" marR="0" marT="217593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687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b="1" spc="5" dirty="0">
                          <a:latin typeface="宋体"/>
                          <a:cs typeface="宋体"/>
                        </a:rPr>
                        <a:t>是坏的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b="1" spc="5" dirty="0">
                          <a:latin typeface="宋体"/>
                          <a:cs typeface="宋体"/>
                        </a:rPr>
                        <a:t>是好的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endParaRPr sz="2800" dirty="0">
                        <a:latin typeface="宋体"/>
                        <a:cs typeface="宋体"/>
                      </a:endParaRPr>
                    </a:p>
                  </a:txBody>
                  <a:tcPr marL="0" marR="0" marT="1659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68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b="1" spc="5" dirty="0">
                          <a:latin typeface="宋体"/>
                          <a:cs typeface="宋体"/>
                        </a:rPr>
                        <a:t>是坏的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167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2800" b="1" i="1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b="1" dirty="0">
                          <a:latin typeface="宋体"/>
                          <a:cs typeface="宋体"/>
                        </a:rPr>
                        <a:t>是坏的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2167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endParaRPr sz="2800" dirty="0">
                        <a:latin typeface="宋体"/>
                        <a:cs typeface="宋体"/>
                      </a:endParaRPr>
                    </a:p>
                  </a:txBody>
                  <a:tcPr marL="0" marR="0" marT="2040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414" y="224378"/>
            <a:ext cx="8891752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测试结果分析</a:t>
            </a:r>
          </a:p>
        </p:txBody>
      </p:sp>
      <p:sp>
        <p:nvSpPr>
          <p:cNvPr id="4" name="矩形 3"/>
          <p:cNvSpPr/>
          <p:nvPr/>
        </p:nvSpPr>
        <p:spPr>
          <a:xfrm>
            <a:off x="4635815" y="2454993"/>
            <a:ext cx="36007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1025"/>
              </a:spcBef>
            </a:pPr>
            <a:r>
              <a:rPr lang="pt-BR" altLang="zh-CN" sz="2800" b="1" i="1" spc="-5" dirty="0">
                <a:latin typeface="Times New Roman"/>
                <a:cs typeface="Times New Roman"/>
              </a:rPr>
              <a:t>A</a:t>
            </a:r>
            <a:r>
              <a:rPr lang="pt-BR" altLang="zh-CN" sz="2800" b="1" spc="-5" dirty="0">
                <a:latin typeface="Times New Roman"/>
                <a:cs typeface="Times New Roman"/>
              </a:rPr>
              <a:t>,</a:t>
            </a:r>
            <a:r>
              <a:rPr lang="pt-BR" altLang="zh-CN" sz="2800" b="1" spc="-20" dirty="0">
                <a:latin typeface="Times New Roman"/>
                <a:cs typeface="Times New Roman"/>
              </a:rPr>
              <a:t> </a:t>
            </a:r>
            <a:r>
              <a:rPr lang="pt-BR" altLang="zh-CN" sz="2800" b="1" i="1" dirty="0">
                <a:latin typeface="Times New Roman"/>
                <a:cs typeface="Times New Roman"/>
              </a:rPr>
              <a:t>B</a:t>
            </a:r>
            <a:r>
              <a:rPr lang="pt-BR" altLang="zh-CN" sz="2800" b="1" i="1" spc="-15" dirty="0">
                <a:latin typeface="Times New Roman"/>
                <a:cs typeface="Times New Roman"/>
              </a:rPr>
              <a:t> </a:t>
            </a:r>
            <a:r>
              <a:rPr lang="zh-CN" altLang="pt-BR" sz="2800" b="1" dirty="0">
                <a:latin typeface="宋体"/>
                <a:cs typeface="宋体"/>
              </a:rPr>
              <a:t>都好</a:t>
            </a:r>
            <a:r>
              <a:rPr lang="zh-CN" altLang="pt-BR" sz="2800" b="1" spc="-5" dirty="0">
                <a:latin typeface="宋体"/>
                <a:cs typeface="宋体"/>
              </a:rPr>
              <a:t>或</a:t>
            </a:r>
            <a:r>
              <a:rPr lang="pt-BR" altLang="zh-CN" sz="2800" b="1" spc="-509" dirty="0">
                <a:latin typeface="宋体"/>
                <a:cs typeface="宋体"/>
              </a:rPr>
              <a:t> </a:t>
            </a:r>
            <a:r>
              <a:rPr lang="pt-BR" altLang="zh-CN" sz="2800" b="1" i="1" spc="-5" dirty="0">
                <a:latin typeface="Times New Roman"/>
                <a:cs typeface="Times New Roman"/>
              </a:rPr>
              <a:t>A</a:t>
            </a:r>
            <a:r>
              <a:rPr lang="pt-BR" altLang="zh-CN" sz="2800" b="1" spc="-5" dirty="0">
                <a:latin typeface="Times New Roman"/>
                <a:cs typeface="Times New Roman"/>
              </a:rPr>
              <a:t>, </a:t>
            </a:r>
            <a:r>
              <a:rPr lang="pt-BR" altLang="zh-CN" sz="2800" b="1" i="1" dirty="0">
                <a:latin typeface="Times New Roman"/>
                <a:cs typeface="Times New Roman"/>
              </a:rPr>
              <a:t>B</a:t>
            </a:r>
            <a:r>
              <a:rPr lang="pt-BR" altLang="zh-CN" sz="2800" b="1" i="1" spc="-15" dirty="0">
                <a:latin typeface="Times New Roman"/>
                <a:cs typeface="Times New Roman"/>
              </a:rPr>
              <a:t> </a:t>
            </a:r>
            <a:r>
              <a:rPr lang="zh-CN" altLang="pt-BR" sz="2800" b="1" dirty="0">
                <a:latin typeface="宋体"/>
                <a:cs typeface="宋体"/>
              </a:rPr>
              <a:t>都坏</a:t>
            </a:r>
            <a:endParaRPr lang="pt-BR" altLang="zh-CN" sz="2800" dirty="0">
              <a:latin typeface="宋体"/>
              <a:cs typeface="宋体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59339" y="3202484"/>
            <a:ext cx="27110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285"/>
              </a:spcBef>
            </a:pPr>
            <a:r>
              <a:rPr lang="zh-CN" altLang="en-US" sz="2800" b="1" spc="5" dirty="0">
                <a:latin typeface="宋体"/>
                <a:cs typeface="宋体"/>
              </a:rPr>
              <a:t>至少一片是坏的</a:t>
            </a:r>
            <a:endParaRPr lang="zh-CN" altLang="en-US" sz="2800" dirty="0">
              <a:latin typeface="宋体"/>
              <a:cs typeface="宋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59339" y="3966551"/>
            <a:ext cx="27110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980"/>
              </a:spcBef>
            </a:pPr>
            <a:r>
              <a:rPr lang="zh-CN" altLang="en-US" sz="2800" b="1" spc="5" dirty="0">
                <a:latin typeface="宋体"/>
                <a:cs typeface="宋体"/>
              </a:rPr>
              <a:t>至少一片是坏的</a:t>
            </a:r>
            <a:endParaRPr lang="zh-CN" altLang="en-US" sz="2800" dirty="0">
              <a:latin typeface="宋体"/>
              <a:cs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84765" y="4750322"/>
            <a:ext cx="27110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205"/>
              </a:spcBef>
            </a:pPr>
            <a:r>
              <a:rPr lang="zh-CN" altLang="en-US" sz="2800" b="1" spc="5" dirty="0">
                <a:latin typeface="宋体"/>
                <a:cs typeface="宋体"/>
              </a:rPr>
              <a:t>至少一片是坏的</a:t>
            </a:r>
            <a:endParaRPr lang="zh-CN" altLang="en-US"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01092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455" y="238527"/>
            <a:ext cx="8870731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2454" y="1126899"/>
            <a:ext cx="8870731" cy="384682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algn="just">
              <a:spcBef>
                <a:spcPts val="140"/>
              </a:spcBef>
            </a:pPr>
            <a:r>
              <a:rPr sz="3200" b="1" spc="7" dirty="0">
                <a:solidFill>
                  <a:srgbClr val="C00000"/>
                </a:solidFill>
                <a:latin typeface="宋体"/>
                <a:cs typeface="宋体"/>
              </a:rPr>
              <a:t>输</a:t>
            </a: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入</a:t>
            </a:r>
            <a:r>
              <a:rPr sz="3200" b="1" spc="-7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 marL="16933" marR="89744" algn="just">
              <a:lnSpc>
                <a:spcPct val="102299"/>
              </a:lnSpc>
              <a:spcBef>
                <a:spcPts val="13"/>
              </a:spcBef>
            </a:pPr>
            <a:r>
              <a:rPr lang="en-US" sz="3200" b="1" i="1" dirty="0" smtClean="0">
                <a:latin typeface="Times New Roman"/>
                <a:cs typeface="Times New Roman"/>
              </a:rPr>
              <a:t>    </a:t>
            </a:r>
            <a:r>
              <a:rPr sz="3200" b="1" i="1" dirty="0" smtClean="0">
                <a:latin typeface="Times New Roman"/>
                <a:cs typeface="Times New Roman"/>
              </a:rPr>
              <a:t>n</a:t>
            </a:r>
            <a:r>
              <a:rPr sz="3200" b="1" i="1" spc="-73" dirty="0" smtClean="0">
                <a:latin typeface="Times New Roman"/>
                <a:cs typeface="Times New Roman"/>
              </a:rPr>
              <a:t> </a:t>
            </a:r>
            <a:r>
              <a:rPr sz="3200" b="1" dirty="0" err="1">
                <a:solidFill>
                  <a:srgbClr val="0D0D0D"/>
                </a:solidFill>
                <a:latin typeface="宋体"/>
                <a:cs typeface="宋体"/>
              </a:rPr>
              <a:t>片芯片，</a:t>
            </a:r>
            <a:r>
              <a:rPr sz="3200" b="1" dirty="0" err="1" smtClean="0">
                <a:solidFill>
                  <a:srgbClr val="0D0D0D"/>
                </a:solidFill>
                <a:latin typeface="宋体"/>
                <a:cs typeface="宋体"/>
              </a:rPr>
              <a:t>其</a:t>
            </a:r>
            <a:r>
              <a:rPr sz="3200" b="1" spc="-7" dirty="0" err="1" smtClean="0">
                <a:solidFill>
                  <a:srgbClr val="0D0D0D"/>
                </a:solidFill>
                <a:latin typeface="宋体"/>
                <a:cs typeface="宋体"/>
              </a:rPr>
              <a:t>中</a:t>
            </a:r>
            <a:r>
              <a:rPr sz="3200" b="1" dirty="0" err="1" smtClean="0">
                <a:solidFill>
                  <a:srgbClr val="0D0D0D"/>
                </a:solidFill>
                <a:latin typeface="宋体"/>
                <a:cs typeface="宋体"/>
              </a:rPr>
              <a:t>好芯片至少比坏</a:t>
            </a:r>
            <a:r>
              <a:rPr sz="3200" b="1" spc="7" dirty="0" err="1" smtClean="0">
                <a:solidFill>
                  <a:srgbClr val="0D0D0D"/>
                </a:solidFill>
                <a:latin typeface="宋体"/>
                <a:cs typeface="宋体"/>
              </a:rPr>
              <a:t>芯片</a:t>
            </a:r>
            <a:r>
              <a:rPr sz="3200" b="1" spc="-7" dirty="0" err="1" smtClean="0">
                <a:solidFill>
                  <a:srgbClr val="0D0D0D"/>
                </a:solidFill>
                <a:latin typeface="宋体"/>
                <a:cs typeface="宋体"/>
              </a:rPr>
              <a:t>多</a:t>
            </a:r>
            <a:r>
              <a:rPr sz="3200" b="1" spc="-807" dirty="0" smtClean="0">
                <a:solidFill>
                  <a:srgbClr val="0D0D0D"/>
                </a:solidFill>
                <a:latin typeface="宋体"/>
                <a:cs typeface="宋体"/>
              </a:rPr>
              <a:t> </a:t>
            </a:r>
            <a:r>
              <a:rPr sz="3200" b="1" dirty="0">
                <a:solidFill>
                  <a:srgbClr val="0D0D0D"/>
                </a:solidFill>
                <a:latin typeface="Times New Roman"/>
                <a:cs typeface="Times New Roman"/>
              </a:rPr>
              <a:t>1</a:t>
            </a:r>
            <a:r>
              <a:rPr sz="3200" b="1" dirty="0">
                <a:solidFill>
                  <a:srgbClr val="0D0D0D"/>
                </a:solidFill>
                <a:latin typeface="宋体"/>
                <a:cs typeface="宋体"/>
              </a:rPr>
              <a:t>片</a:t>
            </a:r>
            <a:r>
              <a:rPr sz="3200" b="1" dirty="0">
                <a:solidFill>
                  <a:srgbClr val="0D0D0D"/>
                </a:solidFill>
                <a:latin typeface="Arial"/>
                <a:cs typeface="Arial"/>
              </a:rPr>
              <a:t>.</a:t>
            </a:r>
            <a:endParaRPr sz="3200" dirty="0">
              <a:latin typeface="Arial"/>
              <a:cs typeface="Arial"/>
            </a:endParaRPr>
          </a:p>
          <a:p>
            <a:pPr algn="just">
              <a:spcBef>
                <a:spcPts val="47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16933" algn="just">
              <a:spcBef>
                <a:spcPts val="7"/>
              </a:spcBef>
            </a:pPr>
            <a:r>
              <a:rPr sz="3200" b="1" spc="7" dirty="0">
                <a:solidFill>
                  <a:srgbClr val="C00000"/>
                </a:solidFill>
                <a:latin typeface="宋体"/>
                <a:cs typeface="宋体"/>
              </a:rPr>
              <a:t>问</a:t>
            </a: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题</a:t>
            </a:r>
            <a:r>
              <a:rPr sz="3200" b="1" spc="-7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 marL="16933" algn="just">
              <a:spcBef>
                <a:spcPts val="913"/>
              </a:spcBef>
            </a:pPr>
            <a:r>
              <a:rPr lang="en-US" sz="3200" b="1" dirty="0" smtClean="0">
                <a:latin typeface="宋体"/>
                <a:cs typeface="宋体"/>
              </a:rPr>
              <a:t>  </a:t>
            </a:r>
            <a:r>
              <a:rPr sz="3200" b="1" dirty="0" err="1" smtClean="0">
                <a:latin typeface="宋体"/>
                <a:cs typeface="宋体"/>
              </a:rPr>
              <a:t>设计一种测试方法</a:t>
            </a:r>
            <a:r>
              <a:rPr sz="3200" b="1" spc="-20" dirty="0" err="1">
                <a:latin typeface="宋体"/>
                <a:cs typeface="宋体"/>
              </a:rPr>
              <a:t>，</a:t>
            </a:r>
            <a:r>
              <a:rPr sz="3200" b="1" dirty="0" err="1" smtClean="0">
                <a:latin typeface="宋体"/>
                <a:cs typeface="宋体"/>
              </a:rPr>
              <a:t>通过测</a:t>
            </a:r>
            <a:r>
              <a:rPr sz="3200" b="1" spc="-13" dirty="0" err="1" smtClean="0">
                <a:latin typeface="宋体"/>
                <a:cs typeface="宋体"/>
              </a:rPr>
              <a:t>试从</a:t>
            </a:r>
            <a:r>
              <a:rPr lang="en-US" sz="3200" b="1" spc="-13" dirty="0" smtClean="0">
                <a:latin typeface="宋体"/>
                <a:cs typeface="宋体"/>
              </a:rPr>
              <a:t> </a:t>
            </a:r>
            <a:r>
              <a:rPr lang="pt-BR" sz="3200" b="1" spc="-13" dirty="0" smtClean="0">
                <a:latin typeface="宋体"/>
                <a:cs typeface="宋体"/>
              </a:rPr>
              <a:t>n </a:t>
            </a:r>
            <a:r>
              <a:rPr lang="pt-BR" sz="3200" b="1" spc="-13" dirty="0">
                <a:latin typeface="宋体"/>
                <a:cs typeface="宋体"/>
              </a:rPr>
              <a:t>片芯片中挑出 1 片好芯片.</a:t>
            </a:r>
            <a:endParaRPr sz="3200" dirty="0">
              <a:latin typeface="宋体"/>
              <a:cs typeface="宋体"/>
            </a:endParaRPr>
          </a:p>
          <a:p>
            <a:pPr marL="16933" algn="just">
              <a:spcBef>
                <a:spcPts val="1987"/>
              </a:spcBef>
            </a:pPr>
            <a:r>
              <a:rPr sz="3200" b="1" dirty="0" err="1" smtClean="0">
                <a:solidFill>
                  <a:srgbClr val="C00000"/>
                </a:solidFill>
                <a:latin typeface="宋体"/>
                <a:cs typeface="宋体"/>
              </a:rPr>
              <a:t>要求</a:t>
            </a:r>
            <a:r>
              <a:rPr sz="3200" b="1" dirty="0" err="1">
                <a:latin typeface="宋体"/>
                <a:cs typeface="宋体"/>
              </a:rPr>
              <a:t>：使用最少的测试次</a:t>
            </a:r>
            <a:r>
              <a:rPr sz="3200" b="1" spc="-20" dirty="0" err="1">
                <a:latin typeface="宋体"/>
                <a:cs typeface="宋体"/>
              </a:rPr>
              <a:t>数</a:t>
            </a:r>
            <a:r>
              <a:rPr sz="3200" b="1" spc="-13" dirty="0">
                <a:latin typeface="宋体"/>
                <a:cs typeface="宋体"/>
              </a:rPr>
              <a:t>.</a:t>
            </a:r>
            <a:endParaRPr sz="3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94114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815" y="269906"/>
            <a:ext cx="8838351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判定芯片</a:t>
            </a:r>
            <a:r>
              <a:rPr sz="4000" b="1" i="1" spc="-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A</a:t>
            </a:r>
            <a:r>
              <a:rPr sz="4000" b="1" i="1" spc="-4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的好坏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815" y="1167743"/>
            <a:ext cx="8838351" cy="50928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2800" b="1" spc="-7" dirty="0" err="1">
                <a:solidFill>
                  <a:srgbClr val="C00000"/>
                </a:solidFill>
                <a:latin typeface="宋体"/>
                <a:cs typeface="宋体"/>
              </a:rPr>
              <a:t>问</a:t>
            </a:r>
            <a:r>
              <a:rPr sz="2800" b="1" dirty="0" err="1">
                <a:solidFill>
                  <a:srgbClr val="C00000"/>
                </a:solidFill>
                <a:latin typeface="宋体"/>
                <a:cs typeface="宋体"/>
              </a:rPr>
              <a:t>题</a:t>
            </a:r>
            <a:r>
              <a:rPr sz="2800" b="1" spc="-7" dirty="0" err="1">
                <a:latin typeface="宋体"/>
                <a:cs typeface="宋体"/>
              </a:rPr>
              <a:t>：</a:t>
            </a:r>
            <a:r>
              <a:rPr sz="2800" b="1" spc="-7" dirty="0" err="1" smtClean="0">
                <a:latin typeface="宋体"/>
                <a:cs typeface="宋体"/>
              </a:rPr>
              <a:t>给定芯片</a:t>
            </a:r>
            <a:r>
              <a:rPr lang="en-US" sz="2800" b="1" spc="-7" dirty="0" smtClean="0">
                <a:latin typeface="宋体"/>
                <a:cs typeface="宋体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A</a:t>
            </a:r>
            <a:r>
              <a:rPr lang="en-US" sz="2800" b="1" i="1" spc="-7" dirty="0" smtClean="0">
                <a:latin typeface="Times New Roman"/>
                <a:cs typeface="Times New Roman"/>
              </a:rPr>
              <a:t> </a:t>
            </a:r>
            <a:r>
              <a:rPr sz="2800" b="1" spc="-7" dirty="0" smtClean="0">
                <a:latin typeface="宋体"/>
                <a:cs typeface="宋体"/>
              </a:rPr>
              <a:t>，</a:t>
            </a:r>
            <a:r>
              <a:rPr sz="2800" b="1" spc="-7" dirty="0" err="1" smtClean="0">
                <a:latin typeface="宋体"/>
                <a:cs typeface="宋体"/>
              </a:rPr>
              <a:t>判定</a:t>
            </a:r>
            <a:r>
              <a:rPr lang="en-US" sz="2800" b="1" spc="-7" dirty="0" smtClean="0">
                <a:latin typeface="宋体"/>
                <a:cs typeface="宋体"/>
              </a:rPr>
              <a:t> </a:t>
            </a:r>
            <a:r>
              <a:rPr sz="2800" b="1" i="1" spc="-13" dirty="0" smtClean="0">
                <a:latin typeface="Times New Roman"/>
                <a:cs typeface="Times New Roman"/>
              </a:rPr>
              <a:t>A</a:t>
            </a:r>
            <a:r>
              <a:rPr lang="en-US" sz="2800" b="1" i="1" spc="-13" dirty="0" smtClean="0">
                <a:latin typeface="Times New Roman"/>
                <a:cs typeface="Times New Roman"/>
              </a:rPr>
              <a:t> </a:t>
            </a:r>
            <a:r>
              <a:rPr sz="2800" b="1" spc="-7" dirty="0" err="1" smtClean="0">
                <a:latin typeface="宋体"/>
                <a:cs typeface="宋体"/>
              </a:rPr>
              <a:t>的好坏</a:t>
            </a:r>
            <a:endParaRPr sz="2800" dirty="0">
              <a:latin typeface="宋体"/>
              <a:cs typeface="宋体"/>
            </a:endParaRPr>
          </a:p>
          <a:p>
            <a:r>
              <a:rPr sz="2800" b="1" dirty="0" err="1">
                <a:solidFill>
                  <a:srgbClr val="C00000"/>
                </a:solidFill>
                <a:latin typeface="宋体"/>
                <a:cs typeface="宋体"/>
              </a:rPr>
              <a:t>方法</a:t>
            </a:r>
            <a:r>
              <a:rPr sz="2800" b="1" dirty="0" err="1">
                <a:latin typeface="宋体"/>
                <a:cs typeface="宋体"/>
              </a:rPr>
              <a:t>：用其</a:t>
            </a:r>
            <a:r>
              <a:rPr sz="2800" b="1" spc="-13" dirty="0" err="1">
                <a:latin typeface="宋体"/>
                <a:cs typeface="宋体"/>
              </a:rPr>
              <a:t>他</a:t>
            </a:r>
            <a:r>
              <a:rPr sz="2800" b="1" spc="-827" dirty="0">
                <a:latin typeface="宋体"/>
                <a:cs typeface="宋体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n</a:t>
            </a:r>
            <a:r>
              <a:rPr sz="2800" b="1" spc="-7" dirty="0" smtClean="0">
                <a:latin typeface="Times New Roman"/>
                <a:cs typeface="Times New Roman"/>
              </a:rPr>
              <a:t>-1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dirty="0" err="1" smtClean="0">
                <a:latin typeface="宋体"/>
                <a:cs typeface="宋体"/>
              </a:rPr>
              <a:t>片芯片</a:t>
            </a:r>
            <a:r>
              <a:rPr sz="2800" b="1" spc="-13" dirty="0" err="1" smtClean="0">
                <a:latin typeface="宋体"/>
                <a:cs typeface="宋体"/>
              </a:rPr>
              <a:t>对</a:t>
            </a:r>
            <a:r>
              <a:rPr sz="2800" b="1" spc="-793" dirty="0" smtClean="0">
                <a:latin typeface="宋体"/>
                <a:cs typeface="宋体"/>
              </a:rPr>
              <a:t> </a:t>
            </a:r>
            <a:r>
              <a:rPr lang="en-US" sz="2800" b="1" spc="-793" dirty="0" smtClean="0">
                <a:latin typeface="宋体"/>
                <a:cs typeface="宋体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A</a:t>
            </a:r>
            <a:r>
              <a:rPr lang="en-US" sz="2800" b="1" i="1" dirty="0" smtClean="0">
                <a:latin typeface="Times New Roman"/>
                <a:cs typeface="Times New Roman"/>
              </a:rPr>
              <a:t> </a:t>
            </a:r>
            <a:r>
              <a:rPr sz="2800" b="1" i="1" spc="-193" dirty="0" smtClean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测</a:t>
            </a:r>
            <a:r>
              <a:rPr sz="2800" b="1" spc="-13" dirty="0">
                <a:latin typeface="宋体"/>
                <a:cs typeface="宋体"/>
              </a:rPr>
              <a:t>试</a:t>
            </a:r>
            <a:r>
              <a:rPr sz="2800" b="1" spc="-813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>
              <a:spcBef>
                <a:spcPts val="1120"/>
              </a:spcBef>
            </a:pPr>
            <a:r>
              <a:rPr sz="2800" b="1" i="1" spc="-7" dirty="0">
                <a:latin typeface="Times New Roman"/>
                <a:cs typeface="Times New Roman"/>
              </a:rPr>
              <a:t>n=</a:t>
            </a:r>
            <a:r>
              <a:rPr sz="2800" b="1" spc="-7" dirty="0">
                <a:latin typeface="Times New Roman"/>
                <a:cs typeface="Times New Roman"/>
              </a:rPr>
              <a:t>7</a:t>
            </a:r>
            <a:r>
              <a:rPr sz="2800" b="1" spc="-7" dirty="0">
                <a:latin typeface="宋体"/>
                <a:cs typeface="宋体"/>
              </a:rPr>
              <a:t>：</a:t>
            </a:r>
            <a:r>
              <a:rPr sz="2800" b="1" dirty="0">
                <a:latin typeface="宋体"/>
                <a:cs typeface="宋体"/>
              </a:rPr>
              <a:t>好芯片</a:t>
            </a:r>
            <a:r>
              <a:rPr sz="2800" b="1" spc="-13" dirty="0">
                <a:latin typeface="宋体"/>
                <a:cs typeface="宋体"/>
              </a:rPr>
              <a:t>数</a:t>
            </a:r>
            <a:r>
              <a:rPr sz="2800" b="1" spc="-820" dirty="0">
                <a:latin typeface="宋体"/>
                <a:cs typeface="宋体"/>
              </a:rPr>
              <a:t> </a:t>
            </a:r>
            <a:r>
              <a:rPr sz="2800" b="1" spc="-7" dirty="0">
                <a:latin typeface="Symbol"/>
                <a:cs typeface="Symbol"/>
              </a:rPr>
              <a:t></a:t>
            </a:r>
            <a:r>
              <a:rPr sz="2800" b="1" spc="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4.</a:t>
            </a:r>
            <a:endParaRPr sz="2800" dirty="0">
              <a:latin typeface="Times New Roman"/>
              <a:cs typeface="Times New Roman"/>
            </a:endParaRPr>
          </a:p>
          <a:p>
            <a:pPr>
              <a:spcBef>
                <a:spcPts val="7"/>
              </a:spcBef>
              <a:tabLst>
                <a:tab pos="1687364" algn="l"/>
              </a:tabLst>
            </a:pPr>
            <a:r>
              <a:rPr lang="en-US" sz="2800" b="1" i="1" dirty="0" smtClean="0">
                <a:latin typeface="Times New Roman"/>
                <a:cs typeface="Times New Roman"/>
              </a:rPr>
              <a:t>       </a:t>
            </a:r>
            <a:r>
              <a:rPr sz="2800" b="1" i="1" dirty="0" smtClean="0">
                <a:latin typeface="Times New Roman"/>
                <a:cs typeface="Times New Roman"/>
              </a:rPr>
              <a:t>A</a:t>
            </a:r>
            <a:r>
              <a:rPr sz="2800" b="1" i="1" spc="-187" dirty="0" smtClean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宋体"/>
                <a:cs typeface="宋体"/>
              </a:rPr>
              <a:t>好</a:t>
            </a:r>
            <a:r>
              <a:rPr sz="2800" b="1" dirty="0">
                <a:latin typeface="Times New Roman"/>
                <a:cs typeface="Times New Roman"/>
              </a:rPr>
              <a:t>,	</a:t>
            </a:r>
            <a:r>
              <a:rPr sz="2800" b="1" spc="-7" dirty="0">
                <a:latin typeface="Times New Roman"/>
                <a:cs typeface="Times New Roman"/>
              </a:rPr>
              <a:t>6</a:t>
            </a:r>
            <a:r>
              <a:rPr sz="2800" b="1" spc="-7" dirty="0">
                <a:latin typeface="宋体"/>
                <a:cs typeface="宋体"/>
              </a:rPr>
              <a:t>个报告中至</a:t>
            </a:r>
            <a:r>
              <a:rPr sz="2800" b="1" spc="-13" dirty="0">
                <a:latin typeface="宋体"/>
                <a:cs typeface="宋体"/>
              </a:rPr>
              <a:t>少</a:t>
            </a:r>
            <a:r>
              <a:rPr sz="2800" b="1" spc="-827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spc="-4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宋体"/>
                <a:cs typeface="宋体"/>
              </a:rPr>
              <a:t>个报“好”</a:t>
            </a:r>
            <a:endParaRPr sz="2800" dirty="0">
              <a:latin typeface="宋体"/>
              <a:cs typeface="宋体"/>
            </a:endParaRPr>
          </a:p>
          <a:p>
            <a:pPr>
              <a:tabLst>
                <a:tab pos="1672972" algn="l"/>
              </a:tabLst>
            </a:pPr>
            <a:r>
              <a:rPr lang="en-US" sz="2800" b="1" i="1" dirty="0" smtClean="0">
                <a:latin typeface="Times New Roman"/>
                <a:cs typeface="Times New Roman"/>
              </a:rPr>
              <a:t>       </a:t>
            </a:r>
            <a:r>
              <a:rPr sz="2800" b="1" i="1" dirty="0" smtClean="0">
                <a:latin typeface="Times New Roman"/>
                <a:cs typeface="Times New Roman"/>
              </a:rPr>
              <a:t>A</a:t>
            </a:r>
            <a:r>
              <a:rPr sz="2800" b="1" i="1" spc="-180" dirty="0" smtClean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坏</a:t>
            </a:r>
            <a:r>
              <a:rPr sz="2800" b="1" dirty="0">
                <a:latin typeface="Times New Roman"/>
                <a:cs typeface="Times New Roman"/>
              </a:rPr>
              <a:t>,	6</a:t>
            </a:r>
            <a:r>
              <a:rPr sz="2800" b="1" dirty="0">
                <a:latin typeface="宋体"/>
                <a:cs typeface="宋体"/>
              </a:rPr>
              <a:t>个报告中至</a:t>
            </a:r>
            <a:r>
              <a:rPr sz="2800" b="1" spc="-13" dirty="0">
                <a:latin typeface="宋体"/>
                <a:cs typeface="宋体"/>
              </a:rPr>
              <a:t>少</a:t>
            </a:r>
            <a:r>
              <a:rPr sz="2800" b="1" spc="-860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个报“坏”</a:t>
            </a:r>
            <a:endParaRPr sz="2800" dirty="0">
              <a:latin typeface="宋体"/>
              <a:cs typeface="宋体"/>
            </a:endParaRPr>
          </a:p>
          <a:p>
            <a:pPr>
              <a:spcBef>
                <a:spcPts val="2080"/>
              </a:spcBef>
            </a:pP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宋体"/>
                <a:cs typeface="宋体"/>
              </a:rPr>
              <a:t>是</a:t>
            </a:r>
            <a:r>
              <a:rPr sz="2800" b="1" spc="-7" dirty="0">
                <a:solidFill>
                  <a:srgbClr val="C00000"/>
                </a:solidFill>
                <a:latin typeface="宋体"/>
                <a:cs typeface="宋体"/>
              </a:rPr>
              <a:t>奇数</a:t>
            </a:r>
            <a:r>
              <a:rPr sz="2800" b="1" spc="-7" dirty="0">
                <a:latin typeface="宋体"/>
                <a:cs typeface="宋体"/>
              </a:rPr>
              <a:t>：好芯片</a:t>
            </a:r>
            <a:r>
              <a:rPr sz="2800" b="1" spc="-13" dirty="0">
                <a:latin typeface="宋体"/>
                <a:cs typeface="宋体"/>
              </a:rPr>
              <a:t>数</a:t>
            </a:r>
            <a:r>
              <a:rPr sz="2800" b="1" spc="-807" dirty="0">
                <a:latin typeface="宋体"/>
                <a:cs typeface="宋体"/>
              </a:rPr>
              <a:t> </a:t>
            </a:r>
            <a:r>
              <a:rPr sz="2800" b="1" dirty="0">
                <a:latin typeface="Symbol"/>
                <a:cs typeface="Symbol"/>
              </a:rPr>
              <a:t></a:t>
            </a:r>
            <a:r>
              <a:rPr sz="2800" b="1" spc="-2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+1)/2.</a:t>
            </a:r>
            <a:endParaRPr sz="2800" dirty="0">
              <a:latin typeface="Times New Roman"/>
              <a:cs typeface="Times New Roman"/>
            </a:endParaRPr>
          </a:p>
          <a:p>
            <a:pPr marL="623978">
              <a:tabLst>
                <a:tab pos="1687364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好</a:t>
            </a:r>
            <a:r>
              <a:rPr sz="2800" b="1" dirty="0">
                <a:latin typeface="Times New Roman"/>
                <a:cs typeface="Times New Roman"/>
              </a:rPr>
              <a:t>,	</a:t>
            </a:r>
            <a:r>
              <a:rPr sz="2800" b="1" dirty="0">
                <a:latin typeface="宋体"/>
                <a:cs typeface="宋体"/>
              </a:rPr>
              <a:t>至少</a:t>
            </a:r>
            <a:r>
              <a:rPr sz="2800" b="1" spc="-13" dirty="0">
                <a:latin typeface="宋体"/>
                <a:cs typeface="宋体"/>
              </a:rPr>
              <a:t>有</a:t>
            </a:r>
            <a:r>
              <a:rPr sz="2800" b="1" spc="-813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dirty="0">
                <a:latin typeface="Times New Roman"/>
                <a:cs typeface="Times New Roman"/>
              </a:rPr>
              <a:t>1)/2</a:t>
            </a:r>
            <a:r>
              <a:rPr sz="2800" b="1" dirty="0">
                <a:latin typeface="宋体"/>
                <a:cs typeface="宋体"/>
              </a:rPr>
              <a:t>个报“好”</a:t>
            </a:r>
            <a:endParaRPr sz="2800" dirty="0">
              <a:latin typeface="宋体"/>
              <a:cs typeface="宋体"/>
            </a:endParaRPr>
          </a:p>
          <a:p>
            <a:pPr marL="609585">
              <a:tabLst>
                <a:tab pos="1672972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坏</a:t>
            </a:r>
            <a:r>
              <a:rPr sz="2800" b="1" dirty="0">
                <a:latin typeface="Times New Roman"/>
                <a:cs typeface="Times New Roman"/>
              </a:rPr>
              <a:t>,	</a:t>
            </a:r>
            <a:r>
              <a:rPr sz="2800" b="1" dirty="0">
                <a:latin typeface="宋体"/>
                <a:cs typeface="宋体"/>
              </a:rPr>
              <a:t>至少</a:t>
            </a:r>
            <a:r>
              <a:rPr sz="2800" b="1" spc="-13" dirty="0">
                <a:latin typeface="宋体"/>
                <a:cs typeface="宋体"/>
              </a:rPr>
              <a:t>有</a:t>
            </a:r>
            <a:r>
              <a:rPr sz="2800" b="1" spc="-820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+1)/2</a:t>
            </a:r>
            <a:r>
              <a:rPr sz="2800" b="1" dirty="0">
                <a:latin typeface="宋体"/>
                <a:cs typeface="宋体"/>
              </a:rPr>
              <a:t>个报告“坏</a:t>
            </a:r>
            <a:r>
              <a:rPr sz="3200" b="1" dirty="0">
                <a:latin typeface="宋体"/>
                <a:cs typeface="宋体"/>
              </a:rPr>
              <a:t>”</a:t>
            </a:r>
            <a:endParaRPr sz="3200" dirty="0">
              <a:latin typeface="宋体"/>
              <a:cs typeface="宋体"/>
            </a:endParaRPr>
          </a:p>
          <a:p>
            <a:pPr marR="6773" indent="-1231869" algn="just">
              <a:spcBef>
                <a:spcPts val="1367"/>
              </a:spcBef>
            </a:pPr>
            <a:r>
              <a:rPr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结论：</a:t>
            </a: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至少一半报“好”</a:t>
            </a:r>
            <a:r>
              <a:rPr sz="2800" b="1" spc="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，</a:t>
            </a:r>
            <a:r>
              <a:rPr sz="2800" b="1" i="1" spc="-7" dirty="0"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A</a:t>
            </a: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是好芯片</a:t>
            </a:r>
            <a:r>
              <a:rPr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，超过一半报</a:t>
            </a: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“坏”，</a:t>
            </a:r>
            <a:r>
              <a:rPr sz="2800" b="1" i="1" dirty="0"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A</a:t>
            </a: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是坏芯片</a:t>
            </a: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.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Arial"/>
            </a:endParaRPr>
          </a:p>
          <a:p>
            <a:pPr marR="150703" algn="r">
              <a:lnSpc>
                <a:spcPts val="893"/>
              </a:lnSpc>
            </a:pP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3815" y="3700890"/>
            <a:ext cx="6074130" cy="1396628"/>
          </a:xfrm>
          <a:custGeom>
            <a:avLst/>
            <a:gdLst/>
            <a:ahLst/>
            <a:cxnLst/>
            <a:rect l="l" t="t" r="r" b="b"/>
            <a:pathLst>
              <a:path w="4840605" h="1227454">
                <a:moveTo>
                  <a:pt x="0" y="204469"/>
                </a:moveTo>
                <a:lnTo>
                  <a:pt x="5401" y="157594"/>
                </a:lnTo>
                <a:lnTo>
                  <a:pt x="20787" y="114559"/>
                </a:lnTo>
                <a:lnTo>
                  <a:pt x="44930" y="76593"/>
                </a:lnTo>
                <a:lnTo>
                  <a:pt x="76603" y="44926"/>
                </a:lnTo>
                <a:lnTo>
                  <a:pt x="114577" y="20786"/>
                </a:lnTo>
                <a:lnTo>
                  <a:pt x="157626" y="5401"/>
                </a:lnTo>
                <a:lnTo>
                  <a:pt x="204520" y="0"/>
                </a:lnTo>
                <a:lnTo>
                  <a:pt x="4635754" y="0"/>
                </a:lnTo>
                <a:lnTo>
                  <a:pt x="4682636" y="5401"/>
                </a:lnTo>
                <a:lnTo>
                  <a:pt x="4725687" y="20786"/>
                </a:lnTo>
                <a:lnTo>
                  <a:pt x="4763670" y="44926"/>
                </a:lnTo>
                <a:lnTo>
                  <a:pt x="4795350" y="76593"/>
                </a:lnTo>
                <a:lnTo>
                  <a:pt x="4819493" y="114559"/>
                </a:lnTo>
                <a:lnTo>
                  <a:pt x="4834862" y="157594"/>
                </a:lnTo>
                <a:lnTo>
                  <a:pt x="4840224" y="204469"/>
                </a:lnTo>
                <a:lnTo>
                  <a:pt x="4840351" y="1022616"/>
                </a:lnTo>
                <a:lnTo>
                  <a:pt x="4834822" y="1069511"/>
                </a:lnTo>
                <a:lnTo>
                  <a:pt x="4819437" y="1112559"/>
                </a:lnTo>
                <a:lnTo>
                  <a:pt x="4795297" y="1150534"/>
                </a:lnTo>
                <a:lnTo>
                  <a:pt x="4763630" y="1182206"/>
                </a:lnTo>
                <a:lnTo>
                  <a:pt x="4725664" y="1206349"/>
                </a:lnTo>
                <a:lnTo>
                  <a:pt x="4682629" y="1221735"/>
                </a:lnTo>
                <a:lnTo>
                  <a:pt x="4635754" y="1227137"/>
                </a:lnTo>
                <a:lnTo>
                  <a:pt x="204520" y="1227137"/>
                </a:lnTo>
                <a:lnTo>
                  <a:pt x="157626" y="1221735"/>
                </a:lnTo>
                <a:lnTo>
                  <a:pt x="114577" y="1206349"/>
                </a:lnTo>
                <a:lnTo>
                  <a:pt x="76603" y="1182206"/>
                </a:lnTo>
                <a:lnTo>
                  <a:pt x="44930" y="1150534"/>
                </a:lnTo>
                <a:lnTo>
                  <a:pt x="20787" y="1112559"/>
                </a:lnTo>
                <a:lnTo>
                  <a:pt x="5401" y="1069511"/>
                </a:lnTo>
                <a:lnTo>
                  <a:pt x="0" y="1022616"/>
                </a:lnTo>
                <a:lnTo>
                  <a:pt x="0" y="204469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9355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760" y="242741"/>
            <a:ext cx="8824426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判定芯片</a:t>
            </a:r>
            <a:r>
              <a:rPr sz="4000" b="1" i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A</a:t>
            </a:r>
            <a:r>
              <a:rPr sz="4000" b="1" i="1" spc="-4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的好坏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8402" y="1042342"/>
            <a:ext cx="8934784" cy="48722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5032">
              <a:spcBef>
                <a:spcPts val="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=8</a:t>
            </a:r>
            <a:r>
              <a:rPr sz="3200" b="1" spc="-7" dirty="0">
                <a:latin typeface="宋体"/>
                <a:cs typeface="宋体"/>
              </a:rPr>
              <a:t>：好芯片</a:t>
            </a:r>
            <a:r>
              <a:rPr sz="3200" b="1" spc="-13" dirty="0">
                <a:latin typeface="宋体"/>
                <a:cs typeface="宋体"/>
              </a:rPr>
              <a:t>数</a:t>
            </a:r>
            <a:r>
              <a:rPr sz="3200" b="1" spc="-820" dirty="0">
                <a:latin typeface="宋体"/>
                <a:cs typeface="宋体"/>
              </a:rPr>
              <a:t> </a:t>
            </a:r>
            <a:r>
              <a:rPr sz="3200" b="1" dirty="0">
                <a:latin typeface="Symbol"/>
                <a:cs typeface="Symbol"/>
              </a:rPr>
              <a:t>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5.</a:t>
            </a:r>
            <a:endParaRPr sz="3200" dirty="0">
              <a:latin typeface="Times New Roman"/>
              <a:cs typeface="Times New Roman"/>
            </a:endParaRPr>
          </a:p>
          <a:p>
            <a:pPr marL="357284">
              <a:tabLst>
                <a:tab pos="1419825" algn="l"/>
              </a:tabLst>
            </a:pPr>
            <a:r>
              <a:rPr sz="3200" b="1" i="1" dirty="0">
                <a:latin typeface="Times New Roman"/>
                <a:cs typeface="Times New Roman"/>
              </a:rPr>
              <a:t>A</a:t>
            </a:r>
            <a:r>
              <a:rPr sz="3200" b="1" i="1" spc="-18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好</a:t>
            </a:r>
            <a:r>
              <a:rPr sz="3200" b="1" dirty="0">
                <a:latin typeface="Times New Roman"/>
                <a:cs typeface="Times New Roman"/>
              </a:rPr>
              <a:t>,	7</a:t>
            </a:r>
            <a:r>
              <a:rPr sz="3200" b="1" dirty="0">
                <a:latin typeface="宋体"/>
                <a:cs typeface="宋体"/>
              </a:rPr>
              <a:t>个报告中至</a:t>
            </a:r>
            <a:r>
              <a:rPr sz="3200" b="1" spc="-13" dirty="0">
                <a:latin typeface="宋体"/>
                <a:cs typeface="宋体"/>
              </a:rPr>
              <a:t>少</a:t>
            </a:r>
            <a:r>
              <a:rPr sz="3200" b="1" spc="-847" dirty="0">
                <a:latin typeface="宋体"/>
                <a:cs typeface="宋体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4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个报“好”</a:t>
            </a:r>
            <a:endParaRPr sz="3200" dirty="0">
              <a:latin typeface="宋体"/>
              <a:cs typeface="宋体"/>
            </a:endParaRPr>
          </a:p>
          <a:p>
            <a:pPr marL="342891">
              <a:tabLst>
                <a:tab pos="1406278" algn="l"/>
              </a:tabLst>
            </a:pPr>
            <a:r>
              <a:rPr sz="3200" b="1" i="1" dirty="0">
                <a:latin typeface="Times New Roman"/>
                <a:cs typeface="Times New Roman"/>
              </a:rPr>
              <a:t>A</a:t>
            </a:r>
            <a:r>
              <a:rPr sz="3200" b="1" i="1" spc="-18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坏</a:t>
            </a:r>
            <a:r>
              <a:rPr sz="3200" b="1" dirty="0">
                <a:latin typeface="Times New Roman"/>
                <a:cs typeface="Times New Roman"/>
              </a:rPr>
              <a:t>,	7</a:t>
            </a:r>
            <a:r>
              <a:rPr sz="3200" b="1" dirty="0">
                <a:latin typeface="宋体"/>
                <a:cs typeface="宋体"/>
              </a:rPr>
              <a:t>个报告中至</a:t>
            </a:r>
            <a:r>
              <a:rPr sz="3200" b="1" spc="-13" dirty="0">
                <a:latin typeface="宋体"/>
                <a:cs typeface="宋体"/>
              </a:rPr>
              <a:t>少</a:t>
            </a:r>
            <a:r>
              <a:rPr sz="3200" b="1" spc="-867" dirty="0">
                <a:latin typeface="宋体"/>
                <a:cs typeface="宋体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5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个报“坏”</a:t>
            </a:r>
            <a:endParaRPr sz="3200" dirty="0">
              <a:latin typeface="宋体"/>
              <a:cs typeface="宋体"/>
            </a:endParaRPr>
          </a:p>
          <a:p>
            <a:pPr marL="16933">
              <a:spcBef>
                <a:spcPts val="2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宋体"/>
                <a:cs typeface="宋体"/>
              </a:rPr>
              <a:t>是</a:t>
            </a:r>
            <a:r>
              <a:rPr sz="3200" b="1" spc="-7" dirty="0">
                <a:solidFill>
                  <a:srgbClr val="C00000"/>
                </a:solidFill>
                <a:latin typeface="宋体"/>
                <a:cs typeface="宋体"/>
              </a:rPr>
              <a:t>偶数</a:t>
            </a:r>
            <a:r>
              <a:rPr sz="3200" b="1" spc="-7" dirty="0">
                <a:latin typeface="宋体"/>
                <a:cs typeface="宋体"/>
              </a:rPr>
              <a:t>：好芯片</a:t>
            </a:r>
            <a:r>
              <a:rPr sz="3200" b="1" spc="-13" dirty="0">
                <a:latin typeface="宋体"/>
                <a:cs typeface="宋体"/>
              </a:rPr>
              <a:t>数</a:t>
            </a:r>
            <a:r>
              <a:rPr sz="3200" b="1" spc="-807" dirty="0">
                <a:latin typeface="宋体"/>
                <a:cs typeface="宋体"/>
              </a:rPr>
              <a:t> </a:t>
            </a:r>
            <a:r>
              <a:rPr sz="3200" b="1" dirty="0">
                <a:latin typeface="Symbol"/>
                <a:cs typeface="Symbol"/>
              </a:rPr>
              <a:t></a:t>
            </a:r>
            <a:r>
              <a:rPr sz="3200" b="1" spc="-2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/2+1.</a:t>
            </a:r>
            <a:endParaRPr sz="3200" dirty="0">
              <a:latin typeface="Times New Roman"/>
              <a:cs typeface="Times New Roman"/>
            </a:endParaRPr>
          </a:p>
          <a:p>
            <a:pPr marL="319185" marR="393690">
              <a:tabLst>
                <a:tab pos="1381724" algn="l"/>
              </a:tabLst>
            </a:pPr>
            <a:r>
              <a:rPr sz="3200" b="1" i="1" dirty="0">
                <a:latin typeface="Times New Roman"/>
                <a:cs typeface="Times New Roman"/>
              </a:rPr>
              <a:t>A</a:t>
            </a:r>
            <a:r>
              <a:rPr sz="3200" b="1" i="1" spc="-18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好</a:t>
            </a:r>
            <a:r>
              <a:rPr sz="3200" b="1" dirty="0">
                <a:latin typeface="Times New Roman"/>
                <a:cs typeface="Times New Roman"/>
              </a:rPr>
              <a:t>,	</a:t>
            </a:r>
            <a:r>
              <a:rPr sz="3200" b="1" dirty="0">
                <a:latin typeface="宋体"/>
                <a:cs typeface="宋体"/>
              </a:rPr>
              <a:t>至少</a:t>
            </a:r>
            <a:r>
              <a:rPr sz="3200" b="1" spc="-13" dirty="0">
                <a:latin typeface="宋体"/>
                <a:cs typeface="宋体"/>
              </a:rPr>
              <a:t>有</a:t>
            </a:r>
            <a:r>
              <a:rPr sz="3200" b="1" spc="-813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/2</a:t>
            </a:r>
            <a:r>
              <a:rPr sz="3200" b="1" dirty="0">
                <a:latin typeface="宋体"/>
                <a:cs typeface="宋体"/>
              </a:rPr>
              <a:t>个报告“好”  </a:t>
            </a:r>
            <a:endParaRPr lang="en-US" sz="3200" b="1" dirty="0" smtClean="0">
              <a:latin typeface="宋体"/>
              <a:cs typeface="宋体"/>
            </a:endParaRPr>
          </a:p>
          <a:p>
            <a:pPr marL="319185" marR="393690">
              <a:spcAft>
                <a:spcPts val="1200"/>
              </a:spcAft>
              <a:tabLst>
                <a:tab pos="1381724" algn="l"/>
              </a:tabLst>
            </a:pPr>
            <a:r>
              <a:rPr sz="3200" b="1" i="1" dirty="0" smtClean="0">
                <a:latin typeface="Times New Roman"/>
                <a:cs typeface="Times New Roman"/>
              </a:rPr>
              <a:t>A</a:t>
            </a:r>
            <a:r>
              <a:rPr sz="3200" b="1" i="1" spc="-187" dirty="0" smtClean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坏</a:t>
            </a:r>
            <a:r>
              <a:rPr sz="3200" b="1" dirty="0">
                <a:latin typeface="Times New Roman"/>
                <a:cs typeface="Times New Roman"/>
              </a:rPr>
              <a:t>,	</a:t>
            </a:r>
            <a:r>
              <a:rPr sz="3200" b="1" dirty="0">
                <a:latin typeface="宋体"/>
                <a:cs typeface="宋体"/>
              </a:rPr>
              <a:t>至少</a:t>
            </a:r>
            <a:r>
              <a:rPr sz="3200" b="1" spc="-13" dirty="0">
                <a:latin typeface="宋体"/>
                <a:cs typeface="宋体"/>
              </a:rPr>
              <a:t>有</a:t>
            </a:r>
            <a:r>
              <a:rPr sz="3200" b="1" spc="-887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/2+1</a:t>
            </a:r>
            <a:r>
              <a:rPr sz="3200" b="1" dirty="0">
                <a:latin typeface="宋体"/>
                <a:cs typeface="宋体"/>
              </a:rPr>
              <a:t>个报告“坏”</a:t>
            </a:r>
            <a:endParaRPr sz="3200" dirty="0">
              <a:latin typeface="宋体"/>
              <a:cs typeface="宋体"/>
            </a:endParaRPr>
          </a:p>
          <a:p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结论</a:t>
            </a:r>
            <a:r>
              <a:rPr sz="3200" b="1" spc="-7" dirty="0">
                <a:latin typeface="宋体"/>
                <a:cs typeface="宋体"/>
              </a:rPr>
              <a:t>：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-1</a:t>
            </a:r>
            <a:r>
              <a:rPr sz="3200" b="1" spc="-27" dirty="0">
                <a:latin typeface="Times New Roman"/>
                <a:cs typeface="Times New Roman"/>
              </a:rPr>
              <a:t> </a:t>
            </a:r>
            <a:r>
              <a:rPr sz="3200" b="1" dirty="0" err="1">
                <a:latin typeface="宋体"/>
                <a:cs typeface="宋体"/>
              </a:rPr>
              <a:t>份报告中</a:t>
            </a:r>
            <a:r>
              <a:rPr sz="3200" b="1" dirty="0" smtClean="0">
                <a:latin typeface="宋体"/>
                <a:cs typeface="宋体"/>
              </a:rPr>
              <a:t>，</a:t>
            </a:r>
            <a:endParaRPr lang="en-US" sz="3200" b="1" dirty="0" smtClean="0">
              <a:latin typeface="宋体"/>
              <a:cs typeface="宋体"/>
            </a:endParaRPr>
          </a:p>
          <a:p>
            <a:r>
              <a:rPr sz="3200" b="1" dirty="0" err="1" smtClean="0">
                <a:latin typeface="宋体"/>
                <a:cs typeface="宋体"/>
              </a:rPr>
              <a:t>至少一半报</a:t>
            </a:r>
            <a:r>
              <a:rPr sz="3200" b="1" dirty="0" err="1">
                <a:latin typeface="宋体"/>
                <a:cs typeface="宋体"/>
              </a:rPr>
              <a:t>“好</a:t>
            </a:r>
            <a:r>
              <a:rPr sz="3200" b="1" dirty="0">
                <a:latin typeface="宋体"/>
                <a:cs typeface="宋体"/>
              </a:rPr>
              <a:t>”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67" dirty="0">
                <a:latin typeface="Times New Roman"/>
                <a:cs typeface="Times New Roman"/>
              </a:rPr>
              <a:t> </a:t>
            </a:r>
            <a:r>
              <a:rPr sz="3200" b="1" spc="-13" dirty="0">
                <a:latin typeface="宋体"/>
                <a:cs typeface="宋体"/>
              </a:rPr>
              <a:t>则</a:t>
            </a:r>
            <a:r>
              <a:rPr sz="3200" b="1" spc="-840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A</a:t>
            </a:r>
            <a:r>
              <a:rPr sz="3200" b="1" i="1" spc="-200" dirty="0">
                <a:latin typeface="Times New Roman"/>
                <a:cs typeface="Times New Roman"/>
              </a:rPr>
              <a:t> </a:t>
            </a:r>
            <a:r>
              <a:rPr sz="3200" b="1" dirty="0" err="1">
                <a:latin typeface="宋体"/>
                <a:cs typeface="宋体"/>
              </a:rPr>
              <a:t>为好芯片</a:t>
            </a:r>
            <a:r>
              <a:rPr sz="3200" b="1" dirty="0">
                <a:latin typeface="宋体"/>
                <a:cs typeface="宋体"/>
              </a:rPr>
              <a:t> </a:t>
            </a:r>
            <a:endParaRPr lang="en-US" sz="3200" b="1" dirty="0" smtClean="0">
              <a:latin typeface="宋体"/>
              <a:cs typeface="宋体"/>
            </a:endParaRPr>
          </a:p>
          <a:p>
            <a:r>
              <a:rPr sz="3200" b="1" spc="-7" dirty="0" err="1" smtClean="0">
                <a:latin typeface="宋体"/>
                <a:cs typeface="宋体"/>
              </a:rPr>
              <a:t>超过一半报</a:t>
            </a:r>
            <a:r>
              <a:rPr sz="3200" b="1" spc="-7" dirty="0" err="1">
                <a:latin typeface="宋体"/>
                <a:cs typeface="宋体"/>
              </a:rPr>
              <a:t>“坏</a:t>
            </a:r>
            <a:r>
              <a:rPr sz="3200" b="1" dirty="0">
                <a:latin typeface="宋体"/>
                <a:cs typeface="宋体"/>
              </a:rPr>
              <a:t>”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47" dirty="0">
                <a:latin typeface="Times New Roman"/>
                <a:cs typeface="Times New Roman"/>
              </a:rPr>
              <a:t> </a:t>
            </a:r>
            <a:r>
              <a:rPr sz="3200" b="1" spc="-13" dirty="0">
                <a:latin typeface="宋体"/>
                <a:cs typeface="宋体"/>
              </a:rPr>
              <a:t>则</a:t>
            </a:r>
            <a:r>
              <a:rPr sz="3200" b="1" spc="-827" dirty="0">
                <a:latin typeface="宋体"/>
                <a:cs typeface="宋体"/>
              </a:rPr>
              <a:t> </a:t>
            </a:r>
            <a:r>
              <a:rPr sz="3200" b="1" i="1" spc="-13" dirty="0">
                <a:latin typeface="Times New Roman"/>
                <a:cs typeface="Times New Roman"/>
              </a:rPr>
              <a:t>A</a:t>
            </a:r>
            <a:r>
              <a:rPr sz="3200" b="1" spc="-7" dirty="0">
                <a:latin typeface="宋体"/>
                <a:cs typeface="宋体"/>
              </a:rPr>
              <a:t>为坏芯片</a:t>
            </a:r>
            <a:endParaRPr sz="3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12986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151" y="272686"/>
            <a:ext cx="8884015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蛮力算法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150" y="1279357"/>
            <a:ext cx="8957587" cy="442093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7732" marR="23706" algn="just">
              <a:spcBef>
                <a:spcPts val="133"/>
              </a:spcBef>
            </a:pPr>
            <a:r>
              <a:rPr sz="3200" b="1" spc="-7" dirty="0" err="1">
                <a:solidFill>
                  <a:srgbClr val="C00000"/>
                </a:solidFill>
                <a:latin typeface="宋体"/>
                <a:cs typeface="宋体"/>
              </a:rPr>
              <a:t>测试方</a:t>
            </a:r>
            <a:r>
              <a:rPr sz="3200" b="1" dirty="0" err="1">
                <a:solidFill>
                  <a:srgbClr val="C00000"/>
                </a:solidFill>
                <a:latin typeface="宋体"/>
                <a:cs typeface="宋体"/>
              </a:rPr>
              <a:t>法</a:t>
            </a:r>
            <a:r>
              <a:rPr sz="3200" b="1" spc="-7" dirty="0" err="1">
                <a:latin typeface="宋体"/>
                <a:cs typeface="宋体"/>
              </a:rPr>
              <a:t>：</a:t>
            </a:r>
            <a:r>
              <a:rPr sz="3200" b="1" spc="-7" dirty="0" err="1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任</a:t>
            </a:r>
            <a:r>
              <a:rPr sz="3200" b="1" spc="-13" dirty="0" err="1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取</a:t>
            </a:r>
            <a:r>
              <a:rPr sz="3200" b="1" spc="-853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 </a:t>
            </a:r>
            <a:r>
              <a:rPr sz="32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1</a:t>
            </a:r>
            <a:r>
              <a:rPr lang="en-US" sz="32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 </a:t>
            </a:r>
            <a:r>
              <a:rPr sz="32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片测试</a:t>
            </a:r>
            <a:r>
              <a:rPr sz="3200" b="1" spc="-7" dirty="0" err="1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，</a:t>
            </a:r>
            <a:r>
              <a:rPr sz="32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如果是好</a:t>
            </a:r>
            <a:r>
              <a:rPr sz="3200" b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芯片</a:t>
            </a:r>
            <a:r>
              <a:rPr sz="3200" b="1" dirty="0" err="1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，测试结束；如果是坏芯片，</a:t>
            </a:r>
            <a:r>
              <a:rPr sz="3200" b="1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抛弃</a:t>
            </a:r>
            <a:r>
              <a:rPr sz="32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，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再从剩下芯片中任取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1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片测试，直到得到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1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片好芯片</a:t>
            </a:r>
            <a:r>
              <a:rPr lang="en-US" altLang="zh-CN" sz="3200" b="1" dirty="0">
                <a:latin typeface="宋体"/>
                <a:cs typeface="宋体"/>
              </a:rPr>
              <a:t>.</a:t>
            </a:r>
          </a:p>
          <a:p>
            <a:pPr marL="67732" marR="23706" algn="just">
              <a:spcBef>
                <a:spcPts val="133"/>
              </a:spcBef>
            </a:pPr>
            <a:endParaRPr sz="3267" dirty="0">
              <a:latin typeface="Times New Roman"/>
              <a:cs typeface="Times New Roman"/>
            </a:endParaRPr>
          </a:p>
          <a:p>
            <a:pPr marL="67732">
              <a:lnSpc>
                <a:spcPts val="3760"/>
              </a:lnSpc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时间估计</a:t>
            </a:r>
            <a:r>
              <a:rPr sz="3200" b="1" spc="-13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 marL="67732">
              <a:lnSpc>
                <a:spcPts val="3673"/>
              </a:lnSpc>
            </a:pPr>
            <a:r>
              <a:rPr lang="zh-CN" altLang="en-US" sz="3200" b="1" spc="-7" dirty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第 </a:t>
            </a:r>
            <a:r>
              <a:rPr lang="en-US" altLang="zh-CN" sz="3200" b="1" spc="-7" dirty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1 </a:t>
            </a:r>
            <a:r>
              <a:rPr lang="zh-CN" altLang="en-US" sz="3200" b="1" spc="-7" dirty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片坏芯片，最多测试 </a:t>
            </a:r>
            <a:r>
              <a:rPr lang="en-US" sz="3200" b="1" spc="-7" dirty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n-2 </a:t>
            </a:r>
            <a:r>
              <a:rPr lang="zh-CN" altLang="en-US" sz="3200" b="1" spc="-7" dirty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次</a:t>
            </a:r>
            <a:r>
              <a:rPr lang="zh-CN" altLang="en-US" sz="3200" b="1" spc="-7" dirty="0" smtClean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，</a:t>
            </a:r>
            <a:endParaRPr lang="en-US" altLang="zh-CN" sz="3200" b="1" spc="-7" dirty="0" smtClean="0">
              <a:latin typeface="宋体" panose="02010600030101010101" pitchFamily="2" charset="-122"/>
              <a:ea typeface="宋体" panose="02010600030101010101" pitchFamily="2" charset="-122"/>
              <a:cs typeface="Symbol"/>
            </a:endParaRPr>
          </a:p>
          <a:p>
            <a:pPr marL="67732">
              <a:lnSpc>
                <a:spcPts val="3673"/>
              </a:lnSpc>
            </a:pPr>
            <a:r>
              <a:rPr lang="zh-CN" altLang="en-US" sz="3200" b="1" spc="-7" dirty="0" smtClean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第 </a:t>
            </a:r>
            <a:r>
              <a:rPr lang="en-US" altLang="zh-CN" sz="3200" b="1" spc="-7" dirty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2 </a:t>
            </a:r>
            <a:r>
              <a:rPr lang="zh-CN" altLang="en-US" sz="3200" b="1" spc="-7" dirty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片坏芯片，最多测试 </a:t>
            </a:r>
            <a:r>
              <a:rPr lang="en-US" sz="3200" b="1" spc="-7" dirty="0" smtClean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n-3 </a:t>
            </a:r>
            <a:r>
              <a:rPr lang="zh-CN" altLang="en-US" sz="3200" b="1" spc="-7" dirty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次</a:t>
            </a:r>
            <a:r>
              <a:rPr lang="zh-CN" altLang="en-US" sz="3200" b="1" spc="-7" dirty="0" smtClean="0">
                <a:latin typeface="宋体" panose="02010600030101010101" pitchFamily="2" charset="-122"/>
                <a:ea typeface="宋体" panose="02010600030101010101" pitchFamily="2" charset="-122"/>
                <a:cs typeface="Symbol"/>
              </a:rPr>
              <a:t>，</a:t>
            </a:r>
            <a:endParaRPr lang="en-US" sz="3200" b="1" spc="-7" dirty="0" smtClean="0">
              <a:latin typeface="Symbol"/>
              <a:cs typeface="Symbol"/>
            </a:endParaRPr>
          </a:p>
          <a:p>
            <a:pPr marL="67732">
              <a:lnSpc>
                <a:spcPts val="3673"/>
              </a:lnSpc>
            </a:pPr>
            <a:r>
              <a:rPr sz="3200" b="1" spc="-7" dirty="0" smtClean="0">
                <a:latin typeface="Symbol"/>
                <a:cs typeface="Symbol"/>
              </a:rPr>
              <a:t></a:t>
            </a:r>
            <a:endParaRPr sz="3200" dirty="0">
              <a:latin typeface="Symbol"/>
              <a:cs typeface="Symbol"/>
            </a:endParaRPr>
          </a:p>
          <a:p>
            <a:pPr marL="67732">
              <a:lnSpc>
                <a:spcPts val="3907"/>
              </a:lnSpc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总</a:t>
            </a:r>
            <a:r>
              <a:rPr sz="3200" b="1" spc="-13" dirty="0">
                <a:solidFill>
                  <a:srgbClr val="C00000"/>
                </a:solidFill>
                <a:latin typeface="宋体"/>
                <a:cs typeface="宋体"/>
              </a:rPr>
              <a:t>计</a:t>
            </a:r>
            <a:r>
              <a:rPr sz="3200" b="1" spc="-7" dirty="0">
                <a:latin typeface="宋体"/>
                <a:cs typeface="宋体"/>
              </a:rPr>
              <a:t> </a:t>
            </a:r>
            <a:r>
              <a:rPr sz="3333" b="1" i="1" spc="-27" dirty="0">
                <a:latin typeface="Symbol"/>
                <a:cs typeface="Symbol"/>
              </a:rPr>
              <a:t></a:t>
            </a:r>
            <a:r>
              <a:rPr sz="3200" b="1" spc="-27" dirty="0">
                <a:latin typeface="宋体"/>
                <a:cs typeface="宋体"/>
              </a:rPr>
              <a:t>(</a:t>
            </a:r>
            <a:r>
              <a:rPr sz="3200" b="1" i="1" spc="-27" dirty="0">
                <a:latin typeface="Times New Roman"/>
                <a:cs typeface="Times New Roman"/>
              </a:rPr>
              <a:t>n</a:t>
            </a:r>
            <a:r>
              <a:rPr sz="3200" b="1" spc="-40" baseline="24305" dirty="0">
                <a:latin typeface="Times New Roman"/>
                <a:cs typeface="Times New Roman"/>
              </a:rPr>
              <a:t>2</a:t>
            </a:r>
            <a:r>
              <a:rPr sz="3200" b="1" spc="-27" dirty="0">
                <a:latin typeface="宋体"/>
                <a:cs typeface="宋体"/>
              </a:rPr>
              <a:t>)</a:t>
            </a:r>
            <a:endParaRPr sz="3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61718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14701" y="2984057"/>
            <a:ext cx="2272452" cy="878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693291" algn="l"/>
              </a:tabLst>
            </a:pPr>
            <a:r>
              <a:rPr sz="2800" b="1" spc="-7" dirty="0">
                <a:latin typeface="Times New Roman"/>
                <a:cs typeface="Times New Roman"/>
              </a:rPr>
              <a:t>"</a:t>
            </a:r>
            <a:r>
              <a:rPr sz="2800" b="1" dirty="0">
                <a:latin typeface="宋体"/>
                <a:cs typeface="宋体"/>
              </a:rPr>
              <a:t>好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好</a:t>
            </a:r>
            <a:r>
              <a:rPr sz="2800" b="1" spc="-7" dirty="0" smtClean="0">
                <a:latin typeface="Times New Roman"/>
                <a:cs typeface="Times New Roman"/>
              </a:rPr>
              <a:t>"</a:t>
            </a:r>
            <a:r>
              <a:rPr lang="en-US" sz="2800" b="1" spc="-7" dirty="0" smtClean="0">
                <a:latin typeface="Times New Roman"/>
                <a:cs typeface="Times New Roman"/>
              </a:rPr>
              <a:t>    </a:t>
            </a:r>
            <a:r>
              <a:rPr sz="2800" b="1" spc="-7" dirty="0" smtClean="0">
                <a:latin typeface="Symbol"/>
                <a:cs typeface="Symbol"/>
              </a:rPr>
              <a:t></a:t>
            </a:r>
            <a:endParaRPr sz="2800" dirty="0">
              <a:latin typeface="Symbol"/>
              <a:cs typeface="Symbol"/>
            </a:endParaRPr>
          </a:p>
          <a:p>
            <a:pPr marL="16933"/>
            <a:r>
              <a:rPr sz="2800" b="1" dirty="0">
                <a:latin typeface="宋体"/>
                <a:cs typeface="宋体"/>
              </a:rPr>
              <a:t>其他情</a:t>
            </a:r>
            <a:r>
              <a:rPr sz="2800" b="1" spc="-13" dirty="0">
                <a:latin typeface="宋体"/>
                <a:cs typeface="宋体"/>
              </a:rPr>
              <a:t>况</a:t>
            </a:r>
            <a:r>
              <a:rPr sz="2800" b="1" spc="-120" dirty="0">
                <a:latin typeface="宋体"/>
                <a:cs typeface="宋体"/>
              </a:rPr>
              <a:t> </a:t>
            </a:r>
            <a:r>
              <a:rPr sz="2800" b="1" spc="-7" dirty="0">
                <a:latin typeface="Symbol"/>
                <a:cs typeface="Symbol"/>
              </a:rPr>
              <a:t></a:t>
            </a:r>
            <a:endParaRPr sz="2800" dirty="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0174" y="2984056"/>
            <a:ext cx="3965279" cy="891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 indent="-59265">
              <a:spcBef>
                <a:spcPts val="133"/>
              </a:spcBef>
            </a:pPr>
            <a:r>
              <a:rPr sz="2800" b="1" dirty="0">
                <a:latin typeface="宋体"/>
                <a:cs typeface="宋体"/>
              </a:rPr>
              <a:t>任</a:t>
            </a:r>
            <a:r>
              <a:rPr sz="2800" b="1" spc="-13" dirty="0">
                <a:latin typeface="宋体"/>
                <a:cs typeface="宋体"/>
              </a:rPr>
              <a:t>留</a:t>
            </a:r>
            <a:r>
              <a:rPr sz="2800" b="1" spc="-920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宋体"/>
                <a:cs typeface="宋体"/>
              </a:rPr>
              <a:t>片，</a:t>
            </a:r>
            <a:r>
              <a:rPr sz="2800" b="1" dirty="0" smtClean="0">
                <a:latin typeface="宋体"/>
                <a:cs typeface="宋体"/>
              </a:rPr>
              <a:t>进入下轮</a:t>
            </a:r>
            <a:endParaRPr lang="en-US" sz="2800" b="1" dirty="0" smtClean="0">
              <a:latin typeface="宋体"/>
              <a:cs typeface="宋体"/>
            </a:endParaRPr>
          </a:p>
          <a:p>
            <a:pPr marR="6773" indent="-59265">
              <a:spcBef>
                <a:spcPts val="133"/>
              </a:spcBef>
            </a:pPr>
            <a:r>
              <a:rPr sz="2800" b="1" dirty="0" err="1" smtClean="0">
                <a:latin typeface="宋体"/>
                <a:cs typeface="宋体"/>
              </a:rPr>
              <a:t>全部抛弃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7059" y="250232"/>
            <a:ext cx="8846128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分治算法设计思想</a:t>
            </a:r>
          </a:p>
        </p:txBody>
      </p:sp>
      <p:sp>
        <p:nvSpPr>
          <p:cNvPr id="7" name="object 7"/>
          <p:cNvSpPr/>
          <p:nvPr/>
        </p:nvSpPr>
        <p:spPr>
          <a:xfrm>
            <a:off x="508078" y="906594"/>
            <a:ext cx="7116064" cy="1603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-815245" y="942910"/>
            <a:ext cx="7116064" cy="1605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45017" y="1278774"/>
            <a:ext cx="8888169" cy="152776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spcBef>
                <a:spcPts val="133"/>
              </a:spcBef>
            </a:pPr>
            <a:r>
              <a:rPr sz="2800" b="1" dirty="0">
                <a:latin typeface="宋体"/>
                <a:cs typeface="宋体"/>
              </a:rPr>
              <a:t>假</a:t>
            </a:r>
            <a:r>
              <a:rPr sz="2800" b="1" spc="-13" dirty="0">
                <a:latin typeface="宋体"/>
                <a:cs typeface="宋体"/>
              </a:rPr>
              <a:t>设</a:t>
            </a:r>
            <a:r>
              <a:rPr sz="2800" b="1" spc="-867" dirty="0">
                <a:latin typeface="宋体"/>
                <a:cs typeface="宋体"/>
              </a:rPr>
              <a:t> </a:t>
            </a:r>
            <a:r>
              <a:rPr sz="2800" b="1" i="1" spc="-13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宋体"/>
                <a:cs typeface="宋体"/>
              </a:rPr>
              <a:t>为偶数，</a:t>
            </a:r>
            <a:r>
              <a:rPr sz="2800" b="1" spc="-13" dirty="0">
                <a:latin typeface="宋体"/>
                <a:cs typeface="宋体"/>
              </a:rPr>
              <a:t>将</a:t>
            </a:r>
            <a:r>
              <a:rPr sz="2800" b="1" spc="-833" dirty="0">
                <a:latin typeface="宋体"/>
                <a:cs typeface="宋体"/>
              </a:rPr>
              <a:t> </a:t>
            </a:r>
            <a:r>
              <a:rPr sz="2800" b="1" i="1" spc="-13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宋体"/>
                <a:cs typeface="宋体"/>
              </a:rPr>
              <a:t>片芯片两两一组做 测试淘汰，剩下芯片构成子问题，进 </a:t>
            </a:r>
            <a:r>
              <a:rPr sz="2800" b="1" spc="-7" dirty="0">
                <a:latin typeface="宋体"/>
                <a:cs typeface="宋体"/>
              </a:rPr>
              <a:t>入下一轮分组淘</a:t>
            </a:r>
            <a:r>
              <a:rPr sz="2800" b="1" dirty="0">
                <a:latin typeface="宋体"/>
                <a:cs typeface="宋体"/>
              </a:rPr>
              <a:t>汰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16933" algn="just">
              <a:spcBef>
                <a:spcPts val="1673"/>
              </a:spcBef>
            </a:pPr>
            <a:r>
              <a:rPr sz="2800" b="1" spc="-7" dirty="0">
                <a:solidFill>
                  <a:srgbClr val="C00000"/>
                </a:solidFill>
                <a:latin typeface="宋体"/>
                <a:cs typeface="宋体"/>
              </a:rPr>
              <a:t>淘汰规</a:t>
            </a:r>
            <a:r>
              <a:rPr sz="2800" b="1" dirty="0">
                <a:solidFill>
                  <a:srgbClr val="C00000"/>
                </a:solidFill>
                <a:latin typeface="宋体"/>
                <a:cs typeface="宋体"/>
              </a:rPr>
              <a:t>则</a:t>
            </a:r>
            <a:r>
              <a:rPr sz="2800" b="1" spc="-13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7058" y="4057967"/>
            <a:ext cx="6506464" cy="1808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519570" y="4090479"/>
            <a:ext cx="6506464" cy="1810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445018" y="4020714"/>
            <a:ext cx="8888168" cy="1617536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16933">
              <a:spcBef>
                <a:spcPts val="933"/>
              </a:spcBef>
            </a:pPr>
            <a:r>
              <a:rPr sz="2800" b="1" dirty="0">
                <a:solidFill>
                  <a:srgbClr val="C00000"/>
                </a:solidFill>
                <a:latin typeface="宋体"/>
                <a:cs typeface="宋体"/>
              </a:rPr>
              <a:t>递归截止条件：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i="1" spc="-1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7" dirty="0">
                <a:solidFill>
                  <a:srgbClr val="C00000"/>
                </a:solidFill>
                <a:latin typeface="Symbol"/>
                <a:cs typeface="Symbol"/>
              </a:rPr>
              <a:t>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800"/>
              </a:spcBef>
            </a:pP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片芯片，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5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次测试可得到好芯</a:t>
            </a:r>
            <a:r>
              <a:rPr sz="2800" b="1" spc="7" dirty="0">
                <a:latin typeface="宋体"/>
                <a:cs typeface="宋体"/>
              </a:rPr>
              <a:t>片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16933">
              <a:spcBef>
                <a:spcPts val="800"/>
              </a:spcBef>
            </a:pP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33" dirty="0">
                <a:latin typeface="Times New Roman"/>
                <a:cs typeface="Times New Roman"/>
              </a:rPr>
              <a:t> </a:t>
            </a:r>
            <a:r>
              <a:rPr sz="2800" b="1" spc="-13" dirty="0">
                <a:latin typeface="宋体"/>
                <a:cs typeface="宋体"/>
              </a:rPr>
              <a:t>或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宋体"/>
                <a:cs typeface="宋体"/>
              </a:rPr>
              <a:t>片芯片，不再需要测</a:t>
            </a:r>
            <a:r>
              <a:rPr sz="2800" b="1" dirty="0">
                <a:latin typeface="宋体"/>
                <a:cs typeface="宋体"/>
              </a:rPr>
              <a:t>试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938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322" y="243903"/>
            <a:ext cx="8926885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分治算法的正确性</a:t>
            </a:r>
            <a:endParaRPr b="1" spc="-13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21" y="1395684"/>
            <a:ext cx="8926885" cy="1038746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21917" marR="121070" algn="just">
              <a:spcBef>
                <a:spcPts val="420"/>
              </a:spcBef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命题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3200" b="1" spc="7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spc="-13" dirty="0">
                <a:latin typeface="宋体"/>
                <a:cs typeface="宋体"/>
              </a:rPr>
              <a:t>当</a:t>
            </a:r>
            <a:r>
              <a:rPr sz="3200" b="1" spc="-827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是偶数时，在上述淘汰规 则下，经过一轮淘</a:t>
            </a:r>
            <a:r>
              <a:rPr sz="3200" b="1" spc="7" dirty="0">
                <a:latin typeface="宋体"/>
                <a:cs typeface="宋体"/>
              </a:rPr>
              <a:t>汰</a:t>
            </a:r>
            <a:r>
              <a:rPr sz="3200" b="1" dirty="0">
                <a:latin typeface="宋体"/>
                <a:cs typeface="宋体"/>
              </a:rPr>
              <a:t>，剩下的好芯片 </a:t>
            </a:r>
            <a:r>
              <a:rPr sz="3200" b="1" spc="-7" dirty="0">
                <a:latin typeface="宋体"/>
                <a:cs typeface="宋体"/>
              </a:rPr>
              <a:t>比坏芯片至少</a:t>
            </a:r>
            <a:r>
              <a:rPr sz="3200" b="1" dirty="0">
                <a:latin typeface="宋体"/>
                <a:cs typeface="宋体"/>
              </a:rPr>
              <a:t>多</a:t>
            </a:r>
            <a:r>
              <a:rPr sz="3200" b="1" dirty="0">
                <a:latin typeface="Times New Roman"/>
                <a:cs typeface="Times New Roman"/>
              </a:rPr>
              <a:t>1</a:t>
            </a:r>
            <a:r>
              <a:rPr sz="3200" b="1" spc="-7" dirty="0">
                <a:latin typeface="宋体"/>
                <a:cs typeface="宋体"/>
              </a:rPr>
              <a:t>片</a:t>
            </a:r>
            <a:r>
              <a:rPr sz="3200" b="1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302354" y="-188913"/>
            <a:ext cx="249936" cy="264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427321" y="2896095"/>
            <a:ext cx="8926885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spcBef>
                <a:spcPts val="133"/>
              </a:spcBef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证</a:t>
            </a:r>
            <a:r>
              <a:rPr sz="3200" b="1" spc="-60" dirty="0">
                <a:latin typeface="宋体"/>
                <a:cs typeface="宋体"/>
              </a:rPr>
              <a:t> </a:t>
            </a:r>
            <a:r>
              <a:rPr lang="en-US" sz="3200" b="1" spc="-60" dirty="0" smtClean="0">
                <a:latin typeface="宋体"/>
                <a:cs typeface="宋体"/>
              </a:rPr>
              <a:t> </a:t>
            </a:r>
            <a:r>
              <a:rPr sz="3200" b="1" dirty="0" err="1" smtClean="0">
                <a:latin typeface="宋体"/>
                <a:cs typeface="宋体"/>
              </a:rPr>
              <a:t>设</a:t>
            </a:r>
            <a:r>
              <a:rPr sz="3200" b="1" i="1" dirty="0" err="1">
                <a:latin typeface="Times New Roman"/>
                <a:cs typeface="Times New Roman"/>
              </a:rPr>
              <a:t>A</a:t>
            </a:r>
            <a:r>
              <a:rPr sz="3200" b="1" i="1" dirty="0">
                <a:latin typeface="Times New Roman"/>
                <a:cs typeface="Times New Roman"/>
              </a:rPr>
              <a:t>,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i="1" spc="-13" dirty="0">
                <a:latin typeface="Times New Roman"/>
                <a:cs typeface="Times New Roman"/>
              </a:rPr>
              <a:t>B</a:t>
            </a:r>
            <a:r>
              <a:rPr sz="3200" b="1" dirty="0">
                <a:latin typeface="宋体"/>
                <a:cs typeface="宋体"/>
              </a:rPr>
              <a:t>都好的芯</a:t>
            </a:r>
            <a:r>
              <a:rPr sz="3200" b="1" spc="-13" dirty="0">
                <a:latin typeface="宋体"/>
                <a:cs typeface="宋体"/>
              </a:rPr>
              <a:t>片</a:t>
            </a:r>
            <a:r>
              <a:rPr sz="3200" b="1" spc="-800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i</a:t>
            </a:r>
            <a:r>
              <a:rPr sz="3200" b="1" i="1" spc="-3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组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A</a:t>
            </a:r>
            <a:r>
              <a:rPr sz="3200" b="1" dirty="0">
                <a:latin typeface="宋体"/>
                <a:cs typeface="宋体"/>
              </a:rPr>
              <a:t>与</a:t>
            </a:r>
            <a:r>
              <a:rPr sz="3200" b="1" i="1" spc="-7" dirty="0">
                <a:latin typeface="Times New Roman"/>
                <a:cs typeface="Times New Roman"/>
              </a:rPr>
              <a:t>B</a:t>
            </a:r>
            <a:r>
              <a:rPr sz="3200" b="1" dirty="0">
                <a:latin typeface="宋体"/>
                <a:cs typeface="宋体"/>
              </a:rPr>
              <a:t>一好 一</a:t>
            </a:r>
            <a:r>
              <a:rPr sz="3200" b="1" spc="-13" dirty="0">
                <a:latin typeface="宋体"/>
                <a:cs typeface="宋体"/>
              </a:rPr>
              <a:t>坏</a:t>
            </a:r>
            <a:r>
              <a:rPr sz="3200" b="1" spc="-833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j</a:t>
            </a:r>
            <a:r>
              <a:rPr sz="3200" b="1" i="1" spc="-3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组</a:t>
            </a:r>
            <a:r>
              <a:rPr sz="3200" b="1" spc="-7" dirty="0">
                <a:latin typeface="宋体"/>
                <a:cs typeface="宋体"/>
              </a:rPr>
              <a:t>，</a:t>
            </a:r>
            <a:r>
              <a:rPr sz="3200" b="1" i="1" spc="-7" dirty="0">
                <a:latin typeface="Times New Roman"/>
                <a:cs typeface="Times New Roman"/>
              </a:rPr>
              <a:t>A</a:t>
            </a:r>
            <a:r>
              <a:rPr sz="3200" b="1" dirty="0">
                <a:latin typeface="宋体"/>
                <a:cs typeface="宋体"/>
              </a:rPr>
              <a:t>与</a:t>
            </a:r>
            <a:r>
              <a:rPr sz="3200" b="1" i="1" dirty="0">
                <a:latin typeface="Times New Roman"/>
                <a:cs typeface="Times New Roman"/>
              </a:rPr>
              <a:t>B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都坏</a:t>
            </a:r>
            <a:r>
              <a:rPr sz="3200" b="1" spc="-13" dirty="0">
                <a:latin typeface="宋体"/>
                <a:cs typeface="宋体"/>
              </a:rPr>
              <a:t>的</a:t>
            </a:r>
            <a:r>
              <a:rPr sz="3200" b="1" spc="-813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k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组</a:t>
            </a:r>
            <a:r>
              <a:rPr sz="3200" b="1" dirty="0">
                <a:latin typeface="Times New Roman"/>
                <a:cs typeface="Times New Roman"/>
              </a:rPr>
              <a:t>.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淘汰后 好芯片至</a:t>
            </a:r>
            <a:r>
              <a:rPr sz="3200" b="1" spc="-13" dirty="0">
                <a:latin typeface="宋体"/>
                <a:cs typeface="宋体"/>
              </a:rPr>
              <a:t>少</a:t>
            </a:r>
            <a:r>
              <a:rPr sz="3200" b="1" spc="-833" dirty="0">
                <a:latin typeface="宋体"/>
                <a:cs typeface="宋体"/>
              </a:rPr>
              <a:t> </a:t>
            </a:r>
            <a:r>
              <a:rPr sz="3200" b="1" i="1" spc="7" dirty="0">
                <a:latin typeface="Times New Roman"/>
                <a:cs typeface="Times New Roman"/>
              </a:rPr>
              <a:t>i</a:t>
            </a:r>
            <a:r>
              <a:rPr sz="3200" b="1" dirty="0">
                <a:latin typeface="宋体"/>
                <a:cs typeface="宋体"/>
              </a:rPr>
              <a:t>片，坏芯片至</a:t>
            </a:r>
            <a:r>
              <a:rPr sz="3200" b="1" spc="-13" dirty="0">
                <a:latin typeface="宋体"/>
                <a:cs typeface="宋体"/>
              </a:rPr>
              <a:t>多</a:t>
            </a:r>
            <a:r>
              <a:rPr sz="3200" b="1" spc="-807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k</a:t>
            </a:r>
            <a:r>
              <a:rPr sz="3200" b="1" spc="-13" dirty="0">
                <a:latin typeface="宋体"/>
                <a:cs typeface="宋体"/>
              </a:rPr>
              <a:t>片</a:t>
            </a:r>
            <a:r>
              <a:rPr sz="3200" b="1" spc="-820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0264" y="4430747"/>
            <a:ext cx="2599267" cy="1823576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6933">
              <a:spcBef>
                <a:spcPts val="800"/>
              </a:spcBef>
            </a:pPr>
            <a:r>
              <a:rPr sz="3200" b="1" dirty="0">
                <a:latin typeface="Times New Roman"/>
                <a:cs typeface="Times New Roman"/>
              </a:rPr>
              <a:t>2</a:t>
            </a:r>
            <a:r>
              <a:rPr sz="3200" b="1" i="1" dirty="0">
                <a:latin typeface="Times New Roman"/>
                <a:cs typeface="Times New Roman"/>
              </a:rPr>
              <a:t>i </a:t>
            </a:r>
            <a:r>
              <a:rPr sz="3200" b="1" dirty="0">
                <a:latin typeface="Times New Roman"/>
                <a:cs typeface="Times New Roman"/>
              </a:rPr>
              <a:t>+ 2</a:t>
            </a:r>
            <a:r>
              <a:rPr sz="3200" b="1" i="1" dirty="0">
                <a:latin typeface="Times New Roman"/>
                <a:cs typeface="Times New Roman"/>
              </a:rPr>
              <a:t>j </a:t>
            </a:r>
            <a:r>
              <a:rPr sz="3200" b="1" dirty="0">
                <a:latin typeface="Times New Roman"/>
                <a:cs typeface="Times New Roman"/>
              </a:rPr>
              <a:t>+ 2</a:t>
            </a:r>
            <a:r>
              <a:rPr sz="3200" b="1" i="1" dirty="0">
                <a:latin typeface="Times New Roman"/>
                <a:cs typeface="Times New Roman"/>
              </a:rPr>
              <a:t>k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173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  <a:p>
            <a:pPr marL="118530">
              <a:spcBef>
                <a:spcPts val="679"/>
              </a:spcBef>
            </a:pPr>
            <a:r>
              <a:rPr sz="3200" b="1" spc="-7" dirty="0">
                <a:latin typeface="Times New Roman"/>
                <a:cs typeface="Times New Roman"/>
              </a:rPr>
              <a:t>2</a:t>
            </a:r>
            <a:r>
              <a:rPr sz="3200" b="1" i="1" spc="-7" dirty="0">
                <a:latin typeface="Times New Roman"/>
                <a:cs typeface="Times New Roman"/>
              </a:rPr>
              <a:t>i </a:t>
            </a:r>
            <a:r>
              <a:rPr sz="3200" b="1" dirty="0">
                <a:latin typeface="Times New Roman"/>
                <a:cs typeface="Times New Roman"/>
              </a:rPr>
              <a:t>+ </a:t>
            </a:r>
            <a:r>
              <a:rPr sz="3200" b="1" i="1" dirty="0">
                <a:latin typeface="Times New Roman"/>
                <a:cs typeface="Times New Roman"/>
              </a:rPr>
              <a:t>j </a:t>
            </a:r>
            <a:r>
              <a:rPr sz="3200" b="1" dirty="0">
                <a:latin typeface="Times New Roman"/>
                <a:cs typeface="Times New Roman"/>
              </a:rPr>
              <a:t>&gt; </a:t>
            </a:r>
            <a:r>
              <a:rPr sz="3200" b="1" spc="-7" dirty="0">
                <a:latin typeface="Times New Roman"/>
                <a:cs typeface="Times New Roman"/>
              </a:rPr>
              <a:t>2</a:t>
            </a:r>
            <a:r>
              <a:rPr sz="3200" b="1" i="1" spc="-7" dirty="0">
                <a:latin typeface="Times New Roman"/>
                <a:cs typeface="Times New Roman"/>
              </a:rPr>
              <a:t>k </a:t>
            </a:r>
            <a:r>
              <a:rPr sz="3200" b="1" dirty="0">
                <a:latin typeface="Times New Roman"/>
                <a:cs typeface="Times New Roman"/>
              </a:rPr>
              <a:t>+</a:t>
            </a:r>
            <a:r>
              <a:rPr sz="3200" b="1" spc="-133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j</a:t>
            </a:r>
            <a:endParaRPr sz="3200">
              <a:latin typeface="Times New Roman"/>
              <a:cs typeface="Times New Roman"/>
            </a:endParaRPr>
          </a:p>
          <a:p>
            <a:pPr marL="1034601">
              <a:spcBef>
                <a:spcPts val="1247"/>
              </a:spcBef>
            </a:pPr>
            <a:r>
              <a:rPr sz="3200" b="1" i="1" dirty="0">
                <a:latin typeface="Times New Roman"/>
                <a:cs typeface="Times New Roman"/>
              </a:rPr>
              <a:t>i </a:t>
            </a:r>
            <a:r>
              <a:rPr sz="3200" b="1" dirty="0">
                <a:latin typeface="Times New Roman"/>
                <a:cs typeface="Times New Roman"/>
              </a:rPr>
              <a:t>&gt;</a:t>
            </a:r>
            <a:r>
              <a:rPr sz="3200" b="1" spc="-53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60103" y="5907181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342900" y="0"/>
                </a:moveTo>
                <a:lnTo>
                  <a:pt x="342900" y="57150"/>
                </a:lnTo>
                <a:lnTo>
                  <a:pt x="0" y="57150"/>
                </a:lnTo>
                <a:lnTo>
                  <a:pt x="0" y="171450"/>
                </a:lnTo>
                <a:lnTo>
                  <a:pt x="342900" y="171450"/>
                </a:lnTo>
                <a:lnTo>
                  <a:pt x="342900" y="228600"/>
                </a:lnTo>
                <a:lnTo>
                  <a:pt x="457200" y="114300"/>
                </a:lnTo>
                <a:lnTo>
                  <a:pt x="3429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260103" y="5907181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0" y="57150"/>
                </a:moveTo>
                <a:lnTo>
                  <a:pt x="342900" y="57150"/>
                </a:lnTo>
                <a:lnTo>
                  <a:pt x="342900" y="0"/>
                </a:lnTo>
                <a:lnTo>
                  <a:pt x="457200" y="114300"/>
                </a:lnTo>
                <a:lnTo>
                  <a:pt x="342900" y="228600"/>
                </a:lnTo>
                <a:lnTo>
                  <a:pt x="34290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752103" y="4586381"/>
            <a:ext cx="6502400" cy="1117600"/>
          </a:xfrm>
          <a:custGeom>
            <a:avLst/>
            <a:gdLst/>
            <a:ahLst/>
            <a:cxnLst/>
            <a:rect l="l" t="t" r="r" b="b"/>
            <a:pathLst>
              <a:path w="4876800" h="838200">
                <a:moveTo>
                  <a:pt x="0" y="139700"/>
                </a:moveTo>
                <a:lnTo>
                  <a:pt x="7122" y="95520"/>
                </a:lnTo>
                <a:lnTo>
                  <a:pt x="26954" y="57168"/>
                </a:lnTo>
                <a:lnTo>
                  <a:pt x="57195" y="26936"/>
                </a:lnTo>
                <a:lnTo>
                  <a:pt x="95544" y="7116"/>
                </a:lnTo>
                <a:lnTo>
                  <a:pt x="139700" y="0"/>
                </a:lnTo>
                <a:lnTo>
                  <a:pt x="4737100" y="0"/>
                </a:lnTo>
                <a:lnTo>
                  <a:pt x="4781230" y="7116"/>
                </a:lnTo>
                <a:lnTo>
                  <a:pt x="4819576" y="26936"/>
                </a:lnTo>
                <a:lnTo>
                  <a:pt x="4849827" y="57168"/>
                </a:lnTo>
                <a:lnTo>
                  <a:pt x="4869671" y="95520"/>
                </a:lnTo>
                <a:lnTo>
                  <a:pt x="4876800" y="139700"/>
                </a:lnTo>
                <a:lnTo>
                  <a:pt x="4876800" y="698500"/>
                </a:lnTo>
                <a:lnTo>
                  <a:pt x="4869671" y="742655"/>
                </a:lnTo>
                <a:lnTo>
                  <a:pt x="4849827" y="781004"/>
                </a:lnTo>
                <a:lnTo>
                  <a:pt x="4819576" y="811245"/>
                </a:lnTo>
                <a:lnTo>
                  <a:pt x="4781230" y="831077"/>
                </a:lnTo>
                <a:lnTo>
                  <a:pt x="4737100" y="838200"/>
                </a:lnTo>
                <a:lnTo>
                  <a:pt x="139700" y="838200"/>
                </a:lnTo>
                <a:lnTo>
                  <a:pt x="95544" y="831077"/>
                </a:lnTo>
                <a:lnTo>
                  <a:pt x="57195" y="811245"/>
                </a:lnTo>
                <a:lnTo>
                  <a:pt x="26954" y="781004"/>
                </a:lnTo>
                <a:lnTo>
                  <a:pt x="7122" y="742655"/>
                </a:lnTo>
                <a:lnTo>
                  <a:pt x="0" y="698500"/>
                </a:lnTo>
                <a:lnTo>
                  <a:pt x="0" y="1397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3649558" y="4513442"/>
            <a:ext cx="4048193" cy="1084057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735735">
              <a:spcBef>
                <a:spcPts val="933"/>
              </a:spcBef>
            </a:pPr>
            <a:r>
              <a:rPr sz="2800" b="1" dirty="0">
                <a:solidFill>
                  <a:srgbClr val="006FC0"/>
                </a:solidFill>
                <a:latin typeface="宋体"/>
                <a:cs typeface="宋体"/>
              </a:rPr>
              <a:t>初始芯片总数</a:t>
            </a:r>
            <a:endParaRPr sz="2800" dirty="0">
              <a:latin typeface="宋体"/>
              <a:cs typeface="宋体"/>
            </a:endParaRPr>
          </a:p>
          <a:p>
            <a:pPr marL="16933">
              <a:spcBef>
                <a:spcPts val="800"/>
              </a:spcBef>
            </a:pPr>
            <a:r>
              <a:rPr sz="2800" b="1" dirty="0">
                <a:solidFill>
                  <a:srgbClr val="006FC0"/>
                </a:solidFill>
                <a:latin typeface="宋体"/>
                <a:cs typeface="宋体"/>
              </a:rPr>
              <a:t>初</a:t>
            </a:r>
            <a:r>
              <a:rPr sz="2800" b="1" spc="560" dirty="0">
                <a:solidFill>
                  <a:srgbClr val="006FC0"/>
                </a:solidFill>
                <a:latin typeface="宋体"/>
                <a:cs typeface="宋体"/>
              </a:rPr>
              <a:t>始</a:t>
            </a:r>
            <a:r>
              <a:rPr sz="2800" b="1" dirty="0">
                <a:solidFill>
                  <a:srgbClr val="006FC0"/>
                </a:solidFill>
                <a:latin typeface="宋体"/>
                <a:cs typeface="宋体"/>
              </a:rPr>
              <a:t>好芯片多于坏芯片</a:t>
            </a:r>
            <a:endParaRPr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61348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322" y="252331"/>
            <a:ext cx="8937395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i="1" spc="-13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4000" b="1" spc="-20" dirty="0">
                <a:solidFill>
                  <a:srgbClr val="C00000"/>
                </a:solidFill>
              </a:rPr>
              <a:t>为奇数时的特殊处理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196" y="1039435"/>
            <a:ext cx="5370405" cy="44884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800" b="1" spc="-7" dirty="0">
                <a:latin typeface="宋体"/>
                <a:cs typeface="宋体"/>
              </a:rPr>
              <a:t>当</a:t>
            </a:r>
            <a:r>
              <a:rPr sz="2800" b="1" spc="-94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4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是奇数时，可能出问题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842" y="-188913"/>
            <a:ext cx="247904" cy="229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302354" y="-188913"/>
            <a:ext cx="249936" cy="264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427323" y="3730749"/>
            <a:ext cx="8937394" cy="19415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33" algn="just">
              <a:spcBef>
                <a:spcPts val="1633"/>
              </a:spcBef>
            </a:pPr>
            <a:r>
              <a:rPr lang="zh-CN" altLang="en-US" sz="2800" b="1" spc="-7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处理办法</a:t>
            </a:r>
            <a:r>
              <a:rPr lang="zh-CN" altLang="en-US"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：当 </a:t>
            </a:r>
            <a:r>
              <a:rPr lang="en-US" altLang="zh-CN"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n </a:t>
            </a:r>
            <a:r>
              <a:rPr lang="zh-CN" altLang="en-US"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为奇数时，</a:t>
            </a:r>
            <a:r>
              <a:rPr lang="zh-CN" altLang="en-US" sz="2800" b="1" spc="-7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增加一</a:t>
            </a:r>
            <a:r>
              <a:rPr lang="zh-CN" altLang="en-US"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轮对轮空芯片的单独测试</a:t>
            </a:r>
            <a:r>
              <a:rPr lang="en-US" altLang="zh-CN" sz="2800" b="1" spc="-7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.</a:t>
            </a:r>
            <a:endParaRPr lang="en-US" sz="2800" b="1" spc="-7" dirty="0" smtClean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16933">
              <a:spcBef>
                <a:spcPts val="1633"/>
              </a:spcBef>
            </a:pPr>
            <a:r>
              <a:rPr sz="2800" b="1" spc="-7" dirty="0" err="1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如果该芯片为好芯片</a:t>
            </a:r>
            <a:r>
              <a:rPr sz="2800" b="1" spc="-7" dirty="0" err="1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，算法结束</a:t>
            </a:r>
            <a:r>
              <a:rPr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；</a:t>
            </a:r>
            <a:endParaRPr sz="2800" b="1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16933">
              <a:spcBef>
                <a:spcPts val="20"/>
              </a:spcBef>
            </a:pP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如果是坏芯片，则淘汰该芯</a:t>
            </a:r>
            <a:r>
              <a:rPr sz="2800" b="1" spc="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片</a:t>
            </a: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Arial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9580" y="1620451"/>
            <a:ext cx="85090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-7" dirty="0">
                <a:latin typeface="宋体"/>
                <a:cs typeface="宋体"/>
              </a:rPr>
              <a:t>输入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3377" y="1694591"/>
            <a:ext cx="40894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sz="2800" b="1" spc="-7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35159" y="168571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0703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46359" y="168571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0703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7559" y="168571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548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68759" y="168571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548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79959" y="168571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548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91159" y="168571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396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6279" y="2304540"/>
            <a:ext cx="1225973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sz="2800" b="1" dirty="0">
                <a:latin typeface="宋体"/>
                <a:cs typeface="宋体"/>
              </a:rPr>
              <a:t>分组：</a:t>
            </a:r>
            <a:endParaRPr sz="2800" dirty="0">
              <a:latin typeface="宋体"/>
              <a:cs typeface="宋体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045999"/>
              </p:ext>
            </p:extLst>
          </p:nvPr>
        </p:nvGraphicFramePr>
        <p:xfrm>
          <a:off x="1816497" y="2259887"/>
          <a:ext cx="1320800" cy="40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113030">
                        <a:lnSpc>
                          <a:spcPts val="2100"/>
                        </a:lnSpc>
                      </a:pP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7E7E7E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E7E7E"/>
                      </a:solidFill>
                      <a:prstDash val="solid"/>
                    </a:lnL>
                    <a:lnR w="28575">
                      <a:solidFill>
                        <a:srgbClr val="7E7E7E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2100"/>
                        </a:lnSpc>
                      </a:pP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28575">
                      <a:solidFill>
                        <a:srgbClr val="7E7E7E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636279" y="2920575"/>
            <a:ext cx="1634067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0"/>
              </a:lnSpc>
            </a:pPr>
            <a:r>
              <a:rPr sz="2800" b="1" dirty="0">
                <a:latin typeface="宋体"/>
                <a:cs typeface="宋体"/>
              </a:rPr>
              <a:t>淘汰后：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41559" y="2932344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0703">
              <a:lnSpc>
                <a:spcPts val="2853"/>
              </a:lnSpc>
            </a:pPr>
            <a:r>
              <a:rPr sz="2800" b="1" spc="-13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52759" y="2932344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548">
              <a:lnSpc>
                <a:spcPts val="2853"/>
              </a:lnSpc>
            </a:pPr>
            <a:r>
              <a:rPr sz="2800" b="1" spc="-13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23269" y="3650406"/>
            <a:ext cx="8951958" cy="1117600"/>
          </a:xfrm>
          <a:custGeom>
            <a:avLst/>
            <a:gdLst/>
            <a:ahLst/>
            <a:cxnLst/>
            <a:rect l="l" t="t" r="r" b="b"/>
            <a:pathLst>
              <a:path w="4724400" h="838200">
                <a:moveTo>
                  <a:pt x="0" y="139700"/>
                </a:moveTo>
                <a:lnTo>
                  <a:pt x="7122" y="95520"/>
                </a:lnTo>
                <a:lnTo>
                  <a:pt x="26954" y="57168"/>
                </a:lnTo>
                <a:lnTo>
                  <a:pt x="57195" y="26936"/>
                </a:lnTo>
                <a:lnTo>
                  <a:pt x="95544" y="7116"/>
                </a:lnTo>
                <a:lnTo>
                  <a:pt x="139700" y="0"/>
                </a:lnTo>
                <a:lnTo>
                  <a:pt x="4584700" y="0"/>
                </a:lnTo>
                <a:lnTo>
                  <a:pt x="4628830" y="7116"/>
                </a:lnTo>
                <a:lnTo>
                  <a:pt x="4667176" y="26936"/>
                </a:lnTo>
                <a:lnTo>
                  <a:pt x="4697427" y="57168"/>
                </a:lnTo>
                <a:lnTo>
                  <a:pt x="4717271" y="95520"/>
                </a:lnTo>
                <a:lnTo>
                  <a:pt x="4724400" y="139700"/>
                </a:lnTo>
                <a:lnTo>
                  <a:pt x="4724400" y="698500"/>
                </a:lnTo>
                <a:lnTo>
                  <a:pt x="4717271" y="742630"/>
                </a:lnTo>
                <a:lnTo>
                  <a:pt x="4697427" y="780976"/>
                </a:lnTo>
                <a:lnTo>
                  <a:pt x="4667176" y="811227"/>
                </a:lnTo>
                <a:lnTo>
                  <a:pt x="4628830" y="831071"/>
                </a:lnTo>
                <a:lnTo>
                  <a:pt x="4584700" y="838200"/>
                </a:lnTo>
                <a:lnTo>
                  <a:pt x="139700" y="838200"/>
                </a:lnTo>
                <a:lnTo>
                  <a:pt x="95544" y="831071"/>
                </a:lnTo>
                <a:lnTo>
                  <a:pt x="57195" y="811227"/>
                </a:lnTo>
                <a:lnTo>
                  <a:pt x="26954" y="780976"/>
                </a:lnTo>
                <a:lnTo>
                  <a:pt x="7122" y="742630"/>
                </a:lnTo>
                <a:lnTo>
                  <a:pt x="0" y="698500"/>
                </a:lnTo>
                <a:lnTo>
                  <a:pt x="0" y="1397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pPr algn="just"/>
            <a:endParaRPr sz="2400" dirty="0"/>
          </a:p>
        </p:txBody>
      </p:sp>
      <p:sp>
        <p:nvSpPr>
          <p:cNvPr id="27" name="object 9"/>
          <p:cNvSpPr txBox="1"/>
          <p:nvPr/>
        </p:nvSpPr>
        <p:spPr>
          <a:xfrm>
            <a:off x="1828736" y="228571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0703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28" name="object 9"/>
          <p:cNvSpPr txBox="1"/>
          <p:nvPr/>
        </p:nvSpPr>
        <p:spPr>
          <a:xfrm>
            <a:off x="2526215" y="228571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0703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 dirty="0">
              <a:latin typeface="宋体"/>
              <a:cs typeface="宋体"/>
            </a:endParaRPr>
          </a:p>
        </p:txBody>
      </p:sp>
      <p:graphicFrame>
        <p:nvGraphicFramePr>
          <p:cNvPr id="29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50054"/>
              </p:ext>
            </p:extLst>
          </p:nvPr>
        </p:nvGraphicFramePr>
        <p:xfrm>
          <a:off x="3251136" y="2277740"/>
          <a:ext cx="1320800" cy="40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113030">
                        <a:lnSpc>
                          <a:spcPts val="2100"/>
                        </a:lnSpc>
                      </a:pP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7E7E7E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E7E7E"/>
                      </a:solidFill>
                      <a:prstDash val="solid"/>
                    </a:lnL>
                    <a:lnR w="28575">
                      <a:solidFill>
                        <a:srgbClr val="7E7E7E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2100"/>
                        </a:lnSpc>
                      </a:pP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28575">
                      <a:solidFill>
                        <a:srgbClr val="7E7E7E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0" name="object 9"/>
          <p:cNvSpPr txBox="1"/>
          <p:nvPr/>
        </p:nvSpPr>
        <p:spPr>
          <a:xfrm>
            <a:off x="3261646" y="2281942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0703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1" name="object 9"/>
          <p:cNvSpPr txBox="1"/>
          <p:nvPr/>
        </p:nvSpPr>
        <p:spPr>
          <a:xfrm>
            <a:off x="3959125" y="2281942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0703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2800" dirty="0">
              <a:latin typeface="宋体"/>
              <a:cs typeface="宋体"/>
            </a:endParaRPr>
          </a:p>
        </p:txBody>
      </p:sp>
      <p:graphicFrame>
        <p:nvGraphicFramePr>
          <p:cNvPr id="32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616461"/>
              </p:ext>
            </p:extLst>
          </p:nvPr>
        </p:nvGraphicFramePr>
        <p:xfrm>
          <a:off x="4669970" y="2272120"/>
          <a:ext cx="1320800" cy="40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113030">
                        <a:lnSpc>
                          <a:spcPts val="2100"/>
                        </a:lnSpc>
                      </a:pP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7E7E7E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7E7E7E"/>
                      </a:solidFill>
                      <a:prstDash val="solid"/>
                    </a:lnL>
                    <a:lnR w="28575">
                      <a:solidFill>
                        <a:srgbClr val="7E7E7E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2100"/>
                        </a:lnSpc>
                      </a:pPr>
                      <a:endParaRPr sz="2400" dirty="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28575">
                      <a:solidFill>
                        <a:srgbClr val="7E7E7E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53975">
                      <a:solidFill>
                        <a:srgbClr val="FF0000"/>
                      </a:solidFill>
                      <a:prstDash val="soli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5" name="object 13"/>
          <p:cNvSpPr txBox="1"/>
          <p:nvPr/>
        </p:nvSpPr>
        <p:spPr>
          <a:xfrm>
            <a:off x="3655204" y="2924733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548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6" name="object 14"/>
          <p:cNvSpPr txBox="1"/>
          <p:nvPr/>
        </p:nvSpPr>
        <p:spPr>
          <a:xfrm>
            <a:off x="4366404" y="2924733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396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7" name="object 14"/>
          <p:cNvSpPr txBox="1"/>
          <p:nvPr/>
        </p:nvSpPr>
        <p:spPr>
          <a:xfrm>
            <a:off x="6121630" y="168408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396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8" name="object 14"/>
          <p:cNvSpPr txBox="1"/>
          <p:nvPr/>
        </p:nvSpPr>
        <p:spPr>
          <a:xfrm>
            <a:off x="6121797" y="2277140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396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9" name="object 13"/>
          <p:cNvSpPr txBox="1"/>
          <p:nvPr/>
        </p:nvSpPr>
        <p:spPr>
          <a:xfrm>
            <a:off x="4688391" y="2285711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1548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0" name="object 14"/>
          <p:cNvSpPr txBox="1"/>
          <p:nvPr/>
        </p:nvSpPr>
        <p:spPr>
          <a:xfrm>
            <a:off x="5376783" y="2277139"/>
            <a:ext cx="609600" cy="371897"/>
          </a:xfrm>
          <a:prstGeom prst="rect">
            <a:avLst/>
          </a:prstGeom>
          <a:solidFill>
            <a:srgbClr val="A6A6A6"/>
          </a:solidFill>
          <a:ln w="2540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396">
              <a:lnSpc>
                <a:spcPts val="2853"/>
              </a:lnSpc>
            </a:pPr>
            <a:r>
              <a:rPr sz="2800" b="1" spc="-7" dirty="0">
                <a:solidFill>
                  <a:srgbClr val="FFFFFF"/>
                </a:solidFill>
                <a:latin typeface="宋体"/>
                <a:cs typeface="宋体"/>
              </a:rPr>
              <a:t>坏</a:t>
            </a:r>
            <a:endParaRPr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32595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032" y="222278"/>
            <a:ext cx="8864644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伪码描述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014" y="928751"/>
            <a:ext cx="8864644" cy="524844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/>
            <a:r>
              <a:rPr sz="2800" b="1" spc="-7" dirty="0" err="1" smtClean="0">
                <a:latin typeface="宋体"/>
                <a:cs typeface="宋体"/>
              </a:rPr>
              <a:t>算</a:t>
            </a:r>
            <a:r>
              <a:rPr sz="2800" b="1" spc="-20" dirty="0" err="1" smtClean="0">
                <a:latin typeface="宋体"/>
                <a:cs typeface="宋体"/>
              </a:rPr>
              <a:t>法</a:t>
            </a:r>
            <a:r>
              <a:rPr sz="2800" b="1" spc="-73" dirty="0" smtClean="0">
                <a:latin typeface="宋体"/>
                <a:cs typeface="宋体"/>
              </a:rPr>
              <a:t> </a:t>
            </a:r>
            <a:r>
              <a:rPr sz="2800" b="1" spc="-47" dirty="0">
                <a:latin typeface="Times New Roman"/>
                <a:cs typeface="Times New Roman"/>
              </a:rPr>
              <a:t>Test(</a:t>
            </a:r>
            <a:r>
              <a:rPr sz="2800" b="1" i="1" spc="-47" dirty="0">
                <a:latin typeface="Times New Roman"/>
                <a:cs typeface="Times New Roman"/>
              </a:rPr>
              <a:t>n</a:t>
            </a:r>
            <a:r>
              <a:rPr sz="2800" b="1" spc="-4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16933"/>
            <a:r>
              <a:rPr sz="2400" b="1" spc="-7" dirty="0">
                <a:latin typeface="Times New Roman"/>
                <a:cs typeface="Times New Roman"/>
              </a:rPr>
              <a:t>1</a:t>
            </a:r>
            <a:r>
              <a:rPr sz="2400" b="1" spc="-7" dirty="0">
                <a:latin typeface="宋体"/>
                <a:cs typeface="宋体"/>
              </a:rPr>
              <a:t>．</a:t>
            </a:r>
            <a:r>
              <a:rPr sz="2400" b="1" i="1" spc="-7" dirty="0">
                <a:latin typeface="Times New Roman"/>
                <a:cs typeface="Times New Roman"/>
              </a:rPr>
              <a:t>k </a:t>
            </a:r>
            <a:r>
              <a:rPr sz="2400" b="1" spc="-7" dirty="0">
                <a:latin typeface="Symbol"/>
                <a:cs typeface="Symbol"/>
              </a:rPr>
              <a:t>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i="1" spc="-7" dirty="0">
                <a:latin typeface="Times New Roman"/>
                <a:cs typeface="Times New Roman"/>
              </a:rPr>
              <a:t>n</a:t>
            </a:r>
            <a:endParaRPr sz="2400" dirty="0">
              <a:latin typeface="Times New Roman"/>
              <a:cs typeface="Times New Roman"/>
            </a:endParaRPr>
          </a:p>
          <a:p>
            <a:pPr marL="16933">
              <a:tabLst>
                <a:tab pos="1609473" algn="l"/>
                <a:tab pos="2473898" algn="l"/>
              </a:tabLst>
            </a:pPr>
            <a:r>
              <a:rPr sz="2400" b="1" dirty="0" smtClean="0">
                <a:latin typeface="Times New Roman"/>
                <a:cs typeface="Times New Roman"/>
              </a:rPr>
              <a:t>2</a:t>
            </a:r>
            <a:r>
              <a:rPr sz="2400" b="1" spc="-7" dirty="0" smtClean="0">
                <a:latin typeface="宋体"/>
                <a:cs typeface="宋体"/>
              </a:rPr>
              <a:t>．</a:t>
            </a:r>
            <a:r>
              <a:rPr lang="en-US" sz="24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4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hile</a:t>
            </a:r>
            <a:r>
              <a:rPr lang="en-US" sz="2400" b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400" b="1" i="1" spc="7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&gt;</a:t>
            </a:r>
            <a:r>
              <a:rPr sz="24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lang="en-US"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do</a:t>
            </a:r>
            <a:endParaRPr lang="en-US" sz="2400" b="1" spc="-7" dirty="0" smtClean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947396" indent="-931310">
              <a:buFont typeface="Times New Roman"/>
              <a:buAutoNum type="arabicPeriod" startAt="3"/>
              <a:tabLst>
                <a:tab pos="947396" algn="l"/>
                <a:tab pos="948243" algn="l"/>
                <a:tab pos="4426261" algn="l"/>
              </a:tabLst>
            </a:pPr>
            <a:r>
              <a:rPr lang="zh-CN" altLang="en-US" sz="2400" b="1" spc="-7" dirty="0"/>
              <a:t>将芯片分</a:t>
            </a:r>
            <a:r>
              <a:rPr lang="zh-CN" altLang="en-US" sz="2400" b="1" spc="-20" dirty="0"/>
              <a:t>成</a:t>
            </a:r>
            <a:r>
              <a:rPr lang="zh-CN" altLang="en-US" sz="2400" b="1" spc="-693" dirty="0"/>
              <a:t> </a:t>
            </a:r>
            <a:r>
              <a:rPr lang="zh-CN" altLang="en-US" sz="2400" b="1" dirty="0">
                <a:latin typeface="Symbol"/>
                <a:cs typeface="Symbol"/>
              </a:rPr>
              <a:t></a:t>
            </a:r>
            <a:r>
              <a:rPr lang="en-US" altLang="zh-CN" sz="2400" b="1" i="1" dirty="0">
                <a:latin typeface="Times New Roman"/>
                <a:cs typeface="Times New Roman"/>
              </a:rPr>
              <a:t>k</a:t>
            </a:r>
            <a:r>
              <a:rPr lang="en-US" altLang="zh-CN" sz="2400" b="1" dirty="0">
                <a:latin typeface="Times New Roman"/>
                <a:cs typeface="Times New Roman"/>
              </a:rPr>
              <a:t>/2</a:t>
            </a:r>
            <a:r>
              <a:rPr lang="en-US" altLang="zh-CN" sz="2400" b="1" dirty="0">
                <a:latin typeface="Symbol"/>
                <a:cs typeface="Symbol"/>
              </a:rPr>
              <a:t></a:t>
            </a:r>
            <a:r>
              <a:rPr lang="en-US" altLang="zh-CN" sz="2400" b="1" dirty="0">
                <a:latin typeface="Times New Roman"/>
                <a:cs typeface="Times New Roman"/>
              </a:rPr>
              <a:t> </a:t>
            </a:r>
            <a:r>
              <a:rPr lang="zh-CN" altLang="en-US" sz="2400" b="1" spc="-20" dirty="0" smtClean="0"/>
              <a:t>组</a:t>
            </a:r>
            <a:r>
              <a:rPr lang="zh-CN" altLang="en-US" sz="2400" spc="-20" dirty="0" smtClean="0"/>
              <a:t>  </a:t>
            </a:r>
            <a:r>
              <a:rPr lang="en-US" altLang="zh-CN" sz="2400" spc="-7" dirty="0" smtClean="0">
                <a:latin typeface="Times New Roman"/>
                <a:cs typeface="Times New Roman"/>
              </a:rPr>
              <a:t>//</a:t>
            </a:r>
            <a:r>
              <a:rPr lang="zh-CN" altLang="en-US" sz="2400" spc="-93" dirty="0" smtClean="0">
                <a:latin typeface="Times New Roman"/>
                <a:cs typeface="Times New Roman"/>
              </a:rPr>
              <a:t> </a:t>
            </a:r>
            <a:r>
              <a:rPr lang="zh-CN" altLang="en-US" sz="2400" spc="-7" dirty="0"/>
              <a:t>轮空处理</a:t>
            </a:r>
          </a:p>
          <a:p>
            <a:pPr marL="947396" indent="-931310">
              <a:buAutoNum type="arabicPeriod" startAt="3"/>
              <a:tabLst>
                <a:tab pos="947396" algn="l"/>
                <a:tab pos="948243" algn="l"/>
                <a:tab pos="1603547" algn="l"/>
                <a:tab pos="2385000" algn="l"/>
                <a:tab pos="2881981" algn="l"/>
                <a:tab pos="3833611" algn="l"/>
              </a:tabLst>
            </a:pPr>
            <a:r>
              <a:rPr lang="en-US" altLang="zh-CN" sz="2400" b="1" spc="-7" dirty="0">
                <a:latin typeface="Times New Roman"/>
                <a:cs typeface="Times New Roman"/>
              </a:rPr>
              <a:t>for	</a:t>
            </a:r>
            <a:r>
              <a:rPr lang="en-US" altLang="zh-CN" sz="2400" b="1" i="1" spc="-7" dirty="0" err="1">
                <a:latin typeface="Times New Roman"/>
                <a:cs typeface="Times New Roman"/>
              </a:rPr>
              <a:t>i</a:t>
            </a:r>
            <a:r>
              <a:rPr lang="en-US" altLang="zh-CN" sz="2400" b="1" i="1" dirty="0">
                <a:latin typeface="Times New Roman"/>
                <a:cs typeface="Times New Roman"/>
              </a:rPr>
              <a:t> </a:t>
            </a:r>
            <a:r>
              <a:rPr lang="en-US" altLang="zh-CN" sz="2400" b="1" spc="-7" dirty="0">
                <a:latin typeface="Times New Roman"/>
                <a:cs typeface="Times New Roman"/>
              </a:rPr>
              <a:t>=1	to	</a:t>
            </a:r>
            <a:r>
              <a:rPr lang="en-US" altLang="zh-CN" sz="2400" b="1" dirty="0">
                <a:latin typeface="Symbol"/>
                <a:cs typeface="Symbol"/>
              </a:rPr>
              <a:t></a:t>
            </a:r>
            <a:r>
              <a:rPr lang="en-US" altLang="zh-CN" sz="2400" b="1" i="1" dirty="0">
                <a:latin typeface="Times New Roman"/>
                <a:cs typeface="Times New Roman"/>
              </a:rPr>
              <a:t>k</a:t>
            </a:r>
            <a:r>
              <a:rPr lang="en-US" altLang="zh-CN" sz="2400" b="1" dirty="0">
                <a:latin typeface="Times New Roman"/>
                <a:cs typeface="Times New Roman"/>
              </a:rPr>
              <a:t>/2</a:t>
            </a:r>
            <a:r>
              <a:rPr lang="en-US" altLang="zh-CN" sz="2400" b="1" dirty="0">
                <a:latin typeface="Symbol"/>
                <a:cs typeface="Symbol"/>
              </a:rPr>
              <a:t></a:t>
            </a:r>
            <a:r>
              <a:rPr lang="en-US" altLang="zh-CN" sz="2400" b="1" dirty="0">
                <a:latin typeface="Times New Roman"/>
                <a:cs typeface="Times New Roman"/>
              </a:rPr>
              <a:t>	</a:t>
            </a:r>
            <a:r>
              <a:rPr lang="en-US" altLang="zh-CN" sz="2400" b="1" spc="-7" dirty="0" smtClean="0">
                <a:latin typeface="Times New Roman"/>
                <a:cs typeface="Times New Roman"/>
              </a:rPr>
              <a:t>do</a:t>
            </a:r>
          </a:p>
          <a:p>
            <a:pPr marL="947396" indent="-931310">
              <a:buFontTx/>
              <a:buAutoNum type="arabicPeriod" startAt="3"/>
              <a:tabLst>
                <a:tab pos="947396" algn="l"/>
                <a:tab pos="948243" algn="l"/>
                <a:tab pos="1603547" algn="l"/>
                <a:tab pos="2385000" algn="l"/>
                <a:tab pos="2881981" algn="l"/>
                <a:tab pos="3833611" algn="l"/>
              </a:tabLst>
            </a:pPr>
            <a:r>
              <a:rPr lang="en-US" altLang="zh-CN" sz="2400" b="1" spc="-7" dirty="0" smtClean="0">
                <a:latin typeface="Times New Roman"/>
                <a:cs typeface="Times New Roman"/>
              </a:rPr>
              <a:t>       if  </a:t>
            </a:r>
            <a:r>
              <a:rPr lang="en-US" altLang="zh-CN" sz="2400" b="1" spc="13" dirty="0" smtClean="0">
                <a:latin typeface="Times New Roman"/>
                <a:cs typeface="Times New Roman"/>
              </a:rPr>
              <a:t>2</a:t>
            </a:r>
            <a:r>
              <a:rPr lang="zh-CN" altLang="en-US" sz="2400" b="1" spc="-7" dirty="0">
                <a:latin typeface="宋体"/>
                <a:cs typeface="宋体"/>
              </a:rPr>
              <a:t>片</a:t>
            </a:r>
            <a:r>
              <a:rPr lang="zh-CN" altLang="en-US" sz="2400" b="1" spc="-20" dirty="0" smtClean="0">
                <a:latin typeface="宋体"/>
                <a:cs typeface="宋体"/>
              </a:rPr>
              <a:t>好 </a:t>
            </a:r>
            <a:r>
              <a:rPr lang="zh-CN" altLang="en-US" sz="2400" b="1" spc="-753" dirty="0" smtClean="0">
                <a:latin typeface="宋体"/>
                <a:cs typeface="宋体"/>
              </a:rPr>
              <a:t> </a:t>
            </a:r>
            <a:r>
              <a:rPr lang="en-US" altLang="zh-CN" sz="2400" b="1" spc="-7" dirty="0">
                <a:latin typeface="Times New Roman"/>
                <a:cs typeface="Times New Roman"/>
              </a:rPr>
              <a:t>then</a:t>
            </a:r>
            <a:r>
              <a:rPr lang="en-US" altLang="zh-CN" sz="2400" b="1" spc="-33" dirty="0">
                <a:latin typeface="Times New Roman"/>
                <a:cs typeface="Times New Roman"/>
              </a:rPr>
              <a:t> </a:t>
            </a:r>
            <a:r>
              <a:rPr lang="en-US" altLang="zh-CN" sz="2400" b="1" spc="-33" dirty="0" smtClean="0">
                <a:latin typeface="Times New Roman"/>
                <a:cs typeface="Times New Roman"/>
              </a:rPr>
              <a:t>  </a:t>
            </a:r>
            <a:r>
              <a:rPr lang="zh-CN" altLang="en-US" sz="2400" b="1" spc="-7" dirty="0" smtClean="0">
                <a:latin typeface="宋体"/>
                <a:cs typeface="宋体"/>
              </a:rPr>
              <a:t>则</a:t>
            </a:r>
            <a:r>
              <a:rPr lang="zh-CN" altLang="en-US" sz="2400" b="1" spc="-7" dirty="0">
                <a:latin typeface="宋体"/>
                <a:cs typeface="宋体"/>
              </a:rPr>
              <a:t>任取</a:t>
            </a:r>
            <a:r>
              <a:rPr lang="en-US" altLang="zh-CN" sz="2400" b="1" dirty="0">
                <a:latin typeface="Times New Roman"/>
                <a:cs typeface="Times New Roman"/>
              </a:rPr>
              <a:t>1</a:t>
            </a:r>
            <a:r>
              <a:rPr lang="zh-CN" altLang="en-US" sz="2400" b="1" spc="-7" dirty="0">
                <a:latin typeface="宋体"/>
                <a:cs typeface="宋体"/>
              </a:rPr>
              <a:t>片</a:t>
            </a:r>
            <a:r>
              <a:rPr lang="zh-CN" altLang="en-US" sz="2400" b="1" spc="-7" dirty="0" smtClean="0">
                <a:latin typeface="宋体"/>
                <a:cs typeface="宋体"/>
              </a:rPr>
              <a:t>留下</a:t>
            </a:r>
            <a:endParaRPr lang="en-US" altLang="zh-CN" sz="2400" b="1" spc="-7" dirty="0" smtClean="0">
              <a:latin typeface="宋体"/>
              <a:cs typeface="宋体"/>
            </a:endParaRPr>
          </a:p>
          <a:p>
            <a:pPr marL="947396" indent="-931310">
              <a:buFontTx/>
              <a:buAutoNum type="arabicPeriod" startAt="3"/>
              <a:tabLst>
                <a:tab pos="947396" algn="l"/>
                <a:tab pos="948243" algn="l"/>
                <a:tab pos="1603547" algn="l"/>
                <a:tab pos="2385000" algn="l"/>
                <a:tab pos="2881981" algn="l"/>
                <a:tab pos="3833611" algn="l"/>
              </a:tabLst>
            </a:pPr>
            <a:r>
              <a:rPr lang="en-US" altLang="zh-CN" sz="2400" b="1" spc="-7" dirty="0" smtClean="0">
                <a:latin typeface="Times New Roman"/>
                <a:cs typeface="Times New Roman"/>
              </a:rPr>
              <a:t>      else  </a:t>
            </a:r>
            <a:r>
              <a:rPr lang="en-US" altLang="zh-CN" sz="2400" b="1" spc="13" dirty="0" smtClean="0">
                <a:latin typeface="Times New Roman"/>
                <a:cs typeface="Times New Roman"/>
              </a:rPr>
              <a:t>2</a:t>
            </a:r>
            <a:r>
              <a:rPr lang="zh-CN" altLang="en-US" sz="2400" b="1" spc="-7" dirty="0" smtClean="0">
                <a:latin typeface="宋体"/>
                <a:cs typeface="宋体"/>
              </a:rPr>
              <a:t>片 同时丢掉</a:t>
            </a:r>
            <a:endParaRPr lang="en-US" altLang="zh-CN" sz="2400" b="1" spc="-7" dirty="0" smtClean="0">
              <a:latin typeface="宋体"/>
              <a:cs typeface="宋体"/>
            </a:endParaRPr>
          </a:p>
          <a:p>
            <a:pPr marL="947396" indent="-931310">
              <a:buFontTx/>
              <a:buAutoNum type="arabicPeriod" startAt="3"/>
              <a:tabLst>
                <a:tab pos="947396" algn="l"/>
                <a:tab pos="948243" algn="l"/>
                <a:tab pos="1603547" algn="l"/>
                <a:tab pos="2385000" algn="l"/>
                <a:tab pos="2881981" algn="l"/>
                <a:tab pos="3833611" algn="l"/>
              </a:tabLst>
            </a:pPr>
            <a:r>
              <a:rPr lang="en-US" altLang="zh-CN" sz="2400" b="1" i="1" dirty="0">
                <a:latin typeface="Times New Roman"/>
                <a:cs typeface="Times New Roman"/>
              </a:rPr>
              <a:t>k</a:t>
            </a:r>
            <a:r>
              <a:rPr lang="zh-CN" altLang="en-US" sz="2400" b="1" dirty="0">
                <a:latin typeface="Symbol"/>
                <a:cs typeface="Symbol"/>
              </a:rPr>
              <a:t></a:t>
            </a:r>
            <a:r>
              <a:rPr lang="zh-CN" altLang="en-US" sz="2400" b="1" spc="-13" dirty="0">
                <a:latin typeface="宋体"/>
                <a:cs typeface="宋体"/>
              </a:rPr>
              <a:t>剩下的芯片</a:t>
            </a:r>
            <a:r>
              <a:rPr lang="zh-CN" altLang="en-US" sz="2400" b="1" spc="-13" dirty="0" smtClean="0">
                <a:latin typeface="宋体"/>
                <a:cs typeface="宋体"/>
              </a:rPr>
              <a:t>数</a:t>
            </a:r>
            <a:endParaRPr lang="en-US" altLang="zh-CN" sz="2400" b="1" spc="-13" dirty="0" smtClean="0">
              <a:latin typeface="宋体"/>
              <a:cs typeface="宋体"/>
            </a:endParaRPr>
          </a:p>
          <a:p>
            <a:pPr>
              <a:buFontTx/>
              <a:buAutoNum type="arabicPeriod" startAt="3"/>
              <a:tabLst>
                <a:tab pos="947396" algn="l"/>
                <a:tab pos="948243" algn="l"/>
                <a:tab pos="1603547" algn="l"/>
                <a:tab pos="2385000" algn="l"/>
                <a:tab pos="2881981" algn="l"/>
                <a:tab pos="3833611" algn="l"/>
              </a:tabLst>
            </a:pPr>
            <a:r>
              <a:rPr lang="en-US" altLang="zh-CN" sz="2400" b="1" spc="-7" dirty="0" smtClean="0">
                <a:latin typeface="Times New Roman"/>
                <a:cs typeface="Times New Roman"/>
              </a:rPr>
              <a:t>   </a:t>
            </a:r>
            <a:r>
              <a:rPr lang="en-US" altLang="zh-CN" sz="24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if</a:t>
            </a:r>
            <a:r>
              <a:rPr lang="en-US" altLang="zh-CN"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lang="en-US" altLang="zh-CN" sz="24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lang="en-US" altLang="zh-CN" sz="2400" b="1" i="1" spc="7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=3</a:t>
            </a:r>
            <a:r>
              <a:rPr lang="en-US" altLang="zh-CN"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lang="en-US" altLang="zh-CN" sz="24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then</a:t>
            </a:r>
            <a:endParaRPr lang="en-US" altLang="zh-CN" sz="2400" b="1" spc="-13" dirty="0" smtClean="0">
              <a:solidFill>
                <a:srgbClr val="C00000"/>
              </a:solidFill>
              <a:latin typeface="宋体"/>
              <a:cs typeface="宋体"/>
            </a:endParaRPr>
          </a:p>
          <a:p>
            <a:pPr marL="947396" indent="-931310">
              <a:buFontTx/>
              <a:buAutoNum type="arabicPeriod" startAt="3"/>
              <a:tabLst>
                <a:tab pos="947396" algn="l"/>
                <a:tab pos="948243" algn="l"/>
                <a:tab pos="1603547" algn="l"/>
                <a:tab pos="2385000" algn="l"/>
                <a:tab pos="2881981" algn="l"/>
                <a:tab pos="3833611" algn="l"/>
              </a:tabLst>
            </a:pPr>
            <a:r>
              <a:rPr lang="zh-CN" altLang="en-US" sz="2400" b="1" spc="-7" dirty="0">
                <a:latin typeface="宋体"/>
                <a:cs typeface="宋体"/>
              </a:rPr>
              <a:t>任取</a:t>
            </a:r>
            <a:r>
              <a:rPr lang="en-US" altLang="zh-CN" sz="2400" b="1" dirty="0">
                <a:latin typeface="Times New Roman"/>
                <a:cs typeface="Times New Roman"/>
              </a:rPr>
              <a:t>2</a:t>
            </a:r>
            <a:r>
              <a:rPr lang="zh-CN" altLang="en-US" sz="2400" b="1" spc="-7" dirty="0">
                <a:latin typeface="宋体"/>
                <a:cs typeface="宋体"/>
              </a:rPr>
              <a:t>片芯片</a:t>
            </a:r>
            <a:r>
              <a:rPr lang="zh-CN" altLang="en-US" sz="2400" b="1" spc="-7" dirty="0" smtClean="0">
                <a:latin typeface="宋体"/>
                <a:cs typeface="宋体"/>
              </a:rPr>
              <a:t>测试</a:t>
            </a:r>
            <a:endParaRPr lang="en-US" altLang="zh-CN" sz="2400" b="1" spc="-7" dirty="0">
              <a:latin typeface="宋体"/>
              <a:cs typeface="宋体"/>
            </a:endParaRPr>
          </a:p>
          <a:p>
            <a:pPr marL="947396" indent="-931310">
              <a:buFontTx/>
              <a:buAutoNum type="arabicPeriod" startAt="3"/>
              <a:tabLst>
                <a:tab pos="947396" algn="l"/>
                <a:tab pos="948243" algn="l"/>
                <a:tab pos="1603547" algn="l"/>
                <a:tab pos="2385000" algn="l"/>
                <a:tab pos="2881981" algn="l"/>
                <a:tab pos="3833611" algn="l"/>
              </a:tabLst>
            </a:pPr>
            <a:r>
              <a:rPr lang="en-US" altLang="zh-CN" sz="2400" b="1" spc="-7" dirty="0" smtClean="0">
                <a:latin typeface="Times New Roman"/>
                <a:cs typeface="Times New Roman"/>
              </a:rPr>
              <a:t>if</a:t>
            </a:r>
            <a:r>
              <a:rPr lang="en-US" altLang="zh-CN" sz="2400" b="1" spc="-7" dirty="0">
                <a:latin typeface="Times New Roman"/>
                <a:cs typeface="Times New Roman"/>
              </a:rPr>
              <a:t>	</a:t>
            </a:r>
            <a:r>
              <a:rPr lang="en-US" altLang="zh-CN" sz="2400" b="1" spc="7" dirty="0">
                <a:latin typeface="Times New Roman"/>
                <a:cs typeface="Times New Roman"/>
              </a:rPr>
              <a:t>1</a:t>
            </a:r>
            <a:r>
              <a:rPr lang="zh-CN" altLang="en-US" sz="2400" b="1" spc="-13" dirty="0">
                <a:latin typeface="宋体"/>
                <a:cs typeface="宋体"/>
              </a:rPr>
              <a:t>好</a:t>
            </a:r>
            <a:r>
              <a:rPr lang="en-US" altLang="zh-CN" sz="2400" b="1" spc="-7" dirty="0">
                <a:latin typeface="Times New Roman"/>
                <a:cs typeface="Times New Roman"/>
              </a:rPr>
              <a:t>1</a:t>
            </a:r>
            <a:r>
              <a:rPr lang="zh-CN" altLang="en-US" sz="2400" b="1" spc="-20" dirty="0">
                <a:latin typeface="宋体"/>
                <a:cs typeface="宋体"/>
              </a:rPr>
              <a:t>坏</a:t>
            </a:r>
            <a:r>
              <a:rPr lang="zh-CN" altLang="en-US" sz="2400" b="1" spc="-27" dirty="0">
                <a:latin typeface="宋体"/>
                <a:cs typeface="宋体"/>
              </a:rPr>
              <a:t> </a:t>
            </a:r>
            <a:r>
              <a:rPr lang="zh-CN" altLang="en-US" sz="2400" b="1" spc="-27" dirty="0" smtClean="0">
                <a:latin typeface="宋体"/>
                <a:cs typeface="宋体"/>
              </a:rPr>
              <a:t> </a:t>
            </a:r>
            <a:r>
              <a:rPr lang="en-US" altLang="zh-CN" sz="2400" b="1" spc="-7" dirty="0" smtClean="0">
                <a:latin typeface="Times New Roman"/>
                <a:cs typeface="Times New Roman"/>
              </a:rPr>
              <a:t>then</a:t>
            </a:r>
            <a:r>
              <a:rPr lang="en-US" altLang="zh-CN" sz="2400" b="1" spc="7" dirty="0" smtClean="0">
                <a:latin typeface="Times New Roman"/>
                <a:cs typeface="Times New Roman"/>
              </a:rPr>
              <a:t>  </a:t>
            </a:r>
            <a:r>
              <a:rPr lang="zh-CN" altLang="en-US" sz="2400" b="1" spc="-13" dirty="0" smtClean="0">
                <a:latin typeface="宋体"/>
                <a:cs typeface="宋体"/>
              </a:rPr>
              <a:t>取</a:t>
            </a:r>
            <a:r>
              <a:rPr lang="zh-CN" altLang="en-US" sz="2400" b="1" spc="-13" dirty="0">
                <a:latin typeface="宋体"/>
                <a:cs typeface="宋体"/>
              </a:rPr>
              <a:t>没测的芯片</a:t>
            </a:r>
            <a:endParaRPr lang="zh-CN" altLang="en-US" sz="2400" dirty="0">
              <a:latin typeface="宋体"/>
              <a:cs typeface="宋体"/>
            </a:endParaRPr>
          </a:p>
          <a:p>
            <a:pPr>
              <a:buAutoNum type="arabicPeriod" startAt="10"/>
              <a:tabLst>
                <a:tab pos="1109952" algn="l"/>
                <a:tab pos="1110798" algn="l"/>
                <a:tab pos="1876166" algn="l"/>
              </a:tabLst>
            </a:pPr>
            <a:r>
              <a:rPr lang="en-US" altLang="zh-CN" sz="2400" b="1" spc="-7" dirty="0" smtClean="0">
                <a:latin typeface="Times New Roman"/>
                <a:cs typeface="Times New Roman"/>
              </a:rPr>
              <a:t>       else</a:t>
            </a:r>
            <a:r>
              <a:rPr lang="en-US" altLang="zh-CN" sz="2400" b="1" spc="-7" dirty="0">
                <a:latin typeface="Times New Roman"/>
                <a:cs typeface="Times New Roman"/>
              </a:rPr>
              <a:t>	</a:t>
            </a:r>
            <a:r>
              <a:rPr lang="zh-CN" altLang="en-US" sz="2400" b="1" spc="-7" dirty="0">
                <a:latin typeface="宋体"/>
                <a:cs typeface="宋体"/>
              </a:rPr>
              <a:t>任取</a:t>
            </a:r>
            <a:r>
              <a:rPr lang="en-US" altLang="zh-CN" sz="2400" b="1" dirty="0">
                <a:latin typeface="Times New Roman"/>
                <a:cs typeface="Times New Roman"/>
              </a:rPr>
              <a:t>1</a:t>
            </a:r>
            <a:r>
              <a:rPr lang="zh-CN" altLang="en-US" sz="2400" b="1" spc="-7" dirty="0">
                <a:latin typeface="宋体"/>
                <a:cs typeface="宋体"/>
              </a:rPr>
              <a:t>片被测</a:t>
            </a:r>
            <a:r>
              <a:rPr lang="zh-CN" altLang="en-US" sz="2400" b="1" spc="-7" dirty="0" smtClean="0">
                <a:latin typeface="宋体"/>
                <a:cs typeface="宋体"/>
              </a:rPr>
              <a:t>芯片</a:t>
            </a:r>
            <a:endParaRPr lang="en-US" altLang="zh-CN" sz="2400" dirty="0" smtClean="0">
              <a:latin typeface="宋体"/>
              <a:cs typeface="宋体"/>
            </a:endParaRPr>
          </a:p>
          <a:p>
            <a:pPr>
              <a:buAutoNum type="arabicPeriod" startAt="10"/>
              <a:tabLst>
                <a:tab pos="1109952" algn="l"/>
                <a:tab pos="1110798" algn="l"/>
                <a:tab pos="1876166" algn="l"/>
              </a:tabLst>
            </a:pPr>
            <a:r>
              <a:rPr lang="en-US" altLang="zh-CN" sz="2400" b="1" spc="-7" dirty="0">
                <a:latin typeface="宋体"/>
                <a:cs typeface="Times New Roman"/>
              </a:rPr>
              <a:t> </a:t>
            </a:r>
            <a:r>
              <a:rPr lang="en-US" altLang="zh-CN" sz="24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if</a:t>
            </a:r>
            <a:r>
              <a:rPr lang="en-US" altLang="zh-CN" sz="24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lang="en-US" altLang="zh-CN" sz="24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lang="en-US" altLang="zh-CN" sz="2400" b="1" i="1" spc="-1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=2</a:t>
            </a:r>
            <a:r>
              <a:rPr lang="en-US" altLang="zh-CN" sz="2400" b="1" spc="-1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or</a:t>
            </a:r>
            <a:r>
              <a:rPr lang="en-US" altLang="zh-CN" sz="2400" b="1" spc="-67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1 </a:t>
            </a:r>
            <a:r>
              <a:rPr lang="en-US" altLang="zh-CN" sz="24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7" dirty="0" smtClean="0">
                <a:latin typeface="Times New Roman"/>
                <a:cs typeface="Times New Roman"/>
              </a:rPr>
              <a:t>then</a:t>
            </a:r>
            <a:r>
              <a:rPr lang="en-US" altLang="zh-CN" sz="2400" b="1" spc="27" dirty="0" smtClean="0">
                <a:latin typeface="Times New Roman"/>
                <a:cs typeface="Times New Roman"/>
              </a:rPr>
              <a:t> </a:t>
            </a:r>
            <a:r>
              <a:rPr lang="zh-CN" altLang="en-US" sz="2400" b="1" spc="-7" dirty="0">
                <a:latin typeface="宋体"/>
                <a:cs typeface="宋体"/>
              </a:rPr>
              <a:t>任取</a:t>
            </a:r>
            <a:r>
              <a:rPr lang="en-US" altLang="zh-CN" sz="2400" b="1" dirty="0">
                <a:latin typeface="Times New Roman"/>
                <a:cs typeface="Times New Roman"/>
              </a:rPr>
              <a:t>1</a:t>
            </a:r>
            <a:r>
              <a:rPr lang="zh-CN" altLang="en-US" sz="2400" b="1" spc="-20" dirty="0" smtClean="0">
                <a:latin typeface="宋体"/>
                <a:cs typeface="宋体"/>
              </a:rPr>
              <a:t>片</a:t>
            </a:r>
            <a:endParaRPr lang="en-US" altLang="zh-CN" sz="2400" b="1" spc="-7" dirty="0">
              <a:latin typeface="Times New Roman"/>
              <a:cs typeface="Times New Roman"/>
            </a:endParaRPr>
          </a:p>
          <a:p>
            <a:pPr marL="16933">
              <a:tabLst>
                <a:tab pos="1609473" algn="l"/>
                <a:tab pos="2473898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82445" y="3549066"/>
            <a:ext cx="2332567" cy="1021080"/>
          </a:xfrm>
          <a:custGeom>
            <a:avLst/>
            <a:gdLst/>
            <a:ahLst/>
            <a:cxnLst/>
            <a:rect l="l" t="t" r="r" b="b"/>
            <a:pathLst>
              <a:path w="1749425" h="765810">
                <a:moveTo>
                  <a:pt x="1180424" y="0"/>
                </a:moveTo>
                <a:lnTo>
                  <a:pt x="1126354" y="1498"/>
                </a:lnTo>
                <a:lnTo>
                  <a:pt x="1073507" y="6329"/>
                </a:lnTo>
                <a:lnTo>
                  <a:pt x="1022146" y="14352"/>
                </a:lnTo>
                <a:lnTo>
                  <a:pt x="972532" y="25422"/>
                </a:lnTo>
                <a:lnTo>
                  <a:pt x="924928" y="39397"/>
                </a:lnTo>
                <a:lnTo>
                  <a:pt x="879597" y="56132"/>
                </a:lnTo>
                <a:lnTo>
                  <a:pt x="836801" y="75486"/>
                </a:lnTo>
                <a:lnTo>
                  <a:pt x="796801" y="97315"/>
                </a:lnTo>
                <a:lnTo>
                  <a:pt x="759861" y="121475"/>
                </a:lnTo>
                <a:lnTo>
                  <a:pt x="726241" y="147824"/>
                </a:lnTo>
                <a:lnTo>
                  <a:pt x="696206" y="176219"/>
                </a:lnTo>
                <a:lnTo>
                  <a:pt x="670017" y="206516"/>
                </a:lnTo>
                <a:lnTo>
                  <a:pt x="647936" y="238572"/>
                </a:lnTo>
                <a:lnTo>
                  <a:pt x="617147" y="307388"/>
                </a:lnTo>
                <a:lnTo>
                  <a:pt x="608965" y="343862"/>
                </a:lnTo>
                <a:lnTo>
                  <a:pt x="0" y="454225"/>
                </a:lnTo>
                <a:lnTo>
                  <a:pt x="628649" y="489277"/>
                </a:lnTo>
                <a:lnTo>
                  <a:pt x="647543" y="525848"/>
                </a:lnTo>
                <a:lnTo>
                  <a:pt x="671501" y="560511"/>
                </a:lnTo>
                <a:lnTo>
                  <a:pt x="700204" y="593090"/>
                </a:lnTo>
                <a:lnTo>
                  <a:pt x="733335" y="623408"/>
                </a:lnTo>
                <a:lnTo>
                  <a:pt x="770576" y="651289"/>
                </a:lnTo>
                <a:lnTo>
                  <a:pt x="811609" y="676555"/>
                </a:lnTo>
                <a:lnTo>
                  <a:pt x="856116" y="699029"/>
                </a:lnTo>
                <a:lnTo>
                  <a:pt x="903779" y="718536"/>
                </a:lnTo>
                <a:lnTo>
                  <a:pt x="954279" y="734897"/>
                </a:lnTo>
                <a:lnTo>
                  <a:pt x="1007301" y="747937"/>
                </a:lnTo>
                <a:lnTo>
                  <a:pt x="1062524" y="757478"/>
                </a:lnTo>
                <a:lnTo>
                  <a:pt x="1119632" y="763343"/>
                </a:lnTo>
                <a:lnTo>
                  <a:pt x="1174663" y="765322"/>
                </a:lnTo>
                <a:lnTo>
                  <a:pt x="1228733" y="763824"/>
                </a:lnTo>
                <a:lnTo>
                  <a:pt x="1281580" y="758992"/>
                </a:lnTo>
                <a:lnTo>
                  <a:pt x="1332941" y="750970"/>
                </a:lnTo>
                <a:lnTo>
                  <a:pt x="1382555" y="739900"/>
                </a:lnTo>
                <a:lnTo>
                  <a:pt x="1430159" y="725925"/>
                </a:lnTo>
                <a:lnTo>
                  <a:pt x="1475490" y="709190"/>
                </a:lnTo>
                <a:lnTo>
                  <a:pt x="1518286" y="689836"/>
                </a:lnTo>
                <a:lnTo>
                  <a:pt x="1558286" y="668007"/>
                </a:lnTo>
                <a:lnTo>
                  <a:pt x="1595226" y="643847"/>
                </a:lnTo>
                <a:lnTo>
                  <a:pt x="1628846" y="617498"/>
                </a:lnTo>
                <a:lnTo>
                  <a:pt x="1658881" y="589103"/>
                </a:lnTo>
                <a:lnTo>
                  <a:pt x="1685070" y="558806"/>
                </a:lnTo>
                <a:lnTo>
                  <a:pt x="1707151" y="526750"/>
                </a:lnTo>
                <a:lnTo>
                  <a:pt x="1737940" y="457934"/>
                </a:lnTo>
                <a:lnTo>
                  <a:pt x="1749111" y="382326"/>
                </a:lnTo>
                <a:lnTo>
                  <a:pt x="1746229" y="343862"/>
                </a:lnTo>
                <a:lnTo>
                  <a:pt x="1737783" y="306490"/>
                </a:lnTo>
                <a:lnTo>
                  <a:pt x="1723981" y="270208"/>
                </a:lnTo>
                <a:lnTo>
                  <a:pt x="1705096" y="235298"/>
                </a:lnTo>
                <a:lnTo>
                  <a:pt x="1681387" y="201970"/>
                </a:lnTo>
                <a:lnTo>
                  <a:pt x="1653109" y="170434"/>
                </a:lnTo>
                <a:lnTo>
                  <a:pt x="1620520" y="140901"/>
                </a:lnTo>
                <a:lnTo>
                  <a:pt x="1583876" y="113580"/>
                </a:lnTo>
                <a:lnTo>
                  <a:pt x="1543436" y="88683"/>
                </a:lnTo>
                <a:lnTo>
                  <a:pt x="1499456" y="66421"/>
                </a:lnTo>
                <a:lnTo>
                  <a:pt x="1452193" y="47002"/>
                </a:lnTo>
                <a:lnTo>
                  <a:pt x="1401904" y="30638"/>
                </a:lnTo>
                <a:lnTo>
                  <a:pt x="1348847" y="17539"/>
                </a:lnTo>
                <a:lnTo>
                  <a:pt x="1293279" y="7916"/>
                </a:lnTo>
                <a:lnTo>
                  <a:pt x="1235456" y="1978"/>
                </a:lnTo>
                <a:lnTo>
                  <a:pt x="118042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982445" y="3549066"/>
            <a:ext cx="2332567" cy="1021080"/>
          </a:xfrm>
          <a:custGeom>
            <a:avLst/>
            <a:gdLst/>
            <a:ahLst/>
            <a:cxnLst/>
            <a:rect l="l" t="t" r="r" b="b"/>
            <a:pathLst>
              <a:path w="1749425" h="765810">
                <a:moveTo>
                  <a:pt x="0" y="454225"/>
                </a:moveTo>
                <a:lnTo>
                  <a:pt x="608965" y="343862"/>
                </a:lnTo>
                <a:lnTo>
                  <a:pt x="617147" y="307388"/>
                </a:lnTo>
                <a:lnTo>
                  <a:pt x="630225" y="272243"/>
                </a:lnTo>
                <a:lnTo>
                  <a:pt x="670017" y="206516"/>
                </a:lnTo>
                <a:lnTo>
                  <a:pt x="696206" y="176219"/>
                </a:lnTo>
                <a:lnTo>
                  <a:pt x="726241" y="147824"/>
                </a:lnTo>
                <a:lnTo>
                  <a:pt x="759861" y="121475"/>
                </a:lnTo>
                <a:lnTo>
                  <a:pt x="796801" y="97315"/>
                </a:lnTo>
                <a:lnTo>
                  <a:pt x="836801" y="75486"/>
                </a:lnTo>
                <a:lnTo>
                  <a:pt x="879597" y="56132"/>
                </a:lnTo>
                <a:lnTo>
                  <a:pt x="924928" y="39397"/>
                </a:lnTo>
                <a:lnTo>
                  <a:pt x="972532" y="25422"/>
                </a:lnTo>
                <a:lnTo>
                  <a:pt x="1022146" y="14352"/>
                </a:lnTo>
                <a:lnTo>
                  <a:pt x="1073507" y="6329"/>
                </a:lnTo>
                <a:lnTo>
                  <a:pt x="1126354" y="1498"/>
                </a:lnTo>
                <a:lnTo>
                  <a:pt x="1180424" y="0"/>
                </a:lnTo>
                <a:lnTo>
                  <a:pt x="1235456" y="1978"/>
                </a:lnTo>
                <a:lnTo>
                  <a:pt x="1293279" y="7916"/>
                </a:lnTo>
                <a:lnTo>
                  <a:pt x="1348847" y="17539"/>
                </a:lnTo>
                <a:lnTo>
                  <a:pt x="1401904" y="30638"/>
                </a:lnTo>
                <a:lnTo>
                  <a:pt x="1452193" y="47002"/>
                </a:lnTo>
                <a:lnTo>
                  <a:pt x="1499456" y="66421"/>
                </a:lnTo>
                <a:lnTo>
                  <a:pt x="1543436" y="88683"/>
                </a:lnTo>
                <a:lnTo>
                  <a:pt x="1583876" y="113580"/>
                </a:lnTo>
                <a:lnTo>
                  <a:pt x="1620520" y="140901"/>
                </a:lnTo>
                <a:lnTo>
                  <a:pt x="1653109" y="170434"/>
                </a:lnTo>
                <a:lnTo>
                  <a:pt x="1681387" y="201970"/>
                </a:lnTo>
                <a:lnTo>
                  <a:pt x="1705096" y="235298"/>
                </a:lnTo>
                <a:lnTo>
                  <a:pt x="1723981" y="270208"/>
                </a:lnTo>
                <a:lnTo>
                  <a:pt x="1737783" y="306490"/>
                </a:lnTo>
                <a:lnTo>
                  <a:pt x="1746245" y="343933"/>
                </a:lnTo>
                <a:lnTo>
                  <a:pt x="1749111" y="382326"/>
                </a:lnTo>
                <a:lnTo>
                  <a:pt x="1746122" y="421459"/>
                </a:lnTo>
                <a:lnTo>
                  <a:pt x="1724862" y="493079"/>
                </a:lnTo>
                <a:lnTo>
                  <a:pt x="1685070" y="558806"/>
                </a:lnTo>
                <a:lnTo>
                  <a:pt x="1658881" y="589103"/>
                </a:lnTo>
                <a:lnTo>
                  <a:pt x="1628846" y="617498"/>
                </a:lnTo>
                <a:lnTo>
                  <a:pt x="1595226" y="643847"/>
                </a:lnTo>
                <a:lnTo>
                  <a:pt x="1558286" y="668007"/>
                </a:lnTo>
                <a:lnTo>
                  <a:pt x="1518286" y="689836"/>
                </a:lnTo>
                <a:lnTo>
                  <a:pt x="1475490" y="709190"/>
                </a:lnTo>
                <a:lnTo>
                  <a:pt x="1430159" y="725925"/>
                </a:lnTo>
                <a:lnTo>
                  <a:pt x="1382555" y="739900"/>
                </a:lnTo>
                <a:lnTo>
                  <a:pt x="1332941" y="750970"/>
                </a:lnTo>
                <a:lnTo>
                  <a:pt x="1281580" y="758992"/>
                </a:lnTo>
                <a:lnTo>
                  <a:pt x="1228733" y="763824"/>
                </a:lnTo>
                <a:lnTo>
                  <a:pt x="1174663" y="765322"/>
                </a:lnTo>
                <a:lnTo>
                  <a:pt x="1119632" y="763343"/>
                </a:lnTo>
                <a:lnTo>
                  <a:pt x="1062524" y="757478"/>
                </a:lnTo>
                <a:lnTo>
                  <a:pt x="1007301" y="747937"/>
                </a:lnTo>
                <a:lnTo>
                  <a:pt x="954279" y="734897"/>
                </a:lnTo>
                <a:lnTo>
                  <a:pt x="903779" y="718536"/>
                </a:lnTo>
                <a:lnTo>
                  <a:pt x="856116" y="699029"/>
                </a:lnTo>
                <a:lnTo>
                  <a:pt x="811609" y="676555"/>
                </a:lnTo>
                <a:lnTo>
                  <a:pt x="770576" y="651289"/>
                </a:lnTo>
                <a:lnTo>
                  <a:pt x="733335" y="623408"/>
                </a:lnTo>
                <a:lnTo>
                  <a:pt x="700204" y="593090"/>
                </a:lnTo>
                <a:lnTo>
                  <a:pt x="671501" y="560511"/>
                </a:lnTo>
                <a:lnTo>
                  <a:pt x="647543" y="525848"/>
                </a:lnTo>
                <a:lnTo>
                  <a:pt x="628649" y="489277"/>
                </a:lnTo>
                <a:lnTo>
                  <a:pt x="0" y="45422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4269379" y="3688992"/>
            <a:ext cx="647700" cy="741228"/>
          </a:xfrm>
          <a:prstGeom prst="rect">
            <a:avLst/>
          </a:prstGeom>
        </p:spPr>
        <p:txBody>
          <a:bodyPr vert="horz" wrap="square" lIns="0" tIns="48259" rIns="0" bIns="0" rtlCol="0">
            <a:spAutoFit/>
          </a:bodyPr>
          <a:lstStyle/>
          <a:p>
            <a:pPr marL="16933" marR="6773">
              <a:lnSpc>
                <a:spcPts val="2693"/>
              </a:lnSpc>
              <a:spcBef>
                <a:spcPts val="379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递归 结束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16831" y="1020086"/>
            <a:ext cx="2274993" cy="1020233"/>
          </a:xfrm>
          <a:custGeom>
            <a:avLst/>
            <a:gdLst/>
            <a:ahLst/>
            <a:cxnLst/>
            <a:rect l="l" t="t" r="r" b="b"/>
            <a:pathLst>
              <a:path w="1706245" h="765175">
                <a:moveTo>
                  <a:pt x="1590010" y="613137"/>
                </a:moveTo>
                <a:lnTo>
                  <a:pt x="678688" y="613137"/>
                </a:lnTo>
                <a:lnTo>
                  <a:pt x="712777" y="640614"/>
                </a:lnTo>
                <a:lnTo>
                  <a:pt x="750070" y="665553"/>
                </a:lnTo>
                <a:lnTo>
                  <a:pt x="790256" y="687882"/>
                </a:lnTo>
                <a:lnTo>
                  <a:pt x="833027" y="707531"/>
                </a:lnTo>
                <a:lnTo>
                  <a:pt x="878072" y="724427"/>
                </a:lnTo>
                <a:lnTo>
                  <a:pt x="925083" y="738500"/>
                </a:lnTo>
                <a:lnTo>
                  <a:pt x="973751" y="749678"/>
                </a:lnTo>
                <a:lnTo>
                  <a:pt x="1023764" y="757890"/>
                </a:lnTo>
                <a:lnTo>
                  <a:pt x="1074816" y="763063"/>
                </a:lnTo>
                <a:lnTo>
                  <a:pt x="1126595" y="765127"/>
                </a:lnTo>
                <a:lnTo>
                  <a:pt x="1178793" y="764010"/>
                </a:lnTo>
                <a:lnTo>
                  <a:pt x="1231100" y="759641"/>
                </a:lnTo>
                <a:lnTo>
                  <a:pt x="1283208" y="751948"/>
                </a:lnTo>
                <a:lnTo>
                  <a:pt x="1338867" y="739884"/>
                </a:lnTo>
                <a:lnTo>
                  <a:pt x="1391410" y="724420"/>
                </a:lnTo>
                <a:lnTo>
                  <a:pt x="1440633" y="705793"/>
                </a:lnTo>
                <a:lnTo>
                  <a:pt x="1486336" y="684240"/>
                </a:lnTo>
                <a:lnTo>
                  <a:pt x="1528315" y="659994"/>
                </a:lnTo>
                <a:lnTo>
                  <a:pt x="1566368" y="633293"/>
                </a:lnTo>
                <a:lnTo>
                  <a:pt x="1590010" y="613137"/>
                </a:lnTo>
                <a:close/>
              </a:path>
              <a:path w="1706245" h="765175">
                <a:moveTo>
                  <a:pt x="1146890" y="0"/>
                </a:moveTo>
                <a:lnTo>
                  <a:pt x="1093577" y="933"/>
                </a:lnTo>
                <a:lnTo>
                  <a:pt x="1039858" y="5292"/>
                </a:lnTo>
                <a:lnTo>
                  <a:pt x="986028" y="13189"/>
                </a:lnTo>
                <a:lnTo>
                  <a:pt x="930368" y="25254"/>
                </a:lnTo>
                <a:lnTo>
                  <a:pt x="877825" y="40718"/>
                </a:lnTo>
                <a:lnTo>
                  <a:pt x="828602" y="59345"/>
                </a:lnTo>
                <a:lnTo>
                  <a:pt x="782899" y="80898"/>
                </a:lnTo>
                <a:lnTo>
                  <a:pt x="740920" y="105144"/>
                </a:lnTo>
                <a:lnTo>
                  <a:pt x="702867" y="131845"/>
                </a:lnTo>
                <a:lnTo>
                  <a:pt x="668943" y="160766"/>
                </a:lnTo>
                <a:lnTo>
                  <a:pt x="639349" y="191672"/>
                </a:lnTo>
                <a:lnTo>
                  <a:pt x="614289" y="224327"/>
                </a:lnTo>
                <a:lnTo>
                  <a:pt x="593965" y="258494"/>
                </a:lnTo>
                <a:lnTo>
                  <a:pt x="578578" y="293939"/>
                </a:lnTo>
                <a:lnTo>
                  <a:pt x="563430" y="367718"/>
                </a:lnTo>
                <a:lnTo>
                  <a:pt x="564072" y="405581"/>
                </a:lnTo>
                <a:lnTo>
                  <a:pt x="570462" y="443778"/>
                </a:lnTo>
                <a:lnTo>
                  <a:pt x="582803" y="482073"/>
                </a:lnTo>
                <a:lnTo>
                  <a:pt x="0" y="754234"/>
                </a:lnTo>
                <a:lnTo>
                  <a:pt x="678688" y="613137"/>
                </a:lnTo>
                <a:lnTo>
                  <a:pt x="1590010" y="613137"/>
                </a:lnTo>
                <a:lnTo>
                  <a:pt x="1600292" y="604372"/>
                </a:lnTo>
                <a:lnTo>
                  <a:pt x="1629886" y="573466"/>
                </a:lnTo>
                <a:lnTo>
                  <a:pt x="1654946" y="540811"/>
                </a:lnTo>
                <a:lnTo>
                  <a:pt x="1675270" y="506644"/>
                </a:lnTo>
                <a:lnTo>
                  <a:pt x="1690657" y="471199"/>
                </a:lnTo>
                <a:lnTo>
                  <a:pt x="1705805" y="397420"/>
                </a:lnTo>
                <a:lnTo>
                  <a:pt x="1705163" y="359557"/>
                </a:lnTo>
                <a:lnTo>
                  <a:pt x="1698773" y="321360"/>
                </a:lnTo>
                <a:lnTo>
                  <a:pt x="1686433" y="283064"/>
                </a:lnTo>
                <a:lnTo>
                  <a:pt x="1669600" y="247952"/>
                </a:lnTo>
                <a:lnTo>
                  <a:pt x="1648254" y="214678"/>
                </a:lnTo>
                <a:lnTo>
                  <a:pt x="1622689" y="183355"/>
                </a:lnTo>
                <a:lnTo>
                  <a:pt x="1593197" y="154096"/>
                </a:lnTo>
                <a:lnTo>
                  <a:pt x="1560073" y="127015"/>
                </a:lnTo>
                <a:lnTo>
                  <a:pt x="1523609" y="102225"/>
                </a:lnTo>
                <a:lnTo>
                  <a:pt x="1484099" y="79840"/>
                </a:lnTo>
                <a:lnTo>
                  <a:pt x="1441836" y="59973"/>
                </a:lnTo>
                <a:lnTo>
                  <a:pt x="1397114" y="42738"/>
                </a:lnTo>
                <a:lnTo>
                  <a:pt x="1350227" y="28247"/>
                </a:lnTo>
                <a:lnTo>
                  <a:pt x="1301468" y="16615"/>
                </a:lnTo>
                <a:lnTo>
                  <a:pt x="1251129" y="7953"/>
                </a:lnTo>
                <a:lnTo>
                  <a:pt x="1199506" y="2377"/>
                </a:lnTo>
                <a:lnTo>
                  <a:pt x="114689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3816831" y="1020086"/>
            <a:ext cx="2274993" cy="1020233"/>
          </a:xfrm>
          <a:custGeom>
            <a:avLst/>
            <a:gdLst/>
            <a:ahLst/>
            <a:cxnLst/>
            <a:rect l="l" t="t" r="r" b="b"/>
            <a:pathLst>
              <a:path w="1706245" h="765175">
                <a:moveTo>
                  <a:pt x="0" y="754234"/>
                </a:moveTo>
                <a:lnTo>
                  <a:pt x="582803" y="482073"/>
                </a:lnTo>
                <a:lnTo>
                  <a:pt x="570462" y="443778"/>
                </a:lnTo>
                <a:lnTo>
                  <a:pt x="564072" y="405581"/>
                </a:lnTo>
                <a:lnTo>
                  <a:pt x="568332" y="330426"/>
                </a:lnTo>
                <a:lnTo>
                  <a:pt x="593965" y="258494"/>
                </a:lnTo>
                <a:lnTo>
                  <a:pt x="614289" y="224327"/>
                </a:lnTo>
                <a:lnTo>
                  <a:pt x="639349" y="191672"/>
                </a:lnTo>
                <a:lnTo>
                  <a:pt x="668943" y="160766"/>
                </a:lnTo>
                <a:lnTo>
                  <a:pt x="702867" y="131845"/>
                </a:lnTo>
                <a:lnTo>
                  <a:pt x="740920" y="105144"/>
                </a:lnTo>
                <a:lnTo>
                  <a:pt x="782899" y="80898"/>
                </a:lnTo>
                <a:lnTo>
                  <a:pt x="828602" y="59345"/>
                </a:lnTo>
                <a:lnTo>
                  <a:pt x="877825" y="40718"/>
                </a:lnTo>
                <a:lnTo>
                  <a:pt x="930368" y="25254"/>
                </a:lnTo>
                <a:lnTo>
                  <a:pt x="986028" y="13189"/>
                </a:lnTo>
                <a:lnTo>
                  <a:pt x="1039858" y="5292"/>
                </a:lnTo>
                <a:lnTo>
                  <a:pt x="1093577" y="933"/>
                </a:lnTo>
                <a:lnTo>
                  <a:pt x="1146890" y="0"/>
                </a:lnTo>
                <a:lnTo>
                  <a:pt x="1199506" y="2377"/>
                </a:lnTo>
                <a:lnTo>
                  <a:pt x="1251129" y="7953"/>
                </a:lnTo>
                <a:lnTo>
                  <a:pt x="1301468" y="16615"/>
                </a:lnTo>
                <a:lnTo>
                  <a:pt x="1350227" y="28247"/>
                </a:lnTo>
                <a:lnTo>
                  <a:pt x="1397114" y="42738"/>
                </a:lnTo>
                <a:lnTo>
                  <a:pt x="1441836" y="59973"/>
                </a:lnTo>
                <a:lnTo>
                  <a:pt x="1484099" y="79840"/>
                </a:lnTo>
                <a:lnTo>
                  <a:pt x="1523609" y="102225"/>
                </a:lnTo>
                <a:lnTo>
                  <a:pt x="1560073" y="127015"/>
                </a:lnTo>
                <a:lnTo>
                  <a:pt x="1593197" y="154096"/>
                </a:lnTo>
                <a:lnTo>
                  <a:pt x="1622689" y="183355"/>
                </a:lnTo>
                <a:lnTo>
                  <a:pt x="1648254" y="214678"/>
                </a:lnTo>
                <a:lnTo>
                  <a:pt x="1669600" y="247952"/>
                </a:lnTo>
                <a:lnTo>
                  <a:pt x="1686433" y="283064"/>
                </a:lnTo>
                <a:lnTo>
                  <a:pt x="1698773" y="321360"/>
                </a:lnTo>
                <a:lnTo>
                  <a:pt x="1705163" y="359557"/>
                </a:lnTo>
                <a:lnTo>
                  <a:pt x="1705805" y="397420"/>
                </a:lnTo>
                <a:lnTo>
                  <a:pt x="1700903" y="434712"/>
                </a:lnTo>
                <a:lnTo>
                  <a:pt x="1675270" y="506644"/>
                </a:lnTo>
                <a:lnTo>
                  <a:pt x="1654946" y="540811"/>
                </a:lnTo>
                <a:lnTo>
                  <a:pt x="1629886" y="573466"/>
                </a:lnTo>
                <a:lnTo>
                  <a:pt x="1600292" y="604372"/>
                </a:lnTo>
                <a:lnTo>
                  <a:pt x="1566368" y="633293"/>
                </a:lnTo>
                <a:lnTo>
                  <a:pt x="1528315" y="659994"/>
                </a:lnTo>
                <a:lnTo>
                  <a:pt x="1486336" y="684240"/>
                </a:lnTo>
                <a:lnTo>
                  <a:pt x="1440633" y="705793"/>
                </a:lnTo>
                <a:lnTo>
                  <a:pt x="1391410" y="724420"/>
                </a:lnTo>
                <a:lnTo>
                  <a:pt x="1338867" y="739884"/>
                </a:lnTo>
                <a:lnTo>
                  <a:pt x="1283208" y="751948"/>
                </a:lnTo>
                <a:lnTo>
                  <a:pt x="1231100" y="759641"/>
                </a:lnTo>
                <a:lnTo>
                  <a:pt x="1178793" y="764010"/>
                </a:lnTo>
                <a:lnTo>
                  <a:pt x="1126595" y="765127"/>
                </a:lnTo>
                <a:lnTo>
                  <a:pt x="1074816" y="763063"/>
                </a:lnTo>
                <a:lnTo>
                  <a:pt x="1023764" y="757890"/>
                </a:lnTo>
                <a:lnTo>
                  <a:pt x="973751" y="749678"/>
                </a:lnTo>
                <a:lnTo>
                  <a:pt x="925083" y="738500"/>
                </a:lnTo>
                <a:lnTo>
                  <a:pt x="878072" y="724427"/>
                </a:lnTo>
                <a:lnTo>
                  <a:pt x="833027" y="707531"/>
                </a:lnTo>
                <a:lnTo>
                  <a:pt x="790256" y="687882"/>
                </a:lnTo>
                <a:lnTo>
                  <a:pt x="750070" y="665553"/>
                </a:lnTo>
                <a:lnTo>
                  <a:pt x="712777" y="640614"/>
                </a:lnTo>
                <a:lnTo>
                  <a:pt x="678688" y="613137"/>
                </a:lnTo>
                <a:lnTo>
                  <a:pt x="0" y="754234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5007074" y="1158237"/>
            <a:ext cx="647700" cy="740373"/>
          </a:xfrm>
          <a:prstGeom prst="rect">
            <a:avLst/>
          </a:prstGeom>
        </p:spPr>
        <p:txBody>
          <a:bodyPr vert="horz" wrap="square" lIns="0" tIns="47413" rIns="0" bIns="0" rtlCol="0">
            <a:spAutoFit/>
          </a:bodyPr>
          <a:lstStyle/>
          <a:p>
            <a:pPr marL="16933" marR="6773">
              <a:lnSpc>
                <a:spcPts val="2693"/>
              </a:lnSpc>
              <a:spcBef>
                <a:spcPts val="373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分组 淘汰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61447" y="2816771"/>
            <a:ext cx="4317177" cy="732295"/>
          </a:xfrm>
          <a:custGeom>
            <a:avLst/>
            <a:gdLst/>
            <a:ahLst/>
            <a:cxnLst/>
            <a:rect l="l" t="t" r="r" b="b"/>
            <a:pathLst>
              <a:path w="3810000" h="685800">
                <a:moveTo>
                  <a:pt x="0" y="114300"/>
                </a:moveTo>
                <a:lnTo>
                  <a:pt x="8983" y="69812"/>
                </a:lnTo>
                <a:lnTo>
                  <a:pt x="33480" y="33480"/>
                </a:lnTo>
                <a:lnTo>
                  <a:pt x="69812" y="8983"/>
                </a:lnTo>
                <a:lnTo>
                  <a:pt x="114300" y="0"/>
                </a:lnTo>
                <a:lnTo>
                  <a:pt x="3695700" y="0"/>
                </a:lnTo>
                <a:lnTo>
                  <a:pt x="3740187" y="8983"/>
                </a:lnTo>
                <a:lnTo>
                  <a:pt x="3776519" y="33480"/>
                </a:lnTo>
                <a:lnTo>
                  <a:pt x="3801016" y="69812"/>
                </a:lnTo>
                <a:lnTo>
                  <a:pt x="3810000" y="114300"/>
                </a:lnTo>
                <a:lnTo>
                  <a:pt x="3810000" y="571500"/>
                </a:lnTo>
                <a:lnTo>
                  <a:pt x="3801016" y="615987"/>
                </a:lnTo>
                <a:lnTo>
                  <a:pt x="3776519" y="652319"/>
                </a:lnTo>
                <a:lnTo>
                  <a:pt x="3740187" y="676816"/>
                </a:lnTo>
                <a:lnTo>
                  <a:pt x="3695700" y="685800"/>
                </a:lnTo>
                <a:lnTo>
                  <a:pt x="114300" y="685800"/>
                </a:lnTo>
                <a:lnTo>
                  <a:pt x="69812" y="676816"/>
                </a:lnTo>
                <a:lnTo>
                  <a:pt x="33480" y="652319"/>
                </a:lnTo>
                <a:lnTo>
                  <a:pt x="8983" y="615987"/>
                </a:lnTo>
                <a:lnTo>
                  <a:pt x="0" y="571500"/>
                </a:lnTo>
                <a:lnTo>
                  <a:pt x="0" y="1143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5028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634" y="265626"/>
            <a:ext cx="8954084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时间复杂度分析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7008" y="6063687"/>
            <a:ext cx="2413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87" dirty="0">
                <a:solidFill>
                  <a:srgbClr val="888888"/>
                </a:solidFill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673" y="1041463"/>
            <a:ext cx="8912045" cy="3828335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16933" algn="just">
              <a:spcBef>
                <a:spcPts val="933"/>
              </a:spcBef>
            </a:pPr>
            <a:r>
              <a:rPr sz="2800" b="1" dirty="0" err="1" smtClean="0">
                <a:latin typeface="宋体"/>
                <a:cs typeface="宋体"/>
              </a:rPr>
              <a:t>设输入规模为</a:t>
            </a:r>
            <a:r>
              <a:rPr sz="2800" b="1" i="1" spc="-7" dirty="0" err="1" smtClean="0">
                <a:latin typeface="Times New Roman"/>
                <a:cs typeface="Times New Roman"/>
              </a:rPr>
              <a:t>n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sz="2800" b="1" dirty="0" err="1" smtClean="0">
                <a:latin typeface="宋体"/>
                <a:cs typeface="宋体"/>
              </a:rPr>
              <a:t>每轮淘汰后</a:t>
            </a:r>
            <a:r>
              <a:rPr sz="2800" b="1" dirty="0" err="1">
                <a:latin typeface="宋体"/>
                <a:cs typeface="宋体"/>
              </a:rPr>
              <a:t>，</a:t>
            </a:r>
            <a:r>
              <a:rPr sz="2800" b="1" dirty="0" err="1" smtClean="0">
                <a:latin typeface="宋体"/>
                <a:cs typeface="宋体"/>
              </a:rPr>
              <a:t>芯片数至少减半</a:t>
            </a:r>
            <a:r>
              <a:rPr lang="zh-CN" altLang="en-US" sz="2800" b="1" dirty="0" smtClean="0">
                <a:latin typeface="宋体"/>
                <a:cs typeface="宋体"/>
              </a:rPr>
              <a:t>。</a:t>
            </a:r>
            <a:r>
              <a:rPr sz="2800" b="1" spc="-7" dirty="0" err="1" smtClean="0">
                <a:latin typeface="宋体"/>
                <a:cs typeface="宋体"/>
              </a:rPr>
              <a:t>测试次</a:t>
            </a:r>
            <a:r>
              <a:rPr sz="2800" b="1" dirty="0" err="1" smtClean="0">
                <a:latin typeface="宋体"/>
                <a:cs typeface="宋体"/>
              </a:rPr>
              <a:t>数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spc="-7" dirty="0" err="1">
                <a:latin typeface="宋体"/>
                <a:cs typeface="宋体"/>
              </a:rPr>
              <a:t>含轮空处</a:t>
            </a:r>
            <a:r>
              <a:rPr sz="2800" b="1" dirty="0" err="1">
                <a:latin typeface="宋体"/>
                <a:cs typeface="宋体"/>
              </a:rPr>
              <a:t>理</a:t>
            </a:r>
            <a:r>
              <a:rPr sz="2800" b="1" spc="-7" dirty="0" smtClean="0">
                <a:latin typeface="Times New Roman"/>
                <a:cs typeface="Times New Roman"/>
              </a:rPr>
              <a:t>)</a:t>
            </a:r>
            <a:r>
              <a:rPr lang="zh-CN" altLang="en-US" sz="2800" b="1" spc="-7" dirty="0" smtClean="0">
                <a:latin typeface="Times New Roman"/>
                <a:cs typeface="Times New Roman"/>
              </a:rPr>
              <a:t>：</a:t>
            </a:r>
            <a:r>
              <a:rPr sz="2800" b="1" i="1" spc="-7" dirty="0" smtClean="0">
                <a:latin typeface="Times New Roman"/>
                <a:cs typeface="Times New Roman"/>
              </a:rPr>
              <a:t>O</a:t>
            </a:r>
            <a:r>
              <a:rPr sz="2800" b="1" spc="-7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sz="2933" dirty="0">
              <a:latin typeface="Times New Roman"/>
              <a:cs typeface="Times New Roman"/>
            </a:endParaRPr>
          </a:p>
          <a:p>
            <a:pPr marL="16933"/>
            <a:r>
              <a:rPr sz="2800" b="1" dirty="0">
                <a:latin typeface="宋体"/>
                <a:cs typeface="宋体"/>
              </a:rPr>
              <a:t>时间复杂度：</a:t>
            </a:r>
          </a:p>
          <a:p>
            <a:pPr marL="1105719">
              <a:spcBef>
                <a:spcPts val="645"/>
              </a:spcBef>
            </a:pP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/2) +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O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1030368">
              <a:spcBef>
                <a:spcPts val="847"/>
              </a:spcBef>
              <a:tabLst>
                <a:tab pos="2808323" algn="l"/>
              </a:tabLst>
            </a:pP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(3)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7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1,	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dirty="0">
                <a:latin typeface="Times New Roman"/>
                <a:cs typeface="Times New Roman"/>
              </a:rPr>
              <a:t>(2) = 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(1)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  <a:p>
            <a:pPr>
              <a:spcBef>
                <a:spcPts val="33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16933">
              <a:tabLst>
                <a:tab pos="2014170" algn="l"/>
              </a:tabLst>
            </a:pPr>
            <a:r>
              <a:rPr sz="2800" b="1" dirty="0">
                <a:latin typeface="宋体"/>
                <a:cs typeface="宋体"/>
              </a:rPr>
              <a:t>解</a:t>
            </a:r>
            <a:r>
              <a:rPr sz="2800" b="1" spc="-13" dirty="0">
                <a:latin typeface="宋体"/>
                <a:cs typeface="宋体"/>
              </a:rPr>
              <a:t>得	</a:t>
            </a:r>
            <a:r>
              <a:rPr sz="2800" b="1" i="1" spc="-7" dirty="0">
                <a:latin typeface="Times New Roman"/>
                <a:cs typeface="Times New Roman"/>
              </a:rPr>
              <a:t>W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8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531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0414" y="1392300"/>
            <a:ext cx="9066194" cy="1788524"/>
          </a:xfrm>
          <a:prstGeom prst="rect">
            <a:avLst/>
          </a:prstGeom>
        </p:spPr>
        <p:txBody>
          <a:bodyPr vert="horz" wrap="square" lIns="0" tIns="132927" rIns="0" bIns="0" rtlCol="0">
            <a:spAutoFit/>
          </a:bodyPr>
          <a:lstStyle/>
          <a:p>
            <a:pPr marL="474121" indent="-457189" algn="just">
              <a:spcBef>
                <a:spcPts val="1047"/>
              </a:spcBef>
              <a:buFont typeface="Arial"/>
              <a:buChar char="•"/>
              <a:tabLst>
                <a:tab pos="473275" algn="l"/>
                <a:tab pos="474121" algn="l"/>
              </a:tabLst>
            </a:pPr>
            <a:r>
              <a:rPr sz="3200" b="1" spc="-7" dirty="0">
                <a:latin typeface="宋体"/>
                <a:cs typeface="宋体"/>
              </a:rPr>
              <a:t>芯片测试的分治算法</a:t>
            </a:r>
            <a:endParaRPr sz="3200" dirty="0">
              <a:latin typeface="宋体"/>
              <a:cs typeface="宋体"/>
            </a:endParaRPr>
          </a:p>
          <a:p>
            <a:pPr marR="6773" algn="just">
              <a:spcBef>
                <a:spcPts val="787"/>
              </a:spcBef>
            </a:pPr>
            <a:r>
              <a:rPr lang="en-US" sz="2800" b="1" dirty="0" smtClean="0">
                <a:latin typeface="宋体"/>
                <a:cs typeface="宋体"/>
              </a:rPr>
              <a:t>   </a:t>
            </a:r>
            <a:r>
              <a:rPr sz="2800" b="1" dirty="0" err="1" smtClean="0">
                <a:latin typeface="宋体"/>
                <a:cs typeface="宋体"/>
              </a:rPr>
              <a:t>如何保证子问题与原问题性质相</a:t>
            </a:r>
            <a:r>
              <a:rPr sz="2800" b="1" spc="7" dirty="0" err="1" smtClean="0">
                <a:latin typeface="宋体"/>
                <a:cs typeface="宋体"/>
              </a:rPr>
              <a:t>同</a:t>
            </a:r>
            <a:r>
              <a:rPr sz="2800" b="1" dirty="0" smtClean="0">
                <a:latin typeface="Calibri"/>
                <a:cs typeface="Calibri"/>
              </a:rPr>
              <a:t>: </a:t>
            </a:r>
            <a:r>
              <a:rPr sz="2800" b="1" dirty="0" err="1" smtClean="0">
                <a:latin typeface="宋体"/>
                <a:cs typeface="宋体"/>
              </a:rPr>
              <a:t>增加额外处理</a:t>
            </a:r>
            <a:endParaRPr sz="2800" dirty="0" smtClean="0">
              <a:latin typeface="宋体"/>
              <a:cs typeface="宋体"/>
            </a:endParaRPr>
          </a:p>
          <a:p>
            <a:pPr marR="119377" algn="just">
              <a:lnSpc>
                <a:spcPts val="4693"/>
              </a:lnSpc>
              <a:spcBef>
                <a:spcPts val="220"/>
              </a:spcBef>
            </a:pPr>
            <a:r>
              <a:rPr lang="en-US" sz="2800" b="1" dirty="0" smtClean="0">
                <a:latin typeface="宋体"/>
                <a:cs typeface="宋体"/>
              </a:rPr>
              <a:t>   </a:t>
            </a:r>
            <a:r>
              <a:rPr sz="2800" b="1" dirty="0" err="1" smtClean="0">
                <a:latin typeface="宋体"/>
                <a:cs typeface="宋体"/>
              </a:rPr>
              <a:t>额外处理的工作量不改变函数的阶</a:t>
            </a:r>
            <a:r>
              <a:rPr lang="en-US" sz="2800" b="1" dirty="0" smtClean="0">
                <a:latin typeface="宋体"/>
                <a:cs typeface="宋体"/>
              </a:rPr>
              <a:t> </a:t>
            </a:r>
            <a:r>
              <a:rPr sz="2800" b="1" spc="-7" dirty="0" err="1" smtClean="0">
                <a:latin typeface="宋体"/>
                <a:cs typeface="宋体"/>
              </a:rPr>
              <a:t>时间复杂度</a:t>
            </a:r>
            <a:r>
              <a:rPr sz="2800" b="1" dirty="0" err="1" smtClean="0">
                <a:latin typeface="宋体"/>
                <a:cs typeface="宋体"/>
              </a:rPr>
              <a:t>为</a:t>
            </a:r>
            <a:r>
              <a:rPr sz="2800" b="1" i="1" spc="-7" dirty="0" err="1" smtClean="0">
                <a:latin typeface="Times New Roman"/>
                <a:cs typeface="Times New Roman"/>
              </a:rPr>
              <a:t>O</a:t>
            </a:r>
            <a:r>
              <a:rPr sz="2800" b="1" spc="-7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n</a:t>
            </a:r>
            <a:r>
              <a:rPr sz="2800" b="1" spc="-7" dirty="0" smtClean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414" y="233395"/>
            <a:ext cx="8849710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56016" y="5819847"/>
            <a:ext cx="26162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dirty="0">
                <a:solidFill>
                  <a:srgbClr val="888888"/>
                </a:solidFill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994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92821" y="2365532"/>
            <a:ext cx="811454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7202"/>
              </a:lnSpc>
            </a:pPr>
            <a:r>
              <a:rPr sz="6600" b="1" spc="19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ISOIN+ËÎÌå"/>
              </a:rPr>
              <a:t>快速排序</a:t>
            </a:r>
            <a:endParaRPr sz="7200" b="1" spc="19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CISOIN+ËÎÌå"/>
            </a:endParaRPr>
          </a:p>
        </p:txBody>
      </p:sp>
    </p:spTree>
    <p:extLst>
      <p:ext uri="{BB962C8B-B14F-4D97-AF65-F5344CB8AC3E}">
        <p14:creationId xmlns:p14="http://schemas.microsoft.com/office/powerpoint/2010/main" val="349696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9509" y="358689"/>
            <a:ext cx="8197857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27"/>
              </a:lnSpc>
            </a:pPr>
            <a:r>
              <a:rPr sz="4000" b="1" spc="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CISOIN+ËÎÌå"/>
              </a:rPr>
              <a:t>基本思想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1174" y="1513804"/>
            <a:ext cx="8696131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57200" algn="just">
              <a:lnSpc>
                <a:spcPts val="4575"/>
              </a:lnSpc>
              <a:spcBef>
                <a:spcPts val="1200"/>
              </a:spcBef>
            </a:pPr>
            <a:r>
              <a:rPr sz="3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•</a:t>
            </a:r>
            <a:r>
              <a:rPr sz="3200" b="1" spc="15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用首元素</a:t>
            </a:r>
            <a:r>
              <a:rPr sz="3200" b="1" spc="-13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 </a:t>
            </a:r>
            <a:r>
              <a:rPr sz="3200" b="1" spc="15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作划分标准，</a:t>
            </a:r>
            <a:r>
              <a:rPr sz="3200" b="1" spc="15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将输入数</a:t>
            </a:r>
            <a:r>
              <a:rPr sz="3200" b="1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组</a:t>
            </a:r>
            <a:r>
              <a:rPr sz="3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sz="3200" b="1" i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en-US" sz="3200" b="1" i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sz="3200" b="1" spc="15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划分成不超过</a:t>
            </a:r>
            <a:r>
              <a:rPr sz="3200" b="1" spc="2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 </a:t>
            </a:r>
            <a:r>
              <a:rPr sz="3200" b="1" spc="15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的元素构成的数</a:t>
            </a:r>
            <a:r>
              <a:rPr sz="3200" b="1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组</a:t>
            </a:r>
            <a:r>
              <a:rPr sz="3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3200" b="1" i="1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3200" b="1" i="1" baseline="-25000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</a:t>
            </a:r>
            <a:r>
              <a:rPr sz="3200" b="1" spc="15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sz="3200" b="1" spc="15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大于</a:t>
            </a:r>
            <a:r>
              <a:rPr sz="3200" b="1" spc="15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sz="32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 </a:t>
            </a:r>
            <a:r>
              <a:rPr sz="3200" b="1" spc="15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的元素构成的数组</a:t>
            </a:r>
            <a:r>
              <a:rPr sz="32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sz="3200" b="1" i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3200" b="1" i="1" baseline="-25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sz="3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.</a:t>
            </a:r>
            <a:r>
              <a:rPr lang="en-US" sz="3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3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其中 </a:t>
            </a:r>
            <a:r>
              <a:rPr lang="en-US" altLang="zh-CN" sz="3200" b="1" i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3200" b="1" i="1" baseline="-25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 </a:t>
            </a:r>
            <a:r>
              <a:rPr lang="zh-CN" altLang="en-US" sz="3200" b="1" i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和 </a:t>
            </a:r>
            <a:r>
              <a:rPr lang="en-US" altLang="zh-CN" sz="3200" b="1" i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3200" b="1" i="1" baseline="-25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en-US" sz="3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从左到右存放在数组 </a:t>
            </a: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的位置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.</a:t>
            </a:r>
          </a:p>
          <a:p>
            <a:pPr indent="457200" algn="just">
              <a:lnSpc>
                <a:spcPts val="4575"/>
              </a:lnSpc>
              <a:spcBef>
                <a:spcPts val="1200"/>
              </a:spcBef>
            </a:pPr>
            <a:r>
              <a:rPr lang="en-US" altLang="zh-CN" sz="3200" b="1" dirty="0" smtClean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Arial"/>
              </a:rPr>
              <a:t>•</a:t>
            </a:r>
            <a:r>
              <a:rPr lang="zh-CN" altLang="en-US" sz="3200" b="1" spc="15" dirty="0" smtClean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CISOIN+ËÎÌå"/>
              </a:rPr>
              <a:t>递归</a:t>
            </a:r>
            <a:r>
              <a:rPr lang="zh-CN" altLang="en-US" sz="3200" b="1" spc="15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CISOIN+ËÎÌå"/>
              </a:rPr>
              <a:t>地对子问题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32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</a:t>
            </a:r>
            <a:r>
              <a:rPr lang="zh-CN" altLang="en-US" sz="3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CISOIN+ËÎÌå"/>
              </a:rPr>
              <a:t>和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lang="en-US" altLang="zh-CN" sz="32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3200" b="1" spc="15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CISOIN+ËÎÌå"/>
              </a:rPr>
              <a:t>进行排序，直到子问题规模为</a:t>
            </a:r>
            <a:r>
              <a:rPr lang="zh-CN" altLang="en-US" sz="3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Times New Roman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Times New Roman"/>
              </a:rPr>
              <a:t>1 </a:t>
            </a:r>
            <a:r>
              <a:rPr lang="zh-CN" altLang="en-US" sz="3200" b="1" spc="15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CISOIN+ËÎÌå"/>
              </a:rPr>
              <a:t>时停止</a:t>
            </a:r>
            <a:r>
              <a:rPr lang="en-US" altLang="zh-CN" sz="3200" b="1" dirty="0" smtClean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Times New Roman"/>
              </a:rPr>
              <a:t>.</a:t>
            </a:r>
            <a:endParaRPr lang="en-US" altLang="zh-CN" sz="3200" b="1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935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0052" y="253772"/>
            <a:ext cx="8870732" cy="596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27"/>
              </a:lnSpc>
            </a:pPr>
            <a:r>
              <a:rPr sz="4000" b="1" spc="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伪码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0711" y="974614"/>
            <a:ext cx="8860073" cy="1526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7"/>
              </a:lnSpc>
            </a:pPr>
            <a:r>
              <a:rPr sz="2800" b="1" spc="15" dirty="0">
                <a:solidFill>
                  <a:srgbClr val="000000"/>
                </a:solidFill>
                <a:latin typeface="CISOIN+ËÎÌå"/>
                <a:cs typeface="CISOIN+ËÎÌå"/>
              </a:rPr>
              <a:t>算法</a:t>
            </a:r>
            <a:r>
              <a:rPr sz="2800" b="1" spc="-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Quicksort</a:t>
            </a:r>
            <a:r>
              <a:rPr sz="2800" b="1" spc="-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  <a:p>
            <a:pPr>
              <a:lnSpc>
                <a:spcPts val="3543"/>
              </a:lnSpc>
              <a:spcBef>
                <a:spcPts val="728"/>
              </a:spcBef>
            </a:pPr>
            <a:r>
              <a:rPr sz="2800" b="1" spc="15" dirty="0">
                <a:solidFill>
                  <a:srgbClr val="000000"/>
                </a:solidFill>
                <a:latin typeface="CISOIN+ËÎÌå"/>
                <a:cs typeface="CISOIN+ËÎÌå"/>
              </a:rPr>
              <a:t>输入：数组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..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</a:p>
          <a:p>
            <a:pPr>
              <a:lnSpc>
                <a:spcPts val="3543"/>
              </a:lnSpc>
              <a:spcBef>
                <a:spcPts val="712"/>
              </a:spcBef>
            </a:pPr>
            <a:r>
              <a:rPr sz="2800" b="1" spc="15" dirty="0">
                <a:solidFill>
                  <a:srgbClr val="000000"/>
                </a:solidFill>
                <a:latin typeface="CISOIN+ËÎÌå"/>
                <a:cs typeface="CISOIN+ËÎÌå"/>
              </a:rPr>
              <a:t>输出：排好序的数组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640" y="2374437"/>
            <a:ext cx="8147144" cy="100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3"/>
              </a:lnSpc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1.</a:t>
            </a:r>
            <a:r>
              <a:rPr sz="2800" b="1" spc="8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if</a:t>
            </a:r>
            <a:r>
              <a:rPr sz="2800" b="1" spc="7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p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&lt;</a:t>
            </a:r>
            <a:r>
              <a:rPr sz="2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</a:p>
          <a:p>
            <a:pPr>
              <a:lnSpc>
                <a:spcPts val="3920"/>
              </a:lnSpc>
              <a:spcBef>
                <a:spcPts val="351"/>
              </a:spcBef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2.</a:t>
            </a:r>
            <a:r>
              <a:rPr sz="2800" b="1" spc="1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202AC"/>
                </a:solidFill>
                <a:latin typeface="Times New Roman"/>
                <a:cs typeface="Times New Roman"/>
              </a:rPr>
              <a:t>then </a:t>
            </a:r>
            <a:r>
              <a:rPr sz="2800" b="1" i="1" dirty="0">
                <a:solidFill>
                  <a:srgbClr val="2202AC"/>
                </a:solidFill>
                <a:latin typeface="Times New Roman"/>
                <a:cs typeface="Times New Roman"/>
              </a:rPr>
              <a:t>q</a:t>
            </a:r>
            <a:r>
              <a:rPr sz="2800" dirty="0">
                <a:solidFill>
                  <a:srgbClr val="2202AC"/>
                </a:solidFill>
                <a:latin typeface="KNILAS+Symbol"/>
                <a:cs typeface="KNILAS+Symbol"/>
              </a:rPr>
              <a:t></a:t>
            </a:r>
            <a:r>
              <a:rPr sz="2800" b="1" dirty="0">
                <a:solidFill>
                  <a:srgbClr val="2202AC"/>
                </a:solidFill>
                <a:latin typeface="Times New Roman"/>
                <a:cs typeface="Times New Roman"/>
              </a:rPr>
              <a:t>Partition</a:t>
            </a:r>
            <a:r>
              <a:rPr sz="2800" b="1" spc="-37" dirty="0">
                <a:solidFill>
                  <a:srgbClr val="2202AC"/>
                </a:solidFill>
                <a:latin typeface="Times New Roman"/>
                <a:cs typeface="Times New Roman"/>
              </a:rPr>
              <a:t> </a:t>
            </a:r>
            <a:r>
              <a:rPr sz="2800" b="1" spc="16" dirty="0">
                <a:solidFill>
                  <a:srgbClr val="2202AC"/>
                </a:solidFill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2202AC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2202AC"/>
                </a:solidFill>
                <a:latin typeface="Times New Roman"/>
                <a:cs typeface="Times New Roman"/>
              </a:rPr>
              <a:t>, </a:t>
            </a:r>
            <a:r>
              <a:rPr sz="2800" b="1" i="1" dirty="0">
                <a:solidFill>
                  <a:srgbClr val="2202AC"/>
                </a:solidFill>
                <a:latin typeface="Times New Roman"/>
                <a:cs typeface="Times New Roman"/>
              </a:rPr>
              <a:t>p</a:t>
            </a:r>
            <a:r>
              <a:rPr sz="2800" b="1" dirty="0">
                <a:solidFill>
                  <a:srgbClr val="2202AC"/>
                </a:solidFill>
                <a:latin typeface="Times New Roman"/>
                <a:cs typeface="Times New Roman"/>
              </a:rPr>
              <a:t>, </a:t>
            </a:r>
            <a:r>
              <a:rPr sz="2800" b="1" i="1" dirty="0">
                <a:solidFill>
                  <a:srgbClr val="2202AC"/>
                </a:solidFill>
                <a:latin typeface="Times New Roman"/>
                <a:cs typeface="Times New Roman"/>
              </a:rPr>
              <a:t>r</a:t>
            </a:r>
            <a:r>
              <a:rPr sz="2800" b="1" dirty="0">
                <a:solidFill>
                  <a:srgbClr val="2202AC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3638" y="3457471"/>
            <a:ext cx="914704" cy="1526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7"/>
              </a:lnSpc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3.</a:t>
            </a:r>
          </a:p>
          <a:p>
            <a:pPr>
              <a:lnSpc>
                <a:spcPts val="3543"/>
              </a:lnSpc>
              <a:spcBef>
                <a:spcPts val="728"/>
              </a:spcBef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4.</a:t>
            </a:r>
          </a:p>
          <a:p>
            <a:pPr>
              <a:lnSpc>
                <a:spcPts val="3543"/>
              </a:lnSpc>
              <a:spcBef>
                <a:spcPts val="728"/>
              </a:spcBef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5.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59265" y="3410990"/>
            <a:ext cx="4208308" cy="1590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24"/>
              </a:lnSpc>
            </a:pP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  <a:r>
              <a:rPr sz="2800" spc="13" dirty="0">
                <a:solidFill>
                  <a:srgbClr val="000000"/>
                </a:solidFill>
                <a:latin typeface="KNILAS+Symbol"/>
                <a:cs typeface="KNILAS+Symbol"/>
              </a:rPr>
              <a:t>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]</a:t>
            </a:r>
          </a:p>
          <a:p>
            <a:pPr marL="14290">
              <a:lnSpc>
                <a:spcPts val="3543"/>
              </a:lnSpc>
              <a:spcBef>
                <a:spcPts val="728"/>
              </a:spcBef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Quicksort</a:t>
            </a:r>
            <a:r>
              <a:rPr sz="2800" b="1" spc="-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-1)</a:t>
            </a:r>
          </a:p>
          <a:p>
            <a:pPr marL="14290">
              <a:lnSpc>
                <a:spcPts val="3543"/>
              </a:lnSpc>
              <a:spcBef>
                <a:spcPts val="795"/>
              </a:spcBef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Quicksort</a:t>
            </a:r>
            <a:r>
              <a:rPr sz="2800" b="1" spc="-4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2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q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+1,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0711" y="5129198"/>
            <a:ext cx="8860073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3"/>
              </a:lnSpc>
            </a:pPr>
            <a:r>
              <a:rPr sz="2800" b="1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CISOIN+ËÎÌå"/>
              </a:rPr>
              <a:t>初始置</a:t>
            </a:r>
            <a:r>
              <a:rPr sz="2800" b="1" spc="-13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=1,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2800" b="1" spc="15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CISOIN+ËÎÌå"/>
              </a:rPr>
              <a:t>，然后调用上述算法</a:t>
            </a:r>
            <a:endParaRPr sz="3200" b="1" spc="15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CISOIN+ËÎÌå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3164797" y="3663918"/>
            <a:ext cx="430924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2633816" y="3148246"/>
            <a:ext cx="378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95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6107" y="270778"/>
            <a:ext cx="8909122" cy="596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31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划分过程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66107" y="1040817"/>
                <a:ext cx="7822243" cy="4867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r>
                  <a:rPr lang="pt-BR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Partition</a:t>
                </a:r>
                <a:r>
                  <a:rPr lang="pt-BR" altLang="zh-CN" sz="2800" b="1" spc="-53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pt-BR" altLang="zh-CN" sz="2800" b="1" spc="15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lang="pt-BR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lang="pt-BR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</a:t>
                </a:r>
                <a:r>
                  <a:rPr lang="pt-BR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p</a:t>
                </a:r>
                <a:r>
                  <a:rPr lang="pt-BR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, </a:t>
                </a:r>
                <a:r>
                  <a:rPr lang="pt-BR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pt-BR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)</a:t>
                </a:r>
              </a:p>
              <a:p>
                <a:r>
                  <a:rPr lang="pt-BR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1.</a:t>
                </a:r>
                <a:r>
                  <a:rPr lang="pt-BR" altLang="zh-CN" sz="2800" b="1" spc="784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pt-BR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x </a:t>
                </a:r>
                <a:r>
                  <a:rPr lang="pt-BR" altLang="zh-CN" sz="2800" dirty="0">
                    <a:solidFill>
                      <a:srgbClr val="000000"/>
                    </a:solidFill>
                    <a:latin typeface="KNILAS+Symbol"/>
                    <a:cs typeface="KNILAS+Symbol"/>
                  </a:rPr>
                  <a:t></a:t>
                </a:r>
                <a:r>
                  <a:rPr lang="pt-BR" altLang="zh-CN" sz="28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pt-BR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lang="pt-BR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[</a:t>
                </a:r>
                <a:r>
                  <a:rPr lang="pt-BR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p</a:t>
                </a:r>
                <a:r>
                  <a:rPr lang="pt-BR" altLang="zh-CN"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]</a:t>
                </a:r>
                <a:endParaRPr lang="en-US" sz="2800" b="1" dirty="0" smtClean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  <a:p>
                <a:r>
                  <a:rPr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2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  <a:r>
                  <a:rPr sz="2800" b="1" spc="784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 </a:t>
                </a:r>
                <a:r>
                  <a:rPr sz="2800" dirty="0">
                    <a:solidFill>
                      <a:srgbClr val="000000"/>
                    </a:solidFill>
                    <a:latin typeface="KNILAS+Symbol"/>
                    <a:cs typeface="KNILAS+Symbol"/>
                  </a:rPr>
                  <a:t></a:t>
                </a:r>
                <a:r>
                  <a:rPr sz="28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p</a:t>
                </a:r>
              </a:p>
              <a:p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3.</a:t>
                </a:r>
                <a:r>
                  <a:rPr sz="2800" b="1" spc="784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j </a:t>
                </a:r>
                <a:r>
                  <a:rPr sz="2800" dirty="0">
                    <a:solidFill>
                      <a:srgbClr val="000000"/>
                    </a:solidFill>
                    <a:latin typeface="KNILAS+Symbol"/>
                    <a:cs typeface="KNILAS+Symbol"/>
                  </a:rPr>
                  <a:t></a:t>
                </a:r>
                <a:r>
                  <a:rPr sz="28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r 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+ 1</a:t>
                </a:r>
              </a:p>
              <a:p>
                <a:pPr>
                  <a:spcBef>
                    <a:spcPts val="279"/>
                  </a:spcBef>
                </a:pP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4.</a:t>
                </a:r>
                <a:r>
                  <a:rPr sz="2800" b="1" spc="78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while true</a:t>
                </a:r>
                <a:r>
                  <a:rPr sz="2800" b="1" spc="-2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do</a:t>
                </a:r>
              </a:p>
              <a:p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5.</a:t>
                </a:r>
                <a:r>
                  <a:rPr sz="2800" b="1" spc="4784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repeat</a:t>
                </a:r>
                <a:r>
                  <a:rPr sz="2800" b="1" spc="807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j </a:t>
                </a:r>
                <a:r>
                  <a:rPr sz="2800" dirty="0">
                    <a:solidFill>
                      <a:srgbClr val="C00000"/>
                    </a:solidFill>
                    <a:latin typeface="KNILAS+Symbol"/>
                    <a:cs typeface="KNILAS+Symbol"/>
                  </a:rPr>
                  <a:t></a:t>
                </a:r>
                <a:r>
                  <a:rPr sz="2800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j </a:t>
                </a:r>
                <a:r>
                  <a:rPr lang="en-US" altLang="zh-CN" sz="2800" b="1" i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-</a:t>
                </a:r>
                <a:r>
                  <a:rPr sz="2800" b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1</a:t>
                </a:r>
                <a:r>
                  <a:rPr lang="en-US" sz="2800" b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 //</a:t>
                </a:r>
                <a:r>
                  <a:rPr lang="zh-CN" altLang="en-US" sz="2800" b="1" spc="15" dirty="0">
                    <a:solidFill>
                      <a:srgbClr val="C00000"/>
                    </a:solidFill>
                    <a:latin typeface="宋体" pitchFamily="2" charset="-122"/>
                    <a:ea typeface="宋体" pitchFamily="2" charset="-122"/>
                    <a:cs typeface="CISOIN+ËÎÌå"/>
                  </a:rPr>
                  <a:t>从后向前找</a:t>
                </a:r>
                <a:endParaRPr sz="2800" b="1" spc="15" dirty="0">
                  <a:solidFill>
                    <a:srgbClr val="C00000"/>
                  </a:solidFill>
                  <a:latin typeface="宋体" pitchFamily="2" charset="-122"/>
                  <a:ea typeface="宋体" pitchFamily="2" charset="-122"/>
                  <a:cs typeface="CISOIN+ËÎÌå"/>
                </a:endParaRPr>
              </a:p>
              <a:p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6.</a:t>
                </a:r>
                <a:r>
                  <a:rPr sz="2800" b="1" spc="4784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800" b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until</a:t>
                </a:r>
                <a:r>
                  <a:rPr lang="en-US" sz="2800" b="1" spc="800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800" b="1" i="1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lang="en-US" sz="2800" b="1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[ </a:t>
                </a:r>
                <a:r>
                  <a:rPr lang="en-US" sz="2800" b="1" i="1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j </a:t>
                </a:r>
                <a:r>
                  <a:rPr lang="en-US" sz="2800" b="1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]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≤</m:t>
                    </m:r>
                  </m:oMath>
                </a14:m>
                <a:r>
                  <a:rPr lang="en-US" sz="2800" dirty="0" smtClean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800" b="1" i="1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lang="en-US" sz="2800" b="1" i="1" spc="800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//</a:t>
                </a:r>
                <a:r>
                  <a:rPr lang="en-US" sz="2800" b="1" spc="-15" dirty="0">
                    <a:solidFill>
                      <a:srgbClr val="C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zh-CN" altLang="en-US" sz="2800" b="1" spc="15" dirty="0">
                    <a:solidFill>
                      <a:srgbClr val="C00000"/>
                    </a:solidFill>
                    <a:latin typeface="宋体" pitchFamily="2" charset="-122"/>
                    <a:ea typeface="宋体" pitchFamily="2" charset="-122"/>
                    <a:cs typeface="CISOIN+ËÎÌå"/>
                  </a:rPr>
                  <a:t>不超过</a:t>
                </a:r>
                <a:r>
                  <a:rPr lang="zh-CN" altLang="en-US" sz="2800" b="1" spc="15" dirty="0" smtClean="0">
                    <a:solidFill>
                      <a:srgbClr val="C00000"/>
                    </a:solidFill>
                    <a:latin typeface="宋体" pitchFamily="2" charset="-122"/>
                    <a:ea typeface="宋体" pitchFamily="2" charset="-122"/>
                    <a:cs typeface="CISOIN+ËÎÌå"/>
                  </a:rPr>
                  <a:t>首元素</a:t>
                </a:r>
                <a:r>
                  <a:rPr lang="zh-CN" altLang="en-US" sz="2800" b="1" spc="15" dirty="0">
                    <a:solidFill>
                      <a:srgbClr val="C00000"/>
                    </a:solidFill>
                    <a:latin typeface="宋体" pitchFamily="2" charset="-122"/>
                    <a:ea typeface="宋体" pitchFamily="2" charset="-122"/>
                    <a:cs typeface="CISOIN+ËÎÌå"/>
                  </a:rPr>
                  <a:t>的</a:t>
                </a:r>
                <a:endParaRPr sz="2800" b="1" spc="15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  <a:cs typeface="CISOIN+ËÎÌå"/>
                </a:endParaRPr>
              </a:p>
              <a:p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7.</a:t>
                </a:r>
                <a:r>
                  <a:rPr sz="2800" b="1" spc="4784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repeat</a:t>
                </a:r>
                <a:r>
                  <a:rPr sz="2800" b="1" spc="80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i </a:t>
                </a:r>
                <a:r>
                  <a:rPr sz="2800" dirty="0">
                    <a:solidFill>
                      <a:srgbClr val="2202AC"/>
                    </a:solidFill>
                    <a:latin typeface="KNILAS+Symbol"/>
                    <a:cs typeface="KNILAS+Symbol"/>
                  </a:rPr>
                  <a:t></a:t>
                </a:r>
                <a:r>
                  <a:rPr sz="2800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i </a:t>
                </a:r>
                <a:r>
                  <a:rPr sz="2800" b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+</a:t>
                </a:r>
                <a:r>
                  <a:rPr sz="2800" b="1" dirty="0" smtClean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1</a:t>
                </a:r>
                <a:r>
                  <a:rPr lang="en-US" sz="2800" b="1" dirty="0" smtClean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  </a:t>
                </a:r>
                <a:r>
                  <a:rPr lang="en-US" altLang="zh-CN" sz="2800" b="1" dirty="0" smtClean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//</a:t>
                </a:r>
                <a:r>
                  <a:rPr lang="zh-CN" altLang="en-US" sz="2800" b="1" dirty="0" smtClean="0">
                    <a:solidFill>
                      <a:srgbClr val="2202AC"/>
                    </a:solidFill>
                    <a:latin typeface="宋体" pitchFamily="2" charset="-122"/>
                    <a:ea typeface="宋体" pitchFamily="2" charset="-122"/>
                    <a:cs typeface="Times New Roman"/>
                  </a:rPr>
                  <a:t>从前向后找</a:t>
                </a:r>
                <a:endParaRPr sz="2800" b="1" dirty="0">
                  <a:solidFill>
                    <a:srgbClr val="2202AC"/>
                  </a:solidFill>
                  <a:latin typeface="宋体" pitchFamily="2" charset="-122"/>
                  <a:ea typeface="宋体" pitchFamily="2" charset="-122"/>
                  <a:cs typeface="Times New Roman"/>
                </a:endParaRPr>
              </a:p>
              <a:p>
                <a:pPr>
                  <a:spcBef>
                    <a:spcPts val="328"/>
                  </a:spcBef>
                </a:pP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8.</a:t>
                </a:r>
                <a:r>
                  <a:rPr sz="2800" b="1" spc="4784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until</a:t>
                </a:r>
                <a:r>
                  <a:rPr sz="2800" b="1" spc="800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sz="2800" b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[ </a:t>
                </a:r>
                <a:r>
                  <a:rPr sz="2800" b="1" i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i </a:t>
                </a:r>
                <a:r>
                  <a:rPr sz="2800" b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]&gt;</a:t>
                </a:r>
                <a:r>
                  <a:rPr sz="2800" b="1" i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2800" b="1" i="1" spc="784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//</a:t>
                </a:r>
                <a:r>
                  <a:rPr sz="2800" b="1" spc="-15" dirty="0">
                    <a:solidFill>
                      <a:srgbClr val="2202A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dirty="0" err="1">
                    <a:solidFill>
                      <a:srgbClr val="2202AC"/>
                    </a:solidFill>
                    <a:latin typeface="宋体" pitchFamily="2" charset="-122"/>
                    <a:ea typeface="宋体" pitchFamily="2" charset="-122"/>
                    <a:cs typeface="Times New Roman"/>
                  </a:rPr>
                  <a:t>比首元素大的</a:t>
                </a:r>
                <a:endParaRPr sz="2800" b="1" dirty="0">
                  <a:solidFill>
                    <a:srgbClr val="2202AC"/>
                  </a:solidFill>
                  <a:latin typeface="宋体" pitchFamily="2" charset="-122"/>
                  <a:ea typeface="宋体" pitchFamily="2" charset="-122"/>
                  <a:cs typeface="Times New Roman"/>
                </a:endParaRPr>
              </a:p>
              <a:p>
                <a:pPr>
                  <a:spcBef>
                    <a:spcPts val="248"/>
                  </a:spcBef>
                </a:pPr>
                <a:r>
                  <a:rPr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9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.</a:t>
                </a:r>
                <a:r>
                  <a:rPr sz="2800" b="1" spc="4784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if</a:t>
                </a:r>
                <a:r>
                  <a:rPr sz="2800" b="1" spc="797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 </a:t>
                </a:r>
                <a:r>
                  <a:rPr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&lt; </a:t>
                </a:r>
                <a:r>
                  <a:rPr sz="2800" b="1" i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US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800" b="1" i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   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then</a:t>
                </a:r>
                <a:r>
                  <a:rPr lang="en-US" altLang="zh-CN" sz="2800" b="1" spc="692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[ 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i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]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KNILAS+Symbol"/>
                    <a:cs typeface="KNILAS+Symbol"/>
                  </a:rPr>
                  <a:t>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[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j 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]</a:t>
                </a:r>
              </a:p>
              <a:p>
                <a:pPr>
                  <a:spcBef>
                    <a:spcPts val="248"/>
                  </a:spcBef>
                </a:pP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10.      else</a:t>
                </a:r>
                <a:r>
                  <a:rPr lang="en-US" altLang="zh-CN" sz="2800" b="1" spc="77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return</a:t>
                </a:r>
                <a:r>
                  <a:rPr lang="en-US" altLang="zh-CN" sz="2800" b="1" spc="15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j</a:t>
                </a:r>
                <a:endParaRPr lang="en-US" altLang="zh-CN" sz="2800" b="1" dirty="0">
                  <a:solidFill>
                    <a:srgbClr val="00000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07" y="1040817"/>
                <a:ext cx="7822243" cy="4867999"/>
              </a:xfrm>
              <a:prstGeom prst="rect">
                <a:avLst/>
              </a:prstGeom>
              <a:blipFill rotWithShape="1">
                <a:blip r:embed="rId2"/>
                <a:stretch>
                  <a:fillRect l="-2726" t="-2256"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7065197" y="6105179"/>
            <a:ext cx="41780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7"/>
              </a:lnSpc>
            </a:pPr>
            <a:r>
              <a:rPr sz="1400" b="1" dirty="0">
                <a:solidFill>
                  <a:srgbClr val="898989"/>
                </a:solidFill>
                <a:latin typeface="Arial"/>
                <a:cs typeface="Arial"/>
              </a:rPr>
              <a:t>4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1154854" y="1721649"/>
            <a:ext cx="378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1097046" y="2123938"/>
            <a:ext cx="378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1076026" y="2546607"/>
            <a:ext cx="378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2727122" y="3465486"/>
            <a:ext cx="378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2727122" y="4281669"/>
            <a:ext cx="378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4489744" y="5212800"/>
            <a:ext cx="430924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79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0414" y="230100"/>
            <a:ext cx="8944304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27"/>
              </a:lnSpc>
            </a:pPr>
            <a:r>
              <a:rPr sz="4000" b="1" spc="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划分实例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7253" y="1343150"/>
            <a:ext cx="6816071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80"/>
              </a:lnSpc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27</a:t>
            </a:r>
            <a:r>
              <a:rPr sz="2400" b="1" spc="66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99</a:t>
            </a:r>
            <a:r>
              <a:rPr sz="2400" b="1" spc="67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  <a:r>
              <a:rPr sz="2400" b="1" spc="65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</a:t>
            </a:r>
            <a:r>
              <a:rPr sz="2400" b="1" spc="6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13</a:t>
            </a:r>
            <a:r>
              <a:rPr sz="2400" b="1" spc="66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64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86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16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2400" b="1" spc="6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10</a:t>
            </a:r>
            <a:r>
              <a:rPr sz="2400" b="1" spc="66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88</a:t>
            </a:r>
            <a:r>
              <a:rPr sz="2400" b="1" spc="67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25</a:t>
            </a:r>
            <a:r>
              <a:rPr sz="2400" b="1" spc="67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90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49498" y="1745738"/>
            <a:ext cx="541883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7"/>
              </a:lnSpc>
            </a:pPr>
            <a:r>
              <a:rPr sz="2400" b="1" i="1" dirty="0">
                <a:solidFill>
                  <a:srgbClr val="31859C"/>
                </a:solidFill>
                <a:latin typeface="Times New Roman"/>
                <a:cs typeface="Times New Roman"/>
              </a:rPr>
              <a:t>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12210" y="1745738"/>
            <a:ext cx="541883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7"/>
              </a:lnSpc>
            </a:pPr>
            <a:r>
              <a:rPr sz="2400" b="1" i="1" dirty="0">
                <a:solidFill>
                  <a:srgbClr val="00B050"/>
                </a:solidFill>
                <a:latin typeface="Times New Roman"/>
                <a:cs typeface="Times New Roman"/>
              </a:rPr>
              <a:t>j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15540" y="2359489"/>
            <a:ext cx="681420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80"/>
              </a:lnSpc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27</a:t>
            </a:r>
            <a:r>
              <a:rPr sz="2400" b="1" spc="64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r>
              <a:rPr sz="2400" b="1" spc="66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  <a:r>
              <a:rPr sz="2400" b="1" spc="6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</a:t>
            </a:r>
            <a:r>
              <a:rPr sz="2400" b="1" spc="65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13</a:t>
            </a:r>
            <a:r>
              <a:rPr sz="2400" b="1" spc="66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64</a:t>
            </a:r>
            <a:r>
              <a:rPr sz="2400" b="1" spc="67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86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16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2400" b="1" spc="67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10</a:t>
            </a:r>
            <a:r>
              <a:rPr sz="2400" b="1" spc="67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88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99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90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785190" y="2762077"/>
            <a:ext cx="541883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7"/>
              </a:lnSpc>
            </a:pPr>
            <a:r>
              <a:rPr sz="2400" b="1" i="1" dirty="0">
                <a:solidFill>
                  <a:srgbClr val="00B050"/>
                </a:solidFill>
                <a:latin typeface="Times New Roman"/>
                <a:cs typeface="Times New Roman"/>
              </a:rPr>
              <a:t>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22626" y="2762077"/>
            <a:ext cx="541883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7"/>
              </a:lnSpc>
            </a:pPr>
            <a:r>
              <a:rPr sz="2400" b="1" i="1" dirty="0">
                <a:solidFill>
                  <a:srgbClr val="00B050"/>
                </a:solidFill>
                <a:latin typeface="Times New Roman"/>
                <a:cs typeface="Times New Roman"/>
              </a:rPr>
              <a:t>j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15541" y="3375629"/>
            <a:ext cx="6813823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84"/>
              </a:lnSpc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27</a:t>
            </a:r>
            <a:r>
              <a:rPr sz="2400" b="1" spc="65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  <a:r>
              <a:rPr sz="2400" b="1" spc="66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</a:t>
            </a:r>
            <a:r>
              <a:rPr sz="2400" b="1" spc="65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13</a:t>
            </a:r>
            <a:r>
              <a:rPr sz="2400" b="1" spc="67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10</a:t>
            </a:r>
            <a:r>
              <a:rPr sz="2400" b="1" spc="67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86</a:t>
            </a:r>
            <a:r>
              <a:rPr sz="2400" b="1" spc="67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16</a:t>
            </a:r>
            <a:r>
              <a:rPr sz="2400" b="1" spc="67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  <a:r>
              <a:rPr sz="2400" b="1" spc="67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64</a:t>
            </a:r>
            <a:r>
              <a:rPr sz="2400" b="1" spc="67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88</a:t>
            </a:r>
            <a:r>
              <a:rPr sz="2400" b="1" spc="67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99</a:t>
            </a:r>
            <a:r>
              <a:rPr sz="2400" b="1" spc="67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90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65197" y="3778585"/>
            <a:ext cx="541883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7"/>
              </a:lnSpc>
            </a:pPr>
            <a:r>
              <a:rPr sz="2400" b="1" i="1" dirty="0">
                <a:solidFill>
                  <a:srgbClr val="00B050"/>
                </a:solidFill>
                <a:latin typeface="Times New Roman"/>
                <a:cs typeface="Times New Roman"/>
              </a:rPr>
              <a:t>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216125" y="3778585"/>
            <a:ext cx="541883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7"/>
              </a:lnSpc>
            </a:pPr>
            <a:r>
              <a:rPr sz="2400" b="1" i="1" dirty="0">
                <a:solidFill>
                  <a:srgbClr val="00B050"/>
                </a:solidFill>
                <a:latin typeface="Times New Roman"/>
                <a:cs typeface="Times New Roman"/>
              </a:rPr>
              <a:t>j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15540" y="4391997"/>
            <a:ext cx="6912347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80"/>
              </a:lnSpc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27</a:t>
            </a:r>
            <a:r>
              <a:rPr sz="2400" b="1" spc="66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  <a:r>
              <a:rPr sz="2400" b="1" spc="6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</a:t>
            </a:r>
            <a:r>
              <a:rPr sz="2400" b="1" spc="65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13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10</a:t>
            </a:r>
            <a:r>
              <a:rPr sz="2400" b="1" spc="134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r>
              <a:rPr sz="2400" b="1" spc="67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16</a:t>
            </a:r>
            <a:r>
              <a:rPr sz="2400" b="1" spc="68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86</a:t>
            </a:r>
            <a:r>
              <a:rPr sz="2400" b="1" spc="676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64</a:t>
            </a:r>
            <a:r>
              <a:rPr sz="2400" b="1" spc="67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88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99</a:t>
            </a:r>
            <a:r>
              <a:rPr sz="2400" b="1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90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99057" y="4794595"/>
            <a:ext cx="1007435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1"/>
              </a:lnSpc>
            </a:pPr>
            <a:r>
              <a:rPr sz="2400" b="1" i="1" dirty="0">
                <a:solidFill>
                  <a:srgbClr val="00B050"/>
                </a:solidFill>
                <a:latin typeface="Times New Roman"/>
                <a:cs typeface="Times New Roman"/>
              </a:rPr>
              <a:t>j</a:t>
            </a:r>
            <a:r>
              <a:rPr sz="2400" b="1" i="1" spc="2397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B050"/>
                </a:solidFill>
                <a:latin typeface="Times New Roman"/>
                <a:cs typeface="Times New Roman"/>
              </a:rPr>
              <a:t>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415541" y="5441694"/>
            <a:ext cx="691258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80"/>
              </a:lnSpc>
            </a:pP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16</a:t>
            </a:r>
            <a:r>
              <a:rPr sz="2400" b="1" u="sng" spc="64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r>
              <a:rPr sz="2400" b="1" u="sng" spc="66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0</a:t>
            </a:r>
            <a:r>
              <a:rPr sz="2400" b="1" u="sng" spc="6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8</a:t>
            </a:r>
            <a:r>
              <a:rPr sz="2400" b="1" u="sng" spc="65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13</a:t>
            </a:r>
            <a:r>
              <a:rPr sz="2400" b="1" u="sng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10</a:t>
            </a:r>
            <a:r>
              <a:rPr sz="2400" b="1" u="sng" spc="134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7 </a:t>
            </a:r>
            <a:r>
              <a:rPr sz="2400" b="1" spc="66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27</a:t>
            </a:r>
            <a:r>
              <a:rPr sz="2400" b="1" spc="2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86</a:t>
            </a:r>
            <a:r>
              <a:rPr sz="2400" b="1" u="sng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64</a:t>
            </a:r>
            <a:r>
              <a:rPr sz="2400" b="1" u="sng" spc="6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88</a:t>
            </a:r>
            <a:r>
              <a:rPr sz="2400" b="1" u="sng" spc="67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99</a:t>
            </a:r>
            <a:r>
              <a:rPr sz="2400" b="1" u="sng" spc="6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0000"/>
                </a:solidFill>
                <a:latin typeface="Arial"/>
                <a:cs typeface="Arial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212854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0414" y="253586"/>
            <a:ext cx="8839200" cy="596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2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时间复杂度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9790" y="1348286"/>
            <a:ext cx="6650337" cy="1179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53"/>
              </a:lnSpc>
            </a:pPr>
            <a:r>
              <a:rPr sz="3200" b="1" spc="23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CISOIN+ËÎÌå"/>
              </a:rPr>
              <a:t>最坏情况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sz="3467" b="1" spc="-3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3467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3467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US" altLang="zh-CN"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467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)+</a:t>
            </a:r>
            <a:r>
              <a:rPr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US" altLang="zh-CN"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467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endParaRPr sz="3467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089182">
              <a:lnSpc>
                <a:spcPts val="3848"/>
              </a:lnSpc>
              <a:spcBef>
                <a:spcPts val="1097"/>
              </a:spcBef>
            </a:pP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(1)</a:t>
            </a:r>
            <a:r>
              <a:rPr sz="3467" b="1" spc="-2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= 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49024" y="2612529"/>
            <a:ext cx="3655236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53"/>
              </a:lnSpc>
            </a:pP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) = </a:t>
            </a:r>
            <a:r>
              <a:rPr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467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US" altLang="zh-CN"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467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)/2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9790" y="3584163"/>
            <a:ext cx="6737188" cy="1179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53"/>
              </a:lnSpc>
            </a:pPr>
            <a:r>
              <a:rPr sz="3200" b="1" spc="23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CISOIN+ËÎÌå"/>
              </a:rPr>
              <a:t>最好划分</a:t>
            </a:r>
            <a:r>
              <a:rPr sz="3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Times New Roman"/>
              </a:rPr>
              <a:t>:</a:t>
            </a:r>
            <a:r>
              <a:rPr sz="3200" b="1" spc="825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Times New Roman"/>
              </a:rPr>
              <a:t> 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3467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sz="3467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3467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467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/2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)+</a:t>
            </a:r>
            <a:r>
              <a:rPr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US" altLang="zh-CN" sz="3467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3467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endParaRPr sz="3467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198908">
              <a:lnSpc>
                <a:spcPts val="3844"/>
              </a:lnSpc>
              <a:spcBef>
                <a:spcPts val="1099"/>
              </a:spcBef>
            </a:pP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(1)</a:t>
            </a:r>
            <a:r>
              <a:rPr sz="3467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3358750" y="4848133"/>
                <a:ext cx="3725832" cy="55143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4257"/>
                  </a:lnSpc>
                </a:pPr>
                <a:r>
                  <a:rPr sz="3467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T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3467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)</a:t>
                </a:r>
                <a:r>
                  <a:rPr sz="3467" b="1" spc="-2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=</a:t>
                </a:r>
                <a:r>
                  <a:rPr sz="3467" b="1" spc="24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467" b="1" i="1" spc="24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Θ</m:t>
                    </m:r>
                  </m:oMath>
                </a14:m>
                <a:r>
                  <a:rPr sz="3467" dirty="0" smtClean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3467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log</a:t>
                </a:r>
                <a:r>
                  <a:rPr sz="3467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)</a:t>
                </a: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750" y="4848133"/>
                <a:ext cx="3725832" cy="551433"/>
              </a:xfrm>
              <a:prstGeom prst="rect">
                <a:avLst/>
              </a:prstGeom>
              <a:blipFill>
                <a:blip r:embed="rId2"/>
                <a:stretch>
                  <a:fillRect l="-7201" t="-26374" b="-40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164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1946" y="252373"/>
            <a:ext cx="8912772" cy="596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2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均衡划分的时间复杂度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1942" y="1402835"/>
            <a:ext cx="8812776" cy="974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2"/>
              </a:lnSpc>
            </a:pPr>
            <a:r>
              <a:rPr sz="3200" b="1" spc="2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CISOIN+ËÎÌå"/>
              </a:rPr>
              <a:t>均衡划分：</a:t>
            </a:r>
            <a:r>
              <a:rPr sz="3200" b="1" spc="2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CISOIN+ËÎÌå"/>
              </a:rPr>
              <a:t>子问题</a:t>
            </a:r>
            <a:r>
              <a:rPr lang="zh-CN" altLang="en-US" sz="3200" b="1" spc="2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CISOIN+ËÎÌå"/>
              </a:rPr>
              <a:t>大小不一样，但</a:t>
            </a:r>
            <a:r>
              <a:rPr sz="3200" b="1" spc="2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CISOIN+ËÎÌå"/>
              </a:rPr>
              <a:t>规模比不变</a:t>
            </a:r>
            <a:endParaRPr sz="3200" b="1" spc="2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CISOIN+ËÎÌå"/>
            </a:endParaRPr>
          </a:p>
          <a:p>
            <a:pPr>
              <a:lnSpc>
                <a:spcPts val="3848"/>
              </a:lnSpc>
              <a:spcBef>
                <a:spcPts val="315"/>
              </a:spcBef>
            </a:pPr>
            <a:r>
              <a:rPr sz="3200" b="1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CISOIN+ËÎÌå"/>
              </a:rPr>
              <a:t>例如为</a:t>
            </a:r>
            <a:r>
              <a:rPr sz="3200" b="1" spc="-3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1:9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37220" y="2622071"/>
            <a:ext cx="6242220" cy="1218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44"/>
              </a:lnSpc>
            </a:pPr>
            <a:r>
              <a:rPr sz="3467" b="1" i="1" spc="1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3467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/10)</a:t>
            </a:r>
            <a:r>
              <a:rPr sz="3467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+</a:t>
            </a:r>
            <a:r>
              <a:rPr sz="3467" b="1" spc="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(9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/10)</a:t>
            </a:r>
            <a:r>
              <a:rPr sz="3467" b="1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+</a:t>
            </a:r>
            <a:r>
              <a:rPr sz="3467" b="1" spc="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  <a:p>
            <a:pPr>
              <a:lnSpc>
                <a:spcPts val="3844"/>
              </a:lnSpc>
              <a:spcBef>
                <a:spcPts val="1867"/>
              </a:spcBef>
            </a:pPr>
            <a:r>
              <a:rPr sz="3467" b="1" i="1" spc="1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(1)</a:t>
            </a:r>
            <a:r>
              <a:rPr sz="3467" b="1" spc="-3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67" b="1" dirty="0">
                <a:solidFill>
                  <a:srgbClr val="000000"/>
                </a:solidFill>
                <a:latin typeface="Times New Roman"/>
                <a:cs typeface="Times New Roman"/>
              </a:rPr>
              <a:t>= 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2741" y="4333489"/>
            <a:ext cx="8541259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2"/>
              </a:lnSpc>
            </a:pPr>
            <a:r>
              <a:rPr sz="3200" b="1" spc="2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CISOIN+ËÎÌå"/>
              </a:rPr>
              <a:t>根据递归树，时间复杂度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1921846" y="4793298"/>
                <a:ext cx="3833528" cy="55143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>
                  <a:lnSpc>
                    <a:spcPts val="4257"/>
                  </a:lnSpc>
                </a:pPr>
                <a:r>
                  <a:rPr sz="3467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T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3467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)</a:t>
                </a:r>
                <a:r>
                  <a:rPr sz="3467" b="1" spc="-2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467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Θ</m:t>
                    </m:r>
                  </m:oMath>
                </a14:m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(</a:t>
                </a:r>
                <a:r>
                  <a:rPr sz="3467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log </a:t>
                </a:r>
                <a:r>
                  <a:rPr sz="3467" b="1" i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n</a:t>
                </a:r>
                <a:r>
                  <a:rPr sz="3467" b="1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)</a:t>
                </a: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846" y="4793298"/>
                <a:ext cx="3833528" cy="551433"/>
              </a:xfrm>
              <a:prstGeom prst="rect">
                <a:avLst/>
              </a:prstGeom>
              <a:blipFill>
                <a:blip r:embed="rId2"/>
                <a:stretch>
                  <a:fillRect l="-6836" t="-26374" b="-40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33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0924" y="261493"/>
            <a:ext cx="884970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27"/>
              </a:lnSpc>
            </a:pPr>
            <a:r>
              <a:rPr sz="4000" b="1" spc="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递归树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0432" y="1072028"/>
            <a:ext cx="835620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3"/>
              </a:lnSpc>
            </a:pPr>
            <a:r>
              <a:rPr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04834" y="1072026"/>
            <a:ext cx="1399777" cy="116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3"/>
              </a:lnSpc>
            </a:pP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</a:p>
          <a:p>
            <a:pPr>
              <a:lnSpc>
                <a:spcPts val="3543"/>
              </a:lnSpc>
              <a:spcBef>
                <a:spcPts val="2056"/>
              </a:spcBef>
            </a:pP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97014" y="2594341"/>
            <a:ext cx="66776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5"/>
              </a:lnSpc>
            </a:pPr>
            <a:r>
              <a:rPr sz="2533" b="1" i="1" u="sng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23000" y="2594341"/>
            <a:ext cx="1775505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9"/>
              </a:lnSpc>
            </a:pPr>
            <a:r>
              <a:rPr sz="2600" b="1" u="sng" spc="277" dirty="0">
                <a:solidFill>
                  <a:srgbClr val="000000"/>
                </a:solidFill>
                <a:latin typeface="Times New Roman"/>
                <a:cs typeface="Times New Roman"/>
              </a:rPr>
              <a:t>9</a:t>
            </a:r>
            <a:r>
              <a:rPr sz="2600" b="1" i="1" u="sng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600" b="1" i="1" u="sng" spc="1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33" b="1" spc="19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b="1" i="1" u="sng" spc="9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33" b="1" u="sng" spc="277" dirty="0">
                <a:solidFill>
                  <a:srgbClr val="000000"/>
                </a:solidFill>
                <a:latin typeface="Times New Roman"/>
                <a:cs typeface="Times New Roman"/>
              </a:rPr>
              <a:t>9</a:t>
            </a:r>
            <a:r>
              <a:rPr sz="2533" b="1" i="1" u="sng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74533" y="2647912"/>
            <a:ext cx="948957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3"/>
              </a:lnSpc>
            </a:pPr>
            <a:r>
              <a:rPr sz="2333" b="1" u="sng" spc="132" dirty="0">
                <a:solidFill>
                  <a:srgbClr val="000000"/>
                </a:solidFill>
                <a:latin typeface="Times New Roman"/>
                <a:cs typeface="Times New Roman"/>
              </a:rPr>
              <a:t>81</a:t>
            </a:r>
            <a:r>
              <a:rPr sz="2333" b="1" i="1" u="sng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  <a:p>
            <a:pPr marL="8656">
              <a:lnSpc>
                <a:spcPts val="2521"/>
              </a:lnSpc>
            </a:pPr>
            <a:r>
              <a:rPr sz="2333" b="1" spc="113" dirty="0">
                <a:solidFill>
                  <a:srgbClr val="000000"/>
                </a:solidFill>
                <a:latin typeface="Times New Roman"/>
                <a:cs typeface="Times New Roman"/>
              </a:rPr>
              <a:t>100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04834" y="2697966"/>
            <a:ext cx="1399777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3"/>
              </a:lnSpc>
            </a:pP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25951" y="2937245"/>
            <a:ext cx="283472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9"/>
              </a:lnSpc>
            </a:pPr>
            <a:r>
              <a:rPr sz="2533" b="1" spc="107" dirty="0">
                <a:solidFill>
                  <a:srgbClr val="000000"/>
                </a:solidFill>
                <a:latin typeface="Times New Roman"/>
                <a:cs typeface="Times New Roman"/>
              </a:rPr>
              <a:t>100</a:t>
            </a:r>
            <a:r>
              <a:rPr sz="2533" b="1" spc="251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600" b="1" spc="109" dirty="0">
                <a:solidFill>
                  <a:srgbClr val="000000"/>
                </a:solidFill>
                <a:latin typeface="Times New Roman"/>
                <a:cs typeface="Times New Roman"/>
              </a:rPr>
              <a:t>100</a:t>
            </a:r>
            <a:r>
              <a:rPr sz="2600" b="1" spc="22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33" b="1" spc="115" dirty="0">
                <a:solidFill>
                  <a:srgbClr val="000000"/>
                </a:solidFill>
                <a:latin typeface="Times New Roman"/>
                <a:cs typeface="Times New Roman"/>
              </a:rPr>
              <a:t>100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09971" y="3305876"/>
            <a:ext cx="722511" cy="1449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75"/>
              </a:lnSpc>
            </a:pP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ts val="3575"/>
              </a:lnSpc>
              <a:spcBef>
                <a:spcPts val="267"/>
              </a:spcBef>
            </a:pP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ts val="3575"/>
              </a:lnSpc>
              <a:spcBef>
                <a:spcPts val="197"/>
              </a:spcBef>
            </a:pP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19552" y="3664513"/>
            <a:ext cx="1885167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3"/>
              </a:lnSpc>
            </a:pPr>
            <a:r>
              <a:rPr sz="2133" b="1" u="sng" spc="155" dirty="0">
                <a:solidFill>
                  <a:srgbClr val="000000"/>
                </a:solidFill>
                <a:latin typeface="Times New Roman"/>
                <a:cs typeface="Times New Roman"/>
              </a:rPr>
              <a:t>81</a:t>
            </a:r>
            <a:r>
              <a:rPr sz="2133" b="1" i="1" u="sng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133" b="1" i="1" u="sng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133" b="1" i="1" spc="1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33" b="1" u="sng" spc="76" dirty="0">
                <a:solidFill>
                  <a:srgbClr val="000000"/>
                </a:solidFill>
                <a:latin typeface="Times New Roman"/>
                <a:cs typeface="Times New Roman"/>
              </a:rPr>
              <a:t>729</a:t>
            </a:r>
            <a:r>
              <a:rPr sz="2333" b="1" i="1" u="sng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52612" y="3955708"/>
            <a:ext cx="99271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61"/>
              </a:lnSpc>
            </a:pPr>
            <a:r>
              <a:rPr sz="2133" b="1" spc="101" dirty="0">
                <a:solidFill>
                  <a:srgbClr val="000000"/>
                </a:solidFill>
                <a:latin typeface="Times New Roman"/>
                <a:cs typeface="Times New Roman"/>
              </a:rPr>
              <a:t>1000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104896" y="3986765"/>
            <a:ext cx="1089007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3"/>
              </a:lnSpc>
            </a:pPr>
            <a:r>
              <a:rPr sz="2333" b="1" spc="116" dirty="0">
                <a:solidFill>
                  <a:srgbClr val="000000"/>
                </a:solidFill>
                <a:latin typeface="Times New Roman"/>
                <a:cs typeface="Times New Roman"/>
              </a:rPr>
              <a:t>1000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47252" y="4093926"/>
            <a:ext cx="813003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7"/>
              </a:lnSpc>
            </a:pP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32391" y="4728683"/>
            <a:ext cx="4217179" cy="1372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3047">
              <a:lnSpc>
                <a:spcPts val="3575"/>
              </a:lnSpc>
            </a:pPr>
            <a:r>
              <a:rPr sz="3200" b="1" dirty="0">
                <a:solidFill>
                  <a:srgbClr val="000000"/>
                </a:solidFill>
                <a:latin typeface="Arial"/>
                <a:cs typeface="Arial"/>
              </a:rPr>
              <a:t>…</a:t>
            </a:r>
            <a:r>
              <a:rPr sz="3200" b="1" spc="87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00"/>
                </a:solidFill>
                <a:latin typeface="Arial"/>
                <a:cs typeface="Arial"/>
              </a:rPr>
              <a:t>…</a:t>
            </a:r>
            <a:r>
              <a:rPr sz="3200" b="1" spc="-1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00"/>
                </a:solidFill>
                <a:latin typeface="Arial"/>
                <a:cs typeface="Arial"/>
              </a:rPr>
              <a:t>…</a:t>
            </a:r>
          </a:p>
          <a:p>
            <a:pPr>
              <a:lnSpc>
                <a:spcPts val="3543"/>
              </a:lnSpc>
              <a:spcBef>
                <a:spcPts val="3627"/>
              </a:spcBef>
            </a:pPr>
            <a:r>
              <a:rPr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06432" y="5035217"/>
            <a:ext cx="140056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7"/>
              </a:lnSpc>
            </a:pP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997677" y="5111576"/>
            <a:ext cx="812800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43"/>
              </a:lnSpc>
            </a:pP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098819" y="1681146"/>
                <a:ext cx="524182" cy="637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819" y="1681146"/>
                <a:ext cx="524182" cy="6378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3623961" y="1671393"/>
                <a:ext cx="538609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961" y="1671393"/>
                <a:ext cx="538609" cy="6938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/>
          <p:nvPr/>
        </p:nvCxnSpPr>
        <p:spPr>
          <a:xfrm>
            <a:off x="3267633" y="1440397"/>
            <a:ext cx="401217" cy="3324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109879" y="2367619"/>
            <a:ext cx="311594" cy="33034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4855778" y="3272916"/>
            <a:ext cx="339199" cy="3434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475756" y="2367619"/>
            <a:ext cx="311594" cy="2802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2553113" y="1369023"/>
            <a:ext cx="462530" cy="4037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1944568" y="2365237"/>
            <a:ext cx="246380" cy="38555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>
            <a:off x="1330563" y="3433014"/>
            <a:ext cx="246380" cy="38555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4398505" y="3305171"/>
            <a:ext cx="246380" cy="38555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3610977" y="2367619"/>
            <a:ext cx="123190" cy="24680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43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4042" y="237245"/>
            <a:ext cx="8909144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31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平均时间复杂度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4042" y="1112557"/>
            <a:ext cx="8909144" cy="971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48"/>
              </a:lnSpc>
            </a:pPr>
            <a:r>
              <a:rPr sz="2800" b="1" spc="20" dirty="0">
                <a:solidFill>
                  <a:srgbClr val="000000"/>
                </a:solidFill>
                <a:latin typeface="CISOIN+ËÎÌå"/>
                <a:cs typeface="CISOIN+ËÎÌå"/>
              </a:rPr>
              <a:t>首元素排好序后处在</a:t>
            </a:r>
            <a:r>
              <a:rPr sz="2800" b="1" spc="-1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1, 2, … ,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  <a:p>
            <a:pPr>
              <a:lnSpc>
                <a:spcPts val="3844"/>
              </a:lnSpc>
              <a:spcBef>
                <a:spcPts val="315"/>
              </a:spcBef>
            </a:pPr>
            <a:r>
              <a:rPr sz="2800" b="1" spc="20" dirty="0">
                <a:solidFill>
                  <a:srgbClr val="000000"/>
                </a:solidFill>
                <a:latin typeface="CISOIN+ËÎÌå"/>
                <a:cs typeface="CISOIN+ËÎÌå"/>
              </a:rPr>
              <a:t>各种情况概率都为</a:t>
            </a:r>
            <a:r>
              <a:rPr sz="2800" b="1" spc="-1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1/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02335" y="2151046"/>
            <a:ext cx="8129220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48"/>
              </a:lnSpc>
            </a:pPr>
            <a:r>
              <a:rPr sz="2800" b="1" spc="24" dirty="0">
                <a:solidFill>
                  <a:srgbClr val="000000"/>
                </a:solidFill>
                <a:latin typeface="CISOIN+ËÎÌå"/>
                <a:cs typeface="CISOIN+ËÎÌå"/>
              </a:rPr>
              <a:t>首元素在位置</a:t>
            </a:r>
            <a:r>
              <a:rPr sz="2800" b="1" spc="-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13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800" b="1" dirty="0">
                <a:solidFill>
                  <a:srgbClr val="000000"/>
                </a:solidFill>
                <a:latin typeface="CISOIN+ËÎÌå"/>
                <a:cs typeface="CISOIN+ËÎÌå"/>
              </a:rPr>
              <a:t>：</a:t>
            </a:r>
            <a:r>
              <a:rPr sz="2800" b="1" spc="43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(0),</a:t>
            </a:r>
            <a:r>
              <a:rPr sz="2800" b="1" spc="-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spc="1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-1)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9637" y="2663750"/>
            <a:ext cx="8143549" cy="21416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">
              <a:lnSpc>
                <a:spcPts val="3844"/>
              </a:lnSpc>
            </a:pPr>
            <a:r>
              <a:rPr sz="2800" b="1" spc="24" dirty="0">
                <a:solidFill>
                  <a:srgbClr val="000000"/>
                </a:solidFill>
                <a:latin typeface="CISOIN+ËÎÌå"/>
                <a:cs typeface="CISOIN+ËÎÌå"/>
              </a:rPr>
              <a:t>首元素在位置</a:t>
            </a:r>
            <a:r>
              <a:rPr sz="2800" b="1" spc="-6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13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800" b="1" dirty="0">
                <a:solidFill>
                  <a:srgbClr val="000000"/>
                </a:solidFill>
                <a:latin typeface="CISOIN+ËÎÌå"/>
                <a:cs typeface="CISOIN+ËÎÌå"/>
              </a:rPr>
              <a:t>：</a:t>
            </a:r>
            <a:r>
              <a:rPr sz="2800" b="1" spc="43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(1),</a:t>
            </a:r>
            <a:r>
              <a:rPr sz="2800" b="1" spc="-2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spc="1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-2)</a:t>
            </a:r>
          </a:p>
          <a:p>
            <a:pPr>
              <a:lnSpc>
                <a:spcPts val="4237"/>
              </a:lnSpc>
            </a:pP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….</a:t>
            </a:r>
          </a:p>
          <a:p>
            <a:pPr>
              <a:lnSpc>
                <a:spcPts val="3844"/>
              </a:lnSpc>
              <a:spcBef>
                <a:spcPts val="315"/>
              </a:spcBef>
            </a:pPr>
            <a:r>
              <a:rPr sz="2800" b="1" spc="20" dirty="0">
                <a:solidFill>
                  <a:srgbClr val="000000"/>
                </a:solidFill>
                <a:latin typeface="CISOIN+ËÎÌå"/>
                <a:cs typeface="CISOIN+ËÎÌå"/>
              </a:rPr>
              <a:t>首元素在位置</a:t>
            </a:r>
            <a:r>
              <a:rPr sz="2800" b="1" spc="-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-1</a:t>
            </a:r>
            <a:r>
              <a:rPr sz="2800" b="1" dirty="0" smtClean="0">
                <a:solidFill>
                  <a:srgbClr val="000000"/>
                </a:solidFill>
                <a:latin typeface="CISOIN+ËÎÌå"/>
                <a:cs typeface="CISOIN+ËÎÌå"/>
              </a:rPr>
              <a:t>：</a:t>
            </a:r>
            <a:r>
              <a:rPr lang="en-US" sz="2800" b="1" dirty="0" smtClean="0">
                <a:solidFill>
                  <a:srgbClr val="000000"/>
                </a:solidFill>
                <a:latin typeface="CISOIN+ËÎÌå"/>
                <a:cs typeface="CISOIN+ËÎÌå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00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-2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),</a:t>
            </a:r>
            <a:r>
              <a:rPr sz="2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(1)</a:t>
            </a:r>
          </a:p>
          <a:p>
            <a:pPr>
              <a:lnSpc>
                <a:spcPts val="3844"/>
              </a:lnSpc>
              <a:spcBef>
                <a:spcPts val="395"/>
              </a:spcBef>
            </a:pPr>
            <a:r>
              <a:rPr sz="2800" b="1" spc="20" dirty="0">
                <a:solidFill>
                  <a:srgbClr val="000000"/>
                </a:solidFill>
                <a:latin typeface="CISOIN+ËÎÌå"/>
                <a:cs typeface="CISOIN+ËÎÌå"/>
              </a:rPr>
              <a:t>首元素在位置</a:t>
            </a:r>
            <a:r>
              <a:rPr sz="2800" b="1" spc="-2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CISOIN+ËÎÌå"/>
                <a:cs typeface="CISOIN+ËÎÌå"/>
              </a:rPr>
              <a:t>：</a:t>
            </a:r>
            <a:r>
              <a:rPr sz="2800" b="1" spc="349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00" b="1" i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b="1" dirty="0" smtClean="0">
                <a:solidFill>
                  <a:srgbClr val="000000"/>
                </a:solidFill>
                <a:latin typeface="Times New Roman"/>
                <a:cs typeface="Times New Roman"/>
              </a:rPr>
              <a:t>-1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),</a:t>
            </a:r>
            <a:r>
              <a:rPr sz="2800" b="1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(0)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4042" y="5001001"/>
            <a:ext cx="8669297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48"/>
              </a:lnSpc>
            </a:pPr>
            <a:r>
              <a:rPr sz="2800" b="1" spc="20" dirty="0">
                <a:solidFill>
                  <a:srgbClr val="000000"/>
                </a:solidFill>
                <a:latin typeface="CISOIN+ËÎÌå"/>
                <a:cs typeface="CISOIN+ËÎÌå"/>
              </a:rPr>
              <a:t>子问题工作量</a:t>
            </a:r>
            <a:r>
              <a:rPr sz="2800" b="1" spc="-4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2[</a:t>
            </a:r>
            <a:r>
              <a:rPr sz="2800" b="1" i="1" spc="13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(1)+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(2)+…+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-1)]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4042" y="5529684"/>
            <a:ext cx="4184775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44"/>
              </a:lnSpc>
            </a:pPr>
            <a:r>
              <a:rPr sz="2800" b="1" spc="20" dirty="0">
                <a:solidFill>
                  <a:srgbClr val="000000"/>
                </a:solidFill>
                <a:latin typeface="CISOIN+ËÎÌå"/>
                <a:cs typeface="CISOIN+ËÎÌå"/>
              </a:rPr>
              <a:t>划分工作量</a:t>
            </a:r>
            <a:r>
              <a:rPr sz="2800" b="1" spc="169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10802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0141" y="231919"/>
            <a:ext cx="8903556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27"/>
              </a:lnSpc>
            </a:pPr>
            <a:r>
              <a:rPr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平均时间复杂度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4212" y="1098816"/>
            <a:ext cx="7127041" cy="397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72"/>
              </a:lnSpc>
            </a:pPr>
            <a:r>
              <a:rPr sz="2800" b="1" spc="2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CISOIN+ËÎÌå"/>
              </a:rPr>
              <a:t>首元素划分后每个位置概率相等</a:t>
            </a:r>
            <a:endParaRPr sz="3467" b="1" spc="20" dirty="0">
              <a:solidFill>
                <a:srgbClr val="000000"/>
              </a:solidFill>
              <a:latin typeface="宋体" pitchFamily="2" charset="-122"/>
              <a:ea typeface="宋体" pitchFamily="2" charset="-122"/>
              <a:cs typeface="CISOIN+ËÎÌå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11408" y="1574134"/>
                <a:ext cx="6459845" cy="1266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1" i="1" smtClean="0">
                                      <a:latin typeface="Cambria Math"/>
                                    </a:rPr>
                                    <m:t>𝒌</m:t>
                                  </m:r>
                                </m:e>
                              </m:d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𝑻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altLang="zh-CN" sz="2800" b="1" i="1">
                          <a:latin typeface="Cambria Math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CN" altLang="en-US" sz="2800" b="1" i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408" y="1574134"/>
                <a:ext cx="6459845" cy="1266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232372" y="2845437"/>
                <a:ext cx="4392549" cy="1266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800" b="1" i="1">
                              <a:latin typeface="Cambria Math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800" b="1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/>
                                </a:rPr>
                                <m:t>𝒌</m:t>
                              </m:r>
                            </m:e>
                          </m:d>
                        </m:e>
                      </m:nary>
                      <m:r>
                        <a:rPr lang="en-US" altLang="zh-CN" sz="2800" b="1" i="1">
                          <a:latin typeface="Cambria Math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CN" altLang="en-US" sz="2800" b="1" i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372" y="2845437"/>
                <a:ext cx="4392549" cy="1266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263471" y="4233369"/>
                <a:ext cx="16857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zh-CN" altLang="en-US" sz="2800" b="1" i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471" y="4233369"/>
                <a:ext cx="168571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174845" y="4978955"/>
                <a:ext cx="30935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/>
                        </a:rPr>
                        <m:t>=</m:t>
                      </m:r>
                      <m:r>
                        <a:rPr lang="zh-CN" altLang="en-US" sz="2800" b="1" i="1" smtClean="0">
                          <a:latin typeface="Cambria Math"/>
                        </a:rPr>
                        <m:t>𝜴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 i="1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altLang="zh-CN" sz="2800" b="1" i="0" smtClean="0">
                                  <a:latin typeface="Cambria Math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800" b="1" i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845" y="4978955"/>
                <a:ext cx="309353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1072204" y="2845437"/>
            <a:ext cx="4889199" cy="136184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22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41434" y="274327"/>
            <a:ext cx="8860221" cy="596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27"/>
              </a:lnSpc>
            </a:pPr>
            <a:r>
              <a:rPr sz="4000" b="1" spc="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748" y="1318526"/>
            <a:ext cx="3564533" cy="474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31"/>
              </a:lnSpc>
            </a:pPr>
            <a:r>
              <a:rPr sz="3200" b="1" spc="13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ISOIN+ËÎÌå"/>
              </a:rPr>
              <a:t>快速排序算法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9748" y="1979896"/>
            <a:ext cx="3069539" cy="495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64"/>
              </a:lnSpc>
            </a:pPr>
            <a:r>
              <a:rPr sz="3200" b="1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3200" b="1" spc="1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spc="13" dirty="0">
                <a:solidFill>
                  <a:srgbClr val="000000"/>
                </a:solidFill>
                <a:latin typeface="CISOIN+ËÎÌå"/>
                <a:cs typeface="CISOIN+ËÎÌå"/>
              </a:rPr>
              <a:t>分治策略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749" y="2662618"/>
            <a:ext cx="7090785" cy="1949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68"/>
              </a:lnSpc>
            </a:pPr>
            <a:r>
              <a:rPr sz="3200" b="1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3200" b="1" spc="1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spc="13" dirty="0">
                <a:solidFill>
                  <a:srgbClr val="000000"/>
                </a:solidFill>
                <a:latin typeface="CISOIN+ËÎÌå"/>
                <a:cs typeface="CISOIN+ËÎÌå"/>
              </a:rPr>
              <a:t>子问题划分是由首元素决定</a:t>
            </a:r>
          </a:p>
          <a:p>
            <a:pPr>
              <a:lnSpc>
                <a:spcPts val="4164"/>
              </a:lnSpc>
              <a:spcBef>
                <a:spcPts val="1291"/>
              </a:spcBef>
            </a:pPr>
            <a:r>
              <a:rPr sz="3200" b="1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3200" b="1" spc="1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CISOIN+ËÎÌå"/>
                <a:cs typeface="CISOIN+ËÎÌå"/>
              </a:rPr>
              <a:t>最坏情况下时间</a:t>
            </a:r>
            <a:r>
              <a:rPr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200" b="1" spc="13" baseline="3000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  <a:p>
            <a:pPr>
              <a:lnSpc>
                <a:spcPts val="4168"/>
              </a:lnSpc>
              <a:spcBef>
                <a:spcPts val="1276"/>
              </a:spcBef>
            </a:pPr>
            <a:r>
              <a:rPr sz="3200" b="1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sz="3200" b="1" spc="135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CISOIN+ËÎÌå"/>
                <a:cs typeface="CISOIN+ËÎÌå"/>
              </a:rPr>
              <a:t>平均情况下时间为</a:t>
            </a:r>
            <a:r>
              <a:rPr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log</a:t>
            </a:r>
            <a:r>
              <a:rPr sz="3200" b="1" i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499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797831" y="2525322"/>
            <a:ext cx="6451600" cy="103276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6600" b="1" spc="-2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幂</a:t>
            </a:r>
            <a:r>
              <a:rPr sz="6600" b="1" spc="-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乘</a:t>
            </a:r>
            <a:r>
              <a:rPr sz="6600" b="1" spc="-2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</a:t>
            </a:r>
            <a:r>
              <a:rPr sz="6600" b="1" spc="-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法及</a:t>
            </a:r>
            <a:r>
              <a:rPr sz="6600" b="1" spc="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应</a:t>
            </a:r>
            <a:r>
              <a:rPr sz="6600" b="1" spc="-2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用</a:t>
            </a:r>
            <a:endParaRPr sz="66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67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435" y="271698"/>
            <a:ext cx="8839199" cy="631797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幂乘问题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1435" y="1227117"/>
            <a:ext cx="8912772" cy="355800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74505">
              <a:lnSpc>
                <a:spcPct val="115100"/>
              </a:lnSpc>
              <a:spcBef>
                <a:spcPts val="133"/>
              </a:spcBef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输入</a:t>
            </a:r>
            <a:r>
              <a:rPr sz="3200" b="1" spc="-13" dirty="0">
                <a:latin typeface="宋体"/>
                <a:cs typeface="宋体"/>
              </a:rPr>
              <a:t>：</a:t>
            </a:r>
            <a:r>
              <a:rPr sz="3200" b="1" spc="-967" dirty="0">
                <a:latin typeface="宋体"/>
                <a:cs typeface="宋体"/>
              </a:rPr>
              <a:t> </a:t>
            </a:r>
            <a:r>
              <a:rPr sz="3200" b="1" i="1" dirty="0" err="1">
                <a:latin typeface="Times New Roman"/>
                <a:cs typeface="Times New Roman"/>
              </a:rPr>
              <a:t>a</a:t>
            </a:r>
            <a:r>
              <a:rPr sz="3200" b="1" dirty="0" err="1">
                <a:latin typeface="宋体"/>
                <a:cs typeface="宋体"/>
              </a:rPr>
              <a:t>为给定实数</a:t>
            </a:r>
            <a:r>
              <a:rPr sz="3200" b="1" spc="7" dirty="0" err="1">
                <a:latin typeface="宋体"/>
                <a:cs typeface="宋体"/>
              </a:rPr>
              <a:t>，</a:t>
            </a:r>
            <a:r>
              <a:rPr sz="3200" b="1" i="1" spc="7" dirty="0" err="1">
                <a:latin typeface="Times New Roman"/>
                <a:cs typeface="Times New Roman"/>
              </a:rPr>
              <a:t>n</a:t>
            </a:r>
            <a:r>
              <a:rPr sz="3200" b="1" dirty="0" err="1">
                <a:latin typeface="宋体"/>
                <a:cs typeface="宋体"/>
              </a:rPr>
              <a:t>为自然数</a:t>
            </a:r>
            <a:r>
              <a:rPr sz="3200" b="1" dirty="0">
                <a:latin typeface="宋体"/>
                <a:cs typeface="宋体"/>
              </a:rPr>
              <a:t> </a:t>
            </a:r>
            <a:endParaRPr lang="en-US" sz="3200" b="1" dirty="0" smtClean="0">
              <a:latin typeface="宋体"/>
              <a:cs typeface="宋体"/>
            </a:endParaRPr>
          </a:p>
          <a:p>
            <a:pPr marR="74505">
              <a:lnSpc>
                <a:spcPct val="115100"/>
              </a:lnSpc>
              <a:spcBef>
                <a:spcPts val="133"/>
              </a:spcBef>
            </a:pPr>
            <a:r>
              <a:rPr sz="3200" b="1" dirty="0" err="1" smtClean="0">
                <a:solidFill>
                  <a:srgbClr val="C00000"/>
                </a:solidFill>
                <a:latin typeface="宋体"/>
                <a:cs typeface="宋体"/>
              </a:rPr>
              <a:t>输出</a:t>
            </a:r>
            <a:r>
              <a:rPr sz="3200" b="1" spc="-13" dirty="0">
                <a:latin typeface="宋体"/>
                <a:cs typeface="宋体"/>
              </a:rPr>
              <a:t>：</a:t>
            </a:r>
            <a:r>
              <a:rPr sz="3200" b="1" spc="-907" dirty="0">
                <a:latin typeface="宋体"/>
                <a:cs typeface="宋体"/>
              </a:rPr>
              <a:t> </a:t>
            </a:r>
            <a:r>
              <a:rPr sz="3200" b="1" i="1" spc="7" dirty="0">
                <a:latin typeface="Times New Roman"/>
                <a:cs typeface="Times New Roman"/>
              </a:rPr>
              <a:t>a</a:t>
            </a:r>
            <a:r>
              <a:rPr sz="3200" b="1" i="1" spc="9" baseline="25525" dirty="0">
                <a:latin typeface="Times New Roman"/>
                <a:cs typeface="Times New Roman"/>
              </a:rPr>
              <a:t>n</a:t>
            </a:r>
            <a:endParaRPr sz="3200" baseline="25525" dirty="0">
              <a:latin typeface="Times New Roman"/>
              <a:cs typeface="Times New Roman"/>
            </a:endParaRPr>
          </a:p>
          <a:p>
            <a:pPr>
              <a:spcBef>
                <a:spcPts val="67"/>
              </a:spcBef>
            </a:pPr>
            <a:endParaRPr sz="4133" dirty="0">
              <a:latin typeface="Times New Roman"/>
              <a:cs typeface="Times New Roman"/>
            </a:endParaRPr>
          </a:p>
          <a:p>
            <a:pPr>
              <a:spcBef>
                <a:spcPts val="7"/>
              </a:spcBef>
              <a:tabLst>
                <a:tab pos="2327427" algn="l"/>
              </a:tabLst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传统算法</a:t>
            </a:r>
            <a:r>
              <a:rPr sz="3200" b="1" dirty="0">
                <a:latin typeface="Times New Roman"/>
                <a:cs typeface="Times New Roman"/>
              </a:rPr>
              <a:t>:	</a:t>
            </a:r>
            <a:r>
              <a:rPr sz="3200" b="1" dirty="0">
                <a:latin typeface="宋体"/>
                <a:cs typeface="宋体"/>
              </a:rPr>
              <a:t>顺序相乘</a:t>
            </a:r>
            <a:endParaRPr sz="3200" dirty="0">
              <a:latin typeface="宋体"/>
              <a:cs typeface="宋体"/>
            </a:endParaRPr>
          </a:p>
          <a:p>
            <a:pPr marL="682395" algn="ctr">
              <a:spcBef>
                <a:spcPts val="1140"/>
              </a:spcBef>
            </a:pPr>
            <a:r>
              <a:rPr sz="3200" b="1" i="1" spc="7" dirty="0">
                <a:latin typeface="Times New Roman"/>
                <a:cs typeface="Times New Roman"/>
              </a:rPr>
              <a:t>a</a:t>
            </a:r>
            <a:r>
              <a:rPr sz="3200" b="1" i="1" spc="9" baseline="25525" dirty="0">
                <a:latin typeface="Times New Roman"/>
                <a:cs typeface="Times New Roman"/>
              </a:rPr>
              <a:t>n </a:t>
            </a:r>
            <a:r>
              <a:rPr sz="3200" b="1" i="1" spc="-7" dirty="0">
                <a:latin typeface="Times New Roman"/>
                <a:cs typeface="Times New Roman"/>
              </a:rPr>
              <a:t>= </a:t>
            </a:r>
            <a:r>
              <a:rPr sz="3200" b="1" dirty="0">
                <a:latin typeface="Times New Roman"/>
                <a:cs typeface="Times New Roman"/>
              </a:rPr>
              <a:t>(…(((</a:t>
            </a:r>
            <a:r>
              <a:rPr sz="3200" b="1" i="1" dirty="0">
                <a:latin typeface="Times New Roman"/>
                <a:cs typeface="Times New Roman"/>
              </a:rPr>
              <a:t>a</a:t>
            </a:r>
            <a:r>
              <a:rPr sz="3200" b="1" i="1" spc="-333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a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r>
              <a:rPr sz="3200" b="1" i="1" spc="-7" dirty="0">
                <a:latin typeface="Times New Roman"/>
                <a:cs typeface="Times New Roman"/>
              </a:rPr>
              <a:t>a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r>
              <a:rPr sz="3200" b="1" i="1" spc="-7" dirty="0">
                <a:latin typeface="Times New Roman"/>
                <a:cs typeface="Times New Roman"/>
              </a:rPr>
              <a:t>a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r>
              <a:rPr sz="3200" b="1" i="1" spc="-7" dirty="0">
                <a:latin typeface="Times New Roman"/>
                <a:cs typeface="Times New Roman"/>
              </a:rPr>
              <a:t>…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r>
              <a:rPr sz="3200" b="1" i="1" spc="-7" dirty="0">
                <a:latin typeface="Times New Roman"/>
                <a:cs typeface="Times New Roman"/>
              </a:rPr>
              <a:t>a</a:t>
            </a:r>
            <a:endParaRPr sz="3200" dirty="0">
              <a:latin typeface="Times New Roman"/>
              <a:cs typeface="Times New Roman"/>
            </a:endParaRPr>
          </a:p>
          <a:p>
            <a:pPr>
              <a:spcBef>
                <a:spcPts val="1020"/>
              </a:spcBef>
            </a:pPr>
            <a:r>
              <a:rPr sz="3200" b="1" dirty="0">
                <a:latin typeface="宋体"/>
                <a:cs typeface="宋体"/>
              </a:rPr>
              <a:t>乘法次数</a:t>
            </a:r>
            <a:r>
              <a:rPr sz="3200" b="1" spc="-13" dirty="0">
                <a:latin typeface="宋体"/>
                <a:cs typeface="宋体"/>
              </a:rPr>
              <a:t>：</a:t>
            </a:r>
            <a:r>
              <a:rPr sz="3200" b="1" spc="-907" dirty="0">
                <a:latin typeface="宋体"/>
                <a:cs typeface="宋体"/>
              </a:rPr>
              <a:t> </a:t>
            </a:r>
            <a:r>
              <a:rPr sz="3200" b="1" i="1" spc="-160" dirty="0">
                <a:latin typeface="Symbol"/>
                <a:cs typeface="Symbol"/>
              </a:rPr>
              <a:t></a:t>
            </a:r>
            <a:r>
              <a:rPr sz="3200" b="1" i="1" spc="-5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591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258" y="267684"/>
            <a:ext cx="8897439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分治算</a:t>
            </a: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r>
              <a:rPr sz="4000" b="1" spc="-7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—</a:t>
            </a: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—</a:t>
            </a: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划分</a:t>
            </a:r>
          </a:p>
        </p:txBody>
      </p:sp>
      <p:sp>
        <p:nvSpPr>
          <p:cNvPr id="3" name="object 3"/>
          <p:cNvSpPr/>
          <p:nvPr/>
        </p:nvSpPr>
        <p:spPr>
          <a:xfrm>
            <a:off x="2687993" y="1663536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219200" h="152400">
                <a:moveTo>
                  <a:pt x="1219200" y="0"/>
                </a:moveTo>
                <a:lnTo>
                  <a:pt x="1218197" y="29640"/>
                </a:lnTo>
                <a:lnTo>
                  <a:pt x="1215469" y="53863"/>
                </a:lnTo>
                <a:lnTo>
                  <a:pt x="1211431" y="70205"/>
                </a:lnTo>
                <a:lnTo>
                  <a:pt x="1206500" y="76200"/>
                </a:lnTo>
                <a:lnTo>
                  <a:pt x="622300" y="76200"/>
                </a:lnTo>
                <a:lnTo>
                  <a:pt x="617368" y="82194"/>
                </a:lnTo>
                <a:lnTo>
                  <a:pt x="613330" y="98536"/>
                </a:lnTo>
                <a:lnTo>
                  <a:pt x="610602" y="122759"/>
                </a:lnTo>
                <a:lnTo>
                  <a:pt x="609600" y="152400"/>
                </a:lnTo>
                <a:lnTo>
                  <a:pt x="608597" y="122759"/>
                </a:lnTo>
                <a:lnTo>
                  <a:pt x="605869" y="98536"/>
                </a:lnTo>
                <a:lnTo>
                  <a:pt x="601831" y="82194"/>
                </a:lnTo>
                <a:lnTo>
                  <a:pt x="596900" y="76200"/>
                </a:lnTo>
                <a:lnTo>
                  <a:pt x="12700" y="76200"/>
                </a:lnTo>
                <a:lnTo>
                  <a:pt x="7768" y="70205"/>
                </a:lnTo>
                <a:lnTo>
                  <a:pt x="3730" y="53863"/>
                </a:lnTo>
                <a:lnTo>
                  <a:pt x="1002" y="29640"/>
                </a:ln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4618393" y="1663536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219200" h="152400">
                <a:moveTo>
                  <a:pt x="1219200" y="0"/>
                </a:moveTo>
                <a:lnTo>
                  <a:pt x="1218197" y="29640"/>
                </a:lnTo>
                <a:lnTo>
                  <a:pt x="1215469" y="53863"/>
                </a:lnTo>
                <a:lnTo>
                  <a:pt x="1211431" y="70205"/>
                </a:lnTo>
                <a:lnTo>
                  <a:pt x="1206500" y="76200"/>
                </a:lnTo>
                <a:lnTo>
                  <a:pt x="622300" y="76200"/>
                </a:lnTo>
                <a:lnTo>
                  <a:pt x="617368" y="82194"/>
                </a:lnTo>
                <a:lnTo>
                  <a:pt x="613330" y="98536"/>
                </a:lnTo>
                <a:lnTo>
                  <a:pt x="610602" y="122759"/>
                </a:lnTo>
                <a:lnTo>
                  <a:pt x="609600" y="152400"/>
                </a:lnTo>
                <a:lnTo>
                  <a:pt x="608597" y="122759"/>
                </a:lnTo>
                <a:lnTo>
                  <a:pt x="605869" y="98536"/>
                </a:lnTo>
                <a:lnTo>
                  <a:pt x="601831" y="82194"/>
                </a:lnTo>
                <a:lnTo>
                  <a:pt x="596900" y="76200"/>
                </a:lnTo>
                <a:lnTo>
                  <a:pt x="12700" y="76200"/>
                </a:lnTo>
                <a:lnTo>
                  <a:pt x="7768" y="70205"/>
                </a:lnTo>
                <a:lnTo>
                  <a:pt x="3730" y="53863"/>
                </a:lnTo>
                <a:lnTo>
                  <a:pt x="1002" y="29640"/>
                </a:ln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687993" y="3338184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219200" h="152400">
                <a:moveTo>
                  <a:pt x="1219200" y="0"/>
                </a:moveTo>
                <a:lnTo>
                  <a:pt x="1218197" y="29640"/>
                </a:lnTo>
                <a:lnTo>
                  <a:pt x="1215469" y="53863"/>
                </a:lnTo>
                <a:lnTo>
                  <a:pt x="1211431" y="70205"/>
                </a:lnTo>
                <a:lnTo>
                  <a:pt x="1206500" y="76200"/>
                </a:lnTo>
                <a:lnTo>
                  <a:pt x="622300" y="76200"/>
                </a:lnTo>
                <a:lnTo>
                  <a:pt x="617368" y="82194"/>
                </a:lnTo>
                <a:lnTo>
                  <a:pt x="613330" y="98536"/>
                </a:lnTo>
                <a:lnTo>
                  <a:pt x="610602" y="122759"/>
                </a:lnTo>
                <a:lnTo>
                  <a:pt x="609600" y="152400"/>
                </a:lnTo>
                <a:lnTo>
                  <a:pt x="608597" y="122759"/>
                </a:lnTo>
                <a:lnTo>
                  <a:pt x="605869" y="98536"/>
                </a:lnTo>
                <a:lnTo>
                  <a:pt x="601831" y="82194"/>
                </a:lnTo>
                <a:lnTo>
                  <a:pt x="596900" y="76200"/>
                </a:lnTo>
                <a:lnTo>
                  <a:pt x="12700" y="76200"/>
                </a:lnTo>
                <a:lnTo>
                  <a:pt x="7768" y="70205"/>
                </a:lnTo>
                <a:lnTo>
                  <a:pt x="3730" y="53863"/>
                </a:lnTo>
                <a:lnTo>
                  <a:pt x="1002" y="29640"/>
                </a:ln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62580" y="1090513"/>
            <a:ext cx="60316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i="1" spc="-13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宋体"/>
                <a:cs typeface="宋体"/>
              </a:rPr>
              <a:t>为偶</a:t>
            </a:r>
            <a:r>
              <a:rPr sz="3200" b="1" spc="-13" dirty="0">
                <a:latin typeface="宋体"/>
                <a:cs typeface="宋体"/>
              </a:rPr>
              <a:t>数</a:t>
            </a:r>
            <a:r>
              <a:rPr sz="3200" b="1" spc="780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a .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.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.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. .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.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a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|</a:t>
            </a:r>
            <a:r>
              <a:rPr sz="32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a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.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.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. .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.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.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a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18393" y="3338184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219200" h="152400">
                <a:moveTo>
                  <a:pt x="1219200" y="0"/>
                </a:moveTo>
                <a:lnTo>
                  <a:pt x="1218197" y="29640"/>
                </a:lnTo>
                <a:lnTo>
                  <a:pt x="1215469" y="53863"/>
                </a:lnTo>
                <a:lnTo>
                  <a:pt x="1211431" y="70205"/>
                </a:lnTo>
                <a:lnTo>
                  <a:pt x="1206500" y="76200"/>
                </a:lnTo>
                <a:lnTo>
                  <a:pt x="622300" y="76200"/>
                </a:lnTo>
                <a:lnTo>
                  <a:pt x="617368" y="82194"/>
                </a:lnTo>
                <a:lnTo>
                  <a:pt x="613330" y="98536"/>
                </a:lnTo>
                <a:lnTo>
                  <a:pt x="610602" y="122759"/>
                </a:lnTo>
                <a:lnTo>
                  <a:pt x="609600" y="152400"/>
                </a:lnTo>
                <a:lnTo>
                  <a:pt x="608597" y="122759"/>
                </a:lnTo>
                <a:lnTo>
                  <a:pt x="605869" y="98536"/>
                </a:lnTo>
                <a:lnTo>
                  <a:pt x="601831" y="82194"/>
                </a:lnTo>
                <a:lnTo>
                  <a:pt x="596900" y="76200"/>
                </a:lnTo>
                <a:lnTo>
                  <a:pt x="12700" y="76200"/>
                </a:lnTo>
                <a:lnTo>
                  <a:pt x="7768" y="70205"/>
                </a:lnTo>
                <a:lnTo>
                  <a:pt x="3730" y="53863"/>
                </a:lnTo>
                <a:lnTo>
                  <a:pt x="1002" y="29640"/>
                </a:ln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930313" y="4766334"/>
            <a:ext cx="861907" cy="59069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50799">
              <a:spcBef>
                <a:spcPts val="127"/>
              </a:spcBef>
            </a:pPr>
            <a:r>
              <a:rPr sz="3733" b="1" i="1" spc="7" dirty="0">
                <a:latin typeface="Times New Roman"/>
                <a:cs typeface="Times New Roman"/>
              </a:rPr>
              <a:t>a</a:t>
            </a:r>
            <a:r>
              <a:rPr sz="3700" b="1" i="1" spc="9" baseline="25525" dirty="0">
                <a:latin typeface="Times New Roman"/>
                <a:cs typeface="Times New Roman"/>
              </a:rPr>
              <a:t>n</a:t>
            </a:r>
            <a:r>
              <a:rPr sz="3700" b="1" i="1" spc="-160" baseline="25525" dirty="0">
                <a:latin typeface="Times New Roman"/>
                <a:cs typeface="Times New Roman"/>
              </a:rPr>
              <a:t> </a:t>
            </a:r>
            <a:r>
              <a:rPr sz="3733" b="1" spc="-7" dirty="0">
                <a:latin typeface="Times New Roman"/>
                <a:cs typeface="Times New Roman"/>
              </a:rPr>
              <a:t>=</a:t>
            </a:r>
            <a:endParaRPr sz="37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8934" y="4279827"/>
            <a:ext cx="3812516" cy="12810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 marR="40639">
              <a:lnSpc>
                <a:spcPct val="109500"/>
              </a:lnSpc>
              <a:spcBef>
                <a:spcPts val="133"/>
              </a:spcBef>
            </a:pPr>
            <a:r>
              <a:rPr sz="5600" b="1" i="1" spc="9" baseline="-16865" dirty="0">
                <a:latin typeface="Times New Roman"/>
                <a:cs typeface="Times New Roman"/>
              </a:rPr>
              <a:t>a</a:t>
            </a:r>
            <a:r>
              <a:rPr sz="2467" b="1" i="1" spc="7" dirty="0">
                <a:latin typeface="Times New Roman"/>
                <a:cs typeface="Times New Roman"/>
              </a:rPr>
              <a:t>n/</a:t>
            </a:r>
            <a:r>
              <a:rPr sz="2467" b="1" spc="7" dirty="0">
                <a:latin typeface="Times New Roman"/>
                <a:cs typeface="Times New Roman"/>
              </a:rPr>
              <a:t>2</a:t>
            </a:r>
            <a:r>
              <a:rPr sz="5600" b="1" spc="9" baseline="-16865" dirty="0">
                <a:latin typeface="Symbol"/>
                <a:cs typeface="Symbol"/>
              </a:rPr>
              <a:t></a:t>
            </a:r>
            <a:r>
              <a:rPr sz="5600" b="1" i="1" spc="9" baseline="-16865" dirty="0">
                <a:latin typeface="Times New Roman"/>
                <a:cs typeface="Times New Roman"/>
              </a:rPr>
              <a:t>a</a:t>
            </a:r>
            <a:r>
              <a:rPr sz="2467" b="1" i="1" spc="7" dirty="0">
                <a:latin typeface="Times New Roman"/>
                <a:cs typeface="Times New Roman"/>
              </a:rPr>
              <a:t>n/</a:t>
            </a:r>
            <a:r>
              <a:rPr sz="2467" b="1" spc="7" dirty="0">
                <a:latin typeface="Times New Roman"/>
                <a:cs typeface="Times New Roman"/>
              </a:rPr>
              <a:t>2  </a:t>
            </a:r>
            <a:endParaRPr lang="en-US" sz="2467" b="1" spc="7" dirty="0" smtClean="0">
              <a:latin typeface="Times New Roman"/>
              <a:cs typeface="Times New Roman"/>
            </a:endParaRPr>
          </a:p>
          <a:p>
            <a:pPr marL="50799" marR="40639">
              <a:lnSpc>
                <a:spcPct val="109500"/>
              </a:lnSpc>
              <a:spcBef>
                <a:spcPts val="133"/>
              </a:spcBef>
            </a:pPr>
            <a:r>
              <a:rPr sz="5600" b="1" i="1" baseline="-16865" dirty="0" smtClean="0">
                <a:latin typeface="Times New Roman"/>
                <a:cs typeface="Times New Roman"/>
              </a:rPr>
              <a:t>a</a:t>
            </a:r>
            <a:r>
              <a:rPr sz="2467" b="1" spc="7" dirty="0" smtClean="0">
                <a:latin typeface="Times New Roman"/>
                <a:cs typeface="Times New Roman"/>
              </a:rPr>
              <a:t>(</a:t>
            </a:r>
            <a:r>
              <a:rPr sz="2467" b="1" i="1" spc="13" dirty="0" smtClean="0">
                <a:latin typeface="Times New Roman"/>
                <a:cs typeface="Times New Roman"/>
              </a:rPr>
              <a:t>n–</a:t>
            </a:r>
            <a:r>
              <a:rPr sz="2467" b="1" spc="7" dirty="0" smtClean="0">
                <a:latin typeface="Times New Roman"/>
                <a:cs typeface="Times New Roman"/>
              </a:rPr>
              <a:t>1</a:t>
            </a:r>
            <a:r>
              <a:rPr sz="2467" b="1" spc="7" dirty="0">
                <a:latin typeface="Times New Roman"/>
                <a:cs typeface="Times New Roman"/>
              </a:rPr>
              <a:t>)</a:t>
            </a:r>
            <a:r>
              <a:rPr sz="2467" b="1" i="1" dirty="0">
                <a:latin typeface="Times New Roman"/>
                <a:cs typeface="Times New Roman"/>
              </a:rPr>
              <a:t>/</a:t>
            </a:r>
            <a:r>
              <a:rPr sz="2467" b="1" spc="13" dirty="0">
                <a:latin typeface="Times New Roman"/>
                <a:cs typeface="Times New Roman"/>
              </a:rPr>
              <a:t>2</a:t>
            </a:r>
            <a:r>
              <a:rPr sz="5600" b="1" spc="9" baseline="-16865" dirty="0">
                <a:latin typeface="Symbol"/>
                <a:cs typeface="Symbol"/>
              </a:rPr>
              <a:t></a:t>
            </a:r>
            <a:r>
              <a:rPr sz="5600" b="1" i="1" baseline="-16865" dirty="0">
                <a:latin typeface="Times New Roman"/>
                <a:cs typeface="Times New Roman"/>
              </a:rPr>
              <a:t>a</a:t>
            </a:r>
            <a:r>
              <a:rPr sz="2467" b="1" spc="7" dirty="0">
                <a:latin typeface="Times New Roman"/>
                <a:cs typeface="Times New Roman"/>
              </a:rPr>
              <a:t>(</a:t>
            </a:r>
            <a:r>
              <a:rPr sz="2467" b="1" i="1" spc="13" dirty="0">
                <a:latin typeface="Times New Roman"/>
                <a:cs typeface="Times New Roman"/>
              </a:rPr>
              <a:t>n–</a:t>
            </a:r>
            <a:r>
              <a:rPr sz="2467" b="1" spc="7" dirty="0">
                <a:latin typeface="Times New Roman"/>
                <a:cs typeface="Times New Roman"/>
              </a:rPr>
              <a:t>1)</a:t>
            </a:r>
            <a:r>
              <a:rPr sz="2467" b="1" i="1" dirty="0">
                <a:latin typeface="Times New Roman"/>
                <a:cs typeface="Times New Roman"/>
              </a:rPr>
              <a:t>/</a:t>
            </a:r>
            <a:r>
              <a:rPr sz="2467" b="1" spc="13" dirty="0">
                <a:latin typeface="Times New Roman"/>
                <a:cs typeface="Times New Roman"/>
              </a:rPr>
              <a:t>2</a:t>
            </a:r>
            <a:r>
              <a:rPr sz="5600" b="1" spc="9" baseline="-16865" dirty="0">
                <a:latin typeface="Symbol"/>
                <a:cs typeface="Symbol"/>
              </a:rPr>
              <a:t></a:t>
            </a:r>
            <a:r>
              <a:rPr sz="5600" b="1" i="1" spc="-9" baseline="-16865" dirty="0">
                <a:latin typeface="Times New Roman"/>
                <a:cs typeface="Times New Roman"/>
              </a:rPr>
              <a:t>a</a:t>
            </a:r>
            <a:endParaRPr sz="5600" baseline="-16865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1271" y="4306062"/>
            <a:ext cx="1618827" cy="1279838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933">
              <a:spcBef>
                <a:spcPts val="1200"/>
              </a:spcBef>
            </a:pP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i="1" spc="-1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为偶数</a:t>
            </a:r>
            <a:endParaRPr sz="3200" dirty="0">
              <a:latin typeface="宋体"/>
              <a:cs typeface="宋体"/>
            </a:endParaRPr>
          </a:p>
          <a:p>
            <a:pPr marL="49105">
              <a:spcBef>
                <a:spcPts val="1060"/>
              </a:spcBef>
            </a:pP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i="1" spc="-13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为奇数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92762" y="4588071"/>
            <a:ext cx="286172" cy="991447"/>
          </a:xfrm>
          <a:custGeom>
            <a:avLst/>
            <a:gdLst/>
            <a:ahLst/>
            <a:cxnLst/>
            <a:rect l="l" t="t" r="r" b="b"/>
            <a:pathLst>
              <a:path w="214630" h="743585">
                <a:moveTo>
                  <a:pt x="214223" y="743458"/>
                </a:moveTo>
                <a:lnTo>
                  <a:pt x="172530" y="737379"/>
                </a:lnTo>
                <a:lnTo>
                  <a:pt x="138483" y="720801"/>
                </a:lnTo>
                <a:lnTo>
                  <a:pt x="115529" y="696212"/>
                </a:lnTo>
                <a:lnTo>
                  <a:pt x="107111" y="666102"/>
                </a:lnTo>
                <a:lnTo>
                  <a:pt x="107111" y="449122"/>
                </a:lnTo>
                <a:lnTo>
                  <a:pt x="98694" y="419004"/>
                </a:lnTo>
                <a:lnTo>
                  <a:pt x="75739" y="394412"/>
                </a:lnTo>
                <a:lnTo>
                  <a:pt x="41692" y="377833"/>
                </a:lnTo>
                <a:lnTo>
                  <a:pt x="0" y="371754"/>
                </a:lnTo>
                <a:lnTo>
                  <a:pt x="41692" y="365675"/>
                </a:lnTo>
                <a:lnTo>
                  <a:pt x="75739" y="349097"/>
                </a:lnTo>
                <a:lnTo>
                  <a:pt x="98694" y="324509"/>
                </a:lnTo>
                <a:lnTo>
                  <a:pt x="107111" y="294398"/>
                </a:lnTo>
                <a:lnTo>
                  <a:pt x="107111" y="77470"/>
                </a:lnTo>
                <a:lnTo>
                  <a:pt x="115529" y="47309"/>
                </a:lnTo>
                <a:lnTo>
                  <a:pt x="138483" y="22685"/>
                </a:lnTo>
                <a:lnTo>
                  <a:pt x="172530" y="6086"/>
                </a:lnTo>
                <a:lnTo>
                  <a:pt x="214223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6"/>
          <p:cNvSpPr txBox="1"/>
          <p:nvPr/>
        </p:nvSpPr>
        <p:spPr>
          <a:xfrm>
            <a:off x="1575133" y="1969067"/>
            <a:ext cx="4606546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98754" algn="ctr">
              <a:tabLst>
                <a:tab pos="3229106" algn="l"/>
              </a:tabLst>
            </a:pPr>
            <a:r>
              <a:rPr sz="2400" b="1" i="1" spc="-13" dirty="0" smtClean="0">
                <a:latin typeface="Times New Roman"/>
                <a:cs typeface="Times New Roman"/>
              </a:rPr>
              <a:t>n</a:t>
            </a:r>
            <a:r>
              <a:rPr sz="2400" b="1" spc="-13" dirty="0" smtClean="0">
                <a:latin typeface="Arial"/>
                <a:cs typeface="Arial"/>
              </a:rPr>
              <a:t>/2</a:t>
            </a:r>
            <a:r>
              <a:rPr sz="2400" b="1" spc="-7" dirty="0">
                <a:latin typeface="宋体"/>
                <a:cs typeface="宋体"/>
              </a:rPr>
              <a:t>个	</a:t>
            </a:r>
            <a:r>
              <a:rPr sz="2400" b="1" i="1" spc="-13" dirty="0">
                <a:latin typeface="Times New Roman"/>
                <a:cs typeface="Times New Roman"/>
              </a:rPr>
              <a:t>n</a:t>
            </a:r>
            <a:r>
              <a:rPr sz="2400" b="1" spc="-13" dirty="0">
                <a:latin typeface="Arial"/>
                <a:cs typeface="Arial"/>
              </a:rPr>
              <a:t>/2</a:t>
            </a:r>
            <a:r>
              <a:rPr sz="2400" b="1" spc="-7" dirty="0" smtClean="0">
                <a:latin typeface="宋体"/>
                <a:cs typeface="宋体"/>
              </a:rPr>
              <a:t>个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1403308" y="3582455"/>
            <a:ext cx="4985006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367332" algn="ctr">
              <a:spcBef>
                <a:spcPts val="7"/>
              </a:spcBef>
              <a:tabLst>
                <a:tab pos="3483100" algn="l"/>
              </a:tabLst>
            </a:pPr>
            <a:r>
              <a:rPr sz="2400" spc="-7" dirty="0" smtClean="0">
                <a:latin typeface="Arial"/>
                <a:cs typeface="Arial"/>
              </a:rPr>
              <a:t>(</a:t>
            </a:r>
            <a:r>
              <a:rPr sz="2400" b="1" i="1" spc="-7" dirty="0">
                <a:latin typeface="Times New Roman"/>
                <a:cs typeface="Times New Roman"/>
              </a:rPr>
              <a:t>n-</a:t>
            </a:r>
            <a:r>
              <a:rPr sz="2400" b="1" spc="-7" dirty="0">
                <a:latin typeface="Times New Roman"/>
                <a:cs typeface="Times New Roman"/>
              </a:rPr>
              <a:t>1</a:t>
            </a:r>
            <a:r>
              <a:rPr sz="2400" b="1" i="1" spc="-7" dirty="0">
                <a:latin typeface="Times New Roman"/>
                <a:cs typeface="Times New Roman"/>
              </a:rPr>
              <a:t>)</a:t>
            </a:r>
            <a:r>
              <a:rPr sz="2400" b="1" spc="-7" dirty="0">
                <a:latin typeface="Arial"/>
                <a:cs typeface="Arial"/>
              </a:rPr>
              <a:t>/2</a:t>
            </a:r>
            <a:r>
              <a:rPr sz="2400" b="1" spc="-7" dirty="0">
                <a:latin typeface="宋体"/>
                <a:cs typeface="宋体"/>
              </a:rPr>
              <a:t>个	</a:t>
            </a:r>
            <a:r>
              <a:rPr sz="2400" spc="-7" dirty="0">
                <a:latin typeface="Arial"/>
                <a:cs typeface="Arial"/>
              </a:rPr>
              <a:t>(</a:t>
            </a:r>
            <a:r>
              <a:rPr sz="2400" b="1" i="1" spc="-7" dirty="0">
                <a:latin typeface="Times New Roman"/>
                <a:cs typeface="Times New Roman"/>
              </a:rPr>
              <a:t>n</a:t>
            </a:r>
            <a:r>
              <a:rPr sz="2400" b="1" spc="-7" dirty="0">
                <a:latin typeface="Times New Roman"/>
                <a:cs typeface="Times New Roman"/>
              </a:rPr>
              <a:t>-1</a:t>
            </a:r>
            <a:r>
              <a:rPr sz="2400" b="1" i="1" spc="-7" dirty="0">
                <a:latin typeface="Times New Roman"/>
                <a:cs typeface="Times New Roman"/>
              </a:rPr>
              <a:t>)</a:t>
            </a:r>
            <a:r>
              <a:rPr sz="2400" b="1" spc="-7" dirty="0">
                <a:latin typeface="Arial"/>
                <a:cs typeface="Arial"/>
              </a:rPr>
              <a:t>/2</a:t>
            </a:r>
            <a:r>
              <a:rPr sz="2400" b="1" spc="-7" dirty="0">
                <a:latin typeface="宋体"/>
                <a:cs typeface="宋体"/>
              </a:rPr>
              <a:t>个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4" name="object 6"/>
          <p:cNvSpPr txBox="1"/>
          <p:nvPr/>
        </p:nvSpPr>
        <p:spPr>
          <a:xfrm>
            <a:off x="827434" y="2761972"/>
            <a:ext cx="60316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100"/>
              </a:spcBef>
            </a:pPr>
            <a:r>
              <a:rPr sz="3200" b="1" i="1" spc="-13" dirty="0" err="1" smtClean="0">
                <a:latin typeface="Times New Roman"/>
                <a:cs typeface="Times New Roman"/>
              </a:rPr>
              <a:t>n</a:t>
            </a:r>
            <a:r>
              <a:rPr sz="3200" b="1" dirty="0" err="1" smtClean="0">
                <a:latin typeface="宋体"/>
                <a:cs typeface="宋体"/>
              </a:rPr>
              <a:t>为奇</a:t>
            </a:r>
            <a:r>
              <a:rPr sz="3200" b="1" spc="-13" dirty="0" err="1" smtClean="0">
                <a:latin typeface="宋体"/>
                <a:cs typeface="宋体"/>
              </a:rPr>
              <a:t>数</a:t>
            </a:r>
            <a:r>
              <a:rPr sz="3200" b="1" spc="780" dirty="0" smtClean="0">
                <a:latin typeface="宋体"/>
                <a:cs typeface="宋体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a</a:t>
            </a:r>
            <a:r>
              <a:rPr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. .</a:t>
            </a:r>
            <a:r>
              <a:rPr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.</a:t>
            </a:r>
            <a:r>
              <a:rPr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.</a:t>
            </a:r>
            <a:r>
              <a:rPr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.</a:t>
            </a:r>
            <a:r>
              <a:rPr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. a</a:t>
            </a:r>
            <a:r>
              <a:rPr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|</a:t>
            </a:r>
            <a:r>
              <a:rPr sz="3200" b="1" spc="-27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a</a:t>
            </a:r>
            <a:r>
              <a:rPr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dirty="0" smtClean="0">
                <a:latin typeface="Times New Roman"/>
                <a:cs typeface="Times New Roman"/>
              </a:rPr>
              <a:t>.</a:t>
            </a:r>
            <a:r>
              <a:rPr sz="3200" b="1" spc="-7" dirty="0" smtClean="0">
                <a:latin typeface="Times New Roman"/>
                <a:cs typeface="Times New Roman"/>
              </a:rPr>
              <a:t> </a:t>
            </a:r>
            <a:r>
              <a:rPr sz="3200" b="1" dirty="0" smtClean="0">
                <a:latin typeface="Times New Roman"/>
                <a:cs typeface="Times New Roman"/>
              </a:rPr>
              <a:t>. .</a:t>
            </a:r>
            <a:r>
              <a:rPr sz="3200" b="1" spc="-7" dirty="0" smtClean="0">
                <a:latin typeface="Times New Roman"/>
                <a:cs typeface="Times New Roman"/>
              </a:rPr>
              <a:t> </a:t>
            </a:r>
            <a:r>
              <a:rPr sz="3200" b="1" dirty="0" smtClean="0">
                <a:latin typeface="Times New Roman"/>
                <a:cs typeface="Times New Roman"/>
              </a:rPr>
              <a:t>.</a:t>
            </a:r>
            <a:r>
              <a:rPr sz="3200" b="1" spc="-7" dirty="0" smtClean="0">
                <a:latin typeface="Times New Roman"/>
                <a:cs typeface="Times New Roman"/>
              </a:rPr>
              <a:t> </a:t>
            </a:r>
            <a:r>
              <a:rPr sz="3200" b="1" dirty="0" smtClean="0">
                <a:latin typeface="Times New Roman"/>
                <a:cs typeface="Times New Roman"/>
              </a:rPr>
              <a:t>.</a:t>
            </a:r>
            <a:r>
              <a:rPr sz="3200" b="1" spc="-7" dirty="0" smtClean="0">
                <a:latin typeface="Times New Roman"/>
                <a:cs typeface="Times New Roman"/>
              </a:rPr>
              <a:t> </a:t>
            </a:r>
            <a:r>
              <a:rPr sz="3200" b="1" dirty="0" smtClean="0">
                <a:latin typeface="Times New Roman"/>
                <a:cs typeface="Times New Roman"/>
              </a:rPr>
              <a:t>.</a:t>
            </a:r>
            <a:r>
              <a:rPr sz="3200" b="1" spc="-7" dirty="0" smtClean="0">
                <a:latin typeface="Times New Roman"/>
                <a:cs typeface="Times New Roman"/>
              </a:rPr>
              <a:t> </a:t>
            </a:r>
            <a:r>
              <a:rPr sz="3200" b="1" i="1" dirty="0" smtClean="0">
                <a:latin typeface="Times New Roman"/>
                <a:cs typeface="Times New Roman"/>
              </a:rPr>
              <a:t>a </a:t>
            </a:r>
            <a:r>
              <a:rPr sz="3200" b="1" i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| </a:t>
            </a:r>
            <a:r>
              <a:rPr sz="3200" b="1" i="1" dirty="0" smtClean="0">
                <a:latin typeface="Times New Roman"/>
                <a:cs typeface="Times New Roman"/>
              </a:rPr>
              <a:t>a</a:t>
            </a:r>
            <a:endParaRPr sz="3200" dirty="0" smtClean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125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  <p:bldP spid="10" grpId="0"/>
      <p:bldP spid="11" grpId="0" animBg="1"/>
      <p:bldP spid="13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73" y="256044"/>
            <a:ext cx="8954814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分治算法分析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8373" y="1176167"/>
            <a:ext cx="8954814" cy="3439382"/>
          </a:xfrm>
          <a:prstGeom prst="rect">
            <a:avLst/>
          </a:prstGeom>
        </p:spPr>
        <p:txBody>
          <a:bodyPr vert="horz" wrap="square" lIns="0" tIns="248073" rIns="0" bIns="0" rtlCol="0">
            <a:spAutoFit/>
          </a:bodyPr>
          <a:lstStyle/>
          <a:p>
            <a:pPr marL="16933">
              <a:spcBef>
                <a:spcPts val="1953"/>
              </a:spcBef>
            </a:pPr>
            <a:r>
              <a:rPr sz="3200" b="1" dirty="0">
                <a:latin typeface="宋体"/>
                <a:cs typeface="宋体"/>
              </a:rPr>
              <a:t>以乘法作为基本运算</a:t>
            </a:r>
            <a:endParaRPr sz="3200" dirty="0">
              <a:latin typeface="宋体"/>
              <a:cs typeface="宋体"/>
            </a:endParaRPr>
          </a:p>
          <a:p>
            <a:pPr marL="359824" indent="-343738">
              <a:spcBef>
                <a:spcPts val="1833"/>
              </a:spcBef>
              <a:buFont typeface="Arial"/>
              <a:buChar char="•"/>
              <a:tabLst>
                <a:tab pos="359824" algn="l"/>
                <a:tab pos="360671" algn="l"/>
              </a:tabLst>
            </a:pPr>
            <a:r>
              <a:rPr sz="2800" b="1" spc="-7" dirty="0">
                <a:latin typeface="宋体"/>
                <a:cs typeface="宋体"/>
              </a:rPr>
              <a:t>子问题规模：不超</a:t>
            </a:r>
            <a:r>
              <a:rPr sz="2800" b="1" dirty="0">
                <a:latin typeface="宋体"/>
                <a:cs typeface="宋体"/>
              </a:rPr>
              <a:t>过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/2</a:t>
            </a:r>
            <a:endParaRPr sz="2800" dirty="0">
              <a:latin typeface="Times New Roman"/>
              <a:cs typeface="Times New Roman"/>
            </a:endParaRPr>
          </a:p>
          <a:p>
            <a:pPr marL="319185" marR="6773" indent="-303098">
              <a:lnSpc>
                <a:spcPct val="120800"/>
              </a:lnSpc>
              <a:buFont typeface="Arial"/>
              <a:buChar char="•"/>
              <a:tabLst>
                <a:tab pos="359824" algn="l"/>
                <a:tab pos="360671" algn="l"/>
              </a:tabLst>
            </a:pPr>
            <a:r>
              <a:rPr sz="2800" dirty="0"/>
              <a:t>	</a:t>
            </a:r>
            <a:r>
              <a:rPr sz="2800" b="1" dirty="0">
                <a:latin typeface="宋体"/>
                <a:cs typeface="宋体"/>
              </a:rPr>
              <a:t>两个规模近</a:t>
            </a:r>
            <a:r>
              <a:rPr sz="2800" b="1" spc="-13" dirty="0">
                <a:latin typeface="宋体"/>
                <a:cs typeface="宋体"/>
              </a:rPr>
              <a:t>似</a:t>
            </a:r>
            <a:r>
              <a:rPr sz="2800" b="1" spc="-913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/2</a:t>
            </a:r>
            <a:r>
              <a:rPr sz="2800" b="1" dirty="0" smtClean="0">
                <a:latin typeface="宋体"/>
                <a:cs typeface="宋体"/>
              </a:rPr>
              <a:t>的子问题完全一样</a:t>
            </a:r>
            <a:r>
              <a:rPr sz="2800" b="1" dirty="0">
                <a:latin typeface="宋体"/>
                <a:cs typeface="宋体"/>
              </a:rPr>
              <a:t>，只要计算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13" dirty="0">
                <a:latin typeface="宋体"/>
                <a:cs typeface="宋体"/>
              </a:rPr>
              <a:t>次</a:t>
            </a:r>
            <a:endParaRPr sz="2800" dirty="0">
              <a:latin typeface="宋体"/>
              <a:cs typeface="宋体"/>
            </a:endParaRPr>
          </a:p>
          <a:p>
            <a:pPr marL="16933" algn="ctr">
              <a:spcBef>
                <a:spcPts val="2560"/>
              </a:spcBef>
            </a:pPr>
            <a:r>
              <a:rPr sz="3467" b="1" i="1" dirty="0">
                <a:latin typeface="Times New Roman"/>
                <a:cs typeface="Times New Roman"/>
              </a:rPr>
              <a:t>W </a:t>
            </a:r>
            <a:r>
              <a:rPr sz="3467" b="1" spc="-7" dirty="0">
                <a:latin typeface="Times New Roman"/>
                <a:cs typeface="Times New Roman"/>
              </a:rPr>
              <a:t>(</a:t>
            </a:r>
            <a:r>
              <a:rPr sz="3467" b="1" i="1" spc="-7" dirty="0">
                <a:latin typeface="Times New Roman"/>
                <a:cs typeface="Times New Roman"/>
              </a:rPr>
              <a:t>n</a:t>
            </a:r>
            <a:r>
              <a:rPr sz="3467" b="1" spc="-7" dirty="0">
                <a:latin typeface="Times New Roman"/>
                <a:cs typeface="Times New Roman"/>
              </a:rPr>
              <a:t>) </a:t>
            </a:r>
            <a:r>
              <a:rPr sz="3467" b="1" dirty="0">
                <a:latin typeface="Times New Roman"/>
                <a:cs typeface="Times New Roman"/>
              </a:rPr>
              <a:t>= </a:t>
            </a:r>
            <a:r>
              <a:rPr sz="3467" b="1" i="1" dirty="0">
                <a:latin typeface="Times New Roman"/>
                <a:cs typeface="Times New Roman"/>
              </a:rPr>
              <a:t>W </a:t>
            </a:r>
            <a:r>
              <a:rPr sz="3467" b="1" dirty="0">
                <a:latin typeface="Times New Roman"/>
                <a:cs typeface="Times New Roman"/>
              </a:rPr>
              <a:t>(</a:t>
            </a:r>
            <a:r>
              <a:rPr sz="3467" b="1" i="1" dirty="0">
                <a:latin typeface="Times New Roman"/>
                <a:cs typeface="Times New Roman"/>
              </a:rPr>
              <a:t>n</a:t>
            </a:r>
            <a:r>
              <a:rPr sz="3467" b="1" dirty="0">
                <a:latin typeface="Times New Roman"/>
                <a:cs typeface="Times New Roman"/>
              </a:rPr>
              <a:t>/2) + </a:t>
            </a:r>
            <a:r>
              <a:rPr sz="3667" b="1" i="1" spc="-147" dirty="0">
                <a:latin typeface="Symbol"/>
                <a:cs typeface="Symbol"/>
              </a:rPr>
              <a:t></a:t>
            </a:r>
            <a:r>
              <a:rPr sz="3667" b="1" i="1" spc="-247" dirty="0">
                <a:latin typeface="Times New Roman"/>
                <a:cs typeface="Times New Roman"/>
              </a:rPr>
              <a:t> </a:t>
            </a:r>
            <a:r>
              <a:rPr sz="3467" b="1" dirty="0">
                <a:latin typeface="Times New Roman"/>
                <a:cs typeface="Times New Roman"/>
              </a:rPr>
              <a:t>(1)</a:t>
            </a:r>
            <a:endParaRPr sz="3467" dirty="0">
              <a:latin typeface="Times New Roman"/>
              <a:cs typeface="Times New Roman"/>
            </a:endParaRPr>
          </a:p>
          <a:p>
            <a:pPr marL="16933" algn="ctr">
              <a:spcBef>
                <a:spcPts val="433"/>
              </a:spcBef>
            </a:pPr>
            <a:r>
              <a:rPr sz="3467" b="1" i="1" dirty="0">
                <a:latin typeface="Times New Roman"/>
                <a:cs typeface="Times New Roman"/>
              </a:rPr>
              <a:t>W </a:t>
            </a:r>
            <a:r>
              <a:rPr sz="3467" b="1" spc="-7" dirty="0">
                <a:latin typeface="Times New Roman"/>
                <a:cs typeface="Times New Roman"/>
              </a:rPr>
              <a:t>(</a:t>
            </a:r>
            <a:r>
              <a:rPr sz="3467" b="1" i="1" spc="-7" dirty="0">
                <a:latin typeface="Times New Roman"/>
                <a:cs typeface="Times New Roman"/>
              </a:rPr>
              <a:t>n</a:t>
            </a:r>
            <a:r>
              <a:rPr sz="3467" b="1" spc="-7" dirty="0">
                <a:latin typeface="Times New Roman"/>
                <a:cs typeface="Times New Roman"/>
              </a:rPr>
              <a:t>) </a:t>
            </a:r>
            <a:r>
              <a:rPr sz="3467" b="1" dirty="0">
                <a:latin typeface="Times New Roman"/>
                <a:cs typeface="Times New Roman"/>
              </a:rPr>
              <a:t>= </a:t>
            </a:r>
            <a:r>
              <a:rPr sz="3667" b="1" i="1" spc="-147" dirty="0">
                <a:latin typeface="Symbol"/>
                <a:cs typeface="Symbol"/>
              </a:rPr>
              <a:t></a:t>
            </a:r>
            <a:r>
              <a:rPr sz="3667" b="1" i="1" spc="-147" dirty="0">
                <a:latin typeface="Times New Roman"/>
                <a:cs typeface="Times New Roman"/>
              </a:rPr>
              <a:t> </a:t>
            </a:r>
            <a:r>
              <a:rPr sz="3467" b="1" dirty="0">
                <a:latin typeface="Times New Roman"/>
                <a:cs typeface="Times New Roman"/>
              </a:rPr>
              <a:t>(log</a:t>
            </a:r>
            <a:r>
              <a:rPr sz="3467" b="1" spc="-13" dirty="0">
                <a:latin typeface="Times New Roman"/>
                <a:cs typeface="Times New Roman"/>
              </a:rPr>
              <a:t> </a:t>
            </a:r>
            <a:r>
              <a:rPr sz="3467" b="1" i="1" dirty="0">
                <a:latin typeface="Times New Roman"/>
                <a:cs typeface="Times New Roman"/>
              </a:rPr>
              <a:t>n</a:t>
            </a:r>
            <a:r>
              <a:rPr sz="3467" b="1" dirty="0">
                <a:latin typeface="Times New Roman"/>
                <a:cs typeface="Times New Roman"/>
              </a:rPr>
              <a:t>)</a:t>
            </a:r>
            <a:endParaRPr sz="3467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5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418" y="263320"/>
            <a:ext cx="8912279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幂乘算法的应用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419" y="1108605"/>
            <a:ext cx="8912278" cy="4567062"/>
          </a:xfrm>
          <a:prstGeom prst="rect">
            <a:avLst/>
          </a:prstGeom>
        </p:spPr>
        <p:txBody>
          <a:bodyPr vert="horz" wrap="square" lIns="0" tIns="169333" rIns="0" bIns="0" rtlCol="0">
            <a:spAutoFit/>
          </a:bodyPr>
          <a:lstStyle/>
          <a:p>
            <a:pPr marL="67732">
              <a:spcBef>
                <a:spcPts val="1333"/>
              </a:spcBef>
            </a:pPr>
            <a:r>
              <a:rPr sz="3200" b="1" dirty="0">
                <a:latin typeface="Times New Roman"/>
                <a:cs typeface="Times New Roman"/>
              </a:rPr>
              <a:t>Fibonacci</a:t>
            </a:r>
            <a:r>
              <a:rPr sz="3200" b="1" spc="-7" dirty="0">
                <a:latin typeface="宋体"/>
                <a:cs typeface="宋体"/>
              </a:rPr>
              <a:t>数列</a:t>
            </a:r>
            <a:r>
              <a:rPr sz="3200" b="1" spc="-13" dirty="0">
                <a:latin typeface="宋体"/>
                <a:cs typeface="宋体"/>
              </a:rPr>
              <a:t>：</a:t>
            </a:r>
            <a:r>
              <a:rPr sz="3200" b="1" spc="-860" dirty="0">
                <a:latin typeface="宋体"/>
                <a:cs typeface="宋体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1,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1, 2,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3, 5,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8, 13, 21,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…</a:t>
            </a:r>
            <a:endParaRPr sz="3200" dirty="0">
              <a:latin typeface="Times New Roman"/>
              <a:cs typeface="Times New Roman"/>
            </a:endParaRPr>
          </a:p>
          <a:p>
            <a:pPr marL="67732">
              <a:spcBef>
                <a:spcPts val="1200"/>
              </a:spcBef>
            </a:pPr>
            <a:r>
              <a:rPr sz="3200" b="1" dirty="0" err="1">
                <a:latin typeface="宋体"/>
                <a:cs typeface="宋体"/>
              </a:rPr>
              <a:t>增</a:t>
            </a:r>
            <a:r>
              <a:rPr sz="3200" b="1" spc="-13" dirty="0" err="1">
                <a:latin typeface="宋体"/>
                <a:cs typeface="宋体"/>
              </a:rPr>
              <a:t>加</a:t>
            </a:r>
            <a:r>
              <a:rPr sz="3200" b="1" dirty="0">
                <a:latin typeface="宋体"/>
                <a:cs typeface="宋体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F</a:t>
            </a:r>
            <a:r>
              <a:rPr sz="3200" b="1" spc="-9" baseline="-20833" dirty="0" smtClean="0">
                <a:latin typeface="Times New Roman"/>
                <a:cs typeface="Times New Roman"/>
              </a:rPr>
              <a:t>0</a:t>
            </a:r>
            <a:r>
              <a:rPr lang="en-US" sz="3200" b="1" spc="-9" baseline="-20833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=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0</a:t>
            </a:r>
            <a:r>
              <a:rPr sz="3200" b="1" spc="-7" dirty="0">
                <a:latin typeface="宋体"/>
                <a:cs typeface="宋体"/>
              </a:rPr>
              <a:t>，</a:t>
            </a:r>
            <a:r>
              <a:rPr sz="3200" b="1" dirty="0">
                <a:latin typeface="宋体"/>
                <a:cs typeface="宋体"/>
              </a:rPr>
              <a:t>得到数列</a:t>
            </a:r>
            <a:endParaRPr sz="3200" dirty="0">
              <a:latin typeface="宋体"/>
              <a:cs typeface="宋体"/>
            </a:endParaRPr>
          </a:p>
          <a:p>
            <a:pPr marR="446182" algn="ctr">
              <a:spcBef>
                <a:spcPts val="1207"/>
              </a:spcBef>
              <a:tabLst>
                <a:tab pos="4167189" algn="l"/>
              </a:tabLst>
            </a:pPr>
            <a:r>
              <a:rPr sz="3200" b="1" spc="-7" dirty="0">
                <a:latin typeface="Times New Roman"/>
                <a:cs typeface="Times New Roman"/>
              </a:rPr>
              <a:t>0</a:t>
            </a:r>
            <a:r>
              <a:rPr sz="3200" b="1" spc="-7" dirty="0">
                <a:latin typeface="宋体"/>
                <a:cs typeface="宋体"/>
              </a:rPr>
              <a:t>,</a:t>
            </a:r>
            <a:r>
              <a:rPr sz="3200" b="1" spc="-7" dirty="0">
                <a:latin typeface="Times New Roman"/>
                <a:cs typeface="Times New Roman"/>
              </a:rPr>
              <a:t>1, </a:t>
            </a:r>
            <a:r>
              <a:rPr sz="3200" b="1" dirty="0">
                <a:latin typeface="Times New Roman"/>
                <a:cs typeface="Times New Roman"/>
              </a:rPr>
              <a:t>1, 2, 3, 5, 8,</a:t>
            </a:r>
            <a:r>
              <a:rPr sz="3200" b="1" spc="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13, 21,	…</a:t>
            </a:r>
            <a:endParaRPr sz="3200" dirty="0">
              <a:latin typeface="Times New Roman"/>
              <a:cs typeface="Times New Roman"/>
            </a:endParaRPr>
          </a:p>
          <a:p>
            <a:pPr marL="67732">
              <a:spcBef>
                <a:spcPts val="1600"/>
              </a:spcBef>
            </a:pPr>
            <a:r>
              <a:rPr sz="3200" b="1" dirty="0" err="1">
                <a:solidFill>
                  <a:srgbClr val="C00000"/>
                </a:solidFill>
                <a:latin typeface="宋体"/>
                <a:cs typeface="宋体"/>
              </a:rPr>
              <a:t>问题</a:t>
            </a:r>
            <a:r>
              <a:rPr sz="3200" b="1" dirty="0" err="1">
                <a:latin typeface="宋体"/>
                <a:cs typeface="宋体"/>
              </a:rPr>
              <a:t>:已</a:t>
            </a:r>
            <a:r>
              <a:rPr sz="3200" b="1" spc="-13" dirty="0" err="1">
                <a:latin typeface="宋体"/>
                <a:cs typeface="宋体"/>
              </a:rPr>
              <a:t>知</a:t>
            </a:r>
            <a:r>
              <a:rPr sz="3200" b="1" spc="-13" dirty="0">
                <a:latin typeface="宋体"/>
                <a:cs typeface="宋体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F</a:t>
            </a:r>
            <a:r>
              <a:rPr sz="3200" b="1" spc="-9" baseline="-20833" dirty="0" smtClean="0">
                <a:latin typeface="Times New Roman"/>
                <a:cs typeface="Times New Roman"/>
              </a:rPr>
              <a:t>0</a:t>
            </a:r>
            <a:r>
              <a:rPr lang="en-US" sz="3200" b="1" spc="-9" baseline="-20833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=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0</a:t>
            </a:r>
            <a:r>
              <a:rPr sz="3200" b="1" spc="-7" dirty="0">
                <a:latin typeface="Times New Roman"/>
                <a:cs typeface="Times New Roman"/>
              </a:rPr>
              <a:t>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F</a:t>
            </a:r>
            <a:r>
              <a:rPr sz="3200" b="1" spc="-9" baseline="-20833" dirty="0" smtClean="0">
                <a:latin typeface="Times New Roman"/>
                <a:cs typeface="Times New Roman"/>
              </a:rPr>
              <a:t>1</a:t>
            </a:r>
            <a:r>
              <a:rPr lang="en-US" sz="3200" b="1" spc="-9" baseline="-20833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=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1</a:t>
            </a:r>
            <a:r>
              <a:rPr sz="3200" b="1" spc="-7" dirty="0">
                <a:latin typeface="Times New Roman"/>
                <a:cs typeface="Times New Roman"/>
              </a:rPr>
              <a:t>,</a:t>
            </a:r>
            <a:r>
              <a:rPr sz="3200" b="1" spc="-27" dirty="0">
                <a:latin typeface="Times New Roman"/>
                <a:cs typeface="Times New Roman"/>
              </a:rPr>
              <a:t> </a:t>
            </a:r>
            <a:r>
              <a:rPr sz="3200" b="1" dirty="0" err="1" smtClean="0">
                <a:latin typeface="宋体"/>
                <a:cs typeface="宋体"/>
              </a:rPr>
              <a:t>给定</a:t>
            </a:r>
            <a:r>
              <a:rPr lang="en-US" sz="3200" b="1" dirty="0" smtClean="0">
                <a:latin typeface="宋体"/>
                <a:cs typeface="宋体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n</a:t>
            </a:r>
            <a:r>
              <a:rPr lang="en-US" sz="3200" b="1" i="1" spc="-7" dirty="0" smtClean="0">
                <a:latin typeface="Times New Roman"/>
                <a:cs typeface="Times New Roman"/>
              </a:rPr>
              <a:t> </a:t>
            </a:r>
            <a:r>
              <a:rPr sz="3200" b="1" spc="-7" dirty="0" smtClean="0">
                <a:latin typeface="Times New Roman"/>
                <a:cs typeface="Times New Roman"/>
              </a:rPr>
              <a:t>,</a:t>
            </a:r>
            <a:r>
              <a:rPr sz="3200" b="1" spc="13" dirty="0" smtClean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计</a:t>
            </a:r>
            <a:r>
              <a:rPr sz="3200" b="1" spc="-13" dirty="0">
                <a:latin typeface="宋体"/>
                <a:cs typeface="宋体"/>
              </a:rPr>
              <a:t>算</a:t>
            </a:r>
            <a:r>
              <a:rPr sz="3200" b="1" spc="-807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F</a:t>
            </a:r>
            <a:r>
              <a:rPr sz="3200" b="1" i="1" spc="-9" baseline="-20833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67732" marR="408083">
              <a:spcBef>
                <a:spcPts val="2540"/>
              </a:spcBef>
            </a:pPr>
            <a:r>
              <a:rPr sz="3200" b="1" dirty="0">
                <a:latin typeface="宋体"/>
                <a:cs typeface="宋体"/>
              </a:rPr>
              <a:t>通常算法：</a:t>
            </a:r>
            <a:r>
              <a:rPr sz="3200" b="1" spc="-13" dirty="0">
                <a:latin typeface="宋体"/>
                <a:cs typeface="宋体"/>
              </a:rPr>
              <a:t>从</a:t>
            </a:r>
            <a:r>
              <a:rPr sz="3200" b="1" spc="-840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F</a:t>
            </a:r>
            <a:r>
              <a:rPr sz="3200" b="1" spc="-9" baseline="-20833" dirty="0">
                <a:latin typeface="Times New Roman"/>
                <a:cs typeface="Times New Roman"/>
              </a:rPr>
              <a:t>0</a:t>
            </a:r>
            <a:r>
              <a:rPr sz="3200" b="1" spc="-7" dirty="0">
                <a:latin typeface="Times New Roman"/>
                <a:cs typeface="Times New Roman"/>
              </a:rPr>
              <a:t>,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F</a:t>
            </a:r>
            <a:r>
              <a:rPr sz="3200" b="1" spc="-9" baseline="-20833" dirty="0">
                <a:latin typeface="Times New Roman"/>
                <a:cs typeface="Times New Roman"/>
              </a:rPr>
              <a:t>1</a:t>
            </a:r>
            <a:r>
              <a:rPr sz="3200" b="1" spc="-7" dirty="0">
                <a:latin typeface="Times New Roman"/>
                <a:cs typeface="Times New Roman"/>
              </a:rPr>
              <a:t>,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…</a:t>
            </a:r>
            <a:r>
              <a:rPr sz="3200" b="1" spc="-27" dirty="0">
                <a:latin typeface="Times New Roman"/>
                <a:cs typeface="Times New Roman"/>
              </a:rPr>
              <a:t> </a:t>
            </a:r>
            <a:r>
              <a:rPr sz="3200" b="1" dirty="0" err="1">
                <a:latin typeface="宋体"/>
                <a:cs typeface="宋体"/>
              </a:rPr>
              <a:t>开始，</a:t>
            </a:r>
            <a:r>
              <a:rPr sz="3200" b="1" dirty="0" err="1" smtClean="0">
                <a:latin typeface="宋体"/>
                <a:cs typeface="宋体"/>
              </a:rPr>
              <a:t>根据递推公式</a:t>
            </a:r>
            <a:endParaRPr sz="3200" dirty="0">
              <a:latin typeface="宋体"/>
              <a:cs typeface="宋体"/>
            </a:endParaRPr>
          </a:p>
          <a:p>
            <a:pPr marR="358978" algn="ctr">
              <a:spcBef>
                <a:spcPts val="600"/>
              </a:spcBef>
            </a:pPr>
            <a:r>
              <a:rPr sz="3200" b="1" i="1" spc="-9" dirty="0">
                <a:latin typeface="Times New Roman"/>
                <a:cs typeface="Times New Roman"/>
              </a:rPr>
              <a:t>F</a:t>
            </a:r>
            <a:r>
              <a:rPr sz="3200" b="1" i="1" spc="-7" baseline="-25000" dirty="0">
                <a:latin typeface="Times New Roman"/>
                <a:cs typeface="Times New Roman"/>
              </a:rPr>
              <a:t>n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i="1" baseline="13888" dirty="0">
                <a:latin typeface="Times New Roman"/>
                <a:cs typeface="Times New Roman"/>
              </a:rPr>
              <a:t>= </a:t>
            </a:r>
            <a:r>
              <a:rPr sz="3200" b="1" i="1" spc="-9" dirty="0">
                <a:latin typeface="Times New Roman"/>
                <a:cs typeface="Times New Roman"/>
              </a:rPr>
              <a:t>F</a:t>
            </a:r>
            <a:r>
              <a:rPr sz="3200" b="1" i="1" spc="-7" baseline="-25000" dirty="0">
                <a:latin typeface="Times New Roman"/>
                <a:cs typeface="Times New Roman"/>
              </a:rPr>
              <a:t>n-</a:t>
            </a:r>
            <a:r>
              <a:rPr sz="3200" b="1" spc="-7" baseline="-25000" dirty="0">
                <a:latin typeface="Times New Roman"/>
                <a:cs typeface="Times New Roman"/>
              </a:rPr>
              <a:t>1</a:t>
            </a:r>
            <a:r>
              <a:rPr sz="3200" b="1" i="1" spc="-9" baseline="13888" dirty="0">
                <a:latin typeface="Times New Roman"/>
                <a:cs typeface="Times New Roman"/>
              </a:rPr>
              <a:t>+</a:t>
            </a:r>
            <a:r>
              <a:rPr sz="3200" b="1" i="1" spc="-29" baseline="13888" dirty="0">
                <a:latin typeface="Times New Roman"/>
                <a:cs typeface="Times New Roman"/>
              </a:rPr>
              <a:t> </a:t>
            </a:r>
            <a:r>
              <a:rPr sz="3200" b="1" i="1" spc="-9" dirty="0">
                <a:latin typeface="Times New Roman"/>
                <a:cs typeface="Times New Roman"/>
              </a:rPr>
              <a:t>F</a:t>
            </a:r>
            <a:r>
              <a:rPr sz="3200" b="1" i="1" spc="-7" baseline="-25000" dirty="0">
                <a:latin typeface="Times New Roman"/>
                <a:cs typeface="Times New Roman"/>
              </a:rPr>
              <a:t>n</a:t>
            </a:r>
            <a:r>
              <a:rPr sz="3200" b="1" spc="-7" baseline="-25000" dirty="0">
                <a:latin typeface="Times New Roman"/>
                <a:cs typeface="Times New Roman"/>
              </a:rPr>
              <a:t>-2</a:t>
            </a:r>
            <a:endParaRPr sz="3200" baseline="-25000" dirty="0">
              <a:latin typeface="Times New Roman"/>
              <a:cs typeface="Times New Roman"/>
            </a:endParaRPr>
          </a:p>
          <a:p>
            <a:pPr marL="67732">
              <a:spcBef>
                <a:spcPts val="333"/>
              </a:spcBef>
            </a:pPr>
            <a:r>
              <a:rPr sz="3200" b="1" spc="-7" dirty="0">
                <a:latin typeface="宋体"/>
                <a:cs typeface="宋体"/>
              </a:rPr>
              <a:t>陆续相加可</a:t>
            </a:r>
            <a:r>
              <a:rPr sz="3200" b="1" spc="-13" dirty="0">
                <a:latin typeface="宋体"/>
                <a:cs typeface="宋体"/>
              </a:rPr>
              <a:t>得</a:t>
            </a:r>
            <a:r>
              <a:rPr sz="3200" b="1" spc="-813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F</a:t>
            </a:r>
            <a:r>
              <a:rPr sz="3200" b="1" i="1" spc="-9" baseline="-20833" dirty="0">
                <a:latin typeface="Times New Roman"/>
                <a:cs typeface="Times New Roman"/>
              </a:rPr>
              <a:t>n</a:t>
            </a:r>
            <a:r>
              <a:rPr sz="3200" b="1" i="1" spc="-20" baseline="-20833" dirty="0">
                <a:latin typeface="Times New Roman"/>
                <a:cs typeface="Times New Roman"/>
              </a:rPr>
              <a:t> </a:t>
            </a:r>
            <a:r>
              <a:rPr sz="3200" b="1" spc="-13" dirty="0">
                <a:latin typeface="宋体"/>
                <a:cs typeface="宋体"/>
              </a:rPr>
              <a:t>，</a:t>
            </a:r>
            <a:r>
              <a:rPr sz="3200" b="1" spc="-1080" dirty="0">
                <a:latin typeface="宋体"/>
                <a:cs typeface="宋体"/>
              </a:rPr>
              <a:t> </a:t>
            </a:r>
            <a:r>
              <a:rPr sz="3200" b="1" spc="7" dirty="0">
                <a:latin typeface="宋体"/>
                <a:cs typeface="宋体"/>
              </a:rPr>
              <a:t>时</a:t>
            </a:r>
            <a:r>
              <a:rPr sz="3200" b="1" spc="-7" dirty="0">
                <a:latin typeface="宋体"/>
                <a:cs typeface="宋体"/>
              </a:rPr>
              <a:t>间复杂度</a:t>
            </a:r>
            <a:r>
              <a:rPr sz="3200" b="1" spc="13" dirty="0">
                <a:latin typeface="宋体"/>
                <a:cs typeface="宋体"/>
              </a:rPr>
              <a:t>为</a:t>
            </a:r>
            <a:r>
              <a:rPr sz="3200" b="1" i="1" spc="-100" dirty="0">
                <a:latin typeface="Symbol"/>
                <a:cs typeface="Symbol"/>
              </a:rPr>
              <a:t></a:t>
            </a:r>
            <a:r>
              <a:rPr sz="3200" b="1" i="1" spc="-33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486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597" y="1323487"/>
            <a:ext cx="8922100" cy="5834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866" marR="23706">
              <a:lnSpc>
                <a:spcPct val="114599"/>
              </a:lnSpc>
              <a:spcBef>
                <a:spcPts val="133"/>
              </a:spcBef>
              <a:tabLst>
                <a:tab pos="1254727" algn="l"/>
              </a:tabLst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定理</a:t>
            </a:r>
            <a:r>
              <a:rPr sz="3200" b="1" dirty="0">
                <a:solidFill>
                  <a:srgbClr val="C00000"/>
                </a:solidFill>
                <a:latin typeface="Times New Roman"/>
                <a:cs typeface="Times New Roman"/>
              </a:rPr>
              <a:t>1	</a:t>
            </a:r>
            <a:r>
              <a:rPr sz="3200" b="1" spc="-13" dirty="0">
                <a:latin typeface="宋体"/>
                <a:cs typeface="宋体"/>
              </a:rPr>
              <a:t>设</a:t>
            </a:r>
            <a:r>
              <a:rPr sz="3200" b="1" spc="-840" dirty="0">
                <a:latin typeface="宋体"/>
                <a:cs typeface="宋体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{</a:t>
            </a:r>
            <a:r>
              <a:rPr sz="3200" b="1" i="1" spc="-7" dirty="0">
                <a:latin typeface="Times New Roman"/>
                <a:cs typeface="Times New Roman"/>
              </a:rPr>
              <a:t>F</a:t>
            </a:r>
            <a:r>
              <a:rPr sz="3200" b="1" i="1" spc="-9" baseline="-24305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}</a:t>
            </a:r>
            <a:r>
              <a:rPr sz="3200" b="1" spc="-13" dirty="0">
                <a:latin typeface="宋体"/>
                <a:cs typeface="宋体"/>
              </a:rPr>
              <a:t>为</a:t>
            </a:r>
            <a:r>
              <a:rPr sz="3200" b="1" spc="-827" dirty="0">
                <a:latin typeface="宋体"/>
                <a:cs typeface="宋体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Fibonacci</a:t>
            </a:r>
            <a:r>
              <a:rPr sz="3200" b="1" spc="-53" dirty="0">
                <a:latin typeface="Times New Roman"/>
                <a:cs typeface="Times New Roman"/>
              </a:rPr>
              <a:t> </a:t>
            </a:r>
            <a:r>
              <a:rPr sz="3200" b="1" dirty="0" err="1" smtClean="0">
                <a:latin typeface="宋体"/>
                <a:cs typeface="宋体"/>
              </a:rPr>
              <a:t>数构成的数列</a:t>
            </a:r>
            <a:r>
              <a:rPr sz="3200" b="1" dirty="0" err="1">
                <a:latin typeface="宋体"/>
                <a:cs typeface="宋体"/>
              </a:rPr>
              <a:t>，那么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21597" y="262253"/>
            <a:ext cx="8922100" cy="631797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Fibonacci</a:t>
            </a:r>
            <a:r>
              <a:rPr sz="4000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数的性质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21597" y="3923198"/>
            <a:ext cx="213863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归纳证明</a:t>
            </a:r>
            <a:endParaRPr sz="3200" dirty="0">
              <a:solidFill>
                <a:srgbClr val="C00000"/>
              </a:solidFill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4200" y="4671976"/>
            <a:ext cx="159766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3200" b="1" dirty="0" err="1" smtClean="0">
                <a:latin typeface="宋体"/>
                <a:cs typeface="宋体"/>
              </a:rPr>
              <a:t>右边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5288" y="4796092"/>
            <a:ext cx="2810933" cy="4274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lnSpc>
                <a:spcPts val="3173"/>
              </a:lnSpc>
              <a:tabLst>
                <a:tab pos="1117572" algn="l"/>
                <a:tab pos="2662700" algn="l"/>
              </a:tabLst>
            </a:pPr>
            <a:r>
              <a:rPr sz="3200" b="1" i="1" spc="-7" dirty="0" smtClean="0">
                <a:latin typeface="Times New Roman"/>
                <a:cs typeface="Times New Roman"/>
              </a:rPr>
              <a:t>n</a:t>
            </a:r>
            <a:r>
              <a:rPr sz="3200" b="1" spc="-7" dirty="0" smtClean="0">
                <a:latin typeface="Times New Roman"/>
                <a:cs typeface="Times New Roman"/>
              </a:rPr>
              <a:t>=1</a:t>
            </a:r>
            <a:r>
              <a:rPr sz="3200" b="1" spc="-7" dirty="0">
                <a:latin typeface="Times New Roman"/>
                <a:cs typeface="Times New Roman"/>
              </a:rPr>
              <a:t>,	</a:t>
            </a:r>
            <a:r>
              <a:rPr sz="3200" b="1" dirty="0" err="1" smtClean="0">
                <a:latin typeface="宋体"/>
                <a:cs typeface="宋体"/>
              </a:rPr>
              <a:t>左</a:t>
            </a:r>
            <a:r>
              <a:rPr sz="3200" b="1" spc="-7" dirty="0" err="1" smtClean="0">
                <a:latin typeface="宋体"/>
                <a:cs typeface="宋体"/>
              </a:rPr>
              <a:t>边</a:t>
            </a:r>
            <a:r>
              <a:rPr sz="3200" b="1" dirty="0">
                <a:latin typeface="Times New Roman"/>
                <a:cs typeface="Times New Roman"/>
              </a:rPr>
              <a:t>	</a:t>
            </a:r>
            <a:endParaRPr sz="2200" baseline="65656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68201" y="2299816"/>
            <a:ext cx="4064000" cy="1344507"/>
          </a:xfrm>
          <a:custGeom>
            <a:avLst/>
            <a:gdLst/>
            <a:ahLst/>
            <a:cxnLst/>
            <a:rect l="l" t="t" r="r" b="b"/>
            <a:pathLst>
              <a:path w="3048000" h="1008380">
                <a:moveTo>
                  <a:pt x="0" y="168020"/>
                </a:moveTo>
                <a:lnTo>
                  <a:pt x="5998" y="123339"/>
                </a:lnTo>
                <a:lnTo>
                  <a:pt x="22930" y="83199"/>
                </a:lnTo>
                <a:lnTo>
                  <a:pt x="49196" y="49196"/>
                </a:lnTo>
                <a:lnTo>
                  <a:pt x="83199" y="22930"/>
                </a:lnTo>
                <a:lnTo>
                  <a:pt x="123339" y="5998"/>
                </a:lnTo>
                <a:lnTo>
                  <a:pt x="168020" y="0"/>
                </a:lnTo>
                <a:lnTo>
                  <a:pt x="2879979" y="0"/>
                </a:lnTo>
                <a:lnTo>
                  <a:pt x="2924660" y="5998"/>
                </a:lnTo>
                <a:lnTo>
                  <a:pt x="2964800" y="22930"/>
                </a:lnTo>
                <a:lnTo>
                  <a:pt x="2998803" y="49196"/>
                </a:lnTo>
                <a:lnTo>
                  <a:pt x="3025069" y="83199"/>
                </a:lnTo>
                <a:lnTo>
                  <a:pt x="3042001" y="123339"/>
                </a:lnTo>
                <a:lnTo>
                  <a:pt x="3048000" y="168020"/>
                </a:lnTo>
                <a:lnTo>
                  <a:pt x="3048000" y="840105"/>
                </a:lnTo>
                <a:lnTo>
                  <a:pt x="3042001" y="884741"/>
                </a:lnTo>
                <a:lnTo>
                  <a:pt x="3025069" y="924870"/>
                </a:lnTo>
                <a:lnTo>
                  <a:pt x="2998803" y="958881"/>
                </a:lnTo>
                <a:lnTo>
                  <a:pt x="2964800" y="985167"/>
                </a:lnTo>
                <a:lnTo>
                  <a:pt x="2924660" y="1002118"/>
                </a:lnTo>
                <a:lnTo>
                  <a:pt x="2879979" y="1008126"/>
                </a:lnTo>
                <a:lnTo>
                  <a:pt x="168020" y="1008126"/>
                </a:lnTo>
                <a:lnTo>
                  <a:pt x="123339" y="1002118"/>
                </a:lnTo>
                <a:lnTo>
                  <a:pt x="83199" y="985167"/>
                </a:lnTo>
                <a:lnTo>
                  <a:pt x="49196" y="958881"/>
                </a:lnTo>
                <a:lnTo>
                  <a:pt x="22930" y="924870"/>
                </a:lnTo>
                <a:lnTo>
                  <a:pt x="5998" y="884741"/>
                </a:lnTo>
                <a:lnTo>
                  <a:pt x="0" y="840105"/>
                </a:lnTo>
                <a:lnTo>
                  <a:pt x="0" y="16802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2902758" y="4514464"/>
                <a:ext cx="4043992" cy="908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i="1" smtClean="0">
                                <a:latin typeface="Cambria Math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320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sz="32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32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0" i="1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1     1</m:t>
                            </m:r>
                          </m:e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1     0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758" y="4514464"/>
                <a:ext cx="4043992" cy="908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3096161" y="2453477"/>
                <a:ext cx="4036040" cy="9231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320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32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i="1">
                                  <a:latin typeface="Cambria Math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1     1</m:t>
                                  </m:r>
                                </m:e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1     0</m:t>
                                  </m:r>
                                </m:e>
                              </m:eqArr>
                            </m:e>
                          </m:d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161" y="2453477"/>
                <a:ext cx="4036040" cy="9231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31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412267" y="998559"/>
            <a:ext cx="8910409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spc="-7" dirty="0">
                <a:latin typeface="宋体"/>
                <a:cs typeface="宋体"/>
              </a:rPr>
              <a:t>假设对任意正整</a:t>
            </a:r>
            <a:r>
              <a:rPr sz="3200" b="1" spc="-13" dirty="0">
                <a:latin typeface="宋体"/>
                <a:cs typeface="宋体"/>
              </a:rPr>
              <a:t>数</a:t>
            </a:r>
            <a:r>
              <a:rPr sz="3200" b="1" spc="-60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宋体"/>
                <a:cs typeface="宋体"/>
              </a:rPr>
              <a:t>，命题成立，即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59681" y="244677"/>
            <a:ext cx="8862995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Fibonacc</a:t>
            </a:r>
            <a:r>
              <a:rPr sz="4000" b="1" spc="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数的性</a:t>
            </a:r>
            <a:r>
              <a:rPr sz="4000" b="1" spc="-2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质</a:t>
            </a:r>
            <a:r>
              <a:rPr sz="40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4000" b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续</a:t>
            </a:r>
            <a:r>
              <a:rPr sz="4000" b="1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29014" y="3235173"/>
            <a:ext cx="200321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  <a:tabLst>
                <a:tab pos="1205623" algn="l"/>
              </a:tabLst>
            </a:pPr>
            <a:r>
              <a:rPr sz="3200" b="1" dirty="0">
                <a:latin typeface="宋体"/>
                <a:cs typeface="宋体"/>
              </a:rPr>
              <a:t>那</a:t>
            </a:r>
            <a:r>
              <a:rPr sz="3200" b="1" spc="-13" dirty="0">
                <a:latin typeface="宋体"/>
                <a:cs typeface="宋体"/>
              </a:rPr>
              <a:t>么	</a:t>
            </a:r>
            <a:endParaRPr sz="1733" dirty="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098892" y="2983628"/>
            <a:ext cx="812800" cy="6096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533400" y="0"/>
                </a:lnTo>
                <a:lnTo>
                  <a:pt x="563040" y="5994"/>
                </a:lnTo>
                <a:lnTo>
                  <a:pt x="587263" y="22336"/>
                </a:lnTo>
                <a:lnTo>
                  <a:pt x="603605" y="46559"/>
                </a:lnTo>
                <a:lnTo>
                  <a:pt x="609600" y="76200"/>
                </a:lnTo>
                <a:lnTo>
                  <a:pt x="609600" y="381000"/>
                </a:lnTo>
                <a:lnTo>
                  <a:pt x="603605" y="410640"/>
                </a:lnTo>
                <a:lnTo>
                  <a:pt x="587263" y="434863"/>
                </a:lnTo>
                <a:lnTo>
                  <a:pt x="563040" y="451205"/>
                </a:lnTo>
                <a:lnTo>
                  <a:pt x="5334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/>
          <p:nvPr/>
        </p:nvSpPr>
        <p:spPr>
          <a:xfrm>
            <a:off x="4922739" y="2981284"/>
            <a:ext cx="1524000" cy="6096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66800" y="0"/>
                </a:lnTo>
                <a:lnTo>
                  <a:pt x="1096440" y="5994"/>
                </a:lnTo>
                <a:lnTo>
                  <a:pt x="1120663" y="22336"/>
                </a:lnTo>
                <a:lnTo>
                  <a:pt x="1137005" y="46559"/>
                </a:lnTo>
                <a:lnTo>
                  <a:pt x="1143000" y="76200"/>
                </a:lnTo>
                <a:lnTo>
                  <a:pt x="1143000" y="381000"/>
                </a:lnTo>
                <a:lnTo>
                  <a:pt x="1137005" y="410640"/>
                </a:lnTo>
                <a:lnTo>
                  <a:pt x="1120663" y="434863"/>
                </a:lnTo>
                <a:lnTo>
                  <a:pt x="1096440" y="451205"/>
                </a:lnTo>
                <a:lnTo>
                  <a:pt x="10668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/>
          <p:nvPr/>
        </p:nvSpPr>
        <p:spPr>
          <a:xfrm>
            <a:off x="7443396" y="2982298"/>
            <a:ext cx="406400" cy="1117600"/>
          </a:xfrm>
          <a:custGeom>
            <a:avLst/>
            <a:gdLst/>
            <a:ahLst/>
            <a:cxnLst/>
            <a:rect l="l" t="t" r="r" b="b"/>
            <a:pathLst>
              <a:path w="304800" h="838200">
                <a:moveTo>
                  <a:pt x="0" y="50800"/>
                </a:moveTo>
                <a:lnTo>
                  <a:pt x="3990" y="31021"/>
                </a:lnTo>
                <a:lnTo>
                  <a:pt x="14874" y="14874"/>
                </a:lnTo>
                <a:lnTo>
                  <a:pt x="31021" y="3990"/>
                </a:lnTo>
                <a:lnTo>
                  <a:pt x="50800" y="0"/>
                </a:lnTo>
                <a:lnTo>
                  <a:pt x="254000" y="0"/>
                </a:lnTo>
                <a:lnTo>
                  <a:pt x="273778" y="3990"/>
                </a:lnTo>
                <a:lnTo>
                  <a:pt x="289925" y="14874"/>
                </a:lnTo>
                <a:lnTo>
                  <a:pt x="300809" y="31021"/>
                </a:lnTo>
                <a:lnTo>
                  <a:pt x="304800" y="50800"/>
                </a:lnTo>
                <a:lnTo>
                  <a:pt x="304800" y="787400"/>
                </a:lnTo>
                <a:lnTo>
                  <a:pt x="300809" y="807178"/>
                </a:lnTo>
                <a:lnTo>
                  <a:pt x="289925" y="823325"/>
                </a:lnTo>
                <a:lnTo>
                  <a:pt x="273778" y="834209"/>
                </a:lnTo>
                <a:lnTo>
                  <a:pt x="254000" y="838200"/>
                </a:lnTo>
                <a:lnTo>
                  <a:pt x="50800" y="838200"/>
                </a:lnTo>
                <a:lnTo>
                  <a:pt x="31021" y="834209"/>
                </a:lnTo>
                <a:lnTo>
                  <a:pt x="14874" y="823325"/>
                </a:lnTo>
                <a:lnTo>
                  <a:pt x="3990" y="807178"/>
                </a:lnTo>
                <a:lnTo>
                  <a:pt x="0" y="787400"/>
                </a:lnTo>
                <a:lnTo>
                  <a:pt x="0" y="508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9" name="object 39"/>
          <p:cNvSpPr/>
          <p:nvPr/>
        </p:nvSpPr>
        <p:spPr>
          <a:xfrm>
            <a:off x="354695" y="5044226"/>
            <a:ext cx="1431713" cy="1090507"/>
          </a:xfrm>
          <a:custGeom>
            <a:avLst/>
            <a:gdLst/>
            <a:ahLst/>
            <a:cxnLst/>
            <a:rect l="l" t="t" r="r" b="b"/>
            <a:pathLst>
              <a:path w="1073785" h="817879">
                <a:moveTo>
                  <a:pt x="964691" y="205054"/>
                </a:moveTo>
                <a:lnTo>
                  <a:pt x="102133" y="205054"/>
                </a:lnTo>
                <a:lnTo>
                  <a:pt x="62375" y="213079"/>
                </a:lnTo>
                <a:lnTo>
                  <a:pt x="29911" y="234965"/>
                </a:lnTo>
                <a:lnTo>
                  <a:pt x="8025" y="267429"/>
                </a:lnTo>
                <a:lnTo>
                  <a:pt x="0" y="307187"/>
                </a:lnTo>
                <a:lnTo>
                  <a:pt x="0" y="715695"/>
                </a:lnTo>
                <a:lnTo>
                  <a:pt x="8025" y="755453"/>
                </a:lnTo>
                <a:lnTo>
                  <a:pt x="29911" y="787917"/>
                </a:lnTo>
                <a:lnTo>
                  <a:pt x="62375" y="809803"/>
                </a:lnTo>
                <a:lnTo>
                  <a:pt x="102133" y="817829"/>
                </a:lnTo>
                <a:lnTo>
                  <a:pt x="964691" y="817829"/>
                </a:lnTo>
                <a:lnTo>
                  <a:pt x="1004435" y="809803"/>
                </a:lnTo>
                <a:lnTo>
                  <a:pt x="1036891" y="787917"/>
                </a:lnTo>
                <a:lnTo>
                  <a:pt x="1058775" y="755453"/>
                </a:lnTo>
                <a:lnTo>
                  <a:pt x="1066800" y="715695"/>
                </a:lnTo>
                <a:lnTo>
                  <a:pt x="1066800" y="307187"/>
                </a:lnTo>
                <a:lnTo>
                  <a:pt x="1058775" y="267429"/>
                </a:lnTo>
                <a:lnTo>
                  <a:pt x="1036891" y="234965"/>
                </a:lnTo>
                <a:lnTo>
                  <a:pt x="1004435" y="213079"/>
                </a:lnTo>
                <a:lnTo>
                  <a:pt x="964691" y="205054"/>
                </a:lnTo>
                <a:close/>
              </a:path>
              <a:path w="1073785" h="817879">
                <a:moveTo>
                  <a:pt x="1073404" y="0"/>
                </a:moveTo>
                <a:lnTo>
                  <a:pt x="622300" y="205054"/>
                </a:lnTo>
                <a:lnTo>
                  <a:pt x="889000" y="205054"/>
                </a:lnTo>
                <a:lnTo>
                  <a:pt x="107340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354695" y="5044226"/>
            <a:ext cx="1431713" cy="1090507"/>
          </a:xfrm>
          <a:custGeom>
            <a:avLst/>
            <a:gdLst/>
            <a:ahLst/>
            <a:cxnLst/>
            <a:rect l="l" t="t" r="r" b="b"/>
            <a:pathLst>
              <a:path w="1073785" h="817879">
                <a:moveTo>
                  <a:pt x="0" y="307187"/>
                </a:moveTo>
                <a:lnTo>
                  <a:pt x="8025" y="267429"/>
                </a:lnTo>
                <a:lnTo>
                  <a:pt x="29911" y="234965"/>
                </a:lnTo>
                <a:lnTo>
                  <a:pt x="62375" y="213079"/>
                </a:lnTo>
                <a:lnTo>
                  <a:pt x="102133" y="205054"/>
                </a:lnTo>
                <a:lnTo>
                  <a:pt x="622300" y="205054"/>
                </a:lnTo>
                <a:lnTo>
                  <a:pt x="1073404" y="0"/>
                </a:lnTo>
                <a:lnTo>
                  <a:pt x="889000" y="205054"/>
                </a:lnTo>
                <a:lnTo>
                  <a:pt x="964691" y="205054"/>
                </a:lnTo>
                <a:lnTo>
                  <a:pt x="1004435" y="213079"/>
                </a:lnTo>
                <a:lnTo>
                  <a:pt x="1036891" y="234965"/>
                </a:lnTo>
                <a:lnTo>
                  <a:pt x="1058775" y="267429"/>
                </a:lnTo>
                <a:lnTo>
                  <a:pt x="1066800" y="307187"/>
                </a:lnTo>
                <a:lnTo>
                  <a:pt x="1066800" y="460375"/>
                </a:lnTo>
                <a:lnTo>
                  <a:pt x="1066800" y="715695"/>
                </a:lnTo>
                <a:lnTo>
                  <a:pt x="1058775" y="755453"/>
                </a:lnTo>
                <a:lnTo>
                  <a:pt x="1036891" y="787917"/>
                </a:lnTo>
                <a:lnTo>
                  <a:pt x="1004435" y="809803"/>
                </a:lnTo>
                <a:lnTo>
                  <a:pt x="964691" y="817829"/>
                </a:lnTo>
                <a:lnTo>
                  <a:pt x="889000" y="817829"/>
                </a:lnTo>
                <a:lnTo>
                  <a:pt x="622300" y="817829"/>
                </a:lnTo>
                <a:lnTo>
                  <a:pt x="102133" y="817829"/>
                </a:lnTo>
                <a:lnTo>
                  <a:pt x="62375" y="809803"/>
                </a:lnTo>
                <a:lnTo>
                  <a:pt x="29911" y="787917"/>
                </a:lnTo>
                <a:lnTo>
                  <a:pt x="8025" y="755453"/>
                </a:lnTo>
                <a:lnTo>
                  <a:pt x="0" y="715695"/>
                </a:lnTo>
                <a:lnTo>
                  <a:pt x="0" y="460375"/>
                </a:lnTo>
                <a:lnTo>
                  <a:pt x="0" y="307187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 txBox="1"/>
          <p:nvPr/>
        </p:nvSpPr>
        <p:spPr>
          <a:xfrm>
            <a:off x="588915" y="5355359"/>
            <a:ext cx="955040" cy="741228"/>
          </a:xfrm>
          <a:prstGeom prst="rect">
            <a:avLst/>
          </a:prstGeom>
        </p:spPr>
        <p:txBody>
          <a:bodyPr vert="horz" wrap="square" lIns="0" tIns="48259" rIns="0" bIns="0" rtlCol="0">
            <a:spAutoFit/>
          </a:bodyPr>
          <a:lstStyle/>
          <a:p>
            <a:pPr marL="16933" marR="6773">
              <a:lnSpc>
                <a:spcPts val="2693"/>
              </a:lnSpc>
              <a:spcBef>
                <a:spcPts val="379"/>
              </a:spcBef>
            </a:pPr>
            <a:r>
              <a:rPr sz="2400" b="1" dirty="0">
                <a:solidFill>
                  <a:srgbClr val="FFFFFF"/>
                </a:solidFill>
                <a:latin typeface="宋体"/>
                <a:cs typeface="宋体"/>
              </a:rPr>
              <a:t>归纳假 设代入</a:t>
            </a:r>
            <a:endParaRPr sz="240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2570688" y="1731249"/>
                <a:ext cx="4036040" cy="9231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320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32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i="1">
                                  <a:latin typeface="Cambria Math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1     1</m:t>
                                  </m:r>
                                </m:e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1     0</m:t>
                                  </m:r>
                                </m:e>
                              </m:eqArr>
                            </m:e>
                          </m:d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688" y="1731249"/>
                <a:ext cx="4036040" cy="9231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1873571" y="3069864"/>
                <a:ext cx="6098336" cy="9108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320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32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+1           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3200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1     1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1     0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571" y="3069864"/>
                <a:ext cx="6098336" cy="9108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/>
              <p:cNvSpPr txBox="1"/>
              <p:nvPr/>
            </p:nvSpPr>
            <p:spPr>
              <a:xfrm>
                <a:off x="1477760" y="4400590"/>
                <a:ext cx="5128968" cy="9173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 smtClean="0">
                            <a:solidFill>
                              <a:srgbClr val="2202AC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3200" i="1">
                                <a:solidFill>
                                  <a:srgbClr val="2202AC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3200" i="1">
                                    <a:solidFill>
                                      <a:srgbClr val="2202AC"/>
                                    </a:solidFill>
                                    <a:latin typeface="Cambria Math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3200" i="1">
                                    <a:solidFill>
                                      <a:srgbClr val="2202AC"/>
                                    </a:solidFill>
                                    <a:latin typeface="Cambria Math" panose="02040503050406030204" pitchFamily="18" charset="0"/>
                                  </a:rPr>
                                  <m:t>1     1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solidFill>
                                      <a:srgbClr val="2202AC"/>
                                    </a:solidFill>
                                    <a:latin typeface="Cambria Math" panose="02040503050406030204" pitchFamily="18" charset="0"/>
                                  </a:rPr>
                                  <m:t>1     0</m:t>
                                </m:r>
                              </m:e>
                            </m:eqArr>
                          </m:e>
                        </m:d>
                      </m:e>
                      <m:sup>
                        <m:r>
                          <a:rPr lang="en-US" altLang="zh-CN" sz="3200" i="1">
                            <a:solidFill>
                              <a:srgbClr val="2202A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3200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i="1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1     1</m:t>
                            </m:r>
                          </m:e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1     0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200" dirty="0" smtClean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3200" i="1">
                                <a:latin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3200" i="1">
                                    <a:latin typeface="Cambria Math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1     1</m:t>
                                </m:r>
                              </m:e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1     0</m:t>
                                </m:r>
                              </m:e>
                            </m:eqAr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760" y="4400590"/>
                <a:ext cx="5128968" cy="917367"/>
              </a:xfrm>
              <a:prstGeom prst="rect">
                <a:avLst/>
              </a:prstGeom>
              <a:blipFill>
                <a:blip r:embed="rId4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48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5" grpId="0"/>
      <p:bldP spid="4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1434" y="237983"/>
            <a:ext cx="8923283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93684" y="3030080"/>
            <a:ext cx="306832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88610" indent="-372524">
              <a:spcBef>
                <a:spcPts val="133"/>
              </a:spcBef>
              <a:buFont typeface="Arial"/>
              <a:buChar char="•"/>
              <a:tabLst>
                <a:tab pos="388610" algn="l"/>
                <a:tab pos="389457" algn="l"/>
              </a:tabLst>
            </a:pPr>
            <a:r>
              <a:rPr sz="3200" b="1" dirty="0">
                <a:latin typeface="宋体"/>
                <a:cs typeface="宋体"/>
              </a:rPr>
              <a:t>矩阵乘法次数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62006" y="3056067"/>
            <a:ext cx="2851573" cy="50868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3200" b="1" i="1" dirty="0">
                <a:latin typeface="Times New Roman"/>
                <a:cs typeface="Times New Roman"/>
              </a:rPr>
              <a:t>T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)= </a:t>
            </a:r>
            <a:r>
              <a:rPr sz="3200" b="1" i="1" spc="-147" dirty="0">
                <a:latin typeface="Symbol"/>
                <a:cs typeface="Symbol"/>
              </a:rPr>
              <a:t></a:t>
            </a:r>
            <a:r>
              <a:rPr sz="3200" b="1" i="1" spc="-14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(log</a:t>
            </a:r>
            <a:r>
              <a:rPr sz="3200" b="1" spc="-4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918" y="3589888"/>
            <a:ext cx="7043420" cy="1253333"/>
          </a:xfrm>
          <a:prstGeom prst="rect">
            <a:avLst/>
          </a:prstGeom>
        </p:spPr>
        <p:txBody>
          <a:bodyPr vert="horz" wrap="square" lIns="0" tIns="138852" rIns="0" bIns="0" rtlCol="0">
            <a:spAutoFit/>
          </a:bodyPr>
          <a:lstStyle/>
          <a:p>
            <a:pPr marL="388610" indent="-372524">
              <a:spcBef>
                <a:spcPts val="1092"/>
              </a:spcBef>
              <a:buFont typeface="Arial"/>
              <a:buChar char="•"/>
              <a:tabLst>
                <a:tab pos="388610" algn="l"/>
                <a:tab pos="389457" algn="l"/>
              </a:tabLst>
            </a:pPr>
            <a:r>
              <a:rPr sz="3200" b="1" dirty="0">
                <a:latin typeface="宋体"/>
                <a:cs typeface="宋体"/>
              </a:rPr>
              <a:t>每次矩阵乘法需要</a:t>
            </a:r>
            <a:r>
              <a:rPr sz="3200" b="1" spc="-13" dirty="0">
                <a:latin typeface="宋体"/>
                <a:cs typeface="宋体"/>
              </a:rPr>
              <a:t>做</a:t>
            </a:r>
            <a:r>
              <a:rPr sz="3200" b="1" spc="-927" dirty="0">
                <a:latin typeface="宋体"/>
                <a:cs typeface="宋体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8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次元素相乘</a:t>
            </a:r>
            <a:endParaRPr sz="3200" dirty="0">
              <a:latin typeface="宋体"/>
              <a:cs typeface="宋体"/>
            </a:endParaRPr>
          </a:p>
          <a:p>
            <a:pPr marL="388610" indent="-372524">
              <a:spcBef>
                <a:spcPts val="1000"/>
              </a:spcBef>
              <a:buFont typeface="Arial"/>
              <a:buChar char="•"/>
              <a:tabLst>
                <a:tab pos="388610" algn="l"/>
                <a:tab pos="389457" algn="l"/>
              </a:tabLst>
            </a:pPr>
            <a:r>
              <a:rPr sz="3200" b="1" dirty="0">
                <a:latin typeface="宋体"/>
                <a:cs typeface="宋体"/>
              </a:rPr>
              <a:t>总计元素相乘次数</a:t>
            </a:r>
            <a:r>
              <a:rPr sz="3200" b="1" spc="-13" dirty="0">
                <a:latin typeface="宋体"/>
                <a:cs typeface="宋体"/>
              </a:rPr>
              <a:t>为</a:t>
            </a:r>
            <a:r>
              <a:rPr sz="3200" b="1" spc="-47" dirty="0">
                <a:latin typeface="宋体"/>
                <a:cs typeface="宋体"/>
              </a:rPr>
              <a:t> </a:t>
            </a:r>
            <a:r>
              <a:rPr sz="3200" b="1" i="1" spc="-147" dirty="0">
                <a:latin typeface="Symbol"/>
                <a:cs typeface="Symbol"/>
              </a:rPr>
              <a:t></a:t>
            </a:r>
            <a:r>
              <a:rPr sz="3200" b="1" i="1" spc="-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(log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434" y="2294829"/>
            <a:ext cx="3110653" cy="540319"/>
          </a:xfrm>
          <a:prstGeom prst="rect">
            <a:avLst/>
          </a:prstGeom>
        </p:spPr>
        <p:txBody>
          <a:bodyPr vert="horz" wrap="square" lIns="0" tIns="47413" rIns="0" bIns="0" rtlCol="0">
            <a:spAutoFit/>
          </a:bodyPr>
          <a:lstStyle/>
          <a:p>
            <a:pPr marL="16933">
              <a:spcBef>
                <a:spcPts val="305"/>
              </a:spcBef>
            </a:pPr>
            <a:r>
              <a:rPr sz="3200" b="1" dirty="0" err="1" smtClean="0">
                <a:latin typeface="宋体"/>
                <a:cs typeface="宋体"/>
              </a:rPr>
              <a:t>时间复杂度</a:t>
            </a:r>
            <a:r>
              <a:rPr sz="3200" b="1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441434" y="1414299"/>
                <a:ext cx="8923283" cy="839140"/>
              </a:xfrm>
              <a:prstGeom prst="rect">
                <a:avLst/>
              </a:prstGeom>
            </p:spPr>
            <p:txBody>
              <a:bodyPr vert="horz" wrap="square" lIns="0" tIns="17780" rIns="0" bIns="0" rtlCol="0">
                <a:spAutoFit/>
              </a:bodyPr>
              <a:lstStyle/>
              <a:p>
                <a:pPr>
                  <a:spcBef>
                    <a:spcPts val="140"/>
                  </a:spcBef>
                  <a:tabLst>
                    <a:tab pos="2815943" algn="l"/>
                  </a:tabLst>
                </a:pPr>
                <a:r>
                  <a:rPr sz="3200" b="1" dirty="0" err="1" smtClean="0">
                    <a:latin typeface="宋体"/>
                    <a:cs typeface="宋体"/>
                  </a:rPr>
                  <a:t>令矩</a:t>
                </a:r>
                <a:r>
                  <a:rPr sz="3200" b="1" spc="-13" dirty="0" err="1" smtClean="0">
                    <a:latin typeface="宋体"/>
                    <a:cs typeface="宋体"/>
                  </a:rPr>
                  <a:t>阵</a:t>
                </a:r>
                <a:r>
                  <a:rPr lang="en-US" sz="3200" b="1" spc="-13" dirty="0" err="1" smtClean="0">
                    <a:latin typeface="宋体"/>
                    <a:cs typeface="宋体"/>
                  </a:rPr>
                  <a:t>M</a:t>
                </a:r>
                <a:r>
                  <a:rPr lang="en-US" sz="3200" b="1" spc="-13" dirty="0" smtClean="0">
                    <a:latin typeface="宋体"/>
                    <a:cs typeface="宋体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r>
                  <a:rPr sz="3200" b="1" spc="107" dirty="0" err="1" smtClean="0">
                    <a:latin typeface="宋体"/>
                    <a:cs typeface="宋体"/>
                  </a:rPr>
                  <a:t>,</a:t>
                </a:r>
                <a:r>
                  <a:rPr sz="3200" b="1" dirty="0" err="1">
                    <a:latin typeface="宋体"/>
                    <a:cs typeface="宋体"/>
                  </a:rPr>
                  <a:t>用乘幂算法计算</a:t>
                </a:r>
                <a:r>
                  <a:rPr sz="3200" b="1" i="1" spc="7" dirty="0" err="1">
                    <a:latin typeface="Times New Roman"/>
                    <a:cs typeface="Times New Roman"/>
                  </a:rPr>
                  <a:t>M</a:t>
                </a:r>
                <a:r>
                  <a:rPr sz="3200" b="1" i="1" spc="9" baseline="26143" dirty="0" err="1">
                    <a:latin typeface="Times New Roman"/>
                    <a:cs typeface="Times New Roman"/>
                  </a:rPr>
                  <a:t>n</a:t>
                </a:r>
                <a:endParaRPr sz="3200" baseline="26143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34" y="1414299"/>
                <a:ext cx="8923283" cy="839140"/>
              </a:xfrm>
              <a:prstGeom prst="rect">
                <a:avLst/>
              </a:prstGeom>
              <a:blipFill>
                <a:blip r:embed="rId2"/>
                <a:stretch>
                  <a:fillRect l="-2732" b="-7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91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1944" y="254416"/>
            <a:ext cx="8870732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51944" y="1425832"/>
            <a:ext cx="8870732" cy="2586904"/>
          </a:xfrm>
          <a:prstGeom prst="rect">
            <a:avLst/>
          </a:prstGeom>
        </p:spPr>
        <p:txBody>
          <a:bodyPr vert="horz" wrap="square" lIns="0" tIns="131233" rIns="0" bIns="0" rtlCol="0">
            <a:spAutoFit/>
          </a:bodyPr>
          <a:lstStyle/>
          <a:p>
            <a:pPr marL="474121" indent="-457189">
              <a:spcBef>
                <a:spcPts val="1033"/>
              </a:spcBef>
              <a:buFont typeface="Arial"/>
              <a:buChar char="•"/>
              <a:tabLst>
                <a:tab pos="473275" algn="l"/>
                <a:tab pos="474121" algn="l"/>
              </a:tabLst>
            </a:pPr>
            <a:r>
              <a:rPr sz="3733" b="1" spc="-7" dirty="0">
                <a:latin typeface="宋体"/>
                <a:cs typeface="宋体"/>
              </a:rPr>
              <a:t>分治算法的例</a:t>
            </a:r>
            <a:r>
              <a:rPr sz="3733" b="1" dirty="0">
                <a:latin typeface="宋体"/>
                <a:cs typeface="宋体"/>
              </a:rPr>
              <a:t>子</a:t>
            </a:r>
            <a:r>
              <a:rPr sz="3733" b="1" spc="-7" dirty="0">
                <a:latin typeface="Calibri"/>
                <a:cs typeface="Calibri"/>
              </a:rPr>
              <a:t>——</a:t>
            </a:r>
            <a:r>
              <a:rPr sz="3733" b="1" spc="-7" dirty="0">
                <a:latin typeface="宋体"/>
                <a:cs typeface="宋体"/>
              </a:rPr>
              <a:t>幂乘算法</a:t>
            </a:r>
            <a:endParaRPr sz="3733" dirty="0">
              <a:latin typeface="宋体"/>
              <a:cs typeface="宋体"/>
            </a:endParaRPr>
          </a:p>
          <a:p>
            <a:pPr marL="474121" indent="-457189">
              <a:spcBef>
                <a:spcPts val="893"/>
              </a:spcBef>
              <a:buFont typeface="Arial"/>
              <a:buChar char="•"/>
              <a:tabLst>
                <a:tab pos="473275" algn="l"/>
                <a:tab pos="474121" algn="l"/>
              </a:tabLst>
            </a:pPr>
            <a:r>
              <a:rPr sz="3733" b="1" spc="-7" dirty="0">
                <a:latin typeface="宋体"/>
                <a:cs typeface="宋体"/>
              </a:rPr>
              <a:t>幂乘算法的应用</a:t>
            </a:r>
            <a:endParaRPr sz="3733" dirty="0">
              <a:latin typeface="宋体"/>
              <a:cs typeface="宋体"/>
            </a:endParaRPr>
          </a:p>
          <a:p>
            <a:pPr marL="626518">
              <a:spcBef>
                <a:spcPts val="793"/>
              </a:spcBef>
            </a:pPr>
            <a:r>
              <a:rPr sz="3200" b="1" dirty="0">
                <a:latin typeface="宋体"/>
                <a:cs typeface="宋体"/>
              </a:rPr>
              <a:t>计算</a:t>
            </a:r>
            <a:r>
              <a:rPr sz="3200" b="1" dirty="0">
                <a:latin typeface="Times New Roman"/>
                <a:cs typeface="Times New Roman"/>
              </a:rPr>
              <a:t>Fibonacci</a:t>
            </a:r>
            <a:r>
              <a:rPr sz="3200" b="1" spc="-13" dirty="0">
                <a:latin typeface="宋体"/>
                <a:cs typeface="宋体"/>
              </a:rPr>
              <a:t>数</a:t>
            </a:r>
            <a:endParaRPr sz="3200" dirty="0">
              <a:latin typeface="宋体"/>
              <a:cs typeface="宋体"/>
            </a:endParaRPr>
          </a:p>
          <a:p>
            <a:pPr marL="626518">
              <a:spcBef>
                <a:spcPts val="847"/>
              </a:spcBef>
            </a:pPr>
            <a:r>
              <a:rPr sz="3200" b="1" dirty="0">
                <a:latin typeface="宋体"/>
                <a:cs typeface="宋体"/>
              </a:rPr>
              <a:t>通常算法</a:t>
            </a:r>
            <a:r>
              <a:rPr sz="3200" b="1" i="1" spc="-7" dirty="0">
                <a:latin typeface="Times New Roman"/>
                <a:cs typeface="Times New Roman"/>
              </a:rPr>
              <a:t>O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r>
              <a:rPr sz="3200" b="1" spc="-7" dirty="0">
                <a:latin typeface="宋体"/>
                <a:cs typeface="宋体"/>
              </a:rPr>
              <a:t>，</a:t>
            </a:r>
            <a:r>
              <a:rPr sz="3200" b="1" dirty="0">
                <a:latin typeface="宋体"/>
                <a:cs typeface="宋体"/>
              </a:rPr>
              <a:t>分治算法</a:t>
            </a:r>
            <a:r>
              <a:rPr sz="3200" b="1" spc="7" dirty="0">
                <a:latin typeface="宋体"/>
                <a:cs typeface="宋体"/>
              </a:rPr>
              <a:t>为</a:t>
            </a:r>
            <a:r>
              <a:rPr sz="3200" b="1" i="1" spc="-7" dirty="0">
                <a:latin typeface="Times New Roman"/>
                <a:cs typeface="Times New Roman"/>
              </a:rPr>
              <a:t>O</a:t>
            </a:r>
            <a:r>
              <a:rPr sz="3200" b="1" spc="-7" dirty="0">
                <a:latin typeface="Times New Roman"/>
                <a:cs typeface="Times New Roman"/>
              </a:rPr>
              <a:t>(log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230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699" y="1774595"/>
            <a:ext cx="8829404" cy="2044957"/>
          </a:xfrm>
          <a:prstGeom prst="rect">
            <a:avLst/>
          </a:prstGeom>
        </p:spPr>
        <p:txBody>
          <a:bodyPr vert="horz" wrap="square" lIns="0" tIns="13500" rIns="0" bIns="0" rtlCol="0" anchor="ctr">
            <a:spAutoFit/>
          </a:bodyPr>
          <a:lstStyle/>
          <a:p>
            <a:pPr marL="13500" marR="5400" indent="1350" algn="ctr">
              <a:lnSpc>
                <a:spcPct val="100000"/>
              </a:lnSpc>
              <a:spcBef>
                <a:spcPts val="106"/>
              </a:spcBef>
            </a:pPr>
            <a:r>
              <a:rPr sz="6600" spc="-27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改</a:t>
            </a:r>
            <a:r>
              <a:rPr sz="6600" spc="-5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进</a:t>
            </a:r>
            <a:r>
              <a:rPr sz="6600" spc="-27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sz="6600" spc="-5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治算</a:t>
            </a:r>
            <a:r>
              <a:rPr sz="6600" spc="5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r>
              <a:rPr sz="6600" spc="-5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sz="6600" spc="-2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途</a:t>
            </a:r>
            <a:r>
              <a:rPr sz="6600" spc="-16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径</a:t>
            </a:r>
            <a:r>
              <a:rPr sz="6600" spc="-16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sz="6600" spc="-16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sz="6600" spc="-16" dirty="0" smtClean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sz="6600" spc="-16" dirty="0" smtClean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sz="6600" spc="-2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减</a:t>
            </a:r>
            <a:r>
              <a:rPr sz="6600" spc="11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少</a:t>
            </a:r>
            <a:r>
              <a:rPr sz="6600" spc="5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子</a:t>
            </a:r>
            <a:r>
              <a:rPr sz="6600" spc="-5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r>
              <a:rPr sz="6600" spc="-27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endParaRPr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04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1712" y="1486876"/>
            <a:ext cx="8860964" cy="462771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lnSpc>
                <a:spcPts val="3040"/>
              </a:lnSpc>
              <a:spcBef>
                <a:spcPts val="106"/>
              </a:spcBef>
            </a:pP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分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治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算法的时间复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杂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度方程</a:t>
            </a:r>
            <a:endParaRPr sz="28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ts val="3040"/>
              </a:lnSpc>
              <a:spcBef>
                <a:spcPts val="1200"/>
              </a:spcBef>
              <a:spcAft>
                <a:spcPts val="1200"/>
              </a:spcAft>
            </a:pPr>
            <a:r>
              <a:rPr sz="2800" b="1" i="1" spc="-5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sz="2800" b="1" spc="-5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aW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sz="28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sz="2800" b="1" dirty="0">
                <a:latin typeface="Times New Roman" pitchFamily="18" charset="0"/>
                <a:cs typeface="Times New Roman" pitchFamily="18" charset="0"/>
              </a:rPr>
              <a:t>) +</a:t>
            </a:r>
            <a:r>
              <a:rPr sz="2800" b="1" spc="-1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800" b="1" i="1" spc="-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cs typeface="Times New Roman" pitchFamily="18" charset="0"/>
              </a:rPr>
              <a:t>)</a:t>
            </a:r>
            <a:endParaRPr sz="2800" b="1" dirty="0">
              <a:latin typeface="Times New Roman" pitchFamily="18" charset="0"/>
              <a:cs typeface="Times New Roman" pitchFamily="18" charset="0"/>
            </a:endParaRPr>
          </a:p>
          <a:p>
            <a:pPr marL="1571412" marR="32400" indent="-1531586">
              <a:lnSpc>
                <a:spcPts val="2976"/>
              </a:lnSpc>
              <a:spcBef>
                <a:spcPts val="1323"/>
              </a:spcBef>
            </a:pPr>
            <a:r>
              <a:rPr lang="en-US" altLang="zh-CN" sz="2800" b="1" spc="-1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A:</a:t>
            </a:r>
            <a:r>
              <a:rPr lang="zh-CN" altLang="en-US" sz="2800" b="1" spc="-1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子问题</a:t>
            </a:r>
            <a:r>
              <a:rPr lang="zh-CN" altLang="en-US" sz="2800" b="1" spc="-11" dirty="0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数，</a:t>
            </a:r>
            <a:r>
              <a:rPr lang="en-US" altLang="zh-CN" sz="2800" b="1" spc="-11" dirty="0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n/b</a:t>
            </a:r>
            <a:r>
              <a:rPr lang="en-US" altLang="zh-CN" sz="2800" b="1" spc="-1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:</a:t>
            </a:r>
            <a:r>
              <a:rPr lang="zh-CN" altLang="en-US" sz="2800" b="1" spc="-1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子问题</a:t>
            </a:r>
            <a:r>
              <a:rPr lang="zh-CN" altLang="en-US" sz="2800" b="1" spc="-11" dirty="0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规模，</a:t>
            </a:r>
            <a:r>
              <a:rPr lang="en-US" altLang="zh-CN" sz="2800" b="1" spc="-11" dirty="0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d(n</a:t>
            </a:r>
            <a:r>
              <a:rPr lang="en-US" altLang="zh-CN" sz="2800" b="1" spc="-1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):</a:t>
            </a:r>
            <a:r>
              <a:rPr lang="zh-CN" altLang="en-US" sz="2800" b="1" spc="-11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划分与综合工作量</a:t>
            </a:r>
            <a:r>
              <a:rPr lang="en-US" altLang="zh-CN" sz="2800" b="1" spc="-11" dirty="0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.</a:t>
            </a:r>
            <a:endParaRPr lang="en-US" sz="2800" b="1" spc="-11" dirty="0" smtClean="0">
              <a:latin typeface="Times New Roman" pitchFamily="18" charset="0"/>
              <a:ea typeface="宋体" panose="02010600030101010101" pitchFamily="2" charset="-122"/>
              <a:cs typeface="Times New Roman" pitchFamily="18" charset="0"/>
            </a:endParaRPr>
          </a:p>
          <a:p>
            <a:pPr marL="1571412" marR="32400" indent="-1531586">
              <a:lnSpc>
                <a:spcPts val="2976"/>
              </a:lnSpc>
              <a:spcBef>
                <a:spcPts val="1323"/>
              </a:spcBef>
              <a:spcAft>
                <a:spcPts val="1200"/>
              </a:spcAft>
            </a:pPr>
            <a:r>
              <a:rPr sz="2800" b="1" spc="-11" dirty="0" err="1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当</a:t>
            </a:r>
            <a:r>
              <a:rPr sz="2800" b="1" i="1" dirty="0" err="1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a</a:t>
            </a:r>
            <a:r>
              <a:rPr sz="2800" b="1" dirty="0" err="1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较大,</a:t>
            </a:r>
            <a:r>
              <a:rPr sz="2800" b="1" i="1" dirty="0" err="1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b</a:t>
            </a:r>
            <a:r>
              <a:rPr sz="2800" b="1" dirty="0" err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较小</a:t>
            </a:r>
            <a:r>
              <a:rPr sz="2800" b="1" dirty="0" err="1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,</a:t>
            </a:r>
            <a:r>
              <a:rPr sz="2800" b="1" i="1" spc="-5" dirty="0" err="1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d</a:t>
            </a:r>
            <a:r>
              <a:rPr sz="2800" b="1" spc="-5" dirty="0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(</a:t>
            </a:r>
            <a:r>
              <a:rPr sz="2800" b="1" i="1" spc="-5" dirty="0" smtClean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)</a:t>
            </a:r>
            <a:r>
              <a:rPr sz="2800" b="1" dirty="0" err="1"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不大时,方程的解</a:t>
            </a:r>
            <a:r>
              <a:rPr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：</a:t>
            </a:r>
            <a:endParaRPr lang="en-US" sz="2800" b="1" dirty="0" smtClean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  <a:p>
            <a:pPr marL="1571412" marR="32400" indent="-1531586">
              <a:lnSpc>
                <a:spcPts val="2976"/>
              </a:lnSpc>
              <a:spcBef>
                <a:spcPts val="1323"/>
              </a:spcBef>
              <a:spcAft>
                <a:spcPts val="1200"/>
              </a:spcAft>
            </a:pPr>
            <a:r>
              <a:rPr sz="2800" b="1" spc="-5" dirty="0" err="1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减</a:t>
            </a:r>
            <a:r>
              <a:rPr sz="2800" b="1" dirty="0" err="1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少</a:t>
            </a:r>
            <a:r>
              <a:rPr sz="2800" b="1" i="1" spc="-5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a</a:t>
            </a:r>
            <a:r>
              <a:rPr sz="2800" b="1" spc="-5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是降低函数</a:t>
            </a:r>
            <a:r>
              <a:rPr sz="2800" b="1" i="1" spc="-5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W</a:t>
            </a:r>
            <a:r>
              <a:rPr sz="2800" b="1" spc="-5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)</a:t>
            </a:r>
            <a:r>
              <a:rPr sz="2800" b="1" spc="-5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的阶的途</a:t>
            </a:r>
            <a:r>
              <a:rPr sz="28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径</a:t>
            </a:r>
            <a:r>
              <a:rPr sz="2800" b="1" dirty="0" smtClean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.</a:t>
            </a:r>
            <a:endParaRPr lang="en-US" sz="2800" b="1" dirty="0" smtClean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/>
            </a:endParaRPr>
          </a:p>
          <a:p>
            <a:pPr marL="40500" algn="just">
              <a:spcBef>
                <a:spcPts val="1058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利用子问题的依赖关系，使某些子问题的解通过组合其他子问题的解而得到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.</a:t>
            </a:r>
          </a:p>
          <a:p>
            <a:pPr marL="40500">
              <a:spcBef>
                <a:spcPts val="1058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451944" y="254416"/>
            <a:ext cx="8870732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>
            <a:lvl1pPr algn="l" defTabSz="8640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52" b="1" i="0" kern="1200">
                <a:solidFill>
                  <a:srgbClr val="C00000"/>
                </a:solidFill>
                <a:latin typeface="宋体"/>
                <a:ea typeface="+mj-ea"/>
                <a:cs typeface="宋体"/>
              </a:defRPr>
            </a:lvl1pPr>
          </a:lstStyle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lang="zh-CN" altLang="en-US" sz="4000" spc="-13" dirty="0">
                <a:latin typeface="黑体" panose="02010609060101010101" pitchFamily="49" charset="-122"/>
                <a:ea typeface="黑体" panose="02010609060101010101" pitchFamily="49" charset="-122"/>
              </a:rPr>
              <a:t>减少子问题个数的依据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322197" y="3202924"/>
                <a:ext cx="2731710" cy="447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197" y="3202924"/>
                <a:ext cx="2731710" cy="447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59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091" y="264442"/>
            <a:ext cx="8921116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spc="-16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sz="4000" spc="-11" dirty="0">
                <a:latin typeface="黑体" panose="02010609060101010101" pitchFamily="49" charset="-122"/>
                <a:ea typeface="黑体" panose="02010609060101010101" pitchFamily="49" charset="-122"/>
              </a:rPr>
              <a:t>1：</a:t>
            </a:r>
            <a:r>
              <a:rPr sz="4000" spc="-16" dirty="0">
                <a:latin typeface="黑体" panose="02010609060101010101" pitchFamily="49" charset="-122"/>
                <a:ea typeface="黑体" panose="02010609060101010101" pitchFamily="49" charset="-122"/>
              </a:rPr>
              <a:t>整数位乘问题</a:t>
            </a:r>
          </a:p>
        </p:txBody>
      </p:sp>
      <p:sp>
        <p:nvSpPr>
          <p:cNvPr id="3" name="object 3"/>
          <p:cNvSpPr/>
          <p:nvPr/>
        </p:nvSpPr>
        <p:spPr>
          <a:xfrm>
            <a:off x="1817554" y="4423741"/>
            <a:ext cx="1397288" cy="243007"/>
          </a:xfrm>
          <a:custGeom>
            <a:avLst/>
            <a:gdLst/>
            <a:ahLst/>
            <a:cxnLst/>
            <a:rect l="l" t="t" r="r" b="b"/>
            <a:pathLst>
              <a:path w="1314450" h="228600">
                <a:moveTo>
                  <a:pt x="0" y="228600"/>
                </a:moveTo>
                <a:lnTo>
                  <a:pt x="1314450" y="228600"/>
                </a:lnTo>
                <a:lnTo>
                  <a:pt x="1314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4" name="object 4"/>
          <p:cNvSpPr/>
          <p:nvPr/>
        </p:nvSpPr>
        <p:spPr>
          <a:xfrm>
            <a:off x="1817554" y="4423741"/>
            <a:ext cx="1397288" cy="243007"/>
          </a:xfrm>
          <a:custGeom>
            <a:avLst/>
            <a:gdLst/>
            <a:ahLst/>
            <a:cxnLst/>
            <a:rect l="l" t="t" r="r" b="b"/>
            <a:pathLst>
              <a:path w="1314450" h="228600">
                <a:moveTo>
                  <a:pt x="0" y="228600"/>
                </a:moveTo>
                <a:lnTo>
                  <a:pt x="1314450" y="228600"/>
                </a:lnTo>
                <a:lnTo>
                  <a:pt x="1314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5" name="object 5"/>
          <p:cNvSpPr/>
          <p:nvPr/>
        </p:nvSpPr>
        <p:spPr>
          <a:xfrm>
            <a:off x="3214841" y="4423741"/>
            <a:ext cx="1356787" cy="243007"/>
          </a:xfrm>
          <a:custGeom>
            <a:avLst/>
            <a:gdLst/>
            <a:ahLst/>
            <a:cxnLst/>
            <a:rect l="l" t="t" r="r" b="b"/>
            <a:pathLst>
              <a:path w="1276350" h="228600">
                <a:moveTo>
                  <a:pt x="0" y="228600"/>
                </a:moveTo>
                <a:lnTo>
                  <a:pt x="1276350" y="228600"/>
                </a:lnTo>
                <a:lnTo>
                  <a:pt x="12763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6" name="object 6"/>
          <p:cNvSpPr/>
          <p:nvPr/>
        </p:nvSpPr>
        <p:spPr>
          <a:xfrm>
            <a:off x="3214841" y="4423741"/>
            <a:ext cx="1356787" cy="243007"/>
          </a:xfrm>
          <a:custGeom>
            <a:avLst/>
            <a:gdLst/>
            <a:ahLst/>
            <a:cxnLst/>
            <a:rect l="l" t="t" r="r" b="b"/>
            <a:pathLst>
              <a:path w="1276350" h="228600">
                <a:moveTo>
                  <a:pt x="0" y="228600"/>
                </a:moveTo>
                <a:lnTo>
                  <a:pt x="1276350" y="228600"/>
                </a:lnTo>
                <a:lnTo>
                  <a:pt x="12763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7" name="object 7"/>
          <p:cNvSpPr/>
          <p:nvPr/>
        </p:nvSpPr>
        <p:spPr>
          <a:xfrm>
            <a:off x="1817554" y="4828752"/>
            <a:ext cx="1397288" cy="243007"/>
          </a:xfrm>
          <a:custGeom>
            <a:avLst/>
            <a:gdLst/>
            <a:ahLst/>
            <a:cxnLst/>
            <a:rect l="l" t="t" r="r" b="b"/>
            <a:pathLst>
              <a:path w="1314450" h="228600">
                <a:moveTo>
                  <a:pt x="0" y="228600"/>
                </a:moveTo>
                <a:lnTo>
                  <a:pt x="1314450" y="228600"/>
                </a:lnTo>
                <a:lnTo>
                  <a:pt x="1314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8" name="object 8"/>
          <p:cNvSpPr/>
          <p:nvPr/>
        </p:nvSpPr>
        <p:spPr>
          <a:xfrm>
            <a:off x="1817554" y="4828752"/>
            <a:ext cx="1397288" cy="243007"/>
          </a:xfrm>
          <a:custGeom>
            <a:avLst/>
            <a:gdLst/>
            <a:ahLst/>
            <a:cxnLst/>
            <a:rect l="l" t="t" r="r" b="b"/>
            <a:pathLst>
              <a:path w="1314450" h="228600">
                <a:moveTo>
                  <a:pt x="0" y="228600"/>
                </a:moveTo>
                <a:lnTo>
                  <a:pt x="1314450" y="228600"/>
                </a:lnTo>
                <a:lnTo>
                  <a:pt x="13144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9" name="object 9"/>
          <p:cNvSpPr/>
          <p:nvPr/>
        </p:nvSpPr>
        <p:spPr>
          <a:xfrm>
            <a:off x="3214841" y="4828752"/>
            <a:ext cx="1356787" cy="243007"/>
          </a:xfrm>
          <a:custGeom>
            <a:avLst/>
            <a:gdLst/>
            <a:ahLst/>
            <a:cxnLst/>
            <a:rect l="l" t="t" r="r" b="b"/>
            <a:pathLst>
              <a:path w="1276350" h="228600">
                <a:moveTo>
                  <a:pt x="0" y="228600"/>
                </a:moveTo>
                <a:lnTo>
                  <a:pt x="1276350" y="228600"/>
                </a:lnTo>
                <a:lnTo>
                  <a:pt x="12763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10" name="object 10"/>
          <p:cNvSpPr/>
          <p:nvPr/>
        </p:nvSpPr>
        <p:spPr>
          <a:xfrm>
            <a:off x="3214841" y="4828752"/>
            <a:ext cx="1356787" cy="243007"/>
          </a:xfrm>
          <a:custGeom>
            <a:avLst/>
            <a:gdLst/>
            <a:ahLst/>
            <a:cxnLst/>
            <a:rect l="l" t="t" r="r" b="b"/>
            <a:pathLst>
              <a:path w="1276350" h="228600">
                <a:moveTo>
                  <a:pt x="0" y="228600"/>
                </a:moveTo>
                <a:lnTo>
                  <a:pt x="1276350" y="228600"/>
                </a:lnTo>
                <a:lnTo>
                  <a:pt x="127635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11" name="object 11"/>
          <p:cNvSpPr txBox="1"/>
          <p:nvPr/>
        </p:nvSpPr>
        <p:spPr>
          <a:xfrm>
            <a:off x="433091" y="1518871"/>
            <a:ext cx="8794992" cy="433269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68849">
              <a:spcBef>
                <a:spcPts val="106"/>
              </a:spcBef>
            </a:pPr>
            <a:r>
              <a:rPr sz="2800" b="1" spc="-5" dirty="0" err="1">
                <a:latin typeface="宋体"/>
                <a:cs typeface="宋体"/>
              </a:rPr>
              <a:t>输入</a:t>
            </a:r>
            <a:r>
              <a:rPr sz="2800" b="1" dirty="0" err="1">
                <a:latin typeface="宋体"/>
                <a:cs typeface="宋体"/>
              </a:rPr>
              <a:t>：</a:t>
            </a:r>
            <a:r>
              <a:rPr sz="2800" b="1" i="1" dirty="0" err="1">
                <a:latin typeface="Times New Roman"/>
                <a:cs typeface="Times New Roman"/>
              </a:rPr>
              <a:t>X</a:t>
            </a:r>
            <a:r>
              <a:rPr sz="2800" b="1" i="1" spc="-32" dirty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,</a:t>
            </a:r>
            <a:r>
              <a:rPr lang="en-US" sz="2800" b="1" i="1" dirty="0" smtClean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Y</a:t>
            </a:r>
            <a:r>
              <a:rPr sz="2800" b="1" i="1" spc="-101" dirty="0" smtClean="0">
                <a:latin typeface="Times New Roman"/>
                <a:cs typeface="Times New Roman"/>
              </a:rPr>
              <a:t> </a:t>
            </a:r>
            <a:r>
              <a:rPr sz="2800" b="1" spc="-11" dirty="0">
                <a:latin typeface="宋体"/>
                <a:cs typeface="宋体"/>
              </a:rPr>
              <a:t>是</a:t>
            </a:r>
            <a:r>
              <a:rPr sz="2800" b="1" spc="-648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位二进制数</a:t>
            </a:r>
            <a:r>
              <a:rPr sz="2800" b="1" spc="-11" dirty="0">
                <a:latin typeface="宋体"/>
                <a:cs typeface="宋体"/>
              </a:rPr>
              <a:t>，</a:t>
            </a:r>
            <a:r>
              <a:rPr sz="2800" b="1" spc="-632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6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7" baseline="24305" dirty="0">
                <a:latin typeface="Times New Roman"/>
                <a:cs typeface="Times New Roman"/>
              </a:rPr>
              <a:t>k</a:t>
            </a:r>
            <a:endParaRPr sz="2800" baseline="24305" dirty="0">
              <a:latin typeface="Times New Roman"/>
              <a:cs typeface="Times New Roman"/>
            </a:endParaRPr>
          </a:p>
          <a:p>
            <a:pPr marL="68849"/>
            <a:r>
              <a:rPr sz="2800" b="1" dirty="0">
                <a:latin typeface="宋体"/>
                <a:cs typeface="宋体"/>
              </a:rPr>
              <a:t>输出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XY</a:t>
            </a:r>
            <a:endParaRPr sz="2800" dirty="0">
              <a:latin typeface="Times New Roman"/>
              <a:cs typeface="Times New Roman"/>
            </a:endParaRPr>
          </a:p>
          <a:p>
            <a:pPr marL="68849"/>
            <a:r>
              <a:rPr sz="2800" b="1" dirty="0">
                <a:solidFill>
                  <a:srgbClr val="C00000"/>
                </a:solidFill>
                <a:latin typeface="宋体"/>
                <a:cs typeface="宋体"/>
              </a:rPr>
              <a:t>普通乘法</a:t>
            </a:r>
            <a:r>
              <a:rPr sz="2800" b="1" dirty="0">
                <a:latin typeface="宋体"/>
                <a:cs typeface="宋体"/>
              </a:rPr>
              <a:t>：需要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r>
              <a:rPr sz="2800" b="1" dirty="0">
                <a:latin typeface="宋体"/>
                <a:cs typeface="宋体"/>
              </a:rPr>
              <a:t>次位乘运算</a:t>
            </a:r>
            <a:endParaRPr sz="2800" dirty="0">
              <a:latin typeface="宋体"/>
              <a:cs typeface="宋体"/>
            </a:endParaRPr>
          </a:p>
          <a:p>
            <a:pPr marL="67501">
              <a:spcBef>
                <a:spcPts val="1408"/>
              </a:spcBef>
            </a:pPr>
            <a:r>
              <a:rPr sz="2800" b="1" dirty="0">
                <a:solidFill>
                  <a:srgbClr val="C00000"/>
                </a:solidFill>
                <a:latin typeface="宋体"/>
                <a:cs typeface="宋体"/>
              </a:rPr>
              <a:t>简单划分</a:t>
            </a:r>
            <a:r>
              <a:rPr sz="2800" b="1" dirty="0">
                <a:latin typeface="宋体"/>
                <a:cs typeface="宋体"/>
              </a:rPr>
              <a:t>：令</a:t>
            </a:r>
            <a:endParaRPr sz="2800" dirty="0">
              <a:latin typeface="宋体"/>
              <a:cs typeface="宋体"/>
            </a:endParaRPr>
          </a:p>
          <a:p>
            <a:pPr marL="391503">
              <a:lnSpc>
                <a:spcPts val="3045"/>
              </a:lnSpc>
              <a:tabLst>
                <a:tab pos="2567719" algn="l"/>
              </a:tabLst>
            </a:pPr>
            <a:r>
              <a:rPr sz="2800" b="1" i="1" spc="-11" dirty="0">
                <a:latin typeface="Times New Roman"/>
                <a:cs typeface="Times New Roman"/>
              </a:rPr>
              <a:t>X</a:t>
            </a:r>
            <a:r>
              <a:rPr sz="2800" b="1" spc="-11" dirty="0">
                <a:latin typeface="宋体"/>
                <a:cs typeface="宋体"/>
              </a:rPr>
              <a:t>＝</a:t>
            </a:r>
            <a:r>
              <a:rPr sz="2800" b="1" spc="-632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Times New Roman"/>
                <a:cs typeface="Times New Roman"/>
              </a:rPr>
              <a:t>/2</a:t>
            </a:r>
            <a:r>
              <a:rPr sz="2800" b="1" spc="351" baseline="2430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5" dirty="0">
                <a:latin typeface="Times New Roman"/>
                <a:cs typeface="Times New Roman"/>
              </a:rPr>
              <a:t>,	</a:t>
            </a:r>
            <a:r>
              <a:rPr sz="2800" b="1" i="1" spc="5" dirty="0">
                <a:latin typeface="Times New Roman"/>
                <a:cs typeface="Times New Roman"/>
              </a:rPr>
              <a:t>Y</a:t>
            </a:r>
            <a:r>
              <a:rPr sz="2800" b="1" spc="5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C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Times New Roman"/>
                <a:cs typeface="Times New Roman"/>
              </a:rPr>
              <a:t>/2</a:t>
            </a:r>
            <a:r>
              <a:rPr sz="2800" b="1" spc="279" baseline="2430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D</a:t>
            </a:r>
            <a:r>
              <a:rPr sz="2800" b="1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391503">
              <a:lnSpc>
                <a:spcPts val="3045"/>
              </a:lnSpc>
            </a:pPr>
            <a:r>
              <a:rPr sz="2800" b="1" i="1" spc="48" dirty="0">
                <a:latin typeface="Times New Roman"/>
                <a:cs typeface="Times New Roman"/>
              </a:rPr>
              <a:t>XY</a:t>
            </a:r>
            <a:r>
              <a:rPr sz="2800" b="1" spc="48" dirty="0">
                <a:latin typeface="Times New Roman"/>
                <a:cs typeface="Times New Roman"/>
              </a:rPr>
              <a:t>=</a:t>
            </a:r>
            <a:r>
              <a:rPr sz="2800" b="1" u="heavy" spc="48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AC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7" baseline="24305" dirty="0">
                <a:latin typeface="Times New Roman"/>
                <a:cs typeface="Times New Roman"/>
              </a:rPr>
              <a:t>n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u="heavy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AD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i="1" u="heavy" spc="-1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BC</a:t>
            </a:r>
            <a:r>
              <a:rPr sz="2800" b="1" spc="-11" dirty="0">
                <a:latin typeface="Times New Roman"/>
                <a:cs typeface="Times New Roman"/>
              </a:rPr>
              <a:t>) 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Times New Roman"/>
                <a:cs typeface="Times New Roman"/>
              </a:rPr>
              <a:t>/2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239" dirty="0">
                <a:latin typeface="Times New Roman"/>
                <a:cs typeface="Times New Roman"/>
              </a:rPr>
              <a:t> </a:t>
            </a:r>
            <a:r>
              <a:rPr sz="2800" b="1" i="1" u="heavy" spc="-1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BD</a:t>
            </a:r>
            <a:endParaRPr sz="2800" dirty="0">
              <a:latin typeface="Times New Roman"/>
              <a:cs typeface="Times New Roman"/>
            </a:endParaRPr>
          </a:p>
          <a:p>
            <a:pPr marL="2002740" indent="-1042883">
              <a:spcBef>
                <a:spcPts val="1749"/>
              </a:spcBef>
              <a:buClr>
                <a:srgbClr val="375F92"/>
              </a:buClr>
              <a:buAutoNum type="alphaUcPeriod" startAt="24"/>
              <a:tabLst>
                <a:tab pos="2002065" algn="l"/>
                <a:tab pos="2002740" algn="l"/>
                <a:tab pos="3378400" algn="l"/>
              </a:tabLst>
            </a:pPr>
            <a:r>
              <a:rPr sz="1913" b="1" i="1" dirty="0">
                <a:latin typeface="Times New Roman"/>
                <a:cs typeface="Times New Roman"/>
              </a:rPr>
              <a:t>A	B</a:t>
            </a:r>
            <a:endParaRPr sz="1913" dirty="0">
              <a:latin typeface="Times New Roman"/>
              <a:cs typeface="Times New Roman"/>
            </a:endParaRPr>
          </a:p>
          <a:p>
            <a:pPr marL="2002740" indent="-1042883">
              <a:spcBef>
                <a:spcPts val="898"/>
              </a:spcBef>
              <a:buClr>
                <a:srgbClr val="375F92"/>
              </a:buClr>
              <a:buAutoNum type="alphaUcPeriod" startAt="24"/>
              <a:tabLst>
                <a:tab pos="2002065" algn="l"/>
                <a:tab pos="2002740" algn="l"/>
                <a:tab pos="3372325" algn="l"/>
              </a:tabLst>
            </a:pPr>
            <a:r>
              <a:rPr sz="1913" b="1" i="1" dirty="0">
                <a:latin typeface="Times New Roman"/>
                <a:cs typeface="Times New Roman"/>
              </a:rPr>
              <a:t>C	D</a:t>
            </a:r>
            <a:endParaRPr sz="1913" dirty="0">
              <a:latin typeface="Times New Roman"/>
              <a:cs typeface="Times New Roman"/>
            </a:endParaRPr>
          </a:p>
          <a:p>
            <a:pPr>
              <a:spcBef>
                <a:spcPts val="53"/>
              </a:spcBef>
            </a:pPr>
            <a:endParaRPr sz="2073" dirty="0">
              <a:latin typeface="Times New Roman"/>
              <a:cs typeface="Times New Roman"/>
            </a:endParaRPr>
          </a:p>
          <a:p>
            <a:pPr marL="68849"/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6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4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/2)+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Symbol"/>
                <a:cs typeface="Symbol"/>
              </a:rPr>
              <a:t>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W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)=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298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620" y="263901"/>
            <a:ext cx="8887056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spc="-11" dirty="0">
                <a:latin typeface="黑体" panose="02010609060101010101" pitchFamily="49" charset="-122"/>
                <a:ea typeface="黑体" panose="02010609060101010101" pitchFamily="49" charset="-122"/>
              </a:rPr>
              <a:t>减少子问题个数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214" y="1568546"/>
            <a:ext cx="8793462" cy="3626200"/>
          </a:xfrm>
          <a:prstGeom prst="rect">
            <a:avLst/>
          </a:prstGeom>
        </p:spPr>
        <p:txBody>
          <a:bodyPr vert="horz" wrap="square" lIns="0" tIns="174830" rIns="0" bIns="0" rtlCol="0">
            <a:spAutoFit/>
          </a:bodyPr>
          <a:lstStyle/>
          <a:p>
            <a:pPr marL="54000">
              <a:spcBef>
                <a:spcPts val="1377"/>
              </a:spcBef>
            </a:pPr>
            <a:r>
              <a:rPr sz="2800" b="1" dirty="0">
                <a:latin typeface="宋体"/>
                <a:cs typeface="宋体"/>
              </a:rPr>
              <a:t>子问题间的依赖关系：代数变换</a:t>
            </a:r>
            <a:endParaRPr sz="2800" dirty="0">
              <a:latin typeface="宋体"/>
              <a:cs typeface="宋体"/>
            </a:endParaRPr>
          </a:p>
          <a:p>
            <a:pPr marL="54000">
              <a:spcBef>
                <a:spcPts val="1377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AD+BC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spc="-27" dirty="0">
                <a:latin typeface="Times New Roman"/>
                <a:cs typeface="Times New Roman"/>
              </a:rPr>
              <a:t>(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－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800" b="1" u="heavy" spc="-2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)(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宋体"/>
                <a:cs typeface="宋体"/>
              </a:rPr>
              <a:t>－</a:t>
            </a:r>
            <a:r>
              <a:rPr sz="2800" b="1" i="1" u="heavy" spc="-27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800" b="1" spc="-27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i="1" u="heavy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AC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sz="2800" b="1" i="1" u="heavy" spc="-11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BD</a:t>
            </a:r>
            <a:endParaRPr sz="2800" dirty="0">
              <a:latin typeface="Times New Roman"/>
              <a:cs typeface="Times New Roman"/>
            </a:endParaRPr>
          </a:p>
          <a:p>
            <a:pPr marL="54000">
              <a:spcBef>
                <a:spcPts val="1800"/>
              </a:spcBef>
            </a:pPr>
            <a:r>
              <a:rPr sz="2800" b="1" dirty="0">
                <a:latin typeface="宋体"/>
                <a:cs typeface="宋体"/>
              </a:rPr>
              <a:t>算法复杂度</a:t>
            </a:r>
            <a:endParaRPr sz="2800" dirty="0">
              <a:latin typeface="宋体"/>
              <a:cs typeface="宋体"/>
            </a:endParaRPr>
          </a:p>
          <a:p>
            <a:pPr marL="1017908" marR="1121183">
              <a:lnSpc>
                <a:spcPts val="3582"/>
              </a:lnSpc>
              <a:spcBef>
                <a:spcPts val="600"/>
              </a:spcBef>
              <a:spcAft>
                <a:spcPts val="1800"/>
              </a:spcAft>
            </a:pP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3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/2)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48" dirty="0">
                <a:latin typeface="Times New Roman"/>
                <a:cs typeface="Times New Roman"/>
              </a:rPr>
              <a:t> </a:t>
            </a:r>
            <a:r>
              <a:rPr sz="2800" b="1" i="1" spc="-5" dirty="0" err="1">
                <a:latin typeface="Times New Roman"/>
                <a:cs typeface="Times New Roman"/>
              </a:rPr>
              <a:t>cn</a:t>
            </a:r>
            <a:r>
              <a:rPr sz="2800" b="1" i="1" spc="-5" dirty="0">
                <a:latin typeface="Times New Roman"/>
                <a:cs typeface="Times New Roman"/>
              </a:rPr>
              <a:t>  </a:t>
            </a:r>
            <a:r>
              <a:rPr lang="en-US" sz="2800" b="1" i="1" spc="-5" dirty="0" smtClean="0">
                <a:latin typeface="Times New Roman"/>
                <a:cs typeface="Times New Roman"/>
              </a:rPr>
              <a:t>    </a:t>
            </a:r>
            <a:r>
              <a:rPr sz="2800" b="1" i="1" spc="-5" dirty="0" smtClean="0">
                <a:latin typeface="Times New Roman"/>
                <a:cs typeface="Times New Roman"/>
              </a:rPr>
              <a:t>W</a:t>
            </a:r>
            <a:r>
              <a:rPr sz="2800" b="1" spc="-5" dirty="0" smtClean="0">
                <a:latin typeface="Times New Roman"/>
                <a:cs typeface="Times New Roman"/>
              </a:rPr>
              <a:t>(1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6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  <a:p>
            <a:pPr marL="54000">
              <a:spcBef>
                <a:spcPts val="372"/>
              </a:spcBef>
            </a:pPr>
            <a:r>
              <a:rPr sz="2800" b="1" dirty="0">
                <a:latin typeface="宋体"/>
                <a:cs typeface="宋体"/>
              </a:rPr>
              <a:t>方程的解</a:t>
            </a:r>
            <a:endParaRPr sz="2800" dirty="0">
              <a:latin typeface="宋体"/>
              <a:cs typeface="宋体"/>
            </a:endParaRPr>
          </a:p>
          <a:p>
            <a:pPr marL="1098908">
              <a:spcBef>
                <a:spcPts val="5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=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Times New Roman"/>
                <a:cs typeface="Times New Roman"/>
              </a:rPr>
              <a:t>log3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1.59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150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673" y="232370"/>
            <a:ext cx="8859472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spc="-1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sz="4000" spc="-5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sz="4000" spc="-11" dirty="0">
                <a:latin typeface="黑体" panose="02010609060101010101" pitchFamily="49" charset="-122"/>
                <a:ea typeface="黑体" panose="02010609060101010101" pitchFamily="49" charset="-122"/>
              </a:rPr>
              <a:t>：矩阵相乘问题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214" y="1598575"/>
            <a:ext cx="8614786" cy="3455117"/>
          </a:xfrm>
          <a:prstGeom prst="rect">
            <a:avLst/>
          </a:prstGeom>
        </p:spPr>
        <p:txBody>
          <a:bodyPr vert="horz" wrap="square" lIns="0" tIns="91127" rIns="0" bIns="0" rtlCol="0">
            <a:spAutoFit/>
          </a:bodyPr>
          <a:lstStyle/>
          <a:p>
            <a:pPr marL="12825" algn="just">
              <a:spcBef>
                <a:spcPts val="718"/>
              </a:spcBef>
            </a:pPr>
            <a:r>
              <a:rPr sz="2800" b="1" dirty="0">
                <a:latin typeface="宋体"/>
                <a:cs typeface="宋体"/>
              </a:rPr>
              <a:t>输入：</a:t>
            </a:r>
            <a:r>
              <a:rPr sz="2800" b="1" i="1" dirty="0">
                <a:latin typeface="Times New Roman"/>
                <a:cs typeface="Times New Roman"/>
              </a:rPr>
              <a:t>A,</a:t>
            </a:r>
            <a:r>
              <a:rPr sz="2800" b="1" i="1" spc="-3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sz="2800" b="1" spc="-11" dirty="0">
                <a:latin typeface="宋体"/>
                <a:cs typeface="宋体"/>
              </a:rPr>
              <a:t>为</a:t>
            </a:r>
            <a:r>
              <a:rPr sz="2800" b="1" spc="-648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-2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阶矩阵，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1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=2</a:t>
            </a:r>
            <a:r>
              <a:rPr sz="2800" b="1" i="1" spc="-7" baseline="24305" dirty="0">
                <a:latin typeface="Times New Roman"/>
                <a:cs typeface="Times New Roman"/>
              </a:rPr>
              <a:t>k</a:t>
            </a:r>
            <a:endParaRPr sz="2800" baseline="24305" dirty="0">
              <a:latin typeface="Times New Roman"/>
              <a:cs typeface="Times New Roman"/>
            </a:endParaRPr>
          </a:p>
          <a:p>
            <a:pPr algn="just"/>
            <a:r>
              <a:rPr sz="2800" b="1" spc="-5" dirty="0">
                <a:latin typeface="宋体"/>
                <a:cs typeface="宋体"/>
              </a:rPr>
              <a:t>输出</a:t>
            </a:r>
            <a:r>
              <a:rPr sz="2800" b="1" dirty="0">
                <a:latin typeface="宋体"/>
                <a:cs typeface="宋体"/>
              </a:rPr>
              <a:t>：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i="1" spc="-27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96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AB</a:t>
            </a:r>
            <a:endParaRPr sz="2800" dirty="0">
              <a:latin typeface="Times New Roman"/>
              <a:cs typeface="Times New Roman"/>
            </a:endParaRPr>
          </a:p>
          <a:p>
            <a:pPr algn="just">
              <a:spcBef>
                <a:spcPts val="58"/>
              </a:spcBef>
            </a:pPr>
            <a:endParaRPr sz="2800" dirty="0">
              <a:latin typeface="Times New Roman"/>
              <a:cs typeface="Times New Roman"/>
            </a:endParaRPr>
          </a:p>
          <a:p>
            <a:pPr algn="just"/>
            <a:r>
              <a:rPr sz="2800" b="1" dirty="0">
                <a:latin typeface="宋体"/>
                <a:cs typeface="宋体"/>
              </a:rPr>
              <a:t>通常矩阵乘法：</a:t>
            </a:r>
            <a:endParaRPr sz="2800" dirty="0">
              <a:latin typeface="宋体"/>
              <a:cs typeface="宋体"/>
            </a:endParaRPr>
          </a:p>
          <a:p>
            <a:pPr marL="700655" algn="just">
              <a:spcBef>
                <a:spcPts val="882"/>
              </a:spcBef>
            </a:pP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i="1" spc="-16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中</a:t>
            </a:r>
            <a:r>
              <a:rPr sz="2800" b="1" spc="-11" dirty="0">
                <a:latin typeface="宋体"/>
                <a:cs typeface="宋体"/>
              </a:rPr>
              <a:t>有</a:t>
            </a:r>
            <a:r>
              <a:rPr sz="2800" b="1" spc="-643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宋体"/>
                <a:cs typeface="宋体"/>
              </a:rPr>
              <a:t>个元素</a:t>
            </a:r>
            <a:endParaRPr sz="2800" dirty="0">
              <a:latin typeface="宋体"/>
              <a:cs typeface="宋体"/>
            </a:endParaRPr>
          </a:p>
          <a:p>
            <a:pPr marL="700655" marR="123526" algn="just">
              <a:lnSpc>
                <a:spcPct val="117500"/>
              </a:lnSpc>
            </a:pPr>
            <a:r>
              <a:rPr sz="2800" b="1" dirty="0">
                <a:latin typeface="宋体"/>
                <a:cs typeface="宋体"/>
              </a:rPr>
              <a:t>每个元素需要</a:t>
            </a:r>
            <a:r>
              <a:rPr sz="2800" b="1" spc="-11" dirty="0">
                <a:latin typeface="宋体"/>
                <a:cs typeface="宋体"/>
              </a:rPr>
              <a:t>做</a:t>
            </a:r>
            <a:r>
              <a:rPr sz="2800" b="1" spc="-68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-4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次乘法 以元素相乘为基本运算</a:t>
            </a:r>
            <a:endParaRPr sz="2800" dirty="0">
              <a:latin typeface="宋体"/>
              <a:cs typeface="宋体"/>
            </a:endParaRPr>
          </a:p>
          <a:p>
            <a:pPr marL="102601" algn="ctr">
              <a:spcBef>
                <a:spcPts val="500"/>
              </a:spcBef>
            </a:pP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)=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8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086" y="1465464"/>
            <a:ext cx="6171765" cy="444519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13500">
              <a:spcBef>
                <a:spcPts val="106"/>
              </a:spcBef>
              <a:tabLst>
                <a:tab pos="1312885" algn="l"/>
              </a:tabLst>
            </a:pPr>
            <a:r>
              <a:rPr sz="2800" b="1" dirty="0">
                <a:latin typeface="宋体"/>
                <a:cs typeface="宋体"/>
              </a:rPr>
              <a:t>分治</a:t>
            </a:r>
            <a:r>
              <a:rPr sz="2800" b="1" spc="-11" dirty="0">
                <a:latin typeface="宋体"/>
                <a:cs typeface="宋体"/>
              </a:rPr>
              <a:t>法</a:t>
            </a:r>
            <a:r>
              <a:rPr sz="2800" b="1" dirty="0">
                <a:latin typeface="宋体"/>
                <a:cs typeface="宋体"/>
              </a:rPr>
              <a:t>	将矩阵分块，得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39321" y="2199836"/>
            <a:ext cx="3834779" cy="604900"/>
          </a:xfrm>
          <a:prstGeom prst="rect">
            <a:avLst/>
          </a:prstGeom>
        </p:spPr>
        <p:txBody>
          <a:bodyPr vert="horz" wrap="square" lIns="0" tIns="14850" rIns="0" bIns="0" rtlCol="0">
            <a:spAutoFit/>
          </a:bodyPr>
          <a:lstStyle/>
          <a:p>
            <a:pPr marR="5400" algn="r">
              <a:lnSpc>
                <a:spcPts val="2307"/>
              </a:lnSpc>
              <a:spcBef>
                <a:spcPts val="117"/>
              </a:spcBef>
            </a:pPr>
            <a:r>
              <a:rPr sz="2020" spc="-85" dirty="0">
                <a:latin typeface="Symbol"/>
                <a:cs typeface="Symbol"/>
              </a:rPr>
              <a:t></a:t>
            </a:r>
            <a:endParaRPr sz="2020">
              <a:latin typeface="Symbol"/>
              <a:cs typeface="Symbol"/>
            </a:endParaRPr>
          </a:p>
          <a:p>
            <a:pPr marL="13500">
              <a:lnSpc>
                <a:spcPts val="2307"/>
              </a:lnSpc>
              <a:tabLst>
                <a:tab pos="298352" algn="l"/>
                <a:tab pos="866031" algn="l"/>
                <a:tab pos="1562637" algn="l"/>
                <a:tab pos="2130991" algn="l"/>
                <a:tab pos="2665595" algn="l"/>
                <a:tab pos="2950447" algn="l"/>
                <a:tab pos="3518800" algn="l"/>
              </a:tabLst>
            </a:pPr>
            <a:r>
              <a:rPr sz="2020" spc="-85" dirty="0">
                <a:latin typeface="Symbol"/>
                <a:cs typeface="Symbol"/>
              </a:rPr>
              <a:t></a:t>
            </a:r>
            <a:r>
              <a:rPr sz="2020" spc="-85" dirty="0">
                <a:latin typeface="Times New Roman"/>
                <a:cs typeface="Times New Roman"/>
              </a:rPr>
              <a:t>	</a:t>
            </a:r>
            <a:r>
              <a:rPr sz="2232" b="1" spc="-80" baseline="1984" dirty="0">
                <a:latin typeface="Times New Roman"/>
                <a:cs typeface="Times New Roman"/>
              </a:rPr>
              <a:t>21	22</a:t>
            </a:r>
            <a:r>
              <a:rPr sz="2232" b="1" spc="-135" baseline="1984" dirty="0">
                <a:latin typeface="Times New Roman"/>
                <a:cs typeface="Times New Roman"/>
              </a:rPr>
              <a:t> </a:t>
            </a:r>
            <a:r>
              <a:rPr sz="2020" spc="-85" dirty="0">
                <a:latin typeface="Symbol"/>
                <a:cs typeface="Symbol"/>
              </a:rPr>
              <a:t></a:t>
            </a:r>
            <a:r>
              <a:rPr sz="2020" spc="-85" dirty="0">
                <a:latin typeface="Times New Roman"/>
                <a:cs typeface="Times New Roman"/>
              </a:rPr>
              <a:t> </a:t>
            </a:r>
            <a:r>
              <a:rPr sz="2020" spc="-53" dirty="0">
                <a:latin typeface="Times New Roman"/>
                <a:cs typeface="Times New Roman"/>
              </a:rPr>
              <a:t> </a:t>
            </a:r>
            <a:r>
              <a:rPr sz="2020" spc="-85" dirty="0">
                <a:latin typeface="Symbol"/>
                <a:cs typeface="Symbol"/>
              </a:rPr>
              <a:t></a:t>
            </a:r>
            <a:r>
              <a:rPr sz="2020" spc="-85" dirty="0">
                <a:latin typeface="Times New Roman"/>
                <a:cs typeface="Times New Roman"/>
              </a:rPr>
              <a:t>	</a:t>
            </a:r>
            <a:r>
              <a:rPr sz="2232" b="1" spc="-80" baseline="1984" dirty="0">
                <a:latin typeface="Times New Roman"/>
                <a:cs typeface="Times New Roman"/>
              </a:rPr>
              <a:t>21	22</a:t>
            </a:r>
            <a:r>
              <a:rPr sz="2232" b="1" spc="-128" baseline="1984" dirty="0">
                <a:latin typeface="Times New Roman"/>
                <a:cs typeface="Times New Roman"/>
              </a:rPr>
              <a:t> </a:t>
            </a:r>
            <a:r>
              <a:rPr sz="2020" spc="-85" dirty="0">
                <a:latin typeface="Symbol"/>
                <a:cs typeface="Symbol"/>
              </a:rPr>
              <a:t></a:t>
            </a:r>
            <a:r>
              <a:rPr sz="2020" spc="-85" dirty="0">
                <a:latin typeface="Times New Roman"/>
                <a:cs typeface="Times New Roman"/>
              </a:rPr>
              <a:t>	</a:t>
            </a:r>
            <a:r>
              <a:rPr sz="2020" spc="-85" dirty="0">
                <a:latin typeface="Symbol"/>
                <a:cs typeface="Symbol"/>
              </a:rPr>
              <a:t></a:t>
            </a:r>
            <a:r>
              <a:rPr sz="2020" spc="-85" dirty="0">
                <a:latin typeface="Times New Roman"/>
                <a:cs typeface="Times New Roman"/>
              </a:rPr>
              <a:t>	</a:t>
            </a:r>
            <a:r>
              <a:rPr sz="2232" b="1" spc="-80" baseline="1984" dirty="0">
                <a:latin typeface="Times New Roman"/>
                <a:cs typeface="Times New Roman"/>
              </a:rPr>
              <a:t>21	22</a:t>
            </a:r>
            <a:r>
              <a:rPr sz="2232" b="1" spc="-231" baseline="1984" dirty="0">
                <a:latin typeface="Times New Roman"/>
                <a:cs typeface="Times New Roman"/>
              </a:rPr>
              <a:t> </a:t>
            </a:r>
            <a:r>
              <a:rPr sz="2020" spc="-85" dirty="0">
                <a:latin typeface="Symbol"/>
                <a:cs typeface="Symbol"/>
              </a:rPr>
              <a:t></a:t>
            </a:r>
            <a:endParaRPr sz="202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0210" y="2199836"/>
            <a:ext cx="1187357" cy="527956"/>
          </a:xfrm>
          <a:prstGeom prst="rect">
            <a:avLst/>
          </a:prstGeom>
        </p:spPr>
        <p:txBody>
          <a:bodyPr vert="horz" wrap="square" lIns="0" tIns="14850" rIns="0" bIns="0" rtlCol="0">
            <a:spAutoFit/>
          </a:bodyPr>
          <a:lstStyle/>
          <a:p>
            <a:pPr marL="13500">
              <a:lnSpc>
                <a:spcPts val="2041"/>
              </a:lnSpc>
              <a:spcBef>
                <a:spcPts val="117"/>
              </a:spcBef>
            </a:pPr>
            <a:r>
              <a:rPr sz="2020" spc="-85" dirty="0">
                <a:latin typeface="Symbol"/>
                <a:cs typeface="Symbol"/>
              </a:rPr>
              <a:t></a:t>
            </a:r>
            <a:r>
              <a:rPr sz="2020" spc="-85" dirty="0">
                <a:latin typeface="Times New Roman"/>
                <a:cs typeface="Times New Roman"/>
              </a:rPr>
              <a:t> </a:t>
            </a:r>
            <a:r>
              <a:rPr sz="3030" spc="-175" baseline="-2923" dirty="0">
                <a:latin typeface="Symbol"/>
                <a:cs typeface="Symbol"/>
              </a:rPr>
              <a:t></a:t>
            </a:r>
            <a:r>
              <a:rPr sz="3030" spc="-151" baseline="-2923" dirty="0">
                <a:latin typeface="Times New Roman"/>
                <a:cs typeface="Times New Roman"/>
              </a:rPr>
              <a:t> </a:t>
            </a:r>
            <a:r>
              <a:rPr sz="2020" spc="-85" dirty="0">
                <a:latin typeface="Symbol"/>
                <a:cs typeface="Symbol"/>
              </a:rPr>
              <a:t></a:t>
            </a:r>
            <a:endParaRPr sz="2020" dirty="0">
              <a:latin typeface="Symbol"/>
              <a:cs typeface="Symbol"/>
            </a:endParaRPr>
          </a:p>
          <a:p>
            <a:pPr marL="451578">
              <a:lnSpc>
                <a:spcPts val="2041"/>
              </a:lnSpc>
              <a:tabLst>
                <a:tab pos="1019258" algn="l"/>
              </a:tabLst>
            </a:pPr>
            <a:r>
              <a:rPr sz="2020" b="1" i="1" spc="-144" dirty="0">
                <a:latin typeface="Times New Roman"/>
                <a:cs typeface="Times New Roman"/>
              </a:rPr>
              <a:t>C	C</a:t>
            </a:r>
            <a:endParaRPr sz="202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4951" y="2199836"/>
            <a:ext cx="1078003" cy="527956"/>
          </a:xfrm>
          <a:prstGeom prst="rect">
            <a:avLst/>
          </a:prstGeom>
        </p:spPr>
        <p:txBody>
          <a:bodyPr vert="horz" wrap="square" lIns="0" tIns="14850" rIns="0" bIns="0" rtlCol="0">
            <a:spAutoFit/>
          </a:bodyPr>
          <a:lstStyle/>
          <a:p>
            <a:pPr marL="13500">
              <a:lnSpc>
                <a:spcPts val="2041"/>
              </a:lnSpc>
              <a:spcBef>
                <a:spcPts val="117"/>
              </a:spcBef>
            </a:pPr>
            <a:r>
              <a:rPr sz="2020" spc="-85" dirty="0">
                <a:latin typeface="Symbol"/>
                <a:cs typeface="Symbol"/>
              </a:rPr>
              <a:t></a:t>
            </a:r>
            <a:r>
              <a:rPr sz="2020" spc="-74" dirty="0">
                <a:latin typeface="Times New Roman"/>
                <a:cs typeface="Times New Roman"/>
              </a:rPr>
              <a:t> </a:t>
            </a:r>
            <a:r>
              <a:rPr sz="2020" spc="-85" dirty="0">
                <a:latin typeface="Symbol"/>
                <a:cs typeface="Symbol"/>
              </a:rPr>
              <a:t></a:t>
            </a:r>
            <a:endParaRPr sz="2020">
              <a:latin typeface="Symbol"/>
              <a:cs typeface="Symbol"/>
            </a:endParaRPr>
          </a:p>
          <a:p>
            <a:pPr marL="341553">
              <a:lnSpc>
                <a:spcPts val="2041"/>
              </a:lnSpc>
              <a:tabLst>
                <a:tab pos="910582" algn="l"/>
              </a:tabLst>
            </a:pPr>
            <a:r>
              <a:rPr sz="2020" b="1" i="1" spc="-144" dirty="0">
                <a:latin typeface="Times New Roman"/>
                <a:cs typeface="Times New Roman"/>
              </a:rPr>
              <a:t>B	B</a:t>
            </a:r>
            <a:endParaRPr sz="202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7051" y="2087181"/>
            <a:ext cx="1947428" cy="325849"/>
          </a:xfrm>
          <a:prstGeom prst="rect">
            <a:avLst/>
          </a:prstGeom>
        </p:spPr>
        <p:txBody>
          <a:bodyPr vert="horz" wrap="square" lIns="0" tIns="14850" rIns="0" bIns="0" rtlCol="0">
            <a:spAutoFit/>
          </a:bodyPr>
          <a:lstStyle/>
          <a:p>
            <a:pPr marL="54000">
              <a:spcBef>
                <a:spcPts val="117"/>
              </a:spcBef>
              <a:tabLst>
                <a:tab pos="737780" algn="l"/>
                <a:tab pos="1427636" algn="l"/>
              </a:tabLst>
            </a:pPr>
            <a:r>
              <a:rPr sz="3030" b="1" i="1" spc="-159" baseline="14619" dirty="0">
                <a:latin typeface="Times New Roman"/>
                <a:cs typeface="Times New Roman"/>
              </a:rPr>
              <a:t>B</a:t>
            </a:r>
            <a:r>
              <a:rPr sz="1488" b="1" spc="-106" dirty="0">
                <a:latin typeface="Times New Roman"/>
                <a:cs typeface="Times New Roman"/>
              </a:rPr>
              <a:t>12</a:t>
            </a:r>
            <a:r>
              <a:rPr sz="1488" b="1" spc="-48" dirty="0">
                <a:latin typeface="Times New Roman"/>
                <a:cs typeface="Times New Roman"/>
              </a:rPr>
              <a:t> </a:t>
            </a:r>
            <a:r>
              <a:rPr sz="3030" spc="-128" baseline="11695" dirty="0">
                <a:latin typeface="Symbol"/>
                <a:cs typeface="Symbol"/>
              </a:rPr>
              <a:t></a:t>
            </a:r>
            <a:r>
              <a:rPr sz="3030" spc="-128" baseline="11695" dirty="0">
                <a:latin typeface="Times New Roman"/>
                <a:cs typeface="Times New Roman"/>
              </a:rPr>
              <a:t>	</a:t>
            </a:r>
            <a:r>
              <a:rPr sz="3030" spc="-128" baseline="11695" dirty="0">
                <a:latin typeface="Symbol"/>
                <a:cs typeface="Symbol"/>
              </a:rPr>
              <a:t></a:t>
            </a:r>
            <a:r>
              <a:rPr sz="3030" spc="-367" baseline="11695" dirty="0">
                <a:latin typeface="Times New Roman"/>
                <a:cs typeface="Times New Roman"/>
              </a:rPr>
              <a:t> </a:t>
            </a:r>
            <a:r>
              <a:rPr sz="3030" b="1" i="1" spc="-103" baseline="14619" dirty="0">
                <a:latin typeface="Times New Roman"/>
                <a:cs typeface="Times New Roman"/>
              </a:rPr>
              <a:t>C</a:t>
            </a:r>
            <a:r>
              <a:rPr sz="1488" b="1" spc="-69" dirty="0">
                <a:latin typeface="Times New Roman"/>
                <a:cs typeface="Times New Roman"/>
              </a:rPr>
              <a:t>11	</a:t>
            </a:r>
            <a:r>
              <a:rPr sz="3030" b="1" i="1" spc="-103" baseline="14619" dirty="0">
                <a:latin typeface="Times New Roman"/>
                <a:cs typeface="Times New Roman"/>
              </a:rPr>
              <a:t>C</a:t>
            </a:r>
            <a:r>
              <a:rPr sz="1488" b="1" spc="-69" dirty="0">
                <a:latin typeface="Times New Roman"/>
                <a:cs typeface="Times New Roman"/>
              </a:rPr>
              <a:t>12</a:t>
            </a:r>
            <a:r>
              <a:rPr sz="1488" b="1" spc="-85" dirty="0">
                <a:latin typeface="Times New Roman"/>
                <a:cs typeface="Times New Roman"/>
              </a:rPr>
              <a:t> </a:t>
            </a:r>
            <a:r>
              <a:rPr sz="3030" spc="-128" baseline="11695" dirty="0">
                <a:latin typeface="Symbol"/>
                <a:cs typeface="Symbol"/>
              </a:rPr>
              <a:t></a:t>
            </a:r>
            <a:endParaRPr sz="3030" baseline="11695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9321" y="2199836"/>
            <a:ext cx="889674" cy="527956"/>
          </a:xfrm>
          <a:prstGeom prst="rect">
            <a:avLst/>
          </a:prstGeom>
        </p:spPr>
        <p:txBody>
          <a:bodyPr vert="horz" wrap="square" lIns="0" tIns="14850" rIns="0" bIns="0" rtlCol="0">
            <a:spAutoFit/>
          </a:bodyPr>
          <a:lstStyle/>
          <a:p>
            <a:pPr marL="13500">
              <a:lnSpc>
                <a:spcPts val="2041"/>
              </a:lnSpc>
              <a:spcBef>
                <a:spcPts val="117"/>
              </a:spcBef>
            </a:pPr>
            <a:r>
              <a:rPr sz="2020" spc="-85" dirty="0">
                <a:latin typeface="Symbol"/>
                <a:cs typeface="Symbol"/>
              </a:rPr>
              <a:t></a:t>
            </a:r>
            <a:endParaRPr sz="2020">
              <a:latin typeface="Symbol"/>
              <a:cs typeface="Symbol"/>
            </a:endParaRPr>
          </a:p>
          <a:p>
            <a:pPr marL="154576">
              <a:lnSpc>
                <a:spcPts val="2041"/>
              </a:lnSpc>
              <a:tabLst>
                <a:tab pos="722255" algn="l"/>
              </a:tabLst>
            </a:pPr>
            <a:r>
              <a:rPr sz="2020" b="1" i="1" spc="-144" dirty="0">
                <a:latin typeface="Times New Roman"/>
                <a:cs typeface="Times New Roman"/>
              </a:rPr>
              <a:t>A	A</a:t>
            </a:r>
            <a:endParaRPr sz="202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8820" y="2087181"/>
            <a:ext cx="1838749" cy="325849"/>
          </a:xfrm>
          <a:prstGeom prst="rect">
            <a:avLst/>
          </a:prstGeom>
        </p:spPr>
        <p:txBody>
          <a:bodyPr vert="horz" wrap="square" lIns="0" tIns="14850" rIns="0" bIns="0" rtlCol="0">
            <a:spAutoFit/>
          </a:bodyPr>
          <a:lstStyle/>
          <a:p>
            <a:pPr marL="54000">
              <a:spcBef>
                <a:spcPts val="117"/>
              </a:spcBef>
              <a:tabLst>
                <a:tab pos="768156" algn="l"/>
              </a:tabLst>
            </a:pPr>
            <a:r>
              <a:rPr sz="3030" spc="-128" baseline="11695" dirty="0">
                <a:latin typeface="Symbol"/>
                <a:cs typeface="Symbol"/>
              </a:rPr>
              <a:t></a:t>
            </a:r>
            <a:r>
              <a:rPr sz="3030" spc="-71" baseline="11695" dirty="0">
                <a:latin typeface="Times New Roman"/>
                <a:cs typeface="Times New Roman"/>
              </a:rPr>
              <a:t> </a:t>
            </a:r>
            <a:r>
              <a:rPr sz="3030" b="1" i="1" spc="-199" baseline="14619" dirty="0">
                <a:latin typeface="Times New Roman"/>
                <a:cs typeface="Times New Roman"/>
              </a:rPr>
              <a:t>A</a:t>
            </a:r>
            <a:r>
              <a:rPr sz="1488" b="1" spc="-133" dirty="0">
                <a:latin typeface="Times New Roman"/>
                <a:cs typeface="Times New Roman"/>
              </a:rPr>
              <a:t>11	</a:t>
            </a:r>
            <a:r>
              <a:rPr sz="3030" b="1" i="1" spc="-207" baseline="14619" dirty="0">
                <a:latin typeface="Times New Roman"/>
                <a:cs typeface="Times New Roman"/>
              </a:rPr>
              <a:t>A</a:t>
            </a:r>
            <a:r>
              <a:rPr sz="1488" b="1" spc="-138" dirty="0">
                <a:latin typeface="Times New Roman"/>
                <a:cs typeface="Times New Roman"/>
              </a:rPr>
              <a:t>12 </a:t>
            </a:r>
            <a:r>
              <a:rPr sz="3030" spc="-128" baseline="11695" dirty="0">
                <a:latin typeface="Symbol"/>
                <a:cs typeface="Symbol"/>
              </a:rPr>
              <a:t></a:t>
            </a:r>
            <a:r>
              <a:rPr sz="3030" spc="-128" baseline="11695" dirty="0">
                <a:latin typeface="Times New Roman"/>
                <a:cs typeface="Times New Roman"/>
              </a:rPr>
              <a:t> </a:t>
            </a:r>
            <a:r>
              <a:rPr sz="3030" spc="-128" baseline="11695" dirty="0">
                <a:latin typeface="Symbol"/>
                <a:cs typeface="Symbol"/>
              </a:rPr>
              <a:t></a:t>
            </a:r>
            <a:r>
              <a:rPr sz="3030" spc="-478" baseline="11695" dirty="0">
                <a:latin typeface="Times New Roman"/>
                <a:cs typeface="Times New Roman"/>
              </a:rPr>
              <a:t> </a:t>
            </a:r>
            <a:r>
              <a:rPr sz="3030" b="1" i="1" spc="-119" baseline="14619" dirty="0">
                <a:latin typeface="Times New Roman"/>
                <a:cs typeface="Times New Roman"/>
              </a:rPr>
              <a:t>B</a:t>
            </a:r>
            <a:r>
              <a:rPr sz="1488" b="1" spc="-80" dirty="0">
                <a:latin typeface="Times New Roman"/>
                <a:cs typeface="Times New Roman"/>
              </a:rPr>
              <a:t>11</a:t>
            </a:r>
            <a:endParaRPr sz="148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085" y="3523453"/>
            <a:ext cx="8895392" cy="2026431"/>
          </a:xfrm>
          <a:prstGeom prst="rect">
            <a:avLst/>
          </a:prstGeom>
        </p:spPr>
        <p:txBody>
          <a:bodyPr vert="horz" wrap="square" lIns="0" tIns="166730" rIns="0" bIns="0" rtlCol="0">
            <a:spAutoFit/>
          </a:bodyPr>
          <a:lstStyle/>
          <a:p>
            <a:pPr marL="165376">
              <a:spcBef>
                <a:spcPts val="1313"/>
              </a:spcBef>
              <a:tabLst>
                <a:tab pos="2831646" algn="l"/>
              </a:tabLst>
            </a:pPr>
            <a:r>
              <a:rPr sz="3508" b="1" i="1" spc="-32" baseline="13888" dirty="0">
                <a:latin typeface="Times New Roman"/>
                <a:cs typeface="Times New Roman"/>
              </a:rPr>
              <a:t>C</a:t>
            </a:r>
            <a:r>
              <a:rPr sz="1382" b="1" spc="-21" dirty="0">
                <a:latin typeface="Times New Roman"/>
                <a:cs typeface="Times New Roman"/>
              </a:rPr>
              <a:t>21  </a:t>
            </a:r>
            <a:r>
              <a:rPr sz="3508" spc="-64" baseline="13888" dirty="0">
                <a:latin typeface="Symbol"/>
                <a:cs typeface="Symbol"/>
              </a:rPr>
              <a:t></a:t>
            </a:r>
            <a:r>
              <a:rPr sz="3508" spc="-64" baseline="13888" dirty="0">
                <a:latin typeface="Times New Roman"/>
                <a:cs typeface="Times New Roman"/>
              </a:rPr>
              <a:t> </a:t>
            </a:r>
            <a:r>
              <a:rPr sz="3508" b="1" i="1" spc="-151" baseline="13888" dirty="0">
                <a:latin typeface="Times New Roman"/>
                <a:cs typeface="Times New Roman"/>
              </a:rPr>
              <a:t>A</a:t>
            </a:r>
            <a:r>
              <a:rPr sz="1382" b="1" spc="-101" dirty="0">
                <a:latin typeface="Times New Roman"/>
                <a:cs typeface="Times New Roman"/>
              </a:rPr>
              <a:t>21 </a:t>
            </a:r>
            <a:r>
              <a:rPr sz="3508" b="1" i="1" spc="-135" baseline="13888" dirty="0">
                <a:latin typeface="Times New Roman"/>
                <a:cs typeface="Times New Roman"/>
              </a:rPr>
              <a:t>B</a:t>
            </a:r>
            <a:r>
              <a:rPr sz="1382" b="1" spc="-90" dirty="0">
                <a:latin typeface="Times New Roman"/>
                <a:cs typeface="Times New Roman"/>
              </a:rPr>
              <a:t>11</a:t>
            </a:r>
            <a:r>
              <a:rPr sz="1382" b="1" spc="165" dirty="0">
                <a:latin typeface="Times New Roman"/>
                <a:cs typeface="Times New Roman"/>
              </a:rPr>
              <a:t> </a:t>
            </a:r>
            <a:r>
              <a:rPr sz="3508" spc="-64" baseline="13888" dirty="0">
                <a:latin typeface="Symbol"/>
                <a:cs typeface="Symbol"/>
              </a:rPr>
              <a:t></a:t>
            </a:r>
            <a:r>
              <a:rPr sz="3508" spc="87" baseline="13888" dirty="0">
                <a:latin typeface="Times New Roman"/>
                <a:cs typeface="Times New Roman"/>
              </a:rPr>
              <a:t> </a:t>
            </a:r>
            <a:r>
              <a:rPr sz="3508" b="1" i="1" spc="-151" baseline="13888" dirty="0">
                <a:latin typeface="Times New Roman"/>
                <a:cs typeface="Times New Roman"/>
              </a:rPr>
              <a:t>A</a:t>
            </a:r>
            <a:r>
              <a:rPr sz="1382" b="1" spc="-101" dirty="0">
                <a:latin typeface="Times New Roman"/>
                <a:cs typeface="Times New Roman"/>
              </a:rPr>
              <a:t>22</a:t>
            </a:r>
            <a:r>
              <a:rPr sz="1382" b="1" spc="-197" dirty="0">
                <a:latin typeface="Times New Roman"/>
                <a:cs typeface="Times New Roman"/>
              </a:rPr>
              <a:t> </a:t>
            </a:r>
            <a:r>
              <a:rPr sz="3508" b="1" i="1" spc="-95" baseline="13888" dirty="0">
                <a:latin typeface="Times New Roman"/>
                <a:cs typeface="Times New Roman"/>
              </a:rPr>
              <a:t>B</a:t>
            </a:r>
            <a:r>
              <a:rPr sz="1382" b="1" spc="-64" dirty="0">
                <a:latin typeface="Times New Roman"/>
                <a:cs typeface="Times New Roman"/>
              </a:rPr>
              <a:t>21	</a:t>
            </a:r>
            <a:r>
              <a:rPr sz="3508" b="1" i="1" spc="-32" baseline="13888" dirty="0">
                <a:latin typeface="Times New Roman"/>
                <a:cs typeface="Times New Roman"/>
              </a:rPr>
              <a:t>C</a:t>
            </a:r>
            <a:r>
              <a:rPr sz="1382" b="1" spc="-21" dirty="0">
                <a:latin typeface="Times New Roman"/>
                <a:cs typeface="Times New Roman"/>
              </a:rPr>
              <a:t>22 </a:t>
            </a:r>
            <a:r>
              <a:rPr sz="3508" spc="-64" baseline="13888" dirty="0">
                <a:latin typeface="Symbol"/>
                <a:cs typeface="Symbol"/>
              </a:rPr>
              <a:t></a:t>
            </a:r>
            <a:r>
              <a:rPr sz="3508" spc="-64" baseline="13888" dirty="0">
                <a:latin typeface="Times New Roman"/>
                <a:cs typeface="Times New Roman"/>
              </a:rPr>
              <a:t> </a:t>
            </a:r>
            <a:r>
              <a:rPr sz="3508" b="1" i="1" spc="-151" baseline="13888" dirty="0">
                <a:latin typeface="Times New Roman"/>
                <a:cs typeface="Times New Roman"/>
              </a:rPr>
              <a:t>A</a:t>
            </a:r>
            <a:r>
              <a:rPr sz="1382" b="1" spc="-101" dirty="0">
                <a:latin typeface="Times New Roman"/>
                <a:cs typeface="Times New Roman"/>
              </a:rPr>
              <a:t>21 </a:t>
            </a:r>
            <a:r>
              <a:rPr sz="3508" b="1" i="1" spc="-135" baseline="13888" dirty="0">
                <a:latin typeface="Times New Roman"/>
                <a:cs typeface="Times New Roman"/>
              </a:rPr>
              <a:t>B</a:t>
            </a:r>
            <a:r>
              <a:rPr sz="1382" b="1" spc="-90" dirty="0">
                <a:latin typeface="Times New Roman"/>
                <a:cs typeface="Times New Roman"/>
              </a:rPr>
              <a:t>12 </a:t>
            </a:r>
            <a:r>
              <a:rPr sz="3508" spc="-64" baseline="13888" dirty="0">
                <a:latin typeface="Symbol"/>
                <a:cs typeface="Symbol"/>
              </a:rPr>
              <a:t></a:t>
            </a:r>
            <a:r>
              <a:rPr sz="3508" spc="-64" baseline="13888" dirty="0">
                <a:latin typeface="Times New Roman"/>
                <a:cs typeface="Times New Roman"/>
              </a:rPr>
              <a:t> </a:t>
            </a:r>
            <a:r>
              <a:rPr sz="3508" b="1" i="1" spc="-151" baseline="13888" dirty="0">
                <a:latin typeface="Times New Roman"/>
                <a:cs typeface="Times New Roman"/>
              </a:rPr>
              <a:t>A</a:t>
            </a:r>
            <a:r>
              <a:rPr sz="1382" b="1" spc="-101" dirty="0">
                <a:latin typeface="Times New Roman"/>
                <a:cs typeface="Times New Roman"/>
              </a:rPr>
              <a:t>22</a:t>
            </a:r>
            <a:r>
              <a:rPr sz="1382" b="1" spc="-74" dirty="0">
                <a:latin typeface="Times New Roman"/>
                <a:cs typeface="Times New Roman"/>
              </a:rPr>
              <a:t> </a:t>
            </a:r>
            <a:r>
              <a:rPr sz="3508" b="1" i="1" spc="-111" baseline="13888" dirty="0">
                <a:latin typeface="Times New Roman"/>
                <a:cs typeface="Times New Roman"/>
              </a:rPr>
              <a:t>B</a:t>
            </a:r>
            <a:r>
              <a:rPr sz="1382" b="1" spc="-74" dirty="0">
                <a:latin typeface="Times New Roman"/>
                <a:cs typeface="Times New Roman"/>
              </a:rPr>
              <a:t>22</a:t>
            </a:r>
            <a:endParaRPr sz="1382" dirty="0">
              <a:latin typeface="Times New Roman"/>
              <a:cs typeface="Times New Roman"/>
            </a:endParaRPr>
          </a:p>
          <a:p>
            <a:pPr marL="67501">
              <a:spcBef>
                <a:spcPts val="1297"/>
              </a:spcBef>
            </a:pPr>
            <a:r>
              <a:rPr sz="2551" b="1" dirty="0">
                <a:latin typeface="宋体"/>
                <a:cs typeface="宋体"/>
              </a:rPr>
              <a:t>递推方</a:t>
            </a:r>
            <a:r>
              <a:rPr sz="2551" b="1" spc="-11" dirty="0">
                <a:latin typeface="宋体"/>
                <a:cs typeface="宋体"/>
              </a:rPr>
              <a:t>程</a:t>
            </a:r>
            <a:r>
              <a:rPr sz="2551" b="1" spc="-21" dirty="0">
                <a:latin typeface="宋体"/>
                <a:cs typeface="宋体"/>
              </a:rPr>
              <a:t> </a:t>
            </a:r>
            <a:r>
              <a:rPr sz="2551" b="1" i="1" spc="-5" dirty="0">
                <a:latin typeface="Times New Roman"/>
                <a:cs typeface="Times New Roman"/>
              </a:rPr>
              <a:t>W</a:t>
            </a:r>
            <a:r>
              <a:rPr sz="2551" b="1" spc="-5" dirty="0">
                <a:latin typeface="Times New Roman"/>
                <a:cs typeface="Times New Roman"/>
              </a:rPr>
              <a:t>(</a:t>
            </a:r>
            <a:r>
              <a:rPr sz="2551" b="1" i="1" spc="-5" dirty="0">
                <a:latin typeface="Times New Roman"/>
                <a:cs typeface="Times New Roman"/>
              </a:rPr>
              <a:t>n</a:t>
            </a:r>
            <a:r>
              <a:rPr sz="2551" b="1" spc="-5" dirty="0">
                <a:latin typeface="Times New Roman"/>
                <a:cs typeface="Times New Roman"/>
              </a:rPr>
              <a:t>)</a:t>
            </a:r>
            <a:r>
              <a:rPr sz="2551" b="1" dirty="0">
                <a:latin typeface="Times New Roman"/>
                <a:cs typeface="Times New Roman"/>
              </a:rPr>
              <a:t> =</a:t>
            </a:r>
            <a:r>
              <a:rPr sz="2551" b="1" spc="-5" dirty="0">
                <a:latin typeface="Times New Roman"/>
                <a:cs typeface="Times New Roman"/>
              </a:rPr>
              <a:t> </a:t>
            </a:r>
            <a:r>
              <a:rPr sz="2551" b="1" dirty="0">
                <a:latin typeface="Times New Roman"/>
                <a:cs typeface="Times New Roman"/>
              </a:rPr>
              <a:t>8 </a:t>
            </a:r>
            <a:r>
              <a:rPr sz="2551" b="1" i="1" spc="-5" dirty="0">
                <a:latin typeface="Times New Roman"/>
                <a:cs typeface="Times New Roman"/>
              </a:rPr>
              <a:t>W</a:t>
            </a:r>
            <a:r>
              <a:rPr sz="2551" b="1" spc="-5" dirty="0">
                <a:latin typeface="Times New Roman"/>
                <a:cs typeface="Times New Roman"/>
              </a:rPr>
              <a:t>(</a:t>
            </a:r>
            <a:r>
              <a:rPr sz="2551" b="1" i="1" spc="-5" dirty="0">
                <a:latin typeface="Times New Roman"/>
                <a:cs typeface="Times New Roman"/>
              </a:rPr>
              <a:t>n</a:t>
            </a:r>
            <a:r>
              <a:rPr sz="2551" b="1" spc="-5" dirty="0">
                <a:latin typeface="Times New Roman"/>
                <a:cs typeface="Times New Roman"/>
              </a:rPr>
              <a:t>/2) </a:t>
            </a:r>
            <a:r>
              <a:rPr sz="2551" b="1" dirty="0">
                <a:latin typeface="Times New Roman"/>
                <a:cs typeface="Times New Roman"/>
              </a:rPr>
              <a:t>+</a:t>
            </a:r>
            <a:r>
              <a:rPr sz="2551" b="1" spc="-16" dirty="0">
                <a:latin typeface="Times New Roman"/>
                <a:cs typeface="Times New Roman"/>
              </a:rPr>
              <a:t> </a:t>
            </a:r>
            <a:r>
              <a:rPr sz="2551" b="1" i="1" spc="-5" dirty="0">
                <a:latin typeface="Times New Roman"/>
                <a:cs typeface="Times New Roman"/>
              </a:rPr>
              <a:t>cn</a:t>
            </a:r>
            <a:r>
              <a:rPr sz="2551" b="1" spc="-7" baseline="24305" dirty="0">
                <a:latin typeface="Times New Roman"/>
                <a:cs typeface="Times New Roman"/>
              </a:rPr>
              <a:t>2</a:t>
            </a:r>
            <a:endParaRPr sz="2551" baseline="24305" dirty="0">
              <a:latin typeface="Times New Roman"/>
              <a:cs typeface="Times New Roman"/>
            </a:endParaRPr>
          </a:p>
          <a:p>
            <a:pPr marL="1523486">
              <a:spcBef>
                <a:spcPts val="611"/>
              </a:spcBef>
            </a:pPr>
            <a:r>
              <a:rPr sz="2551" b="1" i="1" spc="-5" dirty="0">
                <a:latin typeface="Times New Roman"/>
                <a:cs typeface="Times New Roman"/>
              </a:rPr>
              <a:t>W</a:t>
            </a:r>
            <a:r>
              <a:rPr sz="2551" b="1" spc="-5" dirty="0">
                <a:latin typeface="Times New Roman"/>
                <a:cs typeface="Times New Roman"/>
              </a:rPr>
              <a:t>(1) </a:t>
            </a:r>
            <a:r>
              <a:rPr sz="2551" b="1" dirty="0">
                <a:latin typeface="Times New Roman"/>
                <a:cs typeface="Times New Roman"/>
              </a:rPr>
              <a:t>=</a:t>
            </a:r>
            <a:r>
              <a:rPr sz="2551" b="1" spc="-5" dirty="0">
                <a:latin typeface="Times New Roman"/>
                <a:cs typeface="Times New Roman"/>
              </a:rPr>
              <a:t> </a:t>
            </a:r>
            <a:r>
              <a:rPr sz="2551" b="1" dirty="0">
                <a:latin typeface="Times New Roman"/>
                <a:cs typeface="Times New Roman"/>
              </a:rPr>
              <a:t>1</a:t>
            </a:r>
            <a:endParaRPr sz="2551" dirty="0">
              <a:latin typeface="Times New Roman"/>
              <a:cs typeface="Times New Roman"/>
            </a:endParaRPr>
          </a:p>
          <a:p>
            <a:pPr marL="67501">
              <a:spcBef>
                <a:spcPts val="611"/>
              </a:spcBef>
              <a:tabLst>
                <a:tab pos="1525511" algn="l"/>
              </a:tabLst>
            </a:pPr>
            <a:r>
              <a:rPr sz="2551" b="1" spc="-11" dirty="0">
                <a:latin typeface="宋体"/>
                <a:cs typeface="宋体"/>
              </a:rPr>
              <a:t>解	</a:t>
            </a:r>
            <a:r>
              <a:rPr sz="2551" b="1" i="1" spc="-5" dirty="0">
                <a:latin typeface="Times New Roman"/>
                <a:cs typeface="Times New Roman"/>
              </a:rPr>
              <a:t>W</a:t>
            </a:r>
            <a:r>
              <a:rPr sz="2551" b="1" spc="-5" dirty="0">
                <a:latin typeface="Times New Roman"/>
                <a:cs typeface="Times New Roman"/>
              </a:rPr>
              <a:t>(</a:t>
            </a:r>
            <a:r>
              <a:rPr sz="2551" b="1" i="1" spc="-5" dirty="0">
                <a:latin typeface="Times New Roman"/>
                <a:cs typeface="Times New Roman"/>
              </a:rPr>
              <a:t>n</a:t>
            </a:r>
            <a:r>
              <a:rPr sz="2551" b="1" spc="-5" dirty="0">
                <a:latin typeface="Times New Roman"/>
                <a:cs typeface="Times New Roman"/>
              </a:rPr>
              <a:t>) </a:t>
            </a:r>
            <a:r>
              <a:rPr sz="2551" b="1" dirty="0">
                <a:latin typeface="Times New Roman"/>
                <a:cs typeface="Times New Roman"/>
              </a:rPr>
              <a:t>=</a:t>
            </a:r>
            <a:r>
              <a:rPr sz="2551" b="1" spc="5" dirty="0">
                <a:latin typeface="Times New Roman"/>
                <a:cs typeface="Times New Roman"/>
              </a:rPr>
              <a:t> </a:t>
            </a:r>
            <a:r>
              <a:rPr sz="2551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51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551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51" b="1" spc="-7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551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r>
              <a:rPr sz="2551" b="1" spc="-5" dirty="0">
                <a:latin typeface="Times New Roman"/>
                <a:cs typeface="Times New Roman"/>
              </a:rPr>
              <a:t>.</a:t>
            </a:r>
            <a:endParaRPr sz="2551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81866" y="3216313"/>
            <a:ext cx="2450991" cy="375518"/>
          </a:xfrm>
          <a:prstGeom prst="rect">
            <a:avLst/>
          </a:prstGeom>
        </p:spPr>
        <p:txBody>
          <a:bodyPr vert="horz" wrap="square" lIns="0" tIns="15524" rIns="0" bIns="0" rtlCol="0">
            <a:spAutoFit/>
          </a:bodyPr>
          <a:lstStyle/>
          <a:p>
            <a:pPr marL="40500">
              <a:spcBef>
                <a:spcPts val="121"/>
              </a:spcBef>
            </a:pPr>
            <a:r>
              <a:rPr sz="3508" b="1" i="1" spc="-71" baseline="13888" dirty="0">
                <a:latin typeface="Times New Roman"/>
                <a:cs typeface="Times New Roman"/>
              </a:rPr>
              <a:t>C</a:t>
            </a:r>
            <a:r>
              <a:rPr sz="1382" b="1" spc="-48" dirty="0">
                <a:latin typeface="Times New Roman"/>
                <a:cs typeface="Times New Roman"/>
              </a:rPr>
              <a:t>12 </a:t>
            </a:r>
            <a:r>
              <a:rPr sz="3508" spc="-64" baseline="13888" dirty="0">
                <a:latin typeface="Symbol"/>
                <a:cs typeface="Symbol"/>
              </a:rPr>
              <a:t></a:t>
            </a:r>
            <a:r>
              <a:rPr sz="3508" spc="-64" baseline="13888" dirty="0">
                <a:latin typeface="Times New Roman"/>
                <a:cs typeface="Times New Roman"/>
              </a:rPr>
              <a:t> </a:t>
            </a:r>
            <a:r>
              <a:rPr sz="3508" b="1" i="1" spc="-190" baseline="13888" dirty="0">
                <a:latin typeface="Times New Roman"/>
                <a:cs typeface="Times New Roman"/>
              </a:rPr>
              <a:t>A</a:t>
            </a:r>
            <a:r>
              <a:rPr sz="1382" b="1" spc="-128" dirty="0">
                <a:latin typeface="Times New Roman"/>
                <a:cs typeface="Times New Roman"/>
              </a:rPr>
              <a:t>11 </a:t>
            </a:r>
            <a:r>
              <a:rPr sz="3508" b="1" i="1" spc="-135" baseline="13888" dirty="0">
                <a:latin typeface="Times New Roman"/>
                <a:cs typeface="Times New Roman"/>
              </a:rPr>
              <a:t>B</a:t>
            </a:r>
            <a:r>
              <a:rPr sz="1382" b="1" spc="-90" dirty="0">
                <a:latin typeface="Times New Roman"/>
                <a:cs typeface="Times New Roman"/>
              </a:rPr>
              <a:t>12 </a:t>
            </a:r>
            <a:r>
              <a:rPr sz="3508" spc="-64" baseline="13888" dirty="0">
                <a:latin typeface="Symbol"/>
                <a:cs typeface="Symbol"/>
              </a:rPr>
              <a:t></a:t>
            </a:r>
            <a:r>
              <a:rPr sz="3508" spc="-64" baseline="13888" dirty="0">
                <a:latin typeface="Times New Roman"/>
                <a:cs typeface="Times New Roman"/>
              </a:rPr>
              <a:t> </a:t>
            </a:r>
            <a:r>
              <a:rPr sz="3508" b="1" i="1" spc="-190" baseline="13888" dirty="0">
                <a:latin typeface="Times New Roman"/>
                <a:cs typeface="Times New Roman"/>
              </a:rPr>
              <a:t>A</a:t>
            </a:r>
            <a:r>
              <a:rPr sz="1382" b="1" spc="-128" dirty="0">
                <a:latin typeface="Times New Roman"/>
                <a:cs typeface="Times New Roman"/>
              </a:rPr>
              <a:t>12</a:t>
            </a:r>
            <a:r>
              <a:rPr sz="1382" b="1" spc="-5" dirty="0">
                <a:latin typeface="Times New Roman"/>
                <a:cs typeface="Times New Roman"/>
              </a:rPr>
              <a:t> </a:t>
            </a:r>
            <a:r>
              <a:rPr sz="3508" b="1" i="1" spc="-111" baseline="13888" dirty="0">
                <a:latin typeface="Times New Roman"/>
                <a:cs typeface="Times New Roman"/>
              </a:rPr>
              <a:t>B</a:t>
            </a:r>
            <a:r>
              <a:rPr sz="1382" b="1" spc="-74" dirty="0">
                <a:latin typeface="Times New Roman"/>
                <a:cs typeface="Times New Roman"/>
              </a:rPr>
              <a:t>22</a:t>
            </a:r>
            <a:endParaRPr sz="1382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8085" y="2582671"/>
            <a:ext cx="2538744" cy="1009577"/>
          </a:xfrm>
          <a:prstGeom prst="rect">
            <a:avLst/>
          </a:prstGeom>
        </p:spPr>
        <p:txBody>
          <a:bodyPr vert="horz" wrap="square" lIns="0" tIns="140404" rIns="0" bIns="0" rtlCol="0">
            <a:spAutoFit/>
          </a:bodyPr>
          <a:lstStyle/>
          <a:p>
            <a:pPr marL="40500">
              <a:spcBef>
                <a:spcPts val="1106"/>
              </a:spcBef>
            </a:pPr>
            <a:r>
              <a:rPr sz="2551" b="1" dirty="0">
                <a:latin typeface="宋体"/>
                <a:cs typeface="宋体"/>
              </a:rPr>
              <a:t>其中</a:t>
            </a:r>
            <a:endParaRPr sz="2551" dirty="0">
              <a:latin typeface="宋体"/>
              <a:cs typeface="宋体"/>
            </a:endParaRPr>
          </a:p>
          <a:p>
            <a:pPr marL="138376">
              <a:spcBef>
                <a:spcPts val="946"/>
              </a:spcBef>
            </a:pPr>
            <a:r>
              <a:rPr sz="3508" b="1" i="1" spc="-71" baseline="13888" dirty="0">
                <a:latin typeface="Times New Roman"/>
                <a:cs typeface="Times New Roman"/>
              </a:rPr>
              <a:t>C</a:t>
            </a:r>
            <a:r>
              <a:rPr sz="1382" b="1" spc="-48" dirty="0">
                <a:latin typeface="Times New Roman"/>
                <a:cs typeface="Times New Roman"/>
              </a:rPr>
              <a:t>11 </a:t>
            </a:r>
            <a:r>
              <a:rPr sz="3508" spc="-64" baseline="13888" dirty="0">
                <a:latin typeface="Symbol"/>
                <a:cs typeface="Symbol"/>
              </a:rPr>
              <a:t></a:t>
            </a:r>
            <a:r>
              <a:rPr sz="3508" spc="-64" baseline="13888" dirty="0">
                <a:latin typeface="Times New Roman"/>
                <a:cs typeface="Times New Roman"/>
              </a:rPr>
              <a:t> </a:t>
            </a:r>
            <a:r>
              <a:rPr sz="3508" b="1" i="1" spc="-190" baseline="13888" dirty="0">
                <a:latin typeface="Times New Roman"/>
                <a:cs typeface="Times New Roman"/>
              </a:rPr>
              <a:t>A</a:t>
            </a:r>
            <a:r>
              <a:rPr sz="1382" b="1" spc="-128" dirty="0">
                <a:latin typeface="Times New Roman"/>
                <a:cs typeface="Times New Roman"/>
              </a:rPr>
              <a:t>11 </a:t>
            </a:r>
            <a:r>
              <a:rPr sz="3508" b="1" i="1" spc="-135" baseline="13888" dirty="0">
                <a:latin typeface="Times New Roman"/>
                <a:cs typeface="Times New Roman"/>
              </a:rPr>
              <a:t>B</a:t>
            </a:r>
            <a:r>
              <a:rPr sz="1382" b="1" spc="-90" dirty="0">
                <a:latin typeface="Times New Roman"/>
                <a:cs typeface="Times New Roman"/>
              </a:rPr>
              <a:t>11 </a:t>
            </a:r>
            <a:r>
              <a:rPr sz="3508" spc="-64" baseline="13888" dirty="0">
                <a:latin typeface="Symbol"/>
                <a:cs typeface="Symbol"/>
              </a:rPr>
              <a:t></a:t>
            </a:r>
            <a:r>
              <a:rPr sz="3508" spc="-64" baseline="13888" dirty="0">
                <a:latin typeface="Times New Roman"/>
                <a:cs typeface="Times New Roman"/>
              </a:rPr>
              <a:t> </a:t>
            </a:r>
            <a:r>
              <a:rPr sz="3508" b="1" i="1" spc="-190" baseline="13888" dirty="0">
                <a:latin typeface="Times New Roman"/>
                <a:cs typeface="Times New Roman"/>
              </a:rPr>
              <a:t>A</a:t>
            </a:r>
            <a:r>
              <a:rPr sz="1382" b="1" spc="-128" dirty="0">
                <a:latin typeface="Times New Roman"/>
                <a:cs typeface="Times New Roman"/>
              </a:rPr>
              <a:t>12</a:t>
            </a:r>
            <a:r>
              <a:rPr sz="1382" b="1" spc="-101" dirty="0">
                <a:latin typeface="Times New Roman"/>
                <a:cs typeface="Times New Roman"/>
              </a:rPr>
              <a:t> </a:t>
            </a:r>
            <a:r>
              <a:rPr sz="3508" b="1" i="1" spc="-111" baseline="13888" dirty="0">
                <a:latin typeface="Times New Roman"/>
                <a:cs typeface="Times New Roman"/>
              </a:rPr>
              <a:t>B</a:t>
            </a:r>
            <a:r>
              <a:rPr sz="1382" b="1" spc="-74" dirty="0">
                <a:latin typeface="Times New Roman"/>
                <a:cs typeface="Times New Roman"/>
              </a:rPr>
              <a:t>21</a:t>
            </a:r>
            <a:endParaRPr sz="1382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31141" y="177621"/>
            <a:ext cx="8617961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spc="-16" dirty="0">
                <a:latin typeface="黑体" panose="02010609060101010101" pitchFamily="49" charset="-122"/>
                <a:ea typeface="黑体" panose="02010609060101010101" pitchFamily="49" charset="-122"/>
              </a:rPr>
              <a:t>简单分治算法</a:t>
            </a:r>
          </a:p>
        </p:txBody>
      </p:sp>
      <p:sp>
        <p:nvSpPr>
          <p:cNvPr id="13" name="object 13"/>
          <p:cNvSpPr/>
          <p:nvPr/>
        </p:nvSpPr>
        <p:spPr>
          <a:xfrm>
            <a:off x="5575524" y="2039990"/>
            <a:ext cx="486013" cy="324009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50800"/>
                </a:moveTo>
                <a:lnTo>
                  <a:pt x="3990" y="31021"/>
                </a:lnTo>
                <a:lnTo>
                  <a:pt x="14874" y="14874"/>
                </a:lnTo>
                <a:lnTo>
                  <a:pt x="31021" y="3990"/>
                </a:lnTo>
                <a:lnTo>
                  <a:pt x="50800" y="0"/>
                </a:lnTo>
                <a:lnTo>
                  <a:pt x="406400" y="0"/>
                </a:lnTo>
                <a:lnTo>
                  <a:pt x="426178" y="3990"/>
                </a:lnTo>
                <a:lnTo>
                  <a:pt x="442325" y="14874"/>
                </a:lnTo>
                <a:lnTo>
                  <a:pt x="453209" y="31021"/>
                </a:lnTo>
                <a:lnTo>
                  <a:pt x="457200" y="50800"/>
                </a:lnTo>
                <a:lnTo>
                  <a:pt x="457200" y="254000"/>
                </a:lnTo>
                <a:lnTo>
                  <a:pt x="453209" y="273778"/>
                </a:lnTo>
                <a:lnTo>
                  <a:pt x="442325" y="289925"/>
                </a:lnTo>
                <a:lnTo>
                  <a:pt x="426178" y="300809"/>
                </a:lnTo>
                <a:lnTo>
                  <a:pt x="406400" y="304800"/>
                </a:lnTo>
                <a:lnTo>
                  <a:pt x="50800" y="304800"/>
                </a:lnTo>
                <a:lnTo>
                  <a:pt x="31021" y="300809"/>
                </a:lnTo>
                <a:lnTo>
                  <a:pt x="14874" y="289925"/>
                </a:lnTo>
                <a:lnTo>
                  <a:pt x="3990" y="273778"/>
                </a:lnTo>
                <a:lnTo>
                  <a:pt x="0" y="254000"/>
                </a:lnTo>
                <a:lnTo>
                  <a:pt x="0" y="508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14" name="object 14"/>
          <p:cNvSpPr/>
          <p:nvPr/>
        </p:nvSpPr>
        <p:spPr>
          <a:xfrm>
            <a:off x="4198487" y="2039990"/>
            <a:ext cx="486013" cy="729020"/>
          </a:xfrm>
          <a:custGeom>
            <a:avLst/>
            <a:gdLst/>
            <a:ahLst/>
            <a:cxnLst/>
            <a:rect l="l" t="t" r="r" b="b"/>
            <a:pathLst>
              <a:path w="457200" h="6858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381000" y="0"/>
                </a:lnTo>
                <a:lnTo>
                  <a:pt x="410640" y="5994"/>
                </a:lnTo>
                <a:lnTo>
                  <a:pt x="434863" y="22336"/>
                </a:lnTo>
                <a:lnTo>
                  <a:pt x="451205" y="46559"/>
                </a:lnTo>
                <a:lnTo>
                  <a:pt x="457200" y="76200"/>
                </a:lnTo>
                <a:lnTo>
                  <a:pt x="457200" y="609600"/>
                </a:lnTo>
                <a:lnTo>
                  <a:pt x="451205" y="639240"/>
                </a:lnTo>
                <a:lnTo>
                  <a:pt x="434863" y="663463"/>
                </a:lnTo>
                <a:lnTo>
                  <a:pt x="410640" y="679805"/>
                </a:lnTo>
                <a:lnTo>
                  <a:pt x="381000" y="685800"/>
                </a:lnTo>
                <a:lnTo>
                  <a:pt x="76200" y="685800"/>
                </a:lnTo>
                <a:lnTo>
                  <a:pt x="46559" y="679805"/>
                </a:lnTo>
                <a:lnTo>
                  <a:pt x="22336" y="663463"/>
                </a:lnTo>
                <a:lnTo>
                  <a:pt x="5994" y="639240"/>
                </a:lnTo>
                <a:lnTo>
                  <a:pt x="0" y="6096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15" name="object 15"/>
          <p:cNvSpPr/>
          <p:nvPr/>
        </p:nvSpPr>
        <p:spPr>
          <a:xfrm>
            <a:off x="2902452" y="2120992"/>
            <a:ext cx="1053028" cy="324009"/>
          </a:xfrm>
          <a:custGeom>
            <a:avLst/>
            <a:gdLst/>
            <a:ahLst/>
            <a:cxnLst/>
            <a:rect l="l" t="t" r="r" b="b"/>
            <a:pathLst>
              <a:path w="990600" h="304800">
                <a:moveTo>
                  <a:pt x="0" y="50800"/>
                </a:moveTo>
                <a:lnTo>
                  <a:pt x="3992" y="31021"/>
                </a:lnTo>
                <a:lnTo>
                  <a:pt x="14879" y="14874"/>
                </a:lnTo>
                <a:lnTo>
                  <a:pt x="31027" y="3990"/>
                </a:lnTo>
                <a:lnTo>
                  <a:pt x="50800" y="0"/>
                </a:lnTo>
                <a:lnTo>
                  <a:pt x="939800" y="0"/>
                </a:lnTo>
                <a:lnTo>
                  <a:pt x="959578" y="3990"/>
                </a:lnTo>
                <a:lnTo>
                  <a:pt x="975725" y="14874"/>
                </a:lnTo>
                <a:lnTo>
                  <a:pt x="986609" y="31021"/>
                </a:lnTo>
                <a:lnTo>
                  <a:pt x="990600" y="50800"/>
                </a:lnTo>
                <a:lnTo>
                  <a:pt x="990600" y="254000"/>
                </a:lnTo>
                <a:lnTo>
                  <a:pt x="986609" y="273778"/>
                </a:lnTo>
                <a:lnTo>
                  <a:pt x="975725" y="289925"/>
                </a:lnTo>
                <a:lnTo>
                  <a:pt x="959578" y="300809"/>
                </a:lnTo>
                <a:lnTo>
                  <a:pt x="939800" y="304800"/>
                </a:lnTo>
                <a:lnTo>
                  <a:pt x="50800" y="304800"/>
                </a:lnTo>
                <a:lnTo>
                  <a:pt x="31027" y="300809"/>
                </a:lnTo>
                <a:lnTo>
                  <a:pt x="14879" y="289925"/>
                </a:lnTo>
                <a:lnTo>
                  <a:pt x="3992" y="273778"/>
                </a:lnTo>
                <a:lnTo>
                  <a:pt x="0" y="254000"/>
                </a:lnTo>
                <a:lnTo>
                  <a:pt x="0" y="508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16" name="object 16"/>
          <p:cNvSpPr/>
          <p:nvPr/>
        </p:nvSpPr>
        <p:spPr>
          <a:xfrm>
            <a:off x="1282407" y="3564096"/>
            <a:ext cx="648018" cy="2025"/>
          </a:xfrm>
          <a:custGeom>
            <a:avLst/>
            <a:gdLst/>
            <a:ahLst/>
            <a:cxnLst/>
            <a:rect l="l" t="t" r="r" b="b"/>
            <a:pathLst>
              <a:path w="609600" h="1905">
                <a:moveTo>
                  <a:pt x="0" y="0"/>
                </a:moveTo>
                <a:lnTo>
                  <a:pt x="609600" y="1650"/>
                </a:lnTo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17" name="object 17"/>
          <p:cNvSpPr/>
          <p:nvPr/>
        </p:nvSpPr>
        <p:spPr>
          <a:xfrm>
            <a:off x="2254434" y="3564096"/>
            <a:ext cx="648018" cy="2025"/>
          </a:xfrm>
          <a:custGeom>
            <a:avLst/>
            <a:gdLst/>
            <a:ahLst/>
            <a:cxnLst/>
            <a:rect l="l" t="t" r="r" b="b"/>
            <a:pathLst>
              <a:path w="609600" h="1905">
                <a:moveTo>
                  <a:pt x="0" y="0"/>
                </a:moveTo>
                <a:lnTo>
                  <a:pt x="609600" y="1650"/>
                </a:lnTo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</p:spTree>
    <p:extLst>
      <p:ext uri="{BB962C8B-B14F-4D97-AF65-F5344CB8AC3E}">
        <p14:creationId xmlns:p14="http://schemas.microsoft.com/office/powerpoint/2010/main" val="5492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114" y="230209"/>
            <a:ext cx="8912076" cy="667297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pc="-5" dirty="0"/>
              <a:t>Strassen</a:t>
            </a:r>
            <a:r>
              <a:rPr spc="-112" dirty="0"/>
              <a:t> </a:t>
            </a:r>
            <a:r>
              <a:rPr sz="4000" spc="-16" dirty="0"/>
              <a:t>矩阵乘法</a:t>
            </a:r>
            <a:endParaRPr spc="-16" dirty="0"/>
          </a:p>
        </p:txBody>
      </p:sp>
      <p:sp>
        <p:nvSpPr>
          <p:cNvPr id="3" name="object 3"/>
          <p:cNvSpPr txBox="1"/>
          <p:nvPr/>
        </p:nvSpPr>
        <p:spPr>
          <a:xfrm>
            <a:off x="556215" y="1352317"/>
            <a:ext cx="8645842" cy="4061522"/>
          </a:xfrm>
          <a:prstGeom prst="rect">
            <a:avLst/>
          </a:prstGeom>
        </p:spPr>
        <p:txBody>
          <a:bodyPr vert="horz" wrap="square" lIns="0" tIns="147154" rIns="0" bIns="0" rtlCol="0">
            <a:spAutoFit/>
          </a:bodyPr>
          <a:lstStyle/>
          <a:p>
            <a:pPr marL="27000">
              <a:spcBef>
                <a:spcPts val="1159"/>
              </a:spcBef>
            </a:pPr>
            <a:r>
              <a:rPr sz="2800" b="1" dirty="0">
                <a:latin typeface="宋体"/>
                <a:cs typeface="宋体"/>
              </a:rPr>
              <a:t>变换方法</a:t>
            </a:r>
            <a:r>
              <a:rPr sz="2764" b="1" dirty="0">
                <a:latin typeface="宋体"/>
                <a:cs typeface="宋体"/>
              </a:rPr>
              <a:t>：</a:t>
            </a:r>
            <a:endParaRPr sz="2764" dirty="0">
              <a:latin typeface="宋体"/>
              <a:cs typeface="宋体"/>
            </a:endParaRPr>
          </a:p>
          <a:p>
            <a:pPr marL="673655" marR="18900" indent="-647330">
              <a:lnSpc>
                <a:spcPct val="120900"/>
              </a:lnSpc>
              <a:spcBef>
                <a:spcPts val="324"/>
              </a:spcBef>
            </a:pPr>
            <a:r>
              <a:rPr sz="2800" b="1" dirty="0">
                <a:latin typeface="宋体"/>
                <a:cs typeface="宋体"/>
              </a:rPr>
              <a:t>设</a:t>
            </a:r>
            <a:r>
              <a:rPr sz="2800" b="1" spc="-11" dirty="0">
                <a:latin typeface="宋体"/>
                <a:cs typeface="宋体"/>
              </a:rPr>
              <a:t>计</a:t>
            </a:r>
            <a:r>
              <a:rPr sz="2800" b="1" spc="-67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,</a:t>
            </a:r>
            <a:r>
              <a:rPr sz="2800" b="1" i="1" spc="-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,</a:t>
            </a:r>
            <a:r>
              <a:rPr sz="2800" b="1" i="1" spc="-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…,</a:t>
            </a:r>
            <a:r>
              <a:rPr sz="2800" b="1" i="1" spc="-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r>
              <a:rPr sz="2800" b="1" baseline="-20833" dirty="0">
                <a:latin typeface="Times New Roman"/>
                <a:cs typeface="Times New Roman"/>
              </a:rPr>
              <a:t>7</a:t>
            </a:r>
            <a:r>
              <a:rPr sz="2800" b="1" dirty="0">
                <a:latin typeface="宋体"/>
                <a:cs typeface="宋体"/>
              </a:rPr>
              <a:t>，对应</a:t>
            </a:r>
            <a:r>
              <a:rPr sz="2800" b="1" dirty="0">
                <a:latin typeface="Times New Roman"/>
                <a:cs typeface="Times New Roman"/>
              </a:rPr>
              <a:t>7</a:t>
            </a:r>
            <a:r>
              <a:rPr sz="2800" b="1" dirty="0">
                <a:latin typeface="宋体"/>
                <a:cs typeface="宋体"/>
              </a:rPr>
              <a:t>个子问题 </a:t>
            </a:r>
            <a:endParaRPr lang="en-US" sz="2800" b="1" dirty="0" smtClean="0">
              <a:latin typeface="宋体"/>
              <a:cs typeface="宋体"/>
            </a:endParaRPr>
          </a:p>
          <a:p>
            <a:pPr marL="673655" marR="18900" indent="-647330">
              <a:lnSpc>
                <a:spcPct val="120900"/>
              </a:lnSpc>
              <a:spcBef>
                <a:spcPts val="324"/>
              </a:spcBef>
            </a:pPr>
            <a:r>
              <a:rPr lang="en-US" sz="2551" b="1" i="1" spc="-5" dirty="0" smtClean="0">
                <a:latin typeface="Times New Roman"/>
                <a:cs typeface="Times New Roman"/>
              </a:rPr>
              <a:t>         </a:t>
            </a:r>
            <a:r>
              <a:rPr sz="2551" b="1" i="1" spc="-5" dirty="0" smtClean="0">
                <a:latin typeface="Times New Roman"/>
                <a:cs typeface="Times New Roman"/>
              </a:rPr>
              <a:t>M</a:t>
            </a:r>
            <a:r>
              <a:rPr sz="2551" b="1" spc="-7" baseline="-20833" dirty="0" smtClean="0">
                <a:latin typeface="Times New Roman"/>
                <a:cs typeface="Times New Roman"/>
              </a:rPr>
              <a:t>1 </a:t>
            </a:r>
            <a:r>
              <a:rPr sz="2551" b="1" dirty="0">
                <a:latin typeface="Times New Roman"/>
                <a:cs typeface="Times New Roman"/>
              </a:rPr>
              <a:t>= </a:t>
            </a:r>
            <a:r>
              <a:rPr sz="2551" b="1" i="1" spc="-32" dirty="0">
                <a:latin typeface="Times New Roman"/>
                <a:cs typeface="Times New Roman"/>
              </a:rPr>
              <a:t>A</a:t>
            </a:r>
            <a:r>
              <a:rPr sz="2551" b="1" spc="-47" baseline="-20833" dirty="0">
                <a:latin typeface="Times New Roman"/>
                <a:cs typeface="Times New Roman"/>
              </a:rPr>
              <a:t>11 </a:t>
            </a:r>
            <a:r>
              <a:rPr sz="2551" b="1" dirty="0">
                <a:latin typeface="Times New Roman"/>
                <a:cs typeface="Times New Roman"/>
              </a:rPr>
              <a:t>( </a:t>
            </a:r>
            <a:r>
              <a:rPr sz="2551" b="1" i="1" spc="-5" dirty="0">
                <a:latin typeface="Times New Roman"/>
                <a:cs typeface="Times New Roman"/>
              </a:rPr>
              <a:t>B</a:t>
            </a:r>
            <a:r>
              <a:rPr sz="2551" b="1" spc="-7" baseline="-20833" dirty="0">
                <a:latin typeface="Times New Roman"/>
                <a:cs typeface="Times New Roman"/>
              </a:rPr>
              <a:t>12</a:t>
            </a:r>
            <a:r>
              <a:rPr sz="2551" b="1" spc="-5" dirty="0">
                <a:latin typeface="宋体"/>
                <a:cs typeface="宋体"/>
              </a:rPr>
              <a:t>－</a:t>
            </a:r>
            <a:r>
              <a:rPr sz="2551" b="1" i="1" spc="-5" dirty="0">
                <a:latin typeface="Times New Roman"/>
                <a:cs typeface="Times New Roman"/>
              </a:rPr>
              <a:t>B</a:t>
            </a:r>
            <a:r>
              <a:rPr sz="2551" b="1" spc="-7" baseline="-20833" dirty="0">
                <a:latin typeface="Times New Roman"/>
                <a:cs typeface="Times New Roman"/>
              </a:rPr>
              <a:t>22</a:t>
            </a:r>
            <a:r>
              <a:rPr sz="2551" b="1" baseline="-20833" dirty="0">
                <a:latin typeface="Times New Roman"/>
                <a:cs typeface="Times New Roman"/>
              </a:rPr>
              <a:t> </a:t>
            </a:r>
            <a:r>
              <a:rPr sz="2551" b="1" dirty="0">
                <a:latin typeface="Times New Roman"/>
                <a:cs typeface="Times New Roman"/>
              </a:rPr>
              <a:t>)</a:t>
            </a:r>
            <a:endParaRPr sz="2551" dirty="0">
              <a:latin typeface="Times New Roman"/>
              <a:cs typeface="Times New Roman"/>
            </a:endParaRPr>
          </a:p>
          <a:p>
            <a:pPr marL="673655" marR="1724638">
              <a:lnSpc>
                <a:spcPts val="3698"/>
              </a:lnSpc>
              <a:spcBef>
                <a:spcPts val="191"/>
              </a:spcBef>
            </a:pP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2 </a:t>
            </a:r>
            <a:r>
              <a:rPr sz="2551" b="1" dirty="0">
                <a:latin typeface="Times New Roman"/>
                <a:cs typeface="Times New Roman"/>
              </a:rPr>
              <a:t>= ( </a:t>
            </a:r>
            <a:r>
              <a:rPr sz="2551" b="1" i="1" spc="-32" dirty="0">
                <a:latin typeface="Times New Roman"/>
                <a:cs typeface="Times New Roman"/>
              </a:rPr>
              <a:t>A</a:t>
            </a:r>
            <a:r>
              <a:rPr sz="2551" b="1" spc="-47" baseline="-20833" dirty="0">
                <a:latin typeface="Times New Roman"/>
                <a:cs typeface="Times New Roman"/>
              </a:rPr>
              <a:t>11 </a:t>
            </a:r>
            <a:r>
              <a:rPr sz="2551" b="1" dirty="0">
                <a:latin typeface="Times New Roman"/>
                <a:cs typeface="Times New Roman"/>
              </a:rPr>
              <a:t>+ </a:t>
            </a:r>
            <a:r>
              <a:rPr sz="2551" b="1" i="1" spc="-5" dirty="0">
                <a:latin typeface="Times New Roman"/>
                <a:cs typeface="Times New Roman"/>
              </a:rPr>
              <a:t>A</a:t>
            </a:r>
            <a:r>
              <a:rPr sz="2551" b="1" spc="-7" baseline="-20833" dirty="0">
                <a:latin typeface="Times New Roman"/>
                <a:cs typeface="Times New Roman"/>
              </a:rPr>
              <a:t>12 </a:t>
            </a:r>
            <a:r>
              <a:rPr sz="2551" b="1" dirty="0">
                <a:latin typeface="Times New Roman"/>
                <a:cs typeface="Times New Roman"/>
              </a:rPr>
              <a:t>) </a:t>
            </a:r>
            <a:r>
              <a:rPr sz="2551" b="1" i="1" dirty="0">
                <a:latin typeface="Times New Roman"/>
                <a:cs typeface="Times New Roman"/>
              </a:rPr>
              <a:t>B</a:t>
            </a:r>
            <a:r>
              <a:rPr sz="2551" b="1" baseline="-20833" dirty="0">
                <a:latin typeface="Times New Roman"/>
                <a:cs typeface="Times New Roman"/>
              </a:rPr>
              <a:t>22 </a:t>
            </a:r>
            <a:endParaRPr lang="en-US" sz="2551" b="1" baseline="-20833" dirty="0" smtClean="0">
              <a:latin typeface="Times New Roman"/>
              <a:cs typeface="Times New Roman"/>
            </a:endParaRPr>
          </a:p>
          <a:p>
            <a:pPr marL="673655" marR="1724638">
              <a:lnSpc>
                <a:spcPts val="3698"/>
              </a:lnSpc>
              <a:spcBef>
                <a:spcPts val="191"/>
              </a:spcBef>
            </a:pPr>
            <a:r>
              <a:rPr sz="2551" b="1" baseline="-20833" dirty="0" smtClean="0">
                <a:latin typeface="Times New Roman"/>
                <a:cs typeface="Times New Roman"/>
              </a:rPr>
              <a:t> </a:t>
            </a: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3 </a:t>
            </a:r>
            <a:r>
              <a:rPr sz="2551" b="1" dirty="0">
                <a:latin typeface="Times New Roman"/>
                <a:cs typeface="Times New Roman"/>
              </a:rPr>
              <a:t>= ( </a:t>
            </a:r>
            <a:r>
              <a:rPr sz="2551" b="1" i="1" spc="-5" dirty="0">
                <a:latin typeface="Times New Roman"/>
                <a:cs typeface="Times New Roman"/>
              </a:rPr>
              <a:t>A</a:t>
            </a:r>
            <a:r>
              <a:rPr sz="2551" b="1" spc="-7" baseline="-20833" dirty="0">
                <a:latin typeface="Times New Roman"/>
                <a:cs typeface="Times New Roman"/>
              </a:rPr>
              <a:t>21 </a:t>
            </a:r>
            <a:r>
              <a:rPr sz="2551" b="1" dirty="0">
                <a:latin typeface="Times New Roman"/>
                <a:cs typeface="Times New Roman"/>
              </a:rPr>
              <a:t>+ </a:t>
            </a:r>
            <a:r>
              <a:rPr sz="2551" b="1" i="1" spc="-5" dirty="0">
                <a:latin typeface="Times New Roman"/>
                <a:cs typeface="Times New Roman"/>
              </a:rPr>
              <a:t>A</a:t>
            </a:r>
            <a:r>
              <a:rPr sz="2551" b="1" spc="-7" baseline="-20833" dirty="0">
                <a:latin typeface="Times New Roman"/>
                <a:cs typeface="Times New Roman"/>
              </a:rPr>
              <a:t>22 </a:t>
            </a:r>
            <a:r>
              <a:rPr sz="2551" b="1" dirty="0">
                <a:latin typeface="Times New Roman"/>
                <a:cs typeface="Times New Roman"/>
              </a:rPr>
              <a:t>)</a:t>
            </a:r>
            <a:r>
              <a:rPr sz="2551" b="1" spc="-276" dirty="0">
                <a:latin typeface="Times New Roman"/>
                <a:cs typeface="Times New Roman"/>
              </a:rPr>
              <a:t> </a:t>
            </a:r>
            <a:r>
              <a:rPr sz="2551" b="1" i="1" spc="-32" dirty="0">
                <a:latin typeface="Times New Roman"/>
                <a:cs typeface="Times New Roman"/>
              </a:rPr>
              <a:t>B</a:t>
            </a:r>
            <a:r>
              <a:rPr sz="2551" b="1" spc="-47" baseline="-20833" dirty="0">
                <a:latin typeface="Times New Roman"/>
                <a:cs typeface="Times New Roman"/>
              </a:rPr>
              <a:t>11</a:t>
            </a:r>
            <a:endParaRPr sz="2551" baseline="-20833" dirty="0">
              <a:latin typeface="Times New Roman"/>
              <a:cs typeface="Times New Roman"/>
            </a:endParaRPr>
          </a:p>
          <a:p>
            <a:pPr marL="673655">
              <a:spcBef>
                <a:spcPts val="452"/>
              </a:spcBef>
            </a:pP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4 </a:t>
            </a:r>
            <a:r>
              <a:rPr sz="2551" b="1" dirty="0">
                <a:latin typeface="Times New Roman"/>
                <a:cs typeface="Times New Roman"/>
              </a:rPr>
              <a:t>= </a:t>
            </a:r>
            <a:r>
              <a:rPr sz="2551" b="1" i="1" spc="-5" dirty="0">
                <a:latin typeface="Times New Roman"/>
                <a:cs typeface="Times New Roman"/>
              </a:rPr>
              <a:t>A</a:t>
            </a:r>
            <a:r>
              <a:rPr sz="2551" b="1" spc="-7" baseline="-20833" dirty="0">
                <a:latin typeface="Times New Roman"/>
                <a:cs typeface="Times New Roman"/>
              </a:rPr>
              <a:t>22 </a:t>
            </a:r>
            <a:r>
              <a:rPr sz="2551" b="1" dirty="0">
                <a:latin typeface="Times New Roman"/>
                <a:cs typeface="Times New Roman"/>
              </a:rPr>
              <a:t>( </a:t>
            </a:r>
            <a:r>
              <a:rPr sz="2551" b="1" i="1" spc="-5" dirty="0">
                <a:latin typeface="Times New Roman"/>
                <a:cs typeface="Times New Roman"/>
              </a:rPr>
              <a:t>B</a:t>
            </a:r>
            <a:r>
              <a:rPr sz="2551" b="1" spc="-7" baseline="-20833" dirty="0">
                <a:latin typeface="Times New Roman"/>
                <a:cs typeface="Times New Roman"/>
              </a:rPr>
              <a:t>21</a:t>
            </a:r>
            <a:r>
              <a:rPr sz="2551" b="1" spc="-5" dirty="0">
                <a:latin typeface="宋体"/>
                <a:cs typeface="宋体"/>
              </a:rPr>
              <a:t>－</a:t>
            </a:r>
            <a:r>
              <a:rPr sz="2551" b="1" spc="-1074" dirty="0">
                <a:latin typeface="宋体"/>
                <a:cs typeface="宋体"/>
              </a:rPr>
              <a:t> </a:t>
            </a:r>
            <a:r>
              <a:rPr sz="2551" b="1" i="1" spc="-27" dirty="0">
                <a:latin typeface="Times New Roman"/>
                <a:cs typeface="Times New Roman"/>
              </a:rPr>
              <a:t>B</a:t>
            </a:r>
            <a:r>
              <a:rPr sz="2551" b="1" spc="-39" baseline="-20833" dirty="0">
                <a:latin typeface="Times New Roman"/>
                <a:cs typeface="Times New Roman"/>
              </a:rPr>
              <a:t>11</a:t>
            </a:r>
            <a:r>
              <a:rPr sz="2551" b="1" spc="-27" dirty="0">
                <a:latin typeface="Times New Roman"/>
                <a:cs typeface="Times New Roman"/>
              </a:rPr>
              <a:t>)</a:t>
            </a:r>
            <a:endParaRPr sz="2551" dirty="0">
              <a:latin typeface="Times New Roman"/>
              <a:cs typeface="Times New Roman"/>
            </a:endParaRPr>
          </a:p>
          <a:p>
            <a:pPr marL="673655">
              <a:spcBef>
                <a:spcPts val="595"/>
              </a:spcBef>
            </a:pP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5 </a:t>
            </a:r>
            <a:r>
              <a:rPr sz="2551" b="1" dirty="0">
                <a:latin typeface="Times New Roman"/>
                <a:cs typeface="Times New Roman"/>
              </a:rPr>
              <a:t>= ( </a:t>
            </a:r>
            <a:r>
              <a:rPr sz="2551" b="1" i="1" spc="-32" dirty="0">
                <a:latin typeface="Times New Roman"/>
                <a:cs typeface="Times New Roman"/>
              </a:rPr>
              <a:t>A</a:t>
            </a:r>
            <a:r>
              <a:rPr sz="2551" b="1" spc="-47" baseline="-20833" dirty="0">
                <a:latin typeface="Times New Roman"/>
                <a:cs typeface="Times New Roman"/>
              </a:rPr>
              <a:t>11 </a:t>
            </a:r>
            <a:r>
              <a:rPr sz="2551" b="1" dirty="0">
                <a:latin typeface="Times New Roman"/>
                <a:cs typeface="Times New Roman"/>
              </a:rPr>
              <a:t>+ </a:t>
            </a:r>
            <a:r>
              <a:rPr sz="2551" b="1" i="1" spc="-5" dirty="0">
                <a:latin typeface="Times New Roman"/>
                <a:cs typeface="Times New Roman"/>
              </a:rPr>
              <a:t>A</a:t>
            </a:r>
            <a:r>
              <a:rPr sz="2551" b="1" spc="-7" baseline="-20833" dirty="0">
                <a:latin typeface="Times New Roman"/>
                <a:cs typeface="Times New Roman"/>
              </a:rPr>
              <a:t>22 </a:t>
            </a:r>
            <a:r>
              <a:rPr sz="2551" b="1" dirty="0">
                <a:latin typeface="Times New Roman"/>
                <a:cs typeface="Times New Roman"/>
              </a:rPr>
              <a:t>) ( </a:t>
            </a:r>
            <a:r>
              <a:rPr sz="2551" b="1" i="1" spc="-32" dirty="0">
                <a:latin typeface="Times New Roman"/>
                <a:cs typeface="Times New Roman"/>
              </a:rPr>
              <a:t>B</a:t>
            </a:r>
            <a:r>
              <a:rPr sz="2551" b="1" spc="-47" baseline="-20833" dirty="0">
                <a:latin typeface="Times New Roman"/>
                <a:cs typeface="Times New Roman"/>
              </a:rPr>
              <a:t>11 </a:t>
            </a:r>
            <a:r>
              <a:rPr sz="2551" b="1" dirty="0">
                <a:latin typeface="Times New Roman"/>
                <a:cs typeface="Times New Roman"/>
              </a:rPr>
              <a:t>+ </a:t>
            </a:r>
            <a:r>
              <a:rPr sz="2551" b="1" i="1" spc="-5" dirty="0">
                <a:latin typeface="Times New Roman"/>
                <a:cs typeface="Times New Roman"/>
              </a:rPr>
              <a:t>B</a:t>
            </a:r>
            <a:r>
              <a:rPr sz="2551" b="1" spc="-7" baseline="-20833" dirty="0">
                <a:latin typeface="Times New Roman"/>
                <a:cs typeface="Times New Roman"/>
              </a:rPr>
              <a:t>22</a:t>
            </a:r>
            <a:r>
              <a:rPr sz="2551" b="1" spc="399" baseline="-20833" dirty="0">
                <a:latin typeface="Times New Roman"/>
                <a:cs typeface="Times New Roman"/>
              </a:rPr>
              <a:t> </a:t>
            </a:r>
            <a:r>
              <a:rPr sz="2551" b="1" dirty="0">
                <a:latin typeface="Times New Roman"/>
                <a:cs typeface="Times New Roman"/>
              </a:rPr>
              <a:t>)</a:t>
            </a:r>
            <a:endParaRPr sz="2551" dirty="0">
              <a:latin typeface="Times New Roman"/>
              <a:cs typeface="Times New Roman"/>
            </a:endParaRPr>
          </a:p>
          <a:p>
            <a:pPr marL="673655">
              <a:spcBef>
                <a:spcPts val="680"/>
              </a:spcBef>
            </a:pP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6 </a:t>
            </a:r>
            <a:r>
              <a:rPr sz="2551" b="1" dirty="0">
                <a:latin typeface="Times New Roman"/>
                <a:cs typeface="Times New Roman"/>
              </a:rPr>
              <a:t>= </a:t>
            </a:r>
            <a:r>
              <a:rPr sz="2551" b="1" spc="-5" dirty="0">
                <a:latin typeface="Times New Roman"/>
                <a:cs typeface="Times New Roman"/>
              </a:rPr>
              <a:t>(</a:t>
            </a:r>
            <a:r>
              <a:rPr sz="2551" b="1" i="1" spc="-5" dirty="0">
                <a:latin typeface="Times New Roman"/>
                <a:cs typeface="Times New Roman"/>
              </a:rPr>
              <a:t>A</a:t>
            </a:r>
            <a:r>
              <a:rPr sz="2551" b="1" spc="-7" baseline="-20833" dirty="0">
                <a:latin typeface="Times New Roman"/>
                <a:cs typeface="Times New Roman"/>
              </a:rPr>
              <a:t>12</a:t>
            </a:r>
            <a:r>
              <a:rPr sz="2551" b="1" spc="-5" dirty="0">
                <a:latin typeface="宋体"/>
                <a:cs typeface="宋体"/>
              </a:rPr>
              <a:t>－</a:t>
            </a:r>
            <a:r>
              <a:rPr sz="2551" b="1" i="1" spc="-5" dirty="0">
                <a:latin typeface="Times New Roman"/>
                <a:cs typeface="Times New Roman"/>
              </a:rPr>
              <a:t>A</a:t>
            </a:r>
            <a:r>
              <a:rPr sz="2551" b="1" spc="-7" baseline="-20833" dirty="0">
                <a:latin typeface="Times New Roman"/>
                <a:cs typeface="Times New Roman"/>
              </a:rPr>
              <a:t>22</a:t>
            </a:r>
            <a:r>
              <a:rPr sz="2551" b="1" spc="-5" dirty="0">
                <a:latin typeface="Times New Roman"/>
                <a:cs typeface="Times New Roman"/>
              </a:rPr>
              <a:t>) </a:t>
            </a:r>
            <a:r>
              <a:rPr sz="2551" b="1" dirty="0">
                <a:latin typeface="Times New Roman"/>
                <a:cs typeface="Times New Roman"/>
              </a:rPr>
              <a:t>( </a:t>
            </a:r>
            <a:r>
              <a:rPr sz="2551" b="1" i="1" spc="-5" dirty="0">
                <a:latin typeface="Times New Roman"/>
                <a:cs typeface="Times New Roman"/>
              </a:rPr>
              <a:t>B</a:t>
            </a:r>
            <a:r>
              <a:rPr sz="2551" b="1" spc="-7" baseline="-20833" dirty="0">
                <a:latin typeface="Times New Roman"/>
                <a:cs typeface="Times New Roman"/>
              </a:rPr>
              <a:t>21 </a:t>
            </a:r>
            <a:r>
              <a:rPr sz="2551" b="1" dirty="0">
                <a:latin typeface="Times New Roman"/>
                <a:cs typeface="Times New Roman"/>
              </a:rPr>
              <a:t>+ </a:t>
            </a:r>
            <a:r>
              <a:rPr sz="2551" b="1" i="1" spc="-5" dirty="0">
                <a:latin typeface="Times New Roman"/>
                <a:cs typeface="Times New Roman"/>
              </a:rPr>
              <a:t>B</a:t>
            </a:r>
            <a:r>
              <a:rPr sz="2551" b="1" spc="-7" baseline="-20833" dirty="0">
                <a:latin typeface="Times New Roman"/>
                <a:cs typeface="Times New Roman"/>
              </a:rPr>
              <a:t>22</a:t>
            </a:r>
            <a:r>
              <a:rPr sz="2551" b="1" spc="-64" baseline="-20833" dirty="0">
                <a:latin typeface="Times New Roman"/>
                <a:cs typeface="Times New Roman"/>
              </a:rPr>
              <a:t> </a:t>
            </a:r>
            <a:r>
              <a:rPr sz="2551" b="1" dirty="0">
                <a:latin typeface="Times New Roman"/>
                <a:cs typeface="Times New Roman"/>
              </a:rPr>
              <a:t>)</a:t>
            </a:r>
            <a:endParaRPr sz="255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9435" y="5319521"/>
            <a:ext cx="3875280" cy="406175"/>
          </a:xfrm>
          <a:prstGeom prst="rect">
            <a:avLst/>
          </a:prstGeom>
        </p:spPr>
        <p:txBody>
          <a:bodyPr vert="horz" wrap="square" lIns="0" tIns="13500" rIns="0" bIns="0" rtlCol="0">
            <a:spAutoFit/>
          </a:bodyPr>
          <a:lstStyle/>
          <a:p>
            <a:pPr marL="40500">
              <a:spcBef>
                <a:spcPts val="106"/>
              </a:spcBef>
            </a:pP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7 </a:t>
            </a:r>
            <a:r>
              <a:rPr sz="2551" b="1" dirty="0">
                <a:latin typeface="Times New Roman"/>
                <a:cs typeface="Times New Roman"/>
              </a:rPr>
              <a:t>= </a:t>
            </a:r>
            <a:r>
              <a:rPr sz="2551" b="1" spc="-11" dirty="0">
                <a:latin typeface="Times New Roman"/>
                <a:cs typeface="Times New Roman"/>
              </a:rPr>
              <a:t>(</a:t>
            </a:r>
            <a:r>
              <a:rPr sz="2551" b="1" i="1" spc="-11" dirty="0">
                <a:latin typeface="Times New Roman"/>
                <a:cs typeface="Times New Roman"/>
              </a:rPr>
              <a:t>A</a:t>
            </a:r>
            <a:r>
              <a:rPr sz="2551" b="1" spc="-16" baseline="-20833" dirty="0">
                <a:latin typeface="Times New Roman"/>
                <a:cs typeface="Times New Roman"/>
              </a:rPr>
              <a:t>11</a:t>
            </a:r>
            <a:r>
              <a:rPr sz="2551" b="1" spc="-11" dirty="0">
                <a:latin typeface="宋体"/>
                <a:cs typeface="宋体"/>
              </a:rPr>
              <a:t>－</a:t>
            </a:r>
            <a:r>
              <a:rPr sz="2551" b="1" i="1" spc="-11" dirty="0">
                <a:latin typeface="Times New Roman"/>
                <a:cs typeface="Times New Roman"/>
              </a:rPr>
              <a:t>A</a:t>
            </a:r>
            <a:r>
              <a:rPr sz="2551" b="1" spc="-16" baseline="-20833" dirty="0">
                <a:latin typeface="Times New Roman"/>
                <a:cs typeface="Times New Roman"/>
              </a:rPr>
              <a:t>21</a:t>
            </a:r>
            <a:r>
              <a:rPr sz="2551" b="1" spc="-11" dirty="0">
                <a:latin typeface="Times New Roman"/>
                <a:cs typeface="Times New Roman"/>
              </a:rPr>
              <a:t>) </a:t>
            </a:r>
            <a:r>
              <a:rPr sz="2551" b="1" dirty="0">
                <a:latin typeface="Times New Roman"/>
                <a:cs typeface="Times New Roman"/>
              </a:rPr>
              <a:t>( </a:t>
            </a:r>
            <a:r>
              <a:rPr sz="2551" b="1" i="1" spc="-32" dirty="0">
                <a:latin typeface="Times New Roman"/>
                <a:cs typeface="Times New Roman"/>
              </a:rPr>
              <a:t>B</a:t>
            </a:r>
            <a:r>
              <a:rPr sz="2551" b="1" spc="-47" baseline="-20833" dirty="0">
                <a:latin typeface="Times New Roman"/>
                <a:cs typeface="Times New Roman"/>
              </a:rPr>
              <a:t>11 </a:t>
            </a:r>
            <a:r>
              <a:rPr sz="2551" b="1" dirty="0">
                <a:latin typeface="Times New Roman"/>
                <a:cs typeface="Times New Roman"/>
              </a:rPr>
              <a:t>+ </a:t>
            </a:r>
            <a:r>
              <a:rPr sz="2551" b="1" i="1" spc="-5" dirty="0">
                <a:latin typeface="Times New Roman"/>
                <a:cs typeface="Times New Roman"/>
              </a:rPr>
              <a:t>B</a:t>
            </a:r>
            <a:r>
              <a:rPr sz="2551" b="1" spc="-7" baseline="-20833" dirty="0">
                <a:latin typeface="Times New Roman"/>
                <a:cs typeface="Times New Roman"/>
              </a:rPr>
              <a:t>12</a:t>
            </a:r>
            <a:r>
              <a:rPr sz="2551" b="1" spc="-351" baseline="-20833" dirty="0">
                <a:latin typeface="Times New Roman"/>
                <a:cs typeface="Times New Roman"/>
              </a:rPr>
              <a:t> </a:t>
            </a:r>
            <a:r>
              <a:rPr sz="2551" b="1" dirty="0">
                <a:latin typeface="Times New Roman"/>
                <a:cs typeface="Times New Roman"/>
              </a:rPr>
              <a:t>)</a:t>
            </a:r>
            <a:endParaRPr sz="255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491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116" y="302835"/>
            <a:ext cx="8996030" cy="667297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pc="-5" dirty="0"/>
              <a:t>Strassen</a:t>
            </a:r>
            <a:r>
              <a:rPr spc="-121" dirty="0"/>
              <a:t> </a:t>
            </a:r>
            <a:r>
              <a:rPr spc="-11" dirty="0"/>
              <a:t>矩阵乘</a:t>
            </a:r>
            <a:r>
              <a:rPr spc="-5" dirty="0"/>
              <a:t>法(</a:t>
            </a:r>
            <a:r>
              <a:rPr spc="-11" dirty="0"/>
              <a:t>续</a:t>
            </a:r>
            <a:r>
              <a:rPr spc="-21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215" y="1497190"/>
            <a:ext cx="8674871" cy="4145829"/>
          </a:xfrm>
          <a:prstGeom prst="rect">
            <a:avLst/>
          </a:prstGeom>
        </p:spPr>
        <p:txBody>
          <a:bodyPr vert="horz" wrap="square" lIns="0" tIns="14175" rIns="0" bIns="0" rtlCol="0">
            <a:spAutoFit/>
          </a:bodyPr>
          <a:lstStyle/>
          <a:p>
            <a:pPr marL="27000">
              <a:spcBef>
                <a:spcPts val="112"/>
              </a:spcBef>
            </a:pPr>
            <a:r>
              <a:rPr sz="2764" b="1" dirty="0">
                <a:latin typeface="宋体"/>
                <a:cs typeface="宋体"/>
              </a:rPr>
              <a:t>利用中间矩阵，得到结果矩阵</a:t>
            </a:r>
            <a:endParaRPr sz="2764" dirty="0">
              <a:latin typeface="宋体"/>
              <a:cs typeface="宋体"/>
            </a:endParaRPr>
          </a:p>
          <a:p>
            <a:pPr marL="430653">
              <a:lnSpc>
                <a:spcPts val="3040"/>
              </a:lnSpc>
              <a:spcBef>
                <a:spcPts val="5"/>
              </a:spcBef>
            </a:pPr>
            <a:r>
              <a:rPr sz="2551" b="1" i="1" spc="-32" dirty="0">
                <a:latin typeface="Times New Roman"/>
                <a:cs typeface="Times New Roman"/>
              </a:rPr>
              <a:t>C</a:t>
            </a:r>
            <a:r>
              <a:rPr sz="2551" b="1" spc="-47" baseline="-20833" dirty="0">
                <a:latin typeface="Times New Roman"/>
                <a:cs typeface="Times New Roman"/>
              </a:rPr>
              <a:t>11 </a:t>
            </a:r>
            <a:r>
              <a:rPr sz="2551" b="1" dirty="0">
                <a:latin typeface="Times New Roman"/>
                <a:cs typeface="Times New Roman"/>
              </a:rPr>
              <a:t>= </a:t>
            </a:r>
            <a:r>
              <a:rPr sz="2551" b="1" i="1" dirty="0">
                <a:latin typeface="Times New Roman"/>
                <a:cs typeface="Times New Roman"/>
              </a:rPr>
              <a:t>M</a:t>
            </a:r>
            <a:r>
              <a:rPr sz="2551" b="1" baseline="-20833" dirty="0">
                <a:latin typeface="Times New Roman"/>
                <a:cs typeface="Times New Roman"/>
              </a:rPr>
              <a:t>5 </a:t>
            </a:r>
            <a:r>
              <a:rPr sz="2551" b="1" dirty="0">
                <a:latin typeface="Times New Roman"/>
                <a:cs typeface="Times New Roman"/>
              </a:rPr>
              <a:t>+ </a:t>
            </a:r>
            <a:r>
              <a:rPr sz="2551" b="1" i="1" dirty="0">
                <a:latin typeface="Times New Roman"/>
                <a:cs typeface="Times New Roman"/>
              </a:rPr>
              <a:t>M</a:t>
            </a:r>
            <a:r>
              <a:rPr sz="2551" b="1" baseline="-20833" dirty="0">
                <a:latin typeface="Times New Roman"/>
                <a:cs typeface="Times New Roman"/>
              </a:rPr>
              <a:t>4</a:t>
            </a:r>
            <a:r>
              <a:rPr sz="2551" b="1" dirty="0">
                <a:latin typeface="宋体"/>
                <a:cs typeface="宋体"/>
              </a:rPr>
              <a:t>－</a:t>
            </a:r>
            <a:r>
              <a:rPr sz="2551" b="1" i="1" dirty="0">
                <a:latin typeface="Times New Roman"/>
                <a:cs typeface="Times New Roman"/>
              </a:rPr>
              <a:t>M</a:t>
            </a:r>
            <a:r>
              <a:rPr sz="2551" b="1" baseline="-20833" dirty="0">
                <a:latin typeface="Times New Roman"/>
                <a:cs typeface="Times New Roman"/>
              </a:rPr>
              <a:t>2 </a:t>
            </a:r>
            <a:r>
              <a:rPr sz="2551" b="1" dirty="0">
                <a:latin typeface="Times New Roman"/>
                <a:cs typeface="Times New Roman"/>
              </a:rPr>
              <a:t>+</a:t>
            </a:r>
            <a:r>
              <a:rPr sz="2551" b="1" spc="191" dirty="0">
                <a:latin typeface="Times New Roman"/>
                <a:cs typeface="Times New Roman"/>
              </a:rPr>
              <a:t> </a:t>
            </a:r>
            <a:r>
              <a:rPr sz="2551" b="1" i="1" dirty="0">
                <a:latin typeface="Times New Roman"/>
                <a:cs typeface="Times New Roman"/>
              </a:rPr>
              <a:t>M</a:t>
            </a:r>
            <a:r>
              <a:rPr sz="2551" b="1" baseline="-20833" dirty="0">
                <a:latin typeface="Times New Roman"/>
                <a:cs typeface="Times New Roman"/>
              </a:rPr>
              <a:t>6</a:t>
            </a:r>
            <a:endParaRPr sz="2551" baseline="-20833" dirty="0">
              <a:latin typeface="Times New Roman"/>
              <a:cs typeface="Times New Roman"/>
            </a:endParaRPr>
          </a:p>
          <a:p>
            <a:pPr marL="430653" marR="2288942">
              <a:lnSpc>
                <a:spcPts val="3061"/>
              </a:lnSpc>
              <a:spcBef>
                <a:spcPts val="85"/>
              </a:spcBef>
            </a:pPr>
            <a:r>
              <a:rPr sz="2551" b="1" i="1" spc="-5" dirty="0">
                <a:latin typeface="Times New Roman"/>
                <a:cs typeface="Times New Roman"/>
              </a:rPr>
              <a:t>C</a:t>
            </a:r>
            <a:r>
              <a:rPr sz="2551" b="1" spc="-7" baseline="-20833" dirty="0">
                <a:latin typeface="Times New Roman"/>
                <a:cs typeface="Times New Roman"/>
              </a:rPr>
              <a:t>12 </a:t>
            </a:r>
            <a:r>
              <a:rPr sz="2551" b="1" dirty="0">
                <a:latin typeface="Times New Roman"/>
                <a:cs typeface="Times New Roman"/>
              </a:rPr>
              <a:t>= </a:t>
            </a: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1 </a:t>
            </a:r>
            <a:r>
              <a:rPr sz="2551" b="1" dirty="0">
                <a:latin typeface="Times New Roman"/>
                <a:cs typeface="Times New Roman"/>
              </a:rPr>
              <a:t>+ </a:t>
            </a: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2 </a:t>
            </a:r>
            <a:endParaRPr lang="en-US" sz="2551" b="1" spc="-7" baseline="-20833" dirty="0" smtClean="0">
              <a:latin typeface="Times New Roman"/>
              <a:cs typeface="Times New Roman"/>
            </a:endParaRPr>
          </a:p>
          <a:p>
            <a:pPr marL="430653" marR="2288942">
              <a:lnSpc>
                <a:spcPts val="3061"/>
              </a:lnSpc>
              <a:spcBef>
                <a:spcPts val="85"/>
              </a:spcBef>
            </a:pPr>
            <a:r>
              <a:rPr sz="2551" b="1" i="1" spc="-5" dirty="0" smtClean="0">
                <a:latin typeface="Times New Roman"/>
                <a:cs typeface="Times New Roman"/>
              </a:rPr>
              <a:t>C</a:t>
            </a:r>
            <a:r>
              <a:rPr sz="2551" b="1" spc="-7" baseline="-20833" dirty="0" smtClean="0">
                <a:latin typeface="Times New Roman"/>
                <a:cs typeface="Times New Roman"/>
              </a:rPr>
              <a:t>21 </a:t>
            </a:r>
            <a:r>
              <a:rPr sz="2551" b="1" dirty="0">
                <a:latin typeface="Times New Roman"/>
                <a:cs typeface="Times New Roman"/>
              </a:rPr>
              <a:t>= </a:t>
            </a: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3 </a:t>
            </a:r>
            <a:r>
              <a:rPr sz="2551" b="1" dirty="0">
                <a:latin typeface="Times New Roman"/>
                <a:cs typeface="Times New Roman"/>
              </a:rPr>
              <a:t>+</a:t>
            </a:r>
            <a:r>
              <a:rPr sz="2551" b="1" spc="351" dirty="0">
                <a:latin typeface="Times New Roman"/>
                <a:cs typeface="Times New Roman"/>
              </a:rPr>
              <a:t> </a:t>
            </a:r>
            <a:r>
              <a:rPr sz="2551" b="1" i="1" spc="-5" dirty="0">
                <a:latin typeface="Times New Roman"/>
                <a:cs typeface="Times New Roman"/>
              </a:rPr>
              <a:t>M</a:t>
            </a:r>
            <a:r>
              <a:rPr sz="2551" b="1" spc="-7" baseline="-20833" dirty="0">
                <a:latin typeface="Times New Roman"/>
                <a:cs typeface="Times New Roman"/>
              </a:rPr>
              <a:t>4</a:t>
            </a:r>
            <a:endParaRPr sz="2551" baseline="-20833" dirty="0">
              <a:latin typeface="Times New Roman"/>
              <a:cs typeface="Times New Roman"/>
            </a:endParaRPr>
          </a:p>
          <a:p>
            <a:pPr marL="430653">
              <a:lnSpc>
                <a:spcPts val="3003"/>
              </a:lnSpc>
            </a:pPr>
            <a:r>
              <a:rPr sz="2551" b="1" i="1" spc="-5" dirty="0">
                <a:latin typeface="Times New Roman"/>
                <a:cs typeface="Times New Roman"/>
              </a:rPr>
              <a:t>C</a:t>
            </a:r>
            <a:r>
              <a:rPr sz="2551" b="1" spc="-7" baseline="-20833" dirty="0">
                <a:latin typeface="Times New Roman"/>
                <a:cs typeface="Times New Roman"/>
              </a:rPr>
              <a:t>22 </a:t>
            </a:r>
            <a:r>
              <a:rPr sz="2551" b="1" dirty="0">
                <a:latin typeface="Times New Roman"/>
                <a:cs typeface="Times New Roman"/>
              </a:rPr>
              <a:t>= </a:t>
            </a:r>
            <a:r>
              <a:rPr sz="2551" b="1" i="1" dirty="0">
                <a:latin typeface="Times New Roman"/>
                <a:cs typeface="Times New Roman"/>
              </a:rPr>
              <a:t>M</a:t>
            </a:r>
            <a:r>
              <a:rPr sz="2551" b="1" baseline="-20833" dirty="0">
                <a:latin typeface="Times New Roman"/>
                <a:cs typeface="Times New Roman"/>
              </a:rPr>
              <a:t>5</a:t>
            </a:r>
            <a:r>
              <a:rPr sz="2551" b="1" dirty="0">
                <a:latin typeface="Times New Roman"/>
                <a:cs typeface="Times New Roman"/>
              </a:rPr>
              <a:t>+</a:t>
            </a:r>
            <a:r>
              <a:rPr sz="2551" b="1" spc="-243" dirty="0">
                <a:latin typeface="Times New Roman"/>
                <a:cs typeface="Times New Roman"/>
              </a:rPr>
              <a:t> </a:t>
            </a:r>
            <a:r>
              <a:rPr sz="2551" b="1" i="1" dirty="0">
                <a:latin typeface="Times New Roman"/>
                <a:cs typeface="Times New Roman"/>
              </a:rPr>
              <a:t>M</a:t>
            </a:r>
            <a:r>
              <a:rPr sz="2551" b="1" baseline="-20833" dirty="0">
                <a:latin typeface="Times New Roman"/>
                <a:cs typeface="Times New Roman"/>
              </a:rPr>
              <a:t>1</a:t>
            </a:r>
            <a:r>
              <a:rPr sz="2551" b="1" dirty="0">
                <a:latin typeface="宋体"/>
                <a:cs typeface="宋体"/>
              </a:rPr>
              <a:t>－</a:t>
            </a:r>
            <a:r>
              <a:rPr sz="2551" b="1" i="1" dirty="0">
                <a:latin typeface="Times New Roman"/>
                <a:cs typeface="Times New Roman"/>
              </a:rPr>
              <a:t>M</a:t>
            </a:r>
            <a:r>
              <a:rPr sz="2551" b="1" baseline="-20833" dirty="0">
                <a:latin typeface="Times New Roman"/>
                <a:cs typeface="Times New Roman"/>
              </a:rPr>
              <a:t>3</a:t>
            </a:r>
            <a:r>
              <a:rPr sz="2551" b="1" dirty="0">
                <a:latin typeface="宋体"/>
                <a:cs typeface="宋体"/>
              </a:rPr>
              <a:t>－</a:t>
            </a:r>
            <a:r>
              <a:rPr sz="2551" b="1" i="1" dirty="0">
                <a:latin typeface="Times New Roman"/>
                <a:cs typeface="Times New Roman"/>
              </a:rPr>
              <a:t>M</a:t>
            </a:r>
            <a:r>
              <a:rPr sz="2551" b="1" baseline="-20833" dirty="0">
                <a:latin typeface="Times New Roman"/>
                <a:cs typeface="Times New Roman"/>
              </a:rPr>
              <a:t>7</a:t>
            </a:r>
            <a:endParaRPr sz="2551" baseline="-20833" dirty="0">
              <a:latin typeface="Times New Roman"/>
              <a:cs typeface="Times New Roman"/>
            </a:endParaRPr>
          </a:p>
          <a:p>
            <a:pPr marL="27000">
              <a:spcBef>
                <a:spcPts val="2206"/>
              </a:spcBef>
            </a:pPr>
            <a:r>
              <a:rPr sz="2764" b="1" dirty="0">
                <a:latin typeface="宋体"/>
                <a:cs typeface="宋体"/>
              </a:rPr>
              <a:t>时间复杂度函数：</a:t>
            </a:r>
            <a:endParaRPr sz="2764" dirty="0">
              <a:latin typeface="宋体"/>
              <a:cs typeface="宋体"/>
            </a:endParaRPr>
          </a:p>
          <a:p>
            <a:pPr marL="498154">
              <a:spcBef>
                <a:spcPts val="1003"/>
              </a:spcBef>
            </a:pPr>
            <a:r>
              <a:rPr sz="2551" b="1" i="1" spc="-5" dirty="0">
                <a:latin typeface="Times New Roman"/>
                <a:cs typeface="Times New Roman"/>
              </a:rPr>
              <a:t>W</a:t>
            </a:r>
            <a:r>
              <a:rPr sz="2551" b="1" spc="-5" dirty="0">
                <a:latin typeface="Times New Roman"/>
                <a:cs typeface="Times New Roman"/>
              </a:rPr>
              <a:t>(</a:t>
            </a:r>
            <a:r>
              <a:rPr sz="2551" b="1" i="1" spc="-5" dirty="0">
                <a:latin typeface="Times New Roman"/>
                <a:cs typeface="Times New Roman"/>
              </a:rPr>
              <a:t>n</a:t>
            </a:r>
            <a:r>
              <a:rPr sz="2551" b="1" spc="-5" dirty="0">
                <a:latin typeface="Times New Roman"/>
                <a:cs typeface="Times New Roman"/>
              </a:rPr>
              <a:t>) </a:t>
            </a:r>
            <a:r>
              <a:rPr sz="2551" b="1" dirty="0">
                <a:latin typeface="Times New Roman"/>
                <a:cs typeface="Times New Roman"/>
              </a:rPr>
              <a:t>= 7 </a:t>
            </a:r>
            <a:r>
              <a:rPr sz="2551" b="1" i="1" spc="-5" dirty="0">
                <a:latin typeface="Times New Roman"/>
                <a:cs typeface="Times New Roman"/>
              </a:rPr>
              <a:t>W</a:t>
            </a:r>
            <a:r>
              <a:rPr sz="2551" b="1" spc="-5" dirty="0">
                <a:latin typeface="Times New Roman"/>
                <a:cs typeface="Times New Roman"/>
              </a:rPr>
              <a:t>(</a:t>
            </a:r>
            <a:r>
              <a:rPr sz="2551" b="1" i="1" spc="-5" dirty="0">
                <a:latin typeface="Times New Roman"/>
                <a:cs typeface="Times New Roman"/>
              </a:rPr>
              <a:t>n</a:t>
            </a:r>
            <a:r>
              <a:rPr sz="2551" b="1" spc="-5" dirty="0">
                <a:latin typeface="Times New Roman"/>
                <a:cs typeface="Times New Roman"/>
              </a:rPr>
              <a:t>/2) </a:t>
            </a:r>
            <a:r>
              <a:rPr sz="2551" b="1" dirty="0">
                <a:latin typeface="Times New Roman"/>
                <a:cs typeface="Times New Roman"/>
              </a:rPr>
              <a:t>+</a:t>
            </a:r>
            <a:r>
              <a:rPr sz="2551" b="1" spc="-32" dirty="0">
                <a:latin typeface="Times New Roman"/>
                <a:cs typeface="Times New Roman"/>
              </a:rPr>
              <a:t> </a:t>
            </a:r>
            <a:r>
              <a:rPr sz="2551" b="1" dirty="0">
                <a:latin typeface="Times New Roman"/>
                <a:cs typeface="Times New Roman"/>
              </a:rPr>
              <a:t>18(</a:t>
            </a:r>
            <a:r>
              <a:rPr sz="2551" b="1" i="1" dirty="0">
                <a:latin typeface="Times New Roman"/>
                <a:cs typeface="Times New Roman"/>
              </a:rPr>
              <a:t>n</a:t>
            </a:r>
            <a:r>
              <a:rPr sz="2551" b="1" dirty="0">
                <a:latin typeface="Times New Roman"/>
                <a:cs typeface="Times New Roman"/>
              </a:rPr>
              <a:t>/2)</a:t>
            </a:r>
            <a:r>
              <a:rPr sz="2551" b="1" baseline="24305" dirty="0">
                <a:latin typeface="Times New Roman"/>
                <a:cs typeface="Times New Roman"/>
              </a:rPr>
              <a:t>2</a:t>
            </a:r>
            <a:endParaRPr sz="2551" baseline="24305" dirty="0">
              <a:latin typeface="Times New Roman"/>
              <a:cs typeface="Times New Roman"/>
            </a:endParaRPr>
          </a:p>
          <a:p>
            <a:pPr marL="511654">
              <a:spcBef>
                <a:spcPts val="106"/>
              </a:spcBef>
            </a:pPr>
            <a:r>
              <a:rPr sz="2551" b="1" i="1" spc="-5" dirty="0">
                <a:latin typeface="Times New Roman"/>
                <a:cs typeface="Times New Roman"/>
              </a:rPr>
              <a:t>W</a:t>
            </a:r>
            <a:r>
              <a:rPr sz="2551" b="1" spc="-5" dirty="0">
                <a:latin typeface="Times New Roman"/>
                <a:cs typeface="Times New Roman"/>
              </a:rPr>
              <a:t>(1) </a:t>
            </a:r>
            <a:r>
              <a:rPr sz="2551" b="1" dirty="0">
                <a:latin typeface="Times New Roman"/>
                <a:cs typeface="Times New Roman"/>
              </a:rPr>
              <a:t>=</a:t>
            </a:r>
            <a:r>
              <a:rPr sz="2551" b="1" spc="-11" dirty="0">
                <a:latin typeface="Times New Roman"/>
                <a:cs typeface="Times New Roman"/>
              </a:rPr>
              <a:t> </a:t>
            </a:r>
            <a:r>
              <a:rPr sz="2551" b="1" dirty="0">
                <a:latin typeface="Times New Roman"/>
                <a:cs typeface="Times New Roman"/>
              </a:rPr>
              <a:t>1</a:t>
            </a:r>
            <a:endParaRPr sz="2551" dirty="0">
              <a:latin typeface="Times New Roman"/>
              <a:cs typeface="Times New Roman"/>
            </a:endParaRPr>
          </a:p>
          <a:p>
            <a:pPr marL="27000">
              <a:spcBef>
                <a:spcPts val="675"/>
              </a:spcBef>
              <a:tabLst>
                <a:tab pos="675005" algn="l"/>
                <a:tab pos="2884296" algn="l"/>
              </a:tabLst>
            </a:pPr>
            <a:r>
              <a:rPr sz="2551" b="1" spc="-11" dirty="0">
                <a:latin typeface="宋体"/>
                <a:cs typeface="宋体"/>
              </a:rPr>
              <a:t>解	</a:t>
            </a:r>
            <a:r>
              <a:rPr sz="2551" b="1" i="1" spc="-5" dirty="0">
                <a:latin typeface="Times New Roman"/>
                <a:cs typeface="Times New Roman"/>
              </a:rPr>
              <a:t>W</a:t>
            </a:r>
            <a:r>
              <a:rPr sz="2551" b="1" spc="-5" dirty="0">
                <a:latin typeface="Times New Roman"/>
                <a:cs typeface="Times New Roman"/>
              </a:rPr>
              <a:t>(</a:t>
            </a:r>
            <a:r>
              <a:rPr sz="2551" b="1" i="1" spc="-5" dirty="0">
                <a:latin typeface="Times New Roman"/>
                <a:cs typeface="Times New Roman"/>
              </a:rPr>
              <a:t>n</a:t>
            </a:r>
            <a:r>
              <a:rPr sz="2551" b="1" spc="-5" dirty="0">
                <a:latin typeface="Times New Roman"/>
                <a:cs typeface="Times New Roman"/>
              </a:rPr>
              <a:t>)</a:t>
            </a:r>
            <a:r>
              <a:rPr sz="2551" b="1" spc="11" dirty="0">
                <a:latin typeface="Times New Roman"/>
                <a:cs typeface="Times New Roman"/>
              </a:rPr>
              <a:t> </a:t>
            </a:r>
            <a:r>
              <a:rPr sz="2551" b="1" dirty="0">
                <a:latin typeface="Times New Roman"/>
                <a:cs typeface="Times New Roman"/>
              </a:rPr>
              <a:t>=</a:t>
            </a:r>
            <a:r>
              <a:rPr sz="2551" b="1" spc="16" dirty="0">
                <a:latin typeface="Times New Roman"/>
                <a:cs typeface="Times New Roman"/>
              </a:rPr>
              <a:t> </a:t>
            </a:r>
            <a:r>
              <a:rPr sz="2551" b="1" i="1" spc="-5" dirty="0">
                <a:latin typeface="Times New Roman"/>
                <a:cs typeface="Times New Roman"/>
              </a:rPr>
              <a:t>O</a:t>
            </a:r>
            <a:r>
              <a:rPr sz="2551" b="1" spc="-5" dirty="0">
                <a:latin typeface="Times New Roman"/>
                <a:cs typeface="Times New Roman"/>
              </a:rPr>
              <a:t>(</a:t>
            </a:r>
            <a:r>
              <a:rPr sz="2551" b="1" i="1" spc="-5" dirty="0">
                <a:latin typeface="Times New Roman"/>
                <a:cs typeface="Times New Roman"/>
              </a:rPr>
              <a:t>n</a:t>
            </a:r>
            <a:r>
              <a:rPr sz="2551" b="1" spc="-7" baseline="24305" dirty="0">
                <a:latin typeface="Times New Roman"/>
                <a:cs typeface="Times New Roman"/>
              </a:rPr>
              <a:t>log7</a:t>
            </a:r>
            <a:r>
              <a:rPr sz="2551" b="1" spc="-5" dirty="0">
                <a:latin typeface="Times New Roman"/>
                <a:cs typeface="Times New Roman"/>
              </a:rPr>
              <a:t>)	</a:t>
            </a:r>
            <a:r>
              <a:rPr sz="2551" b="1" dirty="0">
                <a:latin typeface="Times New Roman"/>
                <a:cs typeface="Times New Roman"/>
              </a:rPr>
              <a:t>=</a:t>
            </a:r>
            <a:r>
              <a:rPr sz="2551" b="1" spc="-27" dirty="0">
                <a:latin typeface="Times New Roman"/>
                <a:cs typeface="Times New Roman"/>
              </a:rPr>
              <a:t> </a:t>
            </a:r>
            <a:r>
              <a:rPr sz="2551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2551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2551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551" b="1" spc="-7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2.8075</a:t>
            </a:r>
            <a:r>
              <a:rPr sz="2551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255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4543" y="4307629"/>
            <a:ext cx="3969107" cy="810022"/>
          </a:xfrm>
          <a:custGeom>
            <a:avLst/>
            <a:gdLst/>
            <a:ahLst/>
            <a:cxnLst/>
            <a:rect l="l" t="t" r="r" b="b"/>
            <a:pathLst>
              <a:path w="3733800" h="762000">
                <a:moveTo>
                  <a:pt x="0" y="127000"/>
                </a:moveTo>
                <a:lnTo>
                  <a:pt x="9980" y="77581"/>
                </a:lnTo>
                <a:lnTo>
                  <a:pt x="37196" y="37211"/>
                </a:lnTo>
                <a:lnTo>
                  <a:pt x="77565" y="9985"/>
                </a:lnTo>
                <a:lnTo>
                  <a:pt x="127000" y="0"/>
                </a:lnTo>
                <a:lnTo>
                  <a:pt x="3606800" y="0"/>
                </a:lnTo>
                <a:lnTo>
                  <a:pt x="3656218" y="9985"/>
                </a:lnTo>
                <a:lnTo>
                  <a:pt x="3696589" y="37210"/>
                </a:lnTo>
                <a:lnTo>
                  <a:pt x="3723814" y="77581"/>
                </a:lnTo>
                <a:lnTo>
                  <a:pt x="3733800" y="127000"/>
                </a:lnTo>
                <a:lnTo>
                  <a:pt x="3733800" y="635000"/>
                </a:lnTo>
                <a:lnTo>
                  <a:pt x="3723814" y="684434"/>
                </a:lnTo>
                <a:lnTo>
                  <a:pt x="3696589" y="724803"/>
                </a:lnTo>
                <a:lnTo>
                  <a:pt x="3656218" y="752019"/>
                </a:lnTo>
                <a:lnTo>
                  <a:pt x="3606800" y="762000"/>
                </a:lnTo>
                <a:lnTo>
                  <a:pt x="127000" y="762000"/>
                </a:lnTo>
                <a:lnTo>
                  <a:pt x="77565" y="752019"/>
                </a:lnTo>
                <a:lnTo>
                  <a:pt x="37196" y="724803"/>
                </a:lnTo>
                <a:lnTo>
                  <a:pt x="9980" y="684434"/>
                </a:lnTo>
                <a:lnTo>
                  <a:pt x="0" y="635000"/>
                </a:lnTo>
                <a:lnTo>
                  <a:pt x="0" y="1270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1627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297570" y="7484400"/>
            <a:ext cx="2324889" cy="19236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7000">
              <a:lnSpc>
                <a:spcPts val="1515"/>
              </a:lnSpc>
            </a:pPr>
            <a:fld id="{81D60167-4931-47E6-BA6A-407CBD079E47}" type="slidenum">
              <a:rPr spc="-5" dirty="0"/>
              <a:pPr marL="27000">
                <a:lnSpc>
                  <a:spcPts val="1515"/>
                </a:lnSpc>
              </a:pPr>
              <a:t>62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06702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297570" y="7484400"/>
            <a:ext cx="2324889" cy="19236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7000">
              <a:lnSpc>
                <a:spcPts val="1515"/>
              </a:lnSpc>
            </a:pPr>
            <a:fld id="{81D60167-4931-47E6-BA6A-407CBD079E47}" type="slidenum">
              <a:rPr spc="-5" dirty="0"/>
              <a:pPr marL="27000">
                <a:lnSpc>
                  <a:spcPts val="1515"/>
                </a:lnSpc>
              </a:pPr>
              <a:t>63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716" y="289302"/>
            <a:ext cx="8625387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101"/>
              </a:spcBef>
            </a:pPr>
            <a:r>
              <a:rPr sz="4000" spc="-11" dirty="0"/>
              <a:t>矩阵乘法的研究及应用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0209" y="1548760"/>
            <a:ext cx="8908894" cy="3940470"/>
          </a:xfrm>
          <a:prstGeom prst="rect">
            <a:avLst/>
          </a:prstGeom>
        </p:spPr>
        <p:txBody>
          <a:bodyPr vert="horz" wrap="square" lIns="0" tIns="95853" rIns="0" bIns="0" rtlCol="0">
            <a:spAutoFit/>
          </a:bodyPr>
          <a:lstStyle/>
          <a:p>
            <a:pPr marR="2660195" algn="just">
              <a:spcBef>
                <a:spcPts val="755"/>
              </a:spcBef>
            </a:pPr>
            <a:r>
              <a:rPr sz="2551" b="1" dirty="0">
                <a:latin typeface="宋体"/>
                <a:cs typeface="宋体"/>
              </a:rPr>
              <a:t>矩阵乘法问题的难</a:t>
            </a:r>
            <a:r>
              <a:rPr sz="2551" b="1" spc="5" dirty="0">
                <a:latin typeface="宋体"/>
                <a:cs typeface="宋体"/>
              </a:rPr>
              <a:t>度</a:t>
            </a:r>
            <a:r>
              <a:rPr sz="2551" b="1" spc="-5" dirty="0">
                <a:latin typeface="PMingLiU"/>
                <a:cs typeface="PMingLiU"/>
              </a:rPr>
              <a:t>：</a:t>
            </a:r>
            <a:endParaRPr sz="2551" dirty="0">
              <a:latin typeface="PMingLiU"/>
              <a:cs typeface="PMingLiU"/>
            </a:endParaRPr>
          </a:p>
          <a:p>
            <a:pPr marL="435378" indent="-355053" algn="just">
              <a:spcBef>
                <a:spcPts val="654"/>
              </a:spcBef>
              <a:buFont typeface="Arial"/>
              <a:buChar char="•"/>
              <a:tabLst>
                <a:tab pos="435378" algn="l"/>
                <a:tab pos="436052" algn="l"/>
              </a:tabLst>
            </a:pPr>
            <a:r>
              <a:rPr sz="2551" b="1" spc="-5" dirty="0">
                <a:latin typeface="Times New Roman"/>
                <a:cs typeface="Times New Roman"/>
              </a:rPr>
              <a:t>Coppersmith–Winograd</a:t>
            </a:r>
            <a:r>
              <a:rPr sz="2551" b="1" dirty="0">
                <a:latin typeface="宋体"/>
                <a:cs typeface="宋体"/>
              </a:rPr>
              <a:t>算法</a:t>
            </a:r>
            <a:r>
              <a:rPr sz="2551" b="1" spc="-5" dirty="0">
                <a:latin typeface="宋体"/>
                <a:cs typeface="宋体"/>
              </a:rPr>
              <a:t>：</a:t>
            </a:r>
            <a:r>
              <a:rPr sz="2551" b="1" i="1" spc="-5" dirty="0">
                <a:latin typeface="Times New Roman"/>
                <a:cs typeface="Times New Roman"/>
              </a:rPr>
              <a:t>O</a:t>
            </a:r>
            <a:r>
              <a:rPr sz="2551" b="1" spc="-5" dirty="0">
                <a:latin typeface="Times New Roman"/>
                <a:cs typeface="Times New Roman"/>
              </a:rPr>
              <a:t>(</a:t>
            </a:r>
            <a:r>
              <a:rPr sz="2551" b="1" i="1" spc="-5" dirty="0">
                <a:latin typeface="Times New Roman"/>
                <a:cs typeface="Times New Roman"/>
              </a:rPr>
              <a:t>n</a:t>
            </a:r>
            <a:r>
              <a:rPr sz="2551" b="1" spc="-7" baseline="24305" dirty="0">
                <a:latin typeface="Times New Roman"/>
                <a:cs typeface="Times New Roman"/>
              </a:rPr>
              <a:t>2.376</a:t>
            </a:r>
            <a:r>
              <a:rPr sz="2551" b="1" spc="-5" dirty="0">
                <a:latin typeface="Times New Roman"/>
                <a:cs typeface="Times New Roman"/>
              </a:rPr>
              <a:t>)</a:t>
            </a:r>
            <a:endParaRPr sz="2551" dirty="0">
              <a:latin typeface="Times New Roman"/>
              <a:cs typeface="Times New Roman"/>
            </a:endParaRPr>
          </a:p>
          <a:p>
            <a:pPr marR="2662220" algn="just">
              <a:spcBef>
                <a:spcPts val="638"/>
              </a:spcBef>
            </a:pPr>
            <a:r>
              <a:rPr sz="2551" b="1" spc="-5" dirty="0">
                <a:latin typeface="宋体"/>
                <a:cs typeface="宋体"/>
              </a:rPr>
              <a:t>目前为止最好的上界</a:t>
            </a:r>
            <a:endParaRPr sz="2551" dirty="0">
              <a:latin typeface="宋体"/>
              <a:cs typeface="宋体"/>
            </a:endParaRPr>
          </a:p>
          <a:p>
            <a:pPr marL="435378" indent="-355053" algn="just">
              <a:spcBef>
                <a:spcPts val="532"/>
              </a:spcBef>
              <a:buFont typeface="Arial"/>
              <a:buChar char="•"/>
              <a:tabLst>
                <a:tab pos="435378" algn="l"/>
                <a:tab pos="436052" algn="l"/>
              </a:tabLst>
            </a:pPr>
            <a:r>
              <a:rPr sz="2551" b="1" dirty="0">
                <a:latin typeface="宋体"/>
                <a:cs typeface="宋体"/>
              </a:rPr>
              <a:t>目前为止最好的下界是</a:t>
            </a:r>
            <a:r>
              <a:rPr sz="2551" b="1" spc="-11" dirty="0">
                <a:latin typeface="宋体"/>
                <a:cs typeface="宋体"/>
              </a:rPr>
              <a:t>：</a:t>
            </a:r>
            <a:r>
              <a:rPr sz="2551" b="1" spc="-643" dirty="0">
                <a:latin typeface="宋体"/>
                <a:cs typeface="宋体"/>
              </a:rPr>
              <a:t> </a:t>
            </a:r>
            <a:r>
              <a:rPr sz="2658" b="1" i="1" spc="-16" dirty="0">
                <a:latin typeface="Symbol"/>
                <a:cs typeface="Symbol"/>
              </a:rPr>
              <a:t></a:t>
            </a:r>
            <a:r>
              <a:rPr sz="2551" b="1" spc="-16" dirty="0">
                <a:latin typeface="Times New Roman"/>
                <a:cs typeface="Times New Roman"/>
              </a:rPr>
              <a:t>(</a:t>
            </a:r>
            <a:r>
              <a:rPr sz="2551" b="1" i="1" spc="-16" dirty="0">
                <a:latin typeface="Times New Roman"/>
                <a:cs typeface="Times New Roman"/>
              </a:rPr>
              <a:t>n</a:t>
            </a:r>
            <a:r>
              <a:rPr sz="2551" b="1" spc="-23" baseline="24305" dirty="0">
                <a:latin typeface="Times New Roman"/>
                <a:cs typeface="Times New Roman"/>
              </a:rPr>
              <a:t>2</a:t>
            </a:r>
            <a:r>
              <a:rPr sz="2551" b="1" spc="-16" dirty="0">
                <a:latin typeface="Times New Roman"/>
                <a:cs typeface="Times New Roman"/>
              </a:rPr>
              <a:t>)</a:t>
            </a:r>
            <a:endParaRPr sz="2551" dirty="0">
              <a:latin typeface="Times New Roman"/>
              <a:cs typeface="Times New Roman"/>
            </a:endParaRPr>
          </a:p>
          <a:p>
            <a:pPr marL="81001" algn="just">
              <a:spcBef>
                <a:spcPts val="1249"/>
              </a:spcBef>
            </a:pPr>
            <a:r>
              <a:rPr sz="2764" b="1" dirty="0">
                <a:latin typeface="宋体"/>
                <a:cs typeface="宋体"/>
              </a:rPr>
              <a:t>应用：</a:t>
            </a:r>
            <a:endParaRPr sz="2764" dirty="0">
              <a:latin typeface="宋体"/>
              <a:cs typeface="宋体"/>
            </a:endParaRPr>
          </a:p>
          <a:p>
            <a:pPr marL="377328" indent="-297002" algn="just">
              <a:spcBef>
                <a:spcPts val="813"/>
              </a:spcBef>
              <a:buSzPct val="108333"/>
              <a:buFont typeface="Arial"/>
              <a:buChar char="•"/>
              <a:tabLst>
                <a:tab pos="377328" algn="l"/>
                <a:tab pos="378003" algn="l"/>
              </a:tabLst>
            </a:pPr>
            <a:r>
              <a:rPr sz="2551" b="1" dirty="0">
                <a:latin typeface="宋体"/>
                <a:cs typeface="宋体"/>
              </a:rPr>
              <a:t>科学计算、图像处理、数据挖掘等</a:t>
            </a:r>
            <a:endParaRPr sz="2551" dirty="0">
              <a:latin typeface="宋体"/>
              <a:cs typeface="宋体"/>
            </a:endParaRPr>
          </a:p>
          <a:p>
            <a:pPr marL="435378" indent="-355053" algn="just">
              <a:spcBef>
                <a:spcPts val="664"/>
              </a:spcBef>
              <a:buFont typeface="Arial"/>
              <a:buChar char="•"/>
              <a:tabLst>
                <a:tab pos="435378" algn="l"/>
                <a:tab pos="436052" algn="l"/>
              </a:tabLst>
            </a:pPr>
            <a:r>
              <a:rPr sz="2551" b="1" spc="-5" dirty="0" err="1">
                <a:latin typeface="宋体"/>
                <a:cs typeface="宋体"/>
              </a:rPr>
              <a:t>回归、聚类、主成分分析、</a:t>
            </a:r>
            <a:r>
              <a:rPr sz="2551" b="1" spc="-5" dirty="0" err="1" smtClean="0">
                <a:latin typeface="宋体"/>
                <a:cs typeface="宋体"/>
              </a:rPr>
              <a:t>决策树</a:t>
            </a:r>
            <a:r>
              <a:rPr sz="2551" b="1" dirty="0" err="1" smtClean="0">
                <a:latin typeface="宋体"/>
                <a:cs typeface="宋体"/>
              </a:rPr>
              <a:t>等挖掘算法常涉及大规模矩阵运算</a:t>
            </a:r>
            <a:endParaRPr sz="2551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60241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297570" y="7484400"/>
            <a:ext cx="2324889" cy="19236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7000">
              <a:lnSpc>
                <a:spcPts val="1515"/>
              </a:lnSpc>
            </a:pPr>
            <a:fld id="{81D60167-4931-47E6-BA6A-407CBD079E47}" type="slidenum">
              <a:rPr spc="-5" dirty="0"/>
              <a:pPr marL="27000">
                <a:lnSpc>
                  <a:spcPts val="1515"/>
                </a:lnSpc>
              </a:pPr>
              <a:t>64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21" y="218356"/>
            <a:ext cx="8905481" cy="628503"/>
          </a:xfrm>
          <a:prstGeom prst="rect">
            <a:avLst/>
          </a:prstGeom>
        </p:spPr>
        <p:txBody>
          <a:bodyPr vert="horz" wrap="square" lIns="0" tIns="12825" rIns="0" bIns="0" rtlCol="0" anchor="ctr">
            <a:spAutoFit/>
          </a:bodyPr>
          <a:lstStyle/>
          <a:p>
            <a:pPr marL="135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4000" spc="-11" dirty="0"/>
              <a:t>改进途径小结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11" y="1665404"/>
            <a:ext cx="8773891" cy="3203367"/>
          </a:xfrm>
          <a:prstGeom prst="rect">
            <a:avLst/>
          </a:prstGeom>
        </p:spPr>
        <p:txBody>
          <a:bodyPr vert="horz" wrap="square" lIns="0" tIns="45901" rIns="0" bIns="0" rtlCol="0">
            <a:spAutoFit/>
          </a:bodyPr>
          <a:lstStyle/>
          <a:p>
            <a:pPr marL="391503" marR="105976" indent="-364503" algn="just">
              <a:lnSpc>
                <a:spcPts val="287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391503" algn="l"/>
              </a:tabLst>
            </a:pPr>
            <a:r>
              <a:rPr sz="2800" b="1" dirty="0" err="1">
                <a:latin typeface="宋体"/>
                <a:cs typeface="宋体"/>
              </a:rPr>
              <a:t>适用于：子问题个数多，</a:t>
            </a:r>
            <a:r>
              <a:rPr sz="2800" b="1" dirty="0" err="1" smtClean="0">
                <a:latin typeface="宋体"/>
                <a:cs typeface="宋体"/>
              </a:rPr>
              <a:t>划分和综合工作量不太大</a:t>
            </a:r>
            <a:r>
              <a:rPr sz="2800" b="1" dirty="0" err="1">
                <a:latin typeface="宋体"/>
                <a:cs typeface="宋体"/>
              </a:rPr>
              <a:t>，</a:t>
            </a:r>
            <a:r>
              <a:rPr sz="2800" b="1" dirty="0" err="1" smtClean="0">
                <a:latin typeface="宋体"/>
                <a:cs typeface="宋体"/>
              </a:rPr>
              <a:t>时间复杂度函数</a:t>
            </a:r>
            <a:endParaRPr lang="en-US" sz="2800" dirty="0">
              <a:latin typeface="宋体"/>
              <a:cs typeface="宋体"/>
            </a:endParaRPr>
          </a:p>
          <a:p>
            <a:pPr marL="27000" marR="105976" algn="ctr">
              <a:lnSpc>
                <a:spcPts val="2870"/>
              </a:lnSpc>
              <a:spcBef>
                <a:spcPts val="600"/>
              </a:spcBef>
              <a:spcAft>
                <a:spcPts val="600"/>
              </a:spcAft>
              <a:tabLst>
                <a:tab pos="391503" algn="l"/>
              </a:tabLst>
            </a:pPr>
            <a:r>
              <a:rPr sz="2800" b="1" i="1" dirty="0" smtClean="0">
                <a:latin typeface="Times New Roman"/>
                <a:cs typeface="Times New Roman"/>
              </a:rPr>
              <a:t>W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) =</a:t>
            </a:r>
            <a:r>
              <a:rPr sz="2800" b="1" spc="-11" dirty="0">
                <a:latin typeface="Times New Roman"/>
                <a:cs typeface="Times New Roman"/>
              </a:rPr>
              <a:t> </a:t>
            </a:r>
            <a:r>
              <a:rPr sz="2800" b="1" i="1" spc="-80" dirty="0">
                <a:latin typeface="Symbol"/>
                <a:cs typeface="Symbol"/>
              </a:rPr>
              <a:t></a:t>
            </a:r>
            <a:r>
              <a:rPr sz="2800" spc="-32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7" baseline="24305" dirty="0">
                <a:latin typeface="Times New Roman"/>
                <a:cs typeface="Times New Roman"/>
              </a:rPr>
              <a:t>lo</a:t>
            </a:r>
            <a:r>
              <a:rPr sz="2800" b="1" baseline="24305" dirty="0">
                <a:latin typeface="Times New Roman"/>
                <a:cs typeface="Times New Roman"/>
              </a:rPr>
              <a:t>g</a:t>
            </a:r>
            <a:r>
              <a:rPr sz="2800" b="1" i="1" spc="23" baseline="24691" dirty="0">
                <a:latin typeface="Times New Roman"/>
                <a:cs typeface="Times New Roman"/>
              </a:rPr>
              <a:t>b</a:t>
            </a:r>
            <a:r>
              <a:rPr sz="2800" b="1" i="1" spc="-7" baseline="24305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391503" marR="18900" indent="-364503" algn="just">
              <a:lnSpc>
                <a:spcPct val="969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391503" algn="l"/>
              </a:tabLst>
            </a:pPr>
            <a:r>
              <a:rPr sz="2800" b="1" dirty="0" err="1">
                <a:latin typeface="宋体"/>
                <a:cs typeface="宋体"/>
              </a:rPr>
              <a:t>利用子问题依赖关系，</a:t>
            </a:r>
            <a:r>
              <a:rPr sz="2800" b="1" dirty="0" err="1" smtClean="0">
                <a:latin typeface="宋体"/>
                <a:cs typeface="宋体"/>
              </a:rPr>
              <a:t>用某些子问</a:t>
            </a:r>
            <a:r>
              <a:rPr sz="2800" b="1" spc="-5" dirty="0" err="1" smtClean="0">
                <a:latin typeface="宋体"/>
                <a:cs typeface="宋体"/>
              </a:rPr>
              <a:t>题解的代数表达式表示另一些子问</a:t>
            </a:r>
            <a:r>
              <a:rPr sz="2800" b="1" dirty="0" err="1" smtClean="0">
                <a:latin typeface="宋体"/>
                <a:cs typeface="宋体"/>
              </a:rPr>
              <a:t>题的解</a:t>
            </a:r>
            <a:r>
              <a:rPr sz="2800" b="1" dirty="0" err="1">
                <a:latin typeface="宋体"/>
                <a:cs typeface="宋体"/>
              </a:rPr>
              <a:t>，减少独立计算子问题个</a:t>
            </a:r>
            <a:r>
              <a:rPr sz="2800" b="1" spc="5" dirty="0" err="1">
                <a:latin typeface="宋体"/>
                <a:cs typeface="宋体"/>
              </a:rPr>
              <a:t>数</a:t>
            </a:r>
            <a:r>
              <a:rPr sz="2800" b="1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391503" marR="105976" indent="-364503" algn="just">
              <a:lnSpc>
                <a:spcPts val="287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  <a:tabLst>
                <a:tab pos="391503" algn="l"/>
              </a:tabLst>
            </a:pPr>
            <a:r>
              <a:rPr sz="2800" b="1" dirty="0" err="1">
                <a:latin typeface="宋体"/>
                <a:cs typeface="宋体"/>
              </a:rPr>
              <a:t>综合解的工作量可能会增加，</a:t>
            </a:r>
            <a:r>
              <a:rPr sz="2800" b="1" dirty="0" err="1" smtClean="0">
                <a:latin typeface="宋体"/>
                <a:cs typeface="宋体"/>
              </a:rPr>
              <a:t>但增加的工作量不影</a:t>
            </a:r>
            <a:r>
              <a:rPr sz="2800" b="1" spc="-11" dirty="0" err="1" smtClean="0">
                <a:latin typeface="宋体"/>
                <a:cs typeface="宋体"/>
              </a:rPr>
              <a:t>响</a:t>
            </a:r>
            <a:r>
              <a:rPr sz="2800" b="1" spc="-718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宋体"/>
                <a:cs typeface="宋体"/>
              </a:rPr>
              <a:t>的阶</a:t>
            </a:r>
            <a:r>
              <a:rPr sz="2800" b="1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517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51944" y="2178931"/>
            <a:ext cx="8891752" cy="204842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246374" marR="6773" indent="-230288" algn="ctr">
              <a:lnSpc>
                <a:spcPct val="100000"/>
              </a:lnSpc>
              <a:spcBef>
                <a:spcPts val="133"/>
              </a:spcBef>
            </a:pPr>
            <a:r>
              <a:rPr sz="6600" b="1" spc="-27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改</a:t>
            </a:r>
            <a:r>
              <a:rPr sz="6600" b="1" spc="-7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进</a:t>
            </a:r>
            <a:r>
              <a:rPr sz="6600" b="1" spc="-27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</a:t>
            </a:r>
            <a:r>
              <a:rPr sz="6600" b="1" spc="-7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治算</a:t>
            </a:r>
            <a:r>
              <a:rPr sz="6600" b="1" spc="13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法</a:t>
            </a:r>
            <a:r>
              <a:rPr sz="6600" b="1" spc="-7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的</a:t>
            </a:r>
            <a:r>
              <a:rPr sz="6600" b="1" spc="-20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途</a:t>
            </a:r>
            <a:r>
              <a:rPr sz="6600" b="1" spc="-13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径</a:t>
            </a:r>
            <a:r>
              <a:rPr sz="66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2：</a:t>
            </a:r>
            <a:r>
              <a:rPr sz="6600" b="1" spc="-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增加</a:t>
            </a:r>
            <a:r>
              <a:rPr sz="6600" b="1" spc="13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预</a:t>
            </a:r>
            <a:r>
              <a:rPr sz="6600" b="1" spc="-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处</a:t>
            </a:r>
            <a:r>
              <a:rPr sz="6600" b="1" spc="-27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理</a:t>
            </a:r>
            <a:endParaRPr sz="66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809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428" y="246834"/>
            <a:ext cx="8920799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例子：平面点对问题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4428" y="1008035"/>
            <a:ext cx="8920799" cy="233311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3200" b="1" spc="-7" dirty="0">
                <a:latin typeface="宋体"/>
                <a:cs typeface="宋体"/>
              </a:rPr>
              <a:t>输</a:t>
            </a:r>
            <a:r>
              <a:rPr sz="3200" b="1" dirty="0">
                <a:latin typeface="宋体"/>
                <a:cs typeface="宋体"/>
              </a:rPr>
              <a:t>入</a:t>
            </a:r>
            <a:r>
              <a:rPr sz="3200" b="1" dirty="0">
                <a:latin typeface="Times New Roman"/>
                <a:cs typeface="Times New Roman"/>
              </a:rPr>
              <a:t>:</a:t>
            </a:r>
            <a:r>
              <a:rPr sz="3200" b="1" spc="-27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宋体"/>
                <a:cs typeface="宋体"/>
              </a:rPr>
              <a:t>平面点</a:t>
            </a:r>
            <a:r>
              <a:rPr sz="3200" b="1" spc="-13" dirty="0">
                <a:latin typeface="宋体"/>
                <a:cs typeface="宋体"/>
              </a:rPr>
              <a:t>集</a:t>
            </a:r>
            <a:r>
              <a:rPr sz="3200" b="1" spc="-813" dirty="0">
                <a:latin typeface="宋体"/>
                <a:cs typeface="宋体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P</a:t>
            </a:r>
            <a:r>
              <a:rPr sz="3200" b="1" i="1" spc="-140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宋体"/>
                <a:cs typeface="宋体"/>
              </a:rPr>
              <a:t>中</a:t>
            </a:r>
            <a:r>
              <a:rPr sz="3200" b="1" dirty="0">
                <a:latin typeface="宋体"/>
                <a:cs typeface="宋体"/>
              </a:rPr>
              <a:t>有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i="1" spc="-7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宋体"/>
                <a:cs typeface="宋体"/>
              </a:rPr>
              <a:t>个点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13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Times New Roman"/>
                <a:cs typeface="Times New Roman"/>
              </a:rPr>
              <a:t>&gt;1</a:t>
            </a:r>
            <a:endParaRPr sz="3200" dirty="0">
              <a:latin typeface="Times New Roman"/>
              <a:cs typeface="Times New Roman"/>
            </a:endParaRPr>
          </a:p>
          <a:p>
            <a:r>
              <a:rPr sz="3200" b="1" dirty="0">
                <a:latin typeface="宋体"/>
                <a:cs typeface="宋体"/>
              </a:rPr>
              <a:t>输出</a:t>
            </a:r>
            <a:r>
              <a:rPr sz="3200" b="1" dirty="0">
                <a:latin typeface="Times New Roman"/>
                <a:cs typeface="Times New Roman"/>
              </a:rPr>
              <a:t>: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dirty="0">
                <a:latin typeface="宋体"/>
                <a:cs typeface="宋体"/>
              </a:rPr>
              <a:t>中的两个点，其距离最小</a:t>
            </a:r>
            <a:endParaRPr sz="3200" dirty="0">
              <a:latin typeface="宋体"/>
              <a:cs typeface="宋体"/>
            </a:endParaRPr>
          </a:p>
          <a:p>
            <a:pPr>
              <a:spcBef>
                <a:spcPts val="2727"/>
              </a:spcBef>
            </a:pPr>
            <a:r>
              <a:rPr sz="3200" b="1" spc="-7" dirty="0">
                <a:solidFill>
                  <a:srgbClr val="C00000"/>
                </a:solidFill>
                <a:latin typeface="宋体"/>
                <a:cs typeface="宋体"/>
              </a:rPr>
              <a:t>蛮力算</a:t>
            </a: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法</a:t>
            </a:r>
            <a:r>
              <a:rPr sz="3200" b="1" spc="-13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r>
              <a:rPr sz="3200" b="1" i="1" spc="-7" dirty="0">
                <a:latin typeface="Times New Roman"/>
                <a:cs typeface="Times New Roman"/>
              </a:rPr>
              <a:t>C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,2)</a:t>
            </a:r>
            <a:r>
              <a:rPr sz="3200" b="1" dirty="0" err="1" smtClean="0">
                <a:latin typeface="宋体"/>
                <a:cs typeface="宋体"/>
              </a:rPr>
              <a:t>个点对</a:t>
            </a:r>
            <a:r>
              <a:rPr lang="zh-CN" altLang="en-US" sz="3200" b="1" dirty="0">
                <a:latin typeface="宋体"/>
                <a:cs typeface="宋体"/>
              </a:rPr>
              <a:t>，</a:t>
            </a:r>
            <a:r>
              <a:rPr sz="3200" b="1" dirty="0" err="1" smtClean="0">
                <a:latin typeface="宋体"/>
                <a:cs typeface="宋体"/>
              </a:rPr>
              <a:t>计算最小距离</a:t>
            </a:r>
            <a:r>
              <a:rPr sz="3200" b="1" spc="-7" dirty="0" err="1">
                <a:latin typeface="宋体"/>
                <a:cs typeface="宋体"/>
              </a:rPr>
              <a:t>，</a:t>
            </a:r>
            <a:r>
              <a:rPr sz="3200" b="1" i="1" spc="-7" dirty="0" err="1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9" baseline="2430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580" y="3607799"/>
            <a:ext cx="8873503" cy="2162986"/>
          </a:xfrm>
          <a:prstGeom prst="rect">
            <a:avLst/>
          </a:prstGeom>
        </p:spPr>
        <p:txBody>
          <a:bodyPr vert="horz" wrap="square" lIns="0" tIns="92287" rIns="0" bIns="0" rtlCol="0">
            <a:spAutoFit/>
          </a:bodyPr>
          <a:lstStyle/>
          <a:p>
            <a:pPr marL="50799">
              <a:spcBef>
                <a:spcPts val="727"/>
              </a:spcBef>
            </a:pPr>
            <a:r>
              <a:rPr sz="3200" b="1" spc="-7" dirty="0">
                <a:solidFill>
                  <a:srgbClr val="C00000"/>
                </a:solidFill>
                <a:latin typeface="宋体"/>
                <a:cs typeface="宋体"/>
              </a:rPr>
              <a:t>分治策</a:t>
            </a: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略</a:t>
            </a:r>
            <a:r>
              <a:rPr sz="3200" b="1" dirty="0">
                <a:latin typeface="Times New Roman"/>
                <a:cs typeface="Times New Roman"/>
              </a:rPr>
              <a:t>:</a:t>
            </a:r>
            <a:r>
              <a:rPr sz="3200" b="1" spc="-47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P</a:t>
            </a:r>
            <a:r>
              <a:rPr sz="3200" b="1" i="1" spc="-160" dirty="0">
                <a:latin typeface="Times New Roman"/>
                <a:cs typeface="Times New Roman"/>
              </a:rPr>
              <a:t> </a:t>
            </a:r>
            <a:r>
              <a:rPr sz="3200" b="1" spc="-7" dirty="0">
                <a:latin typeface="宋体"/>
                <a:cs typeface="宋体"/>
              </a:rPr>
              <a:t>划为大小相等</a:t>
            </a:r>
            <a:r>
              <a:rPr sz="3200" b="1" dirty="0">
                <a:latin typeface="宋体"/>
                <a:cs typeface="宋体"/>
              </a:rPr>
              <a:t>的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i="1" spc="-9" baseline="-20833" dirty="0">
                <a:latin typeface="Times New Roman"/>
                <a:cs typeface="Times New Roman"/>
              </a:rPr>
              <a:t>L</a:t>
            </a:r>
            <a:r>
              <a:rPr sz="3200" b="1" dirty="0">
                <a:latin typeface="宋体"/>
                <a:cs typeface="宋体"/>
              </a:rPr>
              <a:t>和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i="1" spc="-9" baseline="-20833" dirty="0">
                <a:latin typeface="Times New Roman"/>
                <a:cs typeface="Times New Roman"/>
              </a:rPr>
              <a:t>R</a:t>
            </a:r>
            <a:endParaRPr sz="3200" baseline="-20833" dirty="0">
              <a:latin typeface="Times New Roman"/>
              <a:cs typeface="Times New Roman"/>
            </a:endParaRPr>
          </a:p>
          <a:p>
            <a:pPr marL="861885" indent="-509681">
              <a:lnSpc>
                <a:spcPts val="3987"/>
              </a:lnSpc>
              <a:spcBef>
                <a:spcPts val="667"/>
              </a:spcBef>
              <a:buFont typeface="Times New Roman"/>
              <a:buAutoNum type="arabicPeriod"/>
              <a:tabLst>
                <a:tab pos="861038" algn="l"/>
                <a:tab pos="862732" algn="l"/>
              </a:tabLst>
            </a:pPr>
            <a:r>
              <a:rPr sz="3200" b="1" dirty="0">
                <a:latin typeface="宋体"/>
                <a:cs typeface="宋体"/>
              </a:rPr>
              <a:t>分别计</a:t>
            </a:r>
            <a:r>
              <a:rPr sz="3200" b="1" spc="-13" dirty="0">
                <a:latin typeface="宋体"/>
                <a:cs typeface="宋体"/>
              </a:rPr>
              <a:t>算</a:t>
            </a:r>
            <a:r>
              <a:rPr sz="3200" b="1" spc="-820" dirty="0">
                <a:latin typeface="宋体"/>
                <a:cs typeface="宋体"/>
              </a:rPr>
              <a:t> </a:t>
            </a:r>
            <a:r>
              <a:rPr sz="3200" b="1" i="1" spc="-13" dirty="0">
                <a:latin typeface="Times New Roman"/>
                <a:cs typeface="Times New Roman"/>
              </a:rPr>
              <a:t>P</a:t>
            </a:r>
            <a:r>
              <a:rPr sz="3200" b="1" i="1" spc="-20" baseline="-20833" dirty="0">
                <a:latin typeface="Times New Roman"/>
                <a:cs typeface="Times New Roman"/>
              </a:rPr>
              <a:t>L</a:t>
            </a:r>
            <a:r>
              <a:rPr sz="3333" b="1" i="1" spc="-127" dirty="0">
                <a:latin typeface="宋体"/>
                <a:cs typeface="宋体"/>
              </a:rPr>
              <a:t>、</a:t>
            </a: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i="1" spc="-9" baseline="-20833" dirty="0">
                <a:latin typeface="Times New Roman"/>
                <a:cs typeface="Times New Roman"/>
              </a:rPr>
              <a:t>R</a:t>
            </a:r>
            <a:r>
              <a:rPr sz="3200" b="1" dirty="0">
                <a:latin typeface="宋体"/>
                <a:cs typeface="宋体"/>
              </a:rPr>
              <a:t>中最近点对</a:t>
            </a:r>
            <a:endParaRPr sz="3200" dirty="0">
              <a:latin typeface="宋体"/>
              <a:cs typeface="宋体"/>
            </a:endParaRPr>
          </a:p>
          <a:p>
            <a:pPr marL="861885" marR="105831" indent="-508834">
              <a:lnSpc>
                <a:spcPts val="3840"/>
              </a:lnSpc>
              <a:spcBef>
                <a:spcPts val="120"/>
              </a:spcBef>
              <a:buFont typeface="Times New Roman"/>
              <a:buAutoNum type="arabicPeriod"/>
              <a:tabLst>
                <a:tab pos="861038" algn="l"/>
                <a:tab pos="862732" algn="l"/>
              </a:tabLst>
            </a:pPr>
            <a:r>
              <a:rPr sz="3200" b="1" dirty="0">
                <a:latin typeface="宋体"/>
                <a:cs typeface="宋体"/>
              </a:rPr>
              <a:t>计</a:t>
            </a:r>
            <a:r>
              <a:rPr sz="3200" b="1" spc="-13" dirty="0">
                <a:latin typeface="宋体"/>
                <a:cs typeface="宋体"/>
              </a:rPr>
              <a:t>算</a:t>
            </a:r>
            <a:r>
              <a:rPr sz="3200" b="1" spc="-907" dirty="0">
                <a:latin typeface="宋体"/>
                <a:cs typeface="宋体"/>
              </a:rPr>
              <a:t> </a:t>
            </a:r>
            <a:r>
              <a:rPr sz="3200" b="1" i="1" spc="-13" dirty="0" err="1">
                <a:latin typeface="Times New Roman"/>
                <a:cs typeface="Times New Roman"/>
              </a:rPr>
              <a:t>P</a:t>
            </a:r>
            <a:r>
              <a:rPr sz="3200" b="1" i="1" spc="-20" baseline="-20833" dirty="0" err="1">
                <a:latin typeface="Times New Roman"/>
                <a:cs typeface="Times New Roman"/>
              </a:rPr>
              <a:t>L</a:t>
            </a:r>
            <a:r>
              <a:rPr sz="3200" b="1" dirty="0" err="1">
                <a:latin typeface="宋体"/>
                <a:cs typeface="宋体"/>
              </a:rPr>
              <a:t>与</a:t>
            </a:r>
            <a:r>
              <a:rPr sz="3200" b="1" i="1" spc="-7" dirty="0" err="1">
                <a:latin typeface="Times New Roman"/>
                <a:cs typeface="Times New Roman"/>
              </a:rPr>
              <a:t>P</a:t>
            </a:r>
            <a:r>
              <a:rPr sz="3200" b="1" i="1" spc="-9" baseline="-20833" dirty="0" err="1">
                <a:latin typeface="Times New Roman"/>
                <a:cs typeface="Times New Roman"/>
              </a:rPr>
              <a:t>R</a:t>
            </a:r>
            <a:r>
              <a:rPr sz="3200" b="1" dirty="0" err="1" smtClean="0">
                <a:latin typeface="宋体"/>
                <a:cs typeface="宋体"/>
              </a:rPr>
              <a:t>中各一个点的最近点对</a:t>
            </a:r>
            <a:endParaRPr sz="3200" dirty="0">
              <a:latin typeface="宋体"/>
              <a:cs typeface="宋体"/>
            </a:endParaRPr>
          </a:p>
          <a:p>
            <a:pPr marL="861885" indent="-509681">
              <a:lnSpc>
                <a:spcPts val="3713"/>
              </a:lnSpc>
              <a:buFont typeface="Times New Roman"/>
              <a:buAutoNum type="arabicPeriod"/>
              <a:tabLst>
                <a:tab pos="861038" algn="l"/>
                <a:tab pos="862732" algn="l"/>
              </a:tabLst>
            </a:pPr>
            <a:r>
              <a:rPr sz="3200" b="1" dirty="0">
                <a:latin typeface="宋体"/>
                <a:cs typeface="宋体"/>
              </a:rPr>
              <a:t>上述情况下的最近点对是解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1409" y="6023453"/>
            <a:ext cx="147319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7" dirty="0">
                <a:solidFill>
                  <a:srgbClr val="888888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252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444" y="245724"/>
            <a:ext cx="8921254" cy="633507"/>
          </a:xfrm>
          <a:prstGeom prst="rect">
            <a:avLst/>
          </a:prstGeom>
        </p:spPr>
        <p:txBody>
          <a:bodyPr vert="horz" wrap="square" lIns="0" tIns="17780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40"/>
              </a:spcBef>
            </a:pPr>
            <a:r>
              <a:rPr sz="4000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划分实例：</a:t>
            </a:r>
            <a:r>
              <a:rPr sz="4000" i="1" spc="-13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4000" spc="-7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=10</a:t>
            </a:r>
            <a:endParaRPr sz="40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48022" y="1670542"/>
            <a:ext cx="2540" cy="3759200"/>
          </a:xfrm>
          <a:custGeom>
            <a:avLst/>
            <a:gdLst/>
            <a:ahLst/>
            <a:cxnLst/>
            <a:rect l="l" t="t" r="r" b="b"/>
            <a:pathLst>
              <a:path w="1905" h="2819400">
                <a:moveTo>
                  <a:pt x="1650" y="0"/>
                </a:moveTo>
                <a:lnTo>
                  <a:pt x="0" y="2819400"/>
                </a:lnTo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969936" y="1568942"/>
            <a:ext cx="138007" cy="4165600"/>
          </a:xfrm>
          <a:custGeom>
            <a:avLst/>
            <a:gdLst/>
            <a:ahLst/>
            <a:cxnLst/>
            <a:rect l="l" t="t" r="r" b="b"/>
            <a:pathLst>
              <a:path w="103505" h="3124200">
                <a:moveTo>
                  <a:pt x="51744" y="25205"/>
                </a:moveTo>
                <a:lnTo>
                  <a:pt x="45327" y="36176"/>
                </a:lnTo>
                <a:lnTo>
                  <a:pt x="43814" y="3124200"/>
                </a:lnTo>
                <a:lnTo>
                  <a:pt x="56514" y="3124200"/>
                </a:lnTo>
                <a:lnTo>
                  <a:pt x="58027" y="35975"/>
                </a:lnTo>
                <a:lnTo>
                  <a:pt x="51744" y="25205"/>
                </a:lnTo>
                <a:close/>
              </a:path>
              <a:path w="103505" h="3124200">
                <a:moveTo>
                  <a:pt x="51688" y="0"/>
                </a:moveTo>
                <a:lnTo>
                  <a:pt x="1777" y="85598"/>
                </a:lnTo>
                <a:lnTo>
                  <a:pt x="0" y="88519"/>
                </a:lnTo>
                <a:lnTo>
                  <a:pt x="1015" y="92455"/>
                </a:lnTo>
                <a:lnTo>
                  <a:pt x="7112" y="96012"/>
                </a:lnTo>
                <a:lnTo>
                  <a:pt x="10921" y="94996"/>
                </a:lnTo>
                <a:lnTo>
                  <a:pt x="45327" y="36176"/>
                </a:lnTo>
                <a:lnTo>
                  <a:pt x="45338" y="12573"/>
                </a:lnTo>
                <a:lnTo>
                  <a:pt x="59020" y="12573"/>
                </a:lnTo>
                <a:lnTo>
                  <a:pt x="51688" y="0"/>
                </a:lnTo>
                <a:close/>
              </a:path>
              <a:path w="103505" h="3124200">
                <a:moveTo>
                  <a:pt x="59020" y="12573"/>
                </a:moveTo>
                <a:lnTo>
                  <a:pt x="58038" y="12573"/>
                </a:lnTo>
                <a:lnTo>
                  <a:pt x="58144" y="36176"/>
                </a:lnTo>
                <a:lnTo>
                  <a:pt x="92456" y="94996"/>
                </a:lnTo>
                <a:lnTo>
                  <a:pt x="96265" y="96012"/>
                </a:lnTo>
                <a:lnTo>
                  <a:pt x="102362" y="92455"/>
                </a:lnTo>
                <a:lnTo>
                  <a:pt x="103377" y="88646"/>
                </a:lnTo>
                <a:lnTo>
                  <a:pt x="59020" y="12573"/>
                </a:lnTo>
                <a:close/>
              </a:path>
              <a:path w="103505" h="3124200">
                <a:moveTo>
                  <a:pt x="58038" y="12573"/>
                </a:moveTo>
                <a:lnTo>
                  <a:pt x="45338" y="12573"/>
                </a:lnTo>
                <a:lnTo>
                  <a:pt x="45327" y="36176"/>
                </a:lnTo>
                <a:lnTo>
                  <a:pt x="51744" y="25205"/>
                </a:lnTo>
                <a:lnTo>
                  <a:pt x="46227" y="15748"/>
                </a:lnTo>
                <a:lnTo>
                  <a:pt x="58037" y="15748"/>
                </a:lnTo>
                <a:lnTo>
                  <a:pt x="58038" y="12573"/>
                </a:lnTo>
                <a:close/>
              </a:path>
              <a:path w="103505" h="3124200">
                <a:moveTo>
                  <a:pt x="58037" y="15748"/>
                </a:moveTo>
                <a:lnTo>
                  <a:pt x="57276" y="15748"/>
                </a:lnTo>
                <a:lnTo>
                  <a:pt x="51744" y="25205"/>
                </a:lnTo>
                <a:lnTo>
                  <a:pt x="58027" y="35975"/>
                </a:lnTo>
                <a:lnTo>
                  <a:pt x="58037" y="15748"/>
                </a:lnTo>
                <a:close/>
              </a:path>
              <a:path w="103505" h="3124200">
                <a:moveTo>
                  <a:pt x="57276" y="15748"/>
                </a:moveTo>
                <a:lnTo>
                  <a:pt x="46227" y="15748"/>
                </a:lnTo>
                <a:lnTo>
                  <a:pt x="51744" y="25205"/>
                </a:lnTo>
                <a:lnTo>
                  <a:pt x="57276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801621" y="3737257"/>
            <a:ext cx="5486400" cy="138007"/>
          </a:xfrm>
          <a:custGeom>
            <a:avLst/>
            <a:gdLst/>
            <a:ahLst/>
            <a:cxnLst/>
            <a:rect l="l" t="t" r="r" b="b"/>
            <a:pathLst>
              <a:path w="4114800" h="103505">
                <a:moveTo>
                  <a:pt x="4026154" y="0"/>
                </a:moveTo>
                <a:lnTo>
                  <a:pt x="4022344" y="1015"/>
                </a:lnTo>
                <a:lnTo>
                  <a:pt x="4018788" y="7112"/>
                </a:lnTo>
                <a:lnTo>
                  <a:pt x="4019804" y="10921"/>
                </a:lnTo>
                <a:lnTo>
                  <a:pt x="4078627" y="45330"/>
                </a:lnTo>
                <a:lnTo>
                  <a:pt x="4102354" y="45338"/>
                </a:lnTo>
                <a:lnTo>
                  <a:pt x="4102354" y="58038"/>
                </a:lnTo>
                <a:lnTo>
                  <a:pt x="4078804" y="58038"/>
                </a:lnTo>
                <a:lnTo>
                  <a:pt x="4019804" y="92456"/>
                </a:lnTo>
                <a:lnTo>
                  <a:pt x="4018788" y="96392"/>
                </a:lnTo>
                <a:lnTo>
                  <a:pt x="4020566" y="99313"/>
                </a:lnTo>
                <a:lnTo>
                  <a:pt x="4022344" y="102362"/>
                </a:lnTo>
                <a:lnTo>
                  <a:pt x="4026154" y="103377"/>
                </a:lnTo>
                <a:lnTo>
                  <a:pt x="4103909" y="58038"/>
                </a:lnTo>
                <a:lnTo>
                  <a:pt x="4102354" y="58038"/>
                </a:lnTo>
                <a:lnTo>
                  <a:pt x="4103924" y="58030"/>
                </a:lnTo>
                <a:lnTo>
                  <a:pt x="4114800" y="51688"/>
                </a:lnTo>
                <a:lnTo>
                  <a:pt x="4026154" y="0"/>
                </a:lnTo>
                <a:close/>
              </a:path>
              <a:path w="4114800" h="103505">
                <a:moveTo>
                  <a:pt x="4089594" y="51744"/>
                </a:moveTo>
                <a:lnTo>
                  <a:pt x="4078819" y="58030"/>
                </a:lnTo>
                <a:lnTo>
                  <a:pt x="4102354" y="58038"/>
                </a:lnTo>
                <a:lnTo>
                  <a:pt x="4102354" y="57276"/>
                </a:lnTo>
                <a:lnTo>
                  <a:pt x="4099052" y="57276"/>
                </a:lnTo>
                <a:lnTo>
                  <a:pt x="4089594" y="51744"/>
                </a:lnTo>
                <a:close/>
              </a:path>
              <a:path w="4114800" h="103505">
                <a:moveTo>
                  <a:pt x="0" y="43814"/>
                </a:moveTo>
                <a:lnTo>
                  <a:pt x="0" y="56514"/>
                </a:lnTo>
                <a:lnTo>
                  <a:pt x="4078819" y="58030"/>
                </a:lnTo>
                <a:lnTo>
                  <a:pt x="4089594" y="51744"/>
                </a:lnTo>
                <a:lnTo>
                  <a:pt x="4078627" y="45330"/>
                </a:lnTo>
                <a:lnTo>
                  <a:pt x="0" y="43814"/>
                </a:lnTo>
                <a:close/>
              </a:path>
              <a:path w="4114800" h="103505">
                <a:moveTo>
                  <a:pt x="4099052" y="46227"/>
                </a:moveTo>
                <a:lnTo>
                  <a:pt x="4089594" y="51744"/>
                </a:lnTo>
                <a:lnTo>
                  <a:pt x="4099052" y="57276"/>
                </a:lnTo>
                <a:lnTo>
                  <a:pt x="4099052" y="46227"/>
                </a:lnTo>
                <a:close/>
              </a:path>
              <a:path w="4114800" h="103505">
                <a:moveTo>
                  <a:pt x="4102354" y="46227"/>
                </a:moveTo>
                <a:lnTo>
                  <a:pt x="4099052" y="46227"/>
                </a:lnTo>
                <a:lnTo>
                  <a:pt x="4099052" y="57276"/>
                </a:lnTo>
                <a:lnTo>
                  <a:pt x="4102354" y="57276"/>
                </a:lnTo>
                <a:lnTo>
                  <a:pt x="4102354" y="46227"/>
                </a:lnTo>
                <a:close/>
              </a:path>
              <a:path w="4114800" h="103505">
                <a:moveTo>
                  <a:pt x="4078627" y="45330"/>
                </a:moveTo>
                <a:lnTo>
                  <a:pt x="4089594" y="51744"/>
                </a:lnTo>
                <a:lnTo>
                  <a:pt x="4099052" y="46227"/>
                </a:lnTo>
                <a:lnTo>
                  <a:pt x="4102354" y="46227"/>
                </a:lnTo>
                <a:lnTo>
                  <a:pt x="4102354" y="45338"/>
                </a:lnTo>
                <a:lnTo>
                  <a:pt x="4078627" y="45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398521" y="1861042"/>
            <a:ext cx="2286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2817621" y="25849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2817621" y="25849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3224021" y="23817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5994" y="105840"/>
                </a:lnTo>
                <a:lnTo>
                  <a:pt x="22336" y="130063"/>
                </a:lnTo>
                <a:lnTo>
                  <a:pt x="46559" y="146405"/>
                </a:lnTo>
                <a:lnTo>
                  <a:pt x="76200" y="152400"/>
                </a:lnTo>
                <a:lnTo>
                  <a:pt x="105840" y="146405"/>
                </a:lnTo>
                <a:lnTo>
                  <a:pt x="130063" y="130063"/>
                </a:lnTo>
                <a:lnTo>
                  <a:pt x="146405" y="105840"/>
                </a:lnTo>
                <a:lnTo>
                  <a:pt x="152400" y="76200"/>
                </a:lnTo>
                <a:lnTo>
                  <a:pt x="146405" y="46559"/>
                </a:lnTo>
                <a:lnTo>
                  <a:pt x="130063" y="22336"/>
                </a:lnTo>
                <a:lnTo>
                  <a:pt x="105840" y="5994"/>
                </a:lnTo>
                <a:lnTo>
                  <a:pt x="7620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3224021" y="238174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05840" y="5994"/>
                </a:lnTo>
                <a:lnTo>
                  <a:pt x="130063" y="22336"/>
                </a:lnTo>
                <a:lnTo>
                  <a:pt x="146405" y="46559"/>
                </a:lnTo>
                <a:lnTo>
                  <a:pt x="152400" y="76200"/>
                </a:lnTo>
                <a:lnTo>
                  <a:pt x="146405" y="105840"/>
                </a:lnTo>
                <a:lnTo>
                  <a:pt x="130063" y="130063"/>
                </a:lnTo>
                <a:lnTo>
                  <a:pt x="105840" y="146405"/>
                </a:lnTo>
                <a:lnTo>
                  <a:pt x="76200" y="152400"/>
                </a:lnTo>
                <a:lnTo>
                  <a:pt x="46559" y="146405"/>
                </a:lnTo>
                <a:lnTo>
                  <a:pt x="22336" y="130063"/>
                </a:lnTo>
                <a:lnTo>
                  <a:pt x="5994" y="105840"/>
                </a:lnTo>
                <a:lnTo>
                  <a:pt x="0" y="762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109721" y="4502642"/>
            <a:ext cx="2286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5243321" y="2064242"/>
            <a:ext cx="2286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4227321" y="3283442"/>
            <a:ext cx="2286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5243321" y="4299442"/>
            <a:ext cx="2286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5141721" y="2978642"/>
            <a:ext cx="2286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5751321" y="3385042"/>
            <a:ext cx="2286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5852921" y="4909042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4955456" y="5054975"/>
            <a:ext cx="147319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i="1" dirty="0">
                <a:latin typeface="Times New Roman"/>
                <a:cs typeface="Times New Roman"/>
              </a:rPr>
              <a:t>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77948" y="4851367"/>
            <a:ext cx="51477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i="1" spc="-9" baseline="-20833" dirty="0">
                <a:latin typeface="Times New Roman"/>
                <a:cs typeface="Times New Roman"/>
              </a:rPr>
              <a:t>L</a:t>
            </a:r>
            <a:endParaRPr sz="3200" baseline="-20833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588" y="4952967"/>
            <a:ext cx="53086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i="1" spc="-9" baseline="-20833" dirty="0">
                <a:latin typeface="Times New Roman"/>
                <a:cs typeface="Times New Roman"/>
              </a:rPr>
              <a:t>R</a:t>
            </a:r>
            <a:endParaRPr sz="3200" baseline="-2083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20823" y="2555311"/>
            <a:ext cx="232833" cy="131233"/>
          </a:xfrm>
          <a:custGeom>
            <a:avLst/>
            <a:gdLst/>
            <a:ahLst/>
            <a:cxnLst/>
            <a:rect l="l" t="t" r="r" b="b"/>
            <a:pathLst>
              <a:path w="174625" h="98425">
                <a:moveTo>
                  <a:pt x="0" y="98425"/>
                </a:moveTo>
                <a:lnTo>
                  <a:pt x="174625" y="0"/>
                </a:lnTo>
              </a:path>
            </a:pathLst>
          </a:custGeom>
          <a:ln w="2540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5357623" y="3122575"/>
            <a:ext cx="436033" cy="304800"/>
          </a:xfrm>
          <a:custGeom>
            <a:avLst/>
            <a:gdLst/>
            <a:ahLst/>
            <a:cxnLst/>
            <a:rect l="l" t="t" r="r" b="b"/>
            <a:pathLst>
              <a:path w="327025" h="228600">
                <a:moveTo>
                  <a:pt x="0" y="0"/>
                </a:moveTo>
                <a:lnTo>
                  <a:pt x="327025" y="228600"/>
                </a:lnTo>
              </a:path>
            </a:pathLst>
          </a:custGeom>
          <a:ln w="2540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4443221" y="3092942"/>
            <a:ext cx="711200" cy="3048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228600"/>
                </a:lnTo>
              </a:path>
            </a:pathLst>
          </a:custGeom>
          <a:ln w="2540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0361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356" y="225024"/>
            <a:ext cx="8900342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算法伪码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356" y="950548"/>
            <a:ext cx="8900342" cy="50056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7732">
              <a:spcBef>
                <a:spcPts val="133"/>
              </a:spcBef>
            </a:pPr>
            <a:r>
              <a:rPr sz="2800" b="1" dirty="0">
                <a:latin typeface="Times New Roman"/>
                <a:cs typeface="Times New Roman"/>
              </a:rPr>
              <a:t>MinDistance </a:t>
            </a:r>
            <a:r>
              <a:rPr sz="2800" b="1" spc="-140" dirty="0">
                <a:latin typeface="Times New Roman"/>
                <a:cs typeface="Times New Roman"/>
              </a:rPr>
              <a:t>(</a:t>
            </a:r>
            <a:r>
              <a:rPr sz="2800" b="1" i="1" spc="-140" dirty="0">
                <a:latin typeface="Times New Roman"/>
                <a:cs typeface="Times New Roman"/>
              </a:rPr>
              <a:t>P, </a:t>
            </a:r>
            <a:r>
              <a:rPr lang="en-US" sz="2800" b="1" i="1" spc="-140" dirty="0" smtClean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X,</a:t>
            </a:r>
            <a:r>
              <a:rPr lang="en-US" sz="2800" b="1" i="1" spc="20" dirty="0" smtClean="0">
                <a:latin typeface="Times New Roman"/>
                <a:cs typeface="Times New Roman"/>
              </a:rPr>
              <a:t> </a:t>
            </a:r>
            <a:r>
              <a:rPr sz="2800" b="1" i="1" spc="7" dirty="0" smtClean="0">
                <a:latin typeface="Times New Roman"/>
                <a:cs typeface="Times New Roman"/>
              </a:rPr>
              <a:t>Y</a:t>
            </a:r>
            <a:r>
              <a:rPr sz="2800" b="1" spc="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67732" marR="156629">
              <a:spcBef>
                <a:spcPts val="47"/>
              </a:spcBef>
              <a:tabLst>
                <a:tab pos="2436646" algn="l"/>
              </a:tabLst>
            </a:pPr>
            <a:r>
              <a:rPr sz="2800" b="1" dirty="0">
                <a:latin typeface="宋体"/>
                <a:cs typeface="宋体"/>
              </a:rPr>
              <a:t>输入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13" dirty="0">
                <a:latin typeface="Times New Roman"/>
                <a:cs typeface="Times New Roman"/>
              </a:rPr>
              <a:t> </a:t>
            </a:r>
            <a:r>
              <a:rPr sz="2800" b="1" dirty="0" err="1">
                <a:latin typeface="宋体"/>
                <a:cs typeface="宋体"/>
              </a:rPr>
              <a:t>点集</a:t>
            </a:r>
            <a:r>
              <a:rPr sz="2800" b="1" i="1" spc="-420" dirty="0" err="1">
                <a:latin typeface="Times New Roman"/>
                <a:cs typeface="Times New Roman"/>
              </a:rPr>
              <a:t>P</a:t>
            </a:r>
            <a:r>
              <a:rPr sz="2800" b="1" i="1" dirty="0" smtClean="0">
                <a:latin typeface="Times New Roman"/>
                <a:cs typeface="Times New Roman"/>
              </a:rPr>
              <a:t>,</a:t>
            </a:r>
            <a:r>
              <a:rPr lang="en-US" sz="2800" b="1" i="1" dirty="0" smtClean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 </a:t>
            </a:r>
            <a:r>
              <a:rPr sz="2800" b="1" i="1" spc="-7" dirty="0" err="1" smtClean="0">
                <a:latin typeface="Times New Roman"/>
                <a:cs typeface="Times New Roman"/>
              </a:rPr>
              <a:t>X</a:t>
            </a:r>
            <a:r>
              <a:rPr sz="2800" b="1" dirty="0" err="1">
                <a:latin typeface="宋体"/>
                <a:cs typeface="宋体"/>
              </a:rPr>
              <a:t>和</a:t>
            </a:r>
            <a:r>
              <a:rPr sz="2800" b="1" i="1" spc="13" dirty="0" err="1">
                <a:latin typeface="Times New Roman"/>
                <a:cs typeface="Times New Roman"/>
              </a:rPr>
              <a:t>Y</a:t>
            </a:r>
            <a:r>
              <a:rPr sz="2800" b="1" dirty="0" err="1">
                <a:latin typeface="宋体"/>
                <a:cs typeface="宋体"/>
              </a:rPr>
              <a:t>为横、</a:t>
            </a:r>
            <a:r>
              <a:rPr sz="2800" b="1" dirty="0" err="1" smtClean="0">
                <a:latin typeface="宋体"/>
                <a:cs typeface="宋体"/>
              </a:rPr>
              <a:t>纵坐标数组</a:t>
            </a:r>
            <a:endParaRPr lang="en-US" sz="2800" b="1" dirty="0" smtClean="0">
              <a:latin typeface="宋体"/>
              <a:cs typeface="宋体"/>
            </a:endParaRPr>
          </a:p>
          <a:p>
            <a:pPr marL="67732" marR="156629">
              <a:spcBef>
                <a:spcPts val="47"/>
              </a:spcBef>
              <a:tabLst>
                <a:tab pos="2436646" algn="l"/>
              </a:tabLst>
            </a:pPr>
            <a:r>
              <a:rPr sz="2800" b="1" dirty="0" err="1" smtClean="0">
                <a:latin typeface="宋体"/>
                <a:cs typeface="宋体"/>
              </a:rPr>
              <a:t>输出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最近的两个点及距离</a:t>
            </a:r>
            <a:endParaRPr sz="2800" dirty="0">
              <a:latin typeface="宋体"/>
              <a:cs typeface="宋体"/>
            </a:endParaRPr>
          </a:p>
          <a:p>
            <a:pPr marL="573179" indent="-407236">
              <a:spcBef>
                <a:spcPts val="7"/>
              </a:spcBef>
              <a:buFont typeface="Times New Roman"/>
              <a:buAutoNum type="arabicPeriod"/>
              <a:tabLst>
                <a:tab pos="574026" algn="l"/>
              </a:tabLst>
            </a:pPr>
            <a:r>
              <a:rPr sz="2800" b="1" dirty="0" err="1">
                <a:latin typeface="宋体"/>
                <a:cs typeface="宋体"/>
              </a:rPr>
              <a:t>若</a:t>
            </a:r>
            <a:r>
              <a:rPr sz="2800" b="1" spc="-7" dirty="0" err="1">
                <a:latin typeface="Times New Roman"/>
                <a:cs typeface="Times New Roman"/>
              </a:rPr>
              <a:t>|</a:t>
            </a:r>
            <a:r>
              <a:rPr sz="2800" b="1" i="1" spc="-7" dirty="0" err="1">
                <a:latin typeface="Times New Roman"/>
                <a:cs typeface="Times New Roman"/>
              </a:rPr>
              <a:t>P</a:t>
            </a:r>
            <a:r>
              <a:rPr sz="2800" b="1" i="1" spc="-7" dirty="0" smtClean="0">
                <a:latin typeface="Times New Roman"/>
                <a:cs typeface="Times New Roman"/>
              </a:rPr>
              <a:t>|</a:t>
            </a:r>
            <a:r>
              <a:rPr lang="en-US" sz="2800" b="1" i="1" spc="-7" dirty="0" smtClean="0">
                <a:latin typeface="Times New Roman"/>
                <a:cs typeface="Times New Roman"/>
              </a:rPr>
              <a:t> </a:t>
            </a:r>
            <a:r>
              <a:rPr sz="2800" b="1" spc="-7" dirty="0" smtClean="0">
                <a:latin typeface="Symbol"/>
                <a:cs typeface="Symbol"/>
              </a:rPr>
              <a:t></a:t>
            </a:r>
            <a:r>
              <a:rPr lang="en-US" sz="2800" b="1" spc="-7" dirty="0" smtClean="0">
                <a:latin typeface="Symbol"/>
                <a:cs typeface="Symbol"/>
              </a:rPr>
              <a:t> </a:t>
            </a:r>
            <a:r>
              <a:rPr sz="2800" b="1" spc="-7" dirty="0" smtClean="0">
                <a:latin typeface="Times New Roman"/>
                <a:cs typeface="Times New Roman"/>
              </a:rPr>
              <a:t>3</a:t>
            </a:r>
            <a:r>
              <a:rPr sz="2800" b="1" spc="-7" dirty="0">
                <a:latin typeface="宋体"/>
                <a:cs typeface="宋体"/>
              </a:rPr>
              <a:t>，</a:t>
            </a:r>
            <a:r>
              <a:rPr sz="2800" b="1" dirty="0">
                <a:latin typeface="宋体"/>
                <a:cs typeface="宋体"/>
              </a:rPr>
              <a:t>直接计算其最小距离</a:t>
            </a:r>
            <a:endParaRPr sz="2800" dirty="0">
              <a:latin typeface="宋体"/>
              <a:cs typeface="宋体"/>
            </a:endParaRPr>
          </a:p>
          <a:p>
            <a:pPr marL="573179" indent="-407236">
              <a:buFont typeface="Times New Roman"/>
              <a:buAutoNum type="arabicPeriod"/>
              <a:tabLst>
                <a:tab pos="574026" algn="l"/>
              </a:tabLst>
            </a:pPr>
            <a:r>
              <a:rPr sz="2800" b="1" spc="-7" dirty="0" err="1">
                <a:latin typeface="宋体"/>
                <a:cs typeface="宋体"/>
              </a:rPr>
              <a:t>排</a:t>
            </a:r>
            <a:r>
              <a:rPr sz="2800" b="1" dirty="0" err="1">
                <a:latin typeface="宋体"/>
                <a:cs typeface="宋体"/>
              </a:rPr>
              <a:t>序</a:t>
            </a:r>
            <a:r>
              <a:rPr sz="2800" b="1" i="1" dirty="0" err="1">
                <a:latin typeface="Times New Roman"/>
                <a:cs typeface="Times New Roman"/>
              </a:rPr>
              <a:t>X</a:t>
            </a:r>
            <a:r>
              <a:rPr sz="2800" b="1" i="1" dirty="0" smtClean="0">
                <a:latin typeface="Times New Roman"/>
                <a:cs typeface="Times New Roman"/>
              </a:rPr>
              <a:t>,</a:t>
            </a:r>
            <a:r>
              <a:rPr lang="en-US" sz="2800" b="1" i="1" dirty="0" smtClean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Y</a:t>
            </a:r>
            <a:endParaRPr sz="2800" dirty="0">
              <a:latin typeface="Times New Roman"/>
              <a:cs typeface="Times New Roman"/>
            </a:endParaRPr>
          </a:p>
          <a:p>
            <a:pPr marL="573179" indent="-407236">
              <a:lnSpc>
                <a:spcPts val="3813"/>
              </a:lnSpc>
              <a:buFont typeface="Times New Roman"/>
              <a:buAutoNum type="arabicPeriod"/>
              <a:tabLst>
                <a:tab pos="574026" algn="l"/>
              </a:tabLst>
            </a:pPr>
            <a:r>
              <a:rPr sz="2800" b="1" dirty="0">
                <a:latin typeface="宋体"/>
                <a:cs typeface="宋体"/>
              </a:rPr>
              <a:t>做中垂</a:t>
            </a:r>
            <a:r>
              <a:rPr sz="2800" b="1" spc="-13" dirty="0">
                <a:latin typeface="宋体"/>
                <a:cs typeface="宋体"/>
              </a:rPr>
              <a:t>线</a:t>
            </a:r>
            <a:r>
              <a:rPr sz="2800" b="1" spc="-813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将</a:t>
            </a:r>
            <a:r>
              <a:rPr sz="2800" b="1" i="1" dirty="0">
                <a:latin typeface="Times New Roman"/>
                <a:cs typeface="Times New Roman"/>
              </a:rPr>
              <a:t>P</a:t>
            </a:r>
            <a:r>
              <a:rPr sz="2800" b="1" dirty="0">
                <a:latin typeface="宋体"/>
                <a:cs typeface="宋体"/>
              </a:rPr>
              <a:t>划分为</a:t>
            </a:r>
            <a:r>
              <a:rPr sz="2800" b="1" i="1" spc="-13" dirty="0">
                <a:latin typeface="Times New Roman"/>
                <a:cs typeface="Times New Roman"/>
              </a:rPr>
              <a:t>P</a:t>
            </a:r>
            <a:r>
              <a:rPr sz="2800" b="1" i="1" spc="-20" baseline="-20833" dirty="0">
                <a:latin typeface="Times New Roman"/>
                <a:cs typeface="Times New Roman"/>
              </a:rPr>
              <a:t>L</a:t>
            </a:r>
            <a:r>
              <a:rPr sz="2800" b="1" dirty="0">
                <a:latin typeface="宋体"/>
                <a:cs typeface="宋体"/>
              </a:rPr>
              <a:t>和</a:t>
            </a:r>
            <a:r>
              <a:rPr sz="2800" b="1" i="1" spc="-7" dirty="0">
                <a:latin typeface="Times New Roman"/>
                <a:cs typeface="Times New Roman"/>
              </a:rPr>
              <a:t>P</a:t>
            </a:r>
            <a:r>
              <a:rPr sz="2800" b="1" i="1" spc="-9" baseline="-20833" dirty="0">
                <a:latin typeface="Times New Roman"/>
                <a:cs typeface="Times New Roman"/>
              </a:rPr>
              <a:t>R</a:t>
            </a:r>
            <a:endParaRPr sz="2800" baseline="-20833" dirty="0">
              <a:latin typeface="Times New Roman"/>
              <a:cs typeface="Times New Roman"/>
            </a:endParaRPr>
          </a:p>
          <a:p>
            <a:pPr marL="573179" indent="-407236">
              <a:lnSpc>
                <a:spcPts val="3813"/>
              </a:lnSpc>
              <a:buAutoNum type="arabicPeriod"/>
              <a:tabLst>
                <a:tab pos="574026" algn="l"/>
              </a:tabLst>
            </a:pPr>
            <a:r>
              <a:rPr sz="2800" b="1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MinDidtance</a:t>
            </a:r>
            <a:r>
              <a:rPr sz="2800" b="1" spc="-87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P</a:t>
            </a:r>
            <a:r>
              <a:rPr sz="2800" b="1" i="1" spc="-9" baseline="-20833" dirty="0">
                <a:latin typeface="Times New Roman"/>
                <a:cs typeface="Times New Roman"/>
              </a:rPr>
              <a:t>L</a:t>
            </a:r>
            <a:r>
              <a:rPr sz="2800" b="1" spc="-7" dirty="0" smtClean="0">
                <a:latin typeface="Times New Roman"/>
                <a:cs typeface="Times New Roman"/>
              </a:rPr>
              <a:t>,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X</a:t>
            </a:r>
            <a:r>
              <a:rPr sz="2800" b="1" i="1" spc="-9" baseline="-20833" dirty="0" smtClean="0">
                <a:latin typeface="Times New Roman"/>
                <a:cs typeface="Times New Roman"/>
              </a:rPr>
              <a:t>L</a:t>
            </a:r>
            <a:r>
              <a:rPr sz="2800" b="1" spc="-7" dirty="0" smtClean="0">
                <a:latin typeface="Times New Roman"/>
                <a:cs typeface="Times New Roman"/>
              </a:rPr>
              <a:t>,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Y</a:t>
            </a:r>
            <a:r>
              <a:rPr sz="2800" b="1" i="1" spc="-9" baseline="-20833" dirty="0" smtClean="0">
                <a:latin typeface="Times New Roman"/>
                <a:cs typeface="Times New Roman"/>
              </a:rPr>
              <a:t>L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574026" indent="-408083">
              <a:buAutoNum type="arabicPeriod"/>
              <a:tabLst>
                <a:tab pos="574872" algn="l"/>
              </a:tabLst>
            </a:pPr>
            <a:r>
              <a:rPr sz="2800" b="1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MinDistance</a:t>
            </a:r>
            <a:r>
              <a:rPr sz="2800" b="1" spc="-93" dirty="0">
                <a:latin typeface="Times New Roman"/>
                <a:cs typeface="Times New Roman"/>
              </a:rPr>
              <a:t> 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P</a:t>
            </a:r>
            <a:r>
              <a:rPr sz="2800" b="1" i="1" spc="-9" baseline="-20833" dirty="0">
                <a:latin typeface="Times New Roman"/>
                <a:cs typeface="Times New Roman"/>
              </a:rPr>
              <a:t>R</a:t>
            </a:r>
            <a:r>
              <a:rPr sz="2800" b="1" spc="-7" dirty="0" smtClean="0">
                <a:latin typeface="Times New Roman"/>
                <a:cs typeface="Times New Roman"/>
              </a:rPr>
              <a:t>,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X</a:t>
            </a:r>
            <a:r>
              <a:rPr sz="2800" b="1" i="1" spc="-9" baseline="-20833" dirty="0" smtClean="0">
                <a:latin typeface="Times New Roman"/>
                <a:cs typeface="Times New Roman"/>
              </a:rPr>
              <a:t>R</a:t>
            </a:r>
            <a:r>
              <a:rPr sz="2800" b="1" spc="-7" dirty="0" smtClean="0">
                <a:latin typeface="Times New Roman"/>
                <a:cs typeface="Times New Roman"/>
              </a:rPr>
              <a:t>,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i="1" spc="-7" dirty="0" smtClean="0">
                <a:latin typeface="Times New Roman"/>
                <a:cs typeface="Times New Roman"/>
              </a:rPr>
              <a:t>Y</a:t>
            </a:r>
            <a:r>
              <a:rPr sz="2800" b="1" i="1" spc="-9" baseline="-20833" dirty="0" smtClean="0">
                <a:latin typeface="Times New Roman"/>
                <a:cs typeface="Times New Roman"/>
              </a:rPr>
              <a:t>R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573179" indent="-407236">
              <a:spcBef>
                <a:spcPts val="53"/>
              </a:spcBef>
              <a:buFont typeface="Times New Roman"/>
              <a:buAutoNum type="arabicPeriod"/>
              <a:tabLst>
                <a:tab pos="574026" algn="l"/>
              </a:tabLst>
            </a:pPr>
            <a:r>
              <a:rPr sz="2800" b="1" spc="-7" dirty="0">
                <a:latin typeface="Symbol"/>
                <a:cs typeface="Symbol"/>
              </a:rPr>
              <a:t></a:t>
            </a:r>
            <a:r>
              <a:rPr sz="2800" b="1" spc="-7" dirty="0">
                <a:latin typeface="Times New Roman"/>
                <a:cs typeface="Times New Roman"/>
              </a:rPr>
              <a:t>=min(</a:t>
            </a:r>
            <a:r>
              <a:rPr sz="2800" b="1" spc="-7" dirty="0">
                <a:latin typeface="Symbol"/>
                <a:cs typeface="Symbol"/>
              </a:rPr>
              <a:t></a:t>
            </a:r>
            <a:r>
              <a:rPr sz="2800" b="1" i="1" spc="-9" baseline="-20833" dirty="0">
                <a:latin typeface="Times New Roman"/>
                <a:cs typeface="Times New Roman"/>
              </a:rPr>
              <a:t>L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Symbol"/>
                <a:cs typeface="Symbol"/>
              </a:rPr>
              <a:t></a:t>
            </a:r>
            <a:r>
              <a:rPr sz="2800" b="1" i="1" spc="-9" baseline="-20833" dirty="0">
                <a:latin typeface="Times New Roman"/>
                <a:cs typeface="Times New Roman"/>
              </a:rPr>
              <a:t>R</a:t>
            </a:r>
            <a:r>
              <a:rPr sz="2800" b="1" spc="-7" dirty="0" smtClean="0">
                <a:latin typeface="Times New Roman"/>
                <a:cs typeface="Times New Roman"/>
              </a:rPr>
              <a:t>)</a:t>
            </a:r>
            <a:r>
              <a:rPr lang="en-US" sz="2800" b="1" spc="-7" dirty="0" smtClean="0">
                <a:latin typeface="Times New Roman"/>
                <a:cs typeface="Times New Roman"/>
              </a:rPr>
              <a:t> </a:t>
            </a:r>
            <a:r>
              <a:rPr sz="2800" b="1" spc="-7" dirty="0" smtClean="0">
                <a:latin typeface="Times New Roman"/>
                <a:cs typeface="Times New Roman"/>
              </a:rPr>
              <a:t>//</a:t>
            </a:r>
            <a:r>
              <a:rPr sz="2800" b="1" spc="-7" dirty="0">
                <a:latin typeface="Symbol"/>
                <a:cs typeface="Symbol"/>
              </a:rPr>
              <a:t></a:t>
            </a:r>
            <a:r>
              <a:rPr sz="2800" b="1" i="1" spc="-9" baseline="-20833" dirty="0">
                <a:latin typeface="Times New Roman"/>
                <a:cs typeface="Times New Roman"/>
              </a:rPr>
              <a:t>L</a:t>
            </a:r>
            <a:r>
              <a:rPr sz="2800" b="1" spc="-7" dirty="0">
                <a:latin typeface="Times New Roman"/>
                <a:cs typeface="Times New Roman"/>
              </a:rPr>
              <a:t>,</a:t>
            </a:r>
            <a:r>
              <a:rPr sz="2800" b="1" spc="-7" dirty="0">
                <a:latin typeface="Symbol"/>
                <a:cs typeface="Symbol"/>
              </a:rPr>
              <a:t></a:t>
            </a:r>
            <a:r>
              <a:rPr sz="2800" b="1" i="1" spc="-9" baseline="-20833" dirty="0">
                <a:latin typeface="Times New Roman"/>
                <a:cs typeface="Times New Roman"/>
              </a:rPr>
              <a:t>R</a:t>
            </a:r>
            <a:r>
              <a:rPr sz="2800" b="1" dirty="0">
                <a:latin typeface="宋体"/>
                <a:cs typeface="宋体"/>
              </a:rPr>
              <a:t>为子问题的距离</a:t>
            </a:r>
            <a:endParaRPr sz="2800" dirty="0">
              <a:latin typeface="宋体"/>
              <a:cs typeface="宋体"/>
            </a:endParaRPr>
          </a:p>
          <a:p>
            <a:pPr marL="573179" indent="-407236">
              <a:buFont typeface="Times New Roman"/>
              <a:buAutoNum type="arabicPeriod"/>
              <a:tabLst>
                <a:tab pos="574026" algn="l"/>
              </a:tabLst>
            </a:pPr>
            <a:r>
              <a:rPr sz="2800" b="1" dirty="0">
                <a:latin typeface="宋体"/>
                <a:cs typeface="宋体"/>
              </a:rPr>
              <a:t>检查</a:t>
            </a:r>
            <a:r>
              <a:rPr sz="2800" b="1" spc="-13" dirty="0">
                <a:latin typeface="宋体"/>
                <a:cs typeface="宋体"/>
              </a:rPr>
              <a:t>距</a:t>
            </a:r>
            <a:r>
              <a:rPr sz="2800" b="1" spc="-833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宋体"/>
                <a:cs typeface="宋体"/>
              </a:rPr>
              <a:t>不超</a:t>
            </a:r>
            <a:r>
              <a:rPr sz="2800" b="1" spc="7" dirty="0">
                <a:latin typeface="宋体"/>
                <a:cs typeface="宋体"/>
              </a:rPr>
              <a:t>过</a:t>
            </a:r>
            <a:r>
              <a:rPr sz="2800" b="1" spc="-20" dirty="0">
                <a:latin typeface="Symbol"/>
                <a:cs typeface="Symbol"/>
              </a:rPr>
              <a:t></a:t>
            </a:r>
            <a:r>
              <a:rPr sz="2800" b="1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两侧各</a:t>
            </a:r>
            <a:r>
              <a:rPr sz="2800" b="1" dirty="0" smtClean="0"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Times New Roman"/>
              </a:rPr>
              <a:t>个点的距离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. </a:t>
            </a:r>
            <a:r>
              <a:rPr lang="zh-CN" altLang="en-US" sz="2800" b="1" spc="-7" dirty="0" smtClean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若小于</a:t>
            </a:r>
            <a:r>
              <a:rPr lang="zh-CN" altLang="en-US" sz="2800" b="1" spc="-20" dirty="0" smtClean="0">
                <a:latin typeface="Symbol"/>
                <a:cs typeface="Symbol"/>
              </a:rPr>
              <a:t></a:t>
            </a:r>
            <a:r>
              <a:rPr lang="zh-CN" altLang="en-US" sz="2800" b="1" spc="-13" dirty="0" smtClean="0">
                <a:latin typeface="宋体"/>
                <a:cs typeface="宋体"/>
              </a:rPr>
              <a:t>，</a:t>
            </a:r>
            <a:r>
              <a:rPr lang="zh-CN" altLang="en-US"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修改</a:t>
            </a:r>
            <a:r>
              <a:rPr lang="zh-CN" altLang="en-US" sz="2800" b="1" spc="-860" dirty="0">
                <a:latin typeface="宋体"/>
                <a:cs typeface="宋体"/>
              </a:rPr>
              <a:t> </a:t>
            </a:r>
            <a:r>
              <a:rPr lang="zh-CN" altLang="en-US" sz="2800" b="1" spc="-20" dirty="0">
                <a:latin typeface="Symbol"/>
                <a:cs typeface="Symbol"/>
              </a:rPr>
              <a:t></a:t>
            </a:r>
            <a:r>
              <a:rPr lang="zh-CN" altLang="en-US" sz="2800" b="1" spc="-7" dirty="0">
                <a:latin typeface="宋体" panose="02010600030101010101" pitchFamily="2" charset="-122"/>
                <a:ea typeface="宋体" panose="02010600030101010101" pitchFamily="2" charset="-122"/>
                <a:cs typeface="宋体"/>
              </a:rPr>
              <a:t>为这个值</a:t>
            </a:r>
            <a:endParaRPr sz="2800" b="1" spc="-7" dirty="0">
              <a:latin typeface="宋体" panose="02010600030101010101" pitchFamily="2" charset="-122"/>
              <a:ea typeface="宋体" panose="02010600030101010101" pitchFamily="2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982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8625" y="1844865"/>
            <a:ext cx="47413" cy="33867"/>
          </a:xfrm>
          <a:custGeom>
            <a:avLst/>
            <a:gdLst/>
            <a:ahLst/>
            <a:cxnLst/>
            <a:rect l="l" t="t" r="r" b="b"/>
            <a:pathLst>
              <a:path w="35559" h="25400">
                <a:moveTo>
                  <a:pt x="0" y="25101"/>
                </a:moveTo>
                <a:lnTo>
                  <a:pt x="35266" y="0"/>
                </a:lnTo>
              </a:path>
            </a:pathLst>
          </a:custGeom>
          <a:ln w="130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1225647" y="1854168"/>
            <a:ext cx="69425" cy="215053"/>
          </a:xfrm>
          <a:custGeom>
            <a:avLst/>
            <a:gdLst/>
            <a:ahLst/>
            <a:cxnLst/>
            <a:rect l="l" t="t" r="r" b="b"/>
            <a:pathLst>
              <a:path w="52069" h="161290">
                <a:moveTo>
                  <a:pt x="0" y="0"/>
                </a:moveTo>
                <a:lnTo>
                  <a:pt x="51744" y="161213"/>
                </a:lnTo>
              </a:path>
            </a:pathLst>
          </a:custGeom>
          <a:ln w="238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1302218" y="1455879"/>
            <a:ext cx="91440" cy="613833"/>
          </a:xfrm>
          <a:custGeom>
            <a:avLst/>
            <a:gdLst/>
            <a:ahLst/>
            <a:cxnLst/>
            <a:rect l="l" t="t" r="r" b="b"/>
            <a:pathLst>
              <a:path w="68580" h="460375">
                <a:moveTo>
                  <a:pt x="0" y="459930"/>
                </a:moveTo>
                <a:lnTo>
                  <a:pt x="68244" y="0"/>
                </a:lnTo>
              </a:path>
            </a:pathLst>
          </a:custGeom>
          <a:ln w="11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393213" y="1455877"/>
            <a:ext cx="2699173" cy="0"/>
          </a:xfrm>
          <a:custGeom>
            <a:avLst/>
            <a:gdLst/>
            <a:ahLst/>
            <a:cxnLst/>
            <a:rect l="l" t="t" r="r" b="b"/>
            <a:pathLst>
              <a:path w="2024380">
                <a:moveTo>
                  <a:pt x="0" y="0"/>
                </a:moveTo>
                <a:lnTo>
                  <a:pt x="2024371" y="0"/>
                </a:lnTo>
              </a:path>
            </a:pathLst>
          </a:custGeom>
          <a:ln w="139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248388" y="2658119"/>
            <a:ext cx="47413" cy="33020"/>
          </a:xfrm>
          <a:custGeom>
            <a:avLst/>
            <a:gdLst/>
            <a:ahLst/>
            <a:cxnLst/>
            <a:rect l="l" t="t" r="r" b="b"/>
            <a:pathLst>
              <a:path w="35559" h="24764">
                <a:moveTo>
                  <a:pt x="0" y="24448"/>
                </a:moveTo>
                <a:lnTo>
                  <a:pt x="35266" y="0"/>
                </a:lnTo>
              </a:path>
            </a:pathLst>
          </a:custGeom>
          <a:ln w="131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295410" y="2667462"/>
            <a:ext cx="69425" cy="178647"/>
          </a:xfrm>
          <a:custGeom>
            <a:avLst/>
            <a:gdLst/>
            <a:ahLst/>
            <a:cxnLst/>
            <a:rect l="l" t="t" r="r" b="b"/>
            <a:pathLst>
              <a:path w="52069" h="133985">
                <a:moveTo>
                  <a:pt x="0" y="0"/>
                </a:moveTo>
                <a:lnTo>
                  <a:pt x="51744" y="133985"/>
                </a:lnTo>
              </a:path>
            </a:pathLst>
          </a:custGeom>
          <a:ln w="24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1371981" y="2324990"/>
            <a:ext cx="91440" cy="521547"/>
          </a:xfrm>
          <a:custGeom>
            <a:avLst/>
            <a:gdLst/>
            <a:ahLst/>
            <a:cxnLst/>
            <a:rect l="l" t="t" r="r" b="b"/>
            <a:pathLst>
              <a:path w="68580" h="391160">
                <a:moveTo>
                  <a:pt x="0" y="390838"/>
                </a:moveTo>
                <a:lnTo>
                  <a:pt x="68244" y="0"/>
                </a:lnTo>
              </a:path>
            </a:pathLst>
          </a:custGeom>
          <a:ln w="114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1462975" y="2324989"/>
            <a:ext cx="2060787" cy="0"/>
          </a:xfrm>
          <a:custGeom>
            <a:avLst/>
            <a:gdLst/>
            <a:ahLst/>
            <a:cxnLst/>
            <a:rect l="l" t="t" r="r" b="b"/>
            <a:pathLst>
              <a:path w="1545589">
                <a:moveTo>
                  <a:pt x="0" y="0"/>
                </a:moveTo>
                <a:lnTo>
                  <a:pt x="1545040" y="0"/>
                </a:lnTo>
              </a:path>
            </a:pathLst>
          </a:custGeom>
          <a:ln w="139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248388" y="3489107"/>
            <a:ext cx="47413" cy="33020"/>
          </a:xfrm>
          <a:custGeom>
            <a:avLst/>
            <a:gdLst/>
            <a:ahLst/>
            <a:cxnLst/>
            <a:rect l="l" t="t" r="r" b="b"/>
            <a:pathLst>
              <a:path w="35559" h="24764">
                <a:moveTo>
                  <a:pt x="0" y="24426"/>
                </a:moveTo>
                <a:lnTo>
                  <a:pt x="35266" y="0"/>
                </a:lnTo>
              </a:path>
            </a:pathLst>
          </a:custGeom>
          <a:ln w="131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295410" y="3498415"/>
            <a:ext cx="69425" cy="179493"/>
          </a:xfrm>
          <a:custGeom>
            <a:avLst/>
            <a:gdLst/>
            <a:ahLst/>
            <a:cxnLst/>
            <a:rect l="l" t="t" r="r" b="b"/>
            <a:pathLst>
              <a:path w="52069" h="134619">
                <a:moveTo>
                  <a:pt x="0" y="0"/>
                </a:moveTo>
                <a:lnTo>
                  <a:pt x="51744" y="133997"/>
                </a:lnTo>
              </a:path>
            </a:pathLst>
          </a:custGeom>
          <a:ln w="24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371981" y="3155037"/>
            <a:ext cx="91440" cy="522393"/>
          </a:xfrm>
          <a:custGeom>
            <a:avLst/>
            <a:gdLst/>
            <a:ahLst/>
            <a:cxnLst/>
            <a:rect l="l" t="t" r="r" b="b"/>
            <a:pathLst>
              <a:path w="68580" h="391794">
                <a:moveTo>
                  <a:pt x="0" y="391530"/>
                </a:moveTo>
                <a:lnTo>
                  <a:pt x="68244" y="0"/>
                </a:lnTo>
              </a:path>
            </a:pathLst>
          </a:custGeom>
          <a:ln w="114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462975" y="3155035"/>
            <a:ext cx="1298787" cy="0"/>
          </a:xfrm>
          <a:custGeom>
            <a:avLst/>
            <a:gdLst/>
            <a:ahLst/>
            <a:cxnLst/>
            <a:rect l="l" t="t" r="r" b="b"/>
            <a:pathLst>
              <a:path w="974089">
                <a:moveTo>
                  <a:pt x="0" y="0"/>
                </a:moveTo>
                <a:lnTo>
                  <a:pt x="973545" y="0"/>
                </a:lnTo>
              </a:path>
            </a:pathLst>
          </a:custGeom>
          <a:ln w="139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882178" y="2332564"/>
            <a:ext cx="2678007" cy="58569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  <a:tabLst>
                <a:tab pos="579952" algn="l"/>
              </a:tabLst>
            </a:pPr>
            <a:r>
              <a:rPr sz="3533" spc="-347" dirty="0">
                <a:latin typeface="Symbol"/>
                <a:cs typeface="Symbol"/>
              </a:rPr>
              <a:t></a:t>
            </a:r>
            <a:r>
              <a:rPr sz="3533" spc="-347" dirty="0">
                <a:latin typeface="Times New Roman"/>
                <a:cs typeface="Times New Roman"/>
              </a:rPr>
              <a:t>	</a:t>
            </a:r>
            <a:r>
              <a:rPr sz="3667" i="1" spc="-373" dirty="0">
                <a:latin typeface="Symbol"/>
                <a:cs typeface="Symbol"/>
              </a:rPr>
              <a:t></a:t>
            </a:r>
            <a:r>
              <a:rPr sz="3667" i="1" spc="-373" dirty="0">
                <a:latin typeface="Times New Roman"/>
                <a:cs typeface="Times New Roman"/>
              </a:rPr>
              <a:t> </a:t>
            </a:r>
            <a:r>
              <a:rPr sz="3100" b="1" spc="-279" baseline="43010" dirty="0">
                <a:latin typeface="Times New Roman"/>
                <a:cs typeface="Times New Roman"/>
              </a:rPr>
              <a:t>2 </a:t>
            </a:r>
            <a:r>
              <a:rPr sz="3533" b="1" spc="-147" dirty="0">
                <a:latin typeface="Times New Roman"/>
                <a:cs typeface="Times New Roman"/>
              </a:rPr>
              <a:t>/4 </a:t>
            </a:r>
            <a:r>
              <a:rPr sz="3533" spc="-347" dirty="0">
                <a:latin typeface="Symbol"/>
                <a:cs typeface="Symbol"/>
              </a:rPr>
              <a:t></a:t>
            </a:r>
            <a:r>
              <a:rPr sz="3533" spc="-347" dirty="0">
                <a:latin typeface="Times New Roman"/>
                <a:cs typeface="Times New Roman"/>
              </a:rPr>
              <a:t> </a:t>
            </a:r>
            <a:r>
              <a:rPr sz="3533" b="1" spc="-413" dirty="0">
                <a:latin typeface="Times New Roman"/>
                <a:cs typeface="Times New Roman"/>
              </a:rPr>
              <a:t>4</a:t>
            </a:r>
            <a:r>
              <a:rPr sz="3667" i="1" spc="-413" dirty="0">
                <a:latin typeface="Symbol"/>
                <a:cs typeface="Symbol"/>
              </a:rPr>
              <a:t></a:t>
            </a:r>
            <a:r>
              <a:rPr sz="3667" i="1" spc="-413" dirty="0">
                <a:latin typeface="Times New Roman"/>
                <a:cs typeface="Times New Roman"/>
              </a:rPr>
              <a:t> </a:t>
            </a:r>
            <a:r>
              <a:rPr sz="3100" b="1" spc="-279" baseline="43010" dirty="0">
                <a:latin typeface="Times New Roman"/>
                <a:cs typeface="Times New Roman"/>
              </a:rPr>
              <a:t>2 </a:t>
            </a:r>
            <a:r>
              <a:rPr sz="3533" b="1" spc="-173" dirty="0">
                <a:latin typeface="Times New Roman"/>
                <a:cs typeface="Times New Roman"/>
              </a:rPr>
              <a:t>/</a:t>
            </a:r>
            <a:r>
              <a:rPr sz="3533" b="1" spc="-420" dirty="0">
                <a:latin typeface="Times New Roman"/>
                <a:cs typeface="Times New Roman"/>
              </a:rPr>
              <a:t> </a:t>
            </a:r>
            <a:r>
              <a:rPr sz="3533" b="1" spc="-313" dirty="0">
                <a:latin typeface="Times New Roman"/>
                <a:cs typeface="Times New Roman"/>
              </a:rPr>
              <a:t>9</a:t>
            </a:r>
            <a:endParaRPr sz="3533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4587" y="1463453"/>
            <a:ext cx="3583093" cy="585695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50799">
              <a:spcBef>
                <a:spcPts val="167"/>
              </a:spcBef>
              <a:tabLst>
                <a:tab pos="899138" algn="l"/>
              </a:tabLst>
            </a:pPr>
            <a:r>
              <a:rPr sz="3533" b="1" i="1" spc="-313" dirty="0">
                <a:latin typeface="Times New Roman"/>
                <a:cs typeface="Times New Roman"/>
              </a:rPr>
              <a:t>d</a:t>
            </a:r>
            <a:r>
              <a:rPr sz="3533" b="1" i="1" spc="80" dirty="0">
                <a:latin typeface="Times New Roman"/>
                <a:cs typeface="Times New Roman"/>
              </a:rPr>
              <a:t> </a:t>
            </a:r>
            <a:r>
              <a:rPr sz="3533" spc="-347" dirty="0">
                <a:latin typeface="Symbol"/>
                <a:cs typeface="Symbol"/>
              </a:rPr>
              <a:t></a:t>
            </a:r>
            <a:r>
              <a:rPr sz="3533" spc="-347" dirty="0">
                <a:latin typeface="Times New Roman"/>
                <a:cs typeface="Times New Roman"/>
              </a:rPr>
              <a:t>	</a:t>
            </a:r>
            <a:r>
              <a:rPr sz="3533" b="1" spc="-320" dirty="0">
                <a:latin typeface="Times New Roman"/>
                <a:cs typeface="Times New Roman"/>
              </a:rPr>
              <a:t>(</a:t>
            </a:r>
            <a:r>
              <a:rPr sz="3667" i="1" spc="-320" dirty="0">
                <a:latin typeface="Symbol"/>
                <a:cs typeface="Symbol"/>
              </a:rPr>
              <a:t></a:t>
            </a:r>
            <a:r>
              <a:rPr sz="3667" i="1" spc="-320" dirty="0">
                <a:latin typeface="Times New Roman"/>
                <a:cs typeface="Times New Roman"/>
              </a:rPr>
              <a:t> </a:t>
            </a:r>
            <a:r>
              <a:rPr sz="3533" b="1" spc="-173" dirty="0">
                <a:latin typeface="Times New Roman"/>
                <a:cs typeface="Times New Roman"/>
              </a:rPr>
              <a:t>/ </a:t>
            </a:r>
            <a:r>
              <a:rPr sz="3533" b="1" spc="-187" dirty="0">
                <a:latin typeface="Times New Roman"/>
                <a:cs typeface="Times New Roman"/>
              </a:rPr>
              <a:t>2)</a:t>
            </a:r>
            <a:r>
              <a:rPr sz="3100" b="1" spc="-279" baseline="43010" dirty="0">
                <a:latin typeface="Times New Roman"/>
                <a:cs typeface="Times New Roman"/>
              </a:rPr>
              <a:t>2 </a:t>
            </a:r>
            <a:r>
              <a:rPr sz="3533" spc="-347" dirty="0">
                <a:latin typeface="Symbol"/>
                <a:cs typeface="Symbol"/>
              </a:rPr>
              <a:t></a:t>
            </a:r>
            <a:r>
              <a:rPr sz="3533" spc="-347" dirty="0">
                <a:latin typeface="Times New Roman"/>
                <a:cs typeface="Times New Roman"/>
              </a:rPr>
              <a:t> </a:t>
            </a:r>
            <a:r>
              <a:rPr sz="3533" b="1" spc="-300" dirty="0">
                <a:latin typeface="Times New Roman"/>
                <a:cs typeface="Times New Roman"/>
              </a:rPr>
              <a:t>(2</a:t>
            </a:r>
            <a:r>
              <a:rPr sz="3667" i="1" spc="-300" dirty="0">
                <a:latin typeface="Symbol"/>
                <a:cs typeface="Symbol"/>
              </a:rPr>
              <a:t></a:t>
            </a:r>
            <a:r>
              <a:rPr sz="3667" i="1" spc="-300" dirty="0">
                <a:latin typeface="Times New Roman"/>
                <a:cs typeface="Times New Roman"/>
              </a:rPr>
              <a:t> </a:t>
            </a:r>
            <a:r>
              <a:rPr sz="3533" b="1" spc="-173" dirty="0">
                <a:latin typeface="Times New Roman"/>
                <a:cs typeface="Times New Roman"/>
              </a:rPr>
              <a:t>/</a:t>
            </a:r>
            <a:r>
              <a:rPr sz="3533" b="1" spc="-272" dirty="0">
                <a:latin typeface="Times New Roman"/>
                <a:cs typeface="Times New Roman"/>
              </a:rPr>
              <a:t> </a:t>
            </a:r>
            <a:r>
              <a:rPr sz="3533" b="1" spc="-187" dirty="0">
                <a:latin typeface="Times New Roman"/>
                <a:cs typeface="Times New Roman"/>
              </a:rPr>
              <a:t>3)</a:t>
            </a:r>
            <a:r>
              <a:rPr sz="3100" b="1" spc="-279" baseline="43010" dirty="0">
                <a:latin typeface="Times New Roman"/>
                <a:cs typeface="Times New Roman"/>
              </a:rPr>
              <a:t>2</a:t>
            </a:r>
            <a:endParaRPr sz="3100" baseline="4301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02464" y="244969"/>
            <a:ext cx="8878169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跨边界处理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83172" y="3163532"/>
            <a:ext cx="8597461" cy="1316728"/>
          </a:xfrm>
          <a:prstGeom prst="rect">
            <a:avLst/>
          </a:prstGeom>
        </p:spPr>
        <p:txBody>
          <a:bodyPr vert="horz" wrap="square" lIns="0" tIns="21167" rIns="0" bIns="0" rtlCol="0">
            <a:spAutoFit/>
          </a:bodyPr>
          <a:lstStyle/>
          <a:p>
            <a:pPr marL="237907">
              <a:spcBef>
                <a:spcPts val="167"/>
              </a:spcBef>
              <a:tabLst>
                <a:tab pos="790767" algn="l"/>
              </a:tabLst>
            </a:pPr>
            <a:r>
              <a:rPr sz="3533" spc="-347" dirty="0">
                <a:latin typeface="Symbol"/>
                <a:cs typeface="Symbol"/>
              </a:rPr>
              <a:t></a:t>
            </a:r>
            <a:r>
              <a:rPr sz="3533" spc="-347" dirty="0">
                <a:latin typeface="Times New Roman"/>
                <a:cs typeface="Times New Roman"/>
              </a:rPr>
              <a:t>	</a:t>
            </a:r>
            <a:r>
              <a:rPr sz="3533" b="1" spc="-380" dirty="0">
                <a:latin typeface="Times New Roman"/>
                <a:cs typeface="Times New Roman"/>
              </a:rPr>
              <a:t>25</a:t>
            </a:r>
            <a:r>
              <a:rPr sz="3667" i="1" spc="-380" dirty="0">
                <a:latin typeface="Symbol"/>
                <a:cs typeface="Symbol"/>
              </a:rPr>
              <a:t></a:t>
            </a:r>
            <a:r>
              <a:rPr sz="3667" i="1" spc="-380" dirty="0">
                <a:latin typeface="Times New Roman"/>
                <a:cs typeface="Times New Roman"/>
              </a:rPr>
              <a:t> </a:t>
            </a:r>
            <a:r>
              <a:rPr sz="3100" b="1" spc="-279" baseline="43010" dirty="0">
                <a:latin typeface="Times New Roman"/>
                <a:cs typeface="Times New Roman"/>
              </a:rPr>
              <a:t>2 </a:t>
            </a:r>
            <a:r>
              <a:rPr sz="3533" b="1" spc="-167" dirty="0">
                <a:latin typeface="Times New Roman"/>
                <a:cs typeface="Times New Roman"/>
              </a:rPr>
              <a:t>/36 </a:t>
            </a:r>
            <a:r>
              <a:rPr sz="3533" spc="-347" dirty="0">
                <a:latin typeface="Symbol"/>
                <a:cs typeface="Symbol"/>
              </a:rPr>
              <a:t></a:t>
            </a:r>
            <a:r>
              <a:rPr sz="3533" spc="-347" dirty="0">
                <a:latin typeface="Times New Roman"/>
                <a:cs typeface="Times New Roman"/>
              </a:rPr>
              <a:t> </a:t>
            </a:r>
            <a:r>
              <a:rPr sz="3533" b="1" spc="-413" dirty="0">
                <a:latin typeface="Times New Roman"/>
                <a:cs typeface="Times New Roman"/>
              </a:rPr>
              <a:t>5</a:t>
            </a:r>
            <a:r>
              <a:rPr sz="3667" i="1" spc="-413" dirty="0">
                <a:latin typeface="Symbol"/>
                <a:cs typeface="Symbol"/>
              </a:rPr>
              <a:t></a:t>
            </a:r>
            <a:r>
              <a:rPr sz="3667" i="1" spc="-413" dirty="0">
                <a:latin typeface="Times New Roman"/>
                <a:cs typeface="Times New Roman"/>
              </a:rPr>
              <a:t> </a:t>
            </a:r>
            <a:r>
              <a:rPr sz="3533" b="1" spc="-173" dirty="0">
                <a:latin typeface="Times New Roman"/>
                <a:cs typeface="Times New Roman"/>
              </a:rPr>
              <a:t>/</a:t>
            </a:r>
            <a:r>
              <a:rPr sz="3533" b="1" spc="-640" dirty="0">
                <a:latin typeface="Times New Roman"/>
                <a:cs typeface="Times New Roman"/>
              </a:rPr>
              <a:t> </a:t>
            </a:r>
            <a:r>
              <a:rPr sz="3533" b="1" spc="-313" dirty="0">
                <a:latin typeface="Times New Roman"/>
                <a:cs typeface="Times New Roman"/>
              </a:rPr>
              <a:t>6</a:t>
            </a:r>
            <a:endParaRPr sz="3533" dirty="0">
              <a:latin typeface="Times New Roman"/>
              <a:cs typeface="Times New Roman"/>
            </a:endParaRPr>
          </a:p>
          <a:p>
            <a:pPr>
              <a:spcBef>
                <a:spcPts val="67"/>
              </a:spcBef>
            </a:pPr>
            <a:endParaRPr sz="4667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45845" y="3859295"/>
            <a:ext cx="787400" cy="1693"/>
          </a:xfrm>
          <a:custGeom>
            <a:avLst/>
            <a:gdLst/>
            <a:ahLst/>
            <a:cxnLst/>
            <a:rect l="l" t="t" r="r" b="b"/>
            <a:pathLst>
              <a:path w="590550" h="1269">
                <a:moveTo>
                  <a:pt x="0" y="0"/>
                </a:moveTo>
                <a:lnTo>
                  <a:pt x="590550" y="1269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5885913" y="1482785"/>
            <a:ext cx="569807" cy="785707"/>
          </a:xfrm>
          <a:custGeom>
            <a:avLst/>
            <a:gdLst/>
            <a:ahLst/>
            <a:cxnLst/>
            <a:rect l="l" t="t" r="r" b="b"/>
            <a:pathLst>
              <a:path w="427354" h="589280">
                <a:moveTo>
                  <a:pt x="0" y="588962"/>
                </a:moveTo>
                <a:lnTo>
                  <a:pt x="427037" y="588962"/>
                </a:lnTo>
                <a:lnTo>
                  <a:pt x="427037" y="0"/>
                </a:lnTo>
                <a:lnTo>
                  <a:pt x="0" y="0"/>
                </a:lnTo>
                <a:lnTo>
                  <a:pt x="0" y="58896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885913" y="1482785"/>
            <a:ext cx="569807" cy="785707"/>
          </a:xfrm>
          <a:custGeom>
            <a:avLst/>
            <a:gdLst/>
            <a:ahLst/>
            <a:cxnLst/>
            <a:rect l="l" t="t" r="r" b="b"/>
            <a:pathLst>
              <a:path w="427354" h="589280">
                <a:moveTo>
                  <a:pt x="0" y="588962"/>
                </a:moveTo>
                <a:lnTo>
                  <a:pt x="427037" y="588962"/>
                </a:lnTo>
                <a:lnTo>
                  <a:pt x="427037" y="0"/>
                </a:lnTo>
                <a:lnTo>
                  <a:pt x="0" y="0"/>
                </a:lnTo>
                <a:lnTo>
                  <a:pt x="0" y="58896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6478579" y="1482785"/>
            <a:ext cx="571500" cy="785707"/>
          </a:xfrm>
          <a:custGeom>
            <a:avLst/>
            <a:gdLst/>
            <a:ahLst/>
            <a:cxnLst/>
            <a:rect l="l" t="t" r="r" b="b"/>
            <a:pathLst>
              <a:path w="428625" h="589280">
                <a:moveTo>
                  <a:pt x="0" y="588962"/>
                </a:moveTo>
                <a:lnTo>
                  <a:pt x="428625" y="588962"/>
                </a:lnTo>
                <a:lnTo>
                  <a:pt x="428625" y="0"/>
                </a:lnTo>
                <a:lnTo>
                  <a:pt x="0" y="0"/>
                </a:lnTo>
                <a:lnTo>
                  <a:pt x="0" y="58896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6478579" y="1482785"/>
            <a:ext cx="571500" cy="785707"/>
          </a:xfrm>
          <a:custGeom>
            <a:avLst/>
            <a:gdLst/>
            <a:ahLst/>
            <a:cxnLst/>
            <a:rect l="l" t="t" r="r" b="b"/>
            <a:pathLst>
              <a:path w="428625" h="589280">
                <a:moveTo>
                  <a:pt x="0" y="588962"/>
                </a:moveTo>
                <a:lnTo>
                  <a:pt x="428625" y="588962"/>
                </a:lnTo>
                <a:lnTo>
                  <a:pt x="428625" y="0"/>
                </a:lnTo>
                <a:lnTo>
                  <a:pt x="0" y="0"/>
                </a:lnTo>
                <a:lnTo>
                  <a:pt x="0" y="58896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5885913" y="2267984"/>
            <a:ext cx="569807" cy="785707"/>
          </a:xfrm>
          <a:custGeom>
            <a:avLst/>
            <a:gdLst/>
            <a:ahLst/>
            <a:cxnLst/>
            <a:rect l="l" t="t" r="r" b="b"/>
            <a:pathLst>
              <a:path w="427354" h="589280">
                <a:moveTo>
                  <a:pt x="0" y="588962"/>
                </a:moveTo>
                <a:lnTo>
                  <a:pt x="427037" y="588962"/>
                </a:lnTo>
                <a:lnTo>
                  <a:pt x="427037" y="0"/>
                </a:lnTo>
                <a:lnTo>
                  <a:pt x="0" y="0"/>
                </a:lnTo>
                <a:lnTo>
                  <a:pt x="0" y="58896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5885913" y="2267984"/>
            <a:ext cx="569807" cy="785707"/>
          </a:xfrm>
          <a:custGeom>
            <a:avLst/>
            <a:gdLst/>
            <a:ahLst/>
            <a:cxnLst/>
            <a:rect l="l" t="t" r="r" b="b"/>
            <a:pathLst>
              <a:path w="427354" h="589280">
                <a:moveTo>
                  <a:pt x="0" y="588962"/>
                </a:moveTo>
                <a:lnTo>
                  <a:pt x="427037" y="588962"/>
                </a:lnTo>
                <a:lnTo>
                  <a:pt x="427037" y="0"/>
                </a:lnTo>
                <a:lnTo>
                  <a:pt x="0" y="0"/>
                </a:lnTo>
                <a:lnTo>
                  <a:pt x="0" y="58896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6478579" y="2267984"/>
            <a:ext cx="571500" cy="785707"/>
          </a:xfrm>
          <a:custGeom>
            <a:avLst/>
            <a:gdLst/>
            <a:ahLst/>
            <a:cxnLst/>
            <a:rect l="l" t="t" r="r" b="b"/>
            <a:pathLst>
              <a:path w="428625" h="589280">
                <a:moveTo>
                  <a:pt x="0" y="588962"/>
                </a:moveTo>
                <a:lnTo>
                  <a:pt x="428625" y="588962"/>
                </a:lnTo>
                <a:lnTo>
                  <a:pt x="428625" y="0"/>
                </a:lnTo>
                <a:lnTo>
                  <a:pt x="0" y="0"/>
                </a:lnTo>
                <a:lnTo>
                  <a:pt x="0" y="58896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6478579" y="2267984"/>
            <a:ext cx="571500" cy="785707"/>
          </a:xfrm>
          <a:custGeom>
            <a:avLst/>
            <a:gdLst/>
            <a:ahLst/>
            <a:cxnLst/>
            <a:rect l="l" t="t" r="r" b="b"/>
            <a:pathLst>
              <a:path w="428625" h="589280">
                <a:moveTo>
                  <a:pt x="0" y="588962"/>
                </a:moveTo>
                <a:lnTo>
                  <a:pt x="428625" y="588962"/>
                </a:lnTo>
                <a:lnTo>
                  <a:pt x="428625" y="0"/>
                </a:lnTo>
                <a:lnTo>
                  <a:pt x="0" y="0"/>
                </a:lnTo>
                <a:lnTo>
                  <a:pt x="0" y="58896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5885913" y="3053267"/>
            <a:ext cx="569807" cy="787400"/>
          </a:xfrm>
          <a:custGeom>
            <a:avLst/>
            <a:gdLst/>
            <a:ahLst/>
            <a:cxnLst/>
            <a:rect l="l" t="t" r="r" b="b"/>
            <a:pathLst>
              <a:path w="427354" h="590550">
                <a:moveTo>
                  <a:pt x="0" y="590550"/>
                </a:moveTo>
                <a:lnTo>
                  <a:pt x="427037" y="590550"/>
                </a:lnTo>
                <a:lnTo>
                  <a:pt x="427037" y="0"/>
                </a:lnTo>
                <a:lnTo>
                  <a:pt x="0" y="0"/>
                </a:lnTo>
                <a:lnTo>
                  <a:pt x="0" y="59055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5885913" y="3053267"/>
            <a:ext cx="569807" cy="787400"/>
          </a:xfrm>
          <a:custGeom>
            <a:avLst/>
            <a:gdLst/>
            <a:ahLst/>
            <a:cxnLst/>
            <a:rect l="l" t="t" r="r" b="b"/>
            <a:pathLst>
              <a:path w="427354" h="590550">
                <a:moveTo>
                  <a:pt x="0" y="590550"/>
                </a:moveTo>
                <a:lnTo>
                  <a:pt x="427037" y="590550"/>
                </a:lnTo>
                <a:lnTo>
                  <a:pt x="427037" y="0"/>
                </a:lnTo>
                <a:lnTo>
                  <a:pt x="0" y="0"/>
                </a:lnTo>
                <a:lnTo>
                  <a:pt x="0" y="59055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6478579" y="3053267"/>
            <a:ext cx="571500" cy="787400"/>
          </a:xfrm>
          <a:custGeom>
            <a:avLst/>
            <a:gdLst/>
            <a:ahLst/>
            <a:cxnLst/>
            <a:rect l="l" t="t" r="r" b="b"/>
            <a:pathLst>
              <a:path w="428625" h="590550">
                <a:moveTo>
                  <a:pt x="0" y="590550"/>
                </a:moveTo>
                <a:lnTo>
                  <a:pt x="428625" y="590550"/>
                </a:lnTo>
                <a:lnTo>
                  <a:pt x="428625" y="0"/>
                </a:lnTo>
                <a:lnTo>
                  <a:pt x="0" y="0"/>
                </a:lnTo>
                <a:lnTo>
                  <a:pt x="0" y="59055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6478579" y="3053267"/>
            <a:ext cx="571500" cy="787400"/>
          </a:xfrm>
          <a:custGeom>
            <a:avLst/>
            <a:gdLst/>
            <a:ahLst/>
            <a:cxnLst/>
            <a:rect l="l" t="t" r="r" b="b"/>
            <a:pathLst>
              <a:path w="428625" h="590550">
                <a:moveTo>
                  <a:pt x="0" y="590550"/>
                </a:moveTo>
                <a:lnTo>
                  <a:pt x="428625" y="590550"/>
                </a:lnTo>
                <a:lnTo>
                  <a:pt x="428625" y="0"/>
                </a:lnTo>
                <a:lnTo>
                  <a:pt x="0" y="0"/>
                </a:lnTo>
                <a:lnTo>
                  <a:pt x="0" y="59055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7026881" y="1482701"/>
            <a:ext cx="785707" cy="2540"/>
          </a:xfrm>
          <a:custGeom>
            <a:avLst/>
            <a:gdLst/>
            <a:ahLst/>
            <a:cxnLst/>
            <a:rect l="l" t="t" r="r" b="b"/>
            <a:pathLst>
              <a:path w="589279" h="1905">
                <a:moveTo>
                  <a:pt x="0" y="0"/>
                </a:moveTo>
                <a:lnTo>
                  <a:pt x="588899" y="1650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4670947" y="1503867"/>
            <a:ext cx="1214967" cy="2336800"/>
          </a:xfrm>
          <a:custGeom>
            <a:avLst/>
            <a:gdLst/>
            <a:ahLst/>
            <a:cxnLst/>
            <a:rect l="l" t="t" r="r" b="b"/>
            <a:pathLst>
              <a:path w="911225" h="1752600">
                <a:moveTo>
                  <a:pt x="0" y="1752600"/>
                </a:moveTo>
                <a:lnTo>
                  <a:pt x="911225" y="1752600"/>
                </a:lnTo>
                <a:lnTo>
                  <a:pt x="911225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4670947" y="1503867"/>
            <a:ext cx="1214967" cy="2336800"/>
          </a:xfrm>
          <a:custGeom>
            <a:avLst/>
            <a:gdLst/>
            <a:ahLst/>
            <a:cxnLst/>
            <a:rect l="l" t="t" r="r" b="b"/>
            <a:pathLst>
              <a:path w="911225" h="1752600">
                <a:moveTo>
                  <a:pt x="0" y="1752600"/>
                </a:moveTo>
                <a:lnTo>
                  <a:pt x="911225" y="1752600"/>
                </a:lnTo>
                <a:lnTo>
                  <a:pt x="911225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7404492" y="2839397"/>
            <a:ext cx="101600" cy="990600"/>
          </a:xfrm>
          <a:custGeom>
            <a:avLst/>
            <a:gdLst/>
            <a:ahLst/>
            <a:cxnLst/>
            <a:rect l="l" t="t" r="r" b="b"/>
            <a:pathLst>
              <a:path w="76200" h="742950">
                <a:moveTo>
                  <a:pt x="0" y="666495"/>
                </a:moveTo>
                <a:lnTo>
                  <a:pt x="37337" y="742950"/>
                </a:lnTo>
                <a:lnTo>
                  <a:pt x="63311" y="692276"/>
                </a:lnTo>
                <a:lnTo>
                  <a:pt x="37846" y="692276"/>
                </a:lnTo>
                <a:lnTo>
                  <a:pt x="25146" y="692150"/>
                </a:lnTo>
                <a:lnTo>
                  <a:pt x="25217" y="683674"/>
                </a:lnTo>
                <a:lnTo>
                  <a:pt x="0" y="666495"/>
                </a:lnTo>
                <a:close/>
              </a:path>
              <a:path w="76200" h="742950">
                <a:moveTo>
                  <a:pt x="37942" y="692213"/>
                </a:moveTo>
                <a:lnTo>
                  <a:pt x="50546" y="692276"/>
                </a:lnTo>
                <a:lnTo>
                  <a:pt x="37942" y="692213"/>
                </a:lnTo>
                <a:close/>
              </a:path>
              <a:path w="76200" h="742950">
                <a:moveTo>
                  <a:pt x="50616" y="683904"/>
                </a:moveTo>
                <a:lnTo>
                  <a:pt x="37942" y="692213"/>
                </a:lnTo>
                <a:lnTo>
                  <a:pt x="50546" y="692276"/>
                </a:lnTo>
                <a:lnTo>
                  <a:pt x="50616" y="683904"/>
                </a:lnTo>
                <a:close/>
              </a:path>
              <a:path w="76200" h="742950">
                <a:moveTo>
                  <a:pt x="76200" y="667131"/>
                </a:moveTo>
                <a:lnTo>
                  <a:pt x="50616" y="683904"/>
                </a:lnTo>
                <a:lnTo>
                  <a:pt x="50546" y="692276"/>
                </a:lnTo>
                <a:lnTo>
                  <a:pt x="63311" y="692276"/>
                </a:lnTo>
                <a:lnTo>
                  <a:pt x="76200" y="667131"/>
                </a:lnTo>
                <a:close/>
              </a:path>
              <a:path w="76200" h="742950">
                <a:moveTo>
                  <a:pt x="30987" y="0"/>
                </a:moveTo>
                <a:lnTo>
                  <a:pt x="25217" y="683674"/>
                </a:lnTo>
                <a:lnTo>
                  <a:pt x="37752" y="692213"/>
                </a:lnTo>
                <a:lnTo>
                  <a:pt x="37942" y="692213"/>
                </a:lnTo>
                <a:lnTo>
                  <a:pt x="50616" y="683904"/>
                </a:lnTo>
                <a:lnTo>
                  <a:pt x="56387" y="126"/>
                </a:lnTo>
                <a:lnTo>
                  <a:pt x="30987" y="0"/>
                </a:lnTo>
                <a:close/>
              </a:path>
              <a:path w="76200" h="742950">
                <a:moveTo>
                  <a:pt x="25217" y="683674"/>
                </a:moveTo>
                <a:lnTo>
                  <a:pt x="25146" y="692150"/>
                </a:lnTo>
                <a:lnTo>
                  <a:pt x="37752" y="692213"/>
                </a:lnTo>
                <a:lnTo>
                  <a:pt x="25217" y="683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7403476" y="1484901"/>
            <a:ext cx="101600" cy="927100"/>
          </a:xfrm>
          <a:custGeom>
            <a:avLst/>
            <a:gdLst/>
            <a:ahLst/>
            <a:cxnLst/>
            <a:rect l="l" t="t" r="r" b="b"/>
            <a:pathLst>
              <a:path w="76200" h="695325">
                <a:moveTo>
                  <a:pt x="38100" y="50800"/>
                </a:moveTo>
                <a:lnTo>
                  <a:pt x="25400" y="59266"/>
                </a:lnTo>
                <a:lnTo>
                  <a:pt x="25400" y="695325"/>
                </a:lnTo>
                <a:lnTo>
                  <a:pt x="50800" y="695325"/>
                </a:lnTo>
                <a:lnTo>
                  <a:pt x="50800" y="59266"/>
                </a:lnTo>
                <a:lnTo>
                  <a:pt x="38100" y="50800"/>
                </a:lnTo>
                <a:close/>
              </a:path>
              <a:path w="76200" h="695325">
                <a:moveTo>
                  <a:pt x="38100" y="0"/>
                </a:moveTo>
                <a:lnTo>
                  <a:pt x="0" y="76200"/>
                </a:lnTo>
                <a:lnTo>
                  <a:pt x="25400" y="59266"/>
                </a:lnTo>
                <a:lnTo>
                  <a:pt x="25400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695325">
                <a:moveTo>
                  <a:pt x="63500" y="50800"/>
                </a:moveTo>
                <a:lnTo>
                  <a:pt x="50800" y="50800"/>
                </a:lnTo>
                <a:lnTo>
                  <a:pt x="50800" y="59266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695325">
                <a:moveTo>
                  <a:pt x="38100" y="50800"/>
                </a:moveTo>
                <a:lnTo>
                  <a:pt x="25400" y="50800"/>
                </a:lnTo>
                <a:lnTo>
                  <a:pt x="25400" y="59266"/>
                </a:lnTo>
                <a:lnTo>
                  <a:pt x="38100" y="50800"/>
                </a:lnTo>
                <a:close/>
              </a:path>
              <a:path w="76200" h="695325">
                <a:moveTo>
                  <a:pt x="50800" y="50800"/>
                </a:moveTo>
                <a:lnTo>
                  <a:pt x="38100" y="50800"/>
                </a:lnTo>
                <a:lnTo>
                  <a:pt x="50800" y="59266"/>
                </a:lnTo>
                <a:lnTo>
                  <a:pt x="5080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 txBox="1"/>
          <p:nvPr/>
        </p:nvSpPr>
        <p:spPr>
          <a:xfrm>
            <a:off x="7276476" y="2445697"/>
            <a:ext cx="38862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spc="7" dirty="0">
                <a:latin typeface="Times New Roman"/>
                <a:cs typeface="Times New Roman"/>
              </a:rPr>
              <a:t>2</a:t>
            </a:r>
            <a:r>
              <a:rPr sz="2800" b="1" spc="-7" dirty="0">
                <a:latin typeface="Symbol"/>
                <a:cs typeface="Symbol"/>
              </a:rPr>
              <a:t>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586443" y="1266292"/>
            <a:ext cx="368300" cy="101600"/>
          </a:xfrm>
          <a:custGeom>
            <a:avLst/>
            <a:gdLst/>
            <a:ahLst/>
            <a:cxnLst/>
            <a:rect l="l" t="t" r="r" b="b"/>
            <a:pathLst>
              <a:path w="276225" h="76200">
                <a:moveTo>
                  <a:pt x="200278" y="0"/>
                </a:moveTo>
                <a:lnTo>
                  <a:pt x="217039" y="25479"/>
                </a:lnTo>
                <a:lnTo>
                  <a:pt x="225551" y="25526"/>
                </a:lnTo>
                <a:lnTo>
                  <a:pt x="225425" y="50926"/>
                </a:lnTo>
                <a:lnTo>
                  <a:pt x="216887" y="50926"/>
                </a:lnTo>
                <a:lnTo>
                  <a:pt x="199898" y="76200"/>
                </a:lnTo>
                <a:lnTo>
                  <a:pt x="251039" y="50926"/>
                </a:lnTo>
                <a:lnTo>
                  <a:pt x="225425" y="50926"/>
                </a:lnTo>
                <a:lnTo>
                  <a:pt x="251146" y="50874"/>
                </a:lnTo>
                <a:lnTo>
                  <a:pt x="276225" y="38480"/>
                </a:lnTo>
                <a:lnTo>
                  <a:pt x="200278" y="0"/>
                </a:lnTo>
                <a:close/>
              </a:path>
              <a:path w="276225" h="76200">
                <a:moveTo>
                  <a:pt x="217039" y="25479"/>
                </a:moveTo>
                <a:lnTo>
                  <a:pt x="225425" y="38226"/>
                </a:lnTo>
                <a:lnTo>
                  <a:pt x="216922" y="50874"/>
                </a:lnTo>
                <a:lnTo>
                  <a:pt x="225425" y="50926"/>
                </a:lnTo>
                <a:lnTo>
                  <a:pt x="225551" y="25526"/>
                </a:lnTo>
                <a:lnTo>
                  <a:pt x="217039" y="25479"/>
                </a:lnTo>
                <a:close/>
              </a:path>
              <a:path w="276225" h="76200">
                <a:moveTo>
                  <a:pt x="126" y="24256"/>
                </a:moveTo>
                <a:lnTo>
                  <a:pt x="0" y="49529"/>
                </a:lnTo>
                <a:lnTo>
                  <a:pt x="216922" y="50874"/>
                </a:lnTo>
                <a:lnTo>
                  <a:pt x="225425" y="38226"/>
                </a:lnTo>
                <a:lnTo>
                  <a:pt x="217039" y="25479"/>
                </a:lnTo>
                <a:lnTo>
                  <a:pt x="126" y="24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8" name="object 38"/>
          <p:cNvSpPr txBox="1"/>
          <p:nvPr/>
        </p:nvSpPr>
        <p:spPr>
          <a:xfrm>
            <a:off x="5002542" y="1265276"/>
            <a:ext cx="209973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dirty="0">
                <a:latin typeface="Symbol"/>
                <a:cs typeface="Symbol"/>
              </a:rPr>
              <a:t>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689865" y="1127506"/>
            <a:ext cx="2540" cy="574040"/>
          </a:xfrm>
          <a:custGeom>
            <a:avLst/>
            <a:gdLst/>
            <a:ahLst/>
            <a:cxnLst/>
            <a:rect l="l" t="t" r="r" b="b"/>
            <a:pathLst>
              <a:path w="1904" h="430530">
                <a:moveTo>
                  <a:pt x="0" y="430275"/>
                </a:moveTo>
                <a:lnTo>
                  <a:pt x="152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40"/>
          <p:cNvSpPr/>
          <p:nvPr/>
        </p:nvSpPr>
        <p:spPr>
          <a:xfrm>
            <a:off x="4549066" y="1229107"/>
            <a:ext cx="2540" cy="3213100"/>
          </a:xfrm>
          <a:custGeom>
            <a:avLst/>
            <a:gdLst/>
            <a:ahLst/>
            <a:cxnLst/>
            <a:rect l="l" t="t" r="r" b="b"/>
            <a:pathLst>
              <a:path w="1904" h="2409825">
                <a:moveTo>
                  <a:pt x="1524" y="0"/>
                </a:moveTo>
                <a:lnTo>
                  <a:pt x="0" y="2409825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1" name="object 41"/>
          <p:cNvSpPr/>
          <p:nvPr/>
        </p:nvSpPr>
        <p:spPr>
          <a:xfrm>
            <a:off x="5885913" y="1482701"/>
            <a:ext cx="569807" cy="713740"/>
          </a:xfrm>
          <a:custGeom>
            <a:avLst/>
            <a:gdLst/>
            <a:ahLst/>
            <a:cxnLst/>
            <a:rect l="l" t="t" r="r" b="b"/>
            <a:pathLst>
              <a:path w="427354" h="535305">
                <a:moveTo>
                  <a:pt x="0" y="0"/>
                </a:moveTo>
                <a:lnTo>
                  <a:pt x="427100" y="53505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2" name="object 42"/>
          <p:cNvSpPr txBox="1"/>
          <p:nvPr/>
        </p:nvSpPr>
        <p:spPr>
          <a:xfrm>
            <a:off x="5911313" y="1588534"/>
            <a:ext cx="5393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10719">
              <a:spcBef>
                <a:spcPts val="133"/>
              </a:spcBef>
            </a:pPr>
            <a:r>
              <a:rPr sz="2400" b="1" i="1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515582" y="2529690"/>
            <a:ext cx="169841" cy="1698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4" name="object 44"/>
          <p:cNvSpPr/>
          <p:nvPr/>
        </p:nvSpPr>
        <p:spPr>
          <a:xfrm>
            <a:off x="5890147" y="1265276"/>
            <a:ext cx="407247" cy="101600"/>
          </a:xfrm>
          <a:custGeom>
            <a:avLst/>
            <a:gdLst/>
            <a:ahLst/>
            <a:cxnLst/>
            <a:rect l="l" t="t" r="r" b="b"/>
            <a:pathLst>
              <a:path w="305435" h="76200">
                <a:moveTo>
                  <a:pt x="76453" y="0"/>
                </a:moveTo>
                <a:lnTo>
                  <a:pt x="0" y="37591"/>
                </a:lnTo>
                <a:lnTo>
                  <a:pt x="75946" y="76200"/>
                </a:lnTo>
                <a:lnTo>
                  <a:pt x="76115" y="50740"/>
                </a:lnTo>
                <a:lnTo>
                  <a:pt x="63373" y="50672"/>
                </a:lnTo>
                <a:lnTo>
                  <a:pt x="63500" y="25272"/>
                </a:lnTo>
                <a:lnTo>
                  <a:pt x="76285" y="25272"/>
                </a:lnTo>
                <a:lnTo>
                  <a:pt x="76453" y="0"/>
                </a:lnTo>
                <a:close/>
              </a:path>
              <a:path w="305435" h="76200">
                <a:moveTo>
                  <a:pt x="76285" y="25340"/>
                </a:moveTo>
                <a:lnTo>
                  <a:pt x="76115" y="50740"/>
                </a:lnTo>
                <a:lnTo>
                  <a:pt x="304673" y="51942"/>
                </a:lnTo>
                <a:lnTo>
                  <a:pt x="304926" y="26542"/>
                </a:lnTo>
                <a:lnTo>
                  <a:pt x="76285" y="25340"/>
                </a:lnTo>
                <a:close/>
              </a:path>
              <a:path w="305435" h="76200">
                <a:moveTo>
                  <a:pt x="63500" y="25272"/>
                </a:moveTo>
                <a:lnTo>
                  <a:pt x="63373" y="50672"/>
                </a:lnTo>
                <a:lnTo>
                  <a:pt x="76115" y="50740"/>
                </a:lnTo>
                <a:lnTo>
                  <a:pt x="76285" y="25340"/>
                </a:lnTo>
                <a:lnTo>
                  <a:pt x="63500" y="25272"/>
                </a:lnTo>
                <a:close/>
              </a:path>
              <a:path w="305435" h="76200">
                <a:moveTo>
                  <a:pt x="76285" y="25272"/>
                </a:moveTo>
                <a:lnTo>
                  <a:pt x="63500" y="25272"/>
                </a:lnTo>
                <a:lnTo>
                  <a:pt x="76285" y="25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5" name="object 45"/>
          <p:cNvSpPr/>
          <p:nvPr/>
        </p:nvSpPr>
        <p:spPr>
          <a:xfrm>
            <a:off x="5924013" y="1520801"/>
            <a:ext cx="575733" cy="768773"/>
          </a:xfrm>
          <a:custGeom>
            <a:avLst/>
            <a:gdLst/>
            <a:ahLst/>
            <a:cxnLst/>
            <a:rect l="l" t="t" r="r" b="b"/>
            <a:pathLst>
              <a:path w="431800" h="576580">
                <a:moveTo>
                  <a:pt x="0" y="0"/>
                </a:moveTo>
                <a:lnTo>
                  <a:pt x="0" y="561086"/>
                </a:lnTo>
                <a:lnTo>
                  <a:pt x="431800" y="576326"/>
                </a:lnTo>
                <a:lnTo>
                  <a:pt x="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46"/>
          <p:cNvSpPr/>
          <p:nvPr/>
        </p:nvSpPr>
        <p:spPr>
          <a:xfrm>
            <a:off x="5924013" y="1520801"/>
            <a:ext cx="575733" cy="768773"/>
          </a:xfrm>
          <a:custGeom>
            <a:avLst/>
            <a:gdLst/>
            <a:ahLst/>
            <a:cxnLst/>
            <a:rect l="l" t="t" r="r" b="b"/>
            <a:pathLst>
              <a:path w="431800" h="576580">
                <a:moveTo>
                  <a:pt x="0" y="0"/>
                </a:moveTo>
                <a:lnTo>
                  <a:pt x="431800" y="576326"/>
                </a:lnTo>
                <a:lnTo>
                  <a:pt x="0" y="56108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7" name="矩形 46"/>
          <p:cNvSpPr/>
          <p:nvPr/>
        </p:nvSpPr>
        <p:spPr>
          <a:xfrm>
            <a:off x="504587" y="4623447"/>
            <a:ext cx="8776046" cy="962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23706" algn="just">
              <a:lnSpc>
                <a:spcPct val="100899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右边每个小方格至</a:t>
            </a:r>
            <a:r>
              <a:rPr lang="zh-CN" altLang="en-US" sz="2800" b="1" spc="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个点，每个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点至多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比较对面的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个点</a:t>
            </a:r>
            <a:r>
              <a:rPr lang="zh-CN" altLang="en-US" sz="2800" b="1" spc="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个点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常数</a:t>
            </a:r>
            <a:r>
              <a:rPr lang="zh-CN" altLang="en-US"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时间，</a:t>
            </a:r>
            <a:r>
              <a:rPr lang="en-US" altLang="zh-CN" sz="28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en-US"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点需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要</a:t>
            </a:r>
            <a:r>
              <a:rPr lang="en-US" altLang="zh-CN" sz="28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3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924" y="254866"/>
            <a:ext cx="8923283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算法分析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0923" y="1251981"/>
            <a:ext cx="8923283" cy="299009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55304">
              <a:lnSpc>
                <a:spcPct val="113700"/>
              </a:lnSpc>
              <a:spcBef>
                <a:spcPts val="133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spc="-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递归边界处理</a:t>
            </a:r>
            <a:r>
              <a:rPr lang="zh-CN" altLang="en-US" sz="2800" b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800" b="1" i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spc="-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28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6933" marR="655304">
              <a:lnSpc>
                <a:spcPct val="113700"/>
              </a:lnSpc>
              <a:spcBef>
                <a:spcPts val="133"/>
              </a:spcBef>
            </a:pPr>
            <a:r>
              <a:rPr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sz="2800" b="1" spc="-14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排序</a:t>
            </a:r>
            <a:r>
              <a:rPr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800" b="1" i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spc="7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800" b="1" i="1" spc="-13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16933" marR="655304">
              <a:lnSpc>
                <a:spcPct val="113700"/>
              </a:lnSpc>
              <a:spcBef>
                <a:spcPts val="133"/>
              </a:spcBef>
            </a:pPr>
            <a:r>
              <a:rPr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sz="2800" b="1" spc="-147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划分</a:t>
            </a:r>
            <a:r>
              <a:rPr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sz="2800" b="1" i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spc="-13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endParaRPr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6933" marR="6773">
              <a:lnSpc>
                <a:spcPct val="113700"/>
              </a:lnSpc>
              <a:spcBef>
                <a:spcPts val="20"/>
              </a:spcBef>
            </a:pP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步4-5子问题</a:t>
            </a:r>
            <a:r>
              <a:rPr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spc="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endParaRPr lang="en-US" sz="28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6933" marR="6773">
              <a:lnSpc>
                <a:spcPct val="113700"/>
              </a:lnSpc>
              <a:spcBef>
                <a:spcPts val="20"/>
              </a:spcBef>
            </a:pPr>
            <a:r>
              <a:rPr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</a:t>
            </a:r>
            <a:r>
              <a:rPr sz="2800" b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</a:t>
            </a:r>
            <a:r>
              <a:rPr sz="2800" b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sz="2800" b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2800" b="1" i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</a:p>
          <a:p>
            <a:pPr marL="16933" marR="6773">
              <a:lnSpc>
                <a:spcPct val="113700"/>
              </a:lnSpc>
              <a:spcBef>
                <a:spcPts val="2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检查跨边界点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	</a:t>
            </a:r>
            <a:r>
              <a:rPr lang="en-US" altLang="zh-CN" sz="2800" b="1" i="1" spc="-13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7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9746" y="4188772"/>
            <a:ext cx="4734560" cy="1124325"/>
          </a:xfrm>
          <a:prstGeom prst="rect">
            <a:avLst/>
          </a:prstGeom>
        </p:spPr>
        <p:txBody>
          <a:bodyPr vert="horz" wrap="square" lIns="0" tIns="242993" rIns="0" bIns="0" rtlCol="0">
            <a:spAutoFit/>
          </a:bodyPr>
          <a:lstStyle/>
          <a:p>
            <a:pPr marL="421629" marR="248067" indent="42332">
              <a:lnSpc>
                <a:spcPct val="102200"/>
              </a:lnSpc>
              <a:spcBef>
                <a:spcPts val="1687"/>
              </a:spcBef>
            </a:pPr>
            <a:r>
              <a:rPr sz="2800" b="1" i="1" spc="-7" dirty="0" smtClean="0">
                <a:latin typeface="Times New Roman"/>
                <a:cs typeface="Times New Roman"/>
              </a:rPr>
              <a:t>T</a:t>
            </a:r>
            <a:r>
              <a:rPr sz="2800" b="1" spc="-7" dirty="0" smtClean="0">
                <a:latin typeface="Times New Roman"/>
                <a:cs typeface="Times New Roman"/>
              </a:rPr>
              <a:t>(</a:t>
            </a:r>
            <a:r>
              <a:rPr sz="2800" b="1" i="1" spc="-7" dirty="0" smtClean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)=2</a:t>
            </a:r>
            <a:r>
              <a:rPr sz="2800" b="1" i="1" spc="-7" dirty="0">
                <a:latin typeface="Times New Roman"/>
                <a:cs typeface="Times New Roman"/>
              </a:rPr>
              <a:t>T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/2)+</a:t>
            </a:r>
            <a:r>
              <a:rPr sz="2800" b="1" i="1" spc="-7" dirty="0">
                <a:latin typeface="Times New Roman"/>
                <a:cs typeface="Times New Roman"/>
              </a:rPr>
              <a:t>O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log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  </a:t>
            </a:r>
            <a:r>
              <a:rPr sz="2800" b="1" i="1" spc="-7" dirty="0">
                <a:latin typeface="Times New Roman"/>
                <a:cs typeface="Times New Roman"/>
              </a:rPr>
              <a:t>T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)=</a:t>
            </a:r>
            <a:r>
              <a:rPr sz="2800" b="1" i="1" spc="-7" dirty="0">
                <a:latin typeface="Times New Roman"/>
                <a:cs typeface="Times New Roman"/>
              </a:rPr>
              <a:t>O</a:t>
            </a:r>
            <a:r>
              <a:rPr sz="2800" b="1" spc="-7" dirty="0">
                <a:latin typeface="Times New Roman"/>
                <a:cs typeface="Times New Roman"/>
              </a:rPr>
              <a:t>(1),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n</a:t>
            </a:r>
            <a:r>
              <a:rPr lang="en-US" sz="2800" b="1" i="1" dirty="0" smtClean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Symbol"/>
                <a:cs typeface="Symbol"/>
              </a:rPr>
              <a:t></a:t>
            </a:r>
            <a:r>
              <a:rPr lang="en-US" sz="2800" b="1" dirty="0" smtClean="0">
                <a:latin typeface="Symbol"/>
                <a:cs typeface="Symbol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3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98502" y="4304615"/>
            <a:ext cx="3852945" cy="1117600"/>
          </a:xfrm>
          <a:custGeom>
            <a:avLst/>
            <a:gdLst/>
            <a:ahLst/>
            <a:cxnLst/>
            <a:rect l="l" t="t" r="r" b="b"/>
            <a:pathLst>
              <a:path w="3276600" h="838200">
                <a:moveTo>
                  <a:pt x="0" y="139700"/>
                </a:moveTo>
                <a:lnTo>
                  <a:pt x="7122" y="95520"/>
                </a:lnTo>
                <a:lnTo>
                  <a:pt x="26954" y="57168"/>
                </a:lnTo>
                <a:lnTo>
                  <a:pt x="57195" y="26936"/>
                </a:lnTo>
                <a:lnTo>
                  <a:pt x="95544" y="7116"/>
                </a:lnTo>
                <a:lnTo>
                  <a:pt x="139700" y="0"/>
                </a:lnTo>
                <a:lnTo>
                  <a:pt x="3136900" y="0"/>
                </a:lnTo>
                <a:lnTo>
                  <a:pt x="3181030" y="7116"/>
                </a:lnTo>
                <a:lnTo>
                  <a:pt x="3219376" y="26936"/>
                </a:lnTo>
                <a:lnTo>
                  <a:pt x="3249627" y="57168"/>
                </a:lnTo>
                <a:lnTo>
                  <a:pt x="3269471" y="95520"/>
                </a:lnTo>
                <a:lnTo>
                  <a:pt x="3276600" y="139700"/>
                </a:lnTo>
                <a:lnTo>
                  <a:pt x="3276600" y="698500"/>
                </a:lnTo>
                <a:lnTo>
                  <a:pt x="3269471" y="742655"/>
                </a:lnTo>
                <a:lnTo>
                  <a:pt x="3249627" y="781004"/>
                </a:lnTo>
                <a:lnTo>
                  <a:pt x="3219376" y="811245"/>
                </a:lnTo>
                <a:lnTo>
                  <a:pt x="3181030" y="831077"/>
                </a:lnTo>
                <a:lnTo>
                  <a:pt x="3136900" y="838200"/>
                </a:lnTo>
                <a:lnTo>
                  <a:pt x="139700" y="838200"/>
                </a:lnTo>
                <a:lnTo>
                  <a:pt x="95544" y="831077"/>
                </a:lnTo>
                <a:lnTo>
                  <a:pt x="57195" y="811245"/>
                </a:lnTo>
                <a:lnTo>
                  <a:pt x="26954" y="781004"/>
                </a:lnTo>
                <a:lnTo>
                  <a:pt x="7122" y="742655"/>
                </a:lnTo>
                <a:lnTo>
                  <a:pt x="0" y="698500"/>
                </a:lnTo>
                <a:lnTo>
                  <a:pt x="0" y="1397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430923" y="5579580"/>
            <a:ext cx="5096933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800" b="1" dirty="0">
                <a:latin typeface="宋体"/>
                <a:cs typeface="宋体"/>
              </a:rPr>
              <a:t>递归树求</a:t>
            </a:r>
            <a:r>
              <a:rPr sz="2800" b="1" spc="-13" dirty="0">
                <a:latin typeface="宋体"/>
                <a:cs typeface="宋体"/>
              </a:rPr>
              <a:t>解</a:t>
            </a:r>
            <a:r>
              <a:rPr sz="2800" b="1" spc="727" dirty="0">
                <a:latin typeface="宋体"/>
                <a:cs typeface="宋体"/>
              </a:rPr>
              <a:t> </a:t>
            </a:r>
            <a:r>
              <a:rPr sz="2800" b="1" i="1" spc="-7" dirty="0">
                <a:latin typeface="Times New Roman"/>
                <a:cs typeface="Times New Roman"/>
              </a:rPr>
              <a:t>T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)=</a:t>
            </a:r>
            <a:r>
              <a:rPr sz="2800" b="1" i="1" spc="-7" dirty="0">
                <a:latin typeface="Times New Roman"/>
                <a:cs typeface="Times New Roman"/>
              </a:rPr>
              <a:t>O</a:t>
            </a:r>
            <a:r>
              <a:rPr sz="2800" b="1" spc="-7" dirty="0">
                <a:latin typeface="Times New Roman"/>
                <a:cs typeface="Times New Roman"/>
              </a:rPr>
              <a:t>(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log</a:t>
            </a:r>
            <a:r>
              <a:rPr sz="2800" b="1" spc="-9" baseline="24305" dirty="0">
                <a:latin typeface="Times New Roman"/>
                <a:cs typeface="Times New Roman"/>
              </a:rPr>
              <a:t>2</a:t>
            </a:r>
            <a:r>
              <a:rPr sz="2800" b="1" i="1" spc="-7" dirty="0">
                <a:latin typeface="Times New Roman"/>
                <a:cs typeface="Times New Roman"/>
              </a:rPr>
              <a:t>n</a:t>
            </a:r>
            <a:r>
              <a:rPr sz="2800" b="1" spc="-7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725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414" y="220248"/>
            <a:ext cx="8933793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2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增加预处理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414" y="1042367"/>
            <a:ext cx="8933793" cy="451063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866">
              <a:spcBef>
                <a:spcPts val="133"/>
              </a:spcBef>
            </a:pPr>
            <a:r>
              <a:rPr sz="3200" b="1" dirty="0">
                <a:latin typeface="宋体"/>
                <a:cs typeface="宋体"/>
              </a:rPr>
              <a:t>原算法：</a:t>
            </a:r>
            <a:endParaRPr sz="3200" dirty="0">
              <a:latin typeface="宋体"/>
              <a:cs typeface="宋体"/>
            </a:endParaRPr>
          </a:p>
          <a:p>
            <a:pPr marL="33866"/>
            <a:r>
              <a:rPr sz="3200" b="1" dirty="0">
                <a:latin typeface="宋体"/>
                <a:cs typeface="宋体"/>
              </a:rPr>
              <a:t>在每次划分时对子问题数组重新排序</a:t>
            </a:r>
            <a:endParaRPr sz="3200" dirty="0">
              <a:latin typeface="宋体"/>
              <a:cs typeface="宋体"/>
            </a:endParaRPr>
          </a:p>
          <a:p>
            <a:pPr marL="135463">
              <a:lnSpc>
                <a:spcPts val="3760"/>
              </a:lnSpc>
              <a:spcBef>
                <a:spcPts val="2485"/>
              </a:spcBef>
            </a:pPr>
            <a:r>
              <a:rPr sz="3200" b="1" dirty="0">
                <a:latin typeface="宋体"/>
                <a:cs typeface="宋体"/>
              </a:rPr>
              <a:t>改进算法：</a:t>
            </a:r>
            <a:endParaRPr sz="3200" dirty="0">
              <a:latin typeface="宋体"/>
              <a:cs typeface="宋体"/>
            </a:endParaRPr>
          </a:p>
          <a:p>
            <a:pPr marL="539313" indent="-404697">
              <a:lnSpc>
                <a:spcPts val="3760"/>
              </a:lnSpc>
              <a:buClr>
                <a:srgbClr val="000000"/>
              </a:buClr>
              <a:buFont typeface="Times New Roman"/>
              <a:buAutoNum type="arabicPeriod"/>
              <a:tabLst>
                <a:tab pos="540160" algn="l"/>
              </a:tabLst>
            </a:pP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在递归前</a:t>
            </a:r>
            <a:r>
              <a:rPr sz="3200" b="1" spc="-13" dirty="0">
                <a:solidFill>
                  <a:srgbClr val="C00000"/>
                </a:solidFill>
                <a:latin typeface="宋体"/>
                <a:cs typeface="宋体"/>
              </a:rPr>
              <a:t>对</a:t>
            </a:r>
            <a:r>
              <a:rPr sz="3200" b="1" spc="-820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32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,</a:t>
            </a:r>
            <a:r>
              <a:rPr lang="en-US" sz="32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i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Y</a:t>
            </a:r>
            <a:r>
              <a:rPr sz="3200" b="1" i="1" spc="-127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0000"/>
                </a:solidFill>
                <a:latin typeface="宋体"/>
                <a:cs typeface="宋体"/>
              </a:rPr>
              <a:t>排序，作为预处理</a:t>
            </a:r>
            <a:endParaRPr sz="3200" dirty="0">
              <a:latin typeface="宋体"/>
              <a:cs typeface="宋体"/>
            </a:endParaRPr>
          </a:p>
          <a:p>
            <a:pPr marL="539313" marR="57572" indent="-404697" algn="just">
              <a:spcBef>
                <a:spcPts val="7"/>
              </a:spcBef>
              <a:buFont typeface="Times New Roman"/>
              <a:buAutoNum type="arabicPeriod"/>
              <a:tabLst>
                <a:tab pos="541853" algn="l"/>
              </a:tabLst>
            </a:pPr>
            <a:r>
              <a:rPr sz="3200" b="1" spc="-7" dirty="0">
                <a:latin typeface="宋体"/>
                <a:cs typeface="宋体"/>
              </a:rPr>
              <a:t>划分时对排序的数</a:t>
            </a:r>
            <a:r>
              <a:rPr sz="3200" b="1" spc="-13" dirty="0">
                <a:latin typeface="宋体"/>
                <a:cs typeface="宋体"/>
              </a:rPr>
              <a:t>组</a:t>
            </a:r>
            <a:r>
              <a:rPr sz="3200" b="1" spc="-833" dirty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X</a:t>
            </a:r>
            <a:r>
              <a:rPr sz="3200" b="1" spc="-7" dirty="0" smtClean="0">
                <a:latin typeface="Times New Roman"/>
                <a:cs typeface="Times New Roman"/>
              </a:rPr>
              <a:t>,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Y</a:t>
            </a:r>
            <a:r>
              <a:rPr sz="3200" b="1" i="1" spc="-27" dirty="0" smtClean="0">
                <a:latin typeface="Times New Roman"/>
                <a:cs typeface="Times New Roman"/>
              </a:rPr>
              <a:t> </a:t>
            </a:r>
            <a:r>
              <a:rPr sz="3200" b="1" spc="-7" dirty="0" err="1" smtClean="0">
                <a:latin typeface="宋体"/>
                <a:cs typeface="宋体"/>
              </a:rPr>
              <a:t>进行</a:t>
            </a:r>
            <a:r>
              <a:rPr sz="3200" b="1" spc="-13" dirty="0" err="1" smtClean="0">
                <a:latin typeface="宋体"/>
                <a:cs typeface="宋体"/>
              </a:rPr>
              <a:t>拆分</a:t>
            </a:r>
            <a:r>
              <a:rPr lang="en-US" sz="3200" b="1" spc="-13" dirty="0" err="1">
                <a:latin typeface="宋体"/>
                <a:cs typeface="宋体"/>
              </a:rPr>
              <a:t>,</a:t>
            </a:r>
            <a:r>
              <a:rPr sz="3200" b="1" dirty="0" err="1" smtClean="0">
                <a:latin typeface="宋体"/>
                <a:cs typeface="宋体"/>
              </a:rPr>
              <a:t>得到针对子问</a:t>
            </a:r>
            <a:r>
              <a:rPr sz="3200" b="1" spc="-13" dirty="0" err="1" smtClean="0">
                <a:latin typeface="宋体"/>
                <a:cs typeface="宋体"/>
              </a:rPr>
              <a:t>题</a:t>
            </a:r>
            <a:r>
              <a:rPr sz="3200" b="1" spc="-807" dirty="0" smtClean="0">
                <a:latin typeface="宋体"/>
                <a:cs typeface="宋体"/>
              </a:rPr>
              <a:t> </a:t>
            </a:r>
            <a:r>
              <a:rPr sz="3200" b="1" i="1" spc="-13" dirty="0" smtClean="0">
                <a:latin typeface="Times New Roman"/>
                <a:cs typeface="Times New Roman"/>
              </a:rPr>
              <a:t>P</a:t>
            </a:r>
            <a:r>
              <a:rPr sz="3200" b="1" i="1" spc="-20" baseline="-20833" dirty="0" smtClean="0">
                <a:latin typeface="Times New Roman"/>
                <a:cs typeface="Times New Roman"/>
              </a:rPr>
              <a:t>L</a:t>
            </a:r>
            <a:r>
              <a:rPr lang="en-US" sz="3200" b="1" i="1" spc="-20" baseline="-20833" dirty="0" smtClean="0">
                <a:latin typeface="Times New Roman"/>
                <a:cs typeface="Times New Roman"/>
              </a:rPr>
              <a:t> </a:t>
            </a:r>
            <a:r>
              <a:rPr sz="3200" b="1" dirty="0" err="1" smtClean="0">
                <a:latin typeface="宋体"/>
                <a:cs typeface="宋体"/>
              </a:rPr>
              <a:t>的数</a:t>
            </a:r>
            <a:r>
              <a:rPr sz="3200" b="1" spc="-13" dirty="0" err="1" smtClean="0">
                <a:latin typeface="宋体"/>
                <a:cs typeface="宋体"/>
              </a:rPr>
              <a:t>组</a:t>
            </a:r>
            <a:r>
              <a:rPr sz="3200" b="1" spc="-800" dirty="0" smtClean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X</a:t>
            </a:r>
            <a:r>
              <a:rPr sz="3200" b="1" i="1" spc="-9" baseline="-20833" dirty="0">
                <a:latin typeface="Times New Roman"/>
                <a:cs typeface="Times New Roman"/>
              </a:rPr>
              <a:t>L</a:t>
            </a:r>
            <a:r>
              <a:rPr sz="3200" b="1" spc="-7" dirty="0" smtClean="0">
                <a:latin typeface="Times New Roman"/>
                <a:cs typeface="Times New Roman"/>
              </a:rPr>
              <a:t>,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Y</a:t>
            </a:r>
            <a:r>
              <a:rPr sz="3200" b="1" i="1" spc="-9" baseline="-20833" dirty="0" smtClean="0">
                <a:latin typeface="Times New Roman"/>
                <a:cs typeface="Times New Roman"/>
              </a:rPr>
              <a:t>L</a:t>
            </a:r>
            <a:r>
              <a:rPr sz="3200" b="1" i="1" spc="-149" baseline="-20833" dirty="0" smtClean="0">
                <a:latin typeface="Times New Roman"/>
                <a:cs typeface="Times New Roman"/>
              </a:rPr>
              <a:t> </a:t>
            </a:r>
            <a:r>
              <a:rPr sz="3200" b="1" spc="-13" dirty="0" err="1" smtClean="0">
                <a:latin typeface="宋体"/>
                <a:cs typeface="宋体"/>
              </a:rPr>
              <a:t>及</a:t>
            </a:r>
            <a:r>
              <a:rPr sz="3200" b="1" dirty="0" err="1" smtClean="0">
                <a:latin typeface="宋体"/>
                <a:cs typeface="宋体"/>
              </a:rPr>
              <a:t>针对子问</a:t>
            </a:r>
            <a:r>
              <a:rPr sz="3200" b="1" spc="-13" dirty="0" err="1" smtClean="0">
                <a:latin typeface="宋体"/>
                <a:cs typeface="宋体"/>
              </a:rPr>
              <a:t>题</a:t>
            </a:r>
            <a:r>
              <a:rPr sz="3200" b="1" spc="-807" dirty="0" smtClean="0">
                <a:latin typeface="宋体"/>
                <a:cs typeface="宋体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P</a:t>
            </a:r>
            <a:r>
              <a:rPr sz="3200" b="1" i="1" spc="-9" baseline="-20833" dirty="0" smtClean="0">
                <a:latin typeface="Times New Roman"/>
                <a:cs typeface="Times New Roman"/>
              </a:rPr>
              <a:t>R</a:t>
            </a:r>
            <a:r>
              <a:rPr lang="en-US" sz="3200" b="1" i="1" spc="-9" baseline="-20833" dirty="0" smtClean="0">
                <a:latin typeface="Times New Roman"/>
                <a:cs typeface="Times New Roman"/>
              </a:rPr>
              <a:t> </a:t>
            </a:r>
            <a:r>
              <a:rPr sz="3200" b="1" dirty="0" err="1" smtClean="0">
                <a:latin typeface="宋体"/>
                <a:cs typeface="宋体"/>
              </a:rPr>
              <a:t>的数</a:t>
            </a:r>
            <a:r>
              <a:rPr sz="3200" b="1" spc="-13" dirty="0" err="1" smtClean="0">
                <a:latin typeface="宋体"/>
                <a:cs typeface="宋体"/>
              </a:rPr>
              <a:t>组</a:t>
            </a:r>
            <a:r>
              <a:rPr sz="3200" b="1" spc="-807" dirty="0" smtClean="0">
                <a:latin typeface="宋体"/>
                <a:cs typeface="宋体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X</a:t>
            </a:r>
            <a:r>
              <a:rPr sz="3200" b="1" i="1" spc="-9" baseline="-20833" dirty="0">
                <a:latin typeface="Times New Roman"/>
                <a:cs typeface="Times New Roman"/>
              </a:rPr>
              <a:t>R</a:t>
            </a:r>
            <a:r>
              <a:rPr sz="3200" b="1" spc="-7" dirty="0" smtClean="0">
                <a:latin typeface="Times New Roman"/>
                <a:cs typeface="Times New Roman"/>
              </a:rPr>
              <a:t>,</a:t>
            </a:r>
            <a:r>
              <a:rPr lang="en-US" sz="3200" b="1" spc="-7" dirty="0" smtClean="0">
                <a:latin typeface="Times New Roman"/>
                <a:cs typeface="Times New Roman"/>
              </a:rPr>
              <a:t> </a:t>
            </a:r>
            <a:r>
              <a:rPr sz="3200" b="1" i="1" spc="-7" dirty="0" smtClean="0">
                <a:latin typeface="Times New Roman"/>
                <a:cs typeface="Times New Roman"/>
              </a:rPr>
              <a:t>Y</a:t>
            </a:r>
            <a:r>
              <a:rPr sz="3200" b="1" i="1" spc="-9" baseline="-20833" dirty="0" smtClean="0">
                <a:latin typeface="Times New Roman"/>
                <a:cs typeface="Times New Roman"/>
              </a:rPr>
              <a:t>R</a:t>
            </a:r>
            <a:endParaRPr sz="3200" baseline="-20833" dirty="0">
              <a:latin typeface="Times New Roman"/>
              <a:cs typeface="Times New Roman"/>
            </a:endParaRPr>
          </a:p>
          <a:p>
            <a:pPr marL="135463">
              <a:spcBef>
                <a:spcPts val="1853"/>
              </a:spcBef>
            </a:pPr>
            <a:r>
              <a:rPr sz="3200" b="1" spc="-7" dirty="0">
                <a:latin typeface="宋体"/>
                <a:cs typeface="宋体"/>
              </a:rPr>
              <a:t>原问题规模</a:t>
            </a:r>
            <a:r>
              <a:rPr sz="3200" b="1" spc="-13" dirty="0">
                <a:latin typeface="宋体"/>
                <a:cs typeface="宋体"/>
              </a:rPr>
              <a:t>为</a:t>
            </a:r>
            <a:r>
              <a:rPr sz="3200" b="1" spc="-20" dirty="0">
                <a:latin typeface="宋体"/>
                <a:cs typeface="宋体"/>
              </a:rPr>
              <a:t> </a:t>
            </a:r>
            <a:r>
              <a:rPr sz="3200" b="1" i="1" spc="-7" dirty="0" err="1">
                <a:latin typeface="Times New Roman"/>
                <a:cs typeface="Times New Roman"/>
              </a:rPr>
              <a:t>n</a:t>
            </a:r>
            <a:r>
              <a:rPr sz="3200" b="1" spc="-7" dirty="0" err="1">
                <a:latin typeface="宋体"/>
                <a:cs typeface="宋体"/>
              </a:rPr>
              <a:t>，拆分的时间</a:t>
            </a:r>
            <a:r>
              <a:rPr sz="3200" b="1" dirty="0" err="1">
                <a:latin typeface="宋体"/>
                <a:cs typeface="宋体"/>
              </a:rPr>
              <a:t>为</a:t>
            </a:r>
            <a:r>
              <a:rPr sz="3200" b="1" i="1" spc="-7" dirty="0" err="1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7" dirty="0" smtClean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619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466" y="220120"/>
            <a:ext cx="8861680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实例：递归中的拆分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464039"/>
              </p:ext>
            </p:extLst>
          </p:nvPr>
        </p:nvGraphicFramePr>
        <p:xfrm>
          <a:off x="3271607" y="1101389"/>
          <a:ext cx="3861644" cy="149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4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721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763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704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7215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980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21717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817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0.5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-2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21717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81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i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-1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4712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348645" y="1321864"/>
            <a:ext cx="373380" cy="83881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6773">
              <a:spcBef>
                <a:spcPts val="140"/>
              </a:spcBef>
            </a:pPr>
            <a:r>
              <a:rPr sz="2667" b="1" spc="-7" dirty="0">
                <a:latin typeface="宋体"/>
                <a:cs typeface="宋体"/>
              </a:rPr>
              <a:t>输 入</a:t>
            </a:r>
            <a:endParaRPr sz="2667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70980" y="2734104"/>
            <a:ext cx="374227" cy="12483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spcBef>
                <a:spcPts val="133"/>
              </a:spcBef>
            </a:pPr>
            <a:r>
              <a:rPr sz="2667" b="1" spc="-7" dirty="0">
                <a:latin typeface="宋体"/>
                <a:cs typeface="宋体"/>
              </a:rPr>
              <a:t>预 处 理</a:t>
            </a:r>
            <a:endParaRPr sz="2667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9909" y="5590314"/>
            <a:ext cx="105833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b="1" spc="7" dirty="0">
                <a:latin typeface="宋体"/>
                <a:cs typeface="宋体"/>
              </a:rPr>
              <a:t>拆分后</a:t>
            </a:r>
            <a:endParaRPr sz="2667" dirty="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461169"/>
              </p:ext>
            </p:extLst>
          </p:nvPr>
        </p:nvGraphicFramePr>
        <p:xfrm>
          <a:off x="3068407" y="2798958"/>
          <a:ext cx="4367105" cy="102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52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465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922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2696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700" b="1" i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59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94B3D6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700" b="1" spc="-80" dirty="0">
                          <a:latin typeface="Times New Roman"/>
                          <a:cs typeface="Times New Roman"/>
                        </a:rPr>
                        <a:t>-2(3)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59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94B3D6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700" b="1" spc="-80" dirty="0">
                          <a:latin typeface="Times New Roman"/>
                          <a:cs typeface="Times New Roman"/>
                        </a:rPr>
                        <a:t>0.5(1)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59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94B3D6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700" b="1" spc="-95" dirty="0">
                          <a:latin typeface="Times New Roman"/>
                          <a:cs typeface="Times New Roman"/>
                        </a:rPr>
                        <a:t>1(4)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59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94B3D6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700" b="1" spc="-95" dirty="0">
                          <a:latin typeface="Times New Roman"/>
                          <a:cs typeface="Times New Roman"/>
                        </a:rPr>
                        <a:t>2(2)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59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94B3D6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i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94B3D6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spc="-80" dirty="0">
                          <a:latin typeface="Times New Roman"/>
                          <a:cs typeface="Times New Roman"/>
                        </a:rPr>
                        <a:t>-1(4)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94B3D6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spc="-70" dirty="0">
                          <a:latin typeface="Times New Roman"/>
                          <a:cs typeface="Times New Roman"/>
                        </a:rPr>
                        <a:t>2(1)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94B3D6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R="14033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spc="-95" dirty="0">
                          <a:latin typeface="Times New Roman"/>
                          <a:cs typeface="Times New Roman"/>
                        </a:rPr>
                        <a:t>3(2</a:t>
                      </a:r>
                      <a:r>
                        <a:rPr sz="27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spc="-70" dirty="0">
                          <a:latin typeface="Times New Roman"/>
                          <a:cs typeface="Times New Roman"/>
                        </a:rPr>
                        <a:t>4(3)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94B3D6"/>
                      </a:solidFill>
                      <a:prstDash val="solid"/>
                    </a:lnL>
                    <a:lnR w="12700">
                      <a:solidFill>
                        <a:srgbClr val="94B3D6"/>
                      </a:solidFill>
                      <a:prstDash val="solid"/>
                    </a:lnR>
                    <a:lnT w="12700">
                      <a:solidFill>
                        <a:srgbClr val="94B3D6"/>
                      </a:solidFill>
                      <a:prstDash val="solid"/>
                    </a:lnT>
                    <a:lnB w="12700">
                      <a:solidFill>
                        <a:srgbClr val="94B3D6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703158" y="2902675"/>
            <a:ext cx="160867" cy="1566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522800" y="2940182"/>
            <a:ext cx="4402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spc="-9" baseline="-20833" dirty="0">
                <a:latin typeface="Times New Roman"/>
                <a:cs typeface="Times New Roman"/>
              </a:rPr>
              <a:t>1</a:t>
            </a:r>
            <a:endParaRPr sz="3200" baseline="-208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794" y="2025782"/>
            <a:ext cx="4402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spc="-9" baseline="-20833" dirty="0">
                <a:latin typeface="Times New Roman"/>
                <a:cs typeface="Times New Roman"/>
              </a:rPr>
              <a:t>3</a:t>
            </a:r>
            <a:endParaRPr sz="3200" baseline="-208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59832" y="2394675"/>
            <a:ext cx="163067" cy="1566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429465" y="1988613"/>
            <a:ext cx="163101" cy="1566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007958" y="4525735"/>
            <a:ext cx="160357" cy="1566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2540088" y="2438210"/>
            <a:ext cx="4402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spc="-9" baseline="-20833" dirty="0">
                <a:latin typeface="Times New Roman"/>
                <a:cs typeface="Times New Roman"/>
              </a:rPr>
              <a:t>2</a:t>
            </a:r>
            <a:endParaRPr sz="3200" baseline="-2083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32842" y="4354792"/>
            <a:ext cx="4402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p</a:t>
            </a:r>
            <a:r>
              <a:rPr sz="3200" b="1" spc="-9" baseline="-20833" dirty="0">
                <a:latin typeface="Times New Roman"/>
                <a:cs typeface="Times New Roman"/>
              </a:rPr>
              <a:t>4</a:t>
            </a:r>
            <a:endParaRPr sz="3200" baseline="-2083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84337" y="1486456"/>
            <a:ext cx="138007" cy="4166447"/>
          </a:xfrm>
          <a:custGeom>
            <a:avLst/>
            <a:gdLst/>
            <a:ahLst/>
            <a:cxnLst/>
            <a:rect l="l" t="t" r="r" b="b"/>
            <a:pathLst>
              <a:path w="103505" h="3124835">
                <a:moveTo>
                  <a:pt x="51763" y="25273"/>
                </a:moveTo>
                <a:lnTo>
                  <a:pt x="45403" y="36141"/>
                </a:lnTo>
                <a:lnTo>
                  <a:pt x="42265" y="3124250"/>
                </a:lnTo>
                <a:lnTo>
                  <a:pt x="54965" y="3124250"/>
                </a:lnTo>
                <a:lnTo>
                  <a:pt x="58042" y="96138"/>
                </a:lnTo>
                <a:lnTo>
                  <a:pt x="58090" y="36141"/>
                </a:lnTo>
                <a:lnTo>
                  <a:pt x="51763" y="25273"/>
                </a:lnTo>
                <a:close/>
              </a:path>
              <a:path w="103505" h="3124835">
                <a:moveTo>
                  <a:pt x="59100" y="12573"/>
                </a:moveTo>
                <a:lnTo>
                  <a:pt x="58127" y="12573"/>
                </a:lnTo>
                <a:lnTo>
                  <a:pt x="58103" y="36163"/>
                </a:lnTo>
                <a:lnTo>
                  <a:pt x="92430" y="95123"/>
                </a:lnTo>
                <a:lnTo>
                  <a:pt x="96316" y="96138"/>
                </a:lnTo>
                <a:lnTo>
                  <a:pt x="102374" y="92583"/>
                </a:lnTo>
                <a:lnTo>
                  <a:pt x="103403" y="88773"/>
                </a:lnTo>
                <a:lnTo>
                  <a:pt x="59100" y="12573"/>
                </a:lnTo>
                <a:close/>
              </a:path>
              <a:path w="103505" h="3124835">
                <a:moveTo>
                  <a:pt x="51790" y="0"/>
                </a:moveTo>
                <a:lnTo>
                  <a:pt x="1765" y="85598"/>
                </a:lnTo>
                <a:lnTo>
                  <a:pt x="0" y="88646"/>
                </a:lnTo>
                <a:lnTo>
                  <a:pt x="1015" y="92455"/>
                </a:lnTo>
                <a:lnTo>
                  <a:pt x="7073" y="96012"/>
                </a:lnTo>
                <a:lnTo>
                  <a:pt x="10960" y="94996"/>
                </a:lnTo>
                <a:lnTo>
                  <a:pt x="45390" y="36163"/>
                </a:lnTo>
                <a:lnTo>
                  <a:pt x="45427" y="12573"/>
                </a:lnTo>
                <a:lnTo>
                  <a:pt x="59100" y="12573"/>
                </a:lnTo>
                <a:lnTo>
                  <a:pt x="51790" y="0"/>
                </a:lnTo>
                <a:close/>
              </a:path>
              <a:path w="103505" h="3124835">
                <a:moveTo>
                  <a:pt x="58124" y="15875"/>
                </a:moveTo>
                <a:lnTo>
                  <a:pt x="57264" y="15875"/>
                </a:lnTo>
                <a:lnTo>
                  <a:pt x="51763" y="25273"/>
                </a:lnTo>
                <a:lnTo>
                  <a:pt x="58103" y="36163"/>
                </a:lnTo>
                <a:lnTo>
                  <a:pt x="58124" y="15875"/>
                </a:lnTo>
                <a:close/>
              </a:path>
              <a:path w="103505" h="3124835">
                <a:moveTo>
                  <a:pt x="58127" y="12573"/>
                </a:moveTo>
                <a:lnTo>
                  <a:pt x="45427" y="12573"/>
                </a:lnTo>
                <a:lnTo>
                  <a:pt x="45403" y="36141"/>
                </a:lnTo>
                <a:lnTo>
                  <a:pt x="51763" y="25273"/>
                </a:lnTo>
                <a:lnTo>
                  <a:pt x="46291" y="15875"/>
                </a:lnTo>
                <a:lnTo>
                  <a:pt x="58124" y="15875"/>
                </a:lnTo>
                <a:lnTo>
                  <a:pt x="58127" y="12573"/>
                </a:lnTo>
                <a:close/>
              </a:path>
              <a:path w="103505" h="3124835">
                <a:moveTo>
                  <a:pt x="57264" y="15875"/>
                </a:moveTo>
                <a:lnTo>
                  <a:pt x="46291" y="15875"/>
                </a:lnTo>
                <a:lnTo>
                  <a:pt x="51763" y="25273"/>
                </a:lnTo>
                <a:lnTo>
                  <a:pt x="57264" y="15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32063" y="3959568"/>
            <a:ext cx="2845647" cy="138007"/>
          </a:xfrm>
          <a:custGeom>
            <a:avLst/>
            <a:gdLst/>
            <a:ahLst/>
            <a:cxnLst/>
            <a:rect l="l" t="t" r="r" b="b"/>
            <a:pathLst>
              <a:path w="2134235" h="103504">
                <a:moveTo>
                  <a:pt x="2045089" y="0"/>
                </a:moveTo>
                <a:lnTo>
                  <a:pt x="2041152" y="1016"/>
                </a:lnTo>
                <a:lnTo>
                  <a:pt x="2037596" y="7112"/>
                </a:lnTo>
                <a:lnTo>
                  <a:pt x="2038612" y="10922"/>
                </a:lnTo>
                <a:lnTo>
                  <a:pt x="2097608" y="45430"/>
                </a:lnTo>
                <a:lnTo>
                  <a:pt x="2121035" y="45466"/>
                </a:lnTo>
                <a:lnTo>
                  <a:pt x="2121035" y="58166"/>
                </a:lnTo>
                <a:lnTo>
                  <a:pt x="2097525" y="58166"/>
                </a:lnTo>
                <a:lnTo>
                  <a:pt x="2038485" y="92456"/>
                </a:lnTo>
                <a:lnTo>
                  <a:pt x="2037469" y="96266"/>
                </a:lnTo>
                <a:lnTo>
                  <a:pt x="2041025" y="102362"/>
                </a:lnTo>
                <a:lnTo>
                  <a:pt x="2044962" y="103378"/>
                </a:lnTo>
                <a:lnTo>
                  <a:pt x="2122691" y="58166"/>
                </a:lnTo>
                <a:lnTo>
                  <a:pt x="2121035" y="58166"/>
                </a:lnTo>
                <a:lnTo>
                  <a:pt x="2122752" y="58130"/>
                </a:lnTo>
                <a:lnTo>
                  <a:pt x="2133608" y="51816"/>
                </a:lnTo>
                <a:lnTo>
                  <a:pt x="2045089" y="0"/>
                </a:lnTo>
                <a:close/>
              </a:path>
              <a:path w="2134235" h="103504">
                <a:moveTo>
                  <a:pt x="2108491" y="51796"/>
                </a:moveTo>
                <a:lnTo>
                  <a:pt x="2097585" y="58130"/>
                </a:lnTo>
                <a:lnTo>
                  <a:pt x="2121035" y="58166"/>
                </a:lnTo>
                <a:lnTo>
                  <a:pt x="2121035" y="57277"/>
                </a:lnTo>
                <a:lnTo>
                  <a:pt x="2117860" y="57277"/>
                </a:lnTo>
                <a:lnTo>
                  <a:pt x="2108491" y="51796"/>
                </a:lnTo>
                <a:close/>
              </a:path>
              <a:path w="2134235" h="103504">
                <a:moveTo>
                  <a:pt x="17" y="42291"/>
                </a:moveTo>
                <a:lnTo>
                  <a:pt x="0" y="54991"/>
                </a:lnTo>
                <a:lnTo>
                  <a:pt x="2097585" y="58130"/>
                </a:lnTo>
                <a:lnTo>
                  <a:pt x="2108491" y="51796"/>
                </a:lnTo>
                <a:lnTo>
                  <a:pt x="2097608" y="45430"/>
                </a:lnTo>
                <a:lnTo>
                  <a:pt x="17" y="42291"/>
                </a:lnTo>
                <a:close/>
              </a:path>
              <a:path w="2134235" h="103504">
                <a:moveTo>
                  <a:pt x="2117860" y="46355"/>
                </a:moveTo>
                <a:lnTo>
                  <a:pt x="2108491" y="51796"/>
                </a:lnTo>
                <a:lnTo>
                  <a:pt x="2117860" y="57277"/>
                </a:lnTo>
                <a:lnTo>
                  <a:pt x="2117860" y="46355"/>
                </a:lnTo>
                <a:close/>
              </a:path>
              <a:path w="2134235" h="103504">
                <a:moveTo>
                  <a:pt x="2121035" y="46355"/>
                </a:moveTo>
                <a:lnTo>
                  <a:pt x="2117860" y="46355"/>
                </a:lnTo>
                <a:lnTo>
                  <a:pt x="2117860" y="57277"/>
                </a:lnTo>
                <a:lnTo>
                  <a:pt x="2121035" y="57277"/>
                </a:lnTo>
                <a:lnTo>
                  <a:pt x="2121035" y="46355"/>
                </a:lnTo>
                <a:close/>
              </a:path>
              <a:path w="2134235" h="103504">
                <a:moveTo>
                  <a:pt x="2097608" y="45430"/>
                </a:moveTo>
                <a:lnTo>
                  <a:pt x="2108491" y="51796"/>
                </a:lnTo>
                <a:lnTo>
                  <a:pt x="2117860" y="46355"/>
                </a:lnTo>
                <a:lnTo>
                  <a:pt x="2121035" y="46355"/>
                </a:lnTo>
                <a:lnTo>
                  <a:pt x="2121035" y="45466"/>
                </a:lnTo>
                <a:lnTo>
                  <a:pt x="2097608" y="45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959274" y="1588224"/>
            <a:ext cx="0" cy="3170767"/>
          </a:xfrm>
          <a:custGeom>
            <a:avLst/>
            <a:gdLst/>
            <a:ahLst/>
            <a:cxnLst/>
            <a:rect l="l" t="t" r="r" b="b"/>
            <a:pathLst>
              <a:path h="2378075">
                <a:moveTo>
                  <a:pt x="0" y="0"/>
                </a:moveTo>
                <a:lnTo>
                  <a:pt x="0" y="2378075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0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663205"/>
              </p:ext>
            </p:extLst>
          </p:nvPr>
        </p:nvGraphicFramePr>
        <p:xfrm>
          <a:off x="5608407" y="4221357"/>
          <a:ext cx="2438397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41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7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i="1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b="1" i="1" spc="7" baseline="-21367" dirty="0">
                          <a:latin typeface="Times New Roman"/>
                          <a:cs typeface="Times New Roman"/>
                        </a:rPr>
                        <a:t>R</a:t>
                      </a:r>
                      <a:endParaRPr sz="2600" baseline="-21367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28575">
                      <a:solidFill>
                        <a:srgbClr val="BEBEBE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1(4)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28575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2(2)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28575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909815"/>
              </p:ext>
            </p:extLst>
          </p:nvPr>
        </p:nvGraphicFramePr>
        <p:xfrm>
          <a:off x="2763607" y="4221357"/>
          <a:ext cx="2540000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7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36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i="1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b="1" i="1" spc="7" baseline="-21367" dirty="0">
                          <a:latin typeface="Times New Roman"/>
                          <a:cs typeface="Times New Roman"/>
                        </a:rPr>
                        <a:t>L</a:t>
                      </a:r>
                      <a:endParaRPr sz="2600" baseline="-21367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28575">
                      <a:solidFill>
                        <a:srgbClr val="BEBEBE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n-US" altLang="zh-CN" sz="2700" b="1" dirty="0" smtClean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700" b="1" dirty="0" smtClean="0">
                          <a:latin typeface="Times New Roman"/>
                          <a:cs typeface="Times New Roman"/>
                        </a:rPr>
                        <a:t>2(3</a:t>
                      </a:r>
                      <a:r>
                        <a:rPr sz="27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28575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0.5(1)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28575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2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94513"/>
              </p:ext>
            </p:extLst>
          </p:nvPr>
        </p:nvGraphicFramePr>
        <p:xfrm>
          <a:off x="2760221" y="4748833"/>
          <a:ext cx="2540000" cy="5029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7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36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0293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700" b="1" i="1" spc="1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b="1" i="1" spc="22" baseline="-21367" dirty="0">
                          <a:latin typeface="Times New Roman"/>
                          <a:cs typeface="Times New Roman"/>
                        </a:rPr>
                        <a:t>L</a:t>
                      </a:r>
                      <a:endParaRPr sz="2600" baseline="-21367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2(1)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4(3)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28575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3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05811"/>
              </p:ext>
            </p:extLst>
          </p:nvPr>
        </p:nvGraphicFramePr>
        <p:xfrm>
          <a:off x="5606802" y="4739741"/>
          <a:ext cx="2438397" cy="5029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41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76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0293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700" b="1" i="1" spc="1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b="1" i="1" spc="22" baseline="-21367" dirty="0">
                          <a:latin typeface="Times New Roman"/>
                          <a:cs typeface="Times New Roman"/>
                        </a:rPr>
                        <a:t>R</a:t>
                      </a:r>
                      <a:endParaRPr sz="2600" baseline="-21367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-1(4)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3(2)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28575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  <a:solidFill>
                      <a:srgbClr val="DB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39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708" y="269220"/>
            <a:ext cx="8902499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改进算法时间复杂度</a:t>
            </a:r>
            <a:endParaRPr b="1" spc="-13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4418" y="4332486"/>
            <a:ext cx="887307" cy="51479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36406">
              <a:lnSpc>
                <a:spcPct val="115799"/>
              </a:lnSpc>
              <a:spcBef>
                <a:spcPts val="133"/>
              </a:spcBef>
            </a:pPr>
            <a:r>
              <a:rPr sz="3200" b="1" dirty="0" err="1" smtClean="0">
                <a:latin typeface="宋体"/>
                <a:cs typeface="宋体"/>
              </a:rPr>
              <a:t>解得</a:t>
            </a:r>
            <a:endParaRPr sz="32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2885" y="4275854"/>
            <a:ext cx="2864273" cy="5873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55032">
              <a:spcBef>
                <a:spcPts val="740"/>
              </a:spcBef>
            </a:pPr>
            <a:r>
              <a:rPr sz="3200" b="1" i="1" spc="-7" dirty="0">
                <a:latin typeface="Times New Roman"/>
                <a:cs typeface="Times New Roman"/>
              </a:rPr>
              <a:t>T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6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O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 err="1">
                <a:latin typeface="Times New Roman"/>
                <a:cs typeface="Times New Roman"/>
              </a:rPr>
              <a:t>n</a:t>
            </a:r>
            <a:r>
              <a:rPr sz="3200" b="1" spc="-7" dirty="0" err="1">
                <a:latin typeface="Times New Roman"/>
                <a:cs typeface="Times New Roman"/>
              </a:rPr>
              <a:t>log</a:t>
            </a:r>
            <a:r>
              <a:rPr sz="3200" b="1" i="1" spc="-7" dirty="0" err="1">
                <a:latin typeface="Times New Roman"/>
                <a:cs typeface="Times New Roman"/>
              </a:rPr>
              <a:t>n</a:t>
            </a:r>
            <a:r>
              <a:rPr sz="3200" b="1" spc="-7" dirty="0" smtClean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4798" y="1077946"/>
            <a:ext cx="6094307" cy="29691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r>
              <a:rPr sz="3200" b="1" dirty="0">
                <a:latin typeface="宋体"/>
                <a:cs typeface="宋体"/>
              </a:rPr>
              <a:t>为算法时间复杂度</a:t>
            </a:r>
            <a:endParaRPr sz="3200" dirty="0">
              <a:latin typeface="宋体"/>
              <a:cs typeface="宋体"/>
            </a:endParaRPr>
          </a:p>
          <a:p>
            <a:pPr marL="16933"/>
            <a:r>
              <a:rPr sz="3200" b="1" dirty="0">
                <a:latin typeface="宋体"/>
                <a:cs typeface="宋体"/>
              </a:rPr>
              <a:t>递归过程</a:t>
            </a:r>
            <a:r>
              <a:rPr sz="3200" b="1" spc="-7" dirty="0">
                <a:latin typeface="宋体"/>
                <a:cs typeface="宋体"/>
              </a:rPr>
              <a:t>:</a:t>
            </a:r>
            <a:r>
              <a:rPr sz="3200" b="1" i="1" spc="-7" dirty="0">
                <a:latin typeface="Times New Roman"/>
                <a:cs typeface="Times New Roman"/>
              </a:rPr>
              <a:t>T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r>
              <a:rPr sz="3200" b="1" spc="-6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宋体"/>
                <a:cs typeface="宋体"/>
              </a:rPr>
              <a:t>，预处</a:t>
            </a:r>
            <a:r>
              <a:rPr sz="3200" b="1" spc="7" dirty="0">
                <a:latin typeface="宋体"/>
                <a:cs typeface="宋体"/>
              </a:rPr>
              <a:t>理</a:t>
            </a:r>
            <a:r>
              <a:rPr sz="3200" b="1" spc="-7" dirty="0">
                <a:latin typeface="宋体"/>
                <a:cs typeface="宋体"/>
              </a:rPr>
              <a:t>:</a:t>
            </a:r>
            <a:r>
              <a:rPr sz="3200" b="1" i="1" spc="-7" dirty="0">
                <a:latin typeface="Times New Roman"/>
                <a:cs typeface="Times New Roman"/>
              </a:rPr>
              <a:t>O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log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marL="1041374">
              <a:spcBef>
                <a:spcPts val="2260"/>
              </a:spcBef>
            </a:pPr>
            <a:r>
              <a:rPr sz="3200" b="1" i="1" spc="-7" dirty="0">
                <a:latin typeface="Times New Roman"/>
                <a:cs typeface="Times New Roman"/>
              </a:rPr>
              <a:t>W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</a:t>
            </a:r>
            <a:r>
              <a:rPr sz="3200" b="1" dirty="0">
                <a:latin typeface="Times New Roman"/>
                <a:cs typeface="Times New Roman"/>
              </a:rPr>
              <a:t>= </a:t>
            </a:r>
            <a:r>
              <a:rPr sz="3200" b="1" i="1" spc="-7" dirty="0">
                <a:latin typeface="Times New Roman"/>
                <a:cs typeface="Times New Roman"/>
              </a:rPr>
              <a:t>T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</a:t>
            </a:r>
            <a:r>
              <a:rPr sz="3200" b="1" dirty="0">
                <a:latin typeface="Times New Roman"/>
                <a:cs typeface="Times New Roman"/>
              </a:rPr>
              <a:t>+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O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log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marL="1031214" marR="1334313">
              <a:lnSpc>
                <a:spcPts val="4533"/>
              </a:lnSpc>
              <a:spcBef>
                <a:spcPts val="193"/>
              </a:spcBef>
              <a:tabLst>
                <a:tab pos="3892029" algn="l"/>
              </a:tabLst>
            </a:pPr>
            <a:r>
              <a:rPr sz="3200" b="1" i="1" spc="-7" dirty="0">
                <a:latin typeface="Times New Roman"/>
                <a:cs typeface="Times New Roman"/>
              </a:rPr>
              <a:t>T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</a:t>
            </a:r>
            <a:r>
              <a:rPr sz="3200" b="1" dirty="0">
                <a:latin typeface="Times New Roman"/>
                <a:cs typeface="Times New Roman"/>
              </a:rPr>
              <a:t>= </a:t>
            </a:r>
            <a:r>
              <a:rPr sz="3200" b="1" spc="-7" dirty="0">
                <a:latin typeface="Times New Roman"/>
                <a:cs typeface="Times New Roman"/>
              </a:rPr>
              <a:t>2</a:t>
            </a:r>
            <a:r>
              <a:rPr sz="3200" b="1" i="1" spc="-7" dirty="0">
                <a:latin typeface="Times New Roman"/>
                <a:cs typeface="Times New Roman"/>
              </a:rPr>
              <a:t>T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/2) </a:t>
            </a:r>
            <a:r>
              <a:rPr sz="3200" b="1" dirty="0">
                <a:latin typeface="Times New Roman"/>
                <a:cs typeface="Times New Roman"/>
              </a:rPr>
              <a:t>+ </a:t>
            </a:r>
            <a:r>
              <a:rPr sz="3200" b="1" i="1" spc="-7" dirty="0">
                <a:latin typeface="Times New Roman"/>
                <a:cs typeface="Times New Roman"/>
              </a:rPr>
              <a:t>O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 </a:t>
            </a:r>
            <a:r>
              <a:rPr sz="3200" b="1" i="1" spc="-7" dirty="0">
                <a:latin typeface="Times New Roman"/>
                <a:cs typeface="Times New Roman"/>
              </a:rPr>
              <a:t>T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r>
              <a:rPr sz="3200" b="1" spc="7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=</a:t>
            </a:r>
            <a:r>
              <a:rPr sz="3200" b="1" spc="-7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O</a:t>
            </a:r>
            <a:r>
              <a:rPr sz="3200" b="1" spc="-7" dirty="0">
                <a:latin typeface="Times New Roman"/>
                <a:cs typeface="Times New Roman"/>
              </a:rPr>
              <a:t>(1)	</a:t>
            </a:r>
            <a:r>
              <a:rPr sz="3200" b="1" i="1" dirty="0">
                <a:latin typeface="Times New Roman"/>
                <a:cs typeface="Times New Roman"/>
              </a:rPr>
              <a:t>n </a:t>
            </a:r>
            <a:r>
              <a:rPr sz="3200" b="1" dirty="0">
                <a:latin typeface="Symbol"/>
                <a:cs typeface="Symbol"/>
              </a:rPr>
              <a:t></a:t>
            </a:r>
            <a:r>
              <a:rPr sz="3200" b="1" spc="-1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3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2542028" y="5013987"/>
            <a:ext cx="5283311" cy="5873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6933">
              <a:spcBef>
                <a:spcPts val="607"/>
              </a:spcBef>
            </a:pP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W(n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) = 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O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(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log</a:t>
            </a:r>
            <a:r>
              <a:rPr sz="3200" b="1" i="1" spc="-7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3200" b="1" spc="-7" dirty="0">
                <a:solidFill>
                  <a:srgbClr val="C00000"/>
                </a:solidFill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28918" y="5034373"/>
            <a:ext cx="1066318" cy="6220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6933" marR="6773" indent="36406">
              <a:lnSpc>
                <a:spcPct val="115799"/>
              </a:lnSpc>
              <a:spcBef>
                <a:spcPts val="133"/>
              </a:spcBef>
            </a:pPr>
            <a:r>
              <a:rPr lang="zh-CN" altLang="en-US" sz="3200" b="1" dirty="0">
                <a:latin typeface="宋体"/>
                <a:cs typeface="宋体"/>
              </a:rPr>
              <a:t>于是</a:t>
            </a:r>
          </a:p>
        </p:txBody>
      </p:sp>
    </p:spTree>
    <p:extLst>
      <p:ext uri="{BB962C8B-B14F-4D97-AF65-F5344CB8AC3E}">
        <p14:creationId xmlns:p14="http://schemas.microsoft.com/office/powerpoint/2010/main" val="377020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965" y="254416"/>
            <a:ext cx="8860221" cy="656099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 algn="ctr">
              <a:lnSpc>
                <a:spcPct val="100000"/>
              </a:lnSpc>
              <a:spcBef>
                <a:spcPts val="127"/>
              </a:spcBef>
            </a:pPr>
            <a:r>
              <a:rPr sz="4000" b="1" spc="-13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945" y="1141742"/>
            <a:ext cx="8860221" cy="4236010"/>
          </a:xfrm>
          <a:prstGeom prst="rect">
            <a:avLst/>
          </a:prstGeom>
        </p:spPr>
        <p:txBody>
          <a:bodyPr vert="horz" wrap="square" lIns="0" tIns="126153" rIns="0" bIns="0" rtlCol="0">
            <a:spAutoFit/>
          </a:bodyPr>
          <a:lstStyle/>
          <a:p>
            <a:pPr marL="524920" indent="-457189">
              <a:spcBef>
                <a:spcPts val="993"/>
              </a:spcBef>
              <a:buFont typeface="Arial"/>
              <a:buChar char="•"/>
              <a:tabLst>
                <a:tab pos="524074" algn="l"/>
                <a:tab pos="524920" algn="l"/>
              </a:tabLst>
            </a:pPr>
            <a:r>
              <a:rPr sz="3733" b="1" spc="-7" dirty="0">
                <a:latin typeface="宋体"/>
                <a:cs typeface="宋体"/>
              </a:rPr>
              <a:t>依据</a:t>
            </a:r>
            <a:endParaRPr sz="3733" dirty="0">
              <a:latin typeface="宋体"/>
              <a:cs typeface="宋体"/>
            </a:endParaRPr>
          </a:p>
          <a:p>
            <a:pPr marL="1487556">
              <a:spcBef>
                <a:spcPts val="740"/>
              </a:spcBef>
            </a:pPr>
            <a:r>
              <a:rPr lang="en-US" sz="3200" b="1" i="1" spc="-7" dirty="0" smtClean="0">
                <a:latin typeface="Times New Roman"/>
                <a:cs typeface="Times New Roman"/>
              </a:rPr>
              <a:t>          </a:t>
            </a:r>
            <a:r>
              <a:rPr sz="3200" b="1" i="1" spc="-7" dirty="0" smtClean="0">
                <a:latin typeface="Times New Roman"/>
                <a:cs typeface="Times New Roman"/>
              </a:rPr>
              <a:t>W</a:t>
            </a:r>
            <a:r>
              <a:rPr sz="3200" b="1" spc="-7" dirty="0" smtClean="0">
                <a:latin typeface="Times New Roman"/>
                <a:cs typeface="Times New Roman"/>
              </a:rPr>
              <a:t>(</a:t>
            </a:r>
            <a:r>
              <a:rPr sz="3200" b="1" i="1" spc="-7" dirty="0" smtClean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 </a:t>
            </a:r>
            <a:r>
              <a:rPr sz="3200" b="1" dirty="0">
                <a:latin typeface="Times New Roman"/>
                <a:cs typeface="Times New Roman"/>
              </a:rPr>
              <a:t>= </a:t>
            </a:r>
            <a:r>
              <a:rPr sz="3200" b="1" i="1" dirty="0">
                <a:latin typeface="Times New Roman"/>
                <a:cs typeface="Times New Roman"/>
              </a:rPr>
              <a:t>aW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dirty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/</a:t>
            </a:r>
            <a:r>
              <a:rPr sz="3200" b="1" i="1" dirty="0">
                <a:latin typeface="Times New Roman"/>
                <a:cs typeface="Times New Roman"/>
              </a:rPr>
              <a:t>b</a:t>
            </a:r>
            <a:r>
              <a:rPr sz="3200" b="1" dirty="0">
                <a:latin typeface="Times New Roman"/>
                <a:cs typeface="Times New Roman"/>
              </a:rPr>
              <a:t>) +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i="1" spc="-7" dirty="0">
                <a:latin typeface="Times New Roman"/>
                <a:cs typeface="Times New Roman"/>
              </a:rPr>
              <a:t>f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3933" dirty="0">
              <a:latin typeface="Times New Roman"/>
              <a:cs typeface="Times New Roman"/>
            </a:endParaRPr>
          </a:p>
          <a:p>
            <a:pPr marL="524920" indent="-457189">
              <a:spcBef>
                <a:spcPts val="7"/>
              </a:spcBef>
              <a:buFont typeface="Arial"/>
              <a:buChar char="•"/>
              <a:tabLst>
                <a:tab pos="524074" algn="l"/>
                <a:tab pos="524920" algn="l"/>
              </a:tabLst>
            </a:pPr>
            <a:r>
              <a:rPr sz="3733" b="1" spc="-7" dirty="0">
                <a:latin typeface="宋体"/>
                <a:cs typeface="宋体"/>
              </a:rPr>
              <a:t>提高算法效率的方法：</a:t>
            </a:r>
            <a:endParaRPr sz="3733" dirty="0">
              <a:latin typeface="宋体"/>
              <a:cs typeface="宋体"/>
            </a:endParaRPr>
          </a:p>
          <a:p>
            <a:pPr marL="1059154" lvl="1" indent="-382684">
              <a:spcBef>
                <a:spcPts val="787"/>
              </a:spcBef>
              <a:buFont typeface="Arial"/>
              <a:buChar char="–"/>
              <a:tabLst>
                <a:tab pos="1060000" algn="l"/>
              </a:tabLst>
            </a:pPr>
            <a:r>
              <a:rPr sz="3200" b="1" spc="-7" dirty="0">
                <a:latin typeface="宋体"/>
                <a:cs typeface="宋体"/>
              </a:rPr>
              <a:t>减少子问题个</a:t>
            </a:r>
            <a:r>
              <a:rPr sz="3200" b="1" dirty="0">
                <a:latin typeface="宋体"/>
                <a:cs typeface="宋体"/>
              </a:rPr>
              <a:t>数</a:t>
            </a:r>
            <a:r>
              <a:rPr sz="3200" b="1" i="1" spc="-13" dirty="0">
                <a:latin typeface="Times New Roman"/>
                <a:cs typeface="Times New Roman"/>
              </a:rPr>
              <a:t>a</a:t>
            </a:r>
            <a:r>
              <a:rPr sz="3200" b="1" spc="-13" dirty="0">
                <a:latin typeface="宋体"/>
                <a:cs typeface="宋体"/>
              </a:rPr>
              <a:t>：</a:t>
            </a:r>
            <a:endParaRPr sz="3200" dirty="0">
              <a:latin typeface="宋体"/>
              <a:cs typeface="宋体"/>
            </a:endParaRPr>
          </a:p>
          <a:p>
            <a:pPr marL="1581534">
              <a:spcBef>
                <a:spcPts val="800"/>
              </a:spcBef>
            </a:pPr>
            <a:r>
              <a:rPr lang="en-US" sz="3200" b="1" i="1" spc="-7" dirty="0" smtClean="0">
                <a:latin typeface="Times New Roman"/>
                <a:cs typeface="Times New Roman"/>
              </a:rPr>
              <a:t>              </a:t>
            </a:r>
            <a:r>
              <a:rPr sz="3200" b="1" i="1" spc="-7" dirty="0" smtClean="0">
                <a:latin typeface="Times New Roman"/>
                <a:cs typeface="Times New Roman"/>
              </a:rPr>
              <a:t>W</a:t>
            </a:r>
            <a:r>
              <a:rPr sz="3200" b="1" dirty="0" smtClean="0">
                <a:latin typeface="Times New Roman"/>
                <a:cs typeface="Times New Roman"/>
              </a:rPr>
              <a:t>(</a:t>
            </a:r>
            <a:r>
              <a:rPr sz="3200" b="1" i="1" spc="-13" dirty="0" smtClean="0">
                <a:latin typeface="Times New Roman"/>
                <a:cs typeface="Times New Roman"/>
              </a:rPr>
              <a:t>n</a:t>
            </a:r>
            <a:r>
              <a:rPr sz="3200" b="1" dirty="0">
                <a:latin typeface="Times New Roman"/>
                <a:cs typeface="Times New Roman"/>
              </a:rPr>
              <a:t>)=</a:t>
            </a:r>
            <a:r>
              <a:rPr sz="3200" b="1" i="1" spc="-13" dirty="0">
                <a:latin typeface="Times New Roman"/>
                <a:cs typeface="Times New Roman"/>
              </a:rPr>
              <a:t>O</a:t>
            </a:r>
            <a:r>
              <a:rPr sz="3200" b="1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9" baseline="24305" dirty="0">
                <a:latin typeface="Times New Roman"/>
                <a:cs typeface="Times New Roman"/>
              </a:rPr>
              <a:t>lo</a:t>
            </a:r>
            <a:r>
              <a:rPr sz="3200" b="1" baseline="24305" dirty="0">
                <a:latin typeface="Times New Roman"/>
                <a:cs typeface="Times New Roman"/>
              </a:rPr>
              <a:t>g</a:t>
            </a:r>
            <a:r>
              <a:rPr sz="2100" b="1" i="1" spc="20" baseline="26455" dirty="0">
                <a:latin typeface="Times New Roman"/>
                <a:cs typeface="Times New Roman"/>
              </a:rPr>
              <a:t>b</a:t>
            </a:r>
            <a:r>
              <a:rPr sz="3200" b="1" i="1" baseline="24305" dirty="0">
                <a:latin typeface="Times New Roman"/>
                <a:cs typeface="Times New Roman"/>
              </a:rPr>
              <a:t>a</a:t>
            </a:r>
            <a:r>
              <a:rPr sz="3200" b="1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  <a:p>
            <a:pPr marL="1059154" lvl="1" indent="-382684">
              <a:spcBef>
                <a:spcPts val="740"/>
              </a:spcBef>
              <a:buFont typeface="Arial"/>
              <a:buChar char="–"/>
              <a:tabLst>
                <a:tab pos="1060000" algn="l"/>
              </a:tabLst>
            </a:pPr>
            <a:r>
              <a:rPr sz="3200" b="1" dirty="0">
                <a:latin typeface="宋体"/>
                <a:cs typeface="宋体"/>
              </a:rPr>
              <a:t>增加预处理，减少</a:t>
            </a:r>
            <a:r>
              <a:rPr sz="3200" b="1" i="1" spc="-7" dirty="0">
                <a:latin typeface="Times New Roman"/>
                <a:cs typeface="Times New Roman"/>
              </a:rPr>
              <a:t>f</a:t>
            </a:r>
            <a:r>
              <a:rPr sz="3200" b="1" spc="-7" dirty="0">
                <a:latin typeface="Times New Roman"/>
                <a:cs typeface="Times New Roman"/>
              </a:rPr>
              <a:t>(</a:t>
            </a:r>
            <a:r>
              <a:rPr sz="3200" b="1" i="1" spc="-7" dirty="0">
                <a:latin typeface="Times New Roman"/>
                <a:cs typeface="Times New Roman"/>
              </a:rPr>
              <a:t>n</a:t>
            </a:r>
            <a:r>
              <a:rPr sz="3200" b="1" spc="-7" dirty="0">
                <a:latin typeface="Times New Roman"/>
                <a:cs typeface="Times New Roman"/>
              </a:rPr>
              <a:t>)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298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</TotalTime>
  <Words>2892</Words>
  <Application>Microsoft Office PowerPoint</Application>
  <PresentationFormat>自定义</PresentationFormat>
  <Paragraphs>646</Paragraphs>
  <Slides>74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75" baseType="lpstr">
      <vt:lpstr>Office 主题​​</vt:lpstr>
      <vt:lpstr>本周教学内容</vt:lpstr>
      <vt:lpstr>分治算法的设计思想与分析方法</vt:lpstr>
      <vt:lpstr>分治策略 的设计思想</vt:lpstr>
      <vt:lpstr>分治策略的基本思想</vt:lpstr>
      <vt:lpstr>二分检索</vt:lpstr>
      <vt:lpstr>二分检索算法设计思想</vt:lpstr>
      <vt:lpstr>二分检索时间复杂度分析</vt:lpstr>
      <vt:lpstr>二分归并排序</vt:lpstr>
      <vt:lpstr>二分归并排序设计思想</vt:lpstr>
      <vt:lpstr>二分归并排序时间复杂度分析</vt:lpstr>
      <vt:lpstr>Hanoi塔的递归算法</vt:lpstr>
      <vt:lpstr>算法设计思想</vt:lpstr>
      <vt:lpstr>小结</vt:lpstr>
      <vt:lpstr>分治算法的一般 描述和分析方法</vt:lpstr>
      <vt:lpstr>分治算法的一般性描述</vt:lpstr>
      <vt:lpstr>设计要点</vt:lpstr>
      <vt:lpstr>分治算法时间分析</vt:lpstr>
      <vt:lpstr>两类常见的递推方程</vt:lpstr>
      <vt:lpstr>递推方程的求解</vt:lpstr>
      <vt:lpstr>方程2的解</vt:lpstr>
      <vt:lpstr>小结</vt:lpstr>
      <vt:lpstr>芯片测试</vt:lpstr>
      <vt:lpstr>一次测试过程</vt:lpstr>
      <vt:lpstr>测试结果分析</vt:lpstr>
      <vt:lpstr>问题</vt:lpstr>
      <vt:lpstr>判定芯片A 的好坏</vt:lpstr>
      <vt:lpstr>判定芯片A 的好坏</vt:lpstr>
      <vt:lpstr>蛮力算法</vt:lpstr>
      <vt:lpstr>分治算法设计思想</vt:lpstr>
      <vt:lpstr>分治算法的正确性</vt:lpstr>
      <vt:lpstr>n为奇数时的特殊处理</vt:lpstr>
      <vt:lpstr>伪码描述</vt:lpstr>
      <vt:lpstr>时间复杂度分析</vt:lpstr>
      <vt:lpstr>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幂乘算法及应用</vt:lpstr>
      <vt:lpstr>幂乘问题</vt:lpstr>
      <vt:lpstr>分治算法——划分</vt:lpstr>
      <vt:lpstr>分治算法分析</vt:lpstr>
      <vt:lpstr>幂乘算法的应用</vt:lpstr>
      <vt:lpstr>Fibonacci数的性质</vt:lpstr>
      <vt:lpstr>Fibonacci数的性质(续)</vt:lpstr>
      <vt:lpstr>算法</vt:lpstr>
      <vt:lpstr>小结</vt:lpstr>
      <vt:lpstr>改进分治算法的途径1: 减少子问题数</vt:lpstr>
      <vt:lpstr>PowerPoint 演示文稿</vt:lpstr>
      <vt:lpstr>例1：整数位乘问题</vt:lpstr>
      <vt:lpstr>减少子问题个数</vt:lpstr>
      <vt:lpstr>例2：矩阵相乘问题</vt:lpstr>
      <vt:lpstr>简单分治算法</vt:lpstr>
      <vt:lpstr>Strassen 矩阵乘法</vt:lpstr>
      <vt:lpstr>Strassen 矩阵乘法(续)</vt:lpstr>
      <vt:lpstr>矩阵乘法的研究及应用</vt:lpstr>
      <vt:lpstr>改进途径小结</vt:lpstr>
      <vt:lpstr>改进分治算法的途径2：增加预处理</vt:lpstr>
      <vt:lpstr>例子：平面点对问题</vt:lpstr>
      <vt:lpstr>划分实例：n=10</vt:lpstr>
      <vt:lpstr>算法伪码</vt:lpstr>
      <vt:lpstr>跨边界处理</vt:lpstr>
      <vt:lpstr>算法分析</vt:lpstr>
      <vt:lpstr>增加预处理</vt:lpstr>
      <vt:lpstr>实例：递归中的拆分</vt:lpstr>
      <vt:lpstr>改进算法时间复杂度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分治策略 的设计思想</dc:title>
  <dc:creator>boo</dc:creator>
  <cp:lastModifiedBy>admin</cp:lastModifiedBy>
  <cp:revision>74</cp:revision>
  <dcterms:created xsi:type="dcterms:W3CDTF">2019-03-20T04:55:46Z</dcterms:created>
  <dcterms:modified xsi:type="dcterms:W3CDTF">2019-04-02T06:38:55Z</dcterms:modified>
</cp:coreProperties>
</file>